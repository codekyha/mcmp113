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is the midterm week. This session is a structured review, not new material. Plan (approx.): 10 min logistics and scope, 30 min condensed review (Part 1), 45 min practice questions (Parts 2-3; students answer first, then we reveal), 10 min strategy and common mistakes. Tell students the full practice exam with solutions is in the notes (instructor edition has the rubric) and that every answer in this deck was checked by running the code in the code folder (08_01_PredictChecker).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Emphasise that the midterm tests reasoning (tracing, predicting, designing), not memorising slides. Ask students to keep paper and pen ready: every practice question is answered on paper first, exactly like the exam. Suggest they mark topics where they hesitated; those are their study list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Date, room and duration will be announced on the course group; do not guess, check the pinned message. Closed book: no notes, no phones (phones off and in bags). Bring student ID and a pen; a pencil and eraser help for flowcharts. Code is written by hand, so practise writing C# on paper this week without IntelliSense. Likely question: "Will syntax errors cost points?" Answer honestly: correct logic matters most, but write real C# (semicolons, braces, correct types); the rubric in the practice exam shows how marks are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Walk down the table; the right column is the skill actually tested. Nothing after Week 7: no arrays, no methods (functions). If a student asks "do we need to memorise the data-type ranges?": know the sizes and typical uses; exact ranges of int are useful (about ±2.1 billion) but you will not be asked to recite long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whole first half is one idea: any algorithm = sequence + selection + repetition (Böhm-Jacopini, Week 1). Weeks 2-4 gave us the notation and the building material (flowcharts, types, operators); Weeks 5-7 gave us the control structures in C#. On the exam, almost every question is one of these three structures, or a combination (a decision inside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Properties (Knuth): finiteness, definiteness, input, output, effectiveness; in practice also correctness. Typical MCQ: "Lather, rinse, repeat" violates finiteness; "add salt to taste" violates definiteness. Five steps: understand, design, implement, test, document, and it is a cycle. Testing = normal, boundary and invalid inputs; exam trace tables use exactly the Week 1 format: one column per variable, one row per change or per loop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Point at each symbol and ask for its name before revealing. Exam errors we see every year: a decision with one exit, arrows missing, READ drawn as a rectangle, two End symbols with different text, loop without an update box (infinite). Parallelogram = input/output (READ and PRINT). Decision = diamond with exactly two labelled exits.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exam may give pseudocode and ask for C#, or the reverse. Stress: pseudocode uses ← for assignment and = for comparison; C# uses = and ==. mod in pseudocode is % in C#. READ needs a conversion in C# (Parse or TryParse) because Console.ReadLine() returns a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Typical exam items: pick the type (money → decimal; count → int; yes/no → bool; single letter → char with single quotes; text → string with double quotes). Suffixes: 10L long, 2.5f float, 19.99m decimal. Without m, 19.99 is a double and "decimal price = 19.99;" does not compile. const values cannot change later; name them in PascalCase (VatRate).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Console.ReadLine() always returns a string. int.Parse crashes on bad input (FormatException); TryParse returns false and sets the out variable to 0. Cast (int)7.9 truncates to 7 (no rounding). Integer division 7 / 2 is 3; one double operand makes it 3.5. F2 = two decimals. Our course template sets InvariantGlobalization so the decimal point works on Turkish PCs. The last line of the console: if TryParse fails, n 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Precedence from high to low as in the table. Associativity: binary operators left to right; assignment right to left. Walk through the example step by step, underlining the operator being evaluated. Short-circuit: in a &amp;&amp; b, b is not evaluated when a is false; in a || b, b is not evaluated when a is true; that is why b != 0 &amp;&amp; a / b &gt; 2 never divides by zero. % keeps the sign of the dividend: -17 % 5 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else-if ladder: conditions are tested top to bottom and only the FIRST true branch runs, so put the most restrictive test first (&gt;= 85 before &gt;= 50). switch: no fall-through in C#, every non-empty case ends with break; grouped labels (case 6: case 7:) share a body. The switch expression with relational patterns is a compact modern alternative. ?: picks between two values. The letter-grade cut-offs here are an example scale; check the university regulation for official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for = counter-controlled, number of passes known before the loop starts. while = pre-test, may run 0 times; condition-controlled or sentinel. do-while = post-test, runs at least once; perfect for menus and input validation. Any loop can be rewritten as another; the exam may ask for a conversion. All three examples print 1 2 3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Most "write a program" questions are one of these patterns or two combined. Accumulator: initialise BEFORE the loop (sum = 0, product = 1). Best-so-far: initialise with the first value, not 0 (fails for all-negative input). Sentinel: priming read before the loop, next read at the END of the body. Validation: do-while repeating until the input is acceptable. Digit loop: % 10 gives the last digit, / 10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Give 90 seconds, then take a show of hands for each option before moving to the answer slide. Q2 is the classic trap: rectangles are for processing, not for input/output.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(finiteness), Q2 C (parallelogram), Q3 C (decimal), Q4 C (do-while). If many chose float for Q3: float and double are binary floating point; 0.1 cannot be stored exactly. decimal is designed for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Students write all eight output lines. Hints only if stuck: which divisions are integer divisions? What does + do when the left operand is a string? What value does x++ produce, and what is x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17/5 = 3 (integer division); 17%5 = 2; one double operand gives 3.4; * before + and -, 17+10-1 = 26; % keeps the sign of the dividend: -2; "Sum: " + 17 gives a string, then + 5 appends: Sum: 175; 17 &gt; 5 is true but b != 5 is false, and C# prints False with a capital F; y = x++ * 2 uses the OLD x (5), so y = 10 and x becomes 6. Verified with 08_01_PredictChecker.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Students complete the table: one row per pass, values AFTER the pass. Then the output. Ask: how many times is the condition n &gt; 0 tested? (5 times: 4 true, 1 false.) Trap: the last digit of 1230 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Pass 1 takes the trailing 0, so rev stays 0: a reversed number has no leading zeros, and 1230 reversed is 321. The condition is tested 5 times (4 true + 1 false). This is the digit-loop pattern from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Three outputs: (a), (b), (c). Part (a) is the "order of conditions" trap from Week 5. Part (c) uses the conditional operator with score =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DD: 85 &gt;= 50 is true, the first true branch runs and the rest of the ladder is skipped. The BA branch is unreachable for every score: any score &gt;= 85 is also &gt;= 50. Fix: test the most restrictive condition first. (b) Weekend: grouped labels 6 and 7 share one body. (c) 85 % 2 = 1, so odd.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(a) Draw the output exactly, spaces included (use a grid). (b) How many times does Console.Write("*") execute? Encourage the table method: for each i, count spaces and stars.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i has 4 - i spaces and 2i - 1 stars: 3/1, 2/3, 1/5, 0/7. Total stars 1 + 3 + 5 + 7 = 16 (the sum of the first n odd numbers is n squared). The inner loop with j runs 3+2+1+0 = 6 times. Verified by 08_01_PredictChecker.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(a) Which values of i are added? (b) How many times does the do-while body run when the condition is false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 = 1, 2 added; 3 skipped by continue; 4, 5 added; 6 skipped; 7 added; i = 8 is not a multiple of 3 and 8 &gt; 7, so break. 1+2+4+5+7 = 19. Note continue is tested before break, and 9 and 10 are never reached. (b) The body runs once: prints "10 ", k becomes 15, 15 &lt; 10 is false. With a while loop the body would not run at all and the output would be "| k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Goal of the program: read n, then n integer grades, print the average with 2 decimals. There are 5 problems (4 wrong lines + 1 missing check). The code compiles, with one warning. Ask students to say what the program actually prints for n = 3 before fixing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run for n = 3: the stray semicolon makes the for body empty, so the loop runs twice doing nothing, then the block runs once: only ONE grade (70) is read. sum / n = 70 / 3 = 23 (integer division), and without $ the text {avg:F2} is printed literally. With n = 0 it crashes with DivideByZeroException (int division). The compiler warns CS0642 "Possible mistaken empty statement" on line 4. Full fixed code: 08_02_AverageFixed.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Students draw on paper. Remind them of the symbol rules and to label both exits of each decision. A solution with i starting at 2 and stepping by 2 (no inner decision) is also correct; the version on the next slide uses a decision inside the loop to practise nesting.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for N = 10: i runs 1..10, even values 2, 4, 6, 8, 10 are added: 30. For N = 7: 2 + 4 + 6 = 12. For N = 0 the loop test is false at once and 0 is printed. The back-arrow joins the flow line ABOVE the loop test. Code: 08_03_SumOfEvens.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min in class (this is a typical 12-15 point question). Students first write the pattern names (sentinel + counter + accumulator + best so far), then pseudocode, then C#. Only integer grades. The sample run on the right is the real output of the model solution 08_04_GradeStats.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first: priming read before the loop, the next read at the END of the body; count == 1 starts the maximum with the first valid grade (safer than starting with 0 in general). Invalid grades are reported and skipped by the if/else. This is the first half of 08_04_GradeStats; the second half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loop, guard against count == 0 before dividing (otherwise an int division by zero would crash; with the cast to double it would print NaN). Test plan: normal data, an invalid value, the sentinel immediately (no grades), all failing grades, a single grade. Suggested rubric for a 13-point version: loop + sentinel 4, validation 2, count/sum/average 3, highest 2, passed 1, empty case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Read the list quickly; ask students to raise a hand for mistakes they have made in the labs. Items 1-4 are compile errors or crashes, 5-10 are logic errors that the compiler cannot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Time plan for the 90-minute practice exam (the real duration will be announced): 5 min read everything and start with what you are sure of; points guide time, roughly one minute per point; keep 8-10 minutes for checking. Method per type as on the cards. Never leave a question blank: pseudocode or a partial trace still earns partial credit under a typical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The notes contain: the 2-page cheat sheet (to make your own version, not to bring), the full practice midterm (90 min, 100 points), and 12 extra problems with stars. The student edition has no solutions; the instructor decides when the solutions edition is released. Until then, students check themselves by running the tested programs. All programs are in the Week 8 code folder; run 08_01_PredictChecker only AFTER you answered the predict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to the course group for the official exam details and to the practice exam in the notes. After the midterm, Week 9 starts arrays, which will finally let us store many values instead of processing them one by one as in Q12. Good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8</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Midterm Review &amp; Practice Exam</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Weeks 1–7 condensed · 12 practice questions with answers · exam strategy</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Loading weeks 1-7 ... done</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Practice questions: 12</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Practice exam: 90 min</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ready?_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TODAY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We Will Do in This Session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2651760" cy="2331720"/>
          </a:xfrm>
          <a:prstGeom prst="roundRect">
            <a:avLst>
              <a:gd name="adj" fmla="val 4706"/>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15544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Review</a:t>
            </a:r>
            <a:endParaRPr lang="en-US" sz="1700" dirty="0"/>
          </a:p>
        </p:txBody>
      </p:sp>
      <p:sp>
        <p:nvSpPr>
          <p:cNvPr id="11" name="Text 7"/>
          <p:cNvSpPr txBox="1"/>
          <p:nvPr/>
        </p:nvSpPr>
        <p:spPr>
          <a:xfrm>
            <a:off x="777240" y="2560320"/>
            <a:ext cx="219456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All seven weeks condensed into nine slides: algorithms, flowcharts, types, operators, decisions, loops.</a:t>
            </a:r>
            <a:endParaRPr lang="en-US" sz="1400" dirty="0"/>
          </a:p>
        </p:txBody>
      </p:sp>
      <p:sp>
        <p:nvSpPr>
          <p:cNvPr id="12" name="Shape 8"/>
          <p:cNvSpPr/>
          <p:nvPr/>
        </p:nvSpPr>
        <p:spPr>
          <a:xfrm>
            <a:off x="3355848" y="1645920"/>
            <a:ext cx="2651760" cy="2331720"/>
          </a:xfrm>
          <a:prstGeom prst="roundRect">
            <a:avLst>
              <a:gd name="adj" fmla="val 4706"/>
            </a:avLst>
          </a:prstGeom>
          <a:solidFill>
            <a:srgbClr val="EEF1F6"/>
          </a:solidFill>
          <a:ln w="12700">
            <a:solidFill>
              <a:srgbClr val="EEF1F6"/>
            </a:solidFill>
            <a:prstDash val="solid"/>
          </a:ln>
        </p:spPr>
      </p:sp>
      <p:sp>
        <p:nvSpPr>
          <p:cNvPr id="13" name="Shape 9"/>
          <p:cNvSpPr/>
          <p:nvPr/>
        </p:nvSpPr>
        <p:spPr>
          <a:xfrm>
            <a:off x="3584448" y="1874520"/>
            <a:ext cx="566928" cy="566928"/>
          </a:xfrm>
          <a:prstGeom prst="ellipse">
            <a:avLst/>
          </a:prstGeom>
          <a:solidFill>
            <a:srgbClr val="FCA311"/>
          </a:solidFill>
          <a:ln w="12700">
            <a:solidFill>
              <a:srgbClr val="FCA311"/>
            </a:solidFill>
            <a:prstDash val="solid"/>
          </a:ln>
        </p:spPr>
      </p:sp>
      <p:pic>
        <p:nvPicPr>
          <p:cNvPr id="14" name="Image 1" descr="preencoded.png">    </p:cNvPr>
          <p:cNvPicPr>
            <a:picLocks noChangeAspect="1"/>
          </p:cNvPicPr>
          <p:nvPr/>
        </p:nvPicPr>
        <p:blipFill>
          <a:blip r:embed="rId2"/>
          <a:stretch>
            <a:fillRect/>
          </a:stretch>
        </p:blipFill>
        <p:spPr>
          <a:xfrm>
            <a:off x="3731849" y="2021921"/>
            <a:ext cx="272125" cy="272125"/>
          </a:xfrm>
          <a:prstGeom prst="rect">
            <a:avLst/>
          </a:prstGeom>
        </p:spPr>
      </p:pic>
      <p:sp>
        <p:nvSpPr>
          <p:cNvPr id="15" name="Text 10"/>
          <p:cNvSpPr txBox="1"/>
          <p:nvPr/>
        </p:nvSpPr>
        <p:spPr>
          <a:xfrm>
            <a:off x="4270248" y="1874520"/>
            <a:ext cx="15544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Practise</a:t>
            </a:r>
            <a:endParaRPr lang="en-US" sz="1700" dirty="0"/>
          </a:p>
        </p:txBody>
      </p:sp>
      <p:sp>
        <p:nvSpPr>
          <p:cNvPr id="16" name="Text 11"/>
          <p:cNvSpPr txBox="1"/>
          <p:nvPr/>
        </p:nvSpPr>
        <p:spPr>
          <a:xfrm>
            <a:off x="3584448" y="2560320"/>
            <a:ext cx="219456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12 exam-style questions: multiple choice, predict, trace, find the bug, flowchart, write a program.</a:t>
            </a:r>
            <a:endParaRPr lang="en-US" sz="1400" dirty="0"/>
          </a:p>
        </p:txBody>
      </p:sp>
      <p:sp>
        <p:nvSpPr>
          <p:cNvPr id="17" name="Shape 12"/>
          <p:cNvSpPr/>
          <p:nvPr/>
        </p:nvSpPr>
        <p:spPr>
          <a:xfrm>
            <a:off x="6163056" y="1645920"/>
            <a:ext cx="2651760" cy="2331720"/>
          </a:xfrm>
          <a:prstGeom prst="roundRect">
            <a:avLst>
              <a:gd name="adj" fmla="val 4706"/>
            </a:avLst>
          </a:prstGeom>
          <a:solidFill>
            <a:srgbClr val="EEF1F6"/>
          </a:solidFill>
          <a:ln w="12700">
            <a:solidFill>
              <a:srgbClr val="EEF1F6"/>
            </a:solidFill>
            <a:prstDash val="solid"/>
          </a:ln>
        </p:spPr>
      </p:sp>
      <p:sp>
        <p:nvSpPr>
          <p:cNvPr id="18" name="Shape 13"/>
          <p:cNvSpPr/>
          <p:nvPr/>
        </p:nvSpPr>
        <p:spPr>
          <a:xfrm>
            <a:off x="6391656" y="1874520"/>
            <a:ext cx="566928" cy="566928"/>
          </a:xfrm>
          <a:prstGeom prst="ellipse">
            <a:avLst/>
          </a:prstGeom>
          <a:solidFill>
            <a:srgbClr val="2F6FB3"/>
          </a:solidFill>
          <a:ln w="12700">
            <a:solidFill>
              <a:srgbClr val="2F6FB3"/>
            </a:solidFill>
            <a:prstDash val="solid"/>
          </a:ln>
        </p:spPr>
      </p:sp>
      <p:pic>
        <p:nvPicPr>
          <p:cNvPr id="19" name="Image 2" descr="preencoded.png">    </p:cNvPr>
          <p:cNvPicPr>
            <a:picLocks noChangeAspect="1"/>
          </p:cNvPicPr>
          <p:nvPr/>
        </p:nvPicPr>
        <p:blipFill>
          <a:blip r:embed="rId3"/>
          <a:stretch>
            <a:fillRect/>
          </a:stretch>
        </p:blipFill>
        <p:spPr>
          <a:xfrm>
            <a:off x="6539057" y="2021921"/>
            <a:ext cx="272125" cy="272125"/>
          </a:xfrm>
          <a:prstGeom prst="rect">
            <a:avLst/>
          </a:prstGeom>
        </p:spPr>
      </p:pic>
      <p:sp>
        <p:nvSpPr>
          <p:cNvPr id="20" name="Text 14"/>
          <p:cNvSpPr txBox="1"/>
          <p:nvPr/>
        </p:nvSpPr>
        <p:spPr>
          <a:xfrm>
            <a:off x="7077456" y="1874520"/>
            <a:ext cx="15544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Plan</a:t>
            </a:r>
            <a:endParaRPr lang="en-US" sz="1700" dirty="0"/>
          </a:p>
        </p:txBody>
      </p:sp>
      <p:sp>
        <p:nvSpPr>
          <p:cNvPr id="21" name="Text 15"/>
          <p:cNvSpPr txBox="1"/>
          <p:nvPr/>
        </p:nvSpPr>
        <p:spPr>
          <a:xfrm>
            <a:off x="6391656" y="2560320"/>
            <a:ext cx="219456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 90-minute time plan and a method for each question type.</a:t>
            </a:r>
            <a:endParaRPr lang="en-US" sz="1400" dirty="0"/>
          </a:p>
        </p:txBody>
      </p:sp>
      <p:sp>
        <p:nvSpPr>
          <p:cNvPr id="22" name="Shape 16"/>
          <p:cNvSpPr/>
          <p:nvPr/>
        </p:nvSpPr>
        <p:spPr>
          <a:xfrm>
            <a:off x="8970264" y="1645920"/>
            <a:ext cx="2688336" cy="2331720"/>
          </a:xfrm>
          <a:prstGeom prst="roundRect">
            <a:avLst>
              <a:gd name="adj" fmla="val 4706"/>
            </a:avLst>
          </a:prstGeom>
          <a:solidFill>
            <a:srgbClr val="EEF1F6"/>
          </a:solidFill>
          <a:ln w="12700">
            <a:solidFill>
              <a:srgbClr val="EEF1F6"/>
            </a:solidFill>
            <a:prstDash val="solid"/>
          </a:ln>
        </p:spPr>
      </p:sp>
      <p:sp>
        <p:nvSpPr>
          <p:cNvPr id="23" name="Shape 17"/>
          <p:cNvSpPr/>
          <p:nvPr/>
        </p:nvSpPr>
        <p:spPr>
          <a:xfrm>
            <a:off x="9198864" y="1874520"/>
            <a:ext cx="566928" cy="566928"/>
          </a:xfrm>
          <a:prstGeom prst="ellipse">
            <a:avLst/>
          </a:prstGeom>
          <a:solidFill>
            <a:srgbClr val="2E9E6A"/>
          </a:solidFill>
          <a:ln w="12700">
            <a:solidFill>
              <a:srgbClr val="2E9E6A"/>
            </a:solidFill>
            <a:prstDash val="solid"/>
          </a:ln>
        </p:spPr>
      </p:sp>
      <p:pic>
        <p:nvPicPr>
          <p:cNvPr id="24" name="Image 3" descr="preencoded.png">    </p:cNvPr>
          <p:cNvPicPr>
            <a:picLocks noChangeAspect="1"/>
          </p:cNvPicPr>
          <p:nvPr/>
        </p:nvPicPr>
        <p:blipFill>
          <a:blip r:embed="rId4"/>
          <a:stretch>
            <a:fillRect/>
          </a:stretch>
        </p:blipFill>
        <p:spPr>
          <a:xfrm>
            <a:off x="9346265" y="2021921"/>
            <a:ext cx="272125" cy="272125"/>
          </a:xfrm>
          <a:prstGeom prst="rect">
            <a:avLst/>
          </a:prstGeom>
        </p:spPr>
      </p:pic>
      <p:sp>
        <p:nvSpPr>
          <p:cNvPr id="25" name="Text 18"/>
          <p:cNvSpPr txBox="1"/>
          <p:nvPr/>
        </p:nvSpPr>
        <p:spPr>
          <a:xfrm>
            <a:off x="9884664" y="1874520"/>
            <a:ext cx="1591056"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Self-test</a:t>
            </a:r>
            <a:endParaRPr lang="en-US" sz="1700" dirty="0"/>
          </a:p>
        </p:txBody>
      </p:sp>
      <p:sp>
        <p:nvSpPr>
          <p:cNvPr id="26" name="Text 19"/>
          <p:cNvSpPr txBox="1"/>
          <p:nvPr/>
        </p:nvSpPr>
        <p:spPr>
          <a:xfrm>
            <a:off x="9198864" y="2560320"/>
            <a:ext cx="2231136"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Take the full practice midterm in the notes under exam conditions, then check it.</a:t>
            </a:r>
            <a:endParaRPr lang="en-US" sz="1400" dirty="0"/>
          </a:p>
        </p:txBody>
      </p:sp>
      <p:sp>
        <p:nvSpPr>
          <p:cNvPr id="27" name="Text 20"/>
          <p:cNvSpPr txBox="1"/>
          <p:nvPr/>
        </p:nvSpPr>
        <p:spPr>
          <a:xfrm>
            <a:off x="548640" y="4114800"/>
            <a:ext cx="548640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Session timeline (approx.)</a:t>
            </a:r>
            <a:endParaRPr lang="en-US" sz="1400" dirty="0"/>
          </a:p>
        </p:txBody>
      </p:sp>
      <p:sp>
        <p:nvSpPr>
          <p:cNvPr id="28" name="Shape 21"/>
          <p:cNvSpPr/>
          <p:nvPr/>
        </p:nvSpPr>
        <p:spPr>
          <a:xfrm>
            <a:off x="548640" y="4434840"/>
            <a:ext cx="1169469" cy="640080"/>
          </a:xfrm>
          <a:prstGeom prst="rect">
            <a:avLst/>
          </a:prstGeom>
          <a:solidFill>
            <a:srgbClr val="5B6478"/>
          </a:solidFill>
          <a:ln w="19050">
            <a:solidFill>
              <a:srgbClr val="FFFFFF"/>
            </a:solidFill>
            <a:prstDash val="solid"/>
          </a:ln>
        </p:spPr>
      </p:sp>
      <p:sp>
        <p:nvSpPr>
          <p:cNvPr id="29" name="Text 22"/>
          <p:cNvSpPr txBox="1"/>
          <p:nvPr/>
        </p:nvSpPr>
        <p:spPr>
          <a:xfrm>
            <a:off x="548640" y="4434840"/>
            <a:ext cx="1169469"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Logistics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 min</a:t>
            </a:r>
            <a:endParaRPr lang="en-US" sz="1300" dirty="0"/>
          </a:p>
        </p:txBody>
      </p:sp>
      <p:sp>
        <p:nvSpPr>
          <p:cNvPr id="30" name="Shape 23"/>
          <p:cNvSpPr/>
          <p:nvPr/>
        </p:nvSpPr>
        <p:spPr>
          <a:xfrm>
            <a:off x="1718109" y="4434840"/>
            <a:ext cx="3508408" cy="640080"/>
          </a:xfrm>
          <a:prstGeom prst="rect">
            <a:avLst/>
          </a:prstGeom>
          <a:solidFill>
            <a:srgbClr val="14213D"/>
          </a:solidFill>
          <a:ln w="19050">
            <a:solidFill>
              <a:srgbClr val="FFFFFF"/>
            </a:solidFill>
            <a:prstDash val="solid"/>
          </a:ln>
        </p:spPr>
      </p:sp>
      <p:sp>
        <p:nvSpPr>
          <p:cNvPr id="31" name="Text 24"/>
          <p:cNvSpPr txBox="1"/>
          <p:nvPr/>
        </p:nvSpPr>
        <p:spPr>
          <a:xfrm>
            <a:off x="1718109" y="4434840"/>
            <a:ext cx="3508408"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1: condensed review</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30 min</a:t>
            </a:r>
            <a:endParaRPr lang="en-US" sz="1300" dirty="0"/>
          </a:p>
        </p:txBody>
      </p:sp>
      <p:sp>
        <p:nvSpPr>
          <p:cNvPr id="32" name="Shape 25"/>
          <p:cNvSpPr/>
          <p:nvPr/>
        </p:nvSpPr>
        <p:spPr>
          <a:xfrm>
            <a:off x="5226518" y="4434840"/>
            <a:ext cx="5262613" cy="640080"/>
          </a:xfrm>
          <a:prstGeom prst="rect">
            <a:avLst/>
          </a:prstGeom>
          <a:solidFill>
            <a:srgbClr val="B7791F"/>
          </a:solidFill>
          <a:ln w="19050">
            <a:solidFill>
              <a:srgbClr val="FFFFFF"/>
            </a:solidFill>
            <a:prstDash val="solid"/>
          </a:ln>
        </p:spPr>
      </p:sp>
      <p:sp>
        <p:nvSpPr>
          <p:cNvPr id="33" name="Text 26"/>
          <p:cNvSpPr txBox="1"/>
          <p:nvPr/>
        </p:nvSpPr>
        <p:spPr>
          <a:xfrm>
            <a:off x="5226518" y="4434840"/>
            <a:ext cx="5262613"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Parts 2–3: practice questions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45 min</a:t>
            </a:r>
            <a:endParaRPr lang="en-US" sz="1300" dirty="0"/>
          </a:p>
        </p:txBody>
      </p:sp>
      <p:sp>
        <p:nvSpPr>
          <p:cNvPr id="34" name="Shape 27"/>
          <p:cNvSpPr/>
          <p:nvPr/>
        </p:nvSpPr>
        <p:spPr>
          <a:xfrm>
            <a:off x="10489131" y="4434840"/>
            <a:ext cx="1169469" cy="640080"/>
          </a:xfrm>
          <a:prstGeom prst="rect">
            <a:avLst/>
          </a:prstGeom>
          <a:solidFill>
            <a:srgbClr val="2E9E6A"/>
          </a:solidFill>
          <a:ln w="19050">
            <a:solidFill>
              <a:srgbClr val="FFFFFF"/>
            </a:solidFill>
            <a:prstDash val="solid"/>
          </a:ln>
        </p:spPr>
      </p:sp>
      <p:sp>
        <p:nvSpPr>
          <p:cNvPr id="35" name="Text 28"/>
          <p:cNvSpPr txBox="1"/>
          <p:nvPr/>
        </p:nvSpPr>
        <p:spPr>
          <a:xfrm>
            <a:off x="10489131" y="4434840"/>
            <a:ext cx="1169469"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 min</a:t>
            </a:r>
            <a:endParaRPr lang="en-US" sz="1300" dirty="0"/>
          </a:p>
        </p:txBody>
      </p:sp>
      <p:sp>
        <p:nvSpPr>
          <p:cNvPr id="36" name="Shape 29"/>
          <p:cNvSpPr/>
          <p:nvPr/>
        </p:nvSpPr>
        <p:spPr>
          <a:xfrm>
            <a:off x="548640" y="5257800"/>
            <a:ext cx="11109960" cy="777240"/>
          </a:xfrm>
          <a:prstGeom prst="roundRect">
            <a:avLst>
              <a:gd name="adj" fmla="val 14118"/>
            </a:avLst>
          </a:prstGeom>
          <a:solidFill>
            <a:srgbClr val="FFF6E3"/>
          </a:solidFill>
          <a:ln w="12700">
            <a:solidFill>
              <a:srgbClr val="FFF6E3"/>
            </a:solidFill>
            <a:prstDash val="solid"/>
          </a:ln>
        </p:spPr>
      </p:sp>
      <p:pic>
        <p:nvPicPr>
          <p:cNvPr id="37" name="Image 4" descr="preencoded.png">    </p:cNvPr>
          <p:cNvPicPr>
            <a:picLocks noChangeAspect="1"/>
          </p:cNvPicPr>
          <p:nvPr/>
        </p:nvPicPr>
        <p:blipFill>
          <a:blip r:embed="rId5"/>
          <a:stretch>
            <a:fillRect/>
          </a:stretch>
        </p:blipFill>
        <p:spPr>
          <a:xfrm>
            <a:off x="822960" y="5394960"/>
            <a:ext cx="502920" cy="502920"/>
          </a:xfrm>
          <a:prstGeom prst="rect">
            <a:avLst/>
          </a:prstGeom>
        </p:spPr>
      </p:pic>
      <p:sp>
        <p:nvSpPr>
          <p:cNvPr id="38" name="Text 30"/>
          <p:cNvSpPr txBox="1"/>
          <p:nvPr/>
        </p:nvSpPr>
        <p:spPr>
          <a:xfrm>
            <a:off x="1600200" y="5330952"/>
            <a:ext cx="9784080" cy="6309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Rule for today: </a:t>
            </a:r>
            <a:pPr indent="0" marL="0">
              <a:buNone/>
            </a:pPr>
            <a:r>
              <a:rPr lang="en-US" sz="1500" dirty="0">
                <a:solidFill>
                  <a:srgbClr val="333B4F"/>
                </a:solidFill>
                <a:latin typeface="Calibri" pitchFamily="34" charset="0"/>
                <a:ea typeface="Calibri" pitchFamily="34" charset="-122"/>
                <a:cs typeface="Calibri" pitchFamily="34" charset="-120"/>
              </a:rPr>
              <a:t>answer every question on paper BEFORE the answer slide appears. Reading answers feels like learning; producing them is what the exam measures.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 LOGISTICS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Midterm at a Glance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2624328"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When &amp; where</a:t>
            </a:r>
            <a:endParaRPr lang="en-US" sz="1700" dirty="0"/>
          </a:p>
        </p:txBody>
      </p:sp>
      <p:sp>
        <p:nvSpPr>
          <p:cNvPr id="11" name="Text 7"/>
          <p:cNvSpPr txBox="1"/>
          <p:nvPr/>
        </p:nvSpPr>
        <p:spPr>
          <a:xfrm>
            <a:off x="777240" y="256032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Date, room and duration: announced on the course group.</a:t>
            </a:r>
            <a:endParaRPr lang="en-US" sz="1400" dirty="0"/>
          </a:p>
        </p:txBody>
      </p:sp>
      <p:sp>
        <p:nvSpPr>
          <p:cNvPr id="12" name="Shape 8"/>
          <p:cNvSpPr/>
          <p:nvPr/>
        </p:nvSpPr>
        <p:spPr>
          <a:xfrm>
            <a:off x="3310128" y="1645920"/>
            <a:ext cx="2624328"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3538728"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3686129" y="2021921"/>
            <a:ext cx="272125" cy="272125"/>
          </a:xfrm>
          <a:prstGeom prst="rect">
            <a:avLst/>
          </a:prstGeom>
        </p:spPr>
      </p:pic>
      <p:sp>
        <p:nvSpPr>
          <p:cNvPr id="15" name="Text 10"/>
          <p:cNvSpPr txBox="1"/>
          <p:nvPr/>
        </p:nvSpPr>
        <p:spPr>
          <a:xfrm>
            <a:off x="4224528" y="187452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Closed book</a:t>
            </a:r>
            <a:endParaRPr lang="en-US" sz="1700" dirty="0"/>
          </a:p>
        </p:txBody>
      </p:sp>
      <p:sp>
        <p:nvSpPr>
          <p:cNvPr id="16" name="Text 11"/>
          <p:cNvSpPr txBox="1"/>
          <p:nvPr/>
        </p:nvSpPr>
        <p:spPr>
          <a:xfrm>
            <a:off x="3538728" y="256032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No notes, no phones, no laptops. Only what is in your head.</a:t>
            </a:r>
            <a:endParaRPr lang="en-US" sz="1400" dirty="0"/>
          </a:p>
        </p:txBody>
      </p:sp>
      <p:sp>
        <p:nvSpPr>
          <p:cNvPr id="17" name="Shape 12"/>
          <p:cNvSpPr/>
          <p:nvPr/>
        </p:nvSpPr>
        <p:spPr>
          <a:xfrm>
            <a:off x="6071616" y="1645920"/>
            <a:ext cx="2624328"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6300216"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6447617" y="2021921"/>
            <a:ext cx="272125" cy="272125"/>
          </a:xfrm>
          <a:prstGeom prst="rect">
            <a:avLst/>
          </a:prstGeom>
        </p:spPr>
      </p:pic>
      <p:sp>
        <p:nvSpPr>
          <p:cNvPr id="20" name="Text 14"/>
          <p:cNvSpPr txBox="1"/>
          <p:nvPr/>
        </p:nvSpPr>
        <p:spPr>
          <a:xfrm>
            <a:off x="6986016" y="187452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Bring</a:t>
            </a:r>
            <a:endParaRPr lang="en-US" sz="1700" dirty="0"/>
          </a:p>
        </p:txBody>
      </p:sp>
      <p:sp>
        <p:nvSpPr>
          <p:cNvPr id="21" name="Text 15"/>
          <p:cNvSpPr txBox="1"/>
          <p:nvPr/>
        </p:nvSpPr>
        <p:spPr>
          <a:xfrm>
            <a:off x="6300216" y="256032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Student ID card, pen. Pencil and eraser for flowcharts.</a:t>
            </a:r>
            <a:endParaRPr lang="en-US" sz="1400" dirty="0"/>
          </a:p>
        </p:txBody>
      </p:sp>
      <p:sp>
        <p:nvSpPr>
          <p:cNvPr id="22" name="Shape 16"/>
          <p:cNvSpPr/>
          <p:nvPr/>
        </p:nvSpPr>
        <p:spPr>
          <a:xfrm>
            <a:off x="548640" y="3886200"/>
            <a:ext cx="2624328"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FCA311"/>
          </a:solidFill>
          <a:ln w="12700">
            <a:solidFill>
              <a:srgbClr val="FCA311"/>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Weight</a:t>
            </a:r>
            <a:endParaRPr lang="en-US" sz="1700" dirty="0"/>
          </a:p>
        </p:txBody>
      </p:sp>
      <p:sp>
        <p:nvSpPr>
          <p:cNvPr id="26" name="Text 19"/>
          <p:cNvSpPr txBox="1"/>
          <p:nvPr/>
        </p:nvSpPr>
        <p:spPr>
          <a:xfrm>
            <a:off x="777240" y="480060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Midterm 40 % · Final 60 % of the course grade.</a:t>
            </a:r>
            <a:endParaRPr lang="en-US" sz="1400" dirty="0"/>
          </a:p>
        </p:txBody>
      </p:sp>
      <p:sp>
        <p:nvSpPr>
          <p:cNvPr id="27" name="Shape 20"/>
          <p:cNvSpPr/>
          <p:nvPr/>
        </p:nvSpPr>
        <p:spPr>
          <a:xfrm>
            <a:off x="3310128" y="3886200"/>
            <a:ext cx="2624328"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3538728"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3686129" y="4262201"/>
            <a:ext cx="272125" cy="272125"/>
          </a:xfrm>
          <a:prstGeom prst="rect">
            <a:avLst/>
          </a:prstGeom>
        </p:spPr>
      </p:pic>
      <p:sp>
        <p:nvSpPr>
          <p:cNvPr id="30" name="Text 22"/>
          <p:cNvSpPr txBox="1"/>
          <p:nvPr/>
        </p:nvSpPr>
        <p:spPr>
          <a:xfrm>
            <a:off x="4224528" y="411480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On paper</a:t>
            </a:r>
            <a:endParaRPr lang="en-US" sz="1700" dirty="0"/>
          </a:p>
        </p:txBody>
      </p:sp>
      <p:sp>
        <p:nvSpPr>
          <p:cNvPr id="31" name="Text 23"/>
          <p:cNvSpPr txBox="1"/>
          <p:nvPr/>
        </p:nvSpPr>
        <p:spPr>
          <a:xfrm>
            <a:off x="3538728" y="480060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You write C# by hand: no compiler, no IntelliSense. Practise that way.</a:t>
            </a:r>
            <a:endParaRPr lang="en-US" sz="1400" dirty="0"/>
          </a:p>
        </p:txBody>
      </p:sp>
      <p:sp>
        <p:nvSpPr>
          <p:cNvPr id="32" name="Shape 24"/>
          <p:cNvSpPr/>
          <p:nvPr/>
        </p:nvSpPr>
        <p:spPr>
          <a:xfrm>
            <a:off x="6071616" y="3886200"/>
            <a:ext cx="2624328"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6300216"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6447617" y="4262201"/>
            <a:ext cx="272125" cy="272125"/>
          </a:xfrm>
          <a:prstGeom prst="rect">
            <a:avLst/>
          </a:prstGeom>
        </p:spPr>
      </p:pic>
      <p:sp>
        <p:nvSpPr>
          <p:cNvPr id="35" name="Text 26"/>
          <p:cNvSpPr txBox="1"/>
          <p:nvPr/>
        </p:nvSpPr>
        <p:spPr>
          <a:xfrm>
            <a:off x="6986016" y="411480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Question types</a:t>
            </a:r>
            <a:endParaRPr lang="en-US" sz="1700" dirty="0"/>
          </a:p>
        </p:txBody>
      </p:sp>
      <p:sp>
        <p:nvSpPr>
          <p:cNvPr id="36" name="Text 27"/>
          <p:cNvSpPr txBox="1"/>
          <p:nvPr/>
        </p:nvSpPr>
        <p:spPr>
          <a:xfrm>
            <a:off x="6300216" y="480060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Multiple choice, predict output, trace table, flowchart, find bugs, write a program.</a:t>
            </a:r>
            <a:endParaRPr lang="en-US" sz="1400" dirty="0"/>
          </a:p>
        </p:txBody>
      </p:sp>
      <p:sp>
        <p:nvSpPr>
          <p:cNvPr id="37" name="Shape 28"/>
          <p:cNvSpPr/>
          <p:nvPr/>
        </p:nvSpPr>
        <p:spPr>
          <a:xfrm>
            <a:off x="8915400" y="1645920"/>
            <a:ext cx="2743200" cy="4297680"/>
          </a:xfrm>
          <a:prstGeom prst="roundRect">
            <a:avLst>
              <a:gd name="adj" fmla="val 4000"/>
            </a:avLst>
          </a:prstGeom>
          <a:solidFill>
            <a:srgbClr val="14213D"/>
          </a:solidFill>
          <a:ln w="12700">
            <a:solidFill>
              <a:srgbClr val="14213D"/>
            </a:solidFill>
            <a:prstDash val="solid"/>
          </a:ln>
        </p:spPr>
      </p:sp>
      <p:sp>
        <p:nvSpPr>
          <p:cNvPr id="38" name="Text 29"/>
          <p:cNvSpPr txBox="1"/>
          <p:nvPr/>
        </p:nvSpPr>
        <p:spPr>
          <a:xfrm>
            <a:off x="9326880" y="1965960"/>
            <a:ext cx="1920240" cy="1920240"/>
          </a:xfrm>
          <a:prstGeom prst="rect">
            <a:avLst/>
          </a:prstGeom>
          <a:noFill/>
          <a:ln/>
        </p:spPr>
        <p:txBody>
          <a:bodyPr wrap="square" lIns="0" tIns="0" rIns="0" bIns="0" rtlCol="0" anchor="ctr"/>
          <a:lstStyle/>
          <a:p>
            <a:pPr algn="ctr" indent="0" marL="0">
              <a:buNone/>
            </a:pPr>
            <a:r>
              <a:rPr lang="en-US" sz="5400" b="1" dirty="0">
                <a:solidFill>
                  <a:srgbClr val="FCA311"/>
                </a:solidFill>
                <a:latin typeface="Courier New" pitchFamily="34" charset="0"/>
                <a:ea typeface="Courier New" pitchFamily="34" charset="-122"/>
                <a:cs typeface="Courier New" pitchFamily="34" charset="-120"/>
              </a:rPr>
              <a:t>&gt;_</a:t>
            </a:r>
            <a:endParaRPr lang="en-US" sz="5400" dirty="0"/>
          </a:p>
        </p:txBody>
      </p:sp>
      <p:sp>
        <p:nvSpPr>
          <p:cNvPr id="39" name="Text 30"/>
          <p:cNvSpPr txBox="1"/>
          <p:nvPr/>
        </p:nvSpPr>
        <p:spPr>
          <a:xfrm>
            <a:off x="9052560" y="4023360"/>
            <a:ext cx="2468880" cy="36576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Announcements</a:t>
            </a:r>
            <a:endParaRPr lang="en-US" sz="1400" dirty="0"/>
          </a:p>
        </p:txBody>
      </p:sp>
      <p:sp>
        <p:nvSpPr>
          <p:cNvPr id="40" name="Text 31"/>
          <p:cNvSpPr txBox="1"/>
          <p:nvPr/>
        </p:nvSpPr>
        <p:spPr>
          <a:xfrm>
            <a:off x="9098280" y="4434840"/>
            <a:ext cx="2377440" cy="128016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Official date, room and any seating plan are announced in class and on the course page.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SCOPE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the Midterm Covers: Weeks 1–7</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731520"/>
                <a:gridCol w="3108960"/>
                <a:gridCol w="726948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Week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You must be able to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Algorithms &amp; problem solving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name the 5 properties; write pseudocode; build test cases and trace tables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Flowcharts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draw with the correct symbols; convert flowchart ⇄ pseudocode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Variables, data types, constants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choose a type; declare/initialise; Parse input; cast; format output ({x:F2})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Operators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evaluate expressions with precedence, / and %, ++/--, &amp;&amp; || !, short-circuit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if, else-if, switch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write selection logic; validate input with TryParse; order conditions correctly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for loop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count, accumulate, nest loops; predict patterns; use break/continue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while, do-while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sentinel and validation loops; digit loops (% 10, / 10); choose the right loop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532120"/>
            <a:ext cx="11109960" cy="566928"/>
          </a:xfrm>
          <a:prstGeom prst="roundRect">
            <a:avLst>
              <a:gd name="adj" fmla="val 19355"/>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669280"/>
            <a:ext cx="292608" cy="292608"/>
          </a:xfrm>
          <a:prstGeom prst="rect">
            <a:avLst/>
          </a:prstGeom>
        </p:spPr>
      </p:pic>
      <p:sp>
        <p:nvSpPr>
          <p:cNvPr id="10" name="Text 5"/>
          <p:cNvSpPr txBox="1"/>
          <p:nvPr/>
        </p:nvSpPr>
        <p:spPr>
          <a:xfrm>
            <a:off x="1389888" y="5605272"/>
            <a:ext cx="9994392" cy="420624"/>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Not on the midterm: </a:t>
            </a:r>
            <a:pPr indent="0" marL="0">
              <a:buNone/>
            </a:pPr>
            <a:r>
              <a:rPr lang="en-US" sz="1400" dirty="0">
                <a:solidFill>
                  <a:srgbClr val="333B4F"/>
                </a:solidFill>
                <a:latin typeface="Calibri" pitchFamily="34" charset="0"/>
                <a:ea typeface="Calibri" pitchFamily="34" charset="-122"/>
                <a:cs typeface="Calibri" pitchFamily="34" charset="-120"/>
              </a:rPr>
              <a:t>arrays (Week 9 on) and methods/functions (Week 12 on). Do not use them in your answers.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Seven Weeks in One Picture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45920"/>
            <a:ext cx="3611880" cy="3520440"/>
          </a:xfrm>
          <a:prstGeom prst="roundRect">
            <a:avLst>
              <a:gd name="adj" fmla="val 3117"/>
            </a:avLst>
          </a:prstGeom>
          <a:solidFill>
            <a:srgbClr val="EEF1F6"/>
          </a:solidFill>
          <a:ln w="12700">
            <a:solidFill>
              <a:srgbClr val="EEF1F6"/>
            </a:solidFill>
            <a:prstDash val="solid"/>
          </a:ln>
        </p:spPr>
      </p:sp>
      <p:sp>
        <p:nvSpPr>
          <p:cNvPr id="8" name="Shape 5"/>
          <p:cNvSpPr/>
          <p:nvPr/>
        </p:nvSpPr>
        <p:spPr>
          <a:xfrm>
            <a:off x="777240" y="1810512"/>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57913"/>
            <a:ext cx="272125" cy="272125"/>
          </a:xfrm>
          <a:prstGeom prst="rect">
            <a:avLst/>
          </a:prstGeom>
        </p:spPr>
      </p:pic>
      <p:sp>
        <p:nvSpPr>
          <p:cNvPr id="10" name="Text 6"/>
          <p:cNvSpPr txBox="1"/>
          <p:nvPr/>
        </p:nvSpPr>
        <p:spPr>
          <a:xfrm>
            <a:off x="1463040" y="1810512"/>
            <a:ext cx="2011680" cy="566928"/>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Sequence</a:t>
            </a:r>
            <a:endParaRPr lang="en-US" sz="2000" dirty="0"/>
          </a:p>
        </p:txBody>
      </p:sp>
      <p:sp>
        <p:nvSpPr>
          <p:cNvPr id="11" name="Text 7"/>
          <p:cNvSpPr txBox="1"/>
          <p:nvPr/>
        </p:nvSpPr>
        <p:spPr>
          <a:xfrm>
            <a:off x="2926080" y="1810512"/>
            <a:ext cx="1051560" cy="566928"/>
          </a:xfrm>
          <a:prstGeom prst="rect">
            <a:avLst/>
          </a:prstGeom>
          <a:noFill/>
          <a:ln/>
        </p:spPr>
        <p:txBody>
          <a:bodyPr wrap="square" lIns="0" tIns="0" rIns="0" bIns="0" rtlCol="0" anchor="ctr"/>
          <a:lstStyle/>
          <a:p>
            <a:pPr algn="r" indent="0" marL="0">
              <a:buNone/>
            </a:pPr>
            <a:r>
              <a:rPr lang="en-US" sz="1200" dirty="0">
                <a:solidFill>
                  <a:srgbClr val="5B6478"/>
                </a:solidFill>
                <a:latin typeface="Courier New" pitchFamily="34" charset="0"/>
                <a:ea typeface="Courier New" pitchFamily="34" charset="-122"/>
                <a:cs typeface="Courier New" pitchFamily="34" charset="-120"/>
              </a:rPr>
              <a:t>Weeks 1–4</a:t>
            </a:r>
            <a:endParaRPr lang="en-US" sz="1200" dirty="0"/>
          </a:p>
        </p:txBody>
      </p:sp>
      <p:sp>
        <p:nvSpPr>
          <p:cNvPr id="12" name="Shape 8"/>
          <p:cNvSpPr/>
          <p:nvPr/>
        </p:nvSpPr>
        <p:spPr>
          <a:xfrm>
            <a:off x="731520" y="2560320"/>
            <a:ext cx="3246120" cy="2423160"/>
          </a:xfrm>
          <a:prstGeom prst="roundRect">
            <a:avLst>
              <a:gd name="adj" fmla="val 3774"/>
            </a:avLst>
          </a:prstGeom>
          <a:solidFill>
            <a:srgbClr val="0F1729"/>
          </a:solidFill>
          <a:ln w="12700">
            <a:solidFill>
              <a:srgbClr val="0F1729"/>
            </a:solidFill>
            <a:prstDash val="solid"/>
          </a:ln>
        </p:spPr>
      </p:sp>
      <p:sp>
        <p:nvSpPr>
          <p:cNvPr id="13" name="Text 9"/>
          <p:cNvSpPr txBox="1"/>
          <p:nvPr/>
        </p:nvSpPr>
        <p:spPr>
          <a:xfrm>
            <a:off x="960120" y="2724912"/>
            <a:ext cx="2788920" cy="214884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.PI * r * r;</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4" name="Shape 10"/>
          <p:cNvSpPr/>
          <p:nvPr/>
        </p:nvSpPr>
        <p:spPr>
          <a:xfrm>
            <a:off x="4297680" y="1645920"/>
            <a:ext cx="3611880" cy="3520440"/>
          </a:xfrm>
          <a:prstGeom prst="roundRect">
            <a:avLst>
              <a:gd name="adj" fmla="val 3117"/>
            </a:avLst>
          </a:prstGeom>
          <a:solidFill>
            <a:srgbClr val="EEF1F6"/>
          </a:solidFill>
          <a:ln w="12700">
            <a:solidFill>
              <a:srgbClr val="EEF1F6"/>
            </a:solidFill>
            <a:prstDash val="solid"/>
          </a:ln>
        </p:spPr>
      </p:sp>
      <p:sp>
        <p:nvSpPr>
          <p:cNvPr id="15" name="Shape 11"/>
          <p:cNvSpPr/>
          <p:nvPr/>
        </p:nvSpPr>
        <p:spPr>
          <a:xfrm>
            <a:off x="4526280" y="1810512"/>
            <a:ext cx="566928" cy="566928"/>
          </a:xfrm>
          <a:prstGeom prst="ellipse">
            <a:avLst/>
          </a:prstGeom>
          <a:solidFill>
            <a:srgbClr val="2F6FB3"/>
          </a:solidFill>
          <a:ln w="12700">
            <a:solidFill>
              <a:srgbClr val="2F6FB3"/>
            </a:solidFill>
            <a:prstDash val="solid"/>
          </a:ln>
        </p:spPr>
      </p:sp>
      <p:pic>
        <p:nvPicPr>
          <p:cNvPr id="16" name="Image 1" descr="preencoded.png">    </p:cNvPr>
          <p:cNvPicPr>
            <a:picLocks noChangeAspect="1"/>
          </p:cNvPicPr>
          <p:nvPr/>
        </p:nvPicPr>
        <p:blipFill>
          <a:blip r:embed="rId2"/>
          <a:stretch>
            <a:fillRect/>
          </a:stretch>
        </p:blipFill>
        <p:spPr>
          <a:xfrm>
            <a:off x="4673681" y="1957913"/>
            <a:ext cx="272125" cy="272125"/>
          </a:xfrm>
          <a:prstGeom prst="rect">
            <a:avLst/>
          </a:prstGeom>
        </p:spPr>
      </p:pic>
      <p:sp>
        <p:nvSpPr>
          <p:cNvPr id="17" name="Text 12"/>
          <p:cNvSpPr txBox="1"/>
          <p:nvPr/>
        </p:nvSpPr>
        <p:spPr>
          <a:xfrm>
            <a:off x="5212080" y="1810512"/>
            <a:ext cx="2011680" cy="566928"/>
          </a:xfrm>
          <a:prstGeom prst="rect">
            <a:avLst/>
          </a:prstGeom>
          <a:noFill/>
          <a:ln/>
        </p:spPr>
        <p:txBody>
          <a:bodyPr wrap="square" lIns="0" tIns="0" rIns="0" bIns="0" rtlCol="0" anchor="ctr"/>
          <a:lstStyle/>
          <a:p>
            <a:pPr indent="0" marL="0">
              <a:buNone/>
            </a:pPr>
            <a:r>
              <a:rPr lang="en-US" sz="2000" b="1" dirty="0">
                <a:solidFill>
                  <a:srgbClr val="2F6FB3"/>
                </a:solidFill>
                <a:latin typeface="Cambria" pitchFamily="34" charset="0"/>
                <a:ea typeface="Cambria" pitchFamily="34" charset="-122"/>
                <a:cs typeface="Cambria" pitchFamily="34" charset="-120"/>
              </a:rPr>
              <a:t>Selection</a:t>
            </a:r>
            <a:endParaRPr lang="en-US" sz="2000" dirty="0"/>
          </a:p>
        </p:txBody>
      </p:sp>
      <p:sp>
        <p:nvSpPr>
          <p:cNvPr id="18" name="Text 13"/>
          <p:cNvSpPr txBox="1"/>
          <p:nvPr/>
        </p:nvSpPr>
        <p:spPr>
          <a:xfrm>
            <a:off x="6675120" y="1810512"/>
            <a:ext cx="1051560" cy="566928"/>
          </a:xfrm>
          <a:prstGeom prst="rect">
            <a:avLst/>
          </a:prstGeom>
          <a:noFill/>
          <a:ln/>
        </p:spPr>
        <p:txBody>
          <a:bodyPr wrap="square" lIns="0" tIns="0" rIns="0" bIns="0" rtlCol="0" anchor="ctr"/>
          <a:lstStyle/>
          <a:p>
            <a:pPr algn="r" indent="0" marL="0">
              <a:buNone/>
            </a:pPr>
            <a:r>
              <a:rPr lang="en-US" sz="1200" dirty="0">
                <a:solidFill>
                  <a:srgbClr val="5B6478"/>
                </a:solidFill>
                <a:latin typeface="Courier New" pitchFamily="34" charset="0"/>
                <a:ea typeface="Courier New" pitchFamily="34" charset="-122"/>
                <a:cs typeface="Courier New" pitchFamily="34" charset="-120"/>
              </a:rPr>
              <a:t>Week 5</a:t>
            </a:r>
            <a:endParaRPr lang="en-US" sz="1200" dirty="0"/>
          </a:p>
        </p:txBody>
      </p:sp>
      <p:sp>
        <p:nvSpPr>
          <p:cNvPr id="19" name="Shape 14"/>
          <p:cNvSpPr/>
          <p:nvPr/>
        </p:nvSpPr>
        <p:spPr>
          <a:xfrm>
            <a:off x="4480560" y="2560320"/>
            <a:ext cx="3246120" cy="2423160"/>
          </a:xfrm>
          <a:prstGeom prst="roundRect">
            <a:avLst>
              <a:gd name="adj" fmla="val 3774"/>
            </a:avLst>
          </a:prstGeom>
          <a:solidFill>
            <a:srgbClr val="0F1729"/>
          </a:solidFill>
          <a:ln w="12700">
            <a:solidFill>
              <a:srgbClr val="0F1729"/>
            </a:solidFill>
            <a:prstDash val="solid"/>
          </a:ln>
        </p:spPr>
      </p:sp>
      <p:sp>
        <p:nvSpPr>
          <p:cNvPr id="20" name="Text 15"/>
          <p:cNvSpPr txBox="1"/>
          <p:nvPr/>
        </p:nvSpPr>
        <p:spPr>
          <a:xfrm>
            <a:off x="4709160" y="2724912"/>
            <a:ext cx="2788920" cy="214884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"PASS"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"FAIL"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1" name="Shape 16"/>
          <p:cNvSpPr/>
          <p:nvPr/>
        </p:nvSpPr>
        <p:spPr>
          <a:xfrm>
            <a:off x="8046720" y="1645920"/>
            <a:ext cx="3611880" cy="3520440"/>
          </a:xfrm>
          <a:prstGeom prst="roundRect">
            <a:avLst>
              <a:gd name="adj" fmla="val 3117"/>
            </a:avLst>
          </a:prstGeom>
          <a:solidFill>
            <a:srgbClr val="EEF1F6"/>
          </a:solidFill>
          <a:ln w="12700">
            <a:solidFill>
              <a:srgbClr val="EEF1F6"/>
            </a:solidFill>
            <a:prstDash val="solid"/>
          </a:ln>
        </p:spPr>
      </p:sp>
      <p:sp>
        <p:nvSpPr>
          <p:cNvPr id="22" name="Shape 17"/>
          <p:cNvSpPr/>
          <p:nvPr/>
        </p:nvSpPr>
        <p:spPr>
          <a:xfrm>
            <a:off x="8275320" y="1810512"/>
            <a:ext cx="566928" cy="566928"/>
          </a:xfrm>
          <a:prstGeom prst="ellipse">
            <a:avLst/>
          </a:prstGeom>
          <a:solidFill>
            <a:srgbClr val="2E9E6A"/>
          </a:solidFill>
          <a:ln w="12700">
            <a:solidFill>
              <a:srgbClr val="2E9E6A"/>
            </a:solidFill>
            <a:prstDash val="solid"/>
          </a:ln>
        </p:spPr>
      </p:sp>
      <p:pic>
        <p:nvPicPr>
          <p:cNvPr id="23" name="Image 2" descr="preencoded.png">    </p:cNvPr>
          <p:cNvPicPr>
            <a:picLocks noChangeAspect="1"/>
          </p:cNvPicPr>
          <p:nvPr/>
        </p:nvPicPr>
        <p:blipFill>
          <a:blip r:embed="rId3"/>
          <a:stretch>
            <a:fillRect/>
          </a:stretch>
        </p:blipFill>
        <p:spPr>
          <a:xfrm>
            <a:off x="8422721" y="1957913"/>
            <a:ext cx="272125" cy="272125"/>
          </a:xfrm>
          <a:prstGeom prst="rect">
            <a:avLst/>
          </a:prstGeom>
        </p:spPr>
      </p:pic>
      <p:sp>
        <p:nvSpPr>
          <p:cNvPr id="24" name="Text 18"/>
          <p:cNvSpPr txBox="1"/>
          <p:nvPr/>
        </p:nvSpPr>
        <p:spPr>
          <a:xfrm>
            <a:off x="8961120" y="1810512"/>
            <a:ext cx="2011680" cy="566928"/>
          </a:xfrm>
          <a:prstGeom prst="rect">
            <a:avLst/>
          </a:prstGeom>
          <a:noFill/>
          <a:ln/>
        </p:spPr>
        <p:txBody>
          <a:bodyPr wrap="square" lIns="0" tIns="0" rIns="0" bIns="0" rtlCol="0" anchor="ctr"/>
          <a:lstStyle/>
          <a:p>
            <a:pPr indent="0" marL="0">
              <a:buNone/>
            </a:pPr>
            <a:r>
              <a:rPr lang="en-US" sz="2000" b="1" dirty="0">
                <a:solidFill>
                  <a:srgbClr val="2E9E6A"/>
                </a:solidFill>
                <a:latin typeface="Cambria" pitchFamily="34" charset="0"/>
                <a:ea typeface="Cambria" pitchFamily="34" charset="-122"/>
                <a:cs typeface="Cambria" pitchFamily="34" charset="-120"/>
              </a:rPr>
              <a:t>Repetition</a:t>
            </a:r>
            <a:endParaRPr lang="en-US" sz="2000" dirty="0"/>
          </a:p>
        </p:txBody>
      </p:sp>
      <p:sp>
        <p:nvSpPr>
          <p:cNvPr id="25" name="Text 19"/>
          <p:cNvSpPr txBox="1"/>
          <p:nvPr/>
        </p:nvSpPr>
        <p:spPr>
          <a:xfrm>
            <a:off x="10424160" y="1810512"/>
            <a:ext cx="1051560" cy="566928"/>
          </a:xfrm>
          <a:prstGeom prst="rect">
            <a:avLst/>
          </a:prstGeom>
          <a:noFill/>
          <a:ln/>
        </p:spPr>
        <p:txBody>
          <a:bodyPr wrap="square" lIns="0" tIns="0" rIns="0" bIns="0" rtlCol="0" anchor="ctr"/>
          <a:lstStyle/>
          <a:p>
            <a:pPr algn="r" indent="0" marL="0">
              <a:buNone/>
            </a:pPr>
            <a:r>
              <a:rPr lang="en-US" sz="1200" dirty="0">
                <a:solidFill>
                  <a:srgbClr val="5B6478"/>
                </a:solidFill>
                <a:latin typeface="Courier New" pitchFamily="34" charset="0"/>
                <a:ea typeface="Courier New" pitchFamily="34" charset="-122"/>
                <a:cs typeface="Courier New" pitchFamily="34" charset="-120"/>
              </a:rPr>
              <a:t>Weeks 6–7</a:t>
            </a:r>
            <a:endParaRPr lang="en-US" sz="1200" dirty="0"/>
          </a:p>
        </p:txBody>
      </p:sp>
      <p:sp>
        <p:nvSpPr>
          <p:cNvPr id="26" name="Shape 20"/>
          <p:cNvSpPr/>
          <p:nvPr/>
        </p:nvSpPr>
        <p:spPr>
          <a:xfrm>
            <a:off x="8229600" y="2560320"/>
            <a:ext cx="3246120" cy="2423160"/>
          </a:xfrm>
          <a:prstGeom prst="roundRect">
            <a:avLst>
              <a:gd name="adj" fmla="val 3774"/>
            </a:avLst>
          </a:prstGeom>
          <a:solidFill>
            <a:srgbClr val="0F1729"/>
          </a:solidFill>
          <a:ln w="12700">
            <a:solidFill>
              <a:srgbClr val="0F1729"/>
            </a:solidFill>
            <a:prstDash val="solid"/>
          </a:ln>
        </p:spPr>
      </p:sp>
      <p:sp>
        <p:nvSpPr>
          <p:cNvPr id="27" name="Text 21"/>
          <p:cNvSpPr txBox="1"/>
          <p:nvPr/>
        </p:nvSpPr>
        <p:spPr>
          <a:xfrm>
            <a:off x="8458200" y="2724912"/>
            <a:ext cx="2788920" cy="214884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.WriteLine(sum);</a:t>
            </a:r>
            <a:endParaRPr lang="en-US" sz="1200" dirty="0"/>
          </a:p>
        </p:txBody>
      </p:sp>
      <p:sp>
        <p:nvSpPr>
          <p:cNvPr id="28" name="Shape 22"/>
          <p:cNvSpPr/>
          <p:nvPr/>
        </p:nvSpPr>
        <p:spPr>
          <a:xfrm>
            <a:off x="548640" y="5349240"/>
            <a:ext cx="11109960" cy="731520"/>
          </a:xfrm>
          <a:prstGeom prst="roundRect">
            <a:avLst>
              <a:gd name="adj" fmla="val 15000"/>
            </a:avLst>
          </a:prstGeom>
          <a:solidFill>
            <a:srgbClr val="FFF6E3"/>
          </a:solidFill>
          <a:ln w="12700">
            <a:solidFill>
              <a:srgbClr val="FFF6E3"/>
            </a:solidFill>
            <a:prstDash val="solid"/>
          </a:ln>
        </p:spPr>
      </p:sp>
      <p:pic>
        <p:nvPicPr>
          <p:cNvPr id="29" name="Image 3" descr="preencoded.png">    </p:cNvPr>
          <p:cNvPicPr>
            <a:picLocks noChangeAspect="1"/>
          </p:cNvPicPr>
          <p:nvPr/>
        </p:nvPicPr>
        <p:blipFill>
          <a:blip r:embed="rId4"/>
          <a:stretch>
            <a:fillRect/>
          </a:stretch>
        </p:blipFill>
        <p:spPr>
          <a:xfrm>
            <a:off x="822960" y="5486400"/>
            <a:ext cx="457200" cy="457200"/>
          </a:xfrm>
          <a:prstGeom prst="rect">
            <a:avLst/>
          </a:prstGeom>
        </p:spPr>
      </p:pic>
      <p:sp>
        <p:nvSpPr>
          <p:cNvPr id="30" name="Text 23"/>
          <p:cNvSpPr txBox="1"/>
          <p:nvPr/>
        </p:nvSpPr>
        <p:spPr>
          <a:xfrm>
            <a:off x="1554480" y="5422392"/>
            <a:ext cx="9829800" cy="58521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Böhm–Jacopini (Week 1): </a:t>
            </a:r>
            <a:pPr indent="0" marL="0">
              <a:buNone/>
            </a:pPr>
            <a:r>
              <a:rPr lang="en-US" sz="1400" dirty="0">
                <a:solidFill>
                  <a:srgbClr val="333B4F"/>
                </a:solidFill>
                <a:latin typeface="Calibri" pitchFamily="34" charset="0"/>
                <a:ea typeface="Calibri" pitchFamily="34" charset="-122"/>
                <a:cs typeface="Calibri" pitchFamily="34" charset="-120"/>
              </a:rPr>
              <a:t>sequence, selection and repetition are enough for every algorithm. Most exam questions combine two of them, e.g. a decision inside a loop.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Condensed Review</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Weeks 1–7 in nine slides: the facts you must have at your fingertips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8</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1–2 · ALGORITHMS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Algorithm Properties &amp; Problem-Solving Steps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1554480"/>
                <a:gridCol w="2788920"/>
                <a:gridCol w="24231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Property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Violated by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Finiteness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stops after a finite number of steps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"Lather, rinse, repeat."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Definiteness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every step precise, unambiguous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"Add salt to taste."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zero or more well-specified inputs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"Take the bread." (which?)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least one result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nothing is ever printed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Effectiveness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each step can really be done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"Pick the best team."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635240" y="1645920"/>
            <a:ext cx="402336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Problem-solving cycle</a:t>
            </a:r>
            <a:endParaRPr lang="en-US" sz="1700" dirty="0"/>
          </a:p>
        </p:txBody>
      </p:sp>
      <p:sp>
        <p:nvSpPr>
          <p:cNvPr id="9" name="Shape 5"/>
          <p:cNvSpPr/>
          <p:nvPr/>
        </p:nvSpPr>
        <p:spPr>
          <a:xfrm>
            <a:off x="7635240" y="2103120"/>
            <a:ext cx="457200" cy="457200"/>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7754112" y="2221992"/>
            <a:ext cx="219456" cy="219456"/>
          </a:xfrm>
          <a:prstGeom prst="rect">
            <a:avLst/>
          </a:prstGeom>
        </p:spPr>
      </p:pic>
      <p:sp>
        <p:nvSpPr>
          <p:cNvPr id="11" name="Text 6"/>
          <p:cNvSpPr txBox="1"/>
          <p:nvPr/>
        </p:nvSpPr>
        <p:spPr>
          <a:xfrm>
            <a:off x="8229600" y="2103120"/>
            <a:ext cx="34290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Understand  </a:t>
            </a:r>
            <a:pPr indent="0" marL="0">
              <a:buNone/>
            </a:pPr>
            <a:r>
              <a:rPr lang="en-US" sz="1400" dirty="0">
                <a:solidFill>
                  <a:srgbClr val="5B6478"/>
                </a:solidFill>
                <a:latin typeface="Calibri" pitchFamily="34" charset="0"/>
                <a:ea typeface="Calibri" pitchFamily="34" charset="-122"/>
                <a:cs typeface="Calibri" pitchFamily="34" charset="-120"/>
              </a:rPr>
              <a:t>input, output, constraints</a:t>
            </a:r>
            <a:endParaRPr lang="en-US" sz="1400" dirty="0"/>
          </a:p>
        </p:txBody>
      </p:sp>
      <p:sp>
        <p:nvSpPr>
          <p:cNvPr id="12" name="Shape 7"/>
          <p:cNvSpPr/>
          <p:nvPr/>
        </p:nvSpPr>
        <p:spPr>
          <a:xfrm>
            <a:off x="7635240" y="2706624"/>
            <a:ext cx="457200" cy="457200"/>
          </a:xfrm>
          <a:prstGeom prst="ellipse">
            <a:avLst/>
          </a:prstGeom>
          <a:solidFill>
            <a:srgbClr val="14213D"/>
          </a:solidFill>
          <a:ln w="12700">
            <a:solidFill>
              <a:srgbClr val="14213D"/>
            </a:solidFill>
            <a:prstDash val="solid"/>
          </a:ln>
        </p:spPr>
      </p:sp>
      <p:pic>
        <p:nvPicPr>
          <p:cNvPr id="13" name="Image 1" descr="preencoded.png">    </p:cNvPr>
          <p:cNvPicPr>
            <a:picLocks noChangeAspect="1"/>
          </p:cNvPicPr>
          <p:nvPr/>
        </p:nvPicPr>
        <p:blipFill>
          <a:blip r:embed="rId2"/>
          <a:stretch>
            <a:fillRect/>
          </a:stretch>
        </p:blipFill>
        <p:spPr>
          <a:xfrm>
            <a:off x="7754112" y="2825496"/>
            <a:ext cx="219456" cy="219456"/>
          </a:xfrm>
          <a:prstGeom prst="rect">
            <a:avLst/>
          </a:prstGeom>
        </p:spPr>
      </p:pic>
      <p:sp>
        <p:nvSpPr>
          <p:cNvPr id="14" name="Text 8"/>
          <p:cNvSpPr txBox="1"/>
          <p:nvPr/>
        </p:nvSpPr>
        <p:spPr>
          <a:xfrm>
            <a:off x="8229600" y="2706624"/>
            <a:ext cx="34290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Design  </a:t>
            </a:r>
            <a:pPr indent="0" marL="0">
              <a:buNone/>
            </a:pPr>
            <a:r>
              <a:rPr lang="en-US" sz="1400" dirty="0">
                <a:solidFill>
                  <a:srgbClr val="5B6478"/>
                </a:solidFill>
                <a:latin typeface="Calibri" pitchFamily="34" charset="0"/>
                <a:ea typeface="Calibri" pitchFamily="34" charset="-122"/>
                <a:cs typeface="Calibri" pitchFamily="34" charset="-120"/>
              </a:rPr>
              <a:t>pseudocode / flowchart</a:t>
            </a:r>
            <a:endParaRPr lang="en-US" sz="1400" dirty="0"/>
          </a:p>
        </p:txBody>
      </p:sp>
      <p:sp>
        <p:nvSpPr>
          <p:cNvPr id="15" name="Shape 9"/>
          <p:cNvSpPr/>
          <p:nvPr/>
        </p:nvSpPr>
        <p:spPr>
          <a:xfrm>
            <a:off x="7635240" y="3310128"/>
            <a:ext cx="457200" cy="457200"/>
          </a:xfrm>
          <a:prstGeom prst="ellipse">
            <a:avLst/>
          </a:prstGeom>
          <a:solidFill>
            <a:srgbClr val="14213D"/>
          </a:solidFill>
          <a:ln w="12700">
            <a:solidFill>
              <a:srgbClr val="14213D"/>
            </a:solidFill>
            <a:prstDash val="solid"/>
          </a:ln>
        </p:spPr>
      </p:sp>
      <p:pic>
        <p:nvPicPr>
          <p:cNvPr id="16" name="Image 2" descr="preencoded.png">    </p:cNvPr>
          <p:cNvPicPr>
            <a:picLocks noChangeAspect="1"/>
          </p:cNvPicPr>
          <p:nvPr/>
        </p:nvPicPr>
        <p:blipFill>
          <a:blip r:embed="rId3"/>
          <a:stretch>
            <a:fillRect/>
          </a:stretch>
        </p:blipFill>
        <p:spPr>
          <a:xfrm>
            <a:off x="7754112" y="3429000"/>
            <a:ext cx="219456" cy="219456"/>
          </a:xfrm>
          <a:prstGeom prst="rect">
            <a:avLst/>
          </a:prstGeom>
        </p:spPr>
      </p:pic>
      <p:sp>
        <p:nvSpPr>
          <p:cNvPr id="17" name="Text 10"/>
          <p:cNvSpPr txBox="1"/>
          <p:nvPr/>
        </p:nvSpPr>
        <p:spPr>
          <a:xfrm>
            <a:off x="8229600" y="3310128"/>
            <a:ext cx="34290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Implement  </a:t>
            </a:r>
            <a:pPr indent="0" marL="0">
              <a:buNone/>
            </a:pPr>
            <a:r>
              <a:rPr lang="en-US" sz="1400" dirty="0">
                <a:solidFill>
                  <a:srgbClr val="5B6478"/>
                </a:solidFill>
                <a:latin typeface="Calibri" pitchFamily="34" charset="0"/>
                <a:ea typeface="Calibri" pitchFamily="34" charset="-122"/>
                <a:cs typeface="Calibri" pitchFamily="34" charset="-120"/>
              </a:rPr>
              <a:t>C# code</a:t>
            </a:r>
            <a:endParaRPr lang="en-US" sz="1400" dirty="0"/>
          </a:p>
        </p:txBody>
      </p:sp>
      <p:sp>
        <p:nvSpPr>
          <p:cNvPr id="18" name="Shape 11"/>
          <p:cNvSpPr/>
          <p:nvPr/>
        </p:nvSpPr>
        <p:spPr>
          <a:xfrm>
            <a:off x="7635240" y="3913632"/>
            <a:ext cx="457200" cy="457200"/>
          </a:xfrm>
          <a:prstGeom prst="ellipse">
            <a:avLst/>
          </a:prstGeom>
          <a:solidFill>
            <a:srgbClr val="FCA311"/>
          </a:solidFill>
          <a:ln w="12700">
            <a:solidFill>
              <a:srgbClr val="FCA311"/>
            </a:solidFill>
            <a:prstDash val="solid"/>
          </a:ln>
        </p:spPr>
      </p:sp>
      <p:pic>
        <p:nvPicPr>
          <p:cNvPr id="19" name="Image 3" descr="preencoded.png">    </p:cNvPr>
          <p:cNvPicPr>
            <a:picLocks noChangeAspect="1"/>
          </p:cNvPicPr>
          <p:nvPr/>
        </p:nvPicPr>
        <p:blipFill>
          <a:blip r:embed="rId4"/>
          <a:stretch>
            <a:fillRect/>
          </a:stretch>
        </p:blipFill>
        <p:spPr>
          <a:xfrm>
            <a:off x="7754112" y="4032504"/>
            <a:ext cx="219456" cy="219456"/>
          </a:xfrm>
          <a:prstGeom prst="rect">
            <a:avLst/>
          </a:prstGeom>
        </p:spPr>
      </p:pic>
      <p:sp>
        <p:nvSpPr>
          <p:cNvPr id="20" name="Text 12"/>
          <p:cNvSpPr txBox="1"/>
          <p:nvPr/>
        </p:nvSpPr>
        <p:spPr>
          <a:xfrm>
            <a:off x="8229600" y="3913632"/>
            <a:ext cx="34290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Test  </a:t>
            </a:r>
            <a:pPr indent="0" marL="0">
              <a:buNone/>
            </a:pPr>
            <a:r>
              <a:rPr lang="en-US" sz="1400" dirty="0">
                <a:solidFill>
                  <a:srgbClr val="5B6478"/>
                </a:solidFill>
                <a:latin typeface="Calibri" pitchFamily="34" charset="0"/>
                <a:ea typeface="Calibri" pitchFamily="34" charset="-122"/>
                <a:cs typeface="Calibri" pitchFamily="34" charset="-120"/>
              </a:rPr>
              <a:t>normal · boundary · invalid</a:t>
            </a:r>
            <a:endParaRPr lang="en-US" sz="1400" dirty="0"/>
          </a:p>
        </p:txBody>
      </p:sp>
      <p:sp>
        <p:nvSpPr>
          <p:cNvPr id="21" name="Shape 13"/>
          <p:cNvSpPr/>
          <p:nvPr/>
        </p:nvSpPr>
        <p:spPr>
          <a:xfrm>
            <a:off x="7635240" y="4517136"/>
            <a:ext cx="457200" cy="457200"/>
          </a:xfrm>
          <a:prstGeom prst="ellipse">
            <a:avLst/>
          </a:prstGeom>
          <a:solidFill>
            <a:srgbClr val="14213D"/>
          </a:solidFill>
          <a:ln w="12700">
            <a:solidFill>
              <a:srgbClr val="14213D"/>
            </a:solidFill>
            <a:prstDash val="solid"/>
          </a:ln>
        </p:spPr>
      </p:sp>
      <p:pic>
        <p:nvPicPr>
          <p:cNvPr id="22" name="Image 4" descr="preencoded.png">    </p:cNvPr>
          <p:cNvPicPr>
            <a:picLocks noChangeAspect="1"/>
          </p:cNvPicPr>
          <p:nvPr/>
        </p:nvPicPr>
        <p:blipFill>
          <a:blip r:embed="rId5"/>
          <a:stretch>
            <a:fillRect/>
          </a:stretch>
        </p:blipFill>
        <p:spPr>
          <a:xfrm>
            <a:off x="7754112" y="4636008"/>
            <a:ext cx="219456" cy="219456"/>
          </a:xfrm>
          <a:prstGeom prst="rect">
            <a:avLst/>
          </a:prstGeom>
        </p:spPr>
      </p:pic>
      <p:sp>
        <p:nvSpPr>
          <p:cNvPr id="23" name="Text 14"/>
          <p:cNvSpPr txBox="1"/>
          <p:nvPr/>
        </p:nvSpPr>
        <p:spPr>
          <a:xfrm>
            <a:off x="8229600" y="4517136"/>
            <a:ext cx="34290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Document  </a:t>
            </a:r>
            <a:pPr indent="0" marL="0">
              <a:buNone/>
            </a:pPr>
            <a:r>
              <a:rPr lang="en-US" sz="1400" dirty="0">
                <a:solidFill>
                  <a:srgbClr val="5B6478"/>
                </a:solidFill>
                <a:latin typeface="Calibri" pitchFamily="34" charset="0"/>
                <a:ea typeface="Calibri" pitchFamily="34" charset="-122"/>
                <a:cs typeface="Calibri" pitchFamily="34" charset="-120"/>
              </a:rPr>
              <a:t>names, comments</a:t>
            </a:r>
            <a:endParaRPr lang="en-US" sz="1400" dirty="0"/>
          </a:p>
        </p:txBody>
      </p:sp>
      <p:sp>
        <p:nvSpPr>
          <p:cNvPr id="24" name="Shape 15"/>
          <p:cNvSpPr/>
          <p:nvPr/>
        </p:nvSpPr>
        <p:spPr>
          <a:xfrm>
            <a:off x="548640" y="5120640"/>
            <a:ext cx="11109960" cy="868680"/>
          </a:xfrm>
          <a:prstGeom prst="roundRect">
            <a:avLst>
              <a:gd name="adj" fmla="val 12632"/>
            </a:avLst>
          </a:prstGeom>
          <a:solidFill>
            <a:srgbClr val="FFF6E3"/>
          </a:solidFill>
          <a:ln w="12700">
            <a:solidFill>
              <a:srgbClr val="FFF6E3"/>
            </a:solidFill>
            <a:prstDash val="solid"/>
          </a:ln>
        </p:spPr>
      </p:sp>
      <p:pic>
        <p:nvPicPr>
          <p:cNvPr id="25" name="Image 5" descr="preencoded.png">    </p:cNvPr>
          <p:cNvPicPr>
            <a:picLocks noChangeAspect="1"/>
          </p:cNvPicPr>
          <p:nvPr/>
        </p:nvPicPr>
        <p:blipFill>
          <a:blip r:embed="rId6"/>
          <a:stretch>
            <a:fillRect/>
          </a:stretch>
        </p:blipFill>
        <p:spPr>
          <a:xfrm>
            <a:off x="822960" y="5280660"/>
            <a:ext cx="548640" cy="548640"/>
          </a:xfrm>
          <a:prstGeom prst="rect">
            <a:avLst/>
          </a:prstGeom>
        </p:spPr>
      </p:pic>
      <p:sp>
        <p:nvSpPr>
          <p:cNvPr id="26" name="Text 16"/>
          <p:cNvSpPr txBox="1"/>
          <p:nvPr/>
        </p:nvSpPr>
        <p:spPr>
          <a:xfrm>
            <a:off x="1645920" y="5193792"/>
            <a:ext cx="9738360" cy="7223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Trace table = </a:t>
            </a:r>
            <a:pPr indent="0" marL="0">
              <a:buNone/>
            </a:pPr>
            <a:r>
              <a:rPr lang="en-US" sz="1400" dirty="0">
                <a:solidFill>
                  <a:srgbClr val="333B4F"/>
                </a:solidFill>
                <a:latin typeface="Calibri" pitchFamily="34" charset="0"/>
                <a:ea typeface="Calibri" pitchFamily="34" charset="-122"/>
                <a:cs typeface="Calibri" pitchFamily="34" charset="-120"/>
              </a:rPr>
              <a:t>one column per variable (plus output), one row per change or per loop pass. Write the values the variables have AFTER each step.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2 · FLOWCHARTS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Flowchart Symbols and Drawing Rules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868680" y="1988820"/>
            <a:ext cx="1463040" cy="502920"/>
          </a:xfrm>
          <a:prstGeom prst="flowChartTerminator">
            <a:avLst/>
          </a:prstGeom>
          <a:solidFill>
            <a:srgbClr val="FFF1D6"/>
          </a:solidFill>
          <a:ln w="15875">
            <a:solidFill>
              <a:srgbClr val="14213D"/>
            </a:solidFill>
            <a:prstDash val="solid"/>
          </a:ln>
        </p:spPr>
      </p:sp>
      <p:sp>
        <p:nvSpPr>
          <p:cNvPr id="8" name="Text 5"/>
          <p:cNvSpPr txBox="1"/>
          <p:nvPr/>
        </p:nvSpPr>
        <p:spPr>
          <a:xfrm>
            <a:off x="914400" y="1988820"/>
            <a:ext cx="1371600" cy="5029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 / End</a:t>
            </a:r>
            <a:endParaRPr lang="en-US" sz="1300" dirty="0"/>
          </a:p>
        </p:txBody>
      </p:sp>
      <p:sp>
        <p:nvSpPr>
          <p:cNvPr id="9" name="Text 6"/>
          <p:cNvSpPr txBox="1"/>
          <p:nvPr/>
        </p:nvSpPr>
        <p:spPr>
          <a:xfrm>
            <a:off x="502920" y="2743200"/>
            <a:ext cx="219456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Terminal</a:t>
            </a:r>
            <a:endParaRPr lang="en-US" sz="1400" dirty="0"/>
          </a:p>
        </p:txBody>
      </p:sp>
      <p:sp>
        <p:nvSpPr>
          <p:cNvPr id="10" name="Shape 7"/>
          <p:cNvSpPr/>
          <p:nvPr/>
        </p:nvSpPr>
        <p:spPr>
          <a:xfrm>
            <a:off x="3063240" y="1965960"/>
            <a:ext cx="1737360" cy="548640"/>
          </a:xfrm>
          <a:prstGeom prst="flowChartInputOutput">
            <a:avLst/>
          </a:prstGeom>
          <a:solidFill>
            <a:srgbClr val="FFFFFF"/>
          </a:solidFill>
          <a:ln w="15875">
            <a:solidFill>
              <a:srgbClr val="14213D"/>
            </a:solidFill>
            <a:prstDash val="solid"/>
          </a:ln>
        </p:spPr>
      </p:sp>
      <p:sp>
        <p:nvSpPr>
          <p:cNvPr id="11" name="Text 8"/>
          <p:cNvSpPr txBox="1"/>
          <p:nvPr/>
        </p:nvSpPr>
        <p:spPr>
          <a:xfrm>
            <a:off x="3108960" y="1965960"/>
            <a:ext cx="164592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x</a:t>
            </a:r>
            <a:endParaRPr lang="en-US" sz="1300" dirty="0"/>
          </a:p>
        </p:txBody>
      </p:sp>
      <p:sp>
        <p:nvSpPr>
          <p:cNvPr id="12" name="Text 9"/>
          <p:cNvSpPr txBox="1"/>
          <p:nvPr/>
        </p:nvSpPr>
        <p:spPr>
          <a:xfrm>
            <a:off x="2834640" y="2743200"/>
            <a:ext cx="219456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Input / Output</a:t>
            </a:r>
            <a:endParaRPr lang="en-US" sz="1400" dirty="0"/>
          </a:p>
        </p:txBody>
      </p:sp>
      <p:sp>
        <p:nvSpPr>
          <p:cNvPr id="13" name="Shape 10"/>
          <p:cNvSpPr/>
          <p:nvPr/>
        </p:nvSpPr>
        <p:spPr>
          <a:xfrm>
            <a:off x="5394960" y="1965960"/>
            <a:ext cx="1737360" cy="548640"/>
          </a:xfrm>
          <a:prstGeom prst="flowChartProcess">
            <a:avLst/>
          </a:prstGeom>
          <a:solidFill>
            <a:srgbClr val="FFFFFF"/>
          </a:solidFill>
          <a:ln w="15875">
            <a:solidFill>
              <a:srgbClr val="14213D"/>
            </a:solidFill>
            <a:prstDash val="solid"/>
          </a:ln>
        </p:spPr>
      </p:sp>
      <p:sp>
        <p:nvSpPr>
          <p:cNvPr id="14" name="Text 11"/>
          <p:cNvSpPr txBox="1"/>
          <p:nvPr/>
        </p:nvSpPr>
        <p:spPr>
          <a:xfrm>
            <a:off x="5440680" y="1965960"/>
            <a:ext cx="164592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sum ← sum + x</a:t>
            </a:r>
            <a:endParaRPr lang="en-US" sz="1300" dirty="0"/>
          </a:p>
        </p:txBody>
      </p:sp>
      <p:sp>
        <p:nvSpPr>
          <p:cNvPr id="15" name="Text 12"/>
          <p:cNvSpPr txBox="1"/>
          <p:nvPr/>
        </p:nvSpPr>
        <p:spPr>
          <a:xfrm>
            <a:off x="5166360" y="2743200"/>
            <a:ext cx="219456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Process</a:t>
            </a:r>
            <a:endParaRPr lang="en-US" sz="1400" dirty="0"/>
          </a:p>
        </p:txBody>
      </p:sp>
      <p:sp>
        <p:nvSpPr>
          <p:cNvPr id="16" name="Shape 13"/>
          <p:cNvSpPr/>
          <p:nvPr/>
        </p:nvSpPr>
        <p:spPr>
          <a:xfrm>
            <a:off x="731520" y="3726180"/>
            <a:ext cx="1737360" cy="777240"/>
          </a:xfrm>
          <a:prstGeom prst="flowChartDecision">
            <a:avLst/>
          </a:prstGeom>
          <a:solidFill>
            <a:srgbClr val="E3ECF8"/>
          </a:solidFill>
          <a:ln w="15875">
            <a:solidFill>
              <a:srgbClr val="14213D"/>
            </a:solidFill>
            <a:prstDash val="solid"/>
          </a:ln>
        </p:spPr>
      </p:sp>
      <p:sp>
        <p:nvSpPr>
          <p:cNvPr id="17" name="Text 14"/>
          <p:cNvSpPr txBox="1"/>
          <p:nvPr/>
        </p:nvSpPr>
        <p:spPr>
          <a:xfrm>
            <a:off x="777240" y="3726180"/>
            <a:ext cx="1645920" cy="7772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&gt; 0 ?</a:t>
            </a:r>
            <a:endParaRPr lang="en-US" sz="1300" dirty="0"/>
          </a:p>
        </p:txBody>
      </p:sp>
      <p:sp>
        <p:nvSpPr>
          <p:cNvPr id="18" name="Text 15"/>
          <p:cNvSpPr txBox="1"/>
          <p:nvPr/>
        </p:nvSpPr>
        <p:spPr>
          <a:xfrm>
            <a:off x="502920" y="4617720"/>
            <a:ext cx="219456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Decision</a:t>
            </a:r>
            <a:endParaRPr lang="en-US" sz="1400" dirty="0"/>
          </a:p>
        </p:txBody>
      </p:sp>
      <p:sp>
        <p:nvSpPr>
          <p:cNvPr id="19" name="Shape 16"/>
          <p:cNvSpPr/>
          <p:nvPr/>
        </p:nvSpPr>
        <p:spPr>
          <a:xfrm>
            <a:off x="3063240" y="3840480"/>
            <a:ext cx="1737360" cy="548640"/>
          </a:xfrm>
          <a:prstGeom prst="flowChartPredefinedProcess">
            <a:avLst/>
          </a:prstGeom>
          <a:solidFill>
            <a:srgbClr val="FFFFFF"/>
          </a:solidFill>
          <a:ln w="15875">
            <a:solidFill>
              <a:srgbClr val="14213D"/>
            </a:solidFill>
            <a:prstDash val="solid"/>
          </a:ln>
        </p:spPr>
      </p:sp>
      <p:sp>
        <p:nvSpPr>
          <p:cNvPr id="20" name="Text 17"/>
          <p:cNvSpPr txBox="1"/>
          <p:nvPr/>
        </p:nvSpPr>
        <p:spPr>
          <a:xfrm>
            <a:off x="3108960" y="3840480"/>
            <a:ext cx="164592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GCD(a, b)</a:t>
            </a:r>
            <a:endParaRPr lang="en-US" sz="1300" dirty="0"/>
          </a:p>
        </p:txBody>
      </p:sp>
      <p:sp>
        <p:nvSpPr>
          <p:cNvPr id="21" name="Text 18"/>
          <p:cNvSpPr txBox="1"/>
          <p:nvPr/>
        </p:nvSpPr>
        <p:spPr>
          <a:xfrm>
            <a:off x="2834640" y="4617720"/>
            <a:ext cx="219456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Predefined process</a:t>
            </a:r>
            <a:endParaRPr lang="en-US" sz="1400" dirty="0"/>
          </a:p>
        </p:txBody>
      </p:sp>
      <p:sp>
        <p:nvSpPr>
          <p:cNvPr id="22" name="Shape 19"/>
          <p:cNvSpPr/>
          <p:nvPr/>
        </p:nvSpPr>
        <p:spPr>
          <a:xfrm>
            <a:off x="6012180" y="3863340"/>
            <a:ext cx="502920" cy="502920"/>
          </a:xfrm>
          <a:prstGeom prst="flowChartConnector">
            <a:avLst/>
          </a:prstGeom>
          <a:solidFill>
            <a:srgbClr val="FFF1D6"/>
          </a:solidFill>
          <a:ln w="15875">
            <a:solidFill>
              <a:srgbClr val="14213D"/>
            </a:solidFill>
            <a:prstDash val="solid"/>
          </a:ln>
        </p:spPr>
      </p:sp>
      <p:sp>
        <p:nvSpPr>
          <p:cNvPr id="23" name="Text 20"/>
          <p:cNvSpPr txBox="1"/>
          <p:nvPr/>
        </p:nvSpPr>
        <p:spPr>
          <a:xfrm>
            <a:off x="6057900" y="3863340"/>
            <a:ext cx="411480" cy="5029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a:t>
            </a:r>
            <a:endParaRPr lang="en-US" sz="1300" dirty="0"/>
          </a:p>
        </p:txBody>
      </p:sp>
      <p:sp>
        <p:nvSpPr>
          <p:cNvPr id="24" name="Text 21"/>
          <p:cNvSpPr txBox="1"/>
          <p:nvPr/>
        </p:nvSpPr>
        <p:spPr>
          <a:xfrm>
            <a:off x="5166360" y="4617720"/>
            <a:ext cx="219456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Connector</a:t>
            </a:r>
            <a:endParaRPr lang="en-US" sz="1400" dirty="0"/>
          </a:p>
        </p:txBody>
      </p:sp>
      <p:sp>
        <p:nvSpPr>
          <p:cNvPr id="25" name="Shape 22"/>
          <p:cNvSpPr/>
          <p:nvPr/>
        </p:nvSpPr>
        <p:spPr>
          <a:xfrm>
            <a:off x="914400" y="5669280"/>
            <a:ext cx="1280160" cy="0"/>
          </a:xfrm>
          <a:prstGeom prst="line">
            <a:avLst/>
          </a:prstGeom>
          <a:noFill/>
          <a:ln w="15875">
            <a:solidFill>
              <a:srgbClr val="14213D"/>
            </a:solidFill>
            <a:prstDash val="solid"/>
            <a:tailEnd type="triangle"/>
          </a:ln>
        </p:spPr>
      </p:sp>
      <p:sp>
        <p:nvSpPr>
          <p:cNvPr id="26" name="Text 23"/>
          <p:cNvSpPr txBox="1"/>
          <p:nvPr/>
        </p:nvSpPr>
        <p:spPr>
          <a:xfrm>
            <a:off x="2377440" y="5504688"/>
            <a:ext cx="4846320" cy="329184"/>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Flow line: always with an arrow head</a:t>
            </a:r>
            <a:endParaRPr lang="en-US" sz="1400" dirty="0"/>
          </a:p>
        </p:txBody>
      </p:sp>
      <p:sp>
        <p:nvSpPr>
          <p:cNvPr id="27" name="Shape 24"/>
          <p:cNvSpPr/>
          <p:nvPr/>
        </p:nvSpPr>
        <p:spPr>
          <a:xfrm>
            <a:off x="7726680" y="1645920"/>
            <a:ext cx="3931920" cy="4343400"/>
          </a:xfrm>
          <a:prstGeom prst="roundRect">
            <a:avLst>
              <a:gd name="adj" fmla="val 2791"/>
            </a:avLst>
          </a:prstGeom>
          <a:solidFill>
            <a:srgbClr val="EEF1F6"/>
          </a:solidFill>
          <a:ln w="12700">
            <a:solidFill>
              <a:srgbClr val="EEF1F6"/>
            </a:solidFill>
            <a:prstDash val="solid"/>
          </a:ln>
        </p:spPr>
      </p:sp>
      <p:sp>
        <p:nvSpPr>
          <p:cNvPr id="28" name="Text 25"/>
          <p:cNvSpPr txBox="1"/>
          <p:nvPr/>
        </p:nvSpPr>
        <p:spPr>
          <a:xfrm>
            <a:off x="7955280" y="1783080"/>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Rules checked in the exam</a:t>
            </a:r>
            <a:endParaRPr lang="en-US" sz="1700" dirty="0"/>
          </a:p>
        </p:txBody>
      </p:sp>
      <p:sp>
        <p:nvSpPr>
          <p:cNvPr id="29" name="Text 26"/>
          <p:cNvSpPr txBox="1"/>
          <p:nvPr/>
        </p:nvSpPr>
        <p:spPr>
          <a:xfrm>
            <a:off x="7955280" y="2286000"/>
            <a:ext cx="3566160" cy="35661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exactly one Start and one End</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flow top → bottom, arrows on every line</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every decision: two exits labelled yes / no</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every path reaches End</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a loop needs an update (else infinite)</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short, precise text in boxes (← assigns)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1–3 · NOTATION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Pseudocode ⇄ C#: the Translation Table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3108960"/>
                <a:gridCol w="4480560"/>
              </a:tblGrid>
              <a:tr h="42062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Pseudocode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READ 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x = int.Parse(Console.ReadLine());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PRINT "Sum:", 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Console.WriteLine($"Sum: {s}");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 x + 1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 x + 1;   x += 1;   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 b     a ≠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 b     a !=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mod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IF c THEN … ELSE … END IF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if (c) { … } else {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WHILE c … END WHILE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while (c) {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 ← 1 TO n … END FOR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 (int i = 1; i &lt;= n; i++) {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AND   OR   NOT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&amp;&amp;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8412480" y="1645920"/>
            <a:ext cx="3246120" cy="4206240"/>
          </a:xfrm>
          <a:prstGeom prst="roundRect">
            <a:avLst>
              <a:gd name="adj" fmla="val 3380"/>
            </a:avLst>
          </a:prstGeom>
          <a:solidFill>
            <a:srgbClr val="14213D"/>
          </a:solidFill>
          <a:ln w="12700">
            <a:solidFill>
              <a:srgbClr val="14213D"/>
            </a:solidFill>
            <a:prstDash val="solid"/>
          </a:ln>
        </p:spPr>
      </p:sp>
      <p:sp>
        <p:nvSpPr>
          <p:cNvPr id="9" name="Text 5"/>
          <p:cNvSpPr txBox="1"/>
          <p:nvPr/>
        </p:nvSpPr>
        <p:spPr>
          <a:xfrm>
            <a:off x="8641080" y="1874520"/>
            <a:ext cx="2834640" cy="1005840"/>
          </a:xfrm>
          <a:prstGeom prst="rect">
            <a:avLst/>
          </a:prstGeom>
          <a:noFill/>
          <a:ln/>
        </p:spPr>
        <p:txBody>
          <a:bodyPr wrap="square" lIns="0" tIns="0" rIns="0" bIns="0" rtlCol="0" anchor="t"/>
          <a:lstStyle/>
          <a:p>
            <a:pPr indent="0" marL="0">
              <a:buNone/>
            </a:pPr>
            <a:r>
              <a:rPr lang="en-US" sz="2000" b="1" dirty="0">
                <a:solidFill>
                  <a:srgbClr val="FCA311"/>
                </a:solidFill>
                <a:latin typeface="Courier New" pitchFamily="34" charset="0"/>
                <a:ea typeface="Courier New" pitchFamily="34" charset="-122"/>
                <a:cs typeface="Courier New" pitchFamily="34" charset="-120"/>
              </a:rPr>
              <a:t>← assigns</a:t>
            </a:r>
            <a:endParaRPr lang="en-US" sz="2000" dirty="0"/>
          </a:p>
          <a:p>
            <a:pPr indent="0" marL="0">
              <a:buNone/>
            </a:pPr>
            <a:r>
              <a:rPr lang="en-US" sz="2000" b="1" dirty="0">
                <a:solidFill>
                  <a:srgbClr val="FCA311"/>
                </a:solidFill>
                <a:latin typeface="Courier New" pitchFamily="34" charset="0"/>
                <a:ea typeface="Courier New" pitchFamily="34" charset="-122"/>
                <a:cs typeface="Courier New" pitchFamily="34" charset="-120"/>
              </a:rPr>
              <a:t>= compares</a:t>
            </a:r>
            <a:endParaRPr lang="en-US" sz="2000" dirty="0"/>
          </a:p>
        </p:txBody>
      </p:sp>
      <p:sp>
        <p:nvSpPr>
          <p:cNvPr id="10" name="Text 6"/>
          <p:cNvSpPr txBox="1"/>
          <p:nvPr/>
        </p:nvSpPr>
        <p:spPr>
          <a:xfrm>
            <a:off x="8641080" y="2971800"/>
            <a:ext cx="2834640" cy="1188720"/>
          </a:xfrm>
          <a:prstGeom prst="rect">
            <a:avLst/>
          </a:prstGeom>
          <a:noFill/>
          <a:ln/>
        </p:spPr>
        <p:txBody>
          <a:bodyPr wrap="square" lIns="0" tIns="0" rIns="0" bIns="0" rtlCol="0" anchor="t"/>
          <a:lstStyle/>
          <a:p>
            <a:pPr indent="0" marL="0">
              <a:buNone/>
            </a:pPr>
            <a:r>
              <a:rPr lang="en-US" sz="1500" dirty="0">
                <a:solidFill>
                  <a:srgbClr val="FFFFFF"/>
                </a:solidFill>
                <a:latin typeface="Courier New" pitchFamily="34" charset="0"/>
                <a:ea typeface="Courier New" pitchFamily="34" charset="-122"/>
                <a:cs typeface="Courier New" pitchFamily="34" charset="-120"/>
              </a:rPr>
              <a:t>In C# the symbols change: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assigns</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compares</a:t>
            </a:r>
            <a:endParaRPr lang="en-US" sz="1500" dirty="0"/>
          </a:p>
        </p:txBody>
      </p:sp>
      <p:sp>
        <p:nvSpPr>
          <p:cNvPr id="11" name="Text 7"/>
          <p:cNvSpPr txBox="1"/>
          <p:nvPr/>
        </p:nvSpPr>
        <p:spPr>
          <a:xfrm>
            <a:off x="8641080" y="4297680"/>
            <a:ext cx="2834640" cy="1371600"/>
          </a:xfrm>
          <a:prstGeom prst="rect">
            <a:avLst/>
          </a:prstGeom>
          <a:noFill/>
          <a:ln/>
        </p:spPr>
        <p:txBody>
          <a:bodyPr wrap="square" lIns="0" tIns="0" rIns="0" bIns="0" rtlCol="0" anchor="t"/>
          <a:lstStyle/>
          <a:p>
            <a:pPr indent="0" marL="0">
              <a:buNone/>
            </a:pPr>
            <a:r>
              <a:rPr lang="en-US" sz="1400" dirty="0">
                <a:solidFill>
                  <a:srgbClr val="C7CEDC"/>
                </a:solidFill>
                <a:latin typeface="Calibri" pitchFamily="34" charset="0"/>
                <a:ea typeface="Calibri" pitchFamily="34" charset="-122"/>
                <a:cs typeface="Calibri" pitchFamily="34" charset="-120"/>
              </a:rPr>
              <a:t>if (x = 5) does not compile for an int x: CS0029, cannot convert int to bool.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3 · DATA TYPES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Data Types You Must Know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1188720"/>
                <a:gridCol w="822960"/>
                <a:gridCol w="2011680"/>
                <a:gridCol w="3566160"/>
              </a:tblGrid>
              <a:tr h="4297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 literal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Use it for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whole numbers, about ±2.1 billion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long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6227020800L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large whole numbers (factorials)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double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measurements, scientific values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float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2.5f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rarely: less precise than double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decimal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16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19.99m</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money (exact decimal digits)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char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character (single quotes)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"Hello"</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text (double quotes)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bool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yes/no results of conditions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8412480" y="1645920"/>
            <a:ext cx="3246120" cy="2148840"/>
          </a:xfrm>
          <a:prstGeom prst="roundRect">
            <a:avLst>
              <a:gd name="adj" fmla="val 4255"/>
            </a:avLst>
          </a:prstGeom>
          <a:solidFill>
            <a:srgbClr val="0F1729"/>
          </a:solidFill>
          <a:ln w="12700">
            <a:solidFill>
              <a:srgbClr val="0F1729"/>
            </a:solidFill>
            <a:prstDash val="solid"/>
          </a:ln>
        </p:spPr>
      </p:sp>
      <p:sp>
        <p:nvSpPr>
          <p:cNvPr id="9" name="Text 5"/>
          <p:cNvSpPr txBox="1"/>
          <p:nvPr/>
        </p:nvSpPr>
        <p:spPr>
          <a:xfrm>
            <a:off x="8641080" y="1755648"/>
            <a:ext cx="2788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Declarations</a:t>
            </a:r>
            <a:endParaRPr lang="en-US" sz="1100" dirty="0"/>
          </a:p>
        </p:txBody>
      </p:sp>
      <p:sp>
        <p:nvSpPr>
          <p:cNvPr id="10" name="Text 6"/>
          <p:cNvSpPr txBox="1"/>
          <p:nvPr/>
        </p:nvSpPr>
        <p:spPr>
          <a:xfrm>
            <a:off x="8641080" y="2057400"/>
            <a:ext cx="2788920" cy="1627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VatRate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19.99m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7"/>
          <p:cNvSpPr/>
          <p:nvPr/>
        </p:nvSpPr>
        <p:spPr>
          <a:xfrm>
            <a:off x="8412480" y="3977640"/>
            <a:ext cx="3246120" cy="1874520"/>
          </a:xfrm>
          <a:prstGeom prst="roundRect">
            <a:avLst>
              <a:gd name="adj" fmla="val 5854"/>
            </a:avLst>
          </a:prstGeom>
          <a:solidFill>
            <a:srgbClr val="FBE9E7"/>
          </a:solidFill>
          <a:ln w="12700">
            <a:solidFill>
              <a:srgbClr val="FBE9E7"/>
            </a:solidFill>
            <a:prstDash val="solid"/>
          </a:ln>
        </p:spPr>
      </p:sp>
      <p:pic>
        <p:nvPicPr>
          <p:cNvPr id="12" name="Image 0" descr="preencoded.png">    </p:cNvPr>
          <p:cNvPicPr>
            <a:picLocks noChangeAspect="1"/>
          </p:cNvPicPr>
          <p:nvPr/>
        </p:nvPicPr>
        <p:blipFill>
          <a:blip r:embed="rId1"/>
          <a:stretch>
            <a:fillRect/>
          </a:stretch>
        </p:blipFill>
        <p:spPr>
          <a:xfrm>
            <a:off x="8686800" y="4640580"/>
            <a:ext cx="548640" cy="548640"/>
          </a:xfrm>
          <a:prstGeom prst="rect">
            <a:avLst/>
          </a:prstGeom>
        </p:spPr>
      </p:pic>
      <p:sp>
        <p:nvSpPr>
          <p:cNvPr id="13" name="Text 8"/>
          <p:cNvSpPr txBox="1"/>
          <p:nvPr/>
        </p:nvSpPr>
        <p:spPr>
          <a:xfrm>
            <a:off x="9509760" y="4050792"/>
            <a:ext cx="1874520" cy="1728216"/>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decimal price = 19.99; does not compile: 19.99 is a double literal. Add 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3–5 · INPUT &amp; CONVERSION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Reading Input, Converting, Formatting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45920"/>
            <a:ext cx="640080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943600" cy="22219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ok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(!ok)</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$"Not a number (n = {n})"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avg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3.5</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$"{avg:F2} {(int)7.9}"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572000"/>
            <a:ext cx="6400800" cy="1417320"/>
          </a:xfrm>
          <a:prstGeom prst="roundRect">
            <a:avLst>
              <a:gd name="adj" fmla="val 6452"/>
            </a:avLst>
          </a:prstGeom>
          <a:solidFill>
            <a:srgbClr val="0B0F19"/>
          </a:solidFill>
          <a:ln w="12700">
            <a:solidFill>
              <a:srgbClr val="2A3654"/>
            </a:solidFill>
            <a:prstDash val="solid"/>
          </a:ln>
        </p:spPr>
      </p:sp>
      <p:sp>
        <p:nvSpPr>
          <p:cNvPr id="11" name="Shape 8"/>
          <p:cNvSpPr/>
          <p:nvPr/>
        </p:nvSpPr>
        <p:spPr>
          <a:xfrm>
            <a:off x="731520" y="47000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7000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7000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645152"/>
            <a:ext cx="5303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956048"/>
            <a:ext cx="5943600" cy="9144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12a</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Not a number (n =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3.50 7</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223760" y="1645920"/>
          <a:ext cx="4434840" cy="914400"/>
        </p:xfrm>
        <a:graphic>
          <a:graphicData uri="http://schemas.openxmlformats.org/drawingml/2006/table">
            <a:tbl>
              <a:tblPr/>
              <a:tblGrid>
                <a:gridCol w="2971800"/>
                <a:gridCol w="1463040"/>
              </a:tblGrid>
              <a:tr h="42976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Expression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7 /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7 / 2.0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(double)7 /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(double)(7 /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(int)7.9</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7</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int.Parse("7.5")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crash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int.TryParse("x", out v)</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false, v =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7223760" y="5166360"/>
            <a:ext cx="4434840" cy="82296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(double)(7 / 2) is 3 because the integer division happens first; printed as 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4 · OPERATORS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Operator Precedence: Evaluate Like the Compiler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937760" cy="914400"/>
        </p:xfrm>
        <a:graphic>
          <a:graphicData uri="http://schemas.openxmlformats.org/drawingml/2006/table">
            <a:tbl>
              <a:tblPr/>
              <a:tblGrid>
                <a:gridCol w="1737360"/>
                <a:gridCol w="3200400"/>
              </a:tblGrid>
              <a:tr h="3931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Level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Operators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(highest)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x--  (postfix)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-x  ++x  --x  (type)x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&lt;  &gt;  &lt;=  &gt;=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&amp;&amp;</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10 (lowest)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  -=  *=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5760720" y="1645920"/>
            <a:ext cx="5897880" cy="2971800"/>
          </a:xfrm>
          <a:prstGeom prst="roundRect">
            <a:avLst>
              <a:gd name="adj" fmla="val 2462"/>
            </a:avLst>
          </a:prstGeom>
          <a:solidFill>
            <a:srgbClr val="F4F6FA"/>
          </a:solidFill>
          <a:ln w="9525">
            <a:solidFill>
              <a:srgbClr val="C9D0DD"/>
            </a:solidFill>
            <a:prstDash val="solid"/>
          </a:ln>
        </p:spPr>
      </p:sp>
      <p:sp>
        <p:nvSpPr>
          <p:cNvPr id="9" name="Text 5"/>
          <p:cNvSpPr txBox="1"/>
          <p:nvPr/>
        </p:nvSpPr>
        <p:spPr>
          <a:xfrm>
            <a:off x="5943600" y="1737360"/>
            <a:ext cx="553212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Step by step (one operator per line)</a:t>
            </a:r>
            <a:endParaRPr lang="en-US" sz="1200" dirty="0"/>
          </a:p>
        </p:txBody>
      </p:sp>
      <p:sp>
        <p:nvSpPr>
          <p:cNvPr id="10" name="Text 6"/>
          <p:cNvSpPr txBox="1"/>
          <p:nvPr/>
        </p:nvSpPr>
        <p:spPr>
          <a:xfrm>
            <a:off x="5943600" y="2057400"/>
            <a:ext cx="5532120" cy="2468880"/>
          </a:xfrm>
          <a:prstGeom prst="rect">
            <a:avLst/>
          </a:prstGeom>
          <a:noFill/>
          <a:ln/>
        </p:spPr>
        <p:txBody>
          <a:bodyPr wrap="square" lIns="0" tIns="0" rIns="0" bIns="0" rtlCol="0" anchor="t"/>
          <a:lstStyle/>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2 + 3 * 4 % 5 &gt; 3 &amp;&amp;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2 + 12 % 5 &gt; 3 &amp;&amp;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2 + 2 &gt; 3 &amp;&amp;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4 &gt; 3 &amp;&amp;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true &amp;&amp;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true &amp;&amp; true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true</a:t>
            </a:r>
            <a:endParaRPr lang="en-US" sz="15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760720" y="4800600"/>
          <a:ext cx="5897880" cy="914400"/>
        </p:xfrm>
        <a:graphic>
          <a:graphicData uri="http://schemas.openxmlformats.org/drawingml/2006/table">
            <a:tbl>
              <a:tblPr/>
              <a:tblGrid>
                <a:gridCol w="3977640"/>
                <a:gridCol w="192024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Expression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-17 % 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10 - 4 / 2 * 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 != 0 &amp;&amp; a / b &gt; 2   (b =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false, no crash</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5 · SELECTION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if / else-if / switch: Three Ways to Choose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45920"/>
            <a:ext cx="3657600" cy="4434840"/>
          </a:xfrm>
          <a:prstGeom prst="roundRect">
            <a:avLst>
              <a:gd name="adj" fmla="val 2500"/>
            </a:avLst>
          </a:prstGeom>
          <a:solidFill>
            <a:srgbClr val="0F1729"/>
          </a:solidFill>
          <a:ln w="12700">
            <a:solidFill>
              <a:srgbClr val="0F1729"/>
            </a:solidFill>
            <a:prstDash val="solid"/>
          </a:ln>
        </p:spPr>
      </p:sp>
      <p:sp>
        <p:nvSpPr>
          <p:cNvPr id="8" name="Text 5"/>
          <p:cNvSpPr txBox="1"/>
          <p:nvPr/>
        </p:nvSpPr>
        <p:spPr>
          <a:xfrm>
            <a:off x="777240" y="1755648"/>
            <a:ext cx="32004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else-if ladder</a:t>
            </a:r>
            <a:endParaRPr lang="en-US" sz="1100" dirty="0"/>
          </a:p>
        </p:txBody>
      </p:sp>
      <p:sp>
        <p:nvSpPr>
          <p:cNvPr id="9" name="Text 6"/>
          <p:cNvSpPr txBox="1"/>
          <p:nvPr/>
        </p:nvSpPr>
        <p:spPr>
          <a:xfrm>
            <a:off x="777240" y="2057400"/>
            <a:ext cx="320040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4389120" y="1645920"/>
            <a:ext cx="3657600" cy="4434840"/>
          </a:xfrm>
          <a:prstGeom prst="roundRect">
            <a:avLst>
              <a:gd name="adj" fmla="val 2500"/>
            </a:avLst>
          </a:prstGeom>
          <a:solidFill>
            <a:srgbClr val="0F1729"/>
          </a:solidFill>
          <a:ln w="12700">
            <a:solidFill>
              <a:srgbClr val="0F1729"/>
            </a:solidFill>
            <a:prstDash val="solid"/>
          </a:ln>
        </p:spPr>
      </p:sp>
      <p:sp>
        <p:nvSpPr>
          <p:cNvPr id="11" name="Text 8"/>
          <p:cNvSpPr txBox="1"/>
          <p:nvPr/>
        </p:nvSpPr>
        <p:spPr>
          <a:xfrm>
            <a:off x="4617720" y="1755648"/>
            <a:ext cx="32004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switch statement</a:t>
            </a:r>
            <a:endParaRPr lang="en-US" sz="1100" dirty="0"/>
          </a:p>
        </p:txBody>
      </p:sp>
      <p:sp>
        <p:nvSpPr>
          <p:cNvPr id="12" name="Text 9"/>
          <p:cNvSpPr txBox="1"/>
          <p:nvPr/>
        </p:nvSpPr>
        <p:spPr>
          <a:xfrm>
            <a:off x="4617720" y="2057400"/>
            <a:ext cx="320040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switch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kind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"Weekend"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default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kind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"Weekday"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8229600" y="1645920"/>
            <a:ext cx="3429000" cy="2697480"/>
          </a:xfrm>
          <a:prstGeom prst="roundRect">
            <a:avLst>
              <a:gd name="adj" fmla="val 3390"/>
            </a:avLst>
          </a:prstGeom>
          <a:solidFill>
            <a:srgbClr val="0F1729"/>
          </a:solidFill>
          <a:ln w="12700">
            <a:solidFill>
              <a:srgbClr val="0F1729"/>
            </a:solidFill>
            <a:prstDash val="solid"/>
          </a:ln>
        </p:spPr>
      </p:sp>
      <p:sp>
        <p:nvSpPr>
          <p:cNvPr id="14" name="Text 11"/>
          <p:cNvSpPr txBox="1"/>
          <p:nvPr/>
        </p:nvSpPr>
        <p:spPr>
          <a:xfrm>
            <a:off x="8458200" y="1755648"/>
            <a:ext cx="2971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switch expression</a:t>
            </a:r>
            <a:endParaRPr lang="en-US" sz="1100" dirty="0"/>
          </a:p>
        </p:txBody>
      </p:sp>
      <p:sp>
        <p:nvSpPr>
          <p:cNvPr id="15" name="Text 12"/>
          <p:cNvSpPr txBox="1"/>
          <p:nvPr/>
        </p:nvSpPr>
        <p:spPr>
          <a:xfrm>
            <a:off x="8458200" y="2057400"/>
            <a:ext cx="2971800" cy="217627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letter = score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switch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_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"FF"</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8229600" y="4526280"/>
            <a:ext cx="3429000" cy="1554480"/>
          </a:xfrm>
          <a:prstGeom prst="roundRect">
            <a:avLst>
              <a:gd name="adj" fmla="val 5882"/>
            </a:avLst>
          </a:prstGeom>
          <a:solidFill>
            <a:srgbClr val="0F1729"/>
          </a:solidFill>
          <a:ln w="12700">
            <a:solidFill>
              <a:srgbClr val="0F1729"/>
            </a:solidFill>
            <a:prstDash val="solid"/>
          </a:ln>
        </p:spPr>
      </p:sp>
      <p:sp>
        <p:nvSpPr>
          <p:cNvPr id="17" name="Text 14"/>
          <p:cNvSpPr txBox="1"/>
          <p:nvPr/>
        </p:nvSpPr>
        <p:spPr>
          <a:xfrm>
            <a:off x="8458200" y="4636008"/>
            <a:ext cx="2971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conditional ?:</a:t>
            </a:r>
            <a:endParaRPr lang="en-US" sz="1100" dirty="0"/>
          </a:p>
        </p:txBody>
      </p:sp>
      <p:sp>
        <p:nvSpPr>
          <p:cNvPr id="18" name="Text 15"/>
          <p:cNvSpPr txBox="1"/>
          <p:nvPr/>
        </p:nvSpPr>
        <p:spPr>
          <a:xfrm>
            <a:off x="8458200" y="4937760"/>
            <a:ext cx="297180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parity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"even"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"odd"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6–7 · REPETITION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for, while, do-while: Which Loop When?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Text 4"/>
          <p:cNvSpPr txBox="1"/>
          <p:nvPr/>
        </p:nvSpPr>
        <p:spPr>
          <a:xfrm>
            <a:off x="548640" y="1600200"/>
            <a:ext cx="3566160" cy="411480"/>
          </a:xfrm>
          <a:prstGeom prst="rect">
            <a:avLst/>
          </a:prstGeom>
          <a:noFill/>
          <a:ln/>
        </p:spPr>
        <p:txBody>
          <a:bodyPr wrap="square" lIns="0" tIns="0" rIns="0" bIns="0" rtlCol="0" anchor="ctr"/>
          <a:lstStyle/>
          <a:p>
            <a:pPr indent="0" marL="0">
              <a:buNone/>
            </a:pPr>
            <a:r>
              <a:rPr lang="en-US" sz="2000" b="1" dirty="0">
                <a:solidFill>
                  <a:srgbClr val="2E9E6A"/>
                </a:solidFill>
                <a:latin typeface="Courier New" pitchFamily="34" charset="0"/>
                <a:ea typeface="Courier New" pitchFamily="34" charset="-122"/>
                <a:cs typeface="Courier New" pitchFamily="34" charset="-120"/>
              </a:rPr>
              <a:t>for</a:t>
            </a:r>
            <a:endParaRPr lang="en-US" sz="2000" dirty="0"/>
          </a:p>
        </p:txBody>
      </p:sp>
      <p:sp>
        <p:nvSpPr>
          <p:cNvPr id="8" name="Shape 5"/>
          <p:cNvSpPr/>
          <p:nvPr/>
        </p:nvSpPr>
        <p:spPr>
          <a:xfrm>
            <a:off x="548640" y="2057400"/>
            <a:ext cx="3611880" cy="2240280"/>
          </a:xfrm>
          <a:prstGeom prst="roundRect">
            <a:avLst>
              <a:gd name="adj" fmla="val 4082"/>
            </a:avLst>
          </a:prstGeom>
          <a:solidFill>
            <a:srgbClr val="0F1729"/>
          </a:solidFill>
          <a:ln w="12700">
            <a:solidFill>
              <a:srgbClr val="0F1729"/>
            </a:solidFill>
            <a:prstDash val="solid"/>
          </a:ln>
        </p:spPr>
      </p:sp>
      <p:sp>
        <p:nvSpPr>
          <p:cNvPr id="9" name="Text 6"/>
          <p:cNvSpPr txBox="1"/>
          <p:nvPr/>
        </p:nvSpPr>
        <p:spPr>
          <a:xfrm>
            <a:off x="777240" y="2221992"/>
            <a:ext cx="3154680" cy="1965960"/>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.Write(i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480560"/>
            <a:ext cx="3611880" cy="1600200"/>
          </a:xfrm>
          <a:prstGeom prst="roundRect">
            <a:avLst>
              <a:gd name="adj" fmla="val 6857"/>
            </a:avLst>
          </a:prstGeom>
          <a:solidFill>
            <a:srgbClr val="EEF1F6"/>
          </a:solidFill>
          <a:ln w="12700">
            <a:solidFill>
              <a:srgbClr val="EEF1F6"/>
            </a:solidFill>
            <a:prstDash val="solid"/>
          </a:ln>
        </p:spPr>
      </p:sp>
      <p:sp>
        <p:nvSpPr>
          <p:cNvPr id="11" name="Text 8"/>
          <p:cNvSpPr txBox="1"/>
          <p:nvPr/>
        </p:nvSpPr>
        <p:spPr>
          <a:xfrm>
            <a:off x="731520" y="4572000"/>
            <a:ext cx="3246120" cy="141732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Use when: </a:t>
            </a:r>
            <a:pPr indent="0" marL="0">
              <a:spcAft>
                <a:spcPts val="400"/>
              </a:spcAft>
              <a:buNone/>
            </a:pPr>
            <a:r>
              <a:rPr lang="en-US" sz="1400" dirty="0">
                <a:solidFill>
                  <a:srgbClr val="333B4F"/>
                </a:solidFill>
                <a:latin typeface="Calibri" pitchFamily="34" charset="0"/>
                <a:ea typeface="Calibri" pitchFamily="34" charset="-122"/>
                <a:cs typeface="Calibri" pitchFamily="34" charset="-120"/>
              </a:rPr>
              <a:t>Number of passes known in advance (counter).</a:t>
            </a:r>
            <a:endParaRPr lang="en-US" sz="1400" dirty="0"/>
          </a:p>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Body runs: </a:t>
            </a:r>
            <a:pPr indent="0" marL="0">
              <a:spcAft>
                <a:spcPts val="400"/>
              </a:spcAft>
              <a:buNone/>
            </a:pPr>
            <a:r>
              <a:rPr lang="en-US" sz="1400" dirty="0">
                <a:solidFill>
                  <a:srgbClr val="333B4F"/>
                </a:solidFill>
                <a:latin typeface="Calibri" pitchFamily="34" charset="0"/>
                <a:ea typeface="Calibri" pitchFamily="34" charset="-122"/>
                <a:cs typeface="Calibri" pitchFamily="34" charset="-120"/>
              </a:rPr>
              <a:t>0 or more</a:t>
            </a:r>
            <a:endParaRPr lang="en-US" sz="1400" dirty="0"/>
          </a:p>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Output: </a:t>
            </a:r>
            <a:pPr indent="0" marL="0">
              <a:spcAft>
                <a:spcPts val="400"/>
              </a:spcAft>
              <a:buNone/>
            </a:pPr>
            <a:r>
              <a:rPr lang="en-US" sz="1400" dirty="0">
                <a:solidFill>
                  <a:srgbClr val="333B4F"/>
                </a:solidFill>
                <a:latin typeface="Courier New" pitchFamily="34" charset="0"/>
                <a:ea typeface="Courier New" pitchFamily="34" charset="-122"/>
                <a:cs typeface="Courier New" pitchFamily="34" charset="-120"/>
              </a:rPr>
              <a:t>1 2 3</a:t>
            </a:r>
            <a:endParaRPr lang="en-US" sz="1400" dirty="0"/>
          </a:p>
        </p:txBody>
      </p:sp>
      <p:sp>
        <p:nvSpPr>
          <p:cNvPr id="12" name="Text 9"/>
          <p:cNvSpPr txBox="1"/>
          <p:nvPr/>
        </p:nvSpPr>
        <p:spPr>
          <a:xfrm>
            <a:off x="4297680" y="1600200"/>
            <a:ext cx="3566160" cy="411480"/>
          </a:xfrm>
          <a:prstGeom prst="rect">
            <a:avLst/>
          </a:prstGeom>
          <a:noFill/>
          <a:ln/>
        </p:spPr>
        <p:txBody>
          <a:bodyPr wrap="square" lIns="0" tIns="0" rIns="0" bIns="0" rtlCol="0" anchor="ctr"/>
          <a:lstStyle/>
          <a:p>
            <a:pPr indent="0" marL="0">
              <a:buNone/>
            </a:pPr>
            <a:r>
              <a:rPr lang="en-US" sz="2000" b="1" dirty="0">
                <a:solidFill>
                  <a:srgbClr val="2F6FB3"/>
                </a:solidFill>
                <a:latin typeface="Courier New" pitchFamily="34" charset="0"/>
                <a:ea typeface="Courier New" pitchFamily="34" charset="-122"/>
                <a:cs typeface="Courier New" pitchFamily="34" charset="-120"/>
              </a:rPr>
              <a:t>while</a:t>
            </a:r>
            <a:endParaRPr lang="en-US" sz="2000" dirty="0"/>
          </a:p>
        </p:txBody>
      </p:sp>
      <p:sp>
        <p:nvSpPr>
          <p:cNvPr id="13" name="Shape 10"/>
          <p:cNvSpPr/>
          <p:nvPr/>
        </p:nvSpPr>
        <p:spPr>
          <a:xfrm>
            <a:off x="4297680" y="2057400"/>
            <a:ext cx="3611880" cy="2240280"/>
          </a:xfrm>
          <a:prstGeom prst="roundRect">
            <a:avLst>
              <a:gd name="adj" fmla="val 4082"/>
            </a:avLst>
          </a:prstGeom>
          <a:solidFill>
            <a:srgbClr val="0F1729"/>
          </a:solidFill>
          <a:ln w="12700">
            <a:solidFill>
              <a:srgbClr val="0F1729"/>
            </a:solidFill>
            <a:prstDash val="solid"/>
          </a:ln>
        </p:spPr>
      </p:sp>
      <p:sp>
        <p:nvSpPr>
          <p:cNvPr id="14" name="Text 11"/>
          <p:cNvSpPr txBox="1"/>
          <p:nvPr/>
        </p:nvSpPr>
        <p:spPr>
          <a:xfrm>
            <a:off x="4526280" y="2221992"/>
            <a:ext cx="3154680" cy="196596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.Write(i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5" name="Shape 12"/>
          <p:cNvSpPr/>
          <p:nvPr/>
        </p:nvSpPr>
        <p:spPr>
          <a:xfrm>
            <a:off x="4297680" y="4480560"/>
            <a:ext cx="3611880" cy="1600200"/>
          </a:xfrm>
          <a:prstGeom prst="roundRect">
            <a:avLst>
              <a:gd name="adj" fmla="val 6857"/>
            </a:avLst>
          </a:prstGeom>
          <a:solidFill>
            <a:srgbClr val="EEF1F6"/>
          </a:solidFill>
          <a:ln w="12700">
            <a:solidFill>
              <a:srgbClr val="EEF1F6"/>
            </a:solidFill>
            <a:prstDash val="solid"/>
          </a:ln>
        </p:spPr>
      </p:sp>
      <p:sp>
        <p:nvSpPr>
          <p:cNvPr id="16" name="Text 13"/>
          <p:cNvSpPr txBox="1"/>
          <p:nvPr/>
        </p:nvSpPr>
        <p:spPr>
          <a:xfrm>
            <a:off x="4480560" y="4572000"/>
            <a:ext cx="3246120" cy="141732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Use when: </a:t>
            </a:r>
            <a:pPr indent="0" marL="0">
              <a:spcAft>
                <a:spcPts val="400"/>
              </a:spcAft>
              <a:buNone/>
            </a:pPr>
            <a:r>
              <a:rPr lang="en-US" sz="1400" dirty="0">
                <a:solidFill>
                  <a:srgbClr val="333B4F"/>
                </a:solidFill>
                <a:latin typeface="Calibri" pitchFamily="34" charset="0"/>
                <a:ea typeface="Calibri" pitchFamily="34" charset="-122"/>
                <a:cs typeface="Calibri" pitchFamily="34" charset="-120"/>
              </a:rPr>
              <a:t>Repeat while a condition holds; sentinel input.</a:t>
            </a:r>
            <a:endParaRPr lang="en-US" sz="1400" dirty="0"/>
          </a:p>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Body runs: </a:t>
            </a:r>
            <a:pPr indent="0" marL="0">
              <a:spcAft>
                <a:spcPts val="400"/>
              </a:spcAft>
              <a:buNone/>
            </a:pPr>
            <a:r>
              <a:rPr lang="en-US" sz="1400" dirty="0">
                <a:solidFill>
                  <a:srgbClr val="333B4F"/>
                </a:solidFill>
                <a:latin typeface="Calibri" pitchFamily="34" charset="0"/>
                <a:ea typeface="Calibri" pitchFamily="34" charset="-122"/>
                <a:cs typeface="Calibri" pitchFamily="34" charset="-120"/>
              </a:rPr>
              <a:t>0 or more (pre-test)</a:t>
            </a:r>
            <a:endParaRPr lang="en-US" sz="1400" dirty="0"/>
          </a:p>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Output: </a:t>
            </a:r>
            <a:pPr indent="0" marL="0">
              <a:spcAft>
                <a:spcPts val="400"/>
              </a:spcAft>
              <a:buNone/>
            </a:pPr>
            <a:r>
              <a:rPr lang="en-US" sz="1400" dirty="0">
                <a:solidFill>
                  <a:srgbClr val="333B4F"/>
                </a:solidFill>
                <a:latin typeface="Courier New" pitchFamily="34" charset="0"/>
                <a:ea typeface="Courier New" pitchFamily="34" charset="-122"/>
                <a:cs typeface="Courier New" pitchFamily="34" charset="-120"/>
              </a:rPr>
              <a:t>1 2 3</a:t>
            </a:r>
            <a:endParaRPr lang="en-US" sz="1400" dirty="0"/>
          </a:p>
        </p:txBody>
      </p:sp>
      <p:sp>
        <p:nvSpPr>
          <p:cNvPr id="17" name="Text 14"/>
          <p:cNvSpPr txBox="1"/>
          <p:nvPr/>
        </p:nvSpPr>
        <p:spPr>
          <a:xfrm>
            <a:off x="8046720" y="1600200"/>
            <a:ext cx="3566160" cy="411480"/>
          </a:xfrm>
          <a:prstGeom prst="rect">
            <a:avLst/>
          </a:prstGeom>
          <a:noFill/>
          <a:ln/>
        </p:spPr>
        <p:txBody>
          <a:bodyPr wrap="square" lIns="0" tIns="0" rIns="0" bIns="0" rtlCol="0" anchor="ctr"/>
          <a:lstStyle/>
          <a:p>
            <a:pPr indent="0" marL="0">
              <a:buNone/>
            </a:pPr>
            <a:r>
              <a:rPr lang="en-US" sz="2000" b="1" dirty="0">
                <a:solidFill>
                  <a:srgbClr val="B7791F"/>
                </a:solidFill>
                <a:latin typeface="Courier New" pitchFamily="34" charset="0"/>
                <a:ea typeface="Courier New" pitchFamily="34" charset="-122"/>
                <a:cs typeface="Courier New" pitchFamily="34" charset="-120"/>
              </a:rPr>
              <a:t>do-while</a:t>
            </a:r>
            <a:endParaRPr lang="en-US" sz="2000" dirty="0"/>
          </a:p>
        </p:txBody>
      </p:sp>
      <p:sp>
        <p:nvSpPr>
          <p:cNvPr id="18" name="Shape 15"/>
          <p:cNvSpPr/>
          <p:nvPr/>
        </p:nvSpPr>
        <p:spPr>
          <a:xfrm>
            <a:off x="8046720" y="2057400"/>
            <a:ext cx="3611880" cy="2240280"/>
          </a:xfrm>
          <a:prstGeom prst="roundRect">
            <a:avLst>
              <a:gd name="adj" fmla="val 4082"/>
            </a:avLst>
          </a:prstGeom>
          <a:solidFill>
            <a:srgbClr val="0F1729"/>
          </a:solidFill>
          <a:ln w="12700">
            <a:solidFill>
              <a:srgbClr val="0F1729"/>
            </a:solidFill>
            <a:prstDash val="solid"/>
          </a:ln>
        </p:spPr>
      </p:sp>
      <p:sp>
        <p:nvSpPr>
          <p:cNvPr id="19" name="Text 16"/>
          <p:cNvSpPr txBox="1"/>
          <p:nvPr/>
        </p:nvSpPr>
        <p:spPr>
          <a:xfrm>
            <a:off x="8275320" y="2221992"/>
            <a:ext cx="3154680" cy="196596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do</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.Write(i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0" name="Shape 17"/>
          <p:cNvSpPr/>
          <p:nvPr/>
        </p:nvSpPr>
        <p:spPr>
          <a:xfrm>
            <a:off x="8046720" y="4480560"/>
            <a:ext cx="3611880" cy="1600200"/>
          </a:xfrm>
          <a:prstGeom prst="roundRect">
            <a:avLst>
              <a:gd name="adj" fmla="val 6857"/>
            </a:avLst>
          </a:prstGeom>
          <a:solidFill>
            <a:srgbClr val="EEF1F6"/>
          </a:solidFill>
          <a:ln w="12700">
            <a:solidFill>
              <a:srgbClr val="EEF1F6"/>
            </a:solidFill>
            <a:prstDash val="solid"/>
          </a:ln>
        </p:spPr>
      </p:sp>
      <p:sp>
        <p:nvSpPr>
          <p:cNvPr id="21" name="Text 18"/>
          <p:cNvSpPr txBox="1"/>
          <p:nvPr/>
        </p:nvSpPr>
        <p:spPr>
          <a:xfrm>
            <a:off x="8229600" y="4572000"/>
            <a:ext cx="3246120" cy="141732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Use when: </a:t>
            </a:r>
            <a:pPr indent="0" marL="0">
              <a:spcAft>
                <a:spcPts val="400"/>
              </a:spcAft>
              <a:buNone/>
            </a:pPr>
            <a:r>
              <a:rPr lang="en-US" sz="1400" dirty="0">
                <a:solidFill>
                  <a:srgbClr val="333B4F"/>
                </a:solidFill>
                <a:latin typeface="Calibri" pitchFamily="34" charset="0"/>
                <a:ea typeface="Calibri" pitchFamily="34" charset="-122"/>
                <a:cs typeface="Calibri" pitchFamily="34" charset="-120"/>
              </a:rPr>
              <a:t>Body must run first: menus, input validation.</a:t>
            </a:r>
            <a:endParaRPr lang="en-US" sz="1400" dirty="0"/>
          </a:p>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Body runs: </a:t>
            </a:r>
            <a:pPr indent="0" marL="0">
              <a:spcAft>
                <a:spcPts val="400"/>
              </a:spcAft>
              <a:buNone/>
            </a:pPr>
            <a:r>
              <a:rPr lang="en-US" sz="1400" dirty="0">
                <a:solidFill>
                  <a:srgbClr val="333B4F"/>
                </a:solidFill>
                <a:latin typeface="Calibri" pitchFamily="34" charset="0"/>
                <a:ea typeface="Calibri" pitchFamily="34" charset="-122"/>
                <a:cs typeface="Calibri" pitchFamily="34" charset="-120"/>
              </a:rPr>
              <a:t>at least 1 (post-test)</a:t>
            </a:r>
            <a:endParaRPr lang="en-US" sz="1400" dirty="0"/>
          </a:p>
          <a:p>
            <a:pPr indent="0" marL="0">
              <a:spcAft>
                <a:spcPts val="400"/>
              </a:spcAft>
              <a:buNone/>
            </a:pPr>
            <a:r>
              <a:rPr lang="en-US" sz="1400" b="1" dirty="0">
                <a:solidFill>
                  <a:srgbClr val="14213D"/>
                </a:solidFill>
                <a:latin typeface="Calibri" pitchFamily="34" charset="0"/>
                <a:ea typeface="Calibri" pitchFamily="34" charset="-122"/>
                <a:cs typeface="Calibri" pitchFamily="34" charset="-120"/>
              </a:rPr>
              <a:t>Output: </a:t>
            </a:r>
            <a:pPr indent="0" marL="0">
              <a:spcAft>
                <a:spcPts val="400"/>
              </a:spcAft>
              <a:buNone/>
            </a:pPr>
            <a:r>
              <a:rPr lang="en-US" sz="1400" dirty="0">
                <a:solidFill>
                  <a:srgbClr val="333B4F"/>
                </a:solidFill>
                <a:latin typeface="Courier New" pitchFamily="34" charset="0"/>
                <a:ea typeface="Courier New" pitchFamily="34" charset="-122"/>
                <a:cs typeface="Courier New" pitchFamily="34" charset="-120"/>
              </a:rPr>
              <a:t>1 2 3</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6–7 · PATTERNS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Five Loop Patterns That Solve Most Exam Problems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45920"/>
            <a:ext cx="2103120" cy="310896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31520" y="1810512"/>
            <a:ext cx="411480" cy="411480"/>
          </a:xfrm>
          <a:prstGeom prst="ellipse">
            <a:avLst/>
          </a:prstGeom>
          <a:solidFill>
            <a:srgbClr val="2E9E6A"/>
          </a:solidFill>
          <a:ln w="12700">
            <a:solidFill>
              <a:srgbClr val="2E9E6A"/>
            </a:solidFill>
            <a:prstDash val="solid"/>
          </a:ln>
        </p:spPr>
      </p:sp>
      <p:sp>
        <p:nvSpPr>
          <p:cNvPr id="9" name="Text 6"/>
          <p:cNvSpPr txBox="1"/>
          <p:nvPr/>
        </p:nvSpPr>
        <p:spPr>
          <a:xfrm>
            <a:off x="73152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234440" y="1810512"/>
            <a:ext cx="13716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Accumulator</a:t>
            </a:r>
            <a:endParaRPr lang="en-US" sz="1500" dirty="0"/>
          </a:p>
        </p:txBody>
      </p:sp>
      <p:sp>
        <p:nvSpPr>
          <p:cNvPr id="11" name="Shape 8"/>
          <p:cNvSpPr/>
          <p:nvPr/>
        </p:nvSpPr>
        <p:spPr>
          <a:xfrm>
            <a:off x="658368" y="2377440"/>
            <a:ext cx="1883664" cy="2240280"/>
          </a:xfrm>
          <a:prstGeom prst="roundRect">
            <a:avLst>
              <a:gd name="adj" fmla="val 3883"/>
            </a:avLst>
          </a:prstGeom>
          <a:solidFill>
            <a:srgbClr val="F4F6FA"/>
          </a:solidFill>
          <a:ln w="9525">
            <a:solidFill>
              <a:srgbClr val="C9D0DD"/>
            </a:solidFill>
            <a:prstDash val="solid"/>
          </a:ln>
        </p:spPr>
      </p:sp>
      <p:sp>
        <p:nvSpPr>
          <p:cNvPr id="12" name="Text 9"/>
          <p:cNvSpPr txBox="1"/>
          <p:nvPr/>
        </p:nvSpPr>
        <p:spPr>
          <a:xfrm>
            <a:off x="841248" y="2514600"/>
            <a:ext cx="1517904" cy="2011680"/>
          </a:xfrm>
          <a:prstGeom prst="rect">
            <a:avLst/>
          </a:prstGeom>
          <a:noFill/>
          <a:ln/>
        </p:spPr>
        <p:txBody>
          <a:bodyPr wrap="square" lIns="0" tIns="0" rIns="0" bIns="0" rtlCol="0" anchor="t"/>
          <a:lstStyle/>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sum ← 0</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i ← 1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sum ← sum + x</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FOR</a:t>
            </a:r>
            <a:endParaRPr lang="en-US" sz="1200" dirty="0"/>
          </a:p>
        </p:txBody>
      </p:sp>
      <p:sp>
        <p:nvSpPr>
          <p:cNvPr id="13" name="Shape 10"/>
          <p:cNvSpPr/>
          <p:nvPr/>
        </p:nvSpPr>
        <p:spPr>
          <a:xfrm>
            <a:off x="2788920" y="1645920"/>
            <a:ext cx="2103120" cy="3108960"/>
          </a:xfrm>
          <a:prstGeom prst="roundRect">
            <a:avLst>
              <a:gd name="adj" fmla="val 5217"/>
            </a:avLst>
          </a:prstGeom>
          <a:solidFill>
            <a:srgbClr val="EEF1F6"/>
          </a:solidFill>
          <a:ln w="12700">
            <a:solidFill>
              <a:srgbClr val="EEF1F6"/>
            </a:solidFill>
            <a:prstDash val="solid"/>
          </a:ln>
        </p:spPr>
      </p:sp>
      <p:sp>
        <p:nvSpPr>
          <p:cNvPr id="14" name="Shape 11"/>
          <p:cNvSpPr/>
          <p:nvPr/>
        </p:nvSpPr>
        <p:spPr>
          <a:xfrm>
            <a:off x="2971800" y="1810512"/>
            <a:ext cx="411480" cy="411480"/>
          </a:xfrm>
          <a:prstGeom prst="ellipse">
            <a:avLst/>
          </a:prstGeom>
          <a:solidFill>
            <a:srgbClr val="2E9E6A"/>
          </a:solidFill>
          <a:ln w="12700">
            <a:solidFill>
              <a:srgbClr val="2E9E6A"/>
            </a:solidFill>
            <a:prstDash val="solid"/>
          </a:ln>
        </p:spPr>
      </p:sp>
      <p:sp>
        <p:nvSpPr>
          <p:cNvPr id="15" name="Text 12"/>
          <p:cNvSpPr txBox="1"/>
          <p:nvPr/>
        </p:nvSpPr>
        <p:spPr>
          <a:xfrm>
            <a:off x="297180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3474720" y="1810512"/>
            <a:ext cx="13716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Best so far</a:t>
            </a:r>
            <a:endParaRPr lang="en-US" sz="1500" dirty="0"/>
          </a:p>
        </p:txBody>
      </p:sp>
      <p:sp>
        <p:nvSpPr>
          <p:cNvPr id="17" name="Shape 14"/>
          <p:cNvSpPr/>
          <p:nvPr/>
        </p:nvSpPr>
        <p:spPr>
          <a:xfrm>
            <a:off x="2898648" y="2377440"/>
            <a:ext cx="1883664" cy="2240280"/>
          </a:xfrm>
          <a:prstGeom prst="roundRect">
            <a:avLst>
              <a:gd name="adj" fmla="val 3883"/>
            </a:avLst>
          </a:prstGeom>
          <a:solidFill>
            <a:srgbClr val="F4F6FA"/>
          </a:solidFill>
          <a:ln w="9525">
            <a:solidFill>
              <a:srgbClr val="C9D0DD"/>
            </a:solidFill>
            <a:prstDash val="solid"/>
          </a:ln>
        </p:spPr>
      </p:sp>
      <p:sp>
        <p:nvSpPr>
          <p:cNvPr id="18" name="Text 15"/>
          <p:cNvSpPr txBox="1"/>
          <p:nvPr/>
        </p:nvSpPr>
        <p:spPr>
          <a:xfrm>
            <a:off x="3081528" y="2514600"/>
            <a:ext cx="1517904" cy="201168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max ← x</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i ← 2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 &gt; max</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THEN</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max ← x</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IF</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FOR</a:t>
            </a:r>
            <a:endParaRPr lang="en-US" sz="1200" dirty="0"/>
          </a:p>
        </p:txBody>
      </p:sp>
      <p:sp>
        <p:nvSpPr>
          <p:cNvPr id="19" name="Shape 16"/>
          <p:cNvSpPr/>
          <p:nvPr/>
        </p:nvSpPr>
        <p:spPr>
          <a:xfrm>
            <a:off x="5029200" y="1645920"/>
            <a:ext cx="2103120" cy="3108960"/>
          </a:xfrm>
          <a:prstGeom prst="roundRect">
            <a:avLst>
              <a:gd name="adj" fmla="val 5217"/>
            </a:avLst>
          </a:prstGeom>
          <a:solidFill>
            <a:srgbClr val="EEF1F6"/>
          </a:solidFill>
          <a:ln w="12700">
            <a:solidFill>
              <a:srgbClr val="EEF1F6"/>
            </a:solidFill>
            <a:prstDash val="solid"/>
          </a:ln>
        </p:spPr>
      </p:sp>
      <p:sp>
        <p:nvSpPr>
          <p:cNvPr id="20" name="Shape 17"/>
          <p:cNvSpPr/>
          <p:nvPr/>
        </p:nvSpPr>
        <p:spPr>
          <a:xfrm>
            <a:off x="5212080" y="1810512"/>
            <a:ext cx="411480" cy="411480"/>
          </a:xfrm>
          <a:prstGeom prst="ellipse">
            <a:avLst/>
          </a:prstGeom>
          <a:solidFill>
            <a:srgbClr val="2E9E6A"/>
          </a:solidFill>
          <a:ln w="12700">
            <a:solidFill>
              <a:srgbClr val="2E9E6A"/>
            </a:solidFill>
            <a:prstDash val="solid"/>
          </a:ln>
        </p:spPr>
      </p:sp>
      <p:sp>
        <p:nvSpPr>
          <p:cNvPr id="21" name="Text 18"/>
          <p:cNvSpPr txBox="1"/>
          <p:nvPr/>
        </p:nvSpPr>
        <p:spPr>
          <a:xfrm>
            <a:off x="521208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5715000" y="1810512"/>
            <a:ext cx="13716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Sentinel</a:t>
            </a:r>
            <a:endParaRPr lang="en-US" sz="1500" dirty="0"/>
          </a:p>
        </p:txBody>
      </p:sp>
      <p:sp>
        <p:nvSpPr>
          <p:cNvPr id="23" name="Shape 20"/>
          <p:cNvSpPr/>
          <p:nvPr/>
        </p:nvSpPr>
        <p:spPr>
          <a:xfrm>
            <a:off x="5138928" y="2377440"/>
            <a:ext cx="1883664" cy="2240280"/>
          </a:xfrm>
          <a:prstGeom prst="roundRect">
            <a:avLst>
              <a:gd name="adj" fmla="val 3883"/>
            </a:avLst>
          </a:prstGeom>
          <a:solidFill>
            <a:srgbClr val="F4F6FA"/>
          </a:solidFill>
          <a:ln w="9525">
            <a:solidFill>
              <a:srgbClr val="C9D0DD"/>
            </a:solidFill>
            <a:prstDash val="solid"/>
          </a:ln>
        </p:spPr>
      </p:sp>
      <p:sp>
        <p:nvSpPr>
          <p:cNvPr id="24" name="Text 21"/>
          <p:cNvSpPr txBox="1"/>
          <p:nvPr/>
        </p:nvSpPr>
        <p:spPr>
          <a:xfrm>
            <a:off x="5321808" y="2514600"/>
            <a:ext cx="1517904" cy="201168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 ≠ -1</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use x</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WHILE</a:t>
            </a:r>
            <a:endParaRPr lang="en-US" sz="1200" dirty="0"/>
          </a:p>
        </p:txBody>
      </p:sp>
      <p:sp>
        <p:nvSpPr>
          <p:cNvPr id="25" name="Shape 22"/>
          <p:cNvSpPr/>
          <p:nvPr/>
        </p:nvSpPr>
        <p:spPr>
          <a:xfrm>
            <a:off x="7269480" y="1645920"/>
            <a:ext cx="2103120" cy="3108960"/>
          </a:xfrm>
          <a:prstGeom prst="roundRect">
            <a:avLst>
              <a:gd name="adj" fmla="val 5217"/>
            </a:avLst>
          </a:prstGeom>
          <a:solidFill>
            <a:srgbClr val="EEF1F6"/>
          </a:solidFill>
          <a:ln w="12700">
            <a:solidFill>
              <a:srgbClr val="EEF1F6"/>
            </a:solidFill>
            <a:prstDash val="solid"/>
          </a:ln>
        </p:spPr>
      </p:sp>
      <p:sp>
        <p:nvSpPr>
          <p:cNvPr id="26" name="Shape 23"/>
          <p:cNvSpPr/>
          <p:nvPr/>
        </p:nvSpPr>
        <p:spPr>
          <a:xfrm>
            <a:off x="7452360" y="1810512"/>
            <a:ext cx="411480" cy="411480"/>
          </a:xfrm>
          <a:prstGeom prst="ellipse">
            <a:avLst/>
          </a:prstGeom>
          <a:solidFill>
            <a:srgbClr val="2E9E6A"/>
          </a:solidFill>
          <a:ln w="12700">
            <a:solidFill>
              <a:srgbClr val="2E9E6A"/>
            </a:solidFill>
            <a:prstDash val="solid"/>
          </a:ln>
        </p:spPr>
      </p:sp>
      <p:sp>
        <p:nvSpPr>
          <p:cNvPr id="27" name="Text 24"/>
          <p:cNvSpPr txBox="1"/>
          <p:nvPr/>
        </p:nvSpPr>
        <p:spPr>
          <a:xfrm>
            <a:off x="745236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5"/>
          <p:cNvSpPr txBox="1"/>
          <p:nvPr/>
        </p:nvSpPr>
        <p:spPr>
          <a:xfrm>
            <a:off x="7955280" y="1810512"/>
            <a:ext cx="13716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Validation</a:t>
            </a:r>
            <a:endParaRPr lang="en-US" sz="1500" dirty="0"/>
          </a:p>
        </p:txBody>
      </p:sp>
      <p:sp>
        <p:nvSpPr>
          <p:cNvPr id="29" name="Shape 26"/>
          <p:cNvSpPr/>
          <p:nvPr/>
        </p:nvSpPr>
        <p:spPr>
          <a:xfrm>
            <a:off x="7379208" y="2377440"/>
            <a:ext cx="1883664" cy="2240280"/>
          </a:xfrm>
          <a:prstGeom prst="roundRect">
            <a:avLst>
              <a:gd name="adj" fmla="val 3883"/>
            </a:avLst>
          </a:prstGeom>
          <a:solidFill>
            <a:srgbClr val="F4F6FA"/>
          </a:solidFill>
          <a:ln w="9525">
            <a:solidFill>
              <a:srgbClr val="C9D0DD"/>
            </a:solidFill>
            <a:prstDash val="solid"/>
          </a:ln>
        </p:spPr>
      </p:sp>
      <p:sp>
        <p:nvSpPr>
          <p:cNvPr id="30" name="Text 27"/>
          <p:cNvSpPr txBox="1"/>
          <p:nvPr/>
        </p:nvSpPr>
        <p:spPr>
          <a:xfrm>
            <a:off x="7562088" y="2514600"/>
            <a:ext cx="1517904" cy="201168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REPEAT</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UNTIL</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 ≥ 0</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C#: do { … }</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while (n &lt; 0);</a:t>
            </a:r>
            <a:endParaRPr lang="en-US" sz="1200" dirty="0"/>
          </a:p>
        </p:txBody>
      </p:sp>
      <p:sp>
        <p:nvSpPr>
          <p:cNvPr id="31" name="Shape 28"/>
          <p:cNvSpPr/>
          <p:nvPr/>
        </p:nvSpPr>
        <p:spPr>
          <a:xfrm>
            <a:off x="9509760" y="1645920"/>
            <a:ext cx="2103120" cy="3108960"/>
          </a:xfrm>
          <a:prstGeom prst="roundRect">
            <a:avLst>
              <a:gd name="adj" fmla="val 5217"/>
            </a:avLst>
          </a:prstGeom>
          <a:solidFill>
            <a:srgbClr val="EEF1F6"/>
          </a:solidFill>
          <a:ln w="12700">
            <a:solidFill>
              <a:srgbClr val="EEF1F6"/>
            </a:solidFill>
            <a:prstDash val="solid"/>
          </a:ln>
        </p:spPr>
      </p:sp>
      <p:sp>
        <p:nvSpPr>
          <p:cNvPr id="32" name="Shape 29"/>
          <p:cNvSpPr/>
          <p:nvPr/>
        </p:nvSpPr>
        <p:spPr>
          <a:xfrm>
            <a:off x="9692640" y="1810512"/>
            <a:ext cx="411480" cy="411480"/>
          </a:xfrm>
          <a:prstGeom prst="ellipse">
            <a:avLst/>
          </a:prstGeom>
          <a:solidFill>
            <a:srgbClr val="2E9E6A"/>
          </a:solidFill>
          <a:ln w="12700">
            <a:solidFill>
              <a:srgbClr val="2E9E6A"/>
            </a:solidFill>
            <a:prstDash val="solid"/>
          </a:ln>
        </p:spPr>
      </p:sp>
      <p:sp>
        <p:nvSpPr>
          <p:cNvPr id="33" name="Text 30"/>
          <p:cNvSpPr txBox="1"/>
          <p:nvPr/>
        </p:nvSpPr>
        <p:spPr>
          <a:xfrm>
            <a:off x="969264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1"/>
          <p:cNvSpPr txBox="1"/>
          <p:nvPr/>
        </p:nvSpPr>
        <p:spPr>
          <a:xfrm>
            <a:off x="10195560" y="1810512"/>
            <a:ext cx="13716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Digit loop</a:t>
            </a:r>
            <a:endParaRPr lang="en-US" sz="1500" dirty="0"/>
          </a:p>
        </p:txBody>
      </p:sp>
      <p:sp>
        <p:nvSpPr>
          <p:cNvPr id="35" name="Shape 32"/>
          <p:cNvSpPr/>
          <p:nvPr/>
        </p:nvSpPr>
        <p:spPr>
          <a:xfrm>
            <a:off x="9619488" y="2377440"/>
            <a:ext cx="1883664" cy="2240280"/>
          </a:xfrm>
          <a:prstGeom prst="roundRect">
            <a:avLst>
              <a:gd name="adj" fmla="val 3883"/>
            </a:avLst>
          </a:prstGeom>
          <a:solidFill>
            <a:srgbClr val="F4F6FA"/>
          </a:solidFill>
          <a:ln w="9525">
            <a:solidFill>
              <a:srgbClr val="C9D0DD"/>
            </a:solidFill>
            <a:prstDash val="solid"/>
          </a:ln>
        </p:spPr>
      </p:sp>
      <p:sp>
        <p:nvSpPr>
          <p:cNvPr id="36" name="Text 33"/>
          <p:cNvSpPr txBox="1"/>
          <p:nvPr/>
        </p:nvSpPr>
        <p:spPr>
          <a:xfrm>
            <a:off x="9802368" y="2514600"/>
            <a:ext cx="1517904" cy="201168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 &gt; 0</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d ← n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10</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 ← ⌊n / 10⌋</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WHILE</a:t>
            </a:r>
            <a:endParaRPr lang="en-US" sz="1200" dirty="0"/>
          </a:p>
        </p:txBody>
      </p:sp>
      <p:sp>
        <p:nvSpPr>
          <p:cNvPr id="37" name="Text 34"/>
          <p:cNvSpPr txBox="1"/>
          <p:nvPr/>
        </p:nvSpPr>
        <p:spPr>
          <a:xfrm>
            <a:off x="548640" y="4846320"/>
            <a:ext cx="11109960" cy="3200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Pseudocode skeletons. REPEAT … UNTIL is the do-while shape: C# repeats WHILE the input is bad (condition negated).</a:t>
            </a:r>
            <a:endParaRPr lang="en-US" sz="1300" dirty="0"/>
          </a:p>
        </p:txBody>
      </p:sp>
      <p:sp>
        <p:nvSpPr>
          <p:cNvPr id="38" name="Shape 35"/>
          <p:cNvSpPr/>
          <p:nvPr/>
        </p:nvSpPr>
        <p:spPr>
          <a:xfrm>
            <a:off x="548640" y="5257800"/>
            <a:ext cx="11109960" cy="777240"/>
          </a:xfrm>
          <a:prstGeom prst="roundRect">
            <a:avLst>
              <a:gd name="adj" fmla="val 14118"/>
            </a:avLst>
          </a:prstGeom>
          <a:solidFill>
            <a:srgbClr val="FFF6E3"/>
          </a:solidFill>
          <a:ln w="12700">
            <a:solidFill>
              <a:srgbClr val="FFF6E3"/>
            </a:solidFill>
            <a:prstDash val="solid"/>
          </a:ln>
        </p:spPr>
      </p:sp>
      <p:pic>
        <p:nvPicPr>
          <p:cNvPr id="39" name="Image 0" descr="preencoded.png">    </p:cNvPr>
          <p:cNvPicPr>
            <a:picLocks noChangeAspect="1"/>
          </p:cNvPicPr>
          <p:nvPr/>
        </p:nvPicPr>
        <p:blipFill>
          <a:blip r:embed="rId1"/>
          <a:stretch>
            <a:fillRect/>
          </a:stretch>
        </p:blipFill>
        <p:spPr>
          <a:xfrm>
            <a:off x="822960" y="5394960"/>
            <a:ext cx="502920" cy="502920"/>
          </a:xfrm>
          <a:prstGeom prst="rect">
            <a:avLst/>
          </a:prstGeom>
        </p:spPr>
      </p:pic>
      <p:sp>
        <p:nvSpPr>
          <p:cNvPr id="40" name="Text 36"/>
          <p:cNvSpPr txBox="1"/>
          <p:nvPr/>
        </p:nvSpPr>
        <p:spPr>
          <a:xfrm>
            <a:off x="1600200" y="5330952"/>
            <a:ext cx="9784080" cy="6309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Exam habit: </a:t>
            </a:r>
            <a:pPr indent="0" marL="0">
              <a:buNone/>
            </a:pPr>
            <a:r>
              <a:rPr lang="en-US" sz="1400" dirty="0">
                <a:solidFill>
                  <a:srgbClr val="333B4F"/>
                </a:solidFill>
                <a:latin typeface="Calibri" pitchFamily="34" charset="0"/>
                <a:ea typeface="Calibri" pitchFamily="34" charset="-122"/>
                <a:cs typeface="Calibri" pitchFamily="34" charset="-120"/>
              </a:rPr>
              <a:t>before writing code, name the pattern ("sentinel + accumulator + best so far"). The skeleton then writes itself.</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Practice I: Read &amp; Predict</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Multiple choice · predict the output · trace tables. Paper first, then the answer slide.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8</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Q1–Q4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Quick-Fire Multiple Choice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MULTIPLE CHOICE · 2 min</a:t>
            </a:r>
            <a:endParaRPr lang="en-US" sz="1200" dirty="0"/>
          </a:p>
        </p:txBody>
      </p:sp>
      <p:sp>
        <p:nvSpPr>
          <p:cNvPr id="9" name="Shape 6"/>
          <p:cNvSpPr/>
          <p:nvPr/>
        </p:nvSpPr>
        <p:spPr>
          <a:xfrm>
            <a:off x="548640" y="1645920"/>
            <a:ext cx="5486400" cy="2103120"/>
          </a:xfrm>
          <a:prstGeom prst="roundRect">
            <a:avLst>
              <a:gd name="adj" fmla="val 5217"/>
            </a:avLst>
          </a:prstGeom>
          <a:solidFill>
            <a:srgbClr val="EEF1F6"/>
          </a:solidFill>
          <a:ln w="12700">
            <a:solidFill>
              <a:srgbClr val="EEF1F6"/>
            </a:solidFill>
            <a:prstDash val="solid"/>
          </a:ln>
        </p:spPr>
      </p:sp>
      <p:sp>
        <p:nvSpPr>
          <p:cNvPr id="10" name="Shape 7"/>
          <p:cNvSpPr/>
          <p:nvPr/>
        </p:nvSpPr>
        <p:spPr>
          <a:xfrm>
            <a:off x="749808" y="1828800"/>
            <a:ext cx="502920" cy="502920"/>
          </a:xfrm>
          <a:prstGeom prst="ellipse">
            <a:avLst/>
          </a:prstGeom>
          <a:solidFill>
            <a:srgbClr val="14213D"/>
          </a:solidFill>
          <a:ln w="12700">
            <a:solidFill>
              <a:srgbClr val="14213D"/>
            </a:solidFill>
            <a:prstDash val="solid"/>
          </a:ln>
        </p:spPr>
      </p:sp>
      <p:sp>
        <p:nvSpPr>
          <p:cNvPr id="11" name="Text 8"/>
          <p:cNvSpPr txBox="1"/>
          <p:nvPr/>
        </p:nvSpPr>
        <p:spPr>
          <a:xfrm>
            <a:off x="74980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Q1</a:t>
            </a:r>
            <a:endParaRPr lang="en-US" sz="1400" dirty="0"/>
          </a:p>
        </p:txBody>
      </p:sp>
      <p:sp>
        <p:nvSpPr>
          <p:cNvPr id="12" name="Text 9"/>
          <p:cNvSpPr txBox="1"/>
          <p:nvPr/>
        </p:nvSpPr>
        <p:spPr>
          <a:xfrm>
            <a:off x="1417320" y="179222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"Keep adding 1 to x." Which property fails?</a:t>
            </a:r>
            <a:endParaRPr lang="en-US" sz="1500" dirty="0"/>
          </a:p>
        </p:txBody>
      </p:sp>
      <p:sp>
        <p:nvSpPr>
          <p:cNvPr id="13" name="Shape 10"/>
          <p:cNvSpPr/>
          <p:nvPr/>
        </p:nvSpPr>
        <p:spPr>
          <a:xfrm>
            <a:off x="822960" y="2542032"/>
            <a:ext cx="2400300" cy="365760"/>
          </a:xfrm>
          <a:prstGeom prst="roundRect">
            <a:avLst>
              <a:gd name="adj" fmla="val 20000"/>
            </a:avLst>
          </a:prstGeom>
          <a:solidFill>
            <a:srgbClr val="FFFFFF"/>
          </a:solidFill>
          <a:ln w="9525">
            <a:solidFill>
              <a:srgbClr val="D5DAE3"/>
            </a:solidFill>
            <a:prstDash val="solid"/>
          </a:ln>
        </p:spPr>
      </p:sp>
      <p:sp>
        <p:nvSpPr>
          <p:cNvPr id="14" name="Text 11"/>
          <p:cNvSpPr txBox="1"/>
          <p:nvPr/>
        </p:nvSpPr>
        <p:spPr>
          <a:xfrm>
            <a:off x="93268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Definiteness</a:t>
            </a:r>
            <a:endParaRPr lang="en-US" sz="1400" dirty="0"/>
          </a:p>
        </p:txBody>
      </p:sp>
      <p:sp>
        <p:nvSpPr>
          <p:cNvPr id="15" name="Shape 12"/>
          <p:cNvSpPr/>
          <p:nvPr/>
        </p:nvSpPr>
        <p:spPr>
          <a:xfrm>
            <a:off x="3360420" y="2542032"/>
            <a:ext cx="2400300" cy="365760"/>
          </a:xfrm>
          <a:prstGeom prst="roundRect">
            <a:avLst>
              <a:gd name="adj" fmla="val 20000"/>
            </a:avLst>
          </a:prstGeom>
          <a:solidFill>
            <a:srgbClr val="FFFFFF"/>
          </a:solidFill>
          <a:ln w="9525">
            <a:solidFill>
              <a:srgbClr val="D5DAE3"/>
            </a:solidFill>
            <a:prstDash val="solid"/>
          </a:ln>
        </p:spPr>
      </p:sp>
      <p:sp>
        <p:nvSpPr>
          <p:cNvPr id="16" name="Text 13"/>
          <p:cNvSpPr txBox="1"/>
          <p:nvPr/>
        </p:nvSpPr>
        <p:spPr>
          <a:xfrm>
            <a:off x="34701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Finiteness</a:t>
            </a:r>
            <a:endParaRPr lang="en-US" sz="1400" dirty="0"/>
          </a:p>
        </p:txBody>
      </p:sp>
      <p:sp>
        <p:nvSpPr>
          <p:cNvPr id="17" name="Shape 14"/>
          <p:cNvSpPr/>
          <p:nvPr/>
        </p:nvSpPr>
        <p:spPr>
          <a:xfrm>
            <a:off x="822960" y="2999232"/>
            <a:ext cx="2400300" cy="365760"/>
          </a:xfrm>
          <a:prstGeom prst="roundRect">
            <a:avLst>
              <a:gd name="adj" fmla="val 20000"/>
            </a:avLst>
          </a:prstGeom>
          <a:solidFill>
            <a:srgbClr val="FFFFFF"/>
          </a:solidFill>
          <a:ln w="9525">
            <a:solidFill>
              <a:srgbClr val="D5DAE3"/>
            </a:solidFill>
            <a:prstDash val="solid"/>
          </a:ln>
        </p:spPr>
      </p:sp>
      <p:sp>
        <p:nvSpPr>
          <p:cNvPr id="18" name="Text 15"/>
          <p:cNvSpPr txBox="1"/>
          <p:nvPr/>
        </p:nvSpPr>
        <p:spPr>
          <a:xfrm>
            <a:off x="93268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Input</a:t>
            </a:r>
            <a:endParaRPr lang="en-US" sz="1400" dirty="0"/>
          </a:p>
        </p:txBody>
      </p:sp>
      <p:sp>
        <p:nvSpPr>
          <p:cNvPr id="19" name="Shape 16"/>
          <p:cNvSpPr/>
          <p:nvPr/>
        </p:nvSpPr>
        <p:spPr>
          <a:xfrm>
            <a:off x="3360420" y="2999232"/>
            <a:ext cx="2400300" cy="365760"/>
          </a:xfrm>
          <a:prstGeom prst="roundRect">
            <a:avLst>
              <a:gd name="adj" fmla="val 20000"/>
            </a:avLst>
          </a:prstGeom>
          <a:solidFill>
            <a:srgbClr val="FFFFFF"/>
          </a:solidFill>
          <a:ln w="9525">
            <a:solidFill>
              <a:srgbClr val="D5DAE3"/>
            </a:solidFill>
            <a:prstDash val="solid"/>
          </a:ln>
        </p:spPr>
      </p:sp>
      <p:sp>
        <p:nvSpPr>
          <p:cNvPr id="20" name="Text 17"/>
          <p:cNvSpPr txBox="1"/>
          <p:nvPr/>
        </p:nvSpPr>
        <p:spPr>
          <a:xfrm>
            <a:off x="347014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Output</a:t>
            </a:r>
            <a:endParaRPr lang="en-US" sz="1400" dirty="0"/>
          </a:p>
        </p:txBody>
      </p:sp>
      <p:sp>
        <p:nvSpPr>
          <p:cNvPr id="21" name="Shape 18"/>
          <p:cNvSpPr/>
          <p:nvPr/>
        </p:nvSpPr>
        <p:spPr>
          <a:xfrm>
            <a:off x="6172200" y="1645920"/>
            <a:ext cx="5486400" cy="2103120"/>
          </a:xfrm>
          <a:prstGeom prst="roundRect">
            <a:avLst>
              <a:gd name="adj" fmla="val 5217"/>
            </a:avLst>
          </a:prstGeom>
          <a:solidFill>
            <a:srgbClr val="EEF1F6"/>
          </a:solidFill>
          <a:ln w="12700">
            <a:solidFill>
              <a:srgbClr val="EEF1F6"/>
            </a:solidFill>
            <a:prstDash val="solid"/>
          </a:ln>
        </p:spPr>
      </p:sp>
      <p:sp>
        <p:nvSpPr>
          <p:cNvPr id="22" name="Shape 19"/>
          <p:cNvSpPr/>
          <p:nvPr/>
        </p:nvSpPr>
        <p:spPr>
          <a:xfrm>
            <a:off x="6373368" y="1828800"/>
            <a:ext cx="502920" cy="502920"/>
          </a:xfrm>
          <a:prstGeom prst="ellipse">
            <a:avLst/>
          </a:prstGeom>
          <a:solidFill>
            <a:srgbClr val="14213D"/>
          </a:solidFill>
          <a:ln w="12700">
            <a:solidFill>
              <a:srgbClr val="14213D"/>
            </a:solidFill>
            <a:prstDash val="solid"/>
          </a:ln>
        </p:spPr>
      </p:sp>
      <p:sp>
        <p:nvSpPr>
          <p:cNvPr id="23" name="Text 20"/>
          <p:cNvSpPr txBox="1"/>
          <p:nvPr/>
        </p:nvSpPr>
        <p:spPr>
          <a:xfrm>
            <a:off x="637336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Q2</a:t>
            </a:r>
            <a:endParaRPr lang="en-US" sz="1400" dirty="0"/>
          </a:p>
        </p:txBody>
      </p:sp>
      <p:sp>
        <p:nvSpPr>
          <p:cNvPr id="24" name="Text 21"/>
          <p:cNvSpPr txBox="1"/>
          <p:nvPr/>
        </p:nvSpPr>
        <p:spPr>
          <a:xfrm>
            <a:off x="7040880" y="179222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Which flowchart symbol is used for READ x?</a:t>
            </a:r>
            <a:endParaRPr lang="en-US" sz="1500" dirty="0"/>
          </a:p>
        </p:txBody>
      </p:sp>
      <p:sp>
        <p:nvSpPr>
          <p:cNvPr id="25" name="Shape 22"/>
          <p:cNvSpPr/>
          <p:nvPr/>
        </p:nvSpPr>
        <p:spPr>
          <a:xfrm>
            <a:off x="6446520" y="2542032"/>
            <a:ext cx="2400300" cy="365760"/>
          </a:xfrm>
          <a:prstGeom prst="roundRect">
            <a:avLst>
              <a:gd name="adj" fmla="val 20000"/>
            </a:avLst>
          </a:prstGeom>
          <a:solidFill>
            <a:srgbClr val="FFFFFF"/>
          </a:solidFill>
          <a:ln w="9525">
            <a:solidFill>
              <a:srgbClr val="D5DAE3"/>
            </a:solidFill>
            <a:prstDash val="solid"/>
          </a:ln>
        </p:spPr>
      </p:sp>
      <p:sp>
        <p:nvSpPr>
          <p:cNvPr id="26" name="Text 23"/>
          <p:cNvSpPr txBox="1"/>
          <p:nvPr/>
        </p:nvSpPr>
        <p:spPr>
          <a:xfrm>
            <a:off x="65562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Rectangle</a:t>
            </a:r>
            <a:endParaRPr lang="en-US" sz="1400" dirty="0"/>
          </a:p>
        </p:txBody>
      </p:sp>
      <p:sp>
        <p:nvSpPr>
          <p:cNvPr id="27" name="Shape 24"/>
          <p:cNvSpPr/>
          <p:nvPr/>
        </p:nvSpPr>
        <p:spPr>
          <a:xfrm>
            <a:off x="8983980" y="2542032"/>
            <a:ext cx="2400300" cy="365760"/>
          </a:xfrm>
          <a:prstGeom prst="roundRect">
            <a:avLst>
              <a:gd name="adj" fmla="val 20000"/>
            </a:avLst>
          </a:prstGeom>
          <a:solidFill>
            <a:srgbClr val="FFFFFF"/>
          </a:solidFill>
          <a:ln w="9525">
            <a:solidFill>
              <a:srgbClr val="D5DAE3"/>
            </a:solidFill>
            <a:prstDash val="solid"/>
          </a:ln>
        </p:spPr>
      </p:sp>
      <p:sp>
        <p:nvSpPr>
          <p:cNvPr id="28" name="Text 25"/>
          <p:cNvSpPr txBox="1"/>
          <p:nvPr/>
        </p:nvSpPr>
        <p:spPr>
          <a:xfrm>
            <a:off x="909370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Diamond</a:t>
            </a:r>
            <a:endParaRPr lang="en-US" sz="1400" dirty="0"/>
          </a:p>
        </p:txBody>
      </p:sp>
      <p:sp>
        <p:nvSpPr>
          <p:cNvPr id="29" name="Shape 26"/>
          <p:cNvSpPr/>
          <p:nvPr/>
        </p:nvSpPr>
        <p:spPr>
          <a:xfrm>
            <a:off x="6446520" y="2999232"/>
            <a:ext cx="2400300" cy="365760"/>
          </a:xfrm>
          <a:prstGeom prst="roundRect">
            <a:avLst>
              <a:gd name="adj" fmla="val 20000"/>
            </a:avLst>
          </a:prstGeom>
          <a:solidFill>
            <a:srgbClr val="FFFFFF"/>
          </a:solidFill>
          <a:ln w="9525">
            <a:solidFill>
              <a:srgbClr val="D5DAE3"/>
            </a:solidFill>
            <a:prstDash val="solid"/>
          </a:ln>
        </p:spPr>
      </p:sp>
      <p:sp>
        <p:nvSpPr>
          <p:cNvPr id="30" name="Text 27"/>
          <p:cNvSpPr txBox="1"/>
          <p:nvPr/>
        </p:nvSpPr>
        <p:spPr>
          <a:xfrm>
            <a:off x="655624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Parallelogram</a:t>
            </a:r>
            <a:endParaRPr lang="en-US" sz="1400" dirty="0"/>
          </a:p>
        </p:txBody>
      </p:sp>
      <p:sp>
        <p:nvSpPr>
          <p:cNvPr id="31" name="Shape 28"/>
          <p:cNvSpPr/>
          <p:nvPr/>
        </p:nvSpPr>
        <p:spPr>
          <a:xfrm>
            <a:off x="8983980" y="2999232"/>
            <a:ext cx="2400300" cy="365760"/>
          </a:xfrm>
          <a:prstGeom prst="roundRect">
            <a:avLst>
              <a:gd name="adj" fmla="val 20000"/>
            </a:avLst>
          </a:prstGeom>
          <a:solidFill>
            <a:srgbClr val="FFFFFF"/>
          </a:solidFill>
          <a:ln w="9525">
            <a:solidFill>
              <a:srgbClr val="D5DAE3"/>
            </a:solidFill>
            <a:prstDash val="solid"/>
          </a:ln>
        </p:spPr>
      </p:sp>
      <p:sp>
        <p:nvSpPr>
          <p:cNvPr id="32" name="Text 29"/>
          <p:cNvSpPr txBox="1"/>
          <p:nvPr/>
        </p:nvSpPr>
        <p:spPr>
          <a:xfrm>
            <a:off x="909370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Oval</a:t>
            </a:r>
            <a:endParaRPr lang="en-US" sz="1400" dirty="0"/>
          </a:p>
        </p:txBody>
      </p:sp>
      <p:sp>
        <p:nvSpPr>
          <p:cNvPr id="33" name="Shape 30"/>
          <p:cNvSpPr/>
          <p:nvPr/>
        </p:nvSpPr>
        <p:spPr>
          <a:xfrm>
            <a:off x="548640" y="3886200"/>
            <a:ext cx="5486400" cy="2103120"/>
          </a:xfrm>
          <a:prstGeom prst="roundRect">
            <a:avLst>
              <a:gd name="adj" fmla="val 5217"/>
            </a:avLst>
          </a:prstGeom>
          <a:solidFill>
            <a:srgbClr val="EEF1F6"/>
          </a:solidFill>
          <a:ln w="12700">
            <a:solidFill>
              <a:srgbClr val="EEF1F6"/>
            </a:solidFill>
            <a:prstDash val="solid"/>
          </a:ln>
        </p:spPr>
      </p:sp>
      <p:sp>
        <p:nvSpPr>
          <p:cNvPr id="34" name="Shape 31"/>
          <p:cNvSpPr/>
          <p:nvPr/>
        </p:nvSpPr>
        <p:spPr>
          <a:xfrm>
            <a:off x="749808" y="4069080"/>
            <a:ext cx="502920" cy="502920"/>
          </a:xfrm>
          <a:prstGeom prst="ellipse">
            <a:avLst/>
          </a:prstGeom>
          <a:solidFill>
            <a:srgbClr val="14213D"/>
          </a:solidFill>
          <a:ln w="12700">
            <a:solidFill>
              <a:srgbClr val="14213D"/>
            </a:solidFill>
            <a:prstDash val="solid"/>
          </a:ln>
        </p:spPr>
      </p:sp>
      <p:sp>
        <p:nvSpPr>
          <p:cNvPr id="35" name="Text 32"/>
          <p:cNvSpPr txBox="1"/>
          <p:nvPr/>
        </p:nvSpPr>
        <p:spPr>
          <a:xfrm>
            <a:off x="74980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Q3</a:t>
            </a:r>
            <a:endParaRPr lang="en-US" sz="1400" dirty="0"/>
          </a:p>
        </p:txBody>
      </p:sp>
      <p:sp>
        <p:nvSpPr>
          <p:cNvPr id="36" name="Text 33"/>
          <p:cNvSpPr txBox="1"/>
          <p:nvPr/>
        </p:nvSpPr>
        <p:spPr>
          <a:xfrm>
            <a:off x="1417320" y="403250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Best type for a price such as 1499.90 TL?</a:t>
            </a:r>
            <a:endParaRPr lang="en-US" sz="1500" dirty="0"/>
          </a:p>
        </p:txBody>
      </p:sp>
      <p:sp>
        <p:nvSpPr>
          <p:cNvPr id="37" name="Shape 34"/>
          <p:cNvSpPr/>
          <p:nvPr/>
        </p:nvSpPr>
        <p:spPr>
          <a:xfrm>
            <a:off x="822960" y="4782312"/>
            <a:ext cx="2400300" cy="365760"/>
          </a:xfrm>
          <a:prstGeom prst="roundRect">
            <a:avLst>
              <a:gd name="adj" fmla="val 20000"/>
            </a:avLst>
          </a:prstGeom>
          <a:solidFill>
            <a:srgbClr val="FFFFFF"/>
          </a:solidFill>
          <a:ln w="9525">
            <a:solidFill>
              <a:srgbClr val="D5DAE3"/>
            </a:solidFill>
            <a:prstDash val="solid"/>
          </a:ln>
        </p:spPr>
      </p:sp>
      <p:sp>
        <p:nvSpPr>
          <p:cNvPr id="38" name="Text 35"/>
          <p:cNvSpPr txBox="1"/>
          <p:nvPr/>
        </p:nvSpPr>
        <p:spPr>
          <a:xfrm>
            <a:off x="93268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int</a:t>
            </a:r>
            <a:endParaRPr lang="en-US" sz="1400" dirty="0"/>
          </a:p>
        </p:txBody>
      </p:sp>
      <p:sp>
        <p:nvSpPr>
          <p:cNvPr id="39" name="Shape 36"/>
          <p:cNvSpPr/>
          <p:nvPr/>
        </p:nvSpPr>
        <p:spPr>
          <a:xfrm>
            <a:off x="3360420" y="4782312"/>
            <a:ext cx="2400300" cy="365760"/>
          </a:xfrm>
          <a:prstGeom prst="roundRect">
            <a:avLst>
              <a:gd name="adj" fmla="val 20000"/>
            </a:avLst>
          </a:prstGeom>
          <a:solidFill>
            <a:srgbClr val="FFFFFF"/>
          </a:solidFill>
          <a:ln w="9525">
            <a:solidFill>
              <a:srgbClr val="D5DAE3"/>
            </a:solidFill>
            <a:prstDash val="solid"/>
          </a:ln>
        </p:spPr>
      </p:sp>
      <p:sp>
        <p:nvSpPr>
          <p:cNvPr id="40" name="Text 37"/>
          <p:cNvSpPr txBox="1"/>
          <p:nvPr/>
        </p:nvSpPr>
        <p:spPr>
          <a:xfrm>
            <a:off x="34701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float</a:t>
            </a:r>
            <a:endParaRPr lang="en-US" sz="1400" dirty="0"/>
          </a:p>
        </p:txBody>
      </p:sp>
      <p:sp>
        <p:nvSpPr>
          <p:cNvPr id="41" name="Shape 38"/>
          <p:cNvSpPr/>
          <p:nvPr/>
        </p:nvSpPr>
        <p:spPr>
          <a:xfrm>
            <a:off x="822960" y="5239512"/>
            <a:ext cx="2400300" cy="365760"/>
          </a:xfrm>
          <a:prstGeom prst="roundRect">
            <a:avLst>
              <a:gd name="adj" fmla="val 20000"/>
            </a:avLst>
          </a:prstGeom>
          <a:solidFill>
            <a:srgbClr val="FFFFFF"/>
          </a:solidFill>
          <a:ln w="9525">
            <a:solidFill>
              <a:srgbClr val="D5DAE3"/>
            </a:solidFill>
            <a:prstDash val="solid"/>
          </a:ln>
        </p:spPr>
      </p:sp>
      <p:sp>
        <p:nvSpPr>
          <p:cNvPr id="42" name="Text 39"/>
          <p:cNvSpPr txBox="1"/>
          <p:nvPr/>
        </p:nvSpPr>
        <p:spPr>
          <a:xfrm>
            <a:off x="93268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decimal</a:t>
            </a:r>
            <a:endParaRPr lang="en-US" sz="1400" dirty="0"/>
          </a:p>
        </p:txBody>
      </p:sp>
      <p:sp>
        <p:nvSpPr>
          <p:cNvPr id="43" name="Shape 40"/>
          <p:cNvSpPr/>
          <p:nvPr/>
        </p:nvSpPr>
        <p:spPr>
          <a:xfrm>
            <a:off x="3360420" y="5239512"/>
            <a:ext cx="2400300" cy="365760"/>
          </a:xfrm>
          <a:prstGeom prst="roundRect">
            <a:avLst>
              <a:gd name="adj" fmla="val 20000"/>
            </a:avLst>
          </a:prstGeom>
          <a:solidFill>
            <a:srgbClr val="FFFFFF"/>
          </a:solidFill>
          <a:ln w="9525">
            <a:solidFill>
              <a:srgbClr val="D5DAE3"/>
            </a:solidFill>
            <a:prstDash val="solid"/>
          </a:ln>
        </p:spPr>
      </p:sp>
      <p:sp>
        <p:nvSpPr>
          <p:cNvPr id="44" name="Text 41"/>
          <p:cNvSpPr txBox="1"/>
          <p:nvPr/>
        </p:nvSpPr>
        <p:spPr>
          <a:xfrm>
            <a:off x="34701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char</a:t>
            </a:r>
            <a:endParaRPr lang="en-US" sz="1400" dirty="0"/>
          </a:p>
        </p:txBody>
      </p:sp>
      <p:sp>
        <p:nvSpPr>
          <p:cNvPr id="45" name="Shape 42"/>
          <p:cNvSpPr/>
          <p:nvPr/>
        </p:nvSpPr>
        <p:spPr>
          <a:xfrm>
            <a:off x="6172200" y="3886200"/>
            <a:ext cx="5486400" cy="2103120"/>
          </a:xfrm>
          <a:prstGeom prst="roundRect">
            <a:avLst>
              <a:gd name="adj" fmla="val 5217"/>
            </a:avLst>
          </a:prstGeom>
          <a:solidFill>
            <a:srgbClr val="EEF1F6"/>
          </a:solidFill>
          <a:ln w="12700">
            <a:solidFill>
              <a:srgbClr val="EEF1F6"/>
            </a:solidFill>
            <a:prstDash val="solid"/>
          </a:ln>
        </p:spPr>
      </p:sp>
      <p:sp>
        <p:nvSpPr>
          <p:cNvPr id="46" name="Shape 43"/>
          <p:cNvSpPr/>
          <p:nvPr/>
        </p:nvSpPr>
        <p:spPr>
          <a:xfrm>
            <a:off x="6373368" y="4069080"/>
            <a:ext cx="502920" cy="502920"/>
          </a:xfrm>
          <a:prstGeom prst="ellipse">
            <a:avLst/>
          </a:prstGeom>
          <a:solidFill>
            <a:srgbClr val="14213D"/>
          </a:solidFill>
          <a:ln w="12700">
            <a:solidFill>
              <a:srgbClr val="14213D"/>
            </a:solidFill>
            <a:prstDash val="solid"/>
          </a:ln>
        </p:spPr>
      </p:sp>
      <p:sp>
        <p:nvSpPr>
          <p:cNvPr id="47" name="Text 44"/>
          <p:cNvSpPr txBox="1"/>
          <p:nvPr/>
        </p:nvSpPr>
        <p:spPr>
          <a:xfrm>
            <a:off x="637336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Q4</a:t>
            </a:r>
            <a:endParaRPr lang="en-US" sz="1400" dirty="0"/>
          </a:p>
        </p:txBody>
      </p:sp>
      <p:sp>
        <p:nvSpPr>
          <p:cNvPr id="48" name="Text 45"/>
          <p:cNvSpPr txBox="1"/>
          <p:nvPr/>
        </p:nvSpPr>
        <p:spPr>
          <a:xfrm>
            <a:off x="7040880" y="403250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Whose body always runs at least once?</a:t>
            </a:r>
            <a:endParaRPr lang="en-US" sz="1500" dirty="0"/>
          </a:p>
        </p:txBody>
      </p:sp>
      <p:sp>
        <p:nvSpPr>
          <p:cNvPr id="49" name="Shape 46"/>
          <p:cNvSpPr/>
          <p:nvPr/>
        </p:nvSpPr>
        <p:spPr>
          <a:xfrm>
            <a:off x="6446520" y="4782312"/>
            <a:ext cx="2400300" cy="365760"/>
          </a:xfrm>
          <a:prstGeom prst="roundRect">
            <a:avLst>
              <a:gd name="adj" fmla="val 20000"/>
            </a:avLst>
          </a:prstGeom>
          <a:solidFill>
            <a:srgbClr val="FFFFFF"/>
          </a:solidFill>
          <a:ln w="9525">
            <a:solidFill>
              <a:srgbClr val="D5DAE3"/>
            </a:solidFill>
            <a:prstDash val="solid"/>
          </a:ln>
        </p:spPr>
      </p:sp>
      <p:sp>
        <p:nvSpPr>
          <p:cNvPr id="50" name="Text 47"/>
          <p:cNvSpPr txBox="1"/>
          <p:nvPr/>
        </p:nvSpPr>
        <p:spPr>
          <a:xfrm>
            <a:off x="65562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for</a:t>
            </a:r>
            <a:endParaRPr lang="en-US" sz="1400" dirty="0"/>
          </a:p>
        </p:txBody>
      </p:sp>
      <p:sp>
        <p:nvSpPr>
          <p:cNvPr id="51" name="Shape 48"/>
          <p:cNvSpPr/>
          <p:nvPr/>
        </p:nvSpPr>
        <p:spPr>
          <a:xfrm>
            <a:off x="8983980" y="4782312"/>
            <a:ext cx="2400300" cy="365760"/>
          </a:xfrm>
          <a:prstGeom prst="roundRect">
            <a:avLst>
              <a:gd name="adj" fmla="val 20000"/>
            </a:avLst>
          </a:prstGeom>
          <a:solidFill>
            <a:srgbClr val="FFFFFF"/>
          </a:solidFill>
          <a:ln w="9525">
            <a:solidFill>
              <a:srgbClr val="D5DAE3"/>
            </a:solidFill>
            <a:prstDash val="solid"/>
          </a:ln>
        </p:spPr>
      </p:sp>
      <p:sp>
        <p:nvSpPr>
          <p:cNvPr id="52" name="Text 49"/>
          <p:cNvSpPr txBox="1"/>
          <p:nvPr/>
        </p:nvSpPr>
        <p:spPr>
          <a:xfrm>
            <a:off x="909370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while</a:t>
            </a:r>
            <a:endParaRPr lang="en-US" sz="1400" dirty="0"/>
          </a:p>
        </p:txBody>
      </p:sp>
      <p:sp>
        <p:nvSpPr>
          <p:cNvPr id="53" name="Shape 50"/>
          <p:cNvSpPr/>
          <p:nvPr/>
        </p:nvSpPr>
        <p:spPr>
          <a:xfrm>
            <a:off x="6446520" y="5239512"/>
            <a:ext cx="2400300" cy="365760"/>
          </a:xfrm>
          <a:prstGeom prst="roundRect">
            <a:avLst>
              <a:gd name="adj" fmla="val 20000"/>
            </a:avLst>
          </a:prstGeom>
          <a:solidFill>
            <a:srgbClr val="FFFFFF"/>
          </a:solidFill>
          <a:ln w="9525">
            <a:solidFill>
              <a:srgbClr val="D5DAE3"/>
            </a:solidFill>
            <a:prstDash val="solid"/>
          </a:ln>
        </p:spPr>
      </p:sp>
      <p:sp>
        <p:nvSpPr>
          <p:cNvPr id="54" name="Text 51"/>
          <p:cNvSpPr txBox="1"/>
          <p:nvPr/>
        </p:nvSpPr>
        <p:spPr>
          <a:xfrm>
            <a:off x="65562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do-while</a:t>
            </a:r>
            <a:endParaRPr lang="en-US" sz="1400" dirty="0"/>
          </a:p>
        </p:txBody>
      </p:sp>
      <p:sp>
        <p:nvSpPr>
          <p:cNvPr id="55" name="Shape 52"/>
          <p:cNvSpPr/>
          <p:nvPr/>
        </p:nvSpPr>
        <p:spPr>
          <a:xfrm>
            <a:off x="8983980" y="5239512"/>
            <a:ext cx="2400300" cy="365760"/>
          </a:xfrm>
          <a:prstGeom prst="roundRect">
            <a:avLst>
              <a:gd name="adj" fmla="val 20000"/>
            </a:avLst>
          </a:prstGeom>
          <a:solidFill>
            <a:srgbClr val="FFFFFF"/>
          </a:solidFill>
          <a:ln w="9525">
            <a:solidFill>
              <a:srgbClr val="D5DAE3"/>
            </a:solidFill>
            <a:prstDash val="solid"/>
          </a:ln>
        </p:spPr>
      </p:sp>
      <p:sp>
        <p:nvSpPr>
          <p:cNvPr id="56" name="Text 53"/>
          <p:cNvSpPr txBox="1"/>
          <p:nvPr/>
        </p:nvSpPr>
        <p:spPr>
          <a:xfrm>
            <a:off x="909370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none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ANSWERS · Q1–Q4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Quick-Fire Multiple Choice: Answers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ANSWERS</a:t>
            </a:r>
            <a:endParaRPr lang="en-US" sz="1200" dirty="0"/>
          </a:p>
        </p:txBody>
      </p:sp>
      <p:sp>
        <p:nvSpPr>
          <p:cNvPr id="9" name="Shape 6"/>
          <p:cNvSpPr/>
          <p:nvPr/>
        </p:nvSpPr>
        <p:spPr>
          <a:xfrm>
            <a:off x="548640" y="1645920"/>
            <a:ext cx="5486400" cy="2103120"/>
          </a:xfrm>
          <a:prstGeom prst="roundRect">
            <a:avLst>
              <a:gd name="adj" fmla="val 5217"/>
            </a:avLst>
          </a:prstGeom>
          <a:solidFill>
            <a:srgbClr val="EEF1F6"/>
          </a:solidFill>
          <a:ln w="12700">
            <a:solidFill>
              <a:srgbClr val="EEF1F6"/>
            </a:solidFill>
            <a:prstDash val="solid"/>
          </a:ln>
        </p:spPr>
      </p:sp>
      <p:sp>
        <p:nvSpPr>
          <p:cNvPr id="10" name="Shape 7"/>
          <p:cNvSpPr/>
          <p:nvPr/>
        </p:nvSpPr>
        <p:spPr>
          <a:xfrm>
            <a:off x="749808" y="1828800"/>
            <a:ext cx="502920" cy="502920"/>
          </a:xfrm>
          <a:prstGeom prst="ellipse">
            <a:avLst/>
          </a:prstGeom>
          <a:solidFill>
            <a:srgbClr val="14213D"/>
          </a:solidFill>
          <a:ln w="12700">
            <a:solidFill>
              <a:srgbClr val="14213D"/>
            </a:solidFill>
            <a:prstDash val="solid"/>
          </a:ln>
        </p:spPr>
      </p:sp>
      <p:sp>
        <p:nvSpPr>
          <p:cNvPr id="11" name="Text 8"/>
          <p:cNvSpPr txBox="1"/>
          <p:nvPr/>
        </p:nvSpPr>
        <p:spPr>
          <a:xfrm>
            <a:off x="74980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Q1</a:t>
            </a:r>
            <a:endParaRPr lang="en-US" sz="1400" dirty="0"/>
          </a:p>
        </p:txBody>
      </p:sp>
      <p:sp>
        <p:nvSpPr>
          <p:cNvPr id="12" name="Text 9"/>
          <p:cNvSpPr txBox="1"/>
          <p:nvPr/>
        </p:nvSpPr>
        <p:spPr>
          <a:xfrm>
            <a:off x="1417320" y="179222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"Keep adding 1 to x." Which property fails?</a:t>
            </a:r>
            <a:endParaRPr lang="en-US" sz="1500" dirty="0"/>
          </a:p>
        </p:txBody>
      </p:sp>
      <p:sp>
        <p:nvSpPr>
          <p:cNvPr id="13" name="Shape 10"/>
          <p:cNvSpPr/>
          <p:nvPr/>
        </p:nvSpPr>
        <p:spPr>
          <a:xfrm>
            <a:off x="822960" y="2542032"/>
            <a:ext cx="2400300" cy="365760"/>
          </a:xfrm>
          <a:prstGeom prst="roundRect">
            <a:avLst>
              <a:gd name="adj" fmla="val 20000"/>
            </a:avLst>
          </a:prstGeom>
          <a:solidFill>
            <a:srgbClr val="FFFFFF"/>
          </a:solidFill>
          <a:ln w="9525">
            <a:solidFill>
              <a:srgbClr val="D5DAE3"/>
            </a:solidFill>
            <a:prstDash val="solid"/>
          </a:ln>
        </p:spPr>
      </p:sp>
      <p:sp>
        <p:nvSpPr>
          <p:cNvPr id="14" name="Text 11"/>
          <p:cNvSpPr txBox="1"/>
          <p:nvPr/>
        </p:nvSpPr>
        <p:spPr>
          <a:xfrm>
            <a:off x="93268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Definiteness</a:t>
            </a:r>
            <a:endParaRPr lang="en-US" sz="1400" dirty="0"/>
          </a:p>
        </p:txBody>
      </p:sp>
      <p:sp>
        <p:nvSpPr>
          <p:cNvPr id="15" name="Shape 12"/>
          <p:cNvSpPr/>
          <p:nvPr/>
        </p:nvSpPr>
        <p:spPr>
          <a:xfrm>
            <a:off x="3360420" y="2542032"/>
            <a:ext cx="2400300" cy="365760"/>
          </a:xfrm>
          <a:prstGeom prst="roundRect">
            <a:avLst>
              <a:gd name="adj" fmla="val 20000"/>
            </a:avLst>
          </a:prstGeom>
          <a:solidFill>
            <a:srgbClr val="2E9E6A"/>
          </a:solidFill>
          <a:ln w="9525">
            <a:solidFill>
              <a:srgbClr val="2E9E6A"/>
            </a:solidFill>
            <a:prstDash val="solid"/>
          </a:ln>
        </p:spPr>
      </p:sp>
      <p:sp>
        <p:nvSpPr>
          <p:cNvPr id="16" name="Text 13"/>
          <p:cNvSpPr txBox="1"/>
          <p:nvPr/>
        </p:nvSpPr>
        <p:spPr>
          <a:xfrm>
            <a:off x="3470148" y="254203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a:t>
            </a:r>
            <a:pPr indent="0" marL="0">
              <a:buNone/>
            </a:pPr>
            <a:r>
              <a:rPr lang="en-US" sz="1400" b="1" dirty="0">
                <a:solidFill>
                  <a:srgbClr val="FFFFFF"/>
                </a:solidFill>
                <a:latin typeface="Calibri" pitchFamily="34" charset="0"/>
                <a:ea typeface="Calibri" pitchFamily="34" charset="-122"/>
                <a:cs typeface="Calibri" pitchFamily="34" charset="-120"/>
              </a:rPr>
              <a:t>Finiteness</a:t>
            </a:r>
            <a:endParaRPr lang="en-US" sz="1400" dirty="0"/>
          </a:p>
        </p:txBody>
      </p:sp>
      <p:sp>
        <p:nvSpPr>
          <p:cNvPr id="17" name="Shape 14"/>
          <p:cNvSpPr/>
          <p:nvPr/>
        </p:nvSpPr>
        <p:spPr>
          <a:xfrm>
            <a:off x="822960" y="2999232"/>
            <a:ext cx="2400300" cy="365760"/>
          </a:xfrm>
          <a:prstGeom prst="roundRect">
            <a:avLst>
              <a:gd name="adj" fmla="val 20000"/>
            </a:avLst>
          </a:prstGeom>
          <a:solidFill>
            <a:srgbClr val="FFFFFF"/>
          </a:solidFill>
          <a:ln w="9525">
            <a:solidFill>
              <a:srgbClr val="D5DAE3"/>
            </a:solidFill>
            <a:prstDash val="solid"/>
          </a:ln>
        </p:spPr>
      </p:sp>
      <p:sp>
        <p:nvSpPr>
          <p:cNvPr id="18" name="Text 15"/>
          <p:cNvSpPr txBox="1"/>
          <p:nvPr/>
        </p:nvSpPr>
        <p:spPr>
          <a:xfrm>
            <a:off x="93268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Input</a:t>
            </a:r>
            <a:endParaRPr lang="en-US" sz="1400" dirty="0"/>
          </a:p>
        </p:txBody>
      </p:sp>
      <p:sp>
        <p:nvSpPr>
          <p:cNvPr id="19" name="Shape 16"/>
          <p:cNvSpPr/>
          <p:nvPr/>
        </p:nvSpPr>
        <p:spPr>
          <a:xfrm>
            <a:off x="3360420" y="2999232"/>
            <a:ext cx="2400300" cy="365760"/>
          </a:xfrm>
          <a:prstGeom prst="roundRect">
            <a:avLst>
              <a:gd name="adj" fmla="val 20000"/>
            </a:avLst>
          </a:prstGeom>
          <a:solidFill>
            <a:srgbClr val="FFFFFF"/>
          </a:solidFill>
          <a:ln w="9525">
            <a:solidFill>
              <a:srgbClr val="D5DAE3"/>
            </a:solidFill>
            <a:prstDash val="solid"/>
          </a:ln>
        </p:spPr>
      </p:sp>
      <p:sp>
        <p:nvSpPr>
          <p:cNvPr id="20" name="Text 17"/>
          <p:cNvSpPr txBox="1"/>
          <p:nvPr/>
        </p:nvSpPr>
        <p:spPr>
          <a:xfrm>
            <a:off x="347014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Output</a:t>
            </a:r>
            <a:endParaRPr lang="en-US" sz="1400" dirty="0"/>
          </a:p>
        </p:txBody>
      </p:sp>
      <p:sp>
        <p:nvSpPr>
          <p:cNvPr id="21" name="Text 18"/>
          <p:cNvSpPr txBox="1"/>
          <p:nvPr/>
        </p:nvSpPr>
        <p:spPr>
          <a:xfrm>
            <a:off x="822960" y="3474720"/>
            <a:ext cx="4937760" cy="18288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There is no stopping condition, so it never ends: finiteness.</a:t>
            </a:r>
            <a:endParaRPr lang="en-US" sz="1300" dirty="0"/>
          </a:p>
        </p:txBody>
      </p:sp>
      <p:sp>
        <p:nvSpPr>
          <p:cNvPr id="22" name="Shape 19"/>
          <p:cNvSpPr/>
          <p:nvPr/>
        </p:nvSpPr>
        <p:spPr>
          <a:xfrm>
            <a:off x="6172200" y="1645920"/>
            <a:ext cx="5486400" cy="2103120"/>
          </a:xfrm>
          <a:prstGeom prst="roundRect">
            <a:avLst>
              <a:gd name="adj" fmla="val 5217"/>
            </a:avLst>
          </a:prstGeom>
          <a:solidFill>
            <a:srgbClr val="EEF1F6"/>
          </a:solidFill>
          <a:ln w="12700">
            <a:solidFill>
              <a:srgbClr val="EEF1F6"/>
            </a:solidFill>
            <a:prstDash val="solid"/>
          </a:ln>
        </p:spPr>
      </p:sp>
      <p:sp>
        <p:nvSpPr>
          <p:cNvPr id="23" name="Shape 20"/>
          <p:cNvSpPr/>
          <p:nvPr/>
        </p:nvSpPr>
        <p:spPr>
          <a:xfrm>
            <a:off x="6373368" y="1828800"/>
            <a:ext cx="502920" cy="502920"/>
          </a:xfrm>
          <a:prstGeom prst="ellipse">
            <a:avLst/>
          </a:prstGeom>
          <a:solidFill>
            <a:srgbClr val="14213D"/>
          </a:solidFill>
          <a:ln w="12700">
            <a:solidFill>
              <a:srgbClr val="14213D"/>
            </a:solidFill>
            <a:prstDash val="solid"/>
          </a:ln>
        </p:spPr>
      </p:sp>
      <p:sp>
        <p:nvSpPr>
          <p:cNvPr id="24" name="Text 21"/>
          <p:cNvSpPr txBox="1"/>
          <p:nvPr/>
        </p:nvSpPr>
        <p:spPr>
          <a:xfrm>
            <a:off x="637336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Q2</a:t>
            </a:r>
            <a:endParaRPr lang="en-US" sz="1400" dirty="0"/>
          </a:p>
        </p:txBody>
      </p:sp>
      <p:sp>
        <p:nvSpPr>
          <p:cNvPr id="25" name="Text 22"/>
          <p:cNvSpPr txBox="1"/>
          <p:nvPr/>
        </p:nvSpPr>
        <p:spPr>
          <a:xfrm>
            <a:off x="7040880" y="179222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Which flowchart symbol is used for READ x?</a:t>
            </a:r>
            <a:endParaRPr lang="en-US" sz="1500" dirty="0"/>
          </a:p>
        </p:txBody>
      </p:sp>
      <p:sp>
        <p:nvSpPr>
          <p:cNvPr id="26" name="Shape 23"/>
          <p:cNvSpPr/>
          <p:nvPr/>
        </p:nvSpPr>
        <p:spPr>
          <a:xfrm>
            <a:off x="6446520" y="2542032"/>
            <a:ext cx="2400300" cy="365760"/>
          </a:xfrm>
          <a:prstGeom prst="roundRect">
            <a:avLst>
              <a:gd name="adj" fmla="val 20000"/>
            </a:avLst>
          </a:prstGeom>
          <a:solidFill>
            <a:srgbClr val="FFFFFF"/>
          </a:solidFill>
          <a:ln w="9525">
            <a:solidFill>
              <a:srgbClr val="D5DAE3"/>
            </a:solidFill>
            <a:prstDash val="solid"/>
          </a:ln>
        </p:spPr>
      </p:sp>
      <p:sp>
        <p:nvSpPr>
          <p:cNvPr id="27" name="Text 24"/>
          <p:cNvSpPr txBox="1"/>
          <p:nvPr/>
        </p:nvSpPr>
        <p:spPr>
          <a:xfrm>
            <a:off x="65562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Rectangle</a:t>
            </a:r>
            <a:endParaRPr lang="en-US" sz="1400" dirty="0"/>
          </a:p>
        </p:txBody>
      </p:sp>
      <p:sp>
        <p:nvSpPr>
          <p:cNvPr id="28" name="Shape 25"/>
          <p:cNvSpPr/>
          <p:nvPr/>
        </p:nvSpPr>
        <p:spPr>
          <a:xfrm>
            <a:off x="8983980" y="2542032"/>
            <a:ext cx="2400300" cy="365760"/>
          </a:xfrm>
          <a:prstGeom prst="roundRect">
            <a:avLst>
              <a:gd name="adj" fmla="val 20000"/>
            </a:avLst>
          </a:prstGeom>
          <a:solidFill>
            <a:srgbClr val="FFFFFF"/>
          </a:solidFill>
          <a:ln w="9525">
            <a:solidFill>
              <a:srgbClr val="D5DAE3"/>
            </a:solidFill>
            <a:prstDash val="solid"/>
          </a:ln>
        </p:spPr>
      </p:sp>
      <p:sp>
        <p:nvSpPr>
          <p:cNvPr id="29" name="Text 26"/>
          <p:cNvSpPr txBox="1"/>
          <p:nvPr/>
        </p:nvSpPr>
        <p:spPr>
          <a:xfrm>
            <a:off x="909370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Diamond</a:t>
            </a:r>
            <a:endParaRPr lang="en-US" sz="1400" dirty="0"/>
          </a:p>
        </p:txBody>
      </p:sp>
      <p:sp>
        <p:nvSpPr>
          <p:cNvPr id="30" name="Shape 27"/>
          <p:cNvSpPr/>
          <p:nvPr/>
        </p:nvSpPr>
        <p:spPr>
          <a:xfrm>
            <a:off x="6446520" y="2999232"/>
            <a:ext cx="2400300" cy="365760"/>
          </a:xfrm>
          <a:prstGeom prst="roundRect">
            <a:avLst>
              <a:gd name="adj" fmla="val 20000"/>
            </a:avLst>
          </a:prstGeom>
          <a:solidFill>
            <a:srgbClr val="2E9E6A"/>
          </a:solidFill>
          <a:ln w="9525">
            <a:solidFill>
              <a:srgbClr val="2E9E6A"/>
            </a:solidFill>
            <a:prstDash val="solid"/>
          </a:ln>
        </p:spPr>
      </p:sp>
      <p:sp>
        <p:nvSpPr>
          <p:cNvPr id="31" name="Text 28"/>
          <p:cNvSpPr txBox="1"/>
          <p:nvPr/>
        </p:nvSpPr>
        <p:spPr>
          <a:xfrm>
            <a:off x="6556248" y="299923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a:t>
            </a:r>
            <a:pPr indent="0" marL="0">
              <a:buNone/>
            </a:pPr>
            <a:r>
              <a:rPr lang="en-US" sz="1400" b="1" dirty="0">
                <a:solidFill>
                  <a:srgbClr val="FFFFFF"/>
                </a:solidFill>
                <a:latin typeface="Calibri" pitchFamily="34" charset="0"/>
                <a:ea typeface="Calibri" pitchFamily="34" charset="-122"/>
                <a:cs typeface="Calibri" pitchFamily="34" charset="-120"/>
              </a:rPr>
              <a:t>Parallelogram</a:t>
            </a:r>
            <a:endParaRPr lang="en-US" sz="1400" dirty="0"/>
          </a:p>
        </p:txBody>
      </p:sp>
      <p:sp>
        <p:nvSpPr>
          <p:cNvPr id="32" name="Shape 29"/>
          <p:cNvSpPr/>
          <p:nvPr/>
        </p:nvSpPr>
        <p:spPr>
          <a:xfrm>
            <a:off x="8983980" y="2999232"/>
            <a:ext cx="2400300" cy="365760"/>
          </a:xfrm>
          <a:prstGeom prst="roundRect">
            <a:avLst>
              <a:gd name="adj" fmla="val 20000"/>
            </a:avLst>
          </a:prstGeom>
          <a:solidFill>
            <a:srgbClr val="FFFFFF"/>
          </a:solidFill>
          <a:ln w="9525">
            <a:solidFill>
              <a:srgbClr val="D5DAE3"/>
            </a:solidFill>
            <a:prstDash val="solid"/>
          </a:ln>
        </p:spPr>
      </p:sp>
      <p:sp>
        <p:nvSpPr>
          <p:cNvPr id="33" name="Text 30"/>
          <p:cNvSpPr txBox="1"/>
          <p:nvPr/>
        </p:nvSpPr>
        <p:spPr>
          <a:xfrm>
            <a:off x="909370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Oval</a:t>
            </a:r>
            <a:endParaRPr lang="en-US" sz="1400" dirty="0"/>
          </a:p>
        </p:txBody>
      </p:sp>
      <p:sp>
        <p:nvSpPr>
          <p:cNvPr id="34" name="Text 31"/>
          <p:cNvSpPr txBox="1"/>
          <p:nvPr/>
        </p:nvSpPr>
        <p:spPr>
          <a:xfrm>
            <a:off x="6446520" y="3474720"/>
            <a:ext cx="4937760" cy="18288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Input and output both use the parallelogram.</a:t>
            </a:r>
            <a:endParaRPr lang="en-US" sz="1300" dirty="0"/>
          </a:p>
        </p:txBody>
      </p:sp>
      <p:sp>
        <p:nvSpPr>
          <p:cNvPr id="35" name="Shape 32"/>
          <p:cNvSpPr/>
          <p:nvPr/>
        </p:nvSpPr>
        <p:spPr>
          <a:xfrm>
            <a:off x="548640" y="3886200"/>
            <a:ext cx="5486400" cy="2103120"/>
          </a:xfrm>
          <a:prstGeom prst="roundRect">
            <a:avLst>
              <a:gd name="adj" fmla="val 5217"/>
            </a:avLst>
          </a:prstGeom>
          <a:solidFill>
            <a:srgbClr val="EEF1F6"/>
          </a:solidFill>
          <a:ln w="12700">
            <a:solidFill>
              <a:srgbClr val="EEF1F6"/>
            </a:solidFill>
            <a:prstDash val="solid"/>
          </a:ln>
        </p:spPr>
      </p:sp>
      <p:sp>
        <p:nvSpPr>
          <p:cNvPr id="36" name="Shape 33"/>
          <p:cNvSpPr/>
          <p:nvPr/>
        </p:nvSpPr>
        <p:spPr>
          <a:xfrm>
            <a:off x="749808" y="4069080"/>
            <a:ext cx="502920" cy="502920"/>
          </a:xfrm>
          <a:prstGeom prst="ellipse">
            <a:avLst/>
          </a:prstGeom>
          <a:solidFill>
            <a:srgbClr val="14213D"/>
          </a:solidFill>
          <a:ln w="12700">
            <a:solidFill>
              <a:srgbClr val="14213D"/>
            </a:solidFill>
            <a:prstDash val="solid"/>
          </a:ln>
        </p:spPr>
      </p:sp>
      <p:sp>
        <p:nvSpPr>
          <p:cNvPr id="37" name="Text 34"/>
          <p:cNvSpPr txBox="1"/>
          <p:nvPr/>
        </p:nvSpPr>
        <p:spPr>
          <a:xfrm>
            <a:off x="74980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Q3</a:t>
            </a:r>
            <a:endParaRPr lang="en-US" sz="1400" dirty="0"/>
          </a:p>
        </p:txBody>
      </p:sp>
      <p:sp>
        <p:nvSpPr>
          <p:cNvPr id="38" name="Text 35"/>
          <p:cNvSpPr txBox="1"/>
          <p:nvPr/>
        </p:nvSpPr>
        <p:spPr>
          <a:xfrm>
            <a:off x="1417320" y="403250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Best type for a price such as 1499.90 TL?</a:t>
            </a:r>
            <a:endParaRPr lang="en-US" sz="1500" dirty="0"/>
          </a:p>
        </p:txBody>
      </p:sp>
      <p:sp>
        <p:nvSpPr>
          <p:cNvPr id="39" name="Shape 36"/>
          <p:cNvSpPr/>
          <p:nvPr/>
        </p:nvSpPr>
        <p:spPr>
          <a:xfrm>
            <a:off x="822960" y="4782312"/>
            <a:ext cx="2400300" cy="365760"/>
          </a:xfrm>
          <a:prstGeom prst="roundRect">
            <a:avLst>
              <a:gd name="adj" fmla="val 20000"/>
            </a:avLst>
          </a:prstGeom>
          <a:solidFill>
            <a:srgbClr val="FFFFFF"/>
          </a:solidFill>
          <a:ln w="9525">
            <a:solidFill>
              <a:srgbClr val="D5DAE3"/>
            </a:solidFill>
            <a:prstDash val="solid"/>
          </a:ln>
        </p:spPr>
      </p:sp>
      <p:sp>
        <p:nvSpPr>
          <p:cNvPr id="40" name="Text 37"/>
          <p:cNvSpPr txBox="1"/>
          <p:nvPr/>
        </p:nvSpPr>
        <p:spPr>
          <a:xfrm>
            <a:off x="93268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int</a:t>
            </a:r>
            <a:endParaRPr lang="en-US" sz="1400" dirty="0"/>
          </a:p>
        </p:txBody>
      </p:sp>
      <p:sp>
        <p:nvSpPr>
          <p:cNvPr id="41" name="Shape 38"/>
          <p:cNvSpPr/>
          <p:nvPr/>
        </p:nvSpPr>
        <p:spPr>
          <a:xfrm>
            <a:off x="3360420" y="4782312"/>
            <a:ext cx="2400300" cy="365760"/>
          </a:xfrm>
          <a:prstGeom prst="roundRect">
            <a:avLst>
              <a:gd name="adj" fmla="val 20000"/>
            </a:avLst>
          </a:prstGeom>
          <a:solidFill>
            <a:srgbClr val="FFFFFF"/>
          </a:solidFill>
          <a:ln w="9525">
            <a:solidFill>
              <a:srgbClr val="D5DAE3"/>
            </a:solidFill>
            <a:prstDash val="solid"/>
          </a:ln>
        </p:spPr>
      </p:sp>
      <p:sp>
        <p:nvSpPr>
          <p:cNvPr id="42" name="Text 39"/>
          <p:cNvSpPr txBox="1"/>
          <p:nvPr/>
        </p:nvSpPr>
        <p:spPr>
          <a:xfrm>
            <a:off x="34701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float</a:t>
            </a:r>
            <a:endParaRPr lang="en-US" sz="1400" dirty="0"/>
          </a:p>
        </p:txBody>
      </p:sp>
      <p:sp>
        <p:nvSpPr>
          <p:cNvPr id="43" name="Shape 40"/>
          <p:cNvSpPr/>
          <p:nvPr/>
        </p:nvSpPr>
        <p:spPr>
          <a:xfrm>
            <a:off x="822960" y="5239512"/>
            <a:ext cx="2400300" cy="365760"/>
          </a:xfrm>
          <a:prstGeom prst="roundRect">
            <a:avLst>
              <a:gd name="adj" fmla="val 20000"/>
            </a:avLst>
          </a:prstGeom>
          <a:solidFill>
            <a:srgbClr val="2E9E6A"/>
          </a:solidFill>
          <a:ln w="9525">
            <a:solidFill>
              <a:srgbClr val="2E9E6A"/>
            </a:solidFill>
            <a:prstDash val="solid"/>
          </a:ln>
        </p:spPr>
      </p:sp>
      <p:sp>
        <p:nvSpPr>
          <p:cNvPr id="44" name="Text 41"/>
          <p:cNvSpPr txBox="1"/>
          <p:nvPr/>
        </p:nvSpPr>
        <p:spPr>
          <a:xfrm>
            <a:off x="932688" y="523951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a:t>
            </a:r>
            <a:pPr indent="0" marL="0">
              <a:buNone/>
            </a:pPr>
            <a:r>
              <a:rPr lang="en-US" sz="1400" b="1" dirty="0">
                <a:solidFill>
                  <a:srgbClr val="FFFFFF"/>
                </a:solidFill>
                <a:latin typeface="Calibri" pitchFamily="34" charset="0"/>
                <a:ea typeface="Calibri" pitchFamily="34" charset="-122"/>
                <a:cs typeface="Calibri" pitchFamily="34" charset="-120"/>
              </a:rPr>
              <a:t>decimal</a:t>
            </a:r>
            <a:endParaRPr lang="en-US" sz="1400" dirty="0"/>
          </a:p>
        </p:txBody>
      </p:sp>
      <p:sp>
        <p:nvSpPr>
          <p:cNvPr id="45" name="Shape 42"/>
          <p:cNvSpPr/>
          <p:nvPr/>
        </p:nvSpPr>
        <p:spPr>
          <a:xfrm>
            <a:off x="3360420" y="5239512"/>
            <a:ext cx="2400300" cy="365760"/>
          </a:xfrm>
          <a:prstGeom prst="roundRect">
            <a:avLst>
              <a:gd name="adj" fmla="val 20000"/>
            </a:avLst>
          </a:prstGeom>
          <a:solidFill>
            <a:srgbClr val="FFFFFF"/>
          </a:solidFill>
          <a:ln w="9525">
            <a:solidFill>
              <a:srgbClr val="D5DAE3"/>
            </a:solidFill>
            <a:prstDash val="solid"/>
          </a:ln>
        </p:spPr>
      </p:sp>
      <p:sp>
        <p:nvSpPr>
          <p:cNvPr id="46" name="Text 43"/>
          <p:cNvSpPr txBox="1"/>
          <p:nvPr/>
        </p:nvSpPr>
        <p:spPr>
          <a:xfrm>
            <a:off x="34701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char</a:t>
            </a:r>
            <a:endParaRPr lang="en-US" sz="1400" dirty="0"/>
          </a:p>
        </p:txBody>
      </p:sp>
      <p:sp>
        <p:nvSpPr>
          <p:cNvPr id="47" name="Text 44"/>
          <p:cNvSpPr txBox="1"/>
          <p:nvPr/>
        </p:nvSpPr>
        <p:spPr>
          <a:xfrm>
            <a:off x="822960" y="5715000"/>
            <a:ext cx="4937760" cy="18288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decimal stores decimal digits exactly; use it for money.</a:t>
            </a:r>
            <a:endParaRPr lang="en-US" sz="1300" dirty="0"/>
          </a:p>
        </p:txBody>
      </p:sp>
      <p:sp>
        <p:nvSpPr>
          <p:cNvPr id="48" name="Shape 45"/>
          <p:cNvSpPr/>
          <p:nvPr/>
        </p:nvSpPr>
        <p:spPr>
          <a:xfrm>
            <a:off x="6172200" y="3886200"/>
            <a:ext cx="5486400" cy="2103120"/>
          </a:xfrm>
          <a:prstGeom prst="roundRect">
            <a:avLst>
              <a:gd name="adj" fmla="val 5217"/>
            </a:avLst>
          </a:prstGeom>
          <a:solidFill>
            <a:srgbClr val="EEF1F6"/>
          </a:solidFill>
          <a:ln w="12700">
            <a:solidFill>
              <a:srgbClr val="EEF1F6"/>
            </a:solidFill>
            <a:prstDash val="solid"/>
          </a:ln>
        </p:spPr>
      </p:sp>
      <p:sp>
        <p:nvSpPr>
          <p:cNvPr id="49" name="Shape 46"/>
          <p:cNvSpPr/>
          <p:nvPr/>
        </p:nvSpPr>
        <p:spPr>
          <a:xfrm>
            <a:off x="6373368" y="4069080"/>
            <a:ext cx="502920" cy="502920"/>
          </a:xfrm>
          <a:prstGeom prst="ellipse">
            <a:avLst/>
          </a:prstGeom>
          <a:solidFill>
            <a:srgbClr val="14213D"/>
          </a:solidFill>
          <a:ln w="12700">
            <a:solidFill>
              <a:srgbClr val="14213D"/>
            </a:solidFill>
            <a:prstDash val="solid"/>
          </a:ln>
        </p:spPr>
      </p:sp>
      <p:sp>
        <p:nvSpPr>
          <p:cNvPr id="50" name="Text 47"/>
          <p:cNvSpPr txBox="1"/>
          <p:nvPr/>
        </p:nvSpPr>
        <p:spPr>
          <a:xfrm>
            <a:off x="637336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Q4</a:t>
            </a:r>
            <a:endParaRPr lang="en-US" sz="1400" dirty="0"/>
          </a:p>
        </p:txBody>
      </p:sp>
      <p:sp>
        <p:nvSpPr>
          <p:cNvPr id="51" name="Text 48"/>
          <p:cNvSpPr txBox="1"/>
          <p:nvPr/>
        </p:nvSpPr>
        <p:spPr>
          <a:xfrm>
            <a:off x="7040880" y="4032504"/>
            <a:ext cx="4434840"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Whose body always runs at least once?</a:t>
            </a:r>
            <a:endParaRPr lang="en-US" sz="1500" dirty="0"/>
          </a:p>
        </p:txBody>
      </p:sp>
      <p:sp>
        <p:nvSpPr>
          <p:cNvPr id="52" name="Shape 49"/>
          <p:cNvSpPr/>
          <p:nvPr/>
        </p:nvSpPr>
        <p:spPr>
          <a:xfrm>
            <a:off x="6446520" y="4782312"/>
            <a:ext cx="2400300" cy="365760"/>
          </a:xfrm>
          <a:prstGeom prst="roundRect">
            <a:avLst>
              <a:gd name="adj" fmla="val 20000"/>
            </a:avLst>
          </a:prstGeom>
          <a:solidFill>
            <a:srgbClr val="FFFFFF"/>
          </a:solidFill>
          <a:ln w="9525">
            <a:solidFill>
              <a:srgbClr val="D5DAE3"/>
            </a:solidFill>
            <a:prstDash val="solid"/>
          </a:ln>
        </p:spPr>
      </p:sp>
      <p:sp>
        <p:nvSpPr>
          <p:cNvPr id="53" name="Text 50"/>
          <p:cNvSpPr txBox="1"/>
          <p:nvPr/>
        </p:nvSpPr>
        <p:spPr>
          <a:xfrm>
            <a:off x="65562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for</a:t>
            </a:r>
            <a:endParaRPr lang="en-US" sz="1400" dirty="0"/>
          </a:p>
        </p:txBody>
      </p:sp>
      <p:sp>
        <p:nvSpPr>
          <p:cNvPr id="54" name="Shape 51"/>
          <p:cNvSpPr/>
          <p:nvPr/>
        </p:nvSpPr>
        <p:spPr>
          <a:xfrm>
            <a:off x="8983980" y="4782312"/>
            <a:ext cx="2400300" cy="365760"/>
          </a:xfrm>
          <a:prstGeom prst="roundRect">
            <a:avLst>
              <a:gd name="adj" fmla="val 20000"/>
            </a:avLst>
          </a:prstGeom>
          <a:solidFill>
            <a:srgbClr val="FFFFFF"/>
          </a:solidFill>
          <a:ln w="9525">
            <a:solidFill>
              <a:srgbClr val="D5DAE3"/>
            </a:solidFill>
            <a:prstDash val="solid"/>
          </a:ln>
        </p:spPr>
      </p:sp>
      <p:sp>
        <p:nvSpPr>
          <p:cNvPr id="55" name="Text 52"/>
          <p:cNvSpPr txBox="1"/>
          <p:nvPr/>
        </p:nvSpPr>
        <p:spPr>
          <a:xfrm>
            <a:off x="909370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while</a:t>
            </a:r>
            <a:endParaRPr lang="en-US" sz="1400" dirty="0"/>
          </a:p>
        </p:txBody>
      </p:sp>
      <p:sp>
        <p:nvSpPr>
          <p:cNvPr id="56" name="Shape 53"/>
          <p:cNvSpPr/>
          <p:nvPr/>
        </p:nvSpPr>
        <p:spPr>
          <a:xfrm>
            <a:off x="6446520" y="5239512"/>
            <a:ext cx="2400300" cy="365760"/>
          </a:xfrm>
          <a:prstGeom prst="roundRect">
            <a:avLst>
              <a:gd name="adj" fmla="val 20000"/>
            </a:avLst>
          </a:prstGeom>
          <a:solidFill>
            <a:srgbClr val="2E9E6A"/>
          </a:solidFill>
          <a:ln w="9525">
            <a:solidFill>
              <a:srgbClr val="2E9E6A"/>
            </a:solidFill>
            <a:prstDash val="solid"/>
          </a:ln>
        </p:spPr>
      </p:sp>
      <p:sp>
        <p:nvSpPr>
          <p:cNvPr id="57" name="Text 54"/>
          <p:cNvSpPr txBox="1"/>
          <p:nvPr/>
        </p:nvSpPr>
        <p:spPr>
          <a:xfrm>
            <a:off x="6556248" y="523951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a:t>
            </a:r>
            <a:pPr indent="0" marL="0">
              <a:buNone/>
            </a:pPr>
            <a:r>
              <a:rPr lang="en-US" sz="1400" b="1" dirty="0">
                <a:solidFill>
                  <a:srgbClr val="FFFFFF"/>
                </a:solidFill>
                <a:latin typeface="Calibri" pitchFamily="34" charset="0"/>
                <a:ea typeface="Calibri" pitchFamily="34" charset="-122"/>
                <a:cs typeface="Calibri" pitchFamily="34" charset="-120"/>
              </a:rPr>
              <a:t>do-while</a:t>
            </a:r>
            <a:endParaRPr lang="en-US" sz="1400" dirty="0"/>
          </a:p>
        </p:txBody>
      </p:sp>
      <p:sp>
        <p:nvSpPr>
          <p:cNvPr id="58" name="Shape 55"/>
          <p:cNvSpPr/>
          <p:nvPr/>
        </p:nvSpPr>
        <p:spPr>
          <a:xfrm>
            <a:off x="8983980" y="5239512"/>
            <a:ext cx="2400300" cy="365760"/>
          </a:xfrm>
          <a:prstGeom prst="roundRect">
            <a:avLst>
              <a:gd name="adj" fmla="val 20000"/>
            </a:avLst>
          </a:prstGeom>
          <a:solidFill>
            <a:srgbClr val="FFFFFF"/>
          </a:solidFill>
          <a:ln w="9525">
            <a:solidFill>
              <a:srgbClr val="D5DAE3"/>
            </a:solidFill>
            <a:prstDash val="solid"/>
          </a:ln>
        </p:spPr>
      </p:sp>
      <p:sp>
        <p:nvSpPr>
          <p:cNvPr id="59" name="Text 56"/>
          <p:cNvSpPr txBox="1"/>
          <p:nvPr/>
        </p:nvSpPr>
        <p:spPr>
          <a:xfrm>
            <a:off x="909370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none</a:t>
            </a:r>
            <a:endParaRPr lang="en-US" sz="1400" dirty="0"/>
          </a:p>
        </p:txBody>
      </p:sp>
      <p:sp>
        <p:nvSpPr>
          <p:cNvPr id="60" name="Text 57"/>
          <p:cNvSpPr txBox="1"/>
          <p:nvPr/>
        </p:nvSpPr>
        <p:spPr>
          <a:xfrm>
            <a:off x="6446520" y="5715000"/>
            <a:ext cx="4937760" cy="18288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do-while tests its condition after the body (post-test).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Q5 · OPERATORS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Eight Lines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4 min</a:t>
            </a:r>
            <a:endParaRPr lang="en-US" sz="1200" dirty="0"/>
          </a:p>
        </p:txBody>
      </p:sp>
      <p:sp>
        <p:nvSpPr>
          <p:cNvPr id="9" name="Shape 6"/>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a:t>
            </a:r>
            <a:endParaRPr lang="en-US" sz="1100" dirty="0"/>
          </a:p>
        </p:txBody>
      </p:sp>
      <p:sp>
        <p:nvSpPr>
          <p:cNvPr id="11" name="Text 8"/>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17</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 / b);</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 % b);</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)b);</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 + b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 % b);</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"Sum: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 + b);</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 &gt; b &amp;&amp; b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y =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$"{x} {y}"</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7223760" y="1645920"/>
            <a:ext cx="4434840" cy="4434840"/>
          </a:xfrm>
          <a:prstGeom prst="roundRect">
            <a:avLst>
              <a:gd name="adj" fmla="val 2474"/>
            </a:avLst>
          </a:prstGeom>
          <a:solidFill>
            <a:srgbClr val="EEF1F6"/>
          </a:solidFill>
          <a:ln w="12700">
            <a:solidFill>
              <a:srgbClr val="EEF1F6"/>
            </a:solidFill>
            <a:prstDash val="solid"/>
          </a:ln>
        </p:spPr>
      </p:sp>
      <p:sp>
        <p:nvSpPr>
          <p:cNvPr id="13" name="Text 10"/>
          <p:cNvSpPr txBox="1"/>
          <p:nvPr/>
        </p:nvSpPr>
        <p:spPr>
          <a:xfrm>
            <a:off x="7452360" y="1783080"/>
            <a:ext cx="393192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Your answer</a:t>
            </a:r>
            <a:endParaRPr lang="en-US" sz="1700" dirty="0"/>
          </a:p>
        </p:txBody>
      </p:sp>
      <p:sp>
        <p:nvSpPr>
          <p:cNvPr id="14" name="Text 11"/>
          <p:cNvSpPr txBox="1"/>
          <p:nvPr/>
        </p:nvSpPr>
        <p:spPr>
          <a:xfrm>
            <a:off x="7452360" y="22860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5" name="Shape 12"/>
          <p:cNvSpPr/>
          <p:nvPr/>
        </p:nvSpPr>
        <p:spPr>
          <a:xfrm>
            <a:off x="7818120" y="2633472"/>
            <a:ext cx="3566160" cy="0"/>
          </a:xfrm>
          <a:prstGeom prst="line">
            <a:avLst/>
          </a:prstGeom>
          <a:noFill/>
          <a:ln w="15875">
            <a:solidFill>
              <a:srgbClr val="D5DAE3"/>
            </a:solidFill>
            <a:prstDash val="solid"/>
          </a:ln>
        </p:spPr>
      </p:sp>
      <p:sp>
        <p:nvSpPr>
          <p:cNvPr id="16" name="Text 13"/>
          <p:cNvSpPr txBox="1"/>
          <p:nvPr/>
        </p:nvSpPr>
        <p:spPr>
          <a:xfrm>
            <a:off x="7452360" y="27432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7" name="Shape 14"/>
          <p:cNvSpPr/>
          <p:nvPr/>
        </p:nvSpPr>
        <p:spPr>
          <a:xfrm>
            <a:off x="7818120" y="3090672"/>
            <a:ext cx="3566160" cy="0"/>
          </a:xfrm>
          <a:prstGeom prst="line">
            <a:avLst/>
          </a:prstGeom>
          <a:noFill/>
          <a:ln w="15875">
            <a:solidFill>
              <a:srgbClr val="D5DAE3"/>
            </a:solidFill>
            <a:prstDash val="solid"/>
          </a:ln>
        </p:spPr>
      </p:sp>
      <p:sp>
        <p:nvSpPr>
          <p:cNvPr id="18" name="Text 15"/>
          <p:cNvSpPr txBox="1"/>
          <p:nvPr/>
        </p:nvSpPr>
        <p:spPr>
          <a:xfrm>
            <a:off x="7452360" y="32004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19" name="Shape 16"/>
          <p:cNvSpPr/>
          <p:nvPr/>
        </p:nvSpPr>
        <p:spPr>
          <a:xfrm>
            <a:off x="7818120" y="3547872"/>
            <a:ext cx="3566160" cy="0"/>
          </a:xfrm>
          <a:prstGeom prst="line">
            <a:avLst/>
          </a:prstGeom>
          <a:noFill/>
          <a:ln w="15875">
            <a:solidFill>
              <a:srgbClr val="D5DAE3"/>
            </a:solidFill>
            <a:prstDash val="solid"/>
          </a:ln>
        </p:spPr>
      </p:sp>
      <p:sp>
        <p:nvSpPr>
          <p:cNvPr id="20" name="Text 17"/>
          <p:cNvSpPr txBox="1"/>
          <p:nvPr/>
        </p:nvSpPr>
        <p:spPr>
          <a:xfrm>
            <a:off x="7452360" y="36576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1" name="Shape 18"/>
          <p:cNvSpPr/>
          <p:nvPr/>
        </p:nvSpPr>
        <p:spPr>
          <a:xfrm>
            <a:off x="7818120" y="4005072"/>
            <a:ext cx="3566160" cy="0"/>
          </a:xfrm>
          <a:prstGeom prst="line">
            <a:avLst/>
          </a:prstGeom>
          <a:noFill/>
          <a:ln w="15875">
            <a:solidFill>
              <a:srgbClr val="D5DAE3"/>
            </a:solidFill>
            <a:prstDash val="solid"/>
          </a:ln>
        </p:spPr>
      </p:sp>
      <p:sp>
        <p:nvSpPr>
          <p:cNvPr id="22" name="Text 19"/>
          <p:cNvSpPr txBox="1"/>
          <p:nvPr/>
        </p:nvSpPr>
        <p:spPr>
          <a:xfrm>
            <a:off x="7452360" y="41148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23" name="Shape 20"/>
          <p:cNvSpPr/>
          <p:nvPr/>
        </p:nvSpPr>
        <p:spPr>
          <a:xfrm>
            <a:off x="7818120" y="4462272"/>
            <a:ext cx="3566160" cy="0"/>
          </a:xfrm>
          <a:prstGeom prst="line">
            <a:avLst/>
          </a:prstGeom>
          <a:noFill/>
          <a:ln w="15875">
            <a:solidFill>
              <a:srgbClr val="D5DAE3"/>
            </a:solidFill>
            <a:prstDash val="solid"/>
          </a:ln>
        </p:spPr>
      </p:sp>
      <p:sp>
        <p:nvSpPr>
          <p:cNvPr id="24" name="Text 21"/>
          <p:cNvSpPr txBox="1"/>
          <p:nvPr/>
        </p:nvSpPr>
        <p:spPr>
          <a:xfrm>
            <a:off x="7452360" y="45720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6</a:t>
            </a:r>
            <a:endParaRPr lang="en-US" sz="1300" dirty="0"/>
          </a:p>
        </p:txBody>
      </p:sp>
      <p:sp>
        <p:nvSpPr>
          <p:cNvPr id="25" name="Shape 22"/>
          <p:cNvSpPr/>
          <p:nvPr/>
        </p:nvSpPr>
        <p:spPr>
          <a:xfrm>
            <a:off x="7818120" y="4919472"/>
            <a:ext cx="3566160" cy="0"/>
          </a:xfrm>
          <a:prstGeom prst="line">
            <a:avLst/>
          </a:prstGeom>
          <a:noFill/>
          <a:ln w="15875">
            <a:solidFill>
              <a:srgbClr val="D5DAE3"/>
            </a:solidFill>
            <a:prstDash val="solid"/>
          </a:ln>
        </p:spPr>
      </p:sp>
      <p:sp>
        <p:nvSpPr>
          <p:cNvPr id="26" name="Text 23"/>
          <p:cNvSpPr txBox="1"/>
          <p:nvPr/>
        </p:nvSpPr>
        <p:spPr>
          <a:xfrm>
            <a:off x="7452360" y="50292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7</a:t>
            </a:r>
            <a:endParaRPr lang="en-US" sz="1300" dirty="0"/>
          </a:p>
        </p:txBody>
      </p:sp>
      <p:sp>
        <p:nvSpPr>
          <p:cNvPr id="27" name="Shape 24"/>
          <p:cNvSpPr/>
          <p:nvPr/>
        </p:nvSpPr>
        <p:spPr>
          <a:xfrm>
            <a:off x="7818120" y="5376672"/>
            <a:ext cx="3566160" cy="0"/>
          </a:xfrm>
          <a:prstGeom prst="line">
            <a:avLst/>
          </a:prstGeom>
          <a:noFill/>
          <a:ln w="15875">
            <a:solidFill>
              <a:srgbClr val="D5DAE3"/>
            </a:solidFill>
            <a:prstDash val="solid"/>
          </a:ln>
        </p:spPr>
      </p:sp>
      <p:sp>
        <p:nvSpPr>
          <p:cNvPr id="28" name="Text 25"/>
          <p:cNvSpPr txBox="1"/>
          <p:nvPr/>
        </p:nvSpPr>
        <p:spPr>
          <a:xfrm>
            <a:off x="7452360" y="5486400"/>
            <a:ext cx="320040" cy="36576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8</a:t>
            </a:r>
            <a:endParaRPr lang="en-US" sz="1300" dirty="0"/>
          </a:p>
        </p:txBody>
      </p:sp>
      <p:sp>
        <p:nvSpPr>
          <p:cNvPr id="29" name="Shape 26"/>
          <p:cNvSpPr/>
          <p:nvPr/>
        </p:nvSpPr>
        <p:spPr>
          <a:xfrm>
            <a:off x="7818120" y="5833872"/>
            <a:ext cx="3566160" cy="0"/>
          </a:xfrm>
          <a:prstGeom prst="line">
            <a:avLst/>
          </a:prstGeom>
          <a:noFill/>
          <a:ln w="15875">
            <a:solidFill>
              <a:srgbClr val="D5DAE3"/>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457200"/>
                <a:gridCol w="1463040"/>
                <a:gridCol w="5303520"/>
              </a:tblGrid>
              <a:tr h="448056">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 int is integer division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17 = 3 · 5 + 2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double operand → real division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first: 17 + 10 − 1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keeps the sign of the left operand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Sum: 175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string + int → string, left to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true &amp;&amp; false; C# prints False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48056">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6 10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x++ gives 5 to the expression, then x =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8046720" y="1645920"/>
            <a:ext cx="3611880" cy="4069080"/>
          </a:xfrm>
          <a:prstGeom prst="roundRect">
            <a:avLst>
              <a:gd name="adj" fmla="val 2532"/>
            </a:avLst>
          </a:prstGeom>
          <a:solidFill>
            <a:srgbClr val="0B0F19"/>
          </a:solidFill>
          <a:ln w="12700">
            <a:solidFill>
              <a:srgbClr val="2A3654"/>
            </a:solidFill>
            <a:prstDash val="solid"/>
          </a:ln>
        </p:spPr>
      </p:sp>
      <p:sp>
        <p:nvSpPr>
          <p:cNvPr id="11" name="Shape 7"/>
          <p:cNvSpPr/>
          <p:nvPr/>
        </p:nvSpPr>
        <p:spPr>
          <a:xfrm>
            <a:off x="8229600" y="1773936"/>
            <a:ext cx="118872" cy="118872"/>
          </a:xfrm>
          <a:prstGeom prst="ellipse">
            <a:avLst/>
          </a:prstGeom>
          <a:solidFill>
            <a:srgbClr val="FF5F57"/>
          </a:solidFill>
          <a:ln w="12700">
            <a:solidFill>
              <a:srgbClr val="FF5F57"/>
            </a:solidFill>
            <a:prstDash val="solid"/>
          </a:ln>
        </p:spPr>
      </p:sp>
      <p:sp>
        <p:nvSpPr>
          <p:cNvPr id="12" name="Shape 8"/>
          <p:cNvSpPr/>
          <p:nvPr/>
        </p:nvSpPr>
        <p:spPr>
          <a:xfrm>
            <a:off x="8458200" y="1773936"/>
            <a:ext cx="118872" cy="118872"/>
          </a:xfrm>
          <a:prstGeom prst="ellipse">
            <a:avLst/>
          </a:prstGeom>
          <a:solidFill>
            <a:srgbClr val="FEBC2E"/>
          </a:solidFill>
          <a:ln w="12700">
            <a:solidFill>
              <a:srgbClr val="FEBC2E"/>
            </a:solidFill>
            <a:prstDash val="solid"/>
          </a:ln>
        </p:spPr>
      </p:sp>
      <p:sp>
        <p:nvSpPr>
          <p:cNvPr id="13" name="Shape 9"/>
          <p:cNvSpPr/>
          <p:nvPr/>
        </p:nvSpPr>
        <p:spPr>
          <a:xfrm>
            <a:off x="8686800" y="177393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896112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1"/>
          <p:cNvSpPr txBox="1"/>
          <p:nvPr/>
        </p:nvSpPr>
        <p:spPr>
          <a:xfrm>
            <a:off x="8275320" y="2029968"/>
            <a:ext cx="3154680" cy="356616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3</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3.4</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26</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Sum: 175</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False</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6 10</a:t>
            </a:r>
            <a:endParaRPr lang="en-US" sz="1500" dirty="0"/>
          </a:p>
        </p:txBody>
      </p:sp>
      <p:sp>
        <p:nvSpPr>
          <p:cNvPr id="16" name="Text 12"/>
          <p:cNvSpPr txBox="1"/>
          <p:nvPr/>
        </p:nvSpPr>
        <p:spPr>
          <a:xfrm>
            <a:off x="8046720" y="5760720"/>
            <a:ext cx="3611880" cy="3200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Real output of the code (08_01_PredictChecker).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Q6 · TRACE TABLE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the while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TRACE · 5 min</a:t>
            </a:r>
            <a:endParaRPr lang="en-US" sz="1200" dirty="0"/>
          </a:p>
        </p:txBody>
      </p:sp>
      <p:sp>
        <p:nvSpPr>
          <p:cNvPr id="9" name="Shape 6"/>
          <p:cNvSpPr/>
          <p:nvPr/>
        </p:nvSpPr>
        <p:spPr>
          <a:xfrm>
            <a:off x="548640" y="1645920"/>
            <a:ext cx="5760720" cy="3566160"/>
          </a:xfrm>
          <a:prstGeom prst="roundRect">
            <a:avLst>
              <a:gd name="adj" fmla="val 2564"/>
            </a:avLst>
          </a:prstGeom>
          <a:solidFill>
            <a:srgbClr val="0F1729"/>
          </a:solidFill>
          <a:ln w="12700">
            <a:solidFill>
              <a:srgbClr val="0F1729"/>
            </a:solidFill>
            <a:prstDash val="solid"/>
          </a:ln>
        </p:spPr>
      </p:sp>
      <p:sp>
        <p:nvSpPr>
          <p:cNvPr id="10" name="Text 7"/>
          <p:cNvSpPr txBox="1"/>
          <p:nvPr/>
        </p:nvSpPr>
        <p:spPr>
          <a:xfrm>
            <a:off x="777240" y="1810512"/>
            <a:ext cx="5303520" cy="3291840"/>
          </a:xfrm>
          <a:prstGeom prst="rect">
            <a:avLst/>
          </a:prstGeom>
          <a:noFill/>
          <a:ln/>
        </p:spPr>
        <p:txBody>
          <a:bodyPr wrap="square" lIns="0" tIns="0" rIns="0" bIns="0" rtlCol="0" anchor="t"/>
          <a:lstStyle/>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1230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rev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d =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rev = rev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d;</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count++;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$"{rev} {count}"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0" y="1645920"/>
          <a:ext cx="5074920" cy="914400"/>
        </p:xfrm>
        <a:graphic>
          <a:graphicData uri="http://schemas.openxmlformats.org/drawingml/2006/table">
            <a:tbl>
              <a:tblPr/>
              <a:tblGrid>
                <a:gridCol w="1051560"/>
                <a:gridCol w="914400"/>
                <a:gridCol w="1005840"/>
                <a:gridCol w="1097280"/>
                <a:gridCol w="1005840"/>
              </a:tblGrid>
              <a:tr h="50292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rev</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count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1230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gridSpan="4">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hMerge="1">
                  <a:tcPr/>
                </a:tc>
                <a:tc hMerge="1">
                  <a:tcPr/>
                </a:tc>
                <a:tc hMerge="1">
                  <a:tcPr/>
                </a:tc>
              </a:tr>
            </a:tbl>
          </a:graphicData>
        </a:graphic>
      </p:graphicFrame>
      <p:sp>
        <p:nvSpPr>
          <p:cNvPr id="12" name="Shape 8"/>
          <p:cNvSpPr/>
          <p:nvPr/>
        </p:nvSpPr>
        <p:spPr>
          <a:xfrm>
            <a:off x="548640" y="5394960"/>
            <a:ext cx="5760720" cy="685800"/>
          </a:xfrm>
          <a:prstGeom prst="roundRect">
            <a:avLst>
              <a:gd name="adj" fmla="val 16000"/>
            </a:avLst>
          </a:prstGeom>
          <a:solidFill>
            <a:srgbClr val="E3ECF8"/>
          </a:solidFill>
          <a:ln w="12700">
            <a:solidFill>
              <a:srgbClr val="E3ECF8"/>
            </a:solidFill>
            <a:prstDash val="solid"/>
          </a:ln>
        </p:spPr>
      </p:sp>
      <p:pic>
        <p:nvPicPr>
          <p:cNvPr id="13" name="Image 0" descr="preencoded.png">    </p:cNvPr>
          <p:cNvPicPr>
            <a:picLocks noChangeAspect="1"/>
          </p:cNvPicPr>
          <p:nvPr/>
        </p:nvPicPr>
        <p:blipFill>
          <a:blip r:embed="rId1"/>
          <a:stretch>
            <a:fillRect/>
          </a:stretch>
        </p:blipFill>
        <p:spPr>
          <a:xfrm>
            <a:off x="822960" y="5532120"/>
            <a:ext cx="411480" cy="411480"/>
          </a:xfrm>
          <a:prstGeom prst="rect">
            <a:avLst/>
          </a:prstGeom>
        </p:spPr>
      </p:pic>
      <p:sp>
        <p:nvSpPr>
          <p:cNvPr id="14" name="Text 9"/>
          <p:cNvSpPr txBox="1"/>
          <p:nvPr/>
        </p:nvSpPr>
        <p:spPr>
          <a:xfrm>
            <a:off x="1508760" y="5468112"/>
            <a:ext cx="4526280" cy="5394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How many times is n &gt; 0 tested?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Q6</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the while Loop: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5760720" cy="3566160"/>
          </a:xfrm>
          <a:prstGeom prst="roundRect">
            <a:avLst>
              <a:gd name="adj" fmla="val 2564"/>
            </a:avLst>
          </a:prstGeom>
          <a:solidFill>
            <a:srgbClr val="0F1729"/>
          </a:solidFill>
          <a:ln w="12700">
            <a:solidFill>
              <a:srgbClr val="0F1729"/>
            </a:solidFill>
            <a:prstDash val="solid"/>
          </a:ln>
        </p:spPr>
      </p:sp>
      <p:sp>
        <p:nvSpPr>
          <p:cNvPr id="10" name="Text 7"/>
          <p:cNvSpPr txBox="1"/>
          <p:nvPr/>
        </p:nvSpPr>
        <p:spPr>
          <a:xfrm>
            <a:off x="777240" y="1810512"/>
            <a:ext cx="5303520" cy="3291840"/>
          </a:xfrm>
          <a:prstGeom prst="rect">
            <a:avLst/>
          </a:prstGeom>
          <a:noFill/>
          <a:ln/>
        </p:spPr>
        <p:txBody>
          <a:bodyPr wrap="square" lIns="0" tIns="0" rIns="0" bIns="0" rtlCol="0" anchor="t"/>
          <a:lstStyle/>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1230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rev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d =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rev = rev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d;</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count++;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$"{rev} {count}"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583680" y="1645920"/>
          <a:ext cx="5074920" cy="914400"/>
        </p:xfrm>
        <a:graphic>
          <a:graphicData uri="http://schemas.openxmlformats.org/drawingml/2006/table">
            <a:tbl>
              <a:tblPr/>
              <a:tblGrid>
                <a:gridCol w="1051560"/>
                <a:gridCol w="914400"/>
                <a:gridCol w="1005840"/>
                <a:gridCol w="1097280"/>
                <a:gridCol w="1005840"/>
              </a:tblGrid>
              <a:tr h="50292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rev</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count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1230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321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gridSpan="4">
                  <a:txBody>
                    <a:bodyPr/>
                    <a:lstStyle/>
                    <a:p>
                      <a:pPr algn="ctr" indent="0" marL="0">
                        <a:buNone/>
                      </a:pPr>
                      <a:r>
                        <a:rPr lang="en-US" sz="1500" b="1" dirty="0">
                          <a:solidFill>
                            <a:srgbClr val="1F7A50"/>
                          </a:solidFill>
                          <a:latin typeface="Courier New" pitchFamily="34" charset="0"/>
                          <a:ea typeface="Courier New" pitchFamily="34" charset="-122"/>
                          <a:cs typeface="Courier New" pitchFamily="34" charset="-120"/>
                        </a:rPr>
                        <a:t>321 4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hMerge="1">
                  <a:tcPr/>
                </a:tc>
                <a:tc hMerge="1">
                  <a:tcPr/>
                </a:tc>
                <a:tc hMerge="1">
                  <a:tcPr/>
                </a:tc>
              </a:tr>
            </a:tbl>
          </a:graphicData>
        </a:graphic>
      </p:graphicFrame>
      <p:sp>
        <p:nvSpPr>
          <p:cNvPr id="12" name="Shape 8"/>
          <p:cNvSpPr/>
          <p:nvPr/>
        </p:nvSpPr>
        <p:spPr>
          <a:xfrm>
            <a:off x="548640" y="5394960"/>
            <a:ext cx="11109960" cy="685800"/>
          </a:xfrm>
          <a:prstGeom prst="roundRect">
            <a:avLst>
              <a:gd name="adj" fmla="val 16000"/>
            </a:avLst>
          </a:prstGeom>
          <a:solidFill>
            <a:srgbClr val="E6F4EC"/>
          </a:solidFill>
          <a:ln w="12700">
            <a:solidFill>
              <a:srgbClr val="E6F4EC"/>
            </a:solidFill>
            <a:prstDash val="solid"/>
          </a:ln>
        </p:spPr>
      </p:sp>
      <p:pic>
        <p:nvPicPr>
          <p:cNvPr id="13" name="Image 0" descr="preencoded.png">    </p:cNvPr>
          <p:cNvPicPr>
            <a:picLocks noChangeAspect="1"/>
          </p:cNvPicPr>
          <p:nvPr/>
        </p:nvPicPr>
        <p:blipFill>
          <a:blip r:embed="rId1"/>
          <a:stretch>
            <a:fillRect/>
          </a:stretch>
        </p:blipFill>
        <p:spPr>
          <a:xfrm>
            <a:off x="822960" y="5532120"/>
            <a:ext cx="411480" cy="411480"/>
          </a:xfrm>
          <a:prstGeom prst="rect">
            <a:avLst/>
          </a:prstGeom>
        </p:spPr>
      </p:pic>
      <p:sp>
        <p:nvSpPr>
          <p:cNvPr id="14" name="Text 9"/>
          <p:cNvSpPr txBox="1"/>
          <p:nvPr/>
        </p:nvSpPr>
        <p:spPr>
          <a:xfrm>
            <a:off x="1508760" y="5468112"/>
            <a:ext cx="9875520" cy="5394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 &gt; 0 is tested 5 times </a:t>
            </a:r>
            <a:pPr indent="0" marL="0">
              <a:buNone/>
            </a:pPr>
            <a:r>
              <a:rPr lang="en-US" sz="1400" dirty="0">
                <a:solidFill>
                  <a:srgbClr val="333B4F"/>
                </a:solidFill>
                <a:latin typeface="Calibri" pitchFamily="34" charset="0"/>
                <a:ea typeface="Calibri" pitchFamily="34" charset="-122"/>
                <a:cs typeface="Calibri" pitchFamily="34" charset="-120"/>
              </a:rPr>
              <a:t>(4 × true, then false when n = 0). The trailing 0 of 1230 becomes a leading 0: 321, not 0321.</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Q7 · SELECTION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Decisions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3 min</a:t>
            </a:r>
            <a:endParaRPr lang="en-US" sz="1200" dirty="0"/>
          </a:p>
        </p:txBody>
      </p:sp>
      <p:sp>
        <p:nvSpPr>
          <p:cNvPr id="9" name="Shape 6"/>
          <p:cNvSpPr/>
          <p:nvPr/>
        </p:nvSpPr>
        <p:spPr>
          <a:xfrm>
            <a:off x="548640" y="1645920"/>
            <a:ext cx="3931920" cy="4434840"/>
          </a:xfrm>
          <a:prstGeom prst="roundRect">
            <a:avLst>
              <a:gd name="adj" fmla="val 2326"/>
            </a:avLst>
          </a:prstGeom>
          <a:solidFill>
            <a:srgbClr val="0F1729"/>
          </a:solidFill>
          <a:ln w="12700">
            <a:solidFill>
              <a:srgbClr val="0F1729"/>
            </a:solidFill>
            <a:prstDash val="solid"/>
          </a:ln>
        </p:spPr>
      </p:sp>
      <p:sp>
        <p:nvSpPr>
          <p:cNvPr id="10" name="Text 7"/>
          <p:cNvSpPr txBox="1"/>
          <p:nvPr/>
        </p:nvSpPr>
        <p:spPr>
          <a:xfrm>
            <a:off x="777240" y="1755648"/>
            <a:ext cx="34747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a:t>
            </a:r>
            <a:endParaRPr lang="en-US" sz="1100" dirty="0"/>
          </a:p>
        </p:txBody>
      </p:sp>
      <p:sp>
        <p:nvSpPr>
          <p:cNvPr id="11" name="Text 8"/>
          <p:cNvSpPr txBox="1"/>
          <p:nvPr/>
        </p:nvSpPr>
        <p:spPr>
          <a:xfrm>
            <a:off x="777240" y="2057400"/>
            <a:ext cx="347472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4663440" y="1645920"/>
            <a:ext cx="4206240" cy="4434840"/>
          </a:xfrm>
          <a:prstGeom prst="roundRect">
            <a:avLst>
              <a:gd name="adj" fmla="val 2174"/>
            </a:avLst>
          </a:prstGeom>
          <a:solidFill>
            <a:srgbClr val="0F1729"/>
          </a:solidFill>
          <a:ln w="12700">
            <a:solidFill>
              <a:srgbClr val="0F1729"/>
            </a:solidFill>
            <a:prstDash val="solid"/>
          </a:ln>
        </p:spPr>
      </p:sp>
      <p:sp>
        <p:nvSpPr>
          <p:cNvPr id="13" name="Text 10"/>
          <p:cNvSpPr txBox="1"/>
          <p:nvPr/>
        </p:nvSpPr>
        <p:spPr>
          <a:xfrm>
            <a:off x="4892040" y="1755648"/>
            <a:ext cx="37490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a:t>
            </a:r>
            <a:endParaRPr lang="en-US" sz="1100" dirty="0"/>
          </a:p>
        </p:txBody>
      </p:sp>
      <p:sp>
        <p:nvSpPr>
          <p:cNvPr id="14" name="Text 11"/>
          <p:cNvSpPr txBox="1"/>
          <p:nvPr/>
        </p:nvSpPr>
        <p:spPr>
          <a:xfrm>
            <a:off x="4892040" y="2057400"/>
            <a:ext cx="37490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switch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"Weekend"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default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"Weekday"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9052560" y="1645920"/>
            <a:ext cx="2606040" cy="2011680"/>
          </a:xfrm>
          <a:prstGeom prst="roundRect">
            <a:avLst>
              <a:gd name="adj" fmla="val 4545"/>
            </a:avLst>
          </a:prstGeom>
          <a:solidFill>
            <a:srgbClr val="0F1729"/>
          </a:solidFill>
          <a:ln w="12700">
            <a:solidFill>
              <a:srgbClr val="0F1729"/>
            </a:solidFill>
            <a:prstDash val="solid"/>
          </a:ln>
        </p:spPr>
      </p:sp>
      <p:sp>
        <p:nvSpPr>
          <p:cNvPr id="16" name="Text 13"/>
          <p:cNvSpPr txBox="1"/>
          <p:nvPr/>
        </p:nvSpPr>
        <p:spPr>
          <a:xfrm>
            <a:off x="9281160" y="1755648"/>
            <a:ext cx="2148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t>
            </a:r>
            <a:endParaRPr lang="en-US" sz="1100" dirty="0"/>
          </a:p>
        </p:txBody>
      </p:sp>
      <p:sp>
        <p:nvSpPr>
          <p:cNvPr id="17" name="Text 14"/>
          <p:cNvSpPr txBox="1"/>
          <p:nvPr/>
        </p:nvSpPr>
        <p:spPr>
          <a:xfrm>
            <a:off x="9281160" y="2057400"/>
            <a:ext cx="2148840" cy="1490472"/>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 same score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"even"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"odd"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8" name="Shape 15"/>
          <p:cNvSpPr/>
          <p:nvPr/>
        </p:nvSpPr>
        <p:spPr>
          <a:xfrm>
            <a:off x="9052560" y="3840480"/>
            <a:ext cx="2606040" cy="2240280"/>
          </a:xfrm>
          <a:prstGeom prst="roundRect">
            <a:avLst>
              <a:gd name="adj" fmla="val 4898"/>
            </a:avLst>
          </a:prstGeom>
          <a:solidFill>
            <a:srgbClr val="E3ECF8"/>
          </a:solidFill>
          <a:ln w="12700">
            <a:solidFill>
              <a:srgbClr val="E3ECF8"/>
            </a:solidFill>
            <a:prstDash val="solid"/>
          </a:ln>
        </p:spPr>
      </p:sp>
      <p:pic>
        <p:nvPicPr>
          <p:cNvPr id="19" name="Image 0" descr="preencoded.png">    </p:cNvPr>
          <p:cNvPicPr>
            <a:picLocks noChangeAspect="1"/>
          </p:cNvPicPr>
          <p:nvPr/>
        </p:nvPicPr>
        <p:blipFill>
          <a:blip r:embed="rId1"/>
          <a:stretch>
            <a:fillRect/>
          </a:stretch>
        </p:blipFill>
        <p:spPr>
          <a:xfrm>
            <a:off x="9326880" y="4686300"/>
            <a:ext cx="548640" cy="548640"/>
          </a:xfrm>
          <a:prstGeom prst="rect">
            <a:avLst/>
          </a:prstGeom>
        </p:spPr>
      </p:pic>
      <p:sp>
        <p:nvSpPr>
          <p:cNvPr id="20" name="Text 16"/>
          <p:cNvSpPr txBox="1"/>
          <p:nvPr/>
        </p:nvSpPr>
        <p:spPr>
          <a:xfrm>
            <a:off x="10149840" y="3913632"/>
            <a:ext cx="1234440" cy="209397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Is the "BA" line reachable for any score?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Q7</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Decisions,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3566160" cy="1188720"/>
          </a:xfrm>
          <a:prstGeom prst="roundRect">
            <a:avLst>
              <a:gd name="adj" fmla="val 7692"/>
            </a:avLst>
          </a:prstGeom>
          <a:solidFill>
            <a:srgbClr val="0B0F19"/>
          </a:solidFill>
          <a:ln w="12700">
            <a:solidFill>
              <a:srgbClr val="2A3654"/>
            </a:solidFill>
            <a:prstDash val="solid"/>
          </a:ln>
        </p:spPr>
      </p:sp>
      <p:sp>
        <p:nvSpPr>
          <p:cNvPr id="10" name="Shape 7"/>
          <p:cNvSpPr/>
          <p:nvPr/>
        </p:nvSpPr>
        <p:spPr>
          <a:xfrm>
            <a:off x="73152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96012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118872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1463040" y="1719072"/>
            <a:ext cx="2468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(a)</a:t>
            </a:r>
            <a:endParaRPr lang="en-US" sz="1000" dirty="0"/>
          </a:p>
        </p:txBody>
      </p:sp>
      <p:sp>
        <p:nvSpPr>
          <p:cNvPr id="14" name="Text 11"/>
          <p:cNvSpPr txBox="1"/>
          <p:nvPr/>
        </p:nvSpPr>
        <p:spPr>
          <a:xfrm>
            <a:off x="777240" y="2029968"/>
            <a:ext cx="3108960" cy="685800"/>
          </a:xfrm>
          <a:prstGeom prst="rect">
            <a:avLst/>
          </a:prstGeom>
          <a:noFill/>
          <a:ln/>
        </p:spPr>
        <p:txBody>
          <a:bodyPr wrap="square" lIns="0" tIns="0" rIns="0" bIns="0" rtlCol="0" anchor="t"/>
          <a:lstStyle/>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DD</a:t>
            </a:r>
            <a:endParaRPr lang="en-US" sz="1600" dirty="0"/>
          </a:p>
        </p:txBody>
      </p:sp>
      <p:sp>
        <p:nvSpPr>
          <p:cNvPr id="15" name="Shape 12"/>
          <p:cNvSpPr/>
          <p:nvPr/>
        </p:nvSpPr>
        <p:spPr>
          <a:xfrm>
            <a:off x="4315968" y="1645920"/>
            <a:ext cx="3566160" cy="1188720"/>
          </a:xfrm>
          <a:prstGeom prst="roundRect">
            <a:avLst>
              <a:gd name="adj" fmla="val 7692"/>
            </a:avLst>
          </a:prstGeom>
          <a:solidFill>
            <a:srgbClr val="0B0F19"/>
          </a:solidFill>
          <a:ln w="12700">
            <a:solidFill>
              <a:srgbClr val="2A3654"/>
            </a:solidFill>
            <a:prstDash val="solid"/>
          </a:ln>
        </p:spPr>
      </p:sp>
      <p:sp>
        <p:nvSpPr>
          <p:cNvPr id="16" name="Shape 13"/>
          <p:cNvSpPr/>
          <p:nvPr/>
        </p:nvSpPr>
        <p:spPr>
          <a:xfrm>
            <a:off x="4498848" y="1773936"/>
            <a:ext cx="118872" cy="118872"/>
          </a:xfrm>
          <a:prstGeom prst="ellipse">
            <a:avLst/>
          </a:prstGeom>
          <a:solidFill>
            <a:srgbClr val="FF5F57"/>
          </a:solidFill>
          <a:ln w="12700">
            <a:solidFill>
              <a:srgbClr val="FF5F57"/>
            </a:solidFill>
            <a:prstDash val="solid"/>
          </a:ln>
        </p:spPr>
      </p:sp>
      <p:sp>
        <p:nvSpPr>
          <p:cNvPr id="17" name="Shape 14"/>
          <p:cNvSpPr/>
          <p:nvPr/>
        </p:nvSpPr>
        <p:spPr>
          <a:xfrm>
            <a:off x="4727448" y="1773936"/>
            <a:ext cx="118872" cy="118872"/>
          </a:xfrm>
          <a:prstGeom prst="ellipse">
            <a:avLst/>
          </a:prstGeom>
          <a:solidFill>
            <a:srgbClr val="FEBC2E"/>
          </a:solidFill>
          <a:ln w="12700">
            <a:solidFill>
              <a:srgbClr val="FEBC2E"/>
            </a:solidFill>
            <a:prstDash val="solid"/>
          </a:ln>
        </p:spPr>
      </p:sp>
      <p:sp>
        <p:nvSpPr>
          <p:cNvPr id="18" name="Shape 15"/>
          <p:cNvSpPr/>
          <p:nvPr/>
        </p:nvSpPr>
        <p:spPr>
          <a:xfrm>
            <a:off x="4956048" y="1773936"/>
            <a:ext cx="118872" cy="118872"/>
          </a:xfrm>
          <a:prstGeom prst="ellipse">
            <a:avLst/>
          </a:prstGeom>
          <a:solidFill>
            <a:srgbClr val="28C840"/>
          </a:solidFill>
          <a:ln w="12700">
            <a:solidFill>
              <a:srgbClr val="28C840"/>
            </a:solidFill>
            <a:prstDash val="solid"/>
          </a:ln>
        </p:spPr>
      </p:sp>
      <p:sp>
        <p:nvSpPr>
          <p:cNvPr id="19" name="Text 16"/>
          <p:cNvSpPr txBox="1"/>
          <p:nvPr/>
        </p:nvSpPr>
        <p:spPr>
          <a:xfrm>
            <a:off x="5230368" y="1719072"/>
            <a:ext cx="2468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a:t>
            </a:r>
            <a:endParaRPr lang="en-US" sz="1000" dirty="0"/>
          </a:p>
        </p:txBody>
      </p:sp>
      <p:sp>
        <p:nvSpPr>
          <p:cNvPr id="20" name="Text 17"/>
          <p:cNvSpPr txBox="1"/>
          <p:nvPr/>
        </p:nvSpPr>
        <p:spPr>
          <a:xfrm>
            <a:off x="4544568" y="2029968"/>
            <a:ext cx="3108960" cy="685800"/>
          </a:xfrm>
          <a:prstGeom prst="rect">
            <a:avLst/>
          </a:prstGeom>
          <a:noFill/>
          <a:ln/>
        </p:spPr>
        <p:txBody>
          <a:bodyPr wrap="square" lIns="0" tIns="0" rIns="0" bIns="0" rtlCol="0" anchor="t"/>
          <a:lstStyle/>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Weekend</a:t>
            </a:r>
            <a:endParaRPr lang="en-US" sz="1600" dirty="0"/>
          </a:p>
        </p:txBody>
      </p:sp>
      <p:sp>
        <p:nvSpPr>
          <p:cNvPr id="21" name="Shape 18"/>
          <p:cNvSpPr/>
          <p:nvPr/>
        </p:nvSpPr>
        <p:spPr>
          <a:xfrm>
            <a:off x="8092440" y="1645920"/>
            <a:ext cx="3566160" cy="1188720"/>
          </a:xfrm>
          <a:prstGeom prst="roundRect">
            <a:avLst>
              <a:gd name="adj" fmla="val 7692"/>
            </a:avLst>
          </a:prstGeom>
          <a:solidFill>
            <a:srgbClr val="0B0F19"/>
          </a:solidFill>
          <a:ln w="12700">
            <a:solidFill>
              <a:srgbClr val="2A3654"/>
            </a:solidFill>
            <a:prstDash val="solid"/>
          </a:ln>
        </p:spPr>
      </p:sp>
      <p:sp>
        <p:nvSpPr>
          <p:cNvPr id="22" name="Shape 19"/>
          <p:cNvSpPr/>
          <p:nvPr/>
        </p:nvSpPr>
        <p:spPr>
          <a:xfrm>
            <a:off x="8275320" y="1773936"/>
            <a:ext cx="118872" cy="118872"/>
          </a:xfrm>
          <a:prstGeom prst="ellipse">
            <a:avLst/>
          </a:prstGeom>
          <a:solidFill>
            <a:srgbClr val="FF5F57"/>
          </a:solidFill>
          <a:ln w="12700">
            <a:solidFill>
              <a:srgbClr val="FF5F57"/>
            </a:solidFill>
            <a:prstDash val="solid"/>
          </a:ln>
        </p:spPr>
      </p:sp>
      <p:sp>
        <p:nvSpPr>
          <p:cNvPr id="23" name="Shape 20"/>
          <p:cNvSpPr/>
          <p:nvPr/>
        </p:nvSpPr>
        <p:spPr>
          <a:xfrm>
            <a:off x="8503920" y="1773936"/>
            <a:ext cx="118872" cy="118872"/>
          </a:xfrm>
          <a:prstGeom prst="ellipse">
            <a:avLst/>
          </a:prstGeom>
          <a:solidFill>
            <a:srgbClr val="FEBC2E"/>
          </a:solidFill>
          <a:ln w="12700">
            <a:solidFill>
              <a:srgbClr val="FEBC2E"/>
            </a:solidFill>
            <a:prstDash val="solid"/>
          </a:ln>
        </p:spPr>
      </p:sp>
      <p:sp>
        <p:nvSpPr>
          <p:cNvPr id="24" name="Shape 21"/>
          <p:cNvSpPr/>
          <p:nvPr/>
        </p:nvSpPr>
        <p:spPr>
          <a:xfrm>
            <a:off x="8732520" y="1773936"/>
            <a:ext cx="118872" cy="118872"/>
          </a:xfrm>
          <a:prstGeom prst="ellipse">
            <a:avLst/>
          </a:prstGeom>
          <a:solidFill>
            <a:srgbClr val="28C840"/>
          </a:solidFill>
          <a:ln w="12700">
            <a:solidFill>
              <a:srgbClr val="28C840"/>
            </a:solidFill>
            <a:prstDash val="solid"/>
          </a:ln>
        </p:spPr>
      </p:sp>
      <p:sp>
        <p:nvSpPr>
          <p:cNvPr id="25" name="Text 22"/>
          <p:cNvSpPr txBox="1"/>
          <p:nvPr/>
        </p:nvSpPr>
        <p:spPr>
          <a:xfrm>
            <a:off x="9006840" y="1719072"/>
            <a:ext cx="2468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a:t>
            </a:r>
            <a:endParaRPr lang="en-US" sz="1000" dirty="0"/>
          </a:p>
        </p:txBody>
      </p:sp>
      <p:sp>
        <p:nvSpPr>
          <p:cNvPr id="26" name="Text 23"/>
          <p:cNvSpPr txBox="1"/>
          <p:nvPr/>
        </p:nvSpPr>
        <p:spPr>
          <a:xfrm>
            <a:off x="8321040" y="2029968"/>
            <a:ext cx="3108960" cy="685800"/>
          </a:xfrm>
          <a:prstGeom prst="rect">
            <a:avLst/>
          </a:prstGeom>
          <a:noFill/>
          <a:ln/>
        </p:spPr>
        <p:txBody>
          <a:bodyPr wrap="square" lIns="0" tIns="0" rIns="0" bIns="0" rtlCol="0" anchor="t"/>
          <a:lstStyle/>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odd</a:t>
            </a:r>
            <a:endParaRPr lang="en-US" sz="1600" dirty="0"/>
          </a:p>
        </p:txBody>
      </p:sp>
      <p:sp>
        <p:nvSpPr>
          <p:cNvPr id="27" name="Shape 24"/>
          <p:cNvSpPr/>
          <p:nvPr/>
        </p:nvSpPr>
        <p:spPr>
          <a:xfrm>
            <a:off x="548640" y="3063240"/>
            <a:ext cx="3566160" cy="2103120"/>
          </a:xfrm>
          <a:prstGeom prst="roundRect">
            <a:avLst>
              <a:gd name="adj" fmla="val 5217"/>
            </a:avLst>
          </a:prstGeom>
          <a:solidFill>
            <a:srgbClr val="FBE9E7"/>
          </a:solidFill>
          <a:ln w="12700">
            <a:solidFill>
              <a:srgbClr val="FBE9E7"/>
            </a:solidFill>
            <a:prstDash val="solid"/>
          </a:ln>
        </p:spPr>
      </p:sp>
      <p:sp>
        <p:nvSpPr>
          <p:cNvPr id="28" name="Shape 25"/>
          <p:cNvSpPr/>
          <p:nvPr/>
        </p:nvSpPr>
        <p:spPr>
          <a:xfrm>
            <a:off x="777240" y="3291840"/>
            <a:ext cx="566928" cy="566928"/>
          </a:xfrm>
          <a:prstGeom prst="ellipse">
            <a:avLst/>
          </a:prstGeom>
          <a:solidFill>
            <a:srgbClr val="C8453B"/>
          </a:solidFill>
          <a:ln w="12700">
            <a:solidFill>
              <a:srgbClr val="C8453B"/>
            </a:solidFill>
            <a:prstDash val="solid"/>
          </a:ln>
        </p:spPr>
      </p:sp>
      <p:pic>
        <p:nvPicPr>
          <p:cNvPr id="29" name="Image 0" descr="preencoded.png">    </p:cNvPr>
          <p:cNvPicPr>
            <a:picLocks noChangeAspect="1"/>
          </p:cNvPicPr>
          <p:nvPr/>
        </p:nvPicPr>
        <p:blipFill>
          <a:blip r:embed="rId1"/>
          <a:stretch>
            <a:fillRect/>
          </a:stretch>
        </p:blipFill>
        <p:spPr>
          <a:xfrm>
            <a:off x="924641" y="3439241"/>
            <a:ext cx="272125" cy="272125"/>
          </a:xfrm>
          <a:prstGeom prst="rect">
            <a:avLst/>
          </a:prstGeom>
        </p:spPr>
      </p:pic>
      <p:sp>
        <p:nvSpPr>
          <p:cNvPr id="30" name="Text 26"/>
          <p:cNvSpPr txBox="1"/>
          <p:nvPr/>
        </p:nvSpPr>
        <p:spPr>
          <a:xfrm>
            <a:off x="1463040" y="329184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 Order!</a:t>
            </a:r>
            <a:endParaRPr lang="en-US" sz="1700" dirty="0"/>
          </a:p>
        </p:txBody>
      </p:sp>
      <p:sp>
        <p:nvSpPr>
          <p:cNvPr id="31" name="Text 27"/>
          <p:cNvSpPr txBox="1"/>
          <p:nvPr/>
        </p:nvSpPr>
        <p:spPr>
          <a:xfrm>
            <a:off x="777240" y="397764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Only the FIRST true branch runs. 85 ≥ 50 already, so "BA" is never reached, for any score. Put ≥ 85 before ≥ 50.</a:t>
            </a:r>
            <a:endParaRPr lang="en-US" sz="1400" dirty="0"/>
          </a:p>
        </p:txBody>
      </p:sp>
      <p:sp>
        <p:nvSpPr>
          <p:cNvPr id="32" name="Shape 28"/>
          <p:cNvSpPr/>
          <p:nvPr/>
        </p:nvSpPr>
        <p:spPr>
          <a:xfrm>
            <a:off x="4315968" y="3063240"/>
            <a:ext cx="3566160" cy="2103120"/>
          </a:xfrm>
          <a:prstGeom prst="roundRect">
            <a:avLst>
              <a:gd name="adj" fmla="val 5217"/>
            </a:avLst>
          </a:prstGeom>
          <a:solidFill>
            <a:srgbClr val="E3ECF8"/>
          </a:solidFill>
          <a:ln w="12700">
            <a:solidFill>
              <a:srgbClr val="E3ECF8"/>
            </a:solidFill>
            <a:prstDash val="solid"/>
          </a:ln>
        </p:spPr>
      </p:sp>
      <p:sp>
        <p:nvSpPr>
          <p:cNvPr id="33" name="Shape 29"/>
          <p:cNvSpPr/>
          <p:nvPr/>
        </p:nvSpPr>
        <p:spPr>
          <a:xfrm>
            <a:off x="4544568" y="3291840"/>
            <a:ext cx="566928" cy="566928"/>
          </a:xfrm>
          <a:prstGeom prst="ellipse">
            <a:avLst/>
          </a:prstGeom>
          <a:solidFill>
            <a:srgbClr val="2F6FB3"/>
          </a:solidFill>
          <a:ln w="12700">
            <a:solidFill>
              <a:srgbClr val="2F6FB3"/>
            </a:solidFill>
            <a:prstDash val="solid"/>
          </a:ln>
        </p:spPr>
      </p:sp>
      <p:pic>
        <p:nvPicPr>
          <p:cNvPr id="34" name="Image 1" descr="preencoded.png">    </p:cNvPr>
          <p:cNvPicPr>
            <a:picLocks noChangeAspect="1"/>
          </p:cNvPicPr>
          <p:nvPr/>
        </p:nvPicPr>
        <p:blipFill>
          <a:blip r:embed="rId2"/>
          <a:stretch>
            <a:fillRect/>
          </a:stretch>
        </p:blipFill>
        <p:spPr>
          <a:xfrm>
            <a:off x="4691969" y="3439241"/>
            <a:ext cx="272125" cy="272125"/>
          </a:xfrm>
          <a:prstGeom prst="rect">
            <a:avLst/>
          </a:prstGeom>
        </p:spPr>
      </p:pic>
      <p:sp>
        <p:nvSpPr>
          <p:cNvPr id="35" name="Text 30"/>
          <p:cNvSpPr txBox="1"/>
          <p:nvPr/>
        </p:nvSpPr>
        <p:spPr>
          <a:xfrm>
            <a:off x="5230368" y="329184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 Grouped labels</a:t>
            </a:r>
            <a:endParaRPr lang="en-US" sz="1700" dirty="0"/>
          </a:p>
        </p:txBody>
      </p:sp>
      <p:sp>
        <p:nvSpPr>
          <p:cNvPr id="36" name="Text 31"/>
          <p:cNvSpPr txBox="1"/>
          <p:nvPr/>
        </p:nvSpPr>
        <p:spPr>
          <a:xfrm>
            <a:off x="4544568" y="397764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case 6: and case 7: share one body. No fall-through in C#: each body ends with break.</a:t>
            </a:r>
            <a:endParaRPr lang="en-US" sz="1400" dirty="0"/>
          </a:p>
        </p:txBody>
      </p:sp>
      <p:sp>
        <p:nvSpPr>
          <p:cNvPr id="37" name="Shape 32"/>
          <p:cNvSpPr/>
          <p:nvPr/>
        </p:nvSpPr>
        <p:spPr>
          <a:xfrm>
            <a:off x="8092440" y="3063240"/>
            <a:ext cx="3566160" cy="2103120"/>
          </a:xfrm>
          <a:prstGeom prst="roundRect">
            <a:avLst>
              <a:gd name="adj" fmla="val 5217"/>
            </a:avLst>
          </a:prstGeom>
          <a:solidFill>
            <a:srgbClr val="E6F4EC"/>
          </a:solidFill>
          <a:ln w="12700">
            <a:solidFill>
              <a:srgbClr val="E6F4EC"/>
            </a:solidFill>
            <a:prstDash val="solid"/>
          </a:ln>
        </p:spPr>
      </p:sp>
      <p:sp>
        <p:nvSpPr>
          <p:cNvPr id="38" name="Shape 33"/>
          <p:cNvSpPr/>
          <p:nvPr/>
        </p:nvSpPr>
        <p:spPr>
          <a:xfrm>
            <a:off x="8321040" y="3291840"/>
            <a:ext cx="566928" cy="566928"/>
          </a:xfrm>
          <a:prstGeom prst="ellipse">
            <a:avLst/>
          </a:prstGeom>
          <a:solidFill>
            <a:srgbClr val="2E9E6A"/>
          </a:solidFill>
          <a:ln w="12700">
            <a:solidFill>
              <a:srgbClr val="2E9E6A"/>
            </a:solidFill>
            <a:prstDash val="solid"/>
          </a:ln>
        </p:spPr>
      </p:sp>
      <p:pic>
        <p:nvPicPr>
          <p:cNvPr id="39" name="Image 2" descr="preencoded.png">    </p:cNvPr>
          <p:cNvPicPr>
            <a:picLocks noChangeAspect="1"/>
          </p:cNvPicPr>
          <p:nvPr/>
        </p:nvPicPr>
        <p:blipFill>
          <a:blip r:embed="rId3"/>
          <a:stretch>
            <a:fillRect/>
          </a:stretch>
        </p:blipFill>
        <p:spPr>
          <a:xfrm>
            <a:off x="8468441" y="3439241"/>
            <a:ext cx="272125" cy="272125"/>
          </a:xfrm>
          <a:prstGeom prst="rect">
            <a:avLst/>
          </a:prstGeom>
        </p:spPr>
      </p:pic>
      <p:sp>
        <p:nvSpPr>
          <p:cNvPr id="40" name="Text 34"/>
          <p:cNvSpPr txBox="1"/>
          <p:nvPr/>
        </p:nvSpPr>
        <p:spPr>
          <a:xfrm>
            <a:off x="9006840" y="329184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 ?: operator</a:t>
            </a:r>
            <a:endParaRPr lang="en-US" sz="1700" dirty="0"/>
          </a:p>
        </p:txBody>
      </p:sp>
      <p:sp>
        <p:nvSpPr>
          <p:cNvPr id="41" name="Text 35"/>
          <p:cNvSpPr txBox="1"/>
          <p:nvPr/>
        </p:nvSpPr>
        <p:spPr>
          <a:xfrm>
            <a:off x="8321040" y="397764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85 % 2 is 1, the condition is false, so the second value "odd" is chosen.</a:t>
            </a:r>
            <a:endParaRPr lang="en-US" sz="1400" dirty="0"/>
          </a:p>
        </p:txBody>
      </p:sp>
      <p:sp>
        <p:nvSpPr>
          <p:cNvPr id="42" name="Shape 36"/>
          <p:cNvSpPr/>
          <p:nvPr/>
        </p:nvSpPr>
        <p:spPr>
          <a:xfrm>
            <a:off x="548640" y="5303520"/>
            <a:ext cx="11109960" cy="795528"/>
          </a:xfrm>
          <a:prstGeom prst="roundRect">
            <a:avLst>
              <a:gd name="adj" fmla="val 11494"/>
            </a:avLst>
          </a:prstGeom>
          <a:solidFill>
            <a:srgbClr val="0F1729"/>
          </a:solidFill>
          <a:ln w="12700">
            <a:solidFill>
              <a:srgbClr val="0F1729"/>
            </a:solidFill>
            <a:prstDash val="solid"/>
          </a:ln>
        </p:spPr>
      </p:sp>
      <p:sp>
        <p:nvSpPr>
          <p:cNvPr id="43" name="Text 37"/>
          <p:cNvSpPr txBox="1"/>
          <p:nvPr/>
        </p:nvSpPr>
        <p:spPr>
          <a:xfrm>
            <a:off x="777240" y="5468112"/>
            <a:ext cx="10652760" cy="521208"/>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fix: most restrictive test first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"DD"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"FF"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Q8 · NESTED LOOPS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Nested for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4 min</a:t>
            </a:r>
            <a:endParaRPr lang="en-US" sz="1200" dirty="0"/>
          </a:p>
        </p:txBody>
      </p:sp>
      <p:sp>
        <p:nvSpPr>
          <p:cNvPr id="9" name="Shape 6"/>
          <p:cNvSpPr/>
          <p:nvPr/>
        </p:nvSpPr>
        <p:spPr>
          <a:xfrm>
            <a:off x="548640" y="1645920"/>
            <a:ext cx="603504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5577840" cy="4160520"/>
          </a:xfrm>
          <a:prstGeom prst="rect">
            <a:avLst/>
          </a:prstGeom>
          <a:noFill/>
          <a:ln/>
        </p:spPr>
        <p:txBody>
          <a:bodyPr wrap="square" lIns="0" tIns="0" rIns="0" bIns="0" rtlCol="0" anchor="t"/>
          <a:lstStyle/>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i; j++)</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12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6858000" y="1645920"/>
            <a:ext cx="4800600" cy="4434840"/>
          </a:xfrm>
          <a:prstGeom prst="roundRect">
            <a:avLst>
              <a:gd name="adj" fmla="val 2474"/>
            </a:avLst>
          </a:prstGeom>
          <a:solidFill>
            <a:srgbClr val="EEF1F6"/>
          </a:solidFill>
          <a:ln w="12700">
            <a:solidFill>
              <a:srgbClr val="EEF1F6"/>
            </a:solidFill>
            <a:prstDash val="solid"/>
          </a:ln>
        </p:spPr>
      </p:sp>
      <p:sp>
        <p:nvSpPr>
          <p:cNvPr id="12" name="Text 9"/>
          <p:cNvSpPr txBox="1"/>
          <p:nvPr/>
        </p:nvSpPr>
        <p:spPr>
          <a:xfrm>
            <a:off x="7086600" y="1783080"/>
            <a:ext cx="4389120" cy="1005840"/>
          </a:xfrm>
          <a:prstGeom prst="rect">
            <a:avLst/>
          </a:prstGeom>
          <a:noFill/>
          <a:ln/>
        </p:spPr>
        <p:txBody>
          <a:bodyPr wrap="square" lIns="0" tIns="0" rIns="0" bIns="0" rtlCol="0" anchor="t"/>
          <a:lstStyle/>
          <a:p>
            <a:pPr indent="0" marL="0">
              <a:spcAft>
                <a:spcPts val="600"/>
              </a:spcAft>
              <a:buNone/>
            </a:pPr>
            <a:r>
              <a:rPr lang="en-US" sz="1500" b="1" dirty="0">
                <a:solidFill>
                  <a:srgbClr val="333B4F"/>
                </a:solidFill>
                <a:latin typeface="Calibri" pitchFamily="34" charset="0"/>
                <a:ea typeface="Calibri" pitchFamily="34" charset="-122"/>
                <a:cs typeface="Calibri" pitchFamily="34" charset="-120"/>
              </a:rPr>
              <a:t>(a) </a:t>
            </a:r>
            <a:pPr indent="0" marL="0">
              <a:spcAft>
                <a:spcPts val="600"/>
              </a:spcAft>
              <a:buNone/>
            </a:pPr>
            <a:r>
              <a:rPr lang="en-US" sz="1500" dirty="0">
                <a:solidFill>
                  <a:srgbClr val="333B4F"/>
                </a:solidFill>
                <a:latin typeface="Calibri" pitchFamily="34" charset="0"/>
                <a:ea typeface="Calibri" pitchFamily="34" charset="-122"/>
                <a:cs typeface="Calibri" pitchFamily="34" charset="-120"/>
              </a:rPr>
              <a:t>Draw the output on a grid, spaces included.</a:t>
            </a:r>
            <a:endParaRPr lang="en-US" sz="1500" dirty="0"/>
          </a:p>
          <a:p>
            <a:pPr indent="0" marL="0">
              <a:spcAft>
                <a:spcPts val="600"/>
              </a:spcAft>
              <a:buNone/>
            </a:pPr>
            <a:r>
              <a:rPr lang="en-US" sz="1500" b="1" dirty="0">
                <a:solidFill>
                  <a:srgbClr val="333B4F"/>
                </a:solidFill>
                <a:latin typeface="Calibri" pitchFamily="34" charset="0"/>
                <a:ea typeface="Calibri" pitchFamily="34" charset="-122"/>
                <a:cs typeface="Calibri" pitchFamily="34" charset="-120"/>
              </a:rPr>
              <a:t>(b) </a:t>
            </a:r>
            <a:pPr indent="0" marL="0">
              <a:spcAft>
                <a:spcPts val="600"/>
              </a:spcAft>
              <a:buNone/>
            </a:pPr>
            <a:r>
              <a:rPr lang="en-US" sz="1500" dirty="0">
                <a:solidFill>
                  <a:srgbClr val="333B4F"/>
                </a:solidFill>
                <a:latin typeface="Calibri" pitchFamily="34" charset="0"/>
                <a:ea typeface="Calibri" pitchFamily="34" charset="-122"/>
                <a:cs typeface="Calibri" pitchFamily="34" charset="-120"/>
              </a:rPr>
              <a:t>How many times does Console.Write("*") run?</a:t>
            </a:r>
            <a:endParaRPr lang="en-US" sz="1500" dirty="0"/>
          </a:p>
        </p:txBody>
      </p:sp>
      <p:sp>
        <p:nvSpPr>
          <p:cNvPr id="13" name="Shape 10"/>
          <p:cNvSpPr/>
          <p:nvPr/>
        </p:nvSpPr>
        <p:spPr>
          <a:xfrm>
            <a:off x="7406640" y="3063240"/>
            <a:ext cx="457200" cy="457200"/>
          </a:xfrm>
          <a:prstGeom prst="rect">
            <a:avLst/>
          </a:prstGeom>
          <a:solidFill>
            <a:srgbClr val="FFFFFF"/>
          </a:solidFill>
          <a:ln w="9525">
            <a:solidFill>
              <a:srgbClr val="D5DAE3"/>
            </a:solidFill>
            <a:prstDash val="solid"/>
          </a:ln>
        </p:spPr>
      </p:sp>
      <p:sp>
        <p:nvSpPr>
          <p:cNvPr id="14" name="Shape 11"/>
          <p:cNvSpPr/>
          <p:nvPr/>
        </p:nvSpPr>
        <p:spPr>
          <a:xfrm>
            <a:off x="7863840" y="3063240"/>
            <a:ext cx="457200" cy="457200"/>
          </a:xfrm>
          <a:prstGeom prst="rect">
            <a:avLst/>
          </a:prstGeom>
          <a:solidFill>
            <a:srgbClr val="FFFFFF"/>
          </a:solidFill>
          <a:ln w="9525">
            <a:solidFill>
              <a:srgbClr val="D5DAE3"/>
            </a:solidFill>
            <a:prstDash val="solid"/>
          </a:ln>
        </p:spPr>
      </p:sp>
      <p:sp>
        <p:nvSpPr>
          <p:cNvPr id="15" name="Shape 12"/>
          <p:cNvSpPr/>
          <p:nvPr/>
        </p:nvSpPr>
        <p:spPr>
          <a:xfrm>
            <a:off x="8321040" y="3063240"/>
            <a:ext cx="457200" cy="457200"/>
          </a:xfrm>
          <a:prstGeom prst="rect">
            <a:avLst/>
          </a:prstGeom>
          <a:solidFill>
            <a:srgbClr val="FFFFFF"/>
          </a:solidFill>
          <a:ln w="9525">
            <a:solidFill>
              <a:srgbClr val="D5DAE3"/>
            </a:solidFill>
            <a:prstDash val="solid"/>
          </a:ln>
        </p:spPr>
      </p:sp>
      <p:sp>
        <p:nvSpPr>
          <p:cNvPr id="16" name="Shape 13"/>
          <p:cNvSpPr/>
          <p:nvPr/>
        </p:nvSpPr>
        <p:spPr>
          <a:xfrm>
            <a:off x="8778240" y="3063240"/>
            <a:ext cx="457200" cy="457200"/>
          </a:xfrm>
          <a:prstGeom prst="rect">
            <a:avLst/>
          </a:prstGeom>
          <a:solidFill>
            <a:srgbClr val="FFFFFF"/>
          </a:solidFill>
          <a:ln w="9525">
            <a:solidFill>
              <a:srgbClr val="D5DAE3"/>
            </a:solidFill>
            <a:prstDash val="solid"/>
          </a:ln>
        </p:spPr>
      </p:sp>
      <p:sp>
        <p:nvSpPr>
          <p:cNvPr id="17" name="Shape 14"/>
          <p:cNvSpPr/>
          <p:nvPr/>
        </p:nvSpPr>
        <p:spPr>
          <a:xfrm>
            <a:off x="9235440" y="3063240"/>
            <a:ext cx="457200" cy="457200"/>
          </a:xfrm>
          <a:prstGeom prst="rect">
            <a:avLst/>
          </a:prstGeom>
          <a:solidFill>
            <a:srgbClr val="FFFFFF"/>
          </a:solidFill>
          <a:ln w="9525">
            <a:solidFill>
              <a:srgbClr val="D5DAE3"/>
            </a:solidFill>
            <a:prstDash val="solid"/>
          </a:ln>
        </p:spPr>
      </p:sp>
      <p:sp>
        <p:nvSpPr>
          <p:cNvPr id="18" name="Shape 15"/>
          <p:cNvSpPr/>
          <p:nvPr/>
        </p:nvSpPr>
        <p:spPr>
          <a:xfrm>
            <a:off x="9692640" y="3063240"/>
            <a:ext cx="457200" cy="457200"/>
          </a:xfrm>
          <a:prstGeom prst="rect">
            <a:avLst/>
          </a:prstGeom>
          <a:solidFill>
            <a:srgbClr val="FFFFFF"/>
          </a:solidFill>
          <a:ln w="9525">
            <a:solidFill>
              <a:srgbClr val="D5DAE3"/>
            </a:solidFill>
            <a:prstDash val="solid"/>
          </a:ln>
        </p:spPr>
      </p:sp>
      <p:sp>
        <p:nvSpPr>
          <p:cNvPr id="19" name="Shape 16"/>
          <p:cNvSpPr/>
          <p:nvPr/>
        </p:nvSpPr>
        <p:spPr>
          <a:xfrm>
            <a:off x="10149840" y="3063240"/>
            <a:ext cx="457200" cy="457200"/>
          </a:xfrm>
          <a:prstGeom prst="rect">
            <a:avLst/>
          </a:prstGeom>
          <a:solidFill>
            <a:srgbClr val="FFFFFF"/>
          </a:solidFill>
          <a:ln w="9525">
            <a:solidFill>
              <a:srgbClr val="D5DAE3"/>
            </a:solidFill>
            <a:prstDash val="solid"/>
          </a:ln>
        </p:spPr>
      </p:sp>
      <p:sp>
        <p:nvSpPr>
          <p:cNvPr id="20" name="Shape 17"/>
          <p:cNvSpPr/>
          <p:nvPr/>
        </p:nvSpPr>
        <p:spPr>
          <a:xfrm>
            <a:off x="10607040" y="3063240"/>
            <a:ext cx="457200" cy="457200"/>
          </a:xfrm>
          <a:prstGeom prst="rect">
            <a:avLst/>
          </a:prstGeom>
          <a:solidFill>
            <a:srgbClr val="FFFFFF"/>
          </a:solidFill>
          <a:ln w="9525">
            <a:solidFill>
              <a:srgbClr val="D5DAE3"/>
            </a:solidFill>
            <a:prstDash val="solid"/>
          </a:ln>
        </p:spPr>
      </p:sp>
      <p:sp>
        <p:nvSpPr>
          <p:cNvPr id="21" name="Shape 18"/>
          <p:cNvSpPr/>
          <p:nvPr/>
        </p:nvSpPr>
        <p:spPr>
          <a:xfrm>
            <a:off x="7406640" y="3520440"/>
            <a:ext cx="457200" cy="457200"/>
          </a:xfrm>
          <a:prstGeom prst="rect">
            <a:avLst/>
          </a:prstGeom>
          <a:solidFill>
            <a:srgbClr val="FFFFFF"/>
          </a:solidFill>
          <a:ln w="9525">
            <a:solidFill>
              <a:srgbClr val="D5DAE3"/>
            </a:solidFill>
            <a:prstDash val="solid"/>
          </a:ln>
        </p:spPr>
      </p:sp>
      <p:sp>
        <p:nvSpPr>
          <p:cNvPr id="22" name="Shape 19"/>
          <p:cNvSpPr/>
          <p:nvPr/>
        </p:nvSpPr>
        <p:spPr>
          <a:xfrm>
            <a:off x="7863840" y="3520440"/>
            <a:ext cx="457200" cy="457200"/>
          </a:xfrm>
          <a:prstGeom prst="rect">
            <a:avLst/>
          </a:prstGeom>
          <a:solidFill>
            <a:srgbClr val="FFFFFF"/>
          </a:solidFill>
          <a:ln w="9525">
            <a:solidFill>
              <a:srgbClr val="D5DAE3"/>
            </a:solidFill>
            <a:prstDash val="solid"/>
          </a:ln>
        </p:spPr>
      </p:sp>
      <p:sp>
        <p:nvSpPr>
          <p:cNvPr id="23" name="Shape 20"/>
          <p:cNvSpPr/>
          <p:nvPr/>
        </p:nvSpPr>
        <p:spPr>
          <a:xfrm>
            <a:off x="8321040" y="3520440"/>
            <a:ext cx="457200" cy="457200"/>
          </a:xfrm>
          <a:prstGeom prst="rect">
            <a:avLst/>
          </a:prstGeom>
          <a:solidFill>
            <a:srgbClr val="FFFFFF"/>
          </a:solidFill>
          <a:ln w="9525">
            <a:solidFill>
              <a:srgbClr val="D5DAE3"/>
            </a:solidFill>
            <a:prstDash val="solid"/>
          </a:ln>
        </p:spPr>
      </p:sp>
      <p:sp>
        <p:nvSpPr>
          <p:cNvPr id="24" name="Shape 21"/>
          <p:cNvSpPr/>
          <p:nvPr/>
        </p:nvSpPr>
        <p:spPr>
          <a:xfrm>
            <a:off x="8778240" y="3520440"/>
            <a:ext cx="457200" cy="457200"/>
          </a:xfrm>
          <a:prstGeom prst="rect">
            <a:avLst/>
          </a:prstGeom>
          <a:solidFill>
            <a:srgbClr val="FFFFFF"/>
          </a:solidFill>
          <a:ln w="9525">
            <a:solidFill>
              <a:srgbClr val="D5DAE3"/>
            </a:solidFill>
            <a:prstDash val="solid"/>
          </a:ln>
        </p:spPr>
      </p:sp>
      <p:sp>
        <p:nvSpPr>
          <p:cNvPr id="25" name="Shape 22"/>
          <p:cNvSpPr/>
          <p:nvPr/>
        </p:nvSpPr>
        <p:spPr>
          <a:xfrm>
            <a:off x="9235440" y="3520440"/>
            <a:ext cx="457200" cy="457200"/>
          </a:xfrm>
          <a:prstGeom prst="rect">
            <a:avLst/>
          </a:prstGeom>
          <a:solidFill>
            <a:srgbClr val="FFFFFF"/>
          </a:solidFill>
          <a:ln w="9525">
            <a:solidFill>
              <a:srgbClr val="D5DAE3"/>
            </a:solidFill>
            <a:prstDash val="solid"/>
          </a:ln>
        </p:spPr>
      </p:sp>
      <p:sp>
        <p:nvSpPr>
          <p:cNvPr id="26" name="Shape 23"/>
          <p:cNvSpPr/>
          <p:nvPr/>
        </p:nvSpPr>
        <p:spPr>
          <a:xfrm>
            <a:off x="9692640" y="3520440"/>
            <a:ext cx="457200" cy="457200"/>
          </a:xfrm>
          <a:prstGeom prst="rect">
            <a:avLst/>
          </a:prstGeom>
          <a:solidFill>
            <a:srgbClr val="FFFFFF"/>
          </a:solidFill>
          <a:ln w="9525">
            <a:solidFill>
              <a:srgbClr val="D5DAE3"/>
            </a:solidFill>
            <a:prstDash val="solid"/>
          </a:ln>
        </p:spPr>
      </p:sp>
      <p:sp>
        <p:nvSpPr>
          <p:cNvPr id="27" name="Shape 24"/>
          <p:cNvSpPr/>
          <p:nvPr/>
        </p:nvSpPr>
        <p:spPr>
          <a:xfrm>
            <a:off x="10149840" y="3520440"/>
            <a:ext cx="457200" cy="457200"/>
          </a:xfrm>
          <a:prstGeom prst="rect">
            <a:avLst/>
          </a:prstGeom>
          <a:solidFill>
            <a:srgbClr val="FFFFFF"/>
          </a:solidFill>
          <a:ln w="9525">
            <a:solidFill>
              <a:srgbClr val="D5DAE3"/>
            </a:solidFill>
            <a:prstDash val="solid"/>
          </a:ln>
        </p:spPr>
      </p:sp>
      <p:sp>
        <p:nvSpPr>
          <p:cNvPr id="28" name="Shape 25"/>
          <p:cNvSpPr/>
          <p:nvPr/>
        </p:nvSpPr>
        <p:spPr>
          <a:xfrm>
            <a:off x="10607040" y="3520440"/>
            <a:ext cx="457200" cy="457200"/>
          </a:xfrm>
          <a:prstGeom prst="rect">
            <a:avLst/>
          </a:prstGeom>
          <a:solidFill>
            <a:srgbClr val="FFFFFF"/>
          </a:solidFill>
          <a:ln w="9525">
            <a:solidFill>
              <a:srgbClr val="D5DAE3"/>
            </a:solidFill>
            <a:prstDash val="solid"/>
          </a:ln>
        </p:spPr>
      </p:sp>
      <p:sp>
        <p:nvSpPr>
          <p:cNvPr id="29" name="Shape 26"/>
          <p:cNvSpPr/>
          <p:nvPr/>
        </p:nvSpPr>
        <p:spPr>
          <a:xfrm>
            <a:off x="7406640" y="3977640"/>
            <a:ext cx="457200" cy="457200"/>
          </a:xfrm>
          <a:prstGeom prst="rect">
            <a:avLst/>
          </a:prstGeom>
          <a:solidFill>
            <a:srgbClr val="FFFFFF"/>
          </a:solidFill>
          <a:ln w="9525">
            <a:solidFill>
              <a:srgbClr val="D5DAE3"/>
            </a:solidFill>
            <a:prstDash val="solid"/>
          </a:ln>
        </p:spPr>
      </p:sp>
      <p:sp>
        <p:nvSpPr>
          <p:cNvPr id="30" name="Shape 27"/>
          <p:cNvSpPr/>
          <p:nvPr/>
        </p:nvSpPr>
        <p:spPr>
          <a:xfrm>
            <a:off x="7863840" y="3977640"/>
            <a:ext cx="457200" cy="457200"/>
          </a:xfrm>
          <a:prstGeom prst="rect">
            <a:avLst/>
          </a:prstGeom>
          <a:solidFill>
            <a:srgbClr val="FFFFFF"/>
          </a:solidFill>
          <a:ln w="9525">
            <a:solidFill>
              <a:srgbClr val="D5DAE3"/>
            </a:solidFill>
            <a:prstDash val="solid"/>
          </a:ln>
        </p:spPr>
      </p:sp>
      <p:sp>
        <p:nvSpPr>
          <p:cNvPr id="31" name="Shape 28"/>
          <p:cNvSpPr/>
          <p:nvPr/>
        </p:nvSpPr>
        <p:spPr>
          <a:xfrm>
            <a:off x="8321040" y="3977640"/>
            <a:ext cx="457200" cy="457200"/>
          </a:xfrm>
          <a:prstGeom prst="rect">
            <a:avLst/>
          </a:prstGeom>
          <a:solidFill>
            <a:srgbClr val="FFFFFF"/>
          </a:solidFill>
          <a:ln w="9525">
            <a:solidFill>
              <a:srgbClr val="D5DAE3"/>
            </a:solidFill>
            <a:prstDash val="solid"/>
          </a:ln>
        </p:spPr>
      </p:sp>
      <p:sp>
        <p:nvSpPr>
          <p:cNvPr id="32" name="Shape 29"/>
          <p:cNvSpPr/>
          <p:nvPr/>
        </p:nvSpPr>
        <p:spPr>
          <a:xfrm>
            <a:off x="8778240" y="3977640"/>
            <a:ext cx="457200" cy="457200"/>
          </a:xfrm>
          <a:prstGeom prst="rect">
            <a:avLst/>
          </a:prstGeom>
          <a:solidFill>
            <a:srgbClr val="FFFFFF"/>
          </a:solidFill>
          <a:ln w="9525">
            <a:solidFill>
              <a:srgbClr val="D5DAE3"/>
            </a:solidFill>
            <a:prstDash val="solid"/>
          </a:ln>
        </p:spPr>
      </p:sp>
      <p:sp>
        <p:nvSpPr>
          <p:cNvPr id="33" name="Shape 30"/>
          <p:cNvSpPr/>
          <p:nvPr/>
        </p:nvSpPr>
        <p:spPr>
          <a:xfrm>
            <a:off x="9235440" y="3977640"/>
            <a:ext cx="457200" cy="457200"/>
          </a:xfrm>
          <a:prstGeom prst="rect">
            <a:avLst/>
          </a:prstGeom>
          <a:solidFill>
            <a:srgbClr val="FFFFFF"/>
          </a:solidFill>
          <a:ln w="9525">
            <a:solidFill>
              <a:srgbClr val="D5DAE3"/>
            </a:solidFill>
            <a:prstDash val="solid"/>
          </a:ln>
        </p:spPr>
      </p:sp>
      <p:sp>
        <p:nvSpPr>
          <p:cNvPr id="34" name="Shape 31"/>
          <p:cNvSpPr/>
          <p:nvPr/>
        </p:nvSpPr>
        <p:spPr>
          <a:xfrm>
            <a:off x="9692640" y="3977640"/>
            <a:ext cx="457200" cy="457200"/>
          </a:xfrm>
          <a:prstGeom prst="rect">
            <a:avLst/>
          </a:prstGeom>
          <a:solidFill>
            <a:srgbClr val="FFFFFF"/>
          </a:solidFill>
          <a:ln w="9525">
            <a:solidFill>
              <a:srgbClr val="D5DAE3"/>
            </a:solidFill>
            <a:prstDash val="solid"/>
          </a:ln>
        </p:spPr>
      </p:sp>
      <p:sp>
        <p:nvSpPr>
          <p:cNvPr id="35" name="Shape 32"/>
          <p:cNvSpPr/>
          <p:nvPr/>
        </p:nvSpPr>
        <p:spPr>
          <a:xfrm>
            <a:off x="10149840" y="3977640"/>
            <a:ext cx="457200" cy="457200"/>
          </a:xfrm>
          <a:prstGeom prst="rect">
            <a:avLst/>
          </a:prstGeom>
          <a:solidFill>
            <a:srgbClr val="FFFFFF"/>
          </a:solidFill>
          <a:ln w="9525">
            <a:solidFill>
              <a:srgbClr val="D5DAE3"/>
            </a:solidFill>
            <a:prstDash val="solid"/>
          </a:ln>
        </p:spPr>
      </p:sp>
      <p:sp>
        <p:nvSpPr>
          <p:cNvPr id="36" name="Shape 33"/>
          <p:cNvSpPr/>
          <p:nvPr/>
        </p:nvSpPr>
        <p:spPr>
          <a:xfrm>
            <a:off x="10607040" y="3977640"/>
            <a:ext cx="457200" cy="457200"/>
          </a:xfrm>
          <a:prstGeom prst="rect">
            <a:avLst/>
          </a:prstGeom>
          <a:solidFill>
            <a:srgbClr val="FFFFFF"/>
          </a:solidFill>
          <a:ln w="9525">
            <a:solidFill>
              <a:srgbClr val="D5DAE3"/>
            </a:solidFill>
            <a:prstDash val="solid"/>
          </a:ln>
        </p:spPr>
      </p:sp>
      <p:sp>
        <p:nvSpPr>
          <p:cNvPr id="37" name="Shape 34"/>
          <p:cNvSpPr/>
          <p:nvPr/>
        </p:nvSpPr>
        <p:spPr>
          <a:xfrm>
            <a:off x="7406640" y="4434840"/>
            <a:ext cx="457200" cy="457200"/>
          </a:xfrm>
          <a:prstGeom prst="rect">
            <a:avLst/>
          </a:prstGeom>
          <a:solidFill>
            <a:srgbClr val="FFFFFF"/>
          </a:solidFill>
          <a:ln w="9525">
            <a:solidFill>
              <a:srgbClr val="D5DAE3"/>
            </a:solidFill>
            <a:prstDash val="solid"/>
          </a:ln>
        </p:spPr>
      </p:sp>
      <p:sp>
        <p:nvSpPr>
          <p:cNvPr id="38" name="Shape 35"/>
          <p:cNvSpPr/>
          <p:nvPr/>
        </p:nvSpPr>
        <p:spPr>
          <a:xfrm>
            <a:off x="7863840" y="4434840"/>
            <a:ext cx="457200" cy="457200"/>
          </a:xfrm>
          <a:prstGeom prst="rect">
            <a:avLst/>
          </a:prstGeom>
          <a:solidFill>
            <a:srgbClr val="FFFFFF"/>
          </a:solidFill>
          <a:ln w="9525">
            <a:solidFill>
              <a:srgbClr val="D5DAE3"/>
            </a:solidFill>
            <a:prstDash val="solid"/>
          </a:ln>
        </p:spPr>
      </p:sp>
      <p:sp>
        <p:nvSpPr>
          <p:cNvPr id="39" name="Shape 36"/>
          <p:cNvSpPr/>
          <p:nvPr/>
        </p:nvSpPr>
        <p:spPr>
          <a:xfrm>
            <a:off x="8321040" y="4434840"/>
            <a:ext cx="457200" cy="457200"/>
          </a:xfrm>
          <a:prstGeom prst="rect">
            <a:avLst/>
          </a:prstGeom>
          <a:solidFill>
            <a:srgbClr val="FFFFFF"/>
          </a:solidFill>
          <a:ln w="9525">
            <a:solidFill>
              <a:srgbClr val="D5DAE3"/>
            </a:solidFill>
            <a:prstDash val="solid"/>
          </a:ln>
        </p:spPr>
      </p:sp>
      <p:sp>
        <p:nvSpPr>
          <p:cNvPr id="40" name="Shape 37"/>
          <p:cNvSpPr/>
          <p:nvPr/>
        </p:nvSpPr>
        <p:spPr>
          <a:xfrm>
            <a:off x="8778240" y="4434840"/>
            <a:ext cx="457200" cy="457200"/>
          </a:xfrm>
          <a:prstGeom prst="rect">
            <a:avLst/>
          </a:prstGeom>
          <a:solidFill>
            <a:srgbClr val="FFFFFF"/>
          </a:solidFill>
          <a:ln w="9525">
            <a:solidFill>
              <a:srgbClr val="D5DAE3"/>
            </a:solidFill>
            <a:prstDash val="solid"/>
          </a:ln>
        </p:spPr>
      </p:sp>
      <p:sp>
        <p:nvSpPr>
          <p:cNvPr id="41" name="Shape 38"/>
          <p:cNvSpPr/>
          <p:nvPr/>
        </p:nvSpPr>
        <p:spPr>
          <a:xfrm>
            <a:off x="9235440" y="4434840"/>
            <a:ext cx="457200" cy="457200"/>
          </a:xfrm>
          <a:prstGeom prst="rect">
            <a:avLst/>
          </a:prstGeom>
          <a:solidFill>
            <a:srgbClr val="FFFFFF"/>
          </a:solidFill>
          <a:ln w="9525">
            <a:solidFill>
              <a:srgbClr val="D5DAE3"/>
            </a:solidFill>
            <a:prstDash val="solid"/>
          </a:ln>
        </p:spPr>
      </p:sp>
      <p:sp>
        <p:nvSpPr>
          <p:cNvPr id="42" name="Shape 39"/>
          <p:cNvSpPr/>
          <p:nvPr/>
        </p:nvSpPr>
        <p:spPr>
          <a:xfrm>
            <a:off x="9692640" y="4434840"/>
            <a:ext cx="457200" cy="457200"/>
          </a:xfrm>
          <a:prstGeom prst="rect">
            <a:avLst/>
          </a:prstGeom>
          <a:solidFill>
            <a:srgbClr val="FFFFFF"/>
          </a:solidFill>
          <a:ln w="9525">
            <a:solidFill>
              <a:srgbClr val="D5DAE3"/>
            </a:solidFill>
            <a:prstDash val="solid"/>
          </a:ln>
        </p:spPr>
      </p:sp>
      <p:sp>
        <p:nvSpPr>
          <p:cNvPr id="43" name="Shape 40"/>
          <p:cNvSpPr/>
          <p:nvPr/>
        </p:nvSpPr>
        <p:spPr>
          <a:xfrm>
            <a:off x="10149840" y="4434840"/>
            <a:ext cx="457200" cy="457200"/>
          </a:xfrm>
          <a:prstGeom prst="rect">
            <a:avLst/>
          </a:prstGeom>
          <a:solidFill>
            <a:srgbClr val="FFFFFF"/>
          </a:solidFill>
          <a:ln w="9525">
            <a:solidFill>
              <a:srgbClr val="D5DAE3"/>
            </a:solidFill>
            <a:prstDash val="solid"/>
          </a:ln>
        </p:spPr>
      </p:sp>
      <p:sp>
        <p:nvSpPr>
          <p:cNvPr id="44" name="Shape 41"/>
          <p:cNvSpPr/>
          <p:nvPr/>
        </p:nvSpPr>
        <p:spPr>
          <a:xfrm>
            <a:off x="10607040" y="4434840"/>
            <a:ext cx="457200" cy="457200"/>
          </a:xfrm>
          <a:prstGeom prst="rect">
            <a:avLst/>
          </a:prstGeom>
          <a:solidFill>
            <a:srgbClr val="FFFFFF"/>
          </a:solidFill>
          <a:ln w="9525">
            <a:solidFill>
              <a:srgbClr val="D5DAE3"/>
            </a:solidFill>
            <a:prstDash val="solid"/>
          </a:ln>
        </p:spPr>
      </p:sp>
      <p:sp>
        <p:nvSpPr>
          <p:cNvPr id="45" name="Text 42"/>
          <p:cNvSpPr txBox="1"/>
          <p:nvPr/>
        </p:nvSpPr>
        <p:spPr>
          <a:xfrm>
            <a:off x="7406640" y="4983480"/>
            <a:ext cx="3657600" cy="3200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grid: 4 rows × 8 columns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Q8</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Nested for,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3840480" cy="2578608"/>
          </a:xfrm>
          <a:prstGeom prst="roundRect">
            <a:avLst>
              <a:gd name="adj" fmla="val 3546"/>
            </a:avLst>
          </a:prstGeom>
          <a:solidFill>
            <a:srgbClr val="0B0F19"/>
          </a:solidFill>
          <a:ln w="12700">
            <a:solidFill>
              <a:srgbClr val="2A3654"/>
            </a:solidFill>
            <a:prstDash val="solid"/>
          </a:ln>
        </p:spPr>
      </p:sp>
      <p:sp>
        <p:nvSpPr>
          <p:cNvPr id="10" name="Shape 7"/>
          <p:cNvSpPr/>
          <p:nvPr/>
        </p:nvSpPr>
        <p:spPr>
          <a:xfrm>
            <a:off x="73152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96012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118872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1463040" y="1719072"/>
            <a:ext cx="2743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77240" y="2029968"/>
            <a:ext cx="3383280" cy="2075688"/>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   *</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  ***</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 *****</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a:t>
            </a:r>
            <a:endParaRPr lang="en-US" sz="2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663440" y="1645920"/>
          <a:ext cx="6995160" cy="914400"/>
        </p:xfrm>
        <a:graphic>
          <a:graphicData uri="http://schemas.openxmlformats.org/drawingml/2006/table">
            <a:tbl>
              <a:tblPr/>
              <a:tblGrid>
                <a:gridCol w="1280160"/>
                <a:gridCol w="2834640"/>
                <a:gridCol w="2880360"/>
              </a:tblGrid>
              <a:tr h="42976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spaces (4 − 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stars (2i − 1)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7A5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6" name="Shape 12"/>
          <p:cNvSpPr/>
          <p:nvPr/>
        </p:nvSpPr>
        <p:spPr>
          <a:xfrm>
            <a:off x="548640" y="4343400"/>
            <a:ext cx="11109960" cy="914400"/>
          </a:xfrm>
          <a:prstGeom prst="roundRect">
            <a:avLst>
              <a:gd name="adj" fmla="val 12000"/>
            </a:avLst>
          </a:prstGeom>
          <a:solidFill>
            <a:srgbClr val="E6F4EC"/>
          </a:solidFill>
          <a:ln w="12700">
            <a:solidFill>
              <a:srgbClr val="E6F4EC"/>
            </a:solidFill>
            <a:prstDash val="solid"/>
          </a:ln>
        </p:spPr>
      </p:sp>
      <p:pic>
        <p:nvPicPr>
          <p:cNvPr id="17" name="Image 0" descr="preencoded.png">    </p:cNvPr>
          <p:cNvPicPr>
            <a:picLocks noChangeAspect="1"/>
          </p:cNvPicPr>
          <p:nvPr/>
        </p:nvPicPr>
        <p:blipFill>
          <a:blip r:embed="rId1"/>
          <a:stretch>
            <a:fillRect/>
          </a:stretch>
        </p:blipFill>
        <p:spPr>
          <a:xfrm>
            <a:off x="822960" y="4526280"/>
            <a:ext cx="548640" cy="548640"/>
          </a:xfrm>
          <a:prstGeom prst="rect">
            <a:avLst/>
          </a:prstGeom>
        </p:spPr>
      </p:pic>
      <p:sp>
        <p:nvSpPr>
          <p:cNvPr id="18" name="Text 13"/>
          <p:cNvSpPr txBox="1"/>
          <p:nvPr/>
        </p:nvSpPr>
        <p:spPr>
          <a:xfrm>
            <a:off x="1645920" y="4416552"/>
            <a:ext cx="9738360" cy="7680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(b) 16 times. </a:t>
            </a:r>
            <a:pPr indent="0" marL="0">
              <a:buNone/>
            </a:pPr>
            <a:r>
              <a:rPr lang="en-US" sz="1500" dirty="0">
                <a:solidFill>
                  <a:srgbClr val="333B4F"/>
                </a:solidFill>
                <a:latin typeface="Calibri" pitchFamily="34" charset="0"/>
                <a:ea typeface="Calibri" pitchFamily="34" charset="-122"/>
                <a:cs typeface="Calibri" pitchFamily="34" charset="-120"/>
              </a:rPr>
              <a:t>1 + 3 + 5 + 7 = 16 = 4². The outer loop runs 4 times; the inner loops run a different number of times in each pass.</a:t>
            </a:r>
            <a:endParaRPr lang="en-US" sz="1500" dirty="0"/>
          </a:p>
        </p:txBody>
      </p:sp>
      <p:sp>
        <p:nvSpPr>
          <p:cNvPr id="19" name="Shape 14"/>
          <p:cNvSpPr/>
          <p:nvPr/>
        </p:nvSpPr>
        <p:spPr>
          <a:xfrm>
            <a:off x="548640" y="5394960"/>
            <a:ext cx="11109960" cy="685800"/>
          </a:xfrm>
          <a:prstGeom prst="roundRect">
            <a:avLst>
              <a:gd name="adj" fmla="val 16000"/>
            </a:avLst>
          </a:prstGeom>
          <a:solidFill>
            <a:srgbClr val="FFF6E3"/>
          </a:solidFill>
          <a:ln w="12700">
            <a:solidFill>
              <a:srgbClr val="FFF6E3"/>
            </a:solidFill>
            <a:prstDash val="solid"/>
          </a:ln>
        </p:spPr>
      </p:sp>
      <p:pic>
        <p:nvPicPr>
          <p:cNvPr id="20" name="Image 1" descr="preencoded.png">    </p:cNvPr>
          <p:cNvPicPr>
            <a:picLocks noChangeAspect="1"/>
          </p:cNvPicPr>
          <p:nvPr/>
        </p:nvPicPr>
        <p:blipFill>
          <a:blip r:embed="rId2"/>
          <a:stretch>
            <a:fillRect/>
          </a:stretch>
        </p:blipFill>
        <p:spPr>
          <a:xfrm>
            <a:off x="822960" y="5532120"/>
            <a:ext cx="411480" cy="411480"/>
          </a:xfrm>
          <a:prstGeom prst="rect">
            <a:avLst/>
          </a:prstGeom>
        </p:spPr>
      </p:pic>
      <p:sp>
        <p:nvSpPr>
          <p:cNvPr id="21" name="Text 15"/>
          <p:cNvSpPr txBox="1"/>
          <p:nvPr/>
        </p:nvSpPr>
        <p:spPr>
          <a:xfrm>
            <a:off x="1508760" y="5468112"/>
            <a:ext cx="9875520" cy="5394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Method: never simulate nested loops in your head. Make a table with one row per outer pass.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Q9 · LOOP CONTROL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break, continue, do-while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4 min</a:t>
            </a:r>
            <a:endParaRPr lang="en-US" sz="1200" dirty="0"/>
          </a:p>
        </p:txBody>
      </p:sp>
      <p:sp>
        <p:nvSpPr>
          <p:cNvPr id="9" name="Shape 6"/>
          <p:cNvSpPr/>
          <p:nvPr/>
        </p:nvSpPr>
        <p:spPr>
          <a:xfrm>
            <a:off x="548640" y="1645920"/>
            <a:ext cx="512064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a:t>
            </a:r>
            <a:endParaRPr lang="en-US" sz="1100" dirty="0"/>
          </a:p>
        </p:txBody>
      </p:sp>
      <p:sp>
        <p:nvSpPr>
          <p:cNvPr id="11" name="Text 8"/>
          <p:cNvSpPr txBox="1"/>
          <p:nvPr/>
        </p:nvSpPr>
        <p:spPr>
          <a:xfrm>
            <a:off x="777240" y="2057400"/>
            <a:ext cx="4663440" cy="3913632"/>
          </a:xfrm>
          <a:prstGeom prst="rect">
            <a:avLst/>
          </a:prstGeom>
          <a:noFill/>
          <a:ln/>
        </p:spPr>
        <p:txBody>
          <a:bodyPr wrap="square" lIns="0" tIns="0" rIns="0" bIns="0" rtlCol="0" anchor="t"/>
          <a:lstStyle/>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continue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12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i;</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13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14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.WriteLine(total);</a:t>
            </a:r>
            <a:endParaRPr lang="en-US" sz="1200" dirty="0"/>
          </a:p>
        </p:txBody>
      </p:sp>
      <p:sp>
        <p:nvSpPr>
          <p:cNvPr id="12" name="Shape 9"/>
          <p:cNvSpPr/>
          <p:nvPr/>
        </p:nvSpPr>
        <p:spPr>
          <a:xfrm>
            <a:off x="5943600" y="1645920"/>
            <a:ext cx="5715000" cy="2834640"/>
          </a:xfrm>
          <a:prstGeom prst="roundRect">
            <a:avLst>
              <a:gd name="adj" fmla="val 3226"/>
            </a:avLst>
          </a:prstGeom>
          <a:solidFill>
            <a:srgbClr val="0F1729"/>
          </a:solidFill>
          <a:ln w="12700">
            <a:solidFill>
              <a:srgbClr val="0F1729"/>
            </a:solidFill>
            <a:prstDash val="solid"/>
          </a:ln>
        </p:spPr>
      </p:sp>
      <p:sp>
        <p:nvSpPr>
          <p:cNvPr id="13" name="Text 10"/>
          <p:cNvSpPr txBox="1"/>
          <p:nvPr/>
        </p:nvSpPr>
        <p:spPr>
          <a:xfrm>
            <a:off x="6172200" y="1755648"/>
            <a:ext cx="5257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a:t>
            </a:r>
            <a:endParaRPr lang="en-US" sz="1100" dirty="0"/>
          </a:p>
        </p:txBody>
      </p:sp>
      <p:sp>
        <p:nvSpPr>
          <p:cNvPr id="14" name="Text 11"/>
          <p:cNvSpPr txBox="1"/>
          <p:nvPr/>
        </p:nvSpPr>
        <p:spPr>
          <a:xfrm>
            <a:off x="6172200" y="2057400"/>
            <a:ext cx="5257800" cy="2313432"/>
          </a:xfrm>
          <a:prstGeom prst="rect">
            <a:avLst/>
          </a:prstGeom>
          <a:noFill/>
          <a:ln/>
        </p:spPr>
        <p:txBody>
          <a:bodyPr wrap="square" lIns="0" tIns="0" rIns="0" bIns="0" rtlCol="0" anchor="t"/>
          <a:lstStyle/>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do</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.Write(k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k = {k}"</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5" name="Shape 12"/>
          <p:cNvSpPr/>
          <p:nvPr/>
        </p:nvSpPr>
        <p:spPr>
          <a:xfrm>
            <a:off x="5943600" y="4663440"/>
            <a:ext cx="5715000" cy="1417320"/>
          </a:xfrm>
          <a:prstGeom prst="roundRect">
            <a:avLst>
              <a:gd name="adj" fmla="val 7742"/>
            </a:avLst>
          </a:prstGeom>
          <a:solidFill>
            <a:srgbClr val="E3ECF8"/>
          </a:solidFill>
          <a:ln w="12700">
            <a:solidFill>
              <a:srgbClr val="E3ECF8"/>
            </a:solidFill>
            <a:prstDash val="solid"/>
          </a:ln>
        </p:spPr>
      </p:sp>
      <p:pic>
        <p:nvPicPr>
          <p:cNvPr id="16" name="Image 0" descr="preencoded.png">    </p:cNvPr>
          <p:cNvPicPr>
            <a:picLocks noChangeAspect="1"/>
          </p:cNvPicPr>
          <p:nvPr/>
        </p:nvPicPr>
        <p:blipFill>
          <a:blip r:embed="rId1"/>
          <a:stretch>
            <a:fillRect/>
          </a:stretch>
        </p:blipFill>
        <p:spPr>
          <a:xfrm>
            <a:off x="6217920" y="5097780"/>
            <a:ext cx="548640" cy="548640"/>
          </a:xfrm>
          <a:prstGeom prst="rect">
            <a:avLst/>
          </a:prstGeom>
        </p:spPr>
      </p:pic>
      <p:sp>
        <p:nvSpPr>
          <p:cNvPr id="17" name="Text 13"/>
          <p:cNvSpPr txBox="1"/>
          <p:nvPr/>
        </p:nvSpPr>
        <p:spPr>
          <a:xfrm>
            <a:off x="7040880" y="4736592"/>
            <a:ext cx="4343400" cy="127101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Would the output of (b) change if do-while were replaced by while (k &lt; 10) { … }?</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Q9</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break, continue, do-while: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234440"/>
                <a:gridCol w="1005840"/>
                <a:gridCol w="1005840"/>
                <a:gridCol w="1005840"/>
                <a:gridCol w="1005840"/>
                <a:gridCol w="1005840"/>
                <a:gridCol w="1005840"/>
                <a:gridCol w="1005840"/>
                <a:gridCol w="283464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skip</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skip</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break</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548640" y="3200400"/>
            <a:ext cx="3291840" cy="1051560"/>
          </a:xfrm>
          <a:prstGeom prst="roundRect">
            <a:avLst>
              <a:gd name="adj" fmla="val 8696"/>
            </a:avLst>
          </a:prstGeom>
          <a:solidFill>
            <a:srgbClr val="0B0F19"/>
          </a:solidFill>
          <a:ln w="12700">
            <a:solidFill>
              <a:srgbClr val="2A3654"/>
            </a:solidFill>
            <a:prstDash val="solid"/>
          </a:ln>
        </p:spPr>
      </p:sp>
      <p:sp>
        <p:nvSpPr>
          <p:cNvPr id="11" name="Shape 7"/>
          <p:cNvSpPr/>
          <p:nvPr/>
        </p:nvSpPr>
        <p:spPr>
          <a:xfrm>
            <a:off x="731520" y="3328416"/>
            <a:ext cx="118872" cy="118872"/>
          </a:xfrm>
          <a:prstGeom prst="ellipse">
            <a:avLst/>
          </a:prstGeom>
          <a:solidFill>
            <a:srgbClr val="FF5F57"/>
          </a:solidFill>
          <a:ln w="12700">
            <a:solidFill>
              <a:srgbClr val="FF5F57"/>
            </a:solidFill>
            <a:prstDash val="solid"/>
          </a:ln>
        </p:spPr>
      </p:sp>
      <p:sp>
        <p:nvSpPr>
          <p:cNvPr id="12" name="Shape 8"/>
          <p:cNvSpPr/>
          <p:nvPr/>
        </p:nvSpPr>
        <p:spPr>
          <a:xfrm>
            <a:off x="960120" y="3328416"/>
            <a:ext cx="118872" cy="118872"/>
          </a:xfrm>
          <a:prstGeom prst="ellipse">
            <a:avLst/>
          </a:prstGeom>
          <a:solidFill>
            <a:srgbClr val="FEBC2E"/>
          </a:solidFill>
          <a:ln w="12700">
            <a:solidFill>
              <a:srgbClr val="FEBC2E"/>
            </a:solidFill>
            <a:prstDash val="solid"/>
          </a:ln>
        </p:spPr>
      </p:sp>
      <p:sp>
        <p:nvSpPr>
          <p:cNvPr id="13" name="Shape 9"/>
          <p:cNvSpPr/>
          <p:nvPr/>
        </p:nvSpPr>
        <p:spPr>
          <a:xfrm>
            <a:off x="1188720" y="332841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1463040" y="327355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(a)</a:t>
            </a:r>
            <a:endParaRPr lang="en-US" sz="1000" dirty="0"/>
          </a:p>
        </p:txBody>
      </p:sp>
      <p:sp>
        <p:nvSpPr>
          <p:cNvPr id="15" name="Text 11"/>
          <p:cNvSpPr txBox="1"/>
          <p:nvPr/>
        </p:nvSpPr>
        <p:spPr>
          <a:xfrm>
            <a:off x="777240" y="3584448"/>
            <a:ext cx="2834640" cy="54864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19</a:t>
            </a:r>
            <a:endParaRPr lang="en-US" sz="1800" dirty="0"/>
          </a:p>
        </p:txBody>
      </p:sp>
      <p:sp>
        <p:nvSpPr>
          <p:cNvPr id="16" name="Shape 12"/>
          <p:cNvSpPr/>
          <p:nvPr/>
        </p:nvSpPr>
        <p:spPr>
          <a:xfrm>
            <a:off x="4069080" y="3200400"/>
            <a:ext cx="3291840" cy="1051560"/>
          </a:xfrm>
          <a:prstGeom prst="roundRect">
            <a:avLst>
              <a:gd name="adj" fmla="val 8696"/>
            </a:avLst>
          </a:prstGeom>
          <a:solidFill>
            <a:srgbClr val="0B0F19"/>
          </a:solidFill>
          <a:ln w="12700">
            <a:solidFill>
              <a:srgbClr val="2A3654"/>
            </a:solidFill>
            <a:prstDash val="solid"/>
          </a:ln>
        </p:spPr>
      </p:sp>
      <p:sp>
        <p:nvSpPr>
          <p:cNvPr id="17" name="Shape 13"/>
          <p:cNvSpPr/>
          <p:nvPr/>
        </p:nvSpPr>
        <p:spPr>
          <a:xfrm>
            <a:off x="4251960" y="3328416"/>
            <a:ext cx="118872" cy="118872"/>
          </a:xfrm>
          <a:prstGeom prst="ellipse">
            <a:avLst/>
          </a:prstGeom>
          <a:solidFill>
            <a:srgbClr val="FF5F57"/>
          </a:solidFill>
          <a:ln w="12700">
            <a:solidFill>
              <a:srgbClr val="FF5F57"/>
            </a:solidFill>
            <a:prstDash val="solid"/>
          </a:ln>
        </p:spPr>
      </p:sp>
      <p:sp>
        <p:nvSpPr>
          <p:cNvPr id="18" name="Shape 14"/>
          <p:cNvSpPr/>
          <p:nvPr/>
        </p:nvSpPr>
        <p:spPr>
          <a:xfrm>
            <a:off x="4480560" y="3328416"/>
            <a:ext cx="118872" cy="118872"/>
          </a:xfrm>
          <a:prstGeom prst="ellipse">
            <a:avLst/>
          </a:prstGeom>
          <a:solidFill>
            <a:srgbClr val="FEBC2E"/>
          </a:solidFill>
          <a:ln w="12700">
            <a:solidFill>
              <a:srgbClr val="FEBC2E"/>
            </a:solidFill>
            <a:prstDash val="solid"/>
          </a:ln>
        </p:spPr>
      </p:sp>
      <p:sp>
        <p:nvSpPr>
          <p:cNvPr id="19" name="Shape 15"/>
          <p:cNvSpPr/>
          <p:nvPr/>
        </p:nvSpPr>
        <p:spPr>
          <a:xfrm>
            <a:off x="4709160" y="3328416"/>
            <a:ext cx="118872" cy="118872"/>
          </a:xfrm>
          <a:prstGeom prst="ellipse">
            <a:avLst/>
          </a:prstGeom>
          <a:solidFill>
            <a:srgbClr val="28C840"/>
          </a:solidFill>
          <a:ln w="12700">
            <a:solidFill>
              <a:srgbClr val="28C840"/>
            </a:solidFill>
            <a:prstDash val="solid"/>
          </a:ln>
        </p:spPr>
      </p:sp>
      <p:sp>
        <p:nvSpPr>
          <p:cNvPr id="20" name="Text 16"/>
          <p:cNvSpPr txBox="1"/>
          <p:nvPr/>
        </p:nvSpPr>
        <p:spPr>
          <a:xfrm>
            <a:off x="4983480" y="327355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 do-while</a:t>
            </a:r>
            <a:endParaRPr lang="en-US" sz="1000" dirty="0"/>
          </a:p>
        </p:txBody>
      </p:sp>
      <p:sp>
        <p:nvSpPr>
          <p:cNvPr id="21" name="Text 17"/>
          <p:cNvSpPr txBox="1"/>
          <p:nvPr/>
        </p:nvSpPr>
        <p:spPr>
          <a:xfrm>
            <a:off x="4297680" y="3584448"/>
            <a:ext cx="2834640" cy="54864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10 | k = 15</a:t>
            </a:r>
            <a:endParaRPr lang="en-US" sz="1800" dirty="0"/>
          </a:p>
        </p:txBody>
      </p:sp>
      <p:sp>
        <p:nvSpPr>
          <p:cNvPr id="22" name="Shape 18"/>
          <p:cNvSpPr/>
          <p:nvPr/>
        </p:nvSpPr>
        <p:spPr>
          <a:xfrm>
            <a:off x="7589520" y="3200400"/>
            <a:ext cx="4069080" cy="1051560"/>
          </a:xfrm>
          <a:prstGeom prst="roundRect">
            <a:avLst>
              <a:gd name="adj" fmla="val 8696"/>
            </a:avLst>
          </a:prstGeom>
          <a:solidFill>
            <a:srgbClr val="0B0F19"/>
          </a:solidFill>
          <a:ln w="12700">
            <a:solidFill>
              <a:srgbClr val="2A3654"/>
            </a:solidFill>
            <a:prstDash val="solid"/>
          </a:ln>
        </p:spPr>
      </p:sp>
      <p:sp>
        <p:nvSpPr>
          <p:cNvPr id="23" name="Shape 19"/>
          <p:cNvSpPr/>
          <p:nvPr/>
        </p:nvSpPr>
        <p:spPr>
          <a:xfrm>
            <a:off x="7772400" y="3328416"/>
            <a:ext cx="118872" cy="118872"/>
          </a:xfrm>
          <a:prstGeom prst="ellipse">
            <a:avLst/>
          </a:prstGeom>
          <a:solidFill>
            <a:srgbClr val="FF5F57"/>
          </a:solidFill>
          <a:ln w="12700">
            <a:solidFill>
              <a:srgbClr val="FF5F57"/>
            </a:solidFill>
            <a:prstDash val="solid"/>
          </a:ln>
        </p:spPr>
      </p:sp>
      <p:sp>
        <p:nvSpPr>
          <p:cNvPr id="24" name="Shape 20"/>
          <p:cNvSpPr/>
          <p:nvPr/>
        </p:nvSpPr>
        <p:spPr>
          <a:xfrm>
            <a:off x="8001000" y="3328416"/>
            <a:ext cx="118872" cy="118872"/>
          </a:xfrm>
          <a:prstGeom prst="ellipse">
            <a:avLst/>
          </a:prstGeom>
          <a:solidFill>
            <a:srgbClr val="FEBC2E"/>
          </a:solidFill>
          <a:ln w="12700">
            <a:solidFill>
              <a:srgbClr val="FEBC2E"/>
            </a:solidFill>
            <a:prstDash val="solid"/>
          </a:ln>
        </p:spPr>
      </p:sp>
      <p:sp>
        <p:nvSpPr>
          <p:cNvPr id="25" name="Shape 21"/>
          <p:cNvSpPr/>
          <p:nvPr/>
        </p:nvSpPr>
        <p:spPr>
          <a:xfrm>
            <a:off x="8229600" y="3328416"/>
            <a:ext cx="118872" cy="118872"/>
          </a:xfrm>
          <a:prstGeom prst="ellipse">
            <a:avLst/>
          </a:prstGeom>
          <a:solidFill>
            <a:srgbClr val="28C840"/>
          </a:solidFill>
          <a:ln w="12700">
            <a:solidFill>
              <a:srgbClr val="28C840"/>
            </a:solidFill>
            <a:prstDash val="solid"/>
          </a:ln>
        </p:spPr>
      </p:sp>
      <p:sp>
        <p:nvSpPr>
          <p:cNvPr id="26" name="Text 22"/>
          <p:cNvSpPr txBox="1"/>
          <p:nvPr/>
        </p:nvSpPr>
        <p:spPr>
          <a:xfrm>
            <a:off x="8503920" y="3273552"/>
            <a:ext cx="2971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 with while instead</a:t>
            </a:r>
            <a:endParaRPr lang="en-US" sz="1000" dirty="0"/>
          </a:p>
        </p:txBody>
      </p:sp>
      <p:sp>
        <p:nvSpPr>
          <p:cNvPr id="27" name="Text 23"/>
          <p:cNvSpPr txBox="1"/>
          <p:nvPr/>
        </p:nvSpPr>
        <p:spPr>
          <a:xfrm>
            <a:off x="7818120" y="3584448"/>
            <a:ext cx="3611880" cy="548640"/>
          </a:xfrm>
          <a:prstGeom prst="rect">
            <a:avLst/>
          </a:prstGeom>
          <a:noFill/>
          <a:ln/>
        </p:spPr>
        <p:txBody>
          <a:bodyPr wrap="square" lIns="0" tIns="0" rIns="0" bIns="0" rtlCol="0" anchor="t"/>
          <a:lstStyle/>
          <a:p>
            <a:pPr indent="0" marL="0">
              <a:spcAft>
                <a:spcPts val="100"/>
              </a:spcAft>
              <a:buNone/>
            </a:pPr>
            <a:r>
              <a:rPr lang="en-US" sz="1800" dirty="0">
                <a:solidFill>
                  <a:srgbClr val="7EE2A8"/>
                </a:solidFill>
                <a:latin typeface="Courier New" pitchFamily="34" charset="0"/>
                <a:ea typeface="Courier New" pitchFamily="34" charset="-122"/>
                <a:cs typeface="Courier New" pitchFamily="34" charset="-120"/>
              </a:rPr>
              <a:t>| k = 10</a:t>
            </a:r>
            <a:endParaRPr lang="en-US" sz="1800" dirty="0"/>
          </a:p>
        </p:txBody>
      </p:sp>
      <p:sp>
        <p:nvSpPr>
          <p:cNvPr id="28" name="Shape 24"/>
          <p:cNvSpPr/>
          <p:nvPr/>
        </p:nvSpPr>
        <p:spPr>
          <a:xfrm>
            <a:off x="548640" y="4480560"/>
            <a:ext cx="5486400" cy="1600200"/>
          </a:xfrm>
          <a:prstGeom prst="roundRect">
            <a:avLst>
              <a:gd name="adj" fmla="val 6857"/>
            </a:avLst>
          </a:prstGeom>
          <a:solidFill>
            <a:srgbClr val="EEF1F6"/>
          </a:solidFill>
          <a:ln w="12700">
            <a:solidFill>
              <a:srgbClr val="EEF1F6"/>
            </a:solidFill>
            <a:prstDash val="solid"/>
          </a:ln>
        </p:spPr>
      </p:sp>
      <p:sp>
        <p:nvSpPr>
          <p:cNvPr id="29" name="Shape 25"/>
          <p:cNvSpPr/>
          <p:nvPr/>
        </p:nvSpPr>
        <p:spPr>
          <a:xfrm>
            <a:off x="777240" y="4709160"/>
            <a:ext cx="566928" cy="566928"/>
          </a:xfrm>
          <a:prstGeom prst="ellipse">
            <a:avLst/>
          </a:prstGeom>
          <a:solidFill>
            <a:srgbClr val="14213D"/>
          </a:solidFill>
          <a:ln w="12700">
            <a:solidFill>
              <a:srgbClr val="14213D"/>
            </a:solidFill>
            <a:prstDash val="solid"/>
          </a:ln>
        </p:spPr>
      </p:sp>
      <p:pic>
        <p:nvPicPr>
          <p:cNvPr id="30" name="Image 0" descr="preencoded.png">    </p:cNvPr>
          <p:cNvPicPr>
            <a:picLocks noChangeAspect="1"/>
          </p:cNvPicPr>
          <p:nvPr/>
        </p:nvPicPr>
        <p:blipFill>
          <a:blip r:embed="rId1"/>
          <a:stretch>
            <a:fillRect/>
          </a:stretch>
        </p:blipFill>
        <p:spPr>
          <a:xfrm>
            <a:off x="924641" y="4856561"/>
            <a:ext cx="272125" cy="272125"/>
          </a:xfrm>
          <a:prstGeom prst="rect">
            <a:avLst/>
          </a:prstGeom>
        </p:spPr>
      </p:pic>
      <p:sp>
        <p:nvSpPr>
          <p:cNvPr id="31" name="Text 26"/>
          <p:cNvSpPr txBox="1"/>
          <p:nvPr/>
        </p:nvSpPr>
        <p:spPr>
          <a:xfrm>
            <a:off x="1463040" y="4709160"/>
            <a:ext cx="43891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continue vs break</a:t>
            </a:r>
            <a:endParaRPr lang="en-US" sz="1700" dirty="0"/>
          </a:p>
        </p:txBody>
      </p:sp>
      <p:sp>
        <p:nvSpPr>
          <p:cNvPr id="32" name="Text 27"/>
          <p:cNvSpPr txBox="1"/>
          <p:nvPr/>
        </p:nvSpPr>
        <p:spPr>
          <a:xfrm>
            <a:off x="777240" y="5394960"/>
            <a:ext cx="5029200" cy="5486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continue skips the rest of THIS pass; break leaves the loop completely.</a:t>
            </a:r>
            <a:endParaRPr lang="en-US" sz="1400" dirty="0"/>
          </a:p>
        </p:txBody>
      </p:sp>
      <p:sp>
        <p:nvSpPr>
          <p:cNvPr id="33" name="Shape 28"/>
          <p:cNvSpPr/>
          <p:nvPr/>
        </p:nvSpPr>
        <p:spPr>
          <a:xfrm>
            <a:off x="6172200" y="4480560"/>
            <a:ext cx="5486400" cy="1600200"/>
          </a:xfrm>
          <a:prstGeom prst="roundRect">
            <a:avLst>
              <a:gd name="adj" fmla="val 6857"/>
            </a:avLst>
          </a:prstGeom>
          <a:solidFill>
            <a:srgbClr val="EEF1F6"/>
          </a:solidFill>
          <a:ln w="12700">
            <a:solidFill>
              <a:srgbClr val="EEF1F6"/>
            </a:solidFill>
            <a:prstDash val="solid"/>
          </a:ln>
        </p:spPr>
      </p:sp>
      <p:sp>
        <p:nvSpPr>
          <p:cNvPr id="34" name="Shape 29"/>
          <p:cNvSpPr/>
          <p:nvPr/>
        </p:nvSpPr>
        <p:spPr>
          <a:xfrm>
            <a:off x="6400800" y="4709160"/>
            <a:ext cx="566928" cy="566928"/>
          </a:xfrm>
          <a:prstGeom prst="ellipse">
            <a:avLst/>
          </a:prstGeom>
          <a:solidFill>
            <a:srgbClr val="2E9E6A"/>
          </a:solidFill>
          <a:ln w="12700">
            <a:solidFill>
              <a:srgbClr val="2E9E6A"/>
            </a:solidFill>
            <a:prstDash val="solid"/>
          </a:ln>
        </p:spPr>
      </p:sp>
      <p:pic>
        <p:nvPicPr>
          <p:cNvPr id="35" name="Image 1" descr="preencoded.png">    </p:cNvPr>
          <p:cNvPicPr>
            <a:picLocks noChangeAspect="1"/>
          </p:cNvPicPr>
          <p:nvPr/>
        </p:nvPicPr>
        <p:blipFill>
          <a:blip r:embed="rId2"/>
          <a:stretch>
            <a:fillRect/>
          </a:stretch>
        </p:blipFill>
        <p:spPr>
          <a:xfrm>
            <a:off x="6548201" y="4856561"/>
            <a:ext cx="272125" cy="272125"/>
          </a:xfrm>
          <a:prstGeom prst="rect">
            <a:avLst/>
          </a:prstGeom>
        </p:spPr>
      </p:pic>
      <p:sp>
        <p:nvSpPr>
          <p:cNvPr id="36" name="Text 30"/>
          <p:cNvSpPr txBox="1"/>
          <p:nvPr/>
        </p:nvSpPr>
        <p:spPr>
          <a:xfrm>
            <a:off x="7086600" y="4709160"/>
            <a:ext cx="43891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Post-test</a:t>
            </a:r>
            <a:endParaRPr lang="en-US" sz="1700" dirty="0"/>
          </a:p>
        </p:txBody>
      </p:sp>
      <p:sp>
        <p:nvSpPr>
          <p:cNvPr id="37" name="Text 31"/>
          <p:cNvSpPr txBox="1"/>
          <p:nvPr/>
        </p:nvSpPr>
        <p:spPr>
          <a:xfrm>
            <a:off x="6400800" y="5394960"/>
            <a:ext cx="5029200" cy="5486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do-while runs the body once before testing; while may run it zero times.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Practice II: Debug, Draw, Write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Find the bugs · draw the flowchart · write the program · exam strategy</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8</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Q10 · FIND THE BUGS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Find the Bugs: Average of n Grades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9372600" y="301752"/>
            <a:ext cx="2286000" cy="347472"/>
          </a:xfrm>
          <a:prstGeom prst="roundRect">
            <a:avLst>
              <a:gd name="adj" fmla="val 50000"/>
            </a:avLst>
          </a:prstGeom>
          <a:solidFill>
            <a:srgbClr val="C8453B"/>
          </a:solidFill>
          <a:ln w="12700">
            <a:solidFill>
              <a:srgbClr val="C8453B"/>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FIND BUGS · 5 min</a:t>
            </a:r>
            <a:endParaRPr lang="en-US" sz="1200" dirty="0"/>
          </a:p>
        </p:txBody>
      </p:sp>
      <p:sp>
        <p:nvSpPr>
          <p:cNvPr id="9" name="Shape 6"/>
          <p:cNvSpPr/>
          <p:nvPr/>
        </p:nvSpPr>
        <p:spPr>
          <a:xfrm>
            <a:off x="548640" y="1645920"/>
            <a:ext cx="694944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Intended: read n grades, print their average</a:t>
            </a:r>
            <a:endParaRPr lang="en-US" sz="1100" dirty="0"/>
          </a:p>
        </p:txBody>
      </p:sp>
      <p:sp>
        <p:nvSpPr>
          <p:cNvPr id="11" name="Text 8"/>
          <p:cNvSpPr txBox="1"/>
          <p:nvPr/>
        </p:nvSpPr>
        <p:spPr>
          <a:xfrm>
            <a:off x="777240" y="2057400"/>
            <a:ext cx="6492240" cy="3913632"/>
          </a:xfrm>
          <a:prstGeom prst="rect">
            <a:avLst/>
          </a:prstGeom>
          <a:noFill/>
          <a:ln/>
        </p:spPr>
        <p:txBody>
          <a:bodyPr wrap="square" lIns="0" tIns="0" rIns="0" bIns="0" rtlCol="0" anchor="t"/>
          <a:lstStyle/>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"How many grades?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.ReadLine());</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n; i++);</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"Grade: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g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.ReadLine());</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g;</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avg = sum / n;</a:t>
            </a:r>
            <a:endParaRPr lang="en-US" sz="1400" dirty="0"/>
          </a:p>
          <a:p>
            <a:pPr indent="0" marL="0">
              <a:spcAft>
                <a:spcPts val="100"/>
              </a:spcAft>
              <a:buNone/>
            </a:pPr>
            <a:r>
              <a:rPr lang="en-US" sz="14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"Average: {avg:F2}"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7772400" y="1645920"/>
            <a:ext cx="3886200" cy="2148840"/>
          </a:xfrm>
          <a:prstGeom prst="roundRect">
            <a:avLst>
              <a:gd name="adj" fmla="val 5106"/>
            </a:avLst>
          </a:prstGeom>
          <a:solidFill>
            <a:srgbClr val="FBE9E7"/>
          </a:solidFill>
          <a:ln w="12700">
            <a:solidFill>
              <a:srgbClr val="FBE9E7"/>
            </a:solidFill>
            <a:prstDash val="solid"/>
          </a:ln>
        </p:spPr>
      </p:sp>
      <p:sp>
        <p:nvSpPr>
          <p:cNvPr id="13" name="Shape 10"/>
          <p:cNvSpPr/>
          <p:nvPr/>
        </p:nvSpPr>
        <p:spPr>
          <a:xfrm>
            <a:off x="8001000" y="1874520"/>
            <a:ext cx="566928" cy="566928"/>
          </a:xfrm>
          <a:prstGeom prst="ellipse">
            <a:avLst/>
          </a:prstGeom>
          <a:solidFill>
            <a:srgbClr val="C8453B"/>
          </a:solidFill>
          <a:ln w="12700">
            <a:solidFill>
              <a:srgbClr val="C8453B"/>
            </a:solidFill>
            <a:prstDash val="solid"/>
          </a:ln>
        </p:spPr>
      </p:sp>
      <p:pic>
        <p:nvPicPr>
          <p:cNvPr id="14" name="Image 0" descr="preencoded.png">    </p:cNvPr>
          <p:cNvPicPr>
            <a:picLocks noChangeAspect="1"/>
          </p:cNvPicPr>
          <p:nvPr/>
        </p:nvPicPr>
        <p:blipFill>
          <a:blip r:embed="rId1"/>
          <a:stretch>
            <a:fillRect/>
          </a:stretch>
        </p:blipFill>
        <p:spPr>
          <a:xfrm>
            <a:off x="8148401" y="2021921"/>
            <a:ext cx="272125" cy="272125"/>
          </a:xfrm>
          <a:prstGeom prst="rect">
            <a:avLst/>
          </a:prstGeom>
        </p:spPr>
      </p:pic>
      <p:sp>
        <p:nvSpPr>
          <p:cNvPr id="15" name="Text 11"/>
          <p:cNvSpPr txBox="1"/>
          <p:nvPr/>
        </p:nvSpPr>
        <p:spPr>
          <a:xfrm>
            <a:off x="8686800" y="1874520"/>
            <a:ext cx="27889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5 problems</a:t>
            </a:r>
            <a:endParaRPr lang="en-US" sz="1700" dirty="0"/>
          </a:p>
        </p:txBody>
      </p:sp>
      <p:sp>
        <p:nvSpPr>
          <p:cNvPr id="16" name="Text 12"/>
          <p:cNvSpPr txBox="1"/>
          <p:nvPr/>
        </p:nvSpPr>
        <p:spPr>
          <a:xfrm>
            <a:off x="8001000" y="2560320"/>
            <a:ext cx="342900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Four lines are wrong and one check is missing. It compiles (with 1 warning).</a:t>
            </a:r>
            <a:endParaRPr lang="en-US" sz="1400" dirty="0"/>
          </a:p>
        </p:txBody>
      </p:sp>
      <p:sp>
        <p:nvSpPr>
          <p:cNvPr id="17" name="Shape 13"/>
          <p:cNvSpPr/>
          <p:nvPr/>
        </p:nvSpPr>
        <p:spPr>
          <a:xfrm>
            <a:off x="7772400" y="3931920"/>
            <a:ext cx="3886200" cy="2148840"/>
          </a:xfrm>
          <a:prstGeom prst="roundRect">
            <a:avLst>
              <a:gd name="adj" fmla="val 5106"/>
            </a:avLst>
          </a:prstGeom>
          <a:solidFill>
            <a:srgbClr val="E3ECF8"/>
          </a:solidFill>
          <a:ln w="12700">
            <a:solidFill>
              <a:srgbClr val="E3ECF8"/>
            </a:solidFill>
            <a:prstDash val="solid"/>
          </a:ln>
        </p:spPr>
      </p:sp>
      <p:sp>
        <p:nvSpPr>
          <p:cNvPr id="18" name="Shape 14"/>
          <p:cNvSpPr/>
          <p:nvPr/>
        </p:nvSpPr>
        <p:spPr>
          <a:xfrm>
            <a:off x="8001000" y="4160520"/>
            <a:ext cx="566928" cy="566928"/>
          </a:xfrm>
          <a:prstGeom prst="ellipse">
            <a:avLst/>
          </a:prstGeom>
          <a:solidFill>
            <a:srgbClr val="2F6FB3"/>
          </a:solidFill>
          <a:ln w="12700">
            <a:solidFill>
              <a:srgbClr val="2F6FB3"/>
            </a:solidFill>
            <a:prstDash val="solid"/>
          </a:ln>
        </p:spPr>
      </p:sp>
      <p:pic>
        <p:nvPicPr>
          <p:cNvPr id="19" name="Image 1" descr="preencoded.png">    </p:cNvPr>
          <p:cNvPicPr>
            <a:picLocks noChangeAspect="1"/>
          </p:cNvPicPr>
          <p:nvPr/>
        </p:nvPicPr>
        <p:blipFill>
          <a:blip r:embed="rId2"/>
          <a:stretch>
            <a:fillRect/>
          </a:stretch>
        </p:blipFill>
        <p:spPr>
          <a:xfrm>
            <a:off x="8148401" y="4307921"/>
            <a:ext cx="272125" cy="272125"/>
          </a:xfrm>
          <a:prstGeom prst="rect">
            <a:avLst/>
          </a:prstGeom>
        </p:spPr>
      </p:pic>
      <p:sp>
        <p:nvSpPr>
          <p:cNvPr id="20" name="Text 15"/>
          <p:cNvSpPr txBox="1"/>
          <p:nvPr/>
        </p:nvSpPr>
        <p:spPr>
          <a:xfrm>
            <a:off x="8686800" y="4160520"/>
            <a:ext cx="27889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Warm-up</a:t>
            </a:r>
            <a:endParaRPr lang="en-US" sz="1700" dirty="0"/>
          </a:p>
        </p:txBody>
      </p:sp>
      <p:sp>
        <p:nvSpPr>
          <p:cNvPr id="21" name="Text 16"/>
          <p:cNvSpPr txBox="1"/>
          <p:nvPr/>
        </p:nvSpPr>
        <p:spPr>
          <a:xfrm>
            <a:off x="8001000" y="4846320"/>
            <a:ext cx="342900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What does the program print for n = 3 and grades 70, 80, 90?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Q10</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Find the Bugs: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315200" cy="914400"/>
        </p:xfrm>
        <a:graphic>
          <a:graphicData uri="http://schemas.openxmlformats.org/drawingml/2006/table">
            <a:tbl>
              <a:tblPr/>
              <a:tblGrid>
                <a:gridCol w="731520"/>
                <a:gridCol w="3931920"/>
                <a:gridCol w="265176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Bug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 &lt; n reads only n − 1 values (off by one)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 &lt;= 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after the for header: empty loop body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delete the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sum / n is integer division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(double)sum / 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 $, so {avg:F2} is printed as text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$"Average: {avg:F2}"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 = 0 → DivideByZeroException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check n &gt; 0 first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6"/>
          <p:cNvSpPr/>
          <p:nvPr/>
        </p:nvSpPr>
        <p:spPr>
          <a:xfrm>
            <a:off x="8138160" y="1645920"/>
            <a:ext cx="3520440" cy="2834640"/>
          </a:xfrm>
          <a:prstGeom prst="roundRect">
            <a:avLst>
              <a:gd name="adj" fmla="val 3226"/>
            </a:avLst>
          </a:prstGeom>
          <a:solidFill>
            <a:srgbClr val="0B0F19"/>
          </a:solidFill>
          <a:ln w="12700">
            <a:solidFill>
              <a:srgbClr val="2A3654"/>
            </a:solidFill>
            <a:prstDash val="solid"/>
          </a:ln>
        </p:spPr>
      </p:sp>
      <p:sp>
        <p:nvSpPr>
          <p:cNvPr id="11" name="Shape 7"/>
          <p:cNvSpPr/>
          <p:nvPr/>
        </p:nvSpPr>
        <p:spPr>
          <a:xfrm>
            <a:off x="8321040" y="1773936"/>
            <a:ext cx="118872" cy="118872"/>
          </a:xfrm>
          <a:prstGeom prst="ellipse">
            <a:avLst/>
          </a:prstGeom>
          <a:solidFill>
            <a:srgbClr val="FF5F57"/>
          </a:solidFill>
          <a:ln w="12700">
            <a:solidFill>
              <a:srgbClr val="FF5F57"/>
            </a:solidFill>
            <a:prstDash val="solid"/>
          </a:ln>
        </p:spPr>
      </p:sp>
      <p:sp>
        <p:nvSpPr>
          <p:cNvPr id="12" name="Shape 8"/>
          <p:cNvSpPr/>
          <p:nvPr/>
        </p:nvSpPr>
        <p:spPr>
          <a:xfrm>
            <a:off x="8549640" y="1773936"/>
            <a:ext cx="118872" cy="118872"/>
          </a:xfrm>
          <a:prstGeom prst="ellipse">
            <a:avLst/>
          </a:prstGeom>
          <a:solidFill>
            <a:srgbClr val="FEBC2E"/>
          </a:solidFill>
          <a:ln w="12700">
            <a:solidFill>
              <a:srgbClr val="FEBC2E"/>
            </a:solidFill>
            <a:prstDash val="solid"/>
          </a:ln>
        </p:spPr>
      </p:sp>
      <p:sp>
        <p:nvSpPr>
          <p:cNvPr id="13" name="Shape 9"/>
          <p:cNvSpPr/>
          <p:nvPr/>
        </p:nvSpPr>
        <p:spPr>
          <a:xfrm>
            <a:off x="8778240" y="177393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9052560" y="1719072"/>
            <a:ext cx="24231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Buggy version, real run</a:t>
            </a:r>
            <a:endParaRPr lang="en-US" sz="1000" dirty="0"/>
          </a:p>
        </p:txBody>
      </p:sp>
      <p:sp>
        <p:nvSpPr>
          <p:cNvPr id="15" name="Text 11"/>
          <p:cNvSpPr txBox="1"/>
          <p:nvPr/>
        </p:nvSpPr>
        <p:spPr>
          <a:xfrm>
            <a:off x="8366760" y="2029968"/>
            <a:ext cx="3063240" cy="23317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grades?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{avg:F2}</a:t>
            </a:r>
            <a:endParaRPr lang="en-US" sz="1300" dirty="0"/>
          </a:p>
        </p:txBody>
      </p:sp>
      <p:sp>
        <p:nvSpPr>
          <p:cNvPr id="16" name="Text 12"/>
          <p:cNvSpPr txBox="1"/>
          <p:nvPr/>
        </p:nvSpPr>
        <p:spPr>
          <a:xfrm>
            <a:off x="8138160" y="4572000"/>
            <a:ext cx="3520440" cy="91440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Only one grade is read: the loop body is empty (;), the block after it runs once.</a:t>
            </a:r>
            <a:endParaRPr lang="en-US" sz="1300" dirty="0"/>
          </a:p>
        </p:txBody>
      </p:sp>
      <p:sp>
        <p:nvSpPr>
          <p:cNvPr id="17" name="Shape 13"/>
          <p:cNvSpPr/>
          <p:nvPr/>
        </p:nvSpPr>
        <p:spPr>
          <a:xfrm>
            <a:off x="548640" y="4663440"/>
            <a:ext cx="7315200" cy="1371600"/>
          </a:xfrm>
          <a:prstGeom prst="roundRect">
            <a:avLst>
              <a:gd name="adj" fmla="val 8000"/>
            </a:avLst>
          </a:prstGeom>
          <a:solidFill>
            <a:srgbClr val="FBE9E7"/>
          </a:solidFill>
          <a:ln w="12700">
            <a:solidFill>
              <a:srgbClr val="FBE9E7"/>
            </a:solidFill>
            <a:prstDash val="solid"/>
          </a:ln>
        </p:spPr>
      </p:sp>
      <p:pic>
        <p:nvPicPr>
          <p:cNvPr id="18" name="Image 0" descr="preencoded.png">    </p:cNvPr>
          <p:cNvPicPr>
            <a:picLocks noChangeAspect="1"/>
          </p:cNvPicPr>
          <p:nvPr/>
        </p:nvPicPr>
        <p:blipFill>
          <a:blip r:embed="rId1"/>
          <a:stretch>
            <a:fillRect/>
          </a:stretch>
        </p:blipFill>
        <p:spPr>
          <a:xfrm>
            <a:off x="822960" y="5074920"/>
            <a:ext cx="548640" cy="548640"/>
          </a:xfrm>
          <a:prstGeom prst="rect">
            <a:avLst/>
          </a:prstGeom>
        </p:spPr>
      </p:pic>
      <p:sp>
        <p:nvSpPr>
          <p:cNvPr id="19" name="Text 14"/>
          <p:cNvSpPr txBox="1"/>
          <p:nvPr/>
        </p:nvSpPr>
        <p:spPr>
          <a:xfrm>
            <a:off x="1645920" y="4736592"/>
            <a:ext cx="5943600" cy="12252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Compiler warning CS0642 </a:t>
            </a:r>
            <a:pPr indent="0" marL="0">
              <a:buNone/>
            </a:pPr>
            <a:r>
              <a:rPr lang="en-US" sz="1400" dirty="0">
                <a:solidFill>
                  <a:srgbClr val="333B4F"/>
                </a:solidFill>
                <a:latin typeface="Calibri" pitchFamily="34" charset="0"/>
                <a:ea typeface="Calibri" pitchFamily="34" charset="-122"/>
                <a:cs typeface="Calibri" pitchFamily="34" charset="-120"/>
              </a:rPr>
              <a:t>"Possible mistaken empty statement" points at line 4. Warnings are hints: read them.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Q11 · FLOWCHART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Draw the Flowchart: Sum of Even Numbers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9372600" y="301752"/>
            <a:ext cx="2286000" cy="347472"/>
          </a:xfrm>
          <a:prstGeom prst="roundRect">
            <a:avLst>
              <a:gd name="adj" fmla="val 50000"/>
            </a:avLst>
          </a:prstGeom>
          <a:solidFill>
            <a:srgbClr val="2F6FB3"/>
          </a:solidFill>
          <a:ln w="12700">
            <a:solidFill>
              <a:srgbClr val="2F6FB3"/>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FLOWCHART · 6 min</a:t>
            </a:r>
            <a:endParaRPr lang="en-US" sz="1200" dirty="0"/>
          </a:p>
        </p:txBody>
      </p:sp>
      <p:sp>
        <p:nvSpPr>
          <p:cNvPr id="9" name="Shape 6"/>
          <p:cNvSpPr/>
          <p:nvPr/>
        </p:nvSpPr>
        <p:spPr>
          <a:xfrm>
            <a:off x="548640" y="1645920"/>
            <a:ext cx="6035040" cy="1920240"/>
          </a:xfrm>
          <a:prstGeom prst="roundRect">
            <a:avLst>
              <a:gd name="adj" fmla="val 5714"/>
            </a:avLst>
          </a:prstGeom>
          <a:solidFill>
            <a:srgbClr val="14213D"/>
          </a:solidFill>
          <a:ln w="12700">
            <a:solidFill>
              <a:srgbClr val="14213D"/>
            </a:solidFill>
            <a:prstDash val="solid"/>
          </a:ln>
        </p:spPr>
      </p:sp>
      <p:sp>
        <p:nvSpPr>
          <p:cNvPr id="10" name="Text 7"/>
          <p:cNvSpPr txBox="1"/>
          <p:nvPr/>
        </p:nvSpPr>
        <p:spPr>
          <a:xfrm>
            <a:off x="822960" y="1783080"/>
            <a:ext cx="5577840" cy="1645920"/>
          </a:xfrm>
          <a:prstGeom prst="rect">
            <a:avLst/>
          </a:prstGeom>
          <a:noFill/>
          <a:ln/>
        </p:spPr>
        <p:txBody>
          <a:bodyPr wrap="square" lIns="0" tIns="0" rIns="0" bIns="0" rtlCol="0" anchor="ctr"/>
          <a:lstStyle/>
          <a:p>
            <a:pPr indent="0" marL="0">
              <a:buNone/>
            </a:pPr>
            <a:r>
              <a:rPr lang="en-US" sz="1600" b="1" dirty="0">
                <a:solidFill>
                  <a:srgbClr val="FCA311"/>
                </a:solidFill>
                <a:latin typeface="Calibri" pitchFamily="34" charset="0"/>
                <a:ea typeface="Calibri" pitchFamily="34" charset="-122"/>
                <a:cs typeface="Calibri" pitchFamily="34" charset="-120"/>
              </a:rPr>
              <a:t>Problem. </a:t>
            </a:r>
            <a:pPr indent="0" marL="0">
              <a:buNone/>
            </a:pPr>
            <a:r>
              <a:rPr lang="en-US" sz="1600" dirty="0">
                <a:solidFill>
                  <a:srgbClr val="FFFFFF"/>
                </a:solidFill>
                <a:latin typeface="Calibri" pitchFamily="34" charset="0"/>
                <a:ea typeface="Calibri" pitchFamily="34" charset="-122"/>
                <a:cs typeface="Calibri" pitchFamily="34" charset="-120"/>
              </a:rPr>
              <a:t>Read a whole number N. Compute the sum of all even numbers from 1 to N and print it. Example: N = 10 → 2 + 4 + 6 + 8 + 10 = 30.</a:t>
            </a:r>
            <a:endParaRPr lang="en-US" sz="1600" dirty="0"/>
          </a:p>
        </p:txBody>
      </p:sp>
      <p:sp>
        <p:nvSpPr>
          <p:cNvPr id="11" name="Text 8"/>
          <p:cNvSpPr txBox="1"/>
          <p:nvPr/>
        </p:nvSpPr>
        <p:spPr>
          <a:xfrm>
            <a:off x="548640" y="3794760"/>
            <a:ext cx="603504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Use these symbols</a:t>
            </a:r>
            <a:endParaRPr lang="en-US" sz="1600" dirty="0"/>
          </a:p>
        </p:txBody>
      </p:sp>
      <p:sp>
        <p:nvSpPr>
          <p:cNvPr id="12" name="Shape 9"/>
          <p:cNvSpPr/>
          <p:nvPr/>
        </p:nvSpPr>
        <p:spPr>
          <a:xfrm>
            <a:off x="640080" y="4389120"/>
            <a:ext cx="1371600" cy="457200"/>
          </a:xfrm>
          <a:prstGeom prst="flowChartTerminator">
            <a:avLst/>
          </a:prstGeom>
          <a:solidFill>
            <a:srgbClr val="FFF1D6"/>
          </a:solidFill>
          <a:ln w="15875">
            <a:solidFill>
              <a:srgbClr val="14213D"/>
            </a:solidFill>
            <a:prstDash val="solid"/>
          </a:ln>
        </p:spPr>
      </p:sp>
      <p:sp>
        <p:nvSpPr>
          <p:cNvPr id="13" name="Text 10"/>
          <p:cNvSpPr txBox="1"/>
          <p:nvPr/>
        </p:nvSpPr>
        <p:spPr>
          <a:xfrm>
            <a:off x="685800" y="4389120"/>
            <a:ext cx="128016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Start/End</a:t>
            </a:r>
            <a:endParaRPr lang="en-US" sz="1200" dirty="0"/>
          </a:p>
        </p:txBody>
      </p:sp>
      <p:sp>
        <p:nvSpPr>
          <p:cNvPr id="14" name="Shape 11"/>
          <p:cNvSpPr/>
          <p:nvPr/>
        </p:nvSpPr>
        <p:spPr>
          <a:xfrm>
            <a:off x="2148840" y="4366260"/>
            <a:ext cx="1554480" cy="502920"/>
          </a:xfrm>
          <a:prstGeom prst="flowChartInputOutput">
            <a:avLst/>
          </a:prstGeom>
          <a:solidFill>
            <a:srgbClr val="FFFFFF"/>
          </a:solidFill>
          <a:ln w="15875">
            <a:solidFill>
              <a:srgbClr val="14213D"/>
            </a:solidFill>
            <a:prstDash val="solid"/>
          </a:ln>
        </p:spPr>
      </p:sp>
      <p:sp>
        <p:nvSpPr>
          <p:cNvPr id="15" name="Text 12"/>
          <p:cNvSpPr txBox="1"/>
          <p:nvPr/>
        </p:nvSpPr>
        <p:spPr>
          <a:xfrm>
            <a:off x="2194560" y="4366260"/>
            <a:ext cx="1463040" cy="50292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READ/PRINT</a:t>
            </a:r>
            <a:endParaRPr lang="en-US" sz="1200" dirty="0"/>
          </a:p>
        </p:txBody>
      </p:sp>
      <p:sp>
        <p:nvSpPr>
          <p:cNvPr id="16" name="Shape 13"/>
          <p:cNvSpPr/>
          <p:nvPr/>
        </p:nvSpPr>
        <p:spPr>
          <a:xfrm>
            <a:off x="3840480" y="4366260"/>
            <a:ext cx="1371600" cy="502920"/>
          </a:xfrm>
          <a:prstGeom prst="flowChartProcess">
            <a:avLst/>
          </a:prstGeom>
          <a:solidFill>
            <a:srgbClr val="FFFFFF"/>
          </a:solidFill>
          <a:ln w="15875">
            <a:solidFill>
              <a:srgbClr val="14213D"/>
            </a:solidFill>
            <a:prstDash val="solid"/>
          </a:ln>
        </p:spPr>
      </p:sp>
      <p:sp>
        <p:nvSpPr>
          <p:cNvPr id="17" name="Text 14"/>
          <p:cNvSpPr txBox="1"/>
          <p:nvPr/>
        </p:nvSpPr>
        <p:spPr>
          <a:xfrm>
            <a:off x="3886200" y="4366260"/>
            <a:ext cx="1280160" cy="50292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assign</a:t>
            </a:r>
            <a:endParaRPr lang="en-US" sz="1200" dirty="0"/>
          </a:p>
        </p:txBody>
      </p:sp>
      <p:sp>
        <p:nvSpPr>
          <p:cNvPr id="18" name="Shape 15"/>
          <p:cNvSpPr/>
          <p:nvPr/>
        </p:nvSpPr>
        <p:spPr>
          <a:xfrm>
            <a:off x="5349240" y="4274820"/>
            <a:ext cx="1188720" cy="685800"/>
          </a:xfrm>
          <a:prstGeom prst="flowChartDecision">
            <a:avLst/>
          </a:prstGeom>
          <a:solidFill>
            <a:srgbClr val="E3ECF8"/>
          </a:solidFill>
          <a:ln w="15875">
            <a:solidFill>
              <a:srgbClr val="14213D"/>
            </a:solidFill>
            <a:prstDash val="solid"/>
          </a:ln>
        </p:spPr>
      </p:sp>
      <p:sp>
        <p:nvSpPr>
          <p:cNvPr id="19" name="Text 16"/>
          <p:cNvSpPr txBox="1"/>
          <p:nvPr/>
        </p:nvSpPr>
        <p:spPr>
          <a:xfrm>
            <a:off x="5394960" y="4274820"/>
            <a:ext cx="1097280" cy="6858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test ?</a:t>
            </a:r>
            <a:endParaRPr lang="en-US" sz="1200" dirty="0"/>
          </a:p>
        </p:txBody>
      </p:sp>
      <p:sp>
        <p:nvSpPr>
          <p:cNvPr id="20" name="Text 17"/>
          <p:cNvSpPr txBox="1"/>
          <p:nvPr/>
        </p:nvSpPr>
        <p:spPr>
          <a:xfrm>
            <a:off x="548640" y="5257800"/>
            <a:ext cx="6035040" cy="777240"/>
          </a:xfrm>
          <a:prstGeom prst="rect">
            <a:avLst/>
          </a:prstGeom>
          <a:noFill/>
          <a:ln/>
        </p:spPr>
        <p:txBody>
          <a:bodyPr wrap="square" lIns="0" tIns="0" rIns="0" bIns="0" rtlCol="0" anchor="t"/>
          <a:lstStyle/>
          <a:p>
            <a:pPr indent="0" marL="0">
              <a:buNone/>
            </a:pPr>
            <a:r>
              <a:rPr lang="en-US" sz="1400" dirty="0">
                <a:solidFill>
                  <a:srgbClr val="5B6478"/>
                </a:solidFill>
                <a:latin typeface="Calibri" pitchFamily="34" charset="0"/>
                <a:ea typeface="Calibri" pitchFamily="34" charset="-122"/>
                <a:cs typeface="Calibri" pitchFamily="34" charset="-120"/>
              </a:rPr>
              <a:t>Checklist: 2 decisions (loop test, even test) · counter update · loop back-arrow · both exits labelled.</a:t>
            </a:r>
            <a:endParaRPr lang="en-US" sz="1400" dirty="0"/>
          </a:p>
        </p:txBody>
      </p:sp>
      <p:sp>
        <p:nvSpPr>
          <p:cNvPr id="21" name="Shape 18"/>
          <p:cNvSpPr/>
          <p:nvPr/>
        </p:nvSpPr>
        <p:spPr>
          <a:xfrm>
            <a:off x="6858000" y="1645920"/>
            <a:ext cx="4800600" cy="4434840"/>
          </a:xfrm>
          <a:prstGeom prst="roundRect">
            <a:avLst>
              <a:gd name="adj" fmla="val 2474"/>
            </a:avLst>
          </a:prstGeom>
          <a:solidFill>
            <a:srgbClr val="FFFFFF"/>
          </a:solidFill>
          <a:ln w="12700">
            <a:solidFill>
              <a:srgbClr val="FFFFFF"/>
            </a:solidFill>
            <a:prstDash val="solid"/>
          </a:ln>
        </p:spPr>
      </p:sp>
      <p:sp>
        <p:nvSpPr>
          <p:cNvPr id="22" name="Shape 19"/>
          <p:cNvSpPr/>
          <p:nvPr/>
        </p:nvSpPr>
        <p:spPr>
          <a:xfrm>
            <a:off x="6858000" y="1645920"/>
            <a:ext cx="4800600" cy="4434840"/>
          </a:xfrm>
          <a:prstGeom prst="roundRect">
            <a:avLst>
              <a:gd name="adj" fmla="val 2474"/>
            </a:avLst>
          </a:prstGeom>
          <a:solidFill>
            <a:srgbClr val="FFFFFF"/>
          </a:solidFill>
          <a:ln w="19050">
            <a:solidFill>
              <a:srgbClr val="D5DAE3"/>
            </a:solidFill>
            <a:prstDash val="dash"/>
          </a:ln>
        </p:spPr>
      </p:sp>
      <p:sp>
        <p:nvSpPr>
          <p:cNvPr id="23" name="Shape 20"/>
          <p:cNvSpPr/>
          <p:nvPr/>
        </p:nvSpPr>
        <p:spPr>
          <a:xfrm>
            <a:off x="8778240" y="3291840"/>
            <a:ext cx="914400" cy="914400"/>
          </a:xfrm>
          <a:prstGeom prst="ellipse">
            <a:avLst/>
          </a:prstGeom>
          <a:solidFill>
            <a:srgbClr val="5B6478"/>
          </a:solidFill>
          <a:ln w="12700">
            <a:solidFill>
              <a:srgbClr val="5B6478"/>
            </a:solidFill>
            <a:prstDash val="solid"/>
          </a:ln>
        </p:spPr>
      </p:sp>
      <p:pic>
        <p:nvPicPr>
          <p:cNvPr id="24" name="Image 0" descr="preencoded.png">    </p:cNvPr>
          <p:cNvPicPr>
            <a:picLocks noChangeAspect="1"/>
          </p:cNvPicPr>
          <p:nvPr/>
        </p:nvPicPr>
        <p:blipFill>
          <a:blip r:embed="rId1"/>
          <a:stretch>
            <a:fillRect/>
          </a:stretch>
        </p:blipFill>
        <p:spPr>
          <a:xfrm>
            <a:off x="9015984" y="3529584"/>
            <a:ext cx="438912" cy="438912"/>
          </a:xfrm>
          <a:prstGeom prst="rect">
            <a:avLst/>
          </a:prstGeom>
        </p:spPr>
      </p:pic>
      <p:sp>
        <p:nvSpPr>
          <p:cNvPr id="25" name="Text 21"/>
          <p:cNvSpPr txBox="1"/>
          <p:nvPr/>
        </p:nvSpPr>
        <p:spPr>
          <a:xfrm>
            <a:off x="6858000" y="4343400"/>
            <a:ext cx="4800600" cy="365760"/>
          </a:xfrm>
          <a:prstGeom prst="rect">
            <a:avLst/>
          </a:prstGeom>
          <a:noFill/>
          <a:ln/>
        </p:spPr>
        <p:txBody>
          <a:bodyPr wrap="square" lIns="0" tIns="0" rIns="0" bIns="0" rtlCol="0" anchor="ctr"/>
          <a:lstStyle/>
          <a:p>
            <a:pPr algn="ctr" indent="0" marL="0">
              <a:buNone/>
            </a:pPr>
            <a:r>
              <a:rPr lang="en-US" sz="1500" dirty="0">
                <a:solidFill>
                  <a:srgbClr val="5B6478"/>
                </a:solidFill>
                <a:latin typeface="Calibri" pitchFamily="34" charset="0"/>
                <a:ea typeface="Calibri" pitchFamily="34" charset="-122"/>
                <a:cs typeface="Calibri" pitchFamily="34" charset="-120"/>
              </a:rPr>
              <a:t>Sketch your flowchart here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Sum of Even Numbers: Flowchart and 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1463040" y="1600200"/>
            <a:ext cx="1371600" cy="365760"/>
          </a:xfrm>
          <a:prstGeom prst="flowChartTerminator">
            <a:avLst/>
          </a:prstGeom>
          <a:solidFill>
            <a:srgbClr val="FFF1D6"/>
          </a:solidFill>
          <a:ln w="15875">
            <a:solidFill>
              <a:srgbClr val="14213D"/>
            </a:solidFill>
            <a:prstDash val="solid"/>
          </a:ln>
        </p:spPr>
      </p:sp>
      <p:sp>
        <p:nvSpPr>
          <p:cNvPr id="10" name="Text 7"/>
          <p:cNvSpPr txBox="1"/>
          <p:nvPr/>
        </p:nvSpPr>
        <p:spPr>
          <a:xfrm>
            <a:off x="1508760" y="1600200"/>
            <a:ext cx="1280160" cy="3657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a:t>
            </a:r>
            <a:endParaRPr lang="en-US" sz="1200" dirty="0"/>
          </a:p>
        </p:txBody>
      </p:sp>
      <p:sp>
        <p:nvSpPr>
          <p:cNvPr id="11" name="Shape 8"/>
          <p:cNvSpPr/>
          <p:nvPr/>
        </p:nvSpPr>
        <p:spPr>
          <a:xfrm>
            <a:off x="1325880" y="2139696"/>
            <a:ext cx="1645920" cy="384048"/>
          </a:xfrm>
          <a:prstGeom prst="flowChartInputOutput">
            <a:avLst/>
          </a:prstGeom>
          <a:solidFill>
            <a:srgbClr val="FFFFFF"/>
          </a:solidFill>
          <a:ln w="15875">
            <a:solidFill>
              <a:srgbClr val="14213D"/>
            </a:solidFill>
            <a:prstDash val="solid"/>
          </a:ln>
        </p:spPr>
      </p:sp>
      <p:sp>
        <p:nvSpPr>
          <p:cNvPr id="12" name="Text 9"/>
          <p:cNvSpPr txBox="1"/>
          <p:nvPr/>
        </p:nvSpPr>
        <p:spPr>
          <a:xfrm>
            <a:off x="1371600" y="2139696"/>
            <a:ext cx="155448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N</a:t>
            </a:r>
            <a:endParaRPr lang="en-US" sz="1200" dirty="0"/>
          </a:p>
        </p:txBody>
      </p:sp>
      <p:sp>
        <p:nvSpPr>
          <p:cNvPr id="13" name="Shape 10"/>
          <p:cNvSpPr/>
          <p:nvPr/>
        </p:nvSpPr>
        <p:spPr>
          <a:xfrm>
            <a:off x="1280160" y="2688336"/>
            <a:ext cx="1737360" cy="384048"/>
          </a:xfrm>
          <a:prstGeom prst="flowChartProcess">
            <a:avLst/>
          </a:prstGeom>
          <a:solidFill>
            <a:srgbClr val="FFFFFF"/>
          </a:solidFill>
          <a:ln w="15875">
            <a:solidFill>
              <a:srgbClr val="14213D"/>
            </a:solidFill>
            <a:prstDash val="solid"/>
          </a:ln>
        </p:spPr>
      </p:sp>
      <p:sp>
        <p:nvSpPr>
          <p:cNvPr id="14" name="Text 11"/>
          <p:cNvSpPr txBox="1"/>
          <p:nvPr/>
        </p:nvSpPr>
        <p:spPr>
          <a:xfrm>
            <a:off x="1325880" y="2688336"/>
            <a:ext cx="164592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sum ← 0,  i ← 1</a:t>
            </a:r>
            <a:endParaRPr lang="en-US" sz="1200" dirty="0"/>
          </a:p>
        </p:txBody>
      </p:sp>
      <p:sp>
        <p:nvSpPr>
          <p:cNvPr id="15" name="Shape 12"/>
          <p:cNvSpPr/>
          <p:nvPr/>
        </p:nvSpPr>
        <p:spPr>
          <a:xfrm>
            <a:off x="1325880" y="3319272"/>
            <a:ext cx="1645920" cy="585216"/>
          </a:xfrm>
          <a:prstGeom prst="flowChartDecision">
            <a:avLst/>
          </a:prstGeom>
          <a:solidFill>
            <a:srgbClr val="E3ECF8"/>
          </a:solidFill>
          <a:ln w="15875">
            <a:solidFill>
              <a:srgbClr val="14213D"/>
            </a:solidFill>
            <a:prstDash val="solid"/>
          </a:ln>
        </p:spPr>
      </p:sp>
      <p:sp>
        <p:nvSpPr>
          <p:cNvPr id="16" name="Text 13"/>
          <p:cNvSpPr txBox="1"/>
          <p:nvPr/>
        </p:nvSpPr>
        <p:spPr>
          <a:xfrm>
            <a:off x="1371600" y="3319272"/>
            <a:ext cx="1554480" cy="58521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 N ?</a:t>
            </a:r>
            <a:endParaRPr lang="en-US" sz="1200" dirty="0"/>
          </a:p>
        </p:txBody>
      </p:sp>
      <p:sp>
        <p:nvSpPr>
          <p:cNvPr id="17" name="Shape 14"/>
          <p:cNvSpPr/>
          <p:nvPr/>
        </p:nvSpPr>
        <p:spPr>
          <a:xfrm>
            <a:off x="1143000" y="4187952"/>
            <a:ext cx="2011680" cy="585216"/>
          </a:xfrm>
          <a:prstGeom prst="flowChartDecision">
            <a:avLst/>
          </a:prstGeom>
          <a:solidFill>
            <a:srgbClr val="E3ECF8"/>
          </a:solidFill>
          <a:ln w="15875">
            <a:solidFill>
              <a:srgbClr val="14213D"/>
            </a:solidFill>
            <a:prstDash val="solid"/>
          </a:ln>
        </p:spPr>
      </p:sp>
      <p:sp>
        <p:nvSpPr>
          <p:cNvPr id="18" name="Text 15"/>
          <p:cNvSpPr txBox="1"/>
          <p:nvPr/>
        </p:nvSpPr>
        <p:spPr>
          <a:xfrm>
            <a:off x="1188720" y="4187952"/>
            <a:ext cx="1920240" cy="58521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mod 2 = 0 ?</a:t>
            </a:r>
            <a:endParaRPr lang="en-US" sz="1200" dirty="0"/>
          </a:p>
        </p:txBody>
      </p:sp>
      <p:sp>
        <p:nvSpPr>
          <p:cNvPr id="19" name="Shape 16"/>
          <p:cNvSpPr/>
          <p:nvPr/>
        </p:nvSpPr>
        <p:spPr>
          <a:xfrm>
            <a:off x="1280160" y="4974336"/>
            <a:ext cx="1737360" cy="384048"/>
          </a:xfrm>
          <a:prstGeom prst="flowChartProcess">
            <a:avLst/>
          </a:prstGeom>
          <a:solidFill>
            <a:srgbClr val="FFFFFF"/>
          </a:solidFill>
          <a:ln w="15875">
            <a:solidFill>
              <a:srgbClr val="14213D"/>
            </a:solidFill>
            <a:prstDash val="solid"/>
          </a:ln>
        </p:spPr>
      </p:sp>
      <p:sp>
        <p:nvSpPr>
          <p:cNvPr id="20" name="Text 17"/>
          <p:cNvSpPr txBox="1"/>
          <p:nvPr/>
        </p:nvSpPr>
        <p:spPr>
          <a:xfrm>
            <a:off x="1325880" y="4974336"/>
            <a:ext cx="164592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sum ← sum + i</a:t>
            </a:r>
            <a:endParaRPr lang="en-US" sz="1200" dirty="0"/>
          </a:p>
        </p:txBody>
      </p:sp>
      <p:sp>
        <p:nvSpPr>
          <p:cNvPr id="21" name="Shape 18"/>
          <p:cNvSpPr/>
          <p:nvPr/>
        </p:nvSpPr>
        <p:spPr>
          <a:xfrm>
            <a:off x="1280160" y="5568696"/>
            <a:ext cx="1737360" cy="384048"/>
          </a:xfrm>
          <a:prstGeom prst="flowChartProcess">
            <a:avLst/>
          </a:prstGeom>
          <a:solidFill>
            <a:srgbClr val="FFFFFF"/>
          </a:solidFill>
          <a:ln w="15875">
            <a:solidFill>
              <a:srgbClr val="14213D"/>
            </a:solidFill>
            <a:prstDash val="solid"/>
          </a:ln>
        </p:spPr>
      </p:sp>
      <p:sp>
        <p:nvSpPr>
          <p:cNvPr id="22" name="Text 19"/>
          <p:cNvSpPr txBox="1"/>
          <p:nvPr/>
        </p:nvSpPr>
        <p:spPr>
          <a:xfrm>
            <a:off x="1325880" y="5568696"/>
            <a:ext cx="164592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 i + 1</a:t>
            </a:r>
            <a:endParaRPr lang="en-US" sz="1200" dirty="0"/>
          </a:p>
        </p:txBody>
      </p:sp>
      <p:sp>
        <p:nvSpPr>
          <p:cNvPr id="23" name="Shape 20"/>
          <p:cNvSpPr/>
          <p:nvPr/>
        </p:nvSpPr>
        <p:spPr>
          <a:xfrm>
            <a:off x="4297680" y="3419856"/>
            <a:ext cx="1554480" cy="384048"/>
          </a:xfrm>
          <a:prstGeom prst="flowChartInputOutput">
            <a:avLst/>
          </a:prstGeom>
          <a:solidFill>
            <a:srgbClr val="FFFFFF"/>
          </a:solidFill>
          <a:ln w="15875">
            <a:solidFill>
              <a:srgbClr val="14213D"/>
            </a:solidFill>
            <a:prstDash val="solid"/>
          </a:ln>
        </p:spPr>
      </p:sp>
      <p:sp>
        <p:nvSpPr>
          <p:cNvPr id="24" name="Text 21"/>
          <p:cNvSpPr txBox="1"/>
          <p:nvPr/>
        </p:nvSpPr>
        <p:spPr>
          <a:xfrm>
            <a:off x="4343400" y="3419856"/>
            <a:ext cx="146304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sum</a:t>
            </a:r>
            <a:endParaRPr lang="en-US" sz="1200" dirty="0"/>
          </a:p>
        </p:txBody>
      </p:sp>
      <p:sp>
        <p:nvSpPr>
          <p:cNvPr id="25" name="Shape 22"/>
          <p:cNvSpPr/>
          <p:nvPr/>
        </p:nvSpPr>
        <p:spPr>
          <a:xfrm>
            <a:off x="4389120" y="4160520"/>
            <a:ext cx="1371600" cy="365760"/>
          </a:xfrm>
          <a:prstGeom prst="flowChartTerminator">
            <a:avLst/>
          </a:prstGeom>
          <a:solidFill>
            <a:srgbClr val="FFF1D6"/>
          </a:solidFill>
          <a:ln w="15875">
            <a:solidFill>
              <a:srgbClr val="14213D"/>
            </a:solidFill>
            <a:prstDash val="solid"/>
          </a:ln>
        </p:spPr>
      </p:sp>
      <p:sp>
        <p:nvSpPr>
          <p:cNvPr id="26" name="Text 23"/>
          <p:cNvSpPr txBox="1"/>
          <p:nvPr/>
        </p:nvSpPr>
        <p:spPr>
          <a:xfrm>
            <a:off x="4434840" y="4160520"/>
            <a:ext cx="1280160" cy="3657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End</a:t>
            </a:r>
            <a:endParaRPr lang="en-US" sz="1200" dirty="0"/>
          </a:p>
        </p:txBody>
      </p:sp>
      <p:sp>
        <p:nvSpPr>
          <p:cNvPr id="27" name="Shape 24"/>
          <p:cNvSpPr/>
          <p:nvPr/>
        </p:nvSpPr>
        <p:spPr>
          <a:xfrm>
            <a:off x="2148840" y="1965960"/>
            <a:ext cx="0" cy="173736"/>
          </a:xfrm>
          <a:prstGeom prst="line">
            <a:avLst/>
          </a:prstGeom>
          <a:noFill/>
          <a:ln w="15875">
            <a:solidFill>
              <a:srgbClr val="14213D"/>
            </a:solidFill>
            <a:prstDash val="solid"/>
            <a:tailEnd type="triangle"/>
          </a:ln>
        </p:spPr>
      </p:sp>
      <p:sp>
        <p:nvSpPr>
          <p:cNvPr id="28" name="Shape 25"/>
          <p:cNvSpPr/>
          <p:nvPr/>
        </p:nvSpPr>
        <p:spPr>
          <a:xfrm>
            <a:off x="2148840" y="2523744"/>
            <a:ext cx="0" cy="164592"/>
          </a:xfrm>
          <a:prstGeom prst="line">
            <a:avLst/>
          </a:prstGeom>
          <a:noFill/>
          <a:ln w="15875">
            <a:solidFill>
              <a:srgbClr val="14213D"/>
            </a:solidFill>
            <a:prstDash val="solid"/>
            <a:tailEnd type="triangle"/>
          </a:ln>
        </p:spPr>
      </p:sp>
      <p:sp>
        <p:nvSpPr>
          <p:cNvPr id="29" name="Shape 26"/>
          <p:cNvSpPr/>
          <p:nvPr/>
        </p:nvSpPr>
        <p:spPr>
          <a:xfrm>
            <a:off x="2148840" y="3072384"/>
            <a:ext cx="0" cy="246888"/>
          </a:xfrm>
          <a:prstGeom prst="line">
            <a:avLst/>
          </a:prstGeom>
          <a:noFill/>
          <a:ln w="15875">
            <a:solidFill>
              <a:srgbClr val="14213D"/>
            </a:solidFill>
            <a:prstDash val="solid"/>
            <a:tailEnd type="triangle"/>
          </a:ln>
        </p:spPr>
      </p:sp>
      <p:sp>
        <p:nvSpPr>
          <p:cNvPr id="30" name="Shape 27"/>
          <p:cNvSpPr/>
          <p:nvPr/>
        </p:nvSpPr>
        <p:spPr>
          <a:xfrm>
            <a:off x="2148840" y="3904488"/>
            <a:ext cx="0" cy="283464"/>
          </a:xfrm>
          <a:prstGeom prst="line">
            <a:avLst/>
          </a:prstGeom>
          <a:noFill/>
          <a:ln w="15875">
            <a:solidFill>
              <a:srgbClr val="14213D"/>
            </a:solidFill>
            <a:prstDash val="solid"/>
            <a:tailEnd type="triangle"/>
          </a:ln>
        </p:spPr>
      </p:sp>
      <p:sp>
        <p:nvSpPr>
          <p:cNvPr id="31" name="Shape 28"/>
          <p:cNvSpPr/>
          <p:nvPr/>
        </p:nvSpPr>
        <p:spPr>
          <a:xfrm>
            <a:off x="2148840" y="4773168"/>
            <a:ext cx="0" cy="201168"/>
          </a:xfrm>
          <a:prstGeom prst="line">
            <a:avLst/>
          </a:prstGeom>
          <a:noFill/>
          <a:ln w="15875">
            <a:solidFill>
              <a:srgbClr val="14213D"/>
            </a:solidFill>
            <a:prstDash val="solid"/>
            <a:tailEnd type="triangle"/>
          </a:ln>
        </p:spPr>
      </p:sp>
      <p:sp>
        <p:nvSpPr>
          <p:cNvPr id="32" name="Shape 29"/>
          <p:cNvSpPr/>
          <p:nvPr/>
        </p:nvSpPr>
        <p:spPr>
          <a:xfrm>
            <a:off x="2148840" y="5358384"/>
            <a:ext cx="0" cy="210312"/>
          </a:xfrm>
          <a:prstGeom prst="line">
            <a:avLst/>
          </a:prstGeom>
          <a:noFill/>
          <a:ln w="15875">
            <a:solidFill>
              <a:srgbClr val="14213D"/>
            </a:solidFill>
            <a:prstDash val="solid"/>
            <a:tailEnd type="triangle"/>
          </a:ln>
        </p:spPr>
      </p:sp>
      <p:sp>
        <p:nvSpPr>
          <p:cNvPr id="33" name="Shape 30"/>
          <p:cNvSpPr/>
          <p:nvPr/>
        </p:nvSpPr>
        <p:spPr>
          <a:xfrm>
            <a:off x="2971800" y="3611880"/>
            <a:ext cx="1325880" cy="0"/>
          </a:xfrm>
          <a:prstGeom prst="line">
            <a:avLst/>
          </a:prstGeom>
          <a:noFill/>
          <a:ln w="15875">
            <a:solidFill>
              <a:srgbClr val="14213D"/>
            </a:solidFill>
            <a:prstDash val="solid"/>
            <a:tailEnd type="triangle"/>
          </a:ln>
        </p:spPr>
      </p:sp>
      <p:sp>
        <p:nvSpPr>
          <p:cNvPr id="34" name="Shape 31"/>
          <p:cNvSpPr/>
          <p:nvPr/>
        </p:nvSpPr>
        <p:spPr>
          <a:xfrm>
            <a:off x="5074920" y="3803904"/>
            <a:ext cx="0" cy="356616"/>
          </a:xfrm>
          <a:prstGeom prst="line">
            <a:avLst/>
          </a:prstGeom>
          <a:noFill/>
          <a:ln w="15875">
            <a:solidFill>
              <a:srgbClr val="14213D"/>
            </a:solidFill>
            <a:prstDash val="solid"/>
            <a:tailEnd type="triangle"/>
          </a:ln>
        </p:spPr>
      </p:sp>
      <p:sp>
        <p:nvSpPr>
          <p:cNvPr id="35" name="Shape 32"/>
          <p:cNvSpPr/>
          <p:nvPr/>
        </p:nvSpPr>
        <p:spPr>
          <a:xfrm>
            <a:off x="3154680" y="4480560"/>
            <a:ext cx="548640" cy="0"/>
          </a:xfrm>
          <a:prstGeom prst="line">
            <a:avLst/>
          </a:prstGeom>
          <a:noFill/>
          <a:ln w="15875">
            <a:solidFill>
              <a:srgbClr val="14213D"/>
            </a:solidFill>
            <a:prstDash val="solid"/>
          </a:ln>
        </p:spPr>
      </p:sp>
      <p:sp>
        <p:nvSpPr>
          <p:cNvPr id="36" name="Shape 33"/>
          <p:cNvSpPr/>
          <p:nvPr/>
        </p:nvSpPr>
        <p:spPr>
          <a:xfrm>
            <a:off x="3703320" y="4480560"/>
            <a:ext cx="0" cy="1280160"/>
          </a:xfrm>
          <a:prstGeom prst="line">
            <a:avLst/>
          </a:prstGeom>
          <a:noFill/>
          <a:ln w="15875">
            <a:solidFill>
              <a:srgbClr val="14213D"/>
            </a:solidFill>
            <a:prstDash val="solid"/>
          </a:ln>
        </p:spPr>
      </p:sp>
      <p:sp>
        <p:nvSpPr>
          <p:cNvPr id="37" name="Shape 34"/>
          <p:cNvSpPr/>
          <p:nvPr/>
        </p:nvSpPr>
        <p:spPr>
          <a:xfrm flipH="1">
            <a:off x="3017520" y="5760720"/>
            <a:ext cx="685800" cy="0"/>
          </a:xfrm>
          <a:prstGeom prst="line">
            <a:avLst/>
          </a:prstGeom>
          <a:noFill/>
          <a:ln w="15875">
            <a:solidFill>
              <a:srgbClr val="14213D"/>
            </a:solidFill>
            <a:prstDash val="solid"/>
            <a:tailEnd type="triangle"/>
          </a:ln>
        </p:spPr>
      </p:sp>
      <p:sp>
        <p:nvSpPr>
          <p:cNvPr id="38" name="Shape 35"/>
          <p:cNvSpPr/>
          <p:nvPr/>
        </p:nvSpPr>
        <p:spPr>
          <a:xfrm flipH="1">
            <a:off x="731520" y="5760720"/>
            <a:ext cx="548640" cy="0"/>
          </a:xfrm>
          <a:prstGeom prst="line">
            <a:avLst/>
          </a:prstGeom>
          <a:noFill/>
          <a:ln w="15875">
            <a:solidFill>
              <a:srgbClr val="14213D"/>
            </a:solidFill>
            <a:prstDash val="solid"/>
          </a:ln>
        </p:spPr>
      </p:sp>
      <p:sp>
        <p:nvSpPr>
          <p:cNvPr id="39" name="Shape 36"/>
          <p:cNvSpPr/>
          <p:nvPr/>
        </p:nvSpPr>
        <p:spPr>
          <a:xfrm flipV="1">
            <a:off x="731520" y="3200400"/>
            <a:ext cx="0" cy="2560320"/>
          </a:xfrm>
          <a:prstGeom prst="line">
            <a:avLst/>
          </a:prstGeom>
          <a:noFill/>
          <a:ln w="15875">
            <a:solidFill>
              <a:srgbClr val="14213D"/>
            </a:solidFill>
            <a:prstDash val="solid"/>
          </a:ln>
        </p:spPr>
      </p:sp>
      <p:sp>
        <p:nvSpPr>
          <p:cNvPr id="40" name="Shape 37"/>
          <p:cNvSpPr/>
          <p:nvPr/>
        </p:nvSpPr>
        <p:spPr>
          <a:xfrm>
            <a:off x="731520" y="3200400"/>
            <a:ext cx="1417320" cy="0"/>
          </a:xfrm>
          <a:prstGeom prst="line">
            <a:avLst/>
          </a:prstGeom>
          <a:noFill/>
          <a:ln w="15875">
            <a:solidFill>
              <a:srgbClr val="14213D"/>
            </a:solidFill>
            <a:prstDash val="solid"/>
            <a:tailEnd type="triangle"/>
          </a:ln>
        </p:spPr>
      </p:sp>
      <p:sp>
        <p:nvSpPr>
          <p:cNvPr id="41" name="Text 38"/>
          <p:cNvSpPr txBox="1"/>
          <p:nvPr/>
        </p:nvSpPr>
        <p:spPr>
          <a:xfrm>
            <a:off x="2221992" y="3877056"/>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yes</a:t>
            </a:r>
            <a:endParaRPr lang="en-US" sz="1100" dirty="0"/>
          </a:p>
        </p:txBody>
      </p:sp>
      <p:sp>
        <p:nvSpPr>
          <p:cNvPr id="42" name="Text 39"/>
          <p:cNvSpPr txBox="1"/>
          <p:nvPr/>
        </p:nvSpPr>
        <p:spPr>
          <a:xfrm>
            <a:off x="3017520" y="3364992"/>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no</a:t>
            </a:r>
            <a:endParaRPr lang="en-US" sz="1100" dirty="0"/>
          </a:p>
        </p:txBody>
      </p:sp>
      <p:sp>
        <p:nvSpPr>
          <p:cNvPr id="43" name="Text 40"/>
          <p:cNvSpPr txBox="1"/>
          <p:nvPr/>
        </p:nvSpPr>
        <p:spPr>
          <a:xfrm>
            <a:off x="2221992" y="4745736"/>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yes</a:t>
            </a:r>
            <a:endParaRPr lang="en-US" sz="1100" dirty="0"/>
          </a:p>
        </p:txBody>
      </p:sp>
      <p:sp>
        <p:nvSpPr>
          <p:cNvPr id="44" name="Text 41"/>
          <p:cNvSpPr txBox="1"/>
          <p:nvPr/>
        </p:nvSpPr>
        <p:spPr>
          <a:xfrm>
            <a:off x="3200400" y="4233672"/>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no</a:t>
            </a:r>
            <a:endParaRPr lang="en-US" sz="1100" dirty="0"/>
          </a:p>
        </p:txBody>
      </p:sp>
      <p:sp>
        <p:nvSpPr>
          <p:cNvPr id="45" name="Shape 42"/>
          <p:cNvSpPr/>
          <p:nvPr/>
        </p:nvSpPr>
        <p:spPr>
          <a:xfrm>
            <a:off x="6400800" y="1645920"/>
            <a:ext cx="5257800" cy="3246120"/>
          </a:xfrm>
          <a:prstGeom prst="roundRect">
            <a:avLst>
              <a:gd name="adj" fmla="val 2817"/>
            </a:avLst>
          </a:prstGeom>
          <a:solidFill>
            <a:srgbClr val="0F1729"/>
          </a:solidFill>
          <a:ln w="12700">
            <a:solidFill>
              <a:srgbClr val="0F1729"/>
            </a:solidFill>
            <a:prstDash val="solid"/>
          </a:ln>
        </p:spPr>
      </p:sp>
      <p:sp>
        <p:nvSpPr>
          <p:cNvPr id="46" name="Text 43"/>
          <p:cNvSpPr txBox="1"/>
          <p:nvPr/>
        </p:nvSpPr>
        <p:spPr>
          <a:xfrm>
            <a:off x="6629400" y="1755648"/>
            <a:ext cx="4800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08_03_SumOfEvens</a:t>
            </a:r>
            <a:endParaRPr lang="en-US" sz="1100" dirty="0"/>
          </a:p>
        </p:txBody>
      </p:sp>
      <p:sp>
        <p:nvSpPr>
          <p:cNvPr id="47" name="Text 44"/>
          <p:cNvSpPr txBox="1"/>
          <p:nvPr/>
        </p:nvSpPr>
        <p:spPr>
          <a:xfrm>
            <a:off x="6629400" y="2057400"/>
            <a:ext cx="4800600" cy="27249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$"Sum of even numbers from 1 to {n}: {sum}"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8" name="Shape 45"/>
          <p:cNvSpPr/>
          <p:nvPr/>
        </p:nvSpPr>
        <p:spPr>
          <a:xfrm>
            <a:off x="6400800" y="5029200"/>
            <a:ext cx="5257800" cy="1051560"/>
          </a:xfrm>
          <a:prstGeom prst="roundRect">
            <a:avLst>
              <a:gd name="adj" fmla="val 8696"/>
            </a:avLst>
          </a:prstGeom>
          <a:solidFill>
            <a:srgbClr val="0B0F19"/>
          </a:solidFill>
          <a:ln w="12700">
            <a:solidFill>
              <a:srgbClr val="2A3654"/>
            </a:solidFill>
            <a:prstDash val="solid"/>
          </a:ln>
        </p:spPr>
      </p:sp>
      <p:sp>
        <p:nvSpPr>
          <p:cNvPr id="49" name="Shape 46"/>
          <p:cNvSpPr/>
          <p:nvPr/>
        </p:nvSpPr>
        <p:spPr>
          <a:xfrm>
            <a:off x="6583680" y="5157216"/>
            <a:ext cx="118872" cy="118872"/>
          </a:xfrm>
          <a:prstGeom prst="ellipse">
            <a:avLst/>
          </a:prstGeom>
          <a:solidFill>
            <a:srgbClr val="FF5F57"/>
          </a:solidFill>
          <a:ln w="12700">
            <a:solidFill>
              <a:srgbClr val="FF5F57"/>
            </a:solidFill>
            <a:prstDash val="solid"/>
          </a:ln>
        </p:spPr>
      </p:sp>
      <p:sp>
        <p:nvSpPr>
          <p:cNvPr id="50" name="Shape 47"/>
          <p:cNvSpPr/>
          <p:nvPr/>
        </p:nvSpPr>
        <p:spPr>
          <a:xfrm>
            <a:off x="6812280" y="5157216"/>
            <a:ext cx="118872" cy="118872"/>
          </a:xfrm>
          <a:prstGeom prst="ellipse">
            <a:avLst/>
          </a:prstGeom>
          <a:solidFill>
            <a:srgbClr val="FEBC2E"/>
          </a:solidFill>
          <a:ln w="12700">
            <a:solidFill>
              <a:srgbClr val="FEBC2E"/>
            </a:solidFill>
            <a:prstDash val="solid"/>
          </a:ln>
        </p:spPr>
      </p:sp>
      <p:sp>
        <p:nvSpPr>
          <p:cNvPr id="51" name="Shape 48"/>
          <p:cNvSpPr/>
          <p:nvPr/>
        </p:nvSpPr>
        <p:spPr>
          <a:xfrm>
            <a:off x="7040880" y="5157216"/>
            <a:ext cx="118872" cy="118872"/>
          </a:xfrm>
          <a:prstGeom prst="ellipse">
            <a:avLst/>
          </a:prstGeom>
          <a:solidFill>
            <a:srgbClr val="28C840"/>
          </a:solidFill>
          <a:ln w="12700">
            <a:solidFill>
              <a:srgbClr val="28C840"/>
            </a:solidFill>
            <a:prstDash val="solid"/>
          </a:ln>
        </p:spPr>
      </p:sp>
      <p:sp>
        <p:nvSpPr>
          <p:cNvPr id="52" name="Text 49"/>
          <p:cNvSpPr txBox="1"/>
          <p:nvPr/>
        </p:nvSpPr>
        <p:spPr>
          <a:xfrm>
            <a:off x="7315200" y="5102352"/>
            <a:ext cx="4160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53" name="Text 50"/>
          <p:cNvSpPr txBox="1"/>
          <p:nvPr/>
        </p:nvSpPr>
        <p:spPr>
          <a:xfrm>
            <a:off x="6629400" y="5413248"/>
            <a:ext cx="4800600" cy="5486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Sum of even numbers from 1 to 10: 30</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Q12 · WRITE A PROGRAM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Write the Program: Grade Statistics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9372600" y="301752"/>
            <a:ext cx="2286000" cy="347472"/>
          </a:xfrm>
          <a:prstGeom prst="roundRect">
            <a:avLst>
              <a:gd name="adj" fmla="val 50000"/>
            </a:avLst>
          </a:prstGeom>
          <a:solidFill>
            <a:srgbClr val="B7791F"/>
          </a:solidFill>
          <a:ln w="12700">
            <a:solidFill>
              <a:srgbClr val="B7791F"/>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WRITE CODE · 10 min</a:t>
            </a:r>
            <a:endParaRPr lang="en-US" sz="1200" dirty="0"/>
          </a:p>
        </p:txBody>
      </p:sp>
      <p:sp>
        <p:nvSpPr>
          <p:cNvPr id="9" name="Shape 6"/>
          <p:cNvSpPr/>
          <p:nvPr/>
        </p:nvSpPr>
        <p:spPr>
          <a:xfrm>
            <a:off x="548640" y="1645920"/>
            <a:ext cx="5760720" cy="4434840"/>
          </a:xfrm>
          <a:prstGeom prst="roundRect">
            <a:avLst>
              <a:gd name="adj" fmla="val 2474"/>
            </a:avLst>
          </a:prstGeom>
          <a:solidFill>
            <a:srgbClr val="EEF1F6"/>
          </a:solidFill>
          <a:ln w="12700">
            <a:solidFill>
              <a:srgbClr val="EEF1F6"/>
            </a:solidFill>
            <a:prstDash val="solid"/>
          </a:ln>
        </p:spPr>
      </p:sp>
      <p:sp>
        <p:nvSpPr>
          <p:cNvPr id="10" name="Text 7"/>
          <p:cNvSpPr txBox="1"/>
          <p:nvPr/>
        </p:nvSpPr>
        <p:spPr>
          <a:xfrm>
            <a:off x="777240" y="1783080"/>
            <a:ext cx="530352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Specification</a:t>
            </a:r>
            <a:endParaRPr lang="en-US" sz="1700" dirty="0"/>
          </a:p>
        </p:txBody>
      </p:sp>
      <p:sp>
        <p:nvSpPr>
          <p:cNvPr id="11" name="Shape 8"/>
          <p:cNvSpPr/>
          <p:nvPr/>
        </p:nvSpPr>
        <p:spPr>
          <a:xfrm>
            <a:off x="777240" y="2400300"/>
            <a:ext cx="365760" cy="365760"/>
          </a:xfrm>
          <a:prstGeom prst="ellipse">
            <a:avLst/>
          </a:prstGeom>
          <a:solidFill>
            <a:srgbClr val="14213D"/>
          </a:solidFill>
          <a:ln w="12700">
            <a:solidFill>
              <a:srgbClr val="14213D"/>
            </a:solidFill>
            <a:prstDash val="solid"/>
          </a:ln>
        </p:spPr>
      </p:sp>
      <p:sp>
        <p:nvSpPr>
          <p:cNvPr id="12" name="Text 9"/>
          <p:cNvSpPr txBox="1"/>
          <p:nvPr/>
        </p:nvSpPr>
        <p:spPr>
          <a:xfrm>
            <a:off x="777240" y="24003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0"/>
          <p:cNvSpPr txBox="1"/>
          <p:nvPr/>
        </p:nvSpPr>
        <p:spPr>
          <a:xfrm>
            <a:off x="1280160" y="2240280"/>
            <a:ext cx="4846320" cy="6858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Read integer grades until the user types -1.</a:t>
            </a:r>
            <a:endParaRPr lang="en-US" sz="1400" dirty="0"/>
          </a:p>
        </p:txBody>
      </p:sp>
      <p:sp>
        <p:nvSpPr>
          <p:cNvPr id="14" name="Shape 11"/>
          <p:cNvSpPr/>
          <p:nvPr/>
        </p:nvSpPr>
        <p:spPr>
          <a:xfrm>
            <a:off x="777240" y="3131820"/>
            <a:ext cx="365760" cy="365760"/>
          </a:xfrm>
          <a:prstGeom prst="ellipse">
            <a:avLst/>
          </a:prstGeom>
          <a:solidFill>
            <a:srgbClr val="14213D"/>
          </a:solidFill>
          <a:ln w="12700">
            <a:solidFill>
              <a:srgbClr val="14213D"/>
            </a:solidFill>
            <a:prstDash val="solid"/>
          </a:ln>
        </p:spPr>
      </p:sp>
      <p:sp>
        <p:nvSpPr>
          <p:cNvPr id="15" name="Text 12"/>
          <p:cNvSpPr txBox="1"/>
          <p:nvPr/>
        </p:nvSpPr>
        <p:spPr>
          <a:xfrm>
            <a:off x="777240" y="31318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1280160" y="2971800"/>
            <a:ext cx="4846320" cy="6858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 grade outside 0–100 prints "Invalid grade, ignored." and is not counted.</a:t>
            </a:r>
            <a:endParaRPr lang="en-US" sz="1400" dirty="0"/>
          </a:p>
        </p:txBody>
      </p:sp>
      <p:sp>
        <p:nvSpPr>
          <p:cNvPr id="17" name="Shape 14"/>
          <p:cNvSpPr/>
          <p:nvPr/>
        </p:nvSpPr>
        <p:spPr>
          <a:xfrm>
            <a:off x="777240" y="3863340"/>
            <a:ext cx="365760" cy="365760"/>
          </a:xfrm>
          <a:prstGeom prst="ellipse">
            <a:avLst/>
          </a:prstGeom>
          <a:solidFill>
            <a:srgbClr val="14213D"/>
          </a:solidFill>
          <a:ln w="12700">
            <a:solidFill>
              <a:srgbClr val="14213D"/>
            </a:solidFill>
            <a:prstDash val="solid"/>
          </a:ln>
        </p:spPr>
      </p:sp>
      <p:sp>
        <p:nvSpPr>
          <p:cNvPr id="18" name="Text 15"/>
          <p:cNvSpPr txBox="1"/>
          <p:nvPr/>
        </p:nvSpPr>
        <p:spPr>
          <a:xfrm>
            <a:off x="777240" y="38633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280160" y="3703320"/>
            <a:ext cx="4846320" cy="6858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At the end print: count, average (2 decimals), highest grade, and how many passed (≥ 50).</a:t>
            </a:r>
            <a:endParaRPr lang="en-US" sz="1400" dirty="0"/>
          </a:p>
        </p:txBody>
      </p:sp>
      <p:sp>
        <p:nvSpPr>
          <p:cNvPr id="20" name="Shape 17"/>
          <p:cNvSpPr/>
          <p:nvPr/>
        </p:nvSpPr>
        <p:spPr>
          <a:xfrm>
            <a:off x="777240" y="4594860"/>
            <a:ext cx="365760" cy="365760"/>
          </a:xfrm>
          <a:prstGeom prst="ellipse">
            <a:avLst/>
          </a:prstGeom>
          <a:solidFill>
            <a:srgbClr val="14213D"/>
          </a:solidFill>
          <a:ln w="12700">
            <a:solidFill>
              <a:srgbClr val="14213D"/>
            </a:solidFill>
            <a:prstDash val="solid"/>
          </a:ln>
        </p:spPr>
      </p:sp>
      <p:sp>
        <p:nvSpPr>
          <p:cNvPr id="21" name="Text 18"/>
          <p:cNvSpPr txBox="1"/>
          <p:nvPr/>
        </p:nvSpPr>
        <p:spPr>
          <a:xfrm>
            <a:off x="777240" y="45948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txBox="1"/>
          <p:nvPr/>
        </p:nvSpPr>
        <p:spPr>
          <a:xfrm>
            <a:off x="1280160" y="4434840"/>
            <a:ext cx="4846320" cy="6858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If no valid grade was entered, print "No grades entered."</a:t>
            </a:r>
            <a:endParaRPr lang="en-US" sz="1400" dirty="0"/>
          </a:p>
        </p:txBody>
      </p:sp>
      <p:sp>
        <p:nvSpPr>
          <p:cNvPr id="23" name="Shape 20"/>
          <p:cNvSpPr/>
          <p:nvPr/>
        </p:nvSpPr>
        <p:spPr>
          <a:xfrm>
            <a:off x="777240" y="5326380"/>
            <a:ext cx="365760" cy="365760"/>
          </a:xfrm>
          <a:prstGeom prst="ellipse">
            <a:avLst/>
          </a:prstGeom>
          <a:solidFill>
            <a:srgbClr val="C8453B"/>
          </a:solidFill>
          <a:ln w="12700">
            <a:solidFill>
              <a:srgbClr val="C8453B"/>
            </a:solidFill>
            <a:prstDash val="solid"/>
          </a:ln>
        </p:spPr>
      </p:sp>
      <p:sp>
        <p:nvSpPr>
          <p:cNvPr id="24" name="Text 21"/>
          <p:cNvSpPr txBox="1"/>
          <p:nvPr/>
        </p:nvSpPr>
        <p:spPr>
          <a:xfrm>
            <a:off x="777240" y="53263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txBox="1"/>
          <p:nvPr/>
        </p:nvSpPr>
        <p:spPr>
          <a:xfrm>
            <a:off x="1280160" y="5166360"/>
            <a:ext cx="4846320" cy="68580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Use only while/if (no arrays).</a:t>
            </a:r>
            <a:endParaRPr lang="en-US" sz="1400" dirty="0"/>
          </a:p>
        </p:txBody>
      </p:sp>
      <p:sp>
        <p:nvSpPr>
          <p:cNvPr id="26" name="Shape 23"/>
          <p:cNvSpPr/>
          <p:nvPr/>
        </p:nvSpPr>
        <p:spPr>
          <a:xfrm>
            <a:off x="6583680" y="1645920"/>
            <a:ext cx="5074920" cy="4434840"/>
          </a:xfrm>
          <a:prstGeom prst="roundRect">
            <a:avLst>
              <a:gd name="adj" fmla="val 2062"/>
            </a:avLst>
          </a:prstGeom>
          <a:solidFill>
            <a:srgbClr val="0B0F19"/>
          </a:solidFill>
          <a:ln w="12700">
            <a:solidFill>
              <a:srgbClr val="2A3654"/>
            </a:solidFill>
            <a:prstDash val="solid"/>
          </a:ln>
        </p:spPr>
      </p:sp>
      <p:sp>
        <p:nvSpPr>
          <p:cNvPr id="27" name="Shape 24"/>
          <p:cNvSpPr/>
          <p:nvPr/>
        </p:nvSpPr>
        <p:spPr>
          <a:xfrm>
            <a:off x="6766560" y="1773936"/>
            <a:ext cx="118872" cy="118872"/>
          </a:xfrm>
          <a:prstGeom prst="ellipse">
            <a:avLst/>
          </a:prstGeom>
          <a:solidFill>
            <a:srgbClr val="FF5F57"/>
          </a:solidFill>
          <a:ln w="12700">
            <a:solidFill>
              <a:srgbClr val="FF5F57"/>
            </a:solidFill>
            <a:prstDash val="solid"/>
          </a:ln>
        </p:spPr>
      </p:sp>
      <p:sp>
        <p:nvSpPr>
          <p:cNvPr id="28" name="Shape 25"/>
          <p:cNvSpPr/>
          <p:nvPr/>
        </p:nvSpPr>
        <p:spPr>
          <a:xfrm>
            <a:off x="6995160" y="1773936"/>
            <a:ext cx="118872" cy="118872"/>
          </a:xfrm>
          <a:prstGeom prst="ellipse">
            <a:avLst/>
          </a:prstGeom>
          <a:solidFill>
            <a:srgbClr val="FEBC2E"/>
          </a:solidFill>
          <a:ln w="12700">
            <a:solidFill>
              <a:srgbClr val="FEBC2E"/>
            </a:solidFill>
            <a:prstDash val="solid"/>
          </a:ln>
        </p:spPr>
      </p:sp>
      <p:sp>
        <p:nvSpPr>
          <p:cNvPr id="29" name="Shape 26"/>
          <p:cNvSpPr/>
          <p:nvPr/>
        </p:nvSpPr>
        <p:spPr>
          <a:xfrm>
            <a:off x="7223760" y="1773936"/>
            <a:ext cx="118872" cy="118872"/>
          </a:xfrm>
          <a:prstGeom prst="ellipse">
            <a:avLst/>
          </a:prstGeom>
          <a:solidFill>
            <a:srgbClr val="28C840"/>
          </a:solidFill>
          <a:ln w="12700">
            <a:solidFill>
              <a:srgbClr val="28C840"/>
            </a:solidFill>
            <a:prstDash val="solid"/>
          </a:ln>
        </p:spPr>
      </p:sp>
      <p:sp>
        <p:nvSpPr>
          <p:cNvPr id="30" name="Text 27"/>
          <p:cNvSpPr txBox="1"/>
          <p:nvPr/>
        </p:nvSpPr>
        <p:spPr>
          <a:xfrm>
            <a:off x="7498080" y="1719072"/>
            <a:ext cx="3977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Required sample run</a:t>
            </a:r>
            <a:endParaRPr lang="en-US" sz="1000" dirty="0"/>
          </a:p>
        </p:txBody>
      </p:sp>
      <p:sp>
        <p:nvSpPr>
          <p:cNvPr id="31" name="Text 28"/>
          <p:cNvSpPr txBox="1"/>
          <p:nvPr/>
        </p:nvSpPr>
        <p:spPr>
          <a:xfrm>
            <a:off x="6812280" y="2029968"/>
            <a:ext cx="4617720" cy="393192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72</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45</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105</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Invalid grade, ignored.</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90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58</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-1</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Count: 4</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Average: 66.25</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Highest: 90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Passed: 3 of 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Q12 (1/2)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Grade Statistics: Design and the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4480560" cy="4434840"/>
          </a:xfrm>
          <a:prstGeom prst="roundRect">
            <a:avLst>
              <a:gd name="adj" fmla="val 1649"/>
            </a:avLst>
          </a:prstGeom>
          <a:solidFill>
            <a:srgbClr val="F4F6FA"/>
          </a:solidFill>
          <a:ln w="9525">
            <a:solidFill>
              <a:srgbClr val="C9D0DD"/>
            </a:solidFill>
            <a:prstDash val="solid"/>
          </a:ln>
        </p:spPr>
      </p:sp>
      <p:sp>
        <p:nvSpPr>
          <p:cNvPr id="10" name="Text 7"/>
          <p:cNvSpPr txBox="1"/>
          <p:nvPr/>
        </p:nvSpPr>
        <p:spPr>
          <a:xfrm>
            <a:off x="731520" y="1737360"/>
            <a:ext cx="411480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11" name="Text 8"/>
          <p:cNvSpPr txBox="1"/>
          <p:nvPr/>
        </p:nvSpPr>
        <p:spPr>
          <a:xfrm>
            <a:off x="731520" y="2057400"/>
            <a:ext cx="4114800" cy="393192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START</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count ← 0, sum ← 0</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highest ← 0, passed ← 0</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 ≠ -1</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 &lt; 0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OR</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 &gt; 100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THEN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"Invalid"</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count ← count + 1</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sum ← sum + grade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count = 1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OR</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 &gt; highest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THEN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highest ← grade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IF</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 ≥ 50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THEN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passed ← passed + 1</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IF</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IF</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grade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WHILE</a:t>
            </a:r>
            <a:endParaRPr lang="en-US" sz="1200" dirty="0"/>
          </a:p>
        </p:txBody>
      </p:sp>
      <p:sp>
        <p:nvSpPr>
          <p:cNvPr id="12" name="Shape 9"/>
          <p:cNvSpPr/>
          <p:nvPr/>
        </p:nvSpPr>
        <p:spPr>
          <a:xfrm>
            <a:off x="5257800" y="1645920"/>
            <a:ext cx="6400800" cy="4434840"/>
          </a:xfrm>
          <a:prstGeom prst="roundRect">
            <a:avLst>
              <a:gd name="adj" fmla="val 2062"/>
            </a:avLst>
          </a:prstGeom>
          <a:solidFill>
            <a:srgbClr val="0F1729"/>
          </a:solidFill>
          <a:ln w="12700">
            <a:solidFill>
              <a:srgbClr val="0F1729"/>
            </a:solidFill>
            <a:prstDash val="solid"/>
          </a:ln>
        </p:spPr>
      </p:sp>
      <p:sp>
        <p:nvSpPr>
          <p:cNvPr id="13" name="Text 10"/>
          <p:cNvSpPr txBox="1"/>
          <p:nvPr/>
        </p:nvSpPr>
        <p:spPr>
          <a:xfrm>
            <a:off x="548640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 (part 1, braces compressed to fit)</a:t>
            </a:r>
            <a:endParaRPr lang="en-US" sz="1100" dirty="0"/>
          </a:p>
        </p:txBody>
      </p:sp>
      <p:sp>
        <p:nvSpPr>
          <p:cNvPr id="14" name="Text 11"/>
          <p:cNvSpPr txBox="1"/>
          <p:nvPr/>
        </p:nvSpPr>
        <p:spPr>
          <a:xfrm>
            <a:off x="5486400" y="2057400"/>
            <a:ext cx="59436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 (-1 to stop):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grade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Invalid grade, ignored."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grade;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grade &gt; highest) { highest = grade;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passed++;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 (-1 to stop):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Q12 (2/2)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Grade Statistics: Results and Testing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5394960" cy="3154680"/>
          </a:xfrm>
          <a:prstGeom prst="roundRect">
            <a:avLst>
              <a:gd name="adj" fmla="val 2899"/>
            </a:avLst>
          </a:prstGeom>
          <a:solidFill>
            <a:srgbClr val="0F1729"/>
          </a:solidFill>
          <a:ln w="12700">
            <a:solidFill>
              <a:srgbClr val="0F1729"/>
            </a:solidFill>
            <a:prstDash val="solid"/>
          </a:ln>
        </p:spPr>
      </p:sp>
      <p:sp>
        <p:nvSpPr>
          <p:cNvPr id="10" name="Text 7"/>
          <p:cNvSpPr txBox="1"/>
          <p:nvPr/>
        </p:nvSpPr>
        <p:spPr>
          <a:xfrm>
            <a:off x="777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 (part 2)</a:t>
            </a:r>
            <a:endParaRPr lang="en-US" sz="1100" dirty="0"/>
          </a:p>
        </p:txBody>
      </p:sp>
      <p:sp>
        <p:nvSpPr>
          <p:cNvPr id="11" name="Text 8"/>
          <p:cNvSpPr txBox="1"/>
          <p:nvPr/>
        </p:nvSpPr>
        <p:spPr>
          <a:xfrm>
            <a:off x="777240" y="2057400"/>
            <a:ext cx="4937760" cy="26334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"No grades entered."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)sum /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$"Count: {count}"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{average:F2}"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$"Highest: {highest}"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$"Passed: {passed} of {count}"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548640" y="4937760"/>
            <a:ext cx="5394960" cy="1143000"/>
          </a:xfrm>
          <a:prstGeom prst="roundRect">
            <a:avLst>
              <a:gd name="adj" fmla="val 8000"/>
            </a:avLst>
          </a:prstGeom>
          <a:solidFill>
            <a:srgbClr val="0B0F19"/>
          </a:solidFill>
          <a:ln w="12700">
            <a:solidFill>
              <a:srgbClr val="2A3654"/>
            </a:solidFill>
            <a:prstDash val="solid"/>
          </a:ln>
        </p:spPr>
      </p:sp>
      <p:sp>
        <p:nvSpPr>
          <p:cNvPr id="13" name="Shape 10"/>
          <p:cNvSpPr/>
          <p:nvPr/>
        </p:nvSpPr>
        <p:spPr>
          <a:xfrm>
            <a:off x="731520" y="5065776"/>
            <a:ext cx="118872" cy="118872"/>
          </a:xfrm>
          <a:prstGeom prst="ellipse">
            <a:avLst/>
          </a:prstGeom>
          <a:solidFill>
            <a:srgbClr val="FF5F57"/>
          </a:solidFill>
          <a:ln w="12700">
            <a:solidFill>
              <a:srgbClr val="FF5F57"/>
            </a:solidFill>
            <a:prstDash val="solid"/>
          </a:ln>
        </p:spPr>
      </p:sp>
      <p:sp>
        <p:nvSpPr>
          <p:cNvPr id="14" name="Shape 11"/>
          <p:cNvSpPr/>
          <p:nvPr/>
        </p:nvSpPr>
        <p:spPr>
          <a:xfrm>
            <a:off x="960120" y="5065776"/>
            <a:ext cx="118872" cy="118872"/>
          </a:xfrm>
          <a:prstGeom prst="ellipse">
            <a:avLst/>
          </a:prstGeom>
          <a:solidFill>
            <a:srgbClr val="FEBC2E"/>
          </a:solidFill>
          <a:ln w="12700">
            <a:solidFill>
              <a:srgbClr val="FEBC2E"/>
            </a:solidFill>
            <a:prstDash val="solid"/>
          </a:ln>
        </p:spPr>
      </p:sp>
      <p:sp>
        <p:nvSpPr>
          <p:cNvPr id="15" name="Shape 12"/>
          <p:cNvSpPr/>
          <p:nvPr/>
        </p:nvSpPr>
        <p:spPr>
          <a:xfrm>
            <a:off x="1188720" y="506577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1463040" y="501091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Edge case: sentinel first</a:t>
            </a:r>
            <a:endParaRPr lang="en-US" sz="1000" dirty="0"/>
          </a:p>
        </p:txBody>
      </p:sp>
      <p:sp>
        <p:nvSpPr>
          <p:cNvPr id="17" name="Text 14"/>
          <p:cNvSpPr txBox="1"/>
          <p:nvPr/>
        </p:nvSpPr>
        <p:spPr>
          <a:xfrm>
            <a:off x="777240" y="5321808"/>
            <a:ext cx="4937760" cy="6400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(-1 to stop):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No grades entered.</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172200" y="1645920"/>
          <a:ext cx="5486400" cy="914400"/>
        </p:xfrm>
        <a:graphic>
          <a:graphicData uri="http://schemas.openxmlformats.org/drawingml/2006/table">
            <a:tbl>
              <a:tblPr/>
              <a:tblGrid>
                <a:gridCol w="2240280"/>
                <a:gridCol w="3246120"/>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Test input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Count · Average · Highest · Passed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72 45 105 90 58 -1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4 · 66.25 · 90 · 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 grades entered.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30 40 -1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2 · 35.00 · 40 · 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50 -1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 50.00 · 50 · 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9" name="Shape 15"/>
          <p:cNvSpPr/>
          <p:nvPr/>
        </p:nvSpPr>
        <p:spPr>
          <a:xfrm>
            <a:off x="6172200" y="4709160"/>
            <a:ext cx="5486400" cy="1371600"/>
          </a:xfrm>
          <a:prstGeom prst="roundRect">
            <a:avLst>
              <a:gd name="adj" fmla="val 8000"/>
            </a:avLst>
          </a:prstGeom>
          <a:solidFill>
            <a:srgbClr val="E6F4EC"/>
          </a:solidFill>
          <a:ln w="12700">
            <a:solidFill>
              <a:srgbClr val="E6F4EC"/>
            </a:solidFill>
            <a:prstDash val="solid"/>
          </a:ln>
        </p:spPr>
      </p:sp>
      <p:pic>
        <p:nvPicPr>
          <p:cNvPr id="20" name="Image 0" descr="preencoded.png">    </p:cNvPr>
          <p:cNvPicPr>
            <a:picLocks noChangeAspect="1"/>
          </p:cNvPicPr>
          <p:nvPr/>
        </p:nvPicPr>
        <p:blipFill>
          <a:blip r:embed="rId1"/>
          <a:stretch>
            <a:fillRect/>
          </a:stretch>
        </p:blipFill>
        <p:spPr>
          <a:xfrm>
            <a:off x="6446520" y="5120640"/>
            <a:ext cx="548640" cy="548640"/>
          </a:xfrm>
          <a:prstGeom prst="rect">
            <a:avLst/>
          </a:prstGeom>
        </p:spPr>
      </p:pic>
      <p:sp>
        <p:nvSpPr>
          <p:cNvPr id="21" name="Text 16"/>
          <p:cNvSpPr txBox="1"/>
          <p:nvPr/>
        </p:nvSpPr>
        <p:spPr>
          <a:xfrm>
            <a:off x="7269480" y="4782312"/>
            <a:ext cx="4114800" cy="12252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Test normal data, an invalid value, the sentinel first, and a boundary value (exactly 50).</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Ten Mistakes That Cost Points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57200"/>
                <a:gridCol w="3840480"/>
                <a:gridCol w="3931920"/>
                <a:gridCol w="2880360"/>
              </a:tblGrid>
              <a:tr h="40233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Wrong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Right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(x = 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(x == 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 assigns, == compares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n = Console.ReadLine();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n = int.Parse(Console.ReadLine());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ReadLine returns a string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decimal p = 9.99;</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decimal p = 9.99m;</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literal type must match</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 / b  with b = 0 (int)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(b != 0)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DivideByZeroException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avg = (a + b) / 2;  (ints)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avg = (a + b) / 2.0;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integer division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(0 &lt;= x &lt;= 100)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(x &gt;= 0 &amp;&amp; x &lt;= 100)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 chained comparisons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for (…);  /  while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no ; after the header</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empty loop body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for (int i = 1; i &lt; n;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for (int i = 1; i &lt;= n;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off-by-one: n passes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while loop without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update the loop variable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infinite loop</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max = 0; (negative data)</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max = first value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best-so-far pattern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 STRATEGY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90-Minute Plan and a Method per Question Type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91640"/>
            <a:ext cx="617220" cy="685800"/>
          </a:xfrm>
          <a:prstGeom prst="rect">
            <a:avLst/>
          </a:prstGeom>
          <a:solidFill>
            <a:srgbClr val="5B6478"/>
          </a:solidFill>
          <a:ln w="19050">
            <a:solidFill>
              <a:srgbClr val="FFFFFF"/>
            </a:solidFill>
            <a:prstDash val="solid"/>
          </a:ln>
        </p:spPr>
      </p:sp>
      <p:sp>
        <p:nvSpPr>
          <p:cNvPr id="8" name="Text 5"/>
          <p:cNvSpPr txBox="1"/>
          <p:nvPr/>
        </p:nvSpPr>
        <p:spPr>
          <a:xfrm>
            <a:off x="548640" y="1691640"/>
            <a:ext cx="6172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9" name="Shape 6"/>
          <p:cNvSpPr/>
          <p:nvPr/>
        </p:nvSpPr>
        <p:spPr>
          <a:xfrm>
            <a:off x="1165860" y="1691640"/>
            <a:ext cx="3086100" cy="685800"/>
          </a:xfrm>
          <a:prstGeom prst="rect">
            <a:avLst/>
          </a:prstGeom>
          <a:solidFill>
            <a:srgbClr val="2F6FB3"/>
          </a:solidFill>
          <a:ln w="19050">
            <a:solidFill>
              <a:srgbClr val="FFFFFF"/>
            </a:solidFill>
            <a:prstDash val="solid"/>
          </a:ln>
        </p:spPr>
      </p:sp>
      <p:sp>
        <p:nvSpPr>
          <p:cNvPr id="10" name="Text 7"/>
          <p:cNvSpPr txBox="1"/>
          <p:nvPr/>
        </p:nvSpPr>
        <p:spPr>
          <a:xfrm>
            <a:off x="1165860" y="1691640"/>
            <a:ext cx="30861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MC + predict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25 min</a:t>
            </a:r>
            <a:endParaRPr lang="en-US" sz="1300" dirty="0"/>
          </a:p>
        </p:txBody>
      </p:sp>
      <p:sp>
        <p:nvSpPr>
          <p:cNvPr id="11" name="Shape 8"/>
          <p:cNvSpPr/>
          <p:nvPr/>
        </p:nvSpPr>
        <p:spPr>
          <a:xfrm>
            <a:off x="4251960" y="1691640"/>
            <a:ext cx="2468880" cy="685800"/>
          </a:xfrm>
          <a:prstGeom prst="rect">
            <a:avLst/>
          </a:prstGeom>
          <a:solidFill>
            <a:srgbClr val="2E9E6A"/>
          </a:solidFill>
          <a:ln w="19050">
            <a:solidFill>
              <a:srgbClr val="FFFFFF"/>
            </a:solidFill>
            <a:prstDash val="solid"/>
          </a:ln>
        </p:spPr>
      </p:sp>
      <p:sp>
        <p:nvSpPr>
          <p:cNvPr id="12" name="Text 9"/>
          <p:cNvSpPr txBox="1"/>
          <p:nvPr/>
        </p:nvSpPr>
        <p:spPr>
          <a:xfrm>
            <a:off x="4251960" y="1691640"/>
            <a:ext cx="24688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Trace + flowchart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20 min</a:t>
            </a:r>
            <a:endParaRPr lang="en-US" sz="1300" dirty="0"/>
          </a:p>
        </p:txBody>
      </p:sp>
      <p:sp>
        <p:nvSpPr>
          <p:cNvPr id="13" name="Shape 10"/>
          <p:cNvSpPr/>
          <p:nvPr/>
        </p:nvSpPr>
        <p:spPr>
          <a:xfrm>
            <a:off x="6720840" y="1691640"/>
            <a:ext cx="3950208" cy="685800"/>
          </a:xfrm>
          <a:prstGeom prst="rect">
            <a:avLst/>
          </a:prstGeom>
          <a:solidFill>
            <a:srgbClr val="B7791F"/>
          </a:solidFill>
          <a:ln w="19050">
            <a:solidFill>
              <a:srgbClr val="FFFFFF"/>
            </a:solidFill>
            <a:prstDash val="solid"/>
          </a:ln>
        </p:spPr>
      </p:sp>
      <p:sp>
        <p:nvSpPr>
          <p:cNvPr id="14" name="Text 11"/>
          <p:cNvSpPr txBox="1"/>
          <p:nvPr/>
        </p:nvSpPr>
        <p:spPr>
          <a:xfrm>
            <a:off x="6720840" y="1691640"/>
            <a:ext cx="3950208"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Bugs + programs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32 min</a:t>
            </a:r>
            <a:endParaRPr lang="en-US" sz="1300" dirty="0"/>
          </a:p>
        </p:txBody>
      </p:sp>
      <p:sp>
        <p:nvSpPr>
          <p:cNvPr id="15" name="Shape 12"/>
          <p:cNvSpPr/>
          <p:nvPr/>
        </p:nvSpPr>
        <p:spPr>
          <a:xfrm>
            <a:off x="10671048" y="1691640"/>
            <a:ext cx="987552" cy="685800"/>
          </a:xfrm>
          <a:prstGeom prst="rect">
            <a:avLst/>
          </a:prstGeom>
          <a:solidFill>
            <a:srgbClr val="C8453B"/>
          </a:solidFill>
          <a:ln w="19050">
            <a:solidFill>
              <a:srgbClr val="FFFFFF"/>
            </a:solidFill>
            <a:prstDash val="solid"/>
          </a:ln>
        </p:spPr>
      </p:sp>
      <p:sp>
        <p:nvSpPr>
          <p:cNvPr id="16" name="Text 13"/>
          <p:cNvSpPr txBox="1"/>
          <p:nvPr/>
        </p:nvSpPr>
        <p:spPr>
          <a:xfrm>
            <a:off x="10671048" y="1691640"/>
            <a:ext cx="987552"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8 min</a:t>
            </a:r>
            <a:endParaRPr lang="en-US" sz="1300" dirty="0"/>
          </a:p>
        </p:txBody>
      </p:sp>
      <p:sp>
        <p:nvSpPr>
          <p:cNvPr id="17" name="Text 14"/>
          <p:cNvSpPr txBox="1"/>
          <p:nvPr/>
        </p:nvSpPr>
        <p:spPr>
          <a:xfrm>
            <a:off x="548640" y="2423160"/>
            <a:ext cx="274320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Read all: 5 min</a:t>
            </a:r>
            <a:endParaRPr lang="en-US" sz="1300" dirty="0"/>
          </a:p>
        </p:txBody>
      </p:sp>
      <p:sp>
        <p:nvSpPr>
          <p:cNvPr id="18" name="Shape 15"/>
          <p:cNvSpPr/>
          <p:nvPr/>
        </p:nvSpPr>
        <p:spPr>
          <a:xfrm>
            <a:off x="548640" y="2788920"/>
            <a:ext cx="2679192" cy="2468880"/>
          </a:xfrm>
          <a:prstGeom prst="roundRect">
            <a:avLst>
              <a:gd name="adj" fmla="val 4444"/>
            </a:avLst>
          </a:prstGeom>
          <a:solidFill>
            <a:srgbClr val="EEF1F6"/>
          </a:solidFill>
          <a:ln w="12700">
            <a:solidFill>
              <a:srgbClr val="EEF1F6"/>
            </a:solidFill>
            <a:prstDash val="solid"/>
          </a:ln>
        </p:spPr>
      </p:sp>
      <p:sp>
        <p:nvSpPr>
          <p:cNvPr id="19" name="Shape 16"/>
          <p:cNvSpPr/>
          <p:nvPr/>
        </p:nvSpPr>
        <p:spPr>
          <a:xfrm>
            <a:off x="777240" y="3017520"/>
            <a:ext cx="566928" cy="566928"/>
          </a:xfrm>
          <a:prstGeom prst="ellipse">
            <a:avLst/>
          </a:prstGeom>
          <a:solidFill>
            <a:srgbClr val="2F6FB3"/>
          </a:solidFill>
          <a:ln w="12700">
            <a:solidFill>
              <a:srgbClr val="2F6FB3"/>
            </a:solidFill>
            <a:prstDash val="solid"/>
          </a:ln>
        </p:spPr>
      </p:sp>
      <p:pic>
        <p:nvPicPr>
          <p:cNvPr id="20" name="Image 0" descr="preencoded.png">    </p:cNvPr>
          <p:cNvPicPr>
            <a:picLocks noChangeAspect="1"/>
          </p:cNvPicPr>
          <p:nvPr/>
        </p:nvPicPr>
        <p:blipFill>
          <a:blip r:embed="rId1"/>
          <a:stretch>
            <a:fillRect/>
          </a:stretch>
        </p:blipFill>
        <p:spPr>
          <a:xfrm>
            <a:off x="924641" y="3164921"/>
            <a:ext cx="272125" cy="272125"/>
          </a:xfrm>
          <a:prstGeom prst="rect">
            <a:avLst/>
          </a:prstGeom>
        </p:spPr>
      </p:pic>
      <p:sp>
        <p:nvSpPr>
          <p:cNvPr id="21" name="Text 17"/>
          <p:cNvSpPr txBox="1"/>
          <p:nvPr/>
        </p:nvSpPr>
        <p:spPr>
          <a:xfrm>
            <a:off x="1463040"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Predict / trace</a:t>
            </a:r>
            <a:endParaRPr lang="en-US" sz="1700" dirty="0"/>
          </a:p>
        </p:txBody>
      </p:sp>
      <p:sp>
        <p:nvSpPr>
          <p:cNvPr id="22" name="Text 18"/>
          <p:cNvSpPr txBox="1"/>
          <p:nvPr/>
        </p:nvSpPr>
        <p:spPr>
          <a:xfrm>
            <a:off x="777240"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Make a table: one column per variable. Update one line at a time. Write spaces as ␣ in patterns.</a:t>
            </a:r>
            <a:endParaRPr lang="en-US" sz="1400" dirty="0"/>
          </a:p>
        </p:txBody>
      </p:sp>
      <p:sp>
        <p:nvSpPr>
          <p:cNvPr id="23" name="Shape 19"/>
          <p:cNvSpPr/>
          <p:nvPr/>
        </p:nvSpPr>
        <p:spPr>
          <a:xfrm>
            <a:off x="3364992" y="2788920"/>
            <a:ext cx="2679192" cy="2468880"/>
          </a:xfrm>
          <a:prstGeom prst="roundRect">
            <a:avLst>
              <a:gd name="adj" fmla="val 4444"/>
            </a:avLst>
          </a:prstGeom>
          <a:solidFill>
            <a:srgbClr val="EEF1F6"/>
          </a:solidFill>
          <a:ln w="12700">
            <a:solidFill>
              <a:srgbClr val="EEF1F6"/>
            </a:solidFill>
            <a:prstDash val="solid"/>
          </a:ln>
        </p:spPr>
      </p:sp>
      <p:sp>
        <p:nvSpPr>
          <p:cNvPr id="24" name="Shape 20"/>
          <p:cNvSpPr/>
          <p:nvPr/>
        </p:nvSpPr>
        <p:spPr>
          <a:xfrm>
            <a:off x="3593592" y="3017520"/>
            <a:ext cx="566928" cy="566928"/>
          </a:xfrm>
          <a:prstGeom prst="ellipse">
            <a:avLst/>
          </a:prstGeom>
          <a:solidFill>
            <a:srgbClr val="2E9E6A"/>
          </a:solidFill>
          <a:ln w="12700">
            <a:solidFill>
              <a:srgbClr val="2E9E6A"/>
            </a:solidFill>
            <a:prstDash val="solid"/>
          </a:ln>
        </p:spPr>
      </p:sp>
      <p:pic>
        <p:nvPicPr>
          <p:cNvPr id="25" name="Image 1" descr="preencoded.png">    </p:cNvPr>
          <p:cNvPicPr>
            <a:picLocks noChangeAspect="1"/>
          </p:cNvPicPr>
          <p:nvPr/>
        </p:nvPicPr>
        <p:blipFill>
          <a:blip r:embed="rId2"/>
          <a:stretch>
            <a:fillRect/>
          </a:stretch>
        </p:blipFill>
        <p:spPr>
          <a:xfrm>
            <a:off x="3740993" y="3164921"/>
            <a:ext cx="272125" cy="272125"/>
          </a:xfrm>
          <a:prstGeom prst="rect">
            <a:avLst/>
          </a:prstGeom>
        </p:spPr>
      </p:pic>
      <p:sp>
        <p:nvSpPr>
          <p:cNvPr id="26" name="Text 21"/>
          <p:cNvSpPr txBox="1"/>
          <p:nvPr/>
        </p:nvSpPr>
        <p:spPr>
          <a:xfrm>
            <a:off x="4279392"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Flowchart</a:t>
            </a:r>
            <a:endParaRPr lang="en-US" sz="1700" dirty="0"/>
          </a:p>
        </p:txBody>
      </p:sp>
      <p:sp>
        <p:nvSpPr>
          <p:cNvPr id="27" name="Text 22"/>
          <p:cNvSpPr txBox="1"/>
          <p:nvPr/>
        </p:nvSpPr>
        <p:spPr>
          <a:xfrm>
            <a:off x="3593592"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Pencil first. Standard symbols, arrows, yes/no on every decision, one End.</a:t>
            </a:r>
            <a:endParaRPr lang="en-US" sz="1400" dirty="0"/>
          </a:p>
        </p:txBody>
      </p:sp>
      <p:sp>
        <p:nvSpPr>
          <p:cNvPr id="28" name="Shape 23"/>
          <p:cNvSpPr/>
          <p:nvPr/>
        </p:nvSpPr>
        <p:spPr>
          <a:xfrm>
            <a:off x="6181344" y="2788920"/>
            <a:ext cx="2679192" cy="2468880"/>
          </a:xfrm>
          <a:prstGeom prst="roundRect">
            <a:avLst>
              <a:gd name="adj" fmla="val 4444"/>
            </a:avLst>
          </a:prstGeom>
          <a:solidFill>
            <a:srgbClr val="EEF1F6"/>
          </a:solidFill>
          <a:ln w="12700">
            <a:solidFill>
              <a:srgbClr val="EEF1F6"/>
            </a:solidFill>
            <a:prstDash val="solid"/>
          </a:ln>
        </p:spPr>
      </p:sp>
      <p:sp>
        <p:nvSpPr>
          <p:cNvPr id="29" name="Shape 24"/>
          <p:cNvSpPr/>
          <p:nvPr/>
        </p:nvSpPr>
        <p:spPr>
          <a:xfrm>
            <a:off x="6409944" y="3017520"/>
            <a:ext cx="566928" cy="566928"/>
          </a:xfrm>
          <a:prstGeom prst="ellipse">
            <a:avLst/>
          </a:prstGeom>
          <a:solidFill>
            <a:srgbClr val="C8453B"/>
          </a:solidFill>
          <a:ln w="12700">
            <a:solidFill>
              <a:srgbClr val="C8453B"/>
            </a:solidFill>
            <a:prstDash val="solid"/>
          </a:ln>
        </p:spPr>
      </p:sp>
      <p:pic>
        <p:nvPicPr>
          <p:cNvPr id="30" name="Image 2" descr="preencoded.png">    </p:cNvPr>
          <p:cNvPicPr>
            <a:picLocks noChangeAspect="1"/>
          </p:cNvPicPr>
          <p:nvPr/>
        </p:nvPicPr>
        <p:blipFill>
          <a:blip r:embed="rId3"/>
          <a:stretch>
            <a:fillRect/>
          </a:stretch>
        </p:blipFill>
        <p:spPr>
          <a:xfrm>
            <a:off x="6557345" y="3164921"/>
            <a:ext cx="272125" cy="272125"/>
          </a:xfrm>
          <a:prstGeom prst="rect">
            <a:avLst/>
          </a:prstGeom>
        </p:spPr>
      </p:pic>
      <p:sp>
        <p:nvSpPr>
          <p:cNvPr id="31" name="Text 25"/>
          <p:cNvSpPr txBox="1"/>
          <p:nvPr/>
        </p:nvSpPr>
        <p:spPr>
          <a:xfrm>
            <a:off x="7095744"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Find the bug</a:t>
            </a:r>
            <a:endParaRPr lang="en-US" sz="1700" dirty="0"/>
          </a:p>
        </p:txBody>
      </p:sp>
      <p:sp>
        <p:nvSpPr>
          <p:cNvPr id="32" name="Text 26"/>
          <p:cNvSpPr txBox="1"/>
          <p:nvPr/>
        </p:nvSpPr>
        <p:spPr>
          <a:xfrm>
            <a:off x="6409944"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Check each line for: ; placement, = vs ==, types, division, loop bounds, missing $.</a:t>
            </a:r>
            <a:endParaRPr lang="en-US" sz="1400" dirty="0"/>
          </a:p>
        </p:txBody>
      </p:sp>
      <p:sp>
        <p:nvSpPr>
          <p:cNvPr id="33" name="Shape 27"/>
          <p:cNvSpPr/>
          <p:nvPr/>
        </p:nvSpPr>
        <p:spPr>
          <a:xfrm>
            <a:off x="8997696" y="2788920"/>
            <a:ext cx="2679192" cy="2468880"/>
          </a:xfrm>
          <a:prstGeom prst="roundRect">
            <a:avLst>
              <a:gd name="adj" fmla="val 4444"/>
            </a:avLst>
          </a:prstGeom>
          <a:solidFill>
            <a:srgbClr val="EEF1F6"/>
          </a:solidFill>
          <a:ln w="12700">
            <a:solidFill>
              <a:srgbClr val="EEF1F6"/>
            </a:solidFill>
            <a:prstDash val="solid"/>
          </a:ln>
        </p:spPr>
      </p:sp>
      <p:sp>
        <p:nvSpPr>
          <p:cNvPr id="34" name="Shape 28"/>
          <p:cNvSpPr/>
          <p:nvPr/>
        </p:nvSpPr>
        <p:spPr>
          <a:xfrm>
            <a:off x="9226296" y="3017520"/>
            <a:ext cx="566928" cy="566928"/>
          </a:xfrm>
          <a:prstGeom prst="ellipse">
            <a:avLst/>
          </a:prstGeom>
          <a:solidFill>
            <a:srgbClr val="B7791F"/>
          </a:solidFill>
          <a:ln w="12700">
            <a:solidFill>
              <a:srgbClr val="B7791F"/>
            </a:solidFill>
            <a:prstDash val="solid"/>
          </a:ln>
        </p:spPr>
      </p:sp>
      <p:pic>
        <p:nvPicPr>
          <p:cNvPr id="35" name="Image 3" descr="preencoded.png">    </p:cNvPr>
          <p:cNvPicPr>
            <a:picLocks noChangeAspect="1"/>
          </p:cNvPicPr>
          <p:nvPr/>
        </p:nvPicPr>
        <p:blipFill>
          <a:blip r:embed="rId4"/>
          <a:stretch>
            <a:fillRect/>
          </a:stretch>
        </p:blipFill>
        <p:spPr>
          <a:xfrm>
            <a:off x="9373697" y="3164921"/>
            <a:ext cx="272125" cy="272125"/>
          </a:xfrm>
          <a:prstGeom prst="rect">
            <a:avLst/>
          </a:prstGeom>
        </p:spPr>
      </p:pic>
      <p:sp>
        <p:nvSpPr>
          <p:cNvPr id="36" name="Text 29"/>
          <p:cNvSpPr txBox="1"/>
          <p:nvPr/>
        </p:nvSpPr>
        <p:spPr>
          <a:xfrm>
            <a:off x="9912096"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Write a program</a:t>
            </a:r>
            <a:endParaRPr lang="en-US" sz="1700" dirty="0"/>
          </a:p>
        </p:txBody>
      </p:sp>
      <p:sp>
        <p:nvSpPr>
          <p:cNvPr id="37" name="Text 30"/>
          <p:cNvSpPr txBox="1"/>
          <p:nvPr/>
        </p:nvSpPr>
        <p:spPr>
          <a:xfrm>
            <a:off x="9226296"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IPO → pattern → pseudocode → C#. Prompts, Parse/TryParse, then the logic, then the output format.</a:t>
            </a:r>
            <a:endParaRPr lang="en-US" sz="1400" dirty="0"/>
          </a:p>
        </p:txBody>
      </p:sp>
      <p:sp>
        <p:nvSpPr>
          <p:cNvPr id="38" name="Shape 31"/>
          <p:cNvSpPr/>
          <p:nvPr/>
        </p:nvSpPr>
        <p:spPr>
          <a:xfrm>
            <a:off x="548640" y="5394960"/>
            <a:ext cx="11109960" cy="685800"/>
          </a:xfrm>
          <a:prstGeom prst="roundRect">
            <a:avLst>
              <a:gd name="adj" fmla="val 16000"/>
            </a:avLst>
          </a:prstGeom>
          <a:solidFill>
            <a:srgbClr val="FFF6E3"/>
          </a:solidFill>
          <a:ln w="12700">
            <a:solidFill>
              <a:srgbClr val="FFF6E3"/>
            </a:solidFill>
            <a:prstDash val="solid"/>
          </a:ln>
        </p:spPr>
      </p:sp>
      <p:pic>
        <p:nvPicPr>
          <p:cNvPr id="39" name="Image 4" descr="preencoded.png">    </p:cNvPr>
          <p:cNvPicPr>
            <a:picLocks noChangeAspect="1"/>
          </p:cNvPicPr>
          <p:nvPr/>
        </p:nvPicPr>
        <p:blipFill>
          <a:blip r:embed="rId5"/>
          <a:stretch>
            <a:fillRect/>
          </a:stretch>
        </p:blipFill>
        <p:spPr>
          <a:xfrm>
            <a:off x="822960" y="5532120"/>
            <a:ext cx="411480" cy="411480"/>
          </a:xfrm>
          <a:prstGeom prst="rect">
            <a:avLst/>
          </a:prstGeom>
        </p:spPr>
      </p:pic>
      <p:sp>
        <p:nvSpPr>
          <p:cNvPr id="40" name="Text 32"/>
          <p:cNvSpPr txBox="1"/>
          <p:nvPr/>
        </p:nvSpPr>
        <p:spPr>
          <a:xfrm>
            <a:off x="1508760" y="5468112"/>
            <a:ext cx="9875520" cy="5394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Never leave a question blank: </a:t>
            </a:r>
            <a:pPr indent="0" marL="0">
              <a:buNone/>
            </a:pPr>
            <a:r>
              <a:rPr lang="en-US" sz="1400" dirty="0">
                <a:solidFill>
                  <a:srgbClr val="333B4F"/>
                </a:solidFill>
                <a:latin typeface="Calibri" pitchFamily="34" charset="0"/>
                <a:ea typeface="Calibri" pitchFamily="34" charset="-122"/>
                <a:cs typeface="Calibri" pitchFamily="34" charset="-120"/>
              </a:rPr>
              <a:t>a correct plan, pseudocode or a partial trace usually earns partial credit.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BEFORE THE EXAM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Study Plan for the Midterm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8</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sp>
        <p:nvSpPr>
          <p:cNvPr id="7" name="Shape 4"/>
          <p:cNvSpPr/>
          <p:nvPr/>
        </p:nvSpPr>
        <p:spPr>
          <a:xfrm>
            <a:off x="548640" y="1645920"/>
            <a:ext cx="2103120" cy="329184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1307592" y="1828800"/>
            <a:ext cx="585216" cy="585216"/>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1459748" y="1980956"/>
            <a:ext cx="280904" cy="280904"/>
          </a:xfrm>
          <a:prstGeom prst="rect">
            <a:avLst/>
          </a:prstGeom>
        </p:spPr>
      </p:pic>
      <p:sp>
        <p:nvSpPr>
          <p:cNvPr id="10" name="Text 6"/>
          <p:cNvSpPr txBox="1"/>
          <p:nvPr/>
        </p:nvSpPr>
        <p:spPr>
          <a:xfrm>
            <a:off x="54864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1</a:t>
            </a:r>
            <a:endParaRPr lang="en-US" sz="1700" dirty="0"/>
          </a:p>
        </p:txBody>
      </p:sp>
      <p:sp>
        <p:nvSpPr>
          <p:cNvPr id="11" name="Text 7"/>
          <p:cNvSpPr txBox="1"/>
          <p:nvPr/>
        </p:nvSpPr>
        <p:spPr>
          <a:xfrm>
            <a:off x="71323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Re-read the cheat sheet in the notes. Write your own one-page summary by hand.</a:t>
            </a:r>
            <a:endParaRPr lang="en-US" sz="1400" dirty="0"/>
          </a:p>
        </p:txBody>
      </p:sp>
      <p:sp>
        <p:nvSpPr>
          <p:cNvPr id="12" name="Shape 8"/>
          <p:cNvSpPr/>
          <p:nvPr/>
        </p:nvSpPr>
        <p:spPr>
          <a:xfrm>
            <a:off x="2788920" y="1645920"/>
            <a:ext cx="2103120" cy="329184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3547872" y="1828800"/>
            <a:ext cx="585216" cy="585216"/>
          </a:xfrm>
          <a:prstGeom prst="ellipse">
            <a:avLst/>
          </a:prstGeom>
          <a:solidFill>
            <a:srgbClr val="FCA311"/>
          </a:solidFill>
          <a:ln w="12700">
            <a:solidFill>
              <a:srgbClr val="FCA311"/>
            </a:solidFill>
            <a:prstDash val="solid"/>
          </a:ln>
        </p:spPr>
      </p:sp>
      <p:pic>
        <p:nvPicPr>
          <p:cNvPr id="14" name="Image 1" descr="preencoded.png">    </p:cNvPr>
          <p:cNvPicPr>
            <a:picLocks noChangeAspect="1"/>
          </p:cNvPicPr>
          <p:nvPr/>
        </p:nvPicPr>
        <p:blipFill>
          <a:blip r:embed="rId2"/>
          <a:stretch>
            <a:fillRect/>
          </a:stretch>
        </p:blipFill>
        <p:spPr>
          <a:xfrm>
            <a:off x="3700028" y="1980956"/>
            <a:ext cx="280904" cy="280904"/>
          </a:xfrm>
          <a:prstGeom prst="rect">
            <a:avLst/>
          </a:prstGeom>
        </p:spPr>
      </p:pic>
      <p:sp>
        <p:nvSpPr>
          <p:cNvPr id="15" name="Text 10"/>
          <p:cNvSpPr txBox="1"/>
          <p:nvPr/>
        </p:nvSpPr>
        <p:spPr>
          <a:xfrm>
            <a:off x="278892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2</a:t>
            </a:r>
            <a:endParaRPr lang="en-US" sz="1700" dirty="0"/>
          </a:p>
        </p:txBody>
      </p:sp>
      <p:sp>
        <p:nvSpPr>
          <p:cNvPr id="16" name="Text 11"/>
          <p:cNvSpPr txBox="1"/>
          <p:nvPr/>
        </p:nvSpPr>
        <p:spPr>
          <a:xfrm>
            <a:off x="295351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Take the practice midterm in the notes: 90 minutes, closed book, on paper.</a:t>
            </a:r>
            <a:endParaRPr lang="en-US" sz="1400" dirty="0"/>
          </a:p>
        </p:txBody>
      </p:sp>
      <p:sp>
        <p:nvSpPr>
          <p:cNvPr id="17" name="Shape 12"/>
          <p:cNvSpPr/>
          <p:nvPr/>
        </p:nvSpPr>
        <p:spPr>
          <a:xfrm>
            <a:off x="5029200" y="1645920"/>
            <a:ext cx="2103120" cy="329184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5788152" y="1828800"/>
            <a:ext cx="585216" cy="585216"/>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5940308" y="1980956"/>
            <a:ext cx="280904" cy="280904"/>
          </a:xfrm>
          <a:prstGeom prst="rect">
            <a:avLst/>
          </a:prstGeom>
        </p:spPr>
      </p:pic>
      <p:sp>
        <p:nvSpPr>
          <p:cNvPr id="20" name="Text 14"/>
          <p:cNvSpPr txBox="1"/>
          <p:nvPr/>
        </p:nvSpPr>
        <p:spPr>
          <a:xfrm>
            <a:off x="502920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3</a:t>
            </a:r>
            <a:endParaRPr lang="en-US" sz="1700" dirty="0"/>
          </a:p>
        </p:txBody>
      </p:sp>
      <p:sp>
        <p:nvSpPr>
          <p:cNvPr id="21" name="Text 15"/>
          <p:cNvSpPr txBox="1"/>
          <p:nvPr/>
        </p:nvSpPr>
        <p:spPr>
          <a:xfrm>
            <a:off x="519379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Check your answers (run the code folder). List every mistake and its cause.</a:t>
            </a:r>
            <a:endParaRPr lang="en-US" sz="1400" dirty="0"/>
          </a:p>
        </p:txBody>
      </p:sp>
      <p:sp>
        <p:nvSpPr>
          <p:cNvPr id="22" name="Shape 16"/>
          <p:cNvSpPr/>
          <p:nvPr/>
        </p:nvSpPr>
        <p:spPr>
          <a:xfrm>
            <a:off x="7269480" y="1645920"/>
            <a:ext cx="2103120" cy="329184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8028432" y="1828800"/>
            <a:ext cx="585216" cy="585216"/>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8180588" y="1980956"/>
            <a:ext cx="280904" cy="280904"/>
          </a:xfrm>
          <a:prstGeom prst="rect">
            <a:avLst/>
          </a:prstGeom>
        </p:spPr>
      </p:pic>
      <p:sp>
        <p:nvSpPr>
          <p:cNvPr id="25" name="Text 18"/>
          <p:cNvSpPr txBox="1"/>
          <p:nvPr/>
        </p:nvSpPr>
        <p:spPr>
          <a:xfrm>
            <a:off x="726948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4</a:t>
            </a:r>
            <a:endParaRPr lang="en-US" sz="1700" dirty="0"/>
          </a:p>
        </p:txBody>
      </p:sp>
      <p:sp>
        <p:nvSpPr>
          <p:cNvPr id="26" name="Text 19"/>
          <p:cNvSpPr txBox="1"/>
          <p:nvPr/>
        </p:nvSpPr>
        <p:spPr>
          <a:xfrm>
            <a:off x="743407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Problem set P1–P12. Type your programs, compare with the code folder.</a:t>
            </a:r>
            <a:endParaRPr lang="en-US" sz="1400" dirty="0"/>
          </a:p>
        </p:txBody>
      </p:sp>
      <p:sp>
        <p:nvSpPr>
          <p:cNvPr id="27" name="Shape 20"/>
          <p:cNvSpPr/>
          <p:nvPr/>
        </p:nvSpPr>
        <p:spPr>
          <a:xfrm>
            <a:off x="9509760" y="1645920"/>
            <a:ext cx="2103120" cy="329184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10268712" y="1828800"/>
            <a:ext cx="585216" cy="585216"/>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10420868" y="1980956"/>
            <a:ext cx="280904" cy="280904"/>
          </a:xfrm>
          <a:prstGeom prst="rect">
            <a:avLst/>
          </a:prstGeom>
        </p:spPr>
      </p:pic>
      <p:sp>
        <p:nvSpPr>
          <p:cNvPr id="30" name="Text 22"/>
          <p:cNvSpPr txBox="1"/>
          <p:nvPr/>
        </p:nvSpPr>
        <p:spPr>
          <a:xfrm>
            <a:off x="950976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5</a:t>
            </a:r>
            <a:endParaRPr lang="en-US" sz="1700" dirty="0"/>
          </a:p>
        </p:txBody>
      </p:sp>
      <p:sp>
        <p:nvSpPr>
          <p:cNvPr id="31" name="Text 23"/>
          <p:cNvSpPr txBox="1"/>
          <p:nvPr/>
        </p:nvSpPr>
        <p:spPr>
          <a:xfrm>
            <a:off x="967435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Explain two solutions to a classmate. Bring open questions to class or office hours.</a:t>
            </a:r>
            <a:endParaRPr lang="en-US" sz="1400" dirty="0"/>
          </a:p>
        </p:txBody>
      </p:sp>
      <p:sp>
        <p:nvSpPr>
          <p:cNvPr id="32" name="Shape 24"/>
          <p:cNvSpPr/>
          <p:nvPr/>
        </p:nvSpPr>
        <p:spPr>
          <a:xfrm>
            <a:off x="548640" y="5166360"/>
            <a:ext cx="11109960" cy="868680"/>
          </a:xfrm>
          <a:prstGeom prst="roundRect">
            <a:avLst>
              <a:gd name="adj" fmla="val 12632"/>
            </a:avLst>
          </a:prstGeom>
          <a:solidFill>
            <a:srgbClr val="FFF6E3"/>
          </a:solidFill>
          <a:ln w="12700">
            <a:solidFill>
              <a:srgbClr val="FFF6E3"/>
            </a:solidFill>
            <a:prstDash val="solid"/>
          </a:ln>
        </p:spPr>
      </p:sp>
      <p:pic>
        <p:nvPicPr>
          <p:cNvPr id="33" name="Image 5" descr="preencoded.png">    </p:cNvPr>
          <p:cNvPicPr>
            <a:picLocks noChangeAspect="1"/>
          </p:cNvPicPr>
          <p:nvPr/>
        </p:nvPicPr>
        <p:blipFill>
          <a:blip r:embed="rId6"/>
          <a:stretch>
            <a:fillRect/>
          </a:stretch>
        </p:blipFill>
        <p:spPr>
          <a:xfrm>
            <a:off x="822960" y="5326380"/>
            <a:ext cx="548640" cy="548640"/>
          </a:xfrm>
          <a:prstGeom prst="rect">
            <a:avLst/>
          </a:prstGeom>
        </p:spPr>
      </p:pic>
      <p:sp>
        <p:nvSpPr>
          <p:cNvPr id="34" name="Text 25"/>
          <p:cNvSpPr txBox="1"/>
          <p:nvPr/>
        </p:nvSpPr>
        <p:spPr>
          <a:xfrm>
            <a:off x="1645920" y="5239512"/>
            <a:ext cx="9738360" cy="7223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Code folder: </a:t>
            </a:r>
            <a:pPr indent="0" marL="0">
              <a:buNone/>
            </a:pPr>
            <a:r>
              <a:rPr lang="en-US" sz="1400" dirty="0">
                <a:solidFill>
                  <a:srgbClr val="333B4F"/>
                </a:solidFill>
                <a:latin typeface="Calibri" pitchFamily="34" charset="0"/>
                <a:ea typeface="Calibri" pitchFamily="34" charset="-122"/>
                <a:cs typeface="Calibri" pitchFamily="34" charset="-120"/>
              </a:rPr>
              <a:t>14 tested projects (08_01 … 08_14): every programming question of this deck, the practice exam and the problem set.</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midterm covers Weeks 1–7: algorithms, flowcharts, types, operators, decisions, loops.</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Trace with a table: one column per variable, one row per pass.</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Watch integer division, % signs, operator precedence and string + number.</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Only the first true branch of an else-if ladder runs; order the conditions.</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Choose the loop: for = count known, while = condition, do-while = at least once.</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Name the pattern (accumulator, best so far, sentinel, validation, digits), then code it.</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Midterm exam · then Week 9: One-Dimensional Arrays</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8</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8 – Midterm Review &amp; Practice Exam</dc:title>
  <dc:subject>PptxGenJS Presentation</dc:subject>
  <dc:creator>MCMP113</dc:creator>
  <cp:lastModifiedBy>MCMP113</cp:lastModifiedBy>
  <cp:revision>1</cp:revision>
  <dcterms:created xsi:type="dcterms:W3CDTF">2026-10-25T13:00:31Z</dcterms:created>
  <dcterms:modified xsi:type="dcterms:W3CDTF">2026-10-25T13:00:31Z</dcterms:modified>
</cp:coreProperties>
</file>