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Lst>
  <p:notesMasterIdLst>
    <p:notesMasterId r:id="rId5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notesMaster" Target="notesMasters/notesMaster1.xml"/><Relationship Id="rId51" Type="http://schemas.openxmlformats.org/officeDocument/2006/relationships/presProps" Target="presProps.xml"/><Relationship Id="rId52" Type="http://schemas.openxmlformats.org/officeDocument/2006/relationships/viewProps" Target="viewProps.xml"/><Relationship Id="rId53" Type="http://schemas.openxmlformats.org/officeDocument/2006/relationships/theme" Target="theme/theme1.xml"/><Relationship Id="rId5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Week 14 (about 3 × 50 min). The terminal shows a real run of today's Example 7: the program CREATED a text file and then counted its lines, words and characters. Opening question: "Every program you have written so far forgets everything when it ends. Why?" (variables live in RAM; RAM is given back when the program ends). Today the data finally outlives the program. Plan: Part 1 files (about 75 min), Part 2 one-slide-per-topic review of the semester (about 35 min), Part 3 the Student Grade Manager mini-project that uses everything (about 30 min). Week 15 is the final exam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2 min. Outcomes 1–5 are new; outcome 6 is the semester review. The final exam (Week 15 practice final) has a file-reading question: the program writes its own file and then reads it, exactly like today's examples.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 min. Left: Week 13 Example 10 kept its grades in an array literal inside Program.cs. To change one grade we had to edit the code and compile again, and grades typed by a user were lost at the end of the run. Right: this week the same data lives in a text file. The program reads it into an array (Week 9!), uses the methods of Weeks 12–13, and writes results back. Ask: "Which programs on your phone keep data between runs?" (all of them: notes, contacts, high scores). They all use files or databases.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1, about 75 min with the examples. Everything we need is in the namespace System.IO, which our project template already imports (ImplicitUsings), so no using line is needed at the top of Program.cs. All 11 example programs create the files they read themselves, so they run on every computer without extra downloads.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5 min. Variables and arrays live in RAM (memory). When the program ends, the operating system takes that memory back: everything is gone. A file lives on the disk (SSD) until somebody deletes it. Text files contain characters (we can open them in Notepad or VS Code); binary files contain raw bytes that only a special program understands (.exe, .png, .docx). In this course we only use text files: .txt, .csv, .log. Question: is Program.cs a text file? Yes. Is the compiled .dll? No, binary.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6 min. "notes.txt" is a RELATIVE path: the file is searched in the current working directory. With dotnet run (and with Run in VS Code) the working directory is the PROJECT FOLDER, so the file appears next to Program.cs. The compiled program lives somewhere else, in bin/Debug/net10.0; that folder is AppContext.BaseDirectory. If you start the .dll from another folder, relative paths point to that other folder, and "file not found" surprises follow. Avoid absolute paths like C:\Users\ali\Desktop\notes.txt: they only work on one computer. Path.Combine("backup", "notes_copy.txt") inserts the right separator: / on Linux/macOS, \ on Windows. The console shows the real output of Example 1 (Linux, so forward slashes).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5 min. These static methods open the file, do the job and close it again, all in one call. They are perfect for small files (up to a few MB). Important pair: WriteAllText CREATES the file or REPLACES its whole content; AppendAllText adds to the end (and creates the file if it does not exist). WriteAllLines and ReadAllLines connect files with Week 9 arrays: one array element = one line. File.Delete does not complain if the file is missing; File.Copy with true overwrites the target. All of them live in System.IO — already imported by our template (ImplicitUsings).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7 min. Run the program live and open notes.txt in VS Code before step 5 (put a breakpoint there). Step 2 creates the file, step 3 adds a third line, step 4 reads all 56 characters back (the \n line breaks count as characters). Step 6 shows the classic mistake: a second WriteAllText REPLACES everything, only one line is left. Question: what happens if you run the program twice? Nothing new: WriteAllText starts the file again each time and step 7 deletes it. The backup copy stays (look in the backup folder).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6 min. Week 9 arrays meet files. Saving: every double is turned into a string (ToString), then WriteAllLines writes one element per line. AppendAllLines adds one more day. Loading: ReadAllLines gives a string[] — Length tells how many lines there are, so we do not need to know the number in advance. Each string is converted back with double.Parse, then the Week 10 loops compute average and maximum. Note: 16.0.ToString() is "16" — the .0 disappears, but "21.0" (written as text) stays as it is. Both parse to the same number. Check: (14.5+16+13.5+18+19.5+17+15.5+21)/8 = 135/8 = 16.875 → 16.88.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7 min. A stream keeps the file OPEN while we write many lines in a loop. The using block guarantees that the file is CLOSED at its end — even if an exception happens. Without closing, the last lines may still sit in a buffer and never reach the disk. Reading: ReadLine returns the next line, or null when there are no more lines. This is a sentinel-controlled while loop (Week 7): the sentinel is null. new StreamWriter(path, true) opens in APPEND mode; without true the file is replaced. There is also the shorter "using declaration" (using StreamWriter w = new(path);) — the file is then closed at the end of the enclosing block. We stay with the block 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5 min. The flowchart is the Week 7 sentinel loop: read first, test, process, read again. The sentinel is null ("no more lines"). Form A is Example 3: one ReadLine before the loop, one at the end of the body. Form B (Example 9) reads and tests in one line: the assignment (line = reader.ReadLine()) has a value, which is compared with null. Both are correct; choose one and use it consistently. Classic bug: calling ReadLine twice in one pass (e.g. once in the condition and again in the body) — every second line is skipped. Exercise E4 in the notes shows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6 min. CSV is the simplest table format: one line per record, fields separated by commas, often a header line first. Excel and Google Sheets open it directly. Split(',') cuts a line into a string[]; fields[0] is the name, fields[1] and fields[2] are still TEXT and must be parsed with int.Parse. Weighted average with the MCMP113 weights: 0.4 · 72 + 0.6 · 64 = 28.8 + 38.4 = 67.2. Rules for our files: skip the header (start the loop at i = 1), no commas inside a value (Example 12 refuses names with commas), decimal POINT for numbers (our template has InvariantGlobalization). Real CSV allows quoted values with commas — that needs a CSV library, not part of this course.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8 min. The program first writes grades.csv itself (synthetic data, so it runs everywhere), then reads it with ReadAllLines and writes report.txt with a StreamWriter while it walks through the rows. Inside the loop: Split, two int.Parse calls, the weighted average, the Week 5 letter scale (example scale — check the university regulation for the official one). Ask: why does the loop start at 1? Line 0 is the header "name,midterm,final"; int.Parse("midterm") would throw a FormatException. Check of the last line: (67.2 + 61.6 + 92.2 + 59.8 + 36.6) / 5 = 317.4 / 5 = 63.48. Deniz Arslan with 59.8 is just below 60: a good boundary case.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7 min. Run the program, add three tasks, quit. Run it AGAIN: "Welcome back! 3 task(s) loaded". This is the whole point of files. Adding uses AppendAllText with Environment.NewLine (\r\n on Windows, \n on Linux/macOS). Removing a task cannot be done "in the middle of a file": we load all lines, build a new array without one element (RemoveAt, Week 13 style returning an array), and rewrite the whole file with WriteAllLines. LoadTasks returns an empty array when the file does not exist yet: the first run must work, too. Remove todo.txt to start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5 min. A log is a file that only grows: every event is appended with the date and time. The format string yyyy-MM-dd HH:mm gives e.g. 2026-10-12 21:13 (HH = 24-hour clock, mm = minutes, MM = month!). The console shows the log after the SECOND run: the first five lines come from run 1, the last three from run 2. The timestamps are real; your times will differ. Log is a void method: its job is an action (writing to a file), so it returns nothing (Week 13 design rule). Ask: what is the difference between WARN and INFO here? Only the text — but it allows filtering later (Example 9 does exactly that with a keyword).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6 min. ReadAllLines gives the lines; the Length of the array is the line count (the empty line counts!). Words: Split(' ', StringSplitOptions.RemoveEmptyEntries) ignores double spaces. Characters: the sum of line lengths, without line breaks. Check by hand: 25 + 21 + 0 + 29 + 23 = 98 characters; 4 + 4 + 0 + 4 + 3 = 15 words; 98 − 11 spaces − 4 full stops = 83 letters. UTF-8: .NET writes and reads UTF-8 by default, so ğ, ü, ş, ı, ö, ç are stored correctly and char.IsLetter knows them. On the Windows console Console.OutputEncoding = Encoding.UTF8 makes them visible. A second run with the typo proverb.txt prints a friendly message instead of crashing — that is the try/catch of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6 min. Files are outside our program: they may be missing, renamed, open in Excel, or contain garbage. Then .NET THROWS an exception. If nobody catches it, the program crashes with "Unhandled exception" (left: real messages, path shortened). try { … } catch (Type) { … }: if a statement in the try block throws an exception of that type, the REST of the try block is skipped and the catch block runs; then the program continues after the catch. The code on the right is the pattern; Example 7 uses exactly this shape — its run with the typo "proverb.txt" is shown at the bottom (real output). Do not catch everything "just in case" and print nothing — hidden errors are worse than crashes.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5 min. Part 2 of Example 11: the folder old_data does not exist, so .NET throws DirectoryNotFoundException — which IS AN IOException. The first catch (FileNotFoundException) does not match, the second one does. Order matters: a catch for the specific type must come BEFORE the general one. If IOException came first, the FileNotFoundException block could never be reached — the compiler refuses with CS0160 (real message). The table lists the only three exception types we use in this course.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6 min. Part 3: the try/catch is INSIDE the loop, so a FormatException only skips that one line: "abc", the empty line and "7O" (letter O, not zero!) are reported, and the four valid scores give (78 + 91 + 65 + 100) / 4 = 334 / 4 = 83.50. If the try/catch were AROUND the loop, the first bad line would end the whole loop. Part 4: TryParse finds the same three bad lines without any exception — preferred for user input (Weeks 5 and 12). Exceptions are for situations we cannot check beforehand, such as a missing or locked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6 min. The Week 7 game, now with a memory: highscore.txt contains ONE line "name,attempts". LoadHighScore returns a tuple (Week 13) — the name and the number of attempts — or ("", 0) when there is no valid record. The secret number is random (Random.Shared), so your runs will be different; the runs shown are real, played with the halving strategy of Week 1 (at most 7 guesses for 1..100, because 2^7 = 128 ≥ 100). The FormatException catch protects against a damaged file. Question: what goes wrong if a player types the name "Ali, the Great"? The comma splits the line into 3 parts → the record is ignored. Example 12 refuses such names.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5 min. Two using statements in a row open the source for reading and the target for writing; both are closed at the end of the block. Contains(keyword, StringComparison.OrdinalIgnoreCase) ignores upper/lower case, so "exam" also finds "Exam rooms". Before that, File.Copy(source, backup, true) copies the whole file in one call (true = overwrite an older backup). This is the pattern of many real tools: grep on Linux, filters in Excel, "find in files" in VS Code. Ask: how would you copy only the lines that do NOT contain the keyword? (negate the condition with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6 min. balance.txt holds ONE number, written with F2 (1300.00). SaveBalance runs right after every deposit or withdrawal, so even a crash or a closed window loses nothing. history.csv gets one appended line per transaction: time, type, amount, new balance. Money uses decimal (Week 3). Run 3 (bottom right): we typed 1.550,50 into balance.txt by hand — Turkish notation. decimal.Parse with our invariant settings throws FormatException; the program warns and uses 0. The lesson: a program must read the format it writes. Question: is "use 0" a good reaction for a bank? (No! A real program should stop and ask — discuss.)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 min. Go through the table quickly; ask students which ones they already met in the lab. The most frequent: the program cannot find a file because it was started from another folder, and WriteAllText used where AppendAllText was meant. Also mention: a file that is open in Excel cannot be written by the program (IOException on Windows).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2, about 35 min: roughly 3 minutes per topic. Each slide shows the ONE picture students should remember from that week. Use them for a quick question round: point at a student, ask the "check" question in the notes. Week 15 is the full final exam review with practice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3 min. An algorithm is a finite sequence of unambiguous steps that turns input into output. Properties: finite, definite (exact), input, output, effective (doable). Example: Euclid's GCD from Week 1. Trace GCD(48, 18): 48 mod 18 = 12, 18 mod 12 = 6, 12 mod 6 = 0 → GCD = 6. Check question: is "add salt to taste" an algorithm step? Not definite — how much is "to taste"?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3 min. Symbols: terminal (start/end), parallelogram (input/output), rectangle (process), diamond (decision with exactly two labelled exits), arrows. The example is the maximum of two numbers. Check question: what is wrong with a decision diamond that has only one exit? (Every decision needs a yes AND a no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3 min. A variable is a named box in memory with a TYPE. Money → decimal (with m suffix); whole numbers → int; measurements → double. A cast to int TRUNCATES: (int)3.9 is 3. Console.ReadLine() always returns a string — convert it with int.Parse / double.Parse or, safer, TryParse. Check question: what is int.MaxValue + 1? It wraps around to int.MinValue (unless checked).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3 min. All values on this slide were printed by a real C# run. 7 / 2 is 3 (both int → integer division); 7 / 2.0 is 3.5. % gives the remainder; with a negative left side the result is negative (-7 % 3 = -1). * binds stronger than +. "a" + 1 + 2 is "a12" (left to right, string first), 1 + 2 + "a" is "3a". i++ returns the OLD value, ++i the NEW one: with i = 5, a = i++ gives a = 5 (i becomes 6), b = ++i gives b = 7. Check question: 10 / 3 * 3? →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3 min. The else-if ladder checks conditions from top to bottom and runs the FIRST true branch — so the order matters (&gt;= 90 must come before &gt;= 85). The switch expression with relational patterns (C# 9) is the compact modern form we used for LetterGrade in Weeks 13–14. Always use braces, and watch for if (x &gt; 0); with a stray semicolon. Check question: what does the ladder print for 85? "BA".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3 min. for: we know the number of repetitions (counter-controlled). while: repeat while a condition holds, maybe zero times (sentinel-controlled — e.g. ReadLine() != null today!). do-while: the body runs at least once (menus, input validation). Common bugs: off-by-one (&lt;= vs &lt;), ; after the header, forgetting the update → infinite loop (Ctrl+C stops it). Check question: how many times does for (int i = 0; i &lt; 10; i += 3) run? i = 0, 3, 6, 9 → 4 times.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 min. int[] a = { 5, 1, 4, 2, 8 }: indices 0..4, a.Length = 5; a[5] → IndexOutOfRangeException. Arrays are reference types: int[] b = a; makes two names for ONE array. Max with index: start with a[0], not with 0. Linear search O(n) works on any array; binary search O(log n) needs sorted data. Bubble sort: one pass of { 5, 1, 4, 2, 8 } gives { 1, 4, 2, 5, 8 } (verified) — the largest value has bubbled to the end. Check question: how many passes at most for n elements? n − 1.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3 min. int[,] m = { { 1, 2, 3 }, { 4, 5, 6 } } has 2 rows and 3 columns: m.GetLength(0) = 2, m.GetLength(1) = 3, m[1, 2] = 6 (verified). Row-major traversal: the outer loop over rows, the inner over columns. Row sums need the sum variable reset for each row. Check question: which element is m[0, 2]? 3. What is the sum of column 1? 2 + 5 =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 min. A method has a return type, a PascalCase name and parameters. Arguments are COPIED into parameters (pass by value); an array parameter copies the reference, so the method can change the caller's elements; ref passes the variable itself. return hands back a value and ends the method; every path must return (CS0161). void methods perform actions. Scope: a variable lives inside its block (CS0103 outside, CS0136 for reusing an outer name). In top-level programs methods are local functions at the bottom of Program.cs; prefer static ones. Check question: after static void Change(int x) { x = 10; } and Change(n), has n changed? 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3 min. The summary of today in one picture: three ways to write, two ways to read, and the try/catch around reading. Decision guide: small file, whole content → File.ReadAllLines / WriteAllLines; many lines in a loop or a very large file → StreamWriter / StreamReader in using. Check question: which method keeps the old content: WriteAllText or AppendAllText? AppendAllText.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3, about 30 min. Open 14_12_GradeManager/Program.cs in VS Code next to the slides and run it live. The program has about 220 lines including comments and blank lines; every method is short and has a one-line comment. Point out which week each part comes from (method map on the next slide). Students will extend it in homework H1 (sorting).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5 min. Requirements: load the saved students at start; add, list, show statistics, search; save on request and automatically on exit. Data structure: three PARALLEL arrays (Week 9) with a fixed capacity of 30, plus count = how many places are used. Index i means the same student in all three arrays. File format: students.csv, one line per student "name,midterm,final" — no header, no commas inside names. Ask: why not 30 separate variables per student? Why not a capacity of exactly 4? (we do not know in advance how many students will be added).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 min. Read the table row by row and ask "which week?". The design follows the rules of Weeks 12–13: computations return values and do not print (Average, LetterGrade, IndexOfName); actions are void (PrintList, PrintStatistics, SaveToFile); input methods loop until the value is valid. AddStudent and LoadFromFile change the arrays (reference parameters) and RETURN the new count, because count is an int and would otherwise only be changed in a copy.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 min. The top-level statements begin with the data: a const capacity (Week 3) and three parallel arrays of that size. count is the number of USED places — it comes back from LoadFromFile. dataFile is a relative path: with dotnet run, students.csv sits in the project folder next to Program.cs. First run: the file does not exist, LoadFromFile returns 0. Second run: the four students saved by run 1 are back (console on the right — real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 min. The main loop is the Week 7 menu pattern: do … while (choice != 0) with a switch inside. Every case is one method call — the main program reads almost like pseudocode. count = AddStudent(…, count): the method returns the new count and we store it. Forgetting the "count =" is a typical bug: the student is written into the arrays but never counted. ReadInt("Choice: ", 0, 5) guarantees a valid choice, so the switch needs no default. After the loop the program saves automatically.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 min. ReadInt is the Week 12 method: TryParse fails for "x", the range check rejects 610. The condition is split over two lines only to keep it readable. ReadName (in the code folder) rejects empty names and names with a comma, because a comma would break the CSV line when we save. AddStudent checks the capacity first (early return, Week 13), fills the next free place — index count — and returns count + 1. The consoles show real invalid inputs from the test runs.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 min. PrintStatistics: an early return when the list is empty; then ONE loop for the sum (average), the index of the best average (Week 10 maximum with index) and the number of passes. Average and LetterGrade are reused everywhere — written once, tested once. Search (IndexOfName) is a linear search that ignores upper/lower case: "ceren yildiz" finds "Ceren Yildiz". Check of the statistics after run 2: (67.2 + 61.6 + 92.2 + 59.8 + 36.6) / 5 = 317.4 / 5 = 63.48.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 min. A StreamWriter inside using writes "name,midterm,final" for i = 0 … count − 1. We loop to count, not to names.Length: the free places are empty (null names, 0 grades) and must not be saved. The file is replaced each time (new StreamWriter(path) without true) — it always contains the complete current list. Live demo idea: open students.csv in VS Code, change a grade by hand, save, run again — the program shows the new grade.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5 min. Missing file → 0 students (first run). IOException (e.g. the file is open in another program) → message and 0. Then every line is split; it is accepted only if it has exactly 3 fields and both grades parse. A damaged line is reported and skipped — the others are still loaded. The loop condition count &lt; names.Length protects the arrays: a file with more than 30 lines cannot cause IndexOutOfRangeException. TryParse with out int mid declares the variable inside the condition (Week 5). Ask: what happens with the line "Ali Can,70"? fields.Length is 2 → skipped with a message.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5 min. Give students 3 minutes in pairs. Q1: WriteAllText vs AppendAllText. Q2: Split and row products. Q3: try/catch inside a loop. All three were run for real (answers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 min. Q1: the second WriteAllText starts the file again with "four", then "five" is appended → 2 lines, the first is "four". Q2: 3·4 + 10·2 + 7·7 = 12 + 20 + 49 = 81. Q3: "10" ok, "x" throws FormatException inside the try → "bad", the loop continues, "20" ok; sum = 30. Note: "ok " is not printed for "x" because the exception skips the rest of the try block.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25 min. E1 and E2 for everybody, E3 and E4 for fast pairs. Solutions are in the instructor edition of the notes (all compiled and run). While walking around check: files are created by the program itself; relative paths; using around every stream; the loop over CSV lines starts at 1 when there is a header.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3 min. H1 extends the mini-project with the bubble sort of Week 10: all three arrays must be swapped together, otherwise names and grades get mixed up. H2 combines Split with counting; H3 connects matrices (Week 11) and CSV; H4 is a small diary that uses AppendAllText and ReadAllLines. All solutions are in the instructor edition.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2 min. Summarise with the six take-aways. Next week: final exam review with a practice final (120 minutes, all weeks, emphasis on Weeks 9–14). Exam date, room and duration will be announced in class. Bring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1.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1.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image" Target="../media/image-25-5.png"/><Relationship Id="rId6" Type="http://schemas.openxmlformats.org/officeDocument/2006/relationships/slideLayout" Target="../slideLayouts/slideLayout1.xml"/><Relationship Id="rId7"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image" Target="../media/image-33-3.png"/><Relationship Id="rId4" Type="http://schemas.openxmlformats.org/officeDocument/2006/relationships/image" Target="../media/image-33-4.png"/><Relationship Id="rId5" Type="http://schemas.openxmlformats.org/officeDocument/2006/relationships/slideLayout" Target="../slideLayouts/slideLayout1.xml"/><Relationship Id="rId6"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image" Target="../media/image-34-3.png"/><Relationship Id="rId4" Type="http://schemas.openxmlformats.org/officeDocument/2006/relationships/slideLayout" Target="../slideLayouts/slideLayout1.xml"/><Relationship Id="rId5"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slideLayout" Target="../slideLayouts/slideLayout1.xml"/><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slideLayout" Target="../slideLayouts/slideLayout1.xml"/><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image" Target="../media/image-39-2.png"/><Relationship Id="rId3" Type="http://schemas.openxmlformats.org/officeDocument/2006/relationships/slideLayout" Target="../slideLayouts/slideLayout1.xml"/><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image" Target="../media/image-43-2.png"/><Relationship Id="rId3" Type="http://schemas.openxmlformats.org/officeDocument/2006/relationships/image" Target="../media/image-43-3.png"/><Relationship Id="rId4" Type="http://schemas.openxmlformats.org/officeDocument/2006/relationships/slideLayout" Target="../slideLayouts/slideLayout1.xml"/><Relationship Id="rId5"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image" Target="../media/image-46-2.png"/><Relationship Id="rId3" Type="http://schemas.openxmlformats.org/officeDocument/2006/relationships/image" Target="../media/image-46-3.png"/><Relationship Id="rId4" Type="http://schemas.openxmlformats.org/officeDocument/2006/relationships/image" Target="../media/image-46-4.png"/><Relationship Id="rId5" Type="http://schemas.openxmlformats.org/officeDocument/2006/relationships/slideLayout" Target="../slideLayouts/slideLayout1.xml"/><Relationship Id="rId6"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image" Target="../media/image-47-2.png"/><Relationship Id="rId3" Type="http://schemas.openxmlformats.org/officeDocument/2006/relationships/image" Target="../media/image-47-3.png"/><Relationship Id="rId4" Type="http://schemas.openxmlformats.org/officeDocument/2006/relationships/image" Target="../media/image-47-4.png"/><Relationship Id="rId5" Type="http://schemas.openxmlformats.org/officeDocument/2006/relationships/image" Target="../media/image-47-5.png"/><Relationship Id="rId6" Type="http://schemas.openxmlformats.org/officeDocument/2006/relationships/slideLayout" Target="../slideLayouts/slideLayout1.xml"/><Relationship Id="rId7"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p:bgPr>
    </p:bg>
    <p:spTree>
      <p:nvGrpSpPr>
        <p:cNvPr id="1" name=""/>
        <p:cNvGrpSpPr/>
        <p:nvPr/>
      </p:nvGrpSpPr>
      <p:grpSpPr>
        <a:xfrm>
          <a:off x="0" y="0"/>
          <a:ext cx="0" cy="0"/>
          <a:chOff x="0" y="0"/>
          <a:chExt cx="0" cy="0"/>
        </a:xfrm>
      </p:grpSpPr>
      <p:sp>
        <p:nvSpPr>
          <p:cNvPr id="2" name="Text 0"/>
          <p:cNvSpPr txBox="1"/>
          <p:nvPr/>
        </p:nvSpPr>
        <p:spPr>
          <a:xfrm>
            <a:off x="548640" y="548640"/>
            <a:ext cx="7315200" cy="457200"/>
          </a:xfrm>
          <a:prstGeom prst="rect">
            <a:avLst/>
          </a:prstGeom>
          <a:noFill/>
          <a:ln/>
        </p:spPr>
        <p:txBody>
          <a:bodyPr wrap="square" lIns="0" tIns="0" rIns="0" bIns="0" rtlCol="0" anchor="ctr"/>
          <a:lstStyle/>
          <a:p>
            <a:pPr indent="0" marL="0">
              <a:buNone/>
            </a:pPr>
            <a:r>
              <a:rPr lang="en-US" sz="2000" b="1" dirty="0">
                <a:solidFill>
                  <a:srgbClr val="FCA311"/>
                </a:solidFill>
                <a:latin typeface="Courier New" pitchFamily="34" charset="0"/>
                <a:ea typeface="Courier New" pitchFamily="34" charset="-122"/>
                <a:cs typeface="Courier New" pitchFamily="34" charset="-120"/>
              </a:rPr>
              <a:t>&gt;_ MCMP113</a:t>
            </a:r>
            <a:endParaRPr lang="en-US" sz="2000" dirty="0"/>
          </a:p>
        </p:txBody>
      </p:sp>
      <p:sp>
        <p:nvSpPr>
          <p:cNvPr id="3" name="Text 1"/>
          <p:cNvSpPr txBox="1"/>
          <p:nvPr/>
        </p:nvSpPr>
        <p:spPr>
          <a:xfrm>
            <a:off x="548640" y="1097280"/>
            <a:ext cx="7498080" cy="914400"/>
          </a:xfrm>
          <a:prstGeom prst="rect">
            <a:avLst/>
          </a:prstGeom>
          <a:noFill/>
          <a:ln/>
        </p:spPr>
        <p:txBody>
          <a:bodyPr wrap="square" lIns="0" tIns="0" rIns="0" bIns="0" rtlCol="0" anchor="t"/>
          <a:lstStyle/>
          <a:p>
            <a:pPr indent="0" marL="0">
              <a:buNone/>
            </a:pPr>
            <a:r>
              <a:rPr lang="en-US" sz="2000" dirty="0">
                <a:solidFill>
                  <a:srgbClr val="C7CEDC"/>
                </a:solidFill>
                <a:latin typeface="Calibri" pitchFamily="34" charset="0"/>
                <a:ea typeface="Calibri" pitchFamily="34" charset="-122"/>
                <a:cs typeface="Calibri" pitchFamily="34" charset="-120"/>
              </a:rPr>
              <a:t>Introduction to Basic Algorithms and Programming</a:t>
            </a:r>
            <a:endParaRPr lang="en-US" sz="2000" dirty="0"/>
          </a:p>
        </p:txBody>
      </p:sp>
      <p:sp>
        <p:nvSpPr>
          <p:cNvPr id="4" name="Text 2"/>
          <p:cNvSpPr txBox="1"/>
          <p:nvPr/>
        </p:nvSpPr>
        <p:spPr>
          <a:xfrm>
            <a:off x="548640" y="1828800"/>
            <a:ext cx="7498080" cy="457200"/>
          </a:xfrm>
          <a:prstGeom prst="rect">
            <a:avLst/>
          </a:prstGeom>
          <a:noFill/>
          <a:ln/>
        </p:spPr>
        <p:txBody>
          <a:bodyPr wrap="square" lIns="0" tIns="0" rIns="0" bIns="0" rtlCol="0" anchor="ctr"/>
          <a:lstStyle/>
          <a:p>
            <a:pPr indent="0" marL="0">
              <a:buNone/>
            </a:pPr>
            <a:r>
              <a:rPr lang="en-US" sz="1800" b="1" dirty="0">
                <a:solidFill>
                  <a:srgbClr val="FCA311"/>
                </a:solidFill>
                <a:latin typeface="Courier New" pitchFamily="34" charset="0"/>
                <a:ea typeface="Courier New" pitchFamily="34" charset="-122"/>
                <a:cs typeface="Courier New" pitchFamily="34" charset="-120"/>
              </a:rPr>
              <a:t>Week 14</a:t>
            </a:r>
            <a:endParaRPr lang="en-US" sz="1800" dirty="0"/>
          </a:p>
        </p:txBody>
      </p:sp>
      <p:sp>
        <p:nvSpPr>
          <p:cNvPr id="5" name="Text 3"/>
          <p:cNvSpPr txBox="1"/>
          <p:nvPr/>
        </p:nvSpPr>
        <p:spPr>
          <a:xfrm>
            <a:off x="548640" y="2286000"/>
            <a:ext cx="7498080" cy="1554480"/>
          </a:xfrm>
          <a:prstGeom prst="rect">
            <a:avLst/>
          </a:prstGeom>
          <a:noFill/>
          <a:ln/>
        </p:spPr>
        <p:txBody>
          <a:bodyPr wrap="square" lIns="0" tIns="0" rIns="0" bIns="0" rtlCol="0" anchor="t">
            <a:normAutofit/>
          </a:bodyPr>
          <a:lstStyle/>
          <a:p>
            <a:pPr indent="0" marL="0">
              <a:buNone/>
            </a:pPr>
            <a:r>
              <a:rPr lang="en-US" sz="3800" b="1" dirty="0">
                <a:solidFill>
                  <a:srgbClr val="FFFFFF"/>
                </a:solidFill>
                <a:latin typeface="Cambria" pitchFamily="34" charset="0"/>
                <a:ea typeface="Cambria" pitchFamily="34" charset="-122"/>
                <a:cs typeface="Cambria" pitchFamily="34" charset="-120"/>
              </a:rPr>
              <a:t>Basic File Operations · Semester Review</a:t>
            </a:r>
            <a:endParaRPr lang="en-US" sz="3800" dirty="0"/>
          </a:p>
        </p:txBody>
      </p:sp>
      <p:sp>
        <p:nvSpPr>
          <p:cNvPr id="6" name="Text 4"/>
          <p:cNvSpPr txBox="1"/>
          <p:nvPr/>
        </p:nvSpPr>
        <p:spPr>
          <a:xfrm>
            <a:off x="548640" y="3886200"/>
            <a:ext cx="7498080" cy="640080"/>
          </a:xfrm>
          <a:prstGeom prst="rect">
            <a:avLst/>
          </a:prstGeom>
          <a:noFill/>
          <a:ln/>
        </p:spPr>
        <p:txBody>
          <a:bodyPr wrap="square" lIns="0" tIns="0" rIns="0" bIns="0" rtlCol="0" anchor="t"/>
          <a:lstStyle/>
          <a:p>
            <a:pPr indent="0" marL="0">
              <a:buNone/>
            </a:pPr>
            <a:r>
              <a:rPr lang="en-US" sz="1600" dirty="0">
                <a:solidFill>
                  <a:srgbClr val="C7CEDC"/>
                </a:solidFill>
                <a:latin typeface="Calibri" pitchFamily="34" charset="0"/>
                <a:ea typeface="Calibri" pitchFamily="34" charset="-122"/>
                <a:cs typeface="Calibri" pitchFamily="34" charset="-120"/>
              </a:rPr>
              <a:t>text files · paths · File and Stream classes · CSV · exceptions · review of Weeks 1–14 · mini-project</a:t>
            </a:r>
            <a:endParaRPr lang="en-US" sz="1600" dirty="0"/>
          </a:p>
        </p:txBody>
      </p:sp>
      <p:sp>
        <p:nvSpPr>
          <p:cNvPr id="7" name="Text 5"/>
          <p:cNvSpPr txBox="1"/>
          <p:nvPr/>
        </p:nvSpPr>
        <p:spPr>
          <a:xfrm>
            <a:off x="548640" y="4892040"/>
            <a:ext cx="7315200" cy="1005840"/>
          </a:xfrm>
          <a:prstGeom prst="rect">
            <a:avLst/>
          </a:prstGeom>
          <a:noFill/>
          <a:ln/>
        </p:spPr>
        <p:txBody>
          <a:bodyPr wrap="square" lIns="0" tIns="0" rIns="0" bIns="0" rtlCol="0" anchor="ctr"/>
          <a:lstStyle/>
          <a:p>
            <a:pPr indent="0" marL="0">
              <a:spcAft>
                <a:spcPts val="400"/>
              </a:spcAft>
              <a:buNone/>
            </a:pPr>
            <a:r>
              <a:rPr lang="en-US" sz="1500" b="1" dirty="0">
                <a:solidFill>
                  <a:srgbClr val="FFFFFF"/>
                </a:solidFill>
                <a:latin typeface="Calibri" pitchFamily="34" charset="0"/>
                <a:ea typeface="Calibri" pitchFamily="34" charset="-122"/>
                <a:cs typeface="Calibri" pitchFamily="34" charset="-120"/>
              </a:rPr>
              <a:t>Asst. Prof. Hasan Oğuz, PhD</a:t>
            </a:r>
            <a:endParaRPr lang="en-US" sz="1500" dirty="0"/>
          </a:p>
          <a:p>
            <a:pPr indent="0" marL="0">
              <a:spcAft>
                <a:spcPts val="400"/>
              </a:spcAft>
              <a:buNone/>
            </a:pPr>
            <a:r>
              <a:rPr lang="en-US" sz="1500" dirty="0">
                <a:solidFill>
                  <a:srgbClr val="C7CEDC"/>
                </a:solidFill>
                <a:latin typeface="Calibri" pitchFamily="34" charset="0"/>
                <a:ea typeface="Calibri" pitchFamily="34" charset="-122"/>
                <a:cs typeface="Calibri" pitchFamily="34" charset="-120"/>
              </a:rPr>
              <a:t>Istanbul Okan University  ·  Vocational School</a:t>
            </a:r>
            <a:endParaRPr lang="en-US" sz="1500" dirty="0"/>
          </a:p>
          <a:p>
            <a:pPr indent="0" marL="0">
              <a:spcAft>
                <a:spcPts val="400"/>
              </a:spcAft>
              <a:buNone/>
            </a:pPr>
            <a:r>
              <a:rPr lang="en-US" sz="1500" dirty="0">
                <a:solidFill>
                  <a:srgbClr val="C7CEDC"/>
                </a:solidFill>
                <a:latin typeface="Calibri" pitchFamily="34" charset="0"/>
                <a:ea typeface="Calibri" pitchFamily="34" charset="-122"/>
                <a:cs typeface="Calibri" pitchFamily="34" charset="-120"/>
              </a:rPr>
              <a:t>2026–2027 Fall Semester</a:t>
            </a:r>
            <a:endParaRPr lang="en-US" sz="1500" dirty="0"/>
          </a:p>
        </p:txBody>
      </p:sp>
      <p:sp>
        <p:nvSpPr>
          <p:cNvPr id="8" name="Shape 6"/>
          <p:cNvSpPr/>
          <p:nvPr/>
        </p:nvSpPr>
        <p:spPr>
          <a:xfrm>
            <a:off x="8412480" y="1188720"/>
            <a:ext cx="3246120" cy="3931920"/>
          </a:xfrm>
          <a:prstGeom prst="roundRect">
            <a:avLst>
              <a:gd name="adj" fmla="val 3380"/>
            </a:avLst>
          </a:prstGeom>
          <a:solidFill>
            <a:srgbClr val="0F1729"/>
          </a:solidFill>
          <a:ln w="12700">
            <a:solidFill>
              <a:srgbClr val="2A3654"/>
            </a:solidFill>
            <a:prstDash val="solid"/>
          </a:ln>
        </p:spPr>
      </p:sp>
      <p:sp>
        <p:nvSpPr>
          <p:cNvPr id="9" name="Shape 7"/>
          <p:cNvSpPr/>
          <p:nvPr/>
        </p:nvSpPr>
        <p:spPr>
          <a:xfrm>
            <a:off x="8641080" y="1371600"/>
            <a:ext cx="146304" cy="146304"/>
          </a:xfrm>
          <a:prstGeom prst="ellipse">
            <a:avLst/>
          </a:prstGeom>
          <a:solidFill>
            <a:srgbClr val="FF5F57"/>
          </a:solidFill>
          <a:ln w="12700">
            <a:solidFill>
              <a:srgbClr val="FF5F57"/>
            </a:solidFill>
            <a:prstDash val="solid"/>
          </a:ln>
        </p:spPr>
      </p:sp>
      <p:sp>
        <p:nvSpPr>
          <p:cNvPr id="10" name="Shape 8"/>
          <p:cNvSpPr/>
          <p:nvPr/>
        </p:nvSpPr>
        <p:spPr>
          <a:xfrm>
            <a:off x="8915400" y="1371600"/>
            <a:ext cx="146304" cy="146304"/>
          </a:xfrm>
          <a:prstGeom prst="ellipse">
            <a:avLst/>
          </a:prstGeom>
          <a:solidFill>
            <a:srgbClr val="FEBC2E"/>
          </a:solidFill>
          <a:ln w="12700">
            <a:solidFill>
              <a:srgbClr val="FEBC2E"/>
            </a:solidFill>
            <a:prstDash val="solid"/>
          </a:ln>
        </p:spPr>
      </p:sp>
      <p:sp>
        <p:nvSpPr>
          <p:cNvPr id="11" name="Shape 9"/>
          <p:cNvSpPr/>
          <p:nvPr/>
        </p:nvSpPr>
        <p:spPr>
          <a:xfrm>
            <a:off x="9189720" y="1371600"/>
            <a:ext cx="146304" cy="146304"/>
          </a:xfrm>
          <a:prstGeom prst="ellipse">
            <a:avLst/>
          </a:prstGeom>
          <a:solidFill>
            <a:srgbClr val="28C840"/>
          </a:solidFill>
          <a:ln w="12700">
            <a:solidFill>
              <a:srgbClr val="28C840"/>
            </a:solidFill>
            <a:prstDash val="solid"/>
          </a:ln>
        </p:spPr>
      </p:sp>
      <p:sp>
        <p:nvSpPr>
          <p:cNvPr id="12" name="Text 10"/>
          <p:cNvSpPr txBox="1"/>
          <p:nvPr/>
        </p:nvSpPr>
        <p:spPr>
          <a:xfrm>
            <a:off x="8686800" y="1737360"/>
            <a:ext cx="2834640" cy="3200400"/>
          </a:xfrm>
          <a:prstGeom prst="rect">
            <a:avLst/>
          </a:prstGeom>
          <a:noFill/>
          <a:ln/>
        </p:spPr>
        <p:txBody>
          <a:bodyPr wrap="square" lIns="0" tIns="0" rIns="0" bIns="0" rtlCol="0" anchor="t"/>
          <a:lstStyle/>
          <a:p>
            <a:pPr indent="0" marL="0">
              <a:spcAft>
                <a:spcPts val="500"/>
              </a:spcAft>
              <a:buNone/>
            </a:pPr>
            <a:r>
              <a:rPr lang="en-US" sz="1400" dirty="0">
                <a:solidFill>
                  <a:srgbClr val="FCA311"/>
                </a:solidFill>
                <a:latin typeface="Courier New" pitchFamily="34" charset="0"/>
                <a:ea typeface="Courier New" pitchFamily="34" charset="-122"/>
                <a:cs typeface="Courier New" pitchFamily="34" charset="-120"/>
              </a:rPr>
              <a:t>&gt; </a:t>
            </a:r>
            <a:pPr indent="0" marL="0">
              <a:spcAft>
                <a:spcPts val="500"/>
              </a:spcAft>
              <a:buNone/>
            </a:pPr>
            <a:r>
              <a:rPr lang="en-US" sz="1400" dirty="0">
                <a:solidFill>
                  <a:srgbClr val="E6EDF7"/>
                </a:solidFill>
                <a:latin typeface="Courier New" pitchFamily="34" charset="0"/>
                <a:ea typeface="Courier New" pitchFamily="34" charset="-122"/>
                <a:cs typeface="Courier New" pitchFamily="34" charset="-120"/>
              </a:rPr>
              <a:t>dotnet run</a:t>
            </a:r>
            <a:endParaRPr lang="en-US" sz="1400" dirty="0"/>
          </a:p>
          <a:p>
            <a:pPr indent="0" marL="0">
              <a:spcAft>
                <a:spcPts val="500"/>
              </a:spcAft>
              <a:buNone/>
            </a:pPr>
            <a:r>
              <a:rPr lang="en-US" sz="1400" dirty="0">
                <a:solidFill>
                  <a:srgbClr val="7EE2A8"/>
                </a:solidFill>
                <a:latin typeface="Courier New" pitchFamily="34" charset="0"/>
                <a:ea typeface="Courier New" pitchFamily="34" charset="-122"/>
                <a:cs typeface="Courier New" pitchFamily="34" charset="-120"/>
              </a:rPr>
              <a:t>Created proverbs.txt</a:t>
            </a:r>
            <a:endParaRPr lang="en-US" sz="1400" dirty="0"/>
          </a:p>
          <a:p>
            <a:pPr indent="0" marL="0">
              <a:spcAft>
                <a:spcPts val="500"/>
              </a:spcAft>
              <a:buNone/>
            </a:pPr>
            <a:r>
              <a:rPr lang="en-US" sz="1400" dirty="0">
                <a:solidFill>
                  <a:srgbClr val="7EE2A8"/>
                </a:solidFill>
                <a:latin typeface="Courier New" pitchFamily="34" charset="0"/>
                <a:ea typeface="Courier New" pitchFamily="34" charset="-122"/>
                <a:cs typeface="Courier New" pitchFamily="34" charset="-120"/>
              </a:rPr>
              <a:t>…</a:t>
            </a:r>
            <a:endParaRPr lang="en-US" sz="1400" dirty="0"/>
          </a:p>
          <a:p>
            <a:pPr indent="0" marL="0">
              <a:spcAft>
                <a:spcPts val="500"/>
              </a:spcAft>
              <a:buNone/>
            </a:pPr>
            <a:r>
              <a:rPr lang="en-US" sz="1400" dirty="0">
                <a:solidFill>
                  <a:srgbClr val="7EE2A8"/>
                </a:solidFill>
                <a:latin typeface="Courier New" pitchFamily="34" charset="0"/>
                <a:ea typeface="Courier New" pitchFamily="34" charset="-122"/>
                <a:cs typeface="Courier New" pitchFamily="34" charset="-120"/>
              </a:rPr>
              <a:t>Lines     : 5</a:t>
            </a:r>
            <a:endParaRPr lang="en-US" sz="1400" dirty="0"/>
          </a:p>
          <a:p>
            <a:pPr indent="0" marL="0">
              <a:spcAft>
                <a:spcPts val="500"/>
              </a:spcAft>
              <a:buNone/>
            </a:pPr>
            <a:r>
              <a:rPr lang="en-US" sz="1400" dirty="0">
                <a:solidFill>
                  <a:srgbClr val="7EE2A8"/>
                </a:solidFill>
                <a:latin typeface="Courier New" pitchFamily="34" charset="0"/>
                <a:ea typeface="Courier New" pitchFamily="34" charset="-122"/>
                <a:cs typeface="Courier New" pitchFamily="34" charset="-120"/>
              </a:rPr>
              <a:t>Words     : 15</a:t>
            </a:r>
            <a:endParaRPr lang="en-US" sz="1400" dirty="0"/>
          </a:p>
          <a:p>
            <a:pPr indent="0" marL="0">
              <a:spcAft>
                <a:spcPts val="500"/>
              </a:spcAft>
              <a:buNone/>
            </a:pPr>
            <a:r>
              <a:rPr lang="en-US" sz="1400" dirty="0">
                <a:solidFill>
                  <a:srgbClr val="7EE2A8"/>
                </a:solidFill>
                <a:latin typeface="Courier New" pitchFamily="34" charset="0"/>
                <a:ea typeface="Courier New" pitchFamily="34" charset="-122"/>
                <a:cs typeface="Courier New" pitchFamily="34" charset="-120"/>
              </a:rPr>
              <a:t>Characters: 98</a:t>
            </a:r>
            <a:endParaRPr lang="en-US" sz="1400" dirty="0"/>
          </a:p>
          <a:p>
            <a:pPr indent="0" marL="0">
              <a:spcAft>
                <a:spcPts val="500"/>
              </a:spcAft>
              <a:buNone/>
            </a:pPr>
            <a:r>
              <a:rPr lang="en-US" sz="1400" dirty="0">
                <a:solidFill>
                  <a:srgbClr val="7EE2A8"/>
                </a:solidFill>
                <a:latin typeface="Courier New" pitchFamily="34" charset="0"/>
                <a:ea typeface="Courier New" pitchFamily="34" charset="-122"/>
                <a:cs typeface="Courier New" pitchFamily="34" charset="-120"/>
              </a:rPr>
              <a:t>Letters   : 83</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LEARNING OBJECTIVES</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By the end of this week you can …</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14</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2</a:t>
            </a:r>
            <a:endParaRPr lang="en-US" sz="1000" dirty="0"/>
          </a:p>
        </p:txBody>
      </p:sp>
      <p:sp>
        <p:nvSpPr>
          <p:cNvPr id="7" name="Shape 4"/>
          <p:cNvSpPr/>
          <p:nvPr/>
        </p:nvSpPr>
        <p:spPr>
          <a:xfrm>
            <a:off x="548640" y="1645920"/>
            <a:ext cx="3566160" cy="2057400"/>
          </a:xfrm>
          <a:prstGeom prst="roundRect">
            <a:avLst>
              <a:gd name="adj" fmla="val 5333"/>
            </a:avLst>
          </a:prstGeom>
          <a:solidFill>
            <a:srgbClr val="EEF1F6"/>
          </a:solidFill>
          <a:ln w="12700">
            <a:solidFill>
              <a:srgbClr val="EEF1F6"/>
            </a:solidFill>
            <a:prstDash val="solid"/>
          </a:ln>
        </p:spPr>
      </p:sp>
      <p:sp>
        <p:nvSpPr>
          <p:cNvPr id="8" name="Shape 5"/>
          <p:cNvSpPr/>
          <p:nvPr/>
        </p:nvSpPr>
        <p:spPr>
          <a:xfrm>
            <a:off x="777240" y="1874520"/>
            <a:ext cx="566928" cy="566928"/>
          </a:xfrm>
          <a:prstGeom prst="ellipse">
            <a:avLst/>
          </a:prstGeom>
          <a:solidFill>
            <a:srgbClr val="14213D"/>
          </a:solidFill>
          <a:ln w="12700">
            <a:solidFill>
              <a:srgbClr val="14213D"/>
            </a:solidFill>
            <a:prstDash val="solid"/>
          </a:ln>
        </p:spPr>
      </p:sp>
      <p:pic>
        <p:nvPicPr>
          <p:cNvPr id="9" name="Image 0" descr="preencoded.png">    </p:cNvPr>
          <p:cNvPicPr>
            <a:picLocks noChangeAspect="1"/>
          </p:cNvPicPr>
          <p:nvPr/>
        </p:nvPicPr>
        <p:blipFill>
          <a:blip r:embed="rId1"/>
          <a:stretch>
            <a:fillRect/>
          </a:stretch>
        </p:blipFill>
        <p:spPr>
          <a:xfrm>
            <a:off x="924641" y="2021921"/>
            <a:ext cx="272125" cy="272125"/>
          </a:xfrm>
          <a:prstGeom prst="rect">
            <a:avLst/>
          </a:prstGeom>
        </p:spPr>
      </p:pic>
      <p:sp>
        <p:nvSpPr>
          <p:cNvPr id="10" name="Text 6"/>
          <p:cNvSpPr txBox="1"/>
          <p:nvPr/>
        </p:nvSpPr>
        <p:spPr>
          <a:xfrm>
            <a:off x="1463040" y="1874520"/>
            <a:ext cx="2468880" cy="566928"/>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Files and paths</a:t>
            </a:r>
            <a:endParaRPr lang="en-US" sz="1700" dirty="0"/>
          </a:p>
        </p:txBody>
      </p:sp>
      <p:sp>
        <p:nvSpPr>
          <p:cNvPr id="11" name="Text 7"/>
          <p:cNvSpPr txBox="1"/>
          <p:nvPr/>
        </p:nvSpPr>
        <p:spPr>
          <a:xfrm>
            <a:off x="777240" y="2560320"/>
            <a:ext cx="3108960" cy="1005840"/>
          </a:xfrm>
          <a:prstGeom prst="rect">
            <a:avLst/>
          </a:prstGeom>
          <a:noFill/>
          <a:ln/>
        </p:spPr>
        <p:txBody>
          <a:bodyPr wrap="square" lIns="0" tIns="0" rIns="0" bIns="0" rtlCol="0" anchor="t"/>
          <a:lstStyle/>
          <a:p>
            <a:pPr indent="0" marL="0">
              <a:buNone/>
            </a:pPr>
            <a:r>
              <a:rPr lang="en-US" sz="1500" dirty="0">
                <a:solidFill>
                  <a:srgbClr val="333B4F"/>
                </a:solidFill>
                <a:latin typeface="Calibri" pitchFamily="34" charset="0"/>
                <a:ea typeface="Calibri" pitchFamily="34" charset="-122"/>
                <a:cs typeface="Calibri" pitchFamily="34" charset="-120"/>
              </a:rPr>
              <a:t>Explain why files are needed; know where a relative path points (working directory).</a:t>
            </a:r>
            <a:endParaRPr lang="en-US" sz="1500" dirty="0"/>
          </a:p>
        </p:txBody>
      </p:sp>
      <p:sp>
        <p:nvSpPr>
          <p:cNvPr id="12" name="Shape 8"/>
          <p:cNvSpPr/>
          <p:nvPr/>
        </p:nvSpPr>
        <p:spPr>
          <a:xfrm>
            <a:off x="4315968" y="1645920"/>
            <a:ext cx="3566160" cy="2057400"/>
          </a:xfrm>
          <a:prstGeom prst="roundRect">
            <a:avLst>
              <a:gd name="adj" fmla="val 5333"/>
            </a:avLst>
          </a:prstGeom>
          <a:solidFill>
            <a:srgbClr val="EEF1F6"/>
          </a:solidFill>
          <a:ln w="12700">
            <a:solidFill>
              <a:srgbClr val="EEF1F6"/>
            </a:solidFill>
            <a:prstDash val="solid"/>
          </a:ln>
        </p:spPr>
      </p:sp>
      <p:sp>
        <p:nvSpPr>
          <p:cNvPr id="13" name="Shape 9"/>
          <p:cNvSpPr/>
          <p:nvPr/>
        </p:nvSpPr>
        <p:spPr>
          <a:xfrm>
            <a:off x="4544568" y="1874520"/>
            <a:ext cx="566928" cy="566928"/>
          </a:xfrm>
          <a:prstGeom prst="ellipse">
            <a:avLst/>
          </a:prstGeom>
          <a:solidFill>
            <a:srgbClr val="14213D"/>
          </a:solidFill>
          <a:ln w="12700">
            <a:solidFill>
              <a:srgbClr val="14213D"/>
            </a:solidFill>
            <a:prstDash val="solid"/>
          </a:ln>
        </p:spPr>
      </p:sp>
      <p:pic>
        <p:nvPicPr>
          <p:cNvPr id="14" name="Image 1" descr="preencoded.png">    </p:cNvPr>
          <p:cNvPicPr>
            <a:picLocks noChangeAspect="1"/>
          </p:cNvPicPr>
          <p:nvPr/>
        </p:nvPicPr>
        <p:blipFill>
          <a:blip r:embed="rId2"/>
          <a:stretch>
            <a:fillRect/>
          </a:stretch>
        </p:blipFill>
        <p:spPr>
          <a:xfrm>
            <a:off x="4691969" y="2021921"/>
            <a:ext cx="272125" cy="272125"/>
          </a:xfrm>
          <a:prstGeom prst="rect">
            <a:avLst/>
          </a:prstGeom>
        </p:spPr>
      </p:pic>
      <p:sp>
        <p:nvSpPr>
          <p:cNvPr id="15" name="Text 10"/>
          <p:cNvSpPr txBox="1"/>
          <p:nvPr/>
        </p:nvSpPr>
        <p:spPr>
          <a:xfrm>
            <a:off x="5230368" y="1874520"/>
            <a:ext cx="2468880" cy="566928"/>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The File class</a:t>
            </a:r>
            <a:endParaRPr lang="en-US" sz="1700" dirty="0"/>
          </a:p>
        </p:txBody>
      </p:sp>
      <p:sp>
        <p:nvSpPr>
          <p:cNvPr id="16" name="Text 11"/>
          <p:cNvSpPr txBox="1"/>
          <p:nvPr/>
        </p:nvSpPr>
        <p:spPr>
          <a:xfrm>
            <a:off x="4544568" y="2560320"/>
            <a:ext cx="3108960" cy="1005840"/>
          </a:xfrm>
          <a:prstGeom prst="rect">
            <a:avLst/>
          </a:prstGeom>
          <a:noFill/>
          <a:ln/>
        </p:spPr>
        <p:txBody>
          <a:bodyPr wrap="square" lIns="0" tIns="0" rIns="0" bIns="0" rtlCol="0" anchor="t"/>
          <a:lstStyle/>
          <a:p>
            <a:pPr indent="0" marL="0">
              <a:buNone/>
            </a:pPr>
            <a:r>
              <a:rPr lang="en-US" sz="1500" dirty="0">
                <a:solidFill>
                  <a:srgbClr val="333B4F"/>
                </a:solidFill>
                <a:latin typeface="Calibri" pitchFamily="34" charset="0"/>
                <a:ea typeface="Calibri" pitchFamily="34" charset="-122"/>
                <a:cs typeface="Calibri" pitchFamily="34" charset="-120"/>
              </a:rPr>
              <a:t>WriteAllText, AppendAllText, ReadAllText, WriteAllLines / ReadAllLines with arrays.</a:t>
            </a:r>
            <a:endParaRPr lang="en-US" sz="1500" dirty="0"/>
          </a:p>
        </p:txBody>
      </p:sp>
      <p:sp>
        <p:nvSpPr>
          <p:cNvPr id="17" name="Shape 12"/>
          <p:cNvSpPr/>
          <p:nvPr/>
        </p:nvSpPr>
        <p:spPr>
          <a:xfrm>
            <a:off x="8083296" y="1645920"/>
            <a:ext cx="3566160" cy="2057400"/>
          </a:xfrm>
          <a:prstGeom prst="roundRect">
            <a:avLst>
              <a:gd name="adj" fmla="val 5333"/>
            </a:avLst>
          </a:prstGeom>
          <a:solidFill>
            <a:srgbClr val="EEF1F6"/>
          </a:solidFill>
          <a:ln w="12700">
            <a:solidFill>
              <a:srgbClr val="EEF1F6"/>
            </a:solidFill>
            <a:prstDash val="solid"/>
          </a:ln>
        </p:spPr>
      </p:sp>
      <p:sp>
        <p:nvSpPr>
          <p:cNvPr id="18" name="Shape 13"/>
          <p:cNvSpPr/>
          <p:nvPr/>
        </p:nvSpPr>
        <p:spPr>
          <a:xfrm>
            <a:off x="8311896" y="1874520"/>
            <a:ext cx="566928" cy="566928"/>
          </a:xfrm>
          <a:prstGeom prst="ellipse">
            <a:avLst/>
          </a:prstGeom>
          <a:solidFill>
            <a:srgbClr val="14213D"/>
          </a:solidFill>
          <a:ln w="12700">
            <a:solidFill>
              <a:srgbClr val="14213D"/>
            </a:solidFill>
            <a:prstDash val="solid"/>
          </a:ln>
        </p:spPr>
      </p:sp>
      <p:pic>
        <p:nvPicPr>
          <p:cNvPr id="19" name="Image 2" descr="preencoded.png">    </p:cNvPr>
          <p:cNvPicPr>
            <a:picLocks noChangeAspect="1"/>
          </p:cNvPicPr>
          <p:nvPr/>
        </p:nvPicPr>
        <p:blipFill>
          <a:blip r:embed="rId3"/>
          <a:stretch>
            <a:fillRect/>
          </a:stretch>
        </p:blipFill>
        <p:spPr>
          <a:xfrm>
            <a:off x="8459297" y="2021921"/>
            <a:ext cx="272125" cy="272125"/>
          </a:xfrm>
          <a:prstGeom prst="rect">
            <a:avLst/>
          </a:prstGeom>
        </p:spPr>
      </p:pic>
      <p:sp>
        <p:nvSpPr>
          <p:cNvPr id="20" name="Text 14"/>
          <p:cNvSpPr txBox="1"/>
          <p:nvPr/>
        </p:nvSpPr>
        <p:spPr>
          <a:xfrm>
            <a:off x="8997696" y="1874520"/>
            <a:ext cx="2468880" cy="566928"/>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Streams</a:t>
            </a:r>
            <a:endParaRPr lang="en-US" sz="1700" dirty="0"/>
          </a:p>
        </p:txBody>
      </p:sp>
      <p:sp>
        <p:nvSpPr>
          <p:cNvPr id="21" name="Text 15"/>
          <p:cNvSpPr txBox="1"/>
          <p:nvPr/>
        </p:nvSpPr>
        <p:spPr>
          <a:xfrm>
            <a:off x="8311896" y="2560320"/>
            <a:ext cx="3108960" cy="1005840"/>
          </a:xfrm>
          <a:prstGeom prst="rect">
            <a:avLst/>
          </a:prstGeom>
          <a:noFill/>
          <a:ln/>
        </p:spPr>
        <p:txBody>
          <a:bodyPr wrap="square" lIns="0" tIns="0" rIns="0" bIns="0" rtlCol="0" anchor="t"/>
          <a:lstStyle/>
          <a:p>
            <a:pPr indent="0" marL="0">
              <a:buNone/>
            </a:pPr>
            <a:r>
              <a:rPr lang="en-US" sz="1500" dirty="0">
                <a:solidFill>
                  <a:srgbClr val="333B4F"/>
                </a:solidFill>
                <a:latin typeface="Calibri" pitchFamily="34" charset="0"/>
                <a:ea typeface="Calibri" pitchFamily="34" charset="-122"/>
                <a:cs typeface="Calibri" pitchFamily="34" charset="-120"/>
              </a:rPr>
              <a:t>StreamWriter and StreamReader inside using; read with ReadLine() until null.</a:t>
            </a:r>
            <a:endParaRPr lang="en-US" sz="1500" dirty="0"/>
          </a:p>
        </p:txBody>
      </p:sp>
      <p:sp>
        <p:nvSpPr>
          <p:cNvPr id="22" name="Shape 16"/>
          <p:cNvSpPr/>
          <p:nvPr/>
        </p:nvSpPr>
        <p:spPr>
          <a:xfrm>
            <a:off x="548640" y="3886200"/>
            <a:ext cx="3566160" cy="2057400"/>
          </a:xfrm>
          <a:prstGeom prst="roundRect">
            <a:avLst>
              <a:gd name="adj" fmla="val 5333"/>
            </a:avLst>
          </a:prstGeom>
          <a:solidFill>
            <a:srgbClr val="EEF1F6"/>
          </a:solidFill>
          <a:ln w="12700">
            <a:solidFill>
              <a:srgbClr val="EEF1F6"/>
            </a:solidFill>
            <a:prstDash val="solid"/>
          </a:ln>
        </p:spPr>
      </p:sp>
      <p:sp>
        <p:nvSpPr>
          <p:cNvPr id="23" name="Shape 17"/>
          <p:cNvSpPr/>
          <p:nvPr/>
        </p:nvSpPr>
        <p:spPr>
          <a:xfrm>
            <a:off x="777240" y="4114800"/>
            <a:ext cx="566928" cy="566928"/>
          </a:xfrm>
          <a:prstGeom prst="ellipse">
            <a:avLst/>
          </a:prstGeom>
          <a:solidFill>
            <a:srgbClr val="14213D"/>
          </a:solidFill>
          <a:ln w="12700">
            <a:solidFill>
              <a:srgbClr val="14213D"/>
            </a:solidFill>
            <a:prstDash val="solid"/>
          </a:ln>
        </p:spPr>
      </p:sp>
      <p:pic>
        <p:nvPicPr>
          <p:cNvPr id="24" name="Image 3" descr="preencoded.png">    </p:cNvPr>
          <p:cNvPicPr>
            <a:picLocks noChangeAspect="1"/>
          </p:cNvPicPr>
          <p:nvPr/>
        </p:nvPicPr>
        <p:blipFill>
          <a:blip r:embed="rId4"/>
          <a:stretch>
            <a:fillRect/>
          </a:stretch>
        </p:blipFill>
        <p:spPr>
          <a:xfrm>
            <a:off x="924641" y="4262201"/>
            <a:ext cx="272125" cy="272125"/>
          </a:xfrm>
          <a:prstGeom prst="rect">
            <a:avLst/>
          </a:prstGeom>
        </p:spPr>
      </p:pic>
      <p:sp>
        <p:nvSpPr>
          <p:cNvPr id="25" name="Text 18"/>
          <p:cNvSpPr txBox="1"/>
          <p:nvPr/>
        </p:nvSpPr>
        <p:spPr>
          <a:xfrm>
            <a:off x="1463040" y="4114800"/>
            <a:ext cx="2468880" cy="566928"/>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CSV data</a:t>
            </a:r>
            <a:endParaRPr lang="en-US" sz="1700" dirty="0"/>
          </a:p>
        </p:txBody>
      </p:sp>
      <p:sp>
        <p:nvSpPr>
          <p:cNvPr id="26" name="Text 19"/>
          <p:cNvSpPr txBox="1"/>
          <p:nvPr/>
        </p:nvSpPr>
        <p:spPr>
          <a:xfrm>
            <a:off x="777240" y="4800600"/>
            <a:ext cx="3108960" cy="1005840"/>
          </a:xfrm>
          <a:prstGeom prst="rect">
            <a:avLst/>
          </a:prstGeom>
          <a:noFill/>
          <a:ln/>
        </p:spPr>
        <p:txBody>
          <a:bodyPr wrap="square" lIns="0" tIns="0" rIns="0" bIns="0" rtlCol="0" anchor="t"/>
          <a:lstStyle/>
          <a:p>
            <a:pPr indent="0" marL="0">
              <a:buNone/>
            </a:pPr>
            <a:r>
              <a:rPr lang="en-US" sz="1500" dirty="0">
                <a:solidFill>
                  <a:srgbClr val="333B4F"/>
                </a:solidFill>
                <a:latin typeface="Calibri" pitchFamily="34" charset="0"/>
                <a:ea typeface="Calibri" pitchFamily="34" charset="-122"/>
                <a:cs typeface="Calibri" pitchFamily="34" charset="-120"/>
              </a:rPr>
              <a:t>Split(',') a line into fields, int.Parse them, compute row totals, write a report.</a:t>
            </a:r>
            <a:endParaRPr lang="en-US" sz="1500" dirty="0"/>
          </a:p>
        </p:txBody>
      </p:sp>
      <p:sp>
        <p:nvSpPr>
          <p:cNvPr id="27" name="Shape 20"/>
          <p:cNvSpPr/>
          <p:nvPr/>
        </p:nvSpPr>
        <p:spPr>
          <a:xfrm>
            <a:off x="4315968" y="3886200"/>
            <a:ext cx="3566160" cy="2057400"/>
          </a:xfrm>
          <a:prstGeom prst="roundRect">
            <a:avLst>
              <a:gd name="adj" fmla="val 5333"/>
            </a:avLst>
          </a:prstGeom>
          <a:solidFill>
            <a:srgbClr val="EEF1F6"/>
          </a:solidFill>
          <a:ln w="12700">
            <a:solidFill>
              <a:srgbClr val="EEF1F6"/>
            </a:solidFill>
            <a:prstDash val="solid"/>
          </a:ln>
        </p:spPr>
      </p:sp>
      <p:sp>
        <p:nvSpPr>
          <p:cNvPr id="28" name="Shape 21"/>
          <p:cNvSpPr/>
          <p:nvPr/>
        </p:nvSpPr>
        <p:spPr>
          <a:xfrm>
            <a:off x="4544568" y="4114800"/>
            <a:ext cx="566928" cy="566928"/>
          </a:xfrm>
          <a:prstGeom prst="ellipse">
            <a:avLst/>
          </a:prstGeom>
          <a:solidFill>
            <a:srgbClr val="2F6FB3"/>
          </a:solidFill>
          <a:ln w="12700">
            <a:solidFill>
              <a:srgbClr val="2F6FB3"/>
            </a:solidFill>
            <a:prstDash val="solid"/>
          </a:ln>
        </p:spPr>
      </p:sp>
      <p:pic>
        <p:nvPicPr>
          <p:cNvPr id="29" name="Image 4" descr="preencoded.png">    </p:cNvPr>
          <p:cNvPicPr>
            <a:picLocks noChangeAspect="1"/>
          </p:cNvPicPr>
          <p:nvPr/>
        </p:nvPicPr>
        <p:blipFill>
          <a:blip r:embed="rId5"/>
          <a:stretch>
            <a:fillRect/>
          </a:stretch>
        </p:blipFill>
        <p:spPr>
          <a:xfrm>
            <a:off x="4691969" y="4262201"/>
            <a:ext cx="272125" cy="272125"/>
          </a:xfrm>
          <a:prstGeom prst="rect">
            <a:avLst/>
          </a:prstGeom>
        </p:spPr>
      </p:pic>
      <p:sp>
        <p:nvSpPr>
          <p:cNvPr id="30" name="Text 22"/>
          <p:cNvSpPr txBox="1"/>
          <p:nvPr/>
        </p:nvSpPr>
        <p:spPr>
          <a:xfrm>
            <a:off x="5230368" y="4114800"/>
            <a:ext cx="2468880" cy="566928"/>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Exceptions</a:t>
            </a:r>
            <a:endParaRPr lang="en-US" sz="1700" dirty="0"/>
          </a:p>
        </p:txBody>
      </p:sp>
      <p:sp>
        <p:nvSpPr>
          <p:cNvPr id="31" name="Text 23"/>
          <p:cNvSpPr txBox="1"/>
          <p:nvPr/>
        </p:nvSpPr>
        <p:spPr>
          <a:xfrm>
            <a:off x="4544568" y="4800600"/>
            <a:ext cx="3108960" cy="1005840"/>
          </a:xfrm>
          <a:prstGeom prst="rect">
            <a:avLst/>
          </a:prstGeom>
          <a:noFill/>
          <a:ln/>
        </p:spPr>
        <p:txBody>
          <a:bodyPr wrap="square" lIns="0" tIns="0" rIns="0" bIns="0" rtlCol="0" anchor="t"/>
          <a:lstStyle/>
          <a:p>
            <a:pPr indent="0" marL="0">
              <a:buNone/>
            </a:pPr>
            <a:r>
              <a:rPr lang="en-US" sz="1500" dirty="0">
                <a:solidFill>
                  <a:srgbClr val="333B4F"/>
                </a:solidFill>
                <a:latin typeface="Calibri" pitchFamily="34" charset="0"/>
                <a:ea typeface="Calibri" pitchFamily="34" charset="-122"/>
                <a:cs typeface="Calibri" pitchFamily="34" charset="-120"/>
              </a:rPr>
              <a:t>try / catch for FileNotFoundException, IOException and FormatException.</a:t>
            </a:r>
            <a:endParaRPr lang="en-US" sz="1500" dirty="0"/>
          </a:p>
        </p:txBody>
      </p:sp>
      <p:sp>
        <p:nvSpPr>
          <p:cNvPr id="32" name="Shape 24"/>
          <p:cNvSpPr/>
          <p:nvPr/>
        </p:nvSpPr>
        <p:spPr>
          <a:xfrm>
            <a:off x="8083296" y="3886200"/>
            <a:ext cx="3566160" cy="2057400"/>
          </a:xfrm>
          <a:prstGeom prst="roundRect">
            <a:avLst>
              <a:gd name="adj" fmla="val 5333"/>
            </a:avLst>
          </a:prstGeom>
          <a:solidFill>
            <a:srgbClr val="EEF1F6"/>
          </a:solidFill>
          <a:ln w="12700">
            <a:solidFill>
              <a:srgbClr val="EEF1F6"/>
            </a:solidFill>
            <a:prstDash val="solid"/>
          </a:ln>
        </p:spPr>
      </p:sp>
      <p:sp>
        <p:nvSpPr>
          <p:cNvPr id="33" name="Shape 25"/>
          <p:cNvSpPr/>
          <p:nvPr/>
        </p:nvSpPr>
        <p:spPr>
          <a:xfrm>
            <a:off x="8311896" y="4114800"/>
            <a:ext cx="566928" cy="566928"/>
          </a:xfrm>
          <a:prstGeom prst="ellipse">
            <a:avLst/>
          </a:prstGeom>
          <a:solidFill>
            <a:srgbClr val="2F6FB3"/>
          </a:solidFill>
          <a:ln w="12700">
            <a:solidFill>
              <a:srgbClr val="2F6FB3"/>
            </a:solidFill>
            <a:prstDash val="solid"/>
          </a:ln>
        </p:spPr>
      </p:sp>
      <p:pic>
        <p:nvPicPr>
          <p:cNvPr id="34" name="Image 5" descr="preencoded.png">    </p:cNvPr>
          <p:cNvPicPr>
            <a:picLocks noChangeAspect="1"/>
          </p:cNvPicPr>
          <p:nvPr/>
        </p:nvPicPr>
        <p:blipFill>
          <a:blip r:embed="rId6"/>
          <a:stretch>
            <a:fillRect/>
          </a:stretch>
        </p:blipFill>
        <p:spPr>
          <a:xfrm>
            <a:off x="8459297" y="4262201"/>
            <a:ext cx="272125" cy="272125"/>
          </a:xfrm>
          <a:prstGeom prst="rect">
            <a:avLst/>
          </a:prstGeom>
        </p:spPr>
      </p:pic>
      <p:sp>
        <p:nvSpPr>
          <p:cNvPr id="35" name="Text 26"/>
          <p:cNvSpPr txBox="1"/>
          <p:nvPr/>
        </p:nvSpPr>
        <p:spPr>
          <a:xfrm>
            <a:off x="8997696" y="4114800"/>
            <a:ext cx="2468880" cy="566928"/>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Review + project</a:t>
            </a:r>
            <a:endParaRPr lang="en-US" sz="1700" dirty="0"/>
          </a:p>
        </p:txBody>
      </p:sp>
      <p:sp>
        <p:nvSpPr>
          <p:cNvPr id="36" name="Text 27"/>
          <p:cNvSpPr txBox="1"/>
          <p:nvPr/>
        </p:nvSpPr>
        <p:spPr>
          <a:xfrm>
            <a:off x="8311896" y="4800600"/>
            <a:ext cx="3108960" cy="1005840"/>
          </a:xfrm>
          <a:prstGeom prst="rect">
            <a:avLst/>
          </a:prstGeom>
          <a:noFill/>
          <a:ln/>
        </p:spPr>
        <p:txBody>
          <a:bodyPr wrap="square" lIns="0" tIns="0" rIns="0" bIns="0" rtlCol="0" anchor="t"/>
          <a:lstStyle/>
          <a:p>
            <a:pPr indent="0" marL="0">
              <a:buNone/>
            </a:pPr>
            <a:r>
              <a:rPr lang="en-US" sz="1500" dirty="0">
                <a:solidFill>
                  <a:srgbClr val="333B4F"/>
                </a:solidFill>
                <a:latin typeface="Calibri" pitchFamily="34" charset="0"/>
                <a:ea typeface="Calibri" pitchFamily="34" charset="-122"/>
                <a:cs typeface="Calibri" pitchFamily="34" charset="-120"/>
              </a:rPr>
              <a:t>Connect all topics of the semester in the Student Grade Manager.</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RECAP · WEEK 13 → WEEK 14</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So far, our data was written into the code</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14</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3</a:t>
            </a:r>
            <a:endParaRPr lang="en-US" sz="1000" dirty="0"/>
          </a:p>
        </p:txBody>
      </p:sp>
      <p:sp>
        <p:nvSpPr>
          <p:cNvPr id="7" name="Shape 4"/>
          <p:cNvSpPr/>
          <p:nvPr/>
        </p:nvSpPr>
        <p:spPr>
          <a:xfrm>
            <a:off x="548640" y="1645920"/>
            <a:ext cx="5257800" cy="2011680"/>
          </a:xfrm>
          <a:prstGeom prst="roundRect">
            <a:avLst>
              <a:gd name="adj" fmla="val 4545"/>
            </a:avLst>
          </a:prstGeom>
          <a:solidFill>
            <a:srgbClr val="0F1729"/>
          </a:solidFill>
          <a:ln w="12700">
            <a:solidFill>
              <a:srgbClr val="0F1729"/>
            </a:solidFill>
            <a:prstDash val="solid"/>
          </a:ln>
        </p:spPr>
      </p:sp>
      <p:sp>
        <p:nvSpPr>
          <p:cNvPr id="8" name="Text 5"/>
          <p:cNvSpPr txBox="1"/>
          <p:nvPr/>
        </p:nvSpPr>
        <p:spPr>
          <a:xfrm>
            <a:off x="777240" y="1755648"/>
            <a:ext cx="480060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Week 13 · data in the code</a:t>
            </a:r>
            <a:endParaRPr lang="en-US" sz="1100" dirty="0"/>
          </a:p>
        </p:txBody>
      </p:sp>
      <p:sp>
        <p:nvSpPr>
          <p:cNvPr id="9" name="Text 6"/>
          <p:cNvSpPr txBox="1"/>
          <p:nvPr/>
        </p:nvSpPr>
        <p:spPr>
          <a:xfrm>
            <a:off x="777240" y="2057400"/>
            <a:ext cx="4800600" cy="1490472"/>
          </a:xfrm>
          <a:prstGeom prst="rect">
            <a:avLst/>
          </a:prstGeom>
          <a:noFill/>
          <a:ln/>
        </p:spPr>
        <p:txBody>
          <a:bodyPr wrap="square" lIns="0" tIns="0" rIns="0" bIns="0" rtlCol="0" anchor="t"/>
          <a:lstStyle/>
          <a:p>
            <a:pPr indent="0" marL="0">
              <a:spcAft>
                <a:spcPts val="100"/>
              </a:spcAft>
              <a:buNone/>
            </a:pPr>
            <a:r>
              <a:rPr lang="en-US" sz="1350" dirty="0">
                <a:solidFill>
                  <a:srgbClr val="4EC9B0"/>
                </a:solidFill>
                <a:latin typeface="Courier New" pitchFamily="34" charset="0"/>
                <a:ea typeface="Courier New" pitchFamily="34" charset="-122"/>
                <a:cs typeface="Courier New" pitchFamily="34" charset="-120"/>
              </a:rPr>
              <a:t>string</a:t>
            </a:r>
            <a:pPr indent="0" marL="0">
              <a:spcAft>
                <a:spcPts val="100"/>
              </a:spcAft>
              <a:buNone/>
            </a:pPr>
            <a:r>
              <a:rPr lang="en-US" sz="1350" dirty="0">
                <a:solidFill>
                  <a:srgbClr val="E6EDF7"/>
                </a:solidFill>
                <a:latin typeface="Courier New" pitchFamily="34" charset="0"/>
                <a:ea typeface="Courier New" pitchFamily="34" charset="-122"/>
                <a:cs typeface="Courier New" pitchFamily="34" charset="-120"/>
              </a:rPr>
              <a:t>[] names = { </a:t>
            </a:r>
            <a:pPr indent="0" marL="0">
              <a:spcAft>
                <a:spcPts val="100"/>
              </a:spcAft>
              <a:buNone/>
            </a:pPr>
            <a:r>
              <a:rPr lang="en-US" sz="1350" dirty="0">
                <a:solidFill>
                  <a:srgbClr val="CE9178"/>
                </a:solidFill>
                <a:latin typeface="Courier New" pitchFamily="34" charset="0"/>
                <a:ea typeface="Courier New" pitchFamily="34" charset="-122"/>
                <a:cs typeface="Courier New" pitchFamily="34" charset="-120"/>
              </a:rPr>
              <a:t>"Ayse"</a:t>
            </a:r>
            <a:pPr indent="0" marL="0">
              <a:spcAft>
                <a:spcPts val="100"/>
              </a:spcAft>
              <a:buNone/>
            </a:pPr>
            <a:r>
              <a:rPr lang="en-US" sz="135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50" dirty="0">
                <a:solidFill>
                  <a:srgbClr val="CE9178"/>
                </a:solidFill>
                <a:latin typeface="Courier New" pitchFamily="34" charset="0"/>
                <a:ea typeface="Courier New" pitchFamily="34" charset="-122"/>
                <a:cs typeface="Courier New" pitchFamily="34" charset="-120"/>
              </a:rPr>
              <a:t>"Mehmet"</a:t>
            </a:r>
            <a:pPr indent="0" marL="0">
              <a:spcAft>
                <a:spcPts val="100"/>
              </a:spcAft>
              <a:buNone/>
            </a:pPr>
            <a:r>
              <a:rPr lang="en-US" sz="135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50" dirty="0">
                <a:solidFill>
                  <a:srgbClr val="CE9178"/>
                </a:solidFill>
                <a:latin typeface="Courier New" pitchFamily="34" charset="0"/>
                <a:ea typeface="Courier New" pitchFamily="34" charset="-122"/>
                <a:cs typeface="Courier New" pitchFamily="34" charset="-120"/>
              </a:rPr>
              <a:t>"Can"</a:t>
            </a:r>
            <a:pPr indent="0" marL="0">
              <a:spcAft>
                <a:spcPts val="100"/>
              </a:spcAft>
              <a:buNone/>
            </a:pPr>
            <a:r>
              <a:rPr lang="en-US" sz="1350" dirty="0">
                <a:solidFill>
                  <a:srgbClr val="E6EDF7"/>
                </a:solidFill>
                <a:latin typeface="Courier New" pitchFamily="34" charset="0"/>
                <a:ea typeface="Courier New" pitchFamily="34" charset="-122"/>
                <a:cs typeface="Courier New" pitchFamily="34" charset="-120"/>
              </a:rPr>
              <a:t> };</a:t>
            </a:r>
            <a:endParaRPr lang="en-US" sz="1350" dirty="0"/>
          </a:p>
          <a:p>
            <a:pPr indent="0" marL="0">
              <a:spcAft>
                <a:spcPts val="100"/>
              </a:spcAft>
              <a:buNone/>
            </a:pPr>
            <a:r>
              <a:rPr lang="en-US" sz="1350" dirty="0">
                <a:solidFill>
                  <a:srgbClr val="7F8BA3"/>
                </a:solidFill>
                <a:latin typeface="Courier New" pitchFamily="34" charset="0"/>
                <a:ea typeface="Courier New" pitchFamily="34" charset="-122"/>
                <a:cs typeface="Courier New" pitchFamily="34" charset="-120"/>
              </a:rPr>
              <a:t>// data inside Program.cs:</a:t>
            </a:r>
            <a:endParaRPr lang="en-US" sz="1350" dirty="0"/>
          </a:p>
          <a:p>
            <a:pPr indent="0" marL="0">
              <a:spcAft>
                <a:spcPts val="100"/>
              </a:spcAft>
              <a:buNone/>
            </a:pPr>
            <a:r>
              <a:rPr lang="en-US" sz="1350" dirty="0">
                <a:solidFill>
                  <a:srgbClr val="7F8BA3"/>
                </a:solidFill>
                <a:latin typeface="Courier New" pitchFamily="34" charset="0"/>
                <a:ea typeface="Courier New" pitchFamily="34" charset="-122"/>
                <a:cs typeface="Courier New" pitchFamily="34" charset="-120"/>
              </a:rPr>
              <a:t>// change it = edit + compile again</a:t>
            </a:r>
            <a:endParaRPr lang="en-US" sz="1350" dirty="0"/>
          </a:p>
        </p:txBody>
      </p:sp>
      <p:sp>
        <p:nvSpPr>
          <p:cNvPr id="10" name="Shape 7"/>
          <p:cNvSpPr/>
          <p:nvPr/>
        </p:nvSpPr>
        <p:spPr>
          <a:xfrm>
            <a:off x="6400800" y="1645920"/>
            <a:ext cx="5257800" cy="2011680"/>
          </a:xfrm>
          <a:prstGeom prst="roundRect">
            <a:avLst>
              <a:gd name="adj" fmla="val 4545"/>
            </a:avLst>
          </a:prstGeom>
          <a:solidFill>
            <a:srgbClr val="0F1729"/>
          </a:solidFill>
          <a:ln w="12700">
            <a:solidFill>
              <a:srgbClr val="0F1729"/>
            </a:solidFill>
            <a:prstDash val="solid"/>
          </a:ln>
        </p:spPr>
      </p:sp>
      <p:sp>
        <p:nvSpPr>
          <p:cNvPr id="11" name="Text 8"/>
          <p:cNvSpPr txBox="1"/>
          <p:nvPr/>
        </p:nvSpPr>
        <p:spPr>
          <a:xfrm>
            <a:off x="6629400" y="1755648"/>
            <a:ext cx="480060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Week 14 · data in a file</a:t>
            </a:r>
            <a:endParaRPr lang="en-US" sz="1100" dirty="0"/>
          </a:p>
        </p:txBody>
      </p:sp>
      <p:sp>
        <p:nvSpPr>
          <p:cNvPr id="12" name="Text 9"/>
          <p:cNvSpPr txBox="1"/>
          <p:nvPr/>
        </p:nvSpPr>
        <p:spPr>
          <a:xfrm>
            <a:off x="6629400" y="2057400"/>
            <a:ext cx="4800600" cy="1490472"/>
          </a:xfrm>
          <a:prstGeom prst="rect">
            <a:avLst/>
          </a:prstGeom>
          <a:noFill/>
          <a:ln/>
        </p:spPr>
        <p:txBody>
          <a:bodyPr wrap="square" lIns="0" tIns="0" rIns="0" bIns="0" rtlCol="0" anchor="t"/>
          <a:lstStyle/>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string</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lines = File.ReadAllLines(</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"grades.csv"</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7F8BA3"/>
                </a:solidFill>
                <a:latin typeface="Courier New" pitchFamily="34" charset="0"/>
                <a:ea typeface="Courier New" pitchFamily="34" charset="-122"/>
                <a:cs typeface="Courier New" pitchFamily="34" charset="-120"/>
              </a:rPr>
              <a:t>// data in a file next to the program:</a:t>
            </a:r>
            <a:endParaRPr lang="en-US" sz="1200" dirty="0"/>
          </a:p>
          <a:p>
            <a:pPr indent="0" marL="0">
              <a:spcAft>
                <a:spcPts val="100"/>
              </a:spcAft>
              <a:buNone/>
            </a:pPr>
            <a:r>
              <a:rPr lang="en-US" sz="1200" dirty="0">
                <a:solidFill>
                  <a:srgbClr val="7F8BA3"/>
                </a:solidFill>
                <a:latin typeface="Courier New" pitchFamily="34" charset="0"/>
                <a:ea typeface="Courier New" pitchFamily="34" charset="-122"/>
                <a:cs typeface="Courier New" pitchFamily="34" charset="-120"/>
              </a:rPr>
              <a:t>// edit it, save it, run again</a:t>
            </a:r>
            <a:endParaRPr lang="en-US" sz="1200" dirty="0"/>
          </a:p>
        </p:txBody>
      </p:sp>
      <p:sp>
        <p:nvSpPr>
          <p:cNvPr id="13" name="Shape 10"/>
          <p:cNvSpPr/>
          <p:nvPr/>
        </p:nvSpPr>
        <p:spPr>
          <a:xfrm>
            <a:off x="5852160" y="2651760"/>
            <a:ext cx="502920" cy="0"/>
          </a:xfrm>
          <a:prstGeom prst="line">
            <a:avLst/>
          </a:prstGeom>
          <a:noFill/>
          <a:ln w="15875">
            <a:solidFill>
              <a:srgbClr val="B7791F"/>
            </a:solidFill>
            <a:prstDash val="solid"/>
            <a:tailEnd type="triangle"/>
          </a:ln>
        </p:spPr>
      </p:sp>
      <p:sp>
        <p:nvSpPr>
          <p:cNvPr id="14" name="Shape 11"/>
          <p:cNvSpPr/>
          <p:nvPr/>
        </p:nvSpPr>
        <p:spPr>
          <a:xfrm>
            <a:off x="548640" y="3886200"/>
            <a:ext cx="3566160" cy="1143000"/>
          </a:xfrm>
          <a:prstGeom prst="roundRect">
            <a:avLst>
              <a:gd name="adj" fmla="val 9600"/>
            </a:avLst>
          </a:prstGeom>
          <a:solidFill>
            <a:srgbClr val="EEF1F6"/>
          </a:solidFill>
          <a:ln w="12700">
            <a:solidFill>
              <a:srgbClr val="EEF1F6"/>
            </a:solidFill>
            <a:prstDash val="solid"/>
          </a:ln>
        </p:spPr>
      </p:sp>
      <p:sp>
        <p:nvSpPr>
          <p:cNvPr id="15" name="Shape 12"/>
          <p:cNvSpPr/>
          <p:nvPr/>
        </p:nvSpPr>
        <p:spPr>
          <a:xfrm>
            <a:off x="731520" y="4183380"/>
            <a:ext cx="548640" cy="548640"/>
          </a:xfrm>
          <a:prstGeom prst="ellipse">
            <a:avLst/>
          </a:prstGeom>
          <a:solidFill>
            <a:srgbClr val="EEF1F6"/>
          </a:solidFill>
          <a:ln w="12700">
            <a:solidFill>
              <a:srgbClr val="EEF1F6"/>
            </a:solidFill>
            <a:prstDash val="solid"/>
          </a:ln>
        </p:spPr>
      </p:sp>
      <p:pic>
        <p:nvPicPr>
          <p:cNvPr id="16" name="Image 0" descr="preencoded.png">    </p:cNvPr>
          <p:cNvPicPr>
            <a:picLocks noChangeAspect="1"/>
          </p:cNvPicPr>
          <p:nvPr/>
        </p:nvPicPr>
        <p:blipFill>
          <a:blip r:embed="rId1"/>
          <a:stretch>
            <a:fillRect/>
          </a:stretch>
        </p:blipFill>
        <p:spPr>
          <a:xfrm>
            <a:off x="874166" y="4326026"/>
            <a:ext cx="263347" cy="263347"/>
          </a:xfrm>
          <a:prstGeom prst="rect">
            <a:avLst/>
          </a:prstGeom>
        </p:spPr>
      </p:pic>
      <p:sp>
        <p:nvSpPr>
          <p:cNvPr id="17" name="Text 13"/>
          <p:cNvSpPr txBox="1"/>
          <p:nvPr/>
        </p:nvSpPr>
        <p:spPr>
          <a:xfrm>
            <a:off x="1463040" y="3941064"/>
            <a:ext cx="2514600" cy="1033272"/>
          </a:xfrm>
          <a:prstGeom prst="rect">
            <a:avLst/>
          </a:prstGeom>
          <a:noFill/>
          <a:ln/>
        </p:spPr>
        <p:txBody>
          <a:bodyPr wrap="square" lIns="0" tIns="0" rIns="0" bIns="0" rtlCol="0" anchor="ctr"/>
          <a:lstStyle/>
          <a:p>
            <a:pPr indent="0" marL="0">
              <a:spcAft>
                <a:spcPts val="200"/>
              </a:spcAft>
              <a:buNone/>
            </a:pPr>
            <a:r>
              <a:rPr lang="en-US" sz="1400" b="1" dirty="0">
                <a:solidFill>
                  <a:srgbClr val="14213D"/>
                </a:solidFill>
                <a:latin typeface="Cambria" pitchFamily="34" charset="0"/>
                <a:ea typeface="Cambria" pitchFamily="34" charset="-122"/>
                <a:cs typeface="Cambria" pitchFamily="34" charset="-120"/>
              </a:rPr>
              <a:t>return</a:t>
            </a:r>
            <a:endParaRPr lang="en-US" sz="1400" dirty="0"/>
          </a:p>
          <a:p>
            <a:pPr indent="0" marL="0">
              <a:spcAft>
                <a:spcPts val="200"/>
              </a:spcAft>
              <a:buNone/>
            </a:pPr>
            <a:r>
              <a:rPr lang="en-US" sz="1300" dirty="0">
                <a:solidFill>
                  <a:srgbClr val="333B4F"/>
                </a:solidFill>
                <a:latin typeface="Calibri" pitchFamily="34" charset="0"/>
                <a:ea typeface="Calibri" pitchFamily="34" charset="-122"/>
                <a:cs typeface="Calibri" pitchFamily="34" charset="-120"/>
              </a:rPr>
              <a:t>methods hand back values: LoadTasks returns the lines of a file</a:t>
            </a:r>
            <a:endParaRPr lang="en-US" sz="1400" dirty="0"/>
          </a:p>
        </p:txBody>
      </p:sp>
      <p:sp>
        <p:nvSpPr>
          <p:cNvPr id="18" name="Shape 14"/>
          <p:cNvSpPr/>
          <p:nvPr/>
        </p:nvSpPr>
        <p:spPr>
          <a:xfrm>
            <a:off x="4315968" y="3886200"/>
            <a:ext cx="3566160" cy="1143000"/>
          </a:xfrm>
          <a:prstGeom prst="roundRect">
            <a:avLst>
              <a:gd name="adj" fmla="val 9600"/>
            </a:avLst>
          </a:prstGeom>
          <a:solidFill>
            <a:srgbClr val="EEF1F6"/>
          </a:solidFill>
          <a:ln w="12700">
            <a:solidFill>
              <a:srgbClr val="EEF1F6"/>
            </a:solidFill>
            <a:prstDash val="solid"/>
          </a:ln>
        </p:spPr>
      </p:sp>
      <p:sp>
        <p:nvSpPr>
          <p:cNvPr id="19" name="Shape 15"/>
          <p:cNvSpPr/>
          <p:nvPr/>
        </p:nvSpPr>
        <p:spPr>
          <a:xfrm>
            <a:off x="4498848" y="4183380"/>
            <a:ext cx="548640" cy="548640"/>
          </a:xfrm>
          <a:prstGeom prst="ellipse">
            <a:avLst/>
          </a:prstGeom>
          <a:solidFill>
            <a:srgbClr val="EEF1F6"/>
          </a:solidFill>
          <a:ln w="12700">
            <a:solidFill>
              <a:srgbClr val="EEF1F6"/>
            </a:solidFill>
            <a:prstDash val="solid"/>
          </a:ln>
        </p:spPr>
      </p:sp>
      <p:pic>
        <p:nvPicPr>
          <p:cNvPr id="20" name="Image 1" descr="preencoded.png">    </p:cNvPr>
          <p:cNvPicPr>
            <a:picLocks noChangeAspect="1"/>
          </p:cNvPicPr>
          <p:nvPr/>
        </p:nvPicPr>
        <p:blipFill>
          <a:blip r:embed="rId2"/>
          <a:stretch>
            <a:fillRect/>
          </a:stretch>
        </p:blipFill>
        <p:spPr>
          <a:xfrm>
            <a:off x="4641494" y="4326026"/>
            <a:ext cx="263347" cy="263347"/>
          </a:xfrm>
          <a:prstGeom prst="rect">
            <a:avLst/>
          </a:prstGeom>
        </p:spPr>
      </p:pic>
      <p:sp>
        <p:nvSpPr>
          <p:cNvPr id="21" name="Text 16"/>
          <p:cNvSpPr txBox="1"/>
          <p:nvPr/>
        </p:nvSpPr>
        <p:spPr>
          <a:xfrm>
            <a:off x="5230368" y="3941064"/>
            <a:ext cx="2514600" cy="1033272"/>
          </a:xfrm>
          <a:prstGeom prst="rect">
            <a:avLst/>
          </a:prstGeom>
          <a:noFill/>
          <a:ln/>
        </p:spPr>
        <p:txBody>
          <a:bodyPr wrap="square" lIns="0" tIns="0" rIns="0" bIns="0" rtlCol="0" anchor="ctr"/>
          <a:lstStyle/>
          <a:p>
            <a:pPr indent="0" marL="0">
              <a:spcAft>
                <a:spcPts val="200"/>
              </a:spcAft>
              <a:buNone/>
            </a:pPr>
            <a:r>
              <a:rPr lang="en-US" sz="1400" b="1" dirty="0">
                <a:solidFill>
                  <a:srgbClr val="14213D"/>
                </a:solidFill>
                <a:latin typeface="Cambria" pitchFamily="34" charset="0"/>
                <a:ea typeface="Cambria" pitchFamily="34" charset="-122"/>
                <a:cs typeface="Cambria" pitchFamily="34" charset="-120"/>
              </a:rPr>
              <a:t>arrays as parameters</a:t>
            </a:r>
            <a:endParaRPr lang="en-US" sz="1400" dirty="0"/>
          </a:p>
          <a:p>
            <a:pPr indent="0" marL="0">
              <a:spcAft>
                <a:spcPts val="200"/>
              </a:spcAft>
              <a:buNone/>
            </a:pPr>
            <a:r>
              <a:rPr lang="en-US" sz="1300" dirty="0">
                <a:solidFill>
                  <a:srgbClr val="333B4F"/>
                </a:solidFill>
                <a:latin typeface="Calibri" pitchFamily="34" charset="0"/>
                <a:ea typeface="Calibri" pitchFamily="34" charset="-122"/>
                <a:cs typeface="Calibri" pitchFamily="34" charset="-120"/>
              </a:rPr>
              <a:t>one method fills the arrays, another one prints them</a:t>
            </a:r>
            <a:endParaRPr lang="en-US" sz="1400" dirty="0"/>
          </a:p>
        </p:txBody>
      </p:sp>
      <p:sp>
        <p:nvSpPr>
          <p:cNvPr id="22" name="Shape 17"/>
          <p:cNvSpPr/>
          <p:nvPr/>
        </p:nvSpPr>
        <p:spPr>
          <a:xfrm>
            <a:off x="8083296" y="3886200"/>
            <a:ext cx="3566160" cy="1143000"/>
          </a:xfrm>
          <a:prstGeom prst="roundRect">
            <a:avLst>
              <a:gd name="adj" fmla="val 9600"/>
            </a:avLst>
          </a:prstGeom>
          <a:solidFill>
            <a:srgbClr val="EEF1F6"/>
          </a:solidFill>
          <a:ln w="12700">
            <a:solidFill>
              <a:srgbClr val="EEF1F6"/>
            </a:solidFill>
            <a:prstDash val="solid"/>
          </a:ln>
        </p:spPr>
      </p:sp>
      <p:sp>
        <p:nvSpPr>
          <p:cNvPr id="23" name="Shape 18"/>
          <p:cNvSpPr/>
          <p:nvPr/>
        </p:nvSpPr>
        <p:spPr>
          <a:xfrm>
            <a:off x="8266176" y="4183380"/>
            <a:ext cx="548640" cy="548640"/>
          </a:xfrm>
          <a:prstGeom prst="ellipse">
            <a:avLst/>
          </a:prstGeom>
          <a:solidFill>
            <a:srgbClr val="EEF1F6"/>
          </a:solidFill>
          <a:ln w="12700">
            <a:solidFill>
              <a:srgbClr val="EEF1F6"/>
            </a:solidFill>
            <a:prstDash val="solid"/>
          </a:ln>
        </p:spPr>
      </p:sp>
      <p:pic>
        <p:nvPicPr>
          <p:cNvPr id="24" name="Image 2" descr="preencoded.png">    </p:cNvPr>
          <p:cNvPicPr>
            <a:picLocks noChangeAspect="1"/>
          </p:cNvPicPr>
          <p:nvPr/>
        </p:nvPicPr>
        <p:blipFill>
          <a:blip r:embed="rId3"/>
          <a:stretch>
            <a:fillRect/>
          </a:stretch>
        </p:blipFill>
        <p:spPr>
          <a:xfrm>
            <a:off x="8408822" y="4326026"/>
            <a:ext cx="263347" cy="263347"/>
          </a:xfrm>
          <a:prstGeom prst="rect">
            <a:avLst/>
          </a:prstGeom>
        </p:spPr>
      </p:pic>
      <p:sp>
        <p:nvSpPr>
          <p:cNvPr id="25" name="Text 19"/>
          <p:cNvSpPr txBox="1"/>
          <p:nvPr/>
        </p:nvSpPr>
        <p:spPr>
          <a:xfrm>
            <a:off x="8997696" y="3941064"/>
            <a:ext cx="2514600" cy="1033272"/>
          </a:xfrm>
          <a:prstGeom prst="rect">
            <a:avLst/>
          </a:prstGeom>
          <a:noFill/>
          <a:ln/>
        </p:spPr>
        <p:txBody>
          <a:bodyPr wrap="square" lIns="0" tIns="0" rIns="0" bIns="0" rtlCol="0" anchor="ctr"/>
          <a:lstStyle/>
          <a:p>
            <a:pPr indent="0" marL="0">
              <a:spcAft>
                <a:spcPts val="200"/>
              </a:spcAft>
              <a:buNone/>
            </a:pPr>
            <a:r>
              <a:rPr lang="en-US" sz="1400" b="1" dirty="0">
                <a:solidFill>
                  <a:srgbClr val="14213D"/>
                </a:solidFill>
                <a:latin typeface="Cambria" pitchFamily="34" charset="0"/>
                <a:ea typeface="Cambria" pitchFamily="34" charset="-122"/>
                <a:cs typeface="Cambria" pitchFamily="34" charset="-120"/>
              </a:rPr>
              <a:t>scope and lifetime</a:t>
            </a:r>
            <a:endParaRPr lang="en-US" sz="1400" dirty="0"/>
          </a:p>
          <a:p>
            <a:pPr indent="0" marL="0">
              <a:spcAft>
                <a:spcPts val="200"/>
              </a:spcAft>
              <a:buNone/>
            </a:pPr>
            <a:r>
              <a:rPr lang="en-US" sz="1300" dirty="0">
                <a:solidFill>
                  <a:srgbClr val="333B4F"/>
                </a:solidFill>
                <a:latin typeface="Calibri" pitchFamily="34" charset="0"/>
                <a:ea typeface="Calibri" pitchFamily="34" charset="-122"/>
                <a:cs typeface="Calibri" pitchFamily="34" charset="-120"/>
              </a:rPr>
              <a:t>locals die when the method ends — only a file survives the program</a:t>
            </a:r>
            <a:endParaRPr lang="en-US" sz="1400" dirty="0"/>
          </a:p>
        </p:txBody>
      </p:sp>
      <p:sp>
        <p:nvSpPr>
          <p:cNvPr id="26" name="Shape 20"/>
          <p:cNvSpPr/>
          <p:nvPr/>
        </p:nvSpPr>
        <p:spPr>
          <a:xfrm>
            <a:off x="548640" y="5212080"/>
            <a:ext cx="11109960" cy="868680"/>
          </a:xfrm>
          <a:prstGeom prst="roundRect">
            <a:avLst>
              <a:gd name="adj" fmla="val 12632"/>
            </a:avLst>
          </a:prstGeom>
          <a:solidFill>
            <a:srgbClr val="FFF6E3"/>
          </a:solidFill>
          <a:ln w="12700">
            <a:solidFill>
              <a:srgbClr val="FFF6E3"/>
            </a:solidFill>
            <a:prstDash val="solid"/>
          </a:ln>
        </p:spPr>
      </p:sp>
      <p:pic>
        <p:nvPicPr>
          <p:cNvPr id="27" name="Image 3" descr="preencoded.png">    </p:cNvPr>
          <p:cNvPicPr>
            <a:picLocks noChangeAspect="1"/>
          </p:cNvPicPr>
          <p:nvPr/>
        </p:nvPicPr>
        <p:blipFill>
          <a:blip r:embed="rId4"/>
          <a:stretch>
            <a:fillRect/>
          </a:stretch>
        </p:blipFill>
        <p:spPr>
          <a:xfrm>
            <a:off x="822960" y="5372100"/>
            <a:ext cx="548640" cy="548640"/>
          </a:xfrm>
          <a:prstGeom prst="rect">
            <a:avLst/>
          </a:prstGeom>
        </p:spPr>
      </p:pic>
      <p:sp>
        <p:nvSpPr>
          <p:cNvPr id="28" name="Text 21"/>
          <p:cNvSpPr txBox="1"/>
          <p:nvPr/>
        </p:nvSpPr>
        <p:spPr>
          <a:xfrm>
            <a:off x="1645920" y="5285232"/>
            <a:ext cx="9738360" cy="722376"/>
          </a:xfrm>
          <a:prstGeom prst="rect">
            <a:avLst/>
          </a:prstGeom>
          <a:noFill/>
          <a:ln/>
        </p:spPr>
        <p:txBody>
          <a:bodyPr wrap="square" lIns="0" tIns="0" rIns="0" bIns="0" rtlCol="0" anchor="ctr"/>
          <a:lstStyle/>
          <a:p>
            <a:pPr indent="0" marL="0">
              <a:buNone/>
            </a:pPr>
            <a:r>
              <a:rPr lang="en-US" sz="1600" b="1" dirty="0">
                <a:solidFill>
                  <a:srgbClr val="14213D"/>
                </a:solidFill>
                <a:latin typeface="Calibri" pitchFamily="34" charset="0"/>
                <a:ea typeface="Calibri" pitchFamily="34" charset="-122"/>
                <a:cs typeface="Calibri" pitchFamily="34" charset="-120"/>
              </a:rPr>
              <a:t>Today: </a:t>
            </a:r>
            <a:pPr indent="0" marL="0">
              <a:buNone/>
            </a:pPr>
            <a:r>
              <a:rPr lang="en-US" sz="1600" dirty="0">
                <a:solidFill>
                  <a:srgbClr val="333B4F"/>
                </a:solidFill>
                <a:latin typeface="Calibri" pitchFamily="34" charset="0"/>
                <a:ea typeface="Calibri" pitchFamily="34" charset="-122"/>
                <a:cs typeface="Calibri" pitchFamily="34" charset="-120"/>
              </a:rPr>
              <a:t>data outlives the program. Save it to a text file, load it at the next start.</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4213D"/>
        </a:solidFill>
      </p:bgPr>
    </p:bg>
    <p:spTree>
      <p:nvGrpSpPr>
        <p:cNvPr id="1" name=""/>
        <p:cNvGrpSpPr/>
        <p:nvPr/>
      </p:nvGrpSpPr>
      <p:grpSpPr>
        <a:xfrm>
          <a:off x="0" y="0"/>
          <a:ext cx="0" cy="0"/>
          <a:chOff x="0" y="0"/>
          <a:chExt cx="0" cy="0"/>
        </a:xfrm>
      </p:grpSpPr>
      <p:sp>
        <p:nvSpPr>
          <p:cNvPr id="2" name="Text 0"/>
          <p:cNvSpPr txBox="1"/>
          <p:nvPr/>
        </p:nvSpPr>
        <p:spPr>
          <a:xfrm>
            <a:off x="548640" y="1463040"/>
            <a:ext cx="2743200" cy="1280160"/>
          </a:xfrm>
          <a:prstGeom prst="rect">
            <a:avLst/>
          </a:prstGeom>
          <a:noFill/>
          <a:ln/>
        </p:spPr>
        <p:txBody>
          <a:bodyPr wrap="square" lIns="0" tIns="0" rIns="0" bIns="0" rtlCol="0" anchor="ctr"/>
          <a:lstStyle/>
          <a:p>
            <a:pPr indent="0" marL="0">
              <a:buNone/>
            </a:pPr>
            <a:r>
              <a:rPr lang="en-US" sz="8800" b="1" dirty="0">
                <a:solidFill>
                  <a:srgbClr val="FCA311"/>
                </a:solidFill>
                <a:latin typeface="Courier New" pitchFamily="34" charset="0"/>
                <a:ea typeface="Courier New" pitchFamily="34" charset="-122"/>
                <a:cs typeface="Courier New" pitchFamily="34" charset="-120"/>
              </a:rPr>
              <a:t>&gt;_</a:t>
            </a:r>
            <a:endParaRPr lang="en-US" sz="8800" dirty="0"/>
          </a:p>
        </p:txBody>
      </p:sp>
      <p:sp>
        <p:nvSpPr>
          <p:cNvPr id="3" name="Text 1"/>
          <p:cNvSpPr txBox="1"/>
          <p:nvPr/>
        </p:nvSpPr>
        <p:spPr>
          <a:xfrm>
            <a:off x="548640" y="2926080"/>
            <a:ext cx="5486400" cy="365760"/>
          </a:xfrm>
          <a:prstGeom prst="rect">
            <a:avLst/>
          </a:prstGeom>
          <a:noFill/>
          <a:ln/>
        </p:spPr>
        <p:txBody>
          <a:bodyPr wrap="square" lIns="0" tIns="0" rIns="0" bIns="0" rtlCol="0" anchor="ctr"/>
          <a:lstStyle/>
          <a:p>
            <a:pPr indent="0" marL="0">
              <a:buNone/>
            </a:pPr>
            <a:r>
              <a:rPr lang="en-US" sz="1600" spc="400" kern="0" dirty="0">
                <a:solidFill>
                  <a:srgbClr val="8A94AB"/>
                </a:solidFill>
                <a:latin typeface="Courier New" pitchFamily="34" charset="0"/>
                <a:ea typeface="Courier New" pitchFamily="34" charset="-122"/>
                <a:cs typeface="Courier New" pitchFamily="34" charset="-120"/>
              </a:rPr>
              <a:t>PART 1</a:t>
            </a:r>
            <a:endParaRPr lang="en-US" sz="1600" dirty="0"/>
          </a:p>
        </p:txBody>
      </p:sp>
      <p:sp>
        <p:nvSpPr>
          <p:cNvPr id="4" name="Text 2"/>
          <p:cNvSpPr txBox="1"/>
          <p:nvPr/>
        </p:nvSpPr>
        <p:spPr>
          <a:xfrm>
            <a:off x="548640" y="3337560"/>
            <a:ext cx="10515600" cy="914400"/>
          </a:xfrm>
          <a:prstGeom prst="rect">
            <a:avLst/>
          </a:prstGeom>
          <a:noFill/>
          <a:ln/>
        </p:spPr>
        <p:txBody>
          <a:bodyPr wrap="square" lIns="0" tIns="0" rIns="0" bIns="0" rtlCol="0" anchor="ctr">
            <a:normAutofit/>
          </a:bodyPr>
          <a:lstStyle/>
          <a:p>
            <a:pPr indent="0" marL="0">
              <a:buNone/>
            </a:pPr>
            <a:r>
              <a:rPr lang="en-US" sz="4200" b="1" dirty="0">
                <a:solidFill>
                  <a:srgbClr val="FFFFFF"/>
                </a:solidFill>
                <a:latin typeface="Cambria" pitchFamily="34" charset="0"/>
                <a:ea typeface="Cambria" pitchFamily="34" charset="-122"/>
                <a:cs typeface="Cambria" pitchFamily="34" charset="-120"/>
              </a:rPr>
              <a:t>Text files</a:t>
            </a:r>
            <a:endParaRPr lang="en-US" sz="4200" dirty="0"/>
          </a:p>
        </p:txBody>
      </p:sp>
      <p:sp>
        <p:nvSpPr>
          <p:cNvPr id="5" name="Text 3"/>
          <p:cNvSpPr txBox="1"/>
          <p:nvPr/>
        </p:nvSpPr>
        <p:spPr>
          <a:xfrm>
            <a:off x="548640" y="4343400"/>
            <a:ext cx="10515600" cy="548640"/>
          </a:xfrm>
          <a:prstGeom prst="rect">
            <a:avLst/>
          </a:prstGeom>
          <a:noFill/>
          <a:ln/>
        </p:spPr>
        <p:txBody>
          <a:bodyPr wrap="square" lIns="0" tIns="0" rIns="0" bIns="0" rtlCol="0" anchor="ctr"/>
          <a:lstStyle/>
          <a:p>
            <a:pPr indent="0" marL="0">
              <a:buNone/>
            </a:pPr>
            <a:r>
              <a:rPr lang="en-US" sz="1800" dirty="0">
                <a:solidFill>
                  <a:srgbClr val="C7CEDC"/>
                </a:solidFill>
                <a:latin typeface="Calibri" pitchFamily="34" charset="0"/>
                <a:ea typeface="Calibri" pitchFamily="34" charset="-122"/>
                <a:cs typeface="Calibri" pitchFamily="34" charset="-120"/>
              </a:rPr>
              <a:t>Paths · the File class · lines ⇄ arrays · StreamWriter / StreamReader · CSV · exceptions</a:t>
            </a:r>
            <a:endParaRPr lang="en-US" sz="1800" dirty="0"/>
          </a:p>
        </p:txBody>
      </p:sp>
      <p:sp>
        <p:nvSpPr>
          <p:cNvPr id="6" name="Text 4"/>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8A94AB"/>
                </a:solidFill>
                <a:latin typeface="Calibri" pitchFamily="34" charset="0"/>
                <a:ea typeface="Calibri" pitchFamily="34" charset="-122"/>
                <a:cs typeface="Calibri" pitchFamily="34" charset="-120"/>
              </a:rPr>
              <a:t>MCMP113  ·  Week 14</a:t>
            </a:r>
            <a:endParaRPr lang="en-US" sz="1000" dirty="0"/>
          </a:p>
        </p:txBody>
      </p:sp>
      <p:sp>
        <p:nvSpPr>
          <p:cNvPr id="7" name="Text 5"/>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8A94AB"/>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WHY FILES?</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RAM forgets, the disk remembers</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14</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5</a:t>
            </a:r>
            <a:endParaRPr lang="en-US" sz="1000" dirty="0"/>
          </a:p>
        </p:txBody>
      </p:sp>
      <p:sp>
        <p:nvSpPr>
          <p:cNvPr id="7" name="Shape 4"/>
          <p:cNvSpPr/>
          <p:nvPr/>
        </p:nvSpPr>
        <p:spPr>
          <a:xfrm>
            <a:off x="548640" y="1691640"/>
            <a:ext cx="3017520" cy="2286000"/>
          </a:xfrm>
          <a:prstGeom prst="roundRect">
            <a:avLst>
              <a:gd name="adj" fmla="val 3200"/>
            </a:avLst>
          </a:prstGeom>
          <a:solidFill>
            <a:srgbClr val="E3ECF8"/>
          </a:solidFill>
          <a:ln w="15875">
            <a:solidFill>
              <a:srgbClr val="2F6FB3"/>
            </a:solidFill>
            <a:prstDash val="solid"/>
          </a:ln>
        </p:spPr>
      </p:sp>
      <p:sp>
        <p:nvSpPr>
          <p:cNvPr id="8" name="Shape 5"/>
          <p:cNvSpPr/>
          <p:nvPr/>
        </p:nvSpPr>
        <p:spPr>
          <a:xfrm>
            <a:off x="1737360" y="1828800"/>
            <a:ext cx="640080" cy="640080"/>
          </a:xfrm>
          <a:prstGeom prst="ellipse">
            <a:avLst/>
          </a:prstGeom>
          <a:solidFill>
            <a:srgbClr val="2F6FB3"/>
          </a:solidFill>
          <a:ln w="12700">
            <a:solidFill>
              <a:srgbClr val="2F6FB3"/>
            </a:solidFill>
            <a:prstDash val="solid"/>
          </a:ln>
        </p:spPr>
      </p:sp>
      <p:pic>
        <p:nvPicPr>
          <p:cNvPr id="9" name="Image 0" descr="preencoded.png">    </p:cNvPr>
          <p:cNvPicPr>
            <a:picLocks noChangeAspect="1"/>
          </p:cNvPicPr>
          <p:nvPr/>
        </p:nvPicPr>
        <p:blipFill>
          <a:blip r:embed="rId1"/>
          <a:stretch>
            <a:fillRect/>
          </a:stretch>
        </p:blipFill>
        <p:spPr>
          <a:xfrm>
            <a:off x="1903781" y="1995221"/>
            <a:ext cx="307238" cy="307238"/>
          </a:xfrm>
          <a:prstGeom prst="rect">
            <a:avLst/>
          </a:prstGeom>
        </p:spPr>
      </p:pic>
      <p:sp>
        <p:nvSpPr>
          <p:cNvPr id="10" name="Text 6"/>
          <p:cNvSpPr txBox="1"/>
          <p:nvPr/>
        </p:nvSpPr>
        <p:spPr>
          <a:xfrm>
            <a:off x="685800" y="2560320"/>
            <a:ext cx="2743200" cy="1325880"/>
          </a:xfrm>
          <a:prstGeom prst="rect">
            <a:avLst/>
          </a:prstGeom>
          <a:noFill/>
          <a:ln/>
        </p:spPr>
        <p:txBody>
          <a:bodyPr wrap="square" lIns="0" tIns="0" rIns="0" bIns="0" rtlCol="0" anchor="ctr"/>
          <a:lstStyle/>
          <a:p>
            <a:pPr algn="ctr" indent="0" marL="0">
              <a:buNone/>
            </a:pPr>
            <a:r>
              <a:rPr lang="en-US" sz="1400" b="1" dirty="0">
                <a:solidFill>
                  <a:srgbClr val="14213D"/>
                </a:solidFill>
                <a:latin typeface="Calibri" pitchFamily="34" charset="0"/>
                <a:ea typeface="Calibri" pitchFamily="34" charset="-122"/>
                <a:cs typeface="Calibri" pitchFamily="34" charset="-120"/>
              </a:rPr>
              <a:t>RAM</a:t>
            </a:r>
            <a:pPr algn="ctr" indent="0" marL="0">
              <a:buNone/>
            </a:pPr>
            <a:endParaRPr lang="en-US" sz="1400" dirty="0"/>
          </a:p>
          <a:p>
            <a:pPr algn="ctr" indent="0" marL="0">
              <a:buNone/>
            </a:pPr>
            <a:r>
              <a:rPr lang="en-US" sz="1400" dirty="0">
                <a:solidFill>
                  <a:srgbClr val="333B4F"/>
                </a:solidFill>
                <a:latin typeface="Calibri" pitchFamily="34" charset="0"/>
                <a:ea typeface="Calibri" pitchFamily="34" charset="-122"/>
                <a:cs typeface="Calibri" pitchFamily="34" charset="-120"/>
              </a:rPr>
              <a:t>variables, arrays</a:t>
            </a:r>
            <a:endParaRPr lang="en-US" sz="1400" dirty="0"/>
          </a:p>
          <a:p>
            <a:pPr algn="ctr" indent="0" marL="0">
              <a:buNone/>
            </a:pPr>
            <a:endParaRPr lang="en-US" sz="1400" dirty="0"/>
          </a:p>
          <a:p>
            <a:pPr algn="ctr" indent="0" marL="0">
              <a:buNone/>
            </a:pPr>
            <a:r>
              <a:rPr lang="en-US" sz="1400" b="1" dirty="0">
                <a:solidFill>
                  <a:srgbClr val="C8453B"/>
                </a:solidFill>
                <a:latin typeface="Calibri" pitchFamily="34" charset="0"/>
                <a:ea typeface="Calibri" pitchFamily="34" charset="-122"/>
                <a:cs typeface="Calibri" pitchFamily="34" charset="-120"/>
              </a:rPr>
              <a:t>cleared when the program ends</a:t>
            </a:r>
            <a:endParaRPr lang="en-US" sz="1400" dirty="0"/>
          </a:p>
        </p:txBody>
      </p:sp>
      <p:sp>
        <p:nvSpPr>
          <p:cNvPr id="11" name="Shape 7"/>
          <p:cNvSpPr/>
          <p:nvPr/>
        </p:nvSpPr>
        <p:spPr>
          <a:xfrm>
            <a:off x="4663440" y="1691640"/>
            <a:ext cx="3017520" cy="2286000"/>
          </a:xfrm>
          <a:prstGeom prst="roundRect">
            <a:avLst>
              <a:gd name="adj" fmla="val 3200"/>
            </a:avLst>
          </a:prstGeom>
          <a:solidFill>
            <a:srgbClr val="E6F4EC"/>
          </a:solidFill>
          <a:ln w="15875">
            <a:solidFill>
              <a:srgbClr val="2E9E6A"/>
            </a:solidFill>
            <a:prstDash val="solid"/>
          </a:ln>
        </p:spPr>
      </p:sp>
      <p:sp>
        <p:nvSpPr>
          <p:cNvPr id="12" name="Shape 8"/>
          <p:cNvSpPr/>
          <p:nvPr/>
        </p:nvSpPr>
        <p:spPr>
          <a:xfrm>
            <a:off x="5852160" y="1828800"/>
            <a:ext cx="640080" cy="640080"/>
          </a:xfrm>
          <a:prstGeom prst="ellipse">
            <a:avLst/>
          </a:prstGeom>
          <a:solidFill>
            <a:srgbClr val="2E9E6A"/>
          </a:solidFill>
          <a:ln w="12700">
            <a:solidFill>
              <a:srgbClr val="2E9E6A"/>
            </a:solidFill>
            <a:prstDash val="solid"/>
          </a:ln>
        </p:spPr>
      </p:sp>
      <p:pic>
        <p:nvPicPr>
          <p:cNvPr id="13" name="Image 1" descr="preencoded.png">    </p:cNvPr>
          <p:cNvPicPr>
            <a:picLocks noChangeAspect="1"/>
          </p:cNvPicPr>
          <p:nvPr/>
        </p:nvPicPr>
        <p:blipFill>
          <a:blip r:embed="rId2"/>
          <a:stretch>
            <a:fillRect/>
          </a:stretch>
        </p:blipFill>
        <p:spPr>
          <a:xfrm>
            <a:off x="6018581" y="1995221"/>
            <a:ext cx="307238" cy="307238"/>
          </a:xfrm>
          <a:prstGeom prst="rect">
            <a:avLst/>
          </a:prstGeom>
        </p:spPr>
      </p:pic>
      <p:sp>
        <p:nvSpPr>
          <p:cNvPr id="14" name="Text 9"/>
          <p:cNvSpPr txBox="1"/>
          <p:nvPr/>
        </p:nvSpPr>
        <p:spPr>
          <a:xfrm>
            <a:off x="4800600" y="2560320"/>
            <a:ext cx="2743200" cy="1325880"/>
          </a:xfrm>
          <a:prstGeom prst="rect">
            <a:avLst/>
          </a:prstGeom>
          <a:noFill/>
          <a:ln/>
        </p:spPr>
        <p:txBody>
          <a:bodyPr wrap="square" lIns="0" tIns="0" rIns="0" bIns="0" rtlCol="0" anchor="ctr"/>
          <a:lstStyle/>
          <a:p>
            <a:pPr algn="ctr" indent="0" marL="0">
              <a:buNone/>
            </a:pPr>
            <a:r>
              <a:rPr lang="en-US" sz="1400" b="1" dirty="0">
                <a:solidFill>
                  <a:srgbClr val="14213D"/>
                </a:solidFill>
                <a:latin typeface="Calibri" pitchFamily="34" charset="0"/>
                <a:ea typeface="Calibri" pitchFamily="34" charset="-122"/>
                <a:cs typeface="Calibri" pitchFamily="34" charset="-120"/>
              </a:rPr>
              <a:t>Disk (file)</a:t>
            </a:r>
            <a:pPr algn="ctr" indent="0" marL="0">
              <a:buNone/>
            </a:pPr>
            <a:endParaRPr lang="en-US" sz="1400" dirty="0"/>
          </a:p>
          <a:p>
            <a:pPr algn="ctr" indent="0" marL="0">
              <a:buNone/>
            </a:pPr>
            <a:r>
              <a:rPr lang="en-US" sz="1400" dirty="0">
                <a:solidFill>
                  <a:srgbClr val="333B4F"/>
                </a:solidFill>
                <a:latin typeface="Calibri" pitchFamily="34" charset="0"/>
                <a:ea typeface="Calibri" pitchFamily="34" charset="-122"/>
                <a:cs typeface="Calibri" pitchFamily="34" charset="-120"/>
              </a:rPr>
              <a:t>grades.csv, todo.txt</a:t>
            </a:r>
            <a:endParaRPr lang="en-US" sz="1400" dirty="0"/>
          </a:p>
          <a:p>
            <a:pPr algn="ctr" indent="0" marL="0">
              <a:buNone/>
            </a:pPr>
            <a:endParaRPr lang="en-US" sz="1400" dirty="0"/>
          </a:p>
          <a:p>
            <a:pPr algn="ctr" indent="0" marL="0">
              <a:buNone/>
            </a:pPr>
            <a:r>
              <a:rPr lang="en-US" sz="1400" b="1" dirty="0">
                <a:solidFill>
                  <a:srgbClr val="1F7A50"/>
                </a:solidFill>
                <a:latin typeface="Calibri" pitchFamily="34" charset="0"/>
                <a:ea typeface="Calibri" pitchFamily="34" charset="-122"/>
                <a:cs typeface="Calibri" pitchFamily="34" charset="-120"/>
              </a:rPr>
              <a:t>stays until deleted</a:t>
            </a:r>
            <a:endParaRPr lang="en-US" sz="1400" dirty="0"/>
          </a:p>
        </p:txBody>
      </p:sp>
      <p:sp>
        <p:nvSpPr>
          <p:cNvPr id="15" name="Shape 10"/>
          <p:cNvSpPr/>
          <p:nvPr/>
        </p:nvSpPr>
        <p:spPr>
          <a:xfrm>
            <a:off x="3611880" y="2423160"/>
            <a:ext cx="1005840" cy="0"/>
          </a:xfrm>
          <a:prstGeom prst="line">
            <a:avLst/>
          </a:prstGeom>
          <a:noFill/>
          <a:ln w="15875">
            <a:solidFill>
              <a:srgbClr val="2E9E6A"/>
            </a:solidFill>
            <a:prstDash val="solid"/>
            <a:tailEnd type="triangle"/>
          </a:ln>
        </p:spPr>
      </p:sp>
      <p:sp>
        <p:nvSpPr>
          <p:cNvPr id="16" name="Shape 11"/>
          <p:cNvSpPr/>
          <p:nvPr/>
        </p:nvSpPr>
        <p:spPr>
          <a:xfrm flipH="1">
            <a:off x="3611880" y="3246120"/>
            <a:ext cx="1005840" cy="0"/>
          </a:xfrm>
          <a:prstGeom prst="line">
            <a:avLst/>
          </a:prstGeom>
          <a:noFill/>
          <a:ln w="15875">
            <a:solidFill>
              <a:srgbClr val="2F6FB3"/>
            </a:solidFill>
            <a:prstDash val="solid"/>
            <a:tailEnd type="triangle"/>
          </a:ln>
        </p:spPr>
      </p:sp>
      <p:sp>
        <p:nvSpPr>
          <p:cNvPr id="17" name="Text 12"/>
          <p:cNvSpPr txBox="1"/>
          <p:nvPr/>
        </p:nvSpPr>
        <p:spPr>
          <a:xfrm>
            <a:off x="3611880" y="2057400"/>
            <a:ext cx="1005840" cy="320040"/>
          </a:xfrm>
          <a:prstGeom prst="rect">
            <a:avLst/>
          </a:prstGeom>
          <a:noFill/>
          <a:ln/>
        </p:spPr>
        <p:txBody>
          <a:bodyPr wrap="square" lIns="0" tIns="0" rIns="0" bIns="0" rtlCol="0" anchor="ctr"/>
          <a:lstStyle/>
          <a:p>
            <a:pPr algn="ctr" indent="0" marL="0">
              <a:buNone/>
            </a:pPr>
            <a:r>
              <a:rPr lang="en-US" sz="1400" b="1" dirty="0">
                <a:solidFill>
                  <a:srgbClr val="1F7A50"/>
                </a:solidFill>
                <a:latin typeface="Calibri" pitchFamily="34" charset="0"/>
                <a:ea typeface="Calibri" pitchFamily="34" charset="-122"/>
                <a:cs typeface="Calibri" pitchFamily="34" charset="-120"/>
              </a:rPr>
              <a:t>save</a:t>
            </a:r>
            <a:endParaRPr lang="en-US" sz="1400" dirty="0"/>
          </a:p>
        </p:txBody>
      </p:sp>
      <p:sp>
        <p:nvSpPr>
          <p:cNvPr id="18" name="Text 13"/>
          <p:cNvSpPr txBox="1"/>
          <p:nvPr/>
        </p:nvSpPr>
        <p:spPr>
          <a:xfrm>
            <a:off x="3611880" y="3291840"/>
            <a:ext cx="1005840" cy="320040"/>
          </a:xfrm>
          <a:prstGeom prst="rect">
            <a:avLst/>
          </a:prstGeom>
          <a:noFill/>
          <a:ln/>
        </p:spPr>
        <p:txBody>
          <a:bodyPr wrap="square" lIns="0" tIns="0" rIns="0" bIns="0" rtlCol="0" anchor="ctr"/>
          <a:lstStyle/>
          <a:p>
            <a:pPr algn="ctr" indent="0" marL="0">
              <a:buNone/>
            </a:pPr>
            <a:r>
              <a:rPr lang="en-US" sz="1400" b="1" dirty="0">
                <a:solidFill>
                  <a:srgbClr val="2F6FB3"/>
                </a:solidFill>
                <a:latin typeface="Calibri" pitchFamily="34" charset="0"/>
                <a:ea typeface="Calibri" pitchFamily="34" charset="-122"/>
                <a:cs typeface="Calibri" pitchFamily="34" charset="-120"/>
              </a:rPr>
              <a:t>load</a:t>
            </a:r>
            <a:endParaRPr lang="en-US" sz="14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4206240"/>
          <a:ext cx="7132320" cy="914400"/>
        </p:xfrm>
        <a:graphic>
          <a:graphicData uri="http://schemas.openxmlformats.org/drawingml/2006/table">
            <a:tbl>
              <a:tblPr/>
              <a:tblGrid>
                <a:gridCol w="1645920"/>
                <a:gridCol w="2743200"/>
                <a:gridCol w="2743200"/>
              </a:tblGrid>
              <a:tr h="374904">
                <a:tc>
                  <a:txBody>
                    <a:bodyPr/>
                    <a:lstStyle/>
                    <a:p>
                      <a:pPr algn="l" indent="0" marL="0">
                        <a:buNone/>
                      </a:pP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Text file</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Binary file</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r>
              <a:tr h="374904">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Contains</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characters (UTF-8)</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raw bytes</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374904">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Open with</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Notepad, VS Code</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its own program</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374904">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Examples</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.txt  .csv  .log  .cs</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.exe  .dll  .png  .docx</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374904">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This course</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  Weeks 14–15</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bl>
          </a:graphicData>
        </a:graphic>
      </p:graphicFrame>
      <p:sp>
        <p:nvSpPr>
          <p:cNvPr id="20" name="Shape 14"/>
          <p:cNvSpPr/>
          <p:nvPr/>
        </p:nvSpPr>
        <p:spPr>
          <a:xfrm>
            <a:off x="8001000" y="1691640"/>
            <a:ext cx="3657600" cy="1325880"/>
          </a:xfrm>
          <a:prstGeom prst="roundRect">
            <a:avLst>
              <a:gd name="adj" fmla="val 8276"/>
            </a:avLst>
          </a:prstGeom>
          <a:solidFill>
            <a:srgbClr val="EEF1F6"/>
          </a:solidFill>
          <a:ln w="12700">
            <a:solidFill>
              <a:srgbClr val="EEF1F6"/>
            </a:solidFill>
            <a:prstDash val="solid"/>
          </a:ln>
        </p:spPr>
      </p:sp>
      <p:sp>
        <p:nvSpPr>
          <p:cNvPr id="21" name="Shape 15"/>
          <p:cNvSpPr/>
          <p:nvPr/>
        </p:nvSpPr>
        <p:spPr>
          <a:xfrm>
            <a:off x="8183880" y="2080260"/>
            <a:ext cx="548640" cy="548640"/>
          </a:xfrm>
          <a:prstGeom prst="ellipse">
            <a:avLst/>
          </a:prstGeom>
          <a:solidFill>
            <a:srgbClr val="EEF1F6"/>
          </a:solidFill>
          <a:ln w="12700">
            <a:solidFill>
              <a:srgbClr val="EEF1F6"/>
            </a:solidFill>
            <a:prstDash val="solid"/>
          </a:ln>
        </p:spPr>
      </p:sp>
      <p:pic>
        <p:nvPicPr>
          <p:cNvPr id="22" name="Image 2" descr="preencoded.png">    </p:cNvPr>
          <p:cNvPicPr>
            <a:picLocks noChangeAspect="1"/>
          </p:cNvPicPr>
          <p:nvPr/>
        </p:nvPicPr>
        <p:blipFill>
          <a:blip r:embed="rId3"/>
          <a:stretch>
            <a:fillRect/>
          </a:stretch>
        </p:blipFill>
        <p:spPr>
          <a:xfrm>
            <a:off x="8326526" y="2222906"/>
            <a:ext cx="263347" cy="263347"/>
          </a:xfrm>
          <a:prstGeom prst="rect">
            <a:avLst/>
          </a:prstGeom>
        </p:spPr>
      </p:pic>
      <p:sp>
        <p:nvSpPr>
          <p:cNvPr id="23" name="Text 16"/>
          <p:cNvSpPr txBox="1"/>
          <p:nvPr/>
        </p:nvSpPr>
        <p:spPr>
          <a:xfrm>
            <a:off x="8915400" y="1746504"/>
            <a:ext cx="2606040" cy="1216152"/>
          </a:xfrm>
          <a:prstGeom prst="rect">
            <a:avLst/>
          </a:prstGeom>
          <a:noFill/>
          <a:ln/>
        </p:spPr>
        <p:txBody>
          <a:bodyPr wrap="square" lIns="0" tIns="0" rIns="0" bIns="0" rtlCol="0" anchor="ctr"/>
          <a:lstStyle/>
          <a:p>
            <a:pPr indent="0" marL="0">
              <a:spcAft>
                <a:spcPts val="200"/>
              </a:spcAft>
              <a:buNone/>
            </a:pPr>
            <a:r>
              <a:rPr lang="en-US" sz="1400" b="1" dirty="0">
                <a:solidFill>
                  <a:srgbClr val="14213D"/>
                </a:solidFill>
                <a:latin typeface="Cambria" pitchFamily="34" charset="0"/>
                <a:ea typeface="Cambria" pitchFamily="34" charset="-122"/>
                <a:cs typeface="Cambria" pitchFamily="34" charset="-120"/>
              </a:rPr>
              <a:t>Persistence</a:t>
            </a:r>
            <a:endParaRPr lang="en-US" sz="1400" dirty="0"/>
          </a:p>
          <a:p>
            <a:pPr indent="0" marL="0">
              <a:spcAft>
                <a:spcPts val="200"/>
              </a:spcAft>
              <a:buNone/>
            </a:pPr>
            <a:r>
              <a:rPr lang="en-US" sz="1300" dirty="0">
                <a:solidFill>
                  <a:srgbClr val="333B4F"/>
                </a:solidFill>
                <a:latin typeface="Calibri" pitchFamily="34" charset="0"/>
                <a:ea typeface="Calibri" pitchFamily="34" charset="-122"/>
                <a:cs typeface="Calibri" pitchFamily="34" charset="-120"/>
              </a:rPr>
              <a:t>to-do lists, high scores, balances survive the next start</a:t>
            </a:r>
            <a:endParaRPr lang="en-US" sz="1400" dirty="0"/>
          </a:p>
        </p:txBody>
      </p:sp>
      <p:sp>
        <p:nvSpPr>
          <p:cNvPr id="24" name="Shape 17"/>
          <p:cNvSpPr/>
          <p:nvPr/>
        </p:nvSpPr>
        <p:spPr>
          <a:xfrm>
            <a:off x="8001000" y="3172968"/>
            <a:ext cx="3657600" cy="1325880"/>
          </a:xfrm>
          <a:prstGeom prst="roundRect">
            <a:avLst>
              <a:gd name="adj" fmla="val 8276"/>
            </a:avLst>
          </a:prstGeom>
          <a:solidFill>
            <a:srgbClr val="EEF1F6"/>
          </a:solidFill>
          <a:ln w="12700">
            <a:solidFill>
              <a:srgbClr val="EEF1F6"/>
            </a:solidFill>
            <a:prstDash val="solid"/>
          </a:ln>
        </p:spPr>
      </p:sp>
      <p:sp>
        <p:nvSpPr>
          <p:cNvPr id="25" name="Shape 18"/>
          <p:cNvSpPr/>
          <p:nvPr/>
        </p:nvSpPr>
        <p:spPr>
          <a:xfrm>
            <a:off x="8183880" y="3561588"/>
            <a:ext cx="548640" cy="548640"/>
          </a:xfrm>
          <a:prstGeom prst="ellipse">
            <a:avLst/>
          </a:prstGeom>
          <a:solidFill>
            <a:srgbClr val="EEF1F6"/>
          </a:solidFill>
          <a:ln w="12700">
            <a:solidFill>
              <a:srgbClr val="EEF1F6"/>
            </a:solidFill>
            <a:prstDash val="solid"/>
          </a:ln>
        </p:spPr>
      </p:sp>
      <p:pic>
        <p:nvPicPr>
          <p:cNvPr id="26" name="Image 3" descr="preencoded.png">    </p:cNvPr>
          <p:cNvPicPr>
            <a:picLocks noChangeAspect="1"/>
          </p:cNvPicPr>
          <p:nvPr/>
        </p:nvPicPr>
        <p:blipFill>
          <a:blip r:embed="rId4"/>
          <a:stretch>
            <a:fillRect/>
          </a:stretch>
        </p:blipFill>
        <p:spPr>
          <a:xfrm>
            <a:off x="8326526" y="3704234"/>
            <a:ext cx="263347" cy="263347"/>
          </a:xfrm>
          <a:prstGeom prst="rect">
            <a:avLst/>
          </a:prstGeom>
        </p:spPr>
      </p:pic>
      <p:sp>
        <p:nvSpPr>
          <p:cNvPr id="27" name="Text 19"/>
          <p:cNvSpPr txBox="1"/>
          <p:nvPr/>
        </p:nvSpPr>
        <p:spPr>
          <a:xfrm>
            <a:off x="8915400" y="3227832"/>
            <a:ext cx="2606040" cy="1216152"/>
          </a:xfrm>
          <a:prstGeom prst="rect">
            <a:avLst/>
          </a:prstGeom>
          <a:noFill/>
          <a:ln/>
        </p:spPr>
        <p:txBody>
          <a:bodyPr wrap="square" lIns="0" tIns="0" rIns="0" bIns="0" rtlCol="0" anchor="ctr"/>
          <a:lstStyle/>
          <a:p>
            <a:pPr indent="0" marL="0">
              <a:spcAft>
                <a:spcPts val="200"/>
              </a:spcAft>
              <a:buNone/>
            </a:pPr>
            <a:r>
              <a:rPr lang="en-US" sz="1400" b="1" dirty="0">
                <a:solidFill>
                  <a:srgbClr val="14213D"/>
                </a:solidFill>
                <a:latin typeface="Cambria" pitchFamily="34" charset="0"/>
                <a:ea typeface="Cambria" pitchFamily="34" charset="-122"/>
                <a:cs typeface="Cambria" pitchFamily="34" charset="-120"/>
              </a:rPr>
              <a:t>Exchange</a:t>
            </a:r>
            <a:endParaRPr lang="en-US" sz="1400" dirty="0"/>
          </a:p>
          <a:p>
            <a:pPr indent="0" marL="0">
              <a:spcAft>
                <a:spcPts val="200"/>
              </a:spcAft>
              <a:buNone/>
            </a:pPr>
            <a:r>
              <a:rPr lang="en-US" sz="1300" dirty="0">
                <a:solidFill>
                  <a:srgbClr val="333B4F"/>
                </a:solidFill>
                <a:latin typeface="Calibri" pitchFamily="34" charset="0"/>
                <a:ea typeface="Calibri" pitchFamily="34" charset="-122"/>
                <a:cs typeface="Calibri" pitchFamily="34" charset="-120"/>
              </a:rPr>
              <a:t>CSV files open in Excel and in other programs</a:t>
            </a:r>
            <a:endParaRPr lang="en-US" sz="1400" dirty="0"/>
          </a:p>
        </p:txBody>
      </p:sp>
      <p:sp>
        <p:nvSpPr>
          <p:cNvPr id="28" name="Shape 20"/>
          <p:cNvSpPr/>
          <p:nvPr/>
        </p:nvSpPr>
        <p:spPr>
          <a:xfrm>
            <a:off x="8001000" y="4654296"/>
            <a:ext cx="3657600" cy="1325880"/>
          </a:xfrm>
          <a:prstGeom prst="roundRect">
            <a:avLst>
              <a:gd name="adj" fmla="val 8276"/>
            </a:avLst>
          </a:prstGeom>
          <a:solidFill>
            <a:srgbClr val="EEF1F6"/>
          </a:solidFill>
          <a:ln w="12700">
            <a:solidFill>
              <a:srgbClr val="EEF1F6"/>
            </a:solidFill>
            <a:prstDash val="solid"/>
          </a:ln>
        </p:spPr>
      </p:sp>
      <p:sp>
        <p:nvSpPr>
          <p:cNvPr id="29" name="Shape 21"/>
          <p:cNvSpPr/>
          <p:nvPr/>
        </p:nvSpPr>
        <p:spPr>
          <a:xfrm>
            <a:off x="8183880" y="5042916"/>
            <a:ext cx="548640" cy="548640"/>
          </a:xfrm>
          <a:prstGeom prst="ellipse">
            <a:avLst/>
          </a:prstGeom>
          <a:solidFill>
            <a:srgbClr val="EEF1F6"/>
          </a:solidFill>
          <a:ln w="12700">
            <a:solidFill>
              <a:srgbClr val="EEF1F6"/>
            </a:solidFill>
            <a:prstDash val="solid"/>
          </a:ln>
        </p:spPr>
      </p:sp>
      <p:pic>
        <p:nvPicPr>
          <p:cNvPr id="30" name="Image 4" descr="preencoded.png">    </p:cNvPr>
          <p:cNvPicPr>
            <a:picLocks noChangeAspect="1"/>
          </p:cNvPicPr>
          <p:nvPr/>
        </p:nvPicPr>
        <p:blipFill>
          <a:blip r:embed="rId5"/>
          <a:stretch>
            <a:fillRect/>
          </a:stretch>
        </p:blipFill>
        <p:spPr>
          <a:xfrm>
            <a:off x="8326526" y="5185562"/>
            <a:ext cx="263347" cy="263347"/>
          </a:xfrm>
          <a:prstGeom prst="rect">
            <a:avLst/>
          </a:prstGeom>
        </p:spPr>
      </p:pic>
      <p:sp>
        <p:nvSpPr>
          <p:cNvPr id="31" name="Text 22"/>
          <p:cNvSpPr txBox="1"/>
          <p:nvPr/>
        </p:nvSpPr>
        <p:spPr>
          <a:xfrm>
            <a:off x="8915400" y="4709160"/>
            <a:ext cx="2606040" cy="1216152"/>
          </a:xfrm>
          <a:prstGeom prst="rect">
            <a:avLst/>
          </a:prstGeom>
          <a:noFill/>
          <a:ln/>
        </p:spPr>
        <p:txBody>
          <a:bodyPr wrap="square" lIns="0" tIns="0" rIns="0" bIns="0" rtlCol="0" anchor="ctr"/>
          <a:lstStyle/>
          <a:p>
            <a:pPr indent="0" marL="0">
              <a:spcAft>
                <a:spcPts val="200"/>
              </a:spcAft>
              <a:buNone/>
            </a:pPr>
            <a:r>
              <a:rPr lang="en-US" sz="1400" b="1" dirty="0">
                <a:solidFill>
                  <a:srgbClr val="14213D"/>
                </a:solidFill>
                <a:latin typeface="Cambria" pitchFamily="34" charset="0"/>
                <a:ea typeface="Cambria" pitchFamily="34" charset="-122"/>
                <a:cs typeface="Cambria" pitchFamily="34" charset="-120"/>
              </a:rPr>
              <a:t>Logs</a:t>
            </a:r>
            <a:endParaRPr lang="en-US" sz="1400" dirty="0"/>
          </a:p>
          <a:p>
            <a:pPr indent="0" marL="0">
              <a:spcAft>
                <a:spcPts val="200"/>
              </a:spcAft>
              <a:buNone/>
            </a:pPr>
            <a:r>
              <a:rPr lang="en-US" sz="1300" dirty="0">
                <a:solidFill>
                  <a:srgbClr val="333B4F"/>
                </a:solidFill>
                <a:latin typeface="Calibri" pitchFamily="34" charset="0"/>
                <a:ea typeface="Calibri" pitchFamily="34" charset="-122"/>
                <a:cs typeface="Calibri" pitchFamily="34" charset="-120"/>
              </a:rPr>
              <a:t>a log file shows later what happened and when</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PATHS</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A relative path starts in the working directory</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14</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6</a:t>
            </a:r>
            <a:endParaRPr lang="en-US" sz="1000" dirty="0"/>
          </a:p>
        </p:txBody>
      </p:sp>
      <p:sp>
        <p:nvSpPr>
          <p:cNvPr id="7" name="Shape 4"/>
          <p:cNvSpPr/>
          <p:nvPr/>
        </p:nvSpPr>
        <p:spPr>
          <a:xfrm>
            <a:off x="548640" y="1645920"/>
            <a:ext cx="6035040" cy="2926080"/>
          </a:xfrm>
          <a:prstGeom prst="roundRect">
            <a:avLst>
              <a:gd name="adj" fmla="val 3125"/>
            </a:avLst>
          </a:prstGeom>
          <a:solidFill>
            <a:srgbClr val="EEF1F6"/>
          </a:solidFill>
          <a:ln w="12700">
            <a:solidFill>
              <a:srgbClr val="EEF1F6"/>
            </a:solidFill>
            <a:prstDash val="solid"/>
          </a:ln>
        </p:spPr>
      </p:sp>
      <p:sp>
        <p:nvSpPr>
          <p:cNvPr id="8" name="Text 5"/>
          <p:cNvSpPr txBox="1"/>
          <p:nvPr/>
        </p:nvSpPr>
        <p:spPr>
          <a:xfrm>
            <a:off x="731520" y="1783080"/>
            <a:ext cx="3108960" cy="365760"/>
          </a:xfrm>
          <a:prstGeom prst="rect">
            <a:avLst/>
          </a:prstGeom>
          <a:noFill/>
          <a:ln/>
        </p:spPr>
        <p:txBody>
          <a:bodyPr wrap="square" lIns="0" tIns="0" rIns="0" bIns="0" rtlCol="0" anchor="ctr"/>
          <a:lstStyle/>
          <a:p>
            <a:pPr indent="0" marL="0">
              <a:buNone/>
            </a:pPr>
            <a:r>
              <a:rPr lang="en-US" sz="1400" b="1" dirty="0">
                <a:solidFill>
                  <a:srgbClr val="14213D"/>
                </a:solidFill>
                <a:latin typeface="Courier New" pitchFamily="34" charset="0"/>
                <a:ea typeface="Courier New" pitchFamily="34" charset="-122"/>
                <a:cs typeface="Courier New" pitchFamily="34" charset="-120"/>
              </a:rPr>
              <a:t>14_01_FirstFile/</a:t>
            </a:r>
            <a:endParaRPr lang="en-US" sz="1400" dirty="0"/>
          </a:p>
        </p:txBody>
      </p:sp>
      <p:sp>
        <p:nvSpPr>
          <p:cNvPr id="9" name="Text 6"/>
          <p:cNvSpPr txBox="1"/>
          <p:nvPr/>
        </p:nvSpPr>
        <p:spPr>
          <a:xfrm>
            <a:off x="3840480" y="1783080"/>
            <a:ext cx="2743200" cy="365760"/>
          </a:xfrm>
          <a:prstGeom prst="rect">
            <a:avLst/>
          </a:prstGeom>
          <a:noFill/>
          <a:ln/>
        </p:spPr>
        <p:txBody>
          <a:bodyPr wrap="square" lIns="0" tIns="0" rIns="0" bIns="0" rtlCol="0" anchor="ctr"/>
          <a:lstStyle/>
          <a:p>
            <a:pPr indent="0" marL="0">
              <a:buNone/>
            </a:pPr>
            <a:r>
              <a:rPr lang="en-US" sz="1300" b="1" dirty="0">
                <a:solidFill>
                  <a:srgbClr val="2F6FB3"/>
                </a:solidFill>
                <a:latin typeface="Courier New" pitchFamily="34" charset="0"/>
                <a:ea typeface="Courier New" pitchFamily="34" charset="-122"/>
                <a:cs typeface="Courier New" pitchFamily="34" charset="-120"/>
              </a:rPr>
              <a:t>← working directory</a:t>
            </a:r>
            <a:endParaRPr lang="en-US" sz="1300" dirty="0"/>
          </a:p>
        </p:txBody>
      </p:sp>
      <p:sp>
        <p:nvSpPr>
          <p:cNvPr id="10" name="Text 7"/>
          <p:cNvSpPr txBox="1"/>
          <p:nvPr/>
        </p:nvSpPr>
        <p:spPr>
          <a:xfrm>
            <a:off x="731520" y="2167128"/>
            <a:ext cx="3108960" cy="365760"/>
          </a:xfrm>
          <a:prstGeom prst="rect">
            <a:avLst/>
          </a:prstGeom>
          <a:noFill/>
          <a:ln/>
        </p:spPr>
        <p:txBody>
          <a:bodyPr wrap="square" lIns="0" tIns="0" rIns="0" bIns="0" rtlCol="0" anchor="ctr"/>
          <a:lstStyle/>
          <a:p>
            <a:pPr indent="0" marL="0">
              <a:buNone/>
            </a:pPr>
            <a:r>
              <a:rPr lang="en-US" sz="1400" dirty="0">
                <a:solidFill>
                  <a:srgbClr val="14213D"/>
                </a:solidFill>
                <a:latin typeface="Courier New" pitchFamily="34" charset="0"/>
                <a:ea typeface="Courier New" pitchFamily="34" charset="-122"/>
                <a:cs typeface="Courier New" pitchFamily="34" charset="-120"/>
              </a:rPr>
              <a:t>├── FirstFile.csproj</a:t>
            </a:r>
            <a:endParaRPr lang="en-US" sz="1400" dirty="0"/>
          </a:p>
        </p:txBody>
      </p:sp>
      <p:sp>
        <p:nvSpPr>
          <p:cNvPr id="11" name="Text 8"/>
          <p:cNvSpPr txBox="1"/>
          <p:nvPr/>
        </p:nvSpPr>
        <p:spPr>
          <a:xfrm>
            <a:off x="731520" y="2551176"/>
            <a:ext cx="3108960" cy="365760"/>
          </a:xfrm>
          <a:prstGeom prst="rect">
            <a:avLst/>
          </a:prstGeom>
          <a:noFill/>
          <a:ln/>
        </p:spPr>
        <p:txBody>
          <a:bodyPr wrap="square" lIns="0" tIns="0" rIns="0" bIns="0" rtlCol="0" anchor="ctr"/>
          <a:lstStyle/>
          <a:p>
            <a:pPr indent="0" marL="0">
              <a:buNone/>
            </a:pPr>
            <a:r>
              <a:rPr lang="en-US" sz="1400" dirty="0">
                <a:solidFill>
                  <a:srgbClr val="14213D"/>
                </a:solidFill>
                <a:latin typeface="Courier New" pitchFamily="34" charset="0"/>
                <a:ea typeface="Courier New" pitchFamily="34" charset="-122"/>
                <a:cs typeface="Courier New" pitchFamily="34" charset="-120"/>
              </a:rPr>
              <a:t>├── Program.cs</a:t>
            </a:r>
            <a:endParaRPr lang="en-US" sz="1400" dirty="0"/>
          </a:p>
        </p:txBody>
      </p:sp>
      <p:sp>
        <p:nvSpPr>
          <p:cNvPr id="12" name="Text 9"/>
          <p:cNvSpPr txBox="1"/>
          <p:nvPr/>
        </p:nvSpPr>
        <p:spPr>
          <a:xfrm>
            <a:off x="731520" y="2935224"/>
            <a:ext cx="3108960" cy="365760"/>
          </a:xfrm>
          <a:prstGeom prst="rect">
            <a:avLst/>
          </a:prstGeom>
          <a:noFill/>
          <a:ln/>
        </p:spPr>
        <p:txBody>
          <a:bodyPr wrap="square" lIns="0" tIns="0" rIns="0" bIns="0" rtlCol="0" anchor="ctr"/>
          <a:lstStyle/>
          <a:p>
            <a:pPr indent="0" marL="0">
              <a:buNone/>
            </a:pPr>
            <a:r>
              <a:rPr lang="en-US" sz="1400" dirty="0">
                <a:solidFill>
                  <a:srgbClr val="14213D"/>
                </a:solidFill>
                <a:latin typeface="Courier New" pitchFamily="34" charset="0"/>
                <a:ea typeface="Courier New" pitchFamily="34" charset="-122"/>
                <a:cs typeface="Courier New" pitchFamily="34" charset="-120"/>
              </a:rPr>
              <a:t>├── notes.txt</a:t>
            </a:r>
            <a:endParaRPr lang="en-US" sz="1400" dirty="0"/>
          </a:p>
        </p:txBody>
      </p:sp>
      <p:sp>
        <p:nvSpPr>
          <p:cNvPr id="13" name="Text 10"/>
          <p:cNvSpPr txBox="1"/>
          <p:nvPr/>
        </p:nvSpPr>
        <p:spPr>
          <a:xfrm>
            <a:off x="3840480" y="2935224"/>
            <a:ext cx="2743200" cy="365760"/>
          </a:xfrm>
          <a:prstGeom prst="rect">
            <a:avLst/>
          </a:prstGeom>
          <a:noFill/>
          <a:ln/>
        </p:spPr>
        <p:txBody>
          <a:bodyPr wrap="square" lIns="0" tIns="0" rIns="0" bIns="0" rtlCol="0" anchor="ctr"/>
          <a:lstStyle/>
          <a:p>
            <a:pPr indent="0" marL="0">
              <a:buNone/>
            </a:pPr>
            <a:r>
              <a:rPr lang="en-US" sz="1300" b="1" dirty="0">
                <a:solidFill>
                  <a:srgbClr val="1F7A50"/>
                </a:solidFill>
                <a:latin typeface="Courier New" pitchFamily="34" charset="0"/>
                <a:ea typeface="Courier New" pitchFamily="34" charset="-122"/>
                <a:cs typeface="Courier New" pitchFamily="34" charset="-120"/>
              </a:rPr>
              <a:t>← "notes.txt"</a:t>
            </a:r>
            <a:endParaRPr lang="en-US" sz="1300" dirty="0"/>
          </a:p>
        </p:txBody>
      </p:sp>
      <p:sp>
        <p:nvSpPr>
          <p:cNvPr id="14" name="Text 11"/>
          <p:cNvSpPr txBox="1"/>
          <p:nvPr/>
        </p:nvSpPr>
        <p:spPr>
          <a:xfrm>
            <a:off x="731520" y="3319272"/>
            <a:ext cx="3108960" cy="365760"/>
          </a:xfrm>
          <a:prstGeom prst="rect">
            <a:avLst/>
          </a:prstGeom>
          <a:noFill/>
          <a:ln/>
        </p:spPr>
        <p:txBody>
          <a:bodyPr wrap="square" lIns="0" tIns="0" rIns="0" bIns="0" rtlCol="0" anchor="ctr"/>
          <a:lstStyle/>
          <a:p>
            <a:pPr indent="0" marL="0">
              <a:buNone/>
            </a:pPr>
            <a:r>
              <a:rPr lang="en-US" sz="1400" dirty="0">
                <a:solidFill>
                  <a:srgbClr val="14213D"/>
                </a:solidFill>
                <a:latin typeface="Courier New" pitchFamily="34" charset="0"/>
                <a:ea typeface="Courier New" pitchFamily="34" charset="-122"/>
                <a:cs typeface="Courier New" pitchFamily="34" charset="-120"/>
              </a:rPr>
              <a:t>├── backup/</a:t>
            </a:r>
            <a:endParaRPr lang="en-US" sz="1400" dirty="0"/>
          </a:p>
        </p:txBody>
      </p:sp>
      <p:sp>
        <p:nvSpPr>
          <p:cNvPr id="15" name="Text 12"/>
          <p:cNvSpPr txBox="1"/>
          <p:nvPr/>
        </p:nvSpPr>
        <p:spPr>
          <a:xfrm>
            <a:off x="731520" y="3703320"/>
            <a:ext cx="3108960" cy="365760"/>
          </a:xfrm>
          <a:prstGeom prst="rect">
            <a:avLst/>
          </a:prstGeom>
          <a:noFill/>
          <a:ln/>
        </p:spPr>
        <p:txBody>
          <a:bodyPr wrap="square" lIns="0" tIns="0" rIns="0" bIns="0" rtlCol="0" anchor="ctr"/>
          <a:lstStyle/>
          <a:p>
            <a:pPr indent="0" marL="0">
              <a:buNone/>
            </a:pPr>
            <a:r>
              <a:rPr lang="en-US" sz="1400" dirty="0">
                <a:solidFill>
                  <a:srgbClr val="14213D"/>
                </a:solidFill>
                <a:latin typeface="Courier New" pitchFamily="34" charset="0"/>
                <a:ea typeface="Courier New" pitchFamily="34" charset="-122"/>
                <a:cs typeface="Courier New" pitchFamily="34" charset="-120"/>
              </a:rPr>
              <a:t>│   └── notes_copy.txt</a:t>
            </a:r>
            <a:endParaRPr lang="en-US" sz="1400" dirty="0"/>
          </a:p>
        </p:txBody>
      </p:sp>
      <p:sp>
        <p:nvSpPr>
          <p:cNvPr id="16" name="Text 13"/>
          <p:cNvSpPr txBox="1"/>
          <p:nvPr/>
        </p:nvSpPr>
        <p:spPr>
          <a:xfrm>
            <a:off x="3840480" y="3703320"/>
            <a:ext cx="2743200" cy="365760"/>
          </a:xfrm>
          <a:prstGeom prst="rect">
            <a:avLst/>
          </a:prstGeom>
          <a:noFill/>
          <a:ln/>
        </p:spPr>
        <p:txBody>
          <a:bodyPr wrap="square" lIns="0" tIns="0" rIns="0" bIns="0" rtlCol="0" anchor="ctr"/>
          <a:lstStyle/>
          <a:p>
            <a:pPr indent="0" marL="0">
              <a:buNone/>
            </a:pPr>
            <a:r>
              <a:rPr lang="en-US" sz="1300" b="1" dirty="0">
                <a:solidFill>
                  <a:srgbClr val="1F7A50"/>
                </a:solidFill>
                <a:latin typeface="Courier New" pitchFamily="34" charset="0"/>
                <a:ea typeface="Courier New" pitchFamily="34" charset="-122"/>
                <a:cs typeface="Courier New" pitchFamily="34" charset="-120"/>
              </a:rPr>
              <a:t>← Path.Combine(…)</a:t>
            </a:r>
            <a:endParaRPr lang="en-US" sz="1300" dirty="0"/>
          </a:p>
        </p:txBody>
      </p:sp>
      <p:sp>
        <p:nvSpPr>
          <p:cNvPr id="17" name="Text 14"/>
          <p:cNvSpPr txBox="1"/>
          <p:nvPr/>
        </p:nvSpPr>
        <p:spPr>
          <a:xfrm>
            <a:off x="731520" y="4087368"/>
            <a:ext cx="3108960" cy="365760"/>
          </a:xfrm>
          <a:prstGeom prst="rect">
            <a:avLst/>
          </a:prstGeom>
          <a:noFill/>
          <a:ln/>
        </p:spPr>
        <p:txBody>
          <a:bodyPr wrap="square" lIns="0" tIns="0" rIns="0" bIns="0" rtlCol="0" anchor="ctr"/>
          <a:lstStyle/>
          <a:p>
            <a:pPr indent="0" marL="0">
              <a:buNone/>
            </a:pPr>
            <a:r>
              <a:rPr lang="en-US" sz="1400" dirty="0">
                <a:solidFill>
                  <a:srgbClr val="14213D"/>
                </a:solidFill>
                <a:latin typeface="Courier New" pitchFamily="34" charset="0"/>
                <a:ea typeface="Courier New" pitchFamily="34" charset="-122"/>
                <a:cs typeface="Courier New" pitchFamily="34" charset="-120"/>
              </a:rPr>
              <a:t>└── bin/Debug/net10.0/</a:t>
            </a:r>
            <a:endParaRPr lang="en-US" sz="1400" dirty="0"/>
          </a:p>
        </p:txBody>
      </p:sp>
      <p:sp>
        <p:nvSpPr>
          <p:cNvPr id="18" name="Text 15"/>
          <p:cNvSpPr txBox="1"/>
          <p:nvPr/>
        </p:nvSpPr>
        <p:spPr>
          <a:xfrm>
            <a:off x="3840480" y="4087368"/>
            <a:ext cx="2743200" cy="365760"/>
          </a:xfrm>
          <a:prstGeom prst="rect">
            <a:avLst/>
          </a:prstGeom>
          <a:noFill/>
          <a:ln/>
        </p:spPr>
        <p:txBody>
          <a:bodyPr wrap="square" lIns="0" tIns="0" rIns="0" bIns="0" rtlCol="0" anchor="ctr"/>
          <a:lstStyle/>
          <a:p>
            <a:pPr indent="0" marL="0">
              <a:buNone/>
            </a:pPr>
            <a:r>
              <a:rPr lang="en-US" sz="1300" b="1" dirty="0">
                <a:solidFill>
                  <a:srgbClr val="5B6478"/>
                </a:solidFill>
                <a:latin typeface="Courier New" pitchFamily="34" charset="0"/>
                <a:ea typeface="Courier New" pitchFamily="34" charset="-122"/>
                <a:cs typeface="Courier New" pitchFamily="34" charset="-120"/>
              </a:rPr>
              <a:t>← BaseDirectory (.dll)</a:t>
            </a:r>
            <a:endParaRPr lang="en-US" sz="1300" dirty="0"/>
          </a:p>
        </p:txBody>
      </p:sp>
      <p:sp>
        <p:nvSpPr>
          <p:cNvPr id="19" name="Shape 16"/>
          <p:cNvSpPr/>
          <p:nvPr/>
        </p:nvSpPr>
        <p:spPr>
          <a:xfrm>
            <a:off x="548640" y="4709160"/>
            <a:ext cx="6035040" cy="1371600"/>
          </a:xfrm>
          <a:prstGeom prst="roundRect">
            <a:avLst>
              <a:gd name="adj" fmla="val 6667"/>
            </a:avLst>
          </a:prstGeom>
          <a:solidFill>
            <a:srgbClr val="0B0F19"/>
          </a:solidFill>
          <a:ln w="12700">
            <a:solidFill>
              <a:srgbClr val="2A3654"/>
            </a:solidFill>
            <a:prstDash val="solid"/>
          </a:ln>
        </p:spPr>
      </p:sp>
      <p:sp>
        <p:nvSpPr>
          <p:cNvPr id="20" name="Shape 17"/>
          <p:cNvSpPr/>
          <p:nvPr/>
        </p:nvSpPr>
        <p:spPr>
          <a:xfrm>
            <a:off x="731520" y="4837176"/>
            <a:ext cx="118872" cy="118872"/>
          </a:xfrm>
          <a:prstGeom prst="ellipse">
            <a:avLst/>
          </a:prstGeom>
          <a:solidFill>
            <a:srgbClr val="FF5F57"/>
          </a:solidFill>
          <a:ln w="12700">
            <a:solidFill>
              <a:srgbClr val="FF5F57"/>
            </a:solidFill>
            <a:prstDash val="solid"/>
          </a:ln>
        </p:spPr>
      </p:sp>
      <p:sp>
        <p:nvSpPr>
          <p:cNvPr id="21" name="Shape 18"/>
          <p:cNvSpPr/>
          <p:nvPr/>
        </p:nvSpPr>
        <p:spPr>
          <a:xfrm>
            <a:off x="960120" y="4837176"/>
            <a:ext cx="118872" cy="118872"/>
          </a:xfrm>
          <a:prstGeom prst="ellipse">
            <a:avLst/>
          </a:prstGeom>
          <a:solidFill>
            <a:srgbClr val="FEBC2E"/>
          </a:solidFill>
          <a:ln w="12700">
            <a:solidFill>
              <a:srgbClr val="FEBC2E"/>
            </a:solidFill>
            <a:prstDash val="solid"/>
          </a:ln>
        </p:spPr>
      </p:sp>
      <p:sp>
        <p:nvSpPr>
          <p:cNvPr id="22" name="Shape 19"/>
          <p:cNvSpPr/>
          <p:nvPr/>
        </p:nvSpPr>
        <p:spPr>
          <a:xfrm>
            <a:off x="1188720" y="4837176"/>
            <a:ext cx="118872" cy="118872"/>
          </a:xfrm>
          <a:prstGeom prst="ellipse">
            <a:avLst/>
          </a:prstGeom>
          <a:solidFill>
            <a:srgbClr val="28C840"/>
          </a:solidFill>
          <a:ln w="12700">
            <a:solidFill>
              <a:srgbClr val="28C840"/>
            </a:solidFill>
            <a:prstDash val="solid"/>
          </a:ln>
        </p:spPr>
      </p:sp>
      <p:sp>
        <p:nvSpPr>
          <p:cNvPr id="23" name="Text 20"/>
          <p:cNvSpPr txBox="1"/>
          <p:nvPr/>
        </p:nvSpPr>
        <p:spPr>
          <a:xfrm>
            <a:off x="1463040" y="4782312"/>
            <a:ext cx="493776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14_01_FirstFile · real output</a:t>
            </a:r>
            <a:endParaRPr lang="en-US" sz="1000" dirty="0"/>
          </a:p>
        </p:txBody>
      </p:sp>
      <p:sp>
        <p:nvSpPr>
          <p:cNvPr id="24" name="Text 21"/>
          <p:cNvSpPr txBox="1"/>
          <p:nvPr/>
        </p:nvSpPr>
        <p:spPr>
          <a:xfrm>
            <a:off x="777240" y="5093208"/>
            <a:ext cx="5577840" cy="868680"/>
          </a:xfrm>
          <a:prstGeom prst="rect">
            <a:avLst/>
          </a:prstGeom>
          <a:noFill/>
          <a:ln/>
        </p:spPr>
        <p:txBody>
          <a:bodyPr wrap="square" lIns="0" tIns="0" rIns="0" bIns="0" rtlCol="0" anchor="t"/>
          <a:lstStyle/>
          <a:p>
            <a:pPr indent="0" marL="0">
              <a:spcAft>
                <a:spcPts val="100"/>
              </a:spcAft>
              <a:buNone/>
            </a:pPr>
            <a:r>
              <a:rPr lang="en-US" sz="1400" dirty="0">
                <a:solidFill>
                  <a:srgbClr val="7EE2A8"/>
                </a:solidFill>
                <a:latin typeface="Courier New" pitchFamily="34" charset="0"/>
                <a:ea typeface="Courier New" pitchFamily="34" charset="-122"/>
                <a:cs typeface="Courier New" pitchFamily="34" charset="-120"/>
              </a:rPr>
              <a:t>Working directory: 14_01_FirstFile</a:t>
            </a:r>
            <a:endParaRPr lang="en-US" sz="1400" dirty="0"/>
          </a:p>
          <a:p>
            <a:pPr indent="0" marL="0">
              <a:spcAft>
                <a:spcPts val="100"/>
              </a:spcAft>
              <a:buNone/>
            </a:pPr>
            <a:r>
              <a:rPr lang="en-US" sz="1400" dirty="0">
                <a:solidFill>
                  <a:srgbClr val="7EE2A8"/>
                </a:solidFill>
                <a:latin typeface="Courier New" pitchFamily="34" charset="0"/>
                <a:ea typeface="Courier New" pitchFamily="34" charset="-122"/>
                <a:cs typeface="Courier New" pitchFamily="34" charset="-120"/>
              </a:rPr>
              <a:t>Program files in : bin/Debug/net10.0/</a:t>
            </a:r>
            <a:endParaRPr lang="en-US" sz="1400" dirty="0"/>
          </a:p>
          <a:p>
            <a:pPr indent="0" marL="0">
              <a:spcAft>
                <a:spcPts val="100"/>
              </a:spcAft>
              <a:buNone/>
            </a:pPr>
            <a:r>
              <a:rPr lang="en-US" sz="1400" dirty="0">
                <a:solidFill>
                  <a:srgbClr val="7EE2A8"/>
                </a:solidFill>
                <a:latin typeface="Courier New" pitchFamily="34" charset="0"/>
                <a:ea typeface="Courier New" pitchFamily="34" charset="-122"/>
                <a:cs typeface="Courier New" pitchFamily="34" charset="-120"/>
              </a:rPr>
              <a:t>Copy saved as backup/notes_copy.txt</a:t>
            </a:r>
            <a:endParaRPr lang="en-US" sz="14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6812280" y="1645920"/>
          <a:ext cx="4846320" cy="914400"/>
        </p:xfrm>
        <a:graphic>
          <a:graphicData uri="http://schemas.openxmlformats.org/drawingml/2006/table">
            <a:tbl>
              <a:tblPr/>
              <a:tblGrid>
                <a:gridCol w="3429000"/>
                <a:gridCol w="1417320"/>
              </a:tblGrid>
              <a:tr h="438912">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Path</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Kind</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r>
              <a:tr h="438912">
                <a:tc>
                  <a:txBody>
                    <a:bodyPr/>
                    <a:lstStyle/>
                    <a:p>
                      <a:pPr algn="l" indent="0" marL="0">
                        <a:buNone/>
                      </a:pPr>
                      <a:r>
                        <a:rPr lang="en-US" sz="1300" dirty="0">
                          <a:solidFill>
                            <a:srgbClr val="14213D"/>
                          </a:solidFill>
                          <a:latin typeface="Courier New" pitchFamily="34" charset="0"/>
                          <a:ea typeface="Courier New" pitchFamily="34" charset="-122"/>
                          <a:cs typeface="Courier New" pitchFamily="34" charset="-120"/>
                        </a:rPr>
                        <a:t>"notes.txt"</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4213D"/>
                          </a:solidFill>
                          <a:latin typeface="Calibri" pitchFamily="34" charset="0"/>
                          <a:ea typeface="Calibri" pitchFamily="34" charset="-122"/>
                          <a:cs typeface="Calibri" pitchFamily="34" charset="-120"/>
                        </a:rPr>
                        <a:t>relative ✓</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438912">
                <a:tc>
                  <a:txBody>
                    <a:bodyPr/>
                    <a:lstStyle/>
                    <a:p>
                      <a:pPr algn="l" indent="0" marL="0">
                        <a:buNone/>
                      </a:pPr>
                      <a:r>
                        <a:rPr lang="en-US" sz="1300" dirty="0">
                          <a:solidFill>
                            <a:srgbClr val="14213D"/>
                          </a:solidFill>
                          <a:latin typeface="Courier New" pitchFamily="34" charset="0"/>
                          <a:ea typeface="Courier New" pitchFamily="34" charset="-122"/>
                          <a:cs typeface="Courier New" pitchFamily="34" charset="-120"/>
                        </a:rPr>
                        <a:t>Path.Combine("backup", "a.txt")</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300" dirty="0">
                          <a:solidFill>
                            <a:srgbClr val="14213D"/>
                          </a:solidFill>
                          <a:latin typeface="Calibri" pitchFamily="34" charset="0"/>
                          <a:ea typeface="Calibri" pitchFamily="34" charset="-122"/>
                          <a:cs typeface="Calibri" pitchFamily="34" charset="-120"/>
                        </a:rPr>
                        <a:t>relative ✓</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438912">
                <a:tc>
                  <a:txBody>
                    <a:bodyPr/>
                    <a:lstStyle/>
                    <a:p>
                      <a:pPr algn="l" indent="0" marL="0">
                        <a:buNone/>
                      </a:pPr>
                      <a:r>
                        <a:rPr lang="en-US" sz="1300" dirty="0">
                          <a:solidFill>
                            <a:srgbClr val="14213D"/>
                          </a:solidFill>
                          <a:latin typeface="Courier New" pitchFamily="34" charset="0"/>
                          <a:ea typeface="Courier New" pitchFamily="34" charset="-122"/>
                          <a:cs typeface="Courier New" pitchFamily="34" charset="-120"/>
                        </a:rPr>
                        <a:t>@"C:\Users\ali\notes.txt"</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300" b="1" dirty="0">
                          <a:solidFill>
                            <a:srgbClr val="C8453B"/>
                          </a:solidFill>
                          <a:latin typeface="Calibri" pitchFamily="34" charset="0"/>
                          <a:ea typeface="Calibri" pitchFamily="34" charset="-122"/>
                          <a:cs typeface="Calibri" pitchFamily="34" charset="-120"/>
                        </a:rPr>
                        <a:t>absolute ✗</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bl>
          </a:graphicData>
        </a:graphic>
      </p:graphicFrame>
      <p:sp>
        <p:nvSpPr>
          <p:cNvPr id="26" name="Shape 22"/>
          <p:cNvSpPr/>
          <p:nvPr/>
        </p:nvSpPr>
        <p:spPr>
          <a:xfrm>
            <a:off x="6812280" y="3611880"/>
            <a:ext cx="4846320" cy="1234440"/>
          </a:xfrm>
          <a:prstGeom prst="roundRect">
            <a:avLst>
              <a:gd name="adj" fmla="val 8889"/>
            </a:avLst>
          </a:prstGeom>
          <a:solidFill>
            <a:srgbClr val="FFF6E3"/>
          </a:solidFill>
          <a:ln w="12700">
            <a:solidFill>
              <a:srgbClr val="FFF6E3"/>
            </a:solidFill>
            <a:prstDash val="solid"/>
          </a:ln>
        </p:spPr>
      </p:sp>
      <p:pic>
        <p:nvPicPr>
          <p:cNvPr id="27" name="Image 0" descr="preencoded.png">    </p:cNvPr>
          <p:cNvPicPr>
            <a:picLocks noChangeAspect="1"/>
          </p:cNvPicPr>
          <p:nvPr/>
        </p:nvPicPr>
        <p:blipFill>
          <a:blip r:embed="rId1"/>
          <a:stretch>
            <a:fillRect/>
          </a:stretch>
        </p:blipFill>
        <p:spPr>
          <a:xfrm>
            <a:off x="7086600" y="3954780"/>
            <a:ext cx="548640" cy="548640"/>
          </a:xfrm>
          <a:prstGeom prst="rect">
            <a:avLst/>
          </a:prstGeom>
        </p:spPr>
      </p:pic>
      <p:sp>
        <p:nvSpPr>
          <p:cNvPr id="28" name="Text 23"/>
          <p:cNvSpPr txBox="1"/>
          <p:nvPr/>
        </p:nvSpPr>
        <p:spPr>
          <a:xfrm>
            <a:off x="7909560" y="3685032"/>
            <a:ext cx="3474720" cy="1088136"/>
          </a:xfrm>
          <a:prstGeom prst="rect">
            <a:avLst/>
          </a:prstGeom>
          <a:noFill/>
          <a:ln/>
        </p:spPr>
        <p:txBody>
          <a:bodyPr wrap="square" lIns="0" tIns="0" rIns="0" bIns="0" rtlCol="0" anchor="ctr"/>
          <a:lstStyle/>
          <a:p>
            <a:pPr indent="0" marL="0">
              <a:buNone/>
            </a:pPr>
            <a:r>
              <a:rPr lang="en-US" sz="1400" b="1" dirty="0">
                <a:solidFill>
                  <a:srgbClr val="14213D"/>
                </a:solidFill>
                <a:latin typeface="Calibri" pitchFamily="34" charset="0"/>
                <a:ea typeface="Calibri" pitchFamily="34" charset="-122"/>
                <a:cs typeface="Calibri" pitchFamily="34" charset="-120"/>
              </a:rPr>
              <a:t>dotnet run </a:t>
            </a:r>
            <a:pPr indent="0" marL="0">
              <a:buNone/>
            </a:pPr>
            <a:r>
              <a:rPr lang="en-US" sz="1400" dirty="0">
                <a:solidFill>
                  <a:srgbClr val="333B4F"/>
                </a:solidFill>
                <a:latin typeface="Calibri" pitchFamily="34" charset="0"/>
                <a:ea typeface="Calibri" pitchFamily="34" charset="-122"/>
                <a:cs typeface="Calibri" pitchFamily="34" charset="-120"/>
              </a:rPr>
              <a:t>inside the project folder → files appear next to Program.cs.</a:t>
            </a:r>
            <a:endParaRPr lang="en-US" sz="1400" dirty="0"/>
          </a:p>
        </p:txBody>
      </p:sp>
      <p:sp>
        <p:nvSpPr>
          <p:cNvPr id="29" name="Shape 24"/>
          <p:cNvSpPr/>
          <p:nvPr/>
        </p:nvSpPr>
        <p:spPr>
          <a:xfrm>
            <a:off x="6812280" y="4983480"/>
            <a:ext cx="4846320" cy="1097280"/>
          </a:xfrm>
          <a:prstGeom prst="roundRect">
            <a:avLst>
              <a:gd name="adj" fmla="val 10000"/>
            </a:avLst>
          </a:prstGeom>
          <a:solidFill>
            <a:srgbClr val="FFF6E3"/>
          </a:solidFill>
          <a:ln w="12700">
            <a:solidFill>
              <a:srgbClr val="FFF6E3"/>
            </a:solidFill>
            <a:prstDash val="solid"/>
          </a:ln>
        </p:spPr>
      </p:sp>
      <p:pic>
        <p:nvPicPr>
          <p:cNvPr id="30" name="Image 1" descr="preencoded.png">    </p:cNvPr>
          <p:cNvPicPr>
            <a:picLocks noChangeAspect="1"/>
          </p:cNvPicPr>
          <p:nvPr/>
        </p:nvPicPr>
        <p:blipFill>
          <a:blip r:embed="rId2"/>
          <a:stretch>
            <a:fillRect/>
          </a:stretch>
        </p:blipFill>
        <p:spPr>
          <a:xfrm>
            <a:off x="7086600" y="5257800"/>
            <a:ext cx="548640" cy="548640"/>
          </a:xfrm>
          <a:prstGeom prst="rect">
            <a:avLst/>
          </a:prstGeom>
        </p:spPr>
      </p:pic>
      <p:sp>
        <p:nvSpPr>
          <p:cNvPr id="31" name="Text 25"/>
          <p:cNvSpPr txBox="1"/>
          <p:nvPr/>
        </p:nvSpPr>
        <p:spPr>
          <a:xfrm>
            <a:off x="7909560" y="5056632"/>
            <a:ext cx="3474720" cy="950976"/>
          </a:xfrm>
          <a:prstGeom prst="rect">
            <a:avLst/>
          </a:prstGeom>
          <a:noFill/>
          <a:ln/>
        </p:spPr>
        <p:txBody>
          <a:bodyPr wrap="square" lIns="0" tIns="0" rIns="0" bIns="0" rtlCol="0" anchor="ctr"/>
          <a:lstStyle/>
          <a:p>
            <a:pPr indent="0" marL="0">
              <a:buNone/>
            </a:pPr>
            <a:r>
              <a:rPr lang="en-US" sz="1400" b="1" dirty="0">
                <a:solidFill>
                  <a:srgbClr val="14213D"/>
                </a:solidFill>
                <a:latin typeface="Calibri" pitchFamily="34" charset="0"/>
                <a:ea typeface="Calibri" pitchFamily="34" charset="-122"/>
                <a:cs typeface="Calibri" pitchFamily="34" charset="-120"/>
              </a:rPr>
              <a:t>Windows: </a:t>
            </a:r>
            <a:pPr indent="0" marL="0">
              <a:buNone/>
            </a:pPr>
            <a:r>
              <a:rPr lang="en-US" sz="1400" dirty="0">
                <a:solidFill>
                  <a:srgbClr val="333B4F"/>
                </a:solidFill>
                <a:latin typeface="Calibri" pitchFamily="34" charset="0"/>
                <a:ea typeface="Calibri" pitchFamily="34" charset="-122"/>
                <a:cs typeface="Calibri" pitchFamily="34" charset="-120"/>
              </a:rPr>
              <a:t>Path.Combine writes backup\notes_copy.txt — same file, other separator.</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SYSTEM.IO · THE FILE CLASS</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One call to write, append or read a whole file</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14</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7</a:t>
            </a:r>
            <a:endParaRPr lang="en-US" sz="10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109960" cy="914400"/>
        </p:xfrm>
        <a:graphic>
          <a:graphicData uri="http://schemas.openxmlformats.org/drawingml/2006/table">
            <a:tbl>
              <a:tblPr/>
              <a:tblGrid>
                <a:gridCol w="4572000"/>
                <a:gridCol w="4892040"/>
                <a:gridCol w="1645920"/>
              </a:tblGrid>
              <a:tr h="402336">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Method</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What it does</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Gives back</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r>
              <a:tr h="402336">
                <a:tc>
                  <a:txBody>
                    <a:bodyPr/>
                    <a:lstStyle/>
                    <a:p>
                      <a:pPr algn="l" indent="0" marL="0">
                        <a:buNone/>
                      </a:pPr>
                      <a:r>
                        <a:rPr lang="en-US" sz="1400" b="1" dirty="0">
                          <a:solidFill>
                            <a:srgbClr val="14213D"/>
                          </a:solidFill>
                          <a:latin typeface="Courier New" pitchFamily="34" charset="0"/>
                          <a:ea typeface="Courier New" pitchFamily="34" charset="-122"/>
                          <a:cs typeface="Courier New" pitchFamily="34" charset="-120"/>
                        </a:rPr>
                        <a:t>File.WriteAllText(path, text)</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creates the file or REPLACES its content</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402336">
                <a:tc>
                  <a:txBody>
                    <a:bodyPr/>
                    <a:lstStyle/>
                    <a:p>
                      <a:pPr algn="l" indent="0" marL="0">
                        <a:buNone/>
                      </a:pPr>
                      <a:r>
                        <a:rPr lang="en-US" sz="1400" b="1" dirty="0">
                          <a:solidFill>
                            <a:srgbClr val="14213D"/>
                          </a:solidFill>
                          <a:latin typeface="Courier New" pitchFamily="34" charset="0"/>
                          <a:ea typeface="Courier New" pitchFamily="34" charset="-122"/>
                          <a:cs typeface="Courier New" pitchFamily="34" charset="-120"/>
                        </a:rPr>
                        <a:t>File.AppendAllText(path, text)</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adds text at the end (creates if missing)</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402336">
                <a:tc>
                  <a:txBody>
                    <a:bodyPr/>
                    <a:lstStyle/>
                    <a:p>
                      <a:pPr algn="l" indent="0" marL="0">
                        <a:buNone/>
                      </a:pPr>
                      <a:r>
                        <a:rPr lang="en-US" sz="1400" b="1" dirty="0">
                          <a:solidFill>
                            <a:srgbClr val="14213D"/>
                          </a:solidFill>
                          <a:latin typeface="Courier New" pitchFamily="34" charset="0"/>
                          <a:ea typeface="Courier New" pitchFamily="34" charset="-122"/>
                          <a:cs typeface="Courier New" pitchFamily="34" charset="-120"/>
                        </a:rPr>
                        <a:t>File.ReadAllText(path)</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reads the whole file</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string</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402336">
                <a:tc>
                  <a:txBody>
                    <a:bodyPr/>
                    <a:lstStyle/>
                    <a:p>
                      <a:pPr algn="l" indent="0" marL="0">
                        <a:buNone/>
                      </a:pPr>
                      <a:r>
                        <a:rPr lang="en-US" sz="1400" b="1" dirty="0">
                          <a:solidFill>
                            <a:srgbClr val="14213D"/>
                          </a:solidFill>
                          <a:latin typeface="Courier New" pitchFamily="34" charset="0"/>
                          <a:ea typeface="Courier New" pitchFamily="34" charset="-122"/>
                          <a:cs typeface="Courier New" pitchFamily="34" charset="-120"/>
                        </a:rPr>
                        <a:t>File.WriteAllLines(path, lines)</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one array element per line</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402336">
                <a:tc>
                  <a:txBody>
                    <a:bodyPr/>
                    <a:lstStyle/>
                    <a:p>
                      <a:pPr algn="l" indent="0" marL="0">
                        <a:buNone/>
                      </a:pPr>
                      <a:r>
                        <a:rPr lang="en-US" sz="1400" b="1" dirty="0">
                          <a:solidFill>
                            <a:srgbClr val="14213D"/>
                          </a:solidFill>
                          <a:latin typeface="Courier New" pitchFamily="34" charset="0"/>
                          <a:ea typeface="Courier New" pitchFamily="34" charset="-122"/>
                          <a:cs typeface="Courier New" pitchFamily="34" charset="-120"/>
                        </a:rPr>
                        <a:t>File.ReadAllLines(path)</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one line per array element</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string[]</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402336">
                <a:tc>
                  <a:txBody>
                    <a:bodyPr/>
                    <a:lstStyle/>
                    <a:p>
                      <a:pPr algn="l" indent="0" marL="0">
                        <a:buNone/>
                      </a:pPr>
                      <a:r>
                        <a:rPr lang="en-US" sz="1400" b="1" dirty="0">
                          <a:solidFill>
                            <a:srgbClr val="14213D"/>
                          </a:solidFill>
                          <a:latin typeface="Courier New" pitchFamily="34" charset="0"/>
                          <a:ea typeface="Courier New" pitchFamily="34" charset="-122"/>
                          <a:cs typeface="Courier New" pitchFamily="34" charset="-120"/>
                        </a:rPr>
                        <a:t>File.AppendAllLines(path, lines)</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adds lines at the end</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402336">
                <a:tc>
                  <a:txBody>
                    <a:bodyPr/>
                    <a:lstStyle/>
                    <a:p>
                      <a:pPr algn="l" indent="0" marL="0">
                        <a:buNone/>
                      </a:pPr>
                      <a:r>
                        <a:rPr lang="en-US" sz="1400" b="1" dirty="0">
                          <a:solidFill>
                            <a:srgbClr val="14213D"/>
                          </a:solidFill>
                          <a:latin typeface="Courier New" pitchFamily="34" charset="0"/>
                          <a:ea typeface="Courier New" pitchFamily="34" charset="-122"/>
                          <a:cs typeface="Courier New" pitchFamily="34" charset="-120"/>
                        </a:rPr>
                        <a:t>File.Exists(path)</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is the file there?</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bool</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402336">
                <a:tc>
                  <a:txBody>
                    <a:bodyPr/>
                    <a:lstStyle/>
                    <a:p>
                      <a:pPr algn="l" indent="0" marL="0">
                        <a:buNone/>
                      </a:pPr>
                      <a:r>
                        <a:rPr lang="en-US" sz="1400" b="1" dirty="0">
                          <a:solidFill>
                            <a:srgbClr val="14213D"/>
                          </a:solidFill>
                          <a:latin typeface="Courier New" pitchFamily="34" charset="0"/>
                          <a:ea typeface="Courier New" pitchFamily="34" charset="-122"/>
                          <a:cs typeface="Courier New" pitchFamily="34" charset="-120"/>
                        </a:rPr>
                        <a:t>File.Delete(path)</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removes it (no error if missing)</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402336">
                <a:tc>
                  <a:txBody>
                    <a:bodyPr/>
                    <a:lstStyle/>
                    <a:p>
                      <a:pPr algn="l" indent="0" marL="0">
                        <a:buNone/>
                      </a:pPr>
                      <a:r>
                        <a:rPr lang="en-US" sz="1400" b="1" dirty="0">
                          <a:solidFill>
                            <a:srgbClr val="14213D"/>
                          </a:solidFill>
                          <a:latin typeface="Courier New" pitchFamily="34" charset="0"/>
                          <a:ea typeface="Courier New" pitchFamily="34" charset="-122"/>
                          <a:cs typeface="Courier New" pitchFamily="34" charset="-120"/>
                        </a:rPr>
                        <a:t>File.Copy(from, to, true)</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copies; true = overwrite the target</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bl>
          </a:graphicData>
        </a:graphic>
      </p:graphicFrame>
      <p:sp>
        <p:nvSpPr>
          <p:cNvPr id="8" name="Shape 4"/>
          <p:cNvSpPr/>
          <p:nvPr/>
        </p:nvSpPr>
        <p:spPr>
          <a:xfrm>
            <a:off x="548640" y="5760720"/>
            <a:ext cx="11109960" cy="411480"/>
          </a:xfrm>
          <a:prstGeom prst="roundRect">
            <a:avLst>
              <a:gd name="adj" fmla="val 26667"/>
            </a:avLst>
          </a:prstGeom>
          <a:solidFill>
            <a:srgbClr val="FFF6E3"/>
          </a:solidFill>
          <a:ln w="12700">
            <a:solidFill>
              <a:srgbClr val="FFF6E3"/>
            </a:solidFill>
            <a:prstDash val="solid"/>
          </a:ln>
        </p:spPr>
      </p:sp>
      <p:pic>
        <p:nvPicPr>
          <p:cNvPr id="9" name="Image 0" descr="preencoded.png">    </p:cNvPr>
          <p:cNvPicPr>
            <a:picLocks noChangeAspect="1"/>
          </p:cNvPicPr>
          <p:nvPr/>
        </p:nvPicPr>
        <p:blipFill>
          <a:blip r:embed="rId1"/>
          <a:stretch>
            <a:fillRect/>
          </a:stretch>
        </p:blipFill>
        <p:spPr>
          <a:xfrm>
            <a:off x="822960" y="5897880"/>
            <a:ext cx="137160" cy="137160"/>
          </a:xfrm>
          <a:prstGeom prst="rect">
            <a:avLst/>
          </a:prstGeom>
        </p:spPr>
      </p:pic>
      <p:sp>
        <p:nvSpPr>
          <p:cNvPr id="10" name="Text 5"/>
          <p:cNvSpPr txBox="1"/>
          <p:nvPr/>
        </p:nvSpPr>
        <p:spPr>
          <a:xfrm>
            <a:off x="1234440" y="5833872"/>
            <a:ext cx="10149840" cy="265176"/>
          </a:xfrm>
          <a:prstGeom prst="rect">
            <a:avLst/>
          </a:prstGeom>
          <a:noFill/>
          <a:ln/>
        </p:spPr>
        <p:txBody>
          <a:bodyPr wrap="square" lIns="0" tIns="0" rIns="0" bIns="0" rtlCol="0" anchor="ctr"/>
          <a:lstStyle/>
          <a:p>
            <a:pPr indent="0" marL="0">
              <a:buNone/>
            </a:pPr>
            <a:r>
              <a:rPr lang="en-US" sz="1400" dirty="0">
                <a:solidFill>
                  <a:srgbClr val="333B4F"/>
                </a:solidFill>
                <a:latin typeface="Calibri" pitchFamily="34" charset="0"/>
                <a:ea typeface="Calibri" pitchFamily="34" charset="-122"/>
                <a:cs typeface="Calibri" pitchFamily="34" charset="-120"/>
              </a:rPr>
              <a:t>Rule of thumb: </a:t>
            </a:r>
            <a:pPr indent="0" marL="0">
              <a:buNone/>
            </a:pPr>
            <a:r>
              <a:rPr lang="en-US" sz="1400" b="1" dirty="0">
                <a:solidFill>
                  <a:srgbClr val="14213D"/>
                </a:solidFill>
                <a:latin typeface="Calibri" pitchFamily="34" charset="0"/>
                <a:ea typeface="Calibri" pitchFamily="34" charset="-122"/>
                <a:cs typeface="Calibri" pitchFamily="34" charset="-120"/>
              </a:rPr>
              <a:t>Write = start again · Append = add · Read = load</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EXAMPLE 1 · FIRST FILE</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Write, append, read — and overwrite by mistake</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14</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8</a:t>
            </a:r>
            <a:endParaRPr lang="en-US" sz="1000" dirty="0"/>
          </a:p>
        </p:txBody>
      </p:sp>
      <p:sp>
        <p:nvSpPr>
          <p:cNvPr id="7" name="Shape 4"/>
          <p:cNvSpPr/>
          <p:nvPr/>
        </p:nvSpPr>
        <p:spPr>
          <a:xfrm>
            <a:off x="548640" y="1645920"/>
            <a:ext cx="6400800" cy="3154680"/>
          </a:xfrm>
          <a:prstGeom prst="roundRect">
            <a:avLst>
              <a:gd name="adj" fmla="val 2899"/>
            </a:avLst>
          </a:prstGeom>
          <a:solidFill>
            <a:srgbClr val="0F1729"/>
          </a:solidFill>
          <a:ln w="12700">
            <a:solidFill>
              <a:srgbClr val="0F1729"/>
            </a:solidFill>
            <a:prstDash val="solid"/>
          </a:ln>
        </p:spPr>
      </p:sp>
      <p:sp>
        <p:nvSpPr>
          <p:cNvPr id="8" name="Text 5"/>
          <p:cNvSpPr txBox="1"/>
          <p:nvPr/>
        </p:nvSpPr>
        <p:spPr>
          <a:xfrm>
            <a:off x="777240" y="1755648"/>
            <a:ext cx="594360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14_01_FirstFile · steps 2–4</a:t>
            </a:r>
            <a:endParaRPr lang="en-US" sz="1100" dirty="0"/>
          </a:p>
        </p:txBody>
      </p:sp>
      <p:sp>
        <p:nvSpPr>
          <p:cNvPr id="9" name="Text 6"/>
          <p:cNvSpPr txBox="1"/>
          <p:nvPr/>
        </p:nvSpPr>
        <p:spPr>
          <a:xfrm>
            <a:off x="777240" y="2057400"/>
            <a:ext cx="5943600" cy="2633472"/>
          </a:xfrm>
          <a:prstGeom prst="rect">
            <a:avLst/>
          </a:prstGeom>
          <a:noFill/>
          <a:ln/>
        </p:spPr>
        <p:txBody>
          <a:bodyPr wrap="square" lIns="0" tIns="0" rIns="0" bIns="0" rtlCol="0" anchor="t"/>
          <a:lstStyle/>
          <a:p>
            <a:pPr indent="0" marL="0">
              <a:spcAft>
                <a:spcPts val="100"/>
              </a:spcAft>
              <a:buNone/>
            </a:pPr>
            <a:r>
              <a:rPr lang="en-US" sz="1250" dirty="0">
                <a:solidFill>
                  <a:srgbClr val="4EC9B0"/>
                </a:solidFill>
                <a:latin typeface="Courier New" pitchFamily="34" charset="0"/>
                <a:ea typeface="Courier New" pitchFamily="34" charset="-122"/>
                <a:cs typeface="Courier New" pitchFamily="34" charset="-120"/>
              </a:rPr>
              <a:t>string</a:t>
            </a:r>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 path = </a:t>
            </a:r>
            <a:pPr indent="0" marL="0">
              <a:spcAft>
                <a:spcPts val="100"/>
              </a:spcAft>
              <a:buNone/>
            </a:pPr>
            <a:r>
              <a:rPr lang="en-US" sz="1250" dirty="0">
                <a:solidFill>
                  <a:srgbClr val="CE9178"/>
                </a:solidFill>
                <a:latin typeface="Courier New" pitchFamily="34" charset="0"/>
                <a:ea typeface="Courier New" pitchFamily="34" charset="-122"/>
                <a:cs typeface="Courier New" pitchFamily="34" charset="-120"/>
              </a:rPr>
              <a:t>"notes.txt"</a:t>
            </a:r>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a:t>
            </a:r>
            <a:endParaRPr lang="en-US" sz="1250" dirty="0"/>
          </a:p>
          <a:p>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File.WriteAllText(path, </a:t>
            </a:r>
            <a:pPr indent="0" marL="0">
              <a:spcAft>
                <a:spcPts val="100"/>
              </a:spcAft>
              <a:buNone/>
            </a:pPr>
            <a:r>
              <a:rPr lang="en-US" sz="1250" dirty="0">
                <a:solidFill>
                  <a:srgbClr val="CE9178"/>
                </a:solidFill>
                <a:latin typeface="Courier New" pitchFamily="34" charset="0"/>
                <a:ea typeface="Courier New" pitchFamily="34" charset="-122"/>
                <a:cs typeface="Courier New" pitchFamily="34" charset="-120"/>
              </a:rPr>
              <a:t>"MCMP113 notes\nWeek 14: files\n"</a:t>
            </a:r>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a:t>
            </a:r>
            <a:endParaRPr lang="en-US" sz="1250" dirty="0"/>
          </a:p>
          <a:p>
            <a:pPr indent="0" marL="0">
              <a:spcAft>
                <a:spcPts val="100"/>
              </a:spcAft>
              <a:buNone/>
            </a:pPr>
            <a:r>
              <a:rPr lang="en-US" sz="125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250" dirty="0">
                <a:solidFill>
                  <a:srgbClr val="CE9178"/>
                </a:solidFill>
                <a:latin typeface="Courier New" pitchFamily="34" charset="0"/>
                <a:ea typeface="Courier New" pitchFamily="34" charset="-122"/>
                <a:cs typeface="Courier New" pitchFamily="34" charset="-120"/>
              </a:rPr>
              <a:t>$"Created? {File.Exists(path)}"</a:t>
            </a:r>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a:t>
            </a:r>
            <a:endParaRPr lang="en-US" sz="1250" dirty="0"/>
          </a:p>
          <a:p>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 </a:t>
            </a:r>
            <a:endParaRPr lang="en-US" sz="1250" dirty="0"/>
          </a:p>
          <a:p>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File.AppendAllText(path, </a:t>
            </a:r>
            <a:pPr indent="0" marL="0">
              <a:spcAft>
                <a:spcPts val="100"/>
              </a:spcAft>
              <a:buNone/>
            </a:pPr>
            <a:r>
              <a:rPr lang="en-US" sz="1250" dirty="0">
                <a:solidFill>
                  <a:srgbClr val="CE9178"/>
                </a:solidFill>
                <a:latin typeface="Courier New" pitchFamily="34" charset="0"/>
                <a:ea typeface="Courier New" pitchFamily="34" charset="-122"/>
                <a:cs typeface="Courier New" pitchFamily="34" charset="-120"/>
              </a:rPr>
              <a:t>"Data outlives the program.\n"</a:t>
            </a:r>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a:t>
            </a:r>
            <a:endParaRPr lang="en-US" sz="1250" dirty="0"/>
          </a:p>
          <a:p>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 </a:t>
            </a:r>
            <a:endParaRPr lang="en-US" sz="1250" dirty="0"/>
          </a:p>
          <a:p>
            <a:pPr indent="0" marL="0">
              <a:spcAft>
                <a:spcPts val="100"/>
              </a:spcAft>
              <a:buNone/>
            </a:pPr>
            <a:r>
              <a:rPr lang="en-US" sz="1250" dirty="0">
                <a:solidFill>
                  <a:srgbClr val="4EC9B0"/>
                </a:solidFill>
                <a:latin typeface="Courier New" pitchFamily="34" charset="0"/>
                <a:ea typeface="Courier New" pitchFamily="34" charset="-122"/>
                <a:cs typeface="Courier New" pitchFamily="34" charset="-120"/>
              </a:rPr>
              <a:t>string</a:t>
            </a:r>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 content = File.ReadAllText(path);</a:t>
            </a:r>
            <a:endParaRPr lang="en-US" sz="1250" dirty="0"/>
          </a:p>
          <a:p>
            <a:pPr indent="0" marL="0">
              <a:spcAft>
                <a:spcPts val="100"/>
              </a:spcAft>
              <a:buNone/>
            </a:pPr>
            <a:r>
              <a:rPr lang="en-US" sz="125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250" dirty="0">
                <a:solidFill>
                  <a:srgbClr val="CE9178"/>
                </a:solidFill>
                <a:latin typeface="Courier New" pitchFamily="34" charset="0"/>
                <a:ea typeface="Courier New" pitchFamily="34" charset="-122"/>
                <a:cs typeface="Courier New" pitchFamily="34" charset="-120"/>
              </a:rPr>
              <a:t>$"{path}: {content.Length} characters"</a:t>
            </a:r>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a:t>
            </a:r>
            <a:endParaRPr lang="en-US" sz="1250" dirty="0"/>
          </a:p>
          <a:p>
            <a:pPr indent="0" marL="0">
              <a:spcAft>
                <a:spcPts val="100"/>
              </a:spcAft>
              <a:buNone/>
            </a:pPr>
            <a:r>
              <a:rPr lang="en-US" sz="125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.Write(content);</a:t>
            </a:r>
            <a:endParaRPr lang="en-US" sz="1250" dirty="0"/>
          </a:p>
        </p:txBody>
      </p:sp>
      <p:sp>
        <p:nvSpPr>
          <p:cNvPr id="10" name="Shape 7"/>
          <p:cNvSpPr/>
          <p:nvPr/>
        </p:nvSpPr>
        <p:spPr>
          <a:xfrm>
            <a:off x="548640" y="4892040"/>
            <a:ext cx="6400800" cy="1188720"/>
          </a:xfrm>
          <a:prstGeom prst="roundRect">
            <a:avLst>
              <a:gd name="adj" fmla="val 7692"/>
            </a:avLst>
          </a:prstGeom>
          <a:solidFill>
            <a:srgbClr val="0F1729"/>
          </a:solidFill>
          <a:ln w="12700">
            <a:solidFill>
              <a:srgbClr val="0F1729"/>
            </a:solidFill>
            <a:prstDash val="solid"/>
          </a:ln>
        </p:spPr>
      </p:sp>
      <p:sp>
        <p:nvSpPr>
          <p:cNvPr id="11" name="Text 8"/>
          <p:cNvSpPr txBox="1"/>
          <p:nvPr/>
        </p:nvSpPr>
        <p:spPr>
          <a:xfrm>
            <a:off x="777240" y="5001768"/>
            <a:ext cx="594360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step 6 · replaces the content</a:t>
            </a:r>
            <a:endParaRPr lang="en-US" sz="1100" dirty="0"/>
          </a:p>
        </p:txBody>
      </p:sp>
      <p:sp>
        <p:nvSpPr>
          <p:cNvPr id="12" name="Text 9"/>
          <p:cNvSpPr txBox="1"/>
          <p:nvPr/>
        </p:nvSpPr>
        <p:spPr>
          <a:xfrm>
            <a:off x="777240" y="5303520"/>
            <a:ext cx="5943600" cy="667512"/>
          </a:xfrm>
          <a:prstGeom prst="rect">
            <a:avLst/>
          </a:prstGeom>
          <a:noFill/>
          <a:ln/>
        </p:spPr>
        <p:txBody>
          <a:bodyPr wrap="square" lIns="0" tIns="0" rIns="0" bIns="0" rtlCol="0" anchor="t"/>
          <a:lstStyle/>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File.WriteAllText(path, </a:t>
            </a:r>
            <a:pPr indent="0" marL="0">
              <a:spcAft>
                <a:spcPts val="100"/>
              </a:spcAft>
              <a:buNone/>
            </a:pPr>
            <a:r>
              <a:rPr lang="en-US" sz="1300" dirty="0">
                <a:solidFill>
                  <a:srgbClr val="CE9178"/>
                </a:solidFill>
                <a:latin typeface="Courier New" pitchFamily="34" charset="0"/>
                <a:ea typeface="Courier New" pitchFamily="34" charset="-122"/>
                <a:cs typeface="Courier New" pitchFamily="34" charset="-120"/>
              </a:rPr>
              <a:t>"Only this line is left.\n"</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.Write(</a:t>
            </a:r>
            <a:pPr indent="0" marL="0">
              <a:spcAft>
                <a:spcPts val="100"/>
              </a:spcAft>
              <a:buNone/>
            </a:pPr>
            <a:r>
              <a:rPr lang="en-US" sz="1300" dirty="0">
                <a:solidFill>
                  <a:srgbClr val="CE9178"/>
                </a:solidFill>
                <a:latin typeface="Courier New" pitchFamily="34" charset="0"/>
                <a:ea typeface="Courier New" pitchFamily="34" charset="-122"/>
                <a:cs typeface="Courier New" pitchFamily="34" charset="-120"/>
              </a:rPr>
              <a:t>$"Now: {File.ReadAllText(path)}"</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p:txBody>
      </p:sp>
      <p:sp>
        <p:nvSpPr>
          <p:cNvPr id="13" name="Shape 10"/>
          <p:cNvSpPr/>
          <p:nvPr/>
        </p:nvSpPr>
        <p:spPr>
          <a:xfrm>
            <a:off x="7178040" y="1645920"/>
            <a:ext cx="4480560" cy="4434840"/>
          </a:xfrm>
          <a:prstGeom prst="roundRect">
            <a:avLst>
              <a:gd name="adj" fmla="val 2062"/>
            </a:avLst>
          </a:prstGeom>
          <a:solidFill>
            <a:srgbClr val="0B0F19"/>
          </a:solidFill>
          <a:ln w="12700">
            <a:solidFill>
              <a:srgbClr val="2A3654"/>
            </a:solidFill>
            <a:prstDash val="solid"/>
          </a:ln>
        </p:spPr>
      </p:sp>
      <p:sp>
        <p:nvSpPr>
          <p:cNvPr id="14" name="Shape 11"/>
          <p:cNvSpPr/>
          <p:nvPr/>
        </p:nvSpPr>
        <p:spPr>
          <a:xfrm>
            <a:off x="7360920" y="1773936"/>
            <a:ext cx="118872" cy="118872"/>
          </a:xfrm>
          <a:prstGeom prst="ellipse">
            <a:avLst/>
          </a:prstGeom>
          <a:solidFill>
            <a:srgbClr val="FF5F57"/>
          </a:solidFill>
          <a:ln w="12700">
            <a:solidFill>
              <a:srgbClr val="FF5F57"/>
            </a:solidFill>
            <a:prstDash val="solid"/>
          </a:ln>
        </p:spPr>
      </p:sp>
      <p:sp>
        <p:nvSpPr>
          <p:cNvPr id="15" name="Shape 12"/>
          <p:cNvSpPr/>
          <p:nvPr/>
        </p:nvSpPr>
        <p:spPr>
          <a:xfrm>
            <a:off x="7589520" y="1773936"/>
            <a:ext cx="118872" cy="118872"/>
          </a:xfrm>
          <a:prstGeom prst="ellipse">
            <a:avLst/>
          </a:prstGeom>
          <a:solidFill>
            <a:srgbClr val="FEBC2E"/>
          </a:solidFill>
          <a:ln w="12700">
            <a:solidFill>
              <a:srgbClr val="FEBC2E"/>
            </a:solidFill>
            <a:prstDash val="solid"/>
          </a:ln>
        </p:spPr>
      </p:sp>
      <p:sp>
        <p:nvSpPr>
          <p:cNvPr id="16" name="Shape 13"/>
          <p:cNvSpPr/>
          <p:nvPr/>
        </p:nvSpPr>
        <p:spPr>
          <a:xfrm>
            <a:off x="7818120" y="1773936"/>
            <a:ext cx="118872" cy="118872"/>
          </a:xfrm>
          <a:prstGeom prst="ellipse">
            <a:avLst/>
          </a:prstGeom>
          <a:solidFill>
            <a:srgbClr val="28C840"/>
          </a:solidFill>
          <a:ln w="12700">
            <a:solidFill>
              <a:srgbClr val="28C840"/>
            </a:solidFill>
            <a:prstDash val="solid"/>
          </a:ln>
        </p:spPr>
      </p:sp>
      <p:sp>
        <p:nvSpPr>
          <p:cNvPr id="17" name="Text 14"/>
          <p:cNvSpPr txBox="1"/>
          <p:nvPr/>
        </p:nvSpPr>
        <p:spPr>
          <a:xfrm>
            <a:off x="8092440" y="1719072"/>
            <a:ext cx="338328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Console</a:t>
            </a:r>
            <a:endParaRPr lang="en-US" sz="1000" dirty="0"/>
          </a:p>
        </p:txBody>
      </p:sp>
      <p:sp>
        <p:nvSpPr>
          <p:cNvPr id="18" name="Text 15"/>
          <p:cNvSpPr txBox="1"/>
          <p:nvPr/>
        </p:nvSpPr>
        <p:spPr>
          <a:xfrm>
            <a:off x="7406640" y="2029968"/>
            <a:ext cx="4023360" cy="3931920"/>
          </a:xfrm>
          <a:prstGeom prst="rect">
            <a:avLst/>
          </a:prstGeom>
          <a:noFill/>
          <a:ln/>
        </p:spPr>
        <p:txBody>
          <a:bodyPr wrap="square" lIns="0" tIns="0" rIns="0" bIns="0" rtlCol="0" anchor="t"/>
          <a:lstStyle/>
          <a:p>
            <a:pPr indent="0" marL="0">
              <a:spcAft>
                <a:spcPts val="100"/>
              </a:spcAft>
              <a:buNone/>
            </a:pPr>
            <a:r>
              <a:rPr lang="en-US" sz="1400" dirty="0">
                <a:solidFill>
                  <a:srgbClr val="7EE2A8"/>
                </a:solidFill>
                <a:latin typeface="Courier New" pitchFamily="34" charset="0"/>
                <a:ea typeface="Courier New" pitchFamily="34" charset="-122"/>
                <a:cs typeface="Courier New" pitchFamily="34" charset="-120"/>
              </a:rPr>
              <a:t>Created? True</a:t>
            </a:r>
            <a:endParaRPr lang="en-US" sz="1400" dirty="0"/>
          </a:p>
          <a:p>
            <a:pPr indent="0" marL="0">
              <a:spcAft>
                <a:spcPts val="100"/>
              </a:spcAft>
              <a:buNone/>
            </a:pPr>
            <a:r>
              <a:rPr lang="en-US" sz="1400" dirty="0">
                <a:solidFill>
                  <a:srgbClr val="7EE2A8"/>
                </a:solidFill>
                <a:latin typeface="Courier New" pitchFamily="34" charset="0"/>
                <a:ea typeface="Courier New" pitchFamily="34" charset="-122"/>
                <a:cs typeface="Courier New" pitchFamily="34" charset="-120"/>
              </a:rPr>
              <a:t>notes.txt: 56 characters</a:t>
            </a:r>
            <a:endParaRPr lang="en-US" sz="1400" dirty="0"/>
          </a:p>
          <a:p>
            <a:pPr indent="0" marL="0">
              <a:spcAft>
                <a:spcPts val="100"/>
              </a:spcAft>
              <a:buNone/>
            </a:pPr>
            <a:r>
              <a:rPr lang="en-US" sz="1400" dirty="0">
                <a:solidFill>
                  <a:srgbClr val="7EE2A8"/>
                </a:solidFill>
                <a:latin typeface="Courier New" pitchFamily="34" charset="0"/>
                <a:ea typeface="Courier New" pitchFamily="34" charset="-122"/>
                <a:cs typeface="Courier New" pitchFamily="34" charset="-120"/>
              </a:rPr>
              <a:t>MCMP113 notes</a:t>
            </a:r>
            <a:endParaRPr lang="en-US" sz="1400" dirty="0"/>
          </a:p>
          <a:p>
            <a:pPr indent="0" marL="0">
              <a:spcAft>
                <a:spcPts val="100"/>
              </a:spcAft>
              <a:buNone/>
            </a:pPr>
            <a:r>
              <a:rPr lang="en-US" sz="1400" dirty="0">
                <a:solidFill>
                  <a:srgbClr val="7EE2A8"/>
                </a:solidFill>
                <a:latin typeface="Courier New" pitchFamily="34" charset="0"/>
                <a:ea typeface="Courier New" pitchFamily="34" charset="-122"/>
                <a:cs typeface="Courier New" pitchFamily="34" charset="-120"/>
              </a:rPr>
              <a:t>Week 14: files</a:t>
            </a:r>
            <a:endParaRPr lang="en-US" sz="1400" dirty="0"/>
          </a:p>
          <a:p>
            <a:pPr indent="0" marL="0">
              <a:spcAft>
                <a:spcPts val="100"/>
              </a:spcAft>
              <a:buNone/>
            </a:pPr>
            <a:r>
              <a:rPr lang="en-US" sz="1400" dirty="0">
                <a:solidFill>
                  <a:srgbClr val="7EE2A8"/>
                </a:solidFill>
                <a:latin typeface="Courier New" pitchFamily="34" charset="0"/>
                <a:ea typeface="Courier New" pitchFamily="34" charset="-122"/>
                <a:cs typeface="Courier New" pitchFamily="34" charset="-120"/>
              </a:rPr>
              <a:t>Data outlives the program.</a:t>
            </a:r>
            <a:endParaRPr lang="en-US" sz="1400" dirty="0"/>
          </a:p>
          <a:p>
            <a:pPr indent="0" marL="0">
              <a:spcAft>
                <a:spcPts val="100"/>
              </a:spcAft>
              <a:buNone/>
            </a:pPr>
            <a:r>
              <a:rPr lang="en-US" sz="1400" dirty="0">
                <a:solidFill>
                  <a:srgbClr val="7EE2A8"/>
                </a:solidFill>
                <a:latin typeface="Courier New" pitchFamily="34" charset="0"/>
                <a:ea typeface="Courier New" pitchFamily="34" charset="-122"/>
                <a:cs typeface="Courier New" pitchFamily="34" charset="-120"/>
              </a:rPr>
              <a:t>---</a:t>
            </a:r>
            <a:endParaRPr lang="en-US" sz="1400" dirty="0"/>
          </a:p>
          <a:p>
            <a:pPr indent="0" marL="0">
              <a:spcAft>
                <a:spcPts val="100"/>
              </a:spcAft>
              <a:buNone/>
            </a:pPr>
            <a:r>
              <a:rPr lang="en-US" sz="1400" dirty="0">
                <a:solidFill>
                  <a:srgbClr val="7EE2A8"/>
                </a:solidFill>
                <a:latin typeface="Courier New" pitchFamily="34" charset="0"/>
                <a:ea typeface="Courier New" pitchFamily="34" charset="-122"/>
                <a:cs typeface="Courier New" pitchFamily="34" charset="-120"/>
              </a:rPr>
              <a:t>Copy saved as backup/notes_copy.txt</a:t>
            </a:r>
            <a:endParaRPr lang="en-US" sz="1400" dirty="0"/>
          </a:p>
          <a:p>
            <a:pPr indent="0" marL="0">
              <a:spcAft>
                <a:spcPts val="100"/>
              </a:spcAft>
              <a:buNone/>
            </a:pPr>
            <a:r>
              <a:rPr lang="en-US" sz="1400" dirty="0">
                <a:solidFill>
                  <a:srgbClr val="7EE2A8"/>
                </a:solidFill>
                <a:latin typeface="Courier New" pitchFamily="34" charset="0"/>
                <a:ea typeface="Courier New" pitchFamily="34" charset="-122"/>
                <a:cs typeface="Courier New" pitchFamily="34" charset="-120"/>
              </a:rPr>
              <a:t>Now: Only this line is left.</a:t>
            </a:r>
            <a:endParaRPr lang="en-US" sz="1400" dirty="0"/>
          </a:p>
          <a:p>
            <a:pPr indent="0" marL="0">
              <a:spcAft>
                <a:spcPts val="100"/>
              </a:spcAft>
              <a:buNone/>
            </a:pPr>
            <a:r>
              <a:rPr lang="en-US" sz="1400" dirty="0">
                <a:solidFill>
                  <a:srgbClr val="7EE2A8"/>
                </a:solidFill>
                <a:latin typeface="Courier New" pitchFamily="34" charset="0"/>
                <a:ea typeface="Courier New" pitchFamily="34" charset="-122"/>
                <a:cs typeface="Courier New" pitchFamily="34" charset="-120"/>
              </a:rPr>
              <a:t>Deleted? True</a:t>
            </a:r>
            <a:endParaRPr lang="en-US" sz="1400" dirty="0"/>
          </a:p>
          <a:p>
            <a:pPr indent="0" marL="0">
              <a:spcAft>
                <a:spcPts val="100"/>
              </a:spcAft>
              <a:buNone/>
            </a:pPr>
            <a:r>
              <a:rPr lang="en-US" sz="1400" dirty="0">
                <a:solidFill>
                  <a:srgbClr val="7EE2A8"/>
                </a:solidFill>
                <a:latin typeface="Courier New" pitchFamily="34" charset="0"/>
                <a:ea typeface="Courier New" pitchFamily="34" charset="-122"/>
                <a:cs typeface="Courier New" pitchFamily="34" charset="-120"/>
              </a:rPr>
              <a:t>Copy kept? True</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EXAMPLE 2 · LINES ⇄ ARRAYS</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WriteAllLines / ReadAllLines: one element = one line</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14</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9</a:t>
            </a:r>
            <a:endParaRPr lang="en-US" sz="1000" dirty="0"/>
          </a:p>
        </p:txBody>
      </p:sp>
      <p:sp>
        <p:nvSpPr>
          <p:cNvPr id="7" name="Shape 4"/>
          <p:cNvSpPr/>
          <p:nvPr/>
        </p:nvSpPr>
        <p:spPr>
          <a:xfrm>
            <a:off x="548640" y="1645920"/>
            <a:ext cx="6126480" cy="2743200"/>
          </a:xfrm>
          <a:prstGeom prst="roundRect">
            <a:avLst>
              <a:gd name="adj" fmla="val 3333"/>
            </a:avLst>
          </a:prstGeom>
          <a:solidFill>
            <a:srgbClr val="0F1729"/>
          </a:solidFill>
          <a:ln w="12700">
            <a:solidFill>
              <a:srgbClr val="0F1729"/>
            </a:solidFill>
            <a:prstDash val="solid"/>
          </a:ln>
        </p:spPr>
      </p:sp>
      <p:sp>
        <p:nvSpPr>
          <p:cNvPr id="8" name="Text 5"/>
          <p:cNvSpPr txBox="1"/>
          <p:nvPr/>
        </p:nvSpPr>
        <p:spPr>
          <a:xfrm>
            <a:off x="777240" y="1755648"/>
            <a:ext cx="566928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save: double[] → string[] → file</a:t>
            </a:r>
            <a:endParaRPr lang="en-US" sz="1100" dirty="0"/>
          </a:p>
        </p:txBody>
      </p:sp>
      <p:sp>
        <p:nvSpPr>
          <p:cNvPr id="9" name="Text 6"/>
          <p:cNvSpPr txBox="1"/>
          <p:nvPr/>
        </p:nvSpPr>
        <p:spPr>
          <a:xfrm>
            <a:off x="777240" y="2057400"/>
            <a:ext cx="5669280" cy="2221992"/>
          </a:xfrm>
          <a:prstGeom prst="rect">
            <a:avLst/>
          </a:prstGeom>
          <a:noFill/>
          <a:ln/>
        </p:spPr>
        <p:txBody>
          <a:bodyPr wrap="square" lIns="0" tIns="0" rIns="0" bIns="0" rtlCol="0" anchor="t"/>
          <a:lstStyle/>
          <a:p>
            <a:pPr indent="0" marL="0">
              <a:spcAft>
                <a:spcPts val="100"/>
              </a:spcAft>
              <a:buNone/>
            </a:pPr>
            <a:r>
              <a:rPr lang="en-US" sz="1400" dirty="0">
                <a:solidFill>
                  <a:srgbClr val="4EC9B0"/>
                </a:solidFill>
                <a:latin typeface="Courier New" pitchFamily="34" charset="0"/>
                <a:ea typeface="Courier New" pitchFamily="34" charset="-122"/>
                <a:cs typeface="Courier New" pitchFamily="34" charset="-120"/>
              </a:rPr>
              <a:t>string</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lines = </a:t>
            </a:r>
            <a:pPr indent="0" marL="0">
              <a:spcAft>
                <a:spcPts val="100"/>
              </a:spcAft>
              <a:buNone/>
            </a:pPr>
            <a:r>
              <a:rPr lang="en-US" sz="1400" dirty="0">
                <a:solidFill>
                  <a:srgbClr val="7AB8FF"/>
                </a:solidFill>
                <a:latin typeface="Courier New" pitchFamily="34" charset="0"/>
                <a:ea typeface="Courier New" pitchFamily="34" charset="-122"/>
                <a:cs typeface="Courier New" pitchFamily="34" charset="-120"/>
              </a:rPr>
              <a:t>new</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400" dirty="0">
                <a:solidFill>
                  <a:srgbClr val="4EC9B0"/>
                </a:solidFill>
                <a:latin typeface="Courier New" pitchFamily="34" charset="0"/>
                <a:ea typeface="Courier New" pitchFamily="34" charset="-122"/>
                <a:cs typeface="Courier New" pitchFamily="34" charset="-120"/>
              </a:rPr>
              <a:t>string</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[week.Length];</a:t>
            </a:r>
            <a:endParaRPr lang="en-US" sz="1400" dirty="0"/>
          </a:p>
          <a:p>
            <a:pPr indent="0" marL="0">
              <a:spcAft>
                <a:spcPts val="100"/>
              </a:spcAft>
              <a:buNone/>
            </a:pPr>
            <a:r>
              <a:rPr lang="en-US" sz="1400" dirty="0">
                <a:solidFill>
                  <a:srgbClr val="7AB8FF"/>
                </a:solidFill>
                <a:latin typeface="Courier New" pitchFamily="34" charset="0"/>
                <a:ea typeface="Courier New" pitchFamily="34" charset="-122"/>
                <a:cs typeface="Courier New" pitchFamily="34" charset="-120"/>
              </a:rPr>
              <a:t>for</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4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i = </a:t>
            </a:r>
            <a:pPr indent="0" marL="0">
              <a:spcAft>
                <a:spcPts val="100"/>
              </a:spcAft>
              <a:buNone/>
            </a:pPr>
            <a:r>
              <a:rPr lang="en-US" sz="14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i &lt; week.Length; i++)</a:t>
            </a:r>
            <a:endParaRPr lang="en-US" sz="1400" dirty="0"/>
          </a:p>
          <a:p>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a:t>
            </a:r>
            <a:endParaRPr lang="en-US" sz="1400" dirty="0"/>
          </a:p>
          <a:p>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lines[i] = week[i].ToString();</a:t>
            </a:r>
            <a:endParaRPr lang="en-US" sz="1400" dirty="0"/>
          </a:p>
          <a:p>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a:t>
            </a:r>
            <a:endParaRPr lang="en-US" sz="1400" dirty="0"/>
          </a:p>
          <a:p>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File.WriteAllLines(path, lines);</a:t>
            </a:r>
            <a:endParaRPr lang="en-US" sz="1400" dirty="0"/>
          </a:p>
        </p:txBody>
      </p:sp>
      <p:sp>
        <p:nvSpPr>
          <p:cNvPr id="10" name="Shape 7"/>
          <p:cNvSpPr/>
          <p:nvPr/>
        </p:nvSpPr>
        <p:spPr>
          <a:xfrm>
            <a:off x="548640" y="4480560"/>
            <a:ext cx="6126480" cy="1600200"/>
          </a:xfrm>
          <a:prstGeom prst="roundRect">
            <a:avLst>
              <a:gd name="adj" fmla="val 5714"/>
            </a:avLst>
          </a:prstGeom>
          <a:solidFill>
            <a:srgbClr val="0F1729"/>
          </a:solidFill>
          <a:ln w="12700">
            <a:solidFill>
              <a:srgbClr val="0F1729"/>
            </a:solidFill>
            <a:prstDash val="solid"/>
          </a:ln>
        </p:spPr>
      </p:sp>
      <p:sp>
        <p:nvSpPr>
          <p:cNvPr id="11" name="Text 8"/>
          <p:cNvSpPr txBox="1"/>
          <p:nvPr/>
        </p:nvSpPr>
        <p:spPr>
          <a:xfrm>
            <a:off x="777240" y="4590288"/>
            <a:ext cx="566928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append one line · load</a:t>
            </a:r>
            <a:endParaRPr lang="en-US" sz="1100" dirty="0"/>
          </a:p>
        </p:txBody>
      </p:sp>
      <p:sp>
        <p:nvSpPr>
          <p:cNvPr id="12" name="Text 9"/>
          <p:cNvSpPr txBox="1"/>
          <p:nvPr/>
        </p:nvSpPr>
        <p:spPr>
          <a:xfrm>
            <a:off x="777240" y="4892040"/>
            <a:ext cx="5669280" cy="1078992"/>
          </a:xfrm>
          <a:prstGeom prst="rect">
            <a:avLst/>
          </a:prstGeom>
          <a:noFill/>
          <a:ln/>
        </p:spPr>
        <p:txBody>
          <a:bodyPr wrap="square" lIns="0" tIns="0" rIns="0" bIns="0" rtlCol="0" anchor="t"/>
          <a:lstStyle/>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File.AppendAllLines(path, </a:t>
            </a:r>
            <a:pPr indent="0" marL="0">
              <a:spcAft>
                <a:spcPts val="100"/>
              </a:spcAft>
              <a:buNone/>
            </a:pPr>
            <a:r>
              <a:rPr lang="en-US" sz="1300" dirty="0">
                <a:solidFill>
                  <a:srgbClr val="7AB8FF"/>
                </a:solidFill>
                <a:latin typeface="Courier New" pitchFamily="34" charset="0"/>
                <a:ea typeface="Courier New" pitchFamily="34" charset="-122"/>
                <a:cs typeface="Courier New" pitchFamily="34" charset="-120"/>
              </a:rPr>
              <a:t>new</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string</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 </a:t>
            </a:r>
            <a:pPr indent="0" marL="0">
              <a:spcAft>
                <a:spcPts val="100"/>
              </a:spcAft>
              <a:buNone/>
            </a:pPr>
            <a:r>
              <a:rPr lang="en-US" sz="1300" dirty="0">
                <a:solidFill>
                  <a:srgbClr val="CE9178"/>
                </a:solidFill>
                <a:latin typeface="Courier New" pitchFamily="34" charset="0"/>
                <a:ea typeface="Courier New" pitchFamily="34" charset="-122"/>
                <a:cs typeface="Courier New" pitchFamily="34" charset="-120"/>
              </a:rPr>
              <a:t>"21.0"</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endParaRPr lang="en-US" sz="1300" dirty="0"/>
          </a:p>
          <a:p>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string</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loaded = File.ReadAllLines(path);</a:t>
            </a:r>
            <a:endParaRPr lang="en-US" sz="1300" dirty="0"/>
          </a:p>
        </p:txBody>
      </p:sp>
      <p:sp>
        <p:nvSpPr>
          <p:cNvPr id="13" name="Shape 10"/>
          <p:cNvSpPr/>
          <p:nvPr/>
        </p:nvSpPr>
        <p:spPr>
          <a:xfrm>
            <a:off x="6903720" y="1645920"/>
            <a:ext cx="1828800" cy="3017520"/>
          </a:xfrm>
          <a:prstGeom prst="rect">
            <a:avLst/>
          </a:prstGeom>
          <a:solidFill>
            <a:srgbClr val="FFFFFF"/>
          </a:solidFill>
          <a:ln w="12700">
            <a:solidFill>
              <a:srgbClr val="8A94AB"/>
            </a:solidFill>
            <a:prstDash val="solid"/>
          </a:ln>
        </p:spPr>
      </p:sp>
      <p:sp>
        <p:nvSpPr>
          <p:cNvPr id="14" name="Shape 11"/>
          <p:cNvSpPr/>
          <p:nvPr/>
        </p:nvSpPr>
        <p:spPr>
          <a:xfrm>
            <a:off x="6903720" y="1645920"/>
            <a:ext cx="1828800" cy="329184"/>
          </a:xfrm>
          <a:prstGeom prst="rect">
            <a:avLst/>
          </a:prstGeom>
          <a:solidFill>
            <a:srgbClr val="EEF1F6"/>
          </a:solidFill>
          <a:ln w="12700">
            <a:solidFill>
              <a:srgbClr val="8A94AB"/>
            </a:solidFill>
            <a:prstDash val="solid"/>
          </a:ln>
        </p:spPr>
      </p:sp>
      <p:sp>
        <p:nvSpPr>
          <p:cNvPr id="15" name="Text 12"/>
          <p:cNvSpPr txBox="1"/>
          <p:nvPr/>
        </p:nvSpPr>
        <p:spPr>
          <a:xfrm>
            <a:off x="6995160" y="1645920"/>
            <a:ext cx="1645920" cy="329184"/>
          </a:xfrm>
          <a:prstGeom prst="rect">
            <a:avLst/>
          </a:prstGeom>
          <a:noFill/>
          <a:ln/>
        </p:spPr>
        <p:txBody>
          <a:bodyPr wrap="square" lIns="0" tIns="0" rIns="0" bIns="0" rtlCol="0" anchor="ctr"/>
          <a:lstStyle/>
          <a:p>
            <a:pPr indent="0" marL="0">
              <a:buNone/>
            </a:pPr>
            <a:r>
              <a:rPr lang="en-US" sz="1200" dirty="0">
                <a:solidFill>
                  <a:srgbClr val="B7791F"/>
                </a:solidFill>
                <a:latin typeface="Courier New" pitchFamily="34" charset="0"/>
                <a:ea typeface="Courier New" pitchFamily="34" charset="-122"/>
                <a:cs typeface="Courier New" pitchFamily="34" charset="-120"/>
              </a:rPr>
              <a:t>▤ </a:t>
            </a:r>
            <a:pPr indent="0" marL="0">
              <a:buNone/>
            </a:pPr>
            <a:r>
              <a:rPr lang="en-US" sz="1200" b="1" dirty="0">
                <a:solidFill>
                  <a:srgbClr val="14213D"/>
                </a:solidFill>
                <a:latin typeface="Courier New" pitchFamily="34" charset="0"/>
                <a:ea typeface="Courier New" pitchFamily="34" charset="-122"/>
                <a:cs typeface="Courier New" pitchFamily="34" charset="-120"/>
              </a:rPr>
              <a:t>temperatures.txt</a:t>
            </a:r>
            <a:endParaRPr lang="en-US" sz="1200" dirty="0"/>
          </a:p>
        </p:txBody>
      </p:sp>
      <p:sp>
        <p:nvSpPr>
          <p:cNvPr id="16" name="Text 13"/>
          <p:cNvSpPr txBox="1"/>
          <p:nvPr/>
        </p:nvSpPr>
        <p:spPr>
          <a:xfrm>
            <a:off x="7040880" y="2057400"/>
            <a:ext cx="1554480" cy="2514600"/>
          </a:xfrm>
          <a:prstGeom prst="rect">
            <a:avLst/>
          </a:prstGeom>
          <a:noFill/>
          <a:ln/>
        </p:spPr>
        <p:txBody>
          <a:bodyPr wrap="square" lIns="0" tIns="0" rIns="0" bIns="0" rtlCol="0" anchor="t"/>
          <a:lstStyle/>
          <a:p>
            <a:pPr indent="0" marL="0">
              <a:spcAft>
                <a:spcPts val="100"/>
              </a:spcAft>
              <a:buNone/>
            </a:pPr>
            <a:r>
              <a:rPr lang="en-US" sz="1300" dirty="0">
                <a:solidFill>
                  <a:srgbClr val="14213D"/>
                </a:solidFill>
                <a:latin typeface="Courier New" pitchFamily="34" charset="0"/>
                <a:ea typeface="Courier New" pitchFamily="34" charset="-122"/>
                <a:cs typeface="Courier New" pitchFamily="34" charset="-120"/>
              </a:rPr>
              <a:t>14.5</a:t>
            </a:r>
            <a:endParaRPr lang="en-US" sz="1300" dirty="0"/>
          </a:p>
          <a:p>
            <a:pPr indent="0" marL="0">
              <a:spcAft>
                <a:spcPts val="100"/>
              </a:spcAft>
              <a:buNone/>
            </a:pPr>
            <a:r>
              <a:rPr lang="en-US" sz="1300" dirty="0">
                <a:solidFill>
                  <a:srgbClr val="14213D"/>
                </a:solidFill>
                <a:latin typeface="Courier New" pitchFamily="34" charset="0"/>
                <a:ea typeface="Courier New" pitchFamily="34" charset="-122"/>
                <a:cs typeface="Courier New" pitchFamily="34" charset="-120"/>
              </a:rPr>
              <a:t>16</a:t>
            </a:r>
            <a:endParaRPr lang="en-US" sz="1300" dirty="0"/>
          </a:p>
          <a:p>
            <a:pPr indent="0" marL="0">
              <a:spcAft>
                <a:spcPts val="100"/>
              </a:spcAft>
              <a:buNone/>
            </a:pPr>
            <a:r>
              <a:rPr lang="en-US" sz="1300" dirty="0">
                <a:solidFill>
                  <a:srgbClr val="14213D"/>
                </a:solidFill>
                <a:latin typeface="Courier New" pitchFamily="34" charset="0"/>
                <a:ea typeface="Courier New" pitchFamily="34" charset="-122"/>
                <a:cs typeface="Courier New" pitchFamily="34" charset="-120"/>
              </a:rPr>
              <a:t>13.5</a:t>
            </a:r>
            <a:endParaRPr lang="en-US" sz="1300" dirty="0"/>
          </a:p>
          <a:p>
            <a:pPr indent="0" marL="0">
              <a:spcAft>
                <a:spcPts val="100"/>
              </a:spcAft>
              <a:buNone/>
            </a:pPr>
            <a:r>
              <a:rPr lang="en-US" sz="1300" dirty="0">
                <a:solidFill>
                  <a:srgbClr val="14213D"/>
                </a:solidFill>
                <a:latin typeface="Courier New" pitchFamily="34" charset="0"/>
                <a:ea typeface="Courier New" pitchFamily="34" charset="-122"/>
                <a:cs typeface="Courier New" pitchFamily="34" charset="-120"/>
              </a:rPr>
              <a:t>18</a:t>
            </a:r>
            <a:endParaRPr lang="en-US" sz="1300" dirty="0"/>
          </a:p>
          <a:p>
            <a:pPr indent="0" marL="0">
              <a:spcAft>
                <a:spcPts val="100"/>
              </a:spcAft>
              <a:buNone/>
            </a:pPr>
            <a:r>
              <a:rPr lang="en-US" sz="1300" dirty="0">
                <a:solidFill>
                  <a:srgbClr val="14213D"/>
                </a:solidFill>
                <a:latin typeface="Courier New" pitchFamily="34" charset="0"/>
                <a:ea typeface="Courier New" pitchFamily="34" charset="-122"/>
                <a:cs typeface="Courier New" pitchFamily="34" charset="-120"/>
              </a:rPr>
              <a:t>19.5</a:t>
            </a:r>
            <a:endParaRPr lang="en-US" sz="1300" dirty="0"/>
          </a:p>
          <a:p>
            <a:pPr indent="0" marL="0">
              <a:spcAft>
                <a:spcPts val="100"/>
              </a:spcAft>
              <a:buNone/>
            </a:pPr>
            <a:r>
              <a:rPr lang="en-US" sz="1300" dirty="0">
                <a:solidFill>
                  <a:srgbClr val="14213D"/>
                </a:solidFill>
                <a:latin typeface="Courier New" pitchFamily="34" charset="0"/>
                <a:ea typeface="Courier New" pitchFamily="34" charset="-122"/>
                <a:cs typeface="Courier New" pitchFamily="34" charset="-120"/>
              </a:rPr>
              <a:t>17</a:t>
            </a:r>
            <a:endParaRPr lang="en-US" sz="1300" dirty="0"/>
          </a:p>
          <a:p>
            <a:pPr indent="0" marL="0">
              <a:spcAft>
                <a:spcPts val="100"/>
              </a:spcAft>
              <a:buNone/>
            </a:pPr>
            <a:r>
              <a:rPr lang="en-US" sz="1300" dirty="0">
                <a:solidFill>
                  <a:srgbClr val="14213D"/>
                </a:solidFill>
                <a:latin typeface="Courier New" pitchFamily="34" charset="0"/>
                <a:ea typeface="Courier New" pitchFamily="34" charset="-122"/>
                <a:cs typeface="Courier New" pitchFamily="34" charset="-120"/>
              </a:rPr>
              <a:t>15.5</a:t>
            </a:r>
            <a:endParaRPr lang="en-US" sz="1300" dirty="0"/>
          </a:p>
          <a:p>
            <a:pPr indent="0" marL="0">
              <a:spcAft>
                <a:spcPts val="100"/>
              </a:spcAft>
              <a:buNone/>
            </a:pPr>
            <a:r>
              <a:rPr lang="en-US" sz="1300" dirty="0">
                <a:solidFill>
                  <a:srgbClr val="14213D"/>
                </a:solidFill>
                <a:latin typeface="Courier New" pitchFamily="34" charset="0"/>
                <a:ea typeface="Courier New" pitchFamily="34" charset="-122"/>
                <a:cs typeface="Courier New" pitchFamily="34" charset="-120"/>
              </a:rPr>
              <a:t>21.0</a:t>
            </a:r>
            <a:endParaRPr lang="en-US" sz="1300" dirty="0"/>
          </a:p>
        </p:txBody>
      </p:sp>
      <p:sp>
        <p:nvSpPr>
          <p:cNvPr id="17" name="Text 14"/>
          <p:cNvSpPr txBox="1"/>
          <p:nvPr/>
        </p:nvSpPr>
        <p:spPr>
          <a:xfrm>
            <a:off x="8915400" y="1645920"/>
            <a:ext cx="2743200" cy="365760"/>
          </a:xfrm>
          <a:prstGeom prst="rect">
            <a:avLst/>
          </a:prstGeom>
          <a:noFill/>
          <a:ln/>
        </p:spPr>
        <p:txBody>
          <a:bodyPr wrap="square" lIns="0" tIns="0" rIns="0" bIns="0" rtlCol="0" anchor="ctr"/>
          <a:lstStyle/>
          <a:p>
            <a:pPr indent="0" marL="0">
              <a:buNone/>
            </a:pPr>
            <a:r>
              <a:rPr lang="en-US" sz="1400" b="1" dirty="0">
                <a:solidFill>
                  <a:srgbClr val="14213D"/>
                </a:solidFill>
                <a:latin typeface="Courier New" pitchFamily="34" charset="0"/>
                <a:ea typeface="Courier New" pitchFamily="34" charset="-122"/>
                <a:cs typeface="Courier New" pitchFamily="34" charset="-120"/>
              </a:rPr>
              <a:t>loaded</a:t>
            </a:r>
            <a:pPr indent="0" marL="0">
              <a:buNone/>
            </a:pPr>
            <a:r>
              <a:rPr lang="en-US" sz="1400" dirty="0">
                <a:solidFill>
                  <a:srgbClr val="333B4F"/>
                </a:solidFill>
                <a:latin typeface="Calibri" pitchFamily="34" charset="0"/>
                <a:ea typeface="Calibri" pitchFamily="34" charset="-122"/>
                <a:cs typeface="Calibri" pitchFamily="34" charset="-120"/>
              </a:rPr>
              <a:t> : string[8]</a:t>
            </a:r>
            <a:endParaRPr lang="en-US" sz="1400" dirty="0"/>
          </a:p>
        </p:txBody>
      </p:sp>
      <p:sp>
        <p:nvSpPr>
          <p:cNvPr id="18" name="Shape 15"/>
          <p:cNvSpPr/>
          <p:nvPr/>
        </p:nvSpPr>
        <p:spPr>
          <a:xfrm>
            <a:off x="8915400" y="2057400"/>
            <a:ext cx="685800" cy="457200"/>
          </a:xfrm>
          <a:prstGeom prst="rect">
            <a:avLst/>
          </a:prstGeom>
          <a:solidFill>
            <a:srgbClr val="FFFFFF"/>
          </a:solidFill>
          <a:ln w="9525">
            <a:solidFill>
              <a:srgbClr val="8A94AB"/>
            </a:solidFill>
            <a:prstDash val="solid"/>
          </a:ln>
        </p:spPr>
      </p:sp>
      <p:sp>
        <p:nvSpPr>
          <p:cNvPr id="19" name="Text 16"/>
          <p:cNvSpPr txBox="1"/>
          <p:nvPr/>
        </p:nvSpPr>
        <p:spPr>
          <a:xfrm>
            <a:off x="8915400" y="2057400"/>
            <a:ext cx="685800" cy="457200"/>
          </a:xfrm>
          <a:prstGeom prst="rect">
            <a:avLst/>
          </a:prstGeom>
          <a:noFill/>
          <a:ln/>
        </p:spPr>
        <p:txBody>
          <a:bodyPr wrap="square" lIns="0" tIns="0" rIns="0" bIns="0" rtlCol="0" anchor="ctr"/>
          <a:lstStyle/>
          <a:p>
            <a:pPr algn="ctr" indent="0" marL="0">
              <a:buNone/>
            </a:pPr>
            <a:r>
              <a:rPr lang="en-US" sz="1200" b="1" dirty="0">
                <a:solidFill>
                  <a:srgbClr val="14213D"/>
                </a:solidFill>
                <a:latin typeface="Courier New" pitchFamily="34" charset="0"/>
                <a:ea typeface="Courier New" pitchFamily="34" charset="-122"/>
                <a:cs typeface="Courier New" pitchFamily="34" charset="-120"/>
              </a:rPr>
              <a:t>"14.5"</a:t>
            </a:r>
            <a:endParaRPr lang="en-US" sz="1200" dirty="0"/>
          </a:p>
        </p:txBody>
      </p:sp>
      <p:sp>
        <p:nvSpPr>
          <p:cNvPr id="20" name="Text 17"/>
          <p:cNvSpPr txBox="1"/>
          <p:nvPr/>
        </p:nvSpPr>
        <p:spPr>
          <a:xfrm>
            <a:off x="8915400" y="2542032"/>
            <a:ext cx="685800" cy="256032"/>
          </a:xfrm>
          <a:prstGeom prst="rect">
            <a:avLst/>
          </a:prstGeom>
          <a:noFill/>
          <a:ln/>
        </p:spPr>
        <p:txBody>
          <a:bodyPr wrap="square" lIns="0" tIns="0" rIns="0" bIns="0" rtlCol="0" anchor="ctr"/>
          <a:lstStyle/>
          <a:p>
            <a:pPr algn="ctr" indent="0" marL="0">
              <a:buNone/>
            </a:pPr>
            <a:r>
              <a:rPr lang="en-US" sz="1300" dirty="0">
                <a:solidFill>
                  <a:srgbClr val="5B6478"/>
                </a:solidFill>
                <a:latin typeface="Courier New" pitchFamily="34" charset="0"/>
                <a:ea typeface="Courier New" pitchFamily="34" charset="-122"/>
                <a:cs typeface="Courier New" pitchFamily="34" charset="-120"/>
              </a:rPr>
              <a:t>0</a:t>
            </a:r>
            <a:endParaRPr lang="en-US" sz="1300" dirty="0"/>
          </a:p>
        </p:txBody>
      </p:sp>
      <p:sp>
        <p:nvSpPr>
          <p:cNvPr id="21" name="Shape 18"/>
          <p:cNvSpPr/>
          <p:nvPr/>
        </p:nvSpPr>
        <p:spPr>
          <a:xfrm>
            <a:off x="9601200" y="2057400"/>
            <a:ext cx="685800" cy="457200"/>
          </a:xfrm>
          <a:prstGeom prst="rect">
            <a:avLst/>
          </a:prstGeom>
          <a:solidFill>
            <a:srgbClr val="FFFFFF"/>
          </a:solidFill>
          <a:ln w="9525">
            <a:solidFill>
              <a:srgbClr val="8A94AB"/>
            </a:solidFill>
            <a:prstDash val="solid"/>
          </a:ln>
        </p:spPr>
      </p:sp>
      <p:sp>
        <p:nvSpPr>
          <p:cNvPr id="22" name="Text 19"/>
          <p:cNvSpPr txBox="1"/>
          <p:nvPr/>
        </p:nvSpPr>
        <p:spPr>
          <a:xfrm>
            <a:off x="9601200" y="2057400"/>
            <a:ext cx="685800" cy="457200"/>
          </a:xfrm>
          <a:prstGeom prst="rect">
            <a:avLst/>
          </a:prstGeom>
          <a:noFill/>
          <a:ln/>
        </p:spPr>
        <p:txBody>
          <a:bodyPr wrap="square" lIns="0" tIns="0" rIns="0" bIns="0" rtlCol="0" anchor="ctr"/>
          <a:lstStyle/>
          <a:p>
            <a:pPr algn="ctr" indent="0" marL="0">
              <a:buNone/>
            </a:pPr>
            <a:r>
              <a:rPr lang="en-US" sz="1200" b="1" dirty="0">
                <a:solidFill>
                  <a:srgbClr val="14213D"/>
                </a:solidFill>
                <a:latin typeface="Courier New" pitchFamily="34" charset="0"/>
                <a:ea typeface="Courier New" pitchFamily="34" charset="-122"/>
                <a:cs typeface="Courier New" pitchFamily="34" charset="-120"/>
              </a:rPr>
              <a:t>"16"</a:t>
            </a:r>
            <a:endParaRPr lang="en-US" sz="1200" dirty="0"/>
          </a:p>
        </p:txBody>
      </p:sp>
      <p:sp>
        <p:nvSpPr>
          <p:cNvPr id="23" name="Text 20"/>
          <p:cNvSpPr txBox="1"/>
          <p:nvPr/>
        </p:nvSpPr>
        <p:spPr>
          <a:xfrm>
            <a:off x="9601200" y="2542032"/>
            <a:ext cx="685800" cy="256032"/>
          </a:xfrm>
          <a:prstGeom prst="rect">
            <a:avLst/>
          </a:prstGeom>
          <a:noFill/>
          <a:ln/>
        </p:spPr>
        <p:txBody>
          <a:bodyPr wrap="square" lIns="0" tIns="0" rIns="0" bIns="0" rtlCol="0" anchor="ctr"/>
          <a:lstStyle/>
          <a:p>
            <a:pPr algn="ctr" indent="0" marL="0">
              <a:buNone/>
            </a:pPr>
            <a:r>
              <a:rPr lang="en-US" sz="1300" dirty="0">
                <a:solidFill>
                  <a:srgbClr val="5B6478"/>
                </a:solidFill>
                <a:latin typeface="Courier New" pitchFamily="34" charset="0"/>
                <a:ea typeface="Courier New" pitchFamily="34" charset="-122"/>
                <a:cs typeface="Courier New" pitchFamily="34" charset="-120"/>
              </a:rPr>
              <a:t>1</a:t>
            </a:r>
            <a:endParaRPr lang="en-US" sz="1300" dirty="0"/>
          </a:p>
        </p:txBody>
      </p:sp>
      <p:sp>
        <p:nvSpPr>
          <p:cNvPr id="24" name="Shape 21"/>
          <p:cNvSpPr/>
          <p:nvPr/>
        </p:nvSpPr>
        <p:spPr>
          <a:xfrm>
            <a:off x="10287000" y="2057400"/>
            <a:ext cx="685800" cy="457200"/>
          </a:xfrm>
          <a:prstGeom prst="rect">
            <a:avLst/>
          </a:prstGeom>
          <a:solidFill>
            <a:srgbClr val="FFFFFF"/>
          </a:solidFill>
          <a:ln w="9525">
            <a:solidFill>
              <a:srgbClr val="8A94AB"/>
            </a:solidFill>
            <a:prstDash val="solid"/>
          </a:ln>
        </p:spPr>
      </p:sp>
      <p:sp>
        <p:nvSpPr>
          <p:cNvPr id="25" name="Text 22"/>
          <p:cNvSpPr txBox="1"/>
          <p:nvPr/>
        </p:nvSpPr>
        <p:spPr>
          <a:xfrm>
            <a:off x="10287000" y="2057400"/>
            <a:ext cx="685800" cy="457200"/>
          </a:xfrm>
          <a:prstGeom prst="rect">
            <a:avLst/>
          </a:prstGeom>
          <a:noFill/>
          <a:ln/>
        </p:spPr>
        <p:txBody>
          <a:bodyPr wrap="square" lIns="0" tIns="0" rIns="0" bIns="0" rtlCol="0" anchor="ctr"/>
          <a:lstStyle/>
          <a:p>
            <a:pPr algn="ctr" indent="0" marL="0">
              <a:buNone/>
            </a:pPr>
            <a:r>
              <a:rPr lang="en-US" sz="1200" b="1" dirty="0">
                <a:solidFill>
                  <a:srgbClr val="14213D"/>
                </a:solidFill>
                <a:latin typeface="Courier New" pitchFamily="34" charset="0"/>
                <a:ea typeface="Courier New" pitchFamily="34" charset="-122"/>
                <a:cs typeface="Courier New" pitchFamily="34" charset="-120"/>
              </a:rPr>
              <a:t>"13.5"</a:t>
            </a:r>
            <a:endParaRPr lang="en-US" sz="1200" dirty="0"/>
          </a:p>
        </p:txBody>
      </p:sp>
      <p:sp>
        <p:nvSpPr>
          <p:cNvPr id="26" name="Text 23"/>
          <p:cNvSpPr txBox="1"/>
          <p:nvPr/>
        </p:nvSpPr>
        <p:spPr>
          <a:xfrm>
            <a:off x="10287000" y="2542032"/>
            <a:ext cx="685800" cy="256032"/>
          </a:xfrm>
          <a:prstGeom prst="rect">
            <a:avLst/>
          </a:prstGeom>
          <a:noFill/>
          <a:ln/>
        </p:spPr>
        <p:txBody>
          <a:bodyPr wrap="square" lIns="0" tIns="0" rIns="0" bIns="0" rtlCol="0" anchor="ctr"/>
          <a:lstStyle/>
          <a:p>
            <a:pPr algn="ctr" indent="0" marL="0">
              <a:buNone/>
            </a:pPr>
            <a:r>
              <a:rPr lang="en-US" sz="1300" dirty="0">
                <a:solidFill>
                  <a:srgbClr val="5B6478"/>
                </a:solidFill>
                <a:latin typeface="Courier New" pitchFamily="34" charset="0"/>
                <a:ea typeface="Courier New" pitchFamily="34" charset="-122"/>
                <a:cs typeface="Courier New" pitchFamily="34" charset="-120"/>
              </a:rPr>
              <a:t>2</a:t>
            </a:r>
            <a:endParaRPr lang="en-US" sz="1300" dirty="0"/>
          </a:p>
        </p:txBody>
      </p:sp>
      <p:sp>
        <p:nvSpPr>
          <p:cNvPr id="27" name="Shape 24"/>
          <p:cNvSpPr/>
          <p:nvPr/>
        </p:nvSpPr>
        <p:spPr>
          <a:xfrm>
            <a:off x="10972800" y="2057400"/>
            <a:ext cx="685800" cy="457200"/>
          </a:xfrm>
          <a:prstGeom prst="rect">
            <a:avLst/>
          </a:prstGeom>
          <a:solidFill>
            <a:srgbClr val="FFFFFF"/>
          </a:solidFill>
          <a:ln w="9525">
            <a:solidFill>
              <a:srgbClr val="8A94AB"/>
            </a:solidFill>
            <a:prstDash val="solid"/>
          </a:ln>
        </p:spPr>
      </p:sp>
      <p:sp>
        <p:nvSpPr>
          <p:cNvPr id="28" name="Text 25"/>
          <p:cNvSpPr txBox="1"/>
          <p:nvPr/>
        </p:nvSpPr>
        <p:spPr>
          <a:xfrm>
            <a:off x="10972800" y="2057400"/>
            <a:ext cx="685800" cy="457200"/>
          </a:xfrm>
          <a:prstGeom prst="rect">
            <a:avLst/>
          </a:prstGeom>
          <a:noFill/>
          <a:ln/>
        </p:spPr>
        <p:txBody>
          <a:bodyPr wrap="square" lIns="0" tIns="0" rIns="0" bIns="0" rtlCol="0" anchor="ctr"/>
          <a:lstStyle/>
          <a:p>
            <a:pPr algn="ctr" indent="0" marL="0">
              <a:buNone/>
            </a:pPr>
            <a:r>
              <a:rPr lang="en-US" sz="1200" b="1" dirty="0">
                <a:solidFill>
                  <a:srgbClr val="14213D"/>
                </a:solidFill>
                <a:latin typeface="Courier New" pitchFamily="34" charset="0"/>
                <a:ea typeface="Courier New" pitchFamily="34" charset="-122"/>
                <a:cs typeface="Courier New" pitchFamily="34" charset="-120"/>
              </a:rPr>
              <a:t>"…"</a:t>
            </a:r>
            <a:endParaRPr lang="en-US" sz="1200" dirty="0"/>
          </a:p>
        </p:txBody>
      </p:sp>
      <p:sp>
        <p:nvSpPr>
          <p:cNvPr id="29" name="Text 26"/>
          <p:cNvSpPr txBox="1"/>
          <p:nvPr/>
        </p:nvSpPr>
        <p:spPr>
          <a:xfrm>
            <a:off x="10972800" y="2542032"/>
            <a:ext cx="685800" cy="256032"/>
          </a:xfrm>
          <a:prstGeom prst="rect">
            <a:avLst/>
          </a:prstGeom>
          <a:noFill/>
          <a:ln/>
        </p:spPr>
        <p:txBody>
          <a:bodyPr wrap="square" lIns="0" tIns="0" rIns="0" bIns="0" rtlCol="0" anchor="ctr"/>
          <a:lstStyle/>
          <a:p>
            <a:pPr algn="ctr" indent="0" marL="0">
              <a:buNone/>
            </a:pPr>
            <a:r>
              <a:rPr lang="en-US" sz="1300" dirty="0">
                <a:solidFill>
                  <a:srgbClr val="5B6478"/>
                </a:solidFill>
                <a:latin typeface="Courier New" pitchFamily="34" charset="0"/>
                <a:ea typeface="Courier New" pitchFamily="34" charset="-122"/>
                <a:cs typeface="Courier New" pitchFamily="34" charset="-120"/>
              </a:rPr>
              <a:t>3</a:t>
            </a:r>
            <a:endParaRPr lang="en-US" sz="1300" dirty="0"/>
          </a:p>
        </p:txBody>
      </p:sp>
      <p:sp>
        <p:nvSpPr>
          <p:cNvPr id="30" name="Text 27"/>
          <p:cNvSpPr txBox="1"/>
          <p:nvPr/>
        </p:nvSpPr>
        <p:spPr>
          <a:xfrm>
            <a:off x="8915400" y="2880360"/>
            <a:ext cx="2743200" cy="914400"/>
          </a:xfrm>
          <a:prstGeom prst="rect">
            <a:avLst/>
          </a:prstGeom>
          <a:noFill/>
          <a:ln/>
        </p:spPr>
        <p:txBody>
          <a:bodyPr wrap="square" lIns="0" tIns="0" rIns="0" bIns="0" rtlCol="0" anchor="t"/>
          <a:lstStyle/>
          <a:p>
            <a:pPr indent="0" marL="0">
              <a:buNone/>
            </a:pPr>
            <a:r>
              <a:rPr lang="en-US" sz="1300" dirty="0">
                <a:solidFill>
                  <a:srgbClr val="333B4F"/>
                </a:solidFill>
                <a:latin typeface="Calibri" pitchFamily="34" charset="0"/>
                <a:ea typeface="Calibri" pitchFamily="34" charset="-122"/>
                <a:cs typeface="Calibri" pitchFamily="34" charset="-120"/>
              </a:rPr>
              <a:t>ReadAllLines → </a:t>
            </a:r>
            <a:pPr indent="0" marL="0">
              <a:buNone/>
            </a:pPr>
            <a:r>
              <a:rPr lang="en-US" sz="1300" b="1" dirty="0">
                <a:solidFill>
                  <a:srgbClr val="14213D"/>
                </a:solidFill>
                <a:latin typeface="Courier New" pitchFamily="34" charset="0"/>
                <a:ea typeface="Courier New" pitchFamily="34" charset="-122"/>
                <a:cs typeface="Courier New" pitchFamily="34" charset="-120"/>
              </a:rPr>
              <a:t>loaded[1]</a:t>
            </a:r>
            <a:pPr indent="0" marL="0">
              <a:buNone/>
            </a:pPr>
            <a:r>
              <a:rPr lang="en-US" sz="1300" dirty="0">
                <a:solidFill>
                  <a:srgbClr val="333B4F"/>
                </a:solidFill>
                <a:latin typeface="Calibri" pitchFamily="34" charset="0"/>
                <a:ea typeface="Calibri" pitchFamily="34" charset="-122"/>
                <a:cs typeface="Calibri" pitchFamily="34" charset="-120"/>
              </a:rPr>
              <a:t> is "16"; </a:t>
            </a:r>
            <a:pPr indent="0" marL="0">
              <a:buNone/>
            </a:pPr>
            <a:r>
              <a:rPr lang="en-US" sz="1300" b="1" dirty="0">
                <a:solidFill>
                  <a:srgbClr val="14213D"/>
                </a:solidFill>
                <a:latin typeface="Courier New" pitchFamily="34" charset="0"/>
                <a:ea typeface="Courier New" pitchFamily="34" charset="-122"/>
                <a:cs typeface="Courier New" pitchFamily="34" charset="-120"/>
              </a:rPr>
              <a:t>loaded.Length</a:t>
            </a:r>
            <a:pPr indent="0" marL="0">
              <a:buNone/>
            </a:pPr>
            <a:r>
              <a:rPr lang="en-US" sz="1300" dirty="0">
                <a:solidFill>
                  <a:srgbClr val="333B4F"/>
                </a:solidFill>
                <a:latin typeface="Calibri" pitchFamily="34" charset="0"/>
                <a:ea typeface="Calibri" pitchFamily="34" charset="-122"/>
                <a:cs typeface="Calibri" pitchFamily="34" charset="-120"/>
              </a:rPr>
              <a:t> is 8</a:t>
            </a:r>
            <a:endParaRPr lang="en-US" sz="1300" dirty="0"/>
          </a:p>
        </p:txBody>
      </p:sp>
      <p:sp>
        <p:nvSpPr>
          <p:cNvPr id="31" name="Shape 28"/>
          <p:cNvSpPr/>
          <p:nvPr/>
        </p:nvSpPr>
        <p:spPr>
          <a:xfrm>
            <a:off x="6903720" y="4800600"/>
            <a:ext cx="4754880" cy="1280160"/>
          </a:xfrm>
          <a:prstGeom prst="roundRect">
            <a:avLst>
              <a:gd name="adj" fmla="val 7143"/>
            </a:avLst>
          </a:prstGeom>
          <a:solidFill>
            <a:srgbClr val="0B0F19"/>
          </a:solidFill>
          <a:ln w="12700">
            <a:solidFill>
              <a:srgbClr val="2A3654"/>
            </a:solidFill>
            <a:prstDash val="solid"/>
          </a:ln>
        </p:spPr>
      </p:sp>
      <p:sp>
        <p:nvSpPr>
          <p:cNvPr id="32" name="Shape 29"/>
          <p:cNvSpPr/>
          <p:nvPr/>
        </p:nvSpPr>
        <p:spPr>
          <a:xfrm>
            <a:off x="7086600" y="4928616"/>
            <a:ext cx="118872" cy="118872"/>
          </a:xfrm>
          <a:prstGeom prst="ellipse">
            <a:avLst/>
          </a:prstGeom>
          <a:solidFill>
            <a:srgbClr val="FF5F57"/>
          </a:solidFill>
          <a:ln w="12700">
            <a:solidFill>
              <a:srgbClr val="FF5F57"/>
            </a:solidFill>
            <a:prstDash val="solid"/>
          </a:ln>
        </p:spPr>
      </p:sp>
      <p:sp>
        <p:nvSpPr>
          <p:cNvPr id="33" name="Shape 30"/>
          <p:cNvSpPr/>
          <p:nvPr/>
        </p:nvSpPr>
        <p:spPr>
          <a:xfrm>
            <a:off x="7315200" y="4928616"/>
            <a:ext cx="118872" cy="118872"/>
          </a:xfrm>
          <a:prstGeom prst="ellipse">
            <a:avLst/>
          </a:prstGeom>
          <a:solidFill>
            <a:srgbClr val="FEBC2E"/>
          </a:solidFill>
          <a:ln w="12700">
            <a:solidFill>
              <a:srgbClr val="FEBC2E"/>
            </a:solidFill>
            <a:prstDash val="solid"/>
          </a:ln>
        </p:spPr>
      </p:sp>
      <p:sp>
        <p:nvSpPr>
          <p:cNvPr id="34" name="Shape 31"/>
          <p:cNvSpPr/>
          <p:nvPr/>
        </p:nvSpPr>
        <p:spPr>
          <a:xfrm>
            <a:off x="7543800" y="4928616"/>
            <a:ext cx="118872" cy="118872"/>
          </a:xfrm>
          <a:prstGeom prst="ellipse">
            <a:avLst/>
          </a:prstGeom>
          <a:solidFill>
            <a:srgbClr val="28C840"/>
          </a:solidFill>
          <a:ln w="12700">
            <a:solidFill>
              <a:srgbClr val="28C840"/>
            </a:solidFill>
            <a:prstDash val="solid"/>
          </a:ln>
        </p:spPr>
      </p:sp>
      <p:sp>
        <p:nvSpPr>
          <p:cNvPr id="35" name="Text 32"/>
          <p:cNvSpPr txBox="1"/>
          <p:nvPr/>
        </p:nvSpPr>
        <p:spPr>
          <a:xfrm>
            <a:off x="7818120" y="4873752"/>
            <a:ext cx="365760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Console</a:t>
            </a:r>
            <a:endParaRPr lang="en-US" sz="1000" dirty="0"/>
          </a:p>
        </p:txBody>
      </p:sp>
      <p:sp>
        <p:nvSpPr>
          <p:cNvPr id="36" name="Text 33"/>
          <p:cNvSpPr txBox="1"/>
          <p:nvPr/>
        </p:nvSpPr>
        <p:spPr>
          <a:xfrm>
            <a:off x="7132320" y="5184648"/>
            <a:ext cx="4297680" cy="777240"/>
          </a:xfrm>
          <a:prstGeom prst="rect">
            <a:avLst/>
          </a:prstGeom>
          <a:noFill/>
          <a:ln/>
        </p:spPr>
        <p:txBody>
          <a:bodyPr wrap="square" lIns="0" tIns="0" rIns="0" bIns="0" rtlCol="0" anchor="t"/>
          <a:lstStyle/>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Average: 16.88 C</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Warmest: day 8 with 21.0 C</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EXAMPLE 3 · STREAMS</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StreamWriter and StreamReader: line by line, inside using</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14</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10</a:t>
            </a:r>
            <a:endParaRPr lang="en-US" sz="1000" dirty="0"/>
          </a:p>
        </p:txBody>
      </p:sp>
      <p:sp>
        <p:nvSpPr>
          <p:cNvPr id="7" name="Shape 4"/>
          <p:cNvSpPr/>
          <p:nvPr/>
        </p:nvSpPr>
        <p:spPr>
          <a:xfrm>
            <a:off x="548640" y="1645920"/>
            <a:ext cx="5760720" cy="2834640"/>
          </a:xfrm>
          <a:prstGeom prst="roundRect">
            <a:avLst>
              <a:gd name="adj" fmla="val 3226"/>
            </a:avLst>
          </a:prstGeom>
          <a:solidFill>
            <a:srgbClr val="0F1729"/>
          </a:solidFill>
          <a:ln w="12700">
            <a:solidFill>
              <a:srgbClr val="0F1729"/>
            </a:solidFill>
            <a:prstDash val="solid"/>
          </a:ln>
        </p:spPr>
      </p:sp>
      <p:sp>
        <p:nvSpPr>
          <p:cNvPr id="8" name="Text 5"/>
          <p:cNvSpPr txBox="1"/>
          <p:nvPr/>
        </p:nvSpPr>
        <p:spPr>
          <a:xfrm>
            <a:off x="777240" y="1755648"/>
            <a:ext cx="530352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write: file stays open in the loop</a:t>
            </a:r>
            <a:endParaRPr lang="en-US" sz="1100" dirty="0"/>
          </a:p>
        </p:txBody>
      </p:sp>
      <p:sp>
        <p:nvSpPr>
          <p:cNvPr id="9" name="Text 6"/>
          <p:cNvSpPr txBox="1"/>
          <p:nvPr/>
        </p:nvSpPr>
        <p:spPr>
          <a:xfrm>
            <a:off x="777240" y="2057400"/>
            <a:ext cx="5303520" cy="2313432"/>
          </a:xfrm>
          <a:prstGeom prst="rect">
            <a:avLst/>
          </a:prstGeom>
          <a:noFill/>
          <a:ln/>
        </p:spPr>
        <p:txBody>
          <a:bodyPr wrap="square" lIns="0" tIns="0" rIns="0" bIns="0" rtlCol="0" anchor="t"/>
          <a:lstStyle/>
          <a:p>
            <a:pPr indent="0" marL="0">
              <a:spcAft>
                <a:spcPts val="100"/>
              </a:spcAft>
              <a:buNone/>
            </a:pPr>
            <a:r>
              <a:rPr lang="en-US" sz="1250" dirty="0">
                <a:solidFill>
                  <a:srgbClr val="7AB8FF"/>
                </a:solidFill>
                <a:latin typeface="Courier New" pitchFamily="34" charset="0"/>
                <a:ea typeface="Courier New" pitchFamily="34" charset="-122"/>
                <a:cs typeface="Courier New" pitchFamily="34" charset="-120"/>
              </a:rPr>
              <a:t>using</a:t>
            </a:r>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 (StreamWriter writer = </a:t>
            </a:r>
            <a:pPr indent="0" marL="0">
              <a:spcAft>
                <a:spcPts val="100"/>
              </a:spcAft>
              <a:buNone/>
            </a:pPr>
            <a:r>
              <a:rPr lang="en-US" sz="1250" dirty="0">
                <a:solidFill>
                  <a:srgbClr val="7AB8FF"/>
                </a:solidFill>
                <a:latin typeface="Courier New" pitchFamily="34" charset="0"/>
                <a:ea typeface="Courier New" pitchFamily="34" charset="-122"/>
                <a:cs typeface="Courier New" pitchFamily="34" charset="-120"/>
              </a:rPr>
              <a:t>new</a:t>
            </a:r>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 StreamWriter(path))</a:t>
            </a:r>
            <a:endParaRPr lang="en-US" sz="1250" dirty="0"/>
          </a:p>
          <a:p>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a:t>
            </a:r>
            <a:endParaRPr lang="en-US" sz="1250" dirty="0"/>
          </a:p>
          <a:p>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    writer.WriteLine(</a:t>
            </a:r>
            <a:pPr indent="0" marL="0">
              <a:spcAft>
                <a:spcPts val="100"/>
              </a:spcAft>
              <a:buNone/>
            </a:pPr>
            <a:r>
              <a:rPr lang="en-US" sz="1250" dirty="0">
                <a:solidFill>
                  <a:srgbClr val="CE9178"/>
                </a:solidFill>
                <a:latin typeface="Courier New" pitchFamily="34" charset="0"/>
                <a:ea typeface="Courier New" pitchFamily="34" charset="-122"/>
                <a:cs typeface="Courier New" pitchFamily="34" charset="-120"/>
              </a:rPr>
              <a:t>$"Multiplication table for {n}"</a:t>
            </a:r>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a:t>
            </a:r>
            <a:endParaRPr lang="en-US" sz="1250" dirty="0"/>
          </a:p>
          <a:p>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50" dirty="0">
                <a:solidFill>
                  <a:srgbClr val="7AB8FF"/>
                </a:solidFill>
                <a:latin typeface="Courier New" pitchFamily="34" charset="0"/>
                <a:ea typeface="Courier New" pitchFamily="34" charset="-122"/>
                <a:cs typeface="Courier New" pitchFamily="34" charset="-120"/>
              </a:rPr>
              <a:t>for</a:t>
            </a:r>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5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 i = </a:t>
            </a:r>
            <a:pPr indent="0" marL="0">
              <a:spcAft>
                <a:spcPts val="100"/>
              </a:spcAft>
              <a:buNone/>
            </a:pPr>
            <a:r>
              <a:rPr lang="en-US" sz="125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 i &lt;= </a:t>
            </a:r>
            <a:pPr indent="0" marL="0">
              <a:spcAft>
                <a:spcPts val="100"/>
              </a:spcAft>
              <a:buNone/>
            </a:pPr>
            <a:r>
              <a:rPr lang="en-US" sz="1250" dirty="0">
                <a:solidFill>
                  <a:srgbClr val="B5CEA8"/>
                </a:solidFill>
                <a:latin typeface="Courier New" pitchFamily="34" charset="0"/>
                <a:ea typeface="Courier New" pitchFamily="34" charset="-122"/>
                <a:cs typeface="Courier New" pitchFamily="34" charset="-120"/>
              </a:rPr>
              <a:t>10</a:t>
            </a:r>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 i++)</a:t>
            </a:r>
            <a:endParaRPr lang="en-US" sz="1250" dirty="0"/>
          </a:p>
          <a:p>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    {</a:t>
            </a:r>
            <a:endParaRPr lang="en-US" sz="1250" dirty="0"/>
          </a:p>
          <a:p>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        writer.WriteLine(</a:t>
            </a:r>
            <a:pPr indent="0" marL="0">
              <a:spcAft>
                <a:spcPts val="100"/>
              </a:spcAft>
              <a:buNone/>
            </a:pPr>
            <a:r>
              <a:rPr lang="en-US" sz="1250" dirty="0">
                <a:solidFill>
                  <a:srgbClr val="CE9178"/>
                </a:solidFill>
                <a:latin typeface="Courier New" pitchFamily="34" charset="0"/>
                <a:ea typeface="Courier New" pitchFamily="34" charset="-122"/>
                <a:cs typeface="Courier New" pitchFamily="34" charset="-120"/>
              </a:rPr>
              <a:t>$"{n} x {i,2} = {n * i,3}"</a:t>
            </a:r>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a:t>
            </a:r>
            <a:endParaRPr lang="en-US" sz="1250" dirty="0"/>
          </a:p>
          <a:p>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    }</a:t>
            </a:r>
            <a:endParaRPr lang="en-US" sz="1250" dirty="0"/>
          </a:p>
          <a:p>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a:t>
            </a:r>
            <a:endParaRPr lang="en-US" sz="1250" dirty="0"/>
          </a:p>
        </p:txBody>
      </p:sp>
      <p:sp>
        <p:nvSpPr>
          <p:cNvPr id="10" name="Shape 7"/>
          <p:cNvSpPr/>
          <p:nvPr/>
        </p:nvSpPr>
        <p:spPr>
          <a:xfrm>
            <a:off x="6492240" y="1645920"/>
            <a:ext cx="5166360" cy="2834640"/>
          </a:xfrm>
          <a:prstGeom prst="roundRect">
            <a:avLst>
              <a:gd name="adj" fmla="val 3226"/>
            </a:avLst>
          </a:prstGeom>
          <a:solidFill>
            <a:srgbClr val="0F1729"/>
          </a:solidFill>
          <a:ln w="12700">
            <a:solidFill>
              <a:srgbClr val="0F1729"/>
            </a:solidFill>
            <a:prstDash val="solid"/>
          </a:ln>
        </p:spPr>
      </p:sp>
      <p:sp>
        <p:nvSpPr>
          <p:cNvPr id="11" name="Text 8"/>
          <p:cNvSpPr txBox="1"/>
          <p:nvPr/>
        </p:nvSpPr>
        <p:spPr>
          <a:xfrm>
            <a:off x="6720840" y="1755648"/>
            <a:ext cx="470916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read: until ReadLine() returns null</a:t>
            </a:r>
            <a:endParaRPr lang="en-US" sz="1100" dirty="0"/>
          </a:p>
        </p:txBody>
      </p:sp>
      <p:sp>
        <p:nvSpPr>
          <p:cNvPr id="12" name="Text 9"/>
          <p:cNvSpPr txBox="1"/>
          <p:nvPr/>
        </p:nvSpPr>
        <p:spPr>
          <a:xfrm>
            <a:off x="6720840" y="2057400"/>
            <a:ext cx="4709160" cy="2313432"/>
          </a:xfrm>
          <a:prstGeom prst="rect">
            <a:avLst/>
          </a:prstGeom>
          <a:noFill/>
          <a:ln/>
        </p:spPr>
        <p:txBody>
          <a:bodyPr wrap="square" lIns="0" tIns="0" rIns="0" bIns="0" rtlCol="0" anchor="t"/>
          <a:lstStyle/>
          <a:p>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string</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line = reader.ReadLine();</a:t>
            </a:r>
            <a:endParaRPr lang="en-US" sz="1300" dirty="0"/>
          </a:p>
          <a:p>
            <a:pPr indent="0" marL="0">
              <a:spcAft>
                <a:spcPts val="100"/>
              </a:spcAft>
              <a:buNone/>
            </a:pPr>
            <a:r>
              <a:rPr lang="en-US" sz="1300" dirty="0">
                <a:solidFill>
                  <a:srgbClr val="7AB8FF"/>
                </a:solidFill>
                <a:latin typeface="Courier New" pitchFamily="34" charset="0"/>
                <a:ea typeface="Courier New" pitchFamily="34" charset="-122"/>
                <a:cs typeface="Courier New" pitchFamily="34" charset="-120"/>
              </a:rPr>
              <a:t>while</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(line != </a:t>
            </a:r>
            <a:pPr indent="0" marL="0">
              <a:spcAft>
                <a:spcPts val="100"/>
              </a:spcAft>
              <a:buNone/>
            </a:pPr>
            <a:r>
              <a:rPr lang="en-US" sz="1300" dirty="0">
                <a:solidFill>
                  <a:srgbClr val="7AB8FF"/>
                </a:solidFill>
                <a:latin typeface="Courier New" pitchFamily="34" charset="0"/>
                <a:ea typeface="Courier New" pitchFamily="34" charset="-122"/>
                <a:cs typeface="Courier New" pitchFamily="34" charset="-120"/>
              </a:rPr>
              <a:t>null</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lineNo++;</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300" dirty="0">
                <a:solidFill>
                  <a:srgbClr val="CE9178"/>
                </a:solidFill>
                <a:latin typeface="Courier New" pitchFamily="34" charset="0"/>
                <a:ea typeface="Courier New" pitchFamily="34" charset="-122"/>
                <a:cs typeface="Courier New" pitchFamily="34" charset="-120"/>
              </a:rPr>
              <a:t>$"{lineNo,2}| {line}"</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line = reader.ReadLine();</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p:txBody>
      </p:sp>
      <p:sp>
        <p:nvSpPr>
          <p:cNvPr id="13" name="Shape 10"/>
          <p:cNvSpPr/>
          <p:nvPr/>
        </p:nvSpPr>
        <p:spPr>
          <a:xfrm>
            <a:off x="548640" y="4617720"/>
            <a:ext cx="5760720" cy="1463040"/>
          </a:xfrm>
          <a:prstGeom prst="roundRect">
            <a:avLst>
              <a:gd name="adj" fmla="val 6250"/>
            </a:avLst>
          </a:prstGeom>
          <a:solidFill>
            <a:srgbClr val="0B0F19"/>
          </a:solidFill>
          <a:ln w="12700">
            <a:solidFill>
              <a:srgbClr val="2A3654"/>
            </a:solidFill>
            <a:prstDash val="solid"/>
          </a:ln>
        </p:spPr>
      </p:sp>
      <p:sp>
        <p:nvSpPr>
          <p:cNvPr id="14" name="Shape 11"/>
          <p:cNvSpPr/>
          <p:nvPr/>
        </p:nvSpPr>
        <p:spPr>
          <a:xfrm>
            <a:off x="731520" y="4745736"/>
            <a:ext cx="118872" cy="118872"/>
          </a:xfrm>
          <a:prstGeom prst="ellipse">
            <a:avLst/>
          </a:prstGeom>
          <a:solidFill>
            <a:srgbClr val="FF5F57"/>
          </a:solidFill>
          <a:ln w="12700">
            <a:solidFill>
              <a:srgbClr val="FF5F57"/>
            </a:solidFill>
            <a:prstDash val="solid"/>
          </a:ln>
        </p:spPr>
      </p:sp>
      <p:sp>
        <p:nvSpPr>
          <p:cNvPr id="15" name="Shape 12"/>
          <p:cNvSpPr/>
          <p:nvPr/>
        </p:nvSpPr>
        <p:spPr>
          <a:xfrm>
            <a:off x="960120" y="4745736"/>
            <a:ext cx="118872" cy="118872"/>
          </a:xfrm>
          <a:prstGeom prst="ellipse">
            <a:avLst/>
          </a:prstGeom>
          <a:solidFill>
            <a:srgbClr val="FEBC2E"/>
          </a:solidFill>
          <a:ln w="12700">
            <a:solidFill>
              <a:srgbClr val="FEBC2E"/>
            </a:solidFill>
            <a:prstDash val="solid"/>
          </a:ln>
        </p:spPr>
      </p:sp>
      <p:sp>
        <p:nvSpPr>
          <p:cNvPr id="16" name="Shape 13"/>
          <p:cNvSpPr/>
          <p:nvPr/>
        </p:nvSpPr>
        <p:spPr>
          <a:xfrm>
            <a:off x="1188720" y="4745736"/>
            <a:ext cx="118872" cy="118872"/>
          </a:xfrm>
          <a:prstGeom prst="ellipse">
            <a:avLst/>
          </a:prstGeom>
          <a:solidFill>
            <a:srgbClr val="28C840"/>
          </a:solidFill>
          <a:ln w="12700">
            <a:solidFill>
              <a:srgbClr val="28C840"/>
            </a:solidFill>
            <a:prstDash val="solid"/>
          </a:ln>
        </p:spPr>
      </p:sp>
      <p:sp>
        <p:nvSpPr>
          <p:cNvPr id="17" name="Text 14"/>
          <p:cNvSpPr txBox="1"/>
          <p:nvPr/>
        </p:nvSpPr>
        <p:spPr>
          <a:xfrm>
            <a:off x="1463040" y="4690872"/>
            <a:ext cx="466344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Console</a:t>
            </a:r>
            <a:endParaRPr lang="en-US" sz="1000" dirty="0"/>
          </a:p>
        </p:txBody>
      </p:sp>
      <p:sp>
        <p:nvSpPr>
          <p:cNvPr id="18" name="Text 15"/>
          <p:cNvSpPr txBox="1"/>
          <p:nvPr/>
        </p:nvSpPr>
        <p:spPr>
          <a:xfrm>
            <a:off x="777240" y="5001768"/>
            <a:ext cx="5303520" cy="960120"/>
          </a:xfrm>
          <a:prstGeom prst="rect">
            <a:avLst/>
          </a:prstGeom>
          <a:noFill/>
          <a:ln/>
        </p:spPr>
        <p:txBody>
          <a:bodyPr wrap="square" lIns="0" tIns="0" rIns="0" bIns="0" rtlCol="0" anchor="t"/>
          <a:lstStyle/>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Multiplication table for n = </a:t>
            </a:r>
            <a:pPr indent="0" marL="0">
              <a:spcAft>
                <a:spcPts val="100"/>
              </a:spcAft>
              <a:buNone/>
            </a:pPr>
            <a:r>
              <a:rPr lang="en-US" sz="1200" b="1" dirty="0">
                <a:solidFill>
                  <a:srgbClr val="FCA311"/>
                </a:solidFill>
                <a:latin typeface="Courier New" pitchFamily="34" charset="0"/>
                <a:ea typeface="Courier New" pitchFamily="34" charset="-122"/>
                <a:cs typeface="Courier New" pitchFamily="34" charset="-120"/>
              </a:rPr>
              <a:t>7</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Saved table_7.txt</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 1| Multiplication table for 7</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 2| 7 x  1 =   7</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a:t>
            </a:r>
            <a:endParaRPr lang="en-US" sz="1200" dirty="0"/>
          </a:p>
        </p:txBody>
      </p:sp>
      <p:sp>
        <p:nvSpPr>
          <p:cNvPr id="19" name="Shape 16"/>
          <p:cNvSpPr/>
          <p:nvPr/>
        </p:nvSpPr>
        <p:spPr>
          <a:xfrm>
            <a:off x="6492240" y="4617720"/>
            <a:ext cx="5166360" cy="1463040"/>
          </a:xfrm>
          <a:prstGeom prst="roundRect">
            <a:avLst>
              <a:gd name="adj" fmla="val 6250"/>
            </a:avLst>
          </a:prstGeom>
          <a:solidFill>
            <a:srgbClr val="0B0F19"/>
          </a:solidFill>
          <a:ln w="12700">
            <a:solidFill>
              <a:srgbClr val="2A3654"/>
            </a:solidFill>
            <a:prstDash val="solid"/>
          </a:ln>
        </p:spPr>
      </p:sp>
      <p:sp>
        <p:nvSpPr>
          <p:cNvPr id="20" name="Shape 17"/>
          <p:cNvSpPr/>
          <p:nvPr/>
        </p:nvSpPr>
        <p:spPr>
          <a:xfrm>
            <a:off x="6675120" y="4745736"/>
            <a:ext cx="118872" cy="118872"/>
          </a:xfrm>
          <a:prstGeom prst="ellipse">
            <a:avLst/>
          </a:prstGeom>
          <a:solidFill>
            <a:srgbClr val="FF5F57"/>
          </a:solidFill>
          <a:ln w="12700">
            <a:solidFill>
              <a:srgbClr val="FF5F57"/>
            </a:solidFill>
            <a:prstDash val="solid"/>
          </a:ln>
        </p:spPr>
      </p:sp>
      <p:sp>
        <p:nvSpPr>
          <p:cNvPr id="21" name="Shape 18"/>
          <p:cNvSpPr/>
          <p:nvPr/>
        </p:nvSpPr>
        <p:spPr>
          <a:xfrm>
            <a:off x="6903720" y="4745736"/>
            <a:ext cx="118872" cy="118872"/>
          </a:xfrm>
          <a:prstGeom prst="ellipse">
            <a:avLst/>
          </a:prstGeom>
          <a:solidFill>
            <a:srgbClr val="FEBC2E"/>
          </a:solidFill>
          <a:ln w="12700">
            <a:solidFill>
              <a:srgbClr val="FEBC2E"/>
            </a:solidFill>
            <a:prstDash val="solid"/>
          </a:ln>
        </p:spPr>
      </p:sp>
      <p:sp>
        <p:nvSpPr>
          <p:cNvPr id="22" name="Shape 19"/>
          <p:cNvSpPr/>
          <p:nvPr/>
        </p:nvSpPr>
        <p:spPr>
          <a:xfrm>
            <a:off x="7132320" y="4745736"/>
            <a:ext cx="118872" cy="118872"/>
          </a:xfrm>
          <a:prstGeom prst="ellipse">
            <a:avLst/>
          </a:prstGeom>
          <a:solidFill>
            <a:srgbClr val="28C840"/>
          </a:solidFill>
          <a:ln w="12700">
            <a:solidFill>
              <a:srgbClr val="28C840"/>
            </a:solidFill>
            <a:prstDash val="solid"/>
          </a:ln>
        </p:spPr>
      </p:sp>
      <p:sp>
        <p:nvSpPr>
          <p:cNvPr id="23" name="Text 20"/>
          <p:cNvSpPr txBox="1"/>
          <p:nvPr/>
        </p:nvSpPr>
        <p:spPr>
          <a:xfrm>
            <a:off x="7406640" y="4690872"/>
            <a:ext cx="406908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Console</a:t>
            </a:r>
            <a:endParaRPr lang="en-US" sz="1000" dirty="0"/>
          </a:p>
        </p:txBody>
      </p:sp>
      <p:sp>
        <p:nvSpPr>
          <p:cNvPr id="24" name="Text 21"/>
          <p:cNvSpPr txBox="1"/>
          <p:nvPr/>
        </p:nvSpPr>
        <p:spPr>
          <a:xfrm>
            <a:off x="6720840" y="5001768"/>
            <a:ext cx="4709160" cy="960120"/>
          </a:xfrm>
          <a:prstGeom prst="rect">
            <a:avLst/>
          </a:prstGeom>
          <a:noFill/>
          <a:ln/>
        </p:spPr>
        <p:txBody>
          <a:bodyPr wrap="square" lIns="0" tIns="0" rIns="0" bIns="0" rtlCol="0" anchor="t"/>
          <a:lstStyle/>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11| 7 x 10 =  70</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11 lines read</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Now 12 lines, the last one is: -- end of table --</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READING UNTIL THE END</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ReadLine() until null — as a flowchart and two C# forms</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14</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11</a:t>
            </a:r>
            <a:endParaRPr lang="en-US" sz="1000" dirty="0"/>
          </a:p>
        </p:txBody>
      </p:sp>
      <p:sp>
        <p:nvSpPr>
          <p:cNvPr id="7" name="Shape 4"/>
          <p:cNvSpPr/>
          <p:nvPr/>
        </p:nvSpPr>
        <p:spPr>
          <a:xfrm>
            <a:off x="1143000" y="1645920"/>
            <a:ext cx="2011680" cy="457200"/>
          </a:xfrm>
          <a:prstGeom prst="flowChartTerminator">
            <a:avLst/>
          </a:prstGeom>
          <a:solidFill>
            <a:srgbClr val="FFF1D6"/>
          </a:solidFill>
          <a:ln w="15875">
            <a:solidFill>
              <a:srgbClr val="14213D"/>
            </a:solidFill>
            <a:prstDash val="solid"/>
          </a:ln>
        </p:spPr>
      </p:sp>
      <p:sp>
        <p:nvSpPr>
          <p:cNvPr id="8" name="Text 5"/>
          <p:cNvSpPr txBox="1"/>
          <p:nvPr/>
        </p:nvSpPr>
        <p:spPr>
          <a:xfrm>
            <a:off x="1188720" y="1645920"/>
            <a:ext cx="1920240" cy="457200"/>
          </a:xfrm>
          <a:prstGeom prst="rect">
            <a:avLst/>
          </a:prstGeom>
          <a:noFill/>
          <a:ln/>
        </p:spPr>
        <p:txBody>
          <a:bodyPr wrap="square" lIns="0" tIns="0" rIns="0" bIns="0" rtlCol="0" anchor="ctr"/>
          <a:lstStyle/>
          <a:p>
            <a:pPr algn="ctr" indent="0" marL="0">
              <a:buNone/>
            </a:pPr>
            <a:r>
              <a:rPr lang="en-US" sz="1300" dirty="0">
                <a:solidFill>
                  <a:srgbClr val="14213D"/>
                </a:solidFill>
                <a:latin typeface="Calibri" pitchFamily="34" charset="0"/>
                <a:ea typeface="Calibri" pitchFamily="34" charset="-122"/>
                <a:cs typeface="Calibri" pitchFamily="34" charset="-120"/>
              </a:rPr>
              <a:t>Start</a:t>
            </a:r>
            <a:endParaRPr lang="en-US" sz="1300" dirty="0"/>
          </a:p>
        </p:txBody>
      </p:sp>
      <p:sp>
        <p:nvSpPr>
          <p:cNvPr id="9" name="Shape 6"/>
          <p:cNvSpPr/>
          <p:nvPr/>
        </p:nvSpPr>
        <p:spPr>
          <a:xfrm>
            <a:off x="731520" y="2354580"/>
            <a:ext cx="2834640" cy="502920"/>
          </a:xfrm>
          <a:prstGeom prst="flowChartProcess">
            <a:avLst/>
          </a:prstGeom>
          <a:solidFill>
            <a:srgbClr val="FFFFFF"/>
          </a:solidFill>
          <a:ln w="15875">
            <a:solidFill>
              <a:srgbClr val="14213D"/>
            </a:solidFill>
            <a:prstDash val="solid"/>
          </a:ln>
        </p:spPr>
      </p:sp>
      <p:sp>
        <p:nvSpPr>
          <p:cNvPr id="10" name="Text 7"/>
          <p:cNvSpPr txBox="1"/>
          <p:nvPr/>
        </p:nvSpPr>
        <p:spPr>
          <a:xfrm>
            <a:off x="777240" y="2354580"/>
            <a:ext cx="2743200" cy="502920"/>
          </a:xfrm>
          <a:prstGeom prst="rect">
            <a:avLst/>
          </a:prstGeom>
          <a:noFill/>
          <a:ln/>
        </p:spPr>
        <p:txBody>
          <a:bodyPr wrap="square" lIns="0" tIns="0" rIns="0" bIns="0" rtlCol="0" anchor="ctr"/>
          <a:lstStyle/>
          <a:p>
            <a:pPr algn="ctr" indent="0" marL="0">
              <a:buNone/>
            </a:pPr>
            <a:r>
              <a:rPr lang="en-US" sz="1300" dirty="0">
                <a:solidFill>
                  <a:srgbClr val="14213D"/>
                </a:solidFill>
                <a:latin typeface="Calibri" pitchFamily="34" charset="0"/>
                <a:ea typeface="Calibri" pitchFamily="34" charset="-122"/>
                <a:cs typeface="Calibri" pitchFamily="34" charset="-120"/>
              </a:rPr>
              <a:t>open reader</a:t>
            </a:r>
            <a:endParaRPr lang="en-US" sz="1300" dirty="0"/>
          </a:p>
        </p:txBody>
      </p:sp>
      <p:sp>
        <p:nvSpPr>
          <p:cNvPr id="11" name="Shape 8"/>
          <p:cNvSpPr/>
          <p:nvPr/>
        </p:nvSpPr>
        <p:spPr>
          <a:xfrm>
            <a:off x="685800" y="3108960"/>
            <a:ext cx="2926080" cy="548640"/>
          </a:xfrm>
          <a:prstGeom prst="flowChartInputOutput">
            <a:avLst/>
          </a:prstGeom>
          <a:solidFill>
            <a:srgbClr val="FFFFFF"/>
          </a:solidFill>
          <a:ln w="15875">
            <a:solidFill>
              <a:srgbClr val="14213D"/>
            </a:solidFill>
            <a:prstDash val="solid"/>
          </a:ln>
        </p:spPr>
      </p:sp>
      <p:sp>
        <p:nvSpPr>
          <p:cNvPr id="12" name="Text 9"/>
          <p:cNvSpPr txBox="1"/>
          <p:nvPr/>
        </p:nvSpPr>
        <p:spPr>
          <a:xfrm>
            <a:off x="731520" y="3108960"/>
            <a:ext cx="2834640" cy="548640"/>
          </a:xfrm>
          <a:prstGeom prst="rect">
            <a:avLst/>
          </a:prstGeom>
          <a:noFill/>
          <a:ln/>
        </p:spPr>
        <p:txBody>
          <a:bodyPr wrap="square" lIns="0" tIns="0" rIns="0" bIns="0" rtlCol="0" anchor="ctr"/>
          <a:lstStyle/>
          <a:p>
            <a:pPr algn="ctr" indent="0" marL="0">
              <a:buNone/>
            </a:pPr>
            <a:r>
              <a:rPr lang="en-US" sz="1300" dirty="0">
                <a:solidFill>
                  <a:srgbClr val="14213D"/>
                </a:solidFill>
                <a:latin typeface="Calibri" pitchFamily="34" charset="0"/>
                <a:ea typeface="Calibri" pitchFamily="34" charset="-122"/>
                <a:cs typeface="Calibri" pitchFamily="34" charset="-120"/>
              </a:rPr>
              <a:t>line ← ReadLine()</a:t>
            </a:r>
            <a:endParaRPr lang="en-US" sz="1300" dirty="0"/>
          </a:p>
        </p:txBody>
      </p:sp>
      <p:sp>
        <p:nvSpPr>
          <p:cNvPr id="13" name="Shape 10"/>
          <p:cNvSpPr/>
          <p:nvPr/>
        </p:nvSpPr>
        <p:spPr>
          <a:xfrm>
            <a:off x="960120" y="3909060"/>
            <a:ext cx="2377440" cy="868680"/>
          </a:xfrm>
          <a:prstGeom prst="flowChartDecision">
            <a:avLst/>
          </a:prstGeom>
          <a:solidFill>
            <a:srgbClr val="E3ECF8"/>
          </a:solidFill>
          <a:ln w="15875">
            <a:solidFill>
              <a:srgbClr val="14213D"/>
            </a:solidFill>
            <a:prstDash val="solid"/>
          </a:ln>
        </p:spPr>
      </p:sp>
      <p:sp>
        <p:nvSpPr>
          <p:cNvPr id="14" name="Text 11"/>
          <p:cNvSpPr txBox="1"/>
          <p:nvPr/>
        </p:nvSpPr>
        <p:spPr>
          <a:xfrm>
            <a:off x="1005840" y="3909060"/>
            <a:ext cx="2286000" cy="868680"/>
          </a:xfrm>
          <a:prstGeom prst="rect">
            <a:avLst/>
          </a:prstGeom>
          <a:noFill/>
          <a:ln/>
        </p:spPr>
        <p:txBody>
          <a:bodyPr wrap="square" lIns="0" tIns="0" rIns="0" bIns="0" rtlCol="0" anchor="ctr"/>
          <a:lstStyle/>
          <a:p>
            <a:pPr algn="ctr" indent="0" marL="0">
              <a:buNone/>
            </a:pPr>
            <a:r>
              <a:rPr lang="en-US" sz="1300" dirty="0">
                <a:solidFill>
                  <a:srgbClr val="14213D"/>
                </a:solidFill>
                <a:latin typeface="Calibri" pitchFamily="34" charset="0"/>
                <a:ea typeface="Calibri" pitchFamily="34" charset="-122"/>
                <a:cs typeface="Calibri" pitchFamily="34" charset="-120"/>
              </a:rPr>
              <a:t>line ≠ null ?</a:t>
            </a:r>
            <a:endParaRPr lang="en-US" sz="1300" dirty="0"/>
          </a:p>
        </p:txBody>
      </p:sp>
      <p:sp>
        <p:nvSpPr>
          <p:cNvPr id="15" name="Shape 12"/>
          <p:cNvSpPr/>
          <p:nvPr/>
        </p:nvSpPr>
        <p:spPr>
          <a:xfrm>
            <a:off x="3611880" y="4069080"/>
            <a:ext cx="1737360" cy="548640"/>
          </a:xfrm>
          <a:prstGeom prst="flowChartProcess">
            <a:avLst/>
          </a:prstGeom>
          <a:solidFill>
            <a:srgbClr val="FFFFFF"/>
          </a:solidFill>
          <a:ln w="15875">
            <a:solidFill>
              <a:srgbClr val="14213D"/>
            </a:solidFill>
            <a:prstDash val="solid"/>
          </a:ln>
        </p:spPr>
      </p:sp>
      <p:sp>
        <p:nvSpPr>
          <p:cNvPr id="16" name="Text 13"/>
          <p:cNvSpPr txBox="1"/>
          <p:nvPr/>
        </p:nvSpPr>
        <p:spPr>
          <a:xfrm>
            <a:off x="3657600" y="4069080"/>
            <a:ext cx="1645920" cy="548640"/>
          </a:xfrm>
          <a:prstGeom prst="rect">
            <a:avLst/>
          </a:prstGeom>
          <a:noFill/>
          <a:ln/>
        </p:spPr>
        <p:txBody>
          <a:bodyPr wrap="square" lIns="0" tIns="0" rIns="0" bIns="0" rtlCol="0" anchor="ctr"/>
          <a:lstStyle/>
          <a:p>
            <a:pPr algn="ctr" indent="0" marL="0">
              <a:buNone/>
            </a:pPr>
            <a:r>
              <a:rPr lang="en-US" sz="1300" dirty="0">
                <a:solidFill>
                  <a:srgbClr val="14213D"/>
                </a:solidFill>
                <a:latin typeface="Calibri" pitchFamily="34" charset="0"/>
                <a:ea typeface="Calibri" pitchFamily="34" charset="-122"/>
                <a:cs typeface="Calibri" pitchFamily="34" charset="-120"/>
              </a:rPr>
              <a:t>process line</a:t>
            </a:r>
            <a:endParaRPr lang="en-US" sz="1300" dirty="0"/>
          </a:p>
        </p:txBody>
      </p:sp>
      <p:sp>
        <p:nvSpPr>
          <p:cNvPr id="17" name="Shape 14"/>
          <p:cNvSpPr/>
          <p:nvPr/>
        </p:nvSpPr>
        <p:spPr>
          <a:xfrm>
            <a:off x="1143000" y="5394960"/>
            <a:ext cx="2011680" cy="457200"/>
          </a:xfrm>
          <a:prstGeom prst="flowChartTerminator">
            <a:avLst/>
          </a:prstGeom>
          <a:solidFill>
            <a:srgbClr val="FFF1D6"/>
          </a:solidFill>
          <a:ln w="15875">
            <a:solidFill>
              <a:srgbClr val="14213D"/>
            </a:solidFill>
            <a:prstDash val="solid"/>
          </a:ln>
        </p:spPr>
      </p:sp>
      <p:sp>
        <p:nvSpPr>
          <p:cNvPr id="18" name="Text 15"/>
          <p:cNvSpPr txBox="1"/>
          <p:nvPr/>
        </p:nvSpPr>
        <p:spPr>
          <a:xfrm>
            <a:off x="1188720" y="5394960"/>
            <a:ext cx="1920240" cy="457200"/>
          </a:xfrm>
          <a:prstGeom prst="rect">
            <a:avLst/>
          </a:prstGeom>
          <a:noFill/>
          <a:ln/>
        </p:spPr>
        <p:txBody>
          <a:bodyPr wrap="square" lIns="0" tIns="0" rIns="0" bIns="0" rtlCol="0" anchor="ctr"/>
          <a:lstStyle/>
          <a:p>
            <a:pPr algn="ctr" indent="0" marL="0">
              <a:buNone/>
            </a:pPr>
            <a:r>
              <a:rPr lang="en-US" sz="1300" dirty="0">
                <a:solidFill>
                  <a:srgbClr val="14213D"/>
                </a:solidFill>
                <a:latin typeface="Calibri" pitchFamily="34" charset="0"/>
                <a:ea typeface="Calibri" pitchFamily="34" charset="-122"/>
                <a:cs typeface="Calibri" pitchFamily="34" charset="-120"/>
              </a:rPr>
              <a:t>close · End</a:t>
            </a:r>
            <a:endParaRPr lang="en-US" sz="1300" dirty="0"/>
          </a:p>
        </p:txBody>
      </p:sp>
      <p:sp>
        <p:nvSpPr>
          <p:cNvPr id="19" name="Shape 16"/>
          <p:cNvSpPr/>
          <p:nvPr/>
        </p:nvSpPr>
        <p:spPr>
          <a:xfrm>
            <a:off x="2148840" y="2103120"/>
            <a:ext cx="0" cy="251460"/>
          </a:xfrm>
          <a:prstGeom prst="line">
            <a:avLst/>
          </a:prstGeom>
          <a:noFill/>
          <a:ln w="15875">
            <a:solidFill>
              <a:srgbClr val="14213D"/>
            </a:solidFill>
            <a:prstDash val="solid"/>
            <a:tailEnd type="triangle"/>
          </a:ln>
        </p:spPr>
      </p:sp>
      <p:sp>
        <p:nvSpPr>
          <p:cNvPr id="20" name="Shape 17"/>
          <p:cNvSpPr/>
          <p:nvPr/>
        </p:nvSpPr>
        <p:spPr>
          <a:xfrm>
            <a:off x="2148840" y="2857500"/>
            <a:ext cx="0" cy="251460"/>
          </a:xfrm>
          <a:prstGeom prst="line">
            <a:avLst/>
          </a:prstGeom>
          <a:noFill/>
          <a:ln w="15875">
            <a:solidFill>
              <a:srgbClr val="14213D"/>
            </a:solidFill>
            <a:prstDash val="solid"/>
            <a:tailEnd type="triangle"/>
          </a:ln>
        </p:spPr>
      </p:sp>
      <p:sp>
        <p:nvSpPr>
          <p:cNvPr id="21" name="Shape 18"/>
          <p:cNvSpPr/>
          <p:nvPr/>
        </p:nvSpPr>
        <p:spPr>
          <a:xfrm>
            <a:off x="2148840" y="3657600"/>
            <a:ext cx="0" cy="251460"/>
          </a:xfrm>
          <a:prstGeom prst="line">
            <a:avLst/>
          </a:prstGeom>
          <a:noFill/>
          <a:ln w="15875">
            <a:solidFill>
              <a:srgbClr val="14213D"/>
            </a:solidFill>
            <a:prstDash val="solid"/>
            <a:tailEnd type="triangle"/>
          </a:ln>
        </p:spPr>
      </p:sp>
      <p:sp>
        <p:nvSpPr>
          <p:cNvPr id="22" name="Shape 19"/>
          <p:cNvSpPr/>
          <p:nvPr/>
        </p:nvSpPr>
        <p:spPr>
          <a:xfrm>
            <a:off x="3337560" y="4343400"/>
            <a:ext cx="274320" cy="0"/>
          </a:xfrm>
          <a:prstGeom prst="line">
            <a:avLst/>
          </a:prstGeom>
          <a:noFill/>
          <a:ln w="15875">
            <a:solidFill>
              <a:srgbClr val="14213D"/>
            </a:solidFill>
            <a:prstDash val="solid"/>
            <a:tailEnd type="triangle"/>
          </a:ln>
        </p:spPr>
      </p:sp>
      <p:sp>
        <p:nvSpPr>
          <p:cNvPr id="23" name="Shape 20"/>
          <p:cNvSpPr/>
          <p:nvPr/>
        </p:nvSpPr>
        <p:spPr>
          <a:xfrm>
            <a:off x="2148840" y="4777740"/>
            <a:ext cx="0" cy="617220"/>
          </a:xfrm>
          <a:prstGeom prst="line">
            <a:avLst/>
          </a:prstGeom>
          <a:noFill/>
          <a:ln w="15875">
            <a:solidFill>
              <a:srgbClr val="14213D"/>
            </a:solidFill>
            <a:prstDash val="solid"/>
            <a:tailEnd type="triangle"/>
          </a:ln>
        </p:spPr>
      </p:sp>
      <p:sp>
        <p:nvSpPr>
          <p:cNvPr id="24" name="Shape 21"/>
          <p:cNvSpPr/>
          <p:nvPr/>
        </p:nvSpPr>
        <p:spPr>
          <a:xfrm flipV="1">
            <a:off x="4480560" y="3383280"/>
            <a:ext cx="0" cy="685800"/>
          </a:xfrm>
          <a:prstGeom prst="line">
            <a:avLst/>
          </a:prstGeom>
          <a:noFill/>
          <a:ln w="15875">
            <a:solidFill>
              <a:srgbClr val="14213D"/>
            </a:solidFill>
            <a:prstDash val="solid"/>
          </a:ln>
        </p:spPr>
      </p:sp>
      <p:sp>
        <p:nvSpPr>
          <p:cNvPr id="25" name="Shape 22"/>
          <p:cNvSpPr/>
          <p:nvPr/>
        </p:nvSpPr>
        <p:spPr>
          <a:xfrm flipH="1">
            <a:off x="3474720" y="3383280"/>
            <a:ext cx="1005840" cy="0"/>
          </a:xfrm>
          <a:prstGeom prst="line">
            <a:avLst/>
          </a:prstGeom>
          <a:noFill/>
          <a:ln w="15875">
            <a:solidFill>
              <a:srgbClr val="14213D"/>
            </a:solidFill>
            <a:prstDash val="solid"/>
            <a:tailEnd type="triangle"/>
          </a:ln>
        </p:spPr>
      </p:sp>
      <p:sp>
        <p:nvSpPr>
          <p:cNvPr id="26" name="Text 23"/>
          <p:cNvSpPr txBox="1"/>
          <p:nvPr/>
        </p:nvSpPr>
        <p:spPr>
          <a:xfrm>
            <a:off x="3355848" y="4041648"/>
            <a:ext cx="548640" cy="228600"/>
          </a:xfrm>
          <a:prstGeom prst="rect">
            <a:avLst/>
          </a:prstGeom>
          <a:noFill/>
          <a:ln/>
        </p:spPr>
        <p:txBody>
          <a:bodyPr wrap="square" lIns="0" tIns="0" rIns="0" bIns="0" rtlCol="0" anchor="ctr"/>
          <a:lstStyle/>
          <a:p>
            <a:pPr indent="0" marL="0">
              <a:buNone/>
            </a:pPr>
            <a:r>
              <a:rPr lang="en-US" sz="1300" b="1" dirty="0">
                <a:solidFill>
                  <a:srgbClr val="2E9E6A"/>
                </a:solidFill>
                <a:latin typeface="Calibri" pitchFamily="34" charset="0"/>
                <a:ea typeface="Calibri" pitchFamily="34" charset="-122"/>
                <a:cs typeface="Calibri" pitchFamily="34" charset="-120"/>
              </a:rPr>
              <a:t>yes</a:t>
            </a:r>
            <a:endParaRPr lang="en-US" sz="1300" dirty="0"/>
          </a:p>
        </p:txBody>
      </p:sp>
      <p:sp>
        <p:nvSpPr>
          <p:cNvPr id="27" name="Text 24"/>
          <p:cNvSpPr txBox="1"/>
          <p:nvPr/>
        </p:nvSpPr>
        <p:spPr>
          <a:xfrm>
            <a:off x="2240280" y="4777740"/>
            <a:ext cx="548640" cy="228600"/>
          </a:xfrm>
          <a:prstGeom prst="rect">
            <a:avLst/>
          </a:prstGeom>
          <a:noFill/>
          <a:ln/>
        </p:spPr>
        <p:txBody>
          <a:bodyPr wrap="square" lIns="0" tIns="0" rIns="0" bIns="0" rtlCol="0" anchor="ctr"/>
          <a:lstStyle/>
          <a:p>
            <a:pPr indent="0" marL="0">
              <a:buNone/>
            </a:pPr>
            <a:r>
              <a:rPr lang="en-US" sz="1300" b="1" dirty="0">
                <a:solidFill>
                  <a:srgbClr val="C8453B"/>
                </a:solidFill>
                <a:latin typeface="Calibri" pitchFamily="34" charset="0"/>
                <a:ea typeface="Calibri" pitchFamily="34" charset="-122"/>
                <a:cs typeface="Calibri" pitchFamily="34" charset="-120"/>
              </a:rPr>
              <a:t>no</a:t>
            </a:r>
            <a:endParaRPr lang="en-US" sz="1300" dirty="0"/>
          </a:p>
        </p:txBody>
      </p:sp>
      <p:sp>
        <p:nvSpPr>
          <p:cNvPr id="28" name="Shape 25"/>
          <p:cNvSpPr/>
          <p:nvPr/>
        </p:nvSpPr>
        <p:spPr>
          <a:xfrm>
            <a:off x="5349240" y="1645920"/>
            <a:ext cx="6309360" cy="1920240"/>
          </a:xfrm>
          <a:prstGeom prst="roundRect">
            <a:avLst>
              <a:gd name="adj" fmla="val 4762"/>
            </a:avLst>
          </a:prstGeom>
          <a:solidFill>
            <a:srgbClr val="0F1729"/>
          </a:solidFill>
          <a:ln w="12700">
            <a:solidFill>
              <a:srgbClr val="0F1729"/>
            </a:solidFill>
            <a:prstDash val="solid"/>
          </a:ln>
        </p:spPr>
      </p:sp>
      <p:sp>
        <p:nvSpPr>
          <p:cNvPr id="29" name="Text 26"/>
          <p:cNvSpPr txBox="1"/>
          <p:nvPr/>
        </p:nvSpPr>
        <p:spPr>
          <a:xfrm>
            <a:off x="5577840" y="1755648"/>
            <a:ext cx="585216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Form A (Example 3) · read before and at the end</a:t>
            </a:r>
            <a:endParaRPr lang="en-US" sz="1100" dirty="0"/>
          </a:p>
        </p:txBody>
      </p:sp>
      <p:sp>
        <p:nvSpPr>
          <p:cNvPr id="30" name="Text 27"/>
          <p:cNvSpPr txBox="1"/>
          <p:nvPr/>
        </p:nvSpPr>
        <p:spPr>
          <a:xfrm>
            <a:off x="5577840" y="2057400"/>
            <a:ext cx="5852160" cy="1399032"/>
          </a:xfrm>
          <a:prstGeom prst="rect">
            <a:avLst/>
          </a:prstGeom>
          <a:noFill/>
          <a:ln/>
        </p:spPr>
        <p:txBody>
          <a:bodyPr wrap="square" lIns="0" tIns="0" rIns="0" bIns="0" rtlCol="0" anchor="t"/>
          <a:lstStyle/>
          <a:p>
            <a:pPr indent="0" marL="0">
              <a:spcAft>
                <a:spcPts val="100"/>
              </a:spcAft>
              <a:buNone/>
            </a:pPr>
            <a:r>
              <a:rPr lang="en-US" sz="1400" dirty="0">
                <a:solidFill>
                  <a:srgbClr val="4EC9B0"/>
                </a:solidFill>
                <a:latin typeface="Courier New" pitchFamily="34" charset="0"/>
                <a:ea typeface="Courier New" pitchFamily="34" charset="-122"/>
                <a:cs typeface="Courier New" pitchFamily="34" charset="-120"/>
              </a:rPr>
              <a:t>string</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line = reader.ReadLine();</a:t>
            </a:r>
            <a:endParaRPr lang="en-US" sz="1400" dirty="0"/>
          </a:p>
          <a:p>
            <a:pPr indent="0" marL="0">
              <a:spcAft>
                <a:spcPts val="100"/>
              </a:spcAft>
              <a:buNone/>
            </a:pPr>
            <a:r>
              <a:rPr lang="en-US" sz="1400" dirty="0">
                <a:solidFill>
                  <a:srgbClr val="7AB8FF"/>
                </a:solidFill>
                <a:latin typeface="Courier New" pitchFamily="34" charset="0"/>
                <a:ea typeface="Courier New" pitchFamily="34" charset="-122"/>
                <a:cs typeface="Courier New" pitchFamily="34" charset="-120"/>
              </a:rPr>
              <a:t>while</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(line != </a:t>
            </a:r>
            <a:pPr indent="0" marL="0">
              <a:spcAft>
                <a:spcPts val="100"/>
              </a:spcAft>
              <a:buNone/>
            </a:pPr>
            <a:r>
              <a:rPr lang="en-US" sz="1400" dirty="0">
                <a:solidFill>
                  <a:srgbClr val="7AB8FF"/>
                </a:solidFill>
                <a:latin typeface="Courier New" pitchFamily="34" charset="0"/>
                <a:ea typeface="Courier New" pitchFamily="34" charset="-122"/>
                <a:cs typeface="Courier New" pitchFamily="34" charset="-120"/>
              </a:rPr>
              <a:t>null</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a:t>
            </a:r>
            <a:endParaRPr lang="en-US" sz="1400" dirty="0"/>
          </a:p>
          <a:p>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a:t>
            </a:r>
            <a:endParaRPr lang="en-US" sz="1400" dirty="0"/>
          </a:p>
          <a:p>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400" dirty="0">
                <a:solidFill>
                  <a:srgbClr val="7F8BA3"/>
                </a:solidFill>
                <a:latin typeface="Courier New" pitchFamily="34" charset="0"/>
                <a:ea typeface="Courier New" pitchFamily="34" charset="-122"/>
                <a:cs typeface="Courier New" pitchFamily="34" charset="-120"/>
              </a:rPr>
              <a:t>// process line</a:t>
            </a:r>
            <a:endParaRPr lang="en-US" sz="1400" dirty="0"/>
          </a:p>
          <a:p>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line = reader.ReadLine();</a:t>
            </a:r>
            <a:endParaRPr lang="en-US" sz="1400" dirty="0"/>
          </a:p>
          <a:p>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a:t>
            </a:r>
            <a:endParaRPr lang="en-US" sz="1400" dirty="0"/>
          </a:p>
        </p:txBody>
      </p:sp>
      <p:sp>
        <p:nvSpPr>
          <p:cNvPr id="31" name="Shape 28"/>
          <p:cNvSpPr/>
          <p:nvPr/>
        </p:nvSpPr>
        <p:spPr>
          <a:xfrm>
            <a:off x="5349240" y="3657600"/>
            <a:ext cx="6309360" cy="1691640"/>
          </a:xfrm>
          <a:prstGeom prst="roundRect">
            <a:avLst>
              <a:gd name="adj" fmla="val 5405"/>
            </a:avLst>
          </a:prstGeom>
          <a:solidFill>
            <a:srgbClr val="0F1729"/>
          </a:solidFill>
          <a:ln w="12700">
            <a:solidFill>
              <a:srgbClr val="0F1729"/>
            </a:solidFill>
            <a:prstDash val="solid"/>
          </a:ln>
        </p:spPr>
      </p:sp>
      <p:sp>
        <p:nvSpPr>
          <p:cNvPr id="32" name="Text 29"/>
          <p:cNvSpPr txBox="1"/>
          <p:nvPr/>
        </p:nvSpPr>
        <p:spPr>
          <a:xfrm>
            <a:off x="5577840" y="3767328"/>
            <a:ext cx="585216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Form B (Example 9) · read and test together</a:t>
            </a:r>
            <a:endParaRPr lang="en-US" sz="1100" dirty="0"/>
          </a:p>
        </p:txBody>
      </p:sp>
      <p:sp>
        <p:nvSpPr>
          <p:cNvPr id="33" name="Text 30"/>
          <p:cNvSpPr txBox="1"/>
          <p:nvPr/>
        </p:nvSpPr>
        <p:spPr>
          <a:xfrm>
            <a:off x="5577840" y="4069080"/>
            <a:ext cx="5852160" cy="1170432"/>
          </a:xfrm>
          <a:prstGeom prst="rect">
            <a:avLst/>
          </a:prstGeom>
          <a:noFill/>
          <a:ln/>
        </p:spPr>
        <p:txBody>
          <a:bodyPr wrap="square" lIns="0" tIns="0" rIns="0" bIns="0" rtlCol="0" anchor="t"/>
          <a:lstStyle/>
          <a:p>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string</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line;</a:t>
            </a:r>
            <a:endParaRPr lang="en-US" sz="1300" dirty="0"/>
          </a:p>
          <a:p>
            <a:pPr indent="0" marL="0">
              <a:spcAft>
                <a:spcPts val="100"/>
              </a:spcAft>
              <a:buNone/>
            </a:pPr>
            <a:r>
              <a:rPr lang="en-US" sz="1300" dirty="0">
                <a:solidFill>
                  <a:srgbClr val="7AB8FF"/>
                </a:solidFill>
                <a:latin typeface="Courier New" pitchFamily="34" charset="0"/>
                <a:ea typeface="Courier New" pitchFamily="34" charset="-122"/>
                <a:cs typeface="Courier New" pitchFamily="34" charset="-120"/>
              </a:rPr>
              <a:t>while</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((line = reader.ReadLine()) != </a:t>
            </a:r>
            <a:pPr indent="0" marL="0">
              <a:spcAft>
                <a:spcPts val="100"/>
              </a:spcAft>
              <a:buNone/>
            </a:pPr>
            <a:r>
              <a:rPr lang="en-US" sz="1300" dirty="0">
                <a:solidFill>
                  <a:srgbClr val="7AB8FF"/>
                </a:solidFill>
                <a:latin typeface="Courier New" pitchFamily="34" charset="0"/>
                <a:ea typeface="Courier New" pitchFamily="34" charset="-122"/>
                <a:cs typeface="Courier New" pitchFamily="34" charset="-120"/>
              </a:rPr>
              <a:t>null</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7F8BA3"/>
                </a:solidFill>
                <a:latin typeface="Courier New" pitchFamily="34" charset="0"/>
                <a:ea typeface="Courier New" pitchFamily="34" charset="-122"/>
                <a:cs typeface="Courier New" pitchFamily="34" charset="-120"/>
              </a:rPr>
              <a:t>// process line</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p:txBody>
      </p:sp>
      <p:sp>
        <p:nvSpPr>
          <p:cNvPr id="34" name="Shape 31"/>
          <p:cNvSpPr/>
          <p:nvPr/>
        </p:nvSpPr>
        <p:spPr>
          <a:xfrm>
            <a:off x="5349240" y="5440680"/>
            <a:ext cx="6309360" cy="640080"/>
          </a:xfrm>
          <a:prstGeom prst="roundRect">
            <a:avLst>
              <a:gd name="adj" fmla="val 17143"/>
            </a:avLst>
          </a:prstGeom>
          <a:solidFill>
            <a:srgbClr val="FFF6E3"/>
          </a:solidFill>
          <a:ln w="12700">
            <a:solidFill>
              <a:srgbClr val="FFF6E3"/>
            </a:solidFill>
            <a:prstDash val="solid"/>
          </a:ln>
        </p:spPr>
      </p:sp>
      <p:pic>
        <p:nvPicPr>
          <p:cNvPr id="35" name="Image 0" descr="preencoded.png">    </p:cNvPr>
          <p:cNvPicPr>
            <a:picLocks noChangeAspect="1"/>
          </p:cNvPicPr>
          <p:nvPr/>
        </p:nvPicPr>
        <p:blipFill>
          <a:blip r:embed="rId1"/>
          <a:stretch>
            <a:fillRect/>
          </a:stretch>
        </p:blipFill>
        <p:spPr>
          <a:xfrm>
            <a:off x="5623560" y="5577840"/>
            <a:ext cx="365760" cy="365760"/>
          </a:xfrm>
          <a:prstGeom prst="rect">
            <a:avLst/>
          </a:prstGeom>
        </p:spPr>
      </p:pic>
      <p:sp>
        <p:nvSpPr>
          <p:cNvPr id="36" name="Text 32"/>
          <p:cNvSpPr txBox="1"/>
          <p:nvPr/>
        </p:nvSpPr>
        <p:spPr>
          <a:xfrm>
            <a:off x="6263640" y="5513832"/>
            <a:ext cx="5120640" cy="493776"/>
          </a:xfrm>
          <a:prstGeom prst="rect">
            <a:avLst/>
          </a:prstGeom>
          <a:noFill/>
          <a:ln/>
        </p:spPr>
        <p:txBody>
          <a:bodyPr wrap="square" lIns="0" tIns="0" rIns="0" bIns="0" rtlCol="0" anchor="ctr"/>
          <a:lstStyle/>
          <a:p>
            <a:pPr indent="0" marL="0">
              <a:buNone/>
            </a:pPr>
            <a:r>
              <a:rPr lang="en-US" sz="1400" b="1" dirty="0">
                <a:solidFill>
                  <a:srgbClr val="14213D"/>
                </a:solidFill>
                <a:latin typeface="Calibri" pitchFamily="34" charset="0"/>
                <a:ea typeface="Calibri" pitchFamily="34" charset="-122"/>
                <a:cs typeface="Calibri" pitchFamily="34" charset="-120"/>
              </a:rPr>
              <a:t>Bug: </a:t>
            </a:r>
            <a:pPr indent="0" marL="0">
              <a:buNone/>
            </a:pPr>
            <a:r>
              <a:rPr lang="en-US" sz="1400" dirty="0">
                <a:solidFill>
                  <a:srgbClr val="333B4F"/>
                </a:solidFill>
                <a:latin typeface="Calibri" pitchFamily="34" charset="0"/>
                <a:ea typeface="Calibri" pitchFamily="34" charset="-122"/>
                <a:cs typeface="Calibri" pitchFamily="34" charset="-120"/>
              </a:rPr>
              <a:t>two ReadLine() calls per pass skip every 2nd line.</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CSV FILES</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Comma-separated values: one record per line</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14</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12</a:t>
            </a:r>
            <a:endParaRPr lang="en-US" sz="1000" dirty="0"/>
          </a:p>
        </p:txBody>
      </p:sp>
      <p:sp>
        <p:nvSpPr>
          <p:cNvPr id="7" name="Shape 4"/>
          <p:cNvSpPr/>
          <p:nvPr/>
        </p:nvSpPr>
        <p:spPr>
          <a:xfrm>
            <a:off x="548640" y="1645920"/>
            <a:ext cx="3931920" cy="2423160"/>
          </a:xfrm>
          <a:prstGeom prst="rect">
            <a:avLst/>
          </a:prstGeom>
          <a:solidFill>
            <a:srgbClr val="FFFFFF"/>
          </a:solidFill>
          <a:ln w="12700">
            <a:solidFill>
              <a:srgbClr val="8A94AB"/>
            </a:solidFill>
            <a:prstDash val="solid"/>
          </a:ln>
        </p:spPr>
      </p:sp>
      <p:sp>
        <p:nvSpPr>
          <p:cNvPr id="8" name="Shape 5"/>
          <p:cNvSpPr/>
          <p:nvPr/>
        </p:nvSpPr>
        <p:spPr>
          <a:xfrm>
            <a:off x="548640" y="1645920"/>
            <a:ext cx="3931920" cy="329184"/>
          </a:xfrm>
          <a:prstGeom prst="rect">
            <a:avLst/>
          </a:prstGeom>
          <a:solidFill>
            <a:srgbClr val="EEF1F6"/>
          </a:solidFill>
          <a:ln w="12700">
            <a:solidFill>
              <a:srgbClr val="8A94AB"/>
            </a:solidFill>
            <a:prstDash val="solid"/>
          </a:ln>
        </p:spPr>
      </p:sp>
      <p:sp>
        <p:nvSpPr>
          <p:cNvPr id="9" name="Text 6"/>
          <p:cNvSpPr txBox="1"/>
          <p:nvPr/>
        </p:nvSpPr>
        <p:spPr>
          <a:xfrm>
            <a:off x="640080" y="1645920"/>
            <a:ext cx="3749040" cy="329184"/>
          </a:xfrm>
          <a:prstGeom prst="rect">
            <a:avLst/>
          </a:prstGeom>
          <a:noFill/>
          <a:ln/>
        </p:spPr>
        <p:txBody>
          <a:bodyPr wrap="square" lIns="0" tIns="0" rIns="0" bIns="0" rtlCol="0" anchor="ctr"/>
          <a:lstStyle/>
          <a:p>
            <a:pPr indent="0" marL="0">
              <a:buNone/>
            </a:pPr>
            <a:r>
              <a:rPr lang="en-US" sz="1200" dirty="0">
                <a:solidFill>
                  <a:srgbClr val="B7791F"/>
                </a:solidFill>
                <a:latin typeface="Courier New" pitchFamily="34" charset="0"/>
                <a:ea typeface="Courier New" pitchFamily="34" charset="-122"/>
                <a:cs typeface="Courier New" pitchFamily="34" charset="-120"/>
              </a:rPr>
              <a:t>▤ </a:t>
            </a:r>
            <a:pPr indent="0" marL="0">
              <a:buNone/>
            </a:pPr>
            <a:r>
              <a:rPr lang="en-US" sz="1200" b="1" dirty="0">
                <a:solidFill>
                  <a:srgbClr val="14213D"/>
                </a:solidFill>
                <a:latin typeface="Courier New" pitchFamily="34" charset="0"/>
                <a:ea typeface="Courier New" pitchFamily="34" charset="-122"/>
                <a:cs typeface="Courier New" pitchFamily="34" charset="-120"/>
              </a:rPr>
              <a:t>grades.csv</a:t>
            </a:r>
            <a:endParaRPr lang="en-US" sz="1200" dirty="0"/>
          </a:p>
        </p:txBody>
      </p:sp>
      <p:sp>
        <p:nvSpPr>
          <p:cNvPr id="10" name="Text 7"/>
          <p:cNvSpPr txBox="1"/>
          <p:nvPr/>
        </p:nvSpPr>
        <p:spPr>
          <a:xfrm>
            <a:off x="685800" y="2057400"/>
            <a:ext cx="3657600" cy="1920240"/>
          </a:xfrm>
          <a:prstGeom prst="rect">
            <a:avLst/>
          </a:prstGeom>
          <a:noFill/>
          <a:ln/>
        </p:spPr>
        <p:txBody>
          <a:bodyPr wrap="square" lIns="0" tIns="0" rIns="0" bIns="0" rtlCol="0" anchor="t"/>
          <a:lstStyle/>
          <a:p>
            <a:pPr indent="0" marL="0">
              <a:spcAft>
                <a:spcPts val="100"/>
              </a:spcAft>
              <a:buNone/>
            </a:pPr>
            <a:r>
              <a:rPr lang="en-US" sz="1400" dirty="0">
                <a:solidFill>
                  <a:srgbClr val="14213D"/>
                </a:solidFill>
                <a:latin typeface="Courier New" pitchFamily="34" charset="0"/>
                <a:ea typeface="Courier New" pitchFamily="34" charset="-122"/>
                <a:cs typeface="Courier New" pitchFamily="34" charset="-120"/>
              </a:rPr>
              <a:t>name,midterm,final</a:t>
            </a:r>
            <a:endParaRPr lang="en-US" sz="1400" dirty="0"/>
          </a:p>
          <a:p>
            <a:pPr indent="0" marL="0">
              <a:spcAft>
                <a:spcPts val="100"/>
              </a:spcAft>
              <a:buNone/>
            </a:pPr>
            <a:r>
              <a:rPr lang="en-US" sz="1400" dirty="0">
                <a:solidFill>
                  <a:srgbClr val="14213D"/>
                </a:solidFill>
                <a:latin typeface="Courier New" pitchFamily="34" charset="0"/>
                <a:ea typeface="Courier New" pitchFamily="34" charset="-122"/>
                <a:cs typeface="Courier New" pitchFamily="34" charset="-120"/>
              </a:rPr>
              <a:t>Ayse Kaya,72,64</a:t>
            </a:r>
            <a:endParaRPr lang="en-US" sz="1400" dirty="0"/>
          </a:p>
          <a:p>
            <a:pPr indent="0" marL="0">
              <a:spcAft>
                <a:spcPts val="100"/>
              </a:spcAft>
              <a:buNone/>
            </a:pPr>
            <a:r>
              <a:rPr lang="en-US" sz="1400" dirty="0">
                <a:solidFill>
                  <a:srgbClr val="14213D"/>
                </a:solidFill>
                <a:latin typeface="Courier New" pitchFamily="34" charset="0"/>
                <a:ea typeface="Courier New" pitchFamily="34" charset="-122"/>
                <a:cs typeface="Courier New" pitchFamily="34" charset="-120"/>
              </a:rPr>
              <a:t>Burak Demir,55,66</a:t>
            </a:r>
            <a:endParaRPr lang="en-US" sz="1400" dirty="0"/>
          </a:p>
          <a:p>
            <a:pPr indent="0" marL="0">
              <a:spcAft>
                <a:spcPts val="100"/>
              </a:spcAft>
              <a:buNone/>
            </a:pPr>
            <a:r>
              <a:rPr lang="en-US" sz="1400" dirty="0">
                <a:solidFill>
                  <a:srgbClr val="14213D"/>
                </a:solidFill>
                <a:latin typeface="Courier New" pitchFamily="34" charset="0"/>
                <a:ea typeface="Courier New" pitchFamily="34" charset="-122"/>
                <a:cs typeface="Courier New" pitchFamily="34" charset="-120"/>
              </a:rPr>
              <a:t>Ceren Yildiz,88,95</a:t>
            </a:r>
            <a:endParaRPr lang="en-US" sz="1400" dirty="0"/>
          </a:p>
          <a:p>
            <a:pPr indent="0" marL="0">
              <a:spcAft>
                <a:spcPts val="100"/>
              </a:spcAft>
              <a:buNone/>
            </a:pPr>
            <a:r>
              <a:rPr lang="en-US" sz="1400" dirty="0">
                <a:solidFill>
                  <a:srgbClr val="14213D"/>
                </a:solidFill>
                <a:latin typeface="Courier New" pitchFamily="34" charset="0"/>
                <a:ea typeface="Courier New" pitchFamily="34" charset="-122"/>
                <a:cs typeface="Courier New" pitchFamily="34" charset="-120"/>
              </a:rPr>
              <a:t>Deniz Arslan,58,61</a:t>
            </a:r>
            <a:endParaRPr lang="en-US" sz="1400" dirty="0"/>
          </a:p>
          <a:p>
            <a:pPr indent="0" marL="0">
              <a:spcAft>
                <a:spcPts val="100"/>
              </a:spcAft>
              <a:buNone/>
            </a:pPr>
            <a:r>
              <a:rPr lang="en-US" sz="1400" dirty="0">
                <a:solidFill>
                  <a:srgbClr val="14213D"/>
                </a:solidFill>
                <a:latin typeface="Courier New" pitchFamily="34" charset="0"/>
                <a:ea typeface="Courier New" pitchFamily="34" charset="-122"/>
                <a:cs typeface="Courier New" pitchFamily="34" charset="-120"/>
              </a:rPr>
              <a:t>Emre Sahin,30,41</a:t>
            </a:r>
            <a:endParaRPr lang="en-US" sz="1400" dirty="0"/>
          </a:p>
        </p:txBody>
      </p:sp>
      <p:sp>
        <p:nvSpPr>
          <p:cNvPr id="11" name="Text 8"/>
          <p:cNvSpPr txBox="1"/>
          <p:nvPr/>
        </p:nvSpPr>
        <p:spPr>
          <a:xfrm>
            <a:off x="4754880" y="1645920"/>
            <a:ext cx="3657600" cy="365760"/>
          </a:xfrm>
          <a:prstGeom prst="rect">
            <a:avLst/>
          </a:prstGeom>
          <a:noFill/>
          <a:ln/>
        </p:spPr>
        <p:txBody>
          <a:bodyPr wrap="square" lIns="0" tIns="0" rIns="0" bIns="0" rtlCol="0" anchor="ctr"/>
          <a:lstStyle/>
          <a:p>
            <a:pPr indent="0" marL="0">
              <a:buNone/>
            </a:pPr>
            <a:r>
              <a:rPr lang="en-US" sz="1500" b="1" dirty="0">
                <a:solidFill>
                  <a:srgbClr val="14213D"/>
                </a:solidFill>
                <a:latin typeface="Courier New" pitchFamily="34" charset="0"/>
                <a:ea typeface="Courier New" pitchFamily="34" charset="-122"/>
                <a:cs typeface="Courier New" pitchFamily="34" charset="-120"/>
              </a:rPr>
              <a:t>lines[1].Split(',')</a:t>
            </a:r>
            <a:endParaRPr lang="en-US" sz="1500" dirty="0"/>
          </a:p>
        </p:txBody>
      </p:sp>
      <p:sp>
        <p:nvSpPr>
          <p:cNvPr id="12" name="Text 9"/>
          <p:cNvSpPr txBox="1"/>
          <p:nvPr/>
        </p:nvSpPr>
        <p:spPr>
          <a:xfrm>
            <a:off x="4754880" y="2057400"/>
            <a:ext cx="3657600" cy="365760"/>
          </a:xfrm>
          <a:prstGeom prst="rect">
            <a:avLst/>
          </a:prstGeom>
          <a:noFill/>
          <a:ln/>
        </p:spPr>
        <p:txBody>
          <a:bodyPr wrap="square" lIns="0" tIns="0" rIns="0" bIns="0" rtlCol="0" anchor="ctr"/>
          <a:lstStyle/>
          <a:p>
            <a:pPr indent="0" marL="0">
              <a:buNone/>
            </a:pPr>
            <a:r>
              <a:rPr lang="en-US" sz="1500" b="1" dirty="0">
                <a:solidFill>
                  <a:srgbClr val="2F6FB3"/>
                </a:solidFill>
                <a:latin typeface="Courier New" pitchFamily="34" charset="0"/>
                <a:ea typeface="Courier New" pitchFamily="34" charset="-122"/>
                <a:cs typeface="Courier New" pitchFamily="34" charset="-120"/>
              </a:rPr>
              <a:t>"Ayse Kaya,72,64"</a:t>
            </a:r>
            <a:endParaRPr lang="en-US" sz="1500" dirty="0"/>
          </a:p>
        </p:txBody>
      </p:sp>
      <p:sp>
        <p:nvSpPr>
          <p:cNvPr id="13" name="Shape 10"/>
          <p:cNvSpPr/>
          <p:nvPr/>
        </p:nvSpPr>
        <p:spPr>
          <a:xfrm>
            <a:off x="5852160" y="2468880"/>
            <a:ext cx="0" cy="320040"/>
          </a:xfrm>
          <a:prstGeom prst="line">
            <a:avLst/>
          </a:prstGeom>
          <a:noFill/>
          <a:ln w="15875">
            <a:solidFill>
              <a:srgbClr val="2F6FB3"/>
            </a:solidFill>
            <a:prstDash val="solid"/>
            <a:tailEnd type="triangle"/>
          </a:ln>
        </p:spPr>
      </p:sp>
      <p:sp>
        <p:nvSpPr>
          <p:cNvPr id="14" name="Shape 11"/>
          <p:cNvSpPr/>
          <p:nvPr/>
        </p:nvSpPr>
        <p:spPr>
          <a:xfrm>
            <a:off x="4754880" y="2834640"/>
            <a:ext cx="2011680" cy="502920"/>
          </a:xfrm>
          <a:prstGeom prst="rect">
            <a:avLst/>
          </a:prstGeom>
          <a:solidFill>
            <a:srgbClr val="FFFFFF"/>
          </a:solidFill>
          <a:ln w="9525">
            <a:solidFill>
              <a:srgbClr val="8A94AB"/>
            </a:solidFill>
            <a:prstDash val="solid"/>
          </a:ln>
        </p:spPr>
      </p:sp>
      <p:sp>
        <p:nvSpPr>
          <p:cNvPr id="15" name="Text 12"/>
          <p:cNvSpPr txBox="1"/>
          <p:nvPr/>
        </p:nvSpPr>
        <p:spPr>
          <a:xfrm>
            <a:off x="4754880" y="2834640"/>
            <a:ext cx="2011680" cy="502920"/>
          </a:xfrm>
          <a:prstGeom prst="rect">
            <a:avLst/>
          </a:prstGeom>
          <a:noFill/>
          <a:ln/>
        </p:spPr>
        <p:txBody>
          <a:bodyPr wrap="square" lIns="0" tIns="0" rIns="0" bIns="0" rtlCol="0" anchor="ctr"/>
          <a:lstStyle/>
          <a:p>
            <a:pPr algn="ctr" indent="0" marL="0">
              <a:buNone/>
            </a:pPr>
            <a:r>
              <a:rPr lang="en-US" sz="1400" b="1" dirty="0">
                <a:solidFill>
                  <a:srgbClr val="14213D"/>
                </a:solidFill>
                <a:latin typeface="Courier New" pitchFamily="34" charset="0"/>
                <a:ea typeface="Courier New" pitchFamily="34" charset="-122"/>
                <a:cs typeface="Courier New" pitchFamily="34" charset="-120"/>
              </a:rPr>
              <a:t>"Ayse Kaya"</a:t>
            </a:r>
            <a:endParaRPr lang="en-US" sz="1400" dirty="0"/>
          </a:p>
        </p:txBody>
      </p:sp>
      <p:sp>
        <p:nvSpPr>
          <p:cNvPr id="16" name="Text 13"/>
          <p:cNvSpPr txBox="1"/>
          <p:nvPr/>
        </p:nvSpPr>
        <p:spPr>
          <a:xfrm>
            <a:off x="4754880" y="3364992"/>
            <a:ext cx="2011680" cy="256032"/>
          </a:xfrm>
          <a:prstGeom prst="rect">
            <a:avLst/>
          </a:prstGeom>
          <a:noFill/>
          <a:ln/>
        </p:spPr>
        <p:txBody>
          <a:bodyPr wrap="square" lIns="0" tIns="0" rIns="0" bIns="0" rtlCol="0" anchor="ctr"/>
          <a:lstStyle/>
          <a:p>
            <a:pPr algn="ctr" indent="0" marL="0">
              <a:buNone/>
            </a:pPr>
            <a:r>
              <a:rPr lang="en-US" sz="1300" dirty="0">
                <a:solidFill>
                  <a:srgbClr val="5B6478"/>
                </a:solidFill>
                <a:latin typeface="Courier New" pitchFamily="34" charset="0"/>
                <a:ea typeface="Courier New" pitchFamily="34" charset="-122"/>
                <a:cs typeface="Courier New" pitchFamily="34" charset="-120"/>
              </a:rPr>
              <a:t>0</a:t>
            </a:r>
            <a:endParaRPr lang="en-US" sz="1300" dirty="0"/>
          </a:p>
        </p:txBody>
      </p:sp>
      <p:sp>
        <p:nvSpPr>
          <p:cNvPr id="17" name="Shape 14"/>
          <p:cNvSpPr/>
          <p:nvPr/>
        </p:nvSpPr>
        <p:spPr>
          <a:xfrm>
            <a:off x="6766560" y="2834640"/>
            <a:ext cx="822960" cy="502920"/>
          </a:xfrm>
          <a:prstGeom prst="rect">
            <a:avLst/>
          </a:prstGeom>
          <a:solidFill>
            <a:srgbClr val="FFFFFF"/>
          </a:solidFill>
          <a:ln w="9525">
            <a:solidFill>
              <a:srgbClr val="8A94AB"/>
            </a:solidFill>
            <a:prstDash val="solid"/>
          </a:ln>
        </p:spPr>
      </p:sp>
      <p:sp>
        <p:nvSpPr>
          <p:cNvPr id="18" name="Text 15"/>
          <p:cNvSpPr txBox="1"/>
          <p:nvPr/>
        </p:nvSpPr>
        <p:spPr>
          <a:xfrm>
            <a:off x="6766560" y="2834640"/>
            <a:ext cx="822960" cy="502920"/>
          </a:xfrm>
          <a:prstGeom prst="rect">
            <a:avLst/>
          </a:prstGeom>
          <a:noFill/>
          <a:ln/>
        </p:spPr>
        <p:txBody>
          <a:bodyPr wrap="square" lIns="0" tIns="0" rIns="0" bIns="0" rtlCol="0" anchor="ctr"/>
          <a:lstStyle/>
          <a:p>
            <a:pPr algn="ctr" indent="0" marL="0">
              <a:buNone/>
            </a:pPr>
            <a:r>
              <a:rPr lang="en-US" sz="1400" b="1" dirty="0">
                <a:solidFill>
                  <a:srgbClr val="14213D"/>
                </a:solidFill>
                <a:latin typeface="Courier New" pitchFamily="34" charset="0"/>
                <a:ea typeface="Courier New" pitchFamily="34" charset="-122"/>
                <a:cs typeface="Courier New" pitchFamily="34" charset="-120"/>
              </a:rPr>
              <a:t>"72"</a:t>
            </a:r>
            <a:endParaRPr lang="en-US" sz="1400" dirty="0"/>
          </a:p>
        </p:txBody>
      </p:sp>
      <p:sp>
        <p:nvSpPr>
          <p:cNvPr id="19" name="Text 16"/>
          <p:cNvSpPr txBox="1"/>
          <p:nvPr/>
        </p:nvSpPr>
        <p:spPr>
          <a:xfrm>
            <a:off x="6766560" y="3364992"/>
            <a:ext cx="822960" cy="256032"/>
          </a:xfrm>
          <a:prstGeom prst="rect">
            <a:avLst/>
          </a:prstGeom>
          <a:noFill/>
          <a:ln/>
        </p:spPr>
        <p:txBody>
          <a:bodyPr wrap="square" lIns="0" tIns="0" rIns="0" bIns="0" rtlCol="0" anchor="ctr"/>
          <a:lstStyle/>
          <a:p>
            <a:pPr algn="ctr" indent="0" marL="0">
              <a:buNone/>
            </a:pPr>
            <a:r>
              <a:rPr lang="en-US" sz="1300" dirty="0">
                <a:solidFill>
                  <a:srgbClr val="5B6478"/>
                </a:solidFill>
                <a:latin typeface="Courier New" pitchFamily="34" charset="0"/>
                <a:ea typeface="Courier New" pitchFamily="34" charset="-122"/>
                <a:cs typeface="Courier New" pitchFamily="34" charset="-120"/>
              </a:rPr>
              <a:t>1</a:t>
            </a:r>
            <a:endParaRPr lang="en-US" sz="1300" dirty="0"/>
          </a:p>
        </p:txBody>
      </p:sp>
      <p:sp>
        <p:nvSpPr>
          <p:cNvPr id="20" name="Shape 17"/>
          <p:cNvSpPr/>
          <p:nvPr/>
        </p:nvSpPr>
        <p:spPr>
          <a:xfrm>
            <a:off x="7589520" y="2834640"/>
            <a:ext cx="822960" cy="502920"/>
          </a:xfrm>
          <a:prstGeom prst="rect">
            <a:avLst/>
          </a:prstGeom>
          <a:solidFill>
            <a:srgbClr val="FFFFFF"/>
          </a:solidFill>
          <a:ln w="9525">
            <a:solidFill>
              <a:srgbClr val="8A94AB"/>
            </a:solidFill>
            <a:prstDash val="solid"/>
          </a:ln>
        </p:spPr>
      </p:sp>
      <p:sp>
        <p:nvSpPr>
          <p:cNvPr id="21" name="Text 18"/>
          <p:cNvSpPr txBox="1"/>
          <p:nvPr/>
        </p:nvSpPr>
        <p:spPr>
          <a:xfrm>
            <a:off x="7589520" y="2834640"/>
            <a:ext cx="822960" cy="502920"/>
          </a:xfrm>
          <a:prstGeom prst="rect">
            <a:avLst/>
          </a:prstGeom>
          <a:noFill/>
          <a:ln/>
        </p:spPr>
        <p:txBody>
          <a:bodyPr wrap="square" lIns="0" tIns="0" rIns="0" bIns="0" rtlCol="0" anchor="ctr"/>
          <a:lstStyle/>
          <a:p>
            <a:pPr algn="ctr" indent="0" marL="0">
              <a:buNone/>
            </a:pPr>
            <a:r>
              <a:rPr lang="en-US" sz="1400" b="1" dirty="0">
                <a:solidFill>
                  <a:srgbClr val="14213D"/>
                </a:solidFill>
                <a:latin typeface="Courier New" pitchFamily="34" charset="0"/>
                <a:ea typeface="Courier New" pitchFamily="34" charset="-122"/>
                <a:cs typeface="Courier New" pitchFamily="34" charset="-120"/>
              </a:rPr>
              <a:t>"64"</a:t>
            </a:r>
            <a:endParaRPr lang="en-US" sz="1400" dirty="0"/>
          </a:p>
        </p:txBody>
      </p:sp>
      <p:sp>
        <p:nvSpPr>
          <p:cNvPr id="22" name="Text 19"/>
          <p:cNvSpPr txBox="1"/>
          <p:nvPr/>
        </p:nvSpPr>
        <p:spPr>
          <a:xfrm>
            <a:off x="7589520" y="3364992"/>
            <a:ext cx="822960" cy="256032"/>
          </a:xfrm>
          <a:prstGeom prst="rect">
            <a:avLst/>
          </a:prstGeom>
          <a:noFill/>
          <a:ln/>
        </p:spPr>
        <p:txBody>
          <a:bodyPr wrap="square" lIns="0" tIns="0" rIns="0" bIns="0" rtlCol="0" anchor="ctr"/>
          <a:lstStyle/>
          <a:p>
            <a:pPr algn="ctr" indent="0" marL="0">
              <a:buNone/>
            </a:pPr>
            <a:r>
              <a:rPr lang="en-US" sz="1300" dirty="0">
                <a:solidFill>
                  <a:srgbClr val="5B6478"/>
                </a:solidFill>
                <a:latin typeface="Courier New" pitchFamily="34" charset="0"/>
                <a:ea typeface="Courier New" pitchFamily="34" charset="-122"/>
                <a:cs typeface="Courier New" pitchFamily="34" charset="-120"/>
              </a:rPr>
              <a:t>2</a:t>
            </a:r>
            <a:endParaRPr lang="en-US" sz="1300" dirty="0"/>
          </a:p>
        </p:txBody>
      </p:sp>
      <p:sp>
        <p:nvSpPr>
          <p:cNvPr id="23" name="Text 20"/>
          <p:cNvSpPr txBox="1"/>
          <p:nvPr/>
        </p:nvSpPr>
        <p:spPr>
          <a:xfrm>
            <a:off x="8503920" y="2834640"/>
            <a:ext cx="2286000" cy="502920"/>
          </a:xfrm>
          <a:prstGeom prst="rect">
            <a:avLst/>
          </a:prstGeom>
          <a:noFill/>
          <a:ln/>
        </p:spPr>
        <p:txBody>
          <a:bodyPr wrap="square" lIns="0" tIns="0" rIns="0" bIns="0" rtlCol="0" anchor="ctr"/>
          <a:lstStyle/>
          <a:p>
            <a:pPr indent="0" marL="0">
              <a:buNone/>
            </a:pPr>
            <a:r>
              <a:rPr lang="en-US" sz="1400" b="1" dirty="0">
                <a:solidFill>
                  <a:srgbClr val="14213D"/>
                </a:solidFill>
                <a:latin typeface="Courier New" pitchFamily="34" charset="0"/>
                <a:ea typeface="Courier New" pitchFamily="34" charset="-122"/>
                <a:cs typeface="Courier New" pitchFamily="34" charset="-120"/>
              </a:rPr>
              <a:t>fields</a:t>
            </a:r>
            <a:pPr indent="0" marL="0">
              <a:buNone/>
            </a:pPr>
            <a:r>
              <a:rPr lang="en-US" sz="1400" dirty="0">
                <a:solidFill>
                  <a:srgbClr val="333B4F"/>
                </a:solidFill>
                <a:latin typeface="Calibri" pitchFamily="34" charset="0"/>
                <a:ea typeface="Calibri" pitchFamily="34" charset="-122"/>
                <a:cs typeface="Calibri" pitchFamily="34" charset="-120"/>
              </a:rPr>
              <a:t>  string[3]</a:t>
            </a:r>
            <a:endParaRPr lang="en-US" sz="1400" dirty="0"/>
          </a:p>
        </p:txBody>
      </p:sp>
      <p:sp>
        <p:nvSpPr>
          <p:cNvPr id="24" name="Shape 21"/>
          <p:cNvSpPr/>
          <p:nvPr/>
        </p:nvSpPr>
        <p:spPr>
          <a:xfrm>
            <a:off x="7178040" y="3611880"/>
            <a:ext cx="0" cy="320040"/>
          </a:xfrm>
          <a:prstGeom prst="line">
            <a:avLst/>
          </a:prstGeom>
          <a:noFill/>
          <a:ln w="15875">
            <a:solidFill>
              <a:srgbClr val="2E9E6A"/>
            </a:solidFill>
            <a:prstDash val="solid"/>
            <a:tailEnd type="triangle"/>
          </a:ln>
        </p:spPr>
      </p:sp>
      <p:sp>
        <p:nvSpPr>
          <p:cNvPr id="25" name="Text 22"/>
          <p:cNvSpPr txBox="1"/>
          <p:nvPr/>
        </p:nvSpPr>
        <p:spPr>
          <a:xfrm>
            <a:off x="4754880" y="3931920"/>
            <a:ext cx="5486400" cy="365760"/>
          </a:xfrm>
          <a:prstGeom prst="rect">
            <a:avLst/>
          </a:prstGeom>
          <a:noFill/>
          <a:ln/>
        </p:spPr>
        <p:txBody>
          <a:bodyPr wrap="square" lIns="0" tIns="0" rIns="0" bIns="0" rtlCol="0" anchor="ctr"/>
          <a:lstStyle/>
          <a:p>
            <a:pPr algn="l" indent="0" marL="0">
              <a:buNone/>
            </a:pPr>
            <a:r>
              <a:rPr lang="en-US" sz="1400" b="1" dirty="0">
                <a:solidFill>
                  <a:srgbClr val="14213D"/>
                </a:solidFill>
                <a:latin typeface="Courier New" pitchFamily="34" charset="0"/>
                <a:ea typeface="Courier New" pitchFamily="34" charset="-122"/>
                <a:cs typeface="Courier New" pitchFamily="34" charset="-120"/>
              </a:rPr>
              <a:t>int.Parse</a:t>
            </a:r>
            <a:pPr algn="l" indent="0" marL="0">
              <a:buNone/>
            </a:pPr>
            <a:r>
              <a:rPr lang="en-US" sz="1400" dirty="0">
                <a:solidFill>
                  <a:srgbClr val="333B4F"/>
                </a:solidFill>
                <a:latin typeface="Calibri" pitchFamily="34" charset="0"/>
                <a:ea typeface="Calibri" pitchFamily="34" charset="-122"/>
                <a:cs typeface="Calibri" pitchFamily="34" charset="-120"/>
              </a:rPr>
              <a:t> → 72 and 64 (numbers)</a:t>
            </a:r>
            <a:endParaRPr lang="en-US" sz="1400" dirty="0"/>
          </a:p>
        </p:txBody>
      </p:sp>
      <p:sp>
        <p:nvSpPr>
          <p:cNvPr id="26" name="Text 23"/>
          <p:cNvSpPr txBox="1"/>
          <p:nvPr/>
        </p:nvSpPr>
        <p:spPr>
          <a:xfrm>
            <a:off x="4754880" y="4297680"/>
            <a:ext cx="5486400" cy="365760"/>
          </a:xfrm>
          <a:prstGeom prst="rect">
            <a:avLst/>
          </a:prstGeom>
          <a:noFill/>
          <a:ln/>
        </p:spPr>
        <p:txBody>
          <a:bodyPr wrap="square" lIns="0" tIns="0" rIns="0" bIns="0" rtlCol="0" anchor="ctr"/>
          <a:lstStyle/>
          <a:p>
            <a:pPr indent="0" marL="0">
              <a:buNone/>
            </a:pPr>
            <a:r>
              <a:rPr lang="en-US" sz="1500" dirty="0">
                <a:solidFill>
                  <a:srgbClr val="333B4F"/>
                </a:solidFill>
                <a:latin typeface="Calibri" pitchFamily="34" charset="0"/>
                <a:ea typeface="Calibri" pitchFamily="34" charset="-122"/>
                <a:cs typeface="Calibri" pitchFamily="34" charset="-120"/>
              </a:rPr>
              <a:t>0.4 · 72 + 0.6 · 64 = </a:t>
            </a:r>
            <a:pPr indent="0" marL="0">
              <a:buNone/>
            </a:pPr>
            <a:r>
              <a:rPr lang="en-US" sz="1500" b="1" dirty="0">
                <a:solidFill>
                  <a:srgbClr val="1F7A50"/>
                </a:solidFill>
                <a:latin typeface="Calibri" pitchFamily="34" charset="0"/>
                <a:ea typeface="Calibri" pitchFamily="34" charset="-122"/>
                <a:cs typeface="Calibri" pitchFamily="34" charset="-120"/>
              </a:rPr>
              <a:t>67.2</a:t>
            </a:r>
            <a:endParaRPr lang="en-US" sz="1500" dirty="0"/>
          </a:p>
        </p:txBody>
      </p:sp>
      <p:sp>
        <p:nvSpPr>
          <p:cNvPr id="27" name="Shape 24"/>
          <p:cNvSpPr/>
          <p:nvPr/>
        </p:nvSpPr>
        <p:spPr>
          <a:xfrm>
            <a:off x="8503920" y="3474720"/>
            <a:ext cx="3154680" cy="1188720"/>
          </a:xfrm>
          <a:prstGeom prst="roundRect">
            <a:avLst>
              <a:gd name="adj" fmla="val 9231"/>
            </a:avLst>
          </a:prstGeom>
          <a:solidFill>
            <a:srgbClr val="FFF6E3"/>
          </a:solidFill>
          <a:ln w="12700">
            <a:solidFill>
              <a:srgbClr val="FFF6E3"/>
            </a:solidFill>
            <a:prstDash val="solid"/>
          </a:ln>
        </p:spPr>
      </p:sp>
      <p:pic>
        <p:nvPicPr>
          <p:cNvPr id="28" name="Image 0" descr="preencoded.png">    </p:cNvPr>
          <p:cNvPicPr>
            <a:picLocks noChangeAspect="1"/>
          </p:cNvPicPr>
          <p:nvPr/>
        </p:nvPicPr>
        <p:blipFill>
          <a:blip r:embed="rId1"/>
          <a:stretch>
            <a:fillRect/>
          </a:stretch>
        </p:blipFill>
        <p:spPr>
          <a:xfrm>
            <a:off x="8778240" y="3794760"/>
            <a:ext cx="548640" cy="548640"/>
          </a:xfrm>
          <a:prstGeom prst="rect">
            <a:avLst/>
          </a:prstGeom>
        </p:spPr>
      </p:pic>
      <p:sp>
        <p:nvSpPr>
          <p:cNvPr id="29" name="Text 25"/>
          <p:cNvSpPr txBox="1"/>
          <p:nvPr/>
        </p:nvSpPr>
        <p:spPr>
          <a:xfrm>
            <a:off x="9601200" y="3547872"/>
            <a:ext cx="1783080" cy="1042416"/>
          </a:xfrm>
          <a:prstGeom prst="rect">
            <a:avLst/>
          </a:prstGeom>
          <a:noFill/>
          <a:ln/>
        </p:spPr>
        <p:txBody>
          <a:bodyPr wrap="square" lIns="0" tIns="0" rIns="0" bIns="0" rtlCol="0" anchor="ctr"/>
          <a:lstStyle/>
          <a:p>
            <a:pPr indent="0" marL="0">
              <a:buNone/>
            </a:pPr>
            <a:r>
              <a:rPr lang="en-US" sz="1300" b="1" dirty="0">
                <a:solidFill>
                  <a:srgbClr val="14213D"/>
                </a:solidFill>
                <a:latin typeface="Calibri" pitchFamily="34" charset="0"/>
                <a:ea typeface="Calibri" pitchFamily="34" charset="-122"/>
                <a:cs typeface="Calibri" pitchFamily="34" charset="-120"/>
              </a:rPr>
              <a:t>Week 9: </a:t>
            </a:r>
            <a:pPr indent="0" marL="0">
              <a:buNone/>
            </a:pPr>
            <a:r>
              <a:rPr lang="en-US" sz="1300" dirty="0">
                <a:solidFill>
                  <a:srgbClr val="333B4F"/>
                </a:solidFill>
                <a:latin typeface="Calibri" pitchFamily="34" charset="0"/>
                <a:ea typeface="Calibri" pitchFamily="34" charset="-122"/>
                <a:cs typeface="Calibri" pitchFamily="34" charset="-120"/>
              </a:rPr>
              <a:t>fields is a string[]; fields.Length is 3.</a:t>
            </a:r>
            <a:endParaRPr lang="en-US" sz="1300" dirty="0"/>
          </a:p>
        </p:txBody>
      </p:sp>
      <p:sp>
        <p:nvSpPr>
          <p:cNvPr id="30" name="Shape 26"/>
          <p:cNvSpPr/>
          <p:nvPr/>
        </p:nvSpPr>
        <p:spPr>
          <a:xfrm>
            <a:off x="548640" y="4892040"/>
            <a:ext cx="3566160" cy="1188720"/>
          </a:xfrm>
          <a:prstGeom prst="roundRect">
            <a:avLst>
              <a:gd name="adj" fmla="val 9231"/>
            </a:avLst>
          </a:prstGeom>
          <a:solidFill>
            <a:srgbClr val="EEF1F6"/>
          </a:solidFill>
          <a:ln w="12700">
            <a:solidFill>
              <a:srgbClr val="EEF1F6"/>
            </a:solidFill>
            <a:prstDash val="solid"/>
          </a:ln>
        </p:spPr>
      </p:sp>
      <p:sp>
        <p:nvSpPr>
          <p:cNvPr id="31" name="Shape 27"/>
          <p:cNvSpPr/>
          <p:nvPr/>
        </p:nvSpPr>
        <p:spPr>
          <a:xfrm>
            <a:off x="731520" y="5212080"/>
            <a:ext cx="548640" cy="548640"/>
          </a:xfrm>
          <a:prstGeom prst="ellipse">
            <a:avLst/>
          </a:prstGeom>
          <a:solidFill>
            <a:srgbClr val="EEF1F6"/>
          </a:solidFill>
          <a:ln w="12700">
            <a:solidFill>
              <a:srgbClr val="EEF1F6"/>
            </a:solidFill>
            <a:prstDash val="solid"/>
          </a:ln>
        </p:spPr>
      </p:sp>
      <p:pic>
        <p:nvPicPr>
          <p:cNvPr id="32" name="Image 1" descr="preencoded.png">    </p:cNvPr>
          <p:cNvPicPr>
            <a:picLocks noChangeAspect="1"/>
          </p:cNvPicPr>
          <p:nvPr/>
        </p:nvPicPr>
        <p:blipFill>
          <a:blip r:embed="rId2"/>
          <a:stretch>
            <a:fillRect/>
          </a:stretch>
        </p:blipFill>
        <p:spPr>
          <a:xfrm>
            <a:off x="874166" y="5354726"/>
            <a:ext cx="263347" cy="263347"/>
          </a:xfrm>
          <a:prstGeom prst="rect">
            <a:avLst/>
          </a:prstGeom>
        </p:spPr>
      </p:pic>
      <p:sp>
        <p:nvSpPr>
          <p:cNvPr id="33" name="Text 28"/>
          <p:cNvSpPr txBox="1"/>
          <p:nvPr/>
        </p:nvSpPr>
        <p:spPr>
          <a:xfrm>
            <a:off x="1463040" y="4946904"/>
            <a:ext cx="2514600" cy="1078992"/>
          </a:xfrm>
          <a:prstGeom prst="rect">
            <a:avLst/>
          </a:prstGeom>
          <a:noFill/>
          <a:ln/>
        </p:spPr>
        <p:txBody>
          <a:bodyPr wrap="square" lIns="0" tIns="0" rIns="0" bIns="0" rtlCol="0" anchor="ctr"/>
          <a:lstStyle/>
          <a:p>
            <a:pPr indent="0" marL="0">
              <a:spcAft>
                <a:spcPts val="200"/>
              </a:spcAft>
              <a:buNone/>
            </a:pPr>
            <a:r>
              <a:rPr lang="en-US" sz="1400" b="1" dirty="0">
                <a:solidFill>
                  <a:srgbClr val="14213D"/>
                </a:solidFill>
                <a:latin typeface="Cambria" pitchFamily="34" charset="0"/>
                <a:ea typeface="Cambria" pitchFamily="34" charset="-122"/>
                <a:cs typeface="Cambria" pitchFamily="34" charset="-120"/>
              </a:rPr>
              <a:t>Header row</a:t>
            </a:r>
            <a:endParaRPr lang="en-US" sz="1400" dirty="0"/>
          </a:p>
          <a:p>
            <a:pPr indent="0" marL="0">
              <a:spcAft>
                <a:spcPts val="200"/>
              </a:spcAft>
              <a:buNone/>
            </a:pPr>
            <a:r>
              <a:rPr lang="en-US" sz="1300" dirty="0">
                <a:solidFill>
                  <a:srgbClr val="333B4F"/>
                </a:solidFill>
                <a:latin typeface="Calibri" pitchFamily="34" charset="0"/>
                <a:ea typeface="Calibri" pitchFamily="34" charset="-122"/>
                <a:cs typeface="Calibri" pitchFamily="34" charset="-120"/>
              </a:rPr>
              <a:t>start the loop at i = 1</a:t>
            </a:r>
            <a:endParaRPr lang="en-US" sz="1400" dirty="0"/>
          </a:p>
        </p:txBody>
      </p:sp>
      <p:sp>
        <p:nvSpPr>
          <p:cNvPr id="34" name="Shape 29"/>
          <p:cNvSpPr/>
          <p:nvPr/>
        </p:nvSpPr>
        <p:spPr>
          <a:xfrm>
            <a:off x="4315968" y="4892040"/>
            <a:ext cx="3566160" cy="1188720"/>
          </a:xfrm>
          <a:prstGeom prst="roundRect">
            <a:avLst>
              <a:gd name="adj" fmla="val 9231"/>
            </a:avLst>
          </a:prstGeom>
          <a:solidFill>
            <a:srgbClr val="EEF1F6"/>
          </a:solidFill>
          <a:ln w="12700">
            <a:solidFill>
              <a:srgbClr val="EEF1F6"/>
            </a:solidFill>
            <a:prstDash val="solid"/>
          </a:ln>
        </p:spPr>
      </p:sp>
      <p:sp>
        <p:nvSpPr>
          <p:cNvPr id="35" name="Shape 30"/>
          <p:cNvSpPr/>
          <p:nvPr/>
        </p:nvSpPr>
        <p:spPr>
          <a:xfrm>
            <a:off x="4498848" y="5212080"/>
            <a:ext cx="548640" cy="548640"/>
          </a:xfrm>
          <a:prstGeom prst="ellipse">
            <a:avLst/>
          </a:prstGeom>
          <a:solidFill>
            <a:srgbClr val="EEF1F6"/>
          </a:solidFill>
          <a:ln w="12700">
            <a:solidFill>
              <a:srgbClr val="EEF1F6"/>
            </a:solidFill>
            <a:prstDash val="solid"/>
          </a:ln>
        </p:spPr>
      </p:sp>
      <p:pic>
        <p:nvPicPr>
          <p:cNvPr id="36" name="Image 2" descr="preencoded.png">    </p:cNvPr>
          <p:cNvPicPr>
            <a:picLocks noChangeAspect="1"/>
          </p:cNvPicPr>
          <p:nvPr/>
        </p:nvPicPr>
        <p:blipFill>
          <a:blip r:embed="rId3"/>
          <a:stretch>
            <a:fillRect/>
          </a:stretch>
        </p:blipFill>
        <p:spPr>
          <a:xfrm>
            <a:off x="4641494" y="5354726"/>
            <a:ext cx="263347" cy="263347"/>
          </a:xfrm>
          <a:prstGeom prst="rect">
            <a:avLst/>
          </a:prstGeom>
        </p:spPr>
      </p:pic>
      <p:sp>
        <p:nvSpPr>
          <p:cNvPr id="37" name="Text 31"/>
          <p:cNvSpPr txBox="1"/>
          <p:nvPr/>
        </p:nvSpPr>
        <p:spPr>
          <a:xfrm>
            <a:off x="5230368" y="4946904"/>
            <a:ext cx="2514600" cy="1078992"/>
          </a:xfrm>
          <a:prstGeom prst="rect">
            <a:avLst/>
          </a:prstGeom>
          <a:noFill/>
          <a:ln/>
        </p:spPr>
        <p:txBody>
          <a:bodyPr wrap="square" lIns="0" tIns="0" rIns="0" bIns="0" rtlCol="0" anchor="ctr"/>
          <a:lstStyle/>
          <a:p>
            <a:pPr indent="0" marL="0">
              <a:spcAft>
                <a:spcPts val="200"/>
              </a:spcAft>
              <a:buNone/>
            </a:pPr>
            <a:r>
              <a:rPr lang="en-US" sz="1400" b="1" dirty="0">
                <a:solidFill>
                  <a:srgbClr val="14213D"/>
                </a:solidFill>
                <a:latin typeface="Cambria" pitchFamily="34" charset="0"/>
                <a:ea typeface="Cambria" pitchFamily="34" charset="-122"/>
                <a:cs typeface="Cambria" pitchFamily="34" charset="-120"/>
              </a:rPr>
              <a:t>No commas in values</a:t>
            </a:r>
            <a:endParaRPr lang="en-US" sz="1400" dirty="0"/>
          </a:p>
          <a:p>
            <a:pPr indent="0" marL="0">
              <a:spcAft>
                <a:spcPts val="200"/>
              </a:spcAft>
              <a:buNone/>
            </a:pPr>
            <a:r>
              <a:rPr lang="en-US" sz="1300" dirty="0">
                <a:solidFill>
                  <a:srgbClr val="333B4F"/>
                </a:solidFill>
                <a:latin typeface="Calibri" pitchFamily="34" charset="0"/>
                <a:ea typeface="Calibri" pitchFamily="34" charset="-122"/>
                <a:cs typeface="Calibri" pitchFamily="34" charset="-120"/>
              </a:rPr>
              <a:t>a comma would create an extra field</a:t>
            </a:r>
            <a:endParaRPr lang="en-US" sz="1400" dirty="0"/>
          </a:p>
        </p:txBody>
      </p:sp>
      <p:sp>
        <p:nvSpPr>
          <p:cNvPr id="38" name="Shape 32"/>
          <p:cNvSpPr/>
          <p:nvPr/>
        </p:nvSpPr>
        <p:spPr>
          <a:xfrm>
            <a:off x="8083296" y="4892040"/>
            <a:ext cx="3566160" cy="1188720"/>
          </a:xfrm>
          <a:prstGeom prst="roundRect">
            <a:avLst>
              <a:gd name="adj" fmla="val 9231"/>
            </a:avLst>
          </a:prstGeom>
          <a:solidFill>
            <a:srgbClr val="EEF1F6"/>
          </a:solidFill>
          <a:ln w="12700">
            <a:solidFill>
              <a:srgbClr val="EEF1F6"/>
            </a:solidFill>
            <a:prstDash val="solid"/>
          </a:ln>
        </p:spPr>
      </p:sp>
      <p:sp>
        <p:nvSpPr>
          <p:cNvPr id="39" name="Shape 33"/>
          <p:cNvSpPr/>
          <p:nvPr/>
        </p:nvSpPr>
        <p:spPr>
          <a:xfrm>
            <a:off x="8266176" y="5212080"/>
            <a:ext cx="548640" cy="548640"/>
          </a:xfrm>
          <a:prstGeom prst="ellipse">
            <a:avLst/>
          </a:prstGeom>
          <a:solidFill>
            <a:srgbClr val="EEF1F6"/>
          </a:solidFill>
          <a:ln w="12700">
            <a:solidFill>
              <a:srgbClr val="EEF1F6"/>
            </a:solidFill>
            <a:prstDash val="solid"/>
          </a:ln>
        </p:spPr>
      </p:sp>
      <p:pic>
        <p:nvPicPr>
          <p:cNvPr id="40" name="Image 3" descr="preencoded.png">    </p:cNvPr>
          <p:cNvPicPr>
            <a:picLocks noChangeAspect="1"/>
          </p:cNvPicPr>
          <p:nvPr/>
        </p:nvPicPr>
        <p:blipFill>
          <a:blip r:embed="rId4"/>
          <a:stretch>
            <a:fillRect/>
          </a:stretch>
        </p:blipFill>
        <p:spPr>
          <a:xfrm>
            <a:off x="8408822" y="5354726"/>
            <a:ext cx="263347" cy="263347"/>
          </a:xfrm>
          <a:prstGeom prst="rect">
            <a:avLst/>
          </a:prstGeom>
        </p:spPr>
      </p:pic>
      <p:sp>
        <p:nvSpPr>
          <p:cNvPr id="41" name="Text 34"/>
          <p:cNvSpPr txBox="1"/>
          <p:nvPr/>
        </p:nvSpPr>
        <p:spPr>
          <a:xfrm>
            <a:off x="8997696" y="4946904"/>
            <a:ext cx="2514600" cy="1078992"/>
          </a:xfrm>
          <a:prstGeom prst="rect">
            <a:avLst/>
          </a:prstGeom>
          <a:noFill/>
          <a:ln/>
        </p:spPr>
        <p:txBody>
          <a:bodyPr wrap="square" lIns="0" tIns="0" rIns="0" bIns="0" rtlCol="0" anchor="ctr"/>
          <a:lstStyle/>
          <a:p>
            <a:pPr indent="0" marL="0">
              <a:spcAft>
                <a:spcPts val="200"/>
              </a:spcAft>
              <a:buNone/>
            </a:pPr>
            <a:r>
              <a:rPr lang="en-US" sz="1400" b="1" dirty="0">
                <a:solidFill>
                  <a:srgbClr val="14213D"/>
                </a:solidFill>
                <a:latin typeface="Cambria" pitchFamily="34" charset="0"/>
                <a:ea typeface="Cambria" pitchFamily="34" charset="-122"/>
                <a:cs typeface="Cambria" pitchFamily="34" charset="-120"/>
              </a:rPr>
              <a:t>Decimal point</a:t>
            </a:r>
            <a:endParaRPr lang="en-US" sz="1400" dirty="0"/>
          </a:p>
          <a:p>
            <a:pPr indent="0" marL="0">
              <a:spcAft>
                <a:spcPts val="200"/>
              </a:spcAft>
              <a:buNone/>
            </a:pPr>
            <a:r>
              <a:rPr lang="en-US" sz="1300" dirty="0">
                <a:solidFill>
                  <a:srgbClr val="333B4F"/>
                </a:solidFill>
                <a:latin typeface="Calibri" pitchFamily="34" charset="0"/>
                <a:ea typeface="Calibri" pitchFamily="34" charset="-122"/>
                <a:cs typeface="Calibri" pitchFamily="34" charset="-120"/>
              </a:rPr>
              <a:t>write 72.5, not 72,5</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EXAMPLE 4 · GRADEBOOK CSV → REPORT</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Parse each row, compute, write a report file</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14</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13</a:t>
            </a:r>
            <a:endParaRPr lang="en-US" sz="1000" dirty="0"/>
          </a:p>
        </p:txBody>
      </p:sp>
      <p:sp>
        <p:nvSpPr>
          <p:cNvPr id="7" name="Shape 4"/>
          <p:cNvSpPr/>
          <p:nvPr/>
        </p:nvSpPr>
        <p:spPr>
          <a:xfrm>
            <a:off x="548640" y="1645920"/>
            <a:ext cx="11109960" cy="2468880"/>
          </a:xfrm>
          <a:prstGeom prst="roundRect">
            <a:avLst>
              <a:gd name="adj" fmla="val 3704"/>
            </a:avLst>
          </a:prstGeom>
          <a:solidFill>
            <a:srgbClr val="0F1729"/>
          </a:solidFill>
          <a:ln w="12700">
            <a:solidFill>
              <a:srgbClr val="0F1729"/>
            </a:solidFill>
            <a:prstDash val="solid"/>
          </a:ln>
        </p:spPr>
      </p:sp>
      <p:sp>
        <p:nvSpPr>
          <p:cNvPr id="8" name="Text 5"/>
          <p:cNvSpPr txBox="1"/>
          <p:nvPr/>
        </p:nvSpPr>
        <p:spPr>
          <a:xfrm>
            <a:off x="777240" y="1755648"/>
            <a:ext cx="1065276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14_04_GradebookCsv · the loop over the rows (shortened: sum and pass count omitted)</a:t>
            </a:r>
            <a:endParaRPr lang="en-US" sz="1100" dirty="0"/>
          </a:p>
        </p:txBody>
      </p:sp>
      <p:sp>
        <p:nvSpPr>
          <p:cNvPr id="9" name="Text 6"/>
          <p:cNvSpPr txBox="1"/>
          <p:nvPr/>
        </p:nvSpPr>
        <p:spPr>
          <a:xfrm>
            <a:off x="777240" y="2057400"/>
            <a:ext cx="10652760" cy="1947672"/>
          </a:xfrm>
          <a:prstGeom prst="rect">
            <a:avLst/>
          </a:prstGeom>
          <a:noFill/>
          <a:ln/>
        </p:spPr>
        <p:txBody>
          <a:bodyPr wrap="square" lIns="0" tIns="0" rIns="0" bIns="0" rtlCol="0" anchor="t"/>
          <a:lstStyle/>
          <a:p>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for</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i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i &lt; lines.Length; i++)              </a:t>
            </a:r>
            <a:pPr indent="0" marL="0">
              <a:spcAft>
                <a:spcPts val="100"/>
              </a:spcAft>
              <a:buNone/>
            </a:pPr>
            <a:r>
              <a:rPr lang="en-US" sz="1200" dirty="0">
                <a:solidFill>
                  <a:srgbClr val="7F8BA3"/>
                </a:solidFill>
                <a:latin typeface="Courier New" pitchFamily="34" charset="0"/>
                <a:ea typeface="Courier New" pitchFamily="34" charset="-122"/>
                <a:cs typeface="Courier New" pitchFamily="34" charset="-120"/>
              </a:rPr>
              <a:t>// i = 1: skip the header row</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string</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fields = lines[i].Split(</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F8BA3"/>
                </a:solidFill>
                <a:latin typeface="Courier New" pitchFamily="34" charset="0"/>
                <a:ea typeface="Courier New" pitchFamily="34" charset="-122"/>
                <a:cs typeface="Courier New" pitchFamily="34" charset="-120"/>
              </a:rPr>
              <a:t>// "Ayse Kaya,72,64" -&gt; 3 fields</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string</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name = fields[</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midterm =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.Parse(fields[</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final =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.Parse(fields[</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2</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double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average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0.4</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 midterm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0.6</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 final;   </a:t>
            </a:r>
            <a:pPr indent="0" marL="0">
              <a:spcAft>
                <a:spcPts val="100"/>
              </a:spcAft>
              <a:buNone/>
            </a:pPr>
            <a:r>
              <a:rPr lang="en-US" sz="1200" dirty="0">
                <a:solidFill>
                  <a:srgbClr val="7F8BA3"/>
                </a:solidFill>
                <a:latin typeface="Courier New" pitchFamily="34" charset="0"/>
                <a:ea typeface="Courier New" pitchFamily="34" charset="-122"/>
                <a:cs typeface="Courier New" pitchFamily="34" charset="-120"/>
              </a:rPr>
              <a:t>// MCMP113 weights: 40 % + 60 %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string</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letter = LetterGrade(average);</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report.WriteLine(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$"{name,-14}{midterm,4}{final,5}{average,7:F1}  {letter}"</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p:txBody>
      </p:sp>
      <p:sp>
        <p:nvSpPr>
          <p:cNvPr id="10" name="Shape 7"/>
          <p:cNvSpPr/>
          <p:nvPr/>
        </p:nvSpPr>
        <p:spPr>
          <a:xfrm>
            <a:off x="548640" y="4206240"/>
            <a:ext cx="6766560" cy="1874520"/>
          </a:xfrm>
          <a:prstGeom prst="roundRect">
            <a:avLst>
              <a:gd name="adj" fmla="val 4878"/>
            </a:avLst>
          </a:prstGeom>
          <a:solidFill>
            <a:srgbClr val="0B0F19"/>
          </a:solidFill>
          <a:ln w="12700">
            <a:solidFill>
              <a:srgbClr val="2A3654"/>
            </a:solidFill>
            <a:prstDash val="solid"/>
          </a:ln>
        </p:spPr>
      </p:sp>
      <p:sp>
        <p:nvSpPr>
          <p:cNvPr id="11" name="Shape 8"/>
          <p:cNvSpPr/>
          <p:nvPr/>
        </p:nvSpPr>
        <p:spPr>
          <a:xfrm>
            <a:off x="731520" y="4334256"/>
            <a:ext cx="118872" cy="118872"/>
          </a:xfrm>
          <a:prstGeom prst="ellipse">
            <a:avLst/>
          </a:prstGeom>
          <a:solidFill>
            <a:srgbClr val="FF5F57"/>
          </a:solidFill>
          <a:ln w="12700">
            <a:solidFill>
              <a:srgbClr val="FF5F57"/>
            </a:solidFill>
            <a:prstDash val="solid"/>
          </a:ln>
        </p:spPr>
      </p:sp>
      <p:sp>
        <p:nvSpPr>
          <p:cNvPr id="12" name="Shape 9"/>
          <p:cNvSpPr/>
          <p:nvPr/>
        </p:nvSpPr>
        <p:spPr>
          <a:xfrm>
            <a:off x="960120" y="4334256"/>
            <a:ext cx="118872" cy="118872"/>
          </a:xfrm>
          <a:prstGeom prst="ellipse">
            <a:avLst/>
          </a:prstGeom>
          <a:solidFill>
            <a:srgbClr val="FEBC2E"/>
          </a:solidFill>
          <a:ln w="12700">
            <a:solidFill>
              <a:srgbClr val="FEBC2E"/>
            </a:solidFill>
            <a:prstDash val="solid"/>
          </a:ln>
        </p:spPr>
      </p:sp>
      <p:sp>
        <p:nvSpPr>
          <p:cNvPr id="13" name="Shape 10"/>
          <p:cNvSpPr/>
          <p:nvPr/>
        </p:nvSpPr>
        <p:spPr>
          <a:xfrm>
            <a:off x="1188720" y="4334256"/>
            <a:ext cx="118872" cy="118872"/>
          </a:xfrm>
          <a:prstGeom prst="ellipse">
            <a:avLst/>
          </a:prstGeom>
          <a:solidFill>
            <a:srgbClr val="28C840"/>
          </a:solidFill>
          <a:ln w="12700">
            <a:solidFill>
              <a:srgbClr val="28C840"/>
            </a:solidFill>
            <a:prstDash val="solid"/>
          </a:ln>
        </p:spPr>
      </p:sp>
      <p:sp>
        <p:nvSpPr>
          <p:cNvPr id="14" name="Text 11"/>
          <p:cNvSpPr txBox="1"/>
          <p:nvPr/>
        </p:nvSpPr>
        <p:spPr>
          <a:xfrm>
            <a:off x="1463040" y="4279392"/>
            <a:ext cx="566928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report.txt (printed with File.ReadAllText)</a:t>
            </a:r>
            <a:endParaRPr lang="en-US" sz="1000" dirty="0"/>
          </a:p>
        </p:txBody>
      </p:sp>
      <p:sp>
        <p:nvSpPr>
          <p:cNvPr id="15" name="Text 12"/>
          <p:cNvSpPr txBox="1"/>
          <p:nvPr/>
        </p:nvSpPr>
        <p:spPr>
          <a:xfrm>
            <a:off x="777240" y="4590288"/>
            <a:ext cx="6309360" cy="1371600"/>
          </a:xfrm>
          <a:prstGeom prst="rect">
            <a:avLst/>
          </a:prstGeom>
          <a:noFill/>
          <a:ln/>
        </p:spPr>
        <p:txBody>
          <a:bodyPr wrap="square" lIns="0" tIns="0" rIns="0" bIns="0" rtlCol="0" anchor="t"/>
          <a:lstStyle/>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Student        Mid  Fin    Avg  Grade</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Ayse Kaya       72   64   67.2  DC</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Burak Demir     55   66   61.6  DD</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Ceren Yildiz    88   95   92.2  AA</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Deniz Arslan    58   61   59.8  FF</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Emre Sahin      30   41   36.6  FF</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Class average: 63.48, passed: 3 of 5</a:t>
            </a:r>
            <a:endParaRPr lang="en-US" sz="1200" dirty="0"/>
          </a:p>
        </p:txBody>
      </p:sp>
      <p:sp>
        <p:nvSpPr>
          <p:cNvPr id="16" name="Shape 13"/>
          <p:cNvSpPr/>
          <p:nvPr/>
        </p:nvSpPr>
        <p:spPr>
          <a:xfrm>
            <a:off x="7543800" y="4206240"/>
            <a:ext cx="4114800" cy="1874520"/>
          </a:xfrm>
          <a:prstGeom prst="roundRect">
            <a:avLst>
              <a:gd name="adj" fmla="val 5854"/>
            </a:avLst>
          </a:prstGeom>
          <a:solidFill>
            <a:srgbClr val="FFF6E3"/>
          </a:solidFill>
          <a:ln w="12700">
            <a:solidFill>
              <a:srgbClr val="FFF6E3"/>
            </a:solidFill>
            <a:prstDash val="solid"/>
          </a:ln>
        </p:spPr>
      </p:sp>
      <p:pic>
        <p:nvPicPr>
          <p:cNvPr id="17" name="Image 0" descr="preencoded.png">    </p:cNvPr>
          <p:cNvPicPr>
            <a:picLocks noChangeAspect="1"/>
          </p:cNvPicPr>
          <p:nvPr/>
        </p:nvPicPr>
        <p:blipFill>
          <a:blip r:embed="rId1"/>
          <a:stretch>
            <a:fillRect/>
          </a:stretch>
        </p:blipFill>
        <p:spPr>
          <a:xfrm>
            <a:off x="7818120" y="4869180"/>
            <a:ext cx="548640" cy="548640"/>
          </a:xfrm>
          <a:prstGeom prst="rect">
            <a:avLst/>
          </a:prstGeom>
        </p:spPr>
      </p:pic>
      <p:sp>
        <p:nvSpPr>
          <p:cNvPr id="18" name="Text 14"/>
          <p:cNvSpPr txBox="1"/>
          <p:nvPr/>
        </p:nvSpPr>
        <p:spPr>
          <a:xfrm>
            <a:off x="8641080" y="4279392"/>
            <a:ext cx="2743200" cy="1728216"/>
          </a:xfrm>
          <a:prstGeom prst="rect">
            <a:avLst/>
          </a:prstGeom>
          <a:noFill/>
          <a:ln/>
        </p:spPr>
        <p:txBody>
          <a:bodyPr wrap="square" lIns="0" tIns="0" rIns="0" bIns="0" rtlCol="0" anchor="ctr"/>
          <a:lstStyle/>
          <a:p>
            <a:pPr indent="0" marL="0">
              <a:buNone/>
            </a:pPr>
            <a:r>
              <a:rPr lang="en-US" sz="1400" b="1" dirty="0">
                <a:solidFill>
                  <a:srgbClr val="14213D"/>
                </a:solidFill>
                <a:latin typeface="Calibri" pitchFamily="34" charset="0"/>
                <a:ea typeface="Calibri" pitchFamily="34" charset="-122"/>
                <a:cs typeface="Calibri" pitchFamily="34" charset="-120"/>
              </a:rPr>
              <a:t>Why i = 1? </a:t>
            </a:r>
            <a:pPr indent="0" marL="0">
              <a:buNone/>
            </a:pPr>
            <a:r>
              <a:rPr lang="en-US" sz="1400" dirty="0">
                <a:solidFill>
                  <a:srgbClr val="333B4F"/>
                </a:solidFill>
                <a:latin typeface="Calibri" pitchFamily="34" charset="0"/>
                <a:ea typeface="Calibri" pitchFamily="34" charset="-122"/>
                <a:cs typeface="Calibri" pitchFamily="34" charset="-120"/>
              </a:rPr>
              <a:t>line 0 is the header; </a:t>
            </a:r>
            <a:pPr indent="0" marL="0">
              <a:buNone/>
            </a:pPr>
            <a:r>
              <a:rPr lang="en-US" sz="1400" dirty="0">
                <a:solidFill>
                  <a:srgbClr val="333B4F"/>
                </a:solidFill>
                <a:latin typeface="Courier New" pitchFamily="34" charset="0"/>
                <a:ea typeface="Courier New" pitchFamily="34" charset="-122"/>
                <a:cs typeface="Courier New" pitchFamily="34" charset="-120"/>
              </a:rPr>
              <a:t>int.Parse("midterm")</a:t>
            </a:r>
            <a:pPr indent="0" marL="0">
              <a:buNone/>
            </a:pPr>
            <a:r>
              <a:rPr lang="en-US" sz="1400" dirty="0">
                <a:solidFill>
                  <a:srgbClr val="333B4F"/>
                </a:solidFill>
                <a:latin typeface="Calibri" pitchFamily="34" charset="0"/>
                <a:ea typeface="Calibri" pitchFamily="34" charset="-122"/>
                <a:cs typeface="Calibri" pitchFamily="34" charset="-120"/>
              </a:rPr>
              <a:t> throws a FormatException.</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EXAMPLE 5 · PERSISTENCE</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A to-do list that is still there tomorrow</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14</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14</a:t>
            </a:r>
            <a:endParaRPr lang="en-US" sz="1000" dirty="0"/>
          </a:p>
        </p:txBody>
      </p:sp>
      <p:sp>
        <p:nvSpPr>
          <p:cNvPr id="7" name="Shape 4"/>
          <p:cNvSpPr/>
          <p:nvPr/>
        </p:nvSpPr>
        <p:spPr>
          <a:xfrm>
            <a:off x="548640" y="1645920"/>
            <a:ext cx="5852160" cy="2103120"/>
          </a:xfrm>
          <a:prstGeom prst="roundRect">
            <a:avLst>
              <a:gd name="adj" fmla="val 4348"/>
            </a:avLst>
          </a:prstGeom>
          <a:solidFill>
            <a:srgbClr val="0F1729"/>
          </a:solidFill>
          <a:ln w="12700">
            <a:solidFill>
              <a:srgbClr val="0F1729"/>
            </a:solidFill>
            <a:prstDash val="solid"/>
          </a:ln>
        </p:spPr>
      </p:sp>
      <p:sp>
        <p:nvSpPr>
          <p:cNvPr id="8" name="Text 5"/>
          <p:cNvSpPr txBox="1"/>
          <p:nvPr/>
        </p:nvSpPr>
        <p:spPr>
          <a:xfrm>
            <a:off x="777240" y="1755648"/>
            <a:ext cx="539496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add = append one line</a:t>
            </a:r>
            <a:endParaRPr lang="en-US" sz="1100" dirty="0"/>
          </a:p>
        </p:txBody>
      </p:sp>
      <p:sp>
        <p:nvSpPr>
          <p:cNvPr id="9" name="Text 6"/>
          <p:cNvSpPr txBox="1"/>
          <p:nvPr/>
        </p:nvSpPr>
        <p:spPr>
          <a:xfrm>
            <a:off x="777240" y="2057400"/>
            <a:ext cx="5394960" cy="1581912"/>
          </a:xfrm>
          <a:prstGeom prst="rect">
            <a:avLst/>
          </a:prstGeom>
          <a:noFill/>
          <a:ln/>
        </p:spPr>
        <p:txBody>
          <a:bodyPr wrap="square" lIns="0" tIns="0" rIns="0" bIns="0" rtlCol="0" anchor="t"/>
          <a:lstStyle/>
          <a:p>
            <a:pPr indent="0" marL="0">
              <a:spcAft>
                <a:spcPts val="100"/>
              </a:spcAft>
              <a:buNone/>
            </a:pPr>
            <a:r>
              <a:rPr lang="en-US" sz="125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.Write(</a:t>
            </a:r>
            <a:pPr indent="0" marL="0">
              <a:spcAft>
                <a:spcPts val="100"/>
              </a:spcAft>
              <a:buNone/>
            </a:pPr>
            <a:r>
              <a:rPr lang="en-US" sz="1250" dirty="0">
                <a:solidFill>
                  <a:srgbClr val="CE9178"/>
                </a:solidFill>
                <a:latin typeface="Courier New" pitchFamily="34" charset="0"/>
                <a:ea typeface="Courier New" pitchFamily="34" charset="-122"/>
                <a:cs typeface="Courier New" pitchFamily="34" charset="-120"/>
              </a:rPr>
              <a:t>"New task: "</a:t>
            </a:r>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a:t>
            </a:r>
            <a:endParaRPr lang="en-US" sz="1250" dirty="0"/>
          </a:p>
          <a:p>
            <a:pPr indent="0" marL="0">
              <a:spcAft>
                <a:spcPts val="100"/>
              </a:spcAft>
              <a:buNone/>
            </a:pPr>
            <a:r>
              <a:rPr lang="en-US" sz="1250" dirty="0">
                <a:solidFill>
                  <a:srgbClr val="4EC9B0"/>
                </a:solidFill>
                <a:latin typeface="Courier New" pitchFamily="34" charset="0"/>
                <a:ea typeface="Courier New" pitchFamily="34" charset="-122"/>
                <a:cs typeface="Courier New" pitchFamily="34" charset="-120"/>
              </a:rPr>
              <a:t>string</a:t>
            </a:r>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 task = </a:t>
            </a:r>
            <a:pPr indent="0" marL="0">
              <a:spcAft>
                <a:spcPts val="100"/>
              </a:spcAft>
              <a:buNone/>
            </a:pPr>
            <a:r>
              <a:rPr lang="en-US" sz="125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.ReadLine();</a:t>
            </a:r>
            <a:endParaRPr lang="en-US" sz="1250" dirty="0"/>
          </a:p>
          <a:p>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File.AppendAllText(path, task + Environment.NewLine);</a:t>
            </a:r>
            <a:endParaRPr lang="en-US" sz="1250" dirty="0"/>
          </a:p>
          <a:p>
            <a:pPr indent="0" marL="0">
              <a:spcAft>
                <a:spcPts val="100"/>
              </a:spcAft>
              <a:buNone/>
            </a:pPr>
            <a:r>
              <a:rPr lang="en-US" sz="125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250" dirty="0">
                <a:solidFill>
                  <a:srgbClr val="CE9178"/>
                </a:solidFill>
                <a:latin typeface="Courier New" pitchFamily="34" charset="0"/>
                <a:ea typeface="Courier New" pitchFamily="34" charset="-122"/>
                <a:cs typeface="Courier New" pitchFamily="34" charset="-120"/>
              </a:rPr>
              <a:t>"Saved."</a:t>
            </a:r>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a:t>
            </a:r>
            <a:endParaRPr lang="en-US" sz="1250" dirty="0"/>
          </a:p>
        </p:txBody>
      </p:sp>
      <p:sp>
        <p:nvSpPr>
          <p:cNvPr id="10" name="Shape 7"/>
          <p:cNvSpPr/>
          <p:nvPr/>
        </p:nvSpPr>
        <p:spPr>
          <a:xfrm>
            <a:off x="548640" y="3840480"/>
            <a:ext cx="5852160" cy="2240280"/>
          </a:xfrm>
          <a:prstGeom prst="roundRect">
            <a:avLst>
              <a:gd name="adj" fmla="val 4082"/>
            </a:avLst>
          </a:prstGeom>
          <a:solidFill>
            <a:srgbClr val="0F1729"/>
          </a:solidFill>
          <a:ln w="12700">
            <a:solidFill>
              <a:srgbClr val="0F1729"/>
            </a:solidFill>
            <a:prstDash val="solid"/>
          </a:ln>
        </p:spPr>
      </p:sp>
      <p:sp>
        <p:nvSpPr>
          <p:cNvPr id="11" name="Text 8"/>
          <p:cNvSpPr txBox="1"/>
          <p:nvPr/>
        </p:nvSpPr>
        <p:spPr>
          <a:xfrm>
            <a:off x="777240" y="3950208"/>
            <a:ext cx="539496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load (first run: empty array)</a:t>
            </a:r>
            <a:endParaRPr lang="en-US" sz="1100" dirty="0"/>
          </a:p>
        </p:txBody>
      </p:sp>
      <p:sp>
        <p:nvSpPr>
          <p:cNvPr id="12" name="Text 9"/>
          <p:cNvSpPr txBox="1"/>
          <p:nvPr/>
        </p:nvSpPr>
        <p:spPr>
          <a:xfrm>
            <a:off x="777240" y="4251960"/>
            <a:ext cx="5394960" cy="1719072"/>
          </a:xfrm>
          <a:prstGeom prst="rect">
            <a:avLst/>
          </a:prstGeom>
          <a:noFill/>
          <a:ln/>
        </p:spPr>
        <p:txBody>
          <a:bodyPr wrap="square" lIns="0" tIns="0" rIns="0" bIns="0" rtlCol="0" anchor="t"/>
          <a:lstStyle/>
          <a:p>
            <a:pPr indent="0" marL="0">
              <a:spcAft>
                <a:spcPts val="100"/>
              </a:spcAft>
              <a:buNone/>
            </a:pPr>
            <a:r>
              <a:rPr lang="en-US" sz="1300" dirty="0">
                <a:solidFill>
                  <a:srgbClr val="7AB8FF"/>
                </a:solidFill>
                <a:latin typeface="Courier New" pitchFamily="34" charset="0"/>
                <a:ea typeface="Courier New" pitchFamily="34" charset="-122"/>
                <a:cs typeface="Courier New" pitchFamily="34" charset="-120"/>
              </a:rPr>
              <a:t>static</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string</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LoadTasks(</a:t>
            </a:r>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string</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path)</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7AB8FF"/>
                </a:solidFill>
                <a:latin typeface="Courier New" pitchFamily="34" charset="0"/>
                <a:ea typeface="Courier New" pitchFamily="34" charset="-122"/>
                <a:cs typeface="Courier New" pitchFamily="34" charset="-120"/>
              </a:rPr>
              <a:t>if</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(!File.Exists(path))</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7AB8FF"/>
                </a:solidFill>
                <a:latin typeface="Courier New" pitchFamily="34" charset="0"/>
                <a:ea typeface="Courier New" pitchFamily="34" charset="-122"/>
                <a:cs typeface="Courier New" pitchFamily="34" charset="-120"/>
              </a:rPr>
              <a:t>return</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7AB8FF"/>
                </a:solidFill>
                <a:latin typeface="Courier New" pitchFamily="34" charset="0"/>
                <a:ea typeface="Courier New" pitchFamily="34" charset="-122"/>
                <a:cs typeface="Courier New" pitchFamily="34" charset="-120"/>
              </a:rPr>
              <a:t>new</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string</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7AB8FF"/>
                </a:solidFill>
                <a:latin typeface="Courier New" pitchFamily="34" charset="0"/>
                <a:ea typeface="Courier New" pitchFamily="34" charset="-122"/>
                <a:cs typeface="Courier New" pitchFamily="34" charset="-120"/>
              </a:rPr>
              <a:t>return</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File.ReadAllLines(path);</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p:txBody>
      </p:sp>
      <p:sp>
        <p:nvSpPr>
          <p:cNvPr id="13" name="Shape 10"/>
          <p:cNvSpPr/>
          <p:nvPr/>
        </p:nvSpPr>
        <p:spPr>
          <a:xfrm>
            <a:off x="6629400" y="1645920"/>
            <a:ext cx="5029200" cy="1965960"/>
          </a:xfrm>
          <a:prstGeom prst="roundRect">
            <a:avLst>
              <a:gd name="adj" fmla="val 4651"/>
            </a:avLst>
          </a:prstGeom>
          <a:solidFill>
            <a:srgbClr val="0B0F19"/>
          </a:solidFill>
          <a:ln w="12700">
            <a:solidFill>
              <a:srgbClr val="2A3654"/>
            </a:solidFill>
            <a:prstDash val="solid"/>
          </a:ln>
        </p:spPr>
      </p:sp>
      <p:sp>
        <p:nvSpPr>
          <p:cNvPr id="14" name="Shape 11"/>
          <p:cNvSpPr/>
          <p:nvPr/>
        </p:nvSpPr>
        <p:spPr>
          <a:xfrm>
            <a:off x="6812280" y="1773936"/>
            <a:ext cx="118872" cy="118872"/>
          </a:xfrm>
          <a:prstGeom prst="ellipse">
            <a:avLst/>
          </a:prstGeom>
          <a:solidFill>
            <a:srgbClr val="FF5F57"/>
          </a:solidFill>
          <a:ln w="12700">
            <a:solidFill>
              <a:srgbClr val="FF5F57"/>
            </a:solidFill>
            <a:prstDash val="solid"/>
          </a:ln>
        </p:spPr>
      </p:sp>
      <p:sp>
        <p:nvSpPr>
          <p:cNvPr id="15" name="Shape 12"/>
          <p:cNvSpPr/>
          <p:nvPr/>
        </p:nvSpPr>
        <p:spPr>
          <a:xfrm>
            <a:off x="7040880" y="1773936"/>
            <a:ext cx="118872" cy="118872"/>
          </a:xfrm>
          <a:prstGeom prst="ellipse">
            <a:avLst/>
          </a:prstGeom>
          <a:solidFill>
            <a:srgbClr val="FEBC2E"/>
          </a:solidFill>
          <a:ln w="12700">
            <a:solidFill>
              <a:srgbClr val="FEBC2E"/>
            </a:solidFill>
            <a:prstDash val="solid"/>
          </a:ln>
        </p:spPr>
      </p:sp>
      <p:sp>
        <p:nvSpPr>
          <p:cNvPr id="16" name="Shape 13"/>
          <p:cNvSpPr/>
          <p:nvPr/>
        </p:nvSpPr>
        <p:spPr>
          <a:xfrm>
            <a:off x="7269480" y="1773936"/>
            <a:ext cx="118872" cy="118872"/>
          </a:xfrm>
          <a:prstGeom prst="ellipse">
            <a:avLst/>
          </a:prstGeom>
          <a:solidFill>
            <a:srgbClr val="28C840"/>
          </a:solidFill>
          <a:ln w="12700">
            <a:solidFill>
              <a:srgbClr val="28C840"/>
            </a:solidFill>
            <a:prstDash val="solid"/>
          </a:ln>
        </p:spPr>
      </p:sp>
      <p:sp>
        <p:nvSpPr>
          <p:cNvPr id="17" name="Text 14"/>
          <p:cNvSpPr txBox="1"/>
          <p:nvPr/>
        </p:nvSpPr>
        <p:spPr>
          <a:xfrm>
            <a:off x="7543800" y="1719072"/>
            <a:ext cx="393192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run 1 · end</a:t>
            </a:r>
            <a:endParaRPr lang="en-US" sz="1000" dirty="0"/>
          </a:p>
        </p:txBody>
      </p:sp>
      <p:sp>
        <p:nvSpPr>
          <p:cNvPr id="18" name="Text 15"/>
          <p:cNvSpPr txBox="1"/>
          <p:nvPr/>
        </p:nvSpPr>
        <p:spPr>
          <a:xfrm>
            <a:off x="6858000" y="2029968"/>
            <a:ext cx="4572000" cy="1463040"/>
          </a:xfrm>
          <a:prstGeom prst="rect">
            <a:avLst/>
          </a:prstGeom>
          <a:noFill/>
          <a:ln/>
        </p:spPr>
        <p:txBody>
          <a:bodyPr wrap="square" lIns="0" tIns="0" rIns="0" bIns="0" rtlCol="0" anchor="t"/>
          <a:lstStyle/>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  1. Revise arrays for the final</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  2. Finish lab 14 exercises</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  3. Email the project group</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1 List  2 Add  3 Done  0 Quit &gt; </a:t>
            </a:r>
            <a:pPr indent="0" marL="0">
              <a:spcAft>
                <a:spcPts val="100"/>
              </a:spcAft>
              <a:buNone/>
            </a:pPr>
            <a:r>
              <a:rPr lang="en-US" sz="1300" b="1" dirty="0">
                <a:solidFill>
                  <a:srgbClr val="FCA311"/>
                </a:solidFill>
                <a:latin typeface="Courier New" pitchFamily="34" charset="0"/>
                <a:ea typeface="Courier New" pitchFamily="34" charset="-122"/>
                <a:cs typeface="Courier New" pitchFamily="34" charset="-120"/>
              </a:rPr>
              <a:t>0</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Bye! Your list is saved.</a:t>
            </a:r>
            <a:endParaRPr lang="en-US" sz="1300" dirty="0"/>
          </a:p>
        </p:txBody>
      </p:sp>
      <p:sp>
        <p:nvSpPr>
          <p:cNvPr id="19" name="Shape 16"/>
          <p:cNvSpPr/>
          <p:nvPr/>
        </p:nvSpPr>
        <p:spPr>
          <a:xfrm>
            <a:off x="6629400" y="3703320"/>
            <a:ext cx="5029200" cy="2377440"/>
          </a:xfrm>
          <a:prstGeom prst="roundRect">
            <a:avLst>
              <a:gd name="adj" fmla="val 3846"/>
            </a:avLst>
          </a:prstGeom>
          <a:solidFill>
            <a:srgbClr val="0B0F19"/>
          </a:solidFill>
          <a:ln w="12700">
            <a:solidFill>
              <a:srgbClr val="2A3654"/>
            </a:solidFill>
            <a:prstDash val="solid"/>
          </a:ln>
        </p:spPr>
      </p:sp>
      <p:sp>
        <p:nvSpPr>
          <p:cNvPr id="20" name="Shape 17"/>
          <p:cNvSpPr/>
          <p:nvPr/>
        </p:nvSpPr>
        <p:spPr>
          <a:xfrm>
            <a:off x="6812280" y="3831336"/>
            <a:ext cx="118872" cy="118872"/>
          </a:xfrm>
          <a:prstGeom prst="ellipse">
            <a:avLst/>
          </a:prstGeom>
          <a:solidFill>
            <a:srgbClr val="FF5F57"/>
          </a:solidFill>
          <a:ln w="12700">
            <a:solidFill>
              <a:srgbClr val="FF5F57"/>
            </a:solidFill>
            <a:prstDash val="solid"/>
          </a:ln>
        </p:spPr>
      </p:sp>
      <p:sp>
        <p:nvSpPr>
          <p:cNvPr id="21" name="Shape 18"/>
          <p:cNvSpPr/>
          <p:nvPr/>
        </p:nvSpPr>
        <p:spPr>
          <a:xfrm>
            <a:off x="7040880" y="3831336"/>
            <a:ext cx="118872" cy="118872"/>
          </a:xfrm>
          <a:prstGeom prst="ellipse">
            <a:avLst/>
          </a:prstGeom>
          <a:solidFill>
            <a:srgbClr val="FEBC2E"/>
          </a:solidFill>
          <a:ln w="12700">
            <a:solidFill>
              <a:srgbClr val="FEBC2E"/>
            </a:solidFill>
            <a:prstDash val="solid"/>
          </a:ln>
        </p:spPr>
      </p:sp>
      <p:sp>
        <p:nvSpPr>
          <p:cNvPr id="22" name="Shape 19"/>
          <p:cNvSpPr/>
          <p:nvPr/>
        </p:nvSpPr>
        <p:spPr>
          <a:xfrm>
            <a:off x="7269480" y="3831336"/>
            <a:ext cx="118872" cy="118872"/>
          </a:xfrm>
          <a:prstGeom prst="ellipse">
            <a:avLst/>
          </a:prstGeom>
          <a:solidFill>
            <a:srgbClr val="28C840"/>
          </a:solidFill>
          <a:ln w="12700">
            <a:solidFill>
              <a:srgbClr val="28C840"/>
            </a:solidFill>
            <a:prstDash val="solid"/>
          </a:ln>
        </p:spPr>
      </p:sp>
      <p:sp>
        <p:nvSpPr>
          <p:cNvPr id="23" name="Text 20"/>
          <p:cNvSpPr txBox="1"/>
          <p:nvPr/>
        </p:nvSpPr>
        <p:spPr>
          <a:xfrm>
            <a:off x="7543800" y="3776472"/>
            <a:ext cx="393192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run 2 · the list was loaded</a:t>
            </a:r>
            <a:endParaRPr lang="en-US" sz="1000" dirty="0"/>
          </a:p>
        </p:txBody>
      </p:sp>
      <p:sp>
        <p:nvSpPr>
          <p:cNvPr id="24" name="Text 21"/>
          <p:cNvSpPr txBox="1"/>
          <p:nvPr/>
        </p:nvSpPr>
        <p:spPr>
          <a:xfrm>
            <a:off x="6858000" y="4087368"/>
            <a:ext cx="4572000" cy="1874520"/>
          </a:xfrm>
          <a:prstGeom prst="rect">
            <a:avLst/>
          </a:prstGeom>
          <a:noFill/>
          <a:ln/>
        </p:spPr>
        <p:txBody>
          <a:bodyPr wrap="square" lIns="0" tIns="0" rIns="0" bIns="0" rtlCol="0" anchor="t"/>
          <a:lstStyle/>
          <a:p>
            <a:pPr indent="0" marL="0">
              <a:spcAft>
                <a:spcPts val="100"/>
              </a:spcAft>
              <a:buNone/>
            </a:pPr>
            <a:r>
              <a:rPr lang="en-US" sz="1250" dirty="0">
                <a:solidFill>
                  <a:srgbClr val="7EE2A8"/>
                </a:solidFill>
                <a:latin typeface="Courier New" pitchFamily="34" charset="0"/>
                <a:ea typeface="Courier New" pitchFamily="34" charset="-122"/>
                <a:cs typeface="Courier New" pitchFamily="34" charset="-120"/>
              </a:rPr>
              <a:t>Welcome back! 3 task(s) loaded from todo.txt.</a:t>
            </a:r>
            <a:endParaRPr lang="en-US" sz="1250" dirty="0"/>
          </a:p>
          <a:p>
            <a:pPr indent="0" marL="0">
              <a:spcAft>
                <a:spcPts val="100"/>
              </a:spcAft>
              <a:buNone/>
            </a:pPr>
            <a:r>
              <a:rPr lang="en-US" sz="1250" dirty="0">
                <a:solidFill>
                  <a:srgbClr val="7EE2A8"/>
                </a:solidFill>
                <a:latin typeface="Courier New" pitchFamily="34" charset="0"/>
                <a:ea typeface="Courier New" pitchFamily="34" charset="-122"/>
                <a:cs typeface="Courier New" pitchFamily="34" charset="-120"/>
              </a:rPr>
              <a:t>1 List  2 Add  3 Done  0 Quit &gt; </a:t>
            </a:r>
            <a:pPr indent="0" marL="0">
              <a:spcAft>
                <a:spcPts val="100"/>
              </a:spcAft>
              <a:buNone/>
            </a:pPr>
            <a:r>
              <a:rPr lang="en-US" sz="1250" b="1" dirty="0">
                <a:solidFill>
                  <a:srgbClr val="FCA311"/>
                </a:solidFill>
                <a:latin typeface="Courier New" pitchFamily="34" charset="0"/>
                <a:ea typeface="Courier New" pitchFamily="34" charset="-122"/>
                <a:cs typeface="Courier New" pitchFamily="34" charset="-120"/>
              </a:rPr>
              <a:t>1</a:t>
            </a:r>
            <a:endParaRPr lang="en-US" sz="1250" dirty="0"/>
          </a:p>
          <a:p>
            <a:pPr indent="0" marL="0">
              <a:spcAft>
                <a:spcPts val="100"/>
              </a:spcAft>
              <a:buNone/>
            </a:pPr>
            <a:r>
              <a:rPr lang="en-US" sz="1250" dirty="0">
                <a:solidFill>
                  <a:srgbClr val="7EE2A8"/>
                </a:solidFill>
                <a:latin typeface="Courier New" pitchFamily="34" charset="0"/>
                <a:ea typeface="Courier New" pitchFamily="34" charset="-122"/>
                <a:cs typeface="Courier New" pitchFamily="34" charset="-120"/>
              </a:rPr>
              <a:t>  1. Revise arrays for the final</a:t>
            </a:r>
            <a:endParaRPr lang="en-US" sz="1250" dirty="0"/>
          </a:p>
          <a:p>
            <a:pPr indent="0" marL="0">
              <a:spcAft>
                <a:spcPts val="100"/>
              </a:spcAft>
              <a:buNone/>
            </a:pPr>
            <a:r>
              <a:rPr lang="en-US" sz="1250" dirty="0">
                <a:solidFill>
                  <a:srgbClr val="7EE2A8"/>
                </a:solidFill>
                <a:latin typeface="Courier New" pitchFamily="34" charset="0"/>
                <a:ea typeface="Courier New" pitchFamily="34" charset="-122"/>
                <a:cs typeface="Courier New" pitchFamily="34" charset="-120"/>
              </a:rPr>
              <a:t>  2. Finish lab 14 exercises</a:t>
            </a:r>
            <a:endParaRPr lang="en-US" sz="1250" dirty="0"/>
          </a:p>
          <a:p>
            <a:pPr indent="0" marL="0">
              <a:spcAft>
                <a:spcPts val="100"/>
              </a:spcAft>
              <a:buNone/>
            </a:pPr>
            <a:r>
              <a:rPr lang="en-US" sz="1250" dirty="0">
                <a:solidFill>
                  <a:srgbClr val="7EE2A8"/>
                </a:solidFill>
                <a:latin typeface="Courier New" pitchFamily="34" charset="0"/>
                <a:ea typeface="Courier New" pitchFamily="34" charset="-122"/>
                <a:cs typeface="Courier New" pitchFamily="34" charset="-120"/>
              </a:rPr>
              <a:t>  3. Email the project group</a:t>
            </a:r>
            <a:endParaRPr lang="en-US" sz="1250" dirty="0"/>
          </a:p>
          <a:p>
            <a:pPr indent="0" marL="0">
              <a:spcAft>
                <a:spcPts val="100"/>
              </a:spcAft>
              <a:buNone/>
            </a:pPr>
            <a:r>
              <a:rPr lang="en-US" sz="1250" dirty="0">
                <a:solidFill>
                  <a:srgbClr val="7EE2A8"/>
                </a:solidFill>
                <a:latin typeface="Courier New" pitchFamily="34" charset="0"/>
                <a:ea typeface="Courier New" pitchFamily="34" charset="-122"/>
                <a:cs typeface="Courier New" pitchFamily="34" charset="-120"/>
              </a:rPr>
              <a:t>Number of the finished task: </a:t>
            </a:r>
            <a:pPr indent="0" marL="0">
              <a:spcAft>
                <a:spcPts val="100"/>
              </a:spcAft>
              <a:buNone/>
            </a:pPr>
            <a:r>
              <a:rPr lang="en-US" sz="1250" b="1" dirty="0">
                <a:solidFill>
                  <a:srgbClr val="FCA311"/>
                </a:solidFill>
                <a:latin typeface="Courier New" pitchFamily="34" charset="0"/>
                <a:ea typeface="Courier New" pitchFamily="34" charset="-122"/>
                <a:cs typeface="Courier New" pitchFamily="34" charset="-120"/>
              </a:rPr>
              <a:t>2</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EXAMPLE 6 · LOG FILE</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Append one timestamped line per event</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14</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15</a:t>
            </a:r>
            <a:endParaRPr lang="en-US" sz="1000" dirty="0"/>
          </a:p>
        </p:txBody>
      </p:sp>
      <p:sp>
        <p:nvSpPr>
          <p:cNvPr id="7" name="Shape 4"/>
          <p:cNvSpPr/>
          <p:nvPr/>
        </p:nvSpPr>
        <p:spPr>
          <a:xfrm>
            <a:off x="548640" y="1645920"/>
            <a:ext cx="11109960" cy="1965960"/>
          </a:xfrm>
          <a:prstGeom prst="roundRect">
            <a:avLst>
              <a:gd name="adj" fmla="val 4651"/>
            </a:avLst>
          </a:prstGeom>
          <a:solidFill>
            <a:srgbClr val="0F1729"/>
          </a:solidFill>
          <a:ln w="12700">
            <a:solidFill>
              <a:srgbClr val="0F1729"/>
            </a:solidFill>
            <a:prstDash val="solid"/>
          </a:ln>
        </p:spPr>
      </p:sp>
      <p:sp>
        <p:nvSpPr>
          <p:cNvPr id="8" name="Text 5"/>
          <p:cNvSpPr txBox="1"/>
          <p:nvPr/>
        </p:nvSpPr>
        <p:spPr>
          <a:xfrm>
            <a:off x="777240" y="1755648"/>
            <a:ext cx="1065276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14_06_LogFile · one line per event (called for every reading)</a:t>
            </a:r>
            <a:endParaRPr lang="en-US" sz="1100" dirty="0"/>
          </a:p>
        </p:txBody>
      </p:sp>
      <p:sp>
        <p:nvSpPr>
          <p:cNvPr id="9" name="Text 6"/>
          <p:cNvSpPr txBox="1"/>
          <p:nvPr/>
        </p:nvSpPr>
        <p:spPr>
          <a:xfrm>
            <a:off x="777240" y="2057400"/>
            <a:ext cx="10652760" cy="1444752"/>
          </a:xfrm>
          <a:prstGeom prst="rect">
            <a:avLst/>
          </a:prstGeom>
          <a:noFill/>
          <a:ln/>
        </p:spPr>
        <p:txBody>
          <a:bodyPr wrap="square" lIns="0" tIns="0" rIns="0" bIns="0" rtlCol="0" anchor="t"/>
          <a:lstStyle/>
          <a:p>
            <a:pPr indent="0" marL="0">
              <a:spcAft>
                <a:spcPts val="100"/>
              </a:spcAft>
              <a:buNone/>
            </a:pPr>
            <a:r>
              <a:rPr lang="en-US" sz="1300" dirty="0">
                <a:solidFill>
                  <a:srgbClr val="7F8BA3"/>
                </a:solidFill>
                <a:latin typeface="Courier New" pitchFamily="34" charset="0"/>
                <a:ea typeface="Courier New" pitchFamily="34" charset="-122"/>
                <a:cs typeface="Courier New" pitchFamily="34" charset="-120"/>
              </a:rPr>
              <a:t>// Appends one line with the current date and time to the log file</a:t>
            </a:r>
            <a:endParaRPr lang="en-US" sz="1300" dirty="0"/>
          </a:p>
          <a:p>
            <a:pPr indent="0" marL="0">
              <a:spcAft>
                <a:spcPts val="100"/>
              </a:spcAft>
              <a:buNone/>
            </a:pPr>
            <a:r>
              <a:rPr lang="en-US" sz="1300" dirty="0">
                <a:solidFill>
                  <a:srgbClr val="7AB8FF"/>
                </a:solidFill>
                <a:latin typeface="Courier New" pitchFamily="34" charset="0"/>
                <a:ea typeface="Courier New" pitchFamily="34" charset="-122"/>
                <a:cs typeface="Courier New" pitchFamily="34" charset="-120"/>
              </a:rPr>
              <a:t>static</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7AB8FF"/>
                </a:solidFill>
                <a:latin typeface="Courier New" pitchFamily="34" charset="0"/>
                <a:ea typeface="Courier New" pitchFamily="34" charset="-122"/>
                <a:cs typeface="Courier New" pitchFamily="34" charset="-120"/>
              </a:rPr>
              <a:t>void</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Log(</a:t>
            </a:r>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string</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path, </a:t>
            </a:r>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string</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level, </a:t>
            </a:r>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string</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message)</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string</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line = </a:t>
            </a:r>
            <a:pPr indent="0" marL="0">
              <a:spcAft>
                <a:spcPts val="100"/>
              </a:spcAft>
              <a:buNone/>
            </a:pPr>
            <a:r>
              <a:rPr lang="en-US" sz="1300" dirty="0">
                <a:solidFill>
                  <a:srgbClr val="CE9178"/>
                </a:solidFill>
                <a:latin typeface="Courier New" pitchFamily="34" charset="0"/>
                <a:ea typeface="Courier New" pitchFamily="34" charset="-122"/>
                <a:cs typeface="Courier New" pitchFamily="34" charset="-120"/>
              </a:rPr>
              <a:t>$"{DateTime.Now:yyyy-MM-dd HH:mm} | {level} | {message}"</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File.AppendAllText(path, line + Environment.NewLine);</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p:txBody>
      </p:sp>
      <p:sp>
        <p:nvSpPr>
          <p:cNvPr id="10" name="Shape 7"/>
          <p:cNvSpPr/>
          <p:nvPr/>
        </p:nvSpPr>
        <p:spPr>
          <a:xfrm>
            <a:off x="548640" y="3703320"/>
            <a:ext cx="11109960" cy="2377440"/>
          </a:xfrm>
          <a:prstGeom prst="roundRect">
            <a:avLst>
              <a:gd name="adj" fmla="val 3846"/>
            </a:avLst>
          </a:prstGeom>
          <a:solidFill>
            <a:srgbClr val="0B0F19"/>
          </a:solidFill>
          <a:ln w="12700">
            <a:solidFill>
              <a:srgbClr val="2A3654"/>
            </a:solidFill>
            <a:prstDash val="solid"/>
          </a:ln>
        </p:spPr>
      </p:sp>
      <p:sp>
        <p:nvSpPr>
          <p:cNvPr id="11" name="Shape 8"/>
          <p:cNvSpPr/>
          <p:nvPr/>
        </p:nvSpPr>
        <p:spPr>
          <a:xfrm>
            <a:off x="731520" y="3831336"/>
            <a:ext cx="118872" cy="118872"/>
          </a:xfrm>
          <a:prstGeom prst="ellipse">
            <a:avLst/>
          </a:prstGeom>
          <a:solidFill>
            <a:srgbClr val="FF5F57"/>
          </a:solidFill>
          <a:ln w="12700">
            <a:solidFill>
              <a:srgbClr val="FF5F57"/>
            </a:solidFill>
            <a:prstDash val="solid"/>
          </a:ln>
        </p:spPr>
      </p:sp>
      <p:sp>
        <p:nvSpPr>
          <p:cNvPr id="12" name="Shape 9"/>
          <p:cNvSpPr/>
          <p:nvPr/>
        </p:nvSpPr>
        <p:spPr>
          <a:xfrm>
            <a:off x="960120" y="3831336"/>
            <a:ext cx="118872" cy="118872"/>
          </a:xfrm>
          <a:prstGeom prst="ellipse">
            <a:avLst/>
          </a:prstGeom>
          <a:solidFill>
            <a:srgbClr val="FEBC2E"/>
          </a:solidFill>
          <a:ln w="12700">
            <a:solidFill>
              <a:srgbClr val="FEBC2E"/>
            </a:solidFill>
            <a:prstDash val="solid"/>
          </a:ln>
        </p:spPr>
      </p:sp>
      <p:sp>
        <p:nvSpPr>
          <p:cNvPr id="13" name="Shape 10"/>
          <p:cNvSpPr/>
          <p:nvPr/>
        </p:nvSpPr>
        <p:spPr>
          <a:xfrm>
            <a:off x="1188720" y="3831336"/>
            <a:ext cx="118872" cy="118872"/>
          </a:xfrm>
          <a:prstGeom prst="ellipse">
            <a:avLst/>
          </a:prstGeom>
          <a:solidFill>
            <a:srgbClr val="28C840"/>
          </a:solidFill>
          <a:ln w="12700">
            <a:solidFill>
              <a:srgbClr val="28C840"/>
            </a:solidFill>
            <a:prstDash val="solid"/>
          </a:ln>
        </p:spPr>
      </p:sp>
      <p:sp>
        <p:nvSpPr>
          <p:cNvPr id="14" name="Text 11"/>
          <p:cNvSpPr txBox="1"/>
          <p:nvPr/>
        </p:nvSpPr>
        <p:spPr>
          <a:xfrm>
            <a:off x="1463040" y="3776472"/>
            <a:ext cx="1001268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sensor.log after run 2 (printed by the program)</a:t>
            </a:r>
            <a:endParaRPr lang="en-US" sz="1000" dirty="0"/>
          </a:p>
        </p:txBody>
      </p:sp>
      <p:sp>
        <p:nvSpPr>
          <p:cNvPr id="15" name="Text 12"/>
          <p:cNvSpPr txBox="1"/>
          <p:nvPr/>
        </p:nvSpPr>
        <p:spPr>
          <a:xfrm>
            <a:off x="777240" y="4087368"/>
            <a:ext cx="10652760" cy="1874520"/>
          </a:xfrm>
          <a:prstGeom prst="rect">
            <a:avLst/>
          </a:prstGeom>
          <a:noFill/>
          <a:ln/>
        </p:spPr>
        <p:txBody>
          <a:bodyPr wrap="square" lIns="0" tIns="0" rIns="0" bIns="0" rtlCol="0" anchor="t"/>
          <a:lstStyle/>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 sensor.log: 8 lines ---</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2026-10-12 21:25 | INFO | Program started</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2026-10-12 21:25 | INFO | Reading 1: 22.5 C</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2026-10-12 21:25 | WARN | Reading 2: 31.2 C is too high</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2026-10-12 21:25 | INFO | Reading 3: 27.0 C</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2026-10-12 21:25 | INFO | Program finished</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2026-10-12 21:25 | INFO | Program started</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2026-10-12 21:25 | INFO | Reading 1: 19.5 C</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2026-10-12 21:25 | INFO | Program finished</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EXAMPLE 7 · COUNTING</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Lines, words, characters — and Turkish letters</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14</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16</a:t>
            </a:r>
            <a:endParaRPr lang="en-US" sz="1000" dirty="0"/>
          </a:p>
        </p:txBody>
      </p:sp>
      <p:sp>
        <p:nvSpPr>
          <p:cNvPr id="7" name="Shape 4"/>
          <p:cNvSpPr/>
          <p:nvPr/>
        </p:nvSpPr>
        <p:spPr>
          <a:xfrm>
            <a:off x="548640" y="1645920"/>
            <a:ext cx="6035040" cy="2971800"/>
          </a:xfrm>
          <a:prstGeom prst="roundRect">
            <a:avLst>
              <a:gd name="adj" fmla="val 3077"/>
            </a:avLst>
          </a:prstGeom>
          <a:solidFill>
            <a:srgbClr val="0F1729"/>
          </a:solidFill>
          <a:ln w="12700">
            <a:solidFill>
              <a:srgbClr val="0F1729"/>
            </a:solidFill>
            <a:prstDash val="solid"/>
          </a:ln>
        </p:spPr>
      </p:sp>
      <p:sp>
        <p:nvSpPr>
          <p:cNvPr id="8" name="Text 5"/>
          <p:cNvSpPr txBox="1"/>
          <p:nvPr/>
        </p:nvSpPr>
        <p:spPr>
          <a:xfrm>
            <a:off x="777240" y="1755648"/>
            <a:ext cx="557784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one pass over the lines</a:t>
            </a:r>
            <a:endParaRPr lang="en-US" sz="1100" dirty="0"/>
          </a:p>
        </p:txBody>
      </p:sp>
      <p:sp>
        <p:nvSpPr>
          <p:cNvPr id="9" name="Text 6"/>
          <p:cNvSpPr txBox="1"/>
          <p:nvPr/>
        </p:nvSpPr>
        <p:spPr>
          <a:xfrm>
            <a:off x="777240" y="2057400"/>
            <a:ext cx="5577840" cy="2450592"/>
          </a:xfrm>
          <a:prstGeom prst="rect">
            <a:avLst/>
          </a:prstGeom>
          <a:noFill/>
          <a:ln/>
        </p:spPr>
        <p:txBody>
          <a:bodyPr wrap="square" lIns="0" tIns="0" rIns="0" bIns="0" rtlCol="0" anchor="t"/>
          <a:lstStyle/>
          <a:p>
            <a:pPr indent="0" marL="0">
              <a:spcAft>
                <a:spcPts val="100"/>
              </a:spcAft>
              <a:buNone/>
            </a:pPr>
            <a:r>
              <a:rPr lang="en-US" sz="1400" dirty="0">
                <a:solidFill>
                  <a:srgbClr val="7AB8FF"/>
                </a:solidFill>
                <a:latin typeface="Courier New" pitchFamily="34" charset="0"/>
                <a:ea typeface="Courier New" pitchFamily="34" charset="-122"/>
                <a:cs typeface="Courier New" pitchFamily="34" charset="-120"/>
              </a:rPr>
              <a:t>for</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4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i = </a:t>
            </a:r>
            <a:pPr indent="0" marL="0">
              <a:spcAft>
                <a:spcPts val="100"/>
              </a:spcAft>
              <a:buNone/>
            </a:pPr>
            <a:r>
              <a:rPr lang="en-US" sz="14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i &lt; lines.Length; i++)</a:t>
            </a:r>
            <a:endParaRPr lang="en-US" sz="1400" dirty="0"/>
          </a:p>
          <a:p>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a:t>
            </a:r>
            <a:endParaRPr lang="en-US" sz="1400" dirty="0"/>
          </a:p>
          <a:p>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words += CountWords(lines[i]);</a:t>
            </a:r>
            <a:endParaRPr lang="en-US" sz="1400" dirty="0"/>
          </a:p>
          <a:p>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characters += lines[i].Length;</a:t>
            </a:r>
            <a:endParaRPr lang="en-US" sz="1400" dirty="0"/>
          </a:p>
          <a:p>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letters += CountLetters(lines[i]);</a:t>
            </a:r>
            <a:endParaRPr lang="en-US" sz="1400" dirty="0"/>
          </a:p>
          <a:p>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400" dirty="0">
                <a:solidFill>
                  <a:srgbClr val="7F8BA3"/>
                </a:solidFill>
                <a:latin typeface="Courier New" pitchFamily="34" charset="0"/>
                <a:ea typeface="Courier New" pitchFamily="34" charset="-122"/>
                <a:cs typeface="Courier New" pitchFamily="34" charset="-120"/>
              </a:rPr>
              <a:t>// ... remember the longest line</a:t>
            </a:r>
            <a:endParaRPr lang="en-US" sz="1400" dirty="0"/>
          </a:p>
          <a:p>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a:t>
            </a:r>
            <a:endParaRPr lang="en-US" sz="1400" dirty="0"/>
          </a:p>
        </p:txBody>
      </p:sp>
      <p:sp>
        <p:nvSpPr>
          <p:cNvPr id="10" name="Shape 7"/>
          <p:cNvSpPr/>
          <p:nvPr/>
        </p:nvSpPr>
        <p:spPr>
          <a:xfrm>
            <a:off x="6812280" y="1645920"/>
            <a:ext cx="4846320" cy="1463040"/>
          </a:xfrm>
          <a:prstGeom prst="rect">
            <a:avLst/>
          </a:prstGeom>
          <a:solidFill>
            <a:srgbClr val="FFFFFF"/>
          </a:solidFill>
          <a:ln w="12700">
            <a:solidFill>
              <a:srgbClr val="8A94AB"/>
            </a:solidFill>
            <a:prstDash val="solid"/>
          </a:ln>
        </p:spPr>
      </p:sp>
      <p:sp>
        <p:nvSpPr>
          <p:cNvPr id="11" name="Shape 8"/>
          <p:cNvSpPr/>
          <p:nvPr/>
        </p:nvSpPr>
        <p:spPr>
          <a:xfrm>
            <a:off x="6812280" y="1645920"/>
            <a:ext cx="4846320" cy="329184"/>
          </a:xfrm>
          <a:prstGeom prst="rect">
            <a:avLst/>
          </a:prstGeom>
          <a:solidFill>
            <a:srgbClr val="EEF1F6"/>
          </a:solidFill>
          <a:ln w="12700">
            <a:solidFill>
              <a:srgbClr val="8A94AB"/>
            </a:solidFill>
            <a:prstDash val="solid"/>
          </a:ln>
        </p:spPr>
      </p:sp>
      <p:sp>
        <p:nvSpPr>
          <p:cNvPr id="12" name="Text 9"/>
          <p:cNvSpPr txBox="1"/>
          <p:nvPr/>
        </p:nvSpPr>
        <p:spPr>
          <a:xfrm>
            <a:off x="6903720" y="1645920"/>
            <a:ext cx="4663440" cy="329184"/>
          </a:xfrm>
          <a:prstGeom prst="rect">
            <a:avLst/>
          </a:prstGeom>
          <a:noFill/>
          <a:ln/>
        </p:spPr>
        <p:txBody>
          <a:bodyPr wrap="square" lIns="0" tIns="0" rIns="0" bIns="0" rtlCol="0" anchor="ctr"/>
          <a:lstStyle/>
          <a:p>
            <a:pPr indent="0" marL="0">
              <a:buNone/>
            </a:pPr>
            <a:r>
              <a:rPr lang="en-US" sz="1200" dirty="0">
                <a:solidFill>
                  <a:srgbClr val="B7791F"/>
                </a:solidFill>
                <a:latin typeface="Courier New" pitchFamily="34" charset="0"/>
                <a:ea typeface="Courier New" pitchFamily="34" charset="-122"/>
                <a:cs typeface="Courier New" pitchFamily="34" charset="-120"/>
              </a:rPr>
              <a:t>▤ </a:t>
            </a:r>
            <a:pPr indent="0" marL="0">
              <a:buNone/>
            </a:pPr>
            <a:r>
              <a:rPr lang="en-US" sz="1200" b="1" dirty="0">
                <a:solidFill>
                  <a:srgbClr val="14213D"/>
                </a:solidFill>
                <a:latin typeface="Courier New" pitchFamily="34" charset="0"/>
                <a:ea typeface="Courier New" pitchFamily="34" charset="-122"/>
                <a:cs typeface="Courier New" pitchFamily="34" charset="-120"/>
              </a:rPr>
              <a:t>proverbs.txt (UTF-8)</a:t>
            </a:r>
            <a:endParaRPr lang="en-US" sz="1200" dirty="0"/>
          </a:p>
        </p:txBody>
      </p:sp>
      <p:sp>
        <p:nvSpPr>
          <p:cNvPr id="13" name="Text 10"/>
          <p:cNvSpPr txBox="1"/>
          <p:nvPr/>
        </p:nvSpPr>
        <p:spPr>
          <a:xfrm>
            <a:off x="6949440" y="2057400"/>
            <a:ext cx="4572000" cy="960120"/>
          </a:xfrm>
          <a:prstGeom prst="rect">
            <a:avLst/>
          </a:prstGeom>
          <a:noFill/>
          <a:ln/>
        </p:spPr>
        <p:txBody>
          <a:bodyPr wrap="square" lIns="0" tIns="0" rIns="0" bIns="0" rtlCol="0" anchor="t"/>
          <a:lstStyle/>
          <a:p>
            <a:pPr indent="0" marL="0">
              <a:spcAft>
                <a:spcPts val="100"/>
              </a:spcAft>
              <a:buNone/>
            </a:pPr>
            <a:r>
              <a:rPr lang="en-US" sz="1200" dirty="0">
                <a:solidFill>
                  <a:srgbClr val="14213D"/>
                </a:solidFill>
                <a:latin typeface="Courier New" pitchFamily="34" charset="0"/>
                <a:ea typeface="Courier New" pitchFamily="34" charset="-122"/>
                <a:cs typeface="Courier New" pitchFamily="34" charset="-120"/>
              </a:rPr>
              <a:t>Damlaya damlaya göl olur.</a:t>
            </a:r>
            <a:endParaRPr lang="en-US" sz="1200" dirty="0"/>
          </a:p>
          <a:p>
            <a:pPr indent="0" marL="0">
              <a:spcAft>
                <a:spcPts val="100"/>
              </a:spcAft>
              <a:buNone/>
            </a:pPr>
            <a:r>
              <a:rPr lang="en-US" sz="1200" dirty="0">
                <a:solidFill>
                  <a:srgbClr val="14213D"/>
                </a:solidFill>
                <a:latin typeface="Courier New" pitchFamily="34" charset="0"/>
                <a:ea typeface="Courier New" pitchFamily="34" charset="-122"/>
                <a:cs typeface="Courier New" pitchFamily="34" charset="-120"/>
              </a:rPr>
              <a:t>Ağaç yaş iken eğilir.</a:t>
            </a:r>
            <a:endParaRPr lang="en-US" sz="1200" dirty="0"/>
          </a:p>
          <a:p>
            <a:pPr indent="0" marL="0">
              <a:spcAft>
                <a:spcPts val="100"/>
              </a:spcAft>
              <a:buNone/>
            </a:pPr>
            <a:r>
              <a:rPr lang="en-US" sz="1200" dirty="0">
                <a:solidFill>
                  <a:srgbClr val="14213D"/>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14213D"/>
                </a:solidFill>
                <a:latin typeface="Courier New" pitchFamily="34" charset="0"/>
                <a:ea typeface="Courier New" pitchFamily="34" charset="-122"/>
                <a:cs typeface="Courier New" pitchFamily="34" charset="-120"/>
              </a:rPr>
              <a:t>Bugünün işini yarına bırakma.</a:t>
            </a:r>
            <a:endParaRPr lang="en-US" sz="1200" dirty="0"/>
          </a:p>
          <a:p>
            <a:pPr indent="0" marL="0">
              <a:spcAft>
                <a:spcPts val="100"/>
              </a:spcAft>
              <a:buNone/>
            </a:pPr>
            <a:r>
              <a:rPr lang="en-US" sz="1200" dirty="0">
                <a:solidFill>
                  <a:srgbClr val="14213D"/>
                </a:solidFill>
                <a:latin typeface="Courier New" pitchFamily="34" charset="0"/>
                <a:ea typeface="Courier New" pitchFamily="34" charset="-122"/>
                <a:cs typeface="Courier New" pitchFamily="34" charset="-120"/>
              </a:rPr>
              <a:t>Practice makes perfect.</a:t>
            </a:r>
            <a:endParaRPr lang="en-US" sz="1200" dirty="0"/>
          </a:p>
        </p:txBody>
      </p:sp>
      <p:sp>
        <p:nvSpPr>
          <p:cNvPr id="14" name="Shape 11"/>
          <p:cNvSpPr/>
          <p:nvPr/>
        </p:nvSpPr>
        <p:spPr>
          <a:xfrm>
            <a:off x="6812280" y="3246120"/>
            <a:ext cx="4846320" cy="1371600"/>
          </a:xfrm>
          <a:prstGeom prst="roundRect">
            <a:avLst>
              <a:gd name="adj" fmla="val 6667"/>
            </a:avLst>
          </a:prstGeom>
          <a:solidFill>
            <a:srgbClr val="0B0F19"/>
          </a:solidFill>
          <a:ln w="12700">
            <a:solidFill>
              <a:srgbClr val="2A3654"/>
            </a:solidFill>
            <a:prstDash val="solid"/>
          </a:ln>
        </p:spPr>
      </p:sp>
      <p:sp>
        <p:nvSpPr>
          <p:cNvPr id="15" name="Shape 12"/>
          <p:cNvSpPr/>
          <p:nvPr/>
        </p:nvSpPr>
        <p:spPr>
          <a:xfrm>
            <a:off x="6995160" y="3374136"/>
            <a:ext cx="118872" cy="118872"/>
          </a:xfrm>
          <a:prstGeom prst="ellipse">
            <a:avLst/>
          </a:prstGeom>
          <a:solidFill>
            <a:srgbClr val="FF5F57"/>
          </a:solidFill>
          <a:ln w="12700">
            <a:solidFill>
              <a:srgbClr val="FF5F57"/>
            </a:solidFill>
            <a:prstDash val="solid"/>
          </a:ln>
        </p:spPr>
      </p:sp>
      <p:sp>
        <p:nvSpPr>
          <p:cNvPr id="16" name="Shape 13"/>
          <p:cNvSpPr/>
          <p:nvPr/>
        </p:nvSpPr>
        <p:spPr>
          <a:xfrm>
            <a:off x="7223760" y="3374136"/>
            <a:ext cx="118872" cy="118872"/>
          </a:xfrm>
          <a:prstGeom prst="ellipse">
            <a:avLst/>
          </a:prstGeom>
          <a:solidFill>
            <a:srgbClr val="FEBC2E"/>
          </a:solidFill>
          <a:ln w="12700">
            <a:solidFill>
              <a:srgbClr val="FEBC2E"/>
            </a:solidFill>
            <a:prstDash val="solid"/>
          </a:ln>
        </p:spPr>
      </p:sp>
      <p:sp>
        <p:nvSpPr>
          <p:cNvPr id="17" name="Shape 14"/>
          <p:cNvSpPr/>
          <p:nvPr/>
        </p:nvSpPr>
        <p:spPr>
          <a:xfrm>
            <a:off x="7452360" y="3374136"/>
            <a:ext cx="118872" cy="118872"/>
          </a:xfrm>
          <a:prstGeom prst="ellipse">
            <a:avLst/>
          </a:prstGeom>
          <a:solidFill>
            <a:srgbClr val="28C840"/>
          </a:solidFill>
          <a:ln w="12700">
            <a:solidFill>
              <a:srgbClr val="28C840"/>
            </a:solidFill>
            <a:prstDash val="solid"/>
          </a:ln>
        </p:spPr>
      </p:sp>
      <p:sp>
        <p:nvSpPr>
          <p:cNvPr id="18" name="Text 15"/>
          <p:cNvSpPr txBox="1"/>
          <p:nvPr/>
        </p:nvSpPr>
        <p:spPr>
          <a:xfrm>
            <a:off x="7726680" y="3319272"/>
            <a:ext cx="374904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File to analyse: proverbs.txt</a:t>
            </a:r>
            <a:endParaRPr lang="en-US" sz="1000" dirty="0"/>
          </a:p>
        </p:txBody>
      </p:sp>
      <p:sp>
        <p:nvSpPr>
          <p:cNvPr id="19" name="Text 16"/>
          <p:cNvSpPr txBox="1"/>
          <p:nvPr/>
        </p:nvSpPr>
        <p:spPr>
          <a:xfrm>
            <a:off x="7040880" y="3630168"/>
            <a:ext cx="4389120" cy="868680"/>
          </a:xfrm>
          <a:prstGeom prst="rect">
            <a:avLst/>
          </a:prstGeom>
          <a:noFill/>
          <a:ln/>
        </p:spPr>
        <p:txBody>
          <a:bodyPr wrap="square" lIns="0" tIns="0" rIns="0" bIns="0" rtlCol="0" anchor="t"/>
          <a:lstStyle/>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Lines     : 5</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Words     : 15</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Characters: 98</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Letters   : 83</a:t>
            </a:r>
            <a:endParaRPr lang="en-US" sz="1300" dirty="0"/>
          </a:p>
        </p:txBody>
      </p:sp>
      <p:sp>
        <p:nvSpPr>
          <p:cNvPr id="20" name="Shape 17"/>
          <p:cNvSpPr/>
          <p:nvPr/>
        </p:nvSpPr>
        <p:spPr>
          <a:xfrm>
            <a:off x="548640" y="4754880"/>
            <a:ext cx="11109960" cy="1325880"/>
          </a:xfrm>
          <a:prstGeom prst="roundRect">
            <a:avLst>
              <a:gd name="adj" fmla="val 6897"/>
            </a:avLst>
          </a:prstGeom>
          <a:solidFill>
            <a:srgbClr val="0F1729"/>
          </a:solidFill>
          <a:ln w="12700">
            <a:solidFill>
              <a:srgbClr val="0F1729"/>
            </a:solidFill>
            <a:prstDash val="solid"/>
          </a:ln>
        </p:spPr>
      </p:sp>
      <p:sp>
        <p:nvSpPr>
          <p:cNvPr id="21" name="Text 18"/>
          <p:cNvSpPr txBox="1"/>
          <p:nvPr/>
        </p:nvSpPr>
        <p:spPr>
          <a:xfrm>
            <a:off x="777240" y="4864608"/>
            <a:ext cx="1065276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CountWords · pieces between spaces, empty pieces ignored</a:t>
            </a:r>
            <a:endParaRPr lang="en-US" sz="1100" dirty="0"/>
          </a:p>
        </p:txBody>
      </p:sp>
      <p:sp>
        <p:nvSpPr>
          <p:cNvPr id="22" name="Text 19"/>
          <p:cNvSpPr txBox="1"/>
          <p:nvPr/>
        </p:nvSpPr>
        <p:spPr>
          <a:xfrm>
            <a:off x="777240" y="5166360"/>
            <a:ext cx="10652760" cy="804672"/>
          </a:xfrm>
          <a:prstGeom prst="rect">
            <a:avLst/>
          </a:prstGeom>
          <a:noFill/>
          <a:ln/>
        </p:spPr>
        <p:txBody>
          <a:bodyPr wrap="square" lIns="0" tIns="0" rIns="0" bIns="0" rtlCol="0" anchor="t"/>
          <a:lstStyle/>
          <a:p>
            <a:pPr indent="0" marL="0">
              <a:spcAft>
                <a:spcPts val="100"/>
              </a:spcAft>
              <a:buNone/>
            </a:pPr>
            <a:r>
              <a:rPr lang="en-US" sz="1250" dirty="0">
                <a:solidFill>
                  <a:srgbClr val="7AB8FF"/>
                </a:solidFill>
                <a:latin typeface="Courier New" pitchFamily="34" charset="0"/>
                <a:ea typeface="Courier New" pitchFamily="34" charset="-122"/>
                <a:cs typeface="Courier New" pitchFamily="34" charset="-120"/>
              </a:rPr>
              <a:t>static</a:t>
            </a:r>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5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 CountWords(</a:t>
            </a:r>
            <a:pPr indent="0" marL="0">
              <a:spcAft>
                <a:spcPts val="100"/>
              </a:spcAft>
              <a:buNone/>
            </a:pPr>
            <a:r>
              <a:rPr lang="en-US" sz="1250" dirty="0">
                <a:solidFill>
                  <a:srgbClr val="4EC9B0"/>
                </a:solidFill>
                <a:latin typeface="Courier New" pitchFamily="34" charset="0"/>
                <a:ea typeface="Courier New" pitchFamily="34" charset="-122"/>
                <a:cs typeface="Courier New" pitchFamily="34" charset="-120"/>
              </a:rPr>
              <a:t>string</a:t>
            </a:r>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 line)</a:t>
            </a:r>
            <a:endParaRPr lang="en-US" sz="1250" dirty="0"/>
          </a:p>
          <a:p>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a:t>
            </a:r>
            <a:endParaRPr lang="en-US" sz="1250" dirty="0"/>
          </a:p>
          <a:p>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50" dirty="0">
                <a:solidFill>
                  <a:srgbClr val="7AB8FF"/>
                </a:solidFill>
                <a:latin typeface="Courier New" pitchFamily="34" charset="0"/>
                <a:ea typeface="Courier New" pitchFamily="34" charset="-122"/>
                <a:cs typeface="Courier New" pitchFamily="34" charset="-120"/>
              </a:rPr>
              <a:t>return</a:t>
            </a:r>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 line.Split(</a:t>
            </a:r>
            <a:pPr indent="0" marL="0">
              <a:spcAft>
                <a:spcPts val="100"/>
              </a:spcAft>
              <a:buNone/>
            </a:pPr>
            <a:r>
              <a:rPr lang="en-US" sz="1250" dirty="0">
                <a:solidFill>
                  <a:srgbClr val="CE9178"/>
                </a:solidFill>
                <a:latin typeface="Courier New" pitchFamily="34" charset="0"/>
                <a:ea typeface="Courier New" pitchFamily="34" charset="-122"/>
                <a:cs typeface="Courier New" pitchFamily="34" charset="-120"/>
              </a:rPr>
              <a:t>' '</a:t>
            </a:r>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 StringSplitOptions.RemoveEmptyEntries).Length;</a:t>
            </a:r>
            <a:endParaRPr lang="en-US" sz="1250" dirty="0"/>
          </a:p>
          <a:p>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a:t>
            </a:r>
            <a:endParaRPr lang="en-US" sz="12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WHEN FILES GO WRONG</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Exceptions: crash — or catch</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14</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17</a:t>
            </a:r>
            <a:endParaRPr lang="en-US" sz="1000" dirty="0"/>
          </a:p>
        </p:txBody>
      </p:sp>
      <p:sp>
        <p:nvSpPr>
          <p:cNvPr id="7" name="Shape 4"/>
          <p:cNvSpPr/>
          <p:nvPr/>
        </p:nvSpPr>
        <p:spPr>
          <a:xfrm>
            <a:off x="548640" y="1645920"/>
            <a:ext cx="5486400" cy="1371600"/>
          </a:xfrm>
          <a:prstGeom prst="roundRect">
            <a:avLst>
              <a:gd name="adj" fmla="val 6667"/>
            </a:avLst>
          </a:prstGeom>
          <a:solidFill>
            <a:srgbClr val="1A0F12"/>
          </a:solidFill>
          <a:ln w="12700">
            <a:solidFill>
              <a:srgbClr val="C8453B"/>
            </a:solidFill>
            <a:prstDash val="solid"/>
          </a:ln>
        </p:spPr>
      </p:sp>
      <p:sp>
        <p:nvSpPr>
          <p:cNvPr id="8" name="Text 5"/>
          <p:cNvSpPr txBox="1"/>
          <p:nvPr/>
        </p:nvSpPr>
        <p:spPr>
          <a:xfrm>
            <a:off x="777240" y="1719072"/>
            <a:ext cx="5029200" cy="228600"/>
          </a:xfrm>
          <a:prstGeom prst="rect">
            <a:avLst/>
          </a:prstGeom>
          <a:noFill/>
          <a:ln/>
        </p:spPr>
        <p:txBody>
          <a:bodyPr wrap="square" lIns="0" tIns="0" rIns="0" bIns="0" rtlCol="0" anchor="ctr"/>
          <a:lstStyle/>
          <a:p>
            <a:pPr indent="0" marL="0">
              <a:buNone/>
            </a:pPr>
            <a:r>
              <a:rPr lang="en-US" sz="1000" dirty="0">
                <a:solidFill>
                  <a:srgbClr val="E8A39C"/>
                </a:solidFill>
                <a:latin typeface="Courier New" pitchFamily="34" charset="0"/>
                <a:ea typeface="Courier New" pitchFamily="34" charset="-122"/>
                <a:cs typeface="Courier New" pitchFamily="34" charset="-120"/>
              </a:rPr>
              <a:t>without try/catch: File.ReadAllText("grades.txt")</a:t>
            </a:r>
            <a:endParaRPr lang="en-US" sz="1000" dirty="0"/>
          </a:p>
        </p:txBody>
      </p:sp>
      <p:sp>
        <p:nvSpPr>
          <p:cNvPr id="9" name="Text 6"/>
          <p:cNvSpPr txBox="1"/>
          <p:nvPr/>
        </p:nvSpPr>
        <p:spPr>
          <a:xfrm>
            <a:off x="777240" y="1993392"/>
            <a:ext cx="5029200" cy="932688"/>
          </a:xfrm>
          <a:prstGeom prst="rect">
            <a:avLst/>
          </a:prstGeom>
          <a:noFill/>
          <a:ln/>
        </p:spPr>
        <p:txBody>
          <a:bodyPr wrap="square" lIns="0" tIns="0" rIns="0" bIns="0" rtlCol="0" anchor="t"/>
          <a:lstStyle/>
          <a:p>
            <a:pPr indent="0" marL="0">
              <a:spcAft>
                <a:spcPts val="200"/>
              </a:spcAft>
              <a:buNone/>
            </a:pPr>
            <a:r>
              <a:rPr lang="en-US" sz="1300" dirty="0">
                <a:solidFill>
                  <a:srgbClr val="FF8A80"/>
                </a:solidFill>
                <a:latin typeface="Courier New" pitchFamily="34" charset="0"/>
                <a:ea typeface="Courier New" pitchFamily="34" charset="-122"/>
                <a:cs typeface="Courier New" pitchFamily="34" charset="-120"/>
              </a:rPr>
              <a:t>Unhandled exception. System.IO.FileNotFoundException:</a:t>
            </a:r>
            <a:endParaRPr lang="en-US" sz="1300" dirty="0"/>
          </a:p>
          <a:p>
            <a:pPr indent="0" marL="0">
              <a:spcAft>
                <a:spcPts val="200"/>
              </a:spcAft>
              <a:buNone/>
            </a:pPr>
            <a:r>
              <a:rPr lang="en-US" sz="1300" dirty="0">
                <a:solidFill>
                  <a:srgbClr val="FF8A80"/>
                </a:solidFill>
                <a:latin typeface="Courier New" pitchFamily="34" charset="0"/>
                <a:ea typeface="Courier New" pitchFamily="34" charset="-122"/>
                <a:cs typeface="Courier New" pitchFamily="34" charset="-120"/>
              </a:rPr>
              <a:t>Could not find file '…/MyProject/grades.txt'.</a:t>
            </a:r>
            <a:endParaRPr lang="en-US" sz="1300" dirty="0"/>
          </a:p>
        </p:txBody>
      </p:sp>
      <p:sp>
        <p:nvSpPr>
          <p:cNvPr id="10" name="Shape 7"/>
          <p:cNvSpPr/>
          <p:nvPr/>
        </p:nvSpPr>
        <p:spPr>
          <a:xfrm>
            <a:off x="548640" y="3154680"/>
            <a:ext cx="5486400" cy="1371600"/>
          </a:xfrm>
          <a:prstGeom prst="roundRect">
            <a:avLst>
              <a:gd name="adj" fmla="val 6667"/>
            </a:avLst>
          </a:prstGeom>
          <a:solidFill>
            <a:srgbClr val="1A0F12"/>
          </a:solidFill>
          <a:ln w="12700">
            <a:solidFill>
              <a:srgbClr val="C8453B"/>
            </a:solidFill>
            <a:prstDash val="solid"/>
          </a:ln>
        </p:spPr>
      </p:sp>
      <p:sp>
        <p:nvSpPr>
          <p:cNvPr id="11" name="Text 8"/>
          <p:cNvSpPr txBox="1"/>
          <p:nvPr/>
        </p:nvSpPr>
        <p:spPr>
          <a:xfrm>
            <a:off x="777240" y="3227832"/>
            <a:ext cx="5029200" cy="228600"/>
          </a:xfrm>
          <a:prstGeom prst="rect">
            <a:avLst/>
          </a:prstGeom>
          <a:noFill/>
          <a:ln/>
        </p:spPr>
        <p:txBody>
          <a:bodyPr wrap="square" lIns="0" tIns="0" rIns="0" bIns="0" rtlCol="0" anchor="ctr"/>
          <a:lstStyle/>
          <a:p>
            <a:pPr indent="0" marL="0">
              <a:buNone/>
            </a:pPr>
            <a:r>
              <a:rPr lang="en-US" sz="1000" dirty="0">
                <a:solidFill>
                  <a:srgbClr val="E8A39C"/>
                </a:solidFill>
                <a:latin typeface="Courier New" pitchFamily="34" charset="0"/>
                <a:ea typeface="Courier New" pitchFamily="34" charset="-122"/>
                <a:cs typeface="Courier New" pitchFamily="34" charset="-120"/>
              </a:rPr>
              <a:t>without try/catch: int.Parse("7O")</a:t>
            </a:r>
            <a:endParaRPr lang="en-US" sz="1000" dirty="0"/>
          </a:p>
        </p:txBody>
      </p:sp>
      <p:sp>
        <p:nvSpPr>
          <p:cNvPr id="12" name="Text 9"/>
          <p:cNvSpPr txBox="1"/>
          <p:nvPr/>
        </p:nvSpPr>
        <p:spPr>
          <a:xfrm>
            <a:off x="777240" y="3502152"/>
            <a:ext cx="5029200" cy="932688"/>
          </a:xfrm>
          <a:prstGeom prst="rect">
            <a:avLst/>
          </a:prstGeom>
          <a:noFill/>
          <a:ln/>
        </p:spPr>
        <p:txBody>
          <a:bodyPr wrap="square" lIns="0" tIns="0" rIns="0" bIns="0" rtlCol="0" anchor="t"/>
          <a:lstStyle/>
          <a:p>
            <a:pPr indent="0" marL="0">
              <a:spcAft>
                <a:spcPts val="200"/>
              </a:spcAft>
              <a:buNone/>
            </a:pPr>
            <a:r>
              <a:rPr lang="en-US" sz="1300" dirty="0">
                <a:solidFill>
                  <a:srgbClr val="FF8A80"/>
                </a:solidFill>
                <a:latin typeface="Courier New" pitchFamily="34" charset="0"/>
                <a:ea typeface="Courier New" pitchFamily="34" charset="-122"/>
                <a:cs typeface="Courier New" pitchFamily="34" charset="-120"/>
              </a:rPr>
              <a:t>Unhandled exception. System.FormatException:</a:t>
            </a:r>
            <a:endParaRPr lang="en-US" sz="1300" dirty="0"/>
          </a:p>
          <a:p>
            <a:pPr indent="0" marL="0">
              <a:spcAft>
                <a:spcPts val="200"/>
              </a:spcAft>
              <a:buNone/>
            </a:pPr>
            <a:r>
              <a:rPr lang="en-US" sz="1300" dirty="0">
                <a:solidFill>
                  <a:srgbClr val="FF8A80"/>
                </a:solidFill>
                <a:latin typeface="Courier New" pitchFamily="34" charset="0"/>
                <a:ea typeface="Courier New" pitchFamily="34" charset="-122"/>
                <a:cs typeface="Courier New" pitchFamily="34" charset="-120"/>
              </a:rPr>
              <a:t>The input string '7O' was not in a correct format.</a:t>
            </a:r>
            <a:endParaRPr lang="en-US" sz="1300" dirty="0"/>
          </a:p>
        </p:txBody>
      </p:sp>
      <p:sp>
        <p:nvSpPr>
          <p:cNvPr id="13" name="Shape 10"/>
          <p:cNvSpPr/>
          <p:nvPr/>
        </p:nvSpPr>
        <p:spPr>
          <a:xfrm>
            <a:off x="6263640" y="1645920"/>
            <a:ext cx="5394960" cy="2880360"/>
          </a:xfrm>
          <a:prstGeom prst="roundRect">
            <a:avLst>
              <a:gd name="adj" fmla="val 3175"/>
            </a:avLst>
          </a:prstGeom>
          <a:solidFill>
            <a:srgbClr val="0F1729"/>
          </a:solidFill>
          <a:ln w="12700">
            <a:solidFill>
              <a:srgbClr val="0F1729"/>
            </a:solidFill>
            <a:prstDash val="solid"/>
          </a:ln>
        </p:spPr>
      </p:sp>
      <p:sp>
        <p:nvSpPr>
          <p:cNvPr id="14" name="Text 11"/>
          <p:cNvSpPr txBox="1"/>
          <p:nvPr/>
        </p:nvSpPr>
        <p:spPr>
          <a:xfrm>
            <a:off x="6492240" y="1755648"/>
            <a:ext cx="493776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the try / catch pattern</a:t>
            </a:r>
            <a:endParaRPr lang="en-US" sz="1100" dirty="0"/>
          </a:p>
        </p:txBody>
      </p:sp>
      <p:sp>
        <p:nvSpPr>
          <p:cNvPr id="15" name="Text 12"/>
          <p:cNvSpPr txBox="1"/>
          <p:nvPr/>
        </p:nvSpPr>
        <p:spPr>
          <a:xfrm>
            <a:off x="6492240" y="2057400"/>
            <a:ext cx="4937760" cy="2359152"/>
          </a:xfrm>
          <a:prstGeom prst="rect">
            <a:avLst/>
          </a:prstGeom>
          <a:noFill/>
          <a:ln/>
        </p:spPr>
        <p:txBody>
          <a:bodyPr wrap="square" lIns="0" tIns="0" rIns="0" bIns="0" rtlCol="0" anchor="t"/>
          <a:lstStyle/>
          <a:p>
            <a:pPr indent="0" marL="0">
              <a:spcAft>
                <a:spcPts val="100"/>
              </a:spcAft>
              <a:buNone/>
            </a:pPr>
            <a:r>
              <a:rPr lang="en-US" sz="1250" dirty="0">
                <a:solidFill>
                  <a:srgbClr val="7AB8FF"/>
                </a:solidFill>
                <a:latin typeface="Courier New" pitchFamily="34" charset="0"/>
                <a:ea typeface="Courier New" pitchFamily="34" charset="-122"/>
                <a:cs typeface="Courier New" pitchFamily="34" charset="-120"/>
              </a:rPr>
              <a:t>try</a:t>
            </a:r>
            <a:endParaRPr lang="en-US" sz="1250" dirty="0"/>
          </a:p>
          <a:p>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a:t>
            </a:r>
            <a:endParaRPr lang="en-US" sz="1250" dirty="0"/>
          </a:p>
          <a:p>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50" dirty="0">
                <a:solidFill>
                  <a:srgbClr val="4EC9B0"/>
                </a:solidFill>
                <a:latin typeface="Courier New" pitchFamily="34" charset="0"/>
                <a:ea typeface="Courier New" pitchFamily="34" charset="-122"/>
                <a:cs typeface="Courier New" pitchFamily="34" charset="-120"/>
              </a:rPr>
              <a:t>string</a:t>
            </a:r>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 text = File.ReadAllText(</a:t>
            </a:r>
            <a:pPr indent="0" marL="0">
              <a:spcAft>
                <a:spcPts val="100"/>
              </a:spcAft>
              <a:buNone/>
            </a:pPr>
            <a:r>
              <a:rPr lang="en-US" sz="1250" dirty="0">
                <a:solidFill>
                  <a:srgbClr val="CE9178"/>
                </a:solidFill>
                <a:latin typeface="Courier New" pitchFamily="34" charset="0"/>
                <a:ea typeface="Courier New" pitchFamily="34" charset="-122"/>
                <a:cs typeface="Courier New" pitchFamily="34" charset="-120"/>
              </a:rPr>
              <a:t>"grades.txt"</a:t>
            </a:r>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a:t>
            </a:r>
            <a:endParaRPr lang="en-US" sz="1250" dirty="0"/>
          </a:p>
          <a:p>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5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.WriteLine(text);       </a:t>
            </a:r>
            <a:pPr indent="0" marL="0">
              <a:spcAft>
                <a:spcPts val="100"/>
              </a:spcAft>
              <a:buNone/>
            </a:pPr>
            <a:r>
              <a:rPr lang="en-US" sz="1250" dirty="0">
                <a:solidFill>
                  <a:srgbClr val="7F8BA3"/>
                </a:solidFill>
                <a:latin typeface="Courier New" pitchFamily="34" charset="0"/>
                <a:ea typeface="Courier New" pitchFamily="34" charset="-122"/>
                <a:cs typeface="Courier New" pitchFamily="34" charset="-120"/>
              </a:rPr>
              <a:t>// skipped</a:t>
            </a:r>
            <a:endParaRPr lang="en-US" sz="1250" dirty="0"/>
          </a:p>
          <a:p>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a:t>
            </a:r>
            <a:endParaRPr lang="en-US" sz="1250" dirty="0"/>
          </a:p>
          <a:p>
            <a:pPr indent="0" marL="0">
              <a:spcAft>
                <a:spcPts val="100"/>
              </a:spcAft>
              <a:buNone/>
            </a:pPr>
            <a:r>
              <a:rPr lang="en-US" sz="1250" dirty="0">
                <a:solidFill>
                  <a:srgbClr val="7AB8FF"/>
                </a:solidFill>
                <a:latin typeface="Courier New" pitchFamily="34" charset="0"/>
                <a:ea typeface="Courier New" pitchFamily="34" charset="-122"/>
                <a:cs typeface="Courier New" pitchFamily="34" charset="-120"/>
              </a:rPr>
              <a:t>catch</a:t>
            </a:r>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 (FileNotFoundException)</a:t>
            </a:r>
            <a:endParaRPr lang="en-US" sz="1250" dirty="0"/>
          </a:p>
          <a:p>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a:t>
            </a:r>
            <a:endParaRPr lang="en-US" sz="1250" dirty="0"/>
          </a:p>
          <a:p>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5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250" dirty="0">
                <a:solidFill>
                  <a:srgbClr val="CE9178"/>
                </a:solidFill>
                <a:latin typeface="Courier New" pitchFamily="34" charset="0"/>
                <a:ea typeface="Courier New" pitchFamily="34" charset="-122"/>
                <a:cs typeface="Courier New" pitchFamily="34" charset="-120"/>
              </a:rPr>
              <a:t>"grades.txt is missing."</a:t>
            </a:r>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a:t>
            </a:r>
            <a:endParaRPr lang="en-US" sz="1250" dirty="0"/>
          </a:p>
          <a:p>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a:t>
            </a:r>
            <a:endParaRPr lang="en-US" sz="1250" dirty="0"/>
          </a:p>
          <a:p>
            <a:pPr indent="0" marL="0">
              <a:spcAft>
                <a:spcPts val="100"/>
              </a:spcAft>
              <a:buNone/>
            </a:pPr>
            <a:r>
              <a:rPr lang="en-US" sz="125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250" dirty="0">
                <a:solidFill>
                  <a:srgbClr val="CE9178"/>
                </a:solidFill>
                <a:latin typeface="Courier New" pitchFamily="34" charset="0"/>
                <a:ea typeface="Courier New" pitchFamily="34" charset="-122"/>
                <a:cs typeface="Courier New" pitchFamily="34" charset="-120"/>
              </a:rPr>
              <a:t>"The program goes on."</a:t>
            </a:r>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a:t>
            </a:r>
            <a:endParaRPr lang="en-US" sz="1250" dirty="0"/>
          </a:p>
        </p:txBody>
      </p:sp>
      <p:sp>
        <p:nvSpPr>
          <p:cNvPr id="16" name="Shape 13"/>
          <p:cNvSpPr/>
          <p:nvPr/>
        </p:nvSpPr>
        <p:spPr>
          <a:xfrm>
            <a:off x="548640" y="4663440"/>
            <a:ext cx="11109960" cy="1417320"/>
          </a:xfrm>
          <a:prstGeom prst="roundRect">
            <a:avLst>
              <a:gd name="adj" fmla="val 6452"/>
            </a:avLst>
          </a:prstGeom>
          <a:solidFill>
            <a:srgbClr val="0B0F19"/>
          </a:solidFill>
          <a:ln w="12700">
            <a:solidFill>
              <a:srgbClr val="2A3654"/>
            </a:solidFill>
            <a:prstDash val="solid"/>
          </a:ln>
        </p:spPr>
      </p:sp>
      <p:sp>
        <p:nvSpPr>
          <p:cNvPr id="17" name="Shape 14"/>
          <p:cNvSpPr/>
          <p:nvPr/>
        </p:nvSpPr>
        <p:spPr>
          <a:xfrm>
            <a:off x="731520" y="4791456"/>
            <a:ext cx="118872" cy="118872"/>
          </a:xfrm>
          <a:prstGeom prst="ellipse">
            <a:avLst/>
          </a:prstGeom>
          <a:solidFill>
            <a:srgbClr val="FF5F57"/>
          </a:solidFill>
          <a:ln w="12700">
            <a:solidFill>
              <a:srgbClr val="FF5F57"/>
            </a:solidFill>
            <a:prstDash val="solid"/>
          </a:ln>
        </p:spPr>
      </p:sp>
      <p:sp>
        <p:nvSpPr>
          <p:cNvPr id="18" name="Shape 15"/>
          <p:cNvSpPr/>
          <p:nvPr/>
        </p:nvSpPr>
        <p:spPr>
          <a:xfrm>
            <a:off x="960120" y="4791456"/>
            <a:ext cx="118872" cy="118872"/>
          </a:xfrm>
          <a:prstGeom prst="ellipse">
            <a:avLst/>
          </a:prstGeom>
          <a:solidFill>
            <a:srgbClr val="FEBC2E"/>
          </a:solidFill>
          <a:ln w="12700">
            <a:solidFill>
              <a:srgbClr val="FEBC2E"/>
            </a:solidFill>
            <a:prstDash val="solid"/>
          </a:ln>
        </p:spPr>
      </p:sp>
      <p:sp>
        <p:nvSpPr>
          <p:cNvPr id="19" name="Shape 16"/>
          <p:cNvSpPr/>
          <p:nvPr/>
        </p:nvSpPr>
        <p:spPr>
          <a:xfrm>
            <a:off x="1188720" y="4791456"/>
            <a:ext cx="118872" cy="118872"/>
          </a:xfrm>
          <a:prstGeom prst="ellipse">
            <a:avLst/>
          </a:prstGeom>
          <a:solidFill>
            <a:srgbClr val="28C840"/>
          </a:solidFill>
          <a:ln w="12700">
            <a:solidFill>
              <a:srgbClr val="28C840"/>
            </a:solidFill>
            <a:prstDash val="solid"/>
          </a:ln>
        </p:spPr>
      </p:sp>
      <p:sp>
        <p:nvSpPr>
          <p:cNvPr id="20" name="Text 17"/>
          <p:cNvSpPr txBox="1"/>
          <p:nvPr/>
        </p:nvSpPr>
        <p:spPr>
          <a:xfrm>
            <a:off x="1463040" y="4736592"/>
            <a:ext cx="1001268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Example 7 with a typing error in the file name: caught, no crash</a:t>
            </a:r>
            <a:endParaRPr lang="en-US" sz="1000" dirty="0"/>
          </a:p>
        </p:txBody>
      </p:sp>
      <p:sp>
        <p:nvSpPr>
          <p:cNvPr id="21" name="Text 18"/>
          <p:cNvSpPr txBox="1"/>
          <p:nvPr/>
        </p:nvSpPr>
        <p:spPr>
          <a:xfrm>
            <a:off x="777240" y="5047488"/>
            <a:ext cx="10652760" cy="914400"/>
          </a:xfrm>
          <a:prstGeom prst="rect">
            <a:avLst/>
          </a:prstGeom>
          <a:noFill/>
          <a:ln/>
        </p:spPr>
        <p:txBody>
          <a:bodyPr wrap="square" lIns="0" tIns="0" rIns="0" bIns="0" rtlCol="0" anchor="t"/>
          <a:lstStyle/>
          <a:p>
            <a:pPr indent="0" marL="0">
              <a:spcAft>
                <a:spcPts val="100"/>
              </a:spcAft>
              <a:buNone/>
            </a:pPr>
            <a:r>
              <a:rPr lang="en-US" sz="1400" dirty="0">
                <a:solidFill>
                  <a:srgbClr val="7EE2A8"/>
                </a:solidFill>
                <a:latin typeface="Courier New" pitchFamily="34" charset="0"/>
                <a:ea typeface="Courier New" pitchFamily="34" charset="-122"/>
                <a:cs typeface="Courier New" pitchFamily="34" charset="-120"/>
              </a:rPr>
              <a:t>File to analyse: </a:t>
            </a:r>
            <a:pPr indent="0" marL="0">
              <a:spcAft>
                <a:spcPts val="100"/>
              </a:spcAft>
              <a:buNone/>
            </a:pPr>
            <a:r>
              <a:rPr lang="en-US" sz="1400" b="1" dirty="0">
                <a:solidFill>
                  <a:srgbClr val="FCA311"/>
                </a:solidFill>
                <a:latin typeface="Courier New" pitchFamily="34" charset="0"/>
                <a:ea typeface="Courier New" pitchFamily="34" charset="-122"/>
                <a:cs typeface="Courier New" pitchFamily="34" charset="-120"/>
              </a:rPr>
              <a:t>proverb.txt</a:t>
            </a:r>
            <a:endParaRPr lang="en-US" sz="1400" dirty="0"/>
          </a:p>
          <a:p>
            <a:pPr indent="0" marL="0">
              <a:spcAft>
                <a:spcPts val="100"/>
              </a:spcAft>
              <a:buNone/>
            </a:pPr>
            <a:r>
              <a:rPr lang="en-US" sz="1400" dirty="0">
                <a:solidFill>
                  <a:srgbClr val="7EE2A8"/>
                </a:solidFill>
                <a:latin typeface="Courier New" pitchFamily="34" charset="0"/>
                <a:ea typeface="Courier New" pitchFamily="34" charset="-122"/>
                <a:cs typeface="Courier New" pitchFamily="34" charset="-120"/>
              </a:rPr>
              <a:t>Sorry, there is no file called "proverb.txt" in this folder.</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EXAMPLE 11 · CATCH ORDER</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Several catch blocks: the specific one first</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14</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18</a:t>
            </a:r>
            <a:endParaRPr lang="en-US" sz="1000" dirty="0"/>
          </a:p>
        </p:txBody>
      </p:sp>
      <p:sp>
        <p:nvSpPr>
          <p:cNvPr id="7" name="Shape 4"/>
          <p:cNvSpPr/>
          <p:nvPr/>
        </p:nvSpPr>
        <p:spPr>
          <a:xfrm>
            <a:off x="548640" y="1645920"/>
            <a:ext cx="6126480" cy="4434840"/>
          </a:xfrm>
          <a:prstGeom prst="roundRect">
            <a:avLst>
              <a:gd name="adj" fmla="val 2062"/>
            </a:avLst>
          </a:prstGeom>
          <a:solidFill>
            <a:srgbClr val="0F1729"/>
          </a:solidFill>
          <a:ln w="12700">
            <a:solidFill>
              <a:srgbClr val="0F1729"/>
            </a:solidFill>
            <a:prstDash val="solid"/>
          </a:ln>
        </p:spPr>
      </p:sp>
      <p:sp>
        <p:nvSpPr>
          <p:cNvPr id="8" name="Text 5"/>
          <p:cNvSpPr txBox="1"/>
          <p:nvPr/>
        </p:nvSpPr>
        <p:spPr>
          <a:xfrm>
            <a:off x="777240" y="1755648"/>
            <a:ext cx="566928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14_11_SafeReading · part 2</a:t>
            </a:r>
            <a:endParaRPr lang="en-US" sz="1100" dirty="0"/>
          </a:p>
        </p:txBody>
      </p:sp>
      <p:sp>
        <p:nvSpPr>
          <p:cNvPr id="9" name="Text 6"/>
          <p:cNvSpPr txBox="1"/>
          <p:nvPr/>
        </p:nvSpPr>
        <p:spPr>
          <a:xfrm>
            <a:off x="777240" y="2057400"/>
            <a:ext cx="5669280" cy="3913632"/>
          </a:xfrm>
          <a:prstGeom prst="rect">
            <a:avLst/>
          </a:prstGeom>
          <a:noFill/>
          <a:ln/>
        </p:spPr>
        <p:txBody>
          <a:bodyPr wrap="square" lIns="0" tIns="0" rIns="0" bIns="0" rtlCol="0" anchor="t"/>
          <a:lstStyle/>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string</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oldPath = Path.Combine(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"old_data"</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"scores.txt"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try</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string</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text = File.ReadAllText(oldPath);</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.WriteLine(text);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catch</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(FileNotFoundException)</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"2) the file is missing"</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catch</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(IOException)</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"2) IOException: no folder old_data"</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p:txBody>
      </p:sp>
      <p:sp>
        <p:nvSpPr>
          <p:cNvPr id="10" name="Shape 7"/>
          <p:cNvSpPr/>
          <p:nvPr/>
        </p:nvSpPr>
        <p:spPr>
          <a:xfrm>
            <a:off x="6903720" y="1645920"/>
            <a:ext cx="4754880" cy="1097280"/>
          </a:xfrm>
          <a:prstGeom prst="roundRect">
            <a:avLst>
              <a:gd name="adj" fmla="val 8333"/>
            </a:avLst>
          </a:prstGeom>
          <a:solidFill>
            <a:srgbClr val="0B0F19"/>
          </a:solidFill>
          <a:ln w="12700">
            <a:solidFill>
              <a:srgbClr val="2A3654"/>
            </a:solidFill>
            <a:prstDash val="solid"/>
          </a:ln>
        </p:spPr>
      </p:sp>
      <p:sp>
        <p:nvSpPr>
          <p:cNvPr id="11" name="Shape 8"/>
          <p:cNvSpPr/>
          <p:nvPr/>
        </p:nvSpPr>
        <p:spPr>
          <a:xfrm>
            <a:off x="7086600" y="1773936"/>
            <a:ext cx="118872" cy="118872"/>
          </a:xfrm>
          <a:prstGeom prst="ellipse">
            <a:avLst/>
          </a:prstGeom>
          <a:solidFill>
            <a:srgbClr val="FF5F57"/>
          </a:solidFill>
          <a:ln w="12700">
            <a:solidFill>
              <a:srgbClr val="FF5F57"/>
            </a:solidFill>
            <a:prstDash val="solid"/>
          </a:ln>
        </p:spPr>
      </p:sp>
      <p:sp>
        <p:nvSpPr>
          <p:cNvPr id="12" name="Shape 9"/>
          <p:cNvSpPr/>
          <p:nvPr/>
        </p:nvSpPr>
        <p:spPr>
          <a:xfrm>
            <a:off x="7315200" y="1773936"/>
            <a:ext cx="118872" cy="118872"/>
          </a:xfrm>
          <a:prstGeom prst="ellipse">
            <a:avLst/>
          </a:prstGeom>
          <a:solidFill>
            <a:srgbClr val="FEBC2E"/>
          </a:solidFill>
          <a:ln w="12700">
            <a:solidFill>
              <a:srgbClr val="FEBC2E"/>
            </a:solidFill>
            <a:prstDash val="solid"/>
          </a:ln>
        </p:spPr>
      </p:sp>
      <p:sp>
        <p:nvSpPr>
          <p:cNvPr id="13" name="Shape 10"/>
          <p:cNvSpPr/>
          <p:nvPr/>
        </p:nvSpPr>
        <p:spPr>
          <a:xfrm>
            <a:off x="7543800" y="1773936"/>
            <a:ext cx="118872" cy="118872"/>
          </a:xfrm>
          <a:prstGeom prst="ellipse">
            <a:avLst/>
          </a:prstGeom>
          <a:solidFill>
            <a:srgbClr val="28C840"/>
          </a:solidFill>
          <a:ln w="12700">
            <a:solidFill>
              <a:srgbClr val="28C840"/>
            </a:solidFill>
            <a:prstDash val="solid"/>
          </a:ln>
        </p:spPr>
      </p:sp>
      <p:sp>
        <p:nvSpPr>
          <p:cNvPr id="14" name="Text 11"/>
          <p:cNvSpPr txBox="1"/>
          <p:nvPr/>
        </p:nvSpPr>
        <p:spPr>
          <a:xfrm>
            <a:off x="7818120" y="1719072"/>
            <a:ext cx="365760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Console</a:t>
            </a:r>
            <a:endParaRPr lang="en-US" sz="1000" dirty="0"/>
          </a:p>
        </p:txBody>
      </p:sp>
      <p:sp>
        <p:nvSpPr>
          <p:cNvPr id="15" name="Text 12"/>
          <p:cNvSpPr txBox="1"/>
          <p:nvPr/>
        </p:nvSpPr>
        <p:spPr>
          <a:xfrm>
            <a:off x="7132320" y="2029968"/>
            <a:ext cx="4297680" cy="594360"/>
          </a:xfrm>
          <a:prstGeom prst="rect">
            <a:avLst/>
          </a:prstGeom>
          <a:noFill/>
          <a:ln/>
        </p:spPr>
        <p:txBody>
          <a:bodyPr wrap="square" lIns="0" tIns="0" rIns="0" bIns="0" rtlCol="0" anchor="t"/>
          <a:lstStyle/>
          <a:p>
            <a:pPr indent="0" marL="0">
              <a:spcAft>
                <a:spcPts val="100"/>
              </a:spcAft>
              <a:buNone/>
            </a:pPr>
            <a:r>
              <a:rPr lang="en-US" sz="1400" dirty="0">
                <a:solidFill>
                  <a:srgbClr val="7EE2A8"/>
                </a:solidFill>
                <a:latin typeface="Courier New" pitchFamily="34" charset="0"/>
                <a:ea typeface="Courier New" pitchFamily="34" charset="-122"/>
                <a:cs typeface="Courier New" pitchFamily="34" charset="-120"/>
              </a:rPr>
              <a:t>2) IOException: no folder old_data</a:t>
            </a:r>
            <a:endParaRPr lang="en-US" sz="1400" dirty="0"/>
          </a:p>
        </p:txBody>
      </p:sp>
      <p:sp>
        <p:nvSpPr>
          <p:cNvPr id="16" name="Shape 13"/>
          <p:cNvSpPr/>
          <p:nvPr/>
        </p:nvSpPr>
        <p:spPr>
          <a:xfrm>
            <a:off x="6903720" y="2834640"/>
            <a:ext cx="4754880" cy="1325880"/>
          </a:xfrm>
          <a:prstGeom prst="roundRect">
            <a:avLst>
              <a:gd name="adj" fmla="val 6897"/>
            </a:avLst>
          </a:prstGeom>
          <a:solidFill>
            <a:srgbClr val="1A0F12"/>
          </a:solidFill>
          <a:ln w="12700">
            <a:solidFill>
              <a:srgbClr val="C8453B"/>
            </a:solidFill>
            <a:prstDash val="solid"/>
          </a:ln>
        </p:spPr>
      </p:sp>
      <p:sp>
        <p:nvSpPr>
          <p:cNvPr id="17" name="Text 14"/>
          <p:cNvSpPr txBox="1"/>
          <p:nvPr/>
        </p:nvSpPr>
        <p:spPr>
          <a:xfrm>
            <a:off x="7132320" y="2907792"/>
            <a:ext cx="4297680" cy="228600"/>
          </a:xfrm>
          <a:prstGeom prst="rect">
            <a:avLst/>
          </a:prstGeom>
          <a:noFill/>
          <a:ln/>
        </p:spPr>
        <p:txBody>
          <a:bodyPr wrap="square" lIns="0" tIns="0" rIns="0" bIns="0" rtlCol="0" anchor="ctr"/>
          <a:lstStyle/>
          <a:p>
            <a:pPr indent="0" marL="0">
              <a:buNone/>
            </a:pPr>
            <a:r>
              <a:rPr lang="en-US" sz="1000" dirty="0">
                <a:solidFill>
                  <a:srgbClr val="E8A39C"/>
                </a:solidFill>
                <a:latin typeface="Courier New" pitchFamily="34" charset="0"/>
                <a:ea typeface="Courier New" pitchFamily="34" charset="-122"/>
                <a:cs typeface="Courier New" pitchFamily="34" charset="-120"/>
              </a:rPr>
              <a:t>dotnet build · IOException caught first</a:t>
            </a:r>
            <a:endParaRPr lang="en-US" sz="1000" dirty="0"/>
          </a:p>
        </p:txBody>
      </p:sp>
      <p:sp>
        <p:nvSpPr>
          <p:cNvPr id="18" name="Text 15"/>
          <p:cNvSpPr txBox="1"/>
          <p:nvPr/>
        </p:nvSpPr>
        <p:spPr>
          <a:xfrm>
            <a:off x="7132320" y="3182112"/>
            <a:ext cx="4297680" cy="886968"/>
          </a:xfrm>
          <a:prstGeom prst="rect">
            <a:avLst/>
          </a:prstGeom>
          <a:noFill/>
          <a:ln/>
        </p:spPr>
        <p:txBody>
          <a:bodyPr wrap="square" lIns="0" tIns="0" rIns="0" bIns="0" rtlCol="0" anchor="t"/>
          <a:lstStyle/>
          <a:p>
            <a:pPr indent="0" marL="0">
              <a:spcAft>
                <a:spcPts val="200"/>
              </a:spcAft>
              <a:buNone/>
            </a:pPr>
            <a:r>
              <a:rPr lang="en-US" sz="1200" dirty="0">
                <a:solidFill>
                  <a:srgbClr val="FF8A80"/>
                </a:solidFill>
                <a:latin typeface="Courier New" pitchFamily="34" charset="0"/>
                <a:ea typeface="Courier New" pitchFamily="34" charset="-122"/>
                <a:cs typeface="Courier New" pitchFamily="34" charset="-120"/>
              </a:rPr>
              <a:t>error CS0160: A previous catch clause already catches all exceptions of this or of a super type ('IOException')</a:t>
            </a:r>
            <a:endParaRPr lang="en-US" sz="12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6903720" y="4297680"/>
          <a:ext cx="4754880" cy="914400"/>
        </p:xfrm>
        <a:graphic>
          <a:graphicData uri="http://schemas.openxmlformats.org/drawingml/2006/table">
            <a:tbl>
              <a:tblPr/>
              <a:tblGrid>
                <a:gridCol w="2286000"/>
                <a:gridCol w="2468880"/>
              </a:tblGrid>
              <a:tr h="438912">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Exception</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Typical cause</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r>
              <a:tr h="438912">
                <a:tc>
                  <a:txBody>
                    <a:bodyPr/>
                    <a:lstStyle/>
                    <a:p>
                      <a:pPr algn="l" indent="0" marL="0">
                        <a:buNone/>
                      </a:pPr>
                      <a:r>
                        <a:rPr lang="en-US" sz="1300" b="1" dirty="0">
                          <a:solidFill>
                            <a:srgbClr val="C8453B"/>
                          </a:solidFill>
                          <a:latin typeface="Courier New" pitchFamily="34" charset="0"/>
                          <a:ea typeface="Courier New" pitchFamily="34" charset="-122"/>
                          <a:cs typeface="Courier New" pitchFamily="34" charset="-120"/>
                        </a:rPr>
                        <a:t>FileNotFoundException</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4213D"/>
                          </a:solidFill>
                          <a:latin typeface="Calibri" pitchFamily="34" charset="0"/>
                          <a:ea typeface="Calibri" pitchFamily="34" charset="-122"/>
                          <a:cs typeface="Calibri" pitchFamily="34" charset="-120"/>
                        </a:rPr>
                        <a:t>file missing (typo, wrong folder)</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438912">
                <a:tc>
                  <a:txBody>
                    <a:bodyPr/>
                    <a:lstStyle/>
                    <a:p>
                      <a:pPr algn="l" indent="0" marL="0">
                        <a:buNone/>
                      </a:pPr>
                      <a:r>
                        <a:rPr lang="en-US" sz="1300" b="1" dirty="0">
                          <a:solidFill>
                            <a:srgbClr val="C8453B"/>
                          </a:solidFill>
                          <a:latin typeface="Courier New" pitchFamily="34" charset="0"/>
                          <a:ea typeface="Courier New" pitchFamily="34" charset="-122"/>
                          <a:cs typeface="Courier New" pitchFamily="34" charset="-120"/>
                        </a:rPr>
                        <a:t>IOException</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300" dirty="0">
                          <a:solidFill>
                            <a:srgbClr val="14213D"/>
                          </a:solidFill>
                          <a:latin typeface="Calibri" pitchFamily="34" charset="0"/>
                          <a:ea typeface="Calibri" pitchFamily="34" charset="-122"/>
                          <a:cs typeface="Calibri" pitchFamily="34" charset="-120"/>
                        </a:rPr>
                        <a:t>general: no folder, file locked</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438912">
                <a:tc>
                  <a:txBody>
                    <a:bodyPr/>
                    <a:lstStyle/>
                    <a:p>
                      <a:pPr algn="l" indent="0" marL="0">
                        <a:buNone/>
                      </a:pPr>
                      <a:r>
                        <a:rPr lang="en-US" sz="1300" b="1" dirty="0">
                          <a:solidFill>
                            <a:srgbClr val="C8453B"/>
                          </a:solidFill>
                          <a:latin typeface="Courier New" pitchFamily="34" charset="0"/>
                          <a:ea typeface="Courier New" pitchFamily="34" charset="-122"/>
                          <a:cs typeface="Courier New" pitchFamily="34" charset="-120"/>
                        </a:rPr>
                        <a:t>FormatException</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4213D"/>
                          </a:solidFill>
                          <a:latin typeface="Calibri" pitchFamily="34" charset="0"/>
                          <a:ea typeface="Calibri" pitchFamily="34" charset="-122"/>
                          <a:cs typeface="Calibri" pitchFamily="34" charset="-120"/>
                        </a:rPr>
                        <a:t>int.Parse("abc")</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EXAMPLE 11 · BAD DATA</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One bad line should not stop the whole file</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14</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19</a:t>
            </a:r>
            <a:endParaRPr lang="en-US" sz="1000" dirty="0"/>
          </a:p>
        </p:txBody>
      </p:sp>
      <p:sp>
        <p:nvSpPr>
          <p:cNvPr id="7" name="Shape 4"/>
          <p:cNvSpPr/>
          <p:nvPr/>
        </p:nvSpPr>
        <p:spPr>
          <a:xfrm>
            <a:off x="548640" y="1645920"/>
            <a:ext cx="7132320" cy="3017520"/>
          </a:xfrm>
          <a:prstGeom prst="roundRect">
            <a:avLst>
              <a:gd name="adj" fmla="val 3030"/>
            </a:avLst>
          </a:prstGeom>
          <a:solidFill>
            <a:srgbClr val="0F1729"/>
          </a:solidFill>
          <a:ln w="12700">
            <a:solidFill>
              <a:srgbClr val="0F1729"/>
            </a:solidFill>
            <a:prstDash val="solid"/>
          </a:ln>
        </p:spPr>
      </p:sp>
      <p:sp>
        <p:nvSpPr>
          <p:cNvPr id="8" name="Text 5"/>
          <p:cNvSpPr txBox="1"/>
          <p:nvPr/>
        </p:nvSpPr>
        <p:spPr>
          <a:xfrm>
            <a:off x="777240" y="1755648"/>
            <a:ext cx="667512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part 3 · try/catch inside the loop</a:t>
            </a:r>
            <a:endParaRPr lang="en-US" sz="1100" dirty="0"/>
          </a:p>
        </p:txBody>
      </p:sp>
      <p:sp>
        <p:nvSpPr>
          <p:cNvPr id="9" name="Text 6"/>
          <p:cNvSpPr txBox="1"/>
          <p:nvPr/>
        </p:nvSpPr>
        <p:spPr>
          <a:xfrm>
            <a:off x="777240" y="2057400"/>
            <a:ext cx="6675120" cy="2496312"/>
          </a:xfrm>
          <a:prstGeom prst="rect">
            <a:avLst/>
          </a:prstGeom>
          <a:noFill/>
          <a:ln/>
        </p:spPr>
        <p:txBody>
          <a:bodyPr wrap="square" lIns="0" tIns="0" rIns="0" bIns="0" rtlCol="0" anchor="t"/>
          <a:lstStyle/>
          <a:p>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for</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i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i &lt; lines.Length; i++)</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try</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sum +=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.Parse(lines[i]);</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good++;</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catch</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(FormatException)</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$"3) line {i + 1}: \"{lines[i]}\" skipped"</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p:txBody>
      </p:sp>
      <p:sp>
        <p:nvSpPr>
          <p:cNvPr id="10" name="Shape 7"/>
          <p:cNvSpPr/>
          <p:nvPr/>
        </p:nvSpPr>
        <p:spPr>
          <a:xfrm>
            <a:off x="548640" y="4754880"/>
            <a:ext cx="7132320" cy="1325880"/>
          </a:xfrm>
          <a:prstGeom prst="roundRect">
            <a:avLst>
              <a:gd name="adj" fmla="val 6897"/>
            </a:avLst>
          </a:prstGeom>
          <a:solidFill>
            <a:srgbClr val="0F1729"/>
          </a:solidFill>
          <a:ln w="12700">
            <a:solidFill>
              <a:srgbClr val="0F1729"/>
            </a:solidFill>
            <a:prstDash val="solid"/>
          </a:ln>
        </p:spPr>
      </p:sp>
      <p:sp>
        <p:nvSpPr>
          <p:cNvPr id="11" name="Text 8"/>
          <p:cNvSpPr txBox="1"/>
          <p:nvPr/>
        </p:nvSpPr>
        <p:spPr>
          <a:xfrm>
            <a:off x="777240" y="4864608"/>
            <a:ext cx="667512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part 4 · TryParse: no exception</a:t>
            </a:r>
            <a:endParaRPr lang="en-US" sz="1100" dirty="0"/>
          </a:p>
        </p:txBody>
      </p:sp>
      <p:sp>
        <p:nvSpPr>
          <p:cNvPr id="12" name="Text 9"/>
          <p:cNvSpPr txBox="1"/>
          <p:nvPr/>
        </p:nvSpPr>
        <p:spPr>
          <a:xfrm>
            <a:off x="777240" y="5166360"/>
            <a:ext cx="6675120" cy="804672"/>
          </a:xfrm>
          <a:prstGeom prst="rect">
            <a:avLst/>
          </a:prstGeom>
          <a:noFill/>
          <a:ln/>
        </p:spPr>
        <p:txBody>
          <a:bodyPr wrap="square" lIns="0" tIns="0" rIns="0" bIns="0" rtlCol="0" anchor="t"/>
          <a:lstStyle/>
          <a:p>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if</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.TryParse(line,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out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value))</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bad++;</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p:txBody>
      </p:sp>
      <p:sp>
        <p:nvSpPr>
          <p:cNvPr id="13" name="Shape 10"/>
          <p:cNvSpPr/>
          <p:nvPr/>
        </p:nvSpPr>
        <p:spPr>
          <a:xfrm>
            <a:off x="7863840" y="1645920"/>
            <a:ext cx="3794760" cy="2103120"/>
          </a:xfrm>
          <a:prstGeom prst="rect">
            <a:avLst/>
          </a:prstGeom>
          <a:solidFill>
            <a:srgbClr val="FFFFFF"/>
          </a:solidFill>
          <a:ln w="12700">
            <a:solidFill>
              <a:srgbClr val="8A94AB"/>
            </a:solidFill>
            <a:prstDash val="solid"/>
          </a:ln>
        </p:spPr>
      </p:sp>
      <p:sp>
        <p:nvSpPr>
          <p:cNvPr id="14" name="Shape 11"/>
          <p:cNvSpPr/>
          <p:nvPr/>
        </p:nvSpPr>
        <p:spPr>
          <a:xfrm>
            <a:off x="7863840" y="1645920"/>
            <a:ext cx="3794760" cy="329184"/>
          </a:xfrm>
          <a:prstGeom prst="rect">
            <a:avLst/>
          </a:prstGeom>
          <a:solidFill>
            <a:srgbClr val="EEF1F6"/>
          </a:solidFill>
          <a:ln w="12700">
            <a:solidFill>
              <a:srgbClr val="8A94AB"/>
            </a:solidFill>
            <a:prstDash val="solid"/>
          </a:ln>
        </p:spPr>
      </p:sp>
      <p:sp>
        <p:nvSpPr>
          <p:cNvPr id="15" name="Text 12"/>
          <p:cNvSpPr txBox="1"/>
          <p:nvPr/>
        </p:nvSpPr>
        <p:spPr>
          <a:xfrm>
            <a:off x="7955280" y="1645920"/>
            <a:ext cx="3611880" cy="329184"/>
          </a:xfrm>
          <a:prstGeom prst="rect">
            <a:avLst/>
          </a:prstGeom>
          <a:noFill/>
          <a:ln/>
        </p:spPr>
        <p:txBody>
          <a:bodyPr wrap="square" lIns="0" tIns="0" rIns="0" bIns="0" rtlCol="0" anchor="ctr"/>
          <a:lstStyle/>
          <a:p>
            <a:pPr indent="0" marL="0">
              <a:buNone/>
            </a:pPr>
            <a:r>
              <a:rPr lang="en-US" sz="1200" dirty="0">
                <a:solidFill>
                  <a:srgbClr val="B7791F"/>
                </a:solidFill>
                <a:latin typeface="Courier New" pitchFamily="34" charset="0"/>
                <a:ea typeface="Courier New" pitchFamily="34" charset="-122"/>
                <a:cs typeface="Courier New" pitchFamily="34" charset="-120"/>
              </a:rPr>
              <a:t>▤ </a:t>
            </a:r>
            <a:pPr indent="0" marL="0">
              <a:buNone/>
            </a:pPr>
            <a:r>
              <a:rPr lang="en-US" sz="1200" b="1" dirty="0">
                <a:solidFill>
                  <a:srgbClr val="14213D"/>
                </a:solidFill>
                <a:latin typeface="Courier New" pitchFamily="34" charset="0"/>
                <a:ea typeface="Courier New" pitchFamily="34" charset="-122"/>
                <a:cs typeface="Courier New" pitchFamily="34" charset="-120"/>
              </a:rPr>
              <a:t>scores.txt (made by the program)</a:t>
            </a:r>
            <a:endParaRPr lang="en-US" sz="1200" dirty="0"/>
          </a:p>
        </p:txBody>
      </p:sp>
      <p:sp>
        <p:nvSpPr>
          <p:cNvPr id="16" name="Text 13"/>
          <p:cNvSpPr txBox="1"/>
          <p:nvPr/>
        </p:nvSpPr>
        <p:spPr>
          <a:xfrm>
            <a:off x="8001000" y="2057400"/>
            <a:ext cx="3520440" cy="1600200"/>
          </a:xfrm>
          <a:prstGeom prst="rect">
            <a:avLst/>
          </a:prstGeom>
          <a:noFill/>
          <a:ln/>
        </p:spPr>
        <p:txBody>
          <a:bodyPr wrap="square" lIns="0" tIns="0" rIns="0" bIns="0" rtlCol="0" anchor="t"/>
          <a:lstStyle/>
          <a:p>
            <a:pPr indent="0" marL="0">
              <a:spcAft>
                <a:spcPts val="100"/>
              </a:spcAft>
              <a:buNone/>
            </a:pPr>
            <a:r>
              <a:rPr lang="en-US" sz="1200" dirty="0">
                <a:solidFill>
                  <a:srgbClr val="14213D"/>
                </a:solidFill>
                <a:latin typeface="Courier New" pitchFamily="34" charset="0"/>
                <a:ea typeface="Courier New" pitchFamily="34" charset="-122"/>
                <a:cs typeface="Courier New" pitchFamily="34" charset="-120"/>
              </a:rPr>
              <a:t>78</a:t>
            </a:r>
            <a:endParaRPr lang="en-US" sz="1200" dirty="0"/>
          </a:p>
          <a:p>
            <a:pPr indent="0" marL="0">
              <a:spcAft>
                <a:spcPts val="100"/>
              </a:spcAft>
              <a:buNone/>
            </a:pPr>
            <a:r>
              <a:rPr lang="en-US" sz="1200" dirty="0">
                <a:solidFill>
                  <a:srgbClr val="14213D"/>
                </a:solidFill>
                <a:latin typeface="Courier New" pitchFamily="34" charset="0"/>
                <a:ea typeface="Courier New" pitchFamily="34" charset="-122"/>
                <a:cs typeface="Courier New" pitchFamily="34" charset="-120"/>
              </a:rPr>
              <a:t>91</a:t>
            </a:r>
            <a:endParaRPr lang="en-US" sz="1200" dirty="0"/>
          </a:p>
          <a:p>
            <a:pPr indent="0" marL="0">
              <a:spcAft>
                <a:spcPts val="100"/>
              </a:spcAft>
              <a:buNone/>
            </a:pPr>
            <a:r>
              <a:rPr lang="en-US" sz="1200" dirty="0">
                <a:solidFill>
                  <a:srgbClr val="14213D"/>
                </a:solidFill>
                <a:latin typeface="Courier New" pitchFamily="34" charset="0"/>
                <a:ea typeface="Courier New" pitchFamily="34" charset="-122"/>
                <a:cs typeface="Courier New" pitchFamily="34" charset="-120"/>
              </a:rPr>
              <a:t>abc</a:t>
            </a:r>
            <a:endParaRPr lang="en-US" sz="1200" dirty="0"/>
          </a:p>
          <a:p>
            <a:pPr indent="0" marL="0">
              <a:spcAft>
                <a:spcPts val="100"/>
              </a:spcAft>
              <a:buNone/>
            </a:pPr>
            <a:r>
              <a:rPr lang="en-US" sz="1200" dirty="0">
                <a:solidFill>
                  <a:srgbClr val="14213D"/>
                </a:solidFill>
                <a:latin typeface="Courier New" pitchFamily="34" charset="0"/>
                <a:ea typeface="Courier New" pitchFamily="34" charset="-122"/>
                <a:cs typeface="Courier New" pitchFamily="34" charset="-120"/>
              </a:rPr>
              <a:t>65</a:t>
            </a:r>
            <a:endParaRPr lang="en-US" sz="1200" dirty="0"/>
          </a:p>
          <a:p>
            <a:pPr indent="0" marL="0">
              <a:spcAft>
                <a:spcPts val="100"/>
              </a:spcAft>
              <a:buNone/>
            </a:pPr>
            <a:r>
              <a:rPr lang="en-US" sz="1200" dirty="0">
                <a:solidFill>
                  <a:srgbClr val="14213D"/>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14213D"/>
                </a:solidFill>
                <a:latin typeface="Courier New" pitchFamily="34" charset="0"/>
                <a:ea typeface="Courier New" pitchFamily="34" charset="-122"/>
                <a:cs typeface="Courier New" pitchFamily="34" charset="-120"/>
              </a:rPr>
              <a:t>7O</a:t>
            </a:r>
            <a:endParaRPr lang="en-US" sz="1200" dirty="0"/>
          </a:p>
          <a:p>
            <a:pPr indent="0" marL="0">
              <a:spcAft>
                <a:spcPts val="100"/>
              </a:spcAft>
              <a:buNone/>
            </a:pPr>
            <a:r>
              <a:rPr lang="en-US" sz="1200" dirty="0">
                <a:solidFill>
                  <a:srgbClr val="14213D"/>
                </a:solidFill>
                <a:latin typeface="Courier New" pitchFamily="34" charset="0"/>
                <a:ea typeface="Courier New" pitchFamily="34" charset="-122"/>
                <a:cs typeface="Courier New" pitchFamily="34" charset="-120"/>
              </a:rPr>
              <a:t>100</a:t>
            </a:r>
            <a:endParaRPr lang="en-US" sz="1200" dirty="0"/>
          </a:p>
        </p:txBody>
      </p:sp>
      <p:sp>
        <p:nvSpPr>
          <p:cNvPr id="17" name="Shape 14"/>
          <p:cNvSpPr/>
          <p:nvPr/>
        </p:nvSpPr>
        <p:spPr>
          <a:xfrm>
            <a:off x="7863840" y="3840480"/>
            <a:ext cx="3794760" cy="2240280"/>
          </a:xfrm>
          <a:prstGeom prst="roundRect">
            <a:avLst>
              <a:gd name="adj" fmla="val 4082"/>
            </a:avLst>
          </a:prstGeom>
          <a:solidFill>
            <a:srgbClr val="0B0F19"/>
          </a:solidFill>
          <a:ln w="12700">
            <a:solidFill>
              <a:srgbClr val="2A3654"/>
            </a:solidFill>
            <a:prstDash val="solid"/>
          </a:ln>
        </p:spPr>
      </p:sp>
      <p:sp>
        <p:nvSpPr>
          <p:cNvPr id="18" name="Shape 15"/>
          <p:cNvSpPr/>
          <p:nvPr/>
        </p:nvSpPr>
        <p:spPr>
          <a:xfrm>
            <a:off x="8046720" y="3968496"/>
            <a:ext cx="118872" cy="118872"/>
          </a:xfrm>
          <a:prstGeom prst="ellipse">
            <a:avLst/>
          </a:prstGeom>
          <a:solidFill>
            <a:srgbClr val="FF5F57"/>
          </a:solidFill>
          <a:ln w="12700">
            <a:solidFill>
              <a:srgbClr val="FF5F57"/>
            </a:solidFill>
            <a:prstDash val="solid"/>
          </a:ln>
        </p:spPr>
      </p:sp>
      <p:sp>
        <p:nvSpPr>
          <p:cNvPr id="19" name="Shape 16"/>
          <p:cNvSpPr/>
          <p:nvPr/>
        </p:nvSpPr>
        <p:spPr>
          <a:xfrm>
            <a:off x="8275320" y="3968496"/>
            <a:ext cx="118872" cy="118872"/>
          </a:xfrm>
          <a:prstGeom prst="ellipse">
            <a:avLst/>
          </a:prstGeom>
          <a:solidFill>
            <a:srgbClr val="FEBC2E"/>
          </a:solidFill>
          <a:ln w="12700">
            <a:solidFill>
              <a:srgbClr val="FEBC2E"/>
            </a:solidFill>
            <a:prstDash val="solid"/>
          </a:ln>
        </p:spPr>
      </p:sp>
      <p:sp>
        <p:nvSpPr>
          <p:cNvPr id="20" name="Shape 17"/>
          <p:cNvSpPr/>
          <p:nvPr/>
        </p:nvSpPr>
        <p:spPr>
          <a:xfrm>
            <a:off x="8503920" y="3968496"/>
            <a:ext cx="118872" cy="118872"/>
          </a:xfrm>
          <a:prstGeom prst="ellipse">
            <a:avLst/>
          </a:prstGeom>
          <a:solidFill>
            <a:srgbClr val="28C840"/>
          </a:solidFill>
          <a:ln w="12700">
            <a:solidFill>
              <a:srgbClr val="28C840"/>
            </a:solidFill>
            <a:prstDash val="solid"/>
          </a:ln>
        </p:spPr>
      </p:sp>
      <p:sp>
        <p:nvSpPr>
          <p:cNvPr id="21" name="Text 18"/>
          <p:cNvSpPr txBox="1"/>
          <p:nvPr/>
        </p:nvSpPr>
        <p:spPr>
          <a:xfrm>
            <a:off x="8778240" y="3913632"/>
            <a:ext cx="269748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Console</a:t>
            </a:r>
            <a:endParaRPr lang="en-US" sz="1000" dirty="0"/>
          </a:p>
        </p:txBody>
      </p:sp>
      <p:sp>
        <p:nvSpPr>
          <p:cNvPr id="22" name="Text 19"/>
          <p:cNvSpPr txBox="1"/>
          <p:nvPr/>
        </p:nvSpPr>
        <p:spPr>
          <a:xfrm>
            <a:off x="8092440" y="4224528"/>
            <a:ext cx="3337560" cy="1737360"/>
          </a:xfrm>
          <a:prstGeom prst="rect">
            <a:avLst/>
          </a:prstGeom>
          <a:noFill/>
          <a:ln/>
        </p:spPr>
        <p:txBody>
          <a:bodyPr wrap="square" lIns="0" tIns="0" rIns="0" bIns="0" rtlCol="0" anchor="t"/>
          <a:lstStyle/>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3) line 3: "abc" skipped</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3) line 5: "" skipped</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3) line 6: "7O" skipped</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   4 valid scores, average 83.50</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4) TryParse: 3 bad lines</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EXAMPLE 8 · HIGH-SCORE FILE</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The record of the guessing game survives</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14</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20</a:t>
            </a:r>
            <a:endParaRPr lang="en-US" sz="1000" dirty="0"/>
          </a:p>
        </p:txBody>
      </p:sp>
      <p:sp>
        <p:nvSpPr>
          <p:cNvPr id="7" name="Shape 4"/>
          <p:cNvSpPr/>
          <p:nvPr/>
        </p:nvSpPr>
        <p:spPr>
          <a:xfrm>
            <a:off x="548640" y="1645920"/>
            <a:ext cx="6400800" cy="4434840"/>
          </a:xfrm>
          <a:prstGeom prst="roundRect">
            <a:avLst>
              <a:gd name="adj" fmla="val 2062"/>
            </a:avLst>
          </a:prstGeom>
          <a:solidFill>
            <a:srgbClr val="0F1729"/>
          </a:solidFill>
          <a:ln w="12700">
            <a:solidFill>
              <a:srgbClr val="0F1729"/>
            </a:solidFill>
            <a:prstDash val="solid"/>
          </a:ln>
        </p:spPr>
      </p:sp>
      <p:sp>
        <p:nvSpPr>
          <p:cNvPr id="8" name="Text 5"/>
          <p:cNvSpPr txBox="1"/>
          <p:nvPr/>
        </p:nvSpPr>
        <p:spPr>
          <a:xfrm>
            <a:off x="777240" y="1755648"/>
            <a:ext cx="594360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inside LoadHighScore: (string name, int attempts)</a:t>
            </a:r>
            <a:endParaRPr lang="en-US" sz="1100" dirty="0"/>
          </a:p>
        </p:txBody>
      </p:sp>
      <p:sp>
        <p:nvSpPr>
          <p:cNvPr id="9" name="Text 6"/>
          <p:cNvSpPr txBox="1"/>
          <p:nvPr/>
        </p:nvSpPr>
        <p:spPr>
          <a:xfrm>
            <a:off x="777240" y="2057400"/>
            <a:ext cx="5943600" cy="3913632"/>
          </a:xfrm>
          <a:prstGeom prst="rect">
            <a:avLst/>
          </a:prstGeom>
          <a:noFill/>
          <a:ln/>
        </p:spPr>
        <p:txBody>
          <a:bodyPr wrap="square" lIns="0" tIns="0" rIns="0" bIns="0" rtlCol="0" anchor="t"/>
          <a:lstStyle/>
          <a:p>
            <a:pPr indent="0" marL="0">
              <a:spcAft>
                <a:spcPts val="100"/>
              </a:spcAft>
              <a:buNone/>
            </a:pPr>
            <a:r>
              <a:rPr lang="en-US" sz="1250" dirty="0">
                <a:solidFill>
                  <a:srgbClr val="7AB8FF"/>
                </a:solidFill>
                <a:latin typeface="Courier New" pitchFamily="34" charset="0"/>
                <a:ea typeface="Courier New" pitchFamily="34" charset="-122"/>
                <a:cs typeface="Courier New" pitchFamily="34" charset="-120"/>
              </a:rPr>
              <a:t>try</a:t>
            </a:r>
            <a:endParaRPr lang="en-US" sz="1250" dirty="0"/>
          </a:p>
          <a:p>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a:t>
            </a:r>
            <a:endParaRPr lang="en-US" sz="1250" dirty="0"/>
          </a:p>
          <a:p>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50" dirty="0">
                <a:solidFill>
                  <a:srgbClr val="4EC9B0"/>
                </a:solidFill>
                <a:latin typeface="Courier New" pitchFamily="34" charset="0"/>
                <a:ea typeface="Courier New" pitchFamily="34" charset="-122"/>
                <a:cs typeface="Courier New" pitchFamily="34" charset="-120"/>
              </a:rPr>
              <a:t>string</a:t>
            </a:r>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 parts = File.ReadAllText(path).Split(</a:t>
            </a:r>
            <a:pPr indent="0" marL="0">
              <a:spcAft>
                <a:spcPts val="100"/>
              </a:spcAft>
              <a:buNone/>
            </a:pPr>
            <a:r>
              <a:rPr lang="en-US" sz="1250" dirty="0">
                <a:solidFill>
                  <a:srgbClr val="CE9178"/>
                </a:solidFill>
                <a:latin typeface="Courier New" pitchFamily="34" charset="0"/>
                <a:ea typeface="Courier New" pitchFamily="34" charset="-122"/>
                <a:cs typeface="Courier New" pitchFamily="34" charset="-120"/>
              </a:rPr>
              <a:t>','</a:t>
            </a:r>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a:t>
            </a:r>
            <a:endParaRPr lang="en-US" sz="1250" dirty="0"/>
          </a:p>
          <a:p>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50" dirty="0">
                <a:solidFill>
                  <a:srgbClr val="7AB8FF"/>
                </a:solidFill>
                <a:latin typeface="Courier New" pitchFamily="34" charset="0"/>
                <a:ea typeface="Courier New" pitchFamily="34" charset="-122"/>
                <a:cs typeface="Courier New" pitchFamily="34" charset="-120"/>
              </a:rPr>
              <a:t>if</a:t>
            </a:r>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 (parts.Length != </a:t>
            </a:r>
            <a:pPr indent="0" marL="0">
              <a:spcAft>
                <a:spcPts val="100"/>
              </a:spcAft>
              <a:buNone/>
            </a:pPr>
            <a:r>
              <a:rPr lang="en-US" sz="1250" dirty="0">
                <a:solidFill>
                  <a:srgbClr val="B5CEA8"/>
                </a:solidFill>
                <a:latin typeface="Courier New" pitchFamily="34" charset="0"/>
                <a:ea typeface="Courier New" pitchFamily="34" charset="-122"/>
                <a:cs typeface="Courier New" pitchFamily="34" charset="-120"/>
              </a:rPr>
              <a:t>2</a:t>
            </a:r>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a:t>
            </a:r>
            <a:endParaRPr lang="en-US" sz="1250" dirty="0"/>
          </a:p>
          <a:p>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    {</a:t>
            </a:r>
            <a:endParaRPr lang="en-US" sz="1250" dirty="0"/>
          </a:p>
          <a:p>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50" dirty="0">
                <a:solidFill>
                  <a:srgbClr val="7AB8FF"/>
                </a:solidFill>
                <a:latin typeface="Courier New" pitchFamily="34" charset="0"/>
                <a:ea typeface="Courier New" pitchFamily="34" charset="-122"/>
                <a:cs typeface="Courier New" pitchFamily="34" charset="-120"/>
              </a:rPr>
              <a:t>return</a:t>
            </a:r>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50" dirty="0">
                <a:solidFill>
                  <a:srgbClr val="CE9178"/>
                </a:solidFill>
                <a:latin typeface="Courier New" pitchFamily="34" charset="0"/>
                <a:ea typeface="Courier New" pitchFamily="34" charset="-122"/>
                <a:cs typeface="Courier New" pitchFamily="34" charset="-120"/>
              </a:rPr>
              <a:t>""</a:t>
            </a:r>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5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a:t>
            </a:r>
            <a:endParaRPr lang="en-US" sz="1250" dirty="0"/>
          </a:p>
          <a:p>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    }</a:t>
            </a:r>
            <a:endParaRPr lang="en-US" sz="1250" dirty="0"/>
          </a:p>
          <a:p>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50" dirty="0">
                <a:solidFill>
                  <a:srgbClr val="7AB8FF"/>
                </a:solidFill>
                <a:latin typeface="Courier New" pitchFamily="34" charset="0"/>
                <a:ea typeface="Courier New" pitchFamily="34" charset="-122"/>
                <a:cs typeface="Courier New" pitchFamily="34" charset="-120"/>
              </a:rPr>
              <a:t>return</a:t>
            </a:r>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 (parts[</a:t>
            </a:r>
            <a:pPr indent="0" marL="0">
              <a:spcAft>
                <a:spcPts val="100"/>
              </a:spcAft>
              <a:buNone/>
            </a:pPr>
            <a:r>
              <a:rPr lang="en-US" sz="125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5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.Parse(parts[</a:t>
            </a:r>
            <a:pPr indent="0" marL="0">
              <a:spcAft>
                <a:spcPts val="100"/>
              </a:spcAft>
              <a:buNone/>
            </a:pPr>
            <a:r>
              <a:rPr lang="en-US" sz="125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a:t>
            </a:r>
            <a:endParaRPr lang="en-US" sz="1250" dirty="0"/>
          </a:p>
          <a:p>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a:t>
            </a:r>
            <a:endParaRPr lang="en-US" sz="1250" dirty="0"/>
          </a:p>
          <a:p>
            <a:pPr indent="0" marL="0">
              <a:spcAft>
                <a:spcPts val="100"/>
              </a:spcAft>
              <a:buNone/>
            </a:pPr>
            <a:r>
              <a:rPr lang="en-US" sz="1250" dirty="0">
                <a:solidFill>
                  <a:srgbClr val="7AB8FF"/>
                </a:solidFill>
                <a:latin typeface="Courier New" pitchFamily="34" charset="0"/>
                <a:ea typeface="Courier New" pitchFamily="34" charset="-122"/>
                <a:cs typeface="Courier New" pitchFamily="34" charset="-120"/>
              </a:rPr>
              <a:t>catch</a:t>
            </a:r>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 (FormatException)</a:t>
            </a:r>
            <a:endParaRPr lang="en-US" sz="1250" dirty="0"/>
          </a:p>
          <a:p>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a:t>
            </a:r>
            <a:endParaRPr lang="en-US" sz="1250" dirty="0"/>
          </a:p>
          <a:p>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5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250" dirty="0">
                <a:solidFill>
                  <a:srgbClr val="CE9178"/>
                </a:solidFill>
                <a:latin typeface="Courier New" pitchFamily="34" charset="0"/>
                <a:ea typeface="Courier New" pitchFamily="34" charset="-122"/>
                <a:cs typeface="Courier New" pitchFamily="34" charset="-120"/>
              </a:rPr>
              <a:t>"(damaged high-score file ignored)"</a:t>
            </a:r>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a:t>
            </a:r>
            <a:endParaRPr lang="en-US" sz="1250" dirty="0"/>
          </a:p>
          <a:p>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50" dirty="0">
                <a:solidFill>
                  <a:srgbClr val="7AB8FF"/>
                </a:solidFill>
                <a:latin typeface="Courier New" pitchFamily="34" charset="0"/>
                <a:ea typeface="Courier New" pitchFamily="34" charset="-122"/>
                <a:cs typeface="Courier New" pitchFamily="34" charset="-120"/>
              </a:rPr>
              <a:t>return</a:t>
            </a:r>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50" dirty="0">
                <a:solidFill>
                  <a:srgbClr val="CE9178"/>
                </a:solidFill>
                <a:latin typeface="Courier New" pitchFamily="34" charset="0"/>
                <a:ea typeface="Courier New" pitchFamily="34" charset="-122"/>
                <a:cs typeface="Courier New" pitchFamily="34" charset="-120"/>
              </a:rPr>
              <a:t>""</a:t>
            </a:r>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5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a:t>
            </a:r>
            <a:endParaRPr lang="en-US" sz="1250" dirty="0"/>
          </a:p>
          <a:p>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a:t>
            </a:r>
            <a:endParaRPr lang="en-US" sz="1250" dirty="0"/>
          </a:p>
        </p:txBody>
      </p:sp>
      <p:sp>
        <p:nvSpPr>
          <p:cNvPr id="10" name="Shape 7"/>
          <p:cNvSpPr/>
          <p:nvPr/>
        </p:nvSpPr>
        <p:spPr>
          <a:xfrm>
            <a:off x="7178040" y="1645920"/>
            <a:ext cx="4480560" cy="1508760"/>
          </a:xfrm>
          <a:prstGeom prst="roundRect">
            <a:avLst>
              <a:gd name="adj" fmla="val 6061"/>
            </a:avLst>
          </a:prstGeom>
          <a:solidFill>
            <a:srgbClr val="0B0F19"/>
          </a:solidFill>
          <a:ln w="12700">
            <a:solidFill>
              <a:srgbClr val="2A3654"/>
            </a:solidFill>
            <a:prstDash val="solid"/>
          </a:ln>
        </p:spPr>
      </p:sp>
      <p:sp>
        <p:nvSpPr>
          <p:cNvPr id="11" name="Shape 8"/>
          <p:cNvSpPr/>
          <p:nvPr/>
        </p:nvSpPr>
        <p:spPr>
          <a:xfrm>
            <a:off x="7360920" y="1773936"/>
            <a:ext cx="118872" cy="118872"/>
          </a:xfrm>
          <a:prstGeom prst="ellipse">
            <a:avLst/>
          </a:prstGeom>
          <a:solidFill>
            <a:srgbClr val="FF5F57"/>
          </a:solidFill>
          <a:ln w="12700">
            <a:solidFill>
              <a:srgbClr val="FF5F57"/>
            </a:solidFill>
            <a:prstDash val="solid"/>
          </a:ln>
        </p:spPr>
      </p:sp>
      <p:sp>
        <p:nvSpPr>
          <p:cNvPr id="12" name="Shape 9"/>
          <p:cNvSpPr/>
          <p:nvPr/>
        </p:nvSpPr>
        <p:spPr>
          <a:xfrm>
            <a:off x="7589520" y="1773936"/>
            <a:ext cx="118872" cy="118872"/>
          </a:xfrm>
          <a:prstGeom prst="ellipse">
            <a:avLst/>
          </a:prstGeom>
          <a:solidFill>
            <a:srgbClr val="FEBC2E"/>
          </a:solidFill>
          <a:ln w="12700">
            <a:solidFill>
              <a:srgbClr val="FEBC2E"/>
            </a:solidFill>
            <a:prstDash val="solid"/>
          </a:ln>
        </p:spPr>
      </p:sp>
      <p:sp>
        <p:nvSpPr>
          <p:cNvPr id="13" name="Shape 10"/>
          <p:cNvSpPr/>
          <p:nvPr/>
        </p:nvSpPr>
        <p:spPr>
          <a:xfrm>
            <a:off x="7818120" y="1773936"/>
            <a:ext cx="118872" cy="118872"/>
          </a:xfrm>
          <a:prstGeom prst="ellipse">
            <a:avLst/>
          </a:prstGeom>
          <a:solidFill>
            <a:srgbClr val="28C840"/>
          </a:solidFill>
          <a:ln w="12700">
            <a:solidFill>
              <a:srgbClr val="28C840"/>
            </a:solidFill>
            <a:prstDash val="solid"/>
          </a:ln>
        </p:spPr>
      </p:sp>
      <p:sp>
        <p:nvSpPr>
          <p:cNvPr id="14" name="Text 11"/>
          <p:cNvSpPr txBox="1"/>
          <p:nvPr/>
        </p:nvSpPr>
        <p:spPr>
          <a:xfrm>
            <a:off x="8092440" y="1719072"/>
            <a:ext cx="338328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run 2</a:t>
            </a:r>
            <a:endParaRPr lang="en-US" sz="1000" dirty="0"/>
          </a:p>
        </p:txBody>
      </p:sp>
      <p:sp>
        <p:nvSpPr>
          <p:cNvPr id="15" name="Text 12"/>
          <p:cNvSpPr txBox="1"/>
          <p:nvPr/>
        </p:nvSpPr>
        <p:spPr>
          <a:xfrm>
            <a:off x="7406640" y="2029968"/>
            <a:ext cx="4023360" cy="1005840"/>
          </a:xfrm>
          <a:prstGeom prst="rect">
            <a:avLst/>
          </a:prstGeom>
          <a:noFill/>
          <a:ln/>
        </p:spPr>
        <p:txBody>
          <a:bodyPr wrap="square" lIns="0" tIns="0" rIns="0" bIns="0" rtlCol="0" anchor="t"/>
          <a:lstStyle/>
          <a:p>
            <a:pPr indent="0" marL="0">
              <a:spcAft>
                <a:spcPts val="100"/>
              </a:spcAft>
              <a:buNone/>
            </a:pPr>
            <a:r>
              <a:rPr lang="en-US" sz="1250" dirty="0">
                <a:solidFill>
                  <a:srgbClr val="7EE2A8"/>
                </a:solidFill>
                <a:latin typeface="Courier New" pitchFamily="34" charset="0"/>
                <a:ea typeface="Courier New" pitchFamily="34" charset="-122"/>
                <a:cs typeface="Courier New" pitchFamily="34" charset="-120"/>
              </a:rPr>
              <a:t>Record to beat: 7 attempts by Ayla</a:t>
            </a:r>
            <a:endParaRPr lang="en-US" sz="1250" dirty="0"/>
          </a:p>
          <a:p>
            <a:pPr indent="0" marL="0">
              <a:spcAft>
                <a:spcPts val="100"/>
              </a:spcAft>
              <a:buNone/>
            </a:pPr>
            <a:r>
              <a:rPr lang="en-US" sz="1250" dirty="0">
                <a:solidFill>
                  <a:srgbClr val="7EE2A8"/>
                </a:solidFill>
                <a:latin typeface="Courier New" pitchFamily="34" charset="0"/>
                <a:ea typeface="Courier New" pitchFamily="34" charset="-122"/>
                <a:cs typeface="Courier New" pitchFamily="34" charset="-120"/>
              </a:rPr>
              <a:t>Your name: </a:t>
            </a:r>
            <a:pPr indent="0" marL="0">
              <a:spcAft>
                <a:spcPts val="100"/>
              </a:spcAft>
              <a:buNone/>
            </a:pPr>
            <a:r>
              <a:rPr lang="en-US" sz="1250" b="1" dirty="0">
                <a:solidFill>
                  <a:srgbClr val="FCA311"/>
                </a:solidFill>
                <a:latin typeface="Courier New" pitchFamily="34" charset="0"/>
                <a:ea typeface="Courier New" pitchFamily="34" charset="-122"/>
                <a:cs typeface="Courier New" pitchFamily="34" charset="-120"/>
              </a:rPr>
              <a:t>Deniz</a:t>
            </a:r>
            <a:endParaRPr lang="en-US" sz="1250" dirty="0"/>
          </a:p>
          <a:p>
            <a:pPr indent="0" marL="0">
              <a:spcAft>
                <a:spcPts val="100"/>
              </a:spcAft>
              <a:buNone/>
            </a:pPr>
            <a:r>
              <a:rPr lang="en-US" sz="1250" dirty="0">
                <a:solidFill>
                  <a:srgbClr val="7EE2A8"/>
                </a:solidFill>
                <a:latin typeface="Courier New" pitchFamily="34" charset="0"/>
                <a:ea typeface="Courier New" pitchFamily="34" charset="-122"/>
                <a:cs typeface="Courier New" pitchFamily="34" charset="-120"/>
              </a:rPr>
              <a:t>…</a:t>
            </a:r>
            <a:endParaRPr lang="en-US" sz="1250" dirty="0"/>
          </a:p>
          <a:p>
            <a:pPr indent="0" marL="0">
              <a:spcAft>
                <a:spcPts val="100"/>
              </a:spcAft>
              <a:buNone/>
            </a:pPr>
            <a:r>
              <a:rPr lang="en-US" sz="1250" dirty="0">
                <a:solidFill>
                  <a:srgbClr val="7EE2A8"/>
                </a:solidFill>
                <a:latin typeface="Courier New" pitchFamily="34" charset="0"/>
                <a:ea typeface="Courier New" pitchFamily="34" charset="-122"/>
                <a:cs typeface="Courier New" pitchFamily="34" charset="-120"/>
              </a:rPr>
              <a:t>Correct, Deniz! 6 attempts.</a:t>
            </a:r>
            <a:endParaRPr lang="en-US" sz="1250" dirty="0"/>
          </a:p>
          <a:p>
            <a:pPr indent="0" marL="0">
              <a:spcAft>
                <a:spcPts val="100"/>
              </a:spcAft>
              <a:buNone/>
            </a:pPr>
            <a:r>
              <a:rPr lang="en-US" sz="1250" dirty="0">
                <a:solidFill>
                  <a:srgbClr val="7EE2A8"/>
                </a:solidFill>
                <a:latin typeface="Courier New" pitchFamily="34" charset="0"/>
                <a:ea typeface="Courier New" pitchFamily="34" charset="-122"/>
                <a:cs typeface="Courier New" pitchFamily="34" charset="-120"/>
              </a:rPr>
              <a:t>New record saved!</a:t>
            </a:r>
            <a:endParaRPr lang="en-US" sz="1250" dirty="0"/>
          </a:p>
        </p:txBody>
      </p:sp>
      <p:sp>
        <p:nvSpPr>
          <p:cNvPr id="16" name="Shape 13"/>
          <p:cNvSpPr/>
          <p:nvPr/>
        </p:nvSpPr>
        <p:spPr>
          <a:xfrm>
            <a:off x="7178040" y="3246120"/>
            <a:ext cx="4480560" cy="1508760"/>
          </a:xfrm>
          <a:prstGeom prst="roundRect">
            <a:avLst>
              <a:gd name="adj" fmla="val 6061"/>
            </a:avLst>
          </a:prstGeom>
          <a:solidFill>
            <a:srgbClr val="0B0F19"/>
          </a:solidFill>
          <a:ln w="12700">
            <a:solidFill>
              <a:srgbClr val="2A3654"/>
            </a:solidFill>
            <a:prstDash val="solid"/>
          </a:ln>
        </p:spPr>
      </p:sp>
      <p:sp>
        <p:nvSpPr>
          <p:cNvPr id="17" name="Shape 14"/>
          <p:cNvSpPr/>
          <p:nvPr/>
        </p:nvSpPr>
        <p:spPr>
          <a:xfrm>
            <a:off x="7360920" y="3374136"/>
            <a:ext cx="118872" cy="118872"/>
          </a:xfrm>
          <a:prstGeom prst="ellipse">
            <a:avLst/>
          </a:prstGeom>
          <a:solidFill>
            <a:srgbClr val="FF5F57"/>
          </a:solidFill>
          <a:ln w="12700">
            <a:solidFill>
              <a:srgbClr val="FF5F57"/>
            </a:solidFill>
            <a:prstDash val="solid"/>
          </a:ln>
        </p:spPr>
      </p:sp>
      <p:sp>
        <p:nvSpPr>
          <p:cNvPr id="18" name="Shape 15"/>
          <p:cNvSpPr/>
          <p:nvPr/>
        </p:nvSpPr>
        <p:spPr>
          <a:xfrm>
            <a:off x="7589520" y="3374136"/>
            <a:ext cx="118872" cy="118872"/>
          </a:xfrm>
          <a:prstGeom prst="ellipse">
            <a:avLst/>
          </a:prstGeom>
          <a:solidFill>
            <a:srgbClr val="FEBC2E"/>
          </a:solidFill>
          <a:ln w="12700">
            <a:solidFill>
              <a:srgbClr val="FEBC2E"/>
            </a:solidFill>
            <a:prstDash val="solid"/>
          </a:ln>
        </p:spPr>
      </p:sp>
      <p:sp>
        <p:nvSpPr>
          <p:cNvPr id="19" name="Shape 16"/>
          <p:cNvSpPr/>
          <p:nvPr/>
        </p:nvSpPr>
        <p:spPr>
          <a:xfrm>
            <a:off x="7818120" y="3374136"/>
            <a:ext cx="118872" cy="118872"/>
          </a:xfrm>
          <a:prstGeom prst="ellipse">
            <a:avLst/>
          </a:prstGeom>
          <a:solidFill>
            <a:srgbClr val="28C840"/>
          </a:solidFill>
          <a:ln w="12700">
            <a:solidFill>
              <a:srgbClr val="28C840"/>
            </a:solidFill>
            <a:prstDash val="solid"/>
          </a:ln>
        </p:spPr>
      </p:sp>
      <p:sp>
        <p:nvSpPr>
          <p:cNvPr id="20" name="Text 17"/>
          <p:cNvSpPr txBox="1"/>
          <p:nvPr/>
        </p:nvSpPr>
        <p:spPr>
          <a:xfrm>
            <a:off x="8092440" y="3319272"/>
            <a:ext cx="338328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run 3</a:t>
            </a:r>
            <a:endParaRPr lang="en-US" sz="1000" dirty="0"/>
          </a:p>
        </p:txBody>
      </p:sp>
      <p:sp>
        <p:nvSpPr>
          <p:cNvPr id="21" name="Text 18"/>
          <p:cNvSpPr txBox="1"/>
          <p:nvPr/>
        </p:nvSpPr>
        <p:spPr>
          <a:xfrm>
            <a:off x="7406640" y="3630168"/>
            <a:ext cx="4023360" cy="1005840"/>
          </a:xfrm>
          <a:prstGeom prst="rect">
            <a:avLst/>
          </a:prstGeom>
          <a:noFill/>
          <a:ln/>
        </p:spPr>
        <p:txBody>
          <a:bodyPr wrap="square" lIns="0" tIns="0" rIns="0" bIns="0" rtlCol="0" anchor="t"/>
          <a:lstStyle/>
          <a:p>
            <a:pPr indent="0" marL="0">
              <a:spcAft>
                <a:spcPts val="100"/>
              </a:spcAft>
              <a:buNone/>
            </a:pPr>
            <a:r>
              <a:rPr lang="en-US" sz="1250" dirty="0">
                <a:solidFill>
                  <a:srgbClr val="7EE2A8"/>
                </a:solidFill>
                <a:latin typeface="Courier New" pitchFamily="34" charset="0"/>
                <a:ea typeface="Courier New" pitchFamily="34" charset="-122"/>
                <a:cs typeface="Courier New" pitchFamily="34" charset="-120"/>
              </a:rPr>
              <a:t>Record to beat: 6 attempts by Deniz</a:t>
            </a:r>
            <a:endParaRPr lang="en-US" sz="1250" dirty="0"/>
          </a:p>
          <a:p>
            <a:pPr indent="0" marL="0">
              <a:spcAft>
                <a:spcPts val="100"/>
              </a:spcAft>
              <a:buNone/>
            </a:pPr>
            <a:r>
              <a:rPr lang="en-US" sz="1250" dirty="0">
                <a:solidFill>
                  <a:srgbClr val="7EE2A8"/>
                </a:solidFill>
                <a:latin typeface="Courier New" pitchFamily="34" charset="0"/>
                <a:ea typeface="Courier New" pitchFamily="34" charset="-122"/>
                <a:cs typeface="Courier New" pitchFamily="34" charset="-120"/>
              </a:rPr>
              <a:t>Your name: </a:t>
            </a:r>
            <a:pPr indent="0" marL="0">
              <a:spcAft>
                <a:spcPts val="100"/>
              </a:spcAft>
              <a:buNone/>
            </a:pPr>
            <a:r>
              <a:rPr lang="en-US" sz="1250" b="1" dirty="0">
                <a:solidFill>
                  <a:srgbClr val="FCA311"/>
                </a:solidFill>
                <a:latin typeface="Courier New" pitchFamily="34" charset="0"/>
                <a:ea typeface="Courier New" pitchFamily="34" charset="-122"/>
                <a:cs typeface="Courier New" pitchFamily="34" charset="-120"/>
              </a:rPr>
              <a:t>Mert</a:t>
            </a:r>
            <a:endParaRPr lang="en-US" sz="1250" dirty="0"/>
          </a:p>
          <a:p>
            <a:pPr indent="0" marL="0">
              <a:spcAft>
                <a:spcPts val="100"/>
              </a:spcAft>
              <a:buNone/>
            </a:pPr>
            <a:r>
              <a:rPr lang="en-US" sz="1250" dirty="0">
                <a:solidFill>
                  <a:srgbClr val="7EE2A8"/>
                </a:solidFill>
                <a:latin typeface="Courier New" pitchFamily="34" charset="0"/>
                <a:ea typeface="Courier New" pitchFamily="34" charset="-122"/>
                <a:cs typeface="Courier New" pitchFamily="34" charset="-120"/>
              </a:rPr>
              <a:t>…</a:t>
            </a:r>
            <a:endParaRPr lang="en-US" sz="1250" dirty="0"/>
          </a:p>
          <a:p>
            <a:pPr indent="0" marL="0">
              <a:spcAft>
                <a:spcPts val="100"/>
              </a:spcAft>
              <a:buNone/>
            </a:pPr>
            <a:r>
              <a:rPr lang="en-US" sz="1250" dirty="0">
                <a:solidFill>
                  <a:srgbClr val="7EE2A8"/>
                </a:solidFill>
                <a:latin typeface="Courier New" pitchFamily="34" charset="0"/>
                <a:ea typeface="Courier New" pitchFamily="34" charset="-122"/>
                <a:cs typeface="Courier New" pitchFamily="34" charset="-120"/>
              </a:rPr>
              <a:t>Correct, Mert! 7 attempts.</a:t>
            </a:r>
            <a:endParaRPr lang="en-US" sz="1250" dirty="0"/>
          </a:p>
          <a:p>
            <a:pPr indent="0" marL="0">
              <a:spcAft>
                <a:spcPts val="100"/>
              </a:spcAft>
              <a:buNone/>
            </a:pPr>
            <a:r>
              <a:rPr lang="en-US" sz="1250" dirty="0">
                <a:solidFill>
                  <a:srgbClr val="7EE2A8"/>
                </a:solidFill>
                <a:latin typeface="Courier New" pitchFamily="34" charset="0"/>
                <a:ea typeface="Courier New" pitchFamily="34" charset="-122"/>
                <a:cs typeface="Courier New" pitchFamily="34" charset="-120"/>
              </a:rPr>
              <a:t>The record stays with Deniz (6).</a:t>
            </a:r>
            <a:endParaRPr lang="en-US" sz="1250" dirty="0"/>
          </a:p>
        </p:txBody>
      </p:sp>
      <p:sp>
        <p:nvSpPr>
          <p:cNvPr id="22" name="Shape 19"/>
          <p:cNvSpPr/>
          <p:nvPr/>
        </p:nvSpPr>
        <p:spPr>
          <a:xfrm>
            <a:off x="7178040" y="4892040"/>
            <a:ext cx="4480560" cy="1188720"/>
          </a:xfrm>
          <a:prstGeom prst="rect">
            <a:avLst/>
          </a:prstGeom>
          <a:solidFill>
            <a:srgbClr val="FFFFFF"/>
          </a:solidFill>
          <a:ln w="12700">
            <a:solidFill>
              <a:srgbClr val="8A94AB"/>
            </a:solidFill>
            <a:prstDash val="solid"/>
          </a:ln>
        </p:spPr>
      </p:sp>
      <p:sp>
        <p:nvSpPr>
          <p:cNvPr id="23" name="Shape 20"/>
          <p:cNvSpPr/>
          <p:nvPr/>
        </p:nvSpPr>
        <p:spPr>
          <a:xfrm>
            <a:off x="7178040" y="4892040"/>
            <a:ext cx="4480560" cy="329184"/>
          </a:xfrm>
          <a:prstGeom prst="rect">
            <a:avLst/>
          </a:prstGeom>
          <a:solidFill>
            <a:srgbClr val="EEF1F6"/>
          </a:solidFill>
          <a:ln w="12700">
            <a:solidFill>
              <a:srgbClr val="8A94AB"/>
            </a:solidFill>
            <a:prstDash val="solid"/>
          </a:ln>
        </p:spPr>
      </p:sp>
      <p:sp>
        <p:nvSpPr>
          <p:cNvPr id="24" name="Text 21"/>
          <p:cNvSpPr txBox="1"/>
          <p:nvPr/>
        </p:nvSpPr>
        <p:spPr>
          <a:xfrm>
            <a:off x="7269480" y="4892040"/>
            <a:ext cx="4297680" cy="329184"/>
          </a:xfrm>
          <a:prstGeom prst="rect">
            <a:avLst/>
          </a:prstGeom>
          <a:noFill/>
          <a:ln/>
        </p:spPr>
        <p:txBody>
          <a:bodyPr wrap="square" lIns="0" tIns="0" rIns="0" bIns="0" rtlCol="0" anchor="ctr"/>
          <a:lstStyle/>
          <a:p>
            <a:pPr indent="0" marL="0">
              <a:buNone/>
            </a:pPr>
            <a:r>
              <a:rPr lang="en-US" sz="1200" dirty="0">
                <a:solidFill>
                  <a:srgbClr val="B7791F"/>
                </a:solidFill>
                <a:latin typeface="Courier New" pitchFamily="34" charset="0"/>
                <a:ea typeface="Courier New" pitchFamily="34" charset="-122"/>
                <a:cs typeface="Courier New" pitchFamily="34" charset="-120"/>
              </a:rPr>
              <a:t>▤ </a:t>
            </a:r>
            <a:pPr indent="0" marL="0">
              <a:buNone/>
            </a:pPr>
            <a:r>
              <a:rPr lang="en-US" sz="1200" b="1" dirty="0">
                <a:solidFill>
                  <a:srgbClr val="14213D"/>
                </a:solidFill>
                <a:latin typeface="Courier New" pitchFamily="34" charset="0"/>
                <a:ea typeface="Courier New" pitchFamily="34" charset="-122"/>
                <a:cs typeface="Courier New" pitchFamily="34" charset="-120"/>
              </a:rPr>
              <a:t>highscore.txt (after run 3)</a:t>
            </a:r>
            <a:endParaRPr lang="en-US" sz="1200" dirty="0"/>
          </a:p>
        </p:txBody>
      </p:sp>
      <p:sp>
        <p:nvSpPr>
          <p:cNvPr id="25" name="Text 22"/>
          <p:cNvSpPr txBox="1"/>
          <p:nvPr/>
        </p:nvSpPr>
        <p:spPr>
          <a:xfrm>
            <a:off x="7315200" y="5303520"/>
            <a:ext cx="4206240" cy="685800"/>
          </a:xfrm>
          <a:prstGeom prst="rect">
            <a:avLst/>
          </a:prstGeom>
          <a:noFill/>
          <a:ln/>
        </p:spPr>
        <p:txBody>
          <a:bodyPr wrap="square" lIns="0" tIns="0" rIns="0" bIns="0" rtlCol="0" anchor="t"/>
          <a:lstStyle/>
          <a:p>
            <a:pPr indent="0" marL="0">
              <a:spcAft>
                <a:spcPts val="100"/>
              </a:spcAft>
              <a:buNone/>
            </a:pPr>
            <a:r>
              <a:rPr lang="en-US" sz="1400" dirty="0">
                <a:solidFill>
                  <a:srgbClr val="14213D"/>
                </a:solidFill>
                <a:latin typeface="Courier New" pitchFamily="34" charset="0"/>
                <a:ea typeface="Courier New" pitchFamily="34" charset="-122"/>
                <a:cs typeface="Courier New" pitchFamily="34" charset="-120"/>
              </a:rPr>
              <a:t>Deniz,6</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EXAMPLE 9 · COPY AND FILTER</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Read one file, write only the matching lines</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14</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21</a:t>
            </a:r>
            <a:endParaRPr lang="en-US" sz="1000" dirty="0"/>
          </a:p>
        </p:txBody>
      </p:sp>
      <p:sp>
        <p:nvSpPr>
          <p:cNvPr id="7" name="Shape 4"/>
          <p:cNvSpPr/>
          <p:nvPr/>
        </p:nvSpPr>
        <p:spPr>
          <a:xfrm>
            <a:off x="548640" y="1645920"/>
            <a:ext cx="11109960" cy="3291840"/>
          </a:xfrm>
          <a:prstGeom prst="roundRect">
            <a:avLst>
              <a:gd name="adj" fmla="val 2778"/>
            </a:avLst>
          </a:prstGeom>
          <a:solidFill>
            <a:srgbClr val="0F1729"/>
          </a:solidFill>
          <a:ln w="12700">
            <a:solidFill>
              <a:srgbClr val="0F1729"/>
            </a:solidFill>
            <a:prstDash val="solid"/>
          </a:ln>
        </p:spPr>
      </p:sp>
      <p:sp>
        <p:nvSpPr>
          <p:cNvPr id="8" name="Text 5"/>
          <p:cNvSpPr txBox="1"/>
          <p:nvPr/>
        </p:nvSpPr>
        <p:spPr>
          <a:xfrm>
            <a:off x="777240" y="1755648"/>
            <a:ext cx="1065276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14_09_FilterCopy · two streams at once (total and copied are int counters)</a:t>
            </a:r>
            <a:endParaRPr lang="en-US" sz="1100" dirty="0"/>
          </a:p>
        </p:txBody>
      </p:sp>
      <p:sp>
        <p:nvSpPr>
          <p:cNvPr id="9" name="Text 6"/>
          <p:cNvSpPr txBox="1"/>
          <p:nvPr/>
        </p:nvSpPr>
        <p:spPr>
          <a:xfrm>
            <a:off x="777240" y="2057400"/>
            <a:ext cx="10652760" cy="2770632"/>
          </a:xfrm>
          <a:prstGeom prst="rect">
            <a:avLst/>
          </a:prstGeom>
          <a:noFill/>
          <a:ln/>
        </p:spPr>
        <p:txBody>
          <a:bodyPr wrap="square" lIns="0" tIns="0" rIns="0" bIns="0" rtlCol="0" anchor="t"/>
          <a:lstStyle/>
          <a:p>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using</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(StreamReader reader =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new</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StreamReader(source))</a:t>
            </a:r>
            <a:endParaRPr lang="en-US" sz="1200" dirty="0"/>
          </a:p>
          <a:p>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using</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(StreamWriter writer =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new</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StreamWriter(target))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string</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line;</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while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((line = reader.ReadLine()) !=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null</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F8BA3"/>
                </a:solidFill>
                <a:latin typeface="Courier New" pitchFamily="34" charset="0"/>
                <a:ea typeface="Courier New" pitchFamily="34" charset="-122"/>
                <a:cs typeface="Courier New" pitchFamily="34" charset="-120"/>
              </a:rPr>
              <a:t>// read, then test for the end</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total++;</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if</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(line.Contains(keyword, StringComparison.OrdinalIgnoreCase))</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writer.WriteLine(line);</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copied++;</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p:txBody>
      </p:sp>
      <p:sp>
        <p:nvSpPr>
          <p:cNvPr id="10" name="Shape 7"/>
          <p:cNvSpPr/>
          <p:nvPr/>
        </p:nvSpPr>
        <p:spPr>
          <a:xfrm>
            <a:off x="548640" y="5029200"/>
            <a:ext cx="5486400" cy="1051560"/>
          </a:xfrm>
          <a:prstGeom prst="roundRect">
            <a:avLst>
              <a:gd name="adj" fmla="val 8696"/>
            </a:avLst>
          </a:prstGeom>
          <a:solidFill>
            <a:srgbClr val="0B0F19"/>
          </a:solidFill>
          <a:ln w="12700">
            <a:solidFill>
              <a:srgbClr val="2A3654"/>
            </a:solidFill>
            <a:prstDash val="solid"/>
          </a:ln>
        </p:spPr>
      </p:sp>
      <p:sp>
        <p:nvSpPr>
          <p:cNvPr id="11" name="Shape 8"/>
          <p:cNvSpPr/>
          <p:nvPr/>
        </p:nvSpPr>
        <p:spPr>
          <a:xfrm>
            <a:off x="731520" y="5157216"/>
            <a:ext cx="118872" cy="118872"/>
          </a:xfrm>
          <a:prstGeom prst="ellipse">
            <a:avLst/>
          </a:prstGeom>
          <a:solidFill>
            <a:srgbClr val="FF5F57"/>
          </a:solidFill>
          <a:ln w="12700">
            <a:solidFill>
              <a:srgbClr val="FF5F57"/>
            </a:solidFill>
            <a:prstDash val="solid"/>
          </a:ln>
        </p:spPr>
      </p:sp>
      <p:sp>
        <p:nvSpPr>
          <p:cNvPr id="12" name="Shape 9"/>
          <p:cNvSpPr/>
          <p:nvPr/>
        </p:nvSpPr>
        <p:spPr>
          <a:xfrm>
            <a:off x="960120" y="5157216"/>
            <a:ext cx="118872" cy="118872"/>
          </a:xfrm>
          <a:prstGeom prst="ellipse">
            <a:avLst/>
          </a:prstGeom>
          <a:solidFill>
            <a:srgbClr val="FEBC2E"/>
          </a:solidFill>
          <a:ln w="12700">
            <a:solidFill>
              <a:srgbClr val="FEBC2E"/>
            </a:solidFill>
            <a:prstDash val="solid"/>
          </a:ln>
        </p:spPr>
      </p:sp>
      <p:sp>
        <p:nvSpPr>
          <p:cNvPr id="13" name="Shape 10"/>
          <p:cNvSpPr/>
          <p:nvPr/>
        </p:nvSpPr>
        <p:spPr>
          <a:xfrm>
            <a:off x="1188720" y="5157216"/>
            <a:ext cx="118872" cy="118872"/>
          </a:xfrm>
          <a:prstGeom prst="ellipse">
            <a:avLst/>
          </a:prstGeom>
          <a:solidFill>
            <a:srgbClr val="28C840"/>
          </a:solidFill>
          <a:ln w="12700">
            <a:solidFill>
              <a:srgbClr val="28C840"/>
            </a:solidFill>
            <a:prstDash val="solid"/>
          </a:ln>
        </p:spPr>
      </p:sp>
      <p:sp>
        <p:nvSpPr>
          <p:cNvPr id="14" name="Text 11"/>
          <p:cNvSpPr txBox="1"/>
          <p:nvPr/>
        </p:nvSpPr>
        <p:spPr>
          <a:xfrm>
            <a:off x="1463040" y="5102352"/>
            <a:ext cx="438912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Keyword: exam → 2 of 5 lines copied</a:t>
            </a:r>
            <a:endParaRPr lang="en-US" sz="1000" dirty="0"/>
          </a:p>
        </p:txBody>
      </p:sp>
      <p:sp>
        <p:nvSpPr>
          <p:cNvPr id="15" name="Text 12"/>
          <p:cNvSpPr txBox="1"/>
          <p:nvPr/>
        </p:nvSpPr>
        <p:spPr>
          <a:xfrm>
            <a:off x="777240" y="5413248"/>
            <a:ext cx="5029200" cy="548640"/>
          </a:xfrm>
          <a:prstGeom prst="rect">
            <a:avLst/>
          </a:prstGeom>
          <a:noFill/>
          <a:ln/>
        </p:spPr>
        <p:txBody>
          <a:bodyPr wrap="square" lIns="0" tIns="0" rIns="0" bIns="0" rtlCol="0" anchor="t"/>
          <a:lstStyle/>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  08.10 Final exam: date will be announced</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  12.10 Exam rooms: see the course group</a:t>
            </a:r>
            <a:endParaRPr lang="en-US" sz="1200" dirty="0"/>
          </a:p>
        </p:txBody>
      </p:sp>
      <p:sp>
        <p:nvSpPr>
          <p:cNvPr id="16" name="Shape 13"/>
          <p:cNvSpPr/>
          <p:nvPr/>
        </p:nvSpPr>
        <p:spPr>
          <a:xfrm>
            <a:off x="6172200" y="5029200"/>
            <a:ext cx="5486400" cy="1051560"/>
          </a:xfrm>
          <a:prstGeom prst="roundRect">
            <a:avLst>
              <a:gd name="adj" fmla="val 8696"/>
            </a:avLst>
          </a:prstGeom>
          <a:solidFill>
            <a:srgbClr val="0B0F19"/>
          </a:solidFill>
          <a:ln w="12700">
            <a:solidFill>
              <a:srgbClr val="2A3654"/>
            </a:solidFill>
            <a:prstDash val="solid"/>
          </a:ln>
        </p:spPr>
      </p:sp>
      <p:sp>
        <p:nvSpPr>
          <p:cNvPr id="17" name="Shape 14"/>
          <p:cNvSpPr/>
          <p:nvPr/>
        </p:nvSpPr>
        <p:spPr>
          <a:xfrm>
            <a:off x="6355080" y="5157216"/>
            <a:ext cx="118872" cy="118872"/>
          </a:xfrm>
          <a:prstGeom prst="ellipse">
            <a:avLst/>
          </a:prstGeom>
          <a:solidFill>
            <a:srgbClr val="FF5F57"/>
          </a:solidFill>
          <a:ln w="12700">
            <a:solidFill>
              <a:srgbClr val="FF5F57"/>
            </a:solidFill>
            <a:prstDash val="solid"/>
          </a:ln>
        </p:spPr>
      </p:sp>
      <p:sp>
        <p:nvSpPr>
          <p:cNvPr id="18" name="Shape 15"/>
          <p:cNvSpPr/>
          <p:nvPr/>
        </p:nvSpPr>
        <p:spPr>
          <a:xfrm>
            <a:off x="6583680" y="5157216"/>
            <a:ext cx="118872" cy="118872"/>
          </a:xfrm>
          <a:prstGeom prst="ellipse">
            <a:avLst/>
          </a:prstGeom>
          <a:solidFill>
            <a:srgbClr val="FEBC2E"/>
          </a:solidFill>
          <a:ln w="12700">
            <a:solidFill>
              <a:srgbClr val="FEBC2E"/>
            </a:solidFill>
            <a:prstDash val="solid"/>
          </a:ln>
        </p:spPr>
      </p:sp>
      <p:sp>
        <p:nvSpPr>
          <p:cNvPr id="19" name="Shape 16"/>
          <p:cNvSpPr/>
          <p:nvPr/>
        </p:nvSpPr>
        <p:spPr>
          <a:xfrm>
            <a:off x="6812280" y="5157216"/>
            <a:ext cx="118872" cy="118872"/>
          </a:xfrm>
          <a:prstGeom prst="ellipse">
            <a:avLst/>
          </a:prstGeom>
          <a:solidFill>
            <a:srgbClr val="28C840"/>
          </a:solidFill>
          <a:ln w="12700">
            <a:solidFill>
              <a:srgbClr val="28C840"/>
            </a:solidFill>
            <a:prstDash val="solid"/>
          </a:ln>
        </p:spPr>
      </p:sp>
      <p:sp>
        <p:nvSpPr>
          <p:cNvPr id="20" name="Text 17"/>
          <p:cNvSpPr txBox="1"/>
          <p:nvPr/>
        </p:nvSpPr>
        <p:spPr>
          <a:xfrm>
            <a:off x="7086600" y="5102352"/>
            <a:ext cx="438912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Keyword: lab → 2 of 5 lines copied</a:t>
            </a:r>
            <a:endParaRPr lang="en-US" sz="1000" dirty="0"/>
          </a:p>
        </p:txBody>
      </p:sp>
      <p:sp>
        <p:nvSpPr>
          <p:cNvPr id="21" name="Text 18"/>
          <p:cNvSpPr txBox="1"/>
          <p:nvPr/>
        </p:nvSpPr>
        <p:spPr>
          <a:xfrm>
            <a:off x="6400800" y="5413248"/>
            <a:ext cx="5029200" cy="548640"/>
          </a:xfrm>
          <a:prstGeom prst="rect">
            <a:avLst/>
          </a:prstGeom>
          <a:noFill/>
          <a:ln/>
        </p:spPr>
        <p:txBody>
          <a:bodyPr wrap="square" lIns="0" tIns="0" rIns="0" bIns="0" rtlCol="0" anchor="t"/>
          <a:lstStyle/>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  05.10 Lab 13 solutions are online</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  09.10 Lab 14 is about text files</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EXAMPLE 10 · BANK ACCOUNT</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The balance is saved after every transaction</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14</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22</a:t>
            </a:r>
            <a:endParaRPr lang="en-US" sz="1000" dirty="0"/>
          </a:p>
        </p:txBody>
      </p:sp>
      <p:sp>
        <p:nvSpPr>
          <p:cNvPr id="7" name="Shape 4"/>
          <p:cNvSpPr/>
          <p:nvPr/>
        </p:nvSpPr>
        <p:spPr>
          <a:xfrm>
            <a:off x="548640" y="1645920"/>
            <a:ext cx="6492240" cy="4434840"/>
          </a:xfrm>
          <a:prstGeom prst="roundRect">
            <a:avLst>
              <a:gd name="adj" fmla="val 2062"/>
            </a:avLst>
          </a:prstGeom>
          <a:solidFill>
            <a:srgbClr val="0F1729"/>
          </a:solidFill>
          <a:ln w="12700">
            <a:solidFill>
              <a:srgbClr val="0F1729"/>
            </a:solidFill>
            <a:prstDash val="solid"/>
          </a:ln>
        </p:spPr>
      </p:sp>
      <p:sp>
        <p:nvSpPr>
          <p:cNvPr id="8" name="Text 5"/>
          <p:cNvSpPr txBox="1"/>
          <p:nvPr/>
        </p:nvSpPr>
        <p:spPr>
          <a:xfrm>
            <a:off x="777240" y="1755648"/>
            <a:ext cx="603504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load: missing → 0, damaged → warning</a:t>
            </a:r>
            <a:endParaRPr lang="en-US" sz="1100" dirty="0"/>
          </a:p>
        </p:txBody>
      </p:sp>
      <p:sp>
        <p:nvSpPr>
          <p:cNvPr id="9" name="Text 6"/>
          <p:cNvSpPr txBox="1"/>
          <p:nvPr/>
        </p:nvSpPr>
        <p:spPr>
          <a:xfrm>
            <a:off x="777240" y="2057400"/>
            <a:ext cx="6035040" cy="3913632"/>
          </a:xfrm>
          <a:prstGeom prst="rect">
            <a:avLst/>
          </a:prstGeom>
          <a:noFill/>
          <a:ln/>
        </p:spPr>
        <p:txBody>
          <a:bodyPr wrap="square" lIns="0" tIns="0" rIns="0" bIns="0" rtlCol="0" anchor="t"/>
          <a:lstStyle/>
          <a:p>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static</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decimal</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LoadBalance(</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string</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path)</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if</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(!File.Exists(path))</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return</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try</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return</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decimal</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.Parse(File.ReadAllText(path));</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catch</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(FormatException)</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$"Warning: {path} damaged; using 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return</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p:txBody>
      </p:sp>
      <p:sp>
        <p:nvSpPr>
          <p:cNvPr id="10" name="Shape 7"/>
          <p:cNvSpPr/>
          <p:nvPr/>
        </p:nvSpPr>
        <p:spPr>
          <a:xfrm>
            <a:off x="7269480" y="1645920"/>
            <a:ext cx="4389120" cy="1828800"/>
          </a:xfrm>
          <a:prstGeom prst="roundRect">
            <a:avLst>
              <a:gd name="adj" fmla="val 5000"/>
            </a:avLst>
          </a:prstGeom>
          <a:solidFill>
            <a:srgbClr val="0B0F19"/>
          </a:solidFill>
          <a:ln w="12700">
            <a:solidFill>
              <a:srgbClr val="2A3654"/>
            </a:solidFill>
            <a:prstDash val="solid"/>
          </a:ln>
        </p:spPr>
      </p:sp>
      <p:sp>
        <p:nvSpPr>
          <p:cNvPr id="11" name="Shape 8"/>
          <p:cNvSpPr/>
          <p:nvPr/>
        </p:nvSpPr>
        <p:spPr>
          <a:xfrm>
            <a:off x="7452360" y="1773936"/>
            <a:ext cx="118872" cy="118872"/>
          </a:xfrm>
          <a:prstGeom prst="ellipse">
            <a:avLst/>
          </a:prstGeom>
          <a:solidFill>
            <a:srgbClr val="FF5F57"/>
          </a:solidFill>
          <a:ln w="12700">
            <a:solidFill>
              <a:srgbClr val="FF5F57"/>
            </a:solidFill>
            <a:prstDash val="solid"/>
          </a:ln>
        </p:spPr>
      </p:sp>
      <p:sp>
        <p:nvSpPr>
          <p:cNvPr id="12" name="Shape 9"/>
          <p:cNvSpPr/>
          <p:nvPr/>
        </p:nvSpPr>
        <p:spPr>
          <a:xfrm>
            <a:off x="7680960" y="1773936"/>
            <a:ext cx="118872" cy="118872"/>
          </a:xfrm>
          <a:prstGeom prst="ellipse">
            <a:avLst/>
          </a:prstGeom>
          <a:solidFill>
            <a:srgbClr val="FEBC2E"/>
          </a:solidFill>
          <a:ln w="12700">
            <a:solidFill>
              <a:srgbClr val="FEBC2E"/>
            </a:solidFill>
            <a:prstDash val="solid"/>
          </a:ln>
        </p:spPr>
      </p:sp>
      <p:sp>
        <p:nvSpPr>
          <p:cNvPr id="13" name="Shape 10"/>
          <p:cNvSpPr/>
          <p:nvPr/>
        </p:nvSpPr>
        <p:spPr>
          <a:xfrm>
            <a:off x="7909560" y="1773936"/>
            <a:ext cx="118872" cy="118872"/>
          </a:xfrm>
          <a:prstGeom prst="ellipse">
            <a:avLst/>
          </a:prstGeom>
          <a:solidFill>
            <a:srgbClr val="28C840"/>
          </a:solidFill>
          <a:ln w="12700">
            <a:solidFill>
              <a:srgbClr val="28C840"/>
            </a:solidFill>
            <a:prstDash val="solid"/>
          </a:ln>
        </p:spPr>
      </p:sp>
      <p:sp>
        <p:nvSpPr>
          <p:cNvPr id="14" name="Text 11"/>
          <p:cNvSpPr txBox="1"/>
          <p:nvPr/>
        </p:nvSpPr>
        <p:spPr>
          <a:xfrm>
            <a:off x="8183880" y="1719072"/>
            <a:ext cx="329184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run 2 · loaded; option 3 = history.csv</a:t>
            </a:r>
            <a:endParaRPr lang="en-US" sz="1000" dirty="0"/>
          </a:p>
        </p:txBody>
      </p:sp>
      <p:sp>
        <p:nvSpPr>
          <p:cNvPr id="15" name="Text 12"/>
          <p:cNvSpPr txBox="1"/>
          <p:nvPr/>
        </p:nvSpPr>
        <p:spPr>
          <a:xfrm>
            <a:off x="7498080" y="2029968"/>
            <a:ext cx="3931920" cy="1325880"/>
          </a:xfrm>
          <a:prstGeom prst="rect">
            <a:avLst/>
          </a:prstGeom>
          <a:noFill/>
          <a:ln/>
        </p:spPr>
        <p:txBody>
          <a:bodyPr wrap="square" lIns="0" tIns="0" rIns="0" bIns="0" rtlCol="0" anchor="t"/>
          <a:lstStyle/>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Balance loaded: 1300.00 TL</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2026-10-12 21:29,deposit,1500.00,1500.00</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2026-10-12 21:29,withdraw,200.00,1300.00</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2026-10-12 21:29,deposit,250.50,1550.50</a:t>
            </a:r>
            <a:endParaRPr lang="en-US" sz="1200" dirty="0"/>
          </a:p>
        </p:txBody>
      </p:sp>
      <p:sp>
        <p:nvSpPr>
          <p:cNvPr id="16" name="Shape 13"/>
          <p:cNvSpPr/>
          <p:nvPr/>
        </p:nvSpPr>
        <p:spPr>
          <a:xfrm>
            <a:off x="7269480" y="3611880"/>
            <a:ext cx="4389120" cy="1188720"/>
          </a:xfrm>
          <a:prstGeom prst="roundRect">
            <a:avLst>
              <a:gd name="adj" fmla="val 7692"/>
            </a:avLst>
          </a:prstGeom>
          <a:solidFill>
            <a:srgbClr val="0B0F19"/>
          </a:solidFill>
          <a:ln w="12700">
            <a:solidFill>
              <a:srgbClr val="2A3654"/>
            </a:solidFill>
            <a:prstDash val="solid"/>
          </a:ln>
        </p:spPr>
      </p:sp>
      <p:sp>
        <p:nvSpPr>
          <p:cNvPr id="17" name="Shape 14"/>
          <p:cNvSpPr/>
          <p:nvPr/>
        </p:nvSpPr>
        <p:spPr>
          <a:xfrm>
            <a:off x="7452360" y="3739896"/>
            <a:ext cx="118872" cy="118872"/>
          </a:xfrm>
          <a:prstGeom prst="ellipse">
            <a:avLst/>
          </a:prstGeom>
          <a:solidFill>
            <a:srgbClr val="FF5F57"/>
          </a:solidFill>
          <a:ln w="12700">
            <a:solidFill>
              <a:srgbClr val="FF5F57"/>
            </a:solidFill>
            <a:prstDash val="solid"/>
          </a:ln>
        </p:spPr>
      </p:sp>
      <p:sp>
        <p:nvSpPr>
          <p:cNvPr id="18" name="Shape 15"/>
          <p:cNvSpPr/>
          <p:nvPr/>
        </p:nvSpPr>
        <p:spPr>
          <a:xfrm>
            <a:off x="7680960" y="3739896"/>
            <a:ext cx="118872" cy="118872"/>
          </a:xfrm>
          <a:prstGeom prst="ellipse">
            <a:avLst/>
          </a:prstGeom>
          <a:solidFill>
            <a:srgbClr val="FEBC2E"/>
          </a:solidFill>
          <a:ln w="12700">
            <a:solidFill>
              <a:srgbClr val="FEBC2E"/>
            </a:solidFill>
            <a:prstDash val="solid"/>
          </a:ln>
        </p:spPr>
      </p:sp>
      <p:sp>
        <p:nvSpPr>
          <p:cNvPr id="19" name="Shape 16"/>
          <p:cNvSpPr/>
          <p:nvPr/>
        </p:nvSpPr>
        <p:spPr>
          <a:xfrm>
            <a:off x="7909560" y="3739896"/>
            <a:ext cx="118872" cy="118872"/>
          </a:xfrm>
          <a:prstGeom prst="ellipse">
            <a:avLst/>
          </a:prstGeom>
          <a:solidFill>
            <a:srgbClr val="28C840"/>
          </a:solidFill>
          <a:ln w="12700">
            <a:solidFill>
              <a:srgbClr val="28C840"/>
            </a:solidFill>
            <a:prstDash val="solid"/>
          </a:ln>
        </p:spPr>
      </p:sp>
      <p:sp>
        <p:nvSpPr>
          <p:cNvPr id="20" name="Text 17"/>
          <p:cNvSpPr txBox="1"/>
          <p:nvPr/>
        </p:nvSpPr>
        <p:spPr>
          <a:xfrm>
            <a:off x="8183880" y="3685032"/>
            <a:ext cx="329184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run 3 · balance.txt contains 1.550,50</a:t>
            </a:r>
            <a:endParaRPr lang="en-US" sz="1000" dirty="0"/>
          </a:p>
        </p:txBody>
      </p:sp>
      <p:sp>
        <p:nvSpPr>
          <p:cNvPr id="21" name="Text 18"/>
          <p:cNvSpPr txBox="1"/>
          <p:nvPr/>
        </p:nvSpPr>
        <p:spPr>
          <a:xfrm>
            <a:off x="7498080" y="3995928"/>
            <a:ext cx="3931920" cy="685800"/>
          </a:xfrm>
          <a:prstGeom prst="rect">
            <a:avLst/>
          </a:prstGeom>
          <a:noFill/>
          <a:ln/>
        </p:spPr>
        <p:txBody>
          <a:bodyPr wrap="square" lIns="0" tIns="0" rIns="0" bIns="0" rtlCol="0" anchor="t"/>
          <a:lstStyle/>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Warning: balance.txt damaged; using 0</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Balance loaded: 0.00 TL</a:t>
            </a:r>
            <a:endParaRPr lang="en-US" sz="1200" dirty="0"/>
          </a:p>
        </p:txBody>
      </p:sp>
      <p:sp>
        <p:nvSpPr>
          <p:cNvPr id="22" name="Shape 19"/>
          <p:cNvSpPr/>
          <p:nvPr/>
        </p:nvSpPr>
        <p:spPr>
          <a:xfrm>
            <a:off x="7269480" y="4937760"/>
            <a:ext cx="4389120" cy="1143000"/>
          </a:xfrm>
          <a:prstGeom prst="roundRect">
            <a:avLst>
              <a:gd name="adj" fmla="val 9600"/>
            </a:avLst>
          </a:prstGeom>
          <a:solidFill>
            <a:srgbClr val="FFF6E3"/>
          </a:solidFill>
          <a:ln w="12700">
            <a:solidFill>
              <a:srgbClr val="FFF6E3"/>
            </a:solidFill>
            <a:prstDash val="solid"/>
          </a:ln>
        </p:spPr>
      </p:sp>
      <p:pic>
        <p:nvPicPr>
          <p:cNvPr id="23" name="Image 0" descr="preencoded.png">    </p:cNvPr>
          <p:cNvPicPr>
            <a:picLocks noChangeAspect="1"/>
          </p:cNvPicPr>
          <p:nvPr/>
        </p:nvPicPr>
        <p:blipFill>
          <a:blip r:embed="rId1"/>
          <a:stretch>
            <a:fillRect/>
          </a:stretch>
        </p:blipFill>
        <p:spPr>
          <a:xfrm>
            <a:off x="7543800" y="5234940"/>
            <a:ext cx="548640" cy="548640"/>
          </a:xfrm>
          <a:prstGeom prst="rect">
            <a:avLst/>
          </a:prstGeom>
        </p:spPr>
      </p:pic>
      <p:sp>
        <p:nvSpPr>
          <p:cNvPr id="24" name="Text 20"/>
          <p:cNvSpPr txBox="1"/>
          <p:nvPr/>
        </p:nvSpPr>
        <p:spPr>
          <a:xfrm>
            <a:off x="8366760" y="5010912"/>
            <a:ext cx="3017520" cy="996696"/>
          </a:xfrm>
          <a:prstGeom prst="rect">
            <a:avLst/>
          </a:prstGeom>
          <a:noFill/>
          <a:ln/>
        </p:spPr>
        <p:txBody>
          <a:bodyPr wrap="square" lIns="0" tIns="0" rIns="0" bIns="0" rtlCol="0" anchor="ctr"/>
          <a:lstStyle/>
          <a:p>
            <a:pPr indent="0" marL="0">
              <a:buNone/>
            </a:pPr>
            <a:r>
              <a:rPr lang="en-US" sz="1300" b="1" dirty="0">
                <a:solidFill>
                  <a:srgbClr val="14213D"/>
                </a:solidFill>
                <a:latin typeface="Calibri" pitchFamily="34" charset="0"/>
                <a:ea typeface="Calibri" pitchFamily="34" charset="-122"/>
                <a:cs typeface="Calibri" pitchFamily="34" charset="-120"/>
              </a:rPr>
              <a:t>Money: </a:t>
            </a:r>
            <a:pPr indent="0" marL="0">
              <a:buNone/>
            </a:pPr>
            <a:r>
              <a:rPr lang="en-US" sz="1300" dirty="0">
                <a:solidFill>
                  <a:srgbClr val="333B4F"/>
                </a:solidFill>
                <a:latin typeface="Calibri" pitchFamily="34" charset="0"/>
                <a:ea typeface="Calibri" pitchFamily="34" charset="-122"/>
                <a:cs typeface="Calibri" pitchFamily="34" charset="-120"/>
              </a:rPr>
              <a:t>decimal, saved with F2 — the program must read what it writes.</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COMMON MISTAKES</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File bugs we see every year</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14</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23</a:t>
            </a:r>
            <a:endParaRPr lang="en-US" sz="10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109960" cy="914400"/>
        </p:xfrm>
        <a:graphic>
          <a:graphicData uri="http://schemas.openxmlformats.org/drawingml/2006/table">
            <a:tbl>
              <a:tblPr/>
              <a:tblGrid>
                <a:gridCol w="3840480"/>
                <a:gridCol w="3291840"/>
                <a:gridCol w="3977640"/>
              </a:tblGrid>
              <a:tr h="475488">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Mistake</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What happens</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Fix</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r>
              <a:tr h="475488">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@"C:\Users\ali\data.txt"</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works only on one PC</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relative path, Path.Combine</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475488">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file in another folder</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b="1" dirty="0">
                          <a:solidFill>
                            <a:srgbClr val="C8453B"/>
                          </a:solidFill>
                          <a:latin typeface="Courier New" pitchFamily="34" charset="0"/>
                          <a:ea typeface="Courier New" pitchFamily="34" charset="-122"/>
                          <a:cs typeface="Courier New" pitchFamily="34" charset="-120"/>
                        </a:rPr>
                        <a:t>FileNotFoundException</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dotnet run in the project folder</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475488">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WriteAllText instead of Append</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old content lost</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AppendAllText / StreamWriter(path, true)</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475488">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no using around a StreamWriter</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file empty or incomplete</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using ( … ) { … }</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475488">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ReadLine() twice per pass</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every 2nd line skipped</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read once, store in line</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475488">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parsing the header row</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b="1" dirty="0">
                          <a:solidFill>
                            <a:srgbClr val="C8453B"/>
                          </a:solidFill>
                          <a:latin typeface="Courier New" pitchFamily="34" charset="0"/>
                          <a:ea typeface="Courier New" pitchFamily="34" charset="-122"/>
                          <a:cs typeface="Courier New" pitchFamily="34" charset="-120"/>
                        </a:rPr>
                        <a:t>FormatException</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start the loop at i = 1</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475488">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catch (IOException) first</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b="1" dirty="0">
                          <a:solidFill>
                            <a:srgbClr val="C8453B"/>
                          </a:solidFill>
                          <a:latin typeface="Courier New" pitchFamily="34" charset="0"/>
                          <a:ea typeface="Courier New" pitchFamily="34" charset="-122"/>
                          <a:cs typeface="Courier New" pitchFamily="34" charset="-120"/>
                        </a:rPr>
                        <a:t>CS0160</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specific exception first</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475488">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empty catch { }</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errors are hidden</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print a clear message</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4213D"/>
        </a:solidFill>
      </p:bgPr>
    </p:bg>
    <p:spTree>
      <p:nvGrpSpPr>
        <p:cNvPr id="1" name=""/>
        <p:cNvGrpSpPr/>
        <p:nvPr/>
      </p:nvGrpSpPr>
      <p:grpSpPr>
        <a:xfrm>
          <a:off x="0" y="0"/>
          <a:ext cx="0" cy="0"/>
          <a:chOff x="0" y="0"/>
          <a:chExt cx="0" cy="0"/>
        </a:xfrm>
      </p:grpSpPr>
      <p:sp>
        <p:nvSpPr>
          <p:cNvPr id="2" name="Text 0"/>
          <p:cNvSpPr txBox="1"/>
          <p:nvPr/>
        </p:nvSpPr>
        <p:spPr>
          <a:xfrm>
            <a:off x="548640" y="1463040"/>
            <a:ext cx="2743200" cy="1280160"/>
          </a:xfrm>
          <a:prstGeom prst="rect">
            <a:avLst/>
          </a:prstGeom>
          <a:noFill/>
          <a:ln/>
        </p:spPr>
        <p:txBody>
          <a:bodyPr wrap="square" lIns="0" tIns="0" rIns="0" bIns="0" rtlCol="0" anchor="ctr"/>
          <a:lstStyle/>
          <a:p>
            <a:pPr indent="0" marL="0">
              <a:buNone/>
            </a:pPr>
            <a:r>
              <a:rPr lang="en-US" sz="8800" b="1" dirty="0">
                <a:solidFill>
                  <a:srgbClr val="FCA311"/>
                </a:solidFill>
                <a:latin typeface="Courier New" pitchFamily="34" charset="0"/>
                <a:ea typeface="Courier New" pitchFamily="34" charset="-122"/>
                <a:cs typeface="Courier New" pitchFamily="34" charset="-120"/>
              </a:rPr>
              <a:t>&gt;_</a:t>
            </a:r>
            <a:endParaRPr lang="en-US" sz="8800" dirty="0"/>
          </a:p>
        </p:txBody>
      </p:sp>
      <p:sp>
        <p:nvSpPr>
          <p:cNvPr id="3" name="Text 1"/>
          <p:cNvSpPr txBox="1"/>
          <p:nvPr/>
        </p:nvSpPr>
        <p:spPr>
          <a:xfrm>
            <a:off x="548640" y="2926080"/>
            <a:ext cx="5486400" cy="365760"/>
          </a:xfrm>
          <a:prstGeom prst="rect">
            <a:avLst/>
          </a:prstGeom>
          <a:noFill/>
          <a:ln/>
        </p:spPr>
        <p:txBody>
          <a:bodyPr wrap="square" lIns="0" tIns="0" rIns="0" bIns="0" rtlCol="0" anchor="ctr"/>
          <a:lstStyle/>
          <a:p>
            <a:pPr indent="0" marL="0">
              <a:buNone/>
            </a:pPr>
            <a:r>
              <a:rPr lang="en-US" sz="1600" spc="400" kern="0" dirty="0">
                <a:solidFill>
                  <a:srgbClr val="8A94AB"/>
                </a:solidFill>
                <a:latin typeface="Courier New" pitchFamily="34" charset="0"/>
                <a:ea typeface="Courier New" pitchFamily="34" charset="-122"/>
                <a:cs typeface="Courier New" pitchFamily="34" charset="-120"/>
              </a:rPr>
              <a:t>PART 2</a:t>
            </a:r>
            <a:endParaRPr lang="en-US" sz="1600" dirty="0"/>
          </a:p>
        </p:txBody>
      </p:sp>
      <p:sp>
        <p:nvSpPr>
          <p:cNvPr id="4" name="Text 2"/>
          <p:cNvSpPr txBox="1"/>
          <p:nvPr/>
        </p:nvSpPr>
        <p:spPr>
          <a:xfrm>
            <a:off x="548640" y="3337560"/>
            <a:ext cx="10515600" cy="914400"/>
          </a:xfrm>
          <a:prstGeom prst="rect">
            <a:avLst/>
          </a:prstGeom>
          <a:noFill/>
          <a:ln/>
        </p:spPr>
        <p:txBody>
          <a:bodyPr wrap="square" lIns="0" tIns="0" rIns="0" bIns="0" rtlCol="0" anchor="ctr">
            <a:normAutofit/>
          </a:bodyPr>
          <a:lstStyle/>
          <a:p>
            <a:pPr indent="0" marL="0">
              <a:buNone/>
            </a:pPr>
            <a:r>
              <a:rPr lang="en-US" sz="4200" b="1" dirty="0">
                <a:solidFill>
                  <a:srgbClr val="FFFFFF"/>
                </a:solidFill>
                <a:latin typeface="Cambria" pitchFamily="34" charset="0"/>
                <a:ea typeface="Cambria" pitchFamily="34" charset="-122"/>
                <a:cs typeface="Cambria" pitchFamily="34" charset="-120"/>
              </a:rPr>
              <a:t>Semester review</a:t>
            </a:r>
            <a:endParaRPr lang="en-US" sz="4200" dirty="0"/>
          </a:p>
        </p:txBody>
      </p:sp>
      <p:sp>
        <p:nvSpPr>
          <p:cNvPr id="5" name="Text 3"/>
          <p:cNvSpPr txBox="1"/>
          <p:nvPr/>
        </p:nvSpPr>
        <p:spPr>
          <a:xfrm>
            <a:off x="548640" y="4343400"/>
            <a:ext cx="10515600" cy="548640"/>
          </a:xfrm>
          <a:prstGeom prst="rect">
            <a:avLst/>
          </a:prstGeom>
          <a:noFill/>
          <a:ln/>
        </p:spPr>
        <p:txBody>
          <a:bodyPr wrap="square" lIns="0" tIns="0" rIns="0" bIns="0" rtlCol="0" anchor="ctr"/>
          <a:lstStyle/>
          <a:p>
            <a:pPr indent="0" marL="0">
              <a:buNone/>
            </a:pPr>
            <a:r>
              <a:rPr lang="en-US" sz="1800" dirty="0">
                <a:solidFill>
                  <a:srgbClr val="C7CEDC"/>
                </a:solidFill>
                <a:latin typeface="Calibri" pitchFamily="34" charset="0"/>
                <a:ea typeface="Calibri" pitchFamily="34" charset="-122"/>
                <a:cs typeface="Calibri" pitchFamily="34" charset="-120"/>
              </a:rPr>
              <a:t>One slide per topic: algorithms → flowcharts → variables → operators → decisions → loops → arrays → matrices → methods → files</a:t>
            </a:r>
            <a:endParaRPr lang="en-US" sz="1800" dirty="0"/>
          </a:p>
        </p:txBody>
      </p:sp>
      <p:sp>
        <p:nvSpPr>
          <p:cNvPr id="6" name="Text 4"/>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8A94AB"/>
                </a:solidFill>
                <a:latin typeface="Calibri" pitchFamily="34" charset="0"/>
                <a:ea typeface="Calibri" pitchFamily="34" charset="-122"/>
                <a:cs typeface="Calibri" pitchFamily="34" charset="-120"/>
              </a:rPr>
              <a:t>MCMP113  ·  Week 14</a:t>
            </a:r>
            <a:endParaRPr lang="en-US" sz="1000" dirty="0"/>
          </a:p>
        </p:txBody>
      </p:sp>
      <p:sp>
        <p:nvSpPr>
          <p:cNvPr id="7" name="Text 5"/>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8A94AB"/>
                </a:solidFill>
                <a:latin typeface="Calibri" pitchFamily="34" charset="0"/>
                <a:ea typeface="Calibri" pitchFamily="34" charset="-122"/>
                <a:cs typeface="Calibri" pitchFamily="34" charset="-120"/>
              </a:rPr>
              <a:t>24</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REVIEW 1 · WEEK 1</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Algorithm: a finite, exact list of steps</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14</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25</a:t>
            </a:r>
            <a:endParaRPr lang="en-US" sz="1000" dirty="0"/>
          </a:p>
        </p:txBody>
      </p:sp>
      <p:sp>
        <p:nvSpPr>
          <p:cNvPr id="7" name="Shape 4"/>
          <p:cNvSpPr/>
          <p:nvPr/>
        </p:nvSpPr>
        <p:spPr>
          <a:xfrm>
            <a:off x="548640" y="1645920"/>
            <a:ext cx="4937760" cy="987552"/>
          </a:xfrm>
          <a:prstGeom prst="roundRect">
            <a:avLst>
              <a:gd name="adj" fmla="val 11111"/>
            </a:avLst>
          </a:prstGeom>
          <a:solidFill>
            <a:srgbClr val="EEF1F6"/>
          </a:solidFill>
          <a:ln w="12700">
            <a:solidFill>
              <a:srgbClr val="EEF1F6"/>
            </a:solidFill>
            <a:prstDash val="solid"/>
          </a:ln>
        </p:spPr>
      </p:sp>
      <p:sp>
        <p:nvSpPr>
          <p:cNvPr id="8" name="Shape 5"/>
          <p:cNvSpPr/>
          <p:nvPr/>
        </p:nvSpPr>
        <p:spPr>
          <a:xfrm>
            <a:off x="731520" y="1865376"/>
            <a:ext cx="548640" cy="548640"/>
          </a:xfrm>
          <a:prstGeom prst="ellipse">
            <a:avLst/>
          </a:prstGeom>
          <a:solidFill>
            <a:srgbClr val="14213D"/>
          </a:solidFill>
          <a:ln w="12700">
            <a:solidFill>
              <a:srgbClr val="14213D"/>
            </a:solidFill>
            <a:prstDash val="solid"/>
          </a:ln>
        </p:spPr>
      </p:sp>
      <p:pic>
        <p:nvPicPr>
          <p:cNvPr id="9" name="Image 0" descr="preencoded.png">    </p:cNvPr>
          <p:cNvPicPr>
            <a:picLocks noChangeAspect="1"/>
          </p:cNvPicPr>
          <p:nvPr/>
        </p:nvPicPr>
        <p:blipFill>
          <a:blip r:embed="rId1"/>
          <a:stretch>
            <a:fillRect/>
          </a:stretch>
        </p:blipFill>
        <p:spPr>
          <a:xfrm>
            <a:off x="874166" y="2008022"/>
            <a:ext cx="263347" cy="263347"/>
          </a:xfrm>
          <a:prstGeom prst="rect">
            <a:avLst/>
          </a:prstGeom>
        </p:spPr>
      </p:pic>
      <p:sp>
        <p:nvSpPr>
          <p:cNvPr id="10" name="Text 6"/>
          <p:cNvSpPr txBox="1"/>
          <p:nvPr/>
        </p:nvSpPr>
        <p:spPr>
          <a:xfrm>
            <a:off x="1463040" y="1700784"/>
            <a:ext cx="3886200" cy="877824"/>
          </a:xfrm>
          <a:prstGeom prst="rect">
            <a:avLst/>
          </a:prstGeom>
          <a:noFill/>
          <a:ln/>
        </p:spPr>
        <p:txBody>
          <a:bodyPr wrap="square" lIns="0" tIns="0" rIns="0" bIns="0" rtlCol="0" anchor="ctr"/>
          <a:lstStyle/>
          <a:p>
            <a:pPr indent="0" marL="0">
              <a:spcAft>
                <a:spcPts val="200"/>
              </a:spcAft>
              <a:buNone/>
            </a:pPr>
            <a:r>
              <a:rPr lang="en-US" sz="1500" b="1" dirty="0">
                <a:solidFill>
                  <a:srgbClr val="14213D"/>
                </a:solidFill>
                <a:latin typeface="Cambria" pitchFamily="34" charset="0"/>
                <a:ea typeface="Cambria" pitchFamily="34" charset="-122"/>
                <a:cs typeface="Cambria" pitchFamily="34" charset="-120"/>
              </a:rPr>
              <a:t>Finite</a:t>
            </a:r>
            <a:endParaRPr lang="en-US" sz="1500" dirty="0"/>
          </a:p>
          <a:p>
            <a:pPr indent="0" marL="0">
              <a:spcAft>
                <a:spcPts val="200"/>
              </a:spcAft>
              <a:buNone/>
            </a:pPr>
            <a:r>
              <a:rPr lang="en-US" sz="1400" dirty="0">
                <a:solidFill>
                  <a:srgbClr val="333B4F"/>
                </a:solidFill>
                <a:latin typeface="Calibri" pitchFamily="34" charset="0"/>
                <a:ea typeface="Calibri" pitchFamily="34" charset="-122"/>
                <a:cs typeface="Calibri" pitchFamily="34" charset="-120"/>
              </a:rPr>
              <a:t>stops after a finite number of steps</a:t>
            </a:r>
            <a:endParaRPr lang="en-US" sz="1500" dirty="0"/>
          </a:p>
        </p:txBody>
      </p:sp>
      <p:sp>
        <p:nvSpPr>
          <p:cNvPr id="11" name="Shape 7"/>
          <p:cNvSpPr/>
          <p:nvPr/>
        </p:nvSpPr>
        <p:spPr>
          <a:xfrm>
            <a:off x="548640" y="2761488"/>
            <a:ext cx="4937760" cy="987552"/>
          </a:xfrm>
          <a:prstGeom prst="roundRect">
            <a:avLst>
              <a:gd name="adj" fmla="val 11111"/>
            </a:avLst>
          </a:prstGeom>
          <a:solidFill>
            <a:srgbClr val="EEF1F6"/>
          </a:solidFill>
          <a:ln w="12700">
            <a:solidFill>
              <a:srgbClr val="EEF1F6"/>
            </a:solidFill>
            <a:prstDash val="solid"/>
          </a:ln>
        </p:spPr>
      </p:sp>
      <p:sp>
        <p:nvSpPr>
          <p:cNvPr id="12" name="Shape 8"/>
          <p:cNvSpPr/>
          <p:nvPr/>
        </p:nvSpPr>
        <p:spPr>
          <a:xfrm>
            <a:off x="731520" y="2980944"/>
            <a:ext cx="548640" cy="548640"/>
          </a:xfrm>
          <a:prstGeom prst="ellipse">
            <a:avLst/>
          </a:prstGeom>
          <a:solidFill>
            <a:srgbClr val="14213D"/>
          </a:solidFill>
          <a:ln w="12700">
            <a:solidFill>
              <a:srgbClr val="14213D"/>
            </a:solidFill>
            <a:prstDash val="solid"/>
          </a:ln>
        </p:spPr>
      </p:sp>
      <p:pic>
        <p:nvPicPr>
          <p:cNvPr id="13" name="Image 1" descr="preencoded.png">    </p:cNvPr>
          <p:cNvPicPr>
            <a:picLocks noChangeAspect="1"/>
          </p:cNvPicPr>
          <p:nvPr/>
        </p:nvPicPr>
        <p:blipFill>
          <a:blip r:embed="rId2"/>
          <a:stretch>
            <a:fillRect/>
          </a:stretch>
        </p:blipFill>
        <p:spPr>
          <a:xfrm>
            <a:off x="874166" y="3123590"/>
            <a:ext cx="263347" cy="263347"/>
          </a:xfrm>
          <a:prstGeom prst="rect">
            <a:avLst/>
          </a:prstGeom>
        </p:spPr>
      </p:pic>
      <p:sp>
        <p:nvSpPr>
          <p:cNvPr id="14" name="Text 9"/>
          <p:cNvSpPr txBox="1"/>
          <p:nvPr/>
        </p:nvSpPr>
        <p:spPr>
          <a:xfrm>
            <a:off x="1463040" y="2816352"/>
            <a:ext cx="3886200" cy="877824"/>
          </a:xfrm>
          <a:prstGeom prst="rect">
            <a:avLst/>
          </a:prstGeom>
          <a:noFill/>
          <a:ln/>
        </p:spPr>
        <p:txBody>
          <a:bodyPr wrap="square" lIns="0" tIns="0" rIns="0" bIns="0" rtlCol="0" anchor="ctr"/>
          <a:lstStyle/>
          <a:p>
            <a:pPr indent="0" marL="0">
              <a:spcAft>
                <a:spcPts val="200"/>
              </a:spcAft>
              <a:buNone/>
            </a:pPr>
            <a:r>
              <a:rPr lang="en-US" sz="1500" b="1" dirty="0">
                <a:solidFill>
                  <a:srgbClr val="14213D"/>
                </a:solidFill>
                <a:latin typeface="Cambria" pitchFamily="34" charset="0"/>
                <a:ea typeface="Cambria" pitchFamily="34" charset="-122"/>
                <a:cs typeface="Cambria" pitchFamily="34" charset="-120"/>
              </a:rPr>
              <a:t>Definite</a:t>
            </a:r>
            <a:endParaRPr lang="en-US" sz="1500" dirty="0"/>
          </a:p>
          <a:p>
            <a:pPr indent="0" marL="0">
              <a:spcAft>
                <a:spcPts val="200"/>
              </a:spcAft>
              <a:buNone/>
            </a:pPr>
            <a:r>
              <a:rPr lang="en-US" sz="1400" dirty="0">
                <a:solidFill>
                  <a:srgbClr val="333B4F"/>
                </a:solidFill>
                <a:latin typeface="Calibri" pitchFamily="34" charset="0"/>
                <a:ea typeface="Calibri" pitchFamily="34" charset="-122"/>
                <a:cs typeface="Calibri" pitchFamily="34" charset="-120"/>
              </a:rPr>
              <a:t>every step is exact, no guessing</a:t>
            </a:r>
            <a:endParaRPr lang="en-US" sz="1500" dirty="0"/>
          </a:p>
        </p:txBody>
      </p:sp>
      <p:sp>
        <p:nvSpPr>
          <p:cNvPr id="15" name="Shape 10"/>
          <p:cNvSpPr/>
          <p:nvPr/>
        </p:nvSpPr>
        <p:spPr>
          <a:xfrm>
            <a:off x="548640" y="3877056"/>
            <a:ext cx="4937760" cy="987552"/>
          </a:xfrm>
          <a:prstGeom prst="roundRect">
            <a:avLst>
              <a:gd name="adj" fmla="val 11111"/>
            </a:avLst>
          </a:prstGeom>
          <a:solidFill>
            <a:srgbClr val="EEF1F6"/>
          </a:solidFill>
          <a:ln w="12700">
            <a:solidFill>
              <a:srgbClr val="EEF1F6"/>
            </a:solidFill>
            <a:prstDash val="solid"/>
          </a:ln>
        </p:spPr>
      </p:sp>
      <p:sp>
        <p:nvSpPr>
          <p:cNvPr id="16" name="Shape 11"/>
          <p:cNvSpPr/>
          <p:nvPr/>
        </p:nvSpPr>
        <p:spPr>
          <a:xfrm>
            <a:off x="731520" y="4096512"/>
            <a:ext cx="548640" cy="548640"/>
          </a:xfrm>
          <a:prstGeom prst="ellipse">
            <a:avLst/>
          </a:prstGeom>
          <a:solidFill>
            <a:srgbClr val="14213D"/>
          </a:solidFill>
          <a:ln w="12700">
            <a:solidFill>
              <a:srgbClr val="14213D"/>
            </a:solidFill>
            <a:prstDash val="solid"/>
          </a:ln>
        </p:spPr>
      </p:sp>
      <p:pic>
        <p:nvPicPr>
          <p:cNvPr id="17" name="Image 2" descr="preencoded.png">    </p:cNvPr>
          <p:cNvPicPr>
            <a:picLocks noChangeAspect="1"/>
          </p:cNvPicPr>
          <p:nvPr/>
        </p:nvPicPr>
        <p:blipFill>
          <a:blip r:embed="rId3"/>
          <a:stretch>
            <a:fillRect/>
          </a:stretch>
        </p:blipFill>
        <p:spPr>
          <a:xfrm>
            <a:off x="874166" y="4239158"/>
            <a:ext cx="263347" cy="263347"/>
          </a:xfrm>
          <a:prstGeom prst="rect">
            <a:avLst/>
          </a:prstGeom>
        </p:spPr>
      </p:pic>
      <p:sp>
        <p:nvSpPr>
          <p:cNvPr id="18" name="Text 12"/>
          <p:cNvSpPr txBox="1"/>
          <p:nvPr/>
        </p:nvSpPr>
        <p:spPr>
          <a:xfrm>
            <a:off x="1463040" y="3931920"/>
            <a:ext cx="3886200" cy="877824"/>
          </a:xfrm>
          <a:prstGeom prst="rect">
            <a:avLst/>
          </a:prstGeom>
          <a:noFill/>
          <a:ln/>
        </p:spPr>
        <p:txBody>
          <a:bodyPr wrap="square" lIns="0" tIns="0" rIns="0" bIns="0" rtlCol="0" anchor="ctr"/>
          <a:lstStyle/>
          <a:p>
            <a:pPr indent="0" marL="0">
              <a:spcAft>
                <a:spcPts val="200"/>
              </a:spcAft>
              <a:buNone/>
            </a:pPr>
            <a:r>
              <a:rPr lang="en-US" sz="1500" b="1" dirty="0">
                <a:solidFill>
                  <a:srgbClr val="14213D"/>
                </a:solidFill>
                <a:latin typeface="Cambria" pitchFamily="34" charset="0"/>
                <a:ea typeface="Cambria" pitchFamily="34" charset="-122"/>
                <a:cs typeface="Cambria" pitchFamily="34" charset="-120"/>
              </a:rPr>
              <a:t>Input / Output</a:t>
            </a:r>
            <a:endParaRPr lang="en-US" sz="1500" dirty="0"/>
          </a:p>
          <a:p>
            <a:pPr indent="0" marL="0">
              <a:spcAft>
                <a:spcPts val="200"/>
              </a:spcAft>
              <a:buNone/>
            </a:pPr>
            <a:r>
              <a:rPr lang="en-US" sz="1400" dirty="0">
                <a:solidFill>
                  <a:srgbClr val="333B4F"/>
                </a:solidFill>
                <a:latin typeface="Calibri" pitchFamily="34" charset="0"/>
                <a:ea typeface="Calibri" pitchFamily="34" charset="-122"/>
                <a:cs typeface="Calibri" pitchFamily="34" charset="-120"/>
              </a:rPr>
              <a:t>zero or more inputs, at least one output</a:t>
            </a:r>
            <a:endParaRPr lang="en-US" sz="1500" dirty="0"/>
          </a:p>
        </p:txBody>
      </p:sp>
      <p:sp>
        <p:nvSpPr>
          <p:cNvPr id="19" name="Shape 13"/>
          <p:cNvSpPr/>
          <p:nvPr/>
        </p:nvSpPr>
        <p:spPr>
          <a:xfrm>
            <a:off x="548640" y="4992624"/>
            <a:ext cx="4937760" cy="987552"/>
          </a:xfrm>
          <a:prstGeom prst="roundRect">
            <a:avLst>
              <a:gd name="adj" fmla="val 11111"/>
            </a:avLst>
          </a:prstGeom>
          <a:solidFill>
            <a:srgbClr val="EEF1F6"/>
          </a:solidFill>
          <a:ln w="12700">
            <a:solidFill>
              <a:srgbClr val="EEF1F6"/>
            </a:solidFill>
            <a:prstDash val="solid"/>
          </a:ln>
        </p:spPr>
      </p:sp>
      <p:sp>
        <p:nvSpPr>
          <p:cNvPr id="20" name="Shape 14"/>
          <p:cNvSpPr/>
          <p:nvPr/>
        </p:nvSpPr>
        <p:spPr>
          <a:xfrm>
            <a:off x="731520" y="5212080"/>
            <a:ext cx="548640" cy="548640"/>
          </a:xfrm>
          <a:prstGeom prst="ellipse">
            <a:avLst/>
          </a:prstGeom>
          <a:solidFill>
            <a:srgbClr val="14213D"/>
          </a:solidFill>
          <a:ln w="12700">
            <a:solidFill>
              <a:srgbClr val="14213D"/>
            </a:solidFill>
            <a:prstDash val="solid"/>
          </a:ln>
        </p:spPr>
      </p:sp>
      <p:pic>
        <p:nvPicPr>
          <p:cNvPr id="21" name="Image 3" descr="preencoded.png">    </p:cNvPr>
          <p:cNvPicPr>
            <a:picLocks noChangeAspect="1"/>
          </p:cNvPicPr>
          <p:nvPr/>
        </p:nvPicPr>
        <p:blipFill>
          <a:blip r:embed="rId4"/>
          <a:stretch>
            <a:fillRect/>
          </a:stretch>
        </p:blipFill>
        <p:spPr>
          <a:xfrm>
            <a:off x="874166" y="5354726"/>
            <a:ext cx="263347" cy="263347"/>
          </a:xfrm>
          <a:prstGeom prst="rect">
            <a:avLst/>
          </a:prstGeom>
        </p:spPr>
      </p:pic>
      <p:sp>
        <p:nvSpPr>
          <p:cNvPr id="22" name="Text 15"/>
          <p:cNvSpPr txBox="1"/>
          <p:nvPr/>
        </p:nvSpPr>
        <p:spPr>
          <a:xfrm>
            <a:off x="1463040" y="5047488"/>
            <a:ext cx="3886200" cy="877824"/>
          </a:xfrm>
          <a:prstGeom prst="rect">
            <a:avLst/>
          </a:prstGeom>
          <a:noFill/>
          <a:ln/>
        </p:spPr>
        <p:txBody>
          <a:bodyPr wrap="square" lIns="0" tIns="0" rIns="0" bIns="0" rtlCol="0" anchor="ctr"/>
          <a:lstStyle/>
          <a:p>
            <a:pPr indent="0" marL="0">
              <a:spcAft>
                <a:spcPts val="200"/>
              </a:spcAft>
              <a:buNone/>
            </a:pPr>
            <a:r>
              <a:rPr lang="en-US" sz="1500" b="1" dirty="0">
                <a:solidFill>
                  <a:srgbClr val="14213D"/>
                </a:solidFill>
                <a:latin typeface="Cambria" pitchFamily="34" charset="0"/>
                <a:ea typeface="Cambria" pitchFamily="34" charset="-122"/>
                <a:cs typeface="Cambria" pitchFamily="34" charset="-120"/>
              </a:rPr>
              <a:t>Effective</a:t>
            </a:r>
            <a:endParaRPr lang="en-US" sz="1500" dirty="0"/>
          </a:p>
          <a:p>
            <a:pPr indent="0" marL="0">
              <a:spcAft>
                <a:spcPts val="200"/>
              </a:spcAft>
              <a:buNone/>
            </a:pPr>
            <a:r>
              <a:rPr lang="en-US" sz="1400" dirty="0">
                <a:solidFill>
                  <a:srgbClr val="333B4F"/>
                </a:solidFill>
                <a:latin typeface="Calibri" pitchFamily="34" charset="0"/>
                <a:ea typeface="Calibri" pitchFamily="34" charset="-122"/>
                <a:cs typeface="Calibri" pitchFamily="34" charset="-120"/>
              </a:rPr>
              <a:t>each step can really be done</a:t>
            </a:r>
            <a:endParaRPr lang="en-US" sz="1500" dirty="0"/>
          </a:p>
        </p:txBody>
      </p:sp>
      <p:sp>
        <p:nvSpPr>
          <p:cNvPr id="23" name="Shape 16"/>
          <p:cNvSpPr/>
          <p:nvPr/>
        </p:nvSpPr>
        <p:spPr>
          <a:xfrm>
            <a:off x="5760720" y="1645920"/>
            <a:ext cx="3291840" cy="2743200"/>
          </a:xfrm>
          <a:prstGeom prst="roundRect">
            <a:avLst>
              <a:gd name="adj" fmla="val 2667"/>
            </a:avLst>
          </a:prstGeom>
          <a:solidFill>
            <a:srgbClr val="F4F6FA"/>
          </a:solidFill>
          <a:ln w="9525">
            <a:solidFill>
              <a:srgbClr val="C9D0DD"/>
            </a:solidFill>
            <a:prstDash val="solid"/>
          </a:ln>
        </p:spPr>
      </p:sp>
      <p:sp>
        <p:nvSpPr>
          <p:cNvPr id="24" name="Text 17"/>
          <p:cNvSpPr txBox="1"/>
          <p:nvPr/>
        </p:nvSpPr>
        <p:spPr>
          <a:xfrm>
            <a:off x="5943600" y="1737360"/>
            <a:ext cx="2926080" cy="274320"/>
          </a:xfrm>
          <a:prstGeom prst="rect">
            <a:avLst/>
          </a:prstGeom>
          <a:noFill/>
          <a:ln/>
        </p:spPr>
        <p:txBody>
          <a:bodyPr wrap="square" lIns="0" tIns="0" rIns="0" bIns="0" rtlCol="0" anchor="ctr"/>
          <a:lstStyle/>
          <a:p>
            <a:pPr indent="0" marL="0">
              <a:buNone/>
            </a:pPr>
            <a:r>
              <a:rPr lang="en-US" sz="1200" b="1" dirty="0">
                <a:solidFill>
                  <a:srgbClr val="5B6478"/>
                </a:solidFill>
                <a:latin typeface="Calibri" pitchFamily="34" charset="0"/>
                <a:ea typeface="Calibri" pitchFamily="34" charset="-122"/>
                <a:cs typeface="Calibri" pitchFamily="34" charset="-120"/>
              </a:rPr>
              <a:t>Euclid GCD (Week 1)</a:t>
            </a:r>
            <a:endParaRPr lang="en-US" sz="1200" dirty="0"/>
          </a:p>
        </p:txBody>
      </p:sp>
      <p:sp>
        <p:nvSpPr>
          <p:cNvPr id="25" name="Text 18"/>
          <p:cNvSpPr txBox="1"/>
          <p:nvPr/>
        </p:nvSpPr>
        <p:spPr>
          <a:xfrm>
            <a:off x="5943600" y="2057400"/>
            <a:ext cx="2926080" cy="2240280"/>
          </a:xfrm>
          <a:prstGeom prst="rect">
            <a:avLst/>
          </a:prstGeom>
          <a:noFill/>
          <a:ln/>
        </p:spPr>
        <p:txBody>
          <a:bodyPr wrap="square" lIns="0" tIns="0" rIns="0" bIns="0" rtlCol="0" anchor="t"/>
          <a:lstStyle/>
          <a:p>
            <a:pPr indent="0" marL="0">
              <a:spcAft>
                <a:spcPts val="100"/>
              </a:spcAft>
              <a:buNone/>
            </a:pPr>
            <a:r>
              <a:rPr lang="en-US" sz="1400" b="1" dirty="0">
                <a:solidFill>
                  <a:srgbClr val="2F6FB3"/>
                </a:solidFill>
                <a:latin typeface="Courier New" pitchFamily="34" charset="0"/>
                <a:ea typeface="Courier New" pitchFamily="34" charset="-122"/>
                <a:cs typeface="Courier New" pitchFamily="34" charset="-120"/>
              </a:rPr>
              <a:t>START</a:t>
            </a:r>
            <a:endParaRPr lang="en-US" sz="1400" dirty="0"/>
          </a:p>
          <a:p>
            <a:pPr indent="0" marL="0">
              <a:spcAft>
                <a:spcPts val="100"/>
              </a:spcAft>
              <a:buNone/>
            </a:pPr>
            <a:r>
              <a:rPr lang="en-US" sz="1400" dirty="0">
                <a:solidFill>
                  <a:srgbClr val="14213D"/>
                </a:solidFill>
                <a:latin typeface="Courier New" pitchFamily="34" charset="0"/>
                <a:ea typeface="Courier New" pitchFamily="34" charset="-122"/>
                <a:cs typeface="Courier New" pitchFamily="34" charset="-120"/>
              </a:rPr>
              <a:t>  </a:t>
            </a:r>
            <a:pPr indent="0" marL="0">
              <a:spcAft>
                <a:spcPts val="100"/>
              </a:spcAft>
              <a:buNone/>
            </a:pPr>
            <a:r>
              <a:rPr lang="en-US" sz="1400" b="1" dirty="0">
                <a:solidFill>
                  <a:srgbClr val="2F6FB3"/>
                </a:solidFill>
                <a:latin typeface="Courier New" pitchFamily="34" charset="0"/>
                <a:ea typeface="Courier New" pitchFamily="34" charset="-122"/>
                <a:cs typeface="Courier New" pitchFamily="34" charset="-120"/>
              </a:rPr>
              <a:t>READ</a:t>
            </a:r>
            <a:pPr indent="0" marL="0">
              <a:spcAft>
                <a:spcPts val="100"/>
              </a:spcAft>
              <a:buNone/>
            </a:pPr>
            <a:r>
              <a:rPr lang="en-US" sz="1400" dirty="0">
                <a:solidFill>
                  <a:srgbClr val="14213D"/>
                </a:solidFill>
                <a:latin typeface="Courier New" pitchFamily="34" charset="0"/>
                <a:ea typeface="Courier New" pitchFamily="34" charset="-122"/>
                <a:cs typeface="Courier New" pitchFamily="34" charset="-120"/>
              </a:rPr>
              <a:t> a, b</a:t>
            </a:r>
            <a:endParaRPr lang="en-US" sz="1400" dirty="0"/>
          </a:p>
          <a:p>
            <a:pPr indent="0" marL="0">
              <a:spcAft>
                <a:spcPts val="100"/>
              </a:spcAft>
              <a:buNone/>
            </a:pPr>
            <a:r>
              <a:rPr lang="en-US" sz="1400" dirty="0">
                <a:solidFill>
                  <a:srgbClr val="14213D"/>
                </a:solidFill>
                <a:latin typeface="Courier New" pitchFamily="34" charset="0"/>
                <a:ea typeface="Courier New" pitchFamily="34" charset="-122"/>
                <a:cs typeface="Courier New" pitchFamily="34" charset="-120"/>
              </a:rPr>
              <a:t>  </a:t>
            </a:r>
            <a:pPr indent="0" marL="0">
              <a:spcAft>
                <a:spcPts val="100"/>
              </a:spcAft>
              <a:buNone/>
            </a:pPr>
            <a:r>
              <a:rPr lang="en-US" sz="1400" b="1" dirty="0">
                <a:solidFill>
                  <a:srgbClr val="2F6FB3"/>
                </a:solidFill>
                <a:latin typeface="Courier New" pitchFamily="34" charset="0"/>
                <a:ea typeface="Courier New" pitchFamily="34" charset="-122"/>
                <a:cs typeface="Courier New" pitchFamily="34" charset="-120"/>
              </a:rPr>
              <a:t>WHILE</a:t>
            </a:r>
            <a:pPr indent="0" marL="0">
              <a:spcAft>
                <a:spcPts val="100"/>
              </a:spcAft>
              <a:buNone/>
            </a:pPr>
            <a:r>
              <a:rPr lang="en-US" sz="1400" dirty="0">
                <a:solidFill>
                  <a:srgbClr val="14213D"/>
                </a:solidFill>
                <a:latin typeface="Courier New" pitchFamily="34" charset="0"/>
                <a:ea typeface="Courier New" pitchFamily="34" charset="-122"/>
                <a:cs typeface="Courier New" pitchFamily="34" charset="-120"/>
              </a:rPr>
              <a:t> b ≠ 0</a:t>
            </a:r>
            <a:endParaRPr lang="en-US" sz="1400" dirty="0"/>
          </a:p>
          <a:p>
            <a:pPr indent="0" marL="0">
              <a:spcAft>
                <a:spcPts val="100"/>
              </a:spcAft>
              <a:buNone/>
            </a:pPr>
            <a:r>
              <a:rPr lang="en-US" sz="1400" dirty="0">
                <a:solidFill>
                  <a:srgbClr val="14213D"/>
                </a:solidFill>
                <a:latin typeface="Courier New" pitchFamily="34" charset="0"/>
                <a:ea typeface="Courier New" pitchFamily="34" charset="-122"/>
                <a:cs typeface="Courier New" pitchFamily="34" charset="-120"/>
              </a:rPr>
              <a:t>    r ← a </a:t>
            </a:r>
            <a:pPr indent="0" marL="0">
              <a:spcAft>
                <a:spcPts val="100"/>
              </a:spcAft>
              <a:buNone/>
            </a:pPr>
            <a:r>
              <a:rPr lang="en-US" sz="1400" b="1" dirty="0">
                <a:solidFill>
                  <a:srgbClr val="2F6FB3"/>
                </a:solidFill>
                <a:latin typeface="Courier New" pitchFamily="34" charset="0"/>
                <a:ea typeface="Courier New" pitchFamily="34" charset="-122"/>
                <a:cs typeface="Courier New" pitchFamily="34" charset="-120"/>
              </a:rPr>
              <a:t>mod</a:t>
            </a:r>
            <a:pPr indent="0" marL="0">
              <a:spcAft>
                <a:spcPts val="100"/>
              </a:spcAft>
              <a:buNone/>
            </a:pPr>
            <a:r>
              <a:rPr lang="en-US" sz="1400" dirty="0">
                <a:solidFill>
                  <a:srgbClr val="14213D"/>
                </a:solidFill>
                <a:latin typeface="Courier New" pitchFamily="34" charset="0"/>
                <a:ea typeface="Courier New" pitchFamily="34" charset="-122"/>
                <a:cs typeface="Courier New" pitchFamily="34" charset="-120"/>
              </a:rPr>
              <a:t> b</a:t>
            </a:r>
            <a:endParaRPr lang="en-US" sz="1400" dirty="0"/>
          </a:p>
          <a:p>
            <a:pPr indent="0" marL="0">
              <a:spcAft>
                <a:spcPts val="100"/>
              </a:spcAft>
              <a:buNone/>
            </a:pPr>
            <a:r>
              <a:rPr lang="en-US" sz="1400" dirty="0">
                <a:solidFill>
                  <a:srgbClr val="14213D"/>
                </a:solidFill>
                <a:latin typeface="Courier New" pitchFamily="34" charset="0"/>
                <a:ea typeface="Courier New" pitchFamily="34" charset="-122"/>
                <a:cs typeface="Courier New" pitchFamily="34" charset="-120"/>
              </a:rPr>
              <a:t>    a ← b</a:t>
            </a:r>
            <a:endParaRPr lang="en-US" sz="1400" dirty="0"/>
          </a:p>
          <a:p>
            <a:pPr indent="0" marL="0">
              <a:spcAft>
                <a:spcPts val="100"/>
              </a:spcAft>
              <a:buNone/>
            </a:pPr>
            <a:r>
              <a:rPr lang="en-US" sz="1400" dirty="0">
                <a:solidFill>
                  <a:srgbClr val="14213D"/>
                </a:solidFill>
                <a:latin typeface="Courier New" pitchFamily="34" charset="0"/>
                <a:ea typeface="Courier New" pitchFamily="34" charset="-122"/>
                <a:cs typeface="Courier New" pitchFamily="34" charset="-120"/>
              </a:rPr>
              <a:t>    b ← r</a:t>
            </a:r>
            <a:endParaRPr lang="en-US" sz="1400" dirty="0"/>
          </a:p>
          <a:p>
            <a:pPr indent="0" marL="0">
              <a:spcAft>
                <a:spcPts val="100"/>
              </a:spcAft>
              <a:buNone/>
            </a:pPr>
            <a:r>
              <a:rPr lang="en-US" sz="1400" dirty="0">
                <a:solidFill>
                  <a:srgbClr val="14213D"/>
                </a:solidFill>
                <a:latin typeface="Courier New" pitchFamily="34" charset="0"/>
                <a:ea typeface="Courier New" pitchFamily="34" charset="-122"/>
                <a:cs typeface="Courier New" pitchFamily="34" charset="-120"/>
              </a:rPr>
              <a:t>  </a:t>
            </a:r>
            <a:pPr indent="0" marL="0">
              <a:spcAft>
                <a:spcPts val="100"/>
              </a:spcAft>
              <a:buNone/>
            </a:pPr>
            <a:r>
              <a:rPr lang="en-US" sz="1400" b="1" dirty="0">
                <a:solidFill>
                  <a:srgbClr val="2F6FB3"/>
                </a:solidFill>
                <a:latin typeface="Courier New" pitchFamily="34" charset="0"/>
                <a:ea typeface="Courier New" pitchFamily="34" charset="-122"/>
                <a:cs typeface="Courier New" pitchFamily="34" charset="-120"/>
              </a:rPr>
              <a:t>END WHILE</a:t>
            </a:r>
            <a:endParaRPr lang="en-US" sz="1400" dirty="0"/>
          </a:p>
          <a:p>
            <a:pPr indent="0" marL="0">
              <a:spcAft>
                <a:spcPts val="100"/>
              </a:spcAft>
              <a:buNone/>
            </a:pPr>
            <a:r>
              <a:rPr lang="en-US" sz="1400" dirty="0">
                <a:solidFill>
                  <a:srgbClr val="14213D"/>
                </a:solidFill>
                <a:latin typeface="Courier New" pitchFamily="34" charset="0"/>
                <a:ea typeface="Courier New" pitchFamily="34" charset="-122"/>
                <a:cs typeface="Courier New" pitchFamily="34" charset="-120"/>
              </a:rPr>
              <a:t>  </a:t>
            </a:r>
            <a:pPr indent="0" marL="0">
              <a:spcAft>
                <a:spcPts val="100"/>
              </a:spcAft>
              <a:buNone/>
            </a:pPr>
            <a:r>
              <a:rPr lang="en-US" sz="1400" b="1" dirty="0">
                <a:solidFill>
                  <a:srgbClr val="2F6FB3"/>
                </a:solidFill>
                <a:latin typeface="Courier New" pitchFamily="34" charset="0"/>
                <a:ea typeface="Courier New" pitchFamily="34" charset="-122"/>
                <a:cs typeface="Courier New" pitchFamily="34" charset="-120"/>
              </a:rPr>
              <a:t>PRINT</a:t>
            </a:r>
            <a:pPr indent="0" marL="0">
              <a:spcAft>
                <a:spcPts val="100"/>
              </a:spcAft>
              <a:buNone/>
            </a:pPr>
            <a:r>
              <a:rPr lang="en-US" sz="1400" dirty="0">
                <a:solidFill>
                  <a:srgbClr val="14213D"/>
                </a:solidFill>
                <a:latin typeface="Courier New" pitchFamily="34" charset="0"/>
                <a:ea typeface="Courier New" pitchFamily="34" charset="-122"/>
                <a:cs typeface="Courier New" pitchFamily="34" charset="-120"/>
              </a:rPr>
              <a:t> a</a:t>
            </a:r>
            <a:endParaRPr lang="en-US" sz="1400" dirty="0"/>
          </a:p>
          <a:p>
            <a:pPr indent="0" marL="0">
              <a:spcAft>
                <a:spcPts val="100"/>
              </a:spcAft>
              <a:buNone/>
            </a:pPr>
            <a:r>
              <a:rPr lang="en-US" sz="1400" b="1" dirty="0">
                <a:solidFill>
                  <a:srgbClr val="2F6FB3"/>
                </a:solidFill>
                <a:latin typeface="Courier New" pitchFamily="34" charset="0"/>
                <a:ea typeface="Courier New" pitchFamily="34" charset="-122"/>
                <a:cs typeface="Courier New" pitchFamily="34" charset="-120"/>
              </a:rPr>
              <a:t>END</a:t>
            </a:r>
            <a:endParaRPr lang="en-US" sz="14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9281160" y="1645920"/>
          <a:ext cx="2377440" cy="914400"/>
        </p:xfrm>
        <a:graphic>
          <a:graphicData uri="http://schemas.openxmlformats.org/drawingml/2006/table">
            <a:tbl>
              <a:tblPr/>
              <a:tblGrid>
                <a:gridCol w="777240"/>
                <a:gridCol w="777240"/>
                <a:gridCol w="822960"/>
              </a:tblGrid>
              <a:tr h="411480">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a</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b</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r</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r>
              <a:tr h="411480">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48</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18</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12</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411480">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18</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12</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6</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411480">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12</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6</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0</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411480">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6</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0</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bl>
          </a:graphicData>
        </a:graphic>
      </p:graphicFrame>
      <p:sp>
        <p:nvSpPr>
          <p:cNvPr id="27" name="Shape 19"/>
          <p:cNvSpPr/>
          <p:nvPr/>
        </p:nvSpPr>
        <p:spPr>
          <a:xfrm>
            <a:off x="5760720" y="4617720"/>
            <a:ext cx="5897880" cy="1463040"/>
          </a:xfrm>
          <a:prstGeom prst="roundRect">
            <a:avLst>
              <a:gd name="adj" fmla="val 7500"/>
            </a:avLst>
          </a:prstGeom>
          <a:solidFill>
            <a:srgbClr val="FFF6E3"/>
          </a:solidFill>
          <a:ln w="12700">
            <a:solidFill>
              <a:srgbClr val="FFF6E3"/>
            </a:solidFill>
            <a:prstDash val="solid"/>
          </a:ln>
        </p:spPr>
      </p:sp>
      <p:pic>
        <p:nvPicPr>
          <p:cNvPr id="28" name="Image 4" descr="preencoded.png">    </p:cNvPr>
          <p:cNvPicPr>
            <a:picLocks noChangeAspect="1"/>
          </p:cNvPicPr>
          <p:nvPr/>
        </p:nvPicPr>
        <p:blipFill>
          <a:blip r:embed="rId5"/>
          <a:stretch>
            <a:fillRect/>
          </a:stretch>
        </p:blipFill>
        <p:spPr>
          <a:xfrm>
            <a:off x="6035040" y="5074920"/>
            <a:ext cx="548640" cy="548640"/>
          </a:xfrm>
          <a:prstGeom prst="rect">
            <a:avLst/>
          </a:prstGeom>
        </p:spPr>
      </p:pic>
      <p:sp>
        <p:nvSpPr>
          <p:cNvPr id="29" name="Text 20"/>
          <p:cNvSpPr txBox="1"/>
          <p:nvPr/>
        </p:nvSpPr>
        <p:spPr>
          <a:xfrm>
            <a:off x="6858000" y="4690872"/>
            <a:ext cx="4526280" cy="1316736"/>
          </a:xfrm>
          <a:prstGeom prst="rect">
            <a:avLst/>
          </a:prstGeom>
          <a:noFill/>
          <a:ln/>
        </p:spPr>
        <p:txBody>
          <a:bodyPr wrap="square" lIns="0" tIns="0" rIns="0" bIns="0" rtlCol="0" anchor="ctr"/>
          <a:lstStyle/>
          <a:p>
            <a:pPr indent="0" marL="0">
              <a:buNone/>
            </a:pPr>
            <a:r>
              <a:rPr lang="en-US" sz="1400" b="1" dirty="0">
                <a:solidFill>
                  <a:srgbClr val="14213D"/>
                </a:solidFill>
                <a:latin typeface="Calibri" pitchFamily="34" charset="0"/>
                <a:ea typeface="Calibri" pitchFamily="34" charset="-122"/>
                <a:cs typeface="Calibri" pitchFamily="34" charset="-120"/>
              </a:rPr>
              <a:t>Trace GCD(48, 18) → 6. </a:t>
            </a:r>
            <a:pPr indent="0" marL="0">
              <a:buNone/>
            </a:pPr>
            <a:r>
              <a:rPr lang="en-US" sz="1400" dirty="0">
                <a:solidFill>
                  <a:srgbClr val="333B4F"/>
                </a:solidFill>
                <a:latin typeface="Calibri" pitchFamily="34" charset="0"/>
                <a:ea typeface="Calibri" pitchFamily="34" charset="-122"/>
                <a:cs typeface="Calibri" pitchFamily="34" charset="-120"/>
              </a:rPr>
              <a:t>A trace table is the safest way to answer "what does it print?" questions.</a:t>
            </a:r>
            <a:endParaRPr lang="en-US" sz="1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REVIEW 2 · WEEK 2</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Flowcharts: the algorithm as a picture</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14</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26</a:t>
            </a:r>
            <a:endParaRPr lang="en-US" sz="1000" dirty="0"/>
          </a:p>
        </p:txBody>
      </p:sp>
      <p:sp>
        <p:nvSpPr>
          <p:cNvPr id="7" name="Shape 4"/>
          <p:cNvSpPr/>
          <p:nvPr/>
        </p:nvSpPr>
        <p:spPr>
          <a:xfrm>
            <a:off x="2788920" y="1645920"/>
            <a:ext cx="1737360" cy="457200"/>
          </a:xfrm>
          <a:prstGeom prst="flowChartTerminator">
            <a:avLst/>
          </a:prstGeom>
          <a:solidFill>
            <a:srgbClr val="FFF1D6"/>
          </a:solidFill>
          <a:ln w="15875">
            <a:solidFill>
              <a:srgbClr val="14213D"/>
            </a:solidFill>
            <a:prstDash val="solid"/>
          </a:ln>
        </p:spPr>
      </p:sp>
      <p:sp>
        <p:nvSpPr>
          <p:cNvPr id="8" name="Text 5"/>
          <p:cNvSpPr txBox="1"/>
          <p:nvPr/>
        </p:nvSpPr>
        <p:spPr>
          <a:xfrm>
            <a:off x="2834640" y="1645920"/>
            <a:ext cx="1645920" cy="457200"/>
          </a:xfrm>
          <a:prstGeom prst="rect">
            <a:avLst/>
          </a:prstGeom>
          <a:noFill/>
          <a:ln/>
        </p:spPr>
        <p:txBody>
          <a:bodyPr wrap="square" lIns="0" tIns="0" rIns="0" bIns="0" rtlCol="0" anchor="ctr"/>
          <a:lstStyle/>
          <a:p>
            <a:pPr algn="ctr" indent="0" marL="0">
              <a:buNone/>
            </a:pPr>
            <a:r>
              <a:rPr lang="en-US" sz="1300" dirty="0">
                <a:solidFill>
                  <a:srgbClr val="14213D"/>
                </a:solidFill>
                <a:latin typeface="Calibri" pitchFamily="34" charset="0"/>
                <a:ea typeface="Calibri" pitchFamily="34" charset="-122"/>
                <a:cs typeface="Calibri" pitchFamily="34" charset="-120"/>
              </a:rPr>
              <a:t>Start</a:t>
            </a:r>
            <a:endParaRPr lang="en-US" sz="1300" dirty="0"/>
          </a:p>
        </p:txBody>
      </p:sp>
      <p:sp>
        <p:nvSpPr>
          <p:cNvPr id="9" name="Shape 6"/>
          <p:cNvSpPr/>
          <p:nvPr/>
        </p:nvSpPr>
        <p:spPr>
          <a:xfrm>
            <a:off x="2560320" y="2377440"/>
            <a:ext cx="2194560" cy="548640"/>
          </a:xfrm>
          <a:prstGeom prst="flowChartInputOutput">
            <a:avLst/>
          </a:prstGeom>
          <a:solidFill>
            <a:srgbClr val="FFFFFF"/>
          </a:solidFill>
          <a:ln w="15875">
            <a:solidFill>
              <a:srgbClr val="14213D"/>
            </a:solidFill>
            <a:prstDash val="solid"/>
          </a:ln>
        </p:spPr>
      </p:sp>
      <p:sp>
        <p:nvSpPr>
          <p:cNvPr id="10" name="Text 7"/>
          <p:cNvSpPr txBox="1"/>
          <p:nvPr/>
        </p:nvSpPr>
        <p:spPr>
          <a:xfrm>
            <a:off x="2606040" y="2377440"/>
            <a:ext cx="2103120" cy="548640"/>
          </a:xfrm>
          <a:prstGeom prst="rect">
            <a:avLst/>
          </a:prstGeom>
          <a:noFill/>
          <a:ln/>
        </p:spPr>
        <p:txBody>
          <a:bodyPr wrap="square" lIns="0" tIns="0" rIns="0" bIns="0" rtlCol="0" anchor="ctr"/>
          <a:lstStyle/>
          <a:p>
            <a:pPr algn="ctr" indent="0" marL="0">
              <a:buNone/>
            </a:pPr>
            <a:r>
              <a:rPr lang="en-US" sz="1300" dirty="0">
                <a:solidFill>
                  <a:srgbClr val="14213D"/>
                </a:solidFill>
                <a:latin typeface="Calibri" pitchFamily="34" charset="0"/>
                <a:ea typeface="Calibri" pitchFamily="34" charset="-122"/>
                <a:cs typeface="Calibri" pitchFamily="34" charset="-120"/>
              </a:rPr>
              <a:t>READ a, b</a:t>
            </a:r>
            <a:endParaRPr lang="en-US" sz="1300" dirty="0"/>
          </a:p>
        </p:txBody>
      </p:sp>
      <p:sp>
        <p:nvSpPr>
          <p:cNvPr id="11" name="Shape 8"/>
          <p:cNvSpPr/>
          <p:nvPr/>
        </p:nvSpPr>
        <p:spPr>
          <a:xfrm>
            <a:off x="2743200" y="3246120"/>
            <a:ext cx="1828800" cy="914400"/>
          </a:xfrm>
          <a:prstGeom prst="flowChartDecision">
            <a:avLst/>
          </a:prstGeom>
          <a:solidFill>
            <a:srgbClr val="E3ECF8"/>
          </a:solidFill>
          <a:ln w="15875">
            <a:solidFill>
              <a:srgbClr val="14213D"/>
            </a:solidFill>
            <a:prstDash val="solid"/>
          </a:ln>
        </p:spPr>
      </p:sp>
      <p:sp>
        <p:nvSpPr>
          <p:cNvPr id="12" name="Text 9"/>
          <p:cNvSpPr txBox="1"/>
          <p:nvPr/>
        </p:nvSpPr>
        <p:spPr>
          <a:xfrm>
            <a:off x="2788920" y="3246120"/>
            <a:ext cx="1737360" cy="914400"/>
          </a:xfrm>
          <a:prstGeom prst="rect">
            <a:avLst/>
          </a:prstGeom>
          <a:noFill/>
          <a:ln/>
        </p:spPr>
        <p:txBody>
          <a:bodyPr wrap="square" lIns="0" tIns="0" rIns="0" bIns="0" rtlCol="0" anchor="ctr"/>
          <a:lstStyle/>
          <a:p>
            <a:pPr algn="ctr" indent="0" marL="0">
              <a:buNone/>
            </a:pPr>
            <a:r>
              <a:rPr lang="en-US" sz="1300" dirty="0">
                <a:solidFill>
                  <a:srgbClr val="14213D"/>
                </a:solidFill>
                <a:latin typeface="Calibri" pitchFamily="34" charset="0"/>
                <a:ea typeface="Calibri" pitchFamily="34" charset="-122"/>
                <a:cs typeface="Calibri" pitchFamily="34" charset="-120"/>
              </a:rPr>
              <a:t>a &gt; b ?</a:t>
            </a:r>
            <a:endParaRPr lang="en-US" sz="1300" dirty="0"/>
          </a:p>
        </p:txBody>
      </p:sp>
      <p:sp>
        <p:nvSpPr>
          <p:cNvPr id="13" name="Shape 10"/>
          <p:cNvSpPr/>
          <p:nvPr/>
        </p:nvSpPr>
        <p:spPr>
          <a:xfrm>
            <a:off x="5120640" y="3429000"/>
            <a:ext cx="1645920" cy="548640"/>
          </a:xfrm>
          <a:prstGeom prst="flowChartInputOutput">
            <a:avLst/>
          </a:prstGeom>
          <a:solidFill>
            <a:srgbClr val="FFFFFF"/>
          </a:solidFill>
          <a:ln w="15875">
            <a:solidFill>
              <a:srgbClr val="14213D"/>
            </a:solidFill>
            <a:prstDash val="solid"/>
          </a:ln>
        </p:spPr>
      </p:sp>
      <p:sp>
        <p:nvSpPr>
          <p:cNvPr id="14" name="Text 11"/>
          <p:cNvSpPr txBox="1"/>
          <p:nvPr/>
        </p:nvSpPr>
        <p:spPr>
          <a:xfrm>
            <a:off x="5166360" y="3429000"/>
            <a:ext cx="1554480" cy="548640"/>
          </a:xfrm>
          <a:prstGeom prst="rect">
            <a:avLst/>
          </a:prstGeom>
          <a:noFill/>
          <a:ln/>
        </p:spPr>
        <p:txBody>
          <a:bodyPr wrap="square" lIns="0" tIns="0" rIns="0" bIns="0" rtlCol="0" anchor="ctr"/>
          <a:lstStyle/>
          <a:p>
            <a:pPr algn="ctr" indent="0" marL="0">
              <a:buNone/>
            </a:pPr>
            <a:r>
              <a:rPr lang="en-US" sz="1300" dirty="0">
                <a:solidFill>
                  <a:srgbClr val="14213D"/>
                </a:solidFill>
                <a:latin typeface="Calibri" pitchFamily="34" charset="0"/>
                <a:ea typeface="Calibri" pitchFamily="34" charset="-122"/>
                <a:cs typeface="Calibri" pitchFamily="34" charset="-120"/>
              </a:rPr>
              <a:t>PRINT a</a:t>
            </a:r>
            <a:endParaRPr lang="en-US" sz="1300" dirty="0"/>
          </a:p>
        </p:txBody>
      </p:sp>
      <p:sp>
        <p:nvSpPr>
          <p:cNvPr id="15" name="Shape 12"/>
          <p:cNvSpPr/>
          <p:nvPr/>
        </p:nvSpPr>
        <p:spPr>
          <a:xfrm>
            <a:off x="548640" y="3429000"/>
            <a:ext cx="1645920" cy="548640"/>
          </a:xfrm>
          <a:prstGeom prst="flowChartInputOutput">
            <a:avLst/>
          </a:prstGeom>
          <a:solidFill>
            <a:srgbClr val="FFFFFF"/>
          </a:solidFill>
          <a:ln w="15875">
            <a:solidFill>
              <a:srgbClr val="14213D"/>
            </a:solidFill>
            <a:prstDash val="solid"/>
          </a:ln>
        </p:spPr>
      </p:sp>
      <p:sp>
        <p:nvSpPr>
          <p:cNvPr id="16" name="Text 13"/>
          <p:cNvSpPr txBox="1"/>
          <p:nvPr/>
        </p:nvSpPr>
        <p:spPr>
          <a:xfrm>
            <a:off x="594360" y="3429000"/>
            <a:ext cx="1554480" cy="548640"/>
          </a:xfrm>
          <a:prstGeom prst="rect">
            <a:avLst/>
          </a:prstGeom>
          <a:noFill/>
          <a:ln/>
        </p:spPr>
        <p:txBody>
          <a:bodyPr wrap="square" lIns="0" tIns="0" rIns="0" bIns="0" rtlCol="0" anchor="ctr"/>
          <a:lstStyle/>
          <a:p>
            <a:pPr algn="ctr" indent="0" marL="0">
              <a:buNone/>
            </a:pPr>
            <a:r>
              <a:rPr lang="en-US" sz="1300" dirty="0">
                <a:solidFill>
                  <a:srgbClr val="14213D"/>
                </a:solidFill>
                <a:latin typeface="Calibri" pitchFamily="34" charset="0"/>
                <a:ea typeface="Calibri" pitchFamily="34" charset="-122"/>
                <a:cs typeface="Calibri" pitchFamily="34" charset="-120"/>
              </a:rPr>
              <a:t>PRINT b</a:t>
            </a:r>
            <a:endParaRPr lang="en-US" sz="1300" dirty="0"/>
          </a:p>
        </p:txBody>
      </p:sp>
      <p:sp>
        <p:nvSpPr>
          <p:cNvPr id="17" name="Shape 14"/>
          <p:cNvSpPr/>
          <p:nvPr/>
        </p:nvSpPr>
        <p:spPr>
          <a:xfrm>
            <a:off x="2788920" y="5394960"/>
            <a:ext cx="1737360" cy="457200"/>
          </a:xfrm>
          <a:prstGeom prst="flowChartTerminator">
            <a:avLst/>
          </a:prstGeom>
          <a:solidFill>
            <a:srgbClr val="FFF1D6"/>
          </a:solidFill>
          <a:ln w="15875">
            <a:solidFill>
              <a:srgbClr val="14213D"/>
            </a:solidFill>
            <a:prstDash val="solid"/>
          </a:ln>
        </p:spPr>
      </p:sp>
      <p:sp>
        <p:nvSpPr>
          <p:cNvPr id="18" name="Text 15"/>
          <p:cNvSpPr txBox="1"/>
          <p:nvPr/>
        </p:nvSpPr>
        <p:spPr>
          <a:xfrm>
            <a:off x="2834640" y="5394960"/>
            <a:ext cx="1645920" cy="457200"/>
          </a:xfrm>
          <a:prstGeom prst="rect">
            <a:avLst/>
          </a:prstGeom>
          <a:noFill/>
          <a:ln/>
        </p:spPr>
        <p:txBody>
          <a:bodyPr wrap="square" lIns="0" tIns="0" rIns="0" bIns="0" rtlCol="0" anchor="ctr"/>
          <a:lstStyle/>
          <a:p>
            <a:pPr algn="ctr" indent="0" marL="0">
              <a:buNone/>
            </a:pPr>
            <a:r>
              <a:rPr lang="en-US" sz="1300" dirty="0">
                <a:solidFill>
                  <a:srgbClr val="14213D"/>
                </a:solidFill>
                <a:latin typeface="Calibri" pitchFamily="34" charset="0"/>
                <a:ea typeface="Calibri" pitchFamily="34" charset="-122"/>
                <a:cs typeface="Calibri" pitchFamily="34" charset="-120"/>
              </a:rPr>
              <a:t>End</a:t>
            </a:r>
            <a:endParaRPr lang="en-US" sz="1300" dirty="0"/>
          </a:p>
        </p:txBody>
      </p:sp>
      <p:sp>
        <p:nvSpPr>
          <p:cNvPr id="19" name="Shape 16"/>
          <p:cNvSpPr/>
          <p:nvPr/>
        </p:nvSpPr>
        <p:spPr>
          <a:xfrm>
            <a:off x="3657600" y="2103120"/>
            <a:ext cx="0" cy="274320"/>
          </a:xfrm>
          <a:prstGeom prst="line">
            <a:avLst/>
          </a:prstGeom>
          <a:noFill/>
          <a:ln w="15875">
            <a:solidFill>
              <a:srgbClr val="14213D"/>
            </a:solidFill>
            <a:prstDash val="solid"/>
            <a:tailEnd type="triangle"/>
          </a:ln>
        </p:spPr>
      </p:sp>
      <p:sp>
        <p:nvSpPr>
          <p:cNvPr id="20" name="Shape 17"/>
          <p:cNvSpPr/>
          <p:nvPr/>
        </p:nvSpPr>
        <p:spPr>
          <a:xfrm>
            <a:off x="3657600" y="2926080"/>
            <a:ext cx="0" cy="320040"/>
          </a:xfrm>
          <a:prstGeom prst="line">
            <a:avLst/>
          </a:prstGeom>
          <a:noFill/>
          <a:ln w="15875">
            <a:solidFill>
              <a:srgbClr val="14213D"/>
            </a:solidFill>
            <a:prstDash val="solid"/>
            <a:tailEnd type="triangle"/>
          </a:ln>
        </p:spPr>
      </p:sp>
      <p:sp>
        <p:nvSpPr>
          <p:cNvPr id="21" name="Shape 18"/>
          <p:cNvSpPr/>
          <p:nvPr/>
        </p:nvSpPr>
        <p:spPr>
          <a:xfrm>
            <a:off x="4572000" y="3703320"/>
            <a:ext cx="548640" cy="0"/>
          </a:xfrm>
          <a:prstGeom prst="line">
            <a:avLst/>
          </a:prstGeom>
          <a:noFill/>
          <a:ln w="15875">
            <a:solidFill>
              <a:srgbClr val="14213D"/>
            </a:solidFill>
            <a:prstDash val="solid"/>
            <a:tailEnd type="triangle"/>
          </a:ln>
        </p:spPr>
      </p:sp>
      <p:sp>
        <p:nvSpPr>
          <p:cNvPr id="22" name="Shape 19"/>
          <p:cNvSpPr/>
          <p:nvPr/>
        </p:nvSpPr>
        <p:spPr>
          <a:xfrm flipH="1">
            <a:off x="2194560" y="3703320"/>
            <a:ext cx="548640" cy="0"/>
          </a:xfrm>
          <a:prstGeom prst="line">
            <a:avLst/>
          </a:prstGeom>
          <a:noFill/>
          <a:ln w="15875">
            <a:solidFill>
              <a:srgbClr val="14213D"/>
            </a:solidFill>
            <a:prstDash val="solid"/>
            <a:tailEnd type="triangle"/>
          </a:ln>
        </p:spPr>
      </p:sp>
      <p:sp>
        <p:nvSpPr>
          <p:cNvPr id="23" name="Shape 20"/>
          <p:cNvSpPr/>
          <p:nvPr/>
        </p:nvSpPr>
        <p:spPr>
          <a:xfrm>
            <a:off x="5943600" y="3977640"/>
            <a:ext cx="0" cy="1005840"/>
          </a:xfrm>
          <a:prstGeom prst="line">
            <a:avLst/>
          </a:prstGeom>
          <a:noFill/>
          <a:ln w="15875">
            <a:solidFill>
              <a:srgbClr val="14213D"/>
            </a:solidFill>
            <a:prstDash val="solid"/>
          </a:ln>
        </p:spPr>
      </p:sp>
      <p:sp>
        <p:nvSpPr>
          <p:cNvPr id="24" name="Shape 21"/>
          <p:cNvSpPr/>
          <p:nvPr/>
        </p:nvSpPr>
        <p:spPr>
          <a:xfrm flipH="1">
            <a:off x="3657600" y="4983480"/>
            <a:ext cx="2286000" cy="0"/>
          </a:xfrm>
          <a:prstGeom prst="line">
            <a:avLst/>
          </a:prstGeom>
          <a:noFill/>
          <a:ln w="15875">
            <a:solidFill>
              <a:srgbClr val="14213D"/>
            </a:solidFill>
            <a:prstDash val="solid"/>
          </a:ln>
        </p:spPr>
      </p:sp>
      <p:sp>
        <p:nvSpPr>
          <p:cNvPr id="25" name="Shape 22"/>
          <p:cNvSpPr/>
          <p:nvPr/>
        </p:nvSpPr>
        <p:spPr>
          <a:xfrm>
            <a:off x="3657600" y="4983480"/>
            <a:ext cx="0" cy="411480"/>
          </a:xfrm>
          <a:prstGeom prst="line">
            <a:avLst/>
          </a:prstGeom>
          <a:noFill/>
          <a:ln w="15875">
            <a:solidFill>
              <a:srgbClr val="14213D"/>
            </a:solidFill>
            <a:prstDash val="solid"/>
            <a:tailEnd type="triangle"/>
          </a:ln>
        </p:spPr>
      </p:sp>
      <p:sp>
        <p:nvSpPr>
          <p:cNvPr id="26" name="Shape 23"/>
          <p:cNvSpPr/>
          <p:nvPr/>
        </p:nvSpPr>
        <p:spPr>
          <a:xfrm>
            <a:off x="1371600" y="3977640"/>
            <a:ext cx="0" cy="1005840"/>
          </a:xfrm>
          <a:prstGeom prst="line">
            <a:avLst/>
          </a:prstGeom>
          <a:noFill/>
          <a:ln w="15875">
            <a:solidFill>
              <a:srgbClr val="14213D"/>
            </a:solidFill>
            <a:prstDash val="solid"/>
          </a:ln>
        </p:spPr>
      </p:sp>
      <p:sp>
        <p:nvSpPr>
          <p:cNvPr id="27" name="Shape 24"/>
          <p:cNvSpPr/>
          <p:nvPr/>
        </p:nvSpPr>
        <p:spPr>
          <a:xfrm>
            <a:off x="1371600" y="4983480"/>
            <a:ext cx="2286000" cy="0"/>
          </a:xfrm>
          <a:prstGeom prst="line">
            <a:avLst/>
          </a:prstGeom>
          <a:noFill/>
          <a:ln w="15875">
            <a:solidFill>
              <a:srgbClr val="14213D"/>
            </a:solidFill>
            <a:prstDash val="solid"/>
          </a:ln>
        </p:spPr>
      </p:sp>
      <p:sp>
        <p:nvSpPr>
          <p:cNvPr id="28" name="Text 25"/>
          <p:cNvSpPr txBox="1"/>
          <p:nvPr/>
        </p:nvSpPr>
        <p:spPr>
          <a:xfrm>
            <a:off x="4590288" y="3383280"/>
            <a:ext cx="548640" cy="228600"/>
          </a:xfrm>
          <a:prstGeom prst="rect">
            <a:avLst/>
          </a:prstGeom>
          <a:noFill/>
          <a:ln/>
        </p:spPr>
        <p:txBody>
          <a:bodyPr wrap="square" lIns="0" tIns="0" rIns="0" bIns="0" rtlCol="0" anchor="ctr"/>
          <a:lstStyle/>
          <a:p>
            <a:pPr indent="0" marL="0">
              <a:buNone/>
            </a:pPr>
            <a:r>
              <a:rPr lang="en-US" sz="1300" b="1" dirty="0">
                <a:solidFill>
                  <a:srgbClr val="2E9E6A"/>
                </a:solidFill>
                <a:latin typeface="Calibri" pitchFamily="34" charset="0"/>
                <a:ea typeface="Calibri" pitchFamily="34" charset="-122"/>
                <a:cs typeface="Calibri" pitchFamily="34" charset="-120"/>
              </a:rPr>
              <a:t>yes</a:t>
            </a:r>
            <a:endParaRPr lang="en-US" sz="1300" dirty="0"/>
          </a:p>
        </p:txBody>
      </p:sp>
      <p:sp>
        <p:nvSpPr>
          <p:cNvPr id="29" name="Text 26"/>
          <p:cNvSpPr txBox="1"/>
          <p:nvPr/>
        </p:nvSpPr>
        <p:spPr>
          <a:xfrm>
            <a:off x="2331720" y="3355848"/>
            <a:ext cx="548640" cy="228600"/>
          </a:xfrm>
          <a:prstGeom prst="rect">
            <a:avLst/>
          </a:prstGeom>
          <a:noFill/>
          <a:ln/>
        </p:spPr>
        <p:txBody>
          <a:bodyPr wrap="square" lIns="0" tIns="0" rIns="0" bIns="0" rtlCol="0" anchor="ctr"/>
          <a:lstStyle/>
          <a:p>
            <a:pPr indent="0" marL="0">
              <a:buNone/>
            </a:pPr>
            <a:r>
              <a:rPr lang="en-US" sz="1300" b="1" dirty="0">
                <a:solidFill>
                  <a:srgbClr val="C8453B"/>
                </a:solidFill>
                <a:latin typeface="Calibri" pitchFamily="34" charset="0"/>
                <a:ea typeface="Calibri" pitchFamily="34" charset="-122"/>
                <a:cs typeface="Calibri" pitchFamily="34" charset="-120"/>
              </a:rPr>
              <a:t>no</a:t>
            </a:r>
            <a:endParaRPr lang="en-US" sz="13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6949440" y="1645920"/>
          <a:ext cx="4709160" cy="914400"/>
        </p:xfrm>
        <a:graphic>
          <a:graphicData uri="http://schemas.openxmlformats.org/drawingml/2006/table">
            <a:tbl>
              <a:tblPr/>
              <a:tblGrid>
                <a:gridCol w="2011680"/>
                <a:gridCol w="2697480"/>
              </a:tblGrid>
              <a:tr h="438912">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Symbol</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Meaning</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r>
              <a:tr h="438912">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rounded (terminal)</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Start / End</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438912">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parallelogram</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input / output: READ, PRINT</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438912">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rectangle</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process: x ← x + 1</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438912">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diamond</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decision: two exits yes / no</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438912">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arrow</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flow of control</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bl>
          </a:graphicData>
        </a:graphic>
      </p:graphicFrame>
      <p:sp>
        <p:nvSpPr>
          <p:cNvPr id="31" name="Shape 27"/>
          <p:cNvSpPr/>
          <p:nvPr/>
        </p:nvSpPr>
        <p:spPr>
          <a:xfrm>
            <a:off x="6949440" y="4526280"/>
            <a:ext cx="4709160" cy="1554480"/>
          </a:xfrm>
          <a:prstGeom prst="roundRect">
            <a:avLst>
              <a:gd name="adj" fmla="val 7059"/>
            </a:avLst>
          </a:prstGeom>
          <a:solidFill>
            <a:srgbClr val="FFF6E3"/>
          </a:solidFill>
          <a:ln w="12700">
            <a:solidFill>
              <a:srgbClr val="FFF6E3"/>
            </a:solidFill>
            <a:prstDash val="solid"/>
          </a:ln>
        </p:spPr>
      </p:sp>
      <p:pic>
        <p:nvPicPr>
          <p:cNvPr id="32" name="Image 0" descr="preencoded.png">    </p:cNvPr>
          <p:cNvPicPr>
            <a:picLocks noChangeAspect="1"/>
          </p:cNvPicPr>
          <p:nvPr/>
        </p:nvPicPr>
        <p:blipFill>
          <a:blip r:embed="rId1"/>
          <a:stretch>
            <a:fillRect/>
          </a:stretch>
        </p:blipFill>
        <p:spPr>
          <a:xfrm>
            <a:off x="7223760" y="5029200"/>
            <a:ext cx="548640" cy="548640"/>
          </a:xfrm>
          <a:prstGeom prst="rect">
            <a:avLst/>
          </a:prstGeom>
        </p:spPr>
      </p:pic>
      <p:sp>
        <p:nvSpPr>
          <p:cNvPr id="33" name="Text 28"/>
          <p:cNvSpPr txBox="1"/>
          <p:nvPr/>
        </p:nvSpPr>
        <p:spPr>
          <a:xfrm>
            <a:off x="8046720" y="4599432"/>
            <a:ext cx="3337560" cy="1408176"/>
          </a:xfrm>
          <a:prstGeom prst="rect">
            <a:avLst/>
          </a:prstGeom>
          <a:noFill/>
          <a:ln/>
        </p:spPr>
        <p:txBody>
          <a:bodyPr wrap="square" lIns="0" tIns="0" rIns="0" bIns="0" rtlCol="0" anchor="ctr"/>
          <a:lstStyle/>
          <a:p>
            <a:pPr indent="0" marL="0">
              <a:buNone/>
            </a:pPr>
            <a:r>
              <a:rPr lang="en-US" sz="1400" b="1" dirty="0">
                <a:solidFill>
                  <a:srgbClr val="14213D"/>
                </a:solidFill>
                <a:latin typeface="Calibri" pitchFamily="34" charset="0"/>
                <a:ea typeface="Calibri" pitchFamily="34" charset="-122"/>
                <a:cs typeface="Calibri" pitchFamily="34" charset="-120"/>
              </a:rPr>
              <a:t>Rules: </a:t>
            </a:r>
            <a:pPr indent="0" marL="0">
              <a:buNone/>
            </a:pPr>
            <a:r>
              <a:rPr lang="en-US" sz="1400" dirty="0">
                <a:solidFill>
                  <a:srgbClr val="333B4F"/>
                </a:solidFill>
                <a:latin typeface="Calibri" pitchFamily="34" charset="0"/>
                <a:ea typeface="Calibri" pitchFamily="34" charset="-122"/>
                <a:cs typeface="Calibri" pitchFamily="34" charset="-120"/>
              </a:rPr>
              <a:t>one Start, one End; every decision has two labelled exits; every path reaches End.</a:t>
            </a:r>
            <a:endParaRPr lang="en-US" sz="1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REVIEW 3 · WEEK 3</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Variables and data types</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14</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27</a:t>
            </a:r>
            <a:endParaRPr lang="en-US" sz="1000" dirty="0"/>
          </a:p>
        </p:txBody>
      </p:sp>
      <p:sp>
        <p:nvSpPr>
          <p:cNvPr id="7" name="Shape 4"/>
          <p:cNvSpPr/>
          <p:nvPr/>
        </p:nvSpPr>
        <p:spPr>
          <a:xfrm>
            <a:off x="548640" y="1645920"/>
            <a:ext cx="5486400" cy="2743200"/>
          </a:xfrm>
          <a:prstGeom prst="roundRect">
            <a:avLst>
              <a:gd name="adj" fmla="val 3333"/>
            </a:avLst>
          </a:prstGeom>
          <a:solidFill>
            <a:srgbClr val="0F1729"/>
          </a:solidFill>
          <a:ln w="12700">
            <a:solidFill>
              <a:srgbClr val="0F1729"/>
            </a:solidFill>
            <a:prstDash val="solid"/>
          </a:ln>
        </p:spPr>
      </p:sp>
      <p:sp>
        <p:nvSpPr>
          <p:cNvPr id="8" name="Text 5"/>
          <p:cNvSpPr txBox="1"/>
          <p:nvPr/>
        </p:nvSpPr>
        <p:spPr>
          <a:xfrm>
            <a:off x="777240" y="1755648"/>
            <a:ext cx="502920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declare + initialise</a:t>
            </a:r>
            <a:endParaRPr lang="en-US" sz="1100" dirty="0"/>
          </a:p>
        </p:txBody>
      </p:sp>
      <p:sp>
        <p:nvSpPr>
          <p:cNvPr id="9" name="Text 6"/>
          <p:cNvSpPr txBox="1"/>
          <p:nvPr/>
        </p:nvSpPr>
        <p:spPr>
          <a:xfrm>
            <a:off x="777240" y="2057400"/>
            <a:ext cx="5029200" cy="2221992"/>
          </a:xfrm>
          <a:prstGeom prst="rect">
            <a:avLst/>
          </a:prstGeom>
          <a:noFill/>
          <a:ln/>
        </p:spPr>
        <p:txBody>
          <a:bodyPr wrap="square" lIns="0" tIns="0" rIns="0" bIns="0" rtlCol="0" anchor="t"/>
          <a:lstStyle/>
          <a:p>
            <a:pPr indent="0" marL="0">
              <a:spcAft>
                <a:spcPts val="100"/>
              </a:spcAft>
              <a:buNone/>
            </a:pPr>
            <a:r>
              <a:rPr lang="en-US" sz="15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500" dirty="0">
                <a:solidFill>
                  <a:srgbClr val="E6EDF7"/>
                </a:solidFill>
                <a:latin typeface="Courier New" pitchFamily="34" charset="0"/>
                <a:ea typeface="Courier New" pitchFamily="34" charset="-122"/>
                <a:cs typeface="Courier New" pitchFamily="34" charset="-120"/>
              </a:rPr>
              <a:t> age = </a:t>
            </a:r>
            <a:pPr indent="0" marL="0">
              <a:spcAft>
                <a:spcPts val="100"/>
              </a:spcAft>
              <a:buNone/>
            </a:pPr>
            <a:r>
              <a:rPr lang="en-US" sz="1500" dirty="0">
                <a:solidFill>
                  <a:srgbClr val="B5CEA8"/>
                </a:solidFill>
                <a:latin typeface="Courier New" pitchFamily="34" charset="0"/>
                <a:ea typeface="Courier New" pitchFamily="34" charset="-122"/>
                <a:cs typeface="Courier New" pitchFamily="34" charset="-120"/>
              </a:rPr>
              <a:t>19</a:t>
            </a:r>
            <a:pPr indent="0" marL="0">
              <a:spcAft>
                <a:spcPts val="100"/>
              </a:spcAft>
              <a:buNone/>
            </a:pPr>
            <a:r>
              <a:rPr lang="en-US" sz="1500" dirty="0">
                <a:solidFill>
                  <a:srgbClr val="E6EDF7"/>
                </a:solidFill>
                <a:latin typeface="Courier New" pitchFamily="34" charset="0"/>
                <a:ea typeface="Courier New" pitchFamily="34" charset="-122"/>
                <a:cs typeface="Courier New" pitchFamily="34" charset="-120"/>
              </a:rPr>
              <a:t>;</a:t>
            </a:r>
            <a:endParaRPr lang="en-US" sz="1500" dirty="0"/>
          </a:p>
          <a:p>
            <a:pPr indent="0" marL="0">
              <a:spcAft>
                <a:spcPts val="100"/>
              </a:spcAft>
              <a:buNone/>
            </a:pPr>
            <a:r>
              <a:rPr lang="en-US" sz="1500" dirty="0">
                <a:solidFill>
                  <a:srgbClr val="4EC9B0"/>
                </a:solidFill>
                <a:latin typeface="Courier New" pitchFamily="34" charset="0"/>
                <a:ea typeface="Courier New" pitchFamily="34" charset="-122"/>
                <a:cs typeface="Courier New" pitchFamily="34" charset="-120"/>
              </a:rPr>
              <a:t>double</a:t>
            </a:r>
            <a:pPr indent="0" marL="0">
              <a:spcAft>
                <a:spcPts val="100"/>
              </a:spcAft>
              <a:buNone/>
            </a:pPr>
            <a:r>
              <a:rPr lang="en-US" sz="1500" dirty="0">
                <a:solidFill>
                  <a:srgbClr val="E6EDF7"/>
                </a:solidFill>
                <a:latin typeface="Courier New" pitchFamily="34" charset="0"/>
                <a:ea typeface="Courier New" pitchFamily="34" charset="-122"/>
                <a:cs typeface="Courier New" pitchFamily="34" charset="-120"/>
              </a:rPr>
              <a:t> gpa = </a:t>
            </a:r>
            <a:pPr indent="0" marL="0">
              <a:spcAft>
                <a:spcPts val="100"/>
              </a:spcAft>
              <a:buNone/>
            </a:pPr>
            <a:r>
              <a:rPr lang="en-US" sz="1500" dirty="0">
                <a:solidFill>
                  <a:srgbClr val="B5CEA8"/>
                </a:solidFill>
                <a:latin typeface="Courier New" pitchFamily="34" charset="0"/>
                <a:ea typeface="Courier New" pitchFamily="34" charset="-122"/>
                <a:cs typeface="Courier New" pitchFamily="34" charset="-120"/>
              </a:rPr>
              <a:t>3.25</a:t>
            </a:r>
            <a:pPr indent="0" marL="0">
              <a:spcAft>
                <a:spcPts val="100"/>
              </a:spcAft>
              <a:buNone/>
            </a:pPr>
            <a:r>
              <a:rPr lang="en-US" sz="1500" dirty="0">
                <a:solidFill>
                  <a:srgbClr val="E6EDF7"/>
                </a:solidFill>
                <a:latin typeface="Courier New" pitchFamily="34" charset="0"/>
                <a:ea typeface="Courier New" pitchFamily="34" charset="-122"/>
                <a:cs typeface="Courier New" pitchFamily="34" charset="-120"/>
              </a:rPr>
              <a:t>;</a:t>
            </a:r>
            <a:endParaRPr lang="en-US" sz="1500" dirty="0"/>
          </a:p>
          <a:p>
            <a:pPr indent="0" marL="0">
              <a:spcAft>
                <a:spcPts val="100"/>
              </a:spcAft>
              <a:buNone/>
            </a:pPr>
            <a:r>
              <a:rPr lang="en-US" sz="1500" dirty="0">
                <a:solidFill>
                  <a:srgbClr val="4EC9B0"/>
                </a:solidFill>
                <a:latin typeface="Courier New" pitchFamily="34" charset="0"/>
                <a:ea typeface="Courier New" pitchFamily="34" charset="-122"/>
                <a:cs typeface="Courier New" pitchFamily="34" charset="-120"/>
              </a:rPr>
              <a:t>decimal</a:t>
            </a:r>
            <a:pPr indent="0" marL="0">
              <a:spcAft>
                <a:spcPts val="100"/>
              </a:spcAft>
              <a:buNone/>
            </a:pPr>
            <a:r>
              <a:rPr lang="en-US" sz="1500" dirty="0">
                <a:solidFill>
                  <a:srgbClr val="E6EDF7"/>
                </a:solidFill>
                <a:latin typeface="Courier New" pitchFamily="34" charset="0"/>
                <a:ea typeface="Courier New" pitchFamily="34" charset="-122"/>
                <a:cs typeface="Courier New" pitchFamily="34" charset="-120"/>
              </a:rPr>
              <a:t> price = </a:t>
            </a:r>
            <a:pPr indent="0" marL="0">
              <a:spcAft>
                <a:spcPts val="100"/>
              </a:spcAft>
              <a:buNone/>
            </a:pPr>
            <a:r>
              <a:rPr lang="en-US" sz="1500" dirty="0">
                <a:solidFill>
                  <a:srgbClr val="B5CEA8"/>
                </a:solidFill>
                <a:latin typeface="Courier New" pitchFamily="34" charset="0"/>
                <a:ea typeface="Courier New" pitchFamily="34" charset="-122"/>
                <a:cs typeface="Courier New" pitchFamily="34" charset="-120"/>
              </a:rPr>
              <a:t>49.90m</a:t>
            </a:r>
            <a:pPr indent="0" marL="0">
              <a:spcAft>
                <a:spcPts val="100"/>
              </a:spcAft>
              <a:buNone/>
            </a:pPr>
            <a:r>
              <a:rPr lang="en-US" sz="1500" dirty="0">
                <a:solidFill>
                  <a:srgbClr val="E6EDF7"/>
                </a:solidFill>
                <a:latin typeface="Courier New" pitchFamily="34" charset="0"/>
                <a:ea typeface="Courier New" pitchFamily="34" charset="-122"/>
                <a:cs typeface="Courier New" pitchFamily="34" charset="-120"/>
              </a:rPr>
              <a:t>;</a:t>
            </a:r>
            <a:endParaRPr lang="en-US" sz="1500" dirty="0"/>
          </a:p>
          <a:p>
            <a:pPr indent="0" marL="0">
              <a:spcAft>
                <a:spcPts val="100"/>
              </a:spcAft>
              <a:buNone/>
            </a:pPr>
            <a:r>
              <a:rPr lang="en-US" sz="1500" dirty="0">
                <a:solidFill>
                  <a:srgbClr val="4EC9B0"/>
                </a:solidFill>
                <a:latin typeface="Courier New" pitchFamily="34" charset="0"/>
                <a:ea typeface="Courier New" pitchFamily="34" charset="-122"/>
                <a:cs typeface="Courier New" pitchFamily="34" charset="-120"/>
              </a:rPr>
              <a:t>char</a:t>
            </a:r>
            <a:pPr indent="0" marL="0">
              <a:spcAft>
                <a:spcPts val="100"/>
              </a:spcAft>
              <a:buNone/>
            </a:pPr>
            <a:r>
              <a:rPr lang="en-US" sz="1500" dirty="0">
                <a:solidFill>
                  <a:srgbClr val="E6EDF7"/>
                </a:solidFill>
                <a:latin typeface="Courier New" pitchFamily="34" charset="0"/>
                <a:ea typeface="Courier New" pitchFamily="34" charset="-122"/>
                <a:cs typeface="Courier New" pitchFamily="34" charset="-120"/>
              </a:rPr>
              <a:t> letter = </a:t>
            </a:r>
            <a:pPr indent="0" marL="0">
              <a:spcAft>
                <a:spcPts val="100"/>
              </a:spcAft>
              <a:buNone/>
            </a:pPr>
            <a:r>
              <a:rPr lang="en-US" sz="1500" dirty="0">
                <a:solidFill>
                  <a:srgbClr val="CE9178"/>
                </a:solidFill>
                <a:latin typeface="Courier New" pitchFamily="34" charset="0"/>
                <a:ea typeface="Courier New" pitchFamily="34" charset="-122"/>
                <a:cs typeface="Courier New" pitchFamily="34" charset="-120"/>
              </a:rPr>
              <a:t>'A'</a:t>
            </a:r>
            <a:pPr indent="0" marL="0">
              <a:spcAft>
                <a:spcPts val="100"/>
              </a:spcAft>
              <a:buNone/>
            </a:pPr>
            <a:r>
              <a:rPr lang="en-US" sz="1500" dirty="0">
                <a:solidFill>
                  <a:srgbClr val="E6EDF7"/>
                </a:solidFill>
                <a:latin typeface="Courier New" pitchFamily="34" charset="0"/>
                <a:ea typeface="Courier New" pitchFamily="34" charset="-122"/>
                <a:cs typeface="Courier New" pitchFamily="34" charset="-120"/>
              </a:rPr>
              <a:t>;</a:t>
            </a:r>
            <a:endParaRPr lang="en-US" sz="1500" dirty="0"/>
          </a:p>
          <a:p>
            <a:pPr indent="0" marL="0">
              <a:spcAft>
                <a:spcPts val="100"/>
              </a:spcAft>
              <a:buNone/>
            </a:pPr>
            <a:r>
              <a:rPr lang="en-US" sz="1500" dirty="0">
                <a:solidFill>
                  <a:srgbClr val="4EC9B0"/>
                </a:solidFill>
                <a:latin typeface="Courier New" pitchFamily="34" charset="0"/>
                <a:ea typeface="Courier New" pitchFamily="34" charset="-122"/>
                <a:cs typeface="Courier New" pitchFamily="34" charset="-120"/>
              </a:rPr>
              <a:t>string</a:t>
            </a:r>
            <a:pPr indent="0" marL="0">
              <a:spcAft>
                <a:spcPts val="100"/>
              </a:spcAft>
              <a:buNone/>
            </a:pPr>
            <a:r>
              <a:rPr lang="en-US" sz="1500" dirty="0">
                <a:solidFill>
                  <a:srgbClr val="E6EDF7"/>
                </a:solidFill>
                <a:latin typeface="Courier New" pitchFamily="34" charset="0"/>
                <a:ea typeface="Courier New" pitchFamily="34" charset="-122"/>
                <a:cs typeface="Courier New" pitchFamily="34" charset="-120"/>
              </a:rPr>
              <a:t> name = </a:t>
            </a:r>
            <a:pPr indent="0" marL="0">
              <a:spcAft>
                <a:spcPts val="100"/>
              </a:spcAft>
              <a:buNone/>
            </a:pPr>
            <a:r>
              <a:rPr lang="en-US" sz="1500" dirty="0">
                <a:solidFill>
                  <a:srgbClr val="CE9178"/>
                </a:solidFill>
                <a:latin typeface="Courier New" pitchFamily="34" charset="0"/>
                <a:ea typeface="Courier New" pitchFamily="34" charset="-122"/>
                <a:cs typeface="Courier New" pitchFamily="34" charset="-120"/>
              </a:rPr>
              <a:t>"Ada"</a:t>
            </a:r>
            <a:pPr indent="0" marL="0">
              <a:spcAft>
                <a:spcPts val="100"/>
              </a:spcAft>
              <a:buNone/>
            </a:pPr>
            <a:r>
              <a:rPr lang="en-US" sz="1500" dirty="0">
                <a:solidFill>
                  <a:srgbClr val="E6EDF7"/>
                </a:solidFill>
                <a:latin typeface="Courier New" pitchFamily="34" charset="0"/>
                <a:ea typeface="Courier New" pitchFamily="34" charset="-122"/>
                <a:cs typeface="Courier New" pitchFamily="34" charset="-120"/>
              </a:rPr>
              <a:t>;</a:t>
            </a:r>
            <a:endParaRPr lang="en-US" sz="1500" dirty="0"/>
          </a:p>
          <a:p>
            <a:pPr indent="0" marL="0">
              <a:spcAft>
                <a:spcPts val="100"/>
              </a:spcAft>
              <a:buNone/>
            </a:pPr>
            <a:r>
              <a:rPr lang="en-US" sz="1500" dirty="0">
                <a:solidFill>
                  <a:srgbClr val="4EC9B0"/>
                </a:solidFill>
                <a:latin typeface="Courier New" pitchFamily="34" charset="0"/>
                <a:ea typeface="Courier New" pitchFamily="34" charset="-122"/>
                <a:cs typeface="Courier New" pitchFamily="34" charset="-120"/>
              </a:rPr>
              <a:t>bool</a:t>
            </a:r>
            <a:pPr indent="0" marL="0">
              <a:spcAft>
                <a:spcPts val="100"/>
              </a:spcAft>
              <a:buNone/>
            </a:pPr>
            <a:r>
              <a:rPr lang="en-US" sz="1500" dirty="0">
                <a:solidFill>
                  <a:srgbClr val="E6EDF7"/>
                </a:solidFill>
                <a:latin typeface="Courier New" pitchFamily="34" charset="0"/>
                <a:ea typeface="Courier New" pitchFamily="34" charset="-122"/>
                <a:cs typeface="Courier New" pitchFamily="34" charset="-120"/>
              </a:rPr>
              <a:t> passed = </a:t>
            </a:r>
            <a:pPr indent="0" marL="0">
              <a:spcAft>
                <a:spcPts val="100"/>
              </a:spcAft>
              <a:buNone/>
            </a:pPr>
            <a:r>
              <a:rPr lang="en-US" sz="1500" dirty="0">
                <a:solidFill>
                  <a:srgbClr val="7AB8FF"/>
                </a:solidFill>
                <a:latin typeface="Courier New" pitchFamily="34" charset="0"/>
                <a:ea typeface="Courier New" pitchFamily="34" charset="-122"/>
                <a:cs typeface="Courier New" pitchFamily="34" charset="-120"/>
              </a:rPr>
              <a:t>true</a:t>
            </a:r>
            <a:pPr indent="0" marL="0">
              <a:spcAft>
                <a:spcPts val="100"/>
              </a:spcAft>
              <a:buNone/>
            </a:pPr>
            <a:r>
              <a:rPr lang="en-US" sz="1500" dirty="0">
                <a:solidFill>
                  <a:srgbClr val="E6EDF7"/>
                </a:solidFill>
                <a:latin typeface="Courier New" pitchFamily="34" charset="0"/>
                <a:ea typeface="Courier New" pitchFamily="34" charset="-122"/>
                <a:cs typeface="Courier New" pitchFamily="34" charset="-120"/>
              </a:rPr>
              <a:t>;</a:t>
            </a:r>
            <a:endParaRPr lang="en-US" sz="1500" dirty="0"/>
          </a:p>
          <a:p>
            <a:pPr indent="0" marL="0">
              <a:spcAft>
                <a:spcPts val="100"/>
              </a:spcAft>
              <a:buNone/>
            </a:pPr>
            <a:r>
              <a:rPr lang="en-US" sz="1500" dirty="0">
                <a:solidFill>
                  <a:srgbClr val="7AB8FF"/>
                </a:solidFill>
                <a:latin typeface="Courier New" pitchFamily="34" charset="0"/>
                <a:ea typeface="Courier New" pitchFamily="34" charset="-122"/>
                <a:cs typeface="Courier New" pitchFamily="34" charset="-120"/>
              </a:rPr>
              <a:t>const</a:t>
            </a:r>
            <a:pPr indent="0" marL="0">
              <a:spcAft>
                <a:spcPts val="100"/>
              </a:spcAft>
              <a:buNone/>
            </a:pPr>
            <a:r>
              <a:rPr lang="en-US" sz="15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500" dirty="0">
                <a:solidFill>
                  <a:srgbClr val="4EC9B0"/>
                </a:solidFill>
                <a:latin typeface="Courier New" pitchFamily="34" charset="0"/>
                <a:ea typeface="Courier New" pitchFamily="34" charset="-122"/>
                <a:cs typeface="Courier New" pitchFamily="34" charset="-120"/>
              </a:rPr>
              <a:t>double</a:t>
            </a:r>
            <a:pPr indent="0" marL="0">
              <a:spcAft>
                <a:spcPts val="100"/>
              </a:spcAft>
              <a:buNone/>
            </a:pPr>
            <a:r>
              <a:rPr lang="en-US" sz="1500" dirty="0">
                <a:solidFill>
                  <a:srgbClr val="E6EDF7"/>
                </a:solidFill>
                <a:latin typeface="Courier New" pitchFamily="34" charset="0"/>
                <a:ea typeface="Courier New" pitchFamily="34" charset="-122"/>
                <a:cs typeface="Courier New" pitchFamily="34" charset="-120"/>
              </a:rPr>
              <a:t> Pi = </a:t>
            </a:r>
            <a:pPr indent="0" marL="0">
              <a:spcAft>
                <a:spcPts val="100"/>
              </a:spcAft>
              <a:buNone/>
            </a:pPr>
            <a:r>
              <a:rPr lang="en-US" sz="1500" dirty="0">
                <a:solidFill>
                  <a:srgbClr val="B5CEA8"/>
                </a:solidFill>
                <a:latin typeface="Courier New" pitchFamily="34" charset="0"/>
                <a:ea typeface="Courier New" pitchFamily="34" charset="-122"/>
                <a:cs typeface="Courier New" pitchFamily="34" charset="-120"/>
              </a:rPr>
              <a:t>3.14159</a:t>
            </a:r>
            <a:pPr indent="0" marL="0">
              <a:spcAft>
                <a:spcPts val="100"/>
              </a:spcAft>
              <a:buNone/>
            </a:pPr>
            <a:r>
              <a:rPr lang="en-US" sz="1500" dirty="0">
                <a:solidFill>
                  <a:srgbClr val="E6EDF7"/>
                </a:solidFill>
                <a:latin typeface="Courier New" pitchFamily="34" charset="0"/>
                <a:ea typeface="Courier New" pitchFamily="34" charset="-122"/>
                <a:cs typeface="Courier New" pitchFamily="34" charset="-120"/>
              </a:rPr>
              <a:t>;</a:t>
            </a:r>
            <a:endParaRPr lang="en-US" sz="15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6263640" y="1645920"/>
          <a:ext cx="5394960" cy="914400"/>
        </p:xfrm>
        <a:graphic>
          <a:graphicData uri="http://schemas.openxmlformats.org/drawingml/2006/table">
            <a:tbl>
              <a:tblPr/>
              <a:tblGrid>
                <a:gridCol w="1463040"/>
                <a:gridCol w="914400"/>
                <a:gridCol w="3017520"/>
              </a:tblGrid>
              <a:tr h="384048">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Type</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Size</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Use for</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r>
              <a:tr h="384048">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int</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4 B</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counts, scores</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384048">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long</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8 B</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big whole numbers</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384048">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double</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8 B</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measurements</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384048">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decimal</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16 B</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money (m suffix)</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384048">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char</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2 B</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one character</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384048">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string</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text</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384048">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bool</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1 B</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true / false</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bl>
          </a:graphicData>
        </a:graphic>
      </p:graphicFrame>
      <p:sp>
        <p:nvSpPr>
          <p:cNvPr id="11" name="Shape 7"/>
          <p:cNvSpPr/>
          <p:nvPr/>
        </p:nvSpPr>
        <p:spPr>
          <a:xfrm>
            <a:off x="548640" y="4526280"/>
            <a:ext cx="5486400" cy="1554480"/>
          </a:xfrm>
          <a:prstGeom prst="roundRect">
            <a:avLst>
              <a:gd name="adj" fmla="val 5882"/>
            </a:avLst>
          </a:prstGeom>
          <a:solidFill>
            <a:srgbClr val="0F1729"/>
          </a:solidFill>
          <a:ln w="12700">
            <a:solidFill>
              <a:srgbClr val="0F1729"/>
            </a:solidFill>
            <a:prstDash val="solid"/>
          </a:ln>
        </p:spPr>
      </p:sp>
      <p:sp>
        <p:nvSpPr>
          <p:cNvPr id="12" name="Text 8"/>
          <p:cNvSpPr txBox="1"/>
          <p:nvPr/>
        </p:nvSpPr>
        <p:spPr>
          <a:xfrm>
            <a:off x="777240" y="4636008"/>
            <a:ext cx="502920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input and casts</a:t>
            </a:r>
            <a:endParaRPr lang="en-US" sz="1100" dirty="0"/>
          </a:p>
        </p:txBody>
      </p:sp>
      <p:sp>
        <p:nvSpPr>
          <p:cNvPr id="13" name="Text 9"/>
          <p:cNvSpPr txBox="1"/>
          <p:nvPr/>
        </p:nvSpPr>
        <p:spPr>
          <a:xfrm>
            <a:off x="777240" y="4937760"/>
            <a:ext cx="5029200" cy="1033272"/>
          </a:xfrm>
          <a:prstGeom prst="rect">
            <a:avLst/>
          </a:prstGeom>
          <a:noFill/>
          <a:ln/>
        </p:spPr>
        <p:txBody>
          <a:bodyPr wrap="square" lIns="0" tIns="0" rIns="0" bIns="0" rtlCol="0" anchor="t"/>
          <a:lstStyle/>
          <a:p>
            <a:pPr indent="0" marL="0">
              <a:spcAft>
                <a:spcPts val="100"/>
              </a:spcAft>
              <a:buNone/>
            </a:pPr>
            <a:r>
              <a:rPr lang="en-US" sz="14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n = </a:t>
            </a:r>
            <a:pPr indent="0" marL="0">
              <a:spcAft>
                <a:spcPts val="100"/>
              </a:spcAft>
              <a:buNone/>
            </a:pPr>
            <a:r>
              <a:rPr lang="en-US" sz="14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.Parse(</a:t>
            </a:r>
            <a:pPr indent="0" marL="0">
              <a:spcAft>
                <a:spcPts val="100"/>
              </a:spcAft>
              <a:buNone/>
            </a:pPr>
            <a:r>
              <a:rPr lang="en-US" sz="14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.ReadLine());</a:t>
            </a:r>
            <a:endParaRPr lang="en-US" sz="1400" dirty="0"/>
          </a:p>
          <a:p>
            <a:pPr indent="0" marL="0">
              <a:spcAft>
                <a:spcPts val="100"/>
              </a:spcAft>
              <a:buNone/>
            </a:pPr>
            <a:r>
              <a:rPr lang="en-US" sz="14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t = (</a:t>
            </a:r>
            <a:pPr indent="0" marL="0">
              <a:spcAft>
                <a:spcPts val="100"/>
              </a:spcAft>
              <a:buNone/>
            </a:pPr>
            <a:r>
              <a:rPr lang="en-US" sz="14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a:t>
            </a:r>
            <a:pPr indent="0" marL="0">
              <a:spcAft>
                <a:spcPts val="100"/>
              </a:spcAft>
              <a:buNone/>
            </a:pPr>
            <a:r>
              <a:rPr lang="en-US" sz="1400" dirty="0">
                <a:solidFill>
                  <a:srgbClr val="B5CEA8"/>
                </a:solidFill>
                <a:latin typeface="Courier New" pitchFamily="34" charset="0"/>
                <a:ea typeface="Courier New" pitchFamily="34" charset="-122"/>
                <a:cs typeface="Courier New" pitchFamily="34" charset="-120"/>
              </a:rPr>
              <a:t>3.9</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400" dirty="0">
                <a:solidFill>
                  <a:srgbClr val="7F8BA3"/>
                </a:solidFill>
                <a:latin typeface="Courier New" pitchFamily="34" charset="0"/>
                <a:ea typeface="Courier New" pitchFamily="34" charset="-122"/>
                <a:cs typeface="Courier New" pitchFamily="34" charset="-120"/>
              </a:rPr>
              <a:t>// 3: truncation</a:t>
            </a:r>
            <a:endParaRPr lang="en-US" sz="1400" dirty="0"/>
          </a:p>
        </p:txBody>
      </p:sp>
      <p:sp>
        <p:nvSpPr>
          <p:cNvPr id="14" name="Shape 10"/>
          <p:cNvSpPr/>
          <p:nvPr/>
        </p:nvSpPr>
        <p:spPr>
          <a:xfrm>
            <a:off x="6263640" y="4937760"/>
            <a:ext cx="5394960" cy="1143000"/>
          </a:xfrm>
          <a:prstGeom prst="roundRect">
            <a:avLst>
              <a:gd name="adj" fmla="val 9600"/>
            </a:avLst>
          </a:prstGeom>
          <a:solidFill>
            <a:srgbClr val="FFF6E3"/>
          </a:solidFill>
          <a:ln w="12700">
            <a:solidFill>
              <a:srgbClr val="FFF6E3"/>
            </a:solidFill>
            <a:prstDash val="solid"/>
          </a:ln>
        </p:spPr>
      </p:sp>
      <p:pic>
        <p:nvPicPr>
          <p:cNvPr id="15" name="Image 0" descr="preencoded.png">    </p:cNvPr>
          <p:cNvPicPr>
            <a:picLocks noChangeAspect="1"/>
          </p:cNvPicPr>
          <p:nvPr/>
        </p:nvPicPr>
        <p:blipFill>
          <a:blip r:embed="rId1"/>
          <a:stretch>
            <a:fillRect/>
          </a:stretch>
        </p:blipFill>
        <p:spPr>
          <a:xfrm>
            <a:off x="6537960" y="5234940"/>
            <a:ext cx="548640" cy="548640"/>
          </a:xfrm>
          <a:prstGeom prst="rect">
            <a:avLst/>
          </a:prstGeom>
        </p:spPr>
      </p:pic>
      <p:sp>
        <p:nvSpPr>
          <p:cNvPr id="16" name="Text 11"/>
          <p:cNvSpPr txBox="1"/>
          <p:nvPr/>
        </p:nvSpPr>
        <p:spPr>
          <a:xfrm>
            <a:off x="7360920" y="5010912"/>
            <a:ext cx="4023360" cy="996696"/>
          </a:xfrm>
          <a:prstGeom prst="rect">
            <a:avLst/>
          </a:prstGeom>
          <a:noFill/>
          <a:ln/>
        </p:spPr>
        <p:txBody>
          <a:bodyPr wrap="square" lIns="0" tIns="0" rIns="0" bIns="0" rtlCol="0" anchor="ctr"/>
          <a:lstStyle/>
          <a:p>
            <a:pPr indent="0" marL="0">
              <a:buNone/>
            </a:pPr>
            <a:r>
              <a:rPr lang="en-US" sz="1400" b="1" dirty="0">
                <a:solidFill>
                  <a:srgbClr val="14213D"/>
                </a:solidFill>
                <a:latin typeface="Calibri" pitchFamily="34" charset="0"/>
                <a:ea typeface="Calibri" pitchFamily="34" charset="-122"/>
                <a:cs typeface="Calibri" pitchFamily="34" charset="-120"/>
              </a:rPr>
              <a:t>ReadLine() returns a string. </a:t>
            </a:r>
            <a:pPr indent="0" marL="0">
              <a:buNone/>
            </a:pPr>
            <a:r>
              <a:rPr lang="en-US" sz="1400" dirty="0">
                <a:solidFill>
                  <a:srgbClr val="333B4F"/>
                </a:solidFill>
                <a:latin typeface="Calibri" pitchFamily="34" charset="0"/>
                <a:ea typeface="Calibri" pitchFamily="34" charset="-122"/>
                <a:cs typeface="Calibri" pitchFamily="34" charset="-120"/>
              </a:rPr>
              <a:t>Always convert: Parse or TryParse.</a:t>
            </a:r>
            <a:endParaRPr lang="en-US" sz="14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REVIEW 4 · WEEK 4</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Operators: integer division, %, precedence</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14</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28</a:t>
            </a:r>
            <a:endParaRPr lang="en-US" sz="10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4206240" cy="914400"/>
        </p:xfrm>
        <a:graphic>
          <a:graphicData uri="http://schemas.openxmlformats.org/drawingml/2006/table">
            <a:tbl>
              <a:tblPr/>
              <a:tblGrid>
                <a:gridCol w="2743200"/>
                <a:gridCol w="1463040"/>
              </a:tblGrid>
              <a:tr h="420624">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Expression</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Value</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r>
              <a:tr h="420624">
                <a:tc>
                  <a:txBody>
                    <a:bodyPr/>
                    <a:lstStyle/>
                    <a:p>
                      <a:pPr algn="l" indent="0" marL="0">
                        <a:buNone/>
                      </a:pPr>
                      <a:r>
                        <a:rPr lang="en-US" sz="1500" dirty="0">
                          <a:solidFill>
                            <a:srgbClr val="14213D"/>
                          </a:solidFill>
                          <a:latin typeface="Courier New" pitchFamily="34" charset="0"/>
                          <a:ea typeface="Courier New" pitchFamily="34" charset="-122"/>
                          <a:cs typeface="Courier New" pitchFamily="34" charset="-120"/>
                        </a:rPr>
                        <a:t>7 / 2</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500" b="1" dirty="0">
                          <a:solidFill>
                            <a:srgbClr val="2F6FB3"/>
                          </a:solidFill>
                          <a:latin typeface="Courier New" pitchFamily="34" charset="0"/>
                          <a:ea typeface="Courier New" pitchFamily="34" charset="-122"/>
                          <a:cs typeface="Courier New" pitchFamily="34" charset="-120"/>
                        </a:rPr>
                        <a:t>3</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420624">
                <a:tc>
                  <a:txBody>
                    <a:bodyPr/>
                    <a:lstStyle/>
                    <a:p>
                      <a:pPr algn="l" indent="0" marL="0">
                        <a:buNone/>
                      </a:pPr>
                      <a:r>
                        <a:rPr lang="en-US" sz="1500" dirty="0">
                          <a:solidFill>
                            <a:srgbClr val="14213D"/>
                          </a:solidFill>
                          <a:latin typeface="Courier New" pitchFamily="34" charset="0"/>
                          <a:ea typeface="Courier New" pitchFamily="34" charset="-122"/>
                          <a:cs typeface="Courier New" pitchFamily="34" charset="-120"/>
                        </a:rPr>
                        <a:t>7 / 2.0</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500" b="1" dirty="0">
                          <a:solidFill>
                            <a:srgbClr val="2F6FB3"/>
                          </a:solidFill>
                          <a:latin typeface="Courier New" pitchFamily="34" charset="0"/>
                          <a:ea typeface="Courier New" pitchFamily="34" charset="-122"/>
                          <a:cs typeface="Courier New" pitchFamily="34" charset="-120"/>
                        </a:rPr>
                        <a:t>3.5</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420624">
                <a:tc>
                  <a:txBody>
                    <a:bodyPr/>
                    <a:lstStyle/>
                    <a:p>
                      <a:pPr algn="l" indent="0" marL="0">
                        <a:buNone/>
                      </a:pPr>
                      <a:r>
                        <a:rPr lang="en-US" sz="1500" dirty="0">
                          <a:solidFill>
                            <a:srgbClr val="14213D"/>
                          </a:solidFill>
                          <a:latin typeface="Courier New" pitchFamily="34" charset="0"/>
                          <a:ea typeface="Courier New" pitchFamily="34" charset="-122"/>
                          <a:cs typeface="Courier New" pitchFamily="34" charset="-120"/>
                        </a:rPr>
                        <a:t>7 % 3</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500" b="1" dirty="0">
                          <a:solidFill>
                            <a:srgbClr val="2F6FB3"/>
                          </a:solidFill>
                          <a:latin typeface="Courier New" pitchFamily="34" charset="0"/>
                          <a:ea typeface="Courier New" pitchFamily="34" charset="-122"/>
                          <a:cs typeface="Courier New" pitchFamily="34" charset="-120"/>
                        </a:rPr>
                        <a:t>1</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420624">
                <a:tc>
                  <a:txBody>
                    <a:bodyPr/>
                    <a:lstStyle/>
                    <a:p>
                      <a:pPr algn="l" indent="0" marL="0">
                        <a:buNone/>
                      </a:pPr>
                      <a:r>
                        <a:rPr lang="en-US" sz="1500" dirty="0">
                          <a:solidFill>
                            <a:srgbClr val="14213D"/>
                          </a:solidFill>
                          <a:latin typeface="Courier New" pitchFamily="34" charset="0"/>
                          <a:ea typeface="Courier New" pitchFamily="34" charset="-122"/>
                          <a:cs typeface="Courier New" pitchFamily="34" charset="-120"/>
                        </a:rPr>
                        <a:t>-7 % 3</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500" b="1" dirty="0">
                          <a:solidFill>
                            <a:srgbClr val="2F6FB3"/>
                          </a:solidFill>
                          <a:latin typeface="Courier New" pitchFamily="34" charset="0"/>
                          <a:ea typeface="Courier New" pitchFamily="34" charset="-122"/>
                          <a:cs typeface="Courier New" pitchFamily="34" charset="-120"/>
                        </a:rPr>
                        <a:t>-1</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420624">
                <a:tc>
                  <a:txBody>
                    <a:bodyPr/>
                    <a:lstStyle/>
                    <a:p>
                      <a:pPr algn="l" indent="0" marL="0">
                        <a:buNone/>
                      </a:pPr>
                      <a:r>
                        <a:rPr lang="en-US" sz="1500" dirty="0">
                          <a:solidFill>
                            <a:srgbClr val="14213D"/>
                          </a:solidFill>
                          <a:latin typeface="Courier New" pitchFamily="34" charset="0"/>
                          <a:ea typeface="Courier New" pitchFamily="34" charset="-122"/>
                          <a:cs typeface="Courier New" pitchFamily="34" charset="-120"/>
                        </a:rPr>
                        <a:t>2 + 3 * 4</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500" b="1" dirty="0">
                          <a:solidFill>
                            <a:srgbClr val="2F6FB3"/>
                          </a:solidFill>
                          <a:latin typeface="Courier New" pitchFamily="34" charset="0"/>
                          <a:ea typeface="Courier New" pitchFamily="34" charset="-122"/>
                          <a:cs typeface="Courier New" pitchFamily="34" charset="-120"/>
                        </a:rPr>
                        <a:t>14</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420624">
                <a:tc>
                  <a:txBody>
                    <a:bodyPr/>
                    <a:lstStyle/>
                    <a:p>
                      <a:pPr algn="l" indent="0" marL="0">
                        <a:buNone/>
                      </a:pPr>
                      <a:r>
                        <a:rPr lang="en-US" sz="1500" dirty="0">
                          <a:solidFill>
                            <a:srgbClr val="14213D"/>
                          </a:solidFill>
                          <a:latin typeface="Courier New" pitchFamily="34" charset="0"/>
                          <a:ea typeface="Courier New" pitchFamily="34" charset="-122"/>
                          <a:cs typeface="Courier New" pitchFamily="34" charset="-120"/>
                        </a:rPr>
                        <a:t>(2 + 3) * 4</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500" b="1" dirty="0">
                          <a:solidFill>
                            <a:srgbClr val="2F6FB3"/>
                          </a:solidFill>
                          <a:latin typeface="Courier New" pitchFamily="34" charset="0"/>
                          <a:ea typeface="Courier New" pitchFamily="34" charset="-122"/>
                          <a:cs typeface="Courier New" pitchFamily="34" charset="-120"/>
                        </a:rPr>
                        <a:t>20</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420624">
                <a:tc>
                  <a:txBody>
                    <a:bodyPr/>
                    <a:lstStyle/>
                    <a:p>
                      <a:pPr algn="l" indent="0" marL="0">
                        <a:buNone/>
                      </a:pPr>
                      <a:r>
                        <a:rPr lang="en-US" sz="1500" dirty="0">
                          <a:solidFill>
                            <a:srgbClr val="14213D"/>
                          </a:solidFill>
                          <a:latin typeface="Courier New" pitchFamily="34" charset="0"/>
                          <a:ea typeface="Courier New" pitchFamily="34" charset="-122"/>
                          <a:cs typeface="Courier New" pitchFamily="34" charset="-120"/>
                        </a:rPr>
                        <a:t>10 / 3 * 3</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500" b="1" dirty="0">
                          <a:solidFill>
                            <a:srgbClr val="2F6FB3"/>
                          </a:solidFill>
                          <a:latin typeface="Courier New" pitchFamily="34" charset="0"/>
                          <a:ea typeface="Courier New" pitchFamily="34" charset="-122"/>
                          <a:cs typeface="Courier New" pitchFamily="34" charset="-120"/>
                        </a:rPr>
                        <a:t>9</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bl>
          </a:graphicData>
        </a:graphic>
      </p:graphicFrame>
      <p:graphicFrame>
        <p:nvGraphicFramePr>
          <p:cNvPr id="57" name="Table 1"/>
          <p:cNvGraphicFramePr>
            <a:graphicFrameLocks noGrp="1"/>
          </p:cNvGraphicFramePr>
          <p:nvPr>
            <p:extLst>
              <p:ext uri="{D42A27DB-BD31-4B8C-83A1-F6EECF244321}">
                <p14:modId xmlns:p14="http://schemas.microsoft.com/office/powerpoint/2010/main" val="1579011935"/>
              </p:ext>
            </p:extLst>
          </p:nvPr>
        </p:nvGraphicFramePr>
        <p:xfrm>
          <a:off x="4983480" y="1645920"/>
          <a:ext cx="4206240" cy="914400"/>
        </p:xfrm>
        <a:graphic>
          <a:graphicData uri="http://schemas.openxmlformats.org/drawingml/2006/table">
            <a:tbl>
              <a:tblPr/>
              <a:tblGrid>
                <a:gridCol w="2743200"/>
                <a:gridCol w="1463040"/>
              </a:tblGrid>
              <a:tr h="420624">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Expression</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Value</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r>
              <a:tr h="420624">
                <a:tc>
                  <a:txBody>
                    <a:bodyPr/>
                    <a:lstStyle/>
                    <a:p>
                      <a:pPr algn="l" indent="0" marL="0">
                        <a:buNone/>
                      </a:pPr>
                      <a:r>
                        <a:rPr lang="en-US" sz="1500" dirty="0">
                          <a:solidFill>
                            <a:srgbClr val="14213D"/>
                          </a:solidFill>
                          <a:latin typeface="Courier New" pitchFamily="34" charset="0"/>
                          <a:ea typeface="Courier New" pitchFamily="34" charset="-122"/>
                          <a:cs typeface="Courier New" pitchFamily="34" charset="-120"/>
                        </a:rPr>
                        <a:t>"a" + 1 + 2</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500" b="1" dirty="0">
                          <a:solidFill>
                            <a:srgbClr val="2F6FB3"/>
                          </a:solidFill>
                          <a:latin typeface="Courier New" pitchFamily="34" charset="0"/>
                          <a:ea typeface="Courier New" pitchFamily="34" charset="-122"/>
                          <a:cs typeface="Courier New" pitchFamily="34" charset="-120"/>
                        </a:rPr>
                        <a:t>"a12"</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420624">
                <a:tc>
                  <a:txBody>
                    <a:bodyPr/>
                    <a:lstStyle/>
                    <a:p>
                      <a:pPr algn="l" indent="0" marL="0">
                        <a:buNone/>
                      </a:pPr>
                      <a:r>
                        <a:rPr lang="en-US" sz="1500" dirty="0">
                          <a:solidFill>
                            <a:srgbClr val="14213D"/>
                          </a:solidFill>
                          <a:latin typeface="Courier New" pitchFamily="34" charset="0"/>
                          <a:ea typeface="Courier New" pitchFamily="34" charset="-122"/>
                          <a:cs typeface="Courier New" pitchFamily="34" charset="-120"/>
                        </a:rPr>
                        <a:t>1 + 2 + "a"</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500" b="1" dirty="0">
                          <a:solidFill>
                            <a:srgbClr val="2F6FB3"/>
                          </a:solidFill>
                          <a:latin typeface="Courier New" pitchFamily="34" charset="0"/>
                          <a:ea typeface="Courier New" pitchFamily="34" charset="-122"/>
                          <a:cs typeface="Courier New" pitchFamily="34" charset="-120"/>
                        </a:rPr>
                        <a:t>"3a"</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420624">
                <a:tc>
                  <a:txBody>
                    <a:bodyPr/>
                    <a:lstStyle/>
                    <a:p>
                      <a:pPr algn="l" indent="0" marL="0">
                        <a:buNone/>
                      </a:pPr>
                      <a:r>
                        <a:rPr lang="en-US" sz="1500" dirty="0">
                          <a:solidFill>
                            <a:srgbClr val="14213D"/>
                          </a:solidFill>
                          <a:latin typeface="Courier New" pitchFamily="34" charset="0"/>
                          <a:ea typeface="Courier New" pitchFamily="34" charset="-122"/>
                          <a:cs typeface="Courier New" pitchFamily="34" charset="-120"/>
                        </a:rPr>
                        <a:t>a = i++  (i = 5)</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500" b="1" dirty="0">
                          <a:solidFill>
                            <a:srgbClr val="2F6FB3"/>
                          </a:solidFill>
                          <a:latin typeface="Courier New" pitchFamily="34" charset="0"/>
                          <a:ea typeface="Courier New" pitchFamily="34" charset="-122"/>
                          <a:cs typeface="Courier New" pitchFamily="34" charset="-120"/>
                        </a:rPr>
                        <a:t>a = 5</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420624">
                <a:tc>
                  <a:txBody>
                    <a:bodyPr/>
                    <a:lstStyle/>
                    <a:p>
                      <a:pPr algn="l" indent="0" marL="0">
                        <a:buNone/>
                      </a:pPr>
                      <a:r>
                        <a:rPr lang="en-US" sz="1500" dirty="0">
                          <a:solidFill>
                            <a:srgbClr val="14213D"/>
                          </a:solidFill>
                          <a:latin typeface="Courier New" pitchFamily="34" charset="0"/>
                          <a:ea typeface="Courier New" pitchFamily="34" charset="-122"/>
                          <a:cs typeface="Courier New" pitchFamily="34" charset="-120"/>
                        </a:rPr>
                        <a:t>b = ++i  (i = 6)</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500" b="1" dirty="0">
                          <a:solidFill>
                            <a:srgbClr val="2F6FB3"/>
                          </a:solidFill>
                          <a:latin typeface="Courier New" pitchFamily="34" charset="0"/>
                          <a:ea typeface="Courier New" pitchFamily="34" charset="-122"/>
                          <a:cs typeface="Courier New" pitchFamily="34" charset="-120"/>
                        </a:rPr>
                        <a:t>b = 7</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420624">
                <a:tc>
                  <a:txBody>
                    <a:bodyPr/>
                    <a:lstStyle/>
                    <a:p>
                      <a:pPr algn="l" indent="0" marL="0">
                        <a:buNone/>
                      </a:pPr>
                      <a:r>
                        <a:rPr lang="en-US" sz="1500" dirty="0">
                          <a:solidFill>
                            <a:srgbClr val="14213D"/>
                          </a:solidFill>
                          <a:latin typeface="Courier New" pitchFamily="34" charset="0"/>
                          <a:ea typeface="Courier New" pitchFamily="34" charset="-122"/>
                          <a:cs typeface="Courier New" pitchFamily="34" charset="-120"/>
                        </a:rPr>
                        <a:t>(int)3.9</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500" b="1" dirty="0">
                          <a:solidFill>
                            <a:srgbClr val="2F6FB3"/>
                          </a:solidFill>
                          <a:latin typeface="Courier New" pitchFamily="34" charset="0"/>
                          <a:ea typeface="Courier New" pitchFamily="34" charset="-122"/>
                          <a:cs typeface="Courier New" pitchFamily="34" charset="-120"/>
                        </a:rPr>
                        <a:t>3</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bl>
          </a:graphicData>
        </a:graphic>
      </p:graphicFrame>
      <p:graphicFrame>
        <p:nvGraphicFramePr>
          <p:cNvPr id="85" name="Table 2"/>
          <p:cNvGraphicFramePr>
            <a:graphicFrameLocks noGrp="1"/>
          </p:cNvGraphicFramePr>
          <p:nvPr>
            <p:extLst>
              <p:ext uri="{D42A27DB-BD31-4B8C-83A1-F6EECF244321}">
                <p14:modId xmlns:p14="http://schemas.microsoft.com/office/powerpoint/2010/main" val="1579011935"/>
              </p:ext>
            </p:extLst>
          </p:nvPr>
        </p:nvGraphicFramePr>
        <p:xfrm>
          <a:off x="9418320" y="1645920"/>
          <a:ext cx="2240280" cy="914400"/>
        </p:xfrm>
        <a:graphic>
          <a:graphicData uri="http://schemas.openxmlformats.org/drawingml/2006/table">
            <a:tbl>
              <a:tblPr/>
              <a:tblGrid>
                <a:gridCol w="2240280"/>
              </a:tblGrid>
              <a:tr h="384048">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Precedence (high → low)</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r>
              <a:tr h="384048">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  ++  --  (unary)</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384048">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  /  %</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384048">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  -</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384048">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&lt;  &lt;=  &gt;  &gt;=</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384048">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  !=</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384048">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&amp;&amp;</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384048">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384048">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384048">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  +=  -=</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bl>
          </a:graphicData>
        </a:graphic>
      </p:graphicFrame>
      <p:sp>
        <p:nvSpPr>
          <p:cNvPr id="10" name="Shape 4"/>
          <p:cNvSpPr/>
          <p:nvPr/>
        </p:nvSpPr>
        <p:spPr>
          <a:xfrm>
            <a:off x="548640" y="5120640"/>
            <a:ext cx="8641080" cy="960120"/>
          </a:xfrm>
          <a:prstGeom prst="roundRect">
            <a:avLst>
              <a:gd name="adj" fmla="val 11429"/>
            </a:avLst>
          </a:prstGeom>
          <a:solidFill>
            <a:srgbClr val="FFF6E3"/>
          </a:solidFill>
          <a:ln w="12700">
            <a:solidFill>
              <a:srgbClr val="FFF6E3"/>
            </a:solidFill>
            <a:prstDash val="solid"/>
          </a:ln>
        </p:spPr>
      </p:sp>
      <p:pic>
        <p:nvPicPr>
          <p:cNvPr id="11" name="Image 0" descr="preencoded.png">    </p:cNvPr>
          <p:cNvPicPr>
            <a:picLocks noChangeAspect="1"/>
          </p:cNvPicPr>
          <p:nvPr/>
        </p:nvPicPr>
        <p:blipFill>
          <a:blip r:embed="rId1"/>
          <a:stretch>
            <a:fillRect/>
          </a:stretch>
        </p:blipFill>
        <p:spPr>
          <a:xfrm>
            <a:off x="822960" y="5326380"/>
            <a:ext cx="548640" cy="548640"/>
          </a:xfrm>
          <a:prstGeom prst="rect">
            <a:avLst/>
          </a:prstGeom>
        </p:spPr>
      </p:pic>
      <p:sp>
        <p:nvSpPr>
          <p:cNvPr id="12" name="Text 5"/>
          <p:cNvSpPr txBox="1"/>
          <p:nvPr/>
        </p:nvSpPr>
        <p:spPr>
          <a:xfrm>
            <a:off x="1645920" y="5193792"/>
            <a:ext cx="7269480" cy="813816"/>
          </a:xfrm>
          <a:prstGeom prst="rect">
            <a:avLst/>
          </a:prstGeom>
          <a:noFill/>
          <a:ln/>
        </p:spPr>
        <p:txBody>
          <a:bodyPr wrap="square" lIns="0" tIns="0" rIns="0" bIns="0" rtlCol="0" anchor="ctr"/>
          <a:lstStyle/>
          <a:p>
            <a:pPr indent="0" marL="0">
              <a:buNone/>
            </a:pPr>
            <a:r>
              <a:rPr lang="en-US" sz="1500" b="1" dirty="0">
                <a:solidFill>
                  <a:srgbClr val="14213D"/>
                </a:solidFill>
                <a:latin typeface="Calibri" pitchFamily="34" charset="0"/>
                <a:ea typeface="Calibri" pitchFamily="34" charset="-122"/>
                <a:cs typeface="Calibri" pitchFamily="34" charset="-120"/>
              </a:rPr>
              <a:t>Range test: </a:t>
            </a:r>
            <a:pPr indent="0" marL="0">
              <a:buNone/>
            </a:pPr>
            <a:r>
              <a:rPr lang="en-US" sz="1500" dirty="0">
                <a:solidFill>
                  <a:srgbClr val="333B4F"/>
                </a:solidFill>
                <a:latin typeface="Courier New" pitchFamily="34" charset="0"/>
                <a:ea typeface="Courier New" pitchFamily="34" charset="-122"/>
                <a:cs typeface="Courier New" pitchFamily="34" charset="-120"/>
              </a:rPr>
              <a:t>x &gt;= 0 &amp;&amp; x &lt;= 100</a:t>
            </a:r>
            <a:pPr indent="0" marL="0">
              <a:buNone/>
            </a:pPr>
            <a:r>
              <a:rPr lang="en-US" sz="1500" dirty="0">
                <a:solidFill>
                  <a:srgbClr val="333B4F"/>
                </a:solidFill>
                <a:latin typeface="Calibri" pitchFamily="34" charset="0"/>
                <a:ea typeface="Calibri" pitchFamily="34" charset="-122"/>
                <a:cs typeface="Calibri" pitchFamily="34" charset="-120"/>
              </a:rPr>
              <a:t> — never </a:t>
            </a:r>
            <a:pPr indent="0" marL="0">
              <a:buNone/>
            </a:pPr>
            <a:r>
              <a:rPr lang="en-US" sz="1500" dirty="0">
                <a:solidFill>
                  <a:srgbClr val="333B4F"/>
                </a:solidFill>
                <a:latin typeface="Courier New" pitchFamily="34" charset="0"/>
                <a:ea typeface="Courier New" pitchFamily="34" charset="-122"/>
                <a:cs typeface="Courier New" pitchFamily="34" charset="-120"/>
              </a:rPr>
              <a:t>0 &lt;= x &lt;= 100</a:t>
            </a:r>
            <a:pPr indent="0" marL="0">
              <a:buNone/>
            </a:pPr>
            <a:r>
              <a:rPr lang="en-US" sz="1500" dirty="0">
                <a:solidFill>
                  <a:srgbClr val="333B4F"/>
                </a:solidFill>
                <a:latin typeface="Calibri" pitchFamily="34" charset="0"/>
                <a:ea typeface="Calibri" pitchFamily="34" charset="-122"/>
                <a:cs typeface="Calibri" pitchFamily="34" charset="-120"/>
              </a:rPr>
              <a:t>.</a:t>
            </a:r>
            <a:endParaRPr lang="en-US" sz="15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REVIEW 5 · WEEK 5</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Decisions: if / else if and switch</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14</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29</a:t>
            </a:r>
            <a:endParaRPr lang="en-US" sz="1000" dirty="0"/>
          </a:p>
        </p:txBody>
      </p:sp>
      <p:sp>
        <p:nvSpPr>
          <p:cNvPr id="7" name="Shape 4"/>
          <p:cNvSpPr/>
          <p:nvPr/>
        </p:nvSpPr>
        <p:spPr>
          <a:xfrm>
            <a:off x="548640" y="1645920"/>
            <a:ext cx="5120640" cy="4434840"/>
          </a:xfrm>
          <a:prstGeom prst="roundRect">
            <a:avLst>
              <a:gd name="adj" fmla="val 2062"/>
            </a:avLst>
          </a:prstGeom>
          <a:solidFill>
            <a:srgbClr val="0F1729"/>
          </a:solidFill>
          <a:ln w="12700">
            <a:solidFill>
              <a:srgbClr val="0F1729"/>
            </a:solidFill>
            <a:prstDash val="solid"/>
          </a:ln>
        </p:spPr>
      </p:sp>
      <p:sp>
        <p:nvSpPr>
          <p:cNvPr id="8" name="Text 5"/>
          <p:cNvSpPr txBox="1"/>
          <p:nvPr/>
        </p:nvSpPr>
        <p:spPr>
          <a:xfrm>
            <a:off x="777240" y="1755648"/>
            <a:ext cx="466344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else-if ladder · first true branch wins</a:t>
            </a:r>
            <a:endParaRPr lang="en-US" sz="1100" dirty="0"/>
          </a:p>
        </p:txBody>
      </p:sp>
      <p:sp>
        <p:nvSpPr>
          <p:cNvPr id="9" name="Text 6"/>
          <p:cNvSpPr txBox="1"/>
          <p:nvPr/>
        </p:nvSpPr>
        <p:spPr>
          <a:xfrm>
            <a:off x="777240" y="2057400"/>
            <a:ext cx="4663440" cy="3913632"/>
          </a:xfrm>
          <a:prstGeom prst="rect">
            <a:avLst/>
          </a:prstGeom>
          <a:noFill/>
          <a:ln/>
        </p:spPr>
        <p:txBody>
          <a:bodyPr wrap="square" lIns="0" tIns="0" rIns="0" bIns="0" rtlCol="0" anchor="t"/>
          <a:lstStyle/>
          <a:p>
            <a:pPr indent="0" marL="0">
              <a:spcAft>
                <a:spcPts val="100"/>
              </a:spcAft>
              <a:buNone/>
            </a:pPr>
            <a:r>
              <a:rPr lang="en-US" sz="1300" dirty="0">
                <a:solidFill>
                  <a:srgbClr val="7AB8FF"/>
                </a:solidFill>
                <a:latin typeface="Courier New" pitchFamily="34" charset="0"/>
                <a:ea typeface="Courier New" pitchFamily="34" charset="-122"/>
                <a:cs typeface="Courier New" pitchFamily="34" charset="-120"/>
              </a:rPr>
              <a:t>if</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(score &gt;=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90</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letter = </a:t>
            </a:r>
            <a:pPr indent="0" marL="0">
              <a:spcAft>
                <a:spcPts val="100"/>
              </a:spcAft>
              <a:buNone/>
            </a:pPr>
            <a:r>
              <a:rPr lang="en-US" sz="1300" dirty="0">
                <a:solidFill>
                  <a:srgbClr val="CE9178"/>
                </a:solidFill>
                <a:latin typeface="Courier New" pitchFamily="34" charset="0"/>
                <a:ea typeface="Courier New" pitchFamily="34" charset="-122"/>
                <a:cs typeface="Courier New" pitchFamily="34" charset="-120"/>
              </a:rPr>
              <a:t>"AA"</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7AB8FF"/>
                </a:solidFill>
                <a:latin typeface="Courier New" pitchFamily="34" charset="0"/>
                <a:ea typeface="Courier New" pitchFamily="34" charset="-122"/>
                <a:cs typeface="Courier New" pitchFamily="34" charset="-120"/>
              </a:rPr>
              <a:t>else</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7AB8FF"/>
                </a:solidFill>
                <a:latin typeface="Courier New" pitchFamily="34" charset="0"/>
                <a:ea typeface="Courier New" pitchFamily="34" charset="-122"/>
                <a:cs typeface="Courier New" pitchFamily="34" charset="-120"/>
              </a:rPr>
              <a:t>if</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(score &gt;=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85</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letter = </a:t>
            </a:r>
            <a:pPr indent="0" marL="0">
              <a:spcAft>
                <a:spcPts val="100"/>
              </a:spcAft>
              <a:buNone/>
            </a:pPr>
            <a:r>
              <a:rPr lang="en-US" sz="1300" dirty="0">
                <a:solidFill>
                  <a:srgbClr val="CE9178"/>
                </a:solidFill>
                <a:latin typeface="Courier New" pitchFamily="34" charset="0"/>
                <a:ea typeface="Courier New" pitchFamily="34" charset="-122"/>
                <a:cs typeface="Courier New" pitchFamily="34" charset="-120"/>
              </a:rPr>
              <a:t>"BA"</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7AB8FF"/>
                </a:solidFill>
                <a:latin typeface="Courier New" pitchFamily="34" charset="0"/>
                <a:ea typeface="Courier New" pitchFamily="34" charset="-122"/>
                <a:cs typeface="Courier New" pitchFamily="34" charset="-120"/>
              </a:rPr>
              <a:t>else</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7AB8FF"/>
                </a:solidFill>
                <a:latin typeface="Courier New" pitchFamily="34" charset="0"/>
                <a:ea typeface="Courier New" pitchFamily="34" charset="-122"/>
                <a:cs typeface="Courier New" pitchFamily="34" charset="-120"/>
              </a:rPr>
              <a:t>if</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(score &gt;=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80</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letter = </a:t>
            </a:r>
            <a:pPr indent="0" marL="0">
              <a:spcAft>
                <a:spcPts val="100"/>
              </a:spcAft>
              <a:buNone/>
            </a:pPr>
            <a:r>
              <a:rPr lang="en-US" sz="1300" dirty="0">
                <a:solidFill>
                  <a:srgbClr val="CE9178"/>
                </a:solidFill>
                <a:latin typeface="Courier New" pitchFamily="34" charset="0"/>
                <a:ea typeface="Courier New" pitchFamily="34" charset="-122"/>
                <a:cs typeface="Courier New" pitchFamily="34" charset="-120"/>
              </a:rPr>
              <a:t>"BB"</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7AB8FF"/>
                </a:solidFill>
                <a:latin typeface="Courier New" pitchFamily="34" charset="0"/>
                <a:ea typeface="Courier New" pitchFamily="34" charset="-122"/>
                <a:cs typeface="Courier New" pitchFamily="34" charset="-120"/>
              </a:rPr>
              <a:t>else</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letter = </a:t>
            </a:r>
            <a:pPr indent="0" marL="0">
              <a:spcAft>
                <a:spcPts val="100"/>
              </a:spcAft>
              <a:buNone/>
            </a:pPr>
            <a:r>
              <a:rPr lang="en-US" sz="1300" dirty="0">
                <a:solidFill>
                  <a:srgbClr val="CE9178"/>
                </a:solidFill>
                <a:latin typeface="Courier New" pitchFamily="34" charset="0"/>
                <a:ea typeface="Courier New" pitchFamily="34" charset="-122"/>
                <a:cs typeface="Courier New" pitchFamily="34" charset="-120"/>
              </a:rPr>
              <a:t>"FF"</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7F8BA3"/>
                </a:solidFill>
                <a:latin typeface="Courier New" pitchFamily="34" charset="0"/>
                <a:ea typeface="Courier New" pitchFamily="34" charset="-122"/>
                <a:cs typeface="Courier New" pitchFamily="34" charset="-120"/>
              </a:rPr>
              <a:t>// shortened</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p:txBody>
      </p:sp>
      <p:sp>
        <p:nvSpPr>
          <p:cNvPr id="10" name="Shape 7"/>
          <p:cNvSpPr/>
          <p:nvPr/>
        </p:nvSpPr>
        <p:spPr>
          <a:xfrm>
            <a:off x="5897880" y="1645920"/>
            <a:ext cx="5760720" cy="3291840"/>
          </a:xfrm>
          <a:prstGeom prst="roundRect">
            <a:avLst>
              <a:gd name="adj" fmla="val 2778"/>
            </a:avLst>
          </a:prstGeom>
          <a:solidFill>
            <a:srgbClr val="0F1729"/>
          </a:solidFill>
          <a:ln w="12700">
            <a:solidFill>
              <a:srgbClr val="0F1729"/>
            </a:solidFill>
            <a:prstDash val="solid"/>
          </a:ln>
        </p:spPr>
      </p:sp>
      <p:sp>
        <p:nvSpPr>
          <p:cNvPr id="11" name="Text 8"/>
          <p:cNvSpPr txBox="1"/>
          <p:nvPr/>
        </p:nvSpPr>
        <p:spPr>
          <a:xfrm>
            <a:off x="6126480" y="1755648"/>
            <a:ext cx="530352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switch expression (Example 4)</a:t>
            </a:r>
            <a:endParaRPr lang="en-US" sz="1100" dirty="0"/>
          </a:p>
        </p:txBody>
      </p:sp>
      <p:sp>
        <p:nvSpPr>
          <p:cNvPr id="12" name="Text 9"/>
          <p:cNvSpPr txBox="1"/>
          <p:nvPr/>
        </p:nvSpPr>
        <p:spPr>
          <a:xfrm>
            <a:off x="6126480" y="2057400"/>
            <a:ext cx="5303520" cy="2770632"/>
          </a:xfrm>
          <a:prstGeom prst="rect">
            <a:avLst/>
          </a:prstGeom>
          <a:noFill/>
          <a:ln/>
        </p:spPr>
        <p:txBody>
          <a:bodyPr wrap="square" lIns="0" tIns="0" rIns="0" bIns="0" rtlCol="0" anchor="t"/>
          <a:lstStyle/>
          <a:p>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static</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string</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LetterGrade(</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double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score)</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return</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score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switch</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&gt;=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90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=&gt; </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"AA"</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&gt;=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85</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=&gt; </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"BA"</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&gt;=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80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=&gt; </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"BB"</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&gt;=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75</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=&gt; </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"CB"</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&gt;=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70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=&gt; </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"CC"</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&gt;=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65</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=&gt; </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"DC"</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&gt;=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60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=&gt; </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"DD"</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_ =&gt; </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"FF"</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p:txBody>
      </p:sp>
      <p:sp>
        <p:nvSpPr>
          <p:cNvPr id="13" name="Shape 10"/>
          <p:cNvSpPr/>
          <p:nvPr/>
        </p:nvSpPr>
        <p:spPr>
          <a:xfrm>
            <a:off x="5897880" y="5029200"/>
            <a:ext cx="5760720" cy="1051560"/>
          </a:xfrm>
          <a:prstGeom prst="roundRect">
            <a:avLst>
              <a:gd name="adj" fmla="val 10435"/>
            </a:avLst>
          </a:prstGeom>
          <a:solidFill>
            <a:srgbClr val="FFF6E3"/>
          </a:solidFill>
          <a:ln w="12700">
            <a:solidFill>
              <a:srgbClr val="FFF6E3"/>
            </a:solidFill>
            <a:prstDash val="solid"/>
          </a:ln>
        </p:spPr>
      </p:sp>
      <p:pic>
        <p:nvPicPr>
          <p:cNvPr id="14" name="Image 0" descr="preencoded.png">    </p:cNvPr>
          <p:cNvPicPr>
            <a:picLocks noChangeAspect="1"/>
          </p:cNvPicPr>
          <p:nvPr/>
        </p:nvPicPr>
        <p:blipFill>
          <a:blip r:embed="rId1"/>
          <a:stretch>
            <a:fillRect/>
          </a:stretch>
        </p:blipFill>
        <p:spPr>
          <a:xfrm>
            <a:off x="6172200" y="5280660"/>
            <a:ext cx="548640" cy="548640"/>
          </a:xfrm>
          <a:prstGeom prst="rect">
            <a:avLst/>
          </a:prstGeom>
        </p:spPr>
      </p:pic>
      <p:sp>
        <p:nvSpPr>
          <p:cNvPr id="15" name="Text 11"/>
          <p:cNvSpPr txBox="1"/>
          <p:nvPr/>
        </p:nvSpPr>
        <p:spPr>
          <a:xfrm>
            <a:off x="6995160" y="5102352"/>
            <a:ext cx="4389120" cy="905256"/>
          </a:xfrm>
          <a:prstGeom prst="rect">
            <a:avLst/>
          </a:prstGeom>
          <a:noFill/>
          <a:ln/>
        </p:spPr>
        <p:txBody>
          <a:bodyPr wrap="square" lIns="0" tIns="0" rIns="0" bIns="0" rtlCol="0" anchor="ctr"/>
          <a:lstStyle/>
          <a:p>
            <a:pPr indent="0" marL="0">
              <a:buNone/>
            </a:pPr>
            <a:r>
              <a:rPr lang="en-US" sz="1400" b="1" dirty="0">
                <a:solidFill>
                  <a:srgbClr val="14213D"/>
                </a:solidFill>
                <a:latin typeface="Calibri" pitchFamily="34" charset="0"/>
                <a:ea typeface="Calibri" pitchFamily="34" charset="-122"/>
                <a:cs typeface="Calibri" pitchFamily="34" charset="-120"/>
              </a:rPr>
              <a:t>Order matters: </a:t>
            </a:r>
            <a:pPr indent="0" marL="0">
              <a:buNone/>
            </a:pPr>
            <a:r>
              <a:rPr lang="en-US" sz="1400" dirty="0">
                <a:solidFill>
                  <a:srgbClr val="333B4F"/>
                </a:solidFill>
                <a:latin typeface="Calibri" pitchFamily="34" charset="0"/>
                <a:ea typeface="Calibri" pitchFamily="34" charset="-122"/>
                <a:cs typeface="Calibri" pitchFamily="34" charset="-120"/>
              </a:rPr>
              <a:t>test &gt;= 90 before &gt;= 85, or every 95 becomes BA.</a:t>
            </a:r>
            <a:endParaRPr lang="en-US" sz="14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REVIEW 6 · WEEKS 6–7</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Loops: for, while, do-while</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14</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30</a:t>
            </a:r>
            <a:endParaRPr lang="en-US" sz="1000" dirty="0"/>
          </a:p>
        </p:txBody>
      </p:sp>
      <p:sp>
        <p:nvSpPr>
          <p:cNvPr id="7" name="Shape 4"/>
          <p:cNvSpPr/>
          <p:nvPr/>
        </p:nvSpPr>
        <p:spPr>
          <a:xfrm>
            <a:off x="548640" y="1645920"/>
            <a:ext cx="3611880" cy="2377440"/>
          </a:xfrm>
          <a:prstGeom prst="roundRect">
            <a:avLst>
              <a:gd name="adj" fmla="val 3846"/>
            </a:avLst>
          </a:prstGeom>
          <a:solidFill>
            <a:srgbClr val="0F1729"/>
          </a:solidFill>
          <a:ln w="12700">
            <a:solidFill>
              <a:srgbClr val="0F1729"/>
            </a:solidFill>
            <a:prstDash val="solid"/>
          </a:ln>
        </p:spPr>
      </p:sp>
      <p:sp>
        <p:nvSpPr>
          <p:cNvPr id="8" name="Text 5"/>
          <p:cNvSpPr txBox="1"/>
          <p:nvPr/>
        </p:nvSpPr>
        <p:spPr>
          <a:xfrm>
            <a:off x="777240" y="1755648"/>
            <a:ext cx="315468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for · counter</a:t>
            </a:r>
            <a:endParaRPr lang="en-US" sz="1100" dirty="0"/>
          </a:p>
        </p:txBody>
      </p:sp>
      <p:sp>
        <p:nvSpPr>
          <p:cNvPr id="9" name="Text 6"/>
          <p:cNvSpPr txBox="1"/>
          <p:nvPr/>
        </p:nvSpPr>
        <p:spPr>
          <a:xfrm>
            <a:off x="777240" y="2057400"/>
            <a:ext cx="3154680" cy="1856232"/>
          </a:xfrm>
          <a:prstGeom prst="rect">
            <a:avLst/>
          </a:prstGeom>
          <a:noFill/>
          <a:ln/>
        </p:spPr>
        <p:txBody>
          <a:bodyPr wrap="square" lIns="0" tIns="0" rIns="0" bIns="0" rtlCol="0" anchor="t"/>
          <a:lstStyle/>
          <a:p>
            <a:pPr indent="0" marL="0">
              <a:spcAft>
                <a:spcPts val="100"/>
              </a:spcAft>
              <a:buNone/>
            </a:pPr>
            <a:r>
              <a:rPr lang="en-US" sz="1300" dirty="0">
                <a:solidFill>
                  <a:srgbClr val="7AB8FF"/>
                </a:solidFill>
                <a:latin typeface="Courier New" pitchFamily="34" charset="0"/>
                <a:ea typeface="Courier New" pitchFamily="34" charset="-122"/>
                <a:cs typeface="Courier New" pitchFamily="34" charset="-120"/>
              </a:rPr>
              <a:t>for</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i =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i &lt;=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5</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i++)</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sum += i;</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p:txBody>
      </p:sp>
      <p:sp>
        <p:nvSpPr>
          <p:cNvPr id="10" name="Shape 7"/>
          <p:cNvSpPr/>
          <p:nvPr/>
        </p:nvSpPr>
        <p:spPr>
          <a:xfrm>
            <a:off x="4297680" y="1645920"/>
            <a:ext cx="3611880" cy="2377440"/>
          </a:xfrm>
          <a:prstGeom prst="roundRect">
            <a:avLst>
              <a:gd name="adj" fmla="val 3846"/>
            </a:avLst>
          </a:prstGeom>
          <a:solidFill>
            <a:srgbClr val="0F1729"/>
          </a:solidFill>
          <a:ln w="12700">
            <a:solidFill>
              <a:srgbClr val="0F1729"/>
            </a:solidFill>
            <a:prstDash val="solid"/>
          </a:ln>
        </p:spPr>
      </p:sp>
      <p:sp>
        <p:nvSpPr>
          <p:cNvPr id="11" name="Text 8"/>
          <p:cNvSpPr txBox="1"/>
          <p:nvPr/>
        </p:nvSpPr>
        <p:spPr>
          <a:xfrm>
            <a:off x="4526280" y="1755648"/>
            <a:ext cx="315468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while · sentinel</a:t>
            </a:r>
            <a:endParaRPr lang="en-US" sz="1100" dirty="0"/>
          </a:p>
        </p:txBody>
      </p:sp>
      <p:sp>
        <p:nvSpPr>
          <p:cNvPr id="12" name="Text 9"/>
          <p:cNvSpPr txBox="1"/>
          <p:nvPr/>
        </p:nvSpPr>
        <p:spPr>
          <a:xfrm>
            <a:off x="4526280" y="2057400"/>
            <a:ext cx="3154680" cy="1856232"/>
          </a:xfrm>
          <a:prstGeom prst="rect">
            <a:avLst/>
          </a:prstGeom>
          <a:noFill/>
          <a:ln/>
        </p:spPr>
        <p:txBody>
          <a:bodyPr wrap="square" lIns="0" tIns="0" rIns="0" bIns="0" rtlCol="0" anchor="t"/>
          <a:lstStyle/>
          <a:p>
            <a:pPr indent="0" marL="0">
              <a:spcAft>
                <a:spcPts val="100"/>
              </a:spcAft>
              <a:buNone/>
            </a:pPr>
            <a:r>
              <a:rPr lang="en-US" sz="1300" dirty="0">
                <a:solidFill>
                  <a:srgbClr val="7AB8FF"/>
                </a:solidFill>
                <a:latin typeface="Courier New" pitchFamily="34" charset="0"/>
                <a:ea typeface="Courier New" pitchFamily="34" charset="-122"/>
                <a:cs typeface="Courier New" pitchFamily="34" charset="-120"/>
              </a:rPr>
              <a:t>while</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(line != </a:t>
            </a:r>
            <a:pPr indent="0" marL="0">
              <a:spcAft>
                <a:spcPts val="100"/>
              </a:spcAft>
              <a:buNone/>
            </a:pPr>
            <a:r>
              <a:rPr lang="en-US" sz="1300" dirty="0">
                <a:solidFill>
                  <a:srgbClr val="7AB8FF"/>
                </a:solidFill>
                <a:latin typeface="Courier New" pitchFamily="34" charset="0"/>
                <a:ea typeface="Courier New" pitchFamily="34" charset="-122"/>
                <a:cs typeface="Courier New" pitchFamily="34" charset="-120"/>
              </a:rPr>
              <a:t>null</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count++;</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line = r.ReadLine();</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p:txBody>
      </p:sp>
      <p:sp>
        <p:nvSpPr>
          <p:cNvPr id="13" name="Shape 10"/>
          <p:cNvSpPr/>
          <p:nvPr/>
        </p:nvSpPr>
        <p:spPr>
          <a:xfrm>
            <a:off x="8046720" y="1645920"/>
            <a:ext cx="3611880" cy="2377440"/>
          </a:xfrm>
          <a:prstGeom prst="roundRect">
            <a:avLst>
              <a:gd name="adj" fmla="val 3846"/>
            </a:avLst>
          </a:prstGeom>
          <a:solidFill>
            <a:srgbClr val="0F1729"/>
          </a:solidFill>
          <a:ln w="12700">
            <a:solidFill>
              <a:srgbClr val="0F1729"/>
            </a:solidFill>
            <a:prstDash val="solid"/>
          </a:ln>
        </p:spPr>
      </p:sp>
      <p:sp>
        <p:nvSpPr>
          <p:cNvPr id="14" name="Text 11"/>
          <p:cNvSpPr txBox="1"/>
          <p:nvPr/>
        </p:nvSpPr>
        <p:spPr>
          <a:xfrm>
            <a:off x="8275320" y="1755648"/>
            <a:ext cx="315468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do-while · menu</a:t>
            </a:r>
            <a:endParaRPr lang="en-US" sz="1100" dirty="0"/>
          </a:p>
        </p:txBody>
      </p:sp>
      <p:sp>
        <p:nvSpPr>
          <p:cNvPr id="15" name="Text 12"/>
          <p:cNvSpPr txBox="1"/>
          <p:nvPr/>
        </p:nvSpPr>
        <p:spPr>
          <a:xfrm>
            <a:off x="8275320" y="2057400"/>
            <a:ext cx="3154680" cy="1856232"/>
          </a:xfrm>
          <a:prstGeom prst="rect">
            <a:avLst/>
          </a:prstGeom>
          <a:noFill/>
          <a:ln/>
        </p:spPr>
        <p:txBody>
          <a:bodyPr wrap="square" lIns="0" tIns="0" rIns="0" bIns="0" rtlCol="0" anchor="t"/>
          <a:lstStyle/>
          <a:p>
            <a:pPr indent="0" marL="0">
              <a:spcAft>
                <a:spcPts val="100"/>
              </a:spcAft>
              <a:buNone/>
            </a:pPr>
            <a:r>
              <a:rPr lang="en-US" sz="1300" dirty="0">
                <a:solidFill>
                  <a:srgbClr val="7AB8FF"/>
                </a:solidFill>
                <a:latin typeface="Courier New" pitchFamily="34" charset="0"/>
                <a:ea typeface="Courier New" pitchFamily="34" charset="-122"/>
                <a:cs typeface="Courier New" pitchFamily="34" charset="-120"/>
              </a:rPr>
              <a:t>do</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choice = ReadInt(…);</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7F8BA3"/>
                </a:solidFill>
                <a:latin typeface="Courier New" pitchFamily="34" charset="0"/>
                <a:ea typeface="Courier New" pitchFamily="34" charset="-122"/>
                <a:cs typeface="Courier New" pitchFamily="34" charset="-120"/>
              </a:rPr>
              <a:t>// …</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7AB8FF"/>
                </a:solidFill>
                <a:latin typeface="Courier New" pitchFamily="34" charset="0"/>
                <a:ea typeface="Courier New" pitchFamily="34" charset="-122"/>
                <a:cs typeface="Courier New" pitchFamily="34" charset="-120"/>
              </a:rPr>
              <a:t>while</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(choice !=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548640" y="4206240"/>
          <a:ext cx="11109960" cy="914400"/>
        </p:xfrm>
        <a:graphic>
          <a:graphicData uri="http://schemas.openxmlformats.org/drawingml/2006/table">
            <a:tbl>
              <a:tblPr/>
              <a:tblGrid>
                <a:gridCol w="2011680"/>
                <a:gridCol w="1828800"/>
                <a:gridCol w="2377440"/>
                <a:gridCol w="4892040"/>
              </a:tblGrid>
              <a:tr h="438912">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Loop</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Test</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Runs at least</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Typical use</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r>
              <a:tr h="438912">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for</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before</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0 times</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count 1..n, arrays</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438912">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while</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before</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0 times</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until sentinel, until null</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438912">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do-while</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after</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1 time</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menus, validation</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REVIEW 7 · WEEKS 9–10</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Arrays: index from 0, search, sort</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14</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31</a:t>
            </a:r>
            <a:endParaRPr lang="en-US" sz="1000" dirty="0"/>
          </a:p>
        </p:txBody>
      </p:sp>
      <p:sp>
        <p:nvSpPr>
          <p:cNvPr id="7" name="Shape 4"/>
          <p:cNvSpPr/>
          <p:nvPr/>
        </p:nvSpPr>
        <p:spPr>
          <a:xfrm>
            <a:off x="548640" y="1783080"/>
            <a:ext cx="731520" cy="502920"/>
          </a:xfrm>
          <a:prstGeom prst="rect">
            <a:avLst/>
          </a:prstGeom>
          <a:solidFill>
            <a:srgbClr val="FFFFFF"/>
          </a:solidFill>
          <a:ln w="9525">
            <a:solidFill>
              <a:srgbClr val="8A94AB"/>
            </a:solidFill>
            <a:prstDash val="solid"/>
          </a:ln>
        </p:spPr>
      </p:sp>
      <p:sp>
        <p:nvSpPr>
          <p:cNvPr id="8" name="Text 5"/>
          <p:cNvSpPr txBox="1"/>
          <p:nvPr/>
        </p:nvSpPr>
        <p:spPr>
          <a:xfrm>
            <a:off x="548640" y="1783080"/>
            <a:ext cx="731520" cy="502920"/>
          </a:xfrm>
          <a:prstGeom prst="rect">
            <a:avLst/>
          </a:prstGeom>
          <a:noFill/>
          <a:ln/>
        </p:spPr>
        <p:txBody>
          <a:bodyPr wrap="square" lIns="0" tIns="0" rIns="0" bIns="0" rtlCol="0" anchor="ctr"/>
          <a:lstStyle/>
          <a:p>
            <a:pPr algn="ctr" indent="0" marL="0">
              <a:buNone/>
            </a:pPr>
            <a:r>
              <a:rPr lang="en-US" sz="1600" b="1" dirty="0">
                <a:solidFill>
                  <a:srgbClr val="14213D"/>
                </a:solidFill>
                <a:latin typeface="Courier New" pitchFamily="34" charset="0"/>
                <a:ea typeface="Courier New" pitchFamily="34" charset="-122"/>
                <a:cs typeface="Courier New" pitchFamily="34" charset="-120"/>
              </a:rPr>
              <a:t>5</a:t>
            </a:r>
            <a:endParaRPr lang="en-US" sz="1600" dirty="0"/>
          </a:p>
        </p:txBody>
      </p:sp>
      <p:sp>
        <p:nvSpPr>
          <p:cNvPr id="9" name="Text 6"/>
          <p:cNvSpPr txBox="1"/>
          <p:nvPr/>
        </p:nvSpPr>
        <p:spPr>
          <a:xfrm>
            <a:off x="548640" y="2313432"/>
            <a:ext cx="731520" cy="256032"/>
          </a:xfrm>
          <a:prstGeom prst="rect">
            <a:avLst/>
          </a:prstGeom>
          <a:noFill/>
          <a:ln/>
        </p:spPr>
        <p:txBody>
          <a:bodyPr wrap="square" lIns="0" tIns="0" rIns="0" bIns="0" rtlCol="0" anchor="ctr"/>
          <a:lstStyle/>
          <a:p>
            <a:pPr algn="ctr" indent="0" marL="0">
              <a:buNone/>
            </a:pPr>
            <a:r>
              <a:rPr lang="en-US" sz="1300" dirty="0">
                <a:solidFill>
                  <a:srgbClr val="5B6478"/>
                </a:solidFill>
                <a:latin typeface="Courier New" pitchFamily="34" charset="0"/>
                <a:ea typeface="Courier New" pitchFamily="34" charset="-122"/>
                <a:cs typeface="Courier New" pitchFamily="34" charset="-120"/>
              </a:rPr>
              <a:t>0</a:t>
            </a:r>
            <a:endParaRPr lang="en-US" sz="1300" dirty="0"/>
          </a:p>
        </p:txBody>
      </p:sp>
      <p:sp>
        <p:nvSpPr>
          <p:cNvPr id="10" name="Shape 7"/>
          <p:cNvSpPr/>
          <p:nvPr/>
        </p:nvSpPr>
        <p:spPr>
          <a:xfrm>
            <a:off x="1280160" y="1783080"/>
            <a:ext cx="731520" cy="502920"/>
          </a:xfrm>
          <a:prstGeom prst="rect">
            <a:avLst/>
          </a:prstGeom>
          <a:solidFill>
            <a:srgbClr val="FFFFFF"/>
          </a:solidFill>
          <a:ln w="9525">
            <a:solidFill>
              <a:srgbClr val="8A94AB"/>
            </a:solidFill>
            <a:prstDash val="solid"/>
          </a:ln>
        </p:spPr>
      </p:sp>
      <p:sp>
        <p:nvSpPr>
          <p:cNvPr id="11" name="Text 8"/>
          <p:cNvSpPr txBox="1"/>
          <p:nvPr/>
        </p:nvSpPr>
        <p:spPr>
          <a:xfrm>
            <a:off x="1280160" y="1783080"/>
            <a:ext cx="731520" cy="502920"/>
          </a:xfrm>
          <a:prstGeom prst="rect">
            <a:avLst/>
          </a:prstGeom>
          <a:noFill/>
          <a:ln/>
        </p:spPr>
        <p:txBody>
          <a:bodyPr wrap="square" lIns="0" tIns="0" rIns="0" bIns="0" rtlCol="0" anchor="ctr"/>
          <a:lstStyle/>
          <a:p>
            <a:pPr algn="ctr" indent="0" marL="0">
              <a:buNone/>
            </a:pPr>
            <a:r>
              <a:rPr lang="en-US" sz="1600" b="1" dirty="0">
                <a:solidFill>
                  <a:srgbClr val="14213D"/>
                </a:solidFill>
                <a:latin typeface="Courier New" pitchFamily="34" charset="0"/>
                <a:ea typeface="Courier New" pitchFamily="34" charset="-122"/>
                <a:cs typeface="Courier New" pitchFamily="34" charset="-120"/>
              </a:rPr>
              <a:t>1</a:t>
            </a:r>
            <a:endParaRPr lang="en-US" sz="1600" dirty="0"/>
          </a:p>
        </p:txBody>
      </p:sp>
      <p:sp>
        <p:nvSpPr>
          <p:cNvPr id="12" name="Text 9"/>
          <p:cNvSpPr txBox="1"/>
          <p:nvPr/>
        </p:nvSpPr>
        <p:spPr>
          <a:xfrm>
            <a:off x="1280160" y="2313432"/>
            <a:ext cx="731520" cy="256032"/>
          </a:xfrm>
          <a:prstGeom prst="rect">
            <a:avLst/>
          </a:prstGeom>
          <a:noFill/>
          <a:ln/>
        </p:spPr>
        <p:txBody>
          <a:bodyPr wrap="square" lIns="0" tIns="0" rIns="0" bIns="0" rtlCol="0" anchor="ctr"/>
          <a:lstStyle/>
          <a:p>
            <a:pPr algn="ctr" indent="0" marL="0">
              <a:buNone/>
            </a:pPr>
            <a:r>
              <a:rPr lang="en-US" sz="1300" dirty="0">
                <a:solidFill>
                  <a:srgbClr val="5B6478"/>
                </a:solidFill>
                <a:latin typeface="Courier New" pitchFamily="34" charset="0"/>
                <a:ea typeface="Courier New" pitchFamily="34" charset="-122"/>
                <a:cs typeface="Courier New" pitchFamily="34" charset="-120"/>
              </a:rPr>
              <a:t>1</a:t>
            </a:r>
            <a:endParaRPr lang="en-US" sz="1300" dirty="0"/>
          </a:p>
        </p:txBody>
      </p:sp>
      <p:sp>
        <p:nvSpPr>
          <p:cNvPr id="13" name="Shape 10"/>
          <p:cNvSpPr/>
          <p:nvPr/>
        </p:nvSpPr>
        <p:spPr>
          <a:xfrm>
            <a:off x="2011680" y="1783080"/>
            <a:ext cx="731520" cy="502920"/>
          </a:xfrm>
          <a:prstGeom prst="rect">
            <a:avLst/>
          </a:prstGeom>
          <a:solidFill>
            <a:srgbClr val="FFFFFF"/>
          </a:solidFill>
          <a:ln w="9525">
            <a:solidFill>
              <a:srgbClr val="8A94AB"/>
            </a:solidFill>
            <a:prstDash val="solid"/>
          </a:ln>
        </p:spPr>
      </p:sp>
      <p:sp>
        <p:nvSpPr>
          <p:cNvPr id="14" name="Text 11"/>
          <p:cNvSpPr txBox="1"/>
          <p:nvPr/>
        </p:nvSpPr>
        <p:spPr>
          <a:xfrm>
            <a:off x="2011680" y="1783080"/>
            <a:ext cx="731520" cy="502920"/>
          </a:xfrm>
          <a:prstGeom prst="rect">
            <a:avLst/>
          </a:prstGeom>
          <a:noFill/>
          <a:ln/>
        </p:spPr>
        <p:txBody>
          <a:bodyPr wrap="square" lIns="0" tIns="0" rIns="0" bIns="0" rtlCol="0" anchor="ctr"/>
          <a:lstStyle/>
          <a:p>
            <a:pPr algn="ctr" indent="0" marL="0">
              <a:buNone/>
            </a:pPr>
            <a:r>
              <a:rPr lang="en-US" sz="1600" b="1" dirty="0">
                <a:solidFill>
                  <a:srgbClr val="14213D"/>
                </a:solidFill>
                <a:latin typeface="Courier New" pitchFamily="34" charset="0"/>
                <a:ea typeface="Courier New" pitchFamily="34" charset="-122"/>
                <a:cs typeface="Courier New" pitchFamily="34" charset="-120"/>
              </a:rPr>
              <a:t>4</a:t>
            </a:r>
            <a:endParaRPr lang="en-US" sz="1600" dirty="0"/>
          </a:p>
        </p:txBody>
      </p:sp>
      <p:sp>
        <p:nvSpPr>
          <p:cNvPr id="15" name="Text 12"/>
          <p:cNvSpPr txBox="1"/>
          <p:nvPr/>
        </p:nvSpPr>
        <p:spPr>
          <a:xfrm>
            <a:off x="2011680" y="2313432"/>
            <a:ext cx="731520" cy="256032"/>
          </a:xfrm>
          <a:prstGeom prst="rect">
            <a:avLst/>
          </a:prstGeom>
          <a:noFill/>
          <a:ln/>
        </p:spPr>
        <p:txBody>
          <a:bodyPr wrap="square" lIns="0" tIns="0" rIns="0" bIns="0" rtlCol="0" anchor="ctr"/>
          <a:lstStyle/>
          <a:p>
            <a:pPr algn="ctr" indent="0" marL="0">
              <a:buNone/>
            </a:pPr>
            <a:r>
              <a:rPr lang="en-US" sz="1300" dirty="0">
                <a:solidFill>
                  <a:srgbClr val="5B6478"/>
                </a:solidFill>
                <a:latin typeface="Courier New" pitchFamily="34" charset="0"/>
                <a:ea typeface="Courier New" pitchFamily="34" charset="-122"/>
                <a:cs typeface="Courier New" pitchFamily="34" charset="-120"/>
              </a:rPr>
              <a:t>2</a:t>
            </a:r>
            <a:endParaRPr lang="en-US" sz="1300" dirty="0"/>
          </a:p>
        </p:txBody>
      </p:sp>
      <p:sp>
        <p:nvSpPr>
          <p:cNvPr id="16" name="Shape 13"/>
          <p:cNvSpPr/>
          <p:nvPr/>
        </p:nvSpPr>
        <p:spPr>
          <a:xfrm>
            <a:off x="2743200" y="1783080"/>
            <a:ext cx="731520" cy="502920"/>
          </a:xfrm>
          <a:prstGeom prst="rect">
            <a:avLst/>
          </a:prstGeom>
          <a:solidFill>
            <a:srgbClr val="FFFFFF"/>
          </a:solidFill>
          <a:ln w="9525">
            <a:solidFill>
              <a:srgbClr val="8A94AB"/>
            </a:solidFill>
            <a:prstDash val="solid"/>
          </a:ln>
        </p:spPr>
      </p:sp>
      <p:sp>
        <p:nvSpPr>
          <p:cNvPr id="17" name="Text 14"/>
          <p:cNvSpPr txBox="1"/>
          <p:nvPr/>
        </p:nvSpPr>
        <p:spPr>
          <a:xfrm>
            <a:off x="2743200" y="1783080"/>
            <a:ext cx="731520" cy="502920"/>
          </a:xfrm>
          <a:prstGeom prst="rect">
            <a:avLst/>
          </a:prstGeom>
          <a:noFill/>
          <a:ln/>
        </p:spPr>
        <p:txBody>
          <a:bodyPr wrap="square" lIns="0" tIns="0" rIns="0" bIns="0" rtlCol="0" anchor="ctr"/>
          <a:lstStyle/>
          <a:p>
            <a:pPr algn="ctr" indent="0" marL="0">
              <a:buNone/>
            </a:pPr>
            <a:r>
              <a:rPr lang="en-US" sz="1600" b="1" dirty="0">
                <a:solidFill>
                  <a:srgbClr val="14213D"/>
                </a:solidFill>
                <a:latin typeface="Courier New" pitchFamily="34" charset="0"/>
                <a:ea typeface="Courier New" pitchFamily="34" charset="-122"/>
                <a:cs typeface="Courier New" pitchFamily="34" charset="-120"/>
              </a:rPr>
              <a:t>2</a:t>
            </a:r>
            <a:endParaRPr lang="en-US" sz="1600" dirty="0"/>
          </a:p>
        </p:txBody>
      </p:sp>
      <p:sp>
        <p:nvSpPr>
          <p:cNvPr id="18" name="Text 15"/>
          <p:cNvSpPr txBox="1"/>
          <p:nvPr/>
        </p:nvSpPr>
        <p:spPr>
          <a:xfrm>
            <a:off x="2743200" y="2313432"/>
            <a:ext cx="731520" cy="256032"/>
          </a:xfrm>
          <a:prstGeom prst="rect">
            <a:avLst/>
          </a:prstGeom>
          <a:noFill/>
          <a:ln/>
        </p:spPr>
        <p:txBody>
          <a:bodyPr wrap="square" lIns="0" tIns="0" rIns="0" bIns="0" rtlCol="0" anchor="ctr"/>
          <a:lstStyle/>
          <a:p>
            <a:pPr algn="ctr" indent="0" marL="0">
              <a:buNone/>
            </a:pPr>
            <a:r>
              <a:rPr lang="en-US" sz="1300" dirty="0">
                <a:solidFill>
                  <a:srgbClr val="5B6478"/>
                </a:solidFill>
                <a:latin typeface="Courier New" pitchFamily="34" charset="0"/>
                <a:ea typeface="Courier New" pitchFamily="34" charset="-122"/>
                <a:cs typeface="Courier New" pitchFamily="34" charset="-120"/>
              </a:rPr>
              <a:t>3</a:t>
            </a:r>
            <a:endParaRPr lang="en-US" sz="1300" dirty="0"/>
          </a:p>
        </p:txBody>
      </p:sp>
      <p:sp>
        <p:nvSpPr>
          <p:cNvPr id="19" name="Shape 16"/>
          <p:cNvSpPr/>
          <p:nvPr/>
        </p:nvSpPr>
        <p:spPr>
          <a:xfrm>
            <a:off x="3474720" y="1783080"/>
            <a:ext cx="731520" cy="502920"/>
          </a:xfrm>
          <a:prstGeom prst="rect">
            <a:avLst/>
          </a:prstGeom>
          <a:solidFill>
            <a:srgbClr val="FFF1D6"/>
          </a:solidFill>
          <a:ln w="9525">
            <a:solidFill>
              <a:srgbClr val="8A94AB"/>
            </a:solidFill>
            <a:prstDash val="solid"/>
          </a:ln>
        </p:spPr>
      </p:sp>
      <p:sp>
        <p:nvSpPr>
          <p:cNvPr id="20" name="Text 17"/>
          <p:cNvSpPr txBox="1"/>
          <p:nvPr/>
        </p:nvSpPr>
        <p:spPr>
          <a:xfrm>
            <a:off x="3474720" y="1783080"/>
            <a:ext cx="731520" cy="502920"/>
          </a:xfrm>
          <a:prstGeom prst="rect">
            <a:avLst/>
          </a:prstGeom>
          <a:noFill/>
          <a:ln/>
        </p:spPr>
        <p:txBody>
          <a:bodyPr wrap="square" lIns="0" tIns="0" rIns="0" bIns="0" rtlCol="0" anchor="ctr"/>
          <a:lstStyle/>
          <a:p>
            <a:pPr algn="ctr" indent="0" marL="0">
              <a:buNone/>
            </a:pPr>
            <a:r>
              <a:rPr lang="en-US" sz="1600" b="1" dirty="0">
                <a:solidFill>
                  <a:srgbClr val="14213D"/>
                </a:solidFill>
                <a:latin typeface="Courier New" pitchFamily="34" charset="0"/>
                <a:ea typeface="Courier New" pitchFamily="34" charset="-122"/>
                <a:cs typeface="Courier New" pitchFamily="34" charset="-120"/>
              </a:rPr>
              <a:t>8</a:t>
            </a:r>
            <a:endParaRPr lang="en-US" sz="1600" dirty="0"/>
          </a:p>
        </p:txBody>
      </p:sp>
      <p:sp>
        <p:nvSpPr>
          <p:cNvPr id="21" name="Text 18"/>
          <p:cNvSpPr txBox="1"/>
          <p:nvPr/>
        </p:nvSpPr>
        <p:spPr>
          <a:xfrm>
            <a:off x="3474720" y="2313432"/>
            <a:ext cx="731520" cy="256032"/>
          </a:xfrm>
          <a:prstGeom prst="rect">
            <a:avLst/>
          </a:prstGeom>
          <a:noFill/>
          <a:ln/>
        </p:spPr>
        <p:txBody>
          <a:bodyPr wrap="square" lIns="0" tIns="0" rIns="0" bIns="0" rtlCol="0" anchor="ctr"/>
          <a:lstStyle/>
          <a:p>
            <a:pPr algn="ctr" indent="0" marL="0">
              <a:buNone/>
            </a:pPr>
            <a:r>
              <a:rPr lang="en-US" sz="1300" dirty="0">
                <a:solidFill>
                  <a:srgbClr val="5B6478"/>
                </a:solidFill>
                <a:latin typeface="Courier New" pitchFamily="34" charset="0"/>
                <a:ea typeface="Courier New" pitchFamily="34" charset="-122"/>
                <a:cs typeface="Courier New" pitchFamily="34" charset="-120"/>
              </a:rPr>
              <a:t>4</a:t>
            </a:r>
            <a:endParaRPr lang="en-US" sz="1300" dirty="0"/>
          </a:p>
        </p:txBody>
      </p:sp>
      <p:sp>
        <p:nvSpPr>
          <p:cNvPr id="22" name="Text 19"/>
          <p:cNvSpPr txBox="1"/>
          <p:nvPr/>
        </p:nvSpPr>
        <p:spPr>
          <a:xfrm>
            <a:off x="4343400" y="1783080"/>
            <a:ext cx="2743200" cy="502920"/>
          </a:xfrm>
          <a:prstGeom prst="rect">
            <a:avLst/>
          </a:prstGeom>
          <a:noFill/>
          <a:ln/>
        </p:spPr>
        <p:txBody>
          <a:bodyPr wrap="square" lIns="0" tIns="0" rIns="0" bIns="0" rtlCol="0" anchor="ctr"/>
          <a:lstStyle/>
          <a:p>
            <a:pPr indent="0" marL="0">
              <a:buNone/>
            </a:pPr>
            <a:r>
              <a:rPr lang="en-US" sz="1400" b="1" dirty="0">
                <a:solidFill>
                  <a:srgbClr val="14213D"/>
                </a:solidFill>
                <a:latin typeface="Courier New" pitchFamily="34" charset="0"/>
                <a:ea typeface="Courier New" pitchFamily="34" charset="-122"/>
                <a:cs typeface="Courier New" pitchFamily="34" charset="-120"/>
              </a:rPr>
              <a:t>a</a:t>
            </a:r>
            <a:pPr indent="0" marL="0">
              <a:buNone/>
            </a:pPr>
            <a:r>
              <a:rPr lang="en-US" sz="1400" dirty="0">
                <a:solidFill>
                  <a:srgbClr val="333B4F"/>
                </a:solidFill>
                <a:latin typeface="Calibri" pitchFamily="34" charset="0"/>
                <a:ea typeface="Calibri" pitchFamily="34" charset="-122"/>
                <a:cs typeface="Calibri" pitchFamily="34" charset="-120"/>
              </a:rPr>
              <a:t>   a.Length = 5,  a[4] = 8</a:t>
            </a:r>
            <a:endParaRPr lang="en-US" sz="1400" dirty="0"/>
          </a:p>
        </p:txBody>
      </p:sp>
      <p:sp>
        <p:nvSpPr>
          <p:cNvPr id="23" name="Text 20"/>
          <p:cNvSpPr txBox="1"/>
          <p:nvPr/>
        </p:nvSpPr>
        <p:spPr>
          <a:xfrm>
            <a:off x="548640" y="2651760"/>
            <a:ext cx="3657600" cy="320040"/>
          </a:xfrm>
          <a:prstGeom prst="rect">
            <a:avLst/>
          </a:prstGeom>
          <a:noFill/>
          <a:ln/>
        </p:spPr>
        <p:txBody>
          <a:bodyPr wrap="square" lIns="0" tIns="0" rIns="0" bIns="0" rtlCol="0" anchor="ctr"/>
          <a:lstStyle/>
          <a:p>
            <a:pPr indent="0" marL="0">
              <a:buNone/>
            </a:pPr>
            <a:r>
              <a:rPr lang="en-US" sz="1400" dirty="0">
                <a:solidFill>
                  <a:srgbClr val="5B6478"/>
                </a:solidFill>
                <a:latin typeface="Calibri" pitchFamily="34" charset="0"/>
                <a:ea typeface="Calibri" pitchFamily="34" charset="-122"/>
                <a:cs typeface="Calibri" pitchFamily="34" charset="-120"/>
              </a:rPr>
              <a:t>after one bubble-sort pass:</a:t>
            </a:r>
            <a:endParaRPr lang="en-US" sz="1400" dirty="0"/>
          </a:p>
        </p:txBody>
      </p:sp>
      <p:sp>
        <p:nvSpPr>
          <p:cNvPr id="24" name="Shape 21"/>
          <p:cNvSpPr/>
          <p:nvPr/>
        </p:nvSpPr>
        <p:spPr>
          <a:xfrm>
            <a:off x="548640" y="3017520"/>
            <a:ext cx="731520" cy="502920"/>
          </a:xfrm>
          <a:prstGeom prst="rect">
            <a:avLst/>
          </a:prstGeom>
          <a:solidFill>
            <a:srgbClr val="FFFFFF"/>
          </a:solidFill>
          <a:ln w="9525">
            <a:solidFill>
              <a:srgbClr val="8A94AB"/>
            </a:solidFill>
            <a:prstDash val="solid"/>
          </a:ln>
        </p:spPr>
      </p:sp>
      <p:sp>
        <p:nvSpPr>
          <p:cNvPr id="25" name="Text 22"/>
          <p:cNvSpPr txBox="1"/>
          <p:nvPr/>
        </p:nvSpPr>
        <p:spPr>
          <a:xfrm>
            <a:off x="548640" y="3017520"/>
            <a:ext cx="731520" cy="502920"/>
          </a:xfrm>
          <a:prstGeom prst="rect">
            <a:avLst/>
          </a:prstGeom>
          <a:noFill/>
          <a:ln/>
        </p:spPr>
        <p:txBody>
          <a:bodyPr wrap="square" lIns="0" tIns="0" rIns="0" bIns="0" rtlCol="0" anchor="ctr"/>
          <a:lstStyle/>
          <a:p>
            <a:pPr algn="ctr" indent="0" marL="0">
              <a:buNone/>
            </a:pPr>
            <a:r>
              <a:rPr lang="en-US" sz="1600" b="1" dirty="0">
                <a:solidFill>
                  <a:srgbClr val="14213D"/>
                </a:solidFill>
                <a:latin typeface="Courier New" pitchFamily="34" charset="0"/>
                <a:ea typeface="Courier New" pitchFamily="34" charset="-122"/>
                <a:cs typeface="Courier New" pitchFamily="34" charset="-120"/>
              </a:rPr>
              <a:t>1</a:t>
            </a:r>
            <a:endParaRPr lang="en-US" sz="1600" dirty="0"/>
          </a:p>
        </p:txBody>
      </p:sp>
      <p:sp>
        <p:nvSpPr>
          <p:cNvPr id="26" name="Shape 23"/>
          <p:cNvSpPr/>
          <p:nvPr/>
        </p:nvSpPr>
        <p:spPr>
          <a:xfrm>
            <a:off x="1280160" y="3017520"/>
            <a:ext cx="731520" cy="502920"/>
          </a:xfrm>
          <a:prstGeom prst="rect">
            <a:avLst/>
          </a:prstGeom>
          <a:solidFill>
            <a:srgbClr val="FFFFFF"/>
          </a:solidFill>
          <a:ln w="9525">
            <a:solidFill>
              <a:srgbClr val="8A94AB"/>
            </a:solidFill>
            <a:prstDash val="solid"/>
          </a:ln>
        </p:spPr>
      </p:sp>
      <p:sp>
        <p:nvSpPr>
          <p:cNvPr id="27" name="Text 24"/>
          <p:cNvSpPr txBox="1"/>
          <p:nvPr/>
        </p:nvSpPr>
        <p:spPr>
          <a:xfrm>
            <a:off x="1280160" y="3017520"/>
            <a:ext cx="731520" cy="502920"/>
          </a:xfrm>
          <a:prstGeom prst="rect">
            <a:avLst/>
          </a:prstGeom>
          <a:noFill/>
          <a:ln/>
        </p:spPr>
        <p:txBody>
          <a:bodyPr wrap="square" lIns="0" tIns="0" rIns="0" bIns="0" rtlCol="0" anchor="ctr"/>
          <a:lstStyle/>
          <a:p>
            <a:pPr algn="ctr" indent="0" marL="0">
              <a:buNone/>
            </a:pPr>
            <a:r>
              <a:rPr lang="en-US" sz="1600" b="1" dirty="0">
                <a:solidFill>
                  <a:srgbClr val="14213D"/>
                </a:solidFill>
                <a:latin typeface="Courier New" pitchFamily="34" charset="0"/>
                <a:ea typeface="Courier New" pitchFamily="34" charset="-122"/>
                <a:cs typeface="Courier New" pitchFamily="34" charset="-120"/>
              </a:rPr>
              <a:t>4</a:t>
            </a:r>
            <a:endParaRPr lang="en-US" sz="1600" dirty="0"/>
          </a:p>
        </p:txBody>
      </p:sp>
      <p:sp>
        <p:nvSpPr>
          <p:cNvPr id="28" name="Shape 25"/>
          <p:cNvSpPr/>
          <p:nvPr/>
        </p:nvSpPr>
        <p:spPr>
          <a:xfrm>
            <a:off x="2011680" y="3017520"/>
            <a:ext cx="731520" cy="502920"/>
          </a:xfrm>
          <a:prstGeom prst="rect">
            <a:avLst/>
          </a:prstGeom>
          <a:solidFill>
            <a:srgbClr val="FFFFFF"/>
          </a:solidFill>
          <a:ln w="9525">
            <a:solidFill>
              <a:srgbClr val="8A94AB"/>
            </a:solidFill>
            <a:prstDash val="solid"/>
          </a:ln>
        </p:spPr>
      </p:sp>
      <p:sp>
        <p:nvSpPr>
          <p:cNvPr id="29" name="Text 26"/>
          <p:cNvSpPr txBox="1"/>
          <p:nvPr/>
        </p:nvSpPr>
        <p:spPr>
          <a:xfrm>
            <a:off x="2011680" y="3017520"/>
            <a:ext cx="731520" cy="502920"/>
          </a:xfrm>
          <a:prstGeom prst="rect">
            <a:avLst/>
          </a:prstGeom>
          <a:noFill/>
          <a:ln/>
        </p:spPr>
        <p:txBody>
          <a:bodyPr wrap="square" lIns="0" tIns="0" rIns="0" bIns="0" rtlCol="0" anchor="ctr"/>
          <a:lstStyle/>
          <a:p>
            <a:pPr algn="ctr" indent="0" marL="0">
              <a:buNone/>
            </a:pPr>
            <a:r>
              <a:rPr lang="en-US" sz="1600" b="1" dirty="0">
                <a:solidFill>
                  <a:srgbClr val="14213D"/>
                </a:solidFill>
                <a:latin typeface="Courier New" pitchFamily="34" charset="0"/>
                <a:ea typeface="Courier New" pitchFamily="34" charset="-122"/>
                <a:cs typeface="Courier New" pitchFamily="34" charset="-120"/>
              </a:rPr>
              <a:t>2</a:t>
            </a:r>
            <a:endParaRPr lang="en-US" sz="1600" dirty="0"/>
          </a:p>
        </p:txBody>
      </p:sp>
      <p:sp>
        <p:nvSpPr>
          <p:cNvPr id="30" name="Shape 27"/>
          <p:cNvSpPr/>
          <p:nvPr/>
        </p:nvSpPr>
        <p:spPr>
          <a:xfrm>
            <a:off x="2743200" y="3017520"/>
            <a:ext cx="731520" cy="502920"/>
          </a:xfrm>
          <a:prstGeom prst="rect">
            <a:avLst/>
          </a:prstGeom>
          <a:solidFill>
            <a:srgbClr val="FFFFFF"/>
          </a:solidFill>
          <a:ln w="9525">
            <a:solidFill>
              <a:srgbClr val="8A94AB"/>
            </a:solidFill>
            <a:prstDash val="solid"/>
          </a:ln>
        </p:spPr>
      </p:sp>
      <p:sp>
        <p:nvSpPr>
          <p:cNvPr id="31" name="Text 28"/>
          <p:cNvSpPr txBox="1"/>
          <p:nvPr/>
        </p:nvSpPr>
        <p:spPr>
          <a:xfrm>
            <a:off x="2743200" y="3017520"/>
            <a:ext cx="731520" cy="502920"/>
          </a:xfrm>
          <a:prstGeom prst="rect">
            <a:avLst/>
          </a:prstGeom>
          <a:noFill/>
          <a:ln/>
        </p:spPr>
        <p:txBody>
          <a:bodyPr wrap="square" lIns="0" tIns="0" rIns="0" bIns="0" rtlCol="0" anchor="ctr"/>
          <a:lstStyle/>
          <a:p>
            <a:pPr algn="ctr" indent="0" marL="0">
              <a:buNone/>
            </a:pPr>
            <a:r>
              <a:rPr lang="en-US" sz="1600" b="1" dirty="0">
                <a:solidFill>
                  <a:srgbClr val="14213D"/>
                </a:solidFill>
                <a:latin typeface="Courier New" pitchFamily="34" charset="0"/>
                <a:ea typeface="Courier New" pitchFamily="34" charset="-122"/>
                <a:cs typeface="Courier New" pitchFamily="34" charset="-120"/>
              </a:rPr>
              <a:t>5</a:t>
            </a:r>
            <a:endParaRPr lang="en-US" sz="1600" dirty="0"/>
          </a:p>
        </p:txBody>
      </p:sp>
      <p:sp>
        <p:nvSpPr>
          <p:cNvPr id="32" name="Shape 29"/>
          <p:cNvSpPr/>
          <p:nvPr/>
        </p:nvSpPr>
        <p:spPr>
          <a:xfrm>
            <a:off x="3474720" y="3017520"/>
            <a:ext cx="731520" cy="502920"/>
          </a:xfrm>
          <a:prstGeom prst="rect">
            <a:avLst/>
          </a:prstGeom>
          <a:solidFill>
            <a:srgbClr val="E6F4EC"/>
          </a:solidFill>
          <a:ln w="9525">
            <a:solidFill>
              <a:srgbClr val="8A94AB"/>
            </a:solidFill>
            <a:prstDash val="solid"/>
          </a:ln>
        </p:spPr>
      </p:sp>
      <p:sp>
        <p:nvSpPr>
          <p:cNvPr id="33" name="Text 30"/>
          <p:cNvSpPr txBox="1"/>
          <p:nvPr/>
        </p:nvSpPr>
        <p:spPr>
          <a:xfrm>
            <a:off x="3474720" y="3017520"/>
            <a:ext cx="731520" cy="502920"/>
          </a:xfrm>
          <a:prstGeom prst="rect">
            <a:avLst/>
          </a:prstGeom>
          <a:noFill/>
          <a:ln/>
        </p:spPr>
        <p:txBody>
          <a:bodyPr wrap="square" lIns="0" tIns="0" rIns="0" bIns="0" rtlCol="0" anchor="ctr"/>
          <a:lstStyle/>
          <a:p>
            <a:pPr algn="ctr" indent="0" marL="0">
              <a:buNone/>
            </a:pPr>
            <a:r>
              <a:rPr lang="en-US" sz="1600" b="1" dirty="0">
                <a:solidFill>
                  <a:srgbClr val="14213D"/>
                </a:solidFill>
                <a:latin typeface="Courier New" pitchFamily="34" charset="0"/>
                <a:ea typeface="Courier New" pitchFamily="34" charset="-122"/>
                <a:cs typeface="Courier New" pitchFamily="34" charset="-120"/>
              </a:rPr>
              <a:t>8</a:t>
            </a:r>
            <a:endParaRPr lang="en-US" sz="1600" dirty="0"/>
          </a:p>
        </p:txBody>
      </p:sp>
      <p:sp>
        <p:nvSpPr>
          <p:cNvPr id="34" name="Shape 31"/>
          <p:cNvSpPr/>
          <p:nvPr/>
        </p:nvSpPr>
        <p:spPr>
          <a:xfrm>
            <a:off x="548640" y="3794760"/>
            <a:ext cx="6537960" cy="2286000"/>
          </a:xfrm>
          <a:prstGeom prst="roundRect">
            <a:avLst>
              <a:gd name="adj" fmla="val 4000"/>
            </a:avLst>
          </a:prstGeom>
          <a:solidFill>
            <a:srgbClr val="0F1729"/>
          </a:solidFill>
          <a:ln w="12700">
            <a:solidFill>
              <a:srgbClr val="0F1729"/>
            </a:solidFill>
            <a:prstDash val="solid"/>
          </a:ln>
        </p:spPr>
      </p:sp>
      <p:sp>
        <p:nvSpPr>
          <p:cNvPr id="35" name="Text 32"/>
          <p:cNvSpPr txBox="1"/>
          <p:nvPr/>
        </p:nvSpPr>
        <p:spPr>
          <a:xfrm>
            <a:off x="777240" y="3904488"/>
            <a:ext cx="608076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maximum with its index</a:t>
            </a:r>
            <a:endParaRPr lang="en-US" sz="1100" dirty="0"/>
          </a:p>
        </p:txBody>
      </p:sp>
      <p:sp>
        <p:nvSpPr>
          <p:cNvPr id="36" name="Text 33"/>
          <p:cNvSpPr txBox="1"/>
          <p:nvPr/>
        </p:nvSpPr>
        <p:spPr>
          <a:xfrm>
            <a:off x="777240" y="4206240"/>
            <a:ext cx="6080760" cy="1764792"/>
          </a:xfrm>
          <a:prstGeom prst="rect">
            <a:avLst/>
          </a:prstGeom>
          <a:noFill/>
          <a:ln/>
        </p:spPr>
        <p:txBody>
          <a:bodyPr wrap="square" lIns="0" tIns="0" rIns="0" bIns="0" rtlCol="0" anchor="t"/>
          <a:lstStyle/>
          <a:p>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maxIndex =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7F8BA3"/>
                </a:solidFill>
                <a:latin typeface="Courier New" pitchFamily="34" charset="0"/>
                <a:ea typeface="Courier New" pitchFamily="34" charset="-122"/>
                <a:cs typeface="Courier New" pitchFamily="34" charset="-120"/>
              </a:rPr>
              <a:t>// start with a[0]</a:t>
            </a:r>
            <a:endParaRPr lang="en-US" sz="1300" dirty="0"/>
          </a:p>
          <a:p>
            <a:pPr indent="0" marL="0">
              <a:spcAft>
                <a:spcPts val="100"/>
              </a:spcAft>
              <a:buNone/>
            </a:pPr>
            <a:r>
              <a:rPr lang="en-US" sz="1300" dirty="0">
                <a:solidFill>
                  <a:srgbClr val="7AB8FF"/>
                </a:solidFill>
                <a:latin typeface="Courier New" pitchFamily="34" charset="0"/>
                <a:ea typeface="Courier New" pitchFamily="34" charset="-122"/>
                <a:cs typeface="Courier New" pitchFamily="34" charset="-120"/>
              </a:rPr>
              <a:t>for</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i =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i &lt; a.Length; i++)</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7AB8FF"/>
                </a:solidFill>
                <a:latin typeface="Courier New" pitchFamily="34" charset="0"/>
                <a:ea typeface="Courier New" pitchFamily="34" charset="-122"/>
                <a:cs typeface="Courier New" pitchFamily="34" charset="-120"/>
              </a:rPr>
              <a:t>if</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(a[i] &gt; a[maxIndex])</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maxIndex = i;</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7315200" y="1645920"/>
          <a:ext cx="4343400" cy="914400"/>
        </p:xfrm>
        <a:graphic>
          <a:graphicData uri="http://schemas.openxmlformats.org/drawingml/2006/table">
            <a:tbl>
              <a:tblPr/>
              <a:tblGrid>
                <a:gridCol w="1691640"/>
                <a:gridCol w="1463040"/>
                <a:gridCol w="1188720"/>
              </a:tblGrid>
              <a:tr h="438912">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Algorithm</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Needs</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Steps</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r>
              <a:tr h="438912">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linear search</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any order</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O(n)</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438912">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binary search</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sorted array</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O(log n)</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438912">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bubble sort</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O(n²)</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438912">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Array.Sort</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(built in)</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fast</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bl>
          </a:graphicData>
        </a:graphic>
      </p:graphicFrame>
      <p:sp>
        <p:nvSpPr>
          <p:cNvPr id="38" name="Shape 34"/>
          <p:cNvSpPr/>
          <p:nvPr/>
        </p:nvSpPr>
        <p:spPr>
          <a:xfrm>
            <a:off x="7315200" y="4023360"/>
            <a:ext cx="4343400" cy="2057400"/>
          </a:xfrm>
          <a:prstGeom prst="roundRect">
            <a:avLst>
              <a:gd name="adj" fmla="val 5333"/>
            </a:avLst>
          </a:prstGeom>
          <a:solidFill>
            <a:srgbClr val="FFF6E3"/>
          </a:solidFill>
          <a:ln w="12700">
            <a:solidFill>
              <a:srgbClr val="FFF6E3"/>
            </a:solidFill>
            <a:prstDash val="solid"/>
          </a:ln>
        </p:spPr>
      </p:sp>
      <p:pic>
        <p:nvPicPr>
          <p:cNvPr id="39" name="Image 0" descr="preencoded.png">    </p:cNvPr>
          <p:cNvPicPr>
            <a:picLocks noChangeAspect="1"/>
          </p:cNvPicPr>
          <p:nvPr/>
        </p:nvPicPr>
        <p:blipFill>
          <a:blip r:embed="rId1"/>
          <a:stretch>
            <a:fillRect/>
          </a:stretch>
        </p:blipFill>
        <p:spPr>
          <a:xfrm>
            <a:off x="7589520" y="4777740"/>
            <a:ext cx="548640" cy="548640"/>
          </a:xfrm>
          <a:prstGeom prst="rect">
            <a:avLst/>
          </a:prstGeom>
        </p:spPr>
      </p:pic>
      <p:sp>
        <p:nvSpPr>
          <p:cNvPr id="40" name="Text 35"/>
          <p:cNvSpPr txBox="1"/>
          <p:nvPr/>
        </p:nvSpPr>
        <p:spPr>
          <a:xfrm>
            <a:off x="8412480" y="4096512"/>
            <a:ext cx="2971800" cy="1911096"/>
          </a:xfrm>
          <a:prstGeom prst="rect">
            <a:avLst/>
          </a:prstGeom>
          <a:noFill/>
          <a:ln/>
        </p:spPr>
        <p:txBody>
          <a:bodyPr wrap="square" lIns="0" tIns="0" rIns="0" bIns="0" rtlCol="0" anchor="ctr"/>
          <a:lstStyle/>
          <a:p>
            <a:pPr indent="0" marL="0">
              <a:buNone/>
            </a:pPr>
            <a:r>
              <a:rPr lang="en-US" sz="1400" b="1" dirty="0">
                <a:solidFill>
                  <a:srgbClr val="14213D"/>
                </a:solidFill>
                <a:latin typeface="Calibri" pitchFamily="34" charset="0"/>
                <a:ea typeface="Calibri" pitchFamily="34" charset="-122"/>
                <a:cs typeface="Calibri" pitchFamily="34" charset="-120"/>
              </a:rPr>
              <a:t>Reference type: </a:t>
            </a:r>
            <a:pPr indent="0" marL="0">
              <a:buNone/>
            </a:pPr>
            <a:r>
              <a:rPr lang="en-US" sz="1400" dirty="0">
                <a:solidFill>
                  <a:srgbClr val="333B4F"/>
                </a:solidFill>
                <a:latin typeface="Courier New" pitchFamily="34" charset="0"/>
                <a:ea typeface="Courier New" pitchFamily="34" charset="-122"/>
                <a:cs typeface="Courier New" pitchFamily="34" charset="-120"/>
              </a:rPr>
              <a:t>int[] b = a;</a:t>
            </a:r>
            <a:pPr indent="0" marL="0">
              <a:buNone/>
            </a:pPr>
            <a:r>
              <a:rPr lang="en-US" sz="1400" dirty="0">
                <a:solidFill>
                  <a:srgbClr val="333B4F"/>
                </a:solidFill>
                <a:latin typeface="Calibri" pitchFamily="34" charset="0"/>
                <a:ea typeface="Calibri" pitchFamily="34" charset="-122"/>
                <a:cs typeface="Calibri" pitchFamily="34" charset="-120"/>
              </a:rPr>
              <a:t> — b[0] = 9 also changes a[0]. Copy with a loop or Clone().</a:t>
            </a:r>
            <a:endParaRPr lang="en-US" sz="14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REVIEW 8 · WEEK 11</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Matrices: rows × columns, nested loops</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14</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32</a:t>
            </a:r>
            <a:endParaRPr lang="en-US" sz="1000" dirty="0"/>
          </a:p>
        </p:txBody>
      </p:sp>
      <p:sp>
        <p:nvSpPr>
          <p:cNvPr id="7" name="Shape 4"/>
          <p:cNvSpPr/>
          <p:nvPr/>
        </p:nvSpPr>
        <p:spPr>
          <a:xfrm>
            <a:off x="1371600" y="2103120"/>
            <a:ext cx="822960" cy="685800"/>
          </a:xfrm>
          <a:prstGeom prst="rect">
            <a:avLst/>
          </a:prstGeom>
          <a:solidFill>
            <a:srgbClr val="FFFFFF"/>
          </a:solidFill>
          <a:ln w="9525">
            <a:solidFill>
              <a:srgbClr val="8A94AB"/>
            </a:solidFill>
            <a:prstDash val="solid"/>
          </a:ln>
        </p:spPr>
      </p:sp>
      <p:sp>
        <p:nvSpPr>
          <p:cNvPr id="8" name="Text 5"/>
          <p:cNvSpPr txBox="1"/>
          <p:nvPr/>
        </p:nvSpPr>
        <p:spPr>
          <a:xfrm>
            <a:off x="1371600" y="2103120"/>
            <a:ext cx="822960" cy="685800"/>
          </a:xfrm>
          <a:prstGeom prst="rect">
            <a:avLst/>
          </a:prstGeom>
          <a:noFill/>
          <a:ln/>
        </p:spPr>
        <p:txBody>
          <a:bodyPr wrap="square" lIns="0" tIns="0" rIns="0" bIns="0" rtlCol="0" anchor="ctr"/>
          <a:lstStyle/>
          <a:p>
            <a:pPr algn="ctr" indent="0" marL="0">
              <a:buNone/>
            </a:pPr>
            <a:r>
              <a:rPr lang="en-US" sz="1800" b="1" dirty="0">
                <a:solidFill>
                  <a:srgbClr val="333B4F"/>
                </a:solidFill>
                <a:latin typeface="Courier New" pitchFamily="34" charset="0"/>
                <a:ea typeface="Courier New" pitchFamily="34" charset="-122"/>
                <a:cs typeface="Courier New" pitchFamily="34" charset="-120"/>
              </a:rPr>
              <a:t>1</a:t>
            </a:r>
            <a:endParaRPr lang="en-US" sz="1800" dirty="0"/>
          </a:p>
        </p:txBody>
      </p:sp>
      <p:sp>
        <p:nvSpPr>
          <p:cNvPr id="9" name="Shape 6"/>
          <p:cNvSpPr/>
          <p:nvPr/>
        </p:nvSpPr>
        <p:spPr>
          <a:xfrm>
            <a:off x="2194560" y="2103120"/>
            <a:ext cx="822960" cy="685800"/>
          </a:xfrm>
          <a:prstGeom prst="rect">
            <a:avLst/>
          </a:prstGeom>
          <a:solidFill>
            <a:srgbClr val="FFFFFF"/>
          </a:solidFill>
          <a:ln w="9525">
            <a:solidFill>
              <a:srgbClr val="8A94AB"/>
            </a:solidFill>
            <a:prstDash val="solid"/>
          </a:ln>
        </p:spPr>
      </p:sp>
      <p:sp>
        <p:nvSpPr>
          <p:cNvPr id="10" name="Text 7"/>
          <p:cNvSpPr txBox="1"/>
          <p:nvPr/>
        </p:nvSpPr>
        <p:spPr>
          <a:xfrm>
            <a:off x="2194560" y="2103120"/>
            <a:ext cx="822960" cy="685800"/>
          </a:xfrm>
          <a:prstGeom prst="rect">
            <a:avLst/>
          </a:prstGeom>
          <a:noFill/>
          <a:ln/>
        </p:spPr>
        <p:txBody>
          <a:bodyPr wrap="square" lIns="0" tIns="0" rIns="0" bIns="0" rtlCol="0" anchor="ctr"/>
          <a:lstStyle/>
          <a:p>
            <a:pPr algn="ctr" indent="0" marL="0">
              <a:buNone/>
            </a:pPr>
            <a:r>
              <a:rPr lang="en-US" sz="1800" b="1" dirty="0">
                <a:solidFill>
                  <a:srgbClr val="333B4F"/>
                </a:solidFill>
                <a:latin typeface="Courier New" pitchFamily="34" charset="0"/>
                <a:ea typeface="Courier New" pitchFamily="34" charset="-122"/>
                <a:cs typeface="Courier New" pitchFamily="34" charset="-120"/>
              </a:rPr>
              <a:t>2</a:t>
            </a:r>
            <a:endParaRPr lang="en-US" sz="1800" dirty="0"/>
          </a:p>
        </p:txBody>
      </p:sp>
      <p:sp>
        <p:nvSpPr>
          <p:cNvPr id="11" name="Shape 8"/>
          <p:cNvSpPr/>
          <p:nvPr/>
        </p:nvSpPr>
        <p:spPr>
          <a:xfrm>
            <a:off x="3017520" y="2103120"/>
            <a:ext cx="822960" cy="685800"/>
          </a:xfrm>
          <a:prstGeom prst="rect">
            <a:avLst/>
          </a:prstGeom>
          <a:solidFill>
            <a:srgbClr val="FFFFFF"/>
          </a:solidFill>
          <a:ln w="9525">
            <a:solidFill>
              <a:srgbClr val="8A94AB"/>
            </a:solidFill>
            <a:prstDash val="solid"/>
          </a:ln>
        </p:spPr>
      </p:sp>
      <p:sp>
        <p:nvSpPr>
          <p:cNvPr id="12" name="Text 9"/>
          <p:cNvSpPr txBox="1"/>
          <p:nvPr/>
        </p:nvSpPr>
        <p:spPr>
          <a:xfrm>
            <a:off x="3017520" y="2103120"/>
            <a:ext cx="822960" cy="685800"/>
          </a:xfrm>
          <a:prstGeom prst="rect">
            <a:avLst/>
          </a:prstGeom>
          <a:noFill/>
          <a:ln/>
        </p:spPr>
        <p:txBody>
          <a:bodyPr wrap="square" lIns="0" tIns="0" rIns="0" bIns="0" rtlCol="0" anchor="ctr"/>
          <a:lstStyle/>
          <a:p>
            <a:pPr algn="ctr" indent="0" marL="0">
              <a:buNone/>
            </a:pPr>
            <a:r>
              <a:rPr lang="en-US" sz="1800" b="1" dirty="0">
                <a:solidFill>
                  <a:srgbClr val="333B4F"/>
                </a:solidFill>
                <a:latin typeface="Courier New" pitchFamily="34" charset="0"/>
                <a:ea typeface="Courier New" pitchFamily="34" charset="-122"/>
                <a:cs typeface="Courier New" pitchFamily="34" charset="-120"/>
              </a:rPr>
              <a:t>3</a:t>
            </a:r>
            <a:endParaRPr lang="en-US" sz="1800" dirty="0"/>
          </a:p>
        </p:txBody>
      </p:sp>
      <p:sp>
        <p:nvSpPr>
          <p:cNvPr id="13" name="Shape 10"/>
          <p:cNvSpPr/>
          <p:nvPr/>
        </p:nvSpPr>
        <p:spPr>
          <a:xfrm>
            <a:off x="1371600" y="2788920"/>
            <a:ext cx="822960" cy="685800"/>
          </a:xfrm>
          <a:prstGeom prst="rect">
            <a:avLst/>
          </a:prstGeom>
          <a:solidFill>
            <a:srgbClr val="FFFFFF"/>
          </a:solidFill>
          <a:ln w="9525">
            <a:solidFill>
              <a:srgbClr val="8A94AB"/>
            </a:solidFill>
            <a:prstDash val="solid"/>
          </a:ln>
        </p:spPr>
      </p:sp>
      <p:sp>
        <p:nvSpPr>
          <p:cNvPr id="14" name="Text 11"/>
          <p:cNvSpPr txBox="1"/>
          <p:nvPr/>
        </p:nvSpPr>
        <p:spPr>
          <a:xfrm>
            <a:off x="1371600" y="2788920"/>
            <a:ext cx="822960" cy="685800"/>
          </a:xfrm>
          <a:prstGeom prst="rect">
            <a:avLst/>
          </a:prstGeom>
          <a:noFill/>
          <a:ln/>
        </p:spPr>
        <p:txBody>
          <a:bodyPr wrap="square" lIns="0" tIns="0" rIns="0" bIns="0" rtlCol="0" anchor="ctr"/>
          <a:lstStyle/>
          <a:p>
            <a:pPr algn="ctr" indent="0" marL="0">
              <a:buNone/>
            </a:pPr>
            <a:r>
              <a:rPr lang="en-US" sz="1800" b="1" dirty="0">
                <a:solidFill>
                  <a:srgbClr val="333B4F"/>
                </a:solidFill>
                <a:latin typeface="Courier New" pitchFamily="34" charset="0"/>
                <a:ea typeface="Courier New" pitchFamily="34" charset="-122"/>
                <a:cs typeface="Courier New" pitchFamily="34" charset="-120"/>
              </a:rPr>
              <a:t>4</a:t>
            </a:r>
            <a:endParaRPr lang="en-US" sz="1800" dirty="0"/>
          </a:p>
        </p:txBody>
      </p:sp>
      <p:sp>
        <p:nvSpPr>
          <p:cNvPr id="15" name="Shape 12"/>
          <p:cNvSpPr/>
          <p:nvPr/>
        </p:nvSpPr>
        <p:spPr>
          <a:xfrm>
            <a:off x="2194560" y="2788920"/>
            <a:ext cx="822960" cy="685800"/>
          </a:xfrm>
          <a:prstGeom prst="rect">
            <a:avLst/>
          </a:prstGeom>
          <a:solidFill>
            <a:srgbClr val="FFFFFF"/>
          </a:solidFill>
          <a:ln w="9525">
            <a:solidFill>
              <a:srgbClr val="8A94AB"/>
            </a:solidFill>
            <a:prstDash val="solid"/>
          </a:ln>
        </p:spPr>
      </p:sp>
      <p:sp>
        <p:nvSpPr>
          <p:cNvPr id="16" name="Text 13"/>
          <p:cNvSpPr txBox="1"/>
          <p:nvPr/>
        </p:nvSpPr>
        <p:spPr>
          <a:xfrm>
            <a:off x="2194560" y="2788920"/>
            <a:ext cx="822960" cy="685800"/>
          </a:xfrm>
          <a:prstGeom prst="rect">
            <a:avLst/>
          </a:prstGeom>
          <a:noFill/>
          <a:ln/>
        </p:spPr>
        <p:txBody>
          <a:bodyPr wrap="square" lIns="0" tIns="0" rIns="0" bIns="0" rtlCol="0" anchor="ctr"/>
          <a:lstStyle/>
          <a:p>
            <a:pPr algn="ctr" indent="0" marL="0">
              <a:buNone/>
            </a:pPr>
            <a:r>
              <a:rPr lang="en-US" sz="1800" b="1" dirty="0">
                <a:solidFill>
                  <a:srgbClr val="333B4F"/>
                </a:solidFill>
                <a:latin typeface="Courier New" pitchFamily="34" charset="0"/>
                <a:ea typeface="Courier New" pitchFamily="34" charset="-122"/>
                <a:cs typeface="Courier New" pitchFamily="34" charset="-120"/>
              </a:rPr>
              <a:t>5</a:t>
            </a:r>
            <a:endParaRPr lang="en-US" sz="1800" dirty="0"/>
          </a:p>
        </p:txBody>
      </p:sp>
      <p:sp>
        <p:nvSpPr>
          <p:cNvPr id="17" name="Shape 14"/>
          <p:cNvSpPr/>
          <p:nvPr/>
        </p:nvSpPr>
        <p:spPr>
          <a:xfrm>
            <a:off x="3017520" y="2788920"/>
            <a:ext cx="822960" cy="685800"/>
          </a:xfrm>
          <a:prstGeom prst="rect">
            <a:avLst/>
          </a:prstGeom>
          <a:solidFill>
            <a:srgbClr val="FFF1D6"/>
          </a:solidFill>
          <a:ln w="9525">
            <a:solidFill>
              <a:srgbClr val="8A94AB"/>
            </a:solidFill>
            <a:prstDash val="solid"/>
          </a:ln>
        </p:spPr>
      </p:sp>
      <p:sp>
        <p:nvSpPr>
          <p:cNvPr id="18" name="Text 15"/>
          <p:cNvSpPr txBox="1"/>
          <p:nvPr/>
        </p:nvSpPr>
        <p:spPr>
          <a:xfrm>
            <a:off x="3017520" y="2788920"/>
            <a:ext cx="822960" cy="685800"/>
          </a:xfrm>
          <a:prstGeom prst="rect">
            <a:avLst/>
          </a:prstGeom>
          <a:noFill/>
          <a:ln/>
        </p:spPr>
        <p:txBody>
          <a:bodyPr wrap="square" lIns="0" tIns="0" rIns="0" bIns="0" rtlCol="0" anchor="ctr"/>
          <a:lstStyle/>
          <a:p>
            <a:pPr algn="ctr" indent="0" marL="0">
              <a:buNone/>
            </a:pPr>
            <a:r>
              <a:rPr lang="en-US" sz="1800" b="1" dirty="0">
                <a:solidFill>
                  <a:srgbClr val="333B4F"/>
                </a:solidFill>
                <a:latin typeface="Courier New" pitchFamily="34" charset="0"/>
                <a:ea typeface="Courier New" pitchFamily="34" charset="-122"/>
                <a:cs typeface="Courier New" pitchFamily="34" charset="-120"/>
              </a:rPr>
              <a:t>6</a:t>
            </a:r>
            <a:endParaRPr lang="en-US" sz="1800" dirty="0"/>
          </a:p>
        </p:txBody>
      </p:sp>
      <p:sp>
        <p:nvSpPr>
          <p:cNvPr id="19" name="Text 16"/>
          <p:cNvSpPr txBox="1"/>
          <p:nvPr/>
        </p:nvSpPr>
        <p:spPr>
          <a:xfrm>
            <a:off x="1371600" y="1737360"/>
            <a:ext cx="822960" cy="320040"/>
          </a:xfrm>
          <a:prstGeom prst="rect">
            <a:avLst/>
          </a:prstGeom>
          <a:noFill/>
          <a:ln/>
        </p:spPr>
        <p:txBody>
          <a:bodyPr wrap="square" lIns="0" tIns="0" rIns="0" bIns="0" rtlCol="0" anchor="ctr"/>
          <a:lstStyle/>
          <a:p>
            <a:pPr algn="ctr" indent="0" marL="0">
              <a:buNone/>
            </a:pPr>
            <a:r>
              <a:rPr lang="en-US" sz="1300" dirty="0">
                <a:solidFill>
                  <a:srgbClr val="5B6478"/>
                </a:solidFill>
                <a:latin typeface="Courier New" pitchFamily="34" charset="0"/>
                <a:ea typeface="Courier New" pitchFamily="34" charset="-122"/>
                <a:cs typeface="Courier New" pitchFamily="34" charset="-120"/>
              </a:rPr>
              <a:t>c=0</a:t>
            </a:r>
            <a:endParaRPr lang="en-US" sz="1300" dirty="0"/>
          </a:p>
        </p:txBody>
      </p:sp>
      <p:sp>
        <p:nvSpPr>
          <p:cNvPr id="20" name="Text 17"/>
          <p:cNvSpPr txBox="1"/>
          <p:nvPr/>
        </p:nvSpPr>
        <p:spPr>
          <a:xfrm>
            <a:off x="2194560" y="1737360"/>
            <a:ext cx="822960" cy="320040"/>
          </a:xfrm>
          <a:prstGeom prst="rect">
            <a:avLst/>
          </a:prstGeom>
          <a:noFill/>
          <a:ln/>
        </p:spPr>
        <p:txBody>
          <a:bodyPr wrap="square" lIns="0" tIns="0" rIns="0" bIns="0" rtlCol="0" anchor="ctr"/>
          <a:lstStyle/>
          <a:p>
            <a:pPr algn="ctr" indent="0" marL="0">
              <a:buNone/>
            </a:pPr>
            <a:r>
              <a:rPr lang="en-US" sz="1300" dirty="0">
                <a:solidFill>
                  <a:srgbClr val="5B6478"/>
                </a:solidFill>
                <a:latin typeface="Courier New" pitchFamily="34" charset="0"/>
                <a:ea typeface="Courier New" pitchFamily="34" charset="-122"/>
                <a:cs typeface="Courier New" pitchFamily="34" charset="-120"/>
              </a:rPr>
              <a:t>c=1</a:t>
            </a:r>
            <a:endParaRPr lang="en-US" sz="1300" dirty="0"/>
          </a:p>
        </p:txBody>
      </p:sp>
      <p:sp>
        <p:nvSpPr>
          <p:cNvPr id="21" name="Text 18"/>
          <p:cNvSpPr txBox="1"/>
          <p:nvPr/>
        </p:nvSpPr>
        <p:spPr>
          <a:xfrm>
            <a:off x="3017520" y="1737360"/>
            <a:ext cx="822960" cy="320040"/>
          </a:xfrm>
          <a:prstGeom prst="rect">
            <a:avLst/>
          </a:prstGeom>
          <a:noFill/>
          <a:ln/>
        </p:spPr>
        <p:txBody>
          <a:bodyPr wrap="square" lIns="0" tIns="0" rIns="0" bIns="0" rtlCol="0" anchor="ctr"/>
          <a:lstStyle/>
          <a:p>
            <a:pPr algn="ctr" indent="0" marL="0">
              <a:buNone/>
            </a:pPr>
            <a:r>
              <a:rPr lang="en-US" sz="1300" dirty="0">
                <a:solidFill>
                  <a:srgbClr val="5B6478"/>
                </a:solidFill>
                <a:latin typeface="Courier New" pitchFamily="34" charset="0"/>
                <a:ea typeface="Courier New" pitchFamily="34" charset="-122"/>
                <a:cs typeface="Courier New" pitchFamily="34" charset="-120"/>
              </a:rPr>
              <a:t>c=2</a:t>
            </a:r>
            <a:endParaRPr lang="en-US" sz="1300" dirty="0"/>
          </a:p>
        </p:txBody>
      </p:sp>
      <p:sp>
        <p:nvSpPr>
          <p:cNvPr id="22" name="Text 19"/>
          <p:cNvSpPr txBox="1"/>
          <p:nvPr/>
        </p:nvSpPr>
        <p:spPr>
          <a:xfrm>
            <a:off x="594360" y="2103120"/>
            <a:ext cx="731520" cy="685800"/>
          </a:xfrm>
          <a:prstGeom prst="rect">
            <a:avLst/>
          </a:prstGeom>
          <a:noFill/>
          <a:ln/>
        </p:spPr>
        <p:txBody>
          <a:bodyPr wrap="square" lIns="0" tIns="0" rIns="0" bIns="0" rtlCol="0" anchor="ctr"/>
          <a:lstStyle/>
          <a:p>
            <a:pPr indent="0" marL="0">
              <a:buNone/>
            </a:pPr>
            <a:r>
              <a:rPr lang="en-US" sz="1300" dirty="0">
                <a:solidFill>
                  <a:srgbClr val="5B6478"/>
                </a:solidFill>
                <a:latin typeface="Courier New" pitchFamily="34" charset="0"/>
                <a:ea typeface="Courier New" pitchFamily="34" charset="-122"/>
                <a:cs typeface="Courier New" pitchFamily="34" charset="-120"/>
              </a:rPr>
              <a:t>r=0</a:t>
            </a:r>
            <a:endParaRPr lang="en-US" sz="1300" dirty="0"/>
          </a:p>
        </p:txBody>
      </p:sp>
      <p:sp>
        <p:nvSpPr>
          <p:cNvPr id="23" name="Text 20"/>
          <p:cNvSpPr txBox="1"/>
          <p:nvPr/>
        </p:nvSpPr>
        <p:spPr>
          <a:xfrm>
            <a:off x="594360" y="2788920"/>
            <a:ext cx="731520" cy="685800"/>
          </a:xfrm>
          <a:prstGeom prst="rect">
            <a:avLst/>
          </a:prstGeom>
          <a:noFill/>
          <a:ln/>
        </p:spPr>
        <p:txBody>
          <a:bodyPr wrap="square" lIns="0" tIns="0" rIns="0" bIns="0" rtlCol="0" anchor="ctr"/>
          <a:lstStyle/>
          <a:p>
            <a:pPr indent="0" marL="0">
              <a:buNone/>
            </a:pPr>
            <a:r>
              <a:rPr lang="en-US" sz="1300" dirty="0">
                <a:solidFill>
                  <a:srgbClr val="5B6478"/>
                </a:solidFill>
                <a:latin typeface="Courier New" pitchFamily="34" charset="0"/>
                <a:ea typeface="Courier New" pitchFamily="34" charset="-122"/>
                <a:cs typeface="Courier New" pitchFamily="34" charset="-120"/>
              </a:rPr>
              <a:t>r=1</a:t>
            </a:r>
            <a:endParaRPr lang="en-US" sz="1300" dirty="0"/>
          </a:p>
        </p:txBody>
      </p:sp>
      <p:sp>
        <p:nvSpPr>
          <p:cNvPr id="24" name="Text 21"/>
          <p:cNvSpPr txBox="1"/>
          <p:nvPr/>
        </p:nvSpPr>
        <p:spPr>
          <a:xfrm>
            <a:off x="548640" y="3611880"/>
            <a:ext cx="4297680" cy="365760"/>
          </a:xfrm>
          <a:prstGeom prst="rect">
            <a:avLst/>
          </a:prstGeom>
          <a:noFill/>
          <a:ln/>
        </p:spPr>
        <p:txBody>
          <a:bodyPr wrap="square" lIns="0" tIns="0" rIns="0" bIns="0" rtlCol="0" anchor="ctr"/>
          <a:lstStyle/>
          <a:p>
            <a:pPr indent="0" marL="0">
              <a:buNone/>
            </a:pPr>
            <a:r>
              <a:rPr lang="en-US" sz="1400" b="1" dirty="0">
                <a:solidFill>
                  <a:srgbClr val="14213D"/>
                </a:solidFill>
                <a:latin typeface="Courier New" pitchFamily="34" charset="0"/>
                <a:ea typeface="Courier New" pitchFamily="34" charset="-122"/>
                <a:cs typeface="Courier New" pitchFamily="34" charset="-120"/>
              </a:rPr>
              <a:t>m[1, 2]</a:t>
            </a:r>
            <a:pPr indent="0" marL="0">
              <a:buNone/>
            </a:pPr>
            <a:r>
              <a:rPr lang="en-US" sz="1400" dirty="0">
                <a:solidFill>
                  <a:srgbClr val="333B4F"/>
                </a:solidFill>
                <a:latin typeface="Calibri" pitchFamily="34" charset="0"/>
                <a:ea typeface="Calibri" pitchFamily="34" charset="-122"/>
                <a:cs typeface="Calibri" pitchFamily="34" charset="-120"/>
              </a:rPr>
              <a:t> = 6   (row 1, column 2)</a:t>
            </a:r>
            <a:endParaRPr lang="en-US" sz="1400" dirty="0"/>
          </a:p>
        </p:txBody>
      </p:sp>
      <p:sp>
        <p:nvSpPr>
          <p:cNvPr id="25" name="Text 22"/>
          <p:cNvSpPr txBox="1"/>
          <p:nvPr/>
        </p:nvSpPr>
        <p:spPr>
          <a:xfrm>
            <a:off x="548640" y="4023360"/>
            <a:ext cx="4297680" cy="640080"/>
          </a:xfrm>
          <a:prstGeom prst="rect">
            <a:avLst/>
          </a:prstGeom>
          <a:noFill/>
          <a:ln/>
        </p:spPr>
        <p:txBody>
          <a:bodyPr wrap="square" lIns="0" tIns="0" rIns="0" bIns="0" rtlCol="0" anchor="t"/>
          <a:lstStyle/>
          <a:p>
            <a:pPr indent="0" marL="0">
              <a:buNone/>
            </a:pPr>
            <a:r>
              <a:rPr lang="en-US" sz="1400" b="1" dirty="0">
                <a:solidFill>
                  <a:srgbClr val="14213D"/>
                </a:solidFill>
                <a:latin typeface="Courier New" pitchFamily="34" charset="0"/>
                <a:ea typeface="Courier New" pitchFamily="34" charset="-122"/>
                <a:cs typeface="Courier New" pitchFamily="34" charset="-120"/>
              </a:rPr>
              <a:t>GetLength(0)</a:t>
            </a:r>
            <a:pPr indent="0" marL="0">
              <a:buNone/>
            </a:pPr>
            <a:r>
              <a:rPr lang="en-US" sz="1400" dirty="0">
                <a:solidFill>
                  <a:srgbClr val="333B4F"/>
                </a:solidFill>
                <a:latin typeface="Calibri" pitchFamily="34" charset="0"/>
                <a:ea typeface="Calibri" pitchFamily="34" charset="-122"/>
                <a:cs typeface="Calibri" pitchFamily="34" charset="-120"/>
              </a:rPr>
              <a:t> = 2 rows,  </a:t>
            </a:r>
            <a:pPr indent="0" marL="0">
              <a:buNone/>
            </a:pPr>
            <a:r>
              <a:rPr lang="en-US" sz="1400" b="1" dirty="0">
                <a:solidFill>
                  <a:srgbClr val="14213D"/>
                </a:solidFill>
                <a:latin typeface="Courier New" pitchFamily="34" charset="0"/>
                <a:ea typeface="Courier New" pitchFamily="34" charset="-122"/>
                <a:cs typeface="Courier New" pitchFamily="34" charset="-120"/>
              </a:rPr>
              <a:t>GetLength(1)</a:t>
            </a:r>
            <a:pPr indent="0" marL="0">
              <a:buNone/>
            </a:pPr>
            <a:r>
              <a:rPr lang="en-US" sz="1400" dirty="0">
                <a:solidFill>
                  <a:srgbClr val="333B4F"/>
                </a:solidFill>
                <a:latin typeface="Calibri" pitchFamily="34" charset="0"/>
                <a:ea typeface="Calibri" pitchFamily="34" charset="-122"/>
                <a:cs typeface="Calibri" pitchFamily="34" charset="-120"/>
              </a:rPr>
              <a:t> = 3 columns</a:t>
            </a:r>
            <a:endParaRPr lang="en-US" sz="1400" dirty="0"/>
          </a:p>
        </p:txBody>
      </p:sp>
      <p:sp>
        <p:nvSpPr>
          <p:cNvPr id="26" name="Shape 23"/>
          <p:cNvSpPr/>
          <p:nvPr/>
        </p:nvSpPr>
        <p:spPr>
          <a:xfrm>
            <a:off x="5029200" y="1645920"/>
            <a:ext cx="6629400" cy="3291840"/>
          </a:xfrm>
          <a:prstGeom prst="roundRect">
            <a:avLst>
              <a:gd name="adj" fmla="val 2778"/>
            </a:avLst>
          </a:prstGeom>
          <a:solidFill>
            <a:srgbClr val="0F1729"/>
          </a:solidFill>
          <a:ln w="12700">
            <a:solidFill>
              <a:srgbClr val="0F1729"/>
            </a:solidFill>
            <a:prstDash val="solid"/>
          </a:ln>
        </p:spPr>
      </p:sp>
      <p:sp>
        <p:nvSpPr>
          <p:cNvPr id="27" name="Text 24"/>
          <p:cNvSpPr txBox="1"/>
          <p:nvPr/>
        </p:nvSpPr>
        <p:spPr>
          <a:xfrm>
            <a:off x="5257800" y="1755648"/>
            <a:ext cx="617220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row sums · outer rows, inner columns</a:t>
            </a:r>
            <a:endParaRPr lang="en-US" sz="1100" dirty="0"/>
          </a:p>
        </p:txBody>
      </p:sp>
      <p:sp>
        <p:nvSpPr>
          <p:cNvPr id="28" name="Text 25"/>
          <p:cNvSpPr txBox="1"/>
          <p:nvPr/>
        </p:nvSpPr>
        <p:spPr>
          <a:xfrm>
            <a:off x="5257800" y="2057400"/>
            <a:ext cx="6172200" cy="2770632"/>
          </a:xfrm>
          <a:prstGeom prst="rect">
            <a:avLst/>
          </a:prstGeom>
          <a:noFill/>
          <a:ln/>
        </p:spPr>
        <p:txBody>
          <a:bodyPr wrap="square" lIns="0" tIns="0" rIns="0" bIns="0" rtlCol="0" anchor="t"/>
          <a:lstStyle/>
          <a:p>
            <a:pPr indent="0" marL="0">
              <a:spcAft>
                <a:spcPts val="100"/>
              </a:spcAft>
              <a:buNone/>
            </a:pPr>
            <a:r>
              <a:rPr lang="en-US" sz="1300" dirty="0">
                <a:solidFill>
                  <a:srgbClr val="7AB8FF"/>
                </a:solidFill>
                <a:latin typeface="Courier New" pitchFamily="34" charset="0"/>
                <a:ea typeface="Courier New" pitchFamily="34" charset="-122"/>
                <a:cs typeface="Courier New" pitchFamily="34" charset="-120"/>
              </a:rPr>
              <a:t>for</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r =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r &lt; m.GetLength(</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r++)</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rowSum =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7F8BA3"/>
                </a:solidFill>
                <a:latin typeface="Courier New" pitchFamily="34" charset="0"/>
                <a:ea typeface="Courier New" pitchFamily="34" charset="-122"/>
                <a:cs typeface="Courier New" pitchFamily="34" charset="-120"/>
              </a:rPr>
              <a:t>// reset per row</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7AB8FF"/>
                </a:solidFill>
                <a:latin typeface="Courier New" pitchFamily="34" charset="0"/>
                <a:ea typeface="Courier New" pitchFamily="34" charset="-122"/>
                <a:cs typeface="Courier New" pitchFamily="34" charset="-120"/>
              </a:rPr>
              <a:t>for</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c =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c &lt; m.GetLength(</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c++)</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rowSum += m[r, c];</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300" dirty="0">
                <a:solidFill>
                  <a:srgbClr val="CE9178"/>
                </a:solidFill>
                <a:latin typeface="Courier New" pitchFamily="34" charset="0"/>
                <a:ea typeface="Courier New" pitchFamily="34" charset="-122"/>
                <a:cs typeface="Courier New" pitchFamily="34" charset="-120"/>
              </a:rPr>
              <a:t>$"row {r}: {rowSum}"</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p:txBody>
      </p:sp>
      <p:sp>
        <p:nvSpPr>
          <p:cNvPr id="29" name="Shape 26"/>
          <p:cNvSpPr/>
          <p:nvPr/>
        </p:nvSpPr>
        <p:spPr>
          <a:xfrm>
            <a:off x="548640" y="5074920"/>
            <a:ext cx="11109960" cy="1005840"/>
          </a:xfrm>
          <a:prstGeom prst="roundRect">
            <a:avLst>
              <a:gd name="adj" fmla="val 10909"/>
            </a:avLst>
          </a:prstGeom>
          <a:solidFill>
            <a:srgbClr val="FFF6E3"/>
          </a:solidFill>
          <a:ln w="12700">
            <a:solidFill>
              <a:srgbClr val="FFF6E3"/>
            </a:solidFill>
            <a:prstDash val="solid"/>
          </a:ln>
        </p:spPr>
      </p:sp>
      <p:pic>
        <p:nvPicPr>
          <p:cNvPr id="30" name="Image 0" descr="preencoded.png">    </p:cNvPr>
          <p:cNvPicPr>
            <a:picLocks noChangeAspect="1"/>
          </p:cNvPicPr>
          <p:nvPr/>
        </p:nvPicPr>
        <p:blipFill>
          <a:blip r:embed="rId1"/>
          <a:stretch>
            <a:fillRect/>
          </a:stretch>
        </p:blipFill>
        <p:spPr>
          <a:xfrm>
            <a:off x="822960" y="5303520"/>
            <a:ext cx="548640" cy="548640"/>
          </a:xfrm>
          <a:prstGeom prst="rect">
            <a:avLst/>
          </a:prstGeom>
        </p:spPr>
      </p:pic>
      <p:sp>
        <p:nvSpPr>
          <p:cNvPr id="31" name="Text 27"/>
          <p:cNvSpPr txBox="1"/>
          <p:nvPr/>
        </p:nvSpPr>
        <p:spPr>
          <a:xfrm>
            <a:off x="1645920" y="5148072"/>
            <a:ext cx="9738360" cy="859536"/>
          </a:xfrm>
          <a:prstGeom prst="rect">
            <a:avLst/>
          </a:prstGeom>
          <a:noFill/>
          <a:ln/>
        </p:spPr>
        <p:txBody>
          <a:bodyPr wrap="square" lIns="0" tIns="0" rIns="0" bIns="0" rtlCol="0" anchor="ctr"/>
          <a:lstStyle/>
          <a:p>
            <a:pPr indent="0" marL="0">
              <a:buNone/>
            </a:pPr>
            <a:r>
              <a:rPr lang="en-US" sz="1400" b="1" dirty="0">
                <a:solidFill>
                  <a:srgbClr val="14213D"/>
                </a:solidFill>
                <a:latin typeface="Calibri" pitchFamily="34" charset="0"/>
                <a:ea typeface="Calibri" pitchFamily="34" charset="-122"/>
                <a:cs typeface="Calibri" pitchFamily="34" charset="-120"/>
              </a:rPr>
              <a:t>Typical uses: </a:t>
            </a:r>
            <a:pPr indent="0" marL="0">
              <a:buNone/>
            </a:pPr>
            <a:r>
              <a:rPr lang="en-US" sz="1400" dirty="0">
                <a:solidFill>
                  <a:srgbClr val="333B4F"/>
                </a:solidFill>
                <a:latin typeface="Calibri" pitchFamily="34" charset="0"/>
                <a:ea typeface="Calibri" pitchFamily="34" charset="-122"/>
                <a:cs typeface="Calibri" pitchFamily="34" charset="-120"/>
              </a:rPr>
              <a:t>grade books (students × exams), seat plans, game boards, images — and a CSV file is a matrix written as text!</a:t>
            </a:r>
            <a:endParaRPr lang="en-US" sz="14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REVIEW 9 · WEEKS 12–13</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Methods: parameters, return, scope</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14</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33</a:t>
            </a:r>
            <a:endParaRPr lang="en-US" sz="1000" dirty="0"/>
          </a:p>
        </p:txBody>
      </p:sp>
      <p:sp>
        <p:nvSpPr>
          <p:cNvPr id="7" name="Shape 4"/>
          <p:cNvSpPr/>
          <p:nvPr/>
        </p:nvSpPr>
        <p:spPr>
          <a:xfrm>
            <a:off x="548640" y="1645920"/>
            <a:ext cx="5669280" cy="2194560"/>
          </a:xfrm>
          <a:prstGeom prst="roundRect">
            <a:avLst>
              <a:gd name="adj" fmla="val 4167"/>
            </a:avLst>
          </a:prstGeom>
          <a:solidFill>
            <a:srgbClr val="0F1729"/>
          </a:solidFill>
          <a:ln w="12700">
            <a:solidFill>
              <a:srgbClr val="0F1729"/>
            </a:solidFill>
            <a:prstDash val="solid"/>
          </a:ln>
        </p:spPr>
      </p:sp>
      <p:sp>
        <p:nvSpPr>
          <p:cNvPr id="8" name="Text 5"/>
          <p:cNvSpPr txBox="1"/>
          <p:nvPr/>
        </p:nvSpPr>
        <p:spPr>
          <a:xfrm>
            <a:off x="777240" y="1755648"/>
            <a:ext cx="521208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Example 12 · a pure, value-returning method</a:t>
            </a:r>
            <a:endParaRPr lang="en-US" sz="1100" dirty="0"/>
          </a:p>
        </p:txBody>
      </p:sp>
      <p:sp>
        <p:nvSpPr>
          <p:cNvPr id="9" name="Text 6"/>
          <p:cNvSpPr txBox="1"/>
          <p:nvPr/>
        </p:nvSpPr>
        <p:spPr>
          <a:xfrm>
            <a:off x="777240" y="2057400"/>
            <a:ext cx="5212080" cy="1673352"/>
          </a:xfrm>
          <a:prstGeom prst="rect">
            <a:avLst/>
          </a:prstGeom>
          <a:noFill/>
          <a:ln/>
        </p:spPr>
        <p:txBody>
          <a:bodyPr wrap="square" lIns="0" tIns="0" rIns="0" bIns="0" rtlCol="0" anchor="t"/>
          <a:lstStyle/>
          <a:p>
            <a:pPr indent="0" marL="0">
              <a:spcAft>
                <a:spcPts val="100"/>
              </a:spcAft>
              <a:buNone/>
            </a:pPr>
            <a:r>
              <a:rPr lang="en-US" sz="1400" dirty="0">
                <a:solidFill>
                  <a:srgbClr val="7AB8FF"/>
                </a:solidFill>
                <a:latin typeface="Courier New" pitchFamily="34" charset="0"/>
                <a:ea typeface="Courier New" pitchFamily="34" charset="-122"/>
                <a:cs typeface="Courier New" pitchFamily="34" charset="-120"/>
              </a:rPr>
              <a:t>static</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400" dirty="0">
                <a:solidFill>
                  <a:srgbClr val="4EC9B0"/>
                </a:solidFill>
                <a:latin typeface="Courier New" pitchFamily="34" charset="0"/>
                <a:ea typeface="Courier New" pitchFamily="34" charset="-122"/>
                <a:cs typeface="Courier New" pitchFamily="34" charset="-120"/>
              </a:rPr>
              <a:t>double</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Average(</a:t>
            </a:r>
            <a:pPr indent="0" marL="0">
              <a:spcAft>
                <a:spcPts val="100"/>
              </a:spcAft>
              <a:buNone/>
            </a:pPr>
            <a:r>
              <a:rPr lang="en-US" sz="14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midterm, </a:t>
            </a:r>
            <a:pPr indent="0" marL="0">
              <a:spcAft>
                <a:spcPts val="100"/>
              </a:spcAft>
              <a:buNone/>
            </a:pPr>
            <a:r>
              <a:rPr lang="en-US" sz="14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final)</a:t>
            </a:r>
            <a:endParaRPr lang="en-US" sz="1400" dirty="0"/>
          </a:p>
          <a:p>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a:t>
            </a:r>
            <a:endParaRPr lang="en-US" sz="1400" dirty="0"/>
          </a:p>
          <a:p>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400" dirty="0">
                <a:solidFill>
                  <a:srgbClr val="7AB8FF"/>
                </a:solidFill>
                <a:latin typeface="Courier New" pitchFamily="34" charset="0"/>
                <a:ea typeface="Courier New" pitchFamily="34" charset="-122"/>
                <a:cs typeface="Courier New" pitchFamily="34" charset="-120"/>
              </a:rPr>
              <a:t>return</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400" dirty="0">
                <a:solidFill>
                  <a:srgbClr val="B5CEA8"/>
                </a:solidFill>
                <a:latin typeface="Courier New" pitchFamily="34" charset="0"/>
                <a:ea typeface="Courier New" pitchFamily="34" charset="-122"/>
                <a:cs typeface="Courier New" pitchFamily="34" charset="-120"/>
              </a:rPr>
              <a:t>0.4</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 midterm + </a:t>
            </a:r>
            <a:pPr indent="0" marL="0">
              <a:spcAft>
                <a:spcPts val="100"/>
              </a:spcAft>
              <a:buNone/>
            </a:pPr>
            <a:r>
              <a:rPr lang="en-US" sz="1400" dirty="0">
                <a:solidFill>
                  <a:srgbClr val="B5CEA8"/>
                </a:solidFill>
                <a:latin typeface="Courier New" pitchFamily="34" charset="0"/>
                <a:ea typeface="Courier New" pitchFamily="34" charset="-122"/>
                <a:cs typeface="Courier New" pitchFamily="34" charset="-120"/>
              </a:rPr>
              <a:t>0.6</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 final;</a:t>
            </a:r>
            <a:endParaRPr lang="en-US" sz="1400" dirty="0"/>
          </a:p>
          <a:p>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a:t>
            </a:r>
            <a:endParaRPr lang="en-US" sz="1400" dirty="0"/>
          </a:p>
        </p:txBody>
      </p:sp>
      <p:sp>
        <p:nvSpPr>
          <p:cNvPr id="10" name="Shape 7"/>
          <p:cNvSpPr/>
          <p:nvPr/>
        </p:nvSpPr>
        <p:spPr>
          <a:xfrm>
            <a:off x="6446520" y="1645920"/>
            <a:ext cx="5212080" cy="987552"/>
          </a:xfrm>
          <a:prstGeom prst="roundRect">
            <a:avLst>
              <a:gd name="adj" fmla="val 11111"/>
            </a:avLst>
          </a:prstGeom>
          <a:solidFill>
            <a:srgbClr val="EEF1F6"/>
          </a:solidFill>
          <a:ln w="12700">
            <a:solidFill>
              <a:srgbClr val="EEF1F6"/>
            </a:solidFill>
            <a:prstDash val="solid"/>
          </a:ln>
        </p:spPr>
      </p:sp>
      <p:sp>
        <p:nvSpPr>
          <p:cNvPr id="11" name="Shape 8"/>
          <p:cNvSpPr/>
          <p:nvPr/>
        </p:nvSpPr>
        <p:spPr>
          <a:xfrm>
            <a:off x="6629400" y="1865376"/>
            <a:ext cx="548640" cy="548640"/>
          </a:xfrm>
          <a:prstGeom prst="ellipse">
            <a:avLst/>
          </a:prstGeom>
          <a:solidFill>
            <a:srgbClr val="EEF1F6"/>
          </a:solidFill>
          <a:ln w="12700">
            <a:solidFill>
              <a:srgbClr val="EEF1F6"/>
            </a:solidFill>
            <a:prstDash val="solid"/>
          </a:ln>
        </p:spPr>
      </p:sp>
      <p:pic>
        <p:nvPicPr>
          <p:cNvPr id="12" name="Image 0" descr="preencoded.png">    </p:cNvPr>
          <p:cNvPicPr>
            <a:picLocks noChangeAspect="1"/>
          </p:cNvPicPr>
          <p:nvPr/>
        </p:nvPicPr>
        <p:blipFill>
          <a:blip r:embed="rId1"/>
          <a:stretch>
            <a:fillRect/>
          </a:stretch>
        </p:blipFill>
        <p:spPr>
          <a:xfrm>
            <a:off x="6772046" y="2008022"/>
            <a:ext cx="263347" cy="263347"/>
          </a:xfrm>
          <a:prstGeom prst="rect">
            <a:avLst/>
          </a:prstGeom>
        </p:spPr>
      </p:pic>
      <p:sp>
        <p:nvSpPr>
          <p:cNvPr id="13" name="Text 9"/>
          <p:cNvSpPr txBox="1"/>
          <p:nvPr/>
        </p:nvSpPr>
        <p:spPr>
          <a:xfrm>
            <a:off x="7360920" y="1700784"/>
            <a:ext cx="4160520" cy="877824"/>
          </a:xfrm>
          <a:prstGeom prst="rect">
            <a:avLst/>
          </a:prstGeom>
          <a:noFill/>
          <a:ln/>
        </p:spPr>
        <p:txBody>
          <a:bodyPr wrap="square" lIns="0" tIns="0" rIns="0" bIns="0" rtlCol="0" anchor="ctr"/>
          <a:lstStyle/>
          <a:p>
            <a:pPr indent="0" marL="0">
              <a:spcAft>
                <a:spcPts val="200"/>
              </a:spcAft>
              <a:buNone/>
            </a:pPr>
            <a:r>
              <a:rPr lang="en-US" sz="1400" b="1" dirty="0">
                <a:solidFill>
                  <a:srgbClr val="14213D"/>
                </a:solidFill>
                <a:latin typeface="Cambria" pitchFamily="34" charset="0"/>
                <a:ea typeface="Cambria" pitchFamily="34" charset="-122"/>
                <a:cs typeface="Cambria" pitchFamily="34" charset="-120"/>
              </a:rPr>
              <a:t>by value / ref</a:t>
            </a:r>
            <a:endParaRPr lang="en-US" sz="1400" dirty="0"/>
          </a:p>
          <a:p>
            <a:pPr indent="0" marL="0">
              <a:spcAft>
                <a:spcPts val="200"/>
              </a:spcAft>
              <a:buNone/>
            </a:pPr>
            <a:r>
              <a:rPr lang="en-US" sz="1300" dirty="0">
                <a:solidFill>
                  <a:srgbClr val="333B4F"/>
                </a:solidFill>
                <a:latin typeface="Calibri" pitchFamily="34" charset="0"/>
                <a:ea typeface="Calibri" pitchFamily="34" charset="-122"/>
                <a:cs typeface="Calibri" pitchFamily="34" charset="-120"/>
              </a:rPr>
              <a:t>int copied; arrays: the reference is copied; ref: the variable itself</a:t>
            </a:r>
            <a:endParaRPr lang="en-US" sz="1400" dirty="0"/>
          </a:p>
        </p:txBody>
      </p:sp>
      <p:sp>
        <p:nvSpPr>
          <p:cNvPr id="14" name="Shape 10"/>
          <p:cNvSpPr/>
          <p:nvPr/>
        </p:nvSpPr>
        <p:spPr>
          <a:xfrm>
            <a:off x="6446520" y="2761488"/>
            <a:ext cx="5212080" cy="987552"/>
          </a:xfrm>
          <a:prstGeom prst="roundRect">
            <a:avLst>
              <a:gd name="adj" fmla="val 11111"/>
            </a:avLst>
          </a:prstGeom>
          <a:solidFill>
            <a:srgbClr val="EEF1F6"/>
          </a:solidFill>
          <a:ln w="12700">
            <a:solidFill>
              <a:srgbClr val="EEF1F6"/>
            </a:solidFill>
            <a:prstDash val="solid"/>
          </a:ln>
        </p:spPr>
      </p:sp>
      <p:sp>
        <p:nvSpPr>
          <p:cNvPr id="15" name="Shape 11"/>
          <p:cNvSpPr/>
          <p:nvPr/>
        </p:nvSpPr>
        <p:spPr>
          <a:xfrm>
            <a:off x="6629400" y="2980944"/>
            <a:ext cx="548640" cy="548640"/>
          </a:xfrm>
          <a:prstGeom prst="ellipse">
            <a:avLst/>
          </a:prstGeom>
          <a:solidFill>
            <a:srgbClr val="EEF1F6"/>
          </a:solidFill>
          <a:ln w="12700">
            <a:solidFill>
              <a:srgbClr val="EEF1F6"/>
            </a:solidFill>
            <a:prstDash val="solid"/>
          </a:ln>
        </p:spPr>
      </p:sp>
      <p:pic>
        <p:nvPicPr>
          <p:cNvPr id="16" name="Image 1" descr="preencoded.png">    </p:cNvPr>
          <p:cNvPicPr>
            <a:picLocks noChangeAspect="1"/>
          </p:cNvPicPr>
          <p:nvPr/>
        </p:nvPicPr>
        <p:blipFill>
          <a:blip r:embed="rId2"/>
          <a:stretch>
            <a:fillRect/>
          </a:stretch>
        </p:blipFill>
        <p:spPr>
          <a:xfrm>
            <a:off x="6772046" y="3123590"/>
            <a:ext cx="263347" cy="263347"/>
          </a:xfrm>
          <a:prstGeom prst="rect">
            <a:avLst/>
          </a:prstGeom>
        </p:spPr>
      </p:pic>
      <p:sp>
        <p:nvSpPr>
          <p:cNvPr id="17" name="Text 12"/>
          <p:cNvSpPr txBox="1"/>
          <p:nvPr/>
        </p:nvSpPr>
        <p:spPr>
          <a:xfrm>
            <a:off x="7360920" y="2816352"/>
            <a:ext cx="4160520" cy="877824"/>
          </a:xfrm>
          <a:prstGeom prst="rect">
            <a:avLst/>
          </a:prstGeom>
          <a:noFill/>
          <a:ln/>
        </p:spPr>
        <p:txBody>
          <a:bodyPr wrap="square" lIns="0" tIns="0" rIns="0" bIns="0" rtlCol="0" anchor="ctr"/>
          <a:lstStyle/>
          <a:p>
            <a:pPr indent="0" marL="0">
              <a:spcAft>
                <a:spcPts val="200"/>
              </a:spcAft>
              <a:buNone/>
            </a:pPr>
            <a:r>
              <a:rPr lang="en-US" sz="1400" b="1" dirty="0">
                <a:solidFill>
                  <a:srgbClr val="14213D"/>
                </a:solidFill>
                <a:latin typeface="Cambria" pitchFamily="34" charset="0"/>
                <a:ea typeface="Cambria" pitchFamily="34" charset="-122"/>
                <a:cs typeface="Cambria" pitchFamily="34" charset="-120"/>
              </a:rPr>
              <a:t>return / void</a:t>
            </a:r>
            <a:endParaRPr lang="en-US" sz="1400" dirty="0"/>
          </a:p>
          <a:p>
            <a:pPr indent="0" marL="0">
              <a:spcAft>
                <a:spcPts val="200"/>
              </a:spcAft>
              <a:buNone/>
            </a:pPr>
            <a:r>
              <a:rPr lang="en-US" sz="1300" dirty="0">
                <a:solidFill>
                  <a:srgbClr val="333B4F"/>
                </a:solidFill>
                <a:latin typeface="Calibri" pitchFamily="34" charset="0"/>
                <a:ea typeface="Calibri" pitchFamily="34" charset="-122"/>
                <a:cs typeface="Calibri" pitchFamily="34" charset="-120"/>
              </a:rPr>
              <a:t>return ends the method; every path must return (CS0161)</a:t>
            </a:r>
            <a:endParaRPr lang="en-US" sz="1400" dirty="0"/>
          </a:p>
        </p:txBody>
      </p:sp>
      <p:sp>
        <p:nvSpPr>
          <p:cNvPr id="18" name="Shape 13"/>
          <p:cNvSpPr/>
          <p:nvPr/>
        </p:nvSpPr>
        <p:spPr>
          <a:xfrm>
            <a:off x="6446520" y="3877056"/>
            <a:ext cx="5212080" cy="987552"/>
          </a:xfrm>
          <a:prstGeom prst="roundRect">
            <a:avLst>
              <a:gd name="adj" fmla="val 11111"/>
            </a:avLst>
          </a:prstGeom>
          <a:solidFill>
            <a:srgbClr val="EEF1F6"/>
          </a:solidFill>
          <a:ln w="12700">
            <a:solidFill>
              <a:srgbClr val="EEF1F6"/>
            </a:solidFill>
            <a:prstDash val="solid"/>
          </a:ln>
        </p:spPr>
      </p:sp>
      <p:sp>
        <p:nvSpPr>
          <p:cNvPr id="19" name="Shape 14"/>
          <p:cNvSpPr/>
          <p:nvPr/>
        </p:nvSpPr>
        <p:spPr>
          <a:xfrm>
            <a:off x="6629400" y="4096512"/>
            <a:ext cx="548640" cy="548640"/>
          </a:xfrm>
          <a:prstGeom prst="ellipse">
            <a:avLst/>
          </a:prstGeom>
          <a:solidFill>
            <a:srgbClr val="EEF1F6"/>
          </a:solidFill>
          <a:ln w="12700">
            <a:solidFill>
              <a:srgbClr val="EEF1F6"/>
            </a:solidFill>
            <a:prstDash val="solid"/>
          </a:ln>
        </p:spPr>
      </p:sp>
      <p:pic>
        <p:nvPicPr>
          <p:cNvPr id="20" name="Image 2" descr="preencoded.png">    </p:cNvPr>
          <p:cNvPicPr>
            <a:picLocks noChangeAspect="1"/>
          </p:cNvPicPr>
          <p:nvPr/>
        </p:nvPicPr>
        <p:blipFill>
          <a:blip r:embed="rId3"/>
          <a:stretch>
            <a:fillRect/>
          </a:stretch>
        </p:blipFill>
        <p:spPr>
          <a:xfrm>
            <a:off x="6772046" y="4239158"/>
            <a:ext cx="263347" cy="263347"/>
          </a:xfrm>
          <a:prstGeom prst="rect">
            <a:avLst/>
          </a:prstGeom>
        </p:spPr>
      </p:pic>
      <p:sp>
        <p:nvSpPr>
          <p:cNvPr id="21" name="Text 15"/>
          <p:cNvSpPr txBox="1"/>
          <p:nvPr/>
        </p:nvSpPr>
        <p:spPr>
          <a:xfrm>
            <a:off x="7360920" y="3931920"/>
            <a:ext cx="4160520" cy="877824"/>
          </a:xfrm>
          <a:prstGeom prst="rect">
            <a:avLst/>
          </a:prstGeom>
          <a:noFill/>
          <a:ln/>
        </p:spPr>
        <p:txBody>
          <a:bodyPr wrap="square" lIns="0" tIns="0" rIns="0" bIns="0" rtlCol="0" anchor="ctr"/>
          <a:lstStyle/>
          <a:p>
            <a:pPr indent="0" marL="0">
              <a:spcAft>
                <a:spcPts val="200"/>
              </a:spcAft>
              <a:buNone/>
            </a:pPr>
            <a:r>
              <a:rPr lang="en-US" sz="1400" b="1" dirty="0">
                <a:solidFill>
                  <a:srgbClr val="14213D"/>
                </a:solidFill>
                <a:latin typeface="Cambria" pitchFamily="34" charset="0"/>
                <a:ea typeface="Cambria" pitchFamily="34" charset="-122"/>
                <a:cs typeface="Cambria" pitchFamily="34" charset="-120"/>
              </a:rPr>
              <a:t>scope</a:t>
            </a:r>
            <a:endParaRPr lang="en-US" sz="1400" dirty="0"/>
          </a:p>
          <a:p>
            <a:pPr indent="0" marL="0">
              <a:spcAft>
                <a:spcPts val="200"/>
              </a:spcAft>
              <a:buNone/>
            </a:pPr>
            <a:r>
              <a:rPr lang="en-US" sz="1300" dirty="0">
                <a:solidFill>
                  <a:srgbClr val="333B4F"/>
                </a:solidFill>
                <a:latin typeface="Calibri" pitchFamily="34" charset="0"/>
                <a:ea typeface="Calibri" pitchFamily="34" charset="-122"/>
                <a:cs typeface="Calibri" pitchFamily="34" charset="-120"/>
              </a:rPr>
              <a:t>a name lives in its block: CS0103 outside, CS0136 if reused</a:t>
            </a:r>
            <a:endParaRPr lang="en-US" sz="1400" dirty="0"/>
          </a:p>
        </p:txBody>
      </p:sp>
      <p:sp>
        <p:nvSpPr>
          <p:cNvPr id="22" name="Shape 16"/>
          <p:cNvSpPr/>
          <p:nvPr/>
        </p:nvSpPr>
        <p:spPr>
          <a:xfrm>
            <a:off x="6446520" y="4992624"/>
            <a:ext cx="5212080" cy="987552"/>
          </a:xfrm>
          <a:prstGeom prst="roundRect">
            <a:avLst>
              <a:gd name="adj" fmla="val 11111"/>
            </a:avLst>
          </a:prstGeom>
          <a:solidFill>
            <a:srgbClr val="EEF1F6"/>
          </a:solidFill>
          <a:ln w="12700">
            <a:solidFill>
              <a:srgbClr val="EEF1F6"/>
            </a:solidFill>
            <a:prstDash val="solid"/>
          </a:ln>
        </p:spPr>
      </p:sp>
      <p:sp>
        <p:nvSpPr>
          <p:cNvPr id="23" name="Shape 17"/>
          <p:cNvSpPr/>
          <p:nvPr/>
        </p:nvSpPr>
        <p:spPr>
          <a:xfrm>
            <a:off x="6629400" y="5212080"/>
            <a:ext cx="548640" cy="548640"/>
          </a:xfrm>
          <a:prstGeom prst="ellipse">
            <a:avLst/>
          </a:prstGeom>
          <a:solidFill>
            <a:srgbClr val="EEF1F6"/>
          </a:solidFill>
          <a:ln w="12700">
            <a:solidFill>
              <a:srgbClr val="EEF1F6"/>
            </a:solidFill>
            <a:prstDash val="solid"/>
          </a:ln>
        </p:spPr>
      </p:sp>
      <p:pic>
        <p:nvPicPr>
          <p:cNvPr id="24" name="Image 3" descr="preencoded.png">    </p:cNvPr>
          <p:cNvPicPr>
            <a:picLocks noChangeAspect="1"/>
          </p:cNvPicPr>
          <p:nvPr/>
        </p:nvPicPr>
        <p:blipFill>
          <a:blip r:embed="rId4"/>
          <a:stretch>
            <a:fillRect/>
          </a:stretch>
        </p:blipFill>
        <p:spPr>
          <a:xfrm>
            <a:off x="6772046" y="5354726"/>
            <a:ext cx="263347" cy="263347"/>
          </a:xfrm>
          <a:prstGeom prst="rect">
            <a:avLst/>
          </a:prstGeom>
        </p:spPr>
      </p:pic>
      <p:sp>
        <p:nvSpPr>
          <p:cNvPr id="25" name="Text 18"/>
          <p:cNvSpPr txBox="1"/>
          <p:nvPr/>
        </p:nvSpPr>
        <p:spPr>
          <a:xfrm>
            <a:off x="7360920" y="5047488"/>
            <a:ext cx="4160520" cy="877824"/>
          </a:xfrm>
          <a:prstGeom prst="rect">
            <a:avLst/>
          </a:prstGeom>
          <a:noFill/>
          <a:ln/>
        </p:spPr>
        <p:txBody>
          <a:bodyPr wrap="square" lIns="0" tIns="0" rIns="0" bIns="0" rtlCol="0" anchor="ctr"/>
          <a:lstStyle/>
          <a:p>
            <a:pPr indent="0" marL="0">
              <a:spcAft>
                <a:spcPts val="200"/>
              </a:spcAft>
              <a:buNone/>
            </a:pPr>
            <a:r>
              <a:rPr lang="en-US" sz="1400" b="1" dirty="0">
                <a:solidFill>
                  <a:srgbClr val="14213D"/>
                </a:solidFill>
                <a:latin typeface="Cambria" pitchFamily="34" charset="0"/>
                <a:ea typeface="Cambria" pitchFamily="34" charset="-122"/>
                <a:cs typeface="Cambria" pitchFamily="34" charset="-120"/>
              </a:rPr>
              <a:t>recursion</a:t>
            </a:r>
            <a:endParaRPr lang="en-US" sz="1400" dirty="0"/>
          </a:p>
          <a:p>
            <a:pPr indent="0" marL="0">
              <a:spcAft>
                <a:spcPts val="200"/>
              </a:spcAft>
              <a:buNone/>
            </a:pPr>
            <a:r>
              <a:rPr lang="en-US" sz="1300" dirty="0">
                <a:solidFill>
                  <a:srgbClr val="333B4F"/>
                </a:solidFill>
                <a:latin typeface="Calibri" pitchFamily="34" charset="0"/>
                <a:ea typeface="Calibri" pitchFamily="34" charset="-122"/>
                <a:cs typeface="Calibri" pitchFamily="34" charset="-120"/>
              </a:rPr>
              <a:t>base case + smaller step; one stack frame per call</a:t>
            </a:r>
            <a:endParaRPr lang="en-US" sz="1400" dirty="0"/>
          </a:p>
        </p:txBody>
      </p:sp>
      <p:sp>
        <p:nvSpPr>
          <p:cNvPr id="26" name="Shape 19"/>
          <p:cNvSpPr/>
          <p:nvPr/>
        </p:nvSpPr>
        <p:spPr>
          <a:xfrm>
            <a:off x="548640" y="3977640"/>
            <a:ext cx="5669280" cy="2103120"/>
          </a:xfrm>
          <a:prstGeom prst="roundRect">
            <a:avLst>
              <a:gd name="adj" fmla="val 4348"/>
            </a:avLst>
          </a:prstGeom>
          <a:solidFill>
            <a:srgbClr val="0F1729"/>
          </a:solidFill>
          <a:ln w="12700">
            <a:solidFill>
              <a:srgbClr val="0F1729"/>
            </a:solidFill>
            <a:prstDash val="solid"/>
          </a:ln>
        </p:spPr>
      </p:sp>
      <p:sp>
        <p:nvSpPr>
          <p:cNvPr id="27" name="Text 20"/>
          <p:cNvSpPr txBox="1"/>
          <p:nvPr/>
        </p:nvSpPr>
        <p:spPr>
          <a:xfrm>
            <a:off x="777240" y="4087368"/>
            <a:ext cx="521208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pass by value</a:t>
            </a:r>
            <a:endParaRPr lang="en-US" sz="1100" dirty="0"/>
          </a:p>
        </p:txBody>
      </p:sp>
      <p:sp>
        <p:nvSpPr>
          <p:cNvPr id="28" name="Text 21"/>
          <p:cNvSpPr txBox="1"/>
          <p:nvPr/>
        </p:nvSpPr>
        <p:spPr>
          <a:xfrm>
            <a:off x="777240" y="4389120"/>
            <a:ext cx="5212080" cy="1581912"/>
          </a:xfrm>
          <a:prstGeom prst="rect">
            <a:avLst/>
          </a:prstGeom>
          <a:noFill/>
          <a:ln/>
        </p:spPr>
        <p:txBody>
          <a:bodyPr wrap="square" lIns="0" tIns="0" rIns="0" bIns="0" rtlCol="0" anchor="t"/>
          <a:lstStyle/>
          <a:p>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n =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5</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Change(n);              </a:t>
            </a:r>
            <a:pPr indent="0" marL="0">
              <a:spcAft>
                <a:spcPts val="100"/>
              </a:spcAft>
              <a:buNone/>
            </a:pPr>
            <a:r>
              <a:rPr lang="en-US" sz="1300" dirty="0">
                <a:solidFill>
                  <a:srgbClr val="7F8BA3"/>
                </a:solidFill>
                <a:latin typeface="Courier New" pitchFamily="34" charset="0"/>
                <a:ea typeface="Courier New" pitchFamily="34" charset="-122"/>
                <a:cs typeface="Courier New" pitchFamily="34" charset="-120"/>
              </a:rPr>
              <a:t>// n is still 5</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endParaRPr lang="en-US" sz="1300" dirty="0"/>
          </a:p>
          <a:p>
            <a:pPr indent="0" marL="0">
              <a:spcAft>
                <a:spcPts val="100"/>
              </a:spcAft>
              <a:buNone/>
            </a:pPr>
            <a:r>
              <a:rPr lang="en-US" sz="1300" dirty="0">
                <a:solidFill>
                  <a:srgbClr val="7AB8FF"/>
                </a:solidFill>
                <a:latin typeface="Courier New" pitchFamily="34" charset="0"/>
                <a:ea typeface="Courier New" pitchFamily="34" charset="-122"/>
                <a:cs typeface="Courier New" pitchFamily="34" charset="-120"/>
              </a:rPr>
              <a:t>static</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7AB8FF"/>
                </a:solidFill>
                <a:latin typeface="Courier New" pitchFamily="34" charset="0"/>
                <a:ea typeface="Courier New" pitchFamily="34" charset="-122"/>
                <a:cs typeface="Courier New" pitchFamily="34" charset="-120"/>
              </a:rPr>
              <a:t>void</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Change(</a:t>
            </a:r>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x)</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x =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10</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7F8BA3"/>
                </a:solidFill>
                <a:latin typeface="Courier New" pitchFamily="34" charset="0"/>
                <a:ea typeface="Courier New" pitchFamily="34" charset="-122"/>
                <a:cs typeface="Courier New" pitchFamily="34" charset="-120"/>
              </a:rPr>
              <a:t>// changes the copy only</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REVIEW 10 · WEEK 14</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Files: save, append, load</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14</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34</a:t>
            </a:r>
            <a:endParaRPr lang="en-US" sz="1000" dirty="0"/>
          </a:p>
        </p:txBody>
      </p:sp>
      <p:sp>
        <p:nvSpPr>
          <p:cNvPr id="7" name="Shape 4"/>
          <p:cNvSpPr/>
          <p:nvPr/>
        </p:nvSpPr>
        <p:spPr>
          <a:xfrm>
            <a:off x="548640" y="2468880"/>
            <a:ext cx="2377440" cy="1463040"/>
          </a:xfrm>
          <a:prstGeom prst="roundRect">
            <a:avLst>
              <a:gd name="adj" fmla="val 5000"/>
            </a:avLst>
          </a:prstGeom>
          <a:solidFill>
            <a:srgbClr val="E3ECF8"/>
          </a:solidFill>
          <a:ln w="15875">
            <a:solidFill>
              <a:srgbClr val="2F6FB3"/>
            </a:solidFill>
            <a:prstDash val="solid"/>
          </a:ln>
        </p:spPr>
      </p:sp>
      <p:sp>
        <p:nvSpPr>
          <p:cNvPr id="8" name="Text 5"/>
          <p:cNvSpPr txBox="1"/>
          <p:nvPr/>
        </p:nvSpPr>
        <p:spPr>
          <a:xfrm>
            <a:off x="548640" y="2468880"/>
            <a:ext cx="2377440" cy="1463040"/>
          </a:xfrm>
          <a:prstGeom prst="rect">
            <a:avLst/>
          </a:prstGeom>
          <a:noFill/>
          <a:ln/>
        </p:spPr>
        <p:txBody>
          <a:bodyPr wrap="square" lIns="0" tIns="0" rIns="0" bIns="0" rtlCol="0" anchor="ctr"/>
          <a:lstStyle/>
          <a:p>
            <a:pPr algn="ctr" indent="0" marL="0">
              <a:buNone/>
            </a:pPr>
            <a:r>
              <a:rPr lang="en-US" sz="1500" b="1" dirty="0">
                <a:solidFill>
                  <a:srgbClr val="14213D"/>
                </a:solidFill>
                <a:latin typeface="Calibri" pitchFamily="34" charset="0"/>
                <a:ea typeface="Calibri" pitchFamily="34" charset="-122"/>
                <a:cs typeface="Calibri" pitchFamily="34" charset="-120"/>
              </a:rPr>
              <a:t>Program</a:t>
            </a:r>
            <a:pPr algn="ctr" indent="0" marL="0">
              <a:buNone/>
            </a:pPr>
            <a:endParaRPr lang="en-US" sz="1500" dirty="0"/>
          </a:p>
          <a:p>
            <a:pPr algn="ctr" indent="0" marL="0">
              <a:buNone/>
            </a:pPr>
            <a:r>
              <a:rPr lang="en-US" sz="1500" dirty="0">
                <a:solidFill>
                  <a:srgbClr val="333B4F"/>
                </a:solidFill>
                <a:latin typeface="Calibri" pitchFamily="34" charset="0"/>
                <a:ea typeface="Calibri" pitchFamily="34" charset="-122"/>
                <a:cs typeface="Calibri" pitchFamily="34" charset="-120"/>
              </a:rPr>
              <a:t>variables, arrays</a:t>
            </a:r>
            <a:endParaRPr lang="en-US" sz="1500" dirty="0"/>
          </a:p>
        </p:txBody>
      </p:sp>
      <p:sp>
        <p:nvSpPr>
          <p:cNvPr id="9" name="Shape 6"/>
          <p:cNvSpPr/>
          <p:nvPr/>
        </p:nvSpPr>
        <p:spPr>
          <a:xfrm>
            <a:off x="9281160" y="2468880"/>
            <a:ext cx="2377440" cy="1463040"/>
          </a:xfrm>
          <a:prstGeom prst="roundRect">
            <a:avLst>
              <a:gd name="adj" fmla="val 5000"/>
            </a:avLst>
          </a:prstGeom>
          <a:solidFill>
            <a:srgbClr val="E6F4EC"/>
          </a:solidFill>
          <a:ln w="15875">
            <a:solidFill>
              <a:srgbClr val="2E9E6A"/>
            </a:solidFill>
            <a:prstDash val="solid"/>
          </a:ln>
        </p:spPr>
      </p:sp>
      <p:sp>
        <p:nvSpPr>
          <p:cNvPr id="10" name="Text 7"/>
          <p:cNvSpPr txBox="1"/>
          <p:nvPr/>
        </p:nvSpPr>
        <p:spPr>
          <a:xfrm>
            <a:off x="9281160" y="2468880"/>
            <a:ext cx="2377440" cy="1463040"/>
          </a:xfrm>
          <a:prstGeom prst="rect">
            <a:avLst/>
          </a:prstGeom>
          <a:noFill/>
          <a:ln/>
        </p:spPr>
        <p:txBody>
          <a:bodyPr wrap="square" lIns="0" tIns="0" rIns="0" bIns="0" rtlCol="0" anchor="ctr"/>
          <a:lstStyle/>
          <a:p>
            <a:pPr algn="ctr" indent="0" marL="0">
              <a:buNone/>
            </a:pPr>
            <a:r>
              <a:rPr lang="en-US" sz="1500" b="1" dirty="0">
                <a:solidFill>
                  <a:srgbClr val="14213D"/>
                </a:solidFill>
                <a:latin typeface="Calibri" pitchFamily="34" charset="0"/>
                <a:ea typeface="Calibri" pitchFamily="34" charset="-122"/>
                <a:cs typeface="Calibri" pitchFamily="34" charset="-120"/>
              </a:rPr>
              <a:t>Text file</a:t>
            </a:r>
            <a:pPr algn="ctr" indent="0" marL="0">
              <a:buNone/>
            </a:pPr>
            <a:endParaRPr lang="en-US" sz="1500" dirty="0"/>
          </a:p>
          <a:p>
            <a:pPr algn="ctr" indent="0" marL="0">
              <a:buNone/>
            </a:pPr>
            <a:r>
              <a:rPr lang="en-US" sz="1500" dirty="0">
                <a:solidFill>
                  <a:srgbClr val="333B4F"/>
                </a:solidFill>
                <a:latin typeface="Calibri" pitchFamily="34" charset="0"/>
                <a:ea typeface="Calibri" pitchFamily="34" charset="-122"/>
                <a:cs typeface="Calibri" pitchFamily="34" charset="-120"/>
              </a:rPr>
              <a:t>.txt  .csv  .log</a:t>
            </a:r>
            <a:endParaRPr lang="en-US" sz="1500" dirty="0"/>
          </a:p>
        </p:txBody>
      </p:sp>
      <p:sp>
        <p:nvSpPr>
          <p:cNvPr id="11" name="Shape 8"/>
          <p:cNvSpPr/>
          <p:nvPr/>
        </p:nvSpPr>
        <p:spPr>
          <a:xfrm>
            <a:off x="3017520" y="2697480"/>
            <a:ext cx="6172200" cy="0"/>
          </a:xfrm>
          <a:prstGeom prst="line">
            <a:avLst/>
          </a:prstGeom>
          <a:noFill/>
          <a:ln w="15875">
            <a:solidFill>
              <a:srgbClr val="2E9E6A"/>
            </a:solidFill>
            <a:prstDash val="solid"/>
            <a:tailEnd type="triangle"/>
          </a:ln>
        </p:spPr>
      </p:sp>
      <p:sp>
        <p:nvSpPr>
          <p:cNvPr id="12" name="Shape 9"/>
          <p:cNvSpPr/>
          <p:nvPr/>
        </p:nvSpPr>
        <p:spPr>
          <a:xfrm flipH="1">
            <a:off x="3017520" y="3703320"/>
            <a:ext cx="6172200" cy="0"/>
          </a:xfrm>
          <a:prstGeom prst="line">
            <a:avLst/>
          </a:prstGeom>
          <a:noFill/>
          <a:ln w="15875">
            <a:solidFill>
              <a:srgbClr val="2F6FB3"/>
            </a:solidFill>
            <a:prstDash val="solid"/>
            <a:tailEnd type="triangle"/>
          </a:ln>
        </p:spPr>
      </p:sp>
      <p:sp>
        <p:nvSpPr>
          <p:cNvPr id="13" name="Text 10"/>
          <p:cNvSpPr txBox="1"/>
          <p:nvPr/>
        </p:nvSpPr>
        <p:spPr>
          <a:xfrm>
            <a:off x="3017520" y="2057400"/>
            <a:ext cx="6172200" cy="457200"/>
          </a:xfrm>
          <a:prstGeom prst="rect">
            <a:avLst/>
          </a:prstGeom>
          <a:noFill/>
          <a:ln/>
        </p:spPr>
        <p:txBody>
          <a:bodyPr wrap="square" lIns="0" tIns="0" rIns="0" bIns="0" rtlCol="0" anchor="ctr"/>
          <a:lstStyle/>
          <a:p>
            <a:pPr algn="ctr" indent="0" marL="0">
              <a:buNone/>
            </a:pPr>
            <a:r>
              <a:rPr lang="en-US" sz="1300" b="1" dirty="0">
                <a:solidFill>
                  <a:srgbClr val="1F7A50"/>
                </a:solidFill>
                <a:latin typeface="Courier New" pitchFamily="34" charset="0"/>
                <a:ea typeface="Courier New" pitchFamily="34" charset="-122"/>
                <a:cs typeface="Courier New" pitchFamily="34" charset="-120"/>
              </a:rPr>
              <a:t>WriteAllText · WriteAllLines · AppendAllText · StreamWriter</a:t>
            </a:r>
            <a:endParaRPr lang="en-US" sz="1300" dirty="0"/>
          </a:p>
        </p:txBody>
      </p:sp>
      <p:sp>
        <p:nvSpPr>
          <p:cNvPr id="14" name="Text 11"/>
          <p:cNvSpPr txBox="1"/>
          <p:nvPr/>
        </p:nvSpPr>
        <p:spPr>
          <a:xfrm>
            <a:off x="3017520" y="3794760"/>
            <a:ext cx="6172200" cy="457200"/>
          </a:xfrm>
          <a:prstGeom prst="rect">
            <a:avLst/>
          </a:prstGeom>
          <a:noFill/>
          <a:ln/>
        </p:spPr>
        <p:txBody>
          <a:bodyPr wrap="square" lIns="0" tIns="0" rIns="0" bIns="0" rtlCol="0" anchor="ctr"/>
          <a:lstStyle/>
          <a:p>
            <a:pPr algn="ctr" indent="0" marL="0">
              <a:buNone/>
            </a:pPr>
            <a:r>
              <a:rPr lang="en-US" sz="1300" b="1" dirty="0">
                <a:solidFill>
                  <a:srgbClr val="2F6FB3"/>
                </a:solidFill>
                <a:latin typeface="Courier New" pitchFamily="34" charset="0"/>
                <a:ea typeface="Courier New" pitchFamily="34" charset="-122"/>
                <a:cs typeface="Courier New" pitchFamily="34" charset="-120"/>
              </a:rPr>
              <a:t>ReadAllText · ReadAllLines · StreamReader.ReadLine()</a:t>
            </a:r>
            <a:endParaRPr lang="en-US" sz="1300" dirty="0"/>
          </a:p>
        </p:txBody>
      </p:sp>
      <p:sp>
        <p:nvSpPr>
          <p:cNvPr id="15" name="Text 12"/>
          <p:cNvSpPr txBox="1"/>
          <p:nvPr/>
        </p:nvSpPr>
        <p:spPr>
          <a:xfrm>
            <a:off x="3017520" y="1691640"/>
            <a:ext cx="6172200" cy="365760"/>
          </a:xfrm>
          <a:prstGeom prst="rect">
            <a:avLst/>
          </a:prstGeom>
          <a:noFill/>
          <a:ln/>
        </p:spPr>
        <p:txBody>
          <a:bodyPr wrap="square" lIns="0" tIns="0" rIns="0" bIns="0" rtlCol="0" anchor="ctr"/>
          <a:lstStyle/>
          <a:p>
            <a:pPr algn="ctr" indent="0" marL="0">
              <a:buNone/>
            </a:pPr>
            <a:r>
              <a:rPr lang="en-US" sz="1500" b="1" dirty="0">
                <a:solidFill>
                  <a:srgbClr val="1F7A50"/>
                </a:solidFill>
                <a:latin typeface="Calibri" pitchFamily="34" charset="0"/>
                <a:ea typeface="Calibri" pitchFamily="34" charset="-122"/>
                <a:cs typeface="Calibri" pitchFamily="34" charset="-120"/>
              </a:rPr>
              <a:t>save</a:t>
            </a:r>
            <a:endParaRPr lang="en-US" sz="1500" dirty="0"/>
          </a:p>
        </p:txBody>
      </p:sp>
      <p:sp>
        <p:nvSpPr>
          <p:cNvPr id="16" name="Text 13"/>
          <p:cNvSpPr txBox="1"/>
          <p:nvPr/>
        </p:nvSpPr>
        <p:spPr>
          <a:xfrm>
            <a:off x="3017520" y="4206240"/>
            <a:ext cx="6172200" cy="365760"/>
          </a:xfrm>
          <a:prstGeom prst="rect">
            <a:avLst/>
          </a:prstGeom>
          <a:noFill/>
          <a:ln/>
        </p:spPr>
        <p:txBody>
          <a:bodyPr wrap="square" lIns="0" tIns="0" rIns="0" bIns="0" rtlCol="0" anchor="ctr"/>
          <a:lstStyle/>
          <a:p>
            <a:pPr algn="ctr" indent="0" marL="0">
              <a:buNone/>
            </a:pPr>
            <a:r>
              <a:rPr lang="en-US" sz="1500" b="1" dirty="0">
                <a:solidFill>
                  <a:srgbClr val="2F6FB3"/>
                </a:solidFill>
                <a:latin typeface="Calibri" pitchFamily="34" charset="0"/>
                <a:ea typeface="Calibri" pitchFamily="34" charset="-122"/>
                <a:cs typeface="Calibri" pitchFamily="34" charset="-120"/>
              </a:rPr>
              <a:t>load</a:t>
            </a:r>
            <a:endParaRPr lang="en-US" sz="1500" dirty="0"/>
          </a:p>
        </p:txBody>
      </p:sp>
      <p:sp>
        <p:nvSpPr>
          <p:cNvPr id="17" name="Shape 14"/>
          <p:cNvSpPr/>
          <p:nvPr/>
        </p:nvSpPr>
        <p:spPr>
          <a:xfrm>
            <a:off x="548640" y="4800600"/>
            <a:ext cx="3566160" cy="1280160"/>
          </a:xfrm>
          <a:prstGeom prst="roundRect">
            <a:avLst>
              <a:gd name="adj" fmla="val 8571"/>
            </a:avLst>
          </a:prstGeom>
          <a:solidFill>
            <a:srgbClr val="EEF1F6"/>
          </a:solidFill>
          <a:ln w="12700">
            <a:solidFill>
              <a:srgbClr val="EEF1F6"/>
            </a:solidFill>
            <a:prstDash val="solid"/>
          </a:ln>
        </p:spPr>
      </p:sp>
      <p:sp>
        <p:nvSpPr>
          <p:cNvPr id="18" name="Shape 15"/>
          <p:cNvSpPr/>
          <p:nvPr/>
        </p:nvSpPr>
        <p:spPr>
          <a:xfrm>
            <a:off x="731520" y="5166360"/>
            <a:ext cx="548640" cy="548640"/>
          </a:xfrm>
          <a:prstGeom prst="ellipse">
            <a:avLst/>
          </a:prstGeom>
          <a:solidFill>
            <a:srgbClr val="EEF1F6"/>
          </a:solidFill>
          <a:ln w="12700">
            <a:solidFill>
              <a:srgbClr val="EEF1F6"/>
            </a:solidFill>
            <a:prstDash val="solid"/>
          </a:ln>
        </p:spPr>
      </p:sp>
      <p:pic>
        <p:nvPicPr>
          <p:cNvPr id="19" name="Image 0" descr="preencoded.png">    </p:cNvPr>
          <p:cNvPicPr>
            <a:picLocks noChangeAspect="1"/>
          </p:cNvPicPr>
          <p:nvPr/>
        </p:nvPicPr>
        <p:blipFill>
          <a:blip r:embed="rId1"/>
          <a:stretch>
            <a:fillRect/>
          </a:stretch>
        </p:blipFill>
        <p:spPr>
          <a:xfrm>
            <a:off x="874166" y="5309006"/>
            <a:ext cx="263347" cy="263347"/>
          </a:xfrm>
          <a:prstGeom prst="rect">
            <a:avLst/>
          </a:prstGeom>
        </p:spPr>
      </p:pic>
      <p:sp>
        <p:nvSpPr>
          <p:cNvPr id="20" name="Text 16"/>
          <p:cNvSpPr txBox="1"/>
          <p:nvPr/>
        </p:nvSpPr>
        <p:spPr>
          <a:xfrm>
            <a:off x="1463040" y="4855464"/>
            <a:ext cx="2514600" cy="1170432"/>
          </a:xfrm>
          <a:prstGeom prst="rect">
            <a:avLst/>
          </a:prstGeom>
          <a:noFill/>
          <a:ln/>
        </p:spPr>
        <p:txBody>
          <a:bodyPr wrap="square" lIns="0" tIns="0" rIns="0" bIns="0" rtlCol="0" anchor="ctr"/>
          <a:lstStyle/>
          <a:p>
            <a:pPr indent="0" marL="0">
              <a:spcAft>
                <a:spcPts val="200"/>
              </a:spcAft>
              <a:buNone/>
            </a:pPr>
            <a:r>
              <a:rPr lang="en-US" sz="1400" b="1" dirty="0">
                <a:solidFill>
                  <a:srgbClr val="14213D"/>
                </a:solidFill>
                <a:latin typeface="Cambria" pitchFamily="34" charset="0"/>
                <a:ea typeface="Cambria" pitchFamily="34" charset="-122"/>
                <a:cs typeface="Cambria" pitchFamily="34" charset="-120"/>
              </a:rPr>
              <a:t>Relative paths</a:t>
            </a:r>
            <a:endParaRPr lang="en-US" sz="1400" dirty="0"/>
          </a:p>
          <a:p>
            <a:pPr indent="0" marL="0">
              <a:spcAft>
                <a:spcPts val="200"/>
              </a:spcAft>
              <a:buNone/>
            </a:pPr>
            <a:r>
              <a:rPr lang="en-US" sz="1300" dirty="0">
                <a:solidFill>
                  <a:srgbClr val="333B4F"/>
                </a:solidFill>
                <a:latin typeface="Calibri" pitchFamily="34" charset="0"/>
                <a:ea typeface="Calibri" pitchFamily="34" charset="-122"/>
                <a:cs typeface="Calibri" pitchFamily="34" charset="-120"/>
              </a:rPr>
              <a:t>dotnet run → project folder</a:t>
            </a:r>
            <a:endParaRPr lang="en-US" sz="1400" dirty="0"/>
          </a:p>
        </p:txBody>
      </p:sp>
      <p:sp>
        <p:nvSpPr>
          <p:cNvPr id="21" name="Shape 17"/>
          <p:cNvSpPr/>
          <p:nvPr/>
        </p:nvSpPr>
        <p:spPr>
          <a:xfrm>
            <a:off x="4315968" y="4800600"/>
            <a:ext cx="3566160" cy="1280160"/>
          </a:xfrm>
          <a:prstGeom prst="roundRect">
            <a:avLst>
              <a:gd name="adj" fmla="val 8571"/>
            </a:avLst>
          </a:prstGeom>
          <a:solidFill>
            <a:srgbClr val="EEF1F6"/>
          </a:solidFill>
          <a:ln w="12700">
            <a:solidFill>
              <a:srgbClr val="EEF1F6"/>
            </a:solidFill>
            <a:prstDash val="solid"/>
          </a:ln>
        </p:spPr>
      </p:sp>
      <p:sp>
        <p:nvSpPr>
          <p:cNvPr id="22" name="Shape 18"/>
          <p:cNvSpPr/>
          <p:nvPr/>
        </p:nvSpPr>
        <p:spPr>
          <a:xfrm>
            <a:off x="4498848" y="5166360"/>
            <a:ext cx="548640" cy="548640"/>
          </a:xfrm>
          <a:prstGeom prst="ellipse">
            <a:avLst/>
          </a:prstGeom>
          <a:solidFill>
            <a:srgbClr val="EEF1F6"/>
          </a:solidFill>
          <a:ln w="12700">
            <a:solidFill>
              <a:srgbClr val="EEF1F6"/>
            </a:solidFill>
            <a:prstDash val="solid"/>
          </a:ln>
        </p:spPr>
      </p:sp>
      <p:pic>
        <p:nvPicPr>
          <p:cNvPr id="23" name="Image 1" descr="preencoded.png">    </p:cNvPr>
          <p:cNvPicPr>
            <a:picLocks noChangeAspect="1"/>
          </p:cNvPicPr>
          <p:nvPr/>
        </p:nvPicPr>
        <p:blipFill>
          <a:blip r:embed="rId2"/>
          <a:stretch>
            <a:fillRect/>
          </a:stretch>
        </p:blipFill>
        <p:spPr>
          <a:xfrm>
            <a:off x="4641494" y="5309006"/>
            <a:ext cx="263347" cy="263347"/>
          </a:xfrm>
          <a:prstGeom prst="rect">
            <a:avLst/>
          </a:prstGeom>
        </p:spPr>
      </p:pic>
      <p:sp>
        <p:nvSpPr>
          <p:cNvPr id="24" name="Text 19"/>
          <p:cNvSpPr txBox="1"/>
          <p:nvPr/>
        </p:nvSpPr>
        <p:spPr>
          <a:xfrm>
            <a:off x="5230368" y="4855464"/>
            <a:ext cx="2514600" cy="1170432"/>
          </a:xfrm>
          <a:prstGeom prst="rect">
            <a:avLst/>
          </a:prstGeom>
          <a:noFill/>
          <a:ln/>
        </p:spPr>
        <p:txBody>
          <a:bodyPr wrap="square" lIns="0" tIns="0" rIns="0" bIns="0" rtlCol="0" anchor="ctr"/>
          <a:lstStyle/>
          <a:p>
            <a:pPr indent="0" marL="0">
              <a:spcAft>
                <a:spcPts val="200"/>
              </a:spcAft>
              <a:buNone/>
            </a:pPr>
            <a:r>
              <a:rPr lang="en-US" sz="1400" b="1" dirty="0">
                <a:solidFill>
                  <a:srgbClr val="14213D"/>
                </a:solidFill>
                <a:latin typeface="Cambria" pitchFamily="34" charset="0"/>
                <a:ea typeface="Cambria" pitchFamily="34" charset="-122"/>
                <a:cs typeface="Cambria" pitchFamily="34" charset="-120"/>
              </a:rPr>
              <a:t>try / catch</a:t>
            </a:r>
            <a:endParaRPr lang="en-US" sz="1400" dirty="0"/>
          </a:p>
          <a:p>
            <a:pPr indent="0" marL="0">
              <a:spcAft>
                <a:spcPts val="200"/>
              </a:spcAft>
              <a:buNone/>
            </a:pPr>
            <a:r>
              <a:rPr lang="en-US" sz="1300" dirty="0">
                <a:solidFill>
                  <a:srgbClr val="333B4F"/>
                </a:solidFill>
                <a:latin typeface="Calibri" pitchFamily="34" charset="0"/>
                <a:ea typeface="Calibri" pitchFamily="34" charset="-122"/>
                <a:cs typeface="Calibri" pitchFamily="34" charset="-120"/>
              </a:rPr>
              <a:t>FileNotFound · IO · Format</a:t>
            </a:r>
            <a:endParaRPr lang="en-US" sz="1400" dirty="0"/>
          </a:p>
        </p:txBody>
      </p:sp>
      <p:sp>
        <p:nvSpPr>
          <p:cNvPr id="25" name="Shape 20"/>
          <p:cNvSpPr/>
          <p:nvPr/>
        </p:nvSpPr>
        <p:spPr>
          <a:xfrm>
            <a:off x="8083296" y="4800600"/>
            <a:ext cx="3566160" cy="1280160"/>
          </a:xfrm>
          <a:prstGeom prst="roundRect">
            <a:avLst>
              <a:gd name="adj" fmla="val 8571"/>
            </a:avLst>
          </a:prstGeom>
          <a:solidFill>
            <a:srgbClr val="EEF1F6"/>
          </a:solidFill>
          <a:ln w="12700">
            <a:solidFill>
              <a:srgbClr val="EEF1F6"/>
            </a:solidFill>
            <a:prstDash val="solid"/>
          </a:ln>
        </p:spPr>
      </p:sp>
      <p:sp>
        <p:nvSpPr>
          <p:cNvPr id="26" name="Shape 21"/>
          <p:cNvSpPr/>
          <p:nvPr/>
        </p:nvSpPr>
        <p:spPr>
          <a:xfrm>
            <a:off x="8266176" y="5166360"/>
            <a:ext cx="548640" cy="548640"/>
          </a:xfrm>
          <a:prstGeom prst="ellipse">
            <a:avLst/>
          </a:prstGeom>
          <a:solidFill>
            <a:srgbClr val="EEF1F6"/>
          </a:solidFill>
          <a:ln w="12700">
            <a:solidFill>
              <a:srgbClr val="EEF1F6"/>
            </a:solidFill>
            <a:prstDash val="solid"/>
          </a:ln>
        </p:spPr>
      </p:sp>
      <p:pic>
        <p:nvPicPr>
          <p:cNvPr id="27" name="Image 2" descr="preencoded.png">    </p:cNvPr>
          <p:cNvPicPr>
            <a:picLocks noChangeAspect="1"/>
          </p:cNvPicPr>
          <p:nvPr/>
        </p:nvPicPr>
        <p:blipFill>
          <a:blip r:embed="rId3"/>
          <a:stretch>
            <a:fillRect/>
          </a:stretch>
        </p:blipFill>
        <p:spPr>
          <a:xfrm>
            <a:off x="8408822" y="5309006"/>
            <a:ext cx="263347" cy="263347"/>
          </a:xfrm>
          <a:prstGeom prst="rect">
            <a:avLst/>
          </a:prstGeom>
        </p:spPr>
      </p:pic>
      <p:sp>
        <p:nvSpPr>
          <p:cNvPr id="28" name="Text 22"/>
          <p:cNvSpPr txBox="1"/>
          <p:nvPr/>
        </p:nvSpPr>
        <p:spPr>
          <a:xfrm>
            <a:off x="8997696" y="4855464"/>
            <a:ext cx="2514600" cy="1170432"/>
          </a:xfrm>
          <a:prstGeom prst="rect">
            <a:avLst/>
          </a:prstGeom>
          <a:noFill/>
          <a:ln/>
        </p:spPr>
        <p:txBody>
          <a:bodyPr wrap="square" lIns="0" tIns="0" rIns="0" bIns="0" rtlCol="0" anchor="ctr"/>
          <a:lstStyle/>
          <a:p>
            <a:pPr indent="0" marL="0">
              <a:spcAft>
                <a:spcPts val="200"/>
              </a:spcAft>
              <a:buNone/>
            </a:pPr>
            <a:r>
              <a:rPr lang="en-US" sz="1400" b="1" dirty="0">
                <a:solidFill>
                  <a:srgbClr val="14213D"/>
                </a:solidFill>
                <a:latin typeface="Cambria" pitchFamily="34" charset="0"/>
                <a:ea typeface="Cambria" pitchFamily="34" charset="-122"/>
                <a:cs typeface="Cambria" pitchFamily="34" charset="-120"/>
              </a:rPr>
              <a:t>CSV</a:t>
            </a:r>
            <a:endParaRPr lang="en-US" sz="1400" dirty="0"/>
          </a:p>
          <a:p>
            <a:pPr indent="0" marL="0">
              <a:spcAft>
                <a:spcPts val="200"/>
              </a:spcAft>
              <a:buNone/>
            </a:pPr>
            <a:r>
              <a:rPr lang="en-US" sz="1300" dirty="0">
                <a:solidFill>
                  <a:srgbClr val="333B4F"/>
                </a:solidFill>
                <a:latin typeface="Calibri" pitchFamily="34" charset="0"/>
                <a:ea typeface="Calibri" pitchFamily="34" charset="-122"/>
                <a:cs typeface="Calibri" pitchFamily="34" charset="-120"/>
              </a:rPr>
              <a:t>Split(',') + int.Parse, skip the header</a:t>
            </a:r>
            <a:endParaRPr lang="en-US" sz="14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14213D"/>
        </a:solidFill>
      </p:bgPr>
    </p:bg>
    <p:spTree>
      <p:nvGrpSpPr>
        <p:cNvPr id="1" name=""/>
        <p:cNvGrpSpPr/>
        <p:nvPr/>
      </p:nvGrpSpPr>
      <p:grpSpPr>
        <a:xfrm>
          <a:off x="0" y="0"/>
          <a:ext cx="0" cy="0"/>
          <a:chOff x="0" y="0"/>
          <a:chExt cx="0" cy="0"/>
        </a:xfrm>
      </p:grpSpPr>
      <p:sp>
        <p:nvSpPr>
          <p:cNvPr id="2" name="Text 0"/>
          <p:cNvSpPr txBox="1"/>
          <p:nvPr/>
        </p:nvSpPr>
        <p:spPr>
          <a:xfrm>
            <a:off x="548640" y="1463040"/>
            <a:ext cx="2743200" cy="1280160"/>
          </a:xfrm>
          <a:prstGeom prst="rect">
            <a:avLst/>
          </a:prstGeom>
          <a:noFill/>
          <a:ln/>
        </p:spPr>
        <p:txBody>
          <a:bodyPr wrap="square" lIns="0" tIns="0" rIns="0" bIns="0" rtlCol="0" anchor="ctr"/>
          <a:lstStyle/>
          <a:p>
            <a:pPr indent="0" marL="0">
              <a:buNone/>
            </a:pPr>
            <a:r>
              <a:rPr lang="en-US" sz="8800" b="1" dirty="0">
                <a:solidFill>
                  <a:srgbClr val="FCA311"/>
                </a:solidFill>
                <a:latin typeface="Courier New" pitchFamily="34" charset="0"/>
                <a:ea typeface="Courier New" pitchFamily="34" charset="-122"/>
                <a:cs typeface="Courier New" pitchFamily="34" charset="-120"/>
              </a:rPr>
              <a:t>&gt;_</a:t>
            </a:r>
            <a:endParaRPr lang="en-US" sz="8800" dirty="0"/>
          </a:p>
        </p:txBody>
      </p:sp>
      <p:sp>
        <p:nvSpPr>
          <p:cNvPr id="3" name="Text 1"/>
          <p:cNvSpPr txBox="1"/>
          <p:nvPr/>
        </p:nvSpPr>
        <p:spPr>
          <a:xfrm>
            <a:off x="548640" y="2926080"/>
            <a:ext cx="5486400" cy="365760"/>
          </a:xfrm>
          <a:prstGeom prst="rect">
            <a:avLst/>
          </a:prstGeom>
          <a:noFill/>
          <a:ln/>
        </p:spPr>
        <p:txBody>
          <a:bodyPr wrap="square" lIns="0" tIns="0" rIns="0" bIns="0" rtlCol="0" anchor="ctr"/>
          <a:lstStyle/>
          <a:p>
            <a:pPr indent="0" marL="0">
              <a:buNone/>
            </a:pPr>
            <a:r>
              <a:rPr lang="en-US" sz="1600" spc="400" kern="0" dirty="0">
                <a:solidFill>
                  <a:srgbClr val="8A94AB"/>
                </a:solidFill>
                <a:latin typeface="Courier New" pitchFamily="34" charset="0"/>
                <a:ea typeface="Courier New" pitchFamily="34" charset="-122"/>
                <a:cs typeface="Courier New" pitchFamily="34" charset="-120"/>
              </a:rPr>
              <a:t>PART 3</a:t>
            </a:r>
            <a:endParaRPr lang="en-US" sz="1600" dirty="0"/>
          </a:p>
        </p:txBody>
      </p:sp>
      <p:sp>
        <p:nvSpPr>
          <p:cNvPr id="4" name="Text 2"/>
          <p:cNvSpPr txBox="1"/>
          <p:nvPr/>
        </p:nvSpPr>
        <p:spPr>
          <a:xfrm>
            <a:off x="548640" y="3337560"/>
            <a:ext cx="10515600" cy="914400"/>
          </a:xfrm>
          <a:prstGeom prst="rect">
            <a:avLst/>
          </a:prstGeom>
          <a:noFill/>
          <a:ln/>
        </p:spPr>
        <p:txBody>
          <a:bodyPr wrap="square" lIns="0" tIns="0" rIns="0" bIns="0" rtlCol="0" anchor="ctr">
            <a:normAutofit/>
          </a:bodyPr>
          <a:lstStyle/>
          <a:p>
            <a:pPr indent="0" marL="0">
              <a:buNone/>
            </a:pPr>
            <a:r>
              <a:rPr lang="en-US" sz="4200" b="1" dirty="0">
                <a:solidFill>
                  <a:srgbClr val="FFFFFF"/>
                </a:solidFill>
                <a:latin typeface="Cambria" pitchFamily="34" charset="0"/>
                <a:ea typeface="Cambria" pitchFamily="34" charset="-122"/>
                <a:cs typeface="Cambria" pitchFamily="34" charset="-120"/>
              </a:rPr>
              <a:t>Mini-project: Student Grade Manager</a:t>
            </a:r>
            <a:endParaRPr lang="en-US" sz="4200" dirty="0"/>
          </a:p>
        </p:txBody>
      </p:sp>
      <p:sp>
        <p:nvSpPr>
          <p:cNvPr id="5" name="Text 3"/>
          <p:cNvSpPr txBox="1"/>
          <p:nvPr/>
        </p:nvSpPr>
        <p:spPr>
          <a:xfrm>
            <a:off x="548640" y="4343400"/>
            <a:ext cx="10515600" cy="548640"/>
          </a:xfrm>
          <a:prstGeom prst="rect">
            <a:avLst/>
          </a:prstGeom>
          <a:noFill/>
          <a:ln/>
        </p:spPr>
        <p:txBody>
          <a:bodyPr wrap="square" lIns="0" tIns="0" rIns="0" bIns="0" rtlCol="0" anchor="ctr"/>
          <a:lstStyle/>
          <a:p>
            <a:pPr indent="0" marL="0">
              <a:buNone/>
            </a:pPr>
            <a:r>
              <a:rPr lang="en-US" sz="1800" dirty="0">
                <a:solidFill>
                  <a:srgbClr val="C7CEDC"/>
                </a:solidFill>
                <a:latin typeface="Calibri" pitchFamily="34" charset="0"/>
                <a:ea typeface="Calibri" pitchFamily="34" charset="-122"/>
                <a:cs typeface="Calibri" pitchFamily="34" charset="-120"/>
              </a:rPr>
              <a:t>Menu + parallel arrays + methods + CSV save / load — the whole semester in one program</a:t>
            </a:r>
            <a:endParaRPr lang="en-US" sz="1800" dirty="0"/>
          </a:p>
        </p:txBody>
      </p:sp>
      <p:sp>
        <p:nvSpPr>
          <p:cNvPr id="6" name="Text 4"/>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8A94AB"/>
                </a:solidFill>
                <a:latin typeface="Calibri" pitchFamily="34" charset="0"/>
                <a:ea typeface="Calibri" pitchFamily="34" charset="-122"/>
                <a:cs typeface="Calibri" pitchFamily="34" charset="-120"/>
              </a:rPr>
              <a:t>MCMP113  ·  Week 14</a:t>
            </a:r>
            <a:endParaRPr lang="en-US" sz="1000" dirty="0"/>
          </a:p>
        </p:txBody>
      </p:sp>
      <p:sp>
        <p:nvSpPr>
          <p:cNvPr id="7" name="Text 5"/>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8A94AB"/>
                </a:solidFill>
                <a:latin typeface="Calibri" pitchFamily="34" charset="0"/>
                <a:ea typeface="Calibri" pitchFamily="34" charset="-122"/>
                <a:cs typeface="Calibri" pitchFamily="34" charset="-120"/>
              </a:rPr>
              <a:t>35</a:t>
            </a:r>
            <a:endParaRPr lang="en-US" sz="10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MINI-PROJECT · DESIGN</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What it does — and how the data is stored</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14</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36</a:t>
            </a:r>
            <a:endParaRPr lang="en-US" sz="1000" dirty="0"/>
          </a:p>
        </p:txBody>
      </p:sp>
      <p:sp>
        <p:nvSpPr>
          <p:cNvPr id="7" name="Shape 4"/>
          <p:cNvSpPr/>
          <p:nvPr/>
        </p:nvSpPr>
        <p:spPr>
          <a:xfrm>
            <a:off x="548640" y="1645920"/>
            <a:ext cx="5486400" cy="1600200"/>
          </a:xfrm>
          <a:prstGeom prst="roundRect">
            <a:avLst>
              <a:gd name="adj" fmla="val 5714"/>
            </a:avLst>
          </a:prstGeom>
          <a:solidFill>
            <a:srgbClr val="0B0F19"/>
          </a:solidFill>
          <a:ln w="12700">
            <a:solidFill>
              <a:srgbClr val="2A3654"/>
            </a:solidFill>
            <a:prstDash val="solid"/>
          </a:ln>
        </p:spPr>
      </p:sp>
      <p:sp>
        <p:nvSpPr>
          <p:cNvPr id="8" name="Shape 5"/>
          <p:cNvSpPr/>
          <p:nvPr/>
        </p:nvSpPr>
        <p:spPr>
          <a:xfrm>
            <a:off x="731520" y="1773936"/>
            <a:ext cx="118872" cy="118872"/>
          </a:xfrm>
          <a:prstGeom prst="ellipse">
            <a:avLst/>
          </a:prstGeom>
          <a:solidFill>
            <a:srgbClr val="FF5F57"/>
          </a:solidFill>
          <a:ln w="12700">
            <a:solidFill>
              <a:srgbClr val="FF5F57"/>
            </a:solidFill>
            <a:prstDash val="solid"/>
          </a:ln>
        </p:spPr>
      </p:sp>
      <p:sp>
        <p:nvSpPr>
          <p:cNvPr id="9" name="Shape 6"/>
          <p:cNvSpPr/>
          <p:nvPr/>
        </p:nvSpPr>
        <p:spPr>
          <a:xfrm>
            <a:off x="960120" y="1773936"/>
            <a:ext cx="118872" cy="118872"/>
          </a:xfrm>
          <a:prstGeom prst="ellipse">
            <a:avLst/>
          </a:prstGeom>
          <a:solidFill>
            <a:srgbClr val="FEBC2E"/>
          </a:solidFill>
          <a:ln w="12700">
            <a:solidFill>
              <a:srgbClr val="FEBC2E"/>
            </a:solidFill>
            <a:prstDash val="solid"/>
          </a:ln>
        </p:spPr>
      </p:sp>
      <p:sp>
        <p:nvSpPr>
          <p:cNvPr id="10" name="Shape 7"/>
          <p:cNvSpPr/>
          <p:nvPr/>
        </p:nvSpPr>
        <p:spPr>
          <a:xfrm>
            <a:off x="1188720" y="1773936"/>
            <a:ext cx="118872" cy="118872"/>
          </a:xfrm>
          <a:prstGeom prst="ellipse">
            <a:avLst/>
          </a:prstGeom>
          <a:solidFill>
            <a:srgbClr val="28C840"/>
          </a:solidFill>
          <a:ln w="12700">
            <a:solidFill>
              <a:srgbClr val="28C840"/>
            </a:solidFill>
            <a:prstDash val="solid"/>
          </a:ln>
        </p:spPr>
      </p:sp>
      <p:sp>
        <p:nvSpPr>
          <p:cNvPr id="11" name="Text 8"/>
          <p:cNvSpPr txBox="1"/>
          <p:nvPr/>
        </p:nvSpPr>
        <p:spPr>
          <a:xfrm>
            <a:off x="1463040" y="1719072"/>
            <a:ext cx="438912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start of the first run</a:t>
            </a:r>
            <a:endParaRPr lang="en-US" sz="1000" dirty="0"/>
          </a:p>
        </p:txBody>
      </p:sp>
      <p:sp>
        <p:nvSpPr>
          <p:cNvPr id="12" name="Text 9"/>
          <p:cNvSpPr txBox="1"/>
          <p:nvPr/>
        </p:nvSpPr>
        <p:spPr>
          <a:xfrm>
            <a:off x="777240" y="2029968"/>
            <a:ext cx="5029200" cy="1097280"/>
          </a:xfrm>
          <a:prstGeom prst="rect">
            <a:avLst/>
          </a:prstGeom>
          <a:noFill/>
          <a:ln/>
        </p:spPr>
        <p:txBody>
          <a:bodyPr wrap="square" lIns="0" tIns="0" rIns="0" bIns="0" rtlCol="0" anchor="t"/>
          <a:lstStyle/>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 Student Grade Manager ===</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0 student(s) loaded</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1 Add  2 List  3 Statistics  4 Search  5 Save  0 Exit</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Choice: </a:t>
            </a:r>
            <a:pPr indent="0" marL="0">
              <a:spcAft>
                <a:spcPts val="100"/>
              </a:spcAft>
              <a:buNone/>
            </a:pPr>
            <a:r>
              <a:rPr lang="en-US" sz="1200" b="1" dirty="0">
                <a:solidFill>
                  <a:srgbClr val="FCA311"/>
                </a:solidFill>
                <a:latin typeface="Courier New" pitchFamily="34" charset="0"/>
                <a:ea typeface="Courier New" pitchFamily="34" charset="-122"/>
                <a:cs typeface="Courier New" pitchFamily="34" charset="-120"/>
              </a:rPr>
              <a:t>3</a:t>
            </a:r>
            <a:endParaRPr lang="en-US" sz="1200" dirty="0"/>
          </a:p>
        </p:txBody>
      </p:sp>
      <p:sp>
        <p:nvSpPr>
          <p:cNvPr id="13" name="Shape 10"/>
          <p:cNvSpPr/>
          <p:nvPr/>
        </p:nvSpPr>
        <p:spPr>
          <a:xfrm>
            <a:off x="6263640" y="1645920"/>
            <a:ext cx="2651760" cy="1600200"/>
          </a:xfrm>
          <a:prstGeom prst="roundRect">
            <a:avLst>
              <a:gd name="adj" fmla="val 6857"/>
            </a:avLst>
          </a:prstGeom>
          <a:solidFill>
            <a:srgbClr val="EEF1F6"/>
          </a:solidFill>
          <a:ln w="12700">
            <a:solidFill>
              <a:srgbClr val="EEF1F6"/>
            </a:solidFill>
            <a:prstDash val="solid"/>
          </a:ln>
        </p:spPr>
      </p:sp>
      <p:sp>
        <p:nvSpPr>
          <p:cNvPr id="14" name="Shape 11"/>
          <p:cNvSpPr/>
          <p:nvPr/>
        </p:nvSpPr>
        <p:spPr>
          <a:xfrm>
            <a:off x="6446520" y="2171700"/>
            <a:ext cx="548640" cy="548640"/>
          </a:xfrm>
          <a:prstGeom prst="ellipse">
            <a:avLst/>
          </a:prstGeom>
          <a:solidFill>
            <a:srgbClr val="EEF1F6"/>
          </a:solidFill>
          <a:ln w="12700">
            <a:solidFill>
              <a:srgbClr val="EEF1F6"/>
            </a:solidFill>
            <a:prstDash val="solid"/>
          </a:ln>
        </p:spPr>
      </p:sp>
      <p:pic>
        <p:nvPicPr>
          <p:cNvPr id="15" name="Image 0" descr="preencoded.png">    </p:cNvPr>
          <p:cNvPicPr>
            <a:picLocks noChangeAspect="1"/>
          </p:cNvPicPr>
          <p:nvPr/>
        </p:nvPicPr>
        <p:blipFill>
          <a:blip r:embed="rId1"/>
          <a:stretch>
            <a:fillRect/>
          </a:stretch>
        </p:blipFill>
        <p:spPr>
          <a:xfrm>
            <a:off x="6589166" y="2314346"/>
            <a:ext cx="263347" cy="263347"/>
          </a:xfrm>
          <a:prstGeom prst="rect">
            <a:avLst/>
          </a:prstGeom>
        </p:spPr>
      </p:pic>
      <p:sp>
        <p:nvSpPr>
          <p:cNvPr id="16" name="Text 12"/>
          <p:cNvSpPr txBox="1"/>
          <p:nvPr/>
        </p:nvSpPr>
        <p:spPr>
          <a:xfrm>
            <a:off x="7178040" y="1700784"/>
            <a:ext cx="1600200" cy="1490472"/>
          </a:xfrm>
          <a:prstGeom prst="rect">
            <a:avLst/>
          </a:prstGeom>
          <a:noFill/>
          <a:ln/>
        </p:spPr>
        <p:txBody>
          <a:bodyPr wrap="square" lIns="0" tIns="0" rIns="0" bIns="0" rtlCol="0" anchor="ctr"/>
          <a:lstStyle/>
          <a:p>
            <a:pPr indent="0" marL="0">
              <a:spcAft>
                <a:spcPts val="200"/>
              </a:spcAft>
              <a:buNone/>
            </a:pPr>
            <a:r>
              <a:rPr lang="en-US" sz="1400" b="1" dirty="0">
                <a:solidFill>
                  <a:srgbClr val="14213D"/>
                </a:solidFill>
                <a:latin typeface="Cambria" pitchFamily="34" charset="0"/>
                <a:ea typeface="Cambria" pitchFamily="34" charset="-122"/>
                <a:cs typeface="Cambria" pitchFamily="34" charset="-120"/>
              </a:rPr>
              <a:t>Menu</a:t>
            </a:r>
            <a:endParaRPr lang="en-US" sz="1400" dirty="0"/>
          </a:p>
          <a:p>
            <a:pPr indent="0" marL="0">
              <a:spcAft>
                <a:spcPts val="200"/>
              </a:spcAft>
              <a:buNone/>
            </a:pPr>
            <a:r>
              <a:rPr lang="en-US" sz="1300" dirty="0">
                <a:solidFill>
                  <a:srgbClr val="333B4F"/>
                </a:solidFill>
                <a:latin typeface="Calibri" pitchFamily="34" charset="0"/>
                <a:ea typeface="Calibri" pitchFamily="34" charset="-122"/>
                <a:cs typeface="Calibri" pitchFamily="34" charset="-120"/>
              </a:rPr>
              <a:t>add · list · statistics · search · save · exit</a:t>
            </a:r>
            <a:endParaRPr lang="en-US" sz="1400" dirty="0"/>
          </a:p>
        </p:txBody>
      </p:sp>
      <p:sp>
        <p:nvSpPr>
          <p:cNvPr id="17" name="Shape 13"/>
          <p:cNvSpPr/>
          <p:nvPr/>
        </p:nvSpPr>
        <p:spPr>
          <a:xfrm>
            <a:off x="9006840" y="1645920"/>
            <a:ext cx="2651760" cy="1600200"/>
          </a:xfrm>
          <a:prstGeom prst="roundRect">
            <a:avLst>
              <a:gd name="adj" fmla="val 6857"/>
            </a:avLst>
          </a:prstGeom>
          <a:solidFill>
            <a:srgbClr val="EEF1F6"/>
          </a:solidFill>
          <a:ln w="12700">
            <a:solidFill>
              <a:srgbClr val="EEF1F6"/>
            </a:solidFill>
            <a:prstDash val="solid"/>
          </a:ln>
        </p:spPr>
      </p:sp>
      <p:sp>
        <p:nvSpPr>
          <p:cNvPr id="18" name="Shape 14"/>
          <p:cNvSpPr/>
          <p:nvPr/>
        </p:nvSpPr>
        <p:spPr>
          <a:xfrm>
            <a:off x="9189720" y="2171700"/>
            <a:ext cx="548640" cy="548640"/>
          </a:xfrm>
          <a:prstGeom prst="ellipse">
            <a:avLst/>
          </a:prstGeom>
          <a:solidFill>
            <a:srgbClr val="EEF1F6"/>
          </a:solidFill>
          <a:ln w="12700">
            <a:solidFill>
              <a:srgbClr val="EEF1F6"/>
            </a:solidFill>
            <a:prstDash val="solid"/>
          </a:ln>
        </p:spPr>
      </p:sp>
      <p:pic>
        <p:nvPicPr>
          <p:cNvPr id="19" name="Image 1" descr="preencoded.png">    </p:cNvPr>
          <p:cNvPicPr>
            <a:picLocks noChangeAspect="1"/>
          </p:cNvPicPr>
          <p:nvPr/>
        </p:nvPicPr>
        <p:blipFill>
          <a:blip r:embed="rId2"/>
          <a:stretch>
            <a:fillRect/>
          </a:stretch>
        </p:blipFill>
        <p:spPr>
          <a:xfrm>
            <a:off x="9332366" y="2314346"/>
            <a:ext cx="263347" cy="263347"/>
          </a:xfrm>
          <a:prstGeom prst="rect">
            <a:avLst/>
          </a:prstGeom>
        </p:spPr>
      </p:pic>
      <p:sp>
        <p:nvSpPr>
          <p:cNvPr id="20" name="Text 15"/>
          <p:cNvSpPr txBox="1"/>
          <p:nvPr/>
        </p:nvSpPr>
        <p:spPr>
          <a:xfrm>
            <a:off x="9921240" y="1700784"/>
            <a:ext cx="1600200" cy="1490472"/>
          </a:xfrm>
          <a:prstGeom prst="rect">
            <a:avLst/>
          </a:prstGeom>
          <a:noFill/>
          <a:ln/>
        </p:spPr>
        <p:txBody>
          <a:bodyPr wrap="square" lIns="0" tIns="0" rIns="0" bIns="0" rtlCol="0" anchor="ctr"/>
          <a:lstStyle/>
          <a:p>
            <a:pPr indent="0" marL="0">
              <a:spcAft>
                <a:spcPts val="200"/>
              </a:spcAft>
              <a:buNone/>
            </a:pPr>
            <a:r>
              <a:rPr lang="en-US" sz="1400" b="1" dirty="0">
                <a:solidFill>
                  <a:srgbClr val="14213D"/>
                </a:solidFill>
                <a:latin typeface="Cambria" pitchFamily="34" charset="0"/>
                <a:ea typeface="Cambria" pitchFamily="34" charset="-122"/>
                <a:cs typeface="Cambria" pitchFamily="34" charset="-120"/>
              </a:rPr>
              <a:t>Persistence</a:t>
            </a:r>
            <a:endParaRPr lang="en-US" sz="1400" dirty="0"/>
          </a:p>
          <a:p>
            <a:pPr indent="0" marL="0">
              <a:spcAft>
                <a:spcPts val="200"/>
              </a:spcAft>
              <a:buNone/>
            </a:pPr>
            <a:r>
              <a:rPr lang="en-US" sz="1300" dirty="0">
                <a:solidFill>
                  <a:srgbClr val="333B4F"/>
                </a:solidFill>
                <a:latin typeface="Calibri" pitchFamily="34" charset="0"/>
                <a:ea typeface="Calibri" pitchFamily="34" charset="-122"/>
                <a:cs typeface="Calibri" pitchFamily="34" charset="-120"/>
              </a:rPr>
              <a:t>load at start; save with 5 and on exit</a:t>
            </a:r>
            <a:endParaRPr lang="en-US" sz="1400" dirty="0"/>
          </a:p>
        </p:txBody>
      </p:sp>
      <p:sp>
        <p:nvSpPr>
          <p:cNvPr id="21" name="Text 16"/>
          <p:cNvSpPr txBox="1"/>
          <p:nvPr/>
        </p:nvSpPr>
        <p:spPr>
          <a:xfrm>
            <a:off x="548640" y="3520440"/>
            <a:ext cx="1463040" cy="502920"/>
          </a:xfrm>
          <a:prstGeom prst="rect">
            <a:avLst/>
          </a:prstGeom>
          <a:noFill/>
          <a:ln/>
        </p:spPr>
        <p:txBody>
          <a:bodyPr wrap="square" lIns="0" tIns="0" rIns="0" bIns="0" rtlCol="0" anchor="ctr"/>
          <a:lstStyle/>
          <a:p>
            <a:pPr indent="0" marL="0">
              <a:buNone/>
            </a:pPr>
            <a:r>
              <a:rPr lang="en-US" sz="1400" b="1" dirty="0">
                <a:solidFill>
                  <a:srgbClr val="333B4F"/>
                </a:solidFill>
                <a:latin typeface="Courier New" pitchFamily="34" charset="0"/>
                <a:ea typeface="Courier New" pitchFamily="34" charset="-122"/>
                <a:cs typeface="Courier New" pitchFamily="34" charset="-120"/>
              </a:rPr>
              <a:t>names</a:t>
            </a:r>
            <a:endParaRPr lang="en-US" sz="1400" dirty="0"/>
          </a:p>
        </p:txBody>
      </p:sp>
      <p:sp>
        <p:nvSpPr>
          <p:cNvPr id="22" name="Shape 17"/>
          <p:cNvSpPr/>
          <p:nvPr/>
        </p:nvSpPr>
        <p:spPr>
          <a:xfrm>
            <a:off x="2057400" y="3520440"/>
            <a:ext cx="1920240" cy="502920"/>
          </a:xfrm>
          <a:prstGeom prst="rect">
            <a:avLst/>
          </a:prstGeom>
          <a:solidFill>
            <a:srgbClr val="FFFFFF"/>
          </a:solidFill>
          <a:ln w="9525">
            <a:solidFill>
              <a:srgbClr val="8A94AB"/>
            </a:solidFill>
            <a:prstDash val="solid"/>
          </a:ln>
        </p:spPr>
      </p:sp>
      <p:sp>
        <p:nvSpPr>
          <p:cNvPr id="23" name="Text 18"/>
          <p:cNvSpPr txBox="1"/>
          <p:nvPr/>
        </p:nvSpPr>
        <p:spPr>
          <a:xfrm>
            <a:off x="2057400" y="3520440"/>
            <a:ext cx="1920240" cy="502920"/>
          </a:xfrm>
          <a:prstGeom prst="rect">
            <a:avLst/>
          </a:prstGeom>
          <a:noFill/>
          <a:ln/>
        </p:spPr>
        <p:txBody>
          <a:bodyPr wrap="square" lIns="0" tIns="0" rIns="0" bIns="0" rtlCol="0" anchor="ctr"/>
          <a:lstStyle/>
          <a:p>
            <a:pPr algn="ctr" indent="0" marL="0">
              <a:buNone/>
            </a:pPr>
            <a:r>
              <a:rPr lang="en-US" sz="1300" b="1" dirty="0">
                <a:solidFill>
                  <a:srgbClr val="14213D"/>
                </a:solidFill>
                <a:latin typeface="Courier New" pitchFamily="34" charset="0"/>
                <a:ea typeface="Courier New" pitchFamily="34" charset="-122"/>
                <a:cs typeface="Courier New" pitchFamily="34" charset="-120"/>
              </a:rPr>
              <a:t>"Ayse Kaya"</a:t>
            </a:r>
            <a:endParaRPr lang="en-US" sz="1300" dirty="0"/>
          </a:p>
        </p:txBody>
      </p:sp>
      <p:sp>
        <p:nvSpPr>
          <p:cNvPr id="24" name="Shape 19"/>
          <p:cNvSpPr/>
          <p:nvPr/>
        </p:nvSpPr>
        <p:spPr>
          <a:xfrm>
            <a:off x="3977640" y="3520440"/>
            <a:ext cx="1920240" cy="502920"/>
          </a:xfrm>
          <a:prstGeom prst="rect">
            <a:avLst/>
          </a:prstGeom>
          <a:solidFill>
            <a:srgbClr val="FFF1D6"/>
          </a:solidFill>
          <a:ln w="9525">
            <a:solidFill>
              <a:srgbClr val="8A94AB"/>
            </a:solidFill>
            <a:prstDash val="solid"/>
          </a:ln>
        </p:spPr>
      </p:sp>
      <p:sp>
        <p:nvSpPr>
          <p:cNvPr id="25" name="Text 20"/>
          <p:cNvSpPr txBox="1"/>
          <p:nvPr/>
        </p:nvSpPr>
        <p:spPr>
          <a:xfrm>
            <a:off x="3977640" y="3520440"/>
            <a:ext cx="1920240" cy="502920"/>
          </a:xfrm>
          <a:prstGeom prst="rect">
            <a:avLst/>
          </a:prstGeom>
          <a:noFill/>
          <a:ln/>
        </p:spPr>
        <p:txBody>
          <a:bodyPr wrap="square" lIns="0" tIns="0" rIns="0" bIns="0" rtlCol="0" anchor="ctr"/>
          <a:lstStyle/>
          <a:p>
            <a:pPr algn="ctr" indent="0" marL="0">
              <a:buNone/>
            </a:pPr>
            <a:r>
              <a:rPr lang="en-US" sz="1300" b="1" dirty="0">
                <a:solidFill>
                  <a:srgbClr val="14213D"/>
                </a:solidFill>
                <a:latin typeface="Courier New" pitchFamily="34" charset="0"/>
                <a:ea typeface="Courier New" pitchFamily="34" charset="-122"/>
                <a:cs typeface="Courier New" pitchFamily="34" charset="-120"/>
              </a:rPr>
              <a:t>"Burak Demir"</a:t>
            </a:r>
            <a:endParaRPr lang="en-US" sz="1300" dirty="0"/>
          </a:p>
        </p:txBody>
      </p:sp>
      <p:sp>
        <p:nvSpPr>
          <p:cNvPr id="26" name="Shape 21"/>
          <p:cNvSpPr/>
          <p:nvPr/>
        </p:nvSpPr>
        <p:spPr>
          <a:xfrm>
            <a:off x="5897880" y="3520440"/>
            <a:ext cx="1920240" cy="502920"/>
          </a:xfrm>
          <a:prstGeom prst="rect">
            <a:avLst/>
          </a:prstGeom>
          <a:solidFill>
            <a:srgbClr val="FFFFFF"/>
          </a:solidFill>
          <a:ln w="9525">
            <a:solidFill>
              <a:srgbClr val="8A94AB"/>
            </a:solidFill>
            <a:prstDash val="solid"/>
          </a:ln>
        </p:spPr>
      </p:sp>
      <p:sp>
        <p:nvSpPr>
          <p:cNvPr id="27" name="Text 22"/>
          <p:cNvSpPr txBox="1"/>
          <p:nvPr/>
        </p:nvSpPr>
        <p:spPr>
          <a:xfrm>
            <a:off x="5897880" y="3520440"/>
            <a:ext cx="1920240" cy="502920"/>
          </a:xfrm>
          <a:prstGeom prst="rect">
            <a:avLst/>
          </a:prstGeom>
          <a:noFill/>
          <a:ln/>
        </p:spPr>
        <p:txBody>
          <a:bodyPr wrap="square" lIns="0" tIns="0" rIns="0" bIns="0" rtlCol="0" anchor="ctr"/>
          <a:lstStyle/>
          <a:p>
            <a:pPr algn="ctr" indent="0" marL="0">
              <a:buNone/>
            </a:pPr>
            <a:r>
              <a:rPr lang="en-US" sz="1300" b="1" dirty="0">
                <a:solidFill>
                  <a:srgbClr val="14213D"/>
                </a:solidFill>
                <a:latin typeface="Courier New" pitchFamily="34" charset="0"/>
                <a:ea typeface="Courier New" pitchFamily="34" charset="-122"/>
                <a:cs typeface="Courier New" pitchFamily="34" charset="-120"/>
              </a:rPr>
              <a:t>"Ceren Yildiz"</a:t>
            </a:r>
            <a:endParaRPr lang="en-US" sz="1300" dirty="0"/>
          </a:p>
        </p:txBody>
      </p:sp>
      <p:sp>
        <p:nvSpPr>
          <p:cNvPr id="28" name="Shape 23"/>
          <p:cNvSpPr/>
          <p:nvPr/>
        </p:nvSpPr>
        <p:spPr>
          <a:xfrm>
            <a:off x="7818120" y="3520440"/>
            <a:ext cx="1920240" cy="502920"/>
          </a:xfrm>
          <a:prstGeom prst="rect">
            <a:avLst/>
          </a:prstGeom>
          <a:solidFill>
            <a:srgbClr val="FFFFFF"/>
          </a:solidFill>
          <a:ln w="9525">
            <a:solidFill>
              <a:srgbClr val="8A94AB"/>
            </a:solidFill>
            <a:prstDash val="solid"/>
          </a:ln>
        </p:spPr>
      </p:sp>
      <p:sp>
        <p:nvSpPr>
          <p:cNvPr id="29" name="Text 24"/>
          <p:cNvSpPr txBox="1"/>
          <p:nvPr/>
        </p:nvSpPr>
        <p:spPr>
          <a:xfrm>
            <a:off x="7818120" y="3520440"/>
            <a:ext cx="1920240" cy="502920"/>
          </a:xfrm>
          <a:prstGeom prst="rect">
            <a:avLst/>
          </a:prstGeom>
          <a:noFill/>
          <a:ln/>
        </p:spPr>
        <p:txBody>
          <a:bodyPr wrap="square" lIns="0" tIns="0" rIns="0" bIns="0" rtlCol="0" anchor="ctr"/>
          <a:lstStyle/>
          <a:p>
            <a:pPr algn="ctr" indent="0" marL="0">
              <a:buNone/>
            </a:pPr>
            <a:r>
              <a:rPr lang="en-US" sz="1300" b="1" dirty="0">
                <a:solidFill>
                  <a:srgbClr val="14213D"/>
                </a:solidFill>
                <a:latin typeface="Courier New" pitchFamily="34" charset="0"/>
                <a:ea typeface="Courier New" pitchFamily="34" charset="-122"/>
                <a:cs typeface="Courier New" pitchFamily="34" charset="-120"/>
              </a:rPr>
              <a:t>"Deniz Arslan"</a:t>
            </a:r>
            <a:endParaRPr lang="en-US" sz="1300" dirty="0"/>
          </a:p>
        </p:txBody>
      </p:sp>
      <p:sp>
        <p:nvSpPr>
          <p:cNvPr id="30" name="Shape 25"/>
          <p:cNvSpPr/>
          <p:nvPr/>
        </p:nvSpPr>
        <p:spPr>
          <a:xfrm>
            <a:off x="9738360" y="3520440"/>
            <a:ext cx="822960" cy="502920"/>
          </a:xfrm>
          <a:prstGeom prst="rect">
            <a:avLst/>
          </a:prstGeom>
          <a:solidFill>
            <a:srgbClr val="EEF1F6"/>
          </a:solidFill>
          <a:ln w="9525">
            <a:solidFill>
              <a:srgbClr val="8A94AB"/>
            </a:solidFill>
            <a:prstDash val="solid"/>
          </a:ln>
        </p:spPr>
      </p:sp>
      <p:sp>
        <p:nvSpPr>
          <p:cNvPr id="31" name="Text 26"/>
          <p:cNvSpPr txBox="1"/>
          <p:nvPr/>
        </p:nvSpPr>
        <p:spPr>
          <a:xfrm>
            <a:off x="9738360" y="3520440"/>
            <a:ext cx="822960" cy="502920"/>
          </a:xfrm>
          <a:prstGeom prst="rect">
            <a:avLst/>
          </a:prstGeom>
          <a:noFill/>
          <a:ln/>
        </p:spPr>
        <p:txBody>
          <a:bodyPr wrap="square" lIns="0" tIns="0" rIns="0" bIns="0" rtlCol="0" anchor="ctr"/>
          <a:lstStyle/>
          <a:p>
            <a:pPr algn="ctr" indent="0" marL="0">
              <a:buNone/>
            </a:pPr>
            <a:r>
              <a:rPr lang="en-US" sz="1300" b="1" dirty="0">
                <a:solidFill>
                  <a:srgbClr val="14213D"/>
                </a:solidFill>
                <a:latin typeface="Courier New" pitchFamily="34" charset="0"/>
                <a:ea typeface="Courier New" pitchFamily="34" charset="-122"/>
                <a:cs typeface="Courier New" pitchFamily="34" charset="-120"/>
              </a:rPr>
              <a:t>null</a:t>
            </a:r>
            <a:endParaRPr lang="en-US" sz="1300" dirty="0"/>
          </a:p>
        </p:txBody>
      </p:sp>
      <p:sp>
        <p:nvSpPr>
          <p:cNvPr id="32" name="Shape 27"/>
          <p:cNvSpPr/>
          <p:nvPr/>
        </p:nvSpPr>
        <p:spPr>
          <a:xfrm>
            <a:off x="10561320" y="3520440"/>
            <a:ext cx="548640" cy="502920"/>
          </a:xfrm>
          <a:prstGeom prst="rect">
            <a:avLst/>
          </a:prstGeom>
          <a:solidFill>
            <a:srgbClr val="EEF1F6"/>
          </a:solidFill>
          <a:ln w="9525">
            <a:solidFill>
              <a:srgbClr val="8A94AB"/>
            </a:solidFill>
            <a:prstDash val="solid"/>
          </a:ln>
        </p:spPr>
      </p:sp>
      <p:sp>
        <p:nvSpPr>
          <p:cNvPr id="33" name="Text 28"/>
          <p:cNvSpPr txBox="1"/>
          <p:nvPr/>
        </p:nvSpPr>
        <p:spPr>
          <a:xfrm>
            <a:off x="10561320" y="3520440"/>
            <a:ext cx="548640" cy="502920"/>
          </a:xfrm>
          <a:prstGeom prst="rect">
            <a:avLst/>
          </a:prstGeom>
          <a:noFill/>
          <a:ln/>
        </p:spPr>
        <p:txBody>
          <a:bodyPr wrap="square" lIns="0" tIns="0" rIns="0" bIns="0" rtlCol="0" anchor="ctr"/>
          <a:lstStyle/>
          <a:p>
            <a:pPr algn="ctr" indent="0" marL="0">
              <a:buNone/>
            </a:pPr>
            <a:r>
              <a:rPr lang="en-US" sz="1300" b="1" dirty="0">
                <a:solidFill>
                  <a:srgbClr val="14213D"/>
                </a:solidFill>
                <a:latin typeface="Courier New" pitchFamily="34" charset="0"/>
                <a:ea typeface="Courier New" pitchFamily="34" charset="-122"/>
                <a:cs typeface="Courier New" pitchFamily="34" charset="-120"/>
              </a:rPr>
              <a:t>…</a:t>
            </a:r>
            <a:endParaRPr lang="en-US" sz="1300" dirty="0"/>
          </a:p>
        </p:txBody>
      </p:sp>
      <p:sp>
        <p:nvSpPr>
          <p:cNvPr id="34" name="Text 29"/>
          <p:cNvSpPr txBox="1"/>
          <p:nvPr/>
        </p:nvSpPr>
        <p:spPr>
          <a:xfrm>
            <a:off x="548640" y="4160520"/>
            <a:ext cx="1463040" cy="502920"/>
          </a:xfrm>
          <a:prstGeom prst="rect">
            <a:avLst/>
          </a:prstGeom>
          <a:noFill/>
          <a:ln/>
        </p:spPr>
        <p:txBody>
          <a:bodyPr wrap="square" lIns="0" tIns="0" rIns="0" bIns="0" rtlCol="0" anchor="ctr"/>
          <a:lstStyle/>
          <a:p>
            <a:pPr indent="0" marL="0">
              <a:buNone/>
            </a:pPr>
            <a:r>
              <a:rPr lang="en-US" sz="1400" b="1" dirty="0">
                <a:solidFill>
                  <a:srgbClr val="333B4F"/>
                </a:solidFill>
                <a:latin typeface="Courier New" pitchFamily="34" charset="0"/>
                <a:ea typeface="Courier New" pitchFamily="34" charset="-122"/>
                <a:cs typeface="Courier New" pitchFamily="34" charset="-120"/>
              </a:rPr>
              <a:t>midterms</a:t>
            </a:r>
            <a:endParaRPr lang="en-US" sz="1400" dirty="0"/>
          </a:p>
        </p:txBody>
      </p:sp>
      <p:sp>
        <p:nvSpPr>
          <p:cNvPr id="35" name="Shape 30"/>
          <p:cNvSpPr/>
          <p:nvPr/>
        </p:nvSpPr>
        <p:spPr>
          <a:xfrm>
            <a:off x="2057400" y="4160520"/>
            <a:ext cx="1920240" cy="502920"/>
          </a:xfrm>
          <a:prstGeom prst="rect">
            <a:avLst/>
          </a:prstGeom>
          <a:solidFill>
            <a:srgbClr val="FFFFFF"/>
          </a:solidFill>
          <a:ln w="9525">
            <a:solidFill>
              <a:srgbClr val="8A94AB"/>
            </a:solidFill>
            <a:prstDash val="solid"/>
          </a:ln>
        </p:spPr>
      </p:sp>
      <p:sp>
        <p:nvSpPr>
          <p:cNvPr id="36" name="Text 31"/>
          <p:cNvSpPr txBox="1"/>
          <p:nvPr/>
        </p:nvSpPr>
        <p:spPr>
          <a:xfrm>
            <a:off x="2057400" y="4160520"/>
            <a:ext cx="1920240" cy="502920"/>
          </a:xfrm>
          <a:prstGeom prst="rect">
            <a:avLst/>
          </a:prstGeom>
          <a:noFill/>
          <a:ln/>
        </p:spPr>
        <p:txBody>
          <a:bodyPr wrap="square" lIns="0" tIns="0" rIns="0" bIns="0" rtlCol="0" anchor="ctr"/>
          <a:lstStyle/>
          <a:p>
            <a:pPr algn="ctr" indent="0" marL="0">
              <a:buNone/>
            </a:pPr>
            <a:r>
              <a:rPr lang="en-US" sz="1300" b="1" dirty="0">
                <a:solidFill>
                  <a:srgbClr val="14213D"/>
                </a:solidFill>
                <a:latin typeface="Courier New" pitchFamily="34" charset="0"/>
                <a:ea typeface="Courier New" pitchFamily="34" charset="-122"/>
                <a:cs typeface="Courier New" pitchFamily="34" charset="-120"/>
              </a:rPr>
              <a:t>72</a:t>
            </a:r>
            <a:endParaRPr lang="en-US" sz="1300" dirty="0"/>
          </a:p>
        </p:txBody>
      </p:sp>
      <p:sp>
        <p:nvSpPr>
          <p:cNvPr id="37" name="Shape 32"/>
          <p:cNvSpPr/>
          <p:nvPr/>
        </p:nvSpPr>
        <p:spPr>
          <a:xfrm>
            <a:off x="3977640" y="4160520"/>
            <a:ext cx="1920240" cy="502920"/>
          </a:xfrm>
          <a:prstGeom prst="rect">
            <a:avLst/>
          </a:prstGeom>
          <a:solidFill>
            <a:srgbClr val="FFF1D6"/>
          </a:solidFill>
          <a:ln w="9525">
            <a:solidFill>
              <a:srgbClr val="8A94AB"/>
            </a:solidFill>
            <a:prstDash val="solid"/>
          </a:ln>
        </p:spPr>
      </p:sp>
      <p:sp>
        <p:nvSpPr>
          <p:cNvPr id="38" name="Text 33"/>
          <p:cNvSpPr txBox="1"/>
          <p:nvPr/>
        </p:nvSpPr>
        <p:spPr>
          <a:xfrm>
            <a:off x="3977640" y="4160520"/>
            <a:ext cx="1920240" cy="502920"/>
          </a:xfrm>
          <a:prstGeom prst="rect">
            <a:avLst/>
          </a:prstGeom>
          <a:noFill/>
          <a:ln/>
        </p:spPr>
        <p:txBody>
          <a:bodyPr wrap="square" lIns="0" tIns="0" rIns="0" bIns="0" rtlCol="0" anchor="ctr"/>
          <a:lstStyle/>
          <a:p>
            <a:pPr algn="ctr" indent="0" marL="0">
              <a:buNone/>
            </a:pPr>
            <a:r>
              <a:rPr lang="en-US" sz="1300" b="1" dirty="0">
                <a:solidFill>
                  <a:srgbClr val="14213D"/>
                </a:solidFill>
                <a:latin typeface="Courier New" pitchFamily="34" charset="0"/>
                <a:ea typeface="Courier New" pitchFamily="34" charset="-122"/>
                <a:cs typeface="Courier New" pitchFamily="34" charset="-120"/>
              </a:rPr>
              <a:t>55</a:t>
            </a:r>
            <a:endParaRPr lang="en-US" sz="1300" dirty="0"/>
          </a:p>
        </p:txBody>
      </p:sp>
      <p:sp>
        <p:nvSpPr>
          <p:cNvPr id="39" name="Shape 34"/>
          <p:cNvSpPr/>
          <p:nvPr/>
        </p:nvSpPr>
        <p:spPr>
          <a:xfrm>
            <a:off x="5897880" y="4160520"/>
            <a:ext cx="1920240" cy="502920"/>
          </a:xfrm>
          <a:prstGeom prst="rect">
            <a:avLst/>
          </a:prstGeom>
          <a:solidFill>
            <a:srgbClr val="FFFFFF"/>
          </a:solidFill>
          <a:ln w="9525">
            <a:solidFill>
              <a:srgbClr val="8A94AB"/>
            </a:solidFill>
            <a:prstDash val="solid"/>
          </a:ln>
        </p:spPr>
      </p:sp>
      <p:sp>
        <p:nvSpPr>
          <p:cNvPr id="40" name="Text 35"/>
          <p:cNvSpPr txBox="1"/>
          <p:nvPr/>
        </p:nvSpPr>
        <p:spPr>
          <a:xfrm>
            <a:off x="5897880" y="4160520"/>
            <a:ext cx="1920240" cy="502920"/>
          </a:xfrm>
          <a:prstGeom prst="rect">
            <a:avLst/>
          </a:prstGeom>
          <a:noFill/>
          <a:ln/>
        </p:spPr>
        <p:txBody>
          <a:bodyPr wrap="square" lIns="0" tIns="0" rIns="0" bIns="0" rtlCol="0" anchor="ctr"/>
          <a:lstStyle/>
          <a:p>
            <a:pPr algn="ctr" indent="0" marL="0">
              <a:buNone/>
            </a:pPr>
            <a:r>
              <a:rPr lang="en-US" sz="1300" b="1" dirty="0">
                <a:solidFill>
                  <a:srgbClr val="14213D"/>
                </a:solidFill>
                <a:latin typeface="Courier New" pitchFamily="34" charset="0"/>
                <a:ea typeface="Courier New" pitchFamily="34" charset="-122"/>
                <a:cs typeface="Courier New" pitchFamily="34" charset="-120"/>
              </a:rPr>
              <a:t>88</a:t>
            </a:r>
            <a:endParaRPr lang="en-US" sz="1300" dirty="0"/>
          </a:p>
        </p:txBody>
      </p:sp>
      <p:sp>
        <p:nvSpPr>
          <p:cNvPr id="41" name="Shape 36"/>
          <p:cNvSpPr/>
          <p:nvPr/>
        </p:nvSpPr>
        <p:spPr>
          <a:xfrm>
            <a:off x="7818120" y="4160520"/>
            <a:ext cx="1920240" cy="502920"/>
          </a:xfrm>
          <a:prstGeom prst="rect">
            <a:avLst/>
          </a:prstGeom>
          <a:solidFill>
            <a:srgbClr val="FFFFFF"/>
          </a:solidFill>
          <a:ln w="9525">
            <a:solidFill>
              <a:srgbClr val="8A94AB"/>
            </a:solidFill>
            <a:prstDash val="solid"/>
          </a:ln>
        </p:spPr>
      </p:sp>
      <p:sp>
        <p:nvSpPr>
          <p:cNvPr id="42" name="Text 37"/>
          <p:cNvSpPr txBox="1"/>
          <p:nvPr/>
        </p:nvSpPr>
        <p:spPr>
          <a:xfrm>
            <a:off x="7818120" y="4160520"/>
            <a:ext cx="1920240" cy="502920"/>
          </a:xfrm>
          <a:prstGeom prst="rect">
            <a:avLst/>
          </a:prstGeom>
          <a:noFill/>
          <a:ln/>
        </p:spPr>
        <p:txBody>
          <a:bodyPr wrap="square" lIns="0" tIns="0" rIns="0" bIns="0" rtlCol="0" anchor="ctr"/>
          <a:lstStyle/>
          <a:p>
            <a:pPr algn="ctr" indent="0" marL="0">
              <a:buNone/>
            </a:pPr>
            <a:r>
              <a:rPr lang="en-US" sz="1300" b="1" dirty="0">
                <a:solidFill>
                  <a:srgbClr val="14213D"/>
                </a:solidFill>
                <a:latin typeface="Courier New" pitchFamily="34" charset="0"/>
                <a:ea typeface="Courier New" pitchFamily="34" charset="-122"/>
                <a:cs typeface="Courier New" pitchFamily="34" charset="-120"/>
              </a:rPr>
              <a:t>58</a:t>
            </a:r>
            <a:endParaRPr lang="en-US" sz="1300" dirty="0"/>
          </a:p>
        </p:txBody>
      </p:sp>
      <p:sp>
        <p:nvSpPr>
          <p:cNvPr id="43" name="Shape 38"/>
          <p:cNvSpPr/>
          <p:nvPr/>
        </p:nvSpPr>
        <p:spPr>
          <a:xfrm>
            <a:off x="9738360" y="4160520"/>
            <a:ext cx="822960" cy="502920"/>
          </a:xfrm>
          <a:prstGeom prst="rect">
            <a:avLst/>
          </a:prstGeom>
          <a:solidFill>
            <a:srgbClr val="EEF1F6"/>
          </a:solidFill>
          <a:ln w="9525">
            <a:solidFill>
              <a:srgbClr val="8A94AB"/>
            </a:solidFill>
            <a:prstDash val="solid"/>
          </a:ln>
        </p:spPr>
      </p:sp>
      <p:sp>
        <p:nvSpPr>
          <p:cNvPr id="44" name="Text 39"/>
          <p:cNvSpPr txBox="1"/>
          <p:nvPr/>
        </p:nvSpPr>
        <p:spPr>
          <a:xfrm>
            <a:off x="9738360" y="4160520"/>
            <a:ext cx="822960" cy="502920"/>
          </a:xfrm>
          <a:prstGeom prst="rect">
            <a:avLst/>
          </a:prstGeom>
          <a:noFill/>
          <a:ln/>
        </p:spPr>
        <p:txBody>
          <a:bodyPr wrap="square" lIns="0" tIns="0" rIns="0" bIns="0" rtlCol="0" anchor="ctr"/>
          <a:lstStyle/>
          <a:p>
            <a:pPr algn="ctr" indent="0" marL="0">
              <a:buNone/>
            </a:pPr>
            <a:r>
              <a:rPr lang="en-US" sz="1300" b="1" dirty="0">
                <a:solidFill>
                  <a:srgbClr val="14213D"/>
                </a:solidFill>
                <a:latin typeface="Courier New" pitchFamily="34" charset="0"/>
                <a:ea typeface="Courier New" pitchFamily="34" charset="-122"/>
                <a:cs typeface="Courier New" pitchFamily="34" charset="-120"/>
              </a:rPr>
              <a:t>0</a:t>
            </a:r>
            <a:endParaRPr lang="en-US" sz="1300" dirty="0"/>
          </a:p>
        </p:txBody>
      </p:sp>
      <p:sp>
        <p:nvSpPr>
          <p:cNvPr id="45" name="Shape 40"/>
          <p:cNvSpPr/>
          <p:nvPr/>
        </p:nvSpPr>
        <p:spPr>
          <a:xfrm>
            <a:off x="10561320" y="4160520"/>
            <a:ext cx="548640" cy="502920"/>
          </a:xfrm>
          <a:prstGeom prst="rect">
            <a:avLst/>
          </a:prstGeom>
          <a:solidFill>
            <a:srgbClr val="EEF1F6"/>
          </a:solidFill>
          <a:ln w="9525">
            <a:solidFill>
              <a:srgbClr val="8A94AB"/>
            </a:solidFill>
            <a:prstDash val="solid"/>
          </a:ln>
        </p:spPr>
      </p:sp>
      <p:sp>
        <p:nvSpPr>
          <p:cNvPr id="46" name="Text 41"/>
          <p:cNvSpPr txBox="1"/>
          <p:nvPr/>
        </p:nvSpPr>
        <p:spPr>
          <a:xfrm>
            <a:off x="10561320" y="4160520"/>
            <a:ext cx="548640" cy="502920"/>
          </a:xfrm>
          <a:prstGeom prst="rect">
            <a:avLst/>
          </a:prstGeom>
          <a:noFill/>
          <a:ln/>
        </p:spPr>
        <p:txBody>
          <a:bodyPr wrap="square" lIns="0" tIns="0" rIns="0" bIns="0" rtlCol="0" anchor="ctr"/>
          <a:lstStyle/>
          <a:p>
            <a:pPr algn="ctr" indent="0" marL="0">
              <a:buNone/>
            </a:pPr>
            <a:r>
              <a:rPr lang="en-US" sz="1300" b="1" dirty="0">
                <a:solidFill>
                  <a:srgbClr val="14213D"/>
                </a:solidFill>
                <a:latin typeface="Courier New" pitchFamily="34" charset="0"/>
                <a:ea typeface="Courier New" pitchFamily="34" charset="-122"/>
                <a:cs typeface="Courier New" pitchFamily="34" charset="-120"/>
              </a:rPr>
              <a:t>…</a:t>
            </a:r>
            <a:endParaRPr lang="en-US" sz="1300" dirty="0"/>
          </a:p>
        </p:txBody>
      </p:sp>
      <p:sp>
        <p:nvSpPr>
          <p:cNvPr id="47" name="Text 42"/>
          <p:cNvSpPr txBox="1"/>
          <p:nvPr/>
        </p:nvSpPr>
        <p:spPr>
          <a:xfrm>
            <a:off x="548640" y="4800600"/>
            <a:ext cx="1463040" cy="502920"/>
          </a:xfrm>
          <a:prstGeom prst="rect">
            <a:avLst/>
          </a:prstGeom>
          <a:noFill/>
          <a:ln/>
        </p:spPr>
        <p:txBody>
          <a:bodyPr wrap="square" lIns="0" tIns="0" rIns="0" bIns="0" rtlCol="0" anchor="ctr"/>
          <a:lstStyle/>
          <a:p>
            <a:pPr indent="0" marL="0">
              <a:buNone/>
            </a:pPr>
            <a:r>
              <a:rPr lang="en-US" sz="1400" b="1" dirty="0">
                <a:solidFill>
                  <a:srgbClr val="333B4F"/>
                </a:solidFill>
                <a:latin typeface="Courier New" pitchFamily="34" charset="0"/>
                <a:ea typeface="Courier New" pitchFamily="34" charset="-122"/>
                <a:cs typeface="Courier New" pitchFamily="34" charset="-120"/>
              </a:rPr>
              <a:t>finals</a:t>
            </a:r>
            <a:endParaRPr lang="en-US" sz="1400" dirty="0"/>
          </a:p>
        </p:txBody>
      </p:sp>
      <p:sp>
        <p:nvSpPr>
          <p:cNvPr id="48" name="Shape 43"/>
          <p:cNvSpPr/>
          <p:nvPr/>
        </p:nvSpPr>
        <p:spPr>
          <a:xfrm>
            <a:off x="2057400" y="4800600"/>
            <a:ext cx="1920240" cy="502920"/>
          </a:xfrm>
          <a:prstGeom prst="rect">
            <a:avLst/>
          </a:prstGeom>
          <a:solidFill>
            <a:srgbClr val="FFFFFF"/>
          </a:solidFill>
          <a:ln w="9525">
            <a:solidFill>
              <a:srgbClr val="8A94AB"/>
            </a:solidFill>
            <a:prstDash val="solid"/>
          </a:ln>
        </p:spPr>
      </p:sp>
      <p:sp>
        <p:nvSpPr>
          <p:cNvPr id="49" name="Text 44"/>
          <p:cNvSpPr txBox="1"/>
          <p:nvPr/>
        </p:nvSpPr>
        <p:spPr>
          <a:xfrm>
            <a:off x="2057400" y="4800600"/>
            <a:ext cx="1920240" cy="502920"/>
          </a:xfrm>
          <a:prstGeom prst="rect">
            <a:avLst/>
          </a:prstGeom>
          <a:noFill/>
          <a:ln/>
        </p:spPr>
        <p:txBody>
          <a:bodyPr wrap="square" lIns="0" tIns="0" rIns="0" bIns="0" rtlCol="0" anchor="ctr"/>
          <a:lstStyle/>
          <a:p>
            <a:pPr algn="ctr" indent="0" marL="0">
              <a:buNone/>
            </a:pPr>
            <a:r>
              <a:rPr lang="en-US" sz="1300" b="1" dirty="0">
                <a:solidFill>
                  <a:srgbClr val="14213D"/>
                </a:solidFill>
                <a:latin typeface="Courier New" pitchFamily="34" charset="0"/>
                <a:ea typeface="Courier New" pitchFamily="34" charset="-122"/>
                <a:cs typeface="Courier New" pitchFamily="34" charset="-120"/>
              </a:rPr>
              <a:t>64</a:t>
            </a:r>
            <a:endParaRPr lang="en-US" sz="1300" dirty="0"/>
          </a:p>
        </p:txBody>
      </p:sp>
      <p:sp>
        <p:nvSpPr>
          <p:cNvPr id="50" name="Text 45"/>
          <p:cNvSpPr txBox="1"/>
          <p:nvPr/>
        </p:nvSpPr>
        <p:spPr>
          <a:xfrm>
            <a:off x="2057400" y="5330952"/>
            <a:ext cx="1920240" cy="256032"/>
          </a:xfrm>
          <a:prstGeom prst="rect">
            <a:avLst/>
          </a:prstGeom>
          <a:noFill/>
          <a:ln/>
        </p:spPr>
        <p:txBody>
          <a:bodyPr wrap="square" lIns="0" tIns="0" rIns="0" bIns="0" rtlCol="0" anchor="ctr"/>
          <a:lstStyle/>
          <a:p>
            <a:pPr algn="ctr" indent="0" marL="0">
              <a:buNone/>
            </a:pPr>
            <a:r>
              <a:rPr lang="en-US" sz="1300" dirty="0">
                <a:solidFill>
                  <a:srgbClr val="5B6478"/>
                </a:solidFill>
                <a:latin typeface="Courier New" pitchFamily="34" charset="0"/>
                <a:ea typeface="Courier New" pitchFamily="34" charset="-122"/>
                <a:cs typeface="Courier New" pitchFamily="34" charset="-120"/>
              </a:rPr>
              <a:t>0</a:t>
            </a:r>
            <a:endParaRPr lang="en-US" sz="1300" dirty="0"/>
          </a:p>
        </p:txBody>
      </p:sp>
      <p:sp>
        <p:nvSpPr>
          <p:cNvPr id="51" name="Shape 46"/>
          <p:cNvSpPr/>
          <p:nvPr/>
        </p:nvSpPr>
        <p:spPr>
          <a:xfrm>
            <a:off x="3977640" y="4800600"/>
            <a:ext cx="1920240" cy="502920"/>
          </a:xfrm>
          <a:prstGeom prst="rect">
            <a:avLst/>
          </a:prstGeom>
          <a:solidFill>
            <a:srgbClr val="FFF1D6"/>
          </a:solidFill>
          <a:ln w="9525">
            <a:solidFill>
              <a:srgbClr val="8A94AB"/>
            </a:solidFill>
            <a:prstDash val="solid"/>
          </a:ln>
        </p:spPr>
      </p:sp>
      <p:sp>
        <p:nvSpPr>
          <p:cNvPr id="52" name="Text 47"/>
          <p:cNvSpPr txBox="1"/>
          <p:nvPr/>
        </p:nvSpPr>
        <p:spPr>
          <a:xfrm>
            <a:off x="3977640" y="4800600"/>
            <a:ext cx="1920240" cy="502920"/>
          </a:xfrm>
          <a:prstGeom prst="rect">
            <a:avLst/>
          </a:prstGeom>
          <a:noFill/>
          <a:ln/>
        </p:spPr>
        <p:txBody>
          <a:bodyPr wrap="square" lIns="0" tIns="0" rIns="0" bIns="0" rtlCol="0" anchor="ctr"/>
          <a:lstStyle/>
          <a:p>
            <a:pPr algn="ctr" indent="0" marL="0">
              <a:buNone/>
            </a:pPr>
            <a:r>
              <a:rPr lang="en-US" sz="1300" b="1" dirty="0">
                <a:solidFill>
                  <a:srgbClr val="14213D"/>
                </a:solidFill>
                <a:latin typeface="Courier New" pitchFamily="34" charset="0"/>
                <a:ea typeface="Courier New" pitchFamily="34" charset="-122"/>
                <a:cs typeface="Courier New" pitchFamily="34" charset="-120"/>
              </a:rPr>
              <a:t>66</a:t>
            </a:r>
            <a:endParaRPr lang="en-US" sz="1300" dirty="0"/>
          </a:p>
        </p:txBody>
      </p:sp>
      <p:sp>
        <p:nvSpPr>
          <p:cNvPr id="53" name="Text 48"/>
          <p:cNvSpPr txBox="1"/>
          <p:nvPr/>
        </p:nvSpPr>
        <p:spPr>
          <a:xfrm>
            <a:off x="3977640" y="5330952"/>
            <a:ext cx="1920240" cy="256032"/>
          </a:xfrm>
          <a:prstGeom prst="rect">
            <a:avLst/>
          </a:prstGeom>
          <a:noFill/>
          <a:ln/>
        </p:spPr>
        <p:txBody>
          <a:bodyPr wrap="square" lIns="0" tIns="0" rIns="0" bIns="0" rtlCol="0" anchor="ctr"/>
          <a:lstStyle/>
          <a:p>
            <a:pPr algn="ctr" indent="0" marL="0">
              <a:buNone/>
            </a:pPr>
            <a:r>
              <a:rPr lang="en-US" sz="1300" dirty="0">
                <a:solidFill>
                  <a:srgbClr val="5B6478"/>
                </a:solidFill>
                <a:latin typeface="Courier New" pitchFamily="34" charset="0"/>
                <a:ea typeface="Courier New" pitchFamily="34" charset="-122"/>
                <a:cs typeface="Courier New" pitchFamily="34" charset="-120"/>
              </a:rPr>
              <a:t>1</a:t>
            </a:r>
            <a:endParaRPr lang="en-US" sz="1300" dirty="0"/>
          </a:p>
        </p:txBody>
      </p:sp>
      <p:sp>
        <p:nvSpPr>
          <p:cNvPr id="54" name="Shape 49"/>
          <p:cNvSpPr/>
          <p:nvPr/>
        </p:nvSpPr>
        <p:spPr>
          <a:xfrm>
            <a:off x="5897880" y="4800600"/>
            <a:ext cx="1920240" cy="502920"/>
          </a:xfrm>
          <a:prstGeom prst="rect">
            <a:avLst/>
          </a:prstGeom>
          <a:solidFill>
            <a:srgbClr val="FFFFFF"/>
          </a:solidFill>
          <a:ln w="9525">
            <a:solidFill>
              <a:srgbClr val="8A94AB"/>
            </a:solidFill>
            <a:prstDash val="solid"/>
          </a:ln>
        </p:spPr>
      </p:sp>
      <p:sp>
        <p:nvSpPr>
          <p:cNvPr id="55" name="Text 50"/>
          <p:cNvSpPr txBox="1"/>
          <p:nvPr/>
        </p:nvSpPr>
        <p:spPr>
          <a:xfrm>
            <a:off x="5897880" y="4800600"/>
            <a:ext cx="1920240" cy="502920"/>
          </a:xfrm>
          <a:prstGeom prst="rect">
            <a:avLst/>
          </a:prstGeom>
          <a:noFill/>
          <a:ln/>
        </p:spPr>
        <p:txBody>
          <a:bodyPr wrap="square" lIns="0" tIns="0" rIns="0" bIns="0" rtlCol="0" anchor="ctr"/>
          <a:lstStyle/>
          <a:p>
            <a:pPr algn="ctr" indent="0" marL="0">
              <a:buNone/>
            </a:pPr>
            <a:r>
              <a:rPr lang="en-US" sz="1300" b="1" dirty="0">
                <a:solidFill>
                  <a:srgbClr val="14213D"/>
                </a:solidFill>
                <a:latin typeface="Courier New" pitchFamily="34" charset="0"/>
                <a:ea typeface="Courier New" pitchFamily="34" charset="-122"/>
                <a:cs typeface="Courier New" pitchFamily="34" charset="-120"/>
              </a:rPr>
              <a:t>95</a:t>
            </a:r>
            <a:endParaRPr lang="en-US" sz="1300" dirty="0"/>
          </a:p>
        </p:txBody>
      </p:sp>
      <p:sp>
        <p:nvSpPr>
          <p:cNvPr id="56" name="Text 51"/>
          <p:cNvSpPr txBox="1"/>
          <p:nvPr/>
        </p:nvSpPr>
        <p:spPr>
          <a:xfrm>
            <a:off x="5897880" y="5330952"/>
            <a:ext cx="1920240" cy="256032"/>
          </a:xfrm>
          <a:prstGeom prst="rect">
            <a:avLst/>
          </a:prstGeom>
          <a:noFill/>
          <a:ln/>
        </p:spPr>
        <p:txBody>
          <a:bodyPr wrap="square" lIns="0" tIns="0" rIns="0" bIns="0" rtlCol="0" anchor="ctr"/>
          <a:lstStyle/>
          <a:p>
            <a:pPr algn="ctr" indent="0" marL="0">
              <a:buNone/>
            </a:pPr>
            <a:r>
              <a:rPr lang="en-US" sz="1300" dirty="0">
                <a:solidFill>
                  <a:srgbClr val="5B6478"/>
                </a:solidFill>
                <a:latin typeface="Courier New" pitchFamily="34" charset="0"/>
                <a:ea typeface="Courier New" pitchFamily="34" charset="-122"/>
                <a:cs typeface="Courier New" pitchFamily="34" charset="-120"/>
              </a:rPr>
              <a:t>2</a:t>
            </a:r>
            <a:endParaRPr lang="en-US" sz="1300" dirty="0"/>
          </a:p>
        </p:txBody>
      </p:sp>
      <p:sp>
        <p:nvSpPr>
          <p:cNvPr id="57" name="Shape 52"/>
          <p:cNvSpPr/>
          <p:nvPr/>
        </p:nvSpPr>
        <p:spPr>
          <a:xfrm>
            <a:off x="7818120" y="4800600"/>
            <a:ext cx="1920240" cy="502920"/>
          </a:xfrm>
          <a:prstGeom prst="rect">
            <a:avLst/>
          </a:prstGeom>
          <a:solidFill>
            <a:srgbClr val="FFFFFF"/>
          </a:solidFill>
          <a:ln w="9525">
            <a:solidFill>
              <a:srgbClr val="8A94AB"/>
            </a:solidFill>
            <a:prstDash val="solid"/>
          </a:ln>
        </p:spPr>
      </p:sp>
      <p:sp>
        <p:nvSpPr>
          <p:cNvPr id="58" name="Text 53"/>
          <p:cNvSpPr txBox="1"/>
          <p:nvPr/>
        </p:nvSpPr>
        <p:spPr>
          <a:xfrm>
            <a:off x="7818120" y="4800600"/>
            <a:ext cx="1920240" cy="502920"/>
          </a:xfrm>
          <a:prstGeom prst="rect">
            <a:avLst/>
          </a:prstGeom>
          <a:noFill/>
          <a:ln/>
        </p:spPr>
        <p:txBody>
          <a:bodyPr wrap="square" lIns="0" tIns="0" rIns="0" bIns="0" rtlCol="0" anchor="ctr"/>
          <a:lstStyle/>
          <a:p>
            <a:pPr algn="ctr" indent="0" marL="0">
              <a:buNone/>
            </a:pPr>
            <a:r>
              <a:rPr lang="en-US" sz="1300" b="1" dirty="0">
                <a:solidFill>
                  <a:srgbClr val="14213D"/>
                </a:solidFill>
                <a:latin typeface="Courier New" pitchFamily="34" charset="0"/>
                <a:ea typeface="Courier New" pitchFamily="34" charset="-122"/>
                <a:cs typeface="Courier New" pitchFamily="34" charset="-120"/>
              </a:rPr>
              <a:t>61</a:t>
            </a:r>
            <a:endParaRPr lang="en-US" sz="1300" dirty="0"/>
          </a:p>
        </p:txBody>
      </p:sp>
      <p:sp>
        <p:nvSpPr>
          <p:cNvPr id="59" name="Text 54"/>
          <p:cNvSpPr txBox="1"/>
          <p:nvPr/>
        </p:nvSpPr>
        <p:spPr>
          <a:xfrm>
            <a:off x="7818120" y="5330952"/>
            <a:ext cx="1920240" cy="256032"/>
          </a:xfrm>
          <a:prstGeom prst="rect">
            <a:avLst/>
          </a:prstGeom>
          <a:noFill/>
          <a:ln/>
        </p:spPr>
        <p:txBody>
          <a:bodyPr wrap="square" lIns="0" tIns="0" rIns="0" bIns="0" rtlCol="0" anchor="ctr"/>
          <a:lstStyle/>
          <a:p>
            <a:pPr algn="ctr" indent="0" marL="0">
              <a:buNone/>
            </a:pPr>
            <a:r>
              <a:rPr lang="en-US" sz="1300" dirty="0">
                <a:solidFill>
                  <a:srgbClr val="5B6478"/>
                </a:solidFill>
                <a:latin typeface="Courier New" pitchFamily="34" charset="0"/>
                <a:ea typeface="Courier New" pitchFamily="34" charset="-122"/>
                <a:cs typeface="Courier New" pitchFamily="34" charset="-120"/>
              </a:rPr>
              <a:t>3</a:t>
            </a:r>
            <a:endParaRPr lang="en-US" sz="1300" dirty="0"/>
          </a:p>
        </p:txBody>
      </p:sp>
      <p:sp>
        <p:nvSpPr>
          <p:cNvPr id="60" name="Shape 55"/>
          <p:cNvSpPr/>
          <p:nvPr/>
        </p:nvSpPr>
        <p:spPr>
          <a:xfrm>
            <a:off x="9738360" y="4800600"/>
            <a:ext cx="822960" cy="502920"/>
          </a:xfrm>
          <a:prstGeom prst="rect">
            <a:avLst/>
          </a:prstGeom>
          <a:solidFill>
            <a:srgbClr val="EEF1F6"/>
          </a:solidFill>
          <a:ln w="9525">
            <a:solidFill>
              <a:srgbClr val="8A94AB"/>
            </a:solidFill>
            <a:prstDash val="solid"/>
          </a:ln>
        </p:spPr>
      </p:sp>
      <p:sp>
        <p:nvSpPr>
          <p:cNvPr id="61" name="Text 56"/>
          <p:cNvSpPr txBox="1"/>
          <p:nvPr/>
        </p:nvSpPr>
        <p:spPr>
          <a:xfrm>
            <a:off x="9738360" y="4800600"/>
            <a:ext cx="822960" cy="502920"/>
          </a:xfrm>
          <a:prstGeom prst="rect">
            <a:avLst/>
          </a:prstGeom>
          <a:noFill/>
          <a:ln/>
        </p:spPr>
        <p:txBody>
          <a:bodyPr wrap="square" lIns="0" tIns="0" rIns="0" bIns="0" rtlCol="0" anchor="ctr"/>
          <a:lstStyle/>
          <a:p>
            <a:pPr algn="ctr" indent="0" marL="0">
              <a:buNone/>
            </a:pPr>
            <a:r>
              <a:rPr lang="en-US" sz="1300" b="1" dirty="0">
                <a:solidFill>
                  <a:srgbClr val="14213D"/>
                </a:solidFill>
                <a:latin typeface="Courier New" pitchFamily="34" charset="0"/>
                <a:ea typeface="Courier New" pitchFamily="34" charset="-122"/>
                <a:cs typeface="Courier New" pitchFamily="34" charset="-120"/>
              </a:rPr>
              <a:t>0</a:t>
            </a:r>
            <a:endParaRPr lang="en-US" sz="1300" dirty="0"/>
          </a:p>
        </p:txBody>
      </p:sp>
      <p:sp>
        <p:nvSpPr>
          <p:cNvPr id="62" name="Text 57"/>
          <p:cNvSpPr txBox="1"/>
          <p:nvPr/>
        </p:nvSpPr>
        <p:spPr>
          <a:xfrm>
            <a:off x="9738360" y="5330952"/>
            <a:ext cx="822960" cy="256032"/>
          </a:xfrm>
          <a:prstGeom prst="rect">
            <a:avLst/>
          </a:prstGeom>
          <a:noFill/>
          <a:ln/>
        </p:spPr>
        <p:txBody>
          <a:bodyPr wrap="square" lIns="0" tIns="0" rIns="0" bIns="0" rtlCol="0" anchor="ctr"/>
          <a:lstStyle/>
          <a:p>
            <a:pPr algn="ctr" indent="0" marL="0">
              <a:buNone/>
            </a:pPr>
            <a:r>
              <a:rPr lang="en-US" sz="1300" dirty="0">
                <a:solidFill>
                  <a:srgbClr val="5B6478"/>
                </a:solidFill>
                <a:latin typeface="Courier New" pitchFamily="34" charset="0"/>
                <a:ea typeface="Courier New" pitchFamily="34" charset="-122"/>
                <a:cs typeface="Courier New" pitchFamily="34" charset="-120"/>
              </a:rPr>
              <a:t>4</a:t>
            </a:r>
            <a:endParaRPr lang="en-US" sz="1300" dirty="0"/>
          </a:p>
        </p:txBody>
      </p:sp>
      <p:sp>
        <p:nvSpPr>
          <p:cNvPr id="63" name="Shape 58"/>
          <p:cNvSpPr/>
          <p:nvPr/>
        </p:nvSpPr>
        <p:spPr>
          <a:xfrm>
            <a:off x="10561320" y="4800600"/>
            <a:ext cx="548640" cy="502920"/>
          </a:xfrm>
          <a:prstGeom prst="rect">
            <a:avLst/>
          </a:prstGeom>
          <a:solidFill>
            <a:srgbClr val="EEF1F6"/>
          </a:solidFill>
          <a:ln w="9525">
            <a:solidFill>
              <a:srgbClr val="8A94AB"/>
            </a:solidFill>
            <a:prstDash val="solid"/>
          </a:ln>
        </p:spPr>
      </p:sp>
      <p:sp>
        <p:nvSpPr>
          <p:cNvPr id="64" name="Text 59"/>
          <p:cNvSpPr txBox="1"/>
          <p:nvPr/>
        </p:nvSpPr>
        <p:spPr>
          <a:xfrm>
            <a:off x="10561320" y="4800600"/>
            <a:ext cx="548640" cy="502920"/>
          </a:xfrm>
          <a:prstGeom prst="rect">
            <a:avLst/>
          </a:prstGeom>
          <a:noFill/>
          <a:ln/>
        </p:spPr>
        <p:txBody>
          <a:bodyPr wrap="square" lIns="0" tIns="0" rIns="0" bIns="0" rtlCol="0" anchor="ctr"/>
          <a:lstStyle/>
          <a:p>
            <a:pPr algn="ctr" indent="0" marL="0">
              <a:buNone/>
            </a:pPr>
            <a:r>
              <a:rPr lang="en-US" sz="1300" b="1" dirty="0">
                <a:solidFill>
                  <a:srgbClr val="14213D"/>
                </a:solidFill>
                <a:latin typeface="Courier New" pitchFamily="34" charset="0"/>
                <a:ea typeface="Courier New" pitchFamily="34" charset="-122"/>
                <a:cs typeface="Courier New" pitchFamily="34" charset="-120"/>
              </a:rPr>
              <a:t>…</a:t>
            </a:r>
            <a:endParaRPr lang="en-US" sz="1300" dirty="0"/>
          </a:p>
        </p:txBody>
      </p:sp>
      <p:sp>
        <p:nvSpPr>
          <p:cNvPr id="65" name="Text 60"/>
          <p:cNvSpPr txBox="1"/>
          <p:nvPr/>
        </p:nvSpPr>
        <p:spPr>
          <a:xfrm>
            <a:off x="10561320" y="5330952"/>
            <a:ext cx="548640" cy="256032"/>
          </a:xfrm>
          <a:prstGeom prst="rect">
            <a:avLst/>
          </a:prstGeom>
          <a:noFill/>
          <a:ln/>
        </p:spPr>
        <p:txBody>
          <a:bodyPr wrap="square" lIns="0" tIns="0" rIns="0" bIns="0" rtlCol="0" anchor="ctr"/>
          <a:lstStyle/>
          <a:p>
            <a:pPr algn="ctr" indent="0" marL="0">
              <a:buNone/>
            </a:pPr>
            <a:r>
              <a:rPr lang="en-US" sz="1300" dirty="0">
                <a:solidFill>
                  <a:srgbClr val="5B6478"/>
                </a:solidFill>
                <a:latin typeface="Courier New" pitchFamily="34" charset="0"/>
                <a:ea typeface="Courier New" pitchFamily="34" charset="-122"/>
                <a:cs typeface="Courier New" pitchFamily="34" charset="-120"/>
              </a:rPr>
              <a:t>5</a:t>
            </a:r>
            <a:endParaRPr lang="en-US" sz="1300" dirty="0"/>
          </a:p>
        </p:txBody>
      </p:sp>
      <p:sp>
        <p:nvSpPr>
          <p:cNvPr id="66" name="Text 61"/>
          <p:cNvSpPr txBox="1"/>
          <p:nvPr/>
        </p:nvSpPr>
        <p:spPr>
          <a:xfrm>
            <a:off x="548640" y="5669280"/>
            <a:ext cx="11109960" cy="411480"/>
          </a:xfrm>
          <a:prstGeom prst="rect">
            <a:avLst/>
          </a:prstGeom>
          <a:noFill/>
          <a:ln/>
        </p:spPr>
        <p:txBody>
          <a:bodyPr wrap="square" lIns="0" tIns="0" rIns="0" bIns="0" rtlCol="0" anchor="ctr"/>
          <a:lstStyle/>
          <a:p>
            <a:pPr indent="0" marL="0">
              <a:buNone/>
            </a:pPr>
            <a:r>
              <a:rPr lang="en-US" sz="1400" b="1" dirty="0">
                <a:solidFill>
                  <a:srgbClr val="14213D"/>
                </a:solidFill>
                <a:latin typeface="Courier New" pitchFamily="34" charset="0"/>
                <a:ea typeface="Courier New" pitchFamily="34" charset="-122"/>
                <a:cs typeface="Courier New" pitchFamily="34" charset="-120"/>
              </a:rPr>
              <a:t>count = 4</a:t>
            </a:r>
            <a:pPr indent="0" marL="0">
              <a:buNone/>
            </a:pPr>
            <a:r>
              <a:rPr lang="en-US" sz="1400" dirty="0">
                <a:solidFill>
                  <a:srgbClr val="333B4F"/>
                </a:solidFill>
                <a:latin typeface="Calibri" pitchFamily="34" charset="0"/>
                <a:ea typeface="Calibri" pitchFamily="34" charset="-122"/>
                <a:cs typeface="Calibri" pitchFamily="34" charset="-120"/>
              </a:rPr>
              <a:t>  ·  index 1 = Burak Demir in all three arrays  ·  Capacity = 30 places (index 0 … 29)</a:t>
            </a:r>
            <a:endParaRPr lang="en-US" sz="14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MINI-PROJECT · METHOD MAP</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Ten small methods, each from a week you know</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14</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37</a:t>
            </a:r>
            <a:endParaRPr lang="en-US" sz="1000" dirty="0"/>
          </a:p>
        </p:txBody>
      </p:sp>
      <p:graphicFrame>
        <p:nvGraphicFramePr>
          <p:cNvPr id="38"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109960" cy="914400"/>
        </p:xfrm>
        <a:graphic>
          <a:graphicData uri="http://schemas.openxmlformats.org/drawingml/2006/table">
            <a:tbl>
              <a:tblPr/>
              <a:tblGrid>
                <a:gridCol w="4206240"/>
                <a:gridCol w="2103120"/>
                <a:gridCol w="3794760"/>
                <a:gridCol w="1005840"/>
              </a:tblGrid>
              <a:tr h="402336">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Method</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Kind</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Uses</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Week</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r>
              <a:tr h="402336">
                <a:tc>
                  <a:txBody>
                    <a:bodyPr/>
                    <a:lstStyle/>
                    <a:p>
                      <a:pPr algn="l" indent="0" marL="0">
                        <a:buNone/>
                      </a:pPr>
                      <a:r>
                        <a:rPr lang="en-US" sz="1400" b="1" dirty="0">
                          <a:solidFill>
                            <a:srgbClr val="14213D"/>
                          </a:solidFill>
                          <a:latin typeface="Courier New" pitchFamily="34" charset="0"/>
                          <a:ea typeface="Courier New" pitchFamily="34" charset="-122"/>
                          <a:cs typeface="Courier New" pitchFamily="34" charset="-120"/>
                        </a:rPr>
                        <a:t>ReadInt(prompt, min, max)</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int, input</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TryParse loop, range check</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7, 12</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402336">
                <a:tc>
                  <a:txBody>
                    <a:bodyPr/>
                    <a:lstStyle/>
                    <a:p>
                      <a:pPr algn="l" indent="0" marL="0">
                        <a:buNone/>
                      </a:pPr>
                      <a:r>
                        <a:rPr lang="en-US" sz="1400" b="1" dirty="0">
                          <a:solidFill>
                            <a:srgbClr val="14213D"/>
                          </a:solidFill>
                          <a:latin typeface="Courier New" pitchFamily="34" charset="0"/>
                          <a:ea typeface="Courier New" pitchFamily="34" charset="-122"/>
                          <a:cs typeface="Courier New" pitchFamily="34" charset="-120"/>
                        </a:rPr>
                        <a:t>ReadName(prompt)</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string, input</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Trim, Contains(',')</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12</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402336">
                <a:tc>
                  <a:txBody>
                    <a:bodyPr/>
                    <a:lstStyle/>
                    <a:p>
                      <a:pPr algn="l" indent="0" marL="0">
                        <a:buNone/>
                      </a:pPr>
                      <a:r>
                        <a:rPr lang="en-US" sz="1400" b="1" dirty="0">
                          <a:solidFill>
                            <a:srgbClr val="14213D"/>
                          </a:solidFill>
                          <a:latin typeface="Courier New" pitchFamily="34" charset="0"/>
                          <a:ea typeface="Courier New" pitchFamily="34" charset="-122"/>
                          <a:cs typeface="Courier New" pitchFamily="34" charset="-120"/>
                        </a:rPr>
                        <a:t>Average(midterm, final)</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double, pure</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0.4 · mid + 0.6 · fin</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4, 13</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402336">
                <a:tc>
                  <a:txBody>
                    <a:bodyPr/>
                    <a:lstStyle/>
                    <a:p>
                      <a:pPr algn="l" indent="0" marL="0">
                        <a:buNone/>
                      </a:pPr>
                      <a:r>
                        <a:rPr lang="en-US" sz="1400" b="1" dirty="0">
                          <a:solidFill>
                            <a:srgbClr val="14213D"/>
                          </a:solidFill>
                          <a:latin typeface="Courier New" pitchFamily="34" charset="0"/>
                          <a:ea typeface="Courier New" pitchFamily="34" charset="-122"/>
                          <a:cs typeface="Courier New" pitchFamily="34" charset="-120"/>
                        </a:rPr>
                        <a:t>LetterGrade(score)</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string, pure</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switch expression</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5</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402336">
                <a:tc>
                  <a:txBody>
                    <a:bodyPr/>
                    <a:lstStyle/>
                    <a:p>
                      <a:pPr algn="l" indent="0" marL="0">
                        <a:buNone/>
                      </a:pPr>
                      <a:r>
                        <a:rPr lang="en-US" sz="1400" b="1" dirty="0">
                          <a:solidFill>
                            <a:srgbClr val="14213D"/>
                          </a:solidFill>
                          <a:latin typeface="Courier New" pitchFamily="34" charset="0"/>
                          <a:ea typeface="Courier New" pitchFamily="34" charset="-122"/>
                          <a:cs typeface="Courier New" pitchFamily="34" charset="-120"/>
                        </a:rPr>
                        <a:t>IndexOfName(names, count, name)</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int, pure</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linear search, −1</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10</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402336">
                <a:tc>
                  <a:txBody>
                    <a:bodyPr/>
                    <a:lstStyle/>
                    <a:p>
                      <a:pPr algn="l" indent="0" marL="0">
                        <a:buNone/>
                      </a:pPr>
                      <a:r>
                        <a:rPr lang="en-US" sz="1400" b="1" dirty="0">
                          <a:solidFill>
                            <a:srgbClr val="14213D"/>
                          </a:solidFill>
                          <a:latin typeface="Courier New" pitchFamily="34" charset="0"/>
                          <a:ea typeface="Courier New" pitchFamily="34" charset="-122"/>
                          <a:cs typeface="Courier New" pitchFamily="34" charset="-120"/>
                        </a:rPr>
                        <a:t>AddStudent(…, count)</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int: new count</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arrays as parameters</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9, 12</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402336">
                <a:tc>
                  <a:txBody>
                    <a:bodyPr/>
                    <a:lstStyle/>
                    <a:p>
                      <a:pPr algn="l" indent="0" marL="0">
                        <a:buNone/>
                      </a:pPr>
                      <a:r>
                        <a:rPr lang="en-US" sz="1400" b="1" dirty="0">
                          <a:solidFill>
                            <a:srgbClr val="14213D"/>
                          </a:solidFill>
                          <a:latin typeface="Courier New" pitchFamily="34" charset="0"/>
                          <a:ea typeface="Courier New" pitchFamily="34" charset="-122"/>
                          <a:cs typeface="Courier New" pitchFamily="34" charset="-120"/>
                        </a:rPr>
                        <a:t>PrintList(…)</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void</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for loop, alignment {x,4}</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6, 9</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402336">
                <a:tc>
                  <a:txBody>
                    <a:bodyPr/>
                    <a:lstStyle/>
                    <a:p>
                      <a:pPr algn="l" indent="0" marL="0">
                        <a:buNone/>
                      </a:pPr>
                      <a:r>
                        <a:rPr lang="en-US" sz="1400" b="1" dirty="0">
                          <a:solidFill>
                            <a:srgbClr val="14213D"/>
                          </a:solidFill>
                          <a:latin typeface="Courier New" pitchFamily="34" charset="0"/>
                          <a:ea typeface="Courier New" pitchFamily="34" charset="-122"/>
                          <a:cs typeface="Courier New" pitchFamily="34" charset="-120"/>
                        </a:rPr>
                        <a:t>PrintStatistics(…)</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void</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sum, max with index, early return</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10, 13</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402336">
                <a:tc>
                  <a:txBody>
                    <a:bodyPr/>
                    <a:lstStyle/>
                    <a:p>
                      <a:pPr algn="l" indent="0" marL="0">
                        <a:buNone/>
                      </a:pPr>
                      <a:r>
                        <a:rPr lang="en-US" sz="1400" b="1" dirty="0">
                          <a:solidFill>
                            <a:srgbClr val="14213D"/>
                          </a:solidFill>
                          <a:latin typeface="Courier New" pitchFamily="34" charset="0"/>
                          <a:ea typeface="Courier New" pitchFamily="34" charset="-122"/>
                          <a:cs typeface="Courier New" pitchFamily="34" charset="-120"/>
                        </a:rPr>
                        <a:t>SaveToFile(path, …)</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void</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StreamWriter in using</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14</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402336">
                <a:tc>
                  <a:txBody>
                    <a:bodyPr/>
                    <a:lstStyle/>
                    <a:p>
                      <a:pPr algn="l" indent="0" marL="0">
                        <a:buNone/>
                      </a:pPr>
                      <a:r>
                        <a:rPr lang="en-US" sz="1400" b="1" dirty="0">
                          <a:solidFill>
                            <a:srgbClr val="14213D"/>
                          </a:solidFill>
                          <a:latin typeface="Courier New" pitchFamily="34" charset="0"/>
                          <a:ea typeface="Courier New" pitchFamily="34" charset="-122"/>
                          <a:cs typeface="Courier New" pitchFamily="34" charset="-120"/>
                        </a:rPr>
                        <a:t>LoadFromFile(path, …)</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int: count</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ReadAllLines, Split, try/catch</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14</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bl>
          </a:graphicData>
        </a:graphic>
      </p:graphicFrame>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MINI-PROJECT · START OF THE PROGRAM</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Declare the arrays, then load what was saved</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14</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38</a:t>
            </a:r>
            <a:endParaRPr lang="en-US" sz="1000" dirty="0"/>
          </a:p>
        </p:txBody>
      </p:sp>
      <p:sp>
        <p:nvSpPr>
          <p:cNvPr id="7" name="Shape 4"/>
          <p:cNvSpPr/>
          <p:nvPr/>
        </p:nvSpPr>
        <p:spPr>
          <a:xfrm>
            <a:off x="548640" y="1645920"/>
            <a:ext cx="6400800" cy="3200400"/>
          </a:xfrm>
          <a:prstGeom prst="roundRect">
            <a:avLst>
              <a:gd name="adj" fmla="val 2857"/>
            </a:avLst>
          </a:prstGeom>
          <a:solidFill>
            <a:srgbClr val="0F1729"/>
          </a:solidFill>
          <a:ln w="12700">
            <a:solidFill>
              <a:srgbClr val="0F1729"/>
            </a:solidFill>
            <a:prstDash val="solid"/>
          </a:ln>
        </p:spPr>
      </p:sp>
      <p:sp>
        <p:nvSpPr>
          <p:cNvPr id="8" name="Text 5"/>
          <p:cNvSpPr txBox="1"/>
          <p:nvPr/>
        </p:nvSpPr>
        <p:spPr>
          <a:xfrm>
            <a:off x="777240" y="1755648"/>
            <a:ext cx="594360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14_12_GradeManager · lines 4–13</a:t>
            </a:r>
            <a:endParaRPr lang="en-US" sz="1100" dirty="0"/>
          </a:p>
        </p:txBody>
      </p:sp>
      <p:sp>
        <p:nvSpPr>
          <p:cNvPr id="9" name="Text 6"/>
          <p:cNvSpPr txBox="1"/>
          <p:nvPr/>
        </p:nvSpPr>
        <p:spPr>
          <a:xfrm>
            <a:off x="777240" y="2057400"/>
            <a:ext cx="5943600" cy="2679192"/>
          </a:xfrm>
          <a:prstGeom prst="rect">
            <a:avLst/>
          </a:prstGeom>
          <a:noFill/>
          <a:ln/>
        </p:spPr>
        <p:txBody>
          <a:bodyPr wrap="square" lIns="0" tIns="0" rIns="0" bIns="0" rtlCol="0" anchor="t"/>
          <a:lstStyle/>
          <a:p>
            <a:pPr indent="0" marL="0">
              <a:spcAft>
                <a:spcPts val="100"/>
              </a:spcAft>
              <a:buNone/>
            </a:pPr>
            <a:r>
              <a:rPr lang="en-US" sz="1250" dirty="0">
                <a:solidFill>
                  <a:srgbClr val="7AB8FF"/>
                </a:solidFill>
                <a:latin typeface="Courier New" pitchFamily="34" charset="0"/>
                <a:ea typeface="Courier New" pitchFamily="34" charset="-122"/>
                <a:cs typeface="Courier New" pitchFamily="34" charset="-120"/>
              </a:rPr>
              <a:t>const</a:t>
            </a:r>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5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 Capacity = </a:t>
            </a:r>
            <a:pPr indent="0" marL="0">
              <a:spcAft>
                <a:spcPts val="100"/>
              </a:spcAft>
              <a:buNone/>
            </a:pPr>
            <a:r>
              <a:rPr lang="en-US" sz="1250" dirty="0">
                <a:solidFill>
                  <a:srgbClr val="B5CEA8"/>
                </a:solidFill>
                <a:latin typeface="Courier New" pitchFamily="34" charset="0"/>
                <a:ea typeface="Courier New" pitchFamily="34" charset="-122"/>
                <a:cs typeface="Courier New" pitchFamily="34" charset="-120"/>
              </a:rPr>
              <a:t>30</a:t>
            </a:r>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a:t>
            </a:r>
            <a:endParaRPr lang="en-US" sz="1250" dirty="0"/>
          </a:p>
          <a:p>
            <a:pPr indent="0" marL="0">
              <a:spcAft>
                <a:spcPts val="100"/>
              </a:spcAft>
              <a:buNone/>
            </a:pPr>
            <a:r>
              <a:rPr lang="en-US" sz="1250" dirty="0">
                <a:solidFill>
                  <a:srgbClr val="4EC9B0"/>
                </a:solidFill>
                <a:latin typeface="Courier New" pitchFamily="34" charset="0"/>
                <a:ea typeface="Courier New" pitchFamily="34" charset="-122"/>
                <a:cs typeface="Courier New" pitchFamily="34" charset="-120"/>
              </a:rPr>
              <a:t>string</a:t>
            </a:r>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 names = </a:t>
            </a:r>
            <a:pPr indent="0" marL="0">
              <a:spcAft>
                <a:spcPts val="100"/>
              </a:spcAft>
              <a:buNone/>
            </a:pPr>
            <a:r>
              <a:rPr lang="en-US" sz="1250" dirty="0">
                <a:solidFill>
                  <a:srgbClr val="7AB8FF"/>
                </a:solidFill>
                <a:latin typeface="Courier New" pitchFamily="34" charset="0"/>
                <a:ea typeface="Courier New" pitchFamily="34" charset="-122"/>
                <a:cs typeface="Courier New" pitchFamily="34" charset="-120"/>
              </a:rPr>
              <a:t>new</a:t>
            </a:r>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50" dirty="0">
                <a:solidFill>
                  <a:srgbClr val="4EC9B0"/>
                </a:solidFill>
                <a:latin typeface="Courier New" pitchFamily="34" charset="0"/>
                <a:ea typeface="Courier New" pitchFamily="34" charset="-122"/>
                <a:cs typeface="Courier New" pitchFamily="34" charset="-120"/>
              </a:rPr>
              <a:t>string</a:t>
            </a:r>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[Capacity];</a:t>
            </a:r>
            <a:endParaRPr lang="en-US" sz="1250" dirty="0"/>
          </a:p>
          <a:p>
            <a:pPr indent="0" marL="0">
              <a:spcAft>
                <a:spcPts val="100"/>
              </a:spcAft>
              <a:buNone/>
            </a:pPr>
            <a:r>
              <a:rPr lang="en-US" sz="125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 midterms = </a:t>
            </a:r>
            <a:pPr indent="0" marL="0">
              <a:spcAft>
                <a:spcPts val="100"/>
              </a:spcAft>
              <a:buNone/>
            </a:pPr>
            <a:r>
              <a:rPr lang="en-US" sz="1250" dirty="0">
                <a:solidFill>
                  <a:srgbClr val="7AB8FF"/>
                </a:solidFill>
                <a:latin typeface="Courier New" pitchFamily="34" charset="0"/>
                <a:ea typeface="Courier New" pitchFamily="34" charset="-122"/>
                <a:cs typeface="Courier New" pitchFamily="34" charset="-120"/>
              </a:rPr>
              <a:t>new</a:t>
            </a:r>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5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[Capacity];</a:t>
            </a:r>
            <a:endParaRPr lang="en-US" sz="1250" dirty="0"/>
          </a:p>
          <a:p>
            <a:pPr indent="0" marL="0">
              <a:spcAft>
                <a:spcPts val="100"/>
              </a:spcAft>
              <a:buNone/>
            </a:pPr>
            <a:r>
              <a:rPr lang="en-US" sz="125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 finals = </a:t>
            </a:r>
            <a:pPr indent="0" marL="0">
              <a:spcAft>
                <a:spcPts val="100"/>
              </a:spcAft>
              <a:buNone/>
            </a:pPr>
            <a:r>
              <a:rPr lang="en-US" sz="1250" dirty="0">
                <a:solidFill>
                  <a:srgbClr val="7AB8FF"/>
                </a:solidFill>
                <a:latin typeface="Courier New" pitchFamily="34" charset="0"/>
                <a:ea typeface="Courier New" pitchFamily="34" charset="-122"/>
                <a:cs typeface="Courier New" pitchFamily="34" charset="-120"/>
              </a:rPr>
              <a:t>new</a:t>
            </a:r>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5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[Capacity];</a:t>
            </a:r>
            <a:endParaRPr lang="en-US" sz="1250" dirty="0"/>
          </a:p>
          <a:p>
            <a:pPr indent="0" marL="0">
              <a:spcAft>
                <a:spcPts val="100"/>
              </a:spcAft>
              <a:buNone/>
            </a:pPr>
            <a:r>
              <a:rPr lang="en-US" sz="1250" dirty="0">
                <a:solidFill>
                  <a:srgbClr val="4EC9B0"/>
                </a:solidFill>
                <a:latin typeface="Courier New" pitchFamily="34" charset="0"/>
                <a:ea typeface="Courier New" pitchFamily="34" charset="-122"/>
                <a:cs typeface="Courier New" pitchFamily="34" charset="-120"/>
              </a:rPr>
              <a:t>string</a:t>
            </a:r>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 dataFile = </a:t>
            </a:r>
            <a:pPr indent="0" marL="0">
              <a:spcAft>
                <a:spcPts val="100"/>
              </a:spcAft>
              <a:buNone/>
            </a:pPr>
            <a:r>
              <a:rPr lang="en-US" sz="1250" dirty="0">
                <a:solidFill>
                  <a:srgbClr val="CE9178"/>
                </a:solidFill>
                <a:latin typeface="Courier New" pitchFamily="34" charset="0"/>
                <a:ea typeface="Courier New" pitchFamily="34" charset="-122"/>
                <a:cs typeface="Courier New" pitchFamily="34" charset="-120"/>
              </a:rPr>
              <a:t>"students.csv"</a:t>
            </a:r>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a:t>
            </a:r>
            <a:endParaRPr lang="en-US" sz="1250" dirty="0"/>
          </a:p>
          <a:p>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 </a:t>
            </a:r>
            <a:endParaRPr lang="en-US" sz="1250" dirty="0"/>
          </a:p>
          <a:p>
            <a:pPr indent="0" marL="0">
              <a:spcAft>
                <a:spcPts val="100"/>
              </a:spcAft>
              <a:buNone/>
            </a:pPr>
            <a:r>
              <a:rPr lang="en-US" sz="125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250" dirty="0">
                <a:solidFill>
                  <a:srgbClr val="CE9178"/>
                </a:solidFill>
                <a:latin typeface="Courier New" pitchFamily="34" charset="0"/>
                <a:ea typeface="Courier New" pitchFamily="34" charset="-122"/>
                <a:cs typeface="Courier New" pitchFamily="34" charset="-120"/>
              </a:rPr>
              <a:t>"=== Student Grade Manager ==="</a:t>
            </a:r>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a:t>
            </a:r>
            <a:endParaRPr lang="en-US" sz="1250" dirty="0"/>
          </a:p>
          <a:p>
            <a:pPr indent="0" marL="0">
              <a:spcAft>
                <a:spcPts val="100"/>
              </a:spcAft>
              <a:buNone/>
            </a:pPr>
            <a:r>
              <a:rPr lang="en-US" sz="125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 count = LoadFromFile(dataFile, names, midterms, finals);</a:t>
            </a:r>
            <a:endParaRPr lang="en-US" sz="1250" dirty="0"/>
          </a:p>
          <a:p>
            <a:pPr indent="0" marL="0">
              <a:spcAft>
                <a:spcPts val="100"/>
              </a:spcAft>
              <a:buNone/>
            </a:pPr>
            <a:r>
              <a:rPr lang="en-US" sz="125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250" dirty="0">
                <a:solidFill>
                  <a:srgbClr val="CE9178"/>
                </a:solidFill>
                <a:latin typeface="Courier New" pitchFamily="34" charset="0"/>
                <a:ea typeface="Courier New" pitchFamily="34" charset="-122"/>
                <a:cs typeface="Courier New" pitchFamily="34" charset="-120"/>
              </a:rPr>
              <a:t>$"{count} student(s) loaded"</a:t>
            </a:r>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a:t>
            </a:r>
            <a:endParaRPr lang="en-US" sz="1250" dirty="0"/>
          </a:p>
        </p:txBody>
      </p:sp>
      <p:sp>
        <p:nvSpPr>
          <p:cNvPr id="10" name="Shape 7"/>
          <p:cNvSpPr/>
          <p:nvPr/>
        </p:nvSpPr>
        <p:spPr>
          <a:xfrm>
            <a:off x="7178040" y="1645920"/>
            <a:ext cx="4480560" cy="1371600"/>
          </a:xfrm>
          <a:prstGeom prst="roundRect">
            <a:avLst>
              <a:gd name="adj" fmla="val 6667"/>
            </a:avLst>
          </a:prstGeom>
          <a:solidFill>
            <a:srgbClr val="0B0F19"/>
          </a:solidFill>
          <a:ln w="12700">
            <a:solidFill>
              <a:srgbClr val="2A3654"/>
            </a:solidFill>
            <a:prstDash val="solid"/>
          </a:ln>
        </p:spPr>
      </p:sp>
      <p:sp>
        <p:nvSpPr>
          <p:cNvPr id="11" name="Shape 8"/>
          <p:cNvSpPr/>
          <p:nvPr/>
        </p:nvSpPr>
        <p:spPr>
          <a:xfrm>
            <a:off x="7360920" y="1773936"/>
            <a:ext cx="118872" cy="118872"/>
          </a:xfrm>
          <a:prstGeom prst="ellipse">
            <a:avLst/>
          </a:prstGeom>
          <a:solidFill>
            <a:srgbClr val="FF5F57"/>
          </a:solidFill>
          <a:ln w="12700">
            <a:solidFill>
              <a:srgbClr val="FF5F57"/>
            </a:solidFill>
            <a:prstDash val="solid"/>
          </a:ln>
        </p:spPr>
      </p:sp>
      <p:sp>
        <p:nvSpPr>
          <p:cNvPr id="12" name="Shape 9"/>
          <p:cNvSpPr/>
          <p:nvPr/>
        </p:nvSpPr>
        <p:spPr>
          <a:xfrm>
            <a:off x="7589520" y="1773936"/>
            <a:ext cx="118872" cy="118872"/>
          </a:xfrm>
          <a:prstGeom prst="ellipse">
            <a:avLst/>
          </a:prstGeom>
          <a:solidFill>
            <a:srgbClr val="FEBC2E"/>
          </a:solidFill>
          <a:ln w="12700">
            <a:solidFill>
              <a:srgbClr val="FEBC2E"/>
            </a:solidFill>
            <a:prstDash val="solid"/>
          </a:ln>
        </p:spPr>
      </p:sp>
      <p:sp>
        <p:nvSpPr>
          <p:cNvPr id="13" name="Shape 10"/>
          <p:cNvSpPr/>
          <p:nvPr/>
        </p:nvSpPr>
        <p:spPr>
          <a:xfrm>
            <a:off x="7818120" y="1773936"/>
            <a:ext cx="118872" cy="118872"/>
          </a:xfrm>
          <a:prstGeom prst="ellipse">
            <a:avLst/>
          </a:prstGeom>
          <a:solidFill>
            <a:srgbClr val="28C840"/>
          </a:solidFill>
          <a:ln w="12700">
            <a:solidFill>
              <a:srgbClr val="28C840"/>
            </a:solidFill>
            <a:prstDash val="solid"/>
          </a:ln>
        </p:spPr>
      </p:sp>
      <p:sp>
        <p:nvSpPr>
          <p:cNvPr id="14" name="Text 11"/>
          <p:cNvSpPr txBox="1"/>
          <p:nvPr/>
        </p:nvSpPr>
        <p:spPr>
          <a:xfrm>
            <a:off x="8092440" y="1719072"/>
            <a:ext cx="338328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run 1 · no file yet</a:t>
            </a:r>
            <a:endParaRPr lang="en-US" sz="1000" dirty="0"/>
          </a:p>
        </p:txBody>
      </p:sp>
      <p:sp>
        <p:nvSpPr>
          <p:cNvPr id="15" name="Text 12"/>
          <p:cNvSpPr txBox="1"/>
          <p:nvPr/>
        </p:nvSpPr>
        <p:spPr>
          <a:xfrm>
            <a:off x="7406640" y="2029968"/>
            <a:ext cx="4023360" cy="868680"/>
          </a:xfrm>
          <a:prstGeom prst="rect">
            <a:avLst/>
          </a:prstGeom>
          <a:noFill/>
          <a:ln/>
        </p:spPr>
        <p:txBody>
          <a:bodyPr wrap="square" lIns="0" tIns="0" rIns="0" bIns="0" rtlCol="0" anchor="t"/>
          <a:lstStyle/>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 Student Grade Manager ===</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0 student(s) loaded</a:t>
            </a:r>
            <a:endParaRPr lang="en-US" sz="1300" dirty="0"/>
          </a:p>
        </p:txBody>
      </p:sp>
      <p:sp>
        <p:nvSpPr>
          <p:cNvPr id="16" name="Shape 13"/>
          <p:cNvSpPr/>
          <p:nvPr/>
        </p:nvSpPr>
        <p:spPr>
          <a:xfrm>
            <a:off x="7178040" y="3154680"/>
            <a:ext cx="4480560" cy="1371600"/>
          </a:xfrm>
          <a:prstGeom prst="roundRect">
            <a:avLst>
              <a:gd name="adj" fmla="val 6667"/>
            </a:avLst>
          </a:prstGeom>
          <a:solidFill>
            <a:srgbClr val="0B0F19"/>
          </a:solidFill>
          <a:ln w="12700">
            <a:solidFill>
              <a:srgbClr val="2A3654"/>
            </a:solidFill>
            <a:prstDash val="solid"/>
          </a:ln>
        </p:spPr>
      </p:sp>
      <p:sp>
        <p:nvSpPr>
          <p:cNvPr id="17" name="Shape 14"/>
          <p:cNvSpPr/>
          <p:nvPr/>
        </p:nvSpPr>
        <p:spPr>
          <a:xfrm>
            <a:off x="7360920" y="3282696"/>
            <a:ext cx="118872" cy="118872"/>
          </a:xfrm>
          <a:prstGeom prst="ellipse">
            <a:avLst/>
          </a:prstGeom>
          <a:solidFill>
            <a:srgbClr val="FF5F57"/>
          </a:solidFill>
          <a:ln w="12700">
            <a:solidFill>
              <a:srgbClr val="FF5F57"/>
            </a:solidFill>
            <a:prstDash val="solid"/>
          </a:ln>
        </p:spPr>
      </p:sp>
      <p:sp>
        <p:nvSpPr>
          <p:cNvPr id="18" name="Shape 15"/>
          <p:cNvSpPr/>
          <p:nvPr/>
        </p:nvSpPr>
        <p:spPr>
          <a:xfrm>
            <a:off x="7589520" y="3282696"/>
            <a:ext cx="118872" cy="118872"/>
          </a:xfrm>
          <a:prstGeom prst="ellipse">
            <a:avLst/>
          </a:prstGeom>
          <a:solidFill>
            <a:srgbClr val="FEBC2E"/>
          </a:solidFill>
          <a:ln w="12700">
            <a:solidFill>
              <a:srgbClr val="FEBC2E"/>
            </a:solidFill>
            <a:prstDash val="solid"/>
          </a:ln>
        </p:spPr>
      </p:sp>
      <p:sp>
        <p:nvSpPr>
          <p:cNvPr id="19" name="Shape 16"/>
          <p:cNvSpPr/>
          <p:nvPr/>
        </p:nvSpPr>
        <p:spPr>
          <a:xfrm>
            <a:off x="7818120" y="3282696"/>
            <a:ext cx="118872" cy="118872"/>
          </a:xfrm>
          <a:prstGeom prst="ellipse">
            <a:avLst/>
          </a:prstGeom>
          <a:solidFill>
            <a:srgbClr val="28C840"/>
          </a:solidFill>
          <a:ln w="12700">
            <a:solidFill>
              <a:srgbClr val="28C840"/>
            </a:solidFill>
            <a:prstDash val="solid"/>
          </a:ln>
        </p:spPr>
      </p:sp>
      <p:sp>
        <p:nvSpPr>
          <p:cNvPr id="20" name="Text 17"/>
          <p:cNvSpPr txBox="1"/>
          <p:nvPr/>
        </p:nvSpPr>
        <p:spPr>
          <a:xfrm>
            <a:off x="8092440" y="3227832"/>
            <a:ext cx="338328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run 2 · loaded from students.csv</a:t>
            </a:r>
            <a:endParaRPr lang="en-US" sz="1000" dirty="0"/>
          </a:p>
        </p:txBody>
      </p:sp>
      <p:sp>
        <p:nvSpPr>
          <p:cNvPr id="21" name="Text 18"/>
          <p:cNvSpPr txBox="1"/>
          <p:nvPr/>
        </p:nvSpPr>
        <p:spPr>
          <a:xfrm>
            <a:off x="7406640" y="3538728"/>
            <a:ext cx="4023360" cy="868680"/>
          </a:xfrm>
          <a:prstGeom prst="rect">
            <a:avLst/>
          </a:prstGeom>
          <a:noFill/>
          <a:ln/>
        </p:spPr>
        <p:txBody>
          <a:bodyPr wrap="square" lIns="0" tIns="0" rIns="0" bIns="0" rtlCol="0" anchor="t"/>
          <a:lstStyle/>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 Student Grade Manager ===</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4 student(s) loaded</a:t>
            </a:r>
            <a:endParaRPr lang="en-US" sz="1300" dirty="0"/>
          </a:p>
        </p:txBody>
      </p:sp>
      <p:sp>
        <p:nvSpPr>
          <p:cNvPr id="22" name="Shape 19"/>
          <p:cNvSpPr/>
          <p:nvPr/>
        </p:nvSpPr>
        <p:spPr>
          <a:xfrm>
            <a:off x="548640" y="4983480"/>
            <a:ext cx="5440680" cy="1097280"/>
          </a:xfrm>
          <a:prstGeom prst="roundRect">
            <a:avLst>
              <a:gd name="adj" fmla="val 10000"/>
            </a:avLst>
          </a:prstGeom>
          <a:solidFill>
            <a:srgbClr val="EEF1F6"/>
          </a:solidFill>
          <a:ln w="12700">
            <a:solidFill>
              <a:srgbClr val="EEF1F6"/>
            </a:solidFill>
            <a:prstDash val="solid"/>
          </a:ln>
        </p:spPr>
      </p:sp>
      <p:sp>
        <p:nvSpPr>
          <p:cNvPr id="23" name="Shape 20"/>
          <p:cNvSpPr/>
          <p:nvPr/>
        </p:nvSpPr>
        <p:spPr>
          <a:xfrm>
            <a:off x="731520" y="5257800"/>
            <a:ext cx="548640" cy="548640"/>
          </a:xfrm>
          <a:prstGeom prst="ellipse">
            <a:avLst/>
          </a:prstGeom>
          <a:solidFill>
            <a:srgbClr val="EEF1F6"/>
          </a:solidFill>
          <a:ln w="12700">
            <a:solidFill>
              <a:srgbClr val="EEF1F6"/>
            </a:solidFill>
            <a:prstDash val="solid"/>
          </a:ln>
        </p:spPr>
      </p:sp>
      <p:pic>
        <p:nvPicPr>
          <p:cNvPr id="24" name="Image 0" descr="preencoded.png">    </p:cNvPr>
          <p:cNvPicPr>
            <a:picLocks noChangeAspect="1"/>
          </p:cNvPicPr>
          <p:nvPr/>
        </p:nvPicPr>
        <p:blipFill>
          <a:blip r:embed="rId1"/>
          <a:stretch>
            <a:fillRect/>
          </a:stretch>
        </p:blipFill>
        <p:spPr>
          <a:xfrm>
            <a:off x="874166" y="5400446"/>
            <a:ext cx="263347" cy="263347"/>
          </a:xfrm>
          <a:prstGeom prst="rect">
            <a:avLst/>
          </a:prstGeom>
        </p:spPr>
      </p:pic>
      <p:sp>
        <p:nvSpPr>
          <p:cNvPr id="25" name="Text 21"/>
          <p:cNvSpPr txBox="1"/>
          <p:nvPr/>
        </p:nvSpPr>
        <p:spPr>
          <a:xfrm>
            <a:off x="1463040" y="5038344"/>
            <a:ext cx="4389120" cy="987552"/>
          </a:xfrm>
          <a:prstGeom prst="rect">
            <a:avLst/>
          </a:prstGeom>
          <a:noFill/>
          <a:ln/>
        </p:spPr>
        <p:txBody>
          <a:bodyPr wrap="square" lIns="0" tIns="0" rIns="0" bIns="0" rtlCol="0" anchor="ctr"/>
          <a:lstStyle/>
          <a:p>
            <a:pPr indent="0" marL="0">
              <a:spcAft>
                <a:spcPts val="200"/>
              </a:spcAft>
              <a:buNone/>
            </a:pPr>
            <a:r>
              <a:rPr lang="en-US" sz="1400" b="1" dirty="0">
                <a:solidFill>
                  <a:srgbClr val="14213D"/>
                </a:solidFill>
                <a:latin typeface="Cambria" pitchFamily="34" charset="0"/>
                <a:ea typeface="Cambria" pitchFamily="34" charset="-122"/>
                <a:cs typeface="Cambria" pitchFamily="34" charset="-120"/>
              </a:rPr>
              <a:t>const Capacity = 30</a:t>
            </a:r>
            <a:endParaRPr lang="en-US" sz="1400" dirty="0"/>
          </a:p>
          <a:p>
            <a:pPr indent="0" marL="0">
              <a:spcAft>
                <a:spcPts val="200"/>
              </a:spcAft>
              <a:buNone/>
            </a:pPr>
            <a:r>
              <a:rPr lang="en-US" sz="1300" dirty="0">
                <a:solidFill>
                  <a:srgbClr val="333B4F"/>
                </a:solidFill>
                <a:latin typeface="Calibri" pitchFamily="34" charset="0"/>
                <a:ea typeface="Calibri" pitchFamily="34" charset="-122"/>
                <a:cs typeface="Calibri" pitchFamily="34" charset="-120"/>
              </a:rPr>
              <a:t>one place to change the size; arrays never grow by themselves</a:t>
            </a:r>
            <a:endParaRPr lang="en-US" sz="1400" dirty="0"/>
          </a:p>
        </p:txBody>
      </p:sp>
      <p:sp>
        <p:nvSpPr>
          <p:cNvPr id="26" name="Shape 22"/>
          <p:cNvSpPr/>
          <p:nvPr/>
        </p:nvSpPr>
        <p:spPr>
          <a:xfrm>
            <a:off x="6217920" y="4983480"/>
            <a:ext cx="5440680" cy="1097280"/>
          </a:xfrm>
          <a:prstGeom prst="roundRect">
            <a:avLst>
              <a:gd name="adj" fmla="val 10000"/>
            </a:avLst>
          </a:prstGeom>
          <a:solidFill>
            <a:srgbClr val="EEF1F6"/>
          </a:solidFill>
          <a:ln w="12700">
            <a:solidFill>
              <a:srgbClr val="EEF1F6"/>
            </a:solidFill>
            <a:prstDash val="solid"/>
          </a:ln>
        </p:spPr>
      </p:sp>
      <p:sp>
        <p:nvSpPr>
          <p:cNvPr id="27" name="Shape 23"/>
          <p:cNvSpPr/>
          <p:nvPr/>
        </p:nvSpPr>
        <p:spPr>
          <a:xfrm>
            <a:off x="6400800" y="5257800"/>
            <a:ext cx="548640" cy="548640"/>
          </a:xfrm>
          <a:prstGeom prst="ellipse">
            <a:avLst/>
          </a:prstGeom>
          <a:solidFill>
            <a:srgbClr val="EEF1F6"/>
          </a:solidFill>
          <a:ln w="12700">
            <a:solidFill>
              <a:srgbClr val="EEF1F6"/>
            </a:solidFill>
            <a:prstDash val="solid"/>
          </a:ln>
        </p:spPr>
      </p:sp>
      <p:pic>
        <p:nvPicPr>
          <p:cNvPr id="28" name="Image 1" descr="preencoded.png">    </p:cNvPr>
          <p:cNvPicPr>
            <a:picLocks noChangeAspect="1"/>
          </p:cNvPicPr>
          <p:nvPr/>
        </p:nvPicPr>
        <p:blipFill>
          <a:blip r:embed="rId2"/>
          <a:stretch>
            <a:fillRect/>
          </a:stretch>
        </p:blipFill>
        <p:spPr>
          <a:xfrm>
            <a:off x="6543446" y="5400446"/>
            <a:ext cx="263347" cy="263347"/>
          </a:xfrm>
          <a:prstGeom prst="rect">
            <a:avLst/>
          </a:prstGeom>
        </p:spPr>
      </p:pic>
      <p:sp>
        <p:nvSpPr>
          <p:cNvPr id="29" name="Text 24"/>
          <p:cNvSpPr txBox="1"/>
          <p:nvPr/>
        </p:nvSpPr>
        <p:spPr>
          <a:xfrm>
            <a:off x="7132320" y="5038344"/>
            <a:ext cx="4389120" cy="987552"/>
          </a:xfrm>
          <a:prstGeom prst="rect">
            <a:avLst/>
          </a:prstGeom>
          <a:noFill/>
          <a:ln/>
        </p:spPr>
        <p:txBody>
          <a:bodyPr wrap="square" lIns="0" tIns="0" rIns="0" bIns="0" rtlCol="0" anchor="ctr"/>
          <a:lstStyle/>
          <a:p>
            <a:pPr indent="0" marL="0">
              <a:spcAft>
                <a:spcPts val="200"/>
              </a:spcAft>
              <a:buNone/>
            </a:pPr>
            <a:r>
              <a:rPr lang="en-US" sz="1400" b="1" dirty="0">
                <a:solidFill>
                  <a:srgbClr val="14213D"/>
                </a:solidFill>
                <a:latin typeface="Cambria" pitchFamily="34" charset="0"/>
                <a:ea typeface="Cambria" pitchFamily="34" charset="-122"/>
                <a:cs typeface="Cambria" pitchFamily="34" charset="-120"/>
              </a:rPr>
              <a:t>count</a:t>
            </a:r>
            <a:endParaRPr lang="en-US" sz="1400" dirty="0"/>
          </a:p>
          <a:p>
            <a:pPr indent="0" marL="0">
              <a:spcAft>
                <a:spcPts val="200"/>
              </a:spcAft>
              <a:buNone/>
            </a:pPr>
            <a:r>
              <a:rPr lang="en-US" sz="1300" dirty="0">
                <a:solidFill>
                  <a:srgbClr val="333B4F"/>
                </a:solidFill>
                <a:latin typeface="Calibri" pitchFamily="34" charset="0"/>
                <a:ea typeface="Calibri" pitchFamily="34" charset="-122"/>
                <a:cs typeface="Calibri" pitchFamily="34" charset="-120"/>
              </a:rPr>
              <a:t>how many places are used: 0 … 30; every loop runs i &lt; count</a:t>
            </a:r>
            <a:endParaRPr lang="en-US" sz="14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MINI-PROJECT · MAIN LOOP</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A do-while menu with switch — almost pseudocode</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14</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39</a:t>
            </a:r>
            <a:endParaRPr lang="en-US" sz="1000" dirty="0"/>
          </a:p>
        </p:txBody>
      </p:sp>
      <p:sp>
        <p:nvSpPr>
          <p:cNvPr id="7" name="Shape 4"/>
          <p:cNvSpPr/>
          <p:nvPr/>
        </p:nvSpPr>
        <p:spPr>
          <a:xfrm>
            <a:off x="548640" y="1645920"/>
            <a:ext cx="8229600" cy="4434840"/>
          </a:xfrm>
          <a:prstGeom prst="roundRect">
            <a:avLst>
              <a:gd name="adj" fmla="val 2062"/>
            </a:avLst>
          </a:prstGeom>
          <a:solidFill>
            <a:srgbClr val="0F1729"/>
          </a:solidFill>
          <a:ln w="12700">
            <a:solidFill>
              <a:srgbClr val="0F1729"/>
            </a:solidFill>
            <a:prstDash val="solid"/>
          </a:ln>
        </p:spPr>
      </p:sp>
      <p:sp>
        <p:nvSpPr>
          <p:cNvPr id="8" name="Text 5"/>
          <p:cNvSpPr txBox="1"/>
          <p:nvPr/>
        </p:nvSpPr>
        <p:spPr>
          <a:xfrm>
            <a:off x="777240" y="1755648"/>
            <a:ext cx="777240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lines 16–50 (shortened)</a:t>
            </a:r>
            <a:endParaRPr lang="en-US" sz="1100" dirty="0"/>
          </a:p>
        </p:txBody>
      </p:sp>
      <p:sp>
        <p:nvSpPr>
          <p:cNvPr id="9" name="Text 6"/>
          <p:cNvSpPr txBox="1"/>
          <p:nvPr/>
        </p:nvSpPr>
        <p:spPr>
          <a:xfrm>
            <a:off x="777240" y="2057400"/>
            <a:ext cx="7772400" cy="3913632"/>
          </a:xfrm>
          <a:prstGeom prst="rect">
            <a:avLst/>
          </a:prstGeom>
          <a:noFill/>
          <a:ln/>
        </p:spPr>
        <p:txBody>
          <a:bodyPr wrap="square" lIns="0" tIns="0" rIns="0" bIns="0" rtlCol="0" anchor="t"/>
          <a:lstStyle/>
          <a:p>
            <a:pPr indent="0" marL="0">
              <a:spcAft>
                <a:spcPts val="100"/>
              </a:spcAft>
              <a:buNone/>
            </a:pPr>
            <a:r>
              <a:rPr lang="en-US" sz="1250" dirty="0">
                <a:solidFill>
                  <a:srgbClr val="7AB8FF"/>
                </a:solidFill>
                <a:latin typeface="Courier New" pitchFamily="34" charset="0"/>
                <a:ea typeface="Courier New" pitchFamily="34" charset="-122"/>
                <a:cs typeface="Courier New" pitchFamily="34" charset="-120"/>
              </a:rPr>
              <a:t>do</a:t>
            </a:r>
            <a:endParaRPr lang="en-US" sz="1250" dirty="0"/>
          </a:p>
          <a:p>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a:t>
            </a:r>
            <a:endParaRPr lang="en-US" sz="1250" dirty="0"/>
          </a:p>
          <a:p>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5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.WriteLine();</a:t>
            </a:r>
            <a:endParaRPr lang="en-US" sz="1250" dirty="0"/>
          </a:p>
          <a:p>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5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250" dirty="0">
                <a:solidFill>
                  <a:srgbClr val="CE9178"/>
                </a:solidFill>
                <a:latin typeface="Courier New" pitchFamily="34" charset="0"/>
                <a:ea typeface="Courier New" pitchFamily="34" charset="-122"/>
                <a:cs typeface="Courier New" pitchFamily="34" charset="-120"/>
              </a:rPr>
              <a:t>"1 Add  2 List  3 Statistics  4 Search  5 Save  0 Exit"</a:t>
            </a:r>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a:t>
            </a:r>
            <a:endParaRPr lang="en-US" sz="1250" dirty="0"/>
          </a:p>
          <a:p>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    choice = ReadInt(</a:t>
            </a:r>
            <a:pPr indent="0" marL="0">
              <a:spcAft>
                <a:spcPts val="100"/>
              </a:spcAft>
              <a:buNone/>
            </a:pPr>
            <a:r>
              <a:rPr lang="en-US" sz="1250" dirty="0">
                <a:solidFill>
                  <a:srgbClr val="CE9178"/>
                </a:solidFill>
                <a:latin typeface="Courier New" pitchFamily="34" charset="0"/>
                <a:ea typeface="Courier New" pitchFamily="34" charset="-122"/>
                <a:cs typeface="Courier New" pitchFamily="34" charset="-120"/>
              </a:rPr>
              <a:t>"Choice: "</a:t>
            </a:r>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5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50" dirty="0">
                <a:solidFill>
                  <a:srgbClr val="B5CEA8"/>
                </a:solidFill>
                <a:latin typeface="Courier New" pitchFamily="34" charset="0"/>
                <a:ea typeface="Courier New" pitchFamily="34" charset="-122"/>
                <a:cs typeface="Courier New" pitchFamily="34" charset="-120"/>
              </a:rPr>
              <a:t>5</a:t>
            </a:r>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a:t>
            </a:r>
            <a:endParaRPr lang="en-US" sz="1250" dirty="0"/>
          </a:p>
          <a:p>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50" dirty="0">
                <a:solidFill>
                  <a:srgbClr val="7AB8FF"/>
                </a:solidFill>
                <a:latin typeface="Courier New" pitchFamily="34" charset="0"/>
                <a:ea typeface="Courier New" pitchFamily="34" charset="-122"/>
                <a:cs typeface="Courier New" pitchFamily="34" charset="-120"/>
              </a:rPr>
              <a:t>switch</a:t>
            </a:r>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 (choice)</a:t>
            </a:r>
            <a:endParaRPr lang="en-US" sz="1250" dirty="0"/>
          </a:p>
          <a:p>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    {</a:t>
            </a:r>
            <a:endParaRPr lang="en-US" sz="1250" dirty="0"/>
          </a:p>
          <a:p>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50" dirty="0">
                <a:solidFill>
                  <a:srgbClr val="7AB8FF"/>
                </a:solidFill>
                <a:latin typeface="Courier New" pitchFamily="34" charset="0"/>
                <a:ea typeface="Courier New" pitchFamily="34" charset="-122"/>
                <a:cs typeface="Courier New" pitchFamily="34" charset="-120"/>
              </a:rPr>
              <a:t>case</a:t>
            </a:r>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5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a:t>
            </a:r>
            <a:endParaRPr lang="en-US" sz="1250" dirty="0"/>
          </a:p>
          <a:p>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            count = AddStudent(names, midterms, finals, count);</a:t>
            </a:r>
            <a:endParaRPr lang="en-US" sz="1250" dirty="0"/>
          </a:p>
          <a:p>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50" dirty="0">
                <a:solidFill>
                  <a:srgbClr val="7AB8FF"/>
                </a:solidFill>
                <a:latin typeface="Courier New" pitchFamily="34" charset="0"/>
                <a:ea typeface="Courier New" pitchFamily="34" charset="-122"/>
                <a:cs typeface="Courier New" pitchFamily="34" charset="-120"/>
              </a:rPr>
              <a:t>break</a:t>
            </a:r>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a:t>
            </a:r>
            <a:endParaRPr lang="en-US" sz="1250" dirty="0"/>
          </a:p>
          <a:p>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50" dirty="0">
                <a:solidFill>
                  <a:srgbClr val="7AB8FF"/>
                </a:solidFill>
                <a:latin typeface="Courier New" pitchFamily="34" charset="0"/>
                <a:ea typeface="Courier New" pitchFamily="34" charset="-122"/>
                <a:cs typeface="Courier New" pitchFamily="34" charset="-120"/>
              </a:rPr>
              <a:t>case</a:t>
            </a:r>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50" dirty="0">
                <a:solidFill>
                  <a:srgbClr val="B5CEA8"/>
                </a:solidFill>
                <a:latin typeface="Courier New" pitchFamily="34" charset="0"/>
                <a:ea typeface="Courier New" pitchFamily="34" charset="-122"/>
                <a:cs typeface="Courier New" pitchFamily="34" charset="-120"/>
              </a:rPr>
              <a:t>2</a:t>
            </a:r>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a:t>
            </a:r>
            <a:endParaRPr lang="en-US" sz="1250" dirty="0"/>
          </a:p>
          <a:p>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            PrintList(names, midterms, finals, count);</a:t>
            </a:r>
            <a:endParaRPr lang="en-US" sz="1250" dirty="0"/>
          </a:p>
          <a:p>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50" dirty="0">
                <a:solidFill>
                  <a:srgbClr val="7AB8FF"/>
                </a:solidFill>
                <a:latin typeface="Courier New" pitchFamily="34" charset="0"/>
                <a:ea typeface="Courier New" pitchFamily="34" charset="-122"/>
                <a:cs typeface="Courier New" pitchFamily="34" charset="-120"/>
              </a:rPr>
              <a:t>break</a:t>
            </a:r>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a:t>
            </a:r>
            <a:endParaRPr lang="en-US" sz="1250" dirty="0"/>
          </a:p>
          <a:p>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50" dirty="0">
                <a:solidFill>
                  <a:srgbClr val="7AB8FF"/>
                </a:solidFill>
                <a:latin typeface="Courier New" pitchFamily="34" charset="0"/>
                <a:ea typeface="Courier New" pitchFamily="34" charset="-122"/>
                <a:cs typeface="Courier New" pitchFamily="34" charset="-120"/>
              </a:rPr>
              <a:t>case</a:t>
            </a:r>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50" dirty="0">
                <a:solidFill>
                  <a:srgbClr val="B5CEA8"/>
                </a:solidFill>
                <a:latin typeface="Courier New" pitchFamily="34" charset="0"/>
                <a:ea typeface="Courier New" pitchFamily="34" charset="-122"/>
                <a:cs typeface="Courier New" pitchFamily="34" charset="-120"/>
              </a:rPr>
              <a:t>3</a:t>
            </a:r>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a:t>
            </a:r>
            <a:endParaRPr lang="en-US" sz="1250" dirty="0"/>
          </a:p>
          <a:p>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            PrintStatistics(names, midterms, finals, count);</a:t>
            </a:r>
            <a:endParaRPr lang="en-US" sz="1250" dirty="0"/>
          </a:p>
          <a:p>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50" dirty="0">
                <a:solidFill>
                  <a:srgbClr val="7AB8FF"/>
                </a:solidFill>
                <a:latin typeface="Courier New" pitchFamily="34" charset="0"/>
                <a:ea typeface="Courier New" pitchFamily="34" charset="-122"/>
                <a:cs typeface="Courier New" pitchFamily="34" charset="-120"/>
              </a:rPr>
              <a:t>break</a:t>
            </a:r>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a:t>
            </a:r>
            <a:endParaRPr lang="en-US" sz="1250" dirty="0"/>
          </a:p>
          <a:p>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50" dirty="0">
                <a:solidFill>
                  <a:srgbClr val="7F8BA3"/>
                </a:solidFill>
                <a:latin typeface="Courier New" pitchFamily="34" charset="0"/>
                <a:ea typeface="Courier New" pitchFamily="34" charset="-122"/>
                <a:cs typeface="Courier New" pitchFamily="34" charset="-120"/>
              </a:rPr>
              <a:t>// case 4: search · case 5: save</a:t>
            </a:r>
            <a:endParaRPr lang="en-US" sz="1250" dirty="0"/>
          </a:p>
          <a:p>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    }</a:t>
            </a:r>
            <a:endParaRPr lang="en-US" sz="1250" dirty="0"/>
          </a:p>
          <a:p>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50" dirty="0">
                <a:solidFill>
                  <a:srgbClr val="7AB8FF"/>
                </a:solidFill>
                <a:latin typeface="Courier New" pitchFamily="34" charset="0"/>
                <a:ea typeface="Courier New" pitchFamily="34" charset="-122"/>
                <a:cs typeface="Courier New" pitchFamily="34" charset="-120"/>
              </a:rPr>
              <a:t>while</a:t>
            </a:r>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 (choice != </a:t>
            </a:r>
            <a:pPr indent="0" marL="0">
              <a:spcAft>
                <a:spcPts val="100"/>
              </a:spcAft>
              <a:buNone/>
            </a:pPr>
            <a:r>
              <a:rPr lang="en-US" sz="125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a:t>
            </a:r>
            <a:endParaRPr lang="en-US" sz="1250" dirty="0"/>
          </a:p>
        </p:txBody>
      </p:sp>
      <p:sp>
        <p:nvSpPr>
          <p:cNvPr id="10" name="Shape 7"/>
          <p:cNvSpPr/>
          <p:nvPr/>
        </p:nvSpPr>
        <p:spPr>
          <a:xfrm>
            <a:off x="9006840" y="1645920"/>
            <a:ext cx="2651760" cy="2148840"/>
          </a:xfrm>
          <a:prstGeom prst="roundRect">
            <a:avLst>
              <a:gd name="adj" fmla="val 5106"/>
            </a:avLst>
          </a:prstGeom>
          <a:solidFill>
            <a:srgbClr val="FFF6E3"/>
          </a:solidFill>
          <a:ln w="12700">
            <a:solidFill>
              <a:srgbClr val="FFF6E3"/>
            </a:solidFill>
            <a:prstDash val="solid"/>
          </a:ln>
        </p:spPr>
      </p:sp>
      <p:pic>
        <p:nvPicPr>
          <p:cNvPr id="11" name="Image 0" descr="preencoded.png">    </p:cNvPr>
          <p:cNvPicPr>
            <a:picLocks noChangeAspect="1"/>
          </p:cNvPicPr>
          <p:nvPr/>
        </p:nvPicPr>
        <p:blipFill>
          <a:blip r:embed="rId1"/>
          <a:stretch>
            <a:fillRect/>
          </a:stretch>
        </p:blipFill>
        <p:spPr>
          <a:xfrm>
            <a:off x="9281160" y="2446020"/>
            <a:ext cx="548640" cy="548640"/>
          </a:xfrm>
          <a:prstGeom prst="rect">
            <a:avLst/>
          </a:prstGeom>
        </p:spPr>
      </p:pic>
      <p:sp>
        <p:nvSpPr>
          <p:cNvPr id="12" name="Text 8"/>
          <p:cNvSpPr txBox="1"/>
          <p:nvPr/>
        </p:nvSpPr>
        <p:spPr>
          <a:xfrm>
            <a:off x="10104120" y="1719072"/>
            <a:ext cx="1280160" cy="2002536"/>
          </a:xfrm>
          <a:prstGeom prst="rect">
            <a:avLst/>
          </a:prstGeom>
          <a:noFill/>
          <a:ln/>
        </p:spPr>
        <p:txBody>
          <a:bodyPr wrap="square" lIns="0" tIns="0" rIns="0" bIns="0" rtlCol="0" anchor="ctr"/>
          <a:lstStyle/>
          <a:p>
            <a:pPr indent="0" marL="0">
              <a:buNone/>
            </a:pPr>
            <a:r>
              <a:rPr lang="en-US" sz="1400" b="1" dirty="0">
                <a:solidFill>
                  <a:srgbClr val="14213D"/>
                </a:solidFill>
                <a:latin typeface="Calibri" pitchFamily="34" charset="0"/>
                <a:ea typeface="Calibri" pitchFamily="34" charset="-122"/>
                <a:cs typeface="Calibri" pitchFamily="34" charset="-120"/>
              </a:rPr>
              <a:t>count = </a:t>
            </a:r>
            <a:pPr indent="0" marL="0">
              <a:buNone/>
            </a:pPr>
            <a:r>
              <a:rPr lang="en-US" sz="1400" dirty="0">
                <a:solidFill>
                  <a:srgbClr val="333B4F"/>
                </a:solidFill>
                <a:latin typeface="Calibri" pitchFamily="34" charset="0"/>
                <a:ea typeface="Calibri" pitchFamily="34" charset="-122"/>
                <a:cs typeface="Calibri" pitchFamily="34" charset="-120"/>
              </a:rPr>
              <a:t>AddStudent returns the new count. Without "count =" the student is never counted.</a:t>
            </a:r>
            <a:endParaRPr lang="en-US" sz="1400" dirty="0"/>
          </a:p>
        </p:txBody>
      </p:sp>
      <p:sp>
        <p:nvSpPr>
          <p:cNvPr id="13" name="Shape 9"/>
          <p:cNvSpPr/>
          <p:nvPr/>
        </p:nvSpPr>
        <p:spPr>
          <a:xfrm>
            <a:off x="9006840" y="3931920"/>
            <a:ext cx="2651760" cy="2148840"/>
          </a:xfrm>
          <a:prstGeom prst="roundRect">
            <a:avLst>
              <a:gd name="adj" fmla="val 5106"/>
            </a:avLst>
          </a:prstGeom>
          <a:solidFill>
            <a:srgbClr val="FFF6E3"/>
          </a:solidFill>
          <a:ln w="12700">
            <a:solidFill>
              <a:srgbClr val="FFF6E3"/>
            </a:solidFill>
            <a:prstDash val="solid"/>
          </a:ln>
        </p:spPr>
      </p:sp>
      <p:pic>
        <p:nvPicPr>
          <p:cNvPr id="14" name="Image 1" descr="preencoded.png">    </p:cNvPr>
          <p:cNvPicPr>
            <a:picLocks noChangeAspect="1"/>
          </p:cNvPicPr>
          <p:nvPr/>
        </p:nvPicPr>
        <p:blipFill>
          <a:blip r:embed="rId2"/>
          <a:stretch>
            <a:fillRect/>
          </a:stretch>
        </p:blipFill>
        <p:spPr>
          <a:xfrm>
            <a:off x="9281160" y="4732020"/>
            <a:ext cx="548640" cy="548640"/>
          </a:xfrm>
          <a:prstGeom prst="rect">
            <a:avLst/>
          </a:prstGeom>
        </p:spPr>
      </p:pic>
      <p:sp>
        <p:nvSpPr>
          <p:cNvPr id="15" name="Text 10"/>
          <p:cNvSpPr txBox="1"/>
          <p:nvPr/>
        </p:nvSpPr>
        <p:spPr>
          <a:xfrm>
            <a:off x="10104120" y="4005072"/>
            <a:ext cx="1280160" cy="2002536"/>
          </a:xfrm>
          <a:prstGeom prst="rect">
            <a:avLst/>
          </a:prstGeom>
          <a:noFill/>
          <a:ln/>
        </p:spPr>
        <p:txBody>
          <a:bodyPr wrap="square" lIns="0" tIns="0" rIns="0" bIns="0" rtlCol="0" anchor="ctr"/>
          <a:lstStyle/>
          <a:p>
            <a:pPr indent="0" marL="0">
              <a:buNone/>
            </a:pPr>
            <a:r>
              <a:rPr lang="en-US" sz="1400" b="1" dirty="0">
                <a:solidFill>
                  <a:srgbClr val="14213D"/>
                </a:solidFill>
                <a:latin typeface="Calibri" pitchFamily="34" charset="0"/>
                <a:ea typeface="Calibri" pitchFamily="34" charset="-122"/>
                <a:cs typeface="Calibri" pitchFamily="34" charset="-120"/>
              </a:rPr>
              <a:t>No default: </a:t>
            </a:r>
            <a:pPr indent="0" marL="0">
              <a:buNone/>
            </a:pPr>
            <a:r>
              <a:rPr lang="en-US" sz="1400" dirty="0">
                <a:solidFill>
                  <a:srgbClr val="333B4F"/>
                </a:solidFill>
                <a:latin typeface="Calibri" pitchFamily="34" charset="0"/>
                <a:ea typeface="Calibri" pitchFamily="34" charset="-122"/>
                <a:cs typeface="Calibri" pitchFamily="34" charset="-120"/>
              </a:rPr>
              <a:t>ReadInt only returns 0 … 5, so every value has a case (0 ends the loop).</a:t>
            </a:r>
            <a:endParaRPr lang="en-US" sz="14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MINI-PROJECT · INPUT</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Never trust the keyboard: validate every value</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14</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40</a:t>
            </a:r>
            <a:endParaRPr lang="en-US" sz="1000" dirty="0"/>
          </a:p>
        </p:txBody>
      </p:sp>
      <p:sp>
        <p:nvSpPr>
          <p:cNvPr id="7" name="Shape 4"/>
          <p:cNvSpPr/>
          <p:nvPr/>
        </p:nvSpPr>
        <p:spPr>
          <a:xfrm>
            <a:off x="548640" y="1645920"/>
            <a:ext cx="11109960" cy="2697480"/>
          </a:xfrm>
          <a:prstGeom prst="roundRect">
            <a:avLst>
              <a:gd name="adj" fmla="val 3390"/>
            </a:avLst>
          </a:prstGeom>
          <a:solidFill>
            <a:srgbClr val="0F1729"/>
          </a:solidFill>
          <a:ln w="12700">
            <a:solidFill>
              <a:srgbClr val="0F1729"/>
            </a:solidFill>
            <a:prstDash val="solid"/>
          </a:ln>
        </p:spPr>
      </p:sp>
      <p:sp>
        <p:nvSpPr>
          <p:cNvPr id="8" name="Text 5"/>
          <p:cNvSpPr txBox="1"/>
          <p:nvPr/>
        </p:nvSpPr>
        <p:spPr>
          <a:xfrm>
            <a:off x="777240" y="1755648"/>
            <a:ext cx="1065276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ReadInt · TryParse + range check</a:t>
            </a:r>
            <a:endParaRPr lang="en-US" sz="1100" dirty="0"/>
          </a:p>
        </p:txBody>
      </p:sp>
      <p:sp>
        <p:nvSpPr>
          <p:cNvPr id="9" name="Text 6"/>
          <p:cNvSpPr txBox="1"/>
          <p:nvPr/>
        </p:nvSpPr>
        <p:spPr>
          <a:xfrm>
            <a:off x="777240" y="2057400"/>
            <a:ext cx="10652760" cy="2176272"/>
          </a:xfrm>
          <a:prstGeom prst="rect">
            <a:avLst/>
          </a:prstGeom>
          <a:noFill/>
          <a:ln/>
        </p:spPr>
        <p:txBody>
          <a:bodyPr wrap="square" lIns="0" tIns="0" rIns="0" bIns="0" rtlCol="0" anchor="t"/>
          <a:lstStyle/>
          <a:p>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static</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ReadInt(</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string</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prompt,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min,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max)</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.Write(prompt);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value;</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while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.TryParse(</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.ReadLine(),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out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value)</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 value &lt; min || value &gt; max)</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$"Please type a number from {min} to {max}: "</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return</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value;</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p:txBody>
      </p:sp>
      <p:sp>
        <p:nvSpPr>
          <p:cNvPr id="10" name="Shape 7"/>
          <p:cNvSpPr/>
          <p:nvPr/>
        </p:nvSpPr>
        <p:spPr>
          <a:xfrm>
            <a:off x="548640" y="4480560"/>
            <a:ext cx="6766560" cy="1600200"/>
          </a:xfrm>
          <a:prstGeom prst="roundRect">
            <a:avLst>
              <a:gd name="adj" fmla="val 5714"/>
            </a:avLst>
          </a:prstGeom>
          <a:solidFill>
            <a:srgbClr val="0B0F19"/>
          </a:solidFill>
          <a:ln w="12700">
            <a:solidFill>
              <a:srgbClr val="2A3654"/>
            </a:solidFill>
            <a:prstDash val="solid"/>
          </a:ln>
        </p:spPr>
      </p:sp>
      <p:sp>
        <p:nvSpPr>
          <p:cNvPr id="11" name="Shape 8"/>
          <p:cNvSpPr/>
          <p:nvPr/>
        </p:nvSpPr>
        <p:spPr>
          <a:xfrm>
            <a:off x="731520" y="4608576"/>
            <a:ext cx="118872" cy="118872"/>
          </a:xfrm>
          <a:prstGeom prst="ellipse">
            <a:avLst/>
          </a:prstGeom>
          <a:solidFill>
            <a:srgbClr val="FF5F57"/>
          </a:solidFill>
          <a:ln w="12700">
            <a:solidFill>
              <a:srgbClr val="FF5F57"/>
            </a:solidFill>
            <a:prstDash val="solid"/>
          </a:ln>
        </p:spPr>
      </p:sp>
      <p:sp>
        <p:nvSpPr>
          <p:cNvPr id="12" name="Shape 9"/>
          <p:cNvSpPr/>
          <p:nvPr/>
        </p:nvSpPr>
        <p:spPr>
          <a:xfrm>
            <a:off x="960120" y="4608576"/>
            <a:ext cx="118872" cy="118872"/>
          </a:xfrm>
          <a:prstGeom prst="ellipse">
            <a:avLst/>
          </a:prstGeom>
          <a:solidFill>
            <a:srgbClr val="FEBC2E"/>
          </a:solidFill>
          <a:ln w="12700">
            <a:solidFill>
              <a:srgbClr val="FEBC2E"/>
            </a:solidFill>
            <a:prstDash val="solid"/>
          </a:ln>
        </p:spPr>
      </p:sp>
      <p:sp>
        <p:nvSpPr>
          <p:cNvPr id="13" name="Shape 10"/>
          <p:cNvSpPr/>
          <p:nvPr/>
        </p:nvSpPr>
        <p:spPr>
          <a:xfrm>
            <a:off x="1188720" y="4608576"/>
            <a:ext cx="118872" cy="118872"/>
          </a:xfrm>
          <a:prstGeom prst="ellipse">
            <a:avLst/>
          </a:prstGeom>
          <a:solidFill>
            <a:srgbClr val="28C840"/>
          </a:solidFill>
          <a:ln w="12700">
            <a:solidFill>
              <a:srgbClr val="28C840"/>
            </a:solidFill>
            <a:prstDash val="solid"/>
          </a:ln>
        </p:spPr>
      </p:sp>
      <p:sp>
        <p:nvSpPr>
          <p:cNvPr id="14" name="Text 11"/>
          <p:cNvSpPr txBox="1"/>
          <p:nvPr/>
        </p:nvSpPr>
        <p:spPr>
          <a:xfrm>
            <a:off x="1463040" y="4553712"/>
            <a:ext cx="566928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run 1 · invalid name and score</a:t>
            </a:r>
            <a:endParaRPr lang="en-US" sz="1000" dirty="0"/>
          </a:p>
        </p:txBody>
      </p:sp>
      <p:sp>
        <p:nvSpPr>
          <p:cNvPr id="15" name="Text 12"/>
          <p:cNvSpPr txBox="1"/>
          <p:nvPr/>
        </p:nvSpPr>
        <p:spPr>
          <a:xfrm>
            <a:off x="777240" y="4864608"/>
            <a:ext cx="6309360" cy="1097280"/>
          </a:xfrm>
          <a:prstGeom prst="rect">
            <a:avLst/>
          </a:prstGeom>
          <a:noFill/>
          <a:ln/>
        </p:spPr>
        <p:txBody>
          <a:bodyPr wrap="square" lIns="0" tIns="0" rIns="0" bIns="0" rtlCol="0" anchor="t"/>
          <a:lstStyle/>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Name: </a:t>
            </a:r>
            <a:pPr indent="0" marL="0">
              <a:spcAft>
                <a:spcPts val="100"/>
              </a:spcAft>
              <a:buNone/>
            </a:pPr>
            <a:r>
              <a:rPr lang="en-US" sz="1300" b="1" dirty="0">
                <a:solidFill>
                  <a:srgbClr val="FCA311"/>
                </a:solidFill>
                <a:latin typeface="Courier New" pitchFamily="34" charset="0"/>
                <a:ea typeface="Courier New" pitchFamily="34" charset="-122"/>
                <a:cs typeface="Courier New" pitchFamily="34" charset="-120"/>
              </a:rPr>
              <a:t>Deniz, Arslan</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Name must not be empty or contain a comma: </a:t>
            </a:r>
            <a:pPr indent="0" marL="0">
              <a:spcAft>
                <a:spcPts val="100"/>
              </a:spcAft>
              <a:buNone/>
            </a:pPr>
            <a:r>
              <a:rPr lang="en-US" sz="1300" b="1" dirty="0">
                <a:solidFill>
                  <a:srgbClr val="FCA311"/>
                </a:solidFill>
                <a:latin typeface="Courier New" pitchFamily="34" charset="0"/>
                <a:ea typeface="Courier New" pitchFamily="34" charset="-122"/>
                <a:cs typeface="Courier New" pitchFamily="34" charset="-120"/>
              </a:rPr>
              <a:t>Deniz Arslan</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Midterm (0-100): </a:t>
            </a:r>
            <a:pPr indent="0" marL="0">
              <a:spcAft>
                <a:spcPts val="100"/>
              </a:spcAft>
              <a:buNone/>
            </a:pPr>
            <a:r>
              <a:rPr lang="en-US" sz="1300" b="1" dirty="0">
                <a:solidFill>
                  <a:srgbClr val="FCA311"/>
                </a:solidFill>
                <a:latin typeface="Courier New" pitchFamily="34" charset="0"/>
                <a:ea typeface="Courier New" pitchFamily="34" charset="-122"/>
                <a:cs typeface="Courier New" pitchFamily="34" charset="-120"/>
              </a:rPr>
              <a:t>58</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Final (0-100): </a:t>
            </a:r>
            <a:pPr indent="0" marL="0">
              <a:spcAft>
                <a:spcPts val="100"/>
              </a:spcAft>
              <a:buNone/>
            </a:pPr>
            <a:r>
              <a:rPr lang="en-US" sz="1300" b="1" dirty="0">
                <a:solidFill>
                  <a:srgbClr val="FCA311"/>
                </a:solidFill>
                <a:latin typeface="Courier New" pitchFamily="34" charset="0"/>
                <a:ea typeface="Courier New" pitchFamily="34" charset="-122"/>
                <a:cs typeface="Courier New" pitchFamily="34" charset="-120"/>
              </a:rPr>
              <a:t>610</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Please type a number from 0 to 100: </a:t>
            </a:r>
            <a:pPr indent="0" marL="0">
              <a:spcAft>
                <a:spcPts val="100"/>
              </a:spcAft>
              <a:buNone/>
            </a:pPr>
            <a:r>
              <a:rPr lang="en-US" sz="1300" b="1" dirty="0">
                <a:solidFill>
                  <a:srgbClr val="FCA311"/>
                </a:solidFill>
                <a:latin typeface="Courier New" pitchFamily="34" charset="0"/>
                <a:ea typeface="Courier New" pitchFamily="34" charset="-122"/>
                <a:cs typeface="Courier New" pitchFamily="34" charset="-120"/>
              </a:rPr>
              <a:t>61</a:t>
            </a:r>
            <a:endParaRPr lang="en-US" sz="1300" dirty="0"/>
          </a:p>
        </p:txBody>
      </p:sp>
      <p:sp>
        <p:nvSpPr>
          <p:cNvPr id="16" name="Shape 13"/>
          <p:cNvSpPr/>
          <p:nvPr/>
        </p:nvSpPr>
        <p:spPr>
          <a:xfrm>
            <a:off x="7543800" y="4480560"/>
            <a:ext cx="4114800" cy="1600200"/>
          </a:xfrm>
          <a:prstGeom prst="roundRect">
            <a:avLst>
              <a:gd name="adj" fmla="val 5714"/>
            </a:avLst>
          </a:prstGeom>
          <a:solidFill>
            <a:srgbClr val="0B0F19"/>
          </a:solidFill>
          <a:ln w="12700">
            <a:solidFill>
              <a:srgbClr val="2A3654"/>
            </a:solidFill>
            <a:prstDash val="solid"/>
          </a:ln>
        </p:spPr>
      </p:sp>
      <p:sp>
        <p:nvSpPr>
          <p:cNvPr id="17" name="Shape 14"/>
          <p:cNvSpPr/>
          <p:nvPr/>
        </p:nvSpPr>
        <p:spPr>
          <a:xfrm>
            <a:off x="7726680" y="4608576"/>
            <a:ext cx="118872" cy="118872"/>
          </a:xfrm>
          <a:prstGeom prst="ellipse">
            <a:avLst/>
          </a:prstGeom>
          <a:solidFill>
            <a:srgbClr val="FF5F57"/>
          </a:solidFill>
          <a:ln w="12700">
            <a:solidFill>
              <a:srgbClr val="FF5F57"/>
            </a:solidFill>
            <a:prstDash val="solid"/>
          </a:ln>
        </p:spPr>
      </p:sp>
      <p:sp>
        <p:nvSpPr>
          <p:cNvPr id="18" name="Shape 15"/>
          <p:cNvSpPr/>
          <p:nvPr/>
        </p:nvSpPr>
        <p:spPr>
          <a:xfrm>
            <a:off x="7955280" y="4608576"/>
            <a:ext cx="118872" cy="118872"/>
          </a:xfrm>
          <a:prstGeom prst="ellipse">
            <a:avLst/>
          </a:prstGeom>
          <a:solidFill>
            <a:srgbClr val="FEBC2E"/>
          </a:solidFill>
          <a:ln w="12700">
            <a:solidFill>
              <a:srgbClr val="FEBC2E"/>
            </a:solidFill>
            <a:prstDash val="solid"/>
          </a:ln>
        </p:spPr>
      </p:sp>
      <p:sp>
        <p:nvSpPr>
          <p:cNvPr id="19" name="Shape 16"/>
          <p:cNvSpPr/>
          <p:nvPr/>
        </p:nvSpPr>
        <p:spPr>
          <a:xfrm>
            <a:off x="8183880" y="4608576"/>
            <a:ext cx="118872" cy="118872"/>
          </a:xfrm>
          <a:prstGeom prst="ellipse">
            <a:avLst/>
          </a:prstGeom>
          <a:solidFill>
            <a:srgbClr val="28C840"/>
          </a:solidFill>
          <a:ln w="12700">
            <a:solidFill>
              <a:srgbClr val="28C840"/>
            </a:solidFill>
            <a:prstDash val="solid"/>
          </a:ln>
        </p:spPr>
      </p:sp>
      <p:sp>
        <p:nvSpPr>
          <p:cNvPr id="20" name="Text 17"/>
          <p:cNvSpPr txBox="1"/>
          <p:nvPr/>
        </p:nvSpPr>
        <p:spPr>
          <a:xfrm>
            <a:off x="8458200" y="4553712"/>
            <a:ext cx="301752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run 2 · invalid choice</a:t>
            </a:r>
            <a:endParaRPr lang="en-US" sz="1000" dirty="0"/>
          </a:p>
        </p:txBody>
      </p:sp>
      <p:sp>
        <p:nvSpPr>
          <p:cNvPr id="21" name="Text 18"/>
          <p:cNvSpPr txBox="1"/>
          <p:nvPr/>
        </p:nvSpPr>
        <p:spPr>
          <a:xfrm>
            <a:off x="7772400" y="4864608"/>
            <a:ext cx="3657600" cy="1097280"/>
          </a:xfrm>
          <a:prstGeom prst="rect">
            <a:avLst/>
          </a:prstGeom>
          <a:noFill/>
          <a:ln/>
        </p:spPr>
        <p:txBody>
          <a:bodyPr wrap="square" lIns="0" tIns="0" rIns="0" bIns="0" rtlCol="0" anchor="t"/>
          <a:lstStyle/>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Choice: </a:t>
            </a:r>
            <a:pPr indent="0" marL="0">
              <a:spcAft>
                <a:spcPts val="100"/>
              </a:spcAft>
              <a:buNone/>
            </a:pPr>
            <a:r>
              <a:rPr lang="en-US" sz="1300" b="1" dirty="0">
                <a:solidFill>
                  <a:srgbClr val="FCA311"/>
                </a:solidFill>
                <a:latin typeface="Courier New" pitchFamily="34" charset="0"/>
                <a:ea typeface="Courier New" pitchFamily="34" charset="-122"/>
                <a:cs typeface="Courier New" pitchFamily="34" charset="-120"/>
              </a:rPr>
              <a:t>x</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Please type a number from 0 to 5: </a:t>
            </a:r>
            <a:pPr indent="0" marL="0">
              <a:spcAft>
                <a:spcPts val="100"/>
              </a:spcAft>
              <a:buNone/>
            </a:pPr>
            <a:r>
              <a:rPr lang="en-US" sz="1300" b="1" dirty="0">
                <a:solidFill>
                  <a:srgbClr val="FCA311"/>
                </a:solidFill>
                <a:latin typeface="Courier New" pitchFamily="34" charset="0"/>
                <a:ea typeface="Courier New" pitchFamily="34" charset="-122"/>
                <a:cs typeface="Courier New" pitchFamily="34" charset="-120"/>
              </a:rPr>
              <a:t>3</a:t>
            </a:r>
            <a:endParaRPr lang="en-US" sz="13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MINI-PROJECT · COMPUTATIONS</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Statistics and search reuse the small methods</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14</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41</a:t>
            </a:r>
            <a:endParaRPr lang="en-US" sz="1000" dirty="0"/>
          </a:p>
        </p:txBody>
      </p:sp>
      <p:sp>
        <p:nvSpPr>
          <p:cNvPr id="7" name="Shape 4"/>
          <p:cNvSpPr/>
          <p:nvPr/>
        </p:nvSpPr>
        <p:spPr>
          <a:xfrm>
            <a:off x="548640" y="1645920"/>
            <a:ext cx="6400800" cy="4434840"/>
          </a:xfrm>
          <a:prstGeom prst="roundRect">
            <a:avLst>
              <a:gd name="adj" fmla="val 2062"/>
            </a:avLst>
          </a:prstGeom>
          <a:solidFill>
            <a:srgbClr val="0F1729"/>
          </a:solidFill>
          <a:ln w="12700">
            <a:solidFill>
              <a:srgbClr val="0F1729"/>
            </a:solidFill>
            <a:prstDash val="solid"/>
          </a:ln>
        </p:spPr>
      </p:sp>
      <p:sp>
        <p:nvSpPr>
          <p:cNvPr id="8" name="Text 5"/>
          <p:cNvSpPr txBox="1"/>
          <p:nvPr/>
        </p:nvSpPr>
        <p:spPr>
          <a:xfrm>
            <a:off x="777240" y="1755648"/>
            <a:ext cx="594360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PrintStatistics (after the empty check)</a:t>
            </a:r>
            <a:endParaRPr lang="en-US" sz="1100" dirty="0"/>
          </a:p>
        </p:txBody>
      </p:sp>
      <p:sp>
        <p:nvSpPr>
          <p:cNvPr id="9" name="Text 6"/>
          <p:cNvSpPr txBox="1"/>
          <p:nvPr/>
        </p:nvSpPr>
        <p:spPr>
          <a:xfrm>
            <a:off x="777240" y="2057400"/>
            <a:ext cx="5943600" cy="3913632"/>
          </a:xfrm>
          <a:prstGeom prst="rect">
            <a:avLst/>
          </a:prstGeom>
          <a:noFill/>
          <a:ln/>
        </p:spPr>
        <p:txBody>
          <a:bodyPr wrap="square" lIns="0" tIns="0" rIns="0" bIns="0" rtlCol="0" anchor="t"/>
          <a:lstStyle/>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double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sum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best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passed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for</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i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i &lt; count; i++)</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double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avg = Average(midterms[i], finals[i]);</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sum += avg;</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if</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(avg &gt; Average(midterms[best], finals[best]))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best = i;</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if</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(LetterGrade(avg) != </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"FF"</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passed++;</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$"Class average: {sum / count:F2}"</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$"Best student : {names[best]}"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$"Passed       : {passed} of {count}"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p:txBody>
      </p:sp>
      <p:sp>
        <p:nvSpPr>
          <p:cNvPr id="10" name="Shape 7"/>
          <p:cNvSpPr/>
          <p:nvPr/>
        </p:nvSpPr>
        <p:spPr>
          <a:xfrm>
            <a:off x="7178040" y="1645920"/>
            <a:ext cx="4480560" cy="1417320"/>
          </a:xfrm>
          <a:prstGeom prst="roundRect">
            <a:avLst>
              <a:gd name="adj" fmla="val 6452"/>
            </a:avLst>
          </a:prstGeom>
          <a:solidFill>
            <a:srgbClr val="0B0F19"/>
          </a:solidFill>
          <a:ln w="12700">
            <a:solidFill>
              <a:srgbClr val="2A3654"/>
            </a:solidFill>
            <a:prstDash val="solid"/>
          </a:ln>
        </p:spPr>
      </p:sp>
      <p:sp>
        <p:nvSpPr>
          <p:cNvPr id="11" name="Shape 8"/>
          <p:cNvSpPr/>
          <p:nvPr/>
        </p:nvSpPr>
        <p:spPr>
          <a:xfrm>
            <a:off x="7360920" y="1773936"/>
            <a:ext cx="118872" cy="118872"/>
          </a:xfrm>
          <a:prstGeom prst="ellipse">
            <a:avLst/>
          </a:prstGeom>
          <a:solidFill>
            <a:srgbClr val="FF5F57"/>
          </a:solidFill>
          <a:ln w="12700">
            <a:solidFill>
              <a:srgbClr val="FF5F57"/>
            </a:solidFill>
            <a:prstDash val="solid"/>
          </a:ln>
        </p:spPr>
      </p:sp>
      <p:sp>
        <p:nvSpPr>
          <p:cNvPr id="12" name="Shape 9"/>
          <p:cNvSpPr/>
          <p:nvPr/>
        </p:nvSpPr>
        <p:spPr>
          <a:xfrm>
            <a:off x="7589520" y="1773936"/>
            <a:ext cx="118872" cy="118872"/>
          </a:xfrm>
          <a:prstGeom prst="ellipse">
            <a:avLst/>
          </a:prstGeom>
          <a:solidFill>
            <a:srgbClr val="FEBC2E"/>
          </a:solidFill>
          <a:ln w="12700">
            <a:solidFill>
              <a:srgbClr val="FEBC2E"/>
            </a:solidFill>
            <a:prstDash val="solid"/>
          </a:ln>
        </p:spPr>
      </p:sp>
      <p:sp>
        <p:nvSpPr>
          <p:cNvPr id="13" name="Shape 10"/>
          <p:cNvSpPr/>
          <p:nvPr/>
        </p:nvSpPr>
        <p:spPr>
          <a:xfrm>
            <a:off x="7818120" y="1773936"/>
            <a:ext cx="118872" cy="118872"/>
          </a:xfrm>
          <a:prstGeom prst="ellipse">
            <a:avLst/>
          </a:prstGeom>
          <a:solidFill>
            <a:srgbClr val="28C840"/>
          </a:solidFill>
          <a:ln w="12700">
            <a:solidFill>
              <a:srgbClr val="28C840"/>
            </a:solidFill>
            <a:prstDash val="solid"/>
          </a:ln>
        </p:spPr>
      </p:sp>
      <p:sp>
        <p:nvSpPr>
          <p:cNvPr id="14" name="Text 11"/>
          <p:cNvSpPr txBox="1"/>
          <p:nvPr/>
        </p:nvSpPr>
        <p:spPr>
          <a:xfrm>
            <a:off x="8092440" y="1719072"/>
            <a:ext cx="338328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run 2 · statistics</a:t>
            </a:r>
            <a:endParaRPr lang="en-US" sz="1000" dirty="0"/>
          </a:p>
        </p:txBody>
      </p:sp>
      <p:sp>
        <p:nvSpPr>
          <p:cNvPr id="15" name="Text 12"/>
          <p:cNvSpPr txBox="1"/>
          <p:nvPr/>
        </p:nvSpPr>
        <p:spPr>
          <a:xfrm>
            <a:off x="7406640" y="2029968"/>
            <a:ext cx="4023360" cy="914400"/>
          </a:xfrm>
          <a:prstGeom prst="rect">
            <a:avLst/>
          </a:prstGeom>
          <a:noFill/>
          <a:ln/>
        </p:spPr>
        <p:txBody>
          <a:bodyPr wrap="square" lIns="0" tIns="0" rIns="0" bIns="0" rtlCol="0" anchor="t"/>
          <a:lstStyle/>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Class average: 63.48</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Best student : Ceren Yildiz</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Passed       : 3 of 5</a:t>
            </a:r>
            <a:endParaRPr lang="en-US" sz="1300" dirty="0"/>
          </a:p>
        </p:txBody>
      </p:sp>
      <p:sp>
        <p:nvSpPr>
          <p:cNvPr id="16" name="Shape 13"/>
          <p:cNvSpPr/>
          <p:nvPr/>
        </p:nvSpPr>
        <p:spPr>
          <a:xfrm>
            <a:off x="7178040" y="3154680"/>
            <a:ext cx="4480560" cy="1463040"/>
          </a:xfrm>
          <a:prstGeom prst="roundRect">
            <a:avLst>
              <a:gd name="adj" fmla="val 6250"/>
            </a:avLst>
          </a:prstGeom>
          <a:solidFill>
            <a:srgbClr val="0B0F19"/>
          </a:solidFill>
          <a:ln w="12700">
            <a:solidFill>
              <a:srgbClr val="2A3654"/>
            </a:solidFill>
            <a:prstDash val="solid"/>
          </a:ln>
        </p:spPr>
      </p:sp>
      <p:sp>
        <p:nvSpPr>
          <p:cNvPr id="17" name="Shape 14"/>
          <p:cNvSpPr/>
          <p:nvPr/>
        </p:nvSpPr>
        <p:spPr>
          <a:xfrm>
            <a:off x="7360920" y="3282696"/>
            <a:ext cx="118872" cy="118872"/>
          </a:xfrm>
          <a:prstGeom prst="ellipse">
            <a:avLst/>
          </a:prstGeom>
          <a:solidFill>
            <a:srgbClr val="FF5F57"/>
          </a:solidFill>
          <a:ln w="12700">
            <a:solidFill>
              <a:srgbClr val="FF5F57"/>
            </a:solidFill>
            <a:prstDash val="solid"/>
          </a:ln>
        </p:spPr>
      </p:sp>
      <p:sp>
        <p:nvSpPr>
          <p:cNvPr id="18" name="Shape 15"/>
          <p:cNvSpPr/>
          <p:nvPr/>
        </p:nvSpPr>
        <p:spPr>
          <a:xfrm>
            <a:off x="7589520" y="3282696"/>
            <a:ext cx="118872" cy="118872"/>
          </a:xfrm>
          <a:prstGeom prst="ellipse">
            <a:avLst/>
          </a:prstGeom>
          <a:solidFill>
            <a:srgbClr val="FEBC2E"/>
          </a:solidFill>
          <a:ln w="12700">
            <a:solidFill>
              <a:srgbClr val="FEBC2E"/>
            </a:solidFill>
            <a:prstDash val="solid"/>
          </a:ln>
        </p:spPr>
      </p:sp>
      <p:sp>
        <p:nvSpPr>
          <p:cNvPr id="19" name="Shape 16"/>
          <p:cNvSpPr/>
          <p:nvPr/>
        </p:nvSpPr>
        <p:spPr>
          <a:xfrm>
            <a:off x="7818120" y="3282696"/>
            <a:ext cx="118872" cy="118872"/>
          </a:xfrm>
          <a:prstGeom prst="ellipse">
            <a:avLst/>
          </a:prstGeom>
          <a:solidFill>
            <a:srgbClr val="28C840"/>
          </a:solidFill>
          <a:ln w="12700">
            <a:solidFill>
              <a:srgbClr val="28C840"/>
            </a:solidFill>
            <a:prstDash val="solid"/>
          </a:ln>
        </p:spPr>
      </p:sp>
      <p:sp>
        <p:nvSpPr>
          <p:cNvPr id="20" name="Text 17"/>
          <p:cNvSpPr txBox="1"/>
          <p:nvPr/>
        </p:nvSpPr>
        <p:spPr>
          <a:xfrm>
            <a:off x="8092440" y="3227832"/>
            <a:ext cx="338328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run 2 · search</a:t>
            </a:r>
            <a:endParaRPr lang="en-US" sz="1000" dirty="0"/>
          </a:p>
        </p:txBody>
      </p:sp>
      <p:sp>
        <p:nvSpPr>
          <p:cNvPr id="21" name="Text 18"/>
          <p:cNvSpPr txBox="1"/>
          <p:nvPr/>
        </p:nvSpPr>
        <p:spPr>
          <a:xfrm>
            <a:off x="7406640" y="3538728"/>
            <a:ext cx="4023360" cy="960120"/>
          </a:xfrm>
          <a:prstGeom prst="rect">
            <a:avLst/>
          </a:prstGeom>
          <a:noFill/>
          <a:ln/>
        </p:spPr>
        <p:txBody>
          <a:bodyPr wrap="square" lIns="0" tIns="0" rIns="0" bIns="0" rtlCol="0" anchor="t"/>
          <a:lstStyle/>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Name to search: </a:t>
            </a:r>
            <a:pPr indent="0" marL="0">
              <a:spcAft>
                <a:spcPts val="100"/>
              </a:spcAft>
              <a:buNone/>
            </a:pPr>
            <a:r>
              <a:rPr lang="en-US" sz="1300" b="1" dirty="0">
                <a:solidFill>
                  <a:srgbClr val="FCA311"/>
                </a:solidFill>
                <a:latin typeface="Courier New" pitchFamily="34" charset="0"/>
                <a:ea typeface="Courier New" pitchFamily="34" charset="-122"/>
                <a:cs typeface="Courier New" pitchFamily="34" charset="-120"/>
              </a:rPr>
              <a:t>ceren yildiz</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Ceren Yildiz: average 92.2, grade AA</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Name to search: </a:t>
            </a:r>
            <a:pPr indent="0" marL="0">
              <a:spcAft>
                <a:spcPts val="100"/>
              </a:spcAft>
              <a:buNone/>
            </a:pPr>
            <a:r>
              <a:rPr lang="en-US" sz="1300" b="1" dirty="0">
                <a:solidFill>
                  <a:srgbClr val="FCA311"/>
                </a:solidFill>
                <a:latin typeface="Courier New" pitchFamily="34" charset="0"/>
                <a:ea typeface="Courier New" pitchFamily="34" charset="-122"/>
                <a:cs typeface="Courier New" pitchFamily="34" charset="-120"/>
              </a:rPr>
              <a:t>Can</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Not found.</a:t>
            </a:r>
            <a:endParaRPr lang="en-US" sz="1300" dirty="0"/>
          </a:p>
        </p:txBody>
      </p:sp>
      <p:sp>
        <p:nvSpPr>
          <p:cNvPr id="22" name="Shape 19"/>
          <p:cNvSpPr/>
          <p:nvPr/>
        </p:nvSpPr>
        <p:spPr>
          <a:xfrm>
            <a:off x="7178040" y="4709160"/>
            <a:ext cx="4480560" cy="1371600"/>
          </a:xfrm>
          <a:prstGeom prst="roundRect">
            <a:avLst>
              <a:gd name="adj" fmla="val 8000"/>
            </a:avLst>
          </a:prstGeom>
          <a:solidFill>
            <a:srgbClr val="FFF6E3"/>
          </a:solidFill>
          <a:ln w="12700">
            <a:solidFill>
              <a:srgbClr val="FFF6E3"/>
            </a:solidFill>
            <a:prstDash val="solid"/>
          </a:ln>
        </p:spPr>
      </p:sp>
      <p:pic>
        <p:nvPicPr>
          <p:cNvPr id="23" name="Image 0" descr="preencoded.png">    </p:cNvPr>
          <p:cNvPicPr>
            <a:picLocks noChangeAspect="1"/>
          </p:cNvPicPr>
          <p:nvPr/>
        </p:nvPicPr>
        <p:blipFill>
          <a:blip r:embed="rId1"/>
          <a:stretch>
            <a:fillRect/>
          </a:stretch>
        </p:blipFill>
        <p:spPr>
          <a:xfrm>
            <a:off x="7452360" y="5120640"/>
            <a:ext cx="548640" cy="548640"/>
          </a:xfrm>
          <a:prstGeom prst="rect">
            <a:avLst/>
          </a:prstGeom>
        </p:spPr>
      </p:pic>
      <p:sp>
        <p:nvSpPr>
          <p:cNvPr id="24" name="Text 20"/>
          <p:cNvSpPr txBox="1"/>
          <p:nvPr/>
        </p:nvSpPr>
        <p:spPr>
          <a:xfrm>
            <a:off x="8275320" y="4782312"/>
            <a:ext cx="3108960" cy="1225296"/>
          </a:xfrm>
          <a:prstGeom prst="rect">
            <a:avLst/>
          </a:prstGeom>
          <a:noFill/>
          <a:ln/>
        </p:spPr>
        <p:txBody>
          <a:bodyPr wrap="square" lIns="0" tIns="0" rIns="0" bIns="0" rtlCol="0" anchor="ctr"/>
          <a:lstStyle/>
          <a:p>
            <a:pPr indent="0" marL="0">
              <a:buNone/>
            </a:pPr>
            <a:r>
              <a:rPr lang="en-US" sz="1400" b="1" dirty="0">
                <a:solidFill>
                  <a:srgbClr val="14213D"/>
                </a:solidFill>
                <a:latin typeface="Calibri" pitchFamily="34" charset="0"/>
                <a:ea typeface="Calibri" pitchFamily="34" charset="-122"/>
                <a:cs typeface="Calibri" pitchFamily="34" charset="-120"/>
              </a:rPr>
              <a:t>Reuse: </a:t>
            </a:r>
            <a:pPr indent="0" marL="0">
              <a:buNone/>
            </a:pPr>
            <a:r>
              <a:rPr lang="en-US" sz="1400" dirty="0">
                <a:solidFill>
                  <a:srgbClr val="333B4F"/>
                </a:solidFill>
                <a:latin typeface="Calibri" pitchFamily="34" charset="0"/>
                <a:ea typeface="Calibri" pitchFamily="34" charset="-122"/>
                <a:cs typeface="Calibri" pitchFamily="34" charset="-120"/>
              </a:rPr>
              <a:t>Average and LetterGrade are called by List, Search and Statistics.</a:t>
            </a:r>
            <a:endParaRPr lang="en-US" sz="14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MINI-PROJECT · SAVE</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SaveToFile: one CSV line per used place</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14</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42</a:t>
            </a:r>
            <a:endParaRPr lang="en-US" sz="1000" dirty="0"/>
          </a:p>
        </p:txBody>
      </p:sp>
      <p:sp>
        <p:nvSpPr>
          <p:cNvPr id="7" name="Shape 4"/>
          <p:cNvSpPr/>
          <p:nvPr/>
        </p:nvSpPr>
        <p:spPr>
          <a:xfrm>
            <a:off x="548640" y="1645920"/>
            <a:ext cx="11109960" cy="2743200"/>
          </a:xfrm>
          <a:prstGeom prst="roundRect">
            <a:avLst>
              <a:gd name="adj" fmla="val 3333"/>
            </a:avLst>
          </a:prstGeom>
          <a:solidFill>
            <a:srgbClr val="0F1729"/>
          </a:solidFill>
          <a:ln w="12700">
            <a:solidFill>
              <a:srgbClr val="0F1729"/>
            </a:solidFill>
            <a:prstDash val="solid"/>
          </a:ln>
        </p:spPr>
      </p:sp>
      <p:sp>
        <p:nvSpPr>
          <p:cNvPr id="8" name="Text 5"/>
          <p:cNvSpPr txBox="1"/>
          <p:nvPr/>
        </p:nvSpPr>
        <p:spPr>
          <a:xfrm>
            <a:off x="777240" y="1755648"/>
            <a:ext cx="1065276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SaveToFile</a:t>
            </a:r>
            <a:endParaRPr lang="en-US" sz="1100" dirty="0"/>
          </a:p>
        </p:txBody>
      </p:sp>
      <p:sp>
        <p:nvSpPr>
          <p:cNvPr id="9" name="Text 6"/>
          <p:cNvSpPr txBox="1"/>
          <p:nvPr/>
        </p:nvSpPr>
        <p:spPr>
          <a:xfrm>
            <a:off x="777240" y="2057400"/>
            <a:ext cx="10652760" cy="2221992"/>
          </a:xfrm>
          <a:prstGeom prst="rect">
            <a:avLst/>
          </a:prstGeom>
          <a:noFill/>
          <a:ln/>
        </p:spPr>
        <p:txBody>
          <a:bodyPr wrap="square" lIns="0" tIns="0" rIns="0" bIns="0" rtlCol="0" anchor="t"/>
          <a:lstStyle/>
          <a:p>
            <a:pPr indent="0" marL="0">
              <a:spcAft>
                <a:spcPts val="100"/>
              </a:spcAft>
              <a:buNone/>
            </a:pPr>
            <a:r>
              <a:rPr lang="en-US" sz="1250" dirty="0">
                <a:solidFill>
                  <a:srgbClr val="7AB8FF"/>
                </a:solidFill>
                <a:latin typeface="Courier New" pitchFamily="34" charset="0"/>
                <a:ea typeface="Courier New" pitchFamily="34" charset="-122"/>
                <a:cs typeface="Courier New" pitchFamily="34" charset="-120"/>
              </a:rPr>
              <a:t>static</a:t>
            </a:r>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50" dirty="0">
                <a:solidFill>
                  <a:srgbClr val="7AB8FF"/>
                </a:solidFill>
                <a:latin typeface="Courier New" pitchFamily="34" charset="0"/>
                <a:ea typeface="Courier New" pitchFamily="34" charset="-122"/>
                <a:cs typeface="Courier New" pitchFamily="34" charset="-120"/>
              </a:rPr>
              <a:t>void</a:t>
            </a:r>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 SaveToFile(</a:t>
            </a:r>
            <a:pPr indent="0" marL="0">
              <a:spcAft>
                <a:spcPts val="100"/>
              </a:spcAft>
              <a:buNone/>
            </a:pPr>
            <a:r>
              <a:rPr lang="en-US" sz="1250" dirty="0">
                <a:solidFill>
                  <a:srgbClr val="4EC9B0"/>
                </a:solidFill>
                <a:latin typeface="Courier New" pitchFamily="34" charset="0"/>
                <a:ea typeface="Courier New" pitchFamily="34" charset="-122"/>
                <a:cs typeface="Courier New" pitchFamily="34" charset="-120"/>
              </a:rPr>
              <a:t>string</a:t>
            </a:r>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 path, </a:t>
            </a:r>
            <a:pPr indent="0" marL="0">
              <a:spcAft>
                <a:spcPts val="100"/>
              </a:spcAft>
              <a:buNone/>
            </a:pPr>
            <a:r>
              <a:rPr lang="en-US" sz="1250" dirty="0">
                <a:solidFill>
                  <a:srgbClr val="4EC9B0"/>
                </a:solidFill>
                <a:latin typeface="Courier New" pitchFamily="34" charset="0"/>
                <a:ea typeface="Courier New" pitchFamily="34" charset="-122"/>
                <a:cs typeface="Courier New" pitchFamily="34" charset="-120"/>
              </a:rPr>
              <a:t>string</a:t>
            </a:r>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 names, </a:t>
            </a:r>
            <a:pPr indent="0" marL="0">
              <a:spcAft>
                <a:spcPts val="100"/>
              </a:spcAft>
              <a:buNone/>
            </a:pPr>
            <a:r>
              <a:rPr lang="en-US" sz="125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 midterms, </a:t>
            </a:r>
            <a:pPr indent="0" marL="0">
              <a:spcAft>
                <a:spcPts val="100"/>
              </a:spcAft>
              <a:buNone/>
            </a:pPr>
            <a:r>
              <a:rPr lang="en-US" sz="125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 finals, </a:t>
            </a:r>
            <a:pPr indent="0" marL="0">
              <a:spcAft>
                <a:spcPts val="100"/>
              </a:spcAft>
              <a:buNone/>
            </a:pPr>
            <a:r>
              <a:rPr lang="en-US" sz="125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 count)</a:t>
            </a:r>
            <a:endParaRPr lang="en-US" sz="1250" dirty="0"/>
          </a:p>
          <a:p>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a:t>
            </a:r>
            <a:endParaRPr lang="en-US" sz="1250" dirty="0"/>
          </a:p>
          <a:p>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50" dirty="0">
                <a:solidFill>
                  <a:srgbClr val="7AB8FF"/>
                </a:solidFill>
                <a:latin typeface="Courier New" pitchFamily="34" charset="0"/>
                <a:ea typeface="Courier New" pitchFamily="34" charset="-122"/>
                <a:cs typeface="Courier New" pitchFamily="34" charset="-120"/>
              </a:rPr>
              <a:t>using</a:t>
            </a:r>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 (StreamWriter writer = </a:t>
            </a:r>
            <a:pPr indent="0" marL="0">
              <a:spcAft>
                <a:spcPts val="100"/>
              </a:spcAft>
              <a:buNone/>
            </a:pPr>
            <a:r>
              <a:rPr lang="en-US" sz="1250" dirty="0">
                <a:solidFill>
                  <a:srgbClr val="7AB8FF"/>
                </a:solidFill>
                <a:latin typeface="Courier New" pitchFamily="34" charset="0"/>
                <a:ea typeface="Courier New" pitchFamily="34" charset="-122"/>
                <a:cs typeface="Courier New" pitchFamily="34" charset="-120"/>
              </a:rPr>
              <a:t>new</a:t>
            </a:r>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 StreamWriter(path))</a:t>
            </a:r>
            <a:endParaRPr lang="en-US" sz="1250" dirty="0"/>
          </a:p>
          <a:p>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    {</a:t>
            </a:r>
            <a:endParaRPr lang="en-US" sz="1250" dirty="0"/>
          </a:p>
          <a:p>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50" dirty="0">
                <a:solidFill>
                  <a:srgbClr val="7AB8FF"/>
                </a:solidFill>
                <a:latin typeface="Courier New" pitchFamily="34" charset="0"/>
                <a:ea typeface="Courier New" pitchFamily="34" charset="-122"/>
                <a:cs typeface="Courier New" pitchFamily="34" charset="-120"/>
              </a:rPr>
              <a:t>for</a:t>
            </a:r>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5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 i = </a:t>
            </a:r>
            <a:pPr indent="0" marL="0">
              <a:spcAft>
                <a:spcPts val="100"/>
              </a:spcAft>
              <a:buNone/>
            </a:pPr>
            <a:r>
              <a:rPr lang="en-US" sz="125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 i &lt; count; i++)</a:t>
            </a:r>
            <a:endParaRPr lang="en-US" sz="1250" dirty="0"/>
          </a:p>
          <a:p>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        {</a:t>
            </a:r>
            <a:endParaRPr lang="en-US" sz="1250" dirty="0"/>
          </a:p>
          <a:p>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            writer.WriteLine(</a:t>
            </a:r>
            <a:pPr indent="0" marL="0">
              <a:spcAft>
                <a:spcPts val="100"/>
              </a:spcAft>
              <a:buNone/>
            </a:pPr>
            <a:r>
              <a:rPr lang="en-US" sz="1250" dirty="0">
                <a:solidFill>
                  <a:srgbClr val="CE9178"/>
                </a:solidFill>
                <a:latin typeface="Courier New" pitchFamily="34" charset="0"/>
                <a:ea typeface="Courier New" pitchFamily="34" charset="-122"/>
                <a:cs typeface="Courier New" pitchFamily="34" charset="-120"/>
              </a:rPr>
              <a:t>$"{names[i]},{midterms[i]},{finals[i]}"</a:t>
            </a:r>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a:t>
            </a:r>
            <a:endParaRPr lang="en-US" sz="1250" dirty="0"/>
          </a:p>
          <a:p>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        }</a:t>
            </a:r>
            <a:endParaRPr lang="en-US" sz="1250" dirty="0"/>
          </a:p>
          <a:p>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    }</a:t>
            </a:r>
            <a:endParaRPr lang="en-US" sz="1250" dirty="0"/>
          </a:p>
          <a:p>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5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250" dirty="0">
                <a:solidFill>
                  <a:srgbClr val="CE9178"/>
                </a:solidFill>
                <a:latin typeface="Courier New" pitchFamily="34" charset="0"/>
                <a:ea typeface="Courier New" pitchFamily="34" charset="-122"/>
                <a:cs typeface="Courier New" pitchFamily="34" charset="-120"/>
              </a:rPr>
              <a:t>$"{count} student(s) saved to {path}"</a:t>
            </a:r>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a:t>
            </a:r>
            <a:endParaRPr lang="en-US" sz="1250" dirty="0"/>
          </a:p>
          <a:p>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a:t>
            </a:r>
            <a:endParaRPr lang="en-US" sz="1250" dirty="0"/>
          </a:p>
        </p:txBody>
      </p:sp>
      <p:sp>
        <p:nvSpPr>
          <p:cNvPr id="10" name="Shape 7"/>
          <p:cNvSpPr/>
          <p:nvPr/>
        </p:nvSpPr>
        <p:spPr>
          <a:xfrm>
            <a:off x="548640" y="4526280"/>
            <a:ext cx="5120640" cy="1554480"/>
          </a:xfrm>
          <a:prstGeom prst="rect">
            <a:avLst/>
          </a:prstGeom>
          <a:solidFill>
            <a:srgbClr val="FFFFFF"/>
          </a:solidFill>
          <a:ln w="12700">
            <a:solidFill>
              <a:srgbClr val="8A94AB"/>
            </a:solidFill>
            <a:prstDash val="solid"/>
          </a:ln>
        </p:spPr>
      </p:sp>
      <p:sp>
        <p:nvSpPr>
          <p:cNvPr id="11" name="Shape 8"/>
          <p:cNvSpPr/>
          <p:nvPr/>
        </p:nvSpPr>
        <p:spPr>
          <a:xfrm>
            <a:off x="548640" y="4526280"/>
            <a:ext cx="5120640" cy="329184"/>
          </a:xfrm>
          <a:prstGeom prst="rect">
            <a:avLst/>
          </a:prstGeom>
          <a:solidFill>
            <a:srgbClr val="EEF1F6"/>
          </a:solidFill>
          <a:ln w="12700">
            <a:solidFill>
              <a:srgbClr val="8A94AB"/>
            </a:solidFill>
            <a:prstDash val="solid"/>
          </a:ln>
        </p:spPr>
      </p:sp>
      <p:sp>
        <p:nvSpPr>
          <p:cNvPr id="12" name="Text 9"/>
          <p:cNvSpPr txBox="1"/>
          <p:nvPr/>
        </p:nvSpPr>
        <p:spPr>
          <a:xfrm>
            <a:off x="640080" y="4526280"/>
            <a:ext cx="4937760" cy="329184"/>
          </a:xfrm>
          <a:prstGeom prst="rect">
            <a:avLst/>
          </a:prstGeom>
          <a:noFill/>
          <a:ln/>
        </p:spPr>
        <p:txBody>
          <a:bodyPr wrap="square" lIns="0" tIns="0" rIns="0" bIns="0" rtlCol="0" anchor="ctr"/>
          <a:lstStyle/>
          <a:p>
            <a:pPr indent="0" marL="0">
              <a:buNone/>
            </a:pPr>
            <a:r>
              <a:rPr lang="en-US" sz="1200" dirty="0">
                <a:solidFill>
                  <a:srgbClr val="B7791F"/>
                </a:solidFill>
                <a:latin typeface="Courier New" pitchFamily="34" charset="0"/>
                <a:ea typeface="Courier New" pitchFamily="34" charset="-122"/>
                <a:cs typeface="Courier New" pitchFamily="34" charset="-120"/>
              </a:rPr>
              <a:t>▤ </a:t>
            </a:r>
            <a:pPr indent="0" marL="0">
              <a:buNone/>
            </a:pPr>
            <a:r>
              <a:rPr lang="en-US" sz="1200" b="1" dirty="0">
                <a:solidFill>
                  <a:srgbClr val="14213D"/>
                </a:solidFill>
                <a:latin typeface="Courier New" pitchFamily="34" charset="0"/>
                <a:ea typeface="Courier New" pitchFamily="34" charset="-122"/>
                <a:cs typeface="Courier New" pitchFamily="34" charset="-120"/>
              </a:rPr>
              <a:t>students.csv after run 2</a:t>
            </a:r>
            <a:endParaRPr lang="en-US" sz="1200" dirty="0"/>
          </a:p>
        </p:txBody>
      </p:sp>
      <p:sp>
        <p:nvSpPr>
          <p:cNvPr id="13" name="Text 10"/>
          <p:cNvSpPr txBox="1"/>
          <p:nvPr/>
        </p:nvSpPr>
        <p:spPr>
          <a:xfrm>
            <a:off x="685800" y="4937760"/>
            <a:ext cx="4846320" cy="1051560"/>
          </a:xfrm>
          <a:prstGeom prst="rect">
            <a:avLst/>
          </a:prstGeom>
          <a:noFill/>
          <a:ln/>
        </p:spPr>
        <p:txBody>
          <a:bodyPr wrap="square" lIns="0" tIns="0" rIns="0" bIns="0" rtlCol="0" anchor="t"/>
          <a:lstStyle/>
          <a:p>
            <a:pPr indent="0" marL="0">
              <a:spcAft>
                <a:spcPts val="100"/>
              </a:spcAft>
              <a:buNone/>
            </a:pPr>
            <a:r>
              <a:rPr lang="en-US" sz="1200" dirty="0">
                <a:solidFill>
                  <a:srgbClr val="14213D"/>
                </a:solidFill>
                <a:latin typeface="Courier New" pitchFamily="34" charset="0"/>
                <a:ea typeface="Courier New" pitchFamily="34" charset="-122"/>
                <a:cs typeface="Courier New" pitchFamily="34" charset="-120"/>
              </a:rPr>
              <a:t>Ayse Kaya,72,64</a:t>
            </a:r>
            <a:endParaRPr lang="en-US" sz="1200" dirty="0"/>
          </a:p>
          <a:p>
            <a:pPr indent="0" marL="0">
              <a:spcAft>
                <a:spcPts val="100"/>
              </a:spcAft>
              <a:buNone/>
            </a:pPr>
            <a:r>
              <a:rPr lang="en-US" sz="1200" dirty="0">
                <a:solidFill>
                  <a:srgbClr val="14213D"/>
                </a:solidFill>
                <a:latin typeface="Courier New" pitchFamily="34" charset="0"/>
                <a:ea typeface="Courier New" pitchFamily="34" charset="-122"/>
                <a:cs typeface="Courier New" pitchFamily="34" charset="-120"/>
              </a:rPr>
              <a:t>Burak Demir,55,66</a:t>
            </a:r>
            <a:endParaRPr lang="en-US" sz="1200" dirty="0"/>
          </a:p>
          <a:p>
            <a:pPr indent="0" marL="0">
              <a:spcAft>
                <a:spcPts val="100"/>
              </a:spcAft>
              <a:buNone/>
            </a:pPr>
            <a:r>
              <a:rPr lang="en-US" sz="1200" dirty="0">
                <a:solidFill>
                  <a:srgbClr val="14213D"/>
                </a:solidFill>
                <a:latin typeface="Courier New" pitchFamily="34" charset="0"/>
                <a:ea typeface="Courier New" pitchFamily="34" charset="-122"/>
                <a:cs typeface="Courier New" pitchFamily="34" charset="-120"/>
              </a:rPr>
              <a:t>Ceren Yildiz,88,95</a:t>
            </a:r>
            <a:endParaRPr lang="en-US" sz="1200" dirty="0"/>
          </a:p>
          <a:p>
            <a:pPr indent="0" marL="0">
              <a:spcAft>
                <a:spcPts val="100"/>
              </a:spcAft>
              <a:buNone/>
            </a:pPr>
            <a:r>
              <a:rPr lang="en-US" sz="1200" dirty="0">
                <a:solidFill>
                  <a:srgbClr val="14213D"/>
                </a:solidFill>
                <a:latin typeface="Courier New" pitchFamily="34" charset="0"/>
                <a:ea typeface="Courier New" pitchFamily="34" charset="-122"/>
                <a:cs typeface="Courier New" pitchFamily="34" charset="-120"/>
              </a:rPr>
              <a:t>Deniz Arslan,58,61</a:t>
            </a:r>
            <a:endParaRPr lang="en-US" sz="1200" dirty="0"/>
          </a:p>
          <a:p>
            <a:pPr indent="0" marL="0">
              <a:spcAft>
                <a:spcPts val="100"/>
              </a:spcAft>
              <a:buNone/>
            </a:pPr>
            <a:r>
              <a:rPr lang="en-US" sz="1200" dirty="0">
                <a:solidFill>
                  <a:srgbClr val="14213D"/>
                </a:solidFill>
                <a:latin typeface="Courier New" pitchFamily="34" charset="0"/>
                <a:ea typeface="Courier New" pitchFamily="34" charset="-122"/>
                <a:cs typeface="Courier New" pitchFamily="34" charset="-120"/>
              </a:rPr>
              <a:t>Emre Sahin,30,41</a:t>
            </a:r>
            <a:endParaRPr lang="en-US" sz="1200" dirty="0"/>
          </a:p>
        </p:txBody>
      </p:sp>
      <p:sp>
        <p:nvSpPr>
          <p:cNvPr id="14" name="Shape 11"/>
          <p:cNvSpPr/>
          <p:nvPr/>
        </p:nvSpPr>
        <p:spPr>
          <a:xfrm>
            <a:off x="5897880" y="4526280"/>
            <a:ext cx="5760720" cy="1554480"/>
          </a:xfrm>
          <a:prstGeom prst="roundRect">
            <a:avLst>
              <a:gd name="adj" fmla="val 5882"/>
            </a:avLst>
          </a:prstGeom>
          <a:solidFill>
            <a:srgbClr val="0B0F19"/>
          </a:solidFill>
          <a:ln w="12700">
            <a:solidFill>
              <a:srgbClr val="2A3654"/>
            </a:solidFill>
            <a:prstDash val="solid"/>
          </a:ln>
        </p:spPr>
      </p:sp>
      <p:sp>
        <p:nvSpPr>
          <p:cNvPr id="15" name="Shape 12"/>
          <p:cNvSpPr/>
          <p:nvPr/>
        </p:nvSpPr>
        <p:spPr>
          <a:xfrm>
            <a:off x="6080760" y="4654296"/>
            <a:ext cx="118872" cy="118872"/>
          </a:xfrm>
          <a:prstGeom prst="ellipse">
            <a:avLst/>
          </a:prstGeom>
          <a:solidFill>
            <a:srgbClr val="FF5F57"/>
          </a:solidFill>
          <a:ln w="12700">
            <a:solidFill>
              <a:srgbClr val="FF5F57"/>
            </a:solidFill>
            <a:prstDash val="solid"/>
          </a:ln>
        </p:spPr>
      </p:sp>
      <p:sp>
        <p:nvSpPr>
          <p:cNvPr id="16" name="Shape 13"/>
          <p:cNvSpPr/>
          <p:nvPr/>
        </p:nvSpPr>
        <p:spPr>
          <a:xfrm>
            <a:off x="6309360" y="4654296"/>
            <a:ext cx="118872" cy="118872"/>
          </a:xfrm>
          <a:prstGeom prst="ellipse">
            <a:avLst/>
          </a:prstGeom>
          <a:solidFill>
            <a:srgbClr val="FEBC2E"/>
          </a:solidFill>
          <a:ln w="12700">
            <a:solidFill>
              <a:srgbClr val="FEBC2E"/>
            </a:solidFill>
            <a:prstDash val="solid"/>
          </a:ln>
        </p:spPr>
      </p:sp>
      <p:sp>
        <p:nvSpPr>
          <p:cNvPr id="17" name="Shape 14"/>
          <p:cNvSpPr/>
          <p:nvPr/>
        </p:nvSpPr>
        <p:spPr>
          <a:xfrm>
            <a:off x="6537960" y="4654296"/>
            <a:ext cx="118872" cy="118872"/>
          </a:xfrm>
          <a:prstGeom prst="ellipse">
            <a:avLst/>
          </a:prstGeom>
          <a:solidFill>
            <a:srgbClr val="28C840"/>
          </a:solidFill>
          <a:ln w="12700">
            <a:solidFill>
              <a:srgbClr val="28C840"/>
            </a:solidFill>
            <a:prstDash val="solid"/>
          </a:ln>
        </p:spPr>
      </p:sp>
      <p:sp>
        <p:nvSpPr>
          <p:cNvPr id="18" name="Text 15"/>
          <p:cNvSpPr txBox="1"/>
          <p:nvPr/>
        </p:nvSpPr>
        <p:spPr>
          <a:xfrm>
            <a:off x="6812280" y="4599432"/>
            <a:ext cx="466344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run 2 · exit (automatic save)</a:t>
            </a:r>
            <a:endParaRPr lang="en-US" sz="1000" dirty="0"/>
          </a:p>
        </p:txBody>
      </p:sp>
      <p:sp>
        <p:nvSpPr>
          <p:cNvPr id="19" name="Text 16"/>
          <p:cNvSpPr txBox="1"/>
          <p:nvPr/>
        </p:nvSpPr>
        <p:spPr>
          <a:xfrm>
            <a:off x="6126480" y="4910328"/>
            <a:ext cx="5303520" cy="1051560"/>
          </a:xfrm>
          <a:prstGeom prst="rect">
            <a:avLst/>
          </a:prstGeom>
          <a:noFill/>
          <a:ln/>
        </p:spPr>
        <p:txBody>
          <a:bodyPr wrap="square" lIns="0" tIns="0" rIns="0" bIns="0" rtlCol="0" anchor="t"/>
          <a:lstStyle/>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5 student(s) saved to students.csv</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Goodbye!</a:t>
            </a:r>
            <a:endParaRPr lang="en-US" sz="13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MINI-PROJECT · LOAD</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LoadFromFile: split, check, skip damaged lines</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14</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43</a:t>
            </a:r>
            <a:endParaRPr lang="en-US" sz="1000" dirty="0"/>
          </a:p>
        </p:txBody>
      </p:sp>
      <p:sp>
        <p:nvSpPr>
          <p:cNvPr id="7" name="Shape 4"/>
          <p:cNvSpPr/>
          <p:nvPr/>
        </p:nvSpPr>
        <p:spPr>
          <a:xfrm>
            <a:off x="548640" y="1645920"/>
            <a:ext cx="6949440" cy="4434840"/>
          </a:xfrm>
          <a:prstGeom prst="roundRect">
            <a:avLst>
              <a:gd name="adj" fmla="val 2062"/>
            </a:avLst>
          </a:prstGeom>
          <a:solidFill>
            <a:srgbClr val="0F1729"/>
          </a:solidFill>
          <a:ln w="12700">
            <a:solidFill>
              <a:srgbClr val="0F1729"/>
            </a:solidFill>
            <a:prstDash val="solid"/>
          </a:ln>
        </p:spPr>
      </p:sp>
      <p:sp>
        <p:nvSpPr>
          <p:cNvPr id="8" name="Text 5"/>
          <p:cNvSpPr txBox="1"/>
          <p:nvPr/>
        </p:nvSpPr>
        <p:spPr>
          <a:xfrm>
            <a:off x="777240" y="1755648"/>
            <a:ext cx="649224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LoadFromFile · the loop</a:t>
            </a:r>
            <a:endParaRPr lang="en-US" sz="1100" dirty="0"/>
          </a:p>
        </p:txBody>
      </p:sp>
      <p:sp>
        <p:nvSpPr>
          <p:cNvPr id="9" name="Text 6"/>
          <p:cNvSpPr txBox="1"/>
          <p:nvPr/>
        </p:nvSpPr>
        <p:spPr>
          <a:xfrm>
            <a:off x="777240" y="2057400"/>
            <a:ext cx="6492240" cy="3913632"/>
          </a:xfrm>
          <a:prstGeom prst="rect">
            <a:avLst/>
          </a:prstGeom>
          <a:noFill/>
          <a:ln/>
        </p:spPr>
        <p:txBody>
          <a:bodyPr wrap="square" lIns="0" tIns="0" rIns="0" bIns="0" rtlCol="0" anchor="t"/>
          <a:lstStyle/>
          <a:p>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for</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i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i &lt; lines.Length &amp;&amp; count &lt; names.Length; i++)</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string</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fields = lines[i].Split(</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if</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(fields.Length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3</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&amp;&amp;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.TryParse(fields[</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out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mid)</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&amp;&amp;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.TryParse(fields[</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2</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out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fin))</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names[count] = fields[</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midterms[count] = mid;</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finals[count] = fin;</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count++;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else</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$"Line {i + 1} skipped: \"{lines[i]}\""</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p:txBody>
      </p:sp>
      <p:sp>
        <p:nvSpPr>
          <p:cNvPr id="10" name="Shape 7"/>
          <p:cNvSpPr/>
          <p:nvPr/>
        </p:nvSpPr>
        <p:spPr>
          <a:xfrm>
            <a:off x="7726680" y="1645920"/>
            <a:ext cx="3931920" cy="1371600"/>
          </a:xfrm>
          <a:prstGeom prst="roundRect">
            <a:avLst>
              <a:gd name="adj" fmla="val 8000"/>
            </a:avLst>
          </a:prstGeom>
          <a:solidFill>
            <a:srgbClr val="EEF1F6"/>
          </a:solidFill>
          <a:ln w="12700">
            <a:solidFill>
              <a:srgbClr val="EEF1F6"/>
            </a:solidFill>
            <a:prstDash val="solid"/>
          </a:ln>
        </p:spPr>
      </p:sp>
      <p:sp>
        <p:nvSpPr>
          <p:cNvPr id="11" name="Shape 8"/>
          <p:cNvSpPr/>
          <p:nvPr/>
        </p:nvSpPr>
        <p:spPr>
          <a:xfrm>
            <a:off x="7909560" y="2057400"/>
            <a:ext cx="548640" cy="548640"/>
          </a:xfrm>
          <a:prstGeom prst="ellipse">
            <a:avLst/>
          </a:prstGeom>
          <a:solidFill>
            <a:srgbClr val="EEF1F6"/>
          </a:solidFill>
          <a:ln w="12700">
            <a:solidFill>
              <a:srgbClr val="EEF1F6"/>
            </a:solidFill>
            <a:prstDash val="solid"/>
          </a:ln>
        </p:spPr>
      </p:sp>
      <p:pic>
        <p:nvPicPr>
          <p:cNvPr id="12" name="Image 0" descr="preencoded.png">    </p:cNvPr>
          <p:cNvPicPr>
            <a:picLocks noChangeAspect="1"/>
          </p:cNvPicPr>
          <p:nvPr/>
        </p:nvPicPr>
        <p:blipFill>
          <a:blip r:embed="rId1"/>
          <a:stretch>
            <a:fillRect/>
          </a:stretch>
        </p:blipFill>
        <p:spPr>
          <a:xfrm>
            <a:off x="8052206" y="2200046"/>
            <a:ext cx="263347" cy="263347"/>
          </a:xfrm>
          <a:prstGeom prst="rect">
            <a:avLst/>
          </a:prstGeom>
        </p:spPr>
      </p:pic>
      <p:sp>
        <p:nvSpPr>
          <p:cNvPr id="13" name="Text 9"/>
          <p:cNvSpPr txBox="1"/>
          <p:nvPr/>
        </p:nvSpPr>
        <p:spPr>
          <a:xfrm>
            <a:off x="8641080" y="1700784"/>
            <a:ext cx="2880360" cy="1261872"/>
          </a:xfrm>
          <a:prstGeom prst="rect">
            <a:avLst/>
          </a:prstGeom>
          <a:noFill/>
          <a:ln/>
        </p:spPr>
        <p:txBody>
          <a:bodyPr wrap="square" lIns="0" tIns="0" rIns="0" bIns="0" rtlCol="0" anchor="ctr"/>
          <a:lstStyle/>
          <a:p>
            <a:pPr indent="0" marL="0">
              <a:spcAft>
                <a:spcPts val="200"/>
              </a:spcAft>
              <a:buNone/>
            </a:pPr>
            <a:r>
              <a:rPr lang="en-US" sz="1500" b="1" dirty="0">
                <a:solidFill>
                  <a:srgbClr val="14213D"/>
                </a:solidFill>
                <a:latin typeface="Cambria" pitchFamily="34" charset="0"/>
                <a:ea typeface="Cambria" pitchFamily="34" charset="-122"/>
                <a:cs typeface="Cambria" pitchFamily="34" charset="-120"/>
              </a:rPr>
              <a:t>3 fields?</a:t>
            </a:r>
            <a:endParaRPr lang="en-US" sz="1500" dirty="0"/>
          </a:p>
          <a:p>
            <a:pPr indent="0" marL="0">
              <a:spcAft>
                <a:spcPts val="200"/>
              </a:spcAft>
              <a:buNone/>
            </a:pPr>
            <a:r>
              <a:rPr lang="en-US" sz="1400" dirty="0">
                <a:solidFill>
                  <a:srgbClr val="333B4F"/>
                </a:solidFill>
                <a:latin typeface="Calibri" pitchFamily="34" charset="0"/>
                <a:ea typeface="Calibri" pitchFamily="34" charset="-122"/>
                <a:cs typeface="Calibri" pitchFamily="34" charset="-120"/>
              </a:rPr>
              <a:t>fields.Length == 3, otherwise skip</a:t>
            </a:r>
            <a:endParaRPr lang="en-US" sz="1500" dirty="0"/>
          </a:p>
        </p:txBody>
      </p:sp>
      <p:sp>
        <p:nvSpPr>
          <p:cNvPr id="14" name="Shape 10"/>
          <p:cNvSpPr/>
          <p:nvPr/>
        </p:nvSpPr>
        <p:spPr>
          <a:xfrm>
            <a:off x="7726680" y="3154680"/>
            <a:ext cx="3931920" cy="1371600"/>
          </a:xfrm>
          <a:prstGeom prst="roundRect">
            <a:avLst>
              <a:gd name="adj" fmla="val 8000"/>
            </a:avLst>
          </a:prstGeom>
          <a:solidFill>
            <a:srgbClr val="EEF1F6"/>
          </a:solidFill>
          <a:ln w="12700">
            <a:solidFill>
              <a:srgbClr val="EEF1F6"/>
            </a:solidFill>
            <a:prstDash val="solid"/>
          </a:ln>
        </p:spPr>
      </p:sp>
      <p:sp>
        <p:nvSpPr>
          <p:cNvPr id="15" name="Shape 11"/>
          <p:cNvSpPr/>
          <p:nvPr/>
        </p:nvSpPr>
        <p:spPr>
          <a:xfrm>
            <a:off x="7909560" y="3566160"/>
            <a:ext cx="548640" cy="548640"/>
          </a:xfrm>
          <a:prstGeom prst="ellipse">
            <a:avLst/>
          </a:prstGeom>
          <a:solidFill>
            <a:srgbClr val="EEF1F6"/>
          </a:solidFill>
          <a:ln w="12700">
            <a:solidFill>
              <a:srgbClr val="EEF1F6"/>
            </a:solidFill>
            <a:prstDash val="solid"/>
          </a:ln>
        </p:spPr>
      </p:sp>
      <p:pic>
        <p:nvPicPr>
          <p:cNvPr id="16" name="Image 1" descr="preencoded.png">    </p:cNvPr>
          <p:cNvPicPr>
            <a:picLocks noChangeAspect="1"/>
          </p:cNvPicPr>
          <p:nvPr/>
        </p:nvPicPr>
        <p:blipFill>
          <a:blip r:embed="rId2"/>
          <a:stretch>
            <a:fillRect/>
          </a:stretch>
        </p:blipFill>
        <p:spPr>
          <a:xfrm>
            <a:off x="8052206" y="3708806"/>
            <a:ext cx="263347" cy="263347"/>
          </a:xfrm>
          <a:prstGeom prst="rect">
            <a:avLst/>
          </a:prstGeom>
        </p:spPr>
      </p:pic>
      <p:sp>
        <p:nvSpPr>
          <p:cNvPr id="17" name="Text 12"/>
          <p:cNvSpPr txBox="1"/>
          <p:nvPr/>
        </p:nvSpPr>
        <p:spPr>
          <a:xfrm>
            <a:off x="8641080" y="3209544"/>
            <a:ext cx="2880360" cy="1261872"/>
          </a:xfrm>
          <a:prstGeom prst="rect">
            <a:avLst/>
          </a:prstGeom>
          <a:noFill/>
          <a:ln/>
        </p:spPr>
        <p:txBody>
          <a:bodyPr wrap="square" lIns="0" tIns="0" rIns="0" bIns="0" rtlCol="0" anchor="ctr"/>
          <a:lstStyle/>
          <a:p>
            <a:pPr indent="0" marL="0">
              <a:spcAft>
                <a:spcPts val="200"/>
              </a:spcAft>
              <a:buNone/>
            </a:pPr>
            <a:r>
              <a:rPr lang="en-US" sz="1500" b="1" dirty="0">
                <a:solidFill>
                  <a:srgbClr val="14213D"/>
                </a:solidFill>
                <a:latin typeface="Cambria" pitchFamily="34" charset="0"/>
                <a:ea typeface="Cambria" pitchFamily="34" charset="-122"/>
                <a:cs typeface="Cambria" pitchFamily="34" charset="-120"/>
              </a:rPr>
              <a:t>numbers?</a:t>
            </a:r>
            <a:endParaRPr lang="en-US" sz="1500" dirty="0"/>
          </a:p>
          <a:p>
            <a:pPr indent="0" marL="0">
              <a:spcAft>
                <a:spcPts val="200"/>
              </a:spcAft>
              <a:buNone/>
            </a:pPr>
            <a:r>
              <a:rPr lang="en-US" sz="1400" dirty="0">
                <a:solidFill>
                  <a:srgbClr val="333B4F"/>
                </a:solidFill>
                <a:latin typeface="Calibri" pitchFamily="34" charset="0"/>
                <a:ea typeface="Calibri" pitchFamily="34" charset="-122"/>
                <a:cs typeface="Calibri" pitchFamily="34" charset="-120"/>
              </a:rPr>
              <a:t>TryParse for both grades</a:t>
            </a:r>
            <a:endParaRPr lang="en-US" sz="1500" dirty="0"/>
          </a:p>
        </p:txBody>
      </p:sp>
      <p:sp>
        <p:nvSpPr>
          <p:cNvPr id="18" name="Shape 13"/>
          <p:cNvSpPr/>
          <p:nvPr/>
        </p:nvSpPr>
        <p:spPr>
          <a:xfrm>
            <a:off x="7726680" y="4663440"/>
            <a:ext cx="3931920" cy="1371600"/>
          </a:xfrm>
          <a:prstGeom prst="roundRect">
            <a:avLst>
              <a:gd name="adj" fmla="val 8000"/>
            </a:avLst>
          </a:prstGeom>
          <a:solidFill>
            <a:srgbClr val="EEF1F6"/>
          </a:solidFill>
          <a:ln w="12700">
            <a:solidFill>
              <a:srgbClr val="EEF1F6"/>
            </a:solidFill>
            <a:prstDash val="solid"/>
          </a:ln>
        </p:spPr>
      </p:sp>
      <p:sp>
        <p:nvSpPr>
          <p:cNvPr id="19" name="Shape 14"/>
          <p:cNvSpPr/>
          <p:nvPr/>
        </p:nvSpPr>
        <p:spPr>
          <a:xfrm>
            <a:off x="7909560" y="5074920"/>
            <a:ext cx="548640" cy="548640"/>
          </a:xfrm>
          <a:prstGeom prst="ellipse">
            <a:avLst/>
          </a:prstGeom>
          <a:solidFill>
            <a:srgbClr val="EEF1F6"/>
          </a:solidFill>
          <a:ln w="12700">
            <a:solidFill>
              <a:srgbClr val="EEF1F6"/>
            </a:solidFill>
            <a:prstDash val="solid"/>
          </a:ln>
        </p:spPr>
      </p:sp>
      <p:pic>
        <p:nvPicPr>
          <p:cNvPr id="20" name="Image 2" descr="preencoded.png">    </p:cNvPr>
          <p:cNvPicPr>
            <a:picLocks noChangeAspect="1"/>
          </p:cNvPicPr>
          <p:nvPr/>
        </p:nvPicPr>
        <p:blipFill>
          <a:blip r:embed="rId3"/>
          <a:stretch>
            <a:fillRect/>
          </a:stretch>
        </p:blipFill>
        <p:spPr>
          <a:xfrm>
            <a:off x="8052206" y="5217566"/>
            <a:ext cx="263347" cy="263347"/>
          </a:xfrm>
          <a:prstGeom prst="rect">
            <a:avLst/>
          </a:prstGeom>
        </p:spPr>
      </p:pic>
      <p:sp>
        <p:nvSpPr>
          <p:cNvPr id="21" name="Text 15"/>
          <p:cNvSpPr txBox="1"/>
          <p:nvPr/>
        </p:nvSpPr>
        <p:spPr>
          <a:xfrm>
            <a:off x="8641080" y="4718304"/>
            <a:ext cx="2880360" cy="1261872"/>
          </a:xfrm>
          <a:prstGeom prst="rect">
            <a:avLst/>
          </a:prstGeom>
          <a:noFill/>
          <a:ln/>
        </p:spPr>
        <p:txBody>
          <a:bodyPr wrap="square" lIns="0" tIns="0" rIns="0" bIns="0" rtlCol="0" anchor="ctr"/>
          <a:lstStyle/>
          <a:p>
            <a:pPr indent="0" marL="0">
              <a:spcAft>
                <a:spcPts val="200"/>
              </a:spcAft>
              <a:buNone/>
            </a:pPr>
            <a:r>
              <a:rPr lang="en-US" sz="1500" b="1" dirty="0">
                <a:solidFill>
                  <a:srgbClr val="14213D"/>
                </a:solidFill>
                <a:latin typeface="Cambria" pitchFamily="34" charset="0"/>
                <a:ea typeface="Cambria" pitchFamily="34" charset="-122"/>
                <a:cs typeface="Cambria" pitchFamily="34" charset="-120"/>
              </a:rPr>
              <a:t>room left?</a:t>
            </a:r>
            <a:endParaRPr lang="en-US" sz="1500" dirty="0"/>
          </a:p>
          <a:p>
            <a:pPr indent="0" marL="0">
              <a:spcAft>
                <a:spcPts val="200"/>
              </a:spcAft>
              <a:buNone/>
            </a:pPr>
            <a:r>
              <a:rPr lang="en-US" sz="1400" dirty="0">
                <a:solidFill>
                  <a:srgbClr val="333B4F"/>
                </a:solidFill>
                <a:latin typeface="Calibri" pitchFamily="34" charset="0"/>
                <a:ea typeface="Calibri" pitchFamily="34" charset="-122"/>
                <a:cs typeface="Calibri" pitchFamily="34" charset="-120"/>
              </a:rPr>
              <a:t>count &lt; names.Length</a:t>
            </a:r>
            <a:endParaRPr lang="en-US" sz="15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PREDICT THE OUTPUT</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Quiz: what do these programs print?</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14</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44</a:t>
            </a:r>
            <a:endParaRPr lang="en-US" sz="1000" dirty="0"/>
          </a:p>
        </p:txBody>
      </p:sp>
      <p:sp>
        <p:nvSpPr>
          <p:cNvPr id="7" name="Shape 4"/>
          <p:cNvSpPr/>
          <p:nvPr/>
        </p:nvSpPr>
        <p:spPr>
          <a:xfrm>
            <a:off x="548640" y="1645920"/>
            <a:ext cx="5486400" cy="2103120"/>
          </a:xfrm>
          <a:prstGeom prst="roundRect">
            <a:avLst>
              <a:gd name="adj" fmla="val 4348"/>
            </a:avLst>
          </a:prstGeom>
          <a:solidFill>
            <a:srgbClr val="0F1729"/>
          </a:solidFill>
          <a:ln w="12700">
            <a:solidFill>
              <a:srgbClr val="0F1729"/>
            </a:solidFill>
            <a:prstDash val="solid"/>
          </a:ln>
        </p:spPr>
      </p:sp>
      <p:sp>
        <p:nvSpPr>
          <p:cNvPr id="8" name="Text 5"/>
          <p:cNvSpPr txBox="1"/>
          <p:nvPr/>
        </p:nvSpPr>
        <p:spPr>
          <a:xfrm>
            <a:off x="777240" y="1755648"/>
            <a:ext cx="502920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Q1 · write or append?</a:t>
            </a:r>
            <a:endParaRPr lang="en-US" sz="1100" dirty="0"/>
          </a:p>
        </p:txBody>
      </p:sp>
      <p:sp>
        <p:nvSpPr>
          <p:cNvPr id="9" name="Text 6"/>
          <p:cNvSpPr txBox="1"/>
          <p:nvPr/>
        </p:nvSpPr>
        <p:spPr>
          <a:xfrm>
            <a:off x="777240" y="2057400"/>
            <a:ext cx="5029200" cy="1581912"/>
          </a:xfrm>
          <a:prstGeom prst="rect">
            <a:avLst/>
          </a:prstGeom>
          <a:noFill/>
          <a:ln/>
        </p:spPr>
        <p:txBody>
          <a:bodyPr wrap="square" lIns="0" tIns="0" rIns="0" bIns="0" rtlCol="0" anchor="t"/>
          <a:lstStyle/>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File.WriteAllText(</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"a.txt"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"one\n"</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File.AppendAllText(</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"a.txt"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"two\n"</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File.AppendAllText(</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"a.txt"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"three\n"</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File.WriteAllText(</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"a.txt"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"four\n"</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File.AppendAllText(</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"a.txt"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"five\n"</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string</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lines = File.ReadAllLines(</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"a.txt"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.WriteLine(lines.Length);</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.WriteLine(lines[</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p:txBody>
      </p:sp>
      <p:sp>
        <p:nvSpPr>
          <p:cNvPr id="10" name="Shape 7"/>
          <p:cNvSpPr/>
          <p:nvPr/>
        </p:nvSpPr>
        <p:spPr>
          <a:xfrm>
            <a:off x="548640" y="3840480"/>
            <a:ext cx="5486400" cy="2240280"/>
          </a:xfrm>
          <a:prstGeom prst="roundRect">
            <a:avLst>
              <a:gd name="adj" fmla="val 4082"/>
            </a:avLst>
          </a:prstGeom>
          <a:solidFill>
            <a:srgbClr val="0F1729"/>
          </a:solidFill>
          <a:ln w="12700">
            <a:solidFill>
              <a:srgbClr val="0F1729"/>
            </a:solidFill>
            <a:prstDash val="solid"/>
          </a:ln>
        </p:spPr>
      </p:sp>
      <p:sp>
        <p:nvSpPr>
          <p:cNvPr id="11" name="Text 8"/>
          <p:cNvSpPr txBox="1"/>
          <p:nvPr/>
        </p:nvSpPr>
        <p:spPr>
          <a:xfrm>
            <a:off x="777240" y="3950208"/>
            <a:ext cx="502920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Q2 · CSV</a:t>
            </a:r>
            <a:endParaRPr lang="en-US" sz="1100" dirty="0"/>
          </a:p>
        </p:txBody>
      </p:sp>
      <p:sp>
        <p:nvSpPr>
          <p:cNvPr id="12" name="Text 9"/>
          <p:cNvSpPr txBox="1"/>
          <p:nvPr/>
        </p:nvSpPr>
        <p:spPr>
          <a:xfrm>
            <a:off x="777240" y="4251960"/>
            <a:ext cx="5029200" cy="1719072"/>
          </a:xfrm>
          <a:prstGeom prst="rect">
            <a:avLst/>
          </a:prstGeom>
          <a:noFill/>
          <a:ln/>
        </p:spPr>
        <p:txBody>
          <a:bodyPr wrap="square" lIns="0" tIns="0" rIns="0" bIns="0" rtlCol="0" anchor="t"/>
          <a:lstStyle/>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string</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rows = { </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"3,4"</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"10,2"</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"7,7"</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File.WriteAllLines(</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"b.csv"</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rows);</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total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foreach</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string</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row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in</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File.ReadAllLines(</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"b.csv"</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string</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f = row.Split(</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total +=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.Parse(f[</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.Parse(f[</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.WriteLine(total);</a:t>
            </a:r>
            <a:endParaRPr lang="en-US" sz="1200" dirty="0"/>
          </a:p>
        </p:txBody>
      </p:sp>
      <p:sp>
        <p:nvSpPr>
          <p:cNvPr id="13" name="Shape 10"/>
          <p:cNvSpPr/>
          <p:nvPr/>
        </p:nvSpPr>
        <p:spPr>
          <a:xfrm>
            <a:off x="6263640" y="1645920"/>
            <a:ext cx="5394960" cy="4434840"/>
          </a:xfrm>
          <a:prstGeom prst="roundRect">
            <a:avLst>
              <a:gd name="adj" fmla="val 2062"/>
            </a:avLst>
          </a:prstGeom>
          <a:solidFill>
            <a:srgbClr val="0F1729"/>
          </a:solidFill>
          <a:ln w="12700">
            <a:solidFill>
              <a:srgbClr val="0F1729"/>
            </a:solidFill>
            <a:prstDash val="solid"/>
          </a:ln>
        </p:spPr>
      </p:sp>
      <p:sp>
        <p:nvSpPr>
          <p:cNvPr id="14" name="Text 11"/>
          <p:cNvSpPr txBox="1"/>
          <p:nvPr/>
        </p:nvSpPr>
        <p:spPr>
          <a:xfrm>
            <a:off x="6492240" y="1755648"/>
            <a:ext cx="493776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Q3 · bad data</a:t>
            </a:r>
            <a:endParaRPr lang="en-US" sz="1100" dirty="0"/>
          </a:p>
        </p:txBody>
      </p:sp>
      <p:sp>
        <p:nvSpPr>
          <p:cNvPr id="15" name="Text 12"/>
          <p:cNvSpPr txBox="1"/>
          <p:nvPr/>
        </p:nvSpPr>
        <p:spPr>
          <a:xfrm>
            <a:off x="6492240" y="2057400"/>
            <a:ext cx="4937760" cy="3913632"/>
          </a:xfrm>
          <a:prstGeom prst="rect">
            <a:avLst/>
          </a:prstGeom>
          <a:noFill/>
          <a:ln/>
        </p:spPr>
        <p:txBody>
          <a:bodyPr wrap="square" lIns="0" tIns="0" rIns="0" bIns="0" rtlCol="0" anchor="t"/>
          <a:lstStyle/>
          <a:p>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string</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data = { </a:t>
            </a:r>
            <a:pPr indent="0" marL="0">
              <a:spcAft>
                <a:spcPts val="100"/>
              </a:spcAft>
              <a:buNone/>
            </a:pPr>
            <a:r>
              <a:rPr lang="en-US" sz="1300" dirty="0">
                <a:solidFill>
                  <a:srgbClr val="CE9178"/>
                </a:solidFill>
                <a:latin typeface="Courier New" pitchFamily="34" charset="0"/>
                <a:ea typeface="Courier New" pitchFamily="34" charset="-122"/>
                <a:cs typeface="Courier New" pitchFamily="34" charset="-120"/>
              </a:rPr>
              <a:t>"10"</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CE9178"/>
                </a:solidFill>
                <a:latin typeface="Courier New" pitchFamily="34" charset="0"/>
                <a:ea typeface="Courier New" pitchFamily="34" charset="-122"/>
                <a:cs typeface="Courier New" pitchFamily="34" charset="-120"/>
              </a:rPr>
              <a:t>"x"</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CE9178"/>
                </a:solidFill>
                <a:latin typeface="Courier New" pitchFamily="34" charset="0"/>
                <a:ea typeface="Courier New" pitchFamily="34" charset="-122"/>
                <a:cs typeface="Courier New" pitchFamily="34" charset="-120"/>
              </a:rPr>
              <a:t>"20"</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File.WriteAllLines(</a:t>
            </a:r>
            <a:pPr indent="0" marL="0">
              <a:spcAft>
                <a:spcPts val="100"/>
              </a:spcAft>
              <a:buNone/>
            </a:pPr>
            <a:r>
              <a:rPr lang="en-US" sz="1300" dirty="0">
                <a:solidFill>
                  <a:srgbClr val="CE9178"/>
                </a:solidFill>
                <a:latin typeface="Courier New" pitchFamily="34" charset="0"/>
                <a:ea typeface="Courier New" pitchFamily="34" charset="-122"/>
                <a:cs typeface="Courier New" pitchFamily="34" charset="-120"/>
              </a:rPr>
              <a:t>"c.txt"</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data);</a:t>
            </a:r>
            <a:endParaRPr lang="en-US" sz="1300" dirty="0"/>
          </a:p>
          <a:p>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sum =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7AB8FF"/>
                </a:solidFill>
                <a:latin typeface="Courier New" pitchFamily="34" charset="0"/>
                <a:ea typeface="Courier New" pitchFamily="34" charset="-122"/>
                <a:cs typeface="Courier New" pitchFamily="34" charset="-120"/>
              </a:rPr>
              <a:t>foreach</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string</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s </a:t>
            </a:r>
            <a:pPr indent="0" marL="0">
              <a:spcAft>
                <a:spcPts val="100"/>
              </a:spcAft>
              <a:buNone/>
            </a:pPr>
            <a:r>
              <a:rPr lang="en-US" sz="1300" dirty="0">
                <a:solidFill>
                  <a:srgbClr val="7AB8FF"/>
                </a:solidFill>
                <a:latin typeface="Courier New" pitchFamily="34" charset="0"/>
                <a:ea typeface="Courier New" pitchFamily="34" charset="-122"/>
                <a:cs typeface="Courier New" pitchFamily="34" charset="-120"/>
              </a:rPr>
              <a:t>in</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File.ReadAllLines(</a:t>
            </a:r>
            <a:pPr indent="0" marL="0">
              <a:spcAft>
                <a:spcPts val="100"/>
              </a:spcAft>
              <a:buNone/>
            </a:pPr>
            <a:r>
              <a:rPr lang="en-US" sz="1300" dirty="0">
                <a:solidFill>
                  <a:srgbClr val="CE9178"/>
                </a:solidFill>
                <a:latin typeface="Courier New" pitchFamily="34" charset="0"/>
                <a:ea typeface="Courier New" pitchFamily="34" charset="-122"/>
                <a:cs typeface="Courier New" pitchFamily="34" charset="-120"/>
              </a:rPr>
              <a:t>"c.txt"</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7AB8FF"/>
                </a:solidFill>
                <a:latin typeface="Courier New" pitchFamily="34" charset="0"/>
                <a:ea typeface="Courier New" pitchFamily="34" charset="-122"/>
                <a:cs typeface="Courier New" pitchFamily="34" charset="-120"/>
              </a:rPr>
              <a:t>try</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sum += </a:t>
            </a:r>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.Parse(s);</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.Write(</a:t>
            </a:r>
            <a:pPr indent="0" marL="0">
              <a:spcAft>
                <a:spcPts val="100"/>
              </a:spcAft>
              <a:buNone/>
            </a:pPr>
            <a:r>
              <a:rPr lang="en-US" sz="1300" dirty="0">
                <a:solidFill>
                  <a:srgbClr val="CE9178"/>
                </a:solidFill>
                <a:latin typeface="Courier New" pitchFamily="34" charset="0"/>
                <a:ea typeface="Courier New" pitchFamily="34" charset="-122"/>
                <a:cs typeface="Courier New" pitchFamily="34" charset="-120"/>
              </a:rPr>
              <a:t>"ok "</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7AB8FF"/>
                </a:solidFill>
                <a:latin typeface="Courier New" pitchFamily="34" charset="0"/>
                <a:ea typeface="Courier New" pitchFamily="34" charset="-122"/>
                <a:cs typeface="Courier New" pitchFamily="34" charset="-120"/>
              </a:rPr>
              <a:t>catch</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(FormatException)</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.Write(</a:t>
            </a:r>
            <a:pPr indent="0" marL="0">
              <a:spcAft>
                <a:spcPts val="100"/>
              </a:spcAft>
              <a:buNone/>
            </a:pPr>
            <a:r>
              <a:rPr lang="en-US" sz="1300" dirty="0">
                <a:solidFill>
                  <a:srgbClr val="CE9178"/>
                </a:solidFill>
                <a:latin typeface="Courier New" pitchFamily="34" charset="0"/>
                <a:ea typeface="Courier New" pitchFamily="34" charset="-122"/>
                <a:cs typeface="Courier New" pitchFamily="34" charset="-120"/>
              </a:rPr>
              <a:t>"bad "</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.WriteLine(sum);</a:t>
            </a:r>
            <a:endParaRPr lang="en-US" sz="13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PREDICT THE OUTPUT · ANSWERS</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Answers (checked by running the code)</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14</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45</a:t>
            </a:r>
            <a:endParaRPr lang="en-US" sz="1000" dirty="0"/>
          </a:p>
        </p:txBody>
      </p:sp>
      <p:sp>
        <p:nvSpPr>
          <p:cNvPr id="7" name="Shape 4"/>
          <p:cNvSpPr/>
          <p:nvPr/>
        </p:nvSpPr>
        <p:spPr>
          <a:xfrm>
            <a:off x="548640" y="1645920"/>
            <a:ext cx="3657600" cy="1280160"/>
          </a:xfrm>
          <a:prstGeom prst="roundRect">
            <a:avLst>
              <a:gd name="adj" fmla="val 7143"/>
            </a:avLst>
          </a:prstGeom>
          <a:solidFill>
            <a:srgbClr val="0B0F19"/>
          </a:solidFill>
          <a:ln w="12700">
            <a:solidFill>
              <a:srgbClr val="2A3654"/>
            </a:solidFill>
            <a:prstDash val="solid"/>
          </a:ln>
        </p:spPr>
      </p:sp>
      <p:sp>
        <p:nvSpPr>
          <p:cNvPr id="8" name="Shape 5"/>
          <p:cNvSpPr/>
          <p:nvPr/>
        </p:nvSpPr>
        <p:spPr>
          <a:xfrm>
            <a:off x="731520" y="1773936"/>
            <a:ext cx="118872" cy="118872"/>
          </a:xfrm>
          <a:prstGeom prst="ellipse">
            <a:avLst/>
          </a:prstGeom>
          <a:solidFill>
            <a:srgbClr val="FF5F57"/>
          </a:solidFill>
          <a:ln w="12700">
            <a:solidFill>
              <a:srgbClr val="FF5F57"/>
            </a:solidFill>
            <a:prstDash val="solid"/>
          </a:ln>
        </p:spPr>
      </p:sp>
      <p:sp>
        <p:nvSpPr>
          <p:cNvPr id="9" name="Shape 6"/>
          <p:cNvSpPr/>
          <p:nvPr/>
        </p:nvSpPr>
        <p:spPr>
          <a:xfrm>
            <a:off x="960120" y="1773936"/>
            <a:ext cx="118872" cy="118872"/>
          </a:xfrm>
          <a:prstGeom prst="ellipse">
            <a:avLst/>
          </a:prstGeom>
          <a:solidFill>
            <a:srgbClr val="FEBC2E"/>
          </a:solidFill>
          <a:ln w="12700">
            <a:solidFill>
              <a:srgbClr val="FEBC2E"/>
            </a:solidFill>
            <a:prstDash val="solid"/>
          </a:ln>
        </p:spPr>
      </p:sp>
      <p:sp>
        <p:nvSpPr>
          <p:cNvPr id="10" name="Shape 7"/>
          <p:cNvSpPr/>
          <p:nvPr/>
        </p:nvSpPr>
        <p:spPr>
          <a:xfrm>
            <a:off x="1188720" y="1773936"/>
            <a:ext cx="118872" cy="118872"/>
          </a:xfrm>
          <a:prstGeom prst="ellipse">
            <a:avLst/>
          </a:prstGeom>
          <a:solidFill>
            <a:srgbClr val="28C840"/>
          </a:solidFill>
          <a:ln w="12700">
            <a:solidFill>
              <a:srgbClr val="28C840"/>
            </a:solidFill>
            <a:prstDash val="solid"/>
          </a:ln>
        </p:spPr>
      </p:sp>
      <p:sp>
        <p:nvSpPr>
          <p:cNvPr id="11" name="Text 8"/>
          <p:cNvSpPr txBox="1"/>
          <p:nvPr/>
        </p:nvSpPr>
        <p:spPr>
          <a:xfrm>
            <a:off x="1463040" y="1719072"/>
            <a:ext cx="256032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Q1</a:t>
            </a:r>
            <a:endParaRPr lang="en-US" sz="1000" dirty="0"/>
          </a:p>
        </p:txBody>
      </p:sp>
      <p:sp>
        <p:nvSpPr>
          <p:cNvPr id="12" name="Text 9"/>
          <p:cNvSpPr txBox="1"/>
          <p:nvPr/>
        </p:nvSpPr>
        <p:spPr>
          <a:xfrm>
            <a:off x="777240" y="2029968"/>
            <a:ext cx="3200400" cy="777240"/>
          </a:xfrm>
          <a:prstGeom prst="rect">
            <a:avLst/>
          </a:prstGeom>
          <a:noFill/>
          <a:ln/>
        </p:spPr>
        <p:txBody>
          <a:bodyPr wrap="square" lIns="0" tIns="0" rIns="0" bIns="0" rtlCol="0" anchor="t"/>
          <a:lstStyle/>
          <a:p>
            <a:pPr indent="0" marL="0">
              <a:spcAft>
                <a:spcPts val="100"/>
              </a:spcAft>
              <a:buNone/>
            </a:pPr>
            <a:r>
              <a:rPr lang="en-US" sz="1500" dirty="0">
                <a:solidFill>
                  <a:srgbClr val="7EE2A8"/>
                </a:solidFill>
                <a:latin typeface="Courier New" pitchFamily="34" charset="0"/>
                <a:ea typeface="Courier New" pitchFamily="34" charset="-122"/>
                <a:cs typeface="Courier New" pitchFamily="34" charset="-120"/>
              </a:rPr>
              <a:t>2</a:t>
            </a:r>
            <a:endParaRPr lang="en-US" sz="1500" dirty="0"/>
          </a:p>
          <a:p>
            <a:pPr indent="0" marL="0">
              <a:spcAft>
                <a:spcPts val="100"/>
              </a:spcAft>
              <a:buNone/>
            </a:pPr>
            <a:r>
              <a:rPr lang="en-US" sz="1500" dirty="0">
                <a:solidFill>
                  <a:srgbClr val="7EE2A8"/>
                </a:solidFill>
                <a:latin typeface="Courier New" pitchFamily="34" charset="0"/>
                <a:ea typeface="Courier New" pitchFamily="34" charset="-122"/>
                <a:cs typeface="Courier New" pitchFamily="34" charset="-120"/>
              </a:rPr>
              <a:t>four</a:t>
            </a:r>
            <a:endParaRPr lang="en-US" sz="1500" dirty="0"/>
          </a:p>
        </p:txBody>
      </p:sp>
      <p:sp>
        <p:nvSpPr>
          <p:cNvPr id="13" name="Shape 10"/>
          <p:cNvSpPr/>
          <p:nvPr/>
        </p:nvSpPr>
        <p:spPr>
          <a:xfrm>
            <a:off x="4343400" y="1645920"/>
            <a:ext cx="3383280" cy="1280160"/>
          </a:xfrm>
          <a:prstGeom prst="roundRect">
            <a:avLst>
              <a:gd name="adj" fmla="val 7143"/>
            </a:avLst>
          </a:prstGeom>
          <a:solidFill>
            <a:srgbClr val="0B0F19"/>
          </a:solidFill>
          <a:ln w="12700">
            <a:solidFill>
              <a:srgbClr val="2A3654"/>
            </a:solidFill>
            <a:prstDash val="solid"/>
          </a:ln>
        </p:spPr>
      </p:sp>
      <p:sp>
        <p:nvSpPr>
          <p:cNvPr id="14" name="Shape 11"/>
          <p:cNvSpPr/>
          <p:nvPr/>
        </p:nvSpPr>
        <p:spPr>
          <a:xfrm>
            <a:off x="4526280" y="1773936"/>
            <a:ext cx="118872" cy="118872"/>
          </a:xfrm>
          <a:prstGeom prst="ellipse">
            <a:avLst/>
          </a:prstGeom>
          <a:solidFill>
            <a:srgbClr val="FF5F57"/>
          </a:solidFill>
          <a:ln w="12700">
            <a:solidFill>
              <a:srgbClr val="FF5F57"/>
            </a:solidFill>
            <a:prstDash val="solid"/>
          </a:ln>
        </p:spPr>
      </p:sp>
      <p:sp>
        <p:nvSpPr>
          <p:cNvPr id="15" name="Shape 12"/>
          <p:cNvSpPr/>
          <p:nvPr/>
        </p:nvSpPr>
        <p:spPr>
          <a:xfrm>
            <a:off x="4754880" y="1773936"/>
            <a:ext cx="118872" cy="118872"/>
          </a:xfrm>
          <a:prstGeom prst="ellipse">
            <a:avLst/>
          </a:prstGeom>
          <a:solidFill>
            <a:srgbClr val="FEBC2E"/>
          </a:solidFill>
          <a:ln w="12700">
            <a:solidFill>
              <a:srgbClr val="FEBC2E"/>
            </a:solidFill>
            <a:prstDash val="solid"/>
          </a:ln>
        </p:spPr>
      </p:sp>
      <p:sp>
        <p:nvSpPr>
          <p:cNvPr id="16" name="Shape 13"/>
          <p:cNvSpPr/>
          <p:nvPr/>
        </p:nvSpPr>
        <p:spPr>
          <a:xfrm>
            <a:off x="4983480" y="1773936"/>
            <a:ext cx="118872" cy="118872"/>
          </a:xfrm>
          <a:prstGeom prst="ellipse">
            <a:avLst/>
          </a:prstGeom>
          <a:solidFill>
            <a:srgbClr val="28C840"/>
          </a:solidFill>
          <a:ln w="12700">
            <a:solidFill>
              <a:srgbClr val="28C840"/>
            </a:solidFill>
            <a:prstDash val="solid"/>
          </a:ln>
        </p:spPr>
      </p:sp>
      <p:sp>
        <p:nvSpPr>
          <p:cNvPr id="17" name="Text 14"/>
          <p:cNvSpPr txBox="1"/>
          <p:nvPr/>
        </p:nvSpPr>
        <p:spPr>
          <a:xfrm>
            <a:off x="5257800" y="1719072"/>
            <a:ext cx="228600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Q2</a:t>
            </a:r>
            <a:endParaRPr lang="en-US" sz="1000" dirty="0"/>
          </a:p>
        </p:txBody>
      </p:sp>
      <p:sp>
        <p:nvSpPr>
          <p:cNvPr id="18" name="Text 15"/>
          <p:cNvSpPr txBox="1"/>
          <p:nvPr/>
        </p:nvSpPr>
        <p:spPr>
          <a:xfrm>
            <a:off x="4572000" y="2029968"/>
            <a:ext cx="2926080" cy="777240"/>
          </a:xfrm>
          <a:prstGeom prst="rect">
            <a:avLst/>
          </a:prstGeom>
          <a:noFill/>
          <a:ln/>
        </p:spPr>
        <p:txBody>
          <a:bodyPr wrap="square" lIns="0" tIns="0" rIns="0" bIns="0" rtlCol="0" anchor="t"/>
          <a:lstStyle/>
          <a:p>
            <a:pPr indent="0" marL="0">
              <a:spcAft>
                <a:spcPts val="100"/>
              </a:spcAft>
              <a:buNone/>
            </a:pPr>
            <a:r>
              <a:rPr lang="en-US" sz="1500" dirty="0">
                <a:solidFill>
                  <a:srgbClr val="7EE2A8"/>
                </a:solidFill>
                <a:latin typeface="Courier New" pitchFamily="34" charset="0"/>
                <a:ea typeface="Courier New" pitchFamily="34" charset="-122"/>
                <a:cs typeface="Courier New" pitchFamily="34" charset="-120"/>
              </a:rPr>
              <a:t>81</a:t>
            </a:r>
            <a:endParaRPr lang="en-US" sz="1500" dirty="0"/>
          </a:p>
        </p:txBody>
      </p:sp>
      <p:sp>
        <p:nvSpPr>
          <p:cNvPr id="19" name="Shape 16"/>
          <p:cNvSpPr/>
          <p:nvPr/>
        </p:nvSpPr>
        <p:spPr>
          <a:xfrm>
            <a:off x="7863840" y="1645920"/>
            <a:ext cx="3794760" cy="1280160"/>
          </a:xfrm>
          <a:prstGeom prst="roundRect">
            <a:avLst>
              <a:gd name="adj" fmla="val 7143"/>
            </a:avLst>
          </a:prstGeom>
          <a:solidFill>
            <a:srgbClr val="0B0F19"/>
          </a:solidFill>
          <a:ln w="12700">
            <a:solidFill>
              <a:srgbClr val="2A3654"/>
            </a:solidFill>
            <a:prstDash val="solid"/>
          </a:ln>
        </p:spPr>
      </p:sp>
      <p:sp>
        <p:nvSpPr>
          <p:cNvPr id="20" name="Shape 17"/>
          <p:cNvSpPr/>
          <p:nvPr/>
        </p:nvSpPr>
        <p:spPr>
          <a:xfrm>
            <a:off x="8046720" y="1773936"/>
            <a:ext cx="118872" cy="118872"/>
          </a:xfrm>
          <a:prstGeom prst="ellipse">
            <a:avLst/>
          </a:prstGeom>
          <a:solidFill>
            <a:srgbClr val="FF5F57"/>
          </a:solidFill>
          <a:ln w="12700">
            <a:solidFill>
              <a:srgbClr val="FF5F57"/>
            </a:solidFill>
            <a:prstDash val="solid"/>
          </a:ln>
        </p:spPr>
      </p:sp>
      <p:sp>
        <p:nvSpPr>
          <p:cNvPr id="21" name="Shape 18"/>
          <p:cNvSpPr/>
          <p:nvPr/>
        </p:nvSpPr>
        <p:spPr>
          <a:xfrm>
            <a:off x="8275320" y="1773936"/>
            <a:ext cx="118872" cy="118872"/>
          </a:xfrm>
          <a:prstGeom prst="ellipse">
            <a:avLst/>
          </a:prstGeom>
          <a:solidFill>
            <a:srgbClr val="FEBC2E"/>
          </a:solidFill>
          <a:ln w="12700">
            <a:solidFill>
              <a:srgbClr val="FEBC2E"/>
            </a:solidFill>
            <a:prstDash val="solid"/>
          </a:ln>
        </p:spPr>
      </p:sp>
      <p:sp>
        <p:nvSpPr>
          <p:cNvPr id="22" name="Shape 19"/>
          <p:cNvSpPr/>
          <p:nvPr/>
        </p:nvSpPr>
        <p:spPr>
          <a:xfrm>
            <a:off x="8503920" y="1773936"/>
            <a:ext cx="118872" cy="118872"/>
          </a:xfrm>
          <a:prstGeom prst="ellipse">
            <a:avLst/>
          </a:prstGeom>
          <a:solidFill>
            <a:srgbClr val="28C840"/>
          </a:solidFill>
          <a:ln w="12700">
            <a:solidFill>
              <a:srgbClr val="28C840"/>
            </a:solidFill>
            <a:prstDash val="solid"/>
          </a:ln>
        </p:spPr>
      </p:sp>
      <p:sp>
        <p:nvSpPr>
          <p:cNvPr id="23" name="Text 20"/>
          <p:cNvSpPr txBox="1"/>
          <p:nvPr/>
        </p:nvSpPr>
        <p:spPr>
          <a:xfrm>
            <a:off x="8778240" y="1719072"/>
            <a:ext cx="269748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Q3</a:t>
            </a:r>
            <a:endParaRPr lang="en-US" sz="1000" dirty="0"/>
          </a:p>
        </p:txBody>
      </p:sp>
      <p:sp>
        <p:nvSpPr>
          <p:cNvPr id="24" name="Text 21"/>
          <p:cNvSpPr txBox="1"/>
          <p:nvPr/>
        </p:nvSpPr>
        <p:spPr>
          <a:xfrm>
            <a:off x="8092440" y="2029968"/>
            <a:ext cx="3337560" cy="777240"/>
          </a:xfrm>
          <a:prstGeom prst="rect">
            <a:avLst/>
          </a:prstGeom>
          <a:noFill/>
          <a:ln/>
        </p:spPr>
        <p:txBody>
          <a:bodyPr wrap="square" lIns="0" tIns="0" rIns="0" bIns="0" rtlCol="0" anchor="t"/>
          <a:lstStyle/>
          <a:p>
            <a:pPr indent="0" marL="0">
              <a:spcAft>
                <a:spcPts val="100"/>
              </a:spcAft>
              <a:buNone/>
            </a:pPr>
            <a:r>
              <a:rPr lang="en-US" sz="1500" dirty="0">
                <a:solidFill>
                  <a:srgbClr val="7EE2A8"/>
                </a:solidFill>
                <a:latin typeface="Courier New" pitchFamily="34" charset="0"/>
                <a:ea typeface="Courier New" pitchFamily="34" charset="-122"/>
                <a:cs typeface="Courier New" pitchFamily="34" charset="-120"/>
              </a:rPr>
              <a:t>ok bad ok 30</a:t>
            </a:r>
            <a:endParaRPr lang="en-US" sz="1500" dirty="0"/>
          </a:p>
        </p:txBody>
      </p:sp>
      <p:sp>
        <p:nvSpPr>
          <p:cNvPr id="25" name="Text 22"/>
          <p:cNvSpPr txBox="1"/>
          <p:nvPr/>
        </p:nvSpPr>
        <p:spPr>
          <a:xfrm>
            <a:off x="548640" y="3108960"/>
            <a:ext cx="3657600" cy="1463040"/>
          </a:xfrm>
          <a:prstGeom prst="rect">
            <a:avLst/>
          </a:prstGeom>
          <a:noFill/>
          <a:ln/>
        </p:spPr>
        <p:txBody>
          <a:bodyPr wrap="square" lIns="0" tIns="0" rIns="0" bIns="0" rtlCol="0" anchor="t"/>
          <a:lstStyle/>
          <a:p>
            <a:pPr indent="0" marL="0">
              <a:buNone/>
            </a:pPr>
            <a:r>
              <a:rPr lang="en-US" sz="1400" b="1" dirty="0">
                <a:solidFill>
                  <a:srgbClr val="14213D"/>
                </a:solidFill>
                <a:latin typeface="Calibri" pitchFamily="34" charset="0"/>
                <a:ea typeface="Calibri" pitchFamily="34" charset="-122"/>
                <a:cs typeface="Calibri" pitchFamily="34" charset="-120"/>
              </a:rPr>
              <a:t>Q1: </a:t>
            </a:r>
            <a:pPr indent="0" marL="0">
              <a:buNone/>
            </a:pPr>
            <a:r>
              <a:rPr lang="en-US" sz="1400" dirty="0">
                <a:solidFill>
                  <a:srgbClr val="333B4F"/>
                </a:solidFill>
                <a:latin typeface="Calibri" pitchFamily="34" charset="0"/>
                <a:ea typeface="Calibri" pitchFamily="34" charset="-122"/>
                <a:cs typeface="Calibri" pitchFamily="34" charset="-120"/>
              </a:rPr>
              <a:t>WriteAllText starts again with "four"; "five" is appended → 2 lines.</a:t>
            </a:r>
            <a:endParaRPr lang="en-US" sz="1400" dirty="0"/>
          </a:p>
        </p:txBody>
      </p:sp>
      <p:sp>
        <p:nvSpPr>
          <p:cNvPr id="26" name="Text 23"/>
          <p:cNvSpPr txBox="1"/>
          <p:nvPr/>
        </p:nvSpPr>
        <p:spPr>
          <a:xfrm>
            <a:off x="4343400" y="3108960"/>
            <a:ext cx="3383280" cy="1463040"/>
          </a:xfrm>
          <a:prstGeom prst="rect">
            <a:avLst/>
          </a:prstGeom>
          <a:noFill/>
          <a:ln/>
        </p:spPr>
        <p:txBody>
          <a:bodyPr wrap="square" lIns="0" tIns="0" rIns="0" bIns="0" rtlCol="0" anchor="t"/>
          <a:lstStyle/>
          <a:p>
            <a:pPr indent="0" marL="0">
              <a:buNone/>
            </a:pPr>
            <a:r>
              <a:rPr lang="en-US" sz="1400" b="1" dirty="0">
                <a:solidFill>
                  <a:srgbClr val="14213D"/>
                </a:solidFill>
                <a:latin typeface="Calibri" pitchFamily="34" charset="0"/>
                <a:ea typeface="Calibri" pitchFamily="34" charset="-122"/>
                <a:cs typeface="Calibri" pitchFamily="34" charset="-120"/>
              </a:rPr>
              <a:t>Q2: </a:t>
            </a:r>
            <a:pPr indent="0" marL="0">
              <a:buNone/>
            </a:pPr>
            <a:r>
              <a:rPr lang="en-US" sz="1400" dirty="0">
                <a:solidFill>
                  <a:srgbClr val="333B4F"/>
                </a:solidFill>
                <a:latin typeface="Calibri" pitchFamily="34" charset="0"/>
                <a:ea typeface="Calibri" pitchFamily="34" charset="-122"/>
                <a:cs typeface="Calibri" pitchFamily="34" charset="-120"/>
              </a:rPr>
              <a:t>3·4 + 10·2 + 7·7 = 12 + 20 + 49 = 81</a:t>
            </a:r>
            <a:endParaRPr lang="en-US" sz="1400" dirty="0"/>
          </a:p>
        </p:txBody>
      </p:sp>
      <p:sp>
        <p:nvSpPr>
          <p:cNvPr id="27" name="Text 24"/>
          <p:cNvSpPr txBox="1"/>
          <p:nvPr/>
        </p:nvSpPr>
        <p:spPr>
          <a:xfrm>
            <a:off x="7863840" y="3108960"/>
            <a:ext cx="3794760" cy="1463040"/>
          </a:xfrm>
          <a:prstGeom prst="rect">
            <a:avLst/>
          </a:prstGeom>
          <a:noFill/>
          <a:ln/>
        </p:spPr>
        <p:txBody>
          <a:bodyPr wrap="square" lIns="0" tIns="0" rIns="0" bIns="0" rtlCol="0" anchor="t"/>
          <a:lstStyle/>
          <a:p>
            <a:pPr indent="0" marL="0">
              <a:buNone/>
            </a:pPr>
            <a:r>
              <a:rPr lang="en-US" sz="1400" b="1" dirty="0">
                <a:solidFill>
                  <a:srgbClr val="14213D"/>
                </a:solidFill>
                <a:latin typeface="Calibri" pitchFamily="34" charset="0"/>
                <a:ea typeface="Calibri" pitchFamily="34" charset="-122"/>
                <a:cs typeface="Calibri" pitchFamily="34" charset="-120"/>
              </a:rPr>
              <a:t>Q3: </a:t>
            </a:r>
            <a:pPr indent="0" marL="0">
              <a:buNone/>
            </a:pPr>
            <a:r>
              <a:rPr lang="en-US" sz="1400" dirty="0">
                <a:solidFill>
                  <a:srgbClr val="333B4F"/>
                </a:solidFill>
                <a:latin typeface="Calibri" pitchFamily="34" charset="0"/>
                <a:ea typeface="Calibri" pitchFamily="34" charset="-122"/>
                <a:cs typeface="Calibri" pitchFamily="34" charset="-120"/>
              </a:rPr>
              <a:t>"x" jumps to catch: "ok " is skipped for that line; 10 + 20 = 30.</a:t>
            </a:r>
            <a:endParaRPr lang="en-US" sz="1400" dirty="0"/>
          </a:p>
        </p:txBody>
      </p:sp>
      <p:sp>
        <p:nvSpPr>
          <p:cNvPr id="28" name="Shape 25"/>
          <p:cNvSpPr/>
          <p:nvPr/>
        </p:nvSpPr>
        <p:spPr>
          <a:xfrm>
            <a:off x="548640" y="4389120"/>
            <a:ext cx="11109960" cy="1234440"/>
          </a:xfrm>
          <a:prstGeom prst="roundRect">
            <a:avLst>
              <a:gd name="adj" fmla="val 8889"/>
            </a:avLst>
          </a:prstGeom>
          <a:solidFill>
            <a:srgbClr val="FFF6E3"/>
          </a:solidFill>
          <a:ln w="12700">
            <a:solidFill>
              <a:srgbClr val="FFF6E3"/>
            </a:solidFill>
            <a:prstDash val="solid"/>
          </a:ln>
        </p:spPr>
      </p:sp>
      <p:pic>
        <p:nvPicPr>
          <p:cNvPr id="29" name="Image 0" descr="preencoded.png">    </p:cNvPr>
          <p:cNvPicPr>
            <a:picLocks noChangeAspect="1"/>
          </p:cNvPicPr>
          <p:nvPr/>
        </p:nvPicPr>
        <p:blipFill>
          <a:blip r:embed="rId1"/>
          <a:stretch>
            <a:fillRect/>
          </a:stretch>
        </p:blipFill>
        <p:spPr>
          <a:xfrm>
            <a:off x="822960" y="4732020"/>
            <a:ext cx="548640" cy="548640"/>
          </a:xfrm>
          <a:prstGeom prst="rect">
            <a:avLst/>
          </a:prstGeom>
        </p:spPr>
      </p:pic>
      <p:sp>
        <p:nvSpPr>
          <p:cNvPr id="30" name="Text 26"/>
          <p:cNvSpPr txBox="1"/>
          <p:nvPr/>
        </p:nvSpPr>
        <p:spPr>
          <a:xfrm>
            <a:off x="1645920" y="4462272"/>
            <a:ext cx="9738360" cy="1088136"/>
          </a:xfrm>
          <a:prstGeom prst="rect">
            <a:avLst/>
          </a:prstGeom>
          <a:noFill/>
          <a:ln/>
        </p:spPr>
        <p:txBody>
          <a:bodyPr wrap="square" lIns="0" tIns="0" rIns="0" bIns="0" rtlCol="0" anchor="ctr"/>
          <a:lstStyle/>
          <a:p>
            <a:pPr indent="0" marL="0">
              <a:buNone/>
            </a:pPr>
            <a:r>
              <a:rPr lang="en-US" sz="1500" b="1" dirty="0">
                <a:solidFill>
                  <a:srgbClr val="14213D"/>
                </a:solidFill>
                <a:latin typeface="Calibri" pitchFamily="34" charset="0"/>
                <a:ea typeface="Calibri" pitchFamily="34" charset="-122"/>
                <a:cs typeface="Calibri" pitchFamily="34" charset="-120"/>
              </a:rPr>
              <a:t>Take-away: </a:t>
            </a:r>
            <a:pPr indent="0" marL="0">
              <a:buNone/>
            </a:pPr>
            <a:r>
              <a:rPr lang="en-US" sz="1500" dirty="0">
                <a:solidFill>
                  <a:srgbClr val="333B4F"/>
                </a:solidFill>
                <a:latin typeface="Calibri" pitchFamily="34" charset="0"/>
                <a:ea typeface="Calibri" pitchFamily="34" charset="-122"/>
                <a:cs typeface="Calibri" pitchFamily="34" charset="-120"/>
              </a:rPr>
              <a:t>an exception skips the REST of the try block; with the try inside the loop, the loop goes on.</a:t>
            </a:r>
            <a:endParaRPr lang="en-US" sz="15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IN-CLASS EXERCISES</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Your turn (pairs, 25 minutes)</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14</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46</a:t>
            </a:r>
            <a:endParaRPr lang="en-US" sz="1000" dirty="0"/>
          </a:p>
        </p:txBody>
      </p:sp>
      <p:sp>
        <p:nvSpPr>
          <p:cNvPr id="7" name="Shape 4"/>
          <p:cNvSpPr/>
          <p:nvPr/>
        </p:nvSpPr>
        <p:spPr>
          <a:xfrm>
            <a:off x="548640" y="1645920"/>
            <a:ext cx="5440680" cy="2103120"/>
          </a:xfrm>
          <a:prstGeom prst="roundRect">
            <a:avLst>
              <a:gd name="adj" fmla="val 5217"/>
            </a:avLst>
          </a:prstGeom>
          <a:solidFill>
            <a:srgbClr val="EEF1F6"/>
          </a:solidFill>
          <a:ln w="12700">
            <a:solidFill>
              <a:srgbClr val="EEF1F6"/>
            </a:solidFill>
            <a:prstDash val="solid"/>
          </a:ln>
        </p:spPr>
      </p:sp>
      <p:sp>
        <p:nvSpPr>
          <p:cNvPr id="8" name="Shape 5"/>
          <p:cNvSpPr/>
          <p:nvPr/>
        </p:nvSpPr>
        <p:spPr>
          <a:xfrm>
            <a:off x="777240" y="1874520"/>
            <a:ext cx="566928" cy="566928"/>
          </a:xfrm>
          <a:prstGeom prst="ellipse">
            <a:avLst/>
          </a:prstGeom>
          <a:solidFill>
            <a:srgbClr val="14213D"/>
          </a:solidFill>
          <a:ln w="12700">
            <a:solidFill>
              <a:srgbClr val="14213D"/>
            </a:solidFill>
            <a:prstDash val="solid"/>
          </a:ln>
        </p:spPr>
      </p:sp>
      <p:pic>
        <p:nvPicPr>
          <p:cNvPr id="9" name="Image 0" descr="preencoded.png">    </p:cNvPr>
          <p:cNvPicPr>
            <a:picLocks noChangeAspect="1"/>
          </p:cNvPicPr>
          <p:nvPr/>
        </p:nvPicPr>
        <p:blipFill>
          <a:blip r:embed="rId1"/>
          <a:stretch>
            <a:fillRect/>
          </a:stretch>
        </p:blipFill>
        <p:spPr>
          <a:xfrm>
            <a:off x="924641" y="2021921"/>
            <a:ext cx="272125" cy="272125"/>
          </a:xfrm>
          <a:prstGeom prst="rect">
            <a:avLst/>
          </a:prstGeom>
        </p:spPr>
      </p:pic>
      <p:sp>
        <p:nvSpPr>
          <p:cNvPr id="10" name="Text 6"/>
          <p:cNvSpPr txBox="1"/>
          <p:nvPr/>
        </p:nvSpPr>
        <p:spPr>
          <a:xfrm>
            <a:off x="1463040" y="1874520"/>
            <a:ext cx="4343400" cy="566928"/>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E1 · Squares file ★</a:t>
            </a:r>
            <a:endParaRPr lang="en-US" sz="1700" dirty="0"/>
          </a:p>
        </p:txBody>
      </p:sp>
      <p:sp>
        <p:nvSpPr>
          <p:cNvPr id="11" name="Text 7"/>
          <p:cNvSpPr txBox="1"/>
          <p:nvPr/>
        </p:nvSpPr>
        <p:spPr>
          <a:xfrm>
            <a:off x="777240" y="2560320"/>
            <a:ext cx="4983480" cy="1051560"/>
          </a:xfrm>
          <a:prstGeom prst="rect">
            <a:avLst/>
          </a:prstGeom>
          <a:noFill/>
          <a:ln/>
        </p:spPr>
        <p:txBody>
          <a:bodyPr wrap="square" lIns="0" tIns="0" rIns="0" bIns="0" rtlCol="0" anchor="t"/>
          <a:lstStyle/>
          <a:p>
            <a:pPr indent="0" marL="0">
              <a:buNone/>
            </a:pPr>
            <a:r>
              <a:rPr lang="en-US" sz="1500" dirty="0">
                <a:solidFill>
                  <a:srgbClr val="333B4F"/>
                </a:solidFill>
                <a:latin typeface="Calibri" pitchFamily="34" charset="0"/>
                <a:ea typeface="Calibri" pitchFamily="34" charset="-122"/>
                <a:cs typeface="Calibri" pitchFamily="34" charset="-120"/>
              </a:rPr>
              <a:t>Write "n,n²" for n = 1..10 to squares.csv with a StreamWriter, read it back and print the sum of the squares (385).</a:t>
            </a:r>
            <a:endParaRPr lang="en-US" sz="1500" dirty="0"/>
          </a:p>
        </p:txBody>
      </p:sp>
      <p:sp>
        <p:nvSpPr>
          <p:cNvPr id="12" name="Shape 8"/>
          <p:cNvSpPr/>
          <p:nvPr/>
        </p:nvSpPr>
        <p:spPr>
          <a:xfrm>
            <a:off x="6217920" y="1645920"/>
            <a:ext cx="5440680" cy="2103120"/>
          </a:xfrm>
          <a:prstGeom prst="roundRect">
            <a:avLst>
              <a:gd name="adj" fmla="val 5217"/>
            </a:avLst>
          </a:prstGeom>
          <a:solidFill>
            <a:srgbClr val="EEF1F6"/>
          </a:solidFill>
          <a:ln w="12700">
            <a:solidFill>
              <a:srgbClr val="EEF1F6"/>
            </a:solidFill>
            <a:prstDash val="solid"/>
          </a:ln>
        </p:spPr>
      </p:sp>
      <p:sp>
        <p:nvSpPr>
          <p:cNvPr id="13" name="Shape 9"/>
          <p:cNvSpPr/>
          <p:nvPr/>
        </p:nvSpPr>
        <p:spPr>
          <a:xfrm>
            <a:off x="6446520" y="1874520"/>
            <a:ext cx="566928" cy="566928"/>
          </a:xfrm>
          <a:prstGeom prst="ellipse">
            <a:avLst/>
          </a:prstGeom>
          <a:solidFill>
            <a:srgbClr val="2F6FB3"/>
          </a:solidFill>
          <a:ln w="12700">
            <a:solidFill>
              <a:srgbClr val="2F6FB3"/>
            </a:solidFill>
            <a:prstDash val="solid"/>
          </a:ln>
        </p:spPr>
      </p:sp>
      <p:pic>
        <p:nvPicPr>
          <p:cNvPr id="14" name="Image 1" descr="preencoded.png">    </p:cNvPr>
          <p:cNvPicPr>
            <a:picLocks noChangeAspect="1"/>
          </p:cNvPicPr>
          <p:nvPr/>
        </p:nvPicPr>
        <p:blipFill>
          <a:blip r:embed="rId2"/>
          <a:stretch>
            <a:fillRect/>
          </a:stretch>
        </p:blipFill>
        <p:spPr>
          <a:xfrm>
            <a:off x="6593921" y="2021921"/>
            <a:ext cx="272125" cy="272125"/>
          </a:xfrm>
          <a:prstGeom prst="rect">
            <a:avLst/>
          </a:prstGeom>
        </p:spPr>
      </p:pic>
      <p:sp>
        <p:nvSpPr>
          <p:cNvPr id="15" name="Text 10"/>
          <p:cNvSpPr txBox="1"/>
          <p:nvPr/>
        </p:nvSpPr>
        <p:spPr>
          <a:xfrm>
            <a:off x="7132320" y="1874520"/>
            <a:ext cx="4343400" cy="566928"/>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E2 · Numbered copy ★★</a:t>
            </a:r>
            <a:endParaRPr lang="en-US" sz="1700" dirty="0"/>
          </a:p>
        </p:txBody>
      </p:sp>
      <p:sp>
        <p:nvSpPr>
          <p:cNvPr id="16" name="Text 11"/>
          <p:cNvSpPr txBox="1"/>
          <p:nvPr/>
        </p:nvSpPr>
        <p:spPr>
          <a:xfrm>
            <a:off x="6446520" y="2560320"/>
            <a:ext cx="4983480" cy="1051560"/>
          </a:xfrm>
          <a:prstGeom prst="rect">
            <a:avLst/>
          </a:prstGeom>
          <a:noFill/>
          <a:ln/>
        </p:spPr>
        <p:txBody>
          <a:bodyPr wrap="square" lIns="0" tIns="0" rIns="0" bIns="0" rtlCol="0" anchor="t"/>
          <a:lstStyle/>
          <a:p>
            <a:pPr indent="0" marL="0">
              <a:buNone/>
            </a:pPr>
            <a:r>
              <a:rPr lang="en-US" sz="1500" dirty="0">
                <a:solidFill>
                  <a:srgbClr val="333B4F"/>
                </a:solidFill>
                <a:latin typeface="Calibri" pitchFamily="34" charset="0"/>
                <a:ea typeface="Calibri" pitchFamily="34" charset="-122"/>
                <a:cs typeface="Calibri" pitchFamily="34" charset="-120"/>
              </a:rPr>
              <a:t>Copy proverbs.txt to numbered.txt as "1: …", "2: …", skipping empty lines. Print how many lines were written.</a:t>
            </a:r>
            <a:endParaRPr lang="en-US" sz="1500" dirty="0"/>
          </a:p>
        </p:txBody>
      </p:sp>
      <p:sp>
        <p:nvSpPr>
          <p:cNvPr id="17" name="Shape 12"/>
          <p:cNvSpPr/>
          <p:nvPr/>
        </p:nvSpPr>
        <p:spPr>
          <a:xfrm>
            <a:off x="548640" y="3886200"/>
            <a:ext cx="5440680" cy="2103120"/>
          </a:xfrm>
          <a:prstGeom prst="roundRect">
            <a:avLst>
              <a:gd name="adj" fmla="val 5217"/>
            </a:avLst>
          </a:prstGeom>
          <a:solidFill>
            <a:srgbClr val="EEF1F6"/>
          </a:solidFill>
          <a:ln w="12700">
            <a:solidFill>
              <a:srgbClr val="EEF1F6"/>
            </a:solidFill>
            <a:prstDash val="solid"/>
          </a:ln>
        </p:spPr>
      </p:sp>
      <p:sp>
        <p:nvSpPr>
          <p:cNvPr id="18" name="Shape 13"/>
          <p:cNvSpPr/>
          <p:nvPr/>
        </p:nvSpPr>
        <p:spPr>
          <a:xfrm>
            <a:off x="777240" y="4114800"/>
            <a:ext cx="566928" cy="566928"/>
          </a:xfrm>
          <a:prstGeom prst="ellipse">
            <a:avLst/>
          </a:prstGeom>
          <a:solidFill>
            <a:srgbClr val="14213D"/>
          </a:solidFill>
          <a:ln w="12700">
            <a:solidFill>
              <a:srgbClr val="14213D"/>
            </a:solidFill>
            <a:prstDash val="solid"/>
          </a:ln>
        </p:spPr>
      </p:sp>
      <p:pic>
        <p:nvPicPr>
          <p:cNvPr id="19" name="Image 2" descr="preencoded.png">    </p:cNvPr>
          <p:cNvPicPr>
            <a:picLocks noChangeAspect="1"/>
          </p:cNvPicPr>
          <p:nvPr/>
        </p:nvPicPr>
        <p:blipFill>
          <a:blip r:embed="rId3"/>
          <a:stretch>
            <a:fillRect/>
          </a:stretch>
        </p:blipFill>
        <p:spPr>
          <a:xfrm>
            <a:off x="924641" y="4262201"/>
            <a:ext cx="272125" cy="272125"/>
          </a:xfrm>
          <a:prstGeom prst="rect">
            <a:avLst/>
          </a:prstGeom>
        </p:spPr>
      </p:pic>
      <p:sp>
        <p:nvSpPr>
          <p:cNvPr id="20" name="Text 14"/>
          <p:cNvSpPr txBox="1"/>
          <p:nvPr/>
        </p:nvSpPr>
        <p:spPr>
          <a:xfrm>
            <a:off x="1463040" y="4114800"/>
            <a:ext cx="4343400" cy="566928"/>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E3 · Shopping CSV ★★</a:t>
            </a:r>
            <a:endParaRPr lang="en-US" sz="1700" dirty="0"/>
          </a:p>
        </p:txBody>
      </p:sp>
      <p:sp>
        <p:nvSpPr>
          <p:cNvPr id="21" name="Text 15"/>
          <p:cNvSpPr txBox="1"/>
          <p:nvPr/>
        </p:nvSpPr>
        <p:spPr>
          <a:xfrm>
            <a:off x="777240" y="4800600"/>
            <a:ext cx="4983480" cy="1051560"/>
          </a:xfrm>
          <a:prstGeom prst="rect">
            <a:avLst/>
          </a:prstGeom>
          <a:noFill/>
          <a:ln/>
        </p:spPr>
        <p:txBody>
          <a:bodyPr wrap="square" lIns="0" tIns="0" rIns="0" bIns="0" rtlCol="0" anchor="t"/>
          <a:lstStyle/>
          <a:p>
            <a:pPr indent="0" marL="0">
              <a:buNone/>
            </a:pPr>
            <a:r>
              <a:rPr lang="en-US" sz="1500" dirty="0">
                <a:solidFill>
                  <a:srgbClr val="333B4F"/>
                </a:solidFill>
                <a:latin typeface="Calibri" pitchFamily="34" charset="0"/>
                <a:ea typeface="Calibri" pitchFamily="34" charset="-122"/>
                <a:cs typeface="Calibri" pitchFamily="34" charset="-120"/>
              </a:rPr>
              <a:t>Create items.csv (item,price,qty), print each line total and the grand total with decimal and F2.</a:t>
            </a:r>
            <a:endParaRPr lang="en-US" sz="1500" dirty="0"/>
          </a:p>
        </p:txBody>
      </p:sp>
      <p:sp>
        <p:nvSpPr>
          <p:cNvPr id="22" name="Shape 16"/>
          <p:cNvSpPr/>
          <p:nvPr/>
        </p:nvSpPr>
        <p:spPr>
          <a:xfrm>
            <a:off x="6217920" y="3886200"/>
            <a:ext cx="5440680" cy="2103120"/>
          </a:xfrm>
          <a:prstGeom prst="roundRect">
            <a:avLst>
              <a:gd name="adj" fmla="val 5217"/>
            </a:avLst>
          </a:prstGeom>
          <a:solidFill>
            <a:srgbClr val="EEF1F6"/>
          </a:solidFill>
          <a:ln w="12700">
            <a:solidFill>
              <a:srgbClr val="EEF1F6"/>
            </a:solidFill>
            <a:prstDash val="solid"/>
          </a:ln>
        </p:spPr>
      </p:sp>
      <p:sp>
        <p:nvSpPr>
          <p:cNvPr id="23" name="Shape 17"/>
          <p:cNvSpPr/>
          <p:nvPr/>
        </p:nvSpPr>
        <p:spPr>
          <a:xfrm>
            <a:off x="6446520" y="4114800"/>
            <a:ext cx="566928" cy="566928"/>
          </a:xfrm>
          <a:prstGeom prst="ellipse">
            <a:avLst/>
          </a:prstGeom>
          <a:solidFill>
            <a:srgbClr val="2F6FB3"/>
          </a:solidFill>
          <a:ln w="12700">
            <a:solidFill>
              <a:srgbClr val="2F6FB3"/>
            </a:solidFill>
            <a:prstDash val="solid"/>
          </a:ln>
        </p:spPr>
      </p:sp>
      <p:pic>
        <p:nvPicPr>
          <p:cNvPr id="24" name="Image 3" descr="preencoded.png">    </p:cNvPr>
          <p:cNvPicPr>
            <a:picLocks noChangeAspect="1"/>
          </p:cNvPicPr>
          <p:nvPr/>
        </p:nvPicPr>
        <p:blipFill>
          <a:blip r:embed="rId4"/>
          <a:stretch>
            <a:fillRect/>
          </a:stretch>
        </p:blipFill>
        <p:spPr>
          <a:xfrm>
            <a:off x="6593921" y="4262201"/>
            <a:ext cx="272125" cy="272125"/>
          </a:xfrm>
          <a:prstGeom prst="rect">
            <a:avLst/>
          </a:prstGeom>
        </p:spPr>
      </p:pic>
      <p:sp>
        <p:nvSpPr>
          <p:cNvPr id="25" name="Text 18"/>
          <p:cNvSpPr txBox="1"/>
          <p:nvPr/>
        </p:nvSpPr>
        <p:spPr>
          <a:xfrm>
            <a:off x="7132320" y="4114800"/>
            <a:ext cx="4343400" cy="566928"/>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E4 · Find the bug ★</a:t>
            </a:r>
            <a:endParaRPr lang="en-US" sz="1700" dirty="0"/>
          </a:p>
        </p:txBody>
      </p:sp>
      <p:sp>
        <p:nvSpPr>
          <p:cNvPr id="26" name="Text 19"/>
          <p:cNvSpPr txBox="1"/>
          <p:nvPr/>
        </p:nvSpPr>
        <p:spPr>
          <a:xfrm>
            <a:off x="6446520" y="4800600"/>
            <a:ext cx="4983480" cy="1051560"/>
          </a:xfrm>
          <a:prstGeom prst="rect">
            <a:avLst/>
          </a:prstGeom>
          <a:noFill/>
          <a:ln/>
        </p:spPr>
        <p:txBody>
          <a:bodyPr wrap="square" lIns="0" tIns="0" rIns="0" bIns="0" rtlCol="0" anchor="t"/>
          <a:lstStyle/>
          <a:p>
            <a:pPr indent="0" marL="0">
              <a:buNone/>
            </a:pPr>
            <a:r>
              <a:rPr lang="en-US" sz="1500" dirty="0">
                <a:solidFill>
                  <a:srgbClr val="333B4F"/>
                </a:solidFill>
                <a:latin typeface="Calibri" pitchFamily="34" charset="0"/>
                <a:ea typeface="Calibri" pitchFamily="34" charset="-122"/>
                <a:cs typeface="Calibri" pitchFamily="34" charset="-120"/>
              </a:rPr>
              <a:t>A StreamReader loop calls ReadLine() twice per pass. Predict which lines are printed, then fix it.</a:t>
            </a:r>
            <a:endParaRPr lang="en-US" sz="15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HOMEWORK</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Before the final review</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14</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47</a:t>
            </a:r>
            <a:endParaRPr lang="en-US" sz="1000" dirty="0"/>
          </a:p>
        </p:txBody>
      </p:sp>
      <p:sp>
        <p:nvSpPr>
          <p:cNvPr id="7" name="Shape 4"/>
          <p:cNvSpPr/>
          <p:nvPr/>
        </p:nvSpPr>
        <p:spPr>
          <a:xfrm>
            <a:off x="548640" y="1645920"/>
            <a:ext cx="5440680" cy="1874520"/>
          </a:xfrm>
          <a:prstGeom prst="roundRect">
            <a:avLst>
              <a:gd name="adj" fmla="val 5854"/>
            </a:avLst>
          </a:prstGeom>
          <a:solidFill>
            <a:srgbClr val="EEF1F6"/>
          </a:solidFill>
          <a:ln w="12700">
            <a:solidFill>
              <a:srgbClr val="EEF1F6"/>
            </a:solidFill>
            <a:prstDash val="solid"/>
          </a:ln>
        </p:spPr>
      </p:sp>
      <p:sp>
        <p:nvSpPr>
          <p:cNvPr id="8" name="Shape 5"/>
          <p:cNvSpPr/>
          <p:nvPr/>
        </p:nvSpPr>
        <p:spPr>
          <a:xfrm>
            <a:off x="777240" y="1874520"/>
            <a:ext cx="566928" cy="566928"/>
          </a:xfrm>
          <a:prstGeom prst="ellipse">
            <a:avLst/>
          </a:prstGeom>
          <a:solidFill>
            <a:srgbClr val="14213D"/>
          </a:solidFill>
          <a:ln w="12700">
            <a:solidFill>
              <a:srgbClr val="14213D"/>
            </a:solidFill>
            <a:prstDash val="solid"/>
          </a:ln>
        </p:spPr>
      </p:sp>
      <p:pic>
        <p:nvPicPr>
          <p:cNvPr id="9" name="Image 0" descr="preencoded.png">    </p:cNvPr>
          <p:cNvPicPr>
            <a:picLocks noChangeAspect="1"/>
          </p:cNvPicPr>
          <p:nvPr/>
        </p:nvPicPr>
        <p:blipFill>
          <a:blip r:embed="rId1"/>
          <a:stretch>
            <a:fillRect/>
          </a:stretch>
        </p:blipFill>
        <p:spPr>
          <a:xfrm>
            <a:off x="924641" y="2021921"/>
            <a:ext cx="272125" cy="272125"/>
          </a:xfrm>
          <a:prstGeom prst="rect">
            <a:avLst/>
          </a:prstGeom>
        </p:spPr>
      </p:pic>
      <p:sp>
        <p:nvSpPr>
          <p:cNvPr id="10" name="Text 6"/>
          <p:cNvSpPr txBox="1"/>
          <p:nvPr/>
        </p:nvSpPr>
        <p:spPr>
          <a:xfrm>
            <a:off x="1463040" y="1874520"/>
            <a:ext cx="4343400" cy="566928"/>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H1 · Sort the students ★★</a:t>
            </a:r>
            <a:endParaRPr lang="en-US" sz="1700" dirty="0"/>
          </a:p>
        </p:txBody>
      </p:sp>
      <p:sp>
        <p:nvSpPr>
          <p:cNvPr id="11" name="Text 7"/>
          <p:cNvSpPr txBox="1"/>
          <p:nvPr/>
        </p:nvSpPr>
        <p:spPr>
          <a:xfrm>
            <a:off x="777240" y="2560320"/>
            <a:ext cx="4983480" cy="822960"/>
          </a:xfrm>
          <a:prstGeom prst="rect">
            <a:avLst/>
          </a:prstGeom>
          <a:noFill/>
          <a:ln/>
        </p:spPr>
        <p:txBody>
          <a:bodyPr wrap="square" lIns="0" tIns="0" rIns="0" bIns="0" rtlCol="0" anchor="t"/>
          <a:lstStyle/>
          <a:p>
            <a:pPr indent="0" marL="0">
              <a:buNone/>
            </a:pPr>
            <a:r>
              <a:rPr lang="en-US" sz="1400" dirty="0">
                <a:solidFill>
                  <a:srgbClr val="333B4F"/>
                </a:solidFill>
                <a:latin typeface="Calibri" pitchFamily="34" charset="0"/>
                <a:ea typeface="Calibri" pitchFamily="34" charset="-122"/>
                <a:cs typeface="Calibri" pitchFamily="34" charset="-120"/>
              </a:rPr>
              <a:t>Add menu option 6 to the Grade Manager: bubble sort by average (highest first), swapping the three arrays together.</a:t>
            </a:r>
            <a:endParaRPr lang="en-US" sz="1400" dirty="0"/>
          </a:p>
        </p:txBody>
      </p:sp>
      <p:sp>
        <p:nvSpPr>
          <p:cNvPr id="12" name="Shape 8"/>
          <p:cNvSpPr/>
          <p:nvPr/>
        </p:nvSpPr>
        <p:spPr>
          <a:xfrm>
            <a:off x="6217920" y="1645920"/>
            <a:ext cx="5440680" cy="1874520"/>
          </a:xfrm>
          <a:prstGeom prst="roundRect">
            <a:avLst>
              <a:gd name="adj" fmla="val 5854"/>
            </a:avLst>
          </a:prstGeom>
          <a:solidFill>
            <a:srgbClr val="EEF1F6"/>
          </a:solidFill>
          <a:ln w="12700">
            <a:solidFill>
              <a:srgbClr val="EEF1F6"/>
            </a:solidFill>
            <a:prstDash val="solid"/>
          </a:ln>
        </p:spPr>
      </p:sp>
      <p:sp>
        <p:nvSpPr>
          <p:cNvPr id="13" name="Shape 9"/>
          <p:cNvSpPr/>
          <p:nvPr/>
        </p:nvSpPr>
        <p:spPr>
          <a:xfrm>
            <a:off x="6446520" y="1874520"/>
            <a:ext cx="566928" cy="566928"/>
          </a:xfrm>
          <a:prstGeom prst="ellipse">
            <a:avLst/>
          </a:prstGeom>
          <a:solidFill>
            <a:srgbClr val="14213D"/>
          </a:solidFill>
          <a:ln w="12700">
            <a:solidFill>
              <a:srgbClr val="14213D"/>
            </a:solidFill>
            <a:prstDash val="solid"/>
          </a:ln>
        </p:spPr>
      </p:sp>
      <p:pic>
        <p:nvPicPr>
          <p:cNvPr id="14" name="Image 1" descr="preencoded.png">    </p:cNvPr>
          <p:cNvPicPr>
            <a:picLocks noChangeAspect="1"/>
          </p:cNvPicPr>
          <p:nvPr/>
        </p:nvPicPr>
        <p:blipFill>
          <a:blip r:embed="rId2"/>
          <a:stretch>
            <a:fillRect/>
          </a:stretch>
        </p:blipFill>
        <p:spPr>
          <a:xfrm>
            <a:off x="6593921" y="2021921"/>
            <a:ext cx="272125" cy="272125"/>
          </a:xfrm>
          <a:prstGeom prst="rect">
            <a:avLst/>
          </a:prstGeom>
        </p:spPr>
      </p:pic>
      <p:sp>
        <p:nvSpPr>
          <p:cNvPr id="15" name="Text 10"/>
          <p:cNvSpPr txBox="1"/>
          <p:nvPr/>
        </p:nvSpPr>
        <p:spPr>
          <a:xfrm>
            <a:off x="7132320" y="1874520"/>
            <a:ext cx="4343400" cy="566928"/>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H2 · Word frequency ★★</a:t>
            </a:r>
            <a:endParaRPr lang="en-US" sz="1700" dirty="0"/>
          </a:p>
        </p:txBody>
      </p:sp>
      <p:sp>
        <p:nvSpPr>
          <p:cNvPr id="16" name="Text 11"/>
          <p:cNvSpPr txBox="1"/>
          <p:nvPr/>
        </p:nvSpPr>
        <p:spPr>
          <a:xfrm>
            <a:off x="6446520" y="2560320"/>
            <a:ext cx="4983480" cy="822960"/>
          </a:xfrm>
          <a:prstGeom prst="rect">
            <a:avLst/>
          </a:prstGeom>
          <a:noFill/>
          <a:ln/>
        </p:spPr>
        <p:txBody>
          <a:bodyPr wrap="square" lIns="0" tIns="0" rIns="0" bIns="0" rtlCol="0" anchor="t"/>
          <a:lstStyle/>
          <a:p>
            <a:pPr indent="0" marL="0">
              <a:buNone/>
            </a:pPr>
            <a:r>
              <a:rPr lang="en-US" sz="1400" dirty="0">
                <a:solidFill>
                  <a:srgbClr val="333B4F"/>
                </a:solidFill>
                <a:latin typeface="Calibri" pitchFamily="34" charset="0"/>
                <a:ea typeface="Calibri" pitchFamily="34" charset="-122"/>
                <a:cs typeface="Calibri" pitchFamily="34" charset="-120"/>
              </a:rPr>
              <a:t>int CountWord(string path, string word): how often does a word appear in a text file (ignore case)?</a:t>
            </a:r>
            <a:endParaRPr lang="en-US" sz="1400" dirty="0"/>
          </a:p>
        </p:txBody>
      </p:sp>
      <p:sp>
        <p:nvSpPr>
          <p:cNvPr id="17" name="Shape 12"/>
          <p:cNvSpPr/>
          <p:nvPr/>
        </p:nvSpPr>
        <p:spPr>
          <a:xfrm>
            <a:off x="548640" y="3657600"/>
            <a:ext cx="5440680" cy="1874520"/>
          </a:xfrm>
          <a:prstGeom prst="roundRect">
            <a:avLst>
              <a:gd name="adj" fmla="val 5854"/>
            </a:avLst>
          </a:prstGeom>
          <a:solidFill>
            <a:srgbClr val="EEF1F6"/>
          </a:solidFill>
          <a:ln w="12700">
            <a:solidFill>
              <a:srgbClr val="EEF1F6"/>
            </a:solidFill>
            <a:prstDash val="solid"/>
          </a:ln>
        </p:spPr>
      </p:sp>
      <p:sp>
        <p:nvSpPr>
          <p:cNvPr id="18" name="Shape 13"/>
          <p:cNvSpPr/>
          <p:nvPr/>
        </p:nvSpPr>
        <p:spPr>
          <a:xfrm>
            <a:off x="777240" y="3886200"/>
            <a:ext cx="566928" cy="566928"/>
          </a:xfrm>
          <a:prstGeom prst="ellipse">
            <a:avLst/>
          </a:prstGeom>
          <a:solidFill>
            <a:srgbClr val="14213D"/>
          </a:solidFill>
          <a:ln w="12700">
            <a:solidFill>
              <a:srgbClr val="14213D"/>
            </a:solidFill>
            <a:prstDash val="solid"/>
          </a:ln>
        </p:spPr>
      </p:sp>
      <p:pic>
        <p:nvPicPr>
          <p:cNvPr id="19" name="Image 2" descr="preencoded.png">    </p:cNvPr>
          <p:cNvPicPr>
            <a:picLocks noChangeAspect="1"/>
          </p:cNvPicPr>
          <p:nvPr/>
        </p:nvPicPr>
        <p:blipFill>
          <a:blip r:embed="rId3"/>
          <a:stretch>
            <a:fillRect/>
          </a:stretch>
        </p:blipFill>
        <p:spPr>
          <a:xfrm>
            <a:off x="924641" y="4033601"/>
            <a:ext cx="272125" cy="272125"/>
          </a:xfrm>
          <a:prstGeom prst="rect">
            <a:avLst/>
          </a:prstGeom>
        </p:spPr>
      </p:pic>
      <p:sp>
        <p:nvSpPr>
          <p:cNvPr id="20" name="Text 14"/>
          <p:cNvSpPr txBox="1"/>
          <p:nvPr/>
        </p:nvSpPr>
        <p:spPr>
          <a:xfrm>
            <a:off x="1463040" y="3886200"/>
            <a:ext cx="4343400" cy="566928"/>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H3 · Matrix to CSV and back ★★★</a:t>
            </a:r>
            <a:endParaRPr lang="en-US" sz="1700" dirty="0"/>
          </a:p>
        </p:txBody>
      </p:sp>
      <p:sp>
        <p:nvSpPr>
          <p:cNvPr id="21" name="Text 15"/>
          <p:cNvSpPr txBox="1"/>
          <p:nvPr/>
        </p:nvSpPr>
        <p:spPr>
          <a:xfrm>
            <a:off x="777240" y="4572000"/>
            <a:ext cx="4983480" cy="822960"/>
          </a:xfrm>
          <a:prstGeom prst="rect">
            <a:avLst/>
          </a:prstGeom>
          <a:noFill/>
          <a:ln/>
        </p:spPr>
        <p:txBody>
          <a:bodyPr wrap="square" lIns="0" tIns="0" rIns="0" bIns="0" rtlCol="0" anchor="t"/>
          <a:lstStyle/>
          <a:p>
            <a:pPr indent="0" marL="0">
              <a:buNone/>
            </a:pPr>
            <a:r>
              <a:rPr lang="en-US" sz="1400" dirty="0">
                <a:solidFill>
                  <a:srgbClr val="333B4F"/>
                </a:solidFill>
                <a:latin typeface="Calibri" pitchFamily="34" charset="0"/>
                <a:ea typeface="Calibri" pitchFamily="34" charset="-122"/>
                <a:cs typeface="Calibri" pitchFamily="34" charset="-120"/>
              </a:rPr>
              <a:t>Save an int[3, 4] matrix as CSV (one row per line) and load it back into a new int[,]; print both.</a:t>
            </a:r>
            <a:endParaRPr lang="en-US" sz="1400" dirty="0"/>
          </a:p>
        </p:txBody>
      </p:sp>
      <p:sp>
        <p:nvSpPr>
          <p:cNvPr id="22" name="Shape 16"/>
          <p:cNvSpPr/>
          <p:nvPr/>
        </p:nvSpPr>
        <p:spPr>
          <a:xfrm>
            <a:off x="6217920" y="3657600"/>
            <a:ext cx="5440680" cy="1874520"/>
          </a:xfrm>
          <a:prstGeom prst="roundRect">
            <a:avLst>
              <a:gd name="adj" fmla="val 5854"/>
            </a:avLst>
          </a:prstGeom>
          <a:solidFill>
            <a:srgbClr val="EEF1F6"/>
          </a:solidFill>
          <a:ln w="12700">
            <a:solidFill>
              <a:srgbClr val="EEF1F6"/>
            </a:solidFill>
            <a:prstDash val="solid"/>
          </a:ln>
        </p:spPr>
      </p:sp>
      <p:sp>
        <p:nvSpPr>
          <p:cNvPr id="23" name="Shape 17"/>
          <p:cNvSpPr/>
          <p:nvPr/>
        </p:nvSpPr>
        <p:spPr>
          <a:xfrm>
            <a:off x="6446520" y="3886200"/>
            <a:ext cx="566928" cy="566928"/>
          </a:xfrm>
          <a:prstGeom prst="ellipse">
            <a:avLst/>
          </a:prstGeom>
          <a:solidFill>
            <a:srgbClr val="14213D"/>
          </a:solidFill>
          <a:ln w="12700">
            <a:solidFill>
              <a:srgbClr val="14213D"/>
            </a:solidFill>
            <a:prstDash val="solid"/>
          </a:ln>
        </p:spPr>
      </p:sp>
      <p:pic>
        <p:nvPicPr>
          <p:cNvPr id="24" name="Image 3" descr="preencoded.png">    </p:cNvPr>
          <p:cNvPicPr>
            <a:picLocks noChangeAspect="1"/>
          </p:cNvPicPr>
          <p:nvPr/>
        </p:nvPicPr>
        <p:blipFill>
          <a:blip r:embed="rId4"/>
          <a:stretch>
            <a:fillRect/>
          </a:stretch>
        </p:blipFill>
        <p:spPr>
          <a:xfrm>
            <a:off x="6593921" y="4033601"/>
            <a:ext cx="272125" cy="272125"/>
          </a:xfrm>
          <a:prstGeom prst="rect">
            <a:avLst/>
          </a:prstGeom>
        </p:spPr>
      </p:pic>
      <p:sp>
        <p:nvSpPr>
          <p:cNvPr id="25" name="Text 18"/>
          <p:cNvSpPr txBox="1"/>
          <p:nvPr/>
        </p:nvSpPr>
        <p:spPr>
          <a:xfrm>
            <a:off x="7132320" y="3886200"/>
            <a:ext cx="4343400" cy="566928"/>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H4 · Diary ★</a:t>
            </a:r>
            <a:endParaRPr lang="en-US" sz="1700" dirty="0"/>
          </a:p>
        </p:txBody>
      </p:sp>
      <p:sp>
        <p:nvSpPr>
          <p:cNvPr id="26" name="Text 19"/>
          <p:cNvSpPr txBox="1"/>
          <p:nvPr/>
        </p:nvSpPr>
        <p:spPr>
          <a:xfrm>
            <a:off x="6446520" y="4572000"/>
            <a:ext cx="4983480" cy="822960"/>
          </a:xfrm>
          <a:prstGeom prst="rect">
            <a:avLst/>
          </a:prstGeom>
          <a:noFill/>
          <a:ln/>
        </p:spPr>
        <p:txBody>
          <a:bodyPr wrap="square" lIns="0" tIns="0" rIns="0" bIns="0" rtlCol="0" anchor="t"/>
          <a:lstStyle/>
          <a:p>
            <a:pPr indent="0" marL="0">
              <a:buNone/>
            </a:pPr>
            <a:r>
              <a:rPr lang="en-US" sz="1400" dirty="0">
                <a:solidFill>
                  <a:srgbClr val="333B4F"/>
                </a:solidFill>
                <a:latin typeface="Calibri" pitchFamily="34" charset="0"/>
                <a:ea typeface="Calibri" pitchFamily="34" charset="-122"/>
                <a:cs typeface="Calibri" pitchFamily="34" charset="-120"/>
              </a:rPr>
              <a:t>Append a typed sentence with a timestamp to diary.txt; then print the last three entries.</a:t>
            </a:r>
            <a:endParaRPr lang="en-US" sz="1400" dirty="0"/>
          </a:p>
        </p:txBody>
      </p:sp>
      <p:sp>
        <p:nvSpPr>
          <p:cNvPr id="27" name="Shape 20"/>
          <p:cNvSpPr/>
          <p:nvPr/>
        </p:nvSpPr>
        <p:spPr>
          <a:xfrm>
            <a:off x="548640" y="5669280"/>
            <a:ext cx="11109960" cy="457200"/>
          </a:xfrm>
          <a:prstGeom prst="roundRect">
            <a:avLst>
              <a:gd name="adj" fmla="val 24000"/>
            </a:avLst>
          </a:prstGeom>
          <a:solidFill>
            <a:srgbClr val="FFF6E3"/>
          </a:solidFill>
          <a:ln w="12700">
            <a:solidFill>
              <a:srgbClr val="FFF6E3"/>
            </a:solidFill>
            <a:prstDash val="solid"/>
          </a:ln>
        </p:spPr>
      </p:sp>
      <p:pic>
        <p:nvPicPr>
          <p:cNvPr id="28" name="Image 4" descr="preencoded.png">    </p:cNvPr>
          <p:cNvPicPr>
            <a:picLocks noChangeAspect="1"/>
          </p:cNvPicPr>
          <p:nvPr/>
        </p:nvPicPr>
        <p:blipFill>
          <a:blip r:embed="rId5"/>
          <a:stretch>
            <a:fillRect/>
          </a:stretch>
        </p:blipFill>
        <p:spPr>
          <a:xfrm>
            <a:off x="822960" y="5806440"/>
            <a:ext cx="182880" cy="182880"/>
          </a:xfrm>
          <a:prstGeom prst="rect">
            <a:avLst/>
          </a:prstGeom>
        </p:spPr>
      </p:pic>
      <p:sp>
        <p:nvSpPr>
          <p:cNvPr id="29" name="Text 21"/>
          <p:cNvSpPr txBox="1"/>
          <p:nvPr/>
        </p:nvSpPr>
        <p:spPr>
          <a:xfrm>
            <a:off x="1280160" y="5742432"/>
            <a:ext cx="10104120" cy="310896"/>
          </a:xfrm>
          <a:prstGeom prst="rect">
            <a:avLst/>
          </a:prstGeom>
          <a:noFill/>
          <a:ln/>
        </p:spPr>
        <p:txBody>
          <a:bodyPr wrap="square" lIns="0" tIns="0" rIns="0" bIns="0" rtlCol="0" anchor="ctr"/>
          <a:lstStyle/>
          <a:p>
            <a:pPr indent="0" marL="0">
              <a:buNone/>
            </a:pPr>
            <a:r>
              <a:rPr lang="en-US" sz="1400" dirty="0">
                <a:solidFill>
                  <a:srgbClr val="333B4F"/>
                </a:solidFill>
                <a:latin typeface="Calibri" pitchFamily="34" charset="0"/>
                <a:ea typeface="Calibri" pitchFamily="34" charset="-122"/>
                <a:cs typeface="Calibri" pitchFamily="34" charset="-120"/>
              </a:rPr>
              <a:t>Submit the Program.cs files on the course group, with one console run each. Do not submit data files.</a:t>
            </a:r>
            <a:endParaRPr lang="en-US" sz="14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14213D"/>
        </a:solidFill>
      </p:bgPr>
    </p:bg>
    <p:spTree>
      <p:nvGrpSpPr>
        <p:cNvPr id="1" name=""/>
        <p:cNvGrpSpPr/>
        <p:nvPr/>
      </p:nvGrpSpPr>
      <p:grpSpPr>
        <a:xfrm>
          <a:off x="0" y="0"/>
          <a:ext cx="0" cy="0"/>
          <a:chOff x="0" y="0"/>
          <a:chExt cx="0" cy="0"/>
        </a:xfrm>
      </p:grpSpPr>
      <p:sp>
        <p:nvSpPr>
          <p:cNvPr id="2" name="Text 0"/>
          <p:cNvSpPr txBox="1"/>
          <p:nvPr/>
        </p:nvSpPr>
        <p:spPr>
          <a:xfrm>
            <a:off x="548640" y="457200"/>
            <a:ext cx="5486400" cy="365760"/>
          </a:xfrm>
          <a:prstGeom prst="rect">
            <a:avLst/>
          </a:prstGeom>
          <a:noFill/>
          <a:ln/>
        </p:spPr>
        <p:txBody>
          <a:bodyPr wrap="square" lIns="0" tIns="0" rIns="0" bIns="0" rtlCol="0" anchor="ctr"/>
          <a:lstStyle/>
          <a:p>
            <a:pPr indent="0" marL="0">
              <a:buNone/>
            </a:pPr>
            <a:r>
              <a:rPr lang="en-US" sz="1400" b="1" dirty="0">
                <a:solidFill>
                  <a:srgbClr val="FCA311"/>
                </a:solidFill>
                <a:latin typeface="Courier New" pitchFamily="34" charset="0"/>
                <a:ea typeface="Courier New" pitchFamily="34" charset="-122"/>
                <a:cs typeface="Courier New" pitchFamily="34" charset="-120"/>
              </a:rPr>
              <a:t>&gt;_ SUMMARY</a:t>
            </a:r>
            <a:endParaRPr lang="en-US" sz="1400" dirty="0"/>
          </a:p>
        </p:txBody>
      </p:sp>
      <p:sp>
        <p:nvSpPr>
          <p:cNvPr id="3" name="Text 1"/>
          <p:cNvSpPr txBox="1"/>
          <p:nvPr/>
        </p:nvSpPr>
        <p:spPr>
          <a:xfrm>
            <a:off x="548640" y="868680"/>
            <a:ext cx="7315200" cy="73152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Key Takeaways</a:t>
            </a:r>
            <a:endParaRPr lang="en-US" sz="3600" dirty="0"/>
          </a:p>
        </p:txBody>
      </p:sp>
      <p:sp>
        <p:nvSpPr>
          <p:cNvPr id="4" name="Text 2"/>
          <p:cNvSpPr txBox="1"/>
          <p:nvPr/>
        </p:nvSpPr>
        <p:spPr>
          <a:xfrm>
            <a:off x="548640" y="1828800"/>
            <a:ext cx="731520" cy="609600"/>
          </a:xfrm>
          <a:prstGeom prst="rect">
            <a:avLst/>
          </a:prstGeom>
          <a:noFill/>
          <a:ln/>
        </p:spPr>
        <p:txBody>
          <a:bodyPr wrap="square" lIns="0" tIns="0" rIns="0" bIns="0" rtlCol="0" anchor="ctr"/>
          <a:lstStyle/>
          <a:p>
            <a:pPr indent="0" marL="0">
              <a:buNone/>
            </a:pPr>
            <a:r>
              <a:rPr lang="en-US" sz="2000" b="1" dirty="0">
                <a:solidFill>
                  <a:srgbClr val="FCA311"/>
                </a:solidFill>
                <a:latin typeface="Courier New" pitchFamily="34" charset="0"/>
                <a:ea typeface="Courier New" pitchFamily="34" charset="-122"/>
                <a:cs typeface="Courier New" pitchFamily="34" charset="-120"/>
              </a:rPr>
              <a:t>01</a:t>
            </a:r>
            <a:endParaRPr lang="en-US" sz="2000" dirty="0"/>
          </a:p>
        </p:txBody>
      </p:sp>
      <p:sp>
        <p:nvSpPr>
          <p:cNvPr id="5" name="Text 3"/>
          <p:cNvSpPr txBox="1"/>
          <p:nvPr/>
        </p:nvSpPr>
        <p:spPr>
          <a:xfrm>
            <a:off x="1325880" y="1828800"/>
            <a:ext cx="6675120" cy="60960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Variables die with the program; files on the disk survive. Relative paths start in the working directory.</a:t>
            </a:r>
            <a:endParaRPr lang="en-US" sz="1500" dirty="0"/>
          </a:p>
        </p:txBody>
      </p:sp>
      <p:sp>
        <p:nvSpPr>
          <p:cNvPr id="6" name="Text 4"/>
          <p:cNvSpPr txBox="1"/>
          <p:nvPr/>
        </p:nvSpPr>
        <p:spPr>
          <a:xfrm>
            <a:off x="548640" y="2529840"/>
            <a:ext cx="731520" cy="609600"/>
          </a:xfrm>
          <a:prstGeom prst="rect">
            <a:avLst/>
          </a:prstGeom>
          <a:noFill/>
          <a:ln/>
        </p:spPr>
        <p:txBody>
          <a:bodyPr wrap="square" lIns="0" tIns="0" rIns="0" bIns="0" rtlCol="0" anchor="ctr"/>
          <a:lstStyle/>
          <a:p>
            <a:pPr indent="0" marL="0">
              <a:buNone/>
            </a:pPr>
            <a:r>
              <a:rPr lang="en-US" sz="2000" b="1" dirty="0">
                <a:solidFill>
                  <a:srgbClr val="FCA311"/>
                </a:solidFill>
                <a:latin typeface="Courier New" pitchFamily="34" charset="0"/>
                <a:ea typeface="Courier New" pitchFamily="34" charset="-122"/>
                <a:cs typeface="Courier New" pitchFamily="34" charset="-120"/>
              </a:rPr>
              <a:t>02</a:t>
            </a:r>
            <a:endParaRPr lang="en-US" sz="2000" dirty="0"/>
          </a:p>
        </p:txBody>
      </p:sp>
      <p:sp>
        <p:nvSpPr>
          <p:cNvPr id="7" name="Text 5"/>
          <p:cNvSpPr txBox="1"/>
          <p:nvPr/>
        </p:nvSpPr>
        <p:spPr>
          <a:xfrm>
            <a:off x="1325880" y="2529840"/>
            <a:ext cx="6675120" cy="60960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File.WriteAllText replaces, AppendAllText adds, ReadAllText / ReadAllLines load (arrays!).</a:t>
            </a:r>
            <a:endParaRPr lang="en-US" sz="1500" dirty="0"/>
          </a:p>
        </p:txBody>
      </p:sp>
      <p:sp>
        <p:nvSpPr>
          <p:cNvPr id="8" name="Text 6"/>
          <p:cNvSpPr txBox="1"/>
          <p:nvPr/>
        </p:nvSpPr>
        <p:spPr>
          <a:xfrm>
            <a:off x="548640" y="3230880"/>
            <a:ext cx="731520" cy="609600"/>
          </a:xfrm>
          <a:prstGeom prst="rect">
            <a:avLst/>
          </a:prstGeom>
          <a:noFill/>
          <a:ln/>
        </p:spPr>
        <p:txBody>
          <a:bodyPr wrap="square" lIns="0" tIns="0" rIns="0" bIns="0" rtlCol="0" anchor="ctr"/>
          <a:lstStyle/>
          <a:p>
            <a:pPr indent="0" marL="0">
              <a:buNone/>
            </a:pPr>
            <a:r>
              <a:rPr lang="en-US" sz="2000" b="1" dirty="0">
                <a:solidFill>
                  <a:srgbClr val="FCA311"/>
                </a:solidFill>
                <a:latin typeface="Courier New" pitchFamily="34" charset="0"/>
                <a:ea typeface="Courier New" pitchFamily="34" charset="-122"/>
                <a:cs typeface="Courier New" pitchFamily="34" charset="-120"/>
              </a:rPr>
              <a:t>03</a:t>
            </a:r>
            <a:endParaRPr lang="en-US" sz="2000" dirty="0"/>
          </a:p>
        </p:txBody>
      </p:sp>
      <p:sp>
        <p:nvSpPr>
          <p:cNvPr id="9" name="Text 7"/>
          <p:cNvSpPr txBox="1"/>
          <p:nvPr/>
        </p:nvSpPr>
        <p:spPr>
          <a:xfrm>
            <a:off x="1325880" y="3230880"/>
            <a:ext cx="6675120" cy="60960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StreamWriter / StreamReader inside using; ReadLine() until null.</a:t>
            </a:r>
            <a:endParaRPr lang="en-US" sz="1500" dirty="0"/>
          </a:p>
        </p:txBody>
      </p:sp>
      <p:sp>
        <p:nvSpPr>
          <p:cNvPr id="10" name="Text 8"/>
          <p:cNvSpPr txBox="1"/>
          <p:nvPr/>
        </p:nvSpPr>
        <p:spPr>
          <a:xfrm>
            <a:off x="548640" y="3931920"/>
            <a:ext cx="731520" cy="609600"/>
          </a:xfrm>
          <a:prstGeom prst="rect">
            <a:avLst/>
          </a:prstGeom>
          <a:noFill/>
          <a:ln/>
        </p:spPr>
        <p:txBody>
          <a:bodyPr wrap="square" lIns="0" tIns="0" rIns="0" bIns="0" rtlCol="0" anchor="ctr"/>
          <a:lstStyle/>
          <a:p>
            <a:pPr indent="0" marL="0">
              <a:buNone/>
            </a:pPr>
            <a:r>
              <a:rPr lang="en-US" sz="2000" b="1" dirty="0">
                <a:solidFill>
                  <a:srgbClr val="FCA311"/>
                </a:solidFill>
                <a:latin typeface="Courier New" pitchFamily="34" charset="0"/>
                <a:ea typeface="Courier New" pitchFamily="34" charset="-122"/>
                <a:cs typeface="Courier New" pitchFamily="34" charset="-120"/>
              </a:rPr>
              <a:t>04</a:t>
            </a:r>
            <a:endParaRPr lang="en-US" sz="2000" dirty="0"/>
          </a:p>
        </p:txBody>
      </p:sp>
      <p:sp>
        <p:nvSpPr>
          <p:cNvPr id="11" name="Text 9"/>
          <p:cNvSpPr txBox="1"/>
          <p:nvPr/>
        </p:nvSpPr>
        <p:spPr>
          <a:xfrm>
            <a:off x="1325880" y="3931920"/>
            <a:ext cx="6675120" cy="60960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CSV: one record per line, Split(','), int.Parse, skip the header.</a:t>
            </a:r>
            <a:endParaRPr lang="en-US" sz="1500" dirty="0"/>
          </a:p>
        </p:txBody>
      </p:sp>
      <p:sp>
        <p:nvSpPr>
          <p:cNvPr id="12" name="Text 10"/>
          <p:cNvSpPr txBox="1"/>
          <p:nvPr/>
        </p:nvSpPr>
        <p:spPr>
          <a:xfrm>
            <a:off x="548640" y="4632960"/>
            <a:ext cx="731520" cy="609600"/>
          </a:xfrm>
          <a:prstGeom prst="rect">
            <a:avLst/>
          </a:prstGeom>
          <a:noFill/>
          <a:ln/>
        </p:spPr>
        <p:txBody>
          <a:bodyPr wrap="square" lIns="0" tIns="0" rIns="0" bIns="0" rtlCol="0" anchor="ctr"/>
          <a:lstStyle/>
          <a:p>
            <a:pPr indent="0" marL="0">
              <a:buNone/>
            </a:pPr>
            <a:r>
              <a:rPr lang="en-US" sz="2000" b="1" dirty="0">
                <a:solidFill>
                  <a:srgbClr val="FCA311"/>
                </a:solidFill>
                <a:latin typeface="Courier New" pitchFamily="34" charset="0"/>
                <a:ea typeface="Courier New" pitchFamily="34" charset="-122"/>
                <a:cs typeface="Courier New" pitchFamily="34" charset="-120"/>
              </a:rPr>
              <a:t>05</a:t>
            </a:r>
            <a:endParaRPr lang="en-US" sz="2000" dirty="0"/>
          </a:p>
        </p:txBody>
      </p:sp>
      <p:sp>
        <p:nvSpPr>
          <p:cNvPr id="13" name="Text 11"/>
          <p:cNvSpPr txBox="1"/>
          <p:nvPr/>
        </p:nvSpPr>
        <p:spPr>
          <a:xfrm>
            <a:off x="1325880" y="4632960"/>
            <a:ext cx="6675120" cy="60960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try / catch: FileNotFoundException, IOException, FormatException — specific first.</a:t>
            </a:r>
            <a:endParaRPr lang="en-US" sz="1500" dirty="0"/>
          </a:p>
        </p:txBody>
      </p:sp>
      <p:sp>
        <p:nvSpPr>
          <p:cNvPr id="14" name="Text 12"/>
          <p:cNvSpPr txBox="1"/>
          <p:nvPr/>
        </p:nvSpPr>
        <p:spPr>
          <a:xfrm>
            <a:off x="548640" y="5334000"/>
            <a:ext cx="731520" cy="609600"/>
          </a:xfrm>
          <a:prstGeom prst="rect">
            <a:avLst/>
          </a:prstGeom>
          <a:noFill/>
          <a:ln/>
        </p:spPr>
        <p:txBody>
          <a:bodyPr wrap="square" lIns="0" tIns="0" rIns="0" bIns="0" rtlCol="0" anchor="ctr"/>
          <a:lstStyle/>
          <a:p>
            <a:pPr indent="0" marL="0">
              <a:buNone/>
            </a:pPr>
            <a:r>
              <a:rPr lang="en-US" sz="2000" b="1" dirty="0">
                <a:solidFill>
                  <a:srgbClr val="FCA311"/>
                </a:solidFill>
                <a:latin typeface="Courier New" pitchFamily="34" charset="0"/>
                <a:ea typeface="Courier New" pitchFamily="34" charset="-122"/>
                <a:cs typeface="Courier New" pitchFamily="34" charset="-120"/>
              </a:rPr>
              <a:t>06</a:t>
            </a:r>
            <a:endParaRPr lang="en-US" sz="2000" dirty="0"/>
          </a:p>
        </p:txBody>
      </p:sp>
      <p:sp>
        <p:nvSpPr>
          <p:cNvPr id="15" name="Text 13"/>
          <p:cNvSpPr txBox="1"/>
          <p:nvPr/>
        </p:nvSpPr>
        <p:spPr>
          <a:xfrm>
            <a:off x="1325880" y="5334000"/>
            <a:ext cx="6675120" cy="60960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The Grade Manager joins menus, arrays, methods and files: the whole semester.</a:t>
            </a:r>
            <a:endParaRPr lang="en-US" sz="1500" dirty="0"/>
          </a:p>
        </p:txBody>
      </p:sp>
      <p:sp>
        <p:nvSpPr>
          <p:cNvPr id="16" name="Shape 14"/>
          <p:cNvSpPr/>
          <p:nvPr/>
        </p:nvSpPr>
        <p:spPr>
          <a:xfrm>
            <a:off x="8412480" y="822960"/>
            <a:ext cx="3246120" cy="5120640"/>
          </a:xfrm>
          <a:prstGeom prst="roundRect">
            <a:avLst>
              <a:gd name="adj" fmla="val 3380"/>
            </a:avLst>
          </a:prstGeom>
          <a:solidFill>
            <a:srgbClr val="1E2E52"/>
          </a:solidFill>
          <a:ln w="12700">
            <a:solidFill>
              <a:srgbClr val="1E2E52"/>
            </a:solidFill>
            <a:prstDash val="solid"/>
          </a:ln>
        </p:spPr>
      </p:sp>
      <p:sp>
        <p:nvSpPr>
          <p:cNvPr id="17" name="Text 15"/>
          <p:cNvSpPr txBox="1"/>
          <p:nvPr/>
        </p:nvSpPr>
        <p:spPr>
          <a:xfrm>
            <a:off x="8641080" y="1005840"/>
            <a:ext cx="283464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NEXT WEEK</a:t>
            </a:r>
            <a:endParaRPr lang="en-US" sz="1300" dirty="0"/>
          </a:p>
        </p:txBody>
      </p:sp>
      <p:sp>
        <p:nvSpPr>
          <p:cNvPr id="18" name="Text 16"/>
          <p:cNvSpPr txBox="1"/>
          <p:nvPr/>
        </p:nvSpPr>
        <p:spPr>
          <a:xfrm>
            <a:off x="8641080" y="1371600"/>
            <a:ext cx="2834640" cy="822960"/>
          </a:xfrm>
          <a:prstGeom prst="rect">
            <a:avLst/>
          </a:prstGeom>
          <a:noFill/>
          <a:ln/>
        </p:spPr>
        <p:txBody>
          <a:bodyPr wrap="square" lIns="0" tIns="0" rIns="0" bIns="0" rtlCol="0" anchor="t">
            <a:normAutofit/>
          </a:bodyPr>
          <a:lstStyle/>
          <a:p>
            <a:pPr indent="0" marL="0">
              <a:buNone/>
            </a:pPr>
            <a:r>
              <a:rPr lang="en-US" sz="1800" b="1" dirty="0">
                <a:solidFill>
                  <a:srgbClr val="FFFFFF"/>
                </a:solidFill>
                <a:latin typeface="Cambria" pitchFamily="34" charset="0"/>
                <a:ea typeface="Cambria" pitchFamily="34" charset="-122"/>
                <a:cs typeface="Cambria" pitchFamily="34" charset="-120"/>
              </a:rPr>
              <a:t>Week 15: Final exam review</a:t>
            </a:r>
            <a:endParaRPr lang="en-US" sz="1800" dirty="0"/>
          </a:p>
        </p:txBody>
      </p:sp>
      <p:sp>
        <p:nvSpPr>
          <p:cNvPr id="19" name="Text 17"/>
          <p:cNvSpPr txBox="1"/>
          <p:nvPr/>
        </p:nvSpPr>
        <p:spPr>
          <a:xfrm>
            <a:off x="8915400" y="2560320"/>
            <a:ext cx="2286000" cy="1463040"/>
          </a:xfrm>
          <a:prstGeom prst="rect">
            <a:avLst/>
          </a:prstGeom>
          <a:noFill/>
          <a:ln/>
        </p:spPr>
        <p:txBody>
          <a:bodyPr wrap="square" lIns="0" tIns="0" rIns="0" bIns="0" rtlCol="0" anchor="ctr"/>
          <a:lstStyle/>
          <a:p>
            <a:pPr algn="ctr" indent="0" marL="0">
              <a:buNone/>
            </a:pPr>
            <a:r>
              <a:rPr lang="en-US" sz="6000" b="1" dirty="0">
                <a:solidFill>
                  <a:srgbClr val="FCA311"/>
                </a:solidFill>
                <a:latin typeface="Courier New" pitchFamily="34" charset="0"/>
                <a:ea typeface="Courier New" pitchFamily="34" charset="-122"/>
                <a:cs typeface="Courier New" pitchFamily="34" charset="-120"/>
              </a:rPr>
              <a:t>&gt;_</a:t>
            </a:r>
            <a:endParaRPr lang="en-US" sz="6000" dirty="0"/>
          </a:p>
        </p:txBody>
      </p:sp>
      <p:sp>
        <p:nvSpPr>
          <p:cNvPr id="20" name="Text 18"/>
          <p:cNvSpPr txBox="1"/>
          <p:nvPr/>
        </p:nvSpPr>
        <p:spPr>
          <a:xfrm>
            <a:off x="8641080" y="4846320"/>
            <a:ext cx="2834640" cy="731520"/>
          </a:xfrm>
          <a:prstGeom prst="rect">
            <a:avLst/>
          </a:prstGeom>
          <a:noFill/>
          <a:ln/>
        </p:spPr>
        <p:txBody>
          <a:bodyPr wrap="square" lIns="0" tIns="0" rIns="0" bIns="0" rtlCol="0" anchor="ctr"/>
          <a:lstStyle/>
          <a:p>
            <a:pPr algn="ctr" indent="0" marL="0">
              <a:buNone/>
            </a:pPr>
            <a:r>
              <a:rPr lang="en-US" sz="1300" dirty="0">
                <a:solidFill>
                  <a:srgbClr val="C7CEDC"/>
                </a:solidFill>
                <a:latin typeface="Calibri" pitchFamily="34" charset="0"/>
                <a:ea typeface="Calibri" pitchFamily="34" charset="-122"/>
                <a:cs typeface="Calibri" pitchFamily="34" charset="-120"/>
              </a:rPr>
              <a:t>MCMP113</a:t>
            </a:r>
            <a:endParaRPr lang="en-US" sz="1300" dirty="0"/>
          </a:p>
          <a:p>
            <a:pPr algn="ctr" indent="0" marL="0">
              <a:buNone/>
            </a:pPr>
            <a:r>
              <a:rPr lang="en-US" sz="1300" dirty="0">
                <a:solidFill>
                  <a:srgbClr val="C7CEDC"/>
                </a:solidFill>
                <a:latin typeface="Calibri" pitchFamily="34" charset="0"/>
                <a:ea typeface="Calibri" pitchFamily="34" charset="-122"/>
                <a:cs typeface="Calibri" pitchFamily="34" charset="-120"/>
              </a:rPr>
              <a:t>Course materials</a:t>
            </a:r>
            <a:endParaRPr lang="en-US" sz="1300" dirty="0"/>
          </a:p>
        </p:txBody>
      </p:sp>
      <p:sp>
        <p:nvSpPr>
          <p:cNvPr id="22" name="Text 19"/>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8A94AB"/>
                </a:solidFill>
                <a:latin typeface="Calibri" pitchFamily="34" charset="0"/>
                <a:ea typeface="Calibri" pitchFamily="34" charset="-122"/>
                <a:cs typeface="Calibri" pitchFamily="34" charset="-120"/>
              </a:rPr>
              <a:t>MCMP113  ·  Week 14</a:t>
            </a:r>
            <a:endParaRPr lang="en-US" sz="1000" dirty="0"/>
          </a:p>
        </p:txBody>
      </p:sp>
      <p:sp>
        <p:nvSpPr>
          <p:cNvPr id="23" name="Text 20"/>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8A94AB"/>
                </a:solidFill>
                <a:latin typeface="Calibri" pitchFamily="34" charset="0"/>
                <a:ea typeface="Calibri" pitchFamily="34" charset="-122"/>
                <a:cs typeface="Calibri" pitchFamily="34" charset="-120"/>
              </a:rPr>
              <a:t>48</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48</Slides>
  <Notes>48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48</vt:i4>
      </vt:variant>
    </vt:vector>
  </HeadingPairs>
  <TitlesOfParts>
    <vt:vector size="5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vector>
  </TitlesOfParts>
  <Company>Istanbul Okan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MCMP113 Week 14 – Basic File Operations · Semester Review</dc:title>
  <dc:subject>PptxGenJS Presentation</dc:subject>
  <dc:creator>MCMP113</dc:creator>
  <cp:lastModifiedBy>MCMP113</cp:lastModifiedBy>
  <cp:revision>1</cp:revision>
  <dcterms:created xsi:type="dcterms:W3CDTF">2026-10-25T13:01:34Z</dcterms:created>
  <dcterms:modified xsi:type="dcterms:W3CDTF">2026-10-25T13:01:34Z</dcterms:modified>
</cp:coreProperties>
</file>