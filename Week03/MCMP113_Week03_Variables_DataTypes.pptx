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 min). Week 3 is the first week in which students write real C#. Ask who managed to install the .NET 10 SDK and VS Code (homework from Week 1). If some did not, pair them with a neighbour for today and fix installations in office hours. Plan for the session: Part 1 (languages &amp; tools, ~25 min), Part 2 (output, names, variables, ~30 min), Part 3 (data types &amp; constants, ~35 min), Part 4 (input &amp; conversion, ~35 min), quizzes and exercises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(2 min). Read them aloud; tell students that every objective maps to one of the example programs in the code folder (03_01 … 03_13). Emphasise objective 4: choosing the right data type is a design decision, not a detail. Objective 6 (Parse) is the source of most beginner crashes.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(3 min). This is the Celsius-to-Fahrenheit flowchart from Week 2 (and exercise F of Week 1). Walk through the mapping: terminal → start/end of the program, parallelogram (input) → Console.ReadLine + Parse, rectangle (process) → assignment, parallelogram (output) → Console.WriteLine. Ask: "Where does the variable celsius come from?" (it is created on line 2). Today we learn every piece of this program in detail; example 03_05 is the tested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(about 25 min). Goal: students understand what happens between typing Program.cs and seeing output, so compiler errors and "dotnet run"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LEVELS (4 min). All three boxes do the same job: put the number 7 into a storage place. Machine code: the x86 instruction B8 07 00 00 00 (hex) = 10111000 00000111 00000000 00000000 00000000 (binary) loads 7 into register EAX. Assembly writes the same instruction with a mnemonic (mov) and is translated by an ASSEMBLER. High-level languages (C#, Python, Java, C) are portable and readable; a COMPILER or INTERPRETER translates them. Likely question: "Does anyone still write assembly?" Yes: device drivers, embedded systems, performance-critical parts, reverse engineering; relevant for our ECT students working with microcontrollers.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TRANSLATION (4 min). A COMPILER translates the whole program before it runs; an INTERPRETER translates and executes while running. Real systems mix both: CPython first compiles to bytecode and then interprets it; modern JavaScript engines use JIT compilers. C# and Java use the middle road: compile once to an intermediate language (C#: IL / CIL; Java: bytecode), then a JIT compiler in the runtime turns it into machine code while the program runs. Question to ask: "Why not always compile to machine code?" Answer: one .dll can run on Windows, Linux and macOS, x64 or ARM, because the JIT on each machine does the last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(4 min). Trace the arrows: the C# compiler (called Roslyn) checks your code — all the CSxxxx errors you will meet come from this step — and writes IL into Hello.dll. When you run, the CLR (Common Language Runtime) loads the dll and its JIT compiler turns IL into native code for your CPU (x64 or ARM64). SDK vs runtime: the SDK (Software Development Kit) contains the runtime PLUS the compiler, the dotnet command and templates. Developers install the SDK; someone who only runs your app needs only the runtime. We use .NET 10 (LTS, released November 2025), C#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(5 min). Do this live in VS Code's terminal (Terminal ▸ New Terminal). Real output of these commands with the .NET 10 SDK is shown; the version number on students' machines may be a different 10.0.x — that is fine. dotnet new console creates the folder, Program.cs and Hello.csproj and restores the project. dotnet run = build + run. In VS Code with the C# Dev Kit: open the FOLDER (not just the file), then Run ▸ Run Without Debugging (Ctrl+F5). Common problem: running dotnet run in the wrong folder → "Couldn't find a project to run". Solution: cd into the project folder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FILES (4 min). Program.cs holds our code. The .csproj file (XML) tells the SDK how to build. bin/ and obj/ are generated by the build; never edit them, and you can delete them safely. Our course template changes two things compared with dotnet new console: (1) Nullable = disable, because with nullable checks ON the line int.Parse(Console.ReadLine()) gives warning CS8604 and string name = Console.ReadLine(); gives CS8600 — correct but confusing in week 3; (2) InvariantGlobalization = true, so that the decimal POINT works (72.5) also on Turkish Windows. How to get it: run dotnet new console -n Name, then edit these two lines (or copy our template file from the course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(4 min). Since C# 9 (.NET 5; default template since .NET 6) a program may consist of top-level statements: the compiler generates the class and the Main method for you. Older books, exam papers from other universities and many online answers still show the classic form, so students must recognise it. Example 03_02 is the classic version and it runs exactly like the top-level version. Rule for MCMP113: we write top-level statements. Important: in the classic form, Main is the ENTRY POINT — execution starts at its first statement. Question: "Can we have both?" No: a project may have only one entry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SYNTAX (4 min). Four rules students break most often in the first lab. (1) Each simple statement ends with a semicolon — missing one gives CS1002 "; expected". (2) C# is case-sensitive: console is not Console (CS0103 "The name 'console' does not exist in the current context"), age and Age are two different names. (3) Comments are for humans; the compiler ignores them. Use // for one line, /* */ for several lines. VS Code: Ctrl+K Ctrl+C comments out a selection. (4) Spaces, tabs and line breaks between tokens are ignored, but consistent 4-space indentation makes code readable (Shift+Alt+F formats the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(about 30 min). Output first, because students need Console.WriteLine to see what their variables contain.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(5 min). Write leaves the cursor at the end of the text; WriteLine adds a line break AFTER the text. That is why prompts use Write: the user types on the same line. Escape sequences start with a backslash inside a normal string. A verbatim string @"..." treats the backslash as a normal character — handy for Windows paths. Pitfall: "C:\Temp\new" written with single backslashes gives error CS1009 "Unrecognized escape sequence" (\T is not an escape) — and \n would silently become a new line. Answer to the question in the box: ABC on line 1, D on line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(4 min). Run it live. Point out: (a) the program pauses at ReadLine until Enter is pressed; the typed text (amber) is not part of the program output; (b) \t moves to the next tab stop (every 8 columns in a console), so the values line up; (c) lines 14 and 16 print the same path, once with escapes and once verbatim. Turkish letters (ş, ı) work in the Windows Terminal; if a student sees ? marks, add Console.OutputEncoding = System.Text.Encoding.UTF8; as the first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IDENTIFIERS (5 min). RULES are enforced by the compiler: letters, digits and _; must not start with a digit; no spaces or symbols such as - or %; must not be a reserved keyword (int, class, if, for, while, string, const, new …). Turkish letters are legal (öğrenciAdı compiles) but we use English names so that code is readable internationally and to avoid keyboard problems. CONVENTIONS are agreements between programmers (Microsoft C# coding conventions): camelCase for local variables, PascalCase for constants, methods and types. Quiz the class on the table before revealing the column "Why"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VARIABLES (6 min). A variable has a NAME, a TYPE (what kind of value fits in the box, and how big the box is) and a VALUE. Declaration creates the box; initialisation gives the first value; assignment replaces the value — the old value is gone. Read line 4 as "take the value of age, add 1, store the result back into age" (pseudocode: age ← age + 1). It is not an equation — mathematically age = age + 1 has no solution. Trace table answer: age: – / 19 / 19 / 20; year: – / – / 2026 / 2026. Point out the dash: after "int age;" the box exists but has no usable value (see next slide, CS0165).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 CS0165 (5 min). Let students trace the left program alone for 2 minutes. Answer: x = 5, y = 10, x = 8, y = 2; output "x = 8, y = 2". The important idea: statements run top to bottom, one after the other, and each assignment uses the CURRENT values. CS0165: C# refuses to compile a program that reads a local variable before it has definitely been given a value. Other languages (C) would silently use garbage; C# protects you. CS0128: declaring the same name twice in the same scope is also an error — to change a value, assign it (x = 6;), do not write int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SWAP (5 min). First ask the class to swap the values with only two statements: most will write a = b; b = a; — trace it: after a = b both are 9, the original 5 is lost, so the result is a = 9, b = 9. The fix is a temporary variable, exactly like swapping the drinks in two glasses using a third, empty glass. Advanced note (not required): modern C# can also write (a, b) = (b, a); using tuples — we use the temp version because it shows what really happens in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(about 35 min). Key message: the type decides which values fit, how much memory is used and which operations are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TABLE (7 min). All sizes and ranges were printed by our example 03_10 (TypeLimits) — they are exact, not from memory. Defaults to remember: a whole-number literal like 42 is an int; a literal with a point like 4.2 is a double. Other types need a suffix: L (long), f (float), m (decimal). short and byte have no suffix; the constant is checked: byte b = 200; compiles, byte b = 256; gives CS0031. Digit separators: 1_000_000 is the same as 1000000. string is different from the others: it is a reference type whose size depends on the text (2 bytes per character plus some overhead). char holds one UTF-16 code unit, e.g. 'A' (single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(5 min). double and float store numbers in BINARY; most decimal fractions such as 0.1 cannot be stored exactly in binary (like 1/3 in decimal), so tiny errors appear: 0.1 + 0.2 = 0.30000000000000004. float prints 0.3 only because it shows fewer digits — it is still inexact. decimal stores numbers in base 10, so 0.1 + 0.2 is exactly 0.3; that is why money uses decimal. The 1/3 lines show the number of digits each type keeps: float ~7, double ~16, decimal 28. decimal is slower and has a smaller range than double; for physics and engineering we use double. All outputs verified with .NET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TYPES (5 min). Cover the answers and ask the class first. Discussion points: T.C. Kimlik No and phone numbers are string: we never do arithmetic with them, a phone number can start with 0 (0212 …) and may contain + or spaces. An 11-digit T.C. number would not even fit in int (max 2 147 483 647); long would work but is the wrong idea. Age: int is the normal choice even though byte would be enough — int is the default integer type and avoids conversions. Temperature: double (36.6). Student count: int. World population (≈ 8.2 billion): too big for int →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LIMITS + VAR (5 min). Run example 03_10: sizeof gives the size in bytes, MinValue and MaxValue the range. The output is the source of the table two slides ago. var: the compiler infers the type from the value on the right; the variable is still strongly typed (var a = 42; a = "hi"; is an error). var x; without a value → CS0818 "Implicitly-typed variables must be initialized". GetType().Name shows .NET names: Int32 = int, Int64 = long, Double = double, Single = float, Decimal = decimal. Course rule: write the type explicitly while learning; var is fine when the type is obvious from the right-hand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CONSTANTS (5 min). const makes the compiler protect the value: Pi = 3.0; later in the program gives CS0131. A constant must be given its value in the declaration. Why constants: (1) no "magic numbers" — 0.20m means nothing, VatRate explains itself; (2) change it in one place; (3) no accidental changes. Naming: PascalCase (Microsoft convention). Math.PI is a constant provided by .NET: 3.141592653589793. Note the difference in the 4th decimal: our 3.14159 gives 19.6349, Math.PI gives 19.6350 — use Math.PI in real programs. Check: A = π·2.5² = 19.63495…; C = 2π·2.5 = 15.70796… → 15.7080 (3.14159 gives 15.70795 → 15.7080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RECEIPT (6 min). IPO: input = product name, net unit price, quantity; process = subtotal, VAT 20 %, total; output = aligned receipt. Check the numbers by hand: 24.90 × 3 = 74.70; 74.70 × 0.20 = 14.94; 74.70 + 14.94 = 89.64. Alignment: {subtotal,10:F2} = right-aligned in 10 characters with 2 decimals; {"TOTAL",-18} = left-aligned in 18 characters. Mention: in Turkish shops prices usually INCLUDE KDV; here the price is net, so we add KDV. Why not {total:C}? With invariant culture the currency sign is the generic ¤ (¤89.64), so we print F2 + " 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(about 35 min). Most runtime crashes of beginners happen here: forgetting Parse, typing a comma, typing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READLINE (5 min). Whatever the user types — even 19 — arrives as TEXT (string). To calculate, we must convert: int.Parse("19") → 19. Writing int age = Console.ReadLine(); does not compile: CS0029 "Cannot implicitly convert type 'string' to 'int'". Line 5 of the console shows the classic surprise: "19" + 1 is "191" because + with a string JOINS text (concatenation); age + 1 with an int is 20. The other lines are verified with input 19, 1.75, 30,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CONVERSION METHODS (6 min). int.Parse and Convert.ToInt32(string) do the same job for normal input. Differences: Convert.ToInt32(null) returns 0 while int.Parse(null) throws ArgumentNullException. Both crash with FormatException for text that is not a number ("abc", "" or "3.5" for an int) and with OverflowException for numbers too large for int (e.g. 99999999999). Leading/trailing spaces are accepted (" 42 " → 42). TryParse never crashes: it returns true/false and puts the number into an out variable (0 on failure). Full use with if in Week 5; example 03_12 already shows it (input "seven" → Success: False, value: 0). The crash output is abridged: the real stack trace also lists internal .NET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CULTURE (6 min). In Turkey the decimal separator is a comma (72,5) and the thousands separator is a point (1.234.567). Parse uses the computer's CULTURE by default. Verified with .NET 10: under tr-TR, double.Parse("72.5") returns 725 — the point is taken as a thousands separator — WITHOUT any error. That is worse than a crash. Our template sets InvariantGlobalization=true, so every PC behaves like the "invariant" culture: point = decimal separator, comma = thousands separator. Then "72,5" becomes 725 (BMI 228.8, real run). Tell students clearly: in this course, ALWAYS type a decimal POINT. Alternative without the template: double.Parse(text, CultureInfo.InvariantCulture) with using System.Globalization;.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BMI (5 min). Formula: BMI = weight / height², weight in kg and height in m. Check by hand: 1.78² = 3.1684; 72.5 / 3.1684 = 22.88… → printed with F1 as 22.9. The parentheses are essential: weight / height * height would divide and then multiply again, giving back 72.5. Categories (underweight / normal / overweight) need decisions — that is Week 5. Ask: "Which data type for weight and height and why?" (double: measurements with decimals).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 F (5 min). F = C × 9/5 + 32. Test values chosen like in Week 1: normal (36.6 → 97.88 → 97.9), boundary / known (100 → 212, 0 → 32) and the special point −40 where both scales agree. THE TRAP: 9 / 5 with two int literals is INTEGER division = 1 (the fraction is discarded; details in Week 4). So 9 / 5 * celsius + 32 gives celsius + 32: for 20 °C it prints 52 instead of 68 (verified). Our code avoids it because the evaluation goes left to right: celsius * 9 is already a double. Safest style: write 9.0 /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CONVERSIONS (6 min). Implicit (automatic) conversions go to a type that can hold every value of the old type — "widening", along the arrows. Caution: int → float and long → float/double are implicit but can lose precision for very large numbers (int 123456789 → float 123456792, verified). Explicit conversions need a cast (type) because information may be lost: (int)3.99 = 3 — the cast TRUNCATES toward zero, so (int)-3.99 = -3. Convert.ToInt32(3.99) ROUNDS to 4; at exactly .5 it rounds to the even neighbour (Convert.ToInt32(2.5) = 2, 3.5 = 4) — banker's rounding, more in Week 4. (byte)300 = 44 because only the lowest 8 bits are kept: 300 − 256 = 44. All console lines are real output of 03_11.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OVERFLOW (5 min). An int has 32 bits. Adding past 2 147 483 647 wraps around to the negative side like a car odometer going from 999999 to 000000. By default C# does NOT report this at run time. Check: 2 000 000 000 + 500 000 000 = 2 500 000 000; minus 2³² (4 294 967 296) = −1 794 967 296 — exactly the printed value. Three options: (1) use a bigger type (long), (2) wrap the expression in checked(...) so an OverflowException stops the program instead of printing garbage, (3) validate input. With constants the compiler catches it already: int big = int.MaxValue + 1; → CS0220 "The operation overflows at compile time in checked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FORMATTING (5 min). $"..." with {expression} inserts values; after a colon comes a format specifier, after a comma the width. Every result in the table was printed by .NET 10 with our invariant template. F2 = fixed-point with 2 decimals (rounded for display only — the variable keeps all its digits). N = with thousands separators. D2 (integers only) pads with zeros: clocks, dates. Positive width right-aligns, negative width left-aligns — used for tables such as the receipt. C (currency) uses the culture: invariant prints the generic sign ¤, a Turkish PC would print ₺1.234,50. That is why we write {price:F2} TL. Avoid showing midpoint rounding (2.5:F0) now — Week 4 covers rounding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H:M:S (5 min). A preview of Week 4: with two ints, / gives the whole quotient and % gives the remainder. Trace for 3725: hours = 3725 / 3600 = 1; 3725 % 3600 = 125; 125 / 60 = 2 minutes; 3725 % 60 = 5 seconds → 01:02:05. For 86399 (one second before midnight): 23:59:59. Why does minutes use % 3600 first? To remove the whole hours before counting minutes. Precedence: % and / have the same level and are evaluated left to right. D2 pads with zeros so that 1 prints as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COMPILER ERRORS (5 min). These are the real messages of the .NET 10 compiler. Teach students to READ the message: it gives the file, line and column, e.g. Program.cs(3,17). The first error is the important one; later ones are often consequences. A missing semicolon can produce several confusing errors in the following lines. Remind: VS Code underlines these errors in red before you even build — hover over the red line to see the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BUGS (4 min). These are worse than compiler errors because nothing warns you. Only testing with known answers (Week 1: test cases!) reveals them. All four were verified with real runs: "Total: " + 2 + 3 prints Total: 23 (left to right: string + 2 = "Total: 2", then + 3). 9/5 = 1. "72,5" → 725 with our template. int.MaxValue + 1 at run time → −2147483648. Also mention = vs ==: = assigns, == compares (Week 4/5). if (n = 5) does not compile in C# (CS0029: int to bool) — C# protects us here, unlike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1 (4 min). Students write their six answers on paper before you reveal the next slide. Walk around; typical wrong answers: "10 10" for line 4, "2.5" for 5 / 2, "7" for "5" + 2 and "6" or "33" confusion for 1 + 2 + "3". Answers are on the next slide; all verified by running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(4 min). (1) b got a COPY of 7; changing a later does not change b. (2) int / int = int, the fraction is dropped. (3) one double operand → double division. (4) string + int → the int is converted to text and joined. (5) evaluated left to right: 1 + 2 = 3 (numbers), then 3 + "3" = "33". (6) cast truncates →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2 (5 min). The program should read a price and print the total for 2.5 kg including 20 % VAT. There are seven compiler errors on six lines. Interesting fact (verified): the compiler FIRST reports only CS1002 for line 1 — a syntax error stops the checking of types and names. After adding the ; and rebuilding, six more errors appear. Let pairs discuss, then reveal. Answers: line 1 missing ;  line 2 ReadLine returns string; line 3 needs 0.20m; line 4 2.5 does not fit int; line 5 vat vs Vat; line 6 console and total (two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(4 min). Show that the corrected program also needs decimal for quantity (2.5 kg is not whole). The first build reports only CS1002 (syntax errors hide the rest). Errors reported after line 1 is fixed: CS0029, CS0664, CS0266, CS0103 (vat), CS0103 (console), CS0103 (total). Fixed program verified: for input 100 it prints 300.00 (100 × 2.5 × 1.20 = 300). Naming: local variables in camelCase (total), constants PascalCase (Vat).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EXERCISES (25 min). Groups of 2. Everyone must create a separate project for each exercise (dotnet new console -n AgeCalc, then apply our two template lines). Expected results for checking: E2 born 2007 → 19 in 2026 (roughly: no birthday check); E3 42.195 km → 26.219 mi (42.195 / 1.609344 = 26.2188…); E4 grades 60, 70, 85 → 71.67; E5 1 h 23 min 20 s → 5000 s. Solutions are in the instructor edition of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(2 min). Submission: each program as a zipped project folder WITHOUT bin/ and obj/, plus a screenshot of one run, through the channel announced in class. Expected results: H1 r = 3, h = 10 → V = 282.74 cm³ (π·9·10 = 282.743…); H2 1000 TL at a rate of 37.50 TL per euro → 26.67 EUR (1000 / 37.50 = 26.666…); H3 100000 min → 69 days 10 h 40 min; H4: s + 1 is computed as int (32768), the cast back to short wraps it to -32768 (verified). Rates are examples, not live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 Recap the six takeaways. Preview Week 4: we will study / and % properly, operator precedence, Math functions, comparisons and logical operators. Remind students to finish the homework and to post installation problems in the course group before the next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3</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Programming Languages, Variables, Data Types and Constants</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From algorithm to a running C# program: storing, typing, reading and printing data</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--version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10.0.112</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cd Hello</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run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Hello, World!</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int age = 19;</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LEARNING OBJECTIVES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By the End of This Week You Can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00200"/>
            <a:ext cx="361188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2880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1976201"/>
            <a:ext cx="272125" cy="272125"/>
          </a:xfrm>
          <a:prstGeom prst="rect">
            <a:avLst/>
          </a:prstGeom>
        </p:spPr>
      </p:pic>
      <p:sp>
        <p:nvSpPr>
          <p:cNvPr id="10" name="Text 6"/>
          <p:cNvSpPr txBox="1"/>
          <p:nvPr/>
        </p:nvSpPr>
        <p:spPr>
          <a:xfrm>
            <a:off x="1463040" y="182880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Explain</a:t>
            </a:r>
            <a:endParaRPr lang="en-US" sz="1700" dirty="0"/>
          </a:p>
        </p:txBody>
      </p:sp>
      <p:sp>
        <p:nvSpPr>
          <p:cNvPr id="11" name="Text 7"/>
          <p:cNvSpPr txBox="1"/>
          <p:nvPr/>
        </p:nvSpPr>
        <p:spPr>
          <a:xfrm>
            <a:off x="777240" y="2514600"/>
            <a:ext cx="31546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machine, assembly and high-level languages; how C# is compiled to IL and JIT-compiled by .NET.</a:t>
            </a:r>
            <a:endParaRPr lang="en-US" sz="1400" dirty="0"/>
          </a:p>
        </p:txBody>
      </p:sp>
      <p:sp>
        <p:nvSpPr>
          <p:cNvPr id="12" name="Shape 8"/>
          <p:cNvSpPr/>
          <p:nvPr/>
        </p:nvSpPr>
        <p:spPr>
          <a:xfrm>
            <a:off x="4297680" y="1600200"/>
            <a:ext cx="3611880" cy="210312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4526280" y="182880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4673681" y="1976201"/>
            <a:ext cx="272125" cy="272125"/>
          </a:xfrm>
          <a:prstGeom prst="rect">
            <a:avLst/>
          </a:prstGeom>
        </p:spPr>
      </p:pic>
      <p:sp>
        <p:nvSpPr>
          <p:cNvPr id="15" name="Text 10"/>
          <p:cNvSpPr txBox="1"/>
          <p:nvPr/>
        </p:nvSpPr>
        <p:spPr>
          <a:xfrm>
            <a:off x="5212080" y="182880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Create &amp; run</a:t>
            </a:r>
            <a:endParaRPr lang="en-US" sz="1700" dirty="0"/>
          </a:p>
        </p:txBody>
      </p:sp>
      <p:sp>
        <p:nvSpPr>
          <p:cNvPr id="16" name="Text 11"/>
          <p:cNvSpPr txBox="1"/>
          <p:nvPr/>
        </p:nvSpPr>
        <p:spPr>
          <a:xfrm>
            <a:off x="4526280" y="2514600"/>
            <a:ext cx="31546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 console project with dotnet new / dotnet run and understand Program.cs and the .csproj file.</a:t>
            </a:r>
            <a:endParaRPr lang="en-US" sz="1400" dirty="0"/>
          </a:p>
        </p:txBody>
      </p:sp>
      <p:sp>
        <p:nvSpPr>
          <p:cNvPr id="17" name="Shape 12"/>
          <p:cNvSpPr/>
          <p:nvPr/>
        </p:nvSpPr>
        <p:spPr>
          <a:xfrm>
            <a:off x="8046720" y="1600200"/>
            <a:ext cx="3611880" cy="210312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8275320" y="18288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8422721" y="1976201"/>
            <a:ext cx="272125" cy="272125"/>
          </a:xfrm>
          <a:prstGeom prst="rect">
            <a:avLst/>
          </a:prstGeom>
        </p:spPr>
      </p:pic>
      <p:sp>
        <p:nvSpPr>
          <p:cNvPr id="20" name="Text 14"/>
          <p:cNvSpPr txBox="1"/>
          <p:nvPr/>
        </p:nvSpPr>
        <p:spPr>
          <a:xfrm>
            <a:off x="8961120" y="182880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Print</a:t>
            </a:r>
            <a:endParaRPr lang="en-US" sz="1700" dirty="0"/>
          </a:p>
        </p:txBody>
      </p:sp>
      <p:sp>
        <p:nvSpPr>
          <p:cNvPr id="21" name="Text 15"/>
          <p:cNvSpPr txBox="1"/>
          <p:nvPr/>
        </p:nvSpPr>
        <p:spPr>
          <a:xfrm>
            <a:off x="8275320" y="2514600"/>
            <a:ext cx="31546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text with Write / WriteLine, escape sequences, interpolation $"…" and format specifiers.</a:t>
            </a:r>
            <a:endParaRPr lang="en-US" sz="1400" dirty="0"/>
          </a:p>
        </p:txBody>
      </p:sp>
      <p:sp>
        <p:nvSpPr>
          <p:cNvPr id="22" name="Shape 16"/>
          <p:cNvSpPr/>
          <p:nvPr/>
        </p:nvSpPr>
        <p:spPr>
          <a:xfrm>
            <a:off x="548640" y="3840480"/>
            <a:ext cx="3611880" cy="210312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777240" y="406908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924641" y="4216481"/>
            <a:ext cx="272125" cy="272125"/>
          </a:xfrm>
          <a:prstGeom prst="rect">
            <a:avLst/>
          </a:prstGeom>
        </p:spPr>
      </p:pic>
      <p:sp>
        <p:nvSpPr>
          <p:cNvPr id="25" name="Text 18"/>
          <p:cNvSpPr txBox="1"/>
          <p:nvPr/>
        </p:nvSpPr>
        <p:spPr>
          <a:xfrm>
            <a:off x="1463040" y="406908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Declare</a:t>
            </a:r>
            <a:endParaRPr lang="en-US" sz="1700" dirty="0"/>
          </a:p>
        </p:txBody>
      </p:sp>
      <p:sp>
        <p:nvSpPr>
          <p:cNvPr id="26" name="Text 19"/>
          <p:cNvSpPr txBox="1"/>
          <p:nvPr/>
        </p:nvSpPr>
        <p:spPr>
          <a:xfrm>
            <a:off x="777240" y="4754880"/>
            <a:ext cx="31546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variables with legal, meaningful names; initialise and assign them; trace their values.</a:t>
            </a:r>
            <a:endParaRPr lang="en-US" sz="1400" dirty="0"/>
          </a:p>
        </p:txBody>
      </p:sp>
      <p:sp>
        <p:nvSpPr>
          <p:cNvPr id="27" name="Shape 20"/>
          <p:cNvSpPr/>
          <p:nvPr/>
        </p:nvSpPr>
        <p:spPr>
          <a:xfrm>
            <a:off x="4297680" y="3840480"/>
            <a:ext cx="3611880" cy="2103120"/>
          </a:xfrm>
          <a:prstGeom prst="roundRect">
            <a:avLst>
              <a:gd name="adj" fmla="val 5217"/>
            </a:avLst>
          </a:prstGeom>
          <a:solidFill>
            <a:srgbClr val="EEF1F6"/>
          </a:solidFill>
          <a:ln w="12700">
            <a:solidFill>
              <a:srgbClr val="EEF1F6"/>
            </a:solidFill>
            <a:prstDash val="solid"/>
          </a:ln>
        </p:spPr>
      </p:sp>
      <p:sp>
        <p:nvSpPr>
          <p:cNvPr id="28" name="Shape 21"/>
          <p:cNvSpPr/>
          <p:nvPr/>
        </p:nvSpPr>
        <p:spPr>
          <a:xfrm>
            <a:off x="4526280" y="4069080"/>
            <a:ext cx="566928" cy="566928"/>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4673681" y="4216481"/>
            <a:ext cx="272125" cy="272125"/>
          </a:xfrm>
          <a:prstGeom prst="rect">
            <a:avLst/>
          </a:prstGeom>
        </p:spPr>
      </p:pic>
      <p:sp>
        <p:nvSpPr>
          <p:cNvPr id="30" name="Text 22"/>
          <p:cNvSpPr txBox="1"/>
          <p:nvPr/>
        </p:nvSpPr>
        <p:spPr>
          <a:xfrm>
            <a:off x="5212080" y="406908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Choose</a:t>
            </a:r>
            <a:endParaRPr lang="en-US" sz="1700" dirty="0"/>
          </a:p>
        </p:txBody>
      </p:sp>
      <p:sp>
        <p:nvSpPr>
          <p:cNvPr id="31" name="Text 23"/>
          <p:cNvSpPr txBox="1"/>
          <p:nvPr/>
        </p:nvSpPr>
        <p:spPr>
          <a:xfrm>
            <a:off x="4526280" y="4754880"/>
            <a:ext cx="31546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the right type: int, long, double, decimal, char, string, bool …; use const for fixed values.</a:t>
            </a:r>
            <a:endParaRPr lang="en-US" sz="1400" dirty="0"/>
          </a:p>
        </p:txBody>
      </p:sp>
      <p:sp>
        <p:nvSpPr>
          <p:cNvPr id="32" name="Shape 24"/>
          <p:cNvSpPr/>
          <p:nvPr/>
        </p:nvSpPr>
        <p:spPr>
          <a:xfrm>
            <a:off x="8046720" y="3840480"/>
            <a:ext cx="3611880" cy="2103120"/>
          </a:xfrm>
          <a:prstGeom prst="roundRect">
            <a:avLst>
              <a:gd name="adj" fmla="val 5217"/>
            </a:avLst>
          </a:prstGeom>
          <a:solidFill>
            <a:srgbClr val="EEF1F6"/>
          </a:solidFill>
          <a:ln w="12700">
            <a:solidFill>
              <a:srgbClr val="EEF1F6"/>
            </a:solidFill>
            <a:prstDash val="solid"/>
          </a:ln>
        </p:spPr>
      </p:sp>
      <p:sp>
        <p:nvSpPr>
          <p:cNvPr id="33" name="Shape 25"/>
          <p:cNvSpPr/>
          <p:nvPr/>
        </p:nvSpPr>
        <p:spPr>
          <a:xfrm>
            <a:off x="8275320" y="4069080"/>
            <a:ext cx="566928" cy="566928"/>
          </a:xfrm>
          <a:prstGeom prst="ellipse">
            <a:avLst/>
          </a:prstGeom>
          <a:solidFill>
            <a:srgbClr val="14213D"/>
          </a:solidFill>
          <a:ln w="12700">
            <a:solidFill>
              <a:srgbClr val="14213D"/>
            </a:solidFill>
            <a:prstDash val="solid"/>
          </a:ln>
        </p:spPr>
      </p:sp>
      <p:pic>
        <p:nvPicPr>
          <p:cNvPr id="34" name="Image 5" descr="preencoded.png">    </p:cNvPr>
          <p:cNvPicPr>
            <a:picLocks noChangeAspect="1"/>
          </p:cNvPicPr>
          <p:nvPr/>
        </p:nvPicPr>
        <p:blipFill>
          <a:blip r:embed="rId6"/>
          <a:stretch>
            <a:fillRect/>
          </a:stretch>
        </p:blipFill>
        <p:spPr>
          <a:xfrm>
            <a:off x="8422721" y="4216481"/>
            <a:ext cx="272125" cy="272125"/>
          </a:xfrm>
          <a:prstGeom prst="rect">
            <a:avLst/>
          </a:prstGeom>
        </p:spPr>
      </p:pic>
      <p:sp>
        <p:nvSpPr>
          <p:cNvPr id="35" name="Text 26"/>
          <p:cNvSpPr txBox="1"/>
          <p:nvPr/>
        </p:nvSpPr>
        <p:spPr>
          <a:xfrm>
            <a:off x="8961120" y="406908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Convert</a:t>
            </a:r>
            <a:endParaRPr lang="en-US" sz="1700" dirty="0"/>
          </a:p>
        </p:txBody>
      </p:sp>
      <p:sp>
        <p:nvSpPr>
          <p:cNvPr id="36" name="Text 27"/>
          <p:cNvSpPr txBox="1"/>
          <p:nvPr/>
        </p:nvSpPr>
        <p:spPr>
          <a:xfrm>
            <a:off x="8275320" y="4754880"/>
            <a:ext cx="31546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input text with int.Parse / double.Parse, use casts, and recognise overflow and truncation.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 · WEEK 2 → WEEK 3</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From Flowchart to Code: Every Box Becomes a Statement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1417320" y="1645920"/>
            <a:ext cx="1554480" cy="457200"/>
          </a:xfrm>
          <a:prstGeom prst="flowChartTerminator">
            <a:avLst/>
          </a:prstGeom>
          <a:solidFill>
            <a:srgbClr val="FFF1D6"/>
          </a:solidFill>
          <a:ln w="15875">
            <a:solidFill>
              <a:srgbClr val="14213D"/>
            </a:solidFill>
            <a:prstDash val="solid"/>
          </a:ln>
        </p:spPr>
      </p:sp>
      <p:sp>
        <p:nvSpPr>
          <p:cNvPr id="8" name="Text 5"/>
          <p:cNvSpPr txBox="1"/>
          <p:nvPr/>
        </p:nvSpPr>
        <p:spPr>
          <a:xfrm>
            <a:off x="1463040" y="1645920"/>
            <a:ext cx="1463040"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Start</a:t>
            </a:r>
            <a:endParaRPr lang="en-US" sz="1200" dirty="0"/>
          </a:p>
        </p:txBody>
      </p:sp>
      <p:sp>
        <p:nvSpPr>
          <p:cNvPr id="9" name="Shape 6"/>
          <p:cNvSpPr/>
          <p:nvPr/>
        </p:nvSpPr>
        <p:spPr>
          <a:xfrm>
            <a:off x="1005840" y="2423160"/>
            <a:ext cx="2377440" cy="548640"/>
          </a:xfrm>
          <a:prstGeom prst="flowChartInputOutput">
            <a:avLst/>
          </a:prstGeom>
          <a:solidFill>
            <a:srgbClr val="FFFFFF"/>
          </a:solidFill>
          <a:ln w="15875">
            <a:solidFill>
              <a:srgbClr val="14213D"/>
            </a:solidFill>
            <a:prstDash val="solid"/>
          </a:ln>
        </p:spPr>
      </p:sp>
      <p:sp>
        <p:nvSpPr>
          <p:cNvPr id="10" name="Text 7"/>
          <p:cNvSpPr txBox="1"/>
          <p:nvPr/>
        </p:nvSpPr>
        <p:spPr>
          <a:xfrm>
            <a:off x="1051560" y="2423160"/>
            <a:ext cx="2286000" cy="54864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Read C</a:t>
            </a:r>
            <a:endParaRPr lang="en-US" sz="1200" dirty="0"/>
          </a:p>
        </p:txBody>
      </p:sp>
      <p:sp>
        <p:nvSpPr>
          <p:cNvPr id="11" name="Shape 8"/>
          <p:cNvSpPr/>
          <p:nvPr/>
        </p:nvSpPr>
        <p:spPr>
          <a:xfrm>
            <a:off x="868680" y="3314700"/>
            <a:ext cx="2651760" cy="594360"/>
          </a:xfrm>
          <a:prstGeom prst="flowChartProcess">
            <a:avLst/>
          </a:prstGeom>
          <a:solidFill>
            <a:srgbClr val="FFFFFF"/>
          </a:solidFill>
          <a:ln w="15875">
            <a:solidFill>
              <a:srgbClr val="14213D"/>
            </a:solidFill>
            <a:prstDash val="solid"/>
          </a:ln>
        </p:spPr>
      </p:sp>
      <p:sp>
        <p:nvSpPr>
          <p:cNvPr id="12" name="Text 9"/>
          <p:cNvSpPr txBox="1"/>
          <p:nvPr/>
        </p:nvSpPr>
        <p:spPr>
          <a:xfrm>
            <a:off x="914400" y="3314700"/>
            <a:ext cx="2560320" cy="59436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F ← C × 9 / 5 + 32</a:t>
            </a:r>
            <a:endParaRPr lang="en-US" sz="1200" dirty="0"/>
          </a:p>
        </p:txBody>
      </p:sp>
      <p:sp>
        <p:nvSpPr>
          <p:cNvPr id="13" name="Shape 10"/>
          <p:cNvSpPr/>
          <p:nvPr/>
        </p:nvSpPr>
        <p:spPr>
          <a:xfrm>
            <a:off x="1005840" y="4251960"/>
            <a:ext cx="2377440" cy="548640"/>
          </a:xfrm>
          <a:prstGeom prst="flowChartInputOutput">
            <a:avLst/>
          </a:prstGeom>
          <a:solidFill>
            <a:srgbClr val="FFFFFF"/>
          </a:solidFill>
          <a:ln w="15875">
            <a:solidFill>
              <a:srgbClr val="14213D"/>
            </a:solidFill>
            <a:prstDash val="solid"/>
          </a:ln>
        </p:spPr>
      </p:sp>
      <p:sp>
        <p:nvSpPr>
          <p:cNvPr id="14" name="Text 11"/>
          <p:cNvSpPr txBox="1"/>
          <p:nvPr/>
        </p:nvSpPr>
        <p:spPr>
          <a:xfrm>
            <a:off x="1051560" y="4251960"/>
            <a:ext cx="2286000" cy="54864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F</a:t>
            </a:r>
            <a:endParaRPr lang="en-US" sz="1200" dirty="0"/>
          </a:p>
        </p:txBody>
      </p:sp>
      <p:sp>
        <p:nvSpPr>
          <p:cNvPr id="15" name="Shape 12"/>
          <p:cNvSpPr/>
          <p:nvPr/>
        </p:nvSpPr>
        <p:spPr>
          <a:xfrm>
            <a:off x="1417320" y="5120640"/>
            <a:ext cx="1554480" cy="457200"/>
          </a:xfrm>
          <a:prstGeom prst="flowChartTerminator">
            <a:avLst/>
          </a:prstGeom>
          <a:solidFill>
            <a:srgbClr val="FFF1D6"/>
          </a:solidFill>
          <a:ln w="15875">
            <a:solidFill>
              <a:srgbClr val="14213D"/>
            </a:solidFill>
            <a:prstDash val="solid"/>
          </a:ln>
        </p:spPr>
      </p:sp>
      <p:sp>
        <p:nvSpPr>
          <p:cNvPr id="16" name="Text 13"/>
          <p:cNvSpPr txBox="1"/>
          <p:nvPr/>
        </p:nvSpPr>
        <p:spPr>
          <a:xfrm>
            <a:off x="1463040" y="5120640"/>
            <a:ext cx="1463040"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End</a:t>
            </a:r>
            <a:endParaRPr lang="en-US" sz="1200" dirty="0"/>
          </a:p>
        </p:txBody>
      </p:sp>
      <p:sp>
        <p:nvSpPr>
          <p:cNvPr id="17" name="Shape 14"/>
          <p:cNvSpPr/>
          <p:nvPr/>
        </p:nvSpPr>
        <p:spPr>
          <a:xfrm>
            <a:off x="2194560" y="2103120"/>
            <a:ext cx="0" cy="320040"/>
          </a:xfrm>
          <a:prstGeom prst="line">
            <a:avLst/>
          </a:prstGeom>
          <a:noFill/>
          <a:ln w="15875">
            <a:solidFill>
              <a:srgbClr val="14213D"/>
            </a:solidFill>
            <a:prstDash val="solid"/>
            <a:tailEnd type="triangle"/>
          </a:ln>
        </p:spPr>
      </p:sp>
      <p:sp>
        <p:nvSpPr>
          <p:cNvPr id="18" name="Shape 15"/>
          <p:cNvSpPr/>
          <p:nvPr/>
        </p:nvSpPr>
        <p:spPr>
          <a:xfrm>
            <a:off x="2194560" y="2971800"/>
            <a:ext cx="0" cy="342900"/>
          </a:xfrm>
          <a:prstGeom prst="line">
            <a:avLst/>
          </a:prstGeom>
          <a:noFill/>
          <a:ln w="15875">
            <a:solidFill>
              <a:srgbClr val="14213D"/>
            </a:solidFill>
            <a:prstDash val="solid"/>
            <a:tailEnd type="triangle"/>
          </a:ln>
        </p:spPr>
      </p:sp>
      <p:sp>
        <p:nvSpPr>
          <p:cNvPr id="19" name="Shape 16"/>
          <p:cNvSpPr/>
          <p:nvPr/>
        </p:nvSpPr>
        <p:spPr>
          <a:xfrm>
            <a:off x="2194560" y="3909060"/>
            <a:ext cx="0" cy="342900"/>
          </a:xfrm>
          <a:prstGeom prst="line">
            <a:avLst/>
          </a:prstGeom>
          <a:noFill/>
          <a:ln w="15875">
            <a:solidFill>
              <a:srgbClr val="14213D"/>
            </a:solidFill>
            <a:prstDash val="solid"/>
            <a:tailEnd type="triangle"/>
          </a:ln>
        </p:spPr>
      </p:sp>
      <p:sp>
        <p:nvSpPr>
          <p:cNvPr id="20" name="Shape 17"/>
          <p:cNvSpPr/>
          <p:nvPr/>
        </p:nvSpPr>
        <p:spPr>
          <a:xfrm>
            <a:off x="2194560" y="4800600"/>
            <a:ext cx="0" cy="320040"/>
          </a:xfrm>
          <a:prstGeom prst="line">
            <a:avLst/>
          </a:prstGeom>
          <a:noFill/>
          <a:ln w="15875">
            <a:solidFill>
              <a:srgbClr val="14213D"/>
            </a:solidFill>
            <a:prstDash val="solid"/>
            <a:tailEnd type="triangle"/>
          </a:ln>
        </p:spPr>
      </p:sp>
      <p:sp>
        <p:nvSpPr>
          <p:cNvPr id="21" name="Shape 18"/>
          <p:cNvSpPr/>
          <p:nvPr/>
        </p:nvSpPr>
        <p:spPr>
          <a:xfrm>
            <a:off x="3794760" y="2697480"/>
            <a:ext cx="777240" cy="64008"/>
          </a:xfrm>
          <a:prstGeom prst="line">
            <a:avLst/>
          </a:prstGeom>
          <a:noFill/>
          <a:ln w="15875">
            <a:solidFill>
              <a:srgbClr val="FCA311"/>
            </a:solidFill>
            <a:prstDash val="solid"/>
            <a:tailEnd type="triangle"/>
          </a:ln>
        </p:spPr>
      </p:sp>
      <p:sp>
        <p:nvSpPr>
          <p:cNvPr id="22" name="Shape 19"/>
          <p:cNvSpPr/>
          <p:nvPr/>
        </p:nvSpPr>
        <p:spPr>
          <a:xfrm flipV="1">
            <a:off x="3794760" y="3419856"/>
            <a:ext cx="777240" cy="192024"/>
          </a:xfrm>
          <a:prstGeom prst="line">
            <a:avLst/>
          </a:prstGeom>
          <a:noFill/>
          <a:ln w="15875">
            <a:solidFill>
              <a:srgbClr val="FCA311"/>
            </a:solidFill>
            <a:prstDash val="solid"/>
            <a:tailEnd type="triangle"/>
          </a:ln>
        </p:spPr>
      </p:sp>
      <p:sp>
        <p:nvSpPr>
          <p:cNvPr id="23" name="Shape 20"/>
          <p:cNvSpPr/>
          <p:nvPr/>
        </p:nvSpPr>
        <p:spPr>
          <a:xfrm flipV="1">
            <a:off x="3794760" y="4078224"/>
            <a:ext cx="777240" cy="448056"/>
          </a:xfrm>
          <a:prstGeom prst="line">
            <a:avLst/>
          </a:prstGeom>
          <a:noFill/>
          <a:ln w="15875">
            <a:solidFill>
              <a:srgbClr val="FCA311"/>
            </a:solidFill>
            <a:prstDash val="solid"/>
            <a:tailEnd type="triangle"/>
          </a:ln>
        </p:spPr>
      </p:sp>
      <p:sp>
        <p:nvSpPr>
          <p:cNvPr id="24" name="Shape 21"/>
          <p:cNvSpPr/>
          <p:nvPr/>
        </p:nvSpPr>
        <p:spPr>
          <a:xfrm>
            <a:off x="4663440" y="1645920"/>
            <a:ext cx="6995160" cy="3108960"/>
          </a:xfrm>
          <a:prstGeom prst="roundRect">
            <a:avLst>
              <a:gd name="adj" fmla="val 2941"/>
            </a:avLst>
          </a:prstGeom>
          <a:solidFill>
            <a:srgbClr val="0F1729"/>
          </a:solidFill>
          <a:ln w="12700">
            <a:solidFill>
              <a:srgbClr val="0F1729"/>
            </a:solidFill>
            <a:prstDash val="solid"/>
          </a:ln>
        </p:spPr>
      </p:sp>
      <p:sp>
        <p:nvSpPr>
          <p:cNvPr id="25" name="Text 22"/>
          <p:cNvSpPr txBox="1"/>
          <p:nvPr/>
        </p:nvSpPr>
        <p:spPr>
          <a:xfrm>
            <a:off x="4892040" y="1755648"/>
            <a:ext cx="6537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 (example 03_05, shortened)</a:t>
            </a:r>
            <a:endParaRPr lang="en-US" sz="1100" dirty="0"/>
          </a:p>
        </p:txBody>
      </p:sp>
      <p:sp>
        <p:nvSpPr>
          <p:cNvPr id="26" name="Text 23"/>
          <p:cNvSpPr txBox="1"/>
          <p:nvPr/>
        </p:nvSpPr>
        <p:spPr>
          <a:xfrm>
            <a:off x="4892040" y="2057400"/>
            <a:ext cx="6537960" cy="2587752"/>
          </a:xfrm>
          <a:prstGeom prst="rect">
            <a:avLst/>
          </a:prstGeom>
          <a:noFill/>
          <a:ln/>
        </p:spPr>
        <p:txBody>
          <a:bodyPr wrap="square" lIns="0" tIns="0" rIns="0" bIns="0" rtlCol="0" anchor="t"/>
          <a:lstStyle/>
          <a:p>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Program.cs</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"Temperature in °C: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celsius =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.ReadLine());</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fahrenheit = celsius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32</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$"{celsius} °C = {fahrenheit:F1} °F"</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27" name="Shape 24"/>
          <p:cNvSpPr/>
          <p:nvPr/>
        </p:nvSpPr>
        <p:spPr>
          <a:xfrm>
            <a:off x="4663440" y="4937760"/>
            <a:ext cx="6995160" cy="1005840"/>
          </a:xfrm>
          <a:prstGeom prst="roundRect">
            <a:avLst>
              <a:gd name="adj" fmla="val 10909"/>
            </a:avLst>
          </a:prstGeom>
          <a:solidFill>
            <a:srgbClr val="FFF6E3"/>
          </a:solidFill>
          <a:ln w="12700">
            <a:solidFill>
              <a:srgbClr val="FFF6E3"/>
            </a:solidFill>
            <a:prstDash val="solid"/>
          </a:ln>
        </p:spPr>
      </p:sp>
      <p:pic>
        <p:nvPicPr>
          <p:cNvPr id="28" name="Image 0" descr="preencoded.png">    </p:cNvPr>
          <p:cNvPicPr>
            <a:picLocks noChangeAspect="1"/>
          </p:cNvPicPr>
          <p:nvPr/>
        </p:nvPicPr>
        <p:blipFill>
          <a:blip r:embed="rId1"/>
          <a:stretch>
            <a:fillRect/>
          </a:stretch>
        </p:blipFill>
        <p:spPr>
          <a:xfrm>
            <a:off x="4937760" y="5166360"/>
            <a:ext cx="548640" cy="548640"/>
          </a:xfrm>
          <a:prstGeom prst="rect">
            <a:avLst/>
          </a:prstGeom>
        </p:spPr>
      </p:pic>
      <p:sp>
        <p:nvSpPr>
          <p:cNvPr id="29" name="Text 25"/>
          <p:cNvSpPr txBox="1"/>
          <p:nvPr/>
        </p:nvSpPr>
        <p:spPr>
          <a:xfrm>
            <a:off x="5760720" y="5010912"/>
            <a:ext cx="5623560" cy="85953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Today's questions: </a:t>
            </a:r>
            <a:pPr indent="0" marL="0">
              <a:buNone/>
            </a:pPr>
            <a:r>
              <a:rPr lang="en-US" sz="1400" dirty="0">
                <a:solidFill>
                  <a:srgbClr val="333B4F"/>
                </a:solidFill>
                <a:latin typeface="Calibri" pitchFamily="34" charset="0"/>
                <a:ea typeface="Calibri" pitchFamily="34" charset="-122"/>
                <a:cs typeface="Calibri" pitchFamily="34" charset="-120"/>
              </a:rPr>
              <a:t>What is double? Why Parse? What does = do? What does :F1 mean? By the end of the lesson you can answer all four.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Programming Languages and .NET</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From machine code to C#: how your program is translated and run</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3</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THREE LEVELS OF LANGUAGE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Machine Code, Assembly and High-Level Languages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00200"/>
            <a:ext cx="3611880" cy="3291840"/>
          </a:xfrm>
          <a:prstGeom prst="roundRect">
            <a:avLst>
              <a:gd name="adj" fmla="val 3333"/>
            </a:avLst>
          </a:prstGeom>
          <a:solidFill>
            <a:srgbClr val="EEF1F6"/>
          </a:solidFill>
          <a:ln w="12700">
            <a:solidFill>
              <a:srgbClr val="EEF1F6"/>
            </a:solidFill>
            <a:prstDash val="solid"/>
          </a:ln>
        </p:spPr>
      </p:sp>
      <p:sp>
        <p:nvSpPr>
          <p:cNvPr id="8" name="Text 5"/>
          <p:cNvSpPr txBox="1"/>
          <p:nvPr/>
        </p:nvSpPr>
        <p:spPr>
          <a:xfrm>
            <a:off x="777240" y="1737360"/>
            <a:ext cx="3200400" cy="365760"/>
          </a:xfrm>
          <a:prstGeom prst="rect">
            <a:avLst/>
          </a:prstGeom>
          <a:noFill/>
          <a:ln/>
        </p:spPr>
        <p:txBody>
          <a:bodyPr wrap="square" lIns="0" tIns="0" rIns="0" bIns="0" rtlCol="0" anchor="ctr"/>
          <a:lstStyle/>
          <a:p>
            <a:pPr indent="0" marL="0">
              <a:buNone/>
            </a:pPr>
            <a:r>
              <a:rPr lang="en-US" sz="1600" b="1" dirty="0">
                <a:solidFill>
                  <a:srgbClr val="5B6478"/>
                </a:solidFill>
                <a:latin typeface="Courier New" pitchFamily="34" charset="0"/>
                <a:ea typeface="Courier New" pitchFamily="34" charset="-122"/>
                <a:cs typeface="Courier New" pitchFamily="34" charset="-120"/>
              </a:rPr>
              <a:t>MACHINE CODE</a:t>
            </a:r>
            <a:endParaRPr lang="en-US" sz="1600" dirty="0"/>
          </a:p>
        </p:txBody>
      </p:sp>
      <p:sp>
        <p:nvSpPr>
          <p:cNvPr id="9" name="Text 6"/>
          <p:cNvSpPr txBox="1"/>
          <p:nvPr/>
        </p:nvSpPr>
        <p:spPr>
          <a:xfrm>
            <a:off x="777240" y="2103120"/>
            <a:ext cx="3200400" cy="27432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1st generation</a:t>
            </a:r>
            <a:endParaRPr lang="en-US" sz="1300" dirty="0"/>
          </a:p>
        </p:txBody>
      </p:sp>
      <p:sp>
        <p:nvSpPr>
          <p:cNvPr id="10" name="Shape 7"/>
          <p:cNvSpPr/>
          <p:nvPr/>
        </p:nvSpPr>
        <p:spPr>
          <a:xfrm>
            <a:off x="777240" y="2514600"/>
            <a:ext cx="3154680" cy="1234440"/>
          </a:xfrm>
          <a:prstGeom prst="roundRect">
            <a:avLst>
              <a:gd name="adj" fmla="val 7407"/>
            </a:avLst>
          </a:prstGeom>
          <a:solidFill>
            <a:srgbClr val="0F1729"/>
          </a:solidFill>
          <a:ln w="12700">
            <a:solidFill>
              <a:srgbClr val="0F1729"/>
            </a:solidFill>
            <a:prstDash val="solid"/>
          </a:ln>
        </p:spPr>
      </p:sp>
      <p:sp>
        <p:nvSpPr>
          <p:cNvPr id="11" name="Text 8"/>
          <p:cNvSpPr txBox="1"/>
          <p:nvPr/>
        </p:nvSpPr>
        <p:spPr>
          <a:xfrm>
            <a:off x="1005840" y="2679192"/>
            <a:ext cx="2697480" cy="960120"/>
          </a:xfrm>
          <a:prstGeom prst="rect">
            <a:avLst/>
          </a:prstGeom>
          <a:noFill/>
          <a:ln/>
        </p:spPr>
        <p:txBody>
          <a:bodyPr wrap="square" lIns="0" tIns="0" rIns="0" bIns="0" rtlCol="0" anchor="t"/>
          <a:lstStyle/>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10111000 00000111</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00000000 00000000</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00000000</a:t>
            </a:r>
            <a:endParaRPr lang="en-US" sz="1400" dirty="0"/>
          </a:p>
        </p:txBody>
      </p:sp>
      <p:sp>
        <p:nvSpPr>
          <p:cNvPr id="12" name="Text 9"/>
          <p:cNvSpPr txBox="1"/>
          <p:nvPr/>
        </p:nvSpPr>
        <p:spPr>
          <a:xfrm>
            <a:off x="777240" y="3931920"/>
            <a:ext cx="3154680" cy="12801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Binary instructions the CPU executes directly. Depends on the CPU type (x86, ARM …).</a:t>
            </a:r>
            <a:endParaRPr lang="en-US" sz="1400" dirty="0"/>
          </a:p>
        </p:txBody>
      </p:sp>
      <p:sp>
        <p:nvSpPr>
          <p:cNvPr id="13" name="Shape 10"/>
          <p:cNvSpPr/>
          <p:nvPr/>
        </p:nvSpPr>
        <p:spPr>
          <a:xfrm>
            <a:off x="4297680" y="1600200"/>
            <a:ext cx="3611880" cy="3291840"/>
          </a:xfrm>
          <a:prstGeom prst="roundRect">
            <a:avLst>
              <a:gd name="adj" fmla="val 3333"/>
            </a:avLst>
          </a:prstGeom>
          <a:solidFill>
            <a:srgbClr val="EEF1F6"/>
          </a:solidFill>
          <a:ln w="12700">
            <a:solidFill>
              <a:srgbClr val="EEF1F6"/>
            </a:solidFill>
            <a:prstDash val="solid"/>
          </a:ln>
        </p:spPr>
      </p:sp>
      <p:sp>
        <p:nvSpPr>
          <p:cNvPr id="14" name="Text 11"/>
          <p:cNvSpPr txBox="1"/>
          <p:nvPr/>
        </p:nvSpPr>
        <p:spPr>
          <a:xfrm>
            <a:off x="4526280" y="1737360"/>
            <a:ext cx="3200400" cy="365760"/>
          </a:xfrm>
          <a:prstGeom prst="rect">
            <a:avLst/>
          </a:prstGeom>
          <a:noFill/>
          <a:ln/>
        </p:spPr>
        <p:txBody>
          <a:bodyPr wrap="square" lIns="0" tIns="0" rIns="0" bIns="0" rtlCol="0" anchor="ctr"/>
          <a:lstStyle/>
          <a:p>
            <a:pPr indent="0" marL="0">
              <a:buNone/>
            </a:pPr>
            <a:r>
              <a:rPr lang="en-US" sz="1600" b="1" dirty="0">
                <a:solidFill>
                  <a:srgbClr val="2F6FB3"/>
                </a:solidFill>
                <a:latin typeface="Courier New" pitchFamily="34" charset="0"/>
                <a:ea typeface="Courier New" pitchFamily="34" charset="-122"/>
                <a:cs typeface="Courier New" pitchFamily="34" charset="-120"/>
              </a:rPr>
              <a:t>ASSEMBLY</a:t>
            </a:r>
            <a:endParaRPr lang="en-US" sz="1600" dirty="0"/>
          </a:p>
        </p:txBody>
      </p:sp>
      <p:sp>
        <p:nvSpPr>
          <p:cNvPr id="15" name="Text 12"/>
          <p:cNvSpPr txBox="1"/>
          <p:nvPr/>
        </p:nvSpPr>
        <p:spPr>
          <a:xfrm>
            <a:off x="4526280" y="2103120"/>
            <a:ext cx="3200400" cy="27432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2nd generation</a:t>
            </a:r>
            <a:endParaRPr lang="en-US" sz="1300" dirty="0"/>
          </a:p>
        </p:txBody>
      </p:sp>
      <p:sp>
        <p:nvSpPr>
          <p:cNvPr id="16" name="Shape 13"/>
          <p:cNvSpPr/>
          <p:nvPr/>
        </p:nvSpPr>
        <p:spPr>
          <a:xfrm>
            <a:off x="4526280" y="2514600"/>
            <a:ext cx="3154680" cy="1234440"/>
          </a:xfrm>
          <a:prstGeom prst="roundRect">
            <a:avLst>
              <a:gd name="adj" fmla="val 7407"/>
            </a:avLst>
          </a:prstGeom>
          <a:solidFill>
            <a:srgbClr val="0F1729"/>
          </a:solidFill>
          <a:ln w="12700">
            <a:solidFill>
              <a:srgbClr val="0F1729"/>
            </a:solidFill>
            <a:prstDash val="solid"/>
          </a:ln>
        </p:spPr>
      </p:sp>
      <p:sp>
        <p:nvSpPr>
          <p:cNvPr id="17" name="Text 14"/>
          <p:cNvSpPr txBox="1"/>
          <p:nvPr/>
        </p:nvSpPr>
        <p:spPr>
          <a:xfrm>
            <a:off x="4754880" y="2679192"/>
            <a:ext cx="2697480" cy="960120"/>
          </a:xfrm>
          <a:prstGeom prst="rect">
            <a:avLst/>
          </a:prstGeom>
          <a:noFill/>
          <a:ln/>
        </p:spPr>
        <p:txBody>
          <a:bodyPr wrap="square" lIns="0" tIns="0" rIns="0" bIns="0" rtlCol="0" anchor="t"/>
          <a:lstStyle/>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mov eax, 7</a:t>
            </a:r>
            <a:endParaRPr lang="en-US" sz="1400" dirty="0"/>
          </a:p>
        </p:txBody>
      </p:sp>
      <p:sp>
        <p:nvSpPr>
          <p:cNvPr id="18" name="Text 15"/>
          <p:cNvSpPr txBox="1"/>
          <p:nvPr/>
        </p:nvSpPr>
        <p:spPr>
          <a:xfrm>
            <a:off x="4526280" y="3931920"/>
            <a:ext cx="3154680" cy="12801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Short names (mnemonics) for machine instructions; an assembler translates them.</a:t>
            </a:r>
            <a:endParaRPr lang="en-US" sz="1400" dirty="0"/>
          </a:p>
        </p:txBody>
      </p:sp>
      <p:sp>
        <p:nvSpPr>
          <p:cNvPr id="19" name="Shape 16"/>
          <p:cNvSpPr/>
          <p:nvPr/>
        </p:nvSpPr>
        <p:spPr>
          <a:xfrm>
            <a:off x="8046720" y="1600200"/>
            <a:ext cx="3611880" cy="3291840"/>
          </a:xfrm>
          <a:prstGeom prst="roundRect">
            <a:avLst>
              <a:gd name="adj" fmla="val 3333"/>
            </a:avLst>
          </a:prstGeom>
          <a:solidFill>
            <a:srgbClr val="EEF1F6"/>
          </a:solidFill>
          <a:ln w="12700">
            <a:solidFill>
              <a:srgbClr val="EEF1F6"/>
            </a:solidFill>
            <a:prstDash val="solid"/>
          </a:ln>
        </p:spPr>
      </p:sp>
      <p:sp>
        <p:nvSpPr>
          <p:cNvPr id="20" name="Text 17"/>
          <p:cNvSpPr txBox="1"/>
          <p:nvPr/>
        </p:nvSpPr>
        <p:spPr>
          <a:xfrm>
            <a:off x="8275320" y="1737360"/>
            <a:ext cx="3200400" cy="365760"/>
          </a:xfrm>
          <a:prstGeom prst="rect">
            <a:avLst/>
          </a:prstGeom>
          <a:noFill/>
          <a:ln/>
        </p:spPr>
        <p:txBody>
          <a:bodyPr wrap="square" lIns="0" tIns="0" rIns="0" bIns="0" rtlCol="0" anchor="ctr"/>
          <a:lstStyle/>
          <a:p>
            <a:pPr indent="0" marL="0">
              <a:buNone/>
            </a:pPr>
            <a:r>
              <a:rPr lang="en-US" sz="1600" b="1" dirty="0">
                <a:solidFill>
                  <a:srgbClr val="2E9E6A"/>
                </a:solidFill>
                <a:latin typeface="Courier New" pitchFamily="34" charset="0"/>
                <a:ea typeface="Courier New" pitchFamily="34" charset="-122"/>
                <a:cs typeface="Courier New" pitchFamily="34" charset="-120"/>
              </a:rPr>
              <a:t>HIGH-LEVEL (C#)</a:t>
            </a:r>
            <a:endParaRPr lang="en-US" sz="1600" dirty="0"/>
          </a:p>
        </p:txBody>
      </p:sp>
      <p:sp>
        <p:nvSpPr>
          <p:cNvPr id="21" name="Text 18"/>
          <p:cNvSpPr txBox="1"/>
          <p:nvPr/>
        </p:nvSpPr>
        <p:spPr>
          <a:xfrm>
            <a:off x="8275320" y="2103120"/>
            <a:ext cx="3200400" cy="27432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3rd generation +</a:t>
            </a:r>
            <a:endParaRPr lang="en-US" sz="1300" dirty="0"/>
          </a:p>
        </p:txBody>
      </p:sp>
      <p:sp>
        <p:nvSpPr>
          <p:cNvPr id="22" name="Shape 19"/>
          <p:cNvSpPr/>
          <p:nvPr/>
        </p:nvSpPr>
        <p:spPr>
          <a:xfrm>
            <a:off x="8275320" y="2514600"/>
            <a:ext cx="3154680" cy="1234440"/>
          </a:xfrm>
          <a:prstGeom prst="roundRect">
            <a:avLst>
              <a:gd name="adj" fmla="val 7407"/>
            </a:avLst>
          </a:prstGeom>
          <a:solidFill>
            <a:srgbClr val="0F1729"/>
          </a:solidFill>
          <a:ln w="12700">
            <a:solidFill>
              <a:srgbClr val="0F1729"/>
            </a:solidFill>
            <a:prstDash val="solid"/>
          </a:ln>
        </p:spPr>
      </p:sp>
      <p:sp>
        <p:nvSpPr>
          <p:cNvPr id="23" name="Text 20"/>
          <p:cNvSpPr txBox="1"/>
          <p:nvPr/>
        </p:nvSpPr>
        <p:spPr>
          <a:xfrm>
            <a:off x="8503920" y="2679192"/>
            <a:ext cx="2697480" cy="960120"/>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24" name="Text 21"/>
          <p:cNvSpPr txBox="1"/>
          <p:nvPr/>
        </p:nvSpPr>
        <p:spPr>
          <a:xfrm>
            <a:off x="8275320" y="3931920"/>
            <a:ext cx="3154680" cy="12801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Close to human language and maths; runs on many CPUs; a compiler translates it.</a:t>
            </a:r>
            <a:endParaRPr lang="en-US" sz="1400" dirty="0"/>
          </a:p>
        </p:txBody>
      </p:sp>
      <p:sp>
        <p:nvSpPr>
          <p:cNvPr id="25" name="Shape 22"/>
          <p:cNvSpPr/>
          <p:nvPr/>
        </p:nvSpPr>
        <p:spPr>
          <a:xfrm>
            <a:off x="914400" y="5303520"/>
            <a:ext cx="10332720" cy="0"/>
          </a:xfrm>
          <a:prstGeom prst="line">
            <a:avLst/>
          </a:prstGeom>
          <a:noFill/>
          <a:ln w="15875">
            <a:solidFill>
              <a:srgbClr val="FCA311"/>
            </a:solidFill>
            <a:prstDash val="solid"/>
            <a:tailEnd type="triangle"/>
          </a:ln>
        </p:spPr>
      </p:sp>
      <p:sp>
        <p:nvSpPr>
          <p:cNvPr id="26" name="Text 23"/>
          <p:cNvSpPr txBox="1"/>
          <p:nvPr/>
        </p:nvSpPr>
        <p:spPr>
          <a:xfrm>
            <a:off x="548640" y="5394960"/>
            <a:ext cx="3657600" cy="27432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closer to the hardware</a:t>
            </a:r>
            <a:endParaRPr lang="en-US" sz="1300" dirty="0"/>
          </a:p>
        </p:txBody>
      </p:sp>
      <p:sp>
        <p:nvSpPr>
          <p:cNvPr id="27" name="Text 24"/>
          <p:cNvSpPr txBox="1"/>
          <p:nvPr/>
        </p:nvSpPr>
        <p:spPr>
          <a:xfrm>
            <a:off x="8001000" y="5394960"/>
            <a:ext cx="3657600" cy="274320"/>
          </a:xfrm>
          <a:prstGeom prst="rect">
            <a:avLst/>
          </a:prstGeom>
          <a:noFill/>
          <a:ln/>
        </p:spPr>
        <p:txBody>
          <a:bodyPr wrap="square" lIns="0" tIns="0" rIns="0" bIns="0" rtlCol="0" anchor="ctr"/>
          <a:lstStyle/>
          <a:p>
            <a:pPr algn="r" indent="0" marL="0">
              <a:buNone/>
            </a:pPr>
            <a:r>
              <a:rPr lang="en-US" sz="1300" dirty="0">
                <a:solidFill>
                  <a:srgbClr val="5B6478"/>
                </a:solidFill>
                <a:latin typeface="Calibri" pitchFamily="34" charset="0"/>
                <a:ea typeface="Calibri" pitchFamily="34" charset="-122"/>
                <a:cs typeface="Calibri" pitchFamily="34" charset="-120"/>
              </a:rPr>
              <a:t>closer to people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TRANSLATION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Compiled, Interpreted or Just-in-Time?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2286000"/>
                <a:gridCol w="3291840"/>
                <a:gridCol w="2148840"/>
                <a:gridCol w="1691640"/>
                <a:gridCol w="1691640"/>
              </a:tblGrid>
              <a:tr h="6858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Approach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When is the code translated?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Examples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Less good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685800">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Compiled (ahead of time)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Before running: the whole program → machine code (.exe)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 C++, Go, Rust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Very fast start and run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Rebuild for every OS / CPU</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685800">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Interpreted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While running: statement by statement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Python, shell scripts, classic BASIC</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Try code instantly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Usually slower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685800">
                <a:tc>
                  <a:txBody>
                    <a:bodyPr/>
                    <a:lstStyle/>
                    <a:p>
                      <a:pPr algn="l" indent="0" marL="0">
                        <a:buNone/>
                      </a:pPr>
                      <a:r>
                        <a:rPr lang="en-US" sz="1400" b="1" dirty="0">
                          <a:solidFill>
                            <a:srgbClr val="2E9E6A"/>
                          </a:solidFill>
                          <a:latin typeface="Calibri" pitchFamily="34" charset="0"/>
                          <a:ea typeface="Calibri" pitchFamily="34" charset="-122"/>
                          <a:cs typeface="Calibri" pitchFamily="34" charset="-120"/>
                        </a:rPr>
                        <a:t>IL + JIT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Build: C# → IL (.dll). Run: JIT turns IL → machine code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 VB.NET (.NET); Java (JVM)</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Portable and fast after start-up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Needs the runtime installed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892040"/>
            <a:ext cx="11109960" cy="1005840"/>
          </a:xfrm>
          <a:prstGeom prst="roundRect">
            <a:avLst>
              <a:gd name="adj" fmla="val 10909"/>
            </a:avLst>
          </a:prstGeom>
          <a:solidFill>
            <a:srgbClr val="FFF6E3"/>
          </a:solidFill>
          <a:ln w="12700">
            <a:solidFill>
              <a:srgbClr val="FFF6E3"/>
            </a:solidFill>
            <a:prstDash val="solid"/>
          </a:ln>
        </p:spPr>
      </p:sp>
      <p:pic>
        <p:nvPicPr>
          <p:cNvPr id="9" name="Image 0" descr="preencoded.png">    </p:cNvPr>
          <p:cNvPicPr>
            <a:picLocks noChangeAspect="1"/>
          </p:cNvPicPr>
          <p:nvPr/>
        </p:nvPicPr>
        <p:blipFill>
          <a:blip r:embed="rId1"/>
          <a:stretch>
            <a:fillRect/>
          </a:stretch>
        </p:blipFill>
        <p:spPr>
          <a:xfrm>
            <a:off x="822960" y="5120640"/>
            <a:ext cx="548640" cy="548640"/>
          </a:xfrm>
          <a:prstGeom prst="rect">
            <a:avLst/>
          </a:prstGeom>
        </p:spPr>
      </p:pic>
      <p:sp>
        <p:nvSpPr>
          <p:cNvPr id="10" name="Text 5"/>
          <p:cNvSpPr txBox="1"/>
          <p:nvPr/>
        </p:nvSpPr>
        <p:spPr>
          <a:xfrm>
            <a:off x="1645920" y="4965192"/>
            <a:ext cx="9738360" cy="85953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C# belongs to the third row. </a:t>
            </a:r>
            <a:pPr indent="0" marL="0">
              <a:buNone/>
            </a:pPr>
            <a:r>
              <a:rPr lang="en-US" sz="1500" dirty="0">
                <a:solidFill>
                  <a:srgbClr val="333B4F"/>
                </a:solidFill>
                <a:latin typeface="Calibri" pitchFamily="34" charset="0"/>
                <a:ea typeface="Calibri" pitchFamily="34" charset="-122"/>
                <a:cs typeface="Calibri" pitchFamily="34" charset="-120"/>
              </a:rPr>
              <a:t>You compile once (dotnet build); the .NET runtime on each computer finishes the translation at run time (JIT = Just-In-Time).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HOW C# RUNS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From Program.cs to the CPU — and SDK vs Runtime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640080" y="1805940"/>
            <a:ext cx="1920240" cy="868680"/>
          </a:xfrm>
          <a:prstGeom prst="flowChartProcess">
            <a:avLst/>
          </a:prstGeom>
          <a:solidFill>
            <a:srgbClr val="FFFFFF"/>
          </a:solidFill>
          <a:ln w="15875">
            <a:solidFill>
              <a:srgbClr val="14213D"/>
            </a:solidFill>
            <a:prstDash val="solid"/>
          </a:ln>
        </p:spPr>
      </p:sp>
      <p:sp>
        <p:nvSpPr>
          <p:cNvPr id="8" name="Text 5"/>
          <p:cNvSpPr txBox="1"/>
          <p:nvPr/>
        </p:nvSpPr>
        <p:spPr>
          <a:xfrm>
            <a:off x="685800" y="1805940"/>
            <a:ext cx="1828800" cy="868680"/>
          </a:xfrm>
          <a:prstGeom prst="rect">
            <a:avLst/>
          </a:prstGeom>
          <a:noFill/>
          <a:ln/>
        </p:spPr>
        <p:txBody>
          <a:bodyPr wrap="square" lIns="0" tIns="0" rIns="0" bIns="0" rtlCol="0" anchor="ctr"/>
          <a:lstStyle/>
          <a:p>
            <a:pPr algn="ctr" indent="0" marL="0">
              <a:buNone/>
            </a:pPr>
            <a:endParaRPr lang="en-US" sz="1200" dirty="0"/>
          </a:p>
        </p:txBody>
      </p:sp>
      <p:sp>
        <p:nvSpPr>
          <p:cNvPr id="9" name="Text 6"/>
          <p:cNvSpPr txBox="1"/>
          <p:nvPr/>
        </p:nvSpPr>
        <p:spPr>
          <a:xfrm>
            <a:off x="685800" y="1828800"/>
            <a:ext cx="1828800" cy="82296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Program.cs</a:t>
            </a:r>
            <a:endParaRPr lang="en-US" sz="1400" dirty="0"/>
          </a:p>
          <a:p>
            <a:pPr algn="ctr" indent="0" marL="0">
              <a:buNone/>
            </a:pPr>
            <a:r>
              <a:rPr lang="en-US" sz="1200" dirty="0">
                <a:solidFill>
                  <a:srgbClr val="5B6478"/>
                </a:solidFill>
                <a:latin typeface="Calibri" pitchFamily="34" charset="0"/>
                <a:ea typeface="Calibri" pitchFamily="34" charset="-122"/>
                <a:cs typeface="Calibri" pitchFamily="34" charset="-120"/>
              </a:rPr>
              <a:t>C# source code</a:t>
            </a:r>
            <a:endParaRPr lang="en-US" sz="1400" dirty="0"/>
          </a:p>
        </p:txBody>
      </p:sp>
      <p:sp>
        <p:nvSpPr>
          <p:cNvPr id="10" name="Shape 7"/>
          <p:cNvSpPr/>
          <p:nvPr/>
        </p:nvSpPr>
        <p:spPr>
          <a:xfrm>
            <a:off x="2560320" y="2240280"/>
            <a:ext cx="365760" cy="0"/>
          </a:xfrm>
          <a:prstGeom prst="line">
            <a:avLst/>
          </a:prstGeom>
          <a:noFill/>
          <a:ln w="15875">
            <a:solidFill>
              <a:srgbClr val="14213D"/>
            </a:solidFill>
            <a:prstDash val="solid"/>
            <a:tailEnd type="triangle"/>
          </a:ln>
        </p:spPr>
      </p:sp>
      <p:sp>
        <p:nvSpPr>
          <p:cNvPr id="11" name="Shape 8"/>
          <p:cNvSpPr/>
          <p:nvPr/>
        </p:nvSpPr>
        <p:spPr>
          <a:xfrm>
            <a:off x="2926080" y="1805940"/>
            <a:ext cx="1920240" cy="868680"/>
          </a:xfrm>
          <a:prstGeom prst="flowChartPredefinedProcess">
            <a:avLst/>
          </a:prstGeom>
          <a:solidFill>
            <a:srgbClr val="E3ECF8"/>
          </a:solidFill>
          <a:ln w="15875">
            <a:solidFill>
              <a:srgbClr val="14213D"/>
            </a:solidFill>
            <a:prstDash val="solid"/>
          </a:ln>
        </p:spPr>
      </p:sp>
      <p:sp>
        <p:nvSpPr>
          <p:cNvPr id="12" name="Text 9"/>
          <p:cNvSpPr txBox="1"/>
          <p:nvPr/>
        </p:nvSpPr>
        <p:spPr>
          <a:xfrm>
            <a:off x="2971800" y="1805940"/>
            <a:ext cx="1828800" cy="868680"/>
          </a:xfrm>
          <a:prstGeom prst="rect">
            <a:avLst/>
          </a:prstGeom>
          <a:noFill/>
          <a:ln/>
        </p:spPr>
        <p:txBody>
          <a:bodyPr wrap="square" lIns="0" tIns="0" rIns="0" bIns="0" rtlCol="0" anchor="ctr"/>
          <a:lstStyle/>
          <a:p>
            <a:pPr algn="ctr" indent="0" marL="0">
              <a:buNone/>
            </a:pPr>
            <a:endParaRPr lang="en-US" sz="1200" dirty="0"/>
          </a:p>
        </p:txBody>
      </p:sp>
      <p:sp>
        <p:nvSpPr>
          <p:cNvPr id="13" name="Text 10"/>
          <p:cNvSpPr txBox="1"/>
          <p:nvPr/>
        </p:nvSpPr>
        <p:spPr>
          <a:xfrm>
            <a:off x="2971800" y="1828800"/>
            <a:ext cx="1828800" cy="82296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C# compiler</a:t>
            </a:r>
            <a:endParaRPr lang="en-US" sz="1400" dirty="0"/>
          </a:p>
          <a:p>
            <a:pPr algn="ctr" indent="0" marL="0">
              <a:buNone/>
            </a:pPr>
            <a:r>
              <a:rPr lang="en-US" sz="1200" dirty="0">
                <a:solidFill>
                  <a:srgbClr val="5B6478"/>
                </a:solidFill>
                <a:latin typeface="Calibri" pitchFamily="34" charset="0"/>
                <a:ea typeface="Calibri" pitchFamily="34" charset="-122"/>
                <a:cs typeface="Calibri" pitchFamily="34" charset="-120"/>
              </a:rPr>
              <a:t>dotnet build</a:t>
            </a:r>
            <a:endParaRPr lang="en-US" sz="1400" dirty="0"/>
          </a:p>
        </p:txBody>
      </p:sp>
      <p:sp>
        <p:nvSpPr>
          <p:cNvPr id="14" name="Shape 11"/>
          <p:cNvSpPr/>
          <p:nvPr/>
        </p:nvSpPr>
        <p:spPr>
          <a:xfrm>
            <a:off x="4846320" y="2240280"/>
            <a:ext cx="365760" cy="0"/>
          </a:xfrm>
          <a:prstGeom prst="line">
            <a:avLst/>
          </a:prstGeom>
          <a:noFill/>
          <a:ln w="15875">
            <a:solidFill>
              <a:srgbClr val="14213D"/>
            </a:solidFill>
            <a:prstDash val="solid"/>
            <a:tailEnd type="triangle"/>
          </a:ln>
        </p:spPr>
      </p:sp>
      <p:sp>
        <p:nvSpPr>
          <p:cNvPr id="15" name="Shape 12"/>
          <p:cNvSpPr/>
          <p:nvPr/>
        </p:nvSpPr>
        <p:spPr>
          <a:xfrm>
            <a:off x="5212080" y="1805940"/>
            <a:ext cx="1920240" cy="868680"/>
          </a:xfrm>
          <a:prstGeom prst="flowChartProcess">
            <a:avLst/>
          </a:prstGeom>
          <a:solidFill>
            <a:srgbClr val="FFFFFF"/>
          </a:solidFill>
          <a:ln w="15875">
            <a:solidFill>
              <a:srgbClr val="14213D"/>
            </a:solidFill>
            <a:prstDash val="solid"/>
          </a:ln>
        </p:spPr>
      </p:sp>
      <p:sp>
        <p:nvSpPr>
          <p:cNvPr id="16" name="Text 13"/>
          <p:cNvSpPr txBox="1"/>
          <p:nvPr/>
        </p:nvSpPr>
        <p:spPr>
          <a:xfrm>
            <a:off x="5257800" y="1805940"/>
            <a:ext cx="1828800" cy="868680"/>
          </a:xfrm>
          <a:prstGeom prst="rect">
            <a:avLst/>
          </a:prstGeom>
          <a:noFill/>
          <a:ln/>
        </p:spPr>
        <p:txBody>
          <a:bodyPr wrap="square" lIns="0" tIns="0" rIns="0" bIns="0" rtlCol="0" anchor="ctr"/>
          <a:lstStyle/>
          <a:p>
            <a:pPr algn="ctr" indent="0" marL="0">
              <a:buNone/>
            </a:pPr>
            <a:endParaRPr lang="en-US" sz="1200" dirty="0"/>
          </a:p>
        </p:txBody>
      </p:sp>
      <p:sp>
        <p:nvSpPr>
          <p:cNvPr id="17" name="Text 14"/>
          <p:cNvSpPr txBox="1"/>
          <p:nvPr/>
        </p:nvSpPr>
        <p:spPr>
          <a:xfrm>
            <a:off x="5257800" y="1828800"/>
            <a:ext cx="1828800" cy="82296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Hello.dll</a:t>
            </a:r>
            <a:endParaRPr lang="en-US" sz="1400" dirty="0"/>
          </a:p>
          <a:p>
            <a:pPr algn="ctr" indent="0" marL="0">
              <a:buNone/>
            </a:pPr>
            <a:r>
              <a:rPr lang="en-US" sz="1200" dirty="0">
                <a:solidFill>
                  <a:srgbClr val="5B6478"/>
                </a:solidFill>
                <a:latin typeface="Calibri" pitchFamily="34" charset="0"/>
                <a:ea typeface="Calibri" pitchFamily="34" charset="-122"/>
                <a:cs typeface="Calibri" pitchFamily="34" charset="-120"/>
              </a:rPr>
              <a:t>IL (intermediate language)</a:t>
            </a:r>
            <a:endParaRPr lang="en-US" sz="1400" dirty="0"/>
          </a:p>
        </p:txBody>
      </p:sp>
      <p:sp>
        <p:nvSpPr>
          <p:cNvPr id="18" name="Shape 15"/>
          <p:cNvSpPr/>
          <p:nvPr/>
        </p:nvSpPr>
        <p:spPr>
          <a:xfrm>
            <a:off x="7132320" y="2240280"/>
            <a:ext cx="365760" cy="0"/>
          </a:xfrm>
          <a:prstGeom prst="line">
            <a:avLst/>
          </a:prstGeom>
          <a:noFill/>
          <a:ln w="15875">
            <a:solidFill>
              <a:srgbClr val="14213D"/>
            </a:solidFill>
            <a:prstDash val="solid"/>
            <a:tailEnd type="triangle"/>
          </a:ln>
        </p:spPr>
      </p:sp>
      <p:sp>
        <p:nvSpPr>
          <p:cNvPr id="19" name="Shape 16"/>
          <p:cNvSpPr/>
          <p:nvPr/>
        </p:nvSpPr>
        <p:spPr>
          <a:xfrm>
            <a:off x="7498080" y="1805940"/>
            <a:ext cx="1920240" cy="868680"/>
          </a:xfrm>
          <a:prstGeom prst="flowChartPredefinedProcess">
            <a:avLst/>
          </a:prstGeom>
          <a:solidFill>
            <a:srgbClr val="E6F4EC"/>
          </a:solidFill>
          <a:ln w="15875">
            <a:solidFill>
              <a:srgbClr val="14213D"/>
            </a:solidFill>
            <a:prstDash val="solid"/>
          </a:ln>
        </p:spPr>
      </p:sp>
      <p:sp>
        <p:nvSpPr>
          <p:cNvPr id="20" name="Text 17"/>
          <p:cNvSpPr txBox="1"/>
          <p:nvPr/>
        </p:nvSpPr>
        <p:spPr>
          <a:xfrm>
            <a:off x="7543800" y="1805940"/>
            <a:ext cx="1828800" cy="868680"/>
          </a:xfrm>
          <a:prstGeom prst="rect">
            <a:avLst/>
          </a:prstGeom>
          <a:noFill/>
          <a:ln/>
        </p:spPr>
        <p:txBody>
          <a:bodyPr wrap="square" lIns="0" tIns="0" rIns="0" bIns="0" rtlCol="0" anchor="ctr"/>
          <a:lstStyle/>
          <a:p>
            <a:pPr algn="ctr" indent="0" marL="0">
              <a:buNone/>
            </a:pPr>
            <a:endParaRPr lang="en-US" sz="1200" dirty="0"/>
          </a:p>
        </p:txBody>
      </p:sp>
      <p:sp>
        <p:nvSpPr>
          <p:cNvPr id="21" name="Text 18"/>
          <p:cNvSpPr txBox="1"/>
          <p:nvPr/>
        </p:nvSpPr>
        <p:spPr>
          <a:xfrm>
            <a:off x="7543800" y="1828800"/>
            <a:ext cx="1828800" cy="82296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CLR + JIT</a:t>
            </a:r>
            <a:endParaRPr lang="en-US" sz="1400" dirty="0"/>
          </a:p>
          <a:p>
            <a:pPr algn="ctr" indent="0" marL="0">
              <a:buNone/>
            </a:pPr>
            <a:r>
              <a:rPr lang="en-US" sz="1200" dirty="0">
                <a:solidFill>
                  <a:srgbClr val="5B6478"/>
                </a:solidFill>
                <a:latin typeface="Calibri" pitchFamily="34" charset="0"/>
                <a:ea typeface="Calibri" pitchFamily="34" charset="-122"/>
                <a:cs typeface="Calibri" pitchFamily="34" charset="-120"/>
              </a:rPr>
              <a:t>dotnet run</a:t>
            </a:r>
            <a:endParaRPr lang="en-US" sz="1400" dirty="0"/>
          </a:p>
        </p:txBody>
      </p:sp>
      <p:sp>
        <p:nvSpPr>
          <p:cNvPr id="22" name="Shape 19"/>
          <p:cNvSpPr/>
          <p:nvPr/>
        </p:nvSpPr>
        <p:spPr>
          <a:xfrm>
            <a:off x="9418320" y="2240280"/>
            <a:ext cx="365760" cy="0"/>
          </a:xfrm>
          <a:prstGeom prst="line">
            <a:avLst/>
          </a:prstGeom>
          <a:noFill/>
          <a:ln w="15875">
            <a:solidFill>
              <a:srgbClr val="14213D"/>
            </a:solidFill>
            <a:prstDash val="solid"/>
            <a:tailEnd type="triangle"/>
          </a:ln>
        </p:spPr>
      </p:sp>
      <p:sp>
        <p:nvSpPr>
          <p:cNvPr id="23" name="Shape 20"/>
          <p:cNvSpPr/>
          <p:nvPr/>
        </p:nvSpPr>
        <p:spPr>
          <a:xfrm>
            <a:off x="9784080" y="1805940"/>
            <a:ext cx="1920240" cy="868680"/>
          </a:xfrm>
          <a:prstGeom prst="flowChartProcess">
            <a:avLst/>
          </a:prstGeom>
          <a:solidFill>
            <a:srgbClr val="FFF1D6"/>
          </a:solidFill>
          <a:ln w="15875">
            <a:solidFill>
              <a:srgbClr val="14213D"/>
            </a:solidFill>
            <a:prstDash val="solid"/>
          </a:ln>
        </p:spPr>
      </p:sp>
      <p:sp>
        <p:nvSpPr>
          <p:cNvPr id="24" name="Text 21"/>
          <p:cNvSpPr txBox="1"/>
          <p:nvPr/>
        </p:nvSpPr>
        <p:spPr>
          <a:xfrm>
            <a:off x="9829800" y="1805940"/>
            <a:ext cx="1828800" cy="868680"/>
          </a:xfrm>
          <a:prstGeom prst="rect">
            <a:avLst/>
          </a:prstGeom>
          <a:noFill/>
          <a:ln/>
        </p:spPr>
        <p:txBody>
          <a:bodyPr wrap="square" lIns="0" tIns="0" rIns="0" bIns="0" rtlCol="0" anchor="ctr"/>
          <a:lstStyle/>
          <a:p>
            <a:pPr algn="ctr" indent="0" marL="0">
              <a:buNone/>
            </a:pPr>
            <a:endParaRPr lang="en-US" sz="1200" dirty="0"/>
          </a:p>
        </p:txBody>
      </p:sp>
      <p:sp>
        <p:nvSpPr>
          <p:cNvPr id="25" name="Text 22"/>
          <p:cNvSpPr txBox="1"/>
          <p:nvPr/>
        </p:nvSpPr>
        <p:spPr>
          <a:xfrm>
            <a:off x="9829800" y="1828800"/>
            <a:ext cx="1828800" cy="822960"/>
          </a:xfrm>
          <a:prstGeom prst="rect">
            <a:avLst/>
          </a:prstGeom>
          <a:noFill/>
          <a:ln/>
        </p:spPr>
        <p:txBody>
          <a:bodyPr wrap="square" lIns="0" tIns="0" rIns="0" bIns="0" rtlCol="0" anchor="ct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Machine code</a:t>
            </a:r>
            <a:endParaRPr lang="en-US" sz="1400" dirty="0"/>
          </a:p>
          <a:p>
            <a:pPr algn="ctr" indent="0" marL="0">
              <a:buNone/>
            </a:pPr>
            <a:r>
              <a:rPr lang="en-US" sz="1200" dirty="0">
                <a:solidFill>
                  <a:srgbClr val="5B6478"/>
                </a:solidFill>
                <a:latin typeface="Calibri" pitchFamily="34" charset="0"/>
                <a:ea typeface="Calibri" pitchFamily="34" charset="-122"/>
                <a:cs typeface="Calibri" pitchFamily="34" charset="-120"/>
              </a:rPr>
              <a:t>runs on the CPU</a:t>
            </a:r>
            <a:endParaRPr lang="en-US" sz="1400" dirty="0"/>
          </a:p>
        </p:txBody>
      </p:sp>
      <p:sp>
        <p:nvSpPr>
          <p:cNvPr id="26" name="Text 23"/>
          <p:cNvSpPr txBox="1"/>
          <p:nvPr/>
        </p:nvSpPr>
        <p:spPr>
          <a:xfrm>
            <a:off x="1737360" y="2788920"/>
            <a:ext cx="4114800" cy="274320"/>
          </a:xfrm>
          <a:prstGeom prst="rect">
            <a:avLst/>
          </a:prstGeom>
          <a:noFill/>
          <a:ln/>
        </p:spPr>
        <p:txBody>
          <a:bodyPr wrap="square" lIns="0" tIns="0" rIns="0" bIns="0" rtlCol="0" anchor="ctr"/>
          <a:lstStyle/>
          <a:p>
            <a:pPr indent="0" marL="0">
              <a:buNone/>
            </a:pPr>
            <a:r>
              <a:rPr lang="en-US" sz="1300" i="1" dirty="0">
                <a:solidFill>
                  <a:srgbClr val="C8453B"/>
                </a:solidFill>
                <a:latin typeface="Calibri" pitchFamily="34" charset="0"/>
                <a:ea typeface="Calibri" pitchFamily="34" charset="-122"/>
                <a:cs typeface="Calibri" pitchFamily="34" charset="-120"/>
              </a:rPr>
              <a:t>compile time: errors like CS0165 appear here</a:t>
            </a:r>
            <a:endParaRPr lang="en-US" sz="1300" dirty="0"/>
          </a:p>
        </p:txBody>
      </p:sp>
      <p:sp>
        <p:nvSpPr>
          <p:cNvPr id="27" name="Text 24"/>
          <p:cNvSpPr txBox="1"/>
          <p:nvPr/>
        </p:nvSpPr>
        <p:spPr>
          <a:xfrm>
            <a:off x="6583680" y="2788920"/>
            <a:ext cx="5029200" cy="274320"/>
          </a:xfrm>
          <a:prstGeom prst="rect">
            <a:avLst/>
          </a:prstGeom>
          <a:noFill/>
          <a:ln/>
        </p:spPr>
        <p:txBody>
          <a:bodyPr wrap="square" lIns="0" tIns="0" rIns="0" bIns="0" rtlCol="0" anchor="ctr"/>
          <a:lstStyle/>
          <a:p>
            <a:pPr indent="0" marL="0">
              <a:buNone/>
            </a:pPr>
            <a:r>
              <a:rPr lang="en-US" sz="1300" i="1" dirty="0">
                <a:solidFill>
                  <a:srgbClr val="C8453B"/>
                </a:solidFill>
                <a:latin typeface="Calibri" pitchFamily="34" charset="0"/>
                <a:ea typeface="Calibri" pitchFamily="34" charset="-122"/>
                <a:cs typeface="Calibri" pitchFamily="34" charset="-120"/>
              </a:rPr>
              <a:t>run time: crashes like FormatException appear here</a:t>
            </a:r>
            <a:endParaRPr lang="en-US" sz="1300" dirty="0"/>
          </a:p>
        </p:txBody>
      </p:sp>
      <p:sp>
        <p:nvSpPr>
          <p:cNvPr id="28" name="Shape 25"/>
          <p:cNvSpPr/>
          <p:nvPr/>
        </p:nvSpPr>
        <p:spPr>
          <a:xfrm>
            <a:off x="548640" y="3337560"/>
            <a:ext cx="5440680" cy="2606040"/>
          </a:xfrm>
          <a:prstGeom prst="roundRect">
            <a:avLst>
              <a:gd name="adj" fmla="val 4211"/>
            </a:avLst>
          </a:prstGeom>
          <a:solidFill>
            <a:srgbClr val="EEF1F6"/>
          </a:solidFill>
          <a:ln w="12700">
            <a:solidFill>
              <a:srgbClr val="EEF1F6"/>
            </a:solidFill>
            <a:prstDash val="solid"/>
          </a:ln>
        </p:spPr>
      </p:sp>
      <p:sp>
        <p:nvSpPr>
          <p:cNvPr id="29" name="Shape 26"/>
          <p:cNvSpPr/>
          <p:nvPr/>
        </p:nvSpPr>
        <p:spPr>
          <a:xfrm>
            <a:off x="777240" y="3566160"/>
            <a:ext cx="566928" cy="566928"/>
          </a:xfrm>
          <a:prstGeom prst="ellipse">
            <a:avLst/>
          </a:prstGeom>
          <a:solidFill>
            <a:srgbClr val="14213D"/>
          </a:solidFill>
          <a:ln w="12700">
            <a:solidFill>
              <a:srgbClr val="14213D"/>
            </a:solidFill>
            <a:prstDash val="solid"/>
          </a:ln>
        </p:spPr>
      </p:sp>
      <p:pic>
        <p:nvPicPr>
          <p:cNvPr id="30" name="Image 0" descr="preencoded.png">    </p:cNvPr>
          <p:cNvPicPr>
            <a:picLocks noChangeAspect="1"/>
          </p:cNvPicPr>
          <p:nvPr/>
        </p:nvPicPr>
        <p:blipFill>
          <a:blip r:embed="rId1"/>
          <a:stretch>
            <a:fillRect/>
          </a:stretch>
        </p:blipFill>
        <p:spPr>
          <a:xfrm>
            <a:off x="924641" y="3713561"/>
            <a:ext cx="272125" cy="272125"/>
          </a:xfrm>
          <a:prstGeom prst="rect">
            <a:avLst/>
          </a:prstGeom>
        </p:spPr>
      </p:pic>
      <p:sp>
        <p:nvSpPr>
          <p:cNvPr id="31" name="Text 27"/>
          <p:cNvSpPr txBox="1"/>
          <p:nvPr/>
        </p:nvSpPr>
        <p:spPr>
          <a:xfrm>
            <a:off x="1463040" y="356616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.NET SDK — for developers</a:t>
            </a:r>
            <a:endParaRPr lang="en-US" sz="1700" dirty="0"/>
          </a:p>
        </p:txBody>
      </p:sp>
      <p:sp>
        <p:nvSpPr>
          <p:cNvPr id="32" name="Text 28"/>
          <p:cNvSpPr txBox="1"/>
          <p:nvPr/>
        </p:nvSpPr>
        <p:spPr>
          <a:xfrm>
            <a:off x="777240" y="4251960"/>
            <a:ext cx="4983480" cy="155448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Compiler + dotnet command-line tool + project templates + the runtime.</a:t>
            </a:r>
            <a:endParaRPr lang="en-US" sz="1500" dirty="0"/>
          </a:p>
          <a:p>
            <a:pPr indent="0" marL="0">
              <a:buNone/>
            </a:pPr>
            <a:r>
              <a:rPr lang="en-US" sz="1500" dirty="0">
                <a:solidFill>
                  <a:srgbClr val="333B4F"/>
                </a:solidFill>
                <a:latin typeface="Calibri" pitchFamily="34" charset="0"/>
                <a:ea typeface="Calibri" pitchFamily="34" charset="-122"/>
                <a:cs typeface="Calibri" pitchFamily="34" charset="-120"/>
              </a:rPr>
              <a:t>Install this one on your computer (.NET 10 SDK).</a:t>
            </a:r>
            <a:endParaRPr lang="en-US" sz="1500" dirty="0"/>
          </a:p>
        </p:txBody>
      </p:sp>
      <p:sp>
        <p:nvSpPr>
          <p:cNvPr id="33" name="Shape 29"/>
          <p:cNvSpPr/>
          <p:nvPr/>
        </p:nvSpPr>
        <p:spPr>
          <a:xfrm>
            <a:off x="6217920" y="3337560"/>
            <a:ext cx="5440680" cy="2606040"/>
          </a:xfrm>
          <a:prstGeom prst="roundRect">
            <a:avLst>
              <a:gd name="adj" fmla="val 4211"/>
            </a:avLst>
          </a:prstGeom>
          <a:solidFill>
            <a:srgbClr val="EEF1F6"/>
          </a:solidFill>
          <a:ln w="12700">
            <a:solidFill>
              <a:srgbClr val="EEF1F6"/>
            </a:solidFill>
            <a:prstDash val="solid"/>
          </a:ln>
        </p:spPr>
      </p:sp>
      <p:sp>
        <p:nvSpPr>
          <p:cNvPr id="34" name="Shape 30"/>
          <p:cNvSpPr/>
          <p:nvPr/>
        </p:nvSpPr>
        <p:spPr>
          <a:xfrm>
            <a:off x="6446520" y="3566160"/>
            <a:ext cx="566928" cy="566928"/>
          </a:xfrm>
          <a:prstGeom prst="ellipse">
            <a:avLst/>
          </a:prstGeom>
          <a:solidFill>
            <a:srgbClr val="2E9E6A"/>
          </a:solidFill>
          <a:ln w="12700">
            <a:solidFill>
              <a:srgbClr val="2E9E6A"/>
            </a:solidFill>
            <a:prstDash val="solid"/>
          </a:ln>
        </p:spPr>
      </p:sp>
      <p:pic>
        <p:nvPicPr>
          <p:cNvPr id="35" name="Image 1" descr="preencoded.png">    </p:cNvPr>
          <p:cNvPicPr>
            <a:picLocks noChangeAspect="1"/>
          </p:cNvPicPr>
          <p:nvPr/>
        </p:nvPicPr>
        <p:blipFill>
          <a:blip r:embed="rId2"/>
          <a:stretch>
            <a:fillRect/>
          </a:stretch>
        </p:blipFill>
        <p:spPr>
          <a:xfrm>
            <a:off x="6593921" y="3713561"/>
            <a:ext cx="272125" cy="272125"/>
          </a:xfrm>
          <a:prstGeom prst="rect">
            <a:avLst/>
          </a:prstGeom>
        </p:spPr>
      </p:pic>
      <p:sp>
        <p:nvSpPr>
          <p:cNvPr id="36" name="Text 31"/>
          <p:cNvSpPr txBox="1"/>
          <p:nvPr/>
        </p:nvSpPr>
        <p:spPr>
          <a:xfrm>
            <a:off x="7132320" y="356616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.NET Runtime — for users</a:t>
            </a:r>
            <a:endParaRPr lang="en-US" sz="1700" dirty="0"/>
          </a:p>
        </p:txBody>
      </p:sp>
      <p:sp>
        <p:nvSpPr>
          <p:cNvPr id="37" name="Text 32"/>
          <p:cNvSpPr txBox="1"/>
          <p:nvPr/>
        </p:nvSpPr>
        <p:spPr>
          <a:xfrm>
            <a:off x="6446520" y="4251960"/>
            <a:ext cx="4983480" cy="155448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Only what is needed to RUN a finished app: the CLR (with the JIT) and the base class library (Console, Math …).</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YOUR FIRST PROJECT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Create and Run a Console Project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600200"/>
            <a:ext cx="6492240" cy="4343400"/>
          </a:xfrm>
          <a:prstGeom prst="roundRect">
            <a:avLst>
              <a:gd name="adj" fmla="val 2105"/>
            </a:avLst>
          </a:prstGeom>
          <a:solidFill>
            <a:srgbClr val="0B0F19"/>
          </a:solidFill>
          <a:ln w="12700">
            <a:solidFill>
              <a:srgbClr val="2A3654"/>
            </a:solidFill>
            <a:prstDash val="solid"/>
          </a:ln>
        </p:spPr>
      </p:sp>
      <p:sp>
        <p:nvSpPr>
          <p:cNvPr id="8" name="Shape 5"/>
          <p:cNvSpPr/>
          <p:nvPr/>
        </p:nvSpPr>
        <p:spPr>
          <a:xfrm>
            <a:off x="731520" y="172821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2821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2821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673352"/>
            <a:ext cx="5394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Terminal (VS Code)</a:t>
            </a:r>
            <a:endParaRPr lang="en-US" sz="1000" dirty="0"/>
          </a:p>
        </p:txBody>
      </p:sp>
      <p:sp>
        <p:nvSpPr>
          <p:cNvPr id="12" name="Text 9"/>
          <p:cNvSpPr txBox="1"/>
          <p:nvPr/>
        </p:nvSpPr>
        <p:spPr>
          <a:xfrm>
            <a:off x="777240" y="1984248"/>
            <a:ext cx="6035040" cy="38404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&gt;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dotnet --version</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10.0.112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&gt;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dotnet new console -n Hello</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The template "Console App" was created successfully.</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Processing post-creation actions...</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Restoring ...\Hello\Hello.csproj:</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Restore succeeded.</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&gt;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cd Hello</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&gt;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dotnet run</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Hello, World!</a:t>
            </a:r>
            <a:endParaRPr lang="en-US" sz="1300" dirty="0"/>
          </a:p>
        </p:txBody>
      </p:sp>
      <p:sp>
        <p:nvSpPr>
          <p:cNvPr id="13" name="Shape 10"/>
          <p:cNvSpPr/>
          <p:nvPr/>
        </p:nvSpPr>
        <p:spPr>
          <a:xfrm>
            <a:off x="7269480" y="1600200"/>
            <a:ext cx="4389120" cy="1325880"/>
          </a:xfrm>
          <a:prstGeom prst="roundRect">
            <a:avLst>
              <a:gd name="adj" fmla="val 8276"/>
            </a:avLst>
          </a:prstGeom>
          <a:solidFill>
            <a:srgbClr val="EEF1F6"/>
          </a:solidFill>
          <a:ln w="12700">
            <a:solidFill>
              <a:srgbClr val="EEF1F6"/>
            </a:solidFill>
            <a:prstDash val="solid"/>
          </a:ln>
        </p:spPr>
      </p:sp>
      <p:sp>
        <p:nvSpPr>
          <p:cNvPr id="14" name="Shape 11"/>
          <p:cNvSpPr/>
          <p:nvPr/>
        </p:nvSpPr>
        <p:spPr>
          <a:xfrm>
            <a:off x="7452360" y="1874520"/>
            <a:ext cx="731520" cy="731520"/>
          </a:xfrm>
          <a:prstGeom prst="ellipse">
            <a:avLst/>
          </a:prstGeom>
          <a:solidFill>
            <a:srgbClr val="14213D"/>
          </a:solidFill>
          <a:ln w="12700">
            <a:solidFill>
              <a:srgbClr val="14213D"/>
            </a:solidFill>
            <a:prstDash val="solid"/>
          </a:ln>
        </p:spPr>
      </p:sp>
      <p:pic>
        <p:nvPicPr>
          <p:cNvPr id="15" name="Image 0" descr="preencoded.png">    </p:cNvPr>
          <p:cNvPicPr>
            <a:picLocks noChangeAspect="1"/>
          </p:cNvPicPr>
          <p:nvPr/>
        </p:nvPicPr>
        <p:blipFill>
          <a:blip r:embed="rId1"/>
          <a:stretch>
            <a:fillRect/>
          </a:stretch>
        </p:blipFill>
        <p:spPr>
          <a:xfrm>
            <a:off x="7642555" y="2064715"/>
            <a:ext cx="351130" cy="351130"/>
          </a:xfrm>
          <a:prstGeom prst="rect">
            <a:avLst/>
          </a:prstGeom>
        </p:spPr>
      </p:pic>
      <p:sp>
        <p:nvSpPr>
          <p:cNvPr id="16" name="Text 12"/>
          <p:cNvSpPr txBox="1"/>
          <p:nvPr/>
        </p:nvSpPr>
        <p:spPr>
          <a:xfrm>
            <a:off x="8366760" y="1783080"/>
            <a:ext cx="3200400" cy="41148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Open the folder</a:t>
            </a:r>
            <a:endParaRPr lang="en-US" sz="1700" dirty="0"/>
          </a:p>
        </p:txBody>
      </p:sp>
      <p:sp>
        <p:nvSpPr>
          <p:cNvPr id="17" name="Text 13"/>
          <p:cNvSpPr txBox="1"/>
          <p:nvPr/>
        </p:nvSpPr>
        <p:spPr>
          <a:xfrm>
            <a:off x="8366760" y="2221992"/>
            <a:ext cx="3200400" cy="50292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File ▸ Open Folder… ▸ Hello</a:t>
            </a:r>
            <a:endParaRPr lang="en-US" sz="1400" dirty="0"/>
          </a:p>
        </p:txBody>
      </p:sp>
      <p:sp>
        <p:nvSpPr>
          <p:cNvPr id="18" name="Shape 14"/>
          <p:cNvSpPr/>
          <p:nvPr/>
        </p:nvSpPr>
        <p:spPr>
          <a:xfrm>
            <a:off x="7269480" y="3081528"/>
            <a:ext cx="4389120" cy="1325880"/>
          </a:xfrm>
          <a:prstGeom prst="roundRect">
            <a:avLst>
              <a:gd name="adj" fmla="val 8276"/>
            </a:avLst>
          </a:prstGeom>
          <a:solidFill>
            <a:srgbClr val="EEF1F6"/>
          </a:solidFill>
          <a:ln w="12700">
            <a:solidFill>
              <a:srgbClr val="EEF1F6"/>
            </a:solidFill>
            <a:prstDash val="solid"/>
          </a:ln>
        </p:spPr>
      </p:sp>
      <p:sp>
        <p:nvSpPr>
          <p:cNvPr id="19" name="Shape 15"/>
          <p:cNvSpPr/>
          <p:nvPr/>
        </p:nvSpPr>
        <p:spPr>
          <a:xfrm>
            <a:off x="7452360" y="3355848"/>
            <a:ext cx="731520" cy="731520"/>
          </a:xfrm>
          <a:prstGeom prst="ellipse">
            <a:avLst/>
          </a:prstGeom>
          <a:solidFill>
            <a:srgbClr val="14213D"/>
          </a:solidFill>
          <a:ln w="12700">
            <a:solidFill>
              <a:srgbClr val="14213D"/>
            </a:solidFill>
            <a:prstDash val="solid"/>
          </a:ln>
        </p:spPr>
      </p:sp>
      <p:pic>
        <p:nvPicPr>
          <p:cNvPr id="20" name="Image 1" descr="preencoded.png">    </p:cNvPr>
          <p:cNvPicPr>
            <a:picLocks noChangeAspect="1"/>
          </p:cNvPicPr>
          <p:nvPr/>
        </p:nvPicPr>
        <p:blipFill>
          <a:blip r:embed="rId2"/>
          <a:stretch>
            <a:fillRect/>
          </a:stretch>
        </p:blipFill>
        <p:spPr>
          <a:xfrm>
            <a:off x="7642555" y="3546043"/>
            <a:ext cx="351130" cy="351130"/>
          </a:xfrm>
          <a:prstGeom prst="rect">
            <a:avLst/>
          </a:prstGeom>
        </p:spPr>
      </p:pic>
      <p:sp>
        <p:nvSpPr>
          <p:cNvPr id="21" name="Text 16"/>
          <p:cNvSpPr txBox="1"/>
          <p:nvPr/>
        </p:nvSpPr>
        <p:spPr>
          <a:xfrm>
            <a:off x="8366760" y="3264408"/>
            <a:ext cx="3200400" cy="41148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Edit Program.cs</a:t>
            </a:r>
            <a:endParaRPr lang="en-US" sz="1700" dirty="0"/>
          </a:p>
        </p:txBody>
      </p:sp>
      <p:sp>
        <p:nvSpPr>
          <p:cNvPr id="22" name="Text 17"/>
          <p:cNvSpPr txBox="1"/>
          <p:nvPr/>
        </p:nvSpPr>
        <p:spPr>
          <a:xfrm>
            <a:off x="8366760" y="3703320"/>
            <a:ext cx="3200400" cy="50292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Your statements go here</a:t>
            </a:r>
            <a:endParaRPr lang="en-US" sz="1400" dirty="0"/>
          </a:p>
        </p:txBody>
      </p:sp>
      <p:sp>
        <p:nvSpPr>
          <p:cNvPr id="23" name="Shape 18"/>
          <p:cNvSpPr/>
          <p:nvPr/>
        </p:nvSpPr>
        <p:spPr>
          <a:xfrm>
            <a:off x="7269480" y="4562856"/>
            <a:ext cx="4389120" cy="1325880"/>
          </a:xfrm>
          <a:prstGeom prst="roundRect">
            <a:avLst>
              <a:gd name="adj" fmla="val 8276"/>
            </a:avLst>
          </a:prstGeom>
          <a:solidFill>
            <a:srgbClr val="EEF1F6"/>
          </a:solidFill>
          <a:ln w="12700">
            <a:solidFill>
              <a:srgbClr val="EEF1F6"/>
            </a:solidFill>
            <a:prstDash val="solid"/>
          </a:ln>
        </p:spPr>
      </p:sp>
      <p:sp>
        <p:nvSpPr>
          <p:cNvPr id="24" name="Shape 19"/>
          <p:cNvSpPr/>
          <p:nvPr/>
        </p:nvSpPr>
        <p:spPr>
          <a:xfrm>
            <a:off x="7452360" y="4837176"/>
            <a:ext cx="731520" cy="731520"/>
          </a:xfrm>
          <a:prstGeom prst="ellipse">
            <a:avLst/>
          </a:prstGeom>
          <a:solidFill>
            <a:srgbClr val="2E9E6A"/>
          </a:solidFill>
          <a:ln w="12700">
            <a:solidFill>
              <a:srgbClr val="2E9E6A"/>
            </a:solidFill>
            <a:prstDash val="solid"/>
          </a:ln>
        </p:spPr>
      </p:sp>
      <p:pic>
        <p:nvPicPr>
          <p:cNvPr id="25" name="Image 2" descr="preencoded.png">    </p:cNvPr>
          <p:cNvPicPr>
            <a:picLocks noChangeAspect="1"/>
          </p:cNvPicPr>
          <p:nvPr/>
        </p:nvPicPr>
        <p:blipFill>
          <a:blip r:embed="rId3"/>
          <a:stretch>
            <a:fillRect/>
          </a:stretch>
        </p:blipFill>
        <p:spPr>
          <a:xfrm>
            <a:off x="7642555" y="5027371"/>
            <a:ext cx="351130" cy="351130"/>
          </a:xfrm>
          <a:prstGeom prst="rect">
            <a:avLst/>
          </a:prstGeom>
        </p:spPr>
      </p:pic>
      <p:sp>
        <p:nvSpPr>
          <p:cNvPr id="26" name="Text 20"/>
          <p:cNvSpPr txBox="1"/>
          <p:nvPr/>
        </p:nvSpPr>
        <p:spPr>
          <a:xfrm>
            <a:off x="8366760" y="4745736"/>
            <a:ext cx="3200400" cy="41148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Run</a:t>
            </a:r>
            <a:endParaRPr lang="en-US" sz="1700" dirty="0"/>
          </a:p>
        </p:txBody>
      </p:sp>
      <p:sp>
        <p:nvSpPr>
          <p:cNvPr id="27" name="Text 21"/>
          <p:cNvSpPr txBox="1"/>
          <p:nvPr/>
        </p:nvSpPr>
        <p:spPr>
          <a:xfrm>
            <a:off x="8366760" y="5184648"/>
            <a:ext cx="3200400" cy="50292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Ctrl+F5, or type dotnet run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PROJECT FILES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Inside the Project: Program.cs and the .csproj File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600200"/>
            <a:ext cx="6583680" cy="3063240"/>
          </a:xfrm>
          <a:prstGeom prst="roundRect">
            <a:avLst>
              <a:gd name="adj" fmla="val 2985"/>
            </a:avLst>
          </a:prstGeom>
          <a:solidFill>
            <a:srgbClr val="0F1729"/>
          </a:solidFill>
          <a:ln w="12700">
            <a:solidFill>
              <a:srgbClr val="0F1729"/>
            </a:solidFill>
            <a:prstDash val="solid"/>
          </a:ln>
        </p:spPr>
      </p:sp>
      <p:sp>
        <p:nvSpPr>
          <p:cNvPr id="8" name="Text 5"/>
          <p:cNvSpPr txBox="1"/>
          <p:nvPr/>
        </p:nvSpPr>
        <p:spPr>
          <a:xfrm>
            <a:off x="777240" y="1709928"/>
            <a:ext cx="6126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Hello.csproj (our course template)</a:t>
            </a:r>
            <a:endParaRPr lang="en-US" sz="1100" dirty="0"/>
          </a:p>
        </p:txBody>
      </p:sp>
      <p:sp>
        <p:nvSpPr>
          <p:cNvPr id="9" name="Text 6"/>
          <p:cNvSpPr txBox="1"/>
          <p:nvPr/>
        </p:nvSpPr>
        <p:spPr>
          <a:xfrm>
            <a:off x="777240" y="2011680"/>
            <a:ext cx="6126480" cy="2542032"/>
          </a:xfrm>
          <a:prstGeom prst="rect">
            <a:avLst/>
          </a:prstGeom>
          <a:noFill/>
          <a:ln/>
        </p:spPr>
        <p:txBody>
          <a:bodyPr wrap="square" lIns="0" tIns="0" rIns="0" bIns="0" rtlCol="0" anchor="t"/>
          <a:lstStyle/>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&lt;Project Sdk="Microsoft.NET.Sdk"&gt;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&lt;PropertyGroup&gt;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&lt;OutputType&gt;Exe&lt;/OutputType&gt;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&lt;TargetFramework&gt;net10.0&lt;/TargetFramework&gt;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&lt;ImplicitUsings&gt;enable&lt;/ImplicitUsings&gt;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&lt;Nullable&gt;disable&lt;/Nullable&gt;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&lt;InvariantGlobalization&gt;true&lt;/InvariantGlobalization&gt;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&lt;/PropertyGroup&gt;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&lt;/Project&gt;</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0" y="1600200"/>
          <a:ext cx="4343400" cy="914400"/>
        </p:xfrm>
        <a:graphic>
          <a:graphicData uri="http://schemas.openxmlformats.org/drawingml/2006/table">
            <a:tbl>
              <a:tblPr/>
              <a:tblGrid>
                <a:gridCol w="2057400"/>
                <a:gridCol w="2286000"/>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Exe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build a runnable program</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net10.0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target .NET 10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ImplicitUsings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System etc. imported for us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B7791F"/>
                          </a:solidFill>
                          <a:latin typeface="Calibri" pitchFamily="34" charset="0"/>
                          <a:ea typeface="Calibri" pitchFamily="34" charset="-122"/>
                          <a:cs typeface="Calibri" pitchFamily="34" charset="-120"/>
                        </a:rPr>
                        <a:t>Nullable disable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no null-warnings on ReadLine()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300" b="1" dirty="0">
                          <a:solidFill>
                            <a:srgbClr val="B7791F"/>
                          </a:solidFill>
                          <a:latin typeface="Calibri" pitchFamily="34" charset="0"/>
                          <a:ea typeface="Calibri" pitchFamily="34" charset="-122"/>
                          <a:cs typeface="Calibri" pitchFamily="34" charset="-120"/>
                        </a:rPr>
                        <a:t>InvariantGlobalization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72.5 works on Turkish PCs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4846320"/>
            <a:ext cx="6583680" cy="1143000"/>
          </a:xfrm>
          <a:prstGeom prst="roundRect">
            <a:avLst>
              <a:gd name="adj" fmla="val 9600"/>
            </a:avLst>
          </a:prstGeom>
          <a:solidFill>
            <a:srgbClr val="EEF1F6"/>
          </a:solidFill>
          <a:ln w="12700">
            <a:solidFill>
              <a:srgbClr val="EEF1F6"/>
            </a:solidFill>
            <a:prstDash val="solid"/>
          </a:ln>
        </p:spPr>
      </p:sp>
      <p:sp>
        <p:nvSpPr>
          <p:cNvPr id="12" name="Text 8"/>
          <p:cNvSpPr txBox="1"/>
          <p:nvPr/>
        </p:nvSpPr>
        <p:spPr>
          <a:xfrm>
            <a:off x="777240" y="4919472"/>
            <a:ext cx="6217920" cy="1005840"/>
          </a:xfrm>
          <a:prstGeom prst="rect">
            <a:avLst/>
          </a:prstGeom>
          <a:noFill/>
          <a:ln/>
        </p:spPr>
        <p:txBody>
          <a:bodyPr wrap="square" lIns="0" tIns="0" rIns="0" bIns="0" rtlCol="0" anchor="ctr"/>
          <a:lstStyle/>
          <a:p>
            <a:pPr indent="0" marL="0">
              <a:buNone/>
            </a:pPr>
            <a:r>
              <a:rPr lang="en-US" sz="1300" b="1" dirty="0">
                <a:solidFill>
                  <a:srgbClr val="14213D"/>
                </a:solidFill>
                <a:latin typeface="Courier New" pitchFamily="34" charset="0"/>
                <a:ea typeface="Courier New" pitchFamily="34" charset="-122"/>
                <a:cs typeface="Courier New" pitchFamily="34" charset="-120"/>
              </a:rPr>
              <a:t>Hello/</a:t>
            </a:r>
            <a:endParaRPr lang="en-US" sz="1300" dirty="0"/>
          </a:p>
          <a:p>
            <a:pPr indent="0" marL="0">
              <a:buNone/>
            </a:pPr>
            <a:r>
              <a:rPr lang="en-US" sz="1300" dirty="0">
                <a:solidFill>
                  <a:srgbClr val="333B4F"/>
                </a:solidFill>
                <a:latin typeface="Courier New" pitchFamily="34" charset="0"/>
                <a:ea typeface="Courier New" pitchFamily="34" charset="-122"/>
                <a:cs typeface="Courier New" pitchFamily="34" charset="-120"/>
              </a:rPr>
              <a:t>   ├─ Hello.csproj  — build settings</a:t>
            </a:r>
            <a:endParaRPr lang="en-US" sz="1300" dirty="0"/>
          </a:p>
          <a:p>
            <a:pPr indent="0" marL="0">
              <a:buNone/>
            </a:pPr>
            <a:r>
              <a:rPr lang="en-US" sz="1300" dirty="0">
                <a:solidFill>
                  <a:srgbClr val="333B4F"/>
                </a:solidFill>
                <a:latin typeface="Courier New" pitchFamily="34" charset="0"/>
                <a:ea typeface="Courier New" pitchFamily="34" charset="-122"/>
                <a:cs typeface="Courier New" pitchFamily="34" charset="-120"/>
              </a:rPr>
              <a:t>   ├─ Program.cs    — your code</a:t>
            </a:r>
            <a:endParaRPr lang="en-US" sz="1300" dirty="0"/>
          </a:p>
          <a:p>
            <a:pPr indent="0" marL="0">
              <a:buNone/>
            </a:pPr>
            <a:r>
              <a:rPr lang="en-US" sz="1300" dirty="0">
                <a:solidFill>
                  <a:srgbClr val="333B4F"/>
                </a:solidFill>
                <a:latin typeface="Courier New" pitchFamily="34" charset="0"/>
                <a:ea typeface="Courier New" pitchFamily="34" charset="-122"/>
                <a:cs typeface="Courier New" pitchFamily="34" charset="-120"/>
              </a:rPr>
              <a:t>   ├─ bin/  obj/    — build output (generated)</a:t>
            </a:r>
            <a:endParaRPr lang="en-US" sz="1300" dirty="0"/>
          </a:p>
        </p:txBody>
      </p:sp>
      <p:sp>
        <p:nvSpPr>
          <p:cNvPr id="13" name="Shape 9"/>
          <p:cNvSpPr/>
          <p:nvPr/>
        </p:nvSpPr>
        <p:spPr>
          <a:xfrm>
            <a:off x="7315200" y="4663440"/>
            <a:ext cx="4343400" cy="1325880"/>
          </a:xfrm>
          <a:prstGeom prst="roundRect">
            <a:avLst>
              <a:gd name="adj" fmla="val 8276"/>
            </a:avLst>
          </a:prstGeom>
          <a:solidFill>
            <a:srgbClr val="FFF6E3"/>
          </a:solidFill>
          <a:ln w="12700">
            <a:solidFill>
              <a:srgbClr val="FFF6E3"/>
            </a:solidFill>
            <a:prstDash val="solid"/>
          </a:ln>
        </p:spPr>
      </p:sp>
      <p:pic>
        <p:nvPicPr>
          <p:cNvPr id="14" name="Image 0" descr="preencoded.png">    </p:cNvPr>
          <p:cNvPicPr>
            <a:picLocks noChangeAspect="1"/>
          </p:cNvPicPr>
          <p:nvPr/>
        </p:nvPicPr>
        <p:blipFill>
          <a:blip r:embed="rId1"/>
          <a:stretch>
            <a:fillRect/>
          </a:stretch>
        </p:blipFill>
        <p:spPr>
          <a:xfrm>
            <a:off x="7589520" y="5052060"/>
            <a:ext cx="548640" cy="548640"/>
          </a:xfrm>
          <a:prstGeom prst="rect">
            <a:avLst/>
          </a:prstGeom>
        </p:spPr>
      </p:pic>
      <p:sp>
        <p:nvSpPr>
          <p:cNvPr id="15" name="Text 10"/>
          <p:cNvSpPr txBox="1"/>
          <p:nvPr/>
        </p:nvSpPr>
        <p:spPr>
          <a:xfrm>
            <a:off x="8412480" y="4736592"/>
            <a:ext cx="2971800" cy="1179576"/>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Without our template, int.Parse(Console.ReadLine()) shows warning CS8604.</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PROGRAM STRUCTURE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Top-Level Statements vs the Classic Main Method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00200"/>
            <a:ext cx="4480560" cy="2377440"/>
          </a:xfrm>
          <a:prstGeom prst="roundRect">
            <a:avLst>
              <a:gd name="adj" fmla="val 3846"/>
            </a:avLst>
          </a:prstGeom>
          <a:solidFill>
            <a:srgbClr val="0F1729"/>
          </a:solidFill>
          <a:ln w="12700">
            <a:solidFill>
              <a:srgbClr val="0F1729"/>
            </a:solidFill>
            <a:prstDash val="solid"/>
          </a:ln>
        </p:spPr>
      </p:sp>
      <p:sp>
        <p:nvSpPr>
          <p:cNvPr id="8" name="Text 5"/>
          <p:cNvSpPr txBox="1"/>
          <p:nvPr/>
        </p:nvSpPr>
        <p:spPr>
          <a:xfrm>
            <a:off x="777240" y="1709928"/>
            <a:ext cx="40233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TOP-LEVEL STATEMENTS  (C# 9+)</a:t>
            </a:r>
            <a:endParaRPr lang="en-US" sz="1100" dirty="0"/>
          </a:p>
        </p:txBody>
      </p:sp>
      <p:sp>
        <p:nvSpPr>
          <p:cNvPr id="9" name="Text 6"/>
          <p:cNvSpPr txBox="1"/>
          <p:nvPr/>
        </p:nvSpPr>
        <p:spPr>
          <a:xfrm>
            <a:off x="777240" y="2011680"/>
            <a:ext cx="4023360" cy="1856232"/>
          </a:xfrm>
          <a:prstGeom prst="rect">
            <a:avLst/>
          </a:prstGeom>
          <a:noFill/>
          <a:ln/>
        </p:spPr>
        <p:txBody>
          <a:bodyPr wrap="square" lIns="0" tIns="0" rIns="0" bIns="0" rtlCol="0" anchor="t"/>
          <a:lstStyle/>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Program.cs  (what we write)</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"Hello from Main!"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"Top-level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212080" y="1600200"/>
            <a:ext cx="6446520" cy="4343400"/>
          </a:xfrm>
          <a:prstGeom prst="roundRect">
            <a:avLst>
              <a:gd name="adj" fmla="val 2105"/>
            </a:avLst>
          </a:prstGeom>
          <a:solidFill>
            <a:srgbClr val="0F1729"/>
          </a:solidFill>
          <a:ln w="12700">
            <a:solidFill>
              <a:srgbClr val="0F1729"/>
            </a:solidFill>
            <a:prstDash val="solid"/>
          </a:ln>
        </p:spPr>
      </p:sp>
      <p:sp>
        <p:nvSpPr>
          <p:cNvPr id="11" name="Text 8"/>
          <p:cNvSpPr txBox="1"/>
          <p:nvPr/>
        </p:nvSpPr>
        <p:spPr>
          <a:xfrm>
            <a:off x="5440680" y="1709928"/>
            <a:ext cx="59893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CLASSIC TEMPLATE  (example 03_02)</a:t>
            </a:r>
            <a:endParaRPr lang="en-US" sz="1100" dirty="0"/>
          </a:p>
        </p:txBody>
      </p:sp>
      <p:sp>
        <p:nvSpPr>
          <p:cNvPr id="12" name="Text 9"/>
          <p:cNvSpPr txBox="1"/>
          <p:nvPr/>
        </p:nvSpPr>
        <p:spPr>
          <a:xfrm>
            <a:off x="5440680" y="2011680"/>
            <a:ext cx="5989320" cy="382219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namespace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ClassicHello</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class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Program</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Main()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Execution starts here.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"Hello from Main!"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"The classic form."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548640" y="4160520"/>
            <a:ext cx="4480560" cy="1783080"/>
          </a:xfrm>
          <a:prstGeom prst="roundRect">
            <a:avLst>
              <a:gd name="adj" fmla="val 5128"/>
            </a:avLst>
          </a:prstGeom>
          <a:solidFill>
            <a:srgbClr val="0B0F19"/>
          </a:solidFill>
          <a:ln w="12700">
            <a:solidFill>
              <a:srgbClr val="2A3654"/>
            </a:solidFill>
            <a:prstDash val="solid"/>
          </a:ln>
        </p:spPr>
      </p:sp>
      <p:sp>
        <p:nvSpPr>
          <p:cNvPr id="14" name="Shape 11"/>
          <p:cNvSpPr/>
          <p:nvPr/>
        </p:nvSpPr>
        <p:spPr>
          <a:xfrm>
            <a:off x="731520" y="4288536"/>
            <a:ext cx="118872" cy="118872"/>
          </a:xfrm>
          <a:prstGeom prst="ellipse">
            <a:avLst/>
          </a:prstGeom>
          <a:solidFill>
            <a:srgbClr val="FF5F57"/>
          </a:solidFill>
          <a:ln w="12700">
            <a:solidFill>
              <a:srgbClr val="FF5F57"/>
            </a:solidFill>
            <a:prstDash val="solid"/>
          </a:ln>
        </p:spPr>
      </p:sp>
      <p:sp>
        <p:nvSpPr>
          <p:cNvPr id="15" name="Shape 12"/>
          <p:cNvSpPr/>
          <p:nvPr/>
        </p:nvSpPr>
        <p:spPr>
          <a:xfrm>
            <a:off x="960120" y="4288536"/>
            <a:ext cx="118872" cy="118872"/>
          </a:xfrm>
          <a:prstGeom prst="ellipse">
            <a:avLst/>
          </a:prstGeom>
          <a:solidFill>
            <a:srgbClr val="FEBC2E"/>
          </a:solidFill>
          <a:ln w="12700">
            <a:solidFill>
              <a:srgbClr val="FEBC2E"/>
            </a:solidFill>
            <a:prstDash val="solid"/>
          </a:ln>
        </p:spPr>
      </p:sp>
      <p:sp>
        <p:nvSpPr>
          <p:cNvPr id="16" name="Shape 13"/>
          <p:cNvSpPr/>
          <p:nvPr/>
        </p:nvSpPr>
        <p:spPr>
          <a:xfrm>
            <a:off x="1188720" y="42885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1463040" y="42336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5"/>
          <p:cNvSpPr txBox="1"/>
          <p:nvPr/>
        </p:nvSpPr>
        <p:spPr>
          <a:xfrm>
            <a:off x="777240" y="4544568"/>
            <a:ext cx="4023360" cy="12801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Hello from Main!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The classic form.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SYNTAX BASICS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Statements, Semicolons, Case and Comments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600200"/>
            <a:ext cx="6309360" cy="4343400"/>
          </a:xfrm>
          <a:prstGeom prst="roundRect">
            <a:avLst>
              <a:gd name="adj" fmla="val 2105"/>
            </a:avLst>
          </a:prstGeom>
          <a:solidFill>
            <a:srgbClr val="0F1729"/>
          </a:solidFill>
          <a:ln w="12700">
            <a:solidFill>
              <a:srgbClr val="0F1729"/>
            </a:solidFill>
            <a:prstDash val="solid"/>
          </a:ln>
        </p:spPr>
      </p:sp>
      <p:sp>
        <p:nvSpPr>
          <p:cNvPr id="8" name="Text 5"/>
          <p:cNvSpPr txBox="1"/>
          <p:nvPr/>
        </p:nvSpPr>
        <p:spPr>
          <a:xfrm>
            <a:off x="777240" y="1709928"/>
            <a:ext cx="58521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a:t>
            </a:r>
            <a:endParaRPr lang="en-US" sz="1100" dirty="0"/>
          </a:p>
        </p:txBody>
      </p:sp>
      <p:sp>
        <p:nvSpPr>
          <p:cNvPr id="9" name="Text 6"/>
          <p:cNvSpPr txBox="1"/>
          <p:nvPr/>
        </p:nvSpPr>
        <p:spPr>
          <a:xfrm>
            <a:off x="777240" y="2011680"/>
            <a:ext cx="5852160" cy="3822192"/>
          </a:xfrm>
          <a:prstGeom prst="rect">
            <a:avLst/>
          </a:prstGeom>
          <a:noFill/>
          <a:ln/>
        </p:spPr>
        <p:txBody>
          <a:bodyPr wrap="square" lIns="0" tIns="0" rIns="0" bIns="0" rtlCol="0" anchor="t"/>
          <a:lstStyle/>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single-line comment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 comment that spans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several lines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age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19</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 ends a statement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.WriteLine(age);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prints 19</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console.WriteLine(age); // CS0103: c ≠ C</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int Age = 20;           // Age ≠ age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total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spaces ignored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 but keep it tidy</a:t>
            </a:r>
            <a:endParaRPr lang="en-US" sz="1300" dirty="0"/>
          </a:p>
        </p:txBody>
      </p:sp>
      <p:sp>
        <p:nvSpPr>
          <p:cNvPr id="10" name="Shape 7"/>
          <p:cNvSpPr/>
          <p:nvPr/>
        </p:nvSpPr>
        <p:spPr>
          <a:xfrm>
            <a:off x="7086600" y="1600200"/>
            <a:ext cx="4572000" cy="987552"/>
          </a:xfrm>
          <a:prstGeom prst="roundRect">
            <a:avLst>
              <a:gd name="adj" fmla="val 11111"/>
            </a:avLst>
          </a:prstGeom>
          <a:solidFill>
            <a:srgbClr val="EEF1F6"/>
          </a:solidFill>
          <a:ln w="12700">
            <a:solidFill>
              <a:srgbClr val="EEF1F6"/>
            </a:solidFill>
            <a:prstDash val="solid"/>
          </a:ln>
        </p:spPr>
      </p:sp>
      <p:sp>
        <p:nvSpPr>
          <p:cNvPr id="11" name="Shape 8"/>
          <p:cNvSpPr/>
          <p:nvPr/>
        </p:nvSpPr>
        <p:spPr>
          <a:xfrm>
            <a:off x="7242048" y="1783080"/>
            <a:ext cx="621792" cy="621792"/>
          </a:xfrm>
          <a:prstGeom prst="ellipse">
            <a:avLst/>
          </a:prstGeom>
          <a:solidFill>
            <a:srgbClr val="14213D"/>
          </a:solidFill>
          <a:ln w="12700">
            <a:solidFill>
              <a:srgbClr val="14213D"/>
            </a:solidFill>
            <a:prstDash val="solid"/>
          </a:ln>
        </p:spPr>
      </p:sp>
      <p:pic>
        <p:nvPicPr>
          <p:cNvPr id="12" name="Image 0" descr="preencoded.png">    </p:cNvPr>
          <p:cNvPicPr>
            <a:picLocks noChangeAspect="1"/>
          </p:cNvPicPr>
          <p:nvPr/>
        </p:nvPicPr>
        <p:blipFill>
          <a:blip r:embed="rId1"/>
          <a:stretch>
            <a:fillRect/>
          </a:stretch>
        </p:blipFill>
        <p:spPr>
          <a:xfrm>
            <a:off x="7403714" y="1944746"/>
            <a:ext cx="298460" cy="298460"/>
          </a:xfrm>
          <a:prstGeom prst="rect">
            <a:avLst/>
          </a:prstGeom>
        </p:spPr>
      </p:pic>
      <p:sp>
        <p:nvSpPr>
          <p:cNvPr id="13" name="Text 9"/>
          <p:cNvSpPr txBox="1"/>
          <p:nvPr/>
        </p:nvSpPr>
        <p:spPr>
          <a:xfrm>
            <a:off x="8046720" y="1691640"/>
            <a:ext cx="352044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Semicolon ;</a:t>
            </a:r>
            <a:endParaRPr lang="en-US" sz="1600" dirty="0"/>
          </a:p>
        </p:txBody>
      </p:sp>
      <p:sp>
        <p:nvSpPr>
          <p:cNvPr id="14" name="Text 10"/>
          <p:cNvSpPr txBox="1"/>
          <p:nvPr/>
        </p:nvSpPr>
        <p:spPr>
          <a:xfrm>
            <a:off x="8046720" y="2057400"/>
            <a:ext cx="3520440" cy="45720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Every statement ends with ;  Missing → CS1002</a:t>
            </a:r>
            <a:endParaRPr lang="en-US" sz="1300" dirty="0"/>
          </a:p>
        </p:txBody>
      </p:sp>
      <p:sp>
        <p:nvSpPr>
          <p:cNvPr id="15" name="Shape 11"/>
          <p:cNvSpPr/>
          <p:nvPr/>
        </p:nvSpPr>
        <p:spPr>
          <a:xfrm>
            <a:off x="7086600" y="2697480"/>
            <a:ext cx="4572000" cy="987552"/>
          </a:xfrm>
          <a:prstGeom prst="roundRect">
            <a:avLst>
              <a:gd name="adj" fmla="val 11111"/>
            </a:avLst>
          </a:prstGeom>
          <a:solidFill>
            <a:srgbClr val="EEF1F6"/>
          </a:solidFill>
          <a:ln w="12700">
            <a:solidFill>
              <a:srgbClr val="EEF1F6"/>
            </a:solidFill>
            <a:prstDash val="solid"/>
          </a:ln>
        </p:spPr>
      </p:sp>
      <p:sp>
        <p:nvSpPr>
          <p:cNvPr id="16" name="Shape 12"/>
          <p:cNvSpPr/>
          <p:nvPr/>
        </p:nvSpPr>
        <p:spPr>
          <a:xfrm>
            <a:off x="7242048" y="2880360"/>
            <a:ext cx="621792" cy="621792"/>
          </a:xfrm>
          <a:prstGeom prst="ellipse">
            <a:avLst/>
          </a:prstGeom>
          <a:solidFill>
            <a:srgbClr val="C8453B"/>
          </a:solidFill>
          <a:ln w="12700">
            <a:solidFill>
              <a:srgbClr val="C8453B"/>
            </a:solidFill>
            <a:prstDash val="solid"/>
          </a:ln>
        </p:spPr>
      </p:sp>
      <p:pic>
        <p:nvPicPr>
          <p:cNvPr id="17" name="Image 1" descr="preencoded.png">    </p:cNvPr>
          <p:cNvPicPr>
            <a:picLocks noChangeAspect="1"/>
          </p:cNvPicPr>
          <p:nvPr/>
        </p:nvPicPr>
        <p:blipFill>
          <a:blip r:embed="rId2"/>
          <a:stretch>
            <a:fillRect/>
          </a:stretch>
        </p:blipFill>
        <p:spPr>
          <a:xfrm>
            <a:off x="7403714" y="3042026"/>
            <a:ext cx="298460" cy="298460"/>
          </a:xfrm>
          <a:prstGeom prst="rect">
            <a:avLst/>
          </a:prstGeom>
        </p:spPr>
      </p:pic>
      <p:sp>
        <p:nvSpPr>
          <p:cNvPr id="18" name="Text 13"/>
          <p:cNvSpPr txBox="1"/>
          <p:nvPr/>
        </p:nvSpPr>
        <p:spPr>
          <a:xfrm>
            <a:off x="8046720" y="2788920"/>
            <a:ext cx="352044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Case-sensitive</a:t>
            </a:r>
            <a:endParaRPr lang="en-US" sz="1600" dirty="0"/>
          </a:p>
        </p:txBody>
      </p:sp>
      <p:sp>
        <p:nvSpPr>
          <p:cNvPr id="19" name="Text 14"/>
          <p:cNvSpPr txBox="1"/>
          <p:nvPr/>
        </p:nvSpPr>
        <p:spPr>
          <a:xfrm>
            <a:off x="8046720" y="3154680"/>
            <a:ext cx="3520440" cy="45720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Console ≠ console,  age ≠ Age</a:t>
            </a:r>
            <a:endParaRPr lang="en-US" sz="1300" dirty="0"/>
          </a:p>
        </p:txBody>
      </p:sp>
      <p:sp>
        <p:nvSpPr>
          <p:cNvPr id="20" name="Shape 15"/>
          <p:cNvSpPr/>
          <p:nvPr/>
        </p:nvSpPr>
        <p:spPr>
          <a:xfrm>
            <a:off x="7086600" y="3794760"/>
            <a:ext cx="4572000" cy="987552"/>
          </a:xfrm>
          <a:prstGeom prst="roundRect">
            <a:avLst>
              <a:gd name="adj" fmla="val 11111"/>
            </a:avLst>
          </a:prstGeom>
          <a:solidFill>
            <a:srgbClr val="EEF1F6"/>
          </a:solidFill>
          <a:ln w="12700">
            <a:solidFill>
              <a:srgbClr val="EEF1F6"/>
            </a:solidFill>
            <a:prstDash val="solid"/>
          </a:ln>
        </p:spPr>
      </p:sp>
      <p:sp>
        <p:nvSpPr>
          <p:cNvPr id="21" name="Shape 16"/>
          <p:cNvSpPr/>
          <p:nvPr/>
        </p:nvSpPr>
        <p:spPr>
          <a:xfrm>
            <a:off x="7242048" y="3977640"/>
            <a:ext cx="621792" cy="621792"/>
          </a:xfrm>
          <a:prstGeom prst="ellipse">
            <a:avLst/>
          </a:prstGeom>
          <a:solidFill>
            <a:srgbClr val="14213D"/>
          </a:solidFill>
          <a:ln w="12700">
            <a:solidFill>
              <a:srgbClr val="14213D"/>
            </a:solidFill>
            <a:prstDash val="solid"/>
          </a:ln>
        </p:spPr>
      </p:sp>
      <p:pic>
        <p:nvPicPr>
          <p:cNvPr id="22" name="Image 2" descr="preencoded.png">    </p:cNvPr>
          <p:cNvPicPr>
            <a:picLocks noChangeAspect="1"/>
          </p:cNvPicPr>
          <p:nvPr/>
        </p:nvPicPr>
        <p:blipFill>
          <a:blip r:embed="rId3"/>
          <a:stretch>
            <a:fillRect/>
          </a:stretch>
        </p:blipFill>
        <p:spPr>
          <a:xfrm>
            <a:off x="7403714" y="4139306"/>
            <a:ext cx="298460" cy="298460"/>
          </a:xfrm>
          <a:prstGeom prst="rect">
            <a:avLst/>
          </a:prstGeom>
        </p:spPr>
      </p:pic>
      <p:sp>
        <p:nvSpPr>
          <p:cNvPr id="23" name="Text 17"/>
          <p:cNvSpPr txBox="1"/>
          <p:nvPr/>
        </p:nvSpPr>
        <p:spPr>
          <a:xfrm>
            <a:off x="8046720" y="3886200"/>
            <a:ext cx="352044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Comments</a:t>
            </a:r>
            <a:endParaRPr lang="en-US" sz="1600" dirty="0"/>
          </a:p>
        </p:txBody>
      </p:sp>
      <p:sp>
        <p:nvSpPr>
          <p:cNvPr id="24" name="Text 18"/>
          <p:cNvSpPr txBox="1"/>
          <p:nvPr/>
        </p:nvSpPr>
        <p:spPr>
          <a:xfrm>
            <a:off x="8046720" y="4251960"/>
            <a:ext cx="3520440" cy="45720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 line   and   /* block */  are ignored by the compiler</a:t>
            </a:r>
            <a:endParaRPr lang="en-US" sz="1300" dirty="0"/>
          </a:p>
        </p:txBody>
      </p:sp>
      <p:sp>
        <p:nvSpPr>
          <p:cNvPr id="25" name="Shape 19"/>
          <p:cNvSpPr/>
          <p:nvPr/>
        </p:nvSpPr>
        <p:spPr>
          <a:xfrm>
            <a:off x="7086600" y="4892040"/>
            <a:ext cx="4572000" cy="987552"/>
          </a:xfrm>
          <a:prstGeom prst="roundRect">
            <a:avLst>
              <a:gd name="adj" fmla="val 11111"/>
            </a:avLst>
          </a:prstGeom>
          <a:solidFill>
            <a:srgbClr val="EEF1F6"/>
          </a:solidFill>
          <a:ln w="12700">
            <a:solidFill>
              <a:srgbClr val="EEF1F6"/>
            </a:solidFill>
            <a:prstDash val="solid"/>
          </a:ln>
        </p:spPr>
      </p:sp>
      <p:sp>
        <p:nvSpPr>
          <p:cNvPr id="26" name="Shape 20"/>
          <p:cNvSpPr/>
          <p:nvPr/>
        </p:nvSpPr>
        <p:spPr>
          <a:xfrm>
            <a:off x="7242048" y="5074920"/>
            <a:ext cx="621792" cy="621792"/>
          </a:xfrm>
          <a:prstGeom prst="ellipse">
            <a:avLst/>
          </a:prstGeom>
          <a:solidFill>
            <a:srgbClr val="14213D"/>
          </a:solidFill>
          <a:ln w="12700">
            <a:solidFill>
              <a:srgbClr val="14213D"/>
            </a:solidFill>
            <a:prstDash val="solid"/>
          </a:ln>
        </p:spPr>
      </p:sp>
      <p:pic>
        <p:nvPicPr>
          <p:cNvPr id="27" name="Image 3" descr="preencoded.png">    </p:cNvPr>
          <p:cNvPicPr>
            <a:picLocks noChangeAspect="1"/>
          </p:cNvPicPr>
          <p:nvPr/>
        </p:nvPicPr>
        <p:blipFill>
          <a:blip r:embed="rId4"/>
          <a:stretch>
            <a:fillRect/>
          </a:stretch>
        </p:blipFill>
        <p:spPr>
          <a:xfrm>
            <a:off x="7403714" y="5236586"/>
            <a:ext cx="298460" cy="298460"/>
          </a:xfrm>
          <a:prstGeom prst="rect">
            <a:avLst/>
          </a:prstGeom>
        </p:spPr>
      </p:pic>
      <p:sp>
        <p:nvSpPr>
          <p:cNvPr id="28" name="Text 21"/>
          <p:cNvSpPr txBox="1"/>
          <p:nvPr/>
        </p:nvSpPr>
        <p:spPr>
          <a:xfrm>
            <a:off x="8046720" y="4983480"/>
            <a:ext cx="352044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Whitespace</a:t>
            </a:r>
            <a:endParaRPr lang="en-US" sz="1600" dirty="0"/>
          </a:p>
        </p:txBody>
      </p:sp>
      <p:sp>
        <p:nvSpPr>
          <p:cNvPr id="29" name="Text 22"/>
          <p:cNvSpPr txBox="1"/>
          <p:nvPr/>
        </p:nvSpPr>
        <p:spPr>
          <a:xfrm>
            <a:off x="8046720" y="5349240"/>
            <a:ext cx="3520440" cy="457200"/>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Free between tokens; indent 4 spaces for people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Output, Names and Variables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Printing text, naming things and storing values in memory</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3</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Write vs WriteLine and Escape Sequences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00200"/>
            <a:ext cx="4754880" cy="2011680"/>
          </a:xfrm>
          <a:prstGeom prst="roundRect">
            <a:avLst>
              <a:gd name="adj" fmla="val 4545"/>
            </a:avLst>
          </a:prstGeom>
          <a:solidFill>
            <a:srgbClr val="0F1729"/>
          </a:solidFill>
          <a:ln w="12700">
            <a:solidFill>
              <a:srgbClr val="0F1729"/>
            </a:solidFill>
            <a:prstDash val="solid"/>
          </a:ln>
        </p:spPr>
      </p:sp>
      <p:sp>
        <p:nvSpPr>
          <p:cNvPr id="8" name="Text 5"/>
          <p:cNvSpPr txBox="1"/>
          <p:nvPr/>
        </p:nvSpPr>
        <p:spPr>
          <a:xfrm>
            <a:off x="777240" y="1709928"/>
            <a:ext cx="4297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What is printed?</a:t>
            </a:r>
            <a:endParaRPr lang="en-US" sz="1100" dirty="0"/>
          </a:p>
        </p:txBody>
      </p:sp>
      <p:sp>
        <p:nvSpPr>
          <p:cNvPr id="9" name="Text 6"/>
          <p:cNvSpPr txBox="1"/>
          <p:nvPr/>
        </p:nvSpPr>
        <p:spPr>
          <a:xfrm>
            <a:off x="777240" y="2011680"/>
            <a:ext cx="4297680" cy="149047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"A"</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"B"</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"C"</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"D"</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548640" y="3794760"/>
            <a:ext cx="4754880" cy="1188720"/>
          </a:xfrm>
          <a:prstGeom prst="roundRect">
            <a:avLst>
              <a:gd name="adj" fmla="val 7692"/>
            </a:avLst>
          </a:prstGeom>
          <a:solidFill>
            <a:srgbClr val="0B0F19"/>
          </a:solidFill>
          <a:ln w="12700">
            <a:solidFill>
              <a:srgbClr val="2A3654"/>
            </a:solidFill>
            <a:prstDash val="solid"/>
          </a:ln>
        </p:spPr>
      </p:sp>
      <p:sp>
        <p:nvSpPr>
          <p:cNvPr id="11" name="Shape 8"/>
          <p:cNvSpPr/>
          <p:nvPr/>
        </p:nvSpPr>
        <p:spPr>
          <a:xfrm>
            <a:off x="731520" y="392277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392277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392277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3867912"/>
            <a:ext cx="3657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4178808"/>
            <a:ext cx="4297680" cy="68580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ABC</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D</a:t>
            </a:r>
            <a:endParaRPr lang="en-US" sz="1400" dirty="0"/>
          </a:p>
        </p:txBody>
      </p:sp>
      <p:sp>
        <p:nvSpPr>
          <p:cNvPr id="16" name="Text 13"/>
          <p:cNvSpPr txBox="1"/>
          <p:nvPr/>
        </p:nvSpPr>
        <p:spPr>
          <a:xfrm>
            <a:off x="548640" y="5120640"/>
            <a:ext cx="4754880" cy="822960"/>
          </a:xfrm>
          <a:prstGeom prst="rect">
            <a:avLst/>
          </a:prstGeom>
          <a:noFill/>
          <a:ln/>
        </p:spPr>
        <p:txBody>
          <a:bodyPr wrap="square" lIns="0" tIns="0" rIns="0" bIns="0" rtlCol="0" anchor="t"/>
          <a:lstStyle/>
          <a:p>
            <a:pPr indent="0" marL="0">
              <a:buNone/>
            </a:pPr>
            <a:r>
              <a:rPr lang="en-US" sz="1400" b="1" dirty="0">
                <a:solidFill>
                  <a:srgbClr val="333B4F"/>
                </a:solidFill>
                <a:latin typeface="Courier New" pitchFamily="34" charset="0"/>
                <a:ea typeface="Courier New" pitchFamily="34" charset="-122"/>
                <a:cs typeface="Courier New" pitchFamily="34" charset="-120"/>
              </a:rPr>
              <a:t>Write </a:t>
            </a:r>
            <a:pPr indent="0" marL="0">
              <a:buNone/>
            </a:pPr>
            <a:r>
              <a:rPr lang="en-US" sz="1400" dirty="0">
                <a:solidFill>
                  <a:srgbClr val="333B4F"/>
                </a:solidFill>
                <a:latin typeface="Calibri" pitchFamily="34" charset="0"/>
                <a:ea typeface="Calibri" pitchFamily="34" charset="-122"/>
                <a:cs typeface="Calibri" pitchFamily="34" charset="-120"/>
              </a:rPr>
              <a:t>keeps the cursor on the line.  </a:t>
            </a:r>
            <a:pPr indent="0" marL="0">
              <a:buNone/>
            </a:pPr>
            <a:r>
              <a:rPr lang="en-US" sz="1400" b="1" dirty="0">
                <a:solidFill>
                  <a:srgbClr val="333B4F"/>
                </a:solidFill>
                <a:latin typeface="Courier New" pitchFamily="34" charset="0"/>
                <a:ea typeface="Courier New" pitchFamily="34" charset="-122"/>
                <a:cs typeface="Courier New" pitchFamily="34" charset="-120"/>
              </a:rPr>
              <a:t>WriteLine </a:t>
            </a:r>
            <a:pPr indent="0" marL="0">
              <a:buNone/>
            </a:pPr>
            <a:r>
              <a:rPr lang="en-US" sz="1400" dirty="0">
                <a:solidFill>
                  <a:srgbClr val="333B4F"/>
                </a:solidFill>
                <a:latin typeface="Calibri" pitchFamily="34" charset="0"/>
                <a:ea typeface="Calibri" pitchFamily="34" charset="-122"/>
                <a:cs typeface="Calibri" pitchFamily="34" charset="-120"/>
              </a:rPr>
              <a:t>ends the line.</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577840" y="1600200"/>
          <a:ext cx="6080760" cy="914400"/>
        </p:xfrm>
        <a:graphic>
          <a:graphicData uri="http://schemas.openxmlformats.org/drawingml/2006/table">
            <a:tbl>
              <a:tblPr/>
              <a:tblGrid>
                <a:gridCol w="914400"/>
                <a:gridCol w="1417320"/>
                <a:gridCol w="2103120"/>
                <a:gridCol w="1645920"/>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Escape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Example in code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Printed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new line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"Line 1\nLine 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Line 1 ⏎ Line 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tab</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"Name:\tAyşe"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Name:   Ayşe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double quote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"Say \"hi\""</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Say "hi"</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backslash</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"C:\\MCMP113"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C:\MCMP113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single quote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  (a char)</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14213D"/>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verbatim string</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@"C:\MCMP113"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C:\MCMP113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8" name="Shape 14"/>
          <p:cNvSpPr/>
          <p:nvPr/>
        </p:nvSpPr>
        <p:spPr>
          <a:xfrm>
            <a:off x="5577840" y="5120640"/>
            <a:ext cx="6080760" cy="822960"/>
          </a:xfrm>
          <a:prstGeom prst="roundRect">
            <a:avLst>
              <a:gd name="adj" fmla="val 13333"/>
            </a:avLst>
          </a:prstGeom>
          <a:solidFill>
            <a:srgbClr val="FBE9E7"/>
          </a:solidFill>
          <a:ln w="12700">
            <a:solidFill>
              <a:srgbClr val="FBE9E7"/>
            </a:solidFill>
            <a:prstDash val="solid"/>
          </a:ln>
        </p:spPr>
      </p:sp>
      <p:pic>
        <p:nvPicPr>
          <p:cNvPr id="19" name="Image 0" descr="preencoded.png">    </p:cNvPr>
          <p:cNvPicPr>
            <a:picLocks noChangeAspect="1"/>
          </p:cNvPicPr>
          <p:nvPr/>
        </p:nvPicPr>
        <p:blipFill>
          <a:blip r:embed="rId1"/>
          <a:stretch>
            <a:fillRect/>
          </a:stretch>
        </p:blipFill>
        <p:spPr>
          <a:xfrm>
            <a:off x="5852160" y="5257800"/>
            <a:ext cx="548640" cy="548640"/>
          </a:xfrm>
          <a:prstGeom prst="rect">
            <a:avLst/>
          </a:prstGeom>
        </p:spPr>
      </p:pic>
      <p:sp>
        <p:nvSpPr>
          <p:cNvPr id="20" name="Text 15"/>
          <p:cNvSpPr txBox="1"/>
          <p:nvPr/>
        </p:nvSpPr>
        <p:spPr>
          <a:xfrm>
            <a:off x="6675120" y="5193792"/>
            <a:ext cx="4709160" cy="676656"/>
          </a:xfrm>
          <a:prstGeom prst="rect">
            <a:avLst/>
          </a:prstGeom>
          <a:noFill/>
          <a:ln/>
        </p:spPr>
        <p:txBody>
          <a:bodyPr wrap="square" lIns="0" tIns="0" rIns="0" bIns="0" rtlCol="0" anchor="ctr"/>
          <a:lstStyle/>
          <a:p>
            <a:pPr indent="0" marL="0">
              <a:buNone/>
            </a:pPr>
            <a:r>
              <a:rPr lang="en-US" sz="1300" dirty="0">
                <a:solidFill>
                  <a:srgbClr val="333B4F"/>
                </a:solidFill>
                <a:latin typeface="Calibri" pitchFamily="34" charset="0"/>
                <a:ea typeface="Calibri" pitchFamily="34" charset="-122"/>
                <a:cs typeface="Calibri" pitchFamily="34" charset="-120"/>
              </a:rPr>
              <a:t>"C:\Temp\new"  →  error CS1009: Unrecognized escape sequence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03_01 · HELLOCARD</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Worked Example: A Personal Student Card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600200"/>
            <a:ext cx="6720840" cy="4343400"/>
          </a:xfrm>
          <a:prstGeom prst="roundRect">
            <a:avLst>
              <a:gd name="adj" fmla="val 2105"/>
            </a:avLst>
          </a:prstGeom>
          <a:solidFill>
            <a:srgbClr val="0F1729"/>
          </a:solidFill>
          <a:ln w="12700">
            <a:solidFill>
              <a:srgbClr val="0F1729"/>
            </a:solidFill>
            <a:prstDash val="solid"/>
          </a:ln>
        </p:spPr>
      </p:sp>
      <p:sp>
        <p:nvSpPr>
          <p:cNvPr id="8" name="Text 5"/>
          <p:cNvSpPr txBox="1"/>
          <p:nvPr/>
        </p:nvSpPr>
        <p:spPr>
          <a:xfrm>
            <a:off x="777240" y="1709928"/>
            <a:ext cx="62636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code/03_01_HelloCard/Program.cs</a:t>
            </a:r>
            <a:endParaRPr lang="en-US" sz="1100" dirty="0"/>
          </a:p>
        </p:txBody>
      </p:sp>
      <p:sp>
        <p:nvSpPr>
          <p:cNvPr id="9" name="Text 6"/>
          <p:cNvSpPr txBox="1"/>
          <p:nvPr/>
        </p:nvSpPr>
        <p:spPr>
          <a:xfrm>
            <a:off x="777240" y="2011680"/>
            <a:ext cx="6263640" cy="38221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"Hello, Okan!"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"Enter your name: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cursor stays on this 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name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"Enter your programme: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programme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an empty 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STUDENT CARD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$"Name:\t{name}"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\t = tab</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$"Prog.:\t{programme}"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"Motto:\t\"Code, test, repeat.\""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 =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"Folder:\tC:\\MCMP113\\Week03"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 =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@"Same:   C:\MCMP113\Week03"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verbatim</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"Line 1\nLine 2\n"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\n = new line</a:t>
            </a:r>
            <a:endParaRPr lang="en-US" sz="1200" dirty="0"/>
          </a:p>
        </p:txBody>
      </p:sp>
      <p:sp>
        <p:nvSpPr>
          <p:cNvPr id="10" name="Shape 7"/>
          <p:cNvSpPr/>
          <p:nvPr/>
        </p:nvSpPr>
        <p:spPr>
          <a:xfrm>
            <a:off x="7406640" y="1600200"/>
            <a:ext cx="4251960" cy="4343400"/>
          </a:xfrm>
          <a:prstGeom prst="roundRect">
            <a:avLst>
              <a:gd name="adj" fmla="val 2151"/>
            </a:avLst>
          </a:prstGeom>
          <a:solidFill>
            <a:srgbClr val="0B0F19"/>
          </a:solidFill>
          <a:ln w="12700">
            <a:solidFill>
              <a:srgbClr val="2A3654"/>
            </a:solidFill>
            <a:prstDash val="solid"/>
          </a:ln>
        </p:spPr>
      </p:sp>
      <p:sp>
        <p:nvSpPr>
          <p:cNvPr id="11" name="Shape 8"/>
          <p:cNvSpPr/>
          <p:nvPr/>
        </p:nvSpPr>
        <p:spPr>
          <a:xfrm>
            <a:off x="7589520" y="1728216"/>
            <a:ext cx="118872" cy="118872"/>
          </a:xfrm>
          <a:prstGeom prst="ellipse">
            <a:avLst/>
          </a:prstGeom>
          <a:solidFill>
            <a:srgbClr val="FF5F57"/>
          </a:solidFill>
          <a:ln w="12700">
            <a:solidFill>
              <a:srgbClr val="FF5F57"/>
            </a:solidFill>
            <a:prstDash val="solid"/>
          </a:ln>
        </p:spPr>
      </p:sp>
      <p:sp>
        <p:nvSpPr>
          <p:cNvPr id="12" name="Shape 9"/>
          <p:cNvSpPr/>
          <p:nvPr/>
        </p:nvSpPr>
        <p:spPr>
          <a:xfrm>
            <a:off x="7818120" y="1728216"/>
            <a:ext cx="118872" cy="118872"/>
          </a:xfrm>
          <a:prstGeom prst="ellipse">
            <a:avLst/>
          </a:prstGeom>
          <a:solidFill>
            <a:srgbClr val="FEBC2E"/>
          </a:solidFill>
          <a:ln w="12700">
            <a:solidFill>
              <a:srgbClr val="FEBC2E"/>
            </a:solidFill>
            <a:prstDash val="solid"/>
          </a:ln>
        </p:spPr>
      </p:sp>
      <p:sp>
        <p:nvSpPr>
          <p:cNvPr id="13" name="Shape 10"/>
          <p:cNvSpPr/>
          <p:nvPr/>
        </p:nvSpPr>
        <p:spPr>
          <a:xfrm>
            <a:off x="8046720" y="1728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321040" y="1673352"/>
            <a:ext cx="3154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635240" y="1984248"/>
            <a:ext cx="3794760" cy="38404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Hello, Okan!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your name: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Ayşe Yılmaz</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your programme:</a:t>
            </a:r>
            <a:endParaRPr lang="en-US" sz="1200" dirty="0"/>
          </a:p>
          <a:p>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Computer Programming</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STUDENT CARD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Name:   Ayşe Yılmaz</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Prog.:  Computer Programming</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Motto:  "Code, test, repeat."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Folder: C:\MCMP113\Week03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Same:   C:\MCMP113\Week03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Line 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Line 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IDENTIFIERS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Naming Rules and Naming Conventions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309360" cy="914400"/>
        </p:xfrm>
        <a:graphic>
          <a:graphicData uri="http://schemas.openxmlformats.org/drawingml/2006/table">
            <a:tbl>
              <a:tblPr/>
              <a:tblGrid>
                <a:gridCol w="1828800"/>
                <a:gridCol w="640080"/>
                <a:gridCol w="3840480"/>
              </a:tblGrid>
              <a:tr h="47548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studentName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letters only, camelCase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total2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digits allowed after the first character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_count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_ is allowed (even at the start)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2ndPlace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C845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starts with a digit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first name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C845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contains a space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price-tl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C845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 is the minus operator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class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C845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reserved keyword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öğrenciAdı</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B7791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legal, but use English names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7086600" y="1600200"/>
            <a:ext cx="4572000" cy="4297680"/>
          </a:xfrm>
          <a:prstGeom prst="roundRect">
            <a:avLst>
              <a:gd name="adj" fmla="val 2553"/>
            </a:avLst>
          </a:prstGeom>
          <a:solidFill>
            <a:srgbClr val="EEF1F6"/>
          </a:solidFill>
          <a:ln w="12700">
            <a:solidFill>
              <a:srgbClr val="EEF1F6"/>
            </a:solidFill>
            <a:prstDash val="solid"/>
          </a:ln>
        </p:spPr>
      </p:sp>
      <p:sp>
        <p:nvSpPr>
          <p:cNvPr id="9" name="Text 5"/>
          <p:cNvSpPr txBox="1"/>
          <p:nvPr/>
        </p:nvSpPr>
        <p:spPr>
          <a:xfrm>
            <a:off x="7269480" y="1737360"/>
            <a:ext cx="4206240" cy="36576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Conventions (style)</a:t>
            </a:r>
            <a:endParaRPr lang="en-US" sz="1800" dirty="0"/>
          </a:p>
        </p:txBody>
      </p:sp>
      <p:sp>
        <p:nvSpPr>
          <p:cNvPr id="10" name="Text 6"/>
          <p:cNvSpPr txBox="1"/>
          <p:nvPr/>
        </p:nvSpPr>
        <p:spPr>
          <a:xfrm>
            <a:off x="7269480" y="2240280"/>
            <a:ext cx="4206240" cy="320040"/>
          </a:xfrm>
          <a:prstGeom prst="rect">
            <a:avLst/>
          </a:prstGeom>
          <a:noFill/>
          <a:ln/>
        </p:spPr>
        <p:txBody>
          <a:bodyPr wrap="square" lIns="0" tIns="0" rIns="0" bIns="0" rtlCol="0" anchor="ctr"/>
          <a:lstStyle/>
          <a:p>
            <a:pPr indent="0" marL="0">
              <a:buNone/>
            </a:pPr>
            <a:r>
              <a:rPr lang="en-US" sz="1500" b="1" dirty="0">
                <a:solidFill>
                  <a:srgbClr val="2F6FB3"/>
                </a:solidFill>
                <a:latin typeface="Calibri" pitchFamily="34" charset="0"/>
                <a:ea typeface="Calibri" pitchFamily="34" charset="-122"/>
                <a:cs typeface="Calibri" pitchFamily="34" charset="-120"/>
              </a:rPr>
              <a:t>camelCase</a:t>
            </a:r>
            <a:endParaRPr lang="en-US" sz="1500" dirty="0"/>
          </a:p>
        </p:txBody>
      </p:sp>
      <p:sp>
        <p:nvSpPr>
          <p:cNvPr id="11" name="Text 7"/>
          <p:cNvSpPr txBox="1"/>
          <p:nvPr/>
        </p:nvSpPr>
        <p:spPr>
          <a:xfrm>
            <a:off x="7269480" y="2542032"/>
            <a:ext cx="4206240" cy="27432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local variables</a:t>
            </a:r>
            <a:endParaRPr lang="en-US" sz="1300" dirty="0"/>
          </a:p>
        </p:txBody>
      </p:sp>
      <p:sp>
        <p:nvSpPr>
          <p:cNvPr id="12" name="Text 8"/>
          <p:cNvSpPr txBox="1"/>
          <p:nvPr/>
        </p:nvSpPr>
        <p:spPr>
          <a:xfrm>
            <a:off x="7269480" y="2816352"/>
            <a:ext cx="4206240" cy="548640"/>
          </a:xfrm>
          <a:prstGeom prst="rect">
            <a:avLst/>
          </a:prstGeom>
          <a:noFill/>
          <a:ln/>
        </p:spPr>
        <p:txBody>
          <a:bodyPr wrap="square" lIns="0" tIns="0" rIns="0" bIns="0" rtlCol="0" anchor="t"/>
          <a:lstStyle/>
          <a:p>
            <a:pPr indent="0" marL="0">
              <a:buNone/>
            </a:pPr>
            <a:r>
              <a:rPr lang="en-US" sz="1300" dirty="0">
                <a:solidFill>
                  <a:srgbClr val="14213D"/>
                </a:solidFill>
                <a:latin typeface="Courier New" pitchFamily="34" charset="0"/>
                <a:ea typeface="Courier New" pitchFamily="34" charset="-122"/>
                <a:cs typeface="Courier New" pitchFamily="34" charset="-120"/>
              </a:rPr>
              <a:t>examGrade, unitPrice</a:t>
            </a:r>
            <a:endParaRPr lang="en-US" sz="1300" dirty="0"/>
          </a:p>
        </p:txBody>
      </p:sp>
      <p:sp>
        <p:nvSpPr>
          <p:cNvPr id="13" name="Text 9"/>
          <p:cNvSpPr txBox="1"/>
          <p:nvPr/>
        </p:nvSpPr>
        <p:spPr>
          <a:xfrm>
            <a:off x="7269480" y="3429000"/>
            <a:ext cx="4206240" cy="320040"/>
          </a:xfrm>
          <a:prstGeom prst="rect">
            <a:avLst/>
          </a:prstGeom>
          <a:noFill/>
          <a:ln/>
        </p:spPr>
        <p:txBody>
          <a:bodyPr wrap="square" lIns="0" tIns="0" rIns="0" bIns="0" rtlCol="0" anchor="ctr"/>
          <a:lstStyle/>
          <a:p>
            <a:pPr indent="0" marL="0">
              <a:buNone/>
            </a:pPr>
            <a:r>
              <a:rPr lang="en-US" sz="1500" b="1" dirty="0">
                <a:solidFill>
                  <a:srgbClr val="2F6FB3"/>
                </a:solidFill>
                <a:latin typeface="Calibri" pitchFamily="34" charset="0"/>
                <a:ea typeface="Calibri" pitchFamily="34" charset="-122"/>
                <a:cs typeface="Calibri" pitchFamily="34" charset="-120"/>
              </a:rPr>
              <a:t>PascalCase</a:t>
            </a:r>
            <a:endParaRPr lang="en-US" sz="1500" dirty="0"/>
          </a:p>
        </p:txBody>
      </p:sp>
      <p:sp>
        <p:nvSpPr>
          <p:cNvPr id="14" name="Text 10"/>
          <p:cNvSpPr txBox="1"/>
          <p:nvPr/>
        </p:nvSpPr>
        <p:spPr>
          <a:xfrm>
            <a:off x="7269480" y="3730752"/>
            <a:ext cx="4206240" cy="27432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constants, types, methods</a:t>
            </a:r>
            <a:endParaRPr lang="en-US" sz="1300" dirty="0"/>
          </a:p>
        </p:txBody>
      </p:sp>
      <p:sp>
        <p:nvSpPr>
          <p:cNvPr id="15" name="Text 11"/>
          <p:cNvSpPr txBox="1"/>
          <p:nvPr/>
        </p:nvSpPr>
        <p:spPr>
          <a:xfrm>
            <a:off x="7269480" y="4005072"/>
            <a:ext cx="4206240" cy="548640"/>
          </a:xfrm>
          <a:prstGeom prst="rect">
            <a:avLst/>
          </a:prstGeom>
          <a:noFill/>
          <a:ln/>
        </p:spPr>
        <p:txBody>
          <a:bodyPr wrap="square" lIns="0" tIns="0" rIns="0" bIns="0" rtlCol="0" anchor="t"/>
          <a:lstStyle/>
          <a:p>
            <a:pPr indent="0" marL="0">
              <a:buNone/>
            </a:pPr>
            <a:r>
              <a:rPr lang="en-US" sz="1300" dirty="0">
                <a:solidFill>
                  <a:srgbClr val="14213D"/>
                </a:solidFill>
                <a:latin typeface="Courier New" pitchFamily="34" charset="0"/>
                <a:ea typeface="Courier New" pitchFamily="34" charset="-122"/>
                <a:cs typeface="Courier New" pitchFamily="34" charset="-120"/>
              </a:rPr>
              <a:t>VatRate, Console, WriteLine</a:t>
            </a:r>
            <a:endParaRPr lang="en-US" sz="1300" dirty="0"/>
          </a:p>
        </p:txBody>
      </p:sp>
      <p:sp>
        <p:nvSpPr>
          <p:cNvPr id="16" name="Text 12"/>
          <p:cNvSpPr txBox="1"/>
          <p:nvPr/>
        </p:nvSpPr>
        <p:spPr>
          <a:xfrm>
            <a:off x="7269480" y="4617720"/>
            <a:ext cx="4206240" cy="320040"/>
          </a:xfrm>
          <a:prstGeom prst="rect">
            <a:avLst/>
          </a:prstGeom>
          <a:noFill/>
          <a:ln/>
        </p:spPr>
        <p:txBody>
          <a:bodyPr wrap="square" lIns="0" tIns="0" rIns="0" bIns="0" rtlCol="0" anchor="ctr"/>
          <a:lstStyle/>
          <a:p>
            <a:pPr indent="0" marL="0">
              <a:buNone/>
            </a:pPr>
            <a:r>
              <a:rPr lang="en-US" sz="1500" b="1" dirty="0">
                <a:solidFill>
                  <a:srgbClr val="2F6FB3"/>
                </a:solidFill>
                <a:latin typeface="Calibri" pitchFamily="34" charset="0"/>
                <a:ea typeface="Calibri" pitchFamily="34" charset="-122"/>
                <a:cs typeface="Calibri" pitchFamily="34" charset="-120"/>
              </a:rPr>
              <a:t>Meaningful</a:t>
            </a:r>
            <a:endParaRPr lang="en-US" sz="1500" dirty="0"/>
          </a:p>
        </p:txBody>
      </p:sp>
      <p:sp>
        <p:nvSpPr>
          <p:cNvPr id="17" name="Text 13"/>
          <p:cNvSpPr txBox="1"/>
          <p:nvPr/>
        </p:nvSpPr>
        <p:spPr>
          <a:xfrm>
            <a:off x="7269480" y="4919472"/>
            <a:ext cx="4206240" cy="27432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say what it stores</a:t>
            </a:r>
            <a:endParaRPr lang="en-US" sz="1300" dirty="0"/>
          </a:p>
        </p:txBody>
      </p:sp>
      <p:sp>
        <p:nvSpPr>
          <p:cNvPr id="18" name="Text 14"/>
          <p:cNvSpPr txBox="1"/>
          <p:nvPr/>
        </p:nvSpPr>
        <p:spPr>
          <a:xfrm>
            <a:off x="7269480" y="5193792"/>
            <a:ext cx="4206240" cy="548640"/>
          </a:xfrm>
          <a:prstGeom prst="rect">
            <a:avLst/>
          </a:prstGeom>
          <a:noFill/>
          <a:ln/>
        </p:spPr>
        <p:txBody>
          <a:bodyPr wrap="square" lIns="0" tIns="0" rIns="0" bIns="0" rtlCol="0" anchor="t"/>
          <a:lstStyle/>
          <a:p>
            <a:pPr indent="0" marL="0">
              <a:buNone/>
            </a:pPr>
            <a:r>
              <a:rPr lang="en-US" sz="1300" dirty="0">
                <a:solidFill>
                  <a:srgbClr val="14213D"/>
                </a:solidFill>
                <a:latin typeface="Courier New" pitchFamily="34" charset="0"/>
                <a:ea typeface="Courier New" pitchFamily="34" charset="-122"/>
                <a:cs typeface="Courier New" pitchFamily="34" charset="-120"/>
              </a:rPr>
              <a:t>x  →  examGrade</a:t>
            </a:r>
            <a:endParaRPr lang="en-US" sz="1300" dirty="0"/>
          </a:p>
          <a:p>
            <a:pPr indent="0" marL="0">
              <a:buNone/>
            </a:pPr>
            <a:r>
              <a:rPr lang="en-US" sz="1300" dirty="0">
                <a:solidFill>
                  <a:srgbClr val="14213D"/>
                </a:solidFill>
                <a:latin typeface="Courier New" pitchFamily="34" charset="0"/>
                <a:ea typeface="Courier New" pitchFamily="34" charset="-122"/>
                <a:cs typeface="Courier New" pitchFamily="34" charset="-120"/>
              </a:rPr>
              <a:t>n  →  studentCount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VARIABLES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Variable Is a Named Box in Memory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548640" y="1600200"/>
            <a:ext cx="5669280" cy="2103120"/>
          </a:xfrm>
          <a:prstGeom prst="roundRect">
            <a:avLst>
              <a:gd name="adj" fmla="val 4348"/>
            </a:avLst>
          </a:prstGeom>
          <a:solidFill>
            <a:srgbClr val="0F1729"/>
          </a:solidFill>
          <a:ln w="12700">
            <a:solidFill>
              <a:srgbClr val="0F1729"/>
            </a:solidFill>
            <a:prstDash val="solid"/>
          </a:ln>
        </p:spPr>
      </p:sp>
      <p:sp>
        <p:nvSpPr>
          <p:cNvPr id="8" name="Text 5"/>
          <p:cNvSpPr txBox="1"/>
          <p:nvPr/>
        </p:nvSpPr>
        <p:spPr>
          <a:xfrm>
            <a:off x="777240" y="1709928"/>
            <a:ext cx="52120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Four statements</a:t>
            </a:r>
            <a:endParaRPr lang="en-US" sz="1100" dirty="0"/>
          </a:p>
        </p:txBody>
      </p:sp>
      <p:sp>
        <p:nvSpPr>
          <p:cNvPr id="9" name="Text 6"/>
          <p:cNvSpPr txBox="1"/>
          <p:nvPr/>
        </p:nvSpPr>
        <p:spPr>
          <a:xfrm>
            <a:off x="777240" y="2011680"/>
            <a:ext cx="5212080" cy="158191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age;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1 declaration</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age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19</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2 assignment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year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2026</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3 declare + initialise</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age = age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4 read, add, store back</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5669280" cy="914400"/>
        </p:xfrm>
        <a:graphic>
          <a:graphicData uri="http://schemas.openxmlformats.org/drawingml/2006/table">
            <a:tbl>
              <a:tblPr/>
              <a:tblGrid>
                <a:gridCol w="2011680"/>
                <a:gridCol w="1828800"/>
                <a:gridCol w="182880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After line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age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year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2026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2E9E6A"/>
                          </a:solidFill>
                          <a:latin typeface="Courier New" pitchFamily="34" charset="0"/>
                          <a:ea typeface="Courier New" pitchFamily="34" charset="-122"/>
                          <a:cs typeface="Courier New" pitchFamily="34" charset="-120"/>
                        </a:rPr>
                        <a:t>20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2026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1" name="Text 7"/>
          <p:cNvSpPr txBox="1"/>
          <p:nvPr/>
        </p:nvSpPr>
        <p:spPr>
          <a:xfrm>
            <a:off x="6583680" y="1600200"/>
            <a:ext cx="5029200" cy="320040"/>
          </a:xfrm>
          <a:prstGeom prst="rect">
            <a:avLst/>
          </a:prstGeom>
          <a:noFill/>
          <a:ln/>
        </p:spPr>
        <p:txBody>
          <a:bodyPr wrap="square" lIns="0" tIns="0" rIns="0" bIns="0" rtlCol="0" anchor="ctr"/>
          <a:lstStyle/>
          <a:p>
            <a:pPr indent="0" marL="0">
              <a:buNone/>
            </a:pPr>
            <a:r>
              <a:rPr lang="en-US" sz="1400" i="1" dirty="0">
                <a:solidFill>
                  <a:srgbClr val="5B6478"/>
                </a:solidFill>
                <a:latin typeface="Calibri" pitchFamily="34" charset="0"/>
                <a:ea typeface="Calibri" pitchFamily="34" charset="-122"/>
                <a:cs typeface="Calibri" pitchFamily="34" charset="-120"/>
              </a:rPr>
              <a:t>Memory (RAM) after line 4 — plus two more variables</a:t>
            </a:r>
            <a:endParaRPr lang="en-US" sz="1400" dirty="0"/>
          </a:p>
        </p:txBody>
      </p:sp>
      <p:sp>
        <p:nvSpPr>
          <p:cNvPr id="12" name="Text 8"/>
          <p:cNvSpPr txBox="1"/>
          <p:nvPr/>
        </p:nvSpPr>
        <p:spPr>
          <a:xfrm>
            <a:off x="6583680" y="2057400"/>
            <a:ext cx="2286000" cy="320040"/>
          </a:xfrm>
          <a:prstGeom prst="rect">
            <a:avLst/>
          </a:prstGeom>
          <a:noFill/>
          <a:ln/>
        </p:spPr>
        <p:txBody>
          <a:bodyPr wrap="square" lIns="0" tIns="0" rIns="0" bIns="0" rtlCol="0" anchor="ctr"/>
          <a:lstStyle/>
          <a:p>
            <a:pPr indent="0" marL="0">
              <a:buNone/>
            </a:pPr>
            <a:r>
              <a:rPr lang="en-US" sz="1500" b="1" dirty="0">
                <a:solidFill>
                  <a:srgbClr val="14213D"/>
                </a:solidFill>
                <a:latin typeface="Courier New" pitchFamily="34" charset="0"/>
                <a:ea typeface="Courier New" pitchFamily="34" charset="-122"/>
                <a:cs typeface="Courier New" pitchFamily="34" charset="-120"/>
              </a:rPr>
              <a:t>age</a:t>
            </a:r>
            <a:endParaRPr lang="en-US" sz="1500" dirty="0"/>
          </a:p>
        </p:txBody>
      </p:sp>
      <p:sp>
        <p:nvSpPr>
          <p:cNvPr id="13" name="Shape 9"/>
          <p:cNvSpPr/>
          <p:nvPr/>
        </p:nvSpPr>
        <p:spPr>
          <a:xfrm>
            <a:off x="6583680" y="2423160"/>
            <a:ext cx="2286000" cy="868680"/>
          </a:xfrm>
          <a:prstGeom prst="rect">
            <a:avLst/>
          </a:prstGeom>
          <a:solidFill>
            <a:srgbClr val="FFF1D6"/>
          </a:solidFill>
          <a:ln w="19050">
            <a:solidFill>
              <a:srgbClr val="B7791F"/>
            </a:solidFill>
            <a:prstDash val="solid"/>
          </a:ln>
        </p:spPr>
      </p:sp>
      <p:sp>
        <p:nvSpPr>
          <p:cNvPr id="14" name="Text 10"/>
          <p:cNvSpPr txBox="1"/>
          <p:nvPr/>
        </p:nvSpPr>
        <p:spPr>
          <a:xfrm>
            <a:off x="6583680" y="2423160"/>
            <a:ext cx="2286000" cy="868680"/>
          </a:xfrm>
          <a:prstGeom prst="rect">
            <a:avLst/>
          </a:prstGeom>
          <a:no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20</a:t>
            </a:r>
            <a:endParaRPr lang="en-US" sz="2000" dirty="0"/>
          </a:p>
        </p:txBody>
      </p:sp>
      <p:sp>
        <p:nvSpPr>
          <p:cNvPr id="15" name="Text 11"/>
          <p:cNvSpPr txBox="1"/>
          <p:nvPr/>
        </p:nvSpPr>
        <p:spPr>
          <a:xfrm>
            <a:off x="7955280" y="3310128"/>
            <a:ext cx="914400" cy="256032"/>
          </a:xfrm>
          <a:prstGeom prst="rect">
            <a:avLst/>
          </a:prstGeom>
          <a:noFill/>
          <a:ln/>
        </p:spPr>
        <p:txBody>
          <a:bodyPr wrap="square" lIns="0" tIns="0" rIns="0" bIns="0" rtlCol="0" anchor="ctr"/>
          <a:lstStyle/>
          <a:p>
            <a:pPr algn="r" indent="0" marL="0">
              <a:buNone/>
            </a:pPr>
            <a:r>
              <a:rPr lang="en-US" sz="1200" dirty="0">
                <a:solidFill>
                  <a:srgbClr val="2F6FB3"/>
                </a:solidFill>
                <a:latin typeface="Courier New" pitchFamily="34" charset="0"/>
                <a:ea typeface="Courier New" pitchFamily="34" charset="-122"/>
                <a:cs typeface="Courier New" pitchFamily="34" charset="-120"/>
              </a:rPr>
              <a:t>int</a:t>
            </a:r>
            <a:endParaRPr lang="en-US" sz="1200" dirty="0"/>
          </a:p>
        </p:txBody>
      </p:sp>
      <p:sp>
        <p:nvSpPr>
          <p:cNvPr id="16" name="Text 12"/>
          <p:cNvSpPr txBox="1"/>
          <p:nvPr/>
        </p:nvSpPr>
        <p:spPr>
          <a:xfrm>
            <a:off x="9144000" y="2057400"/>
            <a:ext cx="2286000" cy="320040"/>
          </a:xfrm>
          <a:prstGeom prst="rect">
            <a:avLst/>
          </a:prstGeom>
          <a:noFill/>
          <a:ln/>
        </p:spPr>
        <p:txBody>
          <a:bodyPr wrap="square" lIns="0" tIns="0" rIns="0" bIns="0" rtlCol="0" anchor="ctr"/>
          <a:lstStyle/>
          <a:p>
            <a:pPr indent="0" marL="0">
              <a:buNone/>
            </a:pPr>
            <a:r>
              <a:rPr lang="en-US" sz="1500" b="1" dirty="0">
                <a:solidFill>
                  <a:srgbClr val="14213D"/>
                </a:solidFill>
                <a:latin typeface="Courier New" pitchFamily="34" charset="0"/>
                <a:ea typeface="Courier New" pitchFamily="34" charset="-122"/>
                <a:cs typeface="Courier New" pitchFamily="34" charset="-120"/>
              </a:rPr>
              <a:t>year</a:t>
            </a:r>
            <a:endParaRPr lang="en-US" sz="1500" dirty="0"/>
          </a:p>
        </p:txBody>
      </p:sp>
      <p:sp>
        <p:nvSpPr>
          <p:cNvPr id="17" name="Shape 13"/>
          <p:cNvSpPr/>
          <p:nvPr/>
        </p:nvSpPr>
        <p:spPr>
          <a:xfrm>
            <a:off x="9144000" y="2423160"/>
            <a:ext cx="2286000" cy="868680"/>
          </a:xfrm>
          <a:prstGeom prst="rect">
            <a:avLst/>
          </a:prstGeom>
          <a:solidFill>
            <a:srgbClr val="FFF1D6"/>
          </a:solidFill>
          <a:ln w="19050">
            <a:solidFill>
              <a:srgbClr val="B7791F"/>
            </a:solidFill>
            <a:prstDash val="solid"/>
          </a:ln>
        </p:spPr>
      </p:sp>
      <p:sp>
        <p:nvSpPr>
          <p:cNvPr id="18" name="Text 14"/>
          <p:cNvSpPr txBox="1"/>
          <p:nvPr/>
        </p:nvSpPr>
        <p:spPr>
          <a:xfrm>
            <a:off x="9144000" y="2423160"/>
            <a:ext cx="2286000" cy="868680"/>
          </a:xfrm>
          <a:prstGeom prst="rect">
            <a:avLst/>
          </a:prstGeom>
          <a:no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2026</a:t>
            </a:r>
            <a:endParaRPr lang="en-US" sz="2000" dirty="0"/>
          </a:p>
        </p:txBody>
      </p:sp>
      <p:sp>
        <p:nvSpPr>
          <p:cNvPr id="19" name="Text 15"/>
          <p:cNvSpPr txBox="1"/>
          <p:nvPr/>
        </p:nvSpPr>
        <p:spPr>
          <a:xfrm>
            <a:off x="10515600" y="3310128"/>
            <a:ext cx="914400" cy="256032"/>
          </a:xfrm>
          <a:prstGeom prst="rect">
            <a:avLst/>
          </a:prstGeom>
          <a:noFill/>
          <a:ln/>
        </p:spPr>
        <p:txBody>
          <a:bodyPr wrap="square" lIns="0" tIns="0" rIns="0" bIns="0" rtlCol="0" anchor="ctr"/>
          <a:lstStyle/>
          <a:p>
            <a:pPr algn="r" indent="0" marL="0">
              <a:buNone/>
            </a:pPr>
            <a:r>
              <a:rPr lang="en-US" sz="1200" dirty="0">
                <a:solidFill>
                  <a:srgbClr val="2F6FB3"/>
                </a:solidFill>
                <a:latin typeface="Courier New" pitchFamily="34" charset="0"/>
                <a:ea typeface="Courier New" pitchFamily="34" charset="-122"/>
                <a:cs typeface="Courier New" pitchFamily="34" charset="-120"/>
              </a:rPr>
              <a:t>int</a:t>
            </a:r>
            <a:endParaRPr lang="en-US" sz="1200" dirty="0"/>
          </a:p>
        </p:txBody>
      </p:sp>
      <p:sp>
        <p:nvSpPr>
          <p:cNvPr id="20" name="Text 16"/>
          <p:cNvSpPr txBox="1"/>
          <p:nvPr/>
        </p:nvSpPr>
        <p:spPr>
          <a:xfrm>
            <a:off x="6583680" y="3886200"/>
            <a:ext cx="2286000" cy="320040"/>
          </a:xfrm>
          <a:prstGeom prst="rect">
            <a:avLst/>
          </a:prstGeom>
          <a:noFill/>
          <a:ln/>
        </p:spPr>
        <p:txBody>
          <a:bodyPr wrap="square" lIns="0" tIns="0" rIns="0" bIns="0" rtlCol="0" anchor="ctr"/>
          <a:lstStyle/>
          <a:p>
            <a:pPr indent="0" marL="0">
              <a:buNone/>
            </a:pPr>
            <a:r>
              <a:rPr lang="en-US" sz="1500" b="1" dirty="0">
                <a:solidFill>
                  <a:srgbClr val="14213D"/>
                </a:solidFill>
                <a:latin typeface="Courier New" pitchFamily="34" charset="0"/>
                <a:ea typeface="Courier New" pitchFamily="34" charset="-122"/>
                <a:cs typeface="Courier New" pitchFamily="34" charset="-120"/>
              </a:rPr>
              <a:t>height</a:t>
            </a:r>
            <a:endParaRPr lang="en-US" sz="1500" dirty="0"/>
          </a:p>
        </p:txBody>
      </p:sp>
      <p:sp>
        <p:nvSpPr>
          <p:cNvPr id="21" name="Shape 17"/>
          <p:cNvSpPr/>
          <p:nvPr/>
        </p:nvSpPr>
        <p:spPr>
          <a:xfrm>
            <a:off x="6583680" y="4251960"/>
            <a:ext cx="2286000" cy="868680"/>
          </a:xfrm>
          <a:prstGeom prst="rect">
            <a:avLst/>
          </a:prstGeom>
          <a:solidFill>
            <a:srgbClr val="FFF1D6"/>
          </a:solidFill>
          <a:ln w="19050">
            <a:solidFill>
              <a:srgbClr val="B7791F"/>
            </a:solidFill>
            <a:prstDash val="solid"/>
          </a:ln>
        </p:spPr>
      </p:sp>
      <p:sp>
        <p:nvSpPr>
          <p:cNvPr id="22" name="Text 18"/>
          <p:cNvSpPr txBox="1"/>
          <p:nvPr/>
        </p:nvSpPr>
        <p:spPr>
          <a:xfrm>
            <a:off x="6583680" y="4251960"/>
            <a:ext cx="2286000" cy="868680"/>
          </a:xfrm>
          <a:prstGeom prst="rect">
            <a:avLst/>
          </a:prstGeom>
          <a:no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1.75</a:t>
            </a:r>
            <a:endParaRPr lang="en-US" sz="2000" dirty="0"/>
          </a:p>
        </p:txBody>
      </p:sp>
      <p:sp>
        <p:nvSpPr>
          <p:cNvPr id="23" name="Text 19"/>
          <p:cNvSpPr txBox="1"/>
          <p:nvPr/>
        </p:nvSpPr>
        <p:spPr>
          <a:xfrm>
            <a:off x="7955280" y="5138928"/>
            <a:ext cx="914400" cy="256032"/>
          </a:xfrm>
          <a:prstGeom prst="rect">
            <a:avLst/>
          </a:prstGeom>
          <a:noFill/>
          <a:ln/>
        </p:spPr>
        <p:txBody>
          <a:bodyPr wrap="square" lIns="0" tIns="0" rIns="0" bIns="0" rtlCol="0" anchor="ctr"/>
          <a:lstStyle/>
          <a:p>
            <a:pPr algn="r" indent="0" marL="0">
              <a:buNone/>
            </a:pPr>
            <a:r>
              <a:rPr lang="en-US" sz="1200" dirty="0">
                <a:solidFill>
                  <a:srgbClr val="2F6FB3"/>
                </a:solidFill>
                <a:latin typeface="Courier New" pitchFamily="34" charset="0"/>
                <a:ea typeface="Courier New" pitchFamily="34" charset="-122"/>
                <a:cs typeface="Courier New" pitchFamily="34" charset="-120"/>
              </a:rPr>
              <a:t>double</a:t>
            </a:r>
            <a:endParaRPr lang="en-US" sz="1200" dirty="0"/>
          </a:p>
        </p:txBody>
      </p:sp>
      <p:sp>
        <p:nvSpPr>
          <p:cNvPr id="24" name="Text 20"/>
          <p:cNvSpPr txBox="1"/>
          <p:nvPr/>
        </p:nvSpPr>
        <p:spPr>
          <a:xfrm>
            <a:off x="9144000" y="3886200"/>
            <a:ext cx="2286000" cy="320040"/>
          </a:xfrm>
          <a:prstGeom prst="rect">
            <a:avLst/>
          </a:prstGeom>
          <a:noFill/>
          <a:ln/>
        </p:spPr>
        <p:txBody>
          <a:bodyPr wrap="square" lIns="0" tIns="0" rIns="0" bIns="0" rtlCol="0" anchor="ctr"/>
          <a:lstStyle/>
          <a:p>
            <a:pPr indent="0" marL="0">
              <a:buNone/>
            </a:pPr>
            <a:r>
              <a:rPr lang="en-US" sz="1500" b="1" dirty="0">
                <a:solidFill>
                  <a:srgbClr val="14213D"/>
                </a:solidFill>
                <a:latin typeface="Courier New" pitchFamily="34" charset="0"/>
                <a:ea typeface="Courier New" pitchFamily="34" charset="-122"/>
                <a:cs typeface="Courier New" pitchFamily="34" charset="-120"/>
              </a:rPr>
              <a:t>name</a:t>
            </a:r>
            <a:endParaRPr lang="en-US" sz="1500" dirty="0"/>
          </a:p>
        </p:txBody>
      </p:sp>
      <p:sp>
        <p:nvSpPr>
          <p:cNvPr id="25" name="Shape 21"/>
          <p:cNvSpPr/>
          <p:nvPr/>
        </p:nvSpPr>
        <p:spPr>
          <a:xfrm>
            <a:off x="9144000" y="4251960"/>
            <a:ext cx="2286000" cy="868680"/>
          </a:xfrm>
          <a:prstGeom prst="rect">
            <a:avLst/>
          </a:prstGeom>
          <a:solidFill>
            <a:srgbClr val="FFF1D6"/>
          </a:solidFill>
          <a:ln w="19050">
            <a:solidFill>
              <a:srgbClr val="B7791F"/>
            </a:solidFill>
            <a:prstDash val="solid"/>
          </a:ln>
        </p:spPr>
      </p:sp>
      <p:sp>
        <p:nvSpPr>
          <p:cNvPr id="26" name="Text 22"/>
          <p:cNvSpPr txBox="1"/>
          <p:nvPr/>
        </p:nvSpPr>
        <p:spPr>
          <a:xfrm>
            <a:off x="9144000" y="4251960"/>
            <a:ext cx="2286000" cy="868680"/>
          </a:xfrm>
          <a:prstGeom prst="rect">
            <a:avLst/>
          </a:prstGeom>
          <a:noFill/>
          <a:ln/>
        </p:spPr>
        <p:txBody>
          <a:bodyPr wrap="square" lIns="0" tIns="0" rIns="0" bIns="0" rtlCol="0" anchor="ctr"/>
          <a:lstStyle/>
          <a:p>
            <a:pPr algn="ctr" indent="0" marL="0">
              <a:buNone/>
            </a:pPr>
            <a:r>
              <a:rPr lang="en-US" sz="2000" b="1" dirty="0">
                <a:solidFill>
                  <a:srgbClr val="14213D"/>
                </a:solidFill>
                <a:latin typeface="Courier New" pitchFamily="34" charset="0"/>
                <a:ea typeface="Courier New" pitchFamily="34" charset="-122"/>
                <a:cs typeface="Courier New" pitchFamily="34" charset="-120"/>
              </a:rPr>
              <a:t>"Ayşe"</a:t>
            </a:r>
            <a:endParaRPr lang="en-US" sz="2000" dirty="0"/>
          </a:p>
        </p:txBody>
      </p:sp>
      <p:sp>
        <p:nvSpPr>
          <p:cNvPr id="27" name="Text 23"/>
          <p:cNvSpPr txBox="1"/>
          <p:nvPr/>
        </p:nvSpPr>
        <p:spPr>
          <a:xfrm>
            <a:off x="10515600" y="5138928"/>
            <a:ext cx="914400" cy="256032"/>
          </a:xfrm>
          <a:prstGeom prst="rect">
            <a:avLst/>
          </a:prstGeom>
          <a:noFill/>
          <a:ln/>
        </p:spPr>
        <p:txBody>
          <a:bodyPr wrap="square" lIns="0" tIns="0" rIns="0" bIns="0" rtlCol="0" anchor="ctr"/>
          <a:lstStyle/>
          <a:p>
            <a:pPr algn="r" indent="0" marL="0">
              <a:buNone/>
            </a:pPr>
            <a:r>
              <a:rPr lang="en-US" sz="1200" dirty="0">
                <a:solidFill>
                  <a:srgbClr val="2F6FB3"/>
                </a:solidFill>
                <a:latin typeface="Courier New" pitchFamily="34" charset="0"/>
                <a:ea typeface="Courier New" pitchFamily="34" charset="-122"/>
                <a:cs typeface="Courier New" pitchFamily="34" charset="-120"/>
              </a:rPr>
              <a:t>string</a:t>
            </a:r>
            <a:endParaRPr lang="en-US" sz="1200" dirty="0"/>
          </a:p>
        </p:txBody>
      </p:sp>
      <p:sp>
        <p:nvSpPr>
          <p:cNvPr id="28" name="Shape 24"/>
          <p:cNvSpPr/>
          <p:nvPr/>
        </p:nvSpPr>
        <p:spPr>
          <a:xfrm>
            <a:off x="6583680" y="5486400"/>
            <a:ext cx="5074920" cy="566928"/>
          </a:xfrm>
          <a:prstGeom prst="roundRect">
            <a:avLst>
              <a:gd name="adj" fmla="val 19355"/>
            </a:avLst>
          </a:prstGeom>
          <a:solidFill>
            <a:srgbClr val="FFF6E3"/>
          </a:solidFill>
          <a:ln w="12700">
            <a:solidFill>
              <a:srgbClr val="FFF6E3"/>
            </a:solidFill>
            <a:prstDash val="solid"/>
          </a:ln>
        </p:spPr>
      </p:sp>
      <p:pic>
        <p:nvPicPr>
          <p:cNvPr id="29" name="Image 0" descr="preencoded.png">    </p:cNvPr>
          <p:cNvPicPr>
            <a:picLocks noChangeAspect="1"/>
          </p:cNvPicPr>
          <p:nvPr/>
        </p:nvPicPr>
        <p:blipFill>
          <a:blip r:embed="rId1"/>
          <a:stretch>
            <a:fillRect/>
          </a:stretch>
        </p:blipFill>
        <p:spPr>
          <a:xfrm>
            <a:off x="6858000" y="5623560"/>
            <a:ext cx="292608" cy="292608"/>
          </a:xfrm>
          <a:prstGeom prst="rect">
            <a:avLst/>
          </a:prstGeom>
        </p:spPr>
      </p:pic>
      <p:sp>
        <p:nvSpPr>
          <p:cNvPr id="30" name="Text 25"/>
          <p:cNvSpPr txBox="1"/>
          <p:nvPr/>
        </p:nvSpPr>
        <p:spPr>
          <a:xfrm>
            <a:off x="7424928" y="5559552"/>
            <a:ext cx="3959352" cy="420624"/>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  means  "store into"  (←)</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TRACE &amp; ERRORS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Trace It Yourself — and the Unassigned Variable Error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548640" y="1600200"/>
            <a:ext cx="4937760" cy="2331720"/>
          </a:xfrm>
          <a:prstGeom prst="roundRect">
            <a:avLst>
              <a:gd name="adj" fmla="val 3922"/>
            </a:avLst>
          </a:prstGeom>
          <a:solidFill>
            <a:srgbClr val="0F1729"/>
          </a:solidFill>
          <a:ln w="12700">
            <a:solidFill>
              <a:srgbClr val="0F1729"/>
            </a:solidFill>
            <a:prstDash val="solid"/>
          </a:ln>
        </p:spPr>
      </p:sp>
      <p:sp>
        <p:nvSpPr>
          <p:cNvPr id="8" name="Text 5"/>
          <p:cNvSpPr txBox="1"/>
          <p:nvPr/>
        </p:nvSpPr>
        <p:spPr>
          <a:xfrm>
            <a:off x="777240" y="1709928"/>
            <a:ext cx="44805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Trace me</a:t>
            </a:r>
            <a:endParaRPr lang="en-US" sz="1100" dirty="0"/>
          </a:p>
        </p:txBody>
      </p:sp>
      <p:sp>
        <p:nvSpPr>
          <p:cNvPr id="9" name="Text 6"/>
          <p:cNvSpPr txBox="1"/>
          <p:nvPr/>
        </p:nvSpPr>
        <p:spPr>
          <a:xfrm>
            <a:off x="777240" y="2011680"/>
            <a:ext cx="4480560" cy="181051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y = x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x = x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y = y - x;</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$"x = {x}, y = {y}"</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4069080"/>
          <a:ext cx="4937760" cy="914400"/>
        </p:xfrm>
        <a:graphic>
          <a:graphicData uri="http://schemas.openxmlformats.org/drawingml/2006/table">
            <a:tbl>
              <a:tblPr/>
              <a:tblGrid>
                <a:gridCol w="731520"/>
                <a:gridCol w="822960"/>
                <a:gridCol w="822960"/>
                <a:gridCol w="2560320"/>
              </a:tblGrid>
              <a:tr h="329184">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Line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29184">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29184">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29184">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29184">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29184">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2E9E6A"/>
                          </a:solidFill>
                          <a:latin typeface="Courier New" pitchFamily="34" charset="0"/>
                          <a:ea typeface="Courier New" pitchFamily="34" charset="-122"/>
                          <a:cs typeface="Courier New" pitchFamily="34" charset="-120"/>
                        </a:rPr>
                        <a:t>x = 8, y = 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1" name="Shape 7"/>
          <p:cNvSpPr/>
          <p:nvPr/>
        </p:nvSpPr>
        <p:spPr>
          <a:xfrm>
            <a:off x="5852160" y="1600200"/>
            <a:ext cx="5806440" cy="1234440"/>
          </a:xfrm>
          <a:prstGeom prst="roundRect">
            <a:avLst>
              <a:gd name="adj" fmla="val 7407"/>
            </a:avLst>
          </a:prstGeom>
          <a:solidFill>
            <a:srgbClr val="0F1729"/>
          </a:solidFill>
          <a:ln w="12700">
            <a:solidFill>
              <a:srgbClr val="0F1729"/>
            </a:solidFill>
            <a:prstDash val="solid"/>
          </a:ln>
        </p:spPr>
      </p:sp>
      <p:sp>
        <p:nvSpPr>
          <p:cNvPr id="12" name="Text 8"/>
          <p:cNvSpPr txBox="1"/>
          <p:nvPr/>
        </p:nvSpPr>
        <p:spPr>
          <a:xfrm>
            <a:off x="6080760" y="1709928"/>
            <a:ext cx="5349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Does not compile</a:t>
            </a:r>
            <a:endParaRPr lang="en-US" sz="1100" dirty="0"/>
          </a:p>
        </p:txBody>
      </p:sp>
      <p:sp>
        <p:nvSpPr>
          <p:cNvPr id="13" name="Text 9"/>
          <p:cNvSpPr txBox="1"/>
          <p:nvPr/>
        </p:nvSpPr>
        <p:spPr>
          <a:xfrm>
            <a:off x="6080760" y="2011680"/>
            <a:ext cx="5349240" cy="71323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total;</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.WriteLine(total);</a:t>
            </a:r>
            <a:endParaRPr lang="en-US" sz="1400" dirty="0"/>
          </a:p>
        </p:txBody>
      </p:sp>
      <p:sp>
        <p:nvSpPr>
          <p:cNvPr id="14" name="Shape 10"/>
          <p:cNvSpPr/>
          <p:nvPr/>
        </p:nvSpPr>
        <p:spPr>
          <a:xfrm>
            <a:off x="5852160" y="2926080"/>
            <a:ext cx="5806440" cy="960120"/>
          </a:xfrm>
          <a:prstGeom prst="roundRect">
            <a:avLst>
              <a:gd name="adj" fmla="val 9524"/>
            </a:avLst>
          </a:prstGeom>
          <a:solidFill>
            <a:srgbClr val="0B0F19"/>
          </a:solidFill>
          <a:ln w="12700">
            <a:solidFill>
              <a:srgbClr val="2A3654"/>
            </a:solidFill>
            <a:prstDash val="solid"/>
          </a:ln>
        </p:spPr>
      </p:sp>
      <p:sp>
        <p:nvSpPr>
          <p:cNvPr id="15" name="Shape 11"/>
          <p:cNvSpPr/>
          <p:nvPr/>
        </p:nvSpPr>
        <p:spPr>
          <a:xfrm>
            <a:off x="6035040" y="3054096"/>
            <a:ext cx="118872" cy="118872"/>
          </a:xfrm>
          <a:prstGeom prst="ellipse">
            <a:avLst/>
          </a:prstGeom>
          <a:solidFill>
            <a:srgbClr val="FF5F57"/>
          </a:solidFill>
          <a:ln w="12700">
            <a:solidFill>
              <a:srgbClr val="FF5F57"/>
            </a:solidFill>
            <a:prstDash val="solid"/>
          </a:ln>
        </p:spPr>
      </p:sp>
      <p:sp>
        <p:nvSpPr>
          <p:cNvPr id="16" name="Shape 12"/>
          <p:cNvSpPr/>
          <p:nvPr/>
        </p:nvSpPr>
        <p:spPr>
          <a:xfrm>
            <a:off x="6263640" y="3054096"/>
            <a:ext cx="118872" cy="118872"/>
          </a:xfrm>
          <a:prstGeom prst="ellipse">
            <a:avLst/>
          </a:prstGeom>
          <a:solidFill>
            <a:srgbClr val="FEBC2E"/>
          </a:solidFill>
          <a:ln w="12700">
            <a:solidFill>
              <a:srgbClr val="FEBC2E"/>
            </a:solidFill>
            <a:prstDash val="solid"/>
          </a:ln>
        </p:spPr>
      </p:sp>
      <p:sp>
        <p:nvSpPr>
          <p:cNvPr id="17" name="Shape 13"/>
          <p:cNvSpPr/>
          <p:nvPr/>
        </p:nvSpPr>
        <p:spPr>
          <a:xfrm>
            <a:off x="6492240" y="3054096"/>
            <a:ext cx="118872" cy="118872"/>
          </a:xfrm>
          <a:prstGeom prst="ellipse">
            <a:avLst/>
          </a:prstGeom>
          <a:solidFill>
            <a:srgbClr val="28C840"/>
          </a:solidFill>
          <a:ln w="12700">
            <a:solidFill>
              <a:srgbClr val="28C840"/>
            </a:solidFill>
            <a:prstDash val="solid"/>
          </a:ln>
        </p:spPr>
      </p:sp>
      <p:sp>
        <p:nvSpPr>
          <p:cNvPr id="18" name="Text 14"/>
          <p:cNvSpPr txBox="1"/>
          <p:nvPr/>
        </p:nvSpPr>
        <p:spPr>
          <a:xfrm>
            <a:off x="6766560" y="2999232"/>
            <a:ext cx="47091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Build output</a:t>
            </a:r>
            <a:endParaRPr lang="en-US" sz="1000" dirty="0"/>
          </a:p>
        </p:txBody>
      </p:sp>
      <p:sp>
        <p:nvSpPr>
          <p:cNvPr id="19" name="Text 15"/>
          <p:cNvSpPr txBox="1"/>
          <p:nvPr/>
        </p:nvSpPr>
        <p:spPr>
          <a:xfrm>
            <a:off x="6080760" y="3310128"/>
            <a:ext cx="5349240" cy="45720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error CS0165: Use of unassigned local</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variable 'total'</a:t>
            </a:r>
            <a:endParaRPr lang="en-US" sz="1300" dirty="0"/>
          </a:p>
        </p:txBody>
      </p:sp>
      <p:sp>
        <p:nvSpPr>
          <p:cNvPr id="20" name="Shape 16"/>
          <p:cNvSpPr/>
          <p:nvPr/>
        </p:nvSpPr>
        <p:spPr>
          <a:xfrm>
            <a:off x="5852160" y="4069080"/>
            <a:ext cx="5806440" cy="914400"/>
          </a:xfrm>
          <a:prstGeom prst="roundRect">
            <a:avLst>
              <a:gd name="adj" fmla="val 10000"/>
            </a:avLst>
          </a:prstGeom>
          <a:solidFill>
            <a:srgbClr val="0F1729"/>
          </a:solidFill>
          <a:ln w="12700">
            <a:solidFill>
              <a:srgbClr val="0F1729"/>
            </a:solidFill>
            <a:prstDash val="solid"/>
          </a:ln>
        </p:spPr>
      </p:sp>
      <p:sp>
        <p:nvSpPr>
          <p:cNvPr id="21" name="Text 17"/>
          <p:cNvSpPr txBox="1"/>
          <p:nvPr/>
        </p:nvSpPr>
        <p:spPr>
          <a:xfrm>
            <a:off x="6080760" y="4233672"/>
            <a:ext cx="5349240" cy="640080"/>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CS0128</a:t>
            </a:r>
            <a:endParaRPr lang="en-US" sz="1400" dirty="0"/>
          </a:p>
        </p:txBody>
      </p:sp>
      <p:sp>
        <p:nvSpPr>
          <p:cNvPr id="22" name="Shape 18"/>
          <p:cNvSpPr/>
          <p:nvPr/>
        </p:nvSpPr>
        <p:spPr>
          <a:xfrm>
            <a:off x="5852160" y="5120640"/>
            <a:ext cx="5806440" cy="822960"/>
          </a:xfrm>
          <a:prstGeom prst="roundRect">
            <a:avLst>
              <a:gd name="adj" fmla="val 13333"/>
            </a:avLst>
          </a:prstGeom>
          <a:solidFill>
            <a:srgbClr val="E6F4EC"/>
          </a:solidFill>
          <a:ln w="12700">
            <a:solidFill>
              <a:srgbClr val="E6F4EC"/>
            </a:solidFill>
            <a:prstDash val="solid"/>
          </a:ln>
        </p:spPr>
      </p:sp>
      <p:pic>
        <p:nvPicPr>
          <p:cNvPr id="23" name="Image 0" descr="preencoded.png">    </p:cNvPr>
          <p:cNvPicPr>
            <a:picLocks noChangeAspect="1"/>
          </p:cNvPicPr>
          <p:nvPr/>
        </p:nvPicPr>
        <p:blipFill>
          <a:blip r:embed="rId1"/>
          <a:stretch>
            <a:fillRect/>
          </a:stretch>
        </p:blipFill>
        <p:spPr>
          <a:xfrm>
            <a:off x="6126480" y="5257800"/>
            <a:ext cx="548640" cy="548640"/>
          </a:xfrm>
          <a:prstGeom prst="rect">
            <a:avLst/>
          </a:prstGeom>
        </p:spPr>
      </p:pic>
      <p:sp>
        <p:nvSpPr>
          <p:cNvPr id="24" name="Text 19"/>
          <p:cNvSpPr txBox="1"/>
          <p:nvPr/>
        </p:nvSpPr>
        <p:spPr>
          <a:xfrm>
            <a:off x="6949440" y="5193792"/>
            <a:ext cx="4434840" cy="676656"/>
          </a:xfrm>
          <a:prstGeom prst="rect">
            <a:avLst/>
          </a:prstGeom>
          <a:noFill/>
          <a:ln/>
        </p:spPr>
        <p:txBody>
          <a:bodyPr wrap="square" lIns="0" tIns="0" rIns="0" bIns="0" rtlCol="0" anchor="ctr"/>
          <a:lstStyle/>
          <a:p>
            <a:pPr indent="0" marL="0">
              <a:buNone/>
            </a:pPr>
            <a:r>
              <a:rPr lang="en-US" sz="1300" b="1" dirty="0">
                <a:solidFill>
                  <a:srgbClr val="333B4F"/>
                </a:solidFill>
                <a:latin typeface="Calibri" pitchFamily="34" charset="0"/>
                <a:ea typeface="Calibri" pitchFamily="34" charset="-122"/>
                <a:cs typeface="Calibri" pitchFamily="34" charset="-120"/>
              </a:rPr>
              <a:t>Fix: </a:t>
            </a:r>
            <a:pPr indent="0" marL="0">
              <a:buNone/>
            </a:pPr>
            <a:r>
              <a:rPr lang="en-US" sz="1300" dirty="0">
                <a:solidFill>
                  <a:srgbClr val="333B4F"/>
                </a:solidFill>
                <a:latin typeface="Courier New" pitchFamily="34" charset="0"/>
                <a:ea typeface="Courier New" pitchFamily="34" charset="-122"/>
                <a:cs typeface="Courier New" pitchFamily="34" charset="-120"/>
              </a:rPr>
              <a:t>int total = 0;    x = 6;</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03_08 · SWAP</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Worked Example: Swapping Two Variables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18</a:t>
            </a:r>
            <a:endParaRPr lang="en-US" sz="1000" dirty="0"/>
          </a:p>
        </p:txBody>
      </p:sp>
      <p:sp>
        <p:nvSpPr>
          <p:cNvPr id="7" name="Shape 4"/>
          <p:cNvSpPr/>
          <p:nvPr/>
        </p:nvSpPr>
        <p:spPr>
          <a:xfrm>
            <a:off x="548640" y="1600200"/>
            <a:ext cx="5760720" cy="2788920"/>
          </a:xfrm>
          <a:prstGeom prst="roundRect">
            <a:avLst>
              <a:gd name="adj" fmla="val 3279"/>
            </a:avLst>
          </a:prstGeom>
          <a:solidFill>
            <a:srgbClr val="0F1729"/>
          </a:solidFill>
          <a:ln w="12700">
            <a:solidFill>
              <a:srgbClr val="0F1729"/>
            </a:solidFill>
            <a:prstDash val="solid"/>
          </a:ln>
        </p:spPr>
      </p:sp>
      <p:sp>
        <p:nvSpPr>
          <p:cNvPr id="8" name="Text 5"/>
          <p:cNvSpPr txBox="1"/>
          <p:nvPr/>
        </p:nvSpPr>
        <p:spPr>
          <a:xfrm>
            <a:off x="777240" y="1709928"/>
            <a:ext cx="53035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code/03_08_SwapVariables/Program.cs</a:t>
            </a:r>
            <a:endParaRPr lang="en-US" sz="1100" dirty="0"/>
          </a:p>
        </p:txBody>
      </p:sp>
      <p:sp>
        <p:nvSpPr>
          <p:cNvPr id="9" name="Text 6"/>
          <p:cNvSpPr txBox="1"/>
          <p:nvPr/>
        </p:nvSpPr>
        <p:spPr>
          <a:xfrm>
            <a:off x="777240" y="2011680"/>
            <a:ext cx="5303520" cy="226771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 =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"b =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$"Before: a = {a}, b = {b}"</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temp = a;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1) save a copy of a</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 = b;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2) overwrite a with b</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b = temp;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3) b gets the saved copy</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$"After : a = {a}, b = {b}"</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4526280"/>
            <a:ext cx="5760720" cy="1417320"/>
          </a:xfrm>
          <a:prstGeom prst="roundRect">
            <a:avLst>
              <a:gd name="adj" fmla="val 6452"/>
            </a:avLst>
          </a:prstGeom>
          <a:solidFill>
            <a:srgbClr val="0B0F19"/>
          </a:solidFill>
          <a:ln w="12700">
            <a:solidFill>
              <a:srgbClr val="2A3654"/>
            </a:solidFill>
            <a:prstDash val="solid"/>
          </a:ln>
        </p:spPr>
      </p:sp>
      <p:sp>
        <p:nvSpPr>
          <p:cNvPr id="11" name="Shape 8"/>
          <p:cNvSpPr/>
          <p:nvPr/>
        </p:nvSpPr>
        <p:spPr>
          <a:xfrm>
            <a:off x="731520" y="465429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65429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65429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599432"/>
            <a:ext cx="4663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4910328"/>
            <a:ext cx="5303520" cy="9144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Before: a = 5, b = 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After : a = 9, b = 5</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537960" y="1600200"/>
          <a:ext cx="5120640" cy="914400"/>
        </p:xfrm>
        <a:graphic>
          <a:graphicData uri="http://schemas.openxmlformats.org/drawingml/2006/table">
            <a:tbl>
              <a:tblPr/>
              <a:tblGrid>
                <a:gridCol w="2377440"/>
                <a:gridCol w="914400"/>
                <a:gridCol w="914400"/>
                <a:gridCol w="914400"/>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Statement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temp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(input)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 temp = a;</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 = 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b = temp;</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2E9E6A"/>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7" name="Shape 13"/>
          <p:cNvSpPr/>
          <p:nvPr/>
        </p:nvSpPr>
        <p:spPr>
          <a:xfrm>
            <a:off x="6537960" y="3840480"/>
            <a:ext cx="5120640" cy="2103120"/>
          </a:xfrm>
          <a:prstGeom prst="roundRect">
            <a:avLst>
              <a:gd name="adj" fmla="val 5217"/>
            </a:avLst>
          </a:prstGeom>
          <a:solidFill>
            <a:srgbClr val="FBE9E7"/>
          </a:solidFill>
          <a:ln w="12700">
            <a:solidFill>
              <a:srgbClr val="FBE9E7"/>
            </a:solidFill>
            <a:prstDash val="solid"/>
          </a:ln>
        </p:spPr>
      </p:sp>
      <p:sp>
        <p:nvSpPr>
          <p:cNvPr id="18" name="Text 14"/>
          <p:cNvSpPr txBox="1"/>
          <p:nvPr/>
        </p:nvSpPr>
        <p:spPr>
          <a:xfrm>
            <a:off x="6720840" y="3931920"/>
            <a:ext cx="4754880" cy="365760"/>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Wrong: without temp</a:t>
            </a:r>
            <a:endParaRPr lang="en-US" sz="1600" dirty="0"/>
          </a:p>
        </p:txBody>
      </p:sp>
      <p:sp>
        <p:nvSpPr>
          <p:cNvPr id="19" name="Shape 15"/>
          <p:cNvSpPr/>
          <p:nvPr/>
        </p:nvSpPr>
        <p:spPr>
          <a:xfrm>
            <a:off x="6720840" y="4343400"/>
            <a:ext cx="4754880" cy="914400"/>
          </a:xfrm>
          <a:prstGeom prst="roundRect">
            <a:avLst>
              <a:gd name="adj" fmla="val 10000"/>
            </a:avLst>
          </a:prstGeom>
          <a:solidFill>
            <a:srgbClr val="0F1729"/>
          </a:solidFill>
          <a:ln w="12700">
            <a:solidFill>
              <a:srgbClr val="0F1729"/>
            </a:solidFill>
            <a:prstDash val="solid"/>
          </a:ln>
        </p:spPr>
      </p:sp>
      <p:sp>
        <p:nvSpPr>
          <p:cNvPr id="20" name="Text 16"/>
          <p:cNvSpPr txBox="1"/>
          <p:nvPr/>
        </p:nvSpPr>
        <p:spPr>
          <a:xfrm>
            <a:off x="6949440" y="4507992"/>
            <a:ext cx="4297680" cy="640080"/>
          </a:xfrm>
          <a:prstGeom prst="rect">
            <a:avLst/>
          </a:prstGeom>
          <a:noFill/>
          <a:ln/>
        </p:spPr>
        <p:txBody>
          <a:bodyPr wrap="square" lIns="0" tIns="0" rIns="0" bIns="0" rtlCol="0" anchor="t"/>
          <a:lstStyle/>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 = b;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a = 9, the 5 is lost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b = a;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b = 9</a:t>
            </a:r>
            <a:endParaRPr lang="en-US" sz="1300" dirty="0"/>
          </a:p>
        </p:txBody>
      </p:sp>
      <p:sp>
        <p:nvSpPr>
          <p:cNvPr id="21" name="Text 17"/>
          <p:cNvSpPr txBox="1"/>
          <p:nvPr/>
        </p:nvSpPr>
        <p:spPr>
          <a:xfrm>
            <a:off x="6720840" y="5349240"/>
            <a:ext cx="4754880" cy="365760"/>
          </a:xfrm>
          <a:prstGeom prst="rect">
            <a:avLst/>
          </a:prstGeom>
          <a:noFill/>
          <a:ln/>
        </p:spPr>
        <p:txBody>
          <a:bodyPr wrap="square" lIns="0" tIns="0" rIns="0" bIns="0" rtlCol="0" anchor="ctr"/>
          <a:lstStyle/>
          <a:p>
            <a:pPr indent="0" marL="0">
              <a:buNone/>
            </a:pPr>
            <a:r>
              <a:rPr lang="en-US" sz="1400" b="1" dirty="0">
                <a:solidFill>
                  <a:srgbClr val="C8453B"/>
                </a:solidFill>
                <a:latin typeface="Courier New" pitchFamily="34" charset="0"/>
                <a:ea typeface="Courier New" pitchFamily="34" charset="-122"/>
                <a:cs typeface="Courier New" pitchFamily="34" charset="-120"/>
              </a:rPr>
              <a:t>Result: a = 9, b = 9</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Data Types and Constants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Choosing the right box: integers, real numbers, money, text and truth values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3</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BUILT-IN TYPES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Most Important C# Data Types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1371600"/>
                <a:gridCol w="914400"/>
                <a:gridCol w="3977640"/>
                <a:gridCol w="1920240"/>
                <a:gridCol w="2926080"/>
              </a:tblGrid>
              <a:tr h="39319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Bytes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Range / precision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Literal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Typical use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9319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byte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0 … 255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small counts, raw data</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short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−32 768 … 32 767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30000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rarely needed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400" b="1" dirty="0">
                          <a:solidFill>
                            <a:srgbClr val="2F6FB3"/>
                          </a:solidFill>
                          <a:latin typeface="Courier New" pitchFamily="34" charset="0"/>
                          <a:ea typeface="Courier New" pitchFamily="34" charset="-122"/>
                          <a:cs typeface="Courier New" pitchFamily="34" charset="-120"/>
                        </a:rPr>
                        <a:t>int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−2 147 483 648 … 2 147 483 647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42   1_000_000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default whole number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long</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 ±9.2 × 10¹⁸</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42L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very large whole numbers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float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 ±3.4 × 10³⁸,  ~6–9 digits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3.14f</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graphics, sensors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b="1" dirty="0">
                          <a:solidFill>
                            <a:srgbClr val="2F6FB3"/>
                          </a:solidFill>
                          <a:latin typeface="Courier New" pitchFamily="34" charset="0"/>
                          <a:ea typeface="Courier New" pitchFamily="34" charset="-122"/>
                          <a:cs typeface="Courier New" pitchFamily="34" charset="-120"/>
                        </a:rPr>
                        <a:t>double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 ±1.7 × 10³⁰⁸,  ~15–17 digits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3.14   2.5e3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default real number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400" b="1" dirty="0">
                          <a:solidFill>
                            <a:srgbClr val="2F6FB3"/>
                          </a:solidFill>
                          <a:latin typeface="Courier New" pitchFamily="34" charset="0"/>
                          <a:ea typeface="Courier New" pitchFamily="34" charset="-122"/>
                          <a:cs typeface="Courier New" pitchFamily="34" charset="-120"/>
                        </a:rPr>
                        <a:t>decimal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 ±7.9 × 10²⁸,  28–29 digits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19.99m</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money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char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one character (U+0000 … U+FFFF)</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 letter, a grade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bool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true  or  false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yes / 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400" b="1" dirty="0">
                          <a:solidFill>
                            <a:srgbClr val="2F6FB3"/>
                          </a:solidFill>
                          <a:latin typeface="Courier New" pitchFamily="34" charset="0"/>
                          <a:ea typeface="Courier New" pitchFamily="34" charset="-122"/>
                          <a:cs typeface="Courier New" pitchFamily="34" charset="-120"/>
                        </a:rPr>
                        <a:t>string</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varies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any text (sequence of chars)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"Ayşe"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names, IDs, phones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REAL NUMBERS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float, double or decimal? Precision Matters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548640" y="1600200"/>
            <a:ext cx="5852160" cy="2788920"/>
          </a:xfrm>
          <a:prstGeom prst="roundRect">
            <a:avLst>
              <a:gd name="adj" fmla="val 3279"/>
            </a:avLst>
          </a:prstGeom>
          <a:solidFill>
            <a:srgbClr val="0F1729"/>
          </a:solidFill>
          <a:ln w="12700">
            <a:solidFill>
              <a:srgbClr val="0F1729"/>
            </a:solidFill>
            <a:prstDash val="solid"/>
          </a:ln>
        </p:spPr>
      </p:sp>
      <p:sp>
        <p:nvSpPr>
          <p:cNvPr id="8" name="Text 5"/>
          <p:cNvSpPr txBox="1"/>
          <p:nvPr/>
        </p:nvSpPr>
        <p:spPr>
          <a:xfrm>
            <a:off x="777240" y="1709928"/>
            <a:ext cx="5394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Same sums, three types</a:t>
            </a:r>
            <a:endParaRPr lang="en-US" sz="1100" dirty="0"/>
          </a:p>
        </p:txBody>
      </p:sp>
      <p:sp>
        <p:nvSpPr>
          <p:cNvPr id="9" name="Text 6"/>
          <p:cNvSpPr txBox="1"/>
          <p:nvPr/>
        </p:nvSpPr>
        <p:spPr>
          <a:xfrm>
            <a:off x="777240" y="2011680"/>
            <a:ext cx="5394960" cy="226771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0.2</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double</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0.1f</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0.2f</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float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0.1m</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0.2m</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decimal</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1.0f</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1.0m</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6583680" y="1600200"/>
            <a:ext cx="5074920" cy="2788920"/>
          </a:xfrm>
          <a:prstGeom prst="roundRect">
            <a:avLst>
              <a:gd name="adj" fmla="val 3279"/>
            </a:avLst>
          </a:prstGeom>
          <a:solidFill>
            <a:srgbClr val="0B0F19"/>
          </a:solidFill>
          <a:ln w="12700">
            <a:solidFill>
              <a:srgbClr val="2A3654"/>
            </a:solidFill>
            <a:prstDash val="solid"/>
          </a:ln>
        </p:spPr>
      </p:sp>
      <p:sp>
        <p:nvSpPr>
          <p:cNvPr id="11" name="Shape 8"/>
          <p:cNvSpPr/>
          <p:nvPr/>
        </p:nvSpPr>
        <p:spPr>
          <a:xfrm>
            <a:off x="6766560" y="1728216"/>
            <a:ext cx="118872" cy="118872"/>
          </a:xfrm>
          <a:prstGeom prst="ellipse">
            <a:avLst/>
          </a:prstGeom>
          <a:solidFill>
            <a:srgbClr val="FF5F57"/>
          </a:solidFill>
          <a:ln w="12700">
            <a:solidFill>
              <a:srgbClr val="FF5F57"/>
            </a:solidFill>
            <a:prstDash val="solid"/>
          </a:ln>
        </p:spPr>
      </p:sp>
      <p:sp>
        <p:nvSpPr>
          <p:cNvPr id="12" name="Shape 9"/>
          <p:cNvSpPr/>
          <p:nvPr/>
        </p:nvSpPr>
        <p:spPr>
          <a:xfrm>
            <a:off x="6995160" y="1728216"/>
            <a:ext cx="118872" cy="118872"/>
          </a:xfrm>
          <a:prstGeom prst="ellipse">
            <a:avLst/>
          </a:prstGeom>
          <a:solidFill>
            <a:srgbClr val="FEBC2E"/>
          </a:solidFill>
          <a:ln w="12700">
            <a:solidFill>
              <a:srgbClr val="FEBC2E"/>
            </a:solidFill>
            <a:prstDash val="solid"/>
          </a:ln>
        </p:spPr>
      </p:sp>
      <p:sp>
        <p:nvSpPr>
          <p:cNvPr id="13" name="Shape 10"/>
          <p:cNvSpPr/>
          <p:nvPr/>
        </p:nvSpPr>
        <p:spPr>
          <a:xfrm>
            <a:off x="7223760" y="1728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498080" y="1673352"/>
            <a:ext cx="3977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6812280" y="1984248"/>
            <a:ext cx="4617720" cy="228600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0.30000000000000004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0.3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0.3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0.3333333333333333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0.33333334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0.3333333333333333333333333333</a:t>
            </a:r>
            <a:endParaRPr lang="en-US" sz="1300" dirty="0"/>
          </a:p>
        </p:txBody>
      </p:sp>
      <p:sp>
        <p:nvSpPr>
          <p:cNvPr id="16" name="Shape 13"/>
          <p:cNvSpPr/>
          <p:nvPr/>
        </p:nvSpPr>
        <p:spPr>
          <a:xfrm>
            <a:off x="548640" y="4572000"/>
            <a:ext cx="3611880" cy="1371600"/>
          </a:xfrm>
          <a:prstGeom prst="roundRect">
            <a:avLst>
              <a:gd name="adj" fmla="val 8000"/>
            </a:avLst>
          </a:prstGeom>
          <a:solidFill>
            <a:srgbClr val="EEF1F6"/>
          </a:solidFill>
          <a:ln w="12700">
            <a:solidFill>
              <a:srgbClr val="EEF1F6"/>
            </a:solidFill>
            <a:prstDash val="solid"/>
          </a:ln>
        </p:spPr>
      </p:sp>
      <p:sp>
        <p:nvSpPr>
          <p:cNvPr id="17" name="Shape 14"/>
          <p:cNvSpPr/>
          <p:nvPr/>
        </p:nvSpPr>
        <p:spPr>
          <a:xfrm>
            <a:off x="731520" y="4754880"/>
            <a:ext cx="640080" cy="640080"/>
          </a:xfrm>
          <a:prstGeom prst="ellipse">
            <a:avLst/>
          </a:prstGeom>
          <a:solidFill>
            <a:srgbClr val="2F6FB3"/>
          </a:solidFill>
          <a:ln w="12700">
            <a:solidFill>
              <a:srgbClr val="2F6FB3"/>
            </a:solidFill>
            <a:prstDash val="solid"/>
          </a:ln>
        </p:spPr>
      </p:sp>
      <p:pic>
        <p:nvPicPr>
          <p:cNvPr id="18" name="Image 0" descr="preencoded.png">    </p:cNvPr>
          <p:cNvPicPr>
            <a:picLocks noChangeAspect="1"/>
          </p:cNvPicPr>
          <p:nvPr/>
        </p:nvPicPr>
        <p:blipFill>
          <a:blip r:embed="rId1"/>
          <a:stretch>
            <a:fillRect/>
          </a:stretch>
        </p:blipFill>
        <p:spPr>
          <a:xfrm>
            <a:off x="897941" y="4921301"/>
            <a:ext cx="307238" cy="307238"/>
          </a:xfrm>
          <a:prstGeom prst="rect">
            <a:avLst/>
          </a:prstGeom>
        </p:spPr>
      </p:pic>
      <p:sp>
        <p:nvSpPr>
          <p:cNvPr id="19" name="Text 15"/>
          <p:cNvSpPr txBox="1"/>
          <p:nvPr/>
        </p:nvSpPr>
        <p:spPr>
          <a:xfrm>
            <a:off x="1508760" y="4663440"/>
            <a:ext cx="2560320" cy="365760"/>
          </a:xfrm>
          <a:prstGeom prst="rect">
            <a:avLst/>
          </a:prstGeom>
          <a:noFill/>
          <a:ln/>
        </p:spPr>
        <p:txBody>
          <a:bodyPr wrap="square" lIns="0" tIns="0" rIns="0" bIns="0" rtlCol="0" anchor="ctr"/>
          <a:lstStyle/>
          <a:p>
            <a:pPr indent="0" marL="0">
              <a:buNone/>
            </a:pPr>
            <a:r>
              <a:rPr lang="en-US" sz="1600" b="1" dirty="0">
                <a:solidFill>
                  <a:srgbClr val="2F6FB3"/>
                </a:solidFill>
                <a:latin typeface="Courier New" pitchFamily="34" charset="0"/>
                <a:ea typeface="Courier New" pitchFamily="34" charset="-122"/>
                <a:cs typeface="Courier New" pitchFamily="34" charset="-120"/>
              </a:rPr>
              <a:t>double</a:t>
            </a:r>
            <a:endParaRPr lang="en-US" sz="1600" dirty="0"/>
          </a:p>
        </p:txBody>
      </p:sp>
      <p:sp>
        <p:nvSpPr>
          <p:cNvPr id="20" name="Text 16"/>
          <p:cNvSpPr txBox="1"/>
          <p:nvPr/>
        </p:nvSpPr>
        <p:spPr>
          <a:xfrm>
            <a:off x="1508760" y="5029200"/>
            <a:ext cx="2560320" cy="82296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Measurements, science, maths. Our default for real numbers.</a:t>
            </a:r>
            <a:endParaRPr lang="en-US" sz="1300" dirty="0"/>
          </a:p>
        </p:txBody>
      </p:sp>
      <p:sp>
        <p:nvSpPr>
          <p:cNvPr id="21" name="Shape 17"/>
          <p:cNvSpPr/>
          <p:nvPr/>
        </p:nvSpPr>
        <p:spPr>
          <a:xfrm>
            <a:off x="4297680" y="4572000"/>
            <a:ext cx="3611880" cy="1371600"/>
          </a:xfrm>
          <a:prstGeom prst="roundRect">
            <a:avLst>
              <a:gd name="adj" fmla="val 8000"/>
            </a:avLst>
          </a:prstGeom>
          <a:solidFill>
            <a:srgbClr val="EEF1F6"/>
          </a:solidFill>
          <a:ln w="12700">
            <a:solidFill>
              <a:srgbClr val="EEF1F6"/>
            </a:solidFill>
            <a:prstDash val="solid"/>
          </a:ln>
        </p:spPr>
      </p:sp>
      <p:sp>
        <p:nvSpPr>
          <p:cNvPr id="22" name="Shape 18"/>
          <p:cNvSpPr/>
          <p:nvPr/>
        </p:nvSpPr>
        <p:spPr>
          <a:xfrm>
            <a:off x="4480560" y="4754880"/>
            <a:ext cx="640080" cy="640080"/>
          </a:xfrm>
          <a:prstGeom prst="ellipse">
            <a:avLst/>
          </a:prstGeom>
          <a:solidFill>
            <a:srgbClr val="2E9E6A"/>
          </a:solidFill>
          <a:ln w="12700">
            <a:solidFill>
              <a:srgbClr val="2E9E6A"/>
            </a:solidFill>
            <a:prstDash val="solid"/>
          </a:ln>
        </p:spPr>
      </p:sp>
      <p:pic>
        <p:nvPicPr>
          <p:cNvPr id="23" name="Image 1" descr="preencoded.png">    </p:cNvPr>
          <p:cNvPicPr>
            <a:picLocks noChangeAspect="1"/>
          </p:cNvPicPr>
          <p:nvPr/>
        </p:nvPicPr>
        <p:blipFill>
          <a:blip r:embed="rId2"/>
          <a:stretch>
            <a:fillRect/>
          </a:stretch>
        </p:blipFill>
        <p:spPr>
          <a:xfrm>
            <a:off x="4646981" y="4921301"/>
            <a:ext cx="307238" cy="307238"/>
          </a:xfrm>
          <a:prstGeom prst="rect">
            <a:avLst/>
          </a:prstGeom>
        </p:spPr>
      </p:pic>
      <p:sp>
        <p:nvSpPr>
          <p:cNvPr id="24" name="Text 19"/>
          <p:cNvSpPr txBox="1"/>
          <p:nvPr/>
        </p:nvSpPr>
        <p:spPr>
          <a:xfrm>
            <a:off x="5257800" y="4663440"/>
            <a:ext cx="2560320" cy="365760"/>
          </a:xfrm>
          <a:prstGeom prst="rect">
            <a:avLst/>
          </a:prstGeom>
          <a:noFill/>
          <a:ln/>
        </p:spPr>
        <p:txBody>
          <a:bodyPr wrap="square" lIns="0" tIns="0" rIns="0" bIns="0" rtlCol="0" anchor="ctr"/>
          <a:lstStyle/>
          <a:p>
            <a:pPr indent="0" marL="0">
              <a:buNone/>
            </a:pPr>
            <a:r>
              <a:rPr lang="en-US" sz="1600" b="1" dirty="0">
                <a:solidFill>
                  <a:srgbClr val="2E9E6A"/>
                </a:solidFill>
                <a:latin typeface="Courier New" pitchFamily="34" charset="0"/>
                <a:ea typeface="Courier New" pitchFamily="34" charset="-122"/>
                <a:cs typeface="Courier New" pitchFamily="34" charset="-120"/>
              </a:rPr>
              <a:t>decimal</a:t>
            </a:r>
            <a:endParaRPr lang="en-US" sz="1600" dirty="0"/>
          </a:p>
        </p:txBody>
      </p:sp>
      <p:sp>
        <p:nvSpPr>
          <p:cNvPr id="25" name="Text 20"/>
          <p:cNvSpPr txBox="1"/>
          <p:nvPr/>
        </p:nvSpPr>
        <p:spPr>
          <a:xfrm>
            <a:off x="5257800" y="5029200"/>
            <a:ext cx="2560320" cy="82296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Money: prices, salaries, VAT. Exact in base 10.</a:t>
            </a:r>
            <a:endParaRPr lang="en-US" sz="1300" dirty="0"/>
          </a:p>
        </p:txBody>
      </p:sp>
      <p:sp>
        <p:nvSpPr>
          <p:cNvPr id="26" name="Shape 21"/>
          <p:cNvSpPr/>
          <p:nvPr/>
        </p:nvSpPr>
        <p:spPr>
          <a:xfrm>
            <a:off x="8046720" y="4572000"/>
            <a:ext cx="3611880" cy="1371600"/>
          </a:xfrm>
          <a:prstGeom prst="roundRect">
            <a:avLst>
              <a:gd name="adj" fmla="val 8000"/>
            </a:avLst>
          </a:prstGeom>
          <a:solidFill>
            <a:srgbClr val="EEF1F6"/>
          </a:solidFill>
          <a:ln w="12700">
            <a:solidFill>
              <a:srgbClr val="EEF1F6"/>
            </a:solidFill>
            <a:prstDash val="solid"/>
          </a:ln>
        </p:spPr>
      </p:sp>
      <p:sp>
        <p:nvSpPr>
          <p:cNvPr id="27" name="Shape 22"/>
          <p:cNvSpPr/>
          <p:nvPr/>
        </p:nvSpPr>
        <p:spPr>
          <a:xfrm>
            <a:off x="8229600" y="4754880"/>
            <a:ext cx="640080" cy="640080"/>
          </a:xfrm>
          <a:prstGeom prst="ellipse">
            <a:avLst/>
          </a:prstGeom>
          <a:solidFill>
            <a:srgbClr val="5B6478"/>
          </a:solidFill>
          <a:ln w="12700">
            <a:solidFill>
              <a:srgbClr val="5B6478"/>
            </a:solidFill>
            <a:prstDash val="solid"/>
          </a:ln>
        </p:spPr>
      </p:sp>
      <p:pic>
        <p:nvPicPr>
          <p:cNvPr id="28" name="Image 2" descr="preencoded.png">    </p:cNvPr>
          <p:cNvPicPr>
            <a:picLocks noChangeAspect="1"/>
          </p:cNvPicPr>
          <p:nvPr/>
        </p:nvPicPr>
        <p:blipFill>
          <a:blip r:embed="rId3"/>
          <a:stretch>
            <a:fillRect/>
          </a:stretch>
        </p:blipFill>
        <p:spPr>
          <a:xfrm>
            <a:off x="8396021" y="4921301"/>
            <a:ext cx="307238" cy="307238"/>
          </a:xfrm>
          <a:prstGeom prst="rect">
            <a:avLst/>
          </a:prstGeom>
        </p:spPr>
      </p:pic>
      <p:sp>
        <p:nvSpPr>
          <p:cNvPr id="29" name="Text 23"/>
          <p:cNvSpPr txBox="1"/>
          <p:nvPr/>
        </p:nvSpPr>
        <p:spPr>
          <a:xfrm>
            <a:off x="9006840" y="4663440"/>
            <a:ext cx="2560320" cy="365760"/>
          </a:xfrm>
          <a:prstGeom prst="rect">
            <a:avLst/>
          </a:prstGeom>
          <a:noFill/>
          <a:ln/>
        </p:spPr>
        <p:txBody>
          <a:bodyPr wrap="square" lIns="0" tIns="0" rIns="0" bIns="0" rtlCol="0" anchor="ctr"/>
          <a:lstStyle/>
          <a:p>
            <a:pPr indent="0" marL="0">
              <a:buNone/>
            </a:pPr>
            <a:r>
              <a:rPr lang="en-US" sz="1600" b="1" dirty="0">
                <a:solidFill>
                  <a:srgbClr val="5B6478"/>
                </a:solidFill>
                <a:latin typeface="Courier New" pitchFamily="34" charset="0"/>
                <a:ea typeface="Courier New" pitchFamily="34" charset="-122"/>
                <a:cs typeface="Courier New" pitchFamily="34" charset="-120"/>
              </a:rPr>
              <a:t>float</a:t>
            </a:r>
            <a:endParaRPr lang="en-US" sz="1600" dirty="0"/>
          </a:p>
        </p:txBody>
      </p:sp>
      <p:sp>
        <p:nvSpPr>
          <p:cNvPr id="30" name="Text 24"/>
          <p:cNvSpPr txBox="1"/>
          <p:nvPr/>
        </p:nvSpPr>
        <p:spPr>
          <a:xfrm>
            <a:off x="9006840" y="5029200"/>
            <a:ext cx="2560320" cy="82296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Only when memory matters (graphics, sensors). Needs f.</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DESIGN DECISION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Which Type Would You Choose?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548640" y="1600200"/>
            <a:ext cx="2670048" cy="1783080"/>
          </a:xfrm>
          <a:prstGeom prst="roundRect">
            <a:avLst>
              <a:gd name="adj" fmla="val 6154"/>
            </a:avLst>
          </a:prstGeom>
          <a:solidFill>
            <a:srgbClr val="EEF1F6"/>
          </a:solidFill>
          <a:ln w="12700">
            <a:solidFill>
              <a:srgbClr val="EEF1F6"/>
            </a:solidFill>
            <a:prstDash val="solid"/>
          </a:ln>
        </p:spPr>
      </p:sp>
      <p:sp>
        <p:nvSpPr>
          <p:cNvPr id="8" name="Shape 5"/>
          <p:cNvSpPr/>
          <p:nvPr/>
        </p:nvSpPr>
        <p:spPr>
          <a:xfrm>
            <a:off x="731520" y="1783080"/>
            <a:ext cx="594360" cy="594360"/>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886054" y="1937614"/>
            <a:ext cx="285293" cy="285293"/>
          </a:xfrm>
          <a:prstGeom prst="rect">
            <a:avLst/>
          </a:prstGeom>
        </p:spPr>
      </p:pic>
      <p:sp>
        <p:nvSpPr>
          <p:cNvPr id="10" name="Text 6"/>
          <p:cNvSpPr txBox="1"/>
          <p:nvPr/>
        </p:nvSpPr>
        <p:spPr>
          <a:xfrm>
            <a:off x="731520" y="2441448"/>
            <a:ext cx="233172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Number of students</a:t>
            </a:r>
            <a:endParaRPr lang="en-US" sz="1500" dirty="0"/>
          </a:p>
        </p:txBody>
      </p:sp>
      <p:sp>
        <p:nvSpPr>
          <p:cNvPr id="11" name="Text 7"/>
          <p:cNvSpPr txBox="1"/>
          <p:nvPr/>
        </p:nvSpPr>
        <p:spPr>
          <a:xfrm>
            <a:off x="731520" y="2852928"/>
            <a:ext cx="2331720" cy="411480"/>
          </a:xfrm>
          <a:prstGeom prst="rect">
            <a:avLst/>
          </a:prstGeom>
          <a:noFill/>
          <a:ln/>
        </p:spPr>
        <p:txBody>
          <a:bodyPr wrap="square" lIns="0" tIns="0" rIns="0" bIns="0" rtlCol="0" anchor="ctr"/>
          <a:lstStyle/>
          <a:p>
            <a:pPr indent="0" marL="0">
              <a:buNone/>
            </a:pPr>
            <a:r>
              <a:rPr lang="en-US" sz="1800" b="1" dirty="0">
                <a:solidFill>
                  <a:srgbClr val="2E9E6A"/>
                </a:solidFill>
                <a:latin typeface="Courier New" pitchFamily="34" charset="0"/>
                <a:ea typeface="Courier New" pitchFamily="34" charset="-122"/>
                <a:cs typeface="Courier New" pitchFamily="34" charset="-120"/>
              </a:rPr>
              <a:t>int</a:t>
            </a:r>
            <a:endParaRPr lang="en-US" sz="1800" dirty="0"/>
          </a:p>
        </p:txBody>
      </p:sp>
      <p:sp>
        <p:nvSpPr>
          <p:cNvPr id="12" name="Shape 8"/>
          <p:cNvSpPr/>
          <p:nvPr/>
        </p:nvSpPr>
        <p:spPr>
          <a:xfrm>
            <a:off x="3355848" y="1600200"/>
            <a:ext cx="2670048" cy="1783080"/>
          </a:xfrm>
          <a:prstGeom prst="roundRect">
            <a:avLst>
              <a:gd name="adj" fmla="val 6154"/>
            </a:avLst>
          </a:prstGeom>
          <a:solidFill>
            <a:srgbClr val="EEF1F6"/>
          </a:solidFill>
          <a:ln w="12700">
            <a:solidFill>
              <a:srgbClr val="EEF1F6"/>
            </a:solidFill>
            <a:prstDash val="solid"/>
          </a:ln>
        </p:spPr>
      </p:sp>
      <p:sp>
        <p:nvSpPr>
          <p:cNvPr id="13" name="Shape 9"/>
          <p:cNvSpPr/>
          <p:nvPr/>
        </p:nvSpPr>
        <p:spPr>
          <a:xfrm>
            <a:off x="3538728" y="1783080"/>
            <a:ext cx="594360" cy="594360"/>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3693262" y="1937614"/>
            <a:ext cx="285293" cy="285293"/>
          </a:xfrm>
          <a:prstGeom prst="rect">
            <a:avLst/>
          </a:prstGeom>
        </p:spPr>
      </p:pic>
      <p:sp>
        <p:nvSpPr>
          <p:cNvPr id="15" name="Text 10"/>
          <p:cNvSpPr txBox="1"/>
          <p:nvPr/>
        </p:nvSpPr>
        <p:spPr>
          <a:xfrm>
            <a:off x="3538728" y="2441448"/>
            <a:ext cx="233172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World population</a:t>
            </a:r>
            <a:endParaRPr lang="en-US" sz="1500" dirty="0"/>
          </a:p>
        </p:txBody>
      </p:sp>
      <p:sp>
        <p:nvSpPr>
          <p:cNvPr id="16" name="Text 11"/>
          <p:cNvSpPr txBox="1"/>
          <p:nvPr/>
        </p:nvSpPr>
        <p:spPr>
          <a:xfrm>
            <a:off x="3538728" y="2852928"/>
            <a:ext cx="2331720" cy="411480"/>
          </a:xfrm>
          <a:prstGeom prst="rect">
            <a:avLst/>
          </a:prstGeom>
          <a:noFill/>
          <a:ln/>
        </p:spPr>
        <p:txBody>
          <a:bodyPr wrap="square" lIns="0" tIns="0" rIns="0" bIns="0" rtlCol="0" anchor="ctr"/>
          <a:lstStyle/>
          <a:p>
            <a:pPr indent="0" marL="0">
              <a:buNone/>
            </a:pPr>
            <a:r>
              <a:rPr lang="en-US" sz="1800" b="1" dirty="0">
                <a:solidFill>
                  <a:srgbClr val="2E9E6A"/>
                </a:solidFill>
                <a:latin typeface="Courier New" pitchFamily="34" charset="0"/>
                <a:ea typeface="Courier New" pitchFamily="34" charset="-122"/>
                <a:cs typeface="Courier New" pitchFamily="34" charset="-120"/>
              </a:rPr>
              <a:t>long</a:t>
            </a:r>
            <a:endParaRPr lang="en-US" sz="1800" dirty="0"/>
          </a:p>
        </p:txBody>
      </p:sp>
      <p:sp>
        <p:nvSpPr>
          <p:cNvPr id="17" name="Shape 12"/>
          <p:cNvSpPr/>
          <p:nvPr/>
        </p:nvSpPr>
        <p:spPr>
          <a:xfrm>
            <a:off x="6163056" y="1600200"/>
            <a:ext cx="2670048" cy="1783080"/>
          </a:xfrm>
          <a:prstGeom prst="roundRect">
            <a:avLst>
              <a:gd name="adj" fmla="val 6154"/>
            </a:avLst>
          </a:prstGeom>
          <a:solidFill>
            <a:srgbClr val="EEF1F6"/>
          </a:solidFill>
          <a:ln w="12700">
            <a:solidFill>
              <a:srgbClr val="EEF1F6"/>
            </a:solidFill>
            <a:prstDash val="solid"/>
          </a:ln>
        </p:spPr>
      </p:sp>
      <p:sp>
        <p:nvSpPr>
          <p:cNvPr id="18" name="Shape 13"/>
          <p:cNvSpPr/>
          <p:nvPr/>
        </p:nvSpPr>
        <p:spPr>
          <a:xfrm>
            <a:off x="6345936" y="1783080"/>
            <a:ext cx="594360" cy="594360"/>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6500470" y="1937614"/>
            <a:ext cx="285293" cy="285293"/>
          </a:xfrm>
          <a:prstGeom prst="rect">
            <a:avLst/>
          </a:prstGeom>
        </p:spPr>
      </p:pic>
      <p:sp>
        <p:nvSpPr>
          <p:cNvPr id="20" name="Text 14"/>
          <p:cNvSpPr txBox="1"/>
          <p:nvPr/>
        </p:nvSpPr>
        <p:spPr>
          <a:xfrm>
            <a:off x="6345936" y="2441448"/>
            <a:ext cx="233172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Body temperature</a:t>
            </a:r>
            <a:endParaRPr lang="en-US" sz="1500" dirty="0"/>
          </a:p>
        </p:txBody>
      </p:sp>
      <p:sp>
        <p:nvSpPr>
          <p:cNvPr id="21" name="Text 15"/>
          <p:cNvSpPr txBox="1"/>
          <p:nvPr/>
        </p:nvSpPr>
        <p:spPr>
          <a:xfrm>
            <a:off x="6345936" y="2852928"/>
            <a:ext cx="2331720" cy="411480"/>
          </a:xfrm>
          <a:prstGeom prst="rect">
            <a:avLst/>
          </a:prstGeom>
          <a:noFill/>
          <a:ln/>
        </p:spPr>
        <p:txBody>
          <a:bodyPr wrap="square" lIns="0" tIns="0" rIns="0" bIns="0" rtlCol="0" anchor="ctr"/>
          <a:lstStyle/>
          <a:p>
            <a:pPr indent="0" marL="0">
              <a:buNone/>
            </a:pPr>
            <a:r>
              <a:rPr lang="en-US" sz="1800" b="1" dirty="0">
                <a:solidFill>
                  <a:srgbClr val="2E9E6A"/>
                </a:solidFill>
                <a:latin typeface="Courier New" pitchFamily="34" charset="0"/>
                <a:ea typeface="Courier New" pitchFamily="34" charset="-122"/>
                <a:cs typeface="Courier New" pitchFamily="34" charset="-120"/>
              </a:rPr>
              <a:t>double</a:t>
            </a:r>
            <a:endParaRPr lang="en-US" sz="1800" dirty="0"/>
          </a:p>
        </p:txBody>
      </p:sp>
      <p:sp>
        <p:nvSpPr>
          <p:cNvPr id="22" name="Shape 16"/>
          <p:cNvSpPr/>
          <p:nvPr/>
        </p:nvSpPr>
        <p:spPr>
          <a:xfrm>
            <a:off x="8970264" y="1600200"/>
            <a:ext cx="2670048" cy="1783080"/>
          </a:xfrm>
          <a:prstGeom prst="roundRect">
            <a:avLst>
              <a:gd name="adj" fmla="val 6154"/>
            </a:avLst>
          </a:prstGeom>
          <a:solidFill>
            <a:srgbClr val="EEF1F6"/>
          </a:solidFill>
          <a:ln w="12700">
            <a:solidFill>
              <a:srgbClr val="EEF1F6"/>
            </a:solidFill>
            <a:prstDash val="solid"/>
          </a:ln>
        </p:spPr>
      </p:sp>
      <p:sp>
        <p:nvSpPr>
          <p:cNvPr id="23" name="Shape 17"/>
          <p:cNvSpPr/>
          <p:nvPr/>
        </p:nvSpPr>
        <p:spPr>
          <a:xfrm>
            <a:off x="9153144" y="1783080"/>
            <a:ext cx="594360" cy="594360"/>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9307678" y="1937614"/>
            <a:ext cx="285293" cy="285293"/>
          </a:xfrm>
          <a:prstGeom prst="rect">
            <a:avLst/>
          </a:prstGeom>
        </p:spPr>
      </p:pic>
      <p:sp>
        <p:nvSpPr>
          <p:cNvPr id="25" name="Text 18"/>
          <p:cNvSpPr txBox="1"/>
          <p:nvPr/>
        </p:nvSpPr>
        <p:spPr>
          <a:xfrm>
            <a:off x="9153144" y="2441448"/>
            <a:ext cx="233172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Product price</a:t>
            </a:r>
            <a:endParaRPr lang="en-US" sz="1500" dirty="0"/>
          </a:p>
        </p:txBody>
      </p:sp>
      <p:sp>
        <p:nvSpPr>
          <p:cNvPr id="26" name="Text 19"/>
          <p:cNvSpPr txBox="1"/>
          <p:nvPr/>
        </p:nvSpPr>
        <p:spPr>
          <a:xfrm>
            <a:off x="9153144" y="2852928"/>
            <a:ext cx="2331720" cy="411480"/>
          </a:xfrm>
          <a:prstGeom prst="rect">
            <a:avLst/>
          </a:prstGeom>
          <a:noFill/>
          <a:ln/>
        </p:spPr>
        <p:txBody>
          <a:bodyPr wrap="square" lIns="0" tIns="0" rIns="0" bIns="0" rtlCol="0" anchor="ctr"/>
          <a:lstStyle/>
          <a:p>
            <a:pPr indent="0" marL="0">
              <a:buNone/>
            </a:pPr>
            <a:r>
              <a:rPr lang="en-US" sz="1800" b="1" dirty="0">
                <a:solidFill>
                  <a:srgbClr val="2E9E6A"/>
                </a:solidFill>
                <a:latin typeface="Courier New" pitchFamily="34" charset="0"/>
                <a:ea typeface="Courier New" pitchFamily="34" charset="-122"/>
                <a:cs typeface="Courier New" pitchFamily="34" charset="-120"/>
              </a:rPr>
              <a:t>decimal</a:t>
            </a:r>
            <a:endParaRPr lang="en-US" sz="1800" dirty="0"/>
          </a:p>
        </p:txBody>
      </p:sp>
      <p:sp>
        <p:nvSpPr>
          <p:cNvPr id="27" name="Shape 20"/>
          <p:cNvSpPr/>
          <p:nvPr/>
        </p:nvSpPr>
        <p:spPr>
          <a:xfrm>
            <a:off x="548640" y="3520440"/>
            <a:ext cx="2670048" cy="1783080"/>
          </a:xfrm>
          <a:prstGeom prst="roundRect">
            <a:avLst>
              <a:gd name="adj" fmla="val 6154"/>
            </a:avLst>
          </a:prstGeom>
          <a:solidFill>
            <a:srgbClr val="EEF1F6"/>
          </a:solidFill>
          <a:ln w="12700">
            <a:solidFill>
              <a:srgbClr val="EEF1F6"/>
            </a:solidFill>
            <a:prstDash val="solid"/>
          </a:ln>
        </p:spPr>
      </p:sp>
      <p:sp>
        <p:nvSpPr>
          <p:cNvPr id="28" name="Shape 21"/>
          <p:cNvSpPr/>
          <p:nvPr/>
        </p:nvSpPr>
        <p:spPr>
          <a:xfrm>
            <a:off x="731520" y="3703320"/>
            <a:ext cx="594360" cy="594360"/>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886054" y="3857854"/>
            <a:ext cx="285293" cy="285293"/>
          </a:xfrm>
          <a:prstGeom prst="rect">
            <a:avLst/>
          </a:prstGeom>
        </p:spPr>
      </p:pic>
      <p:sp>
        <p:nvSpPr>
          <p:cNvPr id="30" name="Text 22"/>
          <p:cNvSpPr txBox="1"/>
          <p:nvPr/>
        </p:nvSpPr>
        <p:spPr>
          <a:xfrm>
            <a:off x="731520" y="4361688"/>
            <a:ext cx="233172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Passed the course?</a:t>
            </a:r>
            <a:endParaRPr lang="en-US" sz="1500" dirty="0"/>
          </a:p>
        </p:txBody>
      </p:sp>
      <p:sp>
        <p:nvSpPr>
          <p:cNvPr id="31" name="Text 23"/>
          <p:cNvSpPr txBox="1"/>
          <p:nvPr/>
        </p:nvSpPr>
        <p:spPr>
          <a:xfrm>
            <a:off x="731520" y="4773168"/>
            <a:ext cx="2331720" cy="411480"/>
          </a:xfrm>
          <a:prstGeom prst="rect">
            <a:avLst/>
          </a:prstGeom>
          <a:noFill/>
          <a:ln/>
        </p:spPr>
        <p:txBody>
          <a:bodyPr wrap="square" lIns="0" tIns="0" rIns="0" bIns="0" rtlCol="0" anchor="ctr"/>
          <a:lstStyle/>
          <a:p>
            <a:pPr indent="0" marL="0">
              <a:buNone/>
            </a:pPr>
            <a:r>
              <a:rPr lang="en-US" sz="1800" b="1" dirty="0">
                <a:solidFill>
                  <a:srgbClr val="2E9E6A"/>
                </a:solidFill>
                <a:latin typeface="Courier New" pitchFamily="34" charset="0"/>
                <a:ea typeface="Courier New" pitchFamily="34" charset="-122"/>
                <a:cs typeface="Courier New" pitchFamily="34" charset="-120"/>
              </a:rPr>
              <a:t>bool</a:t>
            </a:r>
            <a:endParaRPr lang="en-US" sz="1800" dirty="0"/>
          </a:p>
        </p:txBody>
      </p:sp>
      <p:sp>
        <p:nvSpPr>
          <p:cNvPr id="32" name="Shape 24"/>
          <p:cNvSpPr/>
          <p:nvPr/>
        </p:nvSpPr>
        <p:spPr>
          <a:xfrm>
            <a:off x="3355848" y="3520440"/>
            <a:ext cx="2670048" cy="1783080"/>
          </a:xfrm>
          <a:prstGeom prst="roundRect">
            <a:avLst>
              <a:gd name="adj" fmla="val 6154"/>
            </a:avLst>
          </a:prstGeom>
          <a:solidFill>
            <a:srgbClr val="EEF1F6"/>
          </a:solidFill>
          <a:ln w="12700">
            <a:solidFill>
              <a:srgbClr val="EEF1F6"/>
            </a:solidFill>
            <a:prstDash val="solid"/>
          </a:ln>
        </p:spPr>
      </p:sp>
      <p:sp>
        <p:nvSpPr>
          <p:cNvPr id="33" name="Shape 25"/>
          <p:cNvSpPr/>
          <p:nvPr/>
        </p:nvSpPr>
        <p:spPr>
          <a:xfrm>
            <a:off x="3538728" y="3703320"/>
            <a:ext cx="594360" cy="594360"/>
          </a:xfrm>
          <a:prstGeom prst="ellipse">
            <a:avLst/>
          </a:prstGeom>
          <a:solidFill>
            <a:srgbClr val="14213D"/>
          </a:solidFill>
          <a:ln w="12700">
            <a:solidFill>
              <a:srgbClr val="14213D"/>
            </a:solidFill>
            <a:prstDash val="solid"/>
          </a:ln>
        </p:spPr>
      </p:sp>
      <p:pic>
        <p:nvPicPr>
          <p:cNvPr id="34" name="Image 5" descr="preencoded.png">    </p:cNvPr>
          <p:cNvPicPr>
            <a:picLocks noChangeAspect="1"/>
          </p:cNvPicPr>
          <p:nvPr/>
        </p:nvPicPr>
        <p:blipFill>
          <a:blip r:embed="rId6"/>
          <a:stretch>
            <a:fillRect/>
          </a:stretch>
        </p:blipFill>
        <p:spPr>
          <a:xfrm>
            <a:off x="3693262" y="3857854"/>
            <a:ext cx="285293" cy="285293"/>
          </a:xfrm>
          <a:prstGeom prst="rect">
            <a:avLst/>
          </a:prstGeom>
        </p:spPr>
      </p:pic>
      <p:sp>
        <p:nvSpPr>
          <p:cNvPr id="35" name="Text 26"/>
          <p:cNvSpPr txBox="1"/>
          <p:nvPr/>
        </p:nvSpPr>
        <p:spPr>
          <a:xfrm>
            <a:off x="3538728" y="4361688"/>
            <a:ext cx="233172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Letter grade B</a:t>
            </a:r>
            <a:endParaRPr lang="en-US" sz="1500" dirty="0"/>
          </a:p>
        </p:txBody>
      </p:sp>
      <p:sp>
        <p:nvSpPr>
          <p:cNvPr id="36" name="Text 27"/>
          <p:cNvSpPr txBox="1"/>
          <p:nvPr/>
        </p:nvSpPr>
        <p:spPr>
          <a:xfrm>
            <a:off x="3538728" y="4773168"/>
            <a:ext cx="2331720" cy="411480"/>
          </a:xfrm>
          <a:prstGeom prst="rect">
            <a:avLst/>
          </a:prstGeom>
          <a:noFill/>
          <a:ln/>
        </p:spPr>
        <p:txBody>
          <a:bodyPr wrap="square" lIns="0" tIns="0" rIns="0" bIns="0" rtlCol="0" anchor="ctr"/>
          <a:lstStyle/>
          <a:p>
            <a:pPr indent="0" marL="0">
              <a:buNone/>
            </a:pPr>
            <a:r>
              <a:rPr lang="en-US" sz="1800" b="1" dirty="0">
                <a:solidFill>
                  <a:srgbClr val="2E9E6A"/>
                </a:solidFill>
                <a:latin typeface="Courier New" pitchFamily="34" charset="0"/>
                <a:ea typeface="Courier New" pitchFamily="34" charset="-122"/>
                <a:cs typeface="Courier New" pitchFamily="34" charset="-120"/>
              </a:rPr>
              <a:t>char</a:t>
            </a:r>
            <a:endParaRPr lang="en-US" sz="1800" dirty="0"/>
          </a:p>
        </p:txBody>
      </p:sp>
      <p:sp>
        <p:nvSpPr>
          <p:cNvPr id="37" name="Shape 28"/>
          <p:cNvSpPr/>
          <p:nvPr/>
        </p:nvSpPr>
        <p:spPr>
          <a:xfrm>
            <a:off x="6163056" y="3520440"/>
            <a:ext cx="2670048" cy="1783080"/>
          </a:xfrm>
          <a:prstGeom prst="roundRect">
            <a:avLst>
              <a:gd name="adj" fmla="val 6154"/>
            </a:avLst>
          </a:prstGeom>
          <a:solidFill>
            <a:srgbClr val="EEF1F6"/>
          </a:solidFill>
          <a:ln w="12700">
            <a:solidFill>
              <a:srgbClr val="EEF1F6"/>
            </a:solidFill>
            <a:prstDash val="solid"/>
          </a:ln>
        </p:spPr>
      </p:sp>
      <p:sp>
        <p:nvSpPr>
          <p:cNvPr id="38" name="Shape 29"/>
          <p:cNvSpPr/>
          <p:nvPr/>
        </p:nvSpPr>
        <p:spPr>
          <a:xfrm>
            <a:off x="6345936" y="3703320"/>
            <a:ext cx="594360" cy="594360"/>
          </a:xfrm>
          <a:prstGeom prst="ellipse">
            <a:avLst/>
          </a:prstGeom>
          <a:solidFill>
            <a:srgbClr val="14213D"/>
          </a:solidFill>
          <a:ln w="12700">
            <a:solidFill>
              <a:srgbClr val="14213D"/>
            </a:solidFill>
            <a:prstDash val="solid"/>
          </a:ln>
        </p:spPr>
      </p:sp>
      <p:pic>
        <p:nvPicPr>
          <p:cNvPr id="39" name="Image 6" descr="preencoded.png">    </p:cNvPr>
          <p:cNvPicPr>
            <a:picLocks noChangeAspect="1"/>
          </p:cNvPicPr>
          <p:nvPr/>
        </p:nvPicPr>
        <p:blipFill>
          <a:blip r:embed="rId7"/>
          <a:stretch>
            <a:fillRect/>
          </a:stretch>
        </p:blipFill>
        <p:spPr>
          <a:xfrm>
            <a:off x="6500470" y="3857854"/>
            <a:ext cx="285293" cy="285293"/>
          </a:xfrm>
          <a:prstGeom prst="rect">
            <a:avLst/>
          </a:prstGeom>
        </p:spPr>
      </p:pic>
      <p:sp>
        <p:nvSpPr>
          <p:cNvPr id="40" name="Text 30"/>
          <p:cNvSpPr txBox="1"/>
          <p:nvPr/>
        </p:nvSpPr>
        <p:spPr>
          <a:xfrm>
            <a:off x="6345936" y="4361688"/>
            <a:ext cx="233172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Student name</a:t>
            </a:r>
            <a:endParaRPr lang="en-US" sz="1500" dirty="0"/>
          </a:p>
        </p:txBody>
      </p:sp>
      <p:sp>
        <p:nvSpPr>
          <p:cNvPr id="41" name="Text 31"/>
          <p:cNvSpPr txBox="1"/>
          <p:nvPr/>
        </p:nvSpPr>
        <p:spPr>
          <a:xfrm>
            <a:off x="6345936" y="4773168"/>
            <a:ext cx="2331720" cy="411480"/>
          </a:xfrm>
          <a:prstGeom prst="rect">
            <a:avLst/>
          </a:prstGeom>
          <a:noFill/>
          <a:ln/>
        </p:spPr>
        <p:txBody>
          <a:bodyPr wrap="square" lIns="0" tIns="0" rIns="0" bIns="0" rtlCol="0" anchor="ctr"/>
          <a:lstStyle/>
          <a:p>
            <a:pPr indent="0" marL="0">
              <a:buNone/>
            </a:pPr>
            <a:r>
              <a:rPr lang="en-US" sz="1800" b="1" dirty="0">
                <a:solidFill>
                  <a:srgbClr val="2E9E6A"/>
                </a:solidFill>
                <a:latin typeface="Courier New" pitchFamily="34" charset="0"/>
                <a:ea typeface="Courier New" pitchFamily="34" charset="-122"/>
                <a:cs typeface="Courier New" pitchFamily="34" charset="-120"/>
              </a:rPr>
              <a:t>string</a:t>
            </a:r>
            <a:endParaRPr lang="en-US" sz="1800" dirty="0"/>
          </a:p>
        </p:txBody>
      </p:sp>
      <p:sp>
        <p:nvSpPr>
          <p:cNvPr id="42" name="Shape 32"/>
          <p:cNvSpPr/>
          <p:nvPr/>
        </p:nvSpPr>
        <p:spPr>
          <a:xfrm>
            <a:off x="8970264" y="3520440"/>
            <a:ext cx="2670048" cy="1783080"/>
          </a:xfrm>
          <a:prstGeom prst="roundRect">
            <a:avLst>
              <a:gd name="adj" fmla="val 6154"/>
            </a:avLst>
          </a:prstGeom>
          <a:solidFill>
            <a:srgbClr val="EEF1F6"/>
          </a:solidFill>
          <a:ln w="12700">
            <a:solidFill>
              <a:srgbClr val="EEF1F6"/>
            </a:solidFill>
            <a:prstDash val="solid"/>
          </a:ln>
        </p:spPr>
      </p:sp>
      <p:sp>
        <p:nvSpPr>
          <p:cNvPr id="43" name="Shape 33"/>
          <p:cNvSpPr/>
          <p:nvPr/>
        </p:nvSpPr>
        <p:spPr>
          <a:xfrm>
            <a:off x="9153144" y="3703320"/>
            <a:ext cx="594360" cy="594360"/>
          </a:xfrm>
          <a:prstGeom prst="ellipse">
            <a:avLst/>
          </a:prstGeom>
          <a:solidFill>
            <a:srgbClr val="14213D"/>
          </a:solidFill>
          <a:ln w="12700">
            <a:solidFill>
              <a:srgbClr val="14213D"/>
            </a:solidFill>
            <a:prstDash val="solid"/>
          </a:ln>
        </p:spPr>
      </p:sp>
      <p:pic>
        <p:nvPicPr>
          <p:cNvPr id="44" name="Image 7" descr="preencoded.png">    </p:cNvPr>
          <p:cNvPicPr>
            <a:picLocks noChangeAspect="1"/>
          </p:cNvPicPr>
          <p:nvPr/>
        </p:nvPicPr>
        <p:blipFill>
          <a:blip r:embed="rId8"/>
          <a:stretch>
            <a:fillRect/>
          </a:stretch>
        </p:blipFill>
        <p:spPr>
          <a:xfrm>
            <a:off x="9307678" y="3857854"/>
            <a:ext cx="285293" cy="285293"/>
          </a:xfrm>
          <a:prstGeom prst="rect">
            <a:avLst/>
          </a:prstGeom>
        </p:spPr>
      </p:pic>
      <p:sp>
        <p:nvSpPr>
          <p:cNvPr id="45" name="Text 34"/>
          <p:cNvSpPr txBox="1"/>
          <p:nvPr/>
        </p:nvSpPr>
        <p:spPr>
          <a:xfrm>
            <a:off x="9153144" y="4361688"/>
            <a:ext cx="2331720" cy="41148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T.C. Kimlik No, phone</a:t>
            </a:r>
            <a:endParaRPr lang="en-US" sz="1500" dirty="0"/>
          </a:p>
        </p:txBody>
      </p:sp>
      <p:sp>
        <p:nvSpPr>
          <p:cNvPr id="46" name="Text 35"/>
          <p:cNvSpPr txBox="1"/>
          <p:nvPr/>
        </p:nvSpPr>
        <p:spPr>
          <a:xfrm>
            <a:off x="9153144" y="4773168"/>
            <a:ext cx="2331720" cy="411480"/>
          </a:xfrm>
          <a:prstGeom prst="rect">
            <a:avLst/>
          </a:prstGeom>
          <a:noFill/>
          <a:ln/>
        </p:spPr>
        <p:txBody>
          <a:bodyPr wrap="square" lIns="0" tIns="0" rIns="0" bIns="0" rtlCol="0" anchor="ctr"/>
          <a:lstStyle/>
          <a:p>
            <a:pPr indent="0" marL="0">
              <a:buNone/>
            </a:pPr>
            <a:r>
              <a:rPr lang="en-US" sz="1800" b="1" dirty="0">
                <a:solidFill>
                  <a:srgbClr val="2E9E6A"/>
                </a:solidFill>
                <a:latin typeface="Courier New" pitchFamily="34" charset="0"/>
                <a:ea typeface="Courier New" pitchFamily="34" charset="-122"/>
                <a:cs typeface="Courier New" pitchFamily="34" charset="-120"/>
              </a:rPr>
              <a:t>string</a:t>
            </a:r>
            <a:endParaRPr lang="en-US" sz="1800" dirty="0"/>
          </a:p>
        </p:txBody>
      </p:sp>
      <p:sp>
        <p:nvSpPr>
          <p:cNvPr id="47" name="Shape 36"/>
          <p:cNvSpPr/>
          <p:nvPr/>
        </p:nvSpPr>
        <p:spPr>
          <a:xfrm>
            <a:off x="548640" y="5532120"/>
            <a:ext cx="11109960" cy="566928"/>
          </a:xfrm>
          <a:prstGeom prst="roundRect">
            <a:avLst>
              <a:gd name="adj" fmla="val 19355"/>
            </a:avLst>
          </a:prstGeom>
          <a:solidFill>
            <a:srgbClr val="FFF6E3"/>
          </a:solidFill>
          <a:ln w="12700">
            <a:solidFill>
              <a:srgbClr val="FFF6E3"/>
            </a:solidFill>
            <a:prstDash val="solid"/>
          </a:ln>
        </p:spPr>
      </p:sp>
      <p:pic>
        <p:nvPicPr>
          <p:cNvPr id="48" name="Image 8" descr="preencoded.png">    </p:cNvPr>
          <p:cNvPicPr>
            <a:picLocks noChangeAspect="1"/>
          </p:cNvPicPr>
          <p:nvPr/>
        </p:nvPicPr>
        <p:blipFill>
          <a:blip r:embed="rId9"/>
          <a:stretch>
            <a:fillRect/>
          </a:stretch>
        </p:blipFill>
        <p:spPr>
          <a:xfrm>
            <a:off x="822960" y="5669280"/>
            <a:ext cx="292608" cy="292608"/>
          </a:xfrm>
          <a:prstGeom prst="rect">
            <a:avLst/>
          </a:prstGeom>
        </p:spPr>
      </p:pic>
      <p:sp>
        <p:nvSpPr>
          <p:cNvPr id="49" name="Text 37"/>
          <p:cNvSpPr txBox="1"/>
          <p:nvPr/>
        </p:nvSpPr>
        <p:spPr>
          <a:xfrm>
            <a:off x="1389888" y="5605272"/>
            <a:ext cx="9994392" cy="420624"/>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Rule of thumb: if you never calculate with it, it is not a number — store it as a string.</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03_10 · TYPELIMITS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Asking C# for the Limits — and the var Keyword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1600200"/>
            <a:ext cx="11109960" cy="3154680"/>
          </a:xfrm>
          <a:prstGeom prst="roundRect">
            <a:avLst>
              <a:gd name="adj" fmla="val 2899"/>
            </a:avLst>
          </a:prstGeom>
          <a:solidFill>
            <a:srgbClr val="0B0F19"/>
          </a:solidFill>
          <a:ln w="12700">
            <a:solidFill>
              <a:srgbClr val="2A3654"/>
            </a:solidFill>
            <a:prstDash val="solid"/>
          </a:ln>
        </p:spPr>
      </p:sp>
      <p:sp>
        <p:nvSpPr>
          <p:cNvPr id="8" name="Shape 5"/>
          <p:cNvSpPr/>
          <p:nvPr/>
        </p:nvSpPr>
        <p:spPr>
          <a:xfrm>
            <a:off x="731520" y="172821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2821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2821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673352"/>
            <a:ext cx="10012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dotnet run  (03_10_TypeLimits)</a:t>
            </a:r>
            <a:endParaRPr lang="en-US" sz="1000" dirty="0"/>
          </a:p>
        </p:txBody>
      </p:sp>
      <p:sp>
        <p:nvSpPr>
          <p:cNvPr id="12" name="Text 9"/>
          <p:cNvSpPr txBox="1"/>
          <p:nvPr/>
        </p:nvSpPr>
        <p:spPr>
          <a:xfrm>
            <a:off x="777240" y="1984248"/>
            <a:ext cx="10652760" cy="26517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type     bytes  MinValue                        MaxValue</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byte         1  0                               255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short        2  -32768                          32767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int          4  -2147483648                     2147483647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long         8  -9223372036854775808            9223372036854775807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float        4  -3.4028235E+38                  3.4028235E+38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double       8  -1.7976931348623157E+308        1.7976931348623157E+308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decimal     16  -79228162514264337593543950335  79228162514264337593543950335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char         2  0                               65535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bool         1  False                           True</a:t>
            </a:r>
            <a:endParaRPr lang="en-US" sz="1300" dirty="0"/>
          </a:p>
        </p:txBody>
      </p:sp>
      <p:sp>
        <p:nvSpPr>
          <p:cNvPr id="13" name="Shape 10"/>
          <p:cNvSpPr/>
          <p:nvPr/>
        </p:nvSpPr>
        <p:spPr>
          <a:xfrm>
            <a:off x="548640" y="4937760"/>
            <a:ext cx="4572000" cy="1005840"/>
          </a:xfrm>
          <a:prstGeom prst="roundRect">
            <a:avLst>
              <a:gd name="adj" fmla="val 9091"/>
            </a:avLst>
          </a:prstGeom>
          <a:solidFill>
            <a:srgbClr val="0F1729"/>
          </a:solidFill>
          <a:ln w="12700">
            <a:solidFill>
              <a:srgbClr val="0F1729"/>
            </a:solidFill>
            <a:prstDash val="solid"/>
          </a:ln>
        </p:spPr>
      </p:sp>
      <p:sp>
        <p:nvSpPr>
          <p:cNvPr id="14" name="Text 11"/>
          <p:cNvSpPr txBox="1"/>
          <p:nvPr/>
        </p:nvSpPr>
        <p:spPr>
          <a:xfrm>
            <a:off x="777240" y="5102352"/>
            <a:ext cx="4114800" cy="731520"/>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var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int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var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e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4.2m</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decimal</a:t>
            </a:r>
            <a:endParaRPr lang="en-US" sz="1300" dirty="0"/>
          </a:p>
        </p:txBody>
      </p:sp>
      <p:sp>
        <p:nvSpPr>
          <p:cNvPr id="15" name="Shape 12"/>
          <p:cNvSpPr/>
          <p:nvPr/>
        </p:nvSpPr>
        <p:spPr>
          <a:xfrm>
            <a:off x="5257800" y="4937760"/>
            <a:ext cx="6400800" cy="1051560"/>
          </a:xfrm>
          <a:prstGeom prst="roundRect">
            <a:avLst>
              <a:gd name="adj" fmla="val 8696"/>
            </a:avLst>
          </a:prstGeom>
          <a:solidFill>
            <a:srgbClr val="0B0F19"/>
          </a:solidFill>
          <a:ln w="12700">
            <a:solidFill>
              <a:srgbClr val="2A3654"/>
            </a:solidFill>
            <a:prstDash val="solid"/>
          </a:ln>
        </p:spPr>
      </p:sp>
      <p:sp>
        <p:nvSpPr>
          <p:cNvPr id="16" name="Shape 13"/>
          <p:cNvSpPr/>
          <p:nvPr/>
        </p:nvSpPr>
        <p:spPr>
          <a:xfrm>
            <a:off x="5440680" y="5065776"/>
            <a:ext cx="118872" cy="118872"/>
          </a:xfrm>
          <a:prstGeom prst="ellipse">
            <a:avLst/>
          </a:prstGeom>
          <a:solidFill>
            <a:srgbClr val="FF5F57"/>
          </a:solidFill>
          <a:ln w="12700">
            <a:solidFill>
              <a:srgbClr val="FF5F57"/>
            </a:solidFill>
            <a:prstDash val="solid"/>
          </a:ln>
        </p:spPr>
      </p:sp>
      <p:sp>
        <p:nvSpPr>
          <p:cNvPr id="17" name="Shape 14"/>
          <p:cNvSpPr/>
          <p:nvPr/>
        </p:nvSpPr>
        <p:spPr>
          <a:xfrm>
            <a:off x="5669280" y="5065776"/>
            <a:ext cx="118872" cy="118872"/>
          </a:xfrm>
          <a:prstGeom prst="ellipse">
            <a:avLst/>
          </a:prstGeom>
          <a:solidFill>
            <a:srgbClr val="FEBC2E"/>
          </a:solidFill>
          <a:ln w="12700">
            <a:solidFill>
              <a:srgbClr val="FEBC2E"/>
            </a:solidFill>
            <a:prstDash val="solid"/>
          </a:ln>
        </p:spPr>
      </p:sp>
      <p:sp>
        <p:nvSpPr>
          <p:cNvPr id="18" name="Shape 15"/>
          <p:cNvSpPr/>
          <p:nvPr/>
        </p:nvSpPr>
        <p:spPr>
          <a:xfrm>
            <a:off x="5897880" y="5065776"/>
            <a:ext cx="118872" cy="118872"/>
          </a:xfrm>
          <a:prstGeom prst="ellipse">
            <a:avLst/>
          </a:prstGeom>
          <a:solidFill>
            <a:srgbClr val="28C840"/>
          </a:solidFill>
          <a:ln w="12700">
            <a:solidFill>
              <a:srgbClr val="28C840"/>
            </a:solidFill>
            <a:prstDash val="solid"/>
          </a:ln>
        </p:spPr>
      </p:sp>
      <p:sp>
        <p:nvSpPr>
          <p:cNvPr id="19" name="Text 16"/>
          <p:cNvSpPr txBox="1"/>
          <p:nvPr/>
        </p:nvSpPr>
        <p:spPr>
          <a:xfrm>
            <a:off x="6172200" y="5010912"/>
            <a:ext cx="53035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var: inferred types</a:t>
            </a:r>
            <a:endParaRPr lang="en-US" sz="1000" dirty="0"/>
          </a:p>
        </p:txBody>
      </p:sp>
      <p:sp>
        <p:nvSpPr>
          <p:cNvPr id="20" name="Text 17"/>
          <p:cNvSpPr txBox="1"/>
          <p:nvPr/>
        </p:nvSpPr>
        <p:spPr>
          <a:xfrm>
            <a:off x="5486400" y="5321808"/>
            <a:ext cx="5943600" cy="5486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42 -&gt; Int32, 42L -&gt; Int64, 4.2 -&gt; Double</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4.2f -&gt; Single, 4.2m -&gt; Decimal, 'x' -&gt; Char, "x" -&gt; String</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03_03 · CONSTANTS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Constants: Values That Must Never Change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548640" y="1600200"/>
            <a:ext cx="6720840" cy="2880360"/>
          </a:xfrm>
          <a:prstGeom prst="roundRect">
            <a:avLst>
              <a:gd name="adj" fmla="val 3175"/>
            </a:avLst>
          </a:prstGeom>
          <a:solidFill>
            <a:srgbClr val="0F1729"/>
          </a:solidFill>
          <a:ln w="12700">
            <a:solidFill>
              <a:srgbClr val="0F1729"/>
            </a:solidFill>
            <a:prstDash val="solid"/>
          </a:ln>
        </p:spPr>
      </p:sp>
      <p:sp>
        <p:nvSpPr>
          <p:cNvPr id="8" name="Text 5"/>
          <p:cNvSpPr txBox="1"/>
          <p:nvPr/>
        </p:nvSpPr>
        <p:spPr>
          <a:xfrm>
            <a:off x="777240" y="1709928"/>
            <a:ext cx="62636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code/03_03_CircleArea/Program.cs</a:t>
            </a:r>
            <a:endParaRPr lang="en-US" sz="1100" dirty="0"/>
          </a:p>
        </p:txBody>
      </p:sp>
      <p:sp>
        <p:nvSpPr>
          <p:cNvPr id="9" name="Text 6"/>
          <p:cNvSpPr txBox="1"/>
          <p:nvPr/>
        </p:nvSpPr>
        <p:spPr>
          <a:xfrm>
            <a:off x="777240" y="2011680"/>
            <a:ext cx="6263640" cy="235915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3.14159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our constant: can never change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"Radius (cm):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radius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area = Pi * radius * radius;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A = πr²</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circumference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Pi * radius;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 = 2πr</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areaExact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Math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.PI * radius * radius;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$"Area          : {area:F4} cm²"</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$"Circumference : {circumference:F4} cm"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$"Area (Math.PI): {areaExact:F4} cm²"</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4572000"/>
            <a:ext cx="6720840" cy="1417320"/>
          </a:xfrm>
          <a:prstGeom prst="roundRect">
            <a:avLst>
              <a:gd name="adj" fmla="val 6452"/>
            </a:avLst>
          </a:prstGeom>
          <a:solidFill>
            <a:srgbClr val="0B0F19"/>
          </a:solidFill>
          <a:ln w="12700">
            <a:solidFill>
              <a:srgbClr val="2A3654"/>
            </a:solidFill>
            <a:prstDash val="solid"/>
          </a:ln>
        </p:spPr>
      </p:sp>
      <p:sp>
        <p:nvSpPr>
          <p:cNvPr id="11" name="Shape 8"/>
          <p:cNvSpPr/>
          <p:nvPr/>
        </p:nvSpPr>
        <p:spPr>
          <a:xfrm>
            <a:off x="731520" y="470001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470001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47000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645152"/>
            <a:ext cx="5623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4956048"/>
            <a:ext cx="6263640" cy="9144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Radius (cm):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Area          : 19.6349 cm²</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Circumference : 15.7080 cm</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Area (Math.PI): 19.6350 cm²</a:t>
            </a:r>
            <a:endParaRPr lang="en-US" sz="1200" dirty="0"/>
          </a:p>
        </p:txBody>
      </p:sp>
      <p:sp>
        <p:nvSpPr>
          <p:cNvPr id="16" name="Shape 13"/>
          <p:cNvSpPr/>
          <p:nvPr/>
        </p:nvSpPr>
        <p:spPr>
          <a:xfrm>
            <a:off x="7452360" y="1600200"/>
            <a:ext cx="4206240" cy="2148840"/>
          </a:xfrm>
          <a:prstGeom prst="roundRect">
            <a:avLst>
              <a:gd name="adj" fmla="val 5106"/>
            </a:avLst>
          </a:prstGeom>
          <a:solidFill>
            <a:srgbClr val="EEF1F6"/>
          </a:solidFill>
          <a:ln w="12700">
            <a:solidFill>
              <a:srgbClr val="EEF1F6"/>
            </a:solidFill>
            <a:prstDash val="solid"/>
          </a:ln>
        </p:spPr>
      </p:sp>
      <p:sp>
        <p:nvSpPr>
          <p:cNvPr id="17" name="Shape 14"/>
          <p:cNvSpPr/>
          <p:nvPr/>
        </p:nvSpPr>
        <p:spPr>
          <a:xfrm>
            <a:off x="7680960" y="1828800"/>
            <a:ext cx="566928" cy="566928"/>
          </a:xfrm>
          <a:prstGeom prst="ellipse">
            <a:avLst/>
          </a:prstGeom>
          <a:solidFill>
            <a:srgbClr val="14213D"/>
          </a:solidFill>
          <a:ln w="12700">
            <a:solidFill>
              <a:srgbClr val="14213D"/>
            </a:solidFill>
            <a:prstDash val="solid"/>
          </a:ln>
        </p:spPr>
      </p:sp>
      <p:pic>
        <p:nvPicPr>
          <p:cNvPr id="18" name="Image 0" descr="preencoded.png">    </p:cNvPr>
          <p:cNvPicPr>
            <a:picLocks noChangeAspect="1"/>
          </p:cNvPicPr>
          <p:nvPr/>
        </p:nvPicPr>
        <p:blipFill>
          <a:blip r:embed="rId1"/>
          <a:stretch>
            <a:fillRect/>
          </a:stretch>
        </p:blipFill>
        <p:spPr>
          <a:xfrm>
            <a:off x="7828361" y="1976201"/>
            <a:ext cx="272125" cy="272125"/>
          </a:xfrm>
          <a:prstGeom prst="rect">
            <a:avLst/>
          </a:prstGeom>
        </p:spPr>
      </p:pic>
      <p:sp>
        <p:nvSpPr>
          <p:cNvPr id="19" name="Text 15"/>
          <p:cNvSpPr txBox="1"/>
          <p:nvPr/>
        </p:nvSpPr>
        <p:spPr>
          <a:xfrm>
            <a:off x="8366760" y="1828800"/>
            <a:ext cx="310896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const = locked</a:t>
            </a:r>
            <a:endParaRPr lang="en-US" sz="1700" dirty="0"/>
          </a:p>
        </p:txBody>
      </p:sp>
      <p:sp>
        <p:nvSpPr>
          <p:cNvPr id="20" name="Text 16"/>
          <p:cNvSpPr txBox="1"/>
          <p:nvPr/>
        </p:nvSpPr>
        <p:spPr>
          <a:xfrm>
            <a:off x="7680960" y="2514600"/>
            <a:ext cx="374904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const double Pi = 3.14159;</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Pi = 3.0;   →  error CS0131</a:t>
            </a:r>
            <a:endParaRPr lang="en-US" sz="1400" dirty="0"/>
          </a:p>
        </p:txBody>
      </p:sp>
      <p:sp>
        <p:nvSpPr>
          <p:cNvPr id="21" name="Shape 17"/>
          <p:cNvSpPr/>
          <p:nvPr/>
        </p:nvSpPr>
        <p:spPr>
          <a:xfrm>
            <a:off x="7452360" y="3840480"/>
            <a:ext cx="4206240" cy="2148840"/>
          </a:xfrm>
          <a:prstGeom prst="roundRect">
            <a:avLst>
              <a:gd name="adj" fmla="val 5106"/>
            </a:avLst>
          </a:prstGeom>
          <a:solidFill>
            <a:srgbClr val="EEF1F6"/>
          </a:solidFill>
          <a:ln w="12700">
            <a:solidFill>
              <a:srgbClr val="EEF1F6"/>
            </a:solidFill>
            <a:prstDash val="solid"/>
          </a:ln>
        </p:spPr>
      </p:sp>
      <p:sp>
        <p:nvSpPr>
          <p:cNvPr id="22" name="Shape 18"/>
          <p:cNvSpPr/>
          <p:nvPr/>
        </p:nvSpPr>
        <p:spPr>
          <a:xfrm>
            <a:off x="7680960" y="4069080"/>
            <a:ext cx="566928" cy="566928"/>
          </a:xfrm>
          <a:prstGeom prst="ellipse">
            <a:avLst/>
          </a:prstGeom>
          <a:solidFill>
            <a:srgbClr val="B7791F"/>
          </a:solidFill>
          <a:ln w="12700">
            <a:solidFill>
              <a:srgbClr val="B7791F"/>
            </a:solidFill>
            <a:prstDash val="solid"/>
          </a:ln>
        </p:spPr>
      </p:sp>
      <p:pic>
        <p:nvPicPr>
          <p:cNvPr id="23" name="Image 1" descr="preencoded.png">    </p:cNvPr>
          <p:cNvPicPr>
            <a:picLocks noChangeAspect="1"/>
          </p:cNvPicPr>
          <p:nvPr/>
        </p:nvPicPr>
        <p:blipFill>
          <a:blip r:embed="rId2"/>
          <a:stretch>
            <a:fillRect/>
          </a:stretch>
        </p:blipFill>
        <p:spPr>
          <a:xfrm>
            <a:off x="7828361" y="4216481"/>
            <a:ext cx="272125" cy="272125"/>
          </a:xfrm>
          <a:prstGeom prst="rect">
            <a:avLst/>
          </a:prstGeom>
        </p:spPr>
      </p:pic>
      <p:sp>
        <p:nvSpPr>
          <p:cNvPr id="24" name="Text 19"/>
          <p:cNvSpPr txBox="1"/>
          <p:nvPr/>
        </p:nvSpPr>
        <p:spPr>
          <a:xfrm>
            <a:off x="8366760" y="4069080"/>
            <a:ext cx="310896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Why use them?</a:t>
            </a:r>
            <a:endParaRPr lang="en-US" sz="1700" dirty="0"/>
          </a:p>
        </p:txBody>
      </p:sp>
      <p:sp>
        <p:nvSpPr>
          <p:cNvPr id="25" name="Text 20"/>
          <p:cNvSpPr txBox="1"/>
          <p:nvPr/>
        </p:nvSpPr>
        <p:spPr>
          <a:xfrm>
            <a:off x="7680960" y="4754880"/>
            <a:ext cx="374904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No magic numbers (VatRate, not 0.20m). Change in one place. PascalCase names.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03_07 · RECEIPT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Worked Example: A Receipt with decimal and KDV</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600200"/>
            <a:ext cx="6720840" cy="4389120"/>
          </a:xfrm>
          <a:prstGeom prst="roundRect">
            <a:avLst>
              <a:gd name="adj" fmla="val 2083"/>
            </a:avLst>
          </a:prstGeom>
          <a:solidFill>
            <a:srgbClr val="0F1729"/>
          </a:solidFill>
          <a:ln w="12700">
            <a:solidFill>
              <a:srgbClr val="0F1729"/>
            </a:solidFill>
            <a:prstDash val="solid"/>
          </a:ln>
        </p:spPr>
      </p:sp>
      <p:sp>
        <p:nvSpPr>
          <p:cNvPr id="8" name="Text 5"/>
          <p:cNvSpPr txBox="1"/>
          <p:nvPr/>
        </p:nvSpPr>
        <p:spPr>
          <a:xfrm>
            <a:off x="777240" y="1709928"/>
            <a:ext cx="62636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code/03_07_Receipt/Program.cs</a:t>
            </a:r>
            <a:endParaRPr lang="en-US" sz="1100" dirty="0"/>
          </a:p>
        </p:txBody>
      </p:sp>
      <p:sp>
        <p:nvSpPr>
          <p:cNvPr id="9" name="Text 6"/>
          <p:cNvSpPr txBox="1"/>
          <p:nvPr/>
        </p:nvSpPr>
        <p:spPr>
          <a:xfrm>
            <a:off x="777240" y="2011680"/>
            <a:ext cx="6263640" cy="386791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VatRate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0.20m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KDV 20 %  (m = decimal)</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"Product name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product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"Unit price (TL, net):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unitPrice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"Quantity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quantity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subtotal = unitPrice * quantity;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int -&gt; decimal</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 = subtotal * VatRate;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subtotal + vat;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$"{product,-12} {quantity,3} x {unitPrice,8:F2}"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Subtotal</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",-18} {subtotal,10:F2} TL"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KDV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",-18} {vat,10:F2} TL"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TOTAL</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",-18} {total,10:F2} TL"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452360" y="1600200"/>
            <a:ext cx="4206240" cy="2514600"/>
          </a:xfrm>
          <a:prstGeom prst="roundRect">
            <a:avLst>
              <a:gd name="adj" fmla="val 3636"/>
            </a:avLst>
          </a:prstGeom>
          <a:solidFill>
            <a:srgbClr val="0B0F19"/>
          </a:solidFill>
          <a:ln w="12700">
            <a:solidFill>
              <a:srgbClr val="2A3654"/>
            </a:solidFill>
            <a:prstDash val="solid"/>
          </a:ln>
        </p:spPr>
      </p:sp>
      <p:sp>
        <p:nvSpPr>
          <p:cNvPr id="11" name="Shape 8"/>
          <p:cNvSpPr/>
          <p:nvPr/>
        </p:nvSpPr>
        <p:spPr>
          <a:xfrm>
            <a:off x="7635240" y="1728216"/>
            <a:ext cx="118872" cy="118872"/>
          </a:xfrm>
          <a:prstGeom prst="ellipse">
            <a:avLst/>
          </a:prstGeom>
          <a:solidFill>
            <a:srgbClr val="FF5F57"/>
          </a:solidFill>
          <a:ln w="12700">
            <a:solidFill>
              <a:srgbClr val="FF5F57"/>
            </a:solidFill>
            <a:prstDash val="solid"/>
          </a:ln>
        </p:spPr>
      </p:sp>
      <p:sp>
        <p:nvSpPr>
          <p:cNvPr id="12" name="Shape 9"/>
          <p:cNvSpPr/>
          <p:nvPr/>
        </p:nvSpPr>
        <p:spPr>
          <a:xfrm>
            <a:off x="7863840" y="1728216"/>
            <a:ext cx="118872" cy="118872"/>
          </a:xfrm>
          <a:prstGeom prst="ellipse">
            <a:avLst/>
          </a:prstGeom>
          <a:solidFill>
            <a:srgbClr val="FEBC2E"/>
          </a:solidFill>
          <a:ln w="12700">
            <a:solidFill>
              <a:srgbClr val="FEBC2E"/>
            </a:solidFill>
            <a:prstDash val="solid"/>
          </a:ln>
        </p:spPr>
      </p:sp>
      <p:sp>
        <p:nvSpPr>
          <p:cNvPr id="13" name="Shape 10"/>
          <p:cNvSpPr/>
          <p:nvPr/>
        </p:nvSpPr>
        <p:spPr>
          <a:xfrm>
            <a:off x="8092440" y="1728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366760" y="167335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680960" y="1984248"/>
            <a:ext cx="3749040" cy="2011680"/>
          </a:xfrm>
          <a:prstGeom prst="rect">
            <a:avLst/>
          </a:prstGeom>
          <a:noFill/>
          <a:ln/>
        </p:spPr>
        <p:txBody>
          <a:bodyPr wrap="square" lIns="0" tIns="0" rIns="0" bIns="0" rtlCol="0" anchor="t"/>
          <a:lstStyle/>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Product name        :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Notebook</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Unit price (TL, net):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24.90</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Quantity            : </a:t>
            </a:r>
            <a:pPr indent="0" marL="0">
              <a:spcAft>
                <a:spcPts val="100"/>
              </a:spcAft>
              <a:buNone/>
            </a:pPr>
            <a:r>
              <a:rPr lang="en-US" sz="1100" b="1" dirty="0">
                <a:solidFill>
                  <a:srgbClr val="FCA311"/>
                </a:solidFill>
                <a:latin typeface="Courier New" pitchFamily="34" charset="0"/>
                <a:ea typeface="Courier New" pitchFamily="34" charset="-122"/>
                <a:cs typeface="Courier New" pitchFamily="34" charset="-120"/>
              </a:rPr>
              <a:t>3</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Notebook       3 x    24.90</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Subtotal                74.70 TL</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KDV 20%                 14.94 TL</a:t>
            </a:r>
            <a:endParaRPr lang="en-US" sz="1100" dirty="0"/>
          </a:p>
          <a:p>
            <a:pPr indent="0" marL="0">
              <a:spcAft>
                <a:spcPts val="100"/>
              </a:spcAft>
              <a:buNone/>
            </a:pPr>
            <a:r>
              <a:rPr lang="en-US" sz="1100" dirty="0">
                <a:solidFill>
                  <a:srgbClr val="7EE2A8"/>
                </a:solidFill>
                <a:latin typeface="Courier New" pitchFamily="34" charset="0"/>
                <a:ea typeface="Courier New" pitchFamily="34" charset="-122"/>
                <a:cs typeface="Courier New" pitchFamily="34" charset="-120"/>
              </a:rPr>
              <a:t>TOTAL                   89.64 TL</a:t>
            </a:r>
            <a:endParaRPr lang="en-US" sz="1100" dirty="0"/>
          </a:p>
        </p:txBody>
      </p:sp>
      <p:sp>
        <p:nvSpPr>
          <p:cNvPr id="16" name="Shape 13"/>
          <p:cNvSpPr/>
          <p:nvPr/>
        </p:nvSpPr>
        <p:spPr>
          <a:xfrm>
            <a:off x="7452360" y="4251960"/>
            <a:ext cx="4206240" cy="1737360"/>
          </a:xfrm>
          <a:prstGeom prst="roundRect">
            <a:avLst>
              <a:gd name="adj" fmla="val 4211"/>
            </a:avLst>
          </a:prstGeom>
          <a:solidFill>
            <a:srgbClr val="F4F6FA"/>
          </a:solidFill>
          <a:ln w="9525">
            <a:solidFill>
              <a:srgbClr val="C9D0DD"/>
            </a:solidFill>
            <a:prstDash val="solid"/>
          </a:ln>
        </p:spPr>
      </p:sp>
      <p:sp>
        <p:nvSpPr>
          <p:cNvPr id="17" name="Text 14"/>
          <p:cNvSpPr txBox="1"/>
          <p:nvPr/>
        </p:nvSpPr>
        <p:spPr>
          <a:xfrm>
            <a:off x="7635240" y="4343400"/>
            <a:ext cx="384048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Pseudocode</a:t>
            </a:r>
            <a:endParaRPr lang="en-US" sz="1200" dirty="0"/>
          </a:p>
        </p:txBody>
      </p:sp>
      <p:sp>
        <p:nvSpPr>
          <p:cNvPr id="18" name="Text 15"/>
          <p:cNvSpPr txBox="1"/>
          <p:nvPr/>
        </p:nvSpPr>
        <p:spPr>
          <a:xfrm>
            <a:off x="7635240" y="4663440"/>
            <a:ext cx="3840480" cy="1234440"/>
          </a:xfrm>
          <a:prstGeom prst="rect">
            <a:avLst/>
          </a:prstGeom>
          <a:noFill/>
          <a:ln/>
        </p:spPr>
        <p:txBody>
          <a:bodyPr wrap="square" lIns="0" tIns="0" rIns="0" bIns="0" rtlCol="0" anchor="t"/>
          <a:lstStyle/>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product, unitPrice, quantity</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subtotal ← unitPrice × quantity</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vat ← subtotal × 0.20</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total ← subtotal + vat</a:t>
            </a:r>
            <a:endParaRPr lang="en-US" sz="1200" dirty="0"/>
          </a:p>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subtotal, vat, total</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4</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Input and Type Conversion</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Reading text from the keyboard, converting it, and the traps on the way</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3</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Console.ReadLine() Always Returns a string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645920"/>
            <a:ext cx="2377440" cy="960120"/>
          </a:xfrm>
          <a:prstGeom prst="roundRect">
            <a:avLst>
              <a:gd name="adj" fmla="val 9524"/>
            </a:avLst>
          </a:prstGeom>
          <a:solidFill>
            <a:srgbClr val="FFF1D6"/>
          </a:solidFill>
          <a:ln w="12700">
            <a:solidFill>
              <a:srgbClr val="14213D"/>
            </a:solidFill>
            <a:prstDash val="solid"/>
          </a:ln>
        </p:spPr>
      </p:sp>
      <p:sp>
        <p:nvSpPr>
          <p:cNvPr id="8" name="Text 5"/>
          <p:cNvSpPr txBox="1"/>
          <p:nvPr/>
        </p:nvSpPr>
        <p:spPr>
          <a:xfrm>
            <a:off x="548640" y="1645920"/>
            <a:ext cx="2377440" cy="9601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  19 ⏎</a:t>
            </a:r>
            <a:endParaRPr lang="en-US" sz="1600" dirty="0"/>
          </a:p>
          <a:p>
            <a:pPr algn="ctr" indent="0" marL="0">
              <a:buNone/>
            </a:pPr>
            <a:r>
              <a:rPr lang="en-US" sz="1200" dirty="0">
                <a:solidFill>
                  <a:srgbClr val="5B6478"/>
                </a:solidFill>
                <a:latin typeface="Calibri" pitchFamily="34" charset="0"/>
                <a:ea typeface="Calibri" pitchFamily="34" charset="-122"/>
                <a:cs typeface="Calibri" pitchFamily="34" charset="-120"/>
              </a:rPr>
              <a:t>user types</a:t>
            </a:r>
            <a:endParaRPr lang="en-US" sz="1600" dirty="0"/>
          </a:p>
        </p:txBody>
      </p:sp>
      <p:sp>
        <p:nvSpPr>
          <p:cNvPr id="9" name="Shape 6"/>
          <p:cNvSpPr/>
          <p:nvPr/>
        </p:nvSpPr>
        <p:spPr>
          <a:xfrm>
            <a:off x="2971800" y="2130552"/>
            <a:ext cx="365760" cy="0"/>
          </a:xfrm>
          <a:prstGeom prst="line">
            <a:avLst/>
          </a:prstGeom>
          <a:noFill/>
          <a:ln w="15875">
            <a:solidFill>
              <a:srgbClr val="B7791F"/>
            </a:solidFill>
            <a:prstDash val="solid"/>
            <a:tailEnd type="triangle"/>
          </a:ln>
        </p:spPr>
      </p:sp>
      <p:sp>
        <p:nvSpPr>
          <p:cNvPr id="10" name="Shape 7"/>
          <p:cNvSpPr/>
          <p:nvPr/>
        </p:nvSpPr>
        <p:spPr>
          <a:xfrm>
            <a:off x="3383280" y="1645920"/>
            <a:ext cx="2377440" cy="960120"/>
          </a:xfrm>
          <a:prstGeom prst="roundRect">
            <a:avLst>
              <a:gd name="adj" fmla="val 9524"/>
            </a:avLst>
          </a:prstGeom>
          <a:solidFill>
            <a:srgbClr val="FFFFFF"/>
          </a:solidFill>
          <a:ln w="12700">
            <a:solidFill>
              <a:srgbClr val="14213D"/>
            </a:solidFill>
            <a:prstDash val="solid"/>
          </a:ln>
        </p:spPr>
      </p:sp>
      <p:sp>
        <p:nvSpPr>
          <p:cNvPr id="11" name="Text 8"/>
          <p:cNvSpPr txBox="1"/>
          <p:nvPr/>
        </p:nvSpPr>
        <p:spPr>
          <a:xfrm>
            <a:off x="3383280" y="1645920"/>
            <a:ext cx="2377440" cy="9601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a:p>
            <a:pPr algn="ctr" indent="0" marL="0">
              <a:buNone/>
            </a:pPr>
            <a:r>
              <a:rPr lang="en-US" sz="1200" dirty="0">
                <a:solidFill>
                  <a:srgbClr val="5B6478"/>
                </a:solidFill>
                <a:latin typeface="Calibri" pitchFamily="34" charset="0"/>
                <a:ea typeface="Calibri" pitchFamily="34" charset="-122"/>
                <a:cs typeface="Calibri" pitchFamily="34" charset="-120"/>
              </a:rPr>
              <a:t>string</a:t>
            </a:r>
            <a:endParaRPr lang="en-US" sz="1600" dirty="0"/>
          </a:p>
        </p:txBody>
      </p:sp>
      <p:sp>
        <p:nvSpPr>
          <p:cNvPr id="12" name="Shape 9"/>
          <p:cNvSpPr/>
          <p:nvPr/>
        </p:nvSpPr>
        <p:spPr>
          <a:xfrm>
            <a:off x="5806440" y="2130552"/>
            <a:ext cx="365760" cy="0"/>
          </a:xfrm>
          <a:prstGeom prst="line">
            <a:avLst/>
          </a:prstGeom>
          <a:noFill/>
          <a:ln w="15875">
            <a:solidFill>
              <a:srgbClr val="B7791F"/>
            </a:solidFill>
            <a:prstDash val="solid"/>
            <a:tailEnd type="triangle"/>
          </a:ln>
        </p:spPr>
      </p:sp>
      <p:sp>
        <p:nvSpPr>
          <p:cNvPr id="13" name="Shape 10"/>
          <p:cNvSpPr/>
          <p:nvPr/>
        </p:nvSpPr>
        <p:spPr>
          <a:xfrm>
            <a:off x="6217920" y="1645920"/>
            <a:ext cx="2377440" cy="960120"/>
          </a:xfrm>
          <a:prstGeom prst="roundRect">
            <a:avLst>
              <a:gd name="adj" fmla="val 9524"/>
            </a:avLst>
          </a:prstGeom>
          <a:solidFill>
            <a:srgbClr val="E3ECF8"/>
          </a:solidFill>
          <a:ln w="12700">
            <a:solidFill>
              <a:srgbClr val="14213D"/>
            </a:solidFill>
            <a:prstDash val="solid"/>
          </a:ln>
        </p:spPr>
      </p:sp>
      <p:sp>
        <p:nvSpPr>
          <p:cNvPr id="14" name="Text 11"/>
          <p:cNvSpPr txBox="1"/>
          <p:nvPr/>
        </p:nvSpPr>
        <p:spPr>
          <a:xfrm>
            <a:off x="6217920" y="1645920"/>
            <a:ext cx="2377440" cy="9601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int.Parse(…)</a:t>
            </a:r>
            <a:endParaRPr lang="en-US" sz="1600" dirty="0"/>
          </a:p>
          <a:p>
            <a:pPr algn="ctr" indent="0" marL="0">
              <a:buNone/>
            </a:pPr>
            <a:r>
              <a:rPr lang="en-US" sz="1200" dirty="0">
                <a:solidFill>
                  <a:srgbClr val="5B6478"/>
                </a:solidFill>
                <a:latin typeface="Calibri" pitchFamily="34" charset="0"/>
                <a:ea typeface="Calibri" pitchFamily="34" charset="-122"/>
                <a:cs typeface="Calibri" pitchFamily="34" charset="-120"/>
              </a:rPr>
              <a:t>conversion</a:t>
            </a:r>
            <a:endParaRPr lang="en-US" sz="1600" dirty="0"/>
          </a:p>
        </p:txBody>
      </p:sp>
      <p:sp>
        <p:nvSpPr>
          <p:cNvPr id="15" name="Shape 12"/>
          <p:cNvSpPr/>
          <p:nvPr/>
        </p:nvSpPr>
        <p:spPr>
          <a:xfrm>
            <a:off x="8641080" y="2130552"/>
            <a:ext cx="365760" cy="0"/>
          </a:xfrm>
          <a:prstGeom prst="line">
            <a:avLst/>
          </a:prstGeom>
          <a:noFill/>
          <a:ln w="15875">
            <a:solidFill>
              <a:srgbClr val="B7791F"/>
            </a:solidFill>
            <a:prstDash val="solid"/>
            <a:tailEnd type="triangle"/>
          </a:ln>
        </p:spPr>
      </p:sp>
      <p:sp>
        <p:nvSpPr>
          <p:cNvPr id="16" name="Shape 13"/>
          <p:cNvSpPr/>
          <p:nvPr/>
        </p:nvSpPr>
        <p:spPr>
          <a:xfrm>
            <a:off x="9052560" y="1645920"/>
            <a:ext cx="2377440" cy="960120"/>
          </a:xfrm>
          <a:prstGeom prst="roundRect">
            <a:avLst>
              <a:gd name="adj" fmla="val 9524"/>
            </a:avLst>
          </a:prstGeom>
          <a:solidFill>
            <a:srgbClr val="E6F4EC"/>
          </a:solidFill>
          <a:ln w="12700">
            <a:solidFill>
              <a:srgbClr val="14213D"/>
            </a:solidFill>
            <a:prstDash val="solid"/>
          </a:ln>
        </p:spPr>
      </p:sp>
      <p:sp>
        <p:nvSpPr>
          <p:cNvPr id="17" name="Text 14"/>
          <p:cNvSpPr txBox="1"/>
          <p:nvPr/>
        </p:nvSpPr>
        <p:spPr>
          <a:xfrm>
            <a:off x="9052560" y="1645920"/>
            <a:ext cx="2377440" cy="96012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19</a:t>
            </a:r>
            <a:endParaRPr lang="en-US" sz="1600" dirty="0"/>
          </a:p>
          <a:p>
            <a:pPr algn="ctr" indent="0" marL="0">
              <a:buNone/>
            </a:pPr>
            <a:r>
              <a:rPr lang="en-US" sz="1200" dirty="0">
                <a:solidFill>
                  <a:srgbClr val="5B6478"/>
                </a:solidFill>
                <a:latin typeface="Calibri" pitchFamily="34" charset="0"/>
                <a:ea typeface="Calibri" pitchFamily="34" charset="-122"/>
                <a:cs typeface="Calibri" pitchFamily="34" charset="-120"/>
              </a:rPr>
              <a:t>int</a:t>
            </a:r>
            <a:endParaRPr lang="en-US" sz="1600" dirty="0"/>
          </a:p>
        </p:txBody>
      </p:sp>
      <p:sp>
        <p:nvSpPr>
          <p:cNvPr id="18" name="Shape 15"/>
          <p:cNvSpPr/>
          <p:nvPr/>
        </p:nvSpPr>
        <p:spPr>
          <a:xfrm>
            <a:off x="548640" y="2834640"/>
            <a:ext cx="6400800" cy="3108960"/>
          </a:xfrm>
          <a:prstGeom prst="roundRect">
            <a:avLst>
              <a:gd name="adj" fmla="val 2941"/>
            </a:avLst>
          </a:prstGeom>
          <a:solidFill>
            <a:srgbClr val="0F1729"/>
          </a:solidFill>
          <a:ln w="12700">
            <a:solidFill>
              <a:srgbClr val="0F1729"/>
            </a:solidFill>
            <a:prstDash val="solid"/>
          </a:ln>
        </p:spPr>
      </p:sp>
      <p:sp>
        <p:nvSpPr>
          <p:cNvPr id="19" name="Text 16"/>
          <p:cNvSpPr txBox="1"/>
          <p:nvPr/>
        </p:nvSpPr>
        <p:spPr>
          <a:xfrm>
            <a:off x="777240" y="294436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code/03_12_InputParsing/Program.cs (lines 3–12)</a:t>
            </a:r>
            <a:endParaRPr lang="en-US" sz="1100" dirty="0"/>
          </a:p>
        </p:txBody>
      </p:sp>
      <p:sp>
        <p:nvSpPr>
          <p:cNvPr id="20" name="Text 17"/>
          <p:cNvSpPr txBox="1"/>
          <p:nvPr/>
        </p:nvSpPr>
        <p:spPr>
          <a:xfrm>
            <a:off x="777240" y="3246120"/>
            <a:ext cx="5943600" cy="258775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"Your age: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ageText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text, e.g. "19"</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age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.Parse(ageText);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number 19</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$"Text   + 1 = {ageText + 1}"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joins text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$"Number + 1 = {age + 1}"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adds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"Height in m (e.g. 1.75):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height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$"Height in cm: {height * 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21" name="Shape 18"/>
          <p:cNvSpPr/>
          <p:nvPr/>
        </p:nvSpPr>
        <p:spPr>
          <a:xfrm>
            <a:off x="7132320" y="2834640"/>
            <a:ext cx="4526280" cy="3108960"/>
          </a:xfrm>
          <a:prstGeom prst="roundRect">
            <a:avLst>
              <a:gd name="adj" fmla="val 2941"/>
            </a:avLst>
          </a:prstGeom>
          <a:solidFill>
            <a:srgbClr val="0B0F19"/>
          </a:solidFill>
          <a:ln w="12700">
            <a:solidFill>
              <a:srgbClr val="2A3654"/>
            </a:solidFill>
            <a:prstDash val="solid"/>
          </a:ln>
        </p:spPr>
      </p:sp>
      <p:sp>
        <p:nvSpPr>
          <p:cNvPr id="22" name="Shape 19"/>
          <p:cNvSpPr/>
          <p:nvPr/>
        </p:nvSpPr>
        <p:spPr>
          <a:xfrm>
            <a:off x="7315200" y="2962656"/>
            <a:ext cx="118872" cy="118872"/>
          </a:xfrm>
          <a:prstGeom prst="ellipse">
            <a:avLst/>
          </a:prstGeom>
          <a:solidFill>
            <a:srgbClr val="FF5F57"/>
          </a:solidFill>
          <a:ln w="12700">
            <a:solidFill>
              <a:srgbClr val="FF5F57"/>
            </a:solidFill>
            <a:prstDash val="solid"/>
          </a:ln>
        </p:spPr>
      </p:sp>
      <p:sp>
        <p:nvSpPr>
          <p:cNvPr id="23" name="Shape 20"/>
          <p:cNvSpPr/>
          <p:nvPr/>
        </p:nvSpPr>
        <p:spPr>
          <a:xfrm>
            <a:off x="7543800" y="2962656"/>
            <a:ext cx="118872" cy="118872"/>
          </a:xfrm>
          <a:prstGeom prst="ellipse">
            <a:avLst/>
          </a:prstGeom>
          <a:solidFill>
            <a:srgbClr val="FEBC2E"/>
          </a:solidFill>
          <a:ln w="12700">
            <a:solidFill>
              <a:srgbClr val="FEBC2E"/>
            </a:solidFill>
            <a:prstDash val="solid"/>
          </a:ln>
        </p:spPr>
      </p:sp>
      <p:sp>
        <p:nvSpPr>
          <p:cNvPr id="24" name="Shape 21"/>
          <p:cNvSpPr/>
          <p:nvPr/>
        </p:nvSpPr>
        <p:spPr>
          <a:xfrm>
            <a:off x="7772400" y="2962656"/>
            <a:ext cx="118872" cy="118872"/>
          </a:xfrm>
          <a:prstGeom prst="ellipse">
            <a:avLst/>
          </a:prstGeom>
          <a:solidFill>
            <a:srgbClr val="28C840"/>
          </a:solidFill>
          <a:ln w="12700">
            <a:solidFill>
              <a:srgbClr val="28C840"/>
            </a:solidFill>
            <a:prstDash val="solid"/>
          </a:ln>
        </p:spPr>
      </p:sp>
      <p:sp>
        <p:nvSpPr>
          <p:cNvPr id="25" name="Text 22"/>
          <p:cNvSpPr txBox="1"/>
          <p:nvPr/>
        </p:nvSpPr>
        <p:spPr>
          <a:xfrm>
            <a:off x="8046720" y="2907792"/>
            <a:ext cx="34290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6" name="Text 23"/>
          <p:cNvSpPr txBox="1"/>
          <p:nvPr/>
        </p:nvSpPr>
        <p:spPr>
          <a:xfrm>
            <a:off x="7360920" y="3218688"/>
            <a:ext cx="4069080" cy="26060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Your age: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Text   + 1 = 191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Number + 1 = 20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Height in m (e.g. 1.75):</a:t>
            </a:r>
            <a:endParaRPr lang="en-US" sz="1300" dirty="0"/>
          </a:p>
          <a:p>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1.75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Height in cm: 175</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CONVERSION METHODS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Parse, Convert and TryParse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28</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2331720"/>
                <a:gridCol w="2651760"/>
                <a:gridCol w="2880360"/>
                <a:gridCol w="3246120"/>
              </a:tblGrid>
              <a:tr h="420624">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Input text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int.Parse(text)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Convert.ToInt32(text)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int.TryParse(text, out int 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true, n = 42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 42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true, n = 42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C8453B"/>
                          </a:solidFill>
                          <a:latin typeface="Courier New" pitchFamily="34" charset="0"/>
                          <a:ea typeface="Courier New" pitchFamily="34" charset="-122"/>
                          <a:cs typeface="Courier New" pitchFamily="34" charset="-120"/>
                        </a:rPr>
                        <a:t>FormatException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C8453B"/>
                          </a:solidFill>
                          <a:latin typeface="Courier New" pitchFamily="34" charset="0"/>
                          <a:ea typeface="Courier New" pitchFamily="34" charset="-122"/>
                          <a:cs typeface="Courier New" pitchFamily="34" charset="-120"/>
                        </a:rPr>
                        <a:t>FormatException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false, n = 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"abc"  or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C8453B"/>
                          </a:solidFill>
                          <a:latin typeface="Courier New" pitchFamily="34" charset="0"/>
                          <a:ea typeface="Courier New" pitchFamily="34" charset="-122"/>
                          <a:cs typeface="Courier New" pitchFamily="34" charset="-120"/>
                        </a:rPr>
                        <a:t>FormatException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C8453B"/>
                          </a:solidFill>
                          <a:latin typeface="Courier New" pitchFamily="34" charset="0"/>
                          <a:ea typeface="Courier New" pitchFamily="34" charset="-122"/>
                          <a:cs typeface="Courier New" pitchFamily="34" charset="-120"/>
                        </a:rPr>
                        <a:t>FormatException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false, n = 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0624">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"99999999999"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C8453B"/>
                          </a:solidFill>
                          <a:latin typeface="Courier New" pitchFamily="34" charset="0"/>
                          <a:ea typeface="Courier New" pitchFamily="34" charset="-122"/>
                          <a:cs typeface="Courier New" pitchFamily="34" charset="-120"/>
                        </a:rPr>
                        <a:t>OverflowException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C8453B"/>
                          </a:solidFill>
                          <a:latin typeface="Courier New" pitchFamily="34" charset="0"/>
                          <a:ea typeface="Courier New" pitchFamily="34" charset="-122"/>
                          <a:cs typeface="Courier New" pitchFamily="34" charset="-120"/>
                        </a:rPr>
                        <a:t>OverflowException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false, n = 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297680"/>
            <a:ext cx="11109960" cy="1691640"/>
          </a:xfrm>
          <a:prstGeom prst="roundRect">
            <a:avLst>
              <a:gd name="adj" fmla="val 5405"/>
            </a:avLst>
          </a:prstGeom>
          <a:solidFill>
            <a:srgbClr val="0B0F19"/>
          </a:solidFill>
          <a:ln w="12700">
            <a:solidFill>
              <a:srgbClr val="2A3654"/>
            </a:solidFill>
            <a:prstDash val="solid"/>
          </a:ln>
        </p:spPr>
      </p:sp>
      <p:sp>
        <p:nvSpPr>
          <p:cNvPr id="9" name="Shape 5"/>
          <p:cNvSpPr/>
          <p:nvPr/>
        </p:nvSpPr>
        <p:spPr>
          <a:xfrm>
            <a:off x="731520" y="4425696"/>
            <a:ext cx="118872" cy="118872"/>
          </a:xfrm>
          <a:prstGeom prst="ellipse">
            <a:avLst/>
          </a:prstGeom>
          <a:solidFill>
            <a:srgbClr val="FF5F57"/>
          </a:solidFill>
          <a:ln w="12700">
            <a:solidFill>
              <a:srgbClr val="FF5F57"/>
            </a:solidFill>
            <a:prstDash val="solid"/>
          </a:ln>
        </p:spPr>
      </p:sp>
      <p:sp>
        <p:nvSpPr>
          <p:cNvPr id="10" name="Shape 6"/>
          <p:cNvSpPr/>
          <p:nvPr/>
        </p:nvSpPr>
        <p:spPr>
          <a:xfrm>
            <a:off x="960120" y="4425696"/>
            <a:ext cx="118872" cy="118872"/>
          </a:xfrm>
          <a:prstGeom prst="ellipse">
            <a:avLst/>
          </a:prstGeom>
          <a:solidFill>
            <a:srgbClr val="FEBC2E"/>
          </a:solidFill>
          <a:ln w="12700">
            <a:solidFill>
              <a:srgbClr val="FEBC2E"/>
            </a:solidFill>
            <a:prstDash val="solid"/>
          </a:ln>
        </p:spPr>
      </p:sp>
      <p:sp>
        <p:nvSpPr>
          <p:cNvPr id="11" name="Shape 7"/>
          <p:cNvSpPr/>
          <p:nvPr/>
        </p:nvSpPr>
        <p:spPr>
          <a:xfrm>
            <a:off x="1188720" y="4425696"/>
            <a:ext cx="118872" cy="118872"/>
          </a:xfrm>
          <a:prstGeom prst="ellipse">
            <a:avLst/>
          </a:prstGeom>
          <a:solidFill>
            <a:srgbClr val="28C840"/>
          </a:solidFill>
          <a:ln w="12700">
            <a:solidFill>
              <a:srgbClr val="28C840"/>
            </a:solidFill>
            <a:prstDash val="solid"/>
          </a:ln>
        </p:spPr>
      </p:sp>
      <p:sp>
        <p:nvSpPr>
          <p:cNvPr id="12" name="Text 8"/>
          <p:cNvSpPr txBox="1"/>
          <p:nvPr/>
        </p:nvSpPr>
        <p:spPr>
          <a:xfrm>
            <a:off x="1463040" y="4370832"/>
            <a:ext cx="10012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Crash: letters typed instead of digits (abridged)</a:t>
            </a:r>
            <a:endParaRPr lang="en-US" sz="1000" dirty="0"/>
          </a:p>
        </p:txBody>
      </p:sp>
      <p:sp>
        <p:nvSpPr>
          <p:cNvPr id="13" name="Text 9"/>
          <p:cNvSpPr txBox="1"/>
          <p:nvPr/>
        </p:nvSpPr>
        <p:spPr>
          <a:xfrm>
            <a:off x="777240" y="4681728"/>
            <a:ext cx="10652760" cy="11887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Your age: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nineteen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Unhandled exception. System.FormatException: The input string 'nineteen' was not in a correct format.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System.Int32.Parse(String 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at Program.&lt;Main&gt;$(String[] args) in ...\03_12_InputParsing\Program.cs:line 5</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CULTURE · DECIMAL POINT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72.5 or 72,5? The Turkish Decimal Comma Trap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29</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583680" cy="914400"/>
        </p:xfrm>
        <a:graphic>
          <a:graphicData uri="http://schemas.openxmlformats.org/drawingml/2006/table">
            <a:tbl>
              <a:tblPr/>
              <a:tblGrid>
                <a:gridCol w="1737360"/>
                <a:gridCol w="2514600"/>
                <a:gridCol w="233172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Typed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Turkish PC, default project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Our template (invariant)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72.5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725   ✗ wrong</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2E9E6A"/>
                          </a:solidFill>
                          <a:latin typeface="Courier New" pitchFamily="34" charset="0"/>
                          <a:ea typeface="Courier New" pitchFamily="34" charset="-122"/>
                          <a:cs typeface="Courier New" pitchFamily="34" charset="-120"/>
                        </a:rPr>
                        <a:t>72.5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72,5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b="1" dirty="0">
                          <a:solidFill>
                            <a:srgbClr val="2E9E6A"/>
                          </a:solidFill>
                          <a:latin typeface="Courier New" pitchFamily="34" charset="0"/>
                          <a:ea typeface="Courier New" pitchFamily="34" charset="-122"/>
                          <a:cs typeface="Courier New" pitchFamily="34" charset="-120"/>
                        </a:rPr>
                        <a:t>72.5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725   ✗ wrong</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output of 72.5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72,5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72.5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3657600"/>
            <a:ext cx="6583680" cy="1234440"/>
          </a:xfrm>
          <a:prstGeom prst="roundRect">
            <a:avLst>
              <a:gd name="adj" fmla="val 7407"/>
            </a:avLst>
          </a:prstGeom>
          <a:solidFill>
            <a:srgbClr val="0B0F19"/>
          </a:solidFill>
          <a:ln w="12700">
            <a:solidFill>
              <a:srgbClr val="2A3654"/>
            </a:solidFill>
            <a:prstDash val="solid"/>
          </a:ln>
        </p:spPr>
      </p:sp>
      <p:sp>
        <p:nvSpPr>
          <p:cNvPr id="9" name="Shape 5"/>
          <p:cNvSpPr/>
          <p:nvPr/>
        </p:nvSpPr>
        <p:spPr>
          <a:xfrm>
            <a:off x="731520" y="3785616"/>
            <a:ext cx="118872" cy="118872"/>
          </a:xfrm>
          <a:prstGeom prst="ellipse">
            <a:avLst/>
          </a:prstGeom>
          <a:solidFill>
            <a:srgbClr val="FF5F57"/>
          </a:solidFill>
          <a:ln w="12700">
            <a:solidFill>
              <a:srgbClr val="FF5F57"/>
            </a:solidFill>
            <a:prstDash val="solid"/>
          </a:ln>
        </p:spPr>
      </p:sp>
      <p:sp>
        <p:nvSpPr>
          <p:cNvPr id="10" name="Shape 6"/>
          <p:cNvSpPr/>
          <p:nvPr/>
        </p:nvSpPr>
        <p:spPr>
          <a:xfrm>
            <a:off x="960120" y="3785616"/>
            <a:ext cx="118872" cy="118872"/>
          </a:xfrm>
          <a:prstGeom prst="ellipse">
            <a:avLst/>
          </a:prstGeom>
          <a:solidFill>
            <a:srgbClr val="FEBC2E"/>
          </a:solidFill>
          <a:ln w="12700">
            <a:solidFill>
              <a:srgbClr val="FEBC2E"/>
            </a:solidFill>
            <a:prstDash val="solid"/>
          </a:ln>
        </p:spPr>
      </p:sp>
      <p:sp>
        <p:nvSpPr>
          <p:cNvPr id="11" name="Shape 7"/>
          <p:cNvSpPr/>
          <p:nvPr/>
        </p:nvSpPr>
        <p:spPr>
          <a:xfrm>
            <a:off x="1188720" y="3785616"/>
            <a:ext cx="118872" cy="118872"/>
          </a:xfrm>
          <a:prstGeom prst="ellipse">
            <a:avLst/>
          </a:prstGeom>
          <a:solidFill>
            <a:srgbClr val="28C840"/>
          </a:solidFill>
          <a:ln w="12700">
            <a:solidFill>
              <a:srgbClr val="28C840"/>
            </a:solidFill>
            <a:prstDash val="solid"/>
          </a:ln>
        </p:spPr>
      </p:sp>
      <p:sp>
        <p:nvSpPr>
          <p:cNvPr id="12" name="Text 8"/>
          <p:cNvSpPr txBox="1"/>
          <p:nvPr/>
        </p:nvSpPr>
        <p:spPr>
          <a:xfrm>
            <a:off x="1463040" y="3730752"/>
            <a:ext cx="5486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Real run of 03_06_Bmi with a comma</a:t>
            </a:r>
            <a:endParaRPr lang="en-US" sz="1000" dirty="0"/>
          </a:p>
        </p:txBody>
      </p:sp>
      <p:sp>
        <p:nvSpPr>
          <p:cNvPr id="13" name="Text 9"/>
          <p:cNvSpPr txBox="1"/>
          <p:nvPr/>
        </p:nvSpPr>
        <p:spPr>
          <a:xfrm>
            <a:off x="777240" y="4041648"/>
            <a:ext cx="6126480" cy="7315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Weight (kg):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72,5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Height (m)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1.78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BMI = 228.8 kg/m²</a:t>
            </a:r>
            <a:endParaRPr lang="en-US" sz="1300" dirty="0"/>
          </a:p>
        </p:txBody>
      </p:sp>
      <p:sp>
        <p:nvSpPr>
          <p:cNvPr id="14" name="Shape 10"/>
          <p:cNvSpPr/>
          <p:nvPr/>
        </p:nvSpPr>
        <p:spPr>
          <a:xfrm>
            <a:off x="548640" y="5029200"/>
            <a:ext cx="6583680" cy="960120"/>
          </a:xfrm>
          <a:prstGeom prst="roundRect">
            <a:avLst>
              <a:gd name="adj" fmla="val 9524"/>
            </a:avLst>
          </a:prstGeom>
          <a:solidFill>
            <a:srgbClr val="0F1729"/>
          </a:solidFill>
          <a:ln w="12700">
            <a:solidFill>
              <a:srgbClr val="0F1729"/>
            </a:solidFill>
            <a:prstDash val="solid"/>
          </a:ln>
        </p:spPr>
      </p:sp>
      <p:sp>
        <p:nvSpPr>
          <p:cNvPr id="15" name="Text 11"/>
          <p:cNvSpPr txBox="1"/>
          <p:nvPr/>
        </p:nvSpPr>
        <p:spPr>
          <a:xfrm>
            <a:off x="777240" y="5193792"/>
            <a:ext cx="6126480" cy="68580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using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System.Globalization;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alternative fix</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w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.Parse(text,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CultureInfo</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.InvariantCulture);</a:t>
            </a:r>
            <a:endParaRPr lang="en-US" sz="1200" dirty="0"/>
          </a:p>
        </p:txBody>
      </p:sp>
      <p:sp>
        <p:nvSpPr>
          <p:cNvPr id="16" name="Shape 12"/>
          <p:cNvSpPr/>
          <p:nvPr/>
        </p:nvSpPr>
        <p:spPr>
          <a:xfrm>
            <a:off x="7360920" y="1600200"/>
            <a:ext cx="4297680" cy="2103120"/>
          </a:xfrm>
          <a:prstGeom prst="roundRect">
            <a:avLst>
              <a:gd name="adj" fmla="val 5217"/>
            </a:avLst>
          </a:prstGeom>
          <a:solidFill>
            <a:srgbClr val="EEF1F6"/>
          </a:solidFill>
          <a:ln w="12700">
            <a:solidFill>
              <a:srgbClr val="EEF1F6"/>
            </a:solidFill>
            <a:prstDash val="solid"/>
          </a:ln>
        </p:spPr>
      </p:sp>
      <p:sp>
        <p:nvSpPr>
          <p:cNvPr id="17" name="Shape 13"/>
          <p:cNvSpPr/>
          <p:nvPr/>
        </p:nvSpPr>
        <p:spPr>
          <a:xfrm>
            <a:off x="7589520" y="1828800"/>
            <a:ext cx="566928" cy="566928"/>
          </a:xfrm>
          <a:prstGeom prst="ellipse">
            <a:avLst/>
          </a:prstGeom>
          <a:solidFill>
            <a:srgbClr val="2E9E6A"/>
          </a:solidFill>
          <a:ln w="12700">
            <a:solidFill>
              <a:srgbClr val="2E9E6A"/>
            </a:solidFill>
            <a:prstDash val="solid"/>
          </a:ln>
        </p:spPr>
      </p:sp>
      <p:pic>
        <p:nvPicPr>
          <p:cNvPr id="18" name="Image 0" descr="preencoded.png">    </p:cNvPr>
          <p:cNvPicPr>
            <a:picLocks noChangeAspect="1"/>
          </p:cNvPicPr>
          <p:nvPr/>
        </p:nvPicPr>
        <p:blipFill>
          <a:blip r:embed="rId1"/>
          <a:stretch>
            <a:fillRect/>
          </a:stretch>
        </p:blipFill>
        <p:spPr>
          <a:xfrm>
            <a:off x="7736921" y="1976201"/>
            <a:ext cx="272125" cy="272125"/>
          </a:xfrm>
          <a:prstGeom prst="rect">
            <a:avLst/>
          </a:prstGeom>
        </p:spPr>
      </p:pic>
      <p:sp>
        <p:nvSpPr>
          <p:cNvPr id="19" name="Text 14"/>
          <p:cNvSpPr txBox="1"/>
          <p:nvPr/>
        </p:nvSpPr>
        <p:spPr>
          <a:xfrm>
            <a:off x="8275320" y="1828800"/>
            <a:ext cx="3200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Course rule</a:t>
            </a:r>
            <a:endParaRPr lang="en-US" sz="1700" dirty="0"/>
          </a:p>
        </p:txBody>
      </p:sp>
      <p:sp>
        <p:nvSpPr>
          <p:cNvPr id="20" name="Text 15"/>
          <p:cNvSpPr txBox="1"/>
          <p:nvPr/>
        </p:nvSpPr>
        <p:spPr>
          <a:xfrm>
            <a:off x="7589520" y="2514600"/>
            <a:ext cx="3840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Always type a decimal POINT: 72.5, 1.78, 24.90.</a:t>
            </a:r>
            <a:endParaRPr lang="en-US" sz="1500" dirty="0"/>
          </a:p>
        </p:txBody>
      </p:sp>
      <p:sp>
        <p:nvSpPr>
          <p:cNvPr id="21" name="Shape 16"/>
          <p:cNvSpPr/>
          <p:nvPr/>
        </p:nvSpPr>
        <p:spPr>
          <a:xfrm>
            <a:off x="7360920" y="3840480"/>
            <a:ext cx="4297680" cy="2148840"/>
          </a:xfrm>
          <a:prstGeom prst="roundRect">
            <a:avLst>
              <a:gd name="adj" fmla="val 5106"/>
            </a:avLst>
          </a:prstGeom>
          <a:solidFill>
            <a:srgbClr val="EEF1F6"/>
          </a:solidFill>
          <a:ln w="12700">
            <a:solidFill>
              <a:srgbClr val="EEF1F6"/>
            </a:solidFill>
            <a:prstDash val="solid"/>
          </a:ln>
        </p:spPr>
      </p:sp>
      <p:sp>
        <p:nvSpPr>
          <p:cNvPr id="22" name="Shape 17"/>
          <p:cNvSpPr/>
          <p:nvPr/>
        </p:nvSpPr>
        <p:spPr>
          <a:xfrm>
            <a:off x="7589520" y="4069080"/>
            <a:ext cx="566928" cy="566928"/>
          </a:xfrm>
          <a:prstGeom prst="ellipse">
            <a:avLst/>
          </a:prstGeom>
          <a:solidFill>
            <a:srgbClr val="C8453B"/>
          </a:solidFill>
          <a:ln w="12700">
            <a:solidFill>
              <a:srgbClr val="C8453B"/>
            </a:solidFill>
            <a:prstDash val="solid"/>
          </a:ln>
        </p:spPr>
      </p:sp>
      <p:pic>
        <p:nvPicPr>
          <p:cNvPr id="23" name="Image 1" descr="preencoded.png">    </p:cNvPr>
          <p:cNvPicPr>
            <a:picLocks noChangeAspect="1"/>
          </p:cNvPicPr>
          <p:nvPr/>
        </p:nvPicPr>
        <p:blipFill>
          <a:blip r:embed="rId2"/>
          <a:stretch>
            <a:fillRect/>
          </a:stretch>
        </p:blipFill>
        <p:spPr>
          <a:xfrm>
            <a:off x="7736921" y="4216481"/>
            <a:ext cx="272125" cy="272125"/>
          </a:xfrm>
          <a:prstGeom prst="rect">
            <a:avLst/>
          </a:prstGeom>
        </p:spPr>
      </p:pic>
      <p:sp>
        <p:nvSpPr>
          <p:cNvPr id="24" name="Text 18"/>
          <p:cNvSpPr txBox="1"/>
          <p:nvPr/>
        </p:nvSpPr>
        <p:spPr>
          <a:xfrm>
            <a:off x="8275320" y="4069080"/>
            <a:ext cx="3200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Why so dangerous?</a:t>
            </a:r>
            <a:endParaRPr lang="en-US" sz="1700" dirty="0"/>
          </a:p>
        </p:txBody>
      </p:sp>
      <p:sp>
        <p:nvSpPr>
          <p:cNvPr id="25" name="Text 19"/>
          <p:cNvSpPr txBox="1"/>
          <p:nvPr/>
        </p:nvSpPr>
        <p:spPr>
          <a:xfrm>
            <a:off x="7589520" y="4754880"/>
            <a:ext cx="384048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No error message! The program runs and prints a wrong number. Always sanity-check results.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03_06 · BMI</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Worked Example: Body Mass Index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1371600" y="1600200"/>
            <a:ext cx="1554480" cy="457200"/>
          </a:xfrm>
          <a:prstGeom prst="flowChartTerminator">
            <a:avLst/>
          </a:prstGeom>
          <a:solidFill>
            <a:srgbClr val="FFF1D6"/>
          </a:solidFill>
          <a:ln w="15875">
            <a:solidFill>
              <a:srgbClr val="14213D"/>
            </a:solidFill>
            <a:prstDash val="solid"/>
          </a:ln>
        </p:spPr>
      </p:sp>
      <p:sp>
        <p:nvSpPr>
          <p:cNvPr id="8" name="Text 5"/>
          <p:cNvSpPr txBox="1"/>
          <p:nvPr/>
        </p:nvSpPr>
        <p:spPr>
          <a:xfrm>
            <a:off x="1417320" y="1600200"/>
            <a:ext cx="1463040"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Start</a:t>
            </a:r>
            <a:endParaRPr lang="en-US" sz="1200" dirty="0"/>
          </a:p>
        </p:txBody>
      </p:sp>
      <p:sp>
        <p:nvSpPr>
          <p:cNvPr id="9" name="Shape 6"/>
          <p:cNvSpPr/>
          <p:nvPr/>
        </p:nvSpPr>
        <p:spPr>
          <a:xfrm>
            <a:off x="731520" y="2400300"/>
            <a:ext cx="2834640" cy="594360"/>
          </a:xfrm>
          <a:prstGeom prst="flowChartInputOutput">
            <a:avLst/>
          </a:prstGeom>
          <a:solidFill>
            <a:srgbClr val="FFFFFF"/>
          </a:solidFill>
          <a:ln w="15875">
            <a:solidFill>
              <a:srgbClr val="14213D"/>
            </a:solidFill>
            <a:prstDash val="solid"/>
          </a:ln>
        </p:spPr>
      </p:sp>
      <p:sp>
        <p:nvSpPr>
          <p:cNvPr id="10" name="Text 7"/>
          <p:cNvSpPr txBox="1"/>
          <p:nvPr/>
        </p:nvSpPr>
        <p:spPr>
          <a:xfrm>
            <a:off x="777240" y="2400300"/>
            <a:ext cx="2743200" cy="59436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Read weight, height</a:t>
            </a:r>
            <a:endParaRPr lang="en-US" sz="1200" dirty="0"/>
          </a:p>
        </p:txBody>
      </p:sp>
      <p:sp>
        <p:nvSpPr>
          <p:cNvPr id="11" name="Shape 8"/>
          <p:cNvSpPr/>
          <p:nvPr/>
        </p:nvSpPr>
        <p:spPr>
          <a:xfrm>
            <a:off x="640080" y="3360420"/>
            <a:ext cx="3017520" cy="685800"/>
          </a:xfrm>
          <a:prstGeom prst="flowChartProcess">
            <a:avLst/>
          </a:prstGeom>
          <a:solidFill>
            <a:srgbClr val="FFFFFF"/>
          </a:solidFill>
          <a:ln w="15875">
            <a:solidFill>
              <a:srgbClr val="14213D"/>
            </a:solidFill>
            <a:prstDash val="solid"/>
          </a:ln>
        </p:spPr>
      </p:sp>
      <p:sp>
        <p:nvSpPr>
          <p:cNvPr id="12" name="Text 9"/>
          <p:cNvSpPr txBox="1"/>
          <p:nvPr/>
        </p:nvSpPr>
        <p:spPr>
          <a:xfrm>
            <a:off x="685800" y="3360420"/>
            <a:ext cx="2926080" cy="6858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bmi ← weight /</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(height × height)</a:t>
            </a:r>
            <a:endParaRPr lang="en-US" sz="1200" dirty="0"/>
          </a:p>
        </p:txBody>
      </p:sp>
      <p:sp>
        <p:nvSpPr>
          <p:cNvPr id="13" name="Shape 10"/>
          <p:cNvSpPr/>
          <p:nvPr/>
        </p:nvSpPr>
        <p:spPr>
          <a:xfrm>
            <a:off x="731520" y="4411980"/>
            <a:ext cx="2834640" cy="594360"/>
          </a:xfrm>
          <a:prstGeom prst="flowChartInputOutput">
            <a:avLst/>
          </a:prstGeom>
          <a:solidFill>
            <a:srgbClr val="FFFFFF"/>
          </a:solidFill>
          <a:ln w="15875">
            <a:solidFill>
              <a:srgbClr val="14213D"/>
            </a:solidFill>
            <a:prstDash val="solid"/>
          </a:ln>
        </p:spPr>
      </p:sp>
      <p:sp>
        <p:nvSpPr>
          <p:cNvPr id="14" name="Text 11"/>
          <p:cNvSpPr txBox="1"/>
          <p:nvPr/>
        </p:nvSpPr>
        <p:spPr>
          <a:xfrm>
            <a:off x="777240" y="4411980"/>
            <a:ext cx="2743200" cy="59436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bmi</a:t>
            </a:r>
            <a:endParaRPr lang="en-US" sz="1200" dirty="0"/>
          </a:p>
        </p:txBody>
      </p:sp>
      <p:sp>
        <p:nvSpPr>
          <p:cNvPr id="15" name="Shape 12"/>
          <p:cNvSpPr/>
          <p:nvPr/>
        </p:nvSpPr>
        <p:spPr>
          <a:xfrm>
            <a:off x="1371600" y="5349240"/>
            <a:ext cx="1554480" cy="457200"/>
          </a:xfrm>
          <a:prstGeom prst="flowChartTerminator">
            <a:avLst/>
          </a:prstGeom>
          <a:solidFill>
            <a:srgbClr val="FFF1D6"/>
          </a:solidFill>
          <a:ln w="15875">
            <a:solidFill>
              <a:srgbClr val="14213D"/>
            </a:solidFill>
            <a:prstDash val="solid"/>
          </a:ln>
        </p:spPr>
      </p:sp>
      <p:sp>
        <p:nvSpPr>
          <p:cNvPr id="16" name="Text 13"/>
          <p:cNvSpPr txBox="1"/>
          <p:nvPr/>
        </p:nvSpPr>
        <p:spPr>
          <a:xfrm>
            <a:off x="1417320" y="5349240"/>
            <a:ext cx="1463040"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End</a:t>
            </a:r>
            <a:endParaRPr lang="en-US" sz="1200" dirty="0"/>
          </a:p>
        </p:txBody>
      </p:sp>
      <p:sp>
        <p:nvSpPr>
          <p:cNvPr id="17" name="Shape 14"/>
          <p:cNvSpPr/>
          <p:nvPr/>
        </p:nvSpPr>
        <p:spPr>
          <a:xfrm>
            <a:off x="2148840" y="2057400"/>
            <a:ext cx="0" cy="342900"/>
          </a:xfrm>
          <a:prstGeom prst="line">
            <a:avLst/>
          </a:prstGeom>
          <a:noFill/>
          <a:ln w="15875">
            <a:solidFill>
              <a:srgbClr val="14213D"/>
            </a:solidFill>
            <a:prstDash val="solid"/>
            <a:tailEnd type="triangle"/>
          </a:ln>
        </p:spPr>
      </p:sp>
      <p:sp>
        <p:nvSpPr>
          <p:cNvPr id="18" name="Shape 15"/>
          <p:cNvSpPr/>
          <p:nvPr/>
        </p:nvSpPr>
        <p:spPr>
          <a:xfrm>
            <a:off x="2148840" y="2994660"/>
            <a:ext cx="0" cy="365760"/>
          </a:xfrm>
          <a:prstGeom prst="line">
            <a:avLst/>
          </a:prstGeom>
          <a:noFill/>
          <a:ln w="15875">
            <a:solidFill>
              <a:srgbClr val="14213D"/>
            </a:solidFill>
            <a:prstDash val="solid"/>
            <a:tailEnd type="triangle"/>
          </a:ln>
        </p:spPr>
      </p:sp>
      <p:sp>
        <p:nvSpPr>
          <p:cNvPr id="19" name="Shape 16"/>
          <p:cNvSpPr/>
          <p:nvPr/>
        </p:nvSpPr>
        <p:spPr>
          <a:xfrm>
            <a:off x="2148840" y="4046220"/>
            <a:ext cx="0" cy="365760"/>
          </a:xfrm>
          <a:prstGeom prst="line">
            <a:avLst/>
          </a:prstGeom>
          <a:noFill/>
          <a:ln w="15875">
            <a:solidFill>
              <a:srgbClr val="14213D"/>
            </a:solidFill>
            <a:prstDash val="solid"/>
            <a:tailEnd type="triangle"/>
          </a:ln>
        </p:spPr>
      </p:sp>
      <p:sp>
        <p:nvSpPr>
          <p:cNvPr id="20" name="Shape 17"/>
          <p:cNvSpPr/>
          <p:nvPr/>
        </p:nvSpPr>
        <p:spPr>
          <a:xfrm>
            <a:off x="2148840" y="5006340"/>
            <a:ext cx="0" cy="342900"/>
          </a:xfrm>
          <a:prstGeom prst="line">
            <a:avLst/>
          </a:prstGeom>
          <a:noFill/>
          <a:ln w="15875">
            <a:solidFill>
              <a:srgbClr val="14213D"/>
            </a:solidFill>
            <a:prstDash val="solid"/>
            <a:tailEnd type="triangle"/>
          </a:ln>
        </p:spPr>
      </p:sp>
      <p:sp>
        <p:nvSpPr>
          <p:cNvPr id="21" name="Shape 18"/>
          <p:cNvSpPr/>
          <p:nvPr/>
        </p:nvSpPr>
        <p:spPr>
          <a:xfrm>
            <a:off x="3977640" y="1600200"/>
            <a:ext cx="7680960" cy="2743200"/>
          </a:xfrm>
          <a:prstGeom prst="roundRect">
            <a:avLst>
              <a:gd name="adj" fmla="val 3333"/>
            </a:avLst>
          </a:prstGeom>
          <a:solidFill>
            <a:srgbClr val="0F1729"/>
          </a:solidFill>
          <a:ln w="12700">
            <a:solidFill>
              <a:srgbClr val="0F1729"/>
            </a:solidFill>
            <a:prstDash val="solid"/>
          </a:ln>
        </p:spPr>
      </p:sp>
      <p:sp>
        <p:nvSpPr>
          <p:cNvPr id="22" name="Text 19"/>
          <p:cNvSpPr txBox="1"/>
          <p:nvPr/>
        </p:nvSpPr>
        <p:spPr>
          <a:xfrm>
            <a:off x="4206240" y="1709928"/>
            <a:ext cx="7223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code/03_06_Bmi/Program.cs</a:t>
            </a:r>
            <a:endParaRPr lang="en-US" sz="1100" dirty="0"/>
          </a:p>
        </p:txBody>
      </p:sp>
      <p:sp>
        <p:nvSpPr>
          <p:cNvPr id="23" name="Text 20"/>
          <p:cNvSpPr txBox="1"/>
          <p:nvPr/>
        </p:nvSpPr>
        <p:spPr>
          <a:xfrm>
            <a:off x="4206240" y="2011680"/>
            <a:ext cx="7223760" cy="222199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"Weight (kg):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weight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"Height (m) :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height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parentheses: divide by the SQUARE of the height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bmi = weight / (height * height);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$"BMI = {bmi:F1} kg/m²"</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4" name="Shape 21"/>
          <p:cNvSpPr/>
          <p:nvPr/>
        </p:nvSpPr>
        <p:spPr>
          <a:xfrm>
            <a:off x="3977640" y="4480560"/>
            <a:ext cx="3749040" cy="1463040"/>
          </a:xfrm>
          <a:prstGeom prst="roundRect">
            <a:avLst>
              <a:gd name="adj" fmla="val 6250"/>
            </a:avLst>
          </a:prstGeom>
          <a:solidFill>
            <a:srgbClr val="0B0F19"/>
          </a:solidFill>
          <a:ln w="12700">
            <a:solidFill>
              <a:srgbClr val="2A3654"/>
            </a:solidFill>
            <a:prstDash val="solid"/>
          </a:ln>
        </p:spPr>
      </p:sp>
      <p:sp>
        <p:nvSpPr>
          <p:cNvPr id="25" name="Shape 22"/>
          <p:cNvSpPr/>
          <p:nvPr/>
        </p:nvSpPr>
        <p:spPr>
          <a:xfrm>
            <a:off x="4160520" y="4608576"/>
            <a:ext cx="118872" cy="118872"/>
          </a:xfrm>
          <a:prstGeom prst="ellipse">
            <a:avLst/>
          </a:prstGeom>
          <a:solidFill>
            <a:srgbClr val="FF5F57"/>
          </a:solidFill>
          <a:ln w="12700">
            <a:solidFill>
              <a:srgbClr val="FF5F57"/>
            </a:solidFill>
            <a:prstDash val="solid"/>
          </a:ln>
        </p:spPr>
      </p:sp>
      <p:sp>
        <p:nvSpPr>
          <p:cNvPr id="26" name="Shape 23"/>
          <p:cNvSpPr/>
          <p:nvPr/>
        </p:nvSpPr>
        <p:spPr>
          <a:xfrm>
            <a:off x="4389120" y="4608576"/>
            <a:ext cx="118872" cy="118872"/>
          </a:xfrm>
          <a:prstGeom prst="ellipse">
            <a:avLst/>
          </a:prstGeom>
          <a:solidFill>
            <a:srgbClr val="FEBC2E"/>
          </a:solidFill>
          <a:ln w="12700">
            <a:solidFill>
              <a:srgbClr val="FEBC2E"/>
            </a:solidFill>
            <a:prstDash val="solid"/>
          </a:ln>
        </p:spPr>
      </p:sp>
      <p:sp>
        <p:nvSpPr>
          <p:cNvPr id="27" name="Shape 24"/>
          <p:cNvSpPr/>
          <p:nvPr/>
        </p:nvSpPr>
        <p:spPr>
          <a:xfrm>
            <a:off x="4617720" y="4608576"/>
            <a:ext cx="118872" cy="118872"/>
          </a:xfrm>
          <a:prstGeom prst="ellipse">
            <a:avLst/>
          </a:prstGeom>
          <a:solidFill>
            <a:srgbClr val="28C840"/>
          </a:solidFill>
          <a:ln w="12700">
            <a:solidFill>
              <a:srgbClr val="28C840"/>
            </a:solidFill>
            <a:prstDash val="solid"/>
          </a:ln>
        </p:spPr>
      </p:sp>
      <p:sp>
        <p:nvSpPr>
          <p:cNvPr id="28" name="Text 25"/>
          <p:cNvSpPr txBox="1"/>
          <p:nvPr/>
        </p:nvSpPr>
        <p:spPr>
          <a:xfrm>
            <a:off x="4892040" y="4553712"/>
            <a:ext cx="26517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9" name="Text 26"/>
          <p:cNvSpPr txBox="1"/>
          <p:nvPr/>
        </p:nvSpPr>
        <p:spPr>
          <a:xfrm>
            <a:off x="4206240" y="4864608"/>
            <a:ext cx="3291840" cy="9601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Weight (kg):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72.5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Height (m)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1.78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BMI = 22.9 kg/m²</a:t>
            </a:r>
            <a:endParaRPr lang="en-US" sz="1300" dirty="0"/>
          </a:p>
        </p:txBody>
      </p:sp>
      <p:sp>
        <p:nvSpPr>
          <p:cNvPr id="30" name="Shape 27"/>
          <p:cNvSpPr/>
          <p:nvPr/>
        </p:nvSpPr>
        <p:spPr>
          <a:xfrm>
            <a:off x="7909560" y="4480560"/>
            <a:ext cx="3749040" cy="1463040"/>
          </a:xfrm>
          <a:prstGeom prst="roundRect">
            <a:avLst>
              <a:gd name="adj" fmla="val 7500"/>
            </a:avLst>
          </a:prstGeom>
          <a:solidFill>
            <a:srgbClr val="E3ECF8"/>
          </a:solidFill>
          <a:ln w="12700">
            <a:solidFill>
              <a:srgbClr val="E3ECF8"/>
            </a:solidFill>
            <a:prstDash val="solid"/>
          </a:ln>
        </p:spPr>
      </p:sp>
      <p:sp>
        <p:nvSpPr>
          <p:cNvPr id="31" name="Text 28"/>
          <p:cNvSpPr txBox="1"/>
          <p:nvPr/>
        </p:nvSpPr>
        <p:spPr>
          <a:xfrm>
            <a:off x="8092440" y="4572000"/>
            <a:ext cx="3474720" cy="12801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Check by hand</a:t>
            </a:r>
            <a:endParaRPr lang="en-US" sz="1400" dirty="0"/>
          </a:p>
          <a:p>
            <a:pPr indent="0" marL="0">
              <a:buNone/>
            </a:pPr>
            <a:r>
              <a:rPr lang="en-US" sz="1400" dirty="0">
                <a:solidFill>
                  <a:srgbClr val="333B4F"/>
                </a:solidFill>
                <a:latin typeface="Courier New" pitchFamily="34" charset="0"/>
                <a:ea typeface="Courier New" pitchFamily="34" charset="-122"/>
                <a:cs typeface="Courier New" pitchFamily="34" charset="-120"/>
              </a:rPr>
              <a:t>1.78 × 1.78 = 3.1684</a:t>
            </a:r>
            <a:endParaRPr lang="en-US" sz="1400" dirty="0"/>
          </a:p>
          <a:p>
            <a:pPr indent="0" marL="0">
              <a:buNone/>
            </a:pPr>
            <a:r>
              <a:rPr lang="en-US" sz="1400" dirty="0">
                <a:solidFill>
                  <a:srgbClr val="333B4F"/>
                </a:solidFill>
                <a:latin typeface="Courier New" pitchFamily="34" charset="0"/>
                <a:ea typeface="Courier New" pitchFamily="34" charset="-122"/>
                <a:cs typeface="Courier New" pitchFamily="34" charset="-120"/>
              </a:rPr>
              <a:t>72.5 / 3.1684 ≈ 22.88</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03_05 · TEMPERATURE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Worked Example: Celsius to Fahrenheit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sp>
        <p:nvSpPr>
          <p:cNvPr id="7" name="Shape 4"/>
          <p:cNvSpPr/>
          <p:nvPr/>
        </p:nvSpPr>
        <p:spPr>
          <a:xfrm>
            <a:off x="548640" y="1600200"/>
            <a:ext cx="6720840" cy="2377440"/>
          </a:xfrm>
          <a:prstGeom prst="roundRect">
            <a:avLst>
              <a:gd name="adj" fmla="val 3846"/>
            </a:avLst>
          </a:prstGeom>
          <a:solidFill>
            <a:srgbClr val="0F1729"/>
          </a:solidFill>
          <a:ln w="12700">
            <a:solidFill>
              <a:srgbClr val="0F1729"/>
            </a:solidFill>
            <a:prstDash val="solid"/>
          </a:ln>
        </p:spPr>
      </p:sp>
      <p:sp>
        <p:nvSpPr>
          <p:cNvPr id="8" name="Text 5"/>
          <p:cNvSpPr txBox="1"/>
          <p:nvPr/>
        </p:nvSpPr>
        <p:spPr>
          <a:xfrm>
            <a:off x="777240" y="1709928"/>
            <a:ext cx="62636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code/03_05_CelsiusToFahrenheit/Program.cs</a:t>
            </a:r>
            <a:endParaRPr lang="en-US" sz="1100" dirty="0"/>
          </a:p>
        </p:txBody>
      </p:sp>
      <p:sp>
        <p:nvSpPr>
          <p:cNvPr id="9" name="Text 6"/>
          <p:cNvSpPr txBox="1"/>
          <p:nvPr/>
        </p:nvSpPr>
        <p:spPr>
          <a:xfrm>
            <a:off x="777240" y="2011680"/>
            <a:ext cx="6263640" cy="18562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"Temperature in °C: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celsius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celsius is a double, so celsius * 9 / 5 is computed as double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fahrenheit = celsius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$"{celsius} °C = {fahrenheit:F1} °F"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452360" y="1600200"/>
            <a:ext cx="4206240" cy="2377440"/>
          </a:xfrm>
          <a:prstGeom prst="roundRect">
            <a:avLst>
              <a:gd name="adj" fmla="val 3846"/>
            </a:avLst>
          </a:prstGeom>
          <a:solidFill>
            <a:srgbClr val="0B0F19"/>
          </a:solidFill>
          <a:ln w="12700">
            <a:solidFill>
              <a:srgbClr val="2A3654"/>
            </a:solidFill>
            <a:prstDash val="solid"/>
          </a:ln>
        </p:spPr>
      </p:sp>
      <p:sp>
        <p:nvSpPr>
          <p:cNvPr id="11" name="Shape 8"/>
          <p:cNvSpPr/>
          <p:nvPr/>
        </p:nvSpPr>
        <p:spPr>
          <a:xfrm>
            <a:off x="7635240" y="1728216"/>
            <a:ext cx="118872" cy="118872"/>
          </a:xfrm>
          <a:prstGeom prst="ellipse">
            <a:avLst/>
          </a:prstGeom>
          <a:solidFill>
            <a:srgbClr val="FF5F57"/>
          </a:solidFill>
          <a:ln w="12700">
            <a:solidFill>
              <a:srgbClr val="FF5F57"/>
            </a:solidFill>
            <a:prstDash val="solid"/>
          </a:ln>
        </p:spPr>
      </p:sp>
      <p:sp>
        <p:nvSpPr>
          <p:cNvPr id="12" name="Shape 9"/>
          <p:cNvSpPr/>
          <p:nvPr/>
        </p:nvSpPr>
        <p:spPr>
          <a:xfrm>
            <a:off x="7863840" y="1728216"/>
            <a:ext cx="118872" cy="118872"/>
          </a:xfrm>
          <a:prstGeom prst="ellipse">
            <a:avLst/>
          </a:prstGeom>
          <a:solidFill>
            <a:srgbClr val="FEBC2E"/>
          </a:solidFill>
          <a:ln w="12700">
            <a:solidFill>
              <a:srgbClr val="FEBC2E"/>
            </a:solidFill>
            <a:prstDash val="solid"/>
          </a:ln>
        </p:spPr>
      </p:sp>
      <p:sp>
        <p:nvSpPr>
          <p:cNvPr id="13" name="Shape 10"/>
          <p:cNvSpPr/>
          <p:nvPr/>
        </p:nvSpPr>
        <p:spPr>
          <a:xfrm>
            <a:off x="8092440" y="1728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366760" y="167335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three runs</a:t>
            </a:r>
            <a:endParaRPr lang="en-US" sz="1000" dirty="0"/>
          </a:p>
        </p:txBody>
      </p:sp>
      <p:sp>
        <p:nvSpPr>
          <p:cNvPr id="15" name="Text 12"/>
          <p:cNvSpPr txBox="1"/>
          <p:nvPr/>
        </p:nvSpPr>
        <p:spPr>
          <a:xfrm>
            <a:off x="7680960" y="1984248"/>
            <a:ext cx="3749040" cy="18745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Temperature in °C: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36.6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36.6 °C = 97.9 °F</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Temperature in °C: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100 °C = 212.0 °F</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Temperature in °C: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-40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-40 °C = -40.0 °F</a:t>
            </a:r>
            <a:endParaRPr lang="en-US" sz="1200" dirty="0"/>
          </a:p>
        </p:txBody>
      </p:sp>
      <p:sp>
        <p:nvSpPr>
          <p:cNvPr id="16" name="Shape 13"/>
          <p:cNvSpPr/>
          <p:nvPr/>
        </p:nvSpPr>
        <p:spPr>
          <a:xfrm>
            <a:off x="548640" y="4160520"/>
            <a:ext cx="11109960" cy="1783080"/>
          </a:xfrm>
          <a:prstGeom prst="roundRect">
            <a:avLst>
              <a:gd name="adj" fmla="val 6154"/>
            </a:avLst>
          </a:prstGeom>
          <a:solidFill>
            <a:srgbClr val="FBE9E7"/>
          </a:solidFill>
          <a:ln w="12700">
            <a:solidFill>
              <a:srgbClr val="FBE9E7"/>
            </a:solidFill>
            <a:prstDash val="solid"/>
          </a:ln>
        </p:spPr>
      </p:sp>
      <p:sp>
        <p:nvSpPr>
          <p:cNvPr id="17" name="Text 14"/>
          <p:cNvSpPr txBox="1"/>
          <p:nvPr/>
        </p:nvSpPr>
        <p:spPr>
          <a:xfrm>
            <a:off x="777240" y="4251960"/>
            <a:ext cx="4572000" cy="365760"/>
          </a:xfrm>
          <a:prstGeom prst="rect">
            <a:avLst/>
          </a:prstGeom>
          <a:noFill/>
          <a:ln/>
        </p:spPr>
        <p:txBody>
          <a:bodyPr wrap="square" lIns="0" tIns="0" rIns="0" bIns="0" rtlCol="0" anchor="ctr"/>
          <a:lstStyle/>
          <a:p>
            <a:pPr indent="0" marL="0">
              <a:buNone/>
            </a:pPr>
            <a:r>
              <a:rPr lang="en-US" sz="1700" b="1" dirty="0">
                <a:solidFill>
                  <a:srgbClr val="C8453B"/>
                </a:solidFill>
                <a:latin typeface="Cambria" pitchFamily="34" charset="0"/>
                <a:ea typeface="Cambria" pitchFamily="34" charset="-122"/>
                <a:cs typeface="Cambria" pitchFamily="34" charset="-120"/>
              </a:rPr>
              <a:t>Trap: integer division</a:t>
            </a:r>
            <a:endParaRPr lang="en-US" sz="1700" dirty="0"/>
          </a:p>
        </p:txBody>
      </p:sp>
      <p:sp>
        <p:nvSpPr>
          <p:cNvPr id="18" name="Shape 15"/>
          <p:cNvSpPr/>
          <p:nvPr/>
        </p:nvSpPr>
        <p:spPr>
          <a:xfrm>
            <a:off x="777240" y="4663440"/>
            <a:ext cx="6035040" cy="1143000"/>
          </a:xfrm>
          <a:prstGeom prst="roundRect">
            <a:avLst>
              <a:gd name="adj" fmla="val 8000"/>
            </a:avLst>
          </a:prstGeom>
          <a:solidFill>
            <a:srgbClr val="0F1729"/>
          </a:solidFill>
          <a:ln w="12700">
            <a:solidFill>
              <a:srgbClr val="0F1729"/>
            </a:solidFill>
            <a:prstDash val="solid"/>
          </a:ln>
        </p:spPr>
      </p:sp>
      <p:sp>
        <p:nvSpPr>
          <p:cNvPr id="19" name="Text 16"/>
          <p:cNvSpPr txBox="1"/>
          <p:nvPr/>
        </p:nvSpPr>
        <p:spPr>
          <a:xfrm>
            <a:off x="1005840" y="4828032"/>
            <a:ext cx="5577840" cy="868680"/>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c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52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.WriteLine(c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68  ✓</a:t>
            </a:r>
            <a:endParaRPr lang="en-US" sz="1300" dirty="0"/>
          </a:p>
        </p:txBody>
      </p:sp>
      <p:sp>
        <p:nvSpPr>
          <p:cNvPr id="20" name="Text 17"/>
          <p:cNvSpPr txBox="1"/>
          <p:nvPr/>
        </p:nvSpPr>
        <p:spPr>
          <a:xfrm>
            <a:off x="7040880" y="4663440"/>
            <a:ext cx="4434840" cy="1143000"/>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9 / 5 is computed with two ints → 1, not 1.8. Write 9.0 / 5 or start with the double variable.</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03_11 · CASTS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Implicit and Explicit Conversions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sp>
        <p:nvSpPr>
          <p:cNvPr id="7" name="Shape 4"/>
          <p:cNvSpPr/>
          <p:nvPr/>
        </p:nvSpPr>
        <p:spPr>
          <a:xfrm>
            <a:off x="548640" y="1645920"/>
            <a:ext cx="1463040" cy="594360"/>
          </a:xfrm>
          <a:prstGeom prst="roundRect">
            <a:avLst>
              <a:gd name="adj" fmla="val 12308"/>
            </a:avLst>
          </a:prstGeom>
          <a:solidFill>
            <a:srgbClr val="EEF1F6"/>
          </a:solidFill>
          <a:ln w="12700">
            <a:solidFill>
              <a:srgbClr val="14213D"/>
            </a:solidFill>
            <a:prstDash val="solid"/>
          </a:ln>
        </p:spPr>
      </p:sp>
      <p:sp>
        <p:nvSpPr>
          <p:cNvPr id="8" name="Text 5"/>
          <p:cNvSpPr txBox="1"/>
          <p:nvPr/>
        </p:nvSpPr>
        <p:spPr>
          <a:xfrm>
            <a:off x="548640" y="1645920"/>
            <a:ext cx="1463040" cy="59436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byte</a:t>
            </a:r>
            <a:endParaRPr lang="en-US" sz="1600" dirty="0"/>
          </a:p>
        </p:txBody>
      </p:sp>
      <p:sp>
        <p:nvSpPr>
          <p:cNvPr id="9" name="Shape 6"/>
          <p:cNvSpPr/>
          <p:nvPr/>
        </p:nvSpPr>
        <p:spPr>
          <a:xfrm>
            <a:off x="2039112" y="1938528"/>
            <a:ext cx="356616" cy="0"/>
          </a:xfrm>
          <a:prstGeom prst="line">
            <a:avLst/>
          </a:prstGeom>
          <a:noFill/>
          <a:ln w="15875">
            <a:solidFill>
              <a:srgbClr val="2E9E6A"/>
            </a:solidFill>
            <a:prstDash val="solid"/>
            <a:tailEnd type="triangle"/>
          </a:ln>
        </p:spPr>
      </p:sp>
      <p:sp>
        <p:nvSpPr>
          <p:cNvPr id="10" name="Shape 7"/>
          <p:cNvSpPr/>
          <p:nvPr/>
        </p:nvSpPr>
        <p:spPr>
          <a:xfrm>
            <a:off x="2423160" y="1645920"/>
            <a:ext cx="1463040" cy="594360"/>
          </a:xfrm>
          <a:prstGeom prst="roundRect">
            <a:avLst>
              <a:gd name="adj" fmla="val 12308"/>
            </a:avLst>
          </a:prstGeom>
          <a:solidFill>
            <a:srgbClr val="EEF1F6"/>
          </a:solidFill>
          <a:ln w="12700">
            <a:solidFill>
              <a:srgbClr val="14213D"/>
            </a:solidFill>
            <a:prstDash val="solid"/>
          </a:ln>
        </p:spPr>
      </p:sp>
      <p:sp>
        <p:nvSpPr>
          <p:cNvPr id="11" name="Text 8"/>
          <p:cNvSpPr txBox="1"/>
          <p:nvPr/>
        </p:nvSpPr>
        <p:spPr>
          <a:xfrm>
            <a:off x="2423160" y="1645920"/>
            <a:ext cx="1463040" cy="59436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short</a:t>
            </a:r>
            <a:endParaRPr lang="en-US" sz="1600" dirty="0"/>
          </a:p>
        </p:txBody>
      </p:sp>
      <p:sp>
        <p:nvSpPr>
          <p:cNvPr id="12" name="Shape 9"/>
          <p:cNvSpPr/>
          <p:nvPr/>
        </p:nvSpPr>
        <p:spPr>
          <a:xfrm>
            <a:off x="3913632" y="1938528"/>
            <a:ext cx="356616" cy="0"/>
          </a:xfrm>
          <a:prstGeom prst="line">
            <a:avLst/>
          </a:prstGeom>
          <a:noFill/>
          <a:ln w="15875">
            <a:solidFill>
              <a:srgbClr val="2E9E6A"/>
            </a:solidFill>
            <a:prstDash val="solid"/>
            <a:tailEnd type="triangle"/>
          </a:ln>
        </p:spPr>
      </p:sp>
      <p:sp>
        <p:nvSpPr>
          <p:cNvPr id="13" name="Shape 10"/>
          <p:cNvSpPr/>
          <p:nvPr/>
        </p:nvSpPr>
        <p:spPr>
          <a:xfrm>
            <a:off x="4297680" y="1645920"/>
            <a:ext cx="1463040" cy="594360"/>
          </a:xfrm>
          <a:prstGeom prst="roundRect">
            <a:avLst>
              <a:gd name="adj" fmla="val 12308"/>
            </a:avLst>
          </a:prstGeom>
          <a:solidFill>
            <a:srgbClr val="E3ECF8"/>
          </a:solidFill>
          <a:ln w="12700">
            <a:solidFill>
              <a:srgbClr val="14213D"/>
            </a:solidFill>
            <a:prstDash val="solid"/>
          </a:ln>
        </p:spPr>
      </p:sp>
      <p:sp>
        <p:nvSpPr>
          <p:cNvPr id="14" name="Text 11"/>
          <p:cNvSpPr txBox="1"/>
          <p:nvPr/>
        </p:nvSpPr>
        <p:spPr>
          <a:xfrm>
            <a:off x="4297680" y="1645920"/>
            <a:ext cx="1463040" cy="59436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int</a:t>
            </a:r>
            <a:endParaRPr lang="en-US" sz="1600" dirty="0"/>
          </a:p>
        </p:txBody>
      </p:sp>
      <p:sp>
        <p:nvSpPr>
          <p:cNvPr id="15" name="Shape 12"/>
          <p:cNvSpPr/>
          <p:nvPr/>
        </p:nvSpPr>
        <p:spPr>
          <a:xfrm>
            <a:off x="5788152" y="1938528"/>
            <a:ext cx="356616" cy="0"/>
          </a:xfrm>
          <a:prstGeom prst="line">
            <a:avLst/>
          </a:prstGeom>
          <a:noFill/>
          <a:ln w="15875">
            <a:solidFill>
              <a:srgbClr val="2E9E6A"/>
            </a:solidFill>
            <a:prstDash val="solid"/>
            <a:tailEnd type="triangle"/>
          </a:ln>
        </p:spPr>
      </p:sp>
      <p:sp>
        <p:nvSpPr>
          <p:cNvPr id="16" name="Shape 13"/>
          <p:cNvSpPr/>
          <p:nvPr/>
        </p:nvSpPr>
        <p:spPr>
          <a:xfrm>
            <a:off x="6172200" y="1645920"/>
            <a:ext cx="1463040" cy="594360"/>
          </a:xfrm>
          <a:prstGeom prst="roundRect">
            <a:avLst>
              <a:gd name="adj" fmla="val 12308"/>
            </a:avLst>
          </a:prstGeom>
          <a:solidFill>
            <a:srgbClr val="EEF1F6"/>
          </a:solidFill>
          <a:ln w="12700">
            <a:solidFill>
              <a:srgbClr val="14213D"/>
            </a:solidFill>
            <a:prstDash val="solid"/>
          </a:ln>
        </p:spPr>
      </p:sp>
      <p:sp>
        <p:nvSpPr>
          <p:cNvPr id="17" name="Text 14"/>
          <p:cNvSpPr txBox="1"/>
          <p:nvPr/>
        </p:nvSpPr>
        <p:spPr>
          <a:xfrm>
            <a:off x="6172200" y="1645920"/>
            <a:ext cx="1463040" cy="59436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long</a:t>
            </a:r>
            <a:endParaRPr lang="en-US" sz="1600" dirty="0"/>
          </a:p>
        </p:txBody>
      </p:sp>
      <p:sp>
        <p:nvSpPr>
          <p:cNvPr id="18" name="Shape 15"/>
          <p:cNvSpPr/>
          <p:nvPr/>
        </p:nvSpPr>
        <p:spPr>
          <a:xfrm>
            <a:off x="7662672" y="1938528"/>
            <a:ext cx="356616" cy="0"/>
          </a:xfrm>
          <a:prstGeom prst="line">
            <a:avLst/>
          </a:prstGeom>
          <a:noFill/>
          <a:ln w="15875">
            <a:solidFill>
              <a:srgbClr val="2E9E6A"/>
            </a:solidFill>
            <a:prstDash val="solid"/>
            <a:tailEnd type="triangle"/>
          </a:ln>
        </p:spPr>
      </p:sp>
      <p:sp>
        <p:nvSpPr>
          <p:cNvPr id="19" name="Shape 16"/>
          <p:cNvSpPr/>
          <p:nvPr/>
        </p:nvSpPr>
        <p:spPr>
          <a:xfrm>
            <a:off x="8046720" y="1645920"/>
            <a:ext cx="1463040" cy="594360"/>
          </a:xfrm>
          <a:prstGeom prst="roundRect">
            <a:avLst>
              <a:gd name="adj" fmla="val 12308"/>
            </a:avLst>
          </a:prstGeom>
          <a:solidFill>
            <a:srgbClr val="EEF1F6"/>
          </a:solidFill>
          <a:ln w="12700">
            <a:solidFill>
              <a:srgbClr val="14213D"/>
            </a:solidFill>
            <a:prstDash val="solid"/>
          </a:ln>
        </p:spPr>
      </p:sp>
      <p:sp>
        <p:nvSpPr>
          <p:cNvPr id="20" name="Text 17"/>
          <p:cNvSpPr txBox="1"/>
          <p:nvPr/>
        </p:nvSpPr>
        <p:spPr>
          <a:xfrm>
            <a:off x="8046720" y="1645920"/>
            <a:ext cx="1463040" cy="59436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float</a:t>
            </a:r>
            <a:endParaRPr lang="en-US" sz="1600" dirty="0"/>
          </a:p>
        </p:txBody>
      </p:sp>
      <p:sp>
        <p:nvSpPr>
          <p:cNvPr id="21" name="Shape 18"/>
          <p:cNvSpPr/>
          <p:nvPr/>
        </p:nvSpPr>
        <p:spPr>
          <a:xfrm>
            <a:off x="9537192" y="1938528"/>
            <a:ext cx="356616" cy="0"/>
          </a:xfrm>
          <a:prstGeom prst="line">
            <a:avLst/>
          </a:prstGeom>
          <a:noFill/>
          <a:ln w="15875">
            <a:solidFill>
              <a:srgbClr val="2E9E6A"/>
            </a:solidFill>
            <a:prstDash val="solid"/>
            <a:tailEnd type="triangle"/>
          </a:ln>
        </p:spPr>
      </p:sp>
      <p:sp>
        <p:nvSpPr>
          <p:cNvPr id="22" name="Shape 19"/>
          <p:cNvSpPr/>
          <p:nvPr/>
        </p:nvSpPr>
        <p:spPr>
          <a:xfrm>
            <a:off x="9921240" y="1645920"/>
            <a:ext cx="1463040" cy="594360"/>
          </a:xfrm>
          <a:prstGeom prst="roundRect">
            <a:avLst>
              <a:gd name="adj" fmla="val 12308"/>
            </a:avLst>
          </a:prstGeom>
          <a:solidFill>
            <a:srgbClr val="E3ECF8"/>
          </a:solidFill>
          <a:ln w="12700">
            <a:solidFill>
              <a:srgbClr val="14213D"/>
            </a:solidFill>
            <a:prstDash val="solid"/>
          </a:ln>
        </p:spPr>
      </p:sp>
      <p:sp>
        <p:nvSpPr>
          <p:cNvPr id="23" name="Text 20"/>
          <p:cNvSpPr txBox="1"/>
          <p:nvPr/>
        </p:nvSpPr>
        <p:spPr>
          <a:xfrm>
            <a:off x="9921240" y="1645920"/>
            <a:ext cx="1463040" cy="59436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double</a:t>
            </a:r>
            <a:endParaRPr lang="en-US" sz="1600" dirty="0"/>
          </a:p>
        </p:txBody>
      </p:sp>
      <p:sp>
        <p:nvSpPr>
          <p:cNvPr id="24" name="Text 21"/>
          <p:cNvSpPr txBox="1"/>
          <p:nvPr/>
        </p:nvSpPr>
        <p:spPr>
          <a:xfrm>
            <a:off x="548640" y="2286000"/>
            <a:ext cx="5486400" cy="320040"/>
          </a:xfrm>
          <a:prstGeom prst="rect">
            <a:avLst/>
          </a:prstGeom>
          <a:noFill/>
          <a:ln/>
        </p:spPr>
        <p:txBody>
          <a:bodyPr wrap="square" lIns="0" tIns="0" rIns="0" bIns="0" rtlCol="0" anchor="ctr"/>
          <a:lstStyle/>
          <a:p>
            <a:pPr indent="0" marL="0">
              <a:buNone/>
            </a:pPr>
            <a:r>
              <a:rPr lang="en-US" sz="1400" b="1" dirty="0">
                <a:solidFill>
                  <a:srgbClr val="2E9E6A"/>
                </a:solidFill>
                <a:latin typeface="Calibri" pitchFamily="34" charset="0"/>
                <a:ea typeface="Calibri" pitchFamily="34" charset="-122"/>
                <a:cs typeface="Calibri" pitchFamily="34" charset="-120"/>
              </a:rPr>
              <a:t>implicit (automatic, widening)  →</a:t>
            </a:r>
            <a:endParaRPr lang="en-US" sz="1400" dirty="0"/>
          </a:p>
        </p:txBody>
      </p:sp>
      <p:sp>
        <p:nvSpPr>
          <p:cNvPr id="25" name="Text 22"/>
          <p:cNvSpPr txBox="1"/>
          <p:nvPr/>
        </p:nvSpPr>
        <p:spPr>
          <a:xfrm>
            <a:off x="6172200" y="2286000"/>
            <a:ext cx="5486400" cy="320040"/>
          </a:xfrm>
          <a:prstGeom prst="rect">
            <a:avLst/>
          </a:prstGeom>
          <a:noFill/>
          <a:ln/>
        </p:spPr>
        <p:txBody>
          <a:bodyPr wrap="square" lIns="0" tIns="0" rIns="0" bIns="0" rtlCol="0" anchor="ctr"/>
          <a:lstStyle/>
          <a:p>
            <a:pPr algn="r" indent="0" marL="0">
              <a:buNone/>
            </a:pPr>
            <a:r>
              <a:rPr lang="en-US" sz="1400" b="1" dirty="0">
                <a:solidFill>
                  <a:srgbClr val="C8453B"/>
                </a:solidFill>
                <a:latin typeface="Calibri" pitchFamily="34" charset="0"/>
                <a:ea typeface="Calibri" pitchFamily="34" charset="-122"/>
                <a:cs typeface="Calibri" pitchFamily="34" charset="-120"/>
              </a:rPr>
              <a:t>←  explicit cast needed: (int)x</a:t>
            </a:r>
            <a:endParaRPr lang="en-US" sz="1400" dirty="0"/>
          </a:p>
        </p:txBody>
      </p:sp>
      <p:sp>
        <p:nvSpPr>
          <p:cNvPr id="26" name="Shape 23"/>
          <p:cNvSpPr/>
          <p:nvPr/>
        </p:nvSpPr>
        <p:spPr>
          <a:xfrm>
            <a:off x="548640" y="2743200"/>
            <a:ext cx="6309360" cy="3200400"/>
          </a:xfrm>
          <a:prstGeom prst="roundRect">
            <a:avLst>
              <a:gd name="adj" fmla="val 2857"/>
            </a:avLst>
          </a:prstGeom>
          <a:solidFill>
            <a:srgbClr val="0F1729"/>
          </a:solidFill>
          <a:ln w="12700">
            <a:solidFill>
              <a:srgbClr val="0F1729"/>
            </a:solidFill>
            <a:prstDash val="solid"/>
          </a:ln>
        </p:spPr>
      </p:sp>
      <p:sp>
        <p:nvSpPr>
          <p:cNvPr id="27" name="Text 24"/>
          <p:cNvSpPr txBox="1"/>
          <p:nvPr/>
        </p:nvSpPr>
        <p:spPr>
          <a:xfrm>
            <a:off x="777240" y="2852928"/>
            <a:ext cx="58521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code/03_11_CastDemo/Program.cs (lines 8–23, blank lines removed)</a:t>
            </a:r>
            <a:endParaRPr lang="en-US" sz="1100" dirty="0"/>
          </a:p>
        </p:txBody>
      </p:sp>
      <p:sp>
        <p:nvSpPr>
          <p:cNvPr id="28" name="Text 25"/>
          <p:cNvSpPr txBox="1"/>
          <p:nvPr/>
        </p:nvSpPr>
        <p:spPr>
          <a:xfrm>
            <a:off x="777240" y="3154680"/>
            <a:ext cx="5852160" cy="26791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price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3.99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truncated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)price;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cast: fraction CUT OFF</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rounded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Convert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.ToInt32(price);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Convert: rounds</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$"(int){price} = {truncated}"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$"Convert.ToInt32({price}) = {rounded}"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negative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3.99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$"(int){negative} = {(int)negative}"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precise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float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lessPrecise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float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)precise;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fewer digits kept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$"double {precise} -&gt; float {lessPrecise}"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big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byte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small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byte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)big;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300 does not fit in 0..255</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$"(byte){big} = {small}"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29" name="Shape 26"/>
          <p:cNvSpPr/>
          <p:nvPr/>
        </p:nvSpPr>
        <p:spPr>
          <a:xfrm>
            <a:off x="7040880" y="2743200"/>
            <a:ext cx="4617720" cy="3200400"/>
          </a:xfrm>
          <a:prstGeom prst="roundRect">
            <a:avLst>
              <a:gd name="adj" fmla="val 2857"/>
            </a:avLst>
          </a:prstGeom>
          <a:solidFill>
            <a:srgbClr val="0B0F19"/>
          </a:solidFill>
          <a:ln w="12700">
            <a:solidFill>
              <a:srgbClr val="2A3654"/>
            </a:solidFill>
            <a:prstDash val="solid"/>
          </a:ln>
        </p:spPr>
      </p:sp>
      <p:sp>
        <p:nvSpPr>
          <p:cNvPr id="30" name="Shape 27"/>
          <p:cNvSpPr/>
          <p:nvPr/>
        </p:nvSpPr>
        <p:spPr>
          <a:xfrm>
            <a:off x="7223760" y="2871216"/>
            <a:ext cx="118872" cy="118872"/>
          </a:xfrm>
          <a:prstGeom prst="ellipse">
            <a:avLst/>
          </a:prstGeom>
          <a:solidFill>
            <a:srgbClr val="FF5F57"/>
          </a:solidFill>
          <a:ln w="12700">
            <a:solidFill>
              <a:srgbClr val="FF5F57"/>
            </a:solidFill>
            <a:prstDash val="solid"/>
          </a:ln>
        </p:spPr>
      </p:sp>
      <p:sp>
        <p:nvSpPr>
          <p:cNvPr id="31" name="Shape 28"/>
          <p:cNvSpPr/>
          <p:nvPr/>
        </p:nvSpPr>
        <p:spPr>
          <a:xfrm>
            <a:off x="7452360" y="2871216"/>
            <a:ext cx="118872" cy="118872"/>
          </a:xfrm>
          <a:prstGeom prst="ellipse">
            <a:avLst/>
          </a:prstGeom>
          <a:solidFill>
            <a:srgbClr val="FEBC2E"/>
          </a:solidFill>
          <a:ln w="12700">
            <a:solidFill>
              <a:srgbClr val="FEBC2E"/>
            </a:solidFill>
            <a:prstDash val="solid"/>
          </a:ln>
        </p:spPr>
      </p:sp>
      <p:sp>
        <p:nvSpPr>
          <p:cNvPr id="32" name="Shape 29"/>
          <p:cNvSpPr/>
          <p:nvPr/>
        </p:nvSpPr>
        <p:spPr>
          <a:xfrm>
            <a:off x="7680960" y="2871216"/>
            <a:ext cx="118872" cy="118872"/>
          </a:xfrm>
          <a:prstGeom prst="ellipse">
            <a:avLst/>
          </a:prstGeom>
          <a:solidFill>
            <a:srgbClr val="28C840"/>
          </a:solidFill>
          <a:ln w="12700">
            <a:solidFill>
              <a:srgbClr val="28C840"/>
            </a:solidFill>
            <a:prstDash val="solid"/>
          </a:ln>
        </p:spPr>
      </p:sp>
      <p:sp>
        <p:nvSpPr>
          <p:cNvPr id="33" name="Text 30"/>
          <p:cNvSpPr txBox="1"/>
          <p:nvPr/>
        </p:nvSpPr>
        <p:spPr>
          <a:xfrm>
            <a:off x="7955280" y="2816352"/>
            <a:ext cx="3520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dotnet run  (03_11_CastDemo)</a:t>
            </a:r>
            <a:endParaRPr lang="en-US" sz="1000" dirty="0"/>
          </a:p>
        </p:txBody>
      </p:sp>
      <p:sp>
        <p:nvSpPr>
          <p:cNvPr id="34" name="Text 31"/>
          <p:cNvSpPr txBox="1"/>
          <p:nvPr/>
        </p:nvSpPr>
        <p:spPr>
          <a:xfrm>
            <a:off x="7269480" y="3127248"/>
            <a:ext cx="4160520" cy="26974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int 7 -&gt; long 7 -&gt; double 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(int)3.99 = 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Convert.ToInt32(3.99) = 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(int)-3.99 = -3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double 0.3333333333333333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-&gt; float 0.33333334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(byte)300 = 44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2147483647 + 1 = -2147483648</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03_13 · OVERFLOW</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Overflow: When the Box Is Too Small</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548640" y="1600200"/>
            <a:ext cx="5943600" cy="3246120"/>
          </a:xfrm>
          <a:prstGeom prst="roundRect">
            <a:avLst>
              <a:gd name="adj" fmla="val 2817"/>
            </a:avLst>
          </a:prstGeom>
          <a:solidFill>
            <a:srgbClr val="0F1729"/>
          </a:solidFill>
          <a:ln w="12700">
            <a:solidFill>
              <a:srgbClr val="0F1729"/>
            </a:solidFill>
            <a:prstDash val="solid"/>
          </a:ln>
        </p:spPr>
      </p:sp>
      <p:sp>
        <p:nvSpPr>
          <p:cNvPr id="8" name="Text 5"/>
          <p:cNvSpPr txBox="1"/>
          <p:nvPr/>
        </p:nvSpPr>
        <p:spPr>
          <a:xfrm>
            <a:off x="777240" y="1709928"/>
            <a:ext cx="54864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code/03_13_OverflowChecked/Program.cs</a:t>
            </a:r>
            <a:endParaRPr lang="en-US" sz="1100" dirty="0"/>
          </a:p>
        </p:txBody>
      </p:sp>
      <p:sp>
        <p:nvSpPr>
          <p:cNvPr id="9" name="Text 6"/>
          <p:cNvSpPr txBox="1"/>
          <p:nvPr/>
        </p:nvSpPr>
        <p:spPr>
          <a:xfrm>
            <a:off x="777240" y="2011680"/>
            <a:ext cx="5486400" cy="272491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"Start value: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start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"Add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step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silent = start + step;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may wrap around</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$"int     : {silent}"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exact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)start + step;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long has room</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$"long    : {exact}"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safe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checked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(start + step);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throws on overflow</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$"checked : {safe}"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6675120" y="1600200"/>
            <a:ext cx="4983480" cy="1737360"/>
          </a:xfrm>
          <a:prstGeom prst="roundRect">
            <a:avLst>
              <a:gd name="adj" fmla="val 5263"/>
            </a:avLst>
          </a:prstGeom>
          <a:solidFill>
            <a:srgbClr val="0B0F19"/>
          </a:solidFill>
          <a:ln w="12700">
            <a:solidFill>
              <a:srgbClr val="2A3654"/>
            </a:solidFill>
            <a:prstDash val="solid"/>
          </a:ln>
        </p:spPr>
      </p:sp>
      <p:sp>
        <p:nvSpPr>
          <p:cNvPr id="11" name="Shape 8"/>
          <p:cNvSpPr/>
          <p:nvPr/>
        </p:nvSpPr>
        <p:spPr>
          <a:xfrm>
            <a:off x="6858000" y="1728216"/>
            <a:ext cx="118872" cy="118872"/>
          </a:xfrm>
          <a:prstGeom prst="ellipse">
            <a:avLst/>
          </a:prstGeom>
          <a:solidFill>
            <a:srgbClr val="FF5F57"/>
          </a:solidFill>
          <a:ln w="12700">
            <a:solidFill>
              <a:srgbClr val="FF5F57"/>
            </a:solidFill>
            <a:prstDash val="solid"/>
          </a:ln>
        </p:spPr>
      </p:sp>
      <p:sp>
        <p:nvSpPr>
          <p:cNvPr id="12" name="Shape 9"/>
          <p:cNvSpPr/>
          <p:nvPr/>
        </p:nvSpPr>
        <p:spPr>
          <a:xfrm>
            <a:off x="7086600" y="1728216"/>
            <a:ext cx="118872" cy="118872"/>
          </a:xfrm>
          <a:prstGeom prst="ellipse">
            <a:avLst/>
          </a:prstGeom>
          <a:solidFill>
            <a:srgbClr val="FEBC2E"/>
          </a:solidFill>
          <a:ln w="12700">
            <a:solidFill>
              <a:srgbClr val="FEBC2E"/>
            </a:solidFill>
            <a:prstDash val="solid"/>
          </a:ln>
        </p:spPr>
      </p:sp>
      <p:sp>
        <p:nvSpPr>
          <p:cNvPr id="13" name="Shape 10"/>
          <p:cNvSpPr/>
          <p:nvPr/>
        </p:nvSpPr>
        <p:spPr>
          <a:xfrm>
            <a:off x="7315200" y="1728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589520" y="1673352"/>
            <a:ext cx="38862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1: fits</a:t>
            </a:r>
            <a:endParaRPr lang="en-US" sz="1000" dirty="0"/>
          </a:p>
        </p:txBody>
      </p:sp>
      <p:sp>
        <p:nvSpPr>
          <p:cNvPr id="15" name="Text 12"/>
          <p:cNvSpPr txBox="1"/>
          <p:nvPr/>
        </p:nvSpPr>
        <p:spPr>
          <a:xfrm>
            <a:off x="6903720" y="1984248"/>
            <a:ext cx="4526280" cy="12344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Start value: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Add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int     : 123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long    : 123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checked : 123</a:t>
            </a:r>
            <a:endParaRPr lang="en-US" sz="1200" dirty="0"/>
          </a:p>
        </p:txBody>
      </p:sp>
      <p:sp>
        <p:nvSpPr>
          <p:cNvPr id="16" name="Shape 13"/>
          <p:cNvSpPr/>
          <p:nvPr/>
        </p:nvSpPr>
        <p:spPr>
          <a:xfrm>
            <a:off x="6675120" y="3474720"/>
            <a:ext cx="4983480" cy="2468880"/>
          </a:xfrm>
          <a:prstGeom prst="roundRect">
            <a:avLst>
              <a:gd name="adj" fmla="val 3704"/>
            </a:avLst>
          </a:prstGeom>
          <a:solidFill>
            <a:srgbClr val="0B0F19"/>
          </a:solidFill>
          <a:ln w="12700">
            <a:solidFill>
              <a:srgbClr val="2A3654"/>
            </a:solidFill>
            <a:prstDash val="solid"/>
          </a:ln>
        </p:spPr>
      </p:sp>
      <p:sp>
        <p:nvSpPr>
          <p:cNvPr id="17" name="Shape 14"/>
          <p:cNvSpPr/>
          <p:nvPr/>
        </p:nvSpPr>
        <p:spPr>
          <a:xfrm>
            <a:off x="6858000" y="3602736"/>
            <a:ext cx="118872" cy="118872"/>
          </a:xfrm>
          <a:prstGeom prst="ellipse">
            <a:avLst/>
          </a:prstGeom>
          <a:solidFill>
            <a:srgbClr val="FF5F57"/>
          </a:solidFill>
          <a:ln w="12700">
            <a:solidFill>
              <a:srgbClr val="FF5F57"/>
            </a:solidFill>
            <a:prstDash val="solid"/>
          </a:ln>
        </p:spPr>
      </p:sp>
      <p:sp>
        <p:nvSpPr>
          <p:cNvPr id="18" name="Shape 15"/>
          <p:cNvSpPr/>
          <p:nvPr/>
        </p:nvSpPr>
        <p:spPr>
          <a:xfrm>
            <a:off x="7086600" y="3602736"/>
            <a:ext cx="118872" cy="118872"/>
          </a:xfrm>
          <a:prstGeom prst="ellipse">
            <a:avLst/>
          </a:prstGeom>
          <a:solidFill>
            <a:srgbClr val="FEBC2E"/>
          </a:solidFill>
          <a:ln w="12700">
            <a:solidFill>
              <a:srgbClr val="FEBC2E"/>
            </a:solidFill>
            <a:prstDash val="solid"/>
          </a:ln>
        </p:spPr>
      </p:sp>
      <p:sp>
        <p:nvSpPr>
          <p:cNvPr id="19" name="Shape 16"/>
          <p:cNvSpPr/>
          <p:nvPr/>
        </p:nvSpPr>
        <p:spPr>
          <a:xfrm>
            <a:off x="7315200" y="360273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7589520" y="3547872"/>
            <a:ext cx="38862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 too big for int</a:t>
            </a:r>
            <a:endParaRPr lang="en-US" sz="1000" dirty="0"/>
          </a:p>
        </p:txBody>
      </p:sp>
      <p:sp>
        <p:nvSpPr>
          <p:cNvPr id="21" name="Text 18"/>
          <p:cNvSpPr txBox="1"/>
          <p:nvPr/>
        </p:nvSpPr>
        <p:spPr>
          <a:xfrm>
            <a:off x="6903720" y="3858768"/>
            <a:ext cx="4526280" cy="19659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Start value: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2000000000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Add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500000000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int     : -1794967296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long    : 2500000000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Unhandled exception.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System.OverflowException: Arithmetic</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operation resulted in an overflow.</a:t>
            </a:r>
            <a:endParaRPr lang="en-US" sz="1200" dirty="0"/>
          </a:p>
        </p:txBody>
      </p:sp>
      <p:sp>
        <p:nvSpPr>
          <p:cNvPr id="22" name="Shape 19"/>
          <p:cNvSpPr/>
          <p:nvPr/>
        </p:nvSpPr>
        <p:spPr>
          <a:xfrm>
            <a:off x="548640" y="4983480"/>
            <a:ext cx="5943600" cy="960120"/>
          </a:xfrm>
          <a:prstGeom prst="roundRect">
            <a:avLst>
              <a:gd name="adj" fmla="val 11429"/>
            </a:avLst>
          </a:prstGeom>
          <a:solidFill>
            <a:srgbClr val="FBE9E7"/>
          </a:solidFill>
          <a:ln w="12700">
            <a:solidFill>
              <a:srgbClr val="FBE9E7"/>
            </a:solidFill>
            <a:prstDash val="solid"/>
          </a:ln>
        </p:spPr>
      </p:sp>
      <p:pic>
        <p:nvPicPr>
          <p:cNvPr id="23" name="Image 0" descr="preencoded.png">    </p:cNvPr>
          <p:cNvPicPr>
            <a:picLocks noChangeAspect="1"/>
          </p:cNvPicPr>
          <p:nvPr/>
        </p:nvPicPr>
        <p:blipFill>
          <a:blip r:embed="rId1"/>
          <a:stretch>
            <a:fillRect/>
          </a:stretch>
        </p:blipFill>
        <p:spPr>
          <a:xfrm>
            <a:off x="822960" y="5189220"/>
            <a:ext cx="548640" cy="548640"/>
          </a:xfrm>
          <a:prstGeom prst="rect">
            <a:avLst/>
          </a:prstGeom>
        </p:spPr>
      </p:pic>
      <p:sp>
        <p:nvSpPr>
          <p:cNvPr id="24" name="Text 20"/>
          <p:cNvSpPr txBox="1"/>
          <p:nvPr/>
        </p:nvSpPr>
        <p:spPr>
          <a:xfrm>
            <a:off x="1645920" y="5056632"/>
            <a:ext cx="4572000" cy="813816"/>
          </a:xfrm>
          <a:prstGeom prst="rect">
            <a:avLst/>
          </a:prstGeom>
          <a:noFill/>
          <a:ln/>
        </p:spPr>
        <p:txBody>
          <a:bodyPr wrap="square" lIns="0" tIns="0" rIns="0" bIns="0" rtlCol="0" anchor="ctr"/>
          <a:lstStyle/>
          <a:p>
            <a:pPr indent="0" marL="0">
              <a:buNone/>
            </a:pPr>
            <a:r>
              <a:rPr lang="en-US" sz="1300" b="1" dirty="0">
                <a:solidFill>
                  <a:srgbClr val="333B4F"/>
                </a:solidFill>
                <a:latin typeface="Courier New" pitchFamily="34" charset="0"/>
                <a:ea typeface="Courier New" pitchFamily="34" charset="-122"/>
                <a:cs typeface="Courier New" pitchFamily="34" charset="-120"/>
              </a:rPr>
              <a:t>int big = int.MaxValue + 1;</a:t>
            </a:r>
            <a:pPr indent="0" marL="0">
              <a:buNone/>
            </a:pPr>
            <a:r>
              <a:rPr lang="en-US" sz="1300" dirty="0">
                <a:solidFill>
                  <a:srgbClr val="333B4F"/>
                </a:solidFill>
                <a:latin typeface="Calibri" pitchFamily="34" charset="0"/>
                <a:ea typeface="Calibri" pitchFamily="34" charset="-122"/>
                <a:cs typeface="Calibri" pitchFamily="34" charset="-120"/>
              </a:rPr>
              <a:t>  →  compile error CS0220 (constants are checked)</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FORMATTED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String Interpolation and Format Specifiers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2103120"/>
                <a:gridCol w="2011680"/>
                <a:gridCol w="3063240"/>
                <a:gridCol w="3931920"/>
              </a:tblGrid>
              <a:tr h="402336">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In code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Printed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0233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1.0 / 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0.3333333333333333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default: all significant digits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{x:F2}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3.14159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3.14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fixed, 2 decimals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{n:N0}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1234567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1,234,567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thousands separator, 0 decimals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{x:N2}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1234.5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1,234.50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separator + 2 decimals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{h:D2}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07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integer, at least 2 digits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[{n,5}]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   42]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width 5, right-aligned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[{n,-5}]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[42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width 5, left-aligned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{p:P0}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0.2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20 %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percent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{d:C}</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1234.5m</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¤1,234.50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currency (invariant ¤) — avoid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669280"/>
            <a:ext cx="11109960" cy="457200"/>
          </a:xfrm>
          <a:prstGeom prst="roundRect">
            <a:avLst>
              <a:gd name="adj" fmla="val 24000"/>
            </a:avLst>
          </a:prstGeom>
          <a:solidFill>
            <a:srgbClr val="FFF6E3"/>
          </a:solidFill>
          <a:ln w="12700">
            <a:solidFill>
              <a:srgbClr val="FFF6E3"/>
            </a:solidFill>
            <a:prstDash val="solid"/>
          </a:ln>
        </p:spPr>
      </p:sp>
      <p:pic>
        <p:nvPicPr>
          <p:cNvPr id="9" name="Image 0" descr="preencoded.png">    </p:cNvPr>
          <p:cNvPicPr>
            <a:picLocks noChangeAspect="1"/>
          </p:cNvPicPr>
          <p:nvPr/>
        </p:nvPicPr>
        <p:blipFill>
          <a:blip r:embed="rId1"/>
          <a:stretch>
            <a:fillRect/>
          </a:stretch>
        </p:blipFill>
        <p:spPr>
          <a:xfrm>
            <a:off x="822960" y="5806440"/>
            <a:ext cx="182880" cy="182880"/>
          </a:xfrm>
          <a:prstGeom prst="rect">
            <a:avLst/>
          </a:prstGeom>
        </p:spPr>
      </p:pic>
      <p:sp>
        <p:nvSpPr>
          <p:cNvPr id="10" name="Text 5"/>
          <p:cNvSpPr txBox="1"/>
          <p:nvPr/>
        </p:nvSpPr>
        <p:spPr>
          <a:xfrm>
            <a:off x="1280160" y="5742432"/>
            <a:ext cx="10104120" cy="31089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Money in this course:  $"{total:F2} TL"</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03_09 · TIME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Worked Example: Seconds → Hours, Minutes, Seconds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7498080" y="1600200"/>
            <a:ext cx="4160520" cy="1920240"/>
          </a:xfrm>
          <a:prstGeom prst="roundRect">
            <a:avLst>
              <a:gd name="adj" fmla="val 3810"/>
            </a:avLst>
          </a:prstGeom>
          <a:solidFill>
            <a:srgbClr val="F4F6FA"/>
          </a:solidFill>
          <a:ln w="9525">
            <a:solidFill>
              <a:srgbClr val="C9D0DD"/>
            </a:solidFill>
            <a:prstDash val="solid"/>
          </a:ln>
        </p:spPr>
      </p:sp>
      <p:sp>
        <p:nvSpPr>
          <p:cNvPr id="8" name="Text 5"/>
          <p:cNvSpPr txBox="1"/>
          <p:nvPr/>
        </p:nvSpPr>
        <p:spPr>
          <a:xfrm>
            <a:off x="7680960" y="1691640"/>
            <a:ext cx="379476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Pseudocode</a:t>
            </a:r>
            <a:endParaRPr lang="en-US" sz="1200" dirty="0"/>
          </a:p>
        </p:txBody>
      </p:sp>
      <p:sp>
        <p:nvSpPr>
          <p:cNvPr id="9" name="Text 6"/>
          <p:cNvSpPr txBox="1"/>
          <p:nvPr/>
        </p:nvSpPr>
        <p:spPr>
          <a:xfrm>
            <a:off x="7680960" y="2011680"/>
            <a:ext cx="3794760" cy="1417320"/>
          </a:xfrm>
          <a:prstGeom prst="rect">
            <a:avLst/>
          </a:prstGeom>
          <a:noFill/>
          <a:ln/>
        </p:spPr>
        <p:txBody>
          <a:bodyPr wrap="square" lIns="0" tIns="0" rIns="0" bIns="0" rtlCol="0" anchor="t"/>
          <a:lstStyle/>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total</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h ← total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div</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3600</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m ← (total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3600)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div</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60</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s ← total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60</a:t>
            </a:r>
            <a:endParaRPr lang="en-US" sz="1300" dirty="0"/>
          </a:p>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h, m, s</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498080" y="3703320"/>
          <a:ext cx="4160520" cy="914400"/>
        </p:xfrm>
        <a:graphic>
          <a:graphicData uri="http://schemas.openxmlformats.org/drawingml/2006/table">
            <a:tbl>
              <a:tblPr/>
              <a:tblGrid>
                <a:gridCol w="2331720"/>
                <a:gridCol w="182880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Expression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total = 3725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total / 3600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total % 3600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125 / 60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total % 60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1" name="Shape 7"/>
          <p:cNvSpPr/>
          <p:nvPr/>
        </p:nvSpPr>
        <p:spPr>
          <a:xfrm>
            <a:off x="548640" y="1600200"/>
            <a:ext cx="6766560" cy="2514600"/>
          </a:xfrm>
          <a:prstGeom prst="roundRect">
            <a:avLst>
              <a:gd name="adj" fmla="val 3636"/>
            </a:avLst>
          </a:prstGeom>
          <a:solidFill>
            <a:srgbClr val="0F1729"/>
          </a:solidFill>
          <a:ln w="12700">
            <a:solidFill>
              <a:srgbClr val="0F1729"/>
            </a:solidFill>
            <a:prstDash val="solid"/>
          </a:ln>
        </p:spPr>
      </p:sp>
      <p:sp>
        <p:nvSpPr>
          <p:cNvPr id="12" name="Text 8"/>
          <p:cNvSpPr txBox="1"/>
          <p:nvPr/>
        </p:nvSpPr>
        <p:spPr>
          <a:xfrm>
            <a:off x="777240" y="1709928"/>
            <a:ext cx="63093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code/03_09_SecondsToHms/Program.cs</a:t>
            </a:r>
            <a:endParaRPr lang="en-US" sz="1100" dirty="0"/>
          </a:p>
        </p:txBody>
      </p:sp>
      <p:sp>
        <p:nvSpPr>
          <p:cNvPr id="13" name="Text 9"/>
          <p:cNvSpPr txBox="1"/>
          <p:nvPr/>
        </p:nvSpPr>
        <p:spPr>
          <a:xfrm>
            <a:off x="777240" y="2011680"/>
            <a:ext cx="6309360" cy="19933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"Total seconds: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totalSeconds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hours = totalSeconds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3600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whole hours</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minutes = totalSeconds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3600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leftover minutes</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seconds = totalSeconds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leftover seconds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$"{hours} h {minutes} min {seconds} 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$"Clock: {hours:D2}:{minutes:D2}:{seconds:D2}"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4" name="Shape 10"/>
          <p:cNvSpPr/>
          <p:nvPr/>
        </p:nvSpPr>
        <p:spPr>
          <a:xfrm>
            <a:off x="548640" y="4251960"/>
            <a:ext cx="6766560" cy="1691640"/>
          </a:xfrm>
          <a:prstGeom prst="roundRect">
            <a:avLst>
              <a:gd name="adj" fmla="val 5405"/>
            </a:avLst>
          </a:prstGeom>
          <a:solidFill>
            <a:srgbClr val="0B0F19"/>
          </a:solidFill>
          <a:ln w="12700">
            <a:solidFill>
              <a:srgbClr val="2A3654"/>
            </a:solidFill>
            <a:prstDash val="solid"/>
          </a:ln>
        </p:spPr>
      </p:sp>
      <p:sp>
        <p:nvSpPr>
          <p:cNvPr id="15" name="Shape 11"/>
          <p:cNvSpPr/>
          <p:nvPr/>
        </p:nvSpPr>
        <p:spPr>
          <a:xfrm>
            <a:off x="731520" y="4379976"/>
            <a:ext cx="118872" cy="118872"/>
          </a:xfrm>
          <a:prstGeom prst="ellipse">
            <a:avLst/>
          </a:prstGeom>
          <a:solidFill>
            <a:srgbClr val="FF5F57"/>
          </a:solidFill>
          <a:ln w="12700">
            <a:solidFill>
              <a:srgbClr val="FF5F57"/>
            </a:solidFill>
            <a:prstDash val="solid"/>
          </a:ln>
        </p:spPr>
      </p:sp>
      <p:sp>
        <p:nvSpPr>
          <p:cNvPr id="16" name="Shape 12"/>
          <p:cNvSpPr/>
          <p:nvPr/>
        </p:nvSpPr>
        <p:spPr>
          <a:xfrm>
            <a:off x="960120" y="4379976"/>
            <a:ext cx="118872" cy="118872"/>
          </a:xfrm>
          <a:prstGeom prst="ellipse">
            <a:avLst/>
          </a:prstGeom>
          <a:solidFill>
            <a:srgbClr val="FEBC2E"/>
          </a:solidFill>
          <a:ln w="12700">
            <a:solidFill>
              <a:srgbClr val="FEBC2E"/>
            </a:solidFill>
            <a:prstDash val="solid"/>
          </a:ln>
        </p:spPr>
      </p:sp>
      <p:sp>
        <p:nvSpPr>
          <p:cNvPr id="17" name="Shape 13"/>
          <p:cNvSpPr/>
          <p:nvPr/>
        </p:nvSpPr>
        <p:spPr>
          <a:xfrm>
            <a:off x="1188720" y="4379976"/>
            <a:ext cx="118872" cy="118872"/>
          </a:xfrm>
          <a:prstGeom prst="ellipse">
            <a:avLst/>
          </a:prstGeom>
          <a:solidFill>
            <a:srgbClr val="28C840"/>
          </a:solidFill>
          <a:ln w="12700">
            <a:solidFill>
              <a:srgbClr val="28C840"/>
            </a:solidFill>
            <a:prstDash val="solid"/>
          </a:ln>
        </p:spPr>
      </p:sp>
      <p:sp>
        <p:nvSpPr>
          <p:cNvPr id="18" name="Text 14"/>
          <p:cNvSpPr txBox="1"/>
          <p:nvPr/>
        </p:nvSpPr>
        <p:spPr>
          <a:xfrm>
            <a:off x="1463040" y="4325112"/>
            <a:ext cx="5669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two runs</a:t>
            </a:r>
            <a:endParaRPr lang="en-US" sz="1000" dirty="0"/>
          </a:p>
        </p:txBody>
      </p:sp>
      <p:sp>
        <p:nvSpPr>
          <p:cNvPr id="19" name="Text 15"/>
          <p:cNvSpPr txBox="1"/>
          <p:nvPr/>
        </p:nvSpPr>
        <p:spPr>
          <a:xfrm>
            <a:off x="777240" y="4636008"/>
            <a:ext cx="6309360" cy="11887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Total seconds: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3725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 h 2 min 5 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Clock: 01:02:05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Total seconds: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86399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23 h 59 min 59 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Clock: 23:59:59</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 · 1</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Compiler Errors You Will Meet This Week</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3017520"/>
                <a:gridCol w="4846320"/>
                <a:gridCol w="3246120"/>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You wrote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Error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age = Console.ReadLine();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CS0029: Cannot implicitly convert type 'string' to 'int'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int.Parse(Console.ReadLine())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decimal price = 19.99;</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CS0664: Literal of type double … use an 'M' suffix</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19.99m</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float f = 3.14;</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CS0664: … use an 'F' suffix</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3.14f</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n = 3.9;</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CS0266: Cannot implicitly convert type 'double' to 'int'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(int)3.9  — if you want 3</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total;  …(total)</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CS0165: Use of unassigned local variable 'total'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total =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console.WriteLine(x);</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CS0103: The name 'console' does not exist …</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Console (capital C)</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Console.WriteLine(x)</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CS1002: ; expected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add ;</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Pi = 3.0;  (Pi is const)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CS0131: The left-hand side of an assignment must be a variable …</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do not change constants</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 · 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Silent Bugs: It Compiles, but the Answer Is Wrong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37</a:t>
            </a:r>
            <a:endParaRPr lang="en-US" sz="1000" dirty="0"/>
          </a:p>
        </p:txBody>
      </p:sp>
      <p:sp>
        <p:nvSpPr>
          <p:cNvPr id="7" name="Shape 4"/>
          <p:cNvSpPr/>
          <p:nvPr/>
        </p:nvSpPr>
        <p:spPr>
          <a:xfrm>
            <a:off x="548640" y="1600200"/>
            <a:ext cx="548640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31520" y="1783080"/>
            <a:ext cx="548640" cy="548640"/>
          </a:xfrm>
          <a:prstGeom prst="ellipse">
            <a:avLst/>
          </a:prstGeom>
          <a:solidFill>
            <a:srgbClr val="C8453B"/>
          </a:solidFill>
          <a:ln w="12700">
            <a:solidFill>
              <a:srgbClr val="C8453B"/>
            </a:solidFill>
            <a:prstDash val="solid"/>
          </a:ln>
        </p:spPr>
      </p:sp>
      <p:pic>
        <p:nvPicPr>
          <p:cNvPr id="9" name="Image 0" descr="preencoded.png">    </p:cNvPr>
          <p:cNvPicPr>
            <a:picLocks noChangeAspect="1"/>
          </p:cNvPicPr>
          <p:nvPr/>
        </p:nvPicPr>
        <p:blipFill>
          <a:blip r:embed="rId1"/>
          <a:stretch>
            <a:fillRect/>
          </a:stretch>
        </p:blipFill>
        <p:spPr>
          <a:xfrm>
            <a:off x="874166" y="1925726"/>
            <a:ext cx="263347" cy="263347"/>
          </a:xfrm>
          <a:prstGeom prst="rect">
            <a:avLst/>
          </a:prstGeom>
        </p:spPr>
      </p:pic>
      <p:sp>
        <p:nvSpPr>
          <p:cNvPr id="10" name="Text 6"/>
          <p:cNvSpPr txBox="1"/>
          <p:nvPr/>
        </p:nvSpPr>
        <p:spPr>
          <a:xfrm>
            <a:off x="1417320" y="1783080"/>
            <a:ext cx="4480560" cy="5486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Text + number = joining</a:t>
            </a:r>
            <a:endParaRPr lang="en-US" sz="1700" dirty="0"/>
          </a:p>
        </p:txBody>
      </p:sp>
      <p:sp>
        <p:nvSpPr>
          <p:cNvPr id="11" name="Text 7"/>
          <p:cNvSpPr txBox="1"/>
          <p:nvPr/>
        </p:nvSpPr>
        <p:spPr>
          <a:xfrm>
            <a:off x="777240" y="2468880"/>
            <a:ext cx="5120640" cy="457200"/>
          </a:xfrm>
          <a:prstGeom prst="rect">
            <a:avLst/>
          </a:prstGeom>
          <a:noFill/>
          <a:ln/>
        </p:spPr>
        <p:txBody>
          <a:bodyPr wrap="square" lIns="0" tIns="0" rIns="0" bIns="0" rtlCol="0" anchor="ctr"/>
          <a:lstStyle/>
          <a:p>
            <a:pPr indent="0" marL="0">
              <a:buNone/>
            </a:pPr>
            <a:r>
              <a:rPr lang="en-US" sz="1400" b="1" dirty="0">
                <a:solidFill>
                  <a:srgbClr val="14213D"/>
                </a:solidFill>
                <a:latin typeface="Courier New" pitchFamily="34" charset="0"/>
                <a:ea typeface="Courier New" pitchFamily="34" charset="-122"/>
                <a:cs typeface="Courier New" pitchFamily="34" charset="-120"/>
              </a:rPr>
              <a:t>"Total: " + 2 + 3</a:t>
            </a:r>
            <a:pPr indent="0" marL="0">
              <a:buNone/>
            </a:pPr>
            <a:r>
              <a:rPr lang="en-US" sz="1400" dirty="0">
                <a:solidFill>
                  <a:srgbClr val="5B6478"/>
                </a:solidFill>
                <a:latin typeface="Calibri" pitchFamily="34" charset="0"/>
                <a:ea typeface="Calibri" pitchFamily="34" charset="-122"/>
                <a:cs typeface="Calibri" pitchFamily="34" charset="-120"/>
              </a:rPr>
              <a:t>  →  </a:t>
            </a:r>
            <a:pPr indent="0" marL="0">
              <a:buNone/>
            </a:pPr>
            <a:r>
              <a:rPr lang="en-US" sz="1400" b="1" dirty="0">
                <a:solidFill>
                  <a:srgbClr val="C8453B"/>
                </a:solidFill>
                <a:latin typeface="Courier New" pitchFamily="34" charset="0"/>
                <a:ea typeface="Courier New" pitchFamily="34" charset="-122"/>
                <a:cs typeface="Courier New" pitchFamily="34" charset="-120"/>
              </a:rPr>
              <a:t>Total: 23</a:t>
            </a:r>
            <a:endParaRPr lang="en-US" sz="1400" dirty="0"/>
          </a:p>
        </p:txBody>
      </p:sp>
      <p:sp>
        <p:nvSpPr>
          <p:cNvPr id="12" name="Text 8"/>
          <p:cNvSpPr txBox="1"/>
          <p:nvPr/>
        </p:nvSpPr>
        <p:spPr>
          <a:xfrm>
            <a:off x="777240" y="2971800"/>
            <a:ext cx="5120640" cy="594360"/>
          </a:xfrm>
          <a:prstGeom prst="rect">
            <a:avLst/>
          </a:prstGeom>
          <a:noFill/>
          <a:ln/>
        </p:spPr>
        <p:txBody>
          <a:bodyPr wrap="square" lIns="0" tIns="0" rIns="0" bIns="0" rtlCol="0" anchor="t"/>
          <a:lstStyle/>
          <a:p>
            <a:pPr indent="0" marL="0">
              <a:buNone/>
            </a:pPr>
            <a:r>
              <a:rPr lang="en-US" sz="1400" dirty="0">
                <a:solidFill>
                  <a:srgbClr val="1F7A50"/>
                </a:solidFill>
                <a:latin typeface="Calibri" pitchFamily="34" charset="0"/>
                <a:ea typeface="Calibri" pitchFamily="34" charset="-122"/>
                <a:cs typeface="Calibri" pitchFamily="34" charset="-120"/>
              </a:rPr>
              <a:t>Use parentheses: "Total: " + (2 + 3) → Total: 5</a:t>
            </a:r>
            <a:endParaRPr lang="en-US" sz="1400" dirty="0"/>
          </a:p>
        </p:txBody>
      </p:sp>
      <p:sp>
        <p:nvSpPr>
          <p:cNvPr id="13" name="Shape 9"/>
          <p:cNvSpPr/>
          <p:nvPr/>
        </p:nvSpPr>
        <p:spPr>
          <a:xfrm>
            <a:off x="6172200" y="1600200"/>
            <a:ext cx="5486400" cy="2103120"/>
          </a:xfrm>
          <a:prstGeom prst="roundRect">
            <a:avLst>
              <a:gd name="adj" fmla="val 5217"/>
            </a:avLst>
          </a:prstGeom>
          <a:solidFill>
            <a:srgbClr val="EEF1F6"/>
          </a:solidFill>
          <a:ln w="12700">
            <a:solidFill>
              <a:srgbClr val="EEF1F6"/>
            </a:solidFill>
            <a:prstDash val="solid"/>
          </a:ln>
        </p:spPr>
      </p:sp>
      <p:sp>
        <p:nvSpPr>
          <p:cNvPr id="14" name="Shape 10"/>
          <p:cNvSpPr/>
          <p:nvPr/>
        </p:nvSpPr>
        <p:spPr>
          <a:xfrm>
            <a:off x="6355080" y="1783080"/>
            <a:ext cx="548640" cy="548640"/>
          </a:xfrm>
          <a:prstGeom prst="ellipse">
            <a:avLst/>
          </a:prstGeom>
          <a:solidFill>
            <a:srgbClr val="C8453B"/>
          </a:solidFill>
          <a:ln w="12700">
            <a:solidFill>
              <a:srgbClr val="C8453B"/>
            </a:solidFill>
            <a:prstDash val="solid"/>
          </a:ln>
        </p:spPr>
      </p:sp>
      <p:pic>
        <p:nvPicPr>
          <p:cNvPr id="15" name="Image 1" descr="preencoded.png">    </p:cNvPr>
          <p:cNvPicPr>
            <a:picLocks noChangeAspect="1"/>
          </p:cNvPicPr>
          <p:nvPr/>
        </p:nvPicPr>
        <p:blipFill>
          <a:blip r:embed="rId2"/>
          <a:stretch>
            <a:fillRect/>
          </a:stretch>
        </p:blipFill>
        <p:spPr>
          <a:xfrm>
            <a:off x="6497726" y="1925726"/>
            <a:ext cx="263347" cy="263347"/>
          </a:xfrm>
          <a:prstGeom prst="rect">
            <a:avLst/>
          </a:prstGeom>
        </p:spPr>
      </p:pic>
      <p:sp>
        <p:nvSpPr>
          <p:cNvPr id="16" name="Text 11"/>
          <p:cNvSpPr txBox="1"/>
          <p:nvPr/>
        </p:nvSpPr>
        <p:spPr>
          <a:xfrm>
            <a:off x="7040880" y="1783080"/>
            <a:ext cx="4480560" cy="5486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Integer division</a:t>
            </a:r>
            <a:endParaRPr lang="en-US" sz="1700" dirty="0"/>
          </a:p>
        </p:txBody>
      </p:sp>
      <p:sp>
        <p:nvSpPr>
          <p:cNvPr id="17" name="Text 12"/>
          <p:cNvSpPr txBox="1"/>
          <p:nvPr/>
        </p:nvSpPr>
        <p:spPr>
          <a:xfrm>
            <a:off x="6400800" y="2468880"/>
            <a:ext cx="5120640" cy="457200"/>
          </a:xfrm>
          <a:prstGeom prst="rect">
            <a:avLst/>
          </a:prstGeom>
          <a:noFill/>
          <a:ln/>
        </p:spPr>
        <p:txBody>
          <a:bodyPr wrap="square" lIns="0" tIns="0" rIns="0" bIns="0" rtlCol="0" anchor="ctr"/>
          <a:lstStyle/>
          <a:p>
            <a:pPr indent="0" marL="0">
              <a:buNone/>
            </a:pPr>
            <a:r>
              <a:rPr lang="en-US" sz="1400" b="1" dirty="0">
                <a:solidFill>
                  <a:srgbClr val="14213D"/>
                </a:solidFill>
                <a:latin typeface="Courier New" pitchFamily="34" charset="0"/>
                <a:ea typeface="Courier New" pitchFamily="34" charset="-122"/>
                <a:cs typeface="Courier New" pitchFamily="34" charset="-120"/>
              </a:rPr>
              <a:t>9 / 5 * 20 + 32</a:t>
            </a:r>
            <a:pPr indent="0" marL="0">
              <a:buNone/>
            </a:pPr>
            <a:r>
              <a:rPr lang="en-US" sz="1400" dirty="0">
                <a:solidFill>
                  <a:srgbClr val="5B6478"/>
                </a:solidFill>
                <a:latin typeface="Calibri" pitchFamily="34" charset="0"/>
                <a:ea typeface="Calibri" pitchFamily="34" charset="-122"/>
                <a:cs typeface="Calibri" pitchFamily="34" charset="-120"/>
              </a:rPr>
              <a:t>  →  </a:t>
            </a:r>
            <a:pPr indent="0" marL="0">
              <a:buNone/>
            </a:pPr>
            <a:r>
              <a:rPr lang="en-US" sz="1400" b="1" dirty="0">
                <a:solidFill>
                  <a:srgbClr val="C8453B"/>
                </a:solidFill>
                <a:latin typeface="Courier New" pitchFamily="34" charset="0"/>
                <a:ea typeface="Courier New" pitchFamily="34" charset="-122"/>
                <a:cs typeface="Courier New" pitchFamily="34" charset="-120"/>
              </a:rPr>
              <a:t>52</a:t>
            </a:r>
            <a:endParaRPr lang="en-US" sz="1400" dirty="0"/>
          </a:p>
        </p:txBody>
      </p:sp>
      <p:sp>
        <p:nvSpPr>
          <p:cNvPr id="18" name="Text 13"/>
          <p:cNvSpPr txBox="1"/>
          <p:nvPr/>
        </p:nvSpPr>
        <p:spPr>
          <a:xfrm>
            <a:off x="6400800" y="2971800"/>
            <a:ext cx="5120640" cy="594360"/>
          </a:xfrm>
          <a:prstGeom prst="rect">
            <a:avLst/>
          </a:prstGeom>
          <a:noFill/>
          <a:ln/>
        </p:spPr>
        <p:txBody>
          <a:bodyPr wrap="square" lIns="0" tIns="0" rIns="0" bIns="0" rtlCol="0" anchor="t"/>
          <a:lstStyle/>
          <a:p>
            <a:pPr indent="0" marL="0">
              <a:buNone/>
            </a:pPr>
            <a:r>
              <a:rPr lang="en-US" sz="1400" dirty="0">
                <a:solidFill>
                  <a:srgbClr val="1F7A50"/>
                </a:solidFill>
                <a:latin typeface="Calibri" pitchFamily="34" charset="0"/>
                <a:ea typeface="Calibri" pitchFamily="34" charset="-122"/>
                <a:cs typeface="Calibri" pitchFamily="34" charset="-120"/>
              </a:rPr>
              <a:t>Use 9.0 / 5 → 68</a:t>
            </a:r>
            <a:endParaRPr lang="en-US" sz="1400" dirty="0"/>
          </a:p>
        </p:txBody>
      </p:sp>
      <p:sp>
        <p:nvSpPr>
          <p:cNvPr id="19" name="Shape 14"/>
          <p:cNvSpPr/>
          <p:nvPr/>
        </p:nvSpPr>
        <p:spPr>
          <a:xfrm>
            <a:off x="548640" y="3840480"/>
            <a:ext cx="5486400" cy="2103120"/>
          </a:xfrm>
          <a:prstGeom prst="roundRect">
            <a:avLst>
              <a:gd name="adj" fmla="val 5217"/>
            </a:avLst>
          </a:prstGeom>
          <a:solidFill>
            <a:srgbClr val="EEF1F6"/>
          </a:solidFill>
          <a:ln w="12700">
            <a:solidFill>
              <a:srgbClr val="EEF1F6"/>
            </a:solidFill>
            <a:prstDash val="solid"/>
          </a:ln>
        </p:spPr>
      </p:sp>
      <p:sp>
        <p:nvSpPr>
          <p:cNvPr id="20" name="Shape 15"/>
          <p:cNvSpPr/>
          <p:nvPr/>
        </p:nvSpPr>
        <p:spPr>
          <a:xfrm>
            <a:off x="731520" y="4023360"/>
            <a:ext cx="548640" cy="548640"/>
          </a:xfrm>
          <a:prstGeom prst="ellipse">
            <a:avLst/>
          </a:prstGeom>
          <a:solidFill>
            <a:srgbClr val="C8453B"/>
          </a:solidFill>
          <a:ln w="12700">
            <a:solidFill>
              <a:srgbClr val="C8453B"/>
            </a:solidFill>
            <a:prstDash val="solid"/>
          </a:ln>
        </p:spPr>
      </p:sp>
      <p:pic>
        <p:nvPicPr>
          <p:cNvPr id="21" name="Image 2" descr="preencoded.png">    </p:cNvPr>
          <p:cNvPicPr>
            <a:picLocks noChangeAspect="1"/>
          </p:cNvPicPr>
          <p:nvPr/>
        </p:nvPicPr>
        <p:blipFill>
          <a:blip r:embed="rId3"/>
          <a:stretch>
            <a:fillRect/>
          </a:stretch>
        </p:blipFill>
        <p:spPr>
          <a:xfrm>
            <a:off x="874166" y="4166006"/>
            <a:ext cx="263347" cy="263347"/>
          </a:xfrm>
          <a:prstGeom prst="rect">
            <a:avLst/>
          </a:prstGeom>
        </p:spPr>
      </p:pic>
      <p:sp>
        <p:nvSpPr>
          <p:cNvPr id="22" name="Text 16"/>
          <p:cNvSpPr txBox="1"/>
          <p:nvPr/>
        </p:nvSpPr>
        <p:spPr>
          <a:xfrm>
            <a:off x="1417320" y="4023360"/>
            <a:ext cx="4480560" cy="5486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Comma instead of point</a:t>
            </a:r>
            <a:endParaRPr lang="en-US" sz="1700" dirty="0"/>
          </a:p>
        </p:txBody>
      </p:sp>
      <p:sp>
        <p:nvSpPr>
          <p:cNvPr id="23" name="Text 17"/>
          <p:cNvSpPr txBox="1"/>
          <p:nvPr/>
        </p:nvSpPr>
        <p:spPr>
          <a:xfrm>
            <a:off x="777240" y="4709160"/>
            <a:ext cx="5120640" cy="457200"/>
          </a:xfrm>
          <a:prstGeom prst="rect">
            <a:avLst/>
          </a:prstGeom>
          <a:noFill/>
          <a:ln/>
        </p:spPr>
        <p:txBody>
          <a:bodyPr wrap="square" lIns="0" tIns="0" rIns="0" bIns="0" rtlCol="0" anchor="ctr"/>
          <a:lstStyle/>
          <a:p>
            <a:pPr indent="0" marL="0">
              <a:buNone/>
            </a:pPr>
            <a:r>
              <a:rPr lang="en-US" sz="1400" b="1" dirty="0">
                <a:solidFill>
                  <a:srgbClr val="14213D"/>
                </a:solidFill>
                <a:latin typeface="Courier New" pitchFamily="34" charset="0"/>
                <a:ea typeface="Courier New" pitchFamily="34" charset="-122"/>
                <a:cs typeface="Courier New" pitchFamily="34" charset="-120"/>
              </a:rPr>
              <a:t>double.Parse("72,5")</a:t>
            </a:r>
            <a:pPr indent="0" marL="0">
              <a:buNone/>
            </a:pPr>
            <a:r>
              <a:rPr lang="en-US" sz="1400" dirty="0">
                <a:solidFill>
                  <a:srgbClr val="5B6478"/>
                </a:solidFill>
                <a:latin typeface="Calibri" pitchFamily="34" charset="0"/>
                <a:ea typeface="Calibri" pitchFamily="34" charset="-122"/>
                <a:cs typeface="Calibri" pitchFamily="34" charset="-120"/>
              </a:rPr>
              <a:t>  →  </a:t>
            </a:r>
            <a:pPr indent="0" marL="0">
              <a:buNone/>
            </a:pPr>
            <a:r>
              <a:rPr lang="en-US" sz="1400" b="1" dirty="0">
                <a:solidFill>
                  <a:srgbClr val="C8453B"/>
                </a:solidFill>
                <a:latin typeface="Courier New" pitchFamily="34" charset="0"/>
                <a:ea typeface="Courier New" pitchFamily="34" charset="-122"/>
                <a:cs typeface="Courier New" pitchFamily="34" charset="-120"/>
              </a:rPr>
              <a:t>725</a:t>
            </a:r>
            <a:endParaRPr lang="en-US" sz="1400" dirty="0"/>
          </a:p>
        </p:txBody>
      </p:sp>
      <p:sp>
        <p:nvSpPr>
          <p:cNvPr id="24" name="Text 18"/>
          <p:cNvSpPr txBox="1"/>
          <p:nvPr/>
        </p:nvSpPr>
        <p:spPr>
          <a:xfrm>
            <a:off x="777240" y="5212080"/>
            <a:ext cx="5120640" cy="594360"/>
          </a:xfrm>
          <a:prstGeom prst="rect">
            <a:avLst/>
          </a:prstGeom>
          <a:noFill/>
          <a:ln/>
        </p:spPr>
        <p:txBody>
          <a:bodyPr wrap="square" lIns="0" tIns="0" rIns="0" bIns="0" rtlCol="0" anchor="t"/>
          <a:lstStyle/>
          <a:p>
            <a:pPr indent="0" marL="0">
              <a:buNone/>
            </a:pPr>
            <a:r>
              <a:rPr lang="en-US" sz="1400" dirty="0">
                <a:solidFill>
                  <a:srgbClr val="1F7A50"/>
                </a:solidFill>
                <a:latin typeface="Calibri" pitchFamily="34" charset="0"/>
                <a:ea typeface="Calibri" pitchFamily="34" charset="-122"/>
                <a:cs typeface="Calibri" pitchFamily="34" charset="-120"/>
              </a:rPr>
              <a:t>Type 72.5 (course rule)</a:t>
            </a:r>
            <a:endParaRPr lang="en-US" sz="1400" dirty="0"/>
          </a:p>
        </p:txBody>
      </p:sp>
      <p:sp>
        <p:nvSpPr>
          <p:cNvPr id="25" name="Shape 19"/>
          <p:cNvSpPr/>
          <p:nvPr/>
        </p:nvSpPr>
        <p:spPr>
          <a:xfrm>
            <a:off x="6172200" y="3840480"/>
            <a:ext cx="5486400" cy="2103120"/>
          </a:xfrm>
          <a:prstGeom prst="roundRect">
            <a:avLst>
              <a:gd name="adj" fmla="val 5217"/>
            </a:avLst>
          </a:prstGeom>
          <a:solidFill>
            <a:srgbClr val="EEF1F6"/>
          </a:solidFill>
          <a:ln w="12700">
            <a:solidFill>
              <a:srgbClr val="EEF1F6"/>
            </a:solidFill>
            <a:prstDash val="solid"/>
          </a:ln>
        </p:spPr>
      </p:sp>
      <p:sp>
        <p:nvSpPr>
          <p:cNvPr id="26" name="Shape 20"/>
          <p:cNvSpPr/>
          <p:nvPr/>
        </p:nvSpPr>
        <p:spPr>
          <a:xfrm>
            <a:off x="6355080" y="4023360"/>
            <a:ext cx="548640" cy="548640"/>
          </a:xfrm>
          <a:prstGeom prst="ellipse">
            <a:avLst/>
          </a:prstGeom>
          <a:solidFill>
            <a:srgbClr val="C8453B"/>
          </a:solidFill>
          <a:ln w="12700">
            <a:solidFill>
              <a:srgbClr val="C8453B"/>
            </a:solidFill>
            <a:prstDash val="solid"/>
          </a:ln>
        </p:spPr>
      </p:sp>
      <p:pic>
        <p:nvPicPr>
          <p:cNvPr id="27" name="Image 3" descr="preencoded.png">    </p:cNvPr>
          <p:cNvPicPr>
            <a:picLocks noChangeAspect="1"/>
          </p:cNvPicPr>
          <p:nvPr/>
        </p:nvPicPr>
        <p:blipFill>
          <a:blip r:embed="rId4"/>
          <a:stretch>
            <a:fillRect/>
          </a:stretch>
        </p:blipFill>
        <p:spPr>
          <a:xfrm>
            <a:off x="6497726" y="4166006"/>
            <a:ext cx="263347" cy="263347"/>
          </a:xfrm>
          <a:prstGeom prst="rect">
            <a:avLst/>
          </a:prstGeom>
        </p:spPr>
      </p:pic>
      <p:sp>
        <p:nvSpPr>
          <p:cNvPr id="28" name="Text 21"/>
          <p:cNvSpPr txBox="1"/>
          <p:nvPr/>
        </p:nvSpPr>
        <p:spPr>
          <a:xfrm>
            <a:off x="7040880" y="4023360"/>
            <a:ext cx="4480560" cy="5486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Overflow wraps around</a:t>
            </a:r>
            <a:endParaRPr lang="en-US" sz="1700" dirty="0"/>
          </a:p>
        </p:txBody>
      </p:sp>
      <p:sp>
        <p:nvSpPr>
          <p:cNvPr id="29" name="Text 22"/>
          <p:cNvSpPr txBox="1"/>
          <p:nvPr/>
        </p:nvSpPr>
        <p:spPr>
          <a:xfrm>
            <a:off x="6400800" y="4709160"/>
            <a:ext cx="5120640" cy="457200"/>
          </a:xfrm>
          <a:prstGeom prst="rect">
            <a:avLst/>
          </a:prstGeom>
          <a:noFill/>
          <a:ln/>
        </p:spPr>
        <p:txBody>
          <a:bodyPr wrap="square" lIns="0" tIns="0" rIns="0" bIns="0" rtlCol="0" anchor="ctr"/>
          <a:lstStyle/>
          <a:p>
            <a:pPr indent="0" marL="0">
              <a:buNone/>
            </a:pPr>
            <a:r>
              <a:rPr lang="en-US" sz="1400" b="1" dirty="0">
                <a:solidFill>
                  <a:srgbClr val="14213D"/>
                </a:solidFill>
                <a:latin typeface="Courier New" pitchFamily="34" charset="0"/>
                <a:ea typeface="Courier New" pitchFamily="34" charset="-122"/>
                <a:cs typeface="Courier New" pitchFamily="34" charset="-120"/>
              </a:rPr>
              <a:t>int.MaxValue + 1  (variable)</a:t>
            </a:r>
            <a:pPr indent="0" marL="0">
              <a:buNone/>
            </a:pPr>
            <a:r>
              <a:rPr lang="en-US" sz="1400" dirty="0">
                <a:solidFill>
                  <a:srgbClr val="5B6478"/>
                </a:solidFill>
                <a:latin typeface="Calibri" pitchFamily="34" charset="0"/>
                <a:ea typeface="Calibri" pitchFamily="34" charset="-122"/>
                <a:cs typeface="Calibri" pitchFamily="34" charset="-120"/>
              </a:rPr>
              <a:t>  →  </a:t>
            </a:r>
            <a:pPr indent="0" marL="0">
              <a:buNone/>
            </a:pPr>
            <a:r>
              <a:rPr lang="en-US" sz="1400" b="1" dirty="0">
                <a:solidFill>
                  <a:srgbClr val="C8453B"/>
                </a:solidFill>
                <a:latin typeface="Courier New" pitchFamily="34" charset="0"/>
                <a:ea typeface="Courier New" pitchFamily="34" charset="-122"/>
                <a:cs typeface="Courier New" pitchFamily="34" charset="-120"/>
              </a:rPr>
              <a:t>-2147483648</a:t>
            </a:r>
            <a:endParaRPr lang="en-US" sz="1400" dirty="0"/>
          </a:p>
        </p:txBody>
      </p:sp>
      <p:sp>
        <p:nvSpPr>
          <p:cNvPr id="30" name="Text 23"/>
          <p:cNvSpPr txBox="1"/>
          <p:nvPr/>
        </p:nvSpPr>
        <p:spPr>
          <a:xfrm>
            <a:off x="6400800" y="5212080"/>
            <a:ext cx="5120640" cy="594360"/>
          </a:xfrm>
          <a:prstGeom prst="rect">
            <a:avLst/>
          </a:prstGeom>
          <a:noFill/>
          <a:ln/>
        </p:spPr>
        <p:txBody>
          <a:bodyPr wrap="square" lIns="0" tIns="0" rIns="0" bIns="0" rtlCol="0" anchor="t"/>
          <a:lstStyle/>
          <a:p>
            <a:pPr indent="0" marL="0">
              <a:buNone/>
            </a:pPr>
            <a:r>
              <a:rPr lang="en-US" sz="1400" dirty="0">
                <a:solidFill>
                  <a:srgbClr val="1F7A50"/>
                </a:solidFill>
                <a:latin typeface="Calibri" pitchFamily="34" charset="0"/>
                <a:ea typeface="Calibri" pitchFamily="34" charset="-122"/>
                <a:cs typeface="Calibri" pitchFamily="34" charset="-120"/>
              </a:rPr>
              <a:t>Use long or checked(…)</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 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1: What Does This Program Print?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38</a:t>
            </a:r>
            <a:endParaRPr lang="en-US" sz="1000" dirty="0"/>
          </a:p>
        </p:txBody>
      </p:sp>
      <p:sp>
        <p:nvSpPr>
          <p:cNvPr id="7" name="Shape 4"/>
          <p:cNvSpPr/>
          <p:nvPr/>
        </p:nvSpPr>
        <p:spPr>
          <a:xfrm>
            <a:off x="548640" y="1600200"/>
            <a:ext cx="6675120" cy="4343400"/>
          </a:xfrm>
          <a:prstGeom prst="roundRect">
            <a:avLst>
              <a:gd name="adj" fmla="val 2105"/>
            </a:avLst>
          </a:prstGeom>
          <a:solidFill>
            <a:srgbClr val="0F1729"/>
          </a:solidFill>
          <a:ln w="12700">
            <a:solidFill>
              <a:srgbClr val="0F1729"/>
            </a:solidFill>
            <a:prstDash val="solid"/>
          </a:ln>
        </p:spPr>
      </p:sp>
      <p:sp>
        <p:nvSpPr>
          <p:cNvPr id="8" name="Text 5"/>
          <p:cNvSpPr txBox="1"/>
          <p:nvPr/>
        </p:nvSpPr>
        <p:spPr>
          <a:xfrm>
            <a:off x="777240" y="170992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Predict all six lines</a:t>
            </a:r>
            <a:endParaRPr lang="en-US" sz="1100" dirty="0"/>
          </a:p>
        </p:txBody>
      </p:sp>
      <p:sp>
        <p:nvSpPr>
          <p:cNvPr id="9" name="Text 6"/>
          <p:cNvSpPr txBox="1"/>
          <p:nvPr/>
        </p:nvSpPr>
        <p:spPr>
          <a:xfrm>
            <a:off x="777240" y="2011680"/>
            <a:ext cx="6217920" cy="3822192"/>
          </a:xfrm>
          <a:prstGeom prst="rect">
            <a:avLst/>
          </a:prstGeom>
          <a:noFill/>
          <a:ln/>
        </p:spPr>
        <p:txBody>
          <a:bodyPr wrap="square" lIns="0" tIns="0" rIns="0" bIns="0" rtlCol="0" anchor="t"/>
          <a:lstStyle/>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b = a;</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500" dirty="0">
                <a:solidFill>
                  <a:srgbClr val="CE9178"/>
                </a:solidFill>
                <a:latin typeface="Courier New" pitchFamily="34" charset="0"/>
                <a:ea typeface="Courier New" pitchFamily="34" charset="-122"/>
                <a:cs typeface="Courier New" pitchFamily="34" charset="-120"/>
              </a:rPr>
              <a:t>$"{a} {b}"</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F8BA3"/>
                </a:solidFill>
                <a:latin typeface="Courier New" pitchFamily="34" charset="0"/>
                <a:ea typeface="Courier New" pitchFamily="34" charset="-122"/>
                <a:cs typeface="Courier New" pitchFamily="34" charset="-120"/>
              </a:rPr>
              <a:t>// (1)</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F8BA3"/>
                </a:solidFill>
                <a:latin typeface="Courier New" pitchFamily="34" charset="0"/>
                <a:ea typeface="Courier New" pitchFamily="34" charset="-122"/>
                <a:cs typeface="Courier New" pitchFamily="34" charset="-120"/>
              </a:rPr>
              <a:t>// (2)</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2.0</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F8BA3"/>
                </a:solidFill>
                <a:latin typeface="Courier New" pitchFamily="34" charset="0"/>
                <a:ea typeface="Courier New" pitchFamily="34" charset="-122"/>
                <a:cs typeface="Courier New" pitchFamily="34" charset="-120"/>
              </a:rPr>
              <a:t>// (3)</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500" dirty="0">
                <a:solidFill>
                  <a:srgbClr val="CE9178"/>
                </a:solidFill>
                <a:latin typeface="Courier New" pitchFamily="34" charset="0"/>
                <a:ea typeface="Courier New" pitchFamily="34" charset="-122"/>
                <a:cs typeface="Courier New" pitchFamily="34" charset="-120"/>
              </a:rPr>
              <a:t>"5"</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F8BA3"/>
                </a:solidFill>
                <a:latin typeface="Courier New" pitchFamily="34" charset="0"/>
                <a:ea typeface="Courier New" pitchFamily="34" charset="-122"/>
                <a:cs typeface="Courier New" pitchFamily="34" charset="-120"/>
              </a:rPr>
              <a:t>// (4)</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500" dirty="0">
                <a:solidFill>
                  <a:srgbClr val="CE9178"/>
                </a:solidFill>
                <a:latin typeface="Courier New" pitchFamily="34" charset="0"/>
                <a:ea typeface="Courier New" pitchFamily="34" charset="-122"/>
                <a:cs typeface="Courier New" pitchFamily="34" charset="-120"/>
              </a:rPr>
              <a:t>"3"</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F8BA3"/>
                </a:solidFill>
                <a:latin typeface="Courier New" pitchFamily="34" charset="0"/>
                <a:ea typeface="Courier New" pitchFamily="34" charset="-122"/>
                <a:cs typeface="Courier New" pitchFamily="34" charset="-120"/>
              </a:rPr>
              <a:t>// (5)</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9.99</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F8BA3"/>
                </a:solidFill>
                <a:latin typeface="Courier New" pitchFamily="34" charset="0"/>
                <a:ea typeface="Courier New" pitchFamily="34" charset="-122"/>
                <a:cs typeface="Courier New" pitchFamily="34" charset="-120"/>
              </a:rPr>
              <a:t>// (6)</a:t>
            </a:r>
            <a:endParaRPr lang="en-US" sz="1500" dirty="0"/>
          </a:p>
        </p:txBody>
      </p:sp>
      <p:sp>
        <p:nvSpPr>
          <p:cNvPr id="10" name="Shape 7"/>
          <p:cNvSpPr/>
          <p:nvPr/>
        </p:nvSpPr>
        <p:spPr>
          <a:xfrm>
            <a:off x="7406640" y="1600200"/>
            <a:ext cx="4251960" cy="2103120"/>
          </a:xfrm>
          <a:prstGeom prst="roundRect">
            <a:avLst>
              <a:gd name="adj" fmla="val 5217"/>
            </a:avLst>
          </a:prstGeom>
          <a:solidFill>
            <a:srgbClr val="EEF1F6"/>
          </a:solidFill>
          <a:ln w="12700">
            <a:solidFill>
              <a:srgbClr val="EEF1F6"/>
            </a:solidFill>
            <a:prstDash val="solid"/>
          </a:ln>
        </p:spPr>
      </p:sp>
      <p:sp>
        <p:nvSpPr>
          <p:cNvPr id="11" name="Shape 8"/>
          <p:cNvSpPr/>
          <p:nvPr/>
        </p:nvSpPr>
        <p:spPr>
          <a:xfrm>
            <a:off x="7635240" y="1828800"/>
            <a:ext cx="566928" cy="566928"/>
          </a:xfrm>
          <a:prstGeom prst="ellipse">
            <a:avLst/>
          </a:prstGeom>
          <a:solidFill>
            <a:srgbClr val="14213D"/>
          </a:solidFill>
          <a:ln w="12700">
            <a:solidFill>
              <a:srgbClr val="14213D"/>
            </a:solidFill>
            <a:prstDash val="solid"/>
          </a:ln>
        </p:spPr>
      </p:sp>
      <p:pic>
        <p:nvPicPr>
          <p:cNvPr id="12" name="Image 0" descr="preencoded.png">    </p:cNvPr>
          <p:cNvPicPr>
            <a:picLocks noChangeAspect="1"/>
          </p:cNvPicPr>
          <p:nvPr/>
        </p:nvPicPr>
        <p:blipFill>
          <a:blip r:embed="rId1"/>
          <a:stretch>
            <a:fillRect/>
          </a:stretch>
        </p:blipFill>
        <p:spPr>
          <a:xfrm>
            <a:off x="7782641" y="1976201"/>
            <a:ext cx="272125" cy="272125"/>
          </a:xfrm>
          <a:prstGeom prst="rect">
            <a:avLst/>
          </a:prstGeom>
        </p:spPr>
      </p:pic>
      <p:sp>
        <p:nvSpPr>
          <p:cNvPr id="13" name="Text 9"/>
          <p:cNvSpPr txBox="1"/>
          <p:nvPr/>
        </p:nvSpPr>
        <p:spPr>
          <a:xfrm>
            <a:off x="8321040" y="1828800"/>
            <a:ext cx="31546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Rules</a:t>
            </a:r>
            <a:endParaRPr lang="en-US" sz="1700" dirty="0"/>
          </a:p>
        </p:txBody>
      </p:sp>
      <p:sp>
        <p:nvSpPr>
          <p:cNvPr id="14" name="Text 10"/>
          <p:cNvSpPr txBox="1"/>
          <p:nvPr/>
        </p:nvSpPr>
        <p:spPr>
          <a:xfrm>
            <a:off x="7635240" y="2514600"/>
            <a:ext cx="37947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Work alone, on paper, 3 minutes. No computer!</a:t>
            </a:r>
            <a:endParaRPr lang="en-US" sz="1500" dirty="0"/>
          </a:p>
        </p:txBody>
      </p:sp>
      <p:sp>
        <p:nvSpPr>
          <p:cNvPr id="15" name="Shape 11"/>
          <p:cNvSpPr/>
          <p:nvPr/>
        </p:nvSpPr>
        <p:spPr>
          <a:xfrm>
            <a:off x="7406640" y="3840480"/>
            <a:ext cx="4251960" cy="2103120"/>
          </a:xfrm>
          <a:prstGeom prst="roundRect">
            <a:avLst>
              <a:gd name="adj" fmla="val 5217"/>
            </a:avLst>
          </a:prstGeom>
          <a:solidFill>
            <a:srgbClr val="EEF1F6"/>
          </a:solidFill>
          <a:ln w="12700">
            <a:solidFill>
              <a:srgbClr val="EEF1F6"/>
            </a:solidFill>
            <a:prstDash val="solid"/>
          </a:ln>
        </p:spPr>
      </p:sp>
      <p:sp>
        <p:nvSpPr>
          <p:cNvPr id="16" name="Shape 12"/>
          <p:cNvSpPr/>
          <p:nvPr/>
        </p:nvSpPr>
        <p:spPr>
          <a:xfrm>
            <a:off x="7635240" y="4069080"/>
            <a:ext cx="566928" cy="566928"/>
          </a:xfrm>
          <a:prstGeom prst="ellipse">
            <a:avLst/>
          </a:prstGeom>
          <a:solidFill>
            <a:srgbClr val="B7791F"/>
          </a:solidFill>
          <a:ln w="12700">
            <a:solidFill>
              <a:srgbClr val="B7791F"/>
            </a:solidFill>
            <a:prstDash val="solid"/>
          </a:ln>
        </p:spPr>
      </p:sp>
      <p:pic>
        <p:nvPicPr>
          <p:cNvPr id="17" name="Image 1" descr="preencoded.png">    </p:cNvPr>
          <p:cNvPicPr>
            <a:picLocks noChangeAspect="1"/>
          </p:cNvPicPr>
          <p:nvPr/>
        </p:nvPicPr>
        <p:blipFill>
          <a:blip r:embed="rId2"/>
          <a:stretch>
            <a:fillRect/>
          </a:stretch>
        </p:blipFill>
        <p:spPr>
          <a:xfrm>
            <a:off x="7782641" y="4216481"/>
            <a:ext cx="272125" cy="272125"/>
          </a:xfrm>
          <a:prstGeom prst="rect">
            <a:avLst/>
          </a:prstGeom>
        </p:spPr>
      </p:pic>
      <p:sp>
        <p:nvSpPr>
          <p:cNvPr id="18" name="Text 13"/>
          <p:cNvSpPr txBox="1"/>
          <p:nvPr/>
        </p:nvSpPr>
        <p:spPr>
          <a:xfrm>
            <a:off x="8321040" y="4069080"/>
            <a:ext cx="31546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Hint</a:t>
            </a:r>
            <a:endParaRPr lang="en-US" sz="1700" dirty="0"/>
          </a:p>
        </p:txBody>
      </p:sp>
      <p:sp>
        <p:nvSpPr>
          <p:cNvPr id="19" name="Text 14"/>
          <p:cNvSpPr txBox="1"/>
          <p:nvPr/>
        </p:nvSpPr>
        <p:spPr>
          <a:xfrm>
            <a:off x="7635240" y="4754880"/>
            <a:ext cx="37947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Ask for every line: which TYPES are involved — int, double or string?</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1: Answers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39</a:t>
            </a:r>
            <a:endParaRPr lang="en-US" sz="1000" dirty="0"/>
          </a:p>
        </p:txBody>
      </p:sp>
      <p:sp>
        <p:nvSpPr>
          <p:cNvPr id="7" name="Shape 4"/>
          <p:cNvSpPr/>
          <p:nvPr/>
        </p:nvSpPr>
        <p:spPr>
          <a:xfrm>
            <a:off x="548640" y="1600200"/>
            <a:ext cx="3840480" cy="4343400"/>
          </a:xfrm>
          <a:prstGeom prst="roundRect">
            <a:avLst>
              <a:gd name="adj" fmla="val 2381"/>
            </a:avLst>
          </a:prstGeom>
          <a:solidFill>
            <a:srgbClr val="0B0F19"/>
          </a:solidFill>
          <a:ln w="12700">
            <a:solidFill>
              <a:srgbClr val="2A3654"/>
            </a:solidFill>
            <a:prstDash val="solid"/>
          </a:ln>
        </p:spPr>
      </p:sp>
      <p:sp>
        <p:nvSpPr>
          <p:cNvPr id="8" name="Shape 5"/>
          <p:cNvSpPr/>
          <p:nvPr/>
        </p:nvSpPr>
        <p:spPr>
          <a:xfrm>
            <a:off x="731520" y="172821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2821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2821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673352"/>
            <a:ext cx="27432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Real output</a:t>
            </a:r>
            <a:endParaRPr lang="en-US" sz="1000" dirty="0"/>
          </a:p>
        </p:txBody>
      </p:sp>
      <p:sp>
        <p:nvSpPr>
          <p:cNvPr id="12" name="Text 9"/>
          <p:cNvSpPr txBox="1"/>
          <p:nvPr/>
        </p:nvSpPr>
        <p:spPr>
          <a:xfrm>
            <a:off x="777240" y="1984248"/>
            <a:ext cx="3383280" cy="3840480"/>
          </a:xfrm>
          <a:prstGeom prst="rect">
            <a:avLst/>
          </a:prstGeom>
          <a:noFill/>
          <a:ln/>
        </p:spPr>
        <p:txBody>
          <a:bodyPr wrap="square" lIns="0" tIns="0" rIns="0" bIns="0" rtlCol="0" anchor="t"/>
          <a:lstStyle/>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10 7</a:t>
            </a:r>
            <a:endParaRPr lang="en-US" sz="2000" dirty="0"/>
          </a:p>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2</a:t>
            </a:r>
            <a:endParaRPr lang="en-US" sz="2000" dirty="0"/>
          </a:p>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2.5</a:t>
            </a:r>
            <a:endParaRPr lang="en-US" sz="2000" dirty="0"/>
          </a:p>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52</a:t>
            </a:r>
            <a:endParaRPr lang="en-US" sz="2000" dirty="0"/>
          </a:p>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33</a:t>
            </a:r>
            <a:endParaRPr lang="en-US" sz="2000" dirty="0"/>
          </a:p>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9</a:t>
            </a:r>
            <a:endParaRPr lang="en-US" sz="2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0" y="1600200"/>
          <a:ext cx="7086600" cy="914400"/>
        </p:xfrm>
        <a:graphic>
          <a:graphicData uri="http://schemas.openxmlformats.org/drawingml/2006/table">
            <a:tbl>
              <a:tblPr/>
              <a:tblGrid>
                <a:gridCol w="548640"/>
                <a:gridCol w="6537960"/>
              </a:tblGrid>
              <a:tr h="603504">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603504">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b = a copies the VALUE 7; later a = 10 does not affect b</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603504">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int / int → int: 2 (fraction dropped)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603504">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one operand is double → 2.5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603504">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string + number → text is joined: "52"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603504">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left to right: 1 + 2 = 3, then 3 + "3" = "33"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603504">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cast truncates: (int)9.99 = 9</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 FIND THE BUGS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2: Find All the Bugs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40</a:t>
            </a:r>
            <a:endParaRPr lang="en-US" sz="1000" dirty="0"/>
          </a:p>
        </p:txBody>
      </p:sp>
      <p:sp>
        <p:nvSpPr>
          <p:cNvPr id="7" name="Shape 4"/>
          <p:cNvSpPr/>
          <p:nvPr/>
        </p:nvSpPr>
        <p:spPr>
          <a:xfrm>
            <a:off x="548640" y="1600200"/>
            <a:ext cx="6949440" cy="2743200"/>
          </a:xfrm>
          <a:prstGeom prst="roundRect">
            <a:avLst>
              <a:gd name="adj" fmla="val 3333"/>
            </a:avLst>
          </a:prstGeom>
          <a:solidFill>
            <a:srgbClr val="0F1729"/>
          </a:solidFill>
          <a:ln w="12700">
            <a:solidFill>
              <a:srgbClr val="0F1729"/>
            </a:solidFill>
            <a:prstDash val="solid"/>
          </a:ln>
        </p:spPr>
      </p:sp>
      <p:sp>
        <p:nvSpPr>
          <p:cNvPr id="8" name="Text 5"/>
          <p:cNvSpPr txBox="1"/>
          <p:nvPr/>
        </p:nvSpPr>
        <p:spPr>
          <a:xfrm>
            <a:off x="777240" y="1709928"/>
            <a:ext cx="6492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buggy.cs</a:t>
            </a:r>
            <a:endParaRPr lang="en-US" sz="1100" dirty="0"/>
          </a:p>
        </p:txBody>
      </p:sp>
      <p:sp>
        <p:nvSpPr>
          <p:cNvPr id="9" name="Text 6"/>
          <p:cNvSpPr txBox="1"/>
          <p:nvPr/>
        </p:nvSpPr>
        <p:spPr>
          <a:xfrm>
            <a:off x="777240" y="2011680"/>
            <a:ext cx="6492240" cy="2221992"/>
          </a:xfrm>
          <a:prstGeom prst="rect">
            <a:avLst/>
          </a:prstGeom>
          <a:noFill/>
          <a:ln/>
        </p:spPr>
        <p:txBody>
          <a:bodyPr wrap="square" lIns="0" tIns="0" rIns="0" bIns="0" rtlCol="0" anchor="t"/>
          <a:lstStyle/>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1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500" dirty="0">
                <a:solidFill>
                  <a:srgbClr val="CE9178"/>
                </a:solidFill>
                <a:latin typeface="Courier New" pitchFamily="34" charset="0"/>
                <a:ea typeface="Courier New" pitchFamily="34" charset="-122"/>
                <a:cs typeface="Courier New" pitchFamily="34" charset="-120"/>
              </a:rPr>
              <a:t>"Price per kg: "</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2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price =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.ReadLine();</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3  </a:t>
            </a:r>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Vat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0.20</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4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quantity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2.5</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5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Total = price * quantity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 vat);</a:t>
            </a:r>
            <a:endParaRPr lang="en-US" sz="1500" dirty="0"/>
          </a:p>
          <a:p>
            <a:pPr indent="0" marL="0">
              <a:spcAft>
                <a:spcPts val="100"/>
              </a:spcAft>
              <a:buNone/>
            </a:pPr>
            <a:r>
              <a:rPr lang="en-US" sz="1500" dirty="0">
                <a:solidFill>
                  <a:srgbClr val="5A6680"/>
                </a:solidFill>
                <a:latin typeface="Courier New" pitchFamily="34" charset="0"/>
                <a:ea typeface="Courier New" pitchFamily="34" charset="-122"/>
                <a:cs typeface="Courier New" pitchFamily="34" charset="-120"/>
              </a:rPr>
              <a:t> 6  </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console.WriteLine(total);</a:t>
            </a:r>
            <a:endParaRPr lang="en-US" sz="1500" dirty="0"/>
          </a:p>
        </p:txBody>
      </p:sp>
      <p:sp>
        <p:nvSpPr>
          <p:cNvPr id="10" name="Shape 7"/>
          <p:cNvSpPr/>
          <p:nvPr/>
        </p:nvSpPr>
        <p:spPr>
          <a:xfrm>
            <a:off x="548640" y="4526280"/>
            <a:ext cx="6949440" cy="1417320"/>
          </a:xfrm>
          <a:prstGeom prst="roundRect">
            <a:avLst>
              <a:gd name="adj" fmla="val 7742"/>
            </a:avLst>
          </a:prstGeom>
          <a:solidFill>
            <a:srgbClr val="FFF6E3"/>
          </a:solidFill>
          <a:ln w="12700">
            <a:solidFill>
              <a:srgbClr val="FFF6E3"/>
            </a:solidFill>
            <a:prstDash val="solid"/>
          </a:ln>
        </p:spPr>
      </p:sp>
      <p:pic>
        <p:nvPicPr>
          <p:cNvPr id="11" name="Image 0" descr="preencoded.png">    </p:cNvPr>
          <p:cNvPicPr>
            <a:picLocks noChangeAspect="1"/>
          </p:cNvPicPr>
          <p:nvPr/>
        </p:nvPicPr>
        <p:blipFill>
          <a:blip r:embed="rId1"/>
          <a:stretch>
            <a:fillRect/>
          </a:stretch>
        </p:blipFill>
        <p:spPr>
          <a:xfrm>
            <a:off x="822960" y="4960620"/>
            <a:ext cx="548640" cy="548640"/>
          </a:xfrm>
          <a:prstGeom prst="rect">
            <a:avLst/>
          </a:prstGeom>
        </p:spPr>
      </p:pic>
      <p:sp>
        <p:nvSpPr>
          <p:cNvPr id="12" name="Text 8"/>
          <p:cNvSpPr txBox="1"/>
          <p:nvPr/>
        </p:nvSpPr>
        <p:spPr>
          <a:xfrm>
            <a:off x="1645920" y="4599432"/>
            <a:ext cx="5577840" cy="127101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Goal: </a:t>
            </a:r>
            <a:pPr indent="0" marL="0">
              <a:buNone/>
            </a:pPr>
            <a:r>
              <a:rPr lang="en-US" sz="1500" dirty="0">
                <a:solidFill>
                  <a:srgbClr val="333B4F"/>
                </a:solidFill>
                <a:latin typeface="Calibri" pitchFamily="34" charset="0"/>
                <a:ea typeface="Calibri" pitchFamily="34" charset="-122"/>
                <a:cs typeface="Calibri" pitchFamily="34" charset="-120"/>
              </a:rPr>
              <a:t>read the price per kg, buy 2.5 kg, add 20 % KDV, print the total. Find all seven errors on the six lines.</a:t>
            </a:r>
            <a:endParaRPr lang="en-US" sz="1500" dirty="0"/>
          </a:p>
        </p:txBody>
      </p:sp>
      <p:sp>
        <p:nvSpPr>
          <p:cNvPr id="13" name="Shape 9"/>
          <p:cNvSpPr/>
          <p:nvPr/>
        </p:nvSpPr>
        <p:spPr>
          <a:xfrm>
            <a:off x="7726680" y="1600200"/>
            <a:ext cx="3931920" cy="4343400"/>
          </a:xfrm>
          <a:prstGeom prst="roundRect">
            <a:avLst>
              <a:gd name="adj" fmla="val 2791"/>
            </a:avLst>
          </a:prstGeom>
          <a:solidFill>
            <a:srgbClr val="EEF1F6"/>
          </a:solidFill>
          <a:ln w="12700">
            <a:solidFill>
              <a:srgbClr val="EEF1F6"/>
            </a:solidFill>
            <a:prstDash val="solid"/>
          </a:ln>
        </p:spPr>
      </p:sp>
      <p:sp>
        <p:nvSpPr>
          <p:cNvPr id="14" name="Shape 10"/>
          <p:cNvSpPr/>
          <p:nvPr/>
        </p:nvSpPr>
        <p:spPr>
          <a:xfrm>
            <a:off x="7955280" y="1828800"/>
            <a:ext cx="566928" cy="566928"/>
          </a:xfrm>
          <a:prstGeom prst="ellipse">
            <a:avLst/>
          </a:prstGeom>
          <a:solidFill>
            <a:srgbClr val="14213D"/>
          </a:solidFill>
          <a:ln w="12700">
            <a:solidFill>
              <a:srgbClr val="14213D"/>
            </a:solidFill>
            <a:prstDash val="solid"/>
          </a:ln>
        </p:spPr>
      </p:sp>
      <p:pic>
        <p:nvPicPr>
          <p:cNvPr id="15" name="Image 1" descr="preencoded.png">    </p:cNvPr>
          <p:cNvPicPr>
            <a:picLocks noChangeAspect="1"/>
          </p:cNvPicPr>
          <p:nvPr/>
        </p:nvPicPr>
        <p:blipFill>
          <a:blip r:embed="rId2"/>
          <a:stretch>
            <a:fillRect/>
          </a:stretch>
        </p:blipFill>
        <p:spPr>
          <a:xfrm>
            <a:off x="8102681" y="1976201"/>
            <a:ext cx="272125" cy="272125"/>
          </a:xfrm>
          <a:prstGeom prst="rect">
            <a:avLst/>
          </a:prstGeom>
        </p:spPr>
      </p:pic>
      <p:sp>
        <p:nvSpPr>
          <p:cNvPr id="16" name="Text 11"/>
          <p:cNvSpPr txBox="1"/>
          <p:nvPr/>
        </p:nvSpPr>
        <p:spPr>
          <a:xfrm>
            <a:off x="8641080" y="1828800"/>
            <a:ext cx="28346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Work in pairs</a:t>
            </a:r>
            <a:endParaRPr lang="en-US" sz="1700" dirty="0"/>
          </a:p>
        </p:txBody>
      </p:sp>
      <p:sp>
        <p:nvSpPr>
          <p:cNvPr id="17" name="Text 12"/>
          <p:cNvSpPr txBox="1"/>
          <p:nvPr/>
        </p:nvSpPr>
        <p:spPr>
          <a:xfrm>
            <a:off x="7955280" y="2514600"/>
            <a:ext cx="3474720" cy="3291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For each line: which rule is broken?</a:t>
            </a:r>
            <a:endParaRPr lang="en-US" sz="1500" dirty="0"/>
          </a:p>
          <a:p>
            <a:pPr indent="0" marL="0">
              <a:buNone/>
            </a:pPr>
            <a:endParaRPr lang="en-US" sz="1500" dirty="0"/>
          </a:p>
          <a:p>
            <a:pPr indent="0" marL="0">
              <a:buNone/>
            </a:pPr>
            <a:r>
              <a:rPr lang="en-US" sz="1500" dirty="0">
                <a:solidFill>
                  <a:srgbClr val="333B4F"/>
                </a:solidFill>
                <a:latin typeface="Calibri" pitchFamily="34" charset="0"/>
                <a:ea typeface="Calibri" pitchFamily="34" charset="-122"/>
                <a:cs typeface="Calibri" pitchFamily="34" charset="-120"/>
              </a:rPr>
              <a:t>• statement syntax</a:t>
            </a:r>
            <a:endParaRPr lang="en-US" sz="1500" dirty="0"/>
          </a:p>
          <a:p>
            <a:pPr indent="0" marL="0">
              <a:buNone/>
            </a:pPr>
            <a:r>
              <a:rPr lang="en-US" sz="1500" dirty="0">
                <a:solidFill>
                  <a:srgbClr val="333B4F"/>
                </a:solidFill>
                <a:latin typeface="Calibri" pitchFamily="34" charset="0"/>
                <a:ea typeface="Calibri" pitchFamily="34" charset="-122"/>
                <a:cs typeface="Calibri" pitchFamily="34" charset="-120"/>
              </a:rPr>
              <a:t>• string vs number</a:t>
            </a:r>
            <a:endParaRPr lang="en-US" sz="1500" dirty="0"/>
          </a:p>
          <a:p>
            <a:pPr indent="0" marL="0">
              <a:buNone/>
            </a:pPr>
            <a:r>
              <a:rPr lang="en-US" sz="1500" dirty="0">
                <a:solidFill>
                  <a:srgbClr val="333B4F"/>
                </a:solidFill>
                <a:latin typeface="Calibri" pitchFamily="34" charset="0"/>
                <a:ea typeface="Calibri" pitchFamily="34" charset="-122"/>
                <a:cs typeface="Calibri" pitchFamily="34" charset="-120"/>
              </a:rPr>
              <a:t>• literal suffixes</a:t>
            </a:r>
            <a:endParaRPr lang="en-US" sz="1500" dirty="0"/>
          </a:p>
          <a:p>
            <a:pPr indent="0" marL="0">
              <a:buNone/>
            </a:pPr>
            <a:r>
              <a:rPr lang="en-US" sz="1500" dirty="0">
                <a:solidFill>
                  <a:srgbClr val="333B4F"/>
                </a:solidFill>
                <a:latin typeface="Calibri" pitchFamily="34" charset="0"/>
                <a:ea typeface="Calibri" pitchFamily="34" charset="-122"/>
                <a:cs typeface="Calibri" pitchFamily="34" charset="-120"/>
              </a:rPr>
              <a:t>• int vs double</a:t>
            </a:r>
            <a:endParaRPr lang="en-US" sz="1500" dirty="0"/>
          </a:p>
          <a:p>
            <a:pPr indent="0" marL="0">
              <a:buNone/>
            </a:pPr>
            <a:r>
              <a:rPr lang="en-US" sz="1500" dirty="0">
                <a:solidFill>
                  <a:srgbClr val="333B4F"/>
                </a:solidFill>
                <a:latin typeface="Calibri" pitchFamily="34" charset="0"/>
                <a:ea typeface="Calibri" pitchFamily="34" charset="-122"/>
                <a:cs typeface="Calibri" pitchFamily="34" charset="-120"/>
              </a:rPr>
              <a:t>• case sensitivity</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2: Answers and the Corrected Program</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41</a:t>
            </a:r>
            <a:endParaRPr lang="en-US" sz="1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583680" cy="914400"/>
        </p:xfrm>
        <a:graphic>
          <a:graphicData uri="http://schemas.openxmlformats.org/drawingml/2006/table">
            <a:tbl>
              <a:tblPr/>
              <a:tblGrid>
                <a:gridCol w="548640"/>
                <a:gridCol w="2377440"/>
                <a:gridCol w="3657600"/>
              </a:tblGrid>
              <a:tr h="47548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Line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Error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CS1002  ; expected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add ;</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CS0029  string → decimal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decimal.Parse(Console.ReadLine())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CS0664  double literal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0.20m</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CS0266  double → int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decimal quantity = 2.5m;</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CS0103  vat ≠ Vat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 + Vat), decimal total</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CS0103  console, total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Console.WriteLine(total)</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7315200" y="1600200"/>
            <a:ext cx="4343400" cy="3337560"/>
          </a:xfrm>
          <a:prstGeom prst="roundRect">
            <a:avLst>
              <a:gd name="adj" fmla="val 2740"/>
            </a:avLst>
          </a:prstGeom>
          <a:solidFill>
            <a:srgbClr val="0F1729"/>
          </a:solidFill>
          <a:ln w="12700">
            <a:solidFill>
              <a:srgbClr val="0F1729"/>
            </a:solidFill>
            <a:prstDash val="solid"/>
          </a:ln>
        </p:spPr>
      </p:sp>
      <p:sp>
        <p:nvSpPr>
          <p:cNvPr id="9" name="Text 5"/>
          <p:cNvSpPr txBox="1"/>
          <p:nvPr/>
        </p:nvSpPr>
        <p:spPr>
          <a:xfrm>
            <a:off x="7543800" y="1709928"/>
            <a:ext cx="3886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fixed.cs</a:t>
            </a:r>
            <a:endParaRPr lang="en-US" sz="1100" dirty="0"/>
          </a:p>
        </p:txBody>
      </p:sp>
      <p:sp>
        <p:nvSpPr>
          <p:cNvPr id="10" name="Text 6"/>
          <p:cNvSpPr txBox="1"/>
          <p:nvPr/>
        </p:nvSpPr>
        <p:spPr>
          <a:xfrm>
            <a:off x="7543800" y="2011680"/>
            <a:ext cx="3886200" cy="281635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"Price per kg: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price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0.20m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quantity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2.5m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price * quantity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Vat);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$"{total:F2}"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1" name="Shape 7"/>
          <p:cNvSpPr/>
          <p:nvPr/>
        </p:nvSpPr>
        <p:spPr>
          <a:xfrm>
            <a:off x="548640" y="5074920"/>
            <a:ext cx="6583680" cy="868680"/>
          </a:xfrm>
          <a:prstGeom prst="roundRect">
            <a:avLst>
              <a:gd name="adj" fmla="val 12632"/>
            </a:avLst>
          </a:prstGeom>
          <a:solidFill>
            <a:srgbClr val="FFF6E3"/>
          </a:solidFill>
          <a:ln w="12700">
            <a:solidFill>
              <a:srgbClr val="FFF6E3"/>
            </a:solidFill>
            <a:prstDash val="solid"/>
          </a:ln>
        </p:spPr>
      </p:sp>
      <p:pic>
        <p:nvPicPr>
          <p:cNvPr id="12" name="Image 0" descr="preencoded.png">    </p:cNvPr>
          <p:cNvPicPr>
            <a:picLocks noChangeAspect="1"/>
          </p:cNvPicPr>
          <p:nvPr/>
        </p:nvPicPr>
        <p:blipFill>
          <a:blip r:embed="rId1"/>
          <a:stretch>
            <a:fillRect/>
          </a:stretch>
        </p:blipFill>
        <p:spPr>
          <a:xfrm>
            <a:off x="822960" y="5234940"/>
            <a:ext cx="548640" cy="548640"/>
          </a:xfrm>
          <a:prstGeom prst="rect">
            <a:avLst/>
          </a:prstGeom>
        </p:spPr>
      </p:pic>
      <p:sp>
        <p:nvSpPr>
          <p:cNvPr id="13" name="Text 8"/>
          <p:cNvSpPr txBox="1"/>
          <p:nvPr/>
        </p:nvSpPr>
        <p:spPr>
          <a:xfrm>
            <a:off x="1645920" y="5148072"/>
            <a:ext cx="5212080" cy="72237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The first build shows only CS1002: a syntax error hides the other errors. Fix, rebuild, repeat.</a:t>
            </a:r>
            <a:endParaRPr lang="en-US" sz="1400" dirty="0"/>
          </a:p>
        </p:txBody>
      </p:sp>
      <p:sp>
        <p:nvSpPr>
          <p:cNvPr id="14" name="Shape 9"/>
          <p:cNvSpPr/>
          <p:nvPr/>
        </p:nvSpPr>
        <p:spPr>
          <a:xfrm>
            <a:off x="7315200" y="5074920"/>
            <a:ext cx="4343400" cy="868680"/>
          </a:xfrm>
          <a:prstGeom prst="roundRect">
            <a:avLst>
              <a:gd name="adj" fmla="val 10526"/>
            </a:avLst>
          </a:prstGeom>
          <a:solidFill>
            <a:srgbClr val="0B0F19"/>
          </a:solidFill>
          <a:ln w="12700">
            <a:solidFill>
              <a:srgbClr val="2A3654"/>
            </a:solidFill>
            <a:prstDash val="solid"/>
          </a:ln>
        </p:spPr>
      </p:sp>
      <p:sp>
        <p:nvSpPr>
          <p:cNvPr id="15" name="Shape 10"/>
          <p:cNvSpPr/>
          <p:nvPr/>
        </p:nvSpPr>
        <p:spPr>
          <a:xfrm>
            <a:off x="7498080" y="5202936"/>
            <a:ext cx="118872" cy="118872"/>
          </a:xfrm>
          <a:prstGeom prst="ellipse">
            <a:avLst/>
          </a:prstGeom>
          <a:solidFill>
            <a:srgbClr val="FF5F57"/>
          </a:solidFill>
          <a:ln w="12700">
            <a:solidFill>
              <a:srgbClr val="FF5F57"/>
            </a:solidFill>
            <a:prstDash val="solid"/>
          </a:ln>
        </p:spPr>
      </p:sp>
      <p:sp>
        <p:nvSpPr>
          <p:cNvPr id="16" name="Shape 11"/>
          <p:cNvSpPr/>
          <p:nvPr/>
        </p:nvSpPr>
        <p:spPr>
          <a:xfrm>
            <a:off x="7726680" y="5202936"/>
            <a:ext cx="118872" cy="118872"/>
          </a:xfrm>
          <a:prstGeom prst="ellipse">
            <a:avLst/>
          </a:prstGeom>
          <a:solidFill>
            <a:srgbClr val="FEBC2E"/>
          </a:solidFill>
          <a:ln w="12700">
            <a:solidFill>
              <a:srgbClr val="FEBC2E"/>
            </a:solidFill>
            <a:prstDash val="solid"/>
          </a:ln>
        </p:spPr>
      </p:sp>
      <p:sp>
        <p:nvSpPr>
          <p:cNvPr id="17" name="Shape 12"/>
          <p:cNvSpPr/>
          <p:nvPr/>
        </p:nvSpPr>
        <p:spPr>
          <a:xfrm>
            <a:off x="7955280" y="5202936"/>
            <a:ext cx="118872" cy="118872"/>
          </a:xfrm>
          <a:prstGeom prst="ellipse">
            <a:avLst/>
          </a:prstGeom>
          <a:solidFill>
            <a:srgbClr val="28C840"/>
          </a:solidFill>
          <a:ln w="12700">
            <a:solidFill>
              <a:srgbClr val="28C840"/>
            </a:solidFill>
            <a:prstDash val="solid"/>
          </a:ln>
        </p:spPr>
      </p:sp>
      <p:sp>
        <p:nvSpPr>
          <p:cNvPr id="18" name="Text 13"/>
          <p:cNvSpPr txBox="1"/>
          <p:nvPr/>
        </p:nvSpPr>
        <p:spPr>
          <a:xfrm>
            <a:off x="8229600" y="5148072"/>
            <a:ext cx="3246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9" name="Text 14"/>
          <p:cNvSpPr txBox="1"/>
          <p:nvPr/>
        </p:nvSpPr>
        <p:spPr>
          <a:xfrm>
            <a:off x="7543800" y="5458968"/>
            <a:ext cx="3886200" cy="3657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Price per kg: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300.00</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IN-CLASS EXERCISES · 25 MIN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Your Turn: In-Class Exercises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42</a:t>
            </a:r>
            <a:endParaRPr lang="en-US" sz="1000" dirty="0"/>
          </a:p>
        </p:txBody>
      </p:sp>
      <p:sp>
        <p:nvSpPr>
          <p:cNvPr id="7" name="Shape 4"/>
          <p:cNvSpPr/>
          <p:nvPr/>
        </p:nvSpPr>
        <p:spPr>
          <a:xfrm>
            <a:off x="548640" y="1600200"/>
            <a:ext cx="361188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31520" y="178308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878921" y="1930481"/>
            <a:ext cx="272125" cy="272125"/>
          </a:xfrm>
          <a:prstGeom prst="rect">
            <a:avLst/>
          </a:prstGeom>
        </p:spPr>
      </p:pic>
      <p:sp>
        <p:nvSpPr>
          <p:cNvPr id="10" name="Text 6"/>
          <p:cNvSpPr txBox="1"/>
          <p:nvPr/>
        </p:nvSpPr>
        <p:spPr>
          <a:xfrm>
            <a:off x="1417320" y="1783080"/>
            <a:ext cx="2651760" cy="56692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E1 · Choose types</a:t>
            </a:r>
            <a:endParaRPr lang="en-US" sz="1600" dirty="0"/>
          </a:p>
        </p:txBody>
      </p:sp>
      <p:sp>
        <p:nvSpPr>
          <p:cNvPr id="11" name="Text 7"/>
          <p:cNvSpPr txBox="1"/>
          <p:nvPr/>
        </p:nvSpPr>
        <p:spPr>
          <a:xfrm>
            <a:off x="731520" y="2468880"/>
            <a:ext cx="3291840" cy="118872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Pick a type for: number of pages, fuel price, is a member?, room code "B12", distance in km, initial of your name.</a:t>
            </a:r>
            <a:endParaRPr lang="en-US" sz="1300" dirty="0"/>
          </a:p>
        </p:txBody>
      </p:sp>
      <p:sp>
        <p:nvSpPr>
          <p:cNvPr id="12" name="Shape 8"/>
          <p:cNvSpPr/>
          <p:nvPr/>
        </p:nvSpPr>
        <p:spPr>
          <a:xfrm>
            <a:off x="4297680" y="1600200"/>
            <a:ext cx="3611880" cy="210312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4480560" y="1783080"/>
            <a:ext cx="566928" cy="566928"/>
          </a:xfrm>
          <a:prstGeom prst="ellipse">
            <a:avLst/>
          </a:prstGeom>
          <a:solidFill>
            <a:srgbClr val="2F6FB3"/>
          </a:solidFill>
          <a:ln w="12700">
            <a:solidFill>
              <a:srgbClr val="2F6FB3"/>
            </a:solidFill>
            <a:prstDash val="solid"/>
          </a:ln>
        </p:spPr>
      </p:sp>
      <p:pic>
        <p:nvPicPr>
          <p:cNvPr id="14" name="Image 1" descr="preencoded.png">    </p:cNvPr>
          <p:cNvPicPr>
            <a:picLocks noChangeAspect="1"/>
          </p:cNvPicPr>
          <p:nvPr/>
        </p:nvPicPr>
        <p:blipFill>
          <a:blip r:embed="rId2"/>
          <a:stretch>
            <a:fillRect/>
          </a:stretch>
        </p:blipFill>
        <p:spPr>
          <a:xfrm>
            <a:off x="4627961" y="1930481"/>
            <a:ext cx="272125" cy="272125"/>
          </a:xfrm>
          <a:prstGeom prst="rect">
            <a:avLst/>
          </a:prstGeom>
        </p:spPr>
      </p:pic>
      <p:sp>
        <p:nvSpPr>
          <p:cNvPr id="15" name="Text 10"/>
          <p:cNvSpPr txBox="1"/>
          <p:nvPr/>
        </p:nvSpPr>
        <p:spPr>
          <a:xfrm>
            <a:off x="5166360" y="1783080"/>
            <a:ext cx="2651760" cy="56692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E2 · Age calculator</a:t>
            </a:r>
            <a:endParaRPr lang="en-US" sz="1600" dirty="0"/>
          </a:p>
        </p:txBody>
      </p:sp>
      <p:sp>
        <p:nvSpPr>
          <p:cNvPr id="16" name="Text 11"/>
          <p:cNvSpPr txBox="1"/>
          <p:nvPr/>
        </p:nvSpPr>
        <p:spPr>
          <a:xfrm>
            <a:off x="4480560" y="2468880"/>
            <a:ext cx="3291840" cy="118872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Read name and birth year; print "Ayşe, in 2026 you turn 19." Use const int CurrentYear = 2026;</a:t>
            </a:r>
            <a:endParaRPr lang="en-US" sz="1300" dirty="0"/>
          </a:p>
        </p:txBody>
      </p:sp>
      <p:sp>
        <p:nvSpPr>
          <p:cNvPr id="17" name="Shape 12"/>
          <p:cNvSpPr/>
          <p:nvPr/>
        </p:nvSpPr>
        <p:spPr>
          <a:xfrm>
            <a:off x="8046720" y="1600200"/>
            <a:ext cx="3611880" cy="210312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8229600" y="178308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8377001" y="1930481"/>
            <a:ext cx="272125" cy="272125"/>
          </a:xfrm>
          <a:prstGeom prst="rect">
            <a:avLst/>
          </a:prstGeom>
        </p:spPr>
      </p:pic>
      <p:sp>
        <p:nvSpPr>
          <p:cNvPr id="20" name="Text 14"/>
          <p:cNvSpPr txBox="1"/>
          <p:nvPr/>
        </p:nvSpPr>
        <p:spPr>
          <a:xfrm>
            <a:off x="8915400" y="1783080"/>
            <a:ext cx="2651760" cy="56692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E3 · km → miles</a:t>
            </a:r>
            <a:endParaRPr lang="en-US" sz="1600" dirty="0"/>
          </a:p>
        </p:txBody>
      </p:sp>
      <p:sp>
        <p:nvSpPr>
          <p:cNvPr id="21" name="Text 15"/>
          <p:cNvSpPr txBox="1"/>
          <p:nvPr/>
        </p:nvSpPr>
        <p:spPr>
          <a:xfrm>
            <a:off x="8229600" y="2468880"/>
            <a:ext cx="3291840" cy="118872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Read a distance in km; print miles with 3 decimals. 1 mile = 1.609344 km (const).</a:t>
            </a:r>
            <a:endParaRPr lang="en-US" sz="1300" dirty="0"/>
          </a:p>
        </p:txBody>
      </p:sp>
      <p:sp>
        <p:nvSpPr>
          <p:cNvPr id="22" name="Shape 16"/>
          <p:cNvSpPr/>
          <p:nvPr/>
        </p:nvSpPr>
        <p:spPr>
          <a:xfrm>
            <a:off x="548640" y="3840480"/>
            <a:ext cx="3611880" cy="210312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731520" y="4023360"/>
            <a:ext cx="566928" cy="566928"/>
          </a:xfrm>
          <a:prstGeom prst="ellipse">
            <a:avLst/>
          </a:prstGeom>
          <a:solidFill>
            <a:srgbClr val="2F6FB3"/>
          </a:solidFill>
          <a:ln w="12700">
            <a:solidFill>
              <a:srgbClr val="2F6FB3"/>
            </a:solidFill>
            <a:prstDash val="solid"/>
          </a:ln>
        </p:spPr>
      </p:sp>
      <p:pic>
        <p:nvPicPr>
          <p:cNvPr id="24" name="Image 3" descr="preencoded.png">    </p:cNvPr>
          <p:cNvPicPr>
            <a:picLocks noChangeAspect="1"/>
          </p:cNvPicPr>
          <p:nvPr/>
        </p:nvPicPr>
        <p:blipFill>
          <a:blip r:embed="rId4"/>
          <a:stretch>
            <a:fillRect/>
          </a:stretch>
        </p:blipFill>
        <p:spPr>
          <a:xfrm>
            <a:off x="878921" y="4170761"/>
            <a:ext cx="272125" cy="272125"/>
          </a:xfrm>
          <a:prstGeom prst="rect">
            <a:avLst/>
          </a:prstGeom>
        </p:spPr>
      </p:pic>
      <p:sp>
        <p:nvSpPr>
          <p:cNvPr id="25" name="Text 18"/>
          <p:cNvSpPr txBox="1"/>
          <p:nvPr/>
        </p:nvSpPr>
        <p:spPr>
          <a:xfrm>
            <a:off x="1417320" y="4023360"/>
            <a:ext cx="2651760" cy="56692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E4 · Average of three</a:t>
            </a:r>
            <a:endParaRPr lang="en-US" sz="1600" dirty="0"/>
          </a:p>
        </p:txBody>
      </p:sp>
      <p:sp>
        <p:nvSpPr>
          <p:cNvPr id="26" name="Text 19"/>
          <p:cNvSpPr txBox="1"/>
          <p:nvPr/>
        </p:nvSpPr>
        <p:spPr>
          <a:xfrm>
            <a:off x="731520" y="4709160"/>
            <a:ext cx="3291840" cy="118872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Read three grades (double); print the average with F2. Remember the Week 1 parentheses bug!</a:t>
            </a:r>
            <a:endParaRPr lang="en-US" sz="1300" dirty="0"/>
          </a:p>
        </p:txBody>
      </p:sp>
      <p:sp>
        <p:nvSpPr>
          <p:cNvPr id="27" name="Shape 20"/>
          <p:cNvSpPr/>
          <p:nvPr/>
        </p:nvSpPr>
        <p:spPr>
          <a:xfrm>
            <a:off x="4297680" y="3840480"/>
            <a:ext cx="3611880" cy="2103120"/>
          </a:xfrm>
          <a:prstGeom prst="roundRect">
            <a:avLst>
              <a:gd name="adj" fmla="val 5217"/>
            </a:avLst>
          </a:prstGeom>
          <a:solidFill>
            <a:srgbClr val="EEF1F6"/>
          </a:solidFill>
          <a:ln w="12700">
            <a:solidFill>
              <a:srgbClr val="EEF1F6"/>
            </a:solidFill>
            <a:prstDash val="solid"/>
          </a:ln>
        </p:spPr>
      </p:sp>
      <p:sp>
        <p:nvSpPr>
          <p:cNvPr id="28" name="Shape 21"/>
          <p:cNvSpPr/>
          <p:nvPr/>
        </p:nvSpPr>
        <p:spPr>
          <a:xfrm>
            <a:off x="4480560" y="4023360"/>
            <a:ext cx="566928" cy="566928"/>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4627961" y="4170761"/>
            <a:ext cx="272125" cy="272125"/>
          </a:xfrm>
          <a:prstGeom prst="rect">
            <a:avLst/>
          </a:prstGeom>
        </p:spPr>
      </p:pic>
      <p:sp>
        <p:nvSpPr>
          <p:cNvPr id="30" name="Text 22"/>
          <p:cNvSpPr txBox="1"/>
          <p:nvPr/>
        </p:nvSpPr>
        <p:spPr>
          <a:xfrm>
            <a:off x="5166360" y="4023360"/>
            <a:ext cx="2651760" cy="56692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E5 · Back to seconds</a:t>
            </a:r>
            <a:endParaRPr lang="en-US" sz="1600" dirty="0"/>
          </a:p>
        </p:txBody>
      </p:sp>
      <p:sp>
        <p:nvSpPr>
          <p:cNvPr id="31" name="Text 23"/>
          <p:cNvSpPr txBox="1"/>
          <p:nvPr/>
        </p:nvSpPr>
        <p:spPr>
          <a:xfrm>
            <a:off x="4480560" y="4709160"/>
            <a:ext cx="3291840" cy="118872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The reverse of 03_09: read hours, minutes and seconds; print the total in seconds (1, 23, 20 → 5000).</a:t>
            </a:r>
            <a:endParaRPr lang="en-US" sz="1300" dirty="0"/>
          </a:p>
        </p:txBody>
      </p:sp>
      <p:sp>
        <p:nvSpPr>
          <p:cNvPr id="32" name="Shape 24"/>
          <p:cNvSpPr/>
          <p:nvPr/>
        </p:nvSpPr>
        <p:spPr>
          <a:xfrm>
            <a:off x="8046720" y="3840480"/>
            <a:ext cx="3611880" cy="2103120"/>
          </a:xfrm>
          <a:prstGeom prst="roundRect">
            <a:avLst>
              <a:gd name="adj" fmla="val 5217"/>
            </a:avLst>
          </a:prstGeom>
          <a:solidFill>
            <a:srgbClr val="EEF1F6"/>
          </a:solidFill>
          <a:ln w="12700">
            <a:solidFill>
              <a:srgbClr val="EEF1F6"/>
            </a:solidFill>
            <a:prstDash val="solid"/>
          </a:ln>
        </p:spPr>
      </p:sp>
      <p:sp>
        <p:nvSpPr>
          <p:cNvPr id="33" name="Shape 25"/>
          <p:cNvSpPr/>
          <p:nvPr/>
        </p:nvSpPr>
        <p:spPr>
          <a:xfrm>
            <a:off x="8229600" y="4023360"/>
            <a:ext cx="566928" cy="566928"/>
          </a:xfrm>
          <a:prstGeom prst="ellipse">
            <a:avLst/>
          </a:prstGeom>
          <a:solidFill>
            <a:srgbClr val="2F6FB3"/>
          </a:solidFill>
          <a:ln w="12700">
            <a:solidFill>
              <a:srgbClr val="2F6FB3"/>
            </a:solidFill>
            <a:prstDash val="solid"/>
          </a:ln>
        </p:spPr>
      </p:sp>
      <p:pic>
        <p:nvPicPr>
          <p:cNvPr id="34" name="Image 5" descr="preencoded.png">    </p:cNvPr>
          <p:cNvPicPr>
            <a:picLocks noChangeAspect="1"/>
          </p:cNvPicPr>
          <p:nvPr/>
        </p:nvPicPr>
        <p:blipFill>
          <a:blip r:embed="rId6"/>
          <a:stretch>
            <a:fillRect/>
          </a:stretch>
        </p:blipFill>
        <p:spPr>
          <a:xfrm>
            <a:off x="8377001" y="4170761"/>
            <a:ext cx="272125" cy="272125"/>
          </a:xfrm>
          <a:prstGeom prst="rect">
            <a:avLst/>
          </a:prstGeom>
        </p:spPr>
      </p:pic>
      <p:sp>
        <p:nvSpPr>
          <p:cNvPr id="35" name="Text 26"/>
          <p:cNvSpPr txBox="1"/>
          <p:nvPr/>
        </p:nvSpPr>
        <p:spPr>
          <a:xfrm>
            <a:off x="8915400" y="4023360"/>
            <a:ext cx="2651760" cy="566928"/>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E6 · Swap trace</a:t>
            </a:r>
            <a:endParaRPr lang="en-US" sz="1600" dirty="0"/>
          </a:p>
        </p:txBody>
      </p:sp>
      <p:sp>
        <p:nvSpPr>
          <p:cNvPr id="36" name="Text 27"/>
          <p:cNvSpPr txBox="1"/>
          <p:nvPr/>
        </p:nvSpPr>
        <p:spPr>
          <a:xfrm>
            <a:off x="8229600" y="4709160"/>
            <a:ext cx="3291840" cy="118872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Trace x = 3, y = 8: t = x; x = y; y = t; — then try to swap without t using + and −.</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HOMEWORK · BEFORE WEEK 4</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Homework</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3</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43</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731520"/>
                <a:gridCol w="7406640"/>
                <a:gridCol w="2971800"/>
              </a:tblGrid>
              <a:tr h="56692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Practises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6692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H1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Cylinder volume V = πr²h (read r and h, use Math.PI, print F2)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double, Math.PI, F2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H2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Currency converter: TL → EUR with the rate typed by the user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decimal, Parse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H3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Minutes → days, hours, minutes (e.g. 100000 min)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int, / and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H4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short s = short.MaxValue;  s = (short)(s + 1);  — predict, run, explain the output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overflow, casts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H5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Read the notes §1–§7 and do 3 exercises from "Extra practice"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everything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212080"/>
            <a:ext cx="11109960" cy="731520"/>
          </a:xfrm>
          <a:prstGeom prst="roundRect">
            <a:avLst>
              <a:gd name="adj" fmla="val 15000"/>
            </a:avLst>
          </a:prstGeom>
          <a:solidFill>
            <a:srgbClr val="FFF6E3"/>
          </a:solidFill>
          <a:ln w="12700">
            <a:solidFill>
              <a:srgbClr val="FFF6E3"/>
            </a:solidFill>
            <a:prstDash val="solid"/>
          </a:ln>
        </p:spPr>
      </p:sp>
      <p:pic>
        <p:nvPicPr>
          <p:cNvPr id="9" name="Image 0" descr="preencoded.png">    </p:cNvPr>
          <p:cNvPicPr>
            <a:picLocks noChangeAspect="1"/>
          </p:cNvPicPr>
          <p:nvPr/>
        </p:nvPicPr>
        <p:blipFill>
          <a:blip r:embed="rId1"/>
          <a:stretch>
            <a:fillRect/>
          </a:stretch>
        </p:blipFill>
        <p:spPr>
          <a:xfrm>
            <a:off x="822960" y="5349240"/>
            <a:ext cx="457200" cy="457200"/>
          </a:xfrm>
          <a:prstGeom prst="rect">
            <a:avLst/>
          </a:prstGeom>
        </p:spPr>
      </p:pic>
      <p:sp>
        <p:nvSpPr>
          <p:cNvPr id="10" name="Text 5"/>
          <p:cNvSpPr txBox="1"/>
          <p:nvPr/>
        </p:nvSpPr>
        <p:spPr>
          <a:xfrm>
            <a:off x="1554480" y="5285232"/>
            <a:ext cx="9829800" cy="58521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Every program: header comment, meaningful names, prompts with Write, output with F2 where needed, tested with 2–3 inputs.</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 is compiled to IL (dotnet build); the .NET runtime JIT-compiles IL to machine code.</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variable = name + type + value. = stores a value (←); read before assign → CS0165.</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Default types: int for whole numbers, double for measurements, decimal for money, string for text/IDs.</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const protects fixed values; Math.PI is built in.</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ReadLine() returns a string → convert with int.Parse / double.Parse; type a decimal POINT.</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Casts truncate, int overflows silently, 9 / 5 == 1 — test with known answers.</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Week 4: Arithmetic, Relational and Logical Operators</a:t>
            </a:r>
            <a:endParaRPr lang="en-US" sz="1800" dirty="0"/>
          </a:p>
        </p:txBody>
      </p:sp>
      <p:sp>
        <p:nvSpPr>
          <p:cNvPr id="19" name="Text 17"/>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0" name="Text 18"/>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2" name="Text 19"/>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3</a:t>
            </a:r>
            <a:endParaRPr lang="en-US" sz="1000" dirty="0"/>
          </a:p>
        </p:txBody>
      </p:sp>
      <p:sp>
        <p:nvSpPr>
          <p:cNvPr id="23" name="Text 20"/>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3 – Programming Languages, Variables, Data Types and Constants</dc:title>
  <dc:subject>PptxGenJS Presentation</dc:subject>
  <dc:creator>MCMP113</dc:creator>
  <cp:lastModifiedBy>MCMP113</cp:lastModifiedBy>
  <cp:revision>1</cp:revision>
  <dcterms:created xsi:type="dcterms:W3CDTF">2026-10-25T12:59:36Z</dcterms:created>
  <dcterms:modified xsi:type="dcterms:W3CDTF">2026-10-25T12:59:36Z</dcterms:modified>
</cp:coreProperties>
</file>