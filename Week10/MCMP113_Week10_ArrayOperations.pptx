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(about 3 × 50 min). The terminal on the right is a real run of today's bubble sort (Example 6): six numbers become sorted in four passes. Open with a question: "You have the grades of 2000 students in an array. How do you find the best grade? How do you find whether student number 1873 is in the list? How do you print the list sorted?" These three questions (max/min, search, sort) are the topic of today. Everything is still written in top-level statements: no methods until Week 12, and no LINQ.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Read the six outcomes quickly. Outcomes 3–5 (binary search trace, bubble/selection sort pass tables) are typical final-exam questions: the Week 15 practice final has a bubble-sort pass and a binary-search trace. Remind students that we still do NOT write our own methods (Week 12); all code is top-level statements with loops and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Recall from Week 9: an array is a row of numbered boxes, the index starts at 0 and the last index is Length − 1. We already computed a sum and an average with a for loop. Today we keep the same loop over the indices but ask harder questions: WHERE is the largest value, IS a value in the array, and how do we put the values IN ORDER. Ask: what is scores[scores.Length] ? Answer: IndexOutOfRangeException, the most common array bug (Week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35 min. All algorithms of this part visit every element exactly once: one pass over the array, n − 1 or n comparisons. Keep this in mind for the "counting the work" slide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Think of a tournament: the first player is the champion until somebody better comes. We remember the value AND the index (where it is), because questions are often "which day was the warmest?". The loop starts at i = 1 because a[0] is already used. Trace the table together with the class: only two of the four comparisons change the champion. Likely question: "&gt; or &gt;= ?" With &gt; the FIRST of several equal maxima is kept; with &gt;= the LAST one. Both are correct, but the answer for the index differs. Number of comparisons: n − 1 (here 4) for the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Two champions in the same loop: max and min both start with temps[0]. Two separate if statements (not else-if!): one element can be checked for both. Day numbers for humans start at 1, indices at 0, hence "day {maxIndex + 1}". Run it live with the five temperatures. Ask: what happens if two days have the same maximum, say 21 and 21? With &gt; the first one stays (smaller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The same program prints a third line: the maximum computed by the "wrong" loop that starts with max = 0. With positive temperatures it happens to work (21). In winter all temperatures are negative: no element is greater than 0, so the wrong loop answers 0, a temperature that is not even in the data. Fixes: start with a[0] (best, also gives the index), or with double.MinValue / int.MinValue. For the minimum the same bug appears when starting at 0 with positive data. Exam tip: a test case with only negative numbers catches this bug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When a new largest value appears, the old champion moves down to second place. Otherwise the value can still beat the runner-up. Equal to the largest (the second 85 here, if it had come after 90 too) is ignored: "second largest" means the second largest DIFFERENT value. The flag hasSecond handles arrays where all values are equal (no second largest exists). Alternative that students often propose: sort and take a[n − 2]. Ask why that fails for { 90, 90, 85 } (it gives 90). Trace the table together: i = 3 is the duplicate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The mean needs one pass. The variance needs a SECOND pass, because the distances are measured from the mean, which is known only after the first pass. That is why we must store the grades in an array; with Week 6 loops alone we could not. Standard deviation σ is in the same unit as the grades (points): "a typical grade is about 21 points away from the mean". We divide by N (population standard deviation). Statistics courses often divide by N − 1 (sample standard deviation, here 22.90). Our program and the exam use N. The table is computed with the six grades of the sample run; the sum of squares is 2621.33.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Show the full program in VS Code; the slide shows passes 2 and 3. Pass 1 (sum and mean) is the Week 9 average. Counting with a condition is the third pattern of today: a counter that grows only when the if is true. Two counters can share one loop. Check the output against the previous slide: variance 436.89 and standard deviation 20.90. Question: why is "Above the mean" a strict &gt;? A grade equal to the mean is not above it. With integers and a mean of 66.33 it makes no difference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35 min. Two strategies for the same question "is the value in the array, and where?". Linear search works on any array; binary search needs sorted data but is dramatically faster. Link to the Week 1 and Week 7 guess-the-number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Linear (sequential) search compares the target with a[0], a[1], … until it is found or the array ends. The loop has two exits, like the password loop of Week 7: found, or no elements left. That is why the while condition has AND NOT found. The index −1 is a safe "not found" value because no array has an element at index −1; Array.IndexOf uses the same convention. Counting: searching for 78 needs 2 checks; a missing value (50) needs all 8 checks. In general: best case 1, worst case n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Part 1 stops early (while with a flag). Part 2 must look at EVERY element, so a for loop without early exit is the right tool. The variable comparisons is an instrument: it does not change the result, it measures the work. We use the same idea for the sorting algorithms. Note the name k in part 2: i is already declared at the top level for the while loop, and C# does not allow a second i in an enclosing scope (CS0136; scope is the topic of Week 13). Run with 78 (three positions) and 50 (not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Recall Week 1 and Week 7: to guess a number between 1 and 100 we always guess the middle, and each answer "higher/lower" throws away half of the range. At most 7 guesses. Binary search is exactly this game played on the indices of a SORTED array: low and high mark the part that can still contain the target, mid is the guess. If the array is not sorted, binary search gives wrong answers without any error message. That is the most important rule. mid = (low + high) / 2 uses integer division (C#: int / int). The loop ends when the target is found or the range is empty (low &gt;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This is exactly what Example 5 prints for the input 20 (see the next slide). Grey cells are already excluded. Step 1: mid = (0 + 14) / 2 = 7, a[7] = 36 &gt; 20, so the target can only be on the left: high = 6. Step 2: mid = 3, a[3] = 18 &lt; 20: go right, low = 4. Step 3: mid = 5, a[5] = 27 &gt; 20: high = 4. Step 4: mid = 4, a[4] = 22 &gt; 20: high = 3. Now low = 4 &gt; high = 3: the range is empty, 20 is not in the array. Four comparisons instead of 15. Exam format: a table with columns step, low, high, mid, a[mid],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program prints one line per step, so the console output IS the trace table. Run 1: 58 is found in only 2 steps (lucky: a[11] is the second middle). Run 2: 77 is the last element and needs 4 steps, the maximum for 15 elements. The input 20 (not found) was traced on the previous slide; 4 steps as well. Possible question: "Is there a built-in?" Yes, Array.BinarySearch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numbers come from Example 13 (SortingRace), which searches a value that is not in the data (worst case). Linear search needs n comparisons: 10 times more data means 10 times more work. Binary search needs ⌊log₂ n⌋ + 1: doubling n adds only ONE step. For one million elements: 1 000 000 comparisons vs 20. That is why phone books, dictionaries and databases keep their data sorted. Fair question: sorting costs time too. If you search only once, linear search is fine; if you search many times, sort once and use binary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50 min (the longest part). All three algorithms sort the same six numbers 31 12 47 8 25 19, so students can compare the pass tables and the counters directly. Encourage students to trace on paper with the boxes, not only in their heads.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Analogy: a glass of tea and a glass of water; to exchange the contents you need an empty third glass. The wrong version a[i] = a[j]; a[j] = a[i]; copies the same value twice: both cells end up as 12 and 31 is lost. C# also has a one-line tuple swap (a[i], a[j]) = (a[j], a[i]); it is correct and modern; we mention it, but the exam expects you to understand the version with temp. Every sorting algorithm today is built from comparisons and swaps (or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One PASS walks from left to right and compares each pair of neighbours a[j], a[j+1]. If the left one is bigger, they are swapped. After pass 1 the largest value is guaranteed to be at the end (it "bubbles up"); after pass 2 the two largest, and so on. So pass number p needs only n − p comparisons: the inner loop runs j = 0 … n − p − 1. Early exit: if a whole pass made no swap, every neighbour pair is in order, so the array is sorted and we can stop. That is the flag swapped. Ask: what is the minimum number of passes for an already sorted array? One pass (n − 1 comparisons, no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Go row by row: the two amber cells are compared. 31 &gt; 12: swap. 31 &gt; 47? No. 47 &gt; 8: swap. 47 &gt; 25: swap. 47 &gt; 19: swap. Once 47 is picked up it travels all the way to the right, because it is larger than everything it meets. The green cell in the last row is final: it will never move again, which is why the next pass stops one cell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Each row is the array after one pass, exactly as Example 6 prints it. Green cells are final. Counters per pass: pass 1: 5 comparisons / 4 swaps; pass 2: 4 comparisons / 3 swaps; pass 3: 3 comparisons / 2 swaps; pass 4: 2 comparisons / 0 swaps. Notice that the array is already sorted after pass 3, but the algorithm does not know it yet: pass 4 is the check that finds no swap, and the early exit stops the loop. Without the flag, pass 5 would run too (15 comparisons instead of 14). Total: 14 comparisons and 9 swaps.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Map the code to the pseudocode: outer loop = passes, inner loop = neighbour comparisons, j &lt; n − pass because the tail is sorted. The counters comparisons and swaps are instruments; they are not needed for sorting. Common bug: j &lt; n instead of j &lt; n − 1 (or n − pass) gives a[j + 1] = a[n]: IndexOutOfRangeException. For descending order change &gt; to &lt;.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Pass i looks for the index of the smallest element in the unsorted part a[i..n−1] (the min pattern of Part 1, but remembering the INDEX), then swaps it into position i. Comparisons: (n − 1) + (n − 2) + … + 1 = n(n − 1)/2, always, even for sorted data, because selection sort has no early exit. For n = 6: 15. Swaps: at most n − 1 (here 3, because twice the minimum was already in place). That makes selection sort good when writing to memory is expensive. Ask: which Part-1 algorithm is the inner loop? Answer: minimum with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Compare with Example 6 on the same data: bubble sort made 14 comparisons and 9 swaps, selection sort 15 comparisons and 3 swaps. Pass 2 and pass 5 print the same array as before: the minimum was already in place (minIndex == i), so no swap. The "(min = …)" column shows the value that was placed at position i in this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optional (not required for the exam, but it is the algorithm most people use by hand). Take the next card (key), shift every bigger card one place to the right, and drop the key into the gap. The left part is always sorted. The while loop with j &gt;= 0 and break counts comparisons exactly. On this data: 12 comparisons and 9 shifts. For almost-sorted data insertion sort is very fast (about n comparisons), which is why real libraries use it for small parts of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Example 13 fills arrays of 10, 100, 1000 and 10 000 random numbers (fixed seed 2026, so every run gives the same counts) and counts comparisons and swaps. Selection sort always makes exactly n(n − 1)/2 comparisons: 45, 4950, 499 500, 49 995 000. Bubble sort is a bit lower thanks to the early exit, but of the same order. Ten times more data → about one hundred times more comparisons: O(n²). Compare with the 14 comparisons of binary search for n = 10 000. The last column (milliseconds) depends on the computer and changes from run to run; on the instructor's machine n = 10 000 took about 0.3 s. Array.Sort sorts the same array in about a millisecond (it uses a much smarter algorithm, introsort).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30 min. First what professionals use (the Array class), then four short algorithms that combine the patterns of today: two indices moving towards each other, a write index, and two read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In real programs you call Array.Sort instead of writing bubble sort; it is fast (O(n log n)) and tested. We still learn the loops, because the exam asks for them and because the ideas (comparing, swapping, halving) come back everywhere. Array.BinarySearch requires a sorted array, just like our version. A negative result means "not found"; −(result) − 1 is the index where the value would have to be inserted: −(−4) − 1 = 3. String sorting: our template uses InvariantGlobalization, so Array.Sort on strings compares by character code: capitals before lower case ("Zeynep" before "ali"). StringComparer.OrdinalIgnoreCase ignores case. Note: no .Max() / .Min() / .OrderBy(): those are LINQ, which we do not use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Reverse: two indices start at both ends and walk towards each other, swapping as they go; the loop stops when they meet (left &lt; right). For 7 elements that is 3 swaps; the middle element stays. A common mistake is a for loop over ALL indices that swaps a[i] with a[n − 1 − i]: every pair is swapped twice and the array is unchanged. Rotate left by k: the element at index i moves to (i − k + n) % n; we add n so the left operand of % is never negative (Week 4: % with negatives). k is reduced modulo n first, so k = 9 on 7 elements is the same as k = 2. The rotation uses a second array; doing it in place is a harder exercise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Because the array is sorted, equal values are neighbours. We keep a write index unique: cells 0 .. unique − 1 hold the values kept so far. A value is copied only if it differs from the last kept value a[unique − 1]. The read index i is always ahead of the write index, so we never overwrite a value we have not read yet. At the end the first 5 cells are the answer; arrays cannot shrink, so we copy them into a new array of length unique. Ask: what happens if the input is NOT sorted, e.g. 2 5 2? Answer: the second 2 is kept, because it is compared only with its left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optional for the exam. Three indices: i reads a, j reads b, k writes c. In each step compare the two front elements, copy the smaller, and advance in THAT array only. When one array is empty, the rest of the other is already sorted: two short while loops copy it. Trace: 3 vs 1 → 1; 3 vs 9 → 3; 8 vs 9 → 8; 15 vs 9 → 9; 15 vs 10 → 10; 15 vs 22 → 15; 21 vs 22 → 21; a is empty, copy 22 30. This merge step is the heart of merge sort, a fast O(n log n) algorithm that you will meet in a data-structures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Most of these appeared today. The two IndexOutOfRange bugs crash at run time; the others silently give wrong answers, which is worse. Testing strategy: always try an array with only negative numbers, an array with duplicates, an already sorted array, a reversed array, a value that is not there, and the first and last element as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Three minutes alone on paper, one minute with a neighbour; answers on the next slide. Q1 is the min pattern (it stores the INDEX in m). Q2 prints the mid indices of a binary search. Q3 is ONE pass of bubble sort; ask for the array after the pass and the number of swaps.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Q1: m holds the index of the smallest value seen so far: 0 → 1 (3 &lt; 5) → 3 (1 &lt; 3); prints "3 1". Q2: low/high 0/9 → mid 4 (16 &lt; 23, low = 5); 5/9 → mid 7 (56 &gt; 23, high = 6); 5/6 → mid 5 (23 found). Prints "4 7 5". Three comparisons instead of six for linear search. Q3: 4&gt;2 swap → 2 4 5 1 3; 4&gt;5 no; 5&gt;1 swap → 2 4 1 5 3; 5&gt;3 swap → 2 4 1 3 5. Three swaps; the largest value 5 has reached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 in total. E1 and E2 for everybody, E3 and E4 for fast pairs. Solutions are in the instructor edition of the notes. Walk around and check: E1 initialisation with a[0]; E2 the −1 convention and case-insensitive comparison; E3 only the comparison changes; E4 the step counter for every target. E4 answer: for the 15-element array of Example 5 the steps are 1 (once), 2 (twice), 3 (four times), 4 (eight times): average 49/15 ≈ 3.27.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H1 combines sorting and statistics: the median is the middle element of the sorted array, or the average of the two middle elements for even n. H3: in a sorted array equal values are neighbours, so the mode can be found in one pass with a run-length counter. H4 prepares Week 11 (matrices): we will need to sort rows and find maxima per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Summarise with the six take-aways. Next week the arrays get a second index: tables, matrices and grids (int[,]). Many of today's patterns come back per row or per column: maximum of each row, sums of each column, searching a seat in a cinema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10</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Array Operations: Searching, Sorting, Max/Min</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Max/min with index · statistics · linear and binary search · bubble, selection and insertion sort · counting the work</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Start:  31 12 47 8 25 19</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Pass 1: 12 31 8 25 19 47</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Pass 2: 12 8 25 19 31 47</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Pass 3: 8 12 19 25 31 47</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Pass 4: 8 12 19 25 31 47</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Sorted: 8 12 19 25 31 47</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Comparisons: 14, swaps: 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Find max and min</a:t>
            </a:r>
            <a:endParaRPr lang="en-US" sz="1700" dirty="0"/>
          </a:p>
        </p:txBody>
      </p:sp>
      <p:sp>
        <p:nvSpPr>
          <p:cNvPr id="11" name="Text 7"/>
          <p:cNvSpPr txBox="1"/>
          <p:nvPr/>
        </p:nvSpPr>
        <p:spPr>
          <a:xfrm>
            <a:off x="777240"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The champion pattern with its index; second largest; avoid the "start at 0" bug.</a:t>
            </a:r>
            <a:endParaRPr lang="en-US" sz="1500" dirty="0"/>
          </a:p>
        </p:txBody>
      </p:sp>
      <p:sp>
        <p:nvSpPr>
          <p:cNvPr id="12" name="Shape 8"/>
          <p:cNvSpPr/>
          <p:nvPr/>
        </p:nvSpPr>
        <p:spPr>
          <a:xfrm>
            <a:off x="4315968" y="1645920"/>
            <a:ext cx="356616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4544568"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91969" y="2021921"/>
            <a:ext cx="272125" cy="272125"/>
          </a:xfrm>
          <a:prstGeom prst="rect">
            <a:avLst/>
          </a:prstGeom>
        </p:spPr>
      </p:pic>
      <p:sp>
        <p:nvSpPr>
          <p:cNvPr id="15" name="Text 10"/>
          <p:cNvSpPr txBox="1"/>
          <p:nvPr/>
        </p:nvSpPr>
        <p:spPr>
          <a:xfrm>
            <a:off x="5230368"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Compute statistics</a:t>
            </a:r>
            <a:endParaRPr lang="en-US" sz="1700" dirty="0"/>
          </a:p>
        </p:txBody>
      </p:sp>
      <p:sp>
        <p:nvSpPr>
          <p:cNvPr id="16" name="Text 11"/>
          <p:cNvSpPr txBox="1"/>
          <p:nvPr/>
        </p:nvSpPr>
        <p:spPr>
          <a:xfrm>
            <a:off x="4544568"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Sum, mean, variance, standard deviation; counting with conditions.</a:t>
            </a:r>
            <a:endParaRPr lang="en-US" sz="1500" dirty="0"/>
          </a:p>
        </p:txBody>
      </p:sp>
      <p:sp>
        <p:nvSpPr>
          <p:cNvPr id="17" name="Shape 12"/>
          <p:cNvSpPr/>
          <p:nvPr/>
        </p:nvSpPr>
        <p:spPr>
          <a:xfrm>
            <a:off x="8083296" y="1645920"/>
            <a:ext cx="356616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8311896" y="1874520"/>
            <a:ext cx="566928" cy="566928"/>
          </a:xfrm>
          <a:prstGeom prst="ellipse">
            <a:avLst/>
          </a:prstGeom>
          <a:solidFill>
            <a:srgbClr val="2F6FB3"/>
          </a:solidFill>
          <a:ln w="12700">
            <a:solidFill>
              <a:srgbClr val="2F6FB3"/>
            </a:solidFill>
            <a:prstDash val="solid"/>
          </a:ln>
        </p:spPr>
      </p:sp>
      <p:pic>
        <p:nvPicPr>
          <p:cNvPr id="19" name="Image 2" descr="preencoded.png">    </p:cNvPr>
          <p:cNvPicPr>
            <a:picLocks noChangeAspect="1"/>
          </p:cNvPicPr>
          <p:nvPr/>
        </p:nvPicPr>
        <p:blipFill>
          <a:blip r:embed="rId3"/>
          <a:stretch>
            <a:fillRect/>
          </a:stretch>
        </p:blipFill>
        <p:spPr>
          <a:xfrm>
            <a:off x="8459297" y="2021921"/>
            <a:ext cx="272125" cy="272125"/>
          </a:xfrm>
          <a:prstGeom prst="rect">
            <a:avLst/>
          </a:prstGeom>
        </p:spPr>
      </p:pic>
      <p:sp>
        <p:nvSpPr>
          <p:cNvPr id="20" name="Text 14"/>
          <p:cNvSpPr txBox="1"/>
          <p:nvPr/>
        </p:nvSpPr>
        <p:spPr>
          <a:xfrm>
            <a:off x="8997696"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Search an array</a:t>
            </a:r>
            <a:endParaRPr lang="en-US" sz="1700" dirty="0"/>
          </a:p>
        </p:txBody>
      </p:sp>
      <p:sp>
        <p:nvSpPr>
          <p:cNvPr id="21" name="Text 15"/>
          <p:cNvSpPr txBox="1"/>
          <p:nvPr/>
        </p:nvSpPr>
        <p:spPr>
          <a:xfrm>
            <a:off x="8311896"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Linear search: first index, all positions, count; −1 = not found.</a:t>
            </a:r>
            <a:endParaRPr lang="en-US" sz="1500" dirty="0"/>
          </a:p>
        </p:txBody>
      </p:sp>
      <p:sp>
        <p:nvSpPr>
          <p:cNvPr id="22" name="Shape 16"/>
          <p:cNvSpPr/>
          <p:nvPr/>
        </p:nvSpPr>
        <p:spPr>
          <a:xfrm>
            <a:off x="548640" y="3886200"/>
            <a:ext cx="356616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2F6FB3"/>
          </a:solidFill>
          <a:ln w="12700">
            <a:solidFill>
              <a:srgbClr val="2F6FB3"/>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Binary search</a:t>
            </a:r>
            <a:endParaRPr lang="en-US" sz="1700" dirty="0"/>
          </a:p>
        </p:txBody>
      </p:sp>
      <p:sp>
        <p:nvSpPr>
          <p:cNvPr id="26" name="Text 19"/>
          <p:cNvSpPr txBox="1"/>
          <p:nvPr/>
        </p:nvSpPr>
        <p:spPr>
          <a:xfrm>
            <a:off x="777240"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Halve a SORTED array; trace low, mid, high step by step.</a:t>
            </a:r>
            <a:endParaRPr lang="en-US" sz="1500" dirty="0"/>
          </a:p>
        </p:txBody>
      </p:sp>
      <p:sp>
        <p:nvSpPr>
          <p:cNvPr id="27" name="Shape 20"/>
          <p:cNvSpPr/>
          <p:nvPr/>
        </p:nvSpPr>
        <p:spPr>
          <a:xfrm>
            <a:off x="4315968" y="3886200"/>
            <a:ext cx="3566160"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4544568" y="4114800"/>
            <a:ext cx="566928" cy="566928"/>
          </a:xfrm>
          <a:prstGeom prst="ellipse">
            <a:avLst/>
          </a:prstGeom>
          <a:solidFill>
            <a:srgbClr val="2F6FB3"/>
          </a:solidFill>
          <a:ln w="12700">
            <a:solidFill>
              <a:srgbClr val="2F6FB3"/>
            </a:solidFill>
            <a:prstDash val="solid"/>
          </a:ln>
        </p:spPr>
      </p:sp>
      <p:pic>
        <p:nvPicPr>
          <p:cNvPr id="29" name="Image 4" descr="preencoded.png">    </p:cNvPr>
          <p:cNvPicPr>
            <a:picLocks noChangeAspect="1"/>
          </p:cNvPicPr>
          <p:nvPr/>
        </p:nvPicPr>
        <p:blipFill>
          <a:blip r:embed="rId5"/>
          <a:stretch>
            <a:fillRect/>
          </a:stretch>
        </p:blipFill>
        <p:spPr>
          <a:xfrm>
            <a:off x="4691969" y="4262201"/>
            <a:ext cx="272125" cy="272125"/>
          </a:xfrm>
          <a:prstGeom prst="rect">
            <a:avLst/>
          </a:prstGeom>
        </p:spPr>
      </p:pic>
      <p:sp>
        <p:nvSpPr>
          <p:cNvPr id="30" name="Text 22"/>
          <p:cNvSpPr txBox="1"/>
          <p:nvPr/>
        </p:nvSpPr>
        <p:spPr>
          <a:xfrm>
            <a:off x="5230368"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Sort an array</a:t>
            </a:r>
            <a:endParaRPr lang="en-US" sz="1700" dirty="0"/>
          </a:p>
        </p:txBody>
      </p:sp>
      <p:sp>
        <p:nvSpPr>
          <p:cNvPr id="31" name="Text 23"/>
          <p:cNvSpPr txBox="1"/>
          <p:nvPr/>
        </p:nvSpPr>
        <p:spPr>
          <a:xfrm>
            <a:off x="4544568"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Bubble sort (early exit), selection sort, insertion sort; swap with temp.</a:t>
            </a:r>
            <a:endParaRPr lang="en-US" sz="1500" dirty="0"/>
          </a:p>
        </p:txBody>
      </p:sp>
      <p:sp>
        <p:nvSpPr>
          <p:cNvPr id="32" name="Shape 24"/>
          <p:cNvSpPr/>
          <p:nvPr/>
        </p:nvSpPr>
        <p:spPr>
          <a:xfrm>
            <a:off x="8083296" y="3886200"/>
            <a:ext cx="3566160"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8311896"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59297" y="4262201"/>
            <a:ext cx="272125" cy="272125"/>
          </a:xfrm>
          <a:prstGeom prst="rect">
            <a:avLst/>
          </a:prstGeom>
        </p:spPr>
      </p:pic>
      <p:sp>
        <p:nvSpPr>
          <p:cNvPr id="35" name="Text 26"/>
          <p:cNvSpPr txBox="1"/>
          <p:nvPr/>
        </p:nvSpPr>
        <p:spPr>
          <a:xfrm>
            <a:off x="8997696"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Count the work</a:t>
            </a:r>
            <a:endParaRPr lang="en-US" sz="1700" dirty="0"/>
          </a:p>
        </p:txBody>
      </p:sp>
      <p:sp>
        <p:nvSpPr>
          <p:cNvPr id="36" name="Text 27"/>
          <p:cNvSpPr txBox="1"/>
          <p:nvPr/>
        </p:nvSpPr>
        <p:spPr>
          <a:xfrm>
            <a:off x="8311896"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Comparisons: n, log₂ n, n²/2; Array.Sort for real programs.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 9</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Arrays store many values — now we work with them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5486400" cy="3017520"/>
          </a:xfrm>
          <a:prstGeom prst="roundRect">
            <a:avLst>
              <a:gd name="adj" fmla="val 3030"/>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Traversal with an index</a:t>
            </a:r>
            <a:endParaRPr lang="en-US" sz="1100" dirty="0"/>
          </a:p>
        </p:txBody>
      </p:sp>
      <p:sp>
        <p:nvSpPr>
          <p:cNvPr id="9" name="Text 6"/>
          <p:cNvSpPr txBox="1"/>
          <p:nvPr/>
        </p:nvSpPr>
        <p:spPr>
          <a:xfrm>
            <a:off x="777240" y="2057400"/>
            <a:ext cx="5029200" cy="2496312"/>
          </a:xfrm>
          <a:prstGeom prst="rect">
            <a:avLst/>
          </a:prstGeom>
          <a:noFill/>
          <a:ln/>
        </p:spPr>
        <p:txBody>
          <a:bodyPr wrap="square" lIns="0" tIns="0" rIns="0" bIns="0" rtlCol="0" anchor="t"/>
          <a:lstStyle/>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Week 9: declare, fill, traverse</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scores =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72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64</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90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78</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scores.Length;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scores[i];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.WriteLine(sum);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474</a:t>
            </a:r>
            <a:endParaRPr lang="en-US" sz="1400" dirty="0"/>
          </a:p>
        </p:txBody>
      </p:sp>
      <p:sp>
        <p:nvSpPr>
          <p:cNvPr id="10" name="Text 7"/>
          <p:cNvSpPr txBox="1"/>
          <p:nvPr/>
        </p:nvSpPr>
        <p:spPr>
          <a:xfrm>
            <a:off x="6355080" y="1645920"/>
            <a:ext cx="5303520" cy="36576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scores (Length = 6)</a:t>
            </a:r>
            <a:endParaRPr lang="en-US" sz="1500" dirty="0"/>
          </a:p>
        </p:txBody>
      </p:sp>
      <p:sp>
        <p:nvSpPr>
          <p:cNvPr id="11" name="Shape 8"/>
          <p:cNvSpPr/>
          <p:nvPr/>
        </p:nvSpPr>
        <p:spPr>
          <a:xfrm>
            <a:off x="6355080" y="2103120"/>
            <a:ext cx="822960" cy="594360"/>
          </a:xfrm>
          <a:prstGeom prst="rect">
            <a:avLst/>
          </a:prstGeom>
          <a:solidFill>
            <a:srgbClr val="EEF1F6"/>
          </a:solidFill>
          <a:ln w="9525">
            <a:solidFill>
              <a:srgbClr val="8A94AB"/>
            </a:solidFill>
            <a:prstDash val="solid"/>
          </a:ln>
        </p:spPr>
      </p:sp>
      <p:sp>
        <p:nvSpPr>
          <p:cNvPr id="12" name="Text 9"/>
          <p:cNvSpPr txBox="1"/>
          <p:nvPr/>
        </p:nvSpPr>
        <p:spPr>
          <a:xfrm>
            <a:off x="6355080" y="21031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72</a:t>
            </a:r>
            <a:endParaRPr lang="en-US" sz="1800" dirty="0"/>
          </a:p>
        </p:txBody>
      </p:sp>
      <p:sp>
        <p:nvSpPr>
          <p:cNvPr id="13" name="Text 10"/>
          <p:cNvSpPr txBox="1"/>
          <p:nvPr/>
        </p:nvSpPr>
        <p:spPr>
          <a:xfrm>
            <a:off x="6355080" y="2724912"/>
            <a:ext cx="82296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4" name="Shape 11"/>
          <p:cNvSpPr/>
          <p:nvPr/>
        </p:nvSpPr>
        <p:spPr>
          <a:xfrm>
            <a:off x="7178040" y="2103120"/>
            <a:ext cx="822960" cy="594360"/>
          </a:xfrm>
          <a:prstGeom prst="rect">
            <a:avLst/>
          </a:prstGeom>
          <a:solidFill>
            <a:srgbClr val="EEF1F6"/>
          </a:solidFill>
          <a:ln w="9525">
            <a:solidFill>
              <a:srgbClr val="8A94AB"/>
            </a:solidFill>
            <a:prstDash val="solid"/>
          </a:ln>
        </p:spPr>
      </p:sp>
      <p:sp>
        <p:nvSpPr>
          <p:cNvPr id="15" name="Text 12"/>
          <p:cNvSpPr txBox="1"/>
          <p:nvPr/>
        </p:nvSpPr>
        <p:spPr>
          <a:xfrm>
            <a:off x="7178040" y="21031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85</a:t>
            </a:r>
            <a:endParaRPr lang="en-US" sz="1800" dirty="0"/>
          </a:p>
        </p:txBody>
      </p:sp>
      <p:sp>
        <p:nvSpPr>
          <p:cNvPr id="16" name="Text 13"/>
          <p:cNvSpPr txBox="1"/>
          <p:nvPr/>
        </p:nvSpPr>
        <p:spPr>
          <a:xfrm>
            <a:off x="7178040" y="2724912"/>
            <a:ext cx="82296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17" name="Shape 14"/>
          <p:cNvSpPr/>
          <p:nvPr/>
        </p:nvSpPr>
        <p:spPr>
          <a:xfrm>
            <a:off x="8001000" y="2103120"/>
            <a:ext cx="822960" cy="594360"/>
          </a:xfrm>
          <a:prstGeom prst="rect">
            <a:avLst/>
          </a:prstGeom>
          <a:solidFill>
            <a:srgbClr val="EEF1F6"/>
          </a:solidFill>
          <a:ln w="9525">
            <a:solidFill>
              <a:srgbClr val="8A94AB"/>
            </a:solidFill>
            <a:prstDash val="solid"/>
          </a:ln>
        </p:spPr>
      </p:sp>
      <p:sp>
        <p:nvSpPr>
          <p:cNvPr id="18" name="Text 15"/>
          <p:cNvSpPr txBox="1"/>
          <p:nvPr/>
        </p:nvSpPr>
        <p:spPr>
          <a:xfrm>
            <a:off x="8001000" y="21031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64</a:t>
            </a:r>
            <a:endParaRPr lang="en-US" sz="1800" dirty="0"/>
          </a:p>
        </p:txBody>
      </p:sp>
      <p:sp>
        <p:nvSpPr>
          <p:cNvPr id="19" name="Text 16"/>
          <p:cNvSpPr txBox="1"/>
          <p:nvPr/>
        </p:nvSpPr>
        <p:spPr>
          <a:xfrm>
            <a:off x="8001000" y="2724912"/>
            <a:ext cx="82296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20" name="Shape 17"/>
          <p:cNvSpPr/>
          <p:nvPr/>
        </p:nvSpPr>
        <p:spPr>
          <a:xfrm>
            <a:off x="8823960" y="2103120"/>
            <a:ext cx="822960" cy="594360"/>
          </a:xfrm>
          <a:prstGeom prst="rect">
            <a:avLst/>
          </a:prstGeom>
          <a:solidFill>
            <a:srgbClr val="EEF1F6"/>
          </a:solidFill>
          <a:ln w="9525">
            <a:solidFill>
              <a:srgbClr val="8A94AB"/>
            </a:solidFill>
            <a:prstDash val="solid"/>
          </a:ln>
        </p:spPr>
      </p:sp>
      <p:sp>
        <p:nvSpPr>
          <p:cNvPr id="21" name="Text 18"/>
          <p:cNvSpPr txBox="1"/>
          <p:nvPr/>
        </p:nvSpPr>
        <p:spPr>
          <a:xfrm>
            <a:off x="8823960" y="21031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85</a:t>
            </a:r>
            <a:endParaRPr lang="en-US" sz="1800" dirty="0"/>
          </a:p>
        </p:txBody>
      </p:sp>
      <p:sp>
        <p:nvSpPr>
          <p:cNvPr id="22" name="Text 19"/>
          <p:cNvSpPr txBox="1"/>
          <p:nvPr/>
        </p:nvSpPr>
        <p:spPr>
          <a:xfrm>
            <a:off x="8823960" y="2724912"/>
            <a:ext cx="82296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23" name="Shape 20"/>
          <p:cNvSpPr/>
          <p:nvPr/>
        </p:nvSpPr>
        <p:spPr>
          <a:xfrm>
            <a:off x="9646920" y="2103120"/>
            <a:ext cx="822960" cy="594360"/>
          </a:xfrm>
          <a:prstGeom prst="rect">
            <a:avLst/>
          </a:prstGeom>
          <a:solidFill>
            <a:srgbClr val="EEF1F6"/>
          </a:solidFill>
          <a:ln w="9525">
            <a:solidFill>
              <a:srgbClr val="8A94AB"/>
            </a:solidFill>
            <a:prstDash val="solid"/>
          </a:ln>
        </p:spPr>
      </p:sp>
      <p:sp>
        <p:nvSpPr>
          <p:cNvPr id="24" name="Text 21"/>
          <p:cNvSpPr txBox="1"/>
          <p:nvPr/>
        </p:nvSpPr>
        <p:spPr>
          <a:xfrm>
            <a:off x="9646920" y="21031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90</a:t>
            </a:r>
            <a:endParaRPr lang="en-US" sz="1800" dirty="0"/>
          </a:p>
        </p:txBody>
      </p:sp>
      <p:sp>
        <p:nvSpPr>
          <p:cNvPr id="25" name="Text 22"/>
          <p:cNvSpPr txBox="1"/>
          <p:nvPr/>
        </p:nvSpPr>
        <p:spPr>
          <a:xfrm>
            <a:off x="9646920" y="2724912"/>
            <a:ext cx="82296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26" name="Shape 23"/>
          <p:cNvSpPr/>
          <p:nvPr/>
        </p:nvSpPr>
        <p:spPr>
          <a:xfrm>
            <a:off x="10469880" y="2103120"/>
            <a:ext cx="822960" cy="594360"/>
          </a:xfrm>
          <a:prstGeom prst="rect">
            <a:avLst/>
          </a:prstGeom>
          <a:solidFill>
            <a:srgbClr val="EEF1F6"/>
          </a:solidFill>
          <a:ln w="9525">
            <a:solidFill>
              <a:srgbClr val="8A94AB"/>
            </a:solidFill>
            <a:prstDash val="solid"/>
          </a:ln>
        </p:spPr>
      </p:sp>
      <p:sp>
        <p:nvSpPr>
          <p:cNvPr id="27" name="Text 24"/>
          <p:cNvSpPr txBox="1"/>
          <p:nvPr/>
        </p:nvSpPr>
        <p:spPr>
          <a:xfrm>
            <a:off x="10469880" y="21031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78</a:t>
            </a:r>
            <a:endParaRPr lang="en-US" sz="1800" dirty="0"/>
          </a:p>
        </p:txBody>
      </p:sp>
      <p:sp>
        <p:nvSpPr>
          <p:cNvPr id="28" name="Text 25"/>
          <p:cNvSpPr txBox="1"/>
          <p:nvPr/>
        </p:nvSpPr>
        <p:spPr>
          <a:xfrm>
            <a:off x="10469880" y="2724912"/>
            <a:ext cx="82296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29" name="Text 26"/>
          <p:cNvSpPr txBox="1"/>
          <p:nvPr/>
        </p:nvSpPr>
        <p:spPr>
          <a:xfrm>
            <a:off x="6355080" y="3017520"/>
            <a:ext cx="5303520" cy="365760"/>
          </a:xfrm>
          <a:prstGeom prst="rect">
            <a:avLst/>
          </a:prstGeom>
          <a:noFill/>
          <a:ln/>
        </p:spPr>
        <p:txBody>
          <a:bodyPr wrap="square" lIns="0" tIns="0" rIns="0" bIns="0" rtlCol="0" anchor="ctr"/>
          <a:lstStyle/>
          <a:p>
            <a:pPr algn="l" indent="0" marL="0">
              <a:buNone/>
            </a:pPr>
            <a:r>
              <a:rPr lang="en-US" sz="1400" dirty="0">
                <a:solidFill>
                  <a:srgbClr val="5B6478"/>
                </a:solidFill>
                <a:latin typeface="Calibri" pitchFamily="34" charset="0"/>
                <a:ea typeface="Calibri" pitchFamily="34" charset="-122"/>
                <a:cs typeface="Calibri" pitchFamily="34" charset="-120"/>
              </a:rPr>
              <a:t>index 0 … Length − 1 = 5</a:t>
            </a:r>
            <a:endParaRPr lang="en-US" sz="1400" dirty="0"/>
          </a:p>
        </p:txBody>
      </p:sp>
      <p:sp>
        <p:nvSpPr>
          <p:cNvPr id="30" name="Shape 27"/>
          <p:cNvSpPr/>
          <p:nvPr/>
        </p:nvSpPr>
        <p:spPr>
          <a:xfrm>
            <a:off x="6355080" y="3520440"/>
            <a:ext cx="5303520" cy="777240"/>
          </a:xfrm>
          <a:prstGeom prst="roundRect">
            <a:avLst>
              <a:gd name="adj" fmla="val 14118"/>
            </a:avLst>
          </a:prstGeom>
          <a:solidFill>
            <a:srgbClr val="EEF1F6"/>
          </a:solidFill>
          <a:ln w="12700">
            <a:solidFill>
              <a:srgbClr val="EEF1F6"/>
            </a:solidFill>
            <a:prstDash val="solid"/>
          </a:ln>
        </p:spPr>
      </p:sp>
      <p:sp>
        <p:nvSpPr>
          <p:cNvPr id="31" name="Shape 28"/>
          <p:cNvSpPr/>
          <p:nvPr/>
        </p:nvSpPr>
        <p:spPr>
          <a:xfrm>
            <a:off x="6537960" y="3657600"/>
            <a:ext cx="502920" cy="502920"/>
          </a:xfrm>
          <a:prstGeom prst="ellipse">
            <a:avLst/>
          </a:prstGeom>
          <a:solidFill>
            <a:srgbClr val="EEF1F6"/>
          </a:solidFill>
          <a:ln w="12700">
            <a:solidFill>
              <a:srgbClr val="EEF1F6"/>
            </a:solidFill>
            <a:prstDash val="solid"/>
          </a:ln>
        </p:spPr>
      </p:sp>
      <p:pic>
        <p:nvPicPr>
          <p:cNvPr id="32" name="Image 0" descr="preencoded.png">    </p:cNvPr>
          <p:cNvPicPr>
            <a:picLocks noChangeAspect="1"/>
          </p:cNvPicPr>
          <p:nvPr/>
        </p:nvPicPr>
        <p:blipFill>
          <a:blip r:embed="rId1"/>
          <a:stretch>
            <a:fillRect/>
          </a:stretch>
        </p:blipFill>
        <p:spPr>
          <a:xfrm>
            <a:off x="6668719" y="3788359"/>
            <a:ext cx="241402" cy="241402"/>
          </a:xfrm>
          <a:prstGeom prst="rect">
            <a:avLst/>
          </a:prstGeom>
        </p:spPr>
      </p:pic>
      <p:sp>
        <p:nvSpPr>
          <p:cNvPr id="33" name="Text 29"/>
          <p:cNvSpPr txBox="1"/>
          <p:nvPr/>
        </p:nvSpPr>
        <p:spPr>
          <a:xfrm>
            <a:off x="7223760" y="3575304"/>
            <a:ext cx="4297680" cy="66751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Where is the largest?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max = 90 at index 4</a:t>
            </a:r>
            <a:endParaRPr lang="en-US" sz="1500" dirty="0"/>
          </a:p>
        </p:txBody>
      </p:sp>
      <p:sp>
        <p:nvSpPr>
          <p:cNvPr id="34" name="Shape 30"/>
          <p:cNvSpPr/>
          <p:nvPr/>
        </p:nvSpPr>
        <p:spPr>
          <a:xfrm>
            <a:off x="6355080" y="4389120"/>
            <a:ext cx="5303520" cy="777240"/>
          </a:xfrm>
          <a:prstGeom prst="roundRect">
            <a:avLst>
              <a:gd name="adj" fmla="val 14118"/>
            </a:avLst>
          </a:prstGeom>
          <a:solidFill>
            <a:srgbClr val="EEF1F6"/>
          </a:solidFill>
          <a:ln w="12700">
            <a:solidFill>
              <a:srgbClr val="EEF1F6"/>
            </a:solidFill>
            <a:prstDash val="solid"/>
          </a:ln>
        </p:spPr>
      </p:sp>
      <p:sp>
        <p:nvSpPr>
          <p:cNvPr id="35" name="Shape 31"/>
          <p:cNvSpPr/>
          <p:nvPr/>
        </p:nvSpPr>
        <p:spPr>
          <a:xfrm>
            <a:off x="6537960" y="4526280"/>
            <a:ext cx="502920" cy="502920"/>
          </a:xfrm>
          <a:prstGeom prst="ellipse">
            <a:avLst/>
          </a:prstGeom>
          <a:solidFill>
            <a:srgbClr val="EEF1F6"/>
          </a:solidFill>
          <a:ln w="12700">
            <a:solidFill>
              <a:srgbClr val="EEF1F6"/>
            </a:solidFill>
            <a:prstDash val="solid"/>
          </a:ln>
        </p:spPr>
      </p:sp>
      <p:pic>
        <p:nvPicPr>
          <p:cNvPr id="36" name="Image 1" descr="preencoded.png">    </p:cNvPr>
          <p:cNvPicPr>
            <a:picLocks noChangeAspect="1"/>
          </p:cNvPicPr>
          <p:nvPr/>
        </p:nvPicPr>
        <p:blipFill>
          <a:blip r:embed="rId2"/>
          <a:stretch>
            <a:fillRect/>
          </a:stretch>
        </p:blipFill>
        <p:spPr>
          <a:xfrm>
            <a:off x="6668719" y="4657039"/>
            <a:ext cx="241402" cy="241402"/>
          </a:xfrm>
          <a:prstGeom prst="rect">
            <a:avLst/>
          </a:prstGeom>
        </p:spPr>
      </p:pic>
      <p:sp>
        <p:nvSpPr>
          <p:cNvPr id="37" name="Text 32"/>
          <p:cNvSpPr txBox="1"/>
          <p:nvPr/>
        </p:nvSpPr>
        <p:spPr>
          <a:xfrm>
            <a:off x="7223760" y="4443984"/>
            <a:ext cx="4297680" cy="66751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Is 64 in the array?</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yes, at index 2</a:t>
            </a:r>
            <a:endParaRPr lang="en-US" sz="1500" dirty="0"/>
          </a:p>
        </p:txBody>
      </p:sp>
      <p:sp>
        <p:nvSpPr>
          <p:cNvPr id="38" name="Shape 33"/>
          <p:cNvSpPr/>
          <p:nvPr/>
        </p:nvSpPr>
        <p:spPr>
          <a:xfrm>
            <a:off x="6355080" y="5257800"/>
            <a:ext cx="5303520" cy="777240"/>
          </a:xfrm>
          <a:prstGeom prst="roundRect">
            <a:avLst>
              <a:gd name="adj" fmla="val 14118"/>
            </a:avLst>
          </a:prstGeom>
          <a:solidFill>
            <a:srgbClr val="EEF1F6"/>
          </a:solidFill>
          <a:ln w="12700">
            <a:solidFill>
              <a:srgbClr val="EEF1F6"/>
            </a:solidFill>
            <a:prstDash val="solid"/>
          </a:ln>
        </p:spPr>
      </p:sp>
      <p:sp>
        <p:nvSpPr>
          <p:cNvPr id="39" name="Shape 34"/>
          <p:cNvSpPr/>
          <p:nvPr/>
        </p:nvSpPr>
        <p:spPr>
          <a:xfrm>
            <a:off x="6537960" y="5394960"/>
            <a:ext cx="502920" cy="502920"/>
          </a:xfrm>
          <a:prstGeom prst="ellipse">
            <a:avLst/>
          </a:prstGeom>
          <a:solidFill>
            <a:srgbClr val="EEF1F6"/>
          </a:solidFill>
          <a:ln w="12700">
            <a:solidFill>
              <a:srgbClr val="EEF1F6"/>
            </a:solidFill>
            <a:prstDash val="solid"/>
          </a:ln>
        </p:spPr>
      </p:sp>
      <p:pic>
        <p:nvPicPr>
          <p:cNvPr id="40" name="Image 2" descr="preencoded.png">    </p:cNvPr>
          <p:cNvPicPr>
            <a:picLocks noChangeAspect="1"/>
          </p:cNvPicPr>
          <p:nvPr/>
        </p:nvPicPr>
        <p:blipFill>
          <a:blip r:embed="rId3"/>
          <a:stretch>
            <a:fillRect/>
          </a:stretch>
        </p:blipFill>
        <p:spPr>
          <a:xfrm>
            <a:off x="6668719" y="5525719"/>
            <a:ext cx="241402" cy="241402"/>
          </a:xfrm>
          <a:prstGeom prst="rect">
            <a:avLst/>
          </a:prstGeom>
        </p:spPr>
      </p:pic>
      <p:sp>
        <p:nvSpPr>
          <p:cNvPr id="41" name="Text 35"/>
          <p:cNvSpPr txBox="1"/>
          <p:nvPr/>
        </p:nvSpPr>
        <p:spPr>
          <a:xfrm>
            <a:off x="7223760" y="5312664"/>
            <a:ext cx="4297680" cy="66751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Put them in order</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64 72 78 85 85 90</a:t>
            </a:r>
            <a:endParaRPr lang="en-US" sz="1500" dirty="0"/>
          </a:p>
        </p:txBody>
      </p:sp>
      <p:sp>
        <p:nvSpPr>
          <p:cNvPr id="42" name="Shape 36"/>
          <p:cNvSpPr/>
          <p:nvPr/>
        </p:nvSpPr>
        <p:spPr>
          <a:xfrm>
            <a:off x="548640" y="4846320"/>
            <a:ext cx="5486400" cy="1234440"/>
          </a:xfrm>
          <a:prstGeom prst="roundRect">
            <a:avLst>
              <a:gd name="adj" fmla="val 8889"/>
            </a:avLst>
          </a:prstGeom>
          <a:solidFill>
            <a:srgbClr val="FFF6E3"/>
          </a:solidFill>
          <a:ln w="12700">
            <a:solidFill>
              <a:srgbClr val="FFF6E3"/>
            </a:solidFill>
            <a:prstDash val="solid"/>
          </a:ln>
        </p:spPr>
      </p:sp>
      <p:pic>
        <p:nvPicPr>
          <p:cNvPr id="43" name="Image 3" descr="preencoded.png">    </p:cNvPr>
          <p:cNvPicPr>
            <a:picLocks noChangeAspect="1"/>
          </p:cNvPicPr>
          <p:nvPr/>
        </p:nvPicPr>
        <p:blipFill>
          <a:blip r:embed="rId4"/>
          <a:stretch>
            <a:fillRect/>
          </a:stretch>
        </p:blipFill>
        <p:spPr>
          <a:xfrm>
            <a:off x="822960" y="5189220"/>
            <a:ext cx="548640" cy="548640"/>
          </a:xfrm>
          <a:prstGeom prst="rect">
            <a:avLst/>
          </a:prstGeom>
        </p:spPr>
      </p:pic>
      <p:sp>
        <p:nvSpPr>
          <p:cNvPr id="44" name="Text 37"/>
          <p:cNvSpPr txBox="1"/>
          <p:nvPr/>
        </p:nvSpPr>
        <p:spPr>
          <a:xfrm>
            <a:off x="1645920" y="4919472"/>
            <a:ext cx="4114800" cy="10881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Today: </a:t>
            </a:r>
            <a:pPr indent="0" marL="0">
              <a:buNone/>
            </a:pPr>
            <a:r>
              <a:rPr lang="en-US" sz="1500" dirty="0">
                <a:solidFill>
                  <a:srgbClr val="333B4F"/>
                </a:solidFill>
                <a:latin typeface="Calibri" pitchFamily="34" charset="0"/>
                <a:ea typeface="Calibri" pitchFamily="34" charset="-122"/>
                <a:cs typeface="Calibri" pitchFamily="34" charset="-120"/>
              </a:rPr>
              <a:t>the three classic array algorithms — find the extreme, search, sort.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Max, min and statistics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The champion pattern · maximum with its index · second largest · mean, variance, standard deviation</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10</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MAXIMUM WITH ITS INDEX</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champion pattern: the first element is the first champion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45920"/>
            <a:ext cx="4572000" cy="3291840"/>
          </a:xfrm>
          <a:prstGeom prst="roundRect">
            <a:avLst>
              <a:gd name="adj" fmla="val 2222"/>
            </a:avLst>
          </a:prstGeom>
          <a:solidFill>
            <a:srgbClr val="F4F6FA"/>
          </a:solidFill>
          <a:ln w="9525">
            <a:solidFill>
              <a:srgbClr val="C9D0DD"/>
            </a:solidFill>
            <a:prstDash val="solid"/>
          </a:ln>
        </p:spPr>
      </p:sp>
      <p:sp>
        <p:nvSpPr>
          <p:cNvPr id="8" name="Text 5"/>
          <p:cNvSpPr txBox="1"/>
          <p:nvPr/>
        </p:nvSpPr>
        <p:spPr>
          <a:xfrm>
            <a:off x="731520" y="1737360"/>
            <a:ext cx="420624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9" name="Text 6"/>
          <p:cNvSpPr txBox="1"/>
          <p:nvPr/>
        </p:nvSpPr>
        <p:spPr>
          <a:xfrm>
            <a:off x="731520" y="2057400"/>
            <a:ext cx="4206240" cy="2788920"/>
          </a:xfrm>
          <a:prstGeom prst="rect">
            <a:avLst/>
          </a:prstGeom>
          <a:noFill/>
          <a:ln/>
        </p:spPr>
        <p:txBody>
          <a:bodyPr wrap="square" lIns="0" tIns="0" rIns="0" bIns="0" rtlCol="0" anchor="t"/>
          <a:lstStyle/>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max ← a[0]</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maxIndex ← 0</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i ← 1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n − 1</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a[i] &gt; max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THEN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max ← a[i]</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maxIndex ← i</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IF</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FOR</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max, maxIndex</a:t>
            </a:r>
            <a:endParaRPr lang="en-US" sz="1500" dirty="0"/>
          </a:p>
        </p:txBody>
      </p:sp>
      <p:sp>
        <p:nvSpPr>
          <p:cNvPr id="10" name="Shape 7"/>
          <p:cNvSpPr/>
          <p:nvPr/>
        </p:nvSpPr>
        <p:spPr>
          <a:xfrm>
            <a:off x="548640" y="5074920"/>
            <a:ext cx="4572000" cy="1005840"/>
          </a:xfrm>
          <a:prstGeom prst="roundRect">
            <a:avLst>
              <a:gd name="adj" fmla="val 10909"/>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303520"/>
            <a:ext cx="548640" cy="548640"/>
          </a:xfrm>
          <a:prstGeom prst="rect">
            <a:avLst/>
          </a:prstGeom>
        </p:spPr>
      </p:pic>
      <p:sp>
        <p:nvSpPr>
          <p:cNvPr id="12" name="Text 8"/>
          <p:cNvSpPr txBox="1"/>
          <p:nvPr/>
        </p:nvSpPr>
        <p:spPr>
          <a:xfrm>
            <a:off x="1645920" y="5148072"/>
            <a:ext cx="3200400" cy="8595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min: </a:t>
            </a:r>
            <a:pPr indent="0" marL="0">
              <a:buNone/>
            </a:pPr>
            <a:r>
              <a:rPr lang="en-US" sz="1500" dirty="0">
                <a:solidFill>
                  <a:srgbClr val="333B4F"/>
                </a:solidFill>
                <a:latin typeface="Calibri" pitchFamily="34" charset="0"/>
                <a:ea typeface="Calibri" pitchFamily="34" charset="-122"/>
                <a:cs typeface="Calibri" pitchFamily="34" charset="-120"/>
              </a:rPr>
              <a:t>the same loop with &lt; instead of &gt;.</a:t>
            </a:r>
            <a:endParaRPr lang="en-US" sz="1500" dirty="0"/>
          </a:p>
        </p:txBody>
      </p:sp>
      <p:sp>
        <p:nvSpPr>
          <p:cNvPr id="13" name="Text 9"/>
          <p:cNvSpPr txBox="1"/>
          <p:nvPr/>
        </p:nvSpPr>
        <p:spPr>
          <a:xfrm>
            <a:off x="5440680" y="1645920"/>
            <a:ext cx="6217920" cy="36576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temps (Example 1, sample run 1)</a:t>
            </a:r>
            <a:endParaRPr lang="en-US" sz="1500" dirty="0"/>
          </a:p>
        </p:txBody>
      </p:sp>
      <p:sp>
        <p:nvSpPr>
          <p:cNvPr id="14" name="Shape 10"/>
          <p:cNvSpPr/>
          <p:nvPr/>
        </p:nvSpPr>
        <p:spPr>
          <a:xfrm>
            <a:off x="5440680" y="2057400"/>
            <a:ext cx="914400" cy="548640"/>
          </a:xfrm>
          <a:prstGeom prst="rect">
            <a:avLst/>
          </a:prstGeom>
          <a:solidFill>
            <a:srgbClr val="EEF1F6"/>
          </a:solidFill>
          <a:ln w="9525">
            <a:solidFill>
              <a:srgbClr val="8A94AB"/>
            </a:solidFill>
            <a:prstDash val="solid"/>
          </a:ln>
        </p:spPr>
      </p:sp>
      <p:sp>
        <p:nvSpPr>
          <p:cNvPr id="15" name="Text 11"/>
          <p:cNvSpPr txBox="1"/>
          <p:nvPr/>
        </p:nvSpPr>
        <p:spPr>
          <a:xfrm>
            <a:off x="5440680" y="2057400"/>
            <a:ext cx="9144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12.5</a:t>
            </a:r>
            <a:endParaRPr lang="en-US" sz="1700" dirty="0"/>
          </a:p>
        </p:txBody>
      </p:sp>
      <p:sp>
        <p:nvSpPr>
          <p:cNvPr id="16" name="Text 12"/>
          <p:cNvSpPr txBox="1"/>
          <p:nvPr/>
        </p:nvSpPr>
        <p:spPr>
          <a:xfrm>
            <a:off x="5440680" y="2633472"/>
            <a:ext cx="91440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7" name="Shape 13"/>
          <p:cNvSpPr/>
          <p:nvPr/>
        </p:nvSpPr>
        <p:spPr>
          <a:xfrm>
            <a:off x="6355080" y="2057400"/>
            <a:ext cx="914400" cy="548640"/>
          </a:xfrm>
          <a:prstGeom prst="rect">
            <a:avLst/>
          </a:prstGeom>
          <a:solidFill>
            <a:srgbClr val="EEF1F6"/>
          </a:solidFill>
          <a:ln w="9525">
            <a:solidFill>
              <a:srgbClr val="8A94AB"/>
            </a:solidFill>
            <a:prstDash val="solid"/>
          </a:ln>
        </p:spPr>
      </p:sp>
      <p:sp>
        <p:nvSpPr>
          <p:cNvPr id="18" name="Text 14"/>
          <p:cNvSpPr txBox="1"/>
          <p:nvPr/>
        </p:nvSpPr>
        <p:spPr>
          <a:xfrm>
            <a:off x="6355080" y="2057400"/>
            <a:ext cx="9144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18</a:t>
            </a:r>
            <a:endParaRPr lang="en-US" sz="1700" dirty="0"/>
          </a:p>
        </p:txBody>
      </p:sp>
      <p:sp>
        <p:nvSpPr>
          <p:cNvPr id="19" name="Text 15"/>
          <p:cNvSpPr txBox="1"/>
          <p:nvPr/>
        </p:nvSpPr>
        <p:spPr>
          <a:xfrm>
            <a:off x="6355080" y="2633472"/>
            <a:ext cx="91440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20" name="Shape 16"/>
          <p:cNvSpPr/>
          <p:nvPr/>
        </p:nvSpPr>
        <p:spPr>
          <a:xfrm>
            <a:off x="7269480" y="2057400"/>
            <a:ext cx="914400" cy="548640"/>
          </a:xfrm>
          <a:prstGeom prst="rect">
            <a:avLst/>
          </a:prstGeom>
          <a:solidFill>
            <a:srgbClr val="EEF1F6"/>
          </a:solidFill>
          <a:ln w="9525">
            <a:solidFill>
              <a:srgbClr val="8A94AB"/>
            </a:solidFill>
            <a:prstDash val="solid"/>
          </a:ln>
        </p:spPr>
      </p:sp>
      <p:sp>
        <p:nvSpPr>
          <p:cNvPr id="21" name="Text 17"/>
          <p:cNvSpPr txBox="1"/>
          <p:nvPr/>
        </p:nvSpPr>
        <p:spPr>
          <a:xfrm>
            <a:off x="7269480" y="2057400"/>
            <a:ext cx="9144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9.5</a:t>
            </a:r>
            <a:endParaRPr lang="en-US" sz="1700" dirty="0"/>
          </a:p>
        </p:txBody>
      </p:sp>
      <p:sp>
        <p:nvSpPr>
          <p:cNvPr id="22" name="Text 18"/>
          <p:cNvSpPr txBox="1"/>
          <p:nvPr/>
        </p:nvSpPr>
        <p:spPr>
          <a:xfrm>
            <a:off x="7269480" y="2633472"/>
            <a:ext cx="91440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23" name="Shape 19"/>
          <p:cNvSpPr/>
          <p:nvPr/>
        </p:nvSpPr>
        <p:spPr>
          <a:xfrm>
            <a:off x="8183880" y="2057400"/>
            <a:ext cx="914400" cy="548640"/>
          </a:xfrm>
          <a:prstGeom prst="rect">
            <a:avLst/>
          </a:prstGeom>
          <a:solidFill>
            <a:srgbClr val="E6F4EC"/>
          </a:solidFill>
          <a:ln w="9525">
            <a:solidFill>
              <a:srgbClr val="8A94AB"/>
            </a:solidFill>
            <a:prstDash val="solid"/>
          </a:ln>
        </p:spPr>
      </p:sp>
      <p:sp>
        <p:nvSpPr>
          <p:cNvPr id="24" name="Text 20"/>
          <p:cNvSpPr txBox="1"/>
          <p:nvPr/>
        </p:nvSpPr>
        <p:spPr>
          <a:xfrm>
            <a:off x="8183880" y="2057400"/>
            <a:ext cx="9144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21</a:t>
            </a:r>
            <a:endParaRPr lang="en-US" sz="1700" dirty="0"/>
          </a:p>
        </p:txBody>
      </p:sp>
      <p:sp>
        <p:nvSpPr>
          <p:cNvPr id="25" name="Text 21"/>
          <p:cNvSpPr txBox="1"/>
          <p:nvPr/>
        </p:nvSpPr>
        <p:spPr>
          <a:xfrm>
            <a:off x="8183880" y="2633472"/>
            <a:ext cx="91440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26" name="Shape 22"/>
          <p:cNvSpPr/>
          <p:nvPr/>
        </p:nvSpPr>
        <p:spPr>
          <a:xfrm>
            <a:off x="9098280" y="2057400"/>
            <a:ext cx="914400" cy="548640"/>
          </a:xfrm>
          <a:prstGeom prst="rect">
            <a:avLst/>
          </a:prstGeom>
          <a:solidFill>
            <a:srgbClr val="EEF1F6"/>
          </a:solidFill>
          <a:ln w="9525">
            <a:solidFill>
              <a:srgbClr val="8A94AB"/>
            </a:solidFill>
            <a:prstDash val="solid"/>
          </a:ln>
        </p:spPr>
      </p:sp>
      <p:sp>
        <p:nvSpPr>
          <p:cNvPr id="27" name="Text 23"/>
          <p:cNvSpPr txBox="1"/>
          <p:nvPr/>
        </p:nvSpPr>
        <p:spPr>
          <a:xfrm>
            <a:off x="9098280" y="2057400"/>
            <a:ext cx="91440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15</a:t>
            </a:r>
            <a:endParaRPr lang="en-US" sz="1700" dirty="0"/>
          </a:p>
        </p:txBody>
      </p:sp>
      <p:sp>
        <p:nvSpPr>
          <p:cNvPr id="28" name="Text 24"/>
          <p:cNvSpPr txBox="1"/>
          <p:nvPr/>
        </p:nvSpPr>
        <p:spPr>
          <a:xfrm>
            <a:off x="9098280" y="2633472"/>
            <a:ext cx="91440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40680" y="3017520"/>
          <a:ext cx="6217920" cy="914400"/>
        </p:xfrm>
        <a:graphic>
          <a:graphicData uri="http://schemas.openxmlformats.org/drawingml/2006/table">
            <a:tbl>
              <a:tblPr/>
              <a:tblGrid>
                <a:gridCol w="731520"/>
                <a:gridCol w="1234440"/>
                <a:gridCol w="2011680"/>
                <a:gridCol w="1005840"/>
                <a:gridCol w="123444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temps[i]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temps[i] &gt; max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max</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maxIndex</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start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18</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18</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9.5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8453B"/>
                          </a:solidFill>
                          <a:latin typeface="Calibri" pitchFamily="34" charset="0"/>
                          <a:ea typeface="Calibri" pitchFamily="34" charset="-122"/>
                          <a:cs typeface="Calibri" pitchFamily="34" charset="-120"/>
                        </a:rPr>
                        <a:t>false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18</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8453B"/>
                          </a:solidFill>
                          <a:latin typeface="Calibri" pitchFamily="34" charset="0"/>
                          <a:ea typeface="Calibri" pitchFamily="34" charset="-122"/>
                          <a:cs typeface="Calibri" pitchFamily="34" charset="-120"/>
                        </a:rPr>
                        <a:t>false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30" name="Text 25"/>
          <p:cNvSpPr txBox="1"/>
          <p:nvPr/>
        </p:nvSpPr>
        <p:spPr>
          <a:xfrm>
            <a:off x="5440680" y="5440680"/>
            <a:ext cx="6217920" cy="548640"/>
          </a:xfrm>
          <a:prstGeom prst="rect">
            <a:avLst/>
          </a:prstGeom>
          <a:noFill/>
          <a:ln/>
        </p:spPr>
        <p:txBody>
          <a:bodyPr wrap="square" lIns="0" tIns="0" rIns="0" bIns="0" rtlCol="0" anchor="ctr"/>
          <a:lstStyle/>
          <a:p>
            <a:pPr algn="l" indent="0" marL="0">
              <a:buNone/>
            </a:pPr>
            <a:r>
              <a:rPr lang="en-US" sz="1600" b="1" dirty="0">
                <a:solidFill>
                  <a:srgbClr val="1F7A50"/>
                </a:solidFill>
                <a:latin typeface="Calibri" pitchFamily="34" charset="0"/>
                <a:ea typeface="Calibri" pitchFamily="34" charset="-122"/>
                <a:cs typeface="Calibri" pitchFamily="34" charset="-120"/>
              </a:rPr>
              <a:t>Result: max = 21 at index 3 (day 4).</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10_01_MAXMININDEX</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Warmest and coldest day in one loop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45920"/>
            <a:ext cx="736092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9037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 · then print max, maxIndex + 1, min, minIndex + 1</a:t>
            </a:r>
            <a:endParaRPr lang="en-US" sz="1100" dirty="0"/>
          </a:p>
        </p:txBody>
      </p:sp>
      <p:sp>
        <p:nvSpPr>
          <p:cNvPr id="9" name="Text 6"/>
          <p:cNvSpPr txBox="1"/>
          <p:nvPr/>
        </p:nvSpPr>
        <p:spPr>
          <a:xfrm>
            <a:off x="777240" y="2057400"/>
            <a:ext cx="6903720" cy="39136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 = temps[</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first element = first candidate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min = temps[</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maxIndex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minIndex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 i++)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temps[0] is already used</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(temps[i] &gt; max)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 = temps[i];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maxIndex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(temps[i] &lt; min)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min = temps[i];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minIndex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8046720" y="1645920"/>
            <a:ext cx="3611880" cy="2514600"/>
          </a:xfrm>
          <a:prstGeom prst="roundRect">
            <a:avLst>
              <a:gd name="adj" fmla="val 3636"/>
            </a:avLst>
          </a:prstGeom>
          <a:solidFill>
            <a:srgbClr val="0B0F19"/>
          </a:solidFill>
          <a:ln w="12700">
            <a:solidFill>
              <a:srgbClr val="2A3654"/>
            </a:solidFill>
            <a:prstDash val="solid"/>
          </a:ln>
        </p:spPr>
      </p:sp>
      <p:sp>
        <p:nvSpPr>
          <p:cNvPr id="11" name="Shape 8"/>
          <p:cNvSpPr/>
          <p:nvPr/>
        </p:nvSpPr>
        <p:spPr>
          <a:xfrm>
            <a:off x="822960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845820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68680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96112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8275320" y="2029968"/>
            <a:ext cx="3154680" cy="2011680"/>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How many days?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5</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Temperature of day 1: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12.5</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Temperature of day 2: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18</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Temperature of day 3: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9.5</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Temperature of day 4: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21</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Temperature of day 5: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15</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Warmest: 21 on day 4 (index 3)</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Coldest: 9.5 on day 3 (index 2)</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Max if we start at 0: 21</a:t>
            </a:r>
            <a:endParaRPr lang="en-US" sz="1100" dirty="0"/>
          </a:p>
        </p:txBody>
      </p:sp>
      <p:sp>
        <p:nvSpPr>
          <p:cNvPr id="16" name="Shape 13"/>
          <p:cNvSpPr/>
          <p:nvPr/>
        </p:nvSpPr>
        <p:spPr>
          <a:xfrm>
            <a:off x="8046720" y="4343400"/>
            <a:ext cx="3611880" cy="1737360"/>
          </a:xfrm>
          <a:prstGeom prst="roundRect">
            <a:avLst>
              <a:gd name="adj" fmla="val 6316"/>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8321040" y="4937760"/>
            <a:ext cx="548640" cy="548640"/>
          </a:xfrm>
          <a:prstGeom prst="rect">
            <a:avLst/>
          </a:prstGeom>
        </p:spPr>
      </p:pic>
      <p:sp>
        <p:nvSpPr>
          <p:cNvPr id="18" name="Text 14"/>
          <p:cNvSpPr txBox="1"/>
          <p:nvPr/>
        </p:nvSpPr>
        <p:spPr>
          <a:xfrm>
            <a:off x="9144000" y="4416552"/>
            <a:ext cx="2240280" cy="159105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Value AND position. </a:t>
            </a:r>
            <a:pPr indent="0" marL="0">
              <a:buNone/>
            </a:pPr>
            <a:r>
              <a:rPr lang="en-US" sz="1500" dirty="0">
                <a:solidFill>
                  <a:srgbClr val="333B4F"/>
                </a:solidFill>
                <a:latin typeface="Calibri" pitchFamily="34" charset="0"/>
                <a:ea typeface="Calibri" pitchFamily="34" charset="-122"/>
                <a:cs typeface="Calibri" pitchFamily="34" charset="-120"/>
              </a:rPr>
              <a:t>Keep the index; the value is always temps[maxIndex].</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CLASSIC BUG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Why not start the maximum at 0?</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45920"/>
            <a:ext cx="603504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(end)</a:t>
            </a:r>
            <a:endParaRPr lang="en-US" sz="1100" dirty="0"/>
          </a:p>
        </p:txBody>
      </p:sp>
      <p:sp>
        <p:nvSpPr>
          <p:cNvPr id="9" name="Text 6"/>
          <p:cNvSpPr txBox="1"/>
          <p:nvPr/>
        </p:nvSpPr>
        <p:spPr>
          <a:xfrm>
            <a:off x="777240" y="2057400"/>
            <a:ext cx="5577840" cy="2221992"/>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The classic mistake: starting the maximum at 0</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wrongMax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(temps[i] &gt; wrongMax)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wrongMax = temps[i];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$"Max if we start at 0: {wrongMax}"</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720840" y="1645920"/>
            <a:ext cx="4937760" cy="2743200"/>
          </a:xfrm>
          <a:prstGeom prst="roundRect">
            <a:avLst>
              <a:gd name="adj" fmla="val 3333"/>
            </a:avLst>
          </a:prstGeom>
          <a:solidFill>
            <a:srgbClr val="0B0F19"/>
          </a:solidFill>
          <a:ln w="12700">
            <a:solidFill>
              <a:srgbClr val="2A3654"/>
            </a:solidFill>
            <a:prstDash val="solid"/>
          </a:ln>
        </p:spPr>
      </p:sp>
      <p:sp>
        <p:nvSpPr>
          <p:cNvPr id="11" name="Shape 8"/>
          <p:cNvSpPr/>
          <p:nvPr/>
        </p:nvSpPr>
        <p:spPr>
          <a:xfrm>
            <a:off x="69037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1323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3609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635240" y="1719072"/>
            <a:ext cx="38404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 a cold week</a:t>
            </a:r>
            <a:endParaRPr lang="en-US" sz="1000" dirty="0"/>
          </a:p>
        </p:txBody>
      </p:sp>
      <p:sp>
        <p:nvSpPr>
          <p:cNvPr id="15" name="Text 12"/>
          <p:cNvSpPr txBox="1"/>
          <p:nvPr/>
        </p:nvSpPr>
        <p:spPr>
          <a:xfrm>
            <a:off x="6949440" y="2029968"/>
            <a:ext cx="4480560" cy="2240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days?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Temperature of day 1: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Temperature of day 2: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Temperature of day 3: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Temperature of day 4: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Warmest: -1 on day 2 (index 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Coldest: -7.25 on day 3 (index 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Max if we start at 0: 0</a:t>
            </a:r>
            <a:endParaRPr lang="en-US" sz="1300" dirty="0"/>
          </a:p>
        </p:txBody>
      </p:sp>
      <p:sp>
        <p:nvSpPr>
          <p:cNvPr id="16" name="Shape 13"/>
          <p:cNvSpPr/>
          <p:nvPr/>
        </p:nvSpPr>
        <p:spPr>
          <a:xfrm>
            <a:off x="548640" y="4572000"/>
            <a:ext cx="6035040" cy="1508760"/>
          </a:xfrm>
          <a:prstGeom prst="roundRect">
            <a:avLst>
              <a:gd name="adj" fmla="val 7273"/>
            </a:avLst>
          </a:prstGeom>
          <a:solidFill>
            <a:srgbClr val="FBE9E7"/>
          </a:solidFill>
          <a:ln w="12700">
            <a:solidFill>
              <a:srgbClr val="FBE9E7"/>
            </a:solidFill>
            <a:prstDash val="solid"/>
          </a:ln>
        </p:spPr>
      </p:sp>
      <p:sp>
        <p:nvSpPr>
          <p:cNvPr id="17" name="Text 14"/>
          <p:cNvSpPr txBox="1"/>
          <p:nvPr/>
        </p:nvSpPr>
        <p:spPr>
          <a:xfrm>
            <a:off x="777240" y="4617720"/>
            <a:ext cx="5577840" cy="1417320"/>
          </a:xfrm>
          <a:prstGeom prst="rect">
            <a:avLst/>
          </a:prstGeom>
          <a:noFill/>
          <a:ln/>
        </p:spPr>
        <p:txBody>
          <a:bodyPr wrap="square" lIns="0" tIns="0" rIns="0" bIns="0" rtlCol="0" anchor="ctr"/>
          <a:lstStyle/>
          <a:p>
            <a:pPr indent="0" marL="0">
              <a:buNone/>
            </a:pPr>
            <a:r>
              <a:rPr lang="en-US" sz="1500" b="1" dirty="0">
                <a:solidFill>
                  <a:srgbClr val="C8453B"/>
                </a:solidFill>
                <a:latin typeface="Calibri" pitchFamily="34" charset="0"/>
                <a:ea typeface="Calibri" pitchFamily="34" charset="-122"/>
                <a:cs typeface="Calibri" pitchFamily="34" charset="-120"/>
              </a:rPr>
              <a:t>Bug: </a:t>
            </a:r>
            <a:pPr indent="0" marL="0">
              <a:buNone/>
            </a:pPr>
            <a:r>
              <a:rPr lang="en-US" sz="1500" dirty="0">
                <a:solidFill>
                  <a:srgbClr val="333B4F"/>
                </a:solidFill>
                <a:latin typeface="Calibri" pitchFamily="34" charset="0"/>
                <a:ea typeface="Calibri" pitchFamily="34" charset="-122"/>
                <a:cs typeface="Calibri" pitchFamily="34" charset="-120"/>
              </a:rPr>
              <a:t>all values are below 0, so none is "&gt; 0". The answer 0 is not even in the array!</a:t>
            </a:r>
            <a:endParaRPr lang="en-US" sz="1500" dirty="0"/>
          </a:p>
        </p:txBody>
      </p:sp>
      <p:sp>
        <p:nvSpPr>
          <p:cNvPr id="18" name="Shape 15"/>
          <p:cNvSpPr/>
          <p:nvPr/>
        </p:nvSpPr>
        <p:spPr>
          <a:xfrm>
            <a:off x="6720840" y="4572000"/>
            <a:ext cx="4937760" cy="1508760"/>
          </a:xfrm>
          <a:prstGeom prst="roundRect">
            <a:avLst>
              <a:gd name="adj" fmla="val 7273"/>
            </a:avLst>
          </a:prstGeom>
          <a:solidFill>
            <a:srgbClr val="E6F4EC"/>
          </a:solidFill>
          <a:ln w="12700">
            <a:solidFill>
              <a:srgbClr val="E6F4EC"/>
            </a:solidFill>
            <a:prstDash val="solid"/>
          </a:ln>
        </p:spPr>
      </p:sp>
      <p:sp>
        <p:nvSpPr>
          <p:cNvPr id="19" name="Text 16"/>
          <p:cNvSpPr txBox="1"/>
          <p:nvPr/>
        </p:nvSpPr>
        <p:spPr>
          <a:xfrm>
            <a:off x="6949440" y="4617720"/>
            <a:ext cx="4480560" cy="1417320"/>
          </a:xfrm>
          <a:prstGeom prst="rect">
            <a:avLst/>
          </a:prstGeom>
          <a:noFill/>
          <a:ln/>
        </p:spPr>
        <p:txBody>
          <a:bodyPr wrap="square" lIns="0" tIns="0" rIns="0" bIns="0" rtlCol="0" anchor="ctr"/>
          <a:lstStyle/>
          <a:p>
            <a:pPr indent="0" marL="0">
              <a:buNone/>
            </a:pPr>
            <a:r>
              <a:rPr lang="en-US" sz="1500" b="1" dirty="0">
                <a:solidFill>
                  <a:srgbClr val="1F7A50"/>
                </a:solidFill>
                <a:latin typeface="Calibri" pitchFamily="34" charset="0"/>
                <a:ea typeface="Calibri" pitchFamily="34" charset="-122"/>
                <a:cs typeface="Calibri" pitchFamily="34" charset="-120"/>
              </a:rPr>
              <a:t>Fix: </a:t>
            </a:r>
            <a:pPr indent="0" marL="0">
              <a:buNone/>
            </a:pPr>
            <a:r>
              <a:rPr lang="en-US" sz="1500" dirty="0">
                <a:solidFill>
                  <a:srgbClr val="333B4F"/>
                </a:solidFill>
                <a:latin typeface="Calibri" pitchFamily="34" charset="0"/>
                <a:ea typeface="Calibri" pitchFamily="34" charset="-122"/>
                <a:cs typeface="Calibri" pitchFamily="34" charset="-120"/>
              </a:rPr>
              <a:t>max ← a[0] (and loop from 1), or max ← double.MinValue. Always test with negative data.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10_02_SECONDLARGEST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Second largest in one pass: two champions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45920"/>
            <a:ext cx="66294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172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6172200" cy="3913632"/>
          </a:xfrm>
          <a:prstGeom prst="rect">
            <a:avLst/>
          </a:prstGeom>
          <a:noFill/>
          <a:ln/>
        </p:spPr>
        <p:txBody>
          <a:bodyPr wrap="square" lIns="0" tIns="0" rIns="0" bIns="0" rtlCol="0" anchor="t"/>
          <a:lstStyle/>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largest = scores[</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second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hasSecond =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i &lt; scores.Length; i++)</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(scores[i] &gt; largest)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second = largest;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hasSecond =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largest = scores[i];</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(scores[i] &lt; largest &amp;&amp; (!hasSecond || scores[i] &gt; second))</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second = scores[i];</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hasSecond =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F8BA3"/>
                </a:solidFill>
                <a:latin typeface="Courier New" pitchFamily="34" charset="0"/>
                <a:ea typeface="Courier New" pitchFamily="34" charset="-122"/>
                <a:cs typeface="Courier New" pitchFamily="34" charset="-120"/>
              </a:rPr>
              <a:t>// scores[i] == largest: a duplicate, ignore it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0" y="1645920"/>
          <a:ext cx="4343400" cy="914400"/>
        </p:xfrm>
        <a:graphic>
          <a:graphicData uri="http://schemas.openxmlformats.org/drawingml/2006/table">
            <a:tbl>
              <a:tblPr/>
              <a:tblGrid>
                <a:gridCol w="411480"/>
                <a:gridCol w="914400"/>
                <a:gridCol w="1371600"/>
                <a:gridCol w="822960"/>
                <a:gridCol w="82296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scores[i]</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case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largest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second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72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72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new largest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72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64</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too small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72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duplicate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72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4</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90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new largest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90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78</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too small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90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85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1" name="Shape 7"/>
          <p:cNvSpPr/>
          <p:nvPr/>
        </p:nvSpPr>
        <p:spPr>
          <a:xfrm>
            <a:off x="7315200" y="4434840"/>
            <a:ext cx="4343400" cy="1645920"/>
          </a:xfrm>
          <a:prstGeom prst="roundRect">
            <a:avLst>
              <a:gd name="adj" fmla="val 5556"/>
            </a:avLst>
          </a:prstGeom>
          <a:solidFill>
            <a:srgbClr val="0B0F19"/>
          </a:solidFill>
          <a:ln w="12700">
            <a:solidFill>
              <a:srgbClr val="2A3654"/>
            </a:solidFill>
            <a:prstDash val="solid"/>
          </a:ln>
        </p:spPr>
      </p:sp>
      <p:sp>
        <p:nvSpPr>
          <p:cNvPr id="12" name="Shape 8"/>
          <p:cNvSpPr/>
          <p:nvPr/>
        </p:nvSpPr>
        <p:spPr>
          <a:xfrm>
            <a:off x="7498080" y="4562856"/>
            <a:ext cx="118872" cy="118872"/>
          </a:xfrm>
          <a:prstGeom prst="ellipse">
            <a:avLst/>
          </a:prstGeom>
          <a:solidFill>
            <a:srgbClr val="FF5F57"/>
          </a:solidFill>
          <a:ln w="12700">
            <a:solidFill>
              <a:srgbClr val="FF5F57"/>
            </a:solidFill>
            <a:prstDash val="solid"/>
          </a:ln>
        </p:spPr>
      </p:sp>
      <p:sp>
        <p:nvSpPr>
          <p:cNvPr id="13" name="Shape 9"/>
          <p:cNvSpPr/>
          <p:nvPr/>
        </p:nvSpPr>
        <p:spPr>
          <a:xfrm>
            <a:off x="7726680" y="4562856"/>
            <a:ext cx="118872" cy="118872"/>
          </a:xfrm>
          <a:prstGeom prst="ellipse">
            <a:avLst/>
          </a:prstGeom>
          <a:solidFill>
            <a:srgbClr val="FEBC2E"/>
          </a:solidFill>
          <a:ln w="12700">
            <a:solidFill>
              <a:srgbClr val="FEBC2E"/>
            </a:solidFill>
            <a:prstDash val="solid"/>
          </a:ln>
        </p:spPr>
      </p:sp>
      <p:sp>
        <p:nvSpPr>
          <p:cNvPr id="14" name="Shape 10"/>
          <p:cNvSpPr/>
          <p:nvPr/>
        </p:nvSpPr>
        <p:spPr>
          <a:xfrm>
            <a:off x="7955280" y="4562856"/>
            <a:ext cx="118872" cy="118872"/>
          </a:xfrm>
          <a:prstGeom prst="ellipse">
            <a:avLst/>
          </a:prstGeom>
          <a:solidFill>
            <a:srgbClr val="28C840"/>
          </a:solidFill>
          <a:ln w="12700">
            <a:solidFill>
              <a:srgbClr val="28C840"/>
            </a:solidFill>
            <a:prstDash val="solid"/>
          </a:ln>
        </p:spPr>
      </p:sp>
      <p:sp>
        <p:nvSpPr>
          <p:cNvPr id="15" name="Text 11"/>
          <p:cNvSpPr txBox="1"/>
          <p:nvPr/>
        </p:nvSpPr>
        <p:spPr>
          <a:xfrm>
            <a:off x="8229600" y="4507992"/>
            <a:ext cx="3246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6" name="Text 12"/>
          <p:cNvSpPr txBox="1"/>
          <p:nvPr/>
        </p:nvSpPr>
        <p:spPr>
          <a:xfrm>
            <a:off x="7543800" y="4818888"/>
            <a:ext cx="3886200" cy="11430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Scores: 72, 85, 64, 85, 90, 78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Largest: 90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Second largest: 85</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STATISTICS WITH ARRAYS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Mean, variance and standard deviation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45920"/>
            <a:ext cx="4754880" cy="3063240"/>
          </a:xfrm>
          <a:prstGeom prst="roundRect">
            <a:avLst>
              <a:gd name="adj" fmla="val 3582"/>
            </a:avLst>
          </a:prstGeom>
          <a:solidFill>
            <a:srgbClr val="EEF1F6"/>
          </a:solidFill>
          <a:ln w="12700">
            <a:solidFill>
              <a:srgbClr val="EEF1F6"/>
            </a:solidFill>
            <a:prstDash val="solid"/>
          </a:ln>
        </p:spPr>
      </p:sp>
      <p:sp>
        <p:nvSpPr>
          <p:cNvPr id="8" name="Text 5"/>
          <p:cNvSpPr txBox="1"/>
          <p:nvPr/>
        </p:nvSpPr>
        <p:spPr>
          <a:xfrm>
            <a:off x="777240" y="1783080"/>
            <a:ext cx="4389120" cy="2834640"/>
          </a:xfrm>
          <a:prstGeom prst="rect">
            <a:avLst/>
          </a:prstGeom>
          <a:noFill/>
          <a:ln/>
        </p:spPr>
        <p:txBody>
          <a:bodyPr wrap="square" lIns="0" tIns="0" rIns="0" bIns="0" rtlCol="0" anchor="t"/>
          <a:lstStyle/>
          <a:p>
            <a:pPr indent="0" marL="0">
              <a:spcAft>
                <a:spcPts val="1000"/>
              </a:spcAft>
              <a:buNone/>
            </a:pPr>
            <a:r>
              <a:rPr lang="en-US" sz="1300" b="1" dirty="0">
                <a:solidFill>
                  <a:srgbClr val="5B6478"/>
                </a:solidFill>
                <a:latin typeface="Calibri" pitchFamily="34" charset="0"/>
                <a:ea typeface="Calibri" pitchFamily="34" charset="-122"/>
                <a:cs typeface="Calibri" pitchFamily="34" charset="-120"/>
              </a:rPr>
              <a:t>mean</a:t>
            </a:r>
            <a:endParaRPr lang="en-US" sz="1300" dirty="0"/>
          </a:p>
          <a:p>
            <a:pPr indent="0" marL="0">
              <a:spcAft>
                <a:spcPts val="1000"/>
              </a:spcAft>
              <a:buNone/>
            </a:pPr>
            <a:r>
              <a:rPr lang="en-US" sz="1800" b="1" dirty="0">
                <a:solidFill>
                  <a:srgbClr val="14213D"/>
                </a:solidFill>
                <a:latin typeface="Courier New" pitchFamily="34" charset="0"/>
                <a:ea typeface="Courier New" pitchFamily="34" charset="-122"/>
                <a:cs typeface="Courier New" pitchFamily="34" charset="-120"/>
              </a:rPr>
              <a:t>x̄ = (x₁ + x₂ + … + xₙ) / n</a:t>
            </a:r>
            <a:endParaRPr lang="en-US" sz="1300" dirty="0"/>
          </a:p>
          <a:p>
            <a:pPr indent="0" marL="0">
              <a:spcAft>
                <a:spcPts val="1000"/>
              </a:spcAft>
              <a:buNone/>
            </a:pPr>
            <a:r>
              <a:rPr lang="en-US" sz="1300" b="1" dirty="0">
                <a:solidFill>
                  <a:srgbClr val="5B6478"/>
                </a:solidFill>
                <a:latin typeface="Calibri" pitchFamily="34" charset="0"/>
                <a:ea typeface="Calibri" pitchFamily="34" charset="-122"/>
                <a:cs typeface="Calibri" pitchFamily="34" charset="-120"/>
              </a:rPr>
              <a:t>variance</a:t>
            </a:r>
            <a:endParaRPr lang="en-US" sz="1300" dirty="0"/>
          </a:p>
          <a:p>
            <a:pPr indent="0" marL="0">
              <a:spcAft>
                <a:spcPts val="1000"/>
              </a:spcAft>
              <a:buNone/>
            </a:pPr>
            <a:r>
              <a:rPr lang="en-US" sz="1800" b="1" dirty="0">
                <a:solidFill>
                  <a:srgbClr val="14213D"/>
                </a:solidFill>
                <a:latin typeface="Courier New" pitchFamily="34" charset="0"/>
                <a:ea typeface="Courier New" pitchFamily="34" charset="-122"/>
                <a:cs typeface="Courier New" pitchFamily="34" charset="-120"/>
              </a:rPr>
              <a:t>σ² = Σ (xᵢ − x̄)² / n</a:t>
            </a:r>
            <a:endParaRPr lang="en-US" sz="1300" dirty="0"/>
          </a:p>
          <a:p>
            <a:pPr indent="0" marL="0">
              <a:spcAft>
                <a:spcPts val="1000"/>
              </a:spcAft>
              <a:buNone/>
            </a:pPr>
            <a:r>
              <a:rPr lang="en-US" sz="1300" b="1" dirty="0">
                <a:solidFill>
                  <a:srgbClr val="5B6478"/>
                </a:solidFill>
                <a:latin typeface="Calibri" pitchFamily="34" charset="0"/>
                <a:ea typeface="Calibri" pitchFamily="34" charset="-122"/>
                <a:cs typeface="Calibri" pitchFamily="34" charset="-120"/>
              </a:rPr>
              <a:t>standard deviation</a:t>
            </a:r>
            <a:endParaRPr lang="en-US" sz="1300" dirty="0"/>
          </a:p>
          <a:p>
            <a:pPr indent="0" marL="0">
              <a:spcAft>
                <a:spcPts val="1000"/>
              </a:spcAft>
              <a:buNone/>
            </a:pPr>
            <a:r>
              <a:rPr lang="en-US" sz="1800" b="1" dirty="0">
                <a:solidFill>
                  <a:srgbClr val="14213D"/>
                </a:solidFill>
                <a:latin typeface="Courier New" pitchFamily="34" charset="0"/>
                <a:ea typeface="Courier New" pitchFamily="34" charset="-122"/>
                <a:cs typeface="Courier New" pitchFamily="34" charset="-120"/>
              </a:rPr>
              <a:t>σ = √σ²   (Math.Sqrt)</a:t>
            </a:r>
            <a:endParaRPr lang="en-US" sz="1300" dirty="0"/>
          </a:p>
        </p:txBody>
      </p:sp>
      <p:sp>
        <p:nvSpPr>
          <p:cNvPr id="9" name="Shape 6"/>
          <p:cNvSpPr/>
          <p:nvPr/>
        </p:nvSpPr>
        <p:spPr>
          <a:xfrm>
            <a:off x="548640" y="4846320"/>
            <a:ext cx="4754880" cy="1234440"/>
          </a:xfrm>
          <a:prstGeom prst="roundRect">
            <a:avLst>
              <a:gd name="adj" fmla="val 8889"/>
            </a:avLst>
          </a:prstGeom>
          <a:solidFill>
            <a:srgbClr val="FFF6E3"/>
          </a:solidFill>
          <a:ln w="12700">
            <a:solidFill>
              <a:srgbClr val="FFF6E3"/>
            </a:solidFill>
            <a:prstDash val="solid"/>
          </a:ln>
        </p:spPr>
      </p:sp>
      <p:pic>
        <p:nvPicPr>
          <p:cNvPr id="10" name="Image 0" descr="preencoded.png">    </p:cNvPr>
          <p:cNvPicPr>
            <a:picLocks noChangeAspect="1"/>
          </p:cNvPicPr>
          <p:nvPr/>
        </p:nvPicPr>
        <p:blipFill>
          <a:blip r:embed="rId1"/>
          <a:stretch>
            <a:fillRect/>
          </a:stretch>
        </p:blipFill>
        <p:spPr>
          <a:xfrm>
            <a:off x="822960" y="5189220"/>
            <a:ext cx="548640" cy="548640"/>
          </a:xfrm>
          <a:prstGeom prst="rect">
            <a:avLst/>
          </a:prstGeom>
        </p:spPr>
      </p:pic>
      <p:sp>
        <p:nvSpPr>
          <p:cNvPr id="11" name="Text 7"/>
          <p:cNvSpPr txBox="1"/>
          <p:nvPr/>
        </p:nvSpPr>
        <p:spPr>
          <a:xfrm>
            <a:off x="1645920" y="4919472"/>
            <a:ext cx="3383280" cy="10881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Two passes: </a:t>
            </a:r>
            <a:pPr indent="0" marL="0">
              <a:buNone/>
            </a:pPr>
            <a:r>
              <a:rPr lang="en-US" sz="1500" dirty="0">
                <a:solidFill>
                  <a:srgbClr val="333B4F"/>
                </a:solidFill>
                <a:latin typeface="Calibri" pitchFamily="34" charset="0"/>
                <a:ea typeface="Calibri" pitchFamily="34" charset="-122"/>
                <a:cs typeface="Calibri" pitchFamily="34" charset="-120"/>
              </a:rPr>
              <a:t>first the mean, then the squared distances from it.</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23560" y="1645920"/>
          <a:ext cx="6035040" cy="914400"/>
        </p:xfrm>
        <a:graphic>
          <a:graphicData uri="http://schemas.openxmlformats.org/drawingml/2006/table">
            <a:tbl>
              <a:tblPr/>
              <a:tblGrid>
                <a:gridCol w="1737360"/>
                <a:gridCol w="2011680"/>
                <a:gridCol w="228600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xᵢ</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xᵢ − 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(xᵢ − x̄)²</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72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5.67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32.11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-21.33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455.11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21.67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469.44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-6.33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40.11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28.67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821.78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-28.33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802.78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Σ = 398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4213D"/>
                          </a:solidFill>
                          <a:latin typeface="Courier New" pitchFamily="34" charset="0"/>
                          <a:ea typeface="Courier New" pitchFamily="34" charset="-122"/>
                          <a:cs typeface="Courier New" pitchFamily="34" charset="-120"/>
                        </a:rPr>
                        <a:t>x̄ = 66.33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4213D"/>
                          </a:solidFill>
                          <a:latin typeface="Courier New" pitchFamily="34" charset="0"/>
                          <a:ea typeface="Courier New" pitchFamily="34" charset="-122"/>
                          <a:cs typeface="Courier New" pitchFamily="34" charset="-120"/>
                        </a:rPr>
                        <a:t>2621.33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3" name="Shape 8"/>
          <p:cNvSpPr/>
          <p:nvPr/>
        </p:nvSpPr>
        <p:spPr>
          <a:xfrm>
            <a:off x="5623560" y="4709160"/>
            <a:ext cx="6035040" cy="1371600"/>
          </a:xfrm>
          <a:prstGeom prst="roundRect">
            <a:avLst>
              <a:gd name="adj" fmla="val 8000"/>
            </a:avLst>
          </a:prstGeom>
          <a:solidFill>
            <a:srgbClr val="E3ECF8"/>
          </a:solidFill>
          <a:ln w="12700">
            <a:solidFill>
              <a:srgbClr val="E3ECF8"/>
            </a:solidFill>
            <a:prstDash val="solid"/>
          </a:ln>
        </p:spPr>
      </p:sp>
      <p:sp>
        <p:nvSpPr>
          <p:cNvPr id="14" name="Text 9"/>
          <p:cNvSpPr txBox="1"/>
          <p:nvPr/>
        </p:nvSpPr>
        <p:spPr>
          <a:xfrm>
            <a:off x="5852160" y="4754880"/>
            <a:ext cx="5577840" cy="1280160"/>
          </a:xfrm>
          <a:prstGeom prst="rect">
            <a:avLst/>
          </a:prstGeom>
          <a:noFill/>
          <a:ln/>
        </p:spPr>
        <p:txBody>
          <a:bodyPr wrap="square" lIns="0" tIns="0" rIns="0" bIns="0" rtlCol="0" anchor="ctr"/>
          <a:lstStyle/>
          <a:p>
            <a:pPr indent="0" marL="0">
              <a:spcAft>
                <a:spcPts val="400"/>
              </a:spcAft>
              <a:buNone/>
            </a:pPr>
            <a:r>
              <a:rPr lang="en-US" sz="1700" b="1" dirty="0">
                <a:solidFill>
                  <a:srgbClr val="14213D"/>
                </a:solidFill>
                <a:latin typeface="Courier New" pitchFamily="34" charset="0"/>
                <a:ea typeface="Courier New" pitchFamily="34" charset="-122"/>
                <a:cs typeface="Courier New" pitchFamily="34" charset="-120"/>
              </a:rPr>
              <a:t>σ² = 2621.33 / 6 = 436.89</a:t>
            </a:r>
            <a:endParaRPr lang="en-US" sz="1700" dirty="0"/>
          </a:p>
          <a:p>
            <a:pPr indent="0" marL="0">
              <a:spcAft>
                <a:spcPts val="400"/>
              </a:spcAft>
              <a:buNone/>
            </a:pPr>
            <a:r>
              <a:rPr lang="en-US" sz="1700" b="1" dirty="0">
                <a:solidFill>
                  <a:srgbClr val="14213D"/>
                </a:solidFill>
                <a:latin typeface="Courier New" pitchFamily="34" charset="0"/>
                <a:ea typeface="Courier New" pitchFamily="34" charset="-122"/>
                <a:cs typeface="Courier New" pitchFamily="34" charset="-120"/>
              </a:rPr>
              <a:t>σ = √436.89 ≈ 20.90 points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10_03_GRADESTATISTICS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Grade statistics: two passes and counting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45920"/>
            <a:ext cx="4114800" cy="2606040"/>
          </a:xfrm>
          <a:prstGeom prst="roundRect">
            <a:avLst>
              <a:gd name="adj" fmla="val 3509"/>
            </a:avLst>
          </a:prstGeom>
          <a:solidFill>
            <a:srgbClr val="0F1729"/>
          </a:solidFill>
          <a:ln w="12700">
            <a:solidFill>
              <a:srgbClr val="0F1729"/>
            </a:solidFill>
            <a:prstDash val="solid"/>
          </a:ln>
        </p:spPr>
      </p:sp>
      <p:sp>
        <p:nvSpPr>
          <p:cNvPr id="8" name="Text 5"/>
          <p:cNvSpPr txBox="1"/>
          <p:nvPr/>
        </p:nvSpPr>
        <p:spPr>
          <a:xfrm>
            <a:off x="777240" y="1755648"/>
            <a:ext cx="3657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pass 2: spread</a:t>
            </a:r>
            <a:endParaRPr lang="en-US" sz="1100" dirty="0"/>
          </a:p>
        </p:txBody>
      </p:sp>
      <p:sp>
        <p:nvSpPr>
          <p:cNvPr id="9" name="Text 6"/>
          <p:cNvSpPr txBox="1"/>
          <p:nvPr/>
        </p:nvSpPr>
        <p:spPr>
          <a:xfrm>
            <a:off x="777240" y="2057400"/>
            <a:ext cx="3657600" cy="20848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squares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 grades[i] - mean;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squares += d * 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variance = squares / n;</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sigma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.Sqrt(variance);</a:t>
            </a:r>
            <a:endParaRPr lang="en-US" sz="1200" dirty="0"/>
          </a:p>
        </p:txBody>
      </p:sp>
      <p:sp>
        <p:nvSpPr>
          <p:cNvPr id="10" name="Shape 7"/>
          <p:cNvSpPr/>
          <p:nvPr/>
        </p:nvSpPr>
        <p:spPr>
          <a:xfrm>
            <a:off x="548640" y="4389120"/>
            <a:ext cx="4114800" cy="1691640"/>
          </a:xfrm>
          <a:prstGeom prst="roundRect">
            <a:avLst>
              <a:gd name="adj" fmla="val 6486"/>
            </a:avLst>
          </a:prstGeom>
          <a:solidFill>
            <a:srgbClr val="E3ECF8"/>
          </a:solidFill>
          <a:ln w="12700">
            <a:solidFill>
              <a:srgbClr val="E3ECF8"/>
            </a:solidFill>
            <a:prstDash val="solid"/>
          </a:ln>
        </p:spPr>
      </p:sp>
      <p:sp>
        <p:nvSpPr>
          <p:cNvPr id="11" name="Text 8"/>
          <p:cNvSpPr txBox="1"/>
          <p:nvPr/>
        </p:nvSpPr>
        <p:spPr>
          <a:xfrm>
            <a:off x="777240" y="4434840"/>
            <a:ext cx="3657600" cy="1600200"/>
          </a:xfrm>
          <a:prstGeom prst="rect">
            <a:avLst/>
          </a:prstGeom>
          <a:noFill/>
          <a:ln/>
        </p:spPr>
        <p:txBody>
          <a:bodyPr wrap="square" lIns="0" tIns="0" rIns="0" bIns="0" rtlCol="0" anchor="ctr"/>
          <a:lstStyle/>
          <a:p>
            <a:pPr indent="0" marL="0">
              <a:spcAft>
                <a:spcPts val="600"/>
              </a:spcAft>
              <a:buNone/>
            </a:pPr>
            <a:r>
              <a:rPr lang="en-US" sz="1500" b="1" dirty="0">
                <a:solidFill>
                  <a:srgbClr val="333B4F"/>
                </a:solidFill>
                <a:latin typeface="Courier New" pitchFamily="34" charset="0"/>
                <a:ea typeface="Courier New" pitchFamily="34" charset="-122"/>
                <a:cs typeface="Courier New" pitchFamily="34" charset="-120"/>
              </a:rPr>
              <a:t>σ² = Σ (xᵢ − x̄)² / n</a:t>
            </a:r>
            <a:endParaRPr lang="en-US" sz="1500" dirty="0"/>
          </a:p>
          <a:p>
            <a:pPr indent="0" marL="0">
              <a:spcAft>
                <a:spcPts val="600"/>
              </a:spcAft>
              <a:buNone/>
            </a:pPr>
            <a:r>
              <a:rPr lang="en-US" sz="1500" dirty="0">
                <a:solidFill>
                  <a:srgbClr val="333B4F"/>
                </a:solidFill>
                <a:latin typeface="Calibri" pitchFamily="34" charset="0"/>
                <a:ea typeface="Calibri" pitchFamily="34" charset="-122"/>
                <a:cs typeface="Calibri" pitchFamily="34" charset="-120"/>
              </a:rPr>
              <a:t>squares / n, then Math.Sqrt</a:t>
            </a:r>
            <a:endParaRPr lang="en-US" sz="1500" dirty="0"/>
          </a:p>
        </p:txBody>
      </p:sp>
      <p:sp>
        <p:nvSpPr>
          <p:cNvPr id="12" name="Shape 9"/>
          <p:cNvSpPr/>
          <p:nvPr/>
        </p:nvSpPr>
        <p:spPr>
          <a:xfrm>
            <a:off x="4800600" y="1645920"/>
            <a:ext cx="3429000" cy="4434840"/>
          </a:xfrm>
          <a:prstGeom prst="roundRect">
            <a:avLst>
              <a:gd name="adj" fmla="val 2667"/>
            </a:avLst>
          </a:prstGeom>
          <a:solidFill>
            <a:srgbClr val="0F1729"/>
          </a:solidFill>
          <a:ln w="12700">
            <a:solidFill>
              <a:srgbClr val="0F1729"/>
            </a:solidFill>
            <a:prstDash val="solid"/>
          </a:ln>
        </p:spPr>
      </p:sp>
      <p:sp>
        <p:nvSpPr>
          <p:cNvPr id="13" name="Text 10"/>
          <p:cNvSpPr txBox="1"/>
          <p:nvPr/>
        </p:nvSpPr>
        <p:spPr>
          <a:xfrm>
            <a:off x="5029200" y="1755648"/>
            <a:ext cx="2971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pass 3: counting</a:t>
            </a:r>
            <a:endParaRPr lang="en-US" sz="1100" dirty="0"/>
          </a:p>
        </p:txBody>
      </p:sp>
      <p:sp>
        <p:nvSpPr>
          <p:cNvPr id="14" name="Text 11"/>
          <p:cNvSpPr txBox="1"/>
          <p:nvPr/>
        </p:nvSpPr>
        <p:spPr>
          <a:xfrm>
            <a:off x="5029200" y="2057400"/>
            <a:ext cx="29718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passed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aboveMean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(grades[i]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passed++;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(grades[i] &gt; mean)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aboveMean++;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5" name="Shape 12"/>
          <p:cNvSpPr/>
          <p:nvPr/>
        </p:nvSpPr>
        <p:spPr>
          <a:xfrm>
            <a:off x="8366760" y="1645920"/>
            <a:ext cx="3291840" cy="3063240"/>
          </a:xfrm>
          <a:prstGeom prst="roundRect">
            <a:avLst>
              <a:gd name="adj" fmla="val 2985"/>
            </a:avLst>
          </a:prstGeom>
          <a:solidFill>
            <a:srgbClr val="0B0F19"/>
          </a:solidFill>
          <a:ln w="12700">
            <a:solidFill>
              <a:srgbClr val="2A3654"/>
            </a:solidFill>
            <a:prstDash val="solid"/>
          </a:ln>
        </p:spPr>
      </p:sp>
      <p:sp>
        <p:nvSpPr>
          <p:cNvPr id="16" name="Shape 13"/>
          <p:cNvSpPr/>
          <p:nvPr/>
        </p:nvSpPr>
        <p:spPr>
          <a:xfrm>
            <a:off x="8549640" y="1773936"/>
            <a:ext cx="118872" cy="118872"/>
          </a:xfrm>
          <a:prstGeom prst="ellipse">
            <a:avLst/>
          </a:prstGeom>
          <a:solidFill>
            <a:srgbClr val="FF5F57"/>
          </a:solidFill>
          <a:ln w="12700">
            <a:solidFill>
              <a:srgbClr val="FF5F57"/>
            </a:solidFill>
            <a:prstDash val="solid"/>
          </a:ln>
        </p:spPr>
      </p:sp>
      <p:sp>
        <p:nvSpPr>
          <p:cNvPr id="17" name="Shape 14"/>
          <p:cNvSpPr/>
          <p:nvPr/>
        </p:nvSpPr>
        <p:spPr>
          <a:xfrm>
            <a:off x="8778240" y="1773936"/>
            <a:ext cx="118872" cy="118872"/>
          </a:xfrm>
          <a:prstGeom prst="ellipse">
            <a:avLst/>
          </a:prstGeom>
          <a:solidFill>
            <a:srgbClr val="FEBC2E"/>
          </a:solidFill>
          <a:ln w="12700">
            <a:solidFill>
              <a:srgbClr val="FEBC2E"/>
            </a:solidFill>
            <a:prstDash val="solid"/>
          </a:ln>
        </p:spPr>
      </p:sp>
      <p:sp>
        <p:nvSpPr>
          <p:cNvPr id="18" name="Shape 15"/>
          <p:cNvSpPr/>
          <p:nvPr/>
        </p:nvSpPr>
        <p:spPr>
          <a:xfrm>
            <a:off x="9006840" y="1773936"/>
            <a:ext cx="118872" cy="118872"/>
          </a:xfrm>
          <a:prstGeom prst="ellipse">
            <a:avLst/>
          </a:prstGeom>
          <a:solidFill>
            <a:srgbClr val="28C840"/>
          </a:solidFill>
          <a:ln w="12700">
            <a:solidFill>
              <a:srgbClr val="28C840"/>
            </a:solidFill>
            <a:prstDash val="solid"/>
          </a:ln>
        </p:spPr>
      </p:sp>
      <p:sp>
        <p:nvSpPr>
          <p:cNvPr id="19" name="Text 16"/>
          <p:cNvSpPr txBox="1"/>
          <p:nvPr/>
        </p:nvSpPr>
        <p:spPr>
          <a:xfrm>
            <a:off x="9281160" y="171907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0" name="Text 17"/>
          <p:cNvSpPr txBox="1"/>
          <p:nvPr/>
        </p:nvSpPr>
        <p:spPr>
          <a:xfrm>
            <a:off x="8595360" y="2029968"/>
            <a:ext cx="2834640" cy="2560320"/>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Number of students: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6</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Grade 1: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72</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Grade 2: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45</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Grade 3: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88</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Grade 4: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60</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Grade 5: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95</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Grade 6: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38</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Sum      = 398</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Mean     = 66.33</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Variance = 436.89</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Std dev  = 20.90</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Passed (&gt;= 50): 4 of 6</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Above the mean: 3 of 6</a:t>
            </a:r>
            <a:endParaRPr lang="en-US" sz="1100" dirty="0"/>
          </a:p>
        </p:txBody>
      </p:sp>
      <p:sp>
        <p:nvSpPr>
          <p:cNvPr id="21" name="Shape 18"/>
          <p:cNvSpPr/>
          <p:nvPr/>
        </p:nvSpPr>
        <p:spPr>
          <a:xfrm>
            <a:off x="8366760" y="4846320"/>
            <a:ext cx="3291840" cy="1234440"/>
          </a:xfrm>
          <a:prstGeom prst="roundRect">
            <a:avLst>
              <a:gd name="adj" fmla="val 8889"/>
            </a:avLst>
          </a:prstGeom>
          <a:solidFill>
            <a:srgbClr val="FFF6E3"/>
          </a:solidFill>
          <a:ln w="12700">
            <a:solidFill>
              <a:srgbClr val="FFF6E3"/>
            </a:solidFill>
            <a:prstDash val="solid"/>
          </a:ln>
        </p:spPr>
      </p:sp>
      <p:pic>
        <p:nvPicPr>
          <p:cNvPr id="22" name="Image 0" descr="preencoded.png">    </p:cNvPr>
          <p:cNvPicPr>
            <a:picLocks noChangeAspect="1"/>
          </p:cNvPicPr>
          <p:nvPr/>
        </p:nvPicPr>
        <p:blipFill>
          <a:blip r:embed="rId1"/>
          <a:stretch>
            <a:fillRect/>
          </a:stretch>
        </p:blipFill>
        <p:spPr>
          <a:xfrm>
            <a:off x="8641080" y="5189220"/>
            <a:ext cx="548640" cy="548640"/>
          </a:xfrm>
          <a:prstGeom prst="rect">
            <a:avLst/>
          </a:prstGeom>
        </p:spPr>
      </p:pic>
      <p:sp>
        <p:nvSpPr>
          <p:cNvPr id="23" name="Text 19"/>
          <p:cNvSpPr txBox="1"/>
          <p:nvPr/>
        </p:nvSpPr>
        <p:spPr>
          <a:xfrm>
            <a:off x="9464040" y="4919472"/>
            <a:ext cx="1920240" cy="108813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count++ </a:t>
            </a:r>
            <a:pPr indent="0" marL="0">
              <a:buNone/>
            </a:pPr>
            <a:r>
              <a:rPr lang="en-US" sz="1400" dirty="0">
                <a:solidFill>
                  <a:srgbClr val="333B4F"/>
                </a:solidFill>
                <a:latin typeface="Calibri" pitchFamily="34" charset="0"/>
                <a:ea typeface="Calibri" pitchFamily="34" charset="-122"/>
                <a:cs typeface="Calibri" pitchFamily="34" charset="-120"/>
              </a:rPr>
              <a:t>only inside the if.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Searching</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Linear search: one by one · binary search: halve a sorted array · −1 means "not found"</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10</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LINEAR SEARCH</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Look at the elements one by one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645920"/>
            <a:ext cx="4754880" cy="3657600"/>
          </a:xfrm>
          <a:prstGeom prst="roundRect">
            <a:avLst>
              <a:gd name="adj" fmla="val 2000"/>
            </a:avLst>
          </a:prstGeom>
          <a:solidFill>
            <a:srgbClr val="F4F6FA"/>
          </a:solidFill>
          <a:ln w="9525">
            <a:solidFill>
              <a:srgbClr val="C9D0DD"/>
            </a:solidFill>
            <a:prstDash val="solid"/>
          </a:ln>
        </p:spPr>
      </p:sp>
      <p:sp>
        <p:nvSpPr>
          <p:cNvPr id="8" name="Text 5"/>
          <p:cNvSpPr txBox="1"/>
          <p:nvPr/>
        </p:nvSpPr>
        <p:spPr>
          <a:xfrm>
            <a:off x="731520" y="1737360"/>
            <a:ext cx="438912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First occurrence</a:t>
            </a:r>
            <a:endParaRPr lang="en-US" sz="1200" dirty="0"/>
          </a:p>
        </p:txBody>
      </p:sp>
      <p:sp>
        <p:nvSpPr>
          <p:cNvPr id="9" name="Text 6"/>
          <p:cNvSpPr txBox="1"/>
          <p:nvPr/>
        </p:nvSpPr>
        <p:spPr>
          <a:xfrm>
            <a:off x="731520" y="2057400"/>
            <a:ext cx="4389120" cy="3154680"/>
          </a:xfrm>
          <a:prstGeom prst="rect">
            <a:avLst/>
          </a:prstGeom>
          <a:noFill/>
          <a:ln/>
        </p:spPr>
        <p:txBody>
          <a:bodyPr wrap="square" lIns="0" tIns="0" rIns="0" bIns="0" rtlCol="0" anchor="t"/>
          <a:lstStyle/>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found ← false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index ← −1</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i ← 0</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i &lt; n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AND</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NOT</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found</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a[i] = target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THEN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found ← true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index ← i</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IF</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i ← i + 1</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WHILE</a:t>
            </a:r>
            <a:endParaRPr lang="en-US" sz="1500" dirty="0"/>
          </a:p>
        </p:txBody>
      </p:sp>
      <p:sp>
        <p:nvSpPr>
          <p:cNvPr id="10" name="Shape 7"/>
          <p:cNvSpPr/>
          <p:nvPr/>
        </p:nvSpPr>
        <p:spPr>
          <a:xfrm>
            <a:off x="548640" y="5440680"/>
            <a:ext cx="4754880" cy="640080"/>
          </a:xfrm>
          <a:prstGeom prst="roundRect">
            <a:avLst>
              <a:gd name="adj" fmla="val 17143"/>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577840"/>
            <a:ext cx="365760" cy="365760"/>
          </a:xfrm>
          <a:prstGeom prst="rect">
            <a:avLst/>
          </a:prstGeom>
        </p:spPr>
      </p:pic>
      <p:sp>
        <p:nvSpPr>
          <p:cNvPr id="12" name="Text 8"/>
          <p:cNvSpPr txBox="1"/>
          <p:nvPr/>
        </p:nvSpPr>
        <p:spPr>
          <a:xfrm>
            <a:off x="1463040" y="5513832"/>
            <a:ext cx="3566160" cy="49377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−1 = "not found"</a:t>
            </a:r>
            <a:endParaRPr lang="en-US" sz="1500" dirty="0"/>
          </a:p>
        </p:txBody>
      </p:sp>
      <p:sp>
        <p:nvSpPr>
          <p:cNvPr id="13" name="Text 9"/>
          <p:cNvSpPr txBox="1"/>
          <p:nvPr/>
        </p:nvSpPr>
        <p:spPr>
          <a:xfrm>
            <a:off x="5623560" y="1645920"/>
            <a:ext cx="6035040" cy="36576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Search 78: found at index 1 after 2 checks</a:t>
            </a:r>
            <a:endParaRPr lang="en-US" sz="1500" dirty="0"/>
          </a:p>
        </p:txBody>
      </p:sp>
      <p:sp>
        <p:nvSpPr>
          <p:cNvPr id="14" name="Shape 10"/>
          <p:cNvSpPr/>
          <p:nvPr/>
        </p:nvSpPr>
        <p:spPr>
          <a:xfrm>
            <a:off x="5623560" y="2057400"/>
            <a:ext cx="731520" cy="548640"/>
          </a:xfrm>
          <a:prstGeom prst="rect">
            <a:avLst/>
          </a:prstGeom>
          <a:solidFill>
            <a:srgbClr val="FFF1D6"/>
          </a:solidFill>
          <a:ln w="9525">
            <a:solidFill>
              <a:srgbClr val="8A94AB"/>
            </a:solidFill>
            <a:prstDash val="solid"/>
          </a:ln>
        </p:spPr>
      </p:sp>
      <p:sp>
        <p:nvSpPr>
          <p:cNvPr id="15" name="Text 11"/>
          <p:cNvSpPr txBox="1"/>
          <p:nvPr/>
        </p:nvSpPr>
        <p:spPr>
          <a:xfrm>
            <a:off x="5623560" y="205740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45</a:t>
            </a:r>
            <a:endParaRPr lang="en-US" sz="1700" dirty="0"/>
          </a:p>
        </p:txBody>
      </p:sp>
      <p:sp>
        <p:nvSpPr>
          <p:cNvPr id="16" name="Text 12"/>
          <p:cNvSpPr txBox="1"/>
          <p:nvPr/>
        </p:nvSpPr>
        <p:spPr>
          <a:xfrm>
            <a:off x="5623560" y="263347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7" name="Shape 13"/>
          <p:cNvSpPr/>
          <p:nvPr/>
        </p:nvSpPr>
        <p:spPr>
          <a:xfrm>
            <a:off x="6355080" y="2057400"/>
            <a:ext cx="731520" cy="548640"/>
          </a:xfrm>
          <a:prstGeom prst="rect">
            <a:avLst/>
          </a:prstGeom>
          <a:solidFill>
            <a:srgbClr val="E6F4EC"/>
          </a:solidFill>
          <a:ln w="9525">
            <a:solidFill>
              <a:srgbClr val="8A94AB"/>
            </a:solidFill>
            <a:prstDash val="solid"/>
          </a:ln>
        </p:spPr>
      </p:sp>
      <p:sp>
        <p:nvSpPr>
          <p:cNvPr id="18" name="Text 14"/>
          <p:cNvSpPr txBox="1"/>
          <p:nvPr/>
        </p:nvSpPr>
        <p:spPr>
          <a:xfrm>
            <a:off x="6355080" y="205740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78</a:t>
            </a:r>
            <a:endParaRPr lang="en-US" sz="1700" dirty="0"/>
          </a:p>
        </p:txBody>
      </p:sp>
      <p:sp>
        <p:nvSpPr>
          <p:cNvPr id="19" name="Text 15"/>
          <p:cNvSpPr txBox="1"/>
          <p:nvPr/>
        </p:nvSpPr>
        <p:spPr>
          <a:xfrm>
            <a:off x="6355080" y="263347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20" name="Shape 16"/>
          <p:cNvSpPr/>
          <p:nvPr/>
        </p:nvSpPr>
        <p:spPr>
          <a:xfrm>
            <a:off x="7086600" y="2057400"/>
            <a:ext cx="731520" cy="548640"/>
          </a:xfrm>
          <a:prstGeom prst="rect">
            <a:avLst/>
          </a:prstGeom>
          <a:solidFill>
            <a:srgbClr val="FFFFFF"/>
          </a:solidFill>
          <a:ln w="9525">
            <a:solidFill>
              <a:srgbClr val="8A94AB"/>
            </a:solidFill>
            <a:prstDash val="solid"/>
          </a:ln>
        </p:spPr>
      </p:sp>
      <p:sp>
        <p:nvSpPr>
          <p:cNvPr id="21" name="Text 17"/>
          <p:cNvSpPr txBox="1"/>
          <p:nvPr/>
        </p:nvSpPr>
        <p:spPr>
          <a:xfrm>
            <a:off x="7086600" y="2057400"/>
            <a:ext cx="731520" cy="548640"/>
          </a:xfrm>
          <a:prstGeom prst="rect">
            <a:avLst/>
          </a:prstGeom>
          <a:noFill/>
          <a:ln/>
        </p:spPr>
        <p:txBody>
          <a:bodyPr wrap="square" lIns="0" tIns="0" rIns="0" bIns="0" rtlCol="0" anchor="ctr"/>
          <a:lstStyle/>
          <a:p>
            <a:pPr algn="ctr" indent="0" marL="0">
              <a:buNone/>
            </a:pPr>
            <a:r>
              <a:rPr lang="en-US" sz="1700" b="1" dirty="0">
                <a:solidFill>
                  <a:srgbClr val="9AA3B5"/>
                </a:solidFill>
                <a:latin typeface="Courier New" pitchFamily="34" charset="0"/>
                <a:ea typeface="Courier New" pitchFamily="34" charset="-122"/>
                <a:cs typeface="Courier New" pitchFamily="34" charset="-120"/>
              </a:rPr>
              <a:t>92</a:t>
            </a:r>
            <a:endParaRPr lang="en-US" sz="1700" dirty="0"/>
          </a:p>
        </p:txBody>
      </p:sp>
      <p:sp>
        <p:nvSpPr>
          <p:cNvPr id="22" name="Text 18"/>
          <p:cNvSpPr txBox="1"/>
          <p:nvPr/>
        </p:nvSpPr>
        <p:spPr>
          <a:xfrm>
            <a:off x="7086600" y="263347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23" name="Shape 19"/>
          <p:cNvSpPr/>
          <p:nvPr/>
        </p:nvSpPr>
        <p:spPr>
          <a:xfrm>
            <a:off x="7818120" y="2057400"/>
            <a:ext cx="731520" cy="548640"/>
          </a:xfrm>
          <a:prstGeom prst="rect">
            <a:avLst/>
          </a:prstGeom>
          <a:solidFill>
            <a:srgbClr val="FFFFFF"/>
          </a:solidFill>
          <a:ln w="9525">
            <a:solidFill>
              <a:srgbClr val="8A94AB"/>
            </a:solidFill>
            <a:prstDash val="solid"/>
          </a:ln>
        </p:spPr>
      </p:sp>
      <p:sp>
        <p:nvSpPr>
          <p:cNvPr id="24" name="Text 20"/>
          <p:cNvSpPr txBox="1"/>
          <p:nvPr/>
        </p:nvSpPr>
        <p:spPr>
          <a:xfrm>
            <a:off x="7818120" y="2057400"/>
            <a:ext cx="731520" cy="548640"/>
          </a:xfrm>
          <a:prstGeom prst="rect">
            <a:avLst/>
          </a:prstGeom>
          <a:noFill/>
          <a:ln/>
        </p:spPr>
        <p:txBody>
          <a:bodyPr wrap="square" lIns="0" tIns="0" rIns="0" bIns="0" rtlCol="0" anchor="ctr"/>
          <a:lstStyle/>
          <a:p>
            <a:pPr algn="ctr" indent="0" marL="0">
              <a:buNone/>
            </a:pPr>
            <a:r>
              <a:rPr lang="en-US" sz="1700" b="1" dirty="0">
                <a:solidFill>
                  <a:srgbClr val="9AA3B5"/>
                </a:solidFill>
                <a:latin typeface="Courier New" pitchFamily="34" charset="0"/>
                <a:ea typeface="Courier New" pitchFamily="34" charset="-122"/>
                <a:cs typeface="Courier New" pitchFamily="34" charset="-120"/>
              </a:rPr>
              <a:t>60</a:t>
            </a:r>
            <a:endParaRPr lang="en-US" sz="1700" dirty="0"/>
          </a:p>
        </p:txBody>
      </p:sp>
      <p:sp>
        <p:nvSpPr>
          <p:cNvPr id="25" name="Text 21"/>
          <p:cNvSpPr txBox="1"/>
          <p:nvPr/>
        </p:nvSpPr>
        <p:spPr>
          <a:xfrm>
            <a:off x="7818120" y="263347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26" name="Shape 22"/>
          <p:cNvSpPr/>
          <p:nvPr/>
        </p:nvSpPr>
        <p:spPr>
          <a:xfrm>
            <a:off x="8549640" y="2057400"/>
            <a:ext cx="731520" cy="548640"/>
          </a:xfrm>
          <a:prstGeom prst="rect">
            <a:avLst/>
          </a:prstGeom>
          <a:solidFill>
            <a:srgbClr val="FFFFFF"/>
          </a:solidFill>
          <a:ln w="9525">
            <a:solidFill>
              <a:srgbClr val="8A94AB"/>
            </a:solidFill>
            <a:prstDash val="solid"/>
          </a:ln>
        </p:spPr>
      </p:sp>
      <p:sp>
        <p:nvSpPr>
          <p:cNvPr id="27" name="Text 23"/>
          <p:cNvSpPr txBox="1"/>
          <p:nvPr/>
        </p:nvSpPr>
        <p:spPr>
          <a:xfrm>
            <a:off x="8549640" y="2057400"/>
            <a:ext cx="731520" cy="548640"/>
          </a:xfrm>
          <a:prstGeom prst="rect">
            <a:avLst/>
          </a:prstGeom>
          <a:noFill/>
          <a:ln/>
        </p:spPr>
        <p:txBody>
          <a:bodyPr wrap="square" lIns="0" tIns="0" rIns="0" bIns="0" rtlCol="0" anchor="ctr"/>
          <a:lstStyle/>
          <a:p>
            <a:pPr algn="ctr" indent="0" marL="0">
              <a:buNone/>
            </a:pPr>
            <a:r>
              <a:rPr lang="en-US" sz="1700" b="1" dirty="0">
                <a:solidFill>
                  <a:srgbClr val="9AA3B5"/>
                </a:solidFill>
                <a:latin typeface="Courier New" pitchFamily="34" charset="0"/>
                <a:ea typeface="Courier New" pitchFamily="34" charset="-122"/>
                <a:cs typeface="Courier New" pitchFamily="34" charset="-120"/>
              </a:rPr>
              <a:t>78</a:t>
            </a:r>
            <a:endParaRPr lang="en-US" sz="1700" dirty="0"/>
          </a:p>
        </p:txBody>
      </p:sp>
      <p:sp>
        <p:nvSpPr>
          <p:cNvPr id="28" name="Text 24"/>
          <p:cNvSpPr txBox="1"/>
          <p:nvPr/>
        </p:nvSpPr>
        <p:spPr>
          <a:xfrm>
            <a:off x="8549640" y="263347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29" name="Shape 25"/>
          <p:cNvSpPr/>
          <p:nvPr/>
        </p:nvSpPr>
        <p:spPr>
          <a:xfrm>
            <a:off x="9281160" y="2057400"/>
            <a:ext cx="731520" cy="548640"/>
          </a:xfrm>
          <a:prstGeom prst="rect">
            <a:avLst/>
          </a:prstGeom>
          <a:solidFill>
            <a:srgbClr val="FFFFFF"/>
          </a:solidFill>
          <a:ln w="9525">
            <a:solidFill>
              <a:srgbClr val="8A94AB"/>
            </a:solidFill>
            <a:prstDash val="solid"/>
          </a:ln>
        </p:spPr>
      </p:sp>
      <p:sp>
        <p:nvSpPr>
          <p:cNvPr id="30" name="Text 26"/>
          <p:cNvSpPr txBox="1"/>
          <p:nvPr/>
        </p:nvSpPr>
        <p:spPr>
          <a:xfrm>
            <a:off x="9281160" y="2057400"/>
            <a:ext cx="731520" cy="548640"/>
          </a:xfrm>
          <a:prstGeom prst="rect">
            <a:avLst/>
          </a:prstGeom>
          <a:noFill/>
          <a:ln/>
        </p:spPr>
        <p:txBody>
          <a:bodyPr wrap="square" lIns="0" tIns="0" rIns="0" bIns="0" rtlCol="0" anchor="ctr"/>
          <a:lstStyle/>
          <a:p>
            <a:pPr algn="ctr" indent="0" marL="0">
              <a:buNone/>
            </a:pPr>
            <a:r>
              <a:rPr lang="en-US" sz="1700" b="1" dirty="0">
                <a:solidFill>
                  <a:srgbClr val="9AA3B5"/>
                </a:solidFill>
                <a:latin typeface="Courier New" pitchFamily="34" charset="0"/>
                <a:ea typeface="Courier New" pitchFamily="34" charset="-122"/>
                <a:cs typeface="Courier New" pitchFamily="34" charset="-120"/>
              </a:rPr>
              <a:t>55</a:t>
            </a:r>
            <a:endParaRPr lang="en-US" sz="1700" dirty="0"/>
          </a:p>
        </p:txBody>
      </p:sp>
      <p:sp>
        <p:nvSpPr>
          <p:cNvPr id="31" name="Text 27"/>
          <p:cNvSpPr txBox="1"/>
          <p:nvPr/>
        </p:nvSpPr>
        <p:spPr>
          <a:xfrm>
            <a:off x="9281160" y="263347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32" name="Shape 28"/>
          <p:cNvSpPr/>
          <p:nvPr/>
        </p:nvSpPr>
        <p:spPr>
          <a:xfrm>
            <a:off x="10012680" y="2057400"/>
            <a:ext cx="731520" cy="548640"/>
          </a:xfrm>
          <a:prstGeom prst="rect">
            <a:avLst/>
          </a:prstGeom>
          <a:solidFill>
            <a:srgbClr val="FFFFFF"/>
          </a:solidFill>
          <a:ln w="9525">
            <a:solidFill>
              <a:srgbClr val="8A94AB"/>
            </a:solidFill>
            <a:prstDash val="solid"/>
          </a:ln>
        </p:spPr>
      </p:sp>
      <p:sp>
        <p:nvSpPr>
          <p:cNvPr id="33" name="Text 29"/>
          <p:cNvSpPr txBox="1"/>
          <p:nvPr/>
        </p:nvSpPr>
        <p:spPr>
          <a:xfrm>
            <a:off x="10012680" y="2057400"/>
            <a:ext cx="731520" cy="548640"/>
          </a:xfrm>
          <a:prstGeom prst="rect">
            <a:avLst/>
          </a:prstGeom>
          <a:noFill/>
          <a:ln/>
        </p:spPr>
        <p:txBody>
          <a:bodyPr wrap="square" lIns="0" tIns="0" rIns="0" bIns="0" rtlCol="0" anchor="ctr"/>
          <a:lstStyle/>
          <a:p>
            <a:pPr algn="ctr" indent="0" marL="0">
              <a:buNone/>
            </a:pPr>
            <a:r>
              <a:rPr lang="en-US" sz="1700" b="1" dirty="0">
                <a:solidFill>
                  <a:srgbClr val="9AA3B5"/>
                </a:solidFill>
                <a:latin typeface="Courier New" pitchFamily="34" charset="0"/>
                <a:ea typeface="Courier New" pitchFamily="34" charset="-122"/>
                <a:cs typeface="Courier New" pitchFamily="34" charset="-120"/>
              </a:rPr>
              <a:t>83</a:t>
            </a:r>
            <a:endParaRPr lang="en-US" sz="1700" dirty="0"/>
          </a:p>
        </p:txBody>
      </p:sp>
      <p:sp>
        <p:nvSpPr>
          <p:cNvPr id="34" name="Text 30"/>
          <p:cNvSpPr txBox="1"/>
          <p:nvPr/>
        </p:nvSpPr>
        <p:spPr>
          <a:xfrm>
            <a:off x="10012680" y="263347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35" name="Shape 31"/>
          <p:cNvSpPr/>
          <p:nvPr/>
        </p:nvSpPr>
        <p:spPr>
          <a:xfrm>
            <a:off x="10744200" y="2057400"/>
            <a:ext cx="731520" cy="548640"/>
          </a:xfrm>
          <a:prstGeom prst="rect">
            <a:avLst/>
          </a:prstGeom>
          <a:solidFill>
            <a:srgbClr val="FFFFFF"/>
          </a:solidFill>
          <a:ln w="9525">
            <a:solidFill>
              <a:srgbClr val="8A94AB"/>
            </a:solidFill>
            <a:prstDash val="solid"/>
          </a:ln>
        </p:spPr>
      </p:sp>
      <p:sp>
        <p:nvSpPr>
          <p:cNvPr id="36" name="Text 32"/>
          <p:cNvSpPr txBox="1"/>
          <p:nvPr/>
        </p:nvSpPr>
        <p:spPr>
          <a:xfrm>
            <a:off x="10744200" y="2057400"/>
            <a:ext cx="731520" cy="548640"/>
          </a:xfrm>
          <a:prstGeom prst="rect">
            <a:avLst/>
          </a:prstGeom>
          <a:noFill/>
          <a:ln/>
        </p:spPr>
        <p:txBody>
          <a:bodyPr wrap="square" lIns="0" tIns="0" rIns="0" bIns="0" rtlCol="0" anchor="ctr"/>
          <a:lstStyle/>
          <a:p>
            <a:pPr algn="ctr" indent="0" marL="0">
              <a:buNone/>
            </a:pPr>
            <a:r>
              <a:rPr lang="en-US" sz="1700" b="1" dirty="0">
                <a:solidFill>
                  <a:srgbClr val="9AA3B5"/>
                </a:solidFill>
                <a:latin typeface="Courier New" pitchFamily="34" charset="0"/>
                <a:ea typeface="Courier New" pitchFamily="34" charset="-122"/>
                <a:cs typeface="Courier New" pitchFamily="34" charset="-120"/>
              </a:rPr>
              <a:t>78</a:t>
            </a:r>
            <a:endParaRPr lang="en-US" sz="1700" dirty="0"/>
          </a:p>
        </p:txBody>
      </p:sp>
      <p:sp>
        <p:nvSpPr>
          <p:cNvPr id="37" name="Text 33"/>
          <p:cNvSpPr txBox="1"/>
          <p:nvPr/>
        </p:nvSpPr>
        <p:spPr>
          <a:xfrm>
            <a:off x="10744200" y="263347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7</a:t>
            </a:r>
            <a:endParaRPr lang="en-US" sz="1200" dirty="0"/>
          </a:p>
        </p:txBody>
      </p:sp>
      <p:sp>
        <p:nvSpPr>
          <p:cNvPr id="38" name="Text 34"/>
          <p:cNvSpPr txBox="1"/>
          <p:nvPr/>
        </p:nvSpPr>
        <p:spPr>
          <a:xfrm>
            <a:off x="5623560" y="3108960"/>
            <a:ext cx="6035040" cy="36576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Search 50: not found after 8 checks</a:t>
            </a:r>
            <a:endParaRPr lang="en-US" sz="1500" dirty="0"/>
          </a:p>
        </p:txBody>
      </p:sp>
      <p:sp>
        <p:nvSpPr>
          <p:cNvPr id="39" name="Shape 35"/>
          <p:cNvSpPr/>
          <p:nvPr/>
        </p:nvSpPr>
        <p:spPr>
          <a:xfrm>
            <a:off x="5623560" y="3520440"/>
            <a:ext cx="731520" cy="548640"/>
          </a:xfrm>
          <a:prstGeom prst="rect">
            <a:avLst/>
          </a:prstGeom>
          <a:solidFill>
            <a:srgbClr val="FFF1D6"/>
          </a:solidFill>
          <a:ln w="9525">
            <a:solidFill>
              <a:srgbClr val="8A94AB"/>
            </a:solidFill>
            <a:prstDash val="solid"/>
          </a:ln>
        </p:spPr>
      </p:sp>
      <p:sp>
        <p:nvSpPr>
          <p:cNvPr id="40" name="Text 36"/>
          <p:cNvSpPr txBox="1"/>
          <p:nvPr/>
        </p:nvSpPr>
        <p:spPr>
          <a:xfrm>
            <a:off x="5623560" y="352044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45</a:t>
            </a:r>
            <a:endParaRPr lang="en-US" sz="1700" dirty="0"/>
          </a:p>
        </p:txBody>
      </p:sp>
      <p:sp>
        <p:nvSpPr>
          <p:cNvPr id="41" name="Text 37"/>
          <p:cNvSpPr txBox="1"/>
          <p:nvPr/>
        </p:nvSpPr>
        <p:spPr>
          <a:xfrm>
            <a:off x="5623560" y="409651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42" name="Shape 38"/>
          <p:cNvSpPr/>
          <p:nvPr/>
        </p:nvSpPr>
        <p:spPr>
          <a:xfrm>
            <a:off x="6355080" y="3520440"/>
            <a:ext cx="731520" cy="548640"/>
          </a:xfrm>
          <a:prstGeom prst="rect">
            <a:avLst/>
          </a:prstGeom>
          <a:solidFill>
            <a:srgbClr val="FFF1D6"/>
          </a:solidFill>
          <a:ln w="9525">
            <a:solidFill>
              <a:srgbClr val="8A94AB"/>
            </a:solidFill>
            <a:prstDash val="solid"/>
          </a:ln>
        </p:spPr>
      </p:sp>
      <p:sp>
        <p:nvSpPr>
          <p:cNvPr id="43" name="Text 39"/>
          <p:cNvSpPr txBox="1"/>
          <p:nvPr/>
        </p:nvSpPr>
        <p:spPr>
          <a:xfrm>
            <a:off x="6355080" y="352044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78</a:t>
            </a:r>
            <a:endParaRPr lang="en-US" sz="1700" dirty="0"/>
          </a:p>
        </p:txBody>
      </p:sp>
      <p:sp>
        <p:nvSpPr>
          <p:cNvPr id="44" name="Text 40"/>
          <p:cNvSpPr txBox="1"/>
          <p:nvPr/>
        </p:nvSpPr>
        <p:spPr>
          <a:xfrm>
            <a:off x="6355080" y="409651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45" name="Shape 41"/>
          <p:cNvSpPr/>
          <p:nvPr/>
        </p:nvSpPr>
        <p:spPr>
          <a:xfrm>
            <a:off x="7086600" y="3520440"/>
            <a:ext cx="731520" cy="548640"/>
          </a:xfrm>
          <a:prstGeom prst="rect">
            <a:avLst/>
          </a:prstGeom>
          <a:solidFill>
            <a:srgbClr val="FFF1D6"/>
          </a:solidFill>
          <a:ln w="9525">
            <a:solidFill>
              <a:srgbClr val="8A94AB"/>
            </a:solidFill>
            <a:prstDash val="solid"/>
          </a:ln>
        </p:spPr>
      </p:sp>
      <p:sp>
        <p:nvSpPr>
          <p:cNvPr id="46" name="Text 42"/>
          <p:cNvSpPr txBox="1"/>
          <p:nvPr/>
        </p:nvSpPr>
        <p:spPr>
          <a:xfrm>
            <a:off x="7086600" y="352044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92</a:t>
            </a:r>
            <a:endParaRPr lang="en-US" sz="1700" dirty="0"/>
          </a:p>
        </p:txBody>
      </p:sp>
      <p:sp>
        <p:nvSpPr>
          <p:cNvPr id="47" name="Text 43"/>
          <p:cNvSpPr txBox="1"/>
          <p:nvPr/>
        </p:nvSpPr>
        <p:spPr>
          <a:xfrm>
            <a:off x="7086600" y="409651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48" name="Shape 44"/>
          <p:cNvSpPr/>
          <p:nvPr/>
        </p:nvSpPr>
        <p:spPr>
          <a:xfrm>
            <a:off x="7818120" y="3520440"/>
            <a:ext cx="731520" cy="548640"/>
          </a:xfrm>
          <a:prstGeom prst="rect">
            <a:avLst/>
          </a:prstGeom>
          <a:solidFill>
            <a:srgbClr val="FFF1D6"/>
          </a:solidFill>
          <a:ln w="9525">
            <a:solidFill>
              <a:srgbClr val="8A94AB"/>
            </a:solidFill>
            <a:prstDash val="solid"/>
          </a:ln>
        </p:spPr>
      </p:sp>
      <p:sp>
        <p:nvSpPr>
          <p:cNvPr id="49" name="Text 45"/>
          <p:cNvSpPr txBox="1"/>
          <p:nvPr/>
        </p:nvSpPr>
        <p:spPr>
          <a:xfrm>
            <a:off x="7818120" y="352044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60</a:t>
            </a:r>
            <a:endParaRPr lang="en-US" sz="1700" dirty="0"/>
          </a:p>
        </p:txBody>
      </p:sp>
      <p:sp>
        <p:nvSpPr>
          <p:cNvPr id="50" name="Text 46"/>
          <p:cNvSpPr txBox="1"/>
          <p:nvPr/>
        </p:nvSpPr>
        <p:spPr>
          <a:xfrm>
            <a:off x="7818120" y="409651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51" name="Shape 47"/>
          <p:cNvSpPr/>
          <p:nvPr/>
        </p:nvSpPr>
        <p:spPr>
          <a:xfrm>
            <a:off x="8549640" y="3520440"/>
            <a:ext cx="731520" cy="548640"/>
          </a:xfrm>
          <a:prstGeom prst="rect">
            <a:avLst/>
          </a:prstGeom>
          <a:solidFill>
            <a:srgbClr val="FFF1D6"/>
          </a:solidFill>
          <a:ln w="9525">
            <a:solidFill>
              <a:srgbClr val="8A94AB"/>
            </a:solidFill>
            <a:prstDash val="solid"/>
          </a:ln>
        </p:spPr>
      </p:sp>
      <p:sp>
        <p:nvSpPr>
          <p:cNvPr id="52" name="Text 48"/>
          <p:cNvSpPr txBox="1"/>
          <p:nvPr/>
        </p:nvSpPr>
        <p:spPr>
          <a:xfrm>
            <a:off x="8549640" y="352044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78</a:t>
            </a:r>
            <a:endParaRPr lang="en-US" sz="1700" dirty="0"/>
          </a:p>
        </p:txBody>
      </p:sp>
      <p:sp>
        <p:nvSpPr>
          <p:cNvPr id="53" name="Text 49"/>
          <p:cNvSpPr txBox="1"/>
          <p:nvPr/>
        </p:nvSpPr>
        <p:spPr>
          <a:xfrm>
            <a:off x="8549640" y="409651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54" name="Shape 50"/>
          <p:cNvSpPr/>
          <p:nvPr/>
        </p:nvSpPr>
        <p:spPr>
          <a:xfrm>
            <a:off x="9281160" y="3520440"/>
            <a:ext cx="731520" cy="548640"/>
          </a:xfrm>
          <a:prstGeom prst="rect">
            <a:avLst/>
          </a:prstGeom>
          <a:solidFill>
            <a:srgbClr val="FFF1D6"/>
          </a:solidFill>
          <a:ln w="9525">
            <a:solidFill>
              <a:srgbClr val="8A94AB"/>
            </a:solidFill>
            <a:prstDash val="solid"/>
          </a:ln>
        </p:spPr>
      </p:sp>
      <p:sp>
        <p:nvSpPr>
          <p:cNvPr id="55" name="Text 51"/>
          <p:cNvSpPr txBox="1"/>
          <p:nvPr/>
        </p:nvSpPr>
        <p:spPr>
          <a:xfrm>
            <a:off x="9281160" y="352044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55</a:t>
            </a:r>
            <a:endParaRPr lang="en-US" sz="1700" dirty="0"/>
          </a:p>
        </p:txBody>
      </p:sp>
      <p:sp>
        <p:nvSpPr>
          <p:cNvPr id="56" name="Text 52"/>
          <p:cNvSpPr txBox="1"/>
          <p:nvPr/>
        </p:nvSpPr>
        <p:spPr>
          <a:xfrm>
            <a:off x="9281160" y="409651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57" name="Shape 53"/>
          <p:cNvSpPr/>
          <p:nvPr/>
        </p:nvSpPr>
        <p:spPr>
          <a:xfrm>
            <a:off x="10012680" y="3520440"/>
            <a:ext cx="731520" cy="548640"/>
          </a:xfrm>
          <a:prstGeom prst="rect">
            <a:avLst/>
          </a:prstGeom>
          <a:solidFill>
            <a:srgbClr val="FFF1D6"/>
          </a:solidFill>
          <a:ln w="9525">
            <a:solidFill>
              <a:srgbClr val="8A94AB"/>
            </a:solidFill>
            <a:prstDash val="solid"/>
          </a:ln>
        </p:spPr>
      </p:sp>
      <p:sp>
        <p:nvSpPr>
          <p:cNvPr id="58" name="Text 54"/>
          <p:cNvSpPr txBox="1"/>
          <p:nvPr/>
        </p:nvSpPr>
        <p:spPr>
          <a:xfrm>
            <a:off x="10012680" y="352044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83</a:t>
            </a:r>
            <a:endParaRPr lang="en-US" sz="1700" dirty="0"/>
          </a:p>
        </p:txBody>
      </p:sp>
      <p:sp>
        <p:nvSpPr>
          <p:cNvPr id="59" name="Text 55"/>
          <p:cNvSpPr txBox="1"/>
          <p:nvPr/>
        </p:nvSpPr>
        <p:spPr>
          <a:xfrm>
            <a:off x="10012680" y="409651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60" name="Shape 56"/>
          <p:cNvSpPr/>
          <p:nvPr/>
        </p:nvSpPr>
        <p:spPr>
          <a:xfrm>
            <a:off x="10744200" y="3520440"/>
            <a:ext cx="731520" cy="548640"/>
          </a:xfrm>
          <a:prstGeom prst="rect">
            <a:avLst/>
          </a:prstGeom>
          <a:solidFill>
            <a:srgbClr val="FFF1D6"/>
          </a:solidFill>
          <a:ln w="9525">
            <a:solidFill>
              <a:srgbClr val="8A94AB"/>
            </a:solidFill>
            <a:prstDash val="solid"/>
          </a:ln>
        </p:spPr>
      </p:sp>
      <p:sp>
        <p:nvSpPr>
          <p:cNvPr id="61" name="Text 57"/>
          <p:cNvSpPr txBox="1"/>
          <p:nvPr/>
        </p:nvSpPr>
        <p:spPr>
          <a:xfrm>
            <a:off x="10744200" y="3520440"/>
            <a:ext cx="73152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78</a:t>
            </a:r>
            <a:endParaRPr lang="en-US" sz="1700" dirty="0"/>
          </a:p>
        </p:txBody>
      </p:sp>
      <p:sp>
        <p:nvSpPr>
          <p:cNvPr id="62" name="Text 58"/>
          <p:cNvSpPr txBox="1"/>
          <p:nvPr/>
        </p:nvSpPr>
        <p:spPr>
          <a:xfrm>
            <a:off x="10744200" y="4096512"/>
            <a:ext cx="73152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7</a:t>
            </a:r>
            <a:endParaRPr lang="en-US" sz="1200" dirty="0"/>
          </a:p>
        </p:txBody>
      </p:sp>
      <p:sp>
        <p:nvSpPr>
          <p:cNvPr id="63" name="Shape 59"/>
          <p:cNvSpPr/>
          <p:nvPr/>
        </p:nvSpPr>
        <p:spPr>
          <a:xfrm>
            <a:off x="5623560" y="4572000"/>
            <a:ext cx="274320" cy="274320"/>
          </a:xfrm>
          <a:prstGeom prst="rect">
            <a:avLst/>
          </a:prstGeom>
          <a:solidFill>
            <a:srgbClr val="FFF1D6"/>
          </a:solidFill>
          <a:ln w="9525">
            <a:solidFill>
              <a:srgbClr val="8A94AB"/>
            </a:solidFill>
            <a:prstDash val="solid"/>
          </a:ln>
        </p:spPr>
      </p:sp>
      <p:sp>
        <p:nvSpPr>
          <p:cNvPr id="64" name="Text 60"/>
          <p:cNvSpPr txBox="1"/>
          <p:nvPr/>
        </p:nvSpPr>
        <p:spPr>
          <a:xfrm>
            <a:off x="5989320" y="4526280"/>
            <a:ext cx="182880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checked, no match</a:t>
            </a:r>
            <a:endParaRPr lang="en-US" sz="1300" dirty="0"/>
          </a:p>
        </p:txBody>
      </p:sp>
      <p:sp>
        <p:nvSpPr>
          <p:cNvPr id="65" name="Shape 61"/>
          <p:cNvSpPr/>
          <p:nvPr/>
        </p:nvSpPr>
        <p:spPr>
          <a:xfrm>
            <a:off x="7863840" y="4572000"/>
            <a:ext cx="274320" cy="274320"/>
          </a:xfrm>
          <a:prstGeom prst="rect">
            <a:avLst/>
          </a:prstGeom>
          <a:solidFill>
            <a:srgbClr val="E6F4EC"/>
          </a:solidFill>
          <a:ln w="9525">
            <a:solidFill>
              <a:srgbClr val="8A94AB"/>
            </a:solidFill>
            <a:prstDash val="solid"/>
          </a:ln>
        </p:spPr>
      </p:sp>
      <p:sp>
        <p:nvSpPr>
          <p:cNvPr id="66" name="Text 62"/>
          <p:cNvSpPr txBox="1"/>
          <p:nvPr/>
        </p:nvSpPr>
        <p:spPr>
          <a:xfrm>
            <a:off x="8229600" y="4526280"/>
            <a:ext cx="82296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match</a:t>
            </a:r>
            <a:endParaRPr lang="en-US" sz="1300" dirty="0"/>
          </a:p>
        </p:txBody>
      </p:sp>
      <p:sp>
        <p:nvSpPr>
          <p:cNvPr id="67" name="Shape 63"/>
          <p:cNvSpPr/>
          <p:nvPr/>
        </p:nvSpPr>
        <p:spPr>
          <a:xfrm>
            <a:off x="9098280" y="4572000"/>
            <a:ext cx="274320" cy="274320"/>
          </a:xfrm>
          <a:prstGeom prst="rect">
            <a:avLst/>
          </a:prstGeom>
          <a:solidFill>
            <a:srgbClr val="FFFFFF"/>
          </a:solidFill>
          <a:ln w="9525">
            <a:solidFill>
              <a:srgbClr val="8A94AB"/>
            </a:solidFill>
            <a:prstDash val="solid"/>
          </a:ln>
        </p:spPr>
      </p:sp>
      <p:sp>
        <p:nvSpPr>
          <p:cNvPr id="68" name="Text 64"/>
          <p:cNvSpPr txBox="1"/>
          <p:nvPr/>
        </p:nvSpPr>
        <p:spPr>
          <a:xfrm>
            <a:off x="9464040" y="4526280"/>
            <a:ext cx="201168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never looked at</a:t>
            </a:r>
            <a:endParaRPr lang="en-US" sz="1300" dirty="0"/>
          </a:p>
        </p:txBody>
      </p:sp>
      <p:sp>
        <p:nvSpPr>
          <p:cNvPr id="69" name="Shape 65"/>
          <p:cNvSpPr/>
          <p:nvPr/>
        </p:nvSpPr>
        <p:spPr>
          <a:xfrm>
            <a:off x="5623560" y="5029200"/>
            <a:ext cx="6035040" cy="1051560"/>
          </a:xfrm>
          <a:prstGeom prst="roundRect">
            <a:avLst>
              <a:gd name="adj" fmla="val 10435"/>
            </a:avLst>
          </a:prstGeom>
          <a:solidFill>
            <a:srgbClr val="EEF1F6"/>
          </a:solidFill>
          <a:ln w="12700">
            <a:solidFill>
              <a:srgbClr val="EEF1F6"/>
            </a:solidFill>
            <a:prstDash val="solid"/>
          </a:ln>
        </p:spPr>
      </p:sp>
      <p:sp>
        <p:nvSpPr>
          <p:cNvPr id="70" name="Text 66"/>
          <p:cNvSpPr txBox="1"/>
          <p:nvPr/>
        </p:nvSpPr>
        <p:spPr>
          <a:xfrm>
            <a:off x="5852160" y="5074920"/>
            <a:ext cx="5577840" cy="960120"/>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Best case 1 check, worst case n checks. </a:t>
            </a:r>
            <a:pPr indent="0" marL="0">
              <a:buNone/>
            </a:pPr>
            <a:r>
              <a:rPr lang="en-US" sz="1500" dirty="0">
                <a:solidFill>
                  <a:srgbClr val="333B4F"/>
                </a:solidFill>
                <a:latin typeface="Calibri" pitchFamily="34" charset="0"/>
                <a:ea typeface="Calibri" pitchFamily="34" charset="-122"/>
                <a:cs typeface="Calibri" pitchFamily="34" charset="-120"/>
              </a:rPr>
              <a:t>Works on ANY array, sorted or not.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10_04_LINEARSEARCH</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First index, all positions and the count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45920"/>
            <a:ext cx="46634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4206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 first occurrence</a:t>
            </a:r>
            <a:endParaRPr lang="en-US" sz="1100" dirty="0"/>
          </a:p>
        </p:txBody>
      </p:sp>
      <p:sp>
        <p:nvSpPr>
          <p:cNvPr id="9" name="Text 6"/>
          <p:cNvSpPr txBox="1"/>
          <p:nvPr/>
        </p:nvSpPr>
        <p:spPr>
          <a:xfrm>
            <a:off x="777240" y="2057400"/>
            <a:ext cx="420624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found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comparisons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scores.Length &amp;&amp; !found)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comparisons++;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(scores[i] == target)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found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349240" y="1645920"/>
            <a:ext cx="6309360" cy="2971800"/>
          </a:xfrm>
          <a:prstGeom prst="roundRect">
            <a:avLst>
              <a:gd name="adj" fmla="val 3077"/>
            </a:avLst>
          </a:prstGeom>
          <a:solidFill>
            <a:srgbClr val="0F1729"/>
          </a:solidFill>
          <a:ln w="12700">
            <a:solidFill>
              <a:srgbClr val="0F1729"/>
            </a:solidFill>
            <a:prstDash val="solid"/>
          </a:ln>
        </p:spPr>
      </p:sp>
      <p:sp>
        <p:nvSpPr>
          <p:cNvPr id="11" name="Text 8"/>
          <p:cNvSpPr txBox="1"/>
          <p:nvPr/>
        </p:nvSpPr>
        <p:spPr>
          <a:xfrm>
            <a:off x="5577840" y="175564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2) all positions and the count</a:t>
            </a:r>
            <a:endParaRPr lang="en-US" sz="1100" dirty="0"/>
          </a:p>
        </p:txBody>
      </p:sp>
      <p:sp>
        <p:nvSpPr>
          <p:cNvPr id="12" name="Text 9"/>
          <p:cNvSpPr txBox="1"/>
          <p:nvPr/>
        </p:nvSpPr>
        <p:spPr>
          <a:xfrm>
            <a:off x="5577840" y="2057400"/>
            <a:ext cx="5852160" cy="24505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"All positions:"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 &lt; scores.Length; k++)</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(scores[k] == target)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$"Count: {count}"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5349240" y="4754880"/>
            <a:ext cx="3108960" cy="1325880"/>
          </a:xfrm>
          <a:prstGeom prst="roundRect">
            <a:avLst>
              <a:gd name="adj" fmla="val 6897"/>
            </a:avLst>
          </a:prstGeom>
          <a:solidFill>
            <a:srgbClr val="0B0F19"/>
          </a:solidFill>
          <a:ln w="12700">
            <a:solidFill>
              <a:srgbClr val="2A3654"/>
            </a:solidFill>
            <a:prstDash val="solid"/>
          </a:ln>
        </p:spPr>
      </p:sp>
      <p:sp>
        <p:nvSpPr>
          <p:cNvPr id="14" name="Shape 11"/>
          <p:cNvSpPr/>
          <p:nvPr/>
        </p:nvSpPr>
        <p:spPr>
          <a:xfrm>
            <a:off x="5532120" y="4882896"/>
            <a:ext cx="118872" cy="118872"/>
          </a:xfrm>
          <a:prstGeom prst="ellipse">
            <a:avLst/>
          </a:prstGeom>
          <a:solidFill>
            <a:srgbClr val="FF5F57"/>
          </a:solidFill>
          <a:ln w="12700">
            <a:solidFill>
              <a:srgbClr val="FF5F57"/>
            </a:solidFill>
            <a:prstDash val="solid"/>
          </a:ln>
        </p:spPr>
      </p:sp>
      <p:sp>
        <p:nvSpPr>
          <p:cNvPr id="15" name="Shape 12"/>
          <p:cNvSpPr/>
          <p:nvPr/>
        </p:nvSpPr>
        <p:spPr>
          <a:xfrm>
            <a:off x="5760720" y="4882896"/>
            <a:ext cx="118872" cy="118872"/>
          </a:xfrm>
          <a:prstGeom prst="ellipse">
            <a:avLst/>
          </a:prstGeom>
          <a:solidFill>
            <a:srgbClr val="FEBC2E"/>
          </a:solidFill>
          <a:ln w="12700">
            <a:solidFill>
              <a:srgbClr val="FEBC2E"/>
            </a:solidFill>
            <a:prstDash val="solid"/>
          </a:ln>
        </p:spPr>
      </p:sp>
      <p:sp>
        <p:nvSpPr>
          <p:cNvPr id="16" name="Shape 13"/>
          <p:cNvSpPr/>
          <p:nvPr/>
        </p:nvSpPr>
        <p:spPr>
          <a:xfrm>
            <a:off x="5989320" y="488289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6263640" y="4828032"/>
            <a:ext cx="2011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Search 78</a:t>
            </a:r>
            <a:endParaRPr lang="en-US" sz="1000" dirty="0"/>
          </a:p>
        </p:txBody>
      </p:sp>
      <p:sp>
        <p:nvSpPr>
          <p:cNvPr id="18" name="Text 15"/>
          <p:cNvSpPr txBox="1"/>
          <p:nvPr/>
        </p:nvSpPr>
        <p:spPr>
          <a:xfrm>
            <a:off x="5577840" y="5138928"/>
            <a:ext cx="2651760" cy="8229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Search for: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First at index 1: 2 checks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All positions: 1 4 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Count: 3</a:t>
            </a:r>
            <a:endParaRPr lang="en-US" sz="1200" dirty="0"/>
          </a:p>
        </p:txBody>
      </p:sp>
      <p:sp>
        <p:nvSpPr>
          <p:cNvPr id="19" name="Shape 16"/>
          <p:cNvSpPr/>
          <p:nvPr/>
        </p:nvSpPr>
        <p:spPr>
          <a:xfrm>
            <a:off x="8549640" y="4754880"/>
            <a:ext cx="3108960" cy="1325880"/>
          </a:xfrm>
          <a:prstGeom prst="roundRect">
            <a:avLst>
              <a:gd name="adj" fmla="val 6897"/>
            </a:avLst>
          </a:prstGeom>
          <a:solidFill>
            <a:srgbClr val="0B0F19"/>
          </a:solidFill>
          <a:ln w="12700">
            <a:solidFill>
              <a:srgbClr val="2A3654"/>
            </a:solidFill>
            <a:prstDash val="solid"/>
          </a:ln>
        </p:spPr>
      </p:sp>
      <p:sp>
        <p:nvSpPr>
          <p:cNvPr id="20" name="Shape 17"/>
          <p:cNvSpPr/>
          <p:nvPr/>
        </p:nvSpPr>
        <p:spPr>
          <a:xfrm>
            <a:off x="8732520" y="4882896"/>
            <a:ext cx="118872" cy="118872"/>
          </a:xfrm>
          <a:prstGeom prst="ellipse">
            <a:avLst/>
          </a:prstGeom>
          <a:solidFill>
            <a:srgbClr val="FF5F57"/>
          </a:solidFill>
          <a:ln w="12700">
            <a:solidFill>
              <a:srgbClr val="FF5F57"/>
            </a:solidFill>
            <a:prstDash val="solid"/>
          </a:ln>
        </p:spPr>
      </p:sp>
      <p:sp>
        <p:nvSpPr>
          <p:cNvPr id="21" name="Shape 18"/>
          <p:cNvSpPr/>
          <p:nvPr/>
        </p:nvSpPr>
        <p:spPr>
          <a:xfrm>
            <a:off x="8961120" y="4882896"/>
            <a:ext cx="118872" cy="118872"/>
          </a:xfrm>
          <a:prstGeom prst="ellipse">
            <a:avLst/>
          </a:prstGeom>
          <a:solidFill>
            <a:srgbClr val="FEBC2E"/>
          </a:solidFill>
          <a:ln w="12700">
            <a:solidFill>
              <a:srgbClr val="FEBC2E"/>
            </a:solidFill>
            <a:prstDash val="solid"/>
          </a:ln>
        </p:spPr>
      </p:sp>
      <p:sp>
        <p:nvSpPr>
          <p:cNvPr id="22" name="Shape 19"/>
          <p:cNvSpPr/>
          <p:nvPr/>
        </p:nvSpPr>
        <p:spPr>
          <a:xfrm>
            <a:off x="9189720" y="488289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9464040" y="4828032"/>
            <a:ext cx="2011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Search 50</a:t>
            </a:r>
            <a:endParaRPr lang="en-US" sz="1000" dirty="0"/>
          </a:p>
        </p:txBody>
      </p:sp>
      <p:sp>
        <p:nvSpPr>
          <p:cNvPr id="24" name="Text 21"/>
          <p:cNvSpPr txBox="1"/>
          <p:nvPr/>
        </p:nvSpPr>
        <p:spPr>
          <a:xfrm>
            <a:off x="8778240" y="5138928"/>
            <a:ext cx="2651760" cy="8229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Search for: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Not found: 8 checks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All positions: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Count: 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BINARY SEARCH</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Guess the number again: look in the middle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45920"/>
            <a:ext cx="5486400" cy="4434840"/>
          </a:xfrm>
          <a:prstGeom prst="roundRect">
            <a:avLst>
              <a:gd name="adj" fmla="val 1649"/>
            </a:avLst>
          </a:prstGeom>
          <a:solidFill>
            <a:srgbClr val="F4F6FA"/>
          </a:solidFill>
          <a:ln w="9525">
            <a:solidFill>
              <a:srgbClr val="C9D0DD"/>
            </a:solidFill>
            <a:prstDash val="solid"/>
          </a:ln>
        </p:spPr>
      </p:sp>
      <p:sp>
        <p:nvSpPr>
          <p:cNvPr id="8" name="Text 5"/>
          <p:cNvSpPr txBox="1"/>
          <p:nvPr/>
        </p:nvSpPr>
        <p:spPr>
          <a:xfrm>
            <a:off x="731520" y="1737360"/>
            <a:ext cx="512064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Binary search (a must be sorted)</a:t>
            </a:r>
            <a:endParaRPr lang="en-US" sz="1200" dirty="0"/>
          </a:p>
        </p:txBody>
      </p:sp>
      <p:sp>
        <p:nvSpPr>
          <p:cNvPr id="9" name="Text 6"/>
          <p:cNvSpPr txBox="1"/>
          <p:nvPr/>
        </p:nvSpPr>
        <p:spPr>
          <a:xfrm>
            <a:off x="731520" y="2057400"/>
            <a:ext cx="5120640" cy="3931920"/>
          </a:xfrm>
          <a:prstGeom prst="rect">
            <a:avLst/>
          </a:prstGeom>
          <a:noFill/>
          <a:ln/>
        </p:spPr>
        <p:txBody>
          <a:bodyPr wrap="square" lIns="0" tIns="0" rIns="0" bIns="0" rtlCol="0" anchor="t"/>
          <a:lstStyle/>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low ← 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high ← n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index ← −1</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low ≤ high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AND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index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mid ← (low + high)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div</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2</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a[mid] = target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index ← mid</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ELSE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a[mid] &lt; target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low ← mid + 1      // go right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ELSE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high ← mid − 1     // go left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IF</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p:txBody>
      </p:sp>
      <p:sp>
        <p:nvSpPr>
          <p:cNvPr id="10" name="Shape 7"/>
          <p:cNvSpPr/>
          <p:nvPr/>
        </p:nvSpPr>
        <p:spPr>
          <a:xfrm>
            <a:off x="6355080" y="1645920"/>
            <a:ext cx="5303520" cy="1325880"/>
          </a:xfrm>
          <a:prstGeom prst="roundRect">
            <a:avLst>
              <a:gd name="adj" fmla="val 8276"/>
            </a:avLst>
          </a:prstGeom>
          <a:solidFill>
            <a:srgbClr val="EEF1F6"/>
          </a:solidFill>
          <a:ln w="12700">
            <a:solidFill>
              <a:srgbClr val="EEF1F6"/>
            </a:solidFill>
            <a:prstDash val="solid"/>
          </a:ln>
        </p:spPr>
      </p:sp>
      <p:sp>
        <p:nvSpPr>
          <p:cNvPr id="11" name="Shape 8"/>
          <p:cNvSpPr/>
          <p:nvPr/>
        </p:nvSpPr>
        <p:spPr>
          <a:xfrm>
            <a:off x="6537960" y="2034540"/>
            <a:ext cx="548640" cy="548640"/>
          </a:xfrm>
          <a:prstGeom prst="ellipse">
            <a:avLst/>
          </a:prstGeom>
          <a:solidFill>
            <a:srgbClr val="14213D"/>
          </a:solidFill>
          <a:ln w="12700">
            <a:solidFill>
              <a:srgbClr val="14213D"/>
            </a:solidFill>
            <a:prstDash val="solid"/>
          </a:ln>
        </p:spPr>
      </p:sp>
      <p:pic>
        <p:nvPicPr>
          <p:cNvPr id="12" name="Image 0" descr="preencoded.png">    </p:cNvPr>
          <p:cNvPicPr>
            <a:picLocks noChangeAspect="1"/>
          </p:cNvPicPr>
          <p:nvPr/>
        </p:nvPicPr>
        <p:blipFill>
          <a:blip r:embed="rId1"/>
          <a:stretch>
            <a:fillRect/>
          </a:stretch>
        </p:blipFill>
        <p:spPr>
          <a:xfrm>
            <a:off x="6680606" y="2177186"/>
            <a:ext cx="263347" cy="263347"/>
          </a:xfrm>
          <a:prstGeom prst="rect">
            <a:avLst/>
          </a:prstGeom>
        </p:spPr>
      </p:pic>
      <p:sp>
        <p:nvSpPr>
          <p:cNvPr id="13" name="Text 9"/>
          <p:cNvSpPr txBox="1"/>
          <p:nvPr/>
        </p:nvSpPr>
        <p:spPr>
          <a:xfrm>
            <a:off x="7269480" y="1700784"/>
            <a:ext cx="4251960" cy="121615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Week 1 / Week 7 game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Secret in 1..100: guess 50, "higher" → 51..100, guess 75 … at most 7 guesses.</a:t>
            </a:r>
            <a:endParaRPr lang="en-US" sz="1500" dirty="0"/>
          </a:p>
        </p:txBody>
      </p:sp>
      <p:sp>
        <p:nvSpPr>
          <p:cNvPr id="14" name="Shape 10"/>
          <p:cNvSpPr/>
          <p:nvPr/>
        </p:nvSpPr>
        <p:spPr>
          <a:xfrm>
            <a:off x="6355080" y="3108960"/>
            <a:ext cx="5303520" cy="1325880"/>
          </a:xfrm>
          <a:prstGeom prst="roundRect">
            <a:avLst>
              <a:gd name="adj" fmla="val 8276"/>
            </a:avLst>
          </a:prstGeom>
          <a:solidFill>
            <a:srgbClr val="EEF1F6"/>
          </a:solidFill>
          <a:ln w="12700">
            <a:solidFill>
              <a:srgbClr val="EEF1F6"/>
            </a:solidFill>
            <a:prstDash val="solid"/>
          </a:ln>
        </p:spPr>
      </p:sp>
      <p:sp>
        <p:nvSpPr>
          <p:cNvPr id="15" name="Shape 11"/>
          <p:cNvSpPr/>
          <p:nvPr/>
        </p:nvSpPr>
        <p:spPr>
          <a:xfrm>
            <a:off x="6537960" y="3497580"/>
            <a:ext cx="548640" cy="548640"/>
          </a:xfrm>
          <a:prstGeom prst="ellipse">
            <a:avLst/>
          </a:prstGeom>
          <a:solidFill>
            <a:srgbClr val="C8453B"/>
          </a:solidFill>
          <a:ln w="12700">
            <a:solidFill>
              <a:srgbClr val="C8453B"/>
            </a:solidFill>
            <a:prstDash val="solid"/>
          </a:ln>
        </p:spPr>
      </p:sp>
      <p:pic>
        <p:nvPicPr>
          <p:cNvPr id="16" name="Image 1" descr="preencoded.png">    </p:cNvPr>
          <p:cNvPicPr>
            <a:picLocks noChangeAspect="1"/>
          </p:cNvPicPr>
          <p:nvPr/>
        </p:nvPicPr>
        <p:blipFill>
          <a:blip r:embed="rId2"/>
          <a:stretch>
            <a:fillRect/>
          </a:stretch>
        </p:blipFill>
        <p:spPr>
          <a:xfrm>
            <a:off x="6680606" y="3640226"/>
            <a:ext cx="263347" cy="263347"/>
          </a:xfrm>
          <a:prstGeom prst="rect">
            <a:avLst/>
          </a:prstGeom>
        </p:spPr>
      </p:pic>
      <p:sp>
        <p:nvSpPr>
          <p:cNvPr id="17" name="Text 12"/>
          <p:cNvSpPr txBox="1"/>
          <p:nvPr/>
        </p:nvSpPr>
        <p:spPr>
          <a:xfrm>
            <a:off x="7269480" y="3163824"/>
            <a:ext cx="4251960" cy="121615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Requirement: sorted</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Only then does a[mid] &lt; target prove that the target is to the RIGHT of mid.</a:t>
            </a:r>
            <a:endParaRPr lang="en-US" sz="1500" dirty="0"/>
          </a:p>
        </p:txBody>
      </p:sp>
      <p:sp>
        <p:nvSpPr>
          <p:cNvPr id="18" name="Shape 13"/>
          <p:cNvSpPr/>
          <p:nvPr/>
        </p:nvSpPr>
        <p:spPr>
          <a:xfrm>
            <a:off x="6355080" y="4572000"/>
            <a:ext cx="5303520" cy="1508760"/>
          </a:xfrm>
          <a:prstGeom prst="roundRect">
            <a:avLst>
              <a:gd name="adj" fmla="val 7273"/>
            </a:avLst>
          </a:prstGeom>
          <a:solidFill>
            <a:srgbClr val="EEF1F6"/>
          </a:solidFill>
          <a:ln w="12700">
            <a:solidFill>
              <a:srgbClr val="EEF1F6"/>
            </a:solidFill>
            <a:prstDash val="solid"/>
          </a:ln>
        </p:spPr>
      </p:sp>
      <p:sp>
        <p:nvSpPr>
          <p:cNvPr id="19" name="Shape 14"/>
          <p:cNvSpPr/>
          <p:nvPr/>
        </p:nvSpPr>
        <p:spPr>
          <a:xfrm>
            <a:off x="6537960" y="5052060"/>
            <a:ext cx="548640" cy="548640"/>
          </a:xfrm>
          <a:prstGeom prst="ellipse">
            <a:avLst/>
          </a:prstGeom>
          <a:solidFill>
            <a:srgbClr val="2F6FB3"/>
          </a:solidFill>
          <a:ln w="12700">
            <a:solidFill>
              <a:srgbClr val="2F6FB3"/>
            </a:solidFill>
            <a:prstDash val="solid"/>
          </a:ln>
        </p:spPr>
      </p:sp>
      <p:pic>
        <p:nvPicPr>
          <p:cNvPr id="20" name="Image 2" descr="preencoded.png">    </p:cNvPr>
          <p:cNvPicPr>
            <a:picLocks noChangeAspect="1"/>
          </p:cNvPicPr>
          <p:nvPr/>
        </p:nvPicPr>
        <p:blipFill>
          <a:blip r:embed="rId3"/>
          <a:stretch>
            <a:fillRect/>
          </a:stretch>
        </p:blipFill>
        <p:spPr>
          <a:xfrm>
            <a:off x="6680606" y="5194706"/>
            <a:ext cx="263347" cy="263347"/>
          </a:xfrm>
          <a:prstGeom prst="rect">
            <a:avLst/>
          </a:prstGeom>
        </p:spPr>
      </p:pic>
      <p:sp>
        <p:nvSpPr>
          <p:cNvPr id="21" name="Text 15"/>
          <p:cNvSpPr txBox="1"/>
          <p:nvPr/>
        </p:nvSpPr>
        <p:spPr>
          <a:xfrm>
            <a:off x="7269480" y="4626864"/>
            <a:ext cx="4251960" cy="139903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Half of the range each step</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15 → 7 → 3 → 1 elements: at most 4 steps for 15 values, 20 steps for one million.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BINARY SEARCH · TRACE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Searching 20 in 15 sorted values: low, mid, high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2377440" y="1600200"/>
            <a:ext cx="548640" cy="274320"/>
          </a:xfrm>
          <a:prstGeom prst="rect">
            <a:avLst/>
          </a:prstGeom>
          <a:solidFill>
            <a:srgbClr val="FFFFFF"/>
          </a:solidFill>
          <a:ln w="9525">
            <a:solidFill>
              <a:srgbClr val="FFFFFF"/>
            </a:solidFill>
            <a:prstDash val="solid"/>
          </a:ln>
        </p:spPr>
      </p:sp>
      <p:sp>
        <p:nvSpPr>
          <p:cNvPr id="8" name="Text 5"/>
          <p:cNvSpPr txBox="1"/>
          <p:nvPr/>
        </p:nvSpPr>
        <p:spPr>
          <a:xfrm>
            <a:off x="237744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9" name="Shape 6"/>
          <p:cNvSpPr/>
          <p:nvPr/>
        </p:nvSpPr>
        <p:spPr>
          <a:xfrm>
            <a:off x="2926080" y="1600200"/>
            <a:ext cx="548640" cy="274320"/>
          </a:xfrm>
          <a:prstGeom prst="rect">
            <a:avLst/>
          </a:prstGeom>
          <a:solidFill>
            <a:srgbClr val="FFFFFF"/>
          </a:solidFill>
          <a:ln w="9525">
            <a:solidFill>
              <a:srgbClr val="FFFFFF"/>
            </a:solidFill>
            <a:prstDash val="solid"/>
          </a:ln>
        </p:spPr>
      </p:sp>
      <p:sp>
        <p:nvSpPr>
          <p:cNvPr id="10" name="Text 7"/>
          <p:cNvSpPr txBox="1"/>
          <p:nvPr/>
        </p:nvSpPr>
        <p:spPr>
          <a:xfrm>
            <a:off x="292608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11" name="Shape 8"/>
          <p:cNvSpPr/>
          <p:nvPr/>
        </p:nvSpPr>
        <p:spPr>
          <a:xfrm>
            <a:off x="3474720" y="1600200"/>
            <a:ext cx="548640" cy="274320"/>
          </a:xfrm>
          <a:prstGeom prst="rect">
            <a:avLst/>
          </a:prstGeom>
          <a:solidFill>
            <a:srgbClr val="FFFFFF"/>
          </a:solidFill>
          <a:ln w="9525">
            <a:solidFill>
              <a:srgbClr val="FFFFFF"/>
            </a:solidFill>
            <a:prstDash val="solid"/>
          </a:ln>
        </p:spPr>
      </p:sp>
      <p:sp>
        <p:nvSpPr>
          <p:cNvPr id="12" name="Text 9"/>
          <p:cNvSpPr txBox="1"/>
          <p:nvPr/>
        </p:nvSpPr>
        <p:spPr>
          <a:xfrm>
            <a:off x="347472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13" name="Shape 10"/>
          <p:cNvSpPr/>
          <p:nvPr/>
        </p:nvSpPr>
        <p:spPr>
          <a:xfrm>
            <a:off x="4023360" y="1600200"/>
            <a:ext cx="548640" cy="274320"/>
          </a:xfrm>
          <a:prstGeom prst="rect">
            <a:avLst/>
          </a:prstGeom>
          <a:solidFill>
            <a:srgbClr val="FFFFFF"/>
          </a:solidFill>
          <a:ln w="9525">
            <a:solidFill>
              <a:srgbClr val="FFFFFF"/>
            </a:solidFill>
            <a:prstDash val="solid"/>
          </a:ln>
        </p:spPr>
      </p:sp>
      <p:sp>
        <p:nvSpPr>
          <p:cNvPr id="14" name="Text 11"/>
          <p:cNvSpPr txBox="1"/>
          <p:nvPr/>
        </p:nvSpPr>
        <p:spPr>
          <a:xfrm>
            <a:off x="402336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15" name="Shape 12"/>
          <p:cNvSpPr/>
          <p:nvPr/>
        </p:nvSpPr>
        <p:spPr>
          <a:xfrm>
            <a:off x="4572000" y="1600200"/>
            <a:ext cx="548640" cy="274320"/>
          </a:xfrm>
          <a:prstGeom prst="rect">
            <a:avLst/>
          </a:prstGeom>
          <a:solidFill>
            <a:srgbClr val="FFFFFF"/>
          </a:solidFill>
          <a:ln w="9525">
            <a:solidFill>
              <a:srgbClr val="FFFFFF"/>
            </a:solidFill>
            <a:prstDash val="solid"/>
          </a:ln>
        </p:spPr>
      </p:sp>
      <p:sp>
        <p:nvSpPr>
          <p:cNvPr id="16" name="Text 13"/>
          <p:cNvSpPr txBox="1"/>
          <p:nvPr/>
        </p:nvSpPr>
        <p:spPr>
          <a:xfrm>
            <a:off x="457200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17" name="Shape 14"/>
          <p:cNvSpPr/>
          <p:nvPr/>
        </p:nvSpPr>
        <p:spPr>
          <a:xfrm>
            <a:off x="5120640" y="1600200"/>
            <a:ext cx="548640" cy="274320"/>
          </a:xfrm>
          <a:prstGeom prst="rect">
            <a:avLst/>
          </a:prstGeom>
          <a:solidFill>
            <a:srgbClr val="FFFFFF"/>
          </a:solidFill>
          <a:ln w="9525">
            <a:solidFill>
              <a:srgbClr val="FFFFFF"/>
            </a:solidFill>
            <a:prstDash val="solid"/>
          </a:ln>
        </p:spPr>
      </p:sp>
      <p:sp>
        <p:nvSpPr>
          <p:cNvPr id="18" name="Text 15"/>
          <p:cNvSpPr txBox="1"/>
          <p:nvPr/>
        </p:nvSpPr>
        <p:spPr>
          <a:xfrm>
            <a:off x="512064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19" name="Shape 16"/>
          <p:cNvSpPr/>
          <p:nvPr/>
        </p:nvSpPr>
        <p:spPr>
          <a:xfrm>
            <a:off x="5669280" y="1600200"/>
            <a:ext cx="548640" cy="274320"/>
          </a:xfrm>
          <a:prstGeom prst="rect">
            <a:avLst/>
          </a:prstGeom>
          <a:solidFill>
            <a:srgbClr val="FFFFFF"/>
          </a:solidFill>
          <a:ln w="9525">
            <a:solidFill>
              <a:srgbClr val="FFFFFF"/>
            </a:solidFill>
            <a:prstDash val="solid"/>
          </a:ln>
        </p:spPr>
      </p:sp>
      <p:sp>
        <p:nvSpPr>
          <p:cNvPr id="20" name="Text 17"/>
          <p:cNvSpPr txBox="1"/>
          <p:nvPr/>
        </p:nvSpPr>
        <p:spPr>
          <a:xfrm>
            <a:off x="566928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21" name="Shape 18"/>
          <p:cNvSpPr/>
          <p:nvPr/>
        </p:nvSpPr>
        <p:spPr>
          <a:xfrm>
            <a:off x="6217920" y="1600200"/>
            <a:ext cx="548640" cy="274320"/>
          </a:xfrm>
          <a:prstGeom prst="rect">
            <a:avLst/>
          </a:prstGeom>
          <a:solidFill>
            <a:srgbClr val="FFFFFF"/>
          </a:solidFill>
          <a:ln w="9525">
            <a:solidFill>
              <a:srgbClr val="FFFFFF"/>
            </a:solidFill>
            <a:prstDash val="solid"/>
          </a:ln>
        </p:spPr>
      </p:sp>
      <p:sp>
        <p:nvSpPr>
          <p:cNvPr id="22" name="Text 19"/>
          <p:cNvSpPr txBox="1"/>
          <p:nvPr/>
        </p:nvSpPr>
        <p:spPr>
          <a:xfrm>
            <a:off x="621792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7</a:t>
            </a:r>
            <a:endParaRPr lang="en-US" sz="1200" dirty="0"/>
          </a:p>
        </p:txBody>
      </p:sp>
      <p:sp>
        <p:nvSpPr>
          <p:cNvPr id="23" name="Shape 20"/>
          <p:cNvSpPr/>
          <p:nvPr/>
        </p:nvSpPr>
        <p:spPr>
          <a:xfrm>
            <a:off x="6766560" y="1600200"/>
            <a:ext cx="548640" cy="274320"/>
          </a:xfrm>
          <a:prstGeom prst="rect">
            <a:avLst/>
          </a:prstGeom>
          <a:solidFill>
            <a:srgbClr val="FFFFFF"/>
          </a:solidFill>
          <a:ln w="9525">
            <a:solidFill>
              <a:srgbClr val="FFFFFF"/>
            </a:solidFill>
            <a:prstDash val="solid"/>
          </a:ln>
        </p:spPr>
      </p:sp>
      <p:sp>
        <p:nvSpPr>
          <p:cNvPr id="24" name="Text 21"/>
          <p:cNvSpPr txBox="1"/>
          <p:nvPr/>
        </p:nvSpPr>
        <p:spPr>
          <a:xfrm>
            <a:off x="676656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8</a:t>
            </a:r>
            <a:endParaRPr lang="en-US" sz="1200" dirty="0"/>
          </a:p>
        </p:txBody>
      </p:sp>
      <p:sp>
        <p:nvSpPr>
          <p:cNvPr id="25" name="Shape 22"/>
          <p:cNvSpPr/>
          <p:nvPr/>
        </p:nvSpPr>
        <p:spPr>
          <a:xfrm>
            <a:off x="7315200" y="1600200"/>
            <a:ext cx="548640" cy="274320"/>
          </a:xfrm>
          <a:prstGeom prst="rect">
            <a:avLst/>
          </a:prstGeom>
          <a:solidFill>
            <a:srgbClr val="FFFFFF"/>
          </a:solidFill>
          <a:ln w="9525">
            <a:solidFill>
              <a:srgbClr val="FFFFFF"/>
            </a:solidFill>
            <a:prstDash val="solid"/>
          </a:ln>
        </p:spPr>
      </p:sp>
      <p:sp>
        <p:nvSpPr>
          <p:cNvPr id="26" name="Text 23"/>
          <p:cNvSpPr txBox="1"/>
          <p:nvPr/>
        </p:nvSpPr>
        <p:spPr>
          <a:xfrm>
            <a:off x="731520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9</a:t>
            </a:r>
            <a:endParaRPr lang="en-US" sz="1200" dirty="0"/>
          </a:p>
        </p:txBody>
      </p:sp>
      <p:sp>
        <p:nvSpPr>
          <p:cNvPr id="27" name="Shape 24"/>
          <p:cNvSpPr/>
          <p:nvPr/>
        </p:nvSpPr>
        <p:spPr>
          <a:xfrm>
            <a:off x="7863840" y="1600200"/>
            <a:ext cx="548640" cy="274320"/>
          </a:xfrm>
          <a:prstGeom prst="rect">
            <a:avLst/>
          </a:prstGeom>
          <a:solidFill>
            <a:srgbClr val="FFFFFF"/>
          </a:solidFill>
          <a:ln w="9525">
            <a:solidFill>
              <a:srgbClr val="FFFFFF"/>
            </a:solidFill>
            <a:prstDash val="solid"/>
          </a:ln>
        </p:spPr>
      </p:sp>
      <p:sp>
        <p:nvSpPr>
          <p:cNvPr id="28" name="Text 25"/>
          <p:cNvSpPr txBox="1"/>
          <p:nvPr/>
        </p:nvSpPr>
        <p:spPr>
          <a:xfrm>
            <a:off x="786384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10</a:t>
            </a:r>
            <a:endParaRPr lang="en-US" sz="1200" dirty="0"/>
          </a:p>
        </p:txBody>
      </p:sp>
      <p:sp>
        <p:nvSpPr>
          <p:cNvPr id="29" name="Shape 26"/>
          <p:cNvSpPr/>
          <p:nvPr/>
        </p:nvSpPr>
        <p:spPr>
          <a:xfrm>
            <a:off x="8412480" y="1600200"/>
            <a:ext cx="548640" cy="274320"/>
          </a:xfrm>
          <a:prstGeom prst="rect">
            <a:avLst/>
          </a:prstGeom>
          <a:solidFill>
            <a:srgbClr val="FFFFFF"/>
          </a:solidFill>
          <a:ln w="9525">
            <a:solidFill>
              <a:srgbClr val="FFFFFF"/>
            </a:solidFill>
            <a:prstDash val="solid"/>
          </a:ln>
        </p:spPr>
      </p:sp>
      <p:sp>
        <p:nvSpPr>
          <p:cNvPr id="30" name="Text 27"/>
          <p:cNvSpPr txBox="1"/>
          <p:nvPr/>
        </p:nvSpPr>
        <p:spPr>
          <a:xfrm>
            <a:off x="841248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11</a:t>
            </a:r>
            <a:endParaRPr lang="en-US" sz="1200" dirty="0"/>
          </a:p>
        </p:txBody>
      </p:sp>
      <p:sp>
        <p:nvSpPr>
          <p:cNvPr id="31" name="Shape 28"/>
          <p:cNvSpPr/>
          <p:nvPr/>
        </p:nvSpPr>
        <p:spPr>
          <a:xfrm>
            <a:off x="8961120" y="1600200"/>
            <a:ext cx="548640" cy="274320"/>
          </a:xfrm>
          <a:prstGeom prst="rect">
            <a:avLst/>
          </a:prstGeom>
          <a:solidFill>
            <a:srgbClr val="FFFFFF"/>
          </a:solidFill>
          <a:ln w="9525">
            <a:solidFill>
              <a:srgbClr val="FFFFFF"/>
            </a:solidFill>
            <a:prstDash val="solid"/>
          </a:ln>
        </p:spPr>
      </p:sp>
      <p:sp>
        <p:nvSpPr>
          <p:cNvPr id="32" name="Text 29"/>
          <p:cNvSpPr txBox="1"/>
          <p:nvPr/>
        </p:nvSpPr>
        <p:spPr>
          <a:xfrm>
            <a:off x="896112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12</a:t>
            </a:r>
            <a:endParaRPr lang="en-US" sz="1200" dirty="0"/>
          </a:p>
        </p:txBody>
      </p:sp>
      <p:sp>
        <p:nvSpPr>
          <p:cNvPr id="33" name="Shape 30"/>
          <p:cNvSpPr/>
          <p:nvPr/>
        </p:nvSpPr>
        <p:spPr>
          <a:xfrm>
            <a:off x="9509760" y="1600200"/>
            <a:ext cx="548640" cy="274320"/>
          </a:xfrm>
          <a:prstGeom prst="rect">
            <a:avLst/>
          </a:prstGeom>
          <a:solidFill>
            <a:srgbClr val="FFFFFF"/>
          </a:solidFill>
          <a:ln w="9525">
            <a:solidFill>
              <a:srgbClr val="FFFFFF"/>
            </a:solidFill>
            <a:prstDash val="solid"/>
          </a:ln>
        </p:spPr>
      </p:sp>
      <p:sp>
        <p:nvSpPr>
          <p:cNvPr id="34" name="Text 31"/>
          <p:cNvSpPr txBox="1"/>
          <p:nvPr/>
        </p:nvSpPr>
        <p:spPr>
          <a:xfrm>
            <a:off x="950976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13</a:t>
            </a:r>
            <a:endParaRPr lang="en-US" sz="1200" dirty="0"/>
          </a:p>
        </p:txBody>
      </p:sp>
      <p:sp>
        <p:nvSpPr>
          <p:cNvPr id="35" name="Shape 32"/>
          <p:cNvSpPr/>
          <p:nvPr/>
        </p:nvSpPr>
        <p:spPr>
          <a:xfrm>
            <a:off x="10058400" y="1600200"/>
            <a:ext cx="548640" cy="274320"/>
          </a:xfrm>
          <a:prstGeom prst="rect">
            <a:avLst/>
          </a:prstGeom>
          <a:solidFill>
            <a:srgbClr val="FFFFFF"/>
          </a:solidFill>
          <a:ln w="9525">
            <a:solidFill>
              <a:srgbClr val="FFFFFF"/>
            </a:solidFill>
            <a:prstDash val="solid"/>
          </a:ln>
        </p:spPr>
      </p:sp>
      <p:sp>
        <p:nvSpPr>
          <p:cNvPr id="36" name="Text 33"/>
          <p:cNvSpPr txBox="1"/>
          <p:nvPr/>
        </p:nvSpPr>
        <p:spPr>
          <a:xfrm>
            <a:off x="10058400" y="1600200"/>
            <a:ext cx="548640" cy="274320"/>
          </a:xfrm>
          <a:prstGeom prst="rect">
            <a:avLst/>
          </a:prstGeom>
          <a:noFill/>
          <a:ln/>
        </p:spPr>
        <p:txBody>
          <a:bodyPr wrap="square" lIns="0" tIns="0" rIns="0" bIns="0" rtlCol="0" anchor="ctr"/>
          <a:lstStyle/>
          <a:p>
            <a:pPr algn="ctr" indent="0" marL="0">
              <a:buNone/>
            </a:pPr>
            <a:r>
              <a:rPr lang="en-US" sz="1200" b="1" dirty="0">
                <a:solidFill>
                  <a:srgbClr val="5B6478"/>
                </a:solidFill>
                <a:latin typeface="Courier New" pitchFamily="34" charset="0"/>
                <a:ea typeface="Courier New" pitchFamily="34" charset="-122"/>
                <a:cs typeface="Courier New" pitchFamily="34" charset="-120"/>
              </a:rPr>
              <a:t>14</a:t>
            </a:r>
            <a:endParaRPr lang="en-US" sz="1200" dirty="0"/>
          </a:p>
        </p:txBody>
      </p:sp>
      <p:sp>
        <p:nvSpPr>
          <p:cNvPr id="37" name="Text 34"/>
          <p:cNvSpPr txBox="1"/>
          <p:nvPr/>
        </p:nvSpPr>
        <p:spPr>
          <a:xfrm>
            <a:off x="548640" y="1920240"/>
            <a:ext cx="17373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Step 1</a:t>
            </a:r>
            <a:endParaRPr lang="en-US" sz="1500" dirty="0"/>
          </a:p>
        </p:txBody>
      </p:sp>
      <p:sp>
        <p:nvSpPr>
          <p:cNvPr id="38" name="Shape 35"/>
          <p:cNvSpPr/>
          <p:nvPr/>
        </p:nvSpPr>
        <p:spPr>
          <a:xfrm>
            <a:off x="2377440" y="1920240"/>
            <a:ext cx="548640" cy="502920"/>
          </a:xfrm>
          <a:prstGeom prst="rect">
            <a:avLst/>
          </a:prstGeom>
          <a:solidFill>
            <a:srgbClr val="E3ECF8"/>
          </a:solidFill>
          <a:ln w="9525">
            <a:solidFill>
              <a:srgbClr val="8A94AB"/>
            </a:solidFill>
            <a:prstDash val="solid"/>
          </a:ln>
        </p:spPr>
      </p:sp>
      <p:sp>
        <p:nvSpPr>
          <p:cNvPr id="39" name="Text 36"/>
          <p:cNvSpPr txBox="1"/>
          <p:nvPr/>
        </p:nvSpPr>
        <p:spPr>
          <a:xfrm>
            <a:off x="237744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40" name="Shape 37"/>
          <p:cNvSpPr/>
          <p:nvPr/>
        </p:nvSpPr>
        <p:spPr>
          <a:xfrm>
            <a:off x="2926080" y="1920240"/>
            <a:ext cx="548640" cy="502920"/>
          </a:xfrm>
          <a:prstGeom prst="rect">
            <a:avLst/>
          </a:prstGeom>
          <a:solidFill>
            <a:srgbClr val="E3ECF8"/>
          </a:solidFill>
          <a:ln w="9525">
            <a:solidFill>
              <a:srgbClr val="8A94AB"/>
            </a:solidFill>
            <a:prstDash val="solid"/>
          </a:ln>
        </p:spPr>
      </p:sp>
      <p:sp>
        <p:nvSpPr>
          <p:cNvPr id="41" name="Text 38"/>
          <p:cNvSpPr txBox="1"/>
          <p:nvPr/>
        </p:nvSpPr>
        <p:spPr>
          <a:xfrm>
            <a:off x="292608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9</a:t>
            </a:r>
            <a:endParaRPr lang="en-US" sz="1400" dirty="0"/>
          </a:p>
        </p:txBody>
      </p:sp>
      <p:sp>
        <p:nvSpPr>
          <p:cNvPr id="42" name="Shape 39"/>
          <p:cNvSpPr/>
          <p:nvPr/>
        </p:nvSpPr>
        <p:spPr>
          <a:xfrm>
            <a:off x="3474720" y="1920240"/>
            <a:ext cx="548640" cy="502920"/>
          </a:xfrm>
          <a:prstGeom prst="rect">
            <a:avLst/>
          </a:prstGeom>
          <a:solidFill>
            <a:srgbClr val="E3ECF8"/>
          </a:solidFill>
          <a:ln w="9525">
            <a:solidFill>
              <a:srgbClr val="8A94AB"/>
            </a:solidFill>
            <a:prstDash val="solid"/>
          </a:ln>
        </p:spPr>
      </p:sp>
      <p:sp>
        <p:nvSpPr>
          <p:cNvPr id="43" name="Text 40"/>
          <p:cNvSpPr txBox="1"/>
          <p:nvPr/>
        </p:nvSpPr>
        <p:spPr>
          <a:xfrm>
            <a:off x="347472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13</a:t>
            </a:r>
            <a:endParaRPr lang="en-US" sz="1400" dirty="0"/>
          </a:p>
        </p:txBody>
      </p:sp>
      <p:sp>
        <p:nvSpPr>
          <p:cNvPr id="44" name="Shape 41"/>
          <p:cNvSpPr/>
          <p:nvPr/>
        </p:nvSpPr>
        <p:spPr>
          <a:xfrm>
            <a:off x="4023360" y="1920240"/>
            <a:ext cx="548640" cy="502920"/>
          </a:xfrm>
          <a:prstGeom prst="rect">
            <a:avLst/>
          </a:prstGeom>
          <a:solidFill>
            <a:srgbClr val="E3ECF8"/>
          </a:solidFill>
          <a:ln w="9525">
            <a:solidFill>
              <a:srgbClr val="8A94AB"/>
            </a:solidFill>
            <a:prstDash val="solid"/>
          </a:ln>
        </p:spPr>
      </p:sp>
      <p:sp>
        <p:nvSpPr>
          <p:cNvPr id="45" name="Text 42"/>
          <p:cNvSpPr txBox="1"/>
          <p:nvPr/>
        </p:nvSpPr>
        <p:spPr>
          <a:xfrm>
            <a:off x="402336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18</a:t>
            </a:r>
            <a:endParaRPr lang="en-US" sz="1400" dirty="0"/>
          </a:p>
        </p:txBody>
      </p:sp>
      <p:sp>
        <p:nvSpPr>
          <p:cNvPr id="46" name="Shape 43"/>
          <p:cNvSpPr/>
          <p:nvPr/>
        </p:nvSpPr>
        <p:spPr>
          <a:xfrm>
            <a:off x="4572000" y="1920240"/>
            <a:ext cx="548640" cy="502920"/>
          </a:xfrm>
          <a:prstGeom prst="rect">
            <a:avLst/>
          </a:prstGeom>
          <a:solidFill>
            <a:srgbClr val="E3ECF8"/>
          </a:solidFill>
          <a:ln w="9525">
            <a:solidFill>
              <a:srgbClr val="8A94AB"/>
            </a:solidFill>
            <a:prstDash val="solid"/>
          </a:ln>
        </p:spPr>
      </p:sp>
      <p:sp>
        <p:nvSpPr>
          <p:cNvPr id="47" name="Text 44"/>
          <p:cNvSpPr txBox="1"/>
          <p:nvPr/>
        </p:nvSpPr>
        <p:spPr>
          <a:xfrm>
            <a:off x="457200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22</a:t>
            </a:r>
            <a:endParaRPr lang="en-US" sz="1400" dirty="0"/>
          </a:p>
        </p:txBody>
      </p:sp>
      <p:sp>
        <p:nvSpPr>
          <p:cNvPr id="48" name="Shape 45"/>
          <p:cNvSpPr/>
          <p:nvPr/>
        </p:nvSpPr>
        <p:spPr>
          <a:xfrm>
            <a:off x="5120640" y="1920240"/>
            <a:ext cx="548640" cy="502920"/>
          </a:xfrm>
          <a:prstGeom prst="rect">
            <a:avLst/>
          </a:prstGeom>
          <a:solidFill>
            <a:srgbClr val="E3ECF8"/>
          </a:solidFill>
          <a:ln w="9525">
            <a:solidFill>
              <a:srgbClr val="8A94AB"/>
            </a:solidFill>
            <a:prstDash val="solid"/>
          </a:ln>
        </p:spPr>
      </p:sp>
      <p:sp>
        <p:nvSpPr>
          <p:cNvPr id="49" name="Text 46"/>
          <p:cNvSpPr txBox="1"/>
          <p:nvPr/>
        </p:nvSpPr>
        <p:spPr>
          <a:xfrm>
            <a:off x="512064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27</a:t>
            </a:r>
            <a:endParaRPr lang="en-US" sz="1400" dirty="0"/>
          </a:p>
        </p:txBody>
      </p:sp>
      <p:sp>
        <p:nvSpPr>
          <p:cNvPr id="50" name="Shape 47"/>
          <p:cNvSpPr/>
          <p:nvPr/>
        </p:nvSpPr>
        <p:spPr>
          <a:xfrm>
            <a:off x="5669280" y="1920240"/>
            <a:ext cx="548640" cy="502920"/>
          </a:xfrm>
          <a:prstGeom prst="rect">
            <a:avLst/>
          </a:prstGeom>
          <a:solidFill>
            <a:srgbClr val="E3ECF8"/>
          </a:solidFill>
          <a:ln w="9525">
            <a:solidFill>
              <a:srgbClr val="8A94AB"/>
            </a:solidFill>
            <a:prstDash val="solid"/>
          </a:ln>
        </p:spPr>
      </p:sp>
      <p:sp>
        <p:nvSpPr>
          <p:cNvPr id="51" name="Text 48"/>
          <p:cNvSpPr txBox="1"/>
          <p:nvPr/>
        </p:nvSpPr>
        <p:spPr>
          <a:xfrm>
            <a:off x="566928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31</a:t>
            </a:r>
            <a:endParaRPr lang="en-US" sz="1400" dirty="0"/>
          </a:p>
        </p:txBody>
      </p:sp>
      <p:sp>
        <p:nvSpPr>
          <p:cNvPr id="52" name="Shape 49"/>
          <p:cNvSpPr/>
          <p:nvPr/>
        </p:nvSpPr>
        <p:spPr>
          <a:xfrm>
            <a:off x="6217920" y="1920240"/>
            <a:ext cx="548640" cy="502920"/>
          </a:xfrm>
          <a:prstGeom prst="rect">
            <a:avLst/>
          </a:prstGeom>
          <a:solidFill>
            <a:srgbClr val="FCA311"/>
          </a:solidFill>
          <a:ln w="9525">
            <a:solidFill>
              <a:srgbClr val="8A94AB"/>
            </a:solidFill>
            <a:prstDash val="solid"/>
          </a:ln>
        </p:spPr>
      </p:sp>
      <p:sp>
        <p:nvSpPr>
          <p:cNvPr id="53" name="Text 50"/>
          <p:cNvSpPr txBox="1"/>
          <p:nvPr/>
        </p:nvSpPr>
        <p:spPr>
          <a:xfrm>
            <a:off x="621792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36</a:t>
            </a:r>
            <a:endParaRPr lang="en-US" sz="1400" dirty="0"/>
          </a:p>
        </p:txBody>
      </p:sp>
      <p:sp>
        <p:nvSpPr>
          <p:cNvPr id="54" name="Shape 51"/>
          <p:cNvSpPr/>
          <p:nvPr/>
        </p:nvSpPr>
        <p:spPr>
          <a:xfrm>
            <a:off x="6766560" y="1920240"/>
            <a:ext cx="548640" cy="502920"/>
          </a:xfrm>
          <a:prstGeom prst="rect">
            <a:avLst/>
          </a:prstGeom>
          <a:solidFill>
            <a:srgbClr val="E3ECF8"/>
          </a:solidFill>
          <a:ln w="9525">
            <a:solidFill>
              <a:srgbClr val="8A94AB"/>
            </a:solidFill>
            <a:prstDash val="solid"/>
          </a:ln>
        </p:spPr>
      </p:sp>
      <p:sp>
        <p:nvSpPr>
          <p:cNvPr id="55" name="Text 52"/>
          <p:cNvSpPr txBox="1"/>
          <p:nvPr/>
        </p:nvSpPr>
        <p:spPr>
          <a:xfrm>
            <a:off x="676656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40</a:t>
            </a:r>
            <a:endParaRPr lang="en-US" sz="1400" dirty="0"/>
          </a:p>
        </p:txBody>
      </p:sp>
      <p:sp>
        <p:nvSpPr>
          <p:cNvPr id="56" name="Shape 53"/>
          <p:cNvSpPr/>
          <p:nvPr/>
        </p:nvSpPr>
        <p:spPr>
          <a:xfrm>
            <a:off x="7315200" y="1920240"/>
            <a:ext cx="548640" cy="502920"/>
          </a:xfrm>
          <a:prstGeom prst="rect">
            <a:avLst/>
          </a:prstGeom>
          <a:solidFill>
            <a:srgbClr val="E3ECF8"/>
          </a:solidFill>
          <a:ln w="9525">
            <a:solidFill>
              <a:srgbClr val="8A94AB"/>
            </a:solidFill>
            <a:prstDash val="solid"/>
          </a:ln>
        </p:spPr>
      </p:sp>
      <p:sp>
        <p:nvSpPr>
          <p:cNvPr id="57" name="Text 54"/>
          <p:cNvSpPr txBox="1"/>
          <p:nvPr/>
        </p:nvSpPr>
        <p:spPr>
          <a:xfrm>
            <a:off x="731520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45</a:t>
            </a:r>
            <a:endParaRPr lang="en-US" sz="1400" dirty="0"/>
          </a:p>
        </p:txBody>
      </p:sp>
      <p:sp>
        <p:nvSpPr>
          <p:cNvPr id="58" name="Shape 55"/>
          <p:cNvSpPr/>
          <p:nvPr/>
        </p:nvSpPr>
        <p:spPr>
          <a:xfrm>
            <a:off x="7863840" y="1920240"/>
            <a:ext cx="548640" cy="502920"/>
          </a:xfrm>
          <a:prstGeom prst="rect">
            <a:avLst/>
          </a:prstGeom>
          <a:solidFill>
            <a:srgbClr val="E3ECF8"/>
          </a:solidFill>
          <a:ln w="9525">
            <a:solidFill>
              <a:srgbClr val="8A94AB"/>
            </a:solidFill>
            <a:prstDash val="solid"/>
          </a:ln>
        </p:spPr>
      </p:sp>
      <p:sp>
        <p:nvSpPr>
          <p:cNvPr id="59" name="Text 56"/>
          <p:cNvSpPr txBox="1"/>
          <p:nvPr/>
        </p:nvSpPr>
        <p:spPr>
          <a:xfrm>
            <a:off x="786384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51</a:t>
            </a:r>
            <a:endParaRPr lang="en-US" sz="1400" dirty="0"/>
          </a:p>
        </p:txBody>
      </p:sp>
      <p:sp>
        <p:nvSpPr>
          <p:cNvPr id="60" name="Shape 57"/>
          <p:cNvSpPr/>
          <p:nvPr/>
        </p:nvSpPr>
        <p:spPr>
          <a:xfrm>
            <a:off x="8412480" y="1920240"/>
            <a:ext cx="548640" cy="502920"/>
          </a:xfrm>
          <a:prstGeom prst="rect">
            <a:avLst/>
          </a:prstGeom>
          <a:solidFill>
            <a:srgbClr val="E3ECF8"/>
          </a:solidFill>
          <a:ln w="9525">
            <a:solidFill>
              <a:srgbClr val="8A94AB"/>
            </a:solidFill>
            <a:prstDash val="solid"/>
          </a:ln>
        </p:spPr>
      </p:sp>
      <p:sp>
        <p:nvSpPr>
          <p:cNvPr id="61" name="Text 58"/>
          <p:cNvSpPr txBox="1"/>
          <p:nvPr/>
        </p:nvSpPr>
        <p:spPr>
          <a:xfrm>
            <a:off x="841248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58</a:t>
            </a:r>
            <a:endParaRPr lang="en-US" sz="1400" dirty="0"/>
          </a:p>
        </p:txBody>
      </p:sp>
      <p:sp>
        <p:nvSpPr>
          <p:cNvPr id="62" name="Shape 59"/>
          <p:cNvSpPr/>
          <p:nvPr/>
        </p:nvSpPr>
        <p:spPr>
          <a:xfrm>
            <a:off x="8961120" y="1920240"/>
            <a:ext cx="548640" cy="502920"/>
          </a:xfrm>
          <a:prstGeom prst="rect">
            <a:avLst/>
          </a:prstGeom>
          <a:solidFill>
            <a:srgbClr val="E3ECF8"/>
          </a:solidFill>
          <a:ln w="9525">
            <a:solidFill>
              <a:srgbClr val="8A94AB"/>
            </a:solidFill>
            <a:prstDash val="solid"/>
          </a:ln>
        </p:spPr>
      </p:sp>
      <p:sp>
        <p:nvSpPr>
          <p:cNvPr id="63" name="Text 60"/>
          <p:cNvSpPr txBox="1"/>
          <p:nvPr/>
        </p:nvSpPr>
        <p:spPr>
          <a:xfrm>
            <a:off x="896112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63</a:t>
            </a:r>
            <a:endParaRPr lang="en-US" sz="1400" dirty="0"/>
          </a:p>
        </p:txBody>
      </p:sp>
      <p:sp>
        <p:nvSpPr>
          <p:cNvPr id="64" name="Shape 61"/>
          <p:cNvSpPr/>
          <p:nvPr/>
        </p:nvSpPr>
        <p:spPr>
          <a:xfrm>
            <a:off x="9509760" y="1920240"/>
            <a:ext cx="548640" cy="502920"/>
          </a:xfrm>
          <a:prstGeom prst="rect">
            <a:avLst/>
          </a:prstGeom>
          <a:solidFill>
            <a:srgbClr val="E3ECF8"/>
          </a:solidFill>
          <a:ln w="9525">
            <a:solidFill>
              <a:srgbClr val="8A94AB"/>
            </a:solidFill>
            <a:prstDash val="solid"/>
          </a:ln>
        </p:spPr>
      </p:sp>
      <p:sp>
        <p:nvSpPr>
          <p:cNvPr id="65" name="Text 62"/>
          <p:cNvSpPr txBox="1"/>
          <p:nvPr/>
        </p:nvSpPr>
        <p:spPr>
          <a:xfrm>
            <a:off x="950976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70</a:t>
            </a:r>
            <a:endParaRPr lang="en-US" sz="1400" dirty="0"/>
          </a:p>
        </p:txBody>
      </p:sp>
      <p:sp>
        <p:nvSpPr>
          <p:cNvPr id="66" name="Shape 63"/>
          <p:cNvSpPr/>
          <p:nvPr/>
        </p:nvSpPr>
        <p:spPr>
          <a:xfrm>
            <a:off x="10058400" y="1920240"/>
            <a:ext cx="548640" cy="502920"/>
          </a:xfrm>
          <a:prstGeom prst="rect">
            <a:avLst/>
          </a:prstGeom>
          <a:solidFill>
            <a:srgbClr val="E3ECF8"/>
          </a:solidFill>
          <a:ln w="9525">
            <a:solidFill>
              <a:srgbClr val="8A94AB"/>
            </a:solidFill>
            <a:prstDash val="solid"/>
          </a:ln>
        </p:spPr>
      </p:sp>
      <p:sp>
        <p:nvSpPr>
          <p:cNvPr id="67" name="Text 64"/>
          <p:cNvSpPr txBox="1"/>
          <p:nvPr/>
        </p:nvSpPr>
        <p:spPr>
          <a:xfrm>
            <a:off x="10058400" y="192024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77</a:t>
            </a:r>
            <a:endParaRPr lang="en-US" sz="1400" dirty="0"/>
          </a:p>
        </p:txBody>
      </p:sp>
      <p:sp>
        <p:nvSpPr>
          <p:cNvPr id="68" name="Text 65"/>
          <p:cNvSpPr txBox="1"/>
          <p:nvPr/>
        </p:nvSpPr>
        <p:spPr>
          <a:xfrm>
            <a:off x="2103120" y="2441448"/>
            <a:ext cx="1097280" cy="256032"/>
          </a:xfrm>
          <a:prstGeom prst="rect">
            <a:avLst/>
          </a:prstGeom>
          <a:noFill/>
          <a:ln/>
        </p:spPr>
        <p:txBody>
          <a:bodyPr wrap="square" lIns="0" tIns="0" rIns="0" bIns="0" rtlCol="0" anchor="ctr"/>
          <a:lstStyle/>
          <a:p>
            <a:pPr algn="ctr" indent="0" marL="0">
              <a:buNone/>
            </a:pPr>
            <a:r>
              <a:rPr lang="en-US" sz="1200" b="1" dirty="0">
                <a:solidFill>
                  <a:srgbClr val="2F6FB3"/>
                </a:solidFill>
                <a:latin typeface="Calibri" pitchFamily="34" charset="0"/>
                <a:ea typeface="Calibri" pitchFamily="34" charset="-122"/>
                <a:cs typeface="Calibri" pitchFamily="34" charset="-120"/>
              </a:rPr>
              <a:t>low</a:t>
            </a:r>
            <a:endParaRPr lang="en-US" sz="1200" dirty="0"/>
          </a:p>
        </p:txBody>
      </p:sp>
      <p:sp>
        <p:nvSpPr>
          <p:cNvPr id="69" name="Text 66"/>
          <p:cNvSpPr txBox="1"/>
          <p:nvPr/>
        </p:nvSpPr>
        <p:spPr>
          <a:xfrm>
            <a:off x="5943600" y="2441448"/>
            <a:ext cx="1097280" cy="256032"/>
          </a:xfrm>
          <a:prstGeom prst="rect">
            <a:avLst/>
          </a:prstGeom>
          <a:noFill/>
          <a:ln/>
        </p:spPr>
        <p:txBody>
          <a:bodyPr wrap="square" lIns="0" tIns="0" rIns="0" bIns="0" rtlCol="0" anchor="ctr"/>
          <a:lstStyle/>
          <a:p>
            <a:pPr algn="ctr" indent="0" marL="0">
              <a:buNone/>
            </a:pPr>
            <a:r>
              <a:rPr lang="en-US" sz="1200" b="1" dirty="0">
                <a:solidFill>
                  <a:srgbClr val="B7791F"/>
                </a:solidFill>
                <a:latin typeface="Calibri" pitchFamily="34" charset="0"/>
                <a:ea typeface="Calibri" pitchFamily="34" charset="-122"/>
                <a:cs typeface="Calibri" pitchFamily="34" charset="-120"/>
              </a:rPr>
              <a:t>mid</a:t>
            </a:r>
            <a:endParaRPr lang="en-US" sz="1200" dirty="0"/>
          </a:p>
        </p:txBody>
      </p:sp>
      <p:sp>
        <p:nvSpPr>
          <p:cNvPr id="70" name="Text 67"/>
          <p:cNvSpPr txBox="1"/>
          <p:nvPr/>
        </p:nvSpPr>
        <p:spPr>
          <a:xfrm>
            <a:off x="9784080" y="2441448"/>
            <a:ext cx="1097280" cy="256032"/>
          </a:xfrm>
          <a:prstGeom prst="rect">
            <a:avLst/>
          </a:prstGeom>
          <a:noFill/>
          <a:ln/>
        </p:spPr>
        <p:txBody>
          <a:bodyPr wrap="square" lIns="0" tIns="0" rIns="0" bIns="0" rtlCol="0" anchor="ctr"/>
          <a:lstStyle/>
          <a:p>
            <a:pPr algn="ctr" indent="0" marL="0">
              <a:buNone/>
            </a:pPr>
            <a:r>
              <a:rPr lang="en-US" sz="1200" b="1" dirty="0">
                <a:solidFill>
                  <a:srgbClr val="2F6FB3"/>
                </a:solidFill>
                <a:latin typeface="Calibri" pitchFamily="34" charset="0"/>
                <a:ea typeface="Calibri" pitchFamily="34" charset="-122"/>
                <a:cs typeface="Calibri" pitchFamily="34" charset="-120"/>
              </a:rPr>
              <a:t>high</a:t>
            </a:r>
            <a:endParaRPr lang="en-US" sz="1200" dirty="0"/>
          </a:p>
        </p:txBody>
      </p:sp>
      <p:sp>
        <p:nvSpPr>
          <p:cNvPr id="71" name="Text 68"/>
          <p:cNvSpPr txBox="1"/>
          <p:nvPr/>
        </p:nvSpPr>
        <p:spPr>
          <a:xfrm>
            <a:off x="548640" y="2788920"/>
            <a:ext cx="17373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Step 2</a:t>
            </a:r>
            <a:endParaRPr lang="en-US" sz="1500" dirty="0"/>
          </a:p>
        </p:txBody>
      </p:sp>
      <p:sp>
        <p:nvSpPr>
          <p:cNvPr id="72" name="Shape 69"/>
          <p:cNvSpPr/>
          <p:nvPr/>
        </p:nvSpPr>
        <p:spPr>
          <a:xfrm>
            <a:off x="2377440" y="2788920"/>
            <a:ext cx="548640" cy="502920"/>
          </a:xfrm>
          <a:prstGeom prst="rect">
            <a:avLst/>
          </a:prstGeom>
          <a:solidFill>
            <a:srgbClr val="E3ECF8"/>
          </a:solidFill>
          <a:ln w="9525">
            <a:solidFill>
              <a:srgbClr val="8A94AB"/>
            </a:solidFill>
            <a:prstDash val="solid"/>
          </a:ln>
        </p:spPr>
      </p:sp>
      <p:sp>
        <p:nvSpPr>
          <p:cNvPr id="73" name="Text 70"/>
          <p:cNvSpPr txBox="1"/>
          <p:nvPr/>
        </p:nvSpPr>
        <p:spPr>
          <a:xfrm>
            <a:off x="2377440" y="278892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74" name="Shape 71"/>
          <p:cNvSpPr/>
          <p:nvPr/>
        </p:nvSpPr>
        <p:spPr>
          <a:xfrm>
            <a:off x="2926080" y="2788920"/>
            <a:ext cx="548640" cy="502920"/>
          </a:xfrm>
          <a:prstGeom prst="rect">
            <a:avLst/>
          </a:prstGeom>
          <a:solidFill>
            <a:srgbClr val="E3ECF8"/>
          </a:solidFill>
          <a:ln w="9525">
            <a:solidFill>
              <a:srgbClr val="8A94AB"/>
            </a:solidFill>
            <a:prstDash val="solid"/>
          </a:ln>
        </p:spPr>
      </p:sp>
      <p:sp>
        <p:nvSpPr>
          <p:cNvPr id="75" name="Text 72"/>
          <p:cNvSpPr txBox="1"/>
          <p:nvPr/>
        </p:nvSpPr>
        <p:spPr>
          <a:xfrm>
            <a:off x="2926080" y="278892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9</a:t>
            </a:r>
            <a:endParaRPr lang="en-US" sz="1400" dirty="0"/>
          </a:p>
        </p:txBody>
      </p:sp>
      <p:sp>
        <p:nvSpPr>
          <p:cNvPr id="76" name="Shape 73"/>
          <p:cNvSpPr/>
          <p:nvPr/>
        </p:nvSpPr>
        <p:spPr>
          <a:xfrm>
            <a:off x="3474720" y="2788920"/>
            <a:ext cx="548640" cy="502920"/>
          </a:xfrm>
          <a:prstGeom prst="rect">
            <a:avLst/>
          </a:prstGeom>
          <a:solidFill>
            <a:srgbClr val="E3ECF8"/>
          </a:solidFill>
          <a:ln w="9525">
            <a:solidFill>
              <a:srgbClr val="8A94AB"/>
            </a:solidFill>
            <a:prstDash val="solid"/>
          </a:ln>
        </p:spPr>
      </p:sp>
      <p:sp>
        <p:nvSpPr>
          <p:cNvPr id="77" name="Text 74"/>
          <p:cNvSpPr txBox="1"/>
          <p:nvPr/>
        </p:nvSpPr>
        <p:spPr>
          <a:xfrm>
            <a:off x="3474720" y="278892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13</a:t>
            </a:r>
            <a:endParaRPr lang="en-US" sz="1400" dirty="0"/>
          </a:p>
        </p:txBody>
      </p:sp>
      <p:sp>
        <p:nvSpPr>
          <p:cNvPr id="78" name="Shape 75"/>
          <p:cNvSpPr/>
          <p:nvPr/>
        </p:nvSpPr>
        <p:spPr>
          <a:xfrm>
            <a:off x="4023360" y="2788920"/>
            <a:ext cx="548640" cy="502920"/>
          </a:xfrm>
          <a:prstGeom prst="rect">
            <a:avLst/>
          </a:prstGeom>
          <a:solidFill>
            <a:srgbClr val="FCA311"/>
          </a:solidFill>
          <a:ln w="9525">
            <a:solidFill>
              <a:srgbClr val="8A94AB"/>
            </a:solidFill>
            <a:prstDash val="solid"/>
          </a:ln>
        </p:spPr>
      </p:sp>
      <p:sp>
        <p:nvSpPr>
          <p:cNvPr id="79" name="Text 76"/>
          <p:cNvSpPr txBox="1"/>
          <p:nvPr/>
        </p:nvSpPr>
        <p:spPr>
          <a:xfrm>
            <a:off x="4023360" y="278892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18</a:t>
            </a:r>
            <a:endParaRPr lang="en-US" sz="1400" dirty="0"/>
          </a:p>
        </p:txBody>
      </p:sp>
      <p:sp>
        <p:nvSpPr>
          <p:cNvPr id="80" name="Shape 77"/>
          <p:cNvSpPr/>
          <p:nvPr/>
        </p:nvSpPr>
        <p:spPr>
          <a:xfrm>
            <a:off x="4572000" y="2788920"/>
            <a:ext cx="548640" cy="502920"/>
          </a:xfrm>
          <a:prstGeom prst="rect">
            <a:avLst/>
          </a:prstGeom>
          <a:solidFill>
            <a:srgbClr val="E3ECF8"/>
          </a:solidFill>
          <a:ln w="9525">
            <a:solidFill>
              <a:srgbClr val="8A94AB"/>
            </a:solidFill>
            <a:prstDash val="solid"/>
          </a:ln>
        </p:spPr>
      </p:sp>
      <p:sp>
        <p:nvSpPr>
          <p:cNvPr id="81" name="Text 78"/>
          <p:cNvSpPr txBox="1"/>
          <p:nvPr/>
        </p:nvSpPr>
        <p:spPr>
          <a:xfrm>
            <a:off x="4572000" y="278892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22</a:t>
            </a:r>
            <a:endParaRPr lang="en-US" sz="1400" dirty="0"/>
          </a:p>
        </p:txBody>
      </p:sp>
      <p:sp>
        <p:nvSpPr>
          <p:cNvPr id="82" name="Shape 79"/>
          <p:cNvSpPr/>
          <p:nvPr/>
        </p:nvSpPr>
        <p:spPr>
          <a:xfrm>
            <a:off x="5120640" y="2788920"/>
            <a:ext cx="548640" cy="502920"/>
          </a:xfrm>
          <a:prstGeom prst="rect">
            <a:avLst/>
          </a:prstGeom>
          <a:solidFill>
            <a:srgbClr val="E3ECF8"/>
          </a:solidFill>
          <a:ln w="9525">
            <a:solidFill>
              <a:srgbClr val="8A94AB"/>
            </a:solidFill>
            <a:prstDash val="solid"/>
          </a:ln>
        </p:spPr>
      </p:sp>
      <p:sp>
        <p:nvSpPr>
          <p:cNvPr id="83" name="Text 80"/>
          <p:cNvSpPr txBox="1"/>
          <p:nvPr/>
        </p:nvSpPr>
        <p:spPr>
          <a:xfrm>
            <a:off x="5120640" y="278892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27</a:t>
            </a:r>
            <a:endParaRPr lang="en-US" sz="1400" dirty="0"/>
          </a:p>
        </p:txBody>
      </p:sp>
      <p:sp>
        <p:nvSpPr>
          <p:cNvPr id="84" name="Shape 81"/>
          <p:cNvSpPr/>
          <p:nvPr/>
        </p:nvSpPr>
        <p:spPr>
          <a:xfrm>
            <a:off x="5669280" y="2788920"/>
            <a:ext cx="548640" cy="502920"/>
          </a:xfrm>
          <a:prstGeom prst="rect">
            <a:avLst/>
          </a:prstGeom>
          <a:solidFill>
            <a:srgbClr val="E3ECF8"/>
          </a:solidFill>
          <a:ln w="9525">
            <a:solidFill>
              <a:srgbClr val="8A94AB"/>
            </a:solidFill>
            <a:prstDash val="solid"/>
          </a:ln>
        </p:spPr>
      </p:sp>
      <p:sp>
        <p:nvSpPr>
          <p:cNvPr id="85" name="Text 82"/>
          <p:cNvSpPr txBox="1"/>
          <p:nvPr/>
        </p:nvSpPr>
        <p:spPr>
          <a:xfrm>
            <a:off x="5669280" y="278892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31</a:t>
            </a:r>
            <a:endParaRPr lang="en-US" sz="1400" dirty="0"/>
          </a:p>
        </p:txBody>
      </p:sp>
      <p:sp>
        <p:nvSpPr>
          <p:cNvPr id="86" name="Shape 83"/>
          <p:cNvSpPr/>
          <p:nvPr/>
        </p:nvSpPr>
        <p:spPr>
          <a:xfrm>
            <a:off x="6217920" y="2788920"/>
            <a:ext cx="548640" cy="502920"/>
          </a:xfrm>
          <a:prstGeom prst="rect">
            <a:avLst/>
          </a:prstGeom>
          <a:solidFill>
            <a:srgbClr val="E4E7ED"/>
          </a:solidFill>
          <a:ln w="9525">
            <a:solidFill>
              <a:srgbClr val="8A94AB"/>
            </a:solidFill>
            <a:prstDash val="solid"/>
          </a:ln>
        </p:spPr>
      </p:sp>
      <p:sp>
        <p:nvSpPr>
          <p:cNvPr id="87" name="Text 84"/>
          <p:cNvSpPr txBox="1"/>
          <p:nvPr/>
        </p:nvSpPr>
        <p:spPr>
          <a:xfrm>
            <a:off x="6217920" y="278892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36</a:t>
            </a:r>
            <a:endParaRPr lang="en-US" sz="1400" dirty="0"/>
          </a:p>
        </p:txBody>
      </p:sp>
      <p:sp>
        <p:nvSpPr>
          <p:cNvPr id="88" name="Shape 85"/>
          <p:cNvSpPr/>
          <p:nvPr/>
        </p:nvSpPr>
        <p:spPr>
          <a:xfrm>
            <a:off x="6766560" y="2788920"/>
            <a:ext cx="548640" cy="502920"/>
          </a:xfrm>
          <a:prstGeom prst="rect">
            <a:avLst/>
          </a:prstGeom>
          <a:solidFill>
            <a:srgbClr val="E4E7ED"/>
          </a:solidFill>
          <a:ln w="9525">
            <a:solidFill>
              <a:srgbClr val="8A94AB"/>
            </a:solidFill>
            <a:prstDash val="solid"/>
          </a:ln>
        </p:spPr>
      </p:sp>
      <p:sp>
        <p:nvSpPr>
          <p:cNvPr id="89" name="Text 86"/>
          <p:cNvSpPr txBox="1"/>
          <p:nvPr/>
        </p:nvSpPr>
        <p:spPr>
          <a:xfrm>
            <a:off x="6766560" y="278892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40</a:t>
            </a:r>
            <a:endParaRPr lang="en-US" sz="1400" dirty="0"/>
          </a:p>
        </p:txBody>
      </p:sp>
      <p:sp>
        <p:nvSpPr>
          <p:cNvPr id="90" name="Shape 87"/>
          <p:cNvSpPr/>
          <p:nvPr/>
        </p:nvSpPr>
        <p:spPr>
          <a:xfrm>
            <a:off x="7315200" y="2788920"/>
            <a:ext cx="548640" cy="502920"/>
          </a:xfrm>
          <a:prstGeom prst="rect">
            <a:avLst/>
          </a:prstGeom>
          <a:solidFill>
            <a:srgbClr val="E4E7ED"/>
          </a:solidFill>
          <a:ln w="9525">
            <a:solidFill>
              <a:srgbClr val="8A94AB"/>
            </a:solidFill>
            <a:prstDash val="solid"/>
          </a:ln>
        </p:spPr>
      </p:sp>
      <p:sp>
        <p:nvSpPr>
          <p:cNvPr id="91" name="Text 88"/>
          <p:cNvSpPr txBox="1"/>
          <p:nvPr/>
        </p:nvSpPr>
        <p:spPr>
          <a:xfrm>
            <a:off x="7315200" y="278892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45</a:t>
            </a:r>
            <a:endParaRPr lang="en-US" sz="1400" dirty="0"/>
          </a:p>
        </p:txBody>
      </p:sp>
      <p:sp>
        <p:nvSpPr>
          <p:cNvPr id="92" name="Shape 89"/>
          <p:cNvSpPr/>
          <p:nvPr/>
        </p:nvSpPr>
        <p:spPr>
          <a:xfrm>
            <a:off x="7863840" y="2788920"/>
            <a:ext cx="548640" cy="502920"/>
          </a:xfrm>
          <a:prstGeom prst="rect">
            <a:avLst/>
          </a:prstGeom>
          <a:solidFill>
            <a:srgbClr val="E4E7ED"/>
          </a:solidFill>
          <a:ln w="9525">
            <a:solidFill>
              <a:srgbClr val="8A94AB"/>
            </a:solidFill>
            <a:prstDash val="solid"/>
          </a:ln>
        </p:spPr>
      </p:sp>
      <p:sp>
        <p:nvSpPr>
          <p:cNvPr id="93" name="Text 90"/>
          <p:cNvSpPr txBox="1"/>
          <p:nvPr/>
        </p:nvSpPr>
        <p:spPr>
          <a:xfrm>
            <a:off x="7863840" y="278892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51</a:t>
            </a:r>
            <a:endParaRPr lang="en-US" sz="1400" dirty="0"/>
          </a:p>
        </p:txBody>
      </p:sp>
      <p:sp>
        <p:nvSpPr>
          <p:cNvPr id="94" name="Shape 91"/>
          <p:cNvSpPr/>
          <p:nvPr/>
        </p:nvSpPr>
        <p:spPr>
          <a:xfrm>
            <a:off x="8412480" y="2788920"/>
            <a:ext cx="548640" cy="502920"/>
          </a:xfrm>
          <a:prstGeom prst="rect">
            <a:avLst/>
          </a:prstGeom>
          <a:solidFill>
            <a:srgbClr val="E4E7ED"/>
          </a:solidFill>
          <a:ln w="9525">
            <a:solidFill>
              <a:srgbClr val="8A94AB"/>
            </a:solidFill>
            <a:prstDash val="solid"/>
          </a:ln>
        </p:spPr>
      </p:sp>
      <p:sp>
        <p:nvSpPr>
          <p:cNvPr id="95" name="Text 92"/>
          <p:cNvSpPr txBox="1"/>
          <p:nvPr/>
        </p:nvSpPr>
        <p:spPr>
          <a:xfrm>
            <a:off x="8412480" y="278892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58</a:t>
            </a:r>
            <a:endParaRPr lang="en-US" sz="1400" dirty="0"/>
          </a:p>
        </p:txBody>
      </p:sp>
      <p:sp>
        <p:nvSpPr>
          <p:cNvPr id="96" name="Shape 93"/>
          <p:cNvSpPr/>
          <p:nvPr/>
        </p:nvSpPr>
        <p:spPr>
          <a:xfrm>
            <a:off x="8961120" y="2788920"/>
            <a:ext cx="548640" cy="502920"/>
          </a:xfrm>
          <a:prstGeom prst="rect">
            <a:avLst/>
          </a:prstGeom>
          <a:solidFill>
            <a:srgbClr val="E4E7ED"/>
          </a:solidFill>
          <a:ln w="9525">
            <a:solidFill>
              <a:srgbClr val="8A94AB"/>
            </a:solidFill>
            <a:prstDash val="solid"/>
          </a:ln>
        </p:spPr>
      </p:sp>
      <p:sp>
        <p:nvSpPr>
          <p:cNvPr id="97" name="Text 94"/>
          <p:cNvSpPr txBox="1"/>
          <p:nvPr/>
        </p:nvSpPr>
        <p:spPr>
          <a:xfrm>
            <a:off x="8961120" y="278892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63</a:t>
            </a:r>
            <a:endParaRPr lang="en-US" sz="1400" dirty="0"/>
          </a:p>
        </p:txBody>
      </p:sp>
      <p:sp>
        <p:nvSpPr>
          <p:cNvPr id="98" name="Shape 95"/>
          <p:cNvSpPr/>
          <p:nvPr/>
        </p:nvSpPr>
        <p:spPr>
          <a:xfrm>
            <a:off x="9509760" y="2788920"/>
            <a:ext cx="548640" cy="502920"/>
          </a:xfrm>
          <a:prstGeom prst="rect">
            <a:avLst/>
          </a:prstGeom>
          <a:solidFill>
            <a:srgbClr val="E4E7ED"/>
          </a:solidFill>
          <a:ln w="9525">
            <a:solidFill>
              <a:srgbClr val="8A94AB"/>
            </a:solidFill>
            <a:prstDash val="solid"/>
          </a:ln>
        </p:spPr>
      </p:sp>
      <p:sp>
        <p:nvSpPr>
          <p:cNvPr id="99" name="Text 96"/>
          <p:cNvSpPr txBox="1"/>
          <p:nvPr/>
        </p:nvSpPr>
        <p:spPr>
          <a:xfrm>
            <a:off x="9509760" y="278892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70</a:t>
            </a:r>
            <a:endParaRPr lang="en-US" sz="1400" dirty="0"/>
          </a:p>
        </p:txBody>
      </p:sp>
      <p:sp>
        <p:nvSpPr>
          <p:cNvPr id="100" name="Shape 97"/>
          <p:cNvSpPr/>
          <p:nvPr/>
        </p:nvSpPr>
        <p:spPr>
          <a:xfrm>
            <a:off x="10058400" y="2788920"/>
            <a:ext cx="548640" cy="502920"/>
          </a:xfrm>
          <a:prstGeom prst="rect">
            <a:avLst/>
          </a:prstGeom>
          <a:solidFill>
            <a:srgbClr val="E4E7ED"/>
          </a:solidFill>
          <a:ln w="9525">
            <a:solidFill>
              <a:srgbClr val="8A94AB"/>
            </a:solidFill>
            <a:prstDash val="solid"/>
          </a:ln>
        </p:spPr>
      </p:sp>
      <p:sp>
        <p:nvSpPr>
          <p:cNvPr id="101" name="Text 98"/>
          <p:cNvSpPr txBox="1"/>
          <p:nvPr/>
        </p:nvSpPr>
        <p:spPr>
          <a:xfrm>
            <a:off x="10058400" y="278892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77</a:t>
            </a:r>
            <a:endParaRPr lang="en-US" sz="1400" dirty="0"/>
          </a:p>
        </p:txBody>
      </p:sp>
      <p:sp>
        <p:nvSpPr>
          <p:cNvPr id="102" name="Text 99"/>
          <p:cNvSpPr txBox="1"/>
          <p:nvPr/>
        </p:nvSpPr>
        <p:spPr>
          <a:xfrm>
            <a:off x="2103120" y="3310128"/>
            <a:ext cx="1097280" cy="256032"/>
          </a:xfrm>
          <a:prstGeom prst="rect">
            <a:avLst/>
          </a:prstGeom>
          <a:noFill/>
          <a:ln/>
        </p:spPr>
        <p:txBody>
          <a:bodyPr wrap="square" lIns="0" tIns="0" rIns="0" bIns="0" rtlCol="0" anchor="ctr"/>
          <a:lstStyle/>
          <a:p>
            <a:pPr algn="ctr" indent="0" marL="0">
              <a:buNone/>
            </a:pPr>
            <a:r>
              <a:rPr lang="en-US" sz="1200" b="1" dirty="0">
                <a:solidFill>
                  <a:srgbClr val="2F6FB3"/>
                </a:solidFill>
                <a:latin typeface="Calibri" pitchFamily="34" charset="0"/>
                <a:ea typeface="Calibri" pitchFamily="34" charset="-122"/>
                <a:cs typeface="Calibri" pitchFamily="34" charset="-120"/>
              </a:rPr>
              <a:t>low</a:t>
            </a:r>
            <a:endParaRPr lang="en-US" sz="1200" dirty="0"/>
          </a:p>
        </p:txBody>
      </p:sp>
      <p:sp>
        <p:nvSpPr>
          <p:cNvPr id="103" name="Text 100"/>
          <p:cNvSpPr txBox="1"/>
          <p:nvPr/>
        </p:nvSpPr>
        <p:spPr>
          <a:xfrm>
            <a:off x="3749040" y="3310128"/>
            <a:ext cx="1097280" cy="256032"/>
          </a:xfrm>
          <a:prstGeom prst="rect">
            <a:avLst/>
          </a:prstGeom>
          <a:noFill/>
          <a:ln/>
        </p:spPr>
        <p:txBody>
          <a:bodyPr wrap="square" lIns="0" tIns="0" rIns="0" bIns="0" rtlCol="0" anchor="ctr"/>
          <a:lstStyle/>
          <a:p>
            <a:pPr algn="ctr" indent="0" marL="0">
              <a:buNone/>
            </a:pPr>
            <a:r>
              <a:rPr lang="en-US" sz="1200" b="1" dirty="0">
                <a:solidFill>
                  <a:srgbClr val="B7791F"/>
                </a:solidFill>
                <a:latin typeface="Calibri" pitchFamily="34" charset="0"/>
                <a:ea typeface="Calibri" pitchFamily="34" charset="-122"/>
                <a:cs typeface="Calibri" pitchFamily="34" charset="-120"/>
              </a:rPr>
              <a:t>mid</a:t>
            </a:r>
            <a:endParaRPr lang="en-US" sz="1200" dirty="0"/>
          </a:p>
        </p:txBody>
      </p:sp>
      <p:sp>
        <p:nvSpPr>
          <p:cNvPr id="104" name="Text 101"/>
          <p:cNvSpPr txBox="1"/>
          <p:nvPr/>
        </p:nvSpPr>
        <p:spPr>
          <a:xfrm>
            <a:off x="5394960" y="3310128"/>
            <a:ext cx="1097280" cy="256032"/>
          </a:xfrm>
          <a:prstGeom prst="rect">
            <a:avLst/>
          </a:prstGeom>
          <a:noFill/>
          <a:ln/>
        </p:spPr>
        <p:txBody>
          <a:bodyPr wrap="square" lIns="0" tIns="0" rIns="0" bIns="0" rtlCol="0" anchor="ctr"/>
          <a:lstStyle/>
          <a:p>
            <a:pPr algn="ctr" indent="0" marL="0">
              <a:buNone/>
            </a:pPr>
            <a:r>
              <a:rPr lang="en-US" sz="1200" b="1" dirty="0">
                <a:solidFill>
                  <a:srgbClr val="2F6FB3"/>
                </a:solidFill>
                <a:latin typeface="Calibri" pitchFamily="34" charset="0"/>
                <a:ea typeface="Calibri" pitchFamily="34" charset="-122"/>
                <a:cs typeface="Calibri" pitchFamily="34" charset="-120"/>
              </a:rPr>
              <a:t>high</a:t>
            </a:r>
            <a:endParaRPr lang="en-US" sz="1200" dirty="0"/>
          </a:p>
        </p:txBody>
      </p:sp>
      <p:sp>
        <p:nvSpPr>
          <p:cNvPr id="105" name="Text 102"/>
          <p:cNvSpPr txBox="1"/>
          <p:nvPr/>
        </p:nvSpPr>
        <p:spPr>
          <a:xfrm>
            <a:off x="548640" y="3657600"/>
            <a:ext cx="17373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Step 3</a:t>
            </a:r>
            <a:endParaRPr lang="en-US" sz="1500" dirty="0"/>
          </a:p>
        </p:txBody>
      </p:sp>
      <p:sp>
        <p:nvSpPr>
          <p:cNvPr id="106" name="Shape 103"/>
          <p:cNvSpPr/>
          <p:nvPr/>
        </p:nvSpPr>
        <p:spPr>
          <a:xfrm>
            <a:off x="2377440" y="3657600"/>
            <a:ext cx="548640" cy="502920"/>
          </a:xfrm>
          <a:prstGeom prst="rect">
            <a:avLst/>
          </a:prstGeom>
          <a:solidFill>
            <a:srgbClr val="E4E7ED"/>
          </a:solidFill>
          <a:ln w="9525">
            <a:solidFill>
              <a:srgbClr val="8A94AB"/>
            </a:solidFill>
            <a:prstDash val="solid"/>
          </a:ln>
        </p:spPr>
      </p:sp>
      <p:sp>
        <p:nvSpPr>
          <p:cNvPr id="107" name="Text 104"/>
          <p:cNvSpPr txBox="1"/>
          <p:nvPr/>
        </p:nvSpPr>
        <p:spPr>
          <a:xfrm>
            <a:off x="237744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4</a:t>
            </a:r>
            <a:endParaRPr lang="en-US" sz="1400" dirty="0"/>
          </a:p>
        </p:txBody>
      </p:sp>
      <p:sp>
        <p:nvSpPr>
          <p:cNvPr id="108" name="Shape 105"/>
          <p:cNvSpPr/>
          <p:nvPr/>
        </p:nvSpPr>
        <p:spPr>
          <a:xfrm>
            <a:off x="2926080" y="3657600"/>
            <a:ext cx="548640" cy="502920"/>
          </a:xfrm>
          <a:prstGeom prst="rect">
            <a:avLst/>
          </a:prstGeom>
          <a:solidFill>
            <a:srgbClr val="E4E7ED"/>
          </a:solidFill>
          <a:ln w="9525">
            <a:solidFill>
              <a:srgbClr val="8A94AB"/>
            </a:solidFill>
            <a:prstDash val="solid"/>
          </a:ln>
        </p:spPr>
      </p:sp>
      <p:sp>
        <p:nvSpPr>
          <p:cNvPr id="109" name="Text 106"/>
          <p:cNvSpPr txBox="1"/>
          <p:nvPr/>
        </p:nvSpPr>
        <p:spPr>
          <a:xfrm>
            <a:off x="292608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9</a:t>
            </a:r>
            <a:endParaRPr lang="en-US" sz="1400" dirty="0"/>
          </a:p>
        </p:txBody>
      </p:sp>
      <p:sp>
        <p:nvSpPr>
          <p:cNvPr id="110" name="Shape 107"/>
          <p:cNvSpPr/>
          <p:nvPr/>
        </p:nvSpPr>
        <p:spPr>
          <a:xfrm>
            <a:off x="3474720" y="3657600"/>
            <a:ext cx="548640" cy="502920"/>
          </a:xfrm>
          <a:prstGeom prst="rect">
            <a:avLst/>
          </a:prstGeom>
          <a:solidFill>
            <a:srgbClr val="E4E7ED"/>
          </a:solidFill>
          <a:ln w="9525">
            <a:solidFill>
              <a:srgbClr val="8A94AB"/>
            </a:solidFill>
            <a:prstDash val="solid"/>
          </a:ln>
        </p:spPr>
      </p:sp>
      <p:sp>
        <p:nvSpPr>
          <p:cNvPr id="111" name="Text 108"/>
          <p:cNvSpPr txBox="1"/>
          <p:nvPr/>
        </p:nvSpPr>
        <p:spPr>
          <a:xfrm>
            <a:off x="347472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13</a:t>
            </a:r>
            <a:endParaRPr lang="en-US" sz="1400" dirty="0"/>
          </a:p>
        </p:txBody>
      </p:sp>
      <p:sp>
        <p:nvSpPr>
          <p:cNvPr id="112" name="Shape 109"/>
          <p:cNvSpPr/>
          <p:nvPr/>
        </p:nvSpPr>
        <p:spPr>
          <a:xfrm>
            <a:off x="4023360" y="3657600"/>
            <a:ext cx="548640" cy="502920"/>
          </a:xfrm>
          <a:prstGeom prst="rect">
            <a:avLst/>
          </a:prstGeom>
          <a:solidFill>
            <a:srgbClr val="E4E7ED"/>
          </a:solidFill>
          <a:ln w="9525">
            <a:solidFill>
              <a:srgbClr val="8A94AB"/>
            </a:solidFill>
            <a:prstDash val="solid"/>
          </a:ln>
        </p:spPr>
      </p:sp>
      <p:sp>
        <p:nvSpPr>
          <p:cNvPr id="113" name="Text 110"/>
          <p:cNvSpPr txBox="1"/>
          <p:nvPr/>
        </p:nvSpPr>
        <p:spPr>
          <a:xfrm>
            <a:off x="402336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18</a:t>
            </a:r>
            <a:endParaRPr lang="en-US" sz="1400" dirty="0"/>
          </a:p>
        </p:txBody>
      </p:sp>
      <p:sp>
        <p:nvSpPr>
          <p:cNvPr id="114" name="Shape 111"/>
          <p:cNvSpPr/>
          <p:nvPr/>
        </p:nvSpPr>
        <p:spPr>
          <a:xfrm>
            <a:off x="4572000" y="3657600"/>
            <a:ext cx="548640" cy="502920"/>
          </a:xfrm>
          <a:prstGeom prst="rect">
            <a:avLst/>
          </a:prstGeom>
          <a:solidFill>
            <a:srgbClr val="E3ECF8"/>
          </a:solidFill>
          <a:ln w="9525">
            <a:solidFill>
              <a:srgbClr val="8A94AB"/>
            </a:solidFill>
            <a:prstDash val="solid"/>
          </a:ln>
        </p:spPr>
      </p:sp>
      <p:sp>
        <p:nvSpPr>
          <p:cNvPr id="115" name="Text 112"/>
          <p:cNvSpPr txBox="1"/>
          <p:nvPr/>
        </p:nvSpPr>
        <p:spPr>
          <a:xfrm>
            <a:off x="4572000" y="365760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22</a:t>
            </a:r>
            <a:endParaRPr lang="en-US" sz="1400" dirty="0"/>
          </a:p>
        </p:txBody>
      </p:sp>
      <p:sp>
        <p:nvSpPr>
          <p:cNvPr id="116" name="Shape 113"/>
          <p:cNvSpPr/>
          <p:nvPr/>
        </p:nvSpPr>
        <p:spPr>
          <a:xfrm>
            <a:off x="5120640" y="3657600"/>
            <a:ext cx="548640" cy="502920"/>
          </a:xfrm>
          <a:prstGeom prst="rect">
            <a:avLst/>
          </a:prstGeom>
          <a:solidFill>
            <a:srgbClr val="FCA311"/>
          </a:solidFill>
          <a:ln w="9525">
            <a:solidFill>
              <a:srgbClr val="8A94AB"/>
            </a:solidFill>
            <a:prstDash val="solid"/>
          </a:ln>
        </p:spPr>
      </p:sp>
      <p:sp>
        <p:nvSpPr>
          <p:cNvPr id="117" name="Text 114"/>
          <p:cNvSpPr txBox="1"/>
          <p:nvPr/>
        </p:nvSpPr>
        <p:spPr>
          <a:xfrm>
            <a:off x="5120640" y="365760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27</a:t>
            </a:r>
            <a:endParaRPr lang="en-US" sz="1400" dirty="0"/>
          </a:p>
        </p:txBody>
      </p:sp>
      <p:sp>
        <p:nvSpPr>
          <p:cNvPr id="118" name="Shape 115"/>
          <p:cNvSpPr/>
          <p:nvPr/>
        </p:nvSpPr>
        <p:spPr>
          <a:xfrm>
            <a:off x="5669280" y="3657600"/>
            <a:ext cx="548640" cy="502920"/>
          </a:xfrm>
          <a:prstGeom prst="rect">
            <a:avLst/>
          </a:prstGeom>
          <a:solidFill>
            <a:srgbClr val="E3ECF8"/>
          </a:solidFill>
          <a:ln w="9525">
            <a:solidFill>
              <a:srgbClr val="8A94AB"/>
            </a:solidFill>
            <a:prstDash val="solid"/>
          </a:ln>
        </p:spPr>
      </p:sp>
      <p:sp>
        <p:nvSpPr>
          <p:cNvPr id="119" name="Text 116"/>
          <p:cNvSpPr txBox="1"/>
          <p:nvPr/>
        </p:nvSpPr>
        <p:spPr>
          <a:xfrm>
            <a:off x="5669280" y="365760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31</a:t>
            </a:r>
            <a:endParaRPr lang="en-US" sz="1400" dirty="0"/>
          </a:p>
        </p:txBody>
      </p:sp>
      <p:sp>
        <p:nvSpPr>
          <p:cNvPr id="120" name="Shape 117"/>
          <p:cNvSpPr/>
          <p:nvPr/>
        </p:nvSpPr>
        <p:spPr>
          <a:xfrm>
            <a:off x="6217920" y="3657600"/>
            <a:ext cx="548640" cy="502920"/>
          </a:xfrm>
          <a:prstGeom prst="rect">
            <a:avLst/>
          </a:prstGeom>
          <a:solidFill>
            <a:srgbClr val="E4E7ED"/>
          </a:solidFill>
          <a:ln w="9525">
            <a:solidFill>
              <a:srgbClr val="8A94AB"/>
            </a:solidFill>
            <a:prstDash val="solid"/>
          </a:ln>
        </p:spPr>
      </p:sp>
      <p:sp>
        <p:nvSpPr>
          <p:cNvPr id="121" name="Text 118"/>
          <p:cNvSpPr txBox="1"/>
          <p:nvPr/>
        </p:nvSpPr>
        <p:spPr>
          <a:xfrm>
            <a:off x="621792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36</a:t>
            </a:r>
            <a:endParaRPr lang="en-US" sz="1400" dirty="0"/>
          </a:p>
        </p:txBody>
      </p:sp>
      <p:sp>
        <p:nvSpPr>
          <p:cNvPr id="122" name="Shape 119"/>
          <p:cNvSpPr/>
          <p:nvPr/>
        </p:nvSpPr>
        <p:spPr>
          <a:xfrm>
            <a:off x="6766560" y="3657600"/>
            <a:ext cx="548640" cy="502920"/>
          </a:xfrm>
          <a:prstGeom prst="rect">
            <a:avLst/>
          </a:prstGeom>
          <a:solidFill>
            <a:srgbClr val="E4E7ED"/>
          </a:solidFill>
          <a:ln w="9525">
            <a:solidFill>
              <a:srgbClr val="8A94AB"/>
            </a:solidFill>
            <a:prstDash val="solid"/>
          </a:ln>
        </p:spPr>
      </p:sp>
      <p:sp>
        <p:nvSpPr>
          <p:cNvPr id="123" name="Text 120"/>
          <p:cNvSpPr txBox="1"/>
          <p:nvPr/>
        </p:nvSpPr>
        <p:spPr>
          <a:xfrm>
            <a:off x="676656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40</a:t>
            </a:r>
            <a:endParaRPr lang="en-US" sz="1400" dirty="0"/>
          </a:p>
        </p:txBody>
      </p:sp>
      <p:sp>
        <p:nvSpPr>
          <p:cNvPr id="124" name="Shape 121"/>
          <p:cNvSpPr/>
          <p:nvPr/>
        </p:nvSpPr>
        <p:spPr>
          <a:xfrm>
            <a:off x="7315200" y="3657600"/>
            <a:ext cx="548640" cy="502920"/>
          </a:xfrm>
          <a:prstGeom prst="rect">
            <a:avLst/>
          </a:prstGeom>
          <a:solidFill>
            <a:srgbClr val="E4E7ED"/>
          </a:solidFill>
          <a:ln w="9525">
            <a:solidFill>
              <a:srgbClr val="8A94AB"/>
            </a:solidFill>
            <a:prstDash val="solid"/>
          </a:ln>
        </p:spPr>
      </p:sp>
      <p:sp>
        <p:nvSpPr>
          <p:cNvPr id="125" name="Text 122"/>
          <p:cNvSpPr txBox="1"/>
          <p:nvPr/>
        </p:nvSpPr>
        <p:spPr>
          <a:xfrm>
            <a:off x="731520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45</a:t>
            </a:r>
            <a:endParaRPr lang="en-US" sz="1400" dirty="0"/>
          </a:p>
        </p:txBody>
      </p:sp>
      <p:sp>
        <p:nvSpPr>
          <p:cNvPr id="126" name="Shape 123"/>
          <p:cNvSpPr/>
          <p:nvPr/>
        </p:nvSpPr>
        <p:spPr>
          <a:xfrm>
            <a:off x="7863840" y="3657600"/>
            <a:ext cx="548640" cy="502920"/>
          </a:xfrm>
          <a:prstGeom prst="rect">
            <a:avLst/>
          </a:prstGeom>
          <a:solidFill>
            <a:srgbClr val="E4E7ED"/>
          </a:solidFill>
          <a:ln w="9525">
            <a:solidFill>
              <a:srgbClr val="8A94AB"/>
            </a:solidFill>
            <a:prstDash val="solid"/>
          </a:ln>
        </p:spPr>
      </p:sp>
      <p:sp>
        <p:nvSpPr>
          <p:cNvPr id="127" name="Text 124"/>
          <p:cNvSpPr txBox="1"/>
          <p:nvPr/>
        </p:nvSpPr>
        <p:spPr>
          <a:xfrm>
            <a:off x="786384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51</a:t>
            </a:r>
            <a:endParaRPr lang="en-US" sz="1400" dirty="0"/>
          </a:p>
        </p:txBody>
      </p:sp>
      <p:sp>
        <p:nvSpPr>
          <p:cNvPr id="128" name="Shape 125"/>
          <p:cNvSpPr/>
          <p:nvPr/>
        </p:nvSpPr>
        <p:spPr>
          <a:xfrm>
            <a:off x="8412480" y="3657600"/>
            <a:ext cx="548640" cy="502920"/>
          </a:xfrm>
          <a:prstGeom prst="rect">
            <a:avLst/>
          </a:prstGeom>
          <a:solidFill>
            <a:srgbClr val="E4E7ED"/>
          </a:solidFill>
          <a:ln w="9525">
            <a:solidFill>
              <a:srgbClr val="8A94AB"/>
            </a:solidFill>
            <a:prstDash val="solid"/>
          </a:ln>
        </p:spPr>
      </p:sp>
      <p:sp>
        <p:nvSpPr>
          <p:cNvPr id="129" name="Text 126"/>
          <p:cNvSpPr txBox="1"/>
          <p:nvPr/>
        </p:nvSpPr>
        <p:spPr>
          <a:xfrm>
            <a:off x="841248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58</a:t>
            </a:r>
            <a:endParaRPr lang="en-US" sz="1400" dirty="0"/>
          </a:p>
        </p:txBody>
      </p:sp>
      <p:sp>
        <p:nvSpPr>
          <p:cNvPr id="130" name="Shape 127"/>
          <p:cNvSpPr/>
          <p:nvPr/>
        </p:nvSpPr>
        <p:spPr>
          <a:xfrm>
            <a:off x="8961120" y="3657600"/>
            <a:ext cx="548640" cy="502920"/>
          </a:xfrm>
          <a:prstGeom prst="rect">
            <a:avLst/>
          </a:prstGeom>
          <a:solidFill>
            <a:srgbClr val="E4E7ED"/>
          </a:solidFill>
          <a:ln w="9525">
            <a:solidFill>
              <a:srgbClr val="8A94AB"/>
            </a:solidFill>
            <a:prstDash val="solid"/>
          </a:ln>
        </p:spPr>
      </p:sp>
      <p:sp>
        <p:nvSpPr>
          <p:cNvPr id="131" name="Text 128"/>
          <p:cNvSpPr txBox="1"/>
          <p:nvPr/>
        </p:nvSpPr>
        <p:spPr>
          <a:xfrm>
            <a:off x="896112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63</a:t>
            </a:r>
            <a:endParaRPr lang="en-US" sz="1400" dirty="0"/>
          </a:p>
        </p:txBody>
      </p:sp>
      <p:sp>
        <p:nvSpPr>
          <p:cNvPr id="132" name="Shape 129"/>
          <p:cNvSpPr/>
          <p:nvPr/>
        </p:nvSpPr>
        <p:spPr>
          <a:xfrm>
            <a:off x="9509760" y="3657600"/>
            <a:ext cx="548640" cy="502920"/>
          </a:xfrm>
          <a:prstGeom prst="rect">
            <a:avLst/>
          </a:prstGeom>
          <a:solidFill>
            <a:srgbClr val="E4E7ED"/>
          </a:solidFill>
          <a:ln w="9525">
            <a:solidFill>
              <a:srgbClr val="8A94AB"/>
            </a:solidFill>
            <a:prstDash val="solid"/>
          </a:ln>
        </p:spPr>
      </p:sp>
      <p:sp>
        <p:nvSpPr>
          <p:cNvPr id="133" name="Text 130"/>
          <p:cNvSpPr txBox="1"/>
          <p:nvPr/>
        </p:nvSpPr>
        <p:spPr>
          <a:xfrm>
            <a:off x="950976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70</a:t>
            </a:r>
            <a:endParaRPr lang="en-US" sz="1400" dirty="0"/>
          </a:p>
        </p:txBody>
      </p:sp>
      <p:sp>
        <p:nvSpPr>
          <p:cNvPr id="134" name="Shape 131"/>
          <p:cNvSpPr/>
          <p:nvPr/>
        </p:nvSpPr>
        <p:spPr>
          <a:xfrm>
            <a:off x="10058400" y="3657600"/>
            <a:ext cx="548640" cy="502920"/>
          </a:xfrm>
          <a:prstGeom prst="rect">
            <a:avLst/>
          </a:prstGeom>
          <a:solidFill>
            <a:srgbClr val="E4E7ED"/>
          </a:solidFill>
          <a:ln w="9525">
            <a:solidFill>
              <a:srgbClr val="8A94AB"/>
            </a:solidFill>
            <a:prstDash val="solid"/>
          </a:ln>
        </p:spPr>
      </p:sp>
      <p:sp>
        <p:nvSpPr>
          <p:cNvPr id="135" name="Text 132"/>
          <p:cNvSpPr txBox="1"/>
          <p:nvPr/>
        </p:nvSpPr>
        <p:spPr>
          <a:xfrm>
            <a:off x="10058400" y="365760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77</a:t>
            </a:r>
            <a:endParaRPr lang="en-US" sz="1400" dirty="0"/>
          </a:p>
        </p:txBody>
      </p:sp>
      <p:sp>
        <p:nvSpPr>
          <p:cNvPr id="136" name="Text 133"/>
          <p:cNvSpPr txBox="1"/>
          <p:nvPr/>
        </p:nvSpPr>
        <p:spPr>
          <a:xfrm>
            <a:off x="4297680" y="4178808"/>
            <a:ext cx="1097280" cy="256032"/>
          </a:xfrm>
          <a:prstGeom prst="rect">
            <a:avLst/>
          </a:prstGeom>
          <a:noFill/>
          <a:ln/>
        </p:spPr>
        <p:txBody>
          <a:bodyPr wrap="square" lIns="0" tIns="0" rIns="0" bIns="0" rtlCol="0" anchor="ctr"/>
          <a:lstStyle/>
          <a:p>
            <a:pPr algn="ctr" indent="0" marL="0">
              <a:buNone/>
            </a:pPr>
            <a:r>
              <a:rPr lang="en-US" sz="1200" b="1" dirty="0">
                <a:solidFill>
                  <a:srgbClr val="2F6FB3"/>
                </a:solidFill>
                <a:latin typeface="Calibri" pitchFamily="34" charset="0"/>
                <a:ea typeface="Calibri" pitchFamily="34" charset="-122"/>
                <a:cs typeface="Calibri" pitchFamily="34" charset="-120"/>
              </a:rPr>
              <a:t>low</a:t>
            </a:r>
            <a:endParaRPr lang="en-US" sz="1200" dirty="0"/>
          </a:p>
        </p:txBody>
      </p:sp>
      <p:sp>
        <p:nvSpPr>
          <p:cNvPr id="137" name="Text 134"/>
          <p:cNvSpPr txBox="1"/>
          <p:nvPr/>
        </p:nvSpPr>
        <p:spPr>
          <a:xfrm>
            <a:off x="4846320" y="4178808"/>
            <a:ext cx="1097280" cy="256032"/>
          </a:xfrm>
          <a:prstGeom prst="rect">
            <a:avLst/>
          </a:prstGeom>
          <a:noFill/>
          <a:ln/>
        </p:spPr>
        <p:txBody>
          <a:bodyPr wrap="square" lIns="0" tIns="0" rIns="0" bIns="0" rtlCol="0" anchor="ctr"/>
          <a:lstStyle/>
          <a:p>
            <a:pPr algn="ctr" indent="0" marL="0">
              <a:buNone/>
            </a:pPr>
            <a:r>
              <a:rPr lang="en-US" sz="1200" b="1" dirty="0">
                <a:solidFill>
                  <a:srgbClr val="B7791F"/>
                </a:solidFill>
                <a:latin typeface="Calibri" pitchFamily="34" charset="0"/>
                <a:ea typeface="Calibri" pitchFamily="34" charset="-122"/>
                <a:cs typeface="Calibri" pitchFamily="34" charset="-120"/>
              </a:rPr>
              <a:t>mid</a:t>
            </a:r>
            <a:endParaRPr lang="en-US" sz="1200" dirty="0"/>
          </a:p>
        </p:txBody>
      </p:sp>
      <p:sp>
        <p:nvSpPr>
          <p:cNvPr id="138" name="Text 135"/>
          <p:cNvSpPr txBox="1"/>
          <p:nvPr/>
        </p:nvSpPr>
        <p:spPr>
          <a:xfrm>
            <a:off x="5394960" y="4178808"/>
            <a:ext cx="1097280" cy="256032"/>
          </a:xfrm>
          <a:prstGeom prst="rect">
            <a:avLst/>
          </a:prstGeom>
          <a:noFill/>
          <a:ln/>
        </p:spPr>
        <p:txBody>
          <a:bodyPr wrap="square" lIns="0" tIns="0" rIns="0" bIns="0" rtlCol="0" anchor="ctr"/>
          <a:lstStyle/>
          <a:p>
            <a:pPr algn="ctr" indent="0" marL="0">
              <a:buNone/>
            </a:pPr>
            <a:r>
              <a:rPr lang="en-US" sz="1200" b="1" dirty="0">
                <a:solidFill>
                  <a:srgbClr val="2F6FB3"/>
                </a:solidFill>
                <a:latin typeface="Calibri" pitchFamily="34" charset="0"/>
                <a:ea typeface="Calibri" pitchFamily="34" charset="-122"/>
                <a:cs typeface="Calibri" pitchFamily="34" charset="-120"/>
              </a:rPr>
              <a:t>high</a:t>
            </a:r>
            <a:endParaRPr lang="en-US" sz="1200" dirty="0"/>
          </a:p>
        </p:txBody>
      </p:sp>
      <p:sp>
        <p:nvSpPr>
          <p:cNvPr id="139" name="Text 136"/>
          <p:cNvSpPr txBox="1"/>
          <p:nvPr/>
        </p:nvSpPr>
        <p:spPr>
          <a:xfrm>
            <a:off x="548640" y="4526280"/>
            <a:ext cx="17373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Step 4</a:t>
            </a:r>
            <a:endParaRPr lang="en-US" sz="1500" dirty="0"/>
          </a:p>
        </p:txBody>
      </p:sp>
      <p:sp>
        <p:nvSpPr>
          <p:cNvPr id="140" name="Shape 137"/>
          <p:cNvSpPr/>
          <p:nvPr/>
        </p:nvSpPr>
        <p:spPr>
          <a:xfrm>
            <a:off x="2377440" y="4526280"/>
            <a:ext cx="548640" cy="502920"/>
          </a:xfrm>
          <a:prstGeom prst="rect">
            <a:avLst/>
          </a:prstGeom>
          <a:solidFill>
            <a:srgbClr val="E4E7ED"/>
          </a:solidFill>
          <a:ln w="9525">
            <a:solidFill>
              <a:srgbClr val="8A94AB"/>
            </a:solidFill>
            <a:prstDash val="solid"/>
          </a:ln>
        </p:spPr>
      </p:sp>
      <p:sp>
        <p:nvSpPr>
          <p:cNvPr id="141" name="Text 138"/>
          <p:cNvSpPr txBox="1"/>
          <p:nvPr/>
        </p:nvSpPr>
        <p:spPr>
          <a:xfrm>
            <a:off x="237744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4</a:t>
            </a:r>
            <a:endParaRPr lang="en-US" sz="1400" dirty="0"/>
          </a:p>
        </p:txBody>
      </p:sp>
      <p:sp>
        <p:nvSpPr>
          <p:cNvPr id="142" name="Shape 139"/>
          <p:cNvSpPr/>
          <p:nvPr/>
        </p:nvSpPr>
        <p:spPr>
          <a:xfrm>
            <a:off x="2926080" y="4526280"/>
            <a:ext cx="548640" cy="502920"/>
          </a:xfrm>
          <a:prstGeom prst="rect">
            <a:avLst/>
          </a:prstGeom>
          <a:solidFill>
            <a:srgbClr val="E4E7ED"/>
          </a:solidFill>
          <a:ln w="9525">
            <a:solidFill>
              <a:srgbClr val="8A94AB"/>
            </a:solidFill>
            <a:prstDash val="solid"/>
          </a:ln>
        </p:spPr>
      </p:sp>
      <p:sp>
        <p:nvSpPr>
          <p:cNvPr id="143" name="Text 140"/>
          <p:cNvSpPr txBox="1"/>
          <p:nvPr/>
        </p:nvSpPr>
        <p:spPr>
          <a:xfrm>
            <a:off x="292608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9</a:t>
            </a:r>
            <a:endParaRPr lang="en-US" sz="1400" dirty="0"/>
          </a:p>
        </p:txBody>
      </p:sp>
      <p:sp>
        <p:nvSpPr>
          <p:cNvPr id="144" name="Shape 141"/>
          <p:cNvSpPr/>
          <p:nvPr/>
        </p:nvSpPr>
        <p:spPr>
          <a:xfrm>
            <a:off x="3474720" y="4526280"/>
            <a:ext cx="548640" cy="502920"/>
          </a:xfrm>
          <a:prstGeom prst="rect">
            <a:avLst/>
          </a:prstGeom>
          <a:solidFill>
            <a:srgbClr val="E4E7ED"/>
          </a:solidFill>
          <a:ln w="9525">
            <a:solidFill>
              <a:srgbClr val="8A94AB"/>
            </a:solidFill>
            <a:prstDash val="solid"/>
          </a:ln>
        </p:spPr>
      </p:sp>
      <p:sp>
        <p:nvSpPr>
          <p:cNvPr id="145" name="Text 142"/>
          <p:cNvSpPr txBox="1"/>
          <p:nvPr/>
        </p:nvSpPr>
        <p:spPr>
          <a:xfrm>
            <a:off x="347472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13</a:t>
            </a:r>
            <a:endParaRPr lang="en-US" sz="1400" dirty="0"/>
          </a:p>
        </p:txBody>
      </p:sp>
      <p:sp>
        <p:nvSpPr>
          <p:cNvPr id="146" name="Shape 143"/>
          <p:cNvSpPr/>
          <p:nvPr/>
        </p:nvSpPr>
        <p:spPr>
          <a:xfrm>
            <a:off x="4023360" y="4526280"/>
            <a:ext cx="548640" cy="502920"/>
          </a:xfrm>
          <a:prstGeom prst="rect">
            <a:avLst/>
          </a:prstGeom>
          <a:solidFill>
            <a:srgbClr val="E4E7ED"/>
          </a:solidFill>
          <a:ln w="9525">
            <a:solidFill>
              <a:srgbClr val="8A94AB"/>
            </a:solidFill>
            <a:prstDash val="solid"/>
          </a:ln>
        </p:spPr>
      </p:sp>
      <p:sp>
        <p:nvSpPr>
          <p:cNvPr id="147" name="Text 144"/>
          <p:cNvSpPr txBox="1"/>
          <p:nvPr/>
        </p:nvSpPr>
        <p:spPr>
          <a:xfrm>
            <a:off x="402336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18</a:t>
            </a:r>
            <a:endParaRPr lang="en-US" sz="1400" dirty="0"/>
          </a:p>
        </p:txBody>
      </p:sp>
      <p:sp>
        <p:nvSpPr>
          <p:cNvPr id="148" name="Shape 145"/>
          <p:cNvSpPr/>
          <p:nvPr/>
        </p:nvSpPr>
        <p:spPr>
          <a:xfrm>
            <a:off x="4572000" y="4526280"/>
            <a:ext cx="548640" cy="502920"/>
          </a:xfrm>
          <a:prstGeom prst="rect">
            <a:avLst/>
          </a:prstGeom>
          <a:solidFill>
            <a:srgbClr val="FCA311"/>
          </a:solidFill>
          <a:ln w="9525">
            <a:solidFill>
              <a:srgbClr val="8A94AB"/>
            </a:solidFill>
            <a:prstDash val="solid"/>
          </a:ln>
        </p:spPr>
      </p:sp>
      <p:sp>
        <p:nvSpPr>
          <p:cNvPr id="149" name="Text 146"/>
          <p:cNvSpPr txBox="1"/>
          <p:nvPr/>
        </p:nvSpPr>
        <p:spPr>
          <a:xfrm>
            <a:off x="4572000" y="4526280"/>
            <a:ext cx="5486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22</a:t>
            </a:r>
            <a:endParaRPr lang="en-US" sz="1400" dirty="0"/>
          </a:p>
        </p:txBody>
      </p:sp>
      <p:sp>
        <p:nvSpPr>
          <p:cNvPr id="150" name="Shape 147"/>
          <p:cNvSpPr/>
          <p:nvPr/>
        </p:nvSpPr>
        <p:spPr>
          <a:xfrm>
            <a:off x="5120640" y="4526280"/>
            <a:ext cx="548640" cy="502920"/>
          </a:xfrm>
          <a:prstGeom prst="rect">
            <a:avLst/>
          </a:prstGeom>
          <a:solidFill>
            <a:srgbClr val="E4E7ED"/>
          </a:solidFill>
          <a:ln w="9525">
            <a:solidFill>
              <a:srgbClr val="8A94AB"/>
            </a:solidFill>
            <a:prstDash val="solid"/>
          </a:ln>
        </p:spPr>
      </p:sp>
      <p:sp>
        <p:nvSpPr>
          <p:cNvPr id="151" name="Text 148"/>
          <p:cNvSpPr txBox="1"/>
          <p:nvPr/>
        </p:nvSpPr>
        <p:spPr>
          <a:xfrm>
            <a:off x="512064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27</a:t>
            </a:r>
            <a:endParaRPr lang="en-US" sz="1400" dirty="0"/>
          </a:p>
        </p:txBody>
      </p:sp>
      <p:sp>
        <p:nvSpPr>
          <p:cNvPr id="152" name="Shape 149"/>
          <p:cNvSpPr/>
          <p:nvPr/>
        </p:nvSpPr>
        <p:spPr>
          <a:xfrm>
            <a:off x="5669280" y="4526280"/>
            <a:ext cx="548640" cy="502920"/>
          </a:xfrm>
          <a:prstGeom prst="rect">
            <a:avLst/>
          </a:prstGeom>
          <a:solidFill>
            <a:srgbClr val="E4E7ED"/>
          </a:solidFill>
          <a:ln w="9525">
            <a:solidFill>
              <a:srgbClr val="8A94AB"/>
            </a:solidFill>
            <a:prstDash val="solid"/>
          </a:ln>
        </p:spPr>
      </p:sp>
      <p:sp>
        <p:nvSpPr>
          <p:cNvPr id="153" name="Text 150"/>
          <p:cNvSpPr txBox="1"/>
          <p:nvPr/>
        </p:nvSpPr>
        <p:spPr>
          <a:xfrm>
            <a:off x="566928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31</a:t>
            </a:r>
            <a:endParaRPr lang="en-US" sz="1400" dirty="0"/>
          </a:p>
        </p:txBody>
      </p:sp>
      <p:sp>
        <p:nvSpPr>
          <p:cNvPr id="154" name="Shape 151"/>
          <p:cNvSpPr/>
          <p:nvPr/>
        </p:nvSpPr>
        <p:spPr>
          <a:xfrm>
            <a:off x="6217920" y="4526280"/>
            <a:ext cx="548640" cy="502920"/>
          </a:xfrm>
          <a:prstGeom prst="rect">
            <a:avLst/>
          </a:prstGeom>
          <a:solidFill>
            <a:srgbClr val="E4E7ED"/>
          </a:solidFill>
          <a:ln w="9525">
            <a:solidFill>
              <a:srgbClr val="8A94AB"/>
            </a:solidFill>
            <a:prstDash val="solid"/>
          </a:ln>
        </p:spPr>
      </p:sp>
      <p:sp>
        <p:nvSpPr>
          <p:cNvPr id="155" name="Text 152"/>
          <p:cNvSpPr txBox="1"/>
          <p:nvPr/>
        </p:nvSpPr>
        <p:spPr>
          <a:xfrm>
            <a:off x="621792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36</a:t>
            </a:r>
            <a:endParaRPr lang="en-US" sz="1400" dirty="0"/>
          </a:p>
        </p:txBody>
      </p:sp>
      <p:sp>
        <p:nvSpPr>
          <p:cNvPr id="156" name="Shape 153"/>
          <p:cNvSpPr/>
          <p:nvPr/>
        </p:nvSpPr>
        <p:spPr>
          <a:xfrm>
            <a:off x="6766560" y="4526280"/>
            <a:ext cx="548640" cy="502920"/>
          </a:xfrm>
          <a:prstGeom prst="rect">
            <a:avLst/>
          </a:prstGeom>
          <a:solidFill>
            <a:srgbClr val="E4E7ED"/>
          </a:solidFill>
          <a:ln w="9525">
            <a:solidFill>
              <a:srgbClr val="8A94AB"/>
            </a:solidFill>
            <a:prstDash val="solid"/>
          </a:ln>
        </p:spPr>
      </p:sp>
      <p:sp>
        <p:nvSpPr>
          <p:cNvPr id="157" name="Text 154"/>
          <p:cNvSpPr txBox="1"/>
          <p:nvPr/>
        </p:nvSpPr>
        <p:spPr>
          <a:xfrm>
            <a:off x="676656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40</a:t>
            </a:r>
            <a:endParaRPr lang="en-US" sz="1400" dirty="0"/>
          </a:p>
        </p:txBody>
      </p:sp>
      <p:sp>
        <p:nvSpPr>
          <p:cNvPr id="158" name="Shape 155"/>
          <p:cNvSpPr/>
          <p:nvPr/>
        </p:nvSpPr>
        <p:spPr>
          <a:xfrm>
            <a:off x="7315200" y="4526280"/>
            <a:ext cx="548640" cy="502920"/>
          </a:xfrm>
          <a:prstGeom prst="rect">
            <a:avLst/>
          </a:prstGeom>
          <a:solidFill>
            <a:srgbClr val="E4E7ED"/>
          </a:solidFill>
          <a:ln w="9525">
            <a:solidFill>
              <a:srgbClr val="8A94AB"/>
            </a:solidFill>
            <a:prstDash val="solid"/>
          </a:ln>
        </p:spPr>
      </p:sp>
      <p:sp>
        <p:nvSpPr>
          <p:cNvPr id="159" name="Text 156"/>
          <p:cNvSpPr txBox="1"/>
          <p:nvPr/>
        </p:nvSpPr>
        <p:spPr>
          <a:xfrm>
            <a:off x="731520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45</a:t>
            </a:r>
            <a:endParaRPr lang="en-US" sz="1400" dirty="0"/>
          </a:p>
        </p:txBody>
      </p:sp>
      <p:sp>
        <p:nvSpPr>
          <p:cNvPr id="160" name="Shape 157"/>
          <p:cNvSpPr/>
          <p:nvPr/>
        </p:nvSpPr>
        <p:spPr>
          <a:xfrm>
            <a:off x="7863840" y="4526280"/>
            <a:ext cx="548640" cy="502920"/>
          </a:xfrm>
          <a:prstGeom prst="rect">
            <a:avLst/>
          </a:prstGeom>
          <a:solidFill>
            <a:srgbClr val="E4E7ED"/>
          </a:solidFill>
          <a:ln w="9525">
            <a:solidFill>
              <a:srgbClr val="8A94AB"/>
            </a:solidFill>
            <a:prstDash val="solid"/>
          </a:ln>
        </p:spPr>
      </p:sp>
      <p:sp>
        <p:nvSpPr>
          <p:cNvPr id="161" name="Text 158"/>
          <p:cNvSpPr txBox="1"/>
          <p:nvPr/>
        </p:nvSpPr>
        <p:spPr>
          <a:xfrm>
            <a:off x="786384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51</a:t>
            </a:r>
            <a:endParaRPr lang="en-US" sz="1400" dirty="0"/>
          </a:p>
        </p:txBody>
      </p:sp>
      <p:sp>
        <p:nvSpPr>
          <p:cNvPr id="162" name="Shape 159"/>
          <p:cNvSpPr/>
          <p:nvPr/>
        </p:nvSpPr>
        <p:spPr>
          <a:xfrm>
            <a:off x="8412480" y="4526280"/>
            <a:ext cx="548640" cy="502920"/>
          </a:xfrm>
          <a:prstGeom prst="rect">
            <a:avLst/>
          </a:prstGeom>
          <a:solidFill>
            <a:srgbClr val="E4E7ED"/>
          </a:solidFill>
          <a:ln w="9525">
            <a:solidFill>
              <a:srgbClr val="8A94AB"/>
            </a:solidFill>
            <a:prstDash val="solid"/>
          </a:ln>
        </p:spPr>
      </p:sp>
      <p:sp>
        <p:nvSpPr>
          <p:cNvPr id="163" name="Text 160"/>
          <p:cNvSpPr txBox="1"/>
          <p:nvPr/>
        </p:nvSpPr>
        <p:spPr>
          <a:xfrm>
            <a:off x="841248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58</a:t>
            </a:r>
            <a:endParaRPr lang="en-US" sz="1400" dirty="0"/>
          </a:p>
        </p:txBody>
      </p:sp>
      <p:sp>
        <p:nvSpPr>
          <p:cNvPr id="164" name="Shape 161"/>
          <p:cNvSpPr/>
          <p:nvPr/>
        </p:nvSpPr>
        <p:spPr>
          <a:xfrm>
            <a:off x="8961120" y="4526280"/>
            <a:ext cx="548640" cy="502920"/>
          </a:xfrm>
          <a:prstGeom prst="rect">
            <a:avLst/>
          </a:prstGeom>
          <a:solidFill>
            <a:srgbClr val="E4E7ED"/>
          </a:solidFill>
          <a:ln w="9525">
            <a:solidFill>
              <a:srgbClr val="8A94AB"/>
            </a:solidFill>
            <a:prstDash val="solid"/>
          </a:ln>
        </p:spPr>
      </p:sp>
      <p:sp>
        <p:nvSpPr>
          <p:cNvPr id="165" name="Text 162"/>
          <p:cNvSpPr txBox="1"/>
          <p:nvPr/>
        </p:nvSpPr>
        <p:spPr>
          <a:xfrm>
            <a:off x="896112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63</a:t>
            </a:r>
            <a:endParaRPr lang="en-US" sz="1400" dirty="0"/>
          </a:p>
        </p:txBody>
      </p:sp>
      <p:sp>
        <p:nvSpPr>
          <p:cNvPr id="166" name="Shape 163"/>
          <p:cNvSpPr/>
          <p:nvPr/>
        </p:nvSpPr>
        <p:spPr>
          <a:xfrm>
            <a:off x="9509760" y="4526280"/>
            <a:ext cx="548640" cy="502920"/>
          </a:xfrm>
          <a:prstGeom prst="rect">
            <a:avLst/>
          </a:prstGeom>
          <a:solidFill>
            <a:srgbClr val="E4E7ED"/>
          </a:solidFill>
          <a:ln w="9525">
            <a:solidFill>
              <a:srgbClr val="8A94AB"/>
            </a:solidFill>
            <a:prstDash val="solid"/>
          </a:ln>
        </p:spPr>
      </p:sp>
      <p:sp>
        <p:nvSpPr>
          <p:cNvPr id="167" name="Text 164"/>
          <p:cNvSpPr txBox="1"/>
          <p:nvPr/>
        </p:nvSpPr>
        <p:spPr>
          <a:xfrm>
            <a:off x="950976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70</a:t>
            </a:r>
            <a:endParaRPr lang="en-US" sz="1400" dirty="0"/>
          </a:p>
        </p:txBody>
      </p:sp>
      <p:sp>
        <p:nvSpPr>
          <p:cNvPr id="168" name="Shape 165"/>
          <p:cNvSpPr/>
          <p:nvPr/>
        </p:nvSpPr>
        <p:spPr>
          <a:xfrm>
            <a:off x="10058400" y="4526280"/>
            <a:ext cx="548640" cy="502920"/>
          </a:xfrm>
          <a:prstGeom prst="rect">
            <a:avLst/>
          </a:prstGeom>
          <a:solidFill>
            <a:srgbClr val="E4E7ED"/>
          </a:solidFill>
          <a:ln w="9525">
            <a:solidFill>
              <a:srgbClr val="8A94AB"/>
            </a:solidFill>
            <a:prstDash val="solid"/>
          </a:ln>
        </p:spPr>
      </p:sp>
      <p:sp>
        <p:nvSpPr>
          <p:cNvPr id="169" name="Text 166"/>
          <p:cNvSpPr txBox="1"/>
          <p:nvPr/>
        </p:nvSpPr>
        <p:spPr>
          <a:xfrm>
            <a:off x="10058400" y="4526280"/>
            <a:ext cx="548640" cy="502920"/>
          </a:xfrm>
          <a:prstGeom prst="rect">
            <a:avLst/>
          </a:prstGeom>
          <a:noFill/>
          <a:ln/>
        </p:spPr>
        <p:txBody>
          <a:bodyPr wrap="square" lIns="0" tIns="0" rIns="0" bIns="0" rtlCol="0" anchor="ctr"/>
          <a:lstStyle/>
          <a:p>
            <a:pPr algn="ctr" indent="0" marL="0">
              <a:buNone/>
            </a:pPr>
            <a:r>
              <a:rPr lang="en-US" sz="1400" b="1" dirty="0">
                <a:solidFill>
                  <a:srgbClr val="9AA3B5"/>
                </a:solidFill>
                <a:latin typeface="Courier New" pitchFamily="34" charset="0"/>
                <a:ea typeface="Courier New" pitchFamily="34" charset="-122"/>
                <a:cs typeface="Courier New" pitchFamily="34" charset="-120"/>
              </a:rPr>
              <a:t>77</a:t>
            </a:r>
            <a:endParaRPr lang="en-US" sz="1400" dirty="0"/>
          </a:p>
        </p:txBody>
      </p:sp>
      <p:sp>
        <p:nvSpPr>
          <p:cNvPr id="170" name="Text 167"/>
          <p:cNvSpPr txBox="1"/>
          <p:nvPr/>
        </p:nvSpPr>
        <p:spPr>
          <a:xfrm>
            <a:off x="4297680" y="5047488"/>
            <a:ext cx="1097280" cy="256032"/>
          </a:xfrm>
          <a:prstGeom prst="rect">
            <a:avLst/>
          </a:prstGeom>
          <a:noFill/>
          <a:ln/>
        </p:spPr>
        <p:txBody>
          <a:bodyPr wrap="square" lIns="0" tIns="0" rIns="0" bIns="0" rtlCol="0" anchor="ctr"/>
          <a:lstStyle/>
          <a:p>
            <a:pPr algn="ctr" indent="0" marL="0">
              <a:buNone/>
            </a:pPr>
            <a:r>
              <a:rPr lang="en-US" sz="1200" b="1" dirty="0">
                <a:solidFill>
                  <a:srgbClr val="B7791F"/>
                </a:solidFill>
                <a:latin typeface="Calibri" pitchFamily="34" charset="0"/>
                <a:ea typeface="Calibri" pitchFamily="34" charset="-122"/>
                <a:cs typeface="Calibri" pitchFamily="34" charset="-120"/>
              </a:rPr>
              <a:t>low/mid/high</a:t>
            </a:r>
            <a:endParaRPr lang="en-US" sz="1200" dirty="0"/>
          </a:p>
        </p:txBody>
      </p:sp>
      <p:sp>
        <p:nvSpPr>
          <p:cNvPr id="171" name="Text 168"/>
          <p:cNvSpPr txBox="1"/>
          <p:nvPr/>
        </p:nvSpPr>
        <p:spPr>
          <a:xfrm>
            <a:off x="548640" y="5394960"/>
            <a:ext cx="11109960" cy="640080"/>
          </a:xfrm>
          <a:prstGeom prst="rect">
            <a:avLst/>
          </a:prstGeom>
          <a:noFill/>
          <a:ln/>
        </p:spPr>
        <p:txBody>
          <a:bodyPr wrap="square" lIns="0" tIns="0" rIns="0" bIns="0" rtlCol="0" anchor="ctr"/>
          <a:lstStyle/>
          <a:p>
            <a:pPr algn="l" indent="0" marL="0">
              <a:buNone/>
            </a:pPr>
            <a:r>
              <a:rPr lang="en-US" sz="1600" b="1" dirty="0">
                <a:solidFill>
                  <a:srgbClr val="C8453B"/>
                </a:solidFill>
                <a:latin typeface="Calibri" pitchFamily="34" charset="0"/>
                <a:ea typeface="Calibri" pitchFamily="34" charset="-122"/>
                <a:cs typeface="Calibri" pitchFamily="34" charset="-120"/>
              </a:rPr>
              <a:t>After step 4: high = 3 &lt; low = 4 → empty range → "Not found (low &gt; high), steps: 4"</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10_05_BINARYSEARCH</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Binary search in C# with a printed trace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45920"/>
            <a:ext cx="60350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inside while (low &lt;= high &amp;&amp; index == -1)</a:t>
            </a:r>
            <a:endParaRPr lang="en-US" sz="1100" dirty="0"/>
          </a:p>
        </p:txBody>
      </p:sp>
      <p:sp>
        <p:nvSpPr>
          <p:cNvPr id="9" name="Text 6"/>
          <p:cNvSpPr txBox="1"/>
          <p:nvPr/>
        </p:nvSpPr>
        <p:spPr>
          <a:xfrm>
            <a:off x="777240" y="2057400"/>
            <a:ext cx="557784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mid = (low + high)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integer division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step++;</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$"Step {step}: low={low} high={high}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$"mid={mid} a[mid]={a[mid]}"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(a[mid] == target)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 = mid;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(a[mid] &lt; target)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low = mid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go right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high = mid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go left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812280" y="1645920"/>
            <a:ext cx="4846320" cy="1600200"/>
          </a:xfrm>
          <a:prstGeom prst="roundRect">
            <a:avLst>
              <a:gd name="adj" fmla="val 5714"/>
            </a:avLst>
          </a:prstGeom>
          <a:solidFill>
            <a:srgbClr val="0B0F19"/>
          </a:solidFill>
          <a:ln w="12700">
            <a:solidFill>
              <a:srgbClr val="2A3654"/>
            </a:solidFill>
            <a:prstDash val="solid"/>
          </a:ln>
        </p:spPr>
      </p:sp>
      <p:sp>
        <p:nvSpPr>
          <p:cNvPr id="11" name="Shape 8"/>
          <p:cNvSpPr/>
          <p:nvPr/>
        </p:nvSpPr>
        <p:spPr>
          <a:xfrm>
            <a:off x="699516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22376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45236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726680" y="1719072"/>
            <a:ext cx="37490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Search 58</a:t>
            </a:r>
            <a:endParaRPr lang="en-US" sz="1000" dirty="0"/>
          </a:p>
        </p:txBody>
      </p:sp>
      <p:sp>
        <p:nvSpPr>
          <p:cNvPr id="15" name="Text 12"/>
          <p:cNvSpPr txBox="1"/>
          <p:nvPr/>
        </p:nvSpPr>
        <p:spPr>
          <a:xfrm>
            <a:off x="7040880" y="2029968"/>
            <a:ext cx="4389120" cy="1097280"/>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Search for: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58</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Step 1: low=0 high=14 mid=7 a[mid]=36</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Step 2: low=8 high=14 mid=11 a[mid]=58</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Found at index 11, steps: 2</a:t>
            </a:r>
            <a:endParaRPr lang="en-US" sz="1100" dirty="0"/>
          </a:p>
        </p:txBody>
      </p:sp>
      <p:sp>
        <p:nvSpPr>
          <p:cNvPr id="16" name="Shape 13"/>
          <p:cNvSpPr/>
          <p:nvPr/>
        </p:nvSpPr>
        <p:spPr>
          <a:xfrm>
            <a:off x="6812280" y="3383280"/>
            <a:ext cx="4846320" cy="1965960"/>
          </a:xfrm>
          <a:prstGeom prst="roundRect">
            <a:avLst>
              <a:gd name="adj" fmla="val 4651"/>
            </a:avLst>
          </a:prstGeom>
          <a:solidFill>
            <a:srgbClr val="0B0F19"/>
          </a:solidFill>
          <a:ln w="12700">
            <a:solidFill>
              <a:srgbClr val="2A3654"/>
            </a:solidFill>
            <a:prstDash val="solid"/>
          </a:ln>
        </p:spPr>
      </p:sp>
      <p:sp>
        <p:nvSpPr>
          <p:cNvPr id="17" name="Shape 14"/>
          <p:cNvSpPr/>
          <p:nvPr/>
        </p:nvSpPr>
        <p:spPr>
          <a:xfrm>
            <a:off x="6995160" y="3511296"/>
            <a:ext cx="118872" cy="118872"/>
          </a:xfrm>
          <a:prstGeom prst="ellipse">
            <a:avLst/>
          </a:prstGeom>
          <a:solidFill>
            <a:srgbClr val="FF5F57"/>
          </a:solidFill>
          <a:ln w="12700">
            <a:solidFill>
              <a:srgbClr val="FF5F57"/>
            </a:solidFill>
            <a:prstDash val="solid"/>
          </a:ln>
        </p:spPr>
      </p:sp>
      <p:sp>
        <p:nvSpPr>
          <p:cNvPr id="18" name="Shape 15"/>
          <p:cNvSpPr/>
          <p:nvPr/>
        </p:nvSpPr>
        <p:spPr>
          <a:xfrm>
            <a:off x="7223760" y="3511296"/>
            <a:ext cx="118872" cy="118872"/>
          </a:xfrm>
          <a:prstGeom prst="ellipse">
            <a:avLst/>
          </a:prstGeom>
          <a:solidFill>
            <a:srgbClr val="FEBC2E"/>
          </a:solidFill>
          <a:ln w="12700">
            <a:solidFill>
              <a:srgbClr val="FEBC2E"/>
            </a:solidFill>
            <a:prstDash val="solid"/>
          </a:ln>
        </p:spPr>
      </p:sp>
      <p:sp>
        <p:nvSpPr>
          <p:cNvPr id="19" name="Shape 16"/>
          <p:cNvSpPr/>
          <p:nvPr/>
        </p:nvSpPr>
        <p:spPr>
          <a:xfrm>
            <a:off x="7452360" y="351129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7726680" y="3456432"/>
            <a:ext cx="37490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Search 77</a:t>
            </a:r>
            <a:endParaRPr lang="en-US" sz="1000" dirty="0"/>
          </a:p>
        </p:txBody>
      </p:sp>
      <p:sp>
        <p:nvSpPr>
          <p:cNvPr id="21" name="Text 18"/>
          <p:cNvSpPr txBox="1"/>
          <p:nvPr/>
        </p:nvSpPr>
        <p:spPr>
          <a:xfrm>
            <a:off x="7040880" y="3767328"/>
            <a:ext cx="4389120" cy="1463040"/>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Search for: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77</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Step 1: low=0 high=14 mid=7 a[mid]=36</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Step 2: low=8 high=14 mid=11 a[mid]=58</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Step 3: low=12 high=14 mid=13 a[mid]=70</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Step 4: low=14 high=14 mid=14 a[mid]=77</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Found at index 14, steps: 4</a:t>
            </a:r>
            <a:endParaRPr lang="en-US" sz="1100" dirty="0"/>
          </a:p>
        </p:txBody>
      </p:sp>
      <p:sp>
        <p:nvSpPr>
          <p:cNvPr id="22" name="Text 19"/>
          <p:cNvSpPr txBox="1"/>
          <p:nvPr/>
        </p:nvSpPr>
        <p:spPr>
          <a:xfrm>
            <a:off x="6812280" y="5486400"/>
            <a:ext cx="4846320" cy="548640"/>
          </a:xfrm>
          <a:prstGeom prst="rect">
            <a:avLst/>
          </a:prstGeom>
          <a:noFill/>
          <a:ln/>
        </p:spPr>
        <p:txBody>
          <a:bodyPr wrap="square" lIns="0" tIns="0" rIns="0" bIns="0" rtlCol="0" anchor="ctr"/>
          <a:lstStyle/>
          <a:p>
            <a:pPr algn="l" indent="0" marL="0">
              <a:buNone/>
            </a:pPr>
            <a:r>
              <a:rPr lang="en-US" sz="1300" dirty="0">
                <a:solidFill>
                  <a:srgbClr val="5B6478"/>
                </a:solidFill>
                <a:latin typeface="Courier New" pitchFamily="34" charset="0"/>
                <a:ea typeface="Courier New" pitchFamily="34" charset="-122"/>
                <a:cs typeface="Courier New" pitchFamily="34" charset="-120"/>
              </a:rPr>
              <a:t>a = 4 9 13 18 22 27 31 36 40 45 51 58 63 70 77</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LINEAR VS BINARY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How many comparisons for a value that is not there?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914400"/>
        </p:xfrm>
        <a:graphic>
          <a:graphicData uri="http://schemas.openxmlformats.org/drawingml/2006/table">
            <a:tbl>
              <a:tblPr/>
              <a:tblGrid>
                <a:gridCol w="1463040"/>
                <a:gridCol w="1828800"/>
                <a:gridCol w="1737360"/>
                <a:gridCol w="1554480"/>
              </a:tblGrid>
              <a:tr h="502920">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linear search</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binary search</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⌊log₂ n⌋ + 1</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10000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10000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600" dirty="0">
                          <a:solidFill>
                            <a:srgbClr val="14213D"/>
                          </a:solidFill>
                          <a:latin typeface="Courier New" pitchFamily="34" charset="0"/>
                          <a:ea typeface="Courier New" pitchFamily="34" charset="-122"/>
                          <a:cs typeface="Courier New" pitchFamily="34" charset="-120"/>
                        </a:rPr>
                        <a:t>14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r" indent="0" marL="0">
                        <a:buNone/>
                      </a:pPr>
                      <a:r>
                        <a:rPr lang="en-US" sz="1600" dirty="0">
                          <a:solidFill>
                            <a:srgbClr val="5B6478"/>
                          </a:solidFill>
                          <a:latin typeface="Courier New" pitchFamily="34" charset="0"/>
                          <a:ea typeface="Courier New" pitchFamily="34" charset="-122"/>
                          <a:cs typeface="Courier New" pitchFamily="34" charset="-120"/>
                        </a:rPr>
                        <a:t>1 000 000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5B6478"/>
                          </a:solidFill>
                          <a:latin typeface="Courier New" pitchFamily="34" charset="0"/>
                          <a:ea typeface="Courier New" pitchFamily="34" charset="-122"/>
                          <a:cs typeface="Courier New" pitchFamily="34" charset="-120"/>
                        </a:rPr>
                        <a:t>1 000 000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5B6478"/>
                          </a:solidFill>
                          <a:latin typeface="Courier New" pitchFamily="34" charset="0"/>
                          <a:ea typeface="Courier New" pitchFamily="34" charset="-122"/>
                          <a:cs typeface="Courier New" pitchFamily="34" charset="-120"/>
                        </a:rPr>
                        <a:t>20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5B6478"/>
                          </a:solidFill>
                          <a:latin typeface="Courier New" pitchFamily="34" charset="0"/>
                          <a:ea typeface="Courier New" pitchFamily="34" charset="-122"/>
                          <a:cs typeface="Courier New" pitchFamily="34" charset="-120"/>
                        </a:rPr>
                        <a:t>20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4754880"/>
            <a:ext cx="6583680" cy="365760"/>
          </a:xfrm>
          <a:prstGeom prst="rect">
            <a:avLst/>
          </a:prstGeom>
          <a:noFill/>
          <a:ln/>
        </p:spPr>
        <p:txBody>
          <a:bodyPr wrap="square" lIns="0" tIns="0" rIns="0" bIns="0" rtlCol="0" anchor="ctr"/>
          <a:lstStyle/>
          <a:p>
            <a:pPr algn="l" indent="0" marL="0">
              <a:buNone/>
            </a:pPr>
            <a:r>
              <a:rPr lang="en-US" sz="1300" dirty="0">
                <a:solidFill>
                  <a:srgbClr val="5B6478"/>
                </a:solidFill>
                <a:latin typeface="Calibri" pitchFamily="34" charset="0"/>
                <a:ea typeface="Calibri" pitchFamily="34" charset="-122"/>
                <a:cs typeface="Calibri" pitchFamily="34" charset="-120"/>
              </a:rPr>
              <a:t>Rows 1–4: real output of 10_13_SortingRace; last row: formula.</a:t>
            </a:r>
            <a:endParaRPr lang="en-US" sz="1300" dirty="0"/>
          </a:p>
        </p:txBody>
      </p:sp>
      <p:sp>
        <p:nvSpPr>
          <p:cNvPr id="9" name="Shape 5"/>
          <p:cNvSpPr/>
          <p:nvPr/>
        </p:nvSpPr>
        <p:spPr>
          <a:xfrm>
            <a:off x="7406640" y="1645920"/>
            <a:ext cx="4251960" cy="2011680"/>
          </a:xfrm>
          <a:prstGeom prst="roundRect">
            <a:avLst>
              <a:gd name="adj" fmla="val 5455"/>
            </a:avLst>
          </a:prstGeom>
          <a:solidFill>
            <a:srgbClr val="EEF1F6"/>
          </a:solidFill>
          <a:ln w="12700">
            <a:solidFill>
              <a:srgbClr val="EEF1F6"/>
            </a:solidFill>
            <a:prstDash val="solid"/>
          </a:ln>
        </p:spPr>
      </p:sp>
      <p:sp>
        <p:nvSpPr>
          <p:cNvPr id="10" name="Shape 6"/>
          <p:cNvSpPr/>
          <p:nvPr/>
        </p:nvSpPr>
        <p:spPr>
          <a:xfrm>
            <a:off x="7635240" y="1874520"/>
            <a:ext cx="566928" cy="566928"/>
          </a:xfrm>
          <a:prstGeom prst="ellipse">
            <a:avLst/>
          </a:prstGeom>
          <a:solidFill>
            <a:srgbClr val="14213D"/>
          </a:solidFill>
          <a:ln w="12700">
            <a:solidFill>
              <a:srgbClr val="14213D"/>
            </a:solidFill>
            <a:prstDash val="solid"/>
          </a:ln>
        </p:spPr>
      </p:sp>
      <p:pic>
        <p:nvPicPr>
          <p:cNvPr id="11" name="Image 0" descr="preencoded.png">    </p:cNvPr>
          <p:cNvPicPr>
            <a:picLocks noChangeAspect="1"/>
          </p:cNvPicPr>
          <p:nvPr/>
        </p:nvPicPr>
        <p:blipFill>
          <a:blip r:embed="rId1"/>
          <a:stretch>
            <a:fillRect/>
          </a:stretch>
        </p:blipFill>
        <p:spPr>
          <a:xfrm>
            <a:off x="7782641" y="2021921"/>
            <a:ext cx="272125" cy="272125"/>
          </a:xfrm>
          <a:prstGeom prst="rect">
            <a:avLst/>
          </a:prstGeom>
        </p:spPr>
      </p:pic>
      <p:sp>
        <p:nvSpPr>
          <p:cNvPr id="12" name="Text 7"/>
          <p:cNvSpPr txBox="1"/>
          <p:nvPr/>
        </p:nvSpPr>
        <p:spPr>
          <a:xfrm>
            <a:off x="8321040" y="1874520"/>
            <a:ext cx="31546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Linear: O(n)</a:t>
            </a:r>
            <a:endParaRPr lang="en-US" sz="1700" dirty="0"/>
          </a:p>
        </p:txBody>
      </p:sp>
      <p:sp>
        <p:nvSpPr>
          <p:cNvPr id="13" name="Text 8"/>
          <p:cNvSpPr txBox="1"/>
          <p:nvPr/>
        </p:nvSpPr>
        <p:spPr>
          <a:xfrm>
            <a:off x="7635240" y="2560320"/>
            <a:ext cx="3794760" cy="96012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Work grows like n. Any array.</a:t>
            </a:r>
            <a:endParaRPr lang="en-US" sz="1500" dirty="0"/>
          </a:p>
        </p:txBody>
      </p:sp>
      <p:sp>
        <p:nvSpPr>
          <p:cNvPr id="14" name="Shape 9"/>
          <p:cNvSpPr/>
          <p:nvPr/>
        </p:nvSpPr>
        <p:spPr>
          <a:xfrm>
            <a:off x="7406640" y="3794760"/>
            <a:ext cx="4251960" cy="2286000"/>
          </a:xfrm>
          <a:prstGeom prst="roundRect">
            <a:avLst>
              <a:gd name="adj" fmla="val 4800"/>
            </a:avLst>
          </a:prstGeom>
          <a:solidFill>
            <a:srgbClr val="EEF1F6"/>
          </a:solidFill>
          <a:ln w="12700">
            <a:solidFill>
              <a:srgbClr val="EEF1F6"/>
            </a:solidFill>
            <a:prstDash val="solid"/>
          </a:ln>
        </p:spPr>
      </p:sp>
      <p:sp>
        <p:nvSpPr>
          <p:cNvPr id="15" name="Shape 10"/>
          <p:cNvSpPr/>
          <p:nvPr/>
        </p:nvSpPr>
        <p:spPr>
          <a:xfrm>
            <a:off x="7635240" y="4023360"/>
            <a:ext cx="566928" cy="566928"/>
          </a:xfrm>
          <a:prstGeom prst="ellipse">
            <a:avLst/>
          </a:prstGeom>
          <a:solidFill>
            <a:srgbClr val="2F6FB3"/>
          </a:solidFill>
          <a:ln w="12700">
            <a:solidFill>
              <a:srgbClr val="2F6FB3"/>
            </a:solidFill>
            <a:prstDash val="solid"/>
          </a:ln>
        </p:spPr>
      </p:sp>
      <p:pic>
        <p:nvPicPr>
          <p:cNvPr id="16" name="Image 1" descr="preencoded.png">    </p:cNvPr>
          <p:cNvPicPr>
            <a:picLocks noChangeAspect="1"/>
          </p:cNvPicPr>
          <p:nvPr/>
        </p:nvPicPr>
        <p:blipFill>
          <a:blip r:embed="rId2"/>
          <a:stretch>
            <a:fillRect/>
          </a:stretch>
        </p:blipFill>
        <p:spPr>
          <a:xfrm>
            <a:off x="7782641" y="4170761"/>
            <a:ext cx="272125" cy="272125"/>
          </a:xfrm>
          <a:prstGeom prst="rect">
            <a:avLst/>
          </a:prstGeom>
        </p:spPr>
      </p:pic>
      <p:sp>
        <p:nvSpPr>
          <p:cNvPr id="17" name="Text 11"/>
          <p:cNvSpPr txBox="1"/>
          <p:nvPr/>
        </p:nvSpPr>
        <p:spPr>
          <a:xfrm>
            <a:off x="8321040" y="4023360"/>
            <a:ext cx="31546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Binary: O(log n)</a:t>
            </a:r>
            <a:endParaRPr lang="en-US" sz="1700" dirty="0"/>
          </a:p>
        </p:txBody>
      </p:sp>
      <p:sp>
        <p:nvSpPr>
          <p:cNvPr id="18" name="Text 12"/>
          <p:cNvSpPr txBox="1"/>
          <p:nvPr/>
        </p:nvSpPr>
        <p:spPr>
          <a:xfrm>
            <a:off x="7635240" y="4709160"/>
            <a:ext cx="3794760" cy="12344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Doubling n adds one step. Sorted arrays only.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Sorting</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Swapping two cells · bubble sort with early exit · selection sort · insertion sort · counting comparisons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10</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SWAPPING TWO CELLS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Exchange a[i] and a[j]: you need a third box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645920"/>
            <a:ext cx="3566160" cy="2331720"/>
          </a:xfrm>
          <a:prstGeom prst="roundRect">
            <a:avLst>
              <a:gd name="adj" fmla="val 4706"/>
            </a:avLst>
          </a:prstGeom>
          <a:solidFill>
            <a:srgbClr val="EEF1F6"/>
          </a:solidFill>
          <a:ln w="12700">
            <a:solidFill>
              <a:srgbClr val="EEF1F6"/>
            </a:solidFill>
            <a:prstDash val="solid"/>
          </a:ln>
        </p:spPr>
      </p:sp>
      <p:sp>
        <p:nvSpPr>
          <p:cNvPr id="8" name="Text 5"/>
          <p:cNvSpPr txBox="1"/>
          <p:nvPr/>
        </p:nvSpPr>
        <p:spPr>
          <a:xfrm>
            <a:off x="777240" y="1737360"/>
            <a:ext cx="3108960" cy="411480"/>
          </a:xfrm>
          <a:prstGeom prst="rect">
            <a:avLst/>
          </a:prstGeom>
          <a:noFill/>
          <a:ln/>
        </p:spPr>
        <p:txBody>
          <a:bodyPr wrap="square" lIns="0" tIns="0" rIns="0" bIns="0" rtlCol="0" anchor="ctr"/>
          <a:lstStyle/>
          <a:p>
            <a:pPr algn="l" indent="0" marL="0">
              <a:buNone/>
            </a:pPr>
            <a:r>
              <a:rPr lang="en-US" sz="1600" b="1" dirty="0">
                <a:solidFill>
                  <a:srgbClr val="14213D"/>
                </a:solidFill>
                <a:latin typeface="Courier New" pitchFamily="34" charset="0"/>
                <a:ea typeface="Courier New" pitchFamily="34" charset="-122"/>
                <a:cs typeface="Courier New" pitchFamily="34" charset="-120"/>
              </a:rPr>
              <a:t>① temp ← a[0]</a:t>
            </a:r>
            <a:endParaRPr lang="en-US" sz="1600" dirty="0"/>
          </a:p>
        </p:txBody>
      </p:sp>
      <p:sp>
        <p:nvSpPr>
          <p:cNvPr id="9" name="Shape 6"/>
          <p:cNvSpPr/>
          <p:nvPr/>
        </p:nvSpPr>
        <p:spPr>
          <a:xfrm>
            <a:off x="777240" y="2331720"/>
            <a:ext cx="777240" cy="594360"/>
          </a:xfrm>
          <a:prstGeom prst="rect">
            <a:avLst/>
          </a:prstGeom>
          <a:solidFill>
            <a:srgbClr val="FFF1D6"/>
          </a:solidFill>
          <a:ln w="9525">
            <a:solidFill>
              <a:srgbClr val="8A94AB"/>
            </a:solidFill>
            <a:prstDash val="solid"/>
          </a:ln>
        </p:spPr>
      </p:sp>
      <p:sp>
        <p:nvSpPr>
          <p:cNvPr id="10" name="Text 7"/>
          <p:cNvSpPr txBox="1"/>
          <p:nvPr/>
        </p:nvSpPr>
        <p:spPr>
          <a:xfrm>
            <a:off x="777240" y="2331720"/>
            <a:ext cx="77724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31</a:t>
            </a:r>
            <a:endParaRPr lang="en-US" sz="1800" dirty="0"/>
          </a:p>
        </p:txBody>
      </p:sp>
      <p:sp>
        <p:nvSpPr>
          <p:cNvPr id="11" name="Text 8"/>
          <p:cNvSpPr txBox="1"/>
          <p:nvPr/>
        </p:nvSpPr>
        <p:spPr>
          <a:xfrm>
            <a:off x="777240" y="2953512"/>
            <a:ext cx="77724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2" name="Shape 9"/>
          <p:cNvSpPr/>
          <p:nvPr/>
        </p:nvSpPr>
        <p:spPr>
          <a:xfrm>
            <a:off x="1554480" y="2331720"/>
            <a:ext cx="777240" cy="594360"/>
          </a:xfrm>
          <a:prstGeom prst="rect">
            <a:avLst/>
          </a:prstGeom>
          <a:solidFill>
            <a:srgbClr val="FFFFFF"/>
          </a:solidFill>
          <a:ln w="9525">
            <a:solidFill>
              <a:srgbClr val="8A94AB"/>
            </a:solidFill>
            <a:prstDash val="solid"/>
          </a:ln>
        </p:spPr>
      </p:sp>
      <p:sp>
        <p:nvSpPr>
          <p:cNvPr id="13" name="Text 10"/>
          <p:cNvSpPr txBox="1"/>
          <p:nvPr/>
        </p:nvSpPr>
        <p:spPr>
          <a:xfrm>
            <a:off x="1554480" y="2331720"/>
            <a:ext cx="77724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12</a:t>
            </a:r>
            <a:endParaRPr lang="en-US" sz="1800" dirty="0"/>
          </a:p>
        </p:txBody>
      </p:sp>
      <p:sp>
        <p:nvSpPr>
          <p:cNvPr id="14" name="Text 11"/>
          <p:cNvSpPr txBox="1"/>
          <p:nvPr/>
        </p:nvSpPr>
        <p:spPr>
          <a:xfrm>
            <a:off x="1554480" y="2953512"/>
            <a:ext cx="77724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15" name="Text 12"/>
          <p:cNvSpPr txBox="1"/>
          <p:nvPr/>
        </p:nvSpPr>
        <p:spPr>
          <a:xfrm>
            <a:off x="2514600" y="2057400"/>
            <a:ext cx="1280160" cy="274320"/>
          </a:xfrm>
          <a:prstGeom prst="rect">
            <a:avLst/>
          </a:prstGeom>
          <a:noFill/>
          <a:ln/>
        </p:spPr>
        <p:txBody>
          <a:bodyPr wrap="square" lIns="0" tIns="0" rIns="0" bIns="0" rtlCol="0" anchor="ctr"/>
          <a:lstStyle/>
          <a:p>
            <a:pPr algn="ctr" indent="0" marL="0">
              <a:buNone/>
            </a:pPr>
            <a:r>
              <a:rPr lang="en-US" sz="1300" b="1" dirty="0">
                <a:solidFill>
                  <a:srgbClr val="5B6478"/>
                </a:solidFill>
                <a:latin typeface="Calibri" pitchFamily="34" charset="0"/>
                <a:ea typeface="Calibri" pitchFamily="34" charset="-122"/>
                <a:cs typeface="Calibri" pitchFamily="34" charset="-120"/>
              </a:rPr>
              <a:t>temp</a:t>
            </a:r>
            <a:endParaRPr lang="en-US" sz="1300" dirty="0"/>
          </a:p>
        </p:txBody>
      </p:sp>
      <p:sp>
        <p:nvSpPr>
          <p:cNvPr id="16" name="Shape 13"/>
          <p:cNvSpPr/>
          <p:nvPr/>
        </p:nvSpPr>
        <p:spPr>
          <a:xfrm>
            <a:off x="2743200" y="2331720"/>
            <a:ext cx="822960" cy="594360"/>
          </a:xfrm>
          <a:prstGeom prst="rect">
            <a:avLst/>
          </a:prstGeom>
          <a:solidFill>
            <a:srgbClr val="FFF1D6"/>
          </a:solidFill>
          <a:ln w="9525">
            <a:solidFill>
              <a:srgbClr val="8A94AB"/>
            </a:solidFill>
            <a:prstDash val="solid"/>
          </a:ln>
        </p:spPr>
      </p:sp>
      <p:sp>
        <p:nvSpPr>
          <p:cNvPr id="17" name="Text 14"/>
          <p:cNvSpPr txBox="1"/>
          <p:nvPr/>
        </p:nvSpPr>
        <p:spPr>
          <a:xfrm>
            <a:off x="2743200" y="23317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31</a:t>
            </a:r>
            <a:endParaRPr lang="en-US" sz="1800" dirty="0"/>
          </a:p>
        </p:txBody>
      </p:sp>
      <p:sp>
        <p:nvSpPr>
          <p:cNvPr id="18" name="Shape 15"/>
          <p:cNvSpPr/>
          <p:nvPr/>
        </p:nvSpPr>
        <p:spPr>
          <a:xfrm>
            <a:off x="4315968" y="1645920"/>
            <a:ext cx="3566160" cy="2331720"/>
          </a:xfrm>
          <a:prstGeom prst="roundRect">
            <a:avLst>
              <a:gd name="adj" fmla="val 4706"/>
            </a:avLst>
          </a:prstGeom>
          <a:solidFill>
            <a:srgbClr val="EEF1F6"/>
          </a:solidFill>
          <a:ln w="12700">
            <a:solidFill>
              <a:srgbClr val="EEF1F6"/>
            </a:solidFill>
            <a:prstDash val="solid"/>
          </a:ln>
        </p:spPr>
      </p:sp>
      <p:sp>
        <p:nvSpPr>
          <p:cNvPr id="19" name="Text 16"/>
          <p:cNvSpPr txBox="1"/>
          <p:nvPr/>
        </p:nvSpPr>
        <p:spPr>
          <a:xfrm>
            <a:off x="4544568" y="1737360"/>
            <a:ext cx="3108960" cy="411480"/>
          </a:xfrm>
          <a:prstGeom prst="rect">
            <a:avLst/>
          </a:prstGeom>
          <a:noFill/>
          <a:ln/>
        </p:spPr>
        <p:txBody>
          <a:bodyPr wrap="square" lIns="0" tIns="0" rIns="0" bIns="0" rtlCol="0" anchor="ctr"/>
          <a:lstStyle/>
          <a:p>
            <a:pPr algn="l" indent="0" marL="0">
              <a:buNone/>
            </a:pPr>
            <a:r>
              <a:rPr lang="en-US" sz="1600" b="1" dirty="0">
                <a:solidFill>
                  <a:srgbClr val="14213D"/>
                </a:solidFill>
                <a:latin typeface="Courier New" pitchFamily="34" charset="0"/>
                <a:ea typeface="Courier New" pitchFamily="34" charset="-122"/>
                <a:cs typeface="Courier New" pitchFamily="34" charset="-120"/>
              </a:rPr>
              <a:t>② a[0] ← a[1]</a:t>
            </a:r>
            <a:endParaRPr lang="en-US" sz="1600" dirty="0"/>
          </a:p>
        </p:txBody>
      </p:sp>
      <p:sp>
        <p:nvSpPr>
          <p:cNvPr id="20" name="Shape 17"/>
          <p:cNvSpPr/>
          <p:nvPr/>
        </p:nvSpPr>
        <p:spPr>
          <a:xfrm>
            <a:off x="4544568" y="2331720"/>
            <a:ext cx="777240" cy="594360"/>
          </a:xfrm>
          <a:prstGeom prst="rect">
            <a:avLst/>
          </a:prstGeom>
          <a:solidFill>
            <a:srgbClr val="FFF1D6"/>
          </a:solidFill>
          <a:ln w="9525">
            <a:solidFill>
              <a:srgbClr val="8A94AB"/>
            </a:solidFill>
            <a:prstDash val="solid"/>
          </a:ln>
        </p:spPr>
      </p:sp>
      <p:sp>
        <p:nvSpPr>
          <p:cNvPr id="21" name="Text 18"/>
          <p:cNvSpPr txBox="1"/>
          <p:nvPr/>
        </p:nvSpPr>
        <p:spPr>
          <a:xfrm>
            <a:off x="4544568" y="2331720"/>
            <a:ext cx="77724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12</a:t>
            </a:r>
            <a:endParaRPr lang="en-US" sz="1800" dirty="0"/>
          </a:p>
        </p:txBody>
      </p:sp>
      <p:sp>
        <p:nvSpPr>
          <p:cNvPr id="22" name="Text 19"/>
          <p:cNvSpPr txBox="1"/>
          <p:nvPr/>
        </p:nvSpPr>
        <p:spPr>
          <a:xfrm>
            <a:off x="4544568" y="2953512"/>
            <a:ext cx="77724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23" name="Shape 20"/>
          <p:cNvSpPr/>
          <p:nvPr/>
        </p:nvSpPr>
        <p:spPr>
          <a:xfrm>
            <a:off x="5321808" y="2331720"/>
            <a:ext cx="777240" cy="594360"/>
          </a:xfrm>
          <a:prstGeom prst="rect">
            <a:avLst/>
          </a:prstGeom>
          <a:solidFill>
            <a:srgbClr val="FFFFFF"/>
          </a:solidFill>
          <a:ln w="9525">
            <a:solidFill>
              <a:srgbClr val="8A94AB"/>
            </a:solidFill>
            <a:prstDash val="solid"/>
          </a:ln>
        </p:spPr>
      </p:sp>
      <p:sp>
        <p:nvSpPr>
          <p:cNvPr id="24" name="Text 21"/>
          <p:cNvSpPr txBox="1"/>
          <p:nvPr/>
        </p:nvSpPr>
        <p:spPr>
          <a:xfrm>
            <a:off x="5321808" y="2331720"/>
            <a:ext cx="77724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12</a:t>
            </a:r>
            <a:endParaRPr lang="en-US" sz="1800" dirty="0"/>
          </a:p>
        </p:txBody>
      </p:sp>
      <p:sp>
        <p:nvSpPr>
          <p:cNvPr id="25" name="Text 22"/>
          <p:cNvSpPr txBox="1"/>
          <p:nvPr/>
        </p:nvSpPr>
        <p:spPr>
          <a:xfrm>
            <a:off x="5321808" y="2953512"/>
            <a:ext cx="77724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26" name="Text 23"/>
          <p:cNvSpPr txBox="1"/>
          <p:nvPr/>
        </p:nvSpPr>
        <p:spPr>
          <a:xfrm>
            <a:off x="6281928" y="2057400"/>
            <a:ext cx="1280160" cy="274320"/>
          </a:xfrm>
          <a:prstGeom prst="rect">
            <a:avLst/>
          </a:prstGeom>
          <a:noFill/>
          <a:ln/>
        </p:spPr>
        <p:txBody>
          <a:bodyPr wrap="square" lIns="0" tIns="0" rIns="0" bIns="0" rtlCol="0" anchor="ctr"/>
          <a:lstStyle/>
          <a:p>
            <a:pPr algn="ctr" indent="0" marL="0">
              <a:buNone/>
            </a:pPr>
            <a:r>
              <a:rPr lang="en-US" sz="1300" b="1" dirty="0">
                <a:solidFill>
                  <a:srgbClr val="5B6478"/>
                </a:solidFill>
                <a:latin typeface="Calibri" pitchFamily="34" charset="0"/>
                <a:ea typeface="Calibri" pitchFamily="34" charset="-122"/>
                <a:cs typeface="Calibri" pitchFamily="34" charset="-120"/>
              </a:rPr>
              <a:t>temp</a:t>
            </a:r>
            <a:endParaRPr lang="en-US" sz="1300" dirty="0"/>
          </a:p>
        </p:txBody>
      </p:sp>
      <p:sp>
        <p:nvSpPr>
          <p:cNvPr id="27" name="Shape 24"/>
          <p:cNvSpPr/>
          <p:nvPr/>
        </p:nvSpPr>
        <p:spPr>
          <a:xfrm>
            <a:off x="6510528" y="2331720"/>
            <a:ext cx="822960" cy="594360"/>
          </a:xfrm>
          <a:prstGeom prst="rect">
            <a:avLst/>
          </a:prstGeom>
          <a:solidFill>
            <a:srgbClr val="FFFFFF"/>
          </a:solidFill>
          <a:ln w="9525">
            <a:solidFill>
              <a:srgbClr val="8A94AB"/>
            </a:solidFill>
            <a:prstDash val="solid"/>
          </a:ln>
        </p:spPr>
      </p:sp>
      <p:sp>
        <p:nvSpPr>
          <p:cNvPr id="28" name="Text 25"/>
          <p:cNvSpPr txBox="1"/>
          <p:nvPr/>
        </p:nvSpPr>
        <p:spPr>
          <a:xfrm>
            <a:off x="6510528" y="23317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31</a:t>
            </a:r>
            <a:endParaRPr lang="en-US" sz="1800" dirty="0"/>
          </a:p>
        </p:txBody>
      </p:sp>
      <p:sp>
        <p:nvSpPr>
          <p:cNvPr id="29" name="Shape 26"/>
          <p:cNvSpPr/>
          <p:nvPr/>
        </p:nvSpPr>
        <p:spPr>
          <a:xfrm>
            <a:off x="8083296" y="1645920"/>
            <a:ext cx="3566160" cy="2331720"/>
          </a:xfrm>
          <a:prstGeom prst="roundRect">
            <a:avLst>
              <a:gd name="adj" fmla="val 4706"/>
            </a:avLst>
          </a:prstGeom>
          <a:solidFill>
            <a:srgbClr val="EEF1F6"/>
          </a:solidFill>
          <a:ln w="12700">
            <a:solidFill>
              <a:srgbClr val="EEF1F6"/>
            </a:solidFill>
            <a:prstDash val="solid"/>
          </a:ln>
        </p:spPr>
      </p:sp>
      <p:sp>
        <p:nvSpPr>
          <p:cNvPr id="30" name="Text 27"/>
          <p:cNvSpPr txBox="1"/>
          <p:nvPr/>
        </p:nvSpPr>
        <p:spPr>
          <a:xfrm>
            <a:off x="8311896" y="1737360"/>
            <a:ext cx="3108960" cy="411480"/>
          </a:xfrm>
          <a:prstGeom prst="rect">
            <a:avLst/>
          </a:prstGeom>
          <a:noFill/>
          <a:ln/>
        </p:spPr>
        <p:txBody>
          <a:bodyPr wrap="square" lIns="0" tIns="0" rIns="0" bIns="0" rtlCol="0" anchor="ctr"/>
          <a:lstStyle/>
          <a:p>
            <a:pPr algn="l" indent="0" marL="0">
              <a:buNone/>
            </a:pPr>
            <a:r>
              <a:rPr lang="en-US" sz="1600" b="1" dirty="0">
                <a:solidFill>
                  <a:srgbClr val="14213D"/>
                </a:solidFill>
                <a:latin typeface="Courier New" pitchFamily="34" charset="0"/>
                <a:ea typeface="Courier New" pitchFamily="34" charset="-122"/>
                <a:cs typeface="Courier New" pitchFamily="34" charset="-120"/>
              </a:rPr>
              <a:t>③ a[1] ← temp</a:t>
            </a:r>
            <a:endParaRPr lang="en-US" sz="1600" dirty="0"/>
          </a:p>
        </p:txBody>
      </p:sp>
      <p:sp>
        <p:nvSpPr>
          <p:cNvPr id="31" name="Shape 28"/>
          <p:cNvSpPr/>
          <p:nvPr/>
        </p:nvSpPr>
        <p:spPr>
          <a:xfrm>
            <a:off x="8311896" y="2331720"/>
            <a:ext cx="777240" cy="594360"/>
          </a:xfrm>
          <a:prstGeom prst="rect">
            <a:avLst/>
          </a:prstGeom>
          <a:solidFill>
            <a:srgbClr val="FFFFFF"/>
          </a:solidFill>
          <a:ln w="9525">
            <a:solidFill>
              <a:srgbClr val="8A94AB"/>
            </a:solidFill>
            <a:prstDash val="solid"/>
          </a:ln>
        </p:spPr>
      </p:sp>
      <p:sp>
        <p:nvSpPr>
          <p:cNvPr id="32" name="Text 29"/>
          <p:cNvSpPr txBox="1"/>
          <p:nvPr/>
        </p:nvSpPr>
        <p:spPr>
          <a:xfrm>
            <a:off x="8311896" y="2331720"/>
            <a:ext cx="77724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12</a:t>
            </a:r>
            <a:endParaRPr lang="en-US" sz="1800" dirty="0"/>
          </a:p>
        </p:txBody>
      </p:sp>
      <p:sp>
        <p:nvSpPr>
          <p:cNvPr id="33" name="Text 30"/>
          <p:cNvSpPr txBox="1"/>
          <p:nvPr/>
        </p:nvSpPr>
        <p:spPr>
          <a:xfrm>
            <a:off x="8311896" y="2953512"/>
            <a:ext cx="77724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34" name="Shape 31"/>
          <p:cNvSpPr/>
          <p:nvPr/>
        </p:nvSpPr>
        <p:spPr>
          <a:xfrm>
            <a:off x="9089136" y="2331720"/>
            <a:ext cx="777240" cy="594360"/>
          </a:xfrm>
          <a:prstGeom prst="rect">
            <a:avLst/>
          </a:prstGeom>
          <a:solidFill>
            <a:srgbClr val="FFF1D6"/>
          </a:solidFill>
          <a:ln w="9525">
            <a:solidFill>
              <a:srgbClr val="8A94AB"/>
            </a:solidFill>
            <a:prstDash val="solid"/>
          </a:ln>
        </p:spPr>
      </p:sp>
      <p:sp>
        <p:nvSpPr>
          <p:cNvPr id="35" name="Text 32"/>
          <p:cNvSpPr txBox="1"/>
          <p:nvPr/>
        </p:nvSpPr>
        <p:spPr>
          <a:xfrm>
            <a:off x="9089136" y="2331720"/>
            <a:ext cx="77724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31</a:t>
            </a:r>
            <a:endParaRPr lang="en-US" sz="1800" dirty="0"/>
          </a:p>
        </p:txBody>
      </p:sp>
      <p:sp>
        <p:nvSpPr>
          <p:cNvPr id="36" name="Text 33"/>
          <p:cNvSpPr txBox="1"/>
          <p:nvPr/>
        </p:nvSpPr>
        <p:spPr>
          <a:xfrm>
            <a:off x="9089136" y="2953512"/>
            <a:ext cx="77724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37" name="Text 34"/>
          <p:cNvSpPr txBox="1"/>
          <p:nvPr/>
        </p:nvSpPr>
        <p:spPr>
          <a:xfrm>
            <a:off x="10049256" y="2057400"/>
            <a:ext cx="1280160" cy="274320"/>
          </a:xfrm>
          <a:prstGeom prst="rect">
            <a:avLst/>
          </a:prstGeom>
          <a:noFill/>
          <a:ln/>
        </p:spPr>
        <p:txBody>
          <a:bodyPr wrap="square" lIns="0" tIns="0" rIns="0" bIns="0" rtlCol="0" anchor="ctr"/>
          <a:lstStyle/>
          <a:p>
            <a:pPr algn="ctr" indent="0" marL="0">
              <a:buNone/>
            </a:pPr>
            <a:r>
              <a:rPr lang="en-US" sz="1300" b="1" dirty="0">
                <a:solidFill>
                  <a:srgbClr val="5B6478"/>
                </a:solidFill>
                <a:latin typeface="Calibri" pitchFamily="34" charset="0"/>
                <a:ea typeface="Calibri" pitchFamily="34" charset="-122"/>
                <a:cs typeface="Calibri" pitchFamily="34" charset="-120"/>
              </a:rPr>
              <a:t>temp</a:t>
            </a:r>
            <a:endParaRPr lang="en-US" sz="1300" dirty="0"/>
          </a:p>
        </p:txBody>
      </p:sp>
      <p:sp>
        <p:nvSpPr>
          <p:cNvPr id="38" name="Shape 35"/>
          <p:cNvSpPr/>
          <p:nvPr/>
        </p:nvSpPr>
        <p:spPr>
          <a:xfrm>
            <a:off x="10277856" y="2331720"/>
            <a:ext cx="822960" cy="594360"/>
          </a:xfrm>
          <a:prstGeom prst="rect">
            <a:avLst/>
          </a:prstGeom>
          <a:solidFill>
            <a:srgbClr val="FFFFFF"/>
          </a:solidFill>
          <a:ln w="9525">
            <a:solidFill>
              <a:srgbClr val="8A94AB"/>
            </a:solidFill>
            <a:prstDash val="solid"/>
          </a:ln>
        </p:spPr>
      </p:sp>
      <p:sp>
        <p:nvSpPr>
          <p:cNvPr id="39" name="Text 36"/>
          <p:cNvSpPr txBox="1"/>
          <p:nvPr/>
        </p:nvSpPr>
        <p:spPr>
          <a:xfrm>
            <a:off x="10277856" y="2331720"/>
            <a:ext cx="822960" cy="594360"/>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31</a:t>
            </a:r>
            <a:endParaRPr lang="en-US" sz="1800" dirty="0"/>
          </a:p>
        </p:txBody>
      </p:sp>
      <p:sp>
        <p:nvSpPr>
          <p:cNvPr id="40" name="Shape 37"/>
          <p:cNvSpPr/>
          <p:nvPr/>
        </p:nvSpPr>
        <p:spPr>
          <a:xfrm>
            <a:off x="548640" y="4160520"/>
            <a:ext cx="5486400" cy="1920240"/>
          </a:xfrm>
          <a:prstGeom prst="roundRect">
            <a:avLst>
              <a:gd name="adj" fmla="val 4762"/>
            </a:avLst>
          </a:prstGeom>
          <a:solidFill>
            <a:srgbClr val="0F1729"/>
          </a:solidFill>
          <a:ln w="12700">
            <a:solidFill>
              <a:srgbClr val="0F1729"/>
            </a:solidFill>
            <a:prstDash val="solid"/>
          </a:ln>
        </p:spPr>
      </p:sp>
      <p:sp>
        <p:nvSpPr>
          <p:cNvPr id="41" name="Text 38"/>
          <p:cNvSpPr txBox="1"/>
          <p:nvPr/>
        </p:nvSpPr>
        <p:spPr>
          <a:xfrm>
            <a:off x="777240" y="42702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a:t>
            </a:r>
            <a:endParaRPr lang="en-US" sz="1100" dirty="0"/>
          </a:p>
        </p:txBody>
      </p:sp>
      <p:sp>
        <p:nvSpPr>
          <p:cNvPr id="42" name="Text 39"/>
          <p:cNvSpPr txBox="1"/>
          <p:nvPr/>
        </p:nvSpPr>
        <p:spPr>
          <a:xfrm>
            <a:off x="777240" y="4572000"/>
            <a:ext cx="5029200" cy="139903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temp = a[i];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swap via temp</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a[i] = a[j];</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a[j] = temp;</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(a[i], a[j]) = (a[j], a[i]);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tuple swap</a:t>
            </a:r>
            <a:endParaRPr lang="en-US" sz="1400" dirty="0"/>
          </a:p>
        </p:txBody>
      </p:sp>
      <p:sp>
        <p:nvSpPr>
          <p:cNvPr id="43" name="Shape 40"/>
          <p:cNvSpPr/>
          <p:nvPr/>
        </p:nvSpPr>
        <p:spPr>
          <a:xfrm>
            <a:off x="6263640" y="4160520"/>
            <a:ext cx="5394960" cy="1920240"/>
          </a:xfrm>
          <a:prstGeom prst="roundRect">
            <a:avLst>
              <a:gd name="adj" fmla="val 4762"/>
            </a:avLst>
          </a:prstGeom>
          <a:solidFill>
            <a:srgbClr val="0F1729"/>
          </a:solidFill>
          <a:ln w="12700">
            <a:solidFill>
              <a:srgbClr val="0F1729"/>
            </a:solidFill>
            <a:prstDash val="solid"/>
          </a:ln>
        </p:spPr>
      </p:sp>
      <p:sp>
        <p:nvSpPr>
          <p:cNvPr id="44" name="Text 41"/>
          <p:cNvSpPr txBox="1"/>
          <p:nvPr/>
        </p:nvSpPr>
        <p:spPr>
          <a:xfrm>
            <a:off x="6492240" y="42702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Without temp</a:t>
            </a:r>
            <a:endParaRPr lang="en-US" sz="1100" dirty="0"/>
          </a:p>
        </p:txBody>
      </p:sp>
      <p:sp>
        <p:nvSpPr>
          <p:cNvPr id="45" name="Text 42"/>
          <p:cNvSpPr txBox="1"/>
          <p:nvPr/>
        </p:nvSpPr>
        <p:spPr>
          <a:xfrm>
            <a:off x="6492240" y="4572000"/>
            <a:ext cx="4937760" cy="1399032"/>
          </a:xfrm>
          <a:prstGeom prst="rect">
            <a:avLst/>
          </a:prstGeom>
          <a:noFill/>
          <a:ln/>
        </p:spPr>
        <p:txBody>
          <a:bodyPr wrap="square" lIns="0" tIns="0" rIns="0" bIns="0" rtlCol="0" anchor="t"/>
          <a:lstStyle/>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WRONG: 31 is lost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a[i] = a[j];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12 12</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a[j] = a[i];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12 12</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BUBBLE SORT · IDEA</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Compare neighbours, swap if they are in the wrong order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645920"/>
            <a:ext cx="5852160" cy="4434840"/>
          </a:xfrm>
          <a:prstGeom prst="roundRect">
            <a:avLst>
              <a:gd name="adj" fmla="val 1649"/>
            </a:avLst>
          </a:prstGeom>
          <a:solidFill>
            <a:srgbClr val="F4F6FA"/>
          </a:solidFill>
          <a:ln w="9525">
            <a:solidFill>
              <a:srgbClr val="C9D0DD"/>
            </a:solidFill>
            <a:prstDash val="solid"/>
          </a:ln>
        </p:spPr>
      </p:sp>
      <p:sp>
        <p:nvSpPr>
          <p:cNvPr id="8" name="Text 5"/>
          <p:cNvSpPr txBox="1"/>
          <p:nvPr/>
        </p:nvSpPr>
        <p:spPr>
          <a:xfrm>
            <a:off x="731520" y="1737360"/>
            <a:ext cx="548640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Bubble sort with early exit</a:t>
            </a:r>
            <a:endParaRPr lang="en-US" sz="1200" dirty="0"/>
          </a:p>
        </p:txBody>
      </p:sp>
      <p:sp>
        <p:nvSpPr>
          <p:cNvPr id="9" name="Text 6"/>
          <p:cNvSpPr txBox="1"/>
          <p:nvPr/>
        </p:nvSpPr>
        <p:spPr>
          <a:xfrm>
            <a:off x="731520" y="2057400"/>
            <a:ext cx="5486400" cy="3931920"/>
          </a:xfrm>
          <a:prstGeom prst="rect">
            <a:avLst/>
          </a:prstGeom>
          <a:noFill/>
          <a:ln/>
        </p:spPr>
        <p:txBody>
          <a:bodyPr wrap="square" lIns="0" tIns="0" rIns="0" bIns="0" rtlCol="0" anchor="t"/>
          <a:lstStyle/>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pass ← 1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n − 1</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swapped ← false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j ← 0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n − pass − 1</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a[j] &gt; a[j + 1]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THEN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swap a[j] and a[j + 1]</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swapped ← true</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IF</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FOR</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NOT</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swapped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THEN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stop: the array is sorted</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IF</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FOR</a:t>
            </a:r>
            <a:endParaRPr lang="en-US" sz="1500" dirty="0"/>
          </a:p>
        </p:txBody>
      </p:sp>
      <p:sp>
        <p:nvSpPr>
          <p:cNvPr id="10" name="Shape 7"/>
          <p:cNvSpPr/>
          <p:nvPr/>
        </p:nvSpPr>
        <p:spPr>
          <a:xfrm>
            <a:off x="6675120" y="1645920"/>
            <a:ext cx="4983480" cy="1371600"/>
          </a:xfrm>
          <a:prstGeom prst="roundRect">
            <a:avLst>
              <a:gd name="adj" fmla="val 8000"/>
            </a:avLst>
          </a:prstGeom>
          <a:solidFill>
            <a:srgbClr val="EEF1F6"/>
          </a:solidFill>
          <a:ln w="12700">
            <a:solidFill>
              <a:srgbClr val="EEF1F6"/>
            </a:solidFill>
            <a:prstDash val="solid"/>
          </a:ln>
        </p:spPr>
      </p:sp>
      <p:sp>
        <p:nvSpPr>
          <p:cNvPr id="11" name="Shape 8"/>
          <p:cNvSpPr/>
          <p:nvPr/>
        </p:nvSpPr>
        <p:spPr>
          <a:xfrm>
            <a:off x="6858000" y="2057400"/>
            <a:ext cx="548640" cy="548640"/>
          </a:xfrm>
          <a:prstGeom prst="ellipse">
            <a:avLst/>
          </a:prstGeom>
          <a:solidFill>
            <a:srgbClr val="14213D"/>
          </a:solidFill>
          <a:ln w="12700">
            <a:solidFill>
              <a:srgbClr val="14213D"/>
            </a:solidFill>
            <a:prstDash val="solid"/>
          </a:ln>
        </p:spPr>
      </p:sp>
      <p:pic>
        <p:nvPicPr>
          <p:cNvPr id="12" name="Image 0" descr="preencoded.png">    </p:cNvPr>
          <p:cNvPicPr>
            <a:picLocks noChangeAspect="1"/>
          </p:cNvPicPr>
          <p:nvPr/>
        </p:nvPicPr>
        <p:blipFill>
          <a:blip r:embed="rId1"/>
          <a:stretch>
            <a:fillRect/>
          </a:stretch>
        </p:blipFill>
        <p:spPr>
          <a:xfrm>
            <a:off x="7000646" y="2200046"/>
            <a:ext cx="263347" cy="263347"/>
          </a:xfrm>
          <a:prstGeom prst="rect">
            <a:avLst/>
          </a:prstGeom>
        </p:spPr>
      </p:pic>
      <p:sp>
        <p:nvSpPr>
          <p:cNvPr id="13" name="Text 9"/>
          <p:cNvSpPr txBox="1"/>
          <p:nvPr/>
        </p:nvSpPr>
        <p:spPr>
          <a:xfrm>
            <a:off x="7589520" y="1700784"/>
            <a:ext cx="393192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Neighbours only</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Each comparison looks at a[j] and a[j + 1].</a:t>
            </a:r>
            <a:endParaRPr lang="en-US" sz="1500" dirty="0"/>
          </a:p>
        </p:txBody>
      </p:sp>
      <p:sp>
        <p:nvSpPr>
          <p:cNvPr id="14" name="Shape 10"/>
          <p:cNvSpPr/>
          <p:nvPr/>
        </p:nvSpPr>
        <p:spPr>
          <a:xfrm>
            <a:off x="6675120" y="3154680"/>
            <a:ext cx="4983480" cy="1371600"/>
          </a:xfrm>
          <a:prstGeom prst="roundRect">
            <a:avLst>
              <a:gd name="adj" fmla="val 8000"/>
            </a:avLst>
          </a:prstGeom>
          <a:solidFill>
            <a:srgbClr val="EEF1F6"/>
          </a:solidFill>
          <a:ln w="12700">
            <a:solidFill>
              <a:srgbClr val="EEF1F6"/>
            </a:solidFill>
            <a:prstDash val="solid"/>
          </a:ln>
        </p:spPr>
      </p:sp>
      <p:sp>
        <p:nvSpPr>
          <p:cNvPr id="15" name="Shape 11"/>
          <p:cNvSpPr/>
          <p:nvPr/>
        </p:nvSpPr>
        <p:spPr>
          <a:xfrm>
            <a:off x="6858000" y="3566160"/>
            <a:ext cx="548640" cy="548640"/>
          </a:xfrm>
          <a:prstGeom prst="ellipse">
            <a:avLst/>
          </a:prstGeom>
          <a:solidFill>
            <a:srgbClr val="2E9E6A"/>
          </a:solidFill>
          <a:ln w="12700">
            <a:solidFill>
              <a:srgbClr val="2E9E6A"/>
            </a:solidFill>
            <a:prstDash val="solid"/>
          </a:ln>
        </p:spPr>
      </p:sp>
      <p:pic>
        <p:nvPicPr>
          <p:cNvPr id="16" name="Image 1" descr="preencoded.png">    </p:cNvPr>
          <p:cNvPicPr>
            <a:picLocks noChangeAspect="1"/>
          </p:cNvPicPr>
          <p:nvPr/>
        </p:nvPicPr>
        <p:blipFill>
          <a:blip r:embed="rId2"/>
          <a:stretch>
            <a:fillRect/>
          </a:stretch>
        </p:blipFill>
        <p:spPr>
          <a:xfrm>
            <a:off x="7000646" y="3708806"/>
            <a:ext cx="263347" cy="263347"/>
          </a:xfrm>
          <a:prstGeom prst="rect">
            <a:avLst/>
          </a:prstGeom>
        </p:spPr>
      </p:pic>
      <p:sp>
        <p:nvSpPr>
          <p:cNvPr id="17" name="Text 12"/>
          <p:cNvSpPr txBox="1"/>
          <p:nvPr/>
        </p:nvSpPr>
        <p:spPr>
          <a:xfrm>
            <a:off x="7589520" y="3209544"/>
            <a:ext cx="393192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Largest goes last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After pass p, the last p cells are final.</a:t>
            </a:r>
            <a:endParaRPr lang="en-US" sz="1500" dirty="0"/>
          </a:p>
        </p:txBody>
      </p:sp>
      <p:sp>
        <p:nvSpPr>
          <p:cNvPr id="18" name="Shape 13"/>
          <p:cNvSpPr/>
          <p:nvPr/>
        </p:nvSpPr>
        <p:spPr>
          <a:xfrm>
            <a:off x="6675120" y="4663440"/>
            <a:ext cx="4983480" cy="1417320"/>
          </a:xfrm>
          <a:prstGeom prst="roundRect">
            <a:avLst>
              <a:gd name="adj" fmla="val 7742"/>
            </a:avLst>
          </a:prstGeom>
          <a:solidFill>
            <a:srgbClr val="EEF1F6"/>
          </a:solidFill>
          <a:ln w="12700">
            <a:solidFill>
              <a:srgbClr val="EEF1F6"/>
            </a:solidFill>
            <a:prstDash val="solid"/>
          </a:ln>
        </p:spPr>
      </p:sp>
      <p:sp>
        <p:nvSpPr>
          <p:cNvPr id="19" name="Shape 14"/>
          <p:cNvSpPr/>
          <p:nvPr/>
        </p:nvSpPr>
        <p:spPr>
          <a:xfrm>
            <a:off x="6858000" y="5097780"/>
            <a:ext cx="548640" cy="548640"/>
          </a:xfrm>
          <a:prstGeom prst="ellipse">
            <a:avLst/>
          </a:prstGeom>
          <a:solidFill>
            <a:srgbClr val="B7791F"/>
          </a:solidFill>
          <a:ln w="12700">
            <a:solidFill>
              <a:srgbClr val="B7791F"/>
            </a:solidFill>
            <a:prstDash val="solid"/>
          </a:ln>
        </p:spPr>
      </p:sp>
      <p:pic>
        <p:nvPicPr>
          <p:cNvPr id="20" name="Image 2" descr="preencoded.png">    </p:cNvPr>
          <p:cNvPicPr>
            <a:picLocks noChangeAspect="1"/>
          </p:cNvPicPr>
          <p:nvPr/>
        </p:nvPicPr>
        <p:blipFill>
          <a:blip r:embed="rId3"/>
          <a:stretch>
            <a:fillRect/>
          </a:stretch>
        </p:blipFill>
        <p:spPr>
          <a:xfrm>
            <a:off x="7000646" y="5240426"/>
            <a:ext cx="263347" cy="263347"/>
          </a:xfrm>
          <a:prstGeom prst="rect">
            <a:avLst/>
          </a:prstGeom>
        </p:spPr>
      </p:pic>
      <p:sp>
        <p:nvSpPr>
          <p:cNvPr id="21" name="Text 15"/>
          <p:cNvSpPr txBox="1"/>
          <p:nvPr/>
        </p:nvSpPr>
        <p:spPr>
          <a:xfrm>
            <a:off x="7589520" y="4718304"/>
            <a:ext cx="3931920" cy="130759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Early exit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A pass without swaps proves that the array is sorted.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BUBBLE SORT · PASS 1 IN DETAIL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Pass 1: 5 comparisons, 4 swaps — 47 bubbles to the end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Text 4"/>
          <p:cNvSpPr txBox="1"/>
          <p:nvPr/>
        </p:nvSpPr>
        <p:spPr>
          <a:xfrm>
            <a:off x="548640" y="1645920"/>
            <a:ext cx="12801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j = 0</a:t>
            </a:r>
            <a:endParaRPr lang="en-US" sz="1500" dirty="0"/>
          </a:p>
        </p:txBody>
      </p:sp>
      <p:sp>
        <p:nvSpPr>
          <p:cNvPr id="8" name="Shape 5"/>
          <p:cNvSpPr/>
          <p:nvPr/>
        </p:nvSpPr>
        <p:spPr>
          <a:xfrm>
            <a:off x="1828800" y="1645920"/>
            <a:ext cx="777240" cy="502920"/>
          </a:xfrm>
          <a:prstGeom prst="rect">
            <a:avLst/>
          </a:prstGeom>
          <a:solidFill>
            <a:srgbClr val="FFF1D6"/>
          </a:solidFill>
          <a:ln w="9525">
            <a:solidFill>
              <a:srgbClr val="8A94AB"/>
            </a:solidFill>
            <a:prstDash val="solid"/>
          </a:ln>
        </p:spPr>
      </p:sp>
      <p:sp>
        <p:nvSpPr>
          <p:cNvPr id="9" name="Text 6"/>
          <p:cNvSpPr txBox="1"/>
          <p:nvPr/>
        </p:nvSpPr>
        <p:spPr>
          <a:xfrm>
            <a:off x="182880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10" name="Shape 7"/>
          <p:cNvSpPr/>
          <p:nvPr/>
        </p:nvSpPr>
        <p:spPr>
          <a:xfrm>
            <a:off x="2606040" y="1645920"/>
            <a:ext cx="777240" cy="502920"/>
          </a:xfrm>
          <a:prstGeom prst="rect">
            <a:avLst/>
          </a:prstGeom>
          <a:solidFill>
            <a:srgbClr val="FFF1D6"/>
          </a:solidFill>
          <a:ln w="9525">
            <a:solidFill>
              <a:srgbClr val="8A94AB"/>
            </a:solidFill>
            <a:prstDash val="solid"/>
          </a:ln>
        </p:spPr>
      </p:sp>
      <p:sp>
        <p:nvSpPr>
          <p:cNvPr id="11" name="Text 8"/>
          <p:cNvSpPr txBox="1"/>
          <p:nvPr/>
        </p:nvSpPr>
        <p:spPr>
          <a:xfrm>
            <a:off x="260604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12" name="Shape 9"/>
          <p:cNvSpPr/>
          <p:nvPr/>
        </p:nvSpPr>
        <p:spPr>
          <a:xfrm>
            <a:off x="3383280" y="1645920"/>
            <a:ext cx="777240" cy="502920"/>
          </a:xfrm>
          <a:prstGeom prst="rect">
            <a:avLst/>
          </a:prstGeom>
          <a:solidFill>
            <a:srgbClr val="FFFFFF"/>
          </a:solidFill>
          <a:ln w="9525">
            <a:solidFill>
              <a:srgbClr val="8A94AB"/>
            </a:solidFill>
            <a:prstDash val="solid"/>
          </a:ln>
        </p:spPr>
      </p:sp>
      <p:sp>
        <p:nvSpPr>
          <p:cNvPr id="13" name="Text 10"/>
          <p:cNvSpPr txBox="1"/>
          <p:nvPr/>
        </p:nvSpPr>
        <p:spPr>
          <a:xfrm>
            <a:off x="338328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14" name="Shape 11"/>
          <p:cNvSpPr/>
          <p:nvPr/>
        </p:nvSpPr>
        <p:spPr>
          <a:xfrm>
            <a:off x="4160520" y="1645920"/>
            <a:ext cx="777240" cy="502920"/>
          </a:xfrm>
          <a:prstGeom prst="rect">
            <a:avLst/>
          </a:prstGeom>
          <a:solidFill>
            <a:srgbClr val="FFFFFF"/>
          </a:solidFill>
          <a:ln w="9525">
            <a:solidFill>
              <a:srgbClr val="8A94AB"/>
            </a:solidFill>
            <a:prstDash val="solid"/>
          </a:ln>
        </p:spPr>
      </p:sp>
      <p:sp>
        <p:nvSpPr>
          <p:cNvPr id="15" name="Text 12"/>
          <p:cNvSpPr txBox="1"/>
          <p:nvPr/>
        </p:nvSpPr>
        <p:spPr>
          <a:xfrm>
            <a:off x="416052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16" name="Shape 13"/>
          <p:cNvSpPr/>
          <p:nvPr/>
        </p:nvSpPr>
        <p:spPr>
          <a:xfrm>
            <a:off x="4937760" y="1645920"/>
            <a:ext cx="777240" cy="502920"/>
          </a:xfrm>
          <a:prstGeom prst="rect">
            <a:avLst/>
          </a:prstGeom>
          <a:solidFill>
            <a:srgbClr val="FFFFFF"/>
          </a:solidFill>
          <a:ln w="9525">
            <a:solidFill>
              <a:srgbClr val="8A94AB"/>
            </a:solidFill>
            <a:prstDash val="solid"/>
          </a:ln>
        </p:spPr>
      </p:sp>
      <p:sp>
        <p:nvSpPr>
          <p:cNvPr id="17" name="Text 14"/>
          <p:cNvSpPr txBox="1"/>
          <p:nvPr/>
        </p:nvSpPr>
        <p:spPr>
          <a:xfrm>
            <a:off x="493776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18" name="Shape 15"/>
          <p:cNvSpPr/>
          <p:nvPr/>
        </p:nvSpPr>
        <p:spPr>
          <a:xfrm>
            <a:off x="5715000" y="1645920"/>
            <a:ext cx="777240" cy="502920"/>
          </a:xfrm>
          <a:prstGeom prst="rect">
            <a:avLst/>
          </a:prstGeom>
          <a:solidFill>
            <a:srgbClr val="FFFFFF"/>
          </a:solidFill>
          <a:ln w="9525">
            <a:solidFill>
              <a:srgbClr val="8A94AB"/>
            </a:solidFill>
            <a:prstDash val="solid"/>
          </a:ln>
        </p:spPr>
      </p:sp>
      <p:sp>
        <p:nvSpPr>
          <p:cNvPr id="19" name="Text 16"/>
          <p:cNvSpPr txBox="1"/>
          <p:nvPr/>
        </p:nvSpPr>
        <p:spPr>
          <a:xfrm>
            <a:off x="571500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20" name="Text 17"/>
          <p:cNvSpPr txBox="1"/>
          <p:nvPr/>
        </p:nvSpPr>
        <p:spPr>
          <a:xfrm>
            <a:off x="6720840" y="1645920"/>
            <a:ext cx="4937760" cy="502920"/>
          </a:xfrm>
          <a:prstGeom prst="rect">
            <a:avLst/>
          </a:prstGeom>
          <a:noFill/>
          <a:ln/>
        </p:spPr>
        <p:txBody>
          <a:bodyPr wrap="square" lIns="0" tIns="0" rIns="0" bIns="0" rtlCol="0" anchor="ctr"/>
          <a:lstStyle/>
          <a:p>
            <a:pPr algn="l" indent="0" marL="0">
              <a:buNone/>
            </a:pPr>
            <a:r>
              <a:rPr lang="en-US" sz="1500" b="1" dirty="0">
                <a:solidFill>
                  <a:srgbClr val="B7791F"/>
                </a:solidFill>
                <a:latin typeface="Courier New" pitchFamily="34" charset="0"/>
                <a:ea typeface="Courier New" pitchFamily="34" charset="-122"/>
                <a:cs typeface="Courier New" pitchFamily="34" charset="-120"/>
              </a:rPr>
              <a:t>31 &gt; 12 ? yes → swap</a:t>
            </a:r>
            <a:endParaRPr lang="en-US" sz="1500" dirty="0"/>
          </a:p>
        </p:txBody>
      </p:sp>
      <p:sp>
        <p:nvSpPr>
          <p:cNvPr id="21" name="Text 18"/>
          <p:cNvSpPr txBox="1"/>
          <p:nvPr/>
        </p:nvSpPr>
        <p:spPr>
          <a:xfrm>
            <a:off x="548640" y="2359152"/>
            <a:ext cx="12801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j = 1</a:t>
            </a:r>
            <a:endParaRPr lang="en-US" sz="1500" dirty="0"/>
          </a:p>
        </p:txBody>
      </p:sp>
      <p:sp>
        <p:nvSpPr>
          <p:cNvPr id="22" name="Shape 19"/>
          <p:cNvSpPr/>
          <p:nvPr/>
        </p:nvSpPr>
        <p:spPr>
          <a:xfrm>
            <a:off x="1828800" y="2359152"/>
            <a:ext cx="777240" cy="502920"/>
          </a:xfrm>
          <a:prstGeom prst="rect">
            <a:avLst/>
          </a:prstGeom>
          <a:solidFill>
            <a:srgbClr val="FFFFFF"/>
          </a:solidFill>
          <a:ln w="9525">
            <a:solidFill>
              <a:srgbClr val="8A94AB"/>
            </a:solidFill>
            <a:prstDash val="solid"/>
          </a:ln>
        </p:spPr>
      </p:sp>
      <p:sp>
        <p:nvSpPr>
          <p:cNvPr id="23" name="Text 20"/>
          <p:cNvSpPr txBox="1"/>
          <p:nvPr/>
        </p:nvSpPr>
        <p:spPr>
          <a:xfrm>
            <a:off x="1828800" y="2359152"/>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24" name="Shape 21"/>
          <p:cNvSpPr/>
          <p:nvPr/>
        </p:nvSpPr>
        <p:spPr>
          <a:xfrm>
            <a:off x="2606040" y="2359152"/>
            <a:ext cx="777240" cy="502920"/>
          </a:xfrm>
          <a:prstGeom prst="rect">
            <a:avLst/>
          </a:prstGeom>
          <a:solidFill>
            <a:srgbClr val="FFF1D6"/>
          </a:solidFill>
          <a:ln w="9525">
            <a:solidFill>
              <a:srgbClr val="8A94AB"/>
            </a:solidFill>
            <a:prstDash val="solid"/>
          </a:ln>
        </p:spPr>
      </p:sp>
      <p:sp>
        <p:nvSpPr>
          <p:cNvPr id="25" name="Text 22"/>
          <p:cNvSpPr txBox="1"/>
          <p:nvPr/>
        </p:nvSpPr>
        <p:spPr>
          <a:xfrm>
            <a:off x="2606040" y="2359152"/>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26" name="Shape 23"/>
          <p:cNvSpPr/>
          <p:nvPr/>
        </p:nvSpPr>
        <p:spPr>
          <a:xfrm>
            <a:off x="3383280" y="2359152"/>
            <a:ext cx="777240" cy="502920"/>
          </a:xfrm>
          <a:prstGeom prst="rect">
            <a:avLst/>
          </a:prstGeom>
          <a:solidFill>
            <a:srgbClr val="FFF1D6"/>
          </a:solidFill>
          <a:ln w="9525">
            <a:solidFill>
              <a:srgbClr val="8A94AB"/>
            </a:solidFill>
            <a:prstDash val="solid"/>
          </a:ln>
        </p:spPr>
      </p:sp>
      <p:sp>
        <p:nvSpPr>
          <p:cNvPr id="27" name="Text 24"/>
          <p:cNvSpPr txBox="1"/>
          <p:nvPr/>
        </p:nvSpPr>
        <p:spPr>
          <a:xfrm>
            <a:off x="3383280" y="2359152"/>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28" name="Shape 25"/>
          <p:cNvSpPr/>
          <p:nvPr/>
        </p:nvSpPr>
        <p:spPr>
          <a:xfrm>
            <a:off x="4160520" y="2359152"/>
            <a:ext cx="777240" cy="502920"/>
          </a:xfrm>
          <a:prstGeom prst="rect">
            <a:avLst/>
          </a:prstGeom>
          <a:solidFill>
            <a:srgbClr val="FFFFFF"/>
          </a:solidFill>
          <a:ln w="9525">
            <a:solidFill>
              <a:srgbClr val="8A94AB"/>
            </a:solidFill>
            <a:prstDash val="solid"/>
          </a:ln>
        </p:spPr>
      </p:sp>
      <p:sp>
        <p:nvSpPr>
          <p:cNvPr id="29" name="Text 26"/>
          <p:cNvSpPr txBox="1"/>
          <p:nvPr/>
        </p:nvSpPr>
        <p:spPr>
          <a:xfrm>
            <a:off x="4160520" y="2359152"/>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30" name="Shape 27"/>
          <p:cNvSpPr/>
          <p:nvPr/>
        </p:nvSpPr>
        <p:spPr>
          <a:xfrm>
            <a:off x="4937760" y="2359152"/>
            <a:ext cx="777240" cy="502920"/>
          </a:xfrm>
          <a:prstGeom prst="rect">
            <a:avLst/>
          </a:prstGeom>
          <a:solidFill>
            <a:srgbClr val="FFFFFF"/>
          </a:solidFill>
          <a:ln w="9525">
            <a:solidFill>
              <a:srgbClr val="8A94AB"/>
            </a:solidFill>
            <a:prstDash val="solid"/>
          </a:ln>
        </p:spPr>
      </p:sp>
      <p:sp>
        <p:nvSpPr>
          <p:cNvPr id="31" name="Text 28"/>
          <p:cNvSpPr txBox="1"/>
          <p:nvPr/>
        </p:nvSpPr>
        <p:spPr>
          <a:xfrm>
            <a:off x="4937760" y="2359152"/>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32" name="Shape 29"/>
          <p:cNvSpPr/>
          <p:nvPr/>
        </p:nvSpPr>
        <p:spPr>
          <a:xfrm>
            <a:off x="5715000" y="2359152"/>
            <a:ext cx="777240" cy="502920"/>
          </a:xfrm>
          <a:prstGeom prst="rect">
            <a:avLst/>
          </a:prstGeom>
          <a:solidFill>
            <a:srgbClr val="FFFFFF"/>
          </a:solidFill>
          <a:ln w="9525">
            <a:solidFill>
              <a:srgbClr val="8A94AB"/>
            </a:solidFill>
            <a:prstDash val="solid"/>
          </a:ln>
        </p:spPr>
      </p:sp>
      <p:sp>
        <p:nvSpPr>
          <p:cNvPr id="33" name="Text 30"/>
          <p:cNvSpPr txBox="1"/>
          <p:nvPr/>
        </p:nvSpPr>
        <p:spPr>
          <a:xfrm>
            <a:off x="5715000" y="2359152"/>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34" name="Text 31"/>
          <p:cNvSpPr txBox="1"/>
          <p:nvPr/>
        </p:nvSpPr>
        <p:spPr>
          <a:xfrm>
            <a:off x="6720840" y="2359152"/>
            <a:ext cx="4937760" cy="502920"/>
          </a:xfrm>
          <a:prstGeom prst="rect">
            <a:avLst/>
          </a:prstGeom>
          <a:noFill/>
          <a:ln/>
        </p:spPr>
        <p:txBody>
          <a:bodyPr wrap="square" lIns="0" tIns="0" rIns="0" bIns="0" rtlCol="0" anchor="ctr"/>
          <a:lstStyle/>
          <a:p>
            <a:pPr algn="l" indent="0" marL="0">
              <a:buNone/>
            </a:pPr>
            <a:r>
              <a:rPr lang="en-US" sz="1500" b="1" dirty="0">
                <a:solidFill>
                  <a:srgbClr val="5B6478"/>
                </a:solidFill>
                <a:latin typeface="Courier New" pitchFamily="34" charset="0"/>
                <a:ea typeface="Courier New" pitchFamily="34" charset="-122"/>
                <a:cs typeface="Courier New" pitchFamily="34" charset="-120"/>
              </a:rPr>
              <a:t>31 &gt; 47 ? no → keep</a:t>
            </a:r>
            <a:endParaRPr lang="en-US" sz="1500" dirty="0"/>
          </a:p>
        </p:txBody>
      </p:sp>
      <p:sp>
        <p:nvSpPr>
          <p:cNvPr id="35" name="Text 32"/>
          <p:cNvSpPr txBox="1"/>
          <p:nvPr/>
        </p:nvSpPr>
        <p:spPr>
          <a:xfrm>
            <a:off x="548640" y="3072384"/>
            <a:ext cx="12801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j = 2</a:t>
            </a:r>
            <a:endParaRPr lang="en-US" sz="1500" dirty="0"/>
          </a:p>
        </p:txBody>
      </p:sp>
      <p:sp>
        <p:nvSpPr>
          <p:cNvPr id="36" name="Shape 33"/>
          <p:cNvSpPr/>
          <p:nvPr/>
        </p:nvSpPr>
        <p:spPr>
          <a:xfrm>
            <a:off x="1828800" y="3072384"/>
            <a:ext cx="777240" cy="502920"/>
          </a:xfrm>
          <a:prstGeom prst="rect">
            <a:avLst/>
          </a:prstGeom>
          <a:solidFill>
            <a:srgbClr val="FFFFFF"/>
          </a:solidFill>
          <a:ln w="9525">
            <a:solidFill>
              <a:srgbClr val="8A94AB"/>
            </a:solidFill>
            <a:prstDash val="solid"/>
          </a:ln>
        </p:spPr>
      </p:sp>
      <p:sp>
        <p:nvSpPr>
          <p:cNvPr id="37" name="Text 34"/>
          <p:cNvSpPr txBox="1"/>
          <p:nvPr/>
        </p:nvSpPr>
        <p:spPr>
          <a:xfrm>
            <a:off x="1828800" y="3072384"/>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38" name="Shape 35"/>
          <p:cNvSpPr/>
          <p:nvPr/>
        </p:nvSpPr>
        <p:spPr>
          <a:xfrm>
            <a:off x="2606040" y="3072384"/>
            <a:ext cx="777240" cy="502920"/>
          </a:xfrm>
          <a:prstGeom prst="rect">
            <a:avLst/>
          </a:prstGeom>
          <a:solidFill>
            <a:srgbClr val="FFFFFF"/>
          </a:solidFill>
          <a:ln w="9525">
            <a:solidFill>
              <a:srgbClr val="8A94AB"/>
            </a:solidFill>
            <a:prstDash val="solid"/>
          </a:ln>
        </p:spPr>
      </p:sp>
      <p:sp>
        <p:nvSpPr>
          <p:cNvPr id="39" name="Text 36"/>
          <p:cNvSpPr txBox="1"/>
          <p:nvPr/>
        </p:nvSpPr>
        <p:spPr>
          <a:xfrm>
            <a:off x="2606040" y="3072384"/>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40" name="Shape 37"/>
          <p:cNvSpPr/>
          <p:nvPr/>
        </p:nvSpPr>
        <p:spPr>
          <a:xfrm>
            <a:off x="3383280" y="3072384"/>
            <a:ext cx="777240" cy="502920"/>
          </a:xfrm>
          <a:prstGeom prst="rect">
            <a:avLst/>
          </a:prstGeom>
          <a:solidFill>
            <a:srgbClr val="FFF1D6"/>
          </a:solidFill>
          <a:ln w="9525">
            <a:solidFill>
              <a:srgbClr val="8A94AB"/>
            </a:solidFill>
            <a:prstDash val="solid"/>
          </a:ln>
        </p:spPr>
      </p:sp>
      <p:sp>
        <p:nvSpPr>
          <p:cNvPr id="41" name="Text 38"/>
          <p:cNvSpPr txBox="1"/>
          <p:nvPr/>
        </p:nvSpPr>
        <p:spPr>
          <a:xfrm>
            <a:off x="3383280" y="3072384"/>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42" name="Shape 39"/>
          <p:cNvSpPr/>
          <p:nvPr/>
        </p:nvSpPr>
        <p:spPr>
          <a:xfrm>
            <a:off x="4160520" y="3072384"/>
            <a:ext cx="777240" cy="502920"/>
          </a:xfrm>
          <a:prstGeom prst="rect">
            <a:avLst/>
          </a:prstGeom>
          <a:solidFill>
            <a:srgbClr val="FFF1D6"/>
          </a:solidFill>
          <a:ln w="9525">
            <a:solidFill>
              <a:srgbClr val="8A94AB"/>
            </a:solidFill>
            <a:prstDash val="solid"/>
          </a:ln>
        </p:spPr>
      </p:sp>
      <p:sp>
        <p:nvSpPr>
          <p:cNvPr id="43" name="Text 40"/>
          <p:cNvSpPr txBox="1"/>
          <p:nvPr/>
        </p:nvSpPr>
        <p:spPr>
          <a:xfrm>
            <a:off x="4160520" y="3072384"/>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44" name="Shape 41"/>
          <p:cNvSpPr/>
          <p:nvPr/>
        </p:nvSpPr>
        <p:spPr>
          <a:xfrm>
            <a:off x="4937760" y="3072384"/>
            <a:ext cx="777240" cy="502920"/>
          </a:xfrm>
          <a:prstGeom prst="rect">
            <a:avLst/>
          </a:prstGeom>
          <a:solidFill>
            <a:srgbClr val="FFFFFF"/>
          </a:solidFill>
          <a:ln w="9525">
            <a:solidFill>
              <a:srgbClr val="8A94AB"/>
            </a:solidFill>
            <a:prstDash val="solid"/>
          </a:ln>
        </p:spPr>
      </p:sp>
      <p:sp>
        <p:nvSpPr>
          <p:cNvPr id="45" name="Text 42"/>
          <p:cNvSpPr txBox="1"/>
          <p:nvPr/>
        </p:nvSpPr>
        <p:spPr>
          <a:xfrm>
            <a:off x="4937760" y="3072384"/>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46" name="Shape 43"/>
          <p:cNvSpPr/>
          <p:nvPr/>
        </p:nvSpPr>
        <p:spPr>
          <a:xfrm>
            <a:off x="5715000" y="3072384"/>
            <a:ext cx="777240" cy="502920"/>
          </a:xfrm>
          <a:prstGeom prst="rect">
            <a:avLst/>
          </a:prstGeom>
          <a:solidFill>
            <a:srgbClr val="FFFFFF"/>
          </a:solidFill>
          <a:ln w="9525">
            <a:solidFill>
              <a:srgbClr val="8A94AB"/>
            </a:solidFill>
            <a:prstDash val="solid"/>
          </a:ln>
        </p:spPr>
      </p:sp>
      <p:sp>
        <p:nvSpPr>
          <p:cNvPr id="47" name="Text 44"/>
          <p:cNvSpPr txBox="1"/>
          <p:nvPr/>
        </p:nvSpPr>
        <p:spPr>
          <a:xfrm>
            <a:off x="5715000" y="3072384"/>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48" name="Text 45"/>
          <p:cNvSpPr txBox="1"/>
          <p:nvPr/>
        </p:nvSpPr>
        <p:spPr>
          <a:xfrm>
            <a:off x="6720840" y="3072384"/>
            <a:ext cx="4937760" cy="502920"/>
          </a:xfrm>
          <a:prstGeom prst="rect">
            <a:avLst/>
          </a:prstGeom>
          <a:noFill/>
          <a:ln/>
        </p:spPr>
        <p:txBody>
          <a:bodyPr wrap="square" lIns="0" tIns="0" rIns="0" bIns="0" rtlCol="0" anchor="ctr"/>
          <a:lstStyle/>
          <a:p>
            <a:pPr algn="l" indent="0" marL="0">
              <a:buNone/>
            </a:pPr>
            <a:r>
              <a:rPr lang="en-US" sz="1500" b="1" dirty="0">
                <a:solidFill>
                  <a:srgbClr val="B7791F"/>
                </a:solidFill>
                <a:latin typeface="Courier New" pitchFamily="34" charset="0"/>
                <a:ea typeface="Courier New" pitchFamily="34" charset="-122"/>
                <a:cs typeface="Courier New" pitchFamily="34" charset="-120"/>
              </a:rPr>
              <a:t>47 &gt; 8 ? yes → swap</a:t>
            </a:r>
            <a:endParaRPr lang="en-US" sz="1500" dirty="0"/>
          </a:p>
        </p:txBody>
      </p:sp>
      <p:sp>
        <p:nvSpPr>
          <p:cNvPr id="49" name="Text 46"/>
          <p:cNvSpPr txBox="1"/>
          <p:nvPr/>
        </p:nvSpPr>
        <p:spPr>
          <a:xfrm>
            <a:off x="548640" y="3785616"/>
            <a:ext cx="12801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j = 3</a:t>
            </a:r>
            <a:endParaRPr lang="en-US" sz="1500" dirty="0"/>
          </a:p>
        </p:txBody>
      </p:sp>
      <p:sp>
        <p:nvSpPr>
          <p:cNvPr id="50" name="Shape 47"/>
          <p:cNvSpPr/>
          <p:nvPr/>
        </p:nvSpPr>
        <p:spPr>
          <a:xfrm>
            <a:off x="1828800" y="3785616"/>
            <a:ext cx="777240" cy="502920"/>
          </a:xfrm>
          <a:prstGeom prst="rect">
            <a:avLst/>
          </a:prstGeom>
          <a:solidFill>
            <a:srgbClr val="FFFFFF"/>
          </a:solidFill>
          <a:ln w="9525">
            <a:solidFill>
              <a:srgbClr val="8A94AB"/>
            </a:solidFill>
            <a:prstDash val="solid"/>
          </a:ln>
        </p:spPr>
      </p:sp>
      <p:sp>
        <p:nvSpPr>
          <p:cNvPr id="51" name="Text 48"/>
          <p:cNvSpPr txBox="1"/>
          <p:nvPr/>
        </p:nvSpPr>
        <p:spPr>
          <a:xfrm>
            <a:off x="1828800" y="3785616"/>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52" name="Shape 49"/>
          <p:cNvSpPr/>
          <p:nvPr/>
        </p:nvSpPr>
        <p:spPr>
          <a:xfrm>
            <a:off x="2606040" y="3785616"/>
            <a:ext cx="777240" cy="502920"/>
          </a:xfrm>
          <a:prstGeom prst="rect">
            <a:avLst/>
          </a:prstGeom>
          <a:solidFill>
            <a:srgbClr val="FFFFFF"/>
          </a:solidFill>
          <a:ln w="9525">
            <a:solidFill>
              <a:srgbClr val="8A94AB"/>
            </a:solidFill>
            <a:prstDash val="solid"/>
          </a:ln>
        </p:spPr>
      </p:sp>
      <p:sp>
        <p:nvSpPr>
          <p:cNvPr id="53" name="Text 50"/>
          <p:cNvSpPr txBox="1"/>
          <p:nvPr/>
        </p:nvSpPr>
        <p:spPr>
          <a:xfrm>
            <a:off x="2606040" y="3785616"/>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54" name="Shape 51"/>
          <p:cNvSpPr/>
          <p:nvPr/>
        </p:nvSpPr>
        <p:spPr>
          <a:xfrm>
            <a:off x="3383280" y="3785616"/>
            <a:ext cx="777240" cy="502920"/>
          </a:xfrm>
          <a:prstGeom prst="rect">
            <a:avLst/>
          </a:prstGeom>
          <a:solidFill>
            <a:srgbClr val="FFFFFF"/>
          </a:solidFill>
          <a:ln w="9525">
            <a:solidFill>
              <a:srgbClr val="8A94AB"/>
            </a:solidFill>
            <a:prstDash val="solid"/>
          </a:ln>
        </p:spPr>
      </p:sp>
      <p:sp>
        <p:nvSpPr>
          <p:cNvPr id="55" name="Text 52"/>
          <p:cNvSpPr txBox="1"/>
          <p:nvPr/>
        </p:nvSpPr>
        <p:spPr>
          <a:xfrm>
            <a:off x="3383280" y="3785616"/>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56" name="Shape 53"/>
          <p:cNvSpPr/>
          <p:nvPr/>
        </p:nvSpPr>
        <p:spPr>
          <a:xfrm>
            <a:off x="4160520" y="3785616"/>
            <a:ext cx="777240" cy="502920"/>
          </a:xfrm>
          <a:prstGeom prst="rect">
            <a:avLst/>
          </a:prstGeom>
          <a:solidFill>
            <a:srgbClr val="FFF1D6"/>
          </a:solidFill>
          <a:ln w="9525">
            <a:solidFill>
              <a:srgbClr val="8A94AB"/>
            </a:solidFill>
            <a:prstDash val="solid"/>
          </a:ln>
        </p:spPr>
      </p:sp>
      <p:sp>
        <p:nvSpPr>
          <p:cNvPr id="57" name="Text 54"/>
          <p:cNvSpPr txBox="1"/>
          <p:nvPr/>
        </p:nvSpPr>
        <p:spPr>
          <a:xfrm>
            <a:off x="4160520" y="3785616"/>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58" name="Shape 55"/>
          <p:cNvSpPr/>
          <p:nvPr/>
        </p:nvSpPr>
        <p:spPr>
          <a:xfrm>
            <a:off x="4937760" y="3785616"/>
            <a:ext cx="777240" cy="502920"/>
          </a:xfrm>
          <a:prstGeom prst="rect">
            <a:avLst/>
          </a:prstGeom>
          <a:solidFill>
            <a:srgbClr val="FFF1D6"/>
          </a:solidFill>
          <a:ln w="9525">
            <a:solidFill>
              <a:srgbClr val="8A94AB"/>
            </a:solidFill>
            <a:prstDash val="solid"/>
          </a:ln>
        </p:spPr>
      </p:sp>
      <p:sp>
        <p:nvSpPr>
          <p:cNvPr id="59" name="Text 56"/>
          <p:cNvSpPr txBox="1"/>
          <p:nvPr/>
        </p:nvSpPr>
        <p:spPr>
          <a:xfrm>
            <a:off x="4937760" y="3785616"/>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60" name="Shape 57"/>
          <p:cNvSpPr/>
          <p:nvPr/>
        </p:nvSpPr>
        <p:spPr>
          <a:xfrm>
            <a:off x="5715000" y="3785616"/>
            <a:ext cx="777240" cy="502920"/>
          </a:xfrm>
          <a:prstGeom prst="rect">
            <a:avLst/>
          </a:prstGeom>
          <a:solidFill>
            <a:srgbClr val="FFFFFF"/>
          </a:solidFill>
          <a:ln w="9525">
            <a:solidFill>
              <a:srgbClr val="8A94AB"/>
            </a:solidFill>
            <a:prstDash val="solid"/>
          </a:ln>
        </p:spPr>
      </p:sp>
      <p:sp>
        <p:nvSpPr>
          <p:cNvPr id="61" name="Text 58"/>
          <p:cNvSpPr txBox="1"/>
          <p:nvPr/>
        </p:nvSpPr>
        <p:spPr>
          <a:xfrm>
            <a:off x="5715000" y="3785616"/>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62" name="Text 59"/>
          <p:cNvSpPr txBox="1"/>
          <p:nvPr/>
        </p:nvSpPr>
        <p:spPr>
          <a:xfrm>
            <a:off x="6720840" y="3785616"/>
            <a:ext cx="4937760" cy="502920"/>
          </a:xfrm>
          <a:prstGeom prst="rect">
            <a:avLst/>
          </a:prstGeom>
          <a:noFill/>
          <a:ln/>
        </p:spPr>
        <p:txBody>
          <a:bodyPr wrap="square" lIns="0" tIns="0" rIns="0" bIns="0" rtlCol="0" anchor="ctr"/>
          <a:lstStyle/>
          <a:p>
            <a:pPr algn="l" indent="0" marL="0">
              <a:buNone/>
            </a:pPr>
            <a:r>
              <a:rPr lang="en-US" sz="1500" b="1" dirty="0">
                <a:solidFill>
                  <a:srgbClr val="B7791F"/>
                </a:solidFill>
                <a:latin typeface="Courier New" pitchFamily="34" charset="0"/>
                <a:ea typeface="Courier New" pitchFamily="34" charset="-122"/>
                <a:cs typeface="Courier New" pitchFamily="34" charset="-120"/>
              </a:rPr>
              <a:t>47 &gt; 25 ? yes → swap</a:t>
            </a:r>
            <a:endParaRPr lang="en-US" sz="1500" dirty="0"/>
          </a:p>
        </p:txBody>
      </p:sp>
      <p:sp>
        <p:nvSpPr>
          <p:cNvPr id="63" name="Text 60"/>
          <p:cNvSpPr txBox="1"/>
          <p:nvPr/>
        </p:nvSpPr>
        <p:spPr>
          <a:xfrm>
            <a:off x="548640" y="4498848"/>
            <a:ext cx="12801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j = 4</a:t>
            </a:r>
            <a:endParaRPr lang="en-US" sz="1500" dirty="0"/>
          </a:p>
        </p:txBody>
      </p:sp>
      <p:sp>
        <p:nvSpPr>
          <p:cNvPr id="64" name="Shape 61"/>
          <p:cNvSpPr/>
          <p:nvPr/>
        </p:nvSpPr>
        <p:spPr>
          <a:xfrm>
            <a:off x="1828800" y="4498848"/>
            <a:ext cx="777240" cy="502920"/>
          </a:xfrm>
          <a:prstGeom prst="rect">
            <a:avLst/>
          </a:prstGeom>
          <a:solidFill>
            <a:srgbClr val="FFFFFF"/>
          </a:solidFill>
          <a:ln w="9525">
            <a:solidFill>
              <a:srgbClr val="8A94AB"/>
            </a:solidFill>
            <a:prstDash val="solid"/>
          </a:ln>
        </p:spPr>
      </p:sp>
      <p:sp>
        <p:nvSpPr>
          <p:cNvPr id="65" name="Text 62"/>
          <p:cNvSpPr txBox="1"/>
          <p:nvPr/>
        </p:nvSpPr>
        <p:spPr>
          <a:xfrm>
            <a:off x="1828800" y="4498848"/>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66" name="Shape 63"/>
          <p:cNvSpPr/>
          <p:nvPr/>
        </p:nvSpPr>
        <p:spPr>
          <a:xfrm>
            <a:off x="2606040" y="4498848"/>
            <a:ext cx="777240" cy="502920"/>
          </a:xfrm>
          <a:prstGeom prst="rect">
            <a:avLst/>
          </a:prstGeom>
          <a:solidFill>
            <a:srgbClr val="FFFFFF"/>
          </a:solidFill>
          <a:ln w="9525">
            <a:solidFill>
              <a:srgbClr val="8A94AB"/>
            </a:solidFill>
            <a:prstDash val="solid"/>
          </a:ln>
        </p:spPr>
      </p:sp>
      <p:sp>
        <p:nvSpPr>
          <p:cNvPr id="67" name="Text 64"/>
          <p:cNvSpPr txBox="1"/>
          <p:nvPr/>
        </p:nvSpPr>
        <p:spPr>
          <a:xfrm>
            <a:off x="2606040" y="4498848"/>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68" name="Shape 65"/>
          <p:cNvSpPr/>
          <p:nvPr/>
        </p:nvSpPr>
        <p:spPr>
          <a:xfrm>
            <a:off x="3383280" y="4498848"/>
            <a:ext cx="777240" cy="502920"/>
          </a:xfrm>
          <a:prstGeom prst="rect">
            <a:avLst/>
          </a:prstGeom>
          <a:solidFill>
            <a:srgbClr val="FFFFFF"/>
          </a:solidFill>
          <a:ln w="9525">
            <a:solidFill>
              <a:srgbClr val="8A94AB"/>
            </a:solidFill>
            <a:prstDash val="solid"/>
          </a:ln>
        </p:spPr>
      </p:sp>
      <p:sp>
        <p:nvSpPr>
          <p:cNvPr id="69" name="Text 66"/>
          <p:cNvSpPr txBox="1"/>
          <p:nvPr/>
        </p:nvSpPr>
        <p:spPr>
          <a:xfrm>
            <a:off x="3383280" y="4498848"/>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70" name="Shape 67"/>
          <p:cNvSpPr/>
          <p:nvPr/>
        </p:nvSpPr>
        <p:spPr>
          <a:xfrm>
            <a:off x="4160520" y="4498848"/>
            <a:ext cx="777240" cy="502920"/>
          </a:xfrm>
          <a:prstGeom prst="rect">
            <a:avLst/>
          </a:prstGeom>
          <a:solidFill>
            <a:srgbClr val="FFFFFF"/>
          </a:solidFill>
          <a:ln w="9525">
            <a:solidFill>
              <a:srgbClr val="8A94AB"/>
            </a:solidFill>
            <a:prstDash val="solid"/>
          </a:ln>
        </p:spPr>
      </p:sp>
      <p:sp>
        <p:nvSpPr>
          <p:cNvPr id="71" name="Text 68"/>
          <p:cNvSpPr txBox="1"/>
          <p:nvPr/>
        </p:nvSpPr>
        <p:spPr>
          <a:xfrm>
            <a:off x="4160520" y="4498848"/>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72" name="Shape 69"/>
          <p:cNvSpPr/>
          <p:nvPr/>
        </p:nvSpPr>
        <p:spPr>
          <a:xfrm>
            <a:off x="4937760" y="4498848"/>
            <a:ext cx="777240" cy="502920"/>
          </a:xfrm>
          <a:prstGeom prst="rect">
            <a:avLst/>
          </a:prstGeom>
          <a:solidFill>
            <a:srgbClr val="FFF1D6"/>
          </a:solidFill>
          <a:ln w="9525">
            <a:solidFill>
              <a:srgbClr val="8A94AB"/>
            </a:solidFill>
            <a:prstDash val="solid"/>
          </a:ln>
        </p:spPr>
      </p:sp>
      <p:sp>
        <p:nvSpPr>
          <p:cNvPr id="73" name="Text 70"/>
          <p:cNvSpPr txBox="1"/>
          <p:nvPr/>
        </p:nvSpPr>
        <p:spPr>
          <a:xfrm>
            <a:off x="4937760" y="4498848"/>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74" name="Shape 71"/>
          <p:cNvSpPr/>
          <p:nvPr/>
        </p:nvSpPr>
        <p:spPr>
          <a:xfrm>
            <a:off x="5715000" y="4498848"/>
            <a:ext cx="777240" cy="502920"/>
          </a:xfrm>
          <a:prstGeom prst="rect">
            <a:avLst/>
          </a:prstGeom>
          <a:solidFill>
            <a:srgbClr val="FFF1D6"/>
          </a:solidFill>
          <a:ln w="9525">
            <a:solidFill>
              <a:srgbClr val="8A94AB"/>
            </a:solidFill>
            <a:prstDash val="solid"/>
          </a:ln>
        </p:spPr>
      </p:sp>
      <p:sp>
        <p:nvSpPr>
          <p:cNvPr id="75" name="Text 72"/>
          <p:cNvSpPr txBox="1"/>
          <p:nvPr/>
        </p:nvSpPr>
        <p:spPr>
          <a:xfrm>
            <a:off x="5715000" y="4498848"/>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76" name="Text 73"/>
          <p:cNvSpPr txBox="1"/>
          <p:nvPr/>
        </p:nvSpPr>
        <p:spPr>
          <a:xfrm>
            <a:off x="6720840" y="4498848"/>
            <a:ext cx="4937760" cy="502920"/>
          </a:xfrm>
          <a:prstGeom prst="rect">
            <a:avLst/>
          </a:prstGeom>
          <a:noFill/>
          <a:ln/>
        </p:spPr>
        <p:txBody>
          <a:bodyPr wrap="square" lIns="0" tIns="0" rIns="0" bIns="0" rtlCol="0" anchor="ctr"/>
          <a:lstStyle/>
          <a:p>
            <a:pPr algn="l" indent="0" marL="0">
              <a:buNone/>
            </a:pPr>
            <a:r>
              <a:rPr lang="en-US" sz="1500" b="1" dirty="0">
                <a:solidFill>
                  <a:srgbClr val="B7791F"/>
                </a:solidFill>
                <a:latin typeface="Courier New" pitchFamily="34" charset="0"/>
                <a:ea typeface="Courier New" pitchFamily="34" charset="-122"/>
                <a:cs typeface="Courier New" pitchFamily="34" charset="-120"/>
              </a:rPr>
              <a:t>47 &gt; 19 ? yes → swap</a:t>
            </a:r>
            <a:endParaRPr lang="en-US" sz="1500" dirty="0"/>
          </a:p>
        </p:txBody>
      </p:sp>
      <p:sp>
        <p:nvSpPr>
          <p:cNvPr id="77" name="Text 74"/>
          <p:cNvSpPr txBox="1"/>
          <p:nvPr/>
        </p:nvSpPr>
        <p:spPr>
          <a:xfrm>
            <a:off x="548640" y="5212080"/>
            <a:ext cx="128016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after</a:t>
            </a:r>
            <a:endParaRPr lang="en-US" sz="1500" dirty="0"/>
          </a:p>
        </p:txBody>
      </p:sp>
      <p:sp>
        <p:nvSpPr>
          <p:cNvPr id="78" name="Shape 75"/>
          <p:cNvSpPr/>
          <p:nvPr/>
        </p:nvSpPr>
        <p:spPr>
          <a:xfrm>
            <a:off x="1828800" y="5212080"/>
            <a:ext cx="777240" cy="502920"/>
          </a:xfrm>
          <a:prstGeom prst="rect">
            <a:avLst/>
          </a:prstGeom>
          <a:solidFill>
            <a:srgbClr val="FFFFFF"/>
          </a:solidFill>
          <a:ln w="9525">
            <a:solidFill>
              <a:srgbClr val="8A94AB"/>
            </a:solidFill>
            <a:prstDash val="solid"/>
          </a:ln>
        </p:spPr>
      </p:sp>
      <p:sp>
        <p:nvSpPr>
          <p:cNvPr id="79" name="Text 76"/>
          <p:cNvSpPr txBox="1"/>
          <p:nvPr/>
        </p:nvSpPr>
        <p:spPr>
          <a:xfrm>
            <a:off x="1828800" y="52120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80" name="Shape 77"/>
          <p:cNvSpPr/>
          <p:nvPr/>
        </p:nvSpPr>
        <p:spPr>
          <a:xfrm>
            <a:off x="2606040" y="5212080"/>
            <a:ext cx="777240" cy="502920"/>
          </a:xfrm>
          <a:prstGeom prst="rect">
            <a:avLst/>
          </a:prstGeom>
          <a:solidFill>
            <a:srgbClr val="FFFFFF"/>
          </a:solidFill>
          <a:ln w="9525">
            <a:solidFill>
              <a:srgbClr val="8A94AB"/>
            </a:solidFill>
            <a:prstDash val="solid"/>
          </a:ln>
        </p:spPr>
      </p:sp>
      <p:sp>
        <p:nvSpPr>
          <p:cNvPr id="81" name="Text 78"/>
          <p:cNvSpPr txBox="1"/>
          <p:nvPr/>
        </p:nvSpPr>
        <p:spPr>
          <a:xfrm>
            <a:off x="2606040" y="52120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82" name="Shape 79"/>
          <p:cNvSpPr/>
          <p:nvPr/>
        </p:nvSpPr>
        <p:spPr>
          <a:xfrm>
            <a:off x="3383280" y="5212080"/>
            <a:ext cx="777240" cy="502920"/>
          </a:xfrm>
          <a:prstGeom prst="rect">
            <a:avLst/>
          </a:prstGeom>
          <a:solidFill>
            <a:srgbClr val="FFFFFF"/>
          </a:solidFill>
          <a:ln w="9525">
            <a:solidFill>
              <a:srgbClr val="8A94AB"/>
            </a:solidFill>
            <a:prstDash val="solid"/>
          </a:ln>
        </p:spPr>
      </p:sp>
      <p:sp>
        <p:nvSpPr>
          <p:cNvPr id="83" name="Text 80"/>
          <p:cNvSpPr txBox="1"/>
          <p:nvPr/>
        </p:nvSpPr>
        <p:spPr>
          <a:xfrm>
            <a:off x="3383280" y="52120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84" name="Shape 81"/>
          <p:cNvSpPr/>
          <p:nvPr/>
        </p:nvSpPr>
        <p:spPr>
          <a:xfrm>
            <a:off x="4160520" y="5212080"/>
            <a:ext cx="777240" cy="502920"/>
          </a:xfrm>
          <a:prstGeom prst="rect">
            <a:avLst/>
          </a:prstGeom>
          <a:solidFill>
            <a:srgbClr val="FFFFFF"/>
          </a:solidFill>
          <a:ln w="9525">
            <a:solidFill>
              <a:srgbClr val="8A94AB"/>
            </a:solidFill>
            <a:prstDash val="solid"/>
          </a:ln>
        </p:spPr>
      </p:sp>
      <p:sp>
        <p:nvSpPr>
          <p:cNvPr id="85" name="Text 82"/>
          <p:cNvSpPr txBox="1"/>
          <p:nvPr/>
        </p:nvSpPr>
        <p:spPr>
          <a:xfrm>
            <a:off x="4160520" y="52120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86" name="Shape 83"/>
          <p:cNvSpPr/>
          <p:nvPr/>
        </p:nvSpPr>
        <p:spPr>
          <a:xfrm>
            <a:off x="4937760" y="5212080"/>
            <a:ext cx="777240" cy="502920"/>
          </a:xfrm>
          <a:prstGeom prst="rect">
            <a:avLst/>
          </a:prstGeom>
          <a:solidFill>
            <a:srgbClr val="FFFFFF"/>
          </a:solidFill>
          <a:ln w="9525">
            <a:solidFill>
              <a:srgbClr val="8A94AB"/>
            </a:solidFill>
            <a:prstDash val="solid"/>
          </a:ln>
        </p:spPr>
      </p:sp>
      <p:sp>
        <p:nvSpPr>
          <p:cNvPr id="87" name="Text 84"/>
          <p:cNvSpPr txBox="1"/>
          <p:nvPr/>
        </p:nvSpPr>
        <p:spPr>
          <a:xfrm>
            <a:off x="4937760" y="52120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88" name="Shape 85"/>
          <p:cNvSpPr/>
          <p:nvPr/>
        </p:nvSpPr>
        <p:spPr>
          <a:xfrm>
            <a:off x="5715000" y="5212080"/>
            <a:ext cx="777240" cy="502920"/>
          </a:xfrm>
          <a:prstGeom prst="rect">
            <a:avLst/>
          </a:prstGeom>
          <a:solidFill>
            <a:srgbClr val="E6F4EC"/>
          </a:solidFill>
          <a:ln w="9525">
            <a:solidFill>
              <a:srgbClr val="8A94AB"/>
            </a:solidFill>
            <a:prstDash val="solid"/>
          </a:ln>
        </p:spPr>
      </p:sp>
      <p:sp>
        <p:nvSpPr>
          <p:cNvPr id="89" name="Text 86"/>
          <p:cNvSpPr txBox="1"/>
          <p:nvPr/>
        </p:nvSpPr>
        <p:spPr>
          <a:xfrm>
            <a:off x="5715000" y="52120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90" name="Text 87"/>
          <p:cNvSpPr txBox="1"/>
          <p:nvPr/>
        </p:nvSpPr>
        <p:spPr>
          <a:xfrm>
            <a:off x="6720840" y="5212080"/>
            <a:ext cx="4937760" cy="502920"/>
          </a:xfrm>
          <a:prstGeom prst="rect">
            <a:avLst/>
          </a:prstGeom>
          <a:noFill/>
          <a:ln/>
        </p:spPr>
        <p:txBody>
          <a:bodyPr wrap="square" lIns="0" tIns="0" rIns="0" bIns="0" rtlCol="0" anchor="ctr"/>
          <a:lstStyle/>
          <a:p>
            <a:pPr algn="l" indent="0" marL="0">
              <a:buNone/>
            </a:pPr>
            <a:r>
              <a:rPr lang="en-US" sz="1500" b="1" dirty="0">
                <a:solidFill>
                  <a:srgbClr val="1F7A50"/>
                </a:solidFill>
                <a:latin typeface="Courier New" pitchFamily="34" charset="0"/>
                <a:ea typeface="Courier New" pitchFamily="34" charset="-122"/>
                <a:cs typeface="Courier New" pitchFamily="34" charset="-120"/>
              </a:rPr>
              <a:t>Pass 1: 12 31 8 25 19 47</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BUBBLE SORT · PASS BY PASS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sorted tail grows from the right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Text 4"/>
          <p:cNvSpPr txBox="1"/>
          <p:nvPr/>
        </p:nvSpPr>
        <p:spPr>
          <a:xfrm>
            <a:off x="548640" y="1645920"/>
            <a:ext cx="146304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Start</a:t>
            </a:r>
            <a:endParaRPr lang="en-US" sz="1500" dirty="0"/>
          </a:p>
        </p:txBody>
      </p:sp>
      <p:sp>
        <p:nvSpPr>
          <p:cNvPr id="8" name="Shape 5"/>
          <p:cNvSpPr/>
          <p:nvPr/>
        </p:nvSpPr>
        <p:spPr>
          <a:xfrm>
            <a:off x="2011680" y="1645920"/>
            <a:ext cx="777240" cy="502920"/>
          </a:xfrm>
          <a:prstGeom prst="rect">
            <a:avLst/>
          </a:prstGeom>
          <a:solidFill>
            <a:srgbClr val="FFFFFF"/>
          </a:solidFill>
          <a:ln w="9525">
            <a:solidFill>
              <a:srgbClr val="8A94AB"/>
            </a:solidFill>
            <a:prstDash val="solid"/>
          </a:ln>
        </p:spPr>
      </p:sp>
      <p:sp>
        <p:nvSpPr>
          <p:cNvPr id="9" name="Text 6"/>
          <p:cNvSpPr txBox="1"/>
          <p:nvPr/>
        </p:nvSpPr>
        <p:spPr>
          <a:xfrm>
            <a:off x="201168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10" name="Shape 7"/>
          <p:cNvSpPr/>
          <p:nvPr/>
        </p:nvSpPr>
        <p:spPr>
          <a:xfrm>
            <a:off x="2788920" y="1645920"/>
            <a:ext cx="777240" cy="502920"/>
          </a:xfrm>
          <a:prstGeom prst="rect">
            <a:avLst/>
          </a:prstGeom>
          <a:solidFill>
            <a:srgbClr val="FFFFFF"/>
          </a:solidFill>
          <a:ln w="9525">
            <a:solidFill>
              <a:srgbClr val="8A94AB"/>
            </a:solidFill>
            <a:prstDash val="solid"/>
          </a:ln>
        </p:spPr>
      </p:sp>
      <p:sp>
        <p:nvSpPr>
          <p:cNvPr id="11" name="Text 8"/>
          <p:cNvSpPr txBox="1"/>
          <p:nvPr/>
        </p:nvSpPr>
        <p:spPr>
          <a:xfrm>
            <a:off x="278892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12" name="Shape 9"/>
          <p:cNvSpPr/>
          <p:nvPr/>
        </p:nvSpPr>
        <p:spPr>
          <a:xfrm>
            <a:off x="3566160" y="1645920"/>
            <a:ext cx="777240" cy="502920"/>
          </a:xfrm>
          <a:prstGeom prst="rect">
            <a:avLst/>
          </a:prstGeom>
          <a:solidFill>
            <a:srgbClr val="FFFFFF"/>
          </a:solidFill>
          <a:ln w="9525">
            <a:solidFill>
              <a:srgbClr val="8A94AB"/>
            </a:solidFill>
            <a:prstDash val="solid"/>
          </a:ln>
        </p:spPr>
      </p:sp>
      <p:sp>
        <p:nvSpPr>
          <p:cNvPr id="13" name="Text 10"/>
          <p:cNvSpPr txBox="1"/>
          <p:nvPr/>
        </p:nvSpPr>
        <p:spPr>
          <a:xfrm>
            <a:off x="356616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14" name="Shape 11"/>
          <p:cNvSpPr/>
          <p:nvPr/>
        </p:nvSpPr>
        <p:spPr>
          <a:xfrm>
            <a:off x="4343400" y="1645920"/>
            <a:ext cx="777240" cy="502920"/>
          </a:xfrm>
          <a:prstGeom prst="rect">
            <a:avLst/>
          </a:prstGeom>
          <a:solidFill>
            <a:srgbClr val="FFFFFF"/>
          </a:solidFill>
          <a:ln w="9525">
            <a:solidFill>
              <a:srgbClr val="8A94AB"/>
            </a:solidFill>
            <a:prstDash val="solid"/>
          </a:ln>
        </p:spPr>
      </p:sp>
      <p:sp>
        <p:nvSpPr>
          <p:cNvPr id="15" name="Text 12"/>
          <p:cNvSpPr txBox="1"/>
          <p:nvPr/>
        </p:nvSpPr>
        <p:spPr>
          <a:xfrm>
            <a:off x="434340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16" name="Shape 13"/>
          <p:cNvSpPr/>
          <p:nvPr/>
        </p:nvSpPr>
        <p:spPr>
          <a:xfrm>
            <a:off x="5120640" y="1645920"/>
            <a:ext cx="777240" cy="502920"/>
          </a:xfrm>
          <a:prstGeom prst="rect">
            <a:avLst/>
          </a:prstGeom>
          <a:solidFill>
            <a:srgbClr val="FFFFFF"/>
          </a:solidFill>
          <a:ln w="9525">
            <a:solidFill>
              <a:srgbClr val="8A94AB"/>
            </a:solidFill>
            <a:prstDash val="solid"/>
          </a:ln>
        </p:spPr>
      </p:sp>
      <p:sp>
        <p:nvSpPr>
          <p:cNvPr id="17" name="Text 14"/>
          <p:cNvSpPr txBox="1"/>
          <p:nvPr/>
        </p:nvSpPr>
        <p:spPr>
          <a:xfrm>
            <a:off x="512064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18" name="Shape 15"/>
          <p:cNvSpPr/>
          <p:nvPr/>
        </p:nvSpPr>
        <p:spPr>
          <a:xfrm>
            <a:off x="5897880" y="1645920"/>
            <a:ext cx="777240" cy="502920"/>
          </a:xfrm>
          <a:prstGeom prst="rect">
            <a:avLst/>
          </a:prstGeom>
          <a:solidFill>
            <a:srgbClr val="FFFFFF"/>
          </a:solidFill>
          <a:ln w="9525">
            <a:solidFill>
              <a:srgbClr val="8A94AB"/>
            </a:solidFill>
            <a:prstDash val="solid"/>
          </a:ln>
        </p:spPr>
      </p:sp>
      <p:sp>
        <p:nvSpPr>
          <p:cNvPr id="19" name="Text 16"/>
          <p:cNvSpPr txBox="1"/>
          <p:nvPr/>
        </p:nvSpPr>
        <p:spPr>
          <a:xfrm>
            <a:off x="5897880" y="164592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20" name="Text 17"/>
          <p:cNvSpPr txBox="1"/>
          <p:nvPr/>
        </p:nvSpPr>
        <p:spPr>
          <a:xfrm>
            <a:off x="548640" y="2377440"/>
            <a:ext cx="146304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Pass 1</a:t>
            </a:r>
            <a:endParaRPr lang="en-US" sz="1500" dirty="0"/>
          </a:p>
        </p:txBody>
      </p:sp>
      <p:sp>
        <p:nvSpPr>
          <p:cNvPr id="21" name="Shape 18"/>
          <p:cNvSpPr/>
          <p:nvPr/>
        </p:nvSpPr>
        <p:spPr>
          <a:xfrm>
            <a:off x="2011680" y="2377440"/>
            <a:ext cx="777240" cy="502920"/>
          </a:xfrm>
          <a:prstGeom prst="rect">
            <a:avLst/>
          </a:prstGeom>
          <a:solidFill>
            <a:srgbClr val="FFFFFF"/>
          </a:solidFill>
          <a:ln w="9525">
            <a:solidFill>
              <a:srgbClr val="8A94AB"/>
            </a:solidFill>
            <a:prstDash val="solid"/>
          </a:ln>
        </p:spPr>
      </p:sp>
      <p:sp>
        <p:nvSpPr>
          <p:cNvPr id="22" name="Text 19"/>
          <p:cNvSpPr txBox="1"/>
          <p:nvPr/>
        </p:nvSpPr>
        <p:spPr>
          <a:xfrm>
            <a:off x="2011680" y="237744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23" name="Shape 20"/>
          <p:cNvSpPr/>
          <p:nvPr/>
        </p:nvSpPr>
        <p:spPr>
          <a:xfrm>
            <a:off x="2788920" y="2377440"/>
            <a:ext cx="777240" cy="502920"/>
          </a:xfrm>
          <a:prstGeom prst="rect">
            <a:avLst/>
          </a:prstGeom>
          <a:solidFill>
            <a:srgbClr val="FFFFFF"/>
          </a:solidFill>
          <a:ln w="9525">
            <a:solidFill>
              <a:srgbClr val="8A94AB"/>
            </a:solidFill>
            <a:prstDash val="solid"/>
          </a:ln>
        </p:spPr>
      </p:sp>
      <p:sp>
        <p:nvSpPr>
          <p:cNvPr id="24" name="Text 21"/>
          <p:cNvSpPr txBox="1"/>
          <p:nvPr/>
        </p:nvSpPr>
        <p:spPr>
          <a:xfrm>
            <a:off x="2788920" y="237744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25" name="Shape 22"/>
          <p:cNvSpPr/>
          <p:nvPr/>
        </p:nvSpPr>
        <p:spPr>
          <a:xfrm>
            <a:off x="3566160" y="2377440"/>
            <a:ext cx="777240" cy="502920"/>
          </a:xfrm>
          <a:prstGeom prst="rect">
            <a:avLst/>
          </a:prstGeom>
          <a:solidFill>
            <a:srgbClr val="FFFFFF"/>
          </a:solidFill>
          <a:ln w="9525">
            <a:solidFill>
              <a:srgbClr val="8A94AB"/>
            </a:solidFill>
            <a:prstDash val="solid"/>
          </a:ln>
        </p:spPr>
      </p:sp>
      <p:sp>
        <p:nvSpPr>
          <p:cNvPr id="26" name="Text 23"/>
          <p:cNvSpPr txBox="1"/>
          <p:nvPr/>
        </p:nvSpPr>
        <p:spPr>
          <a:xfrm>
            <a:off x="3566160" y="237744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27" name="Shape 24"/>
          <p:cNvSpPr/>
          <p:nvPr/>
        </p:nvSpPr>
        <p:spPr>
          <a:xfrm>
            <a:off x="4343400" y="2377440"/>
            <a:ext cx="777240" cy="502920"/>
          </a:xfrm>
          <a:prstGeom prst="rect">
            <a:avLst/>
          </a:prstGeom>
          <a:solidFill>
            <a:srgbClr val="FFFFFF"/>
          </a:solidFill>
          <a:ln w="9525">
            <a:solidFill>
              <a:srgbClr val="8A94AB"/>
            </a:solidFill>
            <a:prstDash val="solid"/>
          </a:ln>
        </p:spPr>
      </p:sp>
      <p:sp>
        <p:nvSpPr>
          <p:cNvPr id="28" name="Text 25"/>
          <p:cNvSpPr txBox="1"/>
          <p:nvPr/>
        </p:nvSpPr>
        <p:spPr>
          <a:xfrm>
            <a:off x="4343400" y="237744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29" name="Shape 26"/>
          <p:cNvSpPr/>
          <p:nvPr/>
        </p:nvSpPr>
        <p:spPr>
          <a:xfrm>
            <a:off x="5120640" y="2377440"/>
            <a:ext cx="777240" cy="502920"/>
          </a:xfrm>
          <a:prstGeom prst="rect">
            <a:avLst/>
          </a:prstGeom>
          <a:solidFill>
            <a:srgbClr val="FFFFFF"/>
          </a:solidFill>
          <a:ln w="9525">
            <a:solidFill>
              <a:srgbClr val="8A94AB"/>
            </a:solidFill>
            <a:prstDash val="solid"/>
          </a:ln>
        </p:spPr>
      </p:sp>
      <p:sp>
        <p:nvSpPr>
          <p:cNvPr id="30" name="Text 27"/>
          <p:cNvSpPr txBox="1"/>
          <p:nvPr/>
        </p:nvSpPr>
        <p:spPr>
          <a:xfrm>
            <a:off x="5120640" y="237744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31" name="Shape 28"/>
          <p:cNvSpPr/>
          <p:nvPr/>
        </p:nvSpPr>
        <p:spPr>
          <a:xfrm>
            <a:off x="5897880" y="2377440"/>
            <a:ext cx="777240" cy="502920"/>
          </a:xfrm>
          <a:prstGeom prst="rect">
            <a:avLst/>
          </a:prstGeom>
          <a:solidFill>
            <a:srgbClr val="E6F4EC"/>
          </a:solidFill>
          <a:ln w="9525">
            <a:solidFill>
              <a:srgbClr val="8A94AB"/>
            </a:solidFill>
            <a:prstDash val="solid"/>
          </a:ln>
        </p:spPr>
      </p:sp>
      <p:sp>
        <p:nvSpPr>
          <p:cNvPr id="32" name="Text 29"/>
          <p:cNvSpPr txBox="1"/>
          <p:nvPr/>
        </p:nvSpPr>
        <p:spPr>
          <a:xfrm>
            <a:off x="5897880" y="237744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33" name="Text 30"/>
          <p:cNvSpPr txBox="1"/>
          <p:nvPr/>
        </p:nvSpPr>
        <p:spPr>
          <a:xfrm>
            <a:off x="6858000" y="2377440"/>
            <a:ext cx="480060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5 comparisons, 4 swaps</a:t>
            </a:r>
            <a:endParaRPr lang="en-US" sz="1500" dirty="0"/>
          </a:p>
        </p:txBody>
      </p:sp>
      <p:sp>
        <p:nvSpPr>
          <p:cNvPr id="34" name="Text 31"/>
          <p:cNvSpPr txBox="1"/>
          <p:nvPr/>
        </p:nvSpPr>
        <p:spPr>
          <a:xfrm>
            <a:off x="548640" y="3108960"/>
            <a:ext cx="146304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Pass 2</a:t>
            </a:r>
            <a:endParaRPr lang="en-US" sz="1500" dirty="0"/>
          </a:p>
        </p:txBody>
      </p:sp>
      <p:sp>
        <p:nvSpPr>
          <p:cNvPr id="35" name="Shape 32"/>
          <p:cNvSpPr/>
          <p:nvPr/>
        </p:nvSpPr>
        <p:spPr>
          <a:xfrm>
            <a:off x="2011680" y="3108960"/>
            <a:ext cx="777240" cy="502920"/>
          </a:xfrm>
          <a:prstGeom prst="rect">
            <a:avLst/>
          </a:prstGeom>
          <a:solidFill>
            <a:srgbClr val="FFFFFF"/>
          </a:solidFill>
          <a:ln w="9525">
            <a:solidFill>
              <a:srgbClr val="8A94AB"/>
            </a:solidFill>
            <a:prstDash val="solid"/>
          </a:ln>
        </p:spPr>
      </p:sp>
      <p:sp>
        <p:nvSpPr>
          <p:cNvPr id="36" name="Text 33"/>
          <p:cNvSpPr txBox="1"/>
          <p:nvPr/>
        </p:nvSpPr>
        <p:spPr>
          <a:xfrm>
            <a:off x="2011680" y="310896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37" name="Shape 34"/>
          <p:cNvSpPr/>
          <p:nvPr/>
        </p:nvSpPr>
        <p:spPr>
          <a:xfrm>
            <a:off x="2788920" y="3108960"/>
            <a:ext cx="777240" cy="502920"/>
          </a:xfrm>
          <a:prstGeom prst="rect">
            <a:avLst/>
          </a:prstGeom>
          <a:solidFill>
            <a:srgbClr val="FFFFFF"/>
          </a:solidFill>
          <a:ln w="9525">
            <a:solidFill>
              <a:srgbClr val="8A94AB"/>
            </a:solidFill>
            <a:prstDash val="solid"/>
          </a:ln>
        </p:spPr>
      </p:sp>
      <p:sp>
        <p:nvSpPr>
          <p:cNvPr id="38" name="Text 35"/>
          <p:cNvSpPr txBox="1"/>
          <p:nvPr/>
        </p:nvSpPr>
        <p:spPr>
          <a:xfrm>
            <a:off x="2788920" y="310896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39" name="Shape 36"/>
          <p:cNvSpPr/>
          <p:nvPr/>
        </p:nvSpPr>
        <p:spPr>
          <a:xfrm>
            <a:off x="3566160" y="3108960"/>
            <a:ext cx="777240" cy="502920"/>
          </a:xfrm>
          <a:prstGeom prst="rect">
            <a:avLst/>
          </a:prstGeom>
          <a:solidFill>
            <a:srgbClr val="FFFFFF"/>
          </a:solidFill>
          <a:ln w="9525">
            <a:solidFill>
              <a:srgbClr val="8A94AB"/>
            </a:solidFill>
            <a:prstDash val="solid"/>
          </a:ln>
        </p:spPr>
      </p:sp>
      <p:sp>
        <p:nvSpPr>
          <p:cNvPr id="40" name="Text 37"/>
          <p:cNvSpPr txBox="1"/>
          <p:nvPr/>
        </p:nvSpPr>
        <p:spPr>
          <a:xfrm>
            <a:off x="3566160" y="310896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41" name="Shape 38"/>
          <p:cNvSpPr/>
          <p:nvPr/>
        </p:nvSpPr>
        <p:spPr>
          <a:xfrm>
            <a:off x="4343400" y="3108960"/>
            <a:ext cx="777240" cy="502920"/>
          </a:xfrm>
          <a:prstGeom prst="rect">
            <a:avLst/>
          </a:prstGeom>
          <a:solidFill>
            <a:srgbClr val="FFFFFF"/>
          </a:solidFill>
          <a:ln w="9525">
            <a:solidFill>
              <a:srgbClr val="8A94AB"/>
            </a:solidFill>
            <a:prstDash val="solid"/>
          </a:ln>
        </p:spPr>
      </p:sp>
      <p:sp>
        <p:nvSpPr>
          <p:cNvPr id="42" name="Text 39"/>
          <p:cNvSpPr txBox="1"/>
          <p:nvPr/>
        </p:nvSpPr>
        <p:spPr>
          <a:xfrm>
            <a:off x="4343400" y="310896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43" name="Shape 40"/>
          <p:cNvSpPr/>
          <p:nvPr/>
        </p:nvSpPr>
        <p:spPr>
          <a:xfrm>
            <a:off x="5120640" y="3108960"/>
            <a:ext cx="777240" cy="502920"/>
          </a:xfrm>
          <a:prstGeom prst="rect">
            <a:avLst/>
          </a:prstGeom>
          <a:solidFill>
            <a:srgbClr val="E6F4EC"/>
          </a:solidFill>
          <a:ln w="9525">
            <a:solidFill>
              <a:srgbClr val="8A94AB"/>
            </a:solidFill>
            <a:prstDash val="solid"/>
          </a:ln>
        </p:spPr>
      </p:sp>
      <p:sp>
        <p:nvSpPr>
          <p:cNvPr id="44" name="Text 41"/>
          <p:cNvSpPr txBox="1"/>
          <p:nvPr/>
        </p:nvSpPr>
        <p:spPr>
          <a:xfrm>
            <a:off x="5120640" y="310896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45" name="Shape 42"/>
          <p:cNvSpPr/>
          <p:nvPr/>
        </p:nvSpPr>
        <p:spPr>
          <a:xfrm>
            <a:off x="5897880" y="3108960"/>
            <a:ext cx="777240" cy="502920"/>
          </a:xfrm>
          <a:prstGeom prst="rect">
            <a:avLst/>
          </a:prstGeom>
          <a:solidFill>
            <a:srgbClr val="E6F4EC"/>
          </a:solidFill>
          <a:ln w="9525">
            <a:solidFill>
              <a:srgbClr val="8A94AB"/>
            </a:solidFill>
            <a:prstDash val="solid"/>
          </a:ln>
        </p:spPr>
      </p:sp>
      <p:sp>
        <p:nvSpPr>
          <p:cNvPr id="46" name="Text 43"/>
          <p:cNvSpPr txBox="1"/>
          <p:nvPr/>
        </p:nvSpPr>
        <p:spPr>
          <a:xfrm>
            <a:off x="5897880" y="310896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47" name="Text 44"/>
          <p:cNvSpPr txBox="1"/>
          <p:nvPr/>
        </p:nvSpPr>
        <p:spPr>
          <a:xfrm>
            <a:off x="6858000" y="3108960"/>
            <a:ext cx="480060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4 comparisons, 3 swaps</a:t>
            </a:r>
            <a:endParaRPr lang="en-US" sz="1500" dirty="0"/>
          </a:p>
        </p:txBody>
      </p:sp>
      <p:sp>
        <p:nvSpPr>
          <p:cNvPr id="48" name="Text 45"/>
          <p:cNvSpPr txBox="1"/>
          <p:nvPr/>
        </p:nvSpPr>
        <p:spPr>
          <a:xfrm>
            <a:off x="548640" y="3840480"/>
            <a:ext cx="146304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Pass 3</a:t>
            </a:r>
            <a:endParaRPr lang="en-US" sz="1500" dirty="0"/>
          </a:p>
        </p:txBody>
      </p:sp>
      <p:sp>
        <p:nvSpPr>
          <p:cNvPr id="49" name="Shape 46"/>
          <p:cNvSpPr/>
          <p:nvPr/>
        </p:nvSpPr>
        <p:spPr>
          <a:xfrm>
            <a:off x="2011680" y="3840480"/>
            <a:ext cx="777240" cy="502920"/>
          </a:xfrm>
          <a:prstGeom prst="rect">
            <a:avLst/>
          </a:prstGeom>
          <a:solidFill>
            <a:srgbClr val="FFFFFF"/>
          </a:solidFill>
          <a:ln w="9525">
            <a:solidFill>
              <a:srgbClr val="8A94AB"/>
            </a:solidFill>
            <a:prstDash val="solid"/>
          </a:ln>
        </p:spPr>
      </p:sp>
      <p:sp>
        <p:nvSpPr>
          <p:cNvPr id="50" name="Text 47"/>
          <p:cNvSpPr txBox="1"/>
          <p:nvPr/>
        </p:nvSpPr>
        <p:spPr>
          <a:xfrm>
            <a:off x="2011680" y="38404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51" name="Shape 48"/>
          <p:cNvSpPr/>
          <p:nvPr/>
        </p:nvSpPr>
        <p:spPr>
          <a:xfrm>
            <a:off x="2788920" y="3840480"/>
            <a:ext cx="777240" cy="502920"/>
          </a:xfrm>
          <a:prstGeom prst="rect">
            <a:avLst/>
          </a:prstGeom>
          <a:solidFill>
            <a:srgbClr val="FFFFFF"/>
          </a:solidFill>
          <a:ln w="9525">
            <a:solidFill>
              <a:srgbClr val="8A94AB"/>
            </a:solidFill>
            <a:prstDash val="solid"/>
          </a:ln>
        </p:spPr>
      </p:sp>
      <p:sp>
        <p:nvSpPr>
          <p:cNvPr id="52" name="Text 49"/>
          <p:cNvSpPr txBox="1"/>
          <p:nvPr/>
        </p:nvSpPr>
        <p:spPr>
          <a:xfrm>
            <a:off x="2788920" y="38404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53" name="Shape 50"/>
          <p:cNvSpPr/>
          <p:nvPr/>
        </p:nvSpPr>
        <p:spPr>
          <a:xfrm>
            <a:off x="3566160" y="3840480"/>
            <a:ext cx="777240" cy="502920"/>
          </a:xfrm>
          <a:prstGeom prst="rect">
            <a:avLst/>
          </a:prstGeom>
          <a:solidFill>
            <a:srgbClr val="FFFFFF"/>
          </a:solidFill>
          <a:ln w="9525">
            <a:solidFill>
              <a:srgbClr val="8A94AB"/>
            </a:solidFill>
            <a:prstDash val="solid"/>
          </a:ln>
        </p:spPr>
      </p:sp>
      <p:sp>
        <p:nvSpPr>
          <p:cNvPr id="54" name="Text 51"/>
          <p:cNvSpPr txBox="1"/>
          <p:nvPr/>
        </p:nvSpPr>
        <p:spPr>
          <a:xfrm>
            <a:off x="3566160" y="38404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55" name="Shape 52"/>
          <p:cNvSpPr/>
          <p:nvPr/>
        </p:nvSpPr>
        <p:spPr>
          <a:xfrm>
            <a:off x="4343400" y="3840480"/>
            <a:ext cx="777240" cy="502920"/>
          </a:xfrm>
          <a:prstGeom prst="rect">
            <a:avLst/>
          </a:prstGeom>
          <a:solidFill>
            <a:srgbClr val="E6F4EC"/>
          </a:solidFill>
          <a:ln w="9525">
            <a:solidFill>
              <a:srgbClr val="8A94AB"/>
            </a:solidFill>
            <a:prstDash val="solid"/>
          </a:ln>
        </p:spPr>
      </p:sp>
      <p:sp>
        <p:nvSpPr>
          <p:cNvPr id="56" name="Text 53"/>
          <p:cNvSpPr txBox="1"/>
          <p:nvPr/>
        </p:nvSpPr>
        <p:spPr>
          <a:xfrm>
            <a:off x="4343400" y="38404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57" name="Shape 54"/>
          <p:cNvSpPr/>
          <p:nvPr/>
        </p:nvSpPr>
        <p:spPr>
          <a:xfrm>
            <a:off x="5120640" y="3840480"/>
            <a:ext cx="777240" cy="502920"/>
          </a:xfrm>
          <a:prstGeom prst="rect">
            <a:avLst/>
          </a:prstGeom>
          <a:solidFill>
            <a:srgbClr val="E6F4EC"/>
          </a:solidFill>
          <a:ln w="9525">
            <a:solidFill>
              <a:srgbClr val="8A94AB"/>
            </a:solidFill>
            <a:prstDash val="solid"/>
          </a:ln>
        </p:spPr>
      </p:sp>
      <p:sp>
        <p:nvSpPr>
          <p:cNvPr id="58" name="Text 55"/>
          <p:cNvSpPr txBox="1"/>
          <p:nvPr/>
        </p:nvSpPr>
        <p:spPr>
          <a:xfrm>
            <a:off x="5120640" y="38404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59" name="Shape 56"/>
          <p:cNvSpPr/>
          <p:nvPr/>
        </p:nvSpPr>
        <p:spPr>
          <a:xfrm>
            <a:off x="5897880" y="3840480"/>
            <a:ext cx="777240" cy="502920"/>
          </a:xfrm>
          <a:prstGeom prst="rect">
            <a:avLst/>
          </a:prstGeom>
          <a:solidFill>
            <a:srgbClr val="E6F4EC"/>
          </a:solidFill>
          <a:ln w="9525">
            <a:solidFill>
              <a:srgbClr val="8A94AB"/>
            </a:solidFill>
            <a:prstDash val="solid"/>
          </a:ln>
        </p:spPr>
      </p:sp>
      <p:sp>
        <p:nvSpPr>
          <p:cNvPr id="60" name="Text 57"/>
          <p:cNvSpPr txBox="1"/>
          <p:nvPr/>
        </p:nvSpPr>
        <p:spPr>
          <a:xfrm>
            <a:off x="5897880" y="384048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61" name="Text 58"/>
          <p:cNvSpPr txBox="1"/>
          <p:nvPr/>
        </p:nvSpPr>
        <p:spPr>
          <a:xfrm>
            <a:off x="6858000" y="3840480"/>
            <a:ext cx="480060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3 comparisons, 2 swaps</a:t>
            </a:r>
            <a:endParaRPr lang="en-US" sz="1500" dirty="0"/>
          </a:p>
        </p:txBody>
      </p:sp>
      <p:sp>
        <p:nvSpPr>
          <p:cNvPr id="62" name="Text 59"/>
          <p:cNvSpPr txBox="1"/>
          <p:nvPr/>
        </p:nvSpPr>
        <p:spPr>
          <a:xfrm>
            <a:off x="548640" y="4572000"/>
            <a:ext cx="1463040" cy="502920"/>
          </a:xfrm>
          <a:prstGeom prst="rect">
            <a:avLst/>
          </a:prstGeom>
          <a:noFill/>
          <a:ln/>
        </p:spPr>
        <p:txBody>
          <a:bodyPr wrap="square" lIns="0" tIns="0" rIns="0" bIns="0" rtlCol="0" anchor="ctr"/>
          <a:lstStyle/>
          <a:p>
            <a:pPr algn="l" indent="0" marL="0">
              <a:buNone/>
            </a:pPr>
            <a:r>
              <a:rPr lang="en-US" sz="1500" b="1" dirty="0">
                <a:solidFill>
                  <a:srgbClr val="14213D"/>
                </a:solidFill>
                <a:latin typeface="Calibri" pitchFamily="34" charset="0"/>
                <a:ea typeface="Calibri" pitchFamily="34" charset="-122"/>
                <a:cs typeface="Calibri" pitchFamily="34" charset="-120"/>
              </a:rPr>
              <a:t>Pass 4</a:t>
            </a:r>
            <a:endParaRPr lang="en-US" sz="1500" dirty="0"/>
          </a:p>
        </p:txBody>
      </p:sp>
      <p:sp>
        <p:nvSpPr>
          <p:cNvPr id="63" name="Shape 60"/>
          <p:cNvSpPr/>
          <p:nvPr/>
        </p:nvSpPr>
        <p:spPr>
          <a:xfrm>
            <a:off x="2011680" y="4572000"/>
            <a:ext cx="777240" cy="502920"/>
          </a:xfrm>
          <a:prstGeom prst="rect">
            <a:avLst/>
          </a:prstGeom>
          <a:solidFill>
            <a:srgbClr val="FFFFFF"/>
          </a:solidFill>
          <a:ln w="9525">
            <a:solidFill>
              <a:srgbClr val="8A94AB"/>
            </a:solidFill>
            <a:prstDash val="solid"/>
          </a:ln>
        </p:spPr>
      </p:sp>
      <p:sp>
        <p:nvSpPr>
          <p:cNvPr id="64" name="Text 61"/>
          <p:cNvSpPr txBox="1"/>
          <p:nvPr/>
        </p:nvSpPr>
        <p:spPr>
          <a:xfrm>
            <a:off x="2011680" y="457200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65" name="Shape 62"/>
          <p:cNvSpPr/>
          <p:nvPr/>
        </p:nvSpPr>
        <p:spPr>
          <a:xfrm>
            <a:off x="2788920" y="4572000"/>
            <a:ext cx="777240" cy="502920"/>
          </a:xfrm>
          <a:prstGeom prst="rect">
            <a:avLst/>
          </a:prstGeom>
          <a:solidFill>
            <a:srgbClr val="FFFFFF"/>
          </a:solidFill>
          <a:ln w="9525">
            <a:solidFill>
              <a:srgbClr val="8A94AB"/>
            </a:solidFill>
            <a:prstDash val="solid"/>
          </a:ln>
        </p:spPr>
      </p:sp>
      <p:sp>
        <p:nvSpPr>
          <p:cNvPr id="66" name="Text 63"/>
          <p:cNvSpPr txBox="1"/>
          <p:nvPr/>
        </p:nvSpPr>
        <p:spPr>
          <a:xfrm>
            <a:off x="2788920" y="457200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12</a:t>
            </a:r>
            <a:endParaRPr lang="en-US" sz="1600" dirty="0"/>
          </a:p>
        </p:txBody>
      </p:sp>
      <p:sp>
        <p:nvSpPr>
          <p:cNvPr id="67" name="Shape 64"/>
          <p:cNvSpPr/>
          <p:nvPr/>
        </p:nvSpPr>
        <p:spPr>
          <a:xfrm>
            <a:off x="3566160" y="4572000"/>
            <a:ext cx="777240" cy="502920"/>
          </a:xfrm>
          <a:prstGeom prst="rect">
            <a:avLst/>
          </a:prstGeom>
          <a:solidFill>
            <a:srgbClr val="E6F4EC"/>
          </a:solidFill>
          <a:ln w="9525">
            <a:solidFill>
              <a:srgbClr val="8A94AB"/>
            </a:solidFill>
            <a:prstDash val="solid"/>
          </a:ln>
        </p:spPr>
      </p:sp>
      <p:sp>
        <p:nvSpPr>
          <p:cNvPr id="68" name="Text 65"/>
          <p:cNvSpPr txBox="1"/>
          <p:nvPr/>
        </p:nvSpPr>
        <p:spPr>
          <a:xfrm>
            <a:off x="3566160" y="457200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p:txBody>
      </p:sp>
      <p:sp>
        <p:nvSpPr>
          <p:cNvPr id="69" name="Shape 66"/>
          <p:cNvSpPr/>
          <p:nvPr/>
        </p:nvSpPr>
        <p:spPr>
          <a:xfrm>
            <a:off x="4343400" y="4572000"/>
            <a:ext cx="777240" cy="502920"/>
          </a:xfrm>
          <a:prstGeom prst="rect">
            <a:avLst/>
          </a:prstGeom>
          <a:solidFill>
            <a:srgbClr val="E6F4EC"/>
          </a:solidFill>
          <a:ln w="9525">
            <a:solidFill>
              <a:srgbClr val="8A94AB"/>
            </a:solidFill>
            <a:prstDash val="solid"/>
          </a:ln>
        </p:spPr>
      </p:sp>
      <p:sp>
        <p:nvSpPr>
          <p:cNvPr id="70" name="Text 67"/>
          <p:cNvSpPr txBox="1"/>
          <p:nvPr/>
        </p:nvSpPr>
        <p:spPr>
          <a:xfrm>
            <a:off x="4343400" y="457200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25</a:t>
            </a:r>
            <a:endParaRPr lang="en-US" sz="1600" dirty="0"/>
          </a:p>
        </p:txBody>
      </p:sp>
      <p:sp>
        <p:nvSpPr>
          <p:cNvPr id="71" name="Shape 68"/>
          <p:cNvSpPr/>
          <p:nvPr/>
        </p:nvSpPr>
        <p:spPr>
          <a:xfrm>
            <a:off x="5120640" y="4572000"/>
            <a:ext cx="777240" cy="502920"/>
          </a:xfrm>
          <a:prstGeom prst="rect">
            <a:avLst/>
          </a:prstGeom>
          <a:solidFill>
            <a:srgbClr val="E6F4EC"/>
          </a:solidFill>
          <a:ln w="9525">
            <a:solidFill>
              <a:srgbClr val="8A94AB"/>
            </a:solidFill>
            <a:prstDash val="solid"/>
          </a:ln>
        </p:spPr>
      </p:sp>
      <p:sp>
        <p:nvSpPr>
          <p:cNvPr id="72" name="Text 69"/>
          <p:cNvSpPr txBox="1"/>
          <p:nvPr/>
        </p:nvSpPr>
        <p:spPr>
          <a:xfrm>
            <a:off x="5120640" y="457200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31</a:t>
            </a:r>
            <a:endParaRPr lang="en-US" sz="1600" dirty="0"/>
          </a:p>
        </p:txBody>
      </p:sp>
      <p:sp>
        <p:nvSpPr>
          <p:cNvPr id="73" name="Shape 70"/>
          <p:cNvSpPr/>
          <p:nvPr/>
        </p:nvSpPr>
        <p:spPr>
          <a:xfrm>
            <a:off x="5897880" y="4572000"/>
            <a:ext cx="777240" cy="502920"/>
          </a:xfrm>
          <a:prstGeom prst="rect">
            <a:avLst/>
          </a:prstGeom>
          <a:solidFill>
            <a:srgbClr val="E6F4EC"/>
          </a:solidFill>
          <a:ln w="9525">
            <a:solidFill>
              <a:srgbClr val="8A94AB"/>
            </a:solidFill>
            <a:prstDash val="solid"/>
          </a:ln>
        </p:spPr>
      </p:sp>
      <p:sp>
        <p:nvSpPr>
          <p:cNvPr id="74" name="Text 71"/>
          <p:cNvSpPr txBox="1"/>
          <p:nvPr/>
        </p:nvSpPr>
        <p:spPr>
          <a:xfrm>
            <a:off x="5897880" y="4572000"/>
            <a:ext cx="77724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47</a:t>
            </a:r>
            <a:endParaRPr lang="en-US" sz="1600" dirty="0"/>
          </a:p>
        </p:txBody>
      </p:sp>
      <p:sp>
        <p:nvSpPr>
          <p:cNvPr id="75" name="Text 72"/>
          <p:cNvSpPr txBox="1"/>
          <p:nvPr/>
        </p:nvSpPr>
        <p:spPr>
          <a:xfrm>
            <a:off x="6858000" y="4572000"/>
            <a:ext cx="4800600" cy="502920"/>
          </a:xfrm>
          <a:prstGeom prst="rect">
            <a:avLst/>
          </a:prstGeom>
          <a:noFill/>
          <a:ln/>
        </p:spPr>
        <p:txBody>
          <a:bodyPr wrap="square" lIns="0" tIns="0" rIns="0" bIns="0" rtlCol="0" anchor="ctr"/>
          <a:lstStyle/>
          <a:p>
            <a:pPr algn="l" indent="0" marL="0">
              <a:buNone/>
            </a:pPr>
            <a:r>
              <a:rPr lang="en-US" sz="1500" b="1" dirty="0">
                <a:solidFill>
                  <a:srgbClr val="C8453B"/>
                </a:solidFill>
                <a:latin typeface="Calibri" pitchFamily="34" charset="0"/>
                <a:ea typeface="Calibri" pitchFamily="34" charset="-122"/>
                <a:cs typeface="Calibri" pitchFamily="34" charset="-120"/>
              </a:rPr>
              <a:t>2 comparisons, 0 swaps  → stop!</a:t>
            </a:r>
            <a:endParaRPr lang="en-US" sz="1500" dirty="0"/>
          </a:p>
        </p:txBody>
      </p:sp>
      <p:sp>
        <p:nvSpPr>
          <p:cNvPr id="76" name="Shape 73"/>
          <p:cNvSpPr/>
          <p:nvPr/>
        </p:nvSpPr>
        <p:spPr>
          <a:xfrm>
            <a:off x="548640" y="5394960"/>
            <a:ext cx="11109960" cy="685800"/>
          </a:xfrm>
          <a:prstGeom prst="roundRect">
            <a:avLst>
              <a:gd name="adj" fmla="val 16000"/>
            </a:avLst>
          </a:prstGeom>
          <a:solidFill>
            <a:srgbClr val="FFF6E3"/>
          </a:solidFill>
          <a:ln w="12700">
            <a:solidFill>
              <a:srgbClr val="FFF6E3"/>
            </a:solidFill>
            <a:prstDash val="solid"/>
          </a:ln>
        </p:spPr>
      </p:sp>
      <p:pic>
        <p:nvPicPr>
          <p:cNvPr id="77" name="Image 0" descr="preencoded.png">    </p:cNvPr>
          <p:cNvPicPr>
            <a:picLocks noChangeAspect="1"/>
          </p:cNvPicPr>
          <p:nvPr/>
        </p:nvPicPr>
        <p:blipFill>
          <a:blip r:embed="rId1"/>
          <a:stretch>
            <a:fillRect/>
          </a:stretch>
        </p:blipFill>
        <p:spPr>
          <a:xfrm>
            <a:off x="822960" y="5532120"/>
            <a:ext cx="411480" cy="411480"/>
          </a:xfrm>
          <a:prstGeom prst="rect">
            <a:avLst/>
          </a:prstGeom>
        </p:spPr>
      </p:pic>
      <p:sp>
        <p:nvSpPr>
          <p:cNvPr id="78" name="Text 74"/>
          <p:cNvSpPr txBox="1"/>
          <p:nvPr/>
        </p:nvSpPr>
        <p:spPr>
          <a:xfrm>
            <a:off x="1508760" y="5468112"/>
            <a:ext cx="9875520" cy="53949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Total: 14 comparisons, 9 swaps. </a:t>
            </a:r>
            <a:pPr indent="0" marL="0">
              <a:buNone/>
            </a:pPr>
            <a:r>
              <a:rPr lang="en-US" sz="1500" dirty="0">
                <a:solidFill>
                  <a:srgbClr val="333B4F"/>
                </a:solidFill>
                <a:latin typeface="Calibri" pitchFamily="34" charset="0"/>
                <a:ea typeface="Calibri" pitchFamily="34" charset="-122"/>
                <a:cs typeface="Calibri" pitchFamily="34" charset="-120"/>
              </a:rPr>
              <a:t>Pass 4 finds no swap, so pass 5 is skipped.</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10_06_BUBBLESORT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Bubble sort in C#: two nested loops and a flag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645920"/>
            <a:ext cx="54864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 · passes and comparisons</a:t>
            </a:r>
            <a:endParaRPr lang="en-US" sz="1100" dirty="0"/>
          </a:p>
        </p:txBody>
      </p:sp>
      <p:sp>
        <p:nvSpPr>
          <p:cNvPr id="9" name="Text 6"/>
          <p:cNvSpPr txBox="1"/>
          <p:nvPr/>
        </p:nvSpPr>
        <p:spPr>
          <a:xfrm>
            <a:off x="777240" y="2057400"/>
            <a:ext cx="502920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 &lt;=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swapped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&lt; n - pass;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comparisons++;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&gt; a[j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temp = a[j];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 a[j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temp;</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swapped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swaps++;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p:txBody>
      </p:sp>
      <p:sp>
        <p:nvSpPr>
          <p:cNvPr id="10" name="Shape 7"/>
          <p:cNvSpPr/>
          <p:nvPr/>
        </p:nvSpPr>
        <p:spPr>
          <a:xfrm>
            <a:off x="6172200" y="1645920"/>
            <a:ext cx="5486400" cy="1874520"/>
          </a:xfrm>
          <a:prstGeom prst="roundRect">
            <a:avLst>
              <a:gd name="adj" fmla="val 4878"/>
            </a:avLst>
          </a:prstGeom>
          <a:solidFill>
            <a:srgbClr val="0F1729"/>
          </a:solidFill>
          <a:ln w="12700">
            <a:solidFill>
              <a:srgbClr val="0F1729"/>
            </a:solidFill>
            <a:prstDash val="solid"/>
          </a:ln>
        </p:spPr>
      </p:sp>
      <p:sp>
        <p:nvSpPr>
          <p:cNvPr id="11" name="Text 8"/>
          <p:cNvSpPr txBox="1"/>
          <p:nvPr/>
        </p:nvSpPr>
        <p:spPr>
          <a:xfrm>
            <a:off x="640080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 end of each pass</a:t>
            </a:r>
            <a:endParaRPr lang="en-US" sz="1100" dirty="0"/>
          </a:p>
        </p:txBody>
      </p:sp>
      <p:sp>
        <p:nvSpPr>
          <p:cNvPr id="12" name="Text 9"/>
          <p:cNvSpPr txBox="1"/>
          <p:nvPr/>
        </p:nvSpPr>
        <p:spPr>
          <a:xfrm>
            <a:off x="6400800" y="2057400"/>
            <a:ext cx="5029200" cy="1353312"/>
          </a:xfrm>
          <a:prstGeom prst="rect">
            <a:avLst/>
          </a:prstGeom>
          <a:noFill/>
          <a:ln/>
        </p:spPr>
        <p:txBody>
          <a:bodyPr wrap="square" lIns="0" tIns="0" rIns="0" bIns="0" rtlCol="0" anchor="t"/>
          <a:lstStyle/>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$"Pass {pass}: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a:t>
            </a:r>
            <a:endParaRPr lang="en-US" sz="1100" dirty="0"/>
          </a:p>
          <a:p>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(!swapped)</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13" name="Shape 10"/>
          <p:cNvSpPr/>
          <p:nvPr/>
        </p:nvSpPr>
        <p:spPr>
          <a:xfrm>
            <a:off x="6172200" y="3657600"/>
            <a:ext cx="5486400" cy="2423160"/>
          </a:xfrm>
          <a:prstGeom prst="roundRect">
            <a:avLst>
              <a:gd name="adj" fmla="val 3774"/>
            </a:avLst>
          </a:prstGeom>
          <a:solidFill>
            <a:srgbClr val="0B0F19"/>
          </a:solidFill>
          <a:ln w="12700">
            <a:solidFill>
              <a:srgbClr val="2A3654"/>
            </a:solidFill>
            <a:prstDash val="solid"/>
          </a:ln>
        </p:spPr>
      </p:sp>
      <p:sp>
        <p:nvSpPr>
          <p:cNvPr id="14" name="Shape 11"/>
          <p:cNvSpPr/>
          <p:nvPr/>
        </p:nvSpPr>
        <p:spPr>
          <a:xfrm>
            <a:off x="6355080" y="3785616"/>
            <a:ext cx="118872" cy="118872"/>
          </a:xfrm>
          <a:prstGeom prst="ellipse">
            <a:avLst/>
          </a:prstGeom>
          <a:solidFill>
            <a:srgbClr val="FF5F57"/>
          </a:solidFill>
          <a:ln w="12700">
            <a:solidFill>
              <a:srgbClr val="FF5F57"/>
            </a:solidFill>
            <a:prstDash val="solid"/>
          </a:ln>
        </p:spPr>
      </p:sp>
      <p:sp>
        <p:nvSpPr>
          <p:cNvPr id="15" name="Shape 12"/>
          <p:cNvSpPr/>
          <p:nvPr/>
        </p:nvSpPr>
        <p:spPr>
          <a:xfrm>
            <a:off x="6583680" y="3785616"/>
            <a:ext cx="118872" cy="118872"/>
          </a:xfrm>
          <a:prstGeom prst="ellipse">
            <a:avLst/>
          </a:prstGeom>
          <a:solidFill>
            <a:srgbClr val="FEBC2E"/>
          </a:solidFill>
          <a:ln w="12700">
            <a:solidFill>
              <a:srgbClr val="FEBC2E"/>
            </a:solidFill>
            <a:prstDash val="solid"/>
          </a:ln>
        </p:spPr>
      </p:sp>
      <p:sp>
        <p:nvSpPr>
          <p:cNvPr id="16" name="Shape 13"/>
          <p:cNvSpPr/>
          <p:nvPr/>
        </p:nvSpPr>
        <p:spPr>
          <a:xfrm>
            <a:off x="6812280" y="378561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7086600" y="373075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6400800" y="4041648"/>
            <a:ext cx="5029200" cy="19202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Start:  31 12 47 8 25 19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 1: 12 31 8 25 19 47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 2: 12 8 25 19 31 47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 3: 8 12 19 25 31 47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 4: 8 12 19 25 31 47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Sorted: 8 12 19 25 31 47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Comparisons: 14, swaps: 9</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SELECTION SORT · IDEA</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Select the smallest and put it in front: one swap per pass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645920"/>
            <a:ext cx="5120640" cy="3657600"/>
          </a:xfrm>
          <a:prstGeom prst="roundRect">
            <a:avLst>
              <a:gd name="adj" fmla="val 2000"/>
            </a:avLst>
          </a:prstGeom>
          <a:solidFill>
            <a:srgbClr val="F4F6FA"/>
          </a:solidFill>
          <a:ln w="9525">
            <a:solidFill>
              <a:srgbClr val="C9D0DD"/>
            </a:solidFill>
            <a:prstDash val="solid"/>
          </a:ln>
        </p:spPr>
      </p:sp>
      <p:sp>
        <p:nvSpPr>
          <p:cNvPr id="8" name="Text 5"/>
          <p:cNvSpPr txBox="1"/>
          <p:nvPr/>
        </p:nvSpPr>
        <p:spPr>
          <a:xfrm>
            <a:off x="731520" y="1737360"/>
            <a:ext cx="47548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Selection sort</a:t>
            </a:r>
            <a:endParaRPr lang="en-US" sz="1200" dirty="0"/>
          </a:p>
        </p:txBody>
      </p:sp>
      <p:sp>
        <p:nvSpPr>
          <p:cNvPr id="9" name="Text 6"/>
          <p:cNvSpPr txBox="1"/>
          <p:nvPr/>
        </p:nvSpPr>
        <p:spPr>
          <a:xfrm>
            <a:off x="731520" y="2057400"/>
            <a:ext cx="4754880" cy="3154680"/>
          </a:xfrm>
          <a:prstGeom prst="rect">
            <a:avLst/>
          </a:prstGeom>
          <a:noFill/>
          <a:ln/>
        </p:spPr>
        <p:txBody>
          <a:bodyPr wrap="square" lIns="0" tIns="0" rIns="0" bIns="0" rtlCol="0" anchor="t"/>
          <a:lstStyle/>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i ← 0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n − 2</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minIndex ← i</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j ← i + 1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n − 1</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a[j] &lt; a[minIndex]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THEN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minIndex ← j</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IF</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FOR</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minIndex ≠ i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THEN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swap a[i] and a[minIndex]</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IF</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FOR</a:t>
            </a:r>
            <a:endParaRPr lang="en-US" sz="1500" dirty="0"/>
          </a:p>
        </p:txBody>
      </p:sp>
      <p:sp>
        <p:nvSpPr>
          <p:cNvPr id="10" name="Shape 7"/>
          <p:cNvSpPr/>
          <p:nvPr/>
        </p:nvSpPr>
        <p:spPr>
          <a:xfrm>
            <a:off x="548640" y="5440680"/>
            <a:ext cx="5120640" cy="640080"/>
          </a:xfrm>
          <a:prstGeom prst="roundRect">
            <a:avLst>
              <a:gd name="adj" fmla="val 17143"/>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577840"/>
            <a:ext cx="365760" cy="365760"/>
          </a:xfrm>
          <a:prstGeom prst="rect">
            <a:avLst/>
          </a:prstGeom>
        </p:spPr>
      </p:pic>
      <p:sp>
        <p:nvSpPr>
          <p:cNvPr id="12" name="Text 8"/>
          <p:cNvSpPr txBox="1"/>
          <p:nvPr/>
        </p:nvSpPr>
        <p:spPr>
          <a:xfrm>
            <a:off x="1463040" y="5513832"/>
            <a:ext cx="3931920" cy="4937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Inner loop = "minimum with index" from Part 1.</a:t>
            </a:r>
            <a:endParaRPr lang="en-US" sz="1400" dirty="0"/>
          </a:p>
        </p:txBody>
      </p:sp>
      <p:sp>
        <p:nvSpPr>
          <p:cNvPr id="13" name="Text 9"/>
          <p:cNvSpPr txBox="1"/>
          <p:nvPr/>
        </p:nvSpPr>
        <p:spPr>
          <a:xfrm>
            <a:off x="5943600" y="1645920"/>
            <a:ext cx="5715000" cy="365760"/>
          </a:xfrm>
          <a:prstGeom prst="rect">
            <a:avLst/>
          </a:prstGeom>
          <a:noFill/>
          <a:ln/>
        </p:spPr>
        <p:txBody>
          <a:bodyPr wrap="square" lIns="0" tIns="0" rIns="0" bIns="0" rtlCol="0" anchor="ctr"/>
          <a:lstStyle/>
          <a:p>
            <a:pPr algn="l" indent="0" marL="0">
              <a:buNone/>
            </a:pPr>
            <a:r>
              <a:rPr lang="en-US" sz="1400" dirty="0">
                <a:solidFill>
                  <a:srgbClr val="5B6478"/>
                </a:solidFill>
                <a:latin typeface="Calibri" pitchFamily="34" charset="0"/>
                <a:ea typeface="Calibri" pitchFamily="34" charset="-122"/>
                <a:cs typeface="Calibri" pitchFamily="34" charset="-120"/>
              </a:rPr>
              <a:t>Each row: array BEFORE the swap of pass i</a:t>
            </a:r>
            <a:endParaRPr lang="en-US" sz="1400" dirty="0"/>
          </a:p>
        </p:txBody>
      </p:sp>
      <p:sp>
        <p:nvSpPr>
          <p:cNvPr id="14" name="Text 10"/>
          <p:cNvSpPr txBox="1"/>
          <p:nvPr/>
        </p:nvSpPr>
        <p:spPr>
          <a:xfrm>
            <a:off x="5943600" y="2057400"/>
            <a:ext cx="822960" cy="457200"/>
          </a:xfrm>
          <a:prstGeom prst="rect">
            <a:avLst/>
          </a:prstGeom>
          <a:noFill/>
          <a:ln/>
        </p:spPr>
        <p:txBody>
          <a:bodyPr wrap="square" lIns="0" tIns="0" rIns="0" bIns="0" rtlCol="0" anchor="ct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i = 0</a:t>
            </a:r>
            <a:endParaRPr lang="en-US" sz="1400" dirty="0"/>
          </a:p>
        </p:txBody>
      </p:sp>
      <p:sp>
        <p:nvSpPr>
          <p:cNvPr id="15" name="Shape 11"/>
          <p:cNvSpPr/>
          <p:nvPr/>
        </p:nvSpPr>
        <p:spPr>
          <a:xfrm>
            <a:off x="6812280" y="2057400"/>
            <a:ext cx="566928" cy="457200"/>
          </a:xfrm>
          <a:prstGeom prst="rect">
            <a:avLst/>
          </a:prstGeom>
          <a:solidFill>
            <a:srgbClr val="FFF1D6"/>
          </a:solidFill>
          <a:ln w="9525">
            <a:solidFill>
              <a:srgbClr val="8A94AB"/>
            </a:solidFill>
            <a:prstDash val="solid"/>
          </a:ln>
        </p:spPr>
      </p:sp>
      <p:sp>
        <p:nvSpPr>
          <p:cNvPr id="16" name="Text 12"/>
          <p:cNvSpPr txBox="1"/>
          <p:nvPr/>
        </p:nvSpPr>
        <p:spPr>
          <a:xfrm>
            <a:off x="6812280" y="2057400"/>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31</a:t>
            </a:r>
            <a:endParaRPr lang="en-US" sz="1400" dirty="0"/>
          </a:p>
        </p:txBody>
      </p:sp>
      <p:sp>
        <p:nvSpPr>
          <p:cNvPr id="17" name="Shape 13"/>
          <p:cNvSpPr/>
          <p:nvPr/>
        </p:nvSpPr>
        <p:spPr>
          <a:xfrm>
            <a:off x="7379208" y="2057400"/>
            <a:ext cx="566928" cy="457200"/>
          </a:xfrm>
          <a:prstGeom prst="rect">
            <a:avLst/>
          </a:prstGeom>
          <a:solidFill>
            <a:srgbClr val="FFFFFF"/>
          </a:solidFill>
          <a:ln w="9525">
            <a:solidFill>
              <a:srgbClr val="8A94AB"/>
            </a:solidFill>
            <a:prstDash val="solid"/>
          </a:ln>
        </p:spPr>
      </p:sp>
      <p:sp>
        <p:nvSpPr>
          <p:cNvPr id="18" name="Text 14"/>
          <p:cNvSpPr txBox="1"/>
          <p:nvPr/>
        </p:nvSpPr>
        <p:spPr>
          <a:xfrm>
            <a:off x="7379208" y="2057400"/>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12</a:t>
            </a:r>
            <a:endParaRPr lang="en-US" sz="1400" dirty="0"/>
          </a:p>
        </p:txBody>
      </p:sp>
      <p:sp>
        <p:nvSpPr>
          <p:cNvPr id="19" name="Shape 15"/>
          <p:cNvSpPr/>
          <p:nvPr/>
        </p:nvSpPr>
        <p:spPr>
          <a:xfrm>
            <a:off x="7946136" y="2057400"/>
            <a:ext cx="566928" cy="457200"/>
          </a:xfrm>
          <a:prstGeom prst="rect">
            <a:avLst/>
          </a:prstGeom>
          <a:solidFill>
            <a:srgbClr val="FFFFFF"/>
          </a:solidFill>
          <a:ln w="9525">
            <a:solidFill>
              <a:srgbClr val="8A94AB"/>
            </a:solidFill>
            <a:prstDash val="solid"/>
          </a:ln>
        </p:spPr>
      </p:sp>
      <p:sp>
        <p:nvSpPr>
          <p:cNvPr id="20" name="Text 16"/>
          <p:cNvSpPr txBox="1"/>
          <p:nvPr/>
        </p:nvSpPr>
        <p:spPr>
          <a:xfrm>
            <a:off x="7946136" y="2057400"/>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47</a:t>
            </a:r>
            <a:endParaRPr lang="en-US" sz="1400" dirty="0"/>
          </a:p>
        </p:txBody>
      </p:sp>
      <p:sp>
        <p:nvSpPr>
          <p:cNvPr id="21" name="Shape 17"/>
          <p:cNvSpPr/>
          <p:nvPr/>
        </p:nvSpPr>
        <p:spPr>
          <a:xfrm>
            <a:off x="8513064" y="2057400"/>
            <a:ext cx="566928" cy="457200"/>
          </a:xfrm>
          <a:prstGeom prst="rect">
            <a:avLst/>
          </a:prstGeom>
          <a:solidFill>
            <a:srgbClr val="E3ECF8"/>
          </a:solidFill>
          <a:ln w="9525">
            <a:solidFill>
              <a:srgbClr val="8A94AB"/>
            </a:solidFill>
            <a:prstDash val="solid"/>
          </a:ln>
        </p:spPr>
      </p:sp>
      <p:sp>
        <p:nvSpPr>
          <p:cNvPr id="22" name="Text 18"/>
          <p:cNvSpPr txBox="1"/>
          <p:nvPr/>
        </p:nvSpPr>
        <p:spPr>
          <a:xfrm>
            <a:off x="8513064" y="2057400"/>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8</a:t>
            </a:r>
            <a:endParaRPr lang="en-US" sz="1400" dirty="0"/>
          </a:p>
        </p:txBody>
      </p:sp>
      <p:sp>
        <p:nvSpPr>
          <p:cNvPr id="23" name="Shape 19"/>
          <p:cNvSpPr/>
          <p:nvPr/>
        </p:nvSpPr>
        <p:spPr>
          <a:xfrm>
            <a:off x="9079992" y="2057400"/>
            <a:ext cx="566928" cy="457200"/>
          </a:xfrm>
          <a:prstGeom prst="rect">
            <a:avLst/>
          </a:prstGeom>
          <a:solidFill>
            <a:srgbClr val="FFFFFF"/>
          </a:solidFill>
          <a:ln w="9525">
            <a:solidFill>
              <a:srgbClr val="8A94AB"/>
            </a:solidFill>
            <a:prstDash val="solid"/>
          </a:ln>
        </p:spPr>
      </p:sp>
      <p:sp>
        <p:nvSpPr>
          <p:cNvPr id="24" name="Text 20"/>
          <p:cNvSpPr txBox="1"/>
          <p:nvPr/>
        </p:nvSpPr>
        <p:spPr>
          <a:xfrm>
            <a:off x="9079992" y="2057400"/>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25</a:t>
            </a:r>
            <a:endParaRPr lang="en-US" sz="1400" dirty="0"/>
          </a:p>
        </p:txBody>
      </p:sp>
      <p:sp>
        <p:nvSpPr>
          <p:cNvPr id="25" name="Shape 21"/>
          <p:cNvSpPr/>
          <p:nvPr/>
        </p:nvSpPr>
        <p:spPr>
          <a:xfrm>
            <a:off x="9646920" y="2057400"/>
            <a:ext cx="566928" cy="457200"/>
          </a:xfrm>
          <a:prstGeom prst="rect">
            <a:avLst/>
          </a:prstGeom>
          <a:solidFill>
            <a:srgbClr val="FFFFFF"/>
          </a:solidFill>
          <a:ln w="9525">
            <a:solidFill>
              <a:srgbClr val="8A94AB"/>
            </a:solidFill>
            <a:prstDash val="solid"/>
          </a:ln>
        </p:spPr>
      </p:sp>
      <p:sp>
        <p:nvSpPr>
          <p:cNvPr id="26" name="Text 22"/>
          <p:cNvSpPr txBox="1"/>
          <p:nvPr/>
        </p:nvSpPr>
        <p:spPr>
          <a:xfrm>
            <a:off x="9646920" y="2057400"/>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19</a:t>
            </a:r>
            <a:endParaRPr lang="en-US" sz="1400" dirty="0"/>
          </a:p>
        </p:txBody>
      </p:sp>
      <p:sp>
        <p:nvSpPr>
          <p:cNvPr id="27" name="Text 23"/>
          <p:cNvSpPr txBox="1"/>
          <p:nvPr/>
        </p:nvSpPr>
        <p:spPr>
          <a:xfrm>
            <a:off x="10332720" y="2057400"/>
            <a:ext cx="1325880" cy="457200"/>
          </a:xfrm>
          <a:prstGeom prst="rect">
            <a:avLst/>
          </a:prstGeom>
          <a:noFill/>
          <a:ln/>
        </p:spPr>
        <p:txBody>
          <a:bodyPr wrap="square" lIns="0" tIns="0" rIns="0" bIns="0" rtlCol="0" anchor="ctr"/>
          <a:lstStyle/>
          <a:p>
            <a:pPr algn="l" indent="0" marL="0">
              <a:buNone/>
            </a:pPr>
            <a:r>
              <a:rPr lang="en-US" sz="1300" b="1" dirty="0">
                <a:solidFill>
                  <a:srgbClr val="2F6FB3"/>
                </a:solidFill>
                <a:latin typeface="Courier New" pitchFamily="34" charset="0"/>
                <a:ea typeface="Courier New" pitchFamily="34" charset="-122"/>
                <a:cs typeface="Courier New" pitchFamily="34" charset="-120"/>
              </a:rPr>
              <a:t>31 ↔ 8</a:t>
            </a:r>
            <a:endParaRPr lang="en-US" sz="1300" dirty="0"/>
          </a:p>
        </p:txBody>
      </p:sp>
      <p:sp>
        <p:nvSpPr>
          <p:cNvPr id="28" name="Text 24"/>
          <p:cNvSpPr txBox="1"/>
          <p:nvPr/>
        </p:nvSpPr>
        <p:spPr>
          <a:xfrm>
            <a:off x="5943600" y="2715768"/>
            <a:ext cx="822960" cy="457200"/>
          </a:xfrm>
          <a:prstGeom prst="rect">
            <a:avLst/>
          </a:prstGeom>
          <a:noFill/>
          <a:ln/>
        </p:spPr>
        <p:txBody>
          <a:bodyPr wrap="square" lIns="0" tIns="0" rIns="0" bIns="0" rtlCol="0" anchor="ct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i = 1</a:t>
            </a:r>
            <a:endParaRPr lang="en-US" sz="1400" dirty="0"/>
          </a:p>
        </p:txBody>
      </p:sp>
      <p:sp>
        <p:nvSpPr>
          <p:cNvPr id="29" name="Shape 25"/>
          <p:cNvSpPr/>
          <p:nvPr/>
        </p:nvSpPr>
        <p:spPr>
          <a:xfrm>
            <a:off x="6812280" y="2715768"/>
            <a:ext cx="566928" cy="457200"/>
          </a:xfrm>
          <a:prstGeom prst="rect">
            <a:avLst/>
          </a:prstGeom>
          <a:solidFill>
            <a:srgbClr val="E6F4EC"/>
          </a:solidFill>
          <a:ln w="9525">
            <a:solidFill>
              <a:srgbClr val="8A94AB"/>
            </a:solidFill>
            <a:prstDash val="solid"/>
          </a:ln>
        </p:spPr>
      </p:sp>
      <p:sp>
        <p:nvSpPr>
          <p:cNvPr id="30" name="Text 26"/>
          <p:cNvSpPr txBox="1"/>
          <p:nvPr/>
        </p:nvSpPr>
        <p:spPr>
          <a:xfrm>
            <a:off x="6812280" y="2715768"/>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8</a:t>
            </a:r>
            <a:endParaRPr lang="en-US" sz="1400" dirty="0"/>
          </a:p>
        </p:txBody>
      </p:sp>
      <p:sp>
        <p:nvSpPr>
          <p:cNvPr id="31" name="Shape 27"/>
          <p:cNvSpPr/>
          <p:nvPr/>
        </p:nvSpPr>
        <p:spPr>
          <a:xfrm>
            <a:off x="7379208" y="2715768"/>
            <a:ext cx="566928" cy="457200"/>
          </a:xfrm>
          <a:prstGeom prst="rect">
            <a:avLst/>
          </a:prstGeom>
          <a:solidFill>
            <a:srgbClr val="E3ECF8"/>
          </a:solidFill>
          <a:ln w="9525">
            <a:solidFill>
              <a:srgbClr val="8A94AB"/>
            </a:solidFill>
            <a:prstDash val="solid"/>
          </a:ln>
        </p:spPr>
      </p:sp>
      <p:sp>
        <p:nvSpPr>
          <p:cNvPr id="32" name="Text 28"/>
          <p:cNvSpPr txBox="1"/>
          <p:nvPr/>
        </p:nvSpPr>
        <p:spPr>
          <a:xfrm>
            <a:off x="7379208" y="2715768"/>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12</a:t>
            </a:r>
            <a:endParaRPr lang="en-US" sz="1400" dirty="0"/>
          </a:p>
        </p:txBody>
      </p:sp>
      <p:sp>
        <p:nvSpPr>
          <p:cNvPr id="33" name="Shape 29"/>
          <p:cNvSpPr/>
          <p:nvPr/>
        </p:nvSpPr>
        <p:spPr>
          <a:xfrm>
            <a:off x="7946136" y="2715768"/>
            <a:ext cx="566928" cy="457200"/>
          </a:xfrm>
          <a:prstGeom prst="rect">
            <a:avLst/>
          </a:prstGeom>
          <a:solidFill>
            <a:srgbClr val="FFFFFF"/>
          </a:solidFill>
          <a:ln w="9525">
            <a:solidFill>
              <a:srgbClr val="8A94AB"/>
            </a:solidFill>
            <a:prstDash val="solid"/>
          </a:ln>
        </p:spPr>
      </p:sp>
      <p:sp>
        <p:nvSpPr>
          <p:cNvPr id="34" name="Text 30"/>
          <p:cNvSpPr txBox="1"/>
          <p:nvPr/>
        </p:nvSpPr>
        <p:spPr>
          <a:xfrm>
            <a:off x="7946136" y="2715768"/>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47</a:t>
            </a:r>
            <a:endParaRPr lang="en-US" sz="1400" dirty="0"/>
          </a:p>
        </p:txBody>
      </p:sp>
      <p:sp>
        <p:nvSpPr>
          <p:cNvPr id="35" name="Shape 31"/>
          <p:cNvSpPr/>
          <p:nvPr/>
        </p:nvSpPr>
        <p:spPr>
          <a:xfrm>
            <a:off x="8513064" y="2715768"/>
            <a:ext cx="566928" cy="457200"/>
          </a:xfrm>
          <a:prstGeom prst="rect">
            <a:avLst/>
          </a:prstGeom>
          <a:solidFill>
            <a:srgbClr val="FFFFFF"/>
          </a:solidFill>
          <a:ln w="9525">
            <a:solidFill>
              <a:srgbClr val="8A94AB"/>
            </a:solidFill>
            <a:prstDash val="solid"/>
          </a:ln>
        </p:spPr>
      </p:sp>
      <p:sp>
        <p:nvSpPr>
          <p:cNvPr id="36" name="Text 32"/>
          <p:cNvSpPr txBox="1"/>
          <p:nvPr/>
        </p:nvSpPr>
        <p:spPr>
          <a:xfrm>
            <a:off x="8513064" y="2715768"/>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31</a:t>
            </a:r>
            <a:endParaRPr lang="en-US" sz="1400" dirty="0"/>
          </a:p>
        </p:txBody>
      </p:sp>
      <p:sp>
        <p:nvSpPr>
          <p:cNvPr id="37" name="Shape 33"/>
          <p:cNvSpPr/>
          <p:nvPr/>
        </p:nvSpPr>
        <p:spPr>
          <a:xfrm>
            <a:off x="9079992" y="2715768"/>
            <a:ext cx="566928" cy="457200"/>
          </a:xfrm>
          <a:prstGeom prst="rect">
            <a:avLst/>
          </a:prstGeom>
          <a:solidFill>
            <a:srgbClr val="FFFFFF"/>
          </a:solidFill>
          <a:ln w="9525">
            <a:solidFill>
              <a:srgbClr val="8A94AB"/>
            </a:solidFill>
            <a:prstDash val="solid"/>
          </a:ln>
        </p:spPr>
      </p:sp>
      <p:sp>
        <p:nvSpPr>
          <p:cNvPr id="38" name="Text 34"/>
          <p:cNvSpPr txBox="1"/>
          <p:nvPr/>
        </p:nvSpPr>
        <p:spPr>
          <a:xfrm>
            <a:off x="9079992" y="2715768"/>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25</a:t>
            </a:r>
            <a:endParaRPr lang="en-US" sz="1400" dirty="0"/>
          </a:p>
        </p:txBody>
      </p:sp>
      <p:sp>
        <p:nvSpPr>
          <p:cNvPr id="39" name="Shape 35"/>
          <p:cNvSpPr/>
          <p:nvPr/>
        </p:nvSpPr>
        <p:spPr>
          <a:xfrm>
            <a:off x="9646920" y="2715768"/>
            <a:ext cx="566928" cy="457200"/>
          </a:xfrm>
          <a:prstGeom prst="rect">
            <a:avLst/>
          </a:prstGeom>
          <a:solidFill>
            <a:srgbClr val="FFFFFF"/>
          </a:solidFill>
          <a:ln w="9525">
            <a:solidFill>
              <a:srgbClr val="8A94AB"/>
            </a:solidFill>
            <a:prstDash val="solid"/>
          </a:ln>
        </p:spPr>
      </p:sp>
      <p:sp>
        <p:nvSpPr>
          <p:cNvPr id="40" name="Text 36"/>
          <p:cNvSpPr txBox="1"/>
          <p:nvPr/>
        </p:nvSpPr>
        <p:spPr>
          <a:xfrm>
            <a:off x="9646920" y="2715768"/>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19</a:t>
            </a:r>
            <a:endParaRPr lang="en-US" sz="1400" dirty="0"/>
          </a:p>
        </p:txBody>
      </p:sp>
      <p:sp>
        <p:nvSpPr>
          <p:cNvPr id="41" name="Text 37"/>
          <p:cNvSpPr txBox="1"/>
          <p:nvPr/>
        </p:nvSpPr>
        <p:spPr>
          <a:xfrm>
            <a:off x="10332720" y="2715768"/>
            <a:ext cx="1325880" cy="457200"/>
          </a:xfrm>
          <a:prstGeom prst="rect">
            <a:avLst/>
          </a:prstGeom>
          <a:noFill/>
          <a:ln/>
        </p:spPr>
        <p:txBody>
          <a:bodyPr wrap="square" lIns="0" tIns="0" rIns="0" bIns="0" rtlCol="0" anchor="ctr"/>
          <a:lstStyle/>
          <a:p>
            <a:pPr algn="l" indent="0" marL="0">
              <a:buNone/>
            </a:pPr>
            <a:r>
              <a:rPr lang="en-US" sz="1300" b="1" dirty="0">
                <a:solidFill>
                  <a:srgbClr val="5B6478"/>
                </a:solidFill>
                <a:latin typeface="Courier New" pitchFamily="34" charset="0"/>
                <a:ea typeface="Courier New" pitchFamily="34" charset="-122"/>
                <a:cs typeface="Courier New" pitchFamily="34" charset="-120"/>
              </a:rPr>
              <a:t>no swap</a:t>
            </a:r>
            <a:endParaRPr lang="en-US" sz="1300" dirty="0"/>
          </a:p>
        </p:txBody>
      </p:sp>
      <p:sp>
        <p:nvSpPr>
          <p:cNvPr id="42" name="Text 38"/>
          <p:cNvSpPr txBox="1"/>
          <p:nvPr/>
        </p:nvSpPr>
        <p:spPr>
          <a:xfrm>
            <a:off x="5943600" y="3374136"/>
            <a:ext cx="822960" cy="457200"/>
          </a:xfrm>
          <a:prstGeom prst="rect">
            <a:avLst/>
          </a:prstGeom>
          <a:noFill/>
          <a:ln/>
        </p:spPr>
        <p:txBody>
          <a:bodyPr wrap="square" lIns="0" tIns="0" rIns="0" bIns="0" rtlCol="0" anchor="ct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i = 2</a:t>
            </a:r>
            <a:endParaRPr lang="en-US" sz="1400" dirty="0"/>
          </a:p>
        </p:txBody>
      </p:sp>
      <p:sp>
        <p:nvSpPr>
          <p:cNvPr id="43" name="Shape 39"/>
          <p:cNvSpPr/>
          <p:nvPr/>
        </p:nvSpPr>
        <p:spPr>
          <a:xfrm>
            <a:off x="6812280" y="3374136"/>
            <a:ext cx="566928" cy="457200"/>
          </a:xfrm>
          <a:prstGeom prst="rect">
            <a:avLst/>
          </a:prstGeom>
          <a:solidFill>
            <a:srgbClr val="E6F4EC"/>
          </a:solidFill>
          <a:ln w="9525">
            <a:solidFill>
              <a:srgbClr val="8A94AB"/>
            </a:solidFill>
            <a:prstDash val="solid"/>
          </a:ln>
        </p:spPr>
      </p:sp>
      <p:sp>
        <p:nvSpPr>
          <p:cNvPr id="44" name="Text 40"/>
          <p:cNvSpPr txBox="1"/>
          <p:nvPr/>
        </p:nvSpPr>
        <p:spPr>
          <a:xfrm>
            <a:off x="6812280" y="3374136"/>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8</a:t>
            </a:r>
            <a:endParaRPr lang="en-US" sz="1400" dirty="0"/>
          </a:p>
        </p:txBody>
      </p:sp>
      <p:sp>
        <p:nvSpPr>
          <p:cNvPr id="45" name="Shape 41"/>
          <p:cNvSpPr/>
          <p:nvPr/>
        </p:nvSpPr>
        <p:spPr>
          <a:xfrm>
            <a:off x="7379208" y="3374136"/>
            <a:ext cx="566928" cy="457200"/>
          </a:xfrm>
          <a:prstGeom prst="rect">
            <a:avLst/>
          </a:prstGeom>
          <a:solidFill>
            <a:srgbClr val="E6F4EC"/>
          </a:solidFill>
          <a:ln w="9525">
            <a:solidFill>
              <a:srgbClr val="8A94AB"/>
            </a:solidFill>
            <a:prstDash val="solid"/>
          </a:ln>
        </p:spPr>
      </p:sp>
      <p:sp>
        <p:nvSpPr>
          <p:cNvPr id="46" name="Text 42"/>
          <p:cNvSpPr txBox="1"/>
          <p:nvPr/>
        </p:nvSpPr>
        <p:spPr>
          <a:xfrm>
            <a:off x="7379208" y="3374136"/>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12</a:t>
            </a:r>
            <a:endParaRPr lang="en-US" sz="1400" dirty="0"/>
          </a:p>
        </p:txBody>
      </p:sp>
      <p:sp>
        <p:nvSpPr>
          <p:cNvPr id="47" name="Shape 43"/>
          <p:cNvSpPr/>
          <p:nvPr/>
        </p:nvSpPr>
        <p:spPr>
          <a:xfrm>
            <a:off x="7946136" y="3374136"/>
            <a:ext cx="566928" cy="457200"/>
          </a:xfrm>
          <a:prstGeom prst="rect">
            <a:avLst/>
          </a:prstGeom>
          <a:solidFill>
            <a:srgbClr val="FFF1D6"/>
          </a:solidFill>
          <a:ln w="9525">
            <a:solidFill>
              <a:srgbClr val="8A94AB"/>
            </a:solidFill>
            <a:prstDash val="solid"/>
          </a:ln>
        </p:spPr>
      </p:sp>
      <p:sp>
        <p:nvSpPr>
          <p:cNvPr id="48" name="Text 44"/>
          <p:cNvSpPr txBox="1"/>
          <p:nvPr/>
        </p:nvSpPr>
        <p:spPr>
          <a:xfrm>
            <a:off x="7946136" y="3374136"/>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47</a:t>
            </a:r>
            <a:endParaRPr lang="en-US" sz="1400" dirty="0"/>
          </a:p>
        </p:txBody>
      </p:sp>
      <p:sp>
        <p:nvSpPr>
          <p:cNvPr id="49" name="Shape 45"/>
          <p:cNvSpPr/>
          <p:nvPr/>
        </p:nvSpPr>
        <p:spPr>
          <a:xfrm>
            <a:off x="8513064" y="3374136"/>
            <a:ext cx="566928" cy="457200"/>
          </a:xfrm>
          <a:prstGeom prst="rect">
            <a:avLst/>
          </a:prstGeom>
          <a:solidFill>
            <a:srgbClr val="FFFFFF"/>
          </a:solidFill>
          <a:ln w="9525">
            <a:solidFill>
              <a:srgbClr val="8A94AB"/>
            </a:solidFill>
            <a:prstDash val="solid"/>
          </a:ln>
        </p:spPr>
      </p:sp>
      <p:sp>
        <p:nvSpPr>
          <p:cNvPr id="50" name="Text 46"/>
          <p:cNvSpPr txBox="1"/>
          <p:nvPr/>
        </p:nvSpPr>
        <p:spPr>
          <a:xfrm>
            <a:off x="8513064" y="3374136"/>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31</a:t>
            </a:r>
            <a:endParaRPr lang="en-US" sz="1400" dirty="0"/>
          </a:p>
        </p:txBody>
      </p:sp>
      <p:sp>
        <p:nvSpPr>
          <p:cNvPr id="51" name="Shape 47"/>
          <p:cNvSpPr/>
          <p:nvPr/>
        </p:nvSpPr>
        <p:spPr>
          <a:xfrm>
            <a:off x="9079992" y="3374136"/>
            <a:ext cx="566928" cy="457200"/>
          </a:xfrm>
          <a:prstGeom prst="rect">
            <a:avLst/>
          </a:prstGeom>
          <a:solidFill>
            <a:srgbClr val="FFFFFF"/>
          </a:solidFill>
          <a:ln w="9525">
            <a:solidFill>
              <a:srgbClr val="8A94AB"/>
            </a:solidFill>
            <a:prstDash val="solid"/>
          </a:ln>
        </p:spPr>
      </p:sp>
      <p:sp>
        <p:nvSpPr>
          <p:cNvPr id="52" name="Text 48"/>
          <p:cNvSpPr txBox="1"/>
          <p:nvPr/>
        </p:nvSpPr>
        <p:spPr>
          <a:xfrm>
            <a:off x="9079992" y="3374136"/>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25</a:t>
            </a:r>
            <a:endParaRPr lang="en-US" sz="1400" dirty="0"/>
          </a:p>
        </p:txBody>
      </p:sp>
      <p:sp>
        <p:nvSpPr>
          <p:cNvPr id="53" name="Shape 49"/>
          <p:cNvSpPr/>
          <p:nvPr/>
        </p:nvSpPr>
        <p:spPr>
          <a:xfrm>
            <a:off x="9646920" y="3374136"/>
            <a:ext cx="566928" cy="457200"/>
          </a:xfrm>
          <a:prstGeom prst="rect">
            <a:avLst/>
          </a:prstGeom>
          <a:solidFill>
            <a:srgbClr val="E3ECF8"/>
          </a:solidFill>
          <a:ln w="9525">
            <a:solidFill>
              <a:srgbClr val="8A94AB"/>
            </a:solidFill>
            <a:prstDash val="solid"/>
          </a:ln>
        </p:spPr>
      </p:sp>
      <p:sp>
        <p:nvSpPr>
          <p:cNvPr id="54" name="Text 50"/>
          <p:cNvSpPr txBox="1"/>
          <p:nvPr/>
        </p:nvSpPr>
        <p:spPr>
          <a:xfrm>
            <a:off x="9646920" y="3374136"/>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19</a:t>
            </a:r>
            <a:endParaRPr lang="en-US" sz="1400" dirty="0"/>
          </a:p>
        </p:txBody>
      </p:sp>
      <p:sp>
        <p:nvSpPr>
          <p:cNvPr id="55" name="Text 51"/>
          <p:cNvSpPr txBox="1"/>
          <p:nvPr/>
        </p:nvSpPr>
        <p:spPr>
          <a:xfrm>
            <a:off x="10332720" y="3374136"/>
            <a:ext cx="1325880" cy="457200"/>
          </a:xfrm>
          <a:prstGeom prst="rect">
            <a:avLst/>
          </a:prstGeom>
          <a:noFill/>
          <a:ln/>
        </p:spPr>
        <p:txBody>
          <a:bodyPr wrap="square" lIns="0" tIns="0" rIns="0" bIns="0" rtlCol="0" anchor="ctr"/>
          <a:lstStyle/>
          <a:p>
            <a:pPr algn="l" indent="0" marL="0">
              <a:buNone/>
            </a:pPr>
            <a:r>
              <a:rPr lang="en-US" sz="1300" b="1" dirty="0">
                <a:solidFill>
                  <a:srgbClr val="2F6FB3"/>
                </a:solidFill>
                <a:latin typeface="Courier New" pitchFamily="34" charset="0"/>
                <a:ea typeface="Courier New" pitchFamily="34" charset="-122"/>
                <a:cs typeface="Courier New" pitchFamily="34" charset="-120"/>
              </a:rPr>
              <a:t>47 ↔ 19</a:t>
            </a:r>
            <a:endParaRPr lang="en-US" sz="1300" dirty="0"/>
          </a:p>
        </p:txBody>
      </p:sp>
      <p:sp>
        <p:nvSpPr>
          <p:cNvPr id="56" name="Text 52"/>
          <p:cNvSpPr txBox="1"/>
          <p:nvPr/>
        </p:nvSpPr>
        <p:spPr>
          <a:xfrm>
            <a:off x="5943600" y="4032504"/>
            <a:ext cx="822960" cy="457200"/>
          </a:xfrm>
          <a:prstGeom prst="rect">
            <a:avLst/>
          </a:prstGeom>
          <a:noFill/>
          <a:ln/>
        </p:spPr>
        <p:txBody>
          <a:bodyPr wrap="square" lIns="0" tIns="0" rIns="0" bIns="0" rtlCol="0" anchor="ct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i = 3</a:t>
            </a:r>
            <a:endParaRPr lang="en-US" sz="1400" dirty="0"/>
          </a:p>
        </p:txBody>
      </p:sp>
      <p:sp>
        <p:nvSpPr>
          <p:cNvPr id="57" name="Shape 53"/>
          <p:cNvSpPr/>
          <p:nvPr/>
        </p:nvSpPr>
        <p:spPr>
          <a:xfrm>
            <a:off x="6812280" y="4032504"/>
            <a:ext cx="566928" cy="457200"/>
          </a:xfrm>
          <a:prstGeom prst="rect">
            <a:avLst/>
          </a:prstGeom>
          <a:solidFill>
            <a:srgbClr val="E6F4EC"/>
          </a:solidFill>
          <a:ln w="9525">
            <a:solidFill>
              <a:srgbClr val="8A94AB"/>
            </a:solidFill>
            <a:prstDash val="solid"/>
          </a:ln>
        </p:spPr>
      </p:sp>
      <p:sp>
        <p:nvSpPr>
          <p:cNvPr id="58" name="Text 54"/>
          <p:cNvSpPr txBox="1"/>
          <p:nvPr/>
        </p:nvSpPr>
        <p:spPr>
          <a:xfrm>
            <a:off x="6812280" y="4032504"/>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8</a:t>
            </a:r>
            <a:endParaRPr lang="en-US" sz="1400" dirty="0"/>
          </a:p>
        </p:txBody>
      </p:sp>
      <p:sp>
        <p:nvSpPr>
          <p:cNvPr id="59" name="Shape 55"/>
          <p:cNvSpPr/>
          <p:nvPr/>
        </p:nvSpPr>
        <p:spPr>
          <a:xfrm>
            <a:off x="7379208" y="4032504"/>
            <a:ext cx="566928" cy="457200"/>
          </a:xfrm>
          <a:prstGeom prst="rect">
            <a:avLst/>
          </a:prstGeom>
          <a:solidFill>
            <a:srgbClr val="E6F4EC"/>
          </a:solidFill>
          <a:ln w="9525">
            <a:solidFill>
              <a:srgbClr val="8A94AB"/>
            </a:solidFill>
            <a:prstDash val="solid"/>
          </a:ln>
        </p:spPr>
      </p:sp>
      <p:sp>
        <p:nvSpPr>
          <p:cNvPr id="60" name="Text 56"/>
          <p:cNvSpPr txBox="1"/>
          <p:nvPr/>
        </p:nvSpPr>
        <p:spPr>
          <a:xfrm>
            <a:off x="7379208" y="4032504"/>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12</a:t>
            </a:r>
            <a:endParaRPr lang="en-US" sz="1400" dirty="0"/>
          </a:p>
        </p:txBody>
      </p:sp>
      <p:sp>
        <p:nvSpPr>
          <p:cNvPr id="61" name="Shape 57"/>
          <p:cNvSpPr/>
          <p:nvPr/>
        </p:nvSpPr>
        <p:spPr>
          <a:xfrm>
            <a:off x="7946136" y="4032504"/>
            <a:ext cx="566928" cy="457200"/>
          </a:xfrm>
          <a:prstGeom prst="rect">
            <a:avLst/>
          </a:prstGeom>
          <a:solidFill>
            <a:srgbClr val="E6F4EC"/>
          </a:solidFill>
          <a:ln w="9525">
            <a:solidFill>
              <a:srgbClr val="8A94AB"/>
            </a:solidFill>
            <a:prstDash val="solid"/>
          </a:ln>
        </p:spPr>
      </p:sp>
      <p:sp>
        <p:nvSpPr>
          <p:cNvPr id="62" name="Text 58"/>
          <p:cNvSpPr txBox="1"/>
          <p:nvPr/>
        </p:nvSpPr>
        <p:spPr>
          <a:xfrm>
            <a:off x="7946136" y="4032504"/>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19</a:t>
            </a:r>
            <a:endParaRPr lang="en-US" sz="1400" dirty="0"/>
          </a:p>
        </p:txBody>
      </p:sp>
      <p:sp>
        <p:nvSpPr>
          <p:cNvPr id="63" name="Shape 59"/>
          <p:cNvSpPr/>
          <p:nvPr/>
        </p:nvSpPr>
        <p:spPr>
          <a:xfrm>
            <a:off x="8513064" y="4032504"/>
            <a:ext cx="566928" cy="457200"/>
          </a:xfrm>
          <a:prstGeom prst="rect">
            <a:avLst/>
          </a:prstGeom>
          <a:solidFill>
            <a:srgbClr val="FFF1D6"/>
          </a:solidFill>
          <a:ln w="9525">
            <a:solidFill>
              <a:srgbClr val="8A94AB"/>
            </a:solidFill>
            <a:prstDash val="solid"/>
          </a:ln>
        </p:spPr>
      </p:sp>
      <p:sp>
        <p:nvSpPr>
          <p:cNvPr id="64" name="Text 60"/>
          <p:cNvSpPr txBox="1"/>
          <p:nvPr/>
        </p:nvSpPr>
        <p:spPr>
          <a:xfrm>
            <a:off x="8513064" y="4032504"/>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31</a:t>
            </a:r>
            <a:endParaRPr lang="en-US" sz="1400" dirty="0"/>
          </a:p>
        </p:txBody>
      </p:sp>
      <p:sp>
        <p:nvSpPr>
          <p:cNvPr id="65" name="Shape 61"/>
          <p:cNvSpPr/>
          <p:nvPr/>
        </p:nvSpPr>
        <p:spPr>
          <a:xfrm>
            <a:off x="9079992" y="4032504"/>
            <a:ext cx="566928" cy="457200"/>
          </a:xfrm>
          <a:prstGeom prst="rect">
            <a:avLst/>
          </a:prstGeom>
          <a:solidFill>
            <a:srgbClr val="E3ECF8"/>
          </a:solidFill>
          <a:ln w="9525">
            <a:solidFill>
              <a:srgbClr val="8A94AB"/>
            </a:solidFill>
            <a:prstDash val="solid"/>
          </a:ln>
        </p:spPr>
      </p:sp>
      <p:sp>
        <p:nvSpPr>
          <p:cNvPr id="66" name="Text 62"/>
          <p:cNvSpPr txBox="1"/>
          <p:nvPr/>
        </p:nvSpPr>
        <p:spPr>
          <a:xfrm>
            <a:off x="9079992" y="4032504"/>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25</a:t>
            </a:r>
            <a:endParaRPr lang="en-US" sz="1400" dirty="0"/>
          </a:p>
        </p:txBody>
      </p:sp>
      <p:sp>
        <p:nvSpPr>
          <p:cNvPr id="67" name="Shape 63"/>
          <p:cNvSpPr/>
          <p:nvPr/>
        </p:nvSpPr>
        <p:spPr>
          <a:xfrm>
            <a:off x="9646920" y="4032504"/>
            <a:ext cx="566928" cy="457200"/>
          </a:xfrm>
          <a:prstGeom prst="rect">
            <a:avLst/>
          </a:prstGeom>
          <a:solidFill>
            <a:srgbClr val="FFFFFF"/>
          </a:solidFill>
          <a:ln w="9525">
            <a:solidFill>
              <a:srgbClr val="8A94AB"/>
            </a:solidFill>
            <a:prstDash val="solid"/>
          </a:ln>
        </p:spPr>
      </p:sp>
      <p:sp>
        <p:nvSpPr>
          <p:cNvPr id="68" name="Text 64"/>
          <p:cNvSpPr txBox="1"/>
          <p:nvPr/>
        </p:nvSpPr>
        <p:spPr>
          <a:xfrm>
            <a:off x="9646920" y="4032504"/>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47</a:t>
            </a:r>
            <a:endParaRPr lang="en-US" sz="1400" dirty="0"/>
          </a:p>
        </p:txBody>
      </p:sp>
      <p:sp>
        <p:nvSpPr>
          <p:cNvPr id="69" name="Text 65"/>
          <p:cNvSpPr txBox="1"/>
          <p:nvPr/>
        </p:nvSpPr>
        <p:spPr>
          <a:xfrm>
            <a:off x="10332720" y="4032504"/>
            <a:ext cx="1325880" cy="457200"/>
          </a:xfrm>
          <a:prstGeom prst="rect">
            <a:avLst/>
          </a:prstGeom>
          <a:noFill/>
          <a:ln/>
        </p:spPr>
        <p:txBody>
          <a:bodyPr wrap="square" lIns="0" tIns="0" rIns="0" bIns="0" rtlCol="0" anchor="ctr"/>
          <a:lstStyle/>
          <a:p>
            <a:pPr algn="l" indent="0" marL="0">
              <a:buNone/>
            </a:pPr>
            <a:r>
              <a:rPr lang="en-US" sz="1300" b="1" dirty="0">
                <a:solidFill>
                  <a:srgbClr val="2F6FB3"/>
                </a:solidFill>
                <a:latin typeface="Courier New" pitchFamily="34" charset="0"/>
                <a:ea typeface="Courier New" pitchFamily="34" charset="-122"/>
                <a:cs typeface="Courier New" pitchFamily="34" charset="-120"/>
              </a:rPr>
              <a:t>31 ↔ 25</a:t>
            </a:r>
            <a:endParaRPr lang="en-US" sz="1300" dirty="0"/>
          </a:p>
        </p:txBody>
      </p:sp>
      <p:sp>
        <p:nvSpPr>
          <p:cNvPr id="70" name="Text 66"/>
          <p:cNvSpPr txBox="1"/>
          <p:nvPr/>
        </p:nvSpPr>
        <p:spPr>
          <a:xfrm>
            <a:off x="5943600" y="4690872"/>
            <a:ext cx="822960" cy="457200"/>
          </a:xfrm>
          <a:prstGeom prst="rect">
            <a:avLst/>
          </a:prstGeom>
          <a:noFill/>
          <a:ln/>
        </p:spPr>
        <p:txBody>
          <a:bodyPr wrap="square" lIns="0" tIns="0" rIns="0" bIns="0" rtlCol="0" anchor="ct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i = 4</a:t>
            </a:r>
            <a:endParaRPr lang="en-US" sz="1400" dirty="0"/>
          </a:p>
        </p:txBody>
      </p:sp>
      <p:sp>
        <p:nvSpPr>
          <p:cNvPr id="71" name="Shape 67"/>
          <p:cNvSpPr/>
          <p:nvPr/>
        </p:nvSpPr>
        <p:spPr>
          <a:xfrm>
            <a:off x="6812280" y="4690872"/>
            <a:ext cx="566928" cy="457200"/>
          </a:xfrm>
          <a:prstGeom prst="rect">
            <a:avLst/>
          </a:prstGeom>
          <a:solidFill>
            <a:srgbClr val="E6F4EC"/>
          </a:solidFill>
          <a:ln w="9525">
            <a:solidFill>
              <a:srgbClr val="8A94AB"/>
            </a:solidFill>
            <a:prstDash val="solid"/>
          </a:ln>
        </p:spPr>
      </p:sp>
      <p:sp>
        <p:nvSpPr>
          <p:cNvPr id="72" name="Text 68"/>
          <p:cNvSpPr txBox="1"/>
          <p:nvPr/>
        </p:nvSpPr>
        <p:spPr>
          <a:xfrm>
            <a:off x="6812280" y="4690872"/>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8</a:t>
            </a:r>
            <a:endParaRPr lang="en-US" sz="1400" dirty="0"/>
          </a:p>
        </p:txBody>
      </p:sp>
      <p:sp>
        <p:nvSpPr>
          <p:cNvPr id="73" name="Shape 69"/>
          <p:cNvSpPr/>
          <p:nvPr/>
        </p:nvSpPr>
        <p:spPr>
          <a:xfrm>
            <a:off x="7379208" y="4690872"/>
            <a:ext cx="566928" cy="457200"/>
          </a:xfrm>
          <a:prstGeom prst="rect">
            <a:avLst/>
          </a:prstGeom>
          <a:solidFill>
            <a:srgbClr val="E6F4EC"/>
          </a:solidFill>
          <a:ln w="9525">
            <a:solidFill>
              <a:srgbClr val="8A94AB"/>
            </a:solidFill>
            <a:prstDash val="solid"/>
          </a:ln>
        </p:spPr>
      </p:sp>
      <p:sp>
        <p:nvSpPr>
          <p:cNvPr id="74" name="Text 70"/>
          <p:cNvSpPr txBox="1"/>
          <p:nvPr/>
        </p:nvSpPr>
        <p:spPr>
          <a:xfrm>
            <a:off x="7379208" y="4690872"/>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12</a:t>
            </a:r>
            <a:endParaRPr lang="en-US" sz="1400" dirty="0"/>
          </a:p>
        </p:txBody>
      </p:sp>
      <p:sp>
        <p:nvSpPr>
          <p:cNvPr id="75" name="Shape 71"/>
          <p:cNvSpPr/>
          <p:nvPr/>
        </p:nvSpPr>
        <p:spPr>
          <a:xfrm>
            <a:off x="7946136" y="4690872"/>
            <a:ext cx="566928" cy="457200"/>
          </a:xfrm>
          <a:prstGeom prst="rect">
            <a:avLst/>
          </a:prstGeom>
          <a:solidFill>
            <a:srgbClr val="E6F4EC"/>
          </a:solidFill>
          <a:ln w="9525">
            <a:solidFill>
              <a:srgbClr val="8A94AB"/>
            </a:solidFill>
            <a:prstDash val="solid"/>
          </a:ln>
        </p:spPr>
      </p:sp>
      <p:sp>
        <p:nvSpPr>
          <p:cNvPr id="76" name="Text 72"/>
          <p:cNvSpPr txBox="1"/>
          <p:nvPr/>
        </p:nvSpPr>
        <p:spPr>
          <a:xfrm>
            <a:off x="7946136" y="4690872"/>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19</a:t>
            </a:r>
            <a:endParaRPr lang="en-US" sz="1400" dirty="0"/>
          </a:p>
        </p:txBody>
      </p:sp>
      <p:sp>
        <p:nvSpPr>
          <p:cNvPr id="77" name="Shape 73"/>
          <p:cNvSpPr/>
          <p:nvPr/>
        </p:nvSpPr>
        <p:spPr>
          <a:xfrm>
            <a:off x="8513064" y="4690872"/>
            <a:ext cx="566928" cy="457200"/>
          </a:xfrm>
          <a:prstGeom prst="rect">
            <a:avLst/>
          </a:prstGeom>
          <a:solidFill>
            <a:srgbClr val="E6F4EC"/>
          </a:solidFill>
          <a:ln w="9525">
            <a:solidFill>
              <a:srgbClr val="8A94AB"/>
            </a:solidFill>
            <a:prstDash val="solid"/>
          </a:ln>
        </p:spPr>
      </p:sp>
      <p:sp>
        <p:nvSpPr>
          <p:cNvPr id="78" name="Text 74"/>
          <p:cNvSpPr txBox="1"/>
          <p:nvPr/>
        </p:nvSpPr>
        <p:spPr>
          <a:xfrm>
            <a:off x="8513064" y="4690872"/>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25</a:t>
            </a:r>
            <a:endParaRPr lang="en-US" sz="1400" dirty="0"/>
          </a:p>
        </p:txBody>
      </p:sp>
      <p:sp>
        <p:nvSpPr>
          <p:cNvPr id="79" name="Shape 75"/>
          <p:cNvSpPr/>
          <p:nvPr/>
        </p:nvSpPr>
        <p:spPr>
          <a:xfrm>
            <a:off x="9079992" y="4690872"/>
            <a:ext cx="566928" cy="457200"/>
          </a:xfrm>
          <a:prstGeom prst="rect">
            <a:avLst/>
          </a:prstGeom>
          <a:solidFill>
            <a:srgbClr val="E3ECF8"/>
          </a:solidFill>
          <a:ln w="9525">
            <a:solidFill>
              <a:srgbClr val="8A94AB"/>
            </a:solidFill>
            <a:prstDash val="solid"/>
          </a:ln>
        </p:spPr>
      </p:sp>
      <p:sp>
        <p:nvSpPr>
          <p:cNvPr id="80" name="Text 76"/>
          <p:cNvSpPr txBox="1"/>
          <p:nvPr/>
        </p:nvSpPr>
        <p:spPr>
          <a:xfrm>
            <a:off x="9079992" y="4690872"/>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31</a:t>
            </a:r>
            <a:endParaRPr lang="en-US" sz="1400" dirty="0"/>
          </a:p>
        </p:txBody>
      </p:sp>
      <p:sp>
        <p:nvSpPr>
          <p:cNvPr id="81" name="Shape 77"/>
          <p:cNvSpPr/>
          <p:nvPr/>
        </p:nvSpPr>
        <p:spPr>
          <a:xfrm>
            <a:off x="9646920" y="4690872"/>
            <a:ext cx="566928" cy="457200"/>
          </a:xfrm>
          <a:prstGeom prst="rect">
            <a:avLst/>
          </a:prstGeom>
          <a:solidFill>
            <a:srgbClr val="FFFFFF"/>
          </a:solidFill>
          <a:ln w="9525">
            <a:solidFill>
              <a:srgbClr val="8A94AB"/>
            </a:solidFill>
            <a:prstDash val="solid"/>
          </a:ln>
        </p:spPr>
      </p:sp>
      <p:sp>
        <p:nvSpPr>
          <p:cNvPr id="82" name="Text 78"/>
          <p:cNvSpPr txBox="1"/>
          <p:nvPr/>
        </p:nvSpPr>
        <p:spPr>
          <a:xfrm>
            <a:off x="9646920" y="4690872"/>
            <a:ext cx="56692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47</a:t>
            </a:r>
            <a:endParaRPr lang="en-US" sz="1400" dirty="0"/>
          </a:p>
        </p:txBody>
      </p:sp>
      <p:sp>
        <p:nvSpPr>
          <p:cNvPr id="83" name="Text 79"/>
          <p:cNvSpPr txBox="1"/>
          <p:nvPr/>
        </p:nvSpPr>
        <p:spPr>
          <a:xfrm>
            <a:off x="10332720" y="4690872"/>
            <a:ext cx="1325880" cy="457200"/>
          </a:xfrm>
          <a:prstGeom prst="rect">
            <a:avLst/>
          </a:prstGeom>
          <a:noFill/>
          <a:ln/>
        </p:spPr>
        <p:txBody>
          <a:bodyPr wrap="square" lIns="0" tIns="0" rIns="0" bIns="0" rtlCol="0" anchor="ctr"/>
          <a:lstStyle/>
          <a:p>
            <a:pPr algn="l" indent="0" marL="0">
              <a:buNone/>
            </a:pPr>
            <a:r>
              <a:rPr lang="en-US" sz="1300" b="1" dirty="0">
                <a:solidFill>
                  <a:srgbClr val="5B6478"/>
                </a:solidFill>
                <a:latin typeface="Courier New" pitchFamily="34" charset="0"/>
                <a:ea typeface="Courier New" pitchFamily="34" charset="-122"/>
                <a:cs typeface="Courier New" pitchFamily="34" charset="-120"/>
              </a:rPr>
              <a:t>no swap</a:t>
            </a:r>
            <a:endParaRPr lang="en-US" sz="1300" dirty="0"/>
          </a:p>
        </p:txBody>
      </p:sp>
      <p:sp>
        <p:nvSpPr>
          <p:cNvPr id="84" name="Shape 80"/>
          <p:cNvSpPr/>
          <p:nvPr/>
        </p:nvSpPr>
        <p:spPr>
          <a:xfrm>
            <a:off x="5943600" y="5486400"/>
            <a:ext cx="274320" cy="274320"/>
          </a:xfrm>
          <a:prstGeom prst="rect">
            <a:avLst/>
          </a:prstGeom>
          <a:solidFill>
            <a:srgbClr val="E3ECF8"/>
          </a:solidFill>
          <a:ln w="9525">
            <a:solidFill>
              <a:srgbClr val="8A94AB"/>
            </a:solidFill>
            <a:prstDash val="solid"/>
          </a:ln>
        </p:spPr>
      </p:sp>
      <p:sp>
        <p:nvSpPr>
          <p:cNvPr id="85" name="Text 81"/>
          <p:cNvSpPr txBox="1"/>
          <p:nvPr/>
        </p:nvSpPr>
        <p:spPr>
          <a:xfrm>
            <a:off x="6309360" y="5440680"/>
            <a:ext cx="118872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minimum</a:t>
            </a:r>
            <a:endParaRPr lang="en-US" sz="1300" dirty="0"/>
          </a:p>
        </p:txBody>
      </p:sp>
      <p:sp>
        <p:nvSpPr>
          <p:cNvPr id="86" name="Shape 82"/>
          <p:cNvSpPr/>
          <p:nvPr/>
        </p:nvSpPr>
        <p:spPr>
          <a:xfrm>
            <a:off x="7543800" y="5486400"/>
            <a:ext cx="274320" cy="274320"/>
          </a:xfrm>
          <a:prstGeom prst="rect">
            <a:avLst/>
          </a:prstGeom>
          <a:solidFill>
            <a:srgbClr val="FFF1D6"/>
          </a:solidFill>
          <a:ln w="9525">
            <a:solidFill>
              <a:srgbClr val="8A94AB"/>
            </a:solidFill>
            <a:prstDash val="solid"/>
          </a:ln>
        </p:spPr>
      </p:sp>
      <p:sp>
        <p:nvSpPr>
          <p:cNvPr id="87" name="Text 83"/>
          <p:cNvSpPr txBox="1"/>
          <p:nvPr/>
        </p:nvSpPr>
        <p:spPr>
          <a:xfrm>
            <a:off x="7909560" y="5440680"/>
            <a:ext cx="137160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position i</a:t>
            </a:r>
            <a:endParaRPr lang="en-US" sz="1300" dirty="0"/>
          </a:p>
        </p:txBody>
      </p:sp>
      <p:sp>
        <p:nvSpPr>
          <p:cNvPr id="88" name="Shape 84"/>
          <p:cNvSpPr/>
          <p:nvPr/>
        </p:nvSpPr>
        <p:spPr>
          <a:xfrm>
            <a:off x="9326880" y="5486400"/>
            <a:ext cx="274320" cy="274320"/>
          </a:xfrm>
          <a:prstGeom prst="rect">
            <a:avLst/>
          </a:prstGeom>
          <a:solidFill>
            <a:srgbClr val="E6F4EC"/>
          </a:solidFill>
          <a:ln w="9525">
            <a:solidFill>
              <a:srgbClr val="8A94AB"/>
            </a:solidFill>
            <a:prstDash val="solid"/>
          </a:ln>
        </p:spPr>
      </p:sp>
      <p:sp>
        <p:nvSpPr>
          <p:cNvPr id="89" name="Text 85"/>
          <p:cNvSpPr txBox="1"/>
          <p:nvPr/>
        </p:nvSpPr>
        <p:spPr>
          <a:xfrm>
            <a:off x="9692640" y="5440680"/>
            <a:ext cx="91440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final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7 · 10_07_SELECTIONSORT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Selection sort: 15 comparisons, only 3 swaps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45920"/>
            <a:ext cx="60350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557784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minIndex = i;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where the smallest is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&lt; n;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comparisons++;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&lt; a[minIndex])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minIndex =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(minIndex != i)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at most one swap per pass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temp = a[i];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a[i] = a[minIndex];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a[minIndex] = temp;</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swaps++;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p:txBody>
      </p:sp>
      <p:sp>
        <p:nvSpPr>
          <p:cNvPr id="10" name="Shape 7"/>
          <p:cNvSpPr/>
          <p:nvPr/>
        </p:nvSpPr>
        <p:spPr>
          <a:xfrm>
            <a:off x="6812280" y="1645920"/>
            <a:ext cx="4846320" cy="2651760"/>
          </a:xfrm>
          <a:prstGeom prst="roundRect">
            <a:avLst>
              <a:gd name="adj" fmla="val 3448"/>
            </a:avLst>
          </a:prstGeom>
          <a:solidFill>
            <a:srgbClr val="0B0F19"/>
          </a:solidFill>
          <a:ln w="12700">
            <a:solidFill>
              <a:srgbClr val="2A3654"/>
            </a:solidFill>
            <a:prstDash val="solid"/>
          </a:ln>
        </p:spPr>
      </p:sp>
      <p:sp>
        <p:nvSpPr>
          <p:cNvPr id="11" name="Shape 8"/>
          <p:cNvSpPr/>
          <p:nvPr/>
        </p:nvSpPr>
        <p:spPr>
          <a:xfrm>
            <a:off x="699516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22376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45236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726680" y="1719072"/>
            <a:ext cx="37490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040880" y="2029968"/>
            <a:ext cx="4389120" cy="21488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  31 12 47 8 25 19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1: 8 12 47 31 25 19   (min = 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2: 8 12 47 31 25 19   (min = 12)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3: 8 12 19 31 25 47   (min = 19)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4: 8 12 19 25 31 47   (min = 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5: 8 12 19 25 31 47   (min = 31)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Sorted: 8 12 19 25 31 47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Comparisons: 15, swaps: 3</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12280" y="4480560"/>
          <a:ext cx="4846320" cy="914400"/>
        </p:xfrm>
        <a:graphic>
          <a:graphicData uri="http://schemas.openxmlformats.org/drawingml/2006/table">
            <a:tbl>
              <a:tblPr/>
              <a:tblGrid>
                <a:gridCol w="1920240"/>
                <a:gridCol w="1463040"/>
                <a:gridCol w="1463040"/>
              </a:tblGrid>
              <a:tr h="457200">
                <a:tc>
                  <a:txBody>
                    <a:bodyPr/>
                    <a:lstStyle/>
                    <a:p>
                      <a:pPr algn="l" indent="0" marL="0">
                        <a:buNone/>
                      </a:pP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bubble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selection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comparisons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swaps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8 · 10_08_INSERTIONSORT (OPTIONAL)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Insertion sort: like sorting playing cards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645920"/>
            <a:ext cx="576072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530352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key = a[i];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the "card" to insert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comparisons++;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&gt; key)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a[j];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shift one cell right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shifts++;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found the place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key;</a:t>
            </a:r>
            <a:endParaRPr lang="en-US" sz="1200" dirty="0"/>
          </a:p>
        </p:txBody>
      </p:sp>
      <p:sp>
        <p:nvSpPr>
          <p:cNvPr id="10" name="Shape 7"/>
          <p:cNvSpPr/>
          <p:nvPr/>
        </p:nvSpPr>
        <p:spPr>
          <a:xfrm>
            <a:off x="6537960" y="1645920"/>
            <a:ext cx="5120640" cy="2651760"/>
          </a:xfrm>
          <a:prstGeom prst="roundRect">
            <a:avLst>
              <a:gd name="adj" fmla="val 3448"/>
            </a:avLst>
          </a:prstGeom>
          <a:solidFill>
            <a:srgbClr val="0B0F19"/>
          </a:solidFill>
          <a:ln w="12700">
            <a:solidFill>
              <a:srgbClr val="2A3654"/>
            </a:solidFill>
            <a:prstDash val="solid"/>
          </a:ln>
        </p:spPr>
      </p:sp>
      <p:sp>
        <p:nvSpPr>
          <p:cNvPr id="11" name="Shape 8"/>
          <p:cNvSpPr/>
          <p:nvPr/>
        </p:nvSpPr>
        <p:spPr>
          <a:xfrm>
            <a:off x="672084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694944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17804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452360" y="1719072"/>
            <a:ext cx="4023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6766560" y="2029968"/>
            <a:ext cx="4663440" cy="21488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  31 12 47 8 25 19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1: 12 31 47 8 25 19   (12 -&gt; [0])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2: 12 31 47 8 25 19   (47 -&gt; [2])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3: 8 12 31 47 25 19   (8 -&gt; [0])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4: 8 12 25 31 47 19   (25 -&gt; [2])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5: 8 12 19 25 31 47   (19 -&gt; [2])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Sorted: 8 12 19 25 31 47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Comparisons: 12, shifts: 9</a:t>
            </a:r>
            <a:endParaRPr lang="en-US" sz="1200" dirty="0"/>
          </a:p>
        </p:txBody>
      </p:sp>
      <p:sp>
        <p:nvSpPr>
          <p:cNvPr id="16" name="Shape 13"/>
          <p:cNvSpPr/>
          <p:nvPr/>
        </p:nvSpPr>
        <p:spPr>
          <a:xfrm>
            <a:off x="6537960" y="4480560"/>
            <a:ext cx="5120640" cy="1600200"/>
          </a:xfrm>
          <a:prstGeom prst="roundRect">
            <a:avLst>
              <a:gd name="adj" fmla="val 6857"/>
            </a:avLst>
          </a:prstGeom>
          <a:solidFill>
            <a:srgbClr val="EEF1F6"/>
          </a:solidFill>
          <a:ln w="12700">
            <a:solidFill>
              <a:srgbClr val="EEF1F6"/>
            </a:solidFill>
            <a:prstDash val="solid"/>
          </a:ln>
        </p:spPr>
      </p:sp>
      <p:sp>
        <p:nvSpPr>
          <p:cNvPr id="17" name="Shape 14"/>
          <p:cNvSpPr/>
          <p:nvPr/>
        </p:nvSpPr>
        <p:spPr>
          <a:xfrm>
            <a:off x="6720840" y="5006340"/>
            <a:ext cx="548640" cy="548640"/>
          </a:xfrm>
          <a:prstGeom prst="ellipse">
            <a:avLst/>
          </a:prstGeom>
          <a:solidFill>
            <a:srgbClr val="14213D"/>
          </a:solidFill>
          <a:ln w="12700">
            <a:solidFill>
              <a:srgbClr val="14213D"/>
            </a:solidFill>
            <a:prstDash val="solid"/>
          </a:ln>
        </p:spPr>
      </p:sp>
      <p:pic>
        <p:nvPicPr>
          <p:cNvPr id="18" name="Image 0" descr="preencoded.png">    </p:cNvPr>
          <p:cNvPicPr>
            <a:picLocks noChangeAspect="1"/>
          </p:cNvPicPr>
          <p:nvPr/>
        </p:nvPicPr>
        <p:blipFill>
          <a:blip r:embed="rId1"/>
          <a:stretch>
            <a:fillRect/>
          </a:stretch>
        </p:blipFill>
        <p:spPr>
          <a:xfrm>
            <a:off x="6863486" y="5148986"/>
            <a:ext cx="263347" cy="263347"/>
          </a:xfrm>
          <a:prstGeom prst="rect">
            <a:avLst/>
          </a:prstGeom>
        </p:spPr>
      </p:pic>
      <p:sp>
        <p:nvSpPr>
          <p:cNvPr id="19" name="Text 15"/>
          <p:cNvSpPr txBox="1"/>
          <p:nvPr/>
        </p:nvSpPr>
        <p:spPr>
          <a:xfrm>
            <a:off x="7452360" y="4535424"/>
            <a:ext cx="4069080" cy="14904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Sorted left part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Pass i inserts a[i] into the sorted part a[0..i−1]: shift bigger values right, then a[j + 1] = key.</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13 · 10_13_SORTINGRACE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Counting the work for growing 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45920"/>
            <a:ext cx="11109960" cy="1965960"/>
          </a:xfrm>
          <a:prstGeom prst="roundRect">
            <a:avLst>
              <a:gd name="adj" fmla="val 4651"/>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10012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2" name="Text 9"/>
          <p:cNvSpPr txBox="1"/>
          <p:nvPr/>
        </p:nvSpPr>
        <p:spPr>
          <a:xfrm>
            <a:off x="777240" y="2029968"/>
            <a:ext cx="10652760" cy="14630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n  linear  binary  bubble-cmp  bubble-swp  select-cmp  select-swp  bubble-ms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10      10       4          42          24          45           8          0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100     100       7        4935        2162        4950          94          0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1000    1000      10      497484      244419      499500         991          2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10000   10000      14    49994565    25154921    49995000        9989        290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Worst case of both sorts: n(n-1)/2 comparisons.</a:t>
            </a:r>
            <a:endParaRPr lang="en-US" sz="1300" dirty="0"/>
          </a:p>
        </p:txBody>
      </p:sp>
      <p:sp>
        <p:nvSpPr>
          <p:cNvPr id="13" name="Shape 10"/>
          <p:cNvSpPr/>
          <p:nvPr/>
        </p:nvSpPr>
        <p:spPr>
          <a:xfrm>
            <a:off x="548640" y="3794760"/>
            <a:ext cx="3611880" cy="2286000"/>
          </a:xfrm>
          <a:prstGeom prst="roundRect">
            <a:avLst>
              <a:gd name="adj" fmla="val 4800"/>
            </a:avLst>
          </a:prstGeom>
          <a:solidFill>
            <a:srgbClr val="EEF1F6"/>
          </a:solidFill>
          <a:ln w="12700">
            <a:solidFill>
              <a:srgbClr val="EEF1F6"/>
            </a:solidFill>
            <a:prstDash val="solid"/>
          </a:ln>
        </p:spPr>
      </p:sp>
      <p:sp>
        <p:nvSpPr>
          <p:cNvPr id="14" name="Shape 11"/>
          <p:cNvSpPr/>
          <p:nvPr/>
        </p:nvSpPr>
        <p:spPr>
          <a:xfrm>
            <a:off x="777240" y="4023360"/>
            <a:ext cx="566928" cy="566928"/>
          </a:xfrm>
          <a:prstGeom prst="ellipse">
            <a:avLst/>
          </a:prstGeom>
          <a:solidFill>
            <a:srgbClr val="14213D"/>
          </a:solidFill>
          <a:ln w="12700">
            <a:solidFill>
              <a:srgbClr val="14213D"/>
            </a:solidFill>
            <a:prstDash val="solid"/>
          </a:ln>
        </p:spPr>
      </p:sp>
      <p:pic>
        <p:nvPicPr>
          <p:cNvPr id="15" name="Image 0" descr="preencoded.png">    </p:cNvPr>
          <p:cNvPicPr>
            <a:picLocks noChangeAspect="1"/>
          </p:cNvPicPr>
          <p:nvPr/>
        </p:nvPicPr>
        <p:blipFill>
          <a:blip r:embed="rId1"/>
          <a:stretch>
            <a:fillRect/>
          </a:stretch>
        </p:blipFill>
        <p:spPr>
          <a:xfrm>
            <a:off x="924641" y="4170761"/>
            <a:ext cx="272125" cy="272125"/>
          </a:xfrm>
          <a:prstGeom prst="rect">
            <a:avLst/>
          </a:prstGeom>
        </p:spPr>
      </p:pic>
      <p:sp>
        <p:nvSpPr>
          <p:cNvPr id="16" name="Text 12"/>
          <p:cNvSpPr txBox="1"/>
          <p:nvPr/>
        </p:nvSpPr>
        <p:spPr>
          <a:xfrm>
            <a:off x="1463040" y="402336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O(n) · linear</a:t>
            </a:r>
            <a:endParaRPr lang="en-US" sz="1700" dirty="0"/>
          </a:p>
        </p:txBody>
      </p:sp>
      <p:sp>
        <p:nvSpPr>
          <p:cNvPr id="17" name="Text 13"/>
          <p:cNvSpPr txBox="1"/>
          <p:nvPr/>
        </p:nvSpPr>
        <p:spPr>
          <a:xfrm>
            <a:off x="777240" y="4709160"/>
            <a:ext cx="3154680" cy="12344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n = 10 000 → 10 000 checks.</a:t>
            </a:r>
            <a:endParaRPr lang="en-US" sz="1500" dirty="0"/>
          </a:p>
        </p:txBody>
      </p:sp>
      <p:sp>
        <p:nvSpPr>
          <p:cNvPr id="18" name="Shape 14"/>
          <p:cNvSpPr/>
          <p:nvPr/>
        </p:nvSpPr>
        <p:spPr>
          <a:xfrm>
            <a:off x="4297680" y="3794760"/>
            <a:ext cx="3611880" cy="2286000"/>
          </a:xfrm>
          <a:prstGeom prst="roundRect">
            <a:avLst>
              <a:gd name="adj" fmla="val 4800"/>
            </a:avLst>
          </a:prstGeom>
          <a:solidFill>
            <a:srgbClr val="EEF1F6"/>
          </a:solidFill>
          <a:ln w="12700">
            <a:solidFill>
              <a:srgbClr val="EEF1F6"/>
            </a:solidFill>
            <a:prstDash val="solid"/>
          </a:ln>
        </p:spPr>
      </p:sp>
      <p:sp>
        <p:nvSpPr>
          <p:cNvPr id="19" name="Shape 15"/>
          <p:cNvSpPr/>
          <p:nvPr/>
        </p:nvSpPr>
        <p:spPr>
          <a:xfrm>
            <a:off x="4526280" y="4023360"/>
            <a:ext cx="566928" cy="566928"/>
          </a:xfrm>
          <a:prstGeom prst="ellipse">
            <a:avLst/>
          </a:prstGeom>
          <a:solidFill>
            <a:srgbClr val="2F6FB3"/>
          </a:solidFill>
          <a:ln w="12700">
            <a:solidFill>
              <a:srgbClr val="2F6FB3"/>
            </a:solidFill>
            <a:prstDash val="solid"/>
          </a:ln>
        </p:spPr>
      </p:sp>
      <p:pic>
        <p:nvPicPr>
          <p:cNvPr id="20" name="Image 1" descr="preencoded.png">    </p:cNvPr>
          <p:cNvPicPr>
            <a:picLocks noChangeAspect="1"/>
          </p:cNvPicPr>
          <p:nvPr/>
        </p:nvPicPr>
        <p:blipFill>
          <a:blip r:embed="rId2"/>
          <a:stretch>
            <a:fillRect/>
          </a:stretch>
        </p:blipFill>
        <p:spPr>
          <a:xfrm>
            <a:off x="4673681" y="4170761"/>
            <a:ext cx="272125" cy="272125"/>
          </a:xfrm>
          <a:prstGeom prst="rect">
            <a:avLst/>
          </a:prstGeom>
        </p:spPr>
      </p:pic>
      <p:sp>
        <p:nvSpPr>
          <p:cNvPr id="21" name="Text 16"/>
          <p:cNvSpPr txBox="1"/>
          <p:nvPr/>
        </p:nvSpPr>
        <p:spPr>
          <a:xfrm>
            <a:off x="5212080" y="402336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O(log n) · binary</a:t>
            </a:r>
            <a:endParaRPr lang="en-US" sz="1700" dirty="0"/>
          </a:p>
        </p:txBody>
      </p:sp>
      <p:sp>
        <p:nvSpPr>
          <p:cNvPr id="22" name="Text 17"/>
          <p:cNvSpPr txBox="1"/>
          <p:nvPr/>
        </p:nvSpPr>
        <p:spPr>
          <a:xfrm>
            <a:off x="4526280" y="4709160"/>
            <a:ext cx="3154680" cy="12344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n = 10 000 → 14 checks.</a:t>
            </a:r>
            <a:endParaRPr lang="en-US" sz="1500" dirty="0"/>
          </a:p>
        </p:txBody>
      </p:sp>
      <p:sp>
        <p:nvSpPr>
          <p:cNvPr id="23" name="Shape 18"/>
          <p:cNvSpPr/>
          <p:nvPr/>
        </p:nvSpPr>
        <p:spPr>
          <a:xfrm>
            <a:off x="8046720" y="3794760"/>
            <a:ext cx="3611880" cy="2286000"/>
          </a:xfrm>
          <a:prstGeom prst="roundRect">
            <a:avLst>
              <a:gd name="adj" fmla="val 4800"/>
            </a:avLst>
          </a:prstGeom>
          <a:solidFill>
            <a:srgbClr val="EEF1F6"/>
          </a:solidFill>
          <a:ln w="12700">
            <a:solidFill>
              <a:srgbClr val="EEF1F6"/>
            </a:solidFill>
            <a:prstDash val="solid"/>
          </a:ln>
        </p:spPr>
      </p:sp>
      <p:sp>
        <p:nvSpPr>
          <p:cNvPr id="24" name="Shape 19"/>
          <p:cNvSpPr/>
          <p:nvPr/>
        </p:nvSpPr>
        <p:spPr>
          <a:xfrm>
            <a:off x="8275320" y="4023360"/>
            <a:ext cx="566928" cy="566928"/>
          </a:xfrm>
          <a:prstGeom prst="ellipse">
            <a:avLst/>
          </a:prstGeom>
          <a:solidFill>
            <a:srgbClr val="C8453B"/>
          </a:solidFill>
          <a:ln w="12700">
            <a:solidFill>
              <a:srgbClr val="C8453B"/>
            </a:solidFill>
            <a:prstDash val="solid"/>
          </a:ln>
        </p:spPr>
      </p:sp>
      <p:pic>
        <p:nvPicPr>
          <p:cNvPr id="25" name="Image 2" descr="preencoded.png">    </p:cNvPr>
          <p:cNvPicPr>
            <a:picLocks noChangeAspect="1"/>
          </p:cNvPicPr>
          <p:nvPr/>
        </p:nvPicPr>
        <p:blipFill>
          <a:blip r:embed="rId3"/>
          <a:stretch>
            <a:fillRect/>
          </a:stretch>
        </p:blipFill>
        <p:spPr>
          <a:xfrm>
            <a:off x="8422721" y="4170761"/>
            <a:ext cx="272125" cy="272125"/>
          </a:xfrm>
          <a:prstGeom prst="rect">
            <a:avLst/>
          </a:prstGeom>
        </p:spPr>
      </p:pic>
      <p:sp>
        <p:nvSpPr>
          <p:cNvPr id="26" name="Text 20"/>
          <p:cNvSpPr txBox="1"/>
          <p:nvPr/>
        </p:nvSpPr>
        <p:spPr>
          <a:xfrm>
            <a:off x="8961120" y="402336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O(n²) · sorting</a:t>
            </a:r>
            <a:endParaRPr lang="en-US" sz="1700" dirty="0"/>
          </a:p>
        </p:txBody>
      </p:sp>
      <p:sp>
        <p:nvSpPr>
          <p:cNvPr id="27" name="Text 21"/>
          <p:cNvSpPr txBox="1"/>
          <p:nvPr/>
        </p:nvSpPr>
        <p:spPr>
          <a:xfrm>
            <a:off x="8275320" y="4709160"/>
            <a:ext cx="3154680" cy="12344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n(n − 1)/2 = 49 995 000 comparisons. ms column varies per PC.</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Built-ins and more array algorithms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Array.Sort · IndexOf · BinarySearch · Reverse · reverse in place · rotate · remove duplicates · merge</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10</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10_09_ARRAYBUILTINS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professionals use: the Array class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sp>
        <p:nvSpPr>
          <p:cNvPr id="7" name="Shape 4"/>
          <p:cNvSpPr/>
          <p:nvPr/>
        </p:nvSpPr>
        <p:spPr>
          <a:xfrm>
            <a:off x="548640" y="1645920"/>
            <a:ext cx="66294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172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6172200" cy="3913632"/>
          </a:xfrm>
          <a:prstGeom prst="rect">
            <a:avLst/>
          </a:prstGeom>
          <a:noFill/>
          <a:ln/>
        </p:spPr>
        <p:txBody>
          <a:bodyPr wrap="square" lIns="0" tIns="0" rIns="0" bIns="0" rtlCol="0" anchor="t"/>
          <a:lstStyle/>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$"IndexOf(25):   {Array.IndexOf(a, 25)}"</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$"IndexOf(99):   {Array.IndexOf(a, 99)}"</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Array.Sort(a);</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"After Sort: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$"BinarySearch(25): {Array.BinarySearch(a, 25)}"</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pos = Array.BinarySearch(a,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$"BinarySearch(20): {pos}  (insert at {-pos - 1})"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Array.Reverse(a);</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"After Reverse: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names = { </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"Zeynep"</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"ali"</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"Can"</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"Deniz"</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"Emre"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Array.Sort(names);</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"Ordinal: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names));</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Array.Sort(names, StringComparer.OrdinalIgnoreCase);</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"Ignore case: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names));</a:t>
            </a:r>
            <a:endParaRPr lang="en-US" sz="1100" dirty="0"/>
          </a:p>
        </p:txBody>
      </p:sp>
      <p:sp>
        <p:nvSpPr>
          <p:cNvPr id="10" name="Shape 7"/>
          <p:cNvSpPr/>
          <p:nvPr/>
        </p:nvSpPr>
        <p:spPr>
          <a:xfrm>
            <a:off x="7406640" y="1645920"/>
            <a:ext cx="4251960" cy="2651760"/>
          </a:xfrm>
          <a:prstGeom prst="roundRect">
            <a:avLst>
              <a:gd name="adj" fmla="val 3448"/>
            </a:avLst>
          </a:prstGeom>
          <a:solidFill>
            <a:srgbClr val="0B0F19"/>
          </a:solidFill>
          <a:ln w="12700">
            <a:solidFill>
              <a:srgbClr val="2A3654"/>
            </a:solidFill>
            <a:prstDash val="solid"/>
          </a:ln>
        </p:spPr>
      </p:sp>
      <p:sp>
        <p:nvSpPr>
          <p:cNvPr id="11" name="Shape 8"/>
          <p:cNvSpPr/>
          <p:nvPr/>
        </p:nvSpPr>
        <p:spPr>
          <a:xfrm>
            <a:off x="75895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8181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0467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21040" y="1719072"/>
            <a:ext cx="3154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35240" y="2029968"/>
            <a:ext cx="3794760" cy="2148840"/>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Original:      31 12 47 8 25 19</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IndexOf(25):   4</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IndexOf(99):   -1</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After Sort:    8 12 19 25 31 47</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BinarySearch(25): 3</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BinarySearch(20): -4  (insert at 3)</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After Reverse: 47 31 25 19 12 8</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Ordinal:     Can, Deniz, Emre, Zeynep, ali</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Ignore case: ali, Can, Deniz, Emre, Zeynep</a:t>
            </a:r>
            <a:endParaRPr lang="en-US" sz="1100" dirty="0"/>
          </a:p>
        </p:txBody>
      </p:sp>
      <p:sp>
        <p:nvSpPr>
          <p:cNvPr id="16" name="Shape 13"/>
          <p:cNvSpPr/>
          <p:nvPr/>
        </p:nvSpPr>
        <p:spPr>
          <a:xfrm>
            <a:off x="7406640" y="4480560"/>
            <a:ext cx="4251960" cy="1600200"/>
          </a:xfrm>
          <a:prstGeom prst="roundRect">
            <a:avLst>
              <a:gd name="adj" fmla="val 6857"/>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7680960" y="5006340"/>
            <a:ext cx="548640" cy="548640"/>
          </a:xfrm>
          <a:prstGeom prst="rect">
            <a:avLst/>
          </a:prstGeom>
        </p:spPr>
      </p:pic>
      <p:sp>
        <p:nvSpPr>
          <p:cNvPr id="18" name="Text 14"/>
          <p:cNvSpPr txBox="1"/>
          <p:nvPr/>
        </p:nvSpPr>
        <p:spPr>
          <a:xfrm>
            <a:off x="8503920" y="4553712"/>
            <a:ext cx="2880360" cy="145389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BinarySearch only on sorted arrays. </a:t>
            </a:r>
            <a:pPr indent="0" marL="0">
              <a:buNone/>
            </a:pPr>
            <a:r>
              <a:rPr lang="en-US" sz="1400" dirty="0">
                <a:solidFill>
                  <a:srgbClr val="333B4F"/>
                </a:solidFill>
                <a:latin typeface="Calibri" pitchFamily="34" charset="0"/>
                <a:ea typeface="Calibri" pitchFamily="34" charset="-122"/>
                <a:cs typeface="Calibri" pitchFamily="34" charset="-120"/>
              </a:rPr>
              <a:t>No LINQ: no .Max(), .OrderBy().</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10_10_REVERSEROTATE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Reverse in place, rotate with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91640"/>
            <a:ext cx="658368" cy="502920"/>
          </a:xfrm>
          <a:prstGeom prst="rect">
            <a:avLst/>
          </a:prstGeom>
          <a:solidFill>
            <a:srgbClr val="FFF1D6"/>
          </a:solidFill>
          <a:ln w="9525">
            <a:solidFill>
              <a:srgbClr val="8A94AB"/>
            </a:solidFill>
            <a:prstDash val="solid"/>
          </a:ln>
        </p:spPr>
      </p:sp>
      <p:sp>
        <p:nvSpPr>
          <p:cNvPr id="8" name="Text 5"/>
          <p:cNvSpPr txBox="1"/>
          <p:nvPr/>
        </p:nvSpPr>
        <p:spPr>
          <a:xfrm>
            <a:off x="548640" y="169164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a:t>
            </a:r>
            <a:endParaRPr lang="en-US" sz="1600" dirty="0"/>
          </a:p>
        </p:txBody>
      </p:sp>
      <p:sp>
        <p:nvSpPr>
          <p:cNvPr id="9" name="Text 6"/>
          <p:cNvSpPr txBox="1"/>
          <p:nvPr/>
        </p:nvSpPr>
        <p:spPr>
          <a:xfrm>
            <a:off x="548640" y="2221992"/>
            <a:ext cx="658368"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0" name="Shape 7"/>
          <p:cNvSpPr/>
          <p:nvPr/>
        </p:nvSpPr>
        <p:spPr>
          <a:xfrm>
            <a:off x="1207008" y="1691640"/>
            <a:ext cx="658368" cy="502920"/>
          </a:xfrm>
          <a:prstGeom prst="rect">
            <a:avLst/>
          </a:prstGeom>
          <a:solidFill>
            <a:srgbClr val="E3ECF8"/>
          </a:solidFill>
          <a:ln w="9525">
            <a:solidFill>
              <a:srgbClr val="8A94AB"/>
            </a:solidFill>
            <a:prstDash val="solid"/>
          </a:ln>
        </p:spPr>
      </p:sp>
      <p:sp>
        <p:nvSpPr>
          <p:cNvPr id="11" name="Text 8"/>
          <p:cNvSpPr txBox="1"/>
          <p:nvPr/>
        </p:nvSpPr>
        <p:spPr>
          <a:xfrm>
            <a:off x="1207008" y="169164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12" name="Text 9"/>
          <p:cNvSpPr txBox="1"/>
          <p:nvPr/>
        </p:nvSpPr>
        <p:spPr>
          <a:xfrm>
            <a:off x="1207008" y="2221992"/>
            <a:ext cx="658368"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13" name="Shape 10"/>
          <p:cNvSpPr/>
          <p:nvPr/>
        </p:nvSpPr>
        <p:spPr>
          <a:xfrm>
            <a:off x="1865376" y="1691640"/>
            <a:ext cx="658368" cy="502920"/>
          </a:xfrm>
          <a:prstGeom prst="rect">
            <a:avLst/>
          </a:prstGeom>
          <a:solidFill>
            <a:srgbClr val="E6F4EC"/>
          </a:solidFill>
          <a:ln w="9525">
            <a:solidFill>
              <a:srgbClr val="8A94AB"/>
            </a:solidFill>
            <a:prstDash val="solid"/>
          </a:ln>
        </p:spPr>
      </p:sp>
      <p:sp>
        <p:nvSpPr>
          <p:cNvPr id="14" name="Text 11"/>
          <p:cNvSpPr txBox="1"/>
          <p:nvPr/>
        </p:nvSpPr>
        <p:spPr>
          <a:xfrm>
            <a:off x="1865376" y="169164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a:t>
            </a:r>
            <a:endParaRPr lang="en-US" sz="1600" dirty="0"/>
          </a:p>
        </p:txBody>
      </p:sp>
      <p:sp>
        <p:nvSpPr>
          <p:cNvPr id="15" name="Text 12"/>
          <p:cNvSpPr txBox="1"/>
          <p:nvPr/>
        </p:nvSpPr>
        <p:spPr>
          <a:xfrm>
            <a:off x="1865376" y="2221992"/>
            <a:ext cx="658368"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16" name="Shape 13"/>
          <p:cNvSpPr/>
          <p:nvPr/>
        </p:nvSpPr>
        <p:spPr>
          <a:xfrm>
            <a:off x="2523744" y="1691640"/>
            <a:ext cx="658368" cy="502920"/>
          </a:xfrm>
          <a:prstGeom prst="rect">
            <a:avLst/>
          </a:prstGeom>
          <a:solidFill>
            <a:srgbClr val="EEF1F6"/>
          </a:solidFill>
          <a:ln w="9525">
            <a:solidFill>
              <a:srgbClr val="8A94AB"/>
            </a:solidFill>
            <a:prstDash val="solid"/>
          </a:ln>
        </p:spPr>
      </p:sp>
      <p:sp>
        <p:nvSpPr>
          <p:cNvPr id="17" name="Text 14"/>
          <p:cNvSpPr txBox="1"/>
          <p:nvPr/>
        </p:nvSpPr>
        <p:spPr>
          <a:xfrm>
            <a:off x="2523744" y="169164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a:t>
            </a:r>
            <a:endParaRPr lang="en-US" sz="1600" dirty="0"/>
          </a:p>
        </p:txBody>
      </p:sp>
      <p:sp>
        <p:nvSpPr>
          <p:cNvPr id="18" name="Text 15"/>
          <p:cNvSpPr txBox="1"/>
          <p:nvPr/>
        </p:nvSpPr>
        <p:spPr>
          <a:xfrm>
            <a:off x="2523744" y="2221992"/>
            <a:ext cx="658368"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19" name="Shape 16"/>
          <p:cNvSpPr/>
          <p:nvPr/>
        </p:nvSpPr>
        <p:spPr>
          <a:xfrm>
            <a:off x="3182112" y="1691640"/>
            <a:ext cx="658368" cy="502920"/>
          </a:xfrm>
          <a:prstGeom prst="rect">
            <a:avLst/>
          </a:prstGeom>
          <a:solidFill>
            <a:srgbClr val="E6F4EC"/>
          </a:solidFill>
          <a:ln w="9525">
            <a:solidFill>
              <a:srgbClr val="8A94AB"/>
            </a:solidFill>
            <a:prstDash val="solid"/>
          </a:ln>
        </p:spPr>
      </p:sp>
      <p:sp>
        <p:nvSpPr>
          <p:cNvPr id="20" name="Text 17"/>
          <p:cNvSpPr txBox="1"/>
          <p:nvPr/>
        </p:nvSpPr>
        <p:spPr>
          <a:xfrm>
            <a:off x="3182112" y="169164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21" name="Text 18"/>
          <p:cNvSpPr txBox="1"/>
          <p:nvPr/>
        </p:nvSpPr>
        <p:spPr>
          <a:xfrm>
            <a:off x="3182112" y="2221992"/>
            <a:ext cx="658368"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22" name="Shape 19"/>
          <p:cNvSpPr/>
          <p:nvPr/>
        </p:nvSpPr>
        <p:spPr>
          <a:xfrm>
            <a:off x="3840480" y="1691640"/>
            <a:ext cx="658368" cy="502920"/>
          </a:xfrm>
          <a:prstGeom prst="rect">
            <a:avLst/>
          </a:prstGeom>
          <a:solidFill>
            <a:srgbClr val="E3ECF8"/>
          </a:solidFill>
          <a:ln w="9525">
            <a:solidFill>
              <a:srgbClr val="8A94AB"/>
            </a:solidFill>
            <a:prstDash val="solid"/>
          </a:ln>
        </p:spPr>
      </p:sp>
      <p:sp>
        <p:nvSpPr>
          <p:cNvPr id="23" name="Text 20"/>
          <p:cNvSpPr txBox="1"/>
          <p:nvPr/>
        </p:nvSpPr>
        <p:spPr>
          <a:xfrm>
            <a:off x="3840480" y="169164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6</a:t>
            </a:r>
            <a:endParaRPr lang="en-US" sz="1600" dirty="0"/>
          </a:p>
        </p:txBody>
      </p:sp>
      <p:sp>
        <p:nvSpPr>
          <p:cNvPr id="24" name="Text 21"/>
          <p:cNvSpPr txBox="1"/>
          <p:nvPr/>
        </p:nvSpPr>
        <p:spPr>
          <a:xfrm>
            <a:off x="3840480" y="2221992"/>
            <a:ext cx="658368"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25" name="Shape 22"/>
          <p:cNvSpPr/>
          <p:nvPr/>
        </p:nvSpPr>
        <p:spPr>
          <a:xfrm>
            <a:off x="4498848" y="1691640"/>
            <a:ext cx="658368" cy="502920"/>
          </a:xfrm>
          <a:prstGeom prst="rect">
            <a:avLst/>
          </a:prstGeom>
          <a:solidFill>
            <a:srgbClr val="FFF1D6"/>
          </a:solidFill>
          <a:ln w="9525">
            <a:solidFill>
              <a:srgbClr val="8A94AB"/>
            </a:solidFill>
            <a:prstDash val="solid"/>
          </a:ln>
        </p:spPr>
      </p:sp>
      <p:sp>
        <p:nvSpPr>
          <p:cNvPr id="26" name="Text 23"/>
          <p:cNvSpPr txBox="1"/>
          <p:nvPr/>
        </p:nvSpPr>
        <p:spPr>
          <a:xfrm>
            <a:off x="4498848" y="169164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a:t>
            </a:r>
            <a:endParaRPr lang="en-US" sz="1600" dirty="0"/>
          </a:p>
        </p:txBody>
      </p:sp>
      <p:sp>
        <p:nvSpPr>
          <p:cNvPr id="27" name="Text 24"/>
          <p:cNvSpPr txBox="1"/>
          <p:nvPr/>
        </p:nvSpPr>
        <p:spPr>
          <a:xfrm>
            <a:off x="4498848" y="2221992"/>
            <a:ext cx="658368"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28" name="Text 25"/>
          <p:cNvSpPr txBox="1"/>
          <p:nvPr/>
        </p:nvSpPr>
        <p:spPr>
          <a:xfrm>
            <a:off x="548640" y="2514600"/>
            <a:ext cx="5120640" cy="36576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①  ②  ③ : swap the outer pair, move inwards</a:t>
            </a:r>
            <a:endParaRPr lang="en-US" sz="1400" dirty="0"/>
          </a:p>
        </p:txBody>
      </p:sp>
      <p:sp>
        <p:nvSpPr>
          <p:cNvPr id="29" name="Shape 26"/>
          <p:cNvSpPr/>
          <p:nvPr/>
        </p:nvSpPr>
        <p:spPr>
          <a:xfrm>
            <a:off x="548640" y="2926080"/>
            <a:ext cx="658368" cy="502920"/>
          </a:xfrm>
          <a:prstGeom prst="rect">
            <a:avLst/>
          </a:prstGeom>
          <a:solidFill>
            <a:srgbClr val="FFF1D6"/>
          </a:solidFill>
          <a:ln w="9525">
            <a:solidFill>
              <a:srgbClr val="8A94AB"/>
            </a:solidFill>
            <a:prstDash val="solid"/>
          </a:ln>
        </p:spPr>
      </p:sp>
      <p:sp>
        <p:nvSpPr>
          <p:cNvPr id="30" name="Text 27"/>
          <p:cNvSpPr txBox="1"/>
          <p:nvPr/>
        </p:nvSpPr>
        <p:spPr>
          <a:xfrm>
            <a:off x="548640" y="292608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a:t>
            </a:r>
            <a:endParaRPr lang="en-US" sz="1600" dirty="0"/>
          </a:p>
        </p:txBody>
      </p:sp>
      <p:sp>
        <p:nvSpPr>
          <p:cNvPr id="31" name="Shape 28"/>
          <p:cNvSpPr/>
          <p:nvPr/>
        </p:nvSpPr>
        <p:spPr>
          <a:xfrm>
            <a:off x="1207008" y="2926080"/>
            <a:ext cx="658368" cy="502920"/>
          </a:xfrm>
          <a:prstGeom prst="rect">
            <a:avLst/>
          </a:prstGeom>
          <a:solidFill>
            <a:srgbClr val="E3ECF8"/>
          </a:solidFill>
          <a:ln w="9525">
            <a:solidFill>
              <a:srgbClr val="8A94AB"/>
            </a:solidFill>
            <a:prstDash val="solid"/>
          </a:ln>
        </p:spPr>
      </p:sp>
      <p:sp>
        <p:nvSpPr>
          <p:cNvPr id="32" name="Text 29"/>
          <p:cNvSpPr txBox="1"/>
          <p:nvPr/>
        </p:nvSpPr>
        <p:spPr>
          <a:xfrm>
            <a:off x="1207008" y="292608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6</a:t>
            </a:r>
            <a:endParaRPr lang="en-US" sz="1600" dirty="0"/>
          </a:p>
        </p:txBody>
      </p:sp>
      <p:sp>
        <p:nvSpPr>
          <p:cNvPr id="33" name="Shape 30"/>
          <p:cNvSpPr/>
          <p:nvPr/>
        </p:nvSpPr>
        <p:spPr>
          <a:xfrm>
            <a:off x="1865376" y="2926080"/>
            <a:ext cx="658368" cy="502920"/>
          </a:xfrm>
          <a:prstGeom prst="rect">
            <a:avLst/>
          </a:prstGeom>
          <a:solidFill>
            <a:srgbClr val="E6F4EC"/>
          </a:solidFill>
          <a:ln w="9525">
            <a:solidFill>
              <a:srgbClr val="8A94AB"/>
            </a:solidFill>
            <a:prstDash val="solid"/>
          </a:ln>
        </p:spPr>
      </p:sp>
      <p:sp>
        <p:nvSpPr>
          <p:cNvPr id="34" name="Text 31"/>
          <p:cNvSpPr txBox="1"/>
          <p:nvPr/>
        </p:nvSpPr>
        <p:spPr>
          <a:xfrm>
            <a:off x="1865376" y="292608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35" name="Shape 32"/>
          <p:cNvSpPr/>
          <p:nvPr/>
        </p:nvSpPr>
        <p:spPr>
          <a:xfrm>
            <a:off x="2523744" y="2926080"/>
            <a:ext cx="658368" cy="502920"/>
          </a:xfrm>
          <a:prstGeom prst="rect">
            <a:avLst/>
          </a:prstGeom>
          <a:solidFill>
            <a:srgbClr val="EEF1F6"/>
          </a:solidFill>
          <a:ln w="9525">
            <a:solidFill>
              <a:srgbClr val="8A94AB"/>
            </a:solidFill>
            <a:prstDash val="solid"/>
          </a:ln>
        </p:spPr>
      </p:sp>
      <p:sp>
        <p:nvSpPr>
          <p:cNvPr id="36" name="Text 33"/>
          <p:cNvSpPr txBox="1"/>
          <p:nvPr/>
        </p:nvSpPr>
        <p:spPr>
          <a:xfrm>
            <a:off x="2523744" y="292608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a:t>
            </a:r>
            <a:endParaRPr lang="en-US" sz="1600" dirty="0"/>
          </a:p>
        </p:txBody>
      </p:sp>
      <p:sp>
        <p:nvSpPr>
          <p:cNvPr id="37" name="Shape 34"/>
          <p:cNvSpPr/>
          <p:nvPr/>
        </p:nvSpPr>
        <p:spPr>
          <a:xfrm>
            <a:off x="3182112" y="2926080"/>
            <a:ext cx="658368" cy="502920"/>
          </a:xfrm>
          <a:prstGeom prst="rect">
            <a:avLst/>
          </a:prstGeom>
          <a:solidFill>
            <a:srgbClr val="E6F4EC"/>
          </a:solidFill>
          <a:ln w="9525">
            <a:solidFill>
              <a:srgbClr val="8A94AB"/>
            </a:solidFill>
            <a:prstDash val="solid"/>
          </a:ln>
        </p:spPr>
      </p:sp>
      <p:sp>
        <p:nvSpPr>
          <p:cNvPr id="38" name="Text 35"/>
          <p:cNvSpPr txBox="1"/>
          <p:nvPr/>
        </p:nvSpPr>
        <p:spPr>
          <a:xfrm>
            <a:off x="3182112" y="292608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a:t>
            </a:r>
            <a:endParaRPr lang="en-US" sz="1600" dirty="0"/>
          </a:p>
        </p:txBody>
      </p:sp>
      <p:sp>
        <p:nvSpPr>
          <p:cNvPr id="39" name="Shape 36"/>
          <p:cNvSpPr/>
          <p:nvPr/>
        </p:nvSpPr>
        <p:spPr>
          <a:xfrm>
            <a:off x="3840480" y="2926080"/>
            <a:ext cx="658368" cy="502920"/>
          </a:xfrm>
          <a:prstGeom prst="rect">
            <a:avLst/>
          </a:prstGeom>
          <a:solidFill>
            <a:srgbClr val="E3ECF8"/>
          </a:solidFill>
          <a:ln w="9525">
            <a:solidFill>
              <a:srgbClr val="8A94AB"/>
            </a:solidFill>
            <a:prstDash val="solid"/>
          </a:ln>
        </p:spPr>
      </p:sp>
      <p:sp>
        <p:nvSpPr>
          <p:cNvPr id="40" name="Text 37"/>
          <p:cNvSpPr txBox="1"/>
          <p:nvPr/>
        </p:nvSpPr>
        <p:spPr>
          <a:xfrm>
            <a:off x="3840480" y="292608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41" name="Shape 38"/>
          <p:cNvSpPr/>
          <p:nvPr/>
        </p:nvSpPr>
        <p:spPr>
          <a:xfrm>
            <a:off x="4498848" y="2926080"/>
            <a:ext cx="658368" cy="502920"/>
          </a:xfrm>
          <a:prstGeom prst="rect">
            <a:avLst/>
          </a:prstGeom>
          <a:solidFill>
            <a:srgbClr val="FFF1D6"/>
          </a:solidFill>
          <a:ln w="9525">
            <a:solidFill>
              <a:srgbClr val="8A94AB"/>
            </a:solidFill>
            <a:prstDash val="solid"/>
          </a:ln>
        </p:spPr>
      </p:sp>
      <p:sp>
        <p:nvSpPr>
          <p:cNvPr id="42" name="Text 39"/>
          <p:cNvSpPr txBox="1"/>
          <p:nvPr/>
        </p:nvSpPr>
        <p:spPr>
          <a:xfrm>
            <a:off x="4498848" y="2926080"/>
            <a:ext cx="658368"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a:t>
            </a:r>
            <a:endParaRPr lang="en-US" sz="1600" dirty="0"/>
          </a:p>
        </p:txBody>
      </p:sp>
      <p:sp>
        <p:nvSpPr>
          <p:cNvPr id="43" name="Shape 40"/>
          <p:cNvSpPr/>
          <p:nvPr/>
        </p:nvSpPr>
        <p:spPr>
          <a:xfrm>
            <a:off x="548640" y="3657600"/>
            <a:ext cx="5120640" cy="2423160"/>
          </a:xfrm>
          <a:prstGeom prst="roundRect">
            <a:avLst>
              <a:gd name="adj" fmla="val 3774"/>
            </a:avLst>
          </a:prstGeom>
          <a:solidFill>
            <a:srgbClr val="0F1729"/>
          </a:solidFill>
          <a:ln w="12700">
            <a:solidFill>
              <a:srgbClr val="0F1729"/>
            </a:solidFill>
            <a:prstDash val="solid"/>
          </a:ln>
        </p:spPr>
      </p:sp>
      <p:sp>
        <p:nvSpPr>
          <p:cNvPr id="44" name="Text 41"/>
          <p:cNvSpPr txBox="1"/>
          <p:nvPr/>
        </p:nvSpPr>
        <p:spPr>
          <a:xfrm>
            <a:off x="777240" y="376732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reverse in place</a:t>
            </a:r>
            <a:endParaRPr lang="en-US" sz="1100" dirty="0"/>
          </a:p>
        </p:txBody>
      </p:sp>
      <p:sp>
        <p:nvSpPr>
          <p:cNvPr id="45" name="Text 42"/>
          <p:cNvSpPr txBox="1"/>
          <p:nvPr/>
        </p:nvSpPr>
        <p:spPr>
          <a:xfrm>
            <a:off x="777240" y="4069080"/>
            <a:ext cx="4663440" cy="190195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(left &lt; right)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temp = a[left];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a[left] = a[right];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a[right] = temp;</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left++;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right--;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46" name="Shape 43"/>
          <p:cNvSpPr/>
          <p:nvPr/>
        </p:nvSpPr>
        <p:spPr>
          <a:xfrm>
            <a:off x="5897880" y="1645920"/>
            <a:ext cx="5760720" cy="1783080"/>
          </a:xfrm>
          <a:prstGeom prst="roundRect">
            <a:avLst>
              <a:gd name="adj" fmla="val 5128"/>
            </a:avLst>
          </a:prstGeom>
          <a:solidFill>
            <a:srgbClr val="0F1729"/>
          </a:solidFill>
          <a:ln w="12700">
            <a:solidFill>
              <a:srgbClr val="0F1729"/>
            </a:solidFill>
            <a:prstDash val="solid"/>
          </a:ln>
        </p:spPr>
      </p:sp>
      <p:sp>
        <p:nvSpPr>
          <p:cNvPr id="47" name="Text 44"/>
          <p:cNvSpPr txBox="1"/>
          <p:nvPr/>
        </p:nvSpPr>
        <p:spPr>
          <a:xfrm>
            <a:off x="6126480" y="175564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rotate left by k</a:t>
            </a:r>
            <a:endParaRPr lang="en-US" sz="1100" dirty="0"/>
          </a:p>
        </p:txBody>
      </p:sp>
      <p:sp>
        <p:nvSpPr>
          <p:cNvPr id="48" name="Text 45"/>
          <p:cNvSpPr txBox="1"/>
          <p:nvPr/>
        </p:nvSpPr>
        <p:spPr>
          <a:xfrm>
            <a:off x="6126480" y="2057400"/>
            <a:ext cx="5303520" cy="12618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rotated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[n];</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rotated[(i - k + n) % n] = b[i];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49" name="Shape 46"/>
          <p:cNvSpPr/>
          <p:nvPr/>
        </p:nvSpPr>
        <p:spPr>
          <a:xfrm>
            <a:off x="5897880" y="3611880"/>
            <a:ext cx="5760720" cy="2468880"/>
          </a:xfrm>
          <a:prstGeom prst="roundRect">
            <a:avLst>
              <a:gd name="adj" fmla="val 3704"/>
            </a:avLst>
          </a:prstGeom>
          <a:solidFill>
            <a:srgbClr val="0B0F19"/>
          </a:solidFill>
          <a:ln w="12700">
            <a:solidFill>
              <a:srgbClr val="2A3654"/>
            </a:solidFill>
            <a:prstDash val="solid"/>
          </a:ln>
        </p:spPr>
      </p:sp>
      <p:sp>
        <p:nvSpPr>
          <p:cNvPr id="50" name="Shape 47"/>
          <p:cNvSpPr/>
          <p:nvPr/>
        </p:nvSpPr>
        <p:spPr>
          <a:xfrm>
            <a:off x="6080760" y="3739896"/>
            <a:ext cx="118872" cy="118872"/>
          </a:xfrm>
          <a:prstGeom prst="ellipse">
            <a:avLst/>
          </a:prstGeom>
          <a:solidFill>
            <a:srgbClr val="FF5F57"/>
          </a:solidFill>
          <a:ln w="12700">
            <a:solidFill>
              <a:srgbClr val="FF5F57"/>
            </a:solidFill>
            <a:prstDash val="solid"/>
          </a:ln>
        </p:spPr>
      </p:sp>
      <p:sp>
        <p:nvSpPr>
          <p:cNvPr id="51" name="Shape 48"/>
          <p:cNvSpPr/>
          <p:nvPr/>
        </p:nvSpPr>
        <p:spPr>
          <a:xfrm>
            <a:off x="6309360" y="3739896"/>
            <a:ext cx="118872" cy="118872"/>
          </a:xfrm>
          <a:prstGeom prst="ellipse">
            <a:avLst/>
          </a:prstGeom>
          <a:solidFill>
            <a:srgbClr val="FEBC2E"/>
          </a:solidFill>
          <a:ln w="12700">
            <a:solidFill>
              <a:srgbClr val="FEBC2E"/>
            </a:solidFill>
            <a:prstDash val="solid"/>
          </a:ln>
        </p:spPr>
      </p:sp>
      <p:sp>
        <p:nvSpPr>
          <p:cNvPr id="52" name="Shape 49"/>
          <p:cNvSpPr/>
          <p:nvPr/>
        </p:nvSpPr>
        <p:spPr>
          <a:xfrm>
            <a:off x="6537960" y="3739896"/>
            <a:ext cx="118872" cy="118872"/>
          </a:xfrm>
          <a:prstGeom prst="ellipse">
            <a:avLst/>
          </a:prstGeom>
          <a:solidFill>
            <a:srgbClr val="28C840"/>
          </a:solidFill>
          <a:ln w="12700">
            <a:solidFill>
              <a:srgbClr val="28C840"/>
            </a:solidFill>
            <a:prstDash val="solid"/>
          </a:ln>
        </p:spPr>
      </p:sp>
      <p:sp>
        <p:nvSpPr>
          <p:cNvPr id="53" name="Text 50"/>
          <p:cNvSpPr txBox="1"/>
          <p:nvPr/>
        </p:nvSpPr>
        <p:spPr>
          <a:xfrm>
            <a:off x="6812280" y="3685032"/>
            <a:ext cx="4663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 two runs (k = 3, k = 9)</a:t>
            </a:r>
            <a:endParaRPr lang="en-US" sz="1000" dirty="0"/>
          </a:p>
        </p:txBody>
      </p:sp>
      <p:sp>
        <p:nvSpPr>
          <p:cNvPr id="54" name="Text 51"/>
          <p:cNvSpPr txBox="1"/>
          <p:nvPr/>
        </p:nvSpPr>
        <p:spPr>
          <a:xfrm>
            <a:off x="6126480" y="3995928"/>
            <a:ext cx="5303520" cy="19659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Original:       1 2 3 4 5 6 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Reversed:       7 6 5 4 3 2 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Rotate left by k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Rotated left:   4 5 6 7 1 2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Rotate left by k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Rotated left:   3 4 5 6 7 1 2</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11 · 10_11_REMOVEDUPLICATES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Remove duplicates from a sorted array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Text 4"/>
          <p:cNvSpPr txBox="1"/>
          <p:nvPr/>
        </p:nvSpPr>
        <p:spPr>
          <a:xfrm>
            <a:off x="548640" y="1645920"/>
            <a:ext cx="5486400" cy="365760"/>
          </a:xfrm>
          <a:prstGeom prst="rect">
            <a:avLst/>
          </a:prstGeom>
          <a:noFill/>
          <a:ln/>
        </p:spPr>
        <p:txBody>
          <a:bodyPr wrap="square" lIns="0" tIns="0" rIns="0" bIns="0" rtlCol="0" anchor="ctr"/>
          <a:lstStyle/>
          <a:p>
            <a:pPr algn="l" indent="0" marL="0">
              <a:buNone/>
            </a:pPr>
            <a:r>
              <a:rPr lang="en-US" sz="1400" b="1" dirty="0">
                <a:solidFill>
                  <a:srgbClr val="5B6478"/>
                </a:solidFill>
                <a:latin typeface="Calibri" pitchFamily="34" charset="0"/>
                <a:ea typeface="Calibri" pitchFamily="34" charset="-122"/>
                <a:cs typeface="Calibri" pitchFamily="34" charset="-120"/>
              </a:rPr>
              <a:t>before</a:t>
            </a:r>
            <a:endParaRPr lang="en-US" sz="1400" dirty="0"/>
          </a:p>
        </p:txBody>
      </p:sp>
      <p:sp>
        <p:nvSpPr>
          <p:cNvPr id="8" name="Shape 5"/>
          <p:cNvSpPr/>
          <p:nvPr/>
        </p:nvSpPr>
        <p:spPr>
          <a:xfrm>
            <a:off x="548640" y="2011680"/>
            <a:ext cx="603504" cy="502920"/>
          </a:xfrm>
          <a:prstGeom prst="rect">
            <a:avLst/>
          </a:prstGeom>
          <a:solidFill>
            <a:srgbClr val="E6F4EC"/>
          </a:solidFill>
          <a:ln w="9525">
            <a:solidFill>
              <a:srgbClr val="8A94AB"/>
            </a:solidFill>
            <a:prstDash val="solid"/>
          </a:ln>
        </p:spPr>
      </p:sp>
      <p:sp>
        <p:nvSpPr>
          <p:cNvPr id="9" name="Text 6"/>
          <p:cNvSpPr txBox="1"/>
          <p:nvPr/>
        </p:nvSpPr>
        <p:spPr>
          <a:xfrm>
            <a:off x="548640"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10" name="Text 7"/>
          <p:cNvSpPr txBox="1"/>
          <p:nvPr/>
        </p:nvSpPr>
        <p:spPr>
          <a:xfrm>
            <a:off x="548640"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1" name="Shape 8"/>
          <p:cNvSpPr/>
          <p:nvPr/>
        </p:nvSpPr>
        <p:spPr>
          <a:xfrm>
            <a:off x="1152144" y="2011680"/>
            <a:ext cx="603504" cy="502920"/>
          </a:xfrm>
          <a:prstGeom prst="rect">
            <a:avLst/>
          </a:prstGeom>
          <a:solidFill>
            <a:srgbClr val="FFFFFF"/>
          </a:solidFill>
          <a:ln w="9525">
            <a:solidFill>
              <a:srgbClr val="8A94AB"/>
            </a:solidFill>
            <a:prstDash val="solid"/>
          </a:ln>
        </p:spPr>
      </p:sp>
      <p:sp>
        <p:nvSpPr>
          <p:cNvPr id="12" name="Text 9"/>
          <p:cNvSpPr txBox="1"/>
          <p:nvPr/>
        </p:nvSpPr>
        <p:spPr>
          <a:xfrm>
            <a:off x="1152144"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13" name="Text 10"/>
          <p:cNvSpPr txBox="1"/>
          <p:nvPr/>
        </p:nvSpPr>
        <p:spPr>
          <a:xfrm>
            <a:off x="1152144"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14" name="Shape 11"/>
          <p:cNvSpPr/>
          <p:nvPr/>
        </p:nvSpPr>
        <p:spPr>
          <a:xfrm>
            <a:off x="1755648" y="2011680"/>
            <a:ext cx="603504" cy="502920"/>
          </a:xfrm>
          <a:prstGeom prst="rect">
            <a:avLst/>
          </a:prstGeom>
          <a:solidFill>
            <a:srgbClr val="E6F4EC"/>
          </a:solidFill>
          <a:ln w="9525">
            <a:solidFill>
              <a:srgbClr val="8A94AB"/>
            </a:solidFill>
            <a:prstDash val="solid"/>
          </a:ln>
        </p:spPr>
      </p:sp>
      <p:sp>
        <p:nvSpPr>
          <p:cNvPr id="15" name="Text 12"/>
          <p:cNvSpPr txBox="1"/>
          <p:nvPr/>
        </p:nvSpPr>
        <p:spPr>
          <a:xfrm>
            <a:off x="1755648"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a:t>
            </a:r>
            <a:endParaRPr lang="en-US" sz="1600" dirty="0"/>
          </a:p>
        </p:txBody>
      </p:sp>
      <p:sp>
        <p:nvSpPr>
          <p:cNvPr id="16" name="Text 13"/>
          <p:cNvSpPr txBox="1"/>
          <p:nvPr/>
        </p:nvSpPr>
        <p:spPr>
          <a:xfrm>
            <a:off x="1755648"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17" name="Shape 14"/>
          <p:cNvSpPr/>
          <p:nvPr/>
        </p:nvSpPr>
        <p:spPr>
          <a:xfrm>
            <a:off x="2359152" y="2011680"/>
            <a:ext cx="603504" cy="502920"/>
          </a:xfrm>
          <a:prstGeom prst="rect">
            <a:avLst/>
          </a:prstGeom>
          <a:solidFill>
            <a:srgbClr val="E6F4EC"/>
          </a:solidFill>
          <a:ln w="9525">
            <a:solidFill>
              <a:srgbClr val="8A94AB"/>
            </a:solidFill>
            <a:prstDash val="solid"/>
          </a:ln>
        </p:spPr>
      </p:sp>
      <p:sp>
        <p:nvSpPr>
          <p:cNvPr id="18" name="Text 15"/>
          <p:cNvSpPr txBox="1"/>
          <p:nvPr/>
        </p:nvSpPr>
        <p:spPr>
          <a:xfrm>
            <a:off x="2359152"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19" name="Text 16"/>
          <p:cNvSpPr txBox="1"/>
          <p:nvPr/>
        </p:nvSpPr>
        <p:spPr>
          <a:xfrm>
            <a:off x="2359152"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20" name="Shape 17"/>
          <p:cNvSpPr/>
          <p:nvPr/>
        </p:nvSpPr>
        <p:spPr>
          <a:xfrm>
            <a:off x="2962656" y="2011680"/>
            <a:ext cx="603504" cy="502920"/>
          </a:xfrm>
          <a:prstGeom prst="rect">
            <a:avLst/>
          </a:prstGeom>
          <a:solidFill>
            <a:srgbClr val="FFFFFF"/>
          </a:solidFill>
          <a:ln w="9525">
            <a:solidFill>
              <a:srgbClr val="8A94AB"/>
            </a:solidFill>
            <a:prstDash val="solid"/>
          </a:ln>
        </p:spPr>
      </p:sp>
      <p:sp>
        <p:nvSpPr>
          <p:cNvPr id="21" name="Text 18"/>
          <p:cNvSpPr txBox="1"/>
          <p:nvPr/>
        </p:nvSpPr>
        <p:spPr>
          <a:xfrm>
            <a:off x="2962656"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22" name="Text 19"/>
          <p:cNvSpPr txBox="1"/>
          <p:nvPr/>
        </p:nvSpPr>
        <p:spPr>
          <a:xfrm>
            <a:off x="2962656"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23" name="Shape 20"/>
          <p:cNvSpPr/>
          <p:nvPr/>
        </p:nvSpPr>
        <p:spPr>
          <a:xfrm>
            <a:off x="3566160" y="2011680"/>
            <a:ext cx="603504" cy="502920"/>
          </a:xfrm>
          <a:prstGeom prst="rect">
            <a:avLst/>
          </a:prstGeom>
          <a:solidFill>
            <a:srgbClr val="FFFFFF"/>
          </a:solidFill>
          <a:ln w="9525">
            <a:solidFill>
              <a:srgbClr val="8A94AB"/>
            </a:solidFill>
            <a:prstDash val="solid"/>
          </a:ln>
        </p:spPr>
      </p:sp>
      <p:sp>
        <p:nvSpPr>
          <p:cNvPr id="24" name="Text 21"/>
          <p:cNvSpPr txBox="1"/>
          <p:nvPr/>
        </p:nvSpPr>
        <p:spPr>
          <a:xfrm>
            <a:off x="3566160"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25" name="Text 22"/>
          <p:cNvSpPr txBox="1"/>
          <p:nvPr/>
        </p:nvSpPr>
        <p:spPr>
          <a:xfrm>
            <a:off x="3566160"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26" name="Shape 23"/>
          <p:cNvSpPr/>
          <p:nvPr/>
        </p:nvSpPr>
        <p:spPr>
          <a:xfrm>
            <a:off x="4169664" y="2011680"/>
            <a:ext cx="603504" cy="502920"/>
          </a:xfrm>
          <a:prstGeom prst="rect">
            <a:avLst/>
          </a:prstGeom>
          <a:solidFill>
            <a:srgbClr val="E6F4EC"/>
          </a:solidFill>
          <a:ln w="9525">
            <a:solidFill>
              <a:srgbClr val="8A94AB"/>
            </a:solidFill>
            <a:prstDash val="solid"/>
          </a:ln>
        </p:spPr>
      </p:sp>
      <p:sp>
        <p:nvSpPr>
          <p:cNvPr id="27" name="Text 24"/>
          <p:cNvSpPr txBox="1"/>
          <p:nvPr/>
        </p:nvSpPr>
        <p:spPr>
          <a:xfrm>
            <a:off x="4169664"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28" name="Text 25"/>
          <p:cNvSpPr txBox="1"/>
          <p:nvPr/>
        </p:nvSpPr>
        <p:spPr>
          <a:xfrm>
            <a:off x="4169664"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29" name="Shape 26"/>
          <p:cNvSpPr/>
          <p:nvPr/>
        </p:nvSpPr>
        <p:spPr>
          <a:xfrm>
            <a:off x="4773168" y="2011680"/>
            <a:ext cx="603504" cy="502920"/>
          </a:xfrm>
          <a:prstGeom prst="rect">
            <a:avLst/>
          </a:prstGeom>
          <a:solidFill>
            <a:srgbClr val="E6F4EC"/>
          </a:solidFill>
          <a:ln w="9525">
            <a:solidFill>
              <a:srgbClr val="8A94AB"/>
            </a:solidFill>
            <a:prstDash val="solid"/>
          </a:ln>
        </p:spPr>
      </p:sp>
      <p:sp>
        <p:nvSpPr>
          <p:cNvPr id="30" name="Text 27"/>
          <p:cNvSpPr txBox="1"/>
          <p:nvPr/>
        </p:nvSpPr>
        <p:spPr>
          <a:xfrm>
            <a:off x="4773168"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a:t>
            </a:r>
            <a:endParaRPr lang="en-US" sz="1600" dirty="0"/>
          </a:p>
        </p:txBody>
      </p:sp>
      <p:sp>
        <p:nvSpPr>
          <p:cNvPr id="31" name="Text 28"/>
          <p:cNvSpPr txBox="1"/>
          <p:nvPr/>
        </p:nvSpPr>
        <p:spPr>
          <a:xfrm>
            <a:off x="4773168"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7</a:t>
            </a:r>
            <a:endParaRPr lang="en-US" sz="1200" dirty="0"/>
          </a:p>
        </p:txBody>
      </p:sp>
      <p:sp>
        <p:nvSpPr>
          <p:cNvPr id="32" name="Shape 29"/>
          <p:cNvSpPr/>
          <p:nvPr/>
        </p:nvSpPr>
        <p:spPr>
          <a:xfrm>
            <a:off x="5376672" y="2011680"/>
            <a:ext cx="603504" cy="502920"/>
          </a:xfrm>
          <a:prstGeom prst="rect">
            <a:avLst/>
          </a:prstGeom>
          <a:solidFill>
            <a:srgbClr val="FFFFFF"/>
          </a:solidFill>
          <a:ln w="9525">
            <a:solidFill>
              <a:srgbClr val="8A94AB"/>
            </a:solidFill>
            <a:prstDash val="solid"/>
          </a:ln>
        </p:spPr>
      </p:sp>
      <p:sp>
        <p:nvSpPr>
          <p:cNvPr id="33" name="Text 30"/>
          <p:cNvSpPr txBox="1"/>
          <p:nvPr/>
        </p:nvSpPr>
        <p:spPr>
          <a:xfrm>
            <a:off x="5376672" y="201168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a:t>
            </a:r>
            <a:endParaRPr lang="en-US" sz="1600" dirty="0"/>
          </a:p>
        </p:txBody>
      </p:sp>
      <p:sp>
        <p:nvSpPr>
          <p:cNvPr id="34" name="Text 31"/>
          <p:cNvSpPr txBox="1"/>
          <p:nvPr/>
        </p:nvSpPr>
        <p:spPr>
          <a:xfrm>
            <a:off x="5376672" y="254203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8</a:t>
            </a:r>
            <a:endParaRPr lang="en-US" sz="1200" dirty="0"/>
          </a:p>
        </p:txBody>
      </p:sp>
      <p:sp>
        <p:nvSpPr>
          <p:cNvPr id="35" name="Text 32"/>
          <p:cNvSpPr txBox="1"/>
          <p:nvPr/>
        </p:nvSpPr>
        <p:spPr>
          <a:xfrm>
            <a:off x="548640" y="2834640"/>
            <a:ext cx="5486400" cy="365760"/>
          </a:xfrm>
          <a:prstGeom prst="rect">
            <a:avLst/>
          </a:prstGeom>
          <a:noFill/>
          <a:ln/>
        </p:spPr>
        <p:txBody>
          <a:bodyPr wrap="square" lIns="0" tIns="0" rIns="0" bIns="0" rtlCol="0" anchor="ctr"/>
          <a:lstStyle/>
          <a:p>
            <a:pPr algn="l" indent="0" marL="0">
              <a:buNone/>
            </a:pPr>
            <a:r>
              <a:rPr lang="en-US" sz="1400" b="1" dirty="0">
                <a:solidFill>
                  <a:srgbClr val="5B6478"/>
                </a:solidFill>
                <a:latin typeface="Calibri" pitchFamily="34" charset="0"/>
                <a:ea typeface="Calibri" pitchFamily="34" charset="-122"/>
                <a:cs typeface="Calibri" pitchFamily="34" charset="-120"/>
              </a:rPr>
              <a:t>after the loop (unique = 5)</a:t>
            </a:r>
            <a:endParaRPr lang="en-US" sz="1400" dirty="0"/>
          </a:p>
        </p:txBody>
      </p:sp>
      <p:sp>
        <p:nvSpPr>
          <p:cNvPr id="36" name="Shape 33"/>
          <p:cNvSpPr/>
          <p:nvPr/>
        </p:nvSpPr>
        <p:spPr>
          <a:xfrm>
            <a:off x="548640" y="3200400"/>
            <a:ext cx="603504" cy="502920"/>
          </a:xfrm>
          <a:prstGeom prst="rect">
            <a:avLst/>
          </a:prstGeom>
          <a:solidFill>
            <a:srgbClr val="E6F4EC"/>
          </a:solidFill>
          <a:ln w="9525">
            <a:solidFill>
              <a:srgbClr val="8A94AB"/>
            </a:solidFill>
            <a:prstDash val="solid"/>
          </a:ln>
        </p:spPr>
      </p:sp>
      <p:sp>
        <p:nvSpPr>
          <p:cNvPr id="37" name="Text 34"/>
          <p:cNvSpPr txBox="1"/>
          <p:nvPr/>
        </p:nvSpPr>
        <p:spPr>
          <a:xfrm>
            <a:off x="548640" y="320040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38" name="Text 35"/>
          <p:cNvSpPr txBox="1"/>
          <p:nvPr/>
        </p:nvSpPr>
        <p:spPr>
          <a:xfrm>
            <a:off x="548640"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39" name="Shape 36"/>
          <p:cNvSpPr/>
          <p:nvPr/>
        </p:nvSpPr>
        <p:spPr>
          <a:xfrm>
            <a:off x="1152144" y="3200400"/>
            <a:ext cx="603504" cy="502920"/>
          </a:xfrm>
          <a:prstGeom prst="rect">
            <a:avLst/>
          </a:prstGeom>
          <a:solidFill>
            <a:srgbClr val="E6F4EC"/>
          </a:solidFill>
          <a:ln w="9525">
            <a:solidFill>
              <a:srgbClr val="8A94AB"/>
            </a:solidFill>
            <a:prstDash val="solid"/>
          </a:ln>
        </p:spPr>
      </p:sp>
      <p:sp>
        <p:nvSpPr>
          <p:cNvPr id="40" name="Text 37"/>
          <p:cNvSpPr txBox="1"/>
          <p:nvPr/>
        </p:nvSpPr>
        <p:spPr>
          <a:xfrm>
            <a:off x="1152144" y="320040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a:t>
            </a:r>
            <a:endParaRPr lang="en-US" sz="1600" dirty="0"/>
          </a:p>
        </p:txBody>
      </p:sp>
      <p:sp>
        <p:nvSpPr>
          <p:cNvPr id="41" name="Text 38"/>
          <p:cNvSpPr txBox="1"/>
          <p:nvPr/>
        </p:nvSpPr>
        <p:spPr>
          <a:xfrm>
            <a:off x="1152144"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42" name="Shape 39"/>
          <p:cNvSpPr/>
          <p:nvPr/>
        </p:nvSpPr>
        <p:spPr>
          <a:xfrm>
            <a:off x="1755648" y="3200400"/>
            <a:ext cx="603504" cy="502920"/>
          </a:xfrm>
          <a:prstGeom prst="rect">
            <a:avLst/>
          </a:prstGeom>
          <a:solidFill>
            <a:srgbClr val="E6F4EC"/>
          </a:solidFill>
          <a:ln w="9525">
            <a:solidFill>
              <a:srgbClr val="8A94AB"/>
            </a:solidFill>
            <a:prstDash val="solid"/>
          </a:ln>
        </p:spPr>
      </p:sp>
      <p:sp>
        <p:nvSpPr>
          <p:cNvPr id="43" name="Text 40"/>
          <p:cNvSpPr txBox="1"/>
          <p:nvPr/>
        </p:nvSpPr>
        <p:spPr>
          <a:xfrm>
            <a:off x="1755648" y="320040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44" name="Text 41"/>
          <p:cNvSpPr txBox="1"/>
          <p:nvPr/>
        </p:nvSpPr>
        <p:spPr>
          <a:xfrm>
            <a:off x="1755648"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45" name="Shape 42"/>
          <p:cNvSpPr/>
          <p:nvPr/>
        </p:nvSpPr>
        <p:spPr>
          <a:xfrm>
            <a:off x="2359152" y="3200400"/>
            <a:ext cx="603504" cy="502920"/>
          </a:xfrm>
          <a:prstGeom prst="rect">
            <a:avLst/>
          </a:prstGeom>
          <a:solidFill>
            <a:srgbClr val="E6F4EC"/>
          </a:solidFill>
          <a:ln w="9525">
            <a:solidFill>
              <a:srgbClr val="8A94AB"/>
            </a:solidFill>
            <a:prstDash val="solid"/>
          </a:ln>
        </p:spPr>
      </p:sp>
      <p:sp>
        <p:nvSpPr>
          <p:cNvPr id="46" name="Text 43"/>
          <p:cNvSpPr txBox="1"/>
          <p:nvPr/>
        </p:nvSpPr>
        <p:spPr>
          <a:xfrm>
            <a:off x="2359152" y="320040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47" name="Text 44"/>
          <p:cNvSpPr txBox="1"/>
          <p:nvPr/>
        </p:nvSpPr>
        <p:spPr>
          <a:xfrm>
            <a:off x="2359152"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48" name="Shape 45"/>
          <p:cNvSpPr/>
          <p:nvPr/>
        </p:nvSpPr>
        <p:spPr>
          <a:xfrm>
            <a:off x="2962656" y="3200400"/>
            <a:ext cx="603504" cy="502920"/>
          </a:xfrm>
          <a:prstGeom prst="rect">
            <a:avLst/>
          </a:prstGeom>
          <a:solidFill>
            <a:srgbClr val="E6F4EC"/>
          </a:solidFill>
          <a:ln w="9525">
            <a:solidFill>
              <a:srgbClr val="8A94AB"/>
            </a:solidFill>
            <a:prstDash val="solid"/>
          </a:ln>
        </p:spPr>
      </p:sp>
      <p:sp>
        <p:nvSpPr>
          <p:cNvPr id="49" name="Text 46"/>
          <p:cNvSpPr txBox="1"/>
          <p:nvPr/>
        </p:nvSpPr>
        <p:spPr>
          <a:xfrm>
            <a:off x="2962656" y="3200400"/>
            <a:ext cx="603504"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a:t>
            </a:r>
            <a:endParaRPr lang="en-US" sz="1600" dirty="0"/>
          </a:p>
        </p:txBody>
      </p:sp>
      <p:sp>
        <p:nvSpPr>
          <p:cNvPr id="50" name="Text 47"/>
          <p:cNvSpPr txBox="1"/>
          <p:nvPr/>
        </p:nvSpPr>
        <p:spPr>
          <a:xfrm>
            <a:off x="2962656"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51" name="Shape 48"/>
          <p:cNvSpPr/>
          <p:nvPr/>
        </p:nvSpPr>
        <p:spPr>
          <a:xfrm>
            <a:off x="3566160" y="3200400"/>
            <a:ext cx="603504" cy="502920"/>
          </a:xfrm>
          <a:prstGeom prst="rect">
            <a:avLst/>
          </a:prstGeom>
          <a:solidFill>
            <a:srgbClr val="E4E7ED"/>
          </a:solidFill>
          <a:ln w="9525">
            <a:solidFill>
              <a:srgbClr val="8A94AB"/>
            </a:solidFill>
            <a:prstDash val="solid"/>
          </a:ln>
        </p:spPr>
      </p:sp>
      <p:sp>
        <p:nvSpPr>
          <p:cNvPr id="52" name="Text 49"/>
          <p:cNvSpPr txBox="1"/>
          <p:nvPr/>
        </p:nvSpPr>
        <p:spPr>
          <a:xfrm>
            <a:off x="3566160" y="3200400"/>
            <a:ext cx="603504" cy="502920"/>
          </a:xfrm>
          <a:prstGeom prst="rect">
            <a:avLst/>
          </a:prstGeom>
          <a:noFill/>
          <a:ln/>
        </p:spPr>
        <p:txBody>
          <a:bodyPr wrap="square" lIns="0" tIns="0" rIns="0" bIns="0" rtlCol="0" anchor="ctr"/>
          <a:lstStyle/>
          <a:p>
            <a:pPr algn="ctr" indent="0" marL="0">
              <a:buNone/>
            </a:pPr>
            <a:r>
              <a:rPr lang="en-US" sz="1600" b="1" dirty="0">
                <a:solidFill>
                  <a:srgbClr val="9AA3B5"/>
                </a:solidFill>
                <a:latin typeface="Courier New" pitchFamily="34" charset="0"/>
                <a:ea typeface="Courier New" pitchFamily="34" charset="-122"/>
                <a:cs typeface="Courier New" pitchFamily="34" charset="-120"/>
              </a:rPr>
              <a:t>5</a:t>
            </a:r>
            <a:endParaRPr lang="en-US" sz="1600" dirty="0"/>
          </a:p>
        </p:txBody>
      </p:sp>
      <p:sp>
        <p:nvSpPr>
          <p:cNvPr id="53" name="Text 50"/>
          <p:cNvSpPr txBox="1"/>
          <p:nvPr/>
        </p:nvSpPr>
        <p:spPr>
          <a:xfrm>
            <a:off x="3566160"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54" name="Shape 51"/>
          <p:cNvSpPr/>
          <p:nvPr/>
        </p:nvSpPr>
        <p:spPr>
          <a:xfrm>
            <a:off x="4169664" y="3200400"/>
            <a:ext cx="603504" cy="502920"/>
          </a:xfrm>
          <a:prstGeom prst="rect">
            <a:avLst/>
          </a:prstGeom>
          <a:solidFill>
            <a:srgbClr val="E4E7ED"/>
          </a:solidFill>
          <a:ln w="9525">
            <a:solidFill>
              <a:srgbClr val="8A94AB"/>
            </a:solidFill>
            <a:prstDash val="solid"/>
          </a:ln>
        </p:spPr>
      </p:sp>
      <p:sp>
        <p:nvSpPr>
          <p:cNvPr id="55" name="Text 52"/>
          <p:cNvSpPr txBox="1"/>
          <p:nvPr/>
        </p:nvSpPr>
        <p:spPr>
          <a:xfrm>
            <a:off x="4169664" y="3200400"/>
            <a:ext cx="603504" cy="502920"/>
          </a:xfrm>
          <a:prstGeom prst="rect">
            <a:avLst/>
          </a:prstGeom>
          <a:noFill/>
          <a:ln/>
        </p:spPr>
        <p:txBody>
          <a:bodyPr wrap="square" lIns="0" tIns="0" rIns="0" bIns="0" rtlCol="0" anchor="ctr"/>
          <a:lstStyle/>
          <a:p>
            <a:pPr algn="ctr" indent="0" marL="0">
              <a:buNone/>
            </a:pPr>
            <a:r>
              <a:rPr lang="en-US" sz="1600" b="1" dirty="0">
                <a:solidFill>
                  <a:srgbClr val="9AA3B5"/>
                </a:solidFill>
                <a:latin typeface="Courier New" pitchFamily="34" charset="0"/>
                <a:ea typeface="Courier New" pitchFamily="34" charset="-122"/>
                <a:cs typeface="Courier New" pitchFamily="34" charset="-120"/>
              </a:rPr>
              <a:t>8</a:t>
            </a:r>
            <a:endParaRPr lang="en-US" sz="1600" dirty="0"/>
          </a:p>
        </p:txBody>
      </p:sp>
      <p:sp>
        <p:nvSpPr>
          <p:cNvPr id="56" name="Text 53"/>
          <p:cNvSpPr txBox="1"/>
          <p:nvPr/>
        </p:nvSpPr>
        <p:spPr>
          <a:xfrm>
            <a:off x="4169664"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57" name="Shape 54"/>
          <p:cNvSpPr/>
          <p:nvPr/>
        </p:nvSpPr>
        <p:spPr>
          <a:xfrm>
            <a:off x="4773168" y="3200400"/>
            <a:ext cx="603504" cy="502920"/>
          </a:xfrm>
          <a:prstGeom prst="rect">
            <a:avLst/>
          </a:prstGeom>
          <a:solidFill>
            <a:srgbClr val="E4E7ED"/>
          </a:solidFill>
          <a:ln w="9525">
            <a:solidFill>
              <a:srgbClr val="8A94AB"/>
            </a:solidFill>
            <a:prstDash val="solid"/>
          </a:ln>
        </p:spPr>
      </p:sp>
      <p:sp>
        <p:nvSpPr>
          <p:cNvPr id="58" name="Text 55"/>
          <p:cNvSpPr txBox="1"/>
          <p:nvPr/>
        </p:nvSpPr>
        <p:spPr>
          <a:xfrm>
            <a:off x="4773168" y="3200400"/>
            <a:ext cx="603504" cy="502920"/>
          </a:xfrm>
          <a:prstGeom prst="rect">
            <a:avLst/>
          </a:prstGeom>
          <a:noFill/>
          <a:ln/>
        </p:spPr>
        <p:txBody>
          <a:bodyPr wrap="square" lIns="0" tIns="0" rIns="0" bIns="0" rtlCol="0" anchor="ctr"/>
          <a:lstStyle/>
          <a:p>
            <a:pPr algn="ctr" indent="0" marL="0">
              <a:buNone/>
            </a:pPr>
            <a:r>
              <a:rPr lang="en-US" sz="1600" b="1" dirty="0">
                <a:solidFill>
                  <a:srgbClr val="9AA3B5"/>
                </a:solidFill>
                <a:latin typeface="Courier New" pitchFamily="34" charset="0"/>
                <a:ea typeface="Courier New" pitchFamily="34" charset="-122"/>
                <a:cs typeface="Courier New" pitchFamily="34" charset="-120"/>
              </a:rPr>
              <a:t>9</a:t>
            </a:r>
            <a:endParaRPr lang="en-US" sz="1600" dirty="0"/>
          </a:p>
        </p:txBody>
      </p:sp>
      <p:sp>
        <p:nvSpPr>
          <p:cNvPr id="59" name="Text 56"/>
          <p:cNvSpPr txBox="1"/>
          <p:nvPr/>
        </p:nvSpPr>
        <p:spPr>
          <a:xfrm>
            <a:off x="4773168"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7</a:t>
            </a:r>
            <a:endParaRPr lang="en-US" sz="1200" dirty="0"/>
          </a:p>
        </p:txBody>
      </p:sp>
      <p:sp>
        <p:nvSpPr>
          <p:cNvPr id="60" name="Shape 57"/>
          <p:cNvSpPr/>
          <p:nvPr/>
        </p:nvSpPr>
        <p:spPr>
          <a:xfrm>
            <a:off x="5376672" y="3200400"/>
            <a:ext cx="603504" cy="502920"/>
          </a:xfrm>
          <a:prstGeom prst="rect">
            <a:avLst/>
          </a:prstGeom>
          <a:solidFill>
            <a:srgbClr val="E4E7ED"/>
          </a:solidFill>
          <a:ln w="9525">
            <a:solidFill>
              <a:srgbClr val="8A94AB"/>
            </a:solidFill>
            <a:prstDash val="solid"/>
          </a:ln>
        </p:spPr>
      </p:sp>
      <p:sp>
        <p:nvSpPr>
          <p:cNvPr id="61" name="Text 58"/>
          <p:cNvSpPr txBox="1"/>
          <p:nvPr/>
        </p:nvSpPr>
        <p:spPr>
          <a:xfrm>
            <a:off x="5376672" y="3200400"/>
            <a:ext cx="603504" cy="502920"/>
          </a:xfrm>
          <a:prstGeom prst="rect">
            <a:avLst/>
          </a:prstGeom>
          <a:noFill/>
          <a:ln/>
        </p:spPr>
        <p:txBody>
          <a:bodyPr wrap="square" lIns="0" tIns="0" rIns="0" bIns="0" rtlCol="0" anchor="ctr"/>
          <a:lstStyle/>
          <a:p>
            <a:pPr algn="ctr" indent="0" marL="0">
              <a:buNone/>
            </a:pPr>
            <a:r>
              <a:rPr lang="en-US" sz="1600" b="1" dirty="0">
                <a:solidFill>
                  <a:srgbClr val="9AA3B5"/>
                </a:solidFill>
                <a:latin typeface="Courier New" pitchFamily="34" charset="0"/>
                <a:ea typeface="Courier New" pitchFamily="34" charset="-122"/>
                <a:cs typeface="Courier New" pitchFamily="34" charset="-120"/>
              </a:rPr>
              <a:t>9</a:t>
            </a:r>
            <a:endParaRPr lang="en-US" sz="1600" dirty="0"/>
          </a:p>
        </p:txBody>
      </p:sp>
      <p:sp>
        <p:nvSpPr>
          <p:cNvPr id="62" name="Text 59"/>
          <p:cNvSpPr txBox="1"/>
          <p:nvPr/>
        </p:nvSpPr>
        <p:spPr>
          <a:xfrm>
            <a:off x="5376672" y="3730752"/>
            <a:ext cx="603504"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8</a:t>
            </a:r>
            <a:endParaRPr lang="en-US" sz="1200" dirty="0"/>
          </a:p>
        </p:txBody>
      </p:sp>
      <p:sp>
        <p:nvSpPr>
          <p:cNvPr id="63" name="Shape 60"/>
          <p:cNvSpPr/>
          <p:nvPr/>
        </p:nvSpPr>
        <p:spPr>
          <a:xfrm>
            <a:off x="548640" y="4114800"/>
            <a:ext cx="274320" cy="274320"/>
          </a:xfrm>
          <a:prstGeom prst="rect">
            <a:avLst/>
          </a:prstGeom>
          <a:solidFill>
            <a:srgbClr val="E6F4EC"/>
          </a:solidFill>
          <a:ln w="9525">
            <a:solidFill>
              <a:srgbClr val="8A94AB"/>
            </a:solidFill>
            <a:prstDash val="solid"/>
          </a:ln>
        </p:spPr>
      </p:sp>
      <p:sp>
        <p:nvSpPr>
          <p:cNvPr id="64" name="Text 61"/>
          <p:cNvSpPr txBox="1"/>
          <p:nvPr/>
        </p:nvSpPr>
        <p:spPr>
          <a:xfrm>
            <a:off x="914400" y="4069080"/>
            <a:ext cx="274320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kept (first of its value)</a:t>
            </a:r>
            <a:endParaRPr lang="en-US" sz="1300" dirty="0"/>
          </a:p>
        </p:txBody>
      </p:sp>
      <p:sp>
        <p:nvSpPr>
          <p:cNvPr id="65" name="Shape 62"/>
          <p:cNvSpPr/>
          <p:nvPr/>
        </p:nvSpPr>
        <p:spPr>
          <a:xfrm>
            <a:off x="3657600" y="4114800"/>
            <a:ext cx="274320" cy="274320"/>
          </a:xfrm>
          <a:prstGeom prst="rect">
            <a:avLst/>
          </a:prstGeom>
          <a:solidFill>
            <a:srgbClr val="E4E7ED"/>
          </a:solidFill>
          <a:ln w="9525">
            <a:solidFill>
              <a:srgbClr val="8A94AB"/>
            </a:solidFill>
            <a:prstDash val="solid"/>
          </a:ln>
        </p:spPr>
      </p:sp>
      <p:sp>
        <p:nvSpPr>
          <p:cNvPr id="66" name="Text 63"/>
          <p:cNvSpPr txBox="1"/>
          <p:nvPr/>
        </p:nvSpPr>
        <p:spPr>
          <a:xfrm>
            <a:off x="4023360" y="4069080"/>
            <a:ext cx="1097280" cy="36576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ignored</a:t>
            </a:r>
            <a:endParaRPr lang="en-US" sz="1300" dirty="0"/>
          </a:p>
        </p:txBody>
      </p:sp>
      <p:sp>
        <p:nvSpPr>
          <p:cNvPr id="67" name="Shape 64"/>
          <p:cNvSpPr/>
          <p:nvPr/>
        </p:nvSpPr>
        <p:spPr>
          <a:xfrm>
            <a:off x="548640" y="4572000"/>
            <a:ext cx="5440680" cy="1508760"/>
          </a:xfrm>
          <a:prstGeom prst="roundRect">
            <a:avLst>
              <a:gd name="adj" fmla="val 6061"/>
            </a:avLst>
          </a:prstGeom>
          <a:solidFill>
            <a:srgbClr val="0B0F19"/>
          </a:solidFill>
          <a:ln w="12700">
            <a:solidFill>
              <a:srgbClr val="2A3654"/>
            </a:solidFill>
            <a:prstDash val="solid"/>
          </a:ln>
        </p:spPr>
      </p:sp>
      <p:sp>
        <p:nvSpPr>
          <p:cNvPr id="68" name="Shape 65"/>
          <p:cNvSpPr/>
          <p:nvPr/>
        </p:nvSpPr>
        <p:spPr>
          <a:xfrm>
            <a:off x="731520" y="4700016"/>
            <a:ext cx="118872" cy="118872"/>
          </a:xfrm>
          <a:prstGeom prst="ellipse">
            <a:avLst/>
          </a:prstGeom>
          <a:solidFill>
            <a:srgbClr val="FF5F57"/>
          </a:solidFill>
          <a:ln w="12700">
            <a:solidFill>
              <a:srgbClr val="FF5F57"/>
            </a:solidFill>
            <a:prstDash val="solid"/>
          </a:ln>
        </p:spPr>
      </p:sp>
      <p:sp>
        <p:nvSpPr>
          <p:cNvPr id="69" name="Shape 66"/>
          <p:cNvSpPr/>
          <p:nvPr/>
        </p:nvSpPr>
        <p:spPr>
          <a:xfrm>
            <a:off x="960120" y="4700016"/>
            <a:ext cx="118872" cy="118872"/>
          </a:xfrm>
          <a:prstGeom prst="ellipse">
            <a:avLst/>
          </a:prstGeom>
          <a:solidFill>
            <a:srgbClr val="FEBC2E"/>
          </a:solidFill>
          <a:ln w="12700">
            <a:solidFill>
              <a:srgbClr val="FEBC2E"/>
            </a:solidFill>
            <a:prstDash val="solid"/>
          </a:ln>
        </p:spPr>
      </p:sp>
      <p:sp>
        <p:nvSpPr>
          <p:cNvPr id="70" name="Shape 67"/>
          <p:cNvSpPr/>
          <p:nvPr/>
        </p:nvSpPr>
        <p:spPr>
          <a:xfrm>
            <a:off x="1188720" y="4700016"/>
            <a:ext cx="118872" cy="118872"/>
          </a:xfrm>
          <a:prstGeom prst="ellipse">
            <a:avLst/>
          </a:prstGeom>
          <a:solidFill>
            <a:srgbClr val="28C840"/>
          </a:solidFill>
          <a:ln w="12700">
            <a:solidFill>
              <a:srgbClr val="28C840"/>
            </a:solidFill>
            <a:prstDash val="solid"/>
          </a:ln>
        </p:spPr>
      </p:sp>
      <p:sp>
        <p:nvSpPr>
          <p:cNvPr id="71" name="Text 68"/>
          <p:cNvSpPr txBox="1"/>
          <p:nvPr/>
        </p:nvSpPr>
        <p:spPr>
          <a:xfrm>
            <a:off x="1463040" y="4645152"/>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72" name="Text 69"/>
          <p:cNvSpPr txBox="1"/>
          <p:nvPr/>
        </p:nvSpPr>
        <p:spPr>
          <a:xfrm>
            <a:off x="777240" y="4956048"/>
            <a:ext cx="4983480" cy="10058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Sorted input: 2 2 3 5 5 5 8 9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Unique (5): 2 3 5 8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Removed duplicates: 4</a:t>
            </a:r>
            <a:endParaRPr lang="en-US" sz="1300" dirty="0"/>
          </a:p>
        </p:txBody>
      </p:sp>
      <p:sp>
        <p:nvSpPr>
          <p:cNvPr id="73" name="Shape 70"/>
          <p:cNvSpPr/>
          <p:nvPr/>
        </p:nvSpPr>
        <p:spPr>
          <a:xfrm>
            <a:off x="6217920" y="1645920"/>
            <a:ext cx="5440680" cy="4434840"/>
          </a:xfrm>
          <a:prstGeom prst="roundRect">
            <a:avLst>
              <a:gd name="adj" fmla="val 2062"/>
            </a:avLst>
          </a:prstGeom>
          <a:solidFill>
            <a:srgbClr val="0F1729"/>
          </a:solidFill>
          <a:ln w="12700">
            <a:solidFill>
              <a:srgbClr val="0F1729"/>
            </a:solidFill>
            <a:prstDash val="solid"/>
          </a:ln>
        </p:spPr>
      </p:sp>
      <p:sp>
        <p:nvSpPr>
          <p:cNvPr id="74" name="Text 71"/>
          <p:cNvSpPr txBox="1"/>
          <p:nvPr/>
        </p:nvSpPr>
        <p:spPr>
          <a:xfrm>
            <a:off x="6446520" y="175564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75" name="Text 72"/>
          <p:cNvSpPr txBox="1"/>
          <p:nvPr/>
        </p:nvSpPr>
        <p:spPr>
          <a:xfrm>
            <a:off x="6446520" y="2057400"/>
            <a:ext cx="4983480" cy="39136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unique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a.Length;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(a[i] != a[unique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a[unique] = a[i];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unique++;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12 · 10_12_MERGESORTED (★★★)</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Merge two sorted arrays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Text 4"/>
          <p:cNvSpPr txBox="1"/>
          <p:nvPr/>
        </p:nvSpPr>
        <p:spPr>
          <a:xfrm>
            <a:off x="548640" y="1645920"/>
            <a:ext cx="548640" cy="502920"/>
          </a:xfrm>
          <a:prstGeom prst="rect">
            <a:avLst/>
          </a:prstGeom>
          <a:noFill/>
          <a:ln/>
        </p:spPr>
        <p:txBody>
          <a:bodyPr wrap="square" lIns="0" tIns="0" rIns="0" bIns="0" rtlCol="0" anchor="ctr"/>
          <a:lstStyle/>
          <a:p>
            <a:pPr algn="l" indent="0" marL="0">
              <a:buNone/>
            </a:pPr>
            <a:r>
              <a:rPr lang="en-US" sz="1600" b="1" dirty="0">
                <a:solidFill>
                  <a:srgbClr val="14213D"/>
                </a:solidFill>
                <a:latin typeface="Courier New" pitchFamily="34" charset="0"/>
                <a:ea typeface="Courier New" pitchFamily="34" charset="-122"/>
                <a:cs typeface="Courier New" pitchFamily="34" charset="-120"/>
              </a:rPr>
              <a:t>a</a:t>
            </a:r>
            <a:endParaRPr lang="en-US" sz="1600" dirty="0"/>
          </a:p>
        </p:txBody>
      </p:sp>
      <p:sp>
        <p:nvSpPr>
          <p:cNvPr id="8" name="Shape 5"/>
          <p:cNvSpPr/>
          <p:nvPr/>
        </p:nvSpPr>
        <p:spPr>
          <a:xfrm>
            <a:off x="1005840" y="1645920"/>
            <a:ext cx="640080" cy="502920"/>
          </a:xfrm>
          <a:prstGeom prst="rect">
            <a:avLst/>
          </a:prstGeom>
          <a:solidFill>
            <a:srgbClr val="E3ECF8"/>
          </a:solidFill>
          <a:ln w="9525">
            <a:solidFill>
              <a:srgbClr val="8A94AB"/>
            </a:solidFill>
            <a:prstDash val="solid"/>
          </a:ln>
        </p:spPr>
      </p:sp>
      <p:sp>
        <p:nvSpPr>
          <p:cNvPr id="9" name="Text 6"/>
          <p:cNvSpPr txBox="1"/>
          <p:nvPr/>
        </p:nvSpPr>
        <p:spPr>
          <a:xfrm>
            <a:off x="1005840" y="164592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a:t>
            </a:r>
            <a:endParaRPr lang="en-US" sz="1600" dirty="0"/>
          </a:p>
        </p:txBody>
      </p:sp>
      <p:sp>
        <p:nvSpPr>
          <p:cNvPr id="10" name="Shape 7"/>
          <p:cNvSpPr/>
          <p:nvPr/>
        </p:nvSpPr>
        <p:spPr>
          <a:xfrm>
            <a:off x="1645920" y="1645920"/>
            <a:ext cx="640080" cy="502920"/>
          </a:xfrm>
          <a:prstGeom prst="rect">
            <a:avLst/>
          </a:prstGeom>
          <a:solidFill>
            <a:srgbClr val="E3ECF8"/>
          </a:solidFill>
          <a:ln w="9525">
            <a:solidFill>
              <a:srgbClr val="8A94AB"/>
            </a:solidFill>
            <a:prstDash val="solid"/>
          </a:ln>
        </p:spPr>
      </p:sp>
      <p:sp>
        <p:nvSpPr>
          <p:cNvPr id="11" name="Text 8"/>
          <p:cNvSpPr txBox="1"/>
          <p:nvPr/>
        </p:nvSpPr>
        <p:spPr>
          <a:xfrm>
            <a:off x="1645920" y="164592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12" name="Shape 9"/>
          <p:cNvSpPr/>
          <p:nvPr/>
        </p:nvSpPr>
        <p:spPr>
          <a:xfrm>
            <a:off x="2286000" y="1645920"/>
            <a:ext cx="640080" cy="502920"/>
          </a:xfrm>
          <a:prstGeom prst="rect">
            <a:avLst/>
          </a:prstGeom>
          <a:solidFill>
            <a:srgbClr val="E3ECF8"/>
          </a:solidFill>
          <a:ln w="9525">
            <a:solidFill>
              <a:srgbClr val="8A94AB"/>
            </a:solidFill>
            <a:prstDash val="solid"/>
          </a:ln>
        </p:spPr>
      </p:sp>
      <p:sp>
        <p:nvSpPr>
          <p:cNvPr id="13" name="Text 10"/>
          <p:cNvSpPr txBox="1"/>
          <p:nvPr/>
        </p:nvSpPr>
        <p:spPr>
          <a:xfrm>
            <a:off x="2286000" y="164592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15</a:t>
            </a:r>
            <a:endParaRPr lang="en-US" sz="1600" dirty="0"/>
          </a:p>
        </p:txBody>
      </p:sp>
      <p:sp>
        <p:nvSpPr>
          <p:cNvPr id="14" name="Shape 11"/>
          <p:cNvSpPr/>
          <p:nvPr/>
        </p:nvSpPr>
        <p:spPr>
          <a:xfrm>
            <a:off x="2926080" y="1645920"/>
            <a:ext cx="640080" cy="502920"/>
          </a:xfrm>
          <a:prstGeom prst="rect">
            <a:avLst/>
          </a:prstGeom>
          <a:solidFill>
            <a:srgbClr val="E3ECF8"/>
          </a:solidFill>
          <a:ln w="9525">
            <a:solidFill>
              <a:srgbClr val="8A94AB"/>
            </a:solidFill>
            <a:prstDash val="solid"/>
          </a:ln>
        </p:spPr>
      </p:sp>
      <p:sp>
        <p:nvSpPr>
          <p:cNvPr id="15" name="Text 12"/>
          <p:cNvSpPr txBox="1"/>
          <p:nvPr/>
        </p:nvSpPr>
        <p:spPr>
          <a:xfrm>
            <a:off x="2926080" y="164592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21</a:t>
            </a:r>
            <a:endParaRPr lang="en-US" sz="1600" dirty="0"/>
          </a:p>
        </p:txBody>
      </p:sp>
      <p:sp>
        <p:nvSpPr>
          <p:cNvPr id="16" name="Text 13"/>
          <p:cNvSpPr txBox="1"/>
          <p:nvPr/>
        </p:nvSpPr>
        <p:spPr>
          <a:xfrm>
            <a:off x="548640" y="2286000"/>
            <a:ext cx="548640" cy="502920"/>
          </a:xfrm>
          <a:prstGeom prst="rect">
            <a:avLst/>
          </a:prstGeom>
          <a:noFill/>
          <a:ln/>
        </p:spPr>
        <p:txBody>
          <a:bodyPr wrap="square" lIns="0" tIns="0" rIns="0" bIns="0" rtlCol="0" anchor="ctr"/>
          <a:lstStyle/>
          <a:p>
            <a:pPr algn="l" indent="0" marL="0">
              <a:buNone/>
            </a:pPr>
            <a:r>
              <a:rPr lang="en-US" sz="1600" b="1" dirty="0">
                <a:solidFill>
                  <a:srgbClr val="14213D"/>
                </a:solidFill>
                <a:latin typeface="Courier New" pitchFamily="34" charset="0"/>
                <a:ea typeface="Courier New" pitchFamily="34" charset="-122"/>
                <a:cs typeface="Courier New" pitchFamily="34" charset="-120"/>
              </a:rPr>
              <a:t>b</a:t>
            </a:r>
            <a:endParaRPr lang="en-US" sz="1600" dirty="0"/>
          </a:p>
        </p:txBody>
      </p:sp>
      <p:sp>
        <p:nvSpPr>
          <p:cNvPr id="17" name="Shape 14"/>
          <p:cNvSpPr/>
          <p:nvPr/>
        </p:nvSpPr>
        <p:spPr>
          <a:xfrm>
            <a:off x="1005840" y="2286000"/>
            <a:ext cx="640080" cy="502920"/>
          </a:xfrm>
          <a:prstGeom prst="rect">
            <a:avLst/>
          </a:prstGeom>
          <a:solidFill>
            <a:srgbClr val="FFF1D6"/>
          </a:solidFill>
          <a:ln w="9525">
            <a:solidFill>
              <a:srgbClr val="8A94AB"/>
            </a:solidFill>
            <a:prstDash val="solid"/>
          </a:ln>
        </p:spPr>
      </p:sp>
      <p:sp>
        <p:nvSpPr>
          <p:cNvPr id="18" name="Text 15"/>
          <p:cNvSpPr txBox="1"/>
          <p:nvPr/>
        </p:nvSpPr>
        <p:spPr>
          <a:xfrm>
            <a:off x="1005840" y="22860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a:t>
            </a:r>
            <a:endParaRPr lang="en-US" sz="1600" dirty="0"/>
          </a:p>
        </p:txBody>
      </p:sp>
      <p:sp>
        <p:nvSpPr>
          <p:cNvPr id="19" name="Shape 16"/>
          <p:cNvSpPr/>
          <p:nvPr/>
        </p:nvSpPr>
        <p:spPr>
          <a:xfrm>
            <a:off x="1645920" y="2286000"/>
            <a:ext cx="640080" cy="502920"/>
          </a:xfrm>
          <a:prstGeom prst="rect">
            <a:avLst/>
          </a:prstGeom>
          <a:solidFill>
            <a:srgbClr val="FFF1D6"/>
          </a:solidFill>
          <a:ln w="9525">
            <a:solidFill>
              <a:srgbClr val="8A94AB"/>
            </a:solidFill>
            <a:prstDash val="solid"/>
          </a:ln>
        </p:spPr>
      </p:sp>
      <p:sp>
        <p:nvSpPr>
          <p:cNvPr id="20" name="Text 17"/>
          <p:cNvSpPr txBox="1"/>
          <p:nvPr/>
        </p:nvSpPr>
        <p:spPr>
          <a:xfrm>
            <a:off x="1645920" y="22860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a:t>
            </a:r>
            <a:endParaRPr lang="en-US" sz="1600" dirty="0"/>
          </a:p>
        </p:txBody>
      </p:sp>
      <p:sp>
        <p:nvSpPr>
          <p:cNvPr id="21" name="Shape 18"/>
          <p:cNvSpPr/>
          <p:nvPr/>
        </p:nvSpPr>
        <p:spPr>
          <a:xfrm>
            <a:off x="2286000" y="2286000"/>
            <a:ext cx="640080" cy="502920"/>
          </a:xfrm>
          <a:prstGeom prst="rect">
            <a:avLst/>
          </a:prstGeom>
          <a:solidFill>
            <a:srgbClr val="FFF1D6"/>
          </a:solidFill>
          <a:ln w="9525">
            <a:solidFill>
              <a:srgbClr val="8A94AB"/>
            </a:solidFill>
            <a:prstDash val="solid"/>
          </a:ln>
        </p:spPr>
      </p:sp>
      <p:sp>
        <p:nvSpPr>
          <p:cNvPr id="22" name="Text 19"/>
          <p:cNvSpPr txBox="1"/>
          <p:nvPr/>
        </p:nvSpPr>
        <p:spPr>
          <a:xfrm>
            <a:off x="2286000" y="22860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10</a:t>
            </a:r>
            <a:endParaRPr lang="en-US" sz="1600" dirty="0"/>
          </a:p>
        </p:txBody>
      </p:sp>
      <p:sp>
        <p:nvSpPr>
          <p:cNvPr id="23" name="Shape 20"/>
          <p:cNvSpPr/>
          <p:nvPr/>
        </p:nvSpPr>
        <p:spPr>
          <a:xfrm>
            <a:off x="2926080" y="2286000"/>
            <a:ext cx="640080" cy="502920"/>
          </a:xfrm>
          <a:prstGeom prst="rect">
            <a:avLst/>
          </a:prstGeom>
          <a:solidFill>
            <a:srgbClr val="FFF1D6"/>
          </a:solidFill>
          <a:ln w="9525">
            <a:solidFill>
              <a:srgbClr val="8A94AB"/>
            </a:solidFill>
            <a:prstDash val="solid"/>
          </a:ln>
        </p:spPr>
      </p:sp>
      <p:sp>
        <p:nvSpPr>
          <p:cNvPr id="24" name="Text 21"/>
          <p:cNvSpPr txBox="1"/>
          <p:nvPr/>
        </p:nvSpPr>
        <p:spPr>
          <a:xfrm>
            <a:off x="2926080" y="22860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22</a:t>
            </a:r>
            <a:endParaRPr lang="en-US" sz="1600" dirty="0"/>
          </a:p>
        </p:txBody>
      </p:sp>
      <p:sp>
        <p:nvSpPr>
          <p:cNvPr id="25" name="Shape 22"/>
          <p:cNvSpPr/>
          <p:nvPr/>
        </p:nvSpPr>
        <p:spPr>
          <a:xfrm>
            <a:off x="3566160" y="2286000"/>
            <a:ext cx="640080" cy="502920"/>
          </a:xfrm>
          <a:prstGeom prst="rect">
            <a:avLst/>
          </a:prstGeom>
          <a:solidFill>
            <a:srgbClr val="FFF1D6"/>
          </a:solidFill>
          <a:ln w="9525">
            <a:solidFill>
              <a:srgbClr val="8A94AB"/>
            </a:solidFill>
            <a:prstDash val="solid"/>
          </a:ln>
        </p:spPr>
      </p:sp>
      <p:sp>
        <p:nvSpPr>
          <p:cNvPr id="26" name="Text 23"/>
          <p:cNvSpPr txBox="1"/>
          <p:nvPr/>
        </p:nvSpPr>
        <p:spPr>
          <a:xfrm>
            <a:off x="3566160" y="22860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30</a:t>
            </a:r>
            <a:endParaRPr lang="en-US" sz="1600" dirty="0"/>
          </a:p>
        </p:txBody>
      </p:sp>
      <p:sp>
        <p:nvSpPr>
          <p:cNvPr id="27" name="Text 24"/>
          <p:cNvSpPr txBox="1"/>
          <p:nvPr/>
        </p:nvSpPr>
        <p:spPr>
          <a:xfrm>
            <a:off x="548640" y="2971800"/>
            <a:ext cx="548640" cy="502920"/>
          </a:xfrm>
          <a:prstGeom prst="rect">
            <a:avLst/>
          </a:prstGeom>
          <a:noFill/>
          <a:ln/>
        </p:spPr>
        <p:txBody>
          <a:bodyPr wrap="square" lIns="0" tIns="0" rIns="0" bIns="0" rtlCol="0" anchor="ctr"/>
          <a:lstStyle/>
          <a:p>
            <a:pPr algn="l" indent="0" marL="0">
              <a:buNone/>
            </a:pPr>
            <a:r>
              <a:rPr lang="en-US" sz="1600" b="1" dirty="0">
                <a:solidFill>
                  <a:srgbClr val="14213D"/>
                </a:solidFill>
                <a:latin typeface="Courier New" pitchFamily="34" charset="0"/>
                <a:ea typeface="Courier New" pitchFamily="34" charset="-122"/>
                <a:cs typeface="Courier New" pitchFamily="34" charset="-120"/>
              </a:rPr>
              <a:t>c</a:t>
            </a:r>
            <a:endParaRPr lang="en-US" sz="1600" dirty="0"/>
          </a:p>
        </p:txBody>
      </p:sp>
      <p:sp>
        <p:nvSpPr>
          <p:cNvPr id="28" name="Shape 25"/>
          <p:cNvSpPr/>
          <p:nvPr/>
        </p:nvSpPr>
        <p:spPr>
          <a:xfrm>
            <a:off x="1005840" y="2971800"/>
            <a:ext cx="640080" cy="502920"/>
          </a:xfrm>
          <a:prstGeom prst="rect">
            <a:avLst/>
          </a:prstGeom>
          <a:solidFill>
            <a:srgbClr val="FFF1D6"/>
          </a:solidFill>
          <a:ln w="9525">
            <a:solidFill>
              <a:srgbClr val="8A94AB"/>
            </a:solidFill>
            <a:prstDash val="solid"/>
          </a:ln>
        </p:spPr>
      </p:sp>
      <p:sp>
        <p:nvSpPr>
          <p:cNvPr id="29" name="Text 26"/>
          <p:cNvSpPr txBox="1"/>
          <p:nvPr/>
        </p:nvSpPr>
        <p:spPr>
          <a:xfrm>
            <a:off x="100584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a:t>
            </a:r>
            <a:endParaRPr lang="en-US" sz="1600" dirty="0"/>
          </a:p>
        </p:txBody>
      </p:sp>
      <p:sp>
        <p:nvSpPr>
          <p:cNvPr id="30" name="Text 27"/>
          <p:cNvSpPr txBox="1"/>
          <p:nvPr/>
        </p:nvSpPr>
        <p:spPr>
          <a:xfrm>
            <a:off x="100584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31" name="Shape 28"/>
          <p:cNvSpPr/>
          <p:nvPr/>
        </p:nvSpPr>
        <p:spPr>
          <a:xfrm>
            <a:off x="1645920" y="2971800"/>
            <a:ext cx="640080" cy="502920"/>
          </a:xfrm>
          <a:prstGeom prst="rect">
            <a:avLst/>
          </a:prstGeom>
          <a:solidFill>
            <a:srgbClr val="E3ECF8"/>
          </a:solidFill>
          <a:ln w="9525">
            <a:solidFill>
              <a:srgbClr val="8A94AB"/>
            </a:solidFill>
            <a:prstDash val="solid"/>
          </a:ln>
        </p:spPr>
      </p:sp>
      <p:sp>
        <p:nvSpPr>
          <p:cNvPr id="32" name="Text 29"/>
          <p:cNvSpPr txBox="1"/>
          <p:nvPr/>
        </p:nvSpPr>
        <p:spPr>
          <a:xfrm>
            <a:off x="164592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a:t>
            </a:r>
            <a:endParaRPr lang="en-US" sz="1600" dirty="0"/>
          </a:p>
        </p:txBody>
      </p:sp>
      <p:sp>
        <p:nvSpPr>
          <p:cNvPr id="33" name="Text 30"/>
          <p:cNvSpPr txBox="1"/>
          <p:nvPr/>
        </p:nvSpPr>
        <p:spPr>
          <a:xfrm>
            <a:off x="164592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34" name="Shape 31"/>
          <p:cNvSpPr/>
          <p:nvPr/>
        </p:nvSpPr>
        <p:spPr>
          <a:xfrm>
            <a:off x="2286000" y="2971800"/>
            <a:ext cx="640080" cy="502920"/>
          </a:xfrm>
          <a:prstGeom prst="rect">
            <a:avLst/>
          </a:prstGeom>
          <a:solidFill>
            <a:srgbClr val="E3ECF8"/>
          </a:solidFill>
          <a:ln w="9525">
            <a:solidFill>
              <a:srgbClr val="8A94AB"/>
            </a:solidFill>
            <a:prstDash val="solid"/>
          </a:ln>
        </p:spPr>
      </p:sp>
      <p:sp>
        <p:nvSpPr>
          <p:cNvPr id="35" name="Text 32"/>
          <p:cNvSpPr txBox="1"/>
          <p:nvPr/>
        </p:nvSpPr>
        <p:spPr>
          <a:xfrm>
            <a:off x="228600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36" name="Text 33"/>
          <p:cNvSpPr txBox="1"/>
          <p:nvPr/>
        </p:nvSpPr>
        <p:spPr>
          <a:xfrm>
            <a:off x="228600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37" name="Shape 34"/>
          <p:cNvSpPr/>
          <p:nvPr/>
        </p:nvSpPr>
        <p:spPr>
          <a:xfrm>
            <a:off x="2926080" y="2971800"/>
            <a:ext cx="640080" cy="502920"/>
          </a:xfrm>
          <a:prstGeom prst="rect">
            <a:avLst/>
          </a:prstGeom>
          <a:solidFill>
            <a:srgbClr val="FFF1D6"/>
          </a:solidFill>
          <a:ln w="9525">
            <a:solidFill>
              <a:srgbClr val="8A94AB"/>
            </a:solidFill>
            <a:prstDash val="solid"/>
          </a:ln>
        </p:spPr>
      </p:sp>
      <p:sp>
        <p:nvSpPr>
          <p:cNvPr id="38" name="Text 35"/>
          <p:cNvSpPr txBox="1"/>
          <p:nvPr/>
        </p:nvSpPr>
        <p:spPr>
          <a:xfrm>
            <a:off x="292608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a:t>
            </a:r>
            <a:endParaRPr lang="en-US" sz="1600" dirty="0"/>
          </a:p>
        </p:txBody>
      </p:sp>
      <p:sp>
        <p:nvSpPr>
          <p:cNvPr id="39" name="Text 36"/>
          <p:cNvSpPr txBox="1"/>
          <p:nvPr/>
        </p:nvSpPr>
        <p:spPr>
          <a:xfrm>
            <a:off x="292608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40" name="Shape 37"/>
          <p:cNvSpPr/>
          <p:nvPr/>
        </p:nvSpPr>
        <p:spPr>
          <a:xfrm>
            <a:off x="3566160" y="2971800"/>
            <a:ext cx="640080" cy="502920"/>
          </a:xfrm>
          <a:prstGeom prst="rect">
            <a:avLst/>
          </a:prstGeom>
          <a:solidFill>
            <a:srgbClr val="FFF1D6"/>
          </a:solidFill>
          <a:ln w="9525">
            <a:solidFill>
              <a:srgbClr val="8A94AB"/>
            </a:solidFill>
            <a:prstDash val="solid"/>
          </a:ln>
        </p:spPr>
      </p:sp>
      <p:sp>
        <p:nvSpPr>
          <p:cNvPr id="41" name="Text 38"/>
          <p:cNvSpPr txBox="1"/>
          <p:nvPr/>
        </p:nvSpPr>
        <p:spPr>
          <a:xfrm>
            <a:off x="356616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10</a:t>
            </a:r>
            <a:endParaRPr lang="en-US" sz="1600" dirty="0"/>
          </a:p>
        </p:txBody>
      </p:sp>
      <p:sp>
        <p:nvSpPr>
          <p:cNvPr id="42" name="Text 39"/>
          <p:cNvSpPr txBox="1"/>
          <p:nvPr/>
        </p:nvSpPr>
        <p:spPr>
          <a:xfrm>
            <a:off x="356616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43" name="Shape 40"/>
          <p:cNvSpPr/>
          <p:nvPr/>
        </p:nvSpPr>
        <p:spPr>
          <a:xfrm>
            <a:off x="4206240" y="2971800"/>
            <a:ext cx="640080" cy="502920"/>
          </a:xfrm>
          <a:prstGeom prst="rect">
            <a:avLst/>
          </a:prstGeom>
          <a:solidFill>
            <a:srgbClr val="E3ECF8"/>
          </a:solidFill>
          <a:ln w="9525">
            <a:solidFill>
              <a:srgbClr val="8A94AB"/>
            </a:solidFill>
            <a:prstDash val="solid"/>
          </a:ln>
        </p:spPr>
      </p:sp>
      <p:sp>
        <p:nvSpPr>
          <p:cNvPr id="44" name="Text 41"/>
          <p:cNvSpPr txBox="1"/>
          <p:nvPr/>
        </p:nvSpPr>
        <p:spPr>
          <a:xfrm>
            <a:off x="420624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15</a:t>
            </a:r>
            <a:endParaRPr lang="en-US" sz="1600" dirty="0"/>
          </a:p>
        </p:txBody>
      </p:sp>
      <p:sp>
        <p:nvSpPr>
          <p:cNvPr id="45" name="Text 42"/>
          <p:cNvSpPr txBox="1"/>
          <p:nvPr/>
        </p:nvSpPr>
        <p:spPr>
          <a:xfrm>
            <a:off x="420624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46" name="Shape 43"/>
          <p:cNvSpPr/>
          <p:nvPr/>
        </p:nvSpPr>
        <p:spPr>
          <a:xfrm>
            <a:off x="4846320" y="2971800"/>
            <a:ext cx="640080" cy="502920"/>
          </a:xfrm>
          <a:prstGeom prst="rect">
            <a:avLst/>
          </a:prstGeom>
          <a:solidFill>
            <a:srgbClr val="E3ECF8"/>
          </a:solidFill>
          <a:ln w="9525">
            <a:solidFill>
              <a:srgbClr val="8A94AB"/>
            </a:solidFill>
            <a:prstDash val="solid"/>
          </a:ln>
        </p:spPr>
      </p:sp>
      <p:sp>
        <p:nvSpPr>
          <p:cNvPr id="47" name="Text 44"/>
          <p:cNvSpPr txBox="1"/>
          <p:nvPr/>
        </p:nvSpPr>
        <p:spPr>
          <a:xfrm>
            <a:off x="484632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21</a:t>
            </a:r>
            <a:endParaRPr lang="en-US" sz="1600" dirty="0"/>
          </a:p>
        </p:txBody>
      </p:sp>
      <p:sp>
        <p:nvSpPr>
          <p:cNvPr id="48" name="Text 45"/>
          <p:cNvSpPr txBox="1"/>
          <p:nvPr/>
        </p:nvSpPr>
        <p:spPr>
          <a:xfrm>
            <a:off x="484632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49" name="Shape 46"/>
          <p:cNvSpPr/>
          <p:nvPr/>
        </p:nvSpPr>
        <p:spPr>
          <a:xfrm>
            <a:off x="5486400" y="2971800"/>
            <a:ext cx="640080" cy="502920"/>
          </a:xfrm>
          <a:prstGeom prst="rect">
            <a:avLst/>
          </a:prstGeom>
          <a:solidFill>
            <a:srgbClr val="FFF1D6"/>
          </a:solidFill>
          <a:ln w="9525">
            <a:solidFill>
              <a:srgbClr val="8A94AB"/>
            </a:solidFill>
            <a:prstDash val="solid"/>
          </a:ln>
        </p:spPr>
      </p:sp>
      <p:sp>
        <p:nvSpPr>
          <p:cNvPr id="50" name="Text 47"/>
          <p:cNvSpPr txBox="1"/>
          <p:nvPr/>
        </p:nvSpPr>
        <p:spPr>
          <a:xfrm>
            <a:off x="548640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22</a:t>
            </a:r>
            <a:endParaRPr lang="en-US" sz="1600" dirty="0"/>
          </a:p>
        </p:txBody>
      </p:sp>
      <p:sp>
        <p:nvSpPr>
          <p:cNvPr id="51" name="Text 48"/>
          <p:cNvSpPr txBox="1"/>
          <p:nvPr/>
        </p:nvSpPr>
        <p:spPr>
          <a:xfrm>
            <a:off x="548640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7</a:t>
            </a:r>
            <a:endParaRPr lang="en-US" sz="1200" dirty="0"/>
          </a:p>
        </p:txBody>
      </p:sp>
      <p:sp>
        <p:nvSpPr>
          <p:cNvPr id="52" name="Shape 49"/>
          <p:cNvSpPr/>
          <p:nvPr/>
        </p:nvSpPr>
        <p:spPr>
          <a:xfrm>
            <a:off x="6126480" y="2971800"/>
            <a:ext cx="640080" cy="502920"/>
          </a:xfrm>
          <a:prstGeom prst="rect">
            <a:avLst/>
          </a:prstGeom>
          <a:solidFill>
            <a:srgbClr val="FFF1D6"/>
          </a:solidFill>
          <a:ln w="9525">
            <a:solidFill>
              <a:srgbClr val="8A94AB"/>
            </a:solidFill>
            <a:prstDash val="solid"/>
          </a:ln>
        </p:spPr>
      </p:sp>
      <p:sp>
        <p:nvSpPr>
          <p:cNvPr id="53" name="Text 50"/>
          <p:cNvSpPr txBox="1"/>
          <p:nvPr/>
        </p:nvSpPr>
        <p:spPr>
          <a:xfrm>
            <a:off x="6126480" y="2971800"/>
            <a:ext cx="64008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30</a:t>
            </a:r>
            <a:endParaRPr lang="en-US" sz="1600" dirty="0"/>
          </a:p>
        </p:txBody>
      </p:sp>
      <p:sp>
        <p:nvSpPr>
          <p:cNvPr id="54" name="Text 51"/>
          <p:cNvSpPr txBox="1"/>
          <p:nvPr/>
        </p:nvSpPr>
        <p:spPr>
          <a:xfrm>
            <a:off x="6126480" y="3502152"/>
            <a:ext cx="640080" cy="22860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8</a:t>
            </a:r>
            <a:endParaRPr lang="en-US" sz="1200" dirty="0"/>
          </a:p>
        </p:txBody>
      </p:sp>
      <p:sp>
        <p:nvSpPr>
          <p:cNvPr id="55" name="Shape 52"/>
          <p:cNvSpPr/>
          <p:nvPr/>
        </p:nvSpPr>
        <p:spPr>
          <a:xfrm>
            <a:off x="548640" y="3931920"/>
            <a:ext cx="6583680" cy="1188720"/>
          </a:xfrm>
          <a:prstGeom prst="roundRect">
            <a:avLst>
              <a:gd name="adj" fmla="val 7692"/>
            </a:avLst>
          </a:prstGeom>
          <a:solidFill>
            <a:srgbClr val="0B0F19"/>
          </a:solidFill>
          <a:ln w="12700">
            <a:solidFill>
              <a:srgbClr val="2A3654"/>
            </a:solidFill>
            <a:prstDash val="solid"/>
          </a:ln>
        </p:spPr>
      </p:sp>
      <p:sp>
        <p:nvSpPr>
          <p:cNvPr id="56" name="Shape 53"/>
          <p:cNvSpPr/>
          <p:nvPr/>
        </p:nvSpPr>
        <p:spPr>
          <a:xfrm>
            <a:off x="731520" y="4059936"/>
            <a:ext cx="118872" cy="118872"/>
          </a:xfrm>
          <a:prstGeom prst="ellipse">
            <a:avLst/>
          </a:prstGeom>
          <a:solidFill>
            <a:srgbClr val="FF5F57"/>
          </a:solidFill>
          <a:ln w="12700">
            <a:solidFill>
              <a:srgbClr val="FF5F57"/>
            </a:solidFill>
            <a:prstDash val="solid"/>
          </a:ln>
        </p:spPr>
      </p:sp>
      <p:sp>
        <p:nvSpPr>
          <p:cNvPr id="57" name="Shape 54"/>
          <p:cNvSpPr/>
          <p:nvPr/>
        </p:nvSpPr>
        <p:spPr>
          <a:xfrm>
            <a:off x="960120" y="4059936"/>
            <a:ext cx="118872" cy="118872"/>
          </a:xfrm>
          <a:prstGeom prst="ellipse">
            <a:avLst/>
          </a:prstGeom>
          <a:solidFill>
            <a:srgbClr val="FEBC2E"/>
          </a:solidFill>
          <a:ln w="12700">
            <a:solidFill>
              <a:srgbClr val="FEBC2E"/>
            </a:solidFill>
            <a:prstDash val="solid"/>
          </a:ln>
        </p:spPr>
      </p:sp>
      <p:sp>
        <p:nvSpPr>
          <p:cNvPr id="58" name="Shape 55"/>
          <p:cNvSpPr/>
          <p:nvPr/>
        </p:nvSpPr>
        <p:spPr>
          <a:xfrm>
            <a:off x="1188720" y="4059936"/>
            <a:ext cx="118872" cy="118872"/>
          </a:xfrm>
          <a:prstGeom prst="ellipse">
            <a:avLst/>
          </a:prstGeom>
          <a:solidFill>
            <a:srgbClr val="28C840"/>
          </a:solidFill>
          <a:ln w="12700">
            <a:solidFill>
              <a:srgbClr val="28C840"/>
            </a:solidFill>
            <a:prstDash val="solid"/>
          </a:ln>
        </p:spPr>
      </p:sp>
      <p:sp>
        <p:nvSpPr>
          <p:cNvPr id="59" name="Text 56"/>
          <p:cNvSpPr txBox="1"/>
          <p:nvPr/>
        </p:nvSpPr>
        <p:spPr>
          <a:xfrm>
            <a:off x="1463040" y="4005072"/>
            <a:ext cx="5486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60" name="Text 57"/>
          <p:cNvSpPr txBox="1"/>
          <p:nvPr/>
        </p:nvSpPr>
        <p:spPr>
          <a:xfrm>
            <a:off x="777240" y="4315968"/>
            <a:ext cx="6126480" cy="6858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 3 8 15 21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 1 9 10 22 30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merged: 1 3 8 9 10 15 21 22 30</a:t>
            </a:r>
            <a:endParaRPr lang="en-US" sz="1300" dirty="0"/>
          </a:p>
        </p:txBody>
      </p:sp>
      <p:sp>
        <p:nvSpPr>
          <p:cNvPr id="61" name="Shape 58"/>
          <p:cNvSpPr/>
          <p:nvPr/>
        </p:nvSpPr>
        <p:spPr>
          <a:xfrm>
            <a:off x="548640" y="5257800"/>
            <a:ext cx="6583680" cy="822960"/>
          </a:xfrm>
          <a:prstGeom prst="roundRect">
            <a:avLst>
              <a:gd name="adj" fmla="val 13333"/>
            </a:avLst>
          </a:prstGeom>
          <a:solidFill>
            <a:srgbClr val="FFF6E3"/>
          </a:solidFill>
          <a:ln w="12700">
            <a:solidFill>
              <a:srgbClr val="FFF6E3"/>
            </a:solidFill>
            <a:prstDash val="solid"/>
          </a:ln>
        </p:spPr>
      </p:sp>
      <p:pic>
        <p:nvPicPr>
          <p:cNvPr id="62" name="Image 0" descr="preencoded.png">    </p:cNvPr>
          <p:cNvPicPr>
            <a:picLocks noChangeAspect="1"/>
          </p:cNvPicPr>
          <p:nvPr/>
        </p:nvPicPr>
        <p:blipFill>
          <a:blip r:embed="rId1"/>
          <a:stretch>
            <a:fillRect/>
          </a:stretch>
        </p:blipFill>
        <p:spPr>
          <a:xfrm>
            <a:off x="822960" y="5394960"/>
            <a:ext cx="548640" cy="548640"/>
          </a:xfrm>
          <a:prstGeom prst="rect">
            <a:avLst/>
          </a:prstGeom>
        </p:spPr>
      </p:pic>
      <p:sp>
        <p:nvSpPr>
          <p:cNvPr id="63" name="Text 59"/>
          <p:cNvSpPr txBox="1"/>
          <p:nvPr/>
        </p:nvSpPr>
        <p:spPr>
          <a:xfrm>
            <a:off x="1645920" y="5330952"/>
            <a:ext cx="5212080" cy="6766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Colour = source array. </a:t>
            </a:r>
            <a:pPr indent="0" marL="0">
              <a:buNone/>
            </a:pPr>
            <a:r>
              <a:rPr lang="en-US" sz="1400" dirty="0">
                <a:solidFill>
                  <a:srgbClr val="333B4F"/>
                </a:solidFill>
                <a:latin typeface="Calibri" pitchFamily="34" charset="0"/>
                <a:ea typeface="Calibri" pitchFamily="34" charset="-122"/>
                <a:cs typeface="Calibri" pitchFamily="34" charset="-120"/>
              </a:rPr>
              <a:t>9 elements, at most 8 comparisons.</a:t>
            </a:r>
            <a:endParaRPr lang="en-US" sz="1400" dirty="0"/>
          </a:p>
        </p:txBody>
      </p:sp>
      <p:sp>
        <p:nvSpPr>
          <p:cNvPr id="64" name="Shape 60"/>
          <p:cNvSpPr/>
          <p:nvPr/>
        </p:nvSpPr>
        <p:spPr>
          <a:xfrm>
            <a:off x="7360920" y="1645920"/>
            <a:ext cx="4297680" cy="4434840"/>
          </a:xfrm>
          <a:prstGeom prst="roundRect">
            <a:avLst>
              <a:gd name="adj" fmla="val 2128"/>
            </a:avLst>
          </a:prstGeom>
          <a:solidFill>
            <a:srgbClr val="0F1729"/>
          </a:solidFill>
          <a:ln w="12700">
            <a:solidFill>
              <a:srgbClr val="0F1729"/>
            </a:solidFill>
            <a:prstDash val="solid"/>
          </a:ln>
        </p:spPr>
      </p:sp>
      <p:sp>
        <p:nvSpPr>
          <p:cNvPr id="65" name="Text 61"/>
          <p:cNvSpPr txBox="1"/>
          <p:nvPr/>
        </p:nvSpPr>
        <p:spPr>
          <a:xfrm>
            <a:off x="7589520" y="1755648"/>
            <a:ext cx="3840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main loop</a:t>
            </a:r>
            <a:endParaRPr lang="en-US" sz="1100" dirty="0"/>
          </a:p>
        </p:txBody>
      </p:sp>
      <p:sp>
        <p:nvSpPr>
          <p:cNvPr id="66" name="Text 62"/>
          <p:cNvSpPr txBox="1"/>
          <p:nvPr/>
        </p:nvSpPr>
        <p:spPr>
          <a:xfrm>
            <a:off x="7589520" y="2057400"/>
            <a:ext cx="3840480" cy="39136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a.Length &amp;&amp; j &lt; b.Length)</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(a[i] &lt;= b[j])</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c[k] = a[i];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c[k] = b[j];</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j++;</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Eight array-algorithm bugs and how to fix them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114800"/>
                <a:gridCol w="3474720"/>
                <a:gridCol w="3520440"/>
              </a:tblGrid>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Mistake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Symptom</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Fix</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max = 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wrong max for negative data</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max = a[0]; loop from 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j &lt; n  with  a[j + 1]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IndexOutOfRangeException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j &lt; n − pass (or n − 1)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swap without temp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one value lost (12 12)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temp, or tuple swap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binary search on unsorted data</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wrong "not found"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sort first (Array.Sort)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low = mid; / high = mid;</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infinite loop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mid + 1 and mid − 1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return value 0 for "not found"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0 is a valid index!</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use −1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reverse loop over all 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array unchanged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stop when left meets right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sort the original array by accident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original order lost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sort a copy: (int[])a.Clone()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what is printed?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548640" y="1645920"/>
            <a:ext cx="3429000" cy="4434840"/>
          </a:xfrm>
          <a:prstGeom prst="roundRect">
            <a:avLst>
              <a:gd name="adj" fmla="val 2667"/>
            </a:avLst>
          </a:prstGeom>
          <a:solidFill>
            <a:srgbClr val="0F1729"/>
          </a:solidFill>
          <a:ln w="12700">
            <a:solidFill>
              <a:srgbClr val="0F1729"/>
            </a:solidFill>
            <a:prstDash val="solid"/>
          </a:ln>
        </p:spPr>
      </p:sp>
      <p:sp>
        <p:nvSpPr>
          <p:cNvPr id="8" name="Text 5"/>
          <p:cNvSpPr txBox="1"/>
          <p:nvPr/>
        </p:nvSpPr>
        <p:spPr>
          <a:xfrm>
            <a:off x="777240" y="1755648"/>
            <a:ext cx="2971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Q1 · minimum</a:t>
            </a:r>
            <a:endParaRPr lang="en-US" sz="1100" dirty="0"/>
          </a:p>
        </p:txBody>
      </p:sp>
      <p:sp>
        <p:nvSpPr>
          <p:cNvPr id="9" name="Text 6"/>
          <p:cNvSpPr txBox="1"/>
          <p:nvPr/>
        </p:nvSpPr>
        <p:spPr>
          <a:xfrm>
            <a:off x="777240" y="2057400"/>
            <a:ext cx="2971800" cy="3913632"/>
          </a:xfrm>
          <a:prstGeom prst="rect">
            <a:avLst/>
          </a:prstGeom>
          <a:noFill/>
          <a:ln/>
        </p:spPr>
        <p:txBody>
          <a:bodyPr wrap="square" lIns="0" tIns="0" rIns="0" bIns="0" rtlCol="0" anchor="t"/>
          <a:lstStyle/>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 =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i &lt; a.Length; i++)</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(a[i] &lt; a[m])</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m = i;</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$"{m} {a[m]}"</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10" name="Shape 7"/>
          <p:cNvSpPr/>
          <p:nvPr/>
        </p:nvSpPr>
        <p:spPr>
          <a:xfrm>
            <a:off x="4069080" y="1645920"/>
            <a:ext cx="3611880" cy="4434840"/>
          </a:xfrm>
          <a:prstGeom prst="roundRect">
            <a:avLst>
              <a:gd name="adj" fmla="val 2532"/>
            </a:avLst>
          </a:prstGeom>
          <a:solidFill>
            <a:srgbClr val="0F1729"/>
          </a:solidFill>
          <a:ln w="12700">
            <a:solidFill>
              <a:srgbClr val="0F1729"/>
            </a:solidFill>
            <a:prstDash val="solid"/>
          </a:ln>
        </p:spPr>
      </p:sp>
      <p:sp>
        <p:nvSpPr>
          <p:cNvPr id="11" name="Text 8"/>
          <p:cNvSpPr txBox="1"/>
          <p:nvPr/>
        </p:nvSpPr>
        <p:spPr>
          <a:xfrm>
            <a:off x="429768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Q2 · binary search for 23</a:t>
            </a:r>
            <a:endParaRPr lang="en-US" sz="1100" dirty="0"/>
          </a:p>
        </p:txBody>
      </p:sp>
      <p:sp>
        <p:nvSpPr>
          <p:cNvPr id="12" name="Text 9"/>
          <p:cNvSpPr txBox="1"/>
          <p:nvPr/>
        </p:nvSpPr>
        <p:spPr>
          <a:xfrm>
            <a:off x="4297680" y="2057400"/>
            <a:ext cx="3154680" cy="3913632"/>
          </a:xfrm>
          <a:prstGeom prst="rect">
            <a:avLst/>
          </a:prstGeom>
          <a:noFill/>
          <a:ln/>
        </p:spPr>
        <p:txBody>
          <a:bodyPr wrap="square" lIns="0" tIns="0" rIns="0" bIns="0" rtlCol="0" anchor="t"/>
          <a:lstStyle/>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b =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12</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16</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23</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38</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56</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72</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91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low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high = b.Length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(low &lt;= high)</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mid = (low + high)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$"{mid}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(b[mid]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23</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(b[mid] &lt;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23</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low = mid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high = mid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13" name="Shape 10"/>
          <p:cNvSpPr/>
          <p:nvPr/>
        </p:nvSpPr>
        <p:spPr>
          <a:xfrm>
            <a:off x="7772400" y="1645920"/>
            <a:ext cx="3886200" cy="4434840"/>
          </a:xfrm>
          <a:prstGeom prst="roundRect">
            <a:avLst>
              <a:gd name="adj" fmla="val 2353"/>
            </a:avLst>
          </a:prstGeom>
          <a:solidFill>
            <a:srgbClr val="0F1729"/>
          </a:solidFill>
          <a:ln w="12700">
            <a:solidFill>
              <a:srgbClr val="0F1729"/>
            </a:solidFill>
            <a:prstDash val="solid"/>
          </a:ln>
        </p:spPr>
      </p:sp>
      <p:sp>
        <p:nvSpPr>
          <p:cNvPr id="14" name="Text 11"/>
          <p:cNvSpPr txBox="1"/>
          <p:nvPr/>
        </p:nvSpPr>
        <p:spPr>
          <a:xfrm>
            <a:off x="8001000" y="1755648"/>
            <a:ext cx="34290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Q3 · one bubble pass</a:t>
            </a:r>
            <a:endParaRPr lang="en-US" sz="1100" dirty="0"/>
          </a:p>
        </p:txBody>
      </p:sp>
      <p:sp>
        <p:nvSpPr>
          <p:cNvPr id="15" name="Text 12"/>
          <p:cNvSpPr txBox="1"/>
          <p:nvPr/>
        </p:nvSpPr>
        <p:spPr>
          <a:xfrm>
            <a:off x="8001000" y="2057400"/>
            <a:ext cx="3429000" cy="3913632"/>
          </a:xfrm>
          <a:prstGeom prst="rect">
            <a:avLst/>
          </a:prstGeom>
          <a:noFill/>
          <a:ln/>
        </p:spPr>
        <p:txBody>
          <a:bodyPr wrap="square" lIns="0" tIns="0" rIns="0" bIns="0" rtlCol="0" anchor="t"/>
          <a:lstStyle/>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c =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swaps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j &lt; c.Length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j++)</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(c[j] &gt; c[j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t = c[j];</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c[j] = c[j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c[j + </a:t>
            </a:r>
            <a:pPr indent="0" marL="0">
              <a:spcAft>
                <a:spcPts val="100"/>
              </a:spcAft>
              <a:buNone/>
            </a:pPr>
            <a:r>
              <a:rPr lang="en-US" sz="11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 t;</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swaps++;</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line = </a:t>
            </a:r>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 c);</a:t>
            </a:r>
            <a:endParaRPr lang="en-US" sz="1100" dirty="0"/>
          </a:p>
          <a:p>
            <a:pPr indent="0" marL="0">
              <a:spcAft>
                <a:spcPts val="100"/>
              </a:spcAft>
              <a:buNone/>
            </a:pPr>
            <a:r>
              <a:rPr lang="en-US" sz="11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100" dirty="0">
                <a:solidFill>
                  <a:srgbClr val="CE9178"/>
                </a:solidFill>
                <a:latin typeface="Courier New" pitchFamily="34" charset="0"/>
                <a:ea typeface="Courier New" pitchFamily="34" charset="-122"/>
                <a:cs typeface="Courier New" pitchFamily="34" charset="-120"/>
              </a:rPr>
              <a:t>$"{line} | {swaps}"</a:t>
            </a:r>
            <a:pPr indent="0" marL="0">
              <a:spcAft>
                <a:spcPts val="100"/>
              </a:spcAft>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(checked by running the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45920"/>
            <a:ext cx="3291840" cy="914400"/>
          </a:xfrm>
          <a:prstGeom prst="roundRect">
            <a:avLst>
              <a:gd name="adj" fmla="val 10000"/>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Q1</a:t>
            </a:r>
            <a:endParaRPr lang="en-US" sz="1000" dirty="0"/>
          </a:p>
        </p:txBody>
      </p:sp>
      <p:sp>
        <p:nvSpPr>
          <p:cNvPr id="12" name="Text 9"/>
          <p:cNvSpPr txBox="1"/>
          <p:nvPr/>
        </p:nvSpPr>
        <p:spPr>
          <a:xfrm>
            <a:off x="777240" y="2029968"/>
            <a:ext cx="2834640" cy="4114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3 1</a:t>
            </a:r>
            <a:endParaRPr lang="en-US" sz="1500" dirty="0"/>
          </a:p>
        </p:txBody>
      </p:sp>
      <p:sp>
        <p:nvSpPr>
          <p:cNvPr id="13" name="Shape 10"/>
          <p:cNvSpPr/>
          <p:nvPr/>
        </p:nvSpPr>
        <p:spPr>
          <a:xfrm>
            <a:off x="3931920" y="1645920"/>
            <a:ext cx="3794760" cy="914400"/>
          </a:xfrm>
          <a:prstGeom prst="roundRect">
            <a:avLst>
              <a:gd name="adj" fmla="val 10000"/>
            </a:avLst>
          </a:prstGeom>
          <a:solidFill>
            <a:srgbClr val="0B0F19"/>
          </a:solidFill>
          <a:ln w="12700">
            <a:solidFill>
              <a:srgbClr val="2A3654"/>
            </a:solidFill>
            <a:prstDash val="solid"/>
          </a:ln>
        </p:spPr>
      </p:sp>
      <p:sp>
        <p:nvSpPr>
          <p:cNvPr id="14" name="Shape 11"/>
          <p:cNvSpPr/>
          <p:nvPr/>
        </p:nvSpPr>
        <p:spPr>
          <a:xfrm>
            <a:off x="411480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434340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457200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4846320" y="1719072"/>
            <a:ext cx="26974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Q2</a:t>
            </a:r>
            <a:endParaRPr lang="en-US" sz="1000" dirty="0"/>
          </a:p>
        </p:txBody>
      </p:sp>
      <p:sp>
        <p:nvSpPr>
          <p:cNvPr id="18" name="Text 15"/>
          <p:cNvSpPr txBox="1"/>
          <p:nvPr/>
        </p:nvSpPr>
        <p:spPr>
          <a:xfrm>
            <a:off x="4160520" y="2029968"/>
            <a:ext cx="3337560" cy="4114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4 7 5 </a:t>
            </a:r>
            <a:endParaRPr lang="en-US" sz="1500" dirty="0"/>
          </a:p>
        </p:txBody>
      </p:sp>
      <p:sp>
        <p:nvSpPr>
          <p:cNvPr id="19" name="Shape 16"/>
          <p:cNvSpPr/>
          <p:nvPr/>
        </p:nvSpPr>
        <p:spPr>
          <a:xfrm>
            <a:off x="7818120" y="1645920"/>
            <a:ext cx="3840480" cy="914400"/>
          </a:xfrm>
          <a:prstGeom prst="roundRect">
            <a:avLst>
              <a:gd name="adj" fmla="val 10000"/>
            </a:avLst>
          </a:prstGeom>
          <a:solidFill>
            <a:srgbClr val="0B0F19"/>
          </a:solidFill>
          <a:ln w="12700">
            <a:solidFill>
              <a:srgbClr val="2A3654"/>
            </a:solidFill>
            <a:prstDash val="solid"/>
          </a:ln>
        </p:spPr>
      </p:sp>
      <p:sp>
        <p:nvSpPr>
          <p:cNvPr id="20" name="Shape 17"/>
          <p:cNvSpPr/>
          <p:nvPr/>
        </p:nvSpPr>
        <p:spPr>
          <a:xfrm>
            <a:off x="8001000" y="1773936"/>
            <a:ext cx="118872" cy="118872"/>
          </a:xfrm>
          <a:prstGeom prst="ellipse">
            <a:avLst/>
          </a:prstGeom>
          <a:solidFill>
            <a:srgbClr val="FF5F57"/>
          </a:solidFill>
          <a:ln w="12700">
            <a:solidFill>
              <a:srgbClr val="FF5F57"/>
            </a:solidFill>
            <a:prstDash val="solid"/>
          </a:ln>
        </p:spPr>
      </p:sp>
      <p:sp>
        <p:nvSpPr>
          <p:cNvPr id="21" name="Shape 18"/>
          <p:cNvSpPr/>
          <p:nvPr/>
        </p:nvSpPr>
        <p:spPr>
          <a:xfrm>
            <a:off x="8229600" y="1773936"/>
            <a:ext cx="118872" cy="118872"/>
          </a:xfrm>
          <a:prstGeom prst="ellipse">
            <a:avLst/>
          </a:prstGeom>
          <a:solidFill>
            <a:srgbClr val="FEBC2E"/>
          </a:solidFill>
          <a:ln w="12700">
            <a:solidFill>
              <a:srgbClr val="FEBC2E"/>
            </a:solidFill>
            <a:prstDash val="solid"/>
          </a:ln>
        </p:spPr>
      </p:sp>
      <p:sp>
        <p:nvSpPr>
          <p:cNvPr id="22" name="Shape 19"/>
          <p:cNvSpPr/>
          <p:nvPr/>
        </p:nvSpPr>
        <p:spPr>
          <a:xfrm>
            <a:off x="8458200" y="17739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8732520" y="1719072"/>
            <a:ext cx="2743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Q3</a:t>
            </a:r>
            <a:endParaRPr lang="en-US" sz="1000" dirty="0"/>
          </a:p>
        </p:txBody>
      </p:sp>
      <p:sp>
        <p:nvSpPr>
          <p:cNvPr id="24" name="Text 21"/>
          <p:cNvSpPr txBox="1"/>
          <p:nvPr/>
        </p:nvSpPr>
        <p:spPr>
          <a:xfrm>
            <a:off x="8046720" y="2029968"/>
            <a:ext cx="3383280" cy="4114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2 4 1 3 5 | 3</a:t>
            </a:r>
            <a:endParaRPr lang="en-US" sz="15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3291840" cy="914400"/>
        </p:xfrm>
        <a:graphic>
          <a:graphicData uri="http://schemas.openxmlformats.org/drawingml/2006/table">
            <a:tbl>
              <a:tblPr/>
              <a:tblGrid>
                <a:gridCol w="1005840"/>
                <a:gridCol w="1097280"/>
                <a:gridCol w="118872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3931920" y="2743200"/>
          <a:ext cx="3794760" cy="914400"/>
        </p:xfrm>
        <a:graphic>
          <a:graphicData uri="http://schemas.openxmlformats.org/drawingml/2006/table">
            <a:tbl>
              <a:tblPr/>
              <a:tblGrid>
                <a:gridCol w="868680"/>
                <a:gridCol w="868680"/>
                <a:gridCol w="868680"/>
                <a:gridCol w="118872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b[mid]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23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27" name="Text 22"/>
          <p:cNvSpPr txBox="1"/>
          <p:nvPr/>
        </p:nvSpPr>
        <p:spPr>
          <a:xfrm>
            <a:off x="7818120" y="2743200"/>
            <a:ext cx="731520" cy="384048"/>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start</a:t>
            </a:r>
            <a:endParaRPr lang="en-US" sz="1300" dirty="0"/>
          </a:p>
        </p:txBody>
      </p:sp>
      <p:sp>
        <p:nvSpPr>
          <p:cNvPr id="28" name="Shape 23"/>
          <p:cNvSpPr/>
          <p:nvPr/>
        </p:nvSpPr>
        <p:spPr>
          <a:xfrm>
            <a:off x="8595360" y="2743200"/>
            <a:ext cx="566928" cy="384048"/>
          </a:xfrm>
          <a:prstGeom prst="rect">
            <a:avLst/>
          </a:prstGeom>
          <a:solidFill>
            <a:srgbClr val="FFFFFF"/>
          </a:solidFill>
          <a:ln w="9525">
            <a:solidFill>
              <a:srgbClr val="8A94AB"/>
            </a:solidFill>
            <a:prstDash val="solid"/>
          </a:ln>
        </p:spPr>
      </p:sp>
      <p:sp>
        <p:nvSpPr>
          <p:cNvPr id="29" name="Text 24"/>
          <p:cNvSpPr txBox="1"/>
          <p:nvPr/>
        </p:nvSpPr>
        <p:spPr>
          <a:xfrm>
            <a:off x="8595360" y="27432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30" name="Shape 25"/>
          <p:cNvSpPr/>
          <p:nvPr/>
        </p:nvSpPr>
        <p:spPr>
          <a:xfrm>
            <a:off x="9162288" y="2743200"/>
            <a:ext cx="566928" cy="384048"/>
          </a:xfrm>
          <a:prstGeom prst="rect">
            <a:avLst/>
          </a:prstGeom>
          <a:solidFill>
            <a:srgbClr val="FFFFFF"/>
          </a:solidFill>
          <a:ln w="9525">
            <a:solidFill>
              <a:srgbClr val="8A94AB"/>
            </a:solidFill>
            <a:prstDash val="solid"/>
          </a:ln>
        </p:spPr>
      </p:sp>
      <p:sp>
        <p:nvSpPr>
          <p:cNvPr id="31" name="Text 26"/>
          <p:cNvSpPr txBox="1"/>
          <p:nvPr/>
        </p:nvSpPr>
        <p:spPr>
          <a:xfrm>
            <a:off x="9162288" y="27432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32" name="Shape 27"/>
          <p:cNvSpPr/>
          <p:nvPr/>
        </p:nvSpPr>
        <p:spPr>
          <a:xfrm>
            <a:off x="9729216" y="2743200"/>
            <a:ext cx="566928" cy="384048"/>
          </a:xfrm>
          <a:prstGeom prst="rect">
            <a:avLst/>
          </a:prstGeom>
          <a:solidFill>
            <a:srgbClr val="FFFFFF"/>
          </a:solidFill>
          <a:ln w="9525">
            <a:solidFill>
              <a:srgbClr val="8A94AB"/>
            </a:solidFill>
            <a:prstDash val="solid"/>
          </a:ln>
        </p:spPr>
      </p:sp>
      <p:sp>
        <p:nvSpPr>
          <p:cNvPr id="33" name="Text 28"/>
          <p:cNvSpPr txBox="1"/>
          <p:nvPr/>
        </p:nvSpPr>
        <p:spPr>
          <a:xfrm>
            <a:off x="9729216" y="27432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34" name="Shape 29"/>
          <p:cNvSpPr/>
          <p:nvPr/>
        </p:nvSpPr>
        <p:spPr>
          <a:xfrm>
            <a:off x="10296144" y="2743200"/>
            <a:ext cx="566928" cy="384048"/>
          </a:xfrm>
          <a:prstGeom prst="rect">
            <a:avLst/>
          </a:prstGeom>
          <a:solidFill>
            <a:srgbClr val="FFFFFF"/>
          </a:solidFill>
          <a:ln w="9525">
            <a:solidFill>
              <a:srgbClr val="8A94AB"/>
            </a:solidFill>
            <a:prstDash val="solid"/>
          </a:ln>
        </p:spPr>
      </p:sp>
      <p:sp>
        <p:nvSpPr>
          <p:cNvPr id="35" name="Text 30"/>
          <p:cNvSpPr txBox="1"/>
          <p:nvPr/>
        </p:nvSpPr>
        <p:spPr>
          <a:xfrm>
            <a:off x="10296144" y="27432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36" name="Shape 31"/>
          <p:cNvSpPr/>
          <p:nvPr/>
        </p:nvSpPr>
        <p:spPr>
          <a:xfrm>
            <a:off x="10863072" y="2743200"/>
            <a:ext cx="566928" cy="384048"/>
          </a:xfrm>
          <a:prstGeom prst="rect">
            <a:avLst/>
          </a:prstGeom>
          <a:solidFill>
            <a:srgbClr val="FFFFFF"/>
          </a:solidFill>
          <a:ln w="9525">
            <a:solidFill>
              <a:srgbClr val="8A94AB"/>
            </a:solidFill>
            <a:prstDash val="solid"/>
          </a:ln>
        </p:spPr>
      </p:sp>
      <p:sp>
        <p:nvSpPr>
          <p:cNvPr id="37" name="Text 32"/>
          <p:cNvSpPr txBox="1"/>
          <p:nvPr/>
        </p:nvSpPr>
        <p:spPr>
          <a:xfrm>
            <a:off x="10863072" y="27432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38" name="Text 33"/>
          <p:cNvSpPr txBox="1"/>
          <p:nvPr/>
        </p:nvSpPr>
        <p:spPr>
          <a:xfrm>
            <a:off x="7818120" y="3200400"/>
            <a:ext cx="731520" cy="384048"/>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j=0</a:t>
            </a:r>
            <a:endParaRPr lang="en-US" sz="1300" dirty="0"/>
          </a:p>
        </p:txBody>
      </p:sp>
      <p:sp>
        <p:nvSpPr>
          <p:cNvPr id="39" name="Shape 34"/>
          <p:cNvSpPr/>
          <p:nvPr/>
        </p:nvSpPr>
        <p:spPr>
          <a:xfrm>
            <a:off x="8595360" y="3200400"/>
            <a:ext cx="566928" cy="384048"/>
          </a:xfrm>
          <a:prstGeom prst="rect">
            <a:avLst/>
          </a:prstGeom>
          <a:solidFill>
            <a:srgbClr val="FFF1D6"/>
          </a:solidFill>
          <a:ln w="9525">
            <a:solidFill>
              <a:srgbClr val="8A94AB"/>
            </a:solidFill>
            <a:prstDash val="solid"/>
          </a:ln>
        </p:spPr>
      </p:sp>
      <p:sp>
        <p:nvSpPr>
          <p:cNvPr id="40" name="Text 35"/>
          <p:cNvSpPr txBox="1"/>
          <p:nvPr/>
        </p:nvSpPr>
        <p:spPr>
          <a:xfrm>
            <a:off x="8595360" y="32004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41" name="Shape 36"/>
          <p:cNvSpPr/>
          <p:nvPr/>
        </p:nvSpPr>
        <p:spPr>
          <a:xfrm>
            <a:off x="9162288" y="3200400"/>
            <a:ext cx="566928" cy="384048"/>
          </a:xfrm>
          <a:prstGeom prst="rect">
            <a:avLst/>
          </a:prstGeom>
          <a:solidFill>
            <a:srgbClr val="FFF1D6"/>
          </a:solidFill>
          <a:ln w="9525">
            <a:solidFill>
              <a:srgbClr val="8A94AB"/>
            </a:solidFill>
            <a:prstDash val="solid"/>
          </a:ln>
        </p:spPr>
      </p:sp>
      <p:sp>
        <p:nvSpPr>
          <p:cNvPr id="42" name="Text 37"/>
          <p:cNvSpPr txBox="1"/>
          <p:nvPr/>
        </p:nvSpPr>
        <p:spPr>
          <a:xfrm>
            <a:off x="9162288" y="32004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43" name="Shape 38"/>
          <p:cNvSpPr/>
          <p:nvPr/>
        </p:nvSpPr>
        <p:spPr>
          <a:xfrm>
            <a:off x="9729216" y="3200400"/>
            <a:ext cx="566928" cy="384048"/>
          </a:xfrm>
          <a:prstGeom prst="rect">
            <a:avLst/>
          </a:prstGeom>
          <a:solidFill>
            <a:srgbClr val="FFFFFF"/>
          </a:solidFill>
          <a:ln w="9525">
            <a:solidFill>
              <a:srgbClr val="8A94AB"/>
            </a:solidFill>
            <a:prstDash val="solid"/>
          </a:ln>
        </p:spPr>
      </p:sp>
      <p:sp>
        <p:nvSpPr>
          <p:cNvPr id="44" name="Text 39"/>
          <p:cNvSpPr txBox="1"/>
          <p:nvPr/>
        </p:nvSpPr>
        <p:spPr>
          <a:xfrm>
            <a:off x="9729216" y="32004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45" name="Shape 40"/>
          <p:cNvSpPr/>
          <p:nvPr/>
        </p:nvSpPr>
        <p:spPr>
          <a:xfrm>
            <a:off x="10296144" y="3200400"/>
            <a:ext cx="566928" cy="384048"/>
          </a:xfrm>
          <a:prstGeom prst="rect">
            <a:avLst/>
          </a:prstGeom>
          <a:solidFill>
            <a:srgbClr val="FFFFFF"/>
          </a:solidFill>
          <a:ln w="9525">
            <a:solidFill>
              <a:srgbClr val="8A94AB"/>
            </a:solidFill>
            <a:prstDash val="solid"/>
          </a:ln>
        </p:spPr>
      </p:sp>
      <p:sp>
        <p:nvSpPr>
          <p:cNvPr id="46" name="Text 41"/>
          <p:cNvSpPr txBox="1"/>
          <p:nvPr/>
        </p:nvSpPr>
        <p:spPr>
          <a:xfrm>
            <a:off x="10296144" y="32004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47" name="Shape 42"/>
          <p:cNvSpPr/>
          <p:nvPr/>
        </p:nvSpPr>
        <p:spPr>
          <a:xfrm>
            <a:off x="10863072" y="3200400"/>
            <a:ext cx="566928" cy="384048"/>
          </a:xfrm>
          <a:prstGeom prst="rect">
            <a:avLst/>
          </a:prstGeom>
          <a:solidFill>
            <a:srgbClr val="FFFFFF"/>
          </a:solidFill>
          <a:ln w="9525">
            <a:solidFill>
              <a:srgbClr val="8A94AB"/>
            </a:solidFill>
            <a:prstDash val="solid"/>
          </a:ln>
        </p:spPr>
      </p:sp>
      <p:sp>
        <p:nvSpPr>
          <p:cNvPr id="48" name="Text 43"/>
          <p:cNvSpPr txBox="1"/>
          <p:nvPr/>
        </p:nvSpPr>
        <p:spPr>
          <a:xfrm>
            <a:off x="10863072" y="32004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49" name="Text 44"/>
          <p:cNvSpPr txBox="1"/>
          <p:nvPr/>
        </p:nvSpPr>
        <p:spPr>
          <a:xfrm>
            <a:off x="7818120" y="3657600"/>
            <a:ext cx="731520" cy="384048"/>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j=1</a:t>
            </a:r>
            <a:endParaRPr lang="en-US" sz="1300" dirty="0"/>
          </a:p>
        </p:txBody>
      </p:sp>
      <p:sp>
        <p:nvSpPr>
          <p:cNvPr id="50" name="Shape 45"/>
          <p:cNvSpPr/>
          <p:nvPr/>
        </p:nvSpPr>
        <p:spPr>
          <a:xfrm>
            <a:off x="8595360" y="3657600"/>
            <a:ext cx="566928" cy="384048"/>
          </a:xfrm>
          <a:prstGeom prst="rect">
            <a:avLst/>
          </a:prstGeom>
          <a:solidFill>
            <a:srgbClr val="FFFFFF"/>
          </a:solidFill>
          <a:ln w="9525">
            <a:solidFill>
              <a:srgbClr val="8A94AB"/>
            </a:solidFill>
            <a:prstDash val="solid"/>
          </a:ln>
        </p:spPr>
      </p:sp>
      <p:sp>
        <p:nvSpPr>
          <p:cNvPr id="51" name="Text 46"/>
          <p:cNvSpPr txBox="1"/>
          <p:nvPr/>
        </p:nvSpPr>
        <p:spPr>
          <a:xfrm>
            <a:off x="8595360" y="36576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52" name="Shape 47"/>
          <p:cNvSpPr/>
          <p:nvPr/>
        </p:nvSpPr>
        <p:spPr>
          <a:xfrm>
            <a:off x="9162288" y="3657600"/>
            <a:ext cx="566928" cy="384048"/>
          </a:xfrm>
          <a:prstGeom prst="rect">
            <a:avLst/>
          </a:prstGeom>
          <a:solidFill>
            <a:srgbClr val="FFF1D6"/>
          </a:solidFill>
          <a:ln w="9525">
            <a:solidFill>
              <a:srgbClr val="8A94AB"/>
            </a:solidFill>
            <a:prstDash val="solid"/>
          </a:ln>
        </p:spPr>
      </p:sp>
      <p:sp>
        <p:nvSpPr>
          <p:cNvPr id="53" name="Text 48"/>
          <p:cNvSpPr txBox="1"/>
          <p:nvPr/>
        </p:nvSpPr>
        <p:spPr>
          <a:xfrm>
            <a:off x="9162288" y="36576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54" name="Shape 49"/>
          <p:cNvSpPr/>
          <p:nvPr/>
        </p:nvSpPr>
        <p:spPr>
          <a:xfrm>
            <a:off x="9729216" y="3657600"/>
            <a:ext cx="566928" cy="384048"/>
          </a:xfrm>
          <a:prstGeom prst="rect">
            <a:avLst/>
          </a:prstGeom>
          <a:solidFill>
            <a:srgbClr val="FFF1D6"/>
          </a:solidFill>
          <a:ln w="9525">
            <a:solidFill>
              <a:srgbClr val="8A94AB"/>
            </a:solidFill>
            <a:prstDash val="solid"/>
          </a:ln>
        </p:spPr>
      </p:sp>
      <p:sp>
        <p:nvSpPr>
          <p:cNvPr id="55" name="Text 50"/>
          <p:cNvSpPr txBox="1"/>
          <p:nvPr/>
        </p:nvSpPr>
        <p:spPr>
          <a:xfrm>
            <a:off x="9729216" y="36576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56" name="Shape 51"/>
          <p:cNvSpPr/>
          <p:nvPr/>
        </p:nvSpPr>
        <p:spPr>
          <a:xfrm>
            <a:off x="10296144" y="3657600"/>
            <a:ext cx="566928" cy="384048"/>
          </a:xfrm>
          <a:prstGeom prst="rect">
            <a:avLst/>
          </a:prstGeom>
          <a:solidFill>
            <a:srgbClr val="FFFFFF"/>
          </a:solidFill>
          <a:ln w="9525">
            <a:solidFill>
              <a:srgbClr val="8A94AB"/>
            </a:solidFill>
            <a:prstDash val="solid"/>
          </a:ln>
        </p:spPr>
      </p:sp>
      <p:sp>
        <p:nvSpPr>
          <p:cNvPr id="57" name="Text 52"/>
          <p:cNvSpPr txBox="1"/>
          <p:nvPr/>
        </p:nvSpPr>
        <p:spPr>
          <a:xfrm>
            <a:off x="10296144" y="36576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58" name="Shape 53"/>
          <p:cNvSpPr/>
          <p:nvPr/>
        </p:nvSpPr>
        <p:spPr>
          <a:xfrm>
            <a:off x="10863072" y="3657600"/>
            <a:ext cx="566928" cy="384048"/>
          </a:xfrm>
          <a:prstGeom prst="rect">
            <a:avLst/>
          </a:prstGeom>
          <a:solidFill>
            <a:srgbClr val="FFFFFF"/>
          </a:solidFill>
          <a:ln w="9525">
            <a:solidFill>
              <a:srgbClr val="8A94AB"/>
            </a:solidFill>
            <a:prstDash val="solid"/>
          </a:ln>
        </p:spPr>
      </p:sp>
      <p:sp>
        <p:nvSpPr>
          <p:cNvPr id="59" name="Text 54"/>
          <p:cNvSpPr txBox="1"/>
          <p:nvPr/>
        </p:nvSpPr>
        <p:spPr>
          <a:xfrm>
            <a:off x="10863072" y="36576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60" name="Text 55"/>
          <p:cNvSpPr txBox="1"/>
          <p:nvPr/>
        </p:nvSpPr>
        <p:spPr>
          <a:xfrm>
            <a:off x="7818120" y="4114800"/>
            <a:ext cx="731520" cy="384048"/>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j=2</a:t>
            </a:r>
            <a:endParaRPr lang="en-US" sz="1300" dirty="0"/>
          </a:p>
        </p:txBody>
      </p:sp>
      <p:sp>
        <p:nvSpPr>
          <p:cNvPr id="61" name="Shape 56"/>
          <p:cNvSpPr/>
          <p:nvPr/>
        </p:nvSpPr>
        <p:spPr>
          <a:xfrm>
            <a:off x="8595360" y="4114800"/>
            <a:ext cx="566928" cy="384048"/>
          </a:xfrm>
          <a:prstGeom prst="rect">
            <a:avLst/>
          </a:prstGeom>
          <a:solidFill>
            <a:srgbClr val="FFFFFF"/>
          </a:solidFill>
          <a:ln w="9525">
            <a:solidFill>
              <a:srgbClr val="8A94AB"/>
            </a:solidFill>
            <a:prstDash val="solid"/>
          </a:ln>
        </p:spPr>
      </p:sp>
      <p:sp>
        <p:nvSpPr>
          <p:cNvPr id="62" name="Text 57"/>
          <p:cNvSpPr txBox="1"/>
          <p:nvPr/>
        </p:nvSpPr>
        <p:spPr>
          <a:xfrm>
            <a:off x="8595360" y="41148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63" name="Shape 58"/>
          <p:cNvSpPr/>
          <p:nvPr/>
        </p:nvSpPr>
        <p:spPr>
          <a:xfrm>
            <a:off x="9162288" y="4114800"/>
            <a:ext cx="566928" cy="384048"/>
          </a:xfrm>
          <a:prstGeom prst="rect">
            <a:avLst/>
          </a:prstGeom>
          <a:solidFill>
            <a:srgbClr val="FFFFFF"/>
          </a:solidFill>
          <a:ln w="9525">
            <a:solidFill>
              <a:srgbClr val="8A94AB"/>
            </a:solidFill>
            <a:prstDash val="solid"/>
          </a:ln>
        </p:spPr>
      </p:sp>
      <p:sp>
        <p:nvSpPr>
          <p:cNvPr id="64" name="Text 59"/>
          <p:cNvSpPr txBox="1"/>
          <p:nvPr/>
        </p:nvSpPr>
        <p:spPr>
          <a:xfrm>
            <a:off x="9162288" y="41148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65" name="Shape 60"/>
          <p:cNvSpPr/>
          <p:nvPr/>
        </p:nvSpPr>
        <p:spPr>
          <a:xfrm>
            <a:off x="9729216" y="4114800"/>
            <a:ext cx="566928" cy="384048"/>
          </a:xfrm>
          <a:prstGeom prst="rect">
            <a:avLst/>
          </a:prstGeom>
          <a:solidFill>
            <a:srgbClr val="FFF1D6"/>
          </a:solidFill>
          <a:ln w="9525">
            <a:solidFill>
              <a:srgbClr val="8A94AB"/>
            </a:solidFill>
            <a:prstDash val="solid"/>
          </a:ln>
        </p:spPr>
      </p:sp>
      <p:sp>
        <p:nvSpPr>
          <p:cNvPr id="66" name="Text 61"/>
          <p:cNvSpPr txBox="1"/>
          <p:nvPr/>
        </p:nvSpPr>
        <p:spPr>
          <a:xfrm>
            <a:off x="9729216" y="41148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67" name="Shape 62"/>
          <p:cNvSpPr/>
          <p:nvPr/>
        </p:nvSpPr>
        <p:spPr>
          <a:xfrm>
            <a:off x="10296144" y="4114800"/>
            <a:ext cx="566928" cy="384048"/>
          </a:xfrm>
          <a:prstGeom prst="rect">
            <a:avLst/>
          </a:prstGeom>
          <a:solidFill>
            <a:srgbClr val="FFF1D6"/>
          </a:solidFill>
          <a:ln w="9525">
            <a:solidFill>
              <a:srgbClr val="8A94AB"/>
            </a:solidFill>
            <a:prstDash val="solid"/>
          </a:ln>
        </p:spPr>
      </p:sp>
      <p:sp>
        <p:nvSpPr>
          <p:cNvPr id="68" name="Text 63"/>
          <p:cNvSpPr txBox="1"/>
          <p:nvPr/>
        </p:nvSpPr>
        <p:spPr>
          <a:xfrm>
            <a:off x="10296144" y="41148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69" name="Shape 64"/>
          <p:cNvSpPr/>
          <p:nvPr/>
        </p:nvSpPr>
        <p:spPr>
          <a:xfrm>
            <a:off x="10863072" y="4114800"/>
            <a:ext cx="566928" cy="384048"/>
          </a:xfrm>
          <a:prstGeom prst="rect">
            <a:avLst/>
          </a:prstGeom>
          <a:solidFill>
            <a:srgbClr val="FFFFFF"/>
          </a:solidFill>
          <a:ln w="9525">
            <a:solidFill>
              <a:srgbClr val="8A94AB"/>
            </a:solidFill>
            <a:prstDash val="solid"/>
          </a:ln>
        </p:spPr>
      </p:sp>
      <p:sp>
        <p:nvSpPr>
          <p:cNvPr id="70" name="Text 65"/>
          <p:cNvSpPr txBox="1"/>
          <p:nvPr/>
        </p:nvSpPr>
        <p:spPr>
          <a:xfrm>
            <a:off x="10863072" y="41148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71" name="Text 66"/>
          <p:cNvSpPr txBox="1"/>
          <p:nvPr/>
        </p:nvSpPr>
        <p:spPr>
          <a:xfrm>
            <a:off x="7818120" y="4572000"/>
            <a:ext cx="731520" cy="384048"/>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j=3</a:t>
            </a:r>
            <a:endParaRPr lang="en-US" sz="1300" dirty="0"/>
          </a:p>
        </p:txBody>
      </p:sp>
      <p:sp>
        <p:nvSpPr>
          <p:cNvPr id="72" name="Shape 67"/>
          <p:cNvSpPr/>
          <p:nvPr/>
        </p:nvSpPr>
        <p:spPr>
          <a:xfrm>
            <a:off x="8595360" y="4572000"/>
            <a:ext cx="566928" cy="384048"/>
          </a:xfrm>
          <a:prstGeom prst="rect">
            <a:avLst/>
          </a:prstGeom>
          <a:solidFill>
            <a:srgbClr val="FFFFFF"/>
          </a:solidFill>
          <a:ln w="9525">
            <a:solidFill>
              <a:srgbClr val="8A94AB"/>
            </a:solidFill>
            <a:prstDash val="solid"/>
          </a:ln>
        </p:spPr>
      </p:sp>
      <p:sp>
        <p:nvSpPr>
          <p:cNvPr id="73" name="Text 68"/>
          <p:cNvSpPr txBox="1"/>
          <p:nvPr/>
        </p:nvSpPr>
        <p:spPr>
          <a:xfrm>
            <a:off x="8595360" y="45720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74" name="Shape 69"/>
          <p:cNvSpPr/>
          <p:nvPr/>
        </p:nvSpPr>
        <p:spPr>
          <a:xfrm>
            <a:off x="9162288" y="4572000"/>
            <a:ext cx="566928" cy="384048"/>
          </a:xfrm>
          <a:prstGeom prst="rect">
            <a:avLst/>
          </a:prstGeom>
          <a:solidFill>
            <a:srgbClr val="FFFFFF"/>
          </a:solidFill>
          <a:ln w="9525">
            <a:solidFill>
              <a:srgbClr val="8A94AB"/>
            </a:solidFill>
            <a:prstDash val="solid"/>
          </a:ln>
        </p:spPr>
      </p:sp>
      <p:sp>
        <p:nvSpPr>
          <p:cNvPr id="75" name="Text 70"/>
          <p:cNvSpPr txBox="1"/>
          <p:nvPr/>
        </p:nvSpPr>
        <p:spPr>
          <a:xfrm>
            <a:off x="9162288" y="45720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76" name="Shape 71"/>
          <p:cNvSpPr/>
          <p:nvPr/>
        </p:nvSpPr>
        <p:spPr>
          <a:xfrm>
            <a:off x="9729216" y="4572000"/>
            <a:ext cx="566928" cy="384048"/>
          </a:xfrm>
          <a:prstGeom prst="rect">
            <a:avLst/>
          </a:prstGeom>
          <a:solidFill>
            <a:srgbClr val="FFFFFF"/>
          </a:solidFill>
          <a:ln w="9525">
            <a:solidFill>
              <a:srgbClr val="8A94AB"/>
            </a:solidFill>
            <a:prstDash val="solid"/>
          </a:ln>
        </p:spPr>
      </p:sp>
      <p:sp>
        <p:nvSpPr>
          <p:cNvPr id="77" name="Text 72"/>
          <p:cNvSpPr txBox="1"/>
          <p:nvPr/>
        </p:nvSpPr>
        <p:spPr>
          <a:xfrm>
            <a:off x="9729216" y="45720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78" name="Shape 73"/>
          <p:cNvSpPr/>
          <p:nvPr/>
        </p:nvSpPr>
        <p:spPr>
          <a:xfrm>
            <a:off x="10296144" y="4572000"/>
            <a:ext cx="566928" cy="384048"/>
          </a:xfrm>
          <a:prstGeom prst="rect">
            <a:avLst/>
          </a:prstGeom>
          <a:solidFill>
            <a:srgbClr val="FFF1D6"/>
          </a:solidFill>
          <a:ln w="9525">
            <a:solidFill>
              <a:srgbClr val="8A94AB"/>
            </a:solidFill>
            <a:prstDash val="solid"/>
          </a:ln>
        </p:spPr>
      </p:sp>
      <p:sp>
        <p:nvSpPr>
          <p:cNvPr id="79" name="Text 74"/>
          <p:cNvSpPr txBox="1"/>
          <p:nvPr/>
        </p:nvSpPr>
        <p:spPr>
          <a:xfrm>
            <a:off x="10296144" y="45720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80" name="Shape 75"/>
          <p:cNvSpPr/>
          <p:nvPr/>
        </p:nvSpPr>
        <p:spPr>
          <a:xfrm>
            <a:off x="10863072" y="4572000"/>
            <a:ext cx="566928" cy="384048"/>
          </a:xfrm>
          <a:prstGeom prst="rect">
            <a:avLst/>
          </a:prstGeom>
          <a:solidFill>
            <a:srgbClr val="FFF1D6"/>
          </a:solidFill>
          <a:ln w="9525">
            <a:solidFill>
              <a:srgbClr val="8A94AB"/>
            </a:solidFill>
            <a:prstDash val="solid"/>
          </a:ln>
        </p:spPr>
      </p:sp>
      <p:sp>
        <p:nvSpPr>
          <p:cNvPr id="81" name="Text 76"/>
          <p:cNvSpPr txBox="1"/>
          <p:nvPr/>
        </p:nvSpPr>
        <p:spPr>
          <a:xfrm>
            <a:off x="10863072" y="4572000"/>
            <a:ext cx="566928"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82" name="Shape 77"/>
          <p:cNvSpPr/>
          <p:nvPr/>
        </p:nvSpPr>
        <p:spPr>
          <a:xfrm>
            <a:off x="548640" y="5257800"/>
            <a:ext cx="11109960" cy="822960"/>
          </a:xfrm>
          <a:prstGeom prst="roundRect">
            <a:avLst>
              <a:gd name="adj" fmla="val 13333"/>
            </a:avLst>
          </a:prstGeom>
          <a:solidFill>
            <a:srgbClr val="FFF6E3"/>
          </a:solidFill>
          <a:ln w="12700">
            <a:solidFill>
              <a:srgbClr val="FFF6E3"/>
            </a:solidFill>
            <a:prstDash val="solid"/>
          </a:ln>
        </p:spPr>
      </p:sp>
      <p:pic>
        <p:nvPicPr>
          <p:cNvPr id="83" name="Image 0" descr="preencoded.png">    </p:cNvPr>
          <p:cNvPicPr>
            <a:picLocks noChangeAspect="1"/>
          </p:cNvPicPr>
          <p:nvPr/>
        </p:nvPicPr>
        <p:blipFill>
          <a:blip r:embed="rId1"/>
          <a:stretch>
            <a:fillRect/>
          </a:stretch>
        </p:blipFill>
        <p:spPr>
          <a:xfrm>
            <a:off x="822960" y="5394960"/>
            <a:ext cx="548640" cy="548640"/>
          </a:xfrm>
          <a:prstGeom prst="rect">
            <a:avLst/>
          </a:prstGeom>
        </p:spPr>
      </p:pic>
      <p:sp>
        <p:nvSpPr>
          <p:cNvPr id="84" name="Text 78"/>
          <p:cNvSpPr txBox="1"/>
          <p:nvPr/>
        </p:nvSpPr>
        <p:spPr>
          <a:xfrm>
            <a:off x="1645920" y="5330952"/>
            <a:ext cx="9738360" cy="67665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Q2: 3 comparisons instead of 6 (linear).  Q3: one pass moves the largest value to the end.</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EXERCISES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(pairs, 25 minutes)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45920"/>
            <a:ext cx="54406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E1 · Range of the week ★</a:t>
            </a:r>
            <a:endParaRPr lang="en-US" sz="1700" dirty="0"/>
          </a:p>
        </p:txBody>
      </p:sp>
      <p:sp>
        <p:nvSpPr>
          <p:cNvPr id="11" name="Text 7"/>
          <p:cNvSpPr txBox="1"/>
          <p:nvPr/>
        </p:nvSpPr>
        <p:spPr>
          <a:xfrm>
            <a:off x="77724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7 temperatures. Print max − min (the range) and the day numbers (1–7) of the max and the min.</a:t>
            </a:r>
            <a:endParaRPr lang="en-US" sz="1500" dirty="0"/>
          </a:p>
        </p:txBody>
      </p:sp>
      <p:sp>
        <p:nvSpPr>
          <p:cNvPr id="12" name="Shape 8"/>
          <p:cNvSpPr/>
          <p:nvPr/>
        </p:nvSpPr>
        <p:spPr>
          <a:xfrm>
            <a:off x="6217920" y="1645920"/>
            <a:ext cx="544068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2F6FB3"/>
          </a:solidFill>
          <a:ln w="12700">
            <a:solidFill>
              <a:srgbClr val="2F6FB3"/>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E2 · Find a student ★</a:t>
            </a:r>
            <a:endParaRPr lang="en-US" sz="1700" dirty="0"/>
          </a:p>
        </p:txBody>
      </p:sp>
      <p:sp>
        <p:nvSpPr>
          <p:cNvPr id="16" name="Text 11"/>
          <p:cNvSpPr txBox="1"/>
          <p:nvPr/>
        </p:nvSpPr>
        <p:spPr>
          <a:xfrm>
            <a:off x="644652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string[] names = {…}. Read a name, print its index or "not found" (−1). Ignore upper/lower case.</a:t>
            </a:r>
            <a:endParaRPr lang="en-US" sz="1500" dirty="0"/>
          </a:p>
        </p:txBody>
      </p:sp>
      <p:sp>
        <p:nvSpPr>
          <p:cNvPr id="17" name="Shape 12"/>
          <p:cNvSpPr/>
          <p:nvPr/>
        </p:nvSpPr>
        <p:spPr>
          <a:xfrm>
            <a:off x="548640" y="3886200"/>
            <a:ext cx="544068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777240" y="4114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E3 · Descending order ★★</a:t>
            </a:r>
            <a:endParaRPr lang="en-US" sz="1700" dirty="0"/>
          </a:p>
        </p:txBody>
      </p:sp>
      <p:sp>
        <p:nvSpPr>
          <p:cNvPr id="21" name="Text 15"/>
          <p:cNvSpPr txBox="1"/>
          <p:nvPr/>
        </p:nvSpPr>
        <p:spPr>
          <a:xfrm>
            <a:off x="77724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Change bubble sort (Example 6) so that it sorts from largest to smallest. Count passes, comparisons and swaps.</a:t>
            </a:r>
            <a:endParaRPr lang="en-US" sz="1500" dirty="0"/>
          </a:p>
        </p:txBody>
      </p:sp>
      <p:sp>
        <p:nvSpPr>
          <p:cNvPr id="22" name="Shape 16"/>
          <p:cNvSpPr/>
          <p:nvPr/>
        </p:nvSpPr>
        <p:spPr>
          <a:xfrm>
            <a:off x="6217920" y="3886200"/>
            <a:ext cx="544068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6446520" y="4114800"/>
            <a:ext cx="566928" cy="566928"/>
          </a:xfrm>
          <a:prstGeom prst="ellipse">
            <a:avLst/>
          </a:prstGeom>
          <a:solidFill>
            <a:srgbClr val="2F6FB3"/>
          </a:solidFill>
          <a:ln w="12700">
            <a:solidFill>
              <a:srgbClr val="2F6FB3"/>
            </a:solidFill>
            <a:prstDash val="solid"/>
          </a:ln>
        </p:spPr>
      </p:sp>
      <p:pic>
        <p:nvPicPr>
          <p:cNvPr id="24" name="Image 3" descr="preencoded.png">    </p:cNvPr>
          <p:cNvPicPr>
            <a:picLocks noChangeAspect="1"/>
          </p:cNvPicPr>
          <p:nvPr/>
        </p:nvPicPr>
        <p:blipFill>
          <a:blip r:embed="rId4"/>
          <a:stretch>
            <a:fillRect/>
          </a:stretch>
        </p:blipFill>
        <p:spPr>
          <a:xfrm>
            <a:off x="6593921" y="4262201"/>
            <a:ext cx="272125" cy="272125"/>
          </a:xfrm>
          <a:prstGeom prst="rect">
            <a:avLst/>
          </a:prstGeom>
        </p:spPr>
      </p:pic>
      <p:sp>
        <p:nvSpPr>
          <p:cNvPr id="25" name="Text 18"/>
          <p:cNvSpPr txBox="1"/>
          <p:nvPr/>
        </p:nvSpPr>
        <p:spPr>
          <a:xfrm>
            <a:off x="713232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E4 · Every target ★★</a:t>
            </a:r>
            <a:endParaRPr lang="en-US" sz="1700" dirty="0"/>
          </a:p>
        </p:txBody>
      </p:sp>
      <p:sp>
        <p:nvSpPr>
          <p:cNvPr id="26" name="Text 19"/>
          <p:cNvSpPr txBox="1"/>
          <p:nvPr/>
        </p:nvSpPr>
        <p:spPr>
          <a:xfrm>
            <a:off x="644652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Binary search each of the 15 values of Example 5 in turn. Print the steps for each and the average.</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Before next week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10</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Shape 4"/>
          <p:cNvSpPr/>
          <p:nvPr/>
        </p:nvSpPr>
        <p:spPr>
          <a:xfrm>
            <a:off x="548640" y="1645920"/>
            <a:ext cx="5440680" cy="1874520"/>
          </a:xfrm>
          <a:prstGeom prst="roundRect">
            <a:avLst>
              <a:gd name="adj" fmla="val 5854"/>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H1 · Median ★★</a:t>
            </a:r>
            <a:endParaRPr lang="en-US" sz="1700" dirty="0"/>
          </a:p>
        </p:txBody>
      </p:sp>
      <p:sp>
        <p:nvSpPr>
          <p:cNvPr id="11" name="Text 7"/>
          <p:cNvSpPr txBox="1"/>
          <p:nvPr/>
        </p:nvSpPr>
        <p:spPr>
          <a:xfrm>
            <a:off x="77724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Read n grades, sort a COPY (keep the original), print the original order, the sorted order and the median (n even or odd).</a:t>
            </a:r>
            <a:endParaRPr lang="en-US" sz="1400" dirty="0"/>
          </a:p>
        </p:txBody>
      </p:sp>
      <p:sp>
        <p:nvSpPr>
          <p:cNvPr id="12" name="Shape 8"/>
          <p:cNvSpPr/>
          <p:nvPr/>
        </p:nvSpPr>
        <p:spPr>
          <a:xfrm>
            <a:off x="6217920" y="1645920"/>
            <a:ext cx="5440680" cy="1874520"/>
          </a:xfrm>
          <a:prstGeom prst="roundRect">
            <a:avLst>
              <a:gd name="adj" fmla="val 5854"/>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H2 · Two smallest ★</a:t>
            </a:r>
            <a:endParaRPr lang="en-US" sz="1700" dirty="0"/>
          </a:p>
        </p:txBody>
      </p:sp>
      <p:sp>
        <p:nvSpPr>
          <p:cNvPr id="16" name="Text 11"/>
          <p:cNvSpPr txBox="1"/>
          <p:nvPr/>
        </p:nvSpPr>
        <p:spPr>
          <a:xfrm>
            <a:off x="644652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Print the smallest and the second smallest DIFFERENT value of an array, or a message if it does not exist.</a:t>
            </a:r>
            <a:endParaRPr lang="en-US" sz="1400" dirty="0"/>
          </a:p>
        </p:txBody>
      </p:sp>
      <p:sp>
        <p:nvSpPr>
          <p:cNvPr id="17" name="Shape 12"/>
          <p:cNvSpPr/>
          <p:nvPr/>
        </p:nvSpPr>
        <p:spPr>
          <a:xfrm>
            <a:off x="548640" y="3657600"/>
            <a:ext cx="5440680" cy="1874520"/>
          </a:xfrm>
          <a:prstGeom prst="roundRect">
            <a:avLst>
              <a:gd name="adj" fmla="val 5854"/>
            </a:avLst>
          </a:prstGeom>
          <a:solidFill>
            <a:srgbClr val="EEF1F6"/>
          </a:solidFill>
          <a:ln w="12700">
            <a:solidFill>
              <a:srgbClr val="EEF1F6"/>
            </a:solidFill>
            <a:prstDash val="solid"/>
          </a:ln>
        </p:spPr>
      </p:sp>
      <p:sp>
        <p:nvSpPr>
          <p:cNvPr id="18" name="Shape 13"/>
          <p:cNvSpPr/>
          <p:nvPr/>
        </p:nvSpPr>
        <p:spPr>
          <a:xfrm>
            <a:off x="777240" y="38862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033601"/>
            <a:ext cx="272125" cy="272125"/>
          </a:xfrm>
          <a:prstGeom prst="rect">
            <a:avLst/>
          </a:prstGeom>
        </p:spPr>
      </p:pic>
      <p:sp>
        <p:nvSpPr>
          <p:cNvPr id="20" name="Text 14"/>
          <p:cNvSpPr txBox="1"/>
          <p:nvPr/>
        </p:nvSpPr>
        <p:spPr>
          <a:xfrm>
            <a:off x="146304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H3 · Mode ★★</a:t>
            </a:r>
            <a:endParaRPr lang="en-US" sz="1700" dirty="0"/>
          </a:p>
        </p:txBody>
      </p:sp>
      <p:sp>
        <p:nvSpPr>
          <p:cNvPr id="21" name="Text 15"/>
          <p:cNvSpPr txBox="1"/>
          <p:nvPr/>
        </p:nvSpPr>
        <p:spPr>
          <a:xfrm>
            <a:off x="77724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Sort an int array, then find the most frequent value in one pass (count runs of equal neighbours).</a:t>
            </a:r>
            <a:endParaRPr lang="en-US" sz="1400" dirty="0"/>
          </a:p>
        </p:txBody>
      </p:sp>
      <p:sp>
        <p:nvSpPr>
          <p:cNvPr id="22" name="Shape 16"/>
          <p:cNvSpPr/>
          <p:nvPr/>
        </p:nvSpPr>
        <p:spPr>
          <a:xfrm>
            <a:off x="6217920" y="3657600"/>
            <a:ext cx="5440680" cy="1874520"/>
          </a:xfrm>
          <a:prstGeom prst="roundRect">
            <a:avLst>
              <a:gd name="adj" fmla="val 5854"/>
            </a:avLst>
          </a:prstGeom>
          <a:solidFill>
            <a:srgbClr val="EEF1F6"/>
          </a:solidFill>
          <a:ln w="12700">
            <a:solidFill>
              <a:srgbClr val="EEF1F6"/>
            </a:solidFill>
            <a:prstDash val="solid"/>
          </a:ln>
        </p:spPr>
      </p:sp>
      <p:sp>
        <p:nvSpPr>
          <p:cNvPr id="23" name="Shape 17"/>
          <p:cNvSpPr/>
          <p:nvPr/>
        </p:nvSpPr>
        <p:spPr>
          <a:xfrm>
            <a:off x="6446520" y="38862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6593921" y="4033601"/>
            <a:ext cx="272125" cy="272125"/>
          </a:xfrm>
          <a:prstGeom prst="rect">
            <a:avLst/>
          </a:prstGeom>
        </p:spPr>
      </p:pic>
      <p:sp>
        <p:nvSpPr>
          <p:cNvPr id="25" name="Text 18"/>
          <p:cNvSpPr txBox="1"/>
          <p:nvPr/>
        </p:nvSpPr>
        <p:spPr>
          <a:xfrm>
            <a:off x="713232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H4 · Is it sorted? ★</a:t>
            </a:r>
            <a:endParaRPr lang="en-US" sz="1700" dirty="0"/>
          </a:p>
        </p:txBody>
      </p:sp>
      <p:sp>
        <p:nvSpPr>
          <p:cNvPr id="26" name="Text 19"/>
          <p:cNvSpPr txBox="1"/>
          <p:nvPr/>
        </p:nvSpPr>
        <p:spPr>
          <a:xfrm>
            <a:off x="644652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Check with one loop whether an array is sorted ascending; print the first index where the order breaks.</a:t>
            </a:r>
            <a:endParaRPr lang="en-US" sz="1400" dirty="0"/>
          </a:p>
        </p:txBody>
      </p:sp>
      <p:sp>
        <p:nvSpPr>
          <p:cNvPr id="27" name="Shape 20"/>
          <p:cNvSpPr/>
          <p:nvPr/>
        </p:nvSpPr>
        <p:spPr>
          <a:xfrm>
            <a:off x="548640" y="5669280"/>
            <a:ext cx="11109960" cy="457200"/>
          </a:xfrm>
          <a:prstGeom prst="roundRect">
            <a:avLst>
              <a:gd name="adj" fmla="val 24000"/>
            </a:avLst>
          </a:prstGeom>
          <a:solidFill>
            <a:srgbClr val="FFF6E3"/>
          </a:solidFill>
          <a:ln w="12700">
            <a:solidFill>
              <a:srgbClr val="FFF6E3"/>
            </a:solidFill>
            <a:prstDash val="solid"/>
          </a:ln>
        </p:spPr>
      </p:sp>
      <p:pic>
        <p:nvPicPr>
          <p:cNvPr id="28" name="Image 4" descr="preencoded.png">    </p:cNvPr>
          <p:cNvPicPr>
            <a:picLocks noChangeAspect="1"/>
          </p:cNvPicPr>
          <p:nvPr/>
        </p:nvPicPr>
        <p:blipFill>
          <a:blip r:embed="rId5"/>
          <a:stretch>
            <a:fillRect/>
          </a:stretch>
        </p:blipFill>
        <p:spPr>
          <a:xfrm>
            <a:off x="822960" y="5806440"/>
            <a:ext cx="182880" cy="182880"/>
          </a:xfrm>
          <a:prstGeom prst="rect">
            <a:avLst/>
          </a:prstGeom>
        </p:spPr>
      </p:pic>
      <p:sp>
        <p:nvSpPr>
          <p:cNvPr id="29" name="Text 21"/>
          <p:cNvSpPr txBox="1"/>
          <p:nvPr/>
        </p:nvSpPr>
        <p:spPr>
          <a:xfrm>
            <a:off x="1280160" y="5742432"/>
            <a:ext cx="10104120" cy="3108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Submit the four Program.cs files on the course group; include one console run for each.</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Max/min: start with a[0], loop from 1, keep the index. Test with negative data.</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Statistics need the array: mean in pass 1, squared distances in pass 2, σ = √variance.</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Linear search: any array, up to n checks; −1 means "not found".</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Binary search: SORTED arrays only; low/mid/high; about log₂ n steps.</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Bubble sort swaps neighbours (early exit); selection sort selects the minimum (≤ n − 1 swaps).</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Simple sorts make about n²/2 comparisons; in real programs call Array.Sort.</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Week 11: Multi-dimensional arrays (matrices)</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10</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10 – Array Operations: Searching, Sorting, Max/Min</dc:title>
  <dc:subject>PptxGenJS Presentation</dc:subject>
  <dc:creator>MCMP113</dc:creator>
  <cp:lastModifiedBy>MCMP113</cp:lastModifiedBy>
  <cp:revision>1</cp:revision>
  <dcterms:created xsi:type="dcterms:W3CDTF">2026-10-25T13:00:50Z</dcterms:created>
  <dcterms:modified xsi:type="dcterms:W3CDTF">2026-10-25T13:00:50Z</dcterms:modified>
</cp:coreProperties>
</file>