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15 is the final-exam review: no new material. Suggested plan for a 2-hour session: 10 min logistics and scope, 30 min condensed review (Part 1), 60 min practice questions (Parts 2 and 3; students answer on paper first, then the answer slide), 10 min strategy and common mistakes. The final is cumulative (Weeks 1-14) with the emphasis on Weeks 9-14. The full practice final (120 min, 100 points) with solutions and rubric is in the notes (instructor edition). Every answer in this deck was checked by running the code in the code folder; the predict/trace snippets are all in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final rewards the same skills as the midterm (tracing, predicting, designing, writing code by hand), applied to the second half of the semester: arrays, searching and sorting, matrices, methods, scope, recursion and files. Ask students to keep paper and pen ready: every practice question is answered on paper before the answer slide appears. Topics where they hesitate go on their personal study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Everything official (date, room, duration, seating) is announced on the course group: check the pinned message, do not rely on rumours. PLACEHOLDERS, confirm before class: (1) closed book is assumed because the midterm was closed book; (2) the calculator policy has not been decided in these materials, so the slide only says it will be announced. No question in the practice final needs a calculator (all arithmetic is small). Weight: final 60 %, midterm 40 % (course syllabus). Code is again written by hand on paper, so students should practise writing methods and file code without IntelliSense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final is cumulative, but the first half appears mostly inside second-half questions: a bubble sort still needs a for loop and an if, a file program still needs Parse and a loop. The rows marked FOCUS are where most of the points are. Likely question: "Is recursion on the exam?" Yes, tracing short recursive methods (Week 13) and writing very short ones. "Do we need StreamReader or is File.ReadAllLines enough?" Know both; the question will say which one to use if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Two lines of development. Data: one value in a variable (Week 3), many values in an array (Week 9), a table in a matrix (Week 11), values that survive the program in a file (Week 14). Control: the three structures of Weeks 1-7, the classic array algorithms (Week 10), and methods that package them (Weeks 12-13). A typical final-exam program uses something from every box: read a file into an array, process it with methods, print or write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 for Part 1 (slides 7-15), roughly 3-4 min per slide. This is a reminder, not a re-teach: point at the details that are tested and send students to the weekly notes for anything that is unclear. Ask a quick question on each slide to keep everyone active.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The full first-half review is the Week 8 package (cheat sheet, practice midterm, 14 tested programs). Here only the traps that keep reappearing inside second-half questions. Each value in the table was checked in the Week 8 PredictChecker. Remind students: C# prints True/False with a capital letter; a double with no fractional part prints without .0; Parse crashes on bad input, TryParse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Indices run from 0 to Length - 1; reading a[Length] throws IndexOutOfRangeException at run time (it compiles). new fills the array with default values: 0, 0.0, false, null for string, and the character \0 for char. Arrays are reference types: b = a gives the SAME array a second name; a copy needs new + loop or Clone(). foreach gives read-only elements (cannot assign to the loop variable). == on two arrays compares references, not contents.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Linear search: any array, check one element after the other, stop when found; result -1 means not found. Binary search: ONLY on sorted data; look at the middle, throw away half. mid = (low + high) / 2 uses integer division. The loop stops when found or when low &gt; high. Worst-case steps (P4 in the problem set, computed by 15_01_PredictChecker): n = 15: 4, 100: 7, 1000: 10, 1 000 000: 20, i.e. floor(log2 n) + 1. This is the guess-the-number strategy of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Bubble sort: compare neighbours, swap when out of order; after pass k the k largest values are in their final places at the end; the swapped flag stops early when a pass makes no swap. Selection sort: find the index of the smallest element of the unsorted part, then ONE swap per pass. Both make n(n-1)/2 comparisons in the worst case (15 for n = 6): O(n²). Array.Sort is what professionals use, but on the exam you write the loops.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int[,] m = new int[rows, cols]; m[r, c] with ONE pair of brackets and a comma (m[r][c] is jagged-array syntax, CS0022 on a rectangular array). GetLength(0) = rows, GetLength(1) = columns, Length = all elements. Row sums: outer loop over rows. Column sums: outer loop over columns. Square matrix: main diagonal r == c, anti-diagonal r + c == n - 1, transpose t[c, r] = m[r, c]. Jagged int[][]: each row its own length (Pascal triangle).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Anatomy: static, return type, name in PascalCase, parameter list, body. In our top-level programs methods are static local functions at the bottom of Program.cs. Arguments are copied into parameters. Value parameter: the method gets a copy, the caller never sees changes. Array parameter: the REFERENCE is copied, so the method can change the caller's elements, but a = new int[...] inside the method only redirects the copy. ref: the parameter is another name for the caller's variable. out: the method must assign it (TryParse). Local functions cannot be overloaded (CS0128); Week 12 used partial class Program for overloads.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return hands back a value AND ends the method; every path of a value-returning method must return (CS0161). void methods do actions; return; ends them early. Scope: a variable lives from its declaration to the closing brace of its block. CS0103: name does not exist here (used outside its block). CS0136: a nested block cannot reuse a name of an enclosing scope. CS0128: same name twice in one scope. CS8421: a static local function cannot use a top-level variable. Recursion: base case first, then a step towards it; each call has its own copies of parameters on the call stack; no base case means StackOverflowException.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File.* methods open, use and close the file in one call. StreamReader/StreamWriter work line by line; always inside using, which closes (and flushes) the file even if an exception occurs. Without using or Close, a StreamWriter may leave the file EMPTY: we tested it, the file had 0 bytes. Relative paths are relative to the working directory: with dotnet run that is the project folder. CSV: line.Split(',') gives a string[]; convert each field with Parse; FormatException for bad numbers, FileNotFoundException for a missing file. UTF-8 is the default encoding, so ğüşıöç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Like the five loop patterns of the midterm, these eight cover most array questions. Name the pattern first, then write it. Watch-outs: max starts with a[0], not 0 (negative data); a search returns -1 or false only AFTER the loop; a copy needs a new array; a frequency array needs index = value - offset (counts[face - 1]++, counts[ch -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 for Q1-Q10. Routine for every question: students work alone on paper for the time on the chip, compare with a neighbour for 1 minute, then the answer slide. All outputs on the answer slides are real output of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 min. 90 seconds, then a show of hands per option before the answer slide. Q1 is the classic off-by-one: an array of 4 has no element 4. Q3: a value parameter receives a copy; only ref passes the variable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D, Q2 B, Q3 B, Q4 B. Q1 real message (15_01_PredictChecker): "Index was outside the bounds of the array." Q2: GetLength(dimension), 0 = rows, 1 = columns. Q3: the method header must also say ref: static void Change(ref int v). Q4: File.ReadAllText returns one string; File.ReadAllLines returns string[].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Students write the six output lines. Hints only if stuck: does b = a create a new array? What is a[2], and therefore a[a[2]]? Which indices does i take in the for loop? What does == compare for arrays?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by line: b = a makes b a second name for the same array, so b[0] = 10 changes a[0]. Last element: index Length - 1 = 4, value 3. a[2] is 1, so a[a[2]] = a[1] = 7. i takes 1 and 3: 7 + 9 = 16. Clone makes a new array, so c[1] = 0 does not touch a. a == c compares references: False. Verified with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Students fill one row per pass: the array AFTER the pass and the number of swaps in that pass. Then: after which pass does the loop stop, and how many comparisons were made in total? Hint: pass k compares n - k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 1 moves 9 to the end (3 swaps: 4-2, 7-1, 9-5). Pass 2: 2 swaps (4-1, 7-5). Pass 3: 1 swap (2-1); the array is already sorted, but the algorithm does not know it yet. Pass 4 makes no swap, so swapped stays false and break ends the sort: pass 5 never runs. Comparisons 5 + 4 + 3 + 2 = 14 (instead of 15), swaps 3 + 2 + 1 = 6. Output checked with 15_01_PredictChecker, which prints exactly these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Two runs on the same sorted array: target 47 and target 12. One row per step with low, high, mid, a[mid]. Then the result (index) and the number of steps. Remind: mid uses integer division.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47: mid 5 (24 &lt; 47, go right), mid 8 (41 &lt; 47, go right), mid 9: found, index 9 after 3 steps. Target 12: mid 5 (24 &gt; 12, go left), mid 2 (11 &lt; 12, go right), mid 3 (15 &gt; 12, go left: high = 2). Now low = 3 &gt; high = 2, the loop stops, index stays -1: not found after 3 steps. A linear search would need 10 comparisons for 47 and 11 for 12. Checked with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(a) Draw the grid output exactly; {x,3} right-aligns in 3 columns. (b) Which elements are added to diag and to anti? Students should list the index pairs before adding.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 &gt; c means BELOW the main diagonal: those cells print " .", all others the value, right-aligned in 3 columns. Result: the upper triangle. (b) diag adds (0,0), (1,1), (2,2) = 2 + 3 + 9 = 14; anti adds (0,2), (1,1), (2,0) = 1 + 3 + 4 = 8; both loops run n = 3 times. Verified with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Students predict the two output lines. For each call, ask: what does the method receive, a copy of a value, the caller's variable (ref), or a copy of a reference (array)? Twice(Twice(1)) is evaluated from the inside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Bump gets a copy of x: x stays 5. BumpRef: v IS y, so y = 6. BumpArray gets a copy of the reference: a[0]++ changes the caller's array, arr = {6, 5}. Replace: a = new int[] redirects only the local copy of the reference; the new array is lost when the method returns, arr is unchanged. Twice(5) = 10, Twice(Twice(1)) = Twice(2) = 4, z = 14. Verified with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(a) Value of Mystery(6) with the call stack; how many calls in total? (b) Output of Countdown(3); note the Write before AND after the recursive call. Advice: draw one box per call, write the pending expression in each box, then go back up with the returned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Calls go down until the base case n = 0, then the values come back up: Mystery(0) = 0, Mystery(1) = 1 + 10·0 = 1, Mystery(3) = 1 + 10·1 = 11, Mystery(6) = 0 + 10·11 = 110. Four calls. It writes the binary digits of n as a decimal number (6 = 110 in binary): the Week 7 decimal-to-binary algorithm, recursively. (b) Each call prints n, calls itself, then prints n again after the inner call has finished: 3 2 1 1 2 3. Verified with 15_01_PredictChecker.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min for Q11-Q14, then 10 min for common mistakes, strategy and the study plan. Q13 and Q14 are full exam-size programming questions; if time is short, do the design (method headers, pattern names) together in class and leave the code as homework: the solutions are in the code folder (15_03, 15_04).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The program has exactly four compile errors. Students name the line and the reason (the error code is a bonus). Trap: lines 11 and 15 both declare msg; that is fine, because the two blocks are siblings, not nested. Every answer was checked by building this code (it is in the scratch tests, not in the code folder, because it does not compile).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compiler output (dotnet build): line 7 CS0103 The name 'square' does not exist in the current context; line 10 CS0136 A local or parameter named 'total' cannot be declared in this scope because that name is used in an enclosing local scope; line 18 CS0165 Use of unassigned local variable 'count'; line 21 CS0161 'Half(int)': not all code paths return a value. The two msg declarations only produce warnings CS0219 (assigned but never used): sibling blocks may reuse a name. Fixes: print inside the loop or declare square outside; rename the inner total; initialise count = 0; add return 0 (or another value) for negative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 min. Intended: read 5 daily temperatures (whole degrees, may be negative), print the average with 2 decimals and the highest temperature. Four lines are wrong. The program compiles without warnings. Warm-up: what happens when it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run of the buggy version: all five values are read, then the program crashes on line 5 with IndexOutOfRangeException, because i = 5 is not a valid index (the store happens after the read). After fixing only the loop, it prints Average: -3.00 (integer division -17 / 5 = -3) and Highest: 0 (no temperature is greater than 0, and the index instead of the value would be stored anyway). Fixed version 15_02_TempStatsFixed prints Average: -3.40 and Highest: -1. Nice extra test: with 3, 7, 2, 1, 4 the buggy Highest returns 4, an index, not the maximum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8 min. The top-level code and ReadSteps are given (ReadSteps is the TryParse validation loop of Week 12). Students write Average, IndexOfMax and CountAbove: header first (return type, name, parameters), then the body. This is a typical 10-12 point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accumulator plus a cast before the division. IndexOfMax returns an INDEX, so the caller can print both days[best] and steps[best]; starting with best = 0 is correct for any data because it is an index, not a value. CountAbove takes the limit as a double because the average is a double. Rubric suggestion (12 points): each correct header 1 (3), Average 3, IndexOfMax 3, CountAbove 3; minus 1 for integer division. Full program: 15_03_WeeklySteps.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min in class; on the exam this is a 10-12 point question. CreateSampleFile is given (it writes the seven lines shown, with File.WriteAllLines). Students write the rest. Ask first: which exceptions can happen, and where? (int.Parse: FormatException; opening the file: FileNotFoundException.) The 40/60 weighting is the course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outer structure: counters BEFORE the try (they are needed after it), try around the using blocks, two using statements (reader and writer) share one block. reader.ReadLine() once before the loop skips the header. The loop condition reads and tests in one expression: (line = reader.ReadLine()) != null. Total does the parsing, so the FormatException comes from inside a method and is caught in the loop (next slide). PrintSummary guards against count == 0 (no division by zero, no 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loop: Split, then the field-count check with continue (Deniz,80 has 2 fields), then try/catch around the parsing (Can,6O,70 has the letter O instead of a zero). Only valid lines are written and counted. Totals: Ayşe 0.4·72 + 0.6·85 = 79.80; Mehmet 52.80; Zeynep 92.40; Elif 45.80 FAIL; average 270.8 / 4 = 67.70. Rubric suggestion (12 points): file creation call 1, StreamReader/using + header skip 2, loop until null 2, Split + field check 2, try/catch FormatException 2, report line with F2 and PASS/FAIL 2, summary + FileNotFoundException 1. Full code: 15_04_GradeReportCsv.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1-5 are array and matrix mistakes, 6-8 method mistakes, 9-10 file mistakes. Every "why" was reproduced: CS0022 for m[r][c] on a rectangular array, CS0161 for a missing return, the empty file without using/Close. Ask students which ones they made in the labs.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 min. This plan fits the 120-minute practice final in the notes; the real duration is announced in class. Rule of thumb: a little over one minute per point, 10 minutes for checking. Start with what you are sure of. Method per type as on the cards. Never leave a question blank: method headers, pseudocode or a partial trace earn partial credit under the practice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 The notes contain a 3-page cheat sheet (to learn from and to rewrite in your own words, not to bring), the 120-minute practice final and 14 extra problems with stars. The student edition has no solutions; the instructor decides when the solutions edition is released. All programs are in the Week 15 code folder; run 15_01_PredictChecker only AFTER answering the predict questions. Programs that use files create their own files first, so they run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logistics reminder (announced in class) and the study plan. Point to the practice final in the notes and the code folder. Thank the students for the semester; office hours before the exam. Good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slideLayout" Target="../slideLayouts/slideLayout1.xml"/><Relationship Id="rId7"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1.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548640"/>
            <a:ext cx="7315200" cy="4572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&gt;_ MCMP113</a:t>
            </a:r>
            <a:endParaRPr lang="en-US" sz="2000" dirty="0"/>
          </a:p>
        </p:txBody>
      </p:sp>
      <p:sp>
        <p:nvSpPr>
          <p:cNvPr id="3" name="Text 1"/>
          <p:cNvSpPr txBox="1"/>
          <p:nvPr/>
        </p:nvSpPr>
        <p:spPr>
          <a:xfrm>
            <a:off x="548640" y="1097280"/>
            <a:ext cx="7498080" cy="914400"/>
          </a:xfrm>
          <a:prstGeom prst="rect">
            <a:avLst/>
          </a:prstGeom>
          <a:noFill/>
          <a:ln/>
        </p:spPr>
        <p:txBody>
          <a:bodyPr wrap="square" lIns="0" tIns="0" rIns="0" bIns="0" rtlCol="0" anchor="t"/>
          <a:lstStyle/>
          <a:p>
            <a:pPr indent="0" marL="0">
              <a:buNone/>
            </a:pPr>
            <a:r>
              <a:rPr lang="en-US" sz="2000" dirty="0">
                <a:solidFill>
                  <a:srgbClr val="C7CEDC"/>
                </a:solidFill>
                <a:latin typeface="Calibri" pitchFamily="34" charset="0"/>
                <a:ea typeface="Calibri" pitchFamily="34" charset="-122"/>
                <a:cs typeface="Calibri" pitchFamily="34" charset="-120"/>
              </a:rPr>
              <a:t>Introduction to Basic Algorithms and Programming</a:t>
            </a:r>
            <a:endParaRPr lang="en-US" sz="2000" dirty="0"/>
          </a:p>
        </p:txBody>
      </p:sp>
      <p:sp>
        <p:nvSpPr>
          <p:cNvPr id="4" name="Text 2"/>
          <p:cNvSpPr txBox="1"/>
          <p:nvPr/>
        </p:nvSpPr>
        <p:spPr>
          <a:xfrm>
            <a:off x="548640" y="1828800"/>
            <a:ext cx="7498080" cy="457200"/>
          </a:xfrm>
          <a:prstGeom prst="rect">
            <a:avLst/>
          </a:prstGeom>
          <a:noFill/>
          <a:ln/>
        </p:spPr>
        <p:txBody>
          <a:bodyPr wrap="square" lIns="0" tIns="0" rIns="0" bIns="0" rtlCol="0" anchor="ctr"/>
          <a:lstStyle/>
          <a:p>
            <a:pPr indent="0" marL="0">
              <a:buNone/>
            </a:pPr>
            <a:r>
              <a:rPr lang="en-US" sz="1800" b="1" dirty="0">
                <a:solidFill>
                  <a:srgbClr val="FCA311"/>
                </a:solidFill>
                <a:latin typeface="Courier New" pitchFamily="34" charset="0"/>
                <a:ea typeface="Courier New" pitchFamily="34" charset="-122"/>
                <a:cs typeface="Courier New" pitchFamily="34" charset="-120"/>
              </a:rPr>
              <a:t>Week 15</a:t>
            </a:r>
            <a:endParaRPr lang="en-US" sz="1800" dirty="0"/>
          </a:p>
        </p:txBody>
      </p:sp>
      <p:sp>
        <p:nvSpPr>
          <p:cNvPr id="5" name="Text 3"/>
          <p:cNvSpPr txBox="1"/>
          <p:nvPr/>
        </p:nvSpPr>
        <p:spPr>
          <a:xfrm>
            <a:off x="548640" y="2286000"/>
            <a:ext cx="7498080" cy="1554480"/>
          </a:xfrm>
          <a:prstGeom prst="rect">
            <a:avLst/>
          </a:prstGeom>
          <a:noFill/>
          <a:ln/>
        </p:spPr>
        <p:txBody>
          <a:bodyPr wrap="square" lIns="0" tIns="0" rIns="0" bIns="0" rtlCol="0" anchor="t">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Final Exam Review &amp; Practice Final</a:t>
            </a:r>
            <a:endParaRPr lang="en-US" sz="3800" dirty="0"/>
          </a:p>
        </p:txBody>
      </p:sp>
      <p:sp>
        <p:nvSpPr>
          <p:cNvPr id="6" name="Text 4"/>
          <p:cNvSpPr txBox="1"/>
          <p:nvPr/>
        </p:nvSpPr>
        <p:spPr>
          <a:xfrm>
            <a:off x="548640" y="3886200"/>
            <a:ext cx="7498080" cy="640080"/>
          </a:xfrm>
          <a:prstGeom prst="rect">
            <a:avLst/>
          </a:prstGeom>
          <a:noFill/>
          <a:ln/>
        </p:spPr>
        <p:txBody>
          <a:bodyPr wrap="square" lIns="0" tIns="0" rIns="0" bIns="0" rtlCol="0" anchor="t"/>
          <a:lstStyle/>
          <a:p>
            <a:pPr indent="0" marL="0">
              <a:buNone/>
            </a:pPr>
            <a:r>
              <a:rPr lang="en-US" sz="1600" dirty="0">
                <a:solidFill>
                  <a:srgbClr val="C7CEDC"/>
                </a:solidFill>
                <a:latin typeface="Calibri" pitchFamily="34" charset="0"/>
                <a:ea typeface="Calibri" pitchFamily="34" charset="-122"/>
                <a:cs typeface="Calibri" pitchFamily="34" charset="-120"/>
              </a:rPr>
              <a:t>Weeks 1–14 condensed · focus on arrays, matrices, methods, files · 14 practice questions</a:t>
            </a:r>
            <a:endParaRPr lang="en-US" sz="1600" dirty="0"/>
          </a:p>
        </p:txBody>
      </p:sp>
      <p:sp>
        <p:nvSpPr>
          <p:cNvPr id="7" name="Text 5"/>
          <p:cNvSpPr txBox="1"/>
          <p:nvPr/>
        </p:nvSpPr>
        <p:spPr>
          <a:xfrm>
            <a:off x="548640" y="4892040"/>
            <a:ext cx="7315200" cy="100584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Asst. Prof. Hasan Oğuz, PhD</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Istanbul Okan University  ·  Vocational School</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2026–2027 Fall Semester</a:t>
            </a:r>
            <a:endParaRPr lang="en-US" sz="1500" dirty="0"/>
          </a:p>
        </p:txBody>
      </p:sp>
      <p:sp>
        <p:nvSpPr>
          <p:cNvPr id="8" name="Shape 6"/>
          <p:cNvSpPr/>
          <p:nvPr/>
        </p:nvSpPr>
        <p:spPr>
          <a:xfrm>
            <a:off x="8412480" y="1188720"/>
            <a:ext cx="3246120" cy="3931920"/>
          </a:xfrm>
          <a:prstGeom prst="roundRect">
            <a:avLst>
              <a:gd name="adj" fmla="val 3380"/>
            </a:avLst>
          </a:prstGeom>
          <a:solidFill>
            <a:srgbClr val="0F1729"/>
          </a:solidFill>
          <a:ln w="12700">
            <a:solidFill>
              <a:srgbClr val="2A3654"/>
            </a:solidFill>
            <a:prstDash val="solid"/>
          </a:ln>
        </p:spPr>
      </p:sp>
      <p:sp>
        <p:nvSpPr>
          <p:cNvPr id="9" name="Shape 7"/>
          <p:cNvSpPr/>
          <p:nvPr/>
        </p:nvSpPr>
        <p:spPr>
          <a:xfrm>
            <a:off x="8641080" y="1371600"/>
            <a:ext cx="146304" cy="146304"/>
          </a:xfrm>
          <a:prstGeom prst="ellipse">
            <a:avLst/>
          </a:prstGeom>
          <a:solidFill>
            <a:srgbClr val="FF5F57"/>
          </a:solidFill>
          <a:ln w="12700">
            <a:solidFill>
              <a:srgbClr val="FF5F57"/>
            </a:solidFill>
            <a:prstDash val="solid"/>
          </a:ln>
        </p:spPr>
      </p:sp>
      <p:sp>
        <p:nvSpPr>
          <p:cNvPr id="10" name="Shape 8"/>
          <p:cNvSpPr/>
          <p:nvPr/>
        </p:nvSpPr>
        <p:spPr>
          <a:xfrm>
            <a:off x="8915400" y="1371600"/>
            <a:ext cx="146304" cy="146304"/>
          </a:xfrm>
          <a:prstGeom prst="ellipse">
            <a:avLst/>
          </a:prstGeom>
          <a:solidFill>
            <a:srgbClr val="FEBC2E"/>
          </a:solidFill>
          <a:ln w="12700">
            <a:solidFill>
              <a:srgbClr val="FEBC2E"/>
            </a:solidFill>
            <a:prstDash val="solid"/>
          </a:ln>
        </p:spPr>
      </p:sp>
      <p:sp>
        <p:nvSpPr>
          <p:cNvPr id="11" name="Shape 9"/>
          <p:cNvSpPr/>
          <p:nvPr/>
        </p:nvSpPr>
        <p:spPr>
          <a:xfrm>
            <a:off x="9189720" y="1371600"/>
            <a:ext cx="146304" cy="146304"/>
          </a:xfrm>
          <a:prstGeom prst="ellipse">
            <a:avLst/>
          </a:prstGeom>
          <a:solidFill>
            <a:srgbClr val="28C840"/>
          </a:solidFill>
          <a:ln w="12700">
            <a:solidFill>
              <a:srgbClr val="28C840"/>
            </a:solidFill>
            <a:prstDash val="solid"/>
          </a:ln>
        </p:spPr>
      </p:sp>
      <p:sp>
        <p:nvSpPr>
          <p:cNvPr id="12" name="Text 10"/>
          <p:cNvSpPr txBox="1"/>
          <p:nvPr/>
        </p:nvSpPr>
        <p:spPr>
          <a:xfrm>
            <a:off x="8686800" y="1737360"/>
            <a:ext cx="2834640" cy="3200400"/>
          </a:xfrm>
          <a:prstGeom prst="rect">
            <a:avLst/>
          </a:prstGeom>
          <a:noFill/>
          <a:ln/>
        </p:spPr>
        <p:txBody>
          <a:bodyPr wrap="square" lIns="0" tIns="0" rIns="0" bIns="0" rtlCol="0" anchor="t"/>
          <a:lstStyle/>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dotnet run</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Loading weeks 1-14 ... done</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Practice questions: 14</a:t>
            </a:r>
            <a:endParaRPr lang="en-US" sz="1400" dirty="0"/>
          </a:p>
          <a:p>
            <a:pPr indent="0" marL="0">
              <a:spcAft>
                <a:spcPts val="500"/>
              </a:spcAft>
              <a:buNone/>
            </a:pPr>
            <a:r>
              <a:rPr lang="en-US" sz="1400" dirty="0">
                <a:solidFill>
                  <a:srgbClr val="7EE2A8"/>
                </a:solidFill>
                <a:latin typeface="Courier New" pitchFamily="34" charset="0"/>
                <a:ea typeface="Courier New" pitchFamily="34" charset="-122"/>
                <a:cs typeface="Courier New" pitchFamily="34" charset="-120"/>
              </a:rPr>
              <a:t>Practice final: 120 min</a:t>
            </a:r>
            <a:endParaRPr lang="en-US" sz="1400" dirty="0"/>
          </a:p>
          <a:p>
            <a:pPr indent="0" marL="0">
              <a:spcAft>
                <a:spcPts val="500"/>
              </a:spcAft>
              <a:buNone/>
            </a:pPr>
            <a:r>
              <a:rPr lang="en-US" sz="1400" dirty="0">
                <a:solidFill>
                  <a:srgbClr val="FCA311"/>
                </a:solidFill>
                <a:latin typeface="Courier New" pitchFamily="34" charset="0"/>
                <a:ea typeface="Courier New" pitchFamily="34" charset="-122"/>
                <a:cs typeface="Courier New" pitchFamily="34" charset="-120"/>
              </a:rPr>
              <a:t>&gt; </a:t>
            </a:r>
            <a:pPr indent="0" marL="0">
              <a:spcAft>
                <a:spcPts val="500"/>
              </a:spcAft>
              <a:buNone/>
            </a:pPr>
            <a:r>
              <a:rPr lang="en-US" sz="1400" dirty="0">
                <a:solidFill>
                  <a:srgbClr val="E6EDF7"/>
                </a:solidFill>
                <a:latin typeface="Courier New" pitchFamily="34" charset="0"/>
                <a:ea typeface="Courier New" pitchFamily="34" charset="-122"/>
                <a:cs typeface="Courier New" pitchFamily="34" charset="-120"/>
              </a:rPr>
              <a:t>good luck_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TODAY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We Will Do in This Session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a:t>
            </a:r>
            <a:endParaRPr lang="en-US" sz="1000" dirty="0"/>
          </a:p>
        </p:txBody>
      </p:sp>
      <p:sp>
        <p:nvSpPr>
          <p:cNvPr id="7" name="Shape 4"/>
          <p:cNvSpPr/>
          <p:nvPr/>
        </p:nvSpPr>
        <p:spPr>
          <a:xfrm>
            <a:off x="548640" y="1645920"/>
            <a:ext cx="2651760" cy="2331720"/>
          </a:xfrm>
          <a:prstGeom prst="roundRect">
            <a:avLst>
              <a:gd name="adj" fmla="val 4706"/>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Review</a:t>
            </a:r>
            <a:endParaRPr lang="en-US" sz="1700" dirty="0"/>
          </a:p>
        </p:txBody>
      </p:sp>
      <p:sp>
        <p:nvSpPr>
          <p:cNvPr id="11" name="Text 7"/>
          <p:cNvSpPr txBox="1"/>
          <p:nvPr/>
        </p:nvSpPr>
        <p:spPr>
          <a:xfrm>
            <a:off x="777240"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Weeks 1–7 in one slide, then one slide per topic of Weeks 9–14.</a:t>
            </a:r>
            <a:endParaRPr lang="en-US" sz="1400" dirty="0"/>
          </a:p>
        </p:txBody>
      </p:sp>
      <p:sp>
        <p:nvSpPr>
          <p:cNvPr id="12" name="Shape 8"/>
          <p:cNvSpPr/>
          <p:nvPr/>
        </p:nvSpPr>
        <p:spPr>
          <a:xfrm>
            <a:off x="3355848" y="1645920"/>
            <a:ext cx="2651760" cy="2331720"/>
          </a:xfrm>
          <a:prstGeom prst="roundRect">
            <a:avLst>
              <a:gd name="adj" fmla="val 4706"/>
            </a:avLst>
          </a:prstGeom>
          <a:solidFill>
            <a:srgbClr val="EEF1F6"/>
          </a:solidFill>
          <a:ln w="12700">
            <a:solidFill>
              <a:srgbClr val="EEF1F6"/>
            </a:solidFill>
            <a:prstDash val="solid"/>
          </a:ln>
        </p:spPr>
      </p:sp>
      <p:sp>
        <p:nvSpPr>
          <p:cNvPr id="13" name="Shape 9"/>
          <p:cNvSpPr/>
          <p:nvPr/>
        </p:nvSpPr>
        <p:spPr>
          <a:xfrm>
            <a:off x="3584448" y="1874520"/>
            <a:ext cx="566928" cy="566928"/>
          </a:xfrm>
          <a:prstGeom prst="ellipse">
            <a:avLst/>
          </a:prstGeom>
          <a:solidFill>
            <a:srgbClr val="FCA311"/>
          </a:solidFill>
          <a:ln w="12700">
            <a:solidFill>
              <a:srgbClr val="FCA311"/>
            </a:solidFill>
            <a:prstDash val="solid"/>
          </a:ln>
        </p:spPr>
      </p:sp>
      <p:pic>
        <p:nvPicPr>
          <p:cNvPr id="14" name="Image 1" descr="preencoded.png">    </p:cNvPr>
          <p:cNvPicPr>
            <a:picLocks noChangeAspect="1"/>
          </p:cNvPicPr>
          <p:nvPr/>
        </p:nvPicPr>
        <p:blipFill>
          <a:blip r:embed="rId2"/>
          <a:stretch>
            <a:fillRect/>
          </a:stretch>
        </p:blipFill>
        <p:spPr>
          <a:xfrm>
            <a:off x="3731849" y="2021921"/>
            <a:ext cx="272125" cy="272125"/>
          </a:xfrm>
          <a:prstGeom prst="rect">
            <a:avLst/>
          </a:prstGeom>
        </p:spPr>
      </p:pic>
      <p:sp>
        <p:nvSpPr>
          <p:cNvPr id="15" name="Text 10"/>
          <p:cNvSpPr txBox="1"/>
          <p:nvPr/>
        </p:nvSpPr>
        <p:spPr>
          <a:xfrm>
            <a:off x="4270248"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Practise</a:t>
            </a:r>
            <a:endParaRPr lang="en-US" sz="1700" dirty="0"/>
          </a:p>
        </p:txBody>
      </p:sp>
      <p:sp>
        <p:nvSpPr>
          <p:cNvPr id="16" name="Text 11"/>
          <p:cNvSpPr txBox="1"/>
          <p:nvPr/>
        </p:nvSpPr>
        <p:spPr>
          <a:xfrm>
            <a:off x="3584448"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14 exam-style questions: trace sorts and searches, matrices, calls, recursion, scope, bugs, files.</a:t>
            </a:r>
            <a:endParaRPr lang="en-US" sz="1400" dirty="0"/>
          </a:p>
        </p:txBody>
      </p:sp>
      <p:sp>
        <p:nvSpPr>
          <p:cNvPr id="17" name="Shape 12"/>
          <p:cNvSpPr/>
          <p:nvPr/>
        </p:nvSpPr>
        <p:spPr>
          <a:xfrm>
            <a:off x="6163056" y="1645920"/>
            <a:ext cx="2651760" cy="2331720"/>
          </a:xfrm>
          <a:prstGeom prst="roundRect">
            <a:avLst>
              <a:gd name="adj" fmla="val 4706"/>
            </a:avLst>
          </a:prstGeom>
          <a:solidFill>
            <a:srgbClr val="EEF1F6"/>
          </a:solidFill>
          <a:ln w="12700">
            <a:solidFill>
              <a:srgbClr val="EEF1F6"/>
            </a:solidFill>
            <a:prstDash val="solid"/>
          </a:ln>
        </p:spPr>
      </p:sp>
      <p:sp>
        <p:nvSpPr>
          <p:cNvPr id="18" name="Shape 13"/>
          <p:cNvSpPr/>
          <p:nvPr/>
        </p:nvSpPr>
        <p:spPr>
          <a:xfrm>
            <a:off x="6391656" y="1874520"/>
            <a:ext cx="566928" cy="566928"/>
          </a:xfrm>
          <a:prstGeom prst="ellipse">
            <a:avLst/>
          </a:prstGeom>
          <a:solidFill>
            <a:srgbClr val="2F6FB3"/>
          </a:solidFill>
          <a:ln w="12700">
            <a:solidFill>
              <a:srgbClr val="2F6FB3"/>
            </a:solidFill>
            <a:prstDash val="solid"/>
          </a:ln>
        </p:spPr>
      </p:sp>
      <p:pic>
        <p:nvPicPr>
          <p:cNvPr id="19" name="Image 2" descr="preencoded.png">    </p:cNvPr>
          <p:cNvPicPr>
            <a:picLocks noChangeAspect="1"/>
          </p:cNvPicPr>
          <p:nvPr/>
        </p:nvPicPr>
        <p:blipFill>
          <a:blip r:embed="rId3"/>
          <a:stretch>
            <a:fillRect/>
          </a:stretch>
        </p:blipFill>
        <p:spPr>
          <a:xfrm>
            <a:off x="6539057" y="2021921"/>
            <a:ext cx="272125" cy="272125"/>
          </a:xfrm>
          <a:prstGeom prst="rect">
            <a:avLst/>
          </a:prstGeom>
        </p:spPr>
      </p:pic>
      <p:sp>
        <p:nvSpPr>
          <p:cNvPr id="20" name="Text 14"/>
          <p:cNvSpPr txBox="1"/>
          <p:nvPr/>
        </p:nvSpPr>
        <p:spPr>
          <a:xfrm>
            <a:off x="7077456" y="1874520"/>
            <a:ext cx="15544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Plan</a:t>
            </a:r>
            <a:endParaRPr lang="en-US" sz="1700" dirty="0"/>
          </a:p>
        </p:txBody>
      </p:sp>
      <p:sp>
        <p:nvSpPr>
          <p:cNvPr id="21" name="Text 15"/>
          <p:cNvSpPr txBox="1"/>
          <p:nvPr/>
        </p:nvSpPr>
        <p:spPr>
          <a:xfrm>
            <a:off x="6391656" y="2560320"/>
            <a:ext cx="2194560"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A 120-minute time plan and a method for each question type.</a:t>
            </a:r>
            <a:endParaRPr lang="en-US" sz="1400" dirty="0"/>
          </a:p>
        </p:txBody>
      </p:sp>
      <p:sp>
        <p:nvSpPr>
          <p:cNvPr id="22" name="Shape 16"/>
          <p:cNvSpPr/>
          <p:nvPr/>
        </p:nvSpPr>
        <p:spPr>
          <a:xfrm>
            <a:off x="8970264" y="1645920"/>
            <a:ext cx="2688336" cy="2331720"/>
          </a:xfrm>
          <a:prstGeom prst="roundRect">
            <a:avLst>
              <a:gd name="adj" fmla="val 4706"/>
            </a:avLst>
          </a:prstGeom>
          <a:solidFill>
            <a:srgbClr val="EEF1F6"/>
          </a:solidFill>
          <a:ln w="12700">
            <a:solidFill>
              <a:srgbClr val="EEF1F6"/>
            </a:solidFill>
            <a:prstDash val="solid"/>
          </a:ln>
        </p:spPr>
      </p:sp>
      <p:sp>
        <p:nvSpPr>
          <p:cNvPr id="23" name="Shape 17"/>
          <p:cNvSpPr/>
          <p:nvPr/>
        </p:nvSpPr>
        <p:spPr>
          <a:xfrm>
            <a:off x="9198864" y="1874520"/>
            <a:ext cx="566928" cy="566928"/>
          </a:xfrm>
          <a:prstGeom prst="ellipse">
            <a:avLst/>
          </a:prstGeom>
          <a:solidFill>
            <a:srgbClr val="2E9E6A"/>
          </a:solidFill>
          <a:ln w="12700">
            <a:solidFill>
              <a:srgbClr val="2E9E6A"/>
            </a:solidFill>
            <a:prstDash val="solid"/>
          </a:ln>
        </p:spPr>
      </p:sp>
      <p:pic>
        <p:nvPicPr>
          <p:cNvPr id="24" name="Image 3" descr="preencoded.png">    </p:cNvPr>
          <p:cNvPicPr>
            <a:picLocks noChangeAspect="1"/>
          </p:cNvPicPr>
          <p:nvPr/>
        </p:nvPicPr>
        <p:blipFill>
          <a:blip r:embed="rId4"/>
          <a:stretch>
            <a:fillRect/>
          </a:stretch>
        </p:blipFill>
        <p:spPr>
          <a:xfrm>
            <a:off x="9346265" y="2021921"/>
            <a:ext cx="272125" cy="272125"/>
          </a:xfrm>
          <a:prstGeom prst="rect">
            <a:avLst/>
          </a:prstGeom>
        </p:spPr>
      </p:pic>
      <p:sp>
        <p:nvSpPr>
          <p:cNvPr id="25" name="Text 18"/>
          <p:cNvSpPr txBox="1"/>
          <p:nvPr/>
        </p:nvSpPr>
        <p:spPr>
          <a:xfrm>
            <a:off x="9884664" y="1874520"/>
            <a:ext cx="1591056"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Self-test</a:t>
            </a:r>
            <a:endParaRPr lang="en-US" sz="1700" dirty="0"/>
          </a:p>
        </p:txBody>
      </p:sp>
      <p:sp>
        <p:nvSpPr>
          <p:cNvPr id="26" name="Text 19"/>
          <p:cNvSpPr txBox="1"/>
          <p:nvPr/>
        </p:nvSpPr>
        <p:spPr>
          <a:xfrm>
            <a:off x="9198864" y="2560320"/>
            <a:ext cx="2231136" cy="128016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Take the practice final in the notes under exam conditions, then check it.</a:t>
            </a:r>
            <a:endParaRPr lang="en-US" sz="1400" dirty="0"/>
          </a:p>
        </p:txBody>
      </p:sp>
      <p:sp>
        <p:nvSpPr>
          <p:cNvPr id="27" name="Text 20"/>
          <p:cNvSpPr txBox="1"/>
          <p:nvPr/>
        </p:nvSpPr>
        <p:spPr>
          <a:xfrm>
            <a:off x="548640" y="4114800"/>
            <a:ext cx="5486400" cy="320040"/>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Session timeline (approx.)</a:t>
            </a:r>
            <a:endParaRPr lang="en-US" sz="1400" dirty="0"/>
          </a:p>
        </p:txBody>
      </p:sp>
      <p:sp>
        <p:nvSpPr>
          <p:cNvPr id="28" name="Shape 21"/>
          <p:cNvSpPr/>
          <p:nvPr/>
        </p:nvSpPr>
        <p:spPr>
          <a:xfrm>
            <a:off x="548640" y="4434840"/>
            <a:ext cx="1009996" cy="640080"/>
          </a:xfrm>
          <a:prstGeom prst="rect">
            <a:avLst/>
          </a:prstGeom>
          <a:solidFill>
            <a:srgbClr val="5B6478"/>
          </a:solidFill>
          <a:ln w="19050">
            <a:solidFill>
              <a:srgbClr val="FFFFFF"/>
            </a:solidFill>
            <a:prstDash val="solid"/>
          </a:ln>
        </p:spPr>
      </p:sp>
      <p:sp>
        <p:nvSpPr>
          <p:cNvPr id="29" name="Text 22"/>
          <p:cNvSpPr txBox="1"/>
          <p:nvPr/>
        </p:nvSpPr>
        <p:spPr>
          <a:xfrm>
            <a:off x="548640" y="4434840"/>
            <a:ext cx="1009996"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Logistics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 min</a:t>
            </a:r>
            <a:endParaRPr lang="en-US" sz="1300" dirty="0"/>
          </a:p>
        </p:txBody>
      </p:sp>
      <p:sp>
        <p:nvSpPr>
          <p:cNvPr id="30" name="Shape 23"/>
          <p:cNvSpPr/>
          <p:nvPr/>
        </p:nvSpPr>
        <p:spPr>
          <a:xfrm>
            <a:off x="1558636" y="4434840"/>
            <a:ext cx="3029989" cy="640080"/>
          </a:xfrm>
          <a:prstGeom prst="rect">
            <a:avLst/>
          </a:prstGeom>
          <a:solidFill>
            <a:srgbClr val="14213D"/>
          </a:solidFill>
          <a:ln w="19050">
            <a:solidFill>
              <a:srgbClr val="FFFFFF"/>
            </a:solidFill>
            <a:prstDash val="solid"/>
          </a:ln>
        </p:spPr>
      </p:sp>
      <p:sp>
        <p:nvSpPr>
          <p:cNvPr id="31" name="Text 24"/>
          <p:cNvSpPr txBox="1"/>
          <p:nvPr/>
        </p:nvSpPr>
        <p:spPr>
          <a:xfrm>
            <a:off x="1558636" y="4434840"/>
            <a:ext cx="3029989"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 1: review</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30 min</a:t>
            </a:r>
            <a:endParaRPr lang="en-US" sz="1300" dirty="0"/>
          </a:p>
        </p:txBody>
      </p:sp>
      <p:sp>
        <p:nvSpPr>
          <p:cNvPr id="32" name="Shape 25"/>
          <p:cNvSpPr/>
          <p:nvPr/>
        </p:nvSpPr>
        <p:spPr>
          <a:xfrm>
            <a:off x="4588625" y="4434840"/>
            <a:ext cx="6059978" cy="640080"/>
          </a:xfrm>
          <a:prstGeom prst="rect">
            <a:avLst/>
          </a:prstGeom>
          <a:solidFill>
            <a:srgbClr val="B7791F"/>
          </a:solidFill>
          <a:ln w="19050">
            <a:solidFill>
              <a:srgbClr val="FFFFFF"/>
            </a:solidFill>
            <a:prstDash val="solid"/>
          </a:ln>
        </p:spPr>
      </p:sp>
      <p:sp>
        <p:nvSpPr>
          <p:cNvPr id="33" name="Text 26"/>
          <p:cNvSpPr txBox="1"/>
          <p:nvPr/>
        </p:nvSpPr>
        <p:spPr>
          <a:xfrm>
            <a:off x="4588625" y="4434840"/>
            <a:ext cx="6059978"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Parts 2–3: practice questions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60 min</a:t>
            </a:r>
            <a:endParaRPr lang="en-US" sz="1300" dirty="0"/>
          </a:p>
        </p:txBody>
      </p:sp>
      <p:sp>
        <p:nvSpPr>
          <p:cNvPr id="34" name="Shape 27"/>
          <p:cNvSpPr/>
          <p:nvPr/>
        </p:nvSpPr>
        <p:spPr>
          <a:xfrm>
            <a:off x="10648604" y="4434840"/>
            <a:ext cx="1009996" cy="640080"/>
          </a:xfrm>
          <a:prstGeom prst="rect">
            <a:avLst/>
          </a:prstGeom>
          <a:solidFill>
            <a:srgbClr val="2E9E6A"/>
          </a:solidFill>
          <a:ln w="19050">
            <a:solidFill>
              <a:srgbClr val="FFFFFF"/>
            </a:solidFill>
            <a:prstDash val="solid"/>
          </a:ln>
        </p:spPr>
      </p:sp>
      <p:sp>
        <p:nvSpPr>
          <p:cNvPr id="35" name="Text 28"/>
          <p:cNvSpPr txBox="1"/>
          <p:nvPr/>
        </p:nvSpPr>
        <p:spPr>
          <a:xfrm>
            <a:off x="10648604" y="4434840"/>
            <a:ext cx="1009996"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Strategy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 min</a:t>
            </a:r>
            <a:endParaRPr lang="en-US" sz="1300" dirty="0"/>
          </a:p>
        </p:txBody>
      </p:sp>
      <p:sp>
        <p:nvSpPr>
          <p:cNvPr id="36" name="Shape 29"/>
          <p:cNvSpPr/>
          <p:nvPr/>
        </p:nvSpPr>
        <p:spPr>
          <a:xfrm>
            <a:off x="548640" y="5257800"/>
            <a:ext cx="11109960" cy="777240"/>
          </a:xfrm>
          <a:prstGeom prst="roundRect">
            <a:avLst>
              <a:gd name="adj" fmla="val 14118"/>
            </a:avLst>
          </a:prstGeom>
          <a:solidFill>
            <a:srgbClr val="FFF6E3"/>
          </a:solidFill>
          <a:ln w="12700">
            <a:solidFill>
              <a:srgbClr val="FFF6E3"/>
            </a:solidFill>
            <a:prstDash val="solid"/>
          </a:ln>
        </p:spPr>
      </p:sp>
      <p:pic>
        <p:nvPicPr>
          <p:cNvPr id="37" name="Image 4" descr="preencoded.png">    </p:cNvPr>
          <p:cNvPicPr>
            <a:picLocks noChangeAspect="1"/>
          </p:cNvPicPr>
          <p:nvPr/>
        </p:nvPicPr>
        <p:blipFill>
          <a:blip r:embed="rId5"/>
          <a:stretch>
            <a:fillRect/>
          </a:stretch>
        </p:blipFill>
        <p:spPr>
          <a:xfrm>
            <a:off x="822960" y="5394960"/>
            <a:ext cx="502920" cy="502920"/>
          </a:xfrm>
          <a:prstGeom prst="rect">
            <a:avLst/>
          </a:prstGeom>
        </p:spPr>
      </p:pic>
      <p:sp>
        <p:nvSpPr>
          <p:cNvPr id="38" name="Text 30"/>
          <p:cNvSpPr txBox="1"/>
          <p:nvPr/>
        </p:nvSpPr>
        <p:spPr>
          <a:xfrm>
            <a:off x="1600200" y="5330952"/>
            <a:ext cx="9784080" cy="63093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Rule for today: </a:t>
            </a:r>
            <a:pPr indent="0" marL="0">
              <a:buNone/>
            </a:pPr>
            <a:r>
              <a:rPr lang="en-US" sz="1500" dirty="0">
                <a:solidFill>
                  <a:srgbClr val="333B4F"/>
                </a:solidFill>
                <a:latin typeface="Calibri" pitchFamily="34" charset="0"/>
                <a:ea typeface="Calibri" pitchFamily="34" charset="-122"/>
                <a:cs typeface="Calibri" pitchFamily="34" charset="-120"/>
              </a:rPr>
              <a:t>answer on paper BEFORE the answer slide. The exam measures what you can produce, not what you recognise.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 LOGISTICS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Final Exam at a Glance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a:t>
            </a:r>
            <a:endParaRPr lang="en-US" sz="1000" dirty="0"/>
          </a:p>
        </p:txBody>
      </p:sp>
      <p:sp>
        <p:nvSpPr>
          <p:cNvPr id="7" name="Shape 4"/>
          <p:cNvSpPr/>
          <p:nvPr/>
        </p:nvSpPr>
        <p:spPr>
          <a:xfrm>
            <a:off x="548640" y="1645920"/>
            <a:ext cx="2624328" cy="2057400"/>
          </a:xfrm>
          <a:prstGeom prst="roundRect">
            <a:avLst>
              <a:gd name="adj" fmla="val 5333"/>
            </a:avLst>
          </a:prstGeom>
          <a:solidFill>
            <a:srgbClr val="EEF1F6"/>
          </a:solidFill>
          <a:ln w="12700">
            <a:solidFill>
              <a:srgbClr val="EEF1F6"/>
            </a:solidFill>
            <a:prstDash val="solid"/>
          </a:ln>
        </p:spPr>
      </p:sp>
      <p:sp>
        <p:nvSpPr>
          <p:cNvPr id="8" name="Shape 5"/>
          <p:cNvSpPr/>
          <p:nvPr/>
        </p:nvSpPr>
        <p:spPr>
          <a:xfrm>
            <a:off x="777240" y="1874520"/>
            <a:ext cx="566928" cy="566928"/>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924641" y="2021921"/>
            <a:ext cx="272125" cy="272125"/>
          </a:xfrm>
          <a:prstGeom prst="rect">
            <a:avLst/>
          </a:prstGeom>
        </p:spPr>
      </p:pic>
      <p:sp>
        <p:nvSpPr>
          <p:cNvPr id="10" name="Text 6"/>
          <p:cNvSpPr txBox="1"/>
          <p:nvPr/>
        </p:nvSpPr>
        <p:spPr>
          <a:xfrm>
            <a:off x="1463040"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When &amp; where</a:t>
            </a:r>
            <a:endParaRPr lang="en-US" sz="1700" dirty="0"/>
          </a:p>
        </p:txBody>
      </p:sp>
      <p:sp>
        <p:nvSpPr>
          <p:cNvPr id="11" name="Text 7"/>
          <p:cNvSpPr txBox="1"/>
          <p:nvPr/>
        </p:nvSpPr>
        <p:spPr>
          <a:xfrm>
            <a:off x="777240"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Date, room and duration: announced on the course group.</a:t>
            </a:r>
            <a:endParaRPr lang="en-US" sz="1400" dirty="0"/>
          </a:p>
        </p:txBody>
      </p:sp>
      <p:sp>
        <p:nvSpPr>
          <p:cNvPr id="12" name="Shape 8"/>
          <p:cNvSpPr/>
          <p:nvPr/>
        </p:nvSpPr>
        <p:spPr>
          <a:xfrm>
            <a:off x="3310128" y="1645920"/>
            <a:ext cx="2624328" cy="2057400"/>
          </a:xfrm>
          <a:prstGeom prst="roundRect">
            <a:avLst>
              <a:gd name="adj" fmla="val 5333"/>
            </a:avLst>
          </a:prstGeom>
          <a:solidFill>
            <a:srgbClr val="EEF1F6"/>
          </a:solidFill>
          <a:ln w="12700">
            <a:solidFill>
              <a:srgbClr val="EEF1F6"/>
            </a:solidFill>
            <a:prstDash val="solid"/>
          </a:ln>
        </p:spPr>
      </p:sp>
      <p:sp>
        <p:nvSpPr>
          <p:cNvPr id="13" name="Shape 9"/>
          <p:cNvSpPr/>
          <p:nvPr/>
        </p:nvSpPr>
        <p:spPr>
          <a:xfrm>
            <a:off x="3538728" y="1874520"/>
            <a:ext cx="566928" cy="566928"/>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686129" y="2021921"/>
            <a:ext cx="272125" cy="272125"/>
          </a:xfrm>
          <a:prstGeom prst="rect">
            <a:avLst/>
          </a:prstGeom>
        </p:spPr>
      </p:pic>
      <p:sp>
        <p:nvSpPr>
          <p:cNvPr id="15" name="Text 10"/>
          <p:cNvSpPr txBox="1"/>
          <p:nvPr/>
        </p:nvSpPr>
        <p:spPr>
          <a:xfrm>
            <a:off x="4224528"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Materials</a:t>
            </a:r>
            <a:endParaRPr lang="en-US" sz="1700" dirty="0"/>
          </a:p>
        </p:txBody>
      </p:sp>
      <p:sp>
        <p:nvSpPr>
          <p:cNvPr id="16" name="Text 11"/>
          <p:cNvSpPr txBox="1"/>
          <p:nvPr/>
        </p:nvSpPr>
        <p:spPr>
          <a:xfrm>
            <a:off x="3538728"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Expected closed book, as in the midterm. Confirmed in class.</a:t>
            </a:r>
            <a:endParaRPr lang="en-US" sz="1400" dirty="0"/>
          </a:p>
        </p:txBody>
      </p:sp>
      <p:sp>
        <p:nvSpPr>
          <p:cNvPr id="17" name="Shape 12"/>
          <p:cNvSpPr/>
          <p:nvPr/>
        </p:nvSpPr>
        <p:spPr>
          <a:xfrm>
            <a:off x="6071616" y="1645920"/>
            <a:ext cx="2624328" cy="2057400"/>
          </a:xfrm>
          <a:prstGeom prst="roundRect">
            <a:avLst>
              <a:gd name="adj" fmla="val 5333"/>
            </a:avLst>
          </a:prstGeom>
          <a:solidFill>
            <a:srgbClr val="EEF1F6"/>
          </a:solidFill>
          <a:ln w="12700">
            <a:solidFill>
              <a:srgbClr val="EEF1F6"/>
            </a:solidFill>
            <a:prstDash val="solid"/>
          </a:ln>
        </p:spPr>
      </p:sp>
      <p:sp>
        <p:nvSpPr>
          <p:cNvPr id="18" name="Shape 13"/>
          <p:cNvSpPr/>
          <p:nvPr/>
        </p:nvSpPr>
        <p:spPr>
          <a:xfrm>
            <a:off x="6300216" y="1874520"/>
            <a:ext cx="566928" cy="566928"/>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6447617" y="2021921"/>
            <a:ext cx="272125" cy="272125"/>
          </a:xfrm>
          <a:prstGeom prst="rect">
            <a:avLst/>
          </a:prstGeom>
        </p:spPr>
      </p:pic>
      <p:sp>
        <p:nvSpPr>
          <p:cNvPr id="20" name="Text 14"/>
          <p:cNvSpPr txBox="1"/>
          <p:nvPr/>
        </p:nvSpPr>
        <p:spPr>
          <a:xfrm>
            <a:off x="6986016" y="187452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Bring</a:t>
            </a:r>
            <a:endParaRPr lang="en-US" sz="1700" dirty="0"/>
          </a:p>
        </p:txBody>
      </p:sp>
      <p:sp>
        <p:nvSpPr>
          <p:cNvPr id="21" name="Text 15"/>
          <p:cNvSpPr txBox="1"/>
          <p:nvPr/>
        </p:nvSpPr>
        <p:spPr>
          <a:xfrm>
            <a:off x="6300216" y="256032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Student ID card, pen. Pencil and eraser for diagrams and traces.</a:t>
            </a:r>
            <a:endParaRPr lang="en-US" sz="1400" dirty="0"/>
          </a:p>
        </p:txBody>
      </p:sp>
      <p:sp>
        <p:nvSpPr>
          <p:cNvPr id="22" name="Shape 16"/>
          <p:cNvSpPr/>
          <p:nvPr/>
        </p:nvSpPr>
        <p:spPr>
          <a:xfrm>
            <a:off x="548640" y="3886200"/>
            <a:ext cx="2624328" cy="2057400"/>
          </a:xfrm>
          <a:prstGeom prst="roundRect">
            <a:avLst>
              <a:gd name="adj" fmla="val 5333"/>
            </a:avLst>
          </a:prstGeom>
          <a:solidFill>
            <a:srgbClr val="EEF1F6"/>
          </a:solidFill>
          <a:ln w="12700">
            <a:solidFill>
              <a:srgbClr val="EEF1F6"/>
            </a:solidFill>
            <a:prstDash val="solid"/>
          </a:ln>
        </p:spPr>
      </p:sp>
      <p:sp>
        <p:nvSpPr>
          <p:cNvPr id="23" name="Shape 17"/>
          <p:cNvSpPr/>
          <p:nvPr/>
        </p:nvSpPr>
        <p:spPr>
          <a:xfrm>
            <a:off x="777240" y="4114800"/>
            <a:ext cx="566928" cy="566928"/>
          </a:xfrm>
          <a:prstGeom prst="ellipse">
            <a:avLst/>
          </a:prstGeom>
          <a:solidFill>
            <a:srgbClr val="FCA311"/>
          </a:solidFill>
          <a:ln w="12700">
            <a:solidFill>
              <a:srgbClr val="FCA311"/>
            </a:solidFill>
            <a:prstDash val="solid"/>
          </a:ln>
        </p:spPr>
      </p:sp>
      <p:pic>
        <p:nvPicPr>
          <p:cNvPr id="24" name="Image 3" descr="preencoded.png">    </p:cNvPr>
          <p:cNvPicPr>
            <a:picLocks noChangeAspect="1"/>
          </p:cNvPicPr>
          <p:nvPr/>
        </p:nvPicPr>
        <p:blipFill>
          <a:blip r:embed="rId4"/>
          <a:stretch>
            <a:fillRect/>
          </a:stretch>
        </p:blipFill>
        <p:spPr>
          <a:xfrm>
            <a:off x="924641" y="4262201"/>
            <a:ext cx="272125" cy="272125"/>
          </a:xfrm>
          <a:prstGeom prst="rect">
            <a:avLst/>
          </a:prstGeom>
        </p:spPr>
      </p:pic>
      <p:sp>
        <p:nvSpPr>
          <p:cNvPr id="25" name="Text 18"/>
          <p:cNvSpPr txBox="1"/>
          <p:nvPr/>
        </p:nvSpPr>
        <p:spPr>
          <a:xfrm>
            <a:off x="1463040"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Weight</a:t>
            </a:r>
            <a:endParaRPr lang="en-US" sz="1700" dirty="0"/>
          </a:p>
        </p:txBody>
      </p:sp>
      <p:sp>
        <p:nvSpPr>
          <p:cNvPr id="26" name="Text 19"/>
          <p:cNvSpPr txBox="1"/>
          <p:nvPr/>
        </p:nvSpPr>
        <p:spPr>
          <a:xfrm>
            <a:off x="777240"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Final 60 % · Midterm 40 % of the course grade.</a:t>
            </a:r>
            <a:endParaRPr lang="en-US" sz="1400" dirty="0"/>
          </a:p>
        </p:txBody>
      </p:sp>
      <p:sp>
        <p:nvSpPr>
          <p:cNvPr id="27" name="Shape 20"/>
          <p:cNvSpPr/>
          <p:nvPr/>
        </p:nvSpPr>
        <p:spPr>
          <a:xfrm>
            <a:off x="3310128" y="3886200"/>
            <a:ext cx="2624328" cy="2057400"/>
          </a:xfrm>
          <a:prstGeom prst="roundRect">
            <a:avLst>
              <a:gd name="adj" fmla="val 5333"/>
            </a:avLst>
          </a:prstGeom>
          <a:solidFill>
            <a:srgbClr val="EEF1F6"/>
          </a:solidFill>
          <a:ln w="12700">
            <a:solidFill>
              <a:srgbClr val="EEF1F6"/>
            </a:solidFill>
            <a:prstDash val="solid"/>
          </a:ln>
        </p:spPr>
      </p:sp>
      <p:sp>
        <p:nvSpPr>
          <p:cNvPr id="28" name="Shape 21"/>
          <p:cNvSpPr/>
          <p:nvPr/>
        </p:nvSpPr>
        <p:spPr>
          <a:xfrm>
            <a:off x="3538728" y="4114800"/>
            <a:ext cx="566928" cy="566928"/>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3686129" y="4262201"/>
            <a:ext cx="272125" cy="272125"/>
          </a:xfrm>
          <a:prstGeom prst="rect">
            <a:avLst/>
          </a:prstGeom>
        </p:spPr>
      </p:pic>
      <p:sp>
        <p:nvSpPr>
          <p:cNvPr id="30" name="Text 22"/>
          <p:cNvSpPr txBox="1"/>
          <p:nvPr/>
        </p:nvSpPr>
        <p:spPr>
          <a:xfrm>
            <a:off x="4224528"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Calculators</a:t>
            </a:r>
            <a:endParaRPr lang="en-US" sz="1700" dirty="0"/>
          </a:p>
        </p:txBody>
      </p:sp>
      <p:sp>
        <p:nvSpPr>
          <p:cNvPr id="31" name="Text 23"/>
          <p:cNvSpPr txBox="1"/>
          <p:nvPr/>
        </p:nvSpPr>
        <p:spPr>
          <a:xfrm>
            <a:off x="3538728"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Not needed for any question type. Policy: announced in class.</a:t>
            </a:r>
            <a:endParaRPr lang="en-US" sz="1400" dirty="0"/>
          </a:p>
        </p:txBody>
      </p:sp>
      <p:sp>
        <p:nvSpPr>
          <p:cNvPr id="32" name="Shape 24"/>
          <p:cNvSpPr/>
          <p:nvPr/>
        </p:nvSpPr>
        <p:spPr>
          <a:xfrm>
            <a:off x="6071616" y="3886200"/>
            <a:ext cx="2624328" cy="2057400"/>
          </a:xfrm>
          <a:prstGeom prst="roundRect">
            <a:avLst>
              <a:gd name="adj" fmla="val 5333"/>
            </a:avLst>
          </a:prstGeom>
          <a:solidFill>
            <a:srgbClr val="EEF1F6"/>
          </a:solidFill>
          <a:ln w="12700">
            <a:solidFill>
              <a:srgbClr val="EEF1F6"/>
            </a:solidFill>
            <a:prstDash val="solid"/>
          </a:ln>
        </p:spPr>
      </p:sp>
      <p:sp>
        <p:nvSpPr>
          <p:cNvPr id="33" name="Shape 25"/>
          <p:cNvSpPr/>
          <p:nvPr/>
        </p:nvSpPr>
        <p:spPr>
          <a:xfrm>
            <a:off x="6300216" y="4114800"/>
            <a:ext cx="566928" cy="566928"/>
          </a:xfrm>
          <a:prstGeom prst="ellipse">
            <a:avLst/>
          </a:prstGeom>
          <a:solidFill>
            <a:srgbClr val="14213D"/>
          </a:solidFill>
          <a:ln w="12700">
            <a:solidFill>
              <a:srgbClr val="14213D"/>
            </a:solidFill>
            <a:prstDash val="solid"/>
          </a:ln>
        </p:spPr>
      </p:sp>
      <p:pic>
        <p:nvPicPr>
          <p:cNvPr id="34" name="Image 5" descr="preencoded.png">    </p:cNvPr>
          <p:cNvPicPr>
            <a:picLocks noChangeAspect="1"/>
          </p:cNvPicPr>
          <p:nvPr/>
        </p:nvPicPr>
        <p:blipFill>
          <a:blip r:embed="rId6"/>
          <a:stretch>
            <a:fillRect/>
          </a:stretch>
        </p:blipFill>
        <p:spPr>
          <a:xfrm>
            <a:off x="6447617" y="4262201"/>
            <a:ext cx="272125" cy="272125"/>
          </a:xfrm>
          <a:prstGeom prst="rect">
            <a:avLst/>
          </a:prstGeom>
        </p:spPr>
      </p:pic>
      <p:sp>
        <p:nvSpPr>
          <p:cNvPr id="35" name="Text 26"/>
          <p:cNvSpPr txBox="1"/>
          <p:nvPr/>
        </p:nvSpPr>
        <p:spPr>
          <a:xfrm>
            <a:off x="6986016" y="4114800"/>
            <a:ext cx="1527048"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Scope</a:t>
            </a:r>
            <a:endParaRPr lang="en-US" sz="1700" dirty="0"/>
          </a:p>
        </p:txBody>
      </p:sp>
      <p:sp>
        <p:nvSpPr>
          <p:cNvPr id="36" name="Text 27"/>
          <p:cNvSpPr txBox="1"/>
          <p:nvPr/>
        </p:nvSpPr>
        <p:spPr>
          <a:xfrm>
            <a:off x="6300216" y="4800600"/>
            <a:ext cx="2167128" cy="100584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Weeks 1–14, cumulative. Focus on Weeks 9–14.</a:t>
            </a:r>
            <a:endParaRPr lang="en-US" sz="1400" dirty="0"/>
          </a:p>
        </p:txBody>
      </p:sp>
      <p:sp>
        <p:nvSpPr>
          <p:cNvPr id="37" name="Shape 28"/>
          <p:cNvSpPr/>
          <p:nvPr/>
        </p:nvSpPr>
        <p:spPr>
          <a:xfrm>
            <a:off x="8915400" y="1645920"/>
            <a:ext cx="2743200" cy="4297680"/>
          </a:xfrm>
          <a:prstGeom prst="roundRect">
            <a:avLst>
              <a:gd name="adj" fmla="val 4000"/>
            </a:avLst>
          </a:prstGeom>
          <a:solidFill>
            <a:srgbClr val="14213D"/>
          </a:solidFill>
          <a:ln w="12700">
            <a:solidFill>
              <a:srgbClr val="14213D"/>
            </a:solidFill>
            <a:prstDash val="solid"/>
          </a:ln>
        </p:spPr>
      </p:sp>
      <p:sp>
        <p:nvSpPr>
          <p:cNvPr id="38" name="Text 29"/>
          <p:cNvSpPr txBox="1"/>
          <p:nvPr/>
        </p:nvSpPr>
        <p:spPr>
          <a:xfrm>
            <a:off x="9326880" y="1965960"/>
            <a:ext cx="1920240" cy="1920240"/>
          </a:xfrm>
          <a:prstGeom prst="rect">
            <a:avLst/>
          </a:prstGeom>
          <a:noFill/>
          <a:ln/>
        </p:spPr>
        <p:txBody>
          <a:bodyPr wrap="square" lIns="0" tIns="0" rIns="0" bIns="0" rtlCol="0" anchor="ctr"/>
          <a:lstStyle/>
          <a:p>
            <a:pPr algn="ctr" indent="0" marL="0">
              <a:buNone/>
            </a:pPr>
            <a:r>
              <a:rPr lang="en-US" sz="5400" b="1" dirty="0">
                <a:solidFill>
                  <a:srgbClr val="FCA311"/>
                </a:solidFill>
                <a:latin typeface="Courier New" pitchFamily="34" charset="0"/>
                <a:ea typeface="Courier New" pitchFamily="34" charset="-122"/>
                <a:cs typeface="Courier New" pitchFamily="34" charset="-120"/>
              </a:rPr>
              <a:t>&gt;_</a:t>
            </a:r>
            <a:endParaRPr lang="en-US" sz="5400" dirty="0"/>
          </a:p>
        </p:txBody>
      </p:sp>
      <p:sp>
        <p:nvSpPr>
          <p:cNvPr id="39" name="Text 30"/>
          <p:cNvSpPr txBox="1"/>
          <p:nvPr/>
        </p:nvSpPr>
        <p:spPr>
          <a:xfrm>
            <a:off x="9052560" y="4023360"/>
            <a:ext cx="2468880" cy="36576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Announcements</a:t>
            </a:r>
            <a:endParaRPr lang="en-US" sz="1400" dirty="0"/>
          </a:p>
        </p:txBody>
      </p:sp>
      <p:sp>
        <p:nvSpPr>
          <p:cNvPr id="40" name="Text 31"/>
          <p:cNvSpPr txBox="1"/>
          <p:nvPr/>
        </p:nvSpPr>
        <p:spPr>
          <a:xfrm>
            <a:off x="9098280" y="4434840"/>
            <a:ext cx="2377440" cy="1280160"/>
          </a:xfrm>
          <a:prstGeom prst="rect">
            <a:avLst/>
          </a:prstGeom>
          <a:noFill/>
          <a:ln/>
        </p:spPr>
        <p:txBody>
          <a:bodyPr wrap="square" lIns="0" tIns="0" rIns="0" bIns="0" rtlCol="0" anchor="t"/>
          <a:lstStyle/>
          <a:p>
            <a:pPr algn="ctr" indent="0" marL="0">
              <a:buNone/>
            </a:pPr>
            <a:r>
              <a:rPr lang="en-US" sz="1300" dirty="0">
                <a:solidFill>
                  <a:srgbClr val="FFFFFF"/>
                </a:solidFill>
                <a:latin typeface="Calibri" pitchFamily="34" charset="0"/>
                <a:ea typeface="Calibri" pitchFamily="34" charset="-122"/>
                <a:cs typeface="Calibri" pitchFamily="34" charset="-120"/>
              </a:rPr>
              <a:t>Official date, room, duration and exam rules are announced in class and on the course page.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SCOPE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What the Final Covers: Weeks 1–14</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731520"/>
                <a:gridCol w="3017520"/>
                <a:gridCol w="6172200"/>
                <a:gridCol w="1188720"/>
              </a:tblGrid>
              <a:tr h="36576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Week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Topic</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Typical final-exam task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Algorithms, flowcharts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pseudocode, flowchart of a loop with a decision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Types, variables, operators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evaluate expressions; integer division; casts; Parse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if/switch, for, while, do-while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inside every program; validation loops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basis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1-D arrays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indices, Length, traversal, reference vs copy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Searching, sorting, max/min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trace linear/binary search, bubble/selection passes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Matrices (2-D arrays)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nested loops, row/column sums, diagonals, output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Methods, parameters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write methods; value vs ref vs array parameters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return, void, scope, recursion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every path returns; scope errors; recursion trace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Files, try/catch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ReadAllLines/StreamReader, Split CSV, exceptions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7791F"/>
                          </a:solidFill>
                          <a:latin typeface="Calibri" pitchFamily="34" charset="0"/>
                          <a:ea typeface="Calibri" pitchFamily="34" charset="-122"/>
                          <a:cs typeface="Calibri" pitchFamily="34" charset="-120"/>
                        </a:rPr>
                        <a:t>FOCUS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 y="5486400"/>
            <a:ext cx="11109960" cy="566928"/>
          </a:xfrm>
          <a:prstGeom prst="roundRect">
            <a:avLst>
              <a:gd name="adj" fmla="val 19355"/>
            </a:avLst>
          </a:prstGeom>
          <a:solidFill>
            <a:srgbClr val="FFF6E3"/>
          </a:solidFill>
          <a:ln w="12700">
            <a:solidFill>
              <a:srgbClr val="FFF6E3"/>
            </a:solidFill>
            <a:prstDash val="solid"/>
          </a:ln>
        </p:spPr>
      </p:sp>
      <p:pic>
        <p:nvPicPr>
          <p:cNvPr id="9" name="Image 0" descr="preencoded.png">    </p:cNvPr>
          <p:cNvPicPr>
            <a:picLocks noChangeAspect="1"/>
          </p:cNvPicPr>
          <p:nvPr/>
        </p:nvPicPr>
        <p:blipFill>
          <a:blip r:embed="rId1"/>
          <a:stretch>
            <a:fillRect/>
          </a:stretch>
        </p:blipFill>
        <p:spPr>
          <a:xfrm>
            <a:off x="822960" y="5623560"/>
            <a:ext cx="292608" cy="292608"/>
          </a:xfrm>
          <a:prstGeom prst="rect">
            <a:avLst/>
          </a:prstGeom>
        </p:spPr>
      </p:pic>
      <p:sp>
        <p:nvSpPr>
          <p:cNvPr id="10" name="Text 5"/>
          <p:cNvSpPr txBox="1"/>
          <p:nvPr/>
        </p:nvSpPr>
        <p:spPr>
          <a:xfrm>
            <a:off x="1389888" y="5559552"/>
            <a:ext cx="9994392" cy="420624"/>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Still not allowed in answers: </a:t>
            </a:r>
            <a:pPr indent="0" marL="0">
              <a:buNone/>
            </a:pPr>
            <a:r>
              <a:rPr lang="en-US" sz="1400" dirty="0">
                <a:solidFill>
                  <a:srgbClr val="333B4F"/>
                </a:solidFill>
                <a:latin typeface="Calibri" pitchFamily="34" charset="0"/>
                <a:ea typeface="Calibri" pitchFamily="34" charset="-122"/>
                <a:cs typeface="Calibri" pitchFamily="34" charset="-120"/>
              </a:rPr>
              <a:t>LINQ (.Max(), .Sum() …) and List&lt;T&gt;. Use arrays and loops.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RECAP</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Semester in One Picture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5</a:t>
            </a:r>
            <a:endParaRPr lang="en-US" sz="1000" dirty="0"/>
          </a:p>
        </p:txBody>
      </p:sp>
      <p:sp>
        <p:nvSpPr>
          <p:cNvPr id="7" name="Text 4"/>
          <p:cNvSpPr txBox="1"/>
          <p:nvPr/>
        </p:nvSpPr>
        <p:spPr>
          <a:xfrm>
            <a:off x="548640" y="1691640"/>
            <a:ext cx="1463040" cy="1280160"/>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DATA</a:t>
            </a:r>
            <a:endParaRPr lang="en-US" sz="1600" dirty="0"/>
          </a:p>
        </p:txBody>
      </p:sp>
      <p:sp>
        <p:nvSpPr>
          <p:cNvPr id="8" name="Shape 5"/>
          <p:cNvSpPr/>
          <p:nvPr/>
        </p:nvSpPr>
        <p:spPr>
          <a:xfrm>
            <a:off x="2011680" y="1691640"/>
            <a:ext cx="2011680" cy="1280160"/>
          </a:xfrm>
          <a:prstGeom prst="roundRect">
            <a:avLst>
              <a:gd name="adj" fmla="val 8571"/>
            </a:avLst>
          </a:prstGeom>
          <a:solidFill>
            <a:srgbClr val="EEF1F6"/>
          </a:solidFill>
          <a:ln w="12700">
            <a:solidFill>
              <a:srgbClr val="EEF1F6"/>
            </a:solidFill>
            <a:prstDash val="solid"/>
          </a:ln>
        </p:spPr>
      </p:sp>
      <p:sp>
        <p:nvSpPr>
          <p:cNvPr id="9" name="Text 6"/>
          <p:cNvSpPr txBox="1"/>
          <p:nvPr/>
        </p:nvSpPr>
        <p:spPr>
          <a:xfrm>
            <a:off x="2103120" y="180136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variable</a:t>
            </a:r>
            <a:endParaRPr lang="en-US" sz="1700" dirty="0"/>
          </a:p>
        </p:txBody>
      </p:sp>
      <p:sp>
        <p:nvSpPr>
          <p:cNvPr id="10" name="Text 7"/>
          <p:cNvSpPr txBox="1"/>
          <p:nvPr/>
        </p:nvSpPr>
        <p:spPr>
          <a:xfrm>
            <a:off x="2103120" y="2221992"/>
            <a:ext cx="1828800" cy="365760"/>
          </a:xfrm>
          <a:prstGeom prst="rect">
            <a:avLst/>
          </a:prstGeom>
          <a:noFill/>
          <a:ln/>
        </p:spPr>
        <p:txBody>
          <a:bodyPr wrap="square" lIns="0" tIns="0" rIns="0" bIns="0" rtlCol="0" anchor="ctr"/>
          <a:lstStyle/>
          <a:p>
            <a:pPr algn="ctr" indent="0" marL="0">
              <a:buNone/>
            </a:pPr>
            <a:r>
              <a:rPr lang="en-US" sz="1300" dirty="0">
                <a:solidFill>
                  <a:srgbClr val="2F6FB3"/>
                </a:solidFill>
                <a:latin typeface="Courier New" pitchFamily="34" charset="0"/>
                <a:ea typeface="Courier New" pitchFamily="34" charset="-122"/>
                <a:cs typeface="Courier New" pitchFamily="34" charset="-120"/>
              </a:rPr>
              <a:t>int x</a:t>
            </a:r>
            <a:endParaRPr lang="en-US" sz="1300" dirty="0"/>
          </a:p>
        </p:txBody>
      </p:sp>
      <p:sp>
        <p:nvSpPr>
          <p:cNvPr id="11" name="Text 8"/>
          <p:cNvSpPr txBox="1"/>
          <p:nvPr/>
        </p:nvSpPr>
        <p:spPr>
          <a:xfrm>
            <a:off x="2103120" y="258775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W3</a:t>
            </a:r>
            <a:endParaRPr lang="en-US" sz="1200" dirty="0"/>
          </a:p>
        </p:txBody>
      </p:sp>
      <p:sp>
        <p:nvSpPr>
          <p:cNvPr id="12" name="Shape 9"/>
          <p:cNvSpPr/>
          <p:nvPr/>
        </p:nvSpPr>
        <p:spPr>
          <a:xfrm>
            <a:off x="4041648" y="2331720"/>
            <a:ext cx="393192" cy="0"/>
          </a:xfrm>
          <a:prstGeom prst="line">
            <a:avLst/>
          </a:prstGeom>
          <a:noFill/>
          <a:ln w="15875">
            <a:solidFill>
              <a:srgbClr val="14213D"/>
            </a:solidFill>
            <a:prstDash val="solid"/>
            <a:tailEnd type="triangle"/>
          </a:ln>
        </p:spPr>
      </p:sp>
      <p:sp>
        <p:nvSpPr>
          <p:cNvPr id="13" name="Shape 10"/>
          <p:cNvSpPr/>
          <p:nvPr/>
        </p:nvSpPr>
        <p:spPr>
          <a:xfrm>
            <a:off x="4453128" y="1691640"/>
            <a:ext cx="2011680" cy="1280160"/>
          </a:xfrm>
          <a:prstGeom prst="roundRect">
            <a:avLst>
              <a:gd name="adj" fmla="val 8571"/>
            </a:avLst>
          </a:prstGeom>
          <a:solidFill>
            <a:srgbClr val="EEF1F6"/>
          </a:solidFill>
          <a:ln w="12700">
            <a:solidFill>
              <a:srgbClr val="EEF1F6"/>
            </a:solidFill>
            <a:prstDash val="solid"/>
          </a:ln>
        </p:spPr>
      </p:sp>
      <p:sp>
        <p:nvSpPr>
          <p:cNvPr id="14" name="Text 11"/>
          <p:cNvSpPr txBox="1"/>
          <p:nvPr/>
        </p:nvSpPr>
        <p:spPr>
          <a:xfrm>
            <a:off x="4544568" y="180136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1-D array</a:t>
            </a:r>
            <a:endParaRPr lang="en-US" sz="1700" dirty="0"/>
          </a:p>
        </p:txBody>
      </p:sp>
      <p:sp>
        <p:nvSpPr>
          <p:cNvPr id="15" name="Text 12"/>
          <p:cNvSpPr txBox="1"/>
          <p:nvPr/>
        </p:nvSpPr>
        <p:spPr>
          <a:xfrm>
            <a:off x="4544568" y="2221992"/>
            <a:ext cx="1828800" cy="365760"/>
          </a:xfrm>
          <a:prstGeom prst="rect">
            <a:avLst/>
          </a:prstGeom>
          <a:noFill/>
          <a:ln/>
        </p:spPr>
        <p:txBody>
          <a:bodyPr wrap="square" lIns="0" tIns="0" rIns="0" bIns="0" rtlCol="0" anchor="ctr"/>
          <a:lstStyle/>
          <a:p>
            <a:pPr algn="ctr" indent="0" marL="0">
              <a:buNone/>
            </a:pPr>
            <a:r>
              <a:rPr lang="en-US" sz="1300" dirty="0">
                <a:solidFill>
                  <a:srgbClr val="2F6FB3"/>
                </a:solidFill>
                <a:latin typeface="Courier New" pitchFamily="34" charset="0"/>
                <a:ea typeface="Courier New" pitchFamily="34" charset="-122"/>
                <a:cs typeface="Courier New" pitchFamily="34" charset="-120"/>
              </a:rPr>
              <a:t>int[] a</a:t>
            </a:r>
            <a:endParaRPr lang="en-US" sz="1300" dirty="0"/>
          </a:p>
        </p:txBody>
      </p:sp>
      <p:sp>
        <p:nvSpPr>
          <p:cNvPr id="16" name="Text 13"/>
          <p:cNvSpPr txBox="1"/>
          <p:nvPr/>
        </p:nvSpPr>
        <p:spPr>
          <a:xfrm>
            <a:off x="4544568" y="258775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W9</a:t>
            </a:r>
            <a:endParaRPr lang="en-US" sz="1200" dirty="0"/>
          </a:p>
        </p:txBody>
      </p:sp>
      <p:sp>
        <p:nvSpPr>
          <p:cNvPr id="17" name="Shape 14"/>
          <p:cNvSpPr/>
          <p:nvPr/>
        </p:nvSpPr>
        <p:spPr>
          <a:xfrm>
            <a:off x="6483096" y="2331720"/>
            <a:ext cx="393192" cy="0"/>
          </a:xfrm>
          <a:prstGeom prst="line">
            <a:avLst/>
          </a:prstGeom>
          <a:noFill/>
          <a:ln w="15875">
            <a:solidFill>
              <a:srgbClr val="14213D"/>
            </a:solidFill>
            <a:prstDash val="solid"/>
            <a:tailEnd type="triangle"/>
          </a:ln>
        </p:spPr>
      </p:sp>
      <p:sp>
        <p:nvSpPr>
          <p:cNvPr id="18" name="Shape 15"/>
          <p:cNvSpPr/>
          <p:nvPr/>
        </p:nvSpPr>
        <p:spPr>
          <a:xfrm>
            <a:off x="6894576" y="1691640"/>
            <a:ext cx="2011680" cy="1280160"/>
          </a:xfrm>
          <a:prstGeom prst="roundRect">
            <a:avLst>
              <a:gd name="adj" fmla="val 8571"/>
            </a:avLst>
          </a:prstGeom>
          <a:solidFill>
            <a:srgbClr val="EEF1F6"/>
          </a:solidFill>
          <a:ln w="12700">
            <a:solidFill>
              <a:srgbClr val="EEF1F6"/>
            </a:solidFill>
            <a:prstDash val="solid"/>
          </a:ln>
        </p:spPr>
      </p:sp>
      <p:sp>
        <p:nvSpPr>
          <p:cNvPr id="19" name="Text 16"/>
          <p:cNvSpPr txBox="1"/>
          <p:nvPr/>
        </p:nvSpPr>
        <p:spPr>
          <a:xfrm>
            <a:off x="6986016" y="180136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matrix</a:t>
            </a:r>
            <a:endParaRPr lang="en-US" sz="1700" dirty="0"/>
          </a:p>
        </p:txBody>
      </p:sp>
      <p:sp>
        <p:nvSpPr>
          <p:cNvPr id="20" name="Text 17"/>
          <p:cNvSpPr txBox="1"/>
          <p:nvPr/>
        </p:nvSpPr>
        <p:spPr>
          <a:xfrm>
            <a:off x="6986016" y="2221992"/>
            <a:ext cx="1828800" cy="365760"/>
          </a:xfrm>
          <a:prstGeom prst="rect">
            <a:avLst/>
          </a:prstGeom>
          <a:noFill/>
          <a:ln/>
        </p:spPr>
        <p:txBody>
          <a:bodyPr wrap="square" lIns="0" tIns="0" rIns="0" bIns="0" rtlCol="0" anchor="ctr"/>
          <a:lstStyle/>
          <a:p>
            <a:pPr algn="ctr" indent="0" marL="0">
              <a:buNone/>
            </a:pPr>
            <a:r>
              <a:rPr lang="en-US" sz="1300" dirty="0">
                <a:solidFill>
                  <a:srgbClr val="2F6FB3"/>
                </a:solidFill>
                <a:latin typeface="Courier New" pitchFamily="34" charset="0"/>
                <a:ea typeface="Courier New" pitchFamily="34" charset="-122"/>
                <a:cs typeface="Courier New" pitchFamily="34" charset="-120"/>
              </a:rPr>
              <a:t>int[,] m</a:t>
            </a:r>
            <a:endParaRPr lang="en-US" sz="1300" dirty="0"/>
          </a:p>
        </p:txBody>
      </p:sp>
      <p:sp>
        <p:nvSpPr>
          <p:cNvPr id="21" name="Text 18"/>
          <p:cNvSpPr txBox="1"/>
          <p:nvPr/>
        </p:nvSpPr>
        <p:spPr>
          <a:xfrm>
            <a:off x="6986016" y="258775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W11</a:t>
            </a:r>
            <a:endParaRPr lang="en-US" sz="1200" dirty="0"/>
          </a:p>
        </p:txBody>
      </p:sp>
      <p:sp>
        <p:nvSpPr>
          <p:cNvPr id="22" name="Shape 19"/>
          <p:cNvSpPr/>
          <p:nvPr/>
        </p:nvSpPr>
        <p:spPr>
          <a:xfrm>
            <a:off x="8924544" y="2331720"/>
            <a:ext cx="393192" cy="0"/>
          </a:xfrm>
          <a:prstGeom prst="line">
            <a:avLst/>
          </a:prstGeom>
          <a:noFill/>
          <a:ln w="15875">
            <a:solidFill>
              <a:srgbClr val="14213D"/>
            </a:solidFill>
            <a:prstDash val="solid"/>
            <a:tailEnd type="triangle"/>
          </a:ln>
        </p:spPr>
      </p:sp>
      <p:sp>
        <p:nvSpPr>
          <p:cNvPr id="23" name="Shape 20"/>
          <p:cNvSpPr/>
          <p:nvPr/>
        </p:nvSpPr>
        <p:spPr>
          <a:xfrm>
            <a:off x="9336024" y="1691640"/>
            <a:ext cx="2011680" cy="1280160"/>
          </a:xfrm>
          <a:prstGeom prst="roundRect">
            <a:avLst>
              <a:gd name="adj" fmla="val 8571"/>
            </a:avLst>
          </a:prstGeom>
          <a:solidFill>
            <a:srgbClr val="FFF6E3"/>
          </a:solidFill>
          <a:ln w="12700">
            <a:solidFill>
              <a:srgbClr val="FFF6E3"/>
            </a:solidFill>
            <a:prstDash val="solid"/>
          </a:ln>
        </p:spPr>
      </p:sp>
      <p:sp>
        <p:nvSpPr>
          <p:cNvPr id="24" name="Text 21"/>
          <p:cNvSpPr txBox="1"/>
          <p:nvPr/>
        </p:nvSpPr>
        <p:spPr>
          <a:xfrm>
            <a:off x="9427464" y="180136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file</a:t>
            </a:r>
            <a:endParaRPr lang="en-US" sz="1700" dirty="0"/>
          </a:p>
        </p:txBody>
      </p:sp>
      <p:sp>
        <p:nvSpPr>
          <p:cNvPr id="25" name="Text 22"/>
          <p:cNvSpPr txBox="1"/>
          <p:nvPr/>
        </p:nvSpPr>
        <p:spPr>
          <a:xfrm>
            <a:off x="9427464" y="2221992"/>
            <a:ext cx="1828800" cy="365760"/>
          </a:xfrm>
          <a:prstGeom prst="rect">
            <a:avLst/>
          </a:prstGeom>
          <a:noFill/>
          <a:ln/>
        </p:spPr>
        <p:txBody>
          <a:bodyPr wrap="square" lIns="0" tIns="0" rIns="0" bIns="0" rtlCol="0" anchor="ctr"/>
          <a:lstStyle/>
          <a:p>
            <a:pPr algn="ctr" indent="0" marL="0">
              <a:buNone/>
            </a:pPr>
            <a:r>
              <a:rPr lang="en-US" sz="1300" dirty="0">
                <a:solidFill>
                  <a:srgbClr val="2F6FB3"/>
                </a:solidFill>
                <a:latin typeface="Courier New" pitchFamily="34" charset="0"/>
                <a:ea typeface="Courier New" pitchFamily="34" charset="-122"/>
                <a:cs typeface="Courier New" pitchFamily="34" charset="-120"/>
              </a:rPr>
              <a:t>grades.csv</a:t>
            </a:r>
            <a:endParaRPr lang="en-US" sz="1300" dirty="0"/>
          </a:p>
        </p:txBody>
      </p:sp>
      <p:sp>
        <p:nvSpPr>
          <p:cNvPr id="26" name="Text 23"/>
          <p:cNvSpPr txBox="1"/>
          <p:nvPr/>
        </p:nvSpPr>
        <p:spPr>
          <a:xfrm>
            <a:off x="9427464" y="258775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W14</a:t>
            </a:r>
            <a:endParaRPr lang="en-US" sz="1200" dirty="0"/>
          </a:p>
        </p:txBody>
      </p:sp>
      <p:sp>
        <p:nvSpPr>
          <p:cNvPr id="27" name="Text 24"/>
          <p:cNvSpPr txBox="1"/>
          <p:nvPr/>
        </p:nvSpPr>
        <p:spPr>
          <a:xfrm>
            <a:off x="548640" y="3474720"/>
            <a:ext cx="1463040" cy="1280160"/>
          </a:xfrm>
          <a:prstGeom prst="rect">
            <a:avLst/>
          </a:prstGeom>
          <a:noFill/>
          <a:ln/>
        </p:spPr>
        <p:txBody>
          <a:bodyPr wrap="square" lIns="0" tIns="0" rIns="0" bIns="0" rtlCol="0" anchor="ctr"/>
          <a:lstStyle/>
          <a:p>
            <a:pPr indent="0" marL="0">
              <a:buNone/>
            </a:pPr>
            <a:r>
              <a:rPr lang="en-US" sz="1600" b="1" dirty="0">
                <a:solidFill>
                  <a:srgbClr val="2E9E6A"/>
                </a:solidFill>
                <a:latin typeface="Courier New" pitchFamily="34" charset="0"/>
                <a:ea typeface="Courier New" pitchFamily="34" charset="-122"/>
                <a:cs typeface="Courier New" pitchFamily="34" charset="-120"/>
              </a:rPr>
              <a:t>CONTROL</a:t>
            </a:r>
            <a:endParaRPr lang="en-US" sz="1600" dirty="0"/>
          </a:p>
        </p:txBody>
      </p:sp>
      <p:sp>
        <p:nvSpPr>
          <p:cNvPr id="28" name="Shape 25"/>
          <p:cNvSpPr/>
          <p:nvPr/>
        </p:nvSpPr>
        <p:spPr>
          <a:xfrm>
            <a:off x="2011680" y="3474720"/>
            <a:ext cx="2011680" cy="1280160"/>
          </a:xfrm>
          <a:prstGeom prst="roundRect">
            <a:avLst>
              <a:gd name="adj" fmla="val 8571"/>
            </a:avLst>
          </a:prstGeom>
          <a:solidFill>
            <a:srgbClr val="EEF1F6"/>
          </a:solidFill>
          <a:ln w="12700">
            <a:solidFill>
              <a:srgbClr val="EEF1F6"/>
            </a:solidFill>
            <a:prstDash val="solid"/>
          </a:ln>
        </p:spPr>
      </p:sp>
      <p:sp>
        <p:nvSpPr>
          <p:cNvPr id="29" name="Text 26"/>
          <p:cNvSpPr txBox="1"/>
          <p:nvPr/>
        </p:nvSpPr>
        <p:spPr>
          <a:xfrm>
            <a:off x="2103120" y="358444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3 structures</a:t>
            </a:r>
            <a:endParaRPr lang="en-US" sz="1700" dirty="0"/>
          </a:p>
        </p:txBody>
      </p:sp>
      <p:sp>
        <p:nvSpPr>
          <p:cNvPr id="30" name="Text 27"/>
          <p:cNvSpPr txBox="1"/>
          <p:nvPr/>
        </p:nvSpPr>
        <p:spPr>
          <a:xfrm>
            <a:off x="2103120" y="4005072"/>
            <a:ext cx="1828800" cy="365760"/>
          </a:xfrm>
          <a:prstGeom prst="rect">
            <a:avLst/>
          </a:prstGeom>
          <a:noFill/>
          <a:ln/>
        </p:spPr>
        <p:txBody>
          <a:bodyPr wrap="square" lIns="0" tIns="0" rIns="0" bIns="0" rtlCol="0" anchor="ctr"/>
          <a:lstStyle/>
          <a:p>
            <a:pPr algn="ctr" indent="0" marL="0">
              <a:buNone/>
            </a:pPr>
            <a:r>
              <a:rPr lang="en-US" sz="1300" dirty="0">
                <a:solidFill>
                  <a:srgbClr val="2E9E6A"/>
                </a:solidFill>
                <a:latin typeface="Courier New" pitchFamily="34" charset="0"/>
                <a:ea typeface="Courier New" pitchFamily="34" charset="-122"/>
                <a:cs typeface="Courier New" pitchFamily="34" charset="-120"/>
              </a:rPr>
              <a:t>if · for · while</a:t>
            </a:r>
            <a:endParaRPr lang="en-US" sz="1300" dirty="0"/>
          </a:p>
        </p:txBody>
      </p:sp>
      <p:sp>
        <p:nvSpPr>
          <p:cNvPr id="31" name="Text 28"/>
          <p:cNvSpPr txBox="1"/>
          <p:nvPr/>
        </p:nvSpPr>
        <p:spPr>
          <a:xfrm>
            <a:off x="2103120" y="437083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W1–7</a:t>
            </a:r>
            <a:endParaRPr lang="en-US" sz="1200" dirty="0"/>
          </a:p>
        </p:txBody>
      </p:sp>
      <p:sp>
        <p:nvSpPr>
          <p:cNvPr id="32" name="Shape 29"/>
          <p:cNvSpPr/>
          <p:nvPr/>
        </p:nvSpPr>
        <p:spPr>
          <a:xfrm>
            <a:off x="4041648" y="4114800"/>
            <a:ext cx="393192" cy="0"/>
          </a:xfrm>
          <a:prstGeom prst="line">
            <a:avLst/>
          </a:prstGeom>
          <a:noFill/>
          <a:ln w="15875">
            <a:solidFill>
              <a:srgbClr val="14213D"/>
            </a:solidFill>
            <a:prstDash val="solid"/>
            <a:tailEnd type="triangle"/>
          </a:ln>
        </p:spPr>
      </p:sp>
      <p:sp>
        <p:nvSpPr>
          <p:cNvPr id="33" name="Shape 30"/>
          <p:cNvSpPr/>
          <p:nvPr/>
        </p:nvSpPr>
        <p:spPr>
          <a:xfrm>
            <a:off x="4453128" y="3474720"/>
            <a:ext cx="2011680" cy="1280160"/>
          </a:xfrm>
          <a:prstGeom prst="roundRect">
            <a:avLst>
              <a:gd name="adj" fmla="val 8571"/>
            </a:avLst>
          </a:prstGeom>
          <a:solidFill>
            <a:srgbClr val="EEF1F6"/>
          </a:solidFill>
          <a:ln w="12700">
            <a:solidFill>
              <a:srgbClr val="EEF1F6"/>
            </a:solidFill>
            <a:prstDash val="solid"/>
          </a:ln>
        </p:spPr>
      </p:sp>
      <p:sp>
        <p:nvSpPr>
          <p:cNvPr id="34" name="Text 31"/>
          <p:cNvSpPr txBox="1"/>
          <p:nvPr/>
        </p:nvSpPr>
        <p:spPr>
          <a:xfrm>
            <a:off x="4544568" y="358444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algorithms</a:t>
            </a:r>
            <a:endParaRPr lang="en-US" sz="1700" dirty="0"/>
          </a:p>
        </p:txBody>
      </p:sp>
      <p:sp>
        <p:nvSpPr>
          <p:cNvPr id="35" name="Text 32"/>
          <p:cNvSpPr txBox="1"/>
          <p:nvPr/>
        </p:nvSpPr>
        <p:spPr>
          <a:xfrm>
            <a:off x="4544568" y="4005072"/>
            <a:ext cx="1828800" cy="365760"/>
          </a:xfrm>
          <a:prstGeom prst="rect">
            <a:avLst/>
          </a:prstGeom>
          <a:noFill/>
          <a:ln/>
        </p:spPr>
        <p:txBody>
          <a:bodyPr wrap="square" lIns="0" tIns="0" rIns="0" bIns="0" rtlCol="0" anchor="ctr"/>
          <a:lstStyle/>
          <a:p>
            <a:pPr algn="ctr" indent="0" marL="0">
              <a:buNone/>
            </a:pPr>
            <a:r>
              <a:rPr lang="en-US" sz="1300" dirty="0">
                <a:solidFill>
                  <a:srgbClr val="2E9E6A"/>
                </a:solidFill>
                <a:latin typeface="Courier New" pitchFamily="34" charset="0"/>
                <a:ea typeface="Courier New" pitchFamily="34" charset="-122"/>
                <a:cs typeface="Courier New" pitchFamily="34" charset="-120"/>
              </a:rPr>
              <a:t>search · sort</a:t>
            </a:r>
            <a:endParaRPr lang="en-US" sz="1300" dirty="0"/>
          </a:p>
        </p:txBody>
      </p:sp>
      <p:sp>
        <p:nvSpPr>
          <p:cNvPr id="36" name="Text 33"/>
          <p:cNvSpPr txBox="1"/>
          <p:nvPr/>
        </p:nvSpPr>
        <p:spPr>
          <a:xfrm>
            <a:off x="4544568" y="437083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W10</a:t>
            </a:r>
            <a:endParaRPr lang="en-US" sz="1200" dirty="0"/>
          </a:p>
        </p:txBody>
      </p:sp>
      <p:sp>
        <p:nvSpPr>
          <p:cNvPr id="37" name="Shape 34"/>
          <p:cNvSpPr/>
          <p:nvPr/>
        </p:nvSpPr>
        <p:spPr>
          <a:xfrm>
            <a:off x="6483096" y="4114800"/>
            <a:ext cx="393192" cy="0"/>
          </a:xfrm>
          <a:prstGeom prst="line">
            <a:avLst/>
          </a:prstGeom>
          <a:noFill/>
          <a:ln w="15875">
            <a:solidFill>
              <a:srgbClr val="14213D"/>
            </a:solidFill>
            <a:prstDash val="solid"/>
            <a:tailEnd type="triangle"/>
          </a:ln>
        </p:spPr>
      </p:sp>
      <p:sp>
        <p:nvSpPr>
          <p:cNvPr id="38" name="Shape 35"/>
          <p:cNvSpPr/>
          <p:nvPr/>
        </p:nvSpPr>
        <p:spPr>
          <a:xfrm>
            <a:off x="6894576" y="3474720"/>
            <a:ext cx="2011680" cy="1280160"/>
          </a:xfrm>
          <a:prstGeom prst="roundRect">
            <a:avLst>
              <a:gd name="adj" fmla="val 8571"/>
            </a:avLst>
          </a:prstGeom>
          <a:solidFill>
            <a:srgbClr val="EEF1F6"/>
          </a:solidFill>
          <a:ln w="12700">
            <a:solidFill>
              <a:srgbClr val="EEF1F6"/>
            </a:solidFill>
            <a:prstDash val="solid"/>
          </a:ln>
        </p:spPr>
      </p:sp>
      <p:sp>
        <p:nvSpPr>
          <p:cNvPr id="39" name="Text 36"/>
          <p:cNvSpPr txBox="1"/>
          <p:nvPr/>
        </p:nvSpPr>
        <p:spPr>
          <a:xfrm>
            <a:off x="6986016" y="358444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methods</a:t>
            </a:r>
            <a:endParaRPr lang="en-US" sz="1700" dirty="0"/>
          </a:p>
        </p:txBody>
      </p:sp>
      <p:sp>
        <p:nvSpPr>
          <p:cNvPr id="40" name="Text 37"/>
          <p:cNvSpPr txBox="1"/>
          <p:nvPr/>
        </p:nvSpPr>
        <p:spPr>
          <a:xfrm>
            <a:off x="6986016" y="4005072"/>
            <a:ext cx="1828800" cy="365760"/>
          </a:xfrm>
          <a:prstGeom prst="rect">
            <a:avLst/>
          </a:prstGeom>
          <a:noFill/>
          <a:ln/>
        </p:spPr>
        <p:txBody>
          <a:bodyPr wrap="square" lIns="0" tIns="0" rIns="0" bIns="0" rtlCol="0" anchor="ctr"/>
          <a:lstStyle/>
          <a:p>
            <a:pPr algn="ctr" indent="0" marL="0">
              <a:buNone/>
            </a:pPr>
            <a:r>
              <a:rPr lang="en-US" sz="1300" dirty="0">
                <a:solidFill>
                  <a:srgbClr val="2E9E6A"/>
                </a:solidFill>
                <a:latin typeface="Courier New" pitchFamily="34" charset="0"/>
                <a:ea typeface="Courier New" pitchFamily="34" charset="-122"/>
                <a:cs typeface="Courier New" pitchFamily="34" charset="-120"/>
              </a:rPr>
              <a:t>static int F(…)</a:t>
            </a:r>
            <a:endParaRPr lang="en-US" sz="1300" dirty="0"/>
          </a:p>
        </p:txBody>
      </p:sp>
      <p:sp>
        <p:nvSpPr>
          <p:cNvPr id="41" name="Text 38"/>
          <p:cNvSpPr txBox="1"/>
          <p:nvPr/>
        </p:nvSpPr>
        <p:spPr>
          <a:xfrm>
            <a:off x="6986016" y="437083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W12</a:t>
            </a:r>
            <a:endParaRPr lang="en-US" sz="1200" dirty="0"/>
          </a:p>
        </p:txBody>
      </p:sp>
      <p:sp>
        <p:nvSpPr>
          <p:cNvPr id="42" name="Shape 39"/>
          <p:cNvSpPr/>
          <p:nvPr/>
        </p:nvSpPr>
        <p:spPr>
          <a:xfrm>
            <a:off x="8924544" y="4114800"/>
            <a:ext cx="393192" cy="0"/>
          </a:xfrm>
          <a:prstGeom prst="line">
            <a:avLst/>
          </a:prstGeom>
          <a:noFill/>
          <a:ln w="15875">
            <a:solidFill>
              <a:srgbClr val="14213D"/>
            </a:solidFill>
            <a:prstDash val="solid"/>
            <a:tailEnd type="triangle"/>
          </a:ln>
        </p:spPr>
      </p:sp>
      <p:sp>
        <p:nvSpPr>
          <p:cNvPr id="43" name="Shape 40"/>
          <p:cNvSpPr/>
          <p:nvPr/>
        </p:nvSpPr>
        <p:spPr>
          <a:xfrm>
            <a:off x="9336024" y="3474720"/>
            <a:ext cx="2011680" cy="1280160"/>
          </a:xfrm>
          <a:prstGeom prst="roundRect">
            <a:avLst>
              <a:gd name="adj" fmla="val 8571"/>
            </a:avLst>
          </a:prstGeom>
          <a:solidFill>
            <a:srgbClr val="FFF6E3"/>
          </a:solidFill>
          <a:ln w="12700">
            <a:solidFill>
              <a:srgbClr val="FFF6E3"/>
            </a:solidFill>
            <a:prstDash val="solid"/>
          </a:ln>
        </p:spPr>
      </p:sp>
      <p:sp>
        <p:nvSpPr>
          <p:cNvPr id="44" name="Text 41"/>
          <p:cNvSpPr txBox="1"/>
          <p:nvPr/>
        </p:nvSpPr>
        <p:spPr>
          <a:xfrm>
            <a:off x="9427464" y="3584448"/>
            <a:ext cx="1828800" cy="41148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return · scope</a:t>
            </a:r>
            <a:endParaRPr lang="en-US" sz="1700" dirty="0"/>
          </a:p>
        </p:txBody>
      </p:sp>
      <p:sp>
        <p:nvSpPr>
          <p:cNvPr id="45" name="Text 42"/>
          <p:cNvSpPr txBox="1"/>
          <p:nvPr/>
        </p:nvSpPr>
        <p:spPr>
          <a:xfrm>
            <a:off x="9427464" y="4005072"/>
            <a:ext cx="1828800" cy="365760"/>
          </a:xfrm>
          <a:prstGeom prst="rect">
            <a:avLst/>
          </a:prstGeom>
          <a:noFill/>
          <a:ln/>
        </p:spPr>
        <p:txBody>
          <a:bodyPr wrap="square" lIns="0" tIns="0" rIns="0" bIns="0" rtlCol="0" anchor="ctr"/>
          <a:lstStyle/>
          <a:p>
            <a:pPr algn="ctr" indent="0" marL="0">
              <a:buNone/>
            </a:pPr>
            <a:r>
              <a:rPr lang="en-US" sz="1300" dirty="0">
                <a:solidFill>
                  <a:srgbClr val="2E9E6A"/>
                </a:solidFill>
                <a:latin typeface="Courier New" pitchFamily="34" charset="0"/>
                <a:ea typeface="Courier New" pitchFamily="34" charset="-122"/>
                <a:cs typeface="Courier New" pitchFamily="34" charset="-120"/>
              </a:rPr>
              <a:t>recursion</a:t>
            </a:r>
            <a:endParaRPr lang="en-US" sz="1300" dirty="0"/>
          </a:p>
        </p:txBody>
      </p:sp>
      <p:sp>
        <p:nvSpPr>
          <p:cNvPr id="46" name="Text 43"/>
          <p:cNvSpPr txBox="1"/>
          <p:nvPr/>
        </p:nvSpPr>
        <p:spPr>
          <a:xfrm>
            <a:off x="9427464" y="4370832"/>
            <a:ext cx="18288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alibri" pitchFamily="34" charset="0"/>
                <a:ea typeface="Calibri" pitchFamily="34" charset="-122"/>
                <a:cs typeface="Calibri" pitchFamily="34" charset="-120"/>
              </a:rPr>
              <a:t>W13</a:t>
            </a:r>
            <a:endParaRPr lang="en-US" sz="1200" dirty="0"/>
          </a:p>
        </p:txBody>
      </p:sp>
      <p:sp>
        <p:nvSpPr>
          <p:cNvPr id="47" name="Shape 44"/>
          <p:cNvSpPr/>
          <p:nvPr/>
        </p:nvSpPr>
        <p:spPr>
          <a:xfrm>
            <a:off x="548640" y="5257800"/>
            <a:ext cx="11109960" cy="777240"/>
          </a:xfrm>
          <a:prstGeom prst="roundRect">
            <a:avLst>
              <a:gd name="adj" fmla="val 14118"/>
            </a:avLst>
          </a:prstGeom>
          <a:solidFill>
            <a:srgbClr val="FFF6E3"/>
          </a:solidFill>
          <a:ln w="12700">
            <a:solidFill>
              <a:srgbClr val="FFF6E3"/>
            </a:solidFill>
            <a:prstDash val="solid"/>
          </a:ln>
        </p:spPr>
      </p:sp>
      <p:pic>
        <p:nvPicPr>
          <p:cNvPr id="48" name="Image 0" descr="preencoded.png">    </p:cNvPr>
          <p:cNvPicPr>
            <a:picLocks noChangeAspect="1"/>
          </p:cNvPicPr>
          <p:nvPr/>
        </p:nvPicPr>
        <p:blipFill>
          <a:blip r:embed="rId1"/>
          <a:stretch>
            <a:fillRect/>
          </a:stretch>
        </p:blipFill>
        <p:spPr>
          <a:xfrm>
            <a:off x="822960" y="5394960"/>
            <a:ext cx="502920" cy="502920"/>
          </a:xfrm>
          <a:prstGeom prst="rect">
            <a:avLst/>
          </a:prstGeom>
        </p:spPr>
      </p:pic>
      <p:sp>
        <p:nvSpPr>
          <p:cNvPr id="49" name="Text 45"/>
          <p:cNvSpPr txBox="1"/>
          <p:nvPr/>
        </p:nvSpPr>
        <p:spPr>
          <a:xfrm>
            <a:off x="1600200" y="5330952"/>
            <a:ext cx="9784080" cy="6309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A typical final-exam program: </a:t>
            </a:r>
            <a:pPr indent="0" marL="0">
              <a:buNone/>
            </a:pPr>
            <a:r>
              <a:rPr lang="en-US" sz="1400" dirty="0">
                <a:solidFill>
                  <a:srgbClr val="333B4F"/>
                </a:solidFill>
                <a:latin typeface="Calibri" pitchFamily="34" charset="0"/>
                <a:ea typeface="Calibri" pitchFamily="34" charset="-122"/>
                <a:cs typeface="Calibri" pitchFamily="34" charset="-120"/>
              </a:rPr>
              <a:t>read a file into an array → process it with small methods (search, sort, count) → write or print the result.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1</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Condensed Review</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Weeks 1–7 in one slide, then arrays, search &amp; sort, matrices, methods, scope, recursion, files</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1–7 · BASICS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The First Half: Traps That Still Cost Points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7</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3291840"/>
                <a:gridCol w="1645920"/>
                <a:gridCol w="2651760"/>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Expression / code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Result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Rule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 / 2      7 / 2.0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3      3.5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 / int is integer division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-17 % 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 keeps the sign of the left operand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 " + 1 + 2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 12</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string + number, left to right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y = x++ * 2;   (x = 5)</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y = 10, x = 6</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postfix: use, then increase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b != 0 &amp;&amp; a / b &gt; 2   (b =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false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short-circuit: no division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int.TryParse("12a", out int v)</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false, v =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 exception (Parse would throw)</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(int)7.9</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7</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 cast truncates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8" name="Shape 4"/>
          <p:cNvSpPr/>
          <p:nvPr/>
        </p:nvSpPr>
        <p:spPr>
          <a:xfrm>
            <a:off x="8412480" y="1645920"/>
            <a:ext cx="3246120" cy="4434840"/>
          </a:xfrm>
          <a:prstGeom prst="roundRect">
            <a:avLst>
              <a:gd name="adj" fmla="val 3380"/>
            </a:avLst>
          </a:prstGeom>
          <a:solidFill>
            <a:srgbClr val="14213D"/>
          </a:solidFill>
          <a:ln w="12700">
            <a:solidFill>
              <a:srgbClr val="14213D"/>
            </a:solidFill>
            <a:prstDash val="solid"/>
          </a:ln>
        </p:spPr>
      </p:sp>
      <p:sp>
        <p:nvSpPr>
          <p:cNvPr id="9" name="Text 5"/>
          <p:cNvSpPr txBox="1"/>
          <p:nvPr/>
        </p:nvSpPr>
        <p:spPr>
          <a:xfrm>
            <a:off x="8641080" y="1783080"/>
            <a:ext cx="2834640" cy="411480"/>
          </a:xfrm>
          <a:prstGeom prst="rect">
            <a:avLst/>
          </a:prstGeom>
          <a:noFill/>
          <a:ln/>
        </p:spPr>
        <p:txBody>
          <a:bodyPr wrap="square" lIns="0" tIns="0" rIns="0" bIns="0" rtlCol="0" anchor="ctr"/>
          <a:lstStyle/>
          <a:p>
            <a:pPr indent="0" marL="0">
              <a:buNone/>
            </a:pPr>
            <a:r>
              <a:rPr lang="en-US" sz="1800" b="1" dirty="0">
                <a:solidFill>
                  <a:srgbClr val="FCA311"/>
                </a:solidFill>
                <a:latin typeface="Cambria" pitchFamily="34" charset="0"/>
                <a:ea typeface="Cambria" pitchFamily="34" charset="-122"/>
                <a:cs typeface="Cambria" pitchFamily="34" charset="-120"/>
              </a:rPr>
              <a:t>Choose the loop</a:t>
            </a:r>
            <a:endParaRPr lang="en-US" sz="1800" dirty="0"/>
          </a:p>
        </p:txBody>
      </p:sp>
      <p:sp>
        <p:nvSpPr>
          <p:cNvPr id="10" name="Text 6"/>
          <p:cNvSpPr txBox="1"/>
          <p:nvPr/>
        </p:nvSpPr>
        <p:spPr>
          <a:xfrm>
            <a:off x="8641080" y="2286000"/>
            <a:ext cx="2834640" cy="3566160"/>
          </a:xfrm>
          <a:prstGeom prst="rect">
            <a:avLst/>
          </a:prstGeom>
          <a:noFill/>
          <a:ln/>
        </p:spPr>
        <p:txBody>
          <a:bodyPr wrap="square" lIns="0" tIns="0" rIns="0" bIns="0" rtlCol="0" anchor="t"/>
          <a:lstStyle/>
          <a:p>
            <a:pPr indent="0" marL="0">
              <a:spcAft>
                <a:spcPts val="400"/>
              </a:spcAft>
              <a:buNone/>
            </a:pPr>
            <a:r>
              <a:rPr lang="en-US" sz="1500" b="1" dirty="0">
                <a:solidFill>
                  <a:srgbClr val="FFFFFF"/>
                </a:solidFill>
                <a:latin typeface="Courier New" pitchFamily="34" charset="0"/>
                <a:ea typeface="Courier New" pitchFamily="34" charset="-122"/>
                <a:cs typeface="Courier New" pitchFamily="34" charset="-120"/>
              </a:rPr>
              <a:t>for</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count known (arrays!)</a:t>
            </a:r>
            <a:endParaRPr lang="en-US" sz="1500" dirty="0"/>
          </a:p>
          <a:p>
            <a:pPr indent="0" marL="0">
              <a:spcAft>
                <a:spcPts val="400"/>
              </a:spcAft>
              <a:buNone/>
            </a:pPr>
            <a:r>
              <a:rPr lang="en-US" sz="1500" b="1" dirty="0">
                <a:solidFill>
                  <a:srgbClr val="FFFFFF"/>
                </a:solidFill>
                <a:latin typeface="Courier New" pitchFamily="34" charset="0"/>
                <a:ea typeface="Courier New" pitchFamily="34" charset="-122"/>
                <a:cs typeface="Courier New" pitchFamily="34" charset="-120"/>
              </a:rPr>
              <a:t>while</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condition, sentinel, ReadLine() != null</a:t>
            </a:r>
            <a:endParaRPr lang="en-US" sz="1500" dirty="0"/>
          </a:p>
          <a:p>
            <a:pPr indent="0" marL="0">
              <a:spcAft>
                <a:spcPts val="400"/>
              </a:spcAft>
              <a:buNone/>
            </a:pPr>
            <a:r>
              <a:rPr lang="en-US" sz="1500" b="1" dirty="0">
                <a:solidFill>
                  <a:srgbClr val="FFFFFF"/>
                </a:solidFill>
                <a:latin typeface="Courier New" pitchFamily="34" charset="0"/>
                <a:ea typeface="Courier New" pitchFamily="34" charset="-122"/>
                <a:cs typeface="Courier New" pitchFamily="34" charset="-120"/>
              </a:rPr>
              <a:t>do-while</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at least once: menus, validation</a:t>
            </a:r>
            <a:endParaRPr lang="en-US" sz="1500" dirty="0"/>
          </a:p>
          <a:p>
            <a:pPr indent="0" marL="0">
              <a:spcAft>
                <a:spcPts val="400"/>
              </a:spcAft>
              <a:buNone/>
            </a:pPr>
            <a:r>
              <a:rPr lang="en-US" sz="1500" b="1" dirty="0">
                <a:solidFill>
                  <a:srgbClr val="FFFFFF"/>
                </a:solidFill>
                <a:latin typeface="Courier New" pitchFamily="34" charset="0"/>
                <a:ea typeface="Courier New" pitchFamily="34" charset="-122"/>
                <a:cs typeface="Courier New" pitchFamily="34" charset="-120"/>
              </a:rPr>
              <a:t>foreach</a:t>
            </a:r>
            <a:endParaRPr lang="en-US" sz="1500" dirty="0"/>
          </a:p>
          <a:p>
            <a:pPr indent="0" marL="0">
              <a:spcAft>
                <a:spcPts val="400"/>
              </a:spcAft>
              <a:buNone/>
            </a:pPr>
            <a:r>
              <a:rPr lang="en-US" sz="1500" dirty="0">
                <a:solidFill>
                  <a:srgbClr val="C7CEDC"/>
                </a:solidFill>
                <a:latin typeface="Calibri" pitchFamily="34" charset="0"/>
                <a:ea typeface="Calibri" pitchFamily="34" charset="-122"/>
                <a:cs typeface="Calibri" pitchFamily="34" charset="-120"/>
              </a:rPr>
              <a:t>read every element, no index</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9 ·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One-Dimensional Arrays: Boxes With Indices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8</a:t>
            </a:r>
            <a:endParaRPr lang="en-US" sz="1000" dirty="0"/>
          </a:p>
        </p:txBody>
      </p:sp>
      <p:sp>
        <p:nvSpPr>
          <p:cNvPr id="7" name="Shape 4"/>
          <p:cNvSpPr/>
          <p:nvPr/>
        </p:nvSpPr>
        <p:spPr>
          <a:xfrm>
            <a:off x="548640" y="1645920"/>
            <a:ext cx="566928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21208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Arrays in 17 lines</a:t>
            </a:r>
            <a:endParaRPr lang="en-US" sz="1100" dirty="0"/>
          </a:p>
        </p:txBody>
      </p:sp>
      <p:sp>
        <p:nvSpPr>
          <p:cNvPr id="9" name="Text 6"/>
          <p:cNvSpPr txBox="1"/>
          <p:nvPr/>
        </p:nvSpPr>
        <p:spPr>
          <a:xfrm>
            <a:off x="777240" y="2057400"/>
            <a:ext cx="521208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0 0 0 0 0</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initializer</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b[</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write</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last = b[b.Length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read: 3</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b.Length;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b[i];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index needed</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v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read-only</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.Write(v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same = b;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same array!</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copy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[])b.Clone();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new array</a:t>
            </a:r>
            <a:endParaRPr lang="en-US" sz="1300" dirty="0"/>
          </a:p>
        </p:txBody>
      </p:sp>
      <p:sp>
        <p:nvSpPr>
          <p:cNvPr id="10" name="Text 7"/>
          <p:cNvSpPr txBox="1"/>
          <p:nvPr/>
        </p:nvSpPr>
        <p:spPr>
          <a:xfrm>
            <a:off x="6492240" y="1645920"/>
            <a:ext cx="5166360" cy="32004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int[] b = { 4, 7, 1, 9, 3 };   int[] same = b;</a:t>
            </a:r>
            <a:endParaRPr lang="en-US" sz="1200" dirty="0"/>
          </a:p>
        </p:txBody>
      </p:sp>
      <p:sp>
        <p:nvSpPr>
          <p:cNvPr id="11" name="Shape 8"/>
          <p:cNvSpPr/>
          <p:nvPr/>
        </p:nvSpPr>
        <p:spPr>
          <a:xfrm>
            <a:off x="7498080" y="2331720"/>
            <a:ext cx="777240" cy="457200"/>
          </a:xfrm>
          <a:prstGeom prst="rect">
            <a:avLst/>
          </a:prstGeom>
          <a:solidFill>
            <a:srgbClr val="FFFFFF"/>
          </a:solidFill>
          <a:ln w="12700">
            <a:solidFill>
              <a:srgbClr val="14213D"/>
            </a:solidFill>
            <a:prstDash val="solid"/>
          </a:ln>
        </p:spPr>
      </p:sp>
      <p:sp>
        <p:nvSpPr>
          <p:cNvPr id="12" name="Text 9"/>
          <p:cNvSpPr txBox="1"/>
          <p:nvPr/>
        </p:nvSpPr>
        <p:spPr>
          <a:xfrm>
            <a:off x="7498080" y="2331720"/>
            <a:ext cx="77724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a:t>
            </a:r>
            <a:endParaRPr lang="en-US" sz="1500" dirty="0"/>
          </a:p>
        </p:txBody>
      </p:sp>
      <p:sp>
        <p:nvSpPr>
          <p:cNvPr id="13" name="Text 10"/>
          <p:cNvSpPr txBox="1"/>
          <p:nvPr/>
        </p:nvSpPr>
        <p:spPr>
          <a:xfrm>
            <a:off x="7498080" y="2807208"/>
            <a:ext cx="777240"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4" name="Shape 11"/>
          <p:cNvSpPr/>
          <p:nvPr/>
        </p:nvSpPr>
        <p:spPr>
          <a:xfrm>
            <a:off x="8275320" y="2331720"/>
            <a:ext cx="777240" cy="457200"/>
          </a:xfrm>
          <a:prstGeom prst="rect">
            <a:avLst/>
          </a:prstGeom>
          <a:solidFill>
            <a:srgbClr val="FFFFFF"/>
          </a:solidFill>
          <a:ln w="12700">
            <a:solidFill>
              <a:srgbClr val="14213D"/>
            </a:solidFill>
            <a:prstDash val="solid"/>
          </a:ln>
        </p:spPr>
      </p:sp>
      <p:sp>
        <p:nvSpPr>
          <p:cNvPr id="15" name="Text 12"/>
          <p:cNvSpPr txBox="1"/>
          <p:nvPr/>
        </p:nvSpPr>
        <p:spPr>
          <a:xfrm>
            <a:off x="8275320" y="2331720"/>
            <a:ext cx="77724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7</a:t>
            </a:r>
            <a:endParaRPr lang="en-US" sz="1500" dirty="0"/>
          </a:p>
        </p:txBody>
      </p:sp>
      <p:sp>
        <p:nvSpPr>
          <p:cNvPr id="16" name="Text 13"/>
          <p:cNvSpPr txBox="1"/>
          <p:nvPr/>
        </p:nvSpPr>
        <p:spPr>
          <a:xfrm>
            <a:off x="8275320" y="2807208"/>
            <a:ext cx="777240"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7" name="Shape 14"/>
          <p:cNvSpPr/>
          <p:nvPr/>
        </p:nvSpPr>
        <p:spPr>
          <a:xfrm>
            <a:off x="9052560" y="2331720"/>
            <a:ext cx="777240" cy="457200"/>
          </a:xfrm>
          <a:prstGeom prst="rect">
            <a:avLst/>
          </a:prstGeom>
          <a:solidFill>
            <a:srgbClr val="FFFFFF"/>
          </a:solidFill>
          <a:ln w="12700">
            <a:solidFill>
              <a:srgbClr val="14213D"/>
            </a:solidFill>
            <a:prstDash val="solid"/>
          </a:ln>
        </p:spPr>
      </p:sp>
      <p:sp>
        <p:nvSpPr>
          <p:cNvPr id="18" name="Text 15"/>
          <p:cNvSpPr txBox="1"/>
          <p:nvPr/>
        </p:nvSpPr>
        <p:spPr>
          <a:xfrm>
            <a:off x="9052560" y="2331720"/>
            <a:ext cx="77724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a:t>
            </a:r>
            <a:endParaRPr lang="en-US" sz="1500" dirty="0"/>
          </a:p>
        </p:txBody>
      </p:sp>
      <p:sp>
        <p:nvSpPr>
          <p:cNvPr id="19" name="Text 16"/>
          <p:cNvSpPr txBox="1"/>
          <p:nvPr/>
        </p:nvSpPr>
        <p:spPr>
          <a:xfrm>
            <a:off x="9052560" y="2807208"/>
            <a:ext cx="777240"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20" name="Shape 17"/>
          <p:cNvSpPr/>
          <p:nvPr/>
        </p:nvSpPr>
        <p:spPr>
          <a:xfrm>
            <a:off x="9829800" y="2331720"/>
            <a:ext cx="777240" cy="457200"/>
          </a:xfrm>
          <a:prstGeom prst="rect">
            <a:avLst/>
          </a:prstGeom>
          <a:solidFill>
            <a:srgbClr val="FFFFFF"/>
          </a:solidFill>
          <a:ln w="12700">
            <a:solidFill>
              <a:srgbClr val="14213D"/>
            </a:solidFill>
            <a:prstDash val="solid"/>
          </a:ln>
        </p:spPr>
      </p:sp>
      <p:sp>
        <p:nvSpPr>
          <p:cNvPr id="21" name="Text 18"/>
          <p:cNvSpPr txBox="1"/>
          <p:nvPr/>
        </p:nvSpPr>
        <p:spPr>
          <a:xfrm>
            <a:off x="9829800" y="2331720"/>
            <a:ext cx="77724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9</a:t>
            </a:r>
            <a:endParaRPr lang="en-US" sz="1500" dirty="0"/>
          </a:p>
        </p:txBody>
      </p:sp>
      <p:sp>
        <p:nvSpPr>
          <p:cNvPr id="22" name="Text 19"/>
          <p:cNvSpPr txBox="1"/>
          <p:nvPr/>
        </p:nvSpPr>
        <p:spPr>
          <a:xfrm>
            <a:off x="9829800" y="2807208"/>
            <a:ext cx="777240"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3" name="Shape 20"/>
          <p:cNvSpPr/>
          <p:nvPr/>
        </p:nvSpPr>
        <p:spPr>
          <a:xfrm>
            <a:off x="10607040" y="2331720"/>
            <a:ext cx="777240" cy="457200"/>
          </a:xfrm>
          <a:prstGeom prst="rect">
            <a:avLst/>
          </a:prstGeom>
          <a:solidFill>
            <a:srgbClr val="FFFFFF"/>
          </a:solidFill>
          <a:ln w="12700">
            <a:solidFill>
              <a:srgbClr val="14213D"/>
            </a:solidFill>
            <a:prstDash val="solid"/>
          </a:ln>
        </p:spPr>
      </p:sp>
      <p:sp>
        <p:nvSpPr>
          <p:cNvPr id="24" name="Text 21"/>
          <p:cNvSpPr txBox="1"/>
          <p:nvPr/>
        </p:nvSpPr>
        <p:spPr>
          <a:xfrm>
            <a:off x="10607040" y="2331720"/>
            <a:ext cx="777240"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25" name="Text 22"/>
          <p:cNvSpPr txBox="1"/>
          <p:nvPr/>
        </p:nvSpPr>
        <p:spPr>
          <a:xfrm>
            <a:off x="10607040" y="2807208"/>
            <a:ext cx="777240"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6" name="Text 23"/>
          <p:cNvSpPr txBox="1"/>
          <p:nvPr/>
        </p:nvSpPr>
        <p:spPr>
          <a:xfrm>
            <a:off x="6492240" y="2057400"/>
            <a:ext cx="457200" cy="320040"/>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b</a:t>
            </a:r>
            <a:endParaRPr lang="en-US" sz="1600" dirty="0"/>
          </a:p>
        </p:txBody>
      </p:sp>
      <p:sp>
        <p:nvSpPr>
          <p:cNvPr id="27" name="Text 24"/>
          <p:cNvSpPr txBox="1"/>
          <p:nvPr/>
        </p:nvSpPr>
        <p:spPr>
          <a:xfrm>
            <a:off x="6492240" y="2880360"/>
            <a:ext cx="731520" cy="320040"/>
          </a:xfrm>
          <a:prstGeom prst="rect">
            <a:avLst/>
          </a:prstGeom>
          <a:noFill/>
          <a:ln/>
        </p:spPr>
        <p:txBody>
          <a:bodyPr wrap="square" lIns="0" tIns="0" rIns="0" bIns="0" rtlCol="0" anchor="ctr"/>
          <a:lstStyle/>
          <a:p>
            <a:pPr indent="0" marL="0">
              <a:buNone/>
            </a:pPr>
            <a:r>
              <a:rPr lang="en-US" sz="1600" b="1" dirty="0">
                <a:solidFill>
                  <a:srgbClr val="2F6FB3"/>
                </a:solidFill>
                <a:latin typeface="Courier New" pitchFamily="34" charset="0"/>
                <a:ea typeface="Courier New" pitchFamily="34" charset="-122"/>
                <a:cs typeface="Courier New" pitchFamily="34" charset="-120"/>
              </a:rPr>
              <a:t>same</a:t>
            </a:r>
            <a:endParaRPr lang="en-US" sz="1600" dirty="0"/>
          </a:p>
        </p:txBody>
      </p:sp>
      <p:sp>
        <p:nvSpPr>
          <p:cNvPr id="28" name="Shape 25"/>
          <p:cNvSpPr/>
          <p:nvPr/>
        </p:nvSpPr>
        <p:spPr>
          <a:xfrm>
            <a:off x="6812280" y="2221992"/>
            <a:ext cx="640080" cy="246888"/>
          </a:xfrm>
          <a:prstGeom prst="line">
            <a:avLst/>
          </a:prstGeom>
          <a:noFill/>
          <a:ln w="15875">
            <a:solidFill>
              <a:srgbClr val="2F6FB3"/>
            </a:solidFill>
            <a:prstDash val="solid"/>
            <a:tailEnd type="triangle"/>
          </a:ln>
        </p:spPr>
      </p:sp>
      <p:sp>
        <p:nvSpPr>
          <p:cNvPr id="29" name="Shape 26"/>
          <p:cNvSpPr/>
          <p:nvPr/>
        </p:nvSpPr>
        <p:spPr>
          <a:xfrm flipV="1">
            <a:off x="7086600" y="2697480"/>
            <a:ext cx="365760" cy="320040"/>
          </a:xfrm>
          <a:prstGeom prst="line">
            <a:avLst/>
          </a:prstGeom>
          <a:noFill/>
          <a:ln w="15875">
            <a:solidFill>
              <a:srgbClr val="2F6FB3"/>
            </a:solidFill>
            <a:prstDash val="solid"/>
            <a:tailEnd type="triangle"/>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92240" y="3429000"/>
          <a:ext cx="2377440" cy="914400"/>
        </p:xfrm>
        <a:graphic>
          <a:graphicData uri="http://schemas.openxmlformats.org/drawingml/2006/table">
            <a:tbl>
              <a:tblPr/>
              <a:tblGrid>
                <a:gridCol w="1280160"/>
                <a:gridCol w="1097280"/>
              </a:tblGrid>
              <a:tr h="32918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Default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 double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bool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false</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string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null</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29184">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char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1" name="Shape 27"/>
          <p:cNvSpPr/>
          <p:nvPr/>
        </p:nvSpPr>
        <p:spPr>
          <a:xfrm>
            <a:off x="9052560" y="3429000"/>
            <a:ext cx="2606040" cy="1645920"/>
          </a:xfrm>
          <a:prstGeom prst="roundRect">
            <a:avLst>
              <a:gd name="adj" fmla="val 5556"/>
            </a:avLst>
          </a:prstGeom>
          <a:solidFill>
            <a:srgbClr val="0F1729"/>
          </a:solidFill>
          <a:ln w="12700">
            <a:solidFill>
              <a:srgbClr val="0F1729"/>
            </a:solidFill>
            <a:prstDash val="solid"/>
          </a:ln>
        </p:spPr>
      </p:sp>
      <p:sp>
        <p:nvSpPr>
          <p:cNvPr id="32" name="Text 28"/>
          <p:cNvSpPr txBox="1"/>
          <p:nvPr/>
        </p:nvSpPr>
        <p:spPr>
          <a:xfrm>
            <a:off x="9281160" y="3538728"/>
            <a:ext cx="2148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read-only</a:t>
            </a:r>
            <a:endParaRPr lang="en-US" sz="1100" dirty="0"/>
          </a:p>
        </p:txBody>
      </p:sp>
      <p:sp>
        <p:nvSpPr>
          <p:cNvPr id="33" name="Text 29"/>
          <p:cNvSpPr txBox="1"/>
          <p:nvPr/>
        </p:nvSpPr>
        <p:spPr>
          <a:xfrm>
            <a:off x="9281160" y="3840480"/>
            <a:ext cx="2148840" cy="112471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CS1656</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34" name="Shape 30"/>
          <p:cNvSpPr/>
          <p:nvPr/>
        </p:nvSpPr>
        <p:spPr>
          <a:xfrm>
            <a:off x="6492240" y="5257800"/>
            <a:ext cx="5166360" cy="822960"/>
          </a:xfrm>
          <a:prstGeom prst="roundRect">
            <a:avLst>
              <a:gd name="adj" fmla="val 13333"/>
            </a:avLst>
          </a:prstGeom>
          <a:solidFill>
            <a:srgbClr val="FBE9E7"/>
          </a:solidFill>
          <a:ln w="12700">
            <a:solidFill>
              <a:srgbClr val="FBE9E7"/>
            </a:solidFill>
            <a:prstDash val="solid"/>
          </a:ln>
        </p:spPr>
      </p:sp>
      <p:pic>
        <p:nvPicPr>
          <p:cNvPr id="35" name="Image 0" descr="preencoded.png">    </p:cNvPr>
          <p:cNvPicPr>
            <a:picLocks noChangeAspect="1"/>
          </p:cNvPicPr>
          <p:nvPr/>
        </p:nvPicPr>
        <p:blipFill>
          <a:blip r:embed="rId1"/>
          <a:stretch>
            <a:fillRect/>
          </a:stretch>
        </p:blipFill>
        <p:spPr>
          <a:xfrm>
            <a:off x="6766560" y="5394960"/>
            <a:ext cx="548640" cy="548640"/>
          </a:xfrm>
          <a:prstGeom prst="rect">
            <a:avLst/>
          </a:prstGeom>
        </p:spPr>
      </p:pic>
      <p:sp>
        <p:nvSpPr>
          <p:cNvPr id="36" name="Text 31"/>
          <p:cNvSpPr txBox="1"/>
          <p:nvPr/>
        </p:nvSpPr>
        <p:spPr>
          <a:xfrm>
            <a:off x="7589520" y="5330952"/>
            <a:ext cx="3794760" cy="676656"/>
          </a:xfrm>
          <a:prstGeom prst="rect">
            <a:avLst/>
          </a:prstGeom>
          <a:noFill/>
          <a:ln/>
        </p:spPr>
        <p:txBody>
          <a:bodyPr wrap="square" lIns="0" tIns="0" rIns="0" bIns="0" rtlCol="0" anchor="ctr"/>
          <a:lstStyle/>
          <a:p>
            <a:pPr indent="0" marL="0">
              <a:buNone/>
            </a:pPr>
            <a:r>
              <a:rPr lang="en-US" sz="1300" b="1" dirty="0">
                <a:solidFill>
                  <a:srgbClr val="333B4F"/>
                </a:solidFill>
                <a:latin typeface="Courier New" pitchFamily="34" charset="0"/>
                <a:ea typeface="Courier New" pitchFamily="34" charset="-122"/>
                <a:cs typeface="Courier New" pitchFamily="34" charset="-120"/>
              </a:rPr>
              <a:t>b[b.Length] </a:t>
            </a:r>
            <a:pPr indent="0" marL="0">
              <a:buNone/>
            </a:pPr>
            <a:r>
              <a:rPr lang="en-US" sz="1300" dirty="0">
                <a:solidFill>
                  <a:srgbClr val="333B4F"/>
                </a:solidFill>
                <a:latin typeface="Calibri" pitchFamily="34" charset="0"/>
                <a:ea typeface="Calibri" pitchFamily="34" charset="-122"/>
                <a:cs typeface="Calibri" pitchFamily="34" charset="-120"/>
              </a:rPr>
              <a:t>compiles, but crashes: IndexOutOfRangeException.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10 · SEARCHING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Linear Search vs Binary Search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9</a:t>
            </a:r>
            <a:endParaRPr lang="en-US" sz="1000" dirty="0"/>
          </a:p>
        </p:txBody>
      </p:sp>
      <p:sp>
        <p:nvSpPr>
          <p:cNvPr id="7" name="Shape 4"/>
          <p:cNvSpPr/>
          <p:nvPr/>
        </p:nvSpPr>
        <p:spPr>
          <a:xfrm>
            <a:off x="548640" y="1645920"/>
            <a:ext cx="4206240" cy="3246120"/>
          </a:xfrm>
          <a:prstGeom prst="roundRect">
            <a:avLst>
              <a:gd name="adj" fmla="val 2254"/>
            </a:avLst>
          </a:prstGeom>
          <a:solidFill>
            <a:srgbClr val="F4F6FA"/>
          </a:solidFill>
          <a:ln w="9525">
            <a:solidFill>
              <a:srgbClr val="C9D0DD"/>
            </a:solidFill>
            <a:prstDash val="solid"/>
          </a:ln>
        </p:spPr>
      </p:sp>
      <p:sp>
        <p:nvSpPr>
          <p:cNvPr id="8" name="Text 5"/>
          <p:cNvSpPr txBox="1"/>
          <p:nvPr/>
        </p:nvSpPr>
        <p:spPr>
          <a:xfrm>
            <a:off x="731520" y="1737360"/>
            <a:ext cx="38404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Linear search (any array)</a:t>
            </a:r>
            <a:endParaRPr lang="en-US" sz="1200" dirty="0"/>
          </a:p>
        </p:txBody>
      </p:sp>
      <p:sp>
        <p:nvSpPr>
          <p:cNvPr id="9" name="Text 6"/>
          <p:cNvSpPr txBox="1"/>
          <p:nvPr/>
        </p:nvSpPr>
        <p:spPr>
          <a:xfrm>
            <a:off x="731520" y="2057400"/>
            <a:ext cx="3840480" cy="274320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index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i ← 0</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&lt; n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AND</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index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a[i] = target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index ← i</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IF</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i ← i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sp>
        <p:nvSpPr>
          <p:cNvPr id="10" name="Shape 7"/>
          <p:cNvSpPr/>
          <p:nvPr/>
        </p:nvSpPr>
        <p:spPr>
          <a:xfrm>
            <a:off x="4937760" y="1645920"/>
            <a:ext cx="4206240" cy="3246120"/>
          </a:xfrm>
          <a:prstGeom prst="roundRect">
            <a:avLst>
              <a:gd name="adj" fmla="val 2254"/>
            </a:avLst>
          </a:prstGeom>
          <a:solidFill>
            <a:srgbClr val="F4F6FA"/>
          </a:solidFill>
          <a:ln w="9525">
            <a:solidFill>
              <a:srgbClr val="C9D0DD"/>
            </a:solidFill>
            <a:prstDash val="solid"/>
          </a:ln>
        </p:spPr>
      </p:sp>
      <p:sp>
        <p:nvSpPr>
          <p:cNvPr id="11" name="Text 8"/>
          <p:cNvSpPr txBox="1"/>
          <p:nvPr/>
        </p:nvSpPr>
        <p:spPr>
          <a:xfrm>
            <a:off x="5120640" y="1737360"/>
            <a:ext cx="3840480" cy="274320"/>
          </a:xfrm>
          <a:prstGeom prst="rect">
            <a:avLst/>
          </a:prstGeom>
          <a:noFill/>
          <a:ln/>
        </p:spPr>
        <p:txBody>
          <a:bodyPr wrap="square" lIns="0" tIns="0" rIns="0" bIns="0" rtlCol="0" anchor="ctr"/>
          <a:lstStyle/>
          <a:p>
            <a:pPr indent="0" marL="0">
              <a:buNone/>
            </a:pPr>
            <a:r>
              <a:rPr lang="en-US" sz="1200" b="1" dirty="0">
                <a:solidFill>
                  <a:srgbClr val="5B6478"/>
                </a:solidFill>
                <a:latin typeface="Calibri" pitchFamily="34" charset="0"/>
                <a:ea typeface="Calibri" pitchFamily="34" charset="-122"/>
                <a:cs typeface="Calibri" pitchFamily="34" charset="-120"/>
              </a:rPr>
              <a:t>Binary search (SORTED array)</a:t>
            </a:r>
            <a:endParaRPr lang="en-US" sz="1200" dirty="0"/>
          </a:p>
        </p:txBody>
      </p:sp>
      <p:sp>
        <p:nvSpPr>
          <p:cNvPr id="12" name="Text 9"/>
          <p:cNvSpPr txBox="1"/>
          <p:nvPr/>
        </p:nvSpPr>
        <p:spPr>
          <a:xfrm>
            <a:off x="5120640" y="2057400"/>
            <a:ext cx="3840480" cy="2743200"/>
          </a:xfrm>
          <a:prstGeom prst="rect">
            <a:avLst/>
          </a:prstGeom>
          <a:noFill/>
          <a:ln/>
        </p:spPr>
        <p:txBody>
          <a:bodyPr wrap="square" lIns="0" tIns="0" rIns="0" bIns="0" rtlCol="0" anchor="t"/>
          <a:lstStyle/>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low ← 0, high ← n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WHILE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low ≤ high</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mid ← (low + high)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div</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2</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a[mid] = target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found at mid, stop</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IF</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a[mid] &lt; target</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THEN</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low ← mid + 1</a:t>
            </a:r>
            <a:endParaRPr lang="en-US" sz="1400" dirty="0"/>
          </a:p>
          <a:p>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a:t>
            </a:r>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ELSE</a:t>
            </a:r>
            <a:pPr indent="0" marL="0">
              <a:spcAft>
                <a:spcPts val="100"/>
              </a:spcAft>
              <a:buNone/>
            </a:pPr>
            <a:r>
              <a:rPr lang="en-US" sz="1400" dirty="0">
                <a:solidFill>
                  <a:srgbClr val="14213D"/>
                </a:solidFill>
                <a:latin typeface="Courier New" pitchFamily="34" charset="0"/>
                <a:ea typeface="Courier New" pitchFamily="34" charset="-122"/>
                <a:cs typeface="Courier New" pitchFamily="34" charset="-120"/>
              </a:rPr>
              <a:t> high ← mid - 1</a:t>
            </a:r>
            <a:endParaRPr lang="en-US" sz="1400" dirty="0"/>
          </a:p>
          <a:p>
            <a:pPr indent="0" marL="0">
              <a:spcAft>
                <a:spcPts val="100"/>
              </a:spcAft>
              <a:buNone/>
            </a:pPr>
            <a:r>
              <a:rPr lang="en-US" sz="1400" b="1" dirty="0">
                <a:solidFill>
                  <a:srgbClr val="2F6FB3"/>
                </a:solidFill>
                <a:latin typeface="Courier New" pitchFamily="34" charset="0"/>
                <a:ea typeface="Courier New" pitchFamily="34" charset="-122"/>
                <a:cs typeface="Courier New" pitchFamily="34" charset="-120"/>
              </a:rPr>
              <a:t>END WHILE</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9326880" y="1645920"/>
          <a:ext cx="2331720" cy="914400"/>
        </p:xfrm>
        <a:graphic>
          <a:graphicData uri="http://schemas.openxmlformats.org/drawingml/2006/table">
            <a:tbl>
              <a:tblPr/>
              <a:tblGrid>
                <a:gridCol w="777240"/>
                <a:gridCol w="822960"/>
                <a:gridCol w="731520"/>
              </a:tblGrid>
              <a:tr h="45720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linear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binary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1 000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1 000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10⁶</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10⁶</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4" name="Text 10"/>
          <p:cNvSpPr txBox="1"/>
          <p:nvPr/>
        </p:nvSpPr>
        <p:spPr>
          <a:xfrm>
            <a:off x="9326880" y="3977640"/>
            <a:ext cx="2331720" cy="320040"/>
          </a:xfrm>
          <a:prstGeom prst="rect">
            <a:avLst/>
          </a:prstGeom>
          <a:noFill/>
          <a:ln/>
        </p:spPr>
        <p:txBody>
          <a:bodyPr wrap="square" lIns="0" tIns="0" rIns="0" bIns="0" rtlCol="0" anchor="ctr"/>
          <a:lstStyle/>
          <a:p>
            <a:pPr algn="ctr" indent="0" marL="0">
              <a:buNone/>
            </a:pPr>
            <a:r>
              <a:rPr lang="en-US" sz="1300" i="1" dirty="0">
                <a:solidFill>
                  <a:srgbClr val="5B6478"/>
                </a:solidFill>
                <a:latin typeface="Calibri" pitchFamily="34" charset="0"/>
                <a:ea typeface="Calibri" pitchFamily="34" charset="-122"/>
                <a:cs typeface="Calibri" pitchFamily="34" charset="-120"/>
              </a:rPr>
              <a:t>worst-case steps</a:t>
            </a:r>
            <a:endParaRPr lang="en-US" sz="1300" dirty="0"/>
          </a:p>
        </p:txBody>
      </p:sp>
      <p:sp>
        <p:nvSpPr>
          <p:cNvPr id="15" name="Shape 11"/>
          <p:cNvSpPr/>
          <p:nvPr/>
        </p:nvSpPr>
        <p:spPr>
          <a:xfrm>
            <a:off x="548640" y="5074920"/>
            <a:ext cx="11109960" cy="960120"/>
          </a:xfrm>
          <a:prstGeom prst="roundRect">
            <a:avLst>
              <a:gd name="adj" fmla="val 11429"/>
            </a:avLst>
          </a:prstGeom>
          <a:solidFill>
            <a:srgbClr val="FFF6E3"/>
          </a:solidFill>
          <a:ln w="12700">
            <a:solidFill>
              <a:srgbClr val="FFF6E3"/>
            </a:solidFill>
            <a:prstDash val="solid"/>
          </a:ln>
        </p:spPr>
      </p:sp>
      <p:pic>
        <p:nvPicPr>
          <p:cNvPr id="16" name="Image 0" descr="preencoded.png">    </p:cNvPr>
          <p:cNvPicPr>
            <a:picLocks noChangeAspect="1"/>
          </p:cNvPicPr>
          <p:nvPr/>
        </p:nvPicPr>
        <p:blipFill>
          <a:blip r:embed="rId1"/>
          <a:stretch>
            <a:fillRect/>
          </a:stretch>
        </p:blipFill>
        <p:spPr>
          <a:xfrm>
            <a:off x="822960" y="5280660"/>
            <a:ext cx="548640" cy="548640"/>
          </a:xfrm>
          <a:prstGeom prst="rect">
            <a:avLst/>
          </a:prstGeom>
        </p:spPr>
      </p:pic>
      <p:sp>
        <p:nvSpPr>
          <p:cNvPr id="17" name="Text 12"/>
          <p:cNvSpPr txBox="1"/>
          <p:nvPr/>
        </p:nvSpPr>
        <p:spPr>
          <a:xfrm>
            <a:off x="1645920" y="5148072"/>
            <a:ext cx="9738360" cy="81381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Exam habit: </a:t>
            </a:r>
            <a:pPr indent="0" marL="0">
              <a:buNone/>
            </a:pPr>
            <a:r>
              <a:rPr lang="en-US" sz="1500" dirty="0">
                <a:solidFill>
                  <a:srgbClr val="333B4F"/>
                </a:solidFill>
                <a:latin typeface="Calibri" pitchFamily="34" charset="0"/>
                <a:ea typeface="Calibri" pitchFamily="34" charset="-122"/>
                <a:cs typeface="Calibri" pitchFamily="34" charset="-120"/>
              </a:rPr>
              <a:t>for a binary search trace, write one row per step: low, high, mid, a[mid], decision. Stop when found or when low &gt; high (not found).</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10 · SORTING</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Bubble Sort vs Selection Sort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
        <p:nvSpPr>
          <p:cNvPr id="7" name="Shape 4"/>
          <p:cNvSpPr/>
          <p:nvPr/>
        </p:nvSpPr>
        <p:spPr>
          <a:xfrm>
            <a:off x="548640" y="1645920"/>
            <a:ext cx="5486400" cy="3017520"/>
          </a:xfrm>
          <a:prstGeom prst="roundRect">
            <a:avLst>
              <a:gd name="adj" fmla="val 3030"/>
            </a:avLst>
          </a:prstGeom>
          <a:solidFill>
            <a:srgbClr val="0F1729"/>
          </a:solidFill>
          <a:ln w="12700">
            <a:solidFill>
              <a:srgbClr val="0F1729"/>
            </a:solidFill>
            <a:prstDash val="solid"/>
          </a:ln>
        </p:spPr>
      </p:sp>
      <p:sp>
        <p:nvSpPr>
          <p:cNvPr id="8" name="Text 5"/>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Bubble sort (early exit)</a:t>
            </a:r>
            <a:endParaRPr lang="en-US" sz="1100" dirty="0"/>
          </a:p>
        </p:txBody>
      </p:sp>
      <p:sp>
        <p:nvSpPr>
          <p:cNvPr id="9" name="Text 6"/>
          <p:cNvSpPr txBox="1"/>
          <p:nvPr/>
        </p:nvSpPr>
        <p:spPr>
          <a:xfrm>
            <a:off x="777240" y="2057400"/>
            <a:ext cx="5029200" cy="249631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pass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pass &lt;=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pass++)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&lt; n - pass; 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(a[j] &gt; a[j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(a[j], a[j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(a[j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0" name="Shape 7"/>
          <p:cNvSpPr/>
          <p:nvPr/>
        </p:nvSpPr>
        <p:spPr>
          <a:xfrm>
            <a:off x="6172200" y="1645920"/>
            <a:ext cx="5486400" cy="3017520"/>
          </a:xfrm>
          <a:prstGeom prst="roundRect">
            <a:avLst>
              <a:gd name="adj" fmla="val 3030"/>
            </a:avLst>
          </a:prstGeom>
          <a:solidFill>
            <a:srgbClr val="0F1729"/>
          </a:solidFill>
          <a:ln w="12700">
            <a:solidFill>
              <a:srgbClr val="0F1729"/>
            </a:solidFill>
            <a:prstDash val="solid"/>
          </a:ln>
        </p:spPr>
      </p:sp>
      <p:sp>
        <p:nvSpPr>
          <p:cNvPr id="11" name="Text 8"/>
          <p:cNvSpPr txBox="1"/>
          <p:nvPr/>
        </p:nvSpPr>
        <p:spPr>
          <a:xfrm>
            <a:off x="640080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Selection sort</a:t>
            </a:r>
            <a:endParaRPr lang="en-US" sz="1100" dirty="0"/>
          </a:p>
        </p:txBody>
      </p:sp>
      <p:sp>
        <p:nvSpPr>
          <p:cNvPr id="12" name="Text 9"/>
          <p:cNvSpPr txBox="1"/>
          <p:nvPr/>
        </p:nvSpPr>
        <p:spPr>
          <a:xfrm>
            <a:off x="6400800" y="2057400"/>
            <a:ext cx="5029200" cy="249631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minIndex = 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j &lt; n; 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(a[j] &lt; a[minIndex])</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minIndex = j;</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(a[i], a[minIndex]) = (a[minIndex], a[i]);</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11109960" cy="914400"/>
        </p:xfrm>
        <a:graphic>
          <a:graphicData uri="http://schemas.openxmlformats.org/drawingml/2006/table">
            <a:tbl>
              <a:tblPr/>
              <a:tblGrid>
                <a:gridCol w="2926080"/>
                <a:gridCol w="4206240"/>
                <a:gridCol w="3977640"/>
              </a:tblGrid>
              <a:tr h="310896">
                <a:tc>
                  <a:txBody>
                    <a:bodyPr/>
                    <a:lstStyle/>
                    <a:p>
                      <a:pPr algn="l" indent="0" marL="0">
                        <a:buNone/>
                      </a:pP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Bubble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Selection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10896">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Idea</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swap neighbours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find min, one swap</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10896">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Comparisons (n = 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15 (fewer with early exit)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always 15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10896">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Swaps per pass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many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at most 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11 · MATRICES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Matrices: Rows, Columns and Nested Loops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11</a:t>
            </a:r>
            <a:endParaRPr lang="en-US" sz="1000" dirty="0"/>
          </a:p>
        </p:txBody>
      </p:sp>
      <p:sp>
        <p:nvSpPr>
          <p:cNvPr id="7" name="Shape 4"/>
          <p:cNvSpPr/>
          <p:nvPr/>
        </p:nvSpPr>
        <p:spPr>
          <a:xfrm>
            <a:off x="548640" y="1645920"/>
            <a:ext cx="5852160" cy="4434840"/>
          </a:xfrm>
          <a:prstGeom prst="roundRect">
            <a:avLst>
              <a:gd name="adj" fmla="val 2062"/>
            </a:avLst>
          </a:prstGeom>
          <a:solidFill>
            <a:srgbClr val="0F1729"/>
          </a:solidFill>
          <a:ln w="12700">
            <a:solidFill>
              <a:srgbClr val="0F1729"/>
            </a:solidFill>
            <a:prstDash val="solid"/>
          </a:ln>
        </p:spPr>
      </p:sp>
      <p:sp>
        <p:nvSpPr>
          <p:cNvPr id="8" name="Text 5"/>
          <p:cNvSpPr txBox="1"/>
          <p:nvPr/>
        </p:nvSpPr>
        <p:spPr>
          <a:xfrm>
            <a:off x="777240" y="1755648"/>
            <a:ext cx="53949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Row-major traversal</a:t>
            </a:r>
            <a:endParaRPr lang="en-US" sz="1100" dirty="0"/>
          </a:p>
        </p:txBody>
      </p:sp>
      <p:sp>
        <p:nvSpPr>
          <p:cNvPr id="9" name="Text 6"/>
          <p:cNvSpPr txBox="1"/>
          <p:nvPr/>
        </p:nvSpPr>
        <p:spPr>
          <a:xfrm>
            <a:off x="777240" y="2057400"/>
            <a:ext cx="5394960" cy="3913632"/>
          </a:xfrm>
          <a:prstGeom prst="rect">
            <a:avLst/>
          </a:prstGeom>
          <a:noFill/>
          <a:ln/>
        </p:spPr>
        <p:txBody>
          <a:bodyPr wrap="square" lIns="0" tIns="0" rIns="0" bIns="0" rtlCol="0" anchor="t"/>
          <a:lstStyle/>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 =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rows = m.GetLength(</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2</a:t>
            </a:r>
            <a:endParaRPr lang="en-US" sz="1300" dirty="0"/>
          </a:p>
          <a:p>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cols = m.GetLength(</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3</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r &lt; rows; r++)  </a:t>
            </a:r>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row sums</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&lt; cols;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m[r, c];</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$"row {r}: {sum}"</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column sums: swap the two loops</a:t>
            </a:r>
            <a:endParaRPr lang="en-US" sz="1300" dirty="0"/>
          </a:p>
          <a:p>
            <a:pPr indent="0" marL="0">
              <a:spcAft>
                <a:spcPts val="100"/>
              </a:spcAft>
              <a:buNone/>
            </a:pPr>
            <a:r>
              <a:rPr lang="en-US" sz="1300" dirty="0">
                <a:solidFill>
                  <a:srgbClr val="7F8BA3"/>
                </a:solidFill>
                <a:latin typeface="Courier New" pitchFamily="34" charset="0"/>
                <a:ea typeface="Courier New" pitchFamily="34" charset="-122"/>
                <a:cs typeface="Courier New" pitchFamily="34" charset="-120"/>
              </a:rPr>
              <a:t>// m.Length == 6 (all elements)</a:t>
            </a:r>
            <a:endParaRPr lang="en-US" sz="1300" dirty="0"/>
          </a:p>
        </p:txBody>
      </p:sp>
      <p:sp>
        <p:nvSpPr>
          <p:cNvPr id="10" name="Text 7"/>
          <p:cNvSpPr txBox="1"/>
          <p:nvPr/>
        </p:nvSpPr>
        <p:spPr>
          <a:xfrm>
            <a:off x="7315200" y="1645920"/>
            <a:ext cx="2057400" cy="274320"/>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c →</a:t>
            </a:r>
            <a:endParaRPr lang="en-US" sz="1200" dirty="0"/>
          </a:p>
        </p:txBody>
      </p:sp>
      <p:sp>
        <p:nvSpPr>
          <p:cNvPr id="11" name="Text 8"/>
          <p:cNvSpPr txBox="1"/>
          <p:nvPr/>
        </p:nvSpPr>
        <p:spPr>
          <a:xfrm>
            <a:off x="6812280" y="2057400"/>
            <a:ext cx="411480" cy="68580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r0</a:t>
            </a:r>
            <a:endParaRPr lang="en-US" sz="1200" dirty="0"/>
          </a:p>
        </p:txBody>
      </p:sp>
      <p:sp>
        <p:nvSpPr>
          <p:cNvPr id="12" name="Shape 9"/>
          <p:cNvSpPr/>
          <p:nvPr/>
        </p:nvSpPr>
        <p:spPr>
          <a:xfrm>
            <a:off x="7315200" y="2057400"/>
            <a:ext cx="685800" cy="685800"/>
          </a:xfrm>
          <a:prstGeom prst="rect">
            <a:avLst/>
          </a:prstGeom>
          <a:solidFill>
            <a:srgbClr val="FFF1D6"/>
          </a:solidFill>
          <a:ln w="12700">
            <a:solidFill>
              <a:srgbClr val="14213D"/>
            </a:solidFill>
            <a:prstDash val="solid"/>
          </a:ln>
        </p:spPr>
      </p:sp>
      <p:sp>
        <p:nvSpPr>
          <p:cNvPr id="13" name="Text 10"/>
          <p:cNvSpPr txBox="1"/>
          <p:nvPr/>
        </p:nvSpPr>
        <p:spPr>
          <a:xfrm>
            <a:off x="7315200" y="20574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2</a:t>
            </a:r>
            <a:endParaRPr lang="en-US" sz="1600" dirty="0"/>
          </a:p>
        </p:txBody>
      </p:sp>
      <p:sp>
        <p:nvSpPr>
          <p:cNvPr id="14" name="Shape 11"/>
          <p:cNvSpPr/>
          <p:nvPr/>
        </p:nvSpPr>
        <p:spPr>
          <a:xfrm>
            <a:off x="8001000" y="2057400"/>
            <a:ext cx="685800" cy="685800"/>
          </a:xfrm>
          <a:prstGeom prst="rect">
            <a:avLst/>
          </a:prstGeom>
          <a:solidFill>
            <a:srgbClr val="FFFFFF"/>
          </a:solidFill>
          <a:ln w="12700">
            <a:solidFill>
              <a:srgbClr val="14213D"/>
            </a:solidFill>
            <a:prstDash val="solid"/>
          </a:ln>
        </p:spPr>
      </p:sp>
      <p:sp>
        <p:nvSpPr>
          <p:cNvPr id="15" name="Text 12"/>
          <p:cNvSpPr txBox="1"/>
          <p:nvPr/>
        </p:nvSpPr>
        <p:spPr>
          <a:xfrm>
            <a:off x="8001000" y="20574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7</a:t>
            </a:r>
            <a:endParaRPr lang="en-US" sz="1600" dirty="0"/>
          </a:p>
        </p:txBody>
      </p:sp>
      <p:sp>
        <p:nvSpPr>
          <p:cNvPr id="16" name="Shape 13"/>
          <p:cNvSpPr/>
          <p:nvPr/>
        </p:nvSpPr>
        <p:spPr>
          <a:xfrm>
            <a:off x="8686800" y="2057400"/>
            <a:ext cx="685800" cy="685800"/>
          </a:xfrm>
          <a:prstGeom prst="rect">
            <a:avLst/>
          </a:prstGeom>
          <a:solidFill>
            <a:srgbClr val="E3ECF8"/>
          </a:solidFill>
          <a:ln w="12700">
            <a:solidFill>
              <a:srgbClr val="14213D"/>
            </a:solidFill>
            <a:prstDash val="solid"/>
          </a:ln>
        </p:spPr>
      </p:sp>
      <p:sp>
        <p:nvSpPr>
          <p:cNvPr id="17" name="Text 14"/>
          <p:cNvSpPr txBox="1"/>
          <p:nvPr/>
        </p:nvSpPr>
        <p:spPr>
          <a:xfrm>
            <a:off x="8686800" y="20574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1</a:t>
            </a:r>
            <a:endParaRPr lang="en-US" sz="1600" dirty="0"/>
          </a:p>
        </p:txBody>
      </p:sp>
      <p:sp>
        <p:nvSpPr>
          <p:cNvPr id="18" name="Text 15"/>
          <p:cNvSpPr txBox="1"/>
          <p:nvPr/>
        </p:nvSpPr>
        <p:spPr>
          <a:xfrm>
            <a:off x="6812280" y="2743200"/>
            <a:ext cx="411480" cy="68580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r1</a:t>
            </a:r>
            <a:endParaRPr lang="en-US" sz="1200" dirty="0"/>
          </a:p>
        </p:txBody>
      </p:sp>
      <p:sp>
        <p:nvSpPr>
          <p:cNvPr id="19" name="Shape 16"/>
          <p:cNvSpPr/>
          <p:nvPr/>
        </p:nvSpPr>
        <p:spPr>
          <a:xfrm>
            <a:off x="7315200" y="2743200"/>
            <a:ext cx="685800" cy="685800"/>
          </a:xfrm>
          <a:prstGeom prst="rect">
            <a:avLst/>
          </a:prstGeom>
          <a:solidFill>
            <a:srgbClr val="FFFFFF"/>
          </a:solidFill>
          <a:ln w="12700">
            <a:solidFill>
              <a:srgbClr val="14213D"/>
            </a:solidFill>
            <a:prstDash val="solid"/>
          </a:ln>
        </p:spPr>
      </p:sp>
      <p:sp>
        <p:nvSpPr>
          <p:cNvPr id="20" name="Text 17"/>
          <p:cNvSpPr txBox="1"/>
          <p:nvPr/>
        </p:nvSpPr>
        <p:spPr>
          <a:xfrm>
            <a:off x="7315200" y="27432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5</a:t>
            </a:r>
            <a:endParaRPr lang="en-US" sz="1600" dirty="0"/>
          </a:p>
        </p:txBody>
      </p:sp>
      <p:sp>
        <p:nvSpPr>
          <p:cNvPr id="21" name="Shape 18"/>
          <p:cNvSpPr/>
          <p:nvPr/>
        </p:nvSpPr>
        <p:spPr>
          <a:xfrm>
            <a:off x="8001000" y="2743200"/>
            <a:ext cx="685800" cy="685800"/>
          </a:xfrm>
          <a:prstGeom prst="rect">
            <a:avLst/>
          </a:prstGeom>
          <a:solidFill>
            <a:srgbClr val="FFF1D6"/>
          </a:solidFill>
          <a:ln w="12700">
            <a:solidFill>
              <a:srgbClr val="14213D"/>
            </a:solidFill>
            <a:prstDash val="solid"/>
          </a:ln>
        </p:spPr>
      </p:sp>
      <p:sp>
        <p:nvSpPr>
          <p:cNvPr id="22" name="Text 19"/>
          <p:cNvSpPr txBox="1"/>
          <p:nvPr/>
        </p:nvSpPr>
        <p:spPr>
          <a:xfrm>
            <a:off x="8001000" y="27432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3</a:t>
            </a:r>
            <a:endParaRPr lang="en-US" sz="1600" dirty="0"/>
          </a:p>
        </p:txBody>
      </p:sp>
      <p:sp>
        <p:nvSpPr>
          <p:cNvPr id="23" name="Shape 20"/>
          <p:cNvSpPr/>
          <p:nvPr/>
        </p:nvSpPr>
        <p:spPr>
          <a:xfrm>
            <a:off x="8686800" y="2743200"/>
            <a:ext cx="685800" cy="685800"/>
          </a:xfrm>
          <a:prstGeom prst="rect">
            <a:avLst/>
          </a:prstGeom>
          <a:solidFill>
            <a:srgbClr val="FFFFFF"/>
          </a:solidFill>
          <a:ln w="12700">
            <a:solidFill>
              <a:srgbClr val="14213D"/>
            </a:solidFill>
            <a:prstDash val="solid"/>
          </a:ln>
        </p:spPr>
      </p:sp>
      <p:sp>
        <p:nvSpPr>
          <p:cNvPr id="24" name="Text 21"/>
          <p:cNvSpPr txBox="1"/>
          <p:nvPr/>
        </p:nvSpPr>
        <p:spPr>
          <a:xfrm>
            <a:off x="8686800" y="27432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8</a:t>
            </a:r>
            <a:endParaRPr lang="en-US" sz="1600" dirty="0"/>
          </a:p>
        </p:txBody>
      </p:sp>
      <p:sp>
        <p:nvSpPr>
          <p:cNvPr id="25" name="Text 22"/>
          <p:cNvSpPr txBox="1"/>
          <p:nvPr/>
        </p:nvSpPr>
        <p:spPr>
          <a:xfrm>
            <a:off x="6812280" y="3429000"/>
            <a:ext cx="411480" cy="685800"/>
          </a:xfrm>
          <a:prstGeom prst="rect">
            <a:avLst/>
          </a:prstGeom>
          <a:noFill/>
          <a:ln/>
        </p:spPr>
        <p:txBody>
          <a:bodyPr wrap="square" lIns="0" tIns="0" rIns="0" bIns="0" rtlCol="0" anchor="ctr"/>
          <a:lstStyle/>
          <a:p>
            <a:pPr indent="0" marL="0">
              <a:buNone/>
            </a:pPr>
            <a:r>
              <a:rPr lang="en-US" sz="1200" dirty="0">
                <a:solidFill>
                  <a:srgbClr val="5B6478"/>
                </a:solidFill>
                <a:latin typeface="Courier New" pitchFamily="34" charset="0"/>
                <a:ea typeface="Courier New" pitchFamily="34" charset="-122"/>
                <a:cs typeface="Courier New" pitchFamily="34" charset="-120"/>
              </a:rPr>
              <a:t>r2</a:t>
            </a:r>
            <a:endParaRPr lang="en-US" sz="1200" dirty="0"/>
          </a:p>
        </p:txBody>
      </p:sp>
      <p:sp>
        <p:nvSpPr>
          <p:cNvPr id="26" name="Shape 23"/>
          <p:cNvSpPr/>
          <p:nvPr/>
        </p:nvSpPr>
        <p:spPr>
          <a:xfrm>
            <a:off x="7315200" y="3429000"/>
            <a:ext cx="685800" cy="685800"/>
          </a:xfrm>
          <a:prstGeom prst="rect">
            <a:avLst/>
          </a:prstGeom>
          <a:solidFill>
            <a:srgbClr val="E3ECF8"/>
          </a:solidFill>
          <a:ln w="12700">
            <a:solidFill>
              <a:srgbClr val="14213D"/>
            </a:solidFill>
            <a:prstDash val="solid"/>
          </a:ln>
        </p:spPr>
      </p:sp>
      <p:sp>
        <p:nvSpPr>
          <p:cNvPr id="27" name="Text 24"/>
          <p:cNvSpPr txBox="1"/>
          <p:nvPr/>
        </p:nvSpPr>
        <p:spPr>
          <a:xfrm>
            <a:off x="7315200" y="34290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4</a:t>
            </a:r>
            <a:endParaRPr lang="en-US" sz="1600" dirty="0"/>
          </a:p>
        </p:txBody>
      </p:sp>
      <p:sp>
        <p:nvSpPr>
          <p:cNvPr id="28" name="Shape 25"/>
          <p:cNvSpPr/>
          <p:nvPr/>
        </p:nvSpPr>
        <p:spPr>
          <a:xfrm>
            <a:off x="8001000" y="3429000"/>
            <a:ext cx="685800" cy="685800"/>
          </a:xfrm>
          <a:prstGeom prst="rect">
            <a:avLst/>
          </a:prstGeom>
          <a:solidFill>
            <a:srgbClr val="FFFFFF"/>
          </a:solidFill>
          <a:ln w="12700">
            <a:solidFill>
              <a:srgbClr val="14213D"/>
            </a:solidFill>
            <a:prstDash val="solid"/>
          </a:ln>
        </p:spPr>
      </p:sp>
      <p:sp>
        <p:nvSpPr>
          <p:cNvPr id="29" name="Text 26"/>
          <p:cNvSpPr txBox="1"/>
          <p:nvPr/>
        </p:nvSpPr>
        <p:spPr>
          <a:xfrm>
            <a:off x="8001000" y="34290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6</a:t>
            </a:r>
            <a:endParaRPr lang="en-US" sz="1600" dirty="0"/>
          </a:p>
        </p:txBody>
      </p:sp>
      <p:sp>
        <p:nvSpPr>
          <p:cNvPr id="30" name="Shape 27"/>
          <p:cNvSpPr/>
          <p:nvPr/>
        </p:nvSpPr>
        <p:spPr>
          <a:xfrm>
            <a:off x="8686800" y="3429000"/>
            <a:ext cx="685800" cy="685800"/>
          </a:xfrm>
          <a:prstGeom prst="rect">
            <a:avLst/>
          </a:prstGeom>
          <a:solidFill>
            <a:srgbClr val="FFF1D6"/>
          </a:solidFill>
          <a:ln w="12700">
            <a:solidFill>
              <a:srgbClr val="14213D"/>
            </a:solidFill>
            <a:prstDash val="solid"/>
          </a:ln>
        </p:spPr>
      </p:sp>
      <p:sp>
        <p:nvSpPr>
          <p:cNvPr id="31" name="Text 28"/>
          <p:cNvSpPr txBox="1"/>
          <p:nvPr/>
        </p:nvSpPr>
        <p:spPr>
          <a:xfrm>
            <a:off x="8686800" y="3429000"/>
            <a:ext cx="685800" cy="685800"/>
          </a:xfrm>
          <a:prstGeom prst="rect">
            <a:avLst/>
          </a:prstGeom>
          <a:noFill/>
          <a:ln/>
        </p:spPr>
        <p:txBody>
          <a:bodyPr wrap="square" lIns="0" tIns="0" rIns="0" bIns="0" rtlCol="0" anchor="ctr"/>
          <a:lstStyle/>
          <a:p>
            <a:pPr algn="ctr" indent="0" marL="0">
              <a:buNone/>
            </a:pPr>
            <a:r>
              <a:rPr lang="en-US" sz="1600" b="1" dirty="0">
                <a:solidFill>
                  <a:srgbClr val="14213D"/>
                </a:solidFill>
                <a:latin typeface="Courier New" pitchFamily="34" charset="0"/>
                <a:ea typeface="Courier New" pitchFamily="34" charset="-122"/>
                <a:cs typeface="Courier New" pitchFamily="34" charset="-120"/>
              </a:rPr>
              <a:t>9</a:t>
            </a:r>
            <a:endParaRPr lang="en-US" sz="1600" dirty="0"/>
          </a:p>
        </p:txBody>
      </p:sp>
      <p:sp>
        <p:nvSpPr>
          <p:cNvPr id="32" name="Text 29"/>
          <p:cNvSpPr txBox="1"/>
          <p:nvPr/>
        </p:nvSpPr>
        <p:spPr>
          <a:xfrm>
            <a:off x="9555480" y="2148840"/>
            <a:ext cx="2103120" cy="914400"/>
          </a:xfrm>
          <a:prstGeom prst="rect">
            <a:avLst/>
          </a:prstGeom>
          <a:noFill/>
          <a:ln/>
        </p:spPr>
        <p:txBody>
          <a:bodyPr wrap="square" lIns="0" tIns="0" rIns="0" bIns="0" rtlCol="0" anchor="t"/>
          <a:lstStyle/>
          <a:p>
            <a:pPr indent="0" marL="0">
              <a:buNone/>
            </a:pPr>
            <a:r>
              <a:rPr lang="en-US" sz="1300" dirty="0">
                <a:solidFill>
                  <a:srgbClr val="E8B04A"/>
                </a:solidFill>
                <a:latin typeface="Calibri" pitchFamily="34" charset="0"/>
                <a:ea typeface="Calibri" pitchFamily="34" charset="-122"/>
                <a:cs typeface="Calibri" pitchFamily="34" charset="-120"/>
              </a:rPr>
              <a:t>■ </a:t>
            </a:r>
            <a:pPr indent="0" marL="0">
              <a:buNone/>
            </a:pPr>
            <a:r>
              <a:rPr lang="en-US" sz="1300" dirty="0">
                <a:solidFill>
                  <a:srgbClr val="333B4F"/>
                </a:solidFill>
                <a:latin typeface="Calibri" pitchFamily="34" charset="0"/>
                <a:ea typeface="Calibri" pitchFamily="34" charset="-122"/>
                <a:cs typeface="Calibri" pitchFamily="34" charset="-120"/>
              </a:rPr>
              <a:t>r == c  (main diagonal)</a:t>
            </a:r>
            <a:endParaRPr lang="en-US" sz="1300" dirty="0"/>
          </a:p>
          <a:p>
            <a:pPr indent="0" marL="0">
              <a:buNone/>
            </a:pPr>
            <a:r>
              <a:rPr lang="en-US" sz="1300" dirty="0">
                <a:solidFill>
                  <a:srgbClr val="8FB3E0"/>
                </a:solidFill>
                <a:latin typeface="Calibri" pitchFamily="34" charset="0"/>
                <a:ea typeface="Calibri" pitchFamily="34" charset="-122"/>
                <a:cs typeface="Calibri" pitchFamily="34" charset="-120"/>
              </a:rPr>
              <a:t>■ </a:t>
            </a:r>
            <a:pPr indent="0" marL="0">
              <a:buNone/>
            </a:pPr>
            <a:r>
              <a:rPr lang="en-US" sz="1300" dirty="0">
                <a:solidFill>
                  <a:srgbClr val="333B4F"/>
                </a:solidFill>
                <a:latin typeface="Calibri" pitchFamily="34" charset="0"/>
                <a:ea typeface="Calibri" pitchFamily="34" charset="-122"/>
                <a:cs typeface="Calibri" pitchFamily="34" charset="-120"/>
              </a:rPr>
              <a:t>r + c == n − 1  (anti)</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75120" y="4251960"/>
          <a:ext cx="4983480" cy="914400"/>
        </p:xfrm>
        <a:graphic>
          <a:graphicData uri="http://schemas.openxmlformats.org/drawingml/2006/table">
            <a:tbl>
              <a:tblPr/>
              <a:tblGrid>
                <a:gridCol w="1600200"/>
                <a:gridCol w="3383280"/>
              </a:tblGrid>
              <a:tr h="36576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Task</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Code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6576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element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m[r, c]</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rows / cols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m.GetLength(0) /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6576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transpose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t[c, r] = m[r, c]</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65760">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jagged row</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p[r].Length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12 ·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Methods and Parameter Passing</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
        <p:nvSpPr>
          <p:cNvPr id="7" name="Shape 4"/>
          <p:cNvSpPr/>
          <p:nvPr/>
        </p:nvSpPr>
        <p:spPr>
          <a:xfrm>
            <a:off x="548640" y="1645920"/>
            <a:ext cx="6035040" cy="1920240"/>
          </a:xfrm>
          <a:prstGeom prst="roundRect">
            <a:avLst>
              <a:gd name="adj" fmla="val 4762"/>
            </a:avLst>
          </a:prstGeom>
          <a:solidFill>
            <a:srgbClr val="0F1729"/>
          </a:solidFill>
          <a:ln w="12700">
            <a:solidFill>
              <a:srgbClr val="0F1729"/>
            </a:solidFill>
            <a:prstDash val="solid"/>
          </a:ln>
        </p:spPr>
      </p:sp>
      <p:sp>
        <p:nvSpPr>
          <p:cNvPr id="8" name="Text 5"/>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return type · name · parameter list</a:t>
            </a:r>
            <a:endParaRPr lang="en-US" sz="1100" dirty="0"/>
          </a:p>
        </p:txBody>
      </p:sp>
      <p:sp>
        <p:nvSpPr>
          <p:cNvPr id="9" name="Text 6"/>
          <p:cNvSpPr txBox="1"/>
          <p:nvPr/>
        </p:nvSpPr>
        <p:spPr>
          <a:xfrm>
            <a:off x="777240" y="2057400"/>
            <a:ext cx="5577840" cy="1399032"/>
          </a:xfrm>
          <a:prstGeom prst="rect">
            <a:avLst/>
          </a:prstGeom>
          <a:noFill/>
          <a:ln/>
        </p:spPr>
        <p:txBody>
          <a:bodyPr wrap="square" lIns="0" tIns="0" rIns="0" bIns="0" rtlCol="0" anchor="t"/>
          <a:lstStyle/>
          <a:p>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returns the average of the elements</a:t>
            </a:r>
            <a:endParaRPr lang="en-US" sz="1400" dirty="0"/>
          </a:p>
          <a:p>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Average(</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)sum / a.Length;</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a:t>
            </a:r>
            <a:endParaRPr lang="en-US" sz="1400" dirty="0"/>
          </a:p>
        </p:txBody>
      </p:sp>
      <p:sp>
        <p:nvSpPr>
          <p:cNvPr id="10" name="Shape 7"/>
          <p:cNvSpPr/>
          <p:nvPr/>
        </p:nvSpPr>
        <p:spPr>
          <a:xfrm>
            <a:off x="548640" y="3703320"/>
            <a:ext cx="6035040" cy="2377440"/>
          </a:xfrm>
          <a:prstGeom prst="roundRect">
            <a:avLst>
              <a:gd name="adj" fmla="val 3846"/>
            </a:avLst>
          </a:prstGeom>
          <a:solidFill>
            <a:srgbClr val="0F1729"/>
          </a:solidFill>
          <a:ln w="12700">
            <a:solidFill>
              <a:srgbClr val="0F1729"/>
            </a:solidFill>
            <a:prstDash val="solid"/>
          </a:ln>
        </p:spPr>
      </p:sp>
      <p:sp>
        <p:nvSpPr>
          <p:cNvPr id="11" name="Text 8"/>
          <p:cNvSpPr txBox="1"/>
          <p:nvPr/>
        </p:nvSpPr>
        <p:spPr>
          <a:xfrm>
            <a:off x="777240" y="38130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Calls</a:t>
            </a:r>
            <a:endParaRPr lang="en-US" sz="1100" dirty="0"/>
          </a:p>
        </p:txBody>
      </p:sp>
      <p:sp>
        <p:nvSpPr>
          <p:cNvPr id="12" name="Text 9"/>
          <p:cNvSpPr txBox="1"/>
          <p:nvPr/>
        </p:nvSpPr>
        <p:spPr>
          <a:xfrm>
            <a:off x="777240" y="4114800"/>
            <a:ext cx="5577840" cy="1856232"/>
          </a:xfrm>
          <a:prstGeom prst="rect">
            <a:avLst/>
          </a:prstGeom>
          <a:noFill/>
          <a:ln/>
        </p:spPr>
        <p:txBody>
          <a:bodyPr wrap="square" lIns="0" tIns="0" rIns="0" bIns="0" rtlCol="0" anchor="t"/>
          <a:lstStyle/>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t = {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avg = Average(t);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value</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Swap(</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y);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ref</a:t>
            </a:r>
            <a:endParaRPr lang="en-US" sz="1400" dirty="0"/>
          </a:p>
          <a:p>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ok =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.TryParse(s, </a:t>
            </a:r>
            <a:pPr indent="0" marL="0">
              <a:spcAft>
                <a:spcPts val="100"/>
              </a:spcAft>
              <a:buNone/>
            </a:pPr>
            <a:r>
              <a:rPr lang="en-US" sz="1400" dirty="0">
                <a:solidFill>
                  <a:srgbClr val="7AB8FF"/>
                </a:solidFill>
                <a:latin typeface="Courier New" pitchFamily="34" charset="0"/>
                <a:ea typeface="Courier New" pitchFamily="34" charset="-122"/>
                <a:cs typeface="Courier New" pitchFamily="34" charset="-120"/>
              </a:rPr>
              <a:t>out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4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 n);</a:t>
            </a:r>
            <a:endParaRPr lang="en-US" sz="1400" dirty="0"/>
          </a:p>
          <a:p>
            <a:pPr indent="0" marL="0">
              <a:spcAft>
                <a:spcPts val="100"/>
              </a:spcAft>
              <a:buNone/>
            </a:pPr>
            <a:r>
              <a:rPr lang="en-US" sz="1400" dirty="0">
                <a:solidFill>
                  <a:srgbClr val="E6EDF7"/>
                </a:solidFill>
                <a:latin typeface="Courier New" pitchFamily="34" charset="0"/>
                <a:ea typeface="Courier New" pitchFamily="34" charset="-122"/>
                <a:cs typeface="Courier New" pitchFamily="34" charset="-120"/>
              </a:rPr>
              <a:t>PrintArray(t);                   </a:t>
            </a:r>
            <a:pPr indent="0" marL="0">
              <a:spcAft>
                <a:spcPts val="100"/>
              </a:spcAft>
              <a:buNone/>
            </a:pPr>
            <a:r>
              <a:rPr lang="en-US" sz="1400" dirty="0">
                <a:solidFill>
                  <a:srgbClr val="7F8BA3"/>
                </a:solidFill>
                <a:latin typeface="Courier New" pitchFamily="34" charset="0"/>
                <a:ea typeface="Courier New" pitchFamily="34" charset="-122"/>
                <a:cs typeface="Courier New" pitchFamily="34" charset="-120"/>
              </a:rPr>
              <a:t>// void</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12280" y="1645920"/>
          <a:ext cx="4846320" cy="914400"/>
        </p:xfrm>
        <a:graphic>
          <a:graphicData uri="http://schemas.openxmlformats.org/drawingml/2006/table">
            <a:tbl>
              <a:tblPr/>
              <a:tblGrid>
                <a:gridCol w="1188720"/>
                <a:gridCol w="1783080"/>
                <a:gridCol w="1874520"/>
              </a:tblGrid>
              <a:tr h="566928">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Parameter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 gets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Caller sees changes?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v</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 copy of the 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a</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 copy of the reference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elements: yes · a = new …: no</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ref int v</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the caller's variable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yes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out int v</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must assign it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yes (that is the purpose)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4" name="Shape 10"/>
          <p:cNvSpPr/>
          <p:nvPr/>
        </p:nvSpPr>
        <p:spPr>
          <a:xfrm>
            <a:off x="6812280" y="4663440"/>
            <a:ext cx="4846320" cy="1417320"/>
          </a:xfrm>
          <a:prstGeom prst="roundRect">
            <a:avLst>
              <a:gd name="adj" fmla="val 7742"/>
            </a:avLst>
          </a:prstGeom>
          <a:solidFill>
            <a:srgbClr val="FFF6E3"/>
          </a:solidFill>
          <a:ln w="12700">
            <a:solidFill>
              <a:srgbClr val="FFF6E3"/>
            </a:solidFill>
            <a:prstDash val="solid"/>
          </a:ln>
        </p:spPr>
      </p:sp>
      <p:pic>
        <p:nvPicPr>
          <p:cNvPr id="15" name="Image 0" descr="preencoded.png">    </p:cNvPr>
          <p:cNvPicPr>
            <a:picLocks noChangeAspect="1"/>
          </p:cNvPicPr>
          <p:nvPr/>
        </p:nvPicPr>
        <p:blipFill>
          <a:blip r:embed="rId1"/>
          <a:stretch>
            <a:fillRect/>
          </a:stretch>
        </p:blipFill>
        <p:spPr>
          <a:xfrm>
            <a:off x="7086600" y="5097780"/>
            <a:ext cx="548640" cy="548640"/>
          </a:xfrm>
          <a:prstGeom prst="rect">
            <a:avLst/>
          </a:prstGeom>
        </p:spPr>
      </p:pic>
      <p:sp>
        <p:nvSpPr>
          <p:cNvPr id="16" name="Text 11"/>
          <p:cNvSpPr txBox="1"/>
          <p:nvPr/>
        </p:nvSpPr>
        <p:spPr>
          <a:xfrm>
            <a:off x="7909560" y="4736592"/>
            <a:ext cx="3474720" cy="12710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Prefer returning a result over changing parameters. Use ref only when a method must change two variables (Swap).</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13 · RETURN, SCOPE, RECURSION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return, Scope and Recursion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
        <p:nvSpPr>
          <p:cNvPr id="7" name="Text 4"/>
          <p:cNvSpPr txBox="1"/>
          <p:nvPr/>
        </p:nvSpPr>
        <p:spPr>
          <a:xfrm>
            <a:off x="548640" y="1600200"/>
            <a:ext cx="3566160" cy="384048"/>
          </a:xfrm>
          <a:prstGeom prst="rect">
            <a:avLst/>
          </a:prstGeom>
          <a:noFill/>
          <a:ln/>
        </p:spPr>
        <p:txBody>
          <a:bodyPr wrap="square" lIns="0" tIns="0" rIns="0" bIns="0" rtlCol="0" anchor="ctr"/>
          <a:lstStyle/>
          <a:p>
            <a:pPr indent="0" marL="0">
              <a:buNone/>
            </a:pPr>
            <a:r>
              <a:rPr lang="en-US" sz="1900" b="1" dirty="0">
                <a:solidFill>
                  <a:srgbClr val="14213D"/>
                </a:solidFill>
                <a:latin typeface="Cambria" pitchFamily="34" charset="0"/>
                <a:ea typeface="Cambria" pitchFamily="34" charset="-122"/>
                <a:cs typeface="Cambria" pitchFamily="34" charset="-120"/>
              </a:rPr>
              <a:t>return</a:t>
            </a:r>
            <a:endParaRPr lang="en-US" sz="1900" dirty="0"/>
          </a:p>
        </p:txBody>
      </p:sp>
      <p:sp>
        <p:nvSpPr>
          <p:cNvPr id="8" name="Shape 5"/>
          <p:cNvSpPr/>
          <p:nvPr/>
        </p:nvSpPr>
        <p:spPr>
          <a:xfrm>
            <a:off x="548640" y="2011680"/>
            <a:ext cx="3611880" cy="3429000"/>
          </a:xfrm>
          <a:prstGeom prst="roundRect">
            <a:avLst>
              <a:gd name="adj" fmla="val 2667"/>
            </a:avLst>
          </a:prstGeom>
          <a:solidFill>
            <a:srgbClr val="0F1729"/>
          </a:solidFill>
          <a:ln w="12700">
            <a:solidFill>
              <a:srgbClr val="0F1729"/>
            </a:solidFill>
            <a:prstDash val="solid"/>
          </a:ln>
        </p:spPr>
      </p:sp>
      <p:sp>
        <p:nvSpPr>
          <p:cNvPr id="9" name="Text 6"/>
          <p:cNvSpPr txBox="1"/>
          <p:nvPr/>
        </p:nvSpPr>
        <p:spPr>
          <a:xfrm>
            <a:off x="777240" y="2176272"/>
            <a:ext cx="3154680" cy="315468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Sign(</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all paths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0" name="Shape 7"/>
          <p:cNvSpPr/>
          <p:nvPr/>
        </p:nvSpPr>
        <p:spPr>
          <a:xfrm>
            <a:off x="548640" y="5532120"/>
            <a:ext cx="3611880" cy="548640"/>
          </a:xfrm>
          <a:prstGeom prst="roundRect">
            <a:avLst>
              <a:gd name="adj" fmla="val 20000"/>
            </a:avLst>
          </a:prstGeom>
          <a:solidFill>
            <a:srgbClr val="FBE9E7"/>
          </a:solidFill>
          <a:ln w="12700">
            <a:solidFill>
              <a:srgbClr val="FBE9E7"/>
            </a:solidFill>
            <a:prstDash val="solid"/>
          </a:ln>
        </p:spPr>
      </p:sp>
      <p:sp>
        <p:nvSpPr>
          <p:cNvPr id="11" name="Text 8"/>
          <p:cNvSpPr txBox="1"/>
          <p:nvPr/>
        </p:nvSpPr>
        <p:spPr>
          <a:xfrm>
            <a:off x="685800" y="5532120"/>
            <a:ext cx="333756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Missing last return → CS0161</a:t>
            </a:r>
            <a:endParaRPr lang="en-US" sz="1400" dirty="0"/>
          </a:p>
        </p:txBody>
      </p:sp>
      <p:sp>
        <p:nvSpPr>
          <p:cNvPr id="12" name="Text 9"/>
          <p:cNvSpPr txBox="1"/>
          <p:nvPr/>
        </p:nvSpPr>
        <p:spPr>
          <a:xfrm>
            <a:off x="4297680" y="1600200"/>
            <a:ext cx="3566160" cy="384048"/>
          </a:xfrm>
          <a:prstGeom prst="rect">
            <a:avLst/>
          </a:prstGeom>
          <a:noFill/>
          <a:ln/>
        </p:spPr>
        <p:txBody>
          <a:bodyPr wrap="square" lIns="0" tIns="0" rIns="0" bIns="0" rtlCol="0" anchor="ctr"/>
          <a:lstStyle/>
          <a:p>
            <a:pPr indent="0" marL="0">
              <a:buNone/>
            </a:pPr>
            <a:r>
              <a:rPr lang="en-US" sz="1900" b="1" dirty="0">
                <a:solidFill>
                  <a:srgbClr val="2F6FB3"/>
                </a:solidFill>
                <a:latin typeface="Cambria" pitchFamily="34" charset="0"/>
                <a:ea typeface="Cambria" pitchFamily="34" charset="-122"/>
                <a:cs typeface="Cambria" pitchFamily="34" charset="-120"/>
              </a:rPr>
              <a:t>Scope</a:t>
            </a:r>
            <a:endParaRPr lang="en-US" sz="1900" dirty="0"/>
          </a:p>
        </p:txBody>
      </p:sp>
      <p:sp>
        <p:nvSpPr>
          <p:cNvPr id="13" name="Shape 10"/>
          <p:cNvSpPr/>
          <p:nvPr/>
        </p:nvSpPr>
        <p:spPr>
          <a:xfrm>
            <a:off x="4297680" y="2011680"/>
            <a:ext cx="3611880" cy="3429000"/>
          </a:xfrm>
          <a:prstGeom prst="roundRect">
            <a:avLst>
              <a:gd name="adj" fmla="val 2667"/>
            </a:avLst>
          </a:prstGeom>
          <a:solidFill>
            <a:srgbClr val="0F1729"/>
          </a:solidFill>
          <a:ln w="12700">
            <a:solidFill>
              <a:srgbClr val="0F1729"/>
            </a:solidFill>
            <a:prstDash val="solid"/>
          </a:ln>
        </p:spPr>
      </p:sp>
      <p:sp>
        <p:nvSpPr>
          <p:cNvPr id="14" name="Text 11"/>
          <p:cNvSpPr txBox="1"/>
          <p:nvPr/>
        </p:nvSpPr>
        <p:spPr>
          <a:xfrm>
            <a:off x="4526280" y="2176272"/>
            <a:ext cx="3154680" cy="315468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 = i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sq, i: CS0103 here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int total = 1;</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CS0136</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4297680" y="5532120"/>
            <a:ext cx="3611880" cy="548640"/>
          </a:xfrm>
          <a:prstGeom prst="roundRect">
            <a:avLst>
              <a:gd name="adj" fmla="val 20000"/>
            </a:avLst>
          </a:prstGeom>
          <a:solidFill>
            <a:srgbClr val="E3ECF8"/>
          </a:solidFill>
          <a:ln w="12700">
            <a:solidFill>
              <a:srgbClr val="E3ECF8"/>
            </a:solidFill>
            <a:prstDash val="solid"/>
          </a:ln>
        </p:spPr>
      </p:sp>
      <p:sp>
        <p:nvSpPr>
          <p:cNvPr id="16" name="Text 13"/>
          <p:cNvSpPr txBox="1"/>
          <p:nvPr/>
        </p:nvSpPr>
        <p:spPr>
          <a:xfrm>
            <a:off x="4434840" y="5532120"/>
            <a:ext cx="333756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Block = lifetime of a local</a:t>
            </a:r>
            <a:endParaRPr lang="en-US" sz="1400" dirty="0"/>
          </a:p>
        </p:txBody>
      </p:sp>
      <p:sp>
        <p:nvSpPr>
          <p:cNvPr id="17" name="Text 14"/>
          <p:cNvSpPr txBox="1"/>
          <p:nvPr/>
        </p:nvSpPr>
        <p:spPr>
          <a:xfrm>
            <a:off x="8046720" y="1600200"/>
            <a:ext cx="3566160" cy="384048"/>
          </a:xfrm>
          <a:prstGeom prst="rect">
            <a:avLst/>
          </a:prstGeom>
          <a:noFill/>
          <a:ln/>
        </p:spPr>
        <p:txBody>
          <a:bodyPr wrap="square" lIns="0" tIns="0" rIns="0" bIns="0" rtlCol="0" anchor="ctr"/>
          <a:lstStyle/>
          <a:p>
            <a:pPr indent="0" marL="0">
              <a:buNone/>
            </a:pPr>
            <a:r>
              <a:rPr lang="en-US" sz="1900" b="1" dirty="0">
                <a:solidFill>
                  <a:srgbClr val="2E9E6A"/>
                </a:solidFill>
                <a:latin typeface="Cambria" pitchFamily="34" charset="0"/>
                <a:ea typeface="Cambria" pitchFamily="34" charset="-122"/>
                <a:cs typeface="Cambria" pitchFamily="34" charset="-120"/>
              </a:rPr>
              <a:t>Recursion</a:t>
            </a:r>
            <a:endParaRPr lang="en-US" sz="1900" dirty="0"/>
          </a:p>
        </p:txBody>
      </p:sp>
      <p:sp>
        <p:nvSpPr>
          <p:cNvPr id="18" name="Shape 15"/>
          <p:cNvSpPr/>
          <p:nvPr/>
        </p:nvSpPr>
        <p:spPr>
          <a:xfrm>
            <a:off x="8046720" y="2011680"/>
            <a:ext cx="3611880" cy="3429000"/>
          </a:xfrm>
          <a:prstGeom prst="roundRect">
            <a:avLst>
              <a:gd name="adj" fmla="val 2667"/>
            </a:avLst>
          </a:prstGeom>
          <a:solidFill>
            <a:srgbClr val="0F1729"/>
          </a:solidFill>
          <a:ln w="12700">
            <a:solidFill>
              <a:srgbClr val="0F1729"/>
            </a:solidFill>
            <a:prstDash val="solid"/>
          </a:ln>
        </p:spPr>
      </p:sp>
      <p:sp>
        <p:nvSpPr>
          <p:cNvPr id="19" name="Text 16"/>
          <p:cNvSpPr txBox="1"/>
          <p:nvPr/>
        </p:nvSpPr>
        <p:spPr>
          <a:xfrm>
            <a:off x="8275320" y="2176272"/>
            <a:ext cx="3154680" cy="315468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long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Fact(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base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Fact(n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Fact(4) → 4·Fact(3)</a:t>
            </a:r>
            <a:endParaRPr lang="en-US" sz="1200" dirty="0"/>
          </a:p>
          <a:p>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 4·3·Fact(2) → … 24</a:t>
            </a:r>
            <a:endParaRPr lang="en-US" sz="1200" dirty="0"/>
          </a:p>
        </p:txBody>
      </p:sp>
      <p:sp>
        <p:nvSpPr>
          <p:cNvPr id="20" name="Shape 17"/>
          <p:cNvSpPr/>
          <p:nvPr/>
        </p:nvSpPr>
        <p:spPr>
          <a:xfrm>
            <a:off x="8046720" y="5532120"/>
            <a:ext cx="3611880" cy="548640"/>
          </a:xfrm>
          <a:prstGeom prst="roundRect">
            <a:avLst>
              <a:gd name="adj" fmla="val 20000"/>
            </a:avLst>
          </a:prstGeom>
          <a:solidFill>
            <a:srgbClr val="E6F4EC"/>
          </a:solidFill>
          <a:ln w="12700">
            <a:solidFill>
              <a:srgbClr val="E6F4EC"/>
            </a:solidFill>
            <a:prstDash val="solid"/>
          </a:ln>
        </p:spPr>
      </p:sp>
      <p:sp>
        <p:nvSpPr>
          <p:cNvPr id="21" name="Text 18"/>
          <p:cNvSpPr txBox="1"/>
          <p:nvPr/>
        </p:nvSpPr>
        <p:spPr>
          <a:xfrm>
            <a:off x="8183880" y="5532120"/>
            <a:ext cx="3337560" cy="548640"/>
          </a:xfrm>
          <a:prstGeom prst="rect">
            <a:avLst/>
          </a:prstGeom>
          <a:noFill/>
          <a:ln/>
        </p:spPr>
        <p:txBody>
          <a:bodyPr wrap="square" lIns="0" tIns="0" rIns="0" bIns="0" rtlCol="0" anchor="ctr"/>
          <a:lstStyle/>
          <a:p>
            <a:pPr algn="ctr" indent="0" marL="0">
              <a:buNone/>
            </a:pPr>
            <a:r>
              <a:rPr lang="en-US" sz="1400" b="1" dirty="0">
                <a:solidFill>
                  <a:srgbClr val="14213D"/>
                </a:solidFill>
                <a:latin typeface="Calibri" pitchFamily="34" charset="0"/>
                <a:ea typeface="Calibri" pitchFamily="34" charset="-122"/>
                <a:cs typeface="Calibri" pitchFamily="34" charset="-120"/>
              </a:rPr>
              <a:t>No base case → stack overflow</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 14 · FILES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Files: Write, Append, Read, Split</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14</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5257800" cy="914400"/>
        </p:xfrm>
        <a:graphic>
          <a:graphicData uri="http://schemas.openxmlformats.org/drawingml/2006/table">
            <a:tbl>
              <a:tblPr/>
              <a:tblGrid>
                <a:gridCol w="2788920"/>
                <a:gridCol w="2468880"/>
              </a:tblGrid>
              <a:tr h="393192">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Method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Does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File.WriteAllText(p, 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create / overwrite with text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File.AppendAllText(p, 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add at the end</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File.WriteAllLines(p, arr)</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one array element per 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File.ReadAllLines(p)</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returns string[] (one per 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File.ReadAllText(p)</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returns the whole text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File.Exists(p)</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bool, no exception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8" name="Shape 4"/>
          <p:cNvSpPr/>
          <p:nvPr/>
        </p:nvSpPr>
        <p:spPr>
          <a:xfrm>
            <a:off x="6035040" y="1645920"/>
            <a:ext cx="5623560" cy="4434840"/>
          </a:xfrm>
          <a:prstGeom prst="roundRect">
            <a:avLst>
              <a:gd name="adj" fmla="val 2062"/>
            </a:avLst>
          </a:prstGeom>
          <a:solidFill>
            <a:srgbClr val="0F1729"/>
          </a:solidFill>
          <a:ln w="12700">
            <a:solidFill>
              <a:srgbClr val="0F1729"/>
            </a:solidFill>
            <a:prstDash val="solid"/>
          </a:ln>
        </p:spPr>
      </p:sp>
      <p:sp>
        <p:nvSpPr>
          <p:cNvPr id="9" name="Text 5"/>
          <p:cNvSpPr txBox="1"/>
          <p:nvPr/>
        </p:nvSpPr>
        <p:spPr>
          <a:xfrm>
            <a:off x="6263640" y="1755648"/>
            <a:ext cx="51663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Line by line + exceptions</a:t>
            </a:r>
            <a:endParaRPr lang="en-US" sz="1100" dirty="0"/>
          </a:p>
        </p:txBody>
      </p:sp>
      <p:sp>
        <p:nvSpPr>
          <p:cNvPr id="10" name="Text 6"/>
          <p:cNvSpPr txBox="1"/>
          <p:nvPr/>
        </p:nvSpPr>
        <p:spPr>
          <a:xfrm>
            <a:off x="6263640" y="2057400"/>
            <a:ext cx="5166360" cy="3913632"/>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 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"in.csv"</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 = r.ReadLine())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 = line.Split(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score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(FileNotFoundException)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"No such file."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(FormatException) { ... }</a:t>
            </a:r>
            <a:endParaRPr lang="en-US" sz="1200" dirty="0"/>
          </a:p>
        </p:txBody>
      </p:sp>
      <p:sp>
        <p:nvSpPr>
          <p:cNvPr id="11" name="Shape 7"/>
          <p:cNvSpPr/>
          <p:nvPr/>
        </p:nvSpPr>
        <p:spPr>
          <a:xfrm>
            <a:off x="548640" y="4526280"/>
            <a:ext cx="5257800" cy="1554480"/>
          </a:xfrm>
          <a:prstGeom prst="roundRect">
            <a:avLst>
              <a:gd name="adj" fmla="val 7059"/>
            </a:avLst>
          </a:prstGeom>
          <a:solidFill>
            <a:srgbClr val="FBE9E7"/>
          </a:solidFill>
          <a:ln w="12700">
            <a:solidFill>
              <a:srgbClr val="FBE9E7"/>
            </a:solidFill>
            <a:prstDash val="solid"/>
          </a:ln>
        </p:spPr>
      </p:sp>
      <p:pic>
        <p:nvPicPr>
          <p:cNvPr id="12" name="Image 0" descr="preencoded.png">    </p:cNvPr>
          <p:cNvPicPr>
            <a:picLocks noChangeAspect="1"/>
          </p:cNvPicPr>
          <p:nvPr/>
        </p:nvPicPr>
        <p:blipFill>
          <a:blip r:embed="rId1"/>
          <a:stretch>
            <a:fillRect/>
          </a:stretch>
        </p:blipFill>
        <p:spPr>
          <a:xfrm>
            <a:off x="822960" y="5029200"/>
            <a:ext cx="548640" cy="548640"/>
          </a:xfrm>
          <a:prstGeom prst="rect">
            <a:avLst/>
          </a:prstGeom>
        </p:spPr>
      </p:pic>
      <p:sp>
        <p:nvSpPr>
          <p:cNvPr id="13" name="Text 8"/>
          <p:cNvSpPr txBox="1"/>
          <p:nvPr/>
        </p:nvSpPr>
        <p:spPr>
          <a:xfrm>
            <a:off x="1645920" y="4599432"/>
            <a:ext cx="3886200" cy="14081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No using, no Close: </a:t>
            </a:r>
            <a:pPr indent="0" marL="0">
              <a:buNone/>
            </a:pPr>
            <a:r>
              <a:rPr lang="en-US" sz="1400" dirty="0">
                <a:solidFill>
                  <a:srgbClr val="333B4F"/>
                </a:solidFill>
                <a:latin typeface="Calibri" pitchFamily="34" charset="0"/>
                <a:ea typeface="Calibri" pitchFamily="34" charset="-122"/>
                <a:cs typeface="Calibri" pitchFamily="34" charset="-120"/>
              </a:rPr>
              <a:t>the StreamWriter buffer is not flushed and the file can stay empty (tested: 0 bytes).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WEEKS 9–13 · PATTERNS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Eight Array Patterns Behind Most Exam Programs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15</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57200"/>
                <a:gridCol w="2103120"/>
                <a:gridCol w="5074920"/>
                <a:gridCol w="3474720"/>
              </a:tblGrid>
              <a:tr h="47548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Pattern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Core code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Watch out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Sum / average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sum += a[i];  (double)sum / a.Length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integer division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Max with index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(a[i] &gt; a[best]) best =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start best = 0 (index), max = a[0]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Count if</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(cond(a[i])) count++;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count before allocating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Linear search</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if (a[i] == x) return i;  …  return -1;</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-1 only after the loop</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Swap</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t = a[i]; a[i] = a[j]; a[j] = 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three steps, temp first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Reverse in place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i &lt; n / 2: swap a[i], a[n - 1 -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n / 2, not 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Frequency array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counts[value - offset]++;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offset: 1 for dice, 'a' for letters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7548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Copy / filter</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b = new int[k]; … b[w++] = a[i];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b = a is NOT a copy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2</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Practice I: Read &amp; Trace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Multiple choice · arrays · bubble sort · binary search · matrices · calls · recursion</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Q1–Q4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Quick-Fire Multiple Choice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17</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MULTIPLE CHOICE · 2 min</a:t>
            </a:r>
            <a:endParaRPr lang="en-US" sz="1200" dirty="0"/>
          </a:p>
        </p:txBody>
      </p:sp>
      <p:sp>
        <p:nvSpPr>
          <p:cNvPr id="9" name="Shape 6"/>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10" name="Shape 7"/>
          <p:cNvSpPr/>
          <p:nvPr/>
        </p:nvSpPr>
        <p:spPr>
          <a:xfrm>
            <a:off x="749808" y="1828800"/>
            <a:ext cx="502920" cy="502920"/>
          </a:xfrm>
          <a:prstGeom prst="ellipse">
            <a:avLst/>
          </a:prstGeom>
          <a:solidFill>
            <a:srgbClr val="14213D"/>
          </a:solidFill>
          <a:ln w="12700">
            <a:solidFill>
              <a:srgbClr val="14213D"/>
            </a:solidFill>
            <a:prstDash val="solid"/>
          </a:ln>
        </p:spPr>
      </p:sp>
      <p:sp>
        <p:nvSpPr>
          <p:cNvPr id="11" name="Text 8"/>
          <p:cNvSpPr txBox="1"/>
          <p:nvPr/>
        </p:nvSpPr>
        <p:spPr>
          <a:xfrm>
            <a:off x="74980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Q1</a:t>
            </a:r>
            <a:endParaRPr lang="en-US" sz="1400" dirty="0"/>
          </a:p>
        </p:txBody>
      </p:sp>
      <p:sp>
        <p:nvSpPr>
          <p:cNvPr id="12" name="Text 9"/>
          <p:cNvSpPr txBox="1"/>
          <p:nvPr/>
        </p:nvSpPr>
        <p:spPr>
          <a:xfrm>
            <a:off x="1417320" y="175564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double[] t = new double[4];  What does Console.WriteLine(t[4]) do?</a:t>
            </a:r>
            <a:endParaRPr lang="en-US" sz="1500" dirty="0"/>
          </a:p>
        </p:txBody>
      </p:sp>
      <p:sp>
        <p:nvSpPr>
          <p:cNvPr id="13" name="Shape 10"/>
          <p:cNvSpPr/>
          <p:nvPr/>
        </p:nvSpPr>
        <p:spPr>
          <a:xfrm>
            <a:off x="822960" y="2542032"/>
            <a:ext cx="2400300" cy="365760"/>
          </a:xfrm>
          <a:prstGeom prst="roundRect">
            <a:avLst>
              <a:gd name="adj" fmla="val 20000"/>
            </a:avLst>
          </a:prstGeom>
          <a:solidFill>
            <a:srgbClr val="FFFFFF"/>
          </a:solidFill>
          <a:ln w="9525">
            <a:solidFill>
              <a:srgbClr val="D5DAE3"/>
            </a:solidFill>
            <a:prstDash val="solid"/>
          </a:ln>
        </p:spPr>
      </p:sp>
      <p:sp>
        <p:nvSpPr>
          <p:cNvPr id="14" name="Text 11"/>
          <p:cNvSpPr txBox="1"/>
          <p:nvPr/>
        </p:nvSpPr>
        <p:spPr>
          <a:xfrm>
            <a:off x="93268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prints 0</a:t>
            </a:r>
            <a:endParaRPr lang="en-US" sz="1400" dirty="0"/>
          </a:p>
        </p:txBody>
      </p:sp>
      <p:sp>
        <p:nvSpPr>
          <p:cNvPr id="15" name="Shape 12"/>
          <p:cNvSpPr/>
          <p:nvPr/>
        </p:nvSpPr>
        <p:spPr>
          <a:xfrm>
            <a:off x="3360420" y="2542032"/>
            <a:ext cx="2400300" cy="365760"/>
          </a:xfrm>
          <a:prstGeom prst="roundRect">
            <a:avLst>
              <a:gd name="adj" fmla="val 20000"/>
            </a:avLst>
          </a:prstGeom>
          <a:solidFill>
            <a:srgbClr val="FFFFFF"/>
          </a:solidFill>
          <a:ln w="9525">
            <a:solidFill>
              <a:srgbClr val="D5DAE3"/>
            </a:solidFill>
            <a:prstDash val="solid"/>
          </a:ln>
        </p:spPr>
      </p:sp>
      <p:sp>
        <p:nvSpPr>
          <p:cNvPr id="16" name="Text 13"/>
          <p:cNvSpPr txBox="1"/>
          <p:nvPr/>
        </p:nvSpPr>
        <p:spPr>
          <a:xfrm>
            <a:off x="34701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prints 0.0</a:t>
            </a:r>
            <a:endParaRPr lang="en-US" sz="1400" dirty="0"/>
          </a:p>
        </p:txBody>
      </p:sp>
      <p:sp>
        <p:nvSpPr>
          <p:cNvPr id="17" name="Shape 14"/>
          <p:cNvSpPr/>
          <p:nvPr/>
        </p:nvSpPr>
        <p:spPr>
          <a:xfrm>
            <a:off x="822960" y="2999232"/>
            <a:ext cx="2400300" cy="365760"/>
          </a:xfrm>
          <a:prstGeom prst="roundRect">
            <a:avLst>
              <a:gd name="adj" fmla="val 20000"/>
            </a:avLst>
          </a:prstGeom>
          <a:solidFill>
            <a:srgbClr val="FFFFFF"/>
          </a:solidFill>
          <a:ln w="9525">
            <a:solidFill>
              <a:srgbClr val="D5DAE3"/>
            </a:solidFill>
            <a:prstDash val="solid"/>
          </a:ln>
        </p:spPr>
      </p:sp>
      <p:sp>
        <p:nvSpPr>
          <p:cNvPr id="18" name="Text 15"/>
          <p:cNvSpPr txBox="1"/>
          <p:nvPr/>
        </p:nvSpPr>
        <p:spPr>
          <a:xfrm>
            <a:off x="93268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prints nothing</a:t>
            </a:r>
            <a:endParaRPr lang="en-US" sz="1400" dirty="0"/>
          </a:p>
        </p:txBody>
      </p:sp>
      <p:sp>
        <p:nvSpPr>
          <p:cNvPr id="19" name="Shape 16"/>
          <p:cNvSpPr/>
          <p:nvPr/>
        </p:nvSpPr>
        <p:spPr>
          <a:xfrm>
            <a:off x="3360420" y="2999232"/>
            <a:ext cx="2400300" cy="365760"/>
          </a:xfrm>
          <a:prstGeom prst="roundRect">
            <a:avLst>
              <a:gd name="adj" fmla="val 20000"/>
            </a:avLst>
          </a:prstGeom>
          <a:solidFill>
            <a:srgbClr val="FFFFFF"/>
          </a:solidFill>
          <a:ln w="9525">
            <a:solidFill>
              <a:srgbClr val="D5DAE3"/>
            </a:solidFill>
            <a:prstDash val="solid"/>
          </a:ln>
        </p:spPr>
      </p:sp>
      <p:sp>
        <p:nvSpPr>
          <p:cNvPr id="20" name="Text 17"/>
          <p:cNvSpPr txBox="1"/>
          <p:nvPr/>
        </p:nvSpPr>
        <p:spPr>
          <a:xfrm>
            <a:off x="34701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alibri" pitchFamily="34" charset="0"/>
                <a:ea typeface="Calibri" pitchFamily="34" charset="-122"/>
                <a:cs typeface="Calibri" pitchFamily="34" charset="-120"/>
              </a:rPr>
              <a:t>throws an exception</a:t>
            </a:r>
            <a:endParaRPr lang="en-US" sz="1400" dirty="0"/>
          </a:p>
        </p:txBody>
      </p:sp>
      <p:sp>
        <p:nvSpPr>
          <p:cNvPr id="21" name="Shape 18"/>
          <p:cNvSpPr/>
          <p:nvPr/>
        </p:nvSpPr>
        <p:spPr>
          <a:xfrm>
            <a:off x="6172200" y="1645920"/>
            <a:ext cx="5486400" cy="2103120"/>
          </a:xfrm>
          <a:prstGeom prst="roundRect">
            <a:avLst>
              <a:gd name="adj" fmla="val 5217"/>
            </a:avLst>
          </a:prstGeom>
          <a:solidFill>
            <a:srgbClr val="EEF1F6"/>
          </a:solidFill>
          <a:ln w="12700">
            <a:solidFill>
              <a:srgbClr val="EEF1F6"/>
            </a:solidFill>
            <a:prstDash val="solid"/>
          </a:ln>
        </p:spPr>
      </p:sp>
      <p:sp>
        <p:nvSpPr>
          <p:cNvPr id="22" name="Shape 19"/>
          <p:cNvSpPr/>
          <p:nvPr/>
        </p:nvSpPr>
        <p:spPr>
          <a:xfrm>
            <a:off x="6373368" y="1828800"/>
            <a:ext cx="502920" cy="502920"/>
          </a:xfrm>
          <a:prstGeom prst="ellipse">
            <a:avLst/>
          </a:prstGeom>
          <a:solidFill>
            <a:srgbClr val="14213D"/>
          </a:solidFill>
          <a:ln w="12700">
            <a:solidFill>
              <a:srgbClr val="14213D"/>
            </a:solidFill>
            <a:prstDash val="solid"/>
          </a:ln>
        </p:spPr>
      </p:sp>
      <p:sp>
        <p:nvSpPr>
          <p:cNvPr id="23" name="Text 20"/>
          <p:cNvSpPr txBox="1"/>
          <p:nvPr/>
        </p:nvSpPr>
        <p:spPr>
          <a:xfrm>
            <a:off x="637336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Q2</a:t>
            </a:r>
            <a:endParaRPr lang="en-US" sz="1400" dirty="0"/>
          </a:p>
        </p:txBody>
      </p:sp>
      <p:sp>
        <p:nvSpPr>
          <p:cNvPr id="24" name="Text 21"/>
          <p:cNvSpPr txBox="1"/>
          <p:nvPr/>
        </p:nvSpPr>
        <p:spPr>
          <a:xfrm>
            <a:off x="7040880" y="175564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int[,] m = new int[3, 5];  Value of m.GetLength(1)?</a:t>
            </a:r>
            <a:endParaRPr lang="en-US" sz="1500" dirty="0"/>
          </a:p>
        </p:txBody>
      </p:sp>
      <p:sp>
        <p:nvSpPr>
          <p:cNvPr id="25" name="Shape 22"/>
          <p:cNvSpPr/>
          <p:nvPr/>
        </p:nvSpPr>
        <p:spPr>
          <a:xfrm>
            <a:off x="6446520" y="2542032"/>
            <a:ext cx="2400300" cy="365760"/>
          </a:xfrm>
          <a:prstGeom prst="roundRect">
            <a:avLst>
              <a:gd name="adj" fmla="val 20000"/>
            </a:avLst>
          </a:prstGeom>
          <a:solidFill>
            <a:srgbClr val="FFFFFF"/>
          </a:solidFill>
          <a:ln w="9525">
            <a:solidFill>
              <a:srgbClr val="D5DAE3"/>
            </a:solidFill>
            <a:prstDash val="solid"/>
          </a:ln>
        </p:spPr>
      </p:sp>
      <p:sp>
        <p:nvSpPr>
          <p:cNvPr id="26" name="Text 23"/>
          <p:cNvSpPr txBox="1"/>
          <p:nvPr/>
        </p:nvSpPr>
        <p:spPr>
          <a:xfrm>
            <a:off x="65562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7" name="Shape 24"/>
          <p:cNvSpPr/>
          <p:nvPr/>
        </p:nvSpPr>
        <p:spPr>
          <a:xfrm>
            <a:off x="8983980" y="2542032"/>
            <a:ext cx="2400300" cy="365760"/>
          </a:xfrm>
          <a:prstGeom prst="roundRect">
            <a:avLst>
              <a:gd name="adj" fmla="val 20000"/>
            </a:avLst>
          </a:prstGeom>
          <a:solidFill>
            <a:srgbClr val="FFFFFF"/>
          </a:solidFill>
          <a:ln w="9525">
            <a:solidFill>
              <a:srgbClr val="D5DAE3"/>
            </a:solidFill>
            <a:prstDash val="solid"/>
          </a:ln>
        </p:spPr>
      </p:sp>
      <p:sp>
        <p:nvSpPr>
          <p:cNvPr id="28" name="Text 25"/>
          <p:cNvSpPr txBox="1"/>
          <p:nvPr/>
        </p:nvSpPr>
        <p:spPr>
          <a:xfrm>
            <a:off x="909370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ourier New" pitchFamily="34" charset="0"/>
                <a:ea typeface="Courier New" pitchFamily="34" charset="-122"/>
                <a:cs typeface="Courier New" pitchFamily="34" charset="-120"/>
              </a:rPr>
              <a:t>5</a:t>
            </a:r>
            <a:endParaRPr lang="en-US" sz="1400" dirty="0"/>
          </a:p>
        </p:txBody>
      </p:sp>
      <p:sp>
        <p:nvSpPr>
          <p:cNvPr id="29" name="Shape 26"/>
          <p:cNvSpPr/>
          <p:nvPr/>
        </p:nvSpPr>
        <p:spPr>
          <a:xfrm>
            <a:off x="6446520" y="2999232"/>
            <a:ext cx="2400300" cy="365760"/>
          </a:xfrm>
          <a:prstGeom prst="roundRect">
            <a:avLst>
              <a:gd name="adj" fmla="val 20000"/>
            </a:avLst>
          </a:prstGeom>
          <a:solidFill>
            <a:srgbClr val="FFFFFF"/>
          </a:solidFill>
          <a:ln w="9525">
            <a:solidFill>
              <a:srgbClr val="D5DAE3"/>
            </a:solidFill>
            <a:prstDash val="solid"/>
          </a:ln>
        </p:spPr>
      </p:sp>
      <p:sp>
        <p:nvSpPr>
          <p:cNvPr id="30" name="Text 27"/>
          <p:cNvSpPr txBox="1"/>
          <p:nvPr/>
        </p:nvSpPr>
        <p:spPr>
          <a:xfrm>
            <a:off x="65562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p>
        </p:txBody>
      </p:sp>
      <p:sp>
        <p:nvSpPr>
          <p:cNvPr id="31" name="Shape 28"/>
          <p:cNvSpPr/>
          <p:nvPr/>
        </p:nvSpPr>
        <p:spPr>
          <a:xfrm>
            <a:off x="8983980" y="2999232"/>
            <a:ext cx="2400300" cy="365760"/>
          </a:xfrm>
          <a:prstGeom prst="roundRect">
            <a:avLst>
              <a:gd name="adj" fmla="val 20000"/>
            </a:avLst>
          </a:prstGeom>
          <a:solidFill>
            <a:srgbClr val="FFFFFF"/>
          </a:solidFill>
          <a:ln w="9525">
            <a:solidFill>
              <a:srgbClr val="D5DAE3"/>
            </a:solidFill>
            <a:prstDash val="solid"/>
          </a:ln>
        </p:spPr>
      </p:sp>
      <p:sp>
        <p:nvSpPr>
          <p:cNvPr id="32" name="Text 29"/>
          <p:cNvSpPr txBox="1"/>
          <p:nvPr/>
        </p:nvSpPr>
        <p:spPr>
          <a:xfrm>
            <a:off x="909370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33" name="Shape 30"/>
          <p:cNvSpPr/>
          <p:nvPr/>
        </p:nvSpPr>
        <p:spPr>
          <a:xfrm>
            <a:off x="548640" y="3886200"/>
            <a:ext cx="5486400" cy="2103120"/>
          </a:xfrm>
          <a:prstGeom prst="roundRect">
            <a:avLst>
              <a:gd name="adj" fmla="val 5217"/>
            </a:avLst>
          </a:prstGeom>
          <a:solidFill>
            <a:srgbClr val="EEF1F6"/>
          </a:solidFill>
          <a:ln w="12700">
            <a:solidFill>
              <a:srgbClr val="EEF1F6"/>
            </a:solidFill>
            <a:prstDash val="solid"/>
          </a:ln>
        </p:spPr>
      </p:sp>
      <p:sp>
        <p:nvSpPr>
          <p:cNvPr id="34" name="Shape 31"/>
          <p:cNvSpPr/>
          <p:nvPr/>
        </p:nvSpPr>
        <p:spPr>
          <a:xfrm>
            <a:off x="749808" y="4069080"/>
            <a:ext cx="502920" cy="502920"/>
          </a:xfrm>
          <a:prstGeom prst="ellipse">
            <a:avLst/>
          </a:prstGeom>
          <a:solidFill>
            <a:srgbClr val="14213D"/>
          </a:solidFill>
          <a:ln w="12700">
            <a:solidFill>
              <a:srgbClr val="14213D"/>
            </a:solidFill>
            <a:prstDash val="solid"/>
          </a:ln>
        </p:spPr>
      </p:sp>
      <p:sp>
        <p:nvSpPr>
          <p:cNvPr id="35" name="Text 32"/>
          <p:cNvSpPr txBox="1"/>
          <p:nvPr/>
        </p:nvSpPr>
        <p:spPr>
          <a:xfrm>
            <a:off x="74980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Q3</a:t>
            </a:r>
            <a:endParaRPr lang="en-US" sz="1400" dirty="0"/>
          </a:p>
        </p:txBody>
      </p:sp>
      <p:sp>
        <p:nvSpPr>
          <p:cNvPr id="36" name="Text 33"/>
          <p:cNvSpPr txBox="1"/>
          <p:nvPr/>
        </p:nvSpPr>
        <p:spPr>
          <a:xfrm>
            <a:off x="1417320" y="399592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Which call lets a method change the caller's int variable x?</a:t>
            </a:r>
            <a:endParaRPr lang="en-US" sz="1500" dirty="0"/>
          </a:p>
        </p:txBody>
      </p:sp>
      <p:sp>
        <p:nvSpPr>
          <p:cNvPr id="37" name="Shape 34"/>
          <p:cNvSpPr/>
          <p:nvPr/>
        </p:nvSpPr>
        <p:spPr>
          <a:xfrm>
            <a:off x="822960" y="4782312"/>
            <a:ext cx="2400300" cy="365760"/>
          </a:xfrm>
          <a:prstGeom prst="roundRect">
            <a:avLst>
              <a:gd name="adj" fmla="val 20000"/>
            </a:avLst>
          </a:prstGeom>
          <a:solidFill>
            <a:srgbClr val="FFFFFF"/>
          </a:solidFill>
          <a:ln w="9525">
            <a:solidFill>
              <a:srgbClr val="D5DAE3"/>
            </a:solidFill>
            <a:prstDash val="solid"/>
          </a:ln>
        </p:spPr>
      </p:sp>
      <p:sp>
        <p:nvSpPr>
          <p:cNvPr id="38" name="Text 35"/>
          <p:cNvSpPr txBox="1"/>
          <p:nvPr/>
        </p:nvSpPr>
        <p:spPr>
          <a:xfrm>
            <a:off x="93268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Change(x)</a:t>
            </a:r>
            <a:endParaRPr lang="en-US" sz="1400" dirty="0"/>
          </a:p>
        </p:txBody>
      </p:sp>
      <p:sp>
        <p:nvSpPr>
          <p:cNvPr id="39" name="Shape 36"/>
          <p:cNvSpPr/>
          <p:nvPr/>
        </p:nvSpPr>
        <p:spPr>
          <a:xfrm>
            <a:off x="3360420" y="4782312"/>
            <a:ext cx="2400300" cy="365760"/>
          </a:xfrm>
          <a:prstGeom prst="roundRect">
            <a:avLst>
              <a:gd name="adj" fmla="val 20000"/>
            </a:avLst>
          </a:prstGeom>
          <a:solidFill>
            <a:srgbClr val="FFFFFF"/>
          </a:solidFill>
          <a:ln w="9525">
            <a:solidFill>
              <a:srgbClr val="D5DAE3"/>
            </a:solidFill>
            <a:prstDash val="solid"/>
          </a:ln>
        </p:spPr>
      </p:sp>
      <p:sp>
        <p:nvSpPr>
          <p:cNvPr id="40" name="Text 37"/>
          <p:cNvSpPr txBox="1"/>
          <p:nvPr/>
        </p:nvSpPr>
        <p:spPr>
          <a:xfrm>
            <a:off x="34701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ourier New" pitchFamily="34" charset="0"/>
                <a:ea typeface="Courier New" pitchFamily="34" charset="-122"/>
                <a:cs typeface="Courier New" pitchFamily="34" charset="-120"/>
              </a:rPr>
              <a:t>Change(ref x)</a:t>
            </a:r>
            <a:endParaRPr lang="en-US" sz="1400" dirty="0"/>
          </a:p>
        </p:txBody>
      </p:sp>
      <p:sp>
        <p:nvSpPr>
          <p:cNvPr id="41" name="Shape 38"/>
          <p:cNvSpPr/>
          <p:nvPr/>
        </p:nvSpPr>
        <p:spPr>
          <a:xfrm>
            <a:off x="822960" y="5239512"/>
            <a:ext cx="2400300" cy="365760"/>
          </a:xfrm>
          <a:prstGeom prst="roundRect">
            <a:avLst>
              <a:gd name="adj" fmla="val 20000"/>
            </a:avLst>
          </a:prstGeom>
          <a:solidFill>
            <a:srgbClr val="FFFFFF"/>
          </a:solidFill>
          <a:ln w="9525">
            <a:solidFill>
              <a:srgbClr val="D5DAE3"/>
            </a:solidFill>
            <a:prstDash val="solid"/>
          </a:ln>
        </p:spPr>
      </p:sp>
      <p:sp>
        <p:nvSpPr>
          <p:cNvPr id="42" name="Text 39"/>
          <p:cNvSpPr txBox="1"/>
          <p:nvPr/>
        </p:nvSpPr>
        <p:spPr>
          <a:xfrm>
            <a:off x="93268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Change(x + 1)</a:t>
            </a:r>
            <a:endParaRPr lang="en-US" sz="1400" dirty="0"/>
          </a:p>
        </p:txBody>
      </p:sp>
      <p:sp>
        <p:nvSpPr>
          <p:cNvPr id="43" name="Shape 40"/>
          <p:cNvSpPr/>
          <p:nvPr/>
        </p:nvSpPr>
        <p:spPr>
          <a:xfrm>
            <a:off x="3360420" y="5239512"/>
            <a:ext cx="2400300" cy="365760"/>
          </a:xfrm>
          <a:prstGeom prst="roundRect">
            <a:avLst>
              <a:gd name="adj" fmla="val 20000"/>
            </a:avLst>
          </a:prstGeom>
          <a:solidFill>
            <a:srgbClr val="FFFFFF"/>
          </a:solidFill>
          <a:ln w="9525">
            <a:solidFill>
              <a:srgbClr val="D5DAE3"/>
            </a:solidFill>
            <a:prstDash val="solid"/>
          </a:ln>
        </p:spPr>
      </p:sp>
      <p:sp>
        <p:nvSpPr>
          <p:cNvPr id="44" name="Text 41"/>
          <p:cNvSpPr txBox="1"/>
          <p:nvPr/>
        </p:nvSpPr>
        <p:spPr>
          <a:xfrm>
            <a:off x="34701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Change((int)x)</a:t>
            </a:r>
            <a:endParaRPr lang="en-US" sz="1400" dirty="0"/>
          </a:p>
        </p:txBody>
      </p:sp>
      <p:sp>
        <p:nvSpPr>
          <p:cNvPr id="45" name="Shape 42"/>
          <p:cNvSpPr/>
          <p:nvPr/>
        </p:nvSpPr>
        <p:spPr>
          <a:xfrm>
            <a:off x="6172200" y="3886200"/>
            <a:ext cx="5486400" cy="2103120"/>
          </a:xfrm>
          <a:prstGeom prst="roundRect">
            <a:avLst>
              <a:gd name="adj" fmla="val 5217"/>
            </a:avLst>
          </a:prstGeom>
          <a:solidFill>
            <a:srgbClr val="EEF1F6"/>
          </a:solidFill>
          <a:ln w="12700">
            <a:solidFill>
              <a:srgbClr val="EEF1F6"/>
            </a:solidFill>
            <a:prstDash val="solid"/>
          </a:ln>
        </p:spPr>
      </p:sp>
      <p:sp>
        <p:nvSpPr>
          <p:cNvPr id="46" name="Shape 43"/>
          <p:cNvSpPr/>
          <p:nvPr/>
        </p:nvSpPr>
        <p:spPr>
          <a:xfrm>
            <a:off x="6373368" y="4069080"/>
            <a:ext cx="502920" cy="502920"/>
          </a:xfrm>
          <a:prstGeom prst="ellipse">
            <a:avLst/>
          </a:prstGeom>
          <a:solidFill>
            <a:srgbClr val="14213D"/>
          </a:solidFill>
          <a:ln w="12700">
            <a:solidFill>
              <a:srgbClr val="14213D"/>
            </a:solidFill>
            <a:prstDash val="solid"/>
          </a:ln>
        </p:spPr>
      </p:sp>
      <p:sp>
        <p:nvSpPr>
          <p:cNvPr id="47" name="Text 44"/>
          <p:cNvSpPr txBox="1"/>
          <p:nvPr/>
        </p:nvSpPr>
        <p:spPr>
          <a:xfrm>
            <a:off x="637336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Q4</a:t>
            </a:r>
            <a:endParaRPr lang="en-US" sz="1400" dirty="0"/>
          </a:p>
        </p:txBody>
      </p:sp>
      <p:sp>
        <p:nvSpPr>
          <p:cNvPr id="48" name="Text 45"/>
          <p:cNvSpPr txBox="1"/>
          <p:nvPr/>
        </p:nvSpPr>
        <p:spPr>
          <a:xfrm>
            <a:off x="7040880" y="399592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Return type of File.ReadAllLines(path)?</a:t>
            </a:r>
            <a:endParaRPr lang="en-US" sz="1500" dirty="0"/>
          </a:p>
        </p:txBody>
      </p:sp>
      <p:sp>
        <p:nvSpPr>
          <p:cNvPr id="49" name="Shape 46"/>
          <p:cNvSpPr/>
          <p:nvPr/>
        </p:nvSpPr>
        <p:spPr>
          <a:xfrm>
            <a:off x="6446520" y="4782312"/>
            <a:ext cx="2400300" cy="365760"/>
          </a:xfrm>
          <a:prstGeom prst="roundRect">
            <a:avLst>
              <a:gd name="adj" fmla="val 20000"/>
            </a:avLst>
          </a:prstGeom>
          <a:solidFill>
            <a:srgbClr val="FFFFFF"/>
          </a:solidFill>
          <a:ln w="9525">
            <a:solidFill>
              <a:srgbClr val="D5DAE3"/>
            </a:solidFill>
            <a:prstDash val="solid"/>
          </a:ln>
        </p:spPr>
      </p:sp>
      <p:sp>
        <p:nvSpPr>
          <p:cNvPr id="50" name="Text 47"/>
          <p:cNvSpPr txBox="1"/>
          <p:nvPr/>
        </p:nvSpPr>
        <p:spPr>
          <a:xfrm>
            <a:off x="65562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p>
        </p:txBody>
      </p:sp>
      <p:sp>
        <p:nvSpPr>
          <p:cNvPr id="51" name="Shape 48"/>
          <p:cNvSpPr/>
          <p:nvPr/>
        </p:nvSpPr>
        <p:spPr>
          <a:xfrm>
            <a:off x="8983980" y="4782312"/>
            <a:ext cx="2400300" cy="365760"/>
          </a:xfrm>
          <a:prstGeom prst="roundRect">
            <a:avLst>
              <a:gd name="adj" fmla="val 20000"/>
            </a:avLst>
          </a:prstGeom>
          <a:solidFill>
            <a:srgbClr val="FFFFFF"/>
          </a:solidFill>
          <a:ln w="9525">
            <a:solidFill>
              <a:srgbClr val="D5DAE3"/>
            </a:solidFill>
            <a:prstDash val="solid"/>
          </a:ln>
        </p:spPr>
      </p:sp>
      <p:sp>
        <p:nvSpPr>
          <p:cNvPr id="52" name="Text 49"/>
          <p:cNvSpPr txBox="1"/>
          <p:nvPr/>
        </p:nvSpPr>
        <p:spPr>
          <a:xfrm>
            <a:off x="909370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p>
        </p:txBody>
      </p:sp>
      <p:sp>
        <p:nvSpPr>
          <p:cNvPr id="53" name="Shape 50"/>
          <p:cNvSpPr/>
          <p:nvPr/>
        </p:nvSpPr>
        <p:spPr>
          <a:xfrm>
            <a:off x="6446520" y="5239512"/>
            <a:ext cx="2400300" cy="365760"/>
          </a:xfrm>
          <a:prstGeom prst="roundRect">
            <a:avLst>
              <a:gd name="adj" fmla="val 20000"/>
            </a:avLst>
          </a:prstGeom>
          <a:solidFill>
            <a:srgbClr val="FFFFFF"/>
          </a:solidFill>
          <a:ln w="9525">
            <a:solidFill>
              <a:srgbClr val="D5DAE3"/>
            </a:solidFill>
            <a:prstDash val="solid"/>
          </a:ln>
        </p:spPr>
      </p:sp>
      <p:sp>
        <p:nvSpPr>
          <p:cNvPr id="54" name="Text 51"/>
          <p:cNvSpPr txBox="1"/>
          <p:nvPr/>
        </p:nvSpPr>
        <p:spPr>
          <a:xfrm>
            <a:off x="65562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char[]</a:t>
            </a:r>
            <a:endParaRPr lang="en-US" sz="1400" dirty="0"/>
          </a:p>
        </p:txBody>
      </p:sp>
      <p:sp>
        <p:nvSpPr>
          <p:cNvPr id="55" name="Shape 52"/>
          <p:cNvSpPr/>
          <p:nvPr/>
        </p:nvSpPr>
        <p:spPr>
          <a:xfrm>
            <a:off x="8983980" y="5239512"/>
            <a:ext cx="2400300" cy="365760"/>
          </a:xfrm>
          <a:prstGeom prst="roundRect">
            <a:avLst>
              <a:gd name="adj" fmla="val 20000"/>
            </a:avLst>
          </a:prstGeom>
          <a:solidFill>
            <a:srgbClr val="FFFFFF"/>
          </a:solidFill>
          <a:ln w="9525">
            <a:solidFill>
              <a:srgbClr val="D5DAE3"/>
            </a:solidFill>
            <a:prstDash val="solid"/>
          </a:ln>
        </p:spPr>
      </p:sp>
      <p:sp>
        <p:nvSpPr>
          <p:cNvPr id="56" name="Text 53"/>
          <p:cNvSpPr txBox="1"/>
          <p:nvPr/>
        </p:nvSpPr>
        <p:spPr>
          <a:xfrm>
            <a:off x="909370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void</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ANSWERS · Q1–Q4</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Quick-Fire Multiple Choice: Answers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18</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ANSWERS</a:t>
            </a:r>
            <a:endParaRPr lang="en-US" sz="1200" dirty="0"/>
          </a:p>
        </p:txBody>
      </p:sp>
      <p:sp>
        <p:nvSpPr>
          <p:cNvPr id="9" name="Shape 6"/>
          <p:cNvSpPr/>
          <p:nvPr/>
        </p:nvSpPr>
        <p:spPr>
          <a:xfrm>
            <a:off x="548640" y="1645920"/>
            <a:ext cx="5486400" cy="2103120"/>
          </a:xfrm>
          <a:prstGeom prst="roundRect">
            <a:avLst>
              <a:gd name="adj" fmla="val 5217"/>
            </a:avLst>
          </a:prstGeom>
          <a:solidFill>
            <a:srgbClr val="EEF1F6"/>
          </a:solidFill>
          <a:ln w="12700">
            <a:solidFill>
              <a:srgbClr val="EEF1F6"/>
            </a:solidFill>
            <a:prstDash val="solid"/>
          </a:ln>
        </p:spPr>
      </p:sp>
      <p:sp>
        <p:nvSpPr>
          <p:cNvPr id="10" name="Shape 7"/>
          <p:cNvSpPr/>
          <p:nvPr/>
        </p:nvSpPr>
        <p:spPr>
          <a:xfrm>
            <a:off x="749808" y="1828800"/>
            <a:ext cx="502920" cy="502920"/>
          </a:xfrm>
          <a:prstGeom prst="ellipse">
            <a:avLst/>
          </a:prstGeom>
          <a:solidFill>
            <a:srgbClr val="14213D"/>
          </a:solidFill>
          <a:ln w="12700">
            <a:solidFill>
              <a:srgbClr val="14213D"/>
            </a:solidFill>
            <a:prstDash val="solid"/>
          </a:ln>
        </p:spPr>
      </p:sp>
      <p:sp>
        <p:nvSpPr>
          <p:cNvPr id="11" name="Text 8"/>
          <p:cNvSpPr txBox="1"/>
          <p:nvPr/>
        </p:nvSpPr>
        <p:spPr>
          <a:xfrm>
            <a:off x="74980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Q1</a:t>
            </a:r>
            <a:endParaRPr lang="en-US" sz="1400" dirty="0"/>
          </a:p>
        </p:txBody>
      </p:sp>
      <p:sp>
        <p:nvSpPr>
          <p:cNvPr id="12" name="Text 9"/>
          <p:cNvSpPr txBox="1"/>
          <p:nvPr/>
        </p:nvSpPr>
        <p:spPr>
          <a:xfrm>
            <a:off x="1417320" y="175564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double[] t = new double[4];  What does Console.WriteLine(t[4]) do?</a:t>
            </a:r>
            <a:endParaRPr lang="en-US" sz="1500" dirty="0"/>
          </a:p>
        </p:txBody>
      </p:sp>
      <p:sp>
        <p:nvSpPr>
          <p:cNvPr id="13" name="Shape 10"/>
          <p:cNvSpPr/>
          <p:nvPr/>
        </p:nvSpPr>
        <p:spPr>
          <a:xfrm>
            <a:off x="822960" y="2542032"/>
            <a:ext cx="2400300" cy="365760"/>
          </a:xfrm>
          <a:prstGeom prst="roundRect">
            <a:avLst>
              <a:gd name="adj" fmla="val 20000"/>
            </a:avLst>
          </a:prstGeom>
          <a:solidFill>
            <a:srgbClr val="FFFFFF"/>
          </a:solidFill>
          <a:ln w="9525">
            <a:solidFill>
              <a:srgbClr val="D5DAE3"/>
            </a:solidFill>
            <a:prstDash val="solid"/>
          </a:ln>
        </p:spPr>
      </p:sp>
      <p:sp>
        <p:nvSpPr>
          <p:cNvPr id="14" name="Text 11"/>
          <p:cNvSpPr txBox="1"/>
          <p:nvPr/>
        </p:nvSpPr>
        <p:spPr>
          <a:xfrm>
            <a:off x="93268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alibri" pitchFamily="34" charset="0"/>
                <a:ea typeface="Calibri" pitchFamily="34" charset="-122"/>
                <a:cs typeface="Calibri" pitchFamily="34" charset="-120"/>
              </a:rPr>
              <a:t>prints 0</a:t>
            </a:r>
            <a:endParaRPr lang="en-US" sz="1400" dirty="0"/>
          </a:p>
        </p:txBody>
      </p:sp>
      <p:sp>
        <p:nvSpPr>
          <p:cNvPr id="15" name="Shape 12"/>
          <p:cNvSpPr/>
          <p:nvPr/>
        </p:nvSpPr>
        <p:spPr>
          <a:xfrm>
            <a:off x="3360420" y="2542032"/>
            <a:ext cx="2400300" cy="365760"/>
          </a:xfrm>
          <a:prstGeom prst="roundRect">
            <a:avLst>
              <a:gd name="adj" fmla="val 20000"/>
            </a:avLst>
          </a:prstGeom>
          <a:solidFill>
            <a:srgbClr val="FFFFFF"/>
          </a:solidFill>
          <a:ln w="9525">
            <a:solidFill>
              <a:srgbClr val="D5DAE3"/>
            </a:solidFill>
            <a:prstDash val="solid"/>
          </a:ln>
        </p:spPr>
      </p:sp>
      <p:sp>
        <p:nvSpPr>
          <p:cNvPr id="16" name="Text 13"/>
          <p:cNvSpPr txBox="1"/>
          <p:nvPr/>
        </p:nvSpPr>
        <p:spPr>
          <a:xfrm>
            <a:off x="34701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B)  </a:t>
            </a:r>
            <a:pPr indent="0" marL="0">
              <a:buNone/>
            </a:pPr>
            <a:r>
              <a:rPr lang="en-US" sz="1400" dirty="0">
                <a:solidFill>
                  <a:srgbClr val="14213D"/>
                </a:solidFill>
                <a:latin typeface="Calibri" pitchFamily="34" charset="0"/>
                <a:ea typeface="Calibri" pitchFamily="34" charset="-122"/>
                <a:cs typeface="Calibri" pitchFamily="34" charset="-120"/>
              </a:rPr>
              <a:t>prints 0.0</a:t>
            </a:r>
            <a:endParaRPr lang="en-US" sz="1400" dirty="0"/>
          </a:p>
        </p:txBody>
      </p:sp>
      <p:sp>
        <p:nvSpPr>
          <p:cNvPr id="17" name="Shape 14"/>
          <p:cNvSpPr/>
          <p:nvPr/>
        </p:nvSpPr>
        <p:spPr>
          <a:xfrm>
            <a:off x="822960" y="2999232"/>
            <a:ext cx="2400300" cy="365760"/>
          </a:xfrm>
          <a:prstGeom prst="roundRect">
            <a:avLst>
              <a:gd name="adj" fmla="val 20000"/>
            </a:avLst>
          </a:prstGeom>
          <a:solidFill>
            <a:srgbClr val="FFFFFF"/>
          </a:solidFill>
          <a:ln w="9525">
            <a:solidFill>
              <a:srgbClr val="D5DAE3"/>
            </a:solidFill>
            <a:prstDash val="solid"/>
          </a:ln>
        </p:spPr>
      </p:sp>
      <p:sp>
        <p:nvSpPr>
          <p:cNvPr id="18" name="Text 15"/>
          <p:cNvSpPr txBox="1"/>
          <p:nvPr/>
        </p:nvSpPr>
        <p:spPr>
          <a:xfrm>
            <a:off x="93268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alibri" pitchFamily="34" charset="0"/>
                <a:ea typeface="Calibri" pitchFamily="34" charset="-122"/>
                <a:cs typeface="Calibri" pitchFamily="34" charset="-120"/>
              </a:rPr>
              <a:t>prints nothing</a:t>
            </a:r>
            <a:endParaRPr lang="en-US" sz="1400" dirty="0"/>
          </a:p>
        </p:txBody>
      </p:sp>
      <p:sp>
        <p:nvSpPr>
          <p:cNvPr id="19" name="Shape 16"/>
          <p:cNvSpPr/>
          <p:nvPr/>
        </p:nvSpPr>
        <p:spPr>
          <a:xfrm>
            <a:off x="3360420" y="2999232"/>
            <a:ext cx="2400300" cy="365760"/>
          </a:xfrm>
          <a:prstGeom prst="roundRect">
            <a:avLst>
              <a:gd name="adj" fmla="val 20000"/>
            </a:avLst>
          </a:prstGeom>
          <a:solidFill>
            <a:srgbClr val="2E9E6A"/>
          </a:solidFill>
          <a:ln w="9525">
            <a:solidFill>
              <a:srgbClr val="2E9E6A"/>
            </a:solidFill>
            <a:prstDash val="solid"/>
          </a:ln>
        </p:spPr>
      </p:sp>
      <p:sp>
        <p:nvSpPr>
          <p:cNvPr id="20" name="Text 17"/>
          <p:cNvSpPr txBox="1"/>
          <p:nvPr/>
        </p:nvSpPr>
        <p:spPr>
          <a:xfrm>
            <a:off x="3470148" y="299923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  </a:t>
            </a:r>
            <a:pPr indent="0" marL="0">
              <a:buNone/>
            </a:pPr>
            <a:r>
              <a:rPr lang="en-US" sz="1400" b="1" dirty="0">
                <a:solidFill>
                  <a:srgbClr val="FFFFFF"/>
                </a:solidFill>
                <a:latin typeface="Calibri" pitchFamily="34" charset="0"/>
                <a:ea typeface="Calibri" pitchFamily="34" charset="-122"/>
                <a:cs typeface="Calibri" pitchFamily="34" charset="-120"/>
              </a:rPr>
              <a:t>throws an exception</a:t>
            </a:r>
            <a:endParaRPr lang="en-US" sz="1400" dirty="0"/>
          </a:p>
        </p:txBody>
      </p:sp>
      <p:sp>
        <p:nvSpPr>
          <p:cNvPr id="21" name="Text 18"/>
          <p:cNvSpPr txBox="1"/>
          <p:nvPr/>
        </p:nvSpPr>
        <p:spPr>
          <a:xfrm>
            <a:off x="822960" y="3474720"/>
            <a:ext cx="4937760" cy="201168"/>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Valid indices are 0 … 3. It compiles, but throws IndexOutOfRangeException.</a:t>
            </a:r>
            <a:endParaRPr lang="en-US" sz="1300" dirty="0"/>
          </a:p>
        </p:txBody>
      </p:sp>
      <p:sp>
        <p:nvSpPr>
          <p:cNvPr id="22" name="Shape 19"/>
          <p:cNvSpPr/>
          <p:nvPr/>
        </p:nvSpPr>
        <p:spPr>
          <a:xfrm>
            <a:off x="6172200" y="1645920"/>
            <a:ext cx="5486400" cy="2103120"/>
          </a:xfrm>
          <a:prstGeom prst="roundRect">
            <a:avLst>
              <a:gd name="adj" fmla="val 5217"/>
            </a:avLst>
          </a:prstGeom>
          <a:solidFill>
            <a:srgbClr val="EEF1F6"/>
          </a:solidFill>
          <a:ln w="12700">
            <a:solidFill>
              <a:srgbClr val="EEF1F6"/>
            </a:solidFill>
            <a:prstDash val="solid"/>
          </a:ln>
        </p:spPr>
      </p:sp>
      <p:sp>
        <p:nvSpPr>
          <p:cNvPr id="23" name="Shape 20"/>
          <p:cNvSpPr/>
          <p:nvPr/>
        </p:nvSpPr>
        <p:spPr>
          <a:xfrm>
            <a:off x="6373368" y="1828800"/>
            <a:ext cx="502920" cy="502920"/>
          </a:xfrm>
          <a:prstGeom prst="ellipse">
            <a:avLst/>
          </a:prstGeom>
          <a:solidFill>
            <a:srgbClr val="14213D"/>
          </a:solidFill>
          <a:ln w="12700">
            <a:solidFill>
              <a:srgbClr val="14213D"/>
            </a:solidFill>
            <a:prstDash val="solid"/>
          </a:ln>
        </p:spPr>
      </p:sp>
      <p:sp>
        <p:nvSpPr>
          <p:cNvPr id="24" name="Text 21"/>
          <p:cNvSpPr txBox="1"/>
          <p:nvPr/>
        </p:nvSpPr>
        <p:spPr>
          <a:xfrm>
            <a:off x="6373368" y="182880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Q2</a:t>
            </a:r>
            <a:endParaRPr lang="en-US" sz="1400" dirty="0"/>
          </a:p>
        </p:txBody>
      </p:sp>
      <p:sp>
        <p:nvSpPr>
          <p:cNvPr id="25" name="Text 22"/>
          <p:cNvSpPr txBox="1"/>
          <p:nvPr/>
        </p:nvSpPr>
        <p:spPr>
          <a:xfrm>
            <a:off x="7040880" y="175564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int[,] m = new int[3, 5];  Value of m.GetLength(1)?</a:t>
            </a:r>
            <a:endParaRPr lang="en-US" sz="1500" dirty="0"/>
          </a:p>
        </p:txBody>
      </p:sp>
      <p:sp>
        <p:nvSpPr>
          <p:cNvPr id="26" name="Shape 23"/>
          <p:cNvSpPr/>
          <p:nvPr/>
        </p:nvSpPr>
        <p:spPr>
          <a:xfrm>
            <a:off x="6446520" y="2542032"/>
            <a:ext cx="2400300" cy="365760"/>
          </a:xfrm>
          <a:prstGeom prst="roundRect">
            <a:avLst>
              <a:gd name="adj" fmla="val 20000"/>
            </a:avLst>
          </a:prstGeom>
          <a:solidFill>
            <a:srgbClr val="FFFFFF"/>
          </a:solidFill>
          <a:ln w="9525">
            <a:solidFill>
              <a:srgbClr val="D5DAE3"/>
            </a:solidFill>
            <a:prstDash val="solid"/>
          </a:ln>
        </p:spPr>
      </p:sp>
      <p:sp>
        <p:nvSpPr>
          <p:cNvPr id="27" name="Text 24"/>
          <p:cNvSpPr txBox="1"/>
          <p:nvPr/>
        </p:nvSpPr>
        <p:spPr>
          <a:xfrm>
            <a:off x="6556248" y="25420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3</a:t>
            </a:r>
            <a:endParaRPr lang="en-US" sz="1400" dirty="0"/>
          </a:p>
        </p:txBody>
      </p:sp>
      <p:sp>
        <p:nvSpPr>
          <p:cNvPr id="28" name="Shape 25"/>
          <p:cNvSpPr/>
          <p:nvPr/>
        </p:nvSpPr>
        <p:spPr>
          <a:xfrm>
            <a:off x="8983980" y="2542032"/>
            <a:ext cx="2400300" cy="365760"/>
          </a:xfrm>
          <a:prstGeom prst="roundRect">
            <a:avLst>
              <a:gd name="adj" fmla="val 20000"/>
            </a:avLst>
          </a:prstGeom>
          <a:solidFill>
            <a:srgbClr val="2E9E6A"/>
          </a:solidFill>
          <a:ln w="9525">
            <a:solidFill>
              <a:srgbClr val="2E9E6A"/>
            </a:solidFill>
            <a:prstDash val="solid"/>
          </a:ln>
        </p:spPr>
      </p:sp>
      <p:sp>
        <p:nvSpPr>
          <p:cNvPr id="29" name="Text 26"/>
          <p:cNvSpPr txBox="1"/>
          <p:nvPr/>
        </p:nvSpPr>
        <p:spPr>
          <a:xfrm>
            <a:off x="9093708" y="254203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a:t>
            </a:r>
            <a:pPr indent="0" marL="0">
              <a:buNone/>
            </a:pPr>
            <a:r>
              <a:rPr lang="en-US" sz="1400" b="1" dirty="0">
                <a:solidFill>
                  <a:srgbClr val="FFFFFF"/>
                </a:solidFill>
                <a:latin typeface="Courier New" pitchFamily="34" charset="0"/>
                <a:ea typeface="Courier New" pitchFamily="34" charset="-122"/>
                <a:cs typeface="Courier New" pitchFamily="34" charset="-120"/>
              </a:rPr>
              <a:t>5</a:t>
            </a:r>
            <a:endParaRPr lang="en-US" sz="1400" dirty="0"/>
          </a:p>
        </p:txBody>
      </p:sp>
      <p:sp>
        <p:nvSpPr>
          <p:cNvPr id="30" name="Shape 27"/>
          <p:cNvSpPr/>
          <p:nvPr/>
        </p:nvSpPr>
        <p:spPr>
          <a:xfrm>
            <a:off x="6446520" y="2999232"/>
            <a:ext cx="2400300" cy="365760"/>
          </a:xfrm>
          <a:prstGeom prst="roundRect">
            <a:avLst>
              <a:gd name="adj" fmla="val 20000"/>
            </a:avLst>
          </a:prstGeom>
          <a:solidFill>
            <a:srgbClr val="FFFFFF"/>
          </a:solidFill>
          <a:ln w="9525">
            <a:solidFill>
              <a:srgbClr val="D5DAE3"/>
            </a:solidFill>
            <a:prstDash val="solid"/>
          </a:ln>
        </p:spPr>
      </p:sp>
      <p:sp>
        <p:nvSpPr>
          <p:cNvPr id="31" name="Text 28"/>
          <p:cNvSpPr txBox="1"/>
          <p:nvPr/>
        </p:nvSpPr>
        <p:spPr>
          <a:xfrm>
            <a:off x="655624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15</a:t>
            </a:r>
            <a:endParaRPr lang="en-US" sz="1400" dirty="0"/>
          </a:p>
        </p:txBody>
      </p:sp>
      <p:sp>
        <p:nvSpPr>
          <p:cNvPr id="32" name="Shape 29"/>
          <p:cNvSpPr/>
          <p:nvPr/>
        </p:nvSpPr>
        <p:spPr>
          <a:xfrm>
            <a:off x="8983980" y="2999232"/>
            <a:ext cx="2400300" cy="365760"/>
          </a:xfrm>
          <a:prstGeom prst="roundRect">
            <a:avLst>
              <a:gd name="adj" fmla="val 20000"/>
            </a:avLst>
          </a:prstGeom>
          <a:solidFill>
            <a:srgbClr val="FFFFFF"/>
          </a:solidFill>
          <a:ln w="9525">
            <a:solidFill>
              <a:srgbClr val="D5DAE3"/>
            </a:solidFill>
            <a:prstDash val="solid"/>
          </a:ln>
        </p:spPr>
      </p:sp>
      <p:sp>
        <p:nvSpPr>
          <p:cNvPr id="33" name="Text 30"/>
          <p:cNvSpPr txBox="1"/>
          <p:nvPr/>
        </p:nvSpPr>
        <p:spPr>
          <a:xfrm>
            <a:off x="9093708" y="299923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2</a:t>
            </a:r>
            <a:endParaRPr lang="en-US" sz="1400" dirty="0"/>
          </a:p>
        </p:txBody>
      </p:sp>
      <p:sp>
        <p:nvSpPr>
          <p:cNvPr id="34" name="Text 31"/>
          <p:cNvSpPr txBox="1"/>
          <p:nvPr/>
        </p:nvSpPr>
        <p:spPr>
          <a:xfrm>
            <a:off x="6446520" y="3474720"/>
            <a:ext cx="4937760" cy="201168"/>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Dimension 1 = columns. GetLength(0) = 3 rows; m.Length = 15.</a:t>
            </a:r>
            <a:endParaRPr lang="en-US" sz="1300" dirty="0"/>
          </a:p>
        </p:txBody>
      </p:sp>
      <p:sp>
        <p:nvSpPr>
          <p:cNvPr id="35" name="Shape 32"/>
          <p:cNvSpPr/>
          <p:nvPr/>
        </p:nvSpPr>
        <p:spPr>
          <a:xfrm>
            <a:off x="548640" y="3886200"/>
            <a:ext cx="5486400" cy="2103120"/>
          </a:xfrm>
          <a:prstGeom prst="roundRect">
            <a:avLst>
              <a:gd name="adj" fmla="val 5217"/>
            </a:avLst>
          </a:prstGeom>
          <a:solidFill>
            <a:srgbClr val="EEF1F6"/>
          </a:solidFill>
          <a:ln w="12700">
            <a:solidFill>
              <a:srgbClr val="EEF1F6"/>
            </a:solidFill>
            <a:prstDash val="solid"/>
          </a:ln>
        </p:spPr>
      </p:sp>
      <p:sp>
        <p:nvSpPr>
          <p:cNvPr id="36" name="Shape 33"/>
          <p:cNvSpPr/>
          <p:nvPr/>
        </p:nvSpPr>
        <p:spPr>
          <a:xfrm>
            <a:off x="749808" y="4069080"/>
            <a:ext cx="502920" cy="502920"/>
          </a:xfrm>
          <a:prstGeom prst="ellipse">
            <a:avLst/>
          </a:prstGeom>
          <a:solidFill>
            <a:srgbClr val="14213D"/>
          </a:solidFill>
          <a:ln w="12700">
            <a:solidFill>
              <a:srgbClr val="14213D"/>
            </a:solidFill>
            <a:prstDash val="solid"/>
          </a:ln>
        </p:spPr>
      </p:sp>
      <p:sp>
        <p:nvSpPr>
          <p:cNvPr id="37" name="Text 34"/>
          <p:cNvSpPr txBox="1"/>
          <p:nvPr/>
        </p:nvSpPr>
        <p:spPr>
          <a:xfrm>
            <a:off x="74980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Q3</a:t>
            </a:r>
            <a:endParaRPr lang="en-US" sz="1400" dirty="0"/>
          </a:p>
        </p:txBody>
      </p:sp>
      <p:sp>
        <p:nvSpPr>
          <p:cNvPr id="38" name="Text 35"/>
          <p:cNvSpPr txBox="1"/>
          <p:nvPr/>
        </p:nvSpPr>
        <p:spPr>
          <a:xfrm>
            <a:off x="1417320" y="399592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Which call lets a method change the caller's int variable x?</a:t>
            </a:r>
            <a:endParaRPr lang="en-US" sz="1500" dirty="0"/>
          </a:p>
        </p:txBody>
      </p:sp>
      <p:sp>
        <p:nvSpPr>
          <p:cNvPr id="39" name="Shape 36"/>
          <p:cNvSpPr/>
          <p:nvPr/>
        </p:nvSpPr>
        <p:spPr>
          <a:xfrm>
            <a:off x="822960" y="4782312"/>
            <a:ext cx="2400300" cy="365760"/>
          </a:xfrm>
          <a:prstGeom prst="roundRect">
            <a:avLst>
              <a:gd name="adj" fmla="val 20000"/>
            </a:avLst>
          </a:prstGeom>
          <a:solidFill>
            <a:srgbClr val="FFFFFF"/>
          </a:solidFill>
          <a:ln w="9525">
            <a:solidFill>
              <a:srgbClr val="D5DAE3"/>
            </a:solidFill>
            <a:prstDash val="solid"/>
          </a:ln>
        </p:spPr>
      </p:sp>
      <p:sp>
        <p:nvSpPr>
          <p:cNvPr id="40" name="Text 37"/>
          <p:cNvSpPr txBox="1"/>
          <p:nvPr/>
        </p:nvSpPr>
        <p:spPr>
          <a:xfrm>
            <a:off x="93268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Change(x)</a:t>
            </a:r>
            <a:endParaRPr lang="en-US" sz="1400" dirty="0"/>
          </a:p>
        </p:txBody>
      </p:sp>
      <p:sp>
        <p:nvSpPr>
          <p:cNvPr id="41" name="Shape 38"/>
          <p:cNvSpPr/>
          <p:nvPr/>
        </p:nvSpPr>
        <p:spPr>
          <a:xfrm>
            <a:off x="3360420" y="4782312"/>
            <a:ext cx="2400300" cy="365760"/>
          </a:xfrm>
          <a:prstGeom prst="roundRect">
            <a:avLst>
              <a:gd name="adj" fmla="val 20000"/>
            </a:avLst>
          </a:prstGeom>
          <a:solidFill>
            <a:srgbClr val="2E9E6A"/>
          </a:solidFill>
          <a:ln w="9525">
            <a:solidFill>
              <a:srgbClr val="2E9E6A"/>
            </a:solidFill>
            <a:prstDash val="solid"/>
          </a:ln>
        </p:spPr>
      </p:sp>
      <p:sp>
        <p:nvSpPr>
          <p:cNvPr id="42" name="Text 39"/>
          <p:cNvSpPr txBox="1"/>
          <p:nvPr/>
        </p:nvSpPr>
        <p:spPr>
          <a:xfrm>
            <a:off x="3470148" y="478231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a:t>
            </a:r>
            <a:pPr indent="0" marL="0">
              <a:buNone/>
            </a:pPr>
            <a:r>
              <a:rPr lang="en-US" sz="1400" b="1" dirty="0">
                <a:solidFill>
                  <a:srgbClr val="FFFFFF"/>
                </a:solidFill>
                <a:latin typeface="Courier New" pitchFamily="34" charset="0"/>
                <a:ea typeface="Courier New" pitchFamily="34" charset="-122"/>
                <a:cs typeface="Courier New" pitchFamily="34" charset="-120"/>
              </a:rPr>
              <a:t>Change(ref x)</a:t>
            </a:r>
            <a:endParaRPr lang="en-US" sz="1400" dirty="0"/>
          </a:p>
        </p:txBody>
      </p:sp>
      <p:sp>
        <p:nvSpPr>
          <p:cNvPr id="43" name="Shape 40"/>
          <p:cNvSpPr/>
          <p:nvPr/>
        </p:nvSpPr>
        <p:spPr>
          <a:xfrm>
            <a:off x="822960" y="5239512"/>
            <a:ext cx="2400300" cy="365760"/>
          </a:xfrm>
          <a:prstGeom prst="roundRect">
            <a:avLst>
              <a:gd name="adj" fmla="val 20000"/>
            </a:avLst>
          </a:prstGeom>
          <a:solidFill>
            <a:srgbClr val="FFFFFF"/>
          </a:solidFill>
          <a:ln w="9525">
            <a:solidFill>
              <a:srgbClr val="D5DAE3"/>
            </a:solidFill>
            <a:prstDash val="solid"/>
          </a:ln>
        </p:spPr>
      </p:sp>
      <p:sp>
        <p:nvSpPr>
          <p:cNvPr id="44" name="Text 41"/>
          <p:cNvSpPr txBox="1"/>
          <p:nvPr/>
        </p:nvSpPr>
        <p:spPr>
          <a:xfrm>
            <a:off x="93268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Change(x + 1)</a:t>
            </a:r>
            <a:endParaRPr lang="en-US" sz="1400" dirty="0"/>
          </a:p>
        </p:txBody>
      </p:sp>
      <p:sp>
        <p:nvSpPr>
          <p:cNvPr id="45" name="Shape 42"/>
          <p:cNvSpPr/>
          <p:nvPr/>
        </p:nvSpPr>
        <p:spPr>
          <a:xfrm>
            <a:off x="3360420" y="5239512"/>
            <a:ext cx="2400300" cy="365760"/>
          </a:xfrm>
          <a:prstGeom prst="roundRect">
            <a:avLst>
              <a:gd name="adj" fmla="val 20000"/>
            </a:avLst>
          </a:prstGeom>
          <a:solidFill>
            <a:srgbClr val="FFFFFF"/>
          </a:solidFill>
          <a:ln w="9525">
            <a:solidFill>
              <a:srgbClr val="D5DAE3"/>
            </a:solidFill>
            <a:prstDash val="solid"/>
          </a:ln>
        </p:spPr>
      </p:sp>
      <p:sp>
        <p:nvSpPr>
          <p:cNvPr id="46" name="Text 43"/>
          <p:cNvSpPr txBox="1"/>
          <p:nvPr/>
        </p:nvSpPr>
        <p:spPr>
          <a:xfrm>
            <a:off x="34701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Change((int)x)</a:t>
            </a:r>
            <a:endParaRPr lang="en-US" sz="1400" dirty="0"/>
          </a:p>
        </p:txBody>
      </p:sp>
      <p:sp>
        <p:nvSpPr>
          <p:cNvPr id="47" name="Text 44"/>
          <p:cNvSpPr txBox="1"/>
          <p:nvPr/>
        </p:nvSpPr>
        <p:spPr>
          <a:xfrm>
            <a:off x="822960" y="5715000"/>
            <a:ext cx="4937760" cy="201168"/>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Only ref passes the variable itself (the parameter must be declared ref int).</a:t>
            </a:r>
            <a:endParaRPr lang="en-US" sz="1300" dirty="0"/>
          </a:p>
        </p:txBody>
      </p:sp>
      <p:sp>
        <p:nvSpPr>
          <p:cNvPr id="48" name="Shape 45"/>
          <p:cNvSpPr/>
          <p:nvPr/>
        </p:nvSpPr>
        <p:spPr>
          <a:xfrm>
            <a:off x="6172200" y="3886200"/>
            <a:ext cx="5486400" cy="2103120"/>
          </a:xfrm>
          <a:prstGeom prst="roundRect">
            <a:avLst>
              <a:gd name="adj" fmla="val 5217"/>
            </a:avLst>
          </a:prstGeom>
          <a:solidFill>
            <a:srgbClr val="EEF1F6"/>
          </a:solidFill>
          <a:ln w="12700">
            <a:solidFill>
              <a:srgbClr val="EEF1F6"/>
            </a:solidFill>
            <a:prstDash val="solid"/>
          </a:ln>
        </p:spPr>
      </p:sp>
      <p:sp>
        <p:nvSpPr>
          <p:cNvPr id="49" name="Shape 46"/>
          <p:cNvSpPr/>
          <p:nvPr/>
        </p:nvSpPr>
        <p:spPr>
          <a:xfrm>
            <a:off x="6373368" y="4069080"/>
            <a:ext cx="502920" cy="502920"/>
          </a:xfrm>
          <a:prstGeom prst="ellipse">
            <a:avLst/>
          </a:prstGeom>
          <a:solidFill>
            <a:srgbClr val="14213D"/>
          </a:solidFill>
          <a:ln w="12700">
            <a:solidFill>
              <a:srgbClr val="14213D"/>
            </a:solidFill>
            <a:prstDash val="solid"/>
          </a:ln>
        </p:spPr>
      </p:sp>
      <p:sp>
        <p:nvSpPr>
          <p:cNvPr id="50" name="Text 47"/>
          <p:cNvSpPr txBox="1"/>
          <p:nvPr/>
        </p:nvSpPr>
        <p:spPr>
          <a:xfrm>
            <a:off x="6373368" y="4069080"/>
            <a:ext cx="502920" cy="502920"/>
          </a:xfrm>
          <a:prstGeom prst="rect">
            <a:avLst/>
          </a:prstGeom>
          <a:noFill/>
          <a:ln/>
        </p:spPr>
        <p:txBody>
          <a:bodyPr wrap="square" lIns="0" tIns="0" rIns="0" bIns="0" rtlCol="0" anchor="ctr"/>
          <a:lstStyle/>
          <a:p>
            <a:pPr algn="ctr" indent="0" marL="0">
              <a:buNone/>
            </a:pPr>
            <a:r>
              <a:rPr lang="en-US" sz="1400" b="1" dirty="0">
                <a:solidFill>
                  <a:srgbClr val="FCA311"/>
                </a:solidFill>
                <a:latin typeface="Calibri" pitchFamily="34" charset="0"/>
                <a:ea typeface="Calibri" pitchFamily="34" charset="-122"/>
                <a:cs typeface="Calibri" pitchFamily="34" charset="-120"/>
              </a:rPr>
              <a:t>Q4</a:t>
            </a:r>
            <a:endParaRPr lang="en-US" sz="1400" dirty="0"/>
          </a:p>
        </p:txBody>
      </p:sp>
      <p:sp>
        <p:nvSpPr>
          <p:cNvPr id="51" name="Text 48"/>
          <p:cNvSpPr txBox="1"/>
          <p:nvPr/>
        </p:nvSpPr>
        <p:spPr>
          <a:xfrm>
            <a:off x="7040880" y="3995928"/>
            <a:ext cx="4434840" cy="685800"/>
          </a:xfrm>
          <a:prstGeom prst="rect">
            <a:avLst/>
          </a:prstGeom>
          <a:noFill/>
          <a:ln/>
        </p:spPr>
        <p:txBody>
          <a:bodyPr wrap="square" lIns="0" tIns="0" rIns="0" bIns="0" rtlCol="0" anchor="ctr"/>
          <a:lstStyle/>
          <a:p>
            <a:pPr indent="0" marL="0">
              <a:buNone/>
            </a:pPr>
            <a:r>
              <a:rPr lang="en-US" sz="1500" b="1" dirty="0">
                <a:solidFill>
                  <a:srgbClr val="14213D"/>
                </a:solidFill>
                <a:latin typeface="Calibri" pitchFamily="34" charset="0"/>
                <a:ea typeface="Calibri" pitchFamily="34" charset="-122"/>
                <a:cs typeface="Calibri" pitchFamily="34" charset="-120"/>
              </a:rPr>
              <a:t>Return type of File.ReadAllLines(path)?</a:t>
            </a:r>
            <a:endParaRPr lang="en-US" sz="1500" dirty="0"/>
          </a:p>
        </p:txBody>
      </p:sp>
      <p:sp>
        <p:nvSpPr>
          <p:cNvPr id="52" name="Shape 49"/>
          <p:cNvSpPr/>
          <p:nvPr/>
        </p:nvSpPr>
        <p:spPr>
          <a:xfrm>
            <a:off x="6446520" y="4782312"/>
            <a:ext cx="2400300" cy="365760"/>
          </a:xfrm>
          <a:prstGeom prst="roundRect">
            <a:avLst>
              <a:gd name="adj" fmla="val 20000"/>
            </a:avLst>
          </a:prstGeom>
          <a:solidFill>
            <a:srgbClr val="FFFFFF"/>
          </a:solidFill>
          <a:ln w="9525">
            <a:solidFill>
              <a:srgbClr val="D5DAE3"/>
            </a:solidFill>
            <a:prstDash val="solid"/>
          </a:ln>
        </p:spPr>
      </p:sp>
      <p:sp>
        <p:nvSpPr>
          <p:cNvPr id="53" name="Text 50"/>
          <p:cNvSpPr txBox="1"/>
          <p:nvPr/>
        </p:nvSpPr>
        <p:spPr>
          <a:xfrm>
            <a:off x="6556248" y="47823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A)  </a:t>
            </a:r>
            <a:pPr indent="0" marL="0">
              <a:buNone/>
            </a:pPr>
            <a:r>
              <a:rPr lang="en-US" sz="1400" dirty="0">
                <a:solidFill>
                  <a:srgbClr val="14213D"/>
                </a:solidFill>
                <a:latin typeface="Courier New" pitchFamily="34" charset="0"/>
                <a:ea typeface="Courier New" pitchFamily="34" charset="-122"/>
                <a:cs typeface="Courier New" pitchFamily="34" charset="-120"/>
              </a:rPr>
              <a:t>string</a:t>
            </a:r>
            <a:endParaRPr lang="en-US" sz="1400" dirty="0"/>
          </a:p>
        </p:txBody>
      </p:sp>
      <p:sp>
        <p:nvSpPr>
          <p:cNvPr id="54" name="Shape 51"/>
          <p:cNvSpPr/>
          <p:nvPr/>
        </p:nvSpPr>
        <p:spPr>
          <a:xfrm>
            <a:off x="8983980" y="4782312"/>
            <a:ext cx="2400300" cy="365760"/>
          </a:xfrm>
          <a:prstGeom prst="roundRect">
            <a:avLst>
              <a:gd name="adj" fmla="val 20000"/>
            </a:avLst>
          </a:prstGeom>
          <a:solidFill>
            <a:srgbClr val="2E9E6A"/>
          </a:solidFill>
          <a:ln w="9525">
            <a:solidFill>
              <a:srgbClr val="2E9E6A"/>
            </a:solidFill>
            <a:prstDash val="solid"/>
          </a:ln>
        </p:spPr>
      </p:sp>
      <p:sp>
        <p:nvSpPr>
          <p:cNvPr id="55" name="Text 52"/>
          <p:cNvSpPr txBox="1"/>
          <p:nvPr/>
        </p:nvSpPr>
        <p:spPr>
          <a:xfrm>
            <a:off x="9093708" y="4782312"/>
            <a:ext cx="221742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  </a:t>
            </a:r>
            <a:pPr indent="0" marL="0">
              <a:buNone/>
            </a:pPr>
            <a:r>
              <a:rPr lang="en-US" sz="1400" b="1" dirty="0">
                <a:solidFill>
                  <a:srgbClr val="FFFFFF"/>
                </a:solidFill>
                <a:latin typeface="Courier New" pitchFamily="34" charset="0"/>
                <a:ea typeface="Courier New" pitchFamily="34" charset="-122"/>
                <a:cs typeface="Courier New" pitchFamily="34" charset="-120"/>
              </a:rPr>
              <a:t>string[]</a:t>
            </a:r>
            <a:endParaRPr lang="en-US" sz="1400" dirty="0"/>
          </a:p>
        </p:txBody>
      </p:sp>
      <p:sp>
        <p:nvSpPr>
          <p:cNvPr id="56" name="Shape 53"/>
          <p:cNvSpPr/>
          <p:nvPr/>
        </p:nvSpPr>
        <p:spPr>
          <a:xfrm>
            <a:off x="6446520" y="5239512"/>
            <a:ext cx="2400300" cy="365760"/>
          </a:xfrm>
          <a:prstGeom prst="roundRect">
            <a:avLst>
              <a:gd name="adj" fmla="val 20000"/>
            </a:avLst>
          </a:prstGeom>
          <a:solidFill>
            <a:srgbClr val="FFFFFF"/>
          </a:solidFill>
          <a:ln w="9525">
            <a:solidFill>
              <a:srgbClr val="D5DAE3"/>
            </a:solidFill>
            <a:prstDash val="solid"/>
          </a:ln>
        </p:spPr>
      </p:sp>
      <p:sp>
        <p:nvSpPr>
          <p:cNvPr id="57" name="Text 54"/>
          <p:cNvSpPr txBox="1"/>
          <p:nvPr/>
        </p:nvSpPr>
        <p:spPr>
          <a:xfrm>
            <a:off x="655624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C)  </a:t>
            </a:r>
            <a:pPr indent="0" marL="0">
              <a:buNone/>
            </a:pPr>
            <a:r>
              <a:rPr lang="en-US" sz="1400" dirty="0">
                <a:solidFill>
                  <a:srgbClr val="14213D"/>
                </a:solidFill>
                <a:latin typeface="Courier New" pitchFamily="34" charset="0"/>
                <a:ea typeface="Courier New" pitchFamily="34" charset="-122"/>
                <a:cs typeface="Courier New" pitchFamily="34" charset="-120"/>
              </a:rPr>
              <a:t>char[]</a:t>
            </a:r>
            <a:endParaRPr lang="en-US" sz="1400" dirty="0"/>
          </a:p>
        </p:txBody>
      </p:sp>
      <p:sp>
        <p:nvSpPr>
          <p:cNvPr id="58" name="Shape 55"/>
          <p:cNvSpPr/>
          <p:nvPr/>
        </p:nvSpPr>
        <p:spPr>
          <a:xfrm>
            <a:off x="8983980" y="5239512"/>
            <a:ext cx="2400300" cy="365760"/>
          </a:xfrm>
          <a:prstGeom prst="roundRect">
            <a:avLst>
              <a:gd name="adj" fmla="val 20000"/>
            </a:avLst>
          </a:prstGeom>
          <a:solidFill>
            <a:srgbClr val="FFFFFF"/>
          </a:solidFill>
          <a:ln w="9525">
            <a:solidFill>
              <a:srgbClr val="D5DAE3"/>
            </a:solidFill>
            <a:prstDash val="solid"/>
          </a:ln>
        </p:spPr>
      </p:sp>
      <p:sp>
        <p:nvSpPr>
          <p:cNvPr id="59" name="Text 56"/>
          <p:cNvSpPr txBox="1"/>
          <p:nvPr/>
        </p:nvSpPr>
        <p:spPr>
          <a:xfrm>
            <a:off x="9093708" y="5239512"/>
            <a:ext cx="2217420" cy="365760"/>
          </a:xfrm>
          <a:prstGeom prst="rect">
            <a:avLst/>
          </a:prstGeom>
          <a:noFill/>
          <a:ln/>
        </p:spPr>
        <p:txBody>
          <a:bodyPr wrap="square" lIns="0" tIns="0" rIns="0" bIns="0" rtlCol="0" anchor="ctr"/>
          <a:lstStyle/>
          <a:p>
            <a:pPr indent="0" marL="0">
              <a:buNone/>
            </a:pPr>
            <a:r>
              <a:rPr lang="en-US" sz="1400" b="1" dirty="0">
                <a:solidFill>
                  <a:srgbClr val="2F6FB3"/>
                </a:solidFill>
                <a:latin typeface="Calibri" pitchFamily="34" charset="0"/>
                <a:ea typeface="Calibri" pitchFamily="34" charset="-122"/>
                <a:cs typeface="Calibri" pitchFamily="34" charset="-120"/>
              </a:rPr>
              <a:t>D)  </a:t>
            </a:r>
            <a:pPr indent="0" marL="0">
              <a:buNone/>
            </a:pPr>
            <a:r>
              <a:rPr lang="en-US" sz="1400" dirty="0">
                <a:solidFill>
                  <a:srgbClr val="14213D"/>
                </a:solidFill>
                <a:latin typeface="Courier New" pitchFamily="34" charset="0"/>
                <a:ea typeface="Courier New" pitchFamily="34" charset="-122"/>
                <a:cs typeface="Courier New" pitchFamily="34" charset="-120"/>
              </a:rPr>
              <a:t>void</a:t>
            </a:r>
            <a:endParaRPr lang="en-US" sz="1400" dirty="0"/>
          </a:p>
        </p:txBody>
      </p:sp>
      <p:sp>
        <p:nvSpPr>
          <p:cNvPr id="60" name="Text 57"/>
          <p:cNvSpPr txBox="1"/>
          <p:nvPr/>
        </p:nvSpPr>
        <p:spPr>
          <a:xfrm>
            <a:off x="6446520" y="5715000"/>
            <a:ext cx="4937760" cy="201168"/>
          </a:xfrm>
          <a:prstGeom prst="rect">
            <a:avLst/>
          </a:prstGeom>
          <a:noFill/>
          <a:ln/>
        </p:spPr>
        <p:txBody>
          <a:bodyPr wrap="square" lIns="0" tIns="0" rIns="0" bIns="0" rtlCol="0" anchor="t"/>
          <a:lstStyle/>
          <a:p>
            <a:pPr indent="0" marL="0">
              <a:buNone/>
            </a:pPr>
            <a:r>
              <a:rPr lang="en-US" sz="1300" i="1" dirty="0">
                <a:solidFill>
                  <a:srgbClr val="5B6478"/>
                </a:solidFill>
                <a:latin typeface="Calibri" pitchFamily="34" charset="0"/>
                <a:ea typeface="Calibri" pitchFamily="34" charset="-122"/>
                <a:cs typeface="Calibri" pitchFamily="34" charset="-120"/>
              </a:rPr>
              <a:t>One string per line, ready for a for loop and Split.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Q5 · ARRAYS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Six Lines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19</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64008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59436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Program.cs</a:t>
            </a:r>
            <a:endParaRPr lang="en-US" sz="1100" dirty="0"/>
          </a:p>
        </p:txBody>
      </p:sp>
      <p:sp>
        <p:nvSpPr>
          <p:cNvPr id="11" name="Text 8"/>
          <p:cNvSpPr txBox="1"/>
          <p:nvPr/>
        </p:nvSpPr>
        <p:spPr>
          <a:xfrm>
            <a:off x="777240" y="2057400"/>
            <a:ext cx="5943600" cy="3913632"/>
          </a:xfrm>
          <a:prstGeom prst="rect">
            <a:avLst/>
          </a:prstGeom>
          <a:noFill/>
          <a:ln/>
        </p:spPr>
        <p:txBody>
          <a:bodyPr wrap="square" lIns="0" tIns="0" rIns="0" bIns="0" rtlCol="0" anchor="t"/>
          <a:lstStyle/>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1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2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b = a;</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3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b[</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4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5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.WriteLine(a[a.Length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6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.WriteLine(a[a[</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7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8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i &lt; a.Length; i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 9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10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sum += a[i];</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11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12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.WriteLine(sum);</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13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[])a.Clone();</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14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c[</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15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.Join(</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a:t>
            </a:r>
            <a:endParaRPr lang="en-US" sz="1300" dirty="0"/>
          </a:p>
          <a:p>
            <a:pPr indent="0" marL="0">
              <a:spcAft>
                <a:spcPts val="100"/>
              </a:spcAft>
              <a:buNone/>
            </a:pPr>
            <a:r>
              <a:rPr lang="en-US" sz="1300" dirty="0">
                <a:solidFill>
                  <a:srgbClr val="5A6680"/>
                </a:solidFill>
                <a:latin typeface="Courier New" pitchFamily="34" charset="0"/>
                <a:ea typeface="Courier New" pitchFamily="34" charset="-122"/>
                <a:cs typeface="Courier New" pitchFamily="34" charset="-120"/>
              </a:rPr>
              <a:t>16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.WriteLine(a == c);</a:t>
            </a:r>
            <a:endParaRPr lang="en-US" sz="1300" dirty="0"/>
          </a:p>
        </p:txBody>
      </p:sp>
      <p:sp>
        <p:nvSpPr>
          <p:cNvPr id="12" name="Shape 9"/>
          <p:cNvSpPr/>
          <p:nvPr/>
        </p:nvSpPr>
        <p:spPr>
          <a:xfrm>
            <a:off x="7223760" y="1645920"/>
            <a:ext cx="4434840" cy="4434840"/>
          </a:xfrm>
          <a:prstGeom prst="roundRect">
            <a:avLst>
              <a:gd name="adj" fmla="val 2474"/>
            </a:avLst>
          </a:prstGeom>
          <a:solidFill>
            <a:srgbClr val="EEF1F6"/>
          </a:solidFill>
          <a:ln w="12700">
            <a:solidFill>
              <a:srgbClr val="EEF1F6"/>
            </a:solidFill>
            <a:prstDash val="solid"/>
          </a:ln>
        </p:spPr>
      </p:sp>
      <p:sp>
        <p:nvSpPr>
          <p:cNvPr id="13" name="Text 10"/>
          <p:cNvSpPr txBox="1"/>
          <p:nvPr/>
        </p:nvSpPr>
        <p:spPr>
          <a:xfrm>
            <a:off x="7452360" y="1783080"/>
            <a:ext cx="393192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Your answer</a:t>
            </a:r>
            <a:endParaRPr lang="en-US" sz="1700" dirty="0"/>
          </a:p>
        </p:txBody>
      </p:sp>
      <p:sp>
        <p:nvSpPr>
          <p:cNvPr id="14" name="Text 11"/>
          <p:cNvSpPr txBox="1"/>
          <p:nvPr/>
        </p:nvSpPr>
        <p:spPr>
          <a:xfrm>
            <a:off x="7452360" y="233172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1</a:t>
            </a:r>
            <a:endParaRPr lang="en-US" sz="1300" dirty="0"/>
          </a:p>
        </p:txBody>
      </p:sp>
      <p:sp>
        <p:nvSpPr>
          <p:cNvPr id="15" name="Shape 12"/>
          <p:cNvSpPr/>
          <p:nvPr/>
        </p:nvSpPr>
        <p:spPr>
          <a:xfrm>
            <a:off x="7818120" y="2743200"/>
            <a:ext cx="3566160" cy="0"/>
          </a:xfrm>
          <a:prstGeom prst="line">
            <a:avLst/>
          </a:prstGeom>
          <a:noFill/>
          <a:ln w="15875">
            <a:solidFill>
              <a:srgbClr val="D5DAE3"/>
            </a:solidFill>
            <a:prstDash val="solid"/>
          </a:ln>
        </p:spPr>
      </p:sp>
      <p:sp>
        <p:nvSpPr>
          <p:cNvPr id="16" name="Text 13"/>
          <p:cNvSpPr txBox="1"/>
          <p:nvPr/>
        </p:nvSpPr>
        <p:spPr>
          <a:xfrm>
            <a:off x="7452360" y="288036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2</a:t>
            </a:r>
            <a:endParaRPr lang="en-US" sz="1300" dirty="0"/>
          </a:p>
        </p:txBody>
      </p:sp>
      <p:sp>
        <p:nvSpPr>
          <p:cNvPr id="17" name="Shape 14"/>
          <p:cNvSpPr/>
          <p:nvPr/>
        </p:nvSpPr>
        <p:spPr>
          <a:xfrm>
            <a:off x="7818120" y="3291840"/>
            <a:ext cx="3566160" cy="0"/>
          </a:xfrm>
          <a:prstGeom prst="line">
            <a:avLst/>
          </a:prstGeom>
          <a:noFill/>
          <a:ln w="15875">
            <a:solidFill>
              <a:srgbClr val="D5DAE3"/>
            </a:solidFill>
            <a:prstDash val="solid"/>
          </a:ln>
        </p:spPr>
      </p:sp>
      <p:sp>
        <p:nvSpPr>
          <p:cNvPr id="18" name="Text 15"/>
          <p:cNvSpPr txBox="1"/>
          <p:nvPr/>
        </p:nvSpPr>
        <p:spPr>
          <a:xfrm>
            <a:off x="7452360" y="342900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3</a:t>
            </a:r>
            <a:endParaRPr lang="en-US" sz="1300" dirty="0"/>
          </a:p>
        </p:txBody>
      </p:sp>
      <p:sp>
        <p:nvSpPr>
          <p:cNvPr id="19" name="Shape 16"/>
          <p:cNvSpPr/>
          <p:nvPr/>
        </p:nvSpPr>
        <p:spPr>
          <a:xfrm>
            <a:off x="7818120" y="3840480"/>
            <a:ext cx="3566160" cy="0"/>
          </a:xfrm>
          <a:prstGeom prst="line">
            <a:avLst/>
          </a:prstGeom>
          <a:noFill/>
          <a:ln w="15875">
            <a:solidFill>
              <a:srgbClr val="D5DAE3"/>
            </a:solidFill>
            <a:prstDash val="solid"/>
          </a:ln>
        </p:spPr>
      </p:sp>
      <p:sp>
        <p:nvSpPr>
          <p:cNvPr id="20" name="Text 17"/>
          <p:cNvSpPr txBox="1"/>
          <p:nvPr/>
        </p:nvSpPr>
        <p:spPr>
          <a:xfrm>
            <a:off x="7452360" y="397764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4</a:t>
            </a:r>
            <a:endParaRPr lang="en-US" sz="1300" dirty="0"/>
          </a:p>
        </p:txBody>
      </p:sp>
      <p:sp>
        <p:nvSpPr>
          <p:cNvPr id="21" name="Shape 18"/>
          <p:cNvSpPr/>
          <p:nvPr/>
        </p:nvSpPr>
        <p:spPr>
          <a:xfrm>
            <a:off x="7818120" y="4389120"/>
            <a:ext cx="3566160" cy="0"/>
          </a:xfrm>
          <a:prstGeom prst="line">
            <a:avLst/>
          </a:prstGeom>
          <a:noFill/>
          <a:ln w="15875">
            <a:solidFill>
              <a:srgbClr val="D5DAE3"/>
            </a:solidFill>
            <a:prstDash val="solid"/>
          </a:ln>
        </p:spPr>
      </p:sp>
      <p:sp>
        <p:nvSpPr>
          <p:cNvPr id="22" name="Text 19"/>
          <p:cNvSpPr txBox="1"/>
          <p:nvPr/>
        </p:nvSpPr>
        <p:spPr>
          <a:xfrm>
            <a:off x="7452360" y="452628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5</a:t>
            </a:r>
            <a:endParaRPr lang="en-US" sz="1300" dirty="0"/>
          </a:p>
        </p:txBody>
      </p:sp>
      <p:sp>
        <p:nvSpPr>
          <p:cNvPr id="23" name="Shape 20"/>
          <p:cNvSpPr/>
          <p:nvPr/>
        </p:nvSpPr>
        <p:spPr>
          <a:xfrm>
            <a:off x="7818120" y="4937760"/>
            <a:ext cx="3566160" cy="0"/>
          </a:xfrm>
          <a:prstGeom prst="line">
            <a:avLst/>
          </a:prstGeom>
          <a:noFill/>
          <a:ln w="15875">
            <a:solidFill>
              <a:srgbClr val="D5DAE3"/>
            </a:solidFill>
            <a:prstDash val="solid"/>
          </a:ln>
        </p:spPr>
      </p:sp>
      <p:sp>
        <p:nvSpPr>
          <p:cNvPr id="24" name="Text 21"/>
          <p:cNvSpPr txBox="1"/>
          <p:nvPr/>
        </p:nvSpPr>
        <p:spPr>
          <a:xfrm>
            <a:off x="7452360" y="5074920"/>
            <a:ext cx="320040" cy="411480"/>
          </a:xfrm>
          <a:prstGeom prst="rect">
            <a:avLst/>
          </a:prstGeom>
          <a:noFill/>
          <a:ln/>
        </p:spPr>
        <p:txBody>
          <a:bodyPr wrap="square" lIns="0" tIns="0" rIns="0" bIns="0" rtlCol="0" anchor="b"/>
          <a:lstStyle/>
          <a:p>
            <a:pPr indent="0" marL="0">
              <a:buNone/>
            </a:pPr>
            <a:r>
              <a:rPr lang="en-US" sz="1300" dirty="0">
                <a:solidFill>
                  <a:srgbClr val="5B6478"/>
                </a:solidFill>
                <a:latin typeface="Courier New" pitchFamily="34" charset="0"/>
                <a:ea typeface="Courier New" pitchFamily="34" charset="-122"/>
                <a:cs typeface="Courier New" pitchFamily="34" charset="-120"/>
              </a:rPr>
              <a:t>6</a:t>
            </a:r>
            <a:endParaRPr lang="en-US" sz="1300" dirty="0"/>
          </a:p>
        </p:txBody>
      </p:sp>
      <p:sp>
        <p:nvSpPr>
          <p:cNvPr id="25" name="Shape 22"/>
          <p:cNvSpPr/>
          <p:nvPr/>
        </p:nvSpPr>
        <p:spPr>
          <a:xfrm>
            <a:off x="7818120" y="5486400"/>
            <a:ext cx="3566160" cy="0"/>
          </a:xfrm>
          <a:prstGeom prst="line">
            <a:avLst/>
          </a:prstGeom>
          <a:noFill/>
          <a:ln w="15875">
            <a:solidFill>
              <a:srgbClr val="D5DAE3"/>
            </a:solidFill>
            <a:prstDash val="solid"/>
          </a:ln>
        </p:spPr>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Q5</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20</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223760" cy="914400"/>
        </p:xfrm>
        <a:graphic>
          <a:graphicData uri="http://schemas.openxmlformats.org/drawingml/2006/table">
            <a:tbl>
              <a:tblPr/>
              <a:tblGrid>
                <a:gridCol w="457200"/>
                <a:gridCol w="1828800"/>
                <a:gridCol w="4937760"/>
              </a:tblGrid>
              <a:tr h="50292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Output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Why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b = a: same array, two names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last index is Length − 1 = 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7</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a[2] = 1, so a[a[2]] = a[1]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16</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i = 1, 3: 7 + 9</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10,7,1,9,3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the clone c is a different array</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ourier New" pitchFamily="34" charset="0"/>
                          <a:ea typeface="Courier New" pitchFamily="34" charset="-122"/>
                          <a:cs typeface="Courier New" pitchFamily="34" charset="-120"/>
                        </a:rPr>
                        <a:t>False</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500" dirty="0">
                          <a:solidFill>
                            <a:srgbClr val="14213D"/>
                          </a:solidFill>
                          <a:latin typeface="Calibri" pitchFamily="34" charset="0"/>
                          <a:ea typeface="Calibri" pitchFamily="34" charset="-122"/>
                          <a:cs typeface="Calibri" pitchFamily="34" charset="-120"/>
                        </a:rPr>
                        <a:t>== compares references, not contents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8046720" y="1645920"/>
            <a:ext cx="3611880" cy="3017520"/>
          </a:xfrm>
          <a:prstGeom prst="roundRect">
            <a:avLst>
              <a:gd name="adj" fmla="val 3030"/>
            </a:avLst>
          </a:prstGeom>
          <a:solidFill>
            <a:srgbClr val="0B0F19"/>
          </a:solidFill>
          <a:ln w="12700">
            <a:solidFill>
              <a:srgbClr val="2A3654"/>
            </a:solidFill>
            <a:prstDash val="solid"/>
          </a:ln>
        </p:spPr>
      </p:sp>
      <p:sp>
        <p:nvSpPr>
          <p:cNvPr id="11" name="Shape 7"/>
          <p:cNvSpPr/>
          <p:nvPr/>
        </p:nvSpPr>
        <p:spPr>
          <a:xfrm>
            <a:off x="8229600" y="1773936"/>
            <a:ext cx="118872" cy="118872"/>
          </a:xfrm>
          <a:prstGeom prst="ellipse">
            <a:avLst/>
          </a:prstGeom>
          <a:solidFill>
            <a:srgbClr val="FF5F57"/>
          </a:solidFill>
          <a:ln w="12700">
            <a:solidFill>
              <a:srgbClr val="FF5F57"/>
            </a:solidFill>
            <a:prstDash val="solid"/>
          </a:ln>
        </p:spPr>
      </p:sp>
      <p:sp>
        <p:nvSpPr>
          <p:cNvPr id="12" name="Shape 8"/>
          <p:cNvSpPr/>
          <p:nvPr/>
        </p:nvSpPr>
        <p:spPr>
          <a:xfrm>
            <a:off x="8458200" y="1773936"/>
            <a:ext cx="118872" cy="118872"/>
          </a:xfrm>
          <a:prstGeom prst="ellipse">
            <a:avLst/>
          </a:prstGeom>
          <a:solidFill>
            <a:srgbClr val="FEBC2E"/>
          </a:solidFill>
          <a:ln w="12700">
            <a:solidFill>
              <a:srgbClr val="FEBC2E"/>
            </a:solidFill>
            <a:prstDash val="solid"/>
          </a:ln>
        </p:spPr>
      </p:sp>
      <p:sp>
        <p:nvSpPr>
          <p:cNvPr id="13" name="Shape 9"/>
          <p:cNvSpPr/>
          <p:nvPr/>
        </p:nvSpPr>
        <p:spPr>
          <a:xfrm>
            <a:off x="8686800" y="177393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8961120" y="1719072"/>
            <a:ext cx="25146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5" name="Text 11"/>
          <p:cNvSpPr txBox="1"/>
          <p:nvPr/>
        </p:nvSpPr>
        <p:spPr>
          <a:xfrm>
            <a:off x="8275320" y="2029968"/>
            <a:ext cx="3154680" cy="2514600"/>
          </a:xfrm>
          <a:prstGeom prst="rect">
            <a:avLst/>
          </a:prstGeom>
          <a:noFill/>
          <a:ln/>
        </p:spPr>
        <p:txBody>
          <a:bodyPr wrap="square" lIns="0" tIns="0" rIns="0" bIns="0" rtlCol="0" anchor="t"/>
          <a:lstStyle/>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10</a:t>
            </a:r>
            <a:endParaRPr lang="en-US" sz="1600" dirty="0"/>
          </a:p>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3</a:t>
            </a:r>
            <a:endParaRPr lang="en-US" sz="1600" dirty="0"/>
          </a:p>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7</a:t>
            </a:r>
            <a:endParaRPr lang="en-US" sz="1600" dirty="0"/>
          </a:p>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16</a:t>
            </a:r>
            <a:endParaRPr lang="en-US" sz="1600" dirty="0"/>
          </a:p>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10,7,1,9,3</a:t>
            </a:r>
            <a:endParaRPr lang="en-US" sz="1600" dirty="0"/>
          </a:p>
          <a:p>
            <a:pPr indent="0" marL="0">
              <a:spcAft>
                <a:spcPts val="100"/>
              </a:spcAft>
              <a:buNone/>
            </a:pPr>
            <a:r>
              <a:rPr lang="en-US" sz="1600" dirty="0">
                <a:solidFill>
                  <a:srgbClr val="7EE2A8"/>
                </a:solidFill>
                <a:latin typeface="Courier New" pitchFamily="34" charset="0"/>
                <a:ea typeface="Courier New" pitchFamily="34" charset="-122"/>
                <a:cs typeface="Courier New" pitchFamily="34" charset="-120"/>
              </a:rPr>
              <a:t>False</a:t>
            </a:r>
            <a:endParaRPr lang="en-US" sz="1600" dirty="0"/>
          </a:p>
        </p:txBody>
      </p:sp>
      <p:sp>
        <p:nvSpPr>
          <p:cNvPr id="16" name="Shape 12"/>
          <p:cNvSpPr/>
          <p:nvPr/>
        </p:nvSpPr>
        <p:spPr>
          <a:xfrm>
            <a:off x="548640" y="5349240"/>
            <a:ext cx="11109960" cy="731520"/>
          </a:xfrm>
          <a:prstGeom prst="roundRect">
            <a:avLst>
              <a:gd name="adj" fmla="val 15000"/>
            </a:avLst>
          </a:prstGeom>
          <a:solidFill>
            <a:srgbClr val="FFF6E3"/>
          </a:solidFill>
          <a:ln w="12700">
            <a:solidFill>
              <a:srgbClr val="FFF6E3"/>
            </a:solidFill>
            <a:prstDash val="solid"/>
          </a:ln>
        </p:spPr>
      </p:sp>
      <p:pic>
        <p:nvPicPr>
          <p:cNvPr id="17" name="Image 0" descr="preencoded.png">    </p:cNvPr>
          <p:cNvPicPr>
            <a:picLocks noChangeAspect="1"/>
          </p:cNvPicPr>
          <p:nvPr/>
        </p:nvPicPr>
        <p:blipFill>
          <a:blip r:embed="rId1"/>
          <a:stretch>
            <a:fillRect/>
          </a:stretch>
        </p:blipFill>
        <p:spPr>
          <a:xfrm>
            <a:off x="822960" y="5486400"/>
            <a:ext cx="457200" cy="457200"/>
          </a:xfrm>
          <a:prstGeom prst="rect">
            <a:avLst/>
          </a:prstGeom>
        </p:spPr>
      </p:pic>
      <p:sp>
        <p:nvSpPr>
          <p:cNvPr id="18" name="Text 13"/>
          <p:cNvSpPr txBox="1"/>
          <p:nvPr/>
        </p:nvSpPr>
        <p:spPr>
          <a:xfrm>
            <a:off x="1554480" y="5422392"/>
            <a:ext cx="9829800" cy="58521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Copy ≠ second name: </a:t>
            </a:r>
            <a:pPr indent="0" marL="0">
              <a:buNone/>
            </a:pPr>
            <a:r>
              <a:rPr lang="en-US" sz="1400" dirty="0">
                <a:solidFill>
                  <a:srgbClr val="333B4F"/>
                </a:solidFill>
                <a:latin typeface="Calibri" pitchFamily="34" charset="0"/>
                <a:ea typeface="Calibri" pitchFamily="34" charset="-122"/>
                <a:cs typeface="Calibri" pitchFamily="34" charset="-120"/>
              </a:rPr>
              <a:t>int[] b = a;  shares the array.  (int[])a.Clone()  or  new + loop  makes a real copy.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Q6 · BUBBLE SORT</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the Bubble Sort, Pass by Pass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21</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TRACE · 5 min</a:t>
            </a:r>
            <a:endParaRPr lang="en-US" sz="1200" dirty="0"/>
          </a:p>
        </p:txBody>
      </p:sp>
      <p:sp>
        <p:nvSpPr>
          <p:cNvPr id="9" name="Shape 6"/>
          <p:cNvSpPr/>
          <p:nvPr/>
        </p:nvSpPr>
        <p:spPr>
          <a:xfrm>
            <a:off x="548640" y="1645920"/>
            <a:ext cx="512064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4663440" cy="41605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a.Length;</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 &lt;=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pass++)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bool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false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j &lt; n - pass; 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&gt;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 = a[j];</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a[j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temp;</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swapped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(!swapped)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break</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43600" y="1645920"/>
          <a:ext cx="5715000" cy="914400"/>
        </p:xfrm>
        <a:graphic>
          <a:graphicData uri="http://schemas.openxmlformats.org/drawingml/2006/table">
            <a:tbl>
              <a:tblPr/>
              <a:tblGrid>
                <a:gridCol w="914400"/>
                <a:gridCol w="3657600"/>
                <a:gridCol w="114300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Array after the 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Swaps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4  2  7  1  9  5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2" name="Shape 8"/>
          <p:cNvSpPr/>
          <p:nvPr/>
        </p:nvSpPr>
        <p:spPr>
          <a:xfrm>
            <a:off x="5943600" y="5029200"/>
            <a:ext cx="5715000" cy="1051560"/>
          </a:xfrm>
          <a:prstGeom prst="roundRect">
            <a:avLst>
              <a:gd name="adj" fmla="val 10435"/>
            </a:avLst>
          </a:prstGeom>
          <a:solidFill>
            <a:srgbClr val="E3ECF8"/>
          </a:solidFill>
          <a:ln w="12700">
            <a:solidFill>
              <a:srgbClr val="E3ECF8"/>
            </a:solidFill>
            <a:prstDash val="solid"/>
          </a:ln>
        </p:spPr>
      </p:sp>
      <p:pic>
        <p:nvPicPr>
          <p:cNvPr id="13" name="Image 0" descr="preencoded.png">    </p:cNvPr>
          <p:cNvPicPr>
            <a:picLocks noChangeAspect="1"/>
          </p:cNvPicPr>
          <p:nvPr/>
        </p:nvPicPr>
        <p:blipFill>
          <a:blip r:embed="rId1"/>
          <a:stretch>
            <a:fillRect/>
          </a:stretch>
        </p:blipFill>
        <p:spPr>
          <a:xfrm>
            <a:off x="6217920" y="5280660"/>
            <a:ext cx="548640" cy="548640"/>
          </a:xfrm>
          <a:prstGeom prst="rect">
            <a:avLst/>
          </a:prstGeom>
        </p:spPr>
      </p:pic>
      <p:sp>
        <p:nvSpPr>
          <p:cNvPr id="14" name="Text 9"/>
          <p:cNvSpPr txBox="1"/>
          <p:nvPr/>
        </p:nvSpPr>
        <p:spPr>
          <a:xfrm>
            <a:off x="7040880" y="5102352"/>
            <a:ext cx="4343400" cy="90525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After which pass does the loop stop? Total comparisons? Total swaps?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Q6</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Bubble Sort Trace: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22</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406640" cy="914400"/>
        </p:xfrm>
        <a:graphic>
          <a:graphicData uri="http://schemas.openxmlformats.org/drawingml/2006/table">
            <a:tbl>
              <a:tblPr/>
              <a:tblGrid>
                <a:gridCol w="914400"/>
                <a:gridCol w="3291840"/>
                <a:gridCol w="1645920"/>
                <a:gridCol w="1554480"/>
              </a:tblGrid>
              <a:tr h="429768">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Array after the pass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Comparisons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Swaps</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start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4  2  7  1  9  5</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2  4  1  7  5  9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2  1  4  5  7  9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1  2  4  5  7  9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1  2  4  5  7  9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0 → break</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i="1" dirty="0">
                          <a:solidFill>
                            <a:srgbClr val="14213D"/>
                          </a:solidFill>
                          <a:latin typeface="Courier New" pitchFamily="34" charset="0"/>
                          <a:ea typeface="Courier New" pitchFamily="34" charset="-122"/>
                          <a:cs typeface="Courier New" pitchFamily="34" charset="-120"/>
                        </a:rPr>
                        <a:t>pass 5 never runs</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1F7A50"/>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1F7A50"/>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8229600" y="1645920"/>
            <a:ext cx="3429000" cy="2377440"/>
          </a:xfrm>
          <a:prstGeom prst="roundRect">
            <a:avLst>
              <a:gd name="adj" fmla="val 3846"/>
            </a:avLst>
          </a:prstGeom>
          <a:solidFill>
            <a:srgbClr val="0B0F19"/>
          </a:solidFill>
          <a:ln w="12700">
            <a:solidFill>
              <a:srgbClr val="2A3654"/>
            </a:solidFill>
            <a:prstDash val="solid"/>
          </a:ln>
        </p:spPr>
      </p:sp>
      <p:sp>
        <p:nvSpPr>
          <p:cNvPr id="11" name="Shape 7"/>
          <p:cNvSpPr/>
          <p:nvPr/>
        </p:nvSpPr>
        <p:spPr>
          <a:xfrm>
            <a:off x="8412480" y="1773936"/>
            <a:ext cx="118872" cy="118872"/>
          </a:xfrm>
          <a:prstGeom prst="ellipse">
            <a:avLst/>
          </a:prstGeom>
          <a:solidFill>
            <a:srgbClr val="FF5F57"/>
          </a:solidFill>
          <a:ln w="12700">
            <a:solidFill>
              <a:srgbClr val="FF5F57"/>
            </a:solidFill>
            <a:prstDash val="solid"/>
          </a:ln>
        </p:spPr>
      </p:sp>
      <p:sp>
        <p:nvSpPr>
          <p:cNvPr id="12" name="Shape 8"/>
          <p:cNvSpPr/>
          <p:nvPr/>
        </p:nvSpPr>
        <p:spPr>
          <a:xfrm>
            <a:off x="8641080" y="1773936"/>
            <a:ext cx="118872" cy="118872"/>
          </a:xfrm>
          <a:prstGeom prst="ellipse">
            <a:avLst/>
          </a:prstGeom>
          <a:solidFill>
            <a:srgbClr val="FEBC2E"/>
          </a:solidFill>
          <a:ln w="12700">
            <a:solidFill>
              <a:srgbClr val="FEBC2E"/>
            </a:solidFill>
            <a:prstDash val="solid"/>
          </a:ln>
        </p:spPr>
      </p:sp>
      <p:sp>
        <p:nvSpPr>
          <p:cNvPr id="13" name="Shape 9"/>
          <p:cNvSpPr/>
          <p:nvPr/>
        </p:nvSpPr>
        <p:spPr>
          <a:xfrm>
            <a:off x="8869680" y="177393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9144000" y="1719072"/>
            <a:ext cx="23317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15_01_PredictChecker</a:t>
            </a:r>
            <a:endParaRPr lang="en-US" sz="1000" dirty="0"/>
          </a:p>
        </p:txBody>
      </p:sp>
      <p:sp>
        <p:nvSpPr>
          <p:cNvPr id="15" name="Text 11"/>
          <p:cNvSpPr txBox="1"/>
          <p:nvPr/>
        </p:nvSpPr>
        <p:spPr>
          <a:xfrm>
            <a:off x="8458200" y="2029968"/>
            <a:ext cx="2971800" cy="1874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1: 2 4 1 7 5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2: 2 1 4 5 7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3: 1 2 4 5 7 9</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Pass 4: 1 2 4 5 7 9</a:t>
            </a:r>
            <a:endParaRPr lang="en-US" sz="1300" dirty="0"/>
          </a:p>
        </p:txBody>
      </p:sp>
      <p:sp>
        <p:nvSpPr>
          <p:cNvPr id="16" name="Shape 12"/>
          <p:cNvSpPr/>
          <p:nvPr/>
        </p:nvSpPr>
        <p:spPr>
          <a:xfrm>
            <a:off x="8229600" y="4160520"/>
            <a:ext cx="3429000" cy="1097280"/>
          </a:xfrm>
          <a:prstGeom prst="roundRect">
            <a:avLst>
              <a:gd name="adj" fmla="val 10000"/>
            </a:avLst>
          </a:prstGeom>
          <a:solidFill>
            <a:srgbClr val="E6F4EC"/>
          </a:solidFill>
          <a:ln w="12700">
            <a:solidFill>
              <a:srgbClr val="E6F4EC"/>
            </a:solidFill>
            <a:prstDash val="solid"/>
          </a:ln>
        </p:spPr>
      </p:sp>
      <p:pic>
        <p:nvPicPr>
          <p:cNvPr id="17" name="Image 0" descr="preencoded.png">    </p:cNvPr>
          <p:cNvPicPr>
            <a:picLocks noChangeAspect="1"/>
          </p:cNvPicPr>
          <p:nvPr/>
        </p:nvPicPr>
        <p:blipFill>
          <a:blip r:embed="rId1"/>
          <a:stretch>
            <a:fillRect/>
          </a:stretch>
        </p:blipFill>
        <p:spPr>
          <a:xfrm>
            <a:off x="8503920" y="4434840"/>
            <a:ext cx="548640" cy="548640"/>
          </a:xfrm>
          <a:prstGeom prst="rect">
            <a:avLst/>
          </a:prstGeom>
        </p:spPr>
      </p:pic>
      <p:sp>
        <p:nvSpPr>
          <p:cNvPr id="18" name="Text 13"/>
          <p:cNvSpPr txBox="1"/>
          <p:nvPr/>
        </p:nvSpPr>
        <p:spPr>
          <a:xfrm>
            <a:off x="9326880" y="4233672"/>
            <a:ext cx="2057400" cy="9509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After pass k the k largest values are final.</a:t>
            </a:r>
            <a:endParaRPr lang="en-US" sz="1400" dirty="0"/>
          </a:p>
        </p:txBody>
      </p:sp>
      <p:sp>
        <p:nvSpPr>
          <p:cNvPr id="19" name="Shape 14"/>
          <p:cNvSpPr/>
          <p:nvPr/>
        </p:nvSpPr>
        <p:spPr>
          <a:xfrm>
            <a:off x="548640" y="5212080"/>
            <a:ext cx="7406640" cy="868680"/>
          </a:xfrm>
          <a:prstGeom prst="roundRect">
            <a:avLst>
              <a:gd name="adj" fmla="val 12632"/>
            </a:avLst>
          </a:prstGeom>
          <a:solidFill>
            <a:srgbClr val="FFF6E3"/>
          </a:solidFill>
          <a:ln w="12700">
            <a:solidFill>
              <a:srgbClr val="FFF6E3"/>
            </a:solidFill>
            <a:prstDash val="solid"/>
          </a:ln>
        </p:spPr>
      </p:sp>
      <p:pic>
        <p:nvPicPr>
          <p:cNvPr id="20" name="Image 1" descr="preencoded.png">    </p:cNvPr>
          <p:cNvPicPr>
            <a:picLocks noChangeAspect="1"/>
          </p:cNvPicPr>
          <p:nvPr/>
        </p:nvPicPr>
        <p:blipFill>
          <a:blip r:embed="rId2"/>
          <a:stretch>
            <a:fillRect/>
          </a:stretch>
        </p:blipFill>
        <p:spPr>
          <a:xfrm>
            <a:off x="822960" y="5372100"/>
            <a:ext cx="548640" cy="548640"/>
          </a:xfrm>
          <a:prstGeom prst="rect">
            <a:avLst/>
          </a:prstGeom>
        </p:spPr>
      </p:pic>
      <p:sp>
        <p:nvSpPr>
          <p:cNvPr id="21" name="Text 15"/>
          <p:cNvSpPr txBox="1"/>
          <p:nvPr/>
        </p:nvSpPr>
        <p:spPr>
          <a:xfrm>
            <a:off x="1645920" y="5285232"/>
            <a:ext cx="6035040" cy="72237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Pass 3 already sorts the array; pass 4 is needed to DETECT it (no swap).</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Q7 · BINARY SEARCH</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the Binary Search</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23</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TRACE · 5 min</a:t>
            </a:r>
            <a:endParaRPr lang="en-US" sz="1200" dirty="0"/>
          </a:p>
        </p:txBody>
      </p:sp>
      <p:sp>
        <p:nvSpPr>
          <p:cNvPr id="9" name="Text 6"/>
          <p:cNvSpPr txBox="1"/>
          <p:nvPr/>
        </p:nvSpPr>
        <p:spPr>
          <a:xfrm>
            <a:off x="594360" y="1645920"/>
            <a:ext cx="777240" cy="457200"/>
          </a:xfrm>
          <a:prstGeom prst="rect">
            <a:avLst/>
          </a:prstGeom>
          <a:noFill/>
          <a:ln/>
        </p:spPr>
        <p:txBody>
          <a:bodyPr wrap="square" lIns="0" tIns="0" rIns="0" bIns="0" rtlCol="0" anchor="ctr"/>
          <a:lstStyle/>
          <a:p>
            <a:pPr algn="r" indent="0" marL="0">
              <a:buNone/>
            </a:pPr>
            <a:r>
              <a:rPr lang="en-US" sz="1500" b="1" dirty="0">
                <a:solidFill>
                  <a:srgbClr val="14213D"/>
                </a:solidFill>
                <a:latin typeface="Courier New" pitchFamily="34" charset="0"/>
                <a:ea typeface="Courier New" pitchFamily="34" charset="-122"/>
                <a:cs typeface="Courier New" pitchFamily="34" charset="-120"/>
              </a:rPr>
              <a:t>a</a:t>
            </a:r>
            <a:endParaRPr lang="en-US" sz="1500" dirty="0"/>
          </a:p>
        </p:txBody>
      </p:sp>
      <p:sp>
        <p:nvSpPr>
          <p:cNvPr id="10" name="Shape 7"/>
          <p:cNvSpPr/>
          <p:nvPr/>
        </p:nvSpPr>
        <p:spPr>
          <a:xfrm>
            <a:off x="1463040" y="1645920"/>
            <a:ext cx="658368" cy="457200"/>
          </a:xfrm>
          <a:prstGeom prst="rect">
            <a:avLst/>
          </a:prstGeom>
          <a:solidFill>
            <a:srgbClr val="FFFFFF"/>
          </a:solidFill>
          <a:ln w="12700">
            <a:solidFill>
              <a:srgbClr val="14213D"/>
            </a:solidFill>
            <a:prstDash val="solid"/>
          </a:ln>
        </p:spPr>
      </p:sp>
      <p:sp>
        <p:nvSpPr>
          <p:cNvPr id="11" name="Text 8"/>
          <p:cNvSpPr txBox="1"/>
          <p:nvPr/>
        </p:nvSpPr>
        <p:spPr>
          <a:xfrm>
            <a:off x="146304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12" name="Text 9"/>
          <p:cNvSpPr txBox="1"/>
          <p:nvPr/>
        </p:nvSpPr>
        <p:spPr>
          <a:xfrm>
            <a:off x="146304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3" name="Shape 10"/>
          <p:cNvSpPr/>
          <p:nvPr/>
        </p:nvSpPr>
        <p:spPr>
          <a:xfrm>
            <a:off x="2121408" y="1645920"/>
            <a:ext cx="658368" cy="457200"/>
          </a:xfrm>
          <a:prstGeom prst="rect">
            <a:avLst/>
          </a:prstGeom>
          <a:solidFill>
            <a:srgbClr val="FFFFFF"/>
          </a:solidFill>
          <a:ln w="12700">
            <a:solidFill>
              <a:srgbClr val="14213D"/>
            </a:solidFill>
            <a:prstDash val="solid"/>
          </a:ln>
        </p:spPr>
      </p:sp>
      <p:sp>
        <p:nvSpPr>
          <p:cNvPr id="14" name="Text 11"/>
          <p:cNvSpPr txBox="1"/>
          <p:nvPr/>
        </p:nvSpPr>
        <p:spPr>
          <a:xfrm>
            <a:off x="2121408"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15" name="Text 12"/>
          <p:cNvSpPr txBox="1"/>
          <p:nvPr/>
        </p:nvSpPr>
        <p:spPr>
          <a:xfrm>
            <a:off x="2121408"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6" name="Shape 13"/>
          <p:cNvSpPr/>
          <p:nvPr/>
        </p:nvSpPr>
        <p:spPr>
          <a:xfrm>
            <a:off x="2779776" y="1645920"/>
            <a:ext cx="658368" cy="457200"/>
          </a:xfrm>
          <a:prstGeom prst="rect">
            <a:avLst/>
          </a:prstGeom>
          <a:solidFill>
            <a:srgbClr val="FFFFFF"/>
          </a:solidFill>
          <a:ln w="12700">
            <a:solidFill>
              <a:srgbClr val="14213D"/>
            </a:solidFill>
            <a:prstDash val="solid"/>
          </a:ln>
        </p:spPr>
      </p:sp>
      <p:sp>
        <p:nvSpPr>
          <p:cNvPr id="17" name="Text 14"/>
          <p:cNvSpPr txBox="1"/>
          <p:nvPr/>
        </p:nvSpPr>
        <p:spPr>
          <a:xfrm>
            <a:off x="2779776"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11</a:t>
            </a:r>
            <a:endParaRPr lang="en-US" sz="1500" dirty="0"/>
          </a:p>
        </p:txBody>
      </p:sp>
      <p:sp>
        <p:nvSpPr>
          <p:cNvPr id="18" name="Text 15"/>
          <p:cNvSpPr txBox="1"/>
          <p:nvPr/>
        </p:nvSpPr>
        <p:spPr>
          <a:xfrm>
            <a:off x="2779776"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19" name="Shape 16"/>
          <p:cNvSpPr/>
          <p:nvPr/>
        </p:nvSpPr>
        <p:spPr>
          <a:xfrm>
            <a:off x="3438144" y="1645920"/>
            <a:ext cx="658368" cy="457200"/>
          </a:xfrm>
          <a:prstGeom prst="rect">
            <a:avLst/>
          </a:prstGeom>
          <a:solidFill>
            <a:srgbClr val="FFFFFF"/>
          </a:solidFill>
          <a:ln w="12700">
            <a:solidFill>
              <a:srgbClr val="14213D"/>
            </a:solidFill>
            <a:prstDash val="solid"/>
          </a:ln>
        </p:spPr>
      </p:sp>
      <p:sp>
        <p:nvSpPr>
          <p:cNvPr id="20" name="Text 17"/>
          <p:cNvSpPr txBox="1"/>
          <p:nvPr/>
        </p:nvSpPr>
        <p:spPr>
          <a:xfrm>
            <a:off x="3438144"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15</a:t>
            </a:r>
            <a:endParaRPr lang="en-US" sz="1500" dirty="0"/>
          </a:p>
        </p:txBody>
      </p:sp>
      <p:sp>
        <p:nvSpPr>
          <p:cNvPr id="21" name="Text 18"/>
          <p:cNvSpPr txBox="1"/>
          <p:nvPr/>
        </p:nvSpPr>
        <p:spPr>
          <a:xfrm>
            <a:off x="3438144"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2" name="Shape 19"/>
          <p:cNvSpPr/>
          <p:nvPr/>
        </p:nvSpPr>
        <p:spPr>
          <a:xfrm>
            <a:off x="4096512" y="1645920"/>
            <a:ext cx="658368" cy="457200"/>
          </a:xfrm>
          <a:prstGeom prst="rect">
            <a:avLst/>
          </a:prstGeom>
          <a:solidFill>
            <a:srgbClr val="FFFFFF"/>
          </a:solidFill>
          <a:ln w="12700">
            <a:solidFill>
              <a:srgbClr val="14213D"/>
            </a:solidFill>
            <a:prstDash val="solid"/>
          </a:ln>
        </p:spPr>
      </p:sp>
      <p:sp>
        <p:nvSpPr>
          <p:cNvPr id="23" name="Text 20"/>
          <p:cNvSpPr txBox="1"/>
          <p:nvPr/>
        </p:nvSpPr>
        <p:spPr>
          <a:xfrm>
            <a:off x="4096512"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19</a:t>
            </a:r>
            <a:endParaRPr lang="en-US" sz="1500" dirty="0"/>
          </a:p>
        </p:txBody>
      </p:sp>
      <p:sp>
        <p:nvSpPr>
          <p:cNvPr id="24" name="Text 21"/>
          <p:cNvSpPr txBox="1"/>
          <p:nvPr/>
        </p:nvSpPr>
        <p:spPr>
          <a:xfrm>
            <a:off x="4096512"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5" name="Shape 22"/>
          <p:cNvSpPr/>
          <p:nvPr/>
        </p:nvSpPr>
        <p:spPr>
          <a:xfrm>
            <a:off x="4754880" y="1645920"/>
            <a:ext cx="658368" cy="457200"/>
          </a:xfrm>
          <a:prstGeom prst="rect">
            <a:avLst/>
          </a:prstGeom>
          <a:solidFill>
            <a:srgbClr val="FFFFFF"/>
          </a:solidFill>
          <a:ln w="12700">
            <a:solidFill>
              <a:srgbClr val="14213D"/>
            </a:solidFill>
            <a:prstDash val="solid"/>
          </a:ln>
        </p:spPr>
      </p:sp>
      <p:sp>
        <p:nvSpPr>
          <p:cNvPr id="26" name="Text 23"/>
          <p:cNvSpPr txBox="1"/>
          <p:nvPr/>
        </p:nvSpPr>
        <p:spPr>
          <a:xfrm>
            <a:off x="475488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24</a:t>
            </a:r>
            <a:endParaRPr lang="en-US" sz="1500" dirty="0"/>
          </a:p>
        </p:txBody>
      </p:sp>
      <p:sp>
        <p:nvSpPr>
          <p:cNvPr id="27" name="Text 24"/>
          <p:cNvSpPr txBox="1"/>
          <p:nvPr/>
        </p:nvSpPr>
        <p:spPr>
          <a:xfrm>
            <a:off x="475488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28" name="Shape 25"/>
          <p:cNvSpPr/>
          <p:nvPr/>
        </p:nvSpPr>
        <p:spPr>
          <a:xfrm>
            <a:off x="5413248" y="1645920"/>
            <a:ext cx="658368" cy="457200"/>
          </a:xfrm>
          <a:prstGeom prst="rect">
            <a:avLst/>
          </a:prstGeom>
          <a:solidFill>
            <a:srgbClr val="FFFFFF"/>
          </a:solidFill>
          <a:ln w="12700">
            <a:solidFill>
              <a:srgbClr val="14213D"/>
            </a:solidFill>
            <a:prstDash val="solid"/>
          </a:ln>
        </p:spPr>
      </p:sp>
      <p:sp>
        <p:nvSpPr>
          <p:cNvPr id="29" name="Text 26"/>
          <p:cNvSpPr txBox="1"/>
          <p:nvPr/>
        </p:nvSpPr>
        <p:spPr>
          <a:xfrm>
            <a:off x="5413248"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30</a:t>
            </a:r>
            <a:endParaRPr lang="en-US" sz="1500" dirty="0"/>
          </a:p>
        </p:txBody>
      </p:sp>
      <p:sp>
        <p:nvSpPr>
          <p:cNvPr id="30" name="Text 27"/>
          <p:cNvSpPr txBox="1"/>
          <p:nvPr/>
        </p:nvSpPr>
        <p:spPr>
          <a:xfrm>
            <a:off x="5413248"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31" name="Shape 28"/>
          <p:cNvSpPr/>
          <p:nvPr/>
        </p:nvSpPr>
        <p:spPr>
          <a:xfrm>
            <a:off x="6071616" y="1645920"/>
            <a:ext cx="658368" cy="457200"/>
          </a:xfrm>
          <a:prstGeom prst="rect">
            <a:avLst/>
          </a:prstGeom>
          <a:solidFill>
            <a:srgbClr val="FFFFFF"/>
          </a:solidFill>
          <a:ln w="12700">
            <a:solidFill>
              <a:srgbClr val="14213D"/>
            </a:solidFill>
            <a:prstDash val="solid"/>
          </a:ln>
        </p:spPr>
      </p:sp>
      <p:sp>
        <p:nvSpPr>
          <p:cNvPr id="32" name="Text 29"/>
          <p:cNvSpPr txBox="1"/>
          <p:nvPr/>
        </p:nvSpPr>
        <p:spPr>
          <a:xfrm>
            <a:off x="6071616"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36</a:t>
            </a:r>
            <a:endParaRPr lang="en-US" sz="1500" dirty="0"/>
          </a:p>
        </p:txBody>
      </p:sp>
      <p:sp>
        <p:nvSpPr>
          <p:cNvPr id="33" name="Text 30"/>
          <p:cNvSpPr txBox="1"/>
          <p:nvPr/>
        </p:nvSpPr>
        <p:spPr>
          <a:xfrm>
            <a:off x="6071616"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34" name="Shape 31"/>
          <p:cNvSpPr/>
          <p:nvPr/>
        </p:nvSpPr>
        <p:spPr>
          <a:xfrm>
            <a:off x="6729984" y="1645920"/>
            <a:ext cx="658368" cy="457200"/>
          </a:xfrm>
          <a:prstGeom prst="rect">
            <a:avLst/>
          </a:prstGeom>
          <a:solidFill>
            <a:srgbClr val="FFFFFF"/>
          </a:solidFill>
          <a:ln w="12700">
            <a:solidFill>
              <a:srgbClr val="14213D"/>
            </a:solidFill>
            <a:prstDash val="solid"/>
          </a:ln>
        </p:spPr>
      </p:sp>
      <p:sp>
        <p:nvSpPr>
          <p:cNvPr id="35" name="Text 32"/>
          <p:cNvSpPr txBox="1"/>
          <p:nvPr/>
        </p:nvSpPr>
        <p:spPr>
          <a:xfrm>
            <a:off x="6729984"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41</a:t>
            </a:r>
            <a:endParaRPr lang="en-US" sz="1500" dirty="0"/>
          </a:p>
        </p:txBody>
      </p:sp>
      <p:sp>
        <p:nvSpPr>
          <p:cNvPr id="36" name="Text 33"/>
          <p:cNvSpPr txBox="1"/>
          <p:nvPr/>
        </p:nvSpPr>
        <p:spPr>
          <a:xfrm>
            <a:off x="6729984"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37" name="Shape 34"/>
          <p:cNvSpPr/>
          <p:nvPr/>
        </p:nvSpPr>
        <p:spPr>
          <a:xfrm>
            <a:off x="7388352" y="1645920"/>
            <a:ext cx="658368" cy="457200"/>
          </a:xfrm>
          <a:prstGeom prst="rect">
            <a:avLst/>
          </a:prstGeom>
          <a:solidFill>
            <a:srgbClr val="FFFFFF"/>
          </a:solidFill>
          <a:ln w="12700">
            <a:solidFill>
              <a:srgbClr val="14213D"/>
            </a:solidFill>
            <a:prstDash val="solid"/>
          </a:ln>
        </p:spPr>
      </p:sp>
      <p:sp>
        <p:nvSpPr>
          <p:cNvPr id="38" name="Text 35"/>
          <p:cNvSpPr txBox="1"/>
          <p:nvPr/>
        </p:nvSpPr>
        <p:spPr>
          <a:xfrm>
            <a:off x="7388352"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47</a:t>
            </a:r>
            <a:endParaRPr lang="en-US" sz="1500" dirty="0"/>
          </a:p>
        </p:txBody>
      </p:sp>
      <p:sp>
        <p:nvSpPr>
          <p:cNvPr id="39" name="Text 36"/>
          <p:cNvSpPr txBox="1"/>
          <p:nvPr/>
        </p:nvSpPr>
        <p:spPr>
          <a:xfrm>
            <a:off x="7388352"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9</a:t>
            </a:r>
            <a:endParaRPr lang="en-US" sz="1200" dirty="0"/>
          </a:p>
        </p:txBody>
      </p:sp>
      <p:sp>
        <p:nvSpPr>
          <p:cNvPr id="40" name="Shape 37"/>
          <p:cNvSpPr/>
          <p:nvPr/>
        </p:nvSpPr>
        <p:spPr>
          <a:xfrm>
            <a:off x="8046720" y="1645920"/>
            <a:ext cx="658368" cy="457200"/>
          </a:xfrm>
          <a:prstGeom prst="rect">
            <a:avLst/>
          </a:prstGeom>
          <a:solidFill>
            <a:srgbClr val="FFFFFF"/>
          </a:solidFill>
          <a:ln w="12700">
            <a:solidFill>
              <a:srgbClr val="14213D"/>
            </a:solidFill>
            <a:prstDash val="solid"/>
          </a:ln>
        </p:spPr>
      </p:sp>
      <p:sp>
        <p:nvSpPr>
          <p:cNvPr id="41" name="Text 38"/>
          <p:cNvSpPr txBox="1"/>
          <p:nvPr/>
        </p:nvSpPr>
        <p:spPr>
          <a:xfrm>
            <a:off x="804672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52</a:t>
            </a:r>
            <a:endParaRPr lang="en-US" sz="1500" dirty="0"/>
          </a:p>
        </p:txBody>
      </p:sp>
      <p:sp>
        <p:nvSpPr>
          <p:cNvPr id="42" name="Text 39"/>
          <p:cNvSpPr txBox="1"/>
          <p:nvPr/>
        </p:nvSpPr>
        <p:spPr>
          <a:xfrm>
            <a:off x="804672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10</a:t>
            </a:r>
            <a:endParaRPr lang="en-US" sz="1200" dirty="0"/>
          </a:p>
        </p:txBody>
      </p:sp>
      <p:sp>
        <p:nvSpPr>
          <p:cNvPr id="43" name="Shape 40"/>
          <p:cNvSpPr/>
          <p:nvPr/>
        </p:nvSpPr>
        <p:spPr>
          <a:xfrm>
            <a:off x="548640" y="2468880"/>
            <a:ext cx="5577840" cy="3611880"/>
          </a:xfrm>
          <a:prstGeom prst="roundRect">
            <a:avLst>
              <a:gd name="adj" fmla="val 2532"/>
            </a:avLst>
          </a:prstGeom>
          <a:solidFill>
            <a:srgbClr val="0F1729"/>
          </a:solidFill>
          <a:ln w="12700">
            <a:solidFill>
              <a:srgbClr val="0F1729"/>
            </a:solidFill>
            <a:prstDash val="solid"/>
          </a:ln>
        </p:spPr>
      </p:sp>
      <p:sp>
        <p:nvSpPr>
          <p:cNvPr id="44" name="Text 41"/>
          <p:cNvSpPr txBox="1"/>
          <p:nvPr/>
        </p:nvSpPr>
        <p:spPr>
          <a:xfrm>
            <a:off x="777240" y="2633472"/>
            <a:ext cx="5120640" cy="333756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low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 = a.Length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(low &lt;= high &amp;&amp; index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 = (low + high)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(a[mid] ==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 = mid;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(a[mid] &lt; target)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low = mid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 = mid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0" y="2514600"/>
          <a:ext cx="5257800" cy="914400"/>
        </p:xfrm>
        <a:graphic>
          <a:graphicData uri="http://schemas.openxmlformats.org/drawingml/2006/table">
            <a:tbl>
              <a:tblPr/>
              <a:tblGrid>
                <a:gridCol w="914400"/>
                <a:gridCol w="777240"/>
                <a:gridCol w="868680"/>
                <a:gridCol w="868680"/>
                <a:gridCol w="868680"/>
                <a:gridCol w="960120"/>
              </a:tblGrid>
              <a:tr h="41148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1148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1148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11480">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46" name="Text 42"/>
          <p:cNvSpPr txBox="1"/>
          <p:nvPr/>
        </p:nvSpPr>
        <p:spPr>
          <a:xfrm>
            <a:off x="6400800" y="5486400"/>
            <a:ext cx="5257800" cy="457200"/>
          </a:xfrm>
          <a:prstGeom prst="rect">
            <a:avLst/>
          </a:prstGeom>
          <a:noFill/>
          <a:ln/>
        </p:spPr>
        <p:txBody>
          <a:bodyPr wrap="square" lIns="0" tIns="0" rIns="0" bIns="0" rtlCol="0" anchor="ctr"/>
          <a:lstStyle/>
          <a:p>
            <a:pPr indent="0" marL="0">
              <a:buNone/>
            </a:pPr>
            <a:r>
              <a:rPr lang="en-US" sz="1400" i="1" dirty="0">
                <a:solidFill>
                  <a:srgbClr val="5B6478"/>
                </a:solidFill>
                <a:latin typeface="Calibri" pitchFamily="34" charset="0"/>
                <a:ea typeface="Calibri" pitchFamily="34" charset="-122"/>
                <a:cs typeface="Calibri" pitchFamily="34" charset="-120"/>
              </a:rPr>
              <a:t>Result for each target? How many steps?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Q7</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Binary Search Trace: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24</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Text 6"/>
          <p:cNvSpPr txBox="1"/>
          <p:nvPr/>
        </p:nvSpPr>
        <p:spPr>
          <a:xfrm>
            <a:off x="594360" y="1645920"/>
            <a:ext cx="777240" cy="457200"/>
          </a:xfrm>
          <a:prstGeom prst="rect">
            <a:avLst/>
          </a:prstGeom>
          <a:noFill/>
          <a:ln/>
        </p:spPr>
        <p:txBody>
          <a:bodyPr wrap="square" lIns="0" tIns="0" rIns="0" bIns="0" rtlCol="0" anchor="ctr"/>
          <a:lstStyle/>
          <a:p>
            <a:pPr algn="r" indent="0" marL="0">
              <a:buNone/>
            </a:pPr>
            <a:r>
              <a:rPr lang="en-US" sz="1500" b="1" dirty="0">
                <a:solidFill>
                  <a:srgbClr val="14213D"/>
                </a:solidFill>
                <a:latin typeface="Courier New" pitchFamily="34" charset="0"/>
                <a:ea typeface="Courier New" pitchFamily="34" charset="-122"/>
                <a:cs typeface="Courier New" pitchFamily="34" charset="-120"/>
              </a:rPr>
              <a:t>a</a:t>
            </a:r>
            <a:endParaRPr lang="en-US" sz="1500" dirty="0"/>
          </a:p>
        </p:txBody>
      </p:sp>
      <p:sp>
        <p:nvSpPr>
          <p:cNvPr id="10" name="Shape 7"/>
          <p:cNvSpPr/>
          <p:nvPr/>
        </p:nvSpPr>
        <p:spPr>
          <a:xfrm>
            <a:off x="1463040" y="1645920"/>
            <a:ext cx="658368" cy="457200"/>
          </a:xfrm>
          <a:prstGeom prst="rect">
            <a:avLst/>
          </a:prstGeom>
          <a:solidFill>
            <a:srgbClr val="FFFFFF"/>
          </a:solidFill>
          <a:ln w="12700">
            <a:solidFill>
              <a:srgbClr val="14213D"/>
            </a:solidFill>
            <a:prstDash val="solid"/>
          </a:ln>
        </p:spPr>
      </p:sp>
      <p:sp>
        <p:nvSpPr>
          <p:cNvPr id="11" name="Text 8"/>
          <p:cNvSpPr txBox="1"/>
          <p:nvPr/>
        </p:nvSpPr>
        <p:spPr>
          <a:xfrm>
            <a:off x="146304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a:t>
            </a:r>
            <a:endParaRPr lang="en-US" sz="1500" dirty="0"/>
          </a:p>
        </p:txBody>
      </p:sp>
      <p:sp>
        <p:nvSpPr>
          <p:cNvPr id="12" name="Text 9"/>
          <p:cNvSpPr txBox="1"/>
          <p:nvPr/>
        </p:nvSpPr>
        <p:spPr>
          <a:xfrm>
            <a:off x="146304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0</a:t>
            </a:r>
            <a:endParaRPr lang="en-US" sz="1200" dirty="0"/>
          </a:p>
        </p:txBody>
      </p:sp>
      <p:sp>
        <p:nvSpPr>
          <p:cNvPr id="13" name="Shape 10"/>
          <p:cNvSpPr/>
          <p:nvPr/>
        </p:nvSpPr>
        <p:spPr>
          <a:xfrm>
            <a:off x="2121408" y="1645920"/>
            <a:ext cx="658368" cy="457200"/>
          </a:xfrm>
          <a:prstGeom prst="rect">
            <a:avLst/>
          </a:prstGeom>
          <a:solidFill>
            <a:srgbClr val="FFFFFF"/>
          </a:solidFill>
          <a:ln w="12700">
            <a:solidFill>
              <a:srgbClr val="14213D"/>
            </a:solidFill>
            <a:prstDash val="solid"/>
          </a:ln>
        </p:spPr>
      </p:sp>
      <p:sp>
        <p:nvSpPr>
          <p:cNvPr id="14" name="Text 11"/>
          <p:cNvSpPr txBox="1"/>
          <p:nvPr/>
        </p:nvSpPr>
        <p:spPr>
          <a:xfrm>
            <a:off x="2121408"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8</a:t>
            </a:r>
            <a:endParaRPr lang="en-US" sz="1500" dirty="0"/>
          </a:p>
        </p:txBody>
      </p:sp>
      <p:sp>
        <p:nvSpPr>
          <p:cNvPr id="15" name="Text 12"/>
          <p:cNvSpPr txBox="1"/>
          <p:nvPr/>
        </p:nvSpPr>
        <p:spPr>
          <a:xfrm>
            <a:off x="2121408"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a:t>
            </a:r>
            <a:endParaRPr lang="en-US" sz="1200" dirty="0"/>
          </a:p>
        </p:txBody>
      </p:sp>
      <p:sp>
        <p:nvSpPr>
          <p:cNvPr id="16" name="Shape 13"/>
          <p:cNvSpPr/>
          <p:nvPr/>
        </p:nvSpPr>
        <p:spPr>
          <a:xfrm>
            <a:off x="2779776" y="1645920"/>
            <a:ext cx="658368" cy="457200"/>
          </a:xfrm>
          <a:prstGeom prst="rect">
            <a:avLst/>
          </a:prstGeom>
          <a:solidFill>
            <a:srgbClr val="FFFFFF"/>
          </a:solidFill>
          <a:ln w="12700">
            <a:solidFill>
              <a:srgbClr val="14213D"/>
            </a:solidFill>
            <a:prstDash val="solid"/>
          </a:ln>
        </p:spPr>
      </p:sp>
      <p:sp>
        <p:nvSpPr>
          <p:cNvPr id="17" name="Text 14"/>
          <p:cNvSpPr txBox="1"/>
          <p:nvPr/>
        </p:nvSpPr>
        <p:spPr>
          <a:xfrm>
            <a:off x="2779776"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11</a:t>
            </a:r>
            <a:endParaRPr lang="en-US" sz="1500" dirty="0"/>
          </a:p>
        </p:txBody>
      </p:sp>
      <p:sp>
        <p:nvSpPr>
          <p:cNvPr id="18" name="Text 15"/>
          <p:cNvSpPr txBox="1"/>
          <p:nvPr/>
        </p:nvSpPr>
        <p:spPr>
          <a:xfrm>
            <a:off x="2779776"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2</a:t>
            </a:r>
            <a:endParaRPr lang="en-US" sz="1200" dirty="0"/>
          </a:p>
        </p:txBody>
      </p:sp>
      <p:sp>
        <p:nvSpPr>
          <p:cNvPr id="19" name="Shape 16"/>
          <p:cNvSpPr/>
          <p:nvPr/>
        </p:nvSpPr>
        <p:spPr>
          <a:xfrm>
            <a:off x="3438144" y="1645920"/>
            <a:ext cx="658368" cy="457200"/>
          </a:xfrm>
          <a:prstGeom prst="rect">
            <a:avLst/>
          </a:prstGeom>
          <a:solidFill>
            <a:srgbClr val="FFFFFF"/>
          </a:solidFill>
          <a:ln w="12700">
            <a:solidFill>
              <a:srgbClr val="14213D"/>
            </a:solidFill>
            <a:prstDash val="solid"/>
          </a:ln>
        </p:spPr>
      </p:sp>
      <p:sp>
        <p:nvSpPr>
          <p:cNvPr id="20" name="Text 17"/>
          <p:cNvSpPr txBox="1"/>
          <p:nvPr/>
        </p:nvSpPr>
        <p:spPr>
          <a:xfrm>
            <a:off x="3438144"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15</a:t>
            </a:r>
            <a:endParaRPr lang="en-US" sz="1500" dirty="0"/>
          </a:p>
        </p:txBody>
      </p:sp>
      <p:sp>
        <p:nvSpPr>
          <p:cNvPr id="21" name="Text 18"/>
          <p:cNvSpPr txBox="1"/>
          <p:nvPr/>
        </p:nvSpPr>
        <p:spPr>
          <a:xfrm>
            <a:off x="3438144"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3</a:t>
            </a:r>
            <a:endParaRPr lang="en-US" sz="1200" dirty="0"/>
          </a:p>
        </p:txBody>
      </p:sp>
      <p:sp>
        <p:nvSpPr>
          <p:cNvPr id="22" name="Shape 19"/>
          <p:cNvSpPr/>
          <p:nvPr/>
        </p:nvSpPr>
        <p:spPr>
          <a:xfrm>
            <a:off x="4096512" y="1645920"/>
            <a:ext cx="658368" cy="457200"/>
          </a:xfrm>
          <a:prstGeom prst="rect">
            <a:avLst/>
          </a:prstGeom>
          <a:solidFill>
            <a:srgbClr val="FFFFFF"/>
          </a:solidFill>
          <a:ln w="12700">
            <a:solidFill>
              <a:srgbClr val="14213D"/>
            </a:solidFill>
            <a:prstDash val="solid"/>
          </a:ln>
        </p:spPr>
      </p:sp>
      <p:sp>
        <p:nvSpPr>
          <p:cNvPr id="23" name="Text 20"/>
          <p:cNvSpPr txBox="1"/>
          <p:nvPr/>
        </p:nvSpPr>
        <p:spPr>
          <a:xfrm>
            <a:off x="4096512"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19</a:t>
            </a:r>
            <a:endParaRPr lang="en-US" sz="1500" dirty="0"/>
          </a:p>
        </p:txBody>
      </p:sp>
      <p:sp>
        <p:nvSpPr>
          <p:cNvPr id="24" name="Text 21"/>
          <p:cNvSpPr txBox="1"/>
          <p:nvPr/>
        </p:nvSpPr>
        <p:spPr>
          <a:xfrm>
            <a:off x="4096512"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4</a:t>
            </a:r>
            <a:endParaRPr lang="en-US" sz="1200" dirty="0"/>
          </a:p>
        </p:txBody>
      </p:sp>
      <p:sp>
        <p:nvSpPr>
          <p:cNvPr id="25" name="Shape 22"/>
          <p:cNvSpPr/>
          <p:nvPr/>
        </p:nvSpPr>
        <p:spPr>
          <a:xfrm>
            <a:off x="4754880" y="1645920"/>
            <a:ext cx="658368" cy="457200"/>
          </a:xfrm>
          <a:prstGeom prst="rect">
            <a:avLst/>
          </a:prstGeom>
          <a:solidFill>
            <a:srgbClr val="FFF1D6"/>
          </a:solidFill>
          <a:ln w="12700">
            <a:solidFill>
              <a:srgbClr val="14213D"/>
            </a:solidFill>
            <a:prstDash val="solid"/>
          </a:ln>
        </p:spPr>
      </p:sp>
      <p:sp>
        <p:nvSpPr>
          <p:cNvPr id="26" name="Text 23"/>
          <p:cNvSpPr txBox="1"/>
          <p:nvPr/>
        </p:nvSpPr>
        <p:spPr>
          <a:xfrm>
            <a:off x="475488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24</a:t>
            </a:r>
            <a:endParaRPr lang="en-US" sz="1500" dirty="0"/>
          </a:p>
        </p:txBody>
      </p:sp>
      <p:sp>
        <p:nvSpPr>
          <p:cNvPr id="27" name="Text 24"/>
          <p:cNvSpPr txBox="1"/>
          <p:nvPr/>
        </p:nvSpPr>
        <p:spPr>
          <a:xfrm>
            <a:off x="475488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5</a:t>
            </a:r>
            <a:endParaRPr lang="en-US" sz="1200" dirty="0"/>
          </a:p>
        </p:txBody>
      </p:sp>
      <p:sp>
        <p:nvSpPr>
          <p:cNvPr id="28" name="Shape 25"/>
          <p:cNvSpPr/>
          <p:nvPr/>
        </p:nvSpPr>
        <p:spPr>
          <a:xfrm>
            <a:off x="5413248" y="1645920"/>
            <a:ext cx="658368" cy="457200"/>
          </a:xfrm>
          <a:prstGeom prst="rect">
            <a:avLst/>
          </a:prstGeom>
          <a:solidFill>
            <a:srgbClr val="FFFFFF"/>
          </a:solidFill>
          <a:ln w="12700">
            <a:solidFill>
              <a:srgbClr val="14213D"/>
            </a:solidFill>
            <a:prstDash val="solid"/>
          </a:ln>
        </p:spPr>
      </p:sp>
      <p:sp>
        <p:nvSpPr>
          <p:cNvPr id="29" name="Text 26"/>
          <p:cNvSpPr txBox="1"/>
          <p:nvPr/>
        </p:nvSpPr>
        <p:spPr>
          <a:xfrm>
            <a:off x="5413248"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30</a:t>
            </a:r>
            <a:endParaRPr lang="en-US" sz="1500" dirty="0"/>
          </a:p>
        </p:txBody>
      </p:sp>
      <p:sp>
        <p:nvSpPr>
          <p:cNvPr id="30" name="Text 27"/>
          <p:cNvSpPr txBox="1"/>
          <p:nvPr/>
        </p:nvSpPr>
        <p:spPr>
          <a:xfrm>
            <a:off x="5413248"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6</a:t>
            </a:r>
            <a:endParaRPr lang="en-US" sz="1200" dirty="0"/>
          </a:p>
        </p:txBody>
      </p:sp>
      <p:sp>
        <p:nvSpPr>
          <p:cNvPr id="31" name="Shape 28"/>
          <p:cNvSpPr/>
          <p:nvPr/>
        </p:nvSpPr>
        <p:spPr>
          <a:xfrm>
            <a:off x="6071616" y="1645920"/>
            <a:ext cx="658368" cy="457200"/>
          </a:xfrm>
          <a:prstGeom prst="rect">
            <a:avLst/>
          </a:prstGeom>
          <a:solidFill>
            <a:srgbClr val="FFFFFF"/>
          </a:solidFill>
          <a:ln w="12700">
            <a:solidFill>
              <a:srgbClr val="14213D"/>
            </a:solidFill>
            <a:prstDash val="solid"/>
          </a:ln>
        </p:spPr>
      </p:sp>
      <p:sp>
        <p:nvSpPr>
          <p:cNvPr id="32" name="Text 29"/>
          <p:cNvSpPr txBox="1"/>
          <p:nvPr/>
        </p:nvSpPr>
        <p:spPr>
          <a:xfrm>
            <a:off x="6071616"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36</a:t>
            </a:r>
            <a:endParaRPr lang="en-US" sz="1500" dirty="0"/>
          </a:p>
        </p:txBody>
      </p:sp>
      <p:sp>
        <p:nvSpPr>
          <p:cNvPr id="33" name="Text 30"/>
          <p:cNvSpPr txBox="1"/>
          <p:nvPr/>
        </p:nvSpPr>
        <p:spPr>
          <a:xfrm>
            <a:off x="6071616"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7</a:t>
            </a:r>
            <a:endParaRPr lang="en-US" sz="1200" dirty="0"/>
          </a:p>
        </p:txBody>
      </p:sp>
      <p:sp>
        <p:nvSpPr>
          <p:cNvPr id="34" name="Shape 31"/>
          <p:cNvSpPr/>
          <p:nvPr/>
        </p:nvSpPr>
        <p:spPr>
          <a:xfrm>
            <a:off x="6729984" y="1645920"/>
            <a:ext cx="658368" cy="457200"/>
          </a:xfrm>
          <a:prstGeom prst="rect">
            <a:avLst/>
          </a:prstGeom>
          <a:solidFill>
            <a:srgbClr val="FFF1D6"/>
          </a:solidFill>
          <a:ln w="12700">
            <a:solidFill>
              <a:srgbClr val="14213D"/>
            </a:solidFill>
            <a:prstDash val="solid"/>
          </a:ln>
        </p:spPr>
      </p:sp>
      <p:sp>
        <p:nvSpPr>
          <p:cNvPr id="35" name="Text 32"/>
          <p:cNvSpPr txBox="1"/>
          <p:nvPr/>
        </p:nvSpPr>
        <p:spPr>
          <a:xfrm>
            <a:off x="6729984"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41</a:t>
            </a:r>
            <a:endParaRPr lang="en-US" sz="1500" dirty="0"/>
          </a:p>
        </p:txBody>
      </p:sp>
      <p:sp>
        <p:nvSpPr>
          <p:cNvPr id="36" name="Text 33"/>
          <p:cNvSpPr txBox="1"/>
          <p:nvPr/>
        </p:nvSpPr>
        <p:spPr>
          <a:xfrm>
            <a:off x="6729984"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8</a:t>
            </a:r>
            <a:endParaRPr lang="en-US" sz="1200" dirty="0"/>
          </a:p>
        </p:txBody>
      </p:sp>
      <p:sp>
        <p:nvSpPr>
          <p:cNvPr id="37" name="Shape 34"/>
          <p:cNvSpPr/>
          <p:nvPr/>
        </p:nvSpPr>
        <p:spPr>
          <a:xfrm>
            <a:off x="7388352" y="1645920"/>
            <a:ext cx="658368" cy="457200"/>
          </a:xfrm>
          <a:prstGeom prst="rect">
            <a:avLst/>
          </a:prstGeom>
          <a:solidFill>
            <a:srgbClr val="FFF1D6"/>
          </a:solidFill>
          <a:ln w="12700">
            <a:solidFill>
              <a:srgbClr val="14213D"/>
            </a:solidFill>
            <a:prstDash val="solid"/>
          </a:ln>
        </p:spPr>
      </p:sp>
      <p:sp>
        <p:nvSpPr>
          <p:cNvPr id="38" name="Text 35"/>
          <p:cNvSpPr txBox="1"/>
          <p:nvPr/>
        </p:nvSpPr>
        <p:spPr>
          <a:xfrm>
            <a:off x="7388352"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47</a:t>
            </a:r>
            <a:endParaRPr lang="en-US" sz="1500" dirty="0"/>
          </a:p>
        </p:txBody>
      </p:sp>
      <p:sp>
        <p:nvSpPr>
          <p:cNvPr id="39" name="Text 36"/>
          <p:cNvSpPr txBox="1"/>
          <p:nvPr/>
        </p:nvSpPr>
        <p:spPr>
          <a:xfrm>
            <a:off x="7388352"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9</a:t>
            </a:r>
            <a:endParaRPr lang="en-US" sz="1200" dirty="0"/>
          </a:p>
        </p:txBody>
      </p:sp>
      <p:sp>
        <p:nvSpPr>
          <p:cNvPr id="40" name="Shape 37"/>
          <p:cNvSpPr/>
          <p:nvPr/>
        </p:nvSpPr>
        <p:spPr>
          <a:xfrm>
            <a:off x="8046720" y="1645920"/>
            <a:ext cx="658368" cy="457200"/>
          </a:xfrm>
          <a:prstGeom prst="rect">
            <a:avLst/>
          </a:prstGeom>
          <a:solidFill>
            <a:srgbClr val="FFFFFF"/>
          </a:solidFill>
          <a:ln w="12700">
            <a:solidFill>
              <a:srgbClr val="14213D"/>
            </a:solidFill>
            <a:prstDash val="solid"/>
          </a:ln>
        </p:spPr>
      </p:sp>
      <p:sp>
        <p:nvSpPr>
          <p:cNvPr id="41" name="Text 38"/>
          <p:cNvSpPr txBox="1"/>
          <p:nvPr/>
        </p:nvSpPr>
        <p:spPr>
          <a:xfrm>
            <a:off x="8046720" y="1645920"/>
            <a:ext cx="658368" cy="457200"/>
          </a:xfrm>
          <a:prstGeom prst="rect">
            <a:avLst/>
          </a:prstGeom>
          <a:noFill/>
          <a:ln/>
        </p:spPr>
        <p:txBody>
          <a:bodyPr wrap="square" lIns="0" tIns="0" rIns="0" bIns="0" rtlCol="0" anchor="ctr"/>
          <a:lstStyle/>
          <a:p>
            <a:pPr algn="ctr" indent="0" marL="0">
              <a:buNone/>
            </a:pPr>
            <a:r>
              <a:rPr lang="en-US" sz="1500" b="1" dirty="0">
                <a:solidFill>
                  <a:srgbClr val="14213D"/>
                </a:solidFill>
                <a:latin typeface="Courier New" pitchFamily="34" charset="0"/>
                <a:ea typeface="Courier New" pitchFamily="34" charset="-122"/>
                <a:cs typeface="Courier New" pitchFamily="34" charset="-120"/>
              </a:rPr>
              <a:t>52</a:t>
            </a:r>
            <a:endParaRPr lang="en-US" sz="1500" dirty="0"/>
          </a:p>
        </p:txBody>
      </p:sp>
      <p:sp>
        <p:nvSpPr>
          <p:cNvPr id="42" name="Text 39"/>
          <p:cNvSpPr txBox="1"/>
          <p:nvPr/>
        </p:nvSpPr>
        <p:spPr>
          <a:xfrm>
            <a:off x="8046720" y="2121408"/>
            <a:ext cx="658368" cy="256032"/>
          </a:xfrm>
          <a:prstGeom prst="rect">
            <a:avLst/>
          </a:prstGeom>
          <a:noFill/>
          <a:ln/>
        </p:spPr>
        <p:txBody>
          <a:bodyPr wrap="square" lIns="0" tIns="0" rIns="0" bIns="0" rtlCol="0" anchor="ctr"/>
          <a:lstStyle/>
          <a:p>
            <a:pPr algn="ctr" indent="0" marL="0">
              <a:buNone/>
            </a:pPr>
            <a:r>
              <a:rPr lang="en-US" sz="1200" dirty="0">
                <a:solidFill>
                  <a:srgbClr val="5B6478"/>
                </a:solidFill>
                <a:latin typeface="Courier New" pitchFamily="34" charset="0"/>
                <a:ea typeface="Courier New" pitchFamily="34" charset="-122"/>
                <a:cs typeface="Courier New" pitchFamily="34" charset="-120"/>
              </a:rPr>
              <a:t>10</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7863840" cy="914400"/>
        </p:xfrm>
        <a:graphic>
          <a:graphicData uri="http://schemas.openxmlformats.org/drawingml/2006/table">
            <a:tbl>
              <a:tblPr/>
              <a:tblGrid>
                <a:gridCol w="868680"/>
                <a:gridCol w="685800"/>
                <a:gridCol w="685800"/>
                <a:gridCol w="731520"/>
                <a:gridCol w="685800"/>
                <a:gridCol w="914400"/>
                <a:gridCol w="3291840"/>
              </a:tblGrid>
              <a:tr h="42976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step</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a[mid]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24 &lt; 47 → low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41 &lt; 47 → low = 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7A50"/>
                          </a:solidFill>
                          <a:latin typeface="Calibri" pitchFamily="34" charset="0"/>
                          <a:ea typeface="Calibri" pitchFamily="34" charset="-122"/>
                          <a:cs typeface="Calibri" pitchFamily="34" charset="-120"/>
                        </a:rPr>
                        <a:t>found: index 9</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24 &gt; 12 → high = 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11 &lt; 12 → low = 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29768">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15 &gt; 12 → high = 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29768">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C8453B"/>
                          </a:solidFill>
                          <a:latin typeface="Calibri" pitchFamily="34" charset="0"/>
                          <a:ea typeface="Calibri" pitchFamily="34" charset="-122"/>
                          <a:cs typeface="Calibri" pitchFamily="34" charset="-120"/>
                        </a:rPr>
                        <a:t>low &gt; high: -1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44" name="Shape 40"/>
          <p:cNvSpPr/>
          <p:nvPr/>
        </p:nvSpPr>
        <p:spPr>
          <a:xfrm>
            <a:off x="8641080" y="2514600"/>
            <a:ext cx="3017520" cy="3566160"/>
          </a:xfrm>
          <a:prstGeom prst="roundRect">
            <a:avLst>
              <a:gd name="adj" fmla="val 3636"/>
            </a:avLst>
          </a:prstGeom>
          <a:solidFill>
            <a:srgbClr val="EEF1F6"/>
          </a:solidFill>
          <a:ln w="12700">
            <a:solidFill>
              <a:srgbClr val="EEF1F6"/>
            </a:solidFill>
            <a:prstDash val="solid"/>
          </a:ln>
        </p:spPr>
      </p:sp>
      <p:sp>
        <p:nvSpPr>
          <p:cNvPr id="45" name="Shape 41"/>
          <p:cNvSpPr/>
          <p:nvPr/>
        </p:nvSpPr>
        <p:spPr>
          <a:xfrm>
            <a:off x="8869680" y="2743200"/>
            <a:ext cx="566928" cy="566928"/>
          </a:xfrm>
          <a:prstGeom prst="ellipse">
            <a:avLst/>
          </a:prstGeom>
          <a:solidFill>
            <a:srgbClr val="2E9E6A"/>
          </a:solidFill>
          <a:ln w="12700">
            <a:solidFill>
              <a:srgbClr val="2E9E6A"/>
            </a:solidFill>
            <a:prstDash val="solid"/>
          </a:ln>
        </p:spPr>
      </p:sp>
      <p:pic>
        <p:nvPicPr>
          <p:cNvPr id="46" name="Image 0" descr="preencoded.png">    </p:cNvPr>
          <p:cNvPicPr>
            <a:picLocks noChangeAspect="1"/>
          </p:cNvPicPr>
          <p:nvPr/>
        </p:nvPicPr>
        <p:blipFill>
          <a:blip r:embed="rId1"/>
          <a:stretch>
            <a:fillRect/>
          </a:stretch>
        </p:blipFill>
        <p:spPr>
          <a:xfrm>
            <a:off x="9017081" y="2890601"/>
            <a:ext cx="272125" cy="272125"/>
          </a:xfrm>
          <a:prstGeom prst="rect">
            <a:avLst/>
          </a:prstGeom>
        </p:spPr>
      </p:pic>
      <p:sp>
        <p:nvSpPr>
          <p:cNvPr id="47" name="Text 42"/>
          <p:cNvSpPr txBox="1"/>
          <p:nvPr/>
        </p:nvSpPr>
        <p:spPr>
          <a:xfrm>
            <a:off x="9555480" y="2743200"/>
            <a:ext cx="19202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3 steps each</a:t>
            </a:r>
            <a:endParaRPr lang="en-US" sz="1700" dirty="0"/>
          </a:p>
        </p:txBody>
      </p:sp>
      <p:sp>
        <p:nvSpPr>
          <p:cNvPr id="48" name="Text 43"/>
          <p:cNvSpPr txBox="1"/>
          <p:nvPr/>
        </p:nvSpPr>
        <p:spPr>
          <a:xfrm>
            <a:off x="8869680" y="3429000"/>
            <a:ext cx="2560320" cy="2514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Linear search: 10 checks for 47, 11 for 12. Binary search halves the range at every step, but needs SORTED data.</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Q8 · MATRICES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Predict the Output: Nested Loops on a Matrix</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25</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4 min</a:t>
            </a:r>
            <a:endParaRPr lang="en-US" sz="1200" dirty="0"/>
          </a:p>
        </p:txBody>
      </p:sp>
      <p:sp>
        <p:nvSpPr>
          <p:cNvPr id="9" name="Shape 6"/>
          <p:cNvSpPr/>
          <p:nvPr/>
        </p:nvSpPr>
        <p:spPr>
          <a:xfrm>
            <a:off x="548640" y="1645920"/>
            <a:ext cx="54864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a:t>
            </a:r>
            <a:endParaRPr lang="en-US" sz="1100" dirty="0"/>
          </a:p>
        </p:txBody>
      </p:sp>
      <p:sp>
        <p:nvSpPr>
          <p:cNvPr id="11" name="Text 8"/>
          <p:cNvSpPr txBox="1"/>
          <p:nvPr/>
        </p:nvSpPr>
        <p:spPr>
          <a:xfrm>
            <a:off x="777240" y="2057400"/>
            <a:ext cx="5029200" cy="391363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 =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m.GetLength(</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&lt; n; 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 &lt; n;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 &gt; c)</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$"{m[r, c],3}"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6263640" y="1645920"/>
            <a:ext cx="5394960" cy="2057400"/>
          </a:xfrm>
          <a:prstGeom prst="roundRect">
            <a:avLst>
              <a:gd name="adj" fmla="val 4444"/>
            </a:avLst>
          </a:prstGeom>
          <a:solidFill>
            <a:srgbClr val="0F1729"/>
          </a:solidFill>
          <a:ln w="12700">
            <a:solidFill>
              <a:srgbClr val="0F1729"/>
            </a:solidFill>
            <a:prstDash val="solid"/>
          </a:ln>
        </p:spPr>
      </p:sp>
      <p:sp>
        <p:nvSpPr>
          <p:cNvPr id="13" name="Text 10"/>
          <p:cNvSpPr txBox="1"/>
          <p:nvPr/>
        </p:nvSpPr>
        <p:spPr>
          <a:xfrm>
            <a:off x="6492240" y="1755648"/>
            <a:ext cx="493776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 continues (a)</a:t>
            </a:r>
            <a:endParaRPr lang="en-US" sz="1100" dirty="0"/>
          </a:p>
        </p:txBody>
      </p:sp>
      <p:sp>
        <p:nvSpPr>
          <p:cNvPr id="14" name="Text 11"/>
          <p:cNvSpPr txBox="1"/>
          <p:nvPr/>
        </p:nvSpPr>
        <p:spPr>
          <a:xfrm>
            <a:off x="6492240" y="2057400"/>
            <a:ext cx="4937760" cy="15361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diag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anti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n;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diag += m[i,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anti += m[i,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$"{diag} {anti}"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2"/>
          <p:cNvSpPr/>
          <p:nvPr/>
        </p:nvSpPr>
        <p:spPr>
          <a:xfrm>
            <a:off x="6263640" y="3886200"/>
            <a:ext cx="5394960" cy="2194560"/>
          </a:xfrm>
          <a:prstGeom prst="roundRect">
            <a:avLst>
              <a:gd name="adj" fmla="val 5000"/>
            </a:avLst>
          </a:prstGeom>
          <a:solidFill>
            <a:srgbClr val="EEF1F6"/>
          </a:solidFill>
          <a:ln w="12700">
            <a:solidFill>
              <a:srgbClr val="EEF1F6"/>
            </a:solidFill>
            <a:prstDash val="solid"/>
          </a:ln>
        </p:spPr>
      </p:sp>
      <p:sp>
        <p:nvSpPr>
          <p:cNvPr id="16" name="Text 13"/>
          <p:cNvSpPr txBox="1"/>
          <p:nvPr/>
        </p:nvSpPr>
        <p:spPr>
          <a:xfrm>
            <a:off x="6492240" y="4023360"/>
            <a:ext cx="4937760" cy="1920240"/>
          </a:xfrm>
          <a:prstGeom prst="rect">
            <a:avLst/>
          </a:prstGeom>
          <a:noFill/>
          <a:ln/>
        </p:spPr>
        <p:txBody>
          <a:bodyPr wrap="square" lIns="0" tIns="0" rIns="0" bIns="0" rtlCol="0" anchor="t"/>
          <a:lstStyle/>
          <a:p>
            <a:pPr indent="0" marL="0">
              <a:spcAft>
                <a:spcPts val="800"/>
              </a:spcAft>
              <a:buNone/>
            </a:pPr>
            <a:r>
              <a:rPr lang="en-US" sz="1500" b="1" dirty="0">
                <a:solidFill>
                  <a:srgbClr val="333B4F"/>
                </a:solidFill>
                <a:latin typeface="Calibri" pitchFamily="34" charset="0"/>
                <a:ea typeface="Calibri" pitchFamily="34" charset="-122"/>
                <a:cs typeface="Calibri" pitchFamily="34" charset="-120"/>
              </a:rPr>
              <a:t>(a) </a:t>
            </a:r>
            <a:pPr indent="0" marL="0">
              <a:spcAft>
                <a:spcPts val="800"/>
              </a:spcAft>
              <a:buNone/>
            </a:pPr>
            <a:r>
              <a:rPr lang="en-US" sz="1500" dirty="0">
                <a:solidFill>
                  <a:srgbClr val="333B4F"/>
                </a:solidFill>
                <a:latin typeface="Calibri" pitchFamily="34" charset="0"/>
                <a:ea typeface="Calibri" pitchFamily="34" charset="-122"/>
                <a:cs typeface="Calibri" pitchFamily="34" charset="-120"/>
              </a:rPr>
              <a:t>Which cells print " ." and which print a value?</a:t>
            </a:r>
            <a:endParaRPr lang="en-US" sz="1500" dirty="0"/>
          </a:p>
          <a:p>
            <a:pPr indent="0" marL="0">
              <a:spcAft>
                <a:spcPts val="800"/>
              </a:spcAft>
              <a:buNone/>
            </a:pPr>
            <a:r>
              <a:rPr lang="en-US" sz="1500" b="1" dirty="0">
                <a:solidFill>
                  <a:srgbClr val="333B4F"/>
                </a:solidFill>
                <a:latin typeface="Calibri" pitchFamily="34" charset="0"/>
                <a:ea typeface="Calibri" pitchFamily="34" charset="-122"/>
                <a:cs typeface="Calibri" pitchFamily="34" charset="-120"/>
              </a:rPr>
              <a:t>(b) </a:t>
            </a:r>
            <a:pPr indent="0" marL="0">
              <a:spcAft>
                <a:spcPts val="800"/>
              </a:spcAft>
              <a:buNone/>
            </a:pPr>
            <a:r>
              <a:rPr lang="en-US" sz="1500" dirty="0">
                <a:solidFill>
                  <a:srgbClr val="333B4F"/>
                </a:solidFill>
                <a:latin typeface="Calibri" pitchFamily="34" charset="0"/>
                <a:ea typeface="Calibri" pitchFamily="34" charset="-122"/>
                <a:cs typeface="Calibri" pitchFamily="34" charset="-120"/>
              </a:rPr>
              <a:t>List the (r, c) pairs added to diag and to anti, then the output.</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Q8</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Nested Loops on a Matrix: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26</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3931920" cy="2286000"/>
          </a:xfrm>
          <a:prstGeom prst="roundRect">
            <a:avLst>
              <a:gd name="adj" fmla="val 4000"/>
            </a:avLst>
          </a:prstGeom>
          <a:solidFill>
            <a:srgbClr val="0B0F19"/>
          </a:solidFill>
          <a:ln w="12700">
            <a:solidFill>
              <a:srgbClr val="2A3654"/>
            </a:solidFill>
            <a:prstDash val="solid"/>
          </a:ln>
        </p:spPr>
      </p:sp>
      <p:sp>
        <p:nvSpPr>
          <p:cNvPr id="10" name="Shape 7"/>
          <p:cNvSpPr/>
          <p:nvPr/>
        </p:nvSpPr>
        <p:spPr>
          <a:xfrm>
            <a:off x="73152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96012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118872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1463040" y="1719072"/>
            <a:ext cx="283464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77240" y="2029968"/>
            <a:ext cx="3474720" cy="178308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2  7  1</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  3  8</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  .  .  9</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14 8</a:t>
            </a:r>
            <a:endParaRPr lang="en-US" sz="2000" dirty="0"/>
          </a:p>
        </p:txBody>
      </p:sp>
      <p:sp>
        <p:nvSpPr>
          <p:cNvPr id="15" name="Shape 12"/>
          <p:cNvSpPr/>
          <p:nvPr/>
        </p:nvSpPr>
        <p:spPr>
          <a:xfrm>
            <a:off x="5120640" y="1645920"/>
            <a:ext cx="731520" cy="731520"/>
          </a:xfrm>
          <a:prstGeom prst="rect">
            <a:avLst/>
          </a:prstGeom>
          <a:solidFill>
            <a:srgbClr val="FFF1D6"/>
          </a:solidFill>
          <a:ln w="12700">
            <a:solidFill>
              <a:srgbClr val="14213D"/>
            </a:solidFill>
            <a:prstDash val="solid"/>
          </a:ln>
        </p:spPr>
      </p:sp>
      <p:sp>
        <p:nvSpPr>
          <p:cNvPr id="16" name="Text 13"/>
          <p:cNvSpPr txBox="1"/>
          <p:nvPr/>
        </p:nvSpPr>
        <p:spPr>
          <a:xfrm>
            <a:off x="5120640" y="164592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2</a:t>
            </a:r>
            <a:endParaRPr lang="en-US" sz="1700" dirty="0"/>
          </a:p>
        </p:txBody>
      </p:sp>
      <p:sp>
        <p:nvSpPr>
          <p:cNvPr id="17" name="Shape 14"/>
          <p:cNvSpPr/>
          <p:nvPr/>
        </p:nvSpPr>
        <p:spPr>
          <a:xfrm>
            <a:off x="5852160" y="1645920"/>
            <a:ext cx="731520" cy="731520"/>
          </a:xfrm>
          <a:prstGeom prst="rect">
            <a:avLst/>
          </a:prstGeom>
          <a:solidFill>
            <a:srgbClr val="FFFFFF"/>
          </a:solidFill>
          <a:ln w="12700">
            <a:solidFill>
              <a:srgbClr val="14213D"/>
            </a:solidFill>
            <a:prstDash val="solid"/>
          </a:ln>
        </p:spPr>
      </p:sp>
      <p:sp>
        <p:nvSpPr>
          <p:cNvPr id="18" name="Text 15"/>
          <p:cNvSpPr txBox="1"/>
          <p:nvPr/>
        </p:nvSpPr>
        <p:spPr>
          <a:xfrm>
            <a:off x="5852160" y="164592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7</a:t>
            </a:r>
            <a:endParaRPr lang="en-US" sz="1700" dirty="0"/>
          </a:p>
        </p:txBody>
      </p:sp>
      <p:sp>
        <p:nvSpPr>
          <p:cNvPr id="19" name="Shape 16"/>
          <p:cNvSpPr/>
          <p:nvPr/>
        </p:nvSpPr>
        <p:spPr>
          <a:xfrm>
            <a:off x="6583680" y="1645920"/>
            <a:ext cx="731520" cy="731520"/>
          </a:xfrm>
          <a:prstGeom prst="rect">
            <a:avLst/>
          </a:prstGeom>
          <a:solidFill>
            <a:srgbClr val="FFFFFF"/>
          </a:solidFill>
          <a:ln w="12700">
            <a:solidFill>
              <a:srgbClr val="14213D"/>
            </a:solidFill>
            <a:prstDash val="solid"/>
          </a:ln>
        </p:spPr>
      </p:sp>
      <p:sp>
        <p:nvSpPr>
          <p:cNvPr id="20" name="Text 17"/>
          <p:cNvSpPr txBox="1"/>
          <p:nvPr/>
        </p:nvSpPr>
        <p:spPr>
          <a:xfrm>
            <a:off x="6583680" y="164592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1</a:t>
            </a:r>
            <a:endParaRPr lang="en-US" sz="1700" dirty="0"/>
          </a:p>
        </p:txBody>
      </p:sp>
      <p:sp>
        <p:nvSpPr>
          <p:cNvPr id="21" name="Shape 18"/>
          <p:cNvSpPr/>
          <p:nvPr/>
        </p:nvSpPr>
        <p:spPr>
          <a:xfrm>
            <a:off x="5120640" y="2377440"/>
            <a:ext cx="731520" cy="731520"/>
          </a:xfrm>
          <a:prstGeom prst="rect">
            <a:avLst/>
          </a:prstGeom>
          <a:solidFill>
            <a:srgbClr val="DDE2EA"/>
          </a:solidFill>
          <a:ln w="12700">
            <a:solidFill>
              <a:srgbClr val="14213D"/>
            </a:solidFill>
            <a:prstDash val="solid"/>
          </a:ln>
        </p:spPr>
      </p:sp>
      <p:sp>
        <p:nvSpPr>
          <p:cNvPr id="22" name="Text 19"/>
          <p:cNvSpPr txBox="1"/>
          <p:nvPr/>
        </p:nvSpPr>
        <p:spPr>
          <a:xfrm>
            <a:off x="5120640" y="2377440"/>
            <a:ext cx="731520" cy="731520"/>
          </a:xfrm>
          <a:prstGeom prst="rect">
            <a:avLst/>
          </a:prstGeom>
          <a:noFill/>
          <a:ln/>
        </p:spPr>
        <p:txBody>
          <a:bodyPr wrap="square" lIns="0" tIns="0" rIns="0" bIns="0" rtlCol="0" anchor="ctr"/>
          <a:lstStyle/>
          <a:p>
            <a:pPr algn="ctr" indent="0" marL="0">
              <a:buNone/>
            </a:pPr>
            <a:r>
              <a:rPr lang="en-US" sz="1700" b="1" dirty="0">
                <a:solidFill>
                  <a:srgbClr val="8A94AB"/>
                </a:solidFill>
                <a:latin typeface="Courier New" pitchFamily="34" charset="0"/>
                <a:ea typeface="Courier New" pitchFamily="34" charset="-122"/>
                <a:cs typeface="Courier New" pitchFamily="34" charset="-120"/>
              </a:rPr>
              <a:t>5</a:t>
            </a:r>
            <a:endParaRPr lang="en-US" sz="1700" dirty="0"/>
          </a:p>
        </p:txBody>
      </p:sp>
      <p:sp>
        <p:nvSpPr>
          <p:cNvPr id="23" name="Shape 20"/>
          <p:cNvSpPr/>
          <p:nvPr/>
        </p:nvSpPr>
        <p:spPr>
          <a:xfrm>
            <a:off x="5852160" y="2377440"/>
            <a:ext cx="731520" cy="731520"/>
          </a:xfrm>
          <a:prstGeom prst="rect">
            <a:avLst/>
          </a:prstGeom>
          <a:solidFill>
            <a:srgbClr val="FFF1D6"/>
          </a:solidFill>
          <a:ln w="12700">
            <a:solidFill>
              <a:srgbClr val="14213D"/>
            </a:solidFill>
            <a:prstDash val="solid"/>
          </a:ln>
        </p:spPr>
      </p:sp>
      <p:sp>
        <p:nvSpPr>
          <p:cNvPr id="24" name="Text 21"/>
          <p:cNvSpPr txBox="1"/>
          <p:nvPr/>
        </p:nvSpPr>
        <p:spPr>
          <a:xfrm>
            <a:off x="5852160" y="237744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3</a:t>
            </a:r>
            <a:endParaRPr lang="en-US" sz="1700" dirty="0"/>
          </a:p>
        </p:txBody>
      </p:sp>
      <p:sp>
        <p:nvSpPr>
          <p:cNvPr id="25" name="Shape 22"/>
          <p:cNvSpPr/>
          <p:nvPr/>
        </p:nvSpPr>
        <p:spPr>
          <a:xfrm>
            <a:off x="6583680" y="2377440"/>
            <a:ext cx="731520" cy="731520"/>
          </a:xfrm>
          <a:prstGeom prst="rect">
            <a:avLst/>
          </a:prstGeom>
          <a:solidFill>
            <a:srgbClr val="FFFFFF"/>
          </a:solidFill>
          <a:ln w="12700">
            <a:solidFill>
              <a:srgbClr val="14213D"/>
            </a:solidFill>
            <a:prstDash val="solid"/>
          </a:ln>
        </p:spPr>
      </p:sp>
      <p:sp>
        <p:nvSpPr>
          <p:cNvPr id="26" name="Text 23"/>
          <p:cNvSpPr txBox="1"/>
          <p:nvPr/>
        </p:nvSpPr>
        <p:spPr>
          <a:xfrm>
            <a:off x="6583680" y="237744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8</a:t>
            </a:r>
            <a:endParaRPr lang="en-US" sz="1700" dirty="0"/>
          </a:p>
        </p:txBody>
      </p:sp>
      <p:sp>
        <p:nvSpPr>
          <p:cNvPr id="27" name="Shape 24"/>
          <p:cNvSpPr/>
          <p:nvPr/>
        </p:nvSpPr>
        <p:spPr>
          <a:xfrm>
            <a:off x="5120640" y="3108960"/>
            <a:ext cx="731520" cy="731520"/>
          </a:xfrm>
          <a:prstGeom prst="rect">
            <a:avLst/>
          </a:prstGeom>
          <a:solidFill>
            <a:srgbClr val="DDE2EA"/>
          </a:solidFill>
          <a:ln w="12700">
            <a:solidFill>
              <a:srgbClr val="14213D"/>
            </a:solidFill>
            <a:prstDash val="solid"/>
          </a:ln>
        </p:spPr>
      </p:sp>
      <p:sp>
        <p:nvSpPr>
          <p:cNvPr id="28" name="Text 25"/>
          <p:cNvSpPr txBox="1"/>
          <p:nvPr/>
        </p:nvSpPr>
        <p:spPr>
          <a:xfrm>
            <a:off x="5120640" y="3108960"/>
            <a:ext cx="731520" cy="731520"/>
          </a:xfrm>
          <a:prstGeom prst="rect">
            <a:avLst/>
          </a:prstGeom>
          <a:noFill/>
          <a:ln/>
        </p:spPr>
        <p:txBody>
          <a:bodyPr wrap="square" lIns="0" tIns="0" rIns="0" bIns="0" rtlCol="0" anchor="ctr"/>
          <a:lstStyle/>
          <a:p>
            <a:pPr algn="ctr" indent="0" marL="0">
              <a:buNone/>
            </a:pPr>
            <a:r>
              <a:rPr lang="en-US" sz="1700" b="1" dirty="0">
                <a:solidFill>
                  <a:srgbClr val="8A94AB"/>
                </a:solidFill>
                <a:latin typeface="Courier New" pitchFamily="34" charset="0"/>
                <a:ea typeface="Courier New" pitchFamily="34" charset="-122"/>
                <a:cs typeface="Courier New" pitchFamily="34" charset="-120"/>
              </a:rPr>
              <a:t>4</a:t>
            </a:r>
            <a:endParaRPr lang="en-US" sz="1700" dirty="0"/>
          </a:p>
        </p:txBody>
      </p:sp>
      <p:sp>
        <p:nvSpPr>
          <p:cNvPr id="29" name="Shape 26"/>
          <p:cNvSpPr/>
          <p:nvPr/>
        </p:nvSpPr>
        <p:spPr>
          <a:xfrm>
            <a:off x="5852160" y="3108960"/>
            <a:ext cx="731520" cy="731520"/>
          </a:xfrm>
          <a:prstGeom prst="rect">
            <a:avLst/>
          </a:prstGeom>
          <a:solidFill>
            <a:srgbClr val="DDE2EA"/>
          </a:solidFill>
          <a:ln w="12700">
            <a:solidFill>
              <a:srgbClr val="14213D"/>
            </a:solidFill>
            <a:prstDash val="solid"/>
          </a:ln>
        </p:spPr>
      </p:sp>
      <p:sp>
        <p:nvSpPr>
          <p:cNvPr id="30" name="Text 27"/>
          <p:cNvSpPr txBox="1"/>
          <p:nvPr/>
        </p:nvSpPr>
        <p:spPr>
          <a:xfrm>
            <a:off x="5852160" y="3108960"/>
            <a:ext cx="731520" cy="731520"/>
          </a:xfrm>
          <a:prstGeom prst="rect">
            <a:avLst/>
          </a:prstGeom>
          <a:noFill/>
          <a:ln/>
        </p:spPr>
        <p:txBody>
          <a:bodyPr wrap="square" lIns="0" tIns="0" rIns="0" bIns="0" rtlCol="0" anchor="ctr"/>
          <a:lstStyle/>
          <a:p>
            <a:pPr algn="ctr" indent="0" marL="0">
              <a:buNone/>
            </a:pPr>
            <a:r>
              <a:rPr lang="en-US" sz="1700" b="1" dirty="0">
                <a:solidFill>
                  <a:srgbClr val="8A94AB"/>
                </a:solidFill>
                <a:latin typeface="Courier New" pitchFamily="34" charset="0"/>
                <a:ea typeface="Courier New" pitchFamily="34" charset="-122"/>
                <a:cs typeface="Courier New" pitchFamily="34" charset="-120"/>
              </a:rPr>
              <a:t>6</a:t>
            </a:r>
            <a:endParaRPr lang="en-US" sz="1700" dirty="0"/>
          </a:p>
        </p:txBody>
      </p:sp>
      <p:sp>
        <p:nvSpPr>
          <p:cNvPr id="31" name="Shape 28"/>
          <p:cNvSpPr/>
          <p:nvPr/>
        </p:nvSpPr>
        <p:spPr>
          <a:xfrm>
            <a:off x="6583680" y="3108960"/>
            <a:ext cx="731520" cy="731520"/>
          </a:xfrm>
          <a:prstGeom prst="rect">
            <a:avLst/>
          </a:prstGeom>
          <a:solidFill>
            <a:srgbClr val="FFF1D6"/>
          </a:solidFill>
          <a:ln w="12700">
            <a:solidFill>
              <a:srgbClr val="14213D"/>
            </a:solidFill>
            <a:prstDash val="solid"/>
          </a:ln>
        </p:spPr>
      </p:sp>
      <p:sp>
        <p:nvSpPr>
          <p:cNvPr id="32" name="Text 29"/>
          <p:cNvSpPr txBox="1"/>
          <p:nvPr/>
        </p:nvSpPr>
        <p:spPr>
          <a:xfrm>
            <a:off x="6583680" y="3108960"/>
            <a:ext cx="731520" cy="731520"/>
          </a:xfrm>
          <a:prstGeom prst="rect">
            <a:avLst/>
          </a:prstGeom>
          <a:noFill/>
          <a:ln/>
        </p:spPr>
        <p:txBody>
          <a:bodyPr wrap="square" lIns="0" tIns="0" rIns="0" bIns="0" rtlCol="0" anchor="ctr"/>
          <a:lstStyle/>
          <a:p>
            <a:pPr algn="ctr" indent="0" marL="0">
              <a:buNone/>
            </a:pPr>
            <a:r>
              <a:rPr lang="en-US" sz="1700" b="1" dirty="0">
                <a:solidFill>
                  <a:srgbClr val="14213D"/>
                </a:solidFill>
                <a:latin typeface="Courier New" pitchFamily="34" charset="0"/>
                <a:ea typeface="Courier New" pitchFamily="34" charset="-122"/>
                <a:cs typeface="Courier New" pitchFamily="34" charset="-120"/>
              </a:rPr>
              <a:t>9</a:t>
            </a:r>
            <a:endParaRPr lang="en-US" sz="1700" dirty="0"/>
          </a:p>
        </p:txBody>
      </p:sp>
      <p:sp>
        <p:nvSpPr>
          <p:cNvPr id="33" name="Text 30"/>
          <p:cNvSpPr txBox="1"/>
          <p:nvPr/>
        </p:nvSpPr>
        <p:spPr>
          <a:xfrm>
            <a:off x="5120640" y="3931920"/>
            <a:ext cx="3017520" cy="320040"/>
          </a:xfrm>
          <a:prstGeom prst="rect">
            <a:avLst/>
          </a:prstGeom>
          <a:noFill/>
          <a:ln/>
        </p:spPr>
        <p:txBody>
          <a:bodyPr wrap="square" lIns="0" tIns="0" rIns="0" bIns="0" rtlCol="0" anchor="ctr"/>
          <a:lstStyle/>
          <a:p>
            <a:pPr indent="0" marL="0">
              <a:buNone/>
            </a:pPr>
            <a:r>
              <a:rPr lang="en-US" sz="1200" i="1" dirty="0">
                <a:solidFill>
                  <a:srgbClr val="5B6478"/>
                </a:solidFill>
                <a:latin typeface="Calibri" pitchFamily="34" charset="0"/>
                <a:ea typeface="Calibri" pitchFamily="34" charset="-122"/>
                <a:cs typeface="Calibri" pitchFamily="34" charset="-120"/>
              </a:rPr>
              <a:t>grey: r &gt; c (printed as " .")</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8138160" y="1645920"/>
          <a:ext cx="3520440" cy="914400"/>
        </p:xfrm>
        <a:graphic>
          <a:graphicData uri="http://schemas.openxmlformats.org/drawingml/2006/table">
            <a:tbl>
              <a:tblPr/>
              <a:tblGrid>
                <a:gridCol w="777240"/>
                <a:gridCol w="1280160"/>
                <a:gridCol w="1463040"/>
              </a:tblGrid>
              <a:tr h="45720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m[i, 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m[i, n−1−i]</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2</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1</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3</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457200">
                <a:tc>
                  <a:txBody>
                    <a:bodyPr/>
                    <a:lstStyle/>
                    <a:p>
                      <a:pPr algn="ctr" indent="0" marL="0">
                        <a:buNone/>
                      </a:pPr>
                      <a:r>
                        <a:rPr lang="en-US" sz="1500" dirty="0">
                          <a:solidFill>
                            <a:srgbClr val="14213D"/>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9</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4213D"/>
                          </a:solidFill>
                          <a:latin typeface="Courier New" pitchFamily="34" charset="0"/>
                          <a:ea typeface="Courier New" pitchFamily="34" charset="-122"/>
                          <a:cs typeface="Courier New" pitchFamily="34" charset="-120"/>
                        </a:rPr>
                        <a:t>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457200">
                <a:tc>
                  <a:txBody>
                    <a:bodyPr/>
                    <a:lstStyle/>
                    <a:p>
                      <a:pPr algn="ctr" indent="0" marL="0">
                        <a:buNone/>
                      </a:pPr>
                      <a:r>
                        <a:rPr lang="en-US" sz="1500" b="1" dirty="0">
                          <a:solidFill>
                            <a:srgbClr val="14213D"/>
                          </a:solidFill>
                          <a:latin typeface="Calibri" pitchFamily="34" charset="0"/>
                          <a:ea typeface="Calibri" pitchFamily="34" charset="-122"/>
                          <a:cs typeface="Calibri" pitchFamily="34" charset="-120"/>
                        </a:rPr>
                        <a:t>sum</a:t>
                      </a:r>
                      <a:endParaRPr lang="en-US" sz="15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1F7A50"/>
                          </a:solidFill>
                          <a:latin typeface="Courier New" pitchFamily="34" charset="0"/>
                          <a:ea typeface="Courier New" pitchFamily="34" charset="-122"/>
                          <a:cs typeface="Courier New" pitchFamily="34" charset="-120"/>
                        </a:rPr>
                        <a:t>14</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ctr" indent="0" marL="0">
                        <a:buNone/>
                      </a:pPr>
                      <a:r>
                        <a:rPr lang="en-US" sz="1500" b="1" dirty="0">
                          <a:solidFill>
                            <a:srgbClr val="1F7A50"/>
                          </a:solidFill>
                          <a:latin typeface="Courier New" pitchFamily="34" charset="0"/>
                          <a:ea typeface="Courier New" pitchFamily="34" charset="-122"/>
                          <a:cs typeface="Courier New" pitchFamily="34" charset="-120"/>
                        </a:rPr>
                        <a:t>8</a:t>
                      </a:r>
                      <a:endParaRPr lang="en-US" sz="15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35" name="Shape 31"/>
          <p:cNvSpPr/>
          <p:nvPr/>
        </p:nvSpPr>
        <p:spPr>
          <a:xfrm>
            <a:off x="548640" y="4480560"/>
            <a:ext cx="11109960" cy="1554480"/>
          </a:xfrm>
          <a:prstGeom prst="roundRect">
            <a:avLst>
              <a:gd name="adj" fmla="val 7059"/>
            </a:avLst>
          </a:prstGeom>
          <a:solidFill>
            <a:srgbClr val="FFF6E3"/>
          </a:solidFill>
          <a:ln w="12700">
            <a:solidFill>
              <a:srgbClr val="FFF6E3"/>
            </a:solidFill>
            <a:prstDash val="solid"/>
          </a:ln>
        </p:spPr>
      </p:sp>
      <p:pic>
        <p:nvPicPr>
          <p:cNvPr id="36" name="Image 0" descr="preencoded.png">    </p:cNvPr>
          <p:cNvPicPr>
            <a:picLocks noChangeAspect="1"/>
          </p:cNvPicPr>
          <p:nvPr/>
        </p:nvPicPr>
        <p:blipFill>
          <a:blip r:embed="rId1"/>
          <a:stretch>
            <a:fillRect/>
          </a:stretch>
        </p:blipFill>
        <p:spPr>
          <a:xfrm>
            <a:off x="822960" y="4983480"/>
            <a:ext cx="548640" cy="548640"/>
          </a:xfrm>
          <a:prstGeom prst="rect">
            <a:avLst/>
          </a:prstGeom>
        </p:spPr>
      </p:pic>
      <p:sp>
        <p:nvSpPr>
          <p:cNvPr id="37" name="Text 32"/>
          <p:cNvSpPr txBox="1"/>
          <p:nvPr/>
        </p:nvSpPr>
        <p:spPr>
          <a:xfrm>
            <a:off x="1645920" y="4553712"/>
            <a:ext cx="9738360" cy="140817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Index rules for an n × n matrix: </a:t>
            </a:r>
            <a:pPr indent="0" marL="0">
              <a:buNone/>
            </a:pPr>
            <a:r>
              <a:rPr lang="en-US" sz="1500" dirty="0">
                <a:solidFill>
                  <a:srgbClr val="333B4F"/>
                </a:solidFill>
                <a:latin typeface="Calibri" pitchFamily="34" charset="0"/>
                <a:ea typeface="Calibri" pitchFamily="34" charset="-122"/>
                <a:cs typeface="Calibri" pitchFamily="34" charset="-120"/>
              </a:rPr>
              <a:t>main diagonal r == c · above it r &lt; c · below it r &gt; c · anti-diagonal r + c == n − 1. The center (1,1) belongs to both diagonals.</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Q9 · PARAMETERS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Method Calls: Value, ref and Array Parameters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27</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PREDICT · 5 min</a:t>
            </a:r>
            <a:endParaRPr lang="en-US" sz="1200" dirty="0"/>
          </a:p>
        </p:txBody>
      </p:sp>
      <p:sp>
        <p:nvSpPr>
          <p:cNvPr id="9" name="Shape 6"/>
          <p:cNvSpPr/>
          <p:nvPr/>
        </p:nvSpPr>
        <p:spPr>
          <a:xfrm>
            <a:off x="548640" y="1645920"/>
            <a:ext cx="6035040" cy="2240280"/>
          </a:xfrm>
          <a:prstGeom prst="roundRect">
            <a:avLst>
              <a:gd name="adj" fmla="val 4082"/>
            </a:avLst>
          </a:prstGeom>
          <a:solidFill>
            <a:srgbClr val="0F1729"/>
          </a:solidFill>
          <a:ln w="12700">
            <a:solidFill>
              <a:srgbClr val="0F1729"/>
            </a:solidFill>
            <a:prstDash val="solid"/>
          </a:ln>
        </p:spPr>
      </p:sp>
      <p:sp>
        <p:nvSpPr>
          <p:cNvPr id="10" name="Text 7"/>
          <p:cNvSpPr txBox="1"/>
          <p:nvPr/>
        </p:nvSpPr>
        <p:spPr>
          <a:xfrm>
            <a:off x="777240" y="1755648"/>
            <a:ext cx="557784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Top-level statements</a:t>
            </a:r>
            <a:endParaRPr lang="en-US" sz="1100" dirty="0"/>
          </a:p>
        </p:txBody>
      </p:sp>
      <p:sp>
        <p:nvSpPr>
          <p:cNvPr id="11" name="Text 8"/>
          <p:cNvSpPr txBox="1"/>
          <p:nvPr/>
        </p:nvSpPr>
        <p:spPr>
          <a:xfrm>
            <a:off x="777240" y="2057400"/>
            <a:ext cx="5577840" cy="171907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arr =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Bump(x);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BumpRef(</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BumpArray(arr);</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Replace(arr);</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$"{x} {y} {arr[0]} {arr[1]}"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z = Twice(x) + Twice(Twice(</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.WriteLine(z);</a:t>
            </a:r>
            <a:endParaRPr lang="en-US" sz="1200" dirty="0"/>
          </a:p>
        </p:txBody>
      </p:sp>
      <p:sp>
        <p:nvSpPr>
          <p:cNvPr id="12" name="Shape 9"/>
          <p:cNvSpPr/>
          <p:nvPr/>
        </p:nvSpPr>
        <p:spPr>
          <a:xfrm>
            <a:off x="548640" y="4023360"/>
            <a:ext cx="6035040" cy="2057400"/>
          </a:xfrm>
          <a:prstGeom prst="roundRect">
            <a:avLst>
              <a:gd name="adj" fmla="val 4444"/>
            </a:avLst>
          </a:prstGeom>
          <a:solidFill>
            <a:srgbClr val="0F1729"/>
          </a:solidFill>
          <a:ln w="12700">
            <a:solidFill>
              <a:srgbClr val="0F1729"/>
            </a:solidFill>
            <a:prstDash val="solid"/>
          </a:ln>
        </p:spPr>
      </p:sp>
      <p:sp>
        <p:nvSpPr>
          <p:cNvPr id="13" name="Text 10"/>
          <p:cNvSpPr txBox="1"/>
          <p:nvPr/>
        </p:nvSpPr>
        <p:spPr>
          <a:xfrm>
            <a:off x="777240" y="4187952"/>
            <a:ext cx="5577840" cy="178308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Replace(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Twice(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4" name="Shape 11"/>
          <p:cNvSpPr/>
          <p:nvPr/>
        </p:nvSpPr>
        <p:spPr>
          <a:xfrm>
            <a:off x="6812280" y="1645920"/>
            <a:ext cx="4846320" cy="3154680"/>
          </a:xfrm>
          <a:prstGeom prst="roundRect">
            <a:avLst>
              <a:gd name="adj" fmla="val 2899"/>
            </a:avLst>
          </a:prstGeom>
          <a:solidFill>
            <a:srgbClr val="0F1729"/>
          </a:solidFill>
          <a:ln w="12700">
            <a:solidFill>
              <a:srgbClr val="0F1729"/>
            </a:solidFill>
            <a:prstDash val="solid"/>
          </a:ln>
        </p:spPr>
      </p:sp>
      <p:sp>
        <p:nvSpPr>
          <p:cNvPr id="15" name="Text 12"/>
          <p:cNvSpPr txBox="1"/>
          <p:nvPr/>
        </p:nvSpPr>
        <p:spPr>
          <a:xfrm>
            <a:off x="7040880" y="1810512"/>
            <a:ext cx="4389120" cy="288036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Bump(</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BumpRef(</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v++;</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BumpArray(</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6" name="Shape 13"/>
          <p:cNvSpPr/>
          <p:nvPr/>
        </p:nvSpPr>
        <p:spPr>
          <a:xfrm>
            <a:off x="6812280" y="4937760"/>
            <a:ext cx="4846320" cy="1143000"/>
          </a:xfrm>
          <a:prstGeom prst="roundRect">
            <a:avLst>
              <a:gd name="adj" fmla="val 9600"/>
            </a:avLst>
          </a:prstGeom>
          <a:solidFill>
            <a:srgbClr val="E3ECF8"/>
          </a:solidFill>
          <a:ln w="12700">
            <a:solidFill>
              <a:srgbClr val="E3ECF8"/>
            </a:solidFill>
            <a:prstDash val="solid"/>
          </a:ln>
        </p:spPr>
      </p:sp>
      <p:pic>
        <p:nvPicPr>
          <p:cNvPr id="17" name="Image 0" descr="preencoded.png">    </p:cNvPr>
          <p:cNvPicPr>
            <a:picLocks noChangeAspect="1"/>
          </p:cNvPicPr>
          <p:nvPr/>
        </p:nvPicPr>
        <p:blipFill>
          <a:blip r:embed="rId1"/>
          <a:stretch>
            <a:fillRect/>
          </a:stretch>
        </p:blipFill>
        <p:spPr>
          <a:xfrm>
            <a:off x="7086600" y="5234940"/>
            <a:ext cx="548640" cy="548640"/>
          </a:xfrm>
          <a:prstGeom prst="rect">
            <a:avLst/>
          </a:prstGeom>
        </p:spPr>
      </p:pic>
      <p:sp>
        <p:nvSpPr>
          <p:cNvPr id="18" name="Text 14"/>
          <p:cNvSpPr txBox="1"/>
          <p:nvPr/>
        </p:nvSpPr>
        <p:spPr>
          <a:xfrm>
            <a:off x="7909560" y="5010912"/>
            <a:ext cx="3474720" cy="99669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Write the two output lines. Which calls change something the caller can see?</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Q9</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Value, ref and Array Parameters: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28</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3566160" cy="1371600"/>
          </a:xfrm>
          <a:prstGeom prst="roundRect">
            <a:avLst>
              <a:gd name="adj" fmla="val 6667"/>
            </a:avLst>
          </a:prstGeom>
          <a:solidFill>
            <a:srgbClr val="0B0F19"/>
          </a:solidFill>
          <a:ln w="12700">
            <a:solidFill>
              <a:srgbClr val="2A3654"/>
            </a:solidFill>
            <a:prstDash val="solid"/>
          </a:ln>
        </p:spPr>
      </p:sp>
      <p:sp>
        <p:nvSpPr>
          <p:cNvPr id="10" name="Shape 7"/>
          <p:cNvSpPr/>
          <p:nvPr/>
        </p:nvSpPr>
        <p:spPr>
          <a:xfrm>
            <a:off x="731520" y="1773936"/>
            <a:ext cx="118872" cy="118872"/>
          </a:xfrm>
          <a:prstGeom prst="ellipse">
            <a:avLst/>
          </a:prstGeom>
          <a:solidFill>
            <a:srgbClr val="FF5F57"/>
          </a:solidFill>
          <a:ln w="12700">
            <a:solidFill>
              <a:srgbClr val="FF5F57"/>
            </a:solidFill>
            <a:prstDash val="solid"/>
          </a:ln>
        </p:spPr>
      </p:sp>
      <p:sp>
        <p:nvSpPr>
          <p:cNvPr id="11" name="Shape 8"/>
          <p:cNvSpPr/>
          <p:nvPr/>
        </p:nvSpPr>
        <p:spPr>
          <a:xfrm>
            <a:off x="960120" y="1773936"/>
            <a:ext cx="118872" cy="118872"/>
          </a:xfrm>
          <a:prstGeom prst="ellipse">
            <a:avLst/>
          </a:prstGeom>
          <a:solidFill>
            <a:srgbClr val="FEBC2E"/>
          </a:solidFill>
          <a:ln w="12700">
            <a:solidFill>
              <a:srgbClr val="FEBC2E"/>
            </a:solidFill>
            <a:prstDash val="solid"/>
          </a:ln>
        </p:spPr>
      </p:sp>
      <p:sp>
        <p:nvSpPr>
          <p:cNvPr id="12" name="Shape 9"/>
          <p:cNvSpPr/>
          <p:nvPr/>
        </p:nvSpPr>
        <p:spPr>
          <a:xfrm>
            <a:off x="1188720" y="1773936"/>
            <a:ext cx="118872" cy="118872"/>
          </a:xfrm>
          <a:prstGeom prst="ellipse">
            <a:avLst/>
          </a:prstGeom>
          <a:solidFill>
            <a:srgbClr val="28C840"/>
          </a:solidFill>
          <a:ln w="12700">
            <a:solidFill>
              <a:srgbClr val="28C840"/>
            </a:solidFill>
            <a:prstDash val="solid"/>
          </a:ln>
        </p:spPr>
      </p:sp>
      <p:sp>
        <p:nvSpPr>
          <p:cNvPr id="13" name="Text 10"/>
          <p:cNvSpPr txBox="1"/>
          <p:nvPr/>
        </p:nvSpPr>
        <p:spPr>
          <a:xfrm>
            <a:off x="1463040" y="1719072"/>
            <a:ext cx="24688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Console</a:t>
            </a:r>
            <a:endParaRPr lang="en-US" sz="1000" dirty="0"/>
          </a:p>
        </p:txBody>
      </p:sp>
      <p:sp>
        <p:nvSpPr>
          <p:cNvPr id="14" name="Text 11"/>
          <p:cNvSpPr txBox="1"/>
          <p:nvPr/>
        </p:nvSpPr>
        <p:spPr>
          <a:xfrm>
            <a:off x="777240" y="2029968"/>
            <a:ext cx="3108960" cy="86868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5 6 6 5</a:t>
            </a:r>
            <a:endParaRPr lang="en-US" sz="2000" dirty="0"/>
          </a:p>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14</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389120" y="1645920"/>
          <a:ext cx="7269480" cy="914400"/>
        </p:xfrm>
        <a:graphic>
          <a:graphicData uri="http://schemas.openxmlformats.org/drawingml/2006/table">
            <a:tbl>
              <a:tblPr/>
              <a:tblGrid>
                <a:gridCol w="2103120"/>
                <a:gridCol w="2286000"/>
                <a:gridCol w="2880360"/>
              </a:tblGrid>
              <a:tr h="50292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 receives</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Effect for the caller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0292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Bump(x)</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copy of 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none: x = 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BumpRef(ref y)</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 itself</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y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BumpArray(arr)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copy of the reference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arr[0] = 6</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Replace(arr)</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copy of the reference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none: a points to a new array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02920">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Twice(Twice(1))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inner call first: 2</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4; z = 10 + 4 = 14</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6" name="Shape 12"/>
          <p:cNvSpPr/>
          <p:nvPr/>
        </p:nvSpPr>
        <p:spPr>
          <a:xfrm>
            <a:off x="548640" y="3200400"/>
            <a:ext cx="3566160" cy="2880360"/>
          </a:xfrm>
          <a:prstGeom prst="roundRect">
            <a:avLst>
              <a:gd name="adj" fmla="val 3810"/>
            </a:avLst>
          </a:prstGeom>
          <a:solidFill>
            <a:srgbClr val="E3ECF8"/>
          </a:solidFill>
          <a:ln w="12700">
            <a:solidFill>
              <a:srgbClr val="E3ECF8"/>
            </a:solidFill>
            <a:prstDash val="solid"/>
          </a:ln>
        </p:spPr>
      </p:sp>
      <p:sp>
        <p:nvSpPr>
          <p:cNvPr id="17" name="Shape 13"/>
          <p:cNvSpPr/>
          <p:nvPr/>
        </p:nvSpPr>
        <p:spPr>
          <a:xfrm>
            <a:off x="777240" y="3429000"/>
            <a:ext cx="566928" cy="566928"/>
          </a:xfrm>
          <a:prstGeom prst="ellipse">
            <a:avLst/>
          </a:prstGeom>
          <a:solidFill>
            <a:srgbClr val="2F6FB3"/>
          </a:solidFill>
          <a:ln w="12700">
            <a:solidFill>
              <a:srgbClr val="2F6FB3"/>
            </a:solidFill>
            <a:prstDash val="solid"/>
          </a:ln>
        </p:spPr>
      </p:sp>
      <p:pic>
        <p:nvPicPr>
          <p:cNvPr id="18" name="Image 0" descr="preencoded.png">    </p:cNvPr>
          <p:cNvPicPr>
            <a:picLocks noChangeAspect="1"/>
          </p:cNvPicPr>
          <p:nvPr/>
        </p:nvPicPr>
        <p:blipFill>
          <a:blip r:embed="rId1"/>
          <a:stretch>
            <a:fillRect/>
          </a:stretch>
        </p:blipFill>
        <p:spPr>
          <a:xfrm>
            <a:off x="924641" y="3576401"/>
            <a:ext cx="272125" cy="272125"/>
          </a:xfrm>
          <a:prstGeom prst="rect">
            <a:avLst/>
          </a:prstGeom>
        </p:spPr>
      </p:pic>
      <p:sp>
        <p:nvSpPr>
          <p:cNvPr id="19" name="Text 14"/>
          <p:cNvSpPr txBox="1"/>
          <p:nvPr/>
        </p:nvSpPr>
        <p:spPr>
          <a:xfrm>
            <a:off x="1463040" y="3429000"/>
            <a:ext cx="246888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Rule</a:t>
            </a:r>
            <a:endParaRPr lang="en-US" sz="1700" dirty="0"/>
          </a:p>
        </p:txBody>
      </p:sp>
      <p:sp>
        <p:nvSpPr>
          <p:cNvPr id="20" name="Text 15"/>
          <p:cNvSpPr txBox="1"/>
          <p:nvPr/>
        </p:nvSpPr>
        <p:spPr>
          <a:xfrm>
            <a:off x="777240" y="4114800"/>
            <a:ext cx="3108960" cy="18288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The argument is always COPIED. For an array the copy is a reference: same elements, but a new array inside the method is invisible outside.</a:t>
            </a:r>
            <a:endParaRPr lang="en-US" sz="1400" dirty="0"/>
          </a:p>
        </p:txBody>
      </p:sp>
      <p:sp>
        <p:nvSpPr>
          <p:cNvPr id="21" name="Shape 16"/>
          <p:cNvSpPr/>
          <p:nvPr/>
        </p:nvSpPr>
        <p:spPr>
          <a:xfrm>
            <a:off x="4389120" y="4892040"/>
            <a:ext cx="7269480" cy="1188720"/>
          </a:xfrm>
          <a:prstGeom prst="roundRect">
            <a:avLst>
              <a:gd name="adj" fmla="val 9231"/>
            </a:avLst>
          </a:prstGeom>
          <a:solidFill>
            <a:srgbClr val="FFF6E3"/>
          </a:solidFill>
          <a:ln w="12700">
            <a:solidFill>
              <a:srgbClr val="FFF6E3"/>
            </a:solidFill>
            <a:prstDash val="solid"/>
          </a:ln>
        </p:spPr>
      </p:sp>
      <p:pic>
        <p:nvPicPr>
          <p:cNvPr id="22" name="Image 1" descr="preencoded.png">    </p:cNvPr>
          <p:cNvPicPr>
            <a:picLocks noChangeAspect="1"/>
          </p:cNvPicPr>
          <p:nvPr/>
        </p:nvPicPr>
        <p:blipFill>
          <a:blip r:embed="rId2"/>
          <a:stretch>
            <a:fillRect/>
          </a:stretch>
        </p:blipFill>
        <p:spPr>
          <a:xfrm>
            <a:off x="4663440" y="5212080"/>
            <a:ext cx="548640" cy="548640"/>
          </a:xfrm>
          <a:prstGeom prst="rect">
            <a:avLst/>
          </a:prstGeom>
        </p:spPr>
      </p:pic>
      <p:sp>
        <p:nvSpPr>
          <p:cNvPr id="23" name="Text 17"/>
          <p:cNvSpPr txBox="1"/>
          <p:nvPr/>
        </p:nvSpPr>
        <p:spPr>
          <a:xfrm>
            <a:off x="5486400" y="4965192"/>
            <a:ext cx="5897880" cy="10424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To give a result back: return it (Twice), or use ref/out. Changing a value parameter is lost.</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Q10 · RECURSION</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Trace the Recursion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29</a:t>
            </a:r>
            <a:endParaRPr lang="en-US" sz="1000" dirty="0"/>
          </a:p>
        </p:txBody>
      </p:sp>
      <p:sp>
        <p:nvSpPr>
          <p:cNvPr id="7" name="Shape 4"/>
          <p:cNvSpPr/>
          <p:nvPr/>
        </p:nvSpPr>
        <p:spPr>
          <a:xfrm>
            <a:off x="9372600" y="301752"/>
            <a:ext cx="2286000" cy="347472"/>
          </a:xfrm>
          <a:prstGeom prst="roundRect">
            <a:avLst>
              <a:gd name="adj" fmla="val 50000"/>
            </a:avLst>
          </a:prstGeom>
          <a:solidFill>
            <a:srgbClr val="14213D"/>
          </a:solidFill>
          <a:ln w="12700">
            <a:solidFill>
              <a:srgbClr val="14213D"/>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TRACE · 5 min</a:t>
            </a:r>
            <a:endParaRPr lang="en-US" sz="1200" dirty="0"/>
          </a:p>
        </p:txBody>
      </p:sp>
      <p:sp>
        <p:nvSpPr>
          <p:cNvPr id="9" name="Shape 6"/>
          <p:cNvSpPr/>
          <p:nvPr/>
        </p:nvSpPr>
        <p:spPr>
          <a:xfrm>
            <a:off x="548640" y="1645920"/>
            <a:ext cx="5486400" cy="2606040"/>
          </a:xfrm>
          <a:prstGeom prst="roundRect">
            <a:avLst>
              <a:gd name="adj" fmla="val 3509"/>
            </a:avLst>
          </a:prstGeom>
          <a:solidFill>
            <a:srgbClr val="0F1729"/>
          </a:solidFill>
          <a:ln w="12700">
            <a:solidFill>
              <a:srgbClr val="0F1729"/>
            </a:solidFill>
            <a:prstDash val="solid"/>
          </a:ln>
        </p:spPr>
      </p:sp>
      <p:sp>
        <p:nvSpPr>
          <p:cNvPr id="10" name="Text 7"/>
          <p:cNvSpPr txBox="1"/>
          <p:nvPr/>
        </p:nvSpPr>
        <p:spPr>
          <a:xfrm>
            <a:off x="77724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(a) Console.WriteLine(Mystery(6));</a:t>
            </a:r>
            <a:endParaRPr lang="en-US" sz="1100" dirty="0"/>
          </a:p>
        </p:txBody>
      </p:sp>
      <p:sp>
        <p:nvSpPr>
          <p:cNvPr id="11" name="Text 8"/>
          <p:cNvSpPr txBox="1"/>
          <p:nvPr/>
        </p:nvSpPr>
        <p:spPr>
          <a:xfrm>
            <a:off x="777240" y="2057400"/>
            <a:ext cx="5029200" cy="20848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Mystery(</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 Mystery(n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2" name="Shape 9"/>
          <p:cNvSpPr/>
          <p:nvPr/>
        </p:nvSpPr>
        <p:spPr>
          <a:xfrm>
            <a:off x="6172200" y="1645920"/>
            <a:ext cx="5486400" cy="3291840"/>
          </a:xfrm>
          <a:prstGeom prst="roundRect">
            <a:avLst>
              <a:gd name="adj" fmla="val 2778"/>
            </a:avLst>
          </a:prstGeom>
          <a:solidFill>
            <a:srgbClr val="0F1729"/>
          </a:solidFill>
          <a:ln w="12700">
            <a:solidFill>
              <a:srgbClr val="0F1729"/>
            </a:solidFill>
            <a:prstDash val="solid"/>
          </a:ln>
        </p:spPr>
      </p:sp>
      <p:sp>
        <p:nvSpPr>
          <p:cNvPr id="13" name="Text 10"/>
          <p:cNvSpPr txBox="1"/>
          <p:nvPr/>
        </p:nvSpPr>
        <p:spPr>
          <a:xfrm>
            <a:off x="6400800" y="1755648"/>
            <a:ext cx="502920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(b) Countdown(3);</a:t>
            </a:r>
            <a:endParaRPr lang="en-US" sz="1100" dirty="0"/>
          </a:p>
        </p:txBody>
      </p:sp>
      <p:sp>
        <p:nvSpPr>
          <p:cNvPr id="14" name="Text 11"/>
          <p:cNvSpPr txBox="1"/>
          <p:nvPr/>
        </p:nvSpPr>
        <p:spPr>
          <a:xfrm>
            <a:off x="6400800" y="2057400"/>
            <a:ext cx="5029200" cy="2770632"/>
          </a:xfrm>
          <a:prstGeom prst="rect">
            <a:avLst/>
          </a:prstGeom>
          <a:noFill/>
          <a:ln/>
        </p:spPr>
        <p:txBody>
          <a:bodyPr wrap="square" lIns="0" tIns="0" rIns="0" bIns="0" rtlCol="0" anchor="t"/>
          <a:lstStyle/>
          <a:p>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Countdown(</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.Write(n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Countdown(n - </a:t>
            </a:r>
            <a:pPr indent="0" marL="0">
              <a:spcAft>
                <a:spcPts val="100"/>
              </a:spcAft>
              <a:buNone/>
            </a:pPr>
            <a:r>
              <a:rPr lang="en-US" sz="13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.Write(n + </a:t>
            </a:r>
            <a:pPr indent="0" marL="0">
              <a:spcAft>
                <a:spcPts val="100"/>
              </a:spcAft>
              <a:buNone/>
            </a:pPr>
            <a:r>
              <a:rPr lang="en-US" sz="1300" dirty="0">
                <a:solidFill>
                  <a:srgbClr val="CE9178"/>
                </a:solidFill>
                <a:latin typeface="Courier New" pitchFamily="34" charset="0"/>
                <a:ea typeface="Courier New" pitchFamily="34" charset="-122"/>
                <a:cs typeface="Courier New" pitchFamily="34" charset="-120"/>
              </a:rPr>
              <a:t>" "</a:t>
            </a:r>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indent="0" marL="0">
              <a:spcAft>
                <a:spcPts val="100"/>
              </a:spcAft>
              <a:buNone/>
            </a:pP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sp>
        <p:nvSpPr>
          <p:cNvPr id="15" name="Shape 12"/>
          <p:cNvSpPr/>
          <p:nvPr/>
        </p:nvSpPr>
        <p:spPr>
          <a:xfrm>
            <a:off x="548640" y="4434840"/>
            <a:ext cx="5486400" cy="1645920"/>
          </a:xfrm>
          <a:prstGeom prst="roundRect">
            <a:avLst>
              <a:gd name="adj" fmla="val 6667"/>
            </a:avLst>
          </a:prstGeom>
          <a:solidFill>
            <a:srgbClr val="EEF1F6"/>
          </a:solidFill>
          <a:ln w="12700">
            <a:solidFill>
              <a:srgbClr val="EEF1F6"/>
            </a:solidFill>
            <a:prstDash val="solid"/>
          </a:ln>
        </p:spPr>
      </p:sp>
      <p:sp>
        <p:nvSpPr>
          <p:cNvPr id="16" name="Text 13"/>
          <p:cNvSpPr txBox="1"/>
          <p:nvPr/>
        </p:nvSpPr>
        <p:spPr>
          <a:xfrm>
            <a:off x="777240" y="4526280"/>
            <a:ext cx="5029200" cy="1463040"/>
          </a:xfrm>
          <a:prstGeom prst="rect">
            <a:avLst/>
          </a:prstGeom>
          <a:noFill/>
          <a:ln/>
        </p:spPr>
        <p:txBody>
          <a:bodyPr wrap="square" lIns="0" tIns="0" rIns="0" bIns="0" rtlCol="0" anchor="t"/>
          <a:lstStyle/>
          <a:p>
            <a:pPr indent="0" marL="0">
              <a:spcAft>
                <a:spcPts val="600"/>
              </a:spcAft>
              <a:buNone/>
            </a:pPr>
            <a:r>
              <a:rPr lang="en-US" sz="1500" b="1" dirty="0">
                <a:solidFill>
                  <a:srgbClr val="333B4F"/>
                </a:solidFill>
                <a:latin typeface="Calibri" pitchFamily="34" charset="0"/>
                <a:ea typeface="Calibri" pitchFamily="34" charset="-122"/>
                <a:cs typeface="Calibri" pitchFamily="34" charset="-120"/>
              </a:rPr>
              <a:t>(a) </a:t>
            </a:r>
            <a:pPr indent="0" marL="0">
              <a:spcAft>
                <a:spcPts val="600"/>
              </a:spcAft>
              <a:buNone/>
            </a:pPr>
            <a:r>
              <a:rPr lang="en-US" sz="1500" dirty="0">
                <a:solidFill>
                  <a:srgbClr val="333B4F"/>
                </a:solidFill>
                <a:latin typeface="Calibri" pitchFamily="34" charset="0"/>
                <a:ea typeface="Calibri" pitchFamily="34" charset="-122"/>
                <a:cs typeface="Calibri" pitchFamily="34" charset="-120"/>
              </a:rPr>
              <a:t>Mystery(6) = ?  How many calls?  What does Mystery compute?</a:t>
            </a:r>
            <a:endParaRPr lang="en-US" sz="1500" dirty="0"/>
          </a:p>
          <a:p>
            <a:pPr indent="0" marL="0">
              <a:spcAft>
                <a:spcPts val="600"/>
              </a:spcAft>
              <a:buNone/>
            </a:pPr>
            <a:r>
              <a:rPr lang="en-US" sz="1500" b="1" dirty="0">
                <a:solidFill>
                  <a:srgbClr val="333B4F"/>
                </a:solidFill>
                <a:latin typeface="Calibri" pitchFamily="34" charset="0"/>
                <a:ea typeface="Calibri" pitchFamily="34" charset="-122"/>
                <a:cs typeface="Calibri" pitchFamily="34" charset="-120"/>
              </a:rPr>
              <a:t>(b) </a:t>
            </a:r>
            <a:pPr indent="0" marL="0">
              <a:spcAft>
                <a:spcPts val="600"/>
              </a:spcAft>
              <a:buNone/>
            </a:pPr>
            <a:r>
              <a:rPr lang="en-US" sz="1500" dirty="0">
                <a:solidFill>
                  <a:srgbClr val="333B4F"/>
                </a:solidFill>
                <a:latin typeface="Calibri" pitchFamily="34" charset="0"/>
                <a:ea typeface="Calibri" pitchFamily="34" charset="-122"/>
                <a:cs typeface="Calibri" pitchFamily="34" charset="-120"/>
              </a:rPr>
              <a:t>Exact output of Countdown(3)?</a:t>
            </a:r>
            <a:endParaRPr lang="en-US" sz="1500" dirty="0"/>
          </a:p>
        </p:txBody>
      </p:sp>
      <p:sp>
        <p:nvSpPr>
          <p:cNvPr id="17" name="Shape 14"/>
          <p:cNvSpPr/>
          <p:nvPr/>
        </p:nvSpPr>
        <p:spPr>
          <a:xfrm>
            <a:off x="6172200" y="5120640"/>
            <a:ext cx="5486400" cy="960120"/>
          </a:xfrm>
          <a:prstGeom prst="roundRect">
            <a:avLst>
              <a:gd name="adj" fmla="val 11429"/>
            </a:avLst>
          </a:prstGeom>
          <a:solidFill>
            <a:srgbClr val="FFF6E3"/>
          </a:solidFill>
          <a:ln w="12700">
            <a:solidFill>
              <a:srgbClr val="FFF6E3"/>
            </a:solidFill>
            <a:prstDash val="solid"/>
          </a:ln>
        </p:spPr>
      </p:sp>
      <p:pic>
        <p:nvPicPr>
          <p:cNvPr id="18" name="Image 0" descr="preencoded.png">    </p:cNvPr>
          <p:cNvPicPr>
            <a:picLocks noChangeAspect="1"/>
          </p:cNvPicPr>
          <p:nvPr/>
        </p:nvPicPr>
        <p:blipFill>
          <a:blip r:embed="rId1"/>
          <a:stretch>
            <a:fillRect/>
          </a:stretch>
        </p:blipFill>
        <p:spPr>
          <a:xfrm>
            <a:off x="6446520" y="5326380"/>
            <a:ext cx="548640" cy="548640"/>
          </a:xfrm>
          <a:prstGeom prst="rect">
            <a:avLst/>
          </a:prstGeom>
        </p:spPr>
      </p:pic>
      <p:sp>
        <p:nvSpPr>
          <p:cNvPr id="19" name="Text 15"/>
          <p:cNvSpPr txBox="1"/>
          <p:nvPr/>
        </p:nvSpPr>
        <p:spPr>
          <a:xfrm>
            <a:off x="7269480" y="5193792"/>
            <a:ext cx="4114800" cy="81381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One box per call; returns go back up.</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Q10</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Recursion Trace: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30</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4206240" cy="713232"/>
          </a:xfrm>
          <a:prstGeom prst="roundRect">
            <a:avLst>
              <a:gd name="adj" fmla="val 15385"/>
            </a:avLst>
          </a:prstGeom>
          <a:solidFill>
            <a:srgbClr val="EEF1F6"/>
          </a:solidFill>
          <a:ln w="12700">
            <a:solidFill>
              <a:srgbClr val="EEF1F6"/>
            </a:solidFill>
            <a:prstDash val="solid"/>
          </a:ln>
        </p:spPr>
      </p:sp>
      <p:sp>
        <p:nvSpPr>
          <p:cNvPr id="10" name="Text 7"/>
          <p:cNvSpPr txBox="1"/>
          <p:nvPr/>
        </p:nvSpPr>
        <p:spPr>
          <a:xfrm>
            <a:off x="685800" y="1645920"/>
            <a:ext cx="3291840" cy="713232"/>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Mystery(6)  </a:t>
            </a:r>
            <a:pPr indent="0" marL="0">
              <a:buNone/>
            </a:pPr>
            <a:r>
              <a:rPr lang="en-US" sz="1300" dirty="0">
                <a:solidFill>
                  <a:srgbClr val="5B6478"/>
                </a:solidFill>
                <a:latin typeface="Calibri" pitchFamily="34" charset="0"/>
                <a:ea typeface="Calibri" pitchFamily="34" charset="-122"/>
                <a:cs typeface="Calibri" pitchFamily="34" charset="-120"/>
              </a:rPr>
              <a:t>0 + 10 · Mystery(3)</a:t>
            </a:r>
            <a:endParaRPr lang="en-US" sz="1300" dirty="0"/>
          </a:p>
        </p:txBody>
      </p:sp>
      <p:sp>
        <p:nvSpPr>
          <p:cNvPr id="11" name="Text 8"/>
          <p:cNvSpPr txBox="1"/>
          <p:nvPr/>
        </p:nvSpPr>
        <p:spPr>
          <a:xfrm>
            <a:off x="3886200" y="1645920"/>
            <a:ext cx="822960" cy="713232"/>
          </a:xfrm>
          <a:prstGeom prst="rect">
            <a:avLst/>
          </a:prstGeom>
          <a:noFill/>
          <a:ln/>
        </p:spPr>
        <p:txBody>
          <a:bodyPr wrap="square" lIns="0" tIns="0" rIns="0" bIns="0" rtlCol="0" anchor="ctr"/>
          <a:lstStyle/>
          <a:p>
            <a:pPr indent="0" marL="0">
              <a:buNone/>
            </a:pPr>
            <a:r>
              <a:rPr lang="en-US" sz="1500" b="1" dirty="0">
                <a:solidFill>
                  <a:srgbClr val="1F7A50"/>
                </a:solidFill>
                <a:latin typeface="Courier New" pitchFamily="34" charset="0"/>
                <a:ea typeface="Courier New" pitchFamily="34" charset="-122"/>
                <a:cs typeface="Courier New" pitchFamily="34" charset="-120"/>
              </a:rPr>
              <a:t>→ 110</a:t>
            </a:r>
            <a:endParaRPr lang="en-US" sz="1500" dirty="0"/>
          </a:p>
        </p:txBody>
      </p:sp>
      <p:sp>
        <p:nvSpPr>
          <p:cNvPr id="12" name="Shape 9"/>
          <p:cNvSpPr/>
          <p:nvPr/>
        </p:nvSpPr>
        <p:spPr>
          <a:xfrm>
            <a:off x="960120" y="2514600"/>
            <a:ext cx="4206240" cy="713232"/>
          </a:xfrm>
          <a:prstGeom prst="roundRect">
            <a:avLst>
              <a:gd name="adj" fmla="val 15385"/>
            </a:avLst>
          </a:prstGeom>
          <a:solidFill>
            <a:srgbClr val="EEF1F6"/>
          </a:solidFill>
          <a:ln w="12700">
            <a:solidFill>
              <a:srgbClr val="EEF1F6"/>
            </a:solidFill>
            <a:prstDash val="solid"/>
          </a:ln>
        </p:spPr>
      </p:sp>
      <p:sp>
        <p:nvSpPr>
          <p:cNvPr id="13" name="Text 10"/>
          <p:cNvSpPr txBox="1"/>
          <p:nvPr/>
        </p:nvSpPr>
        <p:spPr>
          <a:xfrm>
            <a:off x="1097280" y="2514600"/>
            <a:ext cx="3291840" cy="713232"/>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Mystery(3)  </a:t>
            </a:r>
            <a:pPr indent="0" marL="0">
              <a:buNone/>
            </a:pPr>
            <a:r>
              <a:rPr lang="en-US" sz="1300" dirty="0">
                <a:solidFill>
                  <a:srgbClr val="5B6478"/>
                </a:solidFill>
                <a:latin typeface="Calibri" pitchFamily="34" charset="0"/>
                <a:ea typeface="Calibri" pitchFamily="34" charset="-122"/>
                <a:cs typeface="Calibri" pitchFamily="34" charset="-120"/>
              </a:rPr>
              <a:t>1 + 10 · Mystery(1)</a:t>
            </a:r>
            <a:endParaRPr lang="en-US" sz="1300" dirty="0"/>
          </a:p>
        </p:txBody>
      </p:sp>
      <p:sp>
        <p:nvSpPr>
          <p:cNvPr id="14" name="Text 11"/>
          <p:cNvSpPr txBox="1"/>
          <p:nvPr/>
        </p:nvSpPr>
        <p:spPr>
          <a:xfrm>
            <a:off x="4297680" y="2514600"/>
            <a:ext cx="822960" cy="713232"/>
          </a:xfrm>
          <a:prstGeom prst="rect">
            <a:avLst/>
          </a:prstGeom>
          <a:noFill/>
          <a:ln/>
        </p:spPr>
        <p:txBody>
          <a:bodyPr wrap="square" lIns="0" tIns="0" rIns="0" bIns="0" rtlCol="0" anchor="ctr"/>
          <a:lstStyle/>
          <a:p>
            <a:pPr indent="0" marL="0">
              <a:buNone/>
            </a:pPr>
            <a:r>
              <a:rPr lang="en-US" sz="1500" b="1" dirty="0">
                <a:solidFill>
                  <a:srgbClr val="1F7A50"/>
                </a:solidFill>
                <a:latin typeface="Courier New" pitchFamily="34" charset="0"/>
                <a:ea typeface="Courier New" pitchFamily="34" charset="-122"/>
                <a:cs typeface="Courier New" pitchFamily="34" charset="-120"/>
              </a:rPr>
              <a:t>→ 11</a:t>
            </a:r>
            <a:endParaRPr lang="en-US" sz="1500" dirty="0"/>
          </a:p>
        </p:txBody>
      </p:sp>
      <p:sp>
        <p:nvSpPr>
          <p:cNvPr id="15" name="Shape 12"/>
          <p:cNvSpPr/>
          <p:nvPr/>
        </p:nvSpPr>
        <p:spPr>
          <a:xfrm>
            <a:off x="1371600" y="3383280"/>
            <a:ext cx="4206240" cy="713232"/>
          </a:xfrm>
          <a:prstGeom prst="roundRect">
            <a:avLst>
              <a:gd name="adj" fmla="val 15385"/>
            </a:avLst>
          </a:prstGeom>
          <a:solidFill>
            <a:srgbClr val="EEF1F6"/>
          </a:solidFill>
          <a:ln w="12700">
            <a:solidFill>
              <a:srgbClr val="EEF1F6"/>
            </a:solidFill>
            <a:prstDash val="solid"/>
          </a:ln>
        </p:spPr>
      </p:sp>
      <p:sp>
        <p:nvSpPr>
          <p:cNvPr id="16" name="Text 13"/>
          <p:cNvSpPr txBox="1"/>
          <p:nvPr/>
        </p:nvSpPr>
        <p:spPr>
          <a:xfrm>
            <a:off x="1508760" y="3383280"/>
            <a:ext cx="3291840" cy="713232"/>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Mystery(1)  </a:t>
            </a:r>
            <a:pPr indent="0" marL="0">
              <a:buNone/>
            </a:pPr>
            <a:r>
              <a:rPr lang="en-US" sz="1300" dirty="0">
                <a:solidFill>
                  <a:srgbClr val="5B6478"/>
                </a:solidFill>
                <a:latin typeface="Calibri" pitchFamily="34" charset="0"/>
                <a:ea typeface="Calibri" pitchFamily="34" charset="-122"/>
                <a:cs typeface="Calibri" pitchFamily="34" charset="-120"/>
              </a:rPr>
              <a:t>1 + 10 · Mystery(0)</a:t>
            </a:r>
            <a:endParaRPr lang="en-US" sz="1300" dirty="0"/>
          </a:p>
        </p:txBody>
      </p:sp>
      <p:sp>
        <p:nvSpPr>
          <p:cNvPr id="17" name="Text 14"/>
          <p:cNvSpPr txBox="1"/>
          <p:nvPr/>
        </p:nvSpPr>
        <p:spPr>
          <a:xfrm>
            <a:off x="4709160" y="3383280"/>
            <a:ext cx="822960" cy="713232"/>
          </a:xfrm>
          <a:prstGeom prst="rect">
            <a:avLst/>
          </a:prstGeom>
          <a:noFill/>
          <a:ln/>
        </p:spPr>
        <p:txBody>
          <a:bodyPr wrap="square" lIns="0" tIns="0" rIns="0" bIns="0" rtlCol="0" anchor="ctr"/>
          <a:lstStyle/>
          <a:p>
            <a:pPr indent="0" marL="0">
              <a:buNone/>
            </a:pPr>
            <a:r>
              <a:rPr lang="en-US" sz="1500" b="1" dirty="0">
                <a:solidFill>
                  <a:srgbClr val="1F7A50"/>
                </a:solidFill>
                <a:latin typeface="Courier New" pitchFamily="34" charset="0"/>
                <a:ea typeface="Courier New" pitchFamily="34" charset="-122"/>
                <a:cs typeface="Courier New" pitchFamily="34" charset="-120"/>
              </a:rPr>
              <a:t>→ 1</a:t>
            </a:r>
            <a:endParaRPr lang="en-US" sz="1500" dirty="0"/>
          </a:p>
        </p:txBody>
      </p:sp>
      <p:sp>
        <p:nvSpPr>
          <p:cNvPr id="18" name="Shape 15"/>
          <p:cNvSpPr/>
          <p:nvPr/>
        </p:nvSpPr>
        <p:spPr>
          <a:xfrm>
            <a:off x="1783080" y="4251960"/>
            <a:ext cx="4206240" cy="713232"/>
          </a:xfrm>
          <a:prstGeom prst="roundRect">
            <a:avLst>
              <a:gd name="adj" fmla="val 15385"/>
            </a:avLst>
          </a:prstGeom>
          <a:solidFill>
            <a:srgbClr val="E6F4EC"/>
          </a:solidFill>
          <a:ln w="12700">
            <a:solidFill>
              <a:srgbClr val="E6F4EC"/>
            </a:solidFill>
            <a:prstDash val="solid"/>
          </a:ln>
        </p:spPr>
      </p:sp>
      <p:sp>
        <p:nvSpPr>
          <p:cNvPr id="19" name="Text 16"/>
          <p:cNvSpPr txBox="1"/>
          <p:nvPr/>
        </p:nvSpPr>
        <p:spPr>
          <a:xfrm>
            <a:off x="1920240" y="4251960"/>
            <a:ext cx="3291840" cy="713232"/>
          </a:xfrm>
          <a:prstGeom prst="rect">
            <a:avLst/>
          </a:prstGeom>
          <a:noFill/>
          <a:ln/>
        </p:spPr>
        <p:txBody>
          <a:bodyPr wrap="square" lIns="0" tIns="0" rIns="0" bIns="0" rtlCol="0" anchor="ctr"/>
          <a:lstStyle/>
          <a:p>
            <a:pPr indent="0" marL="0">
              <a:buNone/>
            </a:pPr>
            <a:r>
              <a:rPr lang="en-US" sz="1300" b="1" dirty="0">
                <a:solidFill>
                  <a:srgbClr val="14213D"/>
                </a:solidFill>
                <a:latin typeface="Courier New" pitchFamily="34" charset="0"/>
                <a:ea typeface="Courier New" pitchFamily="34" charset="-122"/>
                <a:cs typeface="Courier New" pitchFamily="34" charset="-120"/>
              </a:rPr>
              <a:t>Mystery(0)  </a:t>
            </a:r>
            <a:pPr indent="0" marL="0">
              <a:buNone/>
            </a:pPr>
            <a:r>
              <a:rPr lang="en-US" sz="1300" dirty="0">
                <a:solidFill>
                  <a:srgbClr val="5B6478"/>
                </a:solidFill>
                <a:latin typeface="Calibri" pitchFamily="34" charset="0"/>
                <a:ea typeface="Calibri" pitchFamily="34" charset="-122"/>
                <a:cs typeface="Calibri" pitchFamily="34" charset="-120"/>
              </a:rPr>
              <a:t>base case</a:t>
            </a:r>
            <a:endParaRPr lang="en-US" sz="1300" dirty="0"/>
          </a:p>
        </p:txBody>
      </p:sp>
      <p:sp>
        <p:nvSpPr>
          <p:cNvPr id="20" name="Text 17"/>
          <p:cNvSpPr txBox="1"/>
          <p:nvPr/>
        </p:nvSpPr>
        <p:spPr>
          <a:xfrm>
            <a:off x="5120640" y="4251960"/>
            <a:ext cx="822960" cy="713232"/>
          </a:xfrm>
          <a:prstGeom prst="rect">
            <a:avLst/>
          </a:prstGeom>
          <a:noFill/>
          <a:ln/>
        </p:spPr>
        <p:txBody>
          <a:bodyPr wrap="square" lIns="0" tIns="0" rIns="0" bIns="0" rtlCol="0" anchor="ctr"/>
          <a:lstStyle/>
          <a:p>
            <a:pPr indent="0" marL="0">
              <a:buNone/>
            </a:pPr>
            <a:r>
              <a:rPr lang="en-US" sz="1500" b="1" dirty="0">
                <a:solidFill>
                  <a:srgbClr val="1F7A50"/>
                </a:solidFill>
                <a:latin typeface="Courier New" pitchFamily="34" charset="0"/>
                <a:ea typeface="Courier New" pitchFamily="34" charset="-122"/>
                <a:cs typeface="Courier New" pitchFamily="34" charset="-120"/>
              </a:rPr>
              <a:t>→ 0</a:t>
            </a:r>
            <a:endParaRPr lang="en-US" sz="1500" dirty="0"/>
          </a:p>
        </p:txBody>
      </p:sp>
      <p:sp>
        <p:nvSpPr>
          <p:cNvPr id="21" name="Shape 18"/>
          <p:cNvSpPr/>
          <p:nvPr/>
        </p:nvSpPr>
        <p:spPr>
          <a:xfrm>
            <a:off x="6400800" y="1645920"/>
            <a:ext cx="5257800" cy="1188720"/>
          </a:xfrm>
          <a:prstGeom prst="roundRect">
            <a:avLst>
              <a:gd name="adj" fmla="val 7692"/>
            </a:avLst>
          </a:prstGeom>
          <a:solidFill>
            <a:srgbClr val="0B0F19"/>
          </a:solidFill>
          <a:ln w="12700">
            <a:solidFill>
              <a:srgbClr val="2A3654"/>
            </a:solidFill>
            <a:prstDash val="solid"/>
          </a:ln>
        </p:spPr>
      </p:sp>
      <p:sp>
        <p:nvSpPr>
          <p:cNvPr id="22" name="Shape 19"/>
          <p:cNvSpPr/>
          <p:nvPr/>
        </p:nvSpPr>
        <p:spPr>
          <a:xfrm>
            <a:off x="6583680" y="1773936"/>
            <a:ext cx="118872" cy="118872"/>
          </a:xfrm>
          <a:prstGeom prst="ellipse">
            <a:avLst/>
          </a:prstGeom>
          <a:solidFill>
            <a:srgbClr val="FF5F57"/>
          </a:solidFill>
          <a:ln w="12700">
            <a:solidFill>
              <a:srgbClr val="FF5F57"/>
            </a:solidFill>
            <a:prstDash val="solid"/>
          </a:ln>
        </p:spPr>
      </p:sp>
      <p:sp>
        <p:nvSpPr>
          <p:cNvPr id="23" name="Shape 20"/>
          <p:cNvSpPr/>
          <p:nvPr/>
        </p:nvSpPr>
        <p:spPr>
          <a:xfrm>
            <a:off x="6812280" y="1773936"/>
            <a:ext cx="118872" cy="118872"/>
          </a:xfrm>
          <a:prstGeom prst="ellipse">
            <a:avLst/>
          </a:prstGeom>
          <a:solidFill>
            <a:srgbClr val="FEBC2E"/>
          </a:solidFill>
          <a:ln w="12700">
            <a:solidFill>
              <a:srgbClr val="FEBC2E"/>
            </a:solidFill>
            <a:prstDash val="solid"/>
          </a:ln>
        </p:spPr>
      </p:sp>
      <p:sp>
        <p:nvSpPr>
          <p:cNvPr id="24" name="Shape 21"/>
          <p:cNvSpPr/>
          <p:nvPr/>
        </p:nvSpPr>
        <p:spPr>
          <a:xfrm>
            <a:off x="7040880" y="1773936"/>
            <a:ext cx="118872" cy="118872"/>
          </a:xfrm>
          <a:prstGeom prst="ellipse">
            <a:avLst/>
          </a:prstGeom>
          <a:solidFill>
            <a:srgbClr val="28C840"/>
          </a:solidFill>
          <a:ln w="12700">
            <a:solidFill>
              <a:srgbClr val="28C840"/>
            </a:solidFill>
            <a:prstDash val="solid"/>
          </a:ln>
        </p:spPr>
      </p:sp>
      <p:sp>
        <p:nvSpPr>
          <p:cNvPr id="25" name="Text 22"/>
          <p:cNvSpPr txBox="1"/>
          <p:nvPr/>
        </p:nvSpPr>
        <p:spPr>
          <a:xfrm>
            <a:off x="7315200" y="1719072"/>
            <a:ext cx="4160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(a)</a:t>
            </a:r>
            <a:endParaRPr lang="en-US" sz="1000" dirty="0"/>
          </a:p>
        </p:txBody>
      </p:sp>
      <p:sp>
        <p:nvSpPr>
          <p:cNvPr id="26" name="Text 23"/>
          <p:cNvSpPr txBox="1"/>
          <p:nvPr/>
        </p:nvSpPr>
        <p:spPr>
          <a:xfrm>
            <a:off x="6629400" y="2029968"/>
            <a:ext cx="4800600" cy="68580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110</a:t>
            </a:r>
            <a:endParaRPr lang="en-US" sz="2000" dirty="0"/>
          </a:p>
        </p:txBody>
      </p:sp>
      <p:sp>
        <p:nvSpPr>
          <p:cNvPr id="27" name="Shape 24"/>
          <p:cNvSpPr/>
          <p:nvPr/>
        </p:nvSpPr>
        <p:spPr>
          <a:xfrm>
            <a:off x="6400800" y="3017520"/>
            <a:ext cx="5257800" cy="1188720"/>
          </a:xfrm>
          <a:prstGeom prst="roundRect">
            <a:avLst>
              <a:gd name="adj" fmla="val 7692"/>
            </a:avLst>
          </a:prstGeom>
          <a:solidFill>
            <a:srgbClr val="0B0F19"/>
          </a:solidFill>
          <a:ln w="12700">
            <a:solidFill>
              <a:srgbClr val="2A3654"/>
            </a:solidFill>
            <a:prstDash val="solid"/>
          </a:ln>
        </p:spPr>
      </p:sp>
      <p:sp>
        <p:nvSpPr>
          <p:cNvPr id="28" name="Shape 25"/>
          <p:cNvSpPr/>
          <p:nvPr/>
        </p:nvSpPr>
        <p:spPr>
          <a:xfrm>
            <a:off x="6583680" y="3145536"/>
            <a:ext cx="118872" cy="118872"/>
          </a:xfrm>
          <a:prstGeom prst="ellipse">
            <a:avLst/>
          </a:prstGeom>
          <a:solidFill>
            <a:srgbClr val="FF5F57"/>
          </a:solidFill>
          <a:ln w="12700">
            <a:solidFill>
              <a:srgbClr val="FF5F57"/>
            </a:solidFill>
            <a:prstDash val="solid"/>
          </a:ln>
        </p:spPr>
      </p:sp>
      <p:sp>
        <p:nvSpPr>
          <p:cNvPr id="29" name="Shape 26"/>
          <p:cNvSpPr/>
          <p:nvPr/>
        </p:nvSpPr>
        <p:spPr>
          <a:xfrm>
            <a:off x="6812280" y="3145536"/>
            <a:ext cx="118872" cy="118872"/>
          </a:xfrm>
          <a:prstGeom prst="ellipse">
            <a:avLst/>
          </a:prstGeom>
          <a:solidFill>
            <a:srgbClr val="FEBC2E"/>
          </a:solidFill>
          <a:ln w="12700">
            <a:solidFill>
              <a:srgbClr val="FEBC2E"/>
            </a:solidFill>
            <a:prstDash val="solid"/>
          </a:ln>
        </p:spPr>
      </p:sp>
      <p:sp>
        <p:nvSpPr>
          <p:cNvPr id="30" name="Shape 27"/>
          <p:cNvSpPr/>
          <p:nvPr/>
        </p:nvSpPr>
        <p:spPr>
          <a:xfrm>
            <a:off x="7040880" y="3145536"/>
            <a:ext cx="118872" cy="118872"/>
          </a:xfrm>
          <a:prstGeom prst="ellipse">
            <a:avLst/>
          </a:prstGeom>
          <a:solidFill>
            <a:srgbClr val="28C840"/>
          </a:solidFill>
          <a:ln w="12700">
            <a:solidFill>
              <a:srgbClr val="28C840"/>
            </a:solidFill>
            <a:prstDash val="solid"/>
          </a:ln>
        </p:spPr>
      </p:sp>
      <p:sp>
        <p:nvSpPr>
          <p:cNvPr id="31" name="Text 28"/>
          <p:cNvSpPr txBox="1"/>
          <p:nvPr/>
        </p:nvSpPr>
        <p:spPr>
          <a:xfrm>
            <a:off x="7315200" y="3090672"/>
            <a:ext cx="416052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a:t>
            </a:r>
            <a:endParaRPr lang="en-US" sz="1000" dirty="0"/>
          </a:p>
        </p:txBody>
      </p:sp>
      <p:sp>
        <p:nvSpPr>
          <p:cNvPr id="32" name="Text 29"/>
          <p:cNvSpPr txBox="1"/>
          <p:nvPr/>
        </p:nvSpPr>
        <p:spPr>
          <a:xfrm>
            <a:off x="6629400" y="3401568"/>
            <a:ext cx="4800600" cy="685800"/>
          </a:xfrm>
          <a:prstGeom prst="rect">
            <a:avLst/>
          </a:prstGeom>
          <a:noFill/>
          <a:ln/>
        </p:spPr>
        <p:txBody>
          <a:bodyPr wrap="square" lIns="0" tIns="0" rIns="0" bIns="0" rtlCol="0" anchor="t"/>
          <a:lstStyle/>
          <a:p>
            <a:pPr indent="0" marL="0">
              <a:spcAft>
                <a:spcPts val="100"/>
              </a:spcAft>
              <a:buNone/>
            </a:pPr>
            <a:r>
              <a:rPr lang="en-US" sz="2000" dirty="0">
                <a:solidFill>
                  <a:srgbClr val="7EE2A8"/>
                </a:solidFill>
                <a:latin typeface="Courier New" pitchFamily="34" charset="0"/>
                <a:ea typeface="Courier New" pitchFamily="34" charset="-122"/>
                <a:cs typeface="Courier New" pitchFamily="34" charset="-120"/>
              </a:rPr>
              <a:t>3 2 1 1 2 3</a:t>
            </a:r>
            <a:endParaRPr lang="en-US" sz="2000" dirty="0"/>
          </a:p>
        </p:txBody>
      </p:sp>
      <p:sp>
        <p:nvSpPr>
          <p:cNvPr id="33" name="Shape 30"/>
          <p:cNvSpPr/>
          <p:nvPr/>
        </p:nvSpPr>
        <p:spPr>
          <a:xfrm>
            <a:off x="6400800" y="4389120"/>
            <a:ext cx="5257800" cy="1691640"/>
          </a:xfrm>
          <a:prstGeom prst="roundRect">
            <a:avLst>
              <a:gd name="adj" fmla="val 6486"/>
            </a:avLst>
          </a:prstGeom>
          <a:solidFill>
            <a:srgbClr val="E6F4EC"/>
          </a:solidFill>
          <a:ln w="12700">
            <a:solidFill>
              <a:srgbClr val="E6F4EC"/>
            </a:solidFill>
            <a:prstDash val="solid"/>
          </a:ln>
        </p:spPr>
      </p:sp>
      <p:pic>
        <p:nvPicPr>
          <p:cNvPr id="34" name="Image 0" descr="preencoded.png">    </p:cNvPr>
          <p:cNvPicPr>
            <a:picLocks noChangeAspect="1"/>
          </p:cNvPicPr>
          <p:nvPr/>
        </p:nvPicPr>
        <p:blipFill>
          <a:blip r:embed="rId1"/>
          <a:stretch>
            <a:fillRect/>
          </a:stretch>
        </p:blipFill>
        <p:spPr>
          <a:xfrm>
            <a:off x="6675120" y="4960620"/>
            <a:ext cx="548640" cy="548640"/>
          </a:xfrm>
          <a:prstGeom prst="rect">
            <a:avLst/>
          </a:prstGeom>
        </p:spPr>
      </p:pic>
      <p:sp>
        <p:nvSpPr>
          <p:cNvPr id="35" name="Text 31"/>
          <p:cNvSpPr txBox="1"/>
          <p:nvPr/>
        </p:nvSpPr>
        <p:spPr>
          <a:xfrm>
            <a:off x="7498080" y="4462272"/>
            <a:ext cx="3886200" cy="154533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4 calls (6, 3, 1, 0). </a:t>
            </a:r>
            <a:pPr indent="0" marL="0">
              <a:buNone/>
            </a:pPr>
            <a:r>
              <a:rPr lang="en-US" sz="1400" dirty="0">
                <a:solidFill>
                  <a:srgbClr val="333B4F"/>
                </a:solidFill>
                <a:latin typeface="Calibri" pitchFamily="34" charset="0"/>
                <a:ea typeface="Calibri" pitchFamily="34" charset="-122"/>
                <a:cs typeface="Calibri" pitchFamily="34" charset="-120"/>
              </a:rPr>
              <a:t>Mystery writes n in binary: 6 → 110. In (b) the second Write runs on the way back up.</a:t>
            </a:r>
            <a:endParaRPr lang="en-US" sz="1400" dirty="0"/>
          </a:p>
        </p:txBody>
      </p:sp>
      <p:sp>
        <p:nvSpPr>
          <p:cNvPr id="36" name="Shape 32"/>
          <p:cNvSpPr/>
          <p:nvPr/>
        </p:nvSpPr>
        <p:spPr>
          <a:xfrm>
            <a:off x="548640" y="5257800"/>
            <a:ext cx="5623560" cy="822960"/>
          </a:xfrm>
          <a:prstGeom prst="roundRect">
            <a:avLst>
              <a:gd name="adj" fmla="val 13333"/>
            </a:avLst>
          </a:prstGeom>
          <a:solidFill>
            <a:srgbClr val="FBE9E7"/>
          </a:solidFill>
          <a:ln w="12700">
            <a:solidFill>
              <a:srgbClr val="FBE9E7"/>
            </a:solidFill>
            <a:prstDash val="solid"/>
          </a:ln>
        </p:spPr>
      </p:sp>
      <p:pic>
        <p:nvPicPr>
          <p:cNvPr id="37" name="Image 1" descr="preencoded.png">    </p:cNvPr>
          <p:cNvPicPr>
            <a:picLocks noChangeAspect="1"/>
          </p:cNvPicPr>
          <p:nvPr/>
        </p:nvPicPr>
        <p:blipFill>
          <a:blip r:embed="rId2"/>
          <a:stretch>
            <a:fillRect/>
          </a:stretch>
        </p:blipFill>
        <p:spPr>
          <a:xfrm>
            <a:off x="822960" y="5394960"/>
            <a:ext cx="548640" cy="548640"/>
          </a:xfrm>
          <a:prstGeom prst="rect">
            <a:avLst/>
          </a:prstGeom>
        </p:spPr>
      </p:pic>
      <p:sp>
        <p:nvSpPr>
          <p:cNvPr id="38" name="Text 33"/>
          <p:cNvSpPr txBox="1"/>
          <p:nvPr/>
        </p:nvSpPr>
        <p:spPr>
          <a:xfrm>
            <a:off x="1645920" y="5330952"/>
            <a:ext cx="4251960" cy="67665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No base case (or no progress) → StackOverflowException.</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463040"/>
            <a:ext cx="2743200" cy="1280160"/>
          </a:xfrm>
          <a:prstGeom prst="rect">
            <a:avLst/>
          </a:prstGeom>
          <a:noFill/>
          <a:ln/>
        </p:spPr>
        <p:txBody>
          <a:bodyPr wrap="square" lIns="0" tIns="0" rIns="0" bIns="0" rtlCol="0" anchor="ctr"/>
          <a:lstStyle/>
          <a:p>
            <a:pPr indent="0" marL="0">
              <a:buNone/>
            </a:pPr>
            <a:r>
              <a:rPr lang="en-US" sz="8800" b="1" dirty="0">
                <a:solidFill>
                  <a:srgbClr val="FCA311"/>
                </a:solidFill>
                <a:latin typeface="Courier New" pitchFamily="34" charset="0"/>
                <a:ea typeface="Courier New" pitchFamily="34" charset="-122"/>
                <a:cs typeface="Courier New" pitchFamily="34" charset="-120"/>
              </a:rPr>
              <a:t>&gt;_</a:t>
            </a:r>
            <a:endParaRPr lang="en-US" sz="8800" dirty="0"/>
          </a:p>
        </p:txBody>
      </p:sp>
      <p:sp>
        <p:nvSpPr>
          <p:cNvPr id="3" name="Text 1"/>
          <p:cNvSpPr txBox="1"/>
          <p:nvPr/>
        </p:nvSpPr>
        <p:spPr>
          <a:xfrm>
            <a:off x="548640" y="2926080"/>
            <a:ext cx="5486400" cy="365760"/>
          </a:xfrm>
          <a:prstGeom prst="rect">
            <a:avLst/>
          </a:prstGeom>
          <a:noFill/>
          <a:ln/>
        </p:spPr>
        <p:txBody>
          <a:bodyPr wrap="square" lIns="0" tIns="0" rIns="0" bIns="0" rtlCol="0" anchor="ctr"/>
          <a:lstStyle/>
          <a:p>
            <a:pPr indent="0" marL="0">
              <a:buNone/>
            </a:pPr>
            <a:r>
              <a:rPr lang="en-US" sz="1600" spc="400" kern="0" dirty="0">
                <a:solidFill>
                  <a:srgbClr val="8A94AB"/>
                </a:solidFill>
                <a:latin typeface="Courier New" pitchFamily="34" charset="0"/>
                <a:ea typeface="Courier New" pitchFamily="34" charset="-122"/>
                <a:cs typeface="Courier New" pitchFamily="34" charset="-120"/>
              </a:rPr>
              <a:t>PART 3</a:t>
            </a:r>
            <a:endParaRPr lang="en-US" sz="1600" dirty="0"/>
          </a:p>
        </p:txBody>
      </p:sp>
      <p:sp>
        <p:nvSpPr>
          <p:cNvPr id="4" name="Text 2"/>
          <p:cNvSpPr txBox="1"/>
          <p:nvPr/>
        </p:nvSpPr>
        <p:spPr>
          <a:xfrm>
            <a:off x="548640" y="3337560"/>
            <a:ext cx="10515600" cy="91440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Cambria" pitchFamily="34" charset="0"/>
                <a:ea typeface="Cambria" pitchFamily="34" charset="-122"/>
                <a:cs typeface="Cambria" pitchFamily="34" charset="-120"/>
              </a:rPr>
              <a:t>Practice II: Debug &amp; Write</a:t>
            </a:r>
            <a:endParaRPr lang="en-US" sz="4200" dirty="0"/>
          </a:p>
        </p:txBody>
      </p:sp>
      <p:sp>
        <p:nvSpPr>
          <p:cNvPr id="5" name="Text 3"/>
          <p:cNvSpPr txBox="1"/>
          <p:nvPr/>
        </p:nvSpPr>
        <p:spPr>
          <a:xfrm>
            <a:off x="548640" y="4343400"/>
            <a:ext cx="10515600" cy="548640"/>
          </a:xfrm>
          <a:prstGeom prst="rect">
            <a:avLst/>
          </a:prstGeom>
          <a:noFill/>
          <a:ln/>
        </p:spPr>
        <p:txBody>
          <a:bodyPr wrap="square" lIns="0" tIns="0" rIns="0" bIns="0" rtlCol="0" anchor="ctr"/>
          <a:lstStyle/>
          <a:p>
            <a:pPr indent="0" marL="0">
              <a:buNone/>
            </a:pPr>
            <a:r>
              <a:rPr lang="en-US" sz="1800" dirty="0">
                <a:solidFill>
                  <a:srgbClr val="C7CEDC"/>
                </a:solidFill>
                <a:latin typeface="Calibri" pitchFamily="34" charset="0"/>
                <a:ea typeface="Calibri" pitchFamily="34" charset="-122"/>
                <a:cs typeface="Calibri" pitchFamily="34" charset="-120"/>
              </a:rPr>
              <a:t>Scope errors · find the bugs · write methods · a file program · strategy</a:t>
            </a:r>
            <a:endParaRPr lang="en-US" sz="1800" dirty="0"/>
          </a:p>
        </p:txBody>
      </p:sp>
      <p:sp>
        <p:nvSpPr>
          <p:cNvPr id="6" name="Text 4"/>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15</a:t>
            </a:r>
            <a:endParaRPr lang="en-US" sz="1000" dirty="0"/>
          </a:p>
        </p:txBody>
      </p:sp>
      <p:sp>
        <p:nvSpPr>
          <p:cNvPr id="7" name="Text 5"/>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Q11 · SCOPE</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Spot the Compile Errors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32</a:t>
            </a:r>
            <a:endParaRPr lang="en-US" sz="1000" dirty="0"/>
          </a:p>
        </p:txBody>
      </p:sp>
      <p:sp>
        <p:nvSpPr>
          <p:cNvPr id="7" name="Shape 4"/>
          <p:cNvSpPr/>
          <p:nvPr/>
        </p:nvSpPr>
        <p:spPr>
          <a:xfrm>
            <a:off x="9372600" y="301752"/>
            <a:ext cx="2286000" cy="347472"/>
          </a:xfrm>
          <a:prstGeom prst="roundRect">
            <a:avLst>
              <a:gd name="adj" fmla="val 50000"/>
            </a:avLst>
          </a:prstGeom>
          <a:solidFill>
            <a:srgbClr val="C8453B"/>
          </a:solidFill>
          <a:ln w="12700">
            <a:solidFill>
              <a:srgbClr val="C8453B"/>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FIND ERRORS · 4 min</a:t>
            </a:r>
            <a:endParaRPr lang="en-US" sz="1200" dirty="0"/>
          </a:p>
        </p:txBody>
      </p:sp>
      <p:sp>
        <p:nvSpPr>
          <p:cNvPr id="9" name="Shape 6"/>
          <p:cNvSpPr/>
          <p:nvPr/>
        </p:nvSpPr>
        <p:spPr>
          <a:xfrm>
            <a:off x="548640" y="1645920"/>
            <a:ext cx="512064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4663440" cy="4160520"/>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square = i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square;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.WriteLine(square);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msg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"big"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else</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msg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"small"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.WriteLine(count + total);</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.WriteLine(Half(total));</a:t>
            </a:r>
            <a:endParaRPr lang="en-US" sz="1200" dirty="0"/>
          </a:p>
        </p:txBody>
      </p:sp>
      <p:sp>
        <p:nvSpPr>
          <p:cNvPr id="11" name="Shape 8"/>
          <p:cNvSpPr/>
          <p:nvPr/>
        </p:nvSpPr>
        <p:spPr>
          <a:xfrm>
            <a:off x="5897880" y="1645920"/>
            <a:ext cx="5760720" cy="2057400"/>
          </a:xfrm>
          <a:prstGeom prst="roundRect">
            <a:avLst>
              <a:gd name="adj" fmla="val 4444"/>
            </a:avLst>
          </a:prstGeom>
          <a:solidFill>
            <a:srgbClr val="0F1729"/>
          </a:solidFill>
          <a:ln w="12700">
            <a:solidFill>
              <a:srgbClr val="0F1729"/>
            </a:solidFill>
            <a:prstDash val="solid"/>
          </a:ln>
        </p:spPr>
      </p:sp>
      <p:sp>
        <p:nvSpPr>
          <p:cNvPr id="12" name="Text 9"/>
          <p:cNvSpPr txBox="1"/>
          <p:nvPr/>
        </p:nvSpPr>
        <p:spPr>
          <a:xfrm>
            <a:off x="6126480" y="1755648"/>
            <a:ext cx="53035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Line 20 is empty; the method starts at line 21</a:t>
            </a:r>
            <a:endParaRPr lang="en-US" sz="1100" dirty="0"/>
          </a:p>
        </p:txBody>
      </p:sp>
      <p:sp>
        <p:nvSpPr>
          <p:cNvPr id="13" name="Text 10"/>
          <p:cNvSpPr txBox="1"/>
          <p:nvPr/>
        </p:nvSpPr>
        <p:spPr>
          <a:xfrm>
            <a:off x="6126480" y="2057400"/>
            <a:ext cx="5303520" cy="1536192"/>
          </a:xfrm>
          <a:prstGeom prst="rect">
            <a:avLst/>
          </a:prstGeom>
          <a:noFill/>
          <a:ln/>
        </p:spPr>
        <p:txBody>
          <a:bodyPr wrap="square" lIns="0" tIns="0" rIns="0" bIns="0" rtlCol="0" anchor="t"/>
          <a:lstStyle/>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Half(</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n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4" name="Shape 11"/>
          <p:cNvSpPr/>
          <p:nvPr/>
        </p:nvSpPr>
        <p:spPr>
          <a:xfrm>
            <a:off x="5897880" y="3886200"/>
            <a:ext cx="2788920" cy="2194560"/>
          </a:xfrm>
          <a:prstGeom prst="roundRect">
            <a:avLst>
              <a:gd name="adj" fmla="val 5000"/>
            </a:avLst>
          </a:prstGeom>
          <a:solidFill>
            <a:srgbClr val="FBE9E7"/>
          </a:solidFill>
          <a:ln w="12700">
            <a:solidFill>
              <a:srgbClr val="FBE9E7"/>
            </a:solidFill>
            <a:prstDash val="solid"/>
          </a:ln>
        </p:spPr>
      </p:sp>
      <p:sp>
        <p:nvSpPr>
          <p:cNvPr id="15" name="Shape 12"/>
          <p:cNvSpPr/>
          <p:nvPr/>
        </p:nvSpPr>
        <p:spPr>
          <a:xfrm>
            <a:off x="6126480" y="4114800"/>
            <a:ext cx="566928" cy="566928"/>
          </a:xfrm>
          <a:prstGeom prst="ellipse">
            <a:avLst/>
          </a:prstGeom>
          <a:solidFill>
            <a:srgbClr val="C8453B"/>
          </a:solidFill>
          <a:ln w="12700">
            <a:solidFill>
              <a:srgbClr val="C8453B"/>
            </a:solidFill>
            <a:prstDash val="solid"/>
          </a:ln>
        </p:spPr>
      </p:sp>
      <p:pic>
        <p:nvPicPr>
          <p:cNvPr id="16" name="Image 0" descr="preencoded.png">    </p:cNvPr>
          <p:cNvPicPr>
            <a:picLocks noChangeAspect="1"/>
          </p:cNvPicPr>
          <p:nvPr/>
        </p:nvPicPr>
        <p:blipFill>
          <a:blip r:embed="rId1"/>
          <a:stretch>
            <a:fillRect/>
          </a:stretch>
        </p:blipFill>
        <p:spPr>
          <a:xfrm>
            <a:off x="6273881" y="4262201"/>
            <a:ext cx="272125" cy="272125"/>
          </a:xfrm>
          <a:prstGeom prst="rect">
            <a:avLst/>
          </a:prstGeom>
        </p:spPr>
      </p:pic>
      <p:sp>
        <p:nvSpPr>
          <p:cNvPr id="17" name="Text 13"/>
          <p:cNvSpPr txBox="1"/>
          <p:nvPr/>
        </p:nvSpPr>
        <p:spPr>
          <a:xfrm>
            <a:off x="6812280" y="4114800"/>
            <a:ext cx="1691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4 errors</a:t>
            </a:r>
            <a:endParaRPr lang="en-US" sz="1700" dirty="0"/>
          </a:p>
        </p:txBody>
      </p:sp>
      <p:sp>
        <p:nvSpPr>
          <p:cNvPr id="18" name="Text 14"/>
          <p:cNvSpPr txBox="1"/>
          <p:nvPr/>
        </p:nvSpPr>
        <p:spPr>
          <a:xfrm>
            <a:off x="6126480" y="4800600"/>
            <a:ext cx="2331720" cy="11430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Which lines? Why?</a:t>
            </a:r>
            <a:endParaRPr lang="en-US" sz="1400" dirty="0"/>
          </a:p>
        </p:txBody>
      </p:sp>
      <p:sp>
        <p:nvSpPr>
          <p:cNvPr id="19" name="Shape 15"/>
          <p:cNvSpPr/>
          <p:nvPr/>
        </p:nvSpPr>
        <p:spPr>
          <a:xfrm>
            <a:off x="8869680" y="3886200"/>
            <a:ext cx="2788920" cy="2194560"/>
          </a:xfrm>
          <a:prstGeom prst="roundRect">
            <a:avLst>
              <a:gd name="adj" fmla="val 5000"/>
            </a:avLst>
          </a:prstGeom>
          <a:solidFill>
            <a:srgbClr val="E3ECF8"/>
          </a:solidFill>
          <a:ln w="12700">
            <a:solidFill>
              <a:srgbClr val="E3ECF8"/>
            </a:solidFill>
            <a:prstDash val="solid"/>
          </a:ln>
        </p:spPr>
      </p:sp>
      <p:sp>
        <p:nvSpPr>
          <p:cNvPr id="20" name="Shape 16"/>
          <p:cNvSpPr/>
          <p:nvPr/>
        </p:nvSpPr>
        <p:spPr>
          <a:xfrm>
            <a:off x="9098280" y="4114800"/>
            <a:ext cx="566928" cy="566928"/>
          </a:xfrm>
          <a:prstGeom prst="ellipse">
            <a:avLst/>
          </a:prstGeom>
          <a:solidFill>
            <a:srgbClr val="2F6FB3"/>
          </a:solidFill>
          <a:ln w="12700">
            <a:solidFill>
              <a:srgbClr val="2F6FB3"/>
            </a:solidFill>
            <a:prstDash val="solid"/>
          </a:ln>
        </p:spPr>
      </p:sp>
      <p:pic>
        <p:nvPicPr>
          <p:cNvPr id="21" name="Image 1" descr="preencoded.png">    </p:cNvPr>
          <p:cNvPicPr>
            <a:picLocks noChangeAspect="1"/>
          </p:cNvPicPr>
          <p:nvPr/>
        </p:nvPicPr>
        <p:blipFill>
          <a:blip r:embed="rId2"/>
          <a:stretch>
            <a:fillRect/>
          </a:stretch>
        </p:blipFill>
        <p:spPr>
          <a:xfrm>
            <a:off x="9245681" y="4262201"/>
            <a:ext cx="272125" cy="272125"/>
          </a:xfrm>
          <a:prstGeom prst="rect">
            <a:avLst/>
          </a:prstGeom>
        </p:spPr>
      </p:pic>
      <p:sp>
        <p:nvSpPr>
          <p:cNvPr id="22" name="Text 17"/>
          <p:cNvSpPr txBox="1"/>
          <p:nvPr/>
        </p:nvSpPr>
        <p:spPr>
          <a:xfrm>
            <a:off x="9784080" y="4114800"/>
            <a:ext cx="169164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Trap</a:t>
            </a:r>
            <a:endParaRPr lang="en-US" sz="1700" dirty="0"/>
          </a:p>
        </p:txBody>
      </p:sp>
      <p:sp>
        <p:nvSpPr>
          <p:cNvPr id="23" name="Text 18"/>
          <p:cNvSpPr txBox="1"/>
          <p:nvPr/>
        </p:nvSpPr>
        <p:spPr>
          <a:xfrm>
            <a:off x="9098280" y="4800600"/>
            <a:ext cx="2331720" cy="11430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Is msg declared twice illegally?</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Q11</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Spot the Compile Errors: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33</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914400"/>
                <a:gridCol w="2743200"/>
                <a:gridCol w="1234440"/>
                <a:gridCol w="6217920"/>
              </a:tblGrid>
              <a:tr h="512064">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Line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Code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Error</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Reason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1206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WriteLine(square)</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CS0103</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square lives only inside the loop block</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int total = 0;</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CS0136</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nested block reuses a name of the enclosing scope</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18</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count + total</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CS0165</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count is declared but never assigned</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1206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static int Half(…)</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CS0161</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no return when n &lt; 0: not all paths return</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12064">
                <a:tc>
                  <a:txBody>
                    <a:bodyPr/>
                    <a:lstStyle/>
                    <a:p>
                      <a:pPr algn="ctr" indent="0" marL="0">
                        <a:buNone/>
                      </a:pPr>
                      <a:r>
                        <a:rPr lang="en-US" sz="1400" dirty="0">
                          <a:solidFill>
                            <a:srgbClr val="14213D"/>
                          </a:solidFill>
                          <a:latin typeface="Calibri" pitchFamily="34" charset="0"/>
                          <a:ea typeface="Calibri" pitchFamily="34" charset="-122"/>
                          <a:cs typeface="Calibri" pitchFamily="34" charset="-120"/>
                        </a:rPr>
                        <a:t>11, 15</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ourier New" pitchFamily="34" charset="0"/>
                          <a:ea typeface="Courier New" pitchFamily="34" charset="-122"/>
                          <a:cs typeface="Courier New" pitchFamily="34" charset="-120"/>
                        </a:rPr>
                        <a:t>string msg</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7A50"/>
                          </a:solidFill>
                          <a:latin typeface="Courier New" pitchFamily="34" charset="0"/>
                          <a:ea typeface="Courier New" pitchFamily="34" charset="-122"/>
                          <a:cs typeface="Courier New" pitchFamily="34" charset="-120"/>
                        </a:rPr>
                        <a:t>OK</a:t>
                      </a:r>
                      <a:endParaRPr lang="en-US" sz="14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4213D"/>
                          </a:solidFill>
                          <a:latin typeface="Calibri" pitchFamily="34" charset="0"/>
                          <a:ea typeface="Calibri" pitchFamily="34" charset="-122"/>
                          <a:cs typeface="Calibri" pitchFamily="34" charset="-120"/>
                        </a:rPr>
                        <a:t>sibling blocks: two different variables (warning only)</a:t>
                      </a:r>
                      <a:endParaRPr lang="en-US" sz="14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bl>
          </a:graphicData>
        </a:graphic>
      </p:graphicFrame>
      <p:sp>
        <p:nvSpPr>
          <p:cNvPr id="10" name="Shape 6"/>
          <p:cNvSpPr/>
          <p:nvPr/>
        </p:nvSpPr>
        <p:spPr>
          <a:xfrm>
            <a:off x="548640" y="4937760"/>
            <a:ext cx="11109960" cy="1143000"/>
          </a:xfrm>
          <a:prstGeom prst="roundRect">
            <a:avLst>
              <a:gd name="adj" fmla="val 9600"/>
            </a:avLst>
          </a:prstGeom>
          <a:solidFill>
            <a:srgbClr val="FFF6E3"/>
          </a:solidFill>
          <a:ln w="12700">
            <a:solidFill>
              <a:srgbClr val="FFF6E3"/>
            </a:solidFill>
            <a:prstDash val="solid"/>
          </a:ln>
        </p:spPr>
      </p:sp>
      <p:pic>
        <p:nvPicPr>
          <p:cNvPr id="11" name="Image 0" descr="preencoded.png">    </p:cNvPr>
          <p:cNvPicPr>
            <a:picLocks noChangeAspect="1"/>
          </p:cNvPicPr>
          <p:nvPr/>
        </p:nvPicPr>
        <p:blipFill>
          <a:blip r:embed="rId1"/>
          <a:stretch>
            <a:fillRect/>
          </a:stretch>
        </p:blipFill>
        <p:spPr>
          <a:xfrm>
            <a:off x="822960" y="5234940"/>
            <a:ext cx="548640" cy="548640"/>
          </a:xfrm>
          <a:prstGeom prst="rect">
            <a:avLst/>
          </a:prstGeom>
        </p:spPr>
      </p:pic>
      <p:sp>
        <p:nvSpPr>
          <p:cNvPr id="12" name="Text 7"/>
          <p:cNvSpPr txBox="1"/>
          <p:nvPr/>
        </p:nvSpPr>
        <p:spPr>
          <a:xfrm>
            <a:off x="1645920" y="5010912"/>
            <a:ext cx="9738360" cy="996696"/>
          </a:xfrm>
          <a:prstGeom prst="rect">
            <a:avLst/>
          </a:prstGeom>
          <a:noFill/>
          <a:ln/>
        </p:spPr>
        <p:txBody>
          <a:bodyPr wrap="square" lIns="0" tIns="0" rIns="0" bIns="0" rtlCol="0" anchor="ctr"/>
          <a:lstStyle/>
          <a:p>
            <a:pPr indent="0" marL="0">
              <a:buNone/>
            </a:pPr>
            <a:r>
              <a:rPr lang="en-US" sz="1500" b="1" dirty="0">
                <a:solidFill>
                  <a:srgbClr val="333B4F"/>
                </a:solidFill>
                <a:latin typeface="Calibri" pitchFamily="34" charset="0"/>
                <a:ea typeface="Calibri" pitchFamily="34" charset="-122"/>
                <a:cs typeface="Calibri" pitchFamily="34" charset="-120"/>
              </a:rPr>
              <a:t>Rule: </a:t>
            </a:r>
            <a:pPr indent="0" marL="0">
              <a:buNone/>
            </a:pPr>
            <a:r>
              <a:rPr lang="en-US" sz="1500" dirty="0">
                <a:solidFill>
                  <a:srgbClr val="333B4F"/>
                </a:solidFill>
                <a:latin typeface="Calibri" pitchFamily="34" charset="0"/>
                <a:ea typeface="Calibri" pitchFamily="34" charset="-122"/>
                <a:cs typeface="Calibri" pitchFamily="34" charset="-120"/>
              </a:rPr>
              <a:t>a variable exists from its declaration to the } of its block. An inner block may not reuse an outer name; two sibling blocks may.</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Q12 · FIND THE BUGS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Find the Bugs: Winter Temperatures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34</a:t>
            </a:r>
            <a:endParaRPr lang="en-US" sz="1000" dirty="0"/>
          </a:p>
        </p:txBody>
      </p:sp>
      <p:sp>
        <p:nvSpPr>
          <p:cNvPr id="7" name="Shape 4"/>
          <p:cNvSpPr/>
          <p:nvPr/>
        </p:nvSpPr>
        <p:spPr>
          <a:xfrm>
            <a:off x="9372600" y="301752"/>
            <a:ext cx="2286000" cy="347472"/>
          </a:xfrm>
          <a:prstGeom prst="roundRect">
            <a:avLst>
              <a:gd name="adj" fmla="val 50000"/>
            </a:avLst>
          </a:prstGeom>
          <a:solidFill>
            <a:srgbClr val="C8453B"/>
          </a:solidFill>
          <a:ln w="12700">
            <a:solidFill>
              <a:srgbClr val="C8453B"/>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FIND BUGS · 5 min</a:t>
            </a:r>
            <a:endParaRPr lang="en-US" sz="1200" dirty="0"/>
          </a:p>
        </p:txBody>
      </p:sp>
      <p:sp>
        <p:nvSpPr>
          <p:cNvPr id="9" name="Shape 6"/>
          <p:cNvSpPr/>
          <p:nvPr/>
        </p:nvSpPr>
        <p:spPr>
          <a:xfrm>
            <a:off x="548640" y="1645920"/>
            <a:ext cx="630936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5852160" cy="4160520"/>
          </a:xfrm>
          <a:prstGeom prst="rect">
            <a:avLst/>
          </a:prstGeom>
          <a:noFill/>
          <a:ln/>
        </p:spPr>
        <p:txBody>
          <a:bodyPr wrap="square" lIns="0" tIns="0" rIns="0" bIns="0" rtlCol="0" anchor="t"/>
          <a:lstStyle/>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temps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temps.Length;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$"Day {i}: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temps[i]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{Average(temps):F2}"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$"Highest: {Highest(temps)}"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a.Length;</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1" name="Shape 8"/>
          <p:cNvSpPr/>
          <p:nvPr/>
        </p:nvSpPr>
        <p:spPr>
          <a:xfrm>
            <a:off x="7086600" y="1645920"/>
            <a:ext cx="4572000" cy="3017520"/>
          </a:xfrm>
          <a:prstGeom prst="roundRect">
            <a:avLst>
              <a:gd name="adj" fmla="val 3030"/>
            </a:avLst>
          </a:prstGeom>
          <a:solidFill>
            <a:srgbClr val="0F1729"/>
          </a:solidFill>
          <a:ln w="12700">
            <a:solidFill>
              <a:srgbClr val="0F1729"/>
            </a:solidFill>
            <a:prstDash val="solid"/>
          </a:ln>
        </p:spPr>
      </p:sp>
      <p:sp>
        <p:nvSpPr>
          <p:cNvPr id="12" name="Text 9"/>
          <p:cNvSpPr txBox="1"/>
          <p:nvPr/>
        </p:nvSpPr>
        <p:spPr>
          <a:xfrm>
            <a:off x="7315200" y="1810512"/>
            <a:ext cx="4114800" cy="2743200"/>
          </a:xfrm>
          <a:prstGeom prst="rect">
            <a:avLst/>
          </a:prstGeom>
          <a:noFill/>
          <a:ln/>
        </p:spPr>
        <p:txBody>
          <a:bodyPr wrap="square" lIns="0" tIns="0" rIns="0" bIns="0" rtlCol="0" anchor="t"/>
          <a:lstStyle/>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Highest(</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a.Length; i++)</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25</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(a[i] &gt; max)</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27</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 = i;</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28</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29</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max;</a:t>
            </a:r>
            <a:endParaRPr lang="en-US" sz="1200" dirty="0"/>
          </a:p>
          <a:p>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p:txBody>
      </p:sp>
      <p:sp>
        <p:nvSpPr>
          <p:cNvPr id="13" name="Shape 10"/>
          <p:cNvSpPr/>
          <p:nvPr/>
        </p:nvSpPr>
        <p:spPr>
          <a:xfrm>
            <a:off x="7086600" y="4800600"/>
            <a:ext cx="4572000" cy="1280160"/>
          </a:xfrm>
          <a:prstGeom prst="roundRect">
            <a:avLst>
              <a:gd name="adj" fmla="val 8571"/>
            </a:avLst>
          </a:prstGeom>
          <a:solidFill>
            <a:srgbClr val="FBE9E7"/>
          </a:solidFill>
          <a:ln w="12700">
            <a:solidFill>
              <a:srgbClr val="FBE9E7"/>
            </a:solidFill>
            <a:prstDash val="solid"/>
          </a:ln>
        </p:spPr>
      </p:sp>
      <p:sp>
        <p:nvSpPr>
          <p:cNvPr id="14" name="Shape 11"/>
          <p:cNvSpPr/>
          <p:nvPr/>
        </p:nvSpPr>
        <p:spPr>
          <a:xfrm>
            <a:off x="7315200" y="5029200"/>
            <a:ext cx="566928" cy="566928"/>
          </a:xfrm>
          <a:prstGeom prst="ellipse">
            <a:avLst/>
          </a:prstGeom>
          <a:solidFill>
            <a:srgbClr val="C8453B"/>
          </a:solidFill>
          <a:ln w="12700">
            <a:solidFill>
              <a:srgbClr val="C8453B"/>
            </a:solidFill>
            <a:prstDash val="solid"/>
          </a:ln>
        </p:spPr>
      </p:sp>
      <p:pic>
        <p:nvPicPr>
          <p:cNvPr id="15" name="Image 0" descr="preencoded.png">    </p:cNvPr>
          <p:cNvPicPr>
            <a:picLocks noChangeAspect="1"/>
          </p:cNvPicPr>
          <p:nvPr/>
        </p:nvPicPr>
        <p:blipFill>
          <a:blip r:embed="rId1"/>
          <a:stretch>
            <a:fillRect/>
          </a:stretch>
        </p:blipFill>
        <p:spPr>
          <a:xfrm>
            <a:off x="7462601" y="5176601"/>
            <a:ext cx="272125" cy="272125"/>
          </a:xfrm>
          <a:prstGeom prst="rect">
            <a:avLst/>
          </a:prstGeom>
        </p:spPr>
      </p:pic>
      <p:sp>
        <p:nvSpPr>
          <p:cNvPr id="16" name="Text 12"/>
          <p:cNvSpPr txBox="1"/>
          <p:nvPr/>
        </p:nvSpPr>
        <p:spPr>
          <a:xfrm>
            <a:off x="8001000" y="5029200"/>
            <a:ext cx="3474720"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4 wrong lines</a:t>
            </a:r>
            <a:endParaRPr lang="en-US" sz="1700" dirty="0"/>
          </a:p>
        </p:txBody>
      </p:sp>
      <p:sp>
        <p:nvSpPr>
          <p:cNvPr id="17" name="Text 13"/>
          <p:cNvSpPr txBox="1"/>
          <p:nvPr/>
        </p:nvSpPr>
        <p:spPr>
          <a:xfrm>
            <a:off x="7315200" y="5715000"/>
            <a:ext cx="4114800" cy="22860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Test with -3, -7, -2, -1, -4.</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Find the Bugs: Answer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35</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7589520" cy="914400"/>
        </p:xfrm>
        <a:graphic>
          <a:graphicData uri="http://schemas.openxmlformats.org/drawingml/2006/table">
            <a:tbl>
              <a:tblPr/>
              <a:tblGrid>
                <a:gridCol w="640080"/>
                <a:gridCol w="3017520"/>
                <a:gridCol w="3931920"/>
              </a:tblGrid>
              <a:tr h="56692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Line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Bug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56692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 = 1 … Length: skips a[0], a[5] crashes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(int i = 0; i &lt; temps.Length;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sum / a.Length is integer division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return (double)sum / a.Length;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56692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max = 0 is wrong for all-negative data</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max = a[0];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566928">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stores the index, not the value</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max = a[i];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
        <p:nvSpPr>
          <p:cNvPr id="10" name="Shape 6"/>
          <p:cNvSpPr/>
          <p:nvPr/>
        </p:nvSpPr>
        <p:spPr>
          <a:xfrm>
            <a:off x="8366760" y="1645920"/>
            <a:ext cx="3291840" cy="1965960"/>
          </a:xfrm>
          <a:prstGeom prst="roundRect">
            <a:avLst>
              <a:gd name="adj" fmla="val 4651"/>
            </a:avLst>
          </a:prstGeom>
          <a:solidFill>
            <a:srgbClr val="0B0F19"/>
          </a:solidFill>
          <a:ln w="12700">
            <a:solidFill>
              <a:srgbClr val="2A3654"/>
            </a:solidFill>
            <a:prstDash val="solid"/>
          </a:ln>
        </p:spPr>
      </p:sp>
      <p:sp>
        <p:nvSpPr>
          <p:cNvPr id="11" name="Shape 7"/>
          <p:cNvSpPr/>
          <p:nvPr/>
        </p:nvSpPr>
        <p:spPr>
          <a:xfrm>
            <a:off x="8549640" y="1773936"/>
            <a:ext cx="118872" cy="118872"/>
          </a:xfrm>
          <a:prstGeom prst="ellipse">
            <a:avLst/>
          </a:prstGeom>
          <a:solidFill>
            <a:srgbClr val="FF5F57"/>
          </a:solidFill>
          <a:ln w="12700">
            <a:solidFill>
              <a:srgbClr val="FF5F57"/>
            </a:solidFill>
            <a:prstDash val="solid"/>
          </a:ln>
        </p:spPr>
      </p:sp>
      <p:sp>
        <p:nvSpPr>
          <p:cNvPr id="12" name="Shape 8"/>
          <p:cNvSpPr/>
          <p:nvPr/>
        </p:nvSpPr>
        <p:spPr>
          <a:xfrm>
            <a:off x="8778240" y="1773936"/>
            <a:ext cx="118872" cy="118872"/>
          </a:xfrm>
          <a:prstGeom prst="ellipse">
            <a:avLst/>
          </a:prstGeom>
          <a:solidFill>
            <a:srgbClr val="FEBC2E"/>
          </a:solidFill>
          <a:ln w="12700">
            <a:solidFill>
              <a:srgbClr val="FEBC2E"/>
            </a:solidFill>
            <a:prstDash val="solid"/>
          </a:ln>
        </p:spPr>
      </p:sp>
      <p:sp>
        <p:nvSpPr>
          <p:cNvPr id="13" name="Shape 9"/>
          <p:cNvSpPr/>
          <p:nvPr/>
        </p:nvSpPr>
        <p:spPr>
          <a:xfrm>
            <a:off x="9006840" y="1773936"/>
            <a:ext cx="118872" cy="118872"/>
          </a:xfrm>
          <a:prstGeom prst="ellipse">
            <a:avLst/>
          </a:prstGeom>
          <a:solidFill>
            <a:srgbClr val="28C840"/>
          </a:solidFill>
          <a:ln w="12700">
            <a:solidFill>
              <a:srgbClr val="28C840"/>
            </a:solidFill>
            <a:prstDash val="solid"/>
          </a:ln>
        </p:spPr>
      </p:sp>
      <p:sp>
        <p:nvSpPr>
          <p:cNvPr id="14" name="Text 10"/>
          <p:cNvSpPr txBox="1"/>
          <p:nvPr/>
        </p:nvSpPr>
        <p:spPr>
          <a:xfrm>
            <a:off x="9281160" y="171907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Buggy version, real run</a:t>
            </a:r>
            <a:endParaRPr lang="en-US" sz="1000" dirty="0"/>
          </a:p>
        </p:txBody>
      </p:sp>
      <p:sp>
        <p:nvSpPr>
          <p:cNvPr id="15" name="Text 11"/>
          <p:cNvSpPr txBox="1"/>
          <p:nvPr/>
        </p:nvSpPr>
        <p:spPr>
          <a:xfrm>
            <a:off x="8595360" y="2029968"/>
            <a:ext cx="2834640" cy="146304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Day 5: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Unhandled exception.</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System.IndexOutOf</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RangeException</a:t>
            </a:r>
            <a:endParaRPr lang="en-US" sz="1300" dirty="0"/>
          </a:p>
        </p:txBody>
      </p:sp>
      <p:sp>
        <p:nvSpPr>
          <p:cNvPr id="16" name="Shape 12"/>
          <p:cNvSpPr/>
          <p:nvPr/>
        </p:nvSpPr>
        <p:spPr>
          <a:xfrm>
            <a:off x="8366760" y="3749040"/>
            <a:ext cx="3291840" cy="1417320"/>
          </a:xfrm>
          <a:prstGeom prst="roundRect">
            <a:avLst>
              <a:gd name="adj" fmla="val 6452"/>
            </a:avLst>
          </a:prstGeom>
          <a:solidFill>
            <a:srgbClr val="0B0F19"/>
          </a:solidFill>
          <a:ln w="12700">
            <a:solidFill>
              <a:srgbClr val="2A3654"/>
            </a:solidFill>
            <a:prstDash val="solid"/>
          </a:ln>
        </p:spPr>
      </p:sp>
      <p:sp>
        <p:nvSpPr>
          <p:cNvPr id="17" name="Shape 13"/>
          <p:cNvSpPr/>
          <p:nvPr/>
        </p:nvSpPr>
        <p:spPr>
          <a:xfrm>
            <a:off x="8549640" y="3877056"/>
            <a:ext cx="118872" cy="118872"/>
          </a:xfrm>
          <a:prstGeom prst="ellipse">
            <a:avLst/>
          </a:prstGeom>
          <a:solidFill>
            <a:srgbClr val="FF5F57"/>
          </a:solidFill>
          <a:ln w="12700">
            <a:solidFill>
              <a:srgbClr val="FF5F57"/>
            </a:solidFill>
            <a:prstDash val="solid"/>
          </a:ln>
        </p:spPr>
      </p:sp>
      <p:sp>
        <p:nvSpPr>
          <p:cNvPr id="18" name="Shape 14"/>
          <p:cNvSpPr/>
          <p:nvPr/>
        </p:nvSpPr>
        <p:spPr>
          <a:xfrm>
            <a:off x="8778240" y="3877056"/>
            <a:ext cx="118872" cy="118872"/>
          </a:xfrm>
          <a:prstGeom prst="ellipse">
            <a:avLst/>
          </a:prstGeom>
          <a:solidFill>
            <a:srgbClr val="FEBC2E"/>
          </a:solidFill>
          <a:ln w="12700">
            <a:solidFill>
              <a:srgbClr val="FEBC2E"/>
            </a:solidFill>
            <a:prstDash val="solid"/>
          </a:ln>
        </p:spPr>
      </p:sp>
      <p:sp>
        <p:nvSpPr>
          <p:cNvPr id="19" name="Shape 15"/>
          <p:cNvSpPr/>
          <p:nvPr/>
        </p:nvSpPr>
        <p:spPr>
          <a:xfrm>
            <a:off x="9006840" y="3877056"/>
            <a:ext cx="118872" cy="118872"/>
          </a:xfrm>
          <a:prstGeom prst="ellipse">
            <a:avLst/>
          </a:prstGeom>
          <a:solidFill>
            <a:srgbClr val="28C840"/>
          </a:solidFill>
          <a:ln w="12700">
            <a:solidFill>
              <a:srgbClr val="28C840"/>
            </a:solidFill>
            <a:prstDash val="solid"/>
          </a:ln>
        </p:spPr>
      </p:sp>
      <p:sp>
        <p:nvSpPr>
          <p:cNvPr id="20" name="Text 16"/>
          <p:cNvSpPr txBox="1"/>
          <p:nvPr/>
        </p:nvSpPr>
        <p:spPr>
          <a:xfrm>
            <a:off x="9281160" y="3822192"/>
            <a:ext cx="219456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15_02_TempStatsFixed</a:t>
            </a:r>
            <a:endParaRPr lang="en-US" sz="1000" dirty="0"/>
          </a:p>
        </p:txBody>
      </p:sp>
      <p:sp>
        <p:nvSpPr>
          <p:cNvPr id="21" name="Text 17"/>
          <p:cNvSpPr txBox="1"/>
          <p:nvPr/>
        </p:nvSpPr>
        <p:spPr>
          <a:xfrm>
            <a:off x="8595360" y="4133088"/>
            <a:ext cx="2834640" cy="914400"/>
          </a:xfrm>
          <a:prstGeom prst="rect">
            <a:avLst/>
          </a:prstGeom>
          <a:noFill/>
          <a:ln/>
        </p:spPr>
        <p:txBody>
          <a:bodyPr wrap="square" lIns="0" tIns="0" rIns="0" bIns="0" rtlCol="0" anchor="t"/>
          <a:lstStyle/>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Average: -3.40</a:t>
            </a:r>
            <a:endParaRPr lang="en-US" sz="1500" dirty="0"/>
          </a:p>
          <a:p>
            <a:pPr indent="0" marL="0">
              <a:spcAft>
                <a:spcPts val="100"/>
              </a:spcAft>
              <a:buNone/>
            </a:pPr>
            <a:r>
              <a:rPr lang="en-US" sz="1500" dirty="0">
                <a:solidFill>
                  <a:srgbClr val="7EE2A8"/>
                </a:solidFill>
                <a:latin typeface="Courier New" pitchFamily="34" charset="0"/>
                <a:ea typeface="Courier New" pitchFamily="34" charset="-122"/>
                <a:cs typeface="Courier New" pitchFamily="34" charset="-120"/>
              </a:rPr>
              <a:t>Highest: -1</a:t>
            </a:r>
            <a:endParaRPr lang="en-US" sz="1500" dirty="0"/>
          </a:p>
        </p:txBody>
      </p:sp>
      <p:sp>
        <p:nvSpPr>
          <p:cNvPr id="22" name="Shape 18"/>
          <p:cNvSpPr/>
          <p:nvPr/>
        </p:nvSpPr>
        <p:spPr>
          <a:xfrm>
            <a:off x="548640" y="4572000"/>
            <a:ext cx="7589520" cy="1508760"/>
          </a:xfrm>
          <a:prstGeom prst="roundRect">
            <a:avLst>
              <a:gd name="adj" fmla="val 7273"/>
            </a:avLst>
          </a:prstGeom>
          <a:solidFill>
            <a:srgbClr val="E6F4EC"/>
          </a:solidFill>
          <a:ln w="12700">
            <a:solidFill>
              <a:srgbClr val="E6F4EC"/>
            </a:solidFill>
            <a:prstDash val="solid"/>
          </a:ln>
        </p:spPr>
      </p:sp>
      <p:pic>
        <p:nvPicPr>
          <p:cNvPr id="23" name="Image 0" descr="preencoded.png">    </p:cNvPr>
          <p:cNvPicPr>
            <a:picLocks noChangeAspect="1"/>
          </p:cNvPicPr>
          <p:nvPr/>
        </p:nvPicPr>
        <p:blipFill>
          <a:blip r:embed="rId1"/>
          <a:stretch>
            <a:fillRect/>
          </a:stretch>
        </p:blipFill>
        <p:spPr>
          <a:xfrm>
            <a:off x="822960" y="5052060"/>
            <a:ext cx="548640" cy="548640"/>
          </a:xfrm>
          <a:prstGeom prst="rect">
            <a:avLst/>
          </a:prstGeom>
        </p:spPr>
      </p:pic>
      <p:sp>
        <p:nvSpPr>
          <p:cNvPr id="24" name="Text 19"/>
          <p:cNvSpPr txBox="1"/>
          <p:nvPr/>
        </p:nvSpPr>
        <p:spPr>
          <a:xfrm>
            <a:off x="1645920" y="4645152"/>
            <a:ext cx="6217920" cy="13624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Test with negative data: </a:t>
            </a:r>
            <a:pPr indent="0" marL="0">
              <a:buNone/>
            </a:pPr>
            <a:r>
              <a:rPr lang="en-US" sz="1400" dirty="0">
                <a:solidFill>
                  <a:srgbClr val="333B4F"/>
                </a:solidFill>
                <a:latin typeface="Calibri" pitchFamily="34" charset="0"/>
                <a:ea typeface="Calibri" pitchFamily="34" charset="-122"/>
                <a:cs typeface="Calibri" pitchFamily="34" charset="-120"/>
              </a:rPr>
              <a:t>only then do "max = 0" and the integer division show. Prompt in the fix: Day {i + 1}.</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Q13 · WRITE METHODS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 the Methods: Weekly Step Counter</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36</a:t>
            </a:r>
            <a:endParaRPr lang="en-US" sz="1000" dirty="0"/>
          </a:p>
        </p:txBody>
      </p:sp>
      <p:sp>
        <p:nvSpPr>
          <p:cNvPr id="7" name="Shape 4"/>
          <p:cNvSpPr/>
          <p:nvPr/>
        </p:nvSpPr>
        <p:spPr>
          <a:xfrm>
            <a:off x="9372600" y="301752"/>
            <a:ext cx="2286000" cy="347472"/>
          </a:xfrm>
          <a:prstGeom prst="roundRect">
            <a:avLst>
              <a:gd name="adj" fmla="val 50000"/>
            </a:avLst>
          </a:prstGeom>
          <a:solidFill>
            <a:srgbClr val="B7791F"/>
          </a:solidFill>
          <a:ln w="12700">
            <a:solidFill>
              <a:srgbClr val="B7791F"/>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WRITE CODE · 8 min</a:t>
            </a:r>
            <a:endParaRPr lang="en-US" sz="1200" dirty="0"/>
          </a:p>
        </p:txBody>
      </p:sp>
      <p:sp>
        <p:nvSpPr>
          <p:cNvPr id="9" name="Shape 6"/>
          <p:cNvSpPr/>
          <p:nvPr/>
        </p:nvSpPr>
        <p:spPr>
          <a:xfrm>
            <a:off x="548640" y="1645920"/>
            <a:ext cx="6675120" cy="2514600"/>
          </a:xfrm>
          <a:prstGeom prst="roundRect">
            <a:avLst>
              <a:gd name="adj" fmla="val 3636"/>
            </a:avLst>
          </a:prstGeom>
          <a:solidFill>
            <a:srgbClr val="0F1729"/>
          </a:solidFill>
          <a:ln w="12700">
            <a:solidFill>
              <a:srgbClr val="0F1729"/>
            </a:solidFill>
            <a:prstDash val="solid"/>
          </a:ln>
        </p:spPr>
      </p:sp>
      <p:sp>
        <p:nvSpPr>
          <p:cNvPr id="10" name="Text 7"/>
          <p:cNvSpPr txBox="1"/>
          <p:nvPr/>
        </p:nvSpPr>
        <p:spPr>
          <a:xfrm>
            <a:off x="777240" y="1755648"/>
            <a:ext cx="6217920" cy="274320"/>
          </a:xfrm>
          <a:prstGeom prst="rect">
            <a:avLst/>
          </a:prstGeom>
          <a:noFill/>
          <a:ln/>
        </p:spPr>
        <p:txBody>
          <a:bodyPr wrap="square" lIns="0" tIns="0" rIns="0" bIns="0" rtlCol="0" anchor="ctr"/>
          <a:lstStyle/>
          <a:p>
            <a:pPr indent="0" marL="0">
              <a:buNone/>
            </a:pPr>
            <a:r>
              <a:rPr lang="en-US" sz="1100" b="1" dirty="0">
                <a:solidFill>
                  <a:srgbClr val="FCA311"/>
                </a:solidFill>
                <a:latin typeface="Courier New" pitchFamily="34" charset="0"/>
                <a:ea typeface="Courier New" pitchFamily="34" charset="-122"/>
                <a:cs typeface="Courier New" pitchFamily="34" charset="-120"/>
              </a:rPr>
              <a:t>Given: top-level statements</a:t>
            </a:r>
            <a:endParaRPr lang="en-US" sz="1100" dirty="0"/>
          </a:p>
        </p:txBody>
      </p:sp>
      <p:sp>
        <p:nvSpPr>
          <p:cNvPr id="11" name="Text 8"/>
          <p:cNvSpPr txBox="1"/>
          <p:nvPr/>
        </p:nvSpPr>
        <p:spPr>
          <a:xfrm>
            <a:off x="777240" y="2057400"/>
            <a:ext cx="6217920" cy="1993392"/>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days =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"Mon"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"Wed"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"Thu"</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"Fri"</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"Sun"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steps = ReadSteps(days);</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 = Average(steps);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 = IndexOfMax(steps);</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above = CountAbove(steps, average);</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{average:F1} steps"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$"Best day: {days[best]} ({steps[best]} steps)"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$"Days above average: {above}"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2" name="Shape 9"/>
          <p:cNvSpPr/>
          <p:nvPr/>
        </p:nvSpPr>
        <p:spPr>
          <a:xfrm>
            <a:off x="548640" y="4297680"/>
            <a:ext cx="6675120" cy="1783080"/>
          </a:xfrm>
          <a:prstGeom prst="roundRect">
            <a:avLst>
              <a:gd name="adj" fmla="val 6154"/>
            </a:avLst>
          </a:prstGeom>
          <a:solidFill>
            <a:srgbClr val="EEF1F6"/>
          </a:solidFill>
          <a:ln w="12700">
            <a:solidFill>
              <a:srgbClr val="EEF1F6"/>
            </a:solidFill>
            <a:prstDash val="solid"/>
          </a:ln>
        </p:spPr>
      </p:sp>
      <p:sp>
        <p:nvSpPr>
          <p:cNvPr id="13" name="Text 10"/>
          <p:cNvSpPr txBox="1"/>
          <p:nvPr/>
        </p:nvSpPr>
        <p:spPr>
          <a:xfrm>
            <a:off x="777240" y="4389120"/>
            <a:ext cx="5943600" cy="365760"/>
          </a:xfrm>
          <a:prstGeom prst="rect">
            <a:avLst/>
          </a:prstGeom>
          <a:noFill/>
          <a:ln/>
        </p:spPr>
        <p:txBody>
          <a:bodyPr wrap="square" lIns="0" tIns="0" rIns="0" bIns="0" rtlCol="0" anchor="ctr"/>
          <a:lstStyle/>
          <a:p>
            <a:pPr indent="0" marL="0">
              <a:buNone/>
            </a:pPr>
            <a:r>
              <a:rPr lang="en-US" sz="1600" b="1" dirty="0">
                <a:solidFill>
                  <a:srgbClr val="14213D"/>
                </a:solidFill>
                <a:latin typeface="Cambria" pitchFamily="34" charset="0"/>
                <a:ea typeface="Cambria" pitchFamily="34" charset="-122"/>
                <a:cs typeface="Cambria" pitchFamily="34" charset="-120"/>
              </a:rPr>
              <a:t>Write these three methods</a:t>
            </a:r>
            <a:endParaRPr lang="en-US" sz="1600" dirty="0"/>
          </a:p>
        </p:txBody>
      </p:sp>
      <p:sp>
        <p:nvSpPr>
          <p:cNvPr id="14" name="Shape 11"/>
          <p:cNvSpPr/>
          <p:nvPr/>
        </p:nvSpPr>
        <p:spPr>
          <a:xfrm>
            <a:off x="777240" y="4777740"/>
            <a:ext cx="365760" cy="365760"/>
          </a:xfrm>
          <a:prstGeom prst="ellipse">
            <a:avLst/>
          </a:prstGeom>
          <a:solidFill>
            <a:srgbClr val="14213D"/>
          </a:solidFill>
          <a:ln w="12700">
            <a:solidFill>
              <a:srgbClr val="14213D"/>
            </a:solidFill>
            <a:prstDash val="solid"/>
          </a:ln>
        </p:spPr>
      </p:sp>
      <p:sp>
        <p:nvSpPr>
          <p:cNvPr id="15" name="Text 12"/>
          <p:cNvSpPr txBox="1"/>
          <p:nvPr/>
        </p:nvSpPr>
        <p:spPr>
          <a:xfrm>
            <a:off x="777240" y="47777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txBox="1"/>
          <p:nvPr/>
        </p:nvSpPr>
        <p:spPr>
          <a:xfrm>
            <a:off x="1280160" y="4754880"/>
            <a:ext cx="553212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Average(steps): the mean as a double</a:t>
            </a:r>
            <a:endParaRPr lang="en-US" sz="1400" dirty="0"/>
          </a:p>
        </p:txBody>
      </p:sp>
      <p:sp>
        <p:nvSpPr>
          <p:cNvPr id="17" name="Shape 14"/>
          <p:cNvSpPr/>
          <p:nvPr/>
        </p:nvSpPr>
        <p:spPr>
          <a:xfrm>
            <a:off x="777240" y="5189220"/>
            <a:ext cx="365760" cy="365760"/>
          </a:xfrm>
          <a:prstGeom prst="ellipse">
            <a:avLst/>
          </a:prstGeom>
          <a:solidFill>
            <a:srgbClr val="14213D"/>
          </a:solidFill>
          <a:ln w="12700">
            <a:solidFill>
              <a:srgbClr val="14213D"/>
            </a:solidFill>
            <a:prstDash val="solid"/>
          </a:ln>
        </p:spPr>
      </p:sp>
      <p:sp>
        <p:nvSpPr>
          <p:cNvPr id="18" name="Text 15"/>
          <p:cNvSpPr txBox="1"/>
          <p:nvPr/>
        </p:nvSpPr>
        <p:spPr>
          <a:xfrm>
            <a:off x="777240" y="51892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6"/>
          <p:cNvSpPr txBox="1"/>
          <p:nvPr/>
        </p:nvSpPr>
        <p:spPr>
          <a:xfrm>
            <a:off x="1280160" y="5166360"/>
            <a:ext cx="553212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IndexOfMax(steps): index of the first largest value</a:t>
            </a:r>
            <a:endParaRPr lang="en-US" sz="1400" dirty="0"/>
          </a:p>
        </p:txBody>
      </p:sp>
      <p:sp>
        <p:nvSpPr>
          <p:cNvPr id="20" name="Shape 17"/>
          <p:cNvSpPr/>
          <p:nvPr/>
        </p:nvSpPr>
        <p:spPr>
          <a:xfrm>
            <a:off x="777240" y="5600700"/>
            <a:ext cx="365760" cy="365760"/>
          </a:xfrm>
          <a:prstGeom prst="ellipse">
            <a:avLst/>
          </a:prstGeom>
          <a:solidFill>
            <a:srgbClr val="14213D"/>
          </a:solidFill>
          <a:ln w="12700">
            <a:solidFill>
              <a:srgbClr val="14213D"/>
            </a:solidFill>
            <a:prstDash val="solid"/>
          </a:ln>
        </p:spPr>
      </p:sp>
      <p:sp>
        <p:nvSpPr>
          <p:cNvPr id="21" name="Text 18"/>
          <p:cNvSpPr txBox="1"/>
          <p:nvPr/>
        </p:nvSpPr>
        <p:spPr>
          <a:xfrm>
            <a:off x="777240" y="56007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280160" y="5577840"/>
            <a:ext cx="5532120" cy="41148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CountAbove(steps, limit): how many are &gt; limit</a:t>
            </a:r>
            <a:endParaRPr lang="en-US" sz="1400" dirty="0"/>
          </a:p>
        </p:txBody>
      </p:sp>
      <p:sp>
        <p:nvSpPr>
          <p:cNvPr id="23" name="Shape 20"/>
          <p:cNvSpPr/>
          <p:nvPr/>
        </p:nvSpPr>
        <p:spPr>
          <a:xfrm>
            <a:off x="7406640" y="1645920"/>
            <a:ext cx="4251960" cy="4434840"/>
          </a:xfrm>
          <a:prstGeom prst="roundRect">
            <a:avLst>
              <a:gd name="adj" fmla="val 2151"/>
            </a:avLst>
          </a:prstGeom>
          <a:solidFill>
            <a:srgbClr val="0B0F19"/>
          </a:solidFill>
          <a:ln w="12700">
            <a:solidFill>
              <a:srgbClr val="2A3654"/>
            </a:solidFill>
            <a:prstDash val="solid"/>
          </a:ln>
        </p:spPr>
      </p:sp>
      <p:sp>
        <p:nvSpPr>
          <p:cNvPr id="24" name="Shape 21"/>
          <p:cNvSpPr/>
          <p:nvPr/>
        </p:nvSpPr>
        <p:spPr>
          <a:xfrm>
            <a:off x="7589520" y="1773936"/>
            <a:ext cx="118872" cy="118872"/>
          </a:xfrm>
          <a:prstGeom prst="ellipse">
            <a:avLst/>
          </a:prstGeom>
          <a:solidFill>
            <a:srgbClr val="FF5F57"/>
          </a:solidFill>
          <a:ln w="12700">
            <a:solidFill>
              <a:srgbClr val="FF5F57"/>
            </a:solidFill>
            <a:prstDash val="solid"/>
          </a:ln>
        </p:spPr>
      </p:sp>
      <p:sp>
        <p:nvSpPr>
          <p:cNvPr id="25" name="Shape 22"/>
          <p:cNvSpPr/>
          <p:nvPr/>
        </p:nvSpPr>
        <p:spPr>
          <a:xfrm>
            <a:off x="7818120" y="1773936"/>
            <a:ext cx="118872" cy="118872"/>
          </a:xfrm>
          <a:prstGeom prst="ellipse">
            <a:avLst/>
          </a:prstGeom>
          <a:solidFill>
            <a:srgbClr val="FEBC2E"/>
          </a:solidFill>
          <a:ln w="12700">
            <a:solidFill>
              <a:srgbClr val="FEBC2E"/>
            </a:solidFill>
            <a:prstDash val="solid"/>
          </a:ln>
        </p:spPr>
      </p:sp>
      <p:sp>
        <p:nvSpPr>
          <p:cNvPr id="26" name="Shape 23"/>
          <p:cNvSpPr/>
          <p:nvPr/>
        </p:nvSpPr>
        <p:spPr>
          <a:xfrm>
            <a:off x="8046720" y="1773936"/>
            <a:ext cx="118872" cy="118872"/>
          </a:xfrm>
          <a:prstGeom prst="ellipse">
            <a:avLst/>
          </a:prstGeom>
          <a:solidFill>
            <a:srgbClr val="28C840"/>
          </a:solidFill>
          <a:ln w="12700">
            <a:solidFill>
              <a:srgbClr val="28C840"/>
            </a:solidFill>
            <a:prstDash val="solid"/>
          </a:ln>
        </p:spPr>
      </p:sp>
      <p:sp>
        <p:nvSpPr>
          <p:cNvPr id="27" name="Text 24"/>
          <p:cNvSpPr txBox="1"/>
          <p:nvPr/>
        </p:nvSpPr>
        <p:spPr>
          <a:xfrm>
            <a:off x="8321040" y="1719072"/>
            <a:ext cx="31546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Required sample run</a:t>
            </a:r>
            <a:endParaRPr lang="en-US" sz="1000" dirty="0"/>
          </a:p>
        </p:txBody>
      </p:sp>
      <p:sp>
        <p:nvSpPr>
          <p:cNvPr id="28" name="Text 25"/>
          <p:cNvSpPr txBox="1"/>
          <p:nvPr/>
        </p:nvSpPr>
        <p:spPr>
          <a:xfrm>
            <a:off x="7635240" y="2029968"/>
            <a:ext cx="3794760" cy="39319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Mon: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6500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Tue: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8200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Wed: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abc</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Please enter a whole</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  number &gt;= 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Wed: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7400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Thu: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12050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Fri: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9900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Sat: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3100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Sun: </a:t>
            </a:r>
            <a:pPr indent="0" marL="0">
              <a:spcAft>
                <a:spcPts val="100"/>
              </a:spcAft>
              <a:buNone/>
            </a:pPr>
            <a:r>
              <a:rPr lang="en-US" sz="1300" b="1" dirty="0">
                <a:solidFill>
                  <a:srgbClr val="FCA311"/>
                </a:solidFill>
                <a:latin typeface="Courier New" pitchFamily="34" charset="0"/>
                <a:ea typeface="Courier New" pitchFamily="34" charset="-122"/>
                <a:cs typeface="Courier New" pitchFamily="34" charset="-120"/>
              </a:rPr>
              <a:t>10400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Average: 8221.4 steps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Best day: Thu (12050 steps)</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Days above average: 3</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Q13</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Weekly Step Counter: the Three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37</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562356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5166360" cy="416052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Average(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x;</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)sum / a.Length;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IndexOfMax(</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i &lt; a.Length;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(a[i] &gt; a[best])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 = i;</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best;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6400800" y="1645920"/>
            <a:ext cx="5257800" cy="2788920"/>
          </a:xfrm>
          <a:prstGeom prst="roundRect">
            <a:avLst>
              <a:gd name="adj" fmla="val 3279"/>
            </a:avLst>
          </a:prstGeom>
          <a:solidFill>
            <a:srgbClr val="0F1729"/>
          </a:solidFill>
          <a:ln w="12700">
            <a:solidFill>
              <a:srgbClr val="0F1729"/>
            </a:solidFill>
            <a:prstDash val="solid"/>
          </a:ln>
        </p:spPr>
      </p:sp>
      <p:sp>
        <p:nvSpPr>
          <p:cNvPr id="12" name="Text 9"/>
          <p:cNvSpPr txBox="1"/>
          <p:nvPr/>
        </p:nvSpPr>
        <p:spPr>
          <a:xfrm>
            <a:off x="6629400" y="1810512"/>
            <a:ext cx="4800600" cy="251460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CountAbove(</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limit)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foreach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(x &gt; limit)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6400800" y="4572000"/>
            <a:ext cx="5257800" cy="1508760"/>
          </a:xfrm>
          <a:prstGeom prst="roundRect">
            <a:avLst>
              <a:gd name="adj" fmla="val 7273"/>
            </a:avLst>
          </a:prstGeom>
          <a:solidFill>
            <a:srgbClr val="E6F4EC"/>
          </a:solidFill>
          <a:ln w="12700">
            <a:solidFill>
              <a:srgbClr val="E6F4EC"/>
            </a:solidFill>
            <a:prstDash val="solid"/>
          </a:ln>
        </p:spPr>
      </p:sp>
      <p:pic>
        <p:nvPicPr>
          <p:cNvPr id="14" name="Image 0" descr="preencoded.png">    </p:cNvPr>
          <p:cNvPicPr>
            <a:picLocks noChangeAspect="1"/>
          </p:cNvPicPr>
          <p:nvPr/>
        </p:nvPicPr>
        <p:blipFill>
          <a:blip r:embed="rId1"/>
          <a:stretch>
            <a:fillRect/>
          </a:stretch>
        </p:blipFill>
        <p:spPr>
          <a:xfrm>
            <a:off x="6675120" y="5052060"/>
            <a:ext cx="548640" cy="548640"/>
          </a:xfrm>
          <a:prstGeom prst="rect">
            <a:avLst/>
          </a:prstGeom>
        </p:spPr>
      </p:pic>
      <p:sp>
        <p:nvSpPr>
          <p:cNvPr id="15" name="Text 11"/>
          <p:cNvSpPr txBox="1"/>
          <p:nvPr/>
        </p:nvSpPr>
        <p:spPr>
          <a:xfrm>
            <a:off x="7498080" y="4645152"/>
            <a:ext cx="3886200" cy="136245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Mon … Sun = 57 550 steps, </a:t>
            </a:r>
            <a:pPr indent="0" marL="0">
              <a:buNone/>
            </a:pPr>
            <a:r>
              <a:rPr lang="en-US" sz="1400" dirty="0">
                <a:solidFill>
                  <a:srgbClr val="333B4F"/>
                </a:solidFill>
                <a:latin typeface="Calibri" pitchFamily="34" charset="0"/>
                <a:ea typeface="Calibri" pitchFamily="34" charset="-122"/>
                <a:cs typeface="Calibri" pitchFamily="34" charset="-120"/>
              </a:rPr>
              <a:t>average 8221.4; above it: Thu, Fri, Sun → 3.</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PRACTICE · Q14 · FILES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Write the Program: CSV Grades to a Report File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38</a:t>
            </a:r>
            <a:endParaRPr lang="en-US" sz="1000" dirty="0"/>
          </a:p>
        </p:txBody>
      </p:sp>
      <p:sp>
        <p:nvSpPr>
          <p:cNvPr id="7" name="Shape 4"/>
          <p:cNvSpPr/>
          <p:nvPr/>
        </p:nvSpPr>
        <p:spPr>
          <a:xfrm>
            <a:off x="9372600" y="301752"/>
            <a:ext cx="2286000" cy="347472"/>
          </a:xfrm>
          <a:prstGeom prst="roundRect">
            <a:avLst>
              <a:gd name="adj" fmla="val 50000"/>
            </a:avLst>
          </a:prstGeom>
          <a:solidFill>
            <a:srgbClr val="B7791F"/>
          </a:solidFill>
          <a:ln w="12700">
            <a:solidFill>
              <a:srgbClr val="B7791F"/>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WRITE CODE · 10 min</a:t>
            </a:r>
            <a:endParaRPr lang="en-US" sz="1200" dirty="0"/>
          </a:p>
        </p:txBody>
      </p:sp>
      <p:sp>
        <p:nvSpPr>
          <p:cNvPr id="9" name="Shape 6"/>
          <p:cNvSpPr/>
          <p:nvPr/>
        </p:nvSpPr>
        <p:spPr>
          <a:xfrm>
            <a:off x="548640" y="1645920"/>
            <a:ext cx="6400800" cy="4434840"/>
          </a:xfrm>
          <a:prstGeom prst="roundRect">
            <a:avLst>
              <a:gd name="adj" fmla="val 2474"/>
            </a:avLst>
          </a:prstGeom>
          <a:solidFill>
            <a:srgbClr val="EEF1F6"/>
          </a:solidFill>
          <a:ln w="12700">
            <a:solidFill>
              <a:srgbClr val="EEF1F6"/>
            </a:solidFill>
            <a:prstDash val="solid"/>
          </a:ln>
        </p:spPr>
      </p:sp>
      <p:sp>
        <p:nvSpPr>
          <p:cNvPr id="10" name="Text 7"/>
          <p:cNvSpPr txBox="1"/>
          <p:nvPr/>
        </p:nvSpPr>
        <p:spPr>
          <a:xfrm>
            <a:off x="777240" y="1755648"/>
            <a:ext cx="5943600" cy="365760"/>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Specification</a:t>
            </a:r>
            <a:endParaRPr lang="en-US" sz="1700" dirty="0"/>
          </a:p>
        </p:txBody>
      </p:sp>
      <p:sp>
        <p:nvSpPr>
          <p:cNvPr id="11" name="Shape 8"/>
          <p:cNvSpPr/>
          <p:nvPr/>
        </p:nvSpPr>
        <p:spPr>
          <a:xfrm>
            <a:off x="777240" y="2377440"/>
            <a:ext cx="365760" cy="365760"/>
          </a:xfrm>
          <a:prstGeom prst="ellipse">
            <a:avLst/>
          </a:prstGeom>
          <a:solidFill>
            <a:srgbClr val="14213D"/>
          </a:solidFill>
          <a:ln w="12700">
            <a:solidFill>
              <a:srgbClr val="14213D"/>
            </a:solidFill>
            <a:prstDash val="solid"/>
          </a:ln>
        </p:spPr>
      </p:sp>
      <p:sp>
        <p:nvSpPr>
          <p:cNvPr id="12" name="Text 9"/>
          <p:cNvSpPr txBox="1"/>
          <p:nvPr/>
        </p:nvSpPr>
        <p:spPr>
          <a:xfrm>
            <a:off x="777240" y="2377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0"/>
          <p:cNvSpPr txBox="1"/>
          <p:nvPr/>
        </p:nvSpPr>
        <p:spPr>
          <a:xfrm>
            <a:off x="1280160" y="2194560"/>
            <a:ext cx="54864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Call the given CreateSampleFile("grades.csv").</a:t>
            </a:r>
            <a:endParaRPr lang="en-US" sz="1400" dirty="0"/>
          </a:p>
        </p:txBody>
      </p:sp>
      <p:sp>
        <p:nvSpPr>
          <p:cNvPr id="14" name="Shape 11"/>
          <p:cNvSpPr/>
          <p:nvPr/>
        </p:nvSpPr>
        <p:spPr>
          <a:xfrm>
            <a:off x="777240" y="3145536"/>
            <a:ext cx="365760" cy="365760"/>
          </a:xfrm>
          <a:prstGeom prst="ellipse">
            <a:avLst/>
          </a:prstGeom>
          <a:solidFill>
            <a:srgbClr val="14213D"/>
          </a:solidFill>
          <a:ln w="12700">
            <a:solidFill>
              <a:srgbClr val="14213D"/>
            </a:solidFill>
            <a:prstDash val="solid"/>
          </a:ln>
        </p:spPr>
      </p:sp>
      <p:sp>
        <p:nvSpPr>
          <p:cNvPr id="15" name="Text 12"/>
          <p:cNvSpPr txBox="1"/>
          <p:nvPr/>
        </p:nvSpPr>
        <p:spPr>
          <a:xfrm>
            <a:off x="777240" y="3145536"/>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3"/>
          <p:cNvSpPr txBox="1"/>
          <p:nvPr/>
        </p:nvSpPr>
        <p:spPr>
          <a:xfrm>
            <a:off x="1280160" y="2962656"/>
            <a:ext cx="54864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Read grades.csv with a StreamReader in using; skip the header.</a:t>
            </a:r>
            <a:endParaRPr lang="en-US" sz="1400" dirty="0"/>
          </a:p>
        </p:txBody>
      </p:sp>
      <p:sp>
        <p:nvSpPr>
          <p:cNvPr id="17" name="Shape 14"/>
          <p:cNvSpPr/>
          <p:nvPr/>
        </p:nvSpPr>
        <p:spPr>
          <a:xfrm>
            <a:off x="777240" y="3913632"/>
            <a:ext cx="365760" cy="365760"/>
          </a:xfrm>
          <a:prstGeom prst="ellipse">
            <a:avLst/>
          </a:prstGeom>
          <a:solidFill>
            <a:srgbClr val="14213D"/>
          </a:solidFill>
          <a:ln w="12700">
            <a:solidFill>
              <a:srgbClr val="14213D"/>
            </a:solidFill>
            <a:prstDash val="solid"/>
          </a:ln>
        </p:spPr>
      </p:sp>
      <p:sp>
        <p:nvSpPr>
          <p:cNvPr id="18" name="Text 15"/>
          <p:cNvSpPr txBox="1"/>
          <p:nvPr/>
        </p:nvSpPr>
        <p:spPr>
          <a:xfrm>
            <a:off x="777240" y="3913632"/>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80160" y="3730752"/>
            <a:ext cx="54864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Split each line at commas. Not 3 fields, or not a number: print "Skipped (…): line".</a:t>
            </a:r>
            <a:endParaRPr lang="en-US" sz="1400" dirty="0"/>
          </a:p>
        </p:txBody>
      </p:sp>
      <p:sp>
        <p:nvSpPr>
          <p:cNvPr id="20" name="Shape 17"/>
          <p:cNvSpPr/>
          <p:nvPr/>
        </p:nvSpPr>
        <p:spPr>
          <a:xfrm>
            <a:off x="777240" y="4681728"/>
            <a:ext cx="365760" cy="365760"/>
          </a:xfrm>
          <a:prstGeom prst="ellipse">
            <a:avLst/>
          </a:prstGeom>
          <a:solidFill>
            <a:srgbClr val="14213D"/>
          </a:solidFill>
          <a:ln w="12700">
            <a:solidFill>
              <a:srgbClr val="14213D"/>
            </a:solidFill>
            <a:prstDash val="solid"/>
          </a:ln>
        </p:spPr>
      </p:sp>
      <p:sp>
        <p:nvSpPr>
          <p:cNvPr id="21" name="Text 18"/>
          <p:cNvSpPr txBox="1"/>
          <p:nvPr/>
        </p:nvSpPr>
        <p:spPr>
          <a:xfrm>
            <a:off x="777240" y="46817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1280160" y="4498848"/>
            <a:ext cx="54864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Total = 0.4 · midterm + 0.6 · final. Write name, total (F2) and PASS/FAIL (≥ 50) to report.txt.</a:t>
            </a:r>
            <a:endParaRPr lang="en-US" sz="1400" dirty="0"/>
          </a:p>
        </p:txBody>
      </p:sp>
      <p:sp>
        <p:nvSpPr>
          <p:cNvPr id="23" name="Shape 20"/>
          <p:cNvSpPr/>
          <p:nvPr/>
        </p:nvSpPr>
        <p:spPr>
          <a:xfrm>
            <a:off x="777240" y="5449824"/>
            <a:ext cx="365760" cy="365760"/>
          </a:xfrm>
          <a:prstGeom prst="ellipse">
            <a:avLst/>
          </a:prstGeom>
          <a:solidFill>
            <a:srgbClr val="C8453B"/>
          </a:solidFill>
          <a:ln w="12700">
            <a:solidFill>
              <a:srgbClr val="C8453B"/>
            </a:solidFill>
            <a:prstDash val="solid"/>
          </a:ln>
        </p:spPr>
      </p:sp>
      <p:sp>
        <p:nvSpPr>
          <p:cNvPr id="24" name="Text 21"/>
          <p:cNvSpPr txBox="1"/>
          <p:nvPr/>
        </p:nvSpPr>
        <p:spPr>
          <a:xfrm>
            <a:off x="777240" y="5449824"/>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 name="Text 22"/>
          <p:cNvSpPr txBox="1"/>
          <p:nvPr/>
        </p:nvSpPr>
        <p:spPr>
          <a:xfrm>
            <a:off x="1280160" y="5266944"/>
            <a:ext cx="5486400" cy="731520"/>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Print the count, the class average and report.txt. Catch FileNotFoundException.</a:t>
            </a:r>
            <a:endParaRPr lang="en-US" sz="1400" dirty="0"/>
          </a:p>
        </p:txBody>
      </p:sp>
      <p:sp>
        <p:nvSpPr>
          <p:cNvPr id="26" name="Shape 23"/>
          <p:cNvSpPr/>
          <p:nvPr/>
        </p:nvSpPr>
        <p:spPr>
          <a:xfrm>
            <a:off x="7178040" y="1645920"/>
            <a:ext cx="4480560" cy="2377440"/>
          </a:xfrm>
          <a:prstGeom prst="roundRect">
            <a:avLst>
              <a:gd name="adj" fmla="val 3846"/>
            </a:avLst>
          </a:prstGeom>
          <a:solidFill>
            <a:srgbClr val="0B0F19"/>
          </a:solidFill>
          <a:ln w="12700">
            <a:solidFill>
              <a:srgbClr val="2A3654"/>
            </a:solidFill>
            <a:prstDash val="solid"/>
          </a:ln>
        </p:spPr>
      </p:sp>
      <p:sp>
        <p:nvSpPr>
          <p:cNvPr id="27" name="Shape 24"/>
          <p:cNvSpPr/>
          <p:nvPr/>
        </p:nvSpPr>
        <p:spPr>
          <a:xfrm>
            <a:off x="7360920" y="1773936"/>
            <a:ext cx="118872" cy="118872"/>
          </a:xfrm>
          <a:prstGeom prst="ellipse">
            <a:avLst/>
          </a:prstGeom>
          <a:solidFill>
            <a:srgbClr val="FF5F57"/>
          </a:solidFill>
          <a:ln w="12700">
            <a:solidFill>
              <a:srgbClr val="FF5F57"/>
            </a:solidFill>
            <a:prstDash val="solid"/>
          </a:ln>
        </p:spPr>
      </p:sp>
      <p:sp>
        <p:nvSpPr>
          <p:cNvPr id="28" name="Shape 25"/>
          <p:cNvSpPr/>
          <p:nvPr/>
        </p:nvSpPr>
        <p:spPr>
          <a:xfrm>
            <a:off x="7589520" y="1773936"/>
            <a:ext cx="118872" cy="118872"/>
          </a:xfrm>
          <a:prstGeom prst="ellipse">
            <a:avLst/>
          </a:prstGeom>
          <a:solidFill>
            <a:srgbClr val="FEBC2E"/>
          </a:solidFill>
          <a:ln w="12700">
            <a:solidFill>
              <a:srgbClr val="FEBC2E"/>
            </a:solidFill>
            <a:prstDash val="solid"/>
          </a:ln>
        </p:spPr>
      </p:sp>
      <p:sp>
        <p:nvSpPr>
          <p:cNvPr id="29" name="Shape 26"/>
          <p:cNvSpPr/>
          <p:nvPr/>
        </p:nvSpPr>
        <p:spPr>
          <a:xfrm>
            <a:off x="7818120" y="1773936"/>
            <a:ext cx="118872" cy="118872"/>
          </a:xfrm>
          <a:prstGeom prst="ellipse">
            <a:avLst/>
          </a:prstGeom>
          <a:solidFill>
            <a:srgbClr val="28C840"/>
          </a:solidFill>
          <a:ln w="12700">
            <a:solidFill>
              <a:srgbClr val="28C840"/>
            </a:solidFill>
            <a:prstDash val="solid"/>
          </a:ln>
        </p:spPr>
      </p:sp>
      <p:sp>
        <p:nvSpPr>
          <p:cNvPr id="30" name="Text 27"/>
          <p:cNvSpPr txBox="1"/>
          <p:nvPr/>
        </p:nvSpPr>
        <p:spPr>
          <a:xfrm>
            <a:off x="8092440" y="1719072"/>
            <a:ext cx="338328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grades.csv (created by the program)</a:t>
            </a:r>
            <a:endParaRPr lang="en-US" sz="1000" dirty="0"/>
          </a:p>
        </p:txBody>
      </p:sp>
      <p:sp>
        <p:nvSpPr>
          <p:cNvPr id="31" name="Text 28"/>
          <p:cNvSpPr txBox="1"/>
          <p:nvPr/>
        </p:nvSpPr>
        <p:spPr>
          <a:xfrm>
            <a:off x="7406640" y="2029968"/>
            <a:ext cx="4023360" cy="1874520"/>
          </a:xfrm>
          <a:prstGeom prst="rect">
            <a:avLst/>
          </a:prstGeom>
          <a:noFill/>
          <a:ln/>
        </p:spPr>
        <p:txBody>
          <a:bodyPr wrap="square" lIns="0" tIns="0" rIns="0" bIns="0" rtlCol="0" anchor="t"/>
          <a:lstStyle/>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name,midterm,final</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Ayşe,72,85</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Mehmet,45,58</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Zeynep,90,94</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Can,6O,70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Deniz,80</a:t>
            </a:r>
            <a:endParaRPr lang="en-US" sz="1300" dirty="0"/>
          </a:p>
          <a:p>
            <a:pPr indent="0" marL="0">
              <a:spcAft>
                <a:spcPts val="100"/>
              </a:spcAft>
              <a:buNone/>
            </a:pPr>
            <a:r>
              <a:rPr lang="en-US" sz="1300" dirty="0">
                <a:solidFill>
                  <a:srgbClr val="7EE2A8"/>
                </a:solidFill>
                <a:latin typeface="Courier New" pitchFamily="34" charset="0"/>
                <a:ea typeface="Courier New" pitchFamily="34" charset="-122"/>
                <a:cs typeface="Courier New" pitchFamily="34" charset="-120"/>
              </a:rPr>
              <a:t>Elif,38,51</a:t>
            </a:r>
            <a:endParaRPr lang="en-US" sz="1300" dirty="0"/>
          </a:p>
        </p:txBody>
      </p:sp>
      <p:sp>
        <p:nvSpPr>
          <p:cNvPr id="32" name="Shape 29"/>
          <p:cNvSpPr/>
          <p:nvPr/>
        </p:nvSpPr>
        <p:spPr>
          <a:xfrm>
            <a:off x="7178040" y="4160520"/>
            <a:ext cx="4480560" cy="1920240"/>
          </a:xfrm>
          <a:prstGeom prst="roundRect">
            <a:avLst>
              <a:gd name="adj" fmla="val 5714"/>
            </a:avLst>
          </a:prstGeom>
          <a:solidFill>
            <a:srgbClr val="E3ECF8"/>
          </a:solidFill>
          <a:ln w="12700">
            <a:solidFill>
              <a:srgbClr val="E3ECF8"/>
            </a:solidFill>
            <a:prstDash val="solid"/>
          </a:ln>
        </p:spPr>
      </p:sp>
      <p:pic>
        <p:nvPicPr>
          <p:cNvPr id="33" name="Image 0" descr="preencoded.png">    </p:cNvPr>
          <p:cNvPicPr>
            <a:picLocks noChangeAspect="1"/>
          </p:cNvPicPr>
          <p:nvPr/>
        </p:nvPicPr>
        <p:blipFill>
          <a:blip r:embed="rId1"/>
          <a:stretch>
            <a:fillRect/>
          </a:stretch>
        </p:blipFill>
        <p:spPr>
          <a:xfrm>
            <a:off x="7452360" y="4846320"/>
            <a:ext cx="548640" cy="548640"/>
          </a:xfrm>
          <a:prstGeom prst="rect">
            <a:avLst/>
          </a:prstGeom>
        </p:spPr>
      </p:pic>
      <p:sp>
        <p:nvSpPr>
          <p:cNvPr id="34" name="Text 30"/>
          <p:cNvSpPr txBox="1"/>
          <p:nvPr/>
        </p:nvSpPr>
        <p:spPr>
          <a:xfrm>
            <a:off x="8275320" y="4233672"/>
            <a:ext cx="3108960" cy="177393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Two lines are bad. Which ones, and which check catches each?</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Q14 (1/2)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CSV Grades: Structure and Helper Methods</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39</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617220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5715000" cy="41605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 reader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StreamReader(InputFile))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using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(StreamWriter writer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new</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StreamWriter(ReportFile))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reader.ReadLine();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while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((line = reader.ReadLine()) !=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null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F8BA3"/>
                </a:solidFill>
                <a:latin typeface="Courier New" pitchFamily="34" charset="0"/>
                <a:ea typeface="Courier New" pitchFamily="34" charset="-122"/>
                <a:cs typeface="Courier New" pitchFamily="34" charset="-120"/>
              </a:rPr>
              <a:t>// loop body: next slide</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(FileNotFoundException)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$"File not found: {InputFile}"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PrintSummary(count, sum, ReportFile);</a:t>
            </a:r>
            <a:endParaRPr lang="en-US" sz="1200" dirty="0"/>
          </a:p>
        </p:txBody>
      </p:sp>
      <p:sp>
        <p:nvSpPr>
          <p:cNvPr id="11" name="Shape 8"/>
          <p:cNvSpPr/>
          <p:nvPr/>
        </p:nvSpPr>
        <p:spPr>
          <a:xfrm>
            <a:off x="6858000" y="1645920"/>
            <a:ext cx="4800600" cy="1325880"/>
          </a:xfrm>
          <a:prstGeom prst="roundRect">
            <a:avLst>
              <a:gd name="adj" fmla="val 6897"/>
            </a:avLst>
          </a:prstGeom>
          <a:solidFill>
            <a:srgbClr val="0F1729"/>
          </a:solidFill>
          <a:ln w="12700">
            <a:solidFill>
              <a:srgbClr val="0F1729"/>
            </a:solidFill>
            <a:prstDash val="solid"/>
          </a:ln>
        </p:spPr>
      </p:sp>
      <p:sp>
        <p:nvSpPr>
          <p:cNvPr id="12" name="Text 9"/>
          <p:cNvSpPr txBox="1"/>
          <p:nvPr/>
        </p:nvSpPr>
        <p:spPr>
          <a:xfrm>
            <a:off x="7086600" y="1810512"/>
            <a:ext cx="4343400" cy="105156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mid,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fin)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0.4</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.Parse(mid)</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0.6</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.Parse(fin);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10"/>
          <p:cNvSpPr/>
          <p:nvPr/>
        </p:nvSpPr>
        <p:spPr>
          <a:xfrm>
            <a:off x="6858000" y="3063240"/>
            <a:ext cx="4800600" cy="3017520"/>
          </a:xfrm>
          <a:prstGeom prst="roundRect">
            <a:avLst>
              <a:gd name="adj" fmla="val 3030"/>
            </a:avLst>
          </a:prstGeom>
          <a:solidFill>
            <a:srgbClr val="0F1729"/>
          </a:solidFill>
          <a:ln w="12700">
            <a:solidFill>
              <a:srgbClr val="0F1729"/>
            </a:solidFill>
            <a:prstDash val="solid"/>
          </a:ln>
        </p:spPr>
      </p:sp>
      <p:sp>
        <p:nvSpPr>
          <p:cNvPr id="14" name="Text 11"/>
          <p:cNvSpPr txBox="1"/>
          <p:nvPr/>
        </p:nvSpPr>
        <p:spPr>
          <a:xfrm>
            <a:off x="7086600" y="3227832"/>
            <a:ext cx="4343400" cy="2743200"/>
          </a:xfrm>
          <a:prstGeom prst="rect">
            <a:avLst/>
          </a:prstGeom>
          <a:noFill/>
          <a:ln/>
        </p:spPr>
        <p:txBody>
          <a:bodyPr wrap="square" lIns="0" tIns="0" rIns="0" bIns="0" rtlCol="0" anchor="t"/>
          <a:lstStyle/>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static</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void</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PrintSummary(</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int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"No valid lines."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return</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avg = sum /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$"Students: {count}"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$"Average: {avg:F2}"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 {path} ---"</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.Write(File.ReadAllText(path));</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ANSWER · Q14 (2/2)</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CSV Grades: the Loop Body and the Real Run</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40</a:t>
            </a:r>
            <a:endParaRPr lang="en-US" sz="1000" dirty="0"/>
          </a:p>
        </p:txBody>
      </p:sp>
      <p:sp>
        <p:nvSpPr>
          <p:cNvPr id="7" name="Shape 4"/>
          <p:cNvSpPr/>
          <p:nvPr/>
        </p:nvSpPr>
        <p:spPr>
          <a:xfrm>
            <a:off x="9372600" y="301752"/>
            <a:ext cx="2286000" cy="347472"/>
          </a:xfrm>
          <a:prstGeom prst="roundRect">
            <a:avLst>
              <a:gd name="adj" fmla="val 50000"/>
            </a:avLst>
          </a:prstGeom>
          <a:solidFill>
            <a:srgbClr val="2E9E6A"/>
          </a:solidFill>
          <a:ln w="12700">
            <a:solidFill>
              <a:srgbClr val="2E9E6A"/>
            </a:solidFill>
            <a:prstDash val="solid"/>
          </a:ln>
        </p:spPr>
      </p:sp>
      <p:sp>
        <p:nvSpPr>
          <p:cNvPr id="8" name="Text 5"/>
          <p:cNvSpPr txBox="1"/>
          <p:nvPr/>
        </p:nvSpPr>
        <p:spPr>
          <a:xfrm>
            <a:off x="9372600" y="301752"/>
            <a:ext cx="228600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ANSWER</a:t>
            </a:r>
            <a:endParaRPr lang="en-US" sz="1200" dirty="0"/>
          </a:p>
        </p:txBody>
      </p:sp>
      <p:sp>
        <p:nvSpPr>
          <p:cNvPr id="9" name="Shape 6"/>
          <p:cNvSpPr/>
          <p:nvPr/>
        </p:nvSpPr>
        <p:spPr>
          <a:xfrm>
            <a:off x="548640" y="1645920"/>
            <a:ext cx="6355080" cy="4434840"/>
          </a:xfrm>
          <a:prstGeom prst="roundRect">
            <a:avLst>
              <a:gd name="adj" fmla="val 2062"/>
            </a:avLst>
          </a:prstGeom>
          <a:solidFill>
            <a:srgbClr val="0F1729"/>
          </a:solidFill>
          <a:ln w="12700">
            <a:solidFill>
              <a:srgbClr val="0F1729"/>
            </a:solidFill>
            <a:prstDash val="solid"/>
          </a:ln>
        </p:spPr>
      </p:sp>
      <p:sp>
        <p:nvSpPr>
          <p:cNvPr id="10" name="Text 7"/>
          <p:cNvSpPr txBox="1"/>
          <p:nvPr/>
        </p:nvSpPr>
        <p:spPr>
          <a:xfrm>
            <a:off x="777240" y="1810512"/>
            <a:ext cx="5897880" cy="4160520"/>
          </a:xfrm>
          <a:prstGeom prst="rect">
            <a:avLst/>
          </a:prstGeom>
          <a:noFill/>
          <a:ln/>
        </p:spPr>
        <p:txBody>
          <a:bodyPr wrap="square" lIns="0" tIns="0" rIns="0" bIns="0" rtlCol="0" anchor="t"/>
          <a:lstStyle/>
          <a:p>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parts = line.Split(</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if</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(parts.Length !=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3</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$"Skipped (3 fields expected): {line}"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continue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try</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double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total = Total(parts[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1</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parts[</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2</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string</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result = total &gt;= </a:t>
            </a:r>
            <a:pPr indent="0" marL="0">
              <a:spcAft>
                <a:spcPts val="100"/>
              </a:spcAft>
              <a:buNone/>
            </a:pPr>
            <a:r>
              <a:rPr lang="en-US" sz="1200" dirty="0">
                <a:solidFill>
                  <a:srgbClr val="B5CEA8"/>
                </a:solidFill>
                <a:latin typeface="Courier New" pitchFamily="34" charset="0"/>
                <a:ea typeface="Courier New" pitchFamily="34" charset="-122"/>
                <a:cs typeface="Courier New" pitchFamily="34" charset="-120"/>
              </a:rPr>
              <a:t>50</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"PASS"</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 </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"FAIL"</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writer.WriteLine(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$"{parts[0],-8}{total,7:F2}  {result}"</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count++;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sum += total;</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7AB8FF"/>
                </a:solidFill>
                <a:latin typeface="Courier New" pitchFamily="34" charset="0"/>
                <a:ea typeface="Courier New" pitchFamily="34" charset="-122"/>
                <a:cs typeface="Courier New" pitchFamily="34" charset="-120"/>
              </a:rPr>
              <a:t>catch</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(FormatException)</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    </a:t>
            </a:r>
            <a:pPr indent="0" marL="0">
              <a:spcAft>
                <a:spcPts val="100"/>
              </a:spcAft>
              <a:buNone/>
            </a:pPr>
            <a:r>
              <a:rPr lang="en-US" sz="1200" dirty="0">
                <a:solidFill>
                  <a:srgbClr val="4EC9B0"/>
                </a:solidFill>
                <a:latin typeface="Courier New" pitchFamily="34" charset="0"/>
                <a:ea typeface="Courier New" pitchFamily="34" charset="-122"/>
                <a:cs typeface="Courier New" pitchFamily="34" charset="-120"/>
              </a:rPr>
              <a:t>Console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.WriteLine(</a:t>
            </a:r>
            <a:pPr indent="0" marL="0">
              <a:spcAft>
                <a:spcPts val="100"/>
              </a:spcAft>
              <a:buNone/>
            </a:pPr>
            <a:r>
              <a:rPr lang="en-US" sz="1200" dirty="0">
                <a:solidFill>
                  <a:srgbClr val="CE9178"/>
                </a:solidFill>
                <a:latin typeface="Courier New" pitchFamily="34" charset="0"/>
                <a:ea typeface="Courier New" pitchFamily="34" charset="-122"/>
                <a:cs typeface="Courier New" pitchFamily="34" charset="-120"/>
              </a:rPr>
              <a:t>$"Skipped (not a number): {line}"</a:t>
            </a:r>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indent="0" marL="0">
              <a:spcAft>
                <a:spcPts val="100"/>
              </a:spcAft>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Shape 8"/>
          <p:cNvSpPr/>
          <p:nvPr/>
        </p:nvSpPr>
        <p:spPr>
          <a:xfrm>
            <a:off x="7132320" y="1645920"/>
            <a:ext cx="4526280" cy="3017520"/>
          </a:xfrm>
          <a:prstGeom prst="roundRect">
            <a:avLst>
              <a:gd name="adj" fmla="val 3030"/>
            </a:avLst>
          </a:prstGeom>
          <a:solidFill>
            <a:srgbClr val="0B0F19"/>
          </a:solidFill>
          <a:ln w="12700">
            <a:solidFill>
              <a:srgbClr val="2A3654"/>
            </a:solidFill>
            <a:prstDash val="solid"/>
          </a:ln>
        </p:spPr>
      </p:sp>
      <p:sp>
        <p:nvSpPr>
          <p:cNvPr id="12" name="Shape 9"/>
          <p:cNvSpPr/>
          <p:nvPr/>
        </p:nvSpPr>
        <p:spPr>
          <a:xfrm>
            <a:off x="7315200" y="1773936"/>
            <a:ext cx="118872" cy="118872"/>
          </a:xfrm>
          <a:prstGeom prst="ellipse">
            <a:avLst/>
          </a:prstGeom>
          <a:solidFill>
            <a:srgbClr val="FF5F57"/>
          </a:solidFill>
          <a:ln w="12700">
            <a:solidFill>
              <a:srgbClr val="FF5F57"/>
            </a:solidFill>
            <a:prstDash val="solid"/>
          </a:ln>
        </p:spPr>
      </p:sp>
      <p:sp>
        <p:nvSpPr>
          <p:cNvPr id="13" name="Shape 10"/>
          <p:cNvSpPr/>
          <p:nvPr/>
        </p:nvSpPr>
        <p:spPr>
          <a:xfrm>
            <a:off x="7543800" y="1773936"/>
            <a:ext cx="118872" cy="118872"/>
          </a:xfrm>
          <a:prstGeom prst="ellipse">
            <a:avLst/>
          </a:prstGeom>
          <a:solidFill>
            <a:srgbClr val="FEBC2E"/>
          </a:solidFill>
          <a:ln w="12700">
            <a:solidFill>
              <a:srgbClr val="FEBC2E"/>
            </a:solidFill>
            <a:prstDash val="solid"/>
          </a:ln>
        </p:spPr>
      </p:sp>
      <p:sp>
        <p:nvSpPr>
          <p:cNvPr id="14" name="Shape 11"/>
          <p:cNvSpPr/>
          <p:nvPr/>
        </p:nvSpPr>
        <p:spPr>
          <a:xfrm>
            <a:off x="7772400" y="1773936"/>
            <a:ext cx="118872" cy="118872"/>
          </a:xfrm>
          <a:prstGeom prst="ellipse">
            <a:avLst/>
          </a:prstGeom>
          <a:solidFill>
            <a:srgbClr val="28C840"/>
          </a:solidFill>
          <a:ln w="12700">
            <a:solidFill>
              <a:srgbClr val="28C840"/>
            </a:solidFill>
            <a:prstDash val="solid"/>
          </a:ln>
        </p:spPr>
      </p:sp>
      <p:sp>
        <p:nvSpPr>
          <p:cNvPr id="15" name="Text 12"/>
          <p:cNvSpPr txBox="1"/>
          <p:nvPr/>
        </p:nvSpPr>
        <p:spPr>
          <a:xfrm>
            <a:off x="8046720" y="1719072"/>
            <a:ext cx="3429000" cy="228600"/>
          </a:xfrm>
          <a:prstGeom prst="rect">
            <a:avLst/>
          </a:prstGeom>
          <a:noFill/>
          <a:ln/>
        </p:spPr>
        <p:txBody>
          <a:bodyPr wrap="square" lIns="0" tIns="0" rIns="0" bIns="0" rtlCol="0" anchor="ctr"/>
          <a:lstStyle/>
          <a:p>
            <a:pPr indent="0" marL="0">
              <a:buNone/>
            </a:pPr>
            <a:r>
              <a:rPr lang="en-US" sz="1000" dirty="0">
                <a:solidFill>
                  <a:srgbClr val="8A94AB"/>
                </a:solidFill>
                <a:latin typeface="Courier New" pitchFamily="34" charset="0"/>
                <a:ea typeface="Courier New" pitchFamily="34" charset="-122"/>
                <a:cs typeface="Courier New" pitchFamily="34" charset="-120"/>
              </a:rPr>
              <a:t>Real run (long lines wrapped)</a:t>
            </a:r>
            <a:endParaRPr lang="en-US" sz="1000" dirty="0"/>
          </a:p>
        </p:txBody>
      </p:sp>
      <p:sp>
        <p:nvSpPr>
          <p:cNvPr id="16" name="Text 13"/>
          <p:cNvSpPr txBox="1"/>
          <p:nvPr/>
        </p:nvSpPr>
        <p:spPr>
          <a:xfrm>
            <a:off x="7360920" y="2029968"/>
            <a:ext cx="4069080" cy="2514600"/>
          </a:xfrm>
          <a:prstGeom prst="rect">
            <a:avLst/>
          </a:prstGeom>
          <a:noFill/>
          <a:ln/>
        </p:spPr>
        <p:txBody>
          <a:bodyPr wrap="square" lIns="0" tIns="0" rIns="0" bIns="0" rtlCol="0" anchor="t"/>
          <a:lstStyle/>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Skipped (not a number):</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Can,6O,70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Skipped (3 fields expected):</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Deniz,80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Students: 4</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Average: 67.70</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 report.txt ---</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Ayşe      79.80  PASS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Mehmet    52.80  PASS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Zeynep    92.40  PASS</a:t>
            </a:r>
            <a:endParaRPr lang="en-US" sz="1200" dirty="0"/>
          </a:p>
          <a:p>
            <a:pPr indent="0" marL="0">
              <a:spcAft>
                <a:spcPts val="100"/>
              </a:spcAft>
              <a:buNone/>
            </a:pPr>
            <a:r>
              <a:rPr lang="en-US" sz="1200" dirty="0">
                <a:solidFill>
                  <a:srgbClr val="7EE2A8"/>
                </a:solidFill>
                <a:latin typeface="Courier New" pitchFamily="34" charset="0"/>
                <a:ea typeface="Courier New" pitchFamily="34" charset="-122"/>
                <a:cs typeface="Courier New" pitchFamily="34" charset="-120"/>
              </a:rPr>
              <a:t>Elif      45.80  FAIL</a:t>
            </a:r>
            <a:endParaRPr lang="en-US" sz="1200" dirty="0"/>
          </a:p>
        </p:txBody>
      </p:sp>
      <p:sp>
        <p:nvSpPr>
          <p:cNvPr id="17" name="Shape 14"/>
          <p:cNvSpPr/>
          <p:nvPr/>
        </p:nvSpPr>
        <p:spPr>
          <a:xfrm>
            <a:off x="7132320" y="4800600"/>
            <a:ext cx="4526280" cy="1280160"/>
          </a:xfrm>
          <a:prstGeom prst="roundRect">
            <a:avLst>
              <a:gd name="adj" fmla="val 8571"/>
            </a:avLst>
          </a:prstGeom>
          <a:solidFill>
            <a:srgbClr val="E6F4EC"/>
          </a:solidFill>
          <a:ln w="12700">
            <a:solidFill>
              <a:srgbClr val="E6F4EC"/>
            </a:solidFill>
            <a:prstDash val="solid"/>
          </a:ln>
        </p:spPr>
      </p:sp>
      <p:pic>
        <p:nvPicPr>
          <p:cNvPr id="18" name="Image 0" descr="preencoded.png">    </p:cNvPr>
          <p:cNvPicPr>
            <a:picLocks noChangeAspect="1"/>
          </p:cNvPicPr>
          <p:nvPr/>
        </p:nvPicPr>
        <p:blipFill>
          <a:blip r:embed="rId1"/>
          <a:stretch>
            <a:fillRect/>
          </a:stretch>
        </p:blipFill>
        <p:spPr>
          <a:xfrm>
            <a:off x="7406640" y="5166360"/>
            <a:ext cx="548640" cy="548640"/>
          </a:xfrm>
          <a:prstGeom prst="rect">
            <a:avLst/>
          </a:prstGeom>
        </p:spPr>
      </p:pic>
      <p:sp>
        <p:nvSpPr>
          <p:cNvPr id="19" name="Text 15"/>
          <p:cNvSpPr txBox="1"/>
          <p:nvPr/>
        </p:nvSpPr>
        <p:spPr>
          <a:xfrm>
            <a:off x="8229600" y="4873752"/>
            <a:ext cx="3154680" cy="1133856"/>
          </a:xfrm>
          <a:prstGeom prst="rect">
            <a:avLst/>
          </a:prstGeom>
          <a:noFill/>
          <a:ln/>
        </p:spPr>
        <p:txBody>
          <a:bodyPr wrap="square" lIns="0" tIns="0" rIns="0" bIns="0" rtlCol="0" anchor="ctr"/>
          <a:lstStyle/>
          <a:p>
            <a:pPr indent="0" marL="0">
              <a:buNone/>
            </a:pPr>
            <a:r>
              <a:rPr lang="en-US" sz="1400" dirty="0">
                <a:solidFill>
                  <a:srgbClr val="333B4F"/>
                </a:solidFill>
                <a:latin typeface="Calibri" pitchFamily="34" charset="0"/>
                <a:ea typeface="Calibri" pitchFamily="34" charset="-122"/>
                <a:cs typeface="Calibri" pitchFamily="34" charset="-120"/>
              </a:rPr>
              <a:t>continue skips the rest of this pass; the catch lets the loop go on.</a:t>
            </a:r>
            <a:endParaRPr lang="en-US" sz="1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COMMON MISTAKES</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Ten Mistakes That Cost Points in the Second Half</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41</a:t>
            </a:r>
            <a:endParaRPr lang="en-US" sz="1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914400"/>
        </p:xfrm>
        <a:graphic>
          <a:graphicData uri="http://schemas.openxmlformats.org/drawingml/2006/table">
            <a:tbl>
              <a:tblPr/>
              <a:tblGrid>
                <a:gridCol w="457200"/>
                <a:gridCol w="3931920"/>
                <a:gridCol w="3657600"/>
                <a:gridCol w="3063240"/>
              </a:tblGrid>
              <a:tr h="393192">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Wrong</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Right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14213D"/>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for (i = 0; i &lt;= a.Length; i++)</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 &lt; a.Length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IndexOutOfRangeException</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max = 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max = a[0];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fails for negative data</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 copy = a;</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(int[])a.Clone()  or new + loop</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same array, two names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m.Length as number of rows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m.GetLength(0)</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Length = all elements</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m[r][c]  on int[,]</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m[r, c]</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CS0022</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else { return false; } in a search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return false after the loop</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decides after 1 element</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value method without final return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every path returns</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CS0161</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void Bump(int v) to change x</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return the value, or ref</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v is only a copy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new StreamWriter(…) without using</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using (StreamWriter w = …)</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file may stay empty</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FFFFFF"/>
                    </a:solidFill>
                  </a:tcPr>
                </a:tc>
              </a:tr>
              <a:tr h="393192">
                <a:tc>
                  <a:txBody>
                    <a:bodyPr/>
                    <a:lstStyle/>
                    <a:p>
                      <a:pPr algn="ctr" indent="0" marL="0">
                        <a:buNone/>
                      </a:pPr>
                      <a:r>
                        <a:rPr lang="en-US" sz="1300" dirty="0">
                          <a:solidFill>
                            <a:srgbClr val="14213D"/>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int.Parse(f[1]) with no try/catch</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ourier New" pitchFamily="34" charset="0"/>
                          <a:ea typeface="Courier New" pitchFamily="34" charset="-122"/>
                          <a:cs typeface="Courier New" pitchFamily="34" charset="-120"/>
                        </a:rPr>
                        <a:t>catch (FormatException)</a:t>
                      </a:r>
                      <a:endParaRPr lang="en-US" sz="1300" dirty="0">
                        <a:latin typeface="Courier New" charset="0"/>
                        <a:ea typeface="Courier New" charset="0"/>
                        <a:cs typeface="Courier New"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c>
                  <a:txBody>
                    <a:bodyPr/>
                    <a:lstStyle/>
                    <a:p>
                      <a:pPr algn="l" indent="0" marL="0">
                        <a:buNone/>
                      </a:pPr>
                      <a:r>
                        <a:rPr lang="en-US" sz="1300" dirty="0">
                          <a:solidFill>
                            <a:srgbClr val="14213D"/>
                          </a:solidFill>
                          <a:latin typeface="Calibri" pitchFamily="34" charset="0"/>
                          <a:ea typeface="Calibri" pitchFamily="34" charset="-122"/>
                          <a:cs typeface="Calibri" pitchFamily="34" charset="-120"/>
                        </a:rPr>
                        <a:t>one bad line stops all</a:t>
                      </a:r>
                      <a:endParaRPr lang="en-US" sz="1300" dirty="0">
                        <a:latin typeface="Calibri" charset="0"/>
                        <a:ea typeface="Calibri" charset="0"/>
                        <a:cs typeface="Calibri" charset="0"/>
                      </a:endParaRPr>
                    </a:p>
                  </a:txBody>
                  <a:tcPr marL="73152" marR="73152" marT="0" marB="0" anchor="ctr">
                    <a:lnL w="6350" cap="flat" cmpd="sng" algn="ctr">
                      <a:solidFill>
                        <a:srgbClr val="D5DAE3"/>
                      </a:solidFill>
                      <a:prstDash val="solid"/>
                      <a:round/>
                      <a:headEnd type="none" w="med" len="med"/>
                      <a:tailEnd type="none" w="med" len="med"/>
                    </a:lnL>
                    <a:lnR w="6350" cap="flat" cmpd="sng" algn="ctr">
                      <a:solidFill>
                        <a:srgbClr val="D5DAE3"/>
                      </a:solidFill>
                      <a:prstDash val="solid"/>
                      <a:round/>
                      <a:headEnd type="none" w="med" len="med"/>
                      <a:tailEnd type="none" w="med" len="med"/>
                    </a:lnR>
                    <a:lnT w="6350" cap="flat" cmpd="sng" algn="ctr">
                      <a:solidFill>
                        <a:srgbClr val="D5DAE3"/>
                      </a:solidFill>
                      <a:prstDash val="solid"/>
                      <a:round/>
                      <a:headEnd type="none" w="med" len="med"/>
                      <a:tailEnd type="none" w="med" len="med"/>
                    </a:lnT>
                    <a:lnB w="6350" cap="flat" cmpd="sng" algn="ctr">
                      <a:solidFill>
                        <a:srgbClr val="D5DAE3"/>
                      </a:solidFill>
                      <a:prstDash val="solid"/>
                      <a:round/>
                      <a:headEnd type="none" w="med" len="med"/>
                      <a:tailEnd type="none" w="med" len="med"/>
                    </a:lnB>
                    <a:solidFill>
                      <a:srgbClr val="EEF1F6"/>
                    </a:solidFill>
                  </a:tcPr>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EXAM STRATEGY</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A 120-Minute Plan and a Method per Question Type</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42</a:t>
            </a:r>
            <a:endParaRPr lang="en-US" sz="1000" dirty="0"/>
          </a:p>
        </p:txBody>
      </p:sp>
      <p:sp>
        <p:nvSpPr>
          <p:cNvPr id="7" name="Shape 4"/>
          <p:cNvSpPr/>
          <p:nvPr/>
        </p:nvSpPr>
        <p:spPr>
          <a:xfrm>
            <a:off x="548640" y="1691640"/>
            <a:ext cx="462915" cy="685800"/>
          </a:xfrm>
          <a:prstGeom prst="rect">
            <a:avLst/>
          </a:prstGeom>
          <a:solidFill>
            <a:srgbClr val="5B6478"/>
          </a:solidFill>
          <a:ln w="19050">
            <a:solidFill>
              <a:srgbClr val="FFFFFF"/>
            </a:solidFill>
            <a:prstDash val="solid"/>
          </a:ln>
        </p:spPr>
      </p:sp>
      <p:sp>
        <p:nvSpPr>
          <p:cNvPr id="8" name="Text 5"/>
          <p:cNvSpPr txBox="1"/>
          <p:nvPr/>
        </p:nvSpPr>
        <p:spPr>
          <a:xfrm>
            <a:off x="548640" y="1691640"/>
            <a:ext cx="462915"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9" name="Shape 6"/>
          <p:cNvSpPr/>
          <p:nvPr/>
        </p:nvSpPr>
        <p:spPr>
          <a:xfrm>
            <a:off x="1011555" y="1691640"/>
            <a:ext cx="2777490" cy="685800"/>
          </a:xfrm>
          <a:prstGeom prst="rect">
            <a:avLst/>
          </a:prstGeom>
          <a:solidFill>
            <a:srgbClr val="2F6FB3"/>
          </a:solidFill>
          <a:ln w="19050">
            <a:solidFill>
              <a:srgbClr val="FFFFFF"/>
            </a:solidFill>
            <a:prstDash val="solid"/>
          </a:ln>
        </p:spPr>
      </p:sp>
      <p:sp>
        <p:nvSpPr>
          <p:cNvPr id="10" name="Text 7"/>
          <p:cNvSpPr txBox="1"/>
          <p:nvPr/>
        </p:nvSpPr>
        <p:spPr>
          <a:xfrm>
            <a:off x="1011555" y="1691640"/>
            <a:ext cx="277749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MC + predict</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30 min</a:t>
            </a:r>
            <a:endParaRPr lang="en-US" sz="1300" dirty="0"/>
          </a:p>
        </p:txBody>
      </p:sp>
      <p:sp>
        <p:nvSpPr>
          <p:cNvPr id="11" name="Shape 8"/>
          <p:cNvSpPr/>
          <p:nvPr/>
        </p:nvSpPr>
        <p:spPr>
          <a:xfrm>
            <a:off x="3789045" y="1691640"/>
            <a:ext cx="2314575" cy="685800"/>
          </a:xfrm>
          <a:prstGeom prst="rect">
            <a:avLst/>
          </a:prstGeom>
          <a:solidFill>
            <a:srgbClr val="2E9E6A"/>
          </a:solidFill>
          <a:ln w="19050">
            <a:solidFill>
              <a:srgbClr val="FFFFFF"/>
            </a:solidFill>
            <a:prstDash val="solid"/>
          </a:ln>
        </p:spPr>
      </p:sp>
      <p:sp>
        <p:nvSpPr>
          <p:cNvPr id="12" name="Text 9"/>
          <p:cNvSpPr txBox="1"/>
          <p:nvPr/>
        </p:nvSpPr>
        <p:spPr>
          <a:xfrm>
            <a:off x="3789045" y="1691640"/>
            <a:ext cx="2314575"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Traces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25 min</a:t>
            </a:r>
            <a:endParaRPr lang="en-US" sz="1300" dirty="0"/>
          </a:p>
        </p:txBody>
      </p:sp>
      <p:sp>
        <p:nvSpPr>
          <p:cNvPr id="13" name="Shape 10"/>
          <p:cNvSpPr/>
          <p:nvPr/>
        </p:nvSpPr>
        <p:spPr>
          <a:xfrm>
            <a:off x="6103620" y="1691640"/>
            <a:ext cx="1851660" cy="685800"/>
          </a:xfrm>
          <a:prstGeom prst="rect">
            <a:avLst/>
          </a:prstGeom>
          <a:solidFill>
            <a:srgbClr val="C8453B"/>
          </a:solidFill>
          <a:ln w="19050">
            <a:solidFill>
              <a:srgbClr val="FFFFFF"/>
            </a:solidFill>
            <a:prstDash val="solid"/>
          </a:ln>
        </p:spPr>
      </p:sp>
      <p:sp>
        <p:nvSpPr>
          <p:cNvPr id="14" name="Text 11"/>
          <p:cNvSpPr txBox="1"/>
          <p:nvPr/>
        </p:nvSpPr>
        <p:spPr>
          <a:xfrm>
            <a:off x="6103620" y="1691640"/>
            <a:ext cx="18516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Methods + bugs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20 min</a:t>
            </a:r>
            <a:endParaRPr lang="en-US" sz="1300" dirty="0"/>
          </a:p>
        </p:txBody>
      </p:sp>
      <p:sp>
        <p:nvSpPr>
          <p:cNvPr id="15" name="Shape 12"/>
          <p:cNvSpPr/>
          <p:nvPr/>
        </p:nvSpPr>
        <p:spPr>
          <a:xfrm>
            <a:off x="7955280" y="1691640"/>
            <a:ext cx="2777490" cy="685800"/>
          </a:xfrm>
          <a:prstGeom prst="rect">
            <a:avLst/>
          </a:prstGeom>
          <a:solidFill>
            <a:srgbClr val="B7791F"/>
          </a:solidFill>
          <a:ln w="19050">
            <a:solidFill>
              <a:srgbClr val="FFFFFF"/>
            </a:solidFill>
            <a:prstDash val="solid"/>
          </a:ln>
        </p:spPr>
      </p:sp>
      <p:sp>
        <p:nvSpPr>
          <p:cNvPr id="16" name="Text 13"/>
          <p:cNvSpPr txBox="1"/>
          <p:nvPr/>
        </p:nvSpPr>
        <p:spPr>
          <a:xfrm>
            <a:off x="7955280" y="1691640"/>
            <a:ext cx="277749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Programs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30 min</a:t>
            </a:r>
            <a:endParaRPr lang="en-US" sz="1300" dirty="0"/>
          </a:p>
        </p:txBody>
      </p:sp>
      <p:sp>
        <p:nvSpPr>
          <p:cNvPr id="17" name="Shape 14"/>
          <p:cNvSpPr/>
          <p:nvPr/>
        </p:nvSpPr>
        <p:spPr>
          <a:xfrm>
            <a:off x="10732770" y="1691640"/>
            <a:ext cx="925830" cy="685800"/>
          </a:xfrm>
          <a:prstGeom prst="rect">
            <a:avLst/>
          </a:prstGeom>
          <a:solidFill>
            <a:srgbClr val="14213D"/>
          </a:solidFill>
          <a:ln w="19050">
            <a:solidFill>
              <a:srgbClr val="FFFFFF"/>
            </a:solidFill>
            <a:prstDash val="solid"/>
          </a:ln>
        </p:spPr>
      </p:sp>
      <p:sp>
        <p:nvSpPr>
          <p:cNvPr id="18" name="Text 15"/>
          <p:cNvSpPr txBox="1"/>
          <p:nvPr/>
        </p:nvSpPr>
        <p:spPr>
          <a:xfrm>
            <a:off x="10732770" y="1691640"/>
            <a:ext cx="92583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10 min</a:t>
            </a:r>
            <a:endParaRPr lang="en-US" sz="1300" dirty="0"/>
          </a:p>
        </p:txBody>
      </p:sp>
      <p:sp>
        <p:nvSpPr>
          <p:cNvPr id="19" name="Text 16"/>
          <p:cNvSpPr txBox="1"/>
          <p:nvPr/>
        </p:nvSpPr>
        <p:spPr>
          <a:xfrm>
            <a:off x="548640" y="2423160"/>
            <a:ext cx="2743200" cy="274320"/>
          </a:xfrm>
          <a:prstGeom prst="rect">
            <a:avLst/>
          </a:prstGeom>
          <a:noFill/>
          <a:ln/>
        </p:spPr>
        <p:txBody>
          <a:bodyPr wrap="square" lIns="0" tIns="0" rIns="0" bIns="0" rtlCol="0" anchor="ctr"/>
          <a:lstStyle/>
          <a:p>
            <a:pPr indent="0" marL="0">
              <a:buNone/>
            </a:pPr>
            <a:r>
              <a:rPr lang="en-US" sz="1300" dirty="0">
                <a:solidFill>
                  <a:srgbClr val="5B6478"/>
                </a:solidFill>
                <a:latin typeface="Calibri" pitchFamily="34" charset="0"/>
                <a:ea typeface="Calibri" pitchFamily="34" charset="-122"/>
                <a:cs typeface="Calibri" pitchFamily="34" charset="-120"/>
              </a:rPr>
              <a:t>Read all: 5 min</a:t>
            </a:r>
            <a:endParaRPr lang="en-US" sz="1300" dirty="0"/>
          </a:p>
        </p:txBody>
      </p:sp>
      <p:sp>
        <p:nvSpPr>
          <p:cNvPr id="20" name="Shape 17"/>
          <p:cNvSpPr/>
          <p:nvPr/>
        </p:nvSpPr>
        <p:spPr>
          <a:xfrm>
            <a:off x="548640" y="2788920"/>
            <a:ext cx="2679192" cy="2468880"/>
          </a:xfrm>
          <a:prstGeom prst="roundRect">
            <a:avLst>
              <a:gd name="adj" fmla="val 4444"/>
            </a:avLst>
          </a:prstGeom>
          <a:solidFill>
            <a:srgbClr val="EEF1F6"/>
          </a:solidFill>
          <a:ln w="12700">
            <a:solidFill>
              <a:srgbClr val="EEF1F6"/>
            </a:solidFill>
            <a:prstDash val="solid"/>
          </a:ln>
        </p:spPr>
      </p:sp>
      <p:sp>
        <p:nvSpPr>
          <p:cNvPr id="21" name="Shape 18"/>
          <p:cNvSpPr/>
          <p:nvPr/>
        </p:nvSpPr>
        <p:spPr>
          <a:xfrm>
            <a:off x="777240" y="3017520"/>
            <a:ext cx="566928" cy="566928"/>
          </a:xfrm>
          <a:prstGeom prst="ellipse">
            <a:avLst/>
          </a:prstGeom>
          <a:solidFill>
            <a:srgbClr val="2F6FB3"/>
          </a:solidFill>
          <a:ln w="12700">
            <a:solidFill>
              <a:srgbClr val="2F6FB3"/>
            </a:solidFill>
            <a:prstDash val="solid"/>
          </a:ln>
        </p:spPr>
      </p:sp>
      <p:pic>
        <p:nvPicPr>
          <p:cNvPr id="22" name="Image 0" descr="preencoded.png">    </p:cNvPr>
          <p:cNvPicPr>
            <a:picLocks noChangeAspect="1"/>
          </p:cNvPicPr>
          <p:nvPr/>
        </p:nvPicPr>
        <p:blipFill>
          <a:blip r:embed="rId1"/>
          <a:stretch>
            <a:fillRect/>
          </a:stretch>
        </p:blipFill>
        <p:spPr>
          <a:xfrm>
            <a:off x="924641" y="3164921"/>
            <a:ext cx="272125" cy="272125"/>
          </a:xfrm>
          <a:prstGeom prst="rect">
            <a:avLst/>
          </a:prstGeom>
        </p:spPr>
      </p:pic>
      <p:sp>
        <p:nvSpPr>
          <p:cNvPr id="23" name="Text 19"/>
          <p:cNvSpPr txBox="1"/>
          <p:nvPr/>
        </p:nvSpPr>
        <p:spPr>
          <a:xfrm>
            <a:off x="1463040"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Arrays &amp; matrices</a:t>
            </a:r>
            <a:endParaRPr lang="en-US" sz="1700" dirty="0"/>
          </a:p>
        </p:txBody>
      </p:sp>
      <p:sp>
        <p:nvSpPr>
          <p:cNvPr id="24" name="Text 20"/>
          <p:cNvSpPr txBox="1"/>
          <p:nvPr/>
        </p:nvSpPr>
        <p:spPr>
          <a:xfrm>
            <a:off x="777240"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Draw the boxes with their indices. Update one cell at a time. Write r and c next to each value.</a:t>
            </a:r>
            <a:endParaRPr lang="en-US" sz="1400" dirty="0"/>
          </a:p>
        </p:txBody>
      </p:sp>
      <p:sp>
        <p:nvSpPr>
          <p:cNvPr id="25" name="Shape 21"/>
          <p:cNvSpPr/>
          <p:nvPr/>
        </p:nvSpPr>
        <p:spPr>
          <a:xfrm>
            <a:off x="3364992" y="2788920"/>
            <a:ext cx="2679192" cy="2468880"/>
          </a:xfrm>
          <a:prstGeom prst="roundRect">
            <a:avLst>
              <a:gd name="adj" fmla="val 4444"/>
            </a:avLst>
          </a:prstGeom>
          <a:solidFill>
            <a:srgbClr val="EEF1F6"/>
          </a:solidFill>
          <a:ln w="12700">
            <a:solidFill>
              <a:srgbClr val="EEF1F6"/>
            </a:solidFill>
            <a:prstDash val="solid"/>
          </a:ln>
        </p:spPr>
      </p:sp>
      <p:sp>
        <p:nvSpPr>
          <p:cNvPr id="26" name="Shape 22"/>
          <p:cNvSpPr/>
          <p:nvPr/>
        </p:nvSpPr>
        <p:spPr>
          <a:xfrm>
            <a:off x="3593592" y="3017520"/>
            <a:ext cx="566928" cy="566928"/>
          </a:xfrm>
          <a:prstGeom prst="ellipse">
            <a:avLst/>
          </a:prstGeom>
          <a:solidFill>
            <a:srgbClr val="2E9E6A"/>
          </a:solidFill>
          <a:ln w="12700">
            <a:solidFill>
              <a:srgbClr val="2E9E6A"/>
            </a:solidFill>
            <a:prstDash val="solid"/>
          </a:ln>
        </p:spPr>
      </p:sp>
      <p:pic>
        <p:nvPicPr>
          <p:cNvPr id="27" name="Image 1" descr="preencoded.png">    </p:cNvPr>
          <p:cNvPicPr>
            <a:picLocks noChangeAspect="1"/>
          </p:cNvPicPr>
          <p:nvPr/>
        </p:nvPicPr>
        <p:blipFill>
          <a:blip r:embed="rId2"/>
          <a:stretch>
            <a:fillRect/>
          </a:stretch>
        </p:blipFill>
        <p:spPr>
          <a:xfrm>
            <a:off x="3740993" y="3164921"/>
            <a:ext cx="272125" cy="272125"/>
          </a:xfrm>
          <a:prstGeom prst="rect">
            <a:avLst/>
          </a:prstGeom>
        </p:spPr>
      </p:pic>
      <p:sp>
        <p:nvSpPr>
          <p:cNvPr id="28" name="Text 23"/>
          <p:cNvSpPr txBox="1"/>
          <p:nvPr/>
        </p:nvSpPr>
        <p:spPr>
          <a:xfrm>
            <a:off x="4279392"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Calls &amp; recursion</a:t>
            </a:r>
            <a:endParaRPr lang="en-US" sz="1700" dirty="0"/>
          </a:p>
        </p:txBody>
      </p:sp>
      <p:sp>
        <p:nvSpPr>
          <p:cNvPr id="29" name="Text 24"/>
          <p:cNvSpPr txBox="1"/>
          <p:nvPr/>
        </p:nvSpPr>
        <p:spPr>
          <a:xfrm>
            <a:off x="3593592"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One box per call: parameters, pending expression, returned value. Copy or ref?</a:t>
            </a:r>
            <a:endParaRPr lang="en-US" sz="1400" dirty="0"/>
          </a:p>
        </p:txBody>
      </p:sp>
      <p:sp>
        <p:nvSpPr>
          <p:cNvPr id="30" name="Shape 25"/>
          <p:cNvSpPr/>
          <p:nvPr/>
        </p:nvSpPr>
        <p:spPr>
          <a:xfrm>
            <a:off x="6181344" y="2788920"/>
            <a:ext cx="2679192" cy="2468880"/>
          </a:xfrm>
          <a:prstGeom prst="roundRect">
            <a:avLst>
              <a:gd name="adj" fmla="val 4444"/>
            </a:avLst>
          </a:prstGeom>
          <a:solidFill>
            <a:srgbClr val="EEF1F6"/>
          </a:solidFill>
          <a:ln w="12700">
            <a:solidFill>
              <a:srgbClr val="EEF1F6"/>
            </a:solidFill>
            <a:prstDash val="solid"/>
          </a:ln>
        </p:spPr>
      </p:sp>
      <p:sp>
        <p:nvSpPr>
          <p:cNvPr id="31" name="Shape 26"/>
          <p:cNvSpPr/>
          <p:nvPr/>
        </p:nvSpPr>
        <p:spPr>
          <a:xfrm>
            <a:off x="6409944" y="3017520"/>
            <a:ext cx="566928" cy="566928"/>
          </a:xfrm>
          <a:prstGeom prst="ellipse">
            <a:avLst/>
          </a:prstGeom>
          <a:solidFill>
            <a:srgbClr val="C8453B"/>
          </a:solidFill>
          <a:ln w="12700">
            <a:solidFill>
              <a:srgbClr val="C8453B"/>
            </a:solidFill>
            <a:prstDash val="solid"/>
          </a:ln>
        </p:spPr>
      </p:sp>
      <p:pic>
        <p:nvPicPr>
          <p:cNvPr id="32" name="Image 2" descr="preencoded.png">    </p:cNvPr>
          <p:cNvPicPr>
            <a:picLocks noChangeAspect="1"/>
          </p:cNvPicPr>
          <p:nvPr/>
        </p:nvPicPr>
        <p:blipFill>
          <a:blip r:embed="rId3"/>
          <a:stretch>
            <a:fillRect/>
          </a:stretch>
        </p:blipFill>
        <p:spPr>
          <a:xfrm>
            <a:off x="6557345" y="3164921"/>
            <a:ext cx="272125" cy="272125"/>
          </a:xfrm>
          <a:prstGeom prst="rect">
            <a:avLst/>
          </a:prstGeom>
        </p:spPr>
      </p:pic>
      <p:sp>
        <p:nvSpPr>
          <p:cNvPr id="33" name="Text 27"/>
          <p:cNvSpPr txBox="1"/>
          <p:nvPr/>
        </p:nvSpPr>
        <p:spPr>
          <a:xfrm>
            <a:off x="7095744"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Bugs &amp; scope</a:t>
            </a:r>
            <a:endParaRPr lang="en-US" sz="1700" dirty="0"/>
          </a:p>
        </p:txBody>
      </p:sp>
      <p:sp>
        <p:nvSpPr>
          <p:cNvPr id="34" name="Text 28"/>
          <p:cNvSpPr txBox="1"/>
          <p:nvPr/>
        </p:nvSpPr>
        <p:spPr>
          <a:xfrm>
            <a:off x="6409944"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Check bounds (&lt; Length), types, returns, braces/blocks, Parse, using.</a:t>
            </a:r>
            <a:endParaRPr lang="en-US" sz="1400" dirty="0"/>
          </a:p>
        </p:txBody>
      </p:sp>
      <p:sp>
        <p:nvSpPr>
          <p:cNvPr id="35" name="Shape 29"/>
          <p:cNvSpPr/>
          <p:nvPr/>
        </p:nvSpPr>
        <p:spPr>
          <a:xfrm>
            <a:off x="8997696" y="2788920"/>
            <a:ext cx="2679192" cy="2468880"/>
          </a:xfrm>
          <a:prstGeom prst="roundRect">
            <a:avLst>
              <a:gd name="adj" fmla="val 4444"/>
            </a:avLst>
          </a:prstGeom>
          <a:solidFill>
            <a:srgbClr val="EEF1F6"/>
          </a:solidFill>
          <a:ln w="12700">
            <a:solidFill>
              <a:srgbClr val="EEF1F6"/>
            </a:solidFill>
            <a:prstDash val="solid"/>
          </a:ln>
        </p:spPr>
      </p:sp>
      <p:sp>
        <p:nvSpPr>
          <p:cNvPr id="36" name="Shape 30"/>
          <p:cNvSpPr/>
          <p:nvPr/>
        </p:nvSpPr>
        <p:spPr>
          <a:xfrm>
            <a:off x="9226296" y="3017520"/>
            <a:ext cx="566928" cy="566928"/>
          </a:xfrm>
          <a:prstGeom prst="ellipse">
            <a:avLst/>
          </a:prstGeom>
          <a:solidFill>
            <a:srgbClr val="B7791F"/>
          </a:solidFill>
          <a:ln w="12700">
            <a:solidFill>
              <a:srgbClr val="B7791F"/>
            </a:solidFill>
            <a:prstDash val="solid"/>
          </a:ln>
        </p:spPr>
      </p:sp>
      <p:pic>
        <p:nvPicPr>
          <p:cNvPr id="37" name="Image 3" descr="preencoded.png">    </p:cNvPr>
          <p:cNvPicPr>
            <a:picLocks noChangeAspect="1"/>
          </p:cNvPicPr>
          <p:nvPr/>
        </p:nvPicPr>
        <p:blipFill>
          <a:blip r:embed="rId4"/>
          <a:stretch>
            <a:fillRect/>
          </a:stretch>
        </p:blipFill>
        <p:spPr>
          <a:xfrm>
            <a:off x="9373697" y="3164921"/>
            <a:ext cx="272125" cy="272125"/>
          </a:xfrm>
          <a:prstGeom prst="rect">
            <a:avLst/>
          </a:prstGeom>
        </p:spPr>
      </p:pic>
      <p:sp>
        <p:nvSpPr>
          <p:cNvPr id="38" name="Text 31"/>
          <p:cNvSpPr txBox="1"/>
          <p:nvPr/>
        </p:nvSpPr>
        <p:spPr>
          <a:xfrm>
            <a:off x="9912096" y="3017520"/>
            <a:ext cx="1581912" cy="566928"/>
          </a:xfrm>
          <a:prstGeom prst="rect">
            <a:avLst/>
          </a:prstGeom>
          <a:noFill/>
          <a:ln/>
        </p:spPr>
        <p:txBody>
          <a:bodyPr wrap="square" lIns="0" tIns="0" rIns="0" bIns="0" rtlCol="0" anchor="ctr"/>
          <a:lstStyle/>
          <a:p>
            <a:pPr indent="0" marL="0">
              <a:buNone/>
            </a:pPr>
            <a:r>
              <a:rPr lang="en-US" sz="1700" b="1" dirty="0">
                <a:solidFill>
                  <a:srgbClr val="14213D"/>
                </a:solidFill>
                <a:latin typeface="Cambria" pitchFamily="34" charset="0"/>
                <a:ea typeface="Cambria" pitchFamily="34" charset="-122"/>
                <a:cs typeface="Cambria" pitchFamily="34" charset="-120"/>
              </a:rPr>
              <a:t>Write a program</a:t>
            </a:r>
            <a:endParaRPr lang="en-US" sz="1700" dirty="0"/>
          </a:p>
        </p:txBody>
      </p:sp>
      <p:sp>
        <p:nvSpPr>
          <p:cNvPr id="39" name="Text 32"/>
          <p:cNvSpPr txBox="1"/>
          <p:nvPr/>
        </p:nvSpPr>
        <p:spPr>
          <a:xfrm>
            <a:off x="9226296" y="3703320"/>
            <a:ext cx="2221992" cy="1417320"/>
          </a:xfrm>
          <a:prstGeom prst="rect">
            <a:avLst/>
          </a:prstGeom>
          <a:noFill/>
          <a:ln/>
        </p:spPr>
        <p:txBody>
          <a:bodyPr wrap="square" lIns="0" tIns="0" rIns="0" bIns="0" rtlCol="0" anchor="t"/>
          <a:lstStyle/>
          <a:p>
            <a:pPr indent="0" marL="0">
              <a:buNone/>
            </a:pPr>
            <a:r>
              <a:rPr lang="en-US" sz="1400" dirty="0">
                <a:solidFill>
                  <a:srgbClr val="333B4F"/>
                </a:solidFill>
                <a:latin typeface="Calibri" pitchFamily="34" charset="0"/>
                <a:ea typeface="Calibri" pitchFamily="34" charset="-122"/>
                <a:cs typeface="Calibri" pitchFamily="34" charset="-120"/>
              </a:rPr>
              <a:t>Method headers first, then main, then bodies. Name the pattern. Prompts and output format last.</a:t>
            </a:r>
            <a:endParaRPr lang="en-US" sz="1400" dirty="0"/>
          </a:p>
        </p:txBody>
      </p:sp>
      <p:sp>
        <p:nvSpPr>
          <p:cNvPr id="40" name="Shape 33"/>
          <p:cNvSpPr/>
          <p:nvPr/>
        </p:nvSpPr>
        <p:spPr>
          <a:xfrm>
            <a:off x="548640" y="5394960"/>
            <a:ext cx="11109960" cy="685800"/>
          </a:xfrm>
          <a:prstGeom prst="roundRect">
            <a:avLst>
              <a:gd name="adj" fmla="val 16000"/>
            </a:avLst>
          </a:prstGeom>
          <a:solidFill>
            <a:srgbClr val="FFF6E3"/>
          </a:solidFill>
          <a:ln w="12700">
            <a:solidFill>
              <a:srgbClr val="FFF6E3"/>
            </a:solidFill>
            <a:prstDash val="solid"/>
          </a:ln>
        </p:spPr>
      </p:sp>
      <p:pic>
        <p:nvPicPr>
          <p:cNvPr id="41" name="Image 4" descr="preencoded.png">    </p:cNvPr>
          <p:cNvPicPr>
            <a:picLocks noChangeAspect="1"/>
          </p:cNvPicPr>
          <p:nvPr/>
        </p:nvPicPr>
        <p:blipFill>
          <a:blip r:embed="rId5"/>
          <a:stretch>
            <a:fillRect/>
          </a:stretch>
        </p:blipFill>
        <p:spPr>
          <a:xfrm>
            <a:off x="822960" y="5532120"/>
            <a:ext cx="411480" cy="411480"/>
          </a:xfrm>
          <a:prstGeom prst="rect">
            <a:avLst/>
          </a:prstGeom>
        </p:spPr>
      </p:pic>
      <p:sp>
        <p:nvSpPr>
          <p:cNvPr id="42" name="Text 34"/>
          <p:cNvSpPr txBox="1"/>
          <p:nvPr/>
        </p:nvSpPr>
        <p:spPr>
          <a:xfrm>
            <a:off x="1508760" y="5468112"/>
            <a:ext cx="9875520" cy="53949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Never leave a question blank: </a:t>
            </a:r>
            <a:pPr indent="0" marL="0">
              <a:buNone/>
            </a:pPr>
            <a:r>
              <a:rPr lang="en-US" sz="1400" dirty="0">
                <a:solidFill>
                  <a:srgbClr val="333B4F"/>
                </a:solidFill>
                <a:latin typeface="Calibri" pitchFamily="34" charset="0"/>
                <a:ea typeface="Calibri" pitchFamily="34" charset="-122"/>
                <a:cs typeface="Calibri" pitchFamily="34" charset="-120"/>
              </a:rPr>
              <a:t>a correct header, pseudocode or a partial trace usually earns partial credit.</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005840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&gt;_ </a:t>
            </a:r>
            <a:pPr indent="0" marL="0">
              <a:buNone/>
            </a:pPr>
            <a:r>
              <a:rPr lang="en-US" sz="1300" dirty="0">
                <a:solidFill>
                  <a:srgbClr val="5B6478"/>
                </a:solidFill>
                <a:latin typeface="Courier New" pitchFamily="34" charset="0"/>
                <a:ea typeface="Courier New" pitchFamily="34" charset="-122"/>
                <a:cs typeface="Courier New" pitchFamily="34" charset="-120"/>
              </a:rPr>
              <a:t>BEFORE THE EXAM</a:t>
            </a:r>
            <a:endParaRPr lang="en-US" sz="1300" dirty="0"/>
          </a:p>
        </p:txBody>
      </p:sp>
      <p:sp>
        <p:nvSpPr>
          <p:cNvPr id="3" name="Text 1"/>
          <p:cNvSpPr txBox="1"/>
          <p:nvPr/>
        </p:nvSpPr>
        <p:spPr>
          <a:xfrm>
            <a:off x="548640" y="658368"/>
            <a:ext cx="11094415" cy="731520"/>
          </a:xfrm>
          <a:prstGeom prst="rect">
            <a:avLst/>
          </a:prstGeom>
          <a:noFill/>
          <a:ln/>
        </p:spPr>
        <p:txBody>
          <a:bodyPr wrap="square" lIns="0" tIns="0" rIns="0" bIns="0" rtlCol="0" anchor="t">
            <a:normAutofit/>
          </a:bodyPr>
          <a:lstStyle/>
          <a:p>
            <a:pPr indent="0" marL="0">
              <a:buNone/>
            </a:pPr>
            <a:r>
              <a:rPr lang="en-US" sz="3200" b="1" dirty="0">
                <a:solidFill>
                  <a:srgbClr val="14213D"/>
                </a:solidFill>
                <a:latin typeface="Cambria" pitchFamily="34" charset="0"/>
                <a:ea typeface="Cambria" pitchFamily="34" charset="-122"/>
                <a:cs typeface="Cambria" pitchFamily="34" charset="-120"/>
              </a:rPr>
              <a:t>Your Study Plan for the Final</a:t>
            </a:r>
            <a:endParaRPr lang="en-US" sz="3200" dirty="0"/>
          </a:p>
        </p:txBody>
      </p:sp>
      <p:sp>
        <p:nvSpPr>
          <p:cNvPr id="5" name="Text 2"/>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5B6478"/>
                </a:solidFill>
                <a:latin typeface="Calibri" pitchFamily="34" charset="0"/>
                <a:ea typeface="Calibri" pitchFamily="34" charset="-122"/>
                <a:cs typeface="Calibri" pitchFamily="34" charset="-120"/>
              </a:rPr>
              <a:t>MCMP113  ·  Week 15</a:t>
            </a:r>
            <a:endParaRPr lang="en-US" sz="1000" dirty="0"/>
          </a:p>
        </p:txBody>
      </p:sp>
      <p:sp>
        <p:nvSpPr>
          <p:cNvPr id="6" name="Text 3"/>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43</a:t>
            </a:r>
            <a:endParaRPr lang="en-US" sz="1000" dirty="0"/>
          </a:p>
        </p:txBody>
      </p:sp>
      <p:sp>
        <p:nvSpPr>
          <p:cNvPr id="7" name="Shape 4"/>
          <p:cNvSpPr/>
          <p:nvPr/>
        </p:nvSpPr>
        <p:spPr>
          <a:xfrm>
            <a:off x="548640" y="1645920"/>
            <a:ext cx="2103120" cy="3291840"/>
          </a:xfrm>
          <a:prstGeom prst="roundRect">
            <a:avLst>
              <a:gd name="adj" fmla="val 5217"/>
            </a:avLst>
          </a:prstGeom>
          <a:solidFill>
            <a:srgbClr val="EEF1F6"/>
          </a:solidFill>
          <a:ln w="12700">
            <a:solidFill>
              <a:srgbClr val="EEF1F6"/>
            </a:solidFill>
            <a:prstDash val="solid"/>
          </a:ln>
        </p:spPr>
      </p:sp>
      <p:sp>
        <p:nvSpPr>
          <p:cNvPr id="8" name="Shape 5"/>
          <p:cNvSpPr/>
          <p:nvPr/>
        </p:nvSpPr>
        <p:spPr>
          <a:xfrm>
            <a:off x="1307592" y="1828800"/>
            <a:ext cx="585216" cy="585216"/>
          </a:xfrm>
          <a:prstGeom prst="ellipse">
            <a:avLst/>
          </a:prstGeom>
          <a:solidFill>
            <a:srgbClr val="14213D"/>
          </a:solidFill>
          <a:ln w="12700">
            <a:solidFill>
              <a:srgbClr val="14213D"/>
            </a:solidFill>
            <a:prstDash val="solid"/>
          </a:ln>
        </p:spPr>
      </p:sp>
      <p:pic>
        <p:nvPicPr>
          <p:cNvPr id="9" name="Image 0" descr="preencoded.png">    </p:cNvPr>
          <p:cNvPicPr>
            <a:picLocks noChangeAspect="1"/>
          </p:cNvPicPr>
          <p:nvPr/>
        </p:nvPicPr>
        <p:blipFill>
          <a:blip r:embed="rId1"/>
          <a:stretch>
            <a:fillRect/>
          </a:stretch>
        </p:blipFill>
        <p:spPr>
          <a:xfrm>
            <a:off x="1459748" y="1980956"/>
            <a:ext cx="280904" cy="280904"/>
          </a:xfrm>
          <a:prstGeom prst="rect">
            <a:avLst/>
          </a:prstGeom>
        </p:spPr>
      </p:pic>
      <p:sp>
        <p:nvSpPr>
          <p:cNvPr id="10" name="Text 6"/>
          <p:cNvSpPr txBox="1"/>
          <p:nvPr/>
        </p:nvSpPr>
        <p:spPr>
          <a:xfrm>
            <a:off x="54864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1</a:t>
            </a:r>
            <a:endParaRPr lang="en-US" sz="1700" dirty="0"/>
          </a:p>
        </p:txBody>
      </p:sp>
      <p:sp>
        <p:nvSpPr>
          <p:cNvPr id="11" name="Text 7"/>
          <p:cNvSpPr txBox="1"/>
          <p:nvPr/>
        </p:nvSpPr>
        <p:spPr>
          <a:xfrm>
            <a:off x="71323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Cheat sheet + Weeks 9–11 slides. Write your own one-page summary.</a:t>
            </a:r>
            <a:endParaRPr lang="en-US" sz="1400" dirty="0"/>
          </a:p>
        </p:txBody>
      </p:sp>
      <p:sp>
        <p:nvSpPr>
          <p:cNvPr id="12" name="Shape 8"/>
          <p:cNvSpPr/>
          <p:nvPr/>
        </p:nvSpPr>
        <p:spPr>
          <a:xfrm>
            <a:off x="2788920" y="1645920"/>
            <a:ext cx="2103120" cy="3291840"/>
          </a:xfrm>
          <a:prstGeom prst="roundRect">
            <a:avLst>
              <a:gd name="adj" fmla="val 5217"/>
            </a:avLst>
          </a:prstGeom>
          <a:solidFill>
            <a:srgbClr val="EEF1F6"/>
          </a:solidFill>
          <a:ln w="12700">
            <a:solidFill>
              <a:srgbClr val="EEF1F6"/>
            </a:solidFill>
            <a:prstDash val="solid"/>
          </a:ln>
        </p:spPr>
      </p:sp>
      <p:sp>
        <p:nvSpPr>
          <p:cNvPr id="13" name="Shape 9"/>
          <p:cNvSpPr/>
          <p:nvPr/>
        </p:nvSpPr>
        <p:spPr>
          <a:xfrm>
            <a:off x="3547872" y="1828800"/>
            <a:ext cx="585216" cy="585216"/>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700028" y="1980956"/>
            <a:ext cx="280904" cy="280904"/>
          </a:xfrm>
          <a:prstGeom prst="rect">
            <a:avLst/>
          </a:prstGeom>
        </p:spPr>
      </p:pic>
      <p:sp>
        <p:nvSpPr>
          <p:cNvPr id="15" name="Text 10"/>
          <p:cNvSpPr txBox="1"/>
          <p:nvPr/>
        </p:nvSpPr>
        <p:spPr>
          <a:xfrm>
            <a:off x="278892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2</a:t>
            </a:r>
            <a:endParaRPr lang="en-US" sz="1700" dirty="0"/>
          </a:p>
        </p:txBody>
      </p:sp>
      <p:sp>
        <p:nvSpPr>
          <p:cNvPr id="16" name="Text 11"/>
          <p:cNvSpPr txBox="1"/>
          <p:nvPr/>
        </p:nvSpPr>
        <p:spPr>
          <a:xfrm>
            <a:off x="295351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Weeks 12–14: methods, scope, recursion, files. Redo Q9–Q14.</a:t>
            </a:r>
            <a:endParaRPr lang="en-US" sz="1400" dirty="0"/>
          </a:p>
        </p:txBody>
      </p:sp>
      <p:sp>
        <p:nvSpPr>
          <p:cNvPr id="17" name="Shape 12"/>
          <p:cNvSpPr/>
          <p:nvPr/>
        </p:nvSpPr>
        <p:spPr>
          <a:xfrm>
            <a:off x="5029200" y="1645920"/>
            <a:ext cx="2103120" cy="3291840"/>
          </a:xfrm>
          <a:prstGeom prst="roundRect">
            <a:avLst>
              <a:gd name="adj" fmla="val 5217"/>
            </a:avLst>
          </a:prstGeom>
          <a:solidFill>
            <a:srgbClr val="EEF1F6"/>
          </a:solidFill>
          <a:ln w="12700">
            <a:solidFill>
              <a:srgbClr val="EEF1F6"/>
            </a:solidFill>
            <a:prstDash val="solid"/>
          </a:ln>
        </p:spPr>
      </p:sp>
      <p:sp>
        <p:nvSpPr>
          <p:cNvPr id="18" name="Shape 13"/>
          <p:cNvSpPr/>
          <p:nvPr/>
        </p:nvSpPr>
        <p:spPr>
          <a:xfrm>
            <a:off x="5788152" y="1828800"/>
            <a:ext cx="585216" cy="585216"/>
          </a:xfrm>
          <a:prstGeom prst="ellipse">
            <a:avLst/>
          </a:prstGeom>
          <a:solidFill>
            <a:srgbClr val="FCA311"/>
          </a:solidFill>
          <a:ln w="12700">
            <a:solidFill>
              <a:srgbClr val="FCA311"/>
            </a:solidFill>
            <a:prstDash val="solid"/>
          </a:ln>
        </p:spPr>
      </p:sp>
      <p:pic>
        <p:nvPicPr>
          <p:cNvPr id="19" name="Image 2" descr="preencoded.png">    </p:cNvPr>
          <p:cNvPicPr>
            <a:picLocks noChangeAspect="1"/>
          </p:cNvPicPr>
          <p:nvPr/>
        </p:nvPicPr>
        <p:blipFill>
          <a:blip r:embed="rId3"/>
          <a:stretch>
            <a:fillRect/>
          </a:stretch>
        </p:blipFill>
        <p:spPr>
          <a:xfrm>
            <a:off x="5940308" y="1980956"/>
            <a:ext cx="280904" cy="280904"/>
          </a:xfrm>
          <a:prstGeom prst="rect">
            <a:avLst/>
          </a:prstGeom>
        </p:spPr>
      </p:pic>
      <p:sp>
        <p:nvSpPr>
          <p:cNvPr id="20" name="Text 14"/>
          <p:cNvSpPr txBox="1"/>
          <p:nvPr/>
        </p:nvSpPr>
        <p:spPr>
          <a:xfrm>
            <a:off x="502920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3</a:t>
            </a:r>
            <a:endParaRPr lang="en-US" sz="1700" dirty="0"/>
          </a:p>
        </p:txBody>
      </p:sp>
      <p:sp>
        <p:nvSpPr>
          <p:cNvPr id="21" name="Text 15"/>
          <p:cNvSpPr txBox="1"/>
          <p:nvPr/>
        </p:nvSpPr>
        <p:spPr>
          <a:xfrm>
            <a:off x="519379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Practice final: 120 minutes, on paper, with a timer.</a:t>
            </a:r>
            <a:endParaRPr lang="en-US" sz="1400" dirty="0"/>
          </a:p>
        </p:txBody>
      </p:sp>
      <p:sp>
        <p:nvSpPr>
          <p:cNvPr id="22" name="Shape 16"/>
          <p:cNvSpPr/>
          <p:nvPr/>
        </p:nvSpPr>
        <p:spPr>
          <a:xfrm>
            <a:off x="7269480" y="1645920"/>
            <a:ext cx="2103120" cy="3291840"/>
          </a:xfrm>
          <a:prstGeom prst="roundRect">
            <a:avLst>
              <a:gd name="adj" fmla="val 5217"/>
            </a:avLst>
          </a:prstGeom>
          <a:solidFill>
            <a:srgbClr val="EEF1F6"/>
          </a:solidFill>
          <a:ln w="12700">
            <a:solidFill>
              <a:srgbClr val="EEF1F6"/>
            </a:solidFill>
            <a:prstDash val="solid"/>
          </a:ln>
        </p:spPr>
      </p:sp>
      <p:sp>
        <p:nvSpPr>
          <p:cNvPr id="23" name="Shape 17"/>
          <p:cNvSpPr/>
          <p:nvPr/>
        </p:nvSpPr>
        <p:spPr>
          <a:xfrm>
            <a:off x="8028432" y="1828800"/>
            <a:ext cx="585216" cy="585216"/>
          </a:xfrm>
          <a:prstGeom prst="ellipse">
            <a:avLst/>
          </a:prstGeom>
          <a:solidFill>
            <a:srgbClr val="14213D"/>
          </a:solidFill>
          <a:ln w="12700">
            <a:solidFill>
              <a:srgbClr val="14213D"/>
            </a:solidFill>
            <a:prstDash val="solid"/>
          </a:ln>
        </p:spPr>
      </p:sp>
      <p:pic>
        <p:nvPicPr>
          <p:cNvPr id="24" name="Image 3" descr="preencoded.png">    </p:cNvPr>
          <p:cNvPicPr>
            <a:picLocks noChangeAspect="1"/>
          </p:cNvPicPr>
          <p:nvPr/>
        </p:nvPicPr>
        <p:blipFill>
          <a:blip r:embed="rId4"/>
          <a:stretch>
            <a:fillRect/>
          </a:stretch>
        </p:blipFill>
        <p:spPr>
          <a:xfrm>
            <a:off x="8180588" y="1980956"/>
            <a:ext cx="280904" cy="280904"/>
          </a:xfrm>
          <a:prstGeom prst="rect">
            <a:avLst/>
          </a:prstGeom>
        </p:spPr>
      </p:pic>
      <p:sp>
        <p:nvSpPr>
          <p:cNvPr id="25" name="Text 18"/>
          <p:cNvSpPr txBox="1"/>
          <p:nvPr/>
        </p:nvSpPr>
        <p:spPr>
          <a:xfrm>
            <a:off x="726948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4</a:t>
            </a:r>
            <a:endParaRPr lang="en-US" sz="1700" dirty="0"/>
          </a:p>
        </p:txBody>
      </p:sp>
      <p:sp>
        <p:nvSpPr>
          <p:cNvPr id="26" name="Text 19"/>
          <p:cNvSpPr txBox="1"/>
          <p:nvPr/>
        </p:nvSpPr>
        <p:spPr>
          <a:xfrm>
            <a:off x="743407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Check it with the code folder. List every mistake and its cause.</a:t>
            </a:r>
            <a:endParaRPr lang="en-US" sz="1400" dirty="0"/>
          </a:p>
        </p:txBody>
      </p:sp>
      <p:sp>
        <p:nvSpPr>
          <p:cNvPr id="27" name="Shape 20"/>
          <p:cNvSpPr/>
          <p:nvPr/>
        </p:nvSpPr>
        <p:spPr>
          <a:xfrm>
            <a:off x="9509760" y="1645920"/>
            <a:ext cx="2103120" cy="3291840"/>
          </a:xfrm>
          <a:prstGeom prst="roundRect">
            <a:avLst>
              <a:gd name="adj" fmla="val 5217"/>
            </a:avLst>
          </a:prstGeom>
          <a:solidFill>
            <a:srgbClr val="EEF1F6"/>
          </a:solidFill>
          <a:ln w="12700">
            <a:solidFill>
              <a:srgbClr val="EEF1F6"/>
            </a:solidFill>
            <a:prstDash val="solid"/>
          </a:ln>
        </p:spPr>
      </p:sp>
      <p:sp>
        <p:nvSpPr>
          <p:cNvPr id="28" name="Shape 21"/>
          <p:cNvSpPr/>
          <p:nvPr/>
        </p:nvSpPr>
        <p:spPr>
          <a:xfrm>
            <a:off x="10268712" y="1828800"/>
            <a:ext cx="585216" cy="585216"/>
          </a:xfrm>
          <a:prstGeom prst="ellipse">
            <a:avLst/>
          </a:prstGeom>
          <a:solidFill>
            <a:srgbClr val="14213D"/>
          </a:solidFill>
          <a:ln w="12700">
            <a:solidFill>
              <a:srgbClr val="14213D"/>
            </a:solidFill>
            <a:prstDash val="solid"/>
          </a:ln>
        </p:spPr>
      </p:sp>
      <p:pic>
        <p:nvPicPr>
          <p:cNvPr id="29" name="Image 4" descr="preencoded.png">    </p:cNvPr>
          <p:cNvPicPr>
            <a:picLocks noChangeAspect="1"/>
          </p:cNvPicPr>
          <p:nvPr/>
        </p:nvPicPr>
        <p:blipFill>
          <a:blip r:embed="rId5"/>
          <a:stretch>
            <a:fillRect/>
          </a:stretch>
        </p:blipFill>
        <p:spPr>
          <a:xfrm>
            <a:off x="10420868" y="1980956"/>
            <a:ext cx="280904" cy="280904"/>
          </a:xfrm>
          <a:prstGeom prst="rect">
            <a:avLst/>
          </a:prstGeom>
        </p:spPr>
      </p:pic>
      <p:sp>
        <p:nvSpPr>
          <p:cNvPr id="30" name="Text 22"/>
          <p:cNvSpPr txBox="1"/>
          <p:nvPr/>
        </p:nvSpPr>
        <p:spPr>
          <a:xfrm>
            <a:off x="9509760" y="2514600"/>
            <a:ext cx="2103120" cy="365760"/>
          </a:xfrm>
          <a:prstGeom prst="rect">
            <a:avLst/>
          </a:prstGeom>
          <a:noFill/>
          <a:ln/>
        </p:spPr>
        <p:txBody>
          <a:bodyPr wrap="square" lIns="0" tIns="0" rIns="0" bIns="0" rtlCol="0" anchor="ctr"/>
          <a:lstStyle/>
          <a:p>
            <a:pPr algn="ctr" indent="0" marL="0">
              <a:buNone/>
            </a:pPr>
            <a:r>
              <a:rPr lang="en-US" sz="1700" b="1" dirty="0">
                <a:solidFill>
                  <a:srgbClr val="14213D"/>
                </a:solidFill>
                <a:latin typeface="Cambria" pitchFamily="34" charset="0"/>
                <a:ea typeface="Cambria" pitchFamily="34" charset="-122"/>
                <a:cs typeface="Cambria" pitchFamily="34" charset="-120"/>
              </a:rPr>
              <a:t>Day 5</a:t>
            </a:r>
            <a:endParaRPr lang="en-US" sz="1700" dirty="0"/>
          </a:p>
        </p:txBody>
      </p:sp>
      <p:sp>
        <p:nvSpPr>
          <p:cNvPr id="31" name="Text 23"/>
          <p:cNvSpPr txBox="1"/>
          <p:nvPr/>
        </p:nvSpPr>
        <p:spPr>
          <a:xfrm>
            <a:off x="9674352" y="2926080"/>
            <a:ext cx="1773936" cy="1920240"/>
          </a:xfrm>
          <a:prstGeom prst="rect">
            <a:avLst/>
          </a:prstGeom>
          <a:noFill/>
          <a:ln/>
        </p:spPr>
        <p:txBody>
          <a:bodyPr wrap="square" lIns="0" tIns="0" rIns="0" bIns="0" rtlCol="0" anchor="t"/>
          <a:lstStyle/>
          <a:p>
            <a:pPr algn="ctr" indent="0" marL="0">
              <a:buNone/>
            </a:pPr>
            <a:r>
              <a:rPr lang="en-US" sz="1400" dirty="0">
                <a:solidFill>
                  <a:srgbClr val="333B4F"/>
                </a:solidFill>
                <a:latin typeface="Calibri" pitchFamily="34" charset="0"/>
                <a:ea typeface="Calibri" pitchFamily="34" charset="-122"/>
                <a:cs typeface="Calibri" pitchFamily="34" charset="-120"/>
              </a:rPr>
              <a:t>Problem set P1–P14; type the programs and compare.</a:t>
            </a:r>
            <a:endParaRPr lang="en-US" sz="1400" dirty="0"/>
          </a:p>
        </p:txBody>
      </p:sp>
      <p:sp>
        <p:nvSpPr>
          <p:cNvPr id="32" name="Shape 24"/>
          <p:cNvSpPr/>
          <p:nvPr/>
        </p:nvSpPr>
        <p:spPr>
          <a:xfrm>
            <a:off x="548640" y="5166360"/>
            <a:ext cx="11109960" cy="868680"/>
          </a:xfrm>
          <a:prstGeom prst="roundRect">
            <a:avLst>
              <a:gd name="adj" fmla="val 12632"/>
            </a:avLst>
          </a:prstGeom>
          <a:solidFill>
            <a:srgbClr val="FFF6E3"/>
          </a:solidFill>
          <a:ln w="12700">
            <a:solidFill>
              <a:srgbClr val="FFF6E3"/>
            </a:solidFill>
            <a:prstDash val="solid"/>
          </a:ln>
        </p:spPr>
      </p:sp>
      <p:pic>
        <p:nvPicPr>
          <p:cNvPr id="33" name="Image 5" descr="preencoded.png">    </p:cNvPr>
          <p:cNvPicPr>
            <a:picLocks noChangeAspect="1"/>
          </p:cNvPicPr>
          <p:nvPr/>
        </p:nvPicPr>
        <p:blipFill>
          <a:blip r:embed="rId6"/>
          <a:stretch>
            <a:fillRect/>
          </a:stretch>
        </p:blipFill>
        <p:spPr>
          <a:xfrm>
            <a:off x="822960" y="5326380"/>
            <a:ext cx="548640" cy="548640"/>
          </a:xfrm>
          <a:prstGeom prst="rect">
            <a:avLst/>
          </a:prstGeom>
        </p:spPr>
      </p:pic>
      <p:sp>
        <p:nvSpPr>
          <p:cNvPr id="34" name="Text 25"/>
          <p:cNvSpPr txBox="1"/>
          <p:nvPr/>
        </p:nvSpPr>
        <p:spPr>
          <a:xfrm>
            <a:off x="1645920" y="5239512"/>
            <a:ext cx="9738360" cy="722376"/>
          </a:xfrm>
          <a:prstGeom prst="rect">
            <a:avLst/>
          </a:prstGeom>
          <a:noFill/>
          <a:ln/>
        </p:spPr>
        <p:txBody>
          <a:bodyPr wrap="square" lIns="0" tIns="0" rIns="0" bIns="0" rtlCol="0" anchor="ctr"/>
          <a:lstStyle/>
          <a:p>
            <a:pPr indent="0" marL="0">
              <a:buNone/>
            </a:pPr>
            <a:r>
              <a:rPr lang="en-US" sz="1400" b="1" dirty="0">
                <a:solidFill>
                  <a:srgbClr val="333B4F"/>
                </a:solidFill>
                <a:latin typeface="Calibri" pitchFamily="34" charset="0"/>
                <a:ea typeface="Calibri" pitchFamily="34" charset="-122"/>
                <a:cs typeface="Calibri" pitchFamily="34" charset="-120"/>
              </a:rPr>
              <a:t>Code folder: </a:t>
            </a:r>
            <a:pPr indent="0" marL="0">
              <a:buNone/>
            </a:pPr>
            <a:r>
              <a:rPr lang="en-US" sz="1400" dirty="0">
                <a:solidFill>
                  <a:srgbClr val="333B4F"/>
                </a:solidFill>
                <a:latin typeface="Calibri" pitchFamily="34" charset="0"/>
                <a:ea typeface="Calibri" pitchFamily="34" charset="-122"/>
                <a:cs typeface="Calibri" pitchFamily="34" charset="-120"/>
              </a:rPr>
              <a:t>15 tested projects (15_01 … 15_15): every programming question of this deck, the practice final and the problem set.</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457200"/>
            <a:ext cx="5486400" cy="365760"/>
          </a:xfrm>
          <a:prstGeom prst="rect">
            <a:avLst/>
          </a:prstGeom>
          <a:noFill/>
          <a:ln/>
        </p:spPr>
        <p:txBody>
          <a:bodyPr wrap="square" lIns="0" tIns="0" rIns="0" bIns="0" rtlCol="0" anchor="ctr"/>
          <a:lstStyle/>
          <a:p>
            <a:pPr indent="0" marL="0">
              <a:buNone/>
            </a:pPr>
            <a:r>
              <a:rPr lang="en-US" sz="1400" b="1" dirty="0">
                <a:solidFill>
                  <a:srgbClr val="FCA311"/>
                </a:solidFill>
                <a:latin typeface="Courier New" pitchFamily="34" charset="0"/>
                <a:ea typeface="Courier New" pitchFamily="34" charset="-122"/>
                <a:cs typeface="Courier New" pitchFamily="34" charset="-120"/>
              </a:rPr>
              <a:t>&gt;_ SUMMARY</a:t>
            </a:r>
            <a:endParaRPr lang="en-US" sz="1400" dirty="0"/>
          </a:p>
        </p:txBody>
      </p:sp>
      <p:sp>
        <p:nvSpPr>
          <p:cNvPr id="3" name="Text 1"/>
          <p:cNvSpPr txBox="1"/>
          <p:nvPr/>
        </p:nvSpPr>
        <p:spPr>
          <a:xfrm>
            <a:off x="548640" y="86868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4" name="Text 2"/>
          <p:cNvSpPr txBox="1"/>
          <p:nvPr/>
        </p:nvSpPr>
        <p:spPr>
          <a:xfrm>
            <a:off x="548640" y="18288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01</a:t>
            </a:r>
            <a:endParaRPr lang="en-US" sz="2000" dirty="0"/>
          </a:p>
        </p:txBody>
      </p:sp>
      <p:sp>
        <p:nvSpPr>
          <p:cNvPr id="5" name="Text 3"/>
          <p:cNvSpPr txBox="1"/>
          <p:nvPr/>
        </p:nvSpPr>
        <p:spPr>
          <a:xfrm>
            <a:off x="1325880" y="18288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The final is cumulative (Weeks 1–14); most points come from arrays, matrices, methods and files.</a:t>
            </a:r>
            <a:endParaRPr lang="en-US" sz="1500" dirty="0"/>
          </a:p>
        </p:txBody>
      </p:sp>
      <p:sp>
        <p:nvSpPr>
          <p:cNvPr id="6" name="Text 4"/>
          <p:cNvSpPr txBox="1"/>
          <p:nvPr/>
        </p:nvSpPr>
        <p:spPr>
          <a:xfrm>
            <a:off x="548640" y="252984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02</a:t>
            </a:r>
            <a:endParaRPr lang="en-US" sz="2000" dirty="0"/>
          </a:p>
        </p:txBody>
      </p:sp>
      <p:sp>
        <p:nvSpPr>
          <p:cNvPr id="7" name="Text 5"/>
          <p:cNvSpPr txBox="1"/>
          <p:nvPr/>
        </p:nvSpPr>
        <p:spPr>
          <a:xfrm>
            <a:off x="1325880" y="252984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Arrays: indices 0 … Length − 1; b = a is not a copy; max starts with a[0].</a:t>
            </a:r>
            <a:endParaRPr lang="en-US" sz="1500" dirty="0"/>
          </a:p>
        </p:txBody>
      </p:sp>
      <p:sp>
        <p:nvSpPr>
          <p:cNvPr id="8" name="Text 6"/>
          <p:cNvSpPr txBox="1"/>
          <p:nvPr/>
        </p:nvSpPr>
        <p:spPr>
          <a:xfrm>
            <a:off x="548640" y="323088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03</a:t>
            </a:r>
            <a:endParaRPr lang="en-US" sz="2000" dirty="0"/>
          </a:p>
        </p:txBody>
      </p:sp>
      <p:sp>
        <p:nvSpPr>
          <p:cNvPr id="9" name="Text 7"/>
          <p:cNvSpPr txBox="1"/>
          <p:nvPr/>
        </p:nvSpPr>
        <p:spPr>
          <a:xfrm>
            <a:off x="1325880" y="323088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Trace sorts and searches row by row: pass, low/high/mid, swaps, comparisons.</a:t>
            </a:r>
            <a:endParaRPr lang="en-US" sz="1500" dirty="0"/>
          </a:p>
        </p:txBody>
      </p:sp>
      <p:sp>
        <p:nvSpPr>
          <p:cNvPr id="10" name="Text 8"/>
          <p:cNvSpPr txBox="1"/>
          <p:nvPr/>
        </p:nvSpPr>
        <p:spPr>
          <a:xfrm>
            <a:off x="548640" y="393192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04</a:t>
            </a:r>
            <a:endParaRPr lang="en-US" sz="2000" dirty="0"/>
          </a:p>
        </p:txBody>
      </p:sp>
      <p:sp>
        <p:nvSpPr>
          <p:cNvPr id="11" name="Text 9"/>
          <p:cNvSpPr txBox="1"/>
          <p:nvPr/>
        </p:nvSpPr>
        <p:spPr>
          <a:xfrm>
            <a:off x="1325880" y="393192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Parameters are copies: a value never changes the caller; ref does; arrays share elements.</a:t>
            </a:r>
            <a:endParaRPr lang="en-US" sz="1500" dirty="0"/>
          </a:p>
        </p:txBody>
      </p:sp>
      <p:sp>
        <p:nvSpPr>
          <p:cNvPr id="12" name="Text 10"/>
          <p:cNvSpPr txBox="1"/>
          <p:nvPr/>
        </p:nvSpPr>
        <p:spPr>
          <a:xfrm>
            <a:off x="548640" y="463296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05</a:t>
            </a:r>
            <a:endParaRPr lang="en-US" sz="2000" dirty="0"/>
          </a:p>
        </p:txBody>
      </p:sp>
      <p:sp>
        <p:nvSpPr>
          <p:cNvPr id="13" name="Text 11"/>
          <p:cNvSpPr txBox="1"/>
          <p:nvPr/>
        </p:nvSpPr>
        <p:spPr>
          <a:xfrm>
            <a:off x="1325880" y="463296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Every path returns; scope ends at the }; recursion needs a base case.</a:t>
            </a:r>
            <a:endParaRPr lang="en-US" sz="1500" dirty="0"/>
          </a:p>
        </p:txBody>
      </p:sp>
      <p:sp>
        <p:nvSpPr>
          <p:cNvPr id="14" name="Text 12"/>
          <p:cNvSpPr txBox="1"/>
          <p:nvPr/>
        </p:nvSpPr>
        <p:spPr>
          <a:xfrm>
            <a:off x="548640" y="5334000"/>
            <a:ext cx="731520" cy="609600"/>
          </a:xfrm>
          <a:prstGeom prst="rect">
            <a:avLst/>
          </a:prstGeom>
          <a:noFill/>
          <a:ln/>
        </p:spPr>
        <p:txBody>
          <a:bodyPr wrap="square" lIns="0" tIns="0" rIns="0" bIns="0" rtlCol="0" anchor="ctr"/>
          <a:lstStyle/>
          <a:p>
            <a:pPr indent="0" marL="0">
              <a:buNone/>
            </a:pPr>
            <a:r>
              <a:rPr lang="en-US" sz="2000" b="1" dirty="0">
                <a:solidFill>
                  <a:srgbClr val="FCA311"/>
                </a:solidFill>
                <a:latin typeface="Courier New" pitchFamily="34" charset="0"/>
                <a:ea typeface="Courier New" pitchFamily="34" charset="-122"/>
                <a:cs typeface="Courier New" pitchFamily="34" charset="-120"/>
              </a:rPr>
              <a:t>06</a:t>
            </a:r>
            <a:endParaRPr lang="en-US" sz="2000" dirty="0"/>
          </a:p>
        </p:txBody>
      </p:sp>
      <p:sp>
        <p:nvSpPr>
          <p:cNvPr id="15" name="Text 13"/>
          <p:cNvSpPr txBox="1"/>
          <p:nvPr/>
        </p:nvSpPr>
        <p:spPr>
          <a:xfrm>
            <a:off x="1325880" y="5334000"/>
            <a:ext cx="6675120" cy="60960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Files: using, ReadLine() until null, Split, Parse inside try/catch.</a:t>
            </a:r>
            <a:endParaRPr lang="en-US" sz="1500" dirty="0"/>
          </a:p>
        </p:txBody>
      </p:sp>
      <p:sp>
        <p:nvSpPr>
          <p:cNvPr id="16" name="Shape 14"/>
          <p:cNvSpPr/>
          <p:nvPr/>
        </p:nvSpPr>
        <p:spPr>
          <a:xfrm>
            <a:off x="8412480" y="822960"/>
            <a:ext cx="3246120" cy="5120640"/>
          </a:xfrm>
          <a:prstGeom prst="roundRect">
            <a:avLst>
              <a:gd name="adj" fmla="val 3380"/>
            </a:avLst>
          </a:prstGeom>
          <a:solidFill>
            <a:srgbClr val="1E2E52"/>
          </a:solidFill>
          <a:ln w="12700">
            <a:solidFill>
              <a:srgbClr val="1E2E52"/>
            </a:solidFill>
            <a:prstDash val="solid"/>
          </a:ln>
        </p:spPr>
      </p:sp>
      <p:sp>
        <p:nvSpPr>
          <p:cNvPr id="17" name="Text 15"/>
          <p:cNvSpPr txBox="1"/>
          <p:nvPr/>
        </p:nvSpPr>
        <p:spPr>
          <a:xfrm>
            <a:off x="8641080" y="1005840"/>
            <a:ext cx="2834640" cy="320040"/>
          </a:xfrm>
          <a:prstGeom prst="rect">
            <a:avLst/>
          </a:prstGeom>
          <a:noFill/>
          <a:ln/>
        </p:spPr>
        <p:txBody>
          <a:bodyPr wrap="square" lIns="0" tIns="0" rIns="0" bIns="0" rtlCol="0" anchor="ctr"/>
          <a:lstStyle/>
          <a:p>
            <a:pPr indent="0" marL="0">
              <a:buNone/>
            </a:pPr>
            <a:r>
              <a:rPr lang="en-US" sz="1300" b="1" dirty="0">
                <a:solidFill>
                  <a:srgbClr val="FCA311"/>
                </a:solidFill>
                <a:latin typeface="Courier New" pitchFamily="34" charset="0"/>
                <a:ea typeface="Courier New" pitchFamily="34" charset="-122"/>
                <a:cs typeface="Courier New" pitchFamily="34" charset="-120"/>
              </a:rPr>
              <a:t>NEXT WEEK</a:t>
            </a:r>
            <a:endParaRPr lang="en-US" sz="1300" dirty="0"/>
          </a:p>
        </p:txBody>
      </p:sp>
      <p:sp>
        <p:nvSpPr>
          <p:cNvPr id="18" name="Text 16"/>
          <p:cNvSpPr txBox="1"/>
          <p:nvPr/>
        </p:nvSpPr>
        <p:spPr>
          <a:xfrm>
            <a:off x="8641080" y="1371600"/>
            <a:ext cx="2834640" cy="822960"/>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Cambria" pitchFamily="34" charset="0"/>
                <a:ea typeface="Cambria" pitchFamily="34" charset="-122"/>
                <a:cs typeface="Cambria" pitchFamily="34" charset="-120"/>
              </a:rPr>
              <a:t>Final exam: date, room and duration in class</a:t>
            </a:r>
            <a:endParaRPr lang="en-US" sz="1800" dirty="0"/>
          </a:p>
        </p:txBody>
      </p:sp>
      <p:sp>
        <p:nvSpPr>
          <p:cNvPr id="19" name="Text 17"/>
          <p:cNvSpPr txBox="1"/>
          <p:nvPr/>
        </p:nvSpPr>
        <p:spPr>
          <a:xfrm>
            <a:off x="8915400" y="2560320"/>
            <a:ext cx="2286000" cy="1463040"/>
          </a:xfrm>
          <a:prstGeom prst="rect">
            <a:avLst/>
          </a:prstGeom>
          <a:noFill/>
          <a:ln/>
        </p:spPr>
        <p:txBody>
          <a:bodyPr wrap="square" lIns="0" tIns="0" rIns="0" bIns="0" rtlCol="0" anchor="ctr"/>
          <a:lstStyle/>
          <a:p>
            <a:pPr algn="ctr" indent="0" marL="0">
              <a:buNone/>
            </a:pPr>
            <a:r>
              <a:rPr lang="en-US" sz="6000" b="1" dirty="0">
                <a:solidFill>
                  <a:srgbClr val="FCA311"/>
                </a:solidFill>
                <a:latin typeface="Courier New" pitchFamily="34" charset="0"/>
                <a:ea typeface="Courier New" pitchFamily="34" charset="-122"/>
                <a:cs typeface="Courier New" pitchFamily="34" charset="-120"/>
              </a:rPr>
              <a:t>&gt;_</a:t>
            </a:r>
            <a:endParaRPr lang="en-US" sz="6000" dirty="0"/>
          </a:p>
        </p:txBody>
      </p:sp>
      <p:sp>
        <p:nvSpPr>
          <p:cNvPr id="20" name="Text 18"/>
          <p:cNvSpPr txBox="1"/>
          <p:nvPr/>
        </p:nvSpPr>
        <p:spPr>
          <a:xfrm>
            <a:off x="8641080" y="4846320"/>
            <a:ext cx="2834640" cy="731520"/>
          </a:xfrm>
          <a:prstGeom prst="rect">
            <a:avLst/>
          </a:prstGeom>
          <a:noFill/>
          <a:ln/>
        </p:spPr>
        <p:txBody>
          <a:bodyPr wrap="square" lIns="0" tIns="0" rIns="0" bIns="0" rtlCol="0" anchor="ctr"/>
          <a:lstStyle/>
          <a:p>
            <a:pPr algn="ctr" indent="0" marL="0">
              <a:buNone/>
            </a:pPr>
            <a:r>
              <a:rPr lang="en-US" sz="1300" dirty="0">
                <a:solidFill>
                  <a:srgbClr val="C7CEDC"/>
                </a:solidFill>
                <a:latin typeface="Calibri" pitchFamily="34" charset="0"/>
                <a:ea typeface="Calibri" pitchFamily="34" charset="-122"/>
                <a:cs typeface="Calibri" pitchFamily="34" charset="-120"/>
              </a:rPr>
              <a:t>MCMP113</a:t>
            </a:r>
            <a:endParaRPr lang="en-US" sz="1300" dirty="0"/>
          </a:p>
          <a:p>
            <a:pPr algn="ctr" indent="0" marL="0">
              <a:buNone/>
            </a:pPr>
            <a:r>
              <a:rPr lang="en-US" sz="1300" dirty="0">
                <a:solidFill>
                  <a:srgbClr val="C7CEDC"/>
                </a:solidFill>
                <a:latin typeface="Calibri" pitchFamily="34" charset="0"/>
                <a:ea typeface="Calibri" pitchFamily="34" charset="-122"/>
                <a:cs typeface="Calibri" pitchFamily="34" charset="-120"/>
              </a:rPr>
              <a:t>Course materials</a:t>
            </a:r>
            <a:endParaRPr lang="en-US" sz="1300" dirty="0"/>
          </a:p>
        </p:txBody>
      </p:sp>
      <p:sp>
        <p:nvSpPr>
          <p:cNvPr id="22" name="Text 19"/>
          <p:cNvSpPr txBox="1"/>
          <p:nvPr/>
        </p:nvSpPr>
        <p:spPr>
          <a:xfrm>
            <a:off x="548640" y="6446520"/>
            <a:ext cx="3657600" cy="274320"/>
          </a:xfrm>
          <a:prstGeom prst="rect">
            <a:avLst/>
          </a:prstGeom>
          <a:noFill/>
          <a:ln/>
        </p:spPr>
        <p:txBody>
          <a:bodyPr wrap="square" lIns="0" tIns="0" rIns="0" bIns="0" rtlCol="0" anchor="ctr"/>
          <a:lstStyle/>
          <a:p>
            <a:pPr indent="0" marL="0">
              <a:buNone/>
            </a:pPr>
            <a:r>
              <a:rPr lang="en-US" sz="1000" dirty="0">
                <a:solidFill>
                  <a:srgbClr val="8A94AB"/>
                </a:solidFill>
                <a:latin typeface="Calibri" pitchFamily="34" charset="0"/>
                <a:ea typeface="Calibri" pitchFamily="34" charset="-122"/>
                <a:cs typeface="Calibri" pitchFamily="34" charset="-120"/>
              </a:rPr>
              <a:t>MCMP113  ·  Week 15</a:t>
            </a:r>
            <a:endParaRPr lang="en-US" sz="1000" dirty="0"/>
          </a:p>
        </p:txBody>
      </p:sp>
      <p:sp>
        <p:nvSpPr>
          <p:cNvPr id="23" name="Text 20"/>
          <p:cNvSpPr txBox="1"/>
          <p:nvPr/>
        </p:nvSpPr>
        <p:spPr>
          <a:xfrm>
            <a:off x="11185855" y="6446520"/>
            <a:ext cx="457200" cy="274320"/>
          </a:xfrm>
          <a:prstGeom prst="rect">
            <a:avLst/>
          </a:prstGeom>
          <a:noFill/>
          <a:ln/>
        </p:spPr>
        <p:txBody>
          <a:bodyPr wrap="square" lIns="0" tIns="0" rIns="0" bIns="0" rtlCol="0" anchor="ctr"/>
          <a:lstStyle/>
          <a:p>
            <a:pPr algn="r" indent="0" marL="0">
              <a:buNone/>
            </a:pPr>
            <a:r>
              <a:rPr lang="en-US" sz="1000" dirty="0">
                <a:solidFill>
                  <a:srgbClr val="8A94AB"/>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Istanbul Okan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MCMP113 Week 15 – Final Exam Review &amp; Practice Final</dc:title>
  <dc:subject>PptxGenJS Presentation</dc:subject>
  <dc:creator>MCMP113</dc:creator>
  <cp:lastModifiedBy>MCMP113</cp:lastModifiedBy>
  <cp:revision>1</cp:revision>
  <dcterms:created xsi:type="dcterms:W3CDTF">2026-10-25T13:01:44Z</dcterms:created>
  <dcterms:modified xsi:type="dcterms:W3CDTF">2026-10-25T13:01:44Z</dcterms:modified>
</cp:coreProperties>
</file>