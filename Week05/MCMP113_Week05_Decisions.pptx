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(2 min). Today the programs finally start to make decisions. The terminal on the right is the real output of Example 2 (even/odd) run twice: the same program printed different lines because a condition chose a different path.
Plan for the 2 x 50 min: Part 1 if / if-else (25 min), Part 2 else-if ladders and nested decisions (30 min), Part 3 switch (20 min), Part 4 validation, testing, quizzes and exercises (25 min).
All example programs are in the code folder (05_01 ... 05_13); every console window on these slides is real output of those programs.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(2 min). Read them aloud and come back to this slide at the end of the lecture as a self-check.
Stress objective 6: a program with 4 branches needs at least 4 tests; students tend to test only the "happy path".
Likely question: "Is switch faster than if?" Answer: for this course, choose whichever is clearer; the compiler optimises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(4 min). Ask the class to evaluate each expression for x = 7 before revealing the Value column (all values checked with a real C# program).
Point: Week 4 produced bool values but did nothing with them. Today the bool goes inside if ( ... ) and decides which statements run.
Remind them of Week 1: every algorithm is built from sequence, selection and repetition. Selection is drawn in BLUE in all our flowcharts; repetition (green) comes in Weeks 6-7.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(about 25 min: slides 5-8). One condition, one or two paths: if, if-else, the conditional operator ?: and the brace pitfalls. Ask the class for real-life decisions ("if it rains, take an umbrella; otherwise ...") and point out the yes/no exits of the diamond from Week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(6 min). Walk through the syntax: keyword if, condition in parentheses, block in braces. The condition MUST be a bool expression: if (x = 5) does not compile (error CS0029: cannot convert int to bool) - unlike C, where it compiles and is a classic bug.
Trace the example twice: input -12 (condition true, x becomes 12) and input 5 (condition false, nothing extra happens; prints 5).
Flowchart: the decision diamond has exactly two exits (yes / no) and both paths meet again before Print. This is the "one-armed" selection.
This small program uses int.Parse for brevity; from Part 4 on we use TryParse.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IF-ELSE (6 min). Show the one-to-one mapping: IF ... THEN -&gt; if ( ... ) { }, ELSE -&gt; else { }, END IF -&gt; the closing brace. Remind: in pseudocode = compares and &lt;- assigns; in C# == compares and = assigns.
The code is the core of Example 1 (05_01_PassFail); the full program adds input validation and is shown in Part 4. PassMark is a const (Week 3) = 60, an example value.
Question to the class: "Can both PASS and FAIL be printed? Can neither be printed?" Answer: no and no - exactly one branch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EVEN/ODD (6 min). Run the program live with -7 and 10. Ask: why do we test n % 2 == 0 and not n % 2 == 1? Because in C# the remainder takes the sign of the dividend: -7 % 2 is -1 (Week 4), so "== 1" would call -7 even.
The ?: operator (Week 4 preview) returns a VALUE; if-else runs STATEMENTS. Use ?: only for short two-way values; never nest it deeply.
The first lines of the program (not shown) read n with int.TryParse and stop with a message if the input is not a whole number; we discuss that pattern in Part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BRACES (5 min). Left: the indentation suggests both lines belong to the if, but without braces only the FIRST statement does. With balance 500 and amount 150 the condition is false, yet "Transaction cancelled." is printed. The compiler gives no warning here.
Right: the semicolon right after if ( ... ) is an empty statement; the block { } that follows is an ordinary block that ALWAYS runs. The compiler warns: CS0642 "Possible mistaken empty statement". Tell students to read warnings, not only errors.
Both outputs are real runs. Course rule: always write braces, even for one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(about 30 min: slides 10-20). Many-way decisions: else-if ladders (order matters), nested ifs (max of three, leap year), the dangling else, and longer worked examples (BMI, triangle, quadratic). If time is short, skip the quadratic code slide and refer students to the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LADDER (5 min). Conditions are tested top to bottom. As soon as one is true its block runs and the rest of the ladder is skipped. The final else is the "none of the above" case.
In pseudocode we write ELSE IF as a shorthand for ELSE followed by a nested IF (one END IF for the whole ladder).
Flowchart: each "false" exit leads to the next test; all blocks meet at the next statement. Point out there is no path on which two blocks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(5 min). Shortened grade scale for this slide only (AA &gt;= 90, BB &gt;= 80, DD &gt;= 60, else FF). The code compiles and runs without any warning, but every passing score gets DD, because score &gt;= 60 is tested first and is true for 95 as well. The table shows real output for both orders.
Rule: with &gt;= tests go from the highest limit downwards; with &lt; tests go from the lowest limit upwards (BMI example later).
Bonus fact: the same wrong order in a switch expression (Part 3) is a compile-time error CS8510 "The pattern is unreachable".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LETTER GRADE (6 min). The table is an EXAMPLE 4-point scale in the style of Turkish universities; the official cut-offs are in the Okan University regulation - students should check it and not quote this table.
Walk the ladder for 85: 85 &gt;= 90 false, 85 &gt;= 85 true -&gt; BA; nothing else is tested. Boundaries to test: 90/89, 85/84, ..., 60/59, plus 0 and 100 and invalid -1, 101.
The program also computes the same letter with a switch expression (Part 3) and prints both; the second console line shows they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NESTED IF (5 min). A decision inside a branch of another decision. First compare a and b; the winner is then compared with c. Every path passes through exactly two diamonds.
Ask: how many different paths are there? Four (yes-yes, yes-no, no-yes, no-no), so we need at least four tests, e.g. (9,3,5), (5,3,9), (3,9,5), (3,5,9). Also test ties (7,7,7) and negatives (-2,-8,-5).
Using &gt;= rather than &gt; means ties are handled without an extra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METHODS (5 min). Method 1 is a direct translation of the flowchart: every path assigns max1 exactly once. If one branch forgot the assignment, the compiler would refuse to print max1 (error CS0165: use of unassigned local variable).
Method 2 is shorter and scales better: assume a is the largest and let the others challenge it. The two ifs are INDEPENDENT (not else-if): both questions must be asked. This is exactly the idea we will put inside a loop in Week 6 (maximum of N numbers).
Console: negative input (-2, -8, -5) shows why we never start with max =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LEAP YEAR (6 min). Gregorian rule: divisible by 4, except centuries, except centuries divisible by 400. The nested version asks one question at a time (left flowchart); the expression version packs the rule into one bool (Week 4).
The table contains one test for each path through the flowchart: 2026 (not /4), 2024 (/4, not /100), 1900 (/100, not /400), 2000 (/400). The program prints both results so students can see they agree.
Common error: writing year % 4 == 0 &amp;&amp; year % 100 != 0 &amp;&amp; year % 400 == 0 (always false!). Ask the class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DANGLING ELSE (5 min). Ask the class to predict the output for x = 5, y = -3 BEFORE showing the console. Most will say "nothing" or "end" only.
Rule of C#, C, Java: an else is paired with the NEAREST preceding if that has no else yet. Indentation is ignored by the compiler. So the else belongs to if (y &gt; 0), and "x is not positive" is printed although x = 5.
Fix on the right: braces make the intended structure explicit; now only "end" is printed. Both outputs are real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BMI (6 min). BMI = weight / height^2 (kg, m). WHO adult categories: &lt; 18.5 underweight, 18.5 to &lt; 25 normal, 25 to &lt; 30 overweight, &gt;= 30 obese.
Each else-if needs only an upper limit because the lower limit is guaranteed by the previous false tests; writing bmi &gt;= 18.5 &amp;&amp; bmi &lt; 25 is correct but redundant.
Validation is written positively ("what is valid"): realistic ranges catch a height typed in cm (178), and also catch the curiosities NaN and Infinity that double.TryParse accepts. Boundary tests: 74 kg / 2 m gives exactly 18.50 (normal), 100 / 2 gives 25.00 (overweight), 120 / 2 gives 30.00 (obese).
Display vs comparison: the category uses the unrounded value; a BMI of 18.496 is shown as 18.50 but is underweight. Mention if a student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TRIANGLE (6 min). Order of work: (1) are the inputs whole numbers, (2) is each side in 1..10000 (the upper limit keeps a*a within the int range), (3) triangle inequality, (4) classify. Each failed check prints a message and ends the program with return (a "guard clause").
Classification ladder: test equilateral BEFORE isosceles, otherwise 5-5-5 would be reported as isosceles. The right-angle question is a separate, independent if (Pythagoras with integers is exact).
Degenerate case 1-2-3: 1 + 2 = 3, so it is not a triangle (&lt;=, not &lt;). All table rows are real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QUADRATIC (6 min). ax^2 + bx + c = 0 with discriminant D = b^2 - 4ac. D &gt; 0: two different real roots; D = 0: one (double) root -b/(2a); D &lt; 0: no real roots, the program prints the complex pair (-b/(2a) +- i*sqrt(-D)/(2|a|)).
a = 0 must be checked first, otherwise we would divide by zero (for doubles: Infinity or NaN, no exception).
Flowchart: the three-way decision is two diamonds in a ladder. The console shows the real run for x^2 - 3x + 2 = 0 (roots 2 and 1; check: 2+1 = 3 = -b/a, 2*1 = 2 = 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QUADRATIC CODE (4 min). Math.Sqrt is only called with a non-negative argument: sqrt(delta) in the first branch (delta &gt; 0) and sqrt(-delta) in the last (delta &lt; 0).
delta == 0 compares doubles exactly. That is fine for integer coefficients like these tests, but with decimals such as 0.1 the rounding error may make delta tiny but not zero (Week 4: compare with a tolerance). Good question for strong students.
Curiosity: for x^2 = 0 (1, 0, 0) the program prints x = -0.0000, because -b is "negative zero" in IEEE arithmetic and .NET prints its sign; -0.0 == 0.0 is true. The notes explain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(about 20 min: slides 22-28). switch compares ONE value with constant labels. Emphasise the C# differences from C/Java (no fall-through, CS0163) and introduce the switch expression as a modern, optional alternative. Slide 28 summarises when to use which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(5 min). The expression in switch ( ... ) is evaluated ONCE and compared with the case labels, which must be constants (e.g. 1, 'E', "+"). The matching section runs until break. default runs when no label matches; it is optional but strongly recommended.
Stacked labels (case 6: case 7:) share one section. switch works on int, char, string, bool and enum values (and, with patterns, even more types).
Flowchart: a multi-way decision. In ANSI flowcharts it is often drawn as a diamond with several labelled exits, or as a ladder of diamonds; both are fine on the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NAME (5 min). Monday = 1 as in ISO 8601 (and in Turkey). The first switch assigns name in every case; default prints an error and ends the program with return, so after the switch the compiler knows name has a value.
The second switch uses stacked labels: 6 and 7 share one section. Ask: what is printed for 0 or 9? (the error, from the first switch; the second one is never reached).
Real runs on the right: 3, 6 and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FALL-THROUGH (4 min). In C, C++ and Java a missing break silently falls into the next case, a famous source of bugs. C# refuses to compile it: error CS0163. Every non-empty case section must end with break, return, throw or goto case.
Empty stacked labels are still allowed. Since C# 9 you can also write patterns: case 6 or 7:, case &gt;= 1 and &lt;= 5: (right). Both snippets were compiled with the .NET 10 SDK; the right one prints weekend for 6, weekday for 3 and invalid for 9.
For the exam, the classic form with stacked labels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CALCULATOR (6 min). The operator is read as a string, so the labels are string literals. Comparison is exact: "x" and "X" are different, which is why both are stacked with "*".
Division by zero: for doubles C# does NOT throw, it gives Infinity (7/0) or NaN (0/0, 7 % 0). So we check b == 0 ourselves and print a message; same for %.
The +, - and % cases are not shown on the slide (same pattern); see the code folder. Real runs: 7 / 2, 7 / 0 and the unknown operator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SHIPPING (5 min). Two decisions in sequence: an else-if ladder chooses the weight bracket, then a switch on a char chooses the service. char.TryParse succeeds only for exactly one character, so "express" or an empty line is rejected.
Math.Ceiling(weight - 20) counts every STARTED kilogram above 20: 23.5 kg -&gt; ceiling(3.5) = 4 -&gt; 150 + 4 x 8 = 182 TL; express x 1.5 = 273 TL (real run). The tariff is invented for the example.
Boundary tests in the table: 1 / 1.01, 20 / 20.1. Money uses decimal (Week 3); 1.5m is a decimal literal.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EXPRESSION (5 min). A switch EXPRESSION produces a value (like ?:), a switch STATEMENT runs statements. Syntax: value switch { pattern =&gt; result, ... }; arms are separated by commas; _ is the discard (default) arm; the whole thing ends with a semicolon.
Relational patterns (&gt;= 90) make grade ladders very short. The arms are tried top to bottom, like a ladder, but the compiler checks the order: an unreachable arm is error CS8510; a missing _ arm gives warning CS8509 and, if no arm matches at run time, a SwitchExpressionException.
Presented as a modern alternative; the if-else ladder is still required on the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COMPARISON (3 min). There is no "best" structure; choose the one that makes the code easiest to read.
Rules of thumb: ranges (score &gt;= 85) -&gt; else-if ladder or switch expression; many exact values of ONE variable -&gt; switch; two-way choice of a VALUE -&gt; ?:.
Everything can be written with if-else alone: switch and ?: are conveniences. On the exam either form is accepted unless the question asks for a specific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(about 25 min: slides 30-40). Validation with TryParse and range checks, full worked examples with guard clauses, boundary testing, the six classic bugs, quizzes and exercises. Quizzes can be done in pairs; keep 5 minutes for homework and the closing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TRYPARSE (6 min). int.Parse("abc") throws a FormatException and the program crashes (real message shown). int.TryParse returns false instead and never throws.
Syntax: int.TryParse(text, out int n). "out" means the method WRITES the result into n: the parsed value on success, 0 on failure. The new variable n can be used after the if.
Guard clause: if the input is bad, print a message and return (in a top-level program, return ends the program; we meet return properly in Week 13).
Table (all checked with .NET 10): spaces around the number and a leading + are accepted; "3.5" is not an int; an out-of-range number gives false. TRAP: with our invariant-culture template, double.TryParse("72,5") succeeds with 725, because the comma is a thousands separator there. Range checks catch such mistakes. Also note that double.TryParse accepts "NaN" and "Infinity".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PASS/FAIL COMPLETE (5 min). Here the validation itself is part of the ladder: not a number -&gt; out of range -&gt; pass -&gt; fail. The out variable score declared in the first condition can be used in the following conditions, and it is only read when TryParse succeeded.
Why is "score &lt; 0 || score &gt; 100" before "score &gt;= PassMark"? Otherwise 150 would be reported as PASS.
Real runs on the right: abc, 101, 60 (boundary: pass), 59 (boundary: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ATM (5 min). Week 1 in-class exercise C, now in C#. The else-if order IS the business logic: first reject impossible amounts, then amounts the machine cannot pay, then amounts the account cannot cover; only then pay.
decimal is used for money (Week 3); amount % 10 works for decimal too. The boundary case "withdraw exactly the balance" (500 of 500) must be allowed: that is why the test is amount &gt; balance and not &gt;=.
All table rows are real runs; the console shows the first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LOGIN (4 min). == on strings compares the characters exactly, so it is case-sensitive: "Student" is not "student" (second run). An empty input is caught first.
Security habit: do not tell the user WHICH part was wrong, otherwise an attacker learns valid usernames. Also note: the password is visible while typing; hiding it needs a loop with Console.ReadKey (after Week 7). Real systems never store plain passwords in code; this is a teaching example with a single attempt (three attempts need a loop: Week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(5 min). Divide the inputs into classes that take the same path (invalid text, below range, fail, pass, above range) and pick one test inside each class plus the values on both sides of every border: -1/0, 59/60, 100/101. This is exactly the Week 1 test-case table, now with real program output.
Ask the class which single change to the code each test would catch: e.g. writing &gt; instead of &gt;= for PassMark is caught only by 60.
Homework H4 asks for the same table for the shipping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MISTAKES (4 min). All compiler messages were produced with the .NET 10 SDK. Go through them quickly; ask students which of the six the compiler catches (1, 2, 5 are errors; 3 is a warning; 4 and 6 compile silently and are the most dangerous).
Extra one for the notes: if not every branch assigns a variable, using it afterwards gives error CS0165 (use of unassigned local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QUIZ 1 (5 min). Give 3 minutes in pairs, then collect answers by show of hands before revealing the answer slide. All four snippets compile (B gives warning CS0642) and their outputs were checked by running them.
A tests &amp;&amp; vs ||; B the stray semicolon; C the dangling else; D independent ifs versus a ladder.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QUIZ 2 (5 min). E: stacked labels. Ask also for k = 1 and k = 5. F: boundary trap, 25 &lt; 25 is false. G: find the bug: it does not compile (CS0163). All three were compiled and run with .NET 10 (G only compiled, to capture the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(5 min). Every output was obtained by running the snippet. Emphasise the "why" column: in each case the program did exactly what the rules say, not what the indentation or intuition suggests.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IN-CLASS (20 min, or as lab work). Recommended: everybody does E1 and E2, then choose two of E3-E6. For every exercise: pseudocode or flowchart first, then C#, then a test table with boundary values.
Solutions are in the instructor edition of the notes. E5 uses an invented tariff. E6 can be solved with a ladder of &amp;&amp; / || conditions or with nested switches.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HOMEWORK (2 min). Due before the Week 6 lecture; questions via the course group. H3 is on paper on purpose: the exam requires flowcharts by hand. H4 practises the testing method of this week. Solutions in the instructor edition of the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(2 min). Revisit the objectives slide if time allows. Next week: repetition - the third structure. The "largest so far" idea of Example 3 and the validation pattern of today are reused inside loops.
Remind: homework H1-H5 before Week 6; notes (student edition) and the code folder are on the course page / the course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slideLayout" Target="../slideLayouts/slideLayout1.xml"/><Relationship Id="rId8"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slideLayout" Target="../slideLayouts/slideLayout1.xml"/><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548640"/>
            <a:ext cx="7315200" cy="4572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&gt;_ MCMP113</a:t>
            </a:r>
            <a:endParaRPr lang="en-US" sz="2000" dirty="0"/>
          </a:p>
        </p:txBody>
      </p:sp>
      <p:sp>
        <p:nvSpPr>
          <p:cNvPr id="3" name="Text 1"/>
          <p:cNvSpPr txBox="1"/>
          <p:nvPr/>
        </p:nvSpPr>
        <p:spPr>
          <a:xfrm>
            <a:off x="548640" y="1097280"/>
            <a:ext cx="7498080" cy="914400"/>
          </a:xfrm>
          <a:prstGeom prst="rect">
            <a:avLst/>
          </a:prstGeom>
          <a:noFill/>
          <a:ln/>
        </p:spPr>
        <p:txBody>
          <a:bodyPr wrap="square" lIns="0" tIns="0" rIns="0" bIns="0" rtlCol="0" anchor="t"/>
          <a:lstStyle/>
          <a:p>
            <a:pPr indent="0" marL="0">
              <a:buNone/>
            </a:pPr>
            <a:r>
              <a:rPr lang="en-US" sz="2000" dirty="0">
                <a:solidFill>
                  <a:srgbClr val="C7CEDC"/>
                </a:solidFill>
                <a:latin typeface="Calibri" pitchFamily="34" charset="0"/>
                <a:ea typeface="Calibri" pitchFamily="34" charset="-122"/>
                <a:cs typeface="Calibri" pitchFamily="34" charset="-120"/>
              </a:rPr>
              <a:t>Introduction to Basic Algorithms and Programming</a:t>
            </a:r>
            <a:endParaRPr lang="en-US" sz="2000" dirty="0"/>
          </a:p>
        </p:txBody>
      </p:sp>
      <p:sp>
        <p:nvSpPr>
          <p:cNvPr id="4" name="Text 2"/>
          <p:cNvSpPr txBox="1"/>
          <p:nvPr/>
        </p:nvSpPr>
        <p:spPr>
          <a:xfrm>
            <a:off x="548640" y="1828800"/>
            <a:ext cx="7498080" cy="457200"/>
          </a:xfrm>
          <a:prstGeom prst="rect">
            <a:avLst/>
          </a:prstGeom>
          <a:noFill/>
          <a:ln/>
        </p:spPr>
        <p:txBody>
          <a:bodyPr wrap="square" lIns="0" tIns="0" rIns="0" bIns="0" rtlCol="0" anchor="ctr"/>
          <a:lstStyle/>
          <a:p>
            <a:pPr indent="0" marL="0">
              <a:buNone/>
            </a:pPr>
            <a:r>
              <a:rPr lang="en-US" sz="1800" b="1" dirty="0">
                <a:solidFill>
                  <a:srgbClr val="FCA311"/>
                </a:solidFill>
                <a:latin typeface="Courier New" pitchFamily="34" charset="0"/>
                <a:ea typeface="Courier New" pitchFamily="34" charset="-122"/>
                <a:cs typeface="Courier New" pitchFamily="34" charset="-120"/>
              </a:rPr>
              <a:t>Week 5</a:t>
            </a:r>
            <a:endParaRPr lang="en-US" sz="1800" dirty="0"/>
          </a:p>
        </p:txBody>
      </p:sp>
      <p:sp>
        <p:nvSpPr>
          <p:cNvPr id="5" name="Text 3"/>
          <p:cNvSpPr txBox="1"/>
          <p:nvPr/>
        </p:nvSpPr>
        <p:spPr>
          <a:xfrm>
            <a:off x="548640" y="2286000"/>
            <a:ext cx="7498080" cy="1554480"/>
          </a:xfrm>
          <a:prstGeom prst="rect">
            <a:avLst/>
          </a:prstGeom>
          <a:noFill/>
          <a:ln/>
        </p:spPr>
        <p:txBody>
          <a:bodyPr wrap="square" lIns="0" tIns="0" rIns="0" bIns="0" rtlCol="0" anchor="t">
            <a:normAutofit/>
          </a:bodyPr>
          <a:lstStyle/>
          <a:p>
            <a:pPr indent="0" marL="0">
              <a:buNone/>
            </a:pPr>
            <a:r>
              <a:rPr lang="en-US" sz="3800" b="1" dirty="0">
                <a:solidFill>
                  <a:srgbClr val="FFFFFF"/>
                </a:solidFill>
                <a:latin typeface="Cambria" pitchFamily="34" charset="0"/>
                <a:ea typeface="Cambria" pitchFamily="34" charset="-122"/>
                <a:cs typeface="Cambria" pitchFamily="34" charset="-120"/>
              </a:rPr>
              <a:t>Decision Structures: if-else, else-if and switch-case</a:t>
            </a:r>
            <a:endParaRPr lang="en-US" sz="3800" dirty="0"/>
          </a:p>
        </p:txBody>
      </p:sp>
      <p:sp>
        <p:nvSpPr>
          <p:cNvPr id="6" name="Text 4"/>
          <p:cNvSpPr txBox="1"/>
          <p:nvPr/>
        </p:nvSpPr>
        <p:spPr>
          <a:xfrm>
            <a:off x="548640" y="3886200"/>
            <a:ext cx="7498080" cy="640080"/>
          </a:xfrm>
          <a:prstGeom prst="rect">
            <a:avLst/>
          </a:prstGeom>
          <a:noFill/>
          <a:ln/>
        </p:spPr>
        <p:txBody>
          <a:bodyPr wrap="square" lIns="0" tIns="0" rIns="0" bIns="0" rtlCol="0" anchor="t"/>
          <a:lstStyle/>
          <a:p>
            <a:pPr indent="0" marL="0">
              <a:buNone/>
            </a:pPr>
            <a:r>
              <a:rPr lang="en-US" sz="1600" dirty="0">
                <a:solidFill>
                  <a:srgbClr val="C7CEDC"/>
                </a:solidFill>
                <a:latin typeface="Calibri" pitchFamily="34" charset="0"/>
                <a:ea typeface="Calibri" pitchFamily="34" charset="-122"/>
                <a:cs typeface="Calibri" pitchFamily="34" charset="-120"/>
              </a:rPr>
              <a:t>Choosing what runs · else-if ladders · switch · input validation with TryParse</a:t>
            </a:r>
            <a:endParaRPr lang="en-US" sz="1600" dirty="0"/>
          </a:p>
        </p:txBody>
      </p:sp>
      <p:sp>
        <p:nvSpPr>
          <p:cNvPr id="7" name="Text 5"/>
          <p:cNvSpPr txBox="1"/>
          <p:nvPr/>
        </p:nvSpPr>
        <p:spPr>
          <a:xfrm>
            <a:off x="548640" y="4892040"/>
            <a:ext cx="7315200" cy="1005840"/>
          </a:xfrm>
          <a:prstGeom prst="rect">
            <a:avLst/>
          </a:prstGeom>
          <a:noFill/>
          <a:ln/>
        </p:spPr>
        <p:txBody>
          <a:bodyPr wrap="square" lIns="0" tIns="0" rIns="0" bIns="0" rtlCol="0" anchor="ctr"/>
          <a:lstStyle/>
          <a:p>
            <a:pPr indent="0" marL="0">
              <a:spcAft>
                <a:spcPts val="400"/>
              </a:spcAft>
              <a:buNone/>
            </a:pPr>
            <a:r>
              <a:rPr lang="en-US" sz="1500" b="1" dirty="0">
                <a:solidFill>
                  <a:srgbClr val="FFFFFF"/>
                </a:solidFill>
                <a:latin typeface="Calibri" pitchFamily="34" charset="0"/>
                <a:ea typeface="Calibri" pitchFamily="34" charset="-122"/>
                <a:cs typeface="Calibri" pitchFamily="34" charset="-120"/>
              </a:rPr>
              <a:t>Asst. Prof. Hasan Oğuz, PhD</a:t>
            </a:r>
            <a:endParaRPr lang="en-US" sz="1500" dirty="0"/>
          </a:p>
          <a:p>
            <a:pPr indent="0" marL="0">
              <a:spcAft>
                <a:spcPts val="400"/>
              </a:spcAft>
              <a:buNone/>
            </a:pPr>
            <a:r>
              <a:rPr lang="en-US" sz="1500" dirty="0">
                <a:solidFill>
                  <a:srgbClr val="C7CEDC"/>
                </a:solidFill>
                <a:latin typeface="Calibri" pitchFamily="34" charset="0"/>
                <a:ea typeface="Calibri" pitchFamily="34" charset="-122"/>
                <a:cs typeface="Calibri" pitchFamily="34" charset="-120"/>
              </a:rPr>
              <a:t>Istanbul Okan University  ·  Vocational School</a:t>
            </a:r>
            <a:endParaRPr lang="en-US" sz="1500" dirty="0"/>
          </a:p>
          <a:p>
            <a:pPr indent="0" marL="0">
              <a:spcAft>
                <a:spcPts val="400"/>
              </a:spcAft>
              <a:buNone/>
            </a:pPr>
            <a:r>
              <a:rPr lang="en-US" sz="1500" dirty="0">
                <a:solidFill>
                  <a:srgbClr val="C7CEDC"/>
                </a:solidFill>
                <a:latin typeface="Calibri" pitchFamily="34" charset="0"/>
                <a:ea typeface="Calibri" pitchFamily="34" charset="-122"/>
                <a:cs typeface="Calibri" pitchFamily="34" charset="-120"/>
              </a:rPr>
              <a:t>2026–2027 Fall Semester</a:t>
            </a:r>
            <a:endParaRPr lang="en-US" sz="1500" dirty="0"/>
          </a:p>
        </p:txBody>
      </p:sp>
      <p:sp>
        <p:nvSpPr>
          <p:cNvPr id="8" name="Shape 6"/>
          <p:cNvSpPr/>
          <p:nvPr/>
        </p:nvSpPr>
        <p:spPr>
          <a:xfrm>
            <a:off x="8412480" y="1188720"/>
            <a:ext cx="3246120" cy="3931920"/>
          </a:xfrm>
          <a:prstGeom prst="roundRect">
            <a:avLst>
              <a:gd name="adj" fmla="val 3380"/>
            </a:avLst>
          </a:prstGeom>
          <a:solidFill>
            <a:srgbClr val="0F1729"/>
          </a:solidFill>
          <a:ln w="12700">
            <a:solidFill>
              <a:srgbClr val="2A3654"/>
            </a:solidFill>
            <a:prstDash val="solid"/>
          </a:ln>
        </p:spPr>
      </p:sp>
      <p:sp>
        <p:nvSpPr>
          <p:cNvPr id="9" name="Shape 7"/>
          <p:cNvSpPr/>
          <p:nvPr/>
        </p:nvSpPr>
        <p:spPr>
          <a:xfrm>
            <a:off x="8641080" y="1371600"/>
            <a:ext cx="146304" cy="146304"/>
          </a:xfrm>
          <a:prstGeom prst="ellipse">
            <a:avLst/>
          </a:prstGeom>
          <a:solidFill>
            <a:srgbClr val="FF5F57"/>
          </a:solidFill>
          <a:ln w="12700">
            <a:solidFill>
              <a:srgbClr val="FF5F57"/>
            </a:solidFill>
            <a:prstDash val="solid"/>
          </a:ln>
        </p:spPr>
      </p:sp>
      <p:sp>
        <p:nvSpPr>
          <p:cNvPr id="10" name="Shape 8"/>
          <p:cNvSpPr/>
          <p:nvPr/>
        </p:nvSpPr>
        <p:spPr>
          <a:xfrm>
            <a:off x="8915400" y="1371600"/>
            <a:ext cx="146304" cy="146304"/>
          </a:xfrm>
          <a:prstGeom prst="ellipse">
            <a:avLst/>
          </a:prstGeom>
          <a:solidFill>
            <a:srgbClr val="FEBC2E"/>
          </a:solidFill>
          <a:ln w="12700">
            <a:solidFill>
              <a:srgbClr val="FEBC2E"/>
            </a:solidFill>
            <a:prstDash val="solid"/>
          </a:ln>
        </p:spPr>
      </p:sp>
      <p:sp>
        <p:nvSpPr>
          <p:cNvPr id="11" name="Shape 9"/>
          <p:cNvSpPr/>
          <p:nvPr/>
        </p:nvSpPr>
        <p:spPr>
          <a:xfrm>
            <a:off x="9189720" y="1371600"/>
            <a:ext cx="146304" cy="146304"/>
          </a:xfrm>
          <a:prstGeom prst="ellipse">
            <a:avLst/>
          </a:prstGeom>
          <a:solidFill>
            <a:srgbClr val="28C840"/>
          </a:solidFill>
          <a:ln w="12700">
            <a:solidFill>
              <a:srgbClr val="28C840"/>
            </a:solidFill>
            <a:prstDash val="solid"/>
          </a:ln>
        </p:spPr>
      </p:sp>
      <p:sp>
        <p:nvSpPr>
          <p:cNvPr id="12" name="Text 10"/>
          <p:cNvSpPr txBox="1"/>
          <p:nvPr/>
        </p:nvSpPr>
        <p:spPr>
          <a:xfrm>
            <a:off x="8686800" y="1737360"/>
            <a:ext cx="2834640" cy="3200400"/>
          </a:xfrm>
          <a:prstGeom prst="rect">
            <a:avLst/>
          </a:prstGeom>
          <a:noFill/>
          <a:ln/>
        </p:spPr>
        <p:txBody>
          <a:bodyPr wrap="square" lIns="0" tIns="0" rIns="0" bIns="0" rtlCol="0" anchor="t"/>
          <a:lstStyle/>
          <a:p>
            <a:pPr indent="0" marL="0">
              <a:spcAft>
                <a:spcPts val="500"/>
              </a:spcAft>
              <a:buNone/>
            </a:pPr>
            <a:r>
              <a:rPr lang="en-US" sz="1400" dirty="0">
                <a:solidFill>
                  <a:srgbClr val="FCA311"/>
                </a:solidFill>
                <a:latin typeface="Courier New" pitchFamily="34" charset="0"/>
                <a:ea typeface="Courier New" pitchFamily="34" charset="-122"/>
                <a:cs typeface="Courier New" pitchFamily="34" charset="-120"/>
              </a:rPr>
              <a:t>&gt; </a:t>
            </a:r>
            <a:pPr indent="0" marL="0">
              <a:spcAft>
                <a:spcPts val="500"/>
              </a:spcAft>
              <a:buNone/>
            </a:pPr>
            <a:r>
              <a:rPr lang="en-US" sz="1400" dirty="0">
                <a:solidFill>
                  <a:srgbClr val="E6EDF7"/>
                </a:solidFill>
                <a:latin typeface="Courier New" pitchFamily="34" charset="0"/>
                <a:ea typeface="Courier New" pitchFamily="34" charset="-122"/>
                <a:cs typeface="Courier New" pitchFamily="34" charset="-120"/>
              </a:rPr>
              <a:t>dotnet run</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Enter an integer: 7</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7 is odd.</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Check with ?: -&gt; odd</a:t>
            </a:r>
            <a:endParaRPr lang="en-US" sz="1400" dirty="0"/>
          </a:p>
          <a:p>
            <a:pPr indent="0" marL="0">
              <a:spcAft>
                <a:spcPts val="500"/>
              </a:spcAft>
              <a:buNone/>
            </a:pPr>
            <a:r>
              <a:rPr lang="en-US" sz="1400" dirty="0">
                <a:solidFill>
                  <a:srgbClr val="FCA311"/>
                </a:solidFill>
                <a:latin typeface="Courier New" pitchFamily="34" charset="0"/>
                <a:ea typeface="Courier New" pitchFamily="34" charset="-122"/>
                <a:cs typeface="Courier New" pitchFamily="34" charset="-120"/>
              </a:rPr>
              <a:t>&gt; </a:t>
            </a:r>
            <a:pPr indent="0" marL="0">
              <a:spcAft>
                <a:spcPts val="500"/>
              </a:spcAft>
              <a:buNone/>
            </a:pPr>
            <a:r>
              <a:rPr lang="en-US" sz="1400" dirty="0">
                <a:solidFill>
                  <a:srgbClr val="E6EDF7"/>
                </a:solidFill>
                <a:latin typeface="Courier New" pitchFamily="34" charset="0"/>
                <a:ea typeface="Courier New" pitchFamily="34" charset="-122"/>
                <a:cs typeface="Courier New" pitchFamily="34" charset="-120"/>
              </a:rPr>
              <a:t>dotnet run</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Enter an integer: 10</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10 is even.</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Check with ?: -&gt; even</a:t>
            </a:r>
            <a:endParaRPr lang="en-US" sz="1400" dirty="0"/>
          </a:p>
          <a:p>
            <a:pPr indent="0" marL="0">
              <a:spcAft>
                <a:spcPts val="500"/>
              </a:spcAft>
              <a:buNone/>
            </a:pPr>
            <a:r>
              <a:rPr lang="en-US" sz="1400" dirty="0">
                <a:solidFill>
                  <a:srgbClr val="FCA311"/>
                </a:solidFill>
                <a:latin typeface="Courier New" pitchFamily="34" charset="0"/>
                <a:ea typeface="Courier New" pitchFamily="34" charset="-122"/>
                <a:cs typeface="Courier New" pitchFamily="34" charset="-120"/>
              </a:rPr>
              <a:t>&gt; </a:t>
            </a:r>
            <a:pPr indent="0" marL="0">
              <a:spcAft>
                <a:spcPts val="500"/>
              </a:spcAft>
              <a:buNone/>
            </a:pPr>
            <a:r>
              <a:rPr lang="en-US" sz="1400" dirty="0">
                <a:solidFill>
                  <a:srgbClr val="E6EDF7"/>
                </a:solidFill>
                <a:latin typeface="Courier New" pitchFamily="34" charset="0"/>
                <a:ea typeface="Courier New" pitchFamily="34" charset="-122"/>
                <a:cs typeface="Courier New" pitchFamily="34" charset="-120"/>
              </a:rPr>
              <a:t>_</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LEARNING OBJECTIVES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By the End of This Week You Can …</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a:t>
            </a:r>
            <a:endParaRPr lang="en-US" sz="1000" dirty="0"/>
          </a:p>
        </p:txBody>
      </p:sp>
      <p:sp>
        <p:nvSpPr>
          <p:cNvPr id="7" name="Shape 4"/>
          <p:cNvSpPr/>
          <p:nvPr/>
        </p:nvSpPr>
        <p:spPr>
          <a:xfrm>
            <a:off x="548640" y="1600200"/>
            <a:ext cx="3566160" cy="2103120"/>
          </a:xfrm>
          <a:prstGeom prst="roundRect">
            <a:avLst>
              <a:gd name="adj" fmla="val 5217"/>
            </a:avLst>
          </a:prstGeom>
          <a:solidFill>
            <a:srgbClr val="EEF1F6"/>
          </a:solidFill>
          <a:ln w="12700">
            <a:solidFill>
              <a:srgbClr val="EEF1F6"/>
            </a:solidFill>
            <a:prstDash val="solid"/>
          </a:ln>
        </p:spPr>
      </p:sp>
      <p:sp>
        <p:nvSpPr>
          <p:cNvPr id="8" name="Shape 5"/>
          <p:cNvSpPr/>
          <p:nvPr/>
        </p:nvSpPr>
        <p:spPr>
          <a:xfrm>
            <a:off x="777240" y="1828800"/>
            <a:ext cx="566928" cy="566928"/>
          </a:xfrm>
          <a:prstGeom prst="ellipse">
            <a:avLst/>
          </a:prstGeom>
          <a:solidFill>
            <a:srgbClr val="14213D"/>
          </a:solidFill>
          <a:ln w="12700">
            <a:solidFill>
              <a:srgbClr val="14213D"/>
            </a:solidFill>
            <a:prstDash val="solid"/>
          </a:ln>
        </p:spPr>
      </p:sp>
      <p:pic>
        <p:nvPicPr>
          <p:cNvPr id="9" name="Image 0" descr="preencoded.png">    </p:cNvPr>
          <p:cNvPicPr>
            <a:picLocks noChangeAspect="1"/>
          </p:cNvPicPr>
          <p:nvPr/>
        </p:nvPicPr>
        <p:blipFill>
          <a:blip r:embed="rId1"/>
          <a:stretch>
            <a:fillRect/>
          </a:stretch>
        </p:blipFill>
        <p:spPr>
          <a:xfrm>
            <a:off x="924641" y="1976201"/>
            <a:ext cx="272125" cy="272125"/>
          </a:xfrm>
          <a:prstGeom prst="rect">
            <a:avLst/>
          </a:prstGeom>
        </p:spPr>
      </p:pic>
      <p:sp>
        <p:nvSpPr>
          <p:cNvPr id="10" name="Text 6"/>
          <p:cNvSpPr txBox="1"/>
          <p:nvPr/>
        </p:nvSpPr>
        <p:spPr>
          <a:xfrm>
            <a:off x="1463040" y="1828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Write if / if-else</a:t>
            </a:r>
            <a:endParaRPr lang="en-US" sz="1700" dirty="0"/>
          </a:p>
        </p:txBody>
      </p:sp>
      <p:sp>
        <p:nvSpPr>
          <p:cNvPr id="11" name="Text 7"/>
          <p:cNvSpPr txBox="1"/>
          <p:nvPr/>
        </p:nvSpPr>
        <p:spPr>
          <a:xfrm>
            <a:off x="777240" y="2514600"/>
            <a:ext cx="310896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Run a block only when a bool condition is true; draw the matching flowchart.</a:t>
            </a:r>
            <a:endParaRPr lang="en-US" sz="1500" dirty="0"/>
          </a:p>
        </p:txBody>
      </p:sp>
      <p:sp>
        <p:nvSpPr>
          <p:cNvPr id="12" name="Shape 8"/>
          <p:cNvSpPr/>
          <p:nvPr/>
        </p:nvSpPr>
        <p:spPr>
          <a:xfrm>
            <a:off x="4315968" y="1600200"/>
            <a:ext cx="3566160" cy="2103120"/>
          </a:xfrm>
          <a:prstGeom prst="roundRect">
            <a:avLst>
              <a:gd name="adj" fmla="val 5217"/>
            </a:avLst>
          </a:prstGeom>
          <a:solidFill>
            <a:srgbClr val="EEF1F6"/>
          </a:solidFill>
          <a:ln w="12700">
            <a:solidFill>
              <a:srgbClr val="EEF1F6"/>
            </a:solidFill>
            <a:prstDash val="solid"/>
          </a:ln>
        </p:spPr>
      </p:sp>
      <p:sp>
        <p:nvSpPr>
          <p:cNvPr id="13" name="Shape 9"/>
          <p:cNvSpPr/>
          <p:nvPr/>
        </p:nvSpPr>
        <p:spPr>
          <a:xfrm>
            <a:off x="4544568" y="1828800"/>
            <a:ext cx="566928" cy="566928"/>
          </a:xfrm>
          <a:prstGeom prst="ellipse">
            <a:avLst/>
          </a:prstGeom>
          <a:solidFill>
            <a:srgbClr val="14213D"/>
          </a:solidFill>
          <a:ln w="12700">
            <a:solidFill>
              <a:srgbClr val="14213D"/>
            </a:solidFill>
            <a:prstDash val="solid"/>
          </a:ln>
        </p:spPr>
      </p:sp>
      <p:pic>
        <p:nvPicPr>
          <p:cNvPr id="14" name="Image 1" descr="preencoded.png">    </p:cNvPr>
          <p:cNvPicPr>
            <a:picLocks noChangeAspect="1"/>
          </p:cNvPicPr>
          <p:nvPr/>
        </p:nvPicPr>
        <p:blipFill>
          <a:blip r:embed="rId2"/>
          <a:stretch>
            <a:fillRect/>
          </a:stretch>
        </p:blipFill>
        <p:spPr>
          <a:xfrm>
            <a:off x="4691969" y="1976201"/>
            <a:ext cx="272125" cy="272125"/>
          </a:xfrm>
          <a:prstGeom prst="rect">
            <a:avLst/>
          </a:prstGeom>
        </p:spPr>
      </p:pic>
      <p:sp>
        <p:nvSpPr>
          <p:cNvPr id="15" name="Text 10"/>
          <p:cNvSpPr txBox="1"/>
          <p:nvPr/>
        </p:nvSpPr>
        <p:spPr>
          <a:xfrm>
            <a:off x="5230368" y="1828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Build else-if ladders</a:t>
            </a:r>
            <a:endParaRPr lang="en-US" sz="1700" dirty="0"/>
          </a:p>
        </p:txBody>
      </p:sp>
      <p:sp>
        <p:nvSpPr>
          <p:cNvPr id="16" name="Text 11"/>
          <p:cNvSpPr txBox="1"/>
          <p:nvPr/>
        </p:nvSpPr>
        <p:spPr>
          <a:xfrm>
            <a:off x="4544568" y="2514600"/>
            <a:ext cx="310896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Choose among many ranges (grades, BMI, prices) in the correct order.</a:t>
            </a:r>
            <a:endParaRPr lang="en-US" sz="1500" dirty="0"/>
          </a:p>
        </p:txBody>
      </p:sp>
      <p:sp>
        <p:nvSpPr>
          <p:cNvPr id="17" name="Shape 12"/>
          <p:cNvSpPr/>
          <p:nvPr/>
        </p:nvSpPr>
        <p:spPr>
          <a:xfrm>
            <a:off x="8083296" y="1600200"/>
            <a:ext cx="3566160" cy="2103120"/>
          </a:xfrm>
          <a:prstGeom prst="roundRect">
            <a:avLst>
              <a:gd name="adj" fmla="val 5217"/>
            </a:avLst>
          </a:prstGeom>
          <a:solidFill>
            <a:srgbClr val="EEF1F6"/>
          </a:solidFill>
          <a:ln w="12700">
            <a:solidFill>
              <a:srgbClr val="EEF1F6"/>
            </a:solidFill>
            <a:prstDash val="solid"/>
          </a:ln>
        </p:spPr>
      </p:sp>
      <p:sp>
        <p:nvSpPr>
          <p:cNvPr id="18" name="Shape 13"/>
          <p:cNvSpPr/>
          <p:nvPr/>
        </p:nvSpPr>
        <p:spPr>
          <a:xfrm>
            <a:off x="8311896" y="1828800"/>
            <a:ext cx="566928" cy="566928"/>
          </a:xfrm>
          <a:prstGeom prst="ellipse">
            <a:avLst/>
          </a:prstGeom>
          <a:solidFill>
            <a:srgbClr val="14213D"/>
          </a:solidFill>
          <a:ln w="12700">
            <a:solidFill>
              <a:srgbClr val="14213D"/>
            </a:solidFill>
            <a:prstDash val="solid"/>
          </a:ln>
        </p:spPr>
      </p:sp>
      <p:pic>
        <p:nvPicPr>
          <p:cNvPr id="19" name="Image 2" descr="preencoded.png">    </p:cNvPr>
          <p:cNvPicPr>
            <a:picLocks noChangeAspect="1"/>
          </p:cNvPicPr>
          <p:nvPr/>
        </p:nvPicPr>
        <p:blipFill>
          <a:blip r:embed="rId3"/>
          <a:stretch>
            <a:fillRect/>
          </a:stretch>
        </p:blipFill>
        <p:spPr>
          <a:xfrm>
            <a:off x="8459297" y="1976201"/>
            <a:ext cx="272125" cy="272125"/>
          </a:xfrm>
          <a:prstGeom prst="rect">
            <a:avLst/>
          </a:prstGeom>
        </p:spPr>
      </p:pic>
      <p:sp>
        <p:nvSpPr>
          <p:cNvPr id="20" name="Text 14"/>
          <p:cNvSpPr txBox="1"/>
          <p:nvPr/>
        </p:nvSpPr>
        <p:spPr>
          <a:xfrm>
            <a:off x="8997696" y="1828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Nest decisions</a:t>
            </a:r>
            <a:endParaRPr lang="en-US" sz="1700" dirty="0"/>
          </a:p>
        </p:txBody>
      </p:sp>
      <p:sp>
        <p:nvSpPr>
          <p:cNvPr id="21" name="Text 15"/>
          <p:cNvSpPr txBox="1"/>
          <p:nvPr/>
        </p:nvSpPr>
        <p:spPr>
          <a:xfrm>
            <a:off x="8311896" y="2514600"/>
            <a:ext cx="310896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Combine nested ifs with &amp;&amp; and ||; avoid the dangling-else trap.</a:t>
            </a:r>
            <a:endParaRPr lang="en-US" sz="1500" dirty="0"/>
          </a:p>
        </p:txBody>
      </p:sp>
      <p:sp>
        <p:nvSpPr>
          <p:cNvPr id="22" name="Shape 16"/>
          <p:cNvSpPr/>
          <p:nvPr/>
        </p:nvSpPr>
        <p:spPr>
          <a:xfrm>
            <a:off x="548640" y="3886200"/>
            <a:ext cx="3566160" cy="2103120"/>
          </a:xfrm>
          <a:prstGeom prst="roundRect">
            <a:avLst>
              <a:gd name="adj" fmla="val 5217"/>
            </a:avLst>
          </a:prstGeom>
          <a:solidFill>
            <a:srgbClr val="EEF1F6"/>
          </a:solidFill>
          <a:ln w="12700">
            <a:solidFill>
              <a:srgbClr val="EEF1F6"/>
            </a:solidFill>
            <a:prstDash val="solid"/>
          </a:ln>
        </p:spPr>
      </p:sp>
      <p:sp>
        <p:nvSpPr>
          <p:cNvPr id="23" name="Shape 17"/>
          <p:cNvSpPr/>
          <p:nvPr/>
        </p:nvSpPr>
        <p:spPr>
          <a:xfrm>
            <a:off x="777240" y="4114800"/>
            <a:ext cx="566928" cy="566928"/>
          </a:xfrm>
          <a:prstGeom prst="ellipse">
            <a:avLst/>
          </a:prstGeom>
          <a:solidFill>
            <a:srgbClr val="2F6FB3"/>
          </a:solidFill>
          <a:ln w="12700">
            <a:solidFill>
              <a:srgbClr val="2F6FB3"/>
            </a:solidFill>
            <a:prstDash val="solid"/>
          </a:ln>
        </p:spPr>
      </p:sp>
      <p:pic>
        <p:nvPicPr>
          <p:cNvPr id="24" name="Image 3" descr="preencoded.png">    </p:cNvPr>
          <p:cNvPicPr>
            <a:picLocks noChangeAspect="1"/>
          </p:cNvPicPr>
          <p:nvPr/>
        </p:nvPicPr>
        <p:blipFill>
          <a:blip r:embed="rId4"/>
          <a:stretch>
            <a:fillRect/>
          </a:stretch>
        </p:blipFill>
        <p:spPr>
          <a:xfrm>
            <a:off x="924641" y="4262201"/>
            <a:ext cx="272125" cy="272125"/>
          </a:xfrm>
          <a:prstGeom prst="rect">
            <a:avLst/>
          </a:prstGeom>
        </p:spPr>
      </p:pic>
      <p:sp>
        <p:nvSpPr>
          <p:cNvPr id="25" name="Text 18"/>
          <p:cNvSpPr txBox="1"/>
          <p:nvPr/>
        </p:nvSpPr>
        <p:spPr>
          <a:xfrm>
            <a:off x="1463040" y="4114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Use switch</a:t>
            </a:r>
            <a:endParaRPr lang="en-US" sz="1700" dirty="0"/>
          </a:p>
        </p:txBody>
      </p:sp>
      <p:sp>
        <p:nvSpPr>
          <p:cNvPr id="26" name="Text 19"/>
          <p:cNvSpPr txBox="1"/>
          <p:nvPr/>
        </p:nvSpPr>
        <p:spPr>
          <a:xfrm>
            <a:off x="777240" y="4800600"/>
            <a:ext cx="310896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Multi-way choice on int, char or string: case, break, default, stacked labels.</a:t>
            </a:r>
            <a:endParaRPr lang="en-US" sz="1500" dirty="0"/>
          </a:p>
        </p:txBody>
      </p:sp>
      <p:sp>
        <p:nvSpPr>
          <p:cNvPr id="27" name="Shape 20"/>
          <p:cNvSpPr/>
          <p:nvPr/>
        </p:nvSpPr>
        <p:spPr>
          <a:xfrm>
            <a:off x="4315968" y="3886200"/>
            <a:ext cx="3566160" cy="2103120"/>
          </a:xfrm>
          <a:prstGeom prst="roundRect">
            <a:avLst>
              <a:gd name="adj" fmla="val 5217"/>
            </a:avLst>
          </a:prstGeom>
          <a:solidFill>
            <a:srgbClr val="EEF1F6"/>
          </a:solidFill>
          <a:ln w="12700">
            <a:solidFill>
              <a:srgbClr val="EEF1F6"/>
            </a:solidFill>
            <a:prstDash val="solid"/>
          </a:ln>
        </p:spPr>
      </p:sp>
      <p:sp>
        <p:nvSpPr>
          <p:cNvPr id="28" name="Shape 21"/>
          <p:cNvSpPr/>
          <p:nvPr/>
        </p:nvSpPr>
        <p:spPr>
          <a:xfrm>
            <a:off x="4544568" y="4114800"/>
            <a:ext cx="566928" cy="566928"/>
          </a:xfrm>
          <a:prstGeom prst="ellipse">
            <a:avLst/>
          </a:prstGeom>
          <a:solidFill>
            <a:srgbClr val="14213D"/>
          </a:solidFill>
          <a:ln w="12700">
            <a:solidFill>
              <a:srgbClr val="14213D"/>
            </a:solidFill>
            <a:prstDash val="solid"/>
          </a:ln>
        </p:spPr>
      </p:sp>
      <p:pic>
        <p:nvPicPr>
          <p:cNvPr id="29" name="Image 4" descr="preencoded.png">    </p:cNvPr>
          <p:cNvPicPr>
            <a:picLocks noChangeAspect="1"/>
          </p:cNvPicPr>
          <p:nvPr/>
        </p:nvPicPr>
        <p:blipFill>
          <a:blip r:embed="rId5"/>
          <a:stretch>
            <a:fillRect/>
          </a:stretch>
        </p:blipFill>
        <p:spPr>
          <a:xfrm>
            <a:off x="4691969" y="4262201"/>
            <a:ext cx="272125" cy="272125"/>
          </a:xfrm>
          <a:prstGeom prst="rect">
            <a:avLst/>
          </a:prstGeom>
        </p:spPr>
      </p:pic>
      <p:sp>
        <p:nvSpPr>
          <p:cNvPr id="30" name="Text 22"/>
          <p:cNvSpPr txBox="1"/>
          <p:nvPr/>
        </p:nvSpPr>
        <p:spPr>
          <a:xfrm>
            <a:off x="5230368" y="4114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Validate input</a:t>
            </a:r>
            <a:endParaRPr lang="en-US" sz="1700" dirty="0"/>
          </a:p>
        </p:txBody>
      </p:sp>
      <p:sp>
        <p:nvSpPr>
          <p:cNvPr id="31" name="Text 23"/>
          <p:cNvSpPr txBox="1"/>
          <p:nvPr/>
        </p:nvSpPr>
        <p:spPr>
          <a:xfrm>
            <a:off x="4544568" y="4800600"/>
            <a:ext cx="310896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Use int.TryParse / double.TryParse plus range checks instead of crashing.</a:t>
            </a:r>
            <a:endParaRPr lang="en-US" sz="1500" dirty="0"/>
          </a:p>
        </p:txBody>
      </p:sp>
      <p:sp>
        <p:nvSpPr>
          <p:cNvPr id="32" name="Shape 24"/>
          <p:cNvSpPr/>
          <p:nvPr/>
        </p:nvSpPr>
        <p:spPr>
          <a:xfrm>
            <a:off x="8083296" y="3886200"/>
            <a:ext cx="3566160" cy="2103120"/>
          </a:xfrm>
          <a:prstGeom prst="roundRect">
            <a:avLst>
              <a:gd name="adj" fmla="val 5217"/>
            </a:avLst>
          </a:prstGeom>
          <a:solidFill>
            <a:srgbClr val="EEF1F6"/>
          </a:solidFill>
          <a:ln w="12700">
            <a:solidFill>
              <a:srgbClr val="EEF1F6"/>
            </a:solidFill>
            <a:prstDash val="solid"/>
          </a:ln>
        </p:spPr>
      </p:sp>
      <p:sp>
        <p:nvSpPr>
          <p:cNvPr id="33" name="Shape 25"/>
          <p:cNvSpPr/>
          <p:nvPr/>
        </p:nvSpPr>
        <p:spPr>
          <a:xfrm>
            <a:off x="8311896" y="4114800"/>
            <a:ext cx="566928" cy="566928"/>
          </a:xfrm>
          <a:prstGeom prst="ellipse">
            <a:avLst/>
          </a:prstGeom>
          <a:solidFill>
            <a:srgbClr val="14213D"/>
          </a:solidFill>
          <a:ln w="12700">
            <a:solidFill>
              <a:srgbClr val="14213D"/>
            </a:solidFill>
            <a:prstDash val="solid"/>
          </a:ln>
        </p:spPr>
      </p:sp>
      <p:pic>
        <p:nvPicPr>
          <p:cNvPr id="34" name="Image 5" descr="preencoded.png">    </p:cNvPr>
          <p:cNvPicPr>
            <a:picLocks noChangeAspect="1"/>
          </p:cNvPicPr>
          <p:nvPr/>
        </p:nvPicPr>
        <p:blipFill>
          <a:blip r:embed="rId6"/>
          <a:stretch>
            <a:fillRect/>
          </a:stretch>
        </p:blipFill>
        <p:spPr>
          <a:xfrm>
            <a:off x="8459297" y="4262201"/>
            <a:ext cx="272125" cy="272125"/>
          </a:xfrm>
          <a:prstGeom prst="rect">
            <a:avLst/>
          </a:prstGeom>
        </p:spPr>
      </p:pic>
      <p:sp>
        <p:nvSpPr>
          <p:cNvPr id="35" name="Text 26"/>
          <p:cNvSpPr txBox="1"/>
          <p:nvPr/>
        </p:nvSpPr>
        <p:spPr>
          <a:xfrm>
            <a:off x="8997696" y="4114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Test every branch</a:t>
            </a:r>
            <a:endParaRPr lang="en-US" sz="1700" dirty="0"/>
          </a:p>
        </p:txBody>
      </p:sp>
      <p:sp>
        <p:nvSpPr>
          <p:cNvPr id="36" name="Text 27"/>
          <p:cNvSpPr txBox="1"/>
          <p:nvPr/>
        </p:nvSpPr>
        <p:spPr>
          <a:xfrm>
            <a:off x="8311896" y="4800600"/>
            <a:ext cx="310896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Choose boundary inputs so that every path runs at least once.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RECAP · WEEK 4 → WEEK 5</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From true / false to Choosing a Path</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126480" cy="914400"/>
        </p:xfrm>
        <a:graphic>
          <a:graphicData uri="http://schemas.openxmlformats.org/drawingml/2006/table">
            <a:tbl>
              <a:tblPr/>
              <a:tblGrid>
                <a:gridCol w="2743200"/>
                <a:gridCol w="1005840"/>
                <a:gridCol w="2377440"/>
              </a:tblGrid>
              <a:tr h="475488">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 expression (x = 7)</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Value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Week 4 idea</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75488">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x &gt; 5</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true</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relational operator</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x % 2 == 0</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false</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remainder + equality</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x &gt;= 0 &amp;&amp; x &lt;= 100</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true</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range test with &amp;&amp;</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x &lt; 0 || x &gt; 100</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false</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outside-range test with ||</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!(x == 7)</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false</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negation with !</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8" name="Shape 4"/>
          <p:cNvSpPr/>
          <p:nvPr/>
        </p:nvSpPr>
        <p:spPr>
          <a:xfrm>
            <a:off x="6949440" y="1645920"/>
            <a:ext cx="4709160" cy="2852928"/>
          </a:xfrm>
          <a:prstGeom prst="roundRect">
            <a:avLst>
              <a:gd name="adj" fmla="val 3205"/>
            </a:avLst>
          </a:prstGeom>
          <a:solidFill>
            <a:srgbClr val="0F1729"/>
          </a:solidFill>
          <a:ln w="12700">
            <a:solidFill>
              <a:srgbClr val="0F1729"/>
            </a:solidFill>
            <a:prstDash val="solid"/>
          </a:ln>
        </p:spPr>
      </p:sp>
      <p:sp>
        <p:nvSpPr>
          <p:cNvPr id="9" name="Text 5"/>
          <p:cNvSpPr txBox="1"/>
          <p:nvPr/>
        </p:nvSpPr>
        <p:spPr>
          <a:xfrm>
            <a:off x="7178040" y="1755648"/>
            <a:ext cx="42519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Week 5: the bool decides what runs</a:t>
            </a:r>
            <a:endParaRPr lang="en-US" sz="1100" dirty="0"/>
          </a:p>
        </p:txBody>
      </p:sp>
      <p:sp>
        <p:nvSpPr>
          <p:cNvPr id="10" name="Text 6"/>
          <p:cNvSpPr txBox="1"/>
          <p:nvPr/>
        </p:nvSpPr>
        <p:spPr>
          <a:xfrm>
            <a:off x="7178040" y="2057400"/>
            <a:ext cx="4251960" cy="2350008"/>
          </a:xfrm>
          <a:prstGeom prst="rect">
            <a:avLst/>
          </a:prstGeom>
          <a:noFill/>
          <a:ln/>
        </p:spPr>
        <p:txBody>
          <a:bodyPr wrap="square" lIns="0" tIns="0" rIns="0" bIns="0" rtlCol="0" anchor="t"/>
          <a:lstStyle/>
          <a:p>
            <a:pPr indent="0" marL="0">
              <a:lnSpc>
                <a:spcPts val="1500"/>
              </a:lnSpc>
              <a:buNone/>
            </a:pPr>
            <a:r>
              <a:rPr lang="en-US" sz="1400" dirty="0">
                <a:solidFill>
                  <a:srgbClr val="4EC9B0"/>
                </a:solidFill>
                <a:latin typeface="Courier New" pitchFamily="34" charset="0"/>
                <a:ea typeface="Courier New" pitchFamily="34" charset="-122"/>
                <a:cs typeface="Courier New" pitchFamily="34" charset="-120"/>
              </a:rPr>
              <a:t>int</a:t>
            </a:r>
            <a:pPr indent="0" marL="0">
              <a:lnSpc>
                <a:spcPts val="1500"/>
              </a:lnSpc>
              <a:buNone/>
            </a:pPr>
            <a:r>
              <a:rPr lang="en-US" sz="1400" dirty="0">
                <a:solidFill>
                  <a:srgbClr val="E6EDF7"/>
                </a:solidFill>
                <a:latin typeface="Courier New" pitchFamily="34" charset="0"/>
                <a:ea typeface="Courier New" pitchFamily="34" charset="-122"/>
                <a:cs typeface="Courier New" pitchFamily="34" charset="-120"/>
              </a:rPr>
              <a:t> x = </a:t>
            </a:r>
            <a:pPr indent="0" marL="0">
              <a:lnSpc>
                <a:spcPts val="1500"/>
              </a:lnSpc>
              <a:buNone/>
            </a:pPr>
            <a:r>
              <a:rPr lang="en-US" sz="1400" dirty="0">
                <a:solidFill>
                  <a:srgbClr val="B5CEA8"/>
                </a:solidFill>
                <a:latin typeface="Courier New" pitchFamily="34" charset="0"/>
                <a:ea typeface="Courier New" pitchFamily="34" charset="-122"/>
                <a:cs typeface="Courier New" pitchFamily="34" charset="-120"/>
              </a:rPr>
              <a:t>7</a:t>
            </a:r>
            <a:pPr indent="0" marL="0">
              <a:lnSpc>
                <a:spcPts val="1500"/>
              </a:lnSpc>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lnSpc>
                <a:spcPts val="1500"/>
              </a:lnSpc>
              <a:buNone/>
            </a:pPr>
            <a:r>
              <a:rPr lang="en-US" sz="1400" dirty="0">
                <a:solidFill>
                  <a:srgbClr val="7AB8FF"/>
                </a:solidFill>
                <a:latin typeface="Courier New" pitchFamily="34" charset="0"/>
                <a:ea typeface="Courier New" pitchFamily="34" charset="-122"/>
                <a:cs typeface="Courier New" pitchFamily="34" charset="-120"/>
              </a:rPr>
              <a:t>if</a:t>
            </a:r>
            <a:pPr indent="0" marL="0">
              <a:lnSpc>
                <a:spcPts val="1500"/>
              </a:lnSpc>
              <a:buNone/>
            </a:pPr>
            <a:r>
              <a:rPr lang="en-US" sz="1400" dirty="0">
                <a:solidFill>
                  <a:srgbClr val="E6EDF7"/>
                </a:solidFill>
                <a:latin typeface="Courier New" pitchFamily="34" charset="0"/>
                <a:ea typeface="Courier New" pitchFamily="34" charset="-122"/>
                <a:cs typeface="Courier New" pitchFamily="34" charset="-120"/>
              </a:rPr>
              <a:t> (x % </a:t>
            </a:r>
            <a:pPr indent="0" marL="0">
              <a:lnSpc>
                <a:spcPts val="1500"/>
              </a:lnSpc>
              <a:buNone/>
            </a:pPr>
            <a:r>
              <a:rPr lang="en-US" sz="1400" dirty="0">
                <a:solidFill>
                  <a:srgbClr val="B5CEA8"/>
                </a:solidFill>
                <a:latin typeface="Courier New" pitchFamily="34" charset="0"/>
                <a:ea typeface="Courier New" pitchFamily="34" charset="-122"/>
                <a:cs typeface="Courier New" pitchFamily="34" charset="-120"/>
              </a:rPr>
              <a:t>2</a:t>
            </a:r>
            <a:pPr indent="0" marL="0">
              <a:lnSpc>
                <a:spcPts val="1500"/>
              </a:lnSpc>
              <a:buNone/>
            </a:pPr>
            <a:r>
              <a:rPr lang="en-US" sz="1400" dirty="0">
                <a:solidFill>
                  <a:srgbClr val="E6EDF7"/>
                </a:solidFill>
                <a:latin typeface="Courier New" pitchFamily="34" charset="0"/>
                <a:ea typeface="Courier New" pitchFamily="34" charset="-122"/>
                <a:cs typeface="Courier New" pitchFamily="34" charset="-120"/>
              </a:rPr>
              <a:t> == </a:t>
            </a:r>
            <a:pPr indent="0" marL="0">
              <a:lnSpc>
                <a:spcPts val="1500"/>
              </a:lnSpc>
              <a:buNone/>
            </a:pPr>
            <a:r>
              <a:rPr lang="en-US" sz="1400" dirty="0">
                <a:solidFill>
                  <a:srgbClr val="B5CEA8"/>
                </a:solidFill>
                <a:latin typeface="Courier New" pitchFamily="34" charset="0"/>
                <a:ea typeface="Courier New" pitchFamily="34" charset="-122"/>
                <a:cs typeface="Courier New" pitchFamily="34" charset="-120"/>
              </a:rPr>
              <a:t>0</a:t>
            </a:r>
            <a:pPr indent="0" marL="0">
              <a:lnSpc>
                <a:spcPts val="1500"/>
              </a:lnSpc>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lnSpc>
                <a:spcPts val="1500"/>
              </a:lnSpc>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lnSpc>
                <a:spcPts val="1500"/>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500"/>
              </a:lnSpc>
              <a:buNone/>
            </a:pPr>
            <a:r>
              <a:rPr lang="en-US" sz="1400" dirty="0">
                <a:solidFill>
                  <a:srgbClr val="4EC9B0"/>
                </a:solidFill>
                <a:latin typeface="Courier New" pitchFamily="34" charset="0"/>
                <a:ea typeface="Courier New" pitchFamily="34" charset="-122"/>
                <a:cs typeface="Courier New" pitchFamily="34" charset="-120"/>
              </a:rPr>
              <a:t>Console</a:t>
            </a:r>
            <a:pPr indent="0" marL="0">
              <a:lnSpc>
                <a:spcPts val="1500"/>
              </a:lnSpc>
              <a:buNone/>
            </a:pPr>
            <a:r>
              <a:rPr lang="en-US" sz="1400" dirty="0">
                <a:solidFill>
                  <a:srgbClr val="E6EDF7"/>
                </a:solidFill>
                <a:latin typeface="Courier New" pitchFamily="34" charset="0"/>
                <a:ea typeface="Courier New" pitchFamily="34" charset="-122"/>
                <a:cs typeface="Courier New" pitchFamily="34" charset="-120"/>
              </a:rPr>
              <a:t>.WriteLine(</a:t>
            </a:r>
            <a:pPr indent="0" marL="0">
              <a:lnSpc>
                <a:spcPts val="1500"/>
              </a:lnSpc>
              <a:buNone/>
            </a:pPr>
            <a:r>
              <a:rPr lang="en-US" sz="1400" dirty="0">
                <a:solidFill>
                  <a:srgbClr val="CE9178"/>
                </a:solidFill>
                <a:latin typeface="Courier New" pitchFamily="34" charset="0"/>
                <a:ea typeface="Courier New" pitchFamily="34" charset="-122"/>
                <a:cs typeface="Courier New" pitchFamily="34" charset="-120"/>
              </a:rPr>
              <a:t>"even"</a:t>
            </a:r>
            <a:pPr indent="0" marL="0">
              <a:lnSpc>
                <a:spcPts val="1500"/>
              </a:lnSpc>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lnSpc>
                <a:spcPts val="1500"/>
              </a:lnSpc>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lnSpc>
                <a:spcPts val="1500"/>
              </a:lnSpc>
              <a:buNone/>
            </a:pPr>
            <a:r>
              <a:rPr lang="en-US" sz="1400" dirty="0">
                <a:solidFill>
                  <a:srgbClr val="7AB8FF"/>
                </a:solidFill>
                <a:latin typeface="Courier New" pitchFamily="34" charset="0"/>
                <a:ea typeface="Courier New" pitchFamily="34" charset="-122"/>
                <a:cs typeface="Courier New" pitchFamily="34" charset="-120"/>
              </a:rPr>
              <a:t>else</a:t>
            </a:r>
            <a:endParaRPr lang="en-US" sz="1400" dirty="0"/>
          </a:p>
          <a:p>
            <a:pPr indent="0" marL="0">
              <a:lnSpc>
                <a:spcPts val="1500"/>
              </a:lnSpc>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lnSpc>
                <a:spcPts val="1500"/>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500"/>
              </a:lnSpc>
              <a:buNone/>
            </a:pPr>
            <a:r>
              <a:rPr lang="en-US" sz="1400" dirty="0">
                <a:solidFill>
                  <a:srgbClr val="4EC9B0"/>
                </a:solidFill>
                <a:latin typeface="Courier New" pitchFamily="34" charset="0"/>
                <a:ea typeface="Courier New" pitchFamily="34" charset="-122"/>
                <a:cs typeface="Courier New" pitchFamily="34" charset="-120"/>
              </a:rPr>
              <a:t>Console</a:t>
            </a:r>
            <a:pPr indent="0" marL="0">
              <a:lnSpc>
                <a:spcPts val="1500"/>
              </a:lnSpc>
              <a:buNone/>
            </a:pPr>
            <a:r>
              <a:rPr lang="en-US" sz="1400" dirty="0">
                <a:solidFill>
                  <a:srgbClr val="E6EDF7"/>
                </a:solidFill>
                <a:latin typeface="Courier New" pitchFamily="34" charset="0"/>
                <a:ea typeface="Courier New" pitchFamily="34" charset="-122"/>
                <a:cs typeface="Courier New" pitchFamily="34" charset="-120"/>
              </a:rPr>
              <a:t>.WriteLine(</a:t>
            </a:r>
            <a:pPr indent="0" marL="0">
              <a:lnSpc>
                <a:spcPts val="1500"/>
              </a:lnSpc>
              <a:buNone/>
            </a:pPr>
            <a:r>
              <a:rPr lang="en-US" sz="1400" dirty="0">
                <a:solidFill>
                  <a:srgbClr val="CE9178"/>
                </a:solidFill>
                <a:latin typeface="Courier New" pitchFamily="34" charset="0"/>
                <a:ea typeface="Courier New" pitchFamily="34" charset="-122"/>
                <a:cs typeface="Courier New" pitchFamily="34" charset="-120"/>
              </a:rPr>
              <a:t>"odd"</a:t>
            </a:r>
            <a:pPr indent="0" marL="0">
              <a:lnSpc>
                <a:spcPts val="1500"/>
              </a:lnSpc>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lnSpc>
                <a:spcPts val="1500"/>
              </a:lnSpc>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p:txBody>
      </p:sp>
      <p:sp>
        <p:nvSpPr>
          <p:cNvPr id="11" name="Shape 7"/>
          <p:cNvSpPr/>
          <p:nvPr/>
        </p:nvSpPr>
        <p:spPr>
          <a:xfrm>
            <a:off x="548640" y="4800600"/>
            <a:ext cx="3566160" cy="1234440"/>
          </a:xfrm>
          <a:prstGeom prst="roundRect">
            <a:avLst>
              <a:gd name="adj" fmla="val 8889"/>
            </a:avLst>
          </a:prstGeom>
          <a:solidFill>
            <a:srgbClr val="EEF1F6"/>
          </a:solidFill>
          <a:ln w="12700">
            <a:solidFill>
              <a:srgbClr val="EEF1F6"/>
            </a:solidFill>
            <a:prstDash val="solid"/>
          </a:ln>
        </p:spPr>
      </p:sp>
      <p:sp>
        <p:nvSpPr>
          <p:cNvPr id="12" name="Shape 8"/>
          <p:cNvSpPr/>
          <p:nvPr/>
        </p:nvSpPr>
        <p:spPr>
          <a:xfrm>
            <a:off x="777240" y="5001768"/>
            <a:ext cx="274320" cy="274320"/>
          </a:xfrm>
          <a:prstGeom prst="ellipse">
            <a:avLst/>
          </a:prstGeom>
          <a:solidFill>
            <a:srgbClr val="14213D"/>
          </a:solidFill>
          <a:ln w="12700">
            <a:solidFill>
              <a:srgbClr val="14213D"/>
            </a:solidFill>
            <a:prstDash val="solid"/>
          </a:ln>
        </p:spPr>
      </p:sp>
      <p:sp>
        <p:nvSpPr>
          <p:cNvPr id="13" name="Text 9"/>
          <p:cNvSpPr txBox="1"/>
          <p:nvPr/>
        </p:nvSpPr>
        <p:spPr>
          <a:xfrm>
            <a:off x="1188720" y="4956048"/>
            <a:ext cx="2743200" cy="365760"/>
          </a:xfrm>
          <a:prstGeom prst="rect">
            <a:avLst/>
          </a:prstGeom>
          <a:noFill/>
          <a:ln/>
        </p:spPr>
        <p:txBody>
          <a:bodyPr wrap="square" lIns="0" tIns="0" rIns="0" bIns="0" rtlCol="0" anchor="ctr"/>
          <a:lstStyle/>
          <a:p>
            <a:pPr indent="0" marL="0">
              <a:buNone/>
            </a:pPr>
            <a:r>
              <a:rPr lang="en-US" sz="1800" b="1" dirty="0">
                <a:solidFill>
                  <a:srgbClr val="14213D"/>
                </a:solidFill>
                <a:latin typeface="Cambria" pitchFamily="34" charset="0"/>
                <a:ea typeface="Cambria" pitchFamily="34" charset="-122"/>
                <a:cs typeface="Cambria" pitchFamily="34" charset="-120"/>
              </a:rPr>
              <a:t>Sequence</a:t>
            </a:r>
            <a:endParaRPr lang="en-US" sz="1800" dirty="0"/>
          </a:p>
        </p:txBody>
      </p:sp>
      <p:sp>
        <p:nvSpPr>
          <p:cNvPr id="14" name="Text 10"/>
          <p:cNvSpPr txBox="1"/>
          <p:nvPr/>
        </p:nvSpPr>
        <p:spPr>
          <a:xfrm>
            <a:off x="777240" y="5394960"/>
            <a:ext cx="3200400" cy="50292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Weeks 3–4 · one step after another</a:t>
            </a:r>
            <a:endParaRPr lang="en-US" sz="1400" dirty="0"/>
          </a:p>
        </p:txBody>
      </p:sp>
      <p:sp>
        <p:nvSpPr>
          <p:cNvPr id="15" name="Shape 11"/>
          <p:cNvSpPr/>
          <p:nvPr/>
        </p:nvSpPr>
        <p:spPr>
          <a:xfrm>
            <a:off x="4315968" y="4800600"/>
            <a:ext cx="3566160" cy="1234440"/>
          </a:xfrm>
          <a:prstGeom prst="roundRect">
            <a:avLst>
              <a:gd name="adj" fmla="val 8889"/>
            </a:avLst>
          </a:prstGeom>
          <a:solidFill>
            <a:srgbClr val="E3ECF8"/>
          </a:solidFill>
          <a:ln w="12700">
            <a:solidFill>
              <a:srgbClr val="E3ECF8"/>
            </a:solidFill>
            <a:prstDash val="solid"/>
          </a:ln>
        </p:spPr>
      </p:sp>
      <p:sp>
        <p:nvSpPr>
          <p:cNvPr id="16" name="Shape 12"/>
          <p:cNvSpPr/>
          <p:nvPr/>
        </p:nvSpPr>
        <p:spPr>
          <a:xfrm>
            <a:off x="4544568" y="5001768"/>
            <a:ext cx="274320" cy="274320"/>
          </a:xfrm>
          <a:prstGeom prst="ellipse">
            <a:avLst/>
          </a:prstGeom>
          <a:solidFill>
            <a:srgbClr val="2F6FB3"/>
          </a:solidFill>
          <a:ln w="12700">
            <a:solidFill>
              <a:srgbClr val="2F6FB3"/>
            </a:solidFill>
            <a:prstDash val="solid"/>
          </a:ln>
        </p:spPr>
      </p:sp>
      <p:sp>
        <p:nvSpPr>
          <p:cNvPr id="17" name="Text 13"/>
          <p:cNvSpPr txBox="1"/>
          <p:nvPr/>
        </p:nvSpPr>
        <p:spPr>
          <a:xfrm>
            <a:off x="4956048" y="4956048"/>
            <a:ext cx="2743200" cy="365760"/>
          </a:xfrm>
          <a:prstGeom prst="rect">
            <a:avLst/>
          </a:prstGeom>
          <a:noFill/>
          <a:ln/>
        </p:spPr>
        <p:txBody>
          <a:bodyPr wrap="square" lIns="0" tIns="0" rIns="0" bIns="0" rtlCol="0" anchor="ctr"/>
          <a:lstStyle/>
          <a:p>
            <a:pPr indent="0" marL="0">
              <a:buNone/>
            </a:pPr>
            <a:r>
              <a:rPr lang="en-US" sz="1800" b="1" dirty="0">
                <a:solidFill>
                  <a:srgbClr val="2F6FB3"/>
                </a:solidFill>
                <a:latin typeface="Cambria" pitchFamily="34" charset="0"/>
                <a:ea typeface="Cambria" pitchFamily="34" charset="-122"/>
                <a:cs typeface="Cambria" pitchFamily="34" charset="-120"/>
              </a:rPr>
              <a:t>Selection</a:t>
            </a:r>
            <a:endParaRPr lang="en-US" sz="1800" dirty="0"/>
          </a:p>
        </p:txBody>
      </p:sp>
      <p:sp>
        <p:nvSpPr>
          <p:cNvPr id="18" name="Text 14"/>
          <p:cNvSpPr txBox="1"/>
          <p:nvPr/>
        </p:nvSpPr>
        <p:spPr>
          <a:xfrm>
            <a:off x="4544568" y="5394960"/>
            <a:ext cx="3200400" cy="50292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Week 5 · TODAY · choose a path</a:t>
            </a:r>
            <a:endParaRPr lang="en-US" sz="1400" dirty="0"/>
          </a:p>
        </p:txBody>
      </p:sp>
      <p:sp>
        <p:nvSpPr>
          <p:cNvPr id="19" name="Shape 15"/>
          <p:cNvSpPr/>
          <p:nvPr/>
        </p:nvSpPr>
        <p:spPr>
          <a:xfrm>
            <a:off x="8083296" y="4800600"/>
            <a:ext cx="3566160" cy="1234440"/>
          </a:xfrm>
          <a:prstGeom prst="roundRect">
            <a:avLst>
              <a:gd name="adj" fmla="val 8889"/>
            </a:avLst>
          </a:prstGeom>
          <a:solidFill>
            <a:srgbClr val="EEF1F6"/>
          </a:solidFill>
          <a:ln w="12700">
            <a:solidFill>
              <a:srgbClr val="EEF1F6"/>
            </a:solidFill>
            <a:prstDash val="solid"/>
          </a:ln>
        </p:spPr>
      </p:sp>
      <p:sp>
        <p:nvSpPr>
          <p:cNvPr id="20" name="Shape 16"/>
          <p:cNvSpPr/>
          <p:nvPr/>
        </p:nvSpPr>
        <p:spPr>
          <a:xfrm>
            <a:off x="8311896" y="5001768"/>
            <a:ext cx="274320" cy="274320"/>
          </a:xfrm>
          <a:prstGeom prst="ellipse">
            <a:avLst/>
          </a:prstGeom>
          <a:solidFill>
            <a:srgbClr val="2E9E6A"/>
          </a:solidFill>
          <a:ln w="12700">
            <a:solidFill>
              <a:srgbClr val="2E9E6A"/>
            </a:solidFill>
            <a:prstDash val="solid"/>
          </a:ln>
        </p:spPr>
      </p:sp>
      <p:sp>
        <p:nvSpPr>
          <p:cNvPr id="21" name="Text 17"/>
          <p:cNvSpPr txBox="1"/>
          <p:nvPr/>
        </p:nvSpPr>
        <p:spPr>
          <a:xfrm>
            <a:off x="8723376" y="4956048"/>
            <a:ext cx="2743200" cy="365760"/>
          </a:xfrm>
          <a:prstGeom prst="rect">
            <a:avLst/>
          </a:prstGeom>
          <a:noFill/>
          <a:ln/>
        </p:spPr>
        <p:txBody>
          <a:bodyPr wrap="square" lIns="0" tIns="0" rIns="0" bIns="0" rtlCol="0" anchor="ctr"/>
          <a:lstStyle/>
          <a:p>
            <a:pPr indent="0" marL="0">
              <a:buNone/>
            </a:pPr>
            <a:r>
              <a:rPr lang="en-US" sz="1800" b="1" dirty="0">
                <a:solidFill>
                  <a:srgbClr val="2E9E6A"/>
                </a:solidFill>
                <a:latin typeface="Cambria" pitchFamily="34" charset="0"/>
                <a:ea typeface="Cambria" pitchFamily="34" charset="-122"/>
                <a:cs typeface="Cambria" pitchFamily="34" charset="-120"/>
              </a:rPr>
              <a:t>Repetition</a:t>
            </a:r>
            <a:endParaRPr lang="en-US" sz="1800" dirty="0"/>
          </a:p>
        </p:txBody>
      </p:sp>
      <p:sp>
        <p:nvSpPr>
          <p:cNvPr id="22" name="Text 18"/>
          <p:cNvSpPr txBox="1"/>
          <p:nvPr/>
        </p:nvSpPr>
        <p:spPr>
          <a:xfrm>
            <a:off x="8311896" y="5394960"/>
            <a:ext cx="3200400" cy="50292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Weeks 6–7 · repeat a block</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1</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The if Statement</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One condition, one or two paths</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5</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PART 1 · IF</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if: Run a Block Only When the Condition Is True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5</a:t>
            </a:r>
            <a:endParaRPr lang="en-US" sz="1000" dirty="0"/>
          </a:p>
        </p:txBody>
      </p:sp>
      <p:sp>
        <p:nvSpPr>
          <p:cNvPr id="7" name="Shape 4"/>
          <p:cNvSpPr/>
          <p:nvPr/>
        </p:nvSpPr>
        <p:spPr>
          <a:xfrm>
            <a:off x="548640" y="1600200"/>
            <a:ext cx="5852160" cy="1417320"/>
          </a:xfrm>
          <a:prstGeom prst="roundRect">
            <a:avLst>
              <a:gd name="adj" fmla="val 6452"/>
            </a:avLst>
          </a:prstGeom>
          <a:solidFill>
            <a:srgbClr val="0F1729"/>
          </a:solidFill>
          <a:ln w="12700">
            <a:solidFill>
              <a:srgbClr val="0F1729"/>
            </a:solidFill>
            <a:prstDash val="solid"/>
          </a:ln>
        </p:spPr>
      </p:sp>
      <p:sp>
        <p:nvSpPr>
          <p:cNvPr id="8" name="Text 5"/>
          <p:cNvSpPr txBox="1"/>
          <p:nvPr/>
        </p:nvSpPr>
        <p:spPr>
          <a:xfrm>
            <a:off x="777240" y="1709928"/>
            <a:ext cx="53949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Syntax</a:t>
            </a:r>
            <a:endParaRPr lang="en-US" sz="1100" dirty="0"/>
          </a:p>
        </p:txBody>
      </p:sp>
      <p:sp>
        <p:nvSpPr>
          <p:cNvPr id="9" name="Text 6"/>
          <p:cNvSpPr txBox="1"/>
          <p:nvPr/>
        </p:nvSpPr>
        <p:spPr>
          <a:xfrm>
            <a:off x="777240" y="2011680"/>
            <a:ext cx="5394960" cy="914400"/>
          </a:xfrm>
          <a:prstGeom prst="rect">
            <a:avLst/>
          </a:prstGeom>
          <a:noFill/>
          <a:ln/>
        </p:spPr>
        <p:txBody>
          <a:bodyPr wrap="square" lIns="0" tIns="0" rIns="0" bIns="0" rtlCol="0" anchor="t"/>
          <a:lstStyle/>
          <a:p>
            <a:pPr indent="0" marL="0">
              <a:lnSpc>
                <a:spcPts val="1500"/>
              </a:lnSpc>
              <a:buNone/>
            </a:pPr>
            <a:r>
              <a:rPr lang="en-US" sz="1400" dirty="0">
                <a:solidFill>
                  <a:srgbClr val="7AB8FF"/>
                </a:solidFill>
                <a:latin typeface="Courier New" pitchFamily="34" charset="0"/>
                <a:ea typeface="Courier New" pitchFamily="34" charset="-122"/>
                <a:cs typeface="Courier New" pitchFamily="34" charset="-120"/>
              </a:rPr>
              <a:t>if</a:t>
            </a:r>
            <a:pPr indent="0" marL="0">
              <a:lnSpc>
                <a:spcPts val="1500"/>
              </a:lnSpc>
              <a:buNone/>
            </a:pPr>
            <a:r>
              <a:rPr lang="en-US" sz="1400" dirty="0">
                <a:solidFill>
                  <a:srgbClr val="E6EDF7"/>
                </a:solidFill>
                <a:latin typeface="Courier New" pitchFamily="34" charset="0"/>
                <a:ea typeface="Courier New" pitchFamily="34" charset="-122"/>
                <a:cs typeface="Courier New" pitchFamily="34" charset="-120"/>
              </a:rPr>
              <a:t> (condition)          </a:t>
            </a:r>
            <a:pPr indent="0" marL="0">
              <a:lnSpc>
                <a:spcPts val="1500"/>
              </a:lnSpc>
              <a:buNone/>
            </a:pPr>
            <a:r>
              <a:rPr lang="en-US" sz="1400" dirty="0">
                <a:solidFill>
                  <a:srgbClr val="7F8BA3"/>
                </a:solidFill>
                <a:latin typeface="Courier New" pitchFamily="34" charset="0"/>
                <a:ea typeface="Courier New" pitchFamily="34" charset="-122"/>
                <a:cs typeface="Courier New" pitchFamily="34" charset="-120"/>
              </a:rPr>
              <a:t>// condition: a bool</a:t>
            </a:r>
            <a:endParaRPr lang="en-US" sz="1400" dirty="0"/>
          </a:p>
          <a:p>
            <a:pPr indent="0" marL="0">
              <a:lnSpc>
                <a:spcPts val="1500"/>
              </a:lnSpc>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lnSpc>
                <a:spcPts val="1500"/>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500"/>
              </a:lnSpc>
              <a:buNone/>
            </a:pPr>
            <a:r>
              <a:rPr lang="en-US" sz="1400" dirty="0">
                <a:solidFill>
                  <a:srgbClr val="7F8BA3"/>
                </a:solidFill>
                <a:latin typeface="Courier New" pitchFamily="34" charset="0"/>
                <a:ea typeface="Courier New" pitchFamily="34" charset="-122"/>
                <a:cs typeface="Courier New" pitchFamily="34" charset="-120"/>
              </a:rPr>
              <a:t>// runs only when condition is true</a:t>
            </a:r>
            <a:endParaRPr lang="en-US" sz="1400" dirty="0"/>
          </a:p>
          <a:p>
            <a:pPr indent="0" marL="0">
              <a:lnSpc>
                <a:spcPts val="1500"/>
              </a:lnSpc>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p:txBody>
      </p:sp>
      <p:sp>
        <p:nvSpPr>
          <p:cNvPr id="10" name="Shape 7"/>
          <p:cNvSpPr/>
          <p:nvPr/>
        </p:nvSpPr>
        <p:spPr>
          <a:xfrm>
            <a:off x="548640" y="3127248"/>
            <a:ext cx="5852160" cy="1938528"/>
          </a:xfrm>
          <a:prstGeom prst="roundRect">
            <a:avLst>
              <a:gd name="adj" fmla="val 4717"/>
            </a:avLst>
          </a:prstGeom>
          <a:solidFill>
            <a:srgbClr val="0F1729"/>
          </a:solidFill>
          <a:ln w="12700">
            <a:solidFill>
              <a:srgbClr val="0F1729"/>
            </a:solidFill>
            <a:prstDash val="solid"/>
          </a:ln>
        </p:spPr>
      </p:sp>
      <p:sp>
        <p:nvSpPr>
          <p:cNvPr id="11" name="Text 8"/>
          <p:cNvSpPr txBox="1"/>
          <p:nvPr/>
        </p:nvSpPr>
        <p:spPr>
          <a:xfrm>
            <a:off x="777240" y="3236976"/>
            <a:ext cx="53949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Example: absolute value</a:t>
            </a:r>
            <a:endParaRPr lang="en-US" sz="1100" dirty="0"/>
          </a:p>
        </p:txBody>
      </p:sp>
      <p:sp>
        <p:nvSpPr>
          <p:cNvPr id="12" name="Text 9"/>
          <p:cNvSpPr txBox="1"/>
          <p:nvPr/>
        </p:nvSpPr>
        <p:spPr>
          <a:xfrm>
            <a:off x="777240" y="3538728"/>
            <a:ext cx="5394960" cy="1435608"/>
          </a:xfrm>
          <a:prstGeom prst="rect">
            <a:avLst/>
          </a:prstGeom>
          <a:noFill/>
          <a:ln/>
        </p:spPr>
        <p:txBody>
          <a:bodyPr wrap="square" lIns="0" tIns="0" rIns="0" bIns="0" rtlCol="0" anchor="t"/>
          <a:lstStyle/>
          <a:p>
            <a:pPr indent="0" marL="0">
              <a:lnSpc>
                <a:spcPts val="1400"/>
              </a:lnSpc>
              <a:buNone/>
            </a:pPr>
            <a:r>
              <a:rPr lang="en-US" sz="1300" dirty="0">
                <a:solidFill>
                  <a:srgbClr val="4EC9B0"/>
                </a:solidFill>
                <a:latin typeface="Courier New" pitchFamily="34" charset="0"/>
                <a:ea typeface="Courier New" pitchFamily="34" charset="-122"/>
                <a:cs typeface="Courier New" pitchFamily="34" charset="-120"/>
              </a:rPr>
              <a:t>Console</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.Write(</a:t>
            </a:r>
            <a:pPr indent="0" marL="0">
              <a:lnSpc>
                <a:spcPts val="1400"/>
              </a:lnSpc>
              <a:buNone/>
            </a:pPr>
            <a:r>
              <a:rPr lang="en-US" sz="1300" dirty="0">
                <a:solidFill>
                  <a:srgbClr val="CE9178"/>
                </a:solidFill>
                <a:latin typeface="Courier New" pitchFamily="34" charset="0"/>
                <a:ea typeface="Courier New" pitchFamily="34" charset="-122"/>
                <a:cs typeface="Courier New" pitchFamily="34" charset="-120"/>
              </a:rPr>
              <a:t>"Enter a number: "</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4EC9B0"/>
                </a:solidFill>
                <a:latin typeface="Courier New" pitchFamily="34" charset="0"/>
                <a:ea typeface="Courier New" pitchFamily="34" charset="-122"/>
                <a:cs typeface="Courier New" pitchFamily="34" charset="-120"/>
              </a:rPr>
              <a:t>int</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x = </a:t>
            </a:r>
            <a:pPr indent="0" marL="0">
              <a:lnSpc>
                <a:spcPts val="1400"/>
              </a:lnSpc>
              <a:buNone/>
            </a:pPr>
            <a:r>
              <a:rPr lang="en-US" sz="1300" dirty="0">
                <a:solidFill>
                  <a:srgbClr val="4EC9B0"/>
                </a:solidFill>
                <a:latin typeface="Courier New" pitchFamily="34" charset="0"/>
                <a:ea typeface="Courier New" pitchFamily="34" charset="-122"/>
                <a:cs typeface="Courier New" pitchFamily="34" charset="-120"/>
              </a:rPr>
              <a:t>int</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.Parse(</a:t>
            </a:r>
            <a:pPr indent="0" marL="0">
              <a:lnSpc>
                <a:spcPts val="1400"/>
              </a:lnSpc>
              <a:buNone/>
            </a:pPr>
            <a:r>
              <a:rPr lang="en-US" sz="1300" dirty="0">
                <a:solidFill>
                  <a:srgbClr val="4EC9B0"/>
                </a:solidFill>
                <a:latin typeface="Courier New" pitchFamily="34" charset="0"/>
                <a:ea typeface="Courier New" pitchFamily="34" charset="-122"/>
                <a:cs typeface="Courier New" pitchFamily="34" charset="-120"/>
              </a:rPr>
              <a:t>Console</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.ReadLine());</a:t>
            </a:r>
            <a:endParaRPr lang="en-US" sz="1300" dirty="0"/>
          </a:p>
          <a:p>
            <a:pPr indent="0" marL="0">
              <a:lnSpc>
                <a:spcPts val="1400"/>
              </a:lnSpc>
              <a:buNone/>
            </a:pPr>
            <a:r>
              <a:rPr lang="en-US" sz="1300" dirty="0">
                <a:solidFill>
                  <a:srgbClr val="7AB8FF"/>
                </a:solidFill>
                <a:latin typeface="Courier New" pitchFamily="34" charset="0"/>
                <a:ea typeface="Courier New" pitchFamily="34" charset="-122"/>
                <a:cs typeface="Courier New" pitchFamily="34" charset="-120"/>
              </a:rPr>
              <a:t>if</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(x &lt; </a:t>
            </a:r>
            <a:pPr indent="0" marL="0">
              <a:lnSpc>
                <a:spcPts val="1400"/>
              </a:lnSpc>
              <a:buNone/>
            </a:pPr>
            <a:r>
              <a:rPr lang="en-US" sz="1300" dirty="0">
                <a:solidFill>
                  <a:srgbClr val="B5CEA8"/>
                </a:solidFill>
                <a:latin typeface="Courier New" pitchFamily="34" charset="0"/>
                <a:ea typeface="Courier New" pitchFamily="34" charset="-122"/>
                <a:cs typeface="Courier New" pitchFamily="34" charset="-120"/>
              </a:rPr>
              <a:t>0</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x = -x;   </a:t>
            </a:r>
            <a:pPr indent="0" marL="0">
              <a:lnSpc>
                <a:spcPts val="1400"/>
              </a:lnSpc>
              <a:buNone/>
            </a:pPr>
            <a:r>
              <a:rPr lang="en-US" sz="1300" dirty="0">
                <a:solidFill>
                  <a:srgbClr val="7F8BA3"/>
                </a:solidFill>
                <a:latin typeface="Courier New" pitchFamily="34" charset="0"/>
                <a:ea typeface="Courier New" pitchFamily="34" charset="-122"/>
                <a:cs typeface="Courier New" pitchFamily="34" charset="-120"/>
              </a:rPr>
              <a:t>// runs only when x is negative</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4EC9B0"/>
                </a:solidFill>
                <a:latin typeface="Courier New" pitchFamily="34" charset="0"/>
                <a:ea typeface="Courier New" pitchFamily="34" charset="-122"/>
                <a:cs typeface="Courier New" pitchFamily="34" charset="-120"/>
              </a:rPr>
              <a:t>Console</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.WriteLine(</a:t>
            </a:r>
            <a:pPr indent="0" marL="0">
              <a:lnSpc>
                <a:spcPts val="1400"/>
              </a:lnSpc>
              <a:buNone/>
            </a:pPr>
            <a:r>
              <a:rPr lang="en-US" sz="1300" dirty="0">
                <a:solidFill>
                  <a:srgbClr val="CE9178"/>
                </a:solidFill>
                <a:latin typeface="Courier New" pitchFamily="34" charset="0"/>
                <a:ea typeface="Courier New" pitchFamily="34" charset="-122"/>
                <a:cs typeface="Courier New" pitchFamily="34" charset="-120"/>
              </a:rPr>
              <a:t>$"Absolute value: {x}"</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3" name="Shape 10"/>
          <p:cNvSpPr/>
          <p:nvPr/>
        </p:nvSpPr>
        <p:spPr>
          <a:xfrm>
            <a:off x="548640" y="5175504"/>
            <a:ext cx="5852160" cy="914400"/>
          </a:xfrm>
          <a:prstGeom prst="roundRect">
            <a:avLst>
              <a:gd name="adj" fmla="val 10000"/>
            </a:avLst>
          </a:prstGeom>
          <a:solidFill>
            <a:srgbClr val="0B0F19"/>
          </a:solidFill>
          <a:ln w="12700">
            <a:solidFill>
              <a:srgbClr val="2A3654"/>
            </a:solidFill>
            <a:prstDash val="solid"/>
          </a:ln>
        </p:spPr>
      </p:sp>
      <p:sp>
        <p:nvSpPr>
          <p:cNvPr id="14" name="Shape 11"/>
          <p:cNvSpPr/>
          <p:nvPr/>
        </p:nvSpPr>
        <p:spPr>
          <a:xfrm>
            <a:off x="731520" y="5303520"/>
            <a:ext cx="118872" cy="118872"/>
          </a:xfrm>
          <a:prstGeom prst="ellipse">
            <a:avLst/>
          </a:prstGeom>
          <a:solidFill>
            <a:srgbClr val="FF5F57"/>
          </a:solidFill>
          <a:ln w="12700">
            <a:solidFill>
              <a:srgbClr val="FF5F57"/>
            </a:solidFill>
            <a:prstDash val="solid"/>
          </a:ln>
        </p:spPr>
      </p:sp>
      <p:sp>
        <p:nvSpPr>
          <p:cNvPr id="15" name="Shape 12"/>
          <p:cNvSpPr/>
          <p:nvPr/>
        </p:nvSpPr>
        <p:spPr>
          <a:xfrm>
            <a:off x="960120" y="5303520"/>
            <a:ext cx="118872" cy="118872"/>
          </a:xfrm>
          <a:prstGeom prst="ellipse">
            <a:avLst/>
          </a:prstGeom>
          <a:solidFill>
            <a:srgbClr val="FEBC2E"/>
          </a:solidFill>
          <a:ln w="12700">
            <a:solidFill>
              <a:srgbClr val="FEBC2E"/>
            </a:solidFill>
            <a:prstDash val="solid"/>
          </a:ln>
        </p:spPr>
      </p:sp>
      <p:sp>
        <p:nvSpPr>
          <p:cNvPr id="16" name="Shape 13"/>
          <p:cNvSpPr/>
          <p:nvPr/>
        </p:nvSpPr>
        <p:spPr>
          <a:xfrm>
            <a:off x="1188720" y="5303520"/>
            <a:ext cx="118872" cy="118872"/>
          </a:xfrm>
          <a:prstGeom prst="ellipse">
            <a:avLst/>
          </a:prstGeom>
          <a:solidFill>
            <a:srgbClr val="28C840"/>
          </a:solidFill>
          <a:ln w="12700">
            <a:solidFill>
              <a:srgbClr val="28C840"/>
            </a:solidFill>
            <a:prstDash val="solid"/>
          </a:ln>
        </p:spPr>
      </p:sp>
      <p:sp>
        <p:nvSpPr>
          <p:cNvPr id="17" name="Text 14"/>
          <p:cNvSpPr txBox="1"/>
          <p:nvPr/>
        </p:nvSpPr>
        <p:spPr>
          <a:xfrm>
            <a:off x="1463040" y="5248656"/>
            <a:ext cx="47548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8" name="Text 15"/>
          <p:cNvSpPr txBox="1"/>
          <p:nvPr/>
        </p:nvSpPr>
        <p:spPr>
          <a:xfrm>
            <a:off x="777240" y="5559552"/>
            <a:ext cx="5394960" cy="41148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Enter a number: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-12</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Absolute value: 12</a:t>
            </a:r>
            <a:endParaRPr lang="en-US" sz="1300" dirty="0"/>
          </a:p>
        </p:txBody>
      </p:sp>
      <p:sp>
        <p:nvSpPr>
          <p:cNvPr id="19" name="Shape 16"/>
          <p:cNvSpPr/>
          <p:nvPr/>
        </p:nvSpPr>
        <p:spPr>
          <a:xfrm>
            <a:off x="7909560" y="1618488"/>
            <a:ext cx="1371600" cy="384048"/>
          </a:xfrm>
          <a:prstGeom prst="flowChartTerminator">
            <a:avLst/>
          </a:prstGeom>
          <a:solidFill>
            <a:srgbClr val="FFF1D6"/>
          </a:solidFill>
          <a:ln w="15875">
            <a:solidFill>
              <a:srgbClr val="14213D"/>
            </a:solidFill>
            <a:prstDash val="solid"/>
          </a:ln>
        </p:spPr>
      </p:sp>
      <p:sp>
        <p:nvSpPr>
          <p:cNvPr id="20" name="Text 17"/>
          <p:cNvSpPr txBox="1"/>
          <p:nvPr/>
        </p:nvSpPr>
        <p:spPr>
          <a:xfrm>
            <a:off x="7955280" y="1618488"/>
            <a:ext cx="1280160" cy="384048"/>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Start</a:t>
            </a:r>
            <a:endParaRPr lang="en-US" sz="1200" dirty="0"/>
          </a:p>
        </p:txBody>
      </p:sp>
      <p:sp>
        <p:nvSpPr>
          <p:cNvPr id="21" name="Shape 18"/>
          <p:cNvSpPr/>
          <p:nvPr/>
        </p:nvSpPr>
        <p:spPr>
          <a:xfrm>
            <a:off x="7680960" y="2276856"/>
            <a:ext cx="1828800" cy="420624"/>
          </a:xfrm>
          <a:prstGeom prst="flowChartInputOutput">
            <a:avLst/>
          </a:prstGeom>
          <a:solidFill>
            <a:srgbClr val="FFFFFF"/>
          </a:solidFill>
          <a:ln w="15875">
            <a:solidFill>
              <a:srgbClr val="14213D"/>
            </a:solidFill>
            <a:prstDash val="solid"/>
          </a:ln>
        </p:spPr>
      </p:sp>
      <p:sp>
        <p:nvSpPr>
          <p:cNvPr id="22" name="Text 19"/>
          <p:cNvSpPr txBox="1"/>
          <p:nvPr/>
        </p:nvSpPr>
        <p:spPr>
          <a:xfrm>
            <a:off x="7726680" y="2276856"/>
            <a:ext cx="1737360" cy="420624"/>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Read x</a:t>
            </a:r>
            <a:endParaRPr lang="en-US" sz="1200" dirty="0"/>
          </a:p>
        </p:txBody>
      </p:sp>
      <p:sp>
        <p:nvSpPr>
          <p:cNvPr id="23" name="Shape 20"/>
          <p:cNvSpPr/>
          <p:nvPr/>
        </p:nvSpPr>
        <p:spPr>
          <a:xfrm>
            <a:off x="7680960" y="3008376"/>
            <a:ext cx="1828800" cy="786384"/>
          </a:xfrm>
          <a:prstGeom prst="flowChartDecision">
            <a:avLst/>
          </a:prstGeom>
          <a:solidFill>
            <a:srgbClr val="E3ECF8"/>
          </a:solidFill>
          <a:ln w="15875">
            <a:solidFill>
              <a:srgbClr val="14213D"/>
            </a:solidFill>
            <a:prstDash val="solid"/>
          </a:ln>
        </p:spPr>
      </p:sp>
      <p:sp>
        <p:nvSpPr>
          <p:cNvPr id="24" name="Text 21"/>
          <p:cNvSpPr txBox="1"/>
          <p:nvPr/>
        </p:nvSpPr>
        <p:spPr>
          <a:xfrm>
            <a:off x="7726680" y="3008376"/>
            <a:ext cx="1737360" cy="78638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x &lt; 0 ?</a:t>
            </a:r>
            <a:endParaRPr lang="en-US" sz="1300" dirty="0"/>
          </a:p>
        </p:txBody>
      </p:sp>
      <p:sp>
        <p:nvSpPr>
          <p:cNvPr id="25" name="Shape 22"/>
          <p:cNvSpPr/>
          <p:nvPr/>
        </p:nvSpPr>
        <p:spPr>
          <a:xfrm>
            <a:off x="10058400" y="3191256"/>
            <a:ext cx="1371600" cy="420624"/>
          </a:xfrm>
          <a:prstGeom prst="flowChartProcess">
            <a:avLst/>
          </a:prstGeom>
          <a:solidFill>
            <a:srgbClr val="FFFFFF"/>
          </a:solidFill>
          <a:ln w="15875">
            <a:solidFill>
              <a:srgbClr val="14213D"/>
            </a:solidFill>
            <a:prstDash val="solid"/>
          </a:ln>
        </p:spPr>
      </p:sp>
      <p:sp>
        <p:nvSpPr>
          <p:cNvPr id="26" name="Text 23"/>
          <p:cNvSpPr txBox="1"/>
          <p:nvPr/>
        </p:nvSpPr>
        <p:spPr>
          <a:xfrm>
            <a:off x="10104120" y="3191256"/>
            <a:ext cx="1280160" cy="42062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x ← −x</a:t>
            </a:r>
            <a:endParaRPr lang="en-US" sz="1300" dirty="0"/>
          </a:p>
        </p:txBody>
      </p:sp>
      <p:sp>
        <p:nvSpPr>
          <p:cNvPr id="27" name="Shape 24"/>
          <p:cNvSpPr/>
          <p:nvPr/>
        </p:nvSpPr>
        <p:spPr>
          <a:xfrm>
            <a:off x="7589520" y="4224528"/>
            <a:ext cx="2011680" cy="420624"/>
          </a:xfrm>
          <a:prstGeom prst="flowChartInputOutput">
            <a:avLst/>
          </a:prstGeom>
          <a:solidFill>
            <a:srgbClr val="FFFFFF"/>
          </a:solidFill>
          <a:ln w="15875">
            <a:solidFill>
              <a:srgbClr val="14213D"/>
            </a:solidFill>
            <a:prstDash val="solid"/>
          </a:ln>
        </p:spPr>
      </p:sp>
      <p:sp>
        <p:nvSpPr>
          <p:cNvPr id="28" name="Text 25"/>
          <p:cNvSpPr txBox="1"/>
          <p:nvPr/>
        </p:nvSpPr>
        <p:spPr>
          <a:xfrm>
            <a:off x="7635240" y="4224528"/>
            <a:ext cx="1920240" cy="420624"/>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Print x</a:t>
            </a:r>
            <a:endParaRPr lang="en-US" sz="1200" dirty="0"/>
          </a:p>
        </p:txBody>
      </p:sp>
      <p:sp>
        <p:nvSpPr>
          <p:cNvPr id="29" name="Shape 26"/>
          <p:cNvSpPr/>
          <p:nvPr/>
        </p:nvSpPr>
        <p:spPr>
          <a:xfrm>
            <a:off x="7909560" y="4946904"/>
            <a:ext cx="1371600" cy="384048"/>
          </a:xfrm>
          <a:prstGeom prst="flowChartTerminator">
            <a:avLst/>
          </a:prstGeom>
          <a:solidFill>
            <a:srgbClr val="FFF1D6"/>
          </a:solidFill>
          <a:ln w="15875">
            <a:solidFill>
              <a:srgbClr val="14213D"/>
            </a:solidFill>
            <a:prstDash val="solid"/>
          </a:ln>
        </p:spPr>
      </p:sp>
      <p:sp>
        <p:nvSpPr>
          <p:cNvPr id="30" name="Text 27"/>
          <p:cNvSpPr txBox="1"/>
          <p:nvPr/>
        </p:nvSpPr>
        <p:spPr>
          <a:xfrm>
            <a:off x="7955280" y="4946904"/>
            <a:ext cx="1280160" cy="384048"/>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End</a:t>
            </a:r>
            <a:endParaRPr lang="en-US" sz="1200" dirty="0"/>
          </a:p>
        </p:txBody>
      </p:sp>
      <p:sp>
        <p:nvSpPr>
          <p:cNvPr id="31" name="Shape 28"/>
          <p:cNvSpPr/>
          <p:nvPr/>
        </p:nvSpPr>
        <p:spPr>
          <a:xfrm>
            <a:off x="8595360" y="2002536"/>
            <a:ext cx="0" cy="274320"/>
          </a:xfrm>
          <a:prstGeom prst="line">
            <a:avLst/>
          </a:prstGeom>
          <a:noFill/>
          <a:ln w="15875">
            <a:solidFill>
              <a:srgbClr val="14213D"/>
            </a:solidFill>
            <a:prstDash val="solid"/>
            <a:tailEnd type="triangle"/>
          </a:ln>
        </p:spPr>
      </p:sp>
      <p:sp>
        <p:nvSpPr>
          <p:cNvPr id="32" name="Shape 29"/>
          <p:cNvSpPr/>
          <p:nvPr/>
        </p:nvSpPr>
        <p:spPr>
          <a:xfrm>
            <a:off x="8595360" y="2697480"/>
            <a:ext cx="0" cy="310896"/>
          </a:xfrm>
          <a:prstGeom prst="line">
            <a:avLst/>
          </a:prstGeom>
          <a:noFill/>
          <a:ln w="15875">
            <a:solidFill>
              <a:srgbClr val="14213D"/>
            </a:solidFill>
            <a:prstDash val="solid"/>
            <a:tailEnd type="triangle"/>
          </a:ln>
        </p:spPr>
      </p:sp>
      <p:sp>
        <p:nvSpPr>
          <p:cNvPr id="33" name="Shape 30"/>
          <p:cNvSpPr/>
          <p:nvPr/>
        </p:nvSpPr>
        <p:spPr>
          <a:xfrm>
            <a:off x="9509760" y="3401568"/>
            <a:ext cx="548640" cy="0"/>
          </a:xfrm>
          <a:prstGeom prst="line">
            <a:avLst/>
          </a:prstGeom>
          <a:noFill/>
          <a:ln w="15875">
            <a:solidFill>
              <a:srgbClr val="14213D"/>
            </a:solidFill>
            <a:prstDash val="solid"/>
            <a:tailEnd type="triangle"/>
          </a:ln>
        </p:spPr>
      </p:sp>
      <p:sp>
        <p:nvSpPr>
          <p:cNvPr id="34" name="Shape 31"/>
          <p:cNvSpPr/>
          <p:nvPr/>
        </p:nvSpPr>
        <p:spPr>
          <a:xfrm>
            <a:off x="8595360" y="3794760"/>
            <a:ext cx="0" cy="429768"/>
          </a:xfrm>
          <a:prstGeom prst="line">
            <a:avLst/>
          </a:prstGeom>
          <a:noFill/>
          <a:ln w="15875">
            <a:solidFill>
              <a:srgbClr val="14213D"/>
            </a:solidFill>
            <a:prstDash val="solid"/>
            <a:tailEnd type="triangle"/>
          </a:ln>
        </p:spPr>
      </p:sp>
      <p:sp>
        <p:nvSpPr>
          <p:cNvPr id="35" name="Shape 32"/>
          <p:cNvSpPr/>
          <p:nvPr/>
        </p:nvSpPr>
        <p:spPr>
          <a:xfrm>
            <a:off x="8595360" y="4645152"/>
            <a:ext cx="0" cy="301752"/>
          </a:xfrm>
          <a:prstGeom prst="line">
            <a:avLst/>
          </a:prstGeom>
          <a:noFill/>
          <a:ln w="15875">
            <a:solidFill>
              <a:srgbClr val="14213D"/>
            </a:solidFill>
            <a:prstDash val="solid"/>
            <a:tailEnd type="triangle"/>
          </a:ln>
        </p:spPr>
      </p:sp>
      <p:sp>
        <p:nvSpPr>
          <p:cNvPr id="36" name="Shape 33"/>
          <p:cNvSpPr/>
          <p:nvPr/>
        </p:nvSpPr>
        <p:spPr>
          <a:xfrm>
            <a:off x="10744200" y="3611880"/>
            <a:ext cx="0" cy="365760"/>
          </a:xfrm>
          <a:prstGeom prst="line">
            <a:avLst/>
          </a:prstGeom>
          <a:noFill/>
          <a:ln w="15875">
            <a:solidFill>
              <a:srgbClr val="14213D"/>
            </a:solidFill>
            <a:prstDash val="solid"/>
          </a:ln>
        </p:spPr>
      </p:sp>
      <p:sp>
        <p:nvSpPr>
          <p:cNvPr id="37" name="Shape 34"/>
          <p:cNvSpPr/>
          <p:nvPr/>
        </p:nvSpPr>
        <p:spPr>
          <a:xfrm flipH="1">
            <a:off x="8595360" y="3977640"/>
            <a:ext cx="2148840" cy="0"/>
          </a:xfrm>
          <a:prstGeom prst="line">
            <a:avLst/>
          </a:prstGeom>
          <a:noFill/>
          <a:ln w="15875">
            <a:solidFill>
              <a:srgbClr val="14213D"/>
            </a:solidFill>
            <a:prstDash val="solid"/>
          </a:ln>
        </p:spPr>
      </p:sp>
      <p:sp>
        <p:nvSpPr>
          <p:cNvPr id="38" name="Text 35"/>
          <p:cNvSpPr txBox="1"/>
          <p:nvPr/>
        </p:nvSpPr>
        <p:spPr>
          <a:xfrm>
            <a:off x="9555480" y="3127248"/>
            <a:ext cx="548640" cy="228600"/>
          </a:xfrm>
          <a:prstGeom prst="rect">
            <a:avLst/>
          </a:prstGeom>
          <a:noFill/>
          <a:ln/>
        </p:spPr>
        <p:txBody>
          <a:bodyPr wrap="square" lIns="0" tIns="0" rIns="0" bIns="0" rtlCol="0" anchor="ctr"/>
          <a:lstStyle/>
          <a:p>
            <a:pPr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39" name="Text 36"/>
          <p:cNvSpPr txBox="1"/>
          <p:nvPr/>
        </p:nvSpPr>
        <p:spPr>
          <a:xfrm>
            <a:off x="8668512" y="3785616"/>
            <a:ext cx="548640" cy="228600"/>
          </a:xfrm>
          <a:prstGeom prst="rect">
            <a:avLst/>
          </a:prstGeom>
          <a:noFill/>
          <a:ln/>
        </p:spPr>
        <p:txBody>
          <a:bodyPr wrap="square" lIns="0" tIns="0" rIns="0" bIns="0" rtlCol="0" anchor="ctr"/>
          <a:lstStyle/>
          <a:p>
            <a:pPr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40" name="Text 37"/>
          <p:cNvSpPr txBox="1"/>
          <p:nvPr/>
        </p:nvSpPr>
        <p:spPr>
          <a:xfrm>
            <a:off x="6766560" y="5577840"/>
            <a:ext cx="4892040" cy="502920"/>
          </a:xfrm>
          <a:prstGeom prst="rect">
            <a:avLst/>
          </a:prstGeom>
          <a:noFill/>
          <a:ln/>
        </p:spPr>
        <p:txBody>
          <a:bodyPr wrap="square" lIns="0" tIns="0" rIns="0" bIns="0" rtlCol="0" anchor="t"/>
          <a:lstStyle/>
          <a:p>
            <a:pPr indent="0" marL="0">
              <a:buNone/>
            </a:pPr>
            <a:r>
              <a:rPr lang="en-US" sz="1400" i="1" dirty="0">
                <a:solidFill>
                  <a:srgbClr val="5B6478"/>
                </a:solidFill>
                <a:latin typeface="Calibri" pitchFamily="34" charset="0"/>
                <a:ea typeface="Calibri" pitchFamily="34" charset="-122"/>
                <a:cs typeface="Calibri" pitchFamily="34" charset="-120"/>
              </a:rPr>
              <a:t>No else: when the condition is false, the block is simply skipped.</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PART 1 · IF-ELSE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if-else: Exactly One of Two Blocks Runs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6</a:t>
            </a:r>
            <a:endParaRPr lang="en-US" sz="1000" dirty="0"/>
          </a:p>
        </p:txBody>
      </p:sp>
      <p:sp>
        <p:nvSpPr>
          <p:cNvPr id="7" name="Shape 4"/>
          <p:cNvSpPr/>
          <p:nvPr/>
        </p:nvSpPr>
        <p:spPr>
          <a:xfrm>
            <a:off x="548640" y="1600200"/>
            <a:ext cx="5394960" cy="2240280"/>
          </a:xfrm>
          <a:prstGeom prst="roundRect">
            <a:avLst>
              <a:gd name="adj" fmla="val 3265"/>
            </a:avLst>
          </a:prstGeom>
          <a:solidFill>
            <a:srgbClr val="F4F6FA"/>
          </a:solidFill>
          <a:ln w="9525">
            <a:solidFill>
              <a:srgbClr val="C9D0DD"/>
            </a:solidFill>
            <a:prstDash val="solid"/>
          </a:ln>
        </p:spPr>
      </p:sp>
      <p:sp>
        <p:nvSpPr>
          <p:cNvPr id="8" name="Text 5"/>
          <p:cNvSpPr txBox="1"/>
          <p:nvPr/>
        </p:nvSpPr>
        <p:spPr>
          <a:xfrm>
            <a:off x="731520" y="1691640"/>
            <a:ext cx="5029200" cy="274320"/>
          </a:xfrm>
          <a:prstGeom prst="rect">
            <a:avLst/>
          </a:prstGeom>
          <a:noFill/>
          <a:ln/>
        </p:spPr>
        <p:txBody>
          <a:bodyPr wrap="square" lIns="0" tIns="0" rIns="0" bIns="0" rtlCol="0" anchor="ctr"/>
          <a:lstStyle/>
          <a:p>
            <a:pPr indent="0" marL="0">
              <a:buNone/>
            </a:pPr>
            <a:r>
              <a:rPr lang="en-US" sz="1200" b="1" dirty="0">
                <a:solidFill>
                  <a:srgbClr val="5B6478"/>
                </a:solidFill>
                <a:latin typeface="Calibri" pitchFamily="34" charset="0"/>
                <a:ea typeface="Calibri" pitchFamily="34" charset="-122"/>
                <a:cs typeface="Calibri" pitchFamily="34" charset="-120"/>
              </a:rPr>
              <a:t>Pseudocode</a:t>
            </a:r>
            <a:endParaRPr lang="en-US" sz="1200" dirty="0"/>
          </a:p>
        </p:txBody>
      </p:sp>
      <p:sp>
        <p:nvSpPr>
          <p:cNvPr id="9" name="Text 6"/>
          <p:cNvSpPr txBox="1"/>
          <p:nvPr/>
        </p:nvSpPr>
        <p:spPr>
          <a:xfrm>
            <a:off x="731520" y="2011680"/>
            <a:ext cx="5029200" cy="1737360"/>
          </a:xfrm>
          <a:prstGeom prst="rect">
            <a:avLst/>
          </a:prstGeom>
          <a:noFill/>
          <a:ln/>
        </p:spPr>
        <p:txBody>
          <a:bodyPr wrap="square" lIns="0" tIns="0" rIns="0" bIns="0" rtlCol="0" anchor="t"/>
          <a:lstStyle/>
          <a:p>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START</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READ</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score</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score ≥ 60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THEN</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PRINT</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"PASS"</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ELSE</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PRINT</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"FAIL"</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END IF</a:t>
            </a:r>
            <a:endParaRPr lang="en-US" sz="1300" dirty="0"/>
          </a:p>
          <a:p>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END</a:t>
            </a:r>
            <a:endParaRPr lang="en-US" sz="1300" dirty="0"/>
          </a:p>
        </p:txBody>
      </p:sp>
      <p:sp>
        <p:nvSpPr>
          <p:cNvPr id="10" name="Shape 7"/>
          <p:cNvSpPr/>
          <p:nvPr/>
        </p:nvSpPr>
        <p:spPr>
          <a:xfrm>
            <a:off x="548640" y="3977640"/>
            <a:ext cx="5394960" cy="2148840"/>
          </a:xfrm>
          <a:prstGeom prst="roundRect">
            <a:avLst>
              <a:gd name="adj" fmla="val 4255"/>
            </a:avLst>
          </a:prstGeom>
          <a:solidFill>
            <a:srgbClr val="0F1729"/>
          </a:solidFill>
          <a:ln w="12700">
            <a:solidFill>
              <a:srgbClr val="0F1729"/>
            </a:solidFill>
            <a:prstDash val="solid"/>
          </a:ln>
        </p:spPr>
      </p:sp>
      <p:sp>
        <p:nvSpPr>
          <p:cNvPr id="11" name="Text 8"/>
          <p:cNvSpPr txBox="1"/>
          <p:nvPr/>
        </p:nvSpPr>
        <p:spPr>
          <a:xfrm>
            <a:off x="777240" y="4087368"/>
            <a:ext cx="49377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 (core of 05_01_PassFail)</a:t>
            </a:r>
            <a:endParaRPr lang="en-US" sz="1100" dirty="0"/>
          </a:p>
        </p:txBody>
      </p:sp>
      <p:sp>
        <p:nvSpPr>
          <p:cNvPr id="12" name="Text 9"/>
          <p:cNvSpPr txBox="1"/>
          <p:nvPr/>
        </p:nvSpPr>
        <p:spPr>
          <a:xfrm>
            <a:off x="777240" y="4389120"/>
            <a:ext cx="4937760" cy="1645920"/>
          </a:xfrm>
          <a:prstGeom prst="rect">
            <a:avLst/>
          </a:prstGeom>
          <a:noFill/>
          <a:ln/>
        </p:spPr>
        <p:txBody>
          <a:bodyPr wrap="square" lIns="0" tIns="0" rIns="0" bIns="0" rtlCol="0" anchor="t"/>
          <a:lstStyle/>
          <a:p>
            <a:pPr indent="0" marL="0">
              <a:lnSpc>
                <a:spcPts val="1400"/>
              </a:lnSpc>
              <a:buNone/>
            </a:pPr>
            <a:r>
              <a:rPr lang="en-US" sz="1300" dirty="0">
                <a:solidFill>
                  <a:srgbClr val="7AB8FF"/>
                </a:solidFill>
                <a:latin typeface="Courier New" pitchFamily="34" charset="0"/>
                <a:ea typeface="Courier New" pitchFamily="34" charset="-122"/>
                <a:cs typeface="Courier New" pitchFamily="34" charset="-120"/>
              </a:rPr>
              <a:t>if</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(score &gt;= PassMark)</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300" dirty="0">
                <a:solidFill>
                  <a:srgbClr val="4EC9B0"/>
                </a:solidFill>
                <a:latin typeface="Courier New" pitchFamily="34" charset="0"/>
                <a:ea typeface="Courier New" pitchFamily="34" charset="-122"/>
                <a:cs typeface="Courier New" pitchFamily="34" charset="-120"/>
              </a:rPr>
              <a:t>Console</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.WriteLine(</a:t>
            </a:r>
            <a:pPr indent="0" marL="0">
              <a:lnSpc>
                <a:spcPts val="1400"/>
              </a:lnSpc>
              <a:buNone/>
            </a:pPr>
            <a:r>
              <a:rPr lang="en-US" sz="1300" dirty="0">
                <a:solidFill>
                  <a:srgbClr val="CE9178"/>
                </a:solidFill>
                <a:latin typeface="Courier New" pitchFamily="34" charset="0"/>
                <a:ea typeface="Courier New" pitchFamily="34" charset="-122"/>
                <a:cs typeface="Courier New" pitchFamily="34" charset="-120"/>
              </a:rPr>
              <a:t>$"Score {score}: PASS"</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7AB8FF"/>
                </a:solidFill>
                <a:latin typeface="Courier New" pitchFamily="34" charset="0"/>
                <a:ea typeface="Courier New" pitchFamily="34" charset="-122"/>
                <a:cs typeface="Courier New" pitchFamily="34" charset="-120"/>
              </a:rPr>
              <a:t>else</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300" dirty="0">
                <a:solidFill>
                  <a:srgbClr val="4EC9B0"/>
                </a:solidFill>
                <a:latin typeface="Courier New" pitchFamily="34" charset="0"/>
                <a:ea typeface="Courier New" pitchFamily="34" charset="-122"/>
                <a:cs typeface="Courier New" pitchFamily="34" charset="-120"/>
              </a:rPr>
              <a:t>Console</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.WriteLine(</a:t>
            </a:r>
            <a:pPr indent="0" marL="0">
              <a:lnSpc>
                <a:spcPts val="1400"/>
              </a:lnSpc>
              <a:buNone/>
            </a:pPr>
            <a:r>
              <a:rPr lang="en-US" sz="1300" dirty="0">
                <a:solidFill>
                  <a:srgbClr val="CE9178"/>
                </a:solidFill>
                <a:latin typeface="Courier New" pitchFamily="34" charset="0"/>
                <a:ea typeface="Courier New" pitchFamily="34" charset="-122"/>
                <a:cs typeface="Courier New" pitchFamily="34" charset="-120"/>
              </a:rPr>
              <a:t>$"Score {score}: FAIL"</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3" name="Shape 10"/>
          <p:cNvSpPr/>
          <p:nvPr/>
        </p:nvSpPr>
        <p:spPr>
          <a:xfrm>
            <a:off x="8229600" y="1618488"/>
            <a:ext cx="1371600" cy="384048"/>
          </a:xfrm>
          <a:prstGeom prst="flowChartTerminator">
            <a:avLst/>
          </a:prstGeom>
          <a:solidFill>
            <a:srgbClr val="FFF1D6"/>
          </a:solidFill>
          <a:ln w="15875">
            <a:solidFill>
              <a:srgbClr val="14213D"/>
            </a:solidFill>
            <a:prstDash val="solid"/>
          </a:ln>
        </p:spPr>
      </p:sp>
      <p:sp>
        <p:nvSpPr>
          <p:cNvPr id="14" name="Text 11"/>
          <p:cNvSpPr txBox="1"/>
          <p:nvPr/>
        </p:nvSpPr>
        <p:spPr>
          <a:xfrm>
            <a:off x="8275320" y="1618488"/>
            <a:ext cx="1280160" cy="384048"/>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Start</a:t>
            </a:r>
            <a:endParaRPr lang="en-US" sz="1200" dirty="0"/>
          </a:p>
        </p:txBody>
      </p:sp>
      <p:sp>
        <p:nvSpPr>
          <p:cNvPr id="15" name="Shape 12"/>
          <p:cNvSpPr/>
          <p:nvPr/>
        </p:nvSpPr>
        <p:spPr>
          <a:xfrm>
            <a:off x="7909560" y="2276856"/>
            <a:ext cx="2011680" cy="420624"/>
          </a:xfrm>
          <a:prstGeom prst="flowChartInputOutput">
            <a:avLst/>
          </a:prstGeom>
          <a:solidFill>
            <a:srgbClr val="FFFFFF"/>
          </a:solidFill>
          <a:ln w="15875">
            <a:solidFill>
              <a:srgbClr val="14213D"/>
            </a:solidFill>
            <a:prstDash val="solid"/>
          </a:ln>
        </p:spPr>
      </p:sp>
      <p:sp>
        <p:nvSpPr>
          <p:cNvPr id="16" name="Text 13"/>
          <p:cNvSpPr txBox="1"/>
          <p:nvPr/>
        </p:nvSpPr>
        <p:spPr>
          <a:xfrm>
            <a:off x="7955280" y="2276856"/>
            <a:ext cx="1920240" cy="420624"/>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Read score</a:t>
            </a:r>
            <a:endParaRPr lang="en-US" sz="1200" dirty="0"/>
          </a:p>
        </p:txBody>
      </p:sp>
      <p:sp>
        <p:nvSpPr>
          <p:cNvPr id="17" name="Shape 14"/>
          <p:cNvSpPr/>
          <p:nvPr/>
        </p:nvSpPr>
        <p:spPr>
          <a:xfrm>
            <a:off x="7863840" y="3054096"/>
            <a:ext cx="2103120" cy="841248"/>
          </a:xfrm>
          <a:prstGeom prst="flowChartDecision">
            <a:avLst/>
          </a:prstGeom>
          <a:solidFill>
            <a:srgbClr val="E3ECF8"/>
          </a:solidFill>
          <a:ln w="15875">
            <a:solidFill>
              <a:srgbClr val="14213D"/>
            </a:solidFill>
            <a:prstDash val="solid"/>
          </a:ln>
        </p:spPr>
      </p:sp>
      <p:sp>
        <p:nvSpPr>
          <p:cNvPr id="18" name="Text 15"/>
          <p:cNvSpPr txBox="1"/>
          <p:nvPr/>
        </p:nvSpPr>
        <p:spPr>
          <a:xfrm>
            <a:off x="7909560" y="3054096"/>
            <a:ext cx="2011680" cy="8412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score ≥ 60 ?</a:t>
            </a:r>
            <a:endParaRPr lang="en-US" sz="1300" dirty="0"/>
          </a:p>
        </p:txBody>
      </p:sp>
      <p:sp>
        <p:nvSpPr>
          <p:cNvPr id="19" name="Shape 16"/>
          <p:cNvSpPr/>
          <p:nvPr/>
        </p:nvSpPr>
        <p:spPr>
          <a:xfrm>
            <a:off x="9829800" y="4315968"/>
            <a:ext cx="1737360" cy="420624"/>
          </a:xfrm>
          <a:prstGeom prst="flowChartInputOutput">
            <a:avLst/>
          </a:prstGeom>
          <a:solidFill>
            <a:srgbClr val="FFFFFF"/>
          </a:solidFill>
          <a:ln w="15875">
            <a:solidFill>
              <a:srgbClr val="14213D"/>
            </a:solidFill>
            <a:prstDash val="solid"/>
          </a:ln>
        </p:spPr>
      </p:sp>
      <p:sp>
        <p:nvSpPr>
          <p:cNvPr id="20" name="Text 17"/>
          <p:cNvSpPr txBox="1"/>
          <p:nvPr/>
        </p:nvSpPr>
        <p:spPr>
          <a:xfrm>
            <a:off x="9875520" y="4315968"/>
            <a:ext cx="1645920" cy="420624"/>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Print "PASS"</a:t>
            </a:r>
            <a:endParaRPr lang="en-US" sz="1200" dirty="0"/>
          </a:p>
        </p:txBody>
      </p:sp>
      <p:sp>
        <p:nvSpPr>
          <p:cNvPr id="21" name="Shape 18"/>
          <p:cNvSpPr/>
          <p:nvPr/>
        </p:nvSpPr>
        <p:spPr>
          <a:xfrm>
            <a:off x="6263640" y="4315968"/>
            <a:ext cx="1737360" cy="420624"/>
          </a:xfrm>
          <a:prstGeom prst="flowChartInputOutput">
            <a:avLst/>
          </a:prstGeom>
          <a:solidFill>
            <a:srgbClr val="FFFFFF"/>
          </a:solidFill>
          <a:ln w="15875">
            <a:solidFill>
              <a:srgbClr val="14213D"/>
            </a:solidFill>
            <a:prstDash val="solid"/>
          </a:ln>
        </p:spPr>
      </p:sp>
      <p:sp>
        <p:nvSpPr>
          <p:cNvPr id="22" name="Text 19"/>
          <p:cNvSpPr txBox="1"/>
          <p:nvPr/>
        </p:nvSpPr>
        <p:spPr>
          <a:xfrm>
            <a:off x="6309360" y="4315968"/>
            <a:ext cx="1645920" cy="420624"/>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Print "FAIL"</a:t>
            </a:r>
            <a:endParaRPr lang="en-US" sz="1200" dirty="0"/>
          </a:p>
        </p:txBody>
      </p:sp>
      <p:sp>
        <p:nvSpPr>
          <p:cNvPr id="23" name="Shape 20"/>
          <p:cNvSpPr/>
          <p:nvPr/>
        </p:nvSpPr>
        <p:spPr>
          <a:xfrm>
            <a:off x="8229600" y="5522976"/>
            <a:ext cx="1371600" cy="384048"/>
          </a:xfrm>
          <a:prstGeom prst="flowChartTerminator">
            <a:avLst/>
          </a:prstGeom>
          <a:solidFill>
            <a:srgbClr val="FFF1D6"/>
          </a:solidFill>
          <a:ln w="15875">
            <a:solidFill>
              <a:srgbClr val="14213D"/>
            </a:solidFill>
            <a:prstDash val="solid"/>
          </a:ln>
        </p:spPr>
      </p:sp>
      <p:sp>
        <p:nvSpPr>
          <p:cNvPr id="24" name="Text 21"/>
          <p:cNvSpPr txBox="1"/>
          <p:nvPr/>
        </p:nvSpPr>
        <p:spPr>
          <a:xfrm>
            <a:off x="8275320" y="5522976"/>
            <a:ext cx="1280160" cy="384048"/>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End</a:t>
            </a:r>
            <a:endParaRPr lang="en-US" sz="1200" dirty="0"/>
          </a:p>
        </p:txBody>
      </p:sp>
      <p:sp>
        <p:nvSpPr>
          <p:cNvPr id="25" name="Shape 22"/>
          <p:cNvSpPr/>
          <p:nvPr/>
        </p:nvSpPr>
        <p:spPr>
          <a:xfrm>
            <a:off x="8915400" y="2002536"/>
            <a:ext cx="0" cy="274320"/>
          </a:xfrm>
          <a:prstGeom prst="line">
            <a:avLst/>
          </a:prstGeom>
          <a:noFill/>
          <a:ln w="15875">
            <a:solidFill>
              <a:srgbClr val="14213D"/>
            </a:solidFill>
            <a:prstDash val="solid"/>
            <a:tailEnd type="triangle"/>
          </a:ln>
        </p:spPr>
      </p:sp>
      <p:sp>
        <p:nvSpPr>
          <p:cNvPr id="26" name="Shape 23"/>
          <p:cNvSpPr/>
          <p:nvPr/>
        </p:nvSpPr>
        <p:spPr>
          <a:xfrm>
            <a:off x="8915400" y="2697480"/>
            <a:ext cx="0" cy="356616"/>
          </a:xfrm>
          <a:prstGeom prst="line">
            <a:avLst/>
          </a:prstGeom>
          <a:noFill/>
          <a:ln w="15875">
            <a:solidFill>
              <a:srgbClr val="14213D"/>
            </a:solidFill>
            <a:prstDash val="solid"/>
            <a:tailEnd type="triangle"/>
          </a:ln>
        </p:spPr>
      </p:sp>
      <p:sp>
        <p:nvSpPr>
          <p:cNvPr id="27" name="Shape 24"/>
          <p:cNvSpPr/>
          <p:nvPr/>
        </p:nvSpPr>
        <p:spPr>
          <a:xfrm>
            <a:off x="9966960" y="3474720"/>
            <a:ext cx="731520" cy="0"/>
          </a:xfrm>
          <a:prstGeom prst="line">
            <a:avLst/>
          </a:prstGeom>
          <a:noFill/>
          <a:ln w="15875">
            <a:solidFill>
              <a:srgbClr val="14213D"/>
            </a:solidFill>
            <a:prstDash val="solid"/>
          </a:ln>
        </p:spPr>
      </p:sp>
      <p:sp>
        <p:nvSpPr>
          <p:cNvPr id="28" name="Shape 25"/>
          <p:cNvSpPr/>
          <p:nvPr/>
        </p:nvSpPr>
        <p:spPr>
          <a:xfrm>
            <a:off x="10698480" y="3474720"/>
            <a:ext cx="0" cy="841248"/>
          </a:xfrm>
          <a:prstGeom prst="line">
            <a:avLst/>
          </a:prstGeom>
          <a:noFill/>
          <a:ln w="15875">
            <a:solidFill>
              <a:srgbClr val="14213D"/>
            </a:solidFill>
            <a:prstDash val="solid"/>
            <a:tailEnd type="triangle"/>
          </a:ln>
        </p:spPr>
      </p:sp>
      <p:sp>
        <p:nvSpPr>
          <p:cNvPr id="29" name="Shape 26"/>
          <p:cNvSpPr/>
          <p:nvPr/>
        </p:nvSpPr>
        <p:spPr>
          <a:xfrm flipH="1">
            <a:off x="7132320" y="3474720"/>
            <a:ext cx="731520" cy="0"/>
          </a:xfrm>
          <a:prstGeom prst="line">
            <a:avLst/>
          </a:prstGeom>
          <a:noFill/>
          <a:ln w="15875">
            <a:solidFill>
              <a:srgbClr val="14213D"/>
            </a:solidFill>
            <a:prstDash val="solid"/>
          </a:ln>
        </p:spPr>
      </p:sp>
      <p:sp>
        <p:nvSpPr>
          <p:cNvPr id="30" name="Shape 27"/>
          <p:cNvSpPr/>
          <p:nvPr/>
        </p:nvSpPr>
        <p:spPr>
          <a:xfrm>
            <a:off x="7132320" y="3474720"/>
            <a:ext cx="0" cy="841248"/>
          </a:xfrm>
          <a:prstGeom prst="line">
            <a:avLst/>
          </a:prstGeom>
          <a:noFill/>
          <a:ln w="15875">
            <a:solidFill>
              <a:srgbClr val="14213D"/>
            </a:solidFill>
            <a:prstDash val="solid"/>
            <a:tailEnd type="triangle"/>
          </a:ln>
        </p:spPr>
      </p:sp>
      <p:sp>
        <p:nvSpPr>
          <p:cNvPr id="31" name="Shape 28"/>
          <p:cNvSpPr/>
          <p:nvPr/>
        </p:nvSpPr>
        <p:spPr>
          <a:xfrm>
            <a:off x="10698480" y="4736592"/>
            <a:ext cx="0" cy="402336"/>
          </a:xfrm>
          <a:prstGeom prst="line">
            <a:avLst/>
          </a:prstGeom>
          <a:noFill/>
          <a:ln w="15875">
            <a:solidFill>
              <a:srgbClr val="14213D"/>
            </a:solidFill>
            <a:prstDash val="solid"/>
          </a:ln>
        </p:spPr>
      </p:sp>
      <p:sp>
        <p:nvSpPr>
          <p:cNvPr id="32" name="Shape 29"/>
          <p:cNvSpPr/>
          <p:nvPr/>
        </p:nvSpPr>
        <p:spPr>
          <a:xfrm flipH="1">
            <a:off x="8915400" y="5138928"/>
            <a:ext cx="1783080" cy="0"/>
          </a:xfrm>
          <a:prstGeom prst="line">
            <a:avLst/>
          </a:prstGeom>
          <a:noFill/>
          <a:ln w="15875">
            <a:solidFill>
              <a:srgbClr val="14213D"/>
            </a:solidFill>
            <a:prstDash val="solid"/>
          </a:ln>
        </p:spPr>
      </p:sp>
      <p:sp>
        <p:nvSpPr>
          <p:cNvPr id="33" name="Shape 30"/>
          <p:cNvSpPr/>
          <p:nvPr/>
        </p:nvSpPr>
        <p:spPr>
          <a:xfrm>
            <a:off x="7132320" y="4736592"/>
            <a:ext cx="0" cy="402336"/>
          </a:xfrm>
          <a:prstGeom prst="line">
            <a:avLst/>
          </a:prstGeom>
          <a:noFill/>
          <a:ln w="15875">
            <a:solidFill>
              <a:srgbClr val="14213D"/>
            </a:solidFill>
            <a:prstDash val="solid"/>
          </a:ln>
        </p:spPr>
      </p:sp>
      <p:sp>
        <p:nvSpPr>
          <p:cNvPr id="34" name="Shape 31"/>
          <p:cNvSpPr/>
          <p:nvPr/>
        </p:nvSpPr>
        <p:spPr>
          <a:xfrm>
            <a:off x="7132320" y="5138928"/>
            <a:ext cx="1783080" cy="0"/>
          </a:xfrm>
          <a:prstGeom prst="line">
            <a:avLst/>
          </a:prstGeom>
          <a:noFill/>
          <a:ln w="15875">
            <a:solidFill>
              <a:srgbClr val="14213D"/>
            </a:solidFill>
            <a:prstDash val="solid"/>
          </a:ln>
        </p:spPr>
      </p:sp>
      <p:sp>
        <p:nvSpPr>
          <p:cNvPr id="35" name="Shape 32"/>
          <p:cNvSpPr/>
          <p:nvPr/>
        </p:nvSpPr>
        <p:spPr>
          <a:xfrm>
            <a:off x="8915400" y="5138928"/>
            <a:ext cx="0" cy="384048"/>
          </a:xfrm>
          <a:prstGeom prst="line">
            <a:avLst/>
          </a:prstGeom>
          <a:noFill/>
          <a:ln w="15875">
            <a:solidFill>
              <a:srgbClr val="14213D"/>
            </a:solidFill>
            <a:prstDash val="solid"/>
            <a:tailEnd type="triangle"/>
          </a:ln>
        </p:spPr>
      </p:sp>
      <p:sp>
        <p:nvSpPr>
          <p:cNvPr id="36" name="Text 33"/>
          <p:cNvSpPr txBox="1"/>
          <p:nvPr/>
        </p:nvSpPr>
        <p:spPr>
          <a:xfrm>
            <a:off x="10058400" y="3200400"/>
            <a:ext cx="548640" cy="228600"/>
          </a:xfrm>
          <a:prstGeom prst="rect">
            <a:avLst/>
          </a:prstGeom>
          <a:noFill/>
          <a:ln/>
        </p:spPr>
        <p:txBody>
          <a:bodyPr wrap="square" lIns="0" tIns="0" rIns="0" bIns="0" rtlCol="0" anchor="ctr"/>
          <a:lstStyle/>
          <a:p>
            <a:pPr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37" name="Text 34"/>
          <p:cNvSpPr txBox="1"/>
          <p:nvPr/>
        </p:nvSpPr>
        <p:spPr>
          <a:xfrm>
            <a:off x="7406640" y="3200400"/>
            <a:ext cx="548640" cy="228600"/>
          </a:xfrm>
          <a:prstGeom prst="rect">
            <a:avLst/>
          </a:prstGeom>
          <a:noFill/>
          <a:ln/>
        </p:spPr>
        <p:txBody>
          <a:bodyPr wrap="square" lIns="0" tIns="0" rIns="0" bIns="0" rtlCol="0" anchor="ctr"/>
          <a:lstStyle/>
          <a:p>
            <a:pPr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2 · 05_02_EVENODD</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Even or Odd, and the Conditional Operator ?:</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7</a:t>
            </a:r>
            <a:endParaRPr lang="en-US" sz="1000" dirty="0"/>
          </a:p>
        </p:txBody>
      </p:sp>
      <p:sp>
        <p:nvSpPr>
          <p:cNvPr id="7" name="Shape 4"/>
          <p:cNvSpPr/>
          <p:nvPr/>
        </p:nvSpPr>
        <p:spPr>
          <a:xfrm>
            <a:off x="548640" y="1600200"/>
            <a:ext cx="6766560" cy="3749040"/>
          </a:xfrm>
          <a:prstGeom prst="roundRect">
            <a:avLst>
              <a:gd name="adj" fmla="val 2439"/>
            </a:avLst>
          </a:prstGeom>
          <a:solidFill>
            <a:srgbClr val="0F1729"/>
          </a:solidFill>
          <a:ln w="12700">
            <a:solidFill>
              <a:srgbClr val="0F1729"/>
            </a:solidFill>
            <a:prstDash val="solid"/>
          </a:ln>
        </p:spPr>
      </p:sp>
      <p:sp>
        <p:nvSpPr>
          <p:cNvPr id="8" name="Text 5"/>
          <p:cNvSpPr txBox="1"/>
          <p:nvPr/>
        </p:nvSpPr>
        <p:spPr>
          <a:xfrm>
            <a:off x="777240" y="1709928"/>
            <a:ext cx="63093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(excerpt)</a:t>
            </a:r>
            <a:endParaRPr lang="en-US" sz="1100" dirty="0"/>
          </a:p>
        </p:txBody>
      </p:sp>
      <p:sp>
        <p:nvSpPr>
          <p:cNvPr id="9" name="Text 6"/>
          <p:cNvSpPr txBox="1"/>
          <p:nvPr/>
        </p:nvSpPr>
        <p:spPr>
          <a:xfrm>
            <a:off x="777240" y="2011680"/>
            <a:ext cx="6309360" cy="3246120"/>
          </a:xfrm>
          <a:prstGeom prst="rect">
            <a:avLst/>
          </a:prstGeom>
          <a:noFill/>
          <a:ln/>
        </p:spPr>
        <p:txBody>
          <a:bodyPr wrap="square" lIns="0" tIns="0" rIns="0" bIns="0" rtlCol="0" anchor="t"/>
          <a:lstStyle/>
          <a:p>
            <a:pPr indent="0" marL="0">
              <a:lnSpc>
                <a:spcPts val="1500"/>
              </a:lnSpc>
              <a:buNone/>
            </a:pPr>
            <a:r>
              <a:rPr lang="en-US" sz="1200" dirty="0">
                <a:solidFill>
                  <a:srgbClr val="7F8BA3"/>
                </a:solidFill>
                <a:latin typeface="Courier New" pitchFamily="34" charset="0"/>
                <a:ea typeface="Courier New" pitchFamily="34" charset="-122"/>
                <a:cs typeface="Courier New" pitchFamily="34" charset="-120"/>
              </a:rPr>
              <a:t>// Version 1: if-else chooses between two ACTIONS.</a:t>
            </a:r>
            <a:endParaRPr lang="en-US" sz="1200" dirty="0"/>
          </a:p>
          <a:p>
            <a:pPr indent="0" marL="0">
              <a:lnSpc>
                <a:spcPts val="1500"/>
              </a:lnSpc>
              <a:buNone/>
            </a:pPr>
            <a:r>
              <a:rPr lang="en-US" sz="1200" dirty="0">
                <a:solidFill>
                  <a:srgbClr val="7F8BA3"/>
                </a:solidFill>
                <a:latin typeface="Courier New" pitchFamily="34" charset="0"/>
                <a:ea typeface="Courier New" pitchFamily="34" charset="-122"/>
                <a:cs typeface="Courier New" pitchFamily="34" charset="-120"/>
              </a:rPr>
              <a:t>// Test "== 0", not "== 1": in C#, -7 % 2 is -1.</a:t>
            </a:r>
            <a:endParaRPr lang="en-US" sz="1200" dirty="0"/>
          </a:p>
          <a:p>
            <a:pPr indent="0" marL="0">
              <a:lnSpc>
                <a:spcPts val="1500"/>
              </a:lnSpc>
              <a:buNone/>
            </a:pPr>
            <a:r>
              <a:rPr lang="en-US" sz="1200" dirty="0">
                <a:solidFill>
                  <a:srgbClr val="7AB8FF"/>
                </a:solidFill>
                <a:latin typeface="Courier New" pitchFamily="34" charset="0"/>
                <a:ea typeface="Courier New" pitchFamily="34" charset="-122"/>
                <a:cs typeface="Courier New" pitchFamily="34" charset="-120"/>
              </a:rPr>
              <a:t>if</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 (n % </a:t>
            </a:r>
            <a:pPr indent="0" marL="0">
              <a:lnSpc>
                <a:spcPts val="1500"/>
              </a:lnSpc>
              <a:buNone/>
            </a:pPr>
            <a:r>
              <a:rPr lang="en-US" sz="1200" dirty="0">
                <a:solidFill>
                  <a:srgbClr val="B5CEA8"/>
                </a:solidFill>
                <a:latin typeface="Courier New" pitchFamily="34" charset="0"/>
                <a:ea typeface="Courier New" pitchFamily="34" charset="-122"/>
                <a:cs typeface="Courier New" pitchFamily="34" charset="-120"/>
              </a:rPr>
              <a:t>2</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 == </a:t>
            </a:r>
            <a:pPr indent="0" marL="0">
              <a:lnSpc>
                <a:spcPts val="1500"/>
              </a:lnSpc>
              <a:buNone/>
            </a:pPr>
            <a:r>
              <a:rPr lang="en-US" sz="1200" dirty="0">
                <a:solidFill>
                  <a:srgbClr val="B5CEA8"/>
                </a:solidFill>
                <a:latin typeface="Courier New" pitchFamily="34" charset="0"/>
                <a:ea typeface="Courier New" pitchFamily="34" charset="-122"/>
                <a:cs typeface="Courier New" pitchFamily="34" charset="-120"/>
              </a:rPr>
              <a:t>0</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500"/>
              </a:lnSpc>
              <a:buNone/>
            </a:pPr>
            <a:r>
              <a:rPr lang="en-US" sz="1200" dirty="0">
                <a:solidFill>
                  <a:srgbClr val="CE9178"/>
                </a:solidFill>
                <a:latin typeface="Courier New" pitchFamily="34" charset="0"/>
                <a:ea typeface="Courier New" pitchFamily="34" charset="-122"/>
                <a:cs typeface="Courier New" pitchFamily="34" charset="-120"/>
              </a:rPr>
              <a:t>$"{n} is even."</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rgbClr val="7AB8FF"/>
                </a:solidFill>
                <a:latin typeface="Courier New" pitchFamily="34" charset="0"/>
                <a:ea typeface="Courier New" pitchFamily="34" charset="-122"/>
                <a:cs typeface="Courier New" pitchFamily="34" charset="-120"/>
              </a:rPr>
              <a:t>else</a:t>
            </a:r>
            <a:endParaRPr lang="en-US" sz="1200" dirty="0"/>
          </a:p>
          <a:p>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500"/>
              </a:lnSpc>
              <a:buNone/>
            </a:pPr>
            <a:r>
              <a:rPr lang="en-US" sz="1200" dirty="0">
                <a:solidFill>
                  <a:srgbClr val="CE9178"/>
                </a:solidFill>
                <a:latin typeface="Courier New" pitchFamily="34" charset="0"/>
                <a:ea typeface="Courier New" pitchFamily="34" charset="-122"/>
                <a:cs typeface="Courier New" pitchFamily="34" charset="-120"/>
              </a:rPr>
              <a:t>$"{n} is odd."</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lnSpc>
                <a:spcPts val="1500"/>
              </a:lnSpc>
              <a:buNone/>
            </a:pPr>
            <a:r>
              <a:rPr lang="en-US" sz="1200" dirty="0">
                <a:solidFill>
                  <a:srgbClr val="7F8BA3"/>
                </a:solidFill>
                <a:latin typeface="Courier New" pitchFamily="34" charset="0"/>
                <a:ea typeface="Courier New" pitchFamily="34" charset="-122"/>
                <a:cs typeface="Courier New" pitchFamily="34" charset="-120"/>
              </a:rPr>
              <a:t>// Version 2: the conditional operator ?: chooses between two VALUES.</a:t>
            </a:r>
            <a:endParaRPr lang="en-US" sz="1200" dirty="0"/>
          </a:p>
          <a:p>
            <a:pPr indent="0" marL="0">
              <a:lnSpc>
                <a:spcPts val="1500"/>
              </a:lnSpc>
              <a:buNone/>
            </a:pPr>
            <a:r>
              <a:rPr lang="en-US" sz="1200" dirty="0">
                <a:solidFill>
                  <a:srgbClr val="4EC9B0"/>
                </a:solidFill>
                <a:latin typeface="Courier New" pitchFamily="34" charset="0"/>
                <a:ea typeface="Courier New" pitchFamily="34" charset="-122"/>
                <a:cs typeface="Courier New" pitchFamily="34" charset="-120"/>
              </a:rPr>
              <a:t>string</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 kind = (n % </a:t>
            </a:r>
            <a:pPr indent="0" marL="0">
              <a:lnSpc>
                <a:spcPts val="1500"/>
              </a:lnSpc>
              <a:buNone/>
            </a:pPr>
            <a:r>
              <a:rPr lang="en-US" sz="1200" dirty="0">
                <a:solidFill>
                  <a:srgbClr val="B5CEA8"/>
                </a:solidFill>
                <a:latin typeface="Courier New" pitchFamily="34" charset="0"/>
                <a:ea typeface="Courier New" pitchFamily="34" charset="-122"/>
                <a:cs typeface="Courier New" pitchFamily="34" charset="-120"/>
              </a:rPr>
              <a:t>2</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 == </a:t>
            </a:r>
            <a:pPr indent="0" marL="0">
              <a:lnSpc>
                <a:spcPts val="1500"/>
              </a:lnSpc>
              <a:buNone/>
            </a:pPr>
            <a:r>
              <a:rPr lang="en-US" sz="1200" dirty="0">
                <a:solidFill>
                  <a:srgbClr val="B5CEA8"/>
                </a:solidFill>
                <a:latin typeface="Courier New" pitchFamily="34" charset="0"/>
                <a:ea typeface="Courier New" pitchFamily="34" charset="-122"/>
                <a:cs typeface="Courier New" pitchFamily="34" charset="-120"/>
              </a:rPr>
              <a:t>0</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 ? </a:t>
            </a:r>
            <a:pPr indent="0" marL="0">
              <a:lnSpc>
                <a:spcPts val="1500"/>
              </a:lnSpc>
              <a:buNone/>
            </a:pPr>
            <a:r>
              <a:rPr lang="en-US" sz="1200" dirty="0">
                <a:solidFill>
                  <a:srgbClr val="CE9178"/>
                </a:solidFill>
                <a:latin typeface="Courier New" pitchFamily="34" charset="0"/>
                <a:ea typeface="Courier New" pitchFamily="34" charset="-122"/>
                <a:cs typeface="Courier New" pitchFamily="34" charset="-120"/>
              </a:rPr>
              <a:t>"even"</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 : </a:t>
            </a:r>
            <a:pPr indent="0" marL="0">
              <a:lnSpc>
                <a:spcPts val="1500"/>
              </a:lnSpc>
              <a:buNone/>
            </a:pPr>
            <a:r>
              <a:rPr lang="en-US" sz="1200" dirty="0">
                <a:solidFill>
                  <a:srgbClr val="CE9178"/>
                </a:solidFill>
                <a:latin typeface="Courier New" pitchFamily="34" charset="0"/>
                <a:ea typeface="Courier New" pitchFamily="34" charset="-122"/>
                <a:cs typeface="Courier New" pitchFamily="34" charset="-120"/>
              </a:rPr>
              <a:t>"odd"</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500"/>
              </a:lnSpc>
              <a:buNone/>
            </a:pPr>
            <a:r>
              <a:rPr lang="en-US" sz="1200" dirty="0">
                <a:solidFill>
                  <a:srgbClr val="CE9178"/>
                </a:solidFill>
                <a:latin typeface="Courier New" pitchFamily="34" charset="0"/>
                <a:ea typeface="Courier New" pitchFamily="34" charset="-122"/>
                <a:cs typeface="Courier New" pitchFamily="34" charset="-120"/>
              </a:rPr>
              <a:t>$"Check with ?: -&gt; {kind}"</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7498080" y="1600200"/>
            <a:ext cx="4160520" cy="2148840"/>
          </a:xfrm>
          <a:prstGeom prst="roundRect">
            <a:avLst>
              <a:gd name="adj" fmla="val 4255"/>
            </a:avLst>
          </a:prstGeom>
          <a:solidFill>
            <a:srgbClr val="0B0F19"/>
          </a:solidFill>
          <a:ln w="12700">
            <a:solidFill>
              <a:srgbClr val="2A3654"/>
            </a:solidFill>
            <a:prstDash val="solid"/>
          </a:ln>
        </p:spPr>
      </p:sp>
      <p:sp>
        <p:nvSpPr>
          <p:cNvPr id="11" name="Shape 8"/>
          <p:cNvSpPr/>
          <p:nvPr/>
        </p:nvSpPr>
        <p:spPr>
          <a:xfrm>
            <a:off x="7680960" y="1728216"/>
            <a:ext cx="118872" cy="118872"/>
          </a:xfrm>
          <a:prstGeom prst="ellipse">
            <a:avLst/>
          </a:prstGeom>
          <a:solidFill>
            <a:srgbClr val="FF5F57"/>
          </a:solidFill>
          <a:ln w="12700">
            <a:solidFill>
              <a:srgbClr val="FF5F57"/>
            </a:solidFill>
            <a:prstDash val="solid"/>
          </a:ln>
        </p:spPr>
      </p:sp>
      <p:sp>
        <p:nvSpPr>
          <p:cNvPr id="12" name="Shape 9"/>
          <p:cNvSpPr/>
          <p:nvPr/>
        </p:nvSpPr>
        <p:spPr>
          <a:xfrm>
            <a:off x="7909560" y="1728216"/>
            <a:ext cx="118872" cy="118872"/>
          </a:xfrm>
          <a:prstGeom prst="ellipse">
            <a:avLst/>
          </a:prstGeom>
          <a:solidFill>
            <a:srgbClr val="FEBC2E"/>
          </a:solidFill>
          <a:ln w="12700">
            <a:solidFill>
              <a:srgbClr val="FEBC2E"/>
            </a:solidFill>
            <a:prstDash val="solid"/>
          </a:ln>
        </p:spPr>
      </p:sp>
      <p:sp>
        <p:nvSpPr>
          <p:cNvPr id="13" name="Shape 10"/>
          <p:cNvSpPr/>
          <p:nvPr/>
        </p:nvSpPr>
        <p:spPr>
          <a:xfrm>
            <a:off x="8138160" y="172821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8412480" y="1673352"/>
            <a:ext cx="30632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726680" y="1984248"/>
            <a:ext cx="3703320" cy="164592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Enter an integer: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-7</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-7 is odd.</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Check with ?: -&gt; odd</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Enter an integer: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10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10 is even.</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Check with ?: -&gt; even</a:t>
            </a:r>
            <a:endParaRPr lang="en-US" sz="1300" dirty="0"/>
          </a:p>
        </p:txBody>
      </p:sp>
      <p:sp>
        <p:nvSpPr>
          <p:cNvPr id="16" name="Shape 13"/>
          <p:cNvSpPr/>
          <p:nvPr/>
        </p:nvSpPr>
        <p:spPr>
          <a:xfrm>
            <a:off x="7498080" y="3886200"/>
            <a:ext cx="4160520" cy="2194560"/>
          </a:xfrm>
          <a:prstGeom prst="roundRect">
            <a:avLst>
              <a:gd name="adj" fmla="val 5000"/>
            </a:avLst>
          </a:prstGeom>
          <a:solidFill>
            <a:srgbClr val="E3ECF8"/>
          </a:solidFill>
          <a:ln w="12700">
            <a:solidFill>
              <a:srgbClr val="E3ECF8"/>
            </a:solidFill>
            <a:prstDash val="solid"/>
          </a:ln>
        </p:spPr>
      </p:sp>
      <p:sp>
        <p:nvSpPr>
          <p:cNvPr id="17" name="Text 14"/>
          <p:cNvSpPr txBox="1"/>
          <p:nvPr/>
        </p:nvSpPr>
        <p:spPr>
          <a:xfrm>
            <a:off x="7726680" y="4023360"/>
            <a:ext cx="3749040" cy="365760"/>
          </a:xfrm>
          <a:prstGeom prst="rect">
            <a:avLst/>
          </a:prstGeom>
          <a:noFill/>
          <a:ln/>
        </p:spPr>
        <p:txBody>
          <a:bodyPr wrap="square" lIns="0" tIns="0" rIns="0" bIns="0" rtlCol="0" anchor="ctr"/>
          <a:lstStyle/>
          <a:p>
            <a:pPr indent="0" marL="0">
              <a:buNone/>
            </a:pPr>
            <a:r>
              <a:rPr lang="en-US" sz="1700" b="1" dirty="0">
                <a:solidFill>
                  <a:srgbClr val="2F6FB3"/>
                </a:solidFill>
                <a:latin typeface="Cambria" pitchFamily="34" charset="0"/>
                <a:ea typeface="Cambria" pitchFamily="34" charset="-122"/>
                <a:cs typeface="Cambria" pitchFamily="34" charset="-120"/>
              </a:rPr>
              <a:t>Conditional operator ?:</a:t>
            </a:r>
            <a:endParaRPr lang="en-US" sz="1700" dirty="0"/>
          </a:p>
        </p:txBody>
      </p:sp>
      <p:sp>
        <p:nvSpPr>
          <p:cNvPr id="18" name="Text 15"/>
          <p:cNvSpPr txBox="1"/>
          <p:nvPr/>
        </p:nvSpPr>
        <p:spPr>
          <a:xfrm>
            <a:off x="7726680" y="4434840"/>
            <a:ext cx="3794760" cy="1554480"/>
          </a:xfrm>
          <a:prstGeom prst="rect">
            <a:avLst/>
          </a:prstGeom>
          <a:noFill/>
          <a:ln/>
        </p:spPr>
        <p:txBody>
          <a:bodyPr wrap="square" lIns="0" tIns="0" rIns="0" bIns="0" rtlCol="0" anchor="t"/>
          <a:lstStyle/>
          <a:p>
            <a:pPr indent="0" marL="0">
              <a:buNone/>
            </a:pPr>
            <a:r>
              <a:rPr lang="en-US" sz="1400" b="1" dirty="0">
                <a:solidFill>
                  <a:srgbClr val="14213D"/>
                </a:solidFill>
                <a:latin typeface="Courier New" pitchFamily="34" charset="0"/>
                <a:ea typeface="Courier New" pitchFamily="34" charset="-122"/>
                <a:cs typeface="Courier New" pitchFamily="34" charset="-120"/>
              </a:rPr>
              <a:t>cond ? valueIfTrue : valueIfFalse</a:t>
            </a:r>
            <a:endParaRPr lang="en-US" sz="1400" dirty="0"/>
          </a:p>
          <a:p>
            <a:pPr indent="0" marL="0">
              <a:buNone/>
            </a:pPr>
            <a:r>
              <a:rPr lang="en-US" sz="600" dirty="0">
                <a:solidFill>
                  <a:srgbClr val="333B4F"/>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14213D"/>
                </a:solidFill>
                <a:latin typeface="Calibri" pitchFamily="34" charset="0"/>
                <a:ea typeface="Calibri" pitchFamily="34" charset="-122"/>
                <a:cs typeface="Calibri" pitchFamily="34" charset="-120"/>
              </a:rPr>
              <a:t>if-else</a:t>
            </a:r>
            <a:pPr indent="0" marL="0">
              <a:buNone/>
            </a:pPr>
            <a:r>
              <a:rPr lang="en-US" sz="1400" dirty="0">
                <a:solidFill>
                  <a:srgbClr val="333B4F"/>
                </a:solidFill>
                <a:latin typeface="Calibri" pitchFamily="34" charset="0"/>
                <a:ea typeface="Calibri" pitchFamily="34" charset="-122"/>
                <a:cs typeface="Calibri" pitchFamily="34" charset="-120"/>
              </a:rPr>
              <a:t> chooses between two ACTIONS.</a:t>
            </a:r>
            <a:endParaRPr lang="en-US" sz="1400" dirty="0"/>
          </a:p>
          <a:p>
            <a:pPr indent="0" marL="0">
              <a:buNone/>
            </a:pPr>
            <a:r>
              <a:rPr lang="en-US" sz="1400" b="1" dirty="0">
                <a:solidFill>
                  <a:srgbClr val="14213D"/>
                </a:solidFill>
                <a:latin typeface="Calibri" pitchFamily="34" charset="0"/>
                <a:ea typeface="Calibri" pitchFamily="34" charset="-122"/>
                <a:cs typeface="Calibri" pitchFamily="34" charset="-120"/>
              </a:rPr>
              <a:t>?:</a:t>
            </a:r>
            <a:pPr indent="0" marL="0">
              <a:buNone/>
            </a:pPr>
            <a:r>
              <a:rPr lang="en-US" sz="1400" dirty="0">
                <a:solidFill>
                  <a:srgbClr val="333B4F"/>
                </a:solidFill>
                <a:latin typeface="Calibri" pitchFamily="34" charset="0"/>
                <a:ea typeface="Calibri" pitchFamily="34" charset="-122"/>
                <a:cs typeface="Calibri" pitchFamily="34" charset="-120"/>
              </a:rPr>
              <a:t> chooses between two VALUES — handy inside an assignment or an interpolated string.</a:t>
            </a:r>
            <a:endParaRPr lang="en-US" sz="1400" dirty="0"/>
          </a:p>
        </p:txBody>
      </p:sp>
      <p:sp>
        <p:nvSpPr>
          <p:cNvPr id="19" name="Text 16"/>
          <p:cNvSpPr txBox="1"/>
          <p:nvPr/>
        </p:nvSpPr>
        <p:spPr>
          <a:xfrm>
            <a:off x="548640" y="5486400"/>
            <a:ext cx="6766560" cy="5943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Test </a:t>
            </a:r>
            <a:pPr indent="0" marL="0">
              <a:buNone/>
            </a:pPr>
            <a:r>
              <a:rPr lang="en-US" sz="1500" b="1" dirty="0">
                <a:solidFill>
                  <a:srgbClr val="333B4F"/>
                </a:solidFill>
                <a:latin typeface="Courier New" pitchFamily="34" charset="0"/>
                <a:ea typeface="Courier New" pitchFamily="34" charset="-122"/>
                <a:cs typeface="Courier New" pitchFamily="34" charset="-120"/>
              </a:rPr>
              <a:t>== 0</a:t>
            </a:r>
            <a:pPr indent="0" marL="0">
              <a:buNone/>
            </a:pPr>
            <a:r>
              <a:rPr lang="en-US" sz="1500" dirty="0">
                <a:solidFill>
                  <a:srgbClr val="333B4F"/>
                </a:solidFill>
                <a:latin typeface="Calibri" pitchFamily="34" charset="0"/>
                <a:ea typeface="Calibri" pitchFamily="34" charset="-122"/>
                <a:cs typeface="Calibri" pitchFamily="34" charset="-120"/>
              </a:rPr>
              <a:t>, not </a:t>
            </a:r>
            <a:pPr indent="0" marL="0">
              <a:buNone/>
            </a:pPr>
            <a:r>
              <a:rPr lang="en-US" sz="1500" b="1" dirty="0">
                <a:solidFill>
                  <a:srgbClr val="333B4F"/>
                </a:solidFill>
                <a:latin typeface="Courier New" pitchFamily="34" charset="0"/>
                <a:ea typeface="Courier New" pitchFamily="34" charset="-122"/>
                <a:cs typeface="Courier New" pitchFamily="34" charset="-120"/>
              </a:rPr>
              <a:t>== 1</a:t>
            </a:r>
            <a:pPr indent="0" marL="0">
              <a:buNone/>
            </a:pPr>
            <a:r>
              <a:rPr lang="en-US" sz="1500" dirty="0">
                <a:solidFill>
                  <a:srgbClr val="333B4F"/>
                </a:solidFill>
                <a:latin typeface="Calibri" pitchFamily="34" charset="0"/>
                <a:ea typeface="Calibri" pitchFamily="34" charset="-122"/>
                <a:cs typeface="Calibri" pitchFamily="34" charset="-120"/>
              </a:rPr>
              <a:t>: in C#, </a:t>
            </a:r>
            <a:pPr indent="0" marL="0">
              <a:buNone/>
            </a:pPr>
            <a:r>
              <a:rPr lang="en-US" sz="1500" dirty="0">
                <a:solidFill>
                  <a:srgbClr val="333B4F"/>
                </a:solidFill>
                <a:latin typeface="Courier New" pitchFamily="34" charset="0"/>
                <a:ea typeface="Courier New" pitchFamily="34" charset="-122"/>
                <a:cs typeface="Courier New" pitchFamily="34" charset="-120"/>
              </a:rPr>
              <a:t>-7 % 2</a:t>
            </a:r>
            <a:pPr indent="0" marL="0">
              <a:buNone/>
            </a:pPr>
            <a:r>
              <a:rPr lang="en-US" sz="1500" dirty="0">
                <a:solidFill>
                  <a:srgbClr val="333B4F"/>
                </a:solidFill>
                <a:latin typeface="Calibri" pitchFamily="34" charset="0"/>
                <a:ea typeface="Calibri" pitchFamily="34" charset="-122"/>
                <a:cs typeface="Calibri" pitchFamily="34" charset="-120"/>
              </a:rPr>
              <a:t> is </a:t>
            </a:r>
            <a:pPr indent="0" marL="0">
              <a:buNone/>
            </a:pPr>
            <a:r>
              <a:rPr lang="en-US" sz="1500" b="1" dirty="0">
                <a:solidFill>
                  <a:srgbClr val="C8453B"/>
                </a:solidFill>
                <a:latin typeface="Courier New" pitchFamily="34" charset="0"/>
                <a:ea typeface="Courier New" pitchFamily="34" charset="-122"/>
                <a:cs typeface="Courier New" pitchFamily="34" charset="-120"/>
              </a:rPr>
              <a:t>-1</a:t>
            </a:r>
            <a:pPr indent="0" marL="0">
              <a:buNone/>
            </a:pPr>
            <a:r>
              <a:rPr lang="en-US" sz="1500" dirty="0">
                <a:solidFill>
                  <a:srgbClr val="333B4F"/>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PITFALLS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Indentation Does Not Make a Block — Braces Do</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8</a:t>
            </a:r>
            <a:endParaRPr lang="en-US" sz="1000" dirty="0"/>
          </a:p>
        </p:txBody>
      </p:sp>
      <p:sp>
        <p:nvSpPr>
          <p:cNvPr id="7" name="Shape 4"/>
          <p:cNvSpPr/>
          <p:nvPr/>
        </p:nvSpPr>
        <p:spPr>
          <a:xfrm>
            <a:off x="548640" y="1600200"/>
            <a:ext cx="5440680" cy="1828800"/>
          </a:xfrm>
          <a:prstGeom prst="roundRect">
            <a:avLst>
              <a:gd name="adj" fmla="val 5000"/>
            </a:avLst>
          </a:prstGeom>
          <a:solidFill>
            <a:srgbClr val="0F1729"/>
          </a:solidFill>
          <a:ln w="12700">
            <a:solidFill>
              <a:srgbClr val="0F1729"/>
            </a:solidFill>
            <a:prstDash val="solid"/>
          </a:ln>
        </p:spPr>
      </p:sp>
      <p:sp>
        <p:nvSpPr>
          <p:cNvPr id="8" name="Text 5"/>
          <p:cNvSpPr txBox="1"/>
          <p:nvPr/>
        </p:nvSpPr>
        <p:spPr>
          <a:xfrm>
            <a:off x="777240" y="1709928"/>
            <a:ext cx="49834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Missing braces</a:t>
            </a:r>
            <a:endParaRPr lang="en-US" sz="1100" dirty="0"/>
          </a:p>
        </p:txBody>
      </p:sp>
      <p:sp>
        <p:nvSpPr>
          <p:cNvPr id="9" name="Text 6"/>
          <p:cNvSpPr txBox="1"/>
          <p:nvPr/>
        </p:nvSpPr>
        <p:spPr>
          <a:xfrm>
            <a:off x="777240" y="2011680"/>
            <a:ext cx="4983480" cy="1325880"/>
          </a:xfrm>
          <a:prstGeom prst="rect">
            <a:avLst/>
          </a:prstGeom>
          <a:noFill/>
          <a:ln/>
        </p:spPr>
        <p:txBody>
          <a:bodyPr wrap="square" lIns="0" tIns="0" rIns="0" bIns="0" rtlCol="0" anchor="t"/>
          <a:lstStyle/>
          <a:p>
            <a:pPr indent="0" marL="0">
              <a:lnSpc>
                <a:spcPts val="1400"/>
              </a:lnSpc>
              <a:buNone/>
            </a:pPr>
            <a:r>
              <a:rPr lang="en-US" sz="1300" dirty="0">
                <a:solidFill>
                  <a:srgbClr val="4EC9B0"/>
                </a:solidFill>
                <a:latin typeface="Courier New" pitchFamily="34" charset="0"/>
                <a:ea typeface="Courier New" pitchFamily="34" charset="-122"/>
                <a:cs typeface="Courier New" pitchFamily="34" charset="-120"/>
              </a:rPr>
              <a:t>int</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balance = </a:t>
            </a:r>
            <a:pPr indent="0" marL="0">
              <a:lnSpc>
                <a:spcPts val="1400"/>
              </a:lnSpc>
              <a:buNone/>
            </a:pPr>
            <a:r>
              <a:rPr lang="en-US" sz="1300" dirty="0">
                <a:solidFill>
                  <a:srgbClr val="B5CEA8"/>
                </a:solidFill>
                <a:latin typeface="Courier New" pitchFamily="34" charset="0"/>
                <a:ea typeface="Courier New" pitchFamily="34" charset="-122"/>
                <a:cs typeface="Courier New" pitchFamily="34" charset="-120"/>
              </a:rPr>
              <a:t>500</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4EC9B0"/>
                </a:solidFill>
                <a:latin typeface="Courier New" pitchFamily="34" charset="0"/>
                <a:ea typeface="Courier New" pitchFamily="34" charset="-122"/>
                <a:cs typeface="Courier New" pitchFamily="34" charset="-120"/>
              </a:rPr>
              <a:t>int</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amount = </a:t>
            </a:r>
            <a:pPr indent="0" marL="0">
              <a:lnSpc>
                <a:spcPts val="1400"/>
              </a:lnSpc>
              <a:buNone/>
            </a:pPr>
            <a:r>
              <a:rPr lang="en-US" sz="1300" dirty="0">
                <a:solidFill>
                  <a:srgbClr val="B5CEA8"/>
                </a:solidFill>
                <a:latin typeface="Courier New" pitchFamily="34" charset="0"/>
                <a:ea typeface="Courier New" pitchFamily="34" charset="-122"/>
                <a:cs typeface="Courier New" pitchFamily="34" charset="-120"/>
              </a:rPr>
              <a:t>150</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7AB8FF"/>
                </a:solidFill>
                <a:latin typeface="Courier New" pitchFamily="34" charset="0"/>
                <a:ea typeface="Courier New" pitchFamily="34" charset="-122"/>
                <a:cs typeface="Courier New" pitchFamily="34" charset="-120"/>
              </a:rPr>
              <a:t>if</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(amount &gt; balance)</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300" dirty="0">
                <a:solidFill>
                  <a:srgbClr val="4EC9B0"/>
                </a:solidFill>
                <a:latin typeface="Courier New" pitchFamily="34" charset="0"/>
                <a:ea typeface="Courier New" pitchFamily="34" charset="-122"/>
                <a:cs typeface="Courier New" pitchFamily="34" charset="-120"/>
              </a:rPr>
              <a:t>Console</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.WriteLine(</a:t>
            </a:r>
            <a:pPr indent="0" marL="0">
              <a:lnSpc>
                <a:spcPts val="1400"/>
              </a:lnSpc>
              <a:buNone/>
            </a:pPr>
            <a:r>
              <a:rPr lang="en-US" sz="1300" dirty="0">
                <a:solidFill>
                  <a:srgbClr val="CE9178"/>
                </a:solidFill>
                <a:latin typeface="Courier New" pitchFamily="34" charset="0"/>
                <a:ea typeface="Courier New" pitchFamily="34" charset="-122"/>
                <a:cs typeface="Courier New" pitchFamily="34" charset="-120"/>
              </a:rPr>
              <a:t>"Insufficient funds."</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300" dirty="0">
                <a:solidFill>
                  <a:srgbClr val="4EC9B0"/>
                </a:solidFill>
                <a:latin typeface="Courier New" pitchFamily="34" charset="0"/>
                <a:ea typeface="Courier New" pitchFamily="34" charset="-122"/>
                <a:cs typeface="Courier New" pitchFamily="34" charset="-120"/>
              </a:rPr>
              <a:t>Console</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.WriteLine(</a:t>
            </a:r>
            <a:pPr indent="0" marL="0">
              <a:lnSpc>
                <a:spcPts val="1400"/>
              </a:lnSpc>
              <a:buNone/>
            </a:pPr>
            <a:r>
              <a:rPr lang="en-US" sz="1300" dirty="0">
                <a:solidFill>
                  <a:srgbClr val="CE9178"/>
                </a:solidFill>
                <a:latin typeface="Courier New" pitchFamily="34" charset="0"/>
                <a:ea typeface="Courier New" pitchFamily="34" charset="-122"/>
                <a:cs typeface="Courier New" pitchFamily="34" charset="-120"/>
              </a:rPr>
              <a:t>"Transaction cancelled."</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4EC9B0"/>
                </a:solidFill>
                <a:latin typeface="Courier New" pitchFamily="34" charset="0"/>
                <a:ea typeface="Courier New" pitchFamily="34" charset="-122"/>
                <a:cs typeface="Courier New" pitchFamily="34" charset="-120"/>
              </a:rPr>
              <a:t>Console</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.WriteLine(</a:t>
            </a:r>
            <a:pPr indent="0" marL="0">
              <a:lnSpc>
                <a:spcPts val="1400"/>
              </a:lnSpc>
              <a:buNone/>
            </a:pPr>
            <a:r>
              <a:rPr lang="en-US" sz="1300" dirty="0">
                <a:solidFill>
                  <a:srgbClr val="CE9178"/>
                </a:solidFill>
                <a:latin typeface="Courier New" pitchFamily="34" charset="0"/>
                <a:ea typeface="Courier New" pitchFamily="34" charset="-122"/>
                <a:cs typeface="Courier New" pitchFamily="34" charset="-120"/>
              </a:rPr>
              <a:t>"Goodbye."</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0" name="Shape 7"/>
          <p:cNvSpPr/>
          <p:nvPr/>
        </p:nvSpPr>
        <p:spPr>
          <a:xfrm>
            <a:off x="548640" y="3547872"/>
            <a:ext cx="5440680" cy="914400"/>
          </a:xfrm>
          <a:prstGeom prst="roundRect">
            <a:avLst>
              <a:gd name="adj" fmla="val 10000"/>
            </a:avLst>
          </a:prstGeom>
          <a:solidFill>
            <a:srgbClr val="0B0F19"/>
          </a:solidFill>
          <a:ln w="12700">
            <a:solidFill>
              <a:srgbClr val="2A3654"/>
            </a:solidFill>
            <a:prstDash val="solid"/>
          </a:ln>
        </p:spPr>
      </p:sp>
      <p:sp>
        <p:nvSpPr>
          <p:cNvPr id="11" name="Shape 8"/>
          <p:cNvSpPr/>
          <p:nvPr/>
        </p:nvSpPr>
        <p:spPr>
          <a:xfrm>
            <a:off x="731520" y="3675888"/>
            <a:ext cx="118872" cy="118872"/>
          </a:xfrm>
          <a:prstGeom prst="ellipse">
            <a:avLst/>
          </a:prstGeom>
          <a:solidFill>
            <a:srgbClr val="FF5F57"/>
          </a:solidFill>
          <a:ln w="12700">
            <a:solidFill>
              <a:srgbClr val="FF5F57"/>
            </a:solidFill>
            <a:prstDash val="solid"/>
          </a:ln>
        </p:spPr>
      </p:sp>
      <p:sp>
        <p:nvSpPr>
          <p:cNvPr id="12" name="Shape 9"/>
          <p:cNvSpPr/>
          <p:nvPr/>
        </p:nvSpPr>
        <p:spPr>
          <a:xfrm>
            <a:off x="960120" y="3675888"/>
            <a:ext cx="118872" cy="118872"/>
          </a:xfrm>
          <a:prstGeom prst="ellipse">
            <a:avLst/>
          </a:prstGeom>
          <a:solidFill>
            <a:srgbClr val="FEBC2E"/>
          </a:solidFill>
          <a:ln w="12700">
            <a:solidFill>
              <a:srgbClr val="FEBC2E"/>
            </a:solidFill>
            <a:prstDash val="solid"/>
          </a:ln>
        </p:spPr>
      </p:sp>
      <p:sp>
        <p:nvSpPr>
          <p:cNvPr id="13" name="Shape 10"/>
          <p:cNvSpPr/>
          <p:nvPr/>
        </p:nvSpPr>
        <p:spPr>
          <a:xfrm>
            <a:off x="1188720" y="3675888"/>
            <a:ext cx="118872" cy="118872"/>
          </a:xfrm>
          <a:prstGeom prst="ellipse">
            <a:avLst/>
          </a:prstGeom>
          <a:solidFill>
            <a:srgbClr val="28C840"/>
          </a:solidFill>
          <a:ln w="12700">
            <a:solidFill>
              <a:srgbClr val="28C840"/>
            </a:solidFill>
            <a:prstDash val="solid"/>
          </a:ln>
        </p:spPr>
      </p:sp>
      <p:sp>
        <p:nvSpPr>
          <p:cNvPr id="14" name="Text 11"/>
          <p:cNvSpPr txBox="1"/>
          <p:nvPr/>
        </p:nvSpPr>
        <p:spPr>
          <a:xfrm>
            <a:off x="1463040" y="3621024"/>
            <a:ext cx="43434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77240" y="3931920"/>
            <a:ext cx="4983480" cy="41148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Transaction cancelled.</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Goodbye.</a:t>
            </a:r>
            <a:endParaRPr lang="en-US" sz="1300" dirty="0"/>
          </a:p>
        </p:txBody>
      </p:sp>
      <p:sp>
        <p:nvSpPr>
          <p:cNvPr id="16" name="Text 13"/>
          <p:cNvSpPr txBox="1"/>
          <p:nvPr/>
        </p:nvSpPr>
        <p:spPr>
          <a:xfrm>
            <a:off x="548640" y="4553712"/>
            <a:ext cx="5440680" cy="502920"/>
          </a:xfrm>
          <a:prstGeom prst="rect">
            <a:avLst/>
          </a:prstGeom>
          <a:noFill/>
          <a:ln/>
        </p:spPr>
        <p:txBody>
          <a:bodyPr wrap="square" lIns="0" tIns="0" rIns="0" bIns="0" rtlCol="0" anchor="t"/>
          <a:lstStyle/>
          <a:p>
            <a:pPr indent="0" marL="0">
              <a:buNone/>
            </a:pPr>
            <a:r>
              <a:rPr lang="en-US" sz="1500" b="1" dirty="0">
                <a:solidFill>
                  <a:srgbClr val="C8453B"/>
                </a:solidFill>
                <a:latin typeface="Calibri" pitchFamily="34" charset="0"/>
                <a:ea typeface="Calibri" pitchFamily="34" charset="-122"/>
                <a:cs typeface="Calibri" pitchFamily="34" charset="-120"/>
              </a:rPr>
              <a:t>Only the FIRST statement belongs to the if.</a:t>
            </a:r>
            <a:endParaRPr lang="en-US" sz="1500" dirty="0"/>
          </a:p>
        </p:txBody>
      </p:sp>
      <p:sp>
        <p:nvSpPr>
          <p:cNvPr id="17" name="Shape 14"/>
          <p:cNvSpPr/>
          <p:nvPr/>
        </p:nvSpPr>
        <p:spPr>
          <a:xfrm>
            <a:off x="6217920" y="1600200"/>
            <a:ext cx="5440680" cy="1828800"/>
          </a:xfrm>
          <a:prstGeom prst="roundRect">
            <a:avLst>
              <a:gd name="adj" fmla="val 5000"/>
            </a:avLst>
          </a:prstGeom>
          <a:solidFill>
            <a:srgbClr val="0F1729"/>
          </a:solidFill>
          <a:ln w="12700">
            <a:solidFill>
              <a:srgbClr val="0F1729"/>
            </a:solidFill>
            <a:prstDash val="solid"/>
          </a:ln>
        </p:spPr>
      </p:sp>
      <p:sp>
        <p:nvSpPr>
          <p:cNvPr id="18" name="Text 15"/>
          <p:cNvSpPr txBox="1"/>
          <p:nvPr/>
        </p:nvSpPr>
        <p:spPr>
          <a:xfrm>
            <a:off x="6446520" y="1709928"/>
            <a:ext cx="49834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Stray semicolon</a:t>
            </a:r>
            <a:endParaRPr lang="en-US" sz="1100" dirty="0"/>
          </a:p>
        </p:txBody>
      </p:sp>
      <p:sp>
        <p:nvSpPr>
          <p:cNvPr id="19" name="Text 16"/>
          <p:cNvSpPr txBox="1"/>
          <p:nvPr/>
        </p:nvSpPr>
        <p:spPr>
          <a:xfrm>
            <a:off x="6446520" y="2011680"/>
            <a:ext cx="4983480" cy="1325880"/>
          </a:xfrm>
          <a:prstGeom prst="rect">
            <a:avLst/>
          </a:prstGeom>
          <a:noFill/>
          <a:ln/>
        </p:spPr>
        <p:txBody>
          <a:bodyPr wrap="square" lIns="0" tIns="0" rIns="0" bIns="0" rtlCol="0" anchor="t"/>
          <a:lstStyle/>
          <a:p>
            <a:pPr indent="0" marL="0">
              <a:lnSpc>
                <a:spcPts val="1400"/>
              </a:lnSpc>
              <a:buNone/>
            </a:pPr>
            <a:r>
              <a:rPr lang="en-US" sz="1300" dirty="0">
                <a:solidFill>
                  <a:srgbClr val="4EC9B0"/>
                </a:solidFill>
                <a:latin typeface="Courier New" pitchFamily="34" charset="0"/>
                <a:ea typeface="Courier New" pitchFamily="34" charset="-122"/>
                <a:cs typeface="Courier New" pitchFamily="34" charset="-120"/>
              </a:rPr>
              <a:t>int</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temperature = </a:t>
            </a:r>
            <a:pPr indent="0" marL="0">
              <a:lnSpc>
                <a:spcPts val="1400"/>
              </a:lnSpc>
              <a:buNone/>
            </a:pPr>
            <a:r>
              <a:rPr lang="en-US" sz="1300" dirty="0">
                <a:solidFill>
                  <a:srgbClr val="B5CEA8"/>
                </a:solidFill>
                <a:latin typeface="Courier New" pitchFamily="34" charset="0"/>
                <a:ea typeface="Courier New" pitchFamily="34" charset="-122"/>
                <a:cs typeface="Courier New" pitchFamily="34" charset="-120"/>
              </a:rPr>
              <a:t>15</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7AB8FF"/>
                </a:solidFill>
                <a:latin typeface="Courier New" pitchFamily="34" charset="0"/>
                <a:ea typeface="Courier New" pitchFamily="34" charset="-122"/>
                <a:cs typeface="Courier New" pitchFamily="34" charset="-120"/>
              </a:rPr>
              <a:t>if</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(temperature &gt; </a:t>
            </a:r>
            <a:pPr indent="0" marL="0">
              <a:lnSpc>
                <a:spcPts val="1400"/>
              </a:lnSpc>
              <a:buNone/>
            </a:pPr>
            <a:r>
              <a:rPr lang="en-US" sz="1300" dirty="0">
                <a:solidFill>
                  <a:srgbClr val="B5CEA8"/>
                </a:solidFill>
                <a:latin typeface="Courier New" pitchFamily="34" charset="0"/>
                <a:ea typeface="Courier New" pitchFamily="34" charset="-122"/>
                <a:cs typeface="Courier New" pitchFamily="34" charset="-120"/>
              </a:rPr>
              <a:t>30</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300" dirty="0">
                <a:solidFill>
                  <a:srgbClr val="4EC9B0"/>
                </a:solidFill>
                <a:latin typeface="Courier New" pitchFamily="34" charset="0"/>
                <a:ea typeface="Courier New" pitchFamily="34" charset="-122"/>
                <a:cs typeface="Courier New" pitchFamily="34" charset="-120"/>
              </a:rPr>
              <a:t>Console</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.WriteLine(</a:t>
            </a:r>
            <a:pPr indent="0" marL="0">
              <a:lnSpc>
                <a:spcPts val="1400"/>
              </a:lnSpc>
              <a:buNone/>
            </a:pPr>
            <a:r>
              <a:rPr lang="en-US" sz="1300" dirty="0">
                <a:solidFill>
                  <a:srgbClr val="CE9178"/>
                </a:solidFill>
                <a:latin typeface="Courier New" pitchFamily="34" charset="0"/>
                <a:ea typeface="Courier New" pitchFamily="34" charset="-122"/>
                <a:cs typeface="Courier New" pitchFamily="34" charset="-120"/>
              </a:rPr>
              <a:t>"It is hot!"</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4EC9B0"/>
                </a:solidFill>
                <a:latin typeface="Courier New" pitchFamily="34" charset="0"/>
                <a:ea typeface="Courier New" pitchFamily="34" charset="-122"/>
                <a:cs typeface="Courier New" pitchFamily="34" charset="-120"/>
              </a:rPr>
              <a:t>Console</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.WriteLine(</a:t>
            </a:r>
            <a:pPr indent="0" marL="0">
              <a:lnSpc>
                <a:spcPts val="1400"/>
              </a:lnSpc>
              <a:buNone/>
            </a:pPr>
            <a:r>
              <a:rPr lang="en-US" sz="1300" dirty="0">
                <a:solidFill>
                  <a:srgbClr val="CE9178"/>
                </a:solidFill>
                <a:latin typeface="Courier New" pitchFamily="34" charset="0"/>
                <a:ea typeface="Courier New" pitchFamily="34" charset="-122"/>
                <a:cs typeface="Courier New" pitchFamily="34" charset="-120"/>
              </a:rPr>
              <a:t>"Done."</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20" name="Shape 17"/>
          <p:cNvSpPr/>
          <p:nvPr/>
        </p:nvSpPr>
        <p:spPr>
          <a:xfrm>
            <a:off x="6217920" y="3547872"/>
            <a:ext cx="5440680" cy="914400"/>
          </a:xfrm>
          <a:prstGeom prst="roundRect">
            <a:avLst>
              <a:gd name="adj" fmla="val 10000"/>
            </a:avLst>
          </a:prstGeom>
          <a:solidFill>
            <a:srgbClr val="0B0F19"/>
          </a:solidFill>
          <a:ln w="12700">
            <a:solidFill>
              <a:srgbClr val="2A3654"/>
            </a:solidFill>
            <a:prstDash val="solid"/>
          </a:ln>
        </p:spPr>
      </p:sp>
      <p:sp>
        <p:nvSpPr>
          <p:cNvPr id="21" name="Shape 18"/>
          <p:cNvSpPr/>
          <p:nvPr/>
        </p:nvSpPr>
        <p:spPr>
          <a:xfrm>
            <a:off x="6400800" y="3675888"/>
            <a:ext cx="118872" cy="118872"/>
          </a:xfrm>
          <a:prstGeom prst="ellipse">
            <a:avLst/>
          </a:prstGeom>
          <a:solidFill>
            <a:srgbClr val="FF5F57"/>
          </a:solidFill>
          <a:ln w="12700">
            <a:solidFill>
              <a:srgbClr val="FF5F57"/>
            </a:solidFill>
            <a:prstDash val="solid"/>
          </a:ln>
        </p:spPr>
      </p:sp>
      <p:sp>
        <p:nvSpPr>
          <p:cNvPr id="22" name="Shape 19"/>
          <p:cNvSpPr/>
          <p:nvPr/>
        </p:nvSpPr>
        <p:spPr>
          <a:xfrm>
            <a:off x="6629400" y="3675888"/>
            <a:ext cx="118872" cy="118872"/>
          </a:xfrm>
          <a:prstGeom prst="ellipse">
            <a:avLst/>
          </a:prstGeom>
          <a:solidFill>
            <a:srgbClr val="FEBC2E"/>
          </a:solidFill>
          <a:ln w="12700">
            <a:solidFill>
              <a:srgbClr val="FEBC2E"/>
            </a:solidFill>
            <a:prstDash val="solid"/>
          </a:ln>
        </p:spPr>
      </p:sp>
      <p:sp>
        <p:nvSpPr>
          <p:cNvPr id="23" name="Shape 20"/>
          <p:cNvSpPr/>
          <p:nvPr/>
        </p:nvSpPr>
        <p:spPr>
          <a:xfrm>
            <a:off x="6858000" y="3675888"/>
            <a:ext cx="118872" cy="118872"/>
          </a:xfrm>
          <a:prstGeom prst="ellipse">
            <a:avLst/>
          </a:prstGeom>
          <a:solidFill>
            <a:srgbClr val="28C840"/>
          </a:solidFill>
          <a:ln w="12700">
            <a:solidFill>
              <a:srgbClr val="28C840"/>
            </a:solidFill>
            <a:prstDash val="solid"/>
          </a:ln>
        </p:spPr>
      </p:sp>
      <p:sp>
        <p:nvSpPr>
          <p:cNvPr id="24" name="Text 21"/>
          <p:cNvSpPr txBox="1"/>
          <p:nvPr/>
        </p:nvSpPr>
        <p:spPr>
          <a:xfrm>
            <a:off x="7132320" y="3621024"/>
            <a:ext cx="43434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25" name="Text 22"/>
          <p:cNvSpPr txBox="1"/>
          <p:nvPr/>
        </p:nvSpPr>
        <p:spPr>
          <a:xfrm>
            <a:off x="6446520" y="3931920"/>
            <a:ext cx="4983480" cy="41148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It is hot!</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Done.</a:t>
            </a:r>
            <a:endParaRPr lang="en-US" sz="1300" dirty="0"/>
          </a:p>
        </p:txBody>
      </p:sp>
      <p:sp>
        <p:nvSpPr>
          <p:cNvPr id="26" name="Text 23"/>
          <p:cNvSpPr txBox="1"/>
          <p:nvPr/>
        </p:nvSpPr>
        <p:spPr>
          <a:xfrm>
            <a:off x="6217920" y="4553712"/>
            <a:ext cx="5440680" cy="502920"/>
          </a:xfrm>
          <a:prstGeom prst="rect">
            <a:avLst/>
          </a:prstGeom>
          <a:noFill/>
          <a:ln/>
        </p:spPr>
        <p:txBody>
          <a:bodyPr wrap="square" lIns="0" tIns="0" rIns="0" bIns="0" rtlCol="0" anchor="t"/>
          <a:lstStyle/>
          <a:p>
            <a:pPr indent="0" marL="0">
              <a:buNone/>
            </a:pPr>
            <a:r>
              <a:rPr lang="en-US" sz="1500" b="1" dirty="0">
                <a:solidFill>
                  <a:srgbClr val="C8453B"/>
                </a:solidFill>
                <a:latin typeface="Courier New" pitchFamily="34" charset="0"/>
                <a:ea typeface="Courier New" pitchFamily="34" charset="-122"/>
                <a:cs typeface="Courier New" pitchFamily="34" charset="-120"/>
              </a:rPr>
              <a:t>warning CS0642</a:t>
            </a:r>
            <a:pPr indent="0" marL="0">
              <a:buNone/>
            </a:pPr>
            <a:r>
              <a:rPr lang="en-US" sz="1500" dirty="0">
                <a:solidFill>
                  <a:srgbClr val="C8453B"/>
                </a:solidFill>
                <a:latin typeface="Calibri" pitchFamily="34" charset="0"/>
                <a:ea typeface="Calibri" pitchFamily="34" charset="-122"/>
                <a:cs typeface="Calibri" pitchFamily="34" charset="-120"/>
              </a:rPr>
              <a:t>: Possible mistaken empty statement</a:t>
            </a:r>
            <a:endParaRPr lang="en-US" sz="1500" dirty="0"/>
          </a:p>
        </p:txBody>
      </p:sp>
      <p:sp>
        <p:nvSpPr>
          <p:cNvPr id="27" name="Shape 24"/>
          <p:cNvSpPr/>
          <p:nvPr/>
        </p:nvSpPr>
        <p:spPr>
          <a:xfrm>
            <a:off x="548640" y="5166360"/>
            <a:ext cx="11109960" cy="914400"/>
          </a:xfrm>
          <a:prstGeom prst="roundRect">
            <a:avLst>
              <a:gd name="adj" fmla="val 12000"/>
            </a:avLst>
          </a:prstGeom>
          <a:solidFill>
            <a:srgbClr val="FFF6E3"/>
          </a:solidFill>
          <a:ln w="12700">
            <a:solidFill>
              <a:srgbClr val="FFF6E3"/>
            </a:solidFill>
            <a:prstDash val="solid"/>
          </a:ln>
        </p:spPr>
      </p:sp>
      <p:pic>
        <p:nvPicPr>
          <p:cNvPr id="28" name="Image 0" descr="preencoded.png">    </p:cNvPr>
          <p:cNvPicPr>
            <a:picLocks noChangeAspect="1"/>
          </p:cNvPicPr>
          <p:nvPr/>
        </p:nvPicPr>
        <p:blipFill>
          <a:blip r:embed="rId1"/>
          <a:stretch>
            <a:fillRect/>
          </a:stretch>
        </p:blipFill>
        <p:spPr>
          <a:xfrm>
            <a:off x="822960" y="5349240"/>
            <a:ext cx="548640" cy="548640"/>
          </a:xfrm>
          <a:prstGeom prst="rect">
            <a:avLst/>
          </a:prstGeom>
        </p:spPr>
      </p:pic>
      <p:sp>
        <p:nvSpPr>
          <p:cNvPr id="29" name="Text 25"/>
          <p:cNvSpPr txBox="1"/>
          <p:nvPr/>
        </p:nvSpPr>
        <p:spPr>
          <a:xfrm>
            <a:off x="1645920" y="5239512"/>
            <a:ext cx="9738360" cy="768096"/>
          </a:xfrm>
          <a:prstGeom prst="rect">
            <a:avLst/>
          </a:prstGeom>
          <a:noFill/>
          <a:ln/>
        </p:spPr>
        <p:txBody>
          <a:bodyPr wrap="square" lIns="0" tIns="0" rIns="0" bIns="0" rtlCol="0" anchor="ctr"/>
          <a:lstStyle/>
          <a:p>
            <a:pPr indent="0" marL="0">
              <a:buNone/>
            </a:pPr>
            <a:r>
              <a:rPr lang="en-US" sz="1600" b="1" dirty="0">
                <a:solidFill>
                  <a:srgbClr val="333B4F"/>
                </a:solidFill>
                <a:latin typeface="Calibri" pitchFamily="34" charset="0"/>
                <a:ea typeface="Calibri" pitchFamily="34" charset="-122"/>
                <a:cs typeface="Calibri" pitchFamily="34" charset="-120"/>
              </a:rPr>
              <a:t>Course rule: </a:t>
            </a:r>
            <a:pPr indent="0" marL="0">
              <a:buNone/>
            </a:pPr>
            <a:r>
              <a:rPr lang="en-US" sz="1600" dirty="0">
                <a:solidFill>
                  <a:srgbClr val="333B4F"/>
                </a:solidFill>
                <a:latin typeface="Calibri" pitchFamily="34" charset="0"/>
                <a:ea typeface="Calibri" pitchFamily="34" charset="-122"/>
                <a:cs typeface="Calibri" pitchFamily="34" charset="-120"/>
              </a:rPr>
              <a:t>always use braces { }, even for a single statement. Then what you see (indentation) and what runs are the same.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2</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else-if Ladders and Nested Decisions</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Many ranges, many conditions — one answer</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5</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PART 2 · ELSE-IF LADDER</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The else-if Ladder: First True Condition Wins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10</a:t>
            </a:r>
            <a:endParaRPr lang="en-US" sz="1000" dirty="0"/>
          </a:p>
        </p:txBody>
      </p:sp>
      <p:sp>
        <p:nvSpPr>
          <p:cNvPr id="7" name="Shape 4"/>
          <p:cNvSpPr/>
          <p:nvPr/>
        </p:nvSpPr>
        <p:spPr>
          <a:xfrm>
            <a:off x="1097280" y="1645920"/>
            <a:ext cx="2103120" cy="731520"/>
          </a:xfrm>
          <a:prstGeom prst="flowChartDecision">
            <a:avLst/>
          </a:prstGeom>
          <a:solidFill>
            <a:srgbClr val="E3ECF8"/>
          </a:solidFill>
          <a:ln w="15875">
            <a:solidFill>
              <a:srgbClr val="14213D"/>
            </a:solidFill>
            <a:prstDash val="solid"/>
          </a:ln>
        </p:spPr>
      </p:sp>
      <p:sp>
        <p:nvSpPr>
          <p:cNvPr id="8" name="Text 5"/>
          <p:cNvSpPr txBox="1"/>
          <p:nvPr/>
        </p:nvSpPr>
        <p:spPr>
          <a:xfrm>
            <a:off x="1143000" y="1645920"/>
            <a:ext cx="2011680" cy="73152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condition 1 ?</a:t>
            </a:r>
            <a:endParaRPr lang="en-US" sz="1200" dirty="0"/>
          </a:p>
        </p:txBody>
      </p:sp>
      <p:sp>
        <p:nvSpPr>
          <p:cNvPr id="9" name="Shape 6"/>
          <p:cNvSpPr/>
          <p:nvPr/>
        </p:nvSpPr>
        <p:spPr>
          <a:xfrm>
            <a:off x="1097280" y="2697480"/>
            <a:ext cx="2103120" cy="731520"/>
          </a:xfrm>
          <a:prstGeom prst="flowChartDecision">
            <a:avLst/>
          </a:prstGeom>
          <a:solidFill>
            <a:srgbClr val="E3ECF8"/>
          </a:solidFill>
          <a:ln w="15875">
            <a:solidFill>
              <a:srgbClr val="14213D"/>
            </a:solidFill>
            <a:prstDash val="solid"/>
          </a:ln>
        </p:spPr>
      </p:sp>
      <p:sp>
        <p:nvSpPr>
          <p:cNvPr id="10" name="Text 7"/>
          <p:cNvSpPr txBox="1"/>
          <p:nvPr/>
        </p:nvSpPr>
        <p:spPr>
          <a:xfrm>
            <a:off x="1143000" y="2697480"/>
            <a:ext cx="2011680" cy="73152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condition 2 ?</a:t>
            </a:r>
            <a:endParaRPr lang="en-US" sz="1200" dirty="0"/>
          </a:p>
        </p:txBody>
      </p:sp>
      <p:sp>
        <p:nvSpPr>
          <p:cNvPr id="11" name="Shape 8"/>
          <p:cNvSpPr/>
          <p:nvPr/>
        </p:nvSpPr>
        <p:spPr>
          <a:xfrm>
            <a:off x="1097280" y="3749040"/>
            <a:ext cx="2103120" cy="731520"/>
          </a:xfrm>
          <a:prstGeom prst="flowChartDecision">
            <a:avLst/>
          </a:prstGeom>
          <a:solidFill>
            <a:srgbClr val="E3ECF8"/>
          </a:solidFill>
          <a:ln w="15875">
            <a:solidFill>
              <a:srgbClr val="14213D"/>
            </a:solidFill>
            <a:prstDash val="solid"/>
          </a:ln>
        </p:spPr>
      </p:sp>
      <p:sp>
        <p:nvSpPr>
          <p:cNvPr id="12" name="Text 9"/>
          <p:cNvSpPr txBox="1"/>
          <p:nvPr/>
        </p:nvSpPr>
        <p:spPr>
          <a:xfrm>
            <a:off x="1143000" y="3749040"/>
            <a:ext cx="2011680" cy="73152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condition 3 ?</a:t>
            </a:r>
            <a:endParaRPr lang="en-US" sz="1200" dirty="0"/>
          </a:p>
        </p:txBody>
      </p:sp>
      <p:sp>
        <p:nvSpPr>
          <p:cNvPr id="13" name="Shape 10"/>
          <p:cNvSpPr/>
          <p:nvPr/>
        </p:nvSpPr>
        <p:spPr>
          <a:xfrm>
            <a:off x="3840480" y="1805940"/>
            <a:ext cx="1371600" cy="411480"/>
          </a:xfrm>
          <a:prstGeom prst="flowChartProcess">
            <a:avLst/>
          </a:prstGeom>
          <a:solidFill>
            <a:srgbClr val="FFFFFF"/>
          </a:solidFill>
          <a:ln w="15875">
            <a:solidFill>
              <a:srgbClr val="14213D"/>
            </a:solidFill>
            <a:prstDash val="solid"/>
          </a:ln>
        </p:spPr>
      </p:sp>
      <p:sp>
        <p:nvSpPr>
          <p:cNvPr id="14" name="Text 11"/>
          <p:cNvSpPr txBox="1"/>
          <p:nvPr/>
        </p:nvSpPr>
        <p:spPr>
          <a:xfrm>
            <a:off x="3886200" y="1805940"/>
            <a:ext cx="1280160" cy="41148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block 1</a:t>
            </a:r>
            <a:endParaRPr lang="en-US" sz="1200" dirty="0"/>
          </a:p>
        </p:txBody>
      </p:sp>
      <p:sp>
        <p:nvSpPr>
          <p:cNvPr id="15" name="Shape 12"/>
          <p:cNvSpPr/>
          <p:nvPr/>
        </p:nvSpPr>
        <p:spPr>
          <a:xfrm>
            <a:off x="3840480" y="2857500"/>
            <a:ext cx="1371600" cy="411480"/>
          </a:xfrm>
          <a:prstGeom prst="flowChartProcess">
            <a:avLst/>
          </a:prstGeom>
          <a:solidFill>
            <a:srgbClr val="FFFFFF"/>
          </a:solidFill>
          <a:ln w="15875">
            <a:solidFill>
              <a:srgbClr val="14213D"/>
            </a:solidFill>
            <a:prstDash val="solid"/>
          </a:ln>
        </p:spPr>
      </p:sp>
      <p:sp>
        <p:nvSpPr>
          <p:cNvPr id="16" name="Text 13"/>
          <p:cNvSpPr txBox="1"/>
          <p:nvPr/>
        </p:nvSpPr>
        <p:spPr>
          <a:xfrm>
            <a:off x="3886200" y="2857500"/>
            <a:ext cx="1280160" cy="41148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block 2</a:t>
            </a:r>
            <a:endParaRPr lang="en-US" sz="1200" dirty="0"/>
          </a:p>
        </p:txBody>
      </p:sp>
      <p:sp>
        <p:nvSpPr>
          <p:cNvPr id="17" name="Shape 14"/>
          <p:cNvSpPr/>
          <p:nvPr/>
        </p:nvSpPr>
        <p:spPr>
          <a:xfrm>
            <a:off x="3840480" y="3909060"/>
            <a:ext cx="1371600" cy="411480"/>
          </a:xfrm>
          <a:prstGeom prst="flowChartProcess">
            <a:avLst/>
          </a:prstGeom>
          <a:solidFill>
            <a:srgbClr val="FFFFFF"/>
          </a:solidFill>
          <a:ln w="15875">
            <a:solidFill>
              <a:srgbClr val="14213D"/>
            </a:solidFill>
            <a:prstDash val="solid"/>
          </a:ln>
        </p:spPr>
      </p:sp>
      <p:sp>
        <p:nvSpPr>
          <p:cNvPr id="18" name="Text 15"/>
          <p:cNvSpPr txBox="1"/>
          <p:nvPr/>
        </p:nvSpPr>
        <p:spPr>
          <a:xfrm>
            <a:off x="3886200" y="3909060"/>
            <a:ext cx="1280160" cy="41148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block 3</a:t>
            </a:r>
            <a:endParaRPr lang="en-US" sz="1200" dirty="0"/>
          </a:p>
        </p:txBody>
      </p:sp>
      <p:sp>
        <p:nvSpPr>
          <p:cNvPr id="19" name="Shape 16"/>
          <p:cNvSpPr/>
          <p:nvPr/>
        </p:nvSpPr>
        <p:spPr>
          <a:xfrm>
            <a:off x="1463040" y="4869180"/>
            <a:ext cx="1371600" cy="411480"/>
          </a:xfrm>
          <a:prstGeom prst="flowChartProcess">
            <a:avLst/>
          </a:prstGeom>
          <a:solidFill>
            <a:srgbClr val="FFFFFF"/>
          </a:solidFill>
          <a:ln w="15875">
            <a:solidFill>
              <a:srgbClr val="14213D"/>
            </a:solidFill>
            <a:prstDash val="solid"/>
          </a:ln>
        </p:spPr>
      </p:sp>
      <p:sp>
        <p:nvSpPr>
          <p:cNvPr id="20" name="Text 17"/>
          <p:cNvSpPr txBox="1"/>
          <p:nvPr/>
        </p:nvSpPr>
        <p:spPr>
          <a:xfrm>
            <a:off x="1508760" y="4869180"/>
            <a:ext cx="1280160" cy="41148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block 4</a:t>
            </a:r>
            <a:endParaRPr lang="en-US" sz="1200" dirty="0"/>
          </a:p>
        </p:txBody>
      </p:sp>
      <p:sp>
        <p:nvSpPr>
          <p:cNvPr id="21" name="Shape 18"/>
          <p:cNvSpPr/>
          <p:nvPr/>
        </p:nvSpPr>
        <p:spPr>
          <a:xfrm>
            <a:off x="3017520" y="5641848"/>
            <a:ext cx="1828800" cy="384048"/>
          </a:xfrm>
          <a:prstGeom prst="flowChartProcess">
            <a:avLst/>
          </a:prstGeom>
          <a:solidFill>
            <a:srgbClr val="FFFFFF"/>
          </a:solidFill>
          <a:ln w="15875">
            <a:solidFill>
              <a:srgbClr val="14213D"/>
            </a:solidFill>
            <a:prstDash val="solid"/>
          </a:ln>
        </p:spPr>
      </p:sp>
      <p:sp>
        <p:nvSpPr>
          <p:cNvPr id="22" name="Text 19"/>
          <p:cNvSpPr txBox="1"/>
          <p:nvPr/>
        </p:nvSpPr>
        <p:spPr>
          <a:xfrm>
            <a:off x="3063240" y="5641848"/>
            <a:ext cx="1737360" cy="384048"/>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next statement</a:t>
            </a:r>
            <a:endParaRPr lang="en-US" sz="1200" dirty="0"/>
          </a:p>
        </p:txBody>
      </p:sp>
      <p:sp>
        <p:nvSpPr>
          <p:cNvPr id="23" name="Shape 20"/>
          <p:cNvSpPr/>
          <p:nvPr/>
        </p:nvSpPr>
        <p:spPr>
          <a:xfrm>
            <a:off x="3200400" y="2011680"/>
            <a:ext cx="640080" cy="0"/>
          </a:xfrm>
          <a:prstGeom prst="line">
            <a:avLst/>
          </a:prstGeom>
          <a:noFill/>
          <a:ln w="15875">
            <a:solidFill>
              <a:srgbClr val="14213D"/>
            </a:solidFill>
            <a:prstDash val="solid"/>
            <a:tailEnd type="triangle"/>
          </a:ln>
        </p:spPr>
      </p:sp>
      <p:sp>
        <p:nvSpPr>
          <p:cNvPr id="24" name="Text 21"/>
          <p:cNvSpPr txBox="1"/>
          <p:nvPr/>
        </p:nvSpPr>
        <p:spPr>
          <a:xfrm>
            <a:off x="3218688" y="1737360"/>
            <a:ext cx="548640" cy="228600"/>
          </a:xfrm>
          <a:prstGeom prst="rect">
            <a:avLst/>
          </a:prstGeom>
          <a:noFill/>
          <a:ln/>
        </p:spPr>
        <p:txBody>
          <a:bodyPr wrap="square" lIns="0" tIns="0" rIns="0" bIns="0" rtlCol="0" anchor="ctr"/>
          <a:lstStyle/>
          <a:p>
            <a:pPr indent="0" marL="0">
              <a:buNone/>
            </a:pPr>
            <a:r>
              <a:rPr lang="en-US" sz="1200" b="1" dirty="0">
                <a:solidFill>
                  <a:srgbClr val="2E9E6A"/>
                </a:solidFill>
                <a:latin typeface="Calibri" pitchFamily="34" charset="0"/>
                <a:ea typeface="Calibri" pitchFamily="34" charset="-122"/>
                <a:cs typeface="Calibri" pitchFamily="34" charset="-120"/>
              </a:rPr>
              <a:t>true</a:t>
            </a:r>
            <a:endParaRPr lang="en-US" sz="1200" dirty="0"/>
          </a:p>
        </p:txBody>
      </p:sp>
      <p:sp>
        <p:nvSpPr>
          <p:cNvPr id="25" name="Shape 22"/>
          <p:cNvSpPr/>
          <p:nvPr/>
        </p:nvSpPr>
        <p:spPr>
          <a:xfrm>
            <a:off x="5212080" y="2011680"/>
            <a:ext cx="502920" cy="0"/>
          </a:xfrm>
          <a:prstGeom prst="line">
            <a:avLst/>
          </a:prstGeom>
          <a:noFill/>
          <a:ln w="15875">
            <a:solidFill>
              <a:srgbClr val="14213D"/>
            </a:solidFill>
            <a:prstDash val="solid"/>
          </a:ln>
        </p:spPr>
      </p:sp>
      <p:sp>
        <p:nvSpPr>
          <p:cNvPr id="26" name="Shape 23"/>
          <p:cNvSpPr/>
          <p:nvPr/>
        </p:nvSpPr>
        <p:spPr>
          <a:xfrm>
            <a:off x="3200400" y="3063240"/>
            <a:ext cx="640080" cy="0"/>
          </a:xfrm>
          <a:prstGeom prst="line">
            <a:avLst/>
          </a:prstGeom>
          <a:noFill/>
          <a:ln w="15875">
            <a:solidFill>
              <a:srgbClr val="14213D"/>
            </a:solidFill>
            <a:prstDash val="solid"/>
            <a:tailEnd type="triangle"/>
          </a:ln>
        </p:spPr>
      </p:sp>
      <p:sp>
        <p:nvSpPr>
          <p:cNvPr id="27" name="Text 24"/>
          <p:cNvSpPr txBox="1"/>
          <p:nvPr/>
        </p:nvSpPr>
        <p:spPr>
          <a:xfrm>
            <a:off x="3218688" y="2788920"/>
            <a:ext cx="548640" cy="228600"/>
          </a:xfrm>
          <a:prstGeom prst="rect">
            <a:avLst/>
          </a:prstGeom>
          <a:noFill/>
          <a:ln/>
        </p:spPr>
        <p:txBody>
          <a:bodyPr wrap="square" lIns="0" tIns="0" rIns="0" bIns="0" rtlCol="0" anchor="ctr"/>
          <a:lstStyle/>
          <a:p>
            <a:pPr indent="0" marL="0">
              <a:buNone/>
            </a:pPr>
            <a:r>
              <a:rPr lang="en-US" sz="1200" b="1" dirty="0">
                <a:solidFill>
                  <a:srgbClr val="2E9E6A"/>
                </a:solidFill>
                <a:latin typeface="Calibri" pitchFamily="34" charset="0"/>
                <a:ea typeface="Calibri" pitchFamily="34" charset="-122"/>
                <a:cs typeface="Calibri" pitchFamily="34" charset="-120"/>
              </a:rPr>
              <a:t>true</a:t>
            </a:r>
            <a:endParaRPr lang="en-US" sz="1200" dirty="0"/>
          </a:p>
        </p:txBody>
      </p:sp>
      <p:sp>
        <p:nvSpPr>
          <p:cNvPr id="28" name="Shape 25"/>
          <p:cNvSpPr/>
          <p:nvPr/>
        </p:nvSpPr>
        <p:spPr>
          <a:xfrm>
            <a:off x="5212080" y="3063240"/>
            <a:ext cx="502920" cy="0"/>
          </a:xfrm>
          <a:prstGeom prst="line">
            <a:avLst/>
          </a:prstGeom>
          <a:noFill/>
          <a:ln w="15875">
            <a:solidFill>
              <a:srgbClr val="14213D"/>
            </a:solidFill>
            <a:prstDash val="solid"/>
          </a:ln>
        </p:spPr>
      </p:sp>
      <p:sp>
        <p:nvSpPr>
          <p:cNvPr id="29" name="Shape 26"/>
          <p:cNvSpPr/>
          <p:nvPr/>
        </p:nvSpPr>
        <p:spPr>
          <a:xfrm>
            <a:off x="3200400" y="4114800"/>
            <a:ext cx="640080" cy="0"/>
          </a:xfrm>
          <a:prstGeom prst="line">
            <a:avLst/>
          </a:prstGeom>
          <a:noFill/>
          <a:ln w="15875">
            <a:solidFill>
              <a:srgbClr val="14213D"/>
            </a:solidFill>
            <a:prstDash val="solid"/>
            <a:tailEnd type="triangle"/>
          </a:ln>
        </p:spPr>
      </p:sp>
      <p:sp>
        <p:nvSpPr>
          <p:cNvPr id="30" name="Text 27"/>
          <p:cNvSpPr txBox="1"/>
          <p:nvPr/>
        </p:nvSpPr>
        <p:spPr>
          <a:xfrm>
            <a:off x="3218688" y="3840480"/>
            <a:ext cx="548640" cy="228600"/>
          </a:xfrm>
          <a:prstGeom prst="rect">
            <a:avLst/>
          </a:prstGeom>
          <a:noFill/>
          <a:ln/>
        </p:spPr>
        <p:txBody>
          <a:bodyPr wrap="square" lIns="0" tIns="0" rIns="0" bIns="0" rtlCol="0" anchor="ctr"/>
          <a:lstStyle/>
          <a:p>
            <a:pPr indent="0" marL="0">
              <a:buNone/>
            </a:pPr>
            <a:r>
              <a:rPr lang="en-US" sz="1200" b="1" dirty="0">
                <a:solidFill>
                  <a:srgbClr val="2E9E6A"/>
                </a:solidFill>
                <a:latin typeface="Calibri" pitchFamily="34" charset="0"/>
                <a:ea typeface="Calibri" pitchFamily="34" charset="-122"/>
                <a:cs typeface="Calibri" pitchFamily="34" charset="-120"/>
              </a:rPr>
              <a:t>true</a:t>
            </a:r>
            <a:endParaRPr lang="en-US" sz="1200" dirty="0"/>
          </a:p>
        </p:txBody>
      </p:sp>
      <p:sp>
        <p:nvSpPr>
          <p:cNvPr id="31" name="Shape 28"/>
          <p:cNvSpPr/>
          <p:nvPr/>
        </p:nvSpPr>
        <p:spPr>
          <a:xfrm>
            <a:off x="5212080" y="4114800"/>
            <a:ext cx="502920" cy="0"/>
          </a:xfrm>
          <a:prstGeom prst="line">
            <a:avLst/>
          </a:prstGeom>
          <a:noFill/>
          <a:ln w="15875">
            <a:solidFill>
              <a:srgbClr val="14213D"/>
            </a:solidFill>
            <a:prstDash val="solid"/>
          </a:ln>
        </p:spPr>
      </p:sp>
      <p:sp>
        <p:nvSpPr>
          <p:cNvPr id="32" name="Shape 29"/>
          <p:cNvSpPr/>
          <p:nvPr/>
        </p:nvSpPr>
        <p:spPr>
          <a:xfrm>
            <a:off x="2148840" y="2377440"/>
            <a:ext cx="0" cy="320040"/>
          </a:xfrm>
          <a:prstGeom prst="line">
            <a:avLst/>
          </a:prstGeom>
          <a:noFill/>
          <a:ln w="15875">
            <a:solidFill>
              <a:srgbClr val="14213D"/>
            </a:solidFill>
            <a:prstDash val="solid"/>
            <a:tailEnd type="triangle"/>
          </a:ln>
        </p:spPr>
      </p:sp>
      <p:sp>
        <p:nvSpPr>
          <p:cNvPr id="33" name="Shape 30"/>
          <p:cNvSpPr/>
          <p:nvPr/>
        </p:nvSpPr>
        <p:spPr>
          <a:xfrm>
            <a:off x="2148840" y="3429000"/>
            <a:ext cx="0" cy="320040"/>
          </a:xfrm>
          <a:prstGeom prst="line">
            <a:avLst/>
          </a:prstGeom>
          <a:noFill/>
          <a:ln w="15875">
            <a:solidFill>
              <a:srgbClr val="14213D"/>
            </a:solidFill>
            <a:prstDash val="solid"/>
            <a:tailEnd type="triangle"/>
          </a:ln>
        </p:spPr>
      </p:sp>
      <p:sp>
        <p:nvSpPr>
          <p:cNvPr id="34" name="Shape 31"/>
          <p:cNvSpPr/>
          <p:nvPr/>
        </p:nvSpPr>
        <p:spPr>
          <a:xfrm>
            <a:off x="2148840" y="4480560"/>
            <a:ext cx="0" cy="388620"/>
          </a:xfrm>
          <a:prstGeom prst="line">
            <a:avLst/>
          </a:prstGeom>
          <a:noFill/>
          <a:ln w="15875">
            <a:solidFill>
              <a:srgbClr val="14213D"/>
            </a:solidFill>
            <a:prstDash val="solid"/>
            <a:tailEnd type="triangle"/>
          </a:ln>
        </p:spPr>
      </p:sp>
      <p:sp>
        <p:nvSpPr>
          <p:cNvPr id="35" name="Text 32"/>
          <p:cNvSpPr txBox="1"/>
          <p:nvPr/>
        </p:nvSpPr>
        <p:spPr>
          <a:xfrm>
            <a:off x="2221992" y="2359152"/>
            <a:ext cx="548640" cy="228600"/>
          </a:xfrm>
          <a:prstGeom prst="rect">
            <a:avLst/>
          </a:prstGeom>
          <a:noFill/>
          <a:ln/>
        </p:spPr>
        <p:txBody>
          <a:bodyPr wrap="square" lIns="0" tIns="0" rIns="0" bIns="0" rtlCol="0" anchor="ctr"/>
          <a:lstStyle/>
          <a:p>
            <a:pPr indent="0" marL="0">
              <a:buNone/>
            </a:pPr>
            <a:r>
              <a:rPr lang="en-US" sz="1200" b="1" dirty="0">
                <a:solidFill>
                  <a:srgbClr val="C8453B"/>
                </a:solidFill>
                <a:latin typeface="Calibri" pitchFamily="34" charset="0"/>
                <a:ea typeface="Calibri" pitchFamily="34" charset="-122"/>
                <a:cs typeface="Calibri" pitchFamily="34" charset="-120"/>
              </a:rPr>
              <a:t>false</a:t>
            </a:r>
            <a:endParaRPr lang="en-US" sz="1200" dirty="0"/>
          </a:p>
        </p:txBody>
      </p:sp>
      <p:sp>
        <p:nvSpPr>
          <p:cNvPr id="36" name="Text 33"/>
          <p:cNvSpPr txBox="1"/>
          <p:nvPr/>
        </p:nvSpPr>
        <p:spPr>
          <a:xfrm>
            <a:off x="2221992" y="3410712"/>
            <a:ext cx="548640" cy="228600"/>
          </a:xfrm>
          <a:prstGeom prst="rect">
            <a:avLst/>
          </a:prstGeom>
          <a:noFill/>
          <a:ln/>
        </p:spPr>
        <p:txBody>
          <a:bodyPr wrap="square" lIns="0" tIns="0" rIns="0" bIns="0" rtlCol="0" anchor="ctr"/>
          <a:lstStyle/>
          <a:p>
            <a:pPr indent="0" marL="0">
              <a:buNone/>
            </a:pPr>
            <a:r>
              <a:rPr lang="en-US" sz="1200" b="1" dirty="0">
                <a:solidFill>
                  <a:srgbClr val="C8453B"/>
                </a:solidFill>
                <a:latin typeface="Calibri" pitchFamily="34" charset="0"/>
                <a:ea typeface="Calibri" pitchFamily="34" charset="-122"/>
                <a:cs typeface="Calibri" pitchFamily="34" charset="-120"/>
              </a:rPr>
              <a:t>false</a:t>
            </a:r>
            <a:endParaRPr lang="en-US" sz="1200" dirty="0"/>
          </a:p>
        </p:txBody>
      </p:sp>
      <p:sp>
        <p:nvSpPr>
          <p:cNvPr id="37" name="Text 34"/>
          <p:cNvSpPr txBox="1"/>
          <p:nvPr/>
        </p:nvSpPr>
        <p:spPr>
          <a:xfrm>
            <a:off x="2221992" y="4462272"/>
            <a:ext cx="548640" cy="228600"/>
          </a:xfrm>
          <a:prstGeom prst="rect">
            <a:avLst/>
          </a:prstGeom>
          <a:noFill/>
          <a:ln/>
        </p:spPr>
        <p:txBody>
          <a:bodyPr wrap="square" lIns="0" tIns="0" rIns="0" bIns="0" rtlCol="0" anchor="ctr"/>
          <a:lstStyle/>
          <a:p>
            <a:pPr indent="0" marL="0">
              <a:buNone/>
            </a:pPr>
            <a:r>
              <a:rPr lang="en-US" sz="1200" b="1" dirty="0">
                <a:solidFill>
                  <a:srgbClr val="C8453B"/>
                </a:solidFill>
                <a:latin typeface="Calibri" pitchFamily="34" charset="0"/>
                <a:ea typeface="Calibri" pitchFamily="34" charset="-122"/>
                <a:cs typeface="Calibri" pitchFamily="34" charset="-120"/>
              </a:rPr>
              <a:t>false</a:t>
            </a:r>
            <a:endParaRPr lang="en-US" sz="1200" dirty="0"/>
          </a:p>
        </p:txBody>
      </p:sp>
      <p:sp>
        <p:nvSpPr>
          <p:cNvPr id="38" name="Shape 35"/>
          <p:cNvSpPr/>
          <p:nvPr/>
        </p:nvSpPr>
        <p:spPr>
          <a:xfrm>
            <a:off x="2148840" y="5280660"/>
            <a:ext cx="0" cy="160020"/>
          </a:xfrm>
          <a:prstGeom prst="line">
            <a:avLst/>
          </a:prstGeom>
          <a:noFill/>
          <a:ln w="15875">
            <a:solidFill>
              <a:srgbClr val="14213D"/>
            </a:solidFill>
            <a:prstDash val="solid"/>
          </a:ln>
        </p:spPr>
      </p:sp>
      <p:sp>
        <p:nvSpPr>
          <p:cNvPr id="39" name="Shape 36"/>
          <p:cNvSpPr/>
          <p:nvPr/>
        </p:nvSpPr>
        <p:spPr>
          <a:xfrm>
            <a:off x="2148840" y="5440680"/>
            <a:ext cx="3566160" cy="0"/>
          </a:xfrm>
          <a:prstGeom prst="line">
            <a:avLst/>
          </a:prstGeom>
          <a:noFill/>
          <a:ln w="15875">
            <a:solidFill>
              <a:srgbClr val="14213D"/>
            </a:solidFill>
            <a:prstDash val="solid"/>
          </a:ln>
        </p:spPr>
      </p:sp>
      <p:sp>
        <p:nvSpPr>
          <p:cNvPr id="40" name="Shape 37"/>
          <p:cNvSpPr/>
          <p:nvPr/>
        </p:nvSpPr>
        <p:spPr>
          <a:xfrm>
            <a:off x="5715000" y="2011680"/>
            <a:ext cx="0" cy="3822192"/>
          </a:xfrm>
          <a:prstGeom prst="line">
            <a:avLst/>
          </a:prstGeom>
          <a:noFill/>
          <a:ln w="15875">
            <a:solidFill>
              <a:srgbClr val="14213D"/>
            </a:solidFill>
            <a:prstDash val="solid"/>
          </a:ln>
        </p:spPr>
      </p:sp>
      <p:sp>
        <p:nvSpPr>
          <p:cNvPr id="41" name="Shape 38"/>
          <p:cNvSpPr/>
          <p:nvPr/>
        </p:nvSpPr>
        <p:spPr>
          <a:xfrm flipH="1">
            <a:off x="4846320" y="5833872"/>
            <a:ext cx="868680" cy="0"/>
          </a:xfrm>
          <a:prstGeom prst="line">
            <a:avLst/>
          </a:prstGeom>
          <a:noFill/>
          <a:ln w="15875">
            <a:solidFill>
              <a:srgbClr val="14213D"/>
            </a:solidFill>
            <a:prstDash val="solid"/>
            <a:tailEnd type="triangle"/>
          </a:ln>
        </p:spPr>
      </p:sp>
      <p:sp>
        <p:nvSpPr>
          <p:cNvPr id="42" name="Shape 39"/>
          <p:cNvSpPr/>
          <p:nvPr/>
        </p:nvSpPr>
        <p:spPr>
          <a:xfrm>
            <a:off x="6263640" y="1600200"/>
            <a:ext cx="5394960" cy="3749040"/>
          </a:xfrm>
          <a:prstGeom prst="roundRect">
            <a:avLst>
              <a:gd name="adj" fmla="val 2439"/>
            </a:avLst>
          </a:prstGeom>
          <a:solidFill>
            <a:srgbClr val="0F1729"/>
          </a:solidFill>
          <a:ln w="12700">
            <a:solidFill>
              <a:srgbClr val="0F1729"/>
            </a:solidFill>
            <a:prstDash val="solid"/>
          </a:ln>
        </p:spPr>
      </p:sp>
      <p:sp>
        <p:nvSpPr>
          <p:cNvPr id="43" name="Text 40"/>
          <p:cNvSpPr txBox="1"/>
          <p:nvPr/>
        </p:nvSpPr>
        <p:spPr>
          <a:xfrm>
            <a:off x="6492240" y="1746504"/>
            <a:ext cx="4937760" cy="3511296"/>
          </a:xfrm>
          <a:prstGeom prst="rect">
            <a:avLst/>
          </a:prstGeom>
          <a:noFill/>
          <a:ln/>
        </p:spPr>
        <p:txBody>
          <a:bodyPr wrap="square" lIns="0" tIns="0" rIns="0" bIns="0" rtlCol="0" anchor="t"/>
          <a:lstStyle/>
          <a:p>
            <a:pPr indent="0" marL="0">
              <a:lnSpc>
                <a:spcPts val="1400"/>
              </a:lnSpc>
              <a:buNone/>
            </a:pPr>
            <a:r>
              <a:rPr lang="en-US" sz="1300" dirty="0">
                <a:solidFill>
                  <a:srgbClr val="7AB8FF"/>
                </a:solidFill>
                <a:latin typeface="Courier New" pitchFamily="34" charset="0"/>
                <a:ea typeface="Courier New" pitchFamily="34" charset="-122"/>
                <a:cs typeface="Courier New" pitchFamily="34" charset="-120"/>
              </a:rPr>
              <a:t>if</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(condition1)</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300" dirty="0">
                <a:solidFill>
                  <a:srgbClr val="7F8BA3"/>
                </a:solidFill>
                <a:latin typeface="Courier New" pitchFamily="34" charset="0"/>
                <a:ea typeface="Courier New" pitchFamily="34" charset="-122"/>
                <a:cs typeface="Courier New" pitchFamily="34" charset="-120"/>
              </a:rPr>
              <a:t>// block 1</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7AB8FF"/>
                </a:solidFill>
                <a:latin typeface="Courier New" pitchFamily="34" charset="0"/>
                <a:ea typeface="Courier New" pitchFamily="34" charset="-122"/>
                <a:cs typeface="Courier New" pitchFamily="34" charset="-120"/>
              </a:rPr>
              <a:t>else</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300" dirty="0">
                <a:solidFill>
                  <a:srgbClr val="7AB8FF"/>
                </a:solidFill>
                <a:latin typeface="Courier New" pitchFamily="34" charset="0"/>
                <a:ea typeface="Courier New" pitchFamily="34" charset="-122"/>
                <a:cs typeface="Courier New" pitchFamily="34" charset="-120"/>
              </a:rPr>
              <a:t>if</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(condition2)</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300" dirty="0">
                <a:solidFill>
                  <a:srgbClr val="7F8BA3"/>
                </a:solidFill>
                <a:latin typeface="Courier New" pitchFamily="34" charset="0"/>
                <a:ea typeface="Courier New" pitchFamily="34" charset="-122"/>
                <a:cs typeface="Courier New" pitchFamily="34" charset="-120"/>
              </a:rPr>
              <a:t>// block 2</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7AB8FF"/>
                </a:solidFill>
                <a:latin typeface="Courier New" pitchFamily="34" charset="0"/>
                <a:ea typeface="Courier New" pitchFamily="34" charset="-122"/>
                <a:cs typeface="Courier New" pitchFamily="34" charset="-120"/>
              </a:rPr>
              <a:t>else</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300" dirty="0">
                <a:solidFill>
                  <a:srgbClr val="7AB8FF"/>
                </a:solidFill>
                <a:latin typeface="Courier New" pitchFamily="34" charset="0"/>
                <a:ea typeface="Courier New" pitchFamily="34" charset="-122"/>
                <a:cs typeface="Courier New" pitchFamily="34" charset="-120"/>
              </a:rPr>
              <a:t>if</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(condition3)</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300" dirty="0">
                <a:solidFill>
                  <a:srgbClr val="7F8BA3"/>
                </a:solidFill>
                <a:latin typeface="Courier New" pitchFamily="34" charset="0"/>
                <a:ea typeface="Courier New" pitchFamily="34" charset="-122"/>
                <a:cs typeface="Courier New" pitchFamily="34" charset="-120"/>
              </a:rPr>
              <a:t>// block 3</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7AB8FF"/>
                </a:solidFill>
                <a:latin typeface="Courier New" pitchFamily="34" charset="0"/>
                <a:ea typeface="Courier New" pitchFamily="34" charset="-122"/>
                <a:cs typeface="Courier New" pitchFamily="34" charset="-120"/>
              </a:rPr>
              <a:t>else</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300" dirty="0">
                <a:solidFill>
                  <a:srgbClr val="7F8BA3"/>
                </a:solidFill>
                <a:latin typeface="Courier New" pitchFamily="34" charset="0"/>
                <a:ea typeface="Courier New" pitchFamily="34" charset="-122"/>
                <a:cs typeface="Courier New" pitchFamily="34" charset="-120"/>
              </a:rPr>
              <a:t>// block 4: none was true</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44" name="Shape 41"/>
          <p:cNvSpPr/>
          <p:nvPr/>
        </p:nvSpPr>
        <p:spPr>
          <a:xfrm>
            <a:off x="6263640" y="5440680"/>
            <a:ext cx="5394960" cy="685800"/>
          </a:xfrm>
          <a:prstGeom prst="roundRect">
            <a:avLst>
              <a:gd name="adj" fmla="val 16000"/>
            </a:avLst>
          </a:prstGeom>
          <a:solidFill>
            <a:srgbClr val="E3ECF8"/>
          </a:solidFill>
          <a:ln w="12700">
            <a:solidFill>
              <a:srgbClr val="E3ECF8"/>
            </a:solidFill>
            <a:prstDash val="solid"/>
          </a:ln>
        </p:spPr>
      </p:sp>
      <p:pic>
        <p:nvPicPr>
          <p:cNvPr id="45" name="Image 0" descr="preencoded.png">    </p:cNvPr>
          <p:cNvPicPr>
            <a:picLocks noChangeAspect="1"/>
          </p:cNvPicPr>
          <p:nvPr/>
        </p:nvPicPr>
        <p:blipFill>
          <a:blip r:embed="rId1"/>
          <a:stretch>
            <a:fillRect/>
          </a:stretch>
        </p:blipFill>
        <p:spPr>
          <a:xfrm>
            <a:off x="6537960" y="5577840"/>
            <a:ext cx="411480" cy="411480"/>
          </a:xfrm>
          <a:prstGeom prst="rect">
            <a:avLst/>
          </a:prstGeom>
        </p:spPr>
      </p:pic>
      <p:sp>
        <p:nvSpPr>
          <p:cNvPr id="46" name="Text 42"/>
          <p:cNvSpPr txBox="1"/>
          <p:nvPr/>
        </p:nvSpPr>
        <p:spPr>
          <a:xfrm>
            <a:off x="7223760" y="5513832"/>
            <a:ext cx="4160520" cy="539496"/>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Exactly ONE block runs. </a:t>
            </a:r>
            <a:pPr indent="0" marL="0">
              <a:buNone/>
            </a:pPr>
            <a:r>
              <a:rPr lang="en-US" sz="1400" dirty="0">
                <a:solidFill>
                  <a:srgbClr val="333B4F"/>
                </a:solidFill>
                <a:latin typeface="Calibri" pitchFamily="34" charset="0"/>
                <a:ea typeface="Calibri" pitchFamily="34" charset="-122"/>
                <a:cs typeface="Calibri" pitchFamily="34" charset="-120"/>
              </a:rPr>
              <a:t>Later conditions are not even tested.</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PART 2 · ORDER MATTERS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Order Matters: the Ladder Stops at the First Match</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11</a:t>
            </a:r>
            <a:endParaRPr lang="en-US" sz="1000" dirty="0"/>
          </a:p>
        </p:txBody>
      </p:sp>
      <p:sp>
        <p:nvSpPr>
          <p:cNvPr id="7" name="Shape 4"/>
          <p:cNvSpPr/>
          <p:nvPr/>
        </p:nvSpPr>
        <p:spPr>
          <a:xfrm>
            <a:off x="548640" y="1600200"/>
            <a:ext cx="5394960" cy="4526280"/>
          </a:xfrm>
          <a:prstGeom prst="roundRect">
            <a:avLst>
              <a:gd name="adj" fmla="val 2020"/>
            </a:avLst>
          </a:prstGeom>
          <a:solidFill>
            <a:srgbClr val="0F1729"/>
          </a:solidFill>
          <a:ln w="12700">
            <a:solidFill>
              <a:srgbClr val="0F1729"/>
            </a:solidFill>
            <a:prstDash val="solid"/>
          </a:ln>
        </p:spPr>
      </p:sp>
      <p:sp>
        <p:nvSpPr>
          <p:cNvPr id="8" name="Text 5"/>
          <p:cNvSpPr txBox="1"/>
          <p:nvPr/>
        </p:nvSpPr>
        <p:spPr>
          <a:xfrm>
            <a:off x="777240" y="1709928"/>
            <a:ext cx="49377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WRONG order (shortened scale)</a:t>
            </a:r>
            <a:endParaRPr lang="en-US" sz="1100" dirty="0"/>
          </a:p>
        </p:txBody>
      </p:sp>
      <p:sp>
        <p:nvSpPr>
          <p:cNvPr id="9" name="Text 6"/>
          <p:cNvSpPr txBox="1"/>
          <p:nvPr/>
        </p:nvSpPr>
        <p:spPr>
          <a:xfrm>
            <a:off x="777240" y="2011680"/>
            <a:ext cx="4937760" cy="4023360"/>
          </a:xfrm>
          <a:prstGeom prst="rect">
            <a:avLst/>
          </a:prstGeom>
          <a:noFill/>
          <a:ln/>
        </p:spPr>
        <p:txBody>
          <a:bodyPr wrap="square" lIns="0" tIns="0" rIns="0" bIns="0" rtlCol="0" anchor="t"/>
          <a:lstStyle/>
          <a:p>
            <a:pPr indent="0" marL="0">
              <a:lnSpc>
                <a:spcPts val="1500"/>
              </a:lnSpc>
              <a:buNone/>
            </a:pPr>
            <a:r>
              <a:rPr lang="en-US" sz="1300" dirty="0">
                <a:solidFill>
                  <a:srgbClr val="4EC9B0"/>
                </a:solidFill>
                <a:latin typeface="Courier New" pitchFamily="34" charset="0"/>
                <a:ea typeface="Courier New" pitchFamily="34" charset="-122"/>
                <a:cs typeface="Courier New" pitchFamily="34" charset="-120"/>
              </a:rPr>
              <a:t>string</a:t>
            </a:r>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 letter;</a:t>
            </a:r>
            <a:endParaRPr lang="en-US" sz="1300" dirty="0"/>
          </a:p>
          <a:p>
            <a:pPr indent="0" marL="0">
              <a:lnSpc>
                <a:spcPts val="1500"/>
              </a:lnSpc>
              <a:buNone/>
            </a:pPr>
            <a:r>
              <a:rPr lang="en-US" sz="1300" dirty="0">
                <a:solidFill>
                  <a:srgbClr val="7AB8FF"/>
                </a:solidFill>
                <a:latin typeface="Courier New" pitchFamily="34" charset="0"/>
                <a:ea typeface="Courier New" pitchFamily="34" charset="-122"/>
                <a:cs typeface="Courier New" pitchFamily="34" charset="-120"/>
              </a:rPr>
              <a:t>if</a:t>
            </a:r>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 (score &gt;= </a:t>
            </a:r>
            <a:pPr indent="0" marL="0">
              <a:lnSpc>
                <a:spcPts val="1500"/>
              </a:lnSpc>
              <a:buNone/>
            </a:pPr>
            <a:r>
              <a:rPr lang="en-US" sz="1300" dirty="0">
                <a:solidFill>
                  <a:srgbClr val="B5CEA8"/>
                </a:solidFill>
                <a:latin typeface="Courier New" pitchFamily="34" charset="0"/>
                <a:ea typeface="Courier New" pitchFamily="34" charset="-122"/>
                <a:cs typeface="Courier New" pitchFamily="34" charset="-120"/>
              </a:rPr>
              <a:t>60</a:t>
            </a:r>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    letter = </a:t>
            </a:r>
            <a:pPr indent="0" marL="0">
              <a:lnSpc>
                <a:spcPts val="1500"/>
              </a:lnSpc>
              <a:buNone/>
            </a:pPr>
            <a:r>
              <a:rPr lang="en-US" sz="1300" dirty="0">
                <a:solidFill>
                  <a:srgbClr val="CE9178"/>
                </a:solidFill>
                <a:latin typeface="Courier New" pitchFamily="34" charset="0"/>
                <a:ea typeface="Courier New" pitchFamily="34" charset="-122"/>
                <a:cs typeface="Courier New" pitchFamily="34" charset="-120"/>
              </a:rPr>
              <a:t>"DD"</a:t>
            </a:r>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500"/>
              </a:lnSpc>
              <a:buNone/>
            </a:pPr>
            <a:r>
              <a:rPr lang="en-US" sz="1300" dirty="0">
                <a:solidFill>
                  <a:srgbClr val="7AB8FF"/>
                </a:solidFill>
                <a:latin typeface="Courier New" pitchFamily="34" charset="0"/>
                <a:ea typeface="Courier New" pitchFamily="34" charset="-122"/>
                <a:cs typeface="Courier New" pitchFamily="34" charset="-120"/>
              </a:rPr>
              <a:t>else</a:t>
            </a:r>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500"/>
              </a:lnSpc>
              <a:buNone/>
            </a:pPr>
            <a:r>
              <a:rPr lang="en-US" sz="1300" dirty="0">
                <a:solidFill>
                  <a:srgbClr val="7AB8FF"/>
                </a:solidFill>
                <a:latin typeface="Courier New" pitchFamily="34" charset="0"/>
                <a:ea typeface="Courier New" pitchFamily="34" charset="-122"/>
                <a:cs typeface="Courier New" pitchFamily="34" charset="-120"/>
              </a:rPr>
              <a:t>if</a:t>
            </a:r>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 (score &gt;= </a:t>
            </a:r>
            <a:pPr indent="0" marL="0">
              <a:lnSpc>
                <a:spcPts val="1500"/>
              </a:lnSpc>
              <a:buNone/>
            </a:pPr>
            <a:r>
              <a:rPr lang="en-US" sz="1300" dirty="0">
                <a:solidFill>
                  <a:srgbClr val="B5CEA8"/>
                </a:solidFill>
                <a:latin typeface="Courier New" pitchFamily="34" charset="0"/>
                <a:ea typeface="Courier New" pitchFamily="34" charset="-122"/>
                <a:cs typeface="Courier New" pitchFamily="34" charset="-120"/>
              </a:rPr>
              <a:t>80</a:t>
            </a:r>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    letter = </a:t>
            </a:r>
            <a:pPr indent="0" marL="0">
              <a:lnSpc>
                <a:spcPts val="1500"/>
              </a:lnSpc>
              <a:buNone/>
            </a:pPr>
            <a:r>
              <a:rPr lang="en-US" sz="1300" dirty="0">
                <a:solidFill>
                  <a:srgbClr val="CE9178"/>
                </a:solidFill>
                <a:latin typeface="Courier New" pitchFamily="34" charset="0"/>
                <a:ea typeface="Courier New" pitchFamily="34" charset="-122"/>
                <a:cs typeface="Courier New" pitchFamily="34" charset="-120"/>
              </a:rPr>
              <a:t>"BB"</a:t>
            </a:r>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500"/>
              </a:lnSpc>
              <a:buNone/>
            </a:pPr>
            <a:r>
              <a:rPr lang="en-US" sz="1300" dirty="0">
                <a:solidFill>
                  <a:srgbClr val="7F8BA3"/>
                </a:solidFill>
                <a:latin typeface="Courier New" pitchFamily="34" charset="0"/>
                <a:ea typeface="Courier New" pitchFamily="34" charset="-122"/>
                <a:cs typeface="Courier New" pitchFamily="34" charset="-120"/>
              </a:rPr>
              <a:t>// never reached!</a:t>
            </a:r>
            <a:endParaRPr lang="en-US" sz="1300" dirty="0"/>
          </a:p>
          <a:p>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500"/>
              </a:lnSpc>
              <a:buNone/>
            </a:pPr>
            <a:r>
              <a:rPr lang="en-US" sz="1300" dirty="0">
                <a:solidFill>
                  <a:srgbClr val="7AB8FF"/>
                </a:solidFill>
                <a:latin typeface="Courier New" pitchFamily="34" charset="0"/>
                <a:ea typeface="Courier New" pitchFamily="34" charset="-122"/>
                <a:cs typeface="Courier New" pitchFamily="34" charset="-120"/>
              </a:rPr>
              <a:t>else</a:t>
            </a:r>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500"/>
              </a:lnSpc>
              <a:buNone/>
            </a:pPr>
            <a:r>
              <a:rPr lang="en-US" sz="1300" dirty="0">
                <a:solidFill>
                  <a:srgbClr val="7AB8FF"/>
                </a:solidFill>
                <a:latin typeface="Courier New" pitchFamily="34" charset="0"/>
                <a:ea typeface="Courier New" pitchFamily="34" charset="-122"/>
                <a:cs typeface="Courier New" pitchFamily="34" charset="-120"/>
              </a:rPr>
              <a:t>if</a:t>
            </a:r>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 (score &gt;= </a:t>
            </a:r>
            <a:pPr indent="0" marL="0">
              <a:lnSpc>
                <a:spcPts val="1500"/>
              </a:lnSpc>
              <a:buNone/>
            </a:pPr>
            <a:r>
              <a:rPr lang="en-US" sz="1300" dirty="0">
                <a:solidFill>
                  <a:srgbClr val="B5CEA8"/>
                </a:solidFill>
                <a:latin typeface="Courier New" pitchFamily="34" charset="0"/>
                <a:ea typeface="Courier New" pitchFamily="34" charset="-122"/>
                <a:cs typeface="Courier New" pitchFamily="34" charset="-120"/>
              </a:rPr>
              <a:t>90</a:t>
            </a:r>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    letter = </a:t>
            </a:r>
            <a:pPr indent="0" marL="0">
              <a:lnSpc>
                <a:spcPts val="1500"/>
              </a:lnSpc>
              <a:buNone/>
            </a:pPr>
            <a:r>
              <a:rPr lang="en-US" sz="1300" dirty="0">
                <a:solidFill>
                  <a:srgbClr val="CE9178"/>
                </a:solidFill>
                <a:latin typeface="Courier New" pitchFamily="34" charset="0"/>
                <a:ea typeface="Courier New" pitchFamily="34" charset="-122"/>
                <a:cs typeface="Courier New" pitchFamily="34" charset="-120"/>
              </a:rPr>
              <a:t>"AA"</a:t>
            </a:r>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500"/>
              </a:lnSpc>
              <a:buNone/>
            </a:pPr>
            <a:r>
              <a:rPr lang="en-US" sz="1300" dirty="0">
                <a:solidFill>
                  <a:srgbClr val="7F8BA3"/>
                </a:solidFill>
                <a:latin typeface="Courier New" pitchFamily="34" charset="0"/>
                <a:ea typeface="Courier New" pitchFamily="34" charset="-122"/>
                <a:cs typeface="Courier New" pitchFamily="34" charset="-120"/>
              </a:rPr>
              <a:t>// never reached!</a:t>
            </a:r>
            <a:endParaRPr lang="en-US" sz="1300" dirty="0"/>
          </a:p>
          <a:p>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500"/>
              </a:lnSpc>
              <a:buNone/>
            </a:pPr>
            <a:r>
              <a:rPr lang="en-US" sz="1300" dirty="0">
                <a:solidFill>
                  <a:srgbClr val="7AB8FF"/>
                </a:solidFill>
                <a:latin typeface="Courier New" pitchFamily="34" charset="0"/>
                <a:ea typeface="Courier New" pitchFamily="34" charset="-122"/>
                <a:cs typeface="Courier New" pitchFamily="34" charset="-120"/>
              </a:rPr>
              <a:t>else</a:t>
            </a:r>
            <a:endParaRPr lang="en-US" sz="1300" dirty="0"/>
          </a:p>
          <a:p>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    letter = </a:t>
            </a:r>
            <a:pPr indent="0" marL="0">
              <a:lnSpc>
                <a:spcPts val="1500"/>
              </a:lnSpc>
              <a:buNone/>
            </a:pPr>
            <a:r>
              <a:rPr lang="en-US" sz="1300" dirty="0">
                <a:solidFill>
                  <a:srgbClr val="CE9178"/>
                </a:solidFill>
                <a:latin typeface="Courier New" pitchFamily="34" charset="0"/>
                <a:ea typeface="Courier New" pitchFamily="34" charset="-122"/>
                <a:cs typeface="Courier New" pitchFamily="34" charset="-120"/>
              </a:rPr>
              <a:t>"FF"</a:t>
            </a:r>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263640" y="1600200"/>
          <a:ext cx="5394960" cy="914400"/>
        </p:xfrm>
        <a:graphic>
          <a:graphicData uri="http://schemas.openxmlformats.org/drawingml/2006/table">
            <a:tbl>
              <a:tblPr/>
              <a:tblGrid>
                <a:gridCol w="1371600"/>
                <a:gridCol w="2011680"/>
                <a:gridCol w="2011680"/>
              </a:tblGrid>
              <a:tr h="420624">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score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wrong order</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correct order</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20624">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95</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DD</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AA</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20624">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85</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DD</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BB</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20624">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72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DD</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DD</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20624">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60</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DD</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DD</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20624">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59</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FF</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FF</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11" name="Shape 7"/>
          <p:cNvSpPr/>
          <p:nvPr/>
        </p:nvSpPr>
        <p:spPr>
          <a:xfrm>
            <a:off x="7644384" y="2039112"/>
            <a:ext cx="1993392" cy="822960"/>
          </a:xfrm>
          <a:prstGeom prst="rect">
            <a:avLst/>
          </a:prstGeom>
          <a:ln w="25400">
            <a:solidFill>
              <a:srgbClr val="C8453B"/>
            </a:solidFill>
            <a:prstDash val="solid"/>
          </a:ln>
        </p:spPr>
      </p:sp>
      <p:sp>
        <p:nvSpPr>
          <p:cNvPr id="12" name="Shape 8"/>
          <p:cNvSpPr/>
          <p:nvPr/>
        </p:nvSpPr>
        <p:spPr>
          <a:xfrm>
            <a:off x="6263640" y="4343400"/>
            <a:ext cx="5394960" cy="1737360"/>
          </a:xfrm>
          <a:prstGeom prst="roundRect">
            <a:avLst>
              <a:gd name="adj" fmla="val 6316"/>
            </a:avLst>
          </a:prstGeom>
          <a:solidFill>
            <a:srgbClr val="FFF6E3"/>
          </a:solidFill>
          <a:ln w="12700">
            <a:solidFill>
              <a:srgbClr val="FFF6E3"/>
            </a:solidFill>
            <a:prstDash val="solid"/>
          </a:ln>
        </p:spPr>
      </p:sp>
      <p:pic>
        <p:nvPicPr>
          <p:cNvPr id="13" name="Image 0" descr="preencoded.png">    </p:cNvPr>
          <p:cNvPicPr>
            <a:picLocks noChangeAspect="1"/>
          </p:cNvPicPr>
          <p:nvPr/>
        </p:nvPicPr>
        <p:blipFill>
          <a:blip r:embed="rId1"/>
          <a:stretch>
            <a:fillRect/>
          </a:stretch>
        </p:blipFill>
        <p:spPr>
          <a:xfrm>
            <a:off x="6537960" y="4937760"/>
            <a:ext cx="548640" cy="548640"/>
          </a:xfrm>
          <a:prstGeom prst="rect">
            <a:avLst/>
          </a:prstGeom>
        </p:spPr>
      </p:pic>
      <p:sp>
        <p:nvSpPr>
          <p:cNvPr id="14" name="Text 9"/>
          <p:cNvSpPr txBox="1"/>
          <p:nvPr/>
        </p:nvSpPr>
        <p:spPr>
          <a:xfrm>
            <a:off x="7360920" y="4416552"/>
            <a:ext cx="4023360" cy="1591056"/>
          </a:xfrm>
          <a:prstGeom prst="rect">
            <a:avLst/>
          </a:prstGeom>
          <a:noFill/>
          <a:ln/>
        </p:spPr>
        <p:txBody>
          <a:bodyPr wrap="square" lIns="0" tIns="0" rIns="0" bIns="0" rtlCol="0" anchor="ctr"/>
          <a:lstStyle/>
          <a:p>
            <a:pPr indent="0" marL="0">
              <a:buNone/>
            </a:pPr>
            <a:r>
              <a:rPr lang="en-US" sz="1500" b="1" dirty="0">
                <a:solidFill>
                  <a:srgbClr val="333B4F"/>
                </a:solidFill>
                <a:latin typeface="Calibri" pitchFamily="34" charset="0"/>
                <a:ea typeface="Calibri" pitchFamily="34" charset="-122"/>
                <a:cs typeface="Calibri" pitchFamily="34" charset="-120"/>
              </a:rPr>
              <a:t>Fix: </a:t>
            </a:r>
            <a:pPr indent="0" marL="0">
              <a:buNone/>
            </a:pPr>
            <a:r>
              <a:rPr lang="en-US" sz="1500" dirty="0">
                <a:solidFill>
                  <a:srgbClr val="333B4F"/>
                </a:solidFill>
                <a:latin typeface="Calibri" pitchFamily="34" charset="0"/>
                <a:ea typeface="Calibri" pitchFamily="34" charset="-122"/>
                <a:cs typeface="Calibri" pitchFamily="34" charset="-120"/>
              </a:rPr>
              <a:t>test the highest limit first: </a:t>
            </a:r>
            <a:pPr indent="0" marL="0">
              <a:buNone/>
            </a:pPr>
            <a:r>
              <a:rPr lang="en-US" sz="1500" dirty="0">
                <a:solidFill>
                  <a:srgbClr val="333B4F"/>
                </a:solidFill>
                <a:latin typeface="Courier New" pitchFamily="34" charset="0"/>
                <a:ea typeface="Courier New" pitchFamily="34" charset="-122"/>
                <a:cs typeface="Courier New" pitchFamily="34" charset="-120"/>
              </a:rPr>
              <a:t>&gt;= 90</a:t>
            </a:r>
            <a:pPr indent="0" marL="0">
              <a:buNone/>
            </a:pPr>
            <a:r>
              <a:rPr lang="en-US" sz="1500" dirty="0">
                <a:solidFill>
                  <a:srgbClr val="333B4F"/>
                </a:solidFill>
                <a:latin typeface="Calibri" pitchFamily="34" charset="0"/>
                <a:ea typeface="Calibri" pitchFamily="34" charset="-122"/>
                <a:cs typeface="Calibri" pitchFamily="34" charset="-120"/>
              </a:rPr>
              <a:t>, then </a:t>
            </a:r>
            <a:pPr indent="0" marL="0">
              <a:buNone/>
            </a:pPr>
            <a:r>
              <a:rPr lang="en-US" sz="1500" dirty="0">
                <a:solidFill>
                  <a:srgbClr val="333B4F"/>
                </a:solidFill>
                <a:latin typeface="Courier New" pitchFamily="34" charset="0"/>
                <a:ea typeface="Courier New" pitchFamily="34" charset="-122"/>
                <a:cs typeface="Courier New" pitchFamily="34" charset="-120"/>
              </a:rPr>
              <a:t>&gt;= 80</a:t>
            </a:r>
            <a:pPr indent="0" marL="0">
              <a:buNone/>
            </a:pPr>
            <a:r>
              <a:rPr lang="en-US" sz="1500" dirty="0">
                <a:solidFill>
                  <a:srgbClr val="333B4F"/>
                </a:solidFill>
                <a:latin typeface="Calibri" pitchFamily="34" charset="0"/>
                <a:ea typeface="Calibri" pitchFamily="34" charset="-122"/>
                <a:cs typeface="Calibri" pitchFamily="34" charset="-120"/>
              </a:rPr>
              <a:t>, then </a:t>
            </a:r>
            <a:pPr indent="0" marL="0">
              <a:buNone/>
            </a:pPr>
            <a:r>
              <a:rPr lang="en-US" sz="1500" dirty="0">
                <a:solidFill>
                  <a:srgbClr val="333B4F"/>
                </a:solidFill>
                <a:latin typeface="Courier New" pitchFamily="34" charset="0"/>
                <a:ea typeface="Courier New" pitchFamily="34" charset="-122"/>
                <a:cs typeface="Courier New" pitchFamily="34" charset="-120"/>
              </a:rPr>
              <a:t>&gt;= 60</a:t>
            </a:r>
            <a:pPr indent="0" marL="0">
              <a:buNone/>
            </a:pPr>
            <a:r>
              <a:rPr lang="en-US" sz="1500" dirty="0">
                <a:solidFill>
                  <a:srgbClr val="333B4F"/>
                </a:solidFill>
                <a:latin typeface="Calibri" pitchFamily="34" charset="0"/>
                <a:ea typeface="Calibri" pitchFamily="34" charset="-122"/>
                <a:cs typeface="Calibri" pitchFamily="34" charset="-120"/>
              </a:rPr>
              <a:t>, else FF.</a:t>
            </a:r>
            <a:endParaRPr lang="en-US" sz="1500" dirty="0"/>
          </a:p>
          <a:p>
            <a:pPr indent="0" marL="0">
              <a:buNone/>
            </a:pPr>
            <a:r>
              <a:rPr lang="en-US" sz="600" dirty="0">
                <a:solidFill>
                  <a:srgbClr val="333B4F"/>
                </a:solidFill>
                <a:latin typeface="Calibri" pitchFamily="34" charset="0"/>
                <a:ea typeface="Calibri" pitchFamily="34" charset="-122"/>
                <a:cs typeface="Calibri" pitchFamily="34" charset="-120"/>
              </a:rPr>
              <a:t> </a:t>
            </a:r>
            <a:endParaRPr lang="en-US" sz="1500" dirty="0"/>
          </a:p>
          <a:p>
            <a:pPr indent="0" marL="0">
              <a:buNone/>
            </a:pPr>
            <a:r>
              <a:rPr lang="en-US" sz="1500" dirty="0">
                <a:solidFill>
                  <a:srgbClr val="333B4F"/>
                </a:solidFill>
                <a:latin typeface="Calibri" pitchFamily="34" charset="0"/>
                <a:ea typeface="Calibri" pitchFamily="34" charset="-122"/>
                <a:cs typeface="Calibri" pitchFamily="34" charset="-120"/>
              </a:rPr>
              <a:t>A </a:t>
            </a:r>
            <a:pPr indent="0" marL="0">
              <a:buNone/>
            </a:pPr>
            <a:r>
              <a:rPr lang="en-US" sz="1500" b="1" dirty="0">
                <a:solidFill>
                  <a:srgbClr val="333B4F"/>
                </a:solidFill>
                <a:latin typeface="Calibri" pitchFamily="34" charset="0"/>
                <a:ea typeface="Calibri" pitchFamily="34" charset="-122"/>
                <a:cs typeface="Calibri" pitchFamily="34" charset="-120"/>
              </a:rPr>
              <a:t>switch expression</a:t>
            </a:r>
            <a:pPr indent="0" marL="0">
              <a:buNone/>
            </a:pPr>
            <a:r>
              <a:rPr lang="en-US" sz="1500" dirty="0">
                <a:solidFill>
                  <a:srgbClr val="333B4F"/>
                </a:solidFill>
                <a:latin typeface="Calibri" pitchFamily="34" charset="0"/>
                <a:ea typeface="Calibri" pitchFamily="34" charset="-122"/>
                <a:cs typeface="Calibri" pitchFamily="34" charset="-120"/>
              </a:rPr>
              <a:t> in this wrong order does not even compile (error CS8510).</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5 · 05_05_LETTERGRADE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Letter Grades with an else-if Ladder</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12</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4114800" cy="914400"/>
        </p:xfrm>
        <a:graphic>
          <a:graphicData uri="http://schemas.openxmlformats.org/drawingml/2006/table">
            <a:tbl>
              <a:tblPr/>
              <a:tblGrid>
                <a:gridCol w="1645920"/>
                <a:gridCol w="1188720"/>
                <a:gridCol w="1280160"/>
              </a:tblGrid>
              <a:tr h="36576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Score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Letter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Point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65760">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90 – 100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AA</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4.0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85 – 89</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BA</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3.5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65760">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80 – 84</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BB</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3.0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75 – 79</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CB</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65760">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70 – 74</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CC</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65 – 69</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DC</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65760">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60 – 64</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DD</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0 – 59</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FF</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0.0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8" name="Text 4"/>
          <p:cNvSpPr txBox="1"/>
          <p:nvPr/>
        </p:nvSpPr>
        <p:spPr>
          <a:xfrm>
            <a:off x="548640" y="4983480"/>
            <a:ext cx="4114800" cy="1097280"/>
          </a:xfrm>
          <a:prstGeom prst="rect">
            <a:avLst/>
          </a:prstGeom>
          <a:noFill/>
          <a:ln/>
        </p:spPr>
        <p:txBody>
          <a:bodyPr wrap="square" lIns="0" tIns="0" rIns="0" bIns="0" rtlCol="0" anchor="t"/>
          <a:lstStyle/>
          <a:p>
            <a:pPr indent="0" marL="0">
              <a:buNone/>
            </a:pPr>
            <a:r>
              <a:rPr lang="en-US" sz="1300" i="1" dirty="0">
                <a:solidFill>
                  <a:srgbClr val="5B6478"/>
                </a:solidFill>
                <a:latin typeface="Calibri" pitchFamily="34" charset="0"/>
                <a:ea typeface="Calibri" pitchFamily="34" charset="-122"/>
                <a:cs typeface="Calibri" pitchFamily="34" charset="-120"/>
              </a:rPr>
              <a:t>Example scale for our exercises — check the university regulation for the official cut-offs.</a:t>
            </a:r>
            <a:endParaRPr lang="en-US" sz="1300" dirty="0"/>
          </a:p>
        </p:txBody>
      </p:sp>
      <p:sp>
        <p:nvSpPr>
          <p:cNvPr id="9" name="Shape 5"/>
          <p:cNvSpPr/>
          <p:nvPr/>
        </p:nvSpPr>
        <p:spPr>
          <a:xfrm>
            <a:off x="4983480" y="1600200"/>
            <a:ext cx="6675120" cy="3246120"/>
          </a:xfrm>
          <a:prstGeom prst="roundRect">
            <a:avLst>
              <a:gd name="adj" fmla="val 2817"/>
            </a:avLst>
          </a:prstGeom>
          <a:solidFill>
            <a:srgbClr val="0F1729"/>
          </a:solidFill>
          <a:ln w="12700">
            <a:solidFill>
              <a:srgbClr val="0F1729"/>
            </a:solidFill>
            <a:prstDash val="solid"/>
          </a:ln>
        </p:spPr>
      </p:sp>
      <p:sp>
        <p:nvSpPr>
          <p:cNvPr id="10" name="Text 6"/>
          <p:cNvSpPr txBox="1"/>
          <p:nvPr/>
        </p:nvSpPr>
        <p:spPr>
          <a:xfrm>
            <a:off x="5212080" y="1709928"/>
            <a:ext cx="62179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(excerpt)</a:t>
            </a:r>
            <a:endParaRPr lang="en-US" sz="1100" dirty="0"/>
          </a:p>
        </p:txBody>
      </p:sp>
      <p:sp>
        <p:nvSpPr>
          <p:cNvPr id="11" name="Text 7"/>
          <p:cNvSpPr txBox="1"/>
          <p:nvPr/>
        </p:nvSpPr>
        <p:spPr>
          <a:xfrm>
            <a:off x="5212080" y="2011680"/>
            <a:ext cx="6217920" cy="2743200"/>
          </a:xfrm>
          <a:prstGeom prst="rect">
            <a:avLst/>
          </a:prstGeom>
          <a:noFill/>
          <a:ln/>
        </p:spPr>
        <p:txBody>
          <a:bodyPr wrap="square" lIns="0" tIns="0" rIns="0" bIns="0" rtlCol="0" anchor="t"/>
          <a:lstStyle/>
          <a:p>
            <a:pPr indent="0" marL="0">
              <a:lnSpc>
                <a:spcPts val="1400"/>
              </a:lnSpc>
              <a:buNone/>
            </a:pPr>
            <a:r>
              <a:rPr lang="en-US" sz="1300" dirty="0">
                <a:solidFill>
                  <a:srgbClr val="4EC9B0"/>
                </a:solidFill>
                <a:latin typeface="Courier New" pitchFamily="34" charset="0"/>
                <a:ea typeface="Courier New" pitchFamily="34" charset="-122"/>
                <a:cs typeface="Courier New" pitchFamily="34" charset="-120"/>
              </a:rPr>
              <a:t>string</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letter;</a:t>
            </a:r>
            <a:endParaRPr lang="en-US" sz="1300" dirty="0"/>
          </a:p>
          <a:p>
            <a:pPr indent="0" marL="0">
              <a:lnSpc>
                <a:spcPts val="1400"/>
              </a:lnSpc>
              <a:buNone/>
            </a:pPr>
            <a:r>
              <a:rPr lang="en-US" sz="1300" dirty="0">
                <a:solidFill>
                  <a:srgbClr val="7AB8FF"/>
                </a:solidFill>
                <a:latin typeface="Courier New" pitchFamily="34" charset="0"/>
                <a:ea typeface="Courier New" pitchFamily="34" charset="-122"/>
                <a:cs typeface="Courier New" pitchFamily="34" charset="-120"/>
              </a:rPr>
              <a:t>if</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(score &gt;= </a:t>
            </a:r>
            <a:pPr indent="0" marL="0">
              <a:lnSpc>
                <a:spcPts val="1400"/>
              </a:lnSpc>
              <a:buNone/>
            </a:pPr>
            <a:r>
              <a:rPr lang="en-US" sz="1300" dirty="0">
                <a:solidFill>
                  <a:srgbClr val="B5CEA8"/>
                </a:solidFill>
                <a:latin typeface="Courier New" pitchFamily="34" charset="0"/>
                <a:ea typeface="Courier New" pitchFamily="34" charset="-122"/>
                <a:cs typeface="Courier New" pitchFamily="34" charset="-120"/>
              </a:rPr>
              <a:t>90</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letter = </a:t>
            </a:r>
            <a:pPr indent="0" marL="0">
              <a:lnSpc>
                <a:spcPts val="1400"/>
              </a:lnSpc>
              <a:buNone/>
            </a:pPr>
            <a:r>
              <a:rPr lang="en-US" sz="1300" dirty="0">
                <a:solidFill>
                  <a:srgbClr val="CE9178"/>
                </a:solidFill>
                <a:latin typeface="Courier New" pitchFamily="34" charset="0"/>
                <a:ea typeface="Courier New" pitchFamily="34" charset="-122"/>
                <a:cs typeface="Courier New" pitchFamily="34" charset="-120"/>
              </a:rPr>
              <a:t>"AA"</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7AB8FF"/>
                </a:solidFill>
                <a:latin typeface="Courier New" pitchFamily="34" charset="0"/>
                <a:ea typeface="Courier New" pitchFamily="34" charset="-122"/>
                <a:cs typeface="Courier New" pitchFamily="34" charset="-120"/>
              </a:rPr>
              <a:t>else</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300" dirty="0">
                <a:solidFill>
                  <a:srgbClr val="7AB8FF"/>
                </a:solidFill>
                <a:latin typeface="Courier New" pitchFamily="34" charset="0"/>
                <a:ea typeface="Courier New" pitchFamily="34" charset="-122"/>
                <a:cs typeface="Courier New" pitchFamily="34" charset="-120"/>
              </a:rPr>
              <a:t>if</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(score &gt;= </a:t>
            </a:r>
            <a:pPr indent="0" marL="0">
              <a:lnSpc>
                <a:spcPts val="1400"/>
              </a:lnSpc>
              <a:buNone/>
            </a:pPr>
            <a:r>
              <a:rPr lang="en-US" sz="1300" dirty="0">
                <a:solidFill>
                  <a:srgbClr val="B5CEA8"/>
                </a:solidFill>
                <a:latin typeface="Courier New" pitchFamily="34" charset="0"/>
                <a:ea typeface="Courier New" pitchFamily="34" charset="-122"/>
                <a:cs typeface="Courier New" pitchFamily="34" charset="-120"/>
              </a:rPr>
              <a:t>85</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letter = </a:t>
            </a:r>
            <a:pPr indent="0" marL="0">
              <a:lnSpc>
                <a:spcPts val="1400"/>
              </a:lnSpc>
              <a:buNone/>
            </a:pPr>
            <a:r>
              <a:rPr lang="en-US" sz="1300" dirty="0">
                <a:solidFill>
                  <a:srgbClr val="CE9178"/>
                </a:solidFill>
                <a:latin typeface="Courier New" pitchFamily="34" charset="0"/>
                <a:ea typeface="Courier New" pitchFamily="34" charset="-122"/>
                <a:cs typeface="Courier New" pitchFamily="34" charset="-120"/>
              </a:rPr>
              <a:t>"BA"</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7F8BA3"/>
                </a:solidFill>
                <a:latin typeface="Courier New" pitchFamily="34" charset="0"/>
                <a:ea typeface="Courier New" pitchFamily="34" charset="-122"/>
                <a:cs typeface="Courier New" pitchFamily="34" charset="-120"/>
              </a:rPr>
              <a:t>// ... BB, CB, CC, DC and DD in the same way ...</a:t>
            </a:r>
            <a:endParaRPr lang="en-US" sz="1300" dirty="0"/>
          </a:p>
          <a:p>
            <a:pPr indent="0" marL="0">
              <a:lnSpc>
                <a:spcPts val="1400"/>
              </a:lnSpc>
              <a:buNone/>
            </a:pPr>
            <a:r>
              <a:rPr lang="en-US" sz="1300" dirty="0">
                <a:solidFill>
                  <a:srgbClr val="7AB8FF"/>
                </a:solidFill>
                <a:latin typeface="Courier New" pitchFamily="34" charset="0"/>
                <a:ea typeface="Courier New" pitchFamily="34" charset="-122"/>
                <a:cs typeface="Courier New" pitchFamily="34" charset="-120"/>
              </a:rPr>
              <a:t>else</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letter = </a:t>
            </a:r>
            <a:pPr indent="0" marL="0">
              <a:lnSpc>
                <a:spcPts val="1400"/>
              </a:lnSpc>
              <a:buNone/>
            </a:pPr>
            <a:r>
              <a:rPr lang="en-US" sz="1300" dirty="0">
                <a:solidFill>
                  <a:srgbClr val="CE9178"/>
                </a:solidFill>
                <a:latin typeface="Courier New" pitchFamily="34" charset="0"/>
                <a:ea typeface="Courier New" pitchFamily="34" charset="-122"/>
                <a:cs typeface="Courier New" pitchFamily="34" charset="-120"/>
              </a:rPr>
              <a:t>"FF"</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2" name="Shape 8"/>
          <p:cNvSpPr/>
          <p:nvPr/>
        </p:nvSpPr>
        <p:spPr>
          <a:xfrm>
            <a:off x="4983480" y="4956048"/>
            <a:ext cx="6675120" cy="1170432"/>
          </a:xfrm>
          <a:prstGeom prst="roundRect">
            <a:avLst>
              <a:gd name="adj" fmla="val 7813"/>
            </a:avLst>
          </a:prstGeom>
          <a:solidFill>
            <a:srgbClr val="0B0F19"/>
          </a:solidFill>
          <a:ln w="12700">
            <a:solidFill>
              <a:srgbClr val="2A3654"/>
            </a:solidFill>
            <a:prstDash val="solid"/>
          </a:ln>
        </p:spPr>
      </p:sp>
      <p:sp>
        <p:nvSpPr>
          <p:cNvPr id="13" name="Shape 9"/>
          <p:cNvSpPr/>
          <p:nvPr/>
        </p:nvSpPr>
        <p:spPr>
          <a:xfrm>
            <a:off x="5166360" y="5084064"/>
            <a:ext cx="118872" cy="118872"/>
          </a:xfrm>
          <a:prstGeom prst="ellipse">
            <a:avLst/>
          </a:prstGeom>
          <a:solidFill>
            <a:srgbClr val="FF5F57"/>
          </a:solidFill>
          <a:ln w="12700">
            <a:solidFill>
              <a:srgbClr val="FF5F57"/>
            </a:solidFill>
            <a:prstDash val="solid"/>
          </a:ln>
        </p:spPr>
      </p:sp>
      <p:sp>
        <p:nvSpPr>
          <p:cNvPr id="14" name="Shape 10"/>
          <p:cNvSpPr/>
          <p:nvPr/>
        </p:nvSpPr>
        <p:spPr>
          <a:xfrm>
            <a:off x="5394960" y="5084064"/>
            <a:ext cx="118872" cy="118872"/>
          </a:xfrm>
          <a:prstGeom prst="ellipse">
            <a:avLst/>
          </a:prstGeom>
          <a:solidFill>
            <a:srgbClr val="FEBC2E"/>
          </a:solidFill>
          <a:ln w="12700">
            <a:solidFill>
              <a:srgbClr val="FEBC2E"/>
            </a:solidFill>
            <a:prstDash val="solid"/>
          </a:ln>
        </p:spPr>
      </p:sp>
      <p:sp>
        <p:nvSpPr>
          <p:cNvPr id="15" name="Shape 11"/>
          <p:cNvSpPr/>
          <p:nvPr/>
        </p:nvSpPr>
        <p:spPr>
          <a:xfrm>
            <a:off x="5623560" y="5084064"/>
            <a:ext cx="118872" cy="118872"/>
          </a:xfrm>
          <a:prstGeom prst="ellipse">
            <a:avLst/>
          </a:prstGeom>
          <a:solidFill>
            <a:srgbClr val="28C840"/>
          </a:solidFill>
          <a:ln w="12700">
            <a:solidFill>
              <a:srgbClr val="28C840"/>
            </a:solidFill>
            <a:prstDash val="solid"/>
          </a:ln>
        </p:spPr>
      </p:sp>
      <p:sp>
        <p:nvSpPr>
          <p:cNvPr id="16" name="Text 12"/>
          <p:cNvSpPr txBox="1"/>
          <p:nvPr/>
        </p:nvSpPr>
        <p:spPr>
          <a:xfrm>
            <a:off x="5897880" y="5029200"/>
            <a:ext cx="55778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7" name="Text 13"/>
          <p:cNvSpPr txBox="1"/>
          <p:nvPr/>
        </p:nvSpPr>
        <p:spPr>
          <a:xfrm>
            <a:off x="5212080" y="5340096"/>
            <a:ext cx="6217920" cy="667512"/>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Enter the score (0-100):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85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Score 85 -&gt; BA (grade point 3.5)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Ladder: BA   Switch expression: BA</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3 · 05_03_MAXOFTHREE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Nested if: the Largest of Three Numbers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13</a:t>
            </a:r>
            <a:endParaRPr lang="en-US" sz="1000" dirty="0"/>
          </a:p>
        </p:txBody>
      </p:sp>
      <p:sp>
        <p:nvSpPr>
          <p:cNvPr id="7" name="Shape 4"/>
          <p:cNvSpPr/>
          <p:nvPr/>
        </p:nvSpPr>
        <p:spPr>
          <a:xfrm>
            <a:off x="5029200" y="1600200"/>
            <a:ext cx="2194560" cy="420624"/>
          </a:xfrm>
          <a:prstGeom prst="flowChartInputOutput">
            <a:avLst/>
          </a:prstGeom>
          <a:solidFill>
            <a:srgbClr val="FFFFFF"/>
          </a:solidFill>
          <a:ln w="15875">
            <a:solidFill>
              <a:srgbClr val="14213D"/>
            </a:solidFill>
            <a:prstDash val="solid"/>
          </a:ln>
        </p:spPr>
      </p:sp>
      <p:sp>
        <p:nvSpPr>
          <p:cNvPr id="8" name="Text 5"/>
          <p:cNvSpPr txBox="1"/>
          <p:nvPr/>
        </p:nvSpPr>
        <p:spPr>
          <a:xfrm>
            <a:off x="5074920" y="1600200"/>
            <a:ext cx="2103120" cy="420624"/>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Read a, b, c</a:t>
            </a:r>
            <a:endParaRPr lang="en-US" sz="1200" dirty="0"/>
          </a:p>
        </p:txBody>
      </p:sp>
      <p:sp>
        <p:nvSpPr>
          <p:cNvPr id="9" name="Shape 6"/>
          <p:cNvSpPr/>
          <p:nvPr/>
        </p:nvSpPr>
        <p:spPr>
          <a:xfrm>
            <a:off x="5120640" y="2331720"/>
            <a:ext cx="2011680" cy="731520"/>
          </a:xfrm>
          <a:prstGeom prst="flowChartDecision">
            <a:avLst/>
          </a:prstGeom>
          <a:solidFill>
            <a:srgbClr val="E3ECF8"/>
          </a:solidFill>
          <a:ln w="15875">
            <a:solidFill>
              <a:srgbClr val="14213D"/>
            </a:solidFill>
            <a:prstDash val="solid"/>
          </a:ln>
        </p:spPr>
      </p:sp>
      <p:sp>
        <p:nvSpPr>
          <p:cNvPr id="10" name="Text 7"/>
          <p:cNvSpPr txBox="1"/>
          <p:nvPr/>
        </p:nvSpPr>
        <p:spPr>
          <a:xfrm>
            <a:off x="5166360" y="2331720"/>
            <a:ext cx="1920240" cy="73152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a ≥ b ?</a:t>
            </a:r>
            <a:endParaRPr lang="en-US" sz="1300" dirty="0"/>
          </a:p>
        </p:txBody>
      </p:sp>
      <p:sp>
        <p:nvSpPr>
          <p:cNvPr id="11" name="Shape 8"/>
          <p:cNvSpPr/>
          <p:nvPr/>
        </p:nvSpPr>
        <p:spPr>
          <a:xfrm>
            <a:off x="2286000" y="3291840"/>
            <a:ext cx="2011680" cy="731520"/>
          </a:xfrm>
          <a:prstGeom prst="flowChartDecision">
            <a:avLst/>
          </a:prstGeom>
          <a:solidFill>
            <a:srgbClr val="E3ECF8"/>
          </a:solidFill>
          <a:ln w="15875">
            <a:solidFill>
              <a:srgbClr val="14213D"/>
            </a:solidFill>
            <a:prstDash val="solid"/>
          </a:ln>
        </p:spPr>
      </p:sp>
      <p:sp>
        <p:nvSpPr>
          <p:cNvPr id="12" name="Text 9"/>
          <p:cNvSpPr txBox="1"/>
          <p:nvPr/>
        </p:nvSpPr>
        <p:spPr>
          <a:xfrm>
            <a:off x="2331720" y="3291840"/>
            <a:ext cx="1920240" cy="73152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b ≥ c ?</a:t>
            </a:r>
            <a:endParaRPr lang="en-US" sz="1300" dirty="0"/>
          </a:p>
        </p:txBody>
      </p:sp>
      <p:sp>
        <p:nvSpPr>
          <p:cNvPr id="13" name="Shape 10"/>
          <p:cNvSpPr/>
          <p:nvPr/>
        </p:nvSpPr>
        <p:spPr>
          <a:xfrm>
            <a:off x="7955280" y="3291840"/>
            <a:ext cx="2011680" cy="731520"/>
          </a:xfrm>
          <a:prstGeom prst="flowChartDecision">
            <a:avLst/>
          </a:prstGeom>
          <a:solidFill>
            <a:srgbClr val="E3ECF8"/>
          </a:solidFill>
          <a:ln w="15875">
            <a:solidFill>
              <a:srgbClr val="14213D"/>
            </a:solidFill>
            <a:prstDash val="solid"/>
          </a:ln>
        </p:spPr>
      </p:sp>
      <p:sp>
        <p:nvSpPr>
          <p:cNvPr id="14" name="Text 11"/>
          <p:cNvSpPr txBox="1"/>
          <p:nvPr/>
        </p:nvSpPr>
        <p:spPr>
          <a:xfrm>
            <a:off x="8001000" y="3291840"/>
            <a:ext cx="1920240" cy="73152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a ≥ c ?</a:t>
            </a:r>
            <a:endParaRPr lang="en-US" sz="1300" dirty="0"/>
          </a:p>
        </p:txBody>
      </p:sp>
      <p:sp>
        <p:nvSpPr>
          <p:cNvPr id="15" name="Shape 12"/>
          <p:cNvSpPr/>
          <p:nvPr/>
        </p:nvSpPr>
        <p:spPr>
          <a:xfrm>
            <a:off x="1280160" y="4544568"/>
            <a:ext cx="1463040" cy="420624"/>
          </a:xfrm>
          <a:prstGeom prst="flowChartProcess">
            <a:avLst/>
          </a:prstGeom>
          <a:solidFill>
            <a:srgbClr val="FFFFFF"/>
          </a:solidFill>
          <a:ln w="15875">
            <a:solidFill>
              <a:srgbClr val="14213D"/>
            </a:solidFill>
            <a:prstDash val="solid"/>
          </a:ln>
        </p:spPr>
      </p:sp>
      <p:sp>
        <p:nvSpPr>
          <p:cNvPr id="16" name="Text 13"/>
          <p:cNvSpPr txBox="1"/>
          <p:nvPr/>
        </p:nvSpPr>
        <p:spPr>
          <a:xfrm>
            <a:off x="1325880" y="4544568"/>
            <a:ext cx="1371600" cy="42062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max ← b</a:t>
            </a:r>
            <a:endParaRPr lang="en-US" sz="1300" dirty="0"/>
          </a:p>
        </p:txBody>
      </p:sp>
      <p:sp>
        <p:nvSpPr>
          <p:cNvPr id="17" name="Shape 14"/>
          <p:cNvSpPr/>
          <p:nvPr/>
        </p:nvSpPr>
        <p:spPr>
          <a:xfrm>
            <a:off x="3840480" y="4544568"/>
            <a:ext cx="1463040" cy="420624"/>
          </a:xfrm>
          <a:prstGeom prst="flowChartProcess">
            <a:avLst/>
          </a:prstGeom>
          <a:solidFill>
            <a:srgbClr val="FFFFFF"/>
          </a:solidFill>
          <a:ln w="15875">
            <a:solidFill>
              <a:srgbClr val="14213D"/>
            </a:solidFill>
            <a:prstDash val="solid"/>
          </a:ln>
        </p:spPr>
      </p:sp>
      <p:sp>
        <p:nvSpPr>
          <p:cNvPr id="18" name="Text 15"/>
          <p:cNvSpPr txBox="1"/>
          <p:nvPr/>
        </p:nvSpPr>
        <p:spPr>
          <a:xfrm>
            <a:off x="3886200" y="4544568"/>
            <a:ext cx="1371600" cy="42062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max ← c</a:t>
            </a:r>
            <a:endParaRPr lang="en-US" sz="1300" dirty="0"/>
          </a:p>
        </p:txBody>
      </p:sp>
      <p:sp>
        <p:nvSpPr>
          <p:cNvPr id="19" name="Shape 16"/>
          <p:cNvSpPr/>
          <p:nvPr/>
        </p:nvSpPr>
        <p:spPr>
          <a:xfrm>
            <a:off x="6949440" y="4544568"/>
            <a:ext cx="1463040" cy="420624"/>
          </a:xfrm>
          <a:prstGeom prst="flowChartProcess">
            <a:avLst/>
          </a:prstGeom>
          <a:solidFill>
            <a:srgbClr val="FFFFFF"/>
          </a:solidFill>
          <a:ln w="15875">
            <a:solidFill>
              <a:srgbClr val="14213D"/>
            </a:solidFill>
            <a:prstDash val="solid"/>
          </a:ln>
        </p:spPr>
      </p:sp>
      <p:sp>
        <p:nvSpPr>
          <p:cNvPr id="20" name="Text 17"/>
          <p:cNvSpPr txBox="1"/>
          <p:nvPr/>
        </p:nvSpPr>
        <p:spPr>
          <a:xfrm>
            <a:off x="6995160" y="4544568"/>
            <a:ext cx="1371600" cy="42062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max ← a</a:t>
            </a:r>
            <a:endParaRPr lang="en-US" sz="1300" dirty="0"/>
          </a:p>
        </p:txBody>
      </p:sp>
      <p:sp>
        <p:nvSpPr>
          <p:cNvPr id="21" name="Shape 18"/>
          <p:cNvSpPr/>
          <p:nvPr/>
        </p:nvSpPr>
        <p:spPr>
          <a:xfrm>
            <a:off x="9509760" y="4544568"/>
            <a:ext cx="1463040" cy="420624"/>
          </a:xfrm>
          <a:prstGeom prst="flowChartProcess">
            <a:avLst/>
          </a:prstGeom>
          <a:solidFill>
            <a:srgbClr val="FFFFFF"/>
          </a:solidFill>
          <a:ln w="15875">
            <a:solidFill>
              <a:srgbClr val="14213D"/>
            </a:solidFill>
            <a:prstDash val="solid"/>
          </a:ln>
        </p:spPr>
      </p:sp>
      <p:sp>
        <p:nvSpPr>
          <p:cNvPr id="22" name="Text 19"/>
          <p:cNvSpPr txBox="1"/>
          <p:nvPr/>
        </p:nvSpPr>
        <p:spPr>
          <a:xfrm>
            <a:off x="9555480" y="4544568"/>
            <a:ext cx="1371600" cy="42062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max ← c</a:t>
            </a:r>
            <a:endParaRPr lang="en-US" sz="1300" dirty="0"/>
          </a:p>
        </p:txBody>
      </p:sp>
      <p:sp>
        <p:nvSpPr>
          <p:cNvPr id="23" name="Shape 20"/>
          <p:cNvSpPr/>
          <p:nvPr/>
        </p:nvSpPr>
        <p:spPr>
          <a:xfrm>
            <a:off x="5120640" y="5550408"/>
            <a:ext cx="2011680" cy="420624"/>
          </a:xfrm>
          <a:prstGeom prst="flowChartInputOutput">
            <a:avLst/>
          </a:prstGeom>
          <a:solidFill>
            <a:srgbClr val="FFFFFF"/>
          </a:solidFill>
          <a:ln w="15875">
            <a:solidFill>
              <a:srgbClr val="14213D"/>
            </a:solidFill>
            <a:prstDash val="solid"/>
          </a:ln>
        </p:spPr>
      </p:sp>
      <p:sp>
        <p:nvSpPr>
          <p:cNvPr id="24" name="Text 21"/>
          <p:cNvSpPr txBox="1"/>
          <p:nvPr/>
        </p:nvSpPr>
        <p:spPr>
          <a:xfrm>
            <a:off x="5166360" y="5550408"/>
            <a:ext cx="1920240" cy="420624"/>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Print max</a:t>
            </a:r>
            <a:endParaRPr lang="en-US" sz="1200" dirty="0"/>
          </a:p>
        </p:txBody>
      </p:sp>
      <p:sp>
        <p:nvSpPr>
          <p:cNvPr id="25" name="Shape 22"/>
          <p:cNvSpPr/>
          <p:nvPr/>
        </p:nvSpPr>
        <p:spPr>
          <a:xfrm>
            <a:off x="6126480" y="2020824"/>
            <a:ext cx="0" cy="310896"/>
          </a:xfrm>
          <a:prstGeom prst="line">
            <a:avLst/>
          </a:prstGeom>
          <a:noFill/>
          <a:ln w="15875">
            <a:solidFill>
              <a:srgbClr val="14213D"/>
            </a:solidFill>
            <a:prstDash val="solid"/>
            <a:tailEnd type="triangle"/>
          </a:ln>
        </p:spPr>
      </p:sp>
      <p:sp>
        <p:nvSpPr>
          <p:cNvPr id="26" name="Shape 23"/>
          <p:cNvSpPr/>
          <p:nvPr/>
        </p:nvSpPr>
        <p:spPr>
          <a:xfrm flipH="1">
            <a:off x="3291840" y="2697480"/>
            <a:ext cx="1828800" cy="0"/>
          </a:xfrm>
          <a:prstGeom prst="line">
            <a:avLst/>
          </a:prstGeom>
          <a:noFill/>
          <a:ln w="15875">
            <a:solidFill>
              <a:srgbClr val="14213D"/>
            </a:solidFill>
            <a:prstDash val="solid"/>
          </a:ln>
        </p:spPr>
      </p:sp>
      <p:sp>
        <p:nvSpPr>
          <p:cNvPr id="27" name="Shape 24"/>
          <p:cNvSpPr/>
          <p:nvPr/>
        </p:nvSpPr>
        <p:spPr>
          <a:xfrm>
            <a:off x="3291840" y="2697480"/>
            <a:ext cx="0" cy="594360"/>
          </a:xfrm>
          <a:prstGeom prst="line">
            <a:avLst/>
          </a:prstGeom>
          <a:noFill/>
          <a:ln w="15875">
            <a:solidFill>
              <a:srgbClr val="14213D"/>
            </a:solidFill>
            <a:prstDash val="solid"/>
            <a:tailEnd type="triangle"/>
          </a:ln>
        </p:spPr>
      </p:sp>
      <p:sp>
        <p:nvSpPr>
          <p:cNvPr id="28" name="Shape 25"/>
          <p:cNvSpPr/>
          <p:nvPr/>
        </p:nvSpPr>
        <p:spPr>
          <a:xfrm>
            <a:off x="7132320" y="2697480"/>
            <a:ext cx="1828800" cy="0"/>
          </a:xfrm>
          <a:prstGeom prst="line">
            <a:avLst/>
          </a:prstGeom>
          <a:noFill/>
          <a:ln w="15875">
            <a:solidFill>
              <a:srgbClr val="14213D"/>
            </a:solidFill>
            <a:prstDash val="solid"/>
          </a:ln>
        </p:spPr>
      </p:sp>
      <p:sp>
        <p:nvSpPr>
          <p:cNvPr id="29" name="Shape 26"/>
          <p:cNvSpPr/>
          <p:nvPr/>
        </p:nvSpPr>
        <p:spPr>
          <a:xfrm>
            <a:off x="8961120" y="2697480"/>
            <a:ext cx="0" cy="594360"/>
          </a:xfrm>
          <a:prstGeom prst="line">
            <a:avLst/>
          </a:prstGeom>
          <a:noFill/>
          <a:ln w="15875">
            <a:solidFill>
              <a:srgbClr val="14213D"/>
            </a:solidFill>
            <a:prstDash val="solid"/>
            <a:tailEnd type="triangle"/>
          </a:ln>
        </p:spPr>
      </p:sp>
      <p:sp>
        <p:nvSpPr>
          <p:cNvPr id="30" name="Shape 27"/>
          <p:cNvSpPr/>
          <p:nvPr/>
        </p:nvSpPr>
        <p:spPr>
          <a:xfrm flipH="1">
            <a:off x="2011680" y="3657600"/>
            <a:ext cx="274320" cy="0"/>
          </a:xfrm>
          <a:prstGeom prst="line">
            <a:avLst/>
          </a:prstGeom>
          <a:noFill/>
          <a:ln w="15875">
            <a:solidFill>
              <a:srgbClr val="14213D"/>
            </a:solidFill>
            <a:prstDash val="solid"/>
          </a:ln>
        </p:spPr>
      </p:sp>
      <p:sp>
        <p:nvSpPr>
          <p:cNvPr id="31" name="Shape 28"/>
          <p:cNvSpPr/>
          <p:nvPr/>
        </p:nvSpPr>
        <p:spPr>
          <a:xfrm>
            <a:off x="2011680" y="3657600"/>
            <a:ext cx="0" cy="886968"/>
          </a:xfrm>
          <a:prstGeom prst="line">
            <a:avLst/>
          </a:prstGeom>
          <a:noFill/>
          <a:ln w="15875">
            <a:solidFill>
              <a:srgbClr val="14213D"/>
            </a:solidFill>
            <a:prstDash val="solid"/>
            <a:tailEnd type="triangle"/>
          </a:ln>
        </p:spPr>
      </p:sp>
      <p:sp>
        <p:nvSpPr>
          <p:cNvPr id="32" name="Shape 29"/>
          <p:cNvSpPr/>
          <p:nvPr/>
        </p:nvSpPr>
        <p:spPr>
          <a:xfrm>
            <a:off x="4297680" y="3657600"/>
            <a:ext cx="274320" cy="0"/>
          </a:xfrm>
          <a:prstGeom prst="line">
            <a:avLst/>
          </a:prstGeom>
          <a:noFill/>
          <a:ln w="15875">
            <a:solidFill>
              <a:srgbClr val="14213D"/>
            </a:solidFill>
            <a:prstDash val="solid"/>
          </a:ln>
        </p:spPr>
      </p:sp>
      <p:sp>
        <p:nvSpPr>
          <p:cNvPr id="33" name="Shape 30"/>
          <p:cNvSpPr/>
          <p:nvPr/>
        </p:nvSpPr>
        <p:spPr>
          <a:xfrm>
            <a:off x="4572000" y="3657600"/>
            <a:ext cx="0" cy="886968"/>
          </a:xfrm>
          <a:prstGeom prst="line">
            <a:avLst/>
          </a:prstGeom>
          <a:noFill/>
          <a:ln w="15875">
            <a:solidFill>
              <a:srgbClr val="14213D"/>
            </a:solidFill>
            <a:prstDash val="solid"/>
            <a:tailEnd type="triangle"/>
          </a:ln>
        </p:spPr>
      </p:sp>
      <p:sp>
        <p:nvSpPr>
          <p:cNvPr id="34" name="Shape 31"/>
          <p:cNvSpPr/>
          <p:nvPr/>
        </p:nvSpPr>
        <p:spPr>
          <a:xfrm flipH="1">
            <a:off x="7680960" y="3657600"/>
            <a:ext cx="274320" cy="0"/>
          </a:xfrm>
          <a:prstGeom prst="line">
            <a:avLst/>
          </a:prstGeom>
          <a:noFill/>
          <a:ln w="15875">
            <a:solidFill>
              <a:srgbClr val="14213D"/>
            </a:solidFill>
            <a:prstDash val="solid"/>
          </a:ln>
        </p:spPr>
      </p:sp>
      <p:sp>
        <p:nvSpPr>
          <p:cNvPr id="35" name="Shape 32"/>
          <p:cNvSpPr/>
          <p:nvPr/>
        </p:nvSpPr>
        <p:spPr>
          <a:xfrm>
            <a:off x="7680960" y="3657600"/>
            <a:ext cx="0" cy="886968"/>
          </a:xfrm>
          <a:prstGeom prst="line">
            <a:avLst/>
          </a:prstGeom>
          <a:noFill/>
          <a:ln w="15875">
            <a:solidFill>
              <a:srgbClr val="14213D"/>
            </a:solidFill>
            <a:prstDash val="solid"/>
            <a:tailEnd type="triangle"/>
          </a:ln>
        </p:spPr>
      </p:sp>
      <p:sp>
        <p:nvSpPr>
          <p:cNvPr id="36" name="Shape 33"/>
          <p:cNvSpPr/>
          <p:nvPr/>
        </p:nvSpPr>
        <p:spPr>
          <a:xfrm>
            <a:off x="9966960" y="3657600"/>
            <a:ext cx="274320" cy="0"/>
          </a:xfrm>
          <a:prstGeom prst="line">
            <a:avLst/>
          </a:prstGeom>
          <a:noFill/>
          <a:ln w="15875">
            <a:solidFill>
              <a:srgbClr val="14213D"/>
            </a:solidFill>
            <a:prstDash val="solid"/>
          </a:ln>
        </p:spPr>
      </p:sp>
      <p:sp>
        <p:nvSpPr>
          <p:cNvPr id="37" name="Shape 34"/>
          <p:cNvSpPr/>
          <p:nvPr/>
        </p:nvSpPr>
        <p:spPr>
          <a:xfrm>
            <a:off x="10241280" y="3657600"/>
            <a:ext cx="0" cy="886968"/>
          </a:xfrm>
          <a:prstGeom prst="line">
            <a:avLst/>
          </a:prstGeom>
          <a:noFill/>
          <a:ln w="15875">
            <a:solidFill>
              <a:srgbClr val="14213D"/>
            </a:solidFill>
            <a:prstDash val="solid"/>
            <a:tailEnd type="triangle"/>
          </a:ln>
        </p:spPr>
      </p:sp>
      <p:sp>
        <p:nvSpPr>
          <p:cNvPr id="38" name="Shape 35"/>
          <p:cNvSpPr/>
          <p:nvPr/>
        </p:nvSpPr>
        <p:spPr>
          <a:xfrm>
            <a:off x="2011680" y="4965192"/>
            <a:ext cx="0" cy="265176"/>
          </a:xfrm>
          <a:prstGeom prst="line">
            <a:avLst/>
          </a:prstGeom>
          <a:noFill/>
          <a:ln w="15875">
            <a:solidFill>
              <a:srgbClr val="14213D"/>
            </a:solidFill>
            <a:prstDash val="solid"/>
          </a:ln>
        </p:spPr>
      </p:sp>
      <p:sp>
        <p:nvSpPr>
          <p:cNvPr id="39" name="Shape 36"/>
          <p:cNvSpPr/>
          <p:nvPr/>
        </p:nvSpPr>
        <p:spPr>
          <a:xfrm>
            <a:off x="4572000" y="4965192"/>
            <a:ext cx="0" cy="265176"/>
          </a:xfrm>
          <a:prstGeom prst="line">
            <a:avLst/>
          </a:prstGeom>
          <a:noFill/>
          <a:ln w="15875">
            <a:solidFill>
              <a:srgbClr val="14213D"/>
            </a:solidFill>
            <a:prstDash val="solid"/>
          </a:ln>
        </p:spPr>
      </p:sp>
      <p:sp>
        <p:nvSpPr>
          <p:cNvPr id="40" name="Shape 37"/>
          <p:cNvSpPr/>
          <p:nvPr/>
        </p:nvSpPr>
        <p:spPr>
          <a:xfrm>
            <a:off x="7680960" y="4965192"/>
            <a:ext cx="0" cy="265176"/>
          </a:xfrm>
          <a:prstGeom prst="line">
            <a:avLst/>
          </a:prstGeom>
          <a:noFill/>
          <a:ln w="15875">
            <a:solidFill>
              <a:srgbClr val="14213D"/>
            </a:solidFill>
            <a:prstDash val="solid"/>
          </a:ln>
        </p:spPr>
      </p:sp>
      <p:sp>
        <p:nvSpPr>
          <p:cNvPr id="41" name="Shape 38"/>
          <p:cNvSpPr/>
          <p:nvPr/>
        </p:nvSpPr>
        <p:spPr>
          <a:xfrm>
            <a:off x="10241280" y="4965192"/>
            <a:ext cx="0" cy="265176"/>
          </a:xfrm>
          <a:prstGeom prst="line">
            <a:avLst/>
          </a:prstGeom>
          <a:noFill/>
          <a:ln w="15875">
            <a:solidFill>
              <a:srgbClr val="14213D"/>
            </a:solidFill>
            <a:prstDash val="solid"/>
          </a:ln>
        </p:spPr>
      </p:sp>
      <p:sp>
        <p:nvSpPr>
          <p:cNvPr id="42" name="Shape 39"/>
          <p:cNvSpPr/>
          <p:nvPr/>
        </p:nvSpPr>
        <p:spPr>
          <a:xfrm>
            <a:off x="2011680" y="5230368"/>
            <a:ext cx="8229600" cy="0"/>
          </a:xfrm>
          <a:prstGeom prst="line">
            <a:avLst/>
          </a:prstGeom>
          <a:noFill/>
          <a:ln w="15875">
            <a:solidFill>
              <a:srgbClr val="14213D"/>
            </a:solidFill>
            <a:prstDash val="solid"/>
          </a:ln>
        </p:spPr>
      </p:sp>
      <p:sp>
        <p:nvSpPr>
          <p:cNvPr id="43" name="Shape 40"/>
          <p:cNvSpPr/>
          <p:nvPr/>
        </p:nvSpPr>
        <p:spPr>
          <a:xfrm>
            <a:off x="6126480" y="5230368"/>
            <a:ext cx="0" cy="320040"/>
          </a:xfrm>
          <a:prstGeom prst="line">
            <a:avLst/>
          </a:prstGeom>
          <a:noFill/>
          <a:ln w="15875">
            <a:solidFill>
              <a:srgbClr val="14213D"/>
            </a:solidFill>
            <a:prstDash val="solid"/>
            <a:tailEnd type="triangle"/>
          </a:ln>
        </p:spPr>
      </p:sp>
      <p:sp>
        <p:nvSpPr>
          <p:cNvPr id="44" name="Text 41"/>
          <p:cNvSpPr txBox="1"/>
          <p:nvPr/>
        </p:nvSpPr>
        <p:spPr>
          <a:xfrm>
            <a:off x="4206240" y="2423160"/>
            <a:ext cx="548640" cy="228600"/>
          </a:xfrm>
          <a:prstGeom prst="rect">
            <a:avLst/>
          </a:prstGeom>
          <a:noFill/>
          <a:ln/>
        </p:spPr>
        <p:txBody>
          <a:bodyPr wrap="square" lIns="0" tIns="0" rIns="0" bIns="0" rtlCol="0" anchor="ctr"/>
          <a:lstStyle/>
          <a:p>
            <a:pPr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45" name="Text 42"/>
          <p:cNvSpPr txBox="1"/>
          <p:nvPr/>
        </p:nvSpPr>
        <p:spPr>
          <a:xfrm>
            <a:off x="7498080" y="2423160"/>
            <a:ext cx="548640" cy="228600"/>
          </a:xfrm>
          <a:prstGeom prst="rect">
            <a:avLst/>
          </a:prstGeom>
          <a:noFill/>
          <a:ln/>
        </p:spPr>
        <p:txBody>
          <a:bodyPr wrap="square" lIns="0" tIns="0" rIns="0" bIns="0" rtlCol="0" anchor="ctr"/>
          <a:lstStyle/>
          <a:p>
            <a:pPr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46" name="Text 43"/>
          <p:cNvSpPr txBox="1"/>
          <p:nvPr/>
        </p:nvSpPr>
        <p:spPr>
          <a:xfrm>
            <a:off x="2057400" y="3383280"/>
            <a:ext cx="548640" cy="228600"/>
          </a:xfrm>
          <a:prstGeom prst="rect">
            <a:avLst/>
          </a:prstGeom>
          <a:noFill/>
          <a:ln/>
        </p:spPr>
        <p:txBody>
          <a:bodyPr wrap="square" lIns="0" tIns="0" rIns="0" bIns="0" rtlCol="0" anchor="ctr"/>
          <a:lstStyle/>
          <a:p>
            <a:pPr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47" name="Text 44"/>
          <p:cNvSpPr txBox="1"/>
          <p:nvPr/>
        </p:nvSpPr>
        <p:spPr>
          <a:xfrm>
            <a:off x="4343400" y="3383280"/>
            <a:ext cx="548640" cy="228600"/>
          </a:xfrm>
          <a:prstGeom prst="rect">
            <a:avLst/>
          </a:prstGeom>
          <a:noFill/>
          <a:ln/>
        </p:spPr>
        <p:txBody>
          <a:bodyPr wrap="square" lIns="0" tIns="0" rIns="0" bIns="0" rtlCol="0" anchor="ctr"/>
          <a:lstStyle/>
          <a:p>
            <a:pPr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48" name="Text 45"/>
          <p:cNvSpPr txBox="1"/>
          <p:nvPr/>
        </p:nvSpPr>
        <p:spPr>
          <a:xfrm>
            <a:off x="7726680" y="3383280"/>
            <a:ext cx="548640" cy="228600"/>
          </a:xfrm>
          <a:prstGeom prst="rect">
            <a:avLst/>
          </a:prstGeom>
          <a:noFill/>
          <a:ln/>
        </p:spPr>
        <p:txBody>
          <a:bodyPr wrap="square" lIns="0" tIns="0" rIns="0" bIns="0" rtlCol="0" anchor="ctr"/>
          <a:lstStyle/>
          <a:p>
            <a:pPr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49" name="Text 46"/>
          <p:cNvSpPr txBox="1"/>
          <p:nvPr/>
        </p:nvSpPr>
        <p:spPr>
          <a:xfrm>
            <a:off x="10012680" y="3383280"/>
            <a:ext cx="548640" cy="228600"/>
          </a:xfrm>
          <a:prstGeom prst="rect">
            <a:avLst/>
          </a:prstGeom>
          <a:noFill/>
          <a:ln/>
        </p:spPr>
        <p:txBody>
          <a:bodyPr wrap="square" lIns="0" tIns="0" rIns="0" bIns="0" rtlCol="0" anchor="ctr"/>
          <a:lstStyle/>
          <a:p>
            <a:pPr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3 · TWO METHODS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Largest of Three: Nested if vs. "Largest So Far"</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14</a:t>
            </a:r>
            <a:endParaRPr lang="en-US" sz="1000" dirty="0"/>
          </a:p>
        </p:txBody>
      </p:sp>
      <p:sp>
        <p:nvSpPr>
          <p:cNvPr id="7" name="Shape 4"/>
          <p:cNvSpPr/>
          <p:nvPr/>
        </p:nvSpPr>
        <p:spPr>
          <a:xfrm>
            <a:off x="548640" y="1600200"/>
            <a:ext cx="4480560" cy="4526280"/>
          </a:xfrm>
          <a:prstGeom prst="roundRect">
            <a:avLst>
              <a:gd name="adj" fmla="val 2041"/>
            </a:avLst>
          </a:prstGeom>
          <a:solidFill>
            <a:srgbClr val="0F1729"/>
          </a:solidFill>
          <a:ln w="12700">
            <a:solidFill>
              <a:srgbClr val="0F1729"/>
            </a:solidFill>
            <a:prstDash val="solid"/>
          </a:ln>
        </p:spPr>
      </p:sp>
      <p:sp>
        <p:nvSpPr>
          <p:cNvPr id="8" name="Text 5"/>
          <p:cNvSpPr txBox="1"/>
          <p:nvPr/>
        </p:nvSpPr>
        <p:spPr>
          <a:xfrm>
            <a:off x="777240" y="1709928"/>
            <a:ext cx="40233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Method 1: nested if-else</a:t>
            </a:r>
            <a:endParaRPr lang="en-US" sz="1100" dirty="0"/>
          </a:p>
        </p:txBody>
      </p:sp>
      <p:sp>
        <p:nvSpPr>
          <p:cNvPr id="9" name="Text 6"/>
          <p:cNvSpPr txBox="1"/>
          <p:nvPr/>
        </p:nvSpPr>
        <p:spPr>
          <a:xfrm>
            <a:off x="777240" y="2011680"/>
            <a:ext cx="4023360" cy="4023360"/>
          </a:xfrm>
          <a:prstGeom prst="rect">
            <a:avLst/>
          </a:prstGeom>
          <a:noFill/>
          <a:ln/>
        </p:spPr>
        <p:txBody>
          <a:bodyPr wrap="square" lIns="0" tIns="0" rIns="0" bIns="0" rtlCol="0" anchor="t"/>
          <a:lstStyle/>
          <a:p>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double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max1;</a:t>
            </a:r>
            <a:endParaRPr lang="en-US" sz="1200" dirty="0"/>
          </a:p>
          <a:p>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if</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 &gt;= b)</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if</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 &gt;= c)</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max1 = a;</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else</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max1 = c;</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else</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if</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(b &gt;= c)</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max1 = b;</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else</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max1 = c;</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5257800" y="1600200"/>
            <a:ext cx="6400800" cy="2926080"/>
          </a:xfrm>
          <a:prstGeom prst="roundRect">
            <a:avLst>
              <a:gd name="adj" fmla="val 3125"/>
            </a:avLst>
          </a:prstGeom>
          <a:solidFill>
            <a:srgbClr val="0F1729"/>
          </a:solidFill>
          <a:ln w="12700">
            <a:solidFill>
              <a:srgbClr val="0F1729"/>
            </a:solidFill>
            <a:prstDash val="solid"/>
          </a:ln>
        </p:spPr>
      </p:sp>
      <p:sp>
        <p:nvSpPr>
          <p:cNvPr id="11" name="Text 8"/>
          <p:cNvSpPr txBox="1"/>
          <p:nvPr/>
        </p:nvSpPr>
        <p:spPr>
          <a:xfrm>
            <a:off x="5486400" y="1709928"/>
            <a:ext cx="59436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Method 2: largest so far</a:t>
            </a:r>
            <a:endParaRPr lang="en-US" sz="1100" dirty="0"/>
          </a:p>
        </p:txBody>
      </p:sp>
      <p:sp>
        <p:nvSpPr>
          <p:cNvPr id="12" name="Text 9"/>
          <p:cNvSpPr txBox="1"/>
          <p:nvPr/>
        </p:nvSpPr>
        <p:spPr>
          <a:xfrm>
            <a:off x="5486400" y="2011680"/>
            <a:ext cx="5943600" cy="2423160"/>
          </a:xfrm>
          <a:prstGeom prst="rect">
            <a:avLst/>
          </a:prstGeom>
          <a:noFill/>
          <a:ln/>
        </p:spPr>
        <p:txBody>
          <a:bodyPr wrap="square" lIns="0" tIns="0" rIns="0" bIns="0" rtlCol="0" anchor="t"/>
          <a:lstStyle/>
          <a:p>
            <a:pPr indent="0" marL="0">
              <a:lnSpc>
                <a:spcPts val="1400"/>
              </a:lnSpc>
              <a:buNone/>
            </a:pPr>
            <a:r>
              <a:rPr lang="en-US" sz="1300" dirty="0">
                <a:solidFill>
                  <a:srgbClr val="7F8BA3"/>
                </a:solidFill>
                <a:latin typeface="Courier New" pitchFamily="34" charset="0"/>
                <a:ea typeface="Courier New" pitchFamily="34" charset="-122"/>
                <a:cs typeface="Courier New" pitchFamily="34" charset="-120"/>
              </a:rPr>
              <a:t>// Method 2: start with a, then let b and c challenge it.</a:t>
            </a:r>
            <a:endParaRPr lang="en-US" sz="1300" dirty="0"/>
          </a:p>
          <a:p>
            <a:pPr indent="0" marL="0">
              <a:lnSpc>
                <a:spcPts val="1400"/>
              </a:lnSpc>
              <a:buNone/>
            </a:pPr>
            <a:r>
              <a:rPr lang="en-US" sz="1300" dirty="0">
                <a:solidFill>
                  <a:srgbClr val="4EC9B0"/>
                </a:solidFill>
                <a:latin typeface="Courier New" pitchFamily="34" charset="0"/>
                <a:ea typeface="Courier New" pitchFamily="34" charset="-122"/>
                <a:cs typeface="Courier New" pitchFamily="34" charset="-120"/>
              </a:rPr>
              <a:t>double</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max2 = a;</a:t>
            </a:r>
            <a:endParaRPr lang="en-US" sz="1300" dirty="0"/>
          </a:p>
          <a:p>
            <a:pPr indent="0" marL="0">
              <a:lnSpc>
                <a:spcPts val="1400"/>
              </a:lnSpc>
              <a:buNone/>
            </a:pPr>
            <a:r>
              <a:rPr lang="en-US" sz="1300" dirty="0">
                <a:solidFill>
                  <a:srgbClr val="7AB8FF"/>
                </a:solidFill>
                <a:latin typeface="Courier New" pitchFamily="34" charset="0"/>
                <a:ea typeface="Courier New" pitchFamily="34" charset="-122"/>
                <a:cs typeface="Courier New" pitchFamily="34" charset="-120"/>
              </a:rPr>
              <a:t>if</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(b &gt; max2)</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max2 = b;</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7AB8FF"/>
                </a:solidFill>
                <a:latin typeface="Courier New" pitchFamily="34" charset="0"/>
                <a:ea typeface="Courier New" pitchFamily="34" charset="-122"/>
                <a:cs typeface="Courier New" pitchFamily="34" charset="-120"/>
              </a:rPr>
              <a:t>if</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(c &gt; max2)</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max2 = c;</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3" name="Shape 10"/>
          <p:cNvSpPr/>
          <p:nvPr/>
        </p:nvSpPr>
        <p:spPr>
          <a:xfrm>
            <a:off x="5257800" y="4663440"/>
            <a:ext cx="6400800" cy="1463040"/>
          </a:xfrm>
          <a:prstGeom prst="roundRect">
            <a:avLst>
              <a:gd name="adj" fmla="val 6250"/>
            </a:avLst>
          </a:prstGeom>
          <a:solidFill>
            <a:srgbClr val="0B0F19"/>
          </a:solidFill>
          <a:ln w="12700">
            <a:solidFill>
              <a:srgbClr val="2A3654"/>
            </a:solidFill>
            <a:prstDash val="solid"/>
          </a:ln>
        </p:spPr>
      </p:sp>
      <p:sp>
        <p:nvSpPr>
          <p:cNvPr id="14" name="Shape 11"/>
          <p:cNvSpPr/>
          <p:nvPr/>
        </p:nvSpPr>
        <p:spPr>
          <a:xfrm>
            <a:off x="5440680" y="4791456"/>
            <a:ext cx="118872" cy="118872"/>
          </a:xfrm>
          <a:prstGeom prst="ellipse">
            <a:avLst/>
          </a:prstGeom>
          <a:solidFill>
            <a:srgbClr val="FF5F57"/>
          </a:solidFill>
          <a:ln w="12700">
            <a:solidFill>
              <a:srgbClr val="FF5F57"/>
            </a:solidFill>
            <a:prstDash val="solid"/>
          </a:ln>
        </p:spPr>
      </p:sp>
      <p:sp>
        <p:nvSpPr>
          <p:cNvPr id="15" name="Shape 12"/>
          <p:cNvSpPr/>
          <p:nvPr/>
        </p:nvSpPr>
        <p:spPr>
          <a:xfrm>
            <a:off x="5669280" y="4791456"/>
            <a:ext cx="118872" cy="118872"/>
          </a:xfrm>
          <a:prstGeom prst="ellipse">
            <a:avLst/>
          </a:prstGeom>
          <a:solidFill>
            <a:srgbClr val="FEBC2E"/>
          </a:solidFill>
          <a:ln w="12700">
            <a:solidFill>
              <a:srgbClr val="FEBC2E"/>
            </a:solidFill>
            <a:prstDash val="solid"/>
          </a:ln>
        </p:spPr>
      </p:sp>
      <p:sp>
        <p:nvSpPr>
          <p:cNvPr id="16" name="Shape 13"/>
          <p:cNvSpPr/>
          <p:nvPr/>
        </p:nvSpPr>
        <p:spPr>
          <a:xfrm>
            <a:off x="5897880" y="4791456"/>
            <a:ext cx="118872" cy="118872"/>
          </a:xfrm>
          <a:prstGeom prst="ellipse">
            <a:avLst/>
          </a:prstGeom>
          <a:solidFill>
            <a:srgbClr val="28C840"/>
          </a:solidFill>
          <a:ln w="12700">
            <a:solidFill>
              <a:srgbClr val="28C840"/>
            </a:solidFill>
            <a:prstDash val="solid"/>
          </a:ln>
        </p:spPr>
      </p:sp>
      <p:sp>
        <p:nvSpPr>
          <p:cNvPr id="17" name="Text 14"/>
          <p:cNvSpPr txBox="1"/>
          <p:nvPr/>
        </p:nvSpPr>
        <p:spPr>
          <a:xfrm>
            <a:off x="6172200" y="4736592"/>
            <a:ext cx="53035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8" name="Text 15"/>
          <p:cNvSpPr txBox="1"/>
          <p:nvPr/>
        </p:nvSpPr>
        <p:spPr>
          <a:xfrm>
            <a:off x="5486400" y="5047488"/>
            <a:ext cx="5943600" cy="96012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a =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-2</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b =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-8</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c =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Method 1 (nested if):      -2</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Method 2 (largest so far): -2</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4 · 05_04_LEAPYEAR</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Leap Year: Nested Decisions or One Expression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15</a:t>
            </a:r>
            <a:endParaRPr lang="en-US" sz="1000" dirty="0"/>
          </a:p>
        </p:txBody>
      </p:sp>
      <p:sp>
        <p:nvSpPr>
          <p:cNvPr id="7" name="Shape 4"/>
          <p:cNvSpPr/>
          <p:nvPr/>
        </p:nvSpPr>
        <p:spPr>
          <a:xfrm>
            <a:off x="822960" y="1600200"/>
            <a:ext cx="2651760" cy="822960"/>
          </a:xfrm>
          <a:prstGeom prst="flowChartDecision">
            <a:avLst/>
          </a:prstGeom>
          <a:solidFill>
            <a:srgbClr val="E3ECF8"/>
          </a:solidFill>
          <a:ln w="15875">
            <a:solidFill>
              <a:srgbClr val="14213D"/>
            </a:solidFill>
            <a:prstDash val="solid"/>
          </a:ln>
        </p:spPr>
      </p:sp>
      <p:sp>
        <p:nvSpPr>
          <p:cNvPr id="8" name="Text 5"/>
          <p:cNvSpPr txBox="1"/>
          <p:nvPr/>
        </p:nvSpPr>
        <p:spPr>
          <a:xfrm>
            <a:off x="868680" y="1600200"/>
            <a:ext cx="2560320" cy="82296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year mod 4 = 0 ?</a:t>
            </a:r>
            <a:endParaRPr lang="en-US" sz="1200" dirty="0"/>
          </a:p>
        </p:txBody>
      </p:sp>
      <p:sp>
        <p:nvSpPr>
          <p:cNvPr id="9" name="Shape 6"/>
          <p:cNvSpPr/>
          <p:nvPr/>
        </p:nvSpPr>
        <p:spPr>
          <a:xfrm>
            <a:off x="822960" y="2834640"/>
            <a:ext cx="2651760" cy="822960"/>
          </a:xfrm>
          <a:prstGeom prst="flowChartDecision">
            <a:avLst/>
          </a:prstGeom>
          <a:solidFill>
            <a:srgbClr val="E3ECF8"/>
          </a:solidFill>
          <a:ln w="15875">
            <a:solidFill>
              <a:srgbClr val="14213D"/>
            </a:solidFill>
            <a:prstDash val="solid"/>
          </a:ln>
        </p:spPr>
      </p:sp>
      <p:sp>
        <p:nvSpPr>
          <p:cNvPr id="10" name="Text 7"/>
          <p:cNvSpPr txBox="1"/>
          <p:nvPr/>
        </p:nvSpPr>
        <p:spPr>
          <a:xfrm>
            <a:off x="868680" y="2834640"/>
            <a:ext cx="2560320" cy="82296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year mod 100 = 0 ?</a:t>
            </a:r>
            <a:endParaRPr lang="en-US" sz="1200" dirty="0"/>
          </a:p>
        </p:txBody>
      </p:sp>
      <p:sp>
        <p:nvSpPr>
          <p:cNvPr id="11" name="Shape 8"/>
          <p:cNvSpPr/>
          <p:nvPr/>
        </p:nvSpPr>
        <p:spPr>
          <a:xfrm>
            <a:off x="822960" y="4069080"/>
            <a:ext cx="2651760" cy="822960"/>
          </a:xfrm>
          <a:prstGeom prst="flowChartDecision">
            <a:avLst/>
          </a:prstGeom>
          <a:solidFill>
            <a:srgbClr val="E3ECF8"/>
          </a:solidFill>
          <a:ln w="15875">
            <a:solidFill>
              <a:srgbClr val="14213D"/>
            </a:solidFill>
            <a:prstDash val="solid"/>
          </a:ln>
        </p:spPr>
      </p:sp>
      <p:sp>
        <p:nvSpPr>
          <p:cNvPr id="12" name="Text 9"/>
          <p:cNvSpPr txBox="1"/>
          <p:nvPr/>
        </p:nvSpPr>
        <p:spPr>
          <a:xfrm>
            <a:off x="868680" y="4069080"/>
            <a:ext cx="2560320" cy="82296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year mod 400 = 0 ?</a:t>
            </a:r>
            <a:endParaRPr lang="en-US" sz="1200" dirty="0"/>
          </a:p>
        </p:txBody>
      </p:sp>
      <p:sp>
        <p:nvSpPr>
          <p:cNvPr id="13" name="Shape 10"/>
          <p:cNvSpPr/>
          <p:nvPr/>
        </p:nvSpPr>
        <p:spPr>
          <a:xfrm>
            <a:off x="3909060" y="1801368"/>
            <a:ext cx="1508760" cy="420624"/>
          </a:xfrm>
          <a:prstGeom prst="flowChartProcess">
            <a:avLst/>
          </a:prstGeom>
          <a:solidFill>
            <a:srgbClr val="FFFFFF"/>
          </a:solidFill>
          <a:ln w="15875">
            <a:solidFill>
              <a:srgbClr val="14213D"/>
            </a:solidFill>
            <a:prstDash val="solid"/>
          </a:ln>
        </p:spPr>
      </p:sp>
      <p:sp>
        <p:nvSpPr>
          <p:cNvPr id="14" name="Text 11"/>
          <p:cNvSpPr txBox="1"/>
          <p:nvPr/>
        </p:nvSpPr>
        <p:spPr>
          <a:xfrm>
            <a:off x="3954780" y="1801368"/>
            <a:ext cx="1417320" cy="420624"/>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leap ← false</a:t>
            </a:r>
            <a:endParaRPr lang="en-US" sz="1200" dirty="0"/>
          </a:p>
        </p:txBody>
      </p:sp>
      <p:sp>
        <p:nvSpPr>
          <p:cNvPr id="15" name="Shape 12"/>
          <p:cNvSpPr/>
          <p:nvPr/>
        </p:nvSpPr>
        <p:spPr>
          <a:xfrm>
            <a:off x="3909060" y="3035808"/>
            <a:ext cx="1508760" cy="420624"/>
          </a:xfrm>
          <a:prstGeom prst="flowChartProcess">
            <a:avLst/>
          </a:prstGeom>
          <a:solidFill>
            <a:srgbClr val="FFFFFF"/>
          </a:solidFill>
          <a:ln w="15875">
            <a:solidFill>
              <a:srgbClr val="14213D"/>
            </a:solidFill>
            <a:prstDash val="solid"/>
          </a:ln>
        </p:spPr>
      </p:sp>
      <p:sp>
        <p:nvSpPr>
          <p:cNvPr id="16" name="Text 13"/>
          <p:cNvSpPr txBox="1"/>
          <p:nvPr/>
        </p:nvSpPr>
        <p:spPr>
          <a:xfrm>
            <a:off x="3954780" y="3035808"/>
            <a:ext cx="1417320" cy="420624"/>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leap ← true</a:t>
            </a:r>
            <a:endParaRPr lang="en-US" sz="1200" dirty="0"/>
          </a:p>
        </p:txBody>
      </p:sp>
      <p:sp>
        <p:nvSpPr>
          <p:cNvPr id="17" name="Shape 14"/>
          <p:cNvSpPr/>
          <p:nvPr/>
        </p:nvSpPr>
        <p:spPr>
          <a:xfrm>
            <a:off x="3909060" y="4270248"/>
            <a:ext cx="1508760" cy="420624"/>
          </a:xfrm>
          <a:prstGeom prst="flowChartProcess">
            <a:avLst/>
          </a:prstGeom>
          <a:solidFill>
            <a:srgbClr val="FFFFFF"/>
          </a:solidFill>
          <a:ln w="15875">
            <a:solidFill>
              <a:srgbClr val="14213D"/>
            </a:solidFill>
            <a:prstDash val="solid"/>
          </a:ln>
        </p:spPr>
      </p:sp>
      <p:sp>
        <p:nvSpPr>
          <p:cNvPr id="18" name="Text 15"/>
          <p:cNvSpPr txBox="1"/>
          <p:nvPr/>
        </p:nvSpPr>
        <p:spPr>
          <a:xfrm>
            <a:off x="3954780" y="4270248"/>
            <a:ext cx="1417320" cy="420624"/>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leap ← true</a:t>
            </a:r>
            <a:endParaRPr lang="en-US" sz="1200" dirty="0"/>
          </a:p>
        </p:txBody>
      </p:sp>
      <p:sp>
        <p:nvSpPr>
          <p:cNvPr id="19" name="Shape 16"/>
          <p:cNvSpPr/>
          <p:nvPr/>
        </p:nvSpPr>
        <p:spPr>
          <a:xfrm>
            <a:off x="1394460" y="5276088"/>
            <a:ext cx="1508760" cy="420624"/>
          </a:xfrm>
          <a:prstGeom prst="flowChartProcess">
            <a:avLst/>
          </a:prstGeom>
          <a:solidFill>
            <a:srgbClr val="FFFFFF"/>
          </a:solidFill>
          <a:ln w="15875">
            <a:solidFill>
              <a:srgbClr val="14213D"/>
            </a:solidFill>
            <a:prstDash val="solid"/>
          </a:ln>
        </p:spPr>
      </p:sp>
      <p:sp>
        <p:nvSpPr>
          <p:cNvPr id="20" name="Text 17"/>
          <p:cNvSpPr txBox="1"/>
          <p:nvPr/>
        </p:nvSpPr>
        <p:spPr>
          <a:xfrm>
            <a:off x="1440180" y="5276088"/>
            <a:ext cx="1417320" cy="420624"/>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leap ← false</a:t>
            </a:r>
            <a:endParaRPr lang="en-US" sz="1200" dirty="0"/>
          </a:p>
        </p:txBody>
      </p:sp>
      <p:sp>
        <p:nvSpPr>
          <p:cNvPr id="21" name="Shape 18"/>
          <p:cNvSpPr/>
          <p:nvPr/>
        </p:nvSpPr>
        <p:spPr>
          <a:xfrm>
            <a:off x="3886200" y="5715000"/>
            <a:ext cx="1554480" cy="365760"/>
          </a:xfrm>
          <a:prstGeom prst="flowChartInputOutput">
            <a:avLst/>
          </a:prstGeom>
          <a:solidFill>
            <a:srgbClr val="FFFFFF"/>
          </a:solidFill>
          <a:ln w="15875">
            <a:solidFill>
              <a:srgbClr val="14213D"/>
            </a:solidFill>
            <a:prstDash val="solid"/>
          </a:ln>
        </p:spPr>
      </p:sp>
      <p:sp>
        <p:nvSpPr>
          <p:cNvPr id="22" name="Text 19"/>
          <p:cNvSpPr txBox="1"/>
          <p:nvPr/>
        </p:nvSpPr>
        <p:spPr>
          <a:xfrm>
            <a:off x="3931920" y="5715000"/>
            <a:ext cx="1463040" cy="36576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Print leap</a:t>
            </a:r>
            <a:endParaRPr lang="en-US" sz="1200" dirty="0"/>
          </a:p>
        </p:txBody>
      </p:sp>
      <p:sp>
        <p:nvSpPr>
          <p:cNvPr id="23" name="Shape 20"/>
          <p:cNvSpPr/>
          <p:nvPr/>
        </p:nvSpPr>
        <p:spPr>
          <a:xfrm>
            <a:off x="3474720" y="2011680"/>
            <a:ext cx="434340" cy="0"/>
          </a:xfrm>
          <a:prstGeom prst="line">
            <a:avLst/>
          </a:prstGeom>
          <a:noFill/>
          <a:ln w="15875">
            <a:solidFill>
              <a:srgbClr val="14213D"/>
            </a:solidFill>
            <a:prstDash val="solid"/>
            <a:tailEnd type="triangle"/>
          </a:ln>
        </p:spPr>
      </p:sp>
      <p:sp>
        <p:nvSpPr>
          <p:cNvPr id="24" name="Shape 21"/>
          <p:cNvSpPr/>
          <p:nvPr/>
        </p:nvSpPr>
        <p:spPr>
          <a:xfrm>
            <a:off x="3474720" y="3246120"/>
            <a:ext cx="434340" cy="0"/>
          </a:xfrm>
          <a:prstGeom prst="line">
            <a:avLst/>
          </a:prstGeom>
          <a:noFill/>
          <a:ln w="15875">
            <a:solidFill>
              <a:srgbClr val="14213D"/>
            </a:solidFill>
            <a:prstDash val="solid"/>
            <a:tailEnd type="triangle"/>
          </a:ln>
        </p:spPr>
      </p:sp>
      <p:sp>
        <p:nvSpPr>
          <p:cNvPr id="25" name="Shape 22"/>
          <p:cNvSpPr/>
          <p:nvPr/>
        </p:nvSpPr>
        <p:spPr>
          <a:xfrm>
            <a:off x="3474720" y="4480560"/>
            <a:ext cx="434340" cy="0"/>
          </a:xfrm>
          <a:prstGeom prst="line">
            <a:avLst/>
          </a:prstGeom>
          <a:noFill/>
          <a:ln w="15875">
            <a:solidFill>
              <a:srgbClr val="14213D"/>
            </a:solidFill>
            <a:prstDash val="solid"/>
            <a:tailEnd type="triangle"/>
          </a:ln>
        </p:spPr>
      </p:sp>
      <p:sp>
        <p:nvSpPr>
          <p:cNvPr id="26" name="Shape 23"/>
          <p:cNvSpPr/>
          <p:nvPr/>
        </p:nvSpPr>
        <p:spPr>
          <a:xfrm>
            <a:off x="2148840" y="2423160"/>
            <a:ext cx="0" cy="411480"/>
          </a:xfrm>
          <a:prstGeom prst="line">
            <a:avLst/>
          </a:prstGeom>
          <a:noFill/>
          <a:ln w="15875">
            <a:solidFill>
              <a:srgbClr val="14213D"/>
            </a:solidFill>
            <a:prstDash val="solid"/>
            <a:tailEnd type="triangle"/>
          </a:ln>
        </p:spPr>
      </p:sp>
      <p:sp>
        <p:nvSpPr>
          <p:cNvPr id="27" name="Shape 24"/>
          <p:cNvSpPr/>
          <p:nvPr/>
        </p:nvSpPr>
        <p:spPr>
          <a:xfrm>
            <a:off x="2148840" y="3657600"/>
            <a:ext cx="0" cy="411480"/>
          </a:xfrm>
          <a:prstGeom prst="line">
            <a:avLst/>
          </a:prstGeom>
          <a:noFill/>
          <a:ln w="15875">
            <a:solidFill>
              <a:srgbClr val="14213D"/>
            </a:solidFill>
            <a:prstDash val="solid"/>
            <a:tailEnd type="triangle"/>
          </a:ln>
        </p:spPr>
      </p:sp>
      <p:sp>
        <p:nvSpPr>
          <p:cNvPr id="28" name="Shape 25"/>
          <p:cNvSpPr/>
          <p:nvPr/>
        </p:nvSpPr>
        <p:spPr>
          <a:xfrm>
            <a:off x="2148840" y="4892040"/>
            <a:ext cx="0" cy="384048"/>
          </a:xfrm>
          <a:prstGeom prst="line">
            <a:avLst/>
          </a:prstGeom>
          <a:noFill/>
          <a:ln w="15875">
            <a:solidFill>
              <a:srgbClr val="14213D"/>
            </a:solidFill>
            <a:prstDash val="solid"/>
            <a:tailEnd type="triangle"/>
          </a:ln>
        </p:spPr>
      </p:sp>
      <p:sp>
        <p:nvSpPr>
          <p:cNvPr id="29" name="Shape 26"/>
          <p:cNvSpPr/>
          <p:nvPr/>
        </p:nvSpPr>
        <p:spPr>
          <a:xfrm>
            <a:off x="5417820" y="2011680"/>
            <a:ext cx="571500" cy="0"/>
          </a:xfrm>
          <a:prstGeom prst="line">
            <a:avLst/>
          </a:prstGeom>
          <a:noFill/>
          <a:ln w="15875">
            <a:solidFill>
              <a:srgbClr val="14213D"/>
            </a:solidFill>
            <a:prstDash val="solid"/>
          </a:ln>
        </p:spPr>
      </p:sp>
      <p:sp>
        <p:nvSpPr>
          <p:cNvPr id="30" name="Shape 27"/>
          <p:cNvSpPr/>
          <p:nvPr/>
        </p:nvSpPr>
        <p:spPr>
          <a:xfrm>
            <a:off x="5417820" y="3246120"/>
            <a:ext cx="571500" cy="0"/>
          </a:xfrm>
          <a:prstGeom prst="line">
            <a:avLst/>
          </a:prstGeom>
          <a:noFill/>
          <a:ln w="15875">
            <a:solidFill>
              <a:srgbClr val="14213D"/>
            </a:solidFill>
            <a:prstDash val="solid"/>
          </a:ln>
        </p:spPr>
      </p:sp>
      <p:sp>
        <p:nvSpPr>
          <p:cNvPr id="31" name="Shape 28"/>
          <p:cNvSpPr/>
          <p:nvPr/>
        </p:nvSpPr>
        <p:spPr>
          <a:xfrm>
            <a:off x="5417820" y="4480560"/>
            <a:ext cx="571500" cy="0"/>
          </a:xfrm>
          <a:prstGeom prst="line">
            <a:avLst/>
          </a:prstGeom>
          <a:noFill/>
          <a:ln w="15875">
            <a:solidFill>
              <a:srgbClr val="14213D"/>
            </a:solidFill>
            <a:prstDash val="solid"/>
          </a:ln>
        </p:spPr>
      </p:sp>
      <p:sp>
        <p:nvSpPr>
          <p:cNvPr id="32" name="Shape 29"/>
          <p:cNvSpPr/>
          <p:nvPr/>
        </p:nvSpPr>
        <p:spPr>
          <a:xfrm>
            <a:off x="2903220" y="5486400"/>
            <a:ext cx="3086100" cy="0"/>
          </a:xfrm>
          <a:prstGeom prst="line">
            <a:avLst/>
          </a:prstGeom>
          <a:noFill/>
          <a:ln w="15875">
            <a:solidFill>
              <a:srgbClr val="14213D"/>
            </a:solidFill>
            <a:prstDash val="solid"/>
          </a:ln>
        </p:spPr>
      </p:sp>
      <p:sp>
        <p:nvSpPr>
          <p:cNvPr id="33" name="Shape 30"/>
          <p:cNvSpPr/>
          <p:nvPr/>
        </p:nvSpPr>
        <p:spPr>
          <a:xfrm>
            <a:off x="5989320" y="2011680"/>
            <a:ext cx="0" cy="3886200"/>
          </a:xfrm>
          <a:prstGeom prst="line">
            <a:avLst/>
          </a:prstGeom>
          <a:noFill/>
          <a:ln w="15875">
            <a:solidFill>
              <a:srgbClr val="14213D"/>
            </a:solidFill>
            <a:prstDash val="solid"/>
          </a:ln>
        </p:spPr>
      </p:sp>
      <p:sp>
        <p:nvSpPr>
          <p:cNvPr id="34" name="Shape 31"/>
          <p:cNvSpPr/>
          <p:nvPr/>
        </p:nvSpPr>
        <p:spPr>
          <a:xfrm flipH="1">
            <a:off x="5440680" y="5897880"/>
            <a:ext cx="548640" cy="0"/>
          </a:xfrm>
          <a:prstGeom prst="line">
            <a:avLst/>
          </a:prstGeom>
          <a:noFill/>
          <a:ln w="15875">
            <a:solidFill>
              <a:srgbClr val="14213D"/>
            </a:solidFill>
            <a:prstDash val="solid"/>
            <a:tailEnd type="triangle"/>
          </a:ln>
        </p:spPr>
      </p:sp>
      <p:sp>
        <p:nvSpPr>
          <p:cNvPr id="35" name="Text 32"/>
          <p:cNvSpPr txBox="1"/>
          <p:nvPr/>
        </p:nvSpPr>
        <p:spPr>
          <a:xfrm>
            <a:off x="3502152" y="1737360"/>
            <a:ext cx="548640" cy="228600"/>
          </a:xfrm>
          <a:prstGeom prst="rect">
            <a:avLst/>
          </a:prstGeom>
          <a:noFill/>
          <a:ln/>
        </p:spPr>
        <p:txBody>
          <a:bodyPr wrap="square" lIns="0" tIns="0" rIns="0" bIns="0" rtlCol="0" anchor="ctr"/>
          <a:lstStyle/>
          <a:p>
            <a:pPr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36" name="Text 33"/>
          <p:cNvSpPr txBox="1"/>
          <p:nvPr/>
        </p:nvSpPr>
        <p:spPr>
          <a:xfrm>
            <a:off x="3502152" y="2971800"/>
            <a:ext cx="548640" cy="228600"/>
          </a:xfrm>
          <a:prstGeom prst="rect">
            <a:avLst/>
          </a:prstGeom>
          <a:noFill/>
          <a:ln/>
        </p:spPr>
        <p:txBody>
          <a:bodyPr wrap="square" lIns="0" tIns="0" rIns="0" bIns="0" rtlCol="0" anchor="ctr"/>
          <a:lstStyle/>
          <a:p>
            <a:pPr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37" name="Text 34"/>
          <p:cNvSpPr txBox="1"/>
          <p:nvPr/>
        </p:nvSpPr>
        <p:spPr>
          <a:xfrm>
            <a:off x="3502152" y="4206240"/>
            <a:ext cx="548640" cy="228600"/>
          </a:xfrm>
          <a:prstGeom prst="rect">
            <a:avLst/>
          </a:prstGeom>
          <a:noFill/>
          <a:ln/>
        </p:spPr>
        <p:txBody>
          <a:bodyPr wrap="square" lIns="0" tIns="0" rIns="0" bIns="0" rtlCol="0" anchor="ctr"/>
          <a:lstStyle/>
          <a:p>
            <a:pPr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38" name="Text 35"/>
          <p:cNvSpPr txBox="1"/>
          <p:nvPr/>
        </p:nvSpPr>
        <p:spPr>
          <a:xfrm>
            <a:off x="2221992" y="2404872"/>
            <a:ext cx="548640" cy="228600"/>
          </a:xfrm>
          <a:prstGeom prst="rect">
            <a:avLst/>
          </a:prstGeom>
          <a:noFill/>
          <a:ln/>
        </p:spPr>
        <p:txBody>
          <a:bodyPr wrap="square" lIns="0" tIns="0" rIns="0" bIns="0" rtlCol="0" anchor="ctr"/>
          <a:lstStyle/>
          <a:p>
            <a:pPr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39" name="Text 36"/>
          <p:cNvSpPr txBox="1"/>
          <p:nvPr/>
        </p:nvSpPr>
        <p:spPr>
          <a:xfrm>
            <a:off x="2221992" y="3639312"/>
            <a:ext cx="548640" cy="228600"/>
          </a:xfrm>
          <a:prstGeom prst="rect">
            <a:avLst/>
          </a:prstGeom>
          <a:noFill/>
          <a:ln/>
        </p:spPr>
        <p:txBody>
          <a:bodyPr wrap="square" lIns="0" tIns="0" rIns="0" bIns="0" rtlCol="0" anchor="ctr"/>
          <a:lstStyle/>
          <a:p>
            <a:pPr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40" name="Text 37"/>
          <p:cNvSpPr txBox="1"/>
          <p:nvPr/>
        </p:nvSpPr>
        <p:spPr>
          <a:xfrm>
            <a:off x="2221992" y="4873752"/>
            <a:ext cx="548640" cy="228600"/>
          </a:xfrm>
          <a:prstGeom prst="rect">
            <a:avLst/>
          </a:prstGeom>
          <a:noFill/>
          <a:ln/>
        </p:spPr>
        <p:txBody>
          <a:bodyPr wrap="square" lIns="0" tIns="0" rIns="0" bIns="0" rtlCol="0" anchor="ctr"/>
          <a:lstStyle/>
          <a:p>
            <a:pPr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41" name="Shape 38"/>
          <p:cNvSpPr/>
          <p:nvPr/>
        </p:nvSpPr>
        <p:spPr>
          <a:xfrm>
            <a:off x="6583680" y="1600200"/>
            <a:ext cx="5074920" cy="1097280"/>
          </a:xfrm>
          <a:prstGeom prst="roundRect">
            <a:avLst>
              <a:gd name="adj" fmla="val 8333"/>
            </a:avLst>
          </a:prstGeom>
          <a:solidFill>
            <a:srgbClr val="0F1729"/>
          </a:solidFill>
          <a:ln w="12700">
            <a:solidFill>
              <a:srgbClr val="0F1729"/>
            </a:solidFill>
            <a:prstDash val="solid"/>
          </a:ln>
        </p:spPr>
      </p:sp>
      <p:sp>
        <p:nvSpPr>
          <p:cNvPr id="42" name="Text 39"/>
          <p:cNvSpPr txBox="1"/>
          <p:nvPr/>
        </p:nvSpPr>
        <p:spPr>
          <a:xfrm>
            <a:off x="6812280" y="1709928"/>
            <a:ext cx="46177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Method 2: one expression</a:t>
            </a:r>
            <a:endParaRPr lang="en-US" sz="1100" dirty="0"/>
          </a:p>
        </p:txBody>
      </p:sp>
      <p:sp>
        <p:nvSpPr>
          <p:cNvPr id="43" name="Text 40"/>
          <p:cNvSpPr txBox="1"/>
          <p:nvPr/>
        </p:nvSpPr>
        <p:spPr>
          <a:xfrm>
            <a:off x="6812280" y="2011680"/>
            <a:ext cx="4617720" cy="594360"/>
          </a:xfrm>
          <a:prstGeom prst="rect">
            <a:avLst/>
          </a:prstGeom>
          <a:noFill/>
          <a:ln/>
        </p:spPr>
        <p:txBody>
          <a:bodyPr wrap="square" lIns="0" tIns="0" rIns="0" bIns="0" rtlCol="0" anchor="t"/>
          <a:lstStyle/>
          <a:p>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bool</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leap2 = (year %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4</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0</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&amp;&amp; year %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100</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0</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 year %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400</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0</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583680" y="2834640"/>
          <a:ext cx="5074920" cy="914400"/>
        </p:xfrm>
        <a:graphic>
          <a:graphicData uri="http://schemas.openxmlformats.org/drawingml/2006/table">
            <a:tbl>
              <a:tblPr/>
              <a:tblGrid>
                <a:gridCol w="1051560"/>
                <a:gridCol w="914400"/>
                <a:gridCol w="1005840"/>
                <a:gridCol w="1005840"/>
                <a:gridCol w="1097280"/>
              </a:tblGrid>
              <a:tr h="38404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Year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 4</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 100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 400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Leap?</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8404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2026</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2024</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8404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1900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2000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45" name="Shape 41"/>
          <p:cNvSpPr/>
          <p:nvPr/>
        </p:nvSpPr>
        <p:spPr>
          <a:xfrm>
            <a:off x="6583680" y="4846320"/>
            <a:ext cx="5074920" cy="1280160"/>
          </a:xfrm>
          <a:prstGeom prst="roundRect">
            <a:avLst>
              <a:gd name="adj" fmla="val 7143"/>
            </a:avLst>
          </a:prstGeom>
          <a:solidFill>
            <a:srgbClr val="0B0F19"/>
          </a:solidFill>
          <a:ln w="12700">
            <a:solidFill>
              <a:srgbClr val="2A3654"/>
            </a:solidFill>
            <a:prstDash val="solid"/>
          </a:ln>
        </p:spPr>
      </p:sp>
      <p:sp>
        <p:nvSpPr>
          <p:cNvPr id="46" name="Shape 42"/>
          <p:cNvSpPr/>
          <p:nvPr/>
        </p:nvSpPr>
        <p:spPr>
          <a:xfrm>
            <a:off x="6766560" y="4974336"/>
            <a:ext cx="118872" cy="118872"/>
          </a:xfrm>
          <a:prstGeom prst="ellipse">
            <a:avLst/>
          </a:prstGeom>
          <a:solidFill>
            <a:srgbClr val="FF5F57"/>
          </a:solidFill>
          <a:ln w="12700">
            <a:solidFill>
              <a:srgbClr val="FF5F57"/>
            </a:solidFill>
            <a:prstDash val="solid"/>
          </a:ln>
        </p:spPr>
      </p:sp>
      <p:sp>
        <p:nvSpPr>
          <p:cNvPr id="47" name="Shape 43"/>
          <p:cNvSpPr/>
          <p:nvPr/>
        </p:nvSpPr>
        <p:spPr>
          <a:xfrm>
            <a:off x="6995160" y="4974336"/>
            <a:ext cx="118872" cy="118872"/>
          </a:xfrm>
          <a:prstGeom prst="ellipse">
            <a:avLst/>
          </a:prstGeom>
          <a:solidFill>
            <a:srgbClr val="FEBC2E"/>
          </a:solidFill>
          <a:ln w="12700">
            <a:solidFill>
              <a:srgbClr val="FEBC2E"/>
            </a:solidFill>
            <a:prstDash val="solid"/>
          </a:ln>
        </p:spPr>
      </p:sp>
      <p:sp>
        <p:nvSpPr>
          <p:cNvPr id="48" name="Shape 44"/>
          <p:cNvSpPr/>
          <p:nvPr/>
        </p:nvSpPr>
        <p:spPr>
          <a:xfrm>
            <a:off x="7223760" y="4974336"/>
            <a:ext cx="118872" cy="118872"/>
          </a:xfrm>
          <a:prstGeom prst="ellipse">
            <a:avLst/>
          </a:prstGeom>
          <a:solidFill>
            <a:srgbClr val="28C840"/>
          </a:solidFill>
          <a:ln w="12700">
            <a:solidFill>
              <a:srgbClr val="28C840"/>
            </a:solidFill>
            <a:prstDash val="solid"/>
          </a:ln>
        </p:spPr>
      </p:sp>
      <p:sp>
        <p:nvSpPr>
          <p:cNvPr id="49" name="Text 45"/>
          <p:cNvSpPr txBox="1"/>
          <p:nvPr/>
        </p:nvSpPr>
        <p:spPr>
          <a:xfrm>
            <a:off x="7498080" y="4919472"/>
            <a:ext cx="39776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50" name="Text 46"/>
          <p:cNvSpPr txBox="1"/>
          <p:nvPr/>
        </p:nvSpPr>
        <p:spPr>
          <a:xfrm>
            <a:off x="6812280" y="5230368"/>
            <a:ext cx="4617720" cy="77724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Enter a year: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1900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1900 is not a leap year (365 days).</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Nested if: False   Single expression: False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PITFALLS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The Dangling else: Which if Does It Belong To?</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16</a:t>
            </a:r>
            <a:endParaRPr lang="en-US" sz="1000" dirty="0"/>
          </a:p>
        </p:txBody>
      </p:sp>
      <p:sp>
        <p:nvSpPr>
          <p:cNvPr id="7" name="Shape 4"/>
          <p:cNvSpPr/>
          <p:nvPr/>
        </p:nvSpPr>
        <p:spPr>
          <a:xfrm>
            <a:off x="548640" y="1600200"/>
            <a:ext cx="5440680" cy="2240280"/>
          </a:xfrm>
          <a:prstGeom prst="roundRect">
            <a:avLst>
              <a:gd name="adj" fmla="val 4082"/>
            </a:avLst>
          </a:prstGeom>
          <a:solidFill>
            <a:srgbClr val="0F1729"/>
          </a:solidFill>
          <a:ln w="12700">
            <a:solidFill>
              <a:srgbClr val="0F1729"/>
            </a:solidFill>
            <a:prstDash val="solid"/>
          </a:ln>
        </p:spPr>
      </p:sp>
      <p:sp>
        <p:nvSpPr>
          <p:cNvPr id="8" name="Text 5"/>
          <p:cNvSpPr txBox="1"/>
          <p:nvPr/>
        </p:nvSpPr>
        <p:spPr>
          <a:xfrm>
            <a:off x="777240" y="1709928"/>
            <a:ext cx="49834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What does it print?</a:t>
            </a:r>
            <a:endParaRPr lang="en-US" sz="1100" dirty="0"/>
          </a:p>
        </p:txBody>
      </p:sp>
      <p:sp>
        <p:nvSpPr>
          <p:cNvPr id="9" name="Text 6"/>
          <p:cNvSpPr txBox="1"/>
          <p:nvPr/>
        </p:nvSpPr>
        <p:spPr>
          <a:xfrm>
            <a:off x="777240" y="2011680"/>
            <a:ext cx="4983480" cy="1737360"/>
          </a:xfrm>
          <a:prstGeom prst="rect">
            <a:avLst/>
          </a:prstGeom>
          <a:noFill/>
          <a:ln/>
        </p:spPr>
        <p:txBody>
          <a:bodyPr wrap="square" lIns="0" tIns="0" rIns="0" bIns="0" rtlCol="0" anchor="t"/>
          <a:lstStyle/>
          <a:p>
            <a:pPr indent="0" marL="0">
              <a:lnSpc>
                <a:spcPts val="1500"/>
              </a:lnSpc>
              <a:buNone/>
            </a:pPr>
            <a:r>
              <a:rPr lang="en-US" sz="1300" dirty="0">
                <a:solidFill>
                  <a:srgbClr val="4EC9B0"/>
                </a:solidFill>
                <a:latin typeface="Courier New" pitchFamily="34" charset="0"/>
                <a:ea typeface="Courier New" pitchFamily="34" charset="-122"/>
                <a:cs typeface="Courier New" pitchFamily="34" charset="-120"/>
              </a:rPr>
              <a:t>int</a:t>
            </a:r>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 x = </a:t>
            </a:r>
            <a:pPr indent="0" marL="0">
              <a:lnSpc>
                <a:spcPts val="1500"/>
              </a:lnSpc>
              <a:buNone/>
            </a:pPr>
            <a:r>
              <a:rPr lang="en-US" sz="1300" dirty="0">
                <a:solidFill>
                  <a:srgbClr val="B5CEA8"/>
                </a:solidFill>
                <a:latin typeface="Courier New" pitchFamily="34" charset="0"/>
                <a:ea typeface="Courier New" pitchFamily="34" charset="-122"/>
                <a:cs typeface="Courier New" pitchFamily="34" charset="-120"/>
              </a:rPr>
              <a:t>5</a:t>
            </a:r>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500"/>
              </a:lnSpc>
              <a:buNone/>
            </a:pPr>
            <a:r>
              <a:rPr lang="en-US" sz="1300" dirty="0">
                <a:solidFill>
                  <a:srgbClr val="4EC9B0"/>
                </a:solidFill>
                <a:latin typeface="Courier New" pitchFamily="34" charset="0"/>
                <a:ea typeface="Courier New" pitchFamily="34" charset="-122"/>
                <a:cs typeface="Courier New" pitchFamily="34" charset="-120"/>
              </a:rPr>
              <a:t>int</a:t>
            </a:r>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 y = -</a:t>
            </a:r>
            <a:pPr indent="0" marL="0">
              <a:lnSpc>
                <a:spcPts val="1500"/>
              </a:lnSpc>
              <a:buNone/>
            </a:pPr>
            <a:r>
              <a:rPr lang="en-US" sz="1300" dirty="0">
                <a:solidFill>
                  <a:srgbClr val="B5CEA8"/>
                </a:solidFill>
                <a:latin typeface="Courier New" pitchFamily="34" charset="0"/>
                <a:ea typeface="Courier New" pitchFamily="34" charset="-122"/>
                <a:cs typeface="Courier New" pitchFamily="34" charset="-120"/>
              </a:rPr>
              <a:t>3</a:t>
            </a:r>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500"/>
              </a:lnSpc>
              <a:buNone/>
            </a:pPr>
            <a:r>
              <a:rPr lang="en-US" sz="1300" dirty="0">
                <a:solidFill>
                  <a:srgbClr val="7AB8FF"/>
                </a:solidFill>
                <a:latin typeface="Courier New" pitchFamily="34" charset="0"/>
                <a:ea typeface="Courier New" pitchFamily="34" charset="-122"/>
                <a:cs typeface="Courier New" pitchFamily="34" charset="-120"/>
              </a:rPr>
              <a:t>if</a:t>
            </a:r>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 (x &gt; </a:t>
            </a:r>
            <a:pPr indent="0" marL="0">
              <a:lnSpc>
                <a:spcPts val="1500"/>
              </a:lnSpc>
              <a:buNone/>
            </a:pPr>
            <a:r>
              <a:rPr lang="en-US" sz="1300" dirty="0">
                <a:solidFill>
                  <a:srgbClr val="B5CEA8"/>
                </a:solidFill>
                <a:latin typeface="Courier New" pitchFamily="34" charset="0"/>
                <a:ea typeface="Courier New" pitchFamily="34" charset="-122"/>
                <a:cs typeface="Courier New" pitchFamily="34" charset="-120"/>
              </a:rPr>
              <a:t>0</a:t>
            </a:r>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500"/>
              </a:lnSpc>
              <a:buNone/>
            </a:pPr>
            <a:r>
              <a:rPr lang="en-US" sz="1300" dirty="0">
                <a:solidFill>
                  <a:srgbClr val="7AB8FF"/>
                </a:solidFill>
                <a:latin typeface="Courier New" pitchFamily="34" charset="0"/>
                <a:ea typeface="Courier New" pitchFamily="34" charset="-122"/>
                <a:cs typeface="Courier New" pitchFamily="34" charset="-120"/>
              </a:rPr>
              <a:t>if</a:t>
            </a:r>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 (y &gt; </a:t>
            </a:r>
            <a:pPr indent="0" marL="0">
              <a:lnSpc>
                <a:spcPts val="1500"/>
              </a:lnSpc>
              <a:buNone/>
            </a:pPr>
            <a:r>
              <a:rPr lang="en-US" sz="1300" dirty="0">
                <a:solidFill>
                  <a:srgbClr val="B5CEA8"/>
                </a:solidFill>
                <a:latin typeface="Courier New" pitchFamily="34" charset="0"/>
                <a:ea typeface="Courier New" pitchFamily="34" charset="-122"/>
                <a:cs typeface="Courier New" pitchFamily="34" charset="-120"/>
              </a:rPr>
              <a:t>0</a:t>
            </a:r>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500"/>
              </a:lnSpc>
              <a:buNone/>
            </a:pPr>
            <a:r>
              <a:rPr lang="en-US" sz="1300" dirty="0">
                <a:solidFill>
                  <a:srgbClr val="4EC9B0"/>
                </a:solidFill>
                <a:latin typeface="Courier New" pitchFamily="34" charset="0"/>
                <a:ea typeface="Courier New" pitchFamily="34" charset="-122"/>
                <a:cs typeface="Courier New" pitchFamily="34" charset="-120"/>
              </a:rPr>
              <a:t>Console</a:t>
            </a:r>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.WriteLine(</a:t>
            </a:r>
            <a:pPr indent="0" marL="0">
              <a:lnSpc>
                <a:spcPts val="1500"/>
              </a:lnSpc>
              <a:buNone/>
            </a:pPr>
            <a:r>
              <a:rPr lang="en-US" sz="1300" dirty="0">
                <a:solidFill>
                  <a:srgbClr val="CE9178"/>
                </a:solidFill>
                <a:latin typeface="Courier New" pitchFamily="34" charset="0"/>
                <a:ea typeface="Courier New" pitchFamily="34" charset="-122"/>
                <a:cs typeface="Courier New" pitchFamily="34" charset="-120"/>
              </a:rPr>
              <a:t>"both positive"</a:t>
            </a:r>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500"/>
              </a:lnSpc>
              <a:buNone/>
            </a:pPr>
            <a:r>
              <a:rPr lang="en-US" sz="1300" dirty="0">
                <a:solidFill>
                  <a:srgbClr val="7AB8FF"/>
                </a:solidFill>
                <a:latin typeface="Courier New" pitchFamily="34" charset="0"/>
                <a:ea typeface="Courier New" pitchFamily="34" charset="-122"/>
                <a:cs typeface="Courier New" pitchFamily="34" charset="-120"/>
              </a:rPr>
              <a:t>else</a:t>
            </a:r>
            <a:endParaRPr lang="en-US" sz="1300" dirty="0"/>
          </a:p>
          <a:p>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500"/>
              </a:lnSpc>
              <a:buNone/>
            </a:pPr>
            <a:r>
              <a:rPr lang="en-US" sz="1300" dirty="0">
                <a:solidFill>
                  <a:srgbClr val="4EC9B0"/>
                </a:solidFill>
                <a:latin typeface="Courier New" pitchFamily="34" charset="0"/>
                <a:ea typeface="Courier New" pitchFamily="34" charset="-122"/>
                <a:cs typeface="Courier New" pitchFamily="34" charset="-120"/>
              </a:rPr>
              <a:t>Console</a:t>
            </a:r>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.WriteLine(</a:t>
            </a:r>
            <a:pPr indent="0" marL="0">
              <a:lnSpc>
                <a:spcPts val="1500"/>
              </a:lnSpc>
              <a:buNone/>
            </a:pPr>
            <a:r>
              <a:rPr lang="en-US" sz="1300" dirty="0">
                <a:solidFill>
                  <a:srgbClr val="CE9178"/>
                </a:solidFill>
                <a:latin typeface="Courier New" pitchFamily="34" charset="0"/>
                <a:ea typeface="Courier New" pitchFamily="34" charset="-122"/>
                <a:cs typeface="Courier New" pitchFamily="34" charset="-120"/>
              </a:rPr>
              <a:t>"x is not positive"</a:t>
            </a:r>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500"/>
              </a:lnSpc>
              <a:buNone/>
            </a:pPr>
            <a:r>
              <a:rPr lang="en-US" sz="1300" dirty="0">
                <a:solidFill>
                  <a:srgbClr val="4EC9B0"/>
                </a:solidFill>
                <a:latin typeface="Courier New" pitchFamily="34" charset="0"/>
                <a:ea typeface="Courier New" pitchFamily="34" charset="-122"/>
                <a:cs typeface="Courier New" pitchFamily="34" charset="-120"/>
              </a:rPr>
              <a:t>Console</a:t>
            </a:r>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.WriteLine(</a:t>
            </a:r>
            <a:pPr indent="0" marL="0">
              <a:lnSpc>
                <a:spcPts val="1500"/>
              </a:lnSpc>
              <a:buNone/>
            </a:pPr>
            <a:r>
              <a:rPr lang="en-US" sz="1300" dirty="0">
                <a:solidFill>
                  <a:srgbClr val="CE9178"/>
                </a:solidFill>
                <a:latin typeface="Courier New" pitchFamily="34" charset="0"/>
                <a:ea typeface="Courier New" pitchFamily="34" charset="-122"/>
                <a:cs typeface="Courier New" pitchFamily="34" charset="-120"/>
              </a:rPr>
              <a:t>"end"</a:t>
            </a:r>
            <a:pPr indent="0" marL="0">
              <a:lnSpc>
                <a:spcPts val="15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0" name="Shape 7"/>
          <p:cNvSpPr/>
          <p:nvPr/>
        </p:nvSpPr>
        <p:spPr>
          <a:xfrm>
            <a:off x="548640" y="3950208"/>
            <a:ext cx="5440680" cy="868680"/>
          </a:xfrm>
          <a:prstGeom prst="roundRect">
            <a:avLst>
              <a:gd name="adj" fmla="val 10526"/>
            </a:avLst>
          </a:prstGeom>
          <a:solidFill>
            <a:srgbClr val="0B0F19"/>
          </a:solidFill>
          <a:ln w="12700">
            <a:solidFill>
              <a:srgbClr val="2A3654"/>
            </a:solidFill>
            <a:prstDash val="solid"/>
          </a:ln>
        </p:spPr>
      </p:sp>
      <p:sp>
        <p:nvSpPr>
          <p:cNvPr id="11" name="Shape 8"/>
          <p:cNvSpPr/>
          <p:nvPr/>
        </p:nvSpPr>
        <p:spPr>
          <a:xfrm>
            <a:off x="731520" y="4078224"/>
            <a:ext cx="118872" cy="118872"/>
          </a:xfrm>
          <a:prstGeom prst="ellipse">
            <a:avLst/>
          </a:prstGeom>
          <a:solidFill>
            <a:srgbClr val="FF5F57"/>
          </a:solidFill>
          <a:ln w="12700">
            <a:solidFill>
              <a:srgbClr val="FF5F57"/>
            </a:solidFill>
            <a:prstDash val="solid"/>
          </a:ln>
        </p:spPr>
      </p:sp>
      <p:sp>
        <p:nvSpPr>
          <p:cNvPr id="12" name="Shape 9"/>
          <p:cNvSpPr/>
          <p:nvPr/>
        </p:nvSpPr>
        <p:spPr>
          <a:xfrm>
            <a:off x="960120" y="4078224"/>
            <a:ext cx="118872" cy="118872"/>
          </a:xfrm>
          <a:prstGeom prst="ellipse">
            <a:avLst/>
          </a:prstGeom>
          <a:solidFill>
            <a:srgbClr val="FEBC2E"/>
          </a:solidFill>
          <a:ln w="12700">
            <a:solidFill>
              <a:srgbClr val="FEBC2E"/>
            </a:solidFill>
            <a:prstDash val="solid"/>
          </a:ln>
        </p:spPr>
      </p:sp>
      <p:sp>
        <p:nvSpPr>
          <p:cNvPr id="13" name="Shape 10"/>
          <p:cNvSpPr/>
          <p:nvPr/>
        </p:nvSpPr>
        <p:spPr>
          <a:xfrm>
            <a:off x="1188720" y="4078224"/>
            <a:ext cx="118872" cy="118872"/>
          </a:xfrm>
          <a:prstGeom prst="ellipse">
            <a:avLst/>
          </a:prstGeom>
          <a:solidFill>
            <a:srgbClr val="28C840"/>
          </a:solidFill>
          <a:ln w="12700">
            <a:solidFill>
              <a:srgbClr val="28C840"/>
            </a:solidFill>
            <a:prstDash val="solid"/>
          </a:ln>
        </p:spPr>
      </p:sp>
      <p:sp>
        <p:nvSpPr>
          <p:cNvPr id="14" name="Text 11"/>
          <p:cNvSpPr txBox="1"/>
          <p:nvPr/>
        </p:nvSpPr>
        <p:spPr>
          <a:xfrm>
            <a:off x="1463040" y="4023360"/>
            <a:ext cx="43434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77240" y="4334256"/>
            <a:ext cx="4983480" cy="36576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x is not positive</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end</a:t>
            </a:r>
            <a:endParaRPr lang="en-US" sz="1300" dirty="0"/>
          </a:p>
        </p:txBody>
      </p:sp>
      <p:sp>
        <p:nvSpPr>
          <p:cNvPr id="16" name="Shape 13"/>
          <p:cNvSpPr/>
          <p:nvPr/>
        </p:nvSpPr>
        <p:spPr>
          <a:xfrm>
            <a:off x="548640" y="4956048"/>
            <a:ext cx="5440680" cy="1143000"/>
          </a:xfrm>
          <a:prstGeom prst="roundRect">
            <a:avLst>
              <a:gd name="adj" fmla="val 9600"/>
            </a:avLst>
          </a:prstGeom>
          <a:solidFill>
            <a:srgbClr val="FBE9E7"/>
          </a:solidFill>
          <a:ln w="12700">
            <a:solidFill>
              <a:srgbClr val="FBE9E7"/>
            </a:solidFill>
            <a:prstDash val="solid"/>
          </a:ln>
        </p:spPr>
      </p:sp>
      <p:pic>
        <p:nvPicPr>
          <p:cNvPr id="17" name="Image 0" descr="preencoded.png">    </p:cNvPr>
          <p:cNvPicPr>
            <a:picLocks noChangeAspect="1"/>
          </p:cNvPicPr>
          <p:nvPr/>
        </p:nvPicPr>
        <p:blipFill>
          <a:blip r:embed="rId1"/>
          <a:stretch>
            <a:fillRect/>
          </a:stretch>
        </p:blipFill>
        <p:spPr>
          <a:xfrm>
            <a:off x="822960" y="5253228"/>
            <a:ext cx="548640" cy="548640"/>
          </a:xfrm>
          <a:prstGeom prst="rect">
            <a:avLst/>
          </a:prstGeom>
        </p:spPr>
      </p:pic>
      <p:sp>
        <p:nvSpPr>
          <p:cNvPr id="18" name="Text 14"/>
          <p:cNvSpPr txBox="1"/>
          <p:nvPr/>
        </p:nvSpPr>
        <p:spPr>
          <a:xfrm>
            <a:off x="1645920" y="5029200"/>
            <a:ext cx="4069080" cy="996696"/>
          </a:xfrm>
          <a:prstGeom prst="rect">
            <a:avLst/>
          </a:prstGeom>
          <a:noFill/>
          <a:ln/>
        </p:spPr>
        <p:txBody>
          <a:bodyPr wrap="square" lIns="0" tIns="0" rIns="0" bIns="0" rtlCol="0" anchor="ctr"/>
          <a:lstStyle/>
          <a:p>
            <a:pPr indent="0" marL="0">
              <a:buNone/>
            </a:pPr>
            <a:r>
              <a:rPr lang="en-US" sz="1500" b="1" dirty="0">
                <a:solidFill>
                  <a:srgbClr val="333B4F"/>
                </a:solidFill>
                <a:latin typeface="Calibri" pitchFamily="34" charset="0"/>
                <a:ea typeface="Calibri" pitchFamily="34" charset="-122"/>
                <a:cs typeface="Calibri" pitchFamily="34" charset="-120"/>
              </a:rPr>
              <a:t>Rule: </a:t>
            </a:r>
            <a:pPr indent="0" marL="0">
              <a:buNone/>
            </a:pPr>
            <a:r>
              <a:rPr lang="en-US" sz="1500" dirty="0">
                <a:solidFill>
                  <a:srgbClr val="333B4F"/>
                </a:solidFill>
                <a:latin typeface="Calibri" pitchFamily="34" charset="0"/>
                <a:ea typeface="Calibri" pitchFamily="34" charset="-122"/>
                <a:cs typeface="Calibri" pitchFamily="34" charset="-120"/>
              </a:rPr>
              <a:t>else belongs to the NEAREST if that has no else yet. The compiler ignores indentation.</a:t>
            </a:r>
            <a:endParaRPr lang="en-US" sz="1500" dirty="0"/>
          </a:p>
        </p:txBody>
      </p:sp>
      <p:sp>
        <p:nvSpPr>
          <p:cNvPr id="19" name="Shape 15"/>
          <p:cNvSpPr/>
          <p:nvPr/>
        </p:nvSpPr>
        <p:spPr>
          <a:xfrm>
            <a:off x="6217920" y="1600200"/>
            <a:ext cx="5440680" cy="3611880"/>
          </a:xfrm>
          <a:prstGeom prst="roundRect">
            <a:avLst>
              <a:gd name="adj" fmla="val 2532"/>
            </a:avLst>
          </a:prstGeom>
          <a:solidFill>
            <a:srgbClr val="0F1729"/>
          </a:solidFill>
          <a:ln w="12700">
            <a:solidFill>
              <a:srgbClr val="0F1729"/>
            </a:solidFill>
            <a:prstDash val="solid"/>
          </a:ln>
        </p:spPr>
      </p:sp>
      <p:sp>
        <p:nvSpPr>
          <p:cNvPr id="20" name="Text 16"/>
          <p:cNvSpPr txBox="1"/>
          <p:nvPr/>
        </p:nvSpPr>
        <p:spPr>
          <a:xfrm>
            <a:off x="6446520" y="1709928"/>
            <a:ext cx="49834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Fixed with braces</a:t>
            </a:r>
            <a:endParaRPr lang="en-US" sz="1100" dirty="0"/>
          </a:p>
        </p:txBody>
      </p:sp>
      <p:sp>
        <p:nvSpPr>
          <p:cNvPr id="21" name="Text 17"/>
          <p:cNvSpPr txBox="1"/>
          <p:nvPr/>
        </p:nvSpPr>
        <p:spPr>
          <a:xfrm>
            <a:off x="6446520" y="2011680"/>
            <a:ext cx="4983480" cy="3108960"/>
          </a:xfrm>
          <a:prstGeom prst="rect">
            <a:avLst/>
          </a:prstGeom>
          <a:noFill/>
          <a:ln/>
        </p:spPr>
        <p:txBody>
          <a:bodyPr wrap="square" lIns="0" tIns="0" rIns="0" bIns="0" rtlCol="0" anchor="t"/>
          <a:lstStyle/>
          <a:p>
            <a:pPr indent="0" marL="0">
              <a:lnSpc>
                <a:spcPts val="1400"/>
              </a:lnSpc>
              <a:buNone/>
            </a:pPr>
            <a:r>
              <a:rPr lang="en-US" sz="1300" dirty="0">
                <a:solidFill>
                  <a:srgbClr val="7AB8FF"/>
                </a:solidFill>
                <a:latin typeface="Courier New" pitchFamily="34" charset="0"/>
                <a:ea typeface="Courier New" pitchFamily="34" charset="-122"/>
                <a:cs typeface="Courier New" pitchFamily="34" charset="-120"/>
              </a:rPr>
              <a:t>if</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(x &gt; </a:t>
            </a:r>
            <a:pPr indent="0" marL="0">
              <a:lnSpc>
                <a:spcPts val="1400"/>
              </a:lnSpc>
              <a:buNone/>
            </a:pPr>
            <a:r>
              <a:rPr lang="en-US" sz="1300" dirty="0">
                <a:solidFill>
                  <a:srgbClr val="B5CEA8"/>
                </a:solidFill>
                <a:latin typeface="Courier New" pitchFamily="34" charset="0"/>
                <a:ea typeface="Courier New" pitchFamily="34" charset="-122"/>
                <a:cs typeface="Courier New" pitchFamily="34" charset="-120"/>
              </a:rPr>
              <a:t>0</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300" dirty="0">
                <a:solidFill>
                  <a:srgbClr val="7AB8FF"/>
                </a:solidFill>
                <a:latin typeface="Courier New" pitchFamily="34" charset="0"/>
                <a:ea typeface="Courier New" pitchFamily="34" charset="-122"/>
                <a:cs typeface="Courier New" pitchFamily="34" charset="-120"/>
              </a:rPr>
              <a:t>if</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(y &gt; </a:t>
            </a:r>
            <a:pPr indent="0" marL="0">
              <a:lnSpc>
                <a:spcPts val="1400"/>
              </a:lnSpc>
              <a:buNone/>
            </a:pPr>
            <a:r>
              <a:rPr lang="en-US" sz="1300" dirty="0">
                <a:solidFill>
                  <a:srgbClr val="B5CEA8"/>
                </a:solidFill>
                <a:latin typeface="Courier New" pitchFamily="34" charset="0"/>
                <a:ea typeface="Courier New" pitchFamily="34" charset="-122"/>
                <a:cs typeface="Courier New" pitchFamily="34" charset="-120"/>
              </a:rPr>
              <a:t>0</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300" dirty="0">
                <a:solidFill>
                  <a:srgbClr val="4EC9B0"/>
                </a:solidFill>
                <a:latin typeface="Courier New" pitchFamily="34" charset="0"/>
                <a:ea typeface="Courier New" pitchFamily="34" charset="-122"/>
                <a:cs typeface="Courier New" pitchFamily="34" charset="-120"/>
              </a:rPr>
              <a:t>Console</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.WriteLine(</a:t>
            </a:r>
            <a:pPr indent="0" marL="0">
              <a:lnSpc>
                <a:spcPts val="1400"/>
              </a:lnSpc>
              <a:buNone/>
            </a:pPr>
            <a:r>
              <a:rPr lang="en-US" sz="1300" dirty="0">
                <a:solidFill>
                  <a:srgbClr val="CE9178"/>
                </a:solidFill>
                <a:latin typeface="Courier New" pitchFamily="34" charset="0"/>
                <a:ea typeface="Courier New" pitchFamily="34" charset="-122"/>
                <a:cs typeface="Courier New" pitchFamily="34" charset="-120"/>
              </a:rPr>
              <a:t>"both positive"</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7AB8FF"/>
                </a:solidFill>
                <a:latin typeface="Courier New" pitchFamily="34" charset="0"/>
                <a:ea typeface="Courier New" pitchFamily="34" charset="-122"/>
                <a:cs typeface="Courier New" pitchFamily="34" charset="-120"/>
              </a:rPr>
              <a:t>else</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300" dirty="0">
                <a:solidFill>
                  <a:srgbClr val="4EC9B0"/>
                </a:solidFill>
                <a:latin typeface="Courier New" pitchFamily="34" charset="0"/>
                <a:ea typeface="Courier New" pitchFamily="34" charset="-122"/>
                <a:cs typeface="Courier New" pitchFamily="34" charset="-120"/>
              </a:rPr>
              <a:t>Console</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.WriteLine(</a:t>
            </a:r>
            <a:pPr indent="0" marL="0">
              <a:lnSpc>
                <a:spcPts val="1400"/>
              </a:lnSpc>
              <a:buNone/>
            </a:pPr>
            <a:r>
              <a:rPr lang="en-US" sz="1300" dirty="0">
                <a:solidFill>
                  <a:srgbClr val="CE9178"/>
                </a:solidFill>
                <a:latin typeface="Courier New" pitchFamily="34" charset="0"/>
                <a:ea typeface="Courier New" pitchFamily="34" charset="-122"/>
                <a:cs typeface="Courier New" pitchFamily="34" charset="-120"/>
              </a:rPr>
              <a:t>"x is not positive"</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4EC9B0"/>
                </a:solidFill>
                <a:latin typeface="Courier New" pitchFamily="34" charset="0"/>
                <a:ea typeface="Courier New" pitchFamily="34" charset="-122"/>
                <a:cs typeface="Courier New" pitchFamily="34" charset="-120"/>
              </a:rPr>
              <a:t>Console</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.WriteLine(</a:t>
            </a:r>
            <a:pPr indent="0" marL="0">
              <a:lnSpc>
                <a:spcPts val="1400"/>
              </a:lnSpc>
              <a:buNone/>
            </a:pPr>
            <a:r>
              <a:rPr lang="en-US" sz="1300" dirty="0">
                <a:solidFill>
                  <a:srgbClr val="CE9178"/>
                </a:solidFill>
                <a:latin typeface="Courier New" pitchFamily="34" charset="0"/>
                <a:ea typeface="Courier New" pitchFamily="34" charset="-122"/>
                <a:cs typeface="Courier New" pitchFamily="34" charset="-120"/>
              </a:rPr>
              <a:t>"end"</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22" name="Shape 18"/>
          <p:cNvSpPr/>
          <p:nvPr/>
        </p:nvSpPr>
        <p:spPr>
          <a:xfrm>
            <a:off x="6217920" y="5321808"/>
            <a:ext cx="5440680" cy="777240"/>
          </a:xfrm>
          <a:prstGeom prst="roundRect">
            <a:avLst>
              <a:gd name="adj" fmla="val 11765"/>
            </a:avLst>
          </a:prstGeom>
          <a:solidFill>
            <a:srgbClr val="0B0F19"/>
          </a:solidFill>
          <a:ln w="12700">
            <a:solidFill>
              <a:srgbClr val="2A3654"/>
            </a:solidFill>
            <a:prstDash val="solid"/>
          </a:ln>
        </p:spPr>
      </p:sp>
      <p:sp>
        <p:nvSpPr>
          <p:cNvPr id="23" name="Shape 19"/>
          <p:cNvSpPr/>
          <p:nvPr/>
        </p:nvSpPr>
        <p:spPr>
          <a:xfrm>
            <a:off x="6400800" y="5449824"/>
            <a:ext cx="118872" cy="118872"/>
          </a:xfrm>
          <a:prstGeom prst="ellipse">
            <a:avLst/>
          </a:prstGeom>
          <a:solidFill>
            <a:srgbClr val="FF5F57"/>
          </a:solidFill>
          <a:ln w="12700">
            <a:solidFill>
              <a:srgbClr val="FF5F57"/>
            </a:solidFill>
            <a:prstDash val="solid"/>
          </a:ln>
        </p:spPr>
      </p:sp>
      <p:sp>
        <p:nvSpPr>
          <p:cNvPr id="24" name="Shape 20"/>
          <p:cNvSpPr/>
          <p:nvPr/>
        </p:nvSpPr>
        <p:spPr>
          <a:xfrm>
            <a:off x="6629400" y="5449824"/>
            <a:ext cx="118872" cy="118872"/>
          </a:xfrm>
          <a:prstGeom prst="ellipse">
            <a:avLst/>
          </a:prstGeom>
          <a:solidFill>
            <a:srgbClr val="FEBC2E"/>
          </a:solidFill>
          <a:ln w="12700">
            <a:solidFill>
              <a:srgbClr val="FEBC2E"/>
            </a:solidFill>
            <a:prstDash val="solid"/>
          </a:ln>
        </p:spPr>
      </p:sp>
      <p:sp>
        <p:nvSpPr>
          <p:cNvPr id="25" name="Shape 21"/>
          <p:cNvSpPr/>
          <p:nvPr/>
        </p:nvSpPr>
        <p:spPr>
          <a:xfrm>
            <a:off x="6858000" y="5449824"/>
            <a:ext cx="118872" cy="118872"/>
          </a:xfrm>
          <a:prstGeom prst="ellipse">
            <a:avLst/>
          </a:prstGeom>
          <a:solidFill>
            <a:srgbClr val="28C840"/>
          </a:solidFill>
          <a:ln w="12700">
            <a:solidFill>
              <a:srgbClr val="28C840"/>
            </a:solidFill>
            <a:prstDash val="solid"/>
          </a:ln>
        </p:spPr>
      </p:sp>
      <p:sp>
        <p:nvSpPr>
          <p:cNvPr id="26" name="Text 22"/>
          <p:cNvSpPr txBox="1"/>
          <p:nvPr/>
        </p:nvSpPr>
        <p:spPr>
          <a:xfrm>
            <a:off x="7132320" y="5394960"/>
            <a:ext cx="43434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27" name="Text 23"/>
          <p:cNvSpPr txBox="1"/>
          <p:nvPr/>
        </p:nvSpPr>
        <p:spPr>
          <a:xfrm>
            <a:off x="6446520" y="5705856"/>
            <a:ext cx="4983480" cy="27432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end</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6 · 05_06_BMICATEGORY</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Ranges on a double: BMI Categories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17</a:t>
            </a:r>
            <a:endParaRPr lang="en-US" sz="1000" dirty="0"/>
          </a:p>
        </p:txBody>
      </p:sp>
      <p:sp>
        <p:nvSpPr>
          <p:cNvPr id="7" name="Shape 4"/>
          <p:cNvSpPr/>
          <p:nvPr/>
        </p:nvSpPr>
        <p:spPr>
          <a:xfrm>
            <a:off x="548640" y="1600200"/>
            <a:ext cx="2743200" cy="777240"/>
          </a:xfrm>
          <a:prstGeom prst="rect">
            <a:avLst/>
          </a:prstGeom>
          <a:solidFill>
            <a:srgbClr val="2F6FB3"/>
          </a:solidFill>
          <a:ln w="12700">
            <a:solidFill>
              <a:srgbClr val="2F6FB3"/>
            </a:solidFill>
            <a:prstDash val="solid"/>
          </a:ln>
        </p:spPr>
      </p:sp>
      <p:sp>
        <p:nvSpPr>
          <p:cNvPr id="8" name="Text 5"/>
          <p:cNvSpPr txBox="1"/>
          <p:nvPr/>
        </p:nvSpPr>
        <p:spPr>
          <a:xfrm>
            <a:off x="548640" y="1600200"/>
            <a:ext cx="2743200"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Underweight</a:t>
            </a:r>
            <a:endParaRPr lang="en-US" sz="1400" dirty="0"/>
          </a:p>
          <a:p>
            <a:pPr algn="ctr" indent="0" marL="0">
              <a:buNone/>
            </a:pPr>
            <a:r>
              <a:rPr lang="en-US" sz="1400" dirty="0">
                <a:solidFill>
                  <a:srgbClr val="FFFFFF"/>
                </a:solidFill>
                <a:latin typeface="Calibri" pitchFamily="34" charset="0"/>
                <a:ea typeface="Calibri" pitchFamily="34" charset="-122"/>
                <a:cs typeface="Calibri" pitchFamily="34" charset="-120"/>
              </a:rPr>
              <a:t>BMI &lt; 18.5</a:t>
            </a:r>
            <a:endParaRPr lang="en-US" sz="1400" dirty="0"/>
          </a:p>
        </p:txBody>
      </p:sp>
      <p:sp>
        <p:nvSpPr>
          <p:cNvPr id="9" name="Shape 6"/>
          <p:cNvSpPr/>
          <p:nvPr/>
        </p:nvSpPr>
        <p:spPr>
          <a:xfrm>
            <a:off x="3337560" y="1600200"/>
            <a:ext cx="2743200" cy="777240"/>
          </a:xfrm>
          <a:prstGeom prst="rect">
            <a:avLst/>
          </a:prstGeom>
          <a:solidFill>
            <a:srgbClr val="2E9E6A"/>
          </a:solidFill>
          <a:ln w="12700">
            <a:solidFill>
              <a:srgbClr val="2E9E6A"/>
            </a:solidFill>
            <a:prstDash val="solid"/>
          </a:ln>
        </p:spPr>
      </p:sp>
      <p:sp>
        <p:nvSpPr>
          <p:cNvPr id="10" name="Text 7"/>
          <p:cNvSpPr txBox="1"/>
          <p:nvPr/>
        </p:nvSpPr>
        <p:spPr>
          <a:xfrm>
            <a:off x="3337560" y="1600200"/>
            <a:ext cx="2743200"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Normal weight</a:t>
            </a:r>
            <a:endParaRPr lang="en-US" sz="1400" dirty="0"/>
          </a:p>
          <a:p>
            <a:pPr algn="ctr" indent="0" marL="0">
              <a:buNone/>
            </a:pPr>
            <a:r>
              <a:rPr lang="en-US" sz="1400" dirty="0">
                <a:solidFill>
                  <a:srgbClr val="FFFFFF"/>
                </a:solidFill>
                <a:latin typeface="Calibri" pitchFamily="34" charset="0"/>
                <a:ea typeface="Calibri" pitchFamily="34" charset="-122"/>
                <a:cs typeface="Calibri" pitchFamily="34" charset="-120"/>
              </a:rPr>
              <a:t>18.5 ≤ BMI &lt; 25</a:t>
            </a:r>
            <a:endParaRPr lang="en-US" sz="1400" dirty="0"/>
          </a:p>
        </p:txBody>
      </p:sp>
      <p:sp>
        <p:nvSpPr>
          <p:cNvPr id="11" name="Shape 8"/>
          <p:cNvSpPr/>
          <p:nvPr/>
        </p:nvSpPr>
        <p:spPr>
          <a:xfrm>
            <a:off x="6126480" y="1600200"/>
            <a:ext cx="2743200" cy="777240"/>
          </a:xfrm>
          <a:prstGeom prst="rect">
            <a:avLst/>
          </a:prstGeom>
          <a:solidFill>
            <a:srgbClr val="B7791F"/>
          </a:solidFill>
          <a:ln w="12700">
            <a:solidFill>
              <a:srgbClr val="B7791F"/>
            </a:solidFill>
            <a:prstDash val="solid"/>
          </a:ln>
        </p:spPr>
      </p:sp>
      <p:sp>
        <p:nvSpPr>
          <p:cNvPr id="12" name="Text 9"/>
          <p:cNvSpPr txBox="1"/>
          <p:nvPr/>
        </p:nvSpPr>
        <p:spPr>
          <a:xfrm>
            <a:off x="6126480" y="1600200"/>
            <a:ext cx="2743200"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Overweight</a:t>
            </a:r>
            <a:endParaRPr lang="en-US" sz="1400" dirty="0"/>
          </a:p>
          <a:p>
            <a:pPr algn="ctr" indent="0" marL="0">
              <a:buNone/>
            </a:pPr>
            <a:r>
              <a:rPr lang="en-US" sz="1400" dirty="0">
                <a:solidFill>
                  <a:srgbClr val="FFFFFF"/>
                </a:solidFill>
                <a:latin typeface="Calibri" pitchFamily="34" charset="0"/>
                <a:ea typeface="Calibri" pitchFamily="34" charset="-122"/>
                <a:cs typeface="Calibri" pitchFamily="34" charset="-120"/>
              </a:rPr>
              <a:t>25 ≤ BMI &lt; 30</a:t>
            </a:r>
            <a:endParaRPr lang="en-US" sz="1400" dirty="0"/>
          </a:p>
        </p:txBody>
      </p:sp>
      <p:sp>
        <p:nvSpPr>
          <p:cNvPr id="13" name="Shape 10"/>
          <p:cNvSpPr/>
          <p:nvPr/>
        </p:nvSpPr>
        <p:spPr>
          <a:xfrm>
            <a:off x="8915400" y="1600200"/>
            <a:ext cx="2743200" cy="777240"/>
          </a:xfrm>
          <a:prstGeom prst="rect">
            <a:avLst/>
          </a:prstGeom>
          <a:solidFill>
            <a:srgbClr val="C8453B"/>
          </a:solidFill>
          <a:ln w="12700">
            <a:solidFill>
              <a:srgbClr val="C8453B"/>
            </a:solidFill>
            <a:prstDash val="solid"/>
          </a:ln>
        </p:spPr>
      </p:sp>
      <p:sp>
        <p:nvSpPr>
          <p:cNvPr id="14" name="Text 11"/>
          <p:cNvSpPr txBox="1"/>
          <p:nvPr/>
        </p:nvSpPr>
        <p:spPr>
          <a:xfrm>
            <a:off x="8915400" y="1600200"/>
            <a:ext cx="2743200"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Obese</a:t>
            </a:r>
            <a:endParaRPr lang="en-US" sz="1400" dirty="0"/>
          </a:p>
          <a:p>
            <a:pPr algn="ctr" indent="0" marL="0">
              <a:buNone/>
            </a:pPr>
            <a:r>
              <a:rPr lang="en-US" sz="1400" dirty="0">
                <a:solidFill>
                  <a:srgbClr val="FFFFFF"/>
                </a:solidFill>
                <a:latin typeface="Calibri" pitchFamily="34" charset="0"/>
                <a:ea typeface="Calibri" pitchFamily="34" charset="-122"/>
                <a:cs typeface="Calibri" pitchFamily="34" charset="-120"/>
              </a:rPr>
              <a:t>BMI ≥ 30</a:t>
            </a:r>
            <a:endParaRPr lang="en-US" sz="1400" dirty="0"/>
          </a:p>
        </p:txBody>
      </p:sp>
      <p:sp>
        <p:nvSpPr>
          <p:cNvPr id="15" name="Shape 12"/>
          <p:cNvSpPr/>
          <p:nvPr/>
        </p:nvSpPr>
        <p:spPr>
          <a:xfrm>
            <a:off x="548640" y="2560320"/>
            <a:ext cx="4663440" cy="3566160"/>
          </a:xfrm>
          <a:prstGeom prst="roundRect">
            <a:avLst>
              <a:gd name="adj" fmla="val 2564"/>
            </a:avLst>
          </a:prstGeom>
          <a:solidFill>
            <a:srgbClr val="0F1729"/>
          </a:solidFill>
          <a:ln w="12700">
            <a:solidFill>
              <a:srgbClr val="0F1729"/>
            </a:solidFill>
            <a:prstDash val="solid"/>
          </a:ln>
        </p:spPr>
      </p:sp>
      <p:sp>
        <p:nvSpPr>
          <p:cNvPr id="16" name="Text 13"/>
          <p:cNvSpPr txBox="1"/>
          <p:nvPr/>
        </p:nvSpPr>
        <p:spPr>
          <a:xfrm>
            <a:off x="777240" y="2670048"/>
            <a:ext cx="42062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bmi = weight / (height * height)</a:t>
            </a:r>
            <a:endParaRPr lang="en-US" sz="1100" dirty="0"/>
          </a:p>
        </p:txBody>
      </p:sp>
      <p:sp>
        <p:nvSpPr>
          <p:cNvPr id="17" name="Text 14"/>
          <p:cNvSpPr txBox="1"/>
          <p:nvPr/>
        </p:nvSpPr>
        <p:spPr>
          <a:xfrm>
            <a:off x="777240" y="2971800"/>
            <a:ext cx="4206240" cy="3063240"/>
          </a:xfrm>
          <a:prstGeom prst="rect">
            <a:avLst/>
          </a:prstGeom>
          <a:noFill/>
          <a:ln/>
        </p:spPr>
        <p:txBody>
          <a:bodyPr wrap="square" lIns="0" tIns="0" rIns="0" bIns="0" rtlCol="0" anchor="t"/>
          <a:lstStyle/>
          <a:p>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string</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category;</a:t>
            </a:r>
            <a:endParaRPr lang="en-US" sz="1200" dirty="0"/>
          </a:p>
          <a:p>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if</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(bmi &lt;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18.5</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category = </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"Underweight"</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else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if</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(bmi &lt;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25</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category = </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"Normal weight"</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else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if</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(bmi &lt;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30</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category = </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"Overweight"</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else</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category = </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"Obese"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8" name="Shape 15"/>
          <p:cNvSpPr/>
          <p:nvPr/>
        </p:nvSpPr>
        <p:spPr>
          <a:xfrm>
            <a:off x="5440680" y="2560320"/>
            <a:ext cx="6217920" cy="3566160"/>
          </a:xfrm>
          <a:prstGeom prst="roundRect">
            <a:avLst>
              <a:gd name="adj" fmla="val 2564"/>
            </a:avLst>
          </a:prstGeom>
          <a:solidFill>
            <a:srgbClr val="0B0F19"/>
          </a:solidFill>
          <a:ln w="12700">
            <a:solidFill>
              <a:srgbClr val="2A3654"/>
            </a:solidFill>
            <a:prstDash val="solid"/>
          </a:ln>
        </p:spPr>
      </p:sp>
      <p:sp>
        <p:nvSpPr>
          <p:cNvPr id="19" name="Shape 16"/>
          <p:cNvSpPr/>
          <p:nvPr/>
        </p:nvSpPr>
        <p:spPr>
          <a:xfrm>
            <a:off x="5623560" y="2688336"/>
            <a:ext cx="118872" cy="118872"/>
          </a:xfrm>
          <a:prstGeom prst="ellipse">
            <a:avLst/>
          </a:prstGeom>
          <a:solidFill>
            <a:srgbClr val="FF5F57"/>
          </a:solidFill>
          <a:ln w="12700">
            <a:solidFill>
              <a:srgbClr val="FF5F57"/>
            </a:solidFill>
            <a:prstDash val="solid"/>
          </a:ln>
        </p:spPr>
      </p:sp>
      <p:sp>
        <p:nvSpPr>
          <p:cNvPr id="20" name="Shape 17"/>
          <p:cNvSpPr/>
          <p:nvPr/>
        </p:nvSpPr>
        <p:spPr>
          <a:xfrm>
            <a:off x="5852160" y="2688336"/>
            <a:ext cx="118872" cy="118872"/>
          </a:xfrm>
          <a:prstGeom prst="ellipse">
            <a:avLst/>
          </a:prstGeom>
          <a:solidFill>
            <a:srgbClr val="FEBC2E"/>
          </a:solidFill>
          <a:ln w="12700">
            <a:solidFill>
              <a:srgbClr val="FEBC2E"/>
            </a:solidFill>
            <a:prstDash val="solid"/>
          </a:ln>
        </p:spPr>
      </p:sp>
      <p:sp>
        <p:nvSpPr>
          <p:cNvPr id="21" name="Shape 18"/>
          <p:cNvSpPr/>
          <p:nvPr/>
        </p:nvSpPr>
        <p:spPr>
          <a:xfrm>
            <a:off x="6080760" y="2688336"/>
            <a:ext cx="118872" cy="118872"/>
          </a:xfrm>
          <a:prstGeom prst="ellipse">
            <a:avLst/>
          </a:prstGeom>
          <a:solidFill>
            <a:srgbClr val="28C840"/>
          </a:solidFill>
          <a:ln w="12700">
            <a:solidFill>
              <a:srgbClr val="28C840"/>
            </a:solidFill>
            <a:prstDash val="solid"/>
          </a:ln>
        </p:spPr>
      </p:sp>
      <p:sp>
        <p:nvSpPr>
          <p:cNvPr id="22" name="Text 19"/>
          <p:cNvSpPr txBox="1"/>
          <p:nvPr/>
        </p:nvSpPr>
        <p:spPr>
          <a:xfrm>
            <a:off x="6355080" y="2633472"/>
            <a:ext cx="51206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23" name="Text 20"/>
          <p:cNvSpPr txBox="1"/>
          <p:nvPr/>
        </p:nvSpPr>
        <p:spPr>
          <a:xfrm>
            <a:off x="5669280" y="2944368"/>
            <a:ext cx="5760720" cy="306324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Weight (kg):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72.5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Height (m):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1.78</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BMI = 22.88 -&gt; Normal weight</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Weight (kg):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59.9</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Height (m):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1.80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BMI = 18.49 -&gt; Underweight</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Weight (kg):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72.5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Height (m):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178</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Error: weight 0-500 kg, height 0-3 m (e.g. 72.5, 1.78).</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9 · 05_09_TRIANGLETYPE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Triangle Type: Validate First, Then Classify</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18</a:t>
            </a:r>
            <a:endParaRPr lang="en-US" sz="1000" dirty="0"/>
          </a:p>
        </p:txBody>
      </p:sp>
      <p:sp>
        <p:nvSpPr>
          <p:cNvPr id="7" name="Shape 4"/>
          <p:cNvSpPr/>
          <p:nvPr/>
        </p:nvSpPr>
        <p:spPr>
          <a:xfrm>
            <a:off x="548640" y="1600200"/>
            <a:ext cx="6400800" cy="4526280"/>
          </a:xfrm>
          <a:prstGeom prst="roundRect">
            <a:avLst>
              <a:gd name="adj" fmla="val 2020"/>
            </a:avLst>
          </a:prstGeom>
          <a:solidFill>
            <a:srgbClr val="0F1729"/>
          </a:solidFill>
          <a:ln w="12700">
            <a:solidFill>
              <a:srgbClr val="0F1729"/>
            </a:solidFill>
            <a:prstDash val="solid"/>
          </a:ln>
        </p:spPr>
      </p:sp>
      <p:sp>
        <p:nvSpPr>
          <p:cNvPr id="8" name="Text 5"/>
          <p:cNvSpPr txBox="1"/>
          <p:nvPr/>
        </p:nvSpPr>
        <p:spPr>
          <a:xfrm>
            <a:off x="777240" y="1709928"/>
            <a:ext cx="59436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(excerpt)</a:t>
            </a:r>
            <a:endParaRPr lang="en-US" sz="1100" dirty="0"/>
          </a:p>
        </p:txBody>
      </p:sp>
      <p:sp>
        <p:nvSpPr>
          <p:cNvPr id="9" name="Text 6"/>
          <p:cNvSpPr txBox="1"/>
          <p:nvPr/>
        </p:nvSpPr>
        <p:spPr>
          <a:xfrm>
            <a:off x="777240" y="2011680"/>
            <a:ext cx="5943600" cy="4023360"/>
          </a:xfrm>
          <a:prstGeom prst="rect">
            <a:avLst/>
          </a:prstGeom>
          <a:noFill/>
          <a:ln/>
        </p:spPr>
        <p:txBody>
          <a:bodyPr wrap="square" lIns="0" tIns="0" rIns="0" bIns="0" rtlCol="0" anchor="t"/>
          <a:lstStyle/>
          <a:p>
            <a:pPr indent="0" marL="0">
              <a:lnSpc>
                <a:spcPts val="1300"/>
              </a:lnSpc>
              <a:buNone/>
            </a:pPr>
            <a:r>
              <a:rPr lang="en-US" sz="1200" dirty="0">
                <a:solidFill>
                  <a:srgbClr val="7F8BA3"/>
                </a:solidFill>
                <a:latin typeface="Courier New" pitchFamily="34" charset="0"/>
                <a:ea typeface="Courier New" pitchFamily="34" charset="-122"/>
                <a:cs typeface="Courier New" pitchFamily="34" charset="-120"/>
              </a:rPr>
              <a:t>// Triangle inequality: each side &lt; sum of the other two.</a:t>
            </a:r>
            <a:endParaRPr lang="en-US" sz="1200" dirty="0"/>
          </a:p>
          <a:p>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if</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 + b &lt;= c || a + c &lt;= b || b + c &lt;= a)</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"Not a triangle: one side is too long."</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return</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string</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type;</a:t>
            </a:r>
            <a:endParaRPr lang="en-US" sz="1200" dirty="0"/>
          </a:p>
          <a:p>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if</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 == b &amp;&amp; b == c)</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type = </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"equilateral"</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else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if</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 == b || b == c || a == c)</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type = </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"isosceles"</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else</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type = </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"scalene"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178040" y="1600200"/>
          <a:ext cx="4480560" cy="914400"/>
        </p:xfrm>
        <a:graphic>
          <a:graphicData uri="http://schemas.openxmlformats.org/drawingml/2006/table">
            <a:tbl>
              <a:tblPr/>
              <a:tblGrid>
                <a:gridCol w="1371600"/>
                <a:gridCol w="3108960"/>
              </a:tblGrid>
              <a:tr h="38404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  b  c</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Output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8404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5  5  5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equilateral</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5  5  8</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isosceles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8404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8  5  5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isosceles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4  6  7</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scalene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8404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3  4  5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scalene + right triangle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1  2  3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Not a triangle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8404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0  4  5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Error: side range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11" name="Shape 7"/>
          <p:cNvSpPr/>
          <p:nvPr/>
        </p:nvSpPr>
        <p:spPr>
          <a:xfrm>
            <a:off x="7178040" y="4846320"/>
            <a:ext cx="4480560" cy="1280160"/>
          </a:xfrm>
          <a:prstGeom prst="roundRect">
            <a:avLst>
              <a:gd name="adj" fmla="val 8571"/>
            </a:avLst>
          </a:prstGeom>
          <a:solidFill>
            <a:srgbClr val="FFF6E3"/>
          </a:solidFill>
          <a:ln w="12700">
            <a:solidFill>
              <a:srgbClr val="FFF6E3"/>
            </a:solidFill>
            <a:prstDash val="solid"/>
          </a:ln>
        </p:spPr>
      </p:sp>
      <p:pic>
        <p:nvPicPr>
          <p:cNvPr id="12" name="Image 0" descr="preencoded.png">    </p:cNvPr>
          <p:cNvPicPr>
            <a:picLocks noChangeAspect="1"/>
          </p:cNvPicPr>
          <p:nvPr/>
        </p:nvPicPr>
        <p:blipFill>
          <a:blip r:embed="rId1"/>
          <a:stretch>
            <a:fillRect/>
          </a:stretch>
        </p:blipFill>
        <p:spPr>
          <a:xfrm>
            <a:off x="7452360" y="5212080"/>
            <a:ext cx="548640" cy="548640"/>
          </a:xfrm>
          <a:prstGeom prst="rect">
            <a:avLst/>
          </a:prstGeom>
        </p:spPr>
      </p:pic>
      <p:sp>
        <p:nvSpPr>
          <p:cNvPr id="13" name="Text 8"/>
          <p:cNvSpPr txBox="1"/>
          <p:nvPr/>
        </p:nvSpPr>
        <p:spPr>
          <a:xfrm>
            <a:off x="8275320" y="4919472"/>
            <a:ext cx="3108960" cy="1133856"/>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The right-angle test is an </a:t>
            </a:r>
            <a:pPr indent="0" marL="0">
              <a:buNone/>
            </a:pPr>
            <a:r>
              <a:rPr lang="en-US" sz="1400" b="1" dirty="0">
                <a:solidFill>
                  <a:srgbClr val="333B4F"/>
                </a:solidFill>
                <a:latin typeface="Calibri" pitchFamily="34" charset="0"/>
                <a:ea typeface="Calibri" pitchFamily="34" charset="-122"/>
                <a:cs typeface="Calibri" pitchFamily="34" charset="-120"/>
              </a:rPr>
              <a:t>independent if</a:t>
            </a:r>
            <a:pPr indent="0" marL="0">
              <a:buNone/>
            </a:pPr>
            <a:r>
              <a:rPr lang="en-US" sz="1400" dirty="0">
                <a:solidFill>
                  <a:srgbClr val="333B4F"/>
                </a:solidFill>
                <a:latin typeface="Calibri" pitchFamily="34" charset="0"/>
                <a:ea typeface="Calibri" pitchFamily="34" charset="-122"/>
                <a:cs typeface="Calibri" pitchFamily="34" charset="-120"/>
              </a:rPr>
              <a:t>: it is asked for every valid triangle.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10 · 05_10_QUADRATICROOTS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Quadratic Equation: a Three-Way Decision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19</a:t>
            </a:r>
            <a:endParaRPr lang="en-US" sz="1000" dirty="0"/>
          </a:p>
        </p:txBody>
      </p:sp>
      <p:sp>
        <p:nvSpPr>
          <p:cNvPr id="7" name="Shape 4"/>
          <p:cNvSpPr/>
          <p:nvPr/>
        </p:nvSpPr>
        <p:spPr>
          <a:xfrm>
            <a:off x="1645920" y="1600200"/>
            <a:ext cx="2011680" cy="402336"/>
          </a:xfrm>
          <a:prstGeom prst="flowChartInputOutput">
            <a:avLst/>
          </a:prstGeom>
          <a:solidFill>
            <a:srgbClr val="FFFFFF"/>
          </a:solidFill>
          <a:ln w="15875">
            <a:solidFill>
              <a:srgbClr val="14213D"/>
            </a:solidFill>
            <a:prstDash val="solid"/>
          </a:ln>
        </p:spPr>
      </p:sp>
      <p:sp>
        <p:nvSpPr>
          <p:cNvPr id="8" name="Text 5"/>
          <p:cNvSpPr txBox="1"/>
          <p:nvPr/>
        </p:nvSpPr>
        <p:spPr>
          <a:xfrm>
            <a:off x="1691640" y="1600200"/>
            <a:ext cx="1920240" cy="402336"/>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Read a, b, c</a:t>
            </a:r>
            <a:endParaRPr lang="en-US" sz="1200" dirty="0"/>
          </a:p>
        </p:txBody>
      </p:sp>
      <p:sp>
        <p:nvSpPr>
          <p:cNvPr id="9" name="Shape 6"/>
          <p:cNvSpPr/>
          <p:nvPr/>
        </p:nvSpPr>
        <p:spPr>
          <a:xfrm>
            <a:off x="1691640" y="2249424"/>
            <a:ext cx="1920240" cy="713232"/>
          </a:xfrm>
          <a:prstGeom prst="flowChartDecision">
            <a:avLst/>
          </a:prstGeom>
          <a:solidFill>
            <a:srgbClr val="E3ECF8"/>
          </a:solidFill>
          <a:ln w="15875">
            <a:solidFill>
              <a:srgbClr val="14213D"/>
            </a:solidFill>
            <a:prstDash val="solid"/>
          </a:ln>
        </p:spPr>
      </p:sp>
      <p:sp>
        <p:nvSpPr>
          <p:cNvPr id="10" name="Text 7"/>
          <p:cNvSpPr txBox="1"/>
          <p:nvPr/>
        </p:nvSpPr>
        <p:spPr>
          <a:xfrm>
            <a:off x="1737360" y="2249424"/>
            <a:ext cx="1828800" cy="713232"/>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a = 0 ?</a:t>
            </a:r>
            <a:endParaRPr lang="en-US" sz="1200" dirty="0"/>
          </a:p>
        </p:txBody>
      </p:sp>
      <p:sp>
        <p:nvSpPr>
          <p:cNvPr id="11" name="Shape 8"/>
          <p:cNvSpPr/>
          <p:nvPr/>
        </p:nvSpPr>
        <p:spPr>
          <a:xfrm>
            <a:off x="1691640" y="3200400"/>
            <a:ext cx="1920240" cy="402336"/>
          </a:xfrm>
          <a:prstGeom prst="flowChartProcess">
            <a:avLst/>
          </a:prstGeom>
          <a:solidFill>
            <a:srgbClr val="FFFFFF"/>
          </a:solidFill>
          <a:ln w="15875">
            <a:solidFill>
              <a:srgbClr val="14213D"/>
            </a:solidFill>
            <a:prstDash val="solid"/>
          </a:ln>
        </p:spPr>
      </p:sp>
      <p:sp>
        <p:nvSpPr>
          <p:cNvPr id="12" name="Text 9"/>
          <p:cNvSpPr txBox="1"/>
          <p:nvPr/>
        </p:nvSpPr>
        <p:spPr>
          <a:xfrm>
            <a:off x="1737360" y="3200400"/>
            <a:ext cx="1828800" cy="402336"/>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Δ ← b² − 4ac</a:t>
            </a:r>
            <a:endParaRPr lang="en-US" sz="1200" dirty="0"/>
          </a:p>
        </p:txBody>
      </p:sp>
      <p:sp>
        <p:nvSpPr>
          <p:cNvPr id="13" name="Shape 10"/>
          <p:cNvSpPr/>
          <p:nvPr/>
        </p:nvSpPr>
        <p:spPr>
          <a:xfrm>
            <a:off x="1691640" y="3849624"/>
            <a:ext cx="1920240" cy="713232"/>
          </a:xfrm>
          <a:prstGeom prst="flowChartDecision">
            <a:avLst/>
          </a:prstGeom>
          <a:solidFill>
            <a:srgbClr val="E3ECF8"/>
          </a:solidFill>
          <a:ln w="15875">
            <a:solidFill>
              <a:srgbClr val="14213D"/>
            </a:solidFill>
            <a:prstDash val="solid"/>
          </a:ln>
        </p:spPr>
      </p:sp>
      <p:sp>
        <p:nvSpPr>
          <p:cNvPr id="14" name="Text 11"/>
          <p:cNvSpPr txBox="1"/>
          <p:nvPr/>
        </p:nvSpPr>
        <p:spPr>
          <a:xfrm>
            <a:off x="1737360" y="3849624"/>
            <a:ext cx="1828800" cy="713232"/>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Δ &gt; 0 ?</a:t>
            </a:r>
            <a:endParaRPr lang="en-US" sz="1200" dirty="0"/>
          </a:p>
        </p:txBody>
      </p:sp>
      <p:sp>
        <p:nvSpPr>
          <p:cNvPr id="15" name="Shape 12"/>
          <p:cNvSpPr/>
          <p:nvPr/>
        </p:nvSpPr>
        <p:spPr>
          <a:xfrm>
            <a:off x="1691640" y="4764024"/>
            <a:ext cx="1920240" cy="713232"/>
          </a:xfrm>
          <a:prstGeom prst="flowChartDecision">
            <a:avLst/>
          </a:prstGeom>
          <a:solidFill>
            <a:srgbClr val="E3ECF8"/>
          </a:solidFill>
          <a:ln w="15875">
            <a:solidFill>
              <a:srgbClr val="14213D"/>
            </a:solidFill>
            <a:prstDash val="solid"/>
          </a:ln>
        </p:spPr>
      </p:sp>
      <p:sp>
        <p:nvSpPr>
          <p:cNvPr id="16" name="Text 13"/>
          <p:cNvSpPr txBox="1"/>
          <p:nvPr/>
        </p:nvSpPr>
        <p:spPr>
          <a:xfrm>
            <a:off x="1737360" y="4764024"/>
            <a:ext cx="1828800" cy="713232"/>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Δ = 0 ?</a:t>
            </a:r>
            <a:endParaRPr lang="en-US" sz="1200" dirty="0"/>
          </a:p>
        </p:txBody>
      </p:sp>
      <p:sp>
        <p:nvSpPr>
          <p:cNvPr id="17" name="Shape 14"/>
          <p:cNvSpPr/>
          <p:nvPr/>
        </p:nvSpPr>
        <p:spPr>
          <a:xfrm>
            <a:off x="1554480" y="5715000"/>
            <a:ext cx="2194560" cy="384048"/>
          </a:xfrm>
          <a:prstGeom prst="flowChartInputOutput">
            <a:avLst/>
          </a:prstGeom>
          <a:solidFill>
            <a:srgbClr val="FFFFFF"/>
          </a:solidFill>
          <a:ln w="15875">
            <a:solidFill>
              <a:srgbClr val="14213D"/>
            </a:solidFill>
            <a:prstDash val="solid"/>
          </a:ln>
        </p:spPr>
      </p:sp>
      <p:sp>
        <p:nvSpPr>
          <p:cNvPr id="18" name="Text 15"/>
          <p:cNvSpPr txBox="1"/>
          <p:nvPr/>
        </p:nvSpPr>
        <p:spPr>
          <a:xfrm>
            <a:off x="1600200" y="5715000"/>
            <a:ext cx="2103120" cy="384048"/>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Print complex roots</a:t>
            </a:r>
            <a:endParaRPr lang="en-US" sz="1200" dirty="0"/>
          </a:p>
        </p:txBody>
      </p:sp>
      <p:sp>
        <p:nvSpPr>
          <p:cNvPr id="19" name="Shape 16"/>
          <p:cNvSpPr/>
          <p:nvPr/>
        </p:nvSpPr>
        <p:spPr>
          <a:xfrm>
            <a:off x="4526280" y="2404872"/>
            <a:ext cx="2286000" cy="402336"/>
          </a:xfrm>
          <a:prstGeom prst="flowChartInputOutput">
            <a:avLst/>
          </a:prstGeom>
          <a:solidFill>
            <a:srgbClr val="FFFFFF"/>
          </a:solidFill>
          <a:ln w="15875">
            <a:solidFill>
              <a:srgbClr val="14213D"/>
            </a:solidFill>
            <a:prstDash val="solid"/>
          </a:ln>
        </p:spPr>
      </p:sp>
      <p:sp>
        <p:nvSpPr>
          <p:cNvPr id="20" name="Text 17"/>
          <p:cNvSpPr txBox="1"/>
          <p:nvPr/>
        </p:nvSpPr>
        <p:spPr>
          <a:xfrm>
            <a:off x="4572000" y="2404872"/>
            <a:ext cx="2194560" cy="402336"/>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Print "not quadratic"</a:t>
            </a:r>
            <a:endParaRPr lang="en-US" sz="1200" dirty="0"/>
          </a:p>
        </p:txBody>
      </p:sp>
      <p:sp>
        <p:nvSpPr>
          <p:cNvPr id="21" name="Shape 18"/>
          <p:cNvSpPr/>
          <p:nvPr/>
        </p:nvSpPr>
        <p:spPr>
          <a:xfrm>
            <a:off x="4526280" y="4005072"/>
            <a:ext cx="2286000" cy="402336"/>
          </a:xfrm>
          <a:prstGeom prst="flowChartInputOutput">
            <a:avLst/>
          </a:prstGeom>
          <a:solidFill>
            <a:srgbClr val="FFFFFF"/>
          </a:solidFill>
          <a:ln w="15875">
            <a:solidFill>
              <a:srgbClr val="14213D"/>
            </a:solidFill>
            <a:prstDash val="solid"/>
          </a:ln>
        </p:spPr>
      </p:sp>
      <p:sp>
        <p:nvSpPr>
          <p:cNvPr id="22" name="Text 19"/>
          <p:cNvSpPr txBox="1"/>
          <p:nvPr/>
        </p:nvSpPr>
        <p:spPr>
          <a:xfrm>
            <a:off x="4572000" y="4005072"/>
            <a:ext cx="2194560" cy="402336"/>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Print x1, x2</a:t>
            </a:r>
            <a:endParaRPr lang="en-US" sz="1200" dirty="0"/>
          </a:p>
        </p:txBody>
      </p:sp>
      <p:sp>
        <p:nvSpPr>
          <p:cNvPr id="23" name="Shape 20"/>
          <p:cNvSpPr/>
          <p:nvPr/>
        </p:nvSpPr>
        <p:spPr>
          <a:xfrm>
            <a:off x="4526280" y="4919472"/>
            <a:ext cx="2286000" cy="402336"/>
          </a:xfrm>
          <a:prstGeom prst="flowChartInputOutput">
            <a:avLst/>
          </a:prstGeom>
          <a:solidFill>
            <a:srgbClr val="FFFFFF"/>
          </a:solidFill>
          <a:ln w="15875">
            <a:solidFill>
              <a:srgbClr val="14213D"/>
            </a:solidFill>
            <a:prstDash val="solid"/>
          </a:ln>
        </p:spPr>
      </p:sp>
      <p:sp>
        <p:nvSpPr>
          <p:cNvPr id="24" name="Text 21"/>
          <p:cNvSpPr txBox="1"/>
          <p:nvPr/>
        </p:nvSpPr>
        <p:spPr>
          <a:xfrm>
            <a:off x="4572000" y="4919472"/>
            <a:ext cx="2194560" cy="402336"/>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Print x = −b / 2a</a:t>
            </a:r>
            <a:endParaRPr lang="en-US" sz="1200" dirty="0"/>
          </a:p>
        </p:txBody>
      </p:sp>
      <p:sp>
        <p:nvSpPr>
          <p:cNvPr id="25" name="Shape 22"/>
          <p:cNvSpPr/>
          <p:nvPr/>
        </p:nvSpPr>
        <p:spPr>
          <a:xfrm>
            <a:off x="2651760" y="2002536"/>
            <a:ext cx="0" cy="246888"/>
          </a:xfrm>
          <a:prstGeom prst="line">
            <a:avLst/>
          </a:prstGeom>
          <a:noFill/>
          <a:ln w="15875">
            <a:solidFill>
              <a:srgbClr val="14213D"/>
            </a:solidFill>
            <a:prstDash val="solid"/>
            <a:tailEnd type="triangle"/>
          </a:ln>
        </p:spPr>
      </p:sp>
      <p:sp>
        <p:nvSpPr>
          <p:cNvPr id="26" name="Shape 23"/>
          <p:cNvSpPr/>
          <p:nvPr/>
        </p:nvSpPr>
        <p:spPr>
          <a:xfrm>
            <a:off x="2651760" y="2962656"/>
            <a:ext cx="0" cy="237744"/>
          </a:xfrm>
          <a:prstGeom prst="line">
            <a:avLst/>
          </a:prstGeom>
          <a:noFill/>
          <a:ln w="15875">
            <a:solidFill>
              <a:srgbClr val="14213D"/>
            </a:solidFill>
            <a:prstDash val="solid"/>
            <a:tailEnd type="triangle"/>
          </a:ln>
        </p:spPr>
      </p:sp>
      <p:sp>
        <p:nvSpPr>
          <p:cNvPr id="27" name="Shape 24"/>
          <p:cNvSpPr/>
          <p:nvPr/>
        </p:nvSpPr>
        <p:spPr>
          <a:xfrm>
            <a:off x="2651760" y="3602736"/>
            <a:ext cx="0" cy="246888"/>
          </a:xfrm>
          <a:prstGeom prst="line">
            <a:avLst/>
          </a:prstGeom>
          <a:noFill/>
          <a:ln w="15875">
            <a:solidFill>
              <a:srgbClr val="14213D"/>
            </a:solidFill>
            <a:prstDash val="solid"/>
            <a:tailEnd type="triangle"/>
          </a:ln>
        </p:spPr>
      </p:sp>
      <p:sp>
        <p:nvSpPr>
          <p:cNvPr id="28" name="Shape 25"/>
          <p:cNvSpPr/>
          <p:nvPr/>
        </p:nvSpPr>
        <p:spPr>
          <a:xfrm>
            <a:off x="2651760" y="4562856"/>
            <a:ext cx="0" cy="201168"/>
          </a:xfrm>
          <a:prstGeom prst="line">
            <a:avLst/>
          </a:prstGeom>
          <a:noFill/>
          <a:ln w="15875">
            <a:solidFill>
              <a:srgbClr val="14213D"/>
            </a:solidFill>
            <a:prstDash val="solid"/>
            <a:tailEnd type="triangle"/>
          </a:ln>
        </p:spPr>
      </p:sp>
      <p:sp>
        <p:nvSpPr>
          <p:cNvPr id="29" name="Shape 26"/>
          <p:cNvSpPr/>
          <p:nvPr/>
        </p:nvSpPr>
        <p:spPr>
          <a:xfrm>
            <a:off x="2651760" y="5477256"/>
            <a:ext cx="0" cy="237744"/>
          </a:xfrm>
          <a:prstGeom prst="line">
            <a:avLst/>
          </a:prstGeom>
          <a:noFill/>
          <a:ln w="15875">
            <a:solidFill>
              <a:srgbClr val="14213D"/>
            </a:solidFill>
            <a:prstDash val="solid"/>
            <a:tailEnd type="triangle"/>
          </a:ln>
        </p:spPr>
      </p:sp>
      <p:sp>
        <p:nvSpPr>
          <p:cNvPr id="30" name="Shape 27"/>
          <p:cNvSpPr/>
          <p:nvPr/>
        </p:nvSpPr>
        <p:spPr>
          <a:xfrm>
            <a:off x="3611880" y="2606040"/>
            <a:ext cx="914400" cy="0"/>
          </a:xfrm>
          <a:prstGeom prst="line">
            <a:avLst/>
          </a:prstGeom>
          <a:noFill/>
          <a:ln w="15875">
            <a:solidFill>
              <a:srgbClr val="14213D"/>
            </a:solidFill>
            <a:prstDash val="solid"/>
            <a:tailEnd type="triangle"/>
          </a:ln>
        </p:spPr>
      </p:sp>
      <p:sp>
        <p:nvSpPr>
          <p:cNvPr id="31" name="Shape 28"/>
          <p:cNvSpPr/>
          <p:nvPr/>
        </p:nvSpPr>
        <p:spPr>
          <a:xfrm>
            <a:off x="3611880" y="4206240"/>
            <a:ext cx="914400" cy="0"/>
          </a:xfrm>
          <a:prstGeom prst="line">
            <a:avLst/>
          </a:prstGeom>
          <a:noFill/>
          <a:ln w="15875">
            <a:solidFill>
              <a:srgbClr val="14213D"/>
            </a:solidFill>
            <a:prstDash val="solid"/>
            <a:tailEnd type="triangle"/>
          </a:ln>
        </p:spPr>
      </p:sp>
      <p:sp>
        <p:nvSpPr>
          <p:cNvPr id="32" name="Shape 29"/>
          <p:cNvSpPr/>
          <p:nvPr/>
        </p:nvSpPr>
        <p:spPr>
          <a:xfrm>
            <a:off x="3611880" y="5120640"/>
            <a:ext cx="914400" cy="0"/>
          </a:xfrm>
          <a:prstGeom prst="line">
            <a:avLst/>
          </a:prstGeom>
          <a:noFill/>
          <a:ln w="15875">
            <a:solidFill>
              <a:srgbClr val="14213D"/>
            </a:solidFill>
            <a:prstDash val="solid"/>
            <a:tailEnd type="triangle"/>
          </a:ln>
        </p:spPr>
      </p:sp>
      <p:sp>
        <p:nvSpPr>
          <p:cNvPr id="33" name="Text 30"/>
          <p:cNvSpPr txBox="1"/>
          <p:nvPr/>
        </p:nvSpPr>
        <p:spPr>
          <a:xfrm>
            <a:off x="3657600" y="2331720"/>
            <a:ext cx="548640" cy="228600"/>
          </a:xfrm>
          <a:prstGeom prst="rect">
            <a:avLst/>
          </a:prstGeom>
          <a:noFill/>
          <a:ln/>
        </p:spPr>
        <p:txBody>
          <a:bodyPr wrap="square" lIns="0" tIns="0" rIns="0" bIns="0" rtlCol="0" anchor="ctr"/>
          <a:lstStyle/>
          <a:p>
            <a:pPr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34" name="Text 31"/>
          <p:cNvSpPr txBox="1"/>
          <p:nvPr/>
        </p:nvSpPr>
        <p:spPr>
          <a:xfrm>
            <a:off x="2724912" y="2926080"/>
            <a:ext cx="548640" cy="228600"/>
          </a:xfrm>
          <a:prstGeom prst="rect">
            <a:avLst/>
          </a:prstGeom>
          <a:noFill/>
          <a:ln/>
        </p:spPr>
        <p:txBody>
          <a:bodyPr wrap="square" lIns="0" tIns="0" rIns="0" bIns="0" rtlCol="0" anchor="ctr"/>
          <a:lstStyle/>
          <a:p>
            <a:pPr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35" name="Text 32"/>
          <p:cNvSpPr txBox="1"/>
          <p:nvPr/>
        </p:nvSpPr>
        <p:spPr>
          <a:xfrm>
            <a:off x="3657600" y="3931920"/>
            <a:ext cx="548640" cy="228600"/>
          </a:xfrm>
          <a:prstGeom prst="rect">
            <a:avLst/>
          </a:prstGeom>
          <a:noFill/>
          <a:ln/>
        </p:spPr>
        <p:txBody>
          <a:bodyPr wrap="square" lIns="0" tIns="0" rIns="0" bIns="0" rtlCol="0" anchor="ctr"/>
          <a:lstStyle/>
          <a:p>
            <a:pPr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36" name="Text 33"/>
          <p:cNvSpPr txBox="1"/>
          <p:nvPr/>
        </p:nvSpPr>
        <p:spPr>
          <a:xfrm>
            <a:off x="2724912" y="4526280"/>
            <a:ext cx="548640" cy="228600"/>
          </a:xfrm>
          <a:prstGeom prst="rect">
            <a:avLst/>
          </a:prstGeom>
          <a:noFill/>
          <a:ln/>
        </p:spPr>
        <p:txBody>
          <a:bodyPr wrap="square" lIns="0" tIns="0" rIns="0" bIns="0" rtlCol="0" anchor="ctr"/>
          <a:lstStyle/>
          <a:p>
            <a:pPr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37" name="Text 34"/>
          <p:cNvSpPr txBox="1"/>
          <p:nvPr/>
        </p:nvSpPr>
        <p:spPr>
          <a:xfrm>
            <a:off x="3657600" y="4846320"/>
            <a:ext cx="548640" cy="228600"/>
          </a:xfrm>
          <a:prstGeom prst="rect">
            <a:avLst/>
          </a:prstGeom>
          <a:noFill/>
          <a:ln/>
        </p:spPr>
        <p:txBody>
          <a:bodyPr wrap="square" lIns="0" tIns="0" rIns="0" bIns="0" rtlCol="0" anchor="ctr"/>
          <a:lstStyle/>
          <a:p>
            <a:pPr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38" name="Text 35"/>
          <p:cNvSpPr txBox="1"/>
          <p:nvPr/>
        </p:nvSpPr>
        <p:spPr>
          <a:xfrm>
            <a:off x="2724912" y="5440680"/>
            <a:ext cx="548640" cy="228600"/>
          </a:xfrm>
          <a:prstGeom prst="rect">
            <a:avLst/>
          </a:prstGeom>
          <a:noFill/>
          <a:ln/>
        </p:spPr>
        <p:txBody>
          <a:bodyPr wrap="square" lIns="0" tIns="0" rIns="0" bIns="0" rtlCol="0" anchor="ctr"/>
          <a:lstStyle/>
          <a:p>
            <a:pPr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39" name="Shape 36"/>
          <p:cNvSpPr/>
          <p:nvPr/>
        </p:nvSpPr>
        <p:spPr>
          <a:xfrm>
            <a:off x="7269480" y="1600200"/>
            <a:ext cx="4389120" cy="1691640"/>
          </a:xfrm>
          <a:prstGeom prst="roundRect">
            <a:avLst>
              <a:gd name="adj" fmla="val 6486"/>
            </a:avLst>
          </a:prstGeom>
          <a:solidFill>
            <a:srgbClr val="EEF1F6"/>
          </a:solidFill>
          <a:ln w="12700">
            <a:solidFill>
              <a:srgbClr val="EEF1F6"/>
            </a:solidFill>
            <a:prstDash val="solid"/>
          </a:ln>
        </p:spPr>
      </p:sp>
      <p:sp>
        <p:nvSpPr>
          <p:cNvPr id="40" name="Text 37"/>
          <p:cNvSpPr txBox="1"/>
          <p:nvPr/>
        </p:nvSpPr>
        <p:spPr>
          <a:xfrm>
            <a:off x="7498080" y="1719072"/>
            <a:ext cx="4023360" cy="150876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Discriminant  </a:t>
            </a:r>
            <a:pPr indent="0" marL="0">
              <a:buNone/>
            </a:pPr>
            <a:r>
              <a:rPr lang="en-US" sz="1400" dirty="0">
                <a:solidFill>
                  <a:srgbClr val="333B4F"/>
                </a:solidFill>
                <a:latin typeface="Cambria" pitchFamily="34" charset="0"/>
                <a:ea typeface="Cambria" pitchFamily="34" charset="-122"/>
                <a:cs typeface="Cambria" pitchFamily="34" charset="-120"/>
              </a:rPr>
              <a:t>Δ = b² − 4ac</a:t>
            </a:r>
            <a:endParaRPr lang="en-US" sz="1400" dirty="0"/>
          </a:p>
          <a:p>
            <a:pPr indent="0" marL="0">
              <a:buNone/>
            </a:pPr>
            <a:r>
              <a:rPr lang="en-US" sz="600" dirty="0">
                <a:solidFill>
                  <a:srgbClr val="333B4F"/>
                </a:solidFill>
                <a:latin typeface="Calibri" pitchFamily="34" charset="0"/>
                <a:ea typeface="Calibri" pitchFamily="34" charset="-122"/>
                <a:cs typeface="Calibri" pitchFamily="34" charset="-120"/>
              </a:rPr>
              <a:t> </a:t>
            </a:r>
            <a:endParaRPr lang="en-US" sz="1400" dirty="0"/>
          </a:p>
          <a:p>
            <a:pPr indent="0" marL="0">
              <a:buNone/>
            </a:pPr>
            <a:r>
              <a:rPr lang="en-US" sz="1400" dirty="0">
                <a:solidFill>
                  <a:srgbClr val="333B4F"/>
                </a:solidFill>
                <a:latin typeface="Calibri" pitchFamily="34" charset="0"/>
                <a:ea typeface="Calibri" pitchFamily="34" charset="-122"/>
                <a:cs typeface="Calibri" pitchFamily="34" charset="-120"/>
              </a:rPr>
              <a:t>Δ &gt; 0 → two real roots  x = (−b ± √Δ) / 2a</a:t>
            </a:r>
            <a:endParaRPr lang="en-US" sz="1400" dirty="0"/>
          </a:p>
          <a:p>
            <a:pPr indent="0" marL="0">
              <a:buNone/>
            </a:pPr>
            <a:r>
              <a:rPr lang="en-US" sz="1400" dirty="0">
                <a:solidFill>
                  <a:srgbClr val="333B4F"/>
                </a:solidFill>
                <a:latin typeface="Calibri" pitchFamily="34" charset="0"/>
                <a:ea typeface="Calibri" pitchFamily="34" charset="-122"/>
                <a:cs typeface="Calibri" pitchFamily="34" charset="-120"/>
              </a:rPr>
              <a:t>Δ = 0 → one root  x = −b / 2a</a:t>
            </a:r>
            <a:endParaRPr lang="en-US" sz="1400" dirty="0"/>
          </a:p>
          <a:p>
            <a:pPr indent="0" marL="0">
              <a:buNone/>
            </a:pPr>
            <a:r>
              <a:rPr lang="en-US" sz="1400" dirty="0">
                <a:solidFill>
                  <a:srgbClr val="333B4F"/>
                </a:solidFill>
                <a:latin typeface="Calibri" pitchFamily="34" charset="0"/>
                <a:ea typeface="Calibri" pitchFamily="34" charset="-122"/>
                <a:cs typeface="Calibri" pitchFamily="34" charset="-120"/>
              </a:rPr>
              <a:t>Δ &lt; 0 → no real root (complex pair)</a:t>
            </a:r>
            <a:endParaRPr lang="en-US" sz="1400" dirty="0"/>
          </a:p>
        </p:txBody>
      </p:sp>
      <p:sp>
        <p:nvSpPr>
          <p:cNvPr id="41" name="Shape 38"/>
          <p:cNvSpPr/>
          <p:nvPr/>
        </p:nvSpPr>
        <p:spPr>
          <a:xfrm>
            <a:off x="7269480" y="3429000"/>
            <a:ext cx="4389120" cy="1828800"/>
          </a:xfrm>
          <a:prstGeom prst="roundRect">
            <a:avLst>
              <a:gd name="adj" fmla="val 5000"/>
            </a:avLst>
          </a:prstGeom>
          <a:solidFill>
            <a:srgbClr val="0B0F19"/>
          </a:solidFill>
          <a:ln w="12700">
            <a:solidFill>
              <a:srgbClr val="2A3654"/>
            </a:solidFill>
            <a:prstDash val="solid"/>
          </a:ln>
        </p:spPr>
      </p:sp>
      <p:sp>
        <p:nvSpPr>
          <p:cNvPr id="42" name="Shape 39"/>
          <p:cNvSpPr/>
          <p:nvPr/>
        </p:nvSpPr>
        <p:spPr>
          <a:xfrm>
            <a:off x="7452360" y="3557016"/>
            <a:ext cx="118872" cy="118872"/>
          </a:xfrm>
          <a:prstGeom prst="ellipse">
            <a:avLst/>
          </a:prstGeom>
          <a:solidFill>
            <a:srgbClr val="FF5F57"/>
          </a:solidFill>
          <a:ln w="12700">
            <a:solidFill>
              <a:srgbClr val="FF5F57"/>
            </a:solidFill>
            <a:prstDash val="solid"/>
          </a:ln>
        </p:spPr>
      </p:sp>
      <p:sp>
        <p:nvSpPr>
          <p:cNvPr id="43" name="Shape 40"/>
          <p:cNvSpPr/>
          <p:nvPr/>
        </p:nvSpPr>
        <p:spPr>
          <a:xfrm>
            <a:off x="7680960" y="3557016"/>
            <a:ext cx="118872" cy="118872"/>
          </a:xfrm>
          <a:prstGeom prst="ellipse">
            <a:avLst/>
          </a:prstGeom>
          <a:solidFill>
            <a:srgbClr val="FEBC2E"/>
          </a:solidFill>
          <a:ln w="12700">
            <a:solidFill>
              <a:srgbClr val="FEBC2E"/>
            </a:solidFill>
            <a:prstDash val="solid"/>
          </a:ln>
        </p:spPr>
      </p:sp>
      <p:sp>
        <p:nvSpPr>
          <p:cNvPr id="44" name="Shape 41"/>
          <p:cNvSpPr/>
          <p:nvPr/>
        </p:nvSpPr>
        <p:spPr>
          <a:xfrm>
            <a:off x="7909560" y="3557016"/>
            <a:ext cx="118872" cy="118872"/>
          </a:xfrm>
          <a:prstGeom prst="ellipse">
            <a:avLst/>
          </a:prstGeom>
          <a:solidFill>
            <a:srgbClr val="28C840"/>
          </a:solidFill>
          <a:ln w="12700">
            <a:solidFill>
              <a:srgbClr val="28C840"/>
            </a:solidFill>
            <a:prstDash val="solid"/>
          </a:ln>
        </p:spPr>
      </p:sp>
      <p:sp>
        <p:nvSpPr>
          <p:cNvPr id="45" name="Text 42"/>
          <p:cNvSpPr txBox="1"/>
          <p:nvPr/>
        </p:nvSpPr>
        <p:spPr>
          <a:xfrm>
            <a:off x="8183880" y="3502152"/>
            <a:ext cx="32918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46" name="Text 43"/>
          <p:cNvSpPr txBox="1"/>
          <p:nvPr/>
        </p:nvSpPr>
        <p:spPr>
          <a:xfrm>
            <a:off x="7498080" y="3813048"/>
            <a:ext cx="3931920" cy="132588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Solves a*x^2 + b*x + c = 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 =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1</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b =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-3</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c =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2</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Discriminant = 1.00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Two real roots: x1 = 2.0000, x2 = 1.0000</a:t>
            </a:r>
            <a:endParaRPr lang="en-US" sz="1200" dirty="0"/>
          </a:p>
        </p:txBody>
      </p:sp>
      <p:sp>
        <p:nvSpPr>
          <p:cNvPr id="47" name="Text 44"/>
          <p:cNvSpPr txBox="1"/>
          <p:nvPr/>
        </p:nvSpPr>
        <p:spPr>
          <a:xfrm>
            <a:off x="7269480" y="5394960"/>
            <a:ext cx="4389120" cy="731520"/>
          </a:xfrm>
          <a:prstGeom prst="rect">
            <a:avLst/>
          </a:prstGeom>
          <a:noFill/>
          <a:ln/>
        </p:spPr>
        <p:txBody>
          <a:bodyPr wrap="square" lIns="0" tIns="0" rIns="0" bIns="0" rtlCol="0" anchor="t"/>
          <a:lstStyle/>
          <a:p>
            <a:pPr indent="0" marL="0">
              <a:buNone/>
            </a:pPr>
            <a:r>
              <a:rPr lang="en-US" sz="1400" b="1" dirty="0">
                <a:solidFill>
                  <a:srgbClr val="C8453B"/>
                </a:solidFill>
                <a:latin typeface="Calibri" pitchFamily="34" charset="0"/>
                <a:ea typeface="Calibri" pitchFamily="34" charset="-122"/>
                <a:cs typeface="Calibri" pitchFamily="34" charset="-120"/>
              </a:rPr>
              <a:t>Check a = 0 FIRST: otherwise we divide by 2a = 0.</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10 · CODE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Quadratic Equation in C#</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20</a:t>
            </a:r>
            <a:endParaRPr lang="en-US" sz="1000" dirty="0"/>
          </a:p>
        </p:txBody>
      </p:sp>
      <p:sp>
        <p:nvSpPr>
          <p:cNvPr id="7" name="Shape 4"/>
          <p:cNvSpPr/>
          <p:nvPr/>
        </p:nvSpPr>
        <p:spPr>
          <a:xfrm>
            <a:off x="548640" y="1600200"/>
            <a:ext cx="8275320" cy="4526280"/>
          </a:xfrm>
          <a:prstGeom prst="roundRect">
            <a:avLst>
              <a:gd name="adj" fmla="val 2020"/>
            </a:avLst>
          </a:prstGeom>
          <a:solidFill>
            <a:srgbClr val="0F1729"/>
          </a:solidFill>
          <a:ln w="12700">
            <a:solidFill>
              <a:srgbClr val="0F1729"/>
            </a:solidFill>
            <a:prstDash val="solid"/>
          </a:ln>
        </p:spPr>
      </p:sp>
      <p:sp>
        <p:nvSpPr>
          <p:cNvPr id="8" name="Text 5"/>
          <p:cNvSpPr txBox="1"/>
          <p:nvPr/>
        </p:nvSpPr>
        <p:spPr>
          <a:xfrm>
            <a:off x="777240" y="1709928"/>
            <a:ext cx="78181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(excerpt)</a:t>
            </a:r>
            <a:endParaRPr lang="en-US" sz="1100" dirty="0"/>
          </a:p>
        </p:txBody>
      </p:sp>
      <p:sp>
        <p:nvSpPr>
          <p:cNvPr id="9" name="Text 6"/>
          <p:cNvSpPr txBox="1"/>
          <p:nvPr/>
        </p:nvSpPr>
        <p:spPr>
          <a:xfrm>
            <a:off x="777240" y="2011680"/>
            <a:ext cx="7818120" cy="4023360"/>
          </a:xfrm>
          <a:prstGeom prst="rect">
            <a:avLst/>
          </a:prstGeom>
          <a:noFill/>
          <a:ln/>
        </p:spPr>
        <p:txBody>
          <a:bodyPr wrap="square" lIns="0" tIns="0" rIns="0" bIns="0" rtlCol="0" anchor="t"/>
          <a:lstStyle/>
          <a:p>
            <a:pPr indent="0" marL="0">
              <a:lnSpc>
                <a:spcPts val="1500"/>
              </a:lnSpc>
              <a:buNone/>
            </a:pPr>
            <a:r>
              <a:rPr lang="en-US" sz="1200" dirty="0">
                <a:solidFill>
                  <a:srgbClr val="4EC9B0"/>
                </a:solidFill>
                <a:latin typeface="Courier New" pitchFamily="34" charset="0"/>
                <a:ea typeface="Courier New" pitchFamily="34" charset="-122"/>
                <a:cs typeface="Courier New" pitchFamily="34" charset="-120"/>
              </a:rPr>
              <a:t>double</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 delta = b * b - </a:t>
            </a:r>
            <a:pPr indent="0" marL="0">
              <a:lnSpc>
                <a:spcPts val="1500"/>
              </a:lnSpc>
              <a:buNone/>
            </a:pPr>
            <a:r>
              <a:rPr lang="en-US" sz="1200" dirty="0">
                <a:solidFill>
                  <a:srgbClr val="B5CEA8"/>
                </a:solidFill>
                <a:latin typeface="Courier New" pitchFamily="34" charset="0"/>
                <a:ea typeface="Courier New" pitchFamily="34" charset="-122"/>
                <a:cs typeface="Courier New" pitchFamily="34" charset="-120"/>
              </a:rPr>
              <a:t>4</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 * a * c;</a:t>
            </a:r>
            <a:endParaRPr lang="en-US" sz="1200" dirty="0"/>
          </a:p>
          <a:p>
            <a:pPr indent="0" marL="0">
              <a:lnSpc>
                <a:spcPts val="15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500"/>
              </a:lnSpc>
              <a:buNone/>
            </a:pPr>
            <a:r>
              <a:rPr lang="en-US" sz="1200" dirty="0">
                <a:solidFill>
                  <a:srgbClr val="CE9178"/>
                </a:solidFill>
                <a:latin typeface="Courier New" pitchFamily="34" charset="0"/>
                <a:ea typeface="Courier New" pitchFamily="34" charset="-122"/>
                <a:cs typeface="Courier New" pitchFamily="34" charset="-120"/>
              </a:rPr>
              <a:t>$"Discriminant = {delta:F2}"</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lnSpc>
                <a:spcPts val="1500"/>
              </a:lnSpc>
              <a:buNone/>
            </a:pPr>
            <a:r>
              <a:rPr lang="en-US" sz="1200" dirty="0">
                <a:solidFill>
                  <a:srgbClr val="7AB8FF"/>
                </a:solidFill>
                <a:latin typeface="Courier New" pitchFamily="34" charset="0"/>
                <a:ea typeface="Courier New" pitchFamily="34" charset="-122"/>
                <a:cs typeface="Courier New" pitchFamily="34" charset="-120"/>
              </a:rPr>
              <a:t>if</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 (delta &gt; </a:t>
            </a:r>
            <a:pPr indent="0" marL="0">
              <a:lnSpc>
                <a:spcPts val="1500"/>
              </a:lnSpc>
              <a:buNone/>
            </a:pPr>
            <a:r>
              <a:rPr lang="en-US" sz="1200" dirty="0">
                <a:solidFill>
                  <a:srgbClr val="B5CEA8"/>
                </a:solidFill>
                <a:latin typeface="Courier New" pitchFamily="34" charset="0"/>
                <a:ea typeface="Courier New" pitchFamily="34" charset="-122"/>
                <a:cs typeface="Courier New" pitchFamily="34" charset="-120"/>
              </a:rPr>
              <a:t>0</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rgbClr val="4EC9B0"/>
                </a:solidFill>
                <a:latin typeface="Courier New" pitchFamily="34" charset="0"/>
                <a:ea typeface="Courier New" pitchFamily="34" charset="-122"/>
                <a:cs typeface="Courier New" pitchFamily="34" charset="-120"/>
              </a:rPr>
              <a:t>double</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 x1 = (-b + </a:t>
            </a:r>
            <a:pPr indent="0" marL="0">
              <a:lnSpc>
                <a:spcPts val="1500"/>
              </a:lnSpc>
              <a:buNone/>
            </a:pPr>
            <a:r>
              <a:rPr lang="en-US" sz="1200" dirty="0">
                <a:solidFill>
                  <a:srgbClr val="4EC9B0"/>
                </a:solidFill>
                <a:latin typeface="Courier New" pitchFamily="34" charset="0"/>
                <a:ea typeface="Courier New" pitchFamily="34" charset="-122"/>
                <a:cs typeface="Courier New" pitchFamily="34" charset="-120"/>
              </a:rPr>
              <a:t>Math</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.Sqrt(delta)) / (</a:t>
            </a:r>
            <a:pPr indent="0" marL="0">
              <a:lnSpc>
                <a:spcPts val="1500"/>
              </a:lnSpc>
              <a:buNone/>
            </a:pPr>
            <a:r>
              <a:rPr lang="en-US" sz="1200" dirty="0">
                <a:solidFill>
                  <a:srgbClr val="B5CEA8"/>
                </a:solidFill>
                <a:latin typeface="Courier New" pitchFamily="34" charset="0"/>
                <a:ea typeface="Courier New" pitchFamily="34" charset="-122"/>
                <a:cs typeface="Courier New" pitchFamily="34" charset="-120"/>
              </a:rPr>
              <a:t>2</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 * a);</a:t>
            </a:r>
            <a:endParaRPr lang="en-US" sz="1200" dirty="0"/>
          </a:p>
          <a:p>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rgbClr val="4EC9B0"/>
                </a:solidFill>
                <a:latin typeface="Courier New" pitchFamily="34" charset="0"/>
                <a:ea typeface="Courier New" pitchFamily="34" charset="-122"/>
                <a:cs typeface="Courier New" pitchFamily="34" charset="-120"/>
              </a:rPr>
              <a:t>double</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 x2 = (-b - </a:t>
            </a:r>
            <a:pPr indent="0" marL="0">
              <a:lnSpc>
                <a:spcPts val="1500"/>
              </a:lnSpc>
              <a:buNone/>
            </a:pPr>
            <a:r>
              <a:rPr lang="en-US" sz="1200" dirty="0">
                <a:solidFill>
                  <a:srgbClr val="4EC9B0"/>
                </a:solidFill>
                <a:latin typeface="Courier New" pitchFamily="34" charset="0"/>
                <a:ea typeface="Courier New" pitchFamily="34" charset="-122"/>
                <a:cs typeface="Courier New" pitchFamily="34" charset="-120"/>
              </a:rPr>
              <a:t>Math</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.Sqrt(delta)) / (</a:t>
            </a:r>
            <a:pPr indent="0" marL="0">
              <a:lnSpc>
                <a:spcPts val="1500"/>
              </a:lnSpc>
              <a:buNone/>
            </a:pPr>
            <a:r>
              <a:rPr lang="en-US" sz="1200" dirty="0">
                <a:solidFill>
                  <a:srgbClr val="B5CEA8"/>
                </a:solidFill>
                <a:latin typeface="Courier New" pitchFamily="34" charset="0"/>
                <a:ea typeface="Courier New" pitchFamily="34" charset="-122"/>
                <a:cs typeface="Courier New" pitchFamily="34" charset="-120"/>
              </a:rPr>
              <a:t>2</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 * a);</a:t>
            </a:r>
            <a:endParaRPr lang="en-US" sz="1200" dirty="0"/>
          </a:p>
          <a:p>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500"/>
              </a:lnSpc>
              <a:buNone/>
            </a:pPr>
            <a:r>
              <a:rPr lang="en-US" sz="1200" dirty="0">
                <a:solidFill>
                  <a:srgbClr val="CE9178"/>
                </a:solidFill>
                <a:latin typeface="Courier New" pitchFamily="34" charset="0"/>
                <a:ea typeface="Courier New" pitchFamily="34" charset="-122"/>
                <a:cs typeface="Courier New" pitchFamily="34" charset="-120"/>
              </a:rPr>
              <a:t>$"Two real roots: x1 = {x1:F4}, x2 = {x2:F4}"</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rgbClr val="7AB8FF"/>
                </a:solidFill>
                <a:latin typeface="Courier New" pitchFamily="34" charset="0"/>
                <a:ea typeface="Courier New" pitchFamily="34" charset="-122"/>
                <a:cs typeface="Courier New" pitchFamily="34" charset="-120"/>
              </a:rPr>
              <a:t>else</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rgbClr val="7AB8FF"/>
                </a:solidFill>
                <a:latin typeface="Courier New" pitchFamily="34" charset="0"/>
                <a:ea typeface="Courier New" pitchFamily="34" charset="-122"/>
                <a:cs typeface="Courier New" pitchFamily="34" charset="-120"/>
              </a:rPr>
              <a:t>if</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 (delta == </a:t>
            </a:r>
            <a:pPr indent="0" marL="0">
              <a:lnSpc>
                <a:spcPts val="1500"/>
              </a:lnSpc>
              <a:buNone/>
            </a:pPr>
            <a:r>
              <a:rPr lang="en-US" sz="1200" dirty="0">
                <a:solidFill>
                  <a:srgbClr val="B5CEA8"/>
                </a:solidFill>
                <a:latin typeface="Courier New" pitchFamily="34" charset="0"/>
                <a:ea typeface="Courier New" pitchFamily="34" charset="-122"/>
                <a:cs typeface="Courier New" pitchFamily="34" charset="-120"/>
              </a:rPr>
              <a:t>0</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rgbClr val="4EC9B0"/>
                </a:solidFill>
                <a:latin typeface="Courier New" pitchFamily="34" charset="0"/>
                <a:ea typeface="Courier New" pitchFamily="34" charset="-122"/>
                <a:cs typeface="Courier New" pitchFamily="34" charset="-120"/>
              </a:rPr>
              <a:t>double</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 x = -b / (</a:t>
            </a:r>
            <a:pPr indent="0" marL="0">
              <a:lnSpc>
                <a:spcPts val="1500"/>
              </a:lnSpc>
              <a:buNone/>
            </a:pPr>
            <a:r>
              <a:rPr lang="en-US" sz="1200" dirty="0">
                <a:solidFill>
                  <a:srgbClr val="B5CEA8"/>
                </a:solidFill>
                <a:latin typeface="Courier New" pitchFamily="34" charset="0"/>
                <a:ea typeface="Courier New" pitchFamily="34" charset="-122"/>
                <a:cs typeface="Courier New" pitchFamily="34" charset="-120"/>
              </a:rPr>
              <a:t>2</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 * a);</a:t>
            </a:r>
            <a:endParaRPr lang="en-US" sz="1200" dirty="0"/>
          </a:p>
          <a:p>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500"/>
              </a:lnSpc>
              <a:buNone/>
            </a:pPr>
            <a:r>
              <a:rPr lang="en-US" sz="1200" dirty="0">
                <a:solidFill>
                  <a:srgbClr val="CE9178"/>
                </a:solidFill>
                <a:latin typeface="Courier New" pitchFamily="34" charset="0"/>
                <a:ea typeface="Courier New" pitchFamily="34" charset="-122"/>
                <a:cs typeface="Courier New" pitchFamily="34" charset="-120"/>
              </a:rPr>
              <a:t>$"One real (double) root: x = {x:F4}"</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rgbClr val="7AB8FF"/>
                </a:solidFill>
                <a:latin typeface="Courier New" pitchFamily="34" charset="0"/>
                <a:ea typeface="Courier New" pitchFamily="34" charset="-122"/>
                <a:cs typeface="Courier New" pitchFamily="34" charset="-120"/>
              </a:rPr>
              <a:t>else</a:t>
            </a:r>
            <a:endParaRPr lang="en-US" sz="1200" dirty="0"/>
          </a:p>
          <a:p>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rgbClr val="4EC9B0"/>
                </a:solidFill>
                <a:latin typeface="Courier New" pitchFamily="34" charset="0"/>
                <a:ea typeface="Courier New" pitchFamily="34" charset="-122"/>
                <a:cs typeface="Courier New" pitchFamily="34" charset="-120"/>
              </a:rPr>
              <a:t>double</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 re = -b / (</a:t>
            </a:r>
            <a:pPr indent="0" marL="0">
              <a:lnSpc>
                <a:spcPts val="1500"/>
              </a:lnSpc>
              <a:buNone/>
            </a:pPr>
            <a:r>
              <a:rPr lang="en-US" sz="1200" dirty="0">
                <a:solidFill>
                  <a:srgbClr val="B5CEA8"/>
                </a:solidFill>
                <a:latin typeface="Courier New" pitchFamily="34" charset="0"/>
                <a:ea typeface="Courier New" pitchFamily="34" charset="-122"/>
                <a:cs typeface="Courier New" pitchFamily="34" charset="-120"/>
              </a:rPr>
              <a:t>2</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 * a);</a:t>
            </a:r>
            <a:endParaRPr lang="en-US" sz="1200" dirty="0"/>
          </a:p>
          <a:p>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rgbClr val="4EC9B0"/>
                </a:solidFill>
                <a:latin typeface="Courier New" pitchFamily="34" charset="0"/>
                <a:ea typeface="Courier New" pitchFamily="34" charset="-122"/>
                <a:cs typeface="Courier New" pitchFamily="34" charset="-120"/>
              </a:rPr>
              <a:t>double</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 im = </a:t>
            </a:r>
            <a:pPr indent="0" marL="0">
              <a:lnSpc>
                <a:spcPts val="1500"/>
              </a:lnSpc>
              <a:buNone/>
            </a:pPr>
            <a:r>
              <a:rPr lang="en-US" sz="1200" dirty="0">
                <a:solidFill>
                  <a:srgbClr val="4EC9B0"/>
                </a:solidFill>
                <a:latin typeface="Courier New" pitchFamily="34" charset="0"/>
                <a:ea typeface="Courier New" pitchFamily="34" charset="-122"/>
                <a:cs typeface="Courier New" pitchFamily="34" charset="-120"/>
              </a:rPr>
              <a:t>Math</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.Sqrt(-delta) / (</a:t>
            </a:r>
            <a:pPr indent="0" marL="0">
              <a:lnSpc>
                <a:spcPts val="1500"/>
              </a:lnSpc>
              <a:buNone/>
            </a:pPr>
            <a:r>
              <a:rPr lang="en-US" sz="1200" dirty="0">
                <a:solidFill>
                  <a:srgbClr val="B5CEA8"/>
                </a:solidFill>
                <a:latin typeface="Courier New" pitchFamily="34" charset="0"/>
                <a:ea typeface="Courier New" pitchFamily="34" charset="-122"/>
                <a:cs typeface="Courier New" pitchFamily="34" charset="-120"/>
              </a:rPr>
              <a:t>2</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 * </a:t>
            </a:r>
            <a:pPr indent="0" marL="0">
              <a:lnSpc>
                <a:spcPts val="1500"/>
              </a:lnSpc>
              <a:buNone/>
            </a:pPr>
            <a:r>
              <a:rPr lang="en-US" sz="1200" dirty="0">
                <a:solidFill>
                  <a:srgbClr val="4EC9B0"/>
                </a:solidFill>
                <a:latin typeface="Courier New" pitchFamily="34" charset="0"/>
                <a:ea typeface="Courier New" pitchFamily="34" charset="-122"/>
                <a:cs typeface="Courier New" pitchFamily="34" charset="-120"/>
              </a:rPr>
              <a:t>Math</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.Abs(a));</a:t>
            </a:r>
            <a:endParaRPr lang="en-US" sz="1200" dirty="0"/>
          </a:p>
          <a:p>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500"/>
              </a:lnSpc>
              <a:buNone/>
            </a:pPr>
            <a:r>
              <a:rPr lang="en-US" sz="1200" dirty="0">
                <a:solidFill>
                  <a:srgbClr val="CE9178"/>
                </a:solidFill>
                <a:latin typeface="Courier New" pitchFamily="34" charset="0"/>
                <a:ea typeface="Courier New" pitchFamily="34" charset="-122"/>
                <a:cs typeface="Courier New" pitchFamily="34" charset="-120"/>
              </a:rPr>
              <a:t>$"Complex roots: {re:F4} + {im:F4}i and {re:F4} - {im:F4}i"</a:t>
            </a:r>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9006840" y="1600200"/>
          <a:ext cx="2651760" cy="914400"/>
        </p:xfrm>
        <a:graphic>
          <a:graphicData uri="http://schemas.openxmlformats.org/drawingml/2006/table">
            <a:tbl>
              <a:tblPr/>
              <a:tblGrid>
                <a:gridCol w="1005840"/>
                <a:gridCol w="1645920"/>
              </a:tblGrid>
              <a:tr h="41148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a b c</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Output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11480">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1 −3 2</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x1 = 2, x2 = 1</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11480">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1 2 1</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x = −1</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11480">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1 2 5</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−1 ± 2i</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11480">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0 2 1</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not quadratic</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11" name="Shape 7"/>
          <p:cNvSpPr/>
          <p:nvPr/>
        </p:nvSpPr>
        <p:spPr>
          <a:xfrm>
            <a:off x="9006840" y="3840480"/>
            <a:ext cx="2651760" cy="2286000"/>
          </a:xfrm>
          <a:prstGeom prst="roundRect">
            <a:avLst>
              <a:gd name="adj" fmla="val 4800"/>
            </a:avLst>
          </a:prstGeom>
          <a:solidFill>
            <a:srgbClr val="FBE9E7"/>
          </a:solidFill>
          <a:ln w="12700">
            <a:solidFill>
              <a:srgbClr val="FBE9E7"/>
            </a:solidFill>
            <a:prstDash val="solid"/>
          </a:ln>
        </p:spPr>
      </p:sp>
      <p:sp>
        <p:nvSpPr>
          <p:cNvPr id="12" name="Text 8"/>
          <p:cNvSpPr txBox="1"/>
          <p:nvPr/>
        </p:nvSpPr>
        <p:spPr>
          <a:xfrm>
            <a:off x="9189720" y="3931920"/>
            <a:ext cx="2331720" cy="2103120"/>
          </a:xfrm>
          <a:prstGeom prst="rect">
            <a:avLst/>
          </a:prstGeom>
          <a:noFill/>
          <a:ln/>
        </p:spPr>
        <p:txBody>
          <a:bodyPr wrap="square" lIns="0" tIns="0" rIns="0" bIns="0" rtlCol="0" anchor="t"/>
          <a:lstStyle/>
          <a:p>
            <a:pPr indent="0" marL="0">
              <a:buNone/>
            </a:pPr>
            <a:r>
              <a:rPr lang="en-US" sz="1400" b="1" dirty="0">
                <a:solidFill>
                  <a:srgbClr val="C8453B"/>
                </a:solidFill>
                <a:latin typeface="Courier New" pitchFamily="34" charset="0"/>
                <a:ea typeface="Courier New" pitchFamily="34" charset="-122"/>
                <a:cs typeface="Courier New" pitchFamily="34" charset="-120"/>
              </a:rPr>
              <a:t>delta == 0</a:t>
            </a:r>
            <a:endParaRPr lang="en-US" sz="1400" dirty="0"/>
          </a:p>
          <a:p>
            <a:pPr indent="0" marL="0">
              <a:buNone/>
            </a:pPr>
            <a:r>
              <a:rPr lang="en-US" sz="1400" dirty="0">
                <a:solidFill>
                  <a:srgbClr val="333B4F"/>
                </a:solidFill>
                <a:latin typeface="Calibri" pitchFamily="34" charset="0"/>
                <a:ea typeface="Calibri" pitchFamily="34" charset="-122"/>
                <a:cs typeface="Calibri" pitchFamily="34" charset="-120"/>
              </a:rPr>
              <a:t>compares doubles exactly: fine for whole-number inputs; with decimals use a tolerance (Week 4).</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3</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switch: Multi-Way Selection</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One value, many cases</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5</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PART 3 · SWITCH STATEMENT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switch: Compare One Value with Many Cases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22</a:t>
            </a:r>
            <a:endParaRPr lang="en-US" sz="1000" dirty="0"/>
          </a:p>
        </p:txBody>
      </p:sp>
      <p:sp>
        <p:nvSpPr>
          <p:cNvPr id="7" name="Shape 4"/>
          <p:cNvSpPr/>
          <p:nvPr/>
        </p:nvSpPr>
        <p:spPr>
          <a:xfrm>
            <a:off x="548640" y="1600200"/>
            <a:ext cx="5486400" cy="3566160"/>
          </a:xfrm>
          <a:prstGeom prst="roundRect">
            <a:avLst>
              <a:gd name="adj" fmla="val 2564"/>
            </a:avLst>
          </a:prstGeom>
          <a:solidFill>
            <a:srgbClr val="0F1729"/>
          </a:solidFill>
          <a:ln w="12700">
            <a:solidFill>
              <a:srgbClr val="0F1729"/>
            </a:solidFill>
            <a:prstDash val="solid"/>
          </a:ln>
        </p:spPr>
      </p:sp>
      <p:sp>
        <p:nvSpPr>
          <p:cNvPr id="8" name="Text 5"/>
          <p:cNvSpPr txBox="1"/>
          <p:nvPr/>
        </p:nvSpPr>
        <p:spPr>
          <a:xfrm>
            <a:off x="777240" y="1709928"/>
            <a:ext cx="50292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Syntax</a:t>
            </a:r>
            <a:endParaRPr lang="en-US" sz="1100" dirty="0"/>
          </a:p>
        </p:txBody>
      </p:sp>
      <p:sp>
        <p:nvSpPr>
          <p:cNvPr id="9" name="Text 6"/>
          <p:cNvSpPr txBox="1"/>
          <p:nvPr/>
        </p:nvSpPr>
        <p:spPr>
          <a:xfrm>
            <a:off x="777240" y="2011680"/>
            <a:ext cx="5029200" cy="3063240"/>
          </a:xfrm>
          <a:prstGeom prst="rect">
            <a:avLst/>
          </a:prstGeom>
          <a:noFill/>
          <a:ln/>
        </p:spPr>
        <p:txBody>
          <a:bodyPr wrap="square" lIns="0" tIns="0" rIns="0" bIns="0" rtlCol="0" anchor="t"/>
          <a:lstStyle/>
          <a:p>
            <a:pPr indent="0" marL="0">
              <a:lnSpc>
                <a:spcPts val="1600"/>
              </a:lnSpc>
              <a:buNone/>
            </a:pPr>
            <a:r>
              <a:rPr lang="en-US" sz="1400" dirty="0">
                <a:solidFill>
                  <a:srgbClr val="7AB8FF"/>
                </a:solidFill>
                <a:latin typeface="Courier New" pitchFamily="34" charset="0"/>
                <a:ea typeface="Courier New" pitchFamily="34" charset="-122"/>
                <a:cs typeface="Courier New" pitchFamily="34" charset="-120"/>
              </a:rPr>
              <a:t>switch</a:t>
            </a:r>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 (expression)</a:t>
            </a:r>
            <a:endParaRPr lang="en-US" sz="1400" dirty="0"/>
          </a:p>
          <a:p>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600"/>
              </a:lnSpc>
              <a:buNone/>
            </a:pPr>
            <a:r>
              <a:rPr lang="en-US" sz="1400" dirty="0">
                <a:solidFill>
                  <a:srgbClr val="7AB8FF"/>
                </a:solidFill>
                <a:latin typeface="Courier New" pitchFamily="34" charset="0"/>
                <a:ea typeface="Courier New" pitchFamily="34" charset="-122"/>
                <a:cs typeface="Courier New" pitchFamily="34" charset="-120"/>
              </a:rPr>
              <a:t>case</a:t>
            </a:r>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 value1:</a:t>
            </a:r>
            <a:endParaRPr lang="en-US" sz="1400" dirty="0"/>
          </a:p>
          <a:p>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600"/>
              </a:lnSpc>
              <a:buNone/>
            </a:pPr>
            <a:r>
              <a:rPr lang="en-US" sz="1400" dirty="0">
                <a:solidFill>
                  <a:srgbClr val="7F8BA3"/>
                </a:solidFill>
                <a:latin typeface="Courier New" pitchFamily="34" charset="0"/>
                <a:ea typeface="Courier New" pitchFamily="34" charset="-122"/>
                <a:cs typeface="Courier New" pitchFamily="34" charset="-120"/>
              </a:rPr>
              <a:t>// statements</a:t>
            </a:r>
            <a:endParaRPr lang="en-US" sz="1400" dirty="0"/>
          </a:p>
          <a:p>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600"/>
              </a:lnSpc>
              <a:buNone/>
            </a:pPr>
            <a:r>
              <a:rPr lang="en-US" sz="1400" dirty="0">
                <a:solidFill>
                  <a:srgbClr val="7AB8FF"/>
                </a:solidFill>
                <a:latin typeface="Courier New" pitchFamily="34" charset="0"/>
                <a:ea typeface="Courier New" pitchFamily="34" charset="-122"/>
                <a:cs typeface="Courier New" pitchFamily="34" charset="-120"/>
              </a:rPr>
              <a:t>break</a:t>
            </a:r>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600"/>
              </a:lnSpc>
              <a:buNone/>
            </a:pPr>
            <a:r>
              <a:rPr lang="en-US" sz="1400" dirty="0">
                <a:solidFill>
                  <a:srgbClr val="7AB8FF"/>
                </a:solidFill>
                <a:latin typeface="Courier New" pitchFamily="34" charset="0"/>
                <a:ea typeface="Courier New" pitchFamily="34" charset="-122"/>
                <a:cs typeface="Courier New" pitchFamily="34" charset="-120"/>
              </a:rPr>
              <a:t>case</a:t>
            </a:r>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 value2:</a:t>
            </a:r>
            <a:endParaRPr lang="en-US" sz="1400" dirty="0"/>
          </a:p>
          <a:p>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600"/>
              </a:lnSpc>
              <a:buNone/>
            </a:pPr>
            <a:r>
              <a:rPr lang="en-US" sz="1400" dirty="0">
                <a:solidFill>
                  <a:srgbClr val="7AB8FF"/>
                </a:solidFill>
                <a:latin typeface="Courier New" pitchFamily="34" charset="0"/>
                <a:ea typeface="Courier New" pitchFamily="34" charset="-122"/>
                <a:cs typeface="Courier New" pitchFamily="34" charset="-120"/>
              </a:rPr>
              <a:t>case</a:t>
            </a:r>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 value3:     </a:t>
            </a:r>
            <a:pPr indent="0" marL="0">
              <a:lnSpc>
                <a:spcPts val="1600"/>
              </a:lnSpc>
              <a:buNone/>
            </a:pPr>
            <a:r>
              <a:rPr lang="en-US" sz="1400" dirty="0">
                <a:solidFill>
                  <a:srgbClr val="7F8BA3"/>
                </a:solidFill>
                <a:latin typeface="Courier New" pitchFamily="34" charset="0"/>
                <a:ea typeface="Courier New" pitchFamily="34" charset="-122"/>
                <a:cs typeface="Courier New" pitchFamily="34" charset="-120"/>
              </a:rPr>
              <a:t>// stacked labels</a:t>
            </a:r>
            <a:endParaRPr lang="en-US" sz="1400" dirty="0"/>
          </a:p>
          <a:p>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600"/>
              </a:lnSpc>
              <a:buNone/>
            </a:pPr>
            <a:r>
              <a:rPr lang="en-US" sz="1400" dirty="0">
                <a:solidFill>
                  <a:srgbClr val="7F8BA3"/>
                </a:solidFill>
                <a:latin typeface="Courier New" pitchFamily="34" charset="0"/>
                <a:ea typeface="Courier New" pitchFamily="34" charset="-122"/>
                <a:cs typeface="Courier New" pitchFamily="34" charset="-120"/>
              </a:rPr>
              <a:t>// statements</a:t>
            </a:r>
            <a:endParaRPr lang="en-US" sz="1400" dirty="0"/>
          </a:p>
          <a:p>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600"/>
              </a:lnSpc>
              <a:buNone/>
            </a:pPr>
            <a:r>
              <a:rPr lang="en-US" sz="1400" dirty="0">
                <a:solidFill>
                  <a:srgbClr val="7AB8FF"/>
                </a:solidFill>
                <a:latin typeface="Courier New" pitchFamily="34" charset="0"/>
                <a:ea typeface="Courier New" pitchFamily="34" charset="-122"/>
                <a:cs typeface="Courier New" pitchFamily="34" charset="-120"/>
              </a:rPr>
              <a:t>break</a:t>
            </a:r>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600"/>
              </a:lnSpc>
              <a:buNone/>
            </a:pPr>
            <a:r>
              <a:rPr lang="en-US" sz="1400" dirty="0">
                <a:solidFill>
                  <a:srgbClr val="7AB8FF"/>
                </a:solidFill>
                <a:latin typeface="Courier New" pitchFamily="34" charset="0"/>
                <a:ea typeface="Courier New" pitchFamily="34" charset="-122"/>
                <a:cs typeface="Courier New" pitchFamily="34" charset="-120"/>
              </a:rPr>
              <a:t>default</a:t>
            </a:r>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600"/>
              </a:lnSpc>
              <a:buNone/>
            </a:pPr>
            <a:r>
              <a:rPr lang="en-US" sz="1400" dirty="0">
                <a:solidFill>
                  <a:srgbClr val="7F8BA3"/>
                </a:solidFill>
                <a:latin typeface="Courier New" pitchFamily="34" charset="0"/>
                <a:ea typeface="Courier New" pitchFamily="34" charset="-122"/>
                <a:cs typeface="Courier New" pitchFamily="34" charset="-120"/>
              </a:rPr>
              <a:t>// nothing matched</a:t>
            </a:r>
            <a:endParaRPr lang="en-US" sz="1400" dirty="0"/>
          </a:p>
          <a:p>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600"/>
              </a:lnSpc>
              <a:buNone/>
            </a:pPr>
            <a:r>
              <a:rPr lang="en-US" sz="1400" dirty="0">
                <a:solidFill>
                  <a:srgbClr val="7F8BA3"/>
                </a:solidFill>
                <a:latin typeface="Courier New" pitchFamily="34" charset="0"/>
                <a:ea typeface="Courier New" pitchFamily="34" charset="-122"/>
                <a:cs typeface="Courier New" pitchFamily="34" charset="-120"/>
              </a:rPr>
              <a:t>// statements</a:t>
            </a:r>
            <a:endParaRPr lang="en-US" sz="1400" dirty="0"/>
          </a:p>
          <a:p>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600"/>
              </a:lnSpc>
              <a:buNone/>
            </a:pPr>
            <a:r>
              <a:rPr lang="en-US" sz="1400" dirty="0">
                <a:solidFill>
                  <a:srgbClr val="7AB8FF"/>
                </a:solidFill>
                <a:latin typeface="Courier New" pitchFamily="34" charset="0"/>
                <a:ea typeface="Courier New" pitchFamily="34" charset="-122"/>
                <a:cs typeface="Courier New" pitchFamily="34" charset="-120"/>
              </a:rPr>
              <a:t>break</a:t>
            </a:r>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p:txBody>
      </p:sp>
      <p:sp>
        <p:nvSpPr>
          <p:cNvPr id="10" name="Shape 7"/>
          <p:cNvSpPr/>
          <p:nvPr/>
        </p:nvSpPr>
        <p:spPr>
          <a:xfrm>
            <a:off x="548640" y="5303520"/>
            <a:ext cx="5486400" cy="822960"/>
          </a:xfrm>
          <a:prstGeom prst="roundRect">
            <a:avLst>
              <a:gd name="adj" fmla="val 13333"/>
            </a:avLst>
          </a:prstGeom>
          <a:solidFill>
            <a:srgbClr val="FFF6E3"/>
          </a:solidFill>
          <a:ln w="12700">
            <a:solidFill>
              <a:srgbClr val="FFF6E3"/>
            </a:solidFill>
            <a:prstDash val="solid"/>
          </a:ln>
        </p:spPr>
      </p:sp>
      <p:pic>
        <p:nvPicPr>
          <p:cNvPr id="11" name="Image 0" descr="preencoded.png">    </p:cNvPr>
          <p:cNvPicPr>
            <a:picLocks noChangeAspect="1"/>
          </p:cNvPicPr>
          <p:nvPr/>
        </p:nvPicPr>
        <p:blipFill>
          <a:blip r:embed="rId1"/>
          <a:stretch>
            <a:fillRect/>
          </a:stretch>
        </p:blipFill>
        <p:spPr>
          <a:xfrm>
            <a:off x="822960" y="5440680"/>
            <a:ext cx="548640" cy="548640"/>
          </a:xfrm>
          <a:prstGeom prst="rect">
            <a:avLst/>
          </a:prstGeom>
        </p:spPr>
      </p:pic>
      <p:sp>
        <p:nvSpPr>
          <p:cNvPr id="12" name="Text 8"/>
          <p:cNvSpPr txBox="1"/>
          <p:nvPr/>
        </p:nvSpPr>
        <p:spPr>
          <a:xfrm>
            <a:off x="1645920" y="5376672"/>
            <a:ext cx="4114800" cy="676656"/>
          </a:xfrm>
          <a:prstGeom prst="rect">
            <a:avLst/>
          </a:prstGeom>
          <a:noFill/>
          <a:ln/>
        </p:spPr>
        <p:txBody>
          <a:bodyPr wrap="square" lIns="0" tIns="0" rIns="0" bIns="0" rtlCol="0" anchor="ctr"/>
          <a:lstStyle/>
          <a:p>
            <a:pPr indent="0" marL="0">
              <a:buNone/>
            </a:pPr>
            <a:r>
              <a:rPr lang="en-US" sz="1500" dirty="0">
                <a:solidFill>
                  <a:srgbClr val="333B4F"/>
                </a:solidFill>
                <a:latin typeface="Calibri" pitchFamily="34" charset="0"/>
                <a:ea typeface="Calibri" pitchFamily="34" charset="-122"/>
                <a:cs typeface="Calibri" pitchFamily="34" charset="-120"/>
              </a:rPr>
              <a:t>Case labels are </a:t>
            </a:r>
            <a:pPr indent="0" marL="0">
              <a:buNone/>
            </a:pPr>
            <a:r>
              <a:rPr lang="en-US" sz="1500" b="1" dirty="0">
                <a:solidFill>
                  <a:srgbClr val="333B4F"/>
                </a:solidFill>
                <a:latin typeface="Calibri" pitchFamily="34" charset="0"/>
                <a:ea typeface="Calibri" pitchFamily="34" charset="-122"/>
                <a:cs typeface="Calibri" pitchFamily="34" charset="-120"/>
              </a:rPr>
              <a:t>constants</a:t>
            </a:r>
            <a:pPr indent="0" marL="0">
              <a:buNone/>
            </a:pPr>
            <a:r>
              <a:rPr lang="en-US" sz="1500" dirty="0">
                <a:solidFill>
                  <a:srgbClr val="333B4F"/>
                </a:solidFill>
                <a:latin typeface="Calibri" pitchFamily="34" charset="0"/>
                <a:ea typeface="Calibri" pitchFamily="34" charset="-122"/>
                <a:cs typeface="Calibri" pitchFamily="34" charset="-120"/>
              </a:rPr>
              <a:t>: </a:t>
            </a:r>
            <a:pPr indent="0" marL="0">
              <a:buNone/>
            </a:pPr>
            <a:r>
              <a:rPr lang="en-US" sz="1500" dirty="0">
                <a:solidFill>
                  <a:srgbClr val="333B4F"/>
                </a:solidFill>
                <a:latin typeface="Courier New" pitchFamily="34" charset="0"/>
                <a:ea typeface="Courier New" pitchFamily="34" charset="-122"/>
                <a:cs typeface="Courier New" pitchFamily="34" charset="-120"/>
              </a:rPr>
              <a:t>1</a:t>
            </a:r>
            <a:pPr indent="0" marL="0">
              <a:buNone/>
            </a:pPr>
            <a:r>
              <a:rPr lang="en-US" sz="1500" dirty="0">
                <a:solidFill>
                  <a:srgbClr val="333B4F"/>
                </a:solidFill>
                <a:latin typeface="Calibri" pitchFamily="34" charset="0"/>
                <a:ea typeface="Calibri" pitchFamily="34" charset="-122"/>
                <a:cs typeface="Calibri" pitchFamily="34" charset="-120"/>
              </a:rPr>
              <a:t>, </a:t>
            </a:r>
            <a:pPr indent="0" marL="0">
              <a:buNone/>
            </a:pPr>
            <a:r>
              <a:rPr lang="en-US" sz="1500" dirty="0">
                <a:solidFill>
                  <a:srgbClr val="333B4F"/>
                </a:solidFill>
                <a:latin typeface="Courier New" pitchFamily="34" charset="0"/>
                <a:ea typeface="Courier New" pitchFamily="34" charset="-122"/>
                <a:cs typeface="Courier New" pitchFamily="34" charset="-120"/>
              </a:rPr>
              <a:t>'E'</a:t>
            </a:r>
            <a:pPr indent="0" marL="0">
              <a:buNone/>
            </a:pPr>
            <a:r>
              <a:rPr lang="en-US" sz="1500" dirty="0">
                <a:solidFill>
                  <a:srgbClr val="333B4F"/>
                </a:solidFill>
                <a:latin typeface="Calibri" pitchFamily="34" charset="0"/>
                <a:ea typeface="Calibri" pitchFamily="34" charset="-122"/>
                <a:cs typeface="Calibri" pitchFamily="34" charset="-120"/>
              </a:rPr>
              <a:t>, </a:t>
            </a:r>
            <a:pPr indent="0" marL="0">
              <a:buNone/>
            </a:pPr>
            <a:r>
              <a:rPr lang="en-US" sz="1500" dirty="0">
                <a:solidFill>
                  <a:srgbClr val="333B4F"/>
                </a:solidFill>
                <a:latin typeface="Courier New" pitchFamily="34" charset="0"/>
                <a:ea typeface="Courier New" pitchFamily="34" charset="-122"/>
                <a:cs typeface="Courier New" pitchFamily="34" charset="-120"/>
              </a:rPr>
              <a:t>"+"</a:t>
            </a:r>
            <a:pPr indent="0" marL="0">
              <a:buNone/>
            </a:pPr>
            <a:r>
              <a:rPr lang="en-US" sz="1500" dirty="0">
                <a:solidFill>
                  <a:srgbClr val="333B4F"/>
                </a:solidFill>
                <a:latin typeface="Calibri" pitchFamily="34" charset="0"/>
                <a:ea typeface="Calibri" pitchFamily="34" charset="-122"/>
                <a:cs typeface="Calibri" pitchFamily="34" charset="-120"/>
              </a:rPr>
              <a:t>.</a:t>
            </a:r>
            <a:endParaRPr lang="en-US" sz="1500" dirty="0"/>
          </a:p>
        </p:txBody>
      </p:sp>
      <p:sp>
        <p:nvSpPr>
          <p:cNvPr id="13" name="Shape 9"/>
          <p:cNvSpPr/>
          <p:nvPr/>
        </p:nvSpPr>
        <p:spPr>
          <a:xfrm>
            <a:off x="8092440" y="1600200"/>
            <a:ext cx="1737360" cy="731520"/>
          </a:xfrm>
          <a:prstGeom prst="flowChartDecision">
            <a:avLst/>
          </a:prstGeom>
          <a:solidFill>
            <a:srgbClr val="E3ECF8"/>
          </a:solidFill>
          <a:ln w="15875">
            <a:solidFill>
              <a:srgbClr val="14213D"/>
            </a:solidFill>
            <a:prstDash val="solid"/>
          </a:ln>
        </p:spPr>
      </p:sp>
      <p:sp>
        <p:nvSpPr>
          <p:cNvPr id="14" name="Text 10"/>
          <p:cNvSpPr txBox="1"/>
          <p:nvPr/>
        </p:nvSpPr>
        <p:spPr>
          <a:xfrm>
            <a:off x="8138160" y="1600200"/>
            <a:ext cx="1645920" cy="73152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day ?</a:t>
            </a:r>
            <a:endParaRPr lang="en-US" sz="1300" dirty="0"/>
          </a:p>
        </p:txBody>
      </p:sp>
      <p:sp>
        <p:nvSpPr>
          <p:cNvPr id="15" name="Shape 11"/>
          <p:cNvSpPr/>
          <p:nvPr/>
        </p:nvSpPr>
        <p:spPr>
          <a:xfrm>
            <a:off x="8961120" y="2331720"/>
            <a:ext cx="0" cy="365760"/>
          </a:xfrm>
          <a:prstGeom prst="line">
            <a:avLst/>
          </a:prstGeom>
          <a:noFill/>
          <a:ln w="15875">
            <a:solidFill>
              <a:srgbClr val="14213D"/>
            </a:solidFill>
            <a:prstDash val="solid"/>
          </a:ln>
        </p:spPr>
      </p:sp>
      <p:sp>
        <p:nvSpPr>
          <p:cNvPr id="16" name="Shape 12"/>
          <p:cNvSpPr/>
          <p:nvPr/>
        </p:nvSpPr>
        <p:spPr>
          <a:xfrm>
            <a:off x="6766560" y="2697480"/>
            <a:ext cx="4389120" cy="0"/>
          </a:xfrm>
          <a:prstGeom prst="line">
            <a:avLst/>
          </a:prstGeom>
          <a:noFill/>
          <a:ln w="15875">
            <a:solidFill>
              <a:srgbClr val="14213D"/>
            </a:solidFill>
            <a:prstDash val="solid"/>
          </a:ln>
        </p:spPr>
      </p:sp>
      <p:sp>
        <p:nvSpPr>
          <p:cNvPr id="17" name="Shape 13"/>
          <p:cNvSpPr/>
          <p:nvPr/>
        </p:nvSpPr>
        <p:spPr>
          <a:xfrm>
            <a:off x="6272784" y="3383280"/>
            <a:ext cx="987552" cy="457200"/>
          </a:xfrm>
          <a:prstGeom prst="flowChartProcess">
            <a:avLst/>
          </a:prstGeom>
          <a:solidFill>
            <a:srgbClr val="FFFFFF"/>
          </a:solidFill>
          <a:ln w="15875">
            <a:solidFill>
              <a:srgbClr val="14213D"/>
            </a:solidFill>
            <a:prstDash val="solid"/>
          </a:ln>
        </p:spPr>
      </p:sp>
      <p:sp>
        <p:nvSpPr>
          <p:cNvPr id="18" name="Text 14"/>
          <p:cNvSpPr txBox="1"/>
          <p:nvPr/>
        </p:nvSpPr>
        <p:spPr>
          <a:xfrm>
            <a:off x="6318504" y="3383280"/>
            <a:ext cx="896112" cy="45720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Monday</a:t>
            </a:r>
            <a:endParaRPr lang="en-US" sz="1200" dirty="0"/>
          </a:p>
        </p:txBody>
      </p:sp>
      <p:sp>
        <p:nvSpPr>
          <p:cNvPr id="19" name="Shape 15"/>
          <p:cNvSpPr/>
          <p:nvPr/>
        </p:nvSpPr>
        <p:spPr>
          <a:xfrm>
            <a:off x="7370064" y="3383280"/>
            <a:ext cx="987552" cy="457200"/>
          </a:xfrm>
          <a:prstGeom prst="flowChartProcess">
            <a:avLst/>
          </a:prstGeom>
          <a:solidFill>
            <a:srgbClr val="FFFFFF"/>
          </a:solidFill>
          <a:ln w="15875">
            <a:solidFill>
              <a:srgbClr val="14213D"/>
            </a:solidFill>
            <a:prstDash val="solid"/>
          </a:ln>
        </p:spPr>
      </p:sp>
      <p:sp>
        <p:nvSpPr>
          <p:cNvPr id="20" name="Text 16"/>
          <p:cNvSpPr txBox="1"/>
          <p:nvPr/>
        </p:nvSpPr>
        <p:spPr>
          <a:xfrm>
            <a:off x="7415784" y="3383280"/>
            <a:ext cx="896112" cy="45720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Tuesday</a:t>
            </a:r>
            <a:endParaRPr lang="en-US" sz="1200" dirty="0"/>
          </a:p>
        </p:txBody>
      </p:sp>
      <p:sp>
        <p:nvSpPr>
          <p:cNvPr id="21" name="Shape 17"/>
          <p:cNvSpPr/>
          <p:nvPr/>
        </p:nvSpPr>
        <p:spPr>
          <a:xfrm>
            <a:off x="8467344" y="3383280"/>
            <a:ext cx="987552" cy="457200"/>
          </a:xfrm>
          <a:prstGeom prst="flowChartProcess">
            <a:avLst/>
          </a:prstGeom>
          <a:solidFill>
            <a:srgbClr val="FFFFFF"/>
          </a:solidFill>
          <a:ln w="15875">
            <a:solidFill>
              <a:srgbClr val="14213D"/>
            </a:solidFill>
            <a:prstDash val="solid"/>
          </a:ln>
        </p:spPr>
      </p:sp>
      <p:sp>
        <p:nvSpPr>
          <p:cNvPr id="22" name="Text 18"/>
          <p:cNvSpPr txBox="1"/>
          <p:nvPr/>
        </p:nvSpPr>
        <p:spPr>
          <a:xfrm>
            <a:off x="8513064" y="3383280"/>
            <a:ext cx="896112" cy="45720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a:t>
            </a:r>
            <a:endParaRPr lang="en-US" sz="1200" dirty="0"/>
          </a:p>
        </p:txBody>
      </p:sp>
      <p:sp>
        <p:nvSpPr>
          <p:cNvPr id="23" name="Shape 19"/>
          <p:cNvSpPr/>
          <p:nvPr/>
        </p:nvSpPr>
        <p:spPr>
          <a:xfrm>
            <a:off x="9564624" y="3383280"/>
            <a:ext cx="987552" cy="457200"/>
          </a:xfrm>
          <a:prstGeom prst="flowChartProcess">
            <a:avLst/>
          </a:prstGeom>
          <a:solidFill>
            <a:srgbClr val="FFFFFF"/>
          </a:solidFill>
          <a:ln w="15875">
            <a:solidFill>
              <a:srgbClr val="14213D"/>
            </a:solidFill>
            <a:prstDash val="solid"/>
          </a:ln>
        </p:spPr>
      </p:sp>
      <p:sp>
        <p:nvSpPr>
          <p:cNvPr id="24" name="Text 20"/>
          <p:cNvSpPr txBox="1"/>
          <p:nvPr/>
        </p:nvSpPr>
        <p:spPr>
          <a:xfrm>
            <a:off x="9610344" y="3383280"/>
            <a:ext cx="896112" cy="45720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Sunday</a:t>
            </a:r>
            <a:endParaRPr lang="en-US" sz="1200" dirty="0"/>
          </a:p>
        </p:txBody>
      </p:sp>
      <p:sp>
        <p:nvSpPr>
          <p:cNvPr id="25" name="Shape 21"/>
          <p:cNvSpPr/>
          <p:nvPr/>
        </p:nvSpPr>
        <p:spPr>
          <a:xfrm>
            <a:off x="10661904" y="3383280"/>
            <a:ext cx="987552" cy="457200"/>
          </a:xfrm>
          <a:prstGeom prst="flowChartProcess">
            <a:avLst/>
          </a:prstGeom>
          <a:solidFill>
            <a:srgbClr val="FBE9E7"/>
          </a:solidFill>
          <a:ln w="15875">
            <a:solidFill>
              <a:srgbClr val="14213D"/>
            </a:solidFill>
            <a:prstDash val="solid"/>
          </a:ln>
        </p:spPr>
      </p:sp>
      <p:sp>
        <p:nvSpPr>
          <p:cNvPr id="26" name="Text 22"/>
          <p:cNvSpPr txBox="1"/>
          <p:nvPr/>
        </p:nvSpPr>
        <p:spPr>
          <a:xfrm>
            <a:off x="10707624" y="3383280"/>
            <a:ext cx="896112" cy="45720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error</a:t>
            </a:r>
            <a:endParaRPr lang="en-US" sz="1200" dirty="0"/>
          </a:p>
        </p:txBody>
      </p:sp>
      <p:sp>
        <p:nvSpPr>
          <p:cNvPr id="27" name="Shape 23"/>
          <p:cNvSpPr/>
          <p:nvPr/>
        </p:nvSpPr>
        <p:spPr>
          <a:xfrm>
            <a:off x="6766560" y="2697480"/>
            <a:ext cx="0" cy="685800"/>
          </a:xfrm>
          <a:prstGeom prst="line">
            <a:avLst/>
          </a:prstGeom>
          <a:noFill/>
          <a:ln w="15875">
            <a:solidFill>
              <a:srgbClr val="14213D"/>
            </a:solidFill>
            <a:prstDash val="solid"/>
            <a:tailEnd type="triangle"/>
          </a:ln>
        </p:spPr>
      </p:sp>
      <p:sp>
        <p:nvSpPr>
          <p:cNvPr id="28" name="Text 24"/>
          <p:cNvSpPr txBox="1"/>
          <p:nvPr/>
        </p:nvSpPr>
        <p:spPr>
          <a:xfrm>
            <a:off x="6821424" y="2852928"/>
            <a:ext cx="548640" cy="228600"/>
          </a:xfrm>
          <a:prstGeom prst="rect">
            <a:avLst/>
          </a:prstGeom>
          <a:noFill/>
          <a:ln/>
        </p:spPr>
        <p:txBody>
          <a:bodyPr wrap="square" lIns="0" tIns="0" rIns="0" bIns="0" rtlCol="0" anchor="ctr"/>
          <a:lstStyle/>
          <a:p>
            <a:pPr indent="0" marL="0">
              <a:buNone/>
            </a:pPr>
            <a:r>
              <a:rPr lang="en-US" sz="1100" b="1" dirty="0">
                <a:solidFill>
                  <a:srgbClr val="2F6FB3"/>
                </a:solidFill>
                <a:latin typeface="Calibri" pitchFamily="34" charset="0"/>
                <a:ea typeface="Calibri" pitchFamily="34" charset="-122"/>
                <a:cs typeface="Calibri" pitchFamily="34" charset="-120"/>
              </a:rPr>
              <a:t>1</a:t>
            </a:r>
            <a:endParaRPr lang="en-US" sz="1100" dirty="0"/>
          </a:p>
        </p:txBody>
      </p:sp>
      <p:sp>
        <p:nvSpPr>
          <p:cNvPr id="29" name="Shape 25"/>
          <p:cNvSpPr/>
          <p:nvPr/>
        </p:nvSpPr>
        <p:spPr>
          <a:xfrm>
            <a:off x="7863840" y="2697480"/>
            <a:ext cx="0" cy="685800"/>
          </a:xfrm>
          <a:prstGeom prst="line">
            <a:avLst/>
          </a:prstGeom>
          <a:noFill/>
          <a:ln w="15875">
            <a:solidFill>
              <a:srgbClr val="14213D"/>
            </a:solidFill>
            <a:prstDash val="solid"/>
            <a:tailEnd type="triangle"/>
          </a:ln>
        </p:spPr>
      </p:sp>
      <p:sp>
        <p:nvSpPr>
          <p:cNvPr id="30" name="Text 26"/>
          <p:cNvSpPr txBox="1"/>
          <p:nvPr/>
        </p:nvSpPr>
        <p:spPr>
          <a:xfrm>
            <a:off x="7918704" y="2852928"/>
            <a:ext cx="548640" cy="228600"/>
          </a:xfrm>
          <a:prstGeom prst="rect">
            <a:avLst/>
          </a:prstGeom>
          <a:noFill/>
          <a:ln/>
        </p:spPr>
        <p:txBody>
          <a:bodyPr wrap="square" lIns="0" tIns="0" rIns="0" bIns="0" rtlCol="0" anchor="ctr"/>
          <a:lstStyle/>
          <a:p>
            <a:pPr indent="0" marL="0">
              <a:buNone/>
            </a:pPr>
            <a:r>
              <a:rPr lang="en-US" sz="1100" b="1" dirty="0">
                <a:solidFill>
                  <a:srgbClr val="2F6FB3"/>
                </a:solidFill>
                <a:latin typeface="Calibri" pitchFamily="34" charset="0"/>
                <a:ea typeface="Calibri" pitchFamily="34" charset="-122"/>
                <a:cs typeface="Calibri" pitchFamily="34" charset="-120"/>
              </a:rPr>
              <a:t>2</a:t>
            </a:r>
            <a:endParaRPr lang="en-US" sz="1100" dirty="0"/>
          </a:p>
        </p:txBody>
      </p:sp>
      <p:sp>
        <p:nvSpPr>
          <p:cNvPr id="31" name="Shape 27"/>
          <p:cNvSpPr/>
          <p:nvPr/>
        </p:nvSpPr>
        <p:spPr>
          <a:xfrm>
            <a:off x="8961120" y="2697480"/>
            <a:ext cx="0" cy="685800"/>
          </a:xfrm>
          <a:prstGeom prst="line">
            <a:avLst/>
          </a:prstGeom>
          <a:noFill/>
          <a:ln w="15875">
            <a:solidFill>
              <a:srgbClr val="14213D"/>
            </a:solidFill>
            <a:prstDash val="solid"/>
            <a:tailEnd type="triangle"/>
          </a:ln>
        </p:spPr>
      </p:sp>
      <p:sp>
        <p:nvSpPr>
          <p:cNvPr id="32" name="Text 28"/>
          <p:cNvSpPr txBox="1"/>
          <p:nvPr/>
        </p:nvSpPr>
        <p:spPr>
          <a:xfrm>
            <a:off x="9015984" y="2852928"/>
            <a:ext cx="548640" cy="228600"/>
          </a:xfrm>
          <a:prstGeom prst="rect">
            <a:avLst/>
          </a:prstGeom>
          <a:noFill/>
          <a:ln/>
        </p:spPr>
        <p:txBody>
          <a:bodyPr wrap="square" lIns="0" tIns="0" rIns="0" bIns="0" rtlCol="0" anchor="ctr"/>
          <a:lstStyle/>
          <a:p>
            <a:pPr indent="0" marL="0">
              <a:buNone/>
            </a:pPr>
            <a:r>
              <a:rPr lang="en-US" sz="1100" b="1" dirty="0">
                <a:solidFill>
                  <a:srgbClr val="2F6FB3"/>
                </a:solidFill>
                <a:latin typeface="Calibri" pitchFamily="34" charset="0"/>
                <a:ea typeface="Calibri" pitchFamily="34" charset="-122"/>
                <a:cs typeface="Calibri" pitchFamily="34" charset="-120"/>
              </a:rPr>
              <a:t>3 – 6</a:t>
            </a:r>
            <a:endParaRPr lang="en-US" sz="1100" dirty="0"/>
          </a:p>
        </p:txBody>
      </p:sp>
      <p:sp>
        <p:nvSpPr>
          <p:cNvPr id="33" name="Shape 29"/>
          <p:cNvSpPr/>
          <p:nvPr/>
        </p:nvSpPr>
        <p:spPr>
          <a:xfrm>
            <a:off x="10058400" y="2697480"/>
            <a:ext cx="0" cy="685800"/>
          </a:xfrm>
          <a:prstGeom prst="line">
            <a:avLst/>
          </a:prstGeom>
          <a:noFill/>
          <a:ln w="15875">
            <a:solidFill>
              <a:srgbClr val="14213D"/>
            </a:solidFill>
            <a:prstDash val="solid"/>
            <a:tailEnd type="triangle"/>
          </a:ln>
        </p:spPr>
      </p:sp>
      <p:sp>
        <p:nvSpPr>
          <p:cNvPr id="34" name="Text 30"/>
          <p:cNvSpPr txBox="1"/>
          <p:nvPr/>
        </p:nvSpPr>
        <p:spPr>
          <a:xfrm>
            <a:off x="10113264" y="2852928"/>
            <a:ext cx="548640" cy="228600"/>
          </a:xfrm>
          <a:prstGeom prst="rect">
            <a:avLst/>
          </a:prstGeom>
          <a:noFill/>
          <a:ln/>
        </p:spPr>
        <p:txBody>
          <a:bodyPr wrap="square" lIns="0" tIns="0" rIns="0" bIns="0" rtlCol="0" anchor="ctr"/>
          <a:lstStyle/>
          <a:p>
            <a:pPr indent="0" marL="0">
              <a:buNone/>
            </a:pPr>
            <a:r>
              <a:rPr lang="en-US" sz="1100" b="1" dirty="0">
                <a:solidFill>
                  <a:srgbClr val="2F6FB3"/>
                </a:solidFill>
                <a:latin typeface="Calibri" pitchFamily="34" charset="0"/>
                <a:ea typeface="Calibri" pitchFamily="34" charset="-122"/>
                <a:cs typeface="Calibri" pitchFamily="34" charset="-120"/>
              </a:rPr>
              <a:t>7</a:t>
            </a:r>
            <a:endParaRPr lang="en-US" sz="1100" dirty="0"/>
          </a:p>
        </p:txBody>
      </p:sp>
      <p:sp>
        <p:nvSpPr>
          <p:cNvPr id="35" name="Shape 31"/>
          <p:cNvSpPr/>
          <p:nvPr/>
        </p:nvSpPr>
        <p:spPr>
          <a:xfrm>
            <a:off x="11155680" y="2697480"/>
            <a:ext cx="0" cy="685800"/>
          </a:xfrm>
          <a:prstGeom prst="line">
            <a:avLst/>
          </a:prstGeom>
          <a:noFill/>
          <a:ln w="15875">
            <a:solidFill>
              <a:srgbClr val="14213D"/>
            </a:solidFill>
            <a:prstDash val="solid"/>
            <a:tailEnd type="triangle"/>
          </a:ln>
        </p:spPr>
      </p:sp>
      <p:sp>
        <p:nvSpPr>
          <p:cNvPr id="36" name="Text 32"/>
          <p:cNvSpPr txBox="1"/>
          <p:nvPr/>
        </p:nvSpPr>
        <p:spPr>
          <a:xfrm>
            <a:off x="11210544" y="2852928"/>
            <a:ext cx="548640" cy="228600"/>
          </a:xfrm>
          <a:prstGeom prst="rect">
            <a:avLst/>
          </a:prstGeom>
          <a:noFill/>
          <a:ln/>
        </p:spPr>
        <p:txBody>
          <a:bodyPr wrap="square" lIns="0" tIns="0" rIns="0" bIns="0" rtlCol="0" anchor="ctr"/>
          <a:lstStyle/>
          <a:p>
            <a:pPr indent="0" marL="0">
              <a:buNone/>
            </a:pPr>
            <a:r>
              <a:rPr lang="en-US" sz="1100" b="1" dirty="0">
                <a:solidFill>
                  <a:srgbClr val="2F6FB3"/>
                </a:solidFill>
                <a:latin typeface="Calibri" pitchFamily="34" charset="0"/>
                <a:ea typeface="Calibri" pitchFamily="34" charset="-122"/>
                <a:cs typeface="Calibri" pitchFamily="34" charset="-120"/>
              </a:rPr>
              <a:t>default</a:t>
            </a:r>
            <a:endParaRPr lang="en-US" sz="1100" dirty="0"/>
          </a:p>
        </p:txBody>
      </p:sp>
      <p:sp>
        <p:nvSpPr>
          <p:cNvPr id="37" name="Shape 33"/>
          <p:cNvSpPr/>
          <p:nvPr/>
        </p:nvSpPr>
        <p:spPr>
          <a:xfrm>
            <a:off x="6766560" y="3840480"/>
            <a:ext cx="0" cy="365760"/>
          </a:xfrm>
          <a:prstGeom prst="line">
            <a:avLst/>
          </a:prstGeom>
          <a:noFill/>
          <a:ln w="15875">
            <a:solidFill>
              <a:srgbClr val="14213D"/>
            </a:solidFill>
            <a:prstDash val="solid"/>
          </a:ln>
        </p:spPr>
      </p:sp>
      <p:sp>
        <p:nvSpPr>
          <p:cNvPr id="38" name="Shape 34"/>
          <p:cNvSpPr/>
          <p:nvPr/>
        </p:nvSpPr>
        <p:spPr>
          <a:xfrm>
            <a:off x="7863840" y="3840480"/>
            <a:ext cx="0" cy="365760"/>
          </a:xfrm>
          <a:prstGeom prst="line">
            <a:avLst/>
          </a:prstGeom>
          <a:noFill/>
          <a:ln w="15875">
            <a:solidFill>
              <a:srgbClr val="14213D"/>
            </a:solidFill>
            <a:prstDash val="solid"/>
          </a:ln>
        </p:spPr>
      </p:sp>
      <p:sp>
        <p:nvSpPr>
          <p:cNvPr id="39" name="Shape 35"/>
          <p:cNvSpPr/>
          <p:nvPr/>
        </p:nvSpPr>
        <p:spPr>
          <a:xfrm>
            <a:off x="8961120" y="3840480"/>
            <a:ext cx="0" cy="365760"/>
          </a:xfrm>
          <a:prstGeom prst="line">
            <a:avLst/>
          </a:prstGeom>
          <a:noFill/>
          <a:ln w="15875">
            <a:solidFill>
              <a:srgbClr val="14213D"/>
            </a:solidFill>
            <a:prstDash val="solid"/>
          </a:ln>
        </p:spPr>
      </p:sp>
      <p:sp>
        <p:nvSpPr>
          <p:cNvPr id="40" name="Shape 36"/>
          <p:cNvSpPr/>
          <p:nvPr/>
        </p:nvSpPr>
        <p:spPr>
          <a:xfrm>
            <a:off x="10058400" y="3840480"/>
            <a:ext cx="0" cy="365760"/>
          </a:xfrm>
          <a:prstGeom prst="line">
            <a:avLst/>
          </a:prstGeom>
          <a:noFill/>
          <a:ln w="15875">
            <a:solidFill>
              <a:srgbClr val="14213D"/>
            </a:solidFill>
            <a:prstDash val="solid"/>
          </a:ln>
        </p:spPr>
      </p:sp>
      <p:sp>
        <p:nvSpPr>
          <p:cNvPr id="41" name="Shape 37"/>
          <p:cNvSpPr/>
          <p:nvPr/>
        </p:nvSpPr>
        <p:spPr>
          <a:xfrm>
            <a:off x="11155680" y="3840480"/>
            <a:ext cx="0" cy="365760"/>
          </a:xfrm>
          <a:prstGeom prst="line">
            <a:avLst/>
          </a:prstGeom>
          <a:noFill/>
          <a:ln w="15875">
            <a:solidFill>
              <a:srgbClr val="14213D"/>
            </a:solidFill>
            <a:prstDash val="solid"/>
          </a:ln>
        </p:spPr>
      </p:sp>
      <p:sp>
        <p:nvSpPr>
          <p:cNvPr id="42" name="Shape 38"/>
          <p:cNvSpPr/>
          <p:nvPr/>
        </p:nvSpPr>
        <p:spPr>
          <a:xfrm>
            <a:off x="6766560" y="4206240"/>
            <a:ext cx="4389120" cy="0"/>
          </a:xfrm>
          <a:prstGeom prst="line">
            <a:avLst/>
          </a:prstGeom>
          <a:noFill/>
          <a:ln w="15875">
            <a:solidFill>
              <a:srgbClr val="14213D"/>
            </a:solidFill>
            <a:prstDash val="solid"/>
          </a:ln>
        </p:spPr>
      </p:sp>
      <p:sp>
        <p:nvSpPr>
          <p:cNvPr id="43" name="Shape 39"/>
          <p:cNvSpPr/>
          <p:nvPr/>
        </p:nvSpPr>
        <p:spPr>
          <a:xfrm>
            <a:off x="7955280" y="4590288"/>
            <a:ext cx="2011680" cy="420624"/>
          </a:xfrm>
          <a:prstGeom prst="flowChartInputOutput">
            <a:avLst/>
          </a:prstGeom>
          <a:solidFill>
            <a:srgbClr val="FFFFFF"/>
          </a:solidFill>
          <a:ln w="15875">
            <a:solidFill>
              <a:srgbClr val="14213D"/>
            </a:solidFill>
            <a:prstDash val="solid"/>
          </a:ln>
        </p:spPr>
      </p:sp>
      <p:sp>
        <p:nvSpPr>
          <p:cNvPr id="44" name="Text 40"/>
          <p:cNvSpPr txBox="1"/>
          <p:nvPr/>
        </p:nvSpPr>
        <p:spPr>
          <a:xfrm>
            <a:off x="8001000" y="4590288"/>
            <a:ext cx="1920240" cy="42062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 name</a:t>
            </a:r>
            <a:endParaRPr lang="en-US" sz="1300" dirty="0"/>
          </a:p>
        </p:txBody>
      </p:sp>
      <p:sp>
        <p:nvSpPr>
          <p:cNvPr id="45" name="Shape 41"/>
          <p:cNvSpPr/>
          <p:nvPr/>
        </p:nvSpPr>
        <p:spPr>
          <a:xfrm>
            <a:off x="8961120" y="4206240"/>
            <a:ext cx="0" cy="384048"/>
          </a:xfrm>
          <a:prstGeom prst="line">
            <a:avLst/>
          </a:prstGeom>
          <a:noFill/>
          <a:ln w="15875">
            <a:solidFill>
              <a:srgbClr val="14213D"/>
            </a:solidFill>
            <a:prstDash val="solid"/>
            <a:tailEnd type="triangle"/>
          </a:ln>
        </p:spPr>
      </p:sp>
      <p:sp>
        <p:nvSpPr>
          <p:cNvPr id="46" name="Text 42"/>
          <p:cNvSpPr txBox="1"/>
          <p:nvPr/>
        </p:nvSpPr>
        <p:spPr>
          <a:xfrm>
            <a:off x="6309360" y="5303520"/>
            <a:ext cx="5349240" cy="822960"/>
          </a:xfrm>
          <a:prstGeom prst="rect">
            <a:avLst/>
          </a:prstGeom>
          <a:noFill/>
          <a:ln/>
        </p:spPr>
        <p:txBody>
          <a:bodyPr wrap="square" lIns="0" tIns="0" rIns="0" bIns="0" rtlCol="0" anchor="t"/>
          <a:lstStyle/>
          <a:p>
            <a:pPr indent="0" marL="0">
              <a:buNone/>
            </a:pPr>
            <a:r>
              <a:rPr lang="en-US" sz="1400" i="1" dirty="0">
                <a:solidFill>
                  <a:srgbClr val="5B6478"/>
                </a:solidFill>
                <a:latin typeface="Calibri" pitchFamily="34" charset="0"/>
                <a:ea typeface="Calibri" pitchFamily="34" charset="-122"/>
                <a:cs typeface="Calibri" pitchFamily="34" charset="-120"/>
              </a:rPr>
              <a:t>Each exit is labelled with its case value; default catches everything else.</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8 · 05_08_DAYNAME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Day Number → Day Name with switch</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23</a:t>
            </a:r>
            <a:endParaRPr lang="en-US" sz="1000" dirty="0"/>
          </a:p>
        </p:txBody>
      </p:sp>
      <p:sp>
        <p:nvSpPr>
          <p:cNvPr id="7" name="Shape 4"/>
          <p:cNvSpPr/>
          <p:nvPr/>
        </p:nvSpPr>
        <p:spPr>
          <a:xfrm>
            <a:off x="548640" y="1600200"/>
            <a:ext cx="6583680" cy="4526280"/>
          </a:xfrm>
          <a:prstGeom prst="roundRect">
            <a:avLst>
              <a:gd name="adj" fmla="val 2020"/>
            </a:avLst>
          </a:prstGeom>
          <a:solidFill>
            <a:srgbClr val="0F1729"/>
          </a:solidFill>
          <a:ln w="12700">
            <a:solidFill>
              <a:srgbClr val="0F1729"/>
            </a:solidFill>
            <a:prstDash val="solid"/>
          </a:ln>
        </p:spPr>
      </p:sp>
      <p:sp>
        <p:nvSpPr>
          <p:cNvPr id="8" name="Text 5"/>
          <p:cNvSpPr txBox="1"/>
          <p:nvPr/>
        </p:nvSpPr>
        <p:spPr>
          <a:xfrm>
            <a:off x="777240" y="1709928"/>
            <a:ext cx="61264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(excerpt)</a:t>
            </a:r>
            <a:endParaRPr lang="en-US" sz="1100" dirty="0"/>
          </a:p>
        </p:txBody>
      </p:sp>
      <p:sp>
        <p:nvSpPr>
          <p:cNvPr id="9" name="Text 6"/>
          <p:cNvSpPr txBox="1"/>
          <p:nvPr/>
        </p:nvSpPr>
        <p:spPr>
          <a:xfrm>
            <a:off x="777240" y="2011680"/>
            <a:ext cx="6126480" cy="4023360"/>
          </a:xfrm>
          <a:prstGeom prst="rect">
            <a:avLst/>
          </a:prstGeom>
          <a:noFill/>
          <a:ln/>
        </p:spPr>
        <p:txBody>
          <a:bodyPr wrap="square" lIns="0" tIns="0" rIns="0" bIns="0" rtlCol="0" anchor="t"/>
          <a:lstStyle/>
          <a:p>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string</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name;</a:t>
            </a:r>
            <a:endParaRPr lang="en-US" sz="1200" dirty="0"/>
          </a:p>
          <a:p>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switch</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(day)</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case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1</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name = </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"Monday"</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break</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case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2</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name = </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"Tuesday"</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break</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F8BA3"/>
                </a:solidFill>
                <a:latin typeface="Courier New" pitchFamily="34" charset="0"/>
                <a:ea typeface="Courier New" pitchFamily="34" charset="-122"/>
                <a:cs typeface="Courier New" pitchFamily="34" charset="-120"/>
              </a:rPr>
              <a:t>// ... cases 3 to 6 in the same way ...</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case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7</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name = </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"Sunday"</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break</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default</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"Error: the day must be 1-7."</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return</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F8BA3"/>
                </a:solidFill>
                <a:latin typeface="Courier New" pitchFamily="34" charset="0"/>
                <a:ea typeface="Courier New" pitchFamily="34" charset="-122"/>
                <a:cs typeface="Courier New" pitchFamily="34" charset="-120"/>
              </a:rPr>
              <a:t>// return also ends a case</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7360920" y="1600200"/>
            <a:ext cx="4297680" cy="2103120"/>
          </a:xfrm>
          <a:prstGeom prst="roundRect">
            <a:avLst>
              <a:gd name="adj" fmla="val 4348"/>
            </a:avLst>
          </a:prstGeom>
          <a:solidFill>
            <a:srgbClr val="0B0F19"/>
          </a:solidFill>
          <a:ln w="12700">
            <a:solidFill>
              <a:srgbClr val="2A3654"/>
            </a:solidFill>
            <a:prstDash val="solid"/>
          </a:ln>
        </p:spPr>
      </p:sp>
      <p:sp>
        <p:nvSpPr>
          <p:cNvPr id="11" name="Shape 8"/>
          <p:cNvSpPr/>
          <p:nvPr/>
        </p:nvSpPr>
        <p:spPr>
          <a:xfrm>
            <a:off x="7543800" y="1728216"/>
            <a:ext cx="118872" cy="118872"/>
          </a:xfrm>
          <a:prstGeom prst="ellipse">
            <a:avLst/>
          </a:prstGeom>
          <a:solidFill>
            <a:srgbClr val="FF5F57"/>
          </a:solidFill>
          <a:ln w="12700">
            <a:solidFill>
              <a:srgbClr val="FF5F57"/>
            </a:solidFill>
            <a:prstDash val="solid"/>
          </a:ln>
        </p:spPr>
      </p:sp>
      <p:sp>
        <p:nvSpPr>
          <p:cNvPr id="12" name="Shape 9"/>
          <p:cNvSpPr/>
          <p:nvPr/>
        </p:nvSpPr>
        <p:spPr>
          <a:xfrm>
            <a:off x="7772400" y="1728216"/>
            <a:ext cx="118872" cy="118872"/>
          </a:xfrm>
          <a:prstGeom prst="ellipse">
            <a:avLst/>
          </a:prstGeom>
          <a:solidFill>
            <a:srgbClr val="FEBC2E"/>
          </a:solidFill>
          <a:ln w="12700">
            <a:solidFill>
              <a:srgbClr val="FEBC2E"/>
            </a:solidFill>
            <a:prstDash val="solid"/>
          </a:ln>
        </p:spPr>
      </p:sp>
      <p:sp>
        <p:nvSpPr>
          <p:cNvPr id="13" name="Shape 10"/>
          <p:cNvSpPr/>
          <p:nvPr/>
        </p:nvSpPr>
        <p:spPr>
          <a:xfrm>
            <a:off x="8001000" y="172821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8275320" y="1673352"/>
            <a:ext cx="32004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589520" y="1984248"/>
            <a:ext cx="3840480" cy="160020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Day number (1-7, Monday = 1):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3</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Day 3 is Wednesday (weekday).</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Day number (1-7, Monday = 1):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6</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Day 6 is Saturday (weekend).</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Day number (1-7, Monday = 1):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9</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Error: the day must be 1-7.</a:t>
            </a:r>
            <a:endParaRPr lang="en-US" sz="1200" dirty="0"/>
          </a:p>
        </p:txBody>
      </p:sp>
      <p:sp>
        <p:nvSpPr>
          <p:cNvPr id="16" name="Shape 13"/>
          <p:cNvSpPr/>
          <p:nvPr/>
        </p:nvSpPr>
        <p:spPr>
          <a:xfrm>
            <a:off x="7360920" y="3840480"/>
            <a:ext cx="4297680" cy="2286000"/>
          </a:xfrm>
          <a:prstGeom prst="roundRect">
            <a:avLst>
              <a:gd name="adj" fmla="val 4000"/>
            </a:avLst>
          </a:prstGeom>
          <a:solidFill>
            <a:srgbClr val="0F1729"/>
          </a:solidFill>
          <a:ln w="12700">
            <a:solidFill>
              <a:srgbClr val="0F1729"/>
            </a:solidFill>
            <a:prstDash val="solid"/>
          </a:ln>
        </p:spPr>
      </p:sp>
      <p:sp>
        <p:nvSpPr>
          <p:cNvPr id="17" name="Text 14"/>
          <p:cNvSpPr txBox="1"/>
          <p:nvPr/>
        </p:nvSpPr>
        <p:spPr>
          <a:xfrm>
            <a:off x="7589520" y="3950208"/>
            <a:ext cx="38404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Stacked labels: 6 and 7</a:t>
            </a:r>
            <a:endParaRPr lang="en-US" sz="1100" dirty="0"/>
          </a:p>
        </p:txBody>
      </p:sp>
      <p:sp>
        <p:nvSpPr>
          <p:cNvPr id="18" name="Text 15"/>
          <p:cNvSpPr txBox="1"/>
          <p:nvPr/>
        </p:nvSpPr>
        <p:spPr>
          <a:xfrm>
            <a:off x="7589520" y="4251960"/>
            <a:ext cx="3840480" cy="1783080"/>
          </a:xfrm>
          <a:prstGeom prst="rect">
            <a:avLst/>
          </a:prstGeom>
          <a:noFill/>
          <a:ln/>
        </p:spPr>
        <p:txBody>
          <a:bodyPr wrap="square" lIns="0" tIns="0" rIns="0" bIns="0" rtlCol="0" anchor="t"/>
          <a:lstStyle/>
          <a:p>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switch</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(day)</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case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6</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case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7</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kind = </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"weekend"</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break</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default</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kind = </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"weekday"</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break</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PART 3 · C# RULES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No Fall-Through in C#: Every Section Must End</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24</a:t>
            </a:r>
            <a:endParaRPr lang="en-US" sz="1000" dirty="0"/>
          </a:p>
        </p:txBody>
      </p:sp>
      <p:sp>
        <p:nvSpPr>
          <p:cNvPr id="7" name="Shape 4"/>
          <p:cNvSpPr/>
          <p:nvPr/>
        </p:nvSpPr>
        <p:spPr>
          <a:xfrm>
            <a:off x="548640" y="1600200"/>
            <a:ext cx="5440680" cy="2514600"/>
          </a:xfrm>
          <a:prstGeom prst="roundRect">
            <a:avLst>
              <a:gd name="adj" fmla="val 3636"/>
            </a:avLst>
          </a:prstGeom>
          <a:solidFill>
            <a:srgbClr val="0F1729"/>
          </a:solidFill>
          <a:ln w="12700">
            <a:solidFill>
              <a:srgbClr val="0F1729"/>
            </a:solidFill>
            <a:prstDash val="solid"/>
          </a:ln>
        </p:spPr>
      </p:sp>
      <p:sp>
        <p:nvSpPr>
          <p:cNvPr id="8" name="Text 5"/>
          <p:cNvSpPr txBox="1"/>
          <p:nvPr/>
        </p:nvSpPr>
        <p:spPr>
          <a:xfrm>
            <a:off x="777240" y="1709928"/>
            <a:ext cx="49834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Forgot break (C / Java habit)</a:t>
            </a:r>
            <a:endParaRPr lang="en-US" sz="1100" dirty="0"/>
          </a:p>
        </p:txBody>
      </p:sp>
      <p:sp>
        <p:nvSpPr>
          <p:cNvPr id="9" name="Text 6"/>
          <p:cNvSpPr txBox="1"/>
          <p:nvPr/>
        </p:nvSpPr>
        <p:spPr>
          <a:xfrm>
            <a:off x="777240" y="2011680"/>
            <a:ext cx="4983480" cy="2011680"/>
          </a:xfrm>
          <a:prstGeom prst="rect">
            <a:avLst/>
          </a:prstGeom>
          <a:noFill/>
          <a:ln/>
        </p:spPr>
        <p:txBody>
          <a:bodyPr wrap="square" lIns="0" tIns="0" rIns="0" bIns="0" rtlCol="0" anchor="t"/>
          <a:lstStyle/>
          <a:p>
            <a:pPr indent="0" marL="0">
              <a:lnSpc>
                <a:spcPts val="1400"/>
              </a:lnSpc>
              <a:buNone/>
            </a:pPr>
            <a:r>
              <a:rPr lang="en-US" sz="1300" dirty="0">
                <a:solidFill>
                  <a:srgbClr val="7AB8FF"/>
                </a:solidFill>
                <a:latin typeface="Courier New" pitchFamily="34" charset="0"/>
                <a:ea typeface="Courier New" pitchFamily="34" charset="-122"/>
                <a:cs typeface="Courier New" pitchFamily="34" charset="-120"/>
              </a:rPr>
              <a:t>switch</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(day)</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300" dirty="0">
                <a:solidFill>
                  <a:srgbClr val="7AB8FF"/>
                </a:solidFill>
                <a:latin typeface="Courier New" pitchFamily="34" charset="0"/>
                <a:ea typeface="Courier New" pitchFamily="34" charset="-122"/>
                <a:cs typeface="Courier New" pitchFamily="34" charset="-120"/>
              </a:rPr>
              <a:t>case</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300" dirty="0">
                <a:solidFill>
                  <a:srgbClr val="B5CEA8"/>
                </a:solidFill>
                <a:latin typeface="Courier New" pitchFamily="34" charset="0"/>
                <a:ea typeface="Courier New" pitchFamily="34" charset="-122"/>
                <a:cs typeface="Courier New" pitchFamily="34" charset="-120"/>
              </a:rPr>
              <a:t>6</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300" dirty="0">
                <a:solidFill>
                  <a:srgbClr val="4EC9B0"/>
                </a:solidFill>
                <a:latin typeface="Courier New" pitchFamily="34" charset="0"/>
                <a:ea typeface="Courier New" pitchFamily="34" charset="-122"/>
                <a:cs typeface="Courier New" pitchFamily="34" charset="-120"/>
              </a:rPr>
              <a:t>Console</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.WriteLine(</a:t>
            </a:r>
            <a:pPr indent="0" marL="0">
              <a:lnSpc>
                <a:spcPts val="1400"/>
              </a:lnSpc>
              <a:buNone/>
            </a:pPr>
            <a:r>
              <a:rPr lang="en-US" sz="1300" dirty="0">
                <a:solidFill>
                  <a:srgbClr val="CE9178"/>
                </a:solidFill>
                <a:latin typeface="Courier New" pitchFamily="34" charset="0"/>
                <a:ea typeface="Courier New" pitchFamily="34" charset="-122"/>
                <a:cs typeface="Courier New" pitchFamily="34" charset="-120"/>
              </a:rPr>
              <a:t>"Saturday"</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300" dirty="0">
                <a:solidFill>
                  <a:srgbClr val="7AB8FF"/>
                </a:solidFill>
                <a:latin typeface="Courier New" pitchFamily="34" charset="0"/>
                <a:ea typeface="Courier New" pitchFamily="34" charset="-122"/>
                <a:cs typeface="Courier New" pitchFamily="34" charset="-120"/>
              </a:rPr>
              <a:t>case</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300" dirty="0">
                <a:solidFill>
                  <a:srgbClr val="B5CEA8"/>
                </a:solidFill>
                <a:latin typeface="Courier New" pitchFamily="34" charset="0"/>
                <a:ea typeface="Courier New" pitchFamily="34" charset="-122"/>
                <a:cs typeface="Courier New" pitchFamily="34" charset="-120"/>
              </a:rPr>
              <a:t>7</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300" dirty="0">
                <a:solidFill>
                  <a:srgbClr val="4EC9B0"/>
                </a:solidFill>
                <a:latin typeface="Courier New" pitchFamily="34" charset="0"/>
                <a:ea typeface="Courier New" pitchFamily="34" charset="-122"/>
                <a:cs typeface="Courier New" pitchFamily="34" charset="-120"/>
              </a:rPr>
              <a:t>Console</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.WriteLine(</a:t>
            </a:r>
            <a:pPr indent="0" marL="0">
              <a:lnSpc>
                <a:spcPts val="1400"/>
              </a:lnSpc>
              <a:buNone/>
            </a:pPr>
            <a:r>
              <a:rPr lang="en-US" sz="1300" dirty="0">
                <a:solidFill>
                  <a:srgbClr val="CE9178"/>
                </a:solidFill>
                <a:latin typeface="Courier New" pitchFamily="34" charset="0"/>
                <a:ea typeface="Courier New" pitchFamily="34" charset="-122"/>
                <a:cs typeface="Courier New" pitchFamily="34" charset="-120"/>
              </a:rPr>
              <a:t>"Sunday"</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300" dirty="0">
                <a:solidFill>
                  <a:srgbClr val="7AB8FF"/>
                </a:solidFill>
                <a:latin typeface="Courier New" pitchFamily="34" charset="0"/>
                <a:ea typeface="Courier New" pitchFamily="34" charset="-122"/>
                <a:cs typeface="Courier New" pitchFamily="34" charset="-120"/>
              </a:rPr>
              <a:t>break</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0" name="Shape 7"/>
          <p:cNvSpPr/>
          <p:nvPr/>
        </p:nvSpPr>
        <p:spPr>
          <a:xfrm>
            <a:off x="548640" y="4224528"/>
            <a:ext cx="5440680" cy="1051560"/>
          </a:xfrm>
          <a:prstGeom prst="roundRect">
            <a:avLst>
              <a:gd name="adj" fmla="val 8696"/>
            </a:avLst>
          </a:prstGeom>
          <a:solidFill>
            <a:srgbClr val="0B0F19"/>
          </a:solidFill>
          <a:ln w="12700">
            <a:solidFill>
              <a:srgbClr val="2A3654"/>
            </a:solidFill>
            <a:prstDash val="solid"/>
          </a:ln>
        </p:spPr>
      </p:sp>
      <p:sp>
        <p:nvSpPr>
          <p:cNvPr id="11" name="Shape 8"/>
          <p:cNvSpPr/>
          <p:nvPr/>
        </p:nvSpPr>
        <p:spPr>
          <a:xfrm>
            <a:off x="731520" y="4352544"/>
            <a:ext cx="118872" cy="118872"/>
          </a:xfrm>
          <a:prstGeom prst="ellipse">
            <a:avLst/>
          </a:prstGeom>
          <a:solidFill>
            <a:srgbClr val="FF5F57"/>
          </a:solidFill>
          <a:ln w="12700">
            <a:solidFill>
              <a:srgbClr val="FF5F57"/>
            </a:solidFill>
            <a:prstDash val="solid"/>
          </a:ln>
        </p:spPr>
      </p:sp>
      <p:sp>
        <p:nvSpPr>
          <p:cNvPr id="12" name="Shape 9"/>
          <p:cNvSpPr/>
          <p:nvPr/>
        </p:nvSpPr>
        <p:spPr>
          <a:xfrm>
            <a:off x="960120" y="4352544"/>
            <a:ext cx="118872" cy="118872"/>
          </a:xfrm>
          <a:prstGeom prst="ellipse">
            <a:avLst/>
          </a:prstGeom>
          <a:solidFill>
            <a:srgbClr val="FEBC2E"/>
          </a:solidFill>
          <a:ln w="12700">
            <a:solidFill>
              <a:srgbClr val="FEBC2E"/>
            </a:solidFill>
            <a:prstDash val="solid"/>
          </a:ln>
        </p:spPr>
      </p:sp>
      <p:sp>
        <p:nvSpPr>
          <p:cNvPr id="13" name="Shape 10"/>
          <p:cNvSpPr/>
          <p:nvPr/>
        </p:nvSpPr>
        <p:spPr>
          <a:xfrm>
            <a:off x="1188720" y="4352544"/>
            <a:ext cx="118872" cy="118872"/>
          </a:xfrm>
          <a:prstGeom prst="ellipse">
            <a:avLst/>
          </a:prstGeom>
          <a:solidFill>
            <a:srgbClr val="28C840"/>
          </a:solidFill>
          <a:ln w="12700">
            <a:solidFill>
              <a:srgbClr val="28C840"/>
            </a:solidFill>
            <a:prstDash val="solid"/>
          </a:ln>
        </p:spPr>
      </p:sp>
      <p:sp>
        <p:nvSpPr>
          <p:cNvPr id="14" name="Text 11"/>
          <p:cNvSpPr txBox="1"/>
          <p:nvPr/>
        </p:nvSpPr>
        <p:spPr>
          <a:xfrm>
            <a:off x="1463040" y="4297680"/>
            <a:ext cx="43434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dotnet build</a:t>
            </a:r>
            <a:endParaRPr lang="en-US" sz="1000" dirty="0"/>
          </a:p>
        </p:txBody>
      </p:sp>
      <p:sp>
        <p:nvSpPr>
          <p:cNvPr id="15" name="Text 12"/>
          <p:cNvSpPr txBox="1"/>
          <p:nvPr/>
        </p:nvSpPr>
        <p:spPr>
          <a:xfrm>
            <a:off x="777240" y="4608576"/>
            <a:ext cx="4983480" cy="54864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error CS0163: Control cannot fall through from one case label ('case 6:') to another</a:t>
            </a:r>
            <a:endParaRPr lang="en-US" sz="1200" dirty="0"/>
          </a:p>
        </p:txBody>
      </p:sp>
      <p:sp>
        <p:nvSpPr>
          <p:cNvPr id="16" name="Text 13"/>
          <p:cNvSpPr txBox="1"/>
          <p:nvPr/>
        </p:nvSpPr>
        <p:spPr>
          <a:xfrm>
            <a:off x="548640" y="5394960"/>
            <a:ext cx="5440680" cy="731520"/>
          </a:xfrm>
          <a:prstGeom prst="rect">
            <a:avLst/>
          </a:prstGeom>
          <a:noFill/>
          <a:ln/>
        </p:spPr>
        <p:txBody>
          <a:bodyPr wrap="square" lIns="0" tIns="0" rIns="0" bIns="0" rtlCol="0" anchor="t"/>
          <a:lstStyle/>
          <a:p>
            <a:pPr indent="0" marL="0">
              <a:buNone/>
            </a:pPr>
            <a:r>
              <a:rPr lang="en-US" sz="1500" b="1" dirty="0">
                <a:solidFill>
                  <a:srgbClr val="333B4F"/>
                </a:solidFill>
                <a:latin typeface="Calibri" pitchFamily="34" charset="0"/>
                <a:ea typeface="Calibri" pitchFamily="34" charset="-122"/>
                <a:cs typeface="Calibri" pitchFamily="34" charset="-120"/>
              </a:rPr>
              <a:t>Fix: </a:t>
            </a:r>
            <a:pPr indent="0" marL="0">
              <a:buNone/>
            </a:pPr>
            <a:r>
              <a:rPr lang="en-US" sz="1500" dirty="0">
                <a:solidFill>
                  <a:srgbClr val="333B4F"/>
                </a:solidFill>
                <a:latin typeface="Calibri" pitchFamily="34" charset="0"/>
                <a:ea typeface="Calibri" pitchFamily="34" charset="-122"/>
                <a:cs typeface="Calibri" pitchFamily="34" charset="-120"/>
              </a:rPr>
              <a:t>add </a:t>
            </a:r>
            <a:pPr indent="0" marL="0">
              <a:buNone/>
            </a:pPr>
            <a:r>
              <a:rPr lang="en-US" sz="1500" dirty="0">
                <a:solidFill>
                  <a:srgbClr val="333B4F"/>
                </a:solidFill>
                <a:latin typeface="Courier New" pitchFamily="34" charset="0"/>
                <a:ea typeface="Courier New" pitchFamily="34" charset="-122"/>
                <a:cs typeface="Courier New" pitchFamily="34" charset="-120"/>
              </a:rPr>
              <a:t>break;</a:t>
            </a:r>
            <a:pPr indent="0" marL="0">
              <a:buNone/>
            </a:pPr>
            <a:r>
              <a:rPr lang="en-US" sz="1500" dirty="0">
                <a:solidFill>
                  <a:srgbClr val="333B4F"/>
                </a:solidFill>
                <a:latin typeface="Calibri" pitchFamily="34" charset="0"/>
                <a:ea typeface="Calibri" pitchFamily="34" charset="-122"/>
                <a:cs typeface="Calibri" pitchFamily="34" charset="-120"/>
              </a:rPr>
              <a:t> after "Saturday" (or stack the labels).</a:t>
            </a:r>
            <a:endParaRPr lang="en-US" sz="1500" dirty="0"/>
          </a:p>
        </p:txBody>
      </p:sp>
      <p:sp>
        <p:nvSpPr>
          <p:cNvPr id="17" name="Shape 14"/>
          <p:cNvSpPr/>
          <p:nvPr/>
        </p:nvSpPr>
        <p:spPr>
          <a:xfrm>
            <a:off x="6217920" y="1600200"/>
            <a:ext cx="5440680" cy="3291840"/>
          </a:xfrm>
          <a:prstGeom prst="roundRect">
            <a:avLst>
              <a:gd name="adj" fmla="val 2778"/>
            </a:avLst>
          </a:prstGeom>
          <a:solidFill>
            <a:srgbClr val="0F1729"/>
          </a:solidFill>
          <a:ln w="12700">
            <a:solidFill>
              <a:srgbClr val="0F1729"/>
            </a:solidFill>
            <a:prstDash val="solid"/>
          </a:ln>
        </p:spPr>
      </p:sp>
      <p:sp>
        <p:nvSpPr>
          <p:cNvPr id="18" name="Text 15"/>
          <p:cNvSpPr txBox="1"/>
          <p:nvPr/>
        </p:nvSpPr>
        <p:spPr>
          <a:xfrm>
            <a:off x="6446520" y="1709928"/>
            <a:ext cx="49834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 9 patterns: or, and, relational</a:t>
            </a:r>
            <a:endParaRPr lang="en-US" sz="1100" dirty="0"/>
          </a:p>
        </p:txBody>
      </p:sp>
      <p:sp>
        <p:nvSpPr>
          <p:cNvPr id="19" name="Text 16"/>
          <p:cNvSpPr txBox="1"/>
          <p:nvPr/>
        </p:nvSpPr>
        <p:spPr>
          <a:xfrm>
            <a:off x="6446520" y="2011680"/>
            <a:ext cx="4983480" cy="2788920"/>
          </a:xfrm>
          <a:prstGeom prst="rect">
            <a:avLst/>
          </a:prstGeom>
          <a:noFill/>
          <a:ln/>
        </p:spPr>
        <p:txBody>
          <a:bodyPr wrap="square" lIns="0" tIns="0" rIns="0" bIns="0" rtlCol="0" anchor="t"/>
          <a:lstStyle/>
          <a:p>
            <a:pPr indent="0" marL="0">
              <a:lnSpc>
                <a:spcPts val="1400"/>
              </a:lnSpc>
              <a:buNone/>
            </a:pPr>
            <a:r>
              <a:rPr lang="en-US" sz="1300" dirty="0">
                <a:solidFill>
                  <a:srgbClr val="7AB8FF"/>
                </a:solidFill>
                <a:latin typeface="Courier New" pitchFamily="34" charset="0"/>
                <a:ea typeface="Courier New" pitchFamily="34" charset="-122"/>
                <a:cs typeface="Courier New" pitchFamily="34" charset="-120"/>
              </a:rPr>
              <a:t>switch</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(day)</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300" dirty="0">
                <a:solidFill>
                  <a:srgbClr val="7AB8FF"/>
                </a:solidFill>
                <a:latin typeface="Courier New" pitchFamily="34" charset="0"/>
                <a:ea typeface="Courier New" pitchFamily="34" charset="-122"/>
                <a:cs typeface="Courier New" pitchFamily="34" charset="-120"/>
              </a:rPr>
              <a:t>case</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300" dirty="0">
                <a:solidFill>
                  <a:srgbClr val="B5CEA8"/>
                </a:solidFill>
                <a:latin typeface="Courier New" pitchFamily="34" charset="0"/>
                <a:ea typeface="Courier New" pitchFamily="34" charset="-122"/>
                <a:cs typeface="Courier New" pitchFamily="34" charset="-120"/>
              </a:rPr>
              <a:t>6</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300" dirty="0">
                <a:solidFill>
                  <a:srgbClr val="7AB8FF"/>
                </a:solidFill>
                <a:latin typeface="Courier New" pitchFamily="34" charset="0"/>
                <a:ea typeface="Courier New" pitchFamily="34" charset="-122"/>
                <a:cs typeface="Courier New" pitchFamily="34" charset="-120"/>
              </a:rPr>
              <a:t>or</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300" dirty="0">
                <a:solidFill>
                  <a:srgbClr val="B5CEA8"/>
                </a:solidFill>
                <a:latin typeface="Courier New" pitchFamily="34" charset="0"/>
                <a:ea typeface="Courier New" pitchFamily="34" charset="-122"/>
                <a:cs typeface="Courier New" pitchFamily="34" charset="-120"/>
              </a:rPr>
              <a:t>7</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300" dirty="0">
                <a:solidFill>
                  <a:srgbClr val="4EC9B0"/>
                </a:solidFill>
                <a:latin typeface="Courier New" pitchFamily="34" charset="0"/>
                <a:ea typeface="Courier New" pitchFamily="34" charset="-122"/>
                <a:cs typeface="Courier New" pitchFamily="34" charset="-120"/>
              </a:rPr>
              <a:t>Console</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.WriteLine(</a:t>
            </a:r>
            <a:pPr indent="0" marL="0">
              <a:lnSpc>
                <a:spcPts val="1400"/>
              </a:lnSpc>
              <a:buNone/>
            </a:pPr>
            <a:r>
              <a:rPr lang="en-US" sz="1300" dirty="0">
                <a:solidFill>
                  <a:srgbClr val="CE9178"/>
                </a:solidFill>
                <a:latin typeface="Courier New" pitchFamily="34" charset="0"/>
                <a:ea typeface="Courier New" pitchFamily="34" charset="-122"/>
                <a:cs typeface="Courier New" pitchFamily="34" charset="-120"/>
              </a:rPr>
              <a:t>"weekend"</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300" dirty="0">
                <a:solidFill>
                  <a:srgbClr val="7AB8FF"/>
                </a:solidFill>
                <a:latin typeface="Courier New" pitchFamily="34" charset="0"/>
                <a:ea typeface="Courier New" pitchFamily="34" charset="-122"/>
                <a:cs typeface="Courier New" pitchFamily="34" charset="-120"/>
              </a:rPr>
              <a:t>break</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300" dirty="0">
                <a:solidFill>
                  <a:srgbClr val="7AB8FF"/>
                </a:solidFill>
                <a:latin typeface="Courier New" pitchFamily="34" charset="0"/>
                <a:ea typeface="Courier New" pitchFamily="34" charset="-122"/>
                <a:cs typeface="Courier New" pitchFamily="34" charset="-120"/>
              </a:rPr>
              <a:t>case</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&gt;= </a:t>
            </a:r>
            <a:pPr indent="0" marL="0">
              <a:lnSpc>
                <a:spcPts val="1400"/>
              </a:lnSpc>
              <a:buNone/>
            </a:pPr>
            <a:r>
              <a:rPr lang="en-US" sz="1300" dirty="0">
                <a:solidFill>
                  <a:srgbClr val="B5CEA8"/>
                </a:solidFill>
                <a:latin typeface="Courier New" pitchFamily="34" charset="0"/>
                <a:ea typeface="Courier New" pitchFamily="34" charset="-122"/>
                <a:cs typeface="Courier New" pitchFamily="34" charset="-120"/>
              </a:rPr>
              <a:t>1</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300" dirty="0">
                <a:solidFill>
                  <a:srgbClr val="7AB8FF"/>
                </a:solidFill>
                <a:latin typeface="Courier New" pitchFamily="34" charset="0"/>
                <a:ea typeface="Courier New" pitchFamily="34" charset="-122"/>
                <a:cs typeface="Courier New" pitchFamily="34" charset="-120"/>
              </a:rPr>
              <a:t>and</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&lt;= </a:t>
            </a:r>
            <a:pPr indent="0" marL="0">
              <a:lnSpc>
                <a:spcPts val="1400"/>
              </a:lnSpc>
              <a:buNone/>
            </a:pPr>
            <a:r>
              <a:rPr lang="en-US" sz="1300" dirty="0">
                <a:solidFill>
                  <a:srgbClr val="B5CEA8"/>
                </a:solidFill>
                <a:latin typeface="Courier New" pitchFamily="34" charset="0"/>
                <a:ea typeface="Courier New" pitchFamily="34" charset="-122"/>
                <a:cs typeface="Courier New" pitchFamily="34" charset="-120"/>
              </a:rPr>
              <a:t>5</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300" dirty="0">
                <a:solidFill>
                  <a:srgbClr val="4EC9B0"/>
                </a:solidFill>
                <a:latin typeface="Courier New" pitchFamily="34" charset="0"/>
                <a:ea typeface="Courier New" pitchFamily="34" charset="-122"/>
                <a:cs typeface="Courier New" pitchFamily="34" charset="-120"/>
              </a:rPr>
              <a:t>Console</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.WriteLine(</a:t>
            </a:r>
            <a:pPr indent="0" marL="0">
              <a:lnSpc>
                <a:spcPts val="1400"/>
              </a:lnSpc>
              <a:buNone/>
            </a:pPr>
            <a:r>
              <a:rPr lang="en-US" sz="1300" dirty="0">
                <a:solidFill>
                  <a:srgbClr val="CE9178"/>
                </a:solidFill>
                <a:latin typeface="Courier New" pitchFamily="34" charset="0"/>
                <a:ea typeface="Courier New" pitchFamily="34" charset="-122"/>
                <a:cs typeface="Courier New" pitchFamily="34" charset="-120"/>
              </a:rPr>
              <a:t>"weekday"</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300" dirty="0">
                <a:solidFill>
                  <a:srgbClr val="7AB8FF"/>
                </a:solidFill>
                <a:latin typeface="Courier New" pitchFamily="34" charset="0"/>
                <a:ea typeface="Courier New" pitchFamily="34" charset="-122"/>
                <a:cs typeface="Courier New" pitchFamily="34" charset="-120"/>
              </a:rPr>
              <a:t>break</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300" dirty="0">
                <a:solidFill>
                  <a:srgbClr val="7AB8FF"/>
                </a:solidFill>
                <a:latin typeface="Courier New" pitchFamily="34" charset="0"/>
                <a:ea typeface="Courier New" pitchFamily="34" charset="-122"/>
                <a:cs typeface="Courier New" pitchFamily="34" charset="-120"/>
              </a:rPr>
              <a:t>default</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300" dirty="0">
                <a:solidFill>
                  <a:srgbClr val="4EC9B0"/>
                </a:solidFill>
                <a:latin typeface="Courier New" pitchFamily="34" charset="0"/>
                <a:ea typeface="Courier New" pitchFamily="34" charset="-122"/>
                <a:cs typeface="Courier New" pitchFamily="34" charset="-120"/>
              </a:rPr>
              <a:t>Console</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.WriteLine(</a:t>
            </a:r>
            <a:pPr indent="0" marL="0">
              <a:lnSpc>
                <a:spcPts val="1400"/>
              </a:lnSpc>
              <a:buNone/>
            </a:pPr>
            <a:r>
              <a:rPr lang="en-US" sz="1300" dirty="0">
                <a:solidFill>
                  <a:srgbClr val="CE9178"/>
                </a:solidFill>
                <a:latin typeface="Courier New" pitchFamily="34" charset="0"/>
                <a:ea typeface="Courier New" pitchFamily="34" charset="-122"/>
                <a:cs typeface="Courier New" pitchFamily="34" charset="-120"/>
              </a:rPr>
              <a:t>"invalid"</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300" dirty="0">
                <a:solidFill>
                  <a:srgbClr val="7AB8FF"/>
                </a:solidFill>
                <a:latin typeface="Courier New" pitchFamily="34" charset="0"/>
                <a:ea typeface="Courier New" pitchFamily="34" charset="-122"/>
                <a:cs typeface="Courier New" pitchFamily="34" charset="-120"/>
              </a:rPr>
              <a:t>break</a:t>
            </a:r>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4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20" name="Shape 17"/>
          <p:cNvSpPr/>
          <p:nvPr/>
        </p:nvSpPr>
        <p:spPr>
          <a:xfrm>
            <a:off x="6217920" y="5029200"/>
            <a:ext cx="5440680" cy="1097280"/>
          </a:xfrm>
          <a:prstGeom prst="roundRect">
            <a:avLst>
              <a:gd name="adj" fmla="val 10000"/>
            </a:avLst>
          </a:prstGeom>
          <a:solidFill>
            <a:srgbClr val="E3ECF8"/>
          </a:solidFill>
          <a:ln w="12700">
            <a:solidFill>
              <a:srgbClr val="E3ECF8"/>
            </a:solidFill>
            <a:prstDash val="solid"/>
          </a:ln>
        </p:spPr>
      </p:sp>
      <p:pic>
        <p:nvPicPr>
          <p:cNvPr id="21" name="Image 0" descr="preencoded.png">    </p:cNvPr>
          <p:cNvPicPr>
            <a:picLocks noChangeAspect="1"/>
          </p:cNvPicPr>
          <p:nvPr/>
        </p:nvPicPr>
        <p:blipFill>
          <a:blip r:embed="rId1"/>
          <a:stretch>
            <a:fillRect/>
          </a:stretch>
        </p:blipFill>
        <p:spPr>
          <a:xfrm>
            <a:off x="6492240" y="5303520"/>
            <a:ext cx="548640" cy="548640"/>
          </a:xfrm>
          <a:prstGeom prst="rect">
            <a:avLst/>
          </a:prstGeom>
        </p:spPr>
      </p:pic>
      <p:sp>
        <p:nvSpPr>
          <p:cNvPr id="22" name="Text 18"/>
          <p:cNvSpPr txBox="1"/>
          <p:nvPr/>
        </p:nvSpPr>
        <p:spPr>
          <a:xfrm>
            <a:off x="7315200" y="5102352"/>
            <a:ext cx="4069080" cy="950976"/>
          </a:xfrm>
          <a:prstGeom prst="rect">
            <a:avLst/>
          </a:prstGeom>
          <a:noFill/>
          <a:ln/>
        </p:spPr>
        <p:txBody>
          <a:bodyPr wrap="square" lIns="0" tIns="0" rIns="0" bIns="0" rtlCol="0" anchor="ctr"/>
          <a:lstStyle/>
          <a:p>
            <a:pPr indent="0" marL="0">
              <a:buNone/>
            </a:pPr>
            <a:r>
              <a:rPr lang="en-US" sz="1500" dirty="0">
                <a:solidFill>
                  <a:srgbClr val="333B4F"/>
                </a:solidFill>
                <a:latin typeface="Calibri" pitchFamily="34" charset="0"/>
                <a:ea typeface="Calibri" pitchFamily="34" charset="-122"/>
                <a:cs typeface="Calibri" pitchFamily="34" charset="-120"/>
              </a:rPr>
              <a:t>A section ends with </a:t>
            </a:r>
            <a:pPr indent="0" marL="0">
              <a:buNone/>
            </a:pPr>
            <a:r>
              <a:rPr lang="en-US" sz="1500" dirty="0">
                <a:solidFill>
                  <a:srgbClr val="333B4F"/>
                </a:solidFill>
                <a:latin typeface="Courier New" pitchFamily="34" charset="0"/>
                <a:ea typeface="Courier New" pitchFamily="34" charset="-122"/>
                <a:cs typeface="Courier New" pitchFamily="34" charset="-120"/>
              </a:rPr>
              <a:t>break</a:t>
            </a:r>
            <a:pPr indent="0" marL="0">
              <a:buNone/>
            </a:pPr>
            <a:r>
              <a:rPr lang="en-US" sz="1500" dirty="0">
                <a:solidFill>
                  <a:srgbClr val="333B4F"/>
                </a:solidFill>
                <a:latin typeface="Calibri" pitchFamily="34" charset="0"/>
                <a:ea typeface="Calibri" pitchFamily="34" charset="-122"/>
                <a:cs typeface="Calibri" pitchFamily="34" charset="-120"/>
              </a:rPr>
              <a:t>, </a:t>
            </a:r>
            <a:pPr indent="0" marL="0">
              <a:buNone/>
            </a:pPr>
            <a:r>
              <a:rPr lang="en-US" sz="1500" dirty="0">
                <a:solidFill>
                  <a:srgbClr val="333B4F"/>
                </a:solidFill>
                <a:latin typeface="Courier New" pitchFamily="34" charset="0"/>
                <a:ea typeface="Courier New" pitchFamily="34" charset="-122"/>
                <a:cs typeface="Courier New" pitchFamily="34" charset="-120"/>
              </a:rPr>
              <a:t>return</a:t>
            </a:r>
            <a:pPr indent="0" marL="0">
              <a:buNone/>
            </a:pPr>
            <a:r>
              <a:rPr lang="en-US" sz="1500" dirty="0">
                <a:solidFill>
                  <a:srgbClr val="333B4F"/>
                </a:solidFill>
                <a:latin typeface="Calibri" pitchFamily="34" charset="0"/>
                <a:ea typeface="Calibri" pitchFamily="34" charset="-122"/>
                <a:cs typeface="Calibri" pitchFamily="34" charset="-120"/>
              </a:rPr>
              <a:t>, </a:t>
            </a:r>
            <a:pPr indent="0" marL="0">
              <a:buNone/>
            </a:pPr>
            <a:r>
              <a:rPr lang="en-US" sz="1500" dirty="0">
                <a:solidFill>
                  <a:srgbClr val="333B4F"/>
                </a:solidFill>
                <a:latin typeface="Courier New" pitchFamily="34" charset="0"/>
                <a:ea typeface="Courier New" pitchFamily="34" charset="-122"/>
                <a:cs typeface="Courier New" pitchFamily="34" charset="-120"/>
              </a:rPr>
              <a:t>throw</a:t>
            </a:r>
            <a:pPr indent="0" marL="0">
              <a:buNone/>
            </a:pPr>
            <a:r>
              <a:rPr lang="en-US" sz="1500" dirty="0">
                <a:solidFill>
                  <a:srgbClr val="333B4F"/>
                </a:solidFill>
                <a:latin typeface="Calibri" pitchFamily="34" charset="0"/>
                <a:ea typeface="Calibri" pitchFamily="34" charset="-122"/>
                <a:cs typeface="Calibri" pitchFamily="34" charset="-120"/>
              </a:rPr>
              <a:t> or </a:t>
            </a:r>
            <a:pPr indent="0" marL="0">
              <a:buNone/>
            </a:pPr>
            <a:r>
              <a:rPr lang="en-US" sz="1500" dirty="0">
                <a:solidFill>
                  <a:srgbClr val="333B4F"/>
                </a:solidFill>
                <a:latin typeface="Courier New" pitchFamily="34" charset="0"/>
                <a:ea typeface="Courier New" pitchFamily="34" charset="-122"/>
                <a:cs typeface="Courier New" pitchFamily="34" charset="-120"/>
              </a:rPr>
              <a:t>goto case</a:t>
            </a:r>
            <a:pPr indent="0" marL="0">
              <a:buNone/>
            </a:pPr>
            <a:r>
              <a:rPr lang="en-US" sz="1500" dirty="0">
                <a:solidFill>
                  <a:srgbClr val="333B4F"/>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7 · 05_07_CALCULATOR</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Calculator: switch on a string</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25</a:t>
            </a:r>
            <a:endParaRPr lang="en-US" sz="1000" dirty="0"/>
          </a:p>
        </p:txBody>
      </p:sp>
      <p:sp>
        <p:nvSpPr>
          <p:cNvPr id="7" name="Shape 4"/>
          <p:cNvSpPr/>
          <p:nvPr/>
        </p:nvSpPr>
        <p:spPr>
          <a:xfrm>
            <a:off x="548640" y="1600200"/>
            <a:ext cx="6949440" cy="4526280"/>
          </a:xfrm>
          <a:prstGeom prst="roundRect">
            <a:avLst>
              <a:gd name="adj" fmla="val 2020"/>
            </a:avLst>
          </a:prstGeom>
          <a:solidFill>
            <a:srgbClr val="0F1729"/>
          </a:solidFill>
          <a:ln w="12700">
            <a:solidFill>
              <a:srgbClr val="0F1729"/>
            </a:solidFill>
            <a:prstDash val="solid"/>
          </a:ln>
        </p:spPr>
      </p:sp>
      <p:sp>
        <p:nvSpPr>
          <p:cNvPr id="8" name="Text 5"/>
          <p:cNvSpPr txBox="1"/>
          <p:nvPr/>
        </p:nvSpPr>
        <p:spPr>
          <a:xfrm>
            <a:off x="777240" y="1709928"/>
            <a:ext cx="64922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(excerpt)</a:t>
            </a:r>
            <a:endParaRPr lang="en-US" sz="1100" dirty="0"/>
          </a:p>
        </p:txBody>
      </p:sp>
      <p:sp>
        <p:nvSpPr>
          <p:cNvPr id="9" name="Text 6"/>
          <p:cNvSpPr txBox="1"/>
          <p:nvPr/>
        </p:nvSpPr>
        <p:spPr>
          <a:xfrm>
            <a:off x="777240" y="2011680"/>
            <a:ext cx="6492240" cy="4023360"/>
          </a:xfrm>
          <a:prstGeom prst="rect">
            <a:avLst/>
          </a:prstGeom>
          <a:noFill/>
          <a:ln/>
        </p:spPr>
        <p:txBody>
          <a:bodyPr wrap="square" lIns="0" tIns="0" rIns="0" bIns="0" rtlCol="0" anchor="t"/>
          <a:lstStyle/>
          <a:p>
            <a:pPr indent="0" marL="0">
              <a:lnSpc>
                <a:spcPts val="1400"/>
              </a:lnSpc>
              <a:buNone/>
            </a:pPr>
            <a:r>
              <a:rPr lang="en-US" sz="1200" dirty="0">
                <a:solidFill>
                  <a:srgbClr val="7AB8FF"/>
                </a:solidFill>
                <a:latin typeface="Courier New" pitchFamily="34" charset="0"/>
                <a:ea typeface="Courier New" pitchFamily="34" charset="-122"/>
                <a:cs typeface="Courier New" pitchFamily="34" charset="-120"/>
              </a:rPr>
              <a:t>switch</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(op)</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200" dirty="0">
                <a:solidFill>
                  <a:srgbClr val="7F8BA3"/>
                </a:solidFill>
                <a:latin typeface="Courier New" pitchFamily="34" charset="0"/>
                <a:ea typeface="Courier New" pitchFamily="34" charset="-122"/>
                <a:cs typeface="Courier New" pitchFamily="34" charset="-120"/>
              </a:rPr>
              <a:t>// cases "+", "-" and "%": see the code folder</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200" dirty="0">
                <a:solidFill>
                  <a:srgbClr val="7AB8FF"/>
                </a:solidFill>
                <a:latin typeface="Courier New" pitchFamily="34" charset="0"/>
                <a:ea typeface="Courier New" pitchFamily="34" charset="-122"/>
                <a:cs typeface="Courier New" pitchFamily="34" charset="-120"/>
              </a:rPr>
              <a:t>case</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200" dirty="0">
                <a:solidFill>
                  <a:srgbClr val="CE9178"/>
                </a:solidFill>
                <a:latin typeface="Courier New" pitchFamily="34" charset="0"/>
                <a:ea typeface="Courier New" pitchFamily="34" charset="-122"/>
                <a:cs typeface="Courier New" pitchFamily="34" charset="-120"/>
              </a:rPr>
              <a:t>"*"</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200" dirty="0">
                <a:solidFill>
                  <a:srgbClr val="7AB8FF"/>
                </a:solidFill>
                <a:latin typeface="Courier New" pitchFamily="34" charset="0"/>
                <a:ea typeface="Courier New" pitchFamily="34" charset="-122"/>
                <a:cs typeface="Courier New" pitchFamily="34" charset="-120"/>
              </a:rPr>
              <a:t>case</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200" dirty="0">
                <a:solidFill>
                  <a:srgbClr val="CE9178"/>
                </a:solidFill>
                <a:latin typeface="Courier New" pitchFamily="34" charset="0"/>
                <a:ea typeface="Courier New" pitchFamily="34" charset="-122"/>
                <a:cs typeface="Courier New" pitchFamily="34" charset="-120"/>
              </a:rPr>
              <a:t>"x"</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200" dirty="0">
                <a:solidFill>
                  <a:srgbClr val="7F8BA3"/>
                </a:solidFill>
                <a:latin typeface="Courier New" pitchFamily="34" charset="0"/>
                <a:ea typeface="Courier New" pitchFamily="34" charset="-122"/>
                <a:cs typeface="Courier New" pitchFamily="34" charset="-120"/>
              </a:rPr>
              <a:t>// stacked labels: *, x and X share one block</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200" dirty="0">
                <a:solidFill>
                  <a:srgbClr val="7AB8FF"/>
                </a:solidFill>
                <a:latin typeface="Courier New" pitchFamily="34" charset="0"/>
                <a:ea typeface="Courier New" pitchFamily="34" charset="-122"/>
                <a:cs typeface="Courier New" pitchFamily="34" charset="-120"/>
              </a:rPr>
              <a:t>case</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200" dirty="0">
                <a:solidFill>
                  <a:srgbClr val="CE9178"/>
                </a:solidFill>
                <a:latin typeface="Courier New" pitchFamily="34" charset="0"/>
                <a:ea typeface="Courier New" pitchFamily="34" charset="-122"/>
                <a:cs typeface="Courier New" pitchFamily="34" charset="-120"/>
              </a:rPr>
              <a:t>"X"</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400"/>
              </a:lnSpc>
              <a:buNone/>
            </a:pPr>
            <a:r>
              <a:rPr lang="en-US" sz="1200" dirty="0">
                <a:solidFill>
                  <a:srgbClr val="CE9178"/>
                </a:solidFill>
                <a:latin typeface="Courier New" pitchFamily="34" charset="0"/>
                <a:ea typeface="Courier New" pitchFamily="34" charset="-122"/>
                <a:cs typeface="Courier New" pitchFamily="34" charset="-120"/>
              </a:rPr>
              <a:t>$"{a} * {b} = {a * b:F2}"</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200" dirty="0">
                <a:solidFill>
                  <a:srgbClr val="7AB8FF"/>
                </a:solidFill>
                <a:latin typeface="Courier New" pitchFamily="34" charset="0"/>
                <a:ea typeface="Courier New" pitchFamily="34" charset="-122"/>
                <a:cs typeface="Courier New" pitchFamily="34" charset="-120"/>
              </a:rPr>
              <a:t>break</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200" dirty="0">
                <a:solidFill>
                  <a:srgbClr val="7AB8FF"/>
                </a:solidFill>
                <a:latin typeface="Courier New" pitchFamily="34" charset="0"/>
                <a:ea typeface="Courier New" pitchFamily="34" charset="-122"/>
                <a:cs typeface="Courier New" pitchFamily="34" charset="-120"/>
              </a:rPr>
              <a:t>case</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200" dirty="0">
                <a:solidFill>
                  <a:srgbClr val="CE9178"/>
                </a:solidFill>
                <a:latin typeface="Courier New" pitchFamily="34" charset="0"/>
                <a:ea typeface="Courier New" pitchFamily="34" charset="-122"/>
                <a:cs typeface="Courier New" pitchFamily="34" charset="-120"/>
              </a:rPr>
              <a:t>"/"</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200" dirty="0">
                <a:solidFill>
                  <a:srgbClr val="7AB8FF"/>
                </a:solidFill>
                <a:latin typeface="Courier New" pitchFamily="34" charset="0"/>
                <a:ea typeface="Courier New" pitchFamily="34" charset="-122"/>
                <a:cs typeface="Courier New" pitchFamily="34" charset="-120"/>
              </a:rPr>
              <a:t>if</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(b == </a:t>
            </a:r>
            <a:pPr indent="0" marL="0">
              <a:lnSpc>
                <a:spcPts val="1400"/>
              </a:lnSpc>
              <a:buNone/>
            </a:pPr>
            <a:r>
              <a:rPr lang="en-US" sz="1200" dirty="0">
                <a:solidFill>
                  <a:srgbClr val="B5CEA8"/>
                </a:solidFill>
                <a:latin typeface="Courier New" pitchFamily="34" charset="0"/>
                <a:ea typeface="Courier New" pitchFamily="34" charset="-122"/>
                <a:cs typeface="Courier New" pitchFamily="34" charset="-120"/>
              </a:rPr>
              <a:t>0</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400"/>
              </a:lnSpc>
              <a:buNone/>
            </a:pPr>
            <a:r>
              <a:rPr lang="en-US" sz="1200" dirty="0">
                <a:solidFill>
                  <a:srgbClr val="CE9178"/>
                </a:solidFill>
                <a:latin typeface="Courier New" pitchFamily="34" charset="0"/>
                <a:ea typeface="Courier New" pitchFamily="34" charset="-122"/>
                <a:cs typeface="Courier New" pitchFamily="34" charset="-120"/>
              </a:rPr>
              <a:t>"Error: cannot divide by zero."</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200" dirty="0">
                <a:solidFill>
                  <a:srgbClr val="7AB8FF"/>
                </a:solidFill>
                <a:latin typeface="Courier New" pitchFamily="34" charset="0"/>
                <a:ea typeface="Courier New" pitchFamily="34" charset="-122"/>
                <a:cs typeface="Courier New" pitchFamily="34" charset="-120"/>
              </a:rPr>
              <a:t>else</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400"/>
              </a:lnSpc>
              <a:buNone/>
            </a:pPr>
            <a:r>
              <a:rPr lang="en-US" sz="1200" dirty="0">
                <a:solidFill>
                  <a:srgbClr val="CE9178"/>
                </a:solidFill>
                <a:latin typeface="Courier New" pitchFamily="34" charset="0"/>
                <a:ea typeface="Courier New" pitchFamily="34" charset="-122"/>
                <a:cs typeface="Courier New" pitchFamily="34" charset="-120"/>
              </a:rPr>
              <a:t>$"{a} / {b} = {a / b:F2}"</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200" dirty="0">
                <a:solidFill>
                  <a:srgbClr val="7AB8FF"/>
                </a:solidFill>
                <a:latin typeface="Courier New" pitchFamily="34" charset="0"/>
                <a:ea typeface="Courier New" pitchFamily="34" charset="-122"/>
                <a:cs typeface="Courier New" pitchFamily="34" charset="-120"/>
              </a:rPr>
              <a:t>break</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200" dirty="0">
                <a:solidFill>
                  <a:srgbClr val="7AB8FF"/>
                </a:solidFill>
                <a:latin typeface="Courier New" pitchFamily="34" charset="0"/>
                <a:ea typeface="Courier New" pitchFamily="34" charset="-122"/>
                <a:cs typeface="Courier New" pitchFamily="34" charset="-120"/>
              </a:rPr>
              <a:t>default</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400"/>
              </a:lnSpc>
              <a:buNone/>
            </a:pPr>
            <a:r>
              <a:rPr lang="en-US" sz="1200" dirty="0">
                <a:solidFill>
                  <a:srgbClr val="CE9178"/>
                </a:solidFill>
                <a:latin typeface="Courier New" pitchFamily="34" charset="0"/>
                <a:ea typeface="Courier New" pitchFamily="34" charset="-122"/>
                <a:cs typeface="Courier New" pitchFamily="34" charset="-120"/>
              </a:rPr>
              <a:t>$"Error: unknown operator \"{op}\"."</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200" dirty="0">
                <a:solidFill>
                  <a:srgbClr val="7AB8FF"/>
                </a:solidFill>
                <a:latin typeface="Courier New" pitchFamily="34" charset="0"/>
                <a:ea typeface="Courier New" pitchFamily="34" charset="-122"/>
                <a:cs typeface="Courier New" pitchFamily="34" charset="-120"/>
              </a:rPr>
              <a:t>break</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7726680" y="1600200"/>
            <a:ext cx="3931920" cy="3246120"/>
          </a:xfrm>
          <a:prstGeom prst="roundRect">
            <a:avLst>
              <a:gd name="adj" fmla="val 2817"/>
            </a:avLst>
          </a:prstGeom>
          <a:solidFill>
            <a:srgbClr val="0B0F19"/>
          </a:solidFill>
          <a:ln w="12700">
            <a:solidFill>
              <a:srgbClr val="2A3654"/>
            </a:solidFill>
            <a:prstDash val="solid"/>
          </a:ln>
        </p:spPr>
      </p:sp>
      <p:sp>
        <p:nvSpPr>
          <p:cNvPr id="11" name="Shape 8"/>
          <p:cNvSpPr/>
          <p:nvPr/>
        </p:nvSpPr>
        <p:spPr>
          <a:xfrm>
            <a:off x="7909560" y="1728216"/>
            <a:ext cx="118872" cy="118872"/>
          </a:xfrm>
          <a:prstGeom prst="ellipse">
            <a:avLst/>
          </a:prstGeom>
          <a:solidFill>
            <a:srgbClr val="FF5F57"/>
          </a:solidFill>
          <a:ln w="12700">
            <a:solidFill>
              <a:srgbClr val="FF5F57"/>
            </a:solidFill>
            <a:prstDash val="solid"/>
          </a:ln>
        </p:spPr>
      </p:sp>
      <p:sp>
        <p:nvSpPr>
          <p:cNvPr id="12" name="Shape 9"/>
          <p:cNvSpPr/>
          <p:nvPr/>
        </p:nvSpPr>
        <p:spPr>
          <a:xfrm>
            <a:off x="8138160" y="1728216"/>
            <a:ext cx="118872" cy="118872"/>
          </a:xfrm>
          <a:prstGeom prst="ellipse">
            <a:avLst/>
          </a:prstGeom>
          <a:solidFill>
            <a:srgbClr val="FEBC2E"/>
          </a:solidFill>
          <a:ln w="12700">
            <a:solidFill>
              <a:srgbClr val="FEBC2E"/>
            </a:solidFill>
            <a:prstDash val="solid"/>
          </a:ln>
        </p:spPr>
      </p:sp>
      <p:sp>
        <p:nvSpPr>
          <p:cNvPr id="13" name="Shape 10"/>
          <p:cNvSpPr/>
          <p:nvPr/>
        </p:nvSpPr>
        <p:spPr>
          <a:xfrm>
            <a:off x="8366760" y="172821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8641080" y="1673352"/>
            <a:ext cx="28346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955280" y="1984248"/>
            <a:ext cx="3474720" cy="274320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First number: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7</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Operator (+ - * / %):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Second number: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2</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7 / 2 = 3.50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First number: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7</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Operator (+ - * / %):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Second number: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Error: cannot divide by zero.</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First number: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7</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Operator (+ - * / %):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Second number: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2</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Error: unknown operator "^".</a:t>
            </a:r>
            <a:endParaRPr lang="en-US" sz="1200" dirty="0"/>
          </a:p>
        </p:txBody>
      </p:sp>
      <p:sp>
        <p:nvSpPr>
          <p:cNvPr id="16" name="Shape 13"/>
          <p:cNvSpPr/>
          <p:nvPr/>
        </p:nvSpPr>
        <p:spPr>
          <a:xfrm>
            <a:off x="7726680" y="4983480"/>
            <a:ext cx="3931920" cy="1143000"/>
          </a:xfrm>
          <a:prstGeom prst="roundRect">
            <a:avLst>
              <a:gd name="adj" fmla="val 9600"/>
            </a:avLst>
          </a:prstGeom>
          <a:solidFill>
            <a:srgbClr val="FBE9E7"/>
          </a:solidFill>
          <a:ln w="12700">
            <a:solidFill>
              <a:srgbClr val="FBE9E7"/>
            </a:solidFill>
            <a:prstDash val="solid"/>
          </a:ln>
        </p:spPr>
      </p:sp>
      <p:pic>
        <p:nvPicPr>
          <p:cNvPr id="17" name="Image 0" descr="preencoded.png">    </p:cNvPr>
          <p:cNvPicPr>
            <a:picLocks noChangeAspect="1"/>
          </p:cNvPicPr>
          <p:nvPr/>
        </p:nvPicPr>
        <p:blipFill>
          <a:blip r:embed="rId1"/>
          <a:stretch>
            <a:fillRect/>
          </a:stretch>
        </p:blipFill>
        <p:spPr>
          <a:xfrm>
            <a:off x="8001000" y="5280660"/>
            <a:ext cx="548640" cy="548640"/>
          </a:xfrm>
          <a:prstGeom prst="rect">
            <a:avLst/>
          </a:prstGeom>
        </p:spPr>
      </p:pic>
      <p:sp>
        <p:nvSpPr>
          <p:cNvPr id="18" name="Text 14"/>
          <p:cNvSpPr txBox="1"/>
          <p:nvPr/>
        </p:nvSpPr>
        <p:spPr>
          <a:xfrm>
            <a:off x="8823960" y="5056632"/>
            <a:ext cx="2560320" cy="996696"/>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double </a:t>
            </a:r>
            <a:pPr indent="0" marL="0">
              <a:buNone/>
            </a:pPr>
            <a:r>
              <a:rPr lang="en-US" sz="1400" dirty="0">
                <a:solidFill>
                  <a:srgbClr val="333B4F"/>
                </a:solidFill>
                <a:latin typeface="Courier New" pitchFamily="34" charset="0"/>
                <a:ea typeface="Courier New" pitchFamily="34" charset="-122"/>
                <a:cs typeface="Courier New" pitchFamily="34" charset="-120"/>
              </a:rPr>
              <a:t>7 / 0</a:t>
            </a:r>
            <a:pPr indent="0" marL="0">
              <a:buNone/>
            </a:pPr>
            <a:r>
              <a:rPr lang="en-US" sz="1400" dirty="0">
                <a:solidFill>
                  <a:srgbClr val="333B4F"/>
                </a:solidFill>
                <a:latin typeface="Calibri" pitchFamily="34" charset="0"/>
                <a:ea typeface="Calibri" pitchFamily="34" charset="-122"/>
                <a:cs typeface="Calibri" pitchFamily="34" charset="-120"/>
              </a:rPr>
              <a:t> is </a:t>
            </a:r>
            <a:pPr indent="0" marL="0">
              <a:buNone/>
            </a:pPr>
            <a:r>
              <a:rPr lang="en-US" sz="1400" b="1" dirty="0">
                <a:solidFill>
                  <a:srgbClr val="333B4F"/>
                </a:solidFill>
                <a:latin typeface="Calibri" pitchFamily="34" charset="0"/>
                <a:ea typeface="Calibri" pitchFamily="34" charset="-122"/>
                <a:cs typeface="Calibri" pitchFamily="34" charset="-120"/>
              </a:rPr>
              <a:t>Infinity</a:t>
            </a:r>
            <a:pPr indent="0" marL="0">
              <a:buNone/>
            </a:pPr>
            <a:r>
              <a:rPr lang="en-US" sz="1400" dirty="0">
                <a:solidFill>
                  <a:srgbClr val="333B4F"/>
                </a:solidFill>
                <a:latin typeface="Calibri" pitchFamily="34" charset="0"/>
                <a:ea typeface="Calibri" pitchFamily="34" charset="-122"/>
                <a:cs typeface="Calibri" pitchFamily="34" charset="-120"/>
              </a:rPr>
              <a:t>, not an error — check </a:t>
            </a:r>
            <a:pPr indent="0" marL="0">
              <a:buNone/>
            </a:pPr>
            <a:r>
              <a:rPr lang="en-US" sz="1400" dirty="0">
                <a:solidFill>
                  <a:srgbClr val="333B4F"/>
                </a:solidFill>
                <a:latin typeface="Courier New" pitchFamily="34" charset="0"/>
                <a:ea typeface="Courier New" pitchFamily="34" charset="-122"/>
                <a:cs typeface="Courier New" pitchFamily="34" charset="-120"/>
              </a:rPr>
              <a:t>b == 0</a:t>
            </a:r>
            <a:pPr indent="0" marL="0">
              <a:buNone/>
            </a:pPr>
            <a:r>
              <a:rPr lang="en-US" sz="1400" dirty="0">
                <a:solidFill>
                  <a:srgbClr val="333B4F"/>
                </a:solidFill>
                <a:latin typeface="Calibri" pitchFamily="34" charset="0"/>
                <a:ea typeface="Calibri" pitchFamily="34" charset="-122"/>
                <a:cs typeface="Calibri" pitchFamily="34" charset="-120"/>
              </a:rPr>
              <a:t> yourself.</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13 · 05_13_SHIPPINGCOST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Shipping Cost: Brackets + switch on a char</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26</a:t>
            </a:r>
            <a:endParaRPr lang="en-US" sz="1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4206240" cy="914400"/>
        </p:xfrm>
        <a:graphic>
          <a:graphicData uri="http://schemas.openxmlformats.org/drawingml/2006/table">
            <a:tbl>
              <a:tblPr/>
              <a:tblGrid>
                <a:gridCol w="1737360"/>
                <a:gridCol w="2468880"/>
              </a:tblGrid>
              <a:tr h="38404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Weight w (kg)</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Base cost (TL)</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84048">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0 &lt; w ≤ 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60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1 &lt; w ≤ 5</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90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84048">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5 &lt; w ≤ 20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150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20 &lt; w ≤ 100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150 + 8 × ⌈w − 20⌉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8" name="Text 4"/>
          <p:cNvSpPr txBox="1"/>
          <p:nvPr/>
        </p:nvSpPr>
        <p:spPr>
          <a:xfrm>
            <a:off x="548640" y="3611880"/>
            <a:ext cx="5029200" cy="365760"/>
          </a:xfrm>
          <a:prstGeom prst="rect">
            <a:avLst/>
          </a:prstGeom>
          <a:noFill/>
          <a:ln/>
        </p:spPr>
        <p:txBody>
          <a:bodyPr wrap="square" lIns="0" tIns="0" rIns="0" bIns="0" rtlCol="0" anchor="t"/>
          <a:lstStyle/>
          <a:p>
            <a:pPr indent="0" marL="0">
              <a:buNone/>
            </a:pPr>
            <a:r>
              <a:rPr lang="en-US" sz="1400" b="1" dirty="0">
                <a:solidFill>
                  <a:srgbClr val="333B4F"/>
                </a:solidFill>
                <a:latin typeface="Calibri" pitchFamily="34" charset="0"/>
                <a:ea typeface="Calibri" pitchFamily="34" charset="-122"/>
                <a:cs typeface="Calibri" pitchFamily="34" charset="-120"/>
              </a:rPr>
              <a:t>Express: </a:t>
            </a:r>
            <a:pPr indent="0" marL="0">
              <a:buNone/>
            </a:pPr>
            <a:r>
              <a:rPr lang="en-US" sz="1400" dirty="0">
                <a:solidFill>
                  <a:srgbClr val="333B4F"/>
                </a:solidFill>
                <a:latin typeface="Calibri" pitchFamily="34" charset="0"/>
                <a:ea typeface="Calibri" pitchFamily="34" charset="-122"/>
                <a:cs typeface="Calibri" pitchFamily="34" charset="-120"/>
              </a:rPr>
              <a:t>base cost × 1.5</a:t>
            </a:r>
            <a:endParaRPr lang="en-US" sz="1400" dirty="0"/>
          </a:p>
        </p:txBody>
      </p:sp>
      <p:graphicFrame>
        <p:nvGraphicFramePr>
          <p:cNvPr id="53" name="Table 1"/>
          <p:cNvGraphicFramePr>
            <a:graphicFrameLocks noGrp="1"/>
          </p:cNvGraphicFramePr>
          <p:nvPr>
            <p:extLst>
              <p:ext uri="{D42A27DB-BD31-4B8C-83A1-F6EECF244321}">
                <p14:modId xmlns:p14="http://schemas.microsoft.com/office/powerpoint/2010/main" val="1579011935"/>
              </p:ext>
            </p:extLst>
          </p:nvPr>
        </p:nvGraphicFramePr>
        <p:xfrm>
          <a:off x="548640" y="4023360"/>
          <a:ext cx="4206240" cy="914400"/>
        </p:xfrm>
        <a:graphic>
          <a:graphicData uri="http://schemas.openxmlformats.org/drawingml/2006/table">
            <a:tbl>
              <a:tblPr/>
              <a:tblGrid>
                <a:gridCol w="1188720"/>
                <a:gridCol w="3017520"/>
              </a:tblGrid>
              <a:tr h="347472">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Total (real output)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47472">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1  S</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60.00 TL</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47472">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1.01  s</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90.00 TL</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47472">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20  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225.00 TL</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47472">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20.1  S</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158.00 TL</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47472">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2  X</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Error: unknown service 'X'.</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10" name="Shape 5"/>
          <p:cNvSpPr/>
          <p:nvPr/>
        </p:nvSpPr>
        <p:spPr>
          <a:xfrm>
            <a:off x="4937760" y="1600200"/>
            <a:ext cx="6720840" cy="3017520"/>
          </a:xfrm>
          <a:prstGeom prst="roundRect">
            <a:avLst>
              <a:gd name="adj" fmla="val 3030"/>
            </a:avLst>
          </a:prstGeom>
          <a:solidFill>
            <a:srgbClr val="0F1729"/>
          </a:solidFill>
          <a:ln w="12700">
            <a:solidFill>
              <a:srgbClr val="0F1729"/>
            </a:solidFill>
            <a:prstDash val="solid"/>
          </a:ln>
        </p:spPr>
      </p:sp>
      <p:sp>
        <p:nvSpPr>
          <p:cNvPr id="11" name="Text 6"/>
          <p:cNvSpPr txBox="1"/>
          <p:nvPr/>
        </p:nvSpPr>
        <p:spPr>
          <a:xfrm>
            <a:off x="5166360" y="1709928"/>
            <a:ext cx="62636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(excerpt)</a:t>
            </a:r>
            <a:endParaRPr lang="en-US" sz="1100" dirty="0"/>
          </a:p>
        </p:txBody>
      </p:sp>
      <p:sp>
        <p:nvSpPr>
          <p:cNvPr id="12" name="Text 7"/>
          <p:cNvSpPr txBox="1"/>
          <p:nvPr/>
        </p:nvSpPr>
        <p:spPr>
          <a:xfrm>
            <a:off x="5166360" y="2011680"/>
            <a:ext cx="6263640" cy="2514600"/>
          </a:xfrm>
          <a:prstGeom prst="rect">
            <a:avLst/>
          </a:prstGeom>
          <a:noFill/>
          <a:ln/>
        </p:spPr>
        <p:txBody>
          <a:bodyPr wrap="square" lIns="0" tIns="0" rIns="0" bIns="0" rtlCol="0" anchor="t"/>
          <a:lstStyle/>
          <a:p>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switch</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(service)</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case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'S'</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case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's'</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serviceName = </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"standard"</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total = baseCost;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break</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case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case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serviceName = </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"express"</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total = baseCost * ExpressFactor;</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break</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default</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$"Error: unknown service '{service}'."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return</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3" name="Shape 8"/>
          <p:cNvSpPr/>
          <p:nvPr/>
        </p:nvSpPr>
        <p:spPr>
          <a:xfrm>
            <a:off x="4937760" y="4709160"/>
            <a:ext cx="6720840" cy="1417320"/>
          </a:xfrm>
          <a:prstGeom prst="roundRect">
            <a:avLst>
              <a:gd name="adj" fmla="val 6452"/>
            </a:avLst>
          </a:prstGeom>
          <a:solidFill>
            <a:srgbClr val="0B0F19"/>
          </a:solidFill>
          <a:ln w="12700">
            <a:solidFill>
              <a:srgbClr val="2A3654"/>
            </a:solidFill>
            <a:prstDash val="solid"/>
          </a:ln>
        </p:spPr>
      </p:sp>
      <p:sp>
        <p:nvSpPr>
          <p:cNvPr id="14" name="Shape 9"/>
          <p:cNvSpPr/>
          <p:nvPr/>
        </p:nvSpPr>
        <p:spPr>
          <a:xfrm>
            <a:off x="5120640" y="4837176"/>
            <a:ext cx="118872" cy="118872"/>
          </a:xfrm>
          <a:prstGeom prst="ellipse">
            <a:avLst/>
          </a:prstGeom>
          <a:solidFill>
            <a:srgbClr val="FF5F57"/>
          </a:solidFill>
          <a:ln w="12700">
            <a:solidFill>
              <a:srgbClr val="FF5F57"/>
            </a:solidFill>
            <a:prstDash val="solid"/>
          </a:ln>
        </p:spPr>
      </p:sp>
      <p:sp>
        <p:nvSpPr>
          <p:cNvPr id="15" name="Shape 10"/>
          <p:cNvSpPr/>
          <p:nvPr/>
        </p:nvSpPr>
        <p:spPr>
          <a:xfrm>
            <a:off x="5349240" y="4837176"/>
            <a:ext cx="118872" cy="118872"/>
          </a:xfrm>
          <a:prstGeom prst="ellipse">
            <a:avLst/>
          </a:prstGeom>
          <a:solidFill>
            <a:srgbClr val="FEBC2E"/>
          </a:solidFill>
          <a:ln w="12700">
            <a:solidFill>
              <a:srgbClr val="FEBC2E"/>
            </a:solidFill>
            <a:prstDash val="solid"/>
          </a:ln>
        </p:spPr>
      </p:sp>
      <p:sp>
        <p:nvSpPr>
          <p:cNvPr id="16" name="Shape 11"/>
          <p:cNvSpPr/>
          <p:nvPr/>
        </p:nvSpPr>
        <p:spPr>
          <a:xfrm>
            <a:off x="5577840" y="4837176"/>
            <a:ext cx="118872" cy="118872"/>
          </a:xfrm>
          <a:prstGeom prst="ellipse">
            <a:avLst/>
          </a:prstGeom>
          <a:solidFill>
            <a:srgbClr val="28C840"/>
          </a:solidFill>
          <a:ln w="12700">
            <a:solidFill>
              <a:srgbClr val="28C840"/>
            </a:solidFill>
            <a:prstDash val="solid"/>
          </a:ln>
        </p:spPr>
      </p:sp>
      <p:sp>
        <p:nvSpPr>
          <p:cNvPr id="17" name="Text 12"/>
          <p:cNvSpPr txBox="1"/>
          <p:nvPr/>
        </p:nvSpPr>
        <p:spPr>
          <a:xfrm>
            <a:off x="5852160" y="4782312"/>
            <a:ext cx="56235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8" name="Text 13"/>
          <p:cNvSpPr txBox="1"/>
          <p:nvPr/>
        </p:nvSpPr>
        <p:spPr>
          <a:xfrm>
            <a:off x="5166360" y="5093208"/>
            <a:ext cx="6263640" cy="91440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Parcel weight (kg, max 100):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23.5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Service (S = standard, E = express):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e</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Base cost: 182.00 TL</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Total (express): 273.00 TL</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PART 3 · MODERN C#</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The switch Expression (C# 8) with Relational Patterns (C# 9)</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27</a:t>
            </a:r>
            <a:endParaRPr lang="en-US" sz="1000" dirty="0"/>
          </a:p>
        </p:txBody>
      </p:sp>
      <p:sp>
        <p:nvSpPr>
          <p:cNvPr id="7" name="Shape 4"/>
          <p:cNvSpPr/>
          <p:nvPr/>
        </p:nvSpPr>
        <p:spPr>
          <a:xfrm>
            <a:off x="548640" y="1600200"/>
            <a:ext cx="5760720" cy="3017520"/>
          </a:xfrm>
          <a:prstGeom prst="roundRect">
            <a:avLst>
              <a:gd name="adj" fmla="val 3030"/>
            </a:avLst>
          </a:prstGeom>
          <a:solidFill>
            <a:srgbClr val="0F1729"/>
          </a:solidFill>
          <a:ln w="12700">
            <a:solidFill>
              <a:srgbClr val="0F1729"/>
            </a:solidFill>
            <a:prstDash val="solid"/>
          </a:ln>
        </p:spPr>
      </p:sp>
      <p:sp>
        <p:nvSpPr>
          <p:cNvPr id="8" name="Text 5"/>
          <p:cNvSpPr txBox="1"/>
          <p:nvPr/>
        </p:nvSpPr>
        <p:spPr>
          <a:xfrm>
            <a:off x="777240" y="1709928"/>
            <a:ext cx="53035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Letter grade (05_05_LetterGrade)</a:t>
            </a:r>
            <a:endParaRPr lang="en-US" sz="1100" dirty="0"/>
          </a:p>
        </p:txBody>
      </p:sp>
      <p:sp>
        <p:nvSpPr>
          <p:cNvPr id="9" name="Text 6"/>
          <p:cNvSpPr txBox="1"/>
          <p:nvPr/>
        </p:nvSpPr>
        <p:spPr>
          <a:xfrm>
            <a:off x="777240" y="2011680"/>
            <a:ext cx="5303520" cy="2514600"/>
          </a:xfrm>
          <a:prstGeom prst="rect">
            <a:avLst/>
          </a:prstGeom>
          <a:noFill/>
          <a:ln/>
        </p:spPr>
        <p:txBody>
          <a:bodyPr wrap="square" lIns="0" tIns="0" rIns="0" bIns="0" rtlCol="0" anchor="t"/>
          <a:lstStyle/>
          <a:p>
            <a:pPr indent="0" marL="0">
              <a:lnSpc>
                <a:spcPts val="1600"/>
              </a:lnSpc>
              <a:buNone/>
            </a:pPr>
            <a:r>
              <a:rPr lang="en-US" sz="1400" dirty="0">
                <a:solidFill>
                  <a:srgbClr val="4EC9B0"/>
                </a:solidFill>
                <a:latin typeface="Courier New" pitchFamily="34" charset="0"/>
                <a:ea typeface="Courier New" pitchFamily="34" charset="-122"/>
                <a:cs typeface="Courier New" pitchFamily="34" charset="-120"/>
              </a:rPr>
              <a:t>string</a:t>
            </a:r>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 letter2 = score </a:t>
            </a:r>
            <a:pPr indent="0" marL="0">
              <a:lnSpc>
                <a:spcPts val="1600"/>
              </a:lnSpc>
              <a:buNone/>
            </a:pPr>
            <a:r>
              <a:rPr lang="en-US" sz="1400" dirty="0">
                <a:solidFill>
                  <a:srgbClr val="7AB8FF"/>
                </a:solidFill>
                <a:latin typeface="Courier New" pitchFamily="34" charset="0"/>
                <a:ea typeface="Courier New" pitchFamily="34" charset="-122"/>
                <a:cs typeface="Courier New" pitchFamily="34" charset="-120"/>
              </a:rPr>
              <a:t>switch</a:t>
            </a:r>
            <a:endParaRPr lang="en-US" sz="1400" dirty="0"/>
          </a:p>
          <a:p>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    &gt;= </a:t>
            </a:r>
            <a:pPr indent="0" marL="0">
              <a:lnSpc>
                <a:spcPts val="1600"/>
              </a:lnSpc>
              <a:buNone/>
            </a:pPr>
            <a:r>
              <a:rPr lang="en-US" sz="1400" dirty="0">
                <a:solidFill>
                  <a:srgbClr val="B5CEA8"/>
                </a:solidFill>
                <a:latin typeface="Courier New" pitchFamily="34" charset="0"/>
                <a:ea typeface="Courier New" pitchFamily="34" charset="-122"/>
                <a:cs typeface="Courier New" pitchFamily="34" charset="-120"/>
              </a:rPr>
              <a:t>90</a:t>
            </a:r>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 =&gt; </a:t>
            </a:r>
            <a:pPr indent="0" marL="0">
              <a:lnSpc>
                <a:spcPts val="1600"/>
              </a:lnSpc>
              <a:buNone/>
            </a:pPr>
            <a:r>
              <a:rPr lang="en-US" sz="1400" dirty="0">
                <a:solidFill>
                  <a:srgbClr val="CE9178"/>
                </a:solidFill>
                <a:latin typeface="Courier New" pitchFamily="34" charset="0"/>
                <a:ea typeface="Courier New" pitchFamily="34" charset="-122"/>
                <a:cs typeface="Courier New" pitchFamily="34" charset="-120"/>
              </a:rPr>
              <a:t>"AA"</a:t>
            </a:r>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    &gt;= </a:t>
            </a:r>
            <a:pPr indent="0" marL="0">
              <a:lnSpc>
                <a:spcPts val="1600"/>
              </a:lnSpc>
              <a:buNone/>
            </a:pPr>
            <a:r>
              <a:rPr lang="en-US" sz="1400" dirty="0">
                <a:solidFill>
                  <a:srgbClr val="B5CEA8"/>
                </a:solidFill>
                <a:latin typeface="Courier New" pitchFamily="34" charset="0"/>
                <a:ea typeface="Courier New" pitchFamily="34" charset="-122"/>
                <a:cs typeface="Courier New" pitchFamily="34" charset="-120"/>
              </a:rPr>
              <a:t>85</a:t>
            </a:r>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 =&gt; </a:t>
            </a:r>
            <a:pPr indent="0" marL="0">
              <a:lnSpc>
                <a:spcPts val="1600"/>
              </a:lnSpc>
              <a:buNone/>
            </a:pPr>
            <a:r>
              <a:rPr lang="en-US" sz="1400" dirty="0">
                <a:solidFill>
                  <a:srgbClr val="CE9178"/>
                </a:solidFill>
                <a:latin typeface="Courier New" pitchFamily="34" charset="0"/>
                <a:ea typeface="Courier New" pitchFamily="34" charset="-122"/>
                <a:cs typeface="Courier New" pitchFamily="34" charset="-120"/>
              </a:rPr>
              <a:t>"BA"</a:t>
            </a:r>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    &gt;= </a:t>
            </a:r>
            <a:pPr indent="0" marL="0">
              <a:lnSpc>
                <a:spcPts val="1600"/>
              </a:lnSpc>
              <a:buNone/>
            </a:pPr>
            <a:r>
              <a:rPr lang="en-US" sz="1400" dirty="0">
                <a:solidFill>
                  <a:srgbClr val="B5CEA8"/>
                </a:solidFill>
                <a:latin typeface="Courier New" pitchFamily="34" charset="0"/>
                <a:ea typeface="Courier New" pitchFamily="34" charset="-122"/>
                <a:cs typeface="Courier New" pitchFamily="34" charset="-120"/>
              </a:rPr>
              <a:t>80</a:t>
            </a:r>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 =&gt; </a:t>
            </a:r>
            <a:pPr indent="0" marL="0">
              <a:lnSpc>
                <a:spcPts val="1600"/>
              </a:lnSpc>
              <a:buNone/>
            </a:pPr>
            <a:r>
              <a:rPr lang="en-US" sz="1400" dirty="0">
                <a:solidFill>
                  <a:srgbClr val="CE9178"/>
                </a:solidFill>
                <a:latin typeface="Courier New" pitchFamily="34" charset="0"/>
                <a:ea typeface="Courier New" pitchFamily="34" charset="-122"/>
                <a:cs typeface="Courier New" pitchFamily="34" charset="-120"/>
              </a:rPr>
              <a:t>"BB"</a:t>
            </a:r>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    &gt;= </a:t>
            </a:r>
            <a:pPr indent="0" marL="0">
              <a:lnSpc>
                <a:spcPts val="1600"/>
              </a:lnSpc>
              <a:buNone/>
            </a:pPr>
            <a:r>
              <a:rPr lang="en-US" sz="1400" dirty="0">
                <a:solidFill>
                  <a:srgbClr val="B5CEA8"/>
                </a:solidFill>
                <a:latin typeface="Courier New" pitchFamily="34" charset="0"/>
                <a:ea typeface="Courier New" pitchFamily="34" charset="-122"/>
                <a:cs typeface="Courier New" pitchFamily="34" charset="-120"/>
              </a:rPr>
              <a:t>75</a:t>
            </a:r>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 =&gt; </a:t>
            </a:r>
            <a:pPr indent="0" marL="0">
              <a:lnSpc>
                <a:spcPts val="1600"/>
              </a:lnSpc>
              <a:buNone/>
            </a:pPr>
            <a:r>
              <a:rPr lang="en-US" sz="1400" dirty="0">
                <a:solidFill>
                  <a:srgbClr val="CE9178"/>
                </a:solidFill>
                <a:latin typeface="Courier New" pitchFamily="34" charset="0"/>
                <a:ea typeface="Courier New" pitchFamily="34" charset="-122"/>
                <a:cs typeface="Courier New" pitchFamily="34" charset="-120"/>
              </a:rPr>
              <a:t>"CB"</a:t>
            </a:r>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    &gt;= </a:t>
            </a:r>
            <a:pPr indent="0" marL="0">
              <a:lnSpc>
                <a:spcPts val="1600"/>
              </a:lnSpc>
              <a:buNone/>
            </a:pPr>
            <a:r>
              <a:rPr lang="en-US" sz="1400" dirty="0">
                <a:solidFill>
                  <a:srgbClr val="B5CEA8"/>
                </a:solidFill>
                <a:latin typeface="Courier New" pitchFamily="34" charset="0"/>
                <a:ea typeface="Courier New" pitchFamily="34" charset="-122"/>
                <a:cs typeface="Courier New" pitchFamily="34" charset="-120"/>
              </a:rPr>
              <a:t>70</a:t>
            </a:r>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 =&gt; </a:t>
            </a:r>
            <a:pPr indent="0" marL="0">
              <a:lnSpc>
                <a:spcPts val="1600"/>
              </a:lnSpc>
              <a:buNone/>
            </a:pPr>
            <a:r>
              <a:rPr lang="en-US" sz="1400" dirty="0">
                <a:solidFill>
                  <a:srgbClr val="CE9178"/>
                </a:solidFill>
                <a:latin typeface="Courier New" pitchFamily="34" charset="0"/>
                <a:ea typeface="Courier New" pitchFamily="34" charset="-122"/>
                <a:cs typeface="Courier New" pitchFamily="34" charset="-120"/>
              </a:rPr>
              <a:t>"CC"</a:t>
            </a:r>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    &gt;= </a:t>
            </a:r>
            <a:pPr indent="0" marL="0">
              <a:lnSpc>
                <a:spcPts val="1600"/>
              </a:lnSpc>
              <a:buNone/>
            </a:pPr>
            <a:r>
              <a:rPr lang="en-US" sz="1400" dirty="0">
                <a:solidFill>
                  <a:srgbClr val="B5CEA8"/>
                </a:solidFill>
                <a:latin typeface="Courier New" pitchFamily="34" charset="0"/>
                <a:ea typeface="Courier New" pitchFamily="34" charset="-122"/>
                <a:cs typeface="Courier New" pitchFamily="34" charset="-120"/>
              </a:rPr>
              <a:t>65</a:t>
            </a:r>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 =&gt; </a:t>
            </a:r>
            <a:pPr indent="0" marL="0">
              <a:lnSpc>
                <a:spcPts val="1600"/>
              </a:lnSpc>
              <a:buNone/>
            </a:pPr>
            <a:r>
              <a:rPr lang="en-US" sz="1400" dirty="0">
                <a:solidFill>
                  <a:srgbClr val="CE9178"/>
                </a:solidFill>
                <a:latin typeface="Courier New" pitchFamily="34" charset="0"/>
                <a:ea typeface="Courier New" pitchFamily="34" charset="-122"/>
                <a:cs typeface="Courier New" pitchFamily="34" charset="-120"/>
              </a:rPr>
              <a:t>"DC"</a:t>
            </a:r>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    &gt;= </a:t>
            </a:r>
            <a:pPr indent="0" marL="0">
              <a:lnSpc>
                <a:spcPts val="1600"/>
              </a:lnSpc>
              <a:buNone/>
            </a:pPr>
            <a:r>
              <a:rPr lang="en-US" sz="1400" dirty="0">
                <a:solidFill>
                  <a:srgbClr val="B5CEA8"/>
                </a:solidFill>
                <a:latin typeface="Courier New" pitchFamily="34" charset="0"/>
                <a:ea typeface="Courier New" pitchFamily="34" charset="-122"/>
                <a:cs typeface="Courier New" pitchFamily="34" charset="-120"/>
              </a:rPr>
              <a:t>60</a:t>
            </a:r>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 =&gt; </a:t>
            </a:r>
            <a:pPr indent="0" marL="0">
              <a:lnSpc>
                <a:spcPts val="1600"/>
              </a:lnSpc>
              <a:buNone/>
            </a:pPr>
            <a:r>
              <a:rPr lang="en-US" sz="1400" dirty="0">
                <a:solidFill>
                  <a:srgbClr val="CE9178"/>
                </a:solidFill>
                <a:latin typeface="Courier New" pitchFamily="34" charset="0"/>
                <a:ea typeface="Courier New" pitchFamily="34" charset="-122"/>
                <a:cs typeface="Courier New" pitchFamily="34" charset="-120"/>
              </a:rPr>
              <a:t>"DD"</a:t>
            </a:r>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    _ =&gt; </a:t>
            </a:r>
            <a:pPr indent="0" marL="0">
              <a:lnSpc>
                <a:spcPts val="1600"/>
              </a:lnSpc>
              <a:buNone/>
            </a:pPr>
            <a:r>
              <a:rPr lang="en-US" sz="1400" dirty="0">
                <a:solidFill>
                  <a:srgbClr val="CE9178"/>
                </a:solidFill>
                <a:latin typeface="Courier New" pitchFamily="34" charset="0"/>
                <a:ea typeface="Courier New" pitchFamily="34" charset="-122"/>
                <a:cs typeface="Courier New" pitchFamily="34" charset="-120"/>
              </a:rPr>
              <a:t>"FF"</a:t>
            </a:r>
            <a:endParaRPr lang="en-US" sz="1400" dirty="0"/>
          </a:p>
          <a:p>
            <a:pPr indent="0" marL="0">
              <a:lnSpc>
                <a:spcPts val="1600"/>
              </a:lnSpc>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p:txBody>
      </p:sp>
      <p:sp>
        <p:nvSpPr>
          <p:cNvPr id="10" name="Shape 7"/>
          <p:cNvSpPr/>
          <p:nvPr/>
        </p:nvSpPr>
        <p:spPr>
          <a:xfrm>
            <a:off x="548640" y="4754880"/>
            <a:ext cx="5760720" cy="1371600"/>
          </a:xfrm>
          <a:prstGeom prst="roundRect">
            <a:avLst>
              <a:gd name="adj" fmla="val 6667"/>
            </a:avLst>
          </a:prstGeom>
          <a:solidFill>
            <a:srgbClr val="0B0F19"/>
          </a:solidFill>
          <a:ln w="12700">
            <a:solidFill>
              <a:srgbClr val="2A3654"/>
            </a:solidFill>
            <a:prstDash val="solid"/>
          </a:ln>
        </p:spPr>
      </p:sp>
      <p:sp>
        <p:nvSpPr>
          <p:cNvPr id="11" name="Shape 8"/>
          <p:cNvSpPr/>
          <p:nvPr/>
        </p:nvSpPr>
        <p:spPr>
          <a:xfrm>
            <a:off x="731520" y="4882896"/>
            <a:ext cx="118872" cy="118872"/>
          </a:xfrm>
          <a:prstGeom prst="ellipse">
            <a:avLst/>
          </a:prstGeom>
          <a:solidFill>
            <a:srgbClr val="FF5F57"/>
          </a:solidFill>
          <a:ln w="12700">
            <a:solidFill>
              <a:srgbClr val="FF5F57"/>
            </a:solidFill>
            <a:prstDash val="solid"/>
          </a:ln>
        </p:spPr>
      </p:sp>
      <p:sp>
        <p:nvSpPr>
          <p:cNvPr id="12" name="Shape 9"/>
          <p:cNvSpPr/>
          <p:nvPr/>
        </p:nvSpPr>
        <p:spPr>
          <a:xfrm>
            <a:off x="960120" y="4882896"/>
            <a:ext cx="118872" cy="118872"/>
          </a:xfrm>
          <a:prstGeom prst="ellipse">
            <a:avLst/>
          </a:prstGeom>
          <a:solidFill>
            <a:srgbClr val="FEBC2E"/>
          </a:solidFill>
          <a:ln w="12700">
            <a:solidFill>
              <a:srgbClr val="FEBC2E"/>
            </a:solidFill>
            <a:prstDash val="solid"/>
          </a:ln>
        </p:spPr>
      </p:sp>
      <p:sp>
        <p:nvSpPr>
          <p:cNvPr id="13" name="Shape 10"/>
          <p:cNvSpPr/>
          <p:nvPr/>
        </p:nvSpPr>
        <p:spPr>
          <a:xfrm>
            <a:off x="1188720" y="488289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1463040" y="4828032"/>
            <a:ext cx="46634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77240" y="5138928"/>
            <a:ext cx="5303520" cy="86868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Enter the score (0-100):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85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Score 85 -&gt; BA (grade point 3.5)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Ladder: BA   Switch expression: BA</a:t>
            </a:r>
            <a:endParaRPr lang="en-US" sz="1300" dirty="0"/>
          </a:p>
        </p:txBody>
      </p:sp>
      <p:sp>
        <p:nvSpPr>
          <p:cNvPr id="16" name="Shape 13"/>
          <p:cNvSpPr/>
          <p:nvPr/>
        </p:nvSpPr>
        <p:spPr>
          <a:xfrm>
            <a:off x="6537960" y="1600200"/>
            <a:ext cx="5120640" cy="1024128"/>
          </a:xfrm>
          <a:prstGeom prst="roundRect">
            <a:avLst>
              <a:gd name="adj" fmla="val 10714"/>
            </a:avLst>
          </a:prstGeom>
          <a:solidFill>
            <a:srgbClr val="EEF1F6"/>
          </a:solidFill>
          <a:ln w="12700">
            <a:solidFill>
              <a:srgbClr val="EEF1F6"/>
            </a:solidFill>
            <a:prstDash val="solid"/>
          </a:ln>
        </p:spPr>
      </p:sp>
      <p:sp>
        <p:nvSpPr>
          <p:cNvPr id="17" name="Shape 14"/>
          <p:cNvSpPr/>
          <p:nvPr/>
        </p:nvSpPr>
        <p:spPr>
          <a:xfrm>
            <a:off x="6720840" y="1819656"/>
            <a:ext cx="585216" cy="585216"/>
          </a:xfrm>
          <a:prstGeom prst="ellipse">
            <a:avLst/>
          </a:prstGeom>
          <a:solidFill>
            <a:srgbClr val="2F6FB3"/>
          </a:solidFill>
          <a:ln w="12700">
            <a:solidFill>
              <a:srgbClr val="2F6FB3"/>
            </a:solidFill>
            <a:prstDash val="solid"/>
          </a:ln>
        </p:spPr>
      </p:sp>
      <p:pic>
        <p:nvPicPr>
          <p:cNvPr id="18" name="Image 0" descr="preencoded.png">    </p:cNvPr>
          <p:cNvPicPr>
            <a:picLocks noChangeAspect="1"/>
          </p:cNvPicPr>
          <p:nvPr/>
        </p:nvPicPr>
        <p:blipFill>
          <a:blip r:embed="rId1"/>
          <a:stretch>
            <a:fillRect/>
          </a:stretch>
        </p:blipFill>
        <p:spPr>
          <a:xfrm>
            <a:off x="6872996" y="1971812"/>
            <a:ext cx="280904" cy="280904"/>
          </a:xfrm>
          <a:prstGeom prst="rect">
            <a:avLst/>
          </a:prstGeom>
        </p:spPr>
      </p:pic>
      <p:sp>
        <p:nvSpPr>
          <p:cNvPr id="19" name="Text 15"/>
          <p:cNvSpPr txBox="1"/>
          <p:nvPr/>
        </p:nvSpPr>
        <p:spPr>
          <a:xfrm>
            <a:off x="7498080" y="1691640"/>
            <a:ext cx="4069080" cy="86868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Produces a value</a:t>
            </a:r>
            <a:endParaRPr lang="en-US" sz="1400" dirty="0"/>
          </a:p>
          <a:p>
            <a:pPr indent="0" marL="0">
              <a:buNone/>
            </a:pPr>
            <a:r>
              <a:rPr lang="en-US" sz="1400" dirty="0">
                <a:solidFill>
                  <a:srgbClr val="333B4F"/>
                </a:solidFill>
                <a:latin typeface="Calibri" pitchFamily="34" charset="0"/>
                <a:ea typeface="Calibri" pitchFamily="34" charset="-122"/>
                <a:cs typeface="Calibri" pitchFamily="34" charset="-120"/>
              </a:rPr>
              <a:t>Assign it: string letter2 = score switch { … };</a:t>
            </a:r>
            <a:endParaRPr lang="en-US" sz="1400" dirty="0"/>
          </a:p>
        </p:txBody>
      </p:sp>
      <p:sp>
        <p:nvSpPr>
          <p:cNvPr id="20" name="Shape 16"/>
          <p:cNvSpPr/>
          <p:nvPr/>
        </p:nvSpPr>
        <p:spPr>
          <a:xfrm>
            <a:off x="6537960" y="2743200"/>
            <a:ext cx="5120640" cy="1024128"/>
          </a:xfrm>
          <a:prstGeom prst="roundRect">
            <a:avLst>
              <a:gd name="adj" fmla="val 10714"/>
            </a:avLst>
          </a:prstGeom>
          <a:solidFill>
            <a:srgbClr val="EEF1F6"/>
          </a:solidFill>
          <a:ln w="12700">
            <a:solidFill>
              <a:srgbClr val="EEF1F6"/>
            </a:solidFill>
            <a:prstDash val="solid"/>
          </a:ln>
        </p:spPr>
      </p:sp>
      <p:sp>
        <p:nvSpPr>
          <p:cNvPr id="21" name="Shape 17"/>
          <p:cNvSpPr/>
          <p:nvPr/>
        </p:nvSpPr>
        <p:spPr>
          <a:xfrm>
            <a:off x="6720840" y="2962656"/>
            <a:ext cx="585216" cy="585216"/>
          </a:xfrm>
          <a:prstGeom prst="ellipse">
            <a:avLst/>
          </a:prstGeom>
          <a:solidFill>
            <a:srgbClr val="2F6FB3"/>
          </a:solidFill>
          <a:ln w="12700">
            <a:solidFill>
              <a:srgbClr val="2F6FB3"/>
            </a:solidFill>
            <a:prstDash val="solid"/>
          </a:ln>
        </p:spPr>
      </p:sp>
      <p:pic>
        <p:nvPicPr>
          <p:cNvPr id="22" name="Image 1" descr="preencoded.png">    </p:cNvPr>
          <p:cNvPicPr>
            <a:picLocks noChangeAspect="1"/>
          </p:cNvPicPr>
          <p:nvPr/>
        </p:nvPicPr>
        <p:blipFill>
          <a:blip r:embed="rId2"/>
          <a:stretch>
            <a:fillRect/>
          </a:stretch>
        </p:blipFill>
        <p:spPr>
          <a:xfrm>
            <a:off x="6872996" y="3114812"/>
            <a:ext cx="280904" cy="280904"/>
          </a:xfrm>
          <a:prstGeom prst="rect">
            <a:avLst/>
          </a:prstGeom>
        </p:spPr>
      </p:pic>
      <p:sp>
        <p:nvSpPr>
          <p:cNvPr id="23" name="Text 18"/>
          <p:cNvSpPr txBox="1"/>
          <p:nvPr/>
        </p:nvSpPr>
        <p:spPr>
          <a:xfrm>
            <a:off x="7498080" y="2834640"/>
            <a:ext cx="4069080" cy="86868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Relational patterns</a:t>
            </a:r>
            <a:endParaRPr lang="en-US" sz="1400" dirty="0"/>
          </a:p>
          <a:p>
            <a:pPr indent="0" marL="0">
              <a:buNone/>
            </a:pPr>
            <a:r>
              <a:rPr lang="en-US" sz="1400" dirty="0">
                <a:solidFill>
                  <a:srgbClr val="333B4F"/>
                </a:solidFill>
                <a:latin typeface="Calibri" pitchFamily="34" charset="0"/>
                <a:ea typeface="Calibri" pitchFamily="34" charset="-122"/>
                <a:cs typeface="Calibri" pitchFamily="34" charset="-120"/>
              </a:rPr>
              <a:t>&gt;= 90, &lt; 18.5 — combined with and / or (C# 9).</a:t>
            </a:r>
            <a:endParaRPr lang="en-US" sz="1400" dirty="0"/>
          </a:p>
        </p:txBody>
      </p:sp>
      <p:sp>
        <p:nvSpPr>
          <p:cNvPr id="24" name="Shape 19"/>
          <p:cNvSpPr/>
          <p:nvPr/>
        </p:nvSpPr>
        <p:spPr>
          <a:xfrm>
            <a:off x="6537960" y="3886200"/>
            <a:ext cx="5120640" cy="1024128"/>
          </a:xfrm>
          <a:prstGeom prst="roundRect">
            <a:avLst>
              <a:gd name="adj" fmla="val 10714"/>
            </a:avLst>
          </a:prstGeom>
          <a:solidFill>
            <a:srgbClr val="EEF1F6"/>
          </a:solidFill>
          <a:ln w="12700">
            <a:solidFill>
              <a:srgbClr val="EEF1F6"/>
            </a:solidFill>
            <a:prstDash val="solid"/>
          </a:ln>
        </p:spPr>
      </p:sp>
      <p:sp>
        <p:nvSpPr>
          <p:cNvPr id="25" name="Shape 20"/>
          <p:cNvSpPr/>
          <p:nvPr/>
        </p:nvSpPr>
        <p:spPr>
          <a:xfrm>
            <a:off x="6720840" y="4105656"/>
            <a:ext cx="585216" cy="585216"/>
          </a:xfrm>
          <a:prstGeom prst="ellipse">
            <a:avLst/>
          </a:prstGeom>
          <a:solidFill>
            <a:srgbClr val="2F6FB3"/>
          </a:solidFill>
          <a:ln w="12700">
            <a:solidFill>
              <a:srgbClr val="2F6FB3"/>
            </a:solidFill>
            <a:prstDash val="solid"/>
          </a:ln>
        </p:spPr>
      </p:sp>
      <p:pic>
        <p:nvPicPr>
          <p:cNvPr id="26" name="Image 2" descr="preencoded.png">    </p:cNvPr>
          <p:cNvPicPr>
            <a:picLocks noChangeAspect="1"/>
          </p:cNvPicPr>
          <p:nvPr/>
        </p:nvPicPr>
        <p:blipFill>
          <a:blip r:embed="rId3"/>
          <a:stretch>
            <a:fillRect/>
          </a:stretch>
        </p:blipFill>
        <p:spPr>
          <a:xfrm>
            <a:off x="6872996" y="4257812"/>
            <a:ext cx="280904" cy="280904"/>
          </a:xfrm>
          <a:prstGeom prst="rect">
            <a:avLst/>
          </a:prstGeom>
        </p:spPr>
      </p:pic>
      <p:sp>
        <p:nvSpPr>
          <p:cNvPr id="27" name="Text 21"/>
          <p:cNvSpPr txBox="1"/>
          <p:nvPr/>
        </p:nvSpPr>
        <p:spPr>
          <a:xfrm>
            <a:off x="7498080" y="3977640"/>
            <a:ext cx="4069080" cy="86868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_ is the default arm</a:t>
            </a:r>
            <a:endParaRPr lang="en-US" sz="1400" dirty="0"/>
          </a:p>
          <a:p>
            <a:pPr indent="0" marL="0">
              <a:buNone/>
            </a:pPr>
            <a:r>
              <a:rPr lang="en-US" sz="1400" dirty="0">
                <a:solidFill>
                  <a:srgbClr val="333B4F"/>
                </a:solidFill>
                <a:latin typeface="Calibri" pitchFamily="34" charset="0"/>
                <a:ea typeface="Calibri" pitchFamily="34" charset="-122"/>
                <a:cs typeface="Calibri" pitchFamily="34" charset="-120"/>
              </a:rPr>
              <a:t>Without it: warning CS8509 and a possible crash.</a:t>
            </a:r>
            <a:endParaRPr lang="en-US" sz="1400" dirty="0"/>
          </a:p>
        </p:txBody>
      </p:sp>
      <p:sp>
        <p:nvSpPr>
          <p:cNvPr id="28" name="Shape 22"/>
          <p:cNvSpPr/>
          <p:nvPr/>
        </p:nvSpPr>
        <p:spPr>
          <a:xfrm>
            <a:off x="6537960" y="5029200"/>
            <a:ext cx="5120640" cy="1024128"/>
          </a:xfrm>
          <a:prstGeom prst="roundRect">
            <a:avLst>
              <a:gd name="adj" fmla="val 10714"/>
            </a:avLst>
          </a:prstGeom>
          <a:solidFill>
            <a:srgbClr val="EEF1F6"/>
          </a:solidFill>
          <a:ln w="12700">
            <a:solidFill>
              <a:srgbClr val="EEF1F6"/>
            </a:solidFill>
            <a:prstDash val="solid"/>
          </a:ln>
        </p:spPr>
      </p:sp>
      <p:sp>
        <p:nvSpPr>
          <p:cNvPr id="29" name="Shape 23"/>
          <p:cNvSpPr/>
          <p:nvPr/>
        </p:nvSpPr>
        <p:spPr>
          <a:xfrm>
            <a:off x="6720840" y="5248656"/>
            <a:ext cx="585216" cy="585216"/>
          </a:xfrm>
          <a:prstGeom prst="ellipse">
            <a:avLst/>
          </a:prstGeom>
          <a:solidFill>
            <a:srgbClr val="2F6FB3"/>
          </a:solidFill>
          <a:ln w="12700">
            <a:solidFill>
              <a:srgbClr val="2F6FB3"/>
            </a:solidFill>
            <a:prstDash val="solid"/>
          </a:ln>
        </p:spPr>
      </p:sp>
      <p:pic>
        <p:nvPicPr>
          <p:cNvPr id="30" name="Image 3" descr="preencoded.png">    </p:cNvPr>
          <p:cNvPicPr>
            <a:picLocks noChangeAspect="1"/>
          </p:cNvPicPr>
          <p:nvPr/>
        </p:nvPicPr>
        <p:blipFill>
          <a:blip r:embed="rId4"/>
          <a:stretch>
            <a:fillRect/>
          </a:stretch>
        </p:blipFill>
        <p:spPr>
          <a:xfrm>
            <a:off x="6872996" y="5400812"/>
            <a:ext cx="280904" cy="280904"/>
          </a:xfrm>
          <a:prstGeom prst="rect">
            <a:avLst/>
          </a:prstGeom>
        </p:spPr>
      </p:pic>
      <p:sp>
        <p:nvSpPr>
          <p:cNvPr id="31" name="Text 24"/>
          <p:cNvSpPr txBox="1"/>
          <p:nvPr/>
        </p:nvSpPr>
        <p:spPr>
          <a:xfrm>
            <a:off x="7498080" y="5120640"/>
            <a:ext cx="4069080" cy="86868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Order is checked</a:t>
            </a:r>
            <a:endParaRPr lang="en-US" sz="1400" dirty="0"/>
          </a:p>
          <a:p>
            <a:pPr indent="0" marL="0">
              <a:buNone/>
            </a:pPr>
            <a:r>
              <a:rPr lang="en-US" sz="1400" dirty="0">
                <a:solidFill>
                  <a:srgbClr val="333B4F"/>
                </a:solidFill>
                <a:latin typeface="Calibri" pitchFamily="34" charset="0"/>
                <a:ea typeface="Calibri" pitchFamily="34" charset="-122"/>
                <a:cs typeface="Calibri" pitchFamily="34" charset="-120"/>
              </a:rPr>
              <a:t>An arm that can never match is error CS8510.</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PART 3 · CHOOSING A TOOL</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Which Decision Structure When?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28</a:t>
            </a:r>
            <a:endParaRPr lang="en-US" sz="1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109960" cy="914400"/>
        </p:xfrm>
        <a:graphic>
          <a:graphicData uri="http://schemas.openxmlformats.org/drawingml/2006/table">
            <a:tbl>
              <a:tblPr/>
              <a:tblGrid>
                <a:gridCol w="2103120"/>
                <a:gridCol w="2194560"/>
                <a:gridCol w="2880360"/>
                <a:gridCol w="3931920"/>
              </a:tblGrid>
              <a:tr h="45720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Structure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Chooses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Best for</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Example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57200">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if</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0 or 1 block</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an optional extra step</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if (x &lt; 0) { x = -x; }</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if-else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1 of 2 blocks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two alternatives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PASS / FAIL</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57200">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else-if ladder</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1 of many blocks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ranges, mixed conditions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grades, BMI, prices</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nested if</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paths of a decision tree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a question depends on an answer</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max of three, leap year</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57200">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switch statement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1 of many sections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exact values of one variable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day number, operator</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switch expression</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1 of many values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value from ranges / values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score switch { &gt;= 90 =&gt; "AA", … }</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57200">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1 of 2 values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short two-way value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n % 2 == 0 ? "even" : "odd"</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5532120"/>
            <a:ext cx="11109960" cy="594360"/>
          </a:xfrm>
          <a:prstGeom prst="roundRect">
            <a:avLst>
              <a:gd name="adj" fmla="val 18462"/>
            </a:avLst>
          </a:prstGeom>
          <a:solidFill>
            <a:srgbClr val="FFF6E3"/>
          </a:solidFill>
          <a:ln w="12700">
            <a:solidFill>
              <a:srgbClr val="FFF6E3"/>
            </a:solidFill>
            <a:prstDash val="solid"/>
          </a:ln>
        </p:spPr>
      </p:sp>
      <p:pic>
        <p:nvPicPr>
          <p:cNvPr id="9" name="Image 0" descr="preencoded.png">    </p:cNvPr>
          <p:cNvPicPr>
            <a:picLocks noChangeAspect="1"/>
          </p:cNvPicPr>
          <p:nvPr/>
        </p:nvPicPr>
        <p:blipFill>
          <a:blip r:embed="rId1"/>
          <a:stretch>
            <a:fillRect/>
          </a:stretch>
        </p:blipFill>
        <p:spPr>
          <a:xfrm>
            <a:off x="822960" y="5669280"/>
            <a:ext cx="320040" cy="320040"/>
          </a:xfrm>
          <a:prstGeom prst="rect">
            <a:avLst/>
          </a:prstGeom>
        </p:spPr>
      </p:pic>
      <p:sp>
        <p:nvSpPr>
          <p:cNvPr id="10" name="Text 5"/>
          <p:cNvSpPr txBox="1"/>
          <p:nvPr/>
        </p:nvSpPr>
        <p:spPr>
          <a:xfrm>
            <a:off x="1417320" y="5605272"/>
            <a:ext cx="9966960" cy="448056"/>
          </a:xfrm>
          <a:prstGeom prst="rect">
            <a:avLst/>
          </a:prstGeom>
          <a:noFill/>
          <a:ln/>
        </p:spPr>
        <p:txBody>
          <a:bodyPr wrap="square" lIns="0" tIns="0" rIns="0" bIns="0" rtlCol="0" anchor="ctr"/>
          <a:lstStyle/>
          <a:p>
            <a:pPr indent="0" marL="0">
              <a:buNone/>
            </a:pPr>
            <a:r>
              <a:rPr lang="en-US" sz="1500" b="1" dirty="0">
                <a:solidFill>
                  <a:srgbClr val="333B4F"/>
                </a:solidFill>
                <a:latin typeface="Calibri" pitchFamily="34" charset="0"/>
                <a:ea typeface="Calibri" pitchFamily="34" charset="-122"/>
                <a:cs typeface="Calibri" pitchFamily="34" charset="-120"/>
              </a:rPr>
              <a:t>Choose the clearest one. </a:t>
            </a:r>
            <a:pPr indent="0" marL="0">
              <a:buNone/>
            </a:pPr>
            <a:r>
              <a:rPr lang="en-US" sz="1500" dirty="0">
                <a:solidFill>
                  <a:srgbClr val="333B4F"/>
                </a:solidFill>
                <a:latin typeface="Calibri" pitchFamily="34" charset="0"/>
                <a:ea typeface="Calibri" pitchFamily="34" charset="-122"/>
                <a:cs typeface="Calibri" pitchFamily="34" charset="-120"/>
              </a:rPr>
              <a:t>Anything can be written with if-else alone.</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4</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Input Validation and Testing</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Never trust the keyboard — test every branch</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5</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PART 4 · TRYPARSE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int.TryParse: Validate Instead of Crashing</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30</a:t>
            </a:r>
            <a:endParaRPr lang="en-US" sz="1000" dirty="0"/>
          </a:p>
        </p:txBody>
      </p:sp>
      <p:sp>
        <p:nvSpPr>
          <p:cNvPr id="7" name="Shape 4"/>
          <p:cNvSpPr/>
          <p:nvPr/>
        </p:nvSpPr>
        <p:spPr>
          <a:xfrm>
            <a:off x="548640" y="1600200"/>
            <a:ext cx="6172200" cy="2286000"/>
          </a:xfrm>
          <a:prstGeom prst="roundRect">
            <a:avLst>
              <a:gd name="adj" fmla="val 4000"/>
            </a:avLst>
          </a:prstGeom>
          <a:solidFill>
            <a:srgbClr val="0F1729"/>
          </a:solidFill>
          <a:ln w="12700">
            <a:solidFill>
              <a:srgbClr val="0F1729"/>
            </a:solidFill>
            <a:prstDash val="solid"/>
          </a:ln>
        </p:spPr>
      </p:sp>
      <p:sp>
        <p:nvSpPr>
          <p:cNvPr id="8" name="Text 5"/>
          <p:cNvSpPr txBox="1"/>
          <p:nvPr/>
        </p:nvSpPr>
        <p:spPr>
          <a:xfrm>
            <a:off x="777240" y="1709928"/>
            <a:ext cx="57150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Guard-clause pattern (05_02_EvenOdd)</a:t>
            </a:r>
            <a:endParaRPr lang="en-US" sz="1100" dirty="0"/>
          </a:p>
        </p:txBody>
      </p:sp>
      <p:sp>
        <p:nvSpPr>
          <p:cNvPr id="9" name="Text 6"/>
          <p:cNvSpPr txBox="1"/>
          <p:nvPr/>
        </p:nvSpPr>
        <p:spPr>
          <a:xfrm>
            <a:off x="777240" y="2011680"/>
            <a:ext cx="5715000" cy="1783080"/>
          </a:xfrm>
          <a:prstGeom prst="rect">
            <a:avLst/>
          </a:prstGeom>
          <a:noFill/>
          <a:ln/>
        </p:spPr>
        <p:txBody>
          <a:bodyPr wrap="square" lIns="0" tIns="0" rIns="0" bIns="0" rtlCol="0" anchor="t"/>
          <a:lstStyle/>
          <a:p>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.Write(</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"Enter an integer: "</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if</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int</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.TryParse(</a:t>
            </a:r>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.ReadLine(),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out</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int</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n))</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"Error: that is not a whole number."</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return</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F8BA3"/>
                </a:solidFill>
                <a:latin typeface="Courier New" pitchFamily="34" charset="0"/>
                <a:ea typeface="Courier New" pitchFamily="34" charset="-122"/>
                <a:cs typeface="Courier New" pitchFamily="34" charset="-120"/>
              </a:rPr>
              <a:t>// ends the program here (a "guard clause")</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548640" y="4023360"/>
            <a:ext cx="6172200" cy="1143000"/>
          </a:xfrm>
          <a:prstGeom prst="roundRect">
            <a:avLst>
              <a:gd name="adj" fmla="val 8000"/>
            </a:avLst>
          </a:prstGeom>
          <a:solidFill>
            <a:srgbClr val="0B0F19"/>
          </a:solidFill>
          <a:ln w="12700">
            <a:solidFill>
              <a:srgbClr val="2A3654"/>
            </a:solidFill>
            <a:prstDash val="solid"/>
          </a:ln>
        </p:spPr>
      </p:sp>
      <p:sp>
        <p:nvSpPr>
          <p:cNvPr id="11" name="Shape 8"/>
          <p:cNvSpPr/>
          <p:nvPr/>
        </p:nvSpPr>
        <p:spPr>
          <a:xfrm>
            <a:off x="731520" y="4151376"/>
            <a:ext cx="118872" cy="118872"/>
          </a:xfrm>
          <a:prstGeom prst="ellipse">
            <a:avLst/>
          </a:prstGeom>
          <a:solidFill>
            <a:srgbClr val="FF5F57"/>
          </a:solidFill>
          <a:ln w="12700">
            <a:solidFill>
              <a:srgbClr val="FF5F57"/>
            </a:solidFill>
            <a:prstDash val="solid"/>
          </a:ln>
        </p:spPr>
      </p:sp>
      <p:sp>
        <p:nvSpPr>
          <p:cNvPr id="12" name="Shape 9"/>
          <p:cNvSpPr/>
          <p:nvPr/>
        </p:nvSpPr>
        <p:spPr>
          <a:xfrm>
            <a:off x="960120" y="4151376"/>
            <a:ext cx="118872" cy="118872"/>
          </a:xfrm>
          <a:prstGeom prst="ellipse">
            <a:avLst/>
          </a:prstGeom>
          <a:solidFill>
            <a:srgbClr val="FEBC2E"/>
          </a:solidFill>
          <a:ln w="12700">
            <a:solidFill>
              <a:srgbClr val="FEBC2E"/>
            </a:solidFill>
            <a:prstDash val="solid"/>
          </a:ln>
        </p:spPr>
      </p:sp>
      <p:sp>
        <p:nvSpPr>
          <p:cNvPr id="13" name="Shape 10"/>
          <p:cNvSpPr/>
          <p:nvPr/>
        </p:nvSpPr>
        <p:spPr>
          <a:xfrm>
            <a:off x="1188720" y="415137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1463040" y="4096512"/>
            <a:ext cx="50749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int.Parse("abc") without validation</a:t>
            </a:r>
            <a:endParaRPr lang="en-US" sz="1000" dirty="0"/>
          </a:p>
        </p:txBody>
      </p:sp>
      <p:sp>
        <p:nvSpPr>
          <p:cNvPr id="15" name="Text 12"/>
          <p:cNvSpPr txBox="1"/>
          <p:nvPr/>
        </p:nvSpPr>
        <p:spPr>
          <a:xfrm>
            <a:off x="777240" y="4407408"/>
            <a:ext cx="5715000" cy="64008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Unhandled exception. System.FormatException: The input string 'abc' was not in a correct format.</a:t>
            </a:r>
            <a:endParaRPr lang="en-US" sz="1200" dirty="0"/>
          </a:p>
        </p:txBody>
      </p:sp>
      <p:sp>
        <p:nvSpPr>
          <p:cNvPr id="16" name="Text 13"/>
          <p:cNvSpPr txBox="1"/>
          <p:nvPr/>
        </p:nvSpPr>
        <p:spPr>
          <a:xfrm>
            <a:off x="548640" y="5303520"/>
            <a:ext cx="6172200" cy="822960"/>
          </a:xfrm>
          <a:prstGeom prst="rect">
            <a:avLst/>
          </a:prstGeom>
          <a:noFill/>
          <a:ln/>
        </p:spPr>
        <p:txBody>
          <a:bodyPr wrap="square" lIns="0" tIns="0" rIns="0" bIns="0" rtlCol="0" anchor="t"/>
          <a:lstStyle/>
          <a:p>
            <a:pPr indent="0" marL="0">
              <a:buNone/>
            </a:pPr>
            <a:r>
              <a:rPr lang="en-US" sz="1500" b="1" dirty="0">
                <a:solidFill>
                  <a:srgbClr val="333B4F"/>
                </a:solidFill>
                <a:latin typeface="Courier New" pitchFamily="34" charset="0"/>
                <a:ea typeface="Courier New" pitchFamily="34" charset="-122"/>
                <a:cs typeface="Courier New" pitchFamily="34" charset="-120"/>
              </a:rPr>
              <a:t>out int n</a:t>
            </a:r>
            <a:pPr indent="0" marL="0">
              <a:buNone/>
            </a:pPr>
            <a:r>
              <a:rPr lang="en-US" sz="1500" dirty="0">
                <a:solidFill>
                  <a:srgbClr val="333B4F"/>
                </a:solidFill>
                <a:latin typeface="Calibri" pitchFamily="34" charset="0"/>
                <a:ea typeface="Calibri" pitchFamily="34" charset="-122"/>
                <a:cs typeface="Calibri" pitchFamily="34" charset="-120"/>
              </a:rPr>
              <a:t>: TryParse writes the number into </a:t>
            </a:r>
            <a:pPr indent="0" marL="0">
              <a:buNone/>
            </a:pPr>
            <a:r>
              <a:rPr lang="en-US" sz="1500" dirty="0">
                <a:solidFill>
                  <a:srgbClr val="333B4F"/>
                </a:solidFill>
                <a:latin typeface="Courier New" pitchFamily="34" charset="0"/>
                <a:ea typeface="Courier New" pitchFamily="34" charset="-122"/>
                <a:cs typeface="Courier New" pitchFamily="34" charset="-120"/>
              </a:rPr>
              <a:t>n</a:t>
            </a:r>
            <a:pPr indent="0" marL="0">
              <a:buNone/>
            </a:pPr>
            <a:r>
              <a:rPr lang="en-US" sz="1500" dirty="0">
                <a:solidFill>
                  <a:srgbClr val="333B4F"/>
                </a:solidFill>
                <a:latin typeface="Calibri" pitchFamily="34" charset="0"/>
                <a:ea typeface="Calibri" pitchFamily="34" charset="-122"/>
                <a:cs typeface="Calibri" pitchFamily="34" charset="-120"/>
              </a:rPr>
              <a:t> and returns true / false.</a:t>
            </a:r>
            <a:endParaRPr lang="en-US" sz="15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6903720" y="1600200"/>
          <a:ext cx="4754880" cy="914400"/>
        </p:xfrm>
        <a:graphic>
          <a:graphicData uri="http://schemas.openxmlformats.org/drawingml/2006/table">
            <a:tbl>
              <a:tblPr/>
              <a:tblGrid>
                <a:gridCol w="2971800"/>
                <a:gridCol w="868680"/>
                <a:gridCol w="914400"/>
              </a:tblGrid>
              <a:tr h="37490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Call</a:t>
                      </a:r>
                      <a:endParaRPr lang="en-US" sz="12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Returns</a:t>
                      </a:r>
                      <a:endParaRPr lang="en-US" sz="12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74904">
                <a:tc>
                  <a:txBody>
                    <a:bodyPr/>
                    <a:lstStyle/>
                    <a:p>
                      <a:pPr algn="l" indent="0" marL="0">
                        <a:buNone/>
                      </a:pPr>
                      <a:r>
                        <a:rPr lang="en-US" sz="1200" dirty="0">
                          <a:solidFill>
                            <a:srgbClr val="14213D"/>
                          </a:solidFill>
                          <a:latin typeface="Courier New" pitchFamily="34" charset="0"/>
                          <a:ea typeface="Courier New" pitchFamily="34" charset="-122"/>
                          <a:cs typeface="Courier New" pitchFamily="34" charset="-120"/>
                        </a:rPr>
                        <a:t>int.TryParse("42", …)</a:t>
                      </a:r>
                      <a:endParaRPr lang="en-US" sz="12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213D"/>
                          </a:solidFill>
                          <a:latin typeface="Courier New" pitchFamily="34" charset="0"/>
                          <a:ea typeface="Courier New" pitchFamily="34" charset="-122"/>
                          <a:cs typeface="Courier New" pitchFamily="34" charset="-120"/>
                        </a:rPr>
                        <a:t>true</a:t>
                      </a:r>
                      <a:endParaRPr lang="en-US" sz="12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213D"/>
                          </a:solidFill>
                          <a:latin typeface="Courier New" pitchFamily="34" charset="0"/>
                          <a:ea typeface="Courier New" pitchFamily="34" charset="-122"/>
                          <a:cs typeface="Courier New" pitchFamily="34" charset="-120"/>
                        </a:rPr>
                        <a:t>42</a:t>
                      </a:r>
                      <a:endParaRPr lang="en-US" sz="12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74904">
                <a:tc>
                  <a:txBody>
                    <a:bodyPr/>
                    <a:lstStyle/>
                    <a:p>
                      <a:pPr algn="l" indent="0" marL="0">
                        <a:buNone/>
                      </a:pPr>
                      <a:r>
                        <a:rPr lang="en-US" sz="1200" dirty="0">
                          <a:solidFill>
                            <a:srgbClr val="14213D"/>
                          </a:solidFill>
                          <a:latin typeface="Courier New" pitchFamily="34" charset="0"/>
                          <a:ea typeface="Courier New" pitchFamily="34" charset="-122"/>
                          <a:cs typeface="Courier New" pitchFamily="34" charset="-120"/>
                        </a:rPr>
                        <a:t>int.TryParse(" 42 ", …)</a:t>
                      </a:r>
                      <a:endParaRPr lang="en-US" sz="12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200" dirty="0">
                          <a:solidFill>
                            <a:srgbClr val="14213D"/>
                          </a:solidFill>
                          <a:latin typeface="Courier New" pitchFamily="34" charset="0"/>
                          <a:ea typeface="Courier New" pitchFamily="34" charset="-122"/>
                          <a:cs typeface="Courier New" pitchFamily="34" charset="-120"/>
                        </a:rPr>
                        <a:t>true</a:t>
                      </a:r>
                      <a:endParaRPr lang="en-US" sz="12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200" dirty="0">
                          <a:solidFill>
                            <a:srgbClr val="14213D"/>
                          </a:solidFill>
                          <a:latin typeface="Courier New" pitchFamily="34" charset="0"/>
                          <a:ea typeface="Courier New" pitchFamily="34" charset="-122"/>
                          <a:cs typeface="Courier New" pitchFamily="34" charset="-120"/>
                        </a:rPr>
                        <a:t>42</a:t>
                      </a:r>
                      <a:endParaRPr lang="en-US" sz="12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74904">
                <a:tc>
                  <a:txBody>
                    <a:bodyPr/>
                    <a:lstStyle/>
                    <a:p>
                      <a:pPr algn="l" indent="0" marL="0">
                        <a:buNone/>
                      </a:pPr>
                      <a:r>
                        <a:rPr lang="en-US" sz="1200" dirty="0">
                          <a:solidFill>
                            <a:srgbClr val="14213D"/>
                          </a:solidFill>
                          <a:latin typeface="Courier New" pitchFamily="34" charset="0"/>
                          <a:ea typeface="Courier New" pitchFamily="34" charset="-122"/>
                          <a:cs typeface="Courier New" pitchFamily="34" charset="-120"/>
                        </a:rPr>
                        <a:t>int.TryParse("+7", …)</a:t>
                      </a:r>
                      <a:endParaRPr lang="en-US" sz="12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213D"/>
                          </a:solidFill>
                          <a:latin typeface="Courier New" pitchFamily="34" charset="0"/>
                          <a:ea typeface="Courier New" pitchFamily="34" charset="-122"/>
                          <a:cs typeface="Courier New" pitchFamily="34" charset="-120"/>
                        </a:rPr>
                        <a:t>true</a:t>
                      </a:r>
                      <a:endParaRPr lang="en-US" sz="12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213D"/>
                          </a:solidFill>
                          <a:latin typeface="Courier New" pitchFamily="34" charset="0"/>
                          <a:ea typeface="Courier New" pitchFamily="34" charset="-122"/>
                          <a:cs typeface="Courier New" pitchFamily="34" charset="-120"/>
                        </a:rPr>
                        <a:t>7</a:t>
                      </a:r>
                      <a:endParaRPr lang="en-US" sz="12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74904">
                <a:tc>
                  <a:txBody>
                    <a:bodyPr/>
                    <a:lstStyle/>
                    <a:p>
                      <a:pPr algn="l" indent="0" marL="0">
                        <a:buNone/>
                      </a:pPr>
                      <a:r>
                        <a:rPr lang="en-US" sz="1200" dirty="0">
                          <a:solidFill>
                            <a:srgbClr val="14213D"/>
                          </a:solidFill>
                          <a:latin typeface="Courier New" pitchFamily="34" charset="0"/>
                          <a:ea typeface="Courier New" pitchFamily="34" charset="-122"/>
                          <a:cs typeface="Courier New" pitchFamily="34" charset="-120"/>
                        </a:rPr>
                        <a:t>int.TryParse("3.5", …)</a:t>
                      </a:r>
                      <a:endParaRPr lang="en-US" sz="12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200" dirty="0">
                          <a:solidFill>
                            <a:srgbClr val="14213D"/>
                          </a:solidFill>
                          <a:latin typeface="Courier New" pitchFamily="34" charset="0"/>
                          <a:ea typeface="Courier New" pitchFamily="34" charset="-122"/>
                          <a:cs typeface="Courier New" pitchFamily="34" charset="-120"/>
                        </a:rPr>
                        <a:t>false</a:t>
                      </a:r>
                      <a:endParaRPr lang="en-US" sz="12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200" dirty="0">
                          <a:solidFill>
                            <a:srgbClr val="14213D"/>
                          </a:solidFill>
                          <a:latin typeface="Courier New" pitchFamily="34" charset="0"/>
                          <a:ea typeface="Courier New" pitchFamily="34" charset="-122"/>
                          <a:cs typeface="Courier New" pitchFamily="34" charset="-120"/>
                        </a:rPr>
                        <a:t>0</a:t>
                      </a:r>
                      <a:endParaRPr lang="en-US" sz="12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74904">
                <a:tc>
                  <a:txBody>
                    <a:bodyPr/>
                    <a:lstStyle/>
                    <a:p>
                      <a:pPr algn="l" indent="0" marL="0">
                        <a:buNone/>
                      </a:pPr>
                      <a:r>
                        <a:rPr lang="en-US" sz="1200" dirty="0">
                          <a:solidFill>
                            <a:srgbClr val="14213D"/>
                          </a:solidFill>
                          <a:latin typeface="Courier New" pitchFamily="34" charset="0"/>
                          <a:ea typeface="Courier New" pitchFamily="34" charset="-122"/>
                          <a:cs typeface="Courier New" pitchFamily="34" charset="-120"/>
                        </a:rPr>
                        <a:t>int.TryParse("", …)</a:t>
                      </a:r>
                      <a:endParaRPr lang="en-US" sz="12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213D"/>
                          </a:solidFill>
                          <a:latin typeface="Courier New" pitchFamily="34" charset="0"/>
                          <a:ea typeface="Courier New" pitchFamily="34" charset="-122"/>
                          <a:cs typeface="Courier New" pitchFamily="34" charset="-120"/>
                        </a:rPr>
                        <a:t>false</a:t>
                      </a:r>
                      <a:endParaRPr lang="en-US" sz="12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213D"/>
                          </a:solidFill>
                          <a:latin typeface="Courier New" pitchFamily="34" charset="0"/>
                          <a:ea typeface="Courier New" pitchFamily="34" charset="-122"/>
                          <a:cs typeface="Courier New" pitchFamily="34" charset="-120"/>
                        </a:rPr>
                        <a:t>0</a:t>
                      </a:r>
                      <a:endParaRPr lang="en-US" sz="12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74904">
                <a:tc>
                  <a:txBody>
                    <a:bodyPr/>
                    <a:lstStyle/>
                    <a:p>
                      <a:pPr algn="l" indent="0" marL="0">
                        <a:buNone/>
                      </a:pPr>
                      <a:r>
                        <a:rPr lang="en-US" sz="1200" dirty="0">
                          <a:solidFill>
                            <a:srgbClr val="14213D"/>
                          </a:solidFill>
                          <a:latin typeface="Courier New" pitchFamily="34" charset="0"/>
                          <a:ea typeface="Courier New" pitchFamily="34" charset="-122"/>
                          <a:cs typeface="Courier New" pitchFamily="34" charset="-120"/>
                        </a:rPr>
                        <a:t>int.TryParse("99999999999", …)</a:t>
                      </a:r>
                      <a:endParaRPr lang="en-US" sz="12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200" dirty="0">
                          <a:solidFill>
                            <a:srgbClr val="14213D"/>
                          </a:solidFill>
                          <a:latin typeface="Courier New" pitchFamily="34" charset="0"/>
                          <a:ea typeface="Courier New" pitchFamily="34" charset="-122"/>
                          <a:cs typeface="Courier New" pitchFamily="34" charset="-120"/>
                        </a:rPr>
                        <a:t>false</a:t>
                      </a:r>
                      <a:endParaRPr lang="en-US" sz="12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200" dirty="0">
                          <a:solidFill>
                            <a:srgbClr val="14213D"/>
                          </a:solidFill>
                          <a:latin typeface="Courier New" pitchFamily="34" charset="0"/>
                          <a:ea typeface="Courier New" pitchFamily="34" charset="-122"/>
                          <a:cs typeface="Courier New" pitchFamily="34" charset="-120"/>
                        </a:rPr>
                        <a:t>0</a:t>
                      </a:r>
                      <a:endParaRPr lang="en-US" sz="12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74904">
                <a:tc>
                  <a:txBody>
                    <a:bodyPr/>
                    <a:lstStyle/>
                    <a:p>
                      <a:pPr algn="l" indent="0" marL="0">
                        <a:buNone/>
                      </a:pPr>
                      <a:r>
                        <a:rPr lang="en-US" sz="1200" b="1" dirty="0">
                          <a:solidFill>
                            <a:srgbClr val="C8453B"/>
                          </a:solidFill>
                          <a:latin typeface="Courier New" pitchFamily="34" charset="0"/>
                          <a:ea typeface="Courier New" pitchFamily="34" charset="-122"/>
                          <a:cs typeface="Courier New" pitchFamily="34" charset="-120"/>
                        </a:rPr>
                        <a:t>double.TryParse("72,5", …)</a:t>
                      </a:r>
                      <a:endParaRPr lang="en-US" sz="12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C8453B"/>
                          </a:solidFill>
                          <a:latin typeface="Courier New" pitchFamily="34" charset="0"/>
                          <a:ea typeface="Courier New" pitchFamily="34" charset="-122"/>
                          <a:cs typeface="Courier New" pitchFamily="34" charset="-120"/>
                        </a:rPr>
                        <a:t>true</a:t>
                      </a:r>
                      <a:endParaRPr lang="en-US" sz="12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C8453B"/>
                          </a:solidFill>
                          <a:latin typeface="Courier New" pitchFamily="34" charset="0"/>
                          <a:ea typeface="Courier New" pitchFamily="34" charset="-122"/>
                          <a:cs typeface="Courier New" pitchFamily="34" charset="-120"/>
                        </a:rPr>
                        <a:t>725 (!)</a:t>
                      </a:r>
                      <a:endParaRPr lang="en-US" sz="12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74904">
                <a:tc>
                  <a:txBody>
                    <a:bodyPr/>
                    <a:lstStyle/>
                    <a:p>
                      <a:pPr algn="l" indent="0" marL="0">
                        <a:buNone/>
                      </a:pPr>
                      <a:r>
                        <a:rPr lang="en-US" sz="1200" dirty="0">
                          <a:solidFill>
                            <a:srgbClr val="14213D"/>
                          </a:solidFill>
                          <a:latin typeface="Courier New" pitchFamily="34" charset="0"/>
                          <a:ea typeface="Courier New" pitchFamily="34" charset="-122"/>
                          <a:cs typeface="Courier New" pitchFamily="34" charset="-120"/>
                        </a:rPr>
                        <a:t>double.TryParse("NaN", …)</a:t>
                      </a:r>
                      <a:endParaRPr lang="en-US" sz="12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200" dirty="0">
                          <a:solidFill>
                            <a:srgbClr val="14213D"/>
                          </a:solidFill>
                          <a:latin typeface="Courier New" pitchFamily="34" charset="0"/>
                          <a:ea typeface="Courier New" pitchFamily="34" charset="-122"/>
                          <a:cs typeface="Courier New" pitchFamily="34" charset="-120"/>
                        </a:rPr>
                        <a:t>true</a:t>
                      </a:r>
                      <a:endParaRPr lang="en-US" sz="12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200" dirty="0">
                          <a:solidFill>
                            <a:srgbClr val="14213D"/>
                          </a:solidFill>
                          <a:latin typeface="Courier New" pitchFamily="34" charset="0"/>
                          <a:ea typeface="Courier New" pitchFamily="34" charset="-122"/>
                          <a:cs typeface="Courier New" pitchFamily="34" charset="-120"/>
                        </a:rPr>
                        <a:t>NaN</a:t>
                      </a:r>
                      <a:endParaRPr lang="en-US" sz="12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18" name="Text 14"/>
          <p:cNvSpPr txBox="1"/>
          <p:nvPr/>
        </p:nvSpPr>
        <p:spPr>
          <a:xfrm>
            <a:off x="6903720" y="5120640"/>
            <a:ext cx="4754880" cy="1005840"/>
          </a:xfrm>
          <a:prstGeom prst="rect">
            <a:avLst/>
          </a:prstGeom>
          <a:noFill/>
          <a:ln/>
        </p:spPr>
        <p:txBody>
          <a:bodyPr wrap="square" lIns="0" tIns="0" rIns="0" bIns="0" rtlCol="0" anchor="t"/>
          <a:lstStyle/>
          <a:p>
            <a:pPr indent="0" marL="0">
              <a:buNone/>
            </a:pPr>
            <a:r>
              <a:rPr lang="en-US" sz="1400" i="1" dirty="0">
                <a:solidFill>
                  <a:srgbClr val="C8453B"/>
                </a:solidFill>
                <a:latin typeface="Calibri" pitchFamily="34" charset="0"/>
                <a:ea typeface="Calibri" pitchFamily="34" charset="-122"/>
                <a:cs typeface="Calibri" pitchFamily="34" charset="-120"/>
              </a:rPr>
              <a:t>With the invariant culture the comma is a thousands separator: a range check must catch it.</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1 · 05_01_PASSFAIL</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Pass or Fail — with Validation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31</a:t>
            </a:r>
            <a:endParaRPr lang="en-US" sz="1000" dirty="0"/>
          </a:p>
        </p:txBody>
      </p:sp>
      <p:sp>
        <p:nvSpPr>
          <p:cNvPr id="7" name="Shape 4"/>
          <p:cNvSpPr/>
          <p:nvPr/>
        </p:nvSpPr>
        <p:spPr>
          <a:xfrm>
            <a:off x="548640" y="1600200"/>
            <a:ext cx="6400800" cy="4526280"/>
          </a:xfrm>
          <a:prstGeom prst="roundRect">
            <a:avLst>
              <a:gd name="adj" fmla="val 2020"/>
            </a:avLst>
          </a:prstGeom>
          <a:solidFill>
            <a:srgbClr val="0F1729"/>
          </a:solidFill>
          <a:ln w="12700">
            <a:solidFill>
              <a:srgbClr val="0F1729"/>
            </a:solidFill>
            <a:prstDash val="solid"/>
          </a:ln>
        </p:spPr>
      </p:sp>
      <p:sp>
        <p:nvSpPr>
          <p:cNvPr id="8" name="Text 5"/>
          <p:cNvSpPr txBox="1"/>
          <p:nvPr/>
        </p:nvSpPr>
        <p:spPr>
          <a:xfrm>
            <a:off x="777240" y="1709928"/>
            <a:ext cx="59436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(excerpt)</a:t>
            </a:r>
            <a:endParaRPr lang="en-US" sz="1100" dirty="0"/>
          </a:p>
        </p:txBody>
      </p:sp>
      <p:sp>
        <p:nvSpPr>
          <p:cNvPr id="9" name="Text 6"/>
          <p:cNvSpPr txBox="1"/>
          <p:nvPr/>
        </p:nvSpPr>
        <p:spPr>
          <a:xfrm>
            <a:off x="777240" y="2011680"/>
            <a:ext cx="5943600" cy="4023360"/>
          </a:xfrm>
          <a:prstGeom prst="rect">
            <a:avLst/>
          </a:prstGeom>
          <a:noFill/>
          <a:ln/>
        </p:spPr>
        <p:txBody>
          <a:bodyPr wrap="square" lIns="0" tIns="0" rIns="0" bIns="0" rtlCol="0" anchor="t"/>
          <a:lstStyle/>
          <a:p>
            <a:pPr indent="0" marL="0">
              <a:lnSpc>
                <a:spcPts val="1300"/>
              </a:lnSpc>
              <a:buNone/>
            </a:pPr>
            <a:r>
              <a:rPr lang="en-US" sz="1200" dirty="0">
                <a:solidFill>
                  <a:srgbClr val="7F8BA3"/>
                </a:solidFill>
                <a:latin typeface="Courier New" pitchFamily="34" charset="0"/>
                <a:ea typeface="Courier New" pitchFamily="34" charset="-122"/>
                <a:cs typeface="Courier New" pitchFamily="34" charset="-120"/>
              </a:rPr>
              <a:t>// Each test runs only if all the tests above it were false.</a:t>
            </a:r>
            <a:endParaRPr lang="en-US" sz="1200" dirty="0"/>
          </a:p>
          <a:p>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if</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int</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.TryParse(input,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out</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int</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score))</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"Error: please enter a whole number."</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else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if</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(score &lt;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0</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 score &gt;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100</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"Error: the score must be 0-100."</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else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if</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(score &gt;= PassMark)</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$"Score {score}: PASS"</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else</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$"Score {score}: FAIL"</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7178040" y="1600200"/>
            <a:ext cx="4480560" cy="2971800"/>
          </a:xfrm>
          <a:prstGeom prst="roundRect">
            <a:avLst>
              <a:gd name="adj" fmla="val 3077"/>
            </a:avLst>
          </a:prstGeom>
          <a:solidFill>
            <a:srgbClr val="0B0F19"/>
          </a:solidFill>
          <a:ln w="12700">
            <a:solidFill>
              <a:srgbClr val="2A3654"/>
            </a:solidFill>
            <a:prstDash val="solid"/>
          </a:ln>
        </p:spPr>
      </p:sp>
      <p:sp>
        <p:nvSpPr>
          <p:cNvPr id="11" name="Shape 8"/>
          <p:cNvSpPr/>
          <p:nvPr/>
        </p:nvSpPr>
        <p:spPr>
          <a:xfrm>
            <a:off x="7360920" y="1728216"/>
            <a:ext cx="118872" cy="118872"/>
          </a:xfrm>
          <a:prstGeom prst="ellipse">
            <a:avLst/>
          </a:prstGeom>
          <a:solidFill>
            <a:srgbClr val="FF5F57"/>
          </a:solidFill>
          <a:ln w="12700">
            <a:solidFill>
              <a:srgbClr val="FF5F57"/>
            </a:solidFill>
            <a:prstDash val="solid"/>
          </a:ln>
        </p:spPr>
      </p:sp>
      <p:sp>
        <p:nvSpPr>
          <p:cNvPr id="12" name="Shape 9"/>
          <p:cNvSpPr/>
          <p:nvPr/>
        </p:nvSpPr>
        <p:spPr>
          <a:xfrm>
            <a:off x="7589520" y="1728216"/>
            <a:ext cx="118872" cy="118872"/>
          </a:xfrm>
          <a:prstGeom prst="ellipse">
            <a:avLst/>
          </a:prstGeom>
          <a:solidFill>
            <a:srgbClr val="FEBC2E"/>
          </a:solidFill>
          <a:ln w="12700">
            <a:solidFill>
              <a:srgbClr val="FEBC2E"/>
            </a:solidFill>
            <a:prstDash val="solid"/>
          </a:ln>
        </p:spPr>
      </p:sp>
      <p:sp>
        <p:nvSpPr>
          <p:cNvPr id="13" name="Shape 10"/>
          <p:cNvSpPr/>
          <p:nvPr/>
        </p:nvSpPr>
        <p:spPr>
          <a:xfrm>
            <a:off x="7818120" y="172821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8092440" y="1673352"/>
            <a:ext cx="33832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406640" y="1984248"/>
            <a:ext cx="4023360" cy="246888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Enter the exam score (0-100):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abc</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Error: please enter a whole number.</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Enter the exam score (0-100):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101</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Error: the score must be 0-100.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Enter the exam score (0-100):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60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Score 60: PASS</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Enter the exam score (0-100):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59</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Score 59: FAIL</a:t>
            </a:r>
            <a:endParaRPr lang="en-US" sz="1200" dirty="0"/>
          </a:p>
        </p:txBody>
      </p:sp>
      <p:sp>
        <p:nvSpPr>
          <p:cNvPr id="16" name="Shape 13"/>
          <p:cNvSpPr/>
          <p:nvPr/>
        </p:nvSpPr>
        <p:spPr>
          <a:xfrm>
            <a:off x="7178040" y="4709160"/>
            <a:ext cx="4480560" cy="1417320"/>
          </a:xfrm>
          <a:prstGeom prst="roundRect">
            <a:avLst>
              <a:gd name="adj" fmla="val 7742"/>
            </a:avLst>
          </a:prstGeom>
          <a:solidFill>
            <a:srgbClr val="EEF1F6"/>
          </a:solidFill>
          <a:ln w="12700">
            <a:solidFill>
              <a:srgbClr val="EEF1F6"/>
            </a:solidFill>
            <a:prstDash val="solid"/>
          </a:ln>
        </p:spPr>
      </p:sp>
      <p:sp>
        <p:nvSpPr>
          <p:cNvPr id="17" name="Text 14"/>
          <p:cNvSpPr txBox="1"/>
          <p:nvPr/>
        </p:nvSpPr>
        <p:spPr>
          <a:xfrm>
            <a:off x="7406640" y="4800600"/>
            <a:ext cx="4114800" cy="128016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Order of the checks</a:t>
            </a:r>
            <a:endParaRPr lang="en-US" sz="1400" dirty="0"/>
          </a:p>
          <a:p>
            <a:pPr indent="0" marL="0">
              <a:buNone/>
            </a:pPr>
            <a:r>
              <a:rPr lang="en-US" sz="1400" dirty="0">
                <a:solidFill>
                  <a:srgbClr val="333B4F"/>
                </a:solidFill>
                <a:latin typeface="Calibri" pitchFamily="34" charset="0"/>
                <a:ea typeface="Calibri" pitchFamily="34" charset="-122"/>
                <a:cs typeface="Calibri" pitchFamily="34" charset="-120"/>
              </a:rPr>
              <a:t>1  Is it a whole number?</a:t>
            </a:r>
            <a:endParaRPr lang="en-US" sz="1400" dirty="0"/>
          </a:p>
          <a:p>
            <a:pPr indent="0" marL="0">
              <a:buNone/>
            </a:pPr>
            <a:r>
              <a:rPr lang="en-US" sz="1400" dirty="0">
                <a:solidFill>
                  <a:srgbClr val="333B4F"/>
                </a:solidFill>
                <a:latin typeface="Calibri" pitchFamily="34" charset="0"/>
                <a:ea typeface="Calibri" pitchFamily="34" charset="-122"/>
                <a:cs typeface="Calibri" pitchFamily="34" charset="-120"/>
              </a:rPr>
              <a:t>2  Is it in the range 0–100?</a:t>
            </a:r>
            <a:endParaRPr lang="en-US" sz="1400" dirty="0"/>
          </a:p>
          <a:p>
            <a:pPr indent="0" marL="0">
              <a:buNone/>
            </a:pPr>
            <a:r>
              <a:rPr lang="en-US" sz="1400" dirty="0">
                <a:solidFill>
                  <a:srgbClr val="333B4F"/>
                </a:solidFill>
                <a:latin typeface="Calibri" pitchFamily="34" charset="0"/>
                <a:ea typeface="Calibri" pitchFamily="34" charset="-122"/>
                <a:cs typeface="Calibri" pitchFamily="34" charset="-120"/>
              </a:rPr>
              <a:t>3  Pass or fail?</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11 · 05_11_ATMWITHDRAWAL</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ATM Withdrawal: the Order of the Rules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32</a:t>
            </a:r>
            <a:endParaRPr lang="en-US" sz="1000" dirty="0"/>
          </a:p>
        </p:txBody>
      </p:sp>
      <p:sp>
        <p:nvSpPr>
          <p:cNvPr id="7" name="Shape 4"/>
          <p:cNvSpPr/>
          <p:nvPr/>
        </p:nvSpPr>
        <p:spPr>
          <a:xfrm>
            <a:off x="548640" y="1600200"/>
            <a:ext cx="6400800" cy="4526280"/>
          </a:xfrm>
          <a:prstGeom prst="roundRect">
            <a:avLst>
              <a:gd name="adj" fmla="val 2020"/>
            </a:avLst>
          </a:prstGeom>
          <a:solidFill>
            <a:srgbClr val="0F1729"/>
          </a:solidFill>
          <a:ln w="12700">
            <a:solidFill>
              <a:srgbClr val="0F1729"/>
            </a:solidFill>
            <a:prstDash val="solid"/>
          </a:ln>
        </p:spPr>
      </p:sp>
      <p:sp>
        <p:nvSpPr>
          <p:cNvPr id="8" name="Text 5"/>
          <p:cNvSpPr txBox="1"/>
          <p:nvPr/>
        </p:nvSpPr>
        <p:spPr>
          <a:xfrm>
            <a:off x="777240" y="1709928"/>
            <a:ext cx="59436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(excerpt)</a:t>
            </a:r>
            <a:endParaRPr lang="en-US" sz="1100" dirty="0"/>
          </a:p>
        </p:txBody>
      </p:sp>
      <p:sp>
        <p:nvSpPr>
          <p:cNvPr id="9" name="Text 6"/>
          <p:cNvSpPr txBox="1"/>
          <p:nvPr/>
        </p:nvSpPr>
        <p:spPr>
          <a:xfrm>
            <a:off x="777240" y="2011680"/>
            <a:ext cx="5943600" cy="4023360"/>
          </a:xfrm>
          <a:prstGeom prst="rect">
            <a:avLst/>
          </a:prstGeom>
          <a:noFill/>
          <a:ln/>
        </p:spPr>
        <p:txBody>
          <a:bodyPr wrap="square" lIns="0" tIns="0" rIns="0" bIns="0" rtlCol="0" anchor="t"/>
          <a:lstStyle/>
          <a:p>
            <a:pPr indent="0" marL="0">
              <a:lnSpc>
                <a:spcPts val="1400"/>
              </a:lnSpc>
              <a:buNone/>
            </a:pPr>
            <a:r>
              <a:rPr lang="en-US" sz="1200" dirty="0">
                <a:solidFill>
                  <a:srgbClr val="7AB8FF"/>
                </a:solidFill>
                <a:latin typeface="Courier New" pitchFamily="34" charset="0"/>
                <a:ea typeface="Courier New" pitchFamily="34" charset="-122"/>
                <a:cs typeface="Courier New" pitchFamily="34" charset="-120"/>
              </a:rPr>
              <a:t>if</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(amount &lt;= </a:t>
            </a:r>
            <a:pPr indent="0" marL="0">
              <a:lnSpc>
                <a:spcPts val="1400"/>
              </a:lnSpc>
              <a:buNone/>
            </a:pPr>
            <a:r>
              <a:rPr lang="en-US" sz="1200" dirty="0">
                <a:solidFill>
                  <a:srgbClr val="B5CEA8"/>
                </a:solidFill>
                <a:latin typeface="Courier New" pitchFamily="34" charset="0"/>
                <a:ea typeface="Courier New" pitchFamily="34" charset="-122"/>
                <a:cs typeface="Courier New" pitchFamily="34" charset="-120"/>
              </a:rPr>
              <a:t>0</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400"/>
              </a:lnSpc>
              <a:buNone/>
            </a:pPr>
            <a:r>
              <a:rPr lang="en-US" sz="1200" dirty="0">
                <a:solidFill>
                  <a:srgbClr val="CE9178"/>
                </a:solidFill>
                <a:latin typeface="Courier New" pitchFamily="34" charset="0"/>
                <a:ea typeface="Courier New" pitchFamily="34" charset="-122"/>
                <a:cs typeface="Courier New" pitchFamily="34" charset="-120"/>
              </a:rPr>
              <a:t>"Refused: amount must be positive."</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7AB8FF"/>
                </a:solidFill>
                <a:latin typeface="Courier New" pitchFamily="34" charset="0"/>
                <a:ea typeface="Courier New" pitchFamily="34" charset="-122"/>
                <a:cs typeface="Courier New" pitchFamily="34" charset="-120"/>
              </a:rPr>
              <a:t>else</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200" dirty="0">
                <a:solidFill>
                  <a:srgbClr val="7AB8FF"/>
                </a:solidFill>
                <a:latin typeface="Courier New" pitchFamily="34" charset="0"/>
                <a:ea typeface="Courier New" pitchFamily="34" charset="-122"/>
                <a:cs typeface="Courier New" pitchFamily="34" charset="-120"/>
              </a:rPr>
              <a:t>if</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(amount % </a:t>
            </a:r>
            <a:pPr indent="0" marL="0">
              <a:lnSpc>
                <a:spcPts val="1400"/>
              </a:lnSpc>
              <a:buNone/>
            </a:pPr>
            <a:r>
              <a:rPr lang="en-US" sz="1200" dirty="0">
                <a:solidFill>
                  <a:srgbClr val="B5CEA8"/>
                </a:solidFill>
                <a:latin typeface="Courier New" pitchFamily="34" charset="0"/>
                <a:ea typeface="Courier New" pitchFamily="34" charset="-122"/>
                <a:cs typeface="Courier New" pitchFamily="34" charset="-120"/>
              </a:rPr>
              <a:t>10</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 </a:t>
            </a:r>
            <a:pPr indent="0" marL="0">
              <a:lnSpc>
                <a:spcPts val="1400"/>
              </a:lnSpc>
              <a:buNone/>
            </a:pPr>
            <a:r>
              <a:rPr lang="en-US" sz="1200" dirty="0">
                <a:solidFill>
                  <a:srgbClr val="B5CEA8"/>
                </a:solidFill>
                <a:latin typeface="Courier New" pitchFamily="34" charset="0"/>
                <a:ea typeface="Courier New" pitchFamily="34" charset="-122"/>
                <a:cs typeface="Courier New" pitchFamily="34" charset="-120"/>
              </a:rPr>
              <a:t>0</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400"/>
              </a:lnSpc>
              <a:buNone/>
            </a:pPr>
            <a:r>
              <a:rPr lang="en-US" sz="1200" dirty="0">
                <a:solidFill>
                  <a:srgbClr val="CE9178"/>
                </a:solidFill>
                <a:latin typeface="Courier New" pitchFamily="34" charset="0"/>
                <a:ea typeface="Courier New" pitchFamily="34" charset="-122"/>
                <a:cs typeface="Courier New" pitchFamily="34" charset="-120"/>
              </a:rPr>
              <a:t>"Refused: only multiples of 10 TL."</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7AB8FF"/>
                </a:solidFill>
                <a:latin typeface="Courier New" pitchFamily="34" charset="0"/>
                <a:ea typeface="Courier New" pitchFamily="34" charset="-122"/>
                <a:cs typeface="Courier New" pitchFamily="34" charset="-120"/>
              </a:rPr>
              <a:t>else</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200" dirty="0">
                <a:solidFill>
                  <a:srgbClr val="7AB8FF"/>
                </a:solidFill>
                <a:latin typeface="Courier New" pitchFamily="34" charset="0"/>
                <a:ea typeface="Courier New" pitchFamily="34" charset="-122"/>
                <a:cs typeface="Courier New" pitchFamily="34" charset="-120"/>
              </a:rPr>
              <a:t>if</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(amount &gt; balance)</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400"/>
              </a:lnSpc>
              <a:buNone/>
            </a:pPr>
            <a:r>
              <a:rPr lang="en-US" sz="1200" dirty="0">
                <a:solidFill>
                  <a:srgbClr val="CE9178"/>
                </a:solidFill>
                <a:latin typeface="Courier New" pitchFamily="34" charset="0"/>
                <a:ea typeface="Courier New" pitchFamily="34" charset="-122"/>
                <a:cs typeface="Courier New" pitchFamily="34" charset="-120"/>
              </a:rPr>
              <a:t>"Refused: insufficient funds."</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7AB8FF"/>
                </a:solidFill>
                <a:latin typeface="Courier New" pitchFamily="34" charset="0"/>
                <a:ea typeface="Courier New" pitchFamily="34" charset="-122"/>
                <a:cs typeface="Courier New" pitchFamily="34" charset="-120"/>
              </a:rPr>
              <a:t>else</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balance -= amount;</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400"/>
              </a:lnSpc>
              <a:buNone/>
            </a:pPr>
            <a:r>
              <a:rPr lang="en-US" sz="1200" dirty="0">
                <a:solidFill>
                  <a:srgbClr val="CE9178"/>
                </a:solidFill>
                <a:latin typeface="Courier New" pitchFamily="34" charset="0"/>
                <a:ea typeface="Courier New" pitchFamily="34" charset="-122"/>
                <a:cs typeface="Courier New" pitchFamily="34" charset="-120"/>
              </a:rPr>
              <a:t>$"Please take your {amount:F2} TL."</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400"/>
              </a:lnSpc>
              <a:buNone/>
            </a:pPr>
            <a:r>
              <a:rPr lang="en-US" sz="1200" dirty="0">
                <a:solidFill>
                  <a:srgbClr val="CE9178"/>
                </a:solidFill>
                <a:latin typeface="Courier New" pitchFamily="34" charset="0"/>
                <a:ea typeface="Courier New" pitchFamily="34" charset="-122"/>
                <a:cs typeface="Courier New" pitchFamily="34" charset="-120"/>
              </a:rPr>
              <a:t>$"New balance: {balance:F2} TL"</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7178040" y="1600200"/>
          <a:ext cx="4480560" cy="914400"/>
        </p:xfrm>
        <a:graphic>
          <a:graphicData uri="http://schemas.openxmlformats.org/drawingml/2006/table">
            <a:tbl>
              <a:tblPr/>
              <a:tblGrid>
                <a:gridCol w="868680"/>
                <a:gridCol w="868680"/>
                <a:gridCol w="2743200"/>
              </a:tblGrid>
              <a:tr h="38404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Balance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Amount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Result (real output)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8404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500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200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paid, new balance 300.00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500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500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paid, new balance 0.00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8404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500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510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insufficient funds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500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25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only multiples of 10 TL</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8404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500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amount must be positive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500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-10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amount must be positive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11" name="Shape 7"/>
          <p:cNvSpPr/>
          <p:nvPr/>
        </p:nvSpPr>
        <p:spPr>
          <a:xfrm>
            <a:off x="7178040" y="4526280"/>
            <a:ext cx="4480560" cy="1600200"/>
          </a:xfrm>
          <a:prstGeom prst="roundRect">
            <a:avLst>
              <a:gd name="adj" fmla="val 5714"/>
            </a:avLst>
          </a:prstGeom>
          <a:solidFill>
            <a:srgbClr val="0B0F19"/>
          </a:solidFill>
          <a:ln w="12700">
            <a:solidFill>
              <a:srgbClr val="2A3654"/>
            </a:solidFill>
            <a:prstDash val="solid"/>
          </a:ln>
        </p:spPr>
      </p:sp>
      <p:sp>
        <p:nvSpPr>
          <p:cNvPr id="12" name="Shape 8"/>
          <p:cNvSpPr/>
          <p:nvPr/>
        </p:nvSpPr>
        <p:spPr>
          <a:xfrm>
            <a:off x="7360920" y="4654296"/>
            <a:ext cx="118872" cy="118872"/>
          </a:xfrm>
          <a:prstGeom prst="ellipse">
            <a:avLst/>
          </a:prstGeom>
          <a:solidFill>
            <a:srgbClr val="FF5F57"/>
          </a:solidFill>
          <a:ln w="12700">
            <a:solidFill>
              <a:srgbClr val="FF5F57"/>
            </a:solidFill>
            <a:prstDash val="solid"/>
          </a:ln>
        </p:spPr>
      </p:sp>
      <p:sp>
        <p:nvSpPr>
          <p:cNvPr id="13" name="Shape 9"/>
          <p:cNvSpPr/>
          <p:nvPr/>
        </p:nvSpPr>
        <p:spPr>
          <a:xfrm>
            <a:off x="7589520" y="4654296"/>
            <a:ext cx="118872" cy="118872"/>
          </a:xfrm>
          <a:prstGeom prst="ellipse">
            <a:avLst/>
          </a:prstGeom>
          <a:solidFill>
            <a:srgbClr val="FEBC2E"/>
          </a:solidFill>
          <a:ln w="12700">
            <a:solidFill>
              <a:srgbClr val="FEBC2E"/>
            </a:solidFill>
            <a:prstDash val="solid"/>
          </a:ln>
        </p:spPr>
      </p:sp>
      <p:sp>
        <p:nvSpPr>
          <p:cNvPr id="14" name="Shape 10"/>
          <p:cNvSpPr/>
          <p:nvPr/>
        </p:nvSpPr>
        <p:spPr>
          <a:xfrm>
            <a:off x="7818120" y="4654296"/>
            <a:ext cx="118872" cy="118872"/>
          </a:xfrm>
          <a:prstGeom prst="ellipse">
            <a:avLst/>
          </a:prstGeom>
          <a:solidFill>
            <a:srgbClr val="28C840"/>
          </a:solidFill>
          <a:ln w="12700">
            <a:solidFill>
              <a:srgbClr val="28C840"/>
            </a:solidFill>
            <a:prstDash val="solid"/>
          </a:ln>
        </p:spPr>
      </p:sp>
      <p:sp>
        <p:nvSpPr>
          <p:cNvPr id="15" name="Text 11"/>
          <p:cNvSpPr txBox="1"/>
          <p:nvPr/>
        </p:nvSpPr>
        <p:spPr>
          <a:xfrm>
            <a:off x="8092440" y="4599432"/>
            <a:ext cx="33832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6" name="Text 12"/>
          <p:cNvSpPr txBox="1"/>
          <p:nvPr/>
        </p:nvSpPr>
        <p:spPr>
          <a:xfrm>
            <a:off x="7406640" y="4910328"/>
            <a:ext cx="4023360" cy="109728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Account balance (TL):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500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Amount to withdraw (TL):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200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Please take your 200.00 TL.</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New balance: 300.00 TL</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12 · 05_12_LOGINCHECK</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Login Check: Comparing Strings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33</a:t>
            </a:r>
            <a:endParaRPr lang="en-US" sz="1000" dirty="0"/>
          </a:p>
        </p:txBody>
      </p:sp>
      <p:sp>
        <p:nvSpPr>
          <p:cNvPr id="7" name="Shape 4"/>
          <p:cNvSpPr/>
          <p:nvPr/>
        </p:nvSpPr>
        <p:spPr>
          <a:xfrm>
            <a:off x="548640" y="1600200"/>
            <a:ext cx="6583680" cy="4526280"/>
          </a:xfrm>
          <a:prstGeom prst="roundRect">
            <a:avLst>
              <a:gd name="adj" fmla="val 2020"/>
            </a:avLst>
          </a:prstGeom>
          <a:solidFill>
            <a:srgbClr val="0F1729"/>
          </a:solidFill>
          <a:ln w="12700">
            <a:solidFill>
              <a:srgbClr val="0F1729"/>
            </a:solidFill>
            <a:prstDash val="solid"/>
          </a:ln>
        </p:spPr>
      </p:sp>
      <p:sp>
        <p:nvSpPr>
          <p:cNvPr id="8" name="Text 5"/>
          <p:cNvSpPr txBox="1"/>
          <p:nvPr/>
        </p:nvSpPr>
        <p:spPr>
          <a:xfrm>
            <a:off x="777240" y="1709928"/>
            <a:ext cx="61264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(excerpt)</a:t>
            </a:r>
            <a:endParaRPr lang="en-US" sz="1100" dirty="0"/>
          </a:p>
        </p:txBody>
      </p:sp>
      <p:sp>
        <p:nvSpPr>
          <p:cNvPr id="9" name="Text 6"/>
          <p:cNvSpPr txBox="1"/>
          <p:nvPr/>
        </p:nvSpPr>
        <p:spPr>
          <a:xfrm>
            <a:off x="777240" y="2011680"/>
            <a:ext cx="6126480" cy="4023360"/>
          </a:xfrm>
          <a:prstGeom prst="rect">
            <a:avLst/>
          </a:prstGeom>
          <a:noFill/>
          <a:ln/>
        </p:spPr>
        <p:txBody>
          <a:bodyPr wrap="square" lIns="0" tIns="0" rIns="0" bIns="0" rtlCol="0" anchor="t"/>
          <a:lstStyle/>
          <a:p>
            <a:pPr indent="0" marL="0">
              <a:lnSpc>
                <a:spcPts val="1400"/>
              </a:lnSpc>
              <a:buNone/>
            </a:pPr>
            <a:r>
              <a:rPr lang="en-US" sz="1200" dirty="0">
                <a:solidFill>
                  <a:srgbClr val="7AB8FF"/>
                </a:solidFill>
                <a:latin typeface="Courier New" pitchFamily="34" charset="0"/>
                <a:ea typeface="Courier New" pitchFamily="34" charset="-122"/>
                <a:cs typeface="Courier New" pitchFamily="34" charset="-120"/>
              </a:rPr>
              <a:t>const</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200" dirty="0">
                <a:solidFill>
                  <a:srgbClr val="4EC9B0"/>
                </a:solidFill>
                <a:latin typeface="Courier New" pitchFamily="34" charset="0"/>
                <a:ea typeface="Courier New" pitchFamily="34" charset="-122"/>
                <a:cs typeface="Courier New" pitchFamily="34" charset="-120"/>
              </a:rPr>
              <a:t>string</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CorrectUser = </a:t>
            </a:r>
            <a:pPr indent="0" marL="0">
              <a:lnSpc>
                <a:spcPts val="1400"/>
              </a:lnSpc>
              <a:buNone/>
            </a:pPr>
            <a:r>
              <a:rPr lang="en-US" sz="1200" dirty="0">
                <a:solidFill>
                  <a:srgbClr val="CE9178"/>
                </a:solidFill>
                <a:latin typeface="Courier New" pitchFamily="34" charset="0"/>
                <a:ea typeface="Courier New" pitchFamily="34" charset="-122"/>
                <a:cs typeface="Courier New" pitchFamily="34" charset="-120"/>
              </a:rPr>
              <a:t>"student"</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7AB8FF"/>
                </a:solidFill>
                <a:latin typeface="Courier New" pitchFamily="34" charset="0"/>
                <a:ea typeface="Courier New" pitchFamily="34" charset="-122"/>
                <a:cs typeface="Courier New" pitchFamily="34" charset="-120"/>
              </a:rPr>
              <a:t>const</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200" dirty="0">
                <a:solidFill>
                  <a:srgbClr val="4EC9B0"/>
                </a:solidFill>
                <a:latin typeface="Courier New" pitchFamily="34" charset="0"/>
                <a:ea typeface="Courier New" pitchFamily="34" charset="-122"/>
                <a:cs typeface="Courier New" pitchFamily="34" charset="-120"/>
              </a:rPr>
              <a:t>string</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CorrectPassword = </a:t>
            </a:r>
            <a:pPr indent="0" marL="0">
              <a:lnSpc>
                <a:spcPts val="1400"/>
              </a:lnSpc>
              <a:buNone/>
            </a:pPr>
            <a:r>
              <a:rPr lang="en-US" sz="1200" dirty="0">
                <a:solidFill>
                  <a:srgbClr val="CE9178"/>
                </a:solidFill>
                <a:latin typeface="Courier New" pitchFamily="34" charset="0"/>
                <a:ea typeface="Courier New" pitchFamily="34" charset="-122"/>
                <a:cs typeface="Courier New" pitchFamily="34" charset="-120"/>
              </a:rPr>
              <a:t>"Okan2026!"</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lnSpc>
                <a:spcPts val="14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.Write(</a:t>
            </a:r>
            <a:pPr indent="0" marL="0">
              <a:lnSpc>
                <a:spcPts val="1400"/>
              </a:lnSpc>
              <a:buNone/>
            </a:pPr>
            <a:r>
              <a:rPr lang="en-US" sz="1200" dirty="0">
                <a:solidFill>
                  <a:srgbClr val="CE9178"/>
                </a:solidFill>
                <a:latin typeface="Courier New" pitchFamily="34" charset="0"/>
                <a:ea typeface="Courier New" pitchFamily="34" charset="-122"/>
                <a:cs typeface="Courier New" pitchFamily="34" charset="-120"/>
              </a:rPr>
              <a:t>"Username: "</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4EC9B0"/>
                </a:solidFill>
                <a:latin typeface="Courier New" pitchFamily="34" charset="0"/>
                <a:ea typeface="Courier New" pitchFamily="34" charset="-122"/>
                <a:cs typeface="Courier New" pitchFamily="34" charset="-120"/>
              </a:rPr>
              <a:t>string</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user = </a:t>
            </a:r>
            <a:pPr indent="0" marL="0">
              <a:lnSpc>
                <a:spcPts val="14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lnSpc>
                <a:spcPts val="14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.Write(</a:t>
            </a:r>
            <a:pPr indent="0" marL="0">
              <a:lnSpc>
                <a:spcPts val="1400"/>
              </a:lnSpc>
              <a:buNone/>
            </a:pPr>
            <a:r>
              <a:rPr lang="en-US" sz="1200" dirty="0">
                <a:solidFill>
                  <a:srgbClr val="CE9178"/>
                </a:solidFill>
                <a:latin typeface="Courier New" pitchFamily="34" charset="0"/>
                <a:ea typeface="Courier New" pitchFamily="34" charset="-122"/>
                <a:cs typeface="Courier New" pitchFamily="34" charset="-120"/>
              </a:rPr>
              <a:t>"Password: "</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4EC9B0"/>
                </a:solidFill>
                <a:latin typeface="Courier New" pitchFamily="34" charset="0"/>
                <a:ea typeface="Courier New" pitchFamily="34" charset="-122"/>
                <a:cs typeface="Courier New" pitchFamily="34" charset="-120"/>
              </a:rPr>
              <a:t>string</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password = </a:t>
            </a:r>
            <a:pPr indent="0" marL="0">
              <a:lnSpc>
                <a:spcPts val="14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lnSpc>
                <a:spcPts val="1400"/>
              </a:lnSpc>
              <a:buNone/>
            </a:pPr>
            <a:r>
              <a:rPr lang="en-US" sz="1200" dirty="0">
                <a:solidFill>
                  <a:srgbClr val="7F8BA3"/>
                </a:solidFill>
                <a:latin typeface="Courier New" pitchFamily="34" charset="0"/>
                <a:ea typeface="Courier New" pitchFamily="34" charset="-122"/>
                <a:cs typeface="Courier New" pitchFamily="34" charset="-120"/>
              </a:rPr>
              <a:t>// == compares strings exactly: "Student" is not "student".</a:t>
            </a:r>
            <a:endParaRPr lang="en-US" sz="1200" dirty="0"/>
          </a:p>
          <a:p>
            <a:pPr indent="0" marL="0">
              <a:lnSpc>
                <a:spcPts val="1400"/>
              </a:lnSpc>
              <a:buNone/>
            </a:pPr>
            <a:r>
              <a:rPr lang="en-US" sz="1200" dirty="0">
                <a:solidFill>
                  <a:srgbClr val="7AB8FF"/>
                </a:solidFill>
                <a:latin typeface="Courier New" pitchFamily="34" charset="0"/>
                <a:ea typeface="Courier New" pitchFamily="34" charset="-122"/>
                <a:cs typeface="Courier New" pitchFamily="34" charset="-120"/>
              </a:rPr>
              <a:t>if</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(user == </a:t>
            </a:r>
            <a:pPr indent="0" marL="0">
              <a:lnSpc>
                <a:spcPts val="1400"/>
              </a:lnSpc>
              <a:buNone/>
            </a:pPr>
            <a:r>
              <a:rPr lang="en-US" sz="1200" dirty="0">
                <a:solidFill>
                  <a:srgbClr val="CE9178"/>
                </a:solidFill>
                <a:latin typeface="Courier New" pitchFamily="34" charset="0"/>
                <a:ea typeface="Courier New" pitchFamily="34" charset="-122"/>
                <a:cs typeface="Courier New" pitchFamily="34" charset="-120"/>
              </a:rPr>
              <a:t>""</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 password == </a:t>
            </a:r>
            <a:pPr indent="0" marL="0">
              <a:lnSpc>
                <a:spcPts val="1400"/>
              </a:lnSpc>
              <a:buNone/>
            </a:pPr>
            <a:r>
              <a:rPr lang="en-US" sz="1200" dirty="0">
                <a:solidFill>
                  <a:srgbClr val="CE9178"/>
                </a:solidFill>
                <a:latin typeface="Courier New" pitchFamily="34" charset="0"/>
                <a:ea typeface="Courier New" pitchFamily="34" charset="-122"/>
                <a:cs typeface="Courier New" pitchFamily="34" charset="-120"/>
              </a:rPr>
              <a:t>""</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400"/>
              </a:lnSpc>
              <a:buNone/>
            </a:pPr>
            <a:r>
              <a:rPr lang="en-US" sz="1200" dirty="0">
                <a:solidFill>
                  <a:srgbClr val="CE9178"/>
                </a:solidFill>
                <a:latin typeface="Courier New" pitchFamily="34" charset="0"/>
                <a:ea typeface="Courier New" pitchFamily="34" charset="-122"/>
                <a:cs typeface="Courier New" pitchFamily="34" charset="-120"/>
              </a:rPr>
              <a:t>"Error: empty username or password."</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7AB8FF"/>
                </a:solidFill>
                <a:latin typeface="Courier New" pitchFamily="34" charset="0"/>
                <a:ea typeface="Courier New" pitchFamily="34" charset="-122"/>
                <a:cs typeface="Courier New" pitchFamily="34" charset="-120"/>
              </a:rPr>
              <a:t>else</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200" dirty="0">
                <a:solidFill>
                  <a:srgbClr val="7AB8FF"/>
                </a:solidFill>
                <a:latin typeface="Courier New" pitchFamily="34" charset="0"/>
                <a:ea typeface="Courier New" pitchFamily="34" charset="-122"/>
                <a:cs typeface="Courier New" pitchFamily="34" charset="-120"/>
              </a:rPr>
              <a:t>if</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(user == CorrectUser &amp;&amp; password == CorrectPassword)</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400"/>
              </a:lnSpc>
              <a:buNone/>
            </a:pPr>
            <a:r>
              <a:rPr lang="en-US" sz="1200" dirty="0">
                <a:solidFill>
                  <a:srgbClr val="CE9178"/>
                </a:solidFill>
                <a:latin typeface="Courier New" pitchFamily="34" charset="0"/>
                <a:ea typeface="Courier New" pitchFamily="34" charset="-122"/>
                <a:cs typeface="Courier New" pitchFamily="34" charset="-120"/>
              </a:rPr>
              <a:t>$"Login successful. Welcome, {user}!"</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7AB8FF"/>
                </a:solidFill>
                <a:latin typeface="Courier New" pitchFamily="34" charset="0"/>
                <a:ea typeface="Courier New" pitchFamily="34" charset="-122"/>
                <a:cs typeface="Courier New" pitchFamily="34" charset="-120"/>
              </a:rPr>
              <a:t>else</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200" dirty="0">
                <a:solidFill>
                  <a:srgbClr val="7F8BA3"/>
                </a:solidFill>
                <a:latin typeface="Courier New" pitchFamily="34" charset="0"/>
                <a:ea typeface="Courier New" pitchFamily="34" charset="-122"/>
                <a:cs typeface="Courier New" pitchFamily="34" charset="-120"/>
              </a:rPr>
              <a:t>// Do not say WHICH part was wrong: it helps attackers.</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4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400"/>
              </a:lnSpc>
              <a:buNone/>
            </a:pPr>
            <a:r>
              <a:rPr lang="en-US" sz="1200" dirty="0">
                <a:solidFill>
                  <a:srgbClr val="CE9178"/>
                </a:solidFill>
                <a:latin typeface="Courier New" pitchFamily="34" charset="0"/>
                <a:ea typeface="Courier New" pitchFamily="34" charset="-122"/>
                <a:cs typeface="Courier New" pitchFamily="34" charset="-120"/>
              </a:rPr>
              <a:t>"Wrong username or password."</a:t>
            </a:r>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7360920" y="1600200"/>
            <a:ext cx="4297680" cy="2468880"/>
          </a:xfrm>
          <a:prstGeom prst="roundRect">
            <a:avLst>
              <a:gd name="adj" fmla="val 3704"/>
            </a:avLst>
          </a:prstGeom>
          <a:solidFill>
            <a:srgbClr val="0B0F19"/>
          </a:solidFill>
          <a:ln w="12700">
            <a:solidFill>
              <a:srgbClr val="2A3654"/>
            </a:solidFill>
            <a:prstDash val="solid"/>
          </a:ln>
        </p:spPr>
      </p:sp>
      <p:sp>
        <p:nvSpPr>
          <p:cNvPr id="11" name="Shape 8"/>
          <p:cNvSpPr/>
          <p:nvPr/>
        </p:nvSpPr>
        <p:spPr>
          <a:xfrm>
            <a:off x="7543800" y="1728216"/>
            <a:ext cx="118872" cy="118872"/>
          </a:xfrm>
          <a:prstGeom prst="ellipse">
            <a:avLst/>
          </a:prstGeom>
          <a:solidFill>
            <a:srgbClr val="FF5F57"/>
          </a:solidFill>
          <a:ln w="12700">
            <a:solidFill>
              <a:srgbClr val="FF5F57"/>
            </a:solidFill>
            <a:prstDash val="solid"/>
          </a:ln>
        </p:spPr>
      </p:sp>
      <p:sp>
        <p:nvSpPr>
          <p:cNvPr id="12" name="Shape 9"/>
          <p:cNvSpPr/>
          <p:nvPr/>
        </p:nvSpPr>
        <p:spPr>
          <a:xfrm>
            <a:off x="7772400" y="1728216"/>
            <a:ext cx="118872" cy="118872"/>
          </a:xfrm>
          <a:prstGeom prst="ellipse">
            <a:avLst/>
          </a:prstGeom>
          <a:solidFill>
            <a:srgbClr val="FEBC2E"/>
          </a:solidFill>
          <a:ln w="12700">
            <a:solidFill>
              <a:srgbClr val="FEBC2E"/>
            </a:solidFill>
            <a:prstDash val="solid"/>
          </a:ln>
        </p:spPr>
      </p:sp>
      <p:sp>
        <p:nvSpPr>
          <p:cNvPr id="13" name="Shape 10"/>
          <p:cNvSpPr/>
          <p:nvPr/>
        </p:nvSpPr>
        <p:spPr>
          <a:xfrm>
            <a:off x="8001000" y="172821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8275320" y="1673352"/>
            <a:ext cx="32004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589520" y="1984248"/>
            <a:ext cx="3840480" cy="196596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Username: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student</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Password: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Okan2026!</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Login successful. Welcome, student!</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Username: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Student</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Password: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Okan2026!</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Wrong username or password.</a:t>
            </a:r>
            <a:endParaRPr lang="en-US" sz="1200" dirty="0"/>
          </a:p>
        </p:txBody>
      </p:sp>
      <p:sp>
        <p:nvSpPr>
          <p:cNvPr id="16" name="Shape 13"/>
          <p:cNvSpPr/>
          <p:nvPr/>
        </p:nvSpPr>
        <p:spPr>
          <a:xfrm>
            <a:off x="7360920" y="4206240"/>
            <a:ext cx="4297680" cy="1920240"/>
          </a:xfrm>
          <a:prstGeom prst="roundRect">
            <a:avLst>
              <a:gd name="adj" fmla="val 5714"/>
            </a:avLst>
          </a:prstGeom>
          <a:solidFill>
            <a:srgbClr val="EEF1F6"/>
          </a:solidFill>
          <a:ln w="12700">
            <a:solidFill>
              <a:srgbClr val="EEF1F6"/>
            </a:solidFill>
            <a:prstDash val="solid"/>
          </a:ln>
        </p:spPr>
      </p:sp>
      <p:sp>
        <p:nvSpPr>
          <p:cNvPr id="17" name="Shape 14"/>
          <p:cNvSpPr/>
          <p:nvPr/>
        </p:nvSpPr>
        <p:spPr>
          <a:xfrm>
            <a:off x="7589520" y="4434840"/>
            <a:ext cx="566928" cy="566928"/>
          </a:xfrm>
          <a:prstGeom prst="ellipse">
            <a:avLst/>
          </a:prstGeom>
          <a:solidFill>
            <a:srgbClr val="C8453B"/>
          </a:solidFill>
          <a:ln w="12700">
            <a:solidFill>
              <a:srgbClr val="C8453B"/>
            </a:solidFill>
            <a:prstDash val="solid"/>
          </a:ln>
        </p:spPr>
      </p:sp>
      <p:pic>
        <p:nvPicPr>
          <p:cNvPr id="18" name="Image 0" descr="preencoded.png">    </p:cNvPr>
          <p:cNvPicPr>
            <a:picLocks noChangeAspect="1"/>
          </p:cNvPicPr>
          <p:nvPr/>
        </p:nvPicPr>
        <p:blipFill>
          <a:blip r:embed="rId1"/>
          <a:stretch>
            <a:fillRect/>
          </a:stretch>
        </p:blipFill>
        <p:spPr>
          <a:xfrm>
            <a:off x="7736921" y="4582241"/>
            <a:ext cx="272125" cy="272125"/>
          </a:xfrm>
          <a:prstGeom prst="rect">
            <a:avLst/>
          </a:prstGeom>
        </p:spPr>
      </p:pic>
      <p:sp>
        <p:nvSpPr>
          <p:cNvPr id="19" name="Text 15"/>
          <p:cNvSpPr txBox="1"/>
          <p:nvPr/>
        </p:nvSpPr>
        <p:spPr>
          <a:xfrm>
            <a:off x="8275320" y="4434840"/>
            <a:ext cx="3200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Security habits</a:t>
            </a:r>
            <a:endParaRPr lang="en-US" sz="1700" dirty="0"/>
          </a:p>
        </p:txBody>
      </p:sp>
      <p:sp>
        <p:nvSpPr>
          <p:cNvPr id="20" name="Text 16"/>
          <p:cNvSpPr txBox="1"/>
          <p:nvPr/>
        </p:nvSpPr>
        <p:spPr>
          <a:xfrm>
            <a:off x="7589520" y="5120640"/>
            <a:ext cx="3840480" cy="86868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Never reveal which part was wrong. Real systems never keep passwords in the source code.</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PART 4 · TESTING</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Boundary Testing: One Test per Branch, Two per Border</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34</a:t>
            </a:r>
            <a:endParaRPr lang="en-US" sz="1000" dirty="0"/>
          </a:p>
        </p:txBody>
      </p:sp>
      <p:sp>
        <p:nvSpPr>
          <p:cNvPr id="7" name="Shape 4"/>
          <p:cNvSpPr/>
          <p:nvPr/>
        </p:nvSpPr>
        <p:spPr>
          <a:xfrm>
            <a:off x="548640" y="1645920"/>
            <a:ext cx="1737360" cy="685800"/>
          </a:xfrm>
          <a:prstGeom prst="rect">
            <a:avLst/>
          </a:prstGeom>
          <a:solidFill>
            <a:srgbClr val="C8453B"/>
          </a:solidFill>
          <a:ln w="12700">
            <a:solidFill>
              <a:srgbClr val="C8453B"/>
            </a:solidFill>
            <a:prstDash val="solid"/>
          </a:ln>
        </p:spPr>
      </p:sp>
      <p:sp>
        <p:nvSpPr>
          <p:cNvPr id="8" name="Text 5"/>
          <p:cNvSpPr txBox="1"/>
          <p:nvPr/>
        </p:nvSpPr>
        <p:spPr>
          <a:xfrm>
            <a:off x="548640" y="1645920"/>
            <a:ext cx="173736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invalid</a:t>
            </a:r>
            <a:endParaRPr lang="en-US" sz="1400" dirty="0"/>
          </a:p>
          <a:p>
            <a:pPr algn="ctr" indent="0" marL="0">
              <a:buNone/>
            </a:pPr>
            <a:r>
              <a:rPr lang="en-US" sz="1400" dirty="0">
                <a:solidFill>
                  <a:srgbClr val="FFFFFF"/>
                </a:solidFill>
                <a:latin typeface="Calibri" pitchFamily="34" charset="0"/>
                <a:ea typeface="Calibri" pitchFamily="34" charset="-122"/>
                <a:cs typeface="Calibri" pitchFamily="34" charset="-120"/>
              </a:rPr>
              <a:t>&lt; 0</a:t>
            </a:r>
            <a:endParaRPr lang="en-US" sz="1400" dirty="0"/>
          </a:p>
        </p:txBody>
      </p:sp>
      <p:sp>
        <p:nvSpPr>
          <p:cNvPr id="9" name="Shape 6"/>
          <p:cNvSpPr/>
          <p:nvPr/>
        </p:nvSpPr>
        <p:spPr>
          <a:xfrm>
            <a:off x="2377440" y="1645920"/>
            <a:ext cx="4069080" cy="685800"/>
          </a:xfrm>
          <a:prstGeom prst="rect">
            <a:avLst/>
          </a:prstGeom>
          <a:solidFill>
            <a:srgbClr val="B7791F"/>
          </a:solidFill>
          <a:ln w="12700">
            <a:solidFill>
              <a:srgbClr val="B7791F"/>
            </a:solidFill>
            <a:prstDash val="solid"/>
          </a:ln>
        </p:spPr>
      </p:sp>
      <p:sp>
        <p:nvSpPr>
          <p:cNvPr id="10" name="Text 7"/>
          <p:cNvSpPr txBox="1"/>
          <p:nvPr/>
        </p:nvSpPr>
        <p:spPr>
          <a:xfrm>
            <a:off x="2377440" y="1645920"/>
            <a:ext cx="406908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FAIL</a:t>
            </a:r>
            <a:endParaRPr lang="en-US" sz="1400" dirty="0"/>
          </a:p>
          <a:p>
            <a:pPr algn="ctr" indent="0" marL="0">
              <a:buNone/>
            </a:pPr>
            <a:r>
              <a:rPr lang="en-US" sz="1400" dirty="0">
                <a:solidFill>
                  <a:srgbClr val="FFFFFF"/>
                </a:solidFill>
                <a:latin typeface="Calibri" pitchFamily="34" charset="0"/>
                <a:ea typeface="Calibri" pitchFamily="34" charset="-122"/>
                <a:cs typeface="Calibri" pitchFamily="34" charset="-120"/>
              </a:rPr>
              <a:t>0 … 59</a:t>
            </a:r>
            <a:endParaRPr lang="en-US" sz="1400" dirty="0"/>
          </a:p>
        </p:txBody>
      </p:sp>
      <p:sp>
        <p:nvSpPr>
          <p:cNvPr id="11" name="Shape 8"/>
          <p:cNvSpPr/>
          <p:nvPr/>
        </p:nvSpPr>
        <p:spPr>
          <a:xfrm>
            <a:off x="6537960" y="1645920"/>
            <a:ext cx="3931920" cy="685800"/>
          </a:xfrm>
          <a:prstGeom prst="rect">
            <a:avLst/>
          </a:prstGeom>
          <a:solidFill>
            <a:srgbClr val="2E9E6A"/>
          </a:solidFill>
          <a:ln w="12700">
            <a:solidFill>
              <a:srgbClr val="2E9E6A"/>
            </a:solidFill>
            <a:prstDash val="solid"/>
          </a:ln>
        </p:spPr>
      </p:sp>
      <p:sp>
        <p:nvSpPr>
          <p:cNvPr id="12" name="Text 9"/>
          <p:cNvSpPr txBox="1"/>
          <p:nvPr/>
        </p:nvSpPr>
        <p:spPr>
          <a:xfrm>
            <a:off x="6537960" y="1645920"/>
            <a:ext cx="393192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PASS</a:t>
            </a:r>
            <a:endParaRPr lang="en-US" sz="1400" dirty="0"/>
          </a:p>
          <a:p>
            <a:pPr algn="ctr" indent="0" marL="0">
              <a:buNone/>
            </a:pPr>
            <a:r>
              <a:rPr lang="en-US" sz="1400" dirty="0">
                <a:solidFill>
                  <a:srgbClr val="FFFFFF"/>
                </a:solidFill>
                <a:latin typeface="Calibri" pitchFamily="34" charset="0"/>
                <a:ea typeface="Calibri" pitchFamily="34" charset="-122"/>
                <a:cs typeface="Calibri" pitchFamily="34" charset="-120"/>
              </a:rPr>
              <a:t>60 … 100</a:t>
            </a:r>
            <a:endParaRPr lang="en-US" sz="1400" dirty="0"/>
          </a:p>
        </p:txBody>
      </p:sp>
      <p:sp>
        <p:nvSpPr>
          <p:cNvPr id="13" name="Shape 10"/>
          <p:cNvSpPr/>
          <p:nvPr/>
        </p:nvSpPr>
        <p:spPr>
          <a:xfrm>
            <a:off x="10561320" y="1645920"/>
            <a:ext cx="1097280" cy="685800"/>
          </a:xfrm>
          <a:prstGeom prst="rect">
            <a:avLst/>
          </a:prstGeom>
          <a:solidFill>
            <a:srgbClr val="C8453B"/>
          </a:solidFill>
          <a:ln w="12700">
            <a:solidFill>
              <a:srgbClr val="C8453B"/>
            </a:solidFill>
            <a:prstDash val="solid"/>
          </a:ln>
        </p:spPr>
      </p:sp>
      <p:sp>
        <p:nvSpPr>
          <p:cNvPr id="14" name="Text 11"/>
          <p:cNvSpPr txBox="1"/>
          <p:nvPr/>
        </p:nvSpPr>
        <p:spPr>
          <a:xfrm>
            <a:off x="10561320" y="1645920"/>
            <a:ext cx="109728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invalid</a:t>
            </a:r>
            <a:endParaRPr lang="en-US" sz="1400" dirty="0"/>
          </a:p>
          <a:p>
            <a:pPr algn="ctr" indent="0" marL="0">
              <a:buNone/>
            </a:pPr>
            <a:r>
              <a:rPr lang="en-US" sz="1400" dirty="0">
                <a:solidFill>
                  <a:srgbClr val="FFFFFF"/>
                </a:solidFill>
                <a:latin typeface="Calibri" pitchFamily="34" charset="0"/>
                <a:ea typeface="Calibri" pitchFamily="34" charset="-122"/>
                <a:cs typeface="Calibri" pitchFamily="34" charset="-120"/>
              </a:rPr>
              <a:t>&gt; 100</a:t>
            </a:r>
            <a:endParaRPr lang="en-US" sz="1400" dirty="0"/>
          </a:p>
        </p:txBody>
      </p:sp>
      <p:sp>
        <p:nvSpPr>
          <p:cNvPr id="15" name="Text 12"/>
          <p:cNvSpPr txBox="1"/>
          <p:nvPr/>
        </p:nvSpPr>
        <p:spPr>
          <a:xfrm>
            <a:off x="1508760" y="2377440"/>
            <a:ext cx="1645920" cy="32004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−1 | 0</a:t>
            </a:r>
            <a:endParaRPr lang="en-US" sz="1400" dirty="0"/>
          </a:p>
        </p:txBody>
      </p:sp>
      <p:sp>
        <p:nvSpPr>
          <p:cNvPr id="16" name="Text 13"/>
          <p:cNvSpPr txBox="1"/>
          <p:nvPr/>
        </p:nvSpPr>
        <p:spPr>
          <a:xfrm>
            <a:off x="5669280" y="2377440"/>
            <a:ext cx="1645920" cy="32004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59 | 60</a:t>
            </a:r>
            <a:endParaRPr lang="en-US" sz="1400" dirty="0"/>
          </a:p>
        </p:txBody>
      </p:sp>
      <p:sp>
        <p:nvSpPr>
          <p:cNvPr id="17" name="Text 14"/>
          <p:cNvSpPr txBox="1"/>
          <p:nvPr/>
        </p:nvSpPr>
        <p:spPr>
          <a:xfrm>
            <a:off x="9692640" y="2377440"/>
            <a:ext cx="1645920" cy="32004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100 | 101</a:t>
            </a:r>
            <a:endParaRPr lang="en-US" sz="14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2834640"/>
          <a:ext cx="11109960" cy="914400"/>
        </p:xfrm>
        <a:graphic>
          <a:graphicData uri="http://schemas.openxmlformats.org/drawingml/2006/table">
            <a:tbl>
              <a:tblPr/>
              <a:tblGrid>
                <a:gridCol w="2377440"/>
                <a:gridCol w="1005840"/>
                <a:gridCol w="1691640"/>
                <a:gridCol w="5394960"/>
                <a:gridCol w="640080"/>
              </a:tblGrid>
              <a:tr h="393192">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Test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Expected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Actual output (05_01_PassFail)</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OK</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93192">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not a number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abc</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error message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Error: please enter a whole number.</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93192">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just below range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error message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Error: the score must be 0-100.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93192">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lower border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FAIL</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Score 0: FAIL</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93192">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just below pass mark</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59</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FAIL</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Score 59: FAIL</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93192">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pass mark</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60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Score 60: PASS</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93192">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upper border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100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Score 100: PASS</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93192">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just above range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101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error message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Error: the score must be 0-100.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COMMON MISTAKES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Six Classic Decision Bugs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35</a:t>
            </a:r>
            <a:endParaRPr lang="en-US" sz="1000" dirty="0"/>
          </a:p>
        </p:txBody>
      </p:sp>
      <p:sp>
        <p:nvSpPr>
          <p:cNvPr id="7" name="Shape 4"/>
          <p:cNvSpPr/>
          <p:nvPr/>
        </p:nvSpPr>
        <p:spPr>
          <a:xfrm>
            <a:off x="548640" y="1600200"/>
            <a:ext cx="3566160" cy="2103120"/>
          </a:xfrm>
          <a:prstGeom prst="roundRect">
            <a:avLst>
              <a:gd name="adj" fmla="val 5217"/>
            </a:avLst>
          </a:prstGeom>
          <a:solidFill>
            <a:srgbClr val="FBE9E7"/>
          </a:solidFill>
          <a:ln w="12700">
            <a:solidFill>
              <a:srgbClr val="FBE9E7"/>
            </a:solidFill>
            <a:prstDash val="solid"/>
          </a:ln>
        </p:spPr>
      </p:sp>
      <p:sp>
        <p:nvSpPr>
          <p:cNvPr id="8" name="Shape 5"/>
          <p:cNvSpPr/>
          <p:nvPr/>
        </p:nvSpPr>
        <p:spPr>
          <a:xfrm>
            <a:off x="777240" y="1828800"/>
            <a:ext cx="566928" cy="566928"/>
          </a:xfrm>
          <a:prstGeom prst="ellipse">
            <a:avLst/>
          </a:prstGeom>
          <a:solidFill>
            <a:srgbClr val="C8453B"/>
          </a:solidFill>
          <a:ln w="12700">
            <a:solidFill>
              <a:srgbClr val="C8453B"/>
            </a:solidFill>
            <a:prstDash val="solid"/>
          </a:ln>
        </p:spPr>
      </p:sp>
      <p:pic>
        <p:nvPicPr>
          <p:cNvPr id="9" name="Image 0" descr="preencoded.png">    </p:cNvPr>
          <p:cNvPicPr>
            <a:picLocks noChangeAspect="1"/>
          </p:cNvPicPr>
          <p:nvPr/>
        </p:nvPicPr>
        <p:blipFill>
          <a:blip r:embed="rId1"/>
          <a:stretch>
            <a:fillRect/>
          </a:stretch>
        </p:blipFill>
        <p:spPr>
          <a:xfrm>
            <a:off x="924641" y="1976201"/>
            <a:ext cx="272125" cy="272125"/>
          </a:xfrm>
          <a:prstGeom prst="rect">
            <a:avLst/>
          </a:prstGeom>
        </p:spPr>
      </p:pic>
      <p:sp>
        <p:nvSpPr>
          <p:cNvPr id="10" name="Text 6"/>
          <p:cNvSpPr txBox="1"/>
          <p:nvPr/>
        </p:nvSpPr>
        <p:spPr>
          <a:xfrm>
            <a:off x="1463040" y="1828800"/>
            <a:ext cx="2468880" cy="566928"/>
          </a:xfrm>
          <a:prstGeom prst="rect">
            <a:avLst/>
          </a:prstGeom>
          <a:noFill/>
          <a:ln/>
        </p:spPr>
        <p:txBody>
          <a:bodyPr wrap="square" lIns="0" tIns="0" rIns="0" bIns="0" rtlCol="0" anchor="ctr"/>
          <a:lstStyle/>
          <a:p>
            <a:pPr indent="0" marL="0">
              <a:buNone/>
            </a:pPr>
            <a:r>
              <a:rPr lang="en-US" sz="1700" b="1" dirty="0">
                <a:solidFill>
                  <a:srgbClr val="C8453B"/>
                </a:solidFill>
                <a:latin typeface="Cambria" pitchFamily="34" charset="0"/>
                <a:ea typeface="Cambria" pitchFamily="34" charset="-122"/>
                <a:cs typeface="Cambria" pitchFamily="34" charset="-120"/>
              </a:rPr>
              <a:t>= instead of ==</a:t>
            </a:r>
            <a:endParaRPr lang="en-US" sz="1700" dirty="0"/>
          </a:p>
        </p:txBody>
      </p:sp>
      <p:sp>
        <p:nvSpPr>
          <p:cNvPr id="11" name="Text 7"/>
          <p:cNvSpPr txBox="1"/>
          <p:nvPr/>
        </p:nvSpPr>
        <p:spPr>
          <a:xfrm>
            <a:off x="777240" y="2514600"/>
            <a:ext cx="3108960" cy="1051560"/>
          </a:xfrm>
          <a:prstGeom prst="rect">
            <a:avLst/>
          </a:prstGeom>
          <a:noFill/>
          <a:ln/>
        </p:spPr>
        <p:txBody>
          <a:bodyPr wrap="square" lIns="0" tIns="0" rIns="0" bIns="0" rtlCol="0" anchor="t"/>
          <a:lstStyle/>
          <a:p>
            <a:pPr indent="0" marL="0">
              <a:buNone/>
            </a:pPr>
            <a:r>
              <a:rPr lang="en-US" sz="1400" dirty="0">
                <a:solidFill>
                  <a:srgbClr val="333B4F"/>
                </a:solidFill>
                <a:latin typeface="Courier New" pitchFamily="34" charset="0"/>
                <a:ea typeface="Courier New" pitchFamily="34" charset="-122"/>
                <a:cs typeface="Courier New" pitchFamily="34" charset="-120"/>
              </a:rPr>
              <a:t>if (x = 5)</a:t>
            </a:r>
            <a:pPr indent="0" marL="0">
              <a:buNone/>
            </a:pPr>
            <a:r>
              <a:rPr lang="en-US" sz="1400" dirty="0">
                <a:solidFill>
                  <a:srgbClr val="333B4F"/>
                </a:solidFill>
                <a:latin typeface="Calibri" pitchFamily="34" charset="0"/>
                <a:ea typeface="Calibri" pitchFamily="34" charset="-122"/>
                <a:cs typeface="Calibri" pitchFamily="34" charset="-120"/>
              </a:rPr>
              <a:t> → error CS0029 (int is not bool). Write </a:t>
            </a:r>
            <a:pPr indent="0" marL="0">
              <a:buNone/>
            </a:pPr>
            <a:r>
              <a:rPr lang="en-US" sz="1400" dirty="0">
                <a:solidFill>
                  <a:srgbClr val="333B4F"/>
                </a:solidFill>
                <a:latin typeface="Courier New" pitchFamily="34" charset="0"/>
                <a:ea typeface="Courier New" pitchFamily="34" charset="-122"/>
                <a:cs typeface="Courier New" pitchFamily="34" charset="-120"/>
              </a:rPr>
              <a:t>x == 5</a:t>
            </a:r>
            <a:pPr indent="0" marL="0">
              <a:buNone/>
            </a:pPr>
            <a:r>
              <a:rPr lang="en-US" sz="1400" dirty="0">
                <a:solidFill>
                  <a:srgbClr val="333B4F"/>
                </a:solidFill>
                <a:latin typeface="Calibri" pitchFamily="34" charset="0"/>
                <a:ea typeface="Calibri" pitchFamily="34" charset="-122"/>
                <a:cs typeface="Calibri" pitchFamily="34" charset="-120"/>
              </a:rPr>
              <a:t>.</a:t>
            </a:r>
            <a:endParaRPr lang="en-US" sz="1400" dirty="0"/>
          </a:p>
        </p:txBody>
      </p:sp>
      <p:sp>
        <p:nvSpPr>
          <p:cNvPr id="12" name="Shape 8"/>
          <p:cNvSpPr/>
          <p:nvPr/>
        </p:nvSpPr>
        <p:spPr>
          <a:xfrm>
            <a:off x="4315968" y="1600200"/>
            <a:ext cx="3566160" cy="2103120"/>
          </a:xfrm>
          <a:prstGeom prst="roundRect">
            <a:avLst>
              <a:gd name="adj" fmla="val 5217"/>
            </a:avLst>
          </a:prstGeom>
          <a:solidFill>
            <a:srgbClr val="FBE9E7"/>
          </a:solidFill>
          <a:ln w="12700">
            <a:solidFill>
              <a:srgbClr val="FBE9E7"/>
            </a:solidFill>
            <a:prstDash val="solid"/>
          </a:ln>
        </p:spPr>
      </p:sp>
      <p:sp>
        <p:nvSpPr>
          <p:cNvPr id="13" name="Shape 9"/>
          <p:cNvSpPr/>
          <p:nvPr/>
        </p:nvSpPr>
        <p:spPr>
          <a:xfrm>
            <a:off x="4544568" y="1828800"/>
            <a:ext cx="566928" cy="566928"/>
          </a:xfrm>
          <a:prstGeom prst="ellipse">
            <a:avLst/>
          </a:prstGeom>
          <a:solidFill>
            <a:srgbClr val="C8453B"/>
          </a:solidFill>
          <a:ln w="12700">
            <a:solidFill>
              <a:srgbClr val="C8453B"/>
            </a:solidFill>
            <a:prstDash val="solid"/>
          </a:ln>
        </p:spPr>
      </p:sp>
      <p:pic>
        <p:nvPicPr>
          <p:cNvPr id="14" name="Image 1" descr="preencoded.png">    </p:cNvPr>
          <p:cNvPicPr>
            <a:picLocks noChangeAspect="1"/>
          </p:cNvPicPr>
          <p:nvPr/>
        </p:nvPicPr>
        <p:blipFill>
          <a:blip r:embed="rId2"/>
          <a:stretch>
            <a:fillRect/>
          </a:stretch>
        </p:blipFill>
        <p:spPr>
          <a:xfrm>
            <a:off x="4691969" y="1976201"/>
            <a:ext cx="272125" cy="272125"/>
          </a:xfrm>
          <a:prstGeom prst="rect">
            <a:avLst/>
          </a:prstGeom>
        </p:spPr>
      </p:pic>
      <p:sp>
        <p:nvSpPr>
          <p:cNvPr id="15" name="Text 10"/>
          <p:cNvSpPr txBox="1"/>
          <p:nvPr/>
        </p:nvSpPr>
        <p:spPr>
          <a:xfrm>
            <a:off x="5230368" y="1828800"/>
            <a:ext cx="2468880" cy="566928"/>
          </a:xfrm>
          <a:prstGeom prst="rect">
            <a:avLst/>
          </a:prstGeom>
          <a:noFill/>
          <a:ln/>
        </p:spPr>
        <p:txBody>
          <a:bodyPr wrap="square" lIns="0" tIns="0" rIns="0" bIns="0" rtlCol="0" anchor="ctr"/>
          <a:lstStyle/>
          <a:p>
            <a:pPr indent="0" marL="0">
              <a:buNone/>
            </a:pPr>
            <a:r>
              <a:rPr lang="en-US" sz="1700" b="1" dirty="0">
                <a:solidFill>
                  <a:srgbClr val="C8453B"/>
                </a:solidFill>
                <a:latin typeface="Cambria" pitchFamily="34" charset="0"/>
                <a:ea typeface="Cambria" pitchFamily="34" charset="-122"/>
                <a:cs typeface="Cambria" pitchFamily="34" charset="-120"/>
              </a:rPr>
              <a:t>Chained comparison</a:t>
            </a:r>
            <a:endParaRPr lang="en-US" sz="1700" dirty="0"/>
          </a:p>
        </p:txBody>
      </p:sp>
      <p:sp>
        <p:nvSpPr>
          <p:cNvPr id="16" name="Text 11"/>
          <p:cNvSpPr txBox="1"/>
          <p:nvPr/>
        </p:nvSpPr>
        <p:spPr>
          <a:xfrm>
            <a:off x="4544568" y="2514600"/>
            <a:ext cx="3108960" cy="1051560"/>
          </a:xfrm>
          <a:prstGeom prst="rect">
            <a:avLst/>
          </a:prstGeom>
          <a:noFill/>
          <a:ln/>
        </p:spPr>
        <p:txBody>
          <a:bodyPr wrap="square" lIns="0" tIns="0" rIns="0" bIns="0" rtlCol="0" anchor="t"/>
          <a:lstStyle/>
          <a:p>
            <a:pPr indent="0" marL="0">
              <a:buNone/>
            </a:pPr>
            <a:r>
              <a:rPr lang="en-US" sz="1400" dirty="0">
                <a:solidFill>
                  <a:srgbClr val="333B4F"/>
                </a:solidFill>
                <a:latin typeface="Courier New" pitchFamily="34" charset="0"/>
                <a:ea typeface="Courier New" pitchFamily="34" charset="-122"/>
                <a:cs typeface="Courier New" pitchFamily="34" charset="-120"/>
              </a:rPr>
              <a:t>0 &lt;= x &lt;= 100</a:t>
            </a:r>
            <a:pPr indent="0" marL="0">
              <a:buNone/>
            </a:pPr>
            <a:r>
              <a:rPr lang="en-US" sz="1400" dirty="0">
                <a:solidFill>
                  <a:srgbClr val="333B4F"/>
                </a:solidFill>
                <a:latin typeface="Calibri" pitchFamily="34" charset="0"/>
                <a:ea typeface="Calibri" pitchFamily="34" charset="-122"/>
                <a:cs typeface="Calibri" pitchFamily="34" charset="-120"/>
              </a:rPr>
              <a:t> → error CS0019. Write </a:t>
            </a:r>
            <a:pPr indent="0" marL="0">
              <a:buNone/>
            </a:pPr>
            <a:r>
              <a:rPr lang="en-US" sz="1400" dirty="0">
                <a:solidFill>
                  <a:srgbClr val="333B4F"/>
                </a:solidFill>
                <a:latin typeface="Courier New" pitchFamily="34" charset="0"/>
                <a:ea typeface="Courier New" pitchFamily="34" charset="-122"/>
                <a:cs typeface="Courier New" pitchFamily="34" charset="-120"/>
              </a:rPr>
              <a:t>x &gt;= 0 &amp;&amp; x &lt;= 100</a:t>
            </a:r>
            <a:pPr indent="0" marL="0">
              <a:buNone/>
            </a:pPr>
            <a:r>
              <a:rPr lang="en-US" sz="1400" dirty="0">
                <a:solidFill>
                  <a:srgbClr val="333B4F"/>
                </a:solidFill>
                <a:latin typeface="Calibri" pitchFamily="34" charset="0"/>
                <a:ea typeface="Calibri" pitchFamily="34" charset="-122"/>
                <a:cs typeface="Calibri" pitchFamily="34" charset="-120"/>
              </a:rPr>
              <a:t>.</a:t>
            </a:r>
            <a:endParaRPr lang="en-US" sz="1400" dirty="0"/>
          </a:p>
        </p:txBody>
      </p:sp>
      <p:sp>
        <p:nvSpPr>
          <p:cNvPr id="17" name="Shape 12"/>
          <p:cNvSpPr/>
          <p:nvPr/>
        </p:nvSpPr>
        <p:spPr>
          <a:xfrm>
            <a:off x="8083296" y="1600200"/>
            <a:ext cx="3566160" cy="2103120"/>
          </a:xfrm>
          <a:prstGeom prst="roundRect">
            <a:avLst>
              <a:gd name="adj" fmla="val 5217"/>
            </a:avLst>
          </a:prstGeom>
          <a:solidFill>
            <a:srgbClr val="FBE9E7"/>
          </a:solidFill>
          <a:ln w="12700">
            <a:solidFill>
              <a:srgbClr val="FBE9E7"/>
            </a:solidFill>
            <a:prstDash val="solid"/>
          </a:ln>
        </p:spPr>
      </p:sp>
      <p:sp>
        <p:nvSpPr>
          <p:cNvPr id="18" name="Shape 13"/>
          <p:cNvSpPr/>
          <p:nvPr/>
        </p:nvSpPr>
        <p:spPr>
          <a:xfrm>
            <a:off x="8311896" y="1828800"/>
            <a:ext cx="566928" cy="566928"/>
          </a:xfrm>
          <a:prstGeom prst="ellipse">
            <a:avLst/>
          </a:prstGeom>
          <a:solidFill>
            <a:srgbClr val="C8453B"/>
          </a:solidFill>
          <a:ln w="12700">
            <a:solidFill>
              <a:srgbClr val="C8453B"/>
            </a:solidFill>
            <a:prstDash val="solid"/>
          </a:ln>
        </p:spPr>
      </p:sp>
      <p:pic>
        <p:nvPicPr>
          <p:cNvPr id="19" name="Image 2" descr="preencoded.png">    </p:cNvPr>
          <p:cNvPicPr>
            <a:picLocks noChangeAspect="1"/>
          </p:cNvPicPr>
          <p:nvPr/>
        </p:nvPicPr>
        <p:blipFill>
          <a:blip r:embed="rId3"/>
          <a:stretch>
            <a:fillRect/>
          </a:stretch>
        </p:blipFill>
        <p:spPr>
          <a:xfrm>
            <a:off x="8459297" y="1976201"/>
            <a:ext cx="272125" cy="272125"/>
          </a:xfrm>
          <a:prstGeom prst="rect">
            <a:avLst/>
          </a:prstGeom>
        </p:spPr>
      </p:pic>
      <p:sp>
        <p:nvSpPr>
          <p:cNvPr id="20" name="Text 14"/>
          <p:cNvSpPr txBox="1"/>
          <p:nvPr/>
        </p:nvSpPr>
        <p:spPr>
          <a:xfrm>
            <a:off x="8997696" y="1828800"/>
            <a:ext cx="2468880" cy="566928"/>
          </a:xfrm>
          <a:prstGeom prst="rect">
            <a:avLst/>
          </a:prstGeom>
          <a:noFill/>
          <a:ln/>
        </p:spPr>
        <p:txBody>
          <a:bodyPr wrap="square" lIns="0" tIns="0" rIns="0" bIns="0" rtlCol="0" anchor="ctr"/>
          <a:lstStyle/>
          <a:p>
            <a:pPr indent="0" marL="0">
              <a:buNone/>
            </a:pPr>
            <a:r>
              <a:rPr lang="en-US" sz="1700" b="1" dirty="0">
                <a:solidFill>
                  <a:srgbClr val="C8453B"/>
                </a:solidFill>
                <a:latin typeface="Cambria" pitchFamily="34" charset="0"/>
                <a:ea typeface="Cambria" pitchFamily="34" charset="-122"/>
                <a:cs typeface="Cambria" pitchFamily="34" charset="-120"/>
              </a:rPr>
              <a:t>Stray semicolon</a:t>
            </a:r>
            <a:endParaRPr lang="en-US" sz="1700" dirty="0"/>
          </a:p>
        </p:txBody>
      </p:sp>
      <p:sp>
        <p:nvSpPr>
          <p:cNvPr id="21" name="Text 15"/>
          <p:cNvSpPr txBox="1"/>
          <p:nvPr/>
        </p:nvSpPr>
        <p:spPr>
          <a:xfrm>
            <a:off x="8311896" y="2514600"/>
            <a:ext cx="3108960" cy="1051560"/>
          </a:xfrm>
          <a:prstGeom prst="rect">
            <a:avLst/>
          </a:prstGeom>
          <a:noFill/>
          <a:ln/>
        </p:spPr>
        <p:txBody>
          <a:bodyPr wrap="square" lIns="0" tIns="0" rIns="0" bIns="0" rtlCol="0" anchor="t"/>
          <a:lstStyle/>
          <a:p>
            <a:pPr indent="0" marL="0">
              <a:buNone/>
            </a:pPr>
            <a:r>
              <a:rPr lang="en-US" sz="1400" dirty="0">
                <a:solidFill>
                  <a:srgbClr val="333B4F"/>
                </a:solidFill>
                <a:latin typeface="Courier New" pitchFamily="34" charset="0"/>
                <a:ea typeface="Courier New" pitchFamily="34" charset="-122"/>
                <a:cs typeface="Courier New" pitchFamily="34" charset="-120"/>
              </a:rPr>
              <a:t>if (t &gt; 30);</a:t>
            </a:r>
            <a:pPr indent="0" marL="0">
              <a:buNone/>
            </a:pPr>
            <a:r>
              <a:rPr lang="en-US" sz="1400" dirty="0">
                <a:solidFill>
                  <a:srgbClr val="333B4F"/>
                </a:solidFill>
                <a:latin typeface="Calibri" pitchFamily="34" charset="0"/>
                <a:ea typeface="Calibri" pitchFamily="34" charset="-122"/>
                <a:cs typeface="Calibri" pitchFamily="34" charset="-120"/>
              </a:rPr>
              <a:t> ends the if: the block below always runs (warning CS0642).</a:t>
            </a:r>
            <a:endParaRPr lang="en-US" sz="1400" dirty="0"/>
          </a:p>
        </p:txBody>
      </p:sp>
      <p:sp>
        <p:nvSpPr>
          <p:cNvPr id="22" name="Shape 16"/>
          <p:cNvSpPr/>
          <p:nvPr/>
        </p:nvSpPr>
        <p:spPr>
          <a:xfrm>
            <a:off x="548640" y="3886200"/>
            <a:ext cx="3566160" cy="2103120"/>
          </a:xfrm>
          <a:prstGeom prst="roundRect">
            <a:avLst>
              <a:gd name="adj" fmla="val 5217"/>
            </a:avLst>
          </a:prstGeom>
          <a:solidFill>
            <a:srgbClr val="FBE9E7"/>
          </a:solidFill>
          <a:ln w="12700">
            <a:solidFill>
              <a:srgbClr val="FBE9E7"/>
            </a:solidFill>
            <a:prstDash val="solid"/>
          </a:ln>
        </p:spPr>
      </p:sp>
      <p:sp>
        <p:nvSpPr>
          <p:cNvPr id="23" name="Shape 17"/>
          <p:cNvSpPr/>
          <p:nvPr/>
        </p:nvSpPr>
        <p:spPr>
          <a:xfrm>
            <a:off x="777240" y="4114800"/>
            <a:ext cx="566928" cy="566928"/>
          </a:xfrm>
          <a:prstGeom prst="ellipse">
            <a:avLst/>
          </a:prstGeom>
          <a:solidFill>
            <a:srgbClr val="C8453B"/>
          </a:solidFill>
          <a:ln w="12700">
            <a:solidFill>
              <a:srgbClr val="C8453B"/>
            </a:solidFill>
            <a:prstDash val="solid"/>
          </a:ln>
        </p:spPr>
      </p:sp>
      <p:pic>
        <p:nvPicPr>
          <p:cNvPr id="24" name="Image 3" descr="preencoded.png">    </p:cNvPr>
          <p:cNvPicPr>
            <a:picLocks noChangeAspect="1"/>
          </p:cNvPicPr>
          <p:nvPr/>
        </p:nvPicPr>
        <p:blipFill>
          <a:blip r:embed="rId4"/>
          <a:stretch>
            <a:fillRect/>
          </a:stretch>
        </p:blipFill>
        <p:spPr>
          <a:xfrm>
            <a:off x="924641" y="4262201"/>
            <a:ext cx="272125" cy="272125"/>
          </a:xfrm>
          <a:prstGeom prst="rect">
            <a:avLst/>
          </a:prstGeom>
        </p:spPr>
      </p:pic>
      <p:sp>
        <p:nvSpPr>
          <p:cNvPr id="25" name="Text 18"/>
          <p:cNvSpPr txBox="1"/>
          <p:nvPr/>
        </p:nvSpPr>
        <p:spPr>
          <a:xfrm>
            <a:off x="1463040" y="4114800"/>
            <a:ext cx="2468880" cy="566928"/>
          </a:xfrm>
          <a:prstGeom prst="rect">
            <a:avLst/>
          </a:prstGeom>
          <a:noFill/>
          <a:ln/>
        </p:spPr>
        <p:txBody>
          <a:bodyPr wrap="square" lIns="0" tIns="0" rIns="0" bIns="0" rtlCol="0" anchor="ctr"/>
          <a:lstStyle/>
          <a:p>
            <a:pPr indent="0" marL="0">
              <a:buNone/>
            </a:pPr>
            <a:r>
              <a:rPr lang="en-US" sz="1700" b="1" dirty="0">
                <a:solidFill>
                  <a:srgbClr val="C8453B"/>
                </a:solidFill>
                <a:latin typeface="Cambria" pitchFamily="34" charset="0"/>
                <a:ea typeface="Cambria" pitchFamily="34" charset="-122"/>
                <a:cs typeface="Cambria" pitchFamily="34" charset="-120"/>
              </a:rPr>
              <a:t>Missing braces</a:t>
            </a:r>
            <a:endParaRPr lang="en-US" sz="1700" dirty="0"/>
          </a:p>
        </p:txBody>
      </p:sp>
      <p:sp>
        <p:nvSpPr>
          <p:cNvPr id="26" name="Text 19"/>
          <p:cNvSpPr txBox="1"/>
          <p:nvPr/>
        </p:nvSpPr>
        <p:spPr>
          <a:xfrm>
            <a:off x="777240" y="4800600"/>
            <a:ext cx="3108960" cy="10515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Only the first statement belongs to the if; an else pairs with the nearest if.</a:t>
            </a:r>
            <a:endParaRPr lang="en-US" sz="1400" dirty="0"/>
          </a:p>
        </p:txBody>
      </p:sp>
      <p:sp>
        <p:nvSpPr>
          <p:cNvPr id="27" name="Shape 20"/>
          <p:cNvSpPr/>
          <p:nvPr/>
        </p:nvSpPr>
        <p:spPr>
          <a:xfrm>
            <a:off x="4315968" y="3886200"/>
            <a:ext cx="3566160" cy="2103120"/>
          </a:xfrm>
          <a:prstGeom prst="roundRect">
            <a:avLst>
              <a:gd name="adj" fmla="val 5217"/>
            </a:avLst>
          </a:prstGeom>
          <a:solidFill>
            <a:srgbClr val="FBE9E7"/>
          </a:solidFill>
          <a:ln w="12700">
            <a:solidFill>
              <a:srgbClr val="FBE9E7"/>
            </a:solidFill>
            <a:prstDash val="solid"/>
          </a:ln>
        </p:spPr>
      </p:sp>
      <p:sp>
        <p:nvSpPr>
          <p:cNvPr id="28" name="Shape 21"/>
          <p:cNvSpPr/>
          <p:nvPr/>
        </p:nvSpPr>
        <p:spPr>
          <a:xfrm>
            <a:off x="4544568" y="4114800"/>
            <a:ext cx="566928" cy="566928"/>
          </a:xfrm>
          <a:prstGeom prst="ellipse">
            <a:avLst/>
          </a:prstGeom>
          <a:solidFill>
            <a:srgbClr val="C8453B"/>
          </a:solidFill>
          <a:ln w="12700">
            <a:solidFill>
              <a:srgbClr val="C8453B"/>
            </a:solidFill>
            <a:prstDash val="solid"/>
          </a:ln>
        </p:spPr>
      </p:sp>
      <p:pic>
        <p:nvPicPr>
          <p:cNvPr id="29" name="Image 4" descr="preencoded.png">    </p:cNvPr>
          <p:cNvPicPr>
            <a:picLocks noChangeAspect="1"/>
          </p:cNvPicPr>
          <p:nvPr/>
        </p:nvPicPr>
        <p:blipFill>
          <a:blip r:embed="rId5"/>
          <a:stretch>
            <a:fillRect/>
          </a:stretch>
        </p:blipFill>
        <p:spPr>
          <a:xfrm>
            <a:off x="4691969" y="4262201"/>
            <a:ext cx="272125" cy="272125"/>
          </a:xfrm>
          <a:prstGeom prst="rect">
            <a:avLst/>
          </a:prstGeom>
        </p:spPr>
      </p:pic>
      <p:sp>
        <p:nvSpPr>
          <p:cNvPr id="30" name="Text 22"/>
          <p:cNvSpPr txBox="1"/>
          <p:nvPr/>
        </p:nvSpPr>
        <p:spPr>
          <a:xfrm>
            <a:off x="5230368" y="4114800"/>
            <a:ext cx="2468880" cy="566928"/>
          </a:xfrm>
          <a:prstGeom prst="rect">
            <a:avLst/>
          </a:prstGeom>
          <a:noFill/>
          <a:ln/>
        </p:spPr>
        <p:txBody>
          <a:bodyPr wrap="square" lIns="0" tIns="0" rIns="0" bIns="0" rtlCol="0" anchor="ctr"/>
          <a:lstStyle/>
          <a:p>
            <a:pPr indent="0" marL="0">
              <a:buNone/>
            </a:pPr>
            <a:r>
              <a:rPr lang="en-US" sz="1700" b="1" dirty="0">
                <a:solidFill>
                  <a:srgbClr val="C8453B"/>
                </a:solidFill>
                <a:latin typeface="Cambria" pitchFamily="34" charset="0"/>
                <a:ea typeface="Cambria" pitchFamily="34" charset="-122"/>
                <a:cs typeface="Cambria" pitchFamily="34" charset="-120"/>
              </a:rPr>
              <a:t>Missing break</a:t>
            </a:r>
            <a:endParaRPr lang="en-US" sz="1700" dirty="0"/>
          </a:p>
        </p:txBody>
      </p:sp>
      <p:sp>
        <p:nvSpPr>
          <p:cNvPr id="31" name="Text 23"/>
          <p:cNvSpPr txBox="1"/>
          <p:nvPr/>
        </p:nvSpPr>
        <p:spPr>
          <a:xfrm>
            <a:off x="4544568" y="4800600"/>
            <a:ext cx="3108960" cy="10515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Each case section must end with </a:t>
            </a:r>
            <a:pPr indent="0" marL="0">
              <a:buNone/>
            </a:pPr>
            <a:r>
              <a:rPr lang="en-US" sz="1400" dirty="0">
                <a:solidFill>
                  <a:srgbClr val="333B4F"/>
                </a:solidFill>
                <a:latin typeface="Courier New" pitchFamily="34" charset="0"/>
                <a:ea typeface="Courier New" pitchFamily="34" charset="-122"/>
                <a:cs typeface="Courier New" pitchFamily="34" charset="-120"/>
              </a:rPr>
              <a:t>break</a:t>
            </a:r>
            <a:pPr indent="0" marL="0">
              <a:buNone/>
            </a:pPr>
            <a:r>
              <a:rPr lang="en-US" sz="1400" dirty="0">
                <a:solidFill>
                  <a:srgbClr val="333B4F"/>
                </a:solidFill>
                <a:latin typeface="Calibri" pitchFamily="34" charset="0"/>
                <a:ea typeface="Calibri" pitchFamily="34" charset="-122"/>
                <a:cs typeface="Calibri" pitchFamily="34" charset="-120"/>
              </a:rPr>
              <a:t> or </a:t>
            </a:r>
            <a:pPr indent="0" marL="0">
              <a:buNone/>
            </a:pPr>
            <a:r>
              <a:rPr lang="en-US" sz="1400" dirty="0">
                <a:solidFill>
                  <a:srgbClr val="333B4F"/>
                </a:solidFill>
                <a:latin typeface="Courier New" pitchFamily="34" charset="0"/>
                <a:ea typeface="Courier New" pitchFamily="34" charset="-122"/>
                <a:cs typeface="Courier New" pitchFamily="34" charset="-120"/>
              </a:rPr>
              <a:t>return</a:t>
            </a:r>
            <a:pPr indent="0" marL="0">
              <a:buNone/>
            </a:pPr>
            <a:r>
              <a:rPr lang="en-US" sz="1400" dirty="0">
                <a:solidFill>
                  <a:srgbClr val="333B4F"/>
                </a:solidFill>
                <a:latin typeface="Calibri" pitchFamily="34" charset="0"/>
                <a:ea typeface="Calibri" pitchFamily="34" charset="-122"/>
                <a:cs typeface="Calibri" pitchFamily="34" charset="-120"/>
              </a:rPr>
              <a:t> (error CS0163).</a:t>
            </a:r>
            <a:endParaRPr lang="en-US" sz="1400" dirty="0"/>
          </a:p>
        </p:txBody>
      </p:sp>
      <p:sp>
        <p:nvSpPr>
          <p:cNvPr id="32" name="Shape 24"/>
          <p:cNvSpPr/>
          <p:nvPr/>
        </p:nvSpPr>
        <p:spPr>
          <a:xfrm>
            <a:off x="8083296" y="3886200"/>
            <a:ext cx="3566160" cy="2103120"/>
          </a:xfrm>
          <a:prstGeom prst="roundRect">
            <a:avLst>
              <a:gd name="adj" fmla="val 5217"/>
            </a:avLst>
          </a:prstGeom>
          <a:solidFill>
            <a:srgbClr val="FBE9E7"/>
          </a:solidFill>
          <a:ln w="12700">
            <a:solidFill>
              <a:srgbClr val="FBE9E7"/>
            </a:solidFill>
            <a:prstDash val="solid"/>
          </a:ln>
        </p:spPr>
      </p:sp>
      <p:sp>
        <p:nvSpPr>
          <p:cNvPr id="33" name="Shape 25"/>
          <p:cNvSpPr/>
          <p:nvPr/>
        </p:nvSpPr>
        <p:spPr>
          <a:xfrm>
            <a:off x="8311896" y="4114800"/>
            <a:ext cx="566928" cy="566928"/>
          </a:xfrm>
          <a:prstGeom prst="ellipse">
            <a:avLst/>
          </a:prstGeom>
          <a:solidFill>
            <a:srgbClr val="C8453B"/>
          </a:solidFill>
          <a:ln w="12700">
            <a:solidFill>
              <a:srgbClr val="C8453B"/>
            </a:solidFill>
            <a:prstDash val="solid"/>
          </a:ln>
        </p:spPr>
      </p:sp>
      <p:pic>
        <p:nvPicPr>
          <p:cNvPr id="34" name="Image 5" descr="preencoded.png">    </p:cNvPr>
          <p:cNvPicPr>
            <a:picLocks noChangeAspect="1"/>
          </p:cNvPicPr>
          <p:nvPr/>
        </p:nvPicPr>
        <p:blipFill>
          <a:blip r:embed="rId6"/>
          <a:stretch>
            <a:fillRect/>
          </a:stretch>
        </p:blipFill>
        <p:spPr>
          <a:xfrm>
            <a:off x="8459297" y="4262201"/>
            <a:ext cx="272125" cy="272125"/>
          </a:xfrm>
          <a:prstGeom prst="rect">
            <a:avLst/>
          </a:prstGeom>
        </p:spPr>
      </p:pic>
      <p:sp>
        <p:nvSpPr>
          <p:cNvPr id="35" name="Text 26"/>
          <p:cNvSpPr txBox="1"/>
          <p:nvPr/>
        </p:nvSpPr>
        <p:spPr>
          <a:xfrm>
            <a:off x="8997696" y="4114800"/>
            <a:ext cx="2468880" cy="566928"/>
          </a:xfrm>
          <a:prstGeom prst="rect">
            <a:avLst/>
          </a:prstGeom>
          <a:noFill/>
          <a:ln/>
        </p:spPr>
        <p:txBody>
          <a:bodyPr wrap="square" lIns="0" tIns="0" rIns="0" bIns="0" rtlCol="0" anchor="ctr"/>
          <a:lstStyle/>
          <a:p>
            <a:pPr indent="0" marL="0">
              <a:buNone/>
            </a:pPr>
            <a:r>
              <a:rPr lang="en-US" sz="1700" b="1" dirty="0">
                <a:solidFill>
                  <a:srgbClr val="C8453B"/>
                </a:solidFill>
                <a:latin typeface="Cambria" pitchFamily="34" charset="0"/>
                <a:ea typeface="Cambria" pitchFamily="34" charset="-122"/>
                <a:cs typeface="Cambria" pitchFamily="34" charset="-120"/>
              </a:rPr>
              <a:t>Wrong ladder order</a:t>
            </a:r>
            <a:endParaRPr lang="en-US" sz="1700" dirty="0"/>
          </a:p>
        </p:txBody>
      </p:sp>
      <p:sp>
        <p:nvSpPr>
          <p:cNvPr id="36" name="Text 27"/>
          <p:cNvSpPr txBox="1"/>
          <p:nvPr/>
        </p:nvSpPr>
        <p:spPr>
          <a:xfrm>
            <a:off x="8311896" y="4800600"/>
            <a:ext cx="3108960" cy="1051560"/>
          </a:xfrm>
          <a:prstGeom prst="rect">
            <a:avLst/>
          </a:prstGeom>
          <a:noFill/>
          <a:ln/>
        </p:spPr>
        <p:txBody>
          <a:bodyPr wrap="square" lIns="0" tIns="0" rIns="0" bIns="0" rtlCol="0" anchor="t"/>
          <a:lstStyle/>
          <a:p>
            <a:pPr indent="0" marL="0">
              <a:buNone/>
            </a:pPr>
            <a:r>
              <a:rPr lang="en-US" sz="1400" dirty="0">
                <a:solidFill>
                  <a:srgbClr val="333B4F"/>
                </a:solidFill>
                <a:latin typeface="Courier New" pitchFamily="34" charset="0"/>
                <a:ea typeface="Courier New" pitchFamily="34" charset="-122"/>
                <a:cs typeface="Courier New" pitchFamily="34" charset="-120"/>
              </a:rPr>
              <a:t>&gt;= 60</a:t>
            </a:r>
            <a:pPr indent="0" marL="0">
              <a:buNone/>
            </a:pPr>
            <a:r>
              <a:rPr lang="en-US" sz="1400" dirty="0">
                <a:solidFill>
                  <a:srgbClr val="333B4F"/>
                </a:solidFill>
                <a:latin typeface="Calibri" pitchFamily="34" charset="0"/>
                <a:ea typeface="Calibri" pitchFamily="34" charset="-122"/>
                <a:cs typeface="Calibri" pitchFamily="34" charset="-120"/>
              </a:rPr>
              <a:t> before </a:t>
            </a:r>
            <a:pPr indent="0" marL="0">
              <a:buNone/>
            </a:pPr>
            <a:r>
              <a:rPr lang="en-US" sz="1400" dirty="0">
                <a:solidFill>
                  <a:srgbClr val="333B4F"/>
                </a:solidFill>
                <a:latin typeface="Courier New" pitchFamily="34" charset="0"/>
                <a:ea typeface="Courier New" pitchFamily="34" charset="-122"/>
                <a:cs typeface="Courier New" pitchFamily="34" charset="-120"/>
              </a:rPr>
              <a:t>&gt;= 90</a:t>
            </a:r>
            <a:pPr indent="0" marL="0">
              <a:buNone/>
            </a:pPr>
            <a:r>
              <a:rPr lang="en-US" sz="1400" dirty="0">
                <a:solidFill>
                  <a:srgbClr val="333B4F"/>
                </a:solidFill>
                <a:latin typeface="Calibri" pitchFamily="34" charset="0"/>
                <a:ea typeface="Calibri" pitchFamily="34" charset="-122"/>
                <a:cs typeface="Calibri" pitchFamily="34" charset="-120"/>
              </a:rPr>
              <a:t>: AA is never reached. Test the borders!</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QUIZ 1 · PREDICT THE OUTPUT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What Does Each Snippet Print?</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36</a:t>
            </a:r>
            <a:endParaRPr lang="en-US" sz="1000" dirty="0"/>
          </a:p>
        </p:txBody>
      </p:sp>
      <p:sp>
        <p:nvSpPr>
          <p:cNvPr id="7" name="Shape 4"/>
          <p:cNvSpPr/>
          <p:nvPr/>
        </p:nvSpPr>
        <p:spPr>
          <a:xfrm>
            <a:off x="548640" y="1600200"/>
            <a:ext cx="5440680" cy="2176272"/>
          </a:xfrm>
          <a:prstGeom prst="roundRect">
            <a:avLst>
              <a:gd name="adj" fmla="val 4202"/>
            </a:avLst>
          </a:prstGeom>
          <a:solidFill>
            <a:srgbClr val="0F1729"/>
          </a:solidFill>
          <a:ln w="12700">
            <a:solidFill>
              <a:srgbClr val="0F1729"/>
            </a:solidFill>
            <a:prstDash val="solid"/>
          </a:ln>
        </p:spPr>
      </p:sp>
      <p:sp>
        <p:nvSpPr>
          <p:cNvPr id="8" name="Text 5"/>
          <p:cNvSpPr txBox="1"/>
          <p:nvPr/>
        </p:nvSpPr>
        <p:spPr>
          <a:xfrm>
            <a:off x="777240" y="1709928"/>
            <a:ext cx="49834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Snippet A</a:t>
            </a:r>
            <a:endParaRPr lang="en-US" sz="1100" dirty="0"/>
          </a:p>
        </p:txBody>
      </p:sp>
      <p:sp>
        <p:nvSpPr>
          <p:cNvPr id="9" name="Text 6"/>
          <p:cNvSpPr txBox="1"/>
          <p:nvPr/>
        </p:nvSpPr>
        <p:spPr>
          <a:xfrm>
            <a:off x="777240" y="2011680"/>
            <a:ext cx="4983480" cy="1673352"/>
          </a:xfrm>
          <a:prstGeom prst="rect">
            <a:avLst/>
          </a:prstGeom>
          <a:noFill/>
          <a:ln/>
        </p:spPr>
        <p:txBody>
          <a:bodyPr wrap="square" lIns="0" tIns="0" rIns="0" bIns="0" rtlCol="0" anchor="t"/>
          <a:lstStyle/>
          <a:p>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int</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 =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7</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b =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3</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if</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 &gt;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5</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&amp;&amp; b &gt;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5</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"A"</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else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if</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 &gt;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5</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 b &gt;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5</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"B"</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else</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"C"</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6217920" y="1600200"/>
            <a:ext cx="5440680" cy="2176272"/>
          </a:xfrm>
          <a:prstGeom prst="roundRect">
            <a:avLst>
              <a:gd name="adj" fmla="val 4202"/>
            </a:avLst>
          </a:prstGeom>
          <a:solidFill>
            <a:srgbClr val="0F1729"/>
          </a:solidFill>
          <a:ln w="12700">
            <a:solidFill>
              <a:srgbClr val="0F1729"/>
            </a:solidFill>
            <a:prstDash val="solid"/>
          </a:ln>
        </p:spPr>
      </p:sp>
      <p:sp>
        <p:nvSpPr>
          <p:cNvPr id="11" name="Text 8"/>
          <p:cNvSpPr txBox="1"/>
          <p:nvPr/>
        </p:nvSpPr>
        <p:spPr>
          <a:xfrm>
            <a:off x="6446520" y="1709928"/>
            <a:ext cx="49834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Snippet B</a:t>
            </a:r>
            <a:endParaRPr lang="en-US" sz="1100" dirty="0"/>
          </a:p>
        </p:txBody>
      </p:sp>
      <p:sp>
        <p:nvSpPr>
          <p:cNvPr id="12" name="Text 9"/>
          <p:cNvSpPr txBox="1"/>
          <p:nvPr/>
        </p:nvSpPr>
        <p:spPr>
          <a:xfrm>
            <a:off x="6446520" y="2011680"/>
            <a:ext cx="4983480" cy="1673352"/>
          </a:xfrm>
          <a:prstGeom prst="rect">
            <a:avLst/>
          </a:prstGeom>
          <a:noFill/>
          <a:ln/>
        </p:spPr>
        <p:txBody>
          <a:bodyPr wrap="square" lIns="0" tIns="0" rIns="0" bIns="0" rtlCol="0" anchor="t"/>
          <a:lstStyle/>
          <a:p>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int</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temperature =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15</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if</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(temperature &gt;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30</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"It is hot!"</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"Done."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3" name="Shape 10"/>
          <p:cNvSpPr/>
          <p:nvPr/>
        </p:nvSpPr>
        <p:spPr>
          <a:xfrm>
            <a:off x="548640" y="3886200"/>
            <a:ext cx="5440680" cy="2176272"/>
          </a:xfrm>
          <a:prstGeom prst="roundRect">
            <a:avLst>
              <a:gd name="adj" fmla="val 4202"/>
            </a:avLst>
          </a:prstGeom>
          <a:solidFill>
            <a:srgbClr val="0F1729"/>
          </a:solidFill>
          <a:ln w="12700">
            <a:solidFill>
              <a:srgbClr val="0F1729"/>
            </a:solidFill>
            <a:prstDash val="solid"/>
          </a:ln>
        </p:spPr>
      </p:sp>
      <p:sp>
        <p:nvSpPr>
          <p:cNvPr id="14" name="Text 11"/>
          <p:cNvSpPr txBox="1"/>
          <p:nvPr/>
        </p:nvSpPr>
        <p:spPr>
          <a:xfrm>
            <a:off x="777240" y="3995928"/>
            <a:ext cx="49834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Snippet C</a:t>
            </a:r>
            <a:endParaRPr lang="en-US" sz="1100" dirty="0"/>
          </a:p>
        </p:txBody>
      </p:sp>
      <p:sp>
        <p:nvSpPr>
          <p:cNvPr id="15" name="Text 12"/>
          <p:cNvSpPr txBox="1"/>
          <p:nvPr/>
        </p:nvSpPr>
        <p:spPr>
          <a:xfrm>
            <a:off x="777240" y="4297680"/>
            <a:ext cx="4983480" cy="1673352"/>
          </a:xfrm>
          <a:prstGeom prst="rect">
            <a:avLst/>
          </a:prstGeom>
          <a:noFill/>
          <a:ln/>
        </p:spPr>
        <p:txBody>
          <a:bodyPr wrap="square" lIns="0" tIns="0" rIns="0" bIns="0" rtlCol="0" anchor="t"/>
          <a:lstStyle/>
          <a:p>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int</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x =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5</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int</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y =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3</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if</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(x &gt;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0</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if</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(y &gt;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0</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"both positive"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else</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"x is not positive"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"end"</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6" name="Shape 13"/>
          <p:cNvSpPr/>
          <p:nvPr/>
        </p:nvSpPr>
        <p:spPr>
          <a:xfrm>
            <a:off x="6217920" y="3886200"/>
            <a:ext cx="5440680" cy="2176272"/>
          </a:xfrm>
          <a:prstGeom prst="roundRect">
            <a:avLst>
              <a:gd name="adj" fmla="val 4202"/>
            </a:avLst>
          </a:prstGeom>
          <a:solidFill>
            <a:srgbClr val="0F1729"/>
          </a:solidFill>
          <a:ln w="12700">
            <a:solidFill>
              <a:srgbClr val="0F1729"/>
            </a:solidFill>
            <a:prstDash val="solid"/>
          </a:ln>
        </p:spPr>
      </p:sp>
      <p:sp>
        <p:nvSpPr>
          <p:cNvPr id="17" name="Text 14"/>
          <p:cNvSpPr txBox="1"/>
          <p:nvPr/>
        </p:nvSpPr>
        <p:spPr>
          <a:xfrm>
            <a:off x="6446520" y="3995928"/>
            <a:ext cx="49834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Snippet D</a:t>
            </a:r>
            <a:endParaRPr lang="en-US" sz="1100" dirty="0"/>
          </a:p>
        </p:txBody>
      </p:sp>
      <p:sp>
        <p:nvSpPr>
          <p:cNvPr id="18" name="Text 15"/>
          <p:cNvSpPr txBox="1"/>
          <p:nvPr/>
        </p:nvSpPr>
        <p:spPr>
          <a:xfrm>
            <a:off x="6446520" y="4297680"/>
            <a:ext cx="4983480" cy="1673352"/>
          </a:xfrm>
          <a:prstGeom prst="rect">
            <a:avLst/>
          </a:prstGeom>
          <a:noFill/>
          <a:ln/>
        </p:spPr>
        <p:txBody>
          <a:bodyPr wrap="square" lIns="0" tIns="0" rIns="0" bIns="0" rtlCol="0" anchor="t"/>
          <a:lstStyle/>
          <a:p>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int</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n =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15</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if</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(n %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3</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0</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"Fizz"</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if</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(n %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5</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0</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"Buzz"</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if</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(n %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3</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0</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&amp;&amp; n %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5</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0</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.WriteLine(n);</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QUIZ 2 · SWITCH</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switch and switch Expressions: Predict or Fix</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37</a:t>
            </a:r>
            <a:endParaRPr lang="en-US" sz="1000" dirty="0"/>
          </a:p>
        </p:txBody>
      </p:sp>
      <p:sp>
        <p:nvSpPr>
          <p:cNvPr id="7" name="Shape 4"/>
          <p:cNvSpPr/>
          <p:nvPr/>
        </p:nvSpPr>
        <p:spPr>
          <a:xfrm>
            <a:off x="548640" y="1600200"/>
            <a:ext cx="5440680" cy="2926080"/>
          </a:xfrm>
          <a:prstGeom prst="roundRect">
            <a:avLst>
              <a:gd name="adj" fmla="val 3125"/>
            </a:avLst>
          </a:prstGeom>
          <a:solidFill>
            <a:srgbClr val="0F1729"/>
          </a:solidFill>
          <a:ln w="12700">
            <a:solidFill>
              <a:srgbClr val="0F1729"/>
            </a:solidFill>
            <a:prstDash val="solid"/>
          </a:ln>
        </p:spPr>
      </p:sp>
      <p:sp>
        <p:nvSpPr>
          <p:cNvPr id="8" name="Text 5"/>
          <p:cNvSpPr txBox="1"/>
          <p:nvPr/>
        </p:nvSpPr>
        <p:spPr>
          <a:xfrm>
            <a:off x="777240" y="1709928"/>
            <a:ext cx="49834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Snippet E — and for k = 1? k = 5?</a:t>
            </a:r>
            <a:endParaRPr lang="en-US" sz="1100" dirty="0"/>
          </a:p>
        </p:txBody>
      </p:sp>
      <p:sp>
        <p:nvSpPr>
          <p:cNvPr id="9" name="Text 6"/>
          <p:cNvSpPr txBox="1"/>
          <p:nvPr/>
        </p:nvSpPr>
        <p:spPr>
          <a:xfrm>
            <a:off x="777240" y="2011680"/>
            <a:ext cx="4983480" cy="2423160"/>
          </a:xfrm>
          <a:prstGeom prst="rect">
            <a:avLst/>
          </a:prstGeom>
          <a:noFill/>
          <a:ln/>
        </p:spPr>
        <p:txBody>
          <a:bodyPr wrap="square" lIns="0" tIns="0" rIns="0" bIns="0" rtlCol="0" anchor="t"/>
          <a:lstStyle/>
          <a:p>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int</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k =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2</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switch</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(k)</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case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1</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case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2</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"small"</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break</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default</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"big"</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break</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6217920" y="1600200"/>
            <a:ext cx="5440680" cy="2377440"/>
          </a:xfrm>
          <a:prstGeom prst="roundRect">
            <a:avLst>
              <a:gd name="adj" fmla="val 3846"/>
            </a:avLst>
          </a:prstGeom>
          <a:solidFill>
            <a:srgbClr val="0F1729"/>
          </a:solidFill>
          <a:ln w="12700">
            <a:solidFill>
              <a:srgbClr val="0F1729"/>
            </a:solidFill>
            <a:prstDash val="solid"/>
          </a:ln>
        </p:spPr>
      </p:sp>
      <p:sp>
        <p:nvSpPr>
          <p:cNvPr id="11" name="Text 8"/>
          <p:cNvSpPr txBox="1"/>
          <p:nvPr/>
        </p:nvSpPr>
        <p:spPr>
          <a:xfrm>
            <a:off x="6446520" y="1709928"/>
            <a:ext cx="49834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Snippet F</a:t>
            </a:r>
            <a:endParaRPr lang="en-US" sz="1100" dirty="0"/>
          </a:p>
        </p:txBody>
      </p:sp>
      <p:sp>
        <p:nvSpPr>
          <p:cNvPr id="12" name="Text 9"/>
          <p:cNvSpPr txBox="1"/>
          <p:nvPr/>
        </p:nvSpPr>
        <p:spPr>
          <a:xfrm>
            <a:off x="6446520" y="2011680"/>
            <a:ext cx="4983480" cy="1874520"/>
          </a:xfrm>
          <a:prstGeom prst="rect">
            <a:avLst/>
          </a:prstGeom>
          <a:noFill/>
          <a:ln/>
        </p:spPr>
        <p:txBody>
          <a:bodyPr wrap="square" lIns="0" tIns="0" rIns="0" bIns="0" rtlCol="0" anchor="t"/>
          <a:lstStyle/>
          <a:p>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int</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t =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25</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string</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msg = 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switch</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&lt;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0</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=&gt; </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"freezing"</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&lt;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15</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=&gt; </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"cold"</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&lt;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25</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=&gt; </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"mild"</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_ =&gt; </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"warm"</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.WriteLine(msg);</a:t>
            </a:r>
            <a:endParaRPr lang="en-US" sz="1200" dirty="0"/>
          </a:p>
        </p:txBody>
      </p:sp>
      <p:sp>
        <p:nvSpPr>
          <p:cNvPr id="13" name="Shape 10"/>
          <p:cNvSpPr/>
          <p:nvPr/>
        </p:nvSpPr>
        <p:spPr>
          <a:xfrm>
            <a:off x="6217920" y="4114800"/>
            <a:ext cx="5440680" cy="2011680"/>
          </a:xfrm>
          <a:prstGeom prst="roundRect">
            <a:avLst>
              <a:gd name="adj" fmla="val 4545"/>
            </a:avLst>
          </a:prstGeom>
          <a:solidFill>
            <a:srgbClr val="0F1729"/>
          </a:solidFill>
          <a:ln w="12700">
            <a:solidFill>
              <a:srgbClr val="0F1729"/>
            </a:solidFill>
            <a:prstDash val="solid"/>
          </a:ln>
        </p:spPr>
      </p:sp>
      <p:sp>
        <p:nvSpPr>
          <p:cNvPr id="14" name="Text 11"/>
          <p:cNvSpPr txBox="1"/>
          <p:nvPr/>
        </p:nvSpPr>
        <p:spPr>
          <a:xfrm>
            <a:off x="6446520" y="4224528"/>
            <a:ext cx="49834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Snippet G — find the bug</a:t>
            </a:r>
            <a:endParaRPr lang="en-US" sz="1100" dirty="0"/>
          </a:p>
        </p:txBody>
      </p:sp>
      <p:sp>
        <p:nvSpPr>
          <p:cNvPr id="15" name="Text 12"/>
          <p:cNvSpPr txBox="1"/>
          <p:nvPr/>
        </p:nvSpPr>
        <p:spPr>
          <a:xfrm>
            <a:off x="6446520" y="4526280"/>
            <a:ext cx="4983480" cy="1508760"/>
          </a:xfrm>
          <a:prstGeom prst="rect">
            <a:avLst/>
          </a:prstGeom>
          <a:noFill/>
          <a:ln/>
        </p:spPr>
        <p:txBody>
          <a:bodyPr wrap="square" lIns="0" tIns="0" rIns="0" bIns="0" rtlCol="0" anchor="t"/>
          <a:lstStyle/>
          <a:p>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switch</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(day)</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case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6</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"Saturday"</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case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B5CEA8"/>
                </a:solidFill>
                <a:latin typeface="Courier New" pitchFamily="34" charset="0"/>
                <a:ea typeface="Courier New" pitchFamily="34" charset="-122"/>
                <a:cs typeface="Courier New" pitchFamily="34" charset="-120"/>
              </a:rPr>
              <a:t>7</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4EC9B0"/>
                </a:solidFill>
                <a:latin typeface="Courier New" pitchFamily="34" charset="0"/>
                <a:ea typeface="Courier New" pitchFamily="34" charset="-122"/>
                <a:cs typeface="Courier New" pitchFamily="34" charset="-120"/>
              </a:rPr>
              <a:t>Console</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.WriteLine(</a:t>
            </a:r>
            <a:pPr indent="0" marL="0">
              <a:lnSpc>
                <a:spcPts val="1300"/>
              </a:lnSpc>
              <a:buNone/>
            </a:pPr>
            <a:r>
              <a:rPr lang="en-US" sz="1200" dirty="0">
                <a:solidFill>
                  <a:srgbClr val="CE9178"/>
                </a:solidFill>
                <a:latin typeface="Courier New" pitchFamily="34" charset="0"/>
                <a:ea typeface="Courier New" pitchFamily="34" charset="-122"/>
                <a:cs typeface="Courier New" pitchFamily="34" charset="-120"/>
              </a:rPr>
              <a:t>"Sunday"</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        </a:t>
            </a:r>
            <a:pPr indent="0" marL="0">
              <a:lnSpc>
                <a:spcPts val="1300"/>
              </a:lnSpc>
              <a:buNone/>
            </a:pPr>
            <a:r>
              <a:rPr lang="en-US" sz="1200" dirty="0">
                <a:solidFill>
                  <a:srgbClr val="7AB8FF"/>
                </a:solidFill>
                <a:latin typeface="Courier New" pitchFamily="34" charset="0"/>
                <a:ea typeface="Courier New" pitchFamily="34" charset="-122"/>
                <a:cs typeface="Courier New" pitchFamily="34" charset="-120"/>
              </a:rPr>
              <a:t>break</a:t>
            </a:r>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lnSpc>
                <a:spcPts val="13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6" name="Shape 13"/>
          <p:cNvSpPr/>
          <p:nvPr/>
        </p:nvSpPr>
        <p:spPr>
          <a:xfrm>
            <a:off x="548640" y="4663440"/>
            <a:ext cx="5440680" cy="1463040"/>
          </a:xfrm>
          <a:prstGeom prst="roundRect">
            <a:avLst>
              <a:gd name="adj" fmla="val 7500"/>
            </a:avLst>
          </a:prstGeom>
          <a:solidFill>
            <a:srgbClr val="FFF6E3"/>
          </a:solidFill>
          <a:ln w="12700">
            <a:solidFill>
              <a:srgbClr val="FFF6E3"/>
            </a:solidFill>
            <a:prstDash val="solid"/>
          </a:ln>
        </p:spPr>
      </p:sp>
      <p:sp>
        <p:nvSpPr>
          <p:cNvPr id="17" name="Shape 14"/>
          <p:cNvSpPr/>
          <p:nvPr/>
        </p:nvSpPr>
        <p:spPr>
          <a:xfrm>
            <a:off x="777240" y="4892040"/>
            <a:ext cx="566928" cy="566928"/>
          </a:xfrm>
          <a:prstGeom prst="ellipse">
            <a:avLst/>
          </a:prstGeom>
          <a:solidFill>
            <a:srgbClr val="B7791F"/>
          </a:solidFill>
          <a:ln w="12700">
            <a:solidFill>
              <a:srgbClr val="B7791F"/>
            </a:solidFill>
            <a:prstDash val="solid"/>
          </a:ln>
        </p:spPr>
      </p:sp>
      <p:pic>
        <p:nvPicPr>
          <p:cNvPr id="18" name="Image 0" descr="preencoded.png">    </p:cNvPr>
          <p:cNvPicPr>
            <a:picLocks noChangeAspect="1"/>
          </p:cNvPicPr>
          <p:nvPr/>
        </p:nvPicPr>
        <p:blipFill>
          <a:blip r:embed="rId1"/>
          <a:stretch>
            <a:fillRect/>
          </a:stretch>
        </p:blipFill>
        <p:spPr>
          <a:xfrm>
            <a:off x="924641" y="5039441"/>
            <a:ext cx="272125" cy="272125"/>
          </a:xfrm>
          <a:prstGeom prst="rect">
            <a:avLst/>
          </a:prstGeom>
        </p:spPr>
      </p:pic>
      <p:sp>
        <p:nvSpPr>
          <p:cNvPr id="19" name="Text 15"/>
          <p:cNvSpPr txBox="1"/>
          <p:nvPr/>
        </p:nvSpPr>
        <p:spPr>
          <a:xfrm>
            <a:off x="1463040" y="489204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Your turn</a:t>
            </a:r>
            <a:endParaRPr lang="en-US" sz="1700" dirty="0"/>
          </a:p>
        </p:txBody>
      </p:sp>
      <p:sp>
        <p:nvSpPr>
          <p:cNvPr id="20" name="Text 16"/>
          <p:cNvSpPr txBox="1"/>
          <p:nvPr/>
        </p:nvSpPr>
        <p:spPr>
          <a:xfrm>
            <a:off x="777240" y="5577840"/>
            <a:ext cx="4983480" cy="41148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Write the output of E and F, and explain what the compiler says about G.</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QUIZ ANSWERS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Answers to Quiz 1 and Quiz 2</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38</a:t>
            </a:r>
            <a:endParaRPr lang="en-US" sz="10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109960" cy="914400"/>
        </p:xfrm>
        <a:graphic>
          <a:graphicData uri="http://schemas.openxmlformats.org/drawingml/2006/table">
            <a:tbl>
              <a:tblPr/>
              <a:tblGrid>
                <a:gridCol w="548640"/>
                <a:gridCol w="3154680"/>
                <a:gridCol w="7406640"/>
              </a:tblGrid>
              <a:tr h="548640">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Output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Why</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548640">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B</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 &gt; 5 &amp;&amp; b &gt; 5 is false (b is 3); a &gt; 5 || b &gt; 5 is true.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48640">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B</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It is hot!  /  Done.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The ; ends the if; the { } block is independent and always runs.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48640">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C</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x is not positive  /  end</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The else belongs to the nearest if: if (y &gt; 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48640">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Fizz  /  Buzz</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Three independent ifs, not a ladder: two tests are true.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48640">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small</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k = 2 matches the stacked labels 1 and 2. k = 1 → small, k = 5 → big.</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48640">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F</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warm</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25 &lt; 25 is false, so only the discard arm _ matches.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48640">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G</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does not compile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error CS0163: add break; after "Saturday".</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PRACTICE · IN CLASS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In-Class Exercises (Pairs)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39</a:t>
            </a:r>
            <a:endParaRPr lang="en-US" sz="1000" dirty="0"/>
          </a:p>
        </p:txBody>
      </p:sp>
      <p:sp>
        <p:nvSpPr>
          <p:cNvPr id="7" name="Shape 4"/>
          <p:cNvSpPr/>
          <p:nvPr/>
        </p:nvSpPr>
        <p:spPr>
          <a:xfrm>
            <a:off x="548640" y="1600200"/>
            <a:ext cx="3566160" cy="2103120"/>
          </a:xfrm>
          <a:prstGeom prst="roundRect">
            <a:avLst>
              <a:gd name="adj" fmla="val 5217"/>
            </a:avLst>
          </a:prstGeom>
          <a:solidFill>
            <a:srgbClr val="EEF1F6"/>
          </a:solidFill>
          <a:ln w="12700">
            <a:solidFill>
              <a:srgbClr val="EEF1F6"/>
            </a:solidFill>
            <a:prstDash val="solid"/>
          </a:ln>
        </p:spPr>
      </p:sp>
      <p:sp>
        <p:nvSpPr>
          <p:cNvPr id="8" name="Text 5"/>
          <p:cNvSpPr txBox="1"/>
          <p:nvPr/>
        </p:nvSpPr>
        <p:spPr>
          <a:xfrm>
            <a:off x="777240" y="1783080"/>
            <a:ext cx="3108960" cy="320040"/>
          </a:xfrm>
          <a:prstGeom prst="rect">
            <a:avLst/>
          </a:prstGeom>
          <a:noFill/>
          <a:ln/>
        </p:spPr>
        <p:txBody>
          <a:bodyPr wrap="square" lIns="0" tIns="0" rIns="0" bIns="0" rtlCol="0" anchor="ctr"/>
          <a:lstStyle/>
          <a:p>
            <a:pPr indent="0" marL="0">
              <a:buNone/>
            </a:pPr>
            <a:r>
              <a:rPr lang="en-US" sz="1400" b="1" dirty="0">
                <a:solidFill>
                  <a:srgbClr val="B7791F"/>
                </a:solidFill>
                <a:latin typeface="Courier New" pitchFamily="34" charset="0"/>
                <a:ea typeface="Courier New" pitchFamily="34" charset="-122"/>
                <a:cs typeface="Courier New" pitchFamily="34" charset="-120"/>
              </a:rPr>
              <a:t>E1  ★</a:t>
            </a:r>
            <a:endParaRPr lang="en-US" sz="1400" dirty="0"/>
          </a:p>
        </p:txBody>
      </p:sp>
      <p:sp>
        <p:nvSpPr>
          <p:cNvPr id="9" name="Text 6"/>
          <p:cNvSpPr txBox="1"/>
          <p:nvPr/>
        </p:nvSpPr>
        <p:spPr>
          <a:xfrm>
            <a:off x="777240" y="2148840"/>
            <a:ext cx="3108960" cy="365760"/>
          </a:xfrm>
          <a:prstGeom prst="rect">
            <a:avLst/>
          </a:prstGeom>
          <a:noFill/>
          <a:ln/>
        </p:spPr>
        <p:txBody>
          <a:bodyPr wrap="square" lIns="0" tIns="0" rIns="0" bIns="0" rtlCol="0" anchor="ctr"/>
          <a:lstStyle/>
          <a:p>
            <a:pPr indent="0" marL="0">
              <a:buNone/>
            </a:pPr>
            <a:r>
              <a:rPr lang="en-US" sz="1800" b="1" dirty="0">
                <a:solidFill>
                  <a:srgbClr val="14213D"/>
                </a:solidFill>
                <a:latin typeface="Cambria" pitchFamily="34" charset="0"/>
                <a:ea typeface="Cambria" pitchFamily="34" charset="-122"/>
                <a:cs typeface="Cambria" pitchFamily="34" charset="-120"/>
              </a:rPr>
              <a:t>Sign of a number</a:t>
            </a:r>
            <a:endParaRPr lang="en-US" sz="1800" dirty="0"/>
          </a:p>
        </p:txBody>
      </p:sp>
      <p:sp>
        <p:nvSpPr>
          <p:cNvPr id="10" name="Text 7"/>
          <p:cNvSpPr txBox="1"/>
          <p:nvPr/>
        </p:nvSpPr>
        <p:spPr>
          <a:xfrm>
            <a:off x="777240" y="2606040"/>
            <a:ext cx="3108960" cy="100584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Read an integer; print positive, negative or zero.</a:t>
            </a:r>
            <a:endParaRPr lang="en-US" sz="1400" dirty="0"/>
          </a:p>
        </p:txBody>
      </p:sp>
      <p:sp>
        <p:nvSpPr>
          <p:cNvPr id="11" name="Shape 8"/>
          <p:cNvSpPr/>
          <p:nvPr/>
        </p:nvSpPr>
        <p:spPr>
          <a:xfrm>
            <a:off x="4315968" y="1600200"/>
            <a:ext cx="3566160" cy="2103120"/>
          </a:xfrm>
          <a:prstGeom prst="roundRect">
            <a:avLst>
              <a:gd name="adj" fmla="val 5217"/>
            </a:avLst>
          </a:prstGeom>
          <a:solidFill>
            <a:srgbClr val="EEF1F6"/>
          </a:solidFill>
          <a:ln w="12700">
            <a:solidFill>
              <a:srgbClr val="EEF1F6"/>
            </a:solidFill>
            <a:prstDash val="solid"/>
          </a:ln>
        </p:spPr>
      </p:sp>
      <p:sp>
        <p:nvSpPr>
          <p:cNvPr id="12" name="Text 9"/>
          <p:cNvSpPr txBox="1"/>
          <p:nvPr/>
        </p:nvSpPr>
        <p:spPr>
          <a:xfrm>
            <a:off x="4544568" y="1783080"/>
            <a:ext cx="3108960" cy="320040"/>
          </a:xfrm>
          <a:prstGeom prst="rect">
            <a:avLst/>
          </a:prstGeom>
          <a:noFill/>
          <a:ln/>
        </p:spPr>
        <p:txBody>
          <a:bodyPr wrap="square" lIns="0" tIns="0" rIns="0" bIns="0" rtlCol="0" anchor="ctr"/>
          <a:lstStyle/>
          <a:p>
            <a:pPr indent="0" marL="0">
              <a:buNone/>
            </a:pPr>
            <a:r>
              <a:rPr lang="en-US" sz="1400" b="1" dirty="0">
                <a:solidFill>
                  <a:srgbClr val="B7791F"/>
                </a:solidFill>
                <a:latin typeface="Courier New" pitchFamily="34" charset="0"/>
                <a:ea typeface="Courier New" pitchFamily="34" charset="-122"/>
                <a:cs typeface="Courier New" pitchFamily="34" charset="-120"/>
              </a:rPr>
              <a:t>E2  ★</a:t>
            </a:r>
            <a:endParaRPr lang="en-US" sz="1400" dirty="0"/>
          </a:p>
        </p:txBody>
      </p:sp>
      <p:sp>
        <p:nvSpPr>
          <p:cNvPr id="13" name="Text 10"/>
          <p:cNvSpPr txBox="1"/>
          <p:nvPr/>
        </p:nvSpPr>
        <p:spPr>
          <a:xfrm>
            <a:off x="4544568" y="2148840"/>
            <a:ext cx="3108960" cy="365760"/>
          </a:xfrm>
          <a:prstGeom prst="rect">
            <a:avLst/>
          </a:prstGeom>
          <a:noFill/>
          <a:ln/>
        </p:spPr>
        <p:txBody>
          <a:bodyPr wrap="square" lIns="0" tIns="0" rIns="0" bIns="0" rtlCol="0" anchor="ctr"/>
          <a:lstStyle/>
          <a:p>
            <a:pPr indent="0" marL="0">
              <a:buNone/>
            </a:pPr>
            <a:r>
              <a:rPr lang="en-US" sz="1800" b="1" dirty="0">
                <a:solidFill>
                  <a:srgbClr val="14213D"/>
                </a:solidFill>
                <a:latin typeface="Cambria" pitchFamily="34" charset="0"/>
                <a:ea typeface="Cambria" pitchFamily="34" charset="-122"/>
                <a:cs typeface="Cambria" pitchFamily="34" charset="-120"/>
              </a:rPr>
              <a:t>Vowel or consonant</a:t>
            </a:r>
            <a:endParaRPr lang="en-US" sz="1800" dirty="0"/>
          </a:p>
        </p:txBody>
      </p:sp>
      <p:sp>
        <p:nvSpPr>
          <p:cNvPr id="14" name="Text 11"/>
          <p:cNvSpPr txBox="1"/>
          <p:nvPr/>
        </p:nvSpPr>
        <p:spPr>
          <a:xfrm>
            <a:off x="4544568" y="2606040"/>
            <a:ext cx="3108960" cy="100584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Read one letter (char.TryParse); switch with stacked labels a e i o u, both cases.</a:t>
            </a:r>
            <a:endParaRPr lang="en-US" sz="1400" dirty="0"/>
          </a:p>
        </p:txBody>
      </p:sp>
      <p:sp>
        <p:nvSpPr>
          <p:cNvPr id="15" name="Shape 12"/>
          <p:cNvSpPr/>
          <p:nvPr/>
        </p:nvSpPr>
        <p:spPr>
          <a:xfrm>
            <a:off x="8083296" y="1600200"/>
            <a:ext cx="3566160" cy="2103120"/>
          </a:xfrm>
          <a:prstGeom prst="roundRect">
            <a:avLst>
              <a:gd name="adj" fmla="val 5217"/>
            </a:avLst>
          </a:prstGeom>
          <a:solidFill>
            <a:srgbClr val="EEF1F6"/>
          </a:solidFill>
          <a:ln w="12700">
            <a:solidFill>
              <a:srgbClr val="EEF1F6"/>
            </a:solidFill>
            <a:prstDash val="solid"/>
          </a:ln>
        </p:spPr>
      </p:sp>
      <p:sp>
        <p:nvSpPr>
          <p:cNvPr id="16" name="Text 13"/>
          <p:cNvSpPr txBox="1"/>
          <p:nvPr/>
        </p:nvSpPr>
        <p:spPr>
          <a:xfrm>
            <a:off x="8311896" y="1783080"/>
            <a:ext cx="3108960" cy="320040"/>
          </a:xfrm>
          <a:prstGeom prst="rect">
            <a:avLst/>
          </a:prstGeom>
          <a:noFill/>
          <a:ln/>
        </p:spPr>
        <p:txBody>
          <a:bodyPr wrap="square" lIns="0" tIns="0" rIns="0" bIns="0" rtlCol="0" anchor="ctr"/>
          <a:lstStyle/>
          <a:p>
            <a:pPr indent="0" marL="0">
              <a:buNone/>
            </a:pPr>
            <a:r>
              <a:rPr lang="en-US" sz="1400" b="1" dirty="0">
                <a:solidFill>
                  <a:srgbClr val="B7791F"/>
                </a:solidFill>
                <a:latin typeface="Courier New" pitchFamily="34" charset="0"/>
                <a:ea typeface="Courier New" pitchFamily="34" charset="-122"/>
                <a:cs typeface="Courier New" pitchFamily="34" charset="-120"/>
              </a:rPr>
              <a:t>E3  ★★</a:t>
            </a:r>
            <a:endParaRPr lang="en-US" sz="1400" dirty="0"/>
          </a:p>
        </p:txBody>
      </p:sp>
      <p:sp>
        <p:nvSpPr>
          <p:cNvPr id="17" name="Text 14"/>
          <p:cNvSpPr txBox="1"/>
          <p:nvPr/>
        </p:nvSpPr>
        <p:spPr>
          <a:xfrm>
            <a:off x="8311896" y="2148840"/>
            <a:ext cx="3108960" cy="365760"/>
          </a:xfrm>
          <a:prstGeom prst="rect">
            <a:avLst/>
          </a:prstGeom>
          <a:noFill/>
          <a:ln/>
        </p:spPr>
        <p:txBody>
          <a:bodyPr wrap="square" lIns="0" tIns="0" rIns="0" bIns="0" rtlCol="0" anchor="ctr"/>
          <a:lstStyle/>
          <a:p>
            <a:pPr indent="0" marL="0">
              <a:buNone/>
            </a:pPr>
            <a:r>
              <a:rPr lang="en-US" sz="1800" b="1" dirty="0">
                <a:solidFill>
                  <a:srgbClr val="14213D"/>
                </a:solidFill>
                <a:latin typeface="Cambria" pitchFamily="34" charset="0"/>
                <a:ea typeface="Cambria" pitchFamily="34" charset="-122"/>
                <a:cs typeface="Cambria" pitchFamily="34" charset="-120"/>
              </a:rPr>
              <a:t>Days in a month</a:t>
            </a:r>
            <a:endParaRPr lang="en-US" sz="1800" dirty="0"/>
          </a:p>
        </p:txBody>
      </p:sp>
      <p:sp>
        <p:nvSpPr>
          <p:cNvPr id="18" name="Text 15"/>
          <p:cNvSpPr txBox="1"/>
          <p:nvPr/>
        </p:nvSpPr>
        <p:spPr>
          <a:xfrm>
            <a:off x="8311896" y="2606040"/>
            <a:ext cx="3108960" cy="100584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Month 1–12 and year → 28, 29, 30 or 31 days (stacked labels + leap rule).</a:t>
            </a:r>
            <a:endParaRPr lang="en-US" sz="1400" dirty="0"/>
          </a:p>
        </p:txBody>
      </p:sp>
      <p:sp>
        <p:nvSpPr>
          <p:cNvPr id="19" name="Shape 16"/>
          <p:cNvSpPr/>
          <p:nvPr/>
        </p:nvSpPr>
        <p:spPr>
          <a:xfrm>
            <a:off x="548640" y="3886200"/>
            <a:ext cx="3566160" cy="2103120"/>
          </a:xfrm>
          <a:prstGeom prst="roundRect">
            <a:avLst>
              <a:gd name="adj" fmla="val 5217"/>
            </a:avLst>
          </a:prstGeom>
          <a:solidFill>
            <a:srgbClr val="EEF1F6"/>
          </a:solidFill>
          <a:ln w="12700">
            <a:solidFill>
              <a:srgbClr val="EEF1F6"/>
            </a:solidFill>
            <a:prstDash val="solid"/>
          </a:ln>
        </p:spPr>
      </p:sp>
      <p:sp>
        <p:nvSpPr>
          <p:cNvPr id="20" name="Text 17"/>
          <p:cNvSpPr txBox="1"/>
          <p:nvPr/>
        </p:nvSpPr>
        <p:spPr>
          <a:xfrm>
            <a:off x="777240" y="4069080"/>
            <a:ext cx="3108960" cy="320040"/>
          </a:xfrm>
          <a:prstGeom prst="rect">
            <a:avLst/>
          </a:prstGeom>
          <a:noFill/>
          <a:ln/>
        </p:spPr>
        <p:txBody>
          <a:bodyPr wrap="square" lIns="0" tIns="0" rIns="0" bIns="0" rtlCol="0" anchor="ctr"/>
          <a:lstStyle/>
          <a:p>
            <a:pPr indent="0" marL="0">
              <a:buNone/>
            </a:pPr>
            <a:r>
              <a:rPr lang="en-US" sz="1400" b="1" dirty="0">
                <a:solidFill>
                  <a:srgbClr val="B7791F"/>
                </a:solidFill>
                <a:latin typeface="Courier New" pitchFamily="34" charset="0"/>
                <a:ea typeface="Courier New" pitchFamily="34" charset="-122"/>
                <a:cs typeface="Courier New" pitchFamily="34" charset="-120"/>
              </a:rPr>
              <a:t>E4  ★★</a:t>
            </a:r>
            <a:endParaRPr lang="en-US" sz="1400" dirty="0"/>
          </a:p>
        </p:txBody>
      </p:sp>
      <p:sp>
        <p:nvSpPr>
          <p:cNvPr id="21" name="Text 18"/>
          <p:cNvSpPr txBox="1"/>
          <p:nvPr/>
        </p:nvSpPr>
        <p:spPr>
          <a:xfrm>
            <a:off x="777240" y="4434840"/>
            <a:ext cx="3108960" cy="365760"/>
          </a:xfrm>
          <a:prstGeom prst="rect">
            <a:avLst/>
          </a:prstGeom>
          <a:noFill/>
          <a:ln/>
        </p:spPr>
        <p:txBody>
          <a:bodyPr wrap="square" lIns="0" tIns="0" rIns="0" bIns="0" rtlCol="0" anchor="ctr"/>
          <a:lstStyle/>
          <a:p>
            <a:pPr indent="0" marL="0">
              <a:buNone/>
            </a:pPr>
            <a:r>
              <a:rPr lang="en-US" sz="1800" b="1" dirty="0">
                <a:solidFill>
                  <a:srgbClr val="14213D"/>
                </a:solidFill>
                <a:latin typeface="Cambria" pitchFamily="34" charset="0"/>
                <a:ea typeface="Cambria" pitchFamily="34" charset="-122"/>
                <a:cs typeface="Cambria" pitchFamily="34" charset="-120"/>
              </a:rPr>
              <a:t>Weather advice</a:t>
            </a:r>
            <a:endParaRPr lang="en-US" sz="1800" dirty="0"/>
          </a:p>
        </p:txBody>
      </p:sp>
      <p:sp>
        <p:nvSpPr>
          <p:cNvPr id="22" name="Text 19"/>
          <p:cNvSpPr txBox="1"/>
          <p:nvPr/>
        </p:nvSpPr>
        <p:spPr>
          <a:xfrm>
            <a:off x="777240" y="4892040"/>
            <a:ext cx="3108960" cy="100584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Temperature → advice with a switch expression and relational patterns.</a:t>
            </a:r>
            <a:endParaRPr lang="en-US" sz="1400" dirty="0"/>
          </a:p>
        </p:txBody>
      </p:sp>
      <p:sp>
        <p:nvSpPr>
          <p:cNvPr id="23" name="Shape 20"/>
          <p:cNvSpPr/>
          <p:nvPr/>
        </p:nvSpPr>
        <p:spPr>
          <a:xfrm>
            <a:off x="4315968" y="3886200"/>
            <a:ext cx="3566160" cy="2103120"/>
          </a:xfrm>
          <a:prstGeom prst="roundRect">
            <a:avLst>
              <a:gd name="adj" fmla="val 5217"/>
            </a:avLst>
          </a:prstGeom>
          <a:solidFill>
            <a:srgbClr val="EEF1F6"/>
          </a:solidFill>
          <a:ln w="12700">
            <a:solidFill>
              <a:srgbClr val="EEF1F6"/>
            </a:solidFill>
            <a:prstDash val="solid"/>
          </a:ln>
        </p:spPr>
      </p:sp>
      <p:sp>
        <p:nvSpPr>
          <p:cNvPr id="24" name="Text 21"/>
          <p:cNvSpPr txBox="1"/>
          <p:nvPr/>
        </p:nvSpPr>
        <p:spPr>
          <a:xfrm>
            <a:off x="4544568" y="4069080"/>
            <a:ext cx="3108960" cy="320040"/>
          </a:xfrm>
          <a:prstGeom prst="rect">
            <a:avLst/>
          </a:prstGeom>
          <a:noFill/>
          <a:ln/>
        </p:spPr>
        <p:txBody>
          <a:bodyPr wrap="square" lIns="0" tIns="0" rIns="0" bIns="0" rtlCol="0" anchor="ctr"/>
          <a:lstStyle/>
          <a:p>
            <a:pPr indent="0" marL="0">
              <a:buNone/>
            </a:pPr>
            <a:r>
              <a:rPr lang="en-US" sz="1400" b="1" dirty="0">
                <a:solidFill>
                  <a:srgbClr val="B7791F"/>
                </a:solidFill>
                <a:latin typeface="Courier New" pitchFamily="34" charset="0"/>
                <a:ea typeface="Courier New" pitchFamily="34" charset="-122"/>
                <a:cs typeface="Courier New" pitchFamily="34" charset="-120"/>
              </a:rPr>
              <a:t>E5  ★★</a:t>
            </a:r>
            <a:endParaRPr lang="en-US" sz="1400" dirty="0"/>
          </a:p>
        </p:txBody>
      </p:sp>
      <p:sp>
        <p:nvSpPr>
          <p:cNvPr id="25" name="Text 22"/>
          <p:cNvSpPr txBox="1"/>
          <p:nvPr/>
        </p:nvSpPr>
        <p:spPr>
          <a:xfrm>
            <a:off x="4544568" y="4434840"/>
            <a:ext cx="3108960" cy="365760"/>
          </a:xfrm>
          <a:prstGeom prst="rect">
            <a:avLst/>
          </a:prstGeom>
          <a:noFill/>
          <a:ln/>
        </p:spPr>
        <p:txBody>
          <a:bodyPr wrap="square" lIns="0" tIns="0" rIns="0" bIns="0" rtlCol="0" anchor="ctr"/>
          <a:lstStyle/>
          <a:p>
            <a:pPr indent="0" marL="0">
              <a:buNone/>
            </a:pPr>
            <a:r>
              <a:rPr lang="en-US" sz="1800" b="1" dirty="0">
                <a:solidFill>
                  <a:srgbClr val="14213D"/>
                </a:solidFill>
                <a:latin typeface="Cambria" pitchFamily="34" charset="0"/>
                <a:ea typeface="Cambria" pitchFamily="34" charset="-122"/>
                <a:cs typeface="Cambria" pitchFamily="34" charset="-120"/>
              </a:rPr>
              <a:t>Electricity bill</a:t>
            </a:r>
            <a:endParaRPr lang="en-US" sz="1800" dirty="0"/>
          </a:p>
        </p:txBody>
      </p:sp>
      <p:sp>
        <p:nvSpPr>
          <p:cNvPr id="26" name="Text 23"/>
          <p:cNvSpPr txBox="1"/>
          <p:nvPr/>
        </p:nvSpPr>
        <p:spPr>
          <a:xfrm>
            <a:off x="4544568" y="4892040"/>
            <a:ext cx="3108960" cy="100584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First 150 kWh at 2.00 TL, the rest at 3.00 TL; validate kWh ≥ 0.</a:t>
            </a:r>
            <a:endParaRPr lang="en-US" sz="1400" dirty="0"/>
          </a:p>
        </p:txBody>
      </p:sp>
      <p:sp>
        <p:nvSpPr>
          <p:cNvPr id="27" name="Shape 24"/>
          <p:cNvSpPr/>
          <p:nvPr/>
        </p:nvSpPr>
        <p:spPr>
          <a:xfrm>
            <a:off x="8083296" y="3886200"/>
            <a:ext cx="3566160" cy="2103120"/>
          </a:xfrm>
          <a:prstGeom prst="roundRect">
            <a:avLst>
              <a:gd name="adj" fmla="val 5217"/>
            </a:avLst>
          </a:prstGeom>
          <a:solidFill>
            <a:srgbClr val="EEF1F6"/>
          </a:solidFill>
          <a:ln w="12700">
            <a:solidFill>
              <a:srgbClr val="EEF1F6"/>
            </a:solidFill>
            <a:prstDash val="solid"/>
          </a:ln>
        </p:spPr>
      </p:sp>
      <p:sp>
        <p:nvSpPr>
          <p:cNvPr id="28" name="Text 25"/>
          <p:cNvSpPr txBox="1"/>
          <p:nvPr/>
        </p:nvSpPr>
        <p:spPr>
          <a:xfrm>
            <a:off x="8311896" y="4069080"/>
            <a:ext cx="3108960" cy="320040"/>
          </a:xfrm>
          <a:prstGeom prst="rect">
            <a:avLst/>
          </a:prstGeom>
          <a:noFill/>
          <a:ln/>
        </p:spPr>
        <p:txBody>
          <a:bodyPr wrap="square" lIns="0" tIns="0" rIns="0" bIns="0" rtlCol="0" anchor="ctr"/>
          <a:lstStyle/>
          <a:p>
            <a:pPr indent="0" marL="0">
              <a:buNone/>
            </a:pPr>
            <a:r>
              <a:rPr lang="en-US" sz="1400" b="1" dirty="0">
                <a:solidFill>
                  <a:srgbClr val="B7791F"/>
                </a:solidFill>
                <a:latin typeface="Courier New" pitchFamily="34" charset="0"/>
                <a:ea typeface="Courier New" pitchFamily="34" charset="-122"/>
                <a:cs typeface="Courier New" pitchFamily="34" charset="-120"/>
              </a:rPr>
              <a:t>E6  ★★★</a:t>
            </a:r>
            <a:endParaRPr lang="en-US" sz="1400" dirty="0"/>
          </a:p>
        </p:txBody>
      </p:sp>
      <p:sp>
        <p:nvSpPr>
          <p:cNvPr id="29" name="Text 26"/>
          <p:cNvSpPr txBox="1"/>
          <p:nvPr/>
        </p:nvSpPr>
        <p:spPr>
          <a:xfrm>
            <a:off x="8311896" y="4434840"/>
            <a:ext cx="3108960" cy="365760"/>
          </a:xfrm>
          <a:prstGeom prst="rect">
            <a:avLst/>
          </a:prstGeom>
          <a:noFill/>
          <a:ln/>
        </p:spPr>
        <p:txBody>
          <a:bodyPr wrap="square" lIns="0" tIns="0" rIns="0" bIns="0" rtlCol="0" anchor="ctr"/>
          <a:lstStyle/>
          <a:p>
            <a:pPr indent="0" marL="0">
              <a:buNone/>
            </a:pPr>
            <a:r>
              <a:rPr lang="en-US" sz="1800" b="1" dirty="0">
                <a:solidFill>
                  <a:srgbClr val="14213D"/>
                </a:solidFill>
                <a:latin typeface="Cambria" pitchFamily="34" charset="0"/>
                <a:ea typeface="Cambria" pitchFamily="34" charset="-122"/>
                <a:cs typeface="Cambria" pitchFamily="34" charset="-120"/>
              </a:rPr>
              <a:t>Rock–paper–scissors</a:t>
            </a:r>
            <a:endParaRPr lang="en-US" sz="1800" dirty="0"/>
          </a:p>
        </p:txBody>
      </p:sp>
      <p:sp>
        <p:nvSpPr>
          <p:cNvPr id="30" name="Text 27"/>
          <p:cNvSpPr txBox="1"/>
          <p:nvPr/>
        </p:nvSpPr>
        <p:spPr>
          <a:xfrm>
            <a:off x="8311896" y="4892040"/>
            <a:ext cx="3108960" cy="100584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Two players type R, P or S; print the winner or a draw.</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PRACTICE · HOMEWORK</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Homework (before Week 6)</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40</a:t>
            </a:r>
            <a:endParaRPr lang="en-US" sz="1000" dirty="0"/>
          </a:p>
        </p:txBody>
      </p:sp>
      <p:sp>
        <p:nvSpPr>
          <p:cNvPr id="7" name="Shape 4"/>
          <p:cNvSpPr/>
          <p:nvPr/>
        </p:nvSpPr>
        <p:spPr>
          <a:xfrm>
            <a:off x="548640" y="1600200"/>
            <a:ext cx="11109960" cy="786384"/>
          </a:xfrm>
          <a:prstGeom prst="roundRect">
            <a:avLst>
              <a:gd name="adj" fmla="val 13953"/>
            </a:avLst>
          </a:prstGeom>
          <a:solidFill>
            <a:srgbClr val="EEF1F6"/>
          </a:solidFill>
          <a:ln w="12700">
            <a:solidFill>
              <a:srgbClr val="EEF1F6"/>
            </a:solidFill>
            <a:prstDash val="solid"/>
          </a:ln>
        </p:spPr>
      </p:sp>
      <p:sp>
        <p:nvSpPr>
          <p:cNvPr id="8" name="Shape 5"/>
          <p:cNvSpPr/>
          <p:nvPr/>
        </p:nvSpPr>
        <p:spPr>
          <a:xfrm>
            <a:off x="731520" y="1709928"/>
            <a:ext cx="566928" cy="566928"/>
          </a:xfrm>
          <a:prstGeom prst="ellipse">
            <a:avLst/>
          </a:prstGeom>
          <a:solidFill>
            <a:srgbClr val="14213D"/>
          </a:solidFill>
          <a:ln w="12700">
            <a:solidFill>
              <a:srgbClr val="14213D"/>
            </a:solidFill>
            <a:prstDash val="solid"/>
          </a:ln>
        </p:spPr>
      </p:sp>
      <p:pic>
        <p:nvPicPr>
          <p:cNvPr id="9" name="Image 0" descr="preencoded.png">    </p:cNvPr>
          <p:cNvPicPr>
            <a:picLocks noChangeAspect="1"/>
          </p:cNvPicPr>
          <p:nvPr/>
        </p:nvPicPr>
        <p:blipFill>
          <a:blip r:embed="rId1"/>
          <a:stretch>
            <a:fillRect/>
          </a:stretch>
        </p:blipFill>
        <p:spPr>
          <a:xfrm>
            <a:off x="878921" y="1857329"/>
            <a:ext cx="272125" cy="272125"/>
          </a:xfrm>
          <a:prstGeom prst="rect">
            <a:avLst/>
          </a:prstGeom>
        </p:spPr>
      </p:pic>
      <p:sp>
        <p:nvSpPr>
          <p:cNvPr id="10" name="Text 6"/>
          <p:cNvSpPr txBox="1"/>
          <p:nvPr/>
        </p:nvSpPr>
        <p:spPr>
          <a:xfrm>
            <a:off x="1508760" y="1600200"/>
            <a:ext cx="3291840" cy="786384"/>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H1  Parking fee</a:t>
            </a:r>
            <a:endParaRPr lang="en-US" sz="1700" dirty="0"/>
          </a:p>
        </p:txBody>
      </p:sp>
      <p:sp>
        <p:nvSpPr>
          <p:cNvPr id="11" name="Text 7"/>
          <p:cNvSpPr txBox="1"/>
          <p:nvPr/>
        </p:nvSpPr>
        <p:spPr>
          <a:xfrm>
            <a:off x="4846320" y="1600200"/>
            <a:ext cx="6675120" cy="786384"/>
          </a:xfrm>
          <a:prstGeom prst="rect">
            <a:avLst/>
          </a:prstGeom>
          <a:noFill/>
          <a:ln/>
        </p:spPr>
        <p:txBody>
          <a:bodyPr wrap="square" lIns="0" tIns="0" rIns="0" bIns="0" rtlCol="0" anchor="ctr"/>
          <a:lstStyle/>
          <a:p>
            <a:pPr indent="0" marL="0">
              <a:buNone/>
            </a:pPr>
            <a:r>
              <a:rPr lang="en-US" sz="1500" dirty="0">
                <a:solidFill>
                  <a:srgbClr val="333B4F"/>
                </a:solidFill>
                <a:latin typeface="Calibri" pitchFamily="34" charset="0"/>
                <a:ea typeface="Calibri" pitchFamily="34" charset="-122"/>
                <a:cs typeface="Calibri" pitchFamily="34" charset="-120"/>
              </a:rPr>
              <a:t>First hour 40 TL, each further started hour 25 TL, at most 250 TL per day. Read the minutes parked.</a:t>
            </a:r>
            <a:endParaRPr lang="en-US" sz="1500" dirty="0"/>
          </a:p>
        </p:txBody>
      </p:sp>
      <p:sp>
        <p:nvSpPr>
          <p:cNvPr id="12" name="Shape 8"/>
          <p:cNvSpPr/>
          <p:nvPr/>
        </p:nvSpPr>
        <p:spPr>
          <a:xfrm>
            <a:off x="548640" y="2496312"/>
            <a:ext cx="11109960" cy="786384"/>
          </a:xfrm>
          <a:prstGeom prst="roundRect">
            <a:avLst>
              <a:gd name="adj" fmla="val 13953"/>
            </a:avLst>
          </a:prstGeom>
          <a:solidFill>
            <a:srgbClr val="FFFFFF"/>
          </a:solidFill>
          <a:ln w="12700">
            <a:solidFill>
              <a:srgbClr val="FFFFFF"/>
            </a:solidFill>
            <a:prstDash val="solid"/>
          </a:ln>
        </p:spPr>
      </p:sp>
      <p:sp>
        <p:nvSpPr>
          <p:cNvPr id="13" name="Shape 9"/>
          <p:cNvSpPr/>
          <p:nvPr/>
        </p:nvSpPr>
        <p:spPr>
          <a:xfrm>
            <a:off x="731520" y="2606040"/>
            <a:ext cx="566928" cy="566928"/>
          </a:xfrm>
          <a:prstGeom prst="ellipse">
            <a:avLst/>
          </a:prstGeom>
          <a:solidFill>
            <a:srgbClr val="14213D"/>
          </a:solidFill>
          <a:ln w="12700">
            <a:solidFill>
              <a:srgbClr val="14213D"/>
            </a:solidFill>
            <a:prstDash val="solid"/>
          </a:ln>
        </p:spPr>
      </p:sp>
      <p:pic>
        <p:nvPicPr>
          <p:cNvPr id="14" name="Image 1" descr="preencoded.png">    </p:cNvPr>
          <p:cNvPicPr>
            <a:picLocks noChangeAspect="1"/>
          </p:cNvPicPr>
          <p:nvPr/>
        </p:nvPicPr>
        <p:blipFill>
          <a:blip r:embed="rId2"/>
          <a:stretch>
            <a:fillRect/>
          </a:stretch>
        </p:blipFill>
        <p:spPr>
          <a:xfrm>
            <a:off x="878921" y="2753441"/>
            <a:ext cx="272125" cy="272125"/>
          </a:xfrm>
          <a:prstGeom prst="rect">
            <a:avLst/>
          </a:prstGeom>
        </p:spPr>
      </p:pic>
      <p:sp>
        <p:nvSpPr>
          <p:cNvPr id="15" name="Text 10"/>
          <p:cNvSpPr txBox="1"/>
          <p:nvPr/>
        </p:nvSpPr>
        <p:spPr>
          <a:xfrm>
            <a:off x="1508760" y="2496312"/>
            <a:ext cx="3291840" cy="786384"/>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H2  Min and max of three</a:t>
            </a:r>
            <a:endParaRPr lang="en-US" sz="1700" dirty="0"/>
          </a:p>
        </p:txBody>
      </p:sp>
      <p:sp>
        <p:nvSpPr>
          <p:cNvPr id="16" name="Text 11"/>
          <p:cNvSpPr txBox="1"/>
          <p:nvPr/>
        </p:nvSpPr>
        <p:spPr>
          <a:xfrm>
            <a:off x="4846320" y="2496312"/>
            <a:ext cx="6675120" cy="786384"/>
          </a:xfrm>
          <a:prstGeom prst="rect">
            <a:avLst/>
          </a:prstGeom>
          <a:noFill/>
          <a:ln/>
        </p:spPr>
        <p:txBody>
          <a:bodyPr wrap="square" lIns="0" tIns="0" rIns="0" bIns="0" rtlCol="0" anchor="ctr"/>
          <a:lstStyle/>
          <a:p>
            <a:pPr indent="0" marL="0">
              <a:buNone/>
            </a:pPr>
            <a:r>
              <a:rPr lang="en-US" sz="1500" dirty="0">
                <a:solidFill>
                  <a:srgbClr val="333B4F"/>
                </a:solidFill>
                <a:latin typeface="Calibri" pitchFamily="34" charset="0"/>
                <a:ea typeface="Calibri" pitchFamily="34" charset="-122"/>
                <a:cs typeface="Calibri" pitchFamily="34" charset="-120"/>
              </a:rPr>
              <a:t>Print the smallest and the largest of three numbers, or "all equal".</a:t>
            </a:r>
            <a:endParaRPr lang="en-US" sz="1500" dirty="0"/>
          </a:p>
        </p:txBody>
      </p:sp>
      <p:sp>
        <p:nvSpPr>
          <p:cNvPr id="17" name="Shape 12"/>
          <p:cNvSpPr/>
          <p:nvPr/>
        </p:nvSpPr>
        <p:spPr>
          <a:xfrm>
            <a:off x="548640" y="3392424"/>
            <a:ext cx="11109960" cy="786384"/>
          </a:xfrm>
          <a:prstGeom prst="roundRect">
            <a:avLst>
              <a:gd name="adj" fmla="val 13953"/>
            </a:avLst>
          </a:prstGeom>
          <a:solidFill>
            <a:srgbClr val="EEF1F6"/>
          </a:solidFill>
          <a:ln w="12700">
            <a:solidFill>
              <a:srgbClr val="EEF1F6"/>
            </a:solidFill>
            <a:prstDash val="solid"/>
          </a:ln>
        </p:spPr>
      </p:sp>
      <p:sp>
        <p:nvSpPr>
          <p:cNvPr id="18" name="Shape 13"/>
          <p:cNvSpPr/>
          <p:nvPr/>
        </p:nvSpPr>
        <p:spPr>
          <a:xfrm>
            <a:off x="731520" y="3502152"/>
            <a:ext cx="566928" cy="566928"/>
          </a:xfrm>
          <a:prstGeom prst="ellipse">
            <a:avLst/>
          </a:prstGeom>
          <a:solidFill>
            <a:srgbClr val="14213D"/>
          </a:solidFill>
          <a:ln w="12700">
            <a:solidFill>
              <a:srgbClr val="14213D"/>
            </a:solidFill>
            <a:prstDash val="solid"/>
          </a:ln>
        </p:spPr>
      </p:sp>
      <p:pic>
        <p:nvPicPr>
          <p:cNvPr id="19" name="Image 2" descr="preencoded.png">    </p:cNvPr>
          <p:cNvPicPr>
            <a:picLocks noChangeAspect="1"/>
          </p:cNvPicPr>
          <p:nvPr/>
        </p:nvPicPr>
        <p:blipFill>
          <a:blip r:embed="rId3"/>
          <a:stretch>
            <a:fillRect/>
          </a:stretch>
        </p:blipFill>
        <p:spPr>
          <a:xfrm>
            <a:off x="878921" y="3649553"/>
            <a:ext cx="272125" cy="272125"/>
          </a:xfrm>
          <a:prstGeom prst="rect">
            <a:avLst/>
          </a:prstGeom>
        </p:spPr>
      </p:pic>
      <p:sp>
        <p:nvSpPr>
          <p:cNvPr id="20" name="Text 14"/>
          <p:cNvSpPr txBox="1"/>
          <p:nvPr/>
        </p:nvSpPr>
        <p:spPr>
          <a:xfrm>
            <a:off x="1508760" y="3392424"/>
            <a:ext cx="3291840" cy="786384"/>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H3  Flowchart by hand</a:t>
            </a:r>
            <a:endParaRPr lang="en-US" sz="1700" dirty="0"/>
          </a:p>
        </p:txBody>
      </p:sp>
      <p:sp>
        <p:nvSpPr>
          <p:cNvPr id="21" name="Text 15"/>
          <p:cNvSpPr txBox="1"/>
          <p:nvPr/>
        </p:nvSpPr>
        <p:spPr>
          <a:xfrm>
            <a:off x="4846320" y="3392424"/>
            <a:ext cx="6675120" cy="786384"/>
          </a:xfrm>
          <a:prstGeom prst="rect">
            <a:avLst/>
          </a:prstGeom>
          <a:noFill/>
          <a:ln/>
        </p:spPr>
        <p:txBody>
          <a:bodyPr wrap="square" lIns="0" tIns="0" rIns="0" bIns="0" rtlCol="0" anchor="ctr"/>
          <a:lstStyle/>
          <a:p>
            <a:pPr indent="0" marL="0">
              <a:buNone/>
            </a:pPr>
            <a:r>
              <a:rPr lang="en-US" sz="1500" dirty="0">
                <a:solidFill>
                  <a:srgbClr val="333B4F"/>
                </a:solidFill>
                <a:latin typeface="Calibri" pitchFamily="34" charset="0"/>
                <a:ea typeface="Calibri" pitchFamily="34" charset="-122"/>
                <a:cs typeface="Calibri" pitchFamily="34" charset="-120"/>
              </a:rPr>
              <a:t>Draw the complete flowchart of Example 9 (triangle type), including validation.</a:t>
            </a:r>
            <a:endParaRPr lang="en-US" sz="1500" dirty="0"/>
          </a:p>
        </p:txBody>
      </p:sp>
      <p:sp>
        <p:nvSpPr>
          <p:cNvPr id="22" name="Shape 16"/>
          <p:cNvSpPr/>
          <p:nvPr/>
        </p:nvSpPr>
        <p:spPr>
          <a:xfrm>
            <a:off x="548640" y="4288536"/>
            <a:ext cx="11109960" cy="786384"/>
          </a:xfrm>
          <a:prstGeom prst="roundRect">
            <a:avLst>
              <a:gd name="adj" fmla="val 13953"/>
            </a:avLst>
          </a:prstGeom>
          <a:solidFill>
            <a:srgbClr val="FFFFFF"/>
          </a:solidFill>
          <a:ln w="12700">
            <a:solidFill>
              <a:srgbClr val="FFFFFF"/>
            </a:solidFill>
            <a:prstDash val="solid"/>
          </a:ln>
        </p:spPr>
      </p:sp>
      <p:sp>
        <p:nvSpPr>
          <p:cNvPr id="23" name="Shape 17"/>
          <p:cNvSpPr/>
          <p:nvPr/>
        </p:nvSpPr>
        <p:spPr>
          <a:xfrm>
            <a:off x="731520" y="4398264"/>
            <a:ext cx="566928" cy="566928"/>
          </a:xfrm>
          <a:prstGeom prst="ellipse">
            <a:avLst/>
          </a:prstGeom>
          <a:solidFill>
            <a:srgbClr val="14213D"/>
          </a:solidFill>
          <a:ln w="12700">
            <a:solidFill>
              <a:srgbClr val="14213D"/>
            </a:solidFill>
            <a:prstDash val="solid"/>
          </a:ln>
        </p:spPr>
      </p:sp>
      <p:pic>
        <p:nvPicPr>
          <p:cNvPr id="24" name="Image 3" descr="preencoded.png">    </p:cNvPr>
          <p:cNvPicPr>
            <a:picLocks noChangeAspect="1"/>
          </p:cNvPicPr>
          <p:nvPr/>
        </p:nvPicPr>
        <p:blipFill>
          <a:blip r:embed="rId4"/>
          <a:stretch>
            <a:fillRect/>
          </a:stretch>
        </p:blipFill>
        <p:spPr>
          <a:xfrm>
            <a:off x="878921" y="4545665"/>
            <a:ext cx="272125" cy="272125"/>
          </a:xfrm>
          <a:prstGeom prst="rect">
            <a:avLst/>
          </a:prstGeom>
        </p:spPr>
      </p:pic>
      <p:sp>
        <p:nvSpPr>
          <p:cNvPr id="25" name="Text 18"/>
          <p:cNvSpPr txBox="1"/>
          <p:nvPr/>
        </p:nvSpPr>
        <p:spPr>
          <a:xfrm>
            <a:off x="1508760" y="4288536"/>
            <a:ext cx="3291840" cy="786384"/>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H4  Test plan</a:t>
            </a:r>
            <a:endParaRPr lang="en-US" sz="1700" dirty="0"/>
          </a:p>
        </p:txBody>
      </p:sp>
      <p:sp>
        <p:nvSpPr>
          <p:cNvPr id="26" name="Text 19"/>
          <p:cNvSpPr txBox="1"/>
          <p:nvPr/>
        </p:nvSpPr>
        <p:spPr>
          <a:xfrm>
            <a:off x="4846320" y="4288536"/>
            <a:ext cx="6675120" cy="786384"/>
          </a:xfrm>
          <a:prstGeom prst="rect">
            <a:avLst/>
          </a:prstGeom>
          <a:noFill/>
          <a:ln/>
        </p:spPr>
        <p:txBody>
          <a:bodyPr wrap="square" lIns="0" tIns="0" rIns="0" bIns="0" rtlCol="0" anchor="ctr"/>
          <a:lstStyle/>
          <a:p>
            <a:pPr indent="0" marL="0">
              <a:buNone/>
            </a:pPr>
            <a:r>
              <a:rPr lang="en-US" sz="1500" dirty="0">
                <a:solidFill>
                  <a:srgbClr val="333B4F"/>
                </a:solidFill>
                <a:latin typeface="Calibri" pitchFamily="34" charset="0"/>
                <a:ea typeface="Calibri" pitchFamily="34" charset="-122"/>
                <a:cs typeface="Calibri" pitchFamily="34" charset="-120"/>
              </a:rPr>
              <a:t>Write a boundary test table for 05_13_ShippingCost, run every test and record the output.</a:t>
            </a:r>
            <a:endParaRPr lang="en-US" sz="1500" dirty="0"/>
          </a:p>
        </p:txBody>
      </p:sp>
      <p:sp>
        <p:nvSpPr>
          <p:cNvPr id="27" name="Shape 20"/>
          <p:cNvSpPr/>
          <p:nvPr/>
        </p:nvSpPr>
        <p:spPr>
          <a:xfrm>
            <a:off x="548640" y="5184648"/>
            <a:ext cx="11109960" cy="786384"/>
          </a:xfrm>
          <a:prstGeom prst="roundRect">
            <a:avLst>
              <a:gd name="adj" fmla="val 13953"/>
            </a:avLst>
          </a:prstGeom>
          <a:solidFill>
            <a:srgbClr val="EEF1F6"/>
          </a:solidFill>
          <a:ln w="12700">
            <a:solidFill>
              <a:srgbClr val="EEF1F6"/>
            </a:solidFill>
            <a:prstDash val="solid"/>
          </a:ln>
        </p:spPr>
      </p:sp>
      <p:sp>
        <p:nvSpPr>
          <p:cNvPr id="28" name="Shape 21"/>
          <p:cNvSpPr/>
          <p:nvPr/>
        </p:nvSpPr>
        <p:spPr>
          <a:xfrm>
            <a:off x="731520" y="5294376"/>
            <a:ext cx="566928" cy="566928"/>
          </a:xfrm>
          <a:prstGeom prst="ellipse">
            <a:avLst/>
          </a:prstGeom>
          <a:solidFill>
            <a:srgbClr val="14213D"/>
          </a:solidFill>
          <a:ln w="12700">
            <a:solidFill>
              <a:srgbClr val="14213D"/>
            </a:solidFill>
            <a:prstDash val="solid"/>
          </a:ln>
        </p:spPr>
      </p:sp>
      <p:pic>
        <p:nvPicPr>
          <p:cNvPr id="29" name="Image 4" descr="preencoded.png">    </p:cNvPr>
          <p:cNvPicPr>
            <a:picLocks noChangeAspect="1"/>
          </p:cNvPicPr>
          <p:nvPr/>
        </p:nvPicPr>
        <p:blipFill>
          <a:blip r:embed="rId5"/>
          <a:stretch>
            <a:fillRect/>
          </a:stretch>
        </p:blipFill>
        <p:spPr>
          <a:xfrm>
            <a:off x="878921" y="5441777"/>
            <a:ext cx="272125" cy="272125"/>
          </a:xfrm>
          <a:prstGeom prst="rect">
            <a:avLst/>
          </a:prstGeom>
        </p:spPr>
      </p:pic>
      <p:sp>
        <p:nvSpPr>
          <p:cNvPr id="30" name="Text 22"/>
          <p:cNvSpPr txBox="1"/>
          <p:nvPr/>
        </p:nvSpPr>
        <p:spPr>
          <a:xfrm>
            <a:off x="1508760" y="5184648"/>
            <a:ext cx="3291840" cy="786384"/>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H5  Unit converter</a:t>
            </a:r>
            <a:endParaRPr lang="en-US" sz="1700" dirty="0"/>
          </a:p>
        </p:txBody>
      </p:sp>
      <p:sp>
        <p:nvSpPr>
          <p:cNvPr id="31" name="Text 23"/>
          <p:cNvSpPr txBox="1"/>
          <p:nvPr/>
        </p:nvSpPr>
        <p:spPr>
          <a:xfrm>
            <a:off x="4846320" y="5184648"/>
            <a:ext cx="6675120" cy="786384"/>
          </a:xfrm>
          <a:prstGeom prst="rect">
            <a:avLst/>
          </a:prstGeom>
          <a:noFill/>
          <a:ln/>
        </p:spPr>
        <p:txBody>
          <a:bodyPr wrap="square" lIns="0" tIns="0" rIns="0" bIns="0" rtlCol="0" anchor="ctr"/>
          <a:lstStyle/>
          <a:p>
            <a:pPr indent="0" marL="0">
              <a:buNone/>
            </a:pPr>
            <a:r>
              <a:rPr lang="en-US" sz="1500" dirty="0">
                <a:solidFill>
                  <a:srgbClr val="333B4F"/>
                </a:solidFill>
                <a:latin typeface="Calibri" pitchFamily="34" charset="0"/>
                <a:ea typeface="Calibri" pitchFamily="34" charset="-122"/>
                <a:cs typeface="Calibri" pitchFamily="34" charset="-120"/>
              </a:rPr>
              <a:t>Menu 1–4 (km→mile, mile→km, kg→lb, lb→kg) with switch; validate every input.</a:t>
            </a:r>
            <a:endParaRPr lang="en-US" sz="15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457200"/>
            <a:ext cx="5486400" cy="365760"/>
          </a:xfrm>
          <a:prstGeom prst="rect">
            <a:avLst/>
          </a:prstGeom>
          <a:noFill/>
          <a:ln/>
        </p:spPr>
        <p:txBody>
          <a:bodyPr wrap="square" lIns="0" tIns="0" rIns="0" bIns="0" rtlCol="0" anchor="ctr"/>
          <a:lstStyle/>
          <a:p>
            <a:pPr indent="0" marL="0">
              <a:buNone/>
            </a:pPr>
            <a:r>
              <a:rPr lang="en-US" sz="1400" b="1" dirty="0">
                <a:solidFill>
                  <a:srgbClr val="FCA311"/>
                </a:solidFill>
                <a:latin typeface="Courier New" pitchFamily="34" charset="0"/>
                <a:ea typeface="Courier New" pitchFamily="34" charset="-122"/>
                <a:cs typeface="Courier New" pitchFamily="34" charset="-120"/>
              </a:rPr>
              <a:t>&gt;_ SUMMARY</a:t>
            </a:r>
            <a:endParaRPr lang="en-US" sz="1400" dirty="0"/>
          </a:p>
        </p:txBody>
      </p:sp>
      <p:sp>
        <p:nvSpPr>
          <p:cNvPr id="3" name="Text 1"/>
          <p:cNvSpPr txBox="1"/>
          <p:nvPr/>
        </p:nvSpPr>
        <p:spPr>
          <a:xfrm>
            <a:off x="548640" y="868680"/>
            <a:ext cx="73152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Key Takeaways</a:t>
            </a:r>
            <a:endParaRPr lang="en-US" sz="3600" dirty="0"/>
          </a:p>
        </p:txBody>
      </p:sp>
      <p:sp>
        <p:nvSpPr>
          <p:cNvPr id="4" name="Text 2"/>
          <p:cNvSpPr txBox="1"/>
          <p:nvPr/>
        </p:nvSpPr>
        <p:spPr>
          <a:xfrm>
            <a:off x="548640" y="182880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01</a:t>
            </a:r>
            <a:endParaRPr lang="en-US" sz="2000" dirty="0"/>
          </a:p>
        </p:txBody>
      </p:sp>
      <p:sp>
        <p:nvSpPr>
          <p:cNvPr id="5" name="Text 3"/>
          <p:cNvSpPr txBox="1"/>
          <p:nvPr/>
        </p:nvSpPr>
        <p:spPr>
          <a:xfrm>
            <a:off x="1325880" y="182880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if runs a block only when a bool condition is true; if-else chooses exactly one of two blocks.</a:t>
            </a:r>
            <a:endParaRPr lang="en-US" sz="1500" dirty="0"/>
          </a:p>
        </p:txBody>
      </p:sp>
      <p:sp>
        <p:nvSpPr>
          <p:cNvPr id="6" name="Text 4"/>
          <p:cNvSpPr txBox="1"/>
          <p:nvPr/>
        </p:nvSpPr>
        <p:spPr>
          <a:xfrm>
            <a:off x="548640" y="252984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02</a:t>
            </a:r>
            <a:endParaRPr lang="en-US" sz="2000" dirty="0"/>
          </a:p>
        </p:txBody>
      </p:sp>
      <p:sp>
        <p:nvSpPr>
          <p:cNvPr id="7" name="Text 5"/>
          <p:cNvSpPr txBox="1"/>
          <p:nvPr/>
        </p:nvSpPr>
        <p:spPr>
          <a:xfrm>
            <a:off x="1325880" y="252984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In an else-if ladder the FIRST true condition wins — order the conditions carefully.</a:t>
            </a:r>
            <a:endParaRPr lang="en-US" sz="1500" dirty="0"/>
          </a:p>
        </p:txBody>
      </p:sp>
      <p:sp>
        <p:nvSpPr>
          <p:cNvPr id="8" name="Text 6"/>
          <p:cNvSpPr txBox="1"/>
          <p:nvPr/>
        </p:nvSpPr>
        <p:spPr>
          <a:xfrm>
            <a:off x="548640" y="323088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03</a:t>
            </a:r>
            <a:endParaRPr lang="en-US" sz="2000" dirty="0"/>
          </a:p>
        </p:txBody>
      </p:sp>
      <p:sp>
        <p:nvSpPr>
          <p:cNvPr id="9" name="Text 7"/>
          <p:cNvSpPr txBox="1"/>
          <p:nvPr/>
        </p:nvSpPr>
        <p:spPr>
          <a:xfrm>
            <a:off x="1325880" y="323088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Always use braces: they prevent the missing-brace, stray-semicolon and dangling-else bugs.</a:t>
            </a:r>
            <a:endParaRPr lang="en-US" sz="1500" dirty="0"/>
          </a:p>
        </p:txBody>
      </p:sp>
      <p:sp>
        <p:nvSpPr>
          <p:cNvPr id="10" name="Text 8"/>
          <p:cNvSpPr txBox="1"/>
          <p:nvPr/>
        </p:nvSpPr>
        <p:spPr>
          <a:xfrm>
            <a:off x="548640" y="393192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04</a:t>
            </a:r>
            <a:endParaRPr lang="en-US" sz="2000" dirty="0"/>
          </a:p>
        </p:txBody>
      </p:sp>
      <p:sp>
        <p:nvSpPr>
          <p:cNvPr id="11" name="Text 9"/>
          <p:cNvSpPr txBox="1"/>
          <p:nvPr/>
        </p:nvSpPr>
        <p:spPr>
          <a:xfrm>
            <a:off x="1325880" y="393192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switch compares one value with constant labels; every section ends with break (no fall-through).</a:t>
            </a:r>
            <a:endParaRPr lang="en-US" sz="1500" dirty="0"/>
          </a:p>
        </p:txBody>
      </p:sp>
      <p:sp>
        <p:nvSpPr>
          <p:cNvPr id="12" name="Text 10"/>
          <p:cNvSpPr txBox="1"/>
          <p:nvPr/>
        </p:nvSpPr>
        <p:spPr>
          <a:xfrm>
            <a:off x="548640" y="463296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05</a:t>
            </a:r>
            <a:endParaRPr lang="en-US" sz="2000" dirty="0"/>
          </a:p>
        </p:txBody>
      </p:sp>
      <p:sp>
        <p:nvSpPr>
          <p:cNvPr id="13" name="Text 11"/>
          <p:cNvSpPr txBox="1"/>
          <p:nvPr/>
        </p:nvSpPr>
        <p:spPr>
          <a:xfrm>
            <a:off x="1325880" y="463296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switch expressions and ?: choose a VALUE; if-else and switch statements choose ACTIONS.</a:t>
            </a:r>
            <a:endParaRPr lang="en-US" sz="1500" dirty="0"/>
          </a:p>
        </p:txBody>
      </p:sp>
      <p:sp>
        <p:nvSpPr>
          <p:cNvPr id="14" name="Text 12"/>
          <p:cNvSpPr txBox="1"/>
          <p:nvPr/>
        </p:nvSpPr>
        <p:spPr>
          <a:xfrm>
            <a:off x="548640" y="533400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06</a:t>
            </a:r>
            <a:endParaRPr lang="en-US" sz="2000" dirty="0"/>
          </a:p>
        </p:txBody>
      </p:sp>
      <p:sp>
        <p:nvSpPr>
          <p:cNvPr id="15" name="Text 13"/>
          <p:cNvSpPr txBox="1"/>
          <p:nvPr/>
        </p:nvSpPr>
        <p:spPr>
          <a:xfrm>
            <a:off x="1325880" y="533400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Validate input with TryParse + range checks, and test every branch at its borders.</a:t>
            </a:r>
            <a:endParaRPr lang="en-US" sz="1500" dirty="0"/>
          </a:p>
        </p:txBody>
      </p:sp>
      <p:sp>
        <p:nvSpPr>
          <p:cNvPr id="16" name="Shape 14"/>
          <p:cNvSpPr/>
          <p:nvPr/>
        </p:nvSpPr>
        <p:spPr>
          <a:xfrm>
            <a:off x="8412480" y="822960"/>
            <a:ext cx="3246120" cy="5120640"/>
          </a:xfrm>
          <a:prstGeom prst="roundRect">
            <a:avLst>
              <a:gd name="adj" fmla="val 3380"/>
            </a:avLst>
          </a:prstGeom>
          <a:solidFill>
            <a:srgbClr val="1E2E52"/>
          </a:solidFill>
          <a:ln w="12700">
            <a:solidFill>
              <a:srgbClr val="1E2E52"/>
            </a:solidFill>
            <a:prstDash val="solid"/>
          </a:ln>
        </p:spPr>
      </p:sp>
      <p:sp>
        <p:nvSpPr>
          <p:cNvPr id="17" name="Text 15"/>
          <p:cNvSpPr txBox="1"/>
          <p:nvPr/>
        </p:nvSpPr>
        <p:spPr>
          <a:xfrm>
            <a:off x="8641080" y="1005840"/>
            <a:ext cx="283464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NEXT WEEK</a:t>
            </a:r>
            <a:endParaRPr lang="en-US" sz="1300" dirty="0"/>
          </a:p>
        </p:txBody>
      </p:sp>
      <p:sp>
        <p:nvSpPr>
          <p:cNvPr id="18" name="Text 16"/>
          <p:cNvSpPr txBox="1"/>
          <p:nvPr/>
        </p:nvSpPr>
        <p:spPr>
          <a:xfrm>
            <a:off x="8641080" y="1371600"/>
            <a:ext cx="2834640" cy="822960"/>
          </a:xfrm>
          <a:prstGeom prst="rect">
            <a:avLst/>
          </a:prstGeom>
          <a:noFill/>
          <a:ln/>
        </p:spPr>
        <p:txBody>
          <a:bodyPr wrap="square" lIns="0" tIns="0" rIns="0" bIns="0" rtlCol="0" anchor="t">
            <a:normAutofit/>
          </a:bodyPr>
          <a:lstStyle/>
          <a:p>
            <a:pPr indent="0" marL="0">
              <a:buNone/>
            </a:pPr>
            <a:r>
              <a:rPr lang="en-US" sz="1800" b="1" dirty="0">
                <a:solidFill>
                  <a:srgbClr val="FFFFFF"/>
                </a:solidFill>
                <a:latin typeface="Cambria" pitchFamily="34" charset="0"/>
                <a:ea typeface="Cambria" pitchFamily="34" charset="-122"/>
                <a:cs typeface="Cambria" pitchFamily="34" charset="-120"/>
              </a:rPr>
              <a:t>Loops: the for Loop</a:t>
            </a:r>
            <a:endParaRPr lang="en-US" sz="1800" dirty="0"/>
          </a:p>
        </p:txBody>
      </p:sp>
      <p:sp>
        <p:nvSpPr>
          <p:cNvPr id="19" name="Text 17"/>
          <p:cNvSpPr txBox="1"/>
          <p:nvPr/>
        </p:nvSpPr>
        <p:spPr>
          <a:xfrm>
            <a:off x="8915400" y="2560320"/>
            <a:ext cx="2286000" cy="1463040"/>
          </a:xfrm>
          <a:prstGeom prst="rect">
            <a:avLst/>
          </a:prstGeom>
          <a:noFill/>
          <a:ln/>
        </p:spPr>
        <p:txBody>
          <a:bodyPr wrap="square" lIns="0" tIns="0" rIns="0" bIns="0" rtlCol="0" anchor="ctr"/>
          <a:lstStyle/>
          <a:p>
            <a:pPr algn="ctr" indent="0" marL="0">
              <a:buNone/>
            </a:pPr>
            <a:r>
              <a:rPr lang="en-US" sz="6000" b="1" dirty="0">
                <a:solidFill>
                  <a:srgbClr val="FCA311"/>
                </a:solidFill>
                <a:latin typeface="Courier New" pitchFamily="34" charset="0"/>
                <a:ea typeface="Courier New" pitchFamily="34" charset="-122"/>
                <a:cs typeface="Courier New" pitchFamily="34" charset="-120"/>
              </a:rPr>
              <a:t>&gt;_</a:t>
            </a:r>
            <a:endParaRPr lang="en-US" sz="6000" dirty="0"/>
          </a:p>
        </p:txBody>
      </p:sp>
      <p:sp>
        <p:nvSpPr>
          <p:cNvPr id="20" name="Text 18"/>
          <p:cNvSpPr txBox="1"/>
          <p:nvPr/>
        </p:nvSpPr>
        <p:spPr>
          <a:xfrm>
            <a:off x="8641080" y="4846320"/>
            <a:ext cx="2834640" cy="731520"/>
          </a:xfrm>
          <a:prstGeom prst="rect">
            <a:avLst/>
          </a:prstGeom>
          <a:noFill/>
          <a:ln/>
        </p:spPr>
        <p:txBody>
          <a:bodyPr wrap="square" lIns="0" tIns="0" rIns="0" bIns="0" rtlCol="0" anchor="ctr"/>
          <a:lstStyle/>
          <a:p>
            <a:pPr algn="ctr" indent="0" marL="0">
              <a:buNone/>
            </a:pPr>
            <a:r>
              <a:rPr lang="en-US" sz="1300" dirty="0">
                <a:solidFill>
                  <a:srgbClr val="C7CEDC"/>
                </a:solidFill>
                <a:latin typeface="Calibri" pitchFamily="34" charset="0"/>
                <a:ea typeface="Calibri" pitchFamily="34" charset="-122"/>
                <a:cs typeface="Calibri" pitchFamily="34" charset="-120"/>
              </a:rPr>
              <a:t>MCMP113</a:t>
            </a:r>
            <a:endParaRPr lang="en-US" sz="1300" dirty="0"/>
          </a:p>
          <a:p>
            <a:pPr algn="ctr" indent="0" marL="0">
              <a:buNone/>
            </a:pPr>
            <a:r>
              <a:rPr lang="en-US" sz="1300" dirty="0">
                <a:solidFill>
                  <a:srgbClr val="C7CEDC"/>
                </a:solidFill>
                <a:latin typeface="Calibri" pitchFamily="34" charset="0"/>
                <a:ea typeface="Calibri" pitchFamily="34" charset="-122"/>
                <a:cs typeface="Calibri" pitchFamily="34" charset="-120"/>
              </a:rPr>
              <a:t>Course materials</a:t>
            </a:r>
            <a:endParaRPr lang="en-US" sz="1300" dirty="0"/>
          </a:p>
        </p:txBody>
      </p:sp>
      <p:sp>
        <p:nvSpPr>
          <p:cNvPr id="22" name="Text 19"/>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5</a:t>
            </a:r>
            <a:endParaRPr lang="en-US" sz="1000" dirty="0"/>
          </a:p>
        </p:txBody>
      </p:sp>
      <p:sp>
        <p:nvSpPr>
          <p:cNvPr id="23" name="Text 20"/>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41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Istanbul Okan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MCMP113 Week 5 – Decision Structures: if-else, else-if and switch-case</dc:title>
  <dc:subject>PptxGenJS Presentation</dc:subject>
  <dc:creator>MCMP113</dc:creator>
  <cp:lastModifiedBy>MCMP113</cp:lastModifiedBy>
  <cp:revision>1</cp:revision>
  <dcterms:created xsi:type="dcterms:W3CDTF">2026-10-25T12:59:57Z</dcterms:created>
  <dcterms:modified xsi:type="dcterms:W3CDTF">2026-10-25T12:59:57Z</dcterms:modified>
</cp:coreProperties>
</file>