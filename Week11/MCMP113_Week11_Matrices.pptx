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11. Timing for the session: Part 1 rectangular arrays ~35 min, Part 2 rows, columns and diagonals ~40 min, Part 3 matrix arithmetic ~35 min, Part 4 grids in real programs ~30 min, mistakes, quiz and exercises ~40 min. The terminal on the title shows exactly what example 11_01 does: a 3 x 4 matrix of zeros with three elements set. Ask: which number is in row 1, column 2? (7, and nobody should say "the 2nd row" without thinking about index 0.) Everything today is still in top-level statements; methods come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(~2 min). Objectives 2 and 3 are the core skills for the final exam: writing nested loops over a matrix and knowing which loop is outer. Objective 4 contains matrix multiplication, which is the hardest algorithm of the week (three nested loops); students who know matrices from mathematics will recognise the formula, the others learn it here from scratch. Objective 6 (jagged arrays) is a short outlook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(~4 min). Week 9: one array = one row of boxes, one index. Week 10: we searched, sorted and found maxima in such rows with one loop. Today the data is a table: three weeks of temperatures, five days each. One option is three separate arrays week1, week2, week3, which fails for the same reason ten grade variables failed in Week 9. A 2-D array keeps the whole table under one name, and every element needs TWO indices: the row and the column. The temperature values on the slide are only illustrative. Everything from Week 10 (sum, max, search, count) still works; we only add a second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(~35 min): declaring int[,], indexing m[r, c], GetLength, nested-loop traversal, aligned printing and index errors. Ask first: who has used a spreadsheet? Every cell has a row and a column; that is all a matrix is. Key sentence to repeat throughout: row first, then column, both from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Each card is one of today's examples: grade book (11_03), cinema seats (11_09), tic-tac-toe (11_10) and a grey-scale image (11_11). The spreadsheet on the right is the picture students already know: a cell is found by its row AND its column. Spreadsheets count rows from 1 and name columns with letters; C# counts both from 0. Question to the class: in a chess program, what would the matrix contain? (8 x 8 squares, each holding a piece code or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Draw this grid on the board. The comma inside [,] is the whole difference from Week 9: one comma means two dimensions (int[,,] would be three). In new int[3, 4] the FIRST number is the number of rows, the second the number of columns; in m[1, 2] the first index is the row. Mnemonic: "row first, like a seat ticket: row 12, seat 7". All 12 elements start at 0 (default value), exactly like 1-D arrays. Mathematics writes a with subscripts i and j, starting from 1: a23 in the maths book is m[1, 2] in C#. Likely question: is it stored row by row? Yes, C# stores rectangular arrays row-major (row 0, then row 1, ...), which is also the order foreach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Way 1: give the sizes; every element gets the default value of its type (the same table as Week 9). Way 2: an initializer; the compiler counts the inner braces (rows) and the values inside (columns). All rows MUST have the same length, otherwise error CS0847 (shown on the mistakes slide). Size properties: GetLength(0) is the number of rows, GetLength(1) the number of columns; Length is the TOTAL number of elements (12), not the number of rows, which is a classic bug when students copy for (i &lt; a.Length) from Week 9. Rank is the number of dimensions. The values in the right table are printed by 11_01.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Run it live. Line by line: three assignments, then the two sizes, then the grid printed by two nested loops. The inner loop prints ONE row with Console.Write (no new line), and the WriteLine after the inner loop ends the row; forgetting that WriteLine prints all 12 numbers on one line. {m[r, c],4} reserves 4 characters and right-aligns, so the columns line up. The last two lines of output come from the initializer and the foreach loop (previous slide): foreach visits all elements row by row, 1 2 3 4 5 6, but gives no indices, so for most matrix work we use for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numbers inside the cells are the ORDER in which the cells are visited, not the values. Left: the outer loop runs over rows, so the inner loop walks along a row: row-major order (the normal way to read, and how C# stores the matrix). Right: swap the loops and the inner loop walks down a column: column-major order. Both visit all 12 cells exactly once. Rule of thumb: the outer loop chooses the line (row or column), the inner loop walks along it. Ask: in which order would you need the loops to compute column sums? (Column-major: outer loop over columns; Example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Same matrix, three Write statements (only the inner statement changes; the loops are those of Example 1). Version 1 separates the numbers with a space: as soon as numbers have different numbers of digits the columns are ragged. Version 2: {x,5} pads to 5 characters on the LEFT (right-aligned), the standard choice for numbers. Version 3: a negative width, {x,-5}, pads on the right (left-aligned), useful for names; the bars show where each field ends. Choose the width as the widest value plus one or two spaces. Week 3 introduced this alignment syntax; today it finally pays off. The three outputs are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Left: valid rows are 0, 1, 2. m[3, 0] asks for a fourth row that does not exist; the program compiles but crashes at run time with IndexOutOfRangeException (real message shown, the path is shortened). The same happens with column 4. Right, top: m[1][2] is the syntax of jagged arrays (Part 4); for a rectangular array the compiler stops with CS0022, "wrong number of indices", expected 2. Right, bottom: the most common LOGIC error: the loops use GetLength(0) for the columns. For a square matrix nothing happens, which is why the bug survives testing; for 3 x 4 it either misses column 3 or crashes. Test with a non-square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(~40 min): reading a matrix from the keyboard, row and column sums, the grade book, diagonals, identity, transpose and symmetry. The recurring question for every algorithm in this part: which loop is OUTER? Rows for row results, columns for column results. Remind students where to reset accumulators.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First the sizes, then the array can be created: new int[rows, cols] works with variables. The nested loops ask for every element in row-major order; the prompt shows the indices, which helps the user (and the tester) to know where a number goes. Six numbers for a 2 x 3 matrix; a 10 x 10 matrix would need 100 inputs, which is why real programs read matrices from files (Week 14). The three output lines are explained on the next slide. Input validation (TryParse loops from Week 7) was left out to keep the example short; ask students to add it as homework 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 min. The diagram is the output of the previous slide. Row sums: outer loop over rows, the accumulator rowSum is set to 0 at the START of every row (inside the outer loop). Column sums: the loops are swapped, outer loop over columns. The grand total can be computed either way: 12 + 15 = 27 = 6 + 12 + 9. That equality is a free test of the program. Most common bug: int rowSum = 0 written before the outer loop; then the second row prints 12 + 15 = 27 instead of 15 (the mistakes slide shows the same bug on a 2 x 2 matrix). Formulas: R_r = sum over c of a[r, c]; K_c = sum over r of a[r,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Two parallel 1-D arrays (Week 9) give names to the rows and the columns of a double matrix: students[r] is the name of row r, exams[c] the name of column c. Every row answers a question about a student (average, best grade), every column a question about an exam (exam average). Check one number by hand: Elif (70 + 65 + 80) / 3 = 215 / 3 = 71.67. Quiz average (70 + 45 + 90 + 60) / 4 = 265 / 4 = 66.25. The names and grades are invented. The loops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One pass over the row computes three things at once: the sum (for the average), the maximum, and the printing. rowMax starts with the FIRST element of the row, grades[r, 0], as in Week 10 (never with 0: with negative values, or a student with all grades 0, a start value of 0 is wrong in general). rowSum and rowMax are declared inside the outer loop, so they start fresh for every student. After the row is finished we compare the average with the best average so far: the same "running maximum" pattern, one level up, that also remembers the INDEX r of the best row so that we can print the name. Column averages use the swapped loops from Example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Only square matrices (n x n) have diagonals in this sense. Main diagonal: row index = column index, from top-left to bottom-right. Anti-diagonal: r + c = n − 1, from top-right to bottom-left; for n = 4 that is (0,3), (1,2), (2,1), (3,0). Students should check the rule by adding the indices of the blue cells: always 3. Above the main diagonal c &gt; r (upper triangle), below c &lt; r. The trace (sum of the main diagonal) is a standard term in linear algebra: 2 + 3 + 4 + 9 = 18. Anti-diagonal: 8 + 5 + 5 + 8 = 26. Because one index follows from the other, ONE loop is enough for a diagonal: a[i, i] and a[i, n − 1 − i]. A nested loop with if (r == c) also works but does n² steps instead of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program first prints the matrix with the main diagonal in [square brackets] and the anti-diagonal in (round brackets): an if / else-if inside the nested loop, the same conditions as the table on the previous slide. Then one loop computes both sums: 18 and 26 as calculated by hand. Finally the identity matrix I: new int[n, n] is all zeros, and one loop puts 1 on the main diagonal. The identity plays the role of the number 1 in matrix multiplication (A × I = A), see Part 3. Note that for odd n the centre element is on both diagonals; for n = 4 there is no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transpose of A, written A with a superscript T, swaps rows and columns: row 0 of A (amber) becomes column 0 of the transpose. If A is 2 x 3, the transpose is 3 x 2, so the new array is created with the sizes SWAPPED: new int[cols, rows]. The loop walks over A and writes every element to the mirrored position t[c, r]. Common error: new int[rows, cols] for t, which crashes with IndexOutOfRangeException for non-square A (t[2, 0] does not exist in a 2 x 3 array). Transposing a square matrix in place has its own trap: see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square matrix is symmetric when it equals its transpose: s[r, c] == s[c, r] for every r and c. We do not need to build the transpose: compare each element above the diagonal with its mirror image below. Same colour = must be equal. The inner loop starts at c = r + 1, so the diagonal (always equal to itself) and the lower triangle (already compared) are skipped: n(n − 1) / 2 comparisons, 3 for n = 3 (the program counts them). With c starting at 0 the answer is still correct but each pair is compared twice and the diagonal once: 9 comparisons. Pattern "assume true, look for a counterexample" (bool symmetric = true) is the same as the prime test of Week 6. Distance tables between cities are symmetric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(~35 min): addition and scalar multiplication (element by element, easy), then matrix multiplication (row times column, three nested loops, the hardest algorithm of the week). Students who know matrices from mathematics can help their neighbours. Go slowly on the size rule (m x n)(n x p) -&gt; m x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Addition is element by element: C[r, c] = A[r, c] + B[r, c]. It is only defined when A and B have exactly the same size; the program checks both GetLength values before the loop (with a 2 x 3 and a 3 x 2 matrix the if prints "not defined" instead of crashing). Scalar multiplication multiplies every element by the same number k and is always defined. Check by hand: 1 + 10 = 11, 4 + (−1) = 3; 3 × 6 = 18. Subtraction works the same way with a minus 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go slowly. To get ONE element C[i, j], take row i of A and column j of B, multiply them pair by pair and add: C[0, 1] = 1·8 + 2·10 + 3·12 = 8 + 20 + 36 = 64. For the pairs to match, the row of A must be as long as the column of B: columns of A = rows of B (the inner sizes). The result has the outer sizes: (2 x 3) times (3 x 2) gives 2 x 2. Show the "domino" picture: (m x n)(n x p) -&gt; m x p. The trace table on the right is exactly what the inner k-loop of the program does for C[1, 1]: the accumulator starts at 0 and adds one product per k. Ask students to compute C[1, 0] themselves: 4·7 + 5·9 + 6·11 = 28 + 45 + 66 = 139.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i runs over the rows of C (= rows of A), j over the columns of C (= columns of B), and k over the "shared" index, the inner size n. c[i, j] starts at 0 because new int[m, p] fills it with zeros, so we can add directly; with a double matrix that is also true (0.0). The size check comes first: columns of A (n) must equal rows of B. The number of multiplications is m · p · n = 2 · 2 · 3 = 12, printed by the program. For two n x n matrices that is n³: 10 x 10 needs 1 000, 100 x 100 a million. Week 10 measured O(n²) for bubble sort; matrix multiplication with this algorithm is O(n³).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Unlike numbers, matrix multiplication is NOT commutative. With this B (a "swap" matrix), A × B swaps the COLUMNS of A and B × A swaps the ROWS of A: different results. Both products were computed by the program 11_07 after replacing the two initializers with these 2 x 2 matrices (try it in class). Often B × A is not even defined: for our 2 x 3 and 3 x 2 matrices B × A is 3 x 3 while A × B is 2 x 2. The identity matrix (Example 4) is the "1" of multiplication: A × I = I × A = A. Cost table: n x n times n x n needs n³ multiplications with the triple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(~30 min): matrices as models of real things: a stored multiplication table, a cinema seat map (char matrix), a tic-tac-toe board, a grey-scale image, and finally jagged arrays for rows of different lengths. Recurring theme: users count from 1, arrays from 0; convert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In Week 6 the nested loops PRINTED the table; now we STORE it first and print afterwards, so the values can be looked up later. The index shift is the main point: index 0 stands for the number 1, so table[r, c] = (r + 1) · (c + 1) and 7 × 8 lives at table[6, 7]. Alternative: make the array one larger (new int[n + 1, n + 1]) and leave row 0 and column 0 unused, so that table[7, 8] = 56; a perfectly valid trick that wastes a little memory. The look-up is guarded by if (n &gt;= 8) because for small n the element [6, 7]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Each element is a char: '.' free, 'X' sold. People count rows and seats from 1, the array from 0: the program converts with row − 1 and seat − 1 in ONE place, right where the array is used. Order of the checks matters: the range check must come first, because seats[row − 1, seat − 1] with row = 6 would crash (short-circuit || stops at the first true condition, Week 4). The loop is a do-while with sentinel 0 (Week 7). The grid shows the hall after the run on the next slide: row 3 seats 4 and 5 were sold before, row 3 seat 6 and row 1 seat 8 were booked.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Walk through the five requests: (3, 4) was sold in advance, so "already sold"; (3, 6) is booked; (3, 4) again is still sold; (6, 1) is outside the hall; (1, 8) is booked; 0 ends the loop. The map is printed with two nested loops; the same pass counts the free seats: 40 − 2 sold in advance − 2 booked = 36. seats.Length is 40 here, correctly used for the TOTAL number of seats. Extension ideas (homework H3): show the map after every booking, refuse to sell the last seat of a row, or let the user book several neighbouring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board is a 3 x 3 char matrix. There are exactly 8 winning lines: 3 rows, 3 columns, 2 diagonals (the same diagonals as Example 4, n = 3: r == c and r + c == 2). One loop with i = 0, 1, 2 checks row i AND column i at the same time; the two diagonals are written out (main diagonal (0,0) (1,1) (2,2), anti-diagonal (0,2) (1,1) (2,0)). Only the player who just moved can have won, so we compare with player. The check runs after every valid move. The board on the left is the end of the game on the next slide: X wins on the anti-diagonal.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game loop: while (!win &amp;&amp; moves &lt; 9). An invalid move (cell taken or outside the board) prints a message and continue skips the rest of the body, so the same player tries again and moves does not increase. After a valid move the board is printed and checked; the player only changes if nobody has won, so the final message names the winner. A second test run (in the notes) ends in a draw after 9 moves: always test both endings. The program does not validate non-numeric input (int.Parse would crash), see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grey-scale photo is a matrix: one number per pixel. Real images use 0 (black) to 255 (white); we use 0 to 9 so the numbers fit on the slide. The grid shows the numbers and their shade. Inverting (a "negative") is new = 9 − old for every pixel, in place, with the usual nested loops; with 0..255 it would be 255 − old. The console draws each brightness with a character from the string " .:-=+*#%@" (string indexing, Week 9) and prints every pixel twice because console characters are about twice as tall as wide. Average brightness = 363 / 63 = 5.76 (Length = 7 · 9 = 63). Other filters are the same loop with a different formula: brighten (min(old + 2, 9)), threshold (old &gt;= 5 ? 9 : 0), mirror (swap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an outlook. A jagged array is an array OF arrays: pascal[r] is a complete 1-D array (row r) with its own Length, and pascal[r][c] is one element; note the two pairs of brackets. new int[n][] creates only the "spine" of n rows, each still null; every row must be created with new int[r + 1] before use, otherwise NullReferenceException. Pascal's triangle: every number is the sum of the two above it; row r has r + 1 entries (binomial coefficients, row 5: 1 5 10 10 5 1). Compare with int[,]: always a rectangle, one object, m[r, c], GetLength. Use jagged arrays when rows really differ in length (triangles, lines of a text file, students with different numbers of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1) Jagged-array brackets on a rectangular array: compile error CS0022. 2) Rows of different lengths in an initializer: CS0847 (the compiler expected 2 values in the second row). 3) Using Length (all elements) as a row count: for a 3 x 4 matrix Length is 12, so m[r, c] with r = 3 crashes. 4) Swapped GetLength: invisible on square matrices; test with 3 x 4. 5) Accumulator declared outside the outer loop: the second "row sum" is 3 + 7 = 10 instead of 7 (real output from {{1,2},{3,4}}). 6) User numbers vs indices: forget the − 1 and row 5 of 5 crashes while row 1 silently books row 2. All messages were produced by real builds and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work, 3 minutes, then vote A to D. Hint for those who are stuck: mark the cells for which c &gt;= r is true. Wrong answers: 45 is the sum of all elements (the if is ignored); 15 is the main diagonal only (c == r, 1 + 5 + 9); 34 is the LOWER triangle with the diagonal (c &lt;= r). Correct: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 c &gt;= r selects the main diagonal and everything to its right: the upper triangle including the diagonal. 1 + 2 + 3 + 5 + 6 + 9 = 26. Verified with a real run. Follow-up questions: which condition gives 34? (c &lt;= r, lower triangle with diagonal: 1 + 4 + 5 + 7 + 8 + 9.) Which one gives 15? (c == r, the trace.) How can the program avoid the if completely? (Start the inner loop at c = r, as in the symmetric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5 minutes. Q1: the loops are swapped (outer c, inner r), so the matrix is printed column by column, which is its transpose. Q2: Length versus GetLength. Q3: an in-place transpose of a square matrix with c starting at 0; every pair is swapped twice. Answers on the next slide; all three were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the outer loop runs over the columns, so each printed LINE is a column of m: 1 4 / 2 5 / 3 6, the transpose (each line ends with a space). Q2: Length counts all 24 elements; GetLength(0) is 4 rows. Q3: for r = 0, c = 1 the program swaps a[0,1] and a[1,0]; later r = 1, c = 0 swaps them BACK. The diagonal elements are swapped with themselves. Result: a is unchanged. Fix: start the inner loop at c = r + 1 (c = r also works, because swapping a diagonal element with itself is harmless). Output after the fix: 1 3 / 2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two exercises per pair (A+D, B+E, C+F). For each: draw the grid with indices on paper first, mark which cells the loops visit, then write the program, then test with a NON-square matrix where it makes sense. Hints: A needs one loop per row with a max that starts at a[r, 0]; B is Example 6 with a minus sign (subtraction), C is the identity check: a[r, c] must be 1 if r == c and 0 otherwise; D: border elements are those with r == 0, r == rows − 1, c == 0 or c == cols − 1; E: a 7 x 4 matrix of hours, row sums = hours per day, column sums = hours per week; F: rotate the matrix 90 degrees clockwise: new[c, n − 1 − r] = old[r, c]. Solutions are in the instructor edition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asks students to add TryParse validation to Example 2 (Week 7 pattern). H2 is a classic: a "saddle point" is the smallest in its row and the largest in its column; the notes give the matrix {{3, 8, 5}, {7, 9, 10}, {1, 4, 6}}, whose only saddle point is 7 at [1, 0]. H5 answer: [[2, 8], [7, 19]]. H3 extends the cinema program. H4 is the mental bridge to Week 12: count how many times the same "print a matrix" loops were written in today's examples (Example 5 prints two matrices, Example 6 two, Example 11 two): next week we write them ONCE as a method PrintMatrix and call it. Solutions are in the instructor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write the two nested for loops that print a 3 x 4 matrix m as a grid, from memory. Next week: today's programs repeated the same printing loops again and again; methods let us write them once (PrintMatrix) and call them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11</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Multi-Dimensional Arrays (Matrices)</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int[,] · nested loops · rows, columns, diagonals · matrix arithmetic · grids · jagged arrays</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var m = new int[3, 4];</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5   0   0   0</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0   0   7   0</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0   0   0   9</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m[1, 2]</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7</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11 · 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Today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Declare and index</a:t>
            </a:r>
            <a:endParaRPr lang="en-US" sz="1700" dirty="0"/>
          </a:p>
        </p:txBody>
      </p:sp>
      <p:sp>
        <p:nvSpPr>
          <p:cNvPr id="11" name="Text 7"/>
          <p:cNvSpPr txBox="1"/>
          <p:nvPr/>
        </p:nvSpPr>
        <p:spPr>
          <a:xfrm>
            <a:off x="77724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Create int[,] matrices, use m[r, c], GetLength(0) and GetLength(1).</a:t>
            </a:r>
            <a:endParaRPr lang="en-US" sz="1500" dirty="0"/>
          </a:p>
        </p:txBody>
      </p:sp>
      <p:sp>
        <p:nvSpPr>
          <p:cNvPr id="12" name="Shape 8"/>
          <p:cNvSpPr/>
          <p:nvPr/>
        </p:nvSpPr>
        <p:spPr>
          <a:xfrm>
            <a:off x="4297680" y="1600200"/>
            <a:ext cx="356616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4526280"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73681" y="1976201"/>
            <a:ext cx="272125" cy="272125"/>
          </a:xfrm>
          <a:prstGeom prst="rect">
            <a:avLst/>
          </a:prstGeom>
        </p:spPr>
      </p:pic>
      <p:sp>
        <p:nvSpPr>
          <p:cNvPr id="15" name="Text 10"/>
          <p:cNvSpPr txBox="1"/>
          <p:nvPr/>
        </p:nvSpPr>
        <p:spPr>
          <a:xfrm>
            <a:off x="521208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Walk through a table</a:t>
            </a:r>
            <a:endParaRPr lang="en-US" sz="1700" dirty="0"/>
          </a:p>
        </p:txBody>
      </p:sp>
      <p:sp>
        <p:nvSpPr>
          <p:cNvPr id="16" name="Text 11"/>
          <p:cNvSpPr txBox="1"/>
          <p:nvPr/>
        </p:nvSpPr>
        <p:spPr>
          <a:xfrm>
            <a:off x="452628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Visit every element with two nested for loops, row by row.</a:t>
            </a:r>
            <a:endParaRPr lang="en-US" sz="1500" dirty="0"/>
          </a:p>
        </p:txBody>
      </p:sp>
      <p:sp>
        <p:nvSpPr>
          <p:cNvPr id="17" name="Shape 12"/>
          <p:cNvSpPr/>
          <p:nvPr/>
        </p:nvSpPr>
        <p:spPr>
          <a:xfrm>
            <a:off x="8046720" y="1600200"/>
            <a:ext cx="356616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8275320" y="1828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22721" y="1976201"/>
            <a:ext cx="272125" cy="272125"/>
          </a:xfrm>
          <a:prstGeom prst="rect">
            <a:avLst/>
          </a:prstGeom>
        </p:spPr>
      </p:pic>
      <p:sp>
        <p:nvSpPr>
          <p:cNvPr id="20" name="Text 14"/>
          <p:cNvSpPr txBox="1"/>
          <p:nvPr/>
        </p:nvSpPr>
        <p:spPr>
          <a:xfrm>
            <a:off x="896112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Rows, columns, diagonals</a:t>
            </a:r>
            <a:endParaRPr lang="en-US" sz="1700" dirty="0"/>
          </a:p>
        </p:txBody>
      </p:sp>
      <p:sp>
        <p:nvSpPr>
          <p:cNvPr id="21" name="Text 15"/>
          <p:cNvSpPr txBox="1"/>
          <p:nvPr/>
        </p:nvSpPr>
        <p:spPr>
          <a:xfrm>
            <a:off x="827532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Compute row sums, column averages, maxima, the trace and the anti-diagonal.</a:t>
            </a:r>
            <a:endParaRPr lang="en-US" sz="1500" dirty="0"/>
          </a:p>
        </p:txBody>
      </p:sp>
      <p:sp>
        <p:nvSpPr>
          <p:cNvPr id="22" name="Shape 16"/>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Matrix arithmetic</a:t>
            </a:r>
            <a:endParaRPr lang="en-US" sz="1700" dirty="0"/>
          </a:p>
        </p:txBody>
      </p:sp>
      <p:sp>
        <p:nvSpPr>
          <p:cNvPr id="26" name="Text 19"/>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Transpose, add, scale and multiply matrices, with size checks.</a:t>
            </a:r>
            <a:endParaRPr lang="en-US" sz="1500" dirty="0"/>
          </a:p>
        </p:txBody>
      </p:sp>
      <p:sp>
        <p:nvSpPr>
          <p:cNvPr id="27" name="Shape 20"/>
          <p:cNvSpPr/>
          <p:nvPr/>
        </p:nvSpPr>
        <p:spPr>
          <a:xfrm>
            <a:off x="4297680" y="3886200"/>
            <a:ext cx="3566160" cy="210312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4526280"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73681" y="4262201"/>
            <a:ext cx="272125" cy="272125"/>
          </a:xfrm>
          <a:prstGeom prst="rect">
            <a:avLst/>
          </a:prstGeom>
        </p:spPr>
      </p:pic>
      <p:sp>
        <p:nvSpPr>
          <p:cNvPr id="30" name="Text 22"/>
          <p:cNvSpPr txBox="1"/>
          <p:nvPr/>
        </p:nvSpPr>
        <p:spPr>
          <a:xfrm>
            <a:off x="521208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Model real grids</a:t>
            </a:r>
            <a:endParaRPr lang="en-US" sz="1700" dirty="0"/>
          </a:p>
        </p:txBody>
      </p:sp>
      <p:sp>
        <p:nvSpPr>
          <p:cNvPr id="31" name="Text 23"/>
          <p:cNvSpPr txBox="1"/>
          <p:nvPr/>
        </p:nvSpPr>
        <p:spPr>
          <a:xfrm>
            <a:off x="452628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Grade books, cinema seats, tic-tac-toe and images are all matrices.</a:t>
            </a:r>
            <a:endParaRPr lang="en-US" sz="1500" dirty="0"/>
          </a:p>
        </p:txBody>
      </p:sp>
      <p:sp>
        <p:nvSpPr>
          <p:cNvPr id="32" name="Shape 24"/>
          <p:cNvSpPr/>
          <p:nvPr/>
        </p:nvSpPr>
        <p:spPr>
          <a:xfrm>
            <a:off x="8046720" y="3886200"/>
            <a:ext cx="3566160" cy="2103120"/>
          </a:xfrm>
          <a:prstGeom prst="roundRect">
            <a:avLst>
              <a:gd name="adj" fmla="val 5217"/>
            </a:avLst>
          </a:prstGeom>
          <a:solidFill>
            <a:srgbClr val="EEF1F6"/>
          </a:solidFill>
          <a:ln w="12700">
            <a:solidFill>
              <a:srgbClr val="EEF1F6"/>
            </a:solidFill>
            <a:prstDash val="solid"/>
          </a:ln>
        </p:spPr>
      </p:sp>
      <p:sp>
        <p:nvSpPr>
          <p:cNvPr id="33" name="Shape 25"/>
          <p:cNvSpPr/>
          <p:nvPr/>
        </p:nvSpPr>
        <p:spPr>
          <a:xfrm>
            <a:off x="8275320"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22721" y="4262201"/>
            <a:ext cx="272125" cy="272125"/>
          </a:xfrm>
          <a:prstGeom prst="rect">
            <a:avLst/>
          </a:prstGeom>
        </p:spPr>
      </p:pic>
      <p:sp>
        <p:nvSpPr>
          <p:cNvPr id="35" name="Text 26"/>
          <p:cNvSpPr txBox="1"/>
          <p:nvPr/>
        </p:nvSpPr>
        <p:spPr>
          <a:xfrm>
            <a:off x="896112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Jagged arrays</a:t>
            </a:r>
            <a:endParaRPr lang="en-US" sz="1700" dirty="0"/>
          </a:p>
        </p:txBody>
      </p:sp>
      <p:sp>
        <p:nvSpPr>
          <p:cNvPr id="36" name="Text 27"/>
          <p:cNvSpPr txBox="1"/>
          <p:nvPr/>
        </p:nvSpPr>
        <p:spPr>
          <a:xfrm>
            <a:off x="827532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Use int[][] when the rows have different lengths (Pascal’s triangle).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WEEKS 9–10 → WEEK 11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One Index to Two</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1572768"/>
            <a:ext cx="4937760" cy="329184"/>
          </a:xfrm>
          <a:prstGeom prst="rect">
            <a:avLst/>
          </a:prstGeom>
          <a:noFill/>
          <a:ln/>
        </p:spPr>
        <p:txBody>
          <a:bodyPr wrap="square" lIns="0" tIns="0" rIns="0" bIns="0" rtlCol="0" anchor="ctr"/>
          <a:lstStyle/>
          <a:p>
            <a:pPr indent="0" marL="0">
              <a:buNone/>
            </a:pPr>
            <a:r>
              <a:rPr lang="en-US" sz="1600" b="1" dirty="0">
                <a:solidFill>
                  <a:srgbClr val="5B6478"/>
                </a:solidFill>
                <a:latin typeface="Cambria" pitchFamily="34" charset="0"/>
                <a:ea typeface="Cambria" pitchFamily="34" charset="-122"/>
                <a:cs typeface="Cambria" pitchFamily="34" charset="-120"/>
              </a:rPr>
              <a:t>Week 9 · one index</a:t>
            </a:r>
            <a:endParaRPr lang="en-US" sz="1600" dirty="0"/>
          </a:p>
        </p:txBody>
      </p:sp>
      <p:sp>
        <p:nvSpPr>
          <p:cNvPr id="8" name="Text 5"/>
          <p:cNvSpPr txBox="1"/>
          <p:nvPr/>
        </p:nvSpPr>
        <p:spPr>
          <a:xfrm>
            <a:off x="93268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9" name="Text 6"/>
          <p:cNvSpPr txBox="1"/>
          <p:nvPr/>
        </p:nvSpPr>
        <p:spPr>
          <a:xfrm>
            <a:off x="157276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221284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285292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2" name="Text 9"/>
          <p:cNvSpPr txBox="1"/>
          <p:nvPr/>
        </p:nvSpPr>
        <p:spPr>
          <a:xfrm>
            <a:off x="349300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4</a:t>
            </a:r>
            <a:endParaRPr lang="en-US" sz="1200" dirty="0"/>
          </a:p>
        </p:txBody>
      </p:sp>
      <p:sp>
        <p:nvSpPr>
          <p:cNvPr id="13" name="Text 10"/>
          <p:cNvSpPr txBox="1"/>
          <p:nvPr/>
        </p:nvSpPr>
        <p:spPr>
          <a:xfrm>
            <a:off x="548640" y="221284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4" name="Text 11"/>
          <p:cNvSpPr/>
          <p:nvPr/>
        </p:nvSpPr>
        <p:spPr>
          <a:xfrm>
            <a:off x="932688" y="2212848"/>
            <a:ext cx="64008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p>
        </p:txBody>
      </p:sp>
      <p:sp>
        <p:nvSpPr>
          <p:cNvPr id="15" name="Text 12"/>
          <p:cNvSpPr/>
          <p:nvPr/>
        </p:nvSpPr>
        <p:spPr>
          <a:xfrm>
            <a:off x="1572768" y="2212848"/>
            <a:ext cx="64008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p>
        </p:txBody>
      </p:sp>
      <p:sp>
        <p:nvSpPr>
          <p:cNvPr id="16" name="Text 13"/>
          <p:cNvSpPr/>
          <p:nvPr/>
        </p:nvSpPr>
        <p:spPr>
          <a:xfrm>
            <a:off x="2212848" y="2212848"/>
            <a:ext cx="64008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19</a:t>
            </a:r>
            <a:endParaRPr lang="en-US" sz="1500" dirty="0"/>
          </a:p>
        </p:txBody>
      </p:sp>
      <p:sp>
        <p:nvSpPr>
          <p:cNvPr id="17" name="Text 14"/>
          <p:cNvSpPr/>
          <p:nvPr/>
        </p:nvSpPr>
        <p:spPr>
          <a:xfrm>
            <a:off x="2852928" y="2212848"/>
            <a:ext cx="640080" cy="50292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24</a:t>
            </a:r>
            <a:endParaRPr lang="en-US" sz="1500" dirty="0"/>
          </a:p>
        </p:txBody>
      </p:sp>
      <p:sp>
        <p:nvSpPr>
          <p:cNvPr id="18" name="Text 15"/>
          <p:cNvSpPr/>
          <p:nvPr/>
        </p:nvSpPr>
        <p:spPr>
          <a:xfrm>
            <a:off x="3493008" y="2212848"/>
            <a:ext cx="64008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22</a:t>
            </a:r>
            <a:endParaRPr lang="en-US" sz="1500" dirty="0"/>
          </a:p>
        </p:txBody>
      </p:sp>
      <p:sp>
        <p:nvSpPr>
          <p:cNvPr id="19" name="Shape 16"/>
          <p:cNvSpPr/>
          <p:nvPr/>
        </p:nvSpPr>
        <p:spPr>
          <a:xfrm>
            <a:off x="548640" y="2971800"/>
            <a:ext cx="4937760" cy="914400"/>
          </a:xfrm>
          <a:prstGeom prst="roundRect">
            <a:avLst>
              <a:gd name="adj" fmla="val 10000"/>
            </a:avLst>
          </a:prstGeom>
          <a:solidFill>
            <a:srgbClr val="0F1729"/>
          </a:solidFill>
          <a:ln w="12700">
            <a:solidFill>
              <a:srgbClr val="0F1729"/>
            </a:solidFill>
            <a:prstDash val="solid"/>
          </a:ln>
        </p:spPr>
      </p:sp>
      <p:sp>
        <p:nvSpPr>
          <p:cNvPr id="20" name="Text 17"/>
          <p:cNvSpPr txBox="1"/>
          <p:nvPr/>
        </p:nvSpPr>
        <p:spPr>
          <a:xfrm>
            <a:off x="777240" y="3136392"/>
            <a:ext cx="4480560" cy="6400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temps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temps[</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21" name="Text 18"/>
          <p:cNvSpPr txBox="1"/>
          <p:nvPr/>
        </p:nvSpPr>
        <p:spPr>
          <a:xfrm>
            <a:off x="548640" y="4023360"/>
            <a:ext cx="4937760" cy="73152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One week of temperatures: </a:t>
            </a:r>
            <a:pPr indent="0" marL="0">
              <a:buNone/>
            </a:pPr>
            <a:r>
              <a:rPr lang="en-US" sz="1500" b="1" dirty="0">
                <a:solidFill>
                  <a:srgbClr val="14213D"/>
                </a:solidFill>
                <a:latin typeface="Calibri" pitchFamily="34" charset="0"/>
                <a:ea typeface="Calibri" pitchFamily="34" charset="-122"/>
                <a:cs typeface="Calibri" pitchFamily="34" charset="-120"/>
              </a:rPr>
              <a:t>temps[3]</a:t>
            </a:r>
            <a:pPr indent="0" marL="0">
              <a:buNone/>
            </a:pPr>
            <a:r>
              <a:rPr lang="en-US" sz="1500" dirty="0">
                <a:solidFill>
                  <a:srgbClr val="333B4F"/>
                </a:solidFill>
                <a:latin typeface="Calibri" pitchFamily="34" charset="0"/>
                <a:ea typeface="Calibri" pitchFamily="34" charset="-122"/>
                <a:cs typeface="Calibri" pitchFamily="34" charset="-120"/>
              </a:rPr>
              <a:t> is the 4th day.</a:t>
            </a:r>
            <a:endParaRPr lang="en-US" sz="1500" dirty="0"/>
          </a:p>
        </p:txBody>
      </p:sp>
      <p:sp>
        <p:nvSpPr>
          <p:cNvPr id="22" name="Text 19"/>
          <p:cNvSpPr txBox="1"/>
          <p:nvPr/>
        </p:nvSpPr>
        <p:spPr>
          <a:xfrm>
            <a:off x="6035040" y="1572768"/>
            <a:ext cx="5577840" cy="329184"/>
          </a:xfrm>
          <a:prstGeom prst="rect">
            <a:avLst/>
          </a:prstGeom>
          <a:noFill/>
          <a:ln/>
        </p:spPr>
        <p:txBody>
          <a:bodyPr wrap="square" lIns="0" tIns="0" rIns="0" bIns="0" rtlCol="0" anchor="ctr"/>
          <a:lstStyle/>
          <a:p>
            <a:pPr indent="0" marL="0">
              <a:buNone/>
            </a:pPr>
            <a:r>
              <a:rPr lang="en-US" sz="1600" b="1" dirty="0">
                <a:solidFill>
                  <a:srgbClr val="B7791F"/>
                </a:solidFill>
                <a:latin typeface="Cambria" pitchFamily="34" charset="0"/>
                <a:ea typeface="Cambria" pitchFamily="34" charset="-122"/>
                <a:cs typeface="Cambria" pitchFamily="34" charset="-120"/>
              </a:rPr>
              <a:t>Week 11 · two indices</a:t>
            </a:r>
            <a:endParaRPr lang="en-US" sz="1600" dirty="0"/>
          </a:p>
        </p:txBody>
      </p:sp>
      <p:sp>
        <p:nvSpPr>
          <p:cNvPr id="23" name="Text 20"/>
          <p:cNvSpPr txBox="1"/>
          <p:nvPr/>
        </p:nvSpPr>
        <p:spPr>
          <a:xfrm>
            <a:off x="641908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24" name="Text 21"/>
          <p:cNvSpPr txBox="1"/>
          <p:nvPr/>
        </p:nvSpPr>
        <p:spPr>
          <a:xfrm>
            <a:off x="705916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25" name="Text 22"/>
          <p:cNvSpPr txBox="1"/>
          <p:nvPr/>
        </p:nvSpPr>
        <p:spPr>
          <a:xfrm>
            <a:off x="769924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26" name="Text 23"/>
          <p:cNvSpPr txBox="1"/>
          <p:nvPr/>
        </p:nvSpPr>
        <p:spPr>
          <a:xfrm>
            <a:off x="833932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27" name="Text 24"/>
          <p:cNvSpPr txBox="1"/>
          <p:nvPr/>
        </p:nvSpPr>
        <p:spPr>
          <a:xfrm>
            <a:off x="8979408" y="192024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4</a:t>
            </a:r>
            <a:endParaRPr lang="en-US" sz="1200" dirty="0"/>
          </a:p>
        </p:txBody>
      </p:sp>
      <p:sp>
        <p:nvSpPr>
          <p:cNvPr id="28" name="Text 25"/>
          <p:cNvSpPr txBox="1"/>
          <p:nvPr/>
        </p:nvSpPr>
        <p:spPr>
          <a:xfrm>
            <a:off x="6035040" y="22128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29" name="Text 26"/>
          <p:cNvSpPr txBox="1"/>
          <p:nvPr/>
        </p:nvSpPr>
        <p:spPr>
          <a:xfrm>
            <a:off x="6035040" y="26700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30" name="Text 27"/>
          <p:cNvSpPr txBox="1"/>
          <p:nvPr/>
        </p:nvSpPr>
        <p:spPr>
          <a:xfrm>
            <a:off x="6035040" y="31272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31" name="Text 28"/>
          <p:cNvSpPr/>
          <p:nvPr/>
        </p:nvSpPr>
        <p:spPr>
          <a:xfrm>
            <a:off x="6419088" y="22128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p>
        </p:txBody>
      </p:sp>
      <p:sp>
        <p:nvSpPr>
          <p:cNvPr id="32" name="Text 29"/>
          <p:cNvSpPr/>
          <p:nvPr/>
        </p:nvSpPr>
        <p:spPr>
          <a:xfrm>
            <a:off x="7059168" y="22128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p>
        </p:txBody>
      </p:sp>
      <p:sp>
        <p:nvSpPr>
          <p:cNvPr id="33" name="Text 30"/>
          <p:cNvSpPr/>
          <p:nvPr/>
        </p:nvSpPr>
        <p:spPr>
          <a:xfrm>
            <a:off x="7699248" y="22128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19</a:t>
            </a:r>
            <a:endParaRPr lang="en-US" sz="1500" dirty="0"/>
          </a:p>
        </p:txBody>
      </p:sp>
      <p:sp>
        <p:nvSpPr>
          <p:cNvPr id="34" name="Text 31"/>
          <p:cNvSpPr/>
          <p:nvPr/>
        </p:nvSpPr>
        <p:spPr>
          <a:xfrm>
            <a:off x="8339328" y="22128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24</a:t>
            </a:r>
            <a:endParaRPr lang="en-US" sz="1500" dirty="0"/>
          </a:p>
        </p:txBody>
      </p:sp>
      <p:sp>
        <p:nvSpPr>
          <p:cNvPr id="35" name="Text 32"/>
          <p:cNvSpPr/>
          <p:nvPr/>
        </p:nvSpPr>
        <p:spPr>
          <a:xfrm>
            <a:off x="8979408" y="22128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22</a:t>
            </a:r>
            <a:endParaRPr lang="en-US" sz="1500" dirty="0"/>
          </a:p>
        </p:txBody>
      </p:sp>
      <p:sp>
        <p:nvSpPr>
          <p:cNvPr id="36" name="Text 33"/>
          <p:cNvSpPr/>
          <p:nvPr/>
        </p:nvSpPr>
        <p:spPr>
          <a:xfrm>
            <a:off x="6419088" y="26700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17</a:t>
            </a:r>
            <a:endParaRPr lang="en-US" sz="1500" dirty="0"/>
          </a:p>
        </p:txBody>
      </p:sp>
      <p:sp>
        <p:nvSpPr>
          <p:cNvPr id="37" name="Text 34"/>
          <p:cNvSpPr/>
          <p:nvPr/>
        </p:nvSpPr>
        <p:spPr>
          <a:xfrm>
            <a:off x="7059168" y="26700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16</a:t>
            </a:r>
            <a:endParaRPr lang="en-US" sz="1500" dirty="0"/>
          </a:p>
        </p:txBody>
      </p:sp>
      <p:sp>
        <p:nvSpPr>
          <p:cNvPr id="38" name="Text 35"/>
          <p:cNvSpPr/>
          <p:nvPr/>
        </p:nvSpPr>
        <p:spPr>
          <a:xfrm>
            <a:off x="7699248" y="26700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20</a:t>
            </a:r>
            <a:endParaRPr lang="en-US" sz="1500" dirty="0"/>
          </a:p>
        </p:txBody>
      </p:sp>
      <p:sp>
        <p:nvSpPr>
          <p:cNvPr id="39" name="Text 36"/>
          <p:cNvSpPr/>
          <p:nvPr/>
        </p:nvSpPr>
        <p:spPr>
          <a:xfrm>
            <a:off x="8339328" y="2670048"/>
            <a:ext cx="640080" cy="45720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23</a:t>
            </a:r>
            <a:endParaRPr lang="en-US" sz="1500" dirty="0"/>
          </a:p>
        </p:txBody>
      </p:sp>
      <p:sp>
        <p:nvSpPr>
          <p:cNvPr id="40" name="Text 37"/>
          <p:cNvSpPr/>
          <p:nvPr/>
        </p:nvSpPr>
        <p:spPr>
          <a:xfrm>
            <a:off x="8979408" y="26700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25</a:t>
            </a:r>
            <a:endParaRPr lang="en-US" sz="1500" dirty="0"/>
          </a:p>
        </p:txBody>
      </p:sp>
      <p:sp>
        <p:nvSpPr>
          <p:cNvPr id="41" name="Text 38"/>
          <p:cNvSpPr/>
          <p:nvPr/>
        </p:nvSpPr>
        <p:spPr>
          <a:xfrm>
            <a:off x="6419088" y="31272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22</a:t>
            </a:r>
            <a:endParaRPr lang="en-US" sz="1500" dirty="0"/>
          </a:p>
        </p:txBody>
      </p:sp>
      <p:sp>
        <p:nvSpPr>
          <p:cNvPr id="42" name="Text 39"/>
          <p:cNvSpPr/>
          <p:nvPr/>
        </p:nvSpPr>
        <p:spPr>
          <a:xfrm>
            <a:off x="7059168" y="31272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19</a:t>
            </a:r>
            <a:endParaRPr lang="en-US" sz="1500" dirty="0"/>
          </a:p>
        </p:txBody>
      </p:sp>
      <p:sp>
        <p:nvSpPr>
          <p:cNvPr id="43" name="Text 40"/>
          <p:cNvSpPr/>
          <p:nvPr/>
        </p:nvSpPr>
        <p:spPr>
          <a:xfrm>
            <a:off x="7699248" y="31272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18</a:t>
            </a:r>
            <a:endParaRPr lang="en-US" sz="1500" dirty="0"/>
          </a:p>
        </p:txBody>
      </p:sp>
      <p:sp>
        <p:nvSpPr>
          <p:cNvPr id="44" name="Text 41"/>
          <p:cNvSpPr/>
          <p:nvPr/>
        </p:nvSpPr>
        <p:spPr>
          <a:xfrm>
            <a:off x="8339328" y="31272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24</a:t>
            </a:r>
            <a:endParaRPr lang="en-US" sz="1500" dirty="0"/>
          </a:p>
        </p:txBody>
      </p:sp>
      <p:sp>
        <p:nvSpPr>
          <p:cNvPr id="45" name="Text 42"/>
          <p:cNvSpPr/>
          <p:nvPr/>
        </p:nvSpPr>
        <p:spPr>
          <a:xfrm>
            <a:off x="8979408" y="3127248"/>
            <a:ext cx="640080" cy="45720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21</a:t>
            </a:r>
            <a:endParaRPr lang="en-US" sz="1500" dirty="0"/>
          </a:p>
        </p:txBody>
      </p:sp>
      <p:sp>
        <p:nvSpPr>
          <p:cNvPr id="46" name="Text 43"/>
          <p:cNvSpPr txBox="1"/>
          <p:nvPr/>
        </p:nvSpPr>
        <p:spPr>
          <a:xfrm>
            <a:off x="9921240" y="1874520"/>
            <a:ext cx="10972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day →</a:t>
            </a:r>
            <a:endParaRPr lang="en-US" sz="1300" dirty="0"/>
          </a:p>
        </p:txBody>
      </p:sp>
      <p:sp>
        <p:nvSpPr>
          <p:cNvPr id="47" name="Text 44"/>
          <p:cNvSpPr txBox="1"/>
          <p:nvPr/>
        </p:nvSpPr>
        <p:spPr>
          <a:xfrm>
            <a:off x="9921240" y="2286000"/>
            <a:ext cx="1097280" cy="274320"/>
          </a:xfrm>
          <a:prstGeom prst="rect">
            <a:avLst/>
          </a:prstGeom>
          <a:noFill/>
          <a:ln/>
        </p:spPr>
        <p:txBody>
          <a:bodyPr wrap="square" lIns="0" tIns="0" rIns="0" bIns="0" rtlCol="0" anchor="ctr"/>
          <a:lstStyle/>
          <a:p>
            <a:pPr indent="0" marL="0">
              <a:buNone/>
            </a:pPr>
            <a:r>
              <a:rPr lang="en-US" sz="1300" b="1" dirty="0">
                <a:solidFill>
                  <a:srgbClr val="2F6FB3"/>
                </a:solidFill>
                <a:latin typeface="Calibri" pitchFamily="34" charset="0"/>
                <a:ea typeface="Calibri" pitchFamily="34" charset="-122"/>
                <a:cs typeface="Calibri" pitchFamily="34" charset="-120"/>
              </a:rPr>
              <a:t>week ↓</a:t>
            </a:r>
            <a:endParaRPr lang="en-US" sz="1300" dirty="0"/>
          </a:p>
        </p:txBody>
      </p:sp>
      <p:sp>
        <p:nvSpPr>
          <p:cNvPr id="48" name="Shape 45"/>
          <p:cNvSpPr/>
          <p:nvPr/>
        </p:nvSpPr>
        <p:spPr>
          <a:xfrm>
            <a:off x="6035040" y="3657600"/>
            <a:ext cx="5623560" cy="914400"/>
          </a:xfrm>
          <a:prstGeom prst="roundRect">
            <a:avLst>
              <a:gd name="adj" fmla="val 10000"/>
            </a:avLst>
          </a:prstGeom>
          <a:solidFill>
            <a:srgbClr val="0F1729"/>
          </a:solidFill>
          <a:ln w="12700">
            <a:solidFill>
              <a:srgbClr val="0F1729"/>
            </a:solidFill>
            <a:prstDash val="solid"/>
          </a:ln>
        </p:spPr>
      </p:sp>
      <p:sp>
        <p:nvSpPr>
          <p:cNvPr id="49" name="Text 46"/>
          <p:cNvSpPr txBox="1"/>
          <p:nvPr/>
        </p:nvSpPr>
        <p:spPr>
          <a:xfrm>
            <a:off x="6263640" y="3822192"/>
            <a:ext cx="5166360" cy="6400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temps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temps[</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50" name="Shape 47"/>
          <p:cNvSpPr/>
          <p:nvPr/>
        </p:nvSpPr>
        <p:spPr>
          <a:xfrm>
            <a:off x="548640" y="5029200"/>
            <a:ext cx="11109960" cy="1051560"/>
          </a:xfrm>
          <a:prstGeom prst="roundRect">
            <a:avLst>
              <a:gd name="adj" fmla="val 10435"/>
            </a:avLst>
          </a:prstGeom>
          <a:solidFill>
            <a:srgbClr val="FFF6E3"/>
          </a:solidFill>
          <a:ln w="12700">
            <a:solidFill>
              <a:srgbClr val="FFF6E3"/>
            </a:solidFill>
            <a:prstDash val="solid"/>
          </a:ln>
        </p:spPr>
      </p:sp>
      <p:pic>
        <p:nvPicPr>
          <p:cNvPr id="51" name="Image 0" descr="preencoded.png">    </p:cNvPr>
          <p:cNvPicPr>
            <a:picLocks noChangeAspect="1"/>
          </p:cNvPicPr>
          <p:nvPr/>
        </p:nvPicPr>
        <p:blipFill>
          <a:blip r:embed="rId1"/>
          <a:stretch>
            <a:fillRect/>
          </a:stretch>
        </p:blipFill>
        <p:spPr>
          <a:xfrm>
            <a:off x="822960" y="5280660"/>
            <a:ext cx="548640" cy="548640"/>
          </a:xfrm>
          <a:prstGeom prst="rect">
            <a:avLst/>
          </a:prstGeom>
        </p:spPr>
      </p:pic>
      <p:sp>
        <p:nvSpPr>
          <p:cNvPr id="52" name="Text 48"/>
          <p:cNvSpPr txBox="1"/>
          <p:nvPr/>
        </p:nvSpPr>
        <p:spPr>
          <a:xfrm>
            <a:off x="1645920" y="5102352"/>
            <a:ext cx="9738360" cy="90525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 matrix is an array with two indices: </a:t>
            </a:r>
            <a:pPr indent="0" marL="0">
              <a:buNone/>
            </a:pPr>
            <a:r>
              <a:rPr lang="en-US" sz="1500" b="1" dirty="0">
                <a:solidFill>
                  <a:srgbClr val="14213D"/>
                </a:solidFill>
                <a:latin typeface="Courier New" pitchFamily="34" charset="0"/>
                <a:ea typeface="Courier New" pitchFamily="34" charset="-122"/>
                <a:cs typeface="Courier New" pitchFamily="34" charset="-120"/>
              </a:rPr>
              <a:t>m[row, column]</a:t>
            </a:r>
            <a:pPr indent="0" marL="0">
              <a:buNone/>
            </a:pPr>
            <a:r>
              <a:rPr lang="en-US" sz="1500" dirty="0">
                <a:solidFill>
                  <a:srgbClr val="333B4F"/>
                </a:solidFill>
                <a:latin typeface="Calibri" pitchFamily="34" charset="0"/>
                <a:ea typeface="Calibri" pitchFamily="34" charset="-122"/>
                <a:cs typeface="Calibri" pitchFamily="34" charset="-120"/>
              </a:rPr>
              <a:t>. Everything from Week 10 (sum, max, search, count) still works; we just add a second, nested loop.</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Rectangular Arrays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Declaring, indexing and walking through a table with int[,]</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11</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MOTIVATION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Tables Are Everywhere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301752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Grade book</a:t>
            </a:r>
            <a:endParaRPr lang="en-US" sz="1700" dirty="0"/>
          </a:p>
        </p:txBody>
      </p:sp>
      <p:sp>
        <p:nvSpPr>
          <p:cNvPr id="11" name="Text 7"/>
          <p:cNvSpPr txBox="1"/>
          <p:nvPr/>
        </p:nvSpPr>
        <p:spPr>
          <a:xfrm>
            <a:off x="777240" y="2514600"/>
            <a:ext cx="25603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rows = students, columns = exams</a:t>
            </a:r>
            <a:endParaRPr lang="en-US" sz="1500" dirty="0"/>
          </a:p>
        </p:txBody>
      </p:sp>
      <p:sp>
        <p:nvSpPr>
          <p:cNvPr id="12" name="Shape 8"/>
          <p:cNvSpPr/>
          <p:nvPr/>
        </p:nvSpPr>
        <p:spPr>
          <a:xfrm>
            <a:off x="3703320" y="1600200"/>
            <a:ext cx="301752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3931920"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079321" y="1976201"/>
            <a:ext cx="272125" cy="272125"/>
          </a:xfrm>
          <a:prstGeom prst="rect">
            <a:avLst/>
          </a:prstGeom>
        </p:spPr>
      </p:pic>
      <p:sp>
        <p:nvSpPr>
          <p:cNvPr id="15" name="Text 10"/>
          <p:cNvSpPr txBox="1"/>
          <p:nvPr/>
        </p:nvSpPr>
        <p:spPr>
          <a:xfrm>
            <a:off x="4617720" y="18288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Cinema hall</a:t>
            </a:r>
            <a:endParaRPr lang="en-US" sz="1700" dirty="0"/>
          </a:p>
        </p:txBody>
      </p:sp>
      <p:sp>
        <p:nvSpPr>
          <p:cNvPr id="16" name="Text 11"/>
          <p:cNvSpPr txBox="1"/>
          <p:nvPr/>
        </p:nvSpPr>
        <p:spPr>
          <a:xfrm>
            <a:off x="3931920" y="2514600"/>
            <a:ext cx="25603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rows = seat rows, columns = seat numbers</a:t>
            </a:r>
            <a:endParaRPr lang="en-US" sz="1500" dirty="0"/>
          </a:p>
        </p:txBody>
      </p:sp>
      <p:sp>
        <p:nvSpPr>
          <p:cNvPr id="17" name="Shape 12"/>
          <p:cNvSpPr/>
          <p:nvPr/>
        </p:nvSpPr>
        <p:spPr>
          <a:xfrm>
            <a:off x="548640" y="3886200"/>
            <a:ext cx="301752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Board games</a:t>
            </a:r>
            <a:endParaRPr lang="en-US" sz="1700" dirty="0"/>
          </a:p>
        </p:txBody>
      </p:sp>
      <p:sp>
        <p:nvSpPr>
          <p:cNvPr id="21" name="Text 15"/>
          <p:cNvSpPr txBox="1"/>
          <p:nvPr/>
        </p:nvSpPr>
        <p:spPr>
          <a:xfrm>
            <a:off x="777240" y="4800600"/>
            <a:ext cx="25603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tic-tac-toe 3 × 3, chess 8 × 8</a:t>
            </a:r>
            <a:endParaRPr lang="en-US" sz="1500" dirty="0"/>
          </a:p>
        </p:txBody>
      </p:sp>
      <p:sp>
        <p:nvSpPr>
          <p:cNvPr id="22" name="Shape 16"/>
          <p:cNvSpPr/>
          <p:nvPr/>
        </p:nvSpPr>
        <p:spPr>
          <a:xfrm>
            <a:off x="3703320" y="3886200"/>
            <a:ext cx="301752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393192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4079321" y="4262201"/>
            <a:ext cx="272125" cy="272125"/>
          </a:xfrm>
          <a:prstGeom prst="rect">
            <a:avLst/>
          </a:prstGeom>
        </p:spPr>
      </p:pic>
      <p:sp>
        <p:nvSpPr>
          <p:cNvPr id="25" name="Text 18"/>
          <p:cNvSpPr txBox="1"/>
          <p:nvPr/>
        </p:nvSpPr>
        <p:spPr>
          <a:xfrm>
            <a:off x="4617720" y="41148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Images</a:t>
            </a:r>
            <a:endParaRPr lang="en-US" sz="1700" dirty="0"/>
          </a:p>
        </p:txBody>
      </p:sp>
      <p:sp>
        <p:nvSpPr>
          <p:cNvPr id="26" name="Text 19"/>
          <p:cNvSpPr txBox="1"/>
          <p:nvPr/>
        </p:nvSpPr>
        <p:spPr>
          <a:xfrm>
            <a:off x="3931920" y="4800600"/>
            <a:ext cx="25603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rows × columns of pixel brightness values</a:t>
            </a:r>
            <a:endParaRPr lang="en-US" sz="1500" dirty="0"/>
          </a:p>
        </p:txBody>
      </p:sp>
      <p:sp>
        <p:nvSpPr>
          <p:cNvPr id="27" name="Text 20"/>
          <p:cNvSpPr txBox="1"/>
          <p:nvPr/>
        </p:nvSpPr>
        <p:spPr>
          <a:xfrm>
            <a:off x="7086600" y="1572768"/>
            <a:ext cx="45720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 spreadsheet is a matrix</a:t>
            </a:r>
            <a:endParaRPr lang="en-US" sz="1600" dirty="0"/>
          </a:p>
        </p:txBody>
      </p:sp>
      <p:sp>
        <p:nvSpPr>
          <p:cNvPr id="28" name="Text 21"/>
          <p:cNvSpPr txBox="1"/>
          <p:nvPr/>
        </p:nvSpPr>
        <p:spPr>
          <a:xfrm>
            <a:off x="7470648" y="1965960"/>
            <a:ext cx="777240" cy="274320"/>
          </a:xfrm>
          <a:prstGeom prst="rect">
            <a:avLst/>
          </a:prstGeom>
          <a:noFill/>
          <a:ln/>
        </p:spPr>
        <p:txBody>
          <a:bodyPr wrap="square" lIns="0" tIns="0" rIns="0" bIns="0" rtlCol="0" anchor="b"/>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A</a:t>
            </a:r>
            <a:endParaRPr lang="en-US" sz="1300" dirty="0"/>
          </a:p>
        </p:txBody>
      </p:sp>
      <p:sp>
        <p:nvSpPr>
          <p:cNvPr id="29" name="Text 22"/>
          <p:cNvSpPr txBox="1"/>
          <p:nvPr/>
        </p:nvSpPr>
        <p:spPr>
          <a:xfrm>
            <a:off x="8247888" y="1965960"/>
            <a:ext cx="777240" cy="274320"/>
          </a:xfrm>
          <a:prstGeom prst="rect">
            <a:avLst/>
          </a:prstGeom>
          <a:noFill/>
          <a:ln/>
        </p:spPr>
        <p:txBody>
          <a:bodyPr wrap="square" lIns="0" tIns="0" rIns="0" bIns="0" rtlCol="0" anchor="b"/>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B</a:t>
            </a:r>
            <a:endParaRPr lang="en-US" sz="1300" dirty="0"/>
          </a:p>
        </p:txBody>
      </p:sp>
      <p:sp>
        <p:nvSpPr>
          <p:cNvPr id="30" name="Text 23"/>
          <p:cNvSpPr txBox="1"/>
          <p:nvPr/>
        </p:nvSpPr>
        <p:spPr>
          <a:xfrm>
            <a:off x="9025128" y="1965960"/>
            <a:ext cx="777240" cy="274320"/>
          </a:xfrm>
          <a:prstGeom prst="rect">
            <a:avLst/>
          </a:prstGeom>
          <a:noFill/>
          <a:ln/>
        </p:spPr>
        <p:txBody>
          <a:bodyPr wrap="square" lIns="0" tIns="0" rIns="0" bIns="0" rtlCol="0" anchor="b"/>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C</a:t>
            </a:r>
            <a:endParaRPr lang="en-US" sz="1300" dirty="0"/>
          </a:p>
        </p:txBody>
      </p:sp>
      <p:sp>
        <p:nvSpPr>
          <p:cNvPr id="31" name="Text 24"/>
          <p:cNvSpPr txBox="1"/>
          <p:nvPr/>
        </p:nvSpPr>
        <p:spPr>
          <a:xfrm>
            <a:off x="9802368" y="1965960"/>
            <a:ext cx="777240" cy="274320"/>
          </a:xfrm>
          <a:prstGeom prst="rect">
            <a:avLst/>
          </a:prstGeom>
          <a:noFill/>
          <a:ln/>
        </p:spPr>
        <p:txBody>
          <a:bodyPr wrap="square" lIns="0" tIns="0" rIns="0" bIns="0" rtlCol="0" anchor="b"/>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D</a:t>
            </a:r>
            <a:endParaRPr lang="en-US" sz="1300" dirty="0"/>
          </a:p>
        </p:txBody>
      </p:sp>
      <p:sp>
        <p:nvSpPr>
          <p:cNvPr id="32" name="Text 25"/>
          <p:cNvSpPr txBox="1"/>
          <p:nvPr/>
        </p:nvSpPr>
        <p:spPr>
          <a:xfrm>
            <a:off x="10579608" y="1965960"/>
            <a:ext cx="777240" cy="274320"/>
          </a:xfrm>
          <a:prstGeom prst="rect">
            <a:avLst/>
          </a:prstGeom>
          <a:noFill/>
          <a:ln/>
        </p:spPr>
        <p:txBody>
          <a:bodyPr wrap="square" lIns="0" tIns="0" rIns="0" bIns="0" rtlCol="0" anchor="b"/>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E</a:t>
            </a:r>
            <a:endParaRPr lang="en-US" sz="1300" dirty="0"/>
          </a:p>
        </p:txBody>
      </p:sp>
      <p:sp>
        <p:nvSpPr>
          <p:cNvPr id="33" name="Text 26"/>
          <p:cNvSpPr txBox="1"/>
          <p:nvPr/>
        </p:nvSpPr>
        <p:spPr>
          <a:xfrm>
            <a:off x="7086600" y="2258568"/>
            <a:ext cx="310896" cy="502920"/>
          </a:xfrm>
          <a:prstGeom prst="rect">
            <a:avLst/>
          </a:prstGeom>
          <a:noFill/>
          <a:ln/>
        </p:spPr>
        <p:txBody>
          <a:bodyPr wrap="square" lIns="0" tIns="0" rIns="0" bIns="0" rtlCol="0" anchor="ctr"/>
          <a:lstStyle/>
          <a:p>
            <a:pPr algn="r" indent="0" marL="0">
              <a:buNone/>
            </a:pPr>
            <a:r>
              <a:rPr lang="en-US" sz="1300" b="1" dirty="0">
                <a:solidFill>
                  <a:srgbClr val="2F6FB3"/>
                </a:solidFill>
                <a:latin typeface="Courier New" pitchFamily="34" charset="0"/>
                <a:ea typeface="Courier New" pitchFamily="34" charset="-122"/>
                <a:cs typeface="Courier New" pitchFamily="34" charset="-120"/>
              </a:rPr>
              <a:t>1</a:t>
            </a:r>
            <a:endParaRPr lang="en-US" sz="1300" dirty="0"/>
          </a:p>
        </p:txBody>
      </p:sp>
      <p:sp>
        <p:nvSpPr>
          <p:cNvPr id="34" name="Text 27"/>
          <p:cNvSpPr txBox="1"/>
          <p:nvPr/>
        </p:nvSpPr>
        <p:spPr>
          <a:xfrm>
            <a:off x="7086600" y="2761488"/>
            <a:ext cx="310896" cy="502920"/>
          </a:xfrm>
          <a:prstGeom prst="rect">
            <a:avLst/>
          </a:prstGeom>
          <a:noFill/>
          <a:ln/>
        </p:spPr>
        <p:txBody>
          <a:bodyPr wrap="square" lIns="0" tIns="0" rIns="0" bIns="0" rtlCol="0" anchor="ctr"/>
          <a:lstStyle/>
          <a:p>
            <a:pPr algn="r" indent="0" marL="0">
              <a:buNone/>
            </a:pPr>
            <a:r>
              <a:rPr lang="en-US" sz="1300" b="1" dirty="0">
                <a:solidFill>
                  <a:srgbClr val="2F6FB3"/>
                </a:solidFill>
                <a:latin typeface="Courier New" pitchFamily="34" charset="0"/>
                <a:ea typeface="Courier New" pitchFamily="34" charset="-122"/>
                <a:cs typeface="Courier New" pitchFamily="34" charset="-120"/>
              </a:rPr>
              <a:t>2</a:t>
            </a:r>
            <a:endParaRPr lang="en-US" sz="1300" dirty="0"/>
          </a:p>
        </p:txBody>
      </p:sp>
      <p:sp>
        <p:nvSpPr>
          <p:cNvPr id="35" name="Text 28"/>
          <p:cNvSpPr txBox="1"/>
          <p:nvPr/>
        </p:nvSpPr>
        <p:spPr>
          <a:xfrm>
            <a:off x="7086600" y="3264408"/>
            <a:ext cx="310896" cy="502920"/>
          </a:xfrm>
          <a:prstGeom prst="rect">
            <a:avLst/>
          </a:prstGeom>
          <a:noFill/>
          <a:ln/>
        </p:spPr>
        <p:txBody>
          <a:bodyPr wrap="square" lIns="0" tIns="0" rIns="0" bIns="0" rtlCol="0" anchor="ctr"/>
          <a:lstStyle/>
          <a:p>
            <a:pPr algn="r" indent="0" marL="0">
              <a:buNone/>
            </a:pPr>
            <a:r>
              <a:rPr lang="en-US" sz="1300" b="1" dirty="0">
                <a:solidFill>
                  <a:srgbClr val="2F6FB3"/>
                </a:solidFill>
                <a:latin typeface="Courier New" pitchFamily="34" charset="0"/>
                <a:ea typeface="Courier New" pitchFamily="34" charset="-122"/>
                <a:cs typeface="Courier New" pitchFamily="34" charset="-120"/>
              </a:rPr>
              <a:t>3</a:t>
            </a:r>
            <a:endParaRPr lang="en-US" sz="1300" dirty="0"/>
          </a:p>
        </p:txBody>
      </p:sp>
      <p:sp>
        <p:nvSpPr>
          <p:cNvPr id="36" name="Text 29"/>
          <p:cNvSpPr txBox="1"/>
          <p:nvPr/>
        </p:nvSpPr>
        <p:spPr>
          <a:xfrm>
            <a:off x="7086600" y="3767328"/>
            <a:ext cx="310896" cy="502920"/>
          </a:xfrm>
          <a:prstGeom prst="rect">
            <a:avLst/>
          </a:prstGeom>
          <a:noFill/>
          <a:ln/>
        </p:spPr>
        <p:txBody>
          <a:bodyPr wrap="square" lIns="0" tIns="0" rIns="0" bIns="0" rtlCol="0" anchor="ctr"/>
          <a:lstStyle/>
          <a:p>
            <a:pPr algn="r" indent="0" marL="0">
              <a:buNone/>
            </a:pPr>
            <a:r>
              <a:rPr lang="en-US" sz="1300" b="1" dirty="0">
                <a:solidFill>
                  <a:srgbClr val="2F6FB3"/>
                </a:solidFill>
                <a:latin typeface="Courier New" pitchFamily="34" charset="0"/>
                <a:ea typeface="Courier New" pitchFamily="34" charset="-122"/>
                <a:cs typeface="Courier New" pitchFamily="34" charset="-120"/>
              </a:rPr>
              <a:t>4</a:t>
            </a:r>
            <a:endParaRPr lang="en-US" sz="1300" dirty="0"/>
          </a:p>
        </p:txBody>
      </p:sp>
      <p:sp>
        <p:nvSpPr>
          <p:cNvPr id="37" name="Text 30"/>
          <p:cNvSpPr/>
          <p:nvPr/>
        </p:nvSpPr>
        <p:spPr>
          <a:xfrm>
            <a:off x="7470648" y="225856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38" name="Text 31"/>
          <p:cNvSpPr/>
          <p:nvPr/>
        </p:nvSpPr>
        <p:spPr>
          <a:xfrm>
            <a:off x="8247888" y="225856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39" name="Text 32"/>
          <p:cNvSpPr/>
          <p:nvPr/>
        </p:nvSpPr>
        <p:spPr>
          <a:xfrm>
            <a:off x="9025128" y="2258568"/>
            <a:ext cx="777240" cy="50292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0" name="Text 33"/>
          <p:cNvSpPr/>
          <p:nvPr/>
        </p:nvSpPr>
        <p:spPr>
          <a:xfrm>
            <a:off x="9802368" y="225856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1" name="Text 34"/>
          <p:cNvSpPr/>
          <p:nvPr/>
        </p:nvSpPr>
        <p:spPr>
          <a:xfrm>
            <a:off x="10579608" y="225856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2" name="Text 35"/>
          <p:cNvSpPr/>
          <p:nvPr/>
        </p:nvSpPr>
        <p:spPr>
          <a:xfrm>
            <a:off x="7470648" y="2761488"/>
            <a:ext cx="777240" cy="50292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3" name="Text 36"/>
          <p:cNvSpPr/>
          <p:nvPr/>
        </p:nvSpPr>
        <p:spPr>
          <a:xfrm>
            <a:off x="8247888" y="2761488"/>
            <a:ext cx="777240" cy="50292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4" name="Text 37"/>
          <p:cNvSpPr/>
          <p:nvPr/>
        </p:nvSpPr>
        <p:spPr>
          <a:xfrm>
            <a:off x="9025128" y="2761488"/>
            <a:ext cx="777240" cy="50292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C2</a:t>
            </a:r>
            <a:endParaRPr lang="en-US" sz="1500" dirty="0"/>
          </a:p>
        </p:txBody>
      </p:sp>
      <p:sp>
        <p:nvSpPr>
          <p:cNvPr id="45" name="Text 38"/>
          <p:cNvSpPr/>
          <p:nvPr/>
        </p:nvSpPr>
        <p:spPr>
          <a:xfrm>
            <a:off x="9802368" y="2761488"/>
            <a:ext cx="777240" cy="50292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6" name="Text 39"/>
          <p:cNvSpPr/>
          <p:nvPr/>
        </p:nvSpPr>
        <p:spPr>
          <a:xfrm>
            <a:off x="10579608" y="2761488"/>
            <a:ext cx="777240" cy="50292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7" name="Text 40"/>
          <p:cNvSpPr/>
          <p:nvPr/>
        </p:nvSpPr>
        <p:spPr>
          <a:xfrm>
            <a:off x="7470648" y="326440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8" name="Text 41"/>
          <p:cNvSpPr/>
          <p:nvPr/>
        </p:nvSpPr>
        <p:spPr>
          <a:xfrm>
            <a:off x="8247888" y="326440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49" name="Text 42"/>
          <p:cNvSpPr/>
          <p:nvPr/>
        </p:nvSpPr>
        <p:spPr>
          <a:xfrm>
            <a:off x="9025128" y="3264408"/>
            <a:ext cx="777240" cy="50292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0" name="Text 43"/>
          <p:cNvSpPr/>
          <p:nvPr/>
        </p:nvSpPr>
        <p:spPr>
          <a:xfrm>
            <a:off x="9802368" y="326440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1" name="Text 44"/>
          <p:cNvSpPr/>
          <p:nvPr/>
        </p:nvSpPr>
        <p:spPr>
          <a:xfrm>
            <a:off x="10579608" y="326440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2" name="Text 45"/>
          <p:cNvSpPr/>
          <p:nvPr/>
        </p:nvSpPr>
        <p:spPr>
          <a:xfrm>
            <a:off x="7470648" y="376732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3" name="Text 46"/>
          <p:cNvSpPr/>
          <p:nvPr/>
        </p:nvSpPr>
        <p:spPr>
          <a:xfrm>
            <a:off x="8247888" y="376732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4" name="Text 47"/>
          <p:cNvSpPr/>
          <p:nvPr/>
        </p:nvSpPr>
        <p:spPr>
          <a:xfrm>
            <a:off x="9025128" y="3767328"/>
            <a:ext cx="777240" cy="50292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5" name="Text 48"/>
          <p:cNvSpPr/>
          <p:nvPr/>
        </p:nvSpPr>
        <p:spPr>
          <a:xfrm>
            <a:off x="9802368" y="376732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6" name="Text 49"/>
          <p:cNvSpPr/>
          <p:nvPr/>
        </p:nvSpPr>
        <p:spPr>
          <a:xfrm>
            <a:off x="10579608" y="3767328"/>
            <a:ext cx="77724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 </a:t>
            </a:r>
            <a:endParaRPr lang="en-US" sz="1500" dirty="0"/>
          </a:p>
        </p:txBody>
      </p:sp>
      <p:sp>
        <p:nvSpPr>
          <p:cNvPr id="57" name="Text 50"/>
          <p:cNvSpPr txBox="1"/>
          <p:nvPr/>
        </p:nvSpPr>
        <p:spPr>
          <a:xfrm>
            <a:off x="7086600" y="4434840"/>
            <a:ext cx="4572000" cy="164592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Cell C2 = row 2, column C.</a:t>
            </a:r>
            <a:pPr indent="0" marL="0">
              <a:buNone/>
            </a:pP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Spreadsheets count rows from 1 and use letters for columns. In C# both indices start at 0, so the same cell is </a:t>
            </a:r>
            <a:pPr indent="0" marL="0">
              <a:buNone/>
            </a:pPr>
            <a:r>
              <a:rPr lang="en-US" sz="1500" b="1" dirty="0">
                <a:solidFill>
                  <a:srgbClr val="14213D"/>
                </a:solidFill>
                <a:latin typeface="Courier New" pitchFamily="34" charset="0"/>
                <a:ea typeface="Courier New" pitchFamily="34" charset="-122"/>
                <a:cs typeface="Courier New" pitchFamily="34" charset="-120"/>
              </a:rPr>
              <a:t>m[1, 2]</a:t>
            </a:r>
            <a:pPr indent="0" marL="0">
              <a:buNone/>
            </a:pPr>
            <a:r>
              <a:rPr lang="en-US" sz="1500" dirty="0">
                <a:solidFill>
                  <a:srgbClr val="333B4F"/>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ANATOMY OF A 2-D ARRAY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int[,] m = new int[3, 4];</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932688" y="1874520"/>
            <a:ext cx="8686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801368" y="1874520"/>
            <a:ext cx="8686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670048" y="1874520"/>
            <a:ext cx="8686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3538728" y="1874520"/>
            <a:ext cx="8686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1" name="Text 8"/>
          <p:cNvSpPr txBox="1"/>
          <p:nvPr/>
        </p:nvSpPr>
        <p:spPr>
          <a:xfrm>
            <a:off x="548640" y="2167128"/>
            <a:ext cx="310896" cy="65836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2" name="Text 9"/>
          <p:cNvSpPr txBox="1"/>
          <p:nvPr/>
        </p:nvSpPr>
        <p:spPr>
          <a:xfrm>
            <a:off x="548640" y="2825496"/>
            <a:ext cx="310896" cy="65836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3" name="Text 10"/>
          <p:cNvSpPr txBox="1"/>
          <p:nvPr/>
        </p:nvSpPr>
        <p:spPr>
          <a:xfrm>
            <a:off x="548640" y="3483864"/>
            <a:ext cx="310896" cy="65836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4" name="Text 11"/>
          <p:cNvSpPr/>
          <p:nvPr/>
        </p:nvSpPr>
        <p:spPr>
          <a:xfrm>
            <a:off x="932688" y="2167128"/>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5</a:t>
            </a:r>
            <a:endParaRPr lang="en-US" sz="2000" dirty="0"/>
          </a:p>
        </p:txBody>
      </p:sp>
      <p:sp>
        <p:nvSpPr>
          <p:cNvPr id="15" name="Text 12"/>
          <p:cNvSpPr/>
          <p:nvPr/>
        </p:nvSpPr>
        <p:spPr>
          <a:xfrm>
            <a:off x="1801368" y="2167128"/>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16" name="Text 13"/>
          <p:cNvSpPr/>
          <p:nvPr/>
        </p:nvSpPr>
        <p:spPr>
          <a:xfrm>
            <a:off x="2670048" y="2167128"/>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17" name="Text 14"/>
          <p:cNvSpPr/>
          <p:nvPr/>
        </p:nvSpPr>
        <p:spPr>
          <a:xfrm>
            <a:off x="3538728" y="2167128"/>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18" name="Text 15"/>
          <p:cNvSpPr/>
          <p:nvPr/>
        </p:nvSpPr>
        <p:spPr>
          <a:xfrm>
            <a:off x="932688" y="2825496"/>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19" name="Text 16"/>
          <p:cNvSpPr/>
          <p:nvPr/>
        </p:nvSpPr>
        <p:spPr>
          <a:xfrm>
            <a:off x="1801368" y="2825496"/>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20" name="Text 17"/>
          <p:cNvSpPr/>
          <p:nvPr/>
        </p:nvSpPr>
        <p:spPr>
          <a:xfrm>
            <a:off x="2670048" y="2825496"/>
            <a:ext cx="868680" cy="658368"/>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7</a:t>
            </a:r>
            <a:endParaRPr lang="en-US" sz="2000" dirty="0"/>
          </a:p>
        </p:txBody>
      </p:sp>
      <p:sp>
        <p:nvSpPr>
          <p:cNvPr id="21" name="Text 18"/>
          <p:cNvSpPr/>
          <p:nvPr/>
        </p:nvSpPr>
        <p:spPr>
          <a:xfrm>
            <a:off x="3538728" y="2825496"/>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22" name="Text 19"/>
          <p:cNvSpPr/>
          <p:nvPr/>
        </p:nvSpPr>
        <p:spPr>
          <a:xfrm>
            <a:off x="932688" y="3483864"/>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23" name="Text 20"/>
          <p:cNvSpPr/>
          <p:nvPr/>
        </p:nvSpPr>
        <p:spPr>
          <a:xfrm>
            <a:off x="1801368" y="3483864"/>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24" name="Text 21"/>
          <p:cNvSpPr/>
          <p:nvPr/>
        </p:nvSpPr>
        <p:spPr>
          <a:xfrm>
            <a:off x="2670048" y="3483864"/>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0</a:t>
            </a:r>
            <a:endParaRPr lang="en-US" sz="2000" dirty="0"/>
          </a:p>
        </p:txBody>
      </p:sp>
      <p:sp>
        <p:nvSpPr>
          <p:cNvPr id="25" name="Text 22"/>
          <p:cNvSpPr/>
          <p:nvPr/>
        </p:nvSpPr>
        <p:spPr>
          <a:xfrm>
            <a:off x="3538728" y="3483864"/>
            <a:ext cx="868680" cy="65836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9</a:t>
            </a:r>
            <a:endParaRPr lang="en-US" sz="2000" dirty="0"/>
          </a:p>
        </p:txBody>
      </p:sp>
      <p:sp>
        <p:nvSpPr>
          <p:cNvPr id="26" name="Text 23"/>
          <p:cNvSpPr txBox="1"/>
          <p:nvPr/>
        </p:nvSpPr>
        <p:spPr>
          <a:xfrm>
            <a:off x="932688" y="1572768"/>
            <a:ext cx="347472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columns  c = 0 … 3  →</a:t>
            </a:r>
            <a:endParaRPr lang="en-US" sz="1300" dirty="0"/>
          </a:p>
        </p:txBody>
      </p:sp>
      <p:sp>
        <p:nvSpPr>
          <p:cNvPr id="27" name="Text 24"/>
          <p:cNvSpPr txBox="1"/>
          <p:nvPr/>
        </p:nvSpPr>
        <p:spPr>
          <a:xfrm>
            <a:off x="548640" y="4197096"/>
            <a:ext cx="1097280" cy="274320"/>
          </a:xfrm>
          <a:prstGeom prst="rect">
            <a:avLst/>
          </a:prstGeom>
          <a:noFill/>
          <a:ln/>
        </p:spPr>
        <p:txBody>
          <a:bodyPr wrap="square" lIns="0" tIns="0" rIns="0" bIns="0" rtlCol="0" anchor="ctr"/>
          <a:lstStyle/>
          <a:p>
            <a:pPr indent="0" marL="0">
              <a:buNone/>
            </a:pPr>
            <a:r>
              <a:rPr lang="en-US" sz="1300" b="1" dirty="0">
                <a:solidFill>
                  <a:srgbClr val="2F6FB3"/>
                </a:solidFill>
                <a:latin typeface="Calibri" pitchFamily="34" charset="0"/>
                <a:ea typeface="Calibri" pitchFamily="34" charset="-122"/>
                <a:cs typeface="Calibri" pitchFamily="34" charset="-120"/>
              </a:rPr>
              <a:t>rows ↓</a:t>
            </a:r>
            <a:endParaRPr lang="en-US" sz="1300" dirty="0"/>
          </a:p>
        </p:txBody>
      </p:sp>
      <p:sp>
        <p:nvSpPr>
          <p:cNvPr id="28" name="Text 25"/>
          <p:cNvSpPr txBox="1"/>
          <p:nvPr/>
        </p:nvSpPr>
        <p:spPr>
          <a:xfrm>
            <a:off x="548640" y="4572000"/>
            <a:ext cx="4206240" cy="1508760"/>
          </a:xfrm>
          <a:prstGeom prst="rect">
            <a:avLst/>
          </a:prstGeom>
          <a:noFill/>
          <a:ln/>
        </p:spPr>
        <p:txBody>
          <a:bodyPr wrap="square" lIns="0" tIns="0" rIns="0" bIns="0" rtlCol="0" anchor="t"/>
          <a:lstStyle/>
          <a:p>
            <a:pPr indent="0" marL="0">
              <a:spcAft>
                <a:spcPts val="400"/>
              </a:spcAft>
              <a:buNone/>
            </a:pPr>
            <a:r>
              <a:rPr lang="en-US" sz="1500" b="1" dirty="0">
                <a:solidFill>
                  <a:srgbClr val="14213D"/>
                </a:solidFill>
                <a:latin typeface="Courier New" pitchFamily="34" charset="0"/>
                <a:ea typeface="Courier New" pitchFamily="34" charset="-122"/>
                <a:cs typeface="Courier New" pitchFamily="34" charset="-120"/>
              </a:rPr>
              <a:t>m[1, 2]</a:t>
            </a:r>
            <a:pPr indent="0" marL="0">
              <a:spcAft>
                <a:spcPts val="400"/>
              </a:spcAft>
              <a:buNone/>
            </a:pPr>
            <a:r>
              <a:rPr lang="en-US" sz="1500" dirty="0">
                <a:solidFill>
                  <a:srgbClr val="333B4F"/>
                </a:solidFill>
                <a:latin typeface="Calibri" pitchFamily="34" charset="0"/>
                <a:ea typeface="Calibri" pitchFamily="34" charset="-122"/>
                <a:cs typeface="Calibri" pitchFamily="34" charset="-120"/>
              </a:rPr>
              <a:t> = 7: row 1, column 2</a:t>
            </a:r>
            <a:endParaRPr lang="en-US" sz="1500" dirty="0"/>
          </a:p>
          <a:p>
            <a:pPr indent="0" marL="0">
              <a:spcAft>
                <a:spcPts val="400"/>
              </a:spcAft>
              <a:buNone/>
            </a:pPr>
            <a:r>
              <a:rPr lang="en-US" sz="1500" b="1" dirty="0">
                <a:solidFill>
                  <a:srgbClr val="14213D"/>
                </a:solidFill>
                <a:latin typeface="Courier New" pitchFamily="34" charset="0"/>
                <a:ea typeface="Courier New" pitchFamily="34" charset="-122"/>
                <a:cs typeface="Courier New" pitchFamily="34" charset="-120"/>
              </a:rPr>
              <a:t>m[0, 0]</a:t>
            </a:r>
            <a:pPr indent="0" marL="0">
              <a:spcAft>
                <a:spcPts val="400"/>
              </a:spcAft>
              <a:buNone/>
            </a:pPr>
            <a:r>
              <a:rPr lang="en-US" sz="1500" dirty="0">
                <a:solidFill>
                  <a:srgbClr val="333B4F"/>
                </a:solidFill>
                <a:latin typeface="Calibri" pitchFamily="34" charset="0"/>
                <a:ea typeface="Calibri" pitchFamily="34" charset="-122"/>
                <a:cs typeface="Calibri" pitchFamily="34" charset="-120"/>
              </a:rPr>
              <a:t> = 5: top-left corner</a:t>
            </a:r>
            <a:endParaRPr lang="en-US" sz="1500" dirty="0"/>
          </a:p>
          <a:p>
            <a:pPr indent="0" marL="0">
              <a:spcAft>
                <a:spcPts val="400"/>
              </a:spcAft>
              <a:buNone/>
            </a:pPr>
            <a:r>
              <a:rPr lang="en-US" sz="1500" b="1" dirty="0">
                <a:solidFill>
                  <a:srgbClr val="14213D"/>
                </a:solidFill>
                <a:latin typeface="Courier New" pitchFamily="34" charset="0"/>
                <a:ea typeface="Courier New" pitchFamily="34" charset="-122"/>
                <a:cs typeface="Courier New" pitchFamily="34" charset="-120"/>
              </a:rPr>
              <a:t>m[2, 3]</a:t>
            </a:r>
            <a:pPr indent="0" marL="0">
              <a:spcAft>
                <a:spcPts val="400"/>
              </a:spcAft>
              <a:buNone/>
            </a:pPr>
            <a:r>
              <a:rPr lang="en-US" sz="1500" dirty="0">
                <a:solidFill>
                  <a:srgbClr val="333B4F"/>
                </a:solidFill>
                <a:latin typeface="Calibri" pitchFamily="34" charset="0"/>
                <a:ea typeface="Calibri" pitchFamily="34" charset="-122"/>
                <a:cs typeface="Calibri" pitchFamily="34" charset="-120"/>
              </a:rPr>
              <a:t> = 9: bottom-right corner</a:t>
            </a:r>
            <a:endParaRPr lang="en-US" sz="1500" dirty="0"/>
          </a:p>
        </p:txBody>
      </p:sp>
      <p:sp>
        <p:nvSpPr>
          <p:cNvPr id="29" name="Shape 26"/>
          <p:cNvSpPr/>
          <p:nvPr/>
        </p:nvSpPr>
        <p:spPr>
          <a:xfrm>
            <a:off x="5120640" y="1600200"/>
            <a:ext cx="6537960" cy="1417320"/>
          </a:xfrm>
          <a:prstGeom prst="roundRect">
            <a:avLst>
              <a:gd name="adj" fmla="val 6452"/>
            </a:avLst>
          </a:prstGeom>
          <a:solidFill>
            <a:srgbClr val="0F1729"/>
          </a:solidFill>
          <a:ln w="12700">
            <a:solidFill>
              <a:srgbClr val="0F1729"/>
            </a:solidFill>
            <a:prstDash val="solid"/>
          </a:ln>
        </p:spPr>
      </p:sp>
      <p:sp>
        <p:nvSpPr>
          <p:cNvPr id="30" name="Text 27"/>
          <p:cNvSpPr txBox="1"/>
          <p:nvPr/>
        </p:nvSpPr>
        <p:spPr>
          <a:xfrm>
            <a:off x="5349240" y="1764792"/>
            <a:ext cx="6080760" cy="114300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m[</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m[</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120640" y="3200400"/>
          <a:ext cx="6537960" cy="914400"/>
        </p:xfrm>
        <a:graphic>
          <a:graphicData uri="http://schemas.openxmlformats.org/drawingml/2006/table">
            <a:tbl>
              <a:tblPr/>
              <a:tblGrid>
                <a:gridCol w="2011680"/>
                <a:gridCol w="452628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Piece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comma = two dimensions (rows and columns)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new int[3,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 rows, 4 columns, 3 × 4 = 12 elements, all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m[1, 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row first, then column; both start at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4213D"/>
                          </a:solidFill>
                          <a:latin typeface="Courier New" pitchFamily="34" charset="0"/>
                          <a:ea typeface="Courier New" pitchFamily="34" charset="-122"/>
                          <a:cs typeface="Courier New" pitchFamily="34" charset="-120"/>
                        </a:rPr>
                        <a:t>a₂₃ (maths)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counts from 1: the same element as m[1, 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2" name="Shape 28"/>
          <p:cNvSpPr/>
          <p:nvPr/>
        </p:nvSpPr>
        <p:spPr>
          <a:xfrm>
            <a:off x="5120640" y="5486400"/>
            <a:ext cx="6537960" cy="621792"/>
          </a:xfrm>
          <a:prstGeom prst="roundRect">
            <a:avLst>
              <a:gd name="adj" fmla="val 17647"/>
            </a:avLst>
          </a:prstGeom>
          <a:solidFill>
            <a:srgbClr val="FFF6E3"/>
          </a:solidFill>
          <a:ln w="12700">
            <a:solidFill>
              <a:srgbClr val="FFF6E3"/>
            </a:solidFill>
            <a:prstDash val="solid"/>
          </a:ln>
        </p:spPr>
      </p:sp>
      <p:pic>
        <p:nvPicPr>
          <p:cNvPr id="33" name="Image 0" descr="preencoded.png">    </p:cNvPr>
          <p:cNvPicPr>
            <a:picLocks noChangeAspect="1"/>
          </p:cNvPicPr>
          <p:nvPr/>
        </p:nvPicPr>
        <p:blipFill>
          <a:blip r:embed="rId1"/>
          <a:stretch>
            <a:fillRect/>
          </a:stretch>
        </p:blipFill>
        <p:spPr>
          <a:xfrm>
            <a:off x="5394960" y="5623560"/>
            <a:ext cx="347472" cy="347472"/>
          </a:xfrm>
          <a:prstGeom prst="rect">
            <a:avLst/>
          </a:prstGeom>
        </p:spPr>
      </p:pic>
      <p:sp>
        <p:nvSpPr>
          <p:cNvPr id="34" name="Text 29"/>
          <p:cNvSpPr txBox="1"/>
          <p:nvPr/>
        </p:nvSpPr>
        <p:spPr>
          <a:xfrm>
            <a:off x="6016752" y="5559552"/>
            <a:ext cx="5367528" cy="475488"/>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Row first, then column </a:t>
            </a:r>
            <a:pPr indent="0" marL="0">
              <a:buNone/>
            </a:pPr>
            <a:r>
              <a:rPr lang="en-US" sz="1500" dirty="0">
                <a:solidFill>
                  <a:srgbClr val="333B4F"/>
                </a:solidFill>
                <a:latin typeface="Calibri" pitchFamily="34" charset="0"/>
                <a:ea typeface="Calibri" pitchFamily="34" charset="-122"/>
                <a:cs typeface="Calibri" pitchFamily="34" charset="-120"/>
              </a:rPr>
              <a:t>— like a cinema ticket: row 12, seat 7.</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CREATING MATRICES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Two Ways to Create a Matrix — and How Big Is It?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572768"/>
            <a:ext cx="36576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1 · Give the sizes</a:t>
            </a:r>
            <a:endParaRPr lang="en-US" sz="1600" dirty="0"/>
          </a:p>
        </p:txBody>
      </p:sp>
      <p:sp>
        <p:nvSpPr>
          <p:cNvPr id="8" name="Shape 5"/>
          <p:cNvSpPr/>
          <p:nvPr/>
        </p:nvSpPr>
        <p:spPr>
          <a:xfrm>
            <a:off x="548640" y="1920240"/>
            <a:ext cx="3657600" cy="685800"/>
          </a:xfrm>
          <a:prstGeom prst="roundRect">
            <a:avLst>
              <a:gd name="adj" fmla="val 13333"/>
            </a:avLst>
          </a:prstGeom>
          <a:solidFill>
            <a:srgbClr val="0F1729"/>
          </a:solidFill>
          <a:ln w="12700">
            <a:solidFill>
              <a:srgbClr val="0F1729"/>
            </a:solidFill>
            <a:prstDash val="solid"/>
          </a:ln>
        </p:spPr>
      </p:sp>
      <p:sp>
        <p:nvSpPr>
          <p:cNvPr id="9" name="Text 6"/>
          <p:cNvSpPr txBox="1"/>
          <p:nvPr/>
        </p:nvSpPr>
        <p:spPr>
          <a:xfrm>
            <a:off x="777240" y="2084832"/>
            <a:ext cx="3200400" cy="4114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3657600" cy="914400"/>
        </p:xfrm>
        <a:graphic>
          <a:graphicData uri="http://schemas.openxmlformats.org/drawingml/2006/table">
            <a:tbl>
              <a:tblPr/>
              <a:tblGrid>
                <a:gridCol w="2011680"/>
                <a:gridCol w="164592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Element type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Starts as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long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double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bool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char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string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null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26280" y="1572768"/>
            <a:ext cx="36576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2 · Initializer</a:t>
            </a:r>
            <a:endParaRPr lang="en-US" sz="1600" dirty="0"/>
          </a:p>
        </p:txBody>
      </p:sp>
      <p:sp>
        <p:nvSpPr>
          <p:cNvPr id="12" name="Shape 8"/>
          <p:cNvSpPr/>
          <p:nvPr/>
        </p:nvSpPr>
        <p:spPr>
          <a:xfrm>
            <a:off x="4526280" y="1920240"/>
            <a:ext cx="7132320" cy="685800"/>
          </a:xfrm>
          <a:prstGeom prst="roundRect">
            <a:avLst>
              <a:gd name="adj" fmla="val 13333"/>
            </a:avLst>
          </a:prstGeom>
          <a:solidFill>
            <a:srgbClr val="0F1729"/>
          </a:solidFill>
          <a:ln w="12700">
            <a:solidFill>
              <a:srgbClr val="0F1729"/>
            </a:solidFill>
            <a:prstDash val="solid"/>
          </a:ln>
        </p:spPr>
      </p:sp>
      <p:sp>
        <p:nvSpPr>
          <p:cNvPr id="13" name="Text 9"/>
          <p:cNvSpPr txBox="1"/>
          <p:nvPr/>
        </p:nvSpPr>
        <p:spPr>
          <a:xfrm>
            <a:off x="4754880" y="2084832"/>
            <a:ext cx="6675120" cy="4114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small = {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endParaRPr lang="en-US" sz="1400" dirty="0"/>
          </a:p>
        </p:txBody>
      </p:sp>
      <p:sp>
        <p:nvSpPr>
          <p:cNvPr id="14" name="Text 10"/>
          <p:cNvSpPr txBox="1"/>
          <p:nvPr/>
        </p:nvSpPr>
        <p:spPr>
          <a:xfrm>
            <a:off x="4910328" y="274320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15" name="Text 11"/>
          <p:cNvSpPr txBox="1"/>
          <p:nvPr/>
        </p:nvSpPr>
        <p:spPr>
          <a:xfrm>
            <a:off x="5458968" y="274320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6" name="Text 12"/>
          <p:cNvSpPr txBox="1"/>
          <p:nvPr/>
        </p:nvSpPr>
        <p:spPr>
          <a:xfrm>
            <a:off x="6007608" y="274320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7" name="Text 13"/>
          <p:cNvSpPr txBox="1"/>
          <p:nvPr/>
        </p:nvSpPr>
        <p:spPr>
          <a:xfrm>
            <a:off x="4526280" y="3035808"/>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8" name="Text 14"/>
          <p:cNvSpPr txBox="1"/>
          <p:nvPr/>
        </p:nvSpPr>
        <p:spPr>
          <a:xfrm>
            <a:off x="4526280" y="3474720"/>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9" name="Text 15"/>
          <p:cNvSpPr/>
          <p:nvPr/>
        </p:nvSpPr>
        <p:spPr>
          <a:xfrm>
            <a:off x="4910328" y="3035808"/>
            <a:ext cx="5486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20" name="Text 16"/>
          <p:cNvSpPr/>
          <p:nvPr/>
        </p:nvSpPr>
        <p:spPr>
          <a:xfrm>
            <a:off x="5458968" y="3035808"/>
            <a:ext cx="5486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21" name="Text 17"/>
          <p:cNvSpPr/>
          <p:nvPr/>
        </p:nvSpPr>
        <p:spPr>
          <a:xfrm>
            <a:off x="6007608" y="3035808"/>
            <a:ext cx="5486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22" name="Text 18"/>
          <p:cNvSpPr/>
          <p:nvPr/>
        </p:nvSpPr>
        <p:spPr>
          <a:xfrm>
            <a:off x="4910328" y="3474720"/>
            <a:ext cx="548640" cy="438912"/>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23" name="Text 19"/>
          <p:cNvSpPr/>
          <p:nvPr/>
        </p:nvSpPr>
        <p:spPr>
          <a:xfrm>
            <a:off x="5458968" y="3474720"/>
            <a:ext cx="5486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24" name="Text 20"/>
          <p:cNvSpPr/>
          <p:nvPr/>
        </p:nvSpPr>
        <p:spPr>
          <a:xfrm>
            <a:off x="6007608" y="3474720"/>
            <a:ext cx="5486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25" name="Text 21"/>
          <p:cNvSpPr txBox="1"/>
          <p:nvPr/>
        </p:nvSpPr>
        <p:spPr>
          <a:xfrm>
            <a:off x="4526280" y="4023360"/>
            <a:ext cx="2743200" cy="9144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2 inner { } = 2 rows</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3 values each = 3 columns</a:t>
            </a:r>
            <a:endParaRPr lang="en-US" sz="1400" dirty="0"/>
          </a:p>
          <a:p>
            <a:pPr indent="0" marL="0">
              <a:buNone/>
            </a:pPr>
            <a:r>
              <a:rPr lang="en-US" sz="1400" b="1" dirty="0">
                <a:solidFill>
                  <a:srgbClr val="14213D"/>
                </a:solidFill>
                <a:latin typeface="Courier New" pitchFamily="34" charset="0"/>
                <a:ea typeface="Courier New" pitchFamily="34" charset="-122"/>
                <a:cs typeface="Courier New" pitchFamily="34" charset="-120"/>
              </a:rPr>
              <a:t>small[1, 0]</a:t>
            </a:r>
            <a:pPr indent="0" marL="0">
              <a:buNone/>
            </a:pPr>
            <a:r>
              <a:rPr lang="en-US" sz="1400" dirty="0">
                <a:solidFill>
                  <a:srgbClr val="333B4F"/>
                </a:solidFill>
                <a:latin typeface="Calibri" pitchFamily="34" charset="0"/>
                <a:ea typeface="Calibri" pitchFamily="34" charset="-122"/>
                <a:cs typeface="Calibri" pitchFamily="34" charset="-120"/>
              </a:rPr>
              <a:t> is 4</a:t>
            </a:r>
            <a:endParaRPr lang="en-US" sz="1400" dirty="0"/>
          </a:p>
        </p:txBody>
      </p:sp>
      <p:sp>
        <p:nvSpPr>
          <p:cNvPr id="26" name="Text 22"/>
          <p:cNvSpPr txBox="1"/>
          <p:nvPr/>
        </p:nvSpPr>
        <p:spPr>
          <a:xfrm>
            <a:off x="7589520" y="2697480"/>
            <a:ext cx="402336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Size of m (3 × 4)</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7589520" y="3063240"/>
          <a:ext cx="4069080" cy="914400"/>
        </p:xfrm>
        <a:graphic>
          <a:graphicData uri="http://schemas.openxmlformats.org/drawingml/2006/table">
            <a:tbl>
              <a:tblPr/>
              <a:tblGrid>
                <a:gridCol w="1737360"/>
                <a:gridCol w="731520"/>
                <a:gridCol w="160020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Expression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m.GetLength(0)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rows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m.GetLength(1)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columns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all elements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m.Rank</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dimensions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28" name="Shape 23"/>
          <p:cNvSpPr/>
          <p:nvPr/>
        </p:nvSpPr>
        <p:spPr>
          <a:xfrm>
            <a:off x="4526280" y="5074920"/>
            <a:ext cx="7132320" cy="1005840"/>
          </a:xfrm>
          <a:prstGeom prst="roundRect">
            <a:avLst>
              <a:gd name="adj" fmla="val 10909"/>
            </a:avLst>
          </a:prstGeom>
          <a:solidFill>
            <a:srgbClr val="FBE9E7"/>
          </a:solidFill>
          <a:ln w="12700">
            <a:solidFill>
              <a:srgbClr val="FBE9E7"/>
            </a:solidFill>
            <a:prstDash val="solid"/>
          </a:ln>
        </p:spPr>
      </p:sp>
      <p:pic>
        <p:nvPicPr>
          <p:cNvPr id="29" name="Image 0" descr="preencoded.png">    </p:cNvPr>
          <p:cNvPicPr>
            <a:picLocks noChangeAspect="1"/>
          </p:cNvPicPr>
          <p:nvPr/>
        </p:nvPicPr>
        <p:blipFill>
          <a:blip r:embed="rId1"/>
          <a:stretch>
            <a:fillRect/>
          </a:stretch>
        </p:blipFill>
        <p:spPr>
          <a:xfrm>
            <a:off x="4800600" y="5303520"/>
            <a:ext cx="548640" cy="548640"/>
          </a:xfrm>
          <a:prstGeom prst="rect">
            <a:avLst/>
          </a:prstGeom>
        </p:spPr>
      </p:pic>
      <p:sp>
        <p:nvSpPr>
          <p:cNvPr id="30" name="Text 24"/>
          <p:cNvSpPr txBox="1"/>
          <p:nvPr/>
        </p:nvSpPr>
        <p:spPr>
          <a:xfrm>
            <a:off x="5623560" y="5148072"/>
            <a:ext cx="5760720" cy="859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Length is not the number of rows! </a:t>
            </a:r>
            <a:pPr indent="0" marL="0">
              <a:buNone/>
            </a:pPr>
            <a:r>
              <a:rPr lang="en-US" sz="1400" dirty="0">
                <a:solidFill>
                  <a:srgbClr val="333B4F"/>
                </a:solidFill>
                <a:latin typeface="Calibri" pitchFamily="34" charset="0"/>
                <a:ea typeface="Calibri" pitchFamily="34" charset="-122"/>
                <a:cs typeface="Calibri" pitchFamily="34" charset="-120"/>
              </a:rPr>
              <a:t>For loops over rows and columns use GetLength(0) and GetLength(1).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11_01_MATRIXBASICS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Set, Measure and Print a Matrix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00200"/>
            <a:ext cx="6400800" cy="4498848"/>
          </a:xfrm>
          <a:prstGeom prst="roundRect">
            <a:avLst>
              <a:gd name="adj" fmla="val 2033"/>
            </a:avLst>
          </a:prstGeom>
          <a:solidFill>
            <a:srgbClr val="0F1729"/>
          </a:solidFill>
          <a:ln w="12700">
            <a:solidFill>
              <a:srgbClr val="0F1729"/>
            </a:solidFill>
            <a:prstDash val="solid"/>
          </a:ln>
        </p:spPr>
      </p:sp>
      <p:sp>
        <p:nvSpPr>
          <p:cNvPr id="8" name="Text 5"/>
          <p:cNvSpPr txBox="1"/>
          <p:nvPr/>
        </p:nvSpPr>
        <p:spPr>
          <a:xfrm>
            <a:off x="777240" y="1764792"/>
            <a:ext cx="5943600" cy="4224528"/>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m[</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m[</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m[</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 = m.GetLength(</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cols = m.GetLength(</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$"rows = {rows}, cols = {cols}"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$"Length = {m.Length}, Rank = {m.Rank}"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row-major traversal: outer loop = rows, inner loop = columns</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cols;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$"{m[r, c],4}"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178040" y="1600200"/>
            <a:ext cx="4480560" cy="2377440"/>
          </a:xfrm>
          <a:prstGeom prst="roundRect">
            <a:avLst>
              <a:gd name="adj" fmla="val 3846"/>
            </a:avLst>
          </a:prstGeom>
          <a:solidFill>
            <a:srgbClr val="0B0F19"/>
          </a:solidFill>
          <a:ln w="12700">
            <a:solidFill>
              <a:srgbClr val="2A3654"/>
            </a:solidFill>
            <a:prstDash val="solid"/>
          </a:ln>
        </p:spPr>
      </p:sp>
      <p:sp>
        <p:nvSpPr>
          <p:cNvPr id="10" name="Shape 7"/>
          <p:cNvSpPr/>
          <p:nvPr/>
        </p:nvSpPr>
        <p:spPr>
          <a:xfrm>
            <a:off x="7360920" y="1728216"/>
            <a:ext cx="118872" cy="118872"/>
          </a:xfrm>
          <a:prstGeom prst="ellipse">
            <a:avLst/>
          </a:prstGeom>
          <a:solidFill>
            <a:srgbClr val="FF5F57"/>
          </a:solidFill>
          <a:ln w="12700">
            <a:solidFill>
              <a:srgbClr val="FF5F57"/>
            </a:solidFill>
            <a:prstDash val="solid"/>
          </a:ln>
        </p:spPr>
      </p:sp>
      <p:sp>
        <p:nvSpPr>
          <p:cNvPr id="11" name="Shape 8"/>
          <p:cNvSpPr/>
          <p:nvPr/>
        </p:nvSpPr>
        <p:spPr>
          <a:xfrm>
            <a:off x="7589520" y="1728216"/>
            <a:ext cx="118872" cy="118872"/>
          </a:xfrm>
          <a:prstGeom prst="ellipse">
            <a:avLst/>
          </a:prstGeom>
          <a:solidFill>
            <a:srgbClr val="FEBC2E"/>
          </a:solidFill>
          <a:ln w="12700">
            <a:solidFill>
              <a:srgbClr val="FEBC2E"/>
            </a:solidFill>
            <a:prstDash val="solid"/>
          </a:ln>
        </p:spPr>
      </p:sp>
      <p:sp>
        <p:nvSpPr>
          <p:cNvPr id="12" name="Shape 9"/>
          <p:cNvSpPr/>
          <p:nvPr/>
        </p:nvSpPr>
        <p:spPr>
          <a:xfrm>
            <a:off x="7818120" y="172821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092440" y="167335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code/11_01_MatrixBasics</a:t>
            </a:r>
            <a:endParaRPr lang="en-US" sz="1000" dirty="0"/>
          </a:p>
        </p:txBody>
      </p:sp>
      <p:sp>
        <p:nvSpPr>
          <p:cNvPr id="14" name="Text 11"/>
          <p:cNvSpPr txBox="1"/>
          <p:nvPr/>
        </p:nvSpPr>
        <p:spPr>
          <a:xfrm>
            <a:off x="7406640" y="1984248"/>
            <a:ext cx="4023360" cy="1874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rows = 3, cols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Length = 12, Rank =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5   0   0   0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0   0   7   0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0   0   0   9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small[1, 0] =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foreach: 1 2 3 4 5 6</a:t>
            </a:r>
            <a:endParaRPr lang="en-US" sz="1300" dirty="0"/>
          </a:p>
        </p:txBody>
      </p:sp>
      <p:sp>
        <p:nvSpPr>
          <p:cNvPr id="15" name="Shape 12"/>
          <p:cNvSpPr/>
          <p:nvPr/>
        </p:nvSpPr>
        <p:spPr>
          <a:xfrm>
            <a:off x="7178040" y="4160520"/>
            <a:ext cx="4480560" cy="1938528"/>
          </a:xfrm>
          <a:prstGeom prst="roundRect">
            <a:avLst>
              <a:gd name="adj" fmla="val 5660"/>
            </a:avLst>
          </a:prstGeom>
          <a:solidFill>
            <a:srgbClr val="EEF1F6"/>
          </a:solidFill>
          <a:ln w="12700">
            <a:solidFill>
              <a:srgbClr val="EEF1F6"/>
            </a:solidFill>
            <a:prstDash val="solid"/>
          </a:ln>
        </p:spPr>
      </p:sp>
      <p:sp>
        <p:nvSpPr>
          <p:cNvPr id="16" name="Text 13"/>
          <p:cNvSpPr txBox="1"/>
          <p:nvPr/>
        </p:nvSpPr>
        <p:spPr>
          <a:xfrm>
            <a:off x="7360920" y="4251960"/>
            <a:ext cx="411480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Reading the nested loop</a:t>
            </a:r>
            <a:endParaRPr lang="en-US" sz="1600" dirty="0"/>
          </a:p>
        </p:txBody>
      </p:sp>
      <p:sp>
        <p:nvSpPr>
          <p:cNvPr id="17" name="Text 14"/>
          <p:cNvSpPr txBox="1"/>
          <p:nvPr/>
        </p:nvSpPr>
        <p:spPr>
          <a:xfrm>
            <a:off x="7360920" y="4663440"/>
            <a:ext cx="416052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3B4F"/>
                </a:solidFill>
                <a:latin typeface="Calibri" pitchFamily="34" charset="0"/>
                <a:ea typeface="Calibri" pitchFamily="34" charset="-122"/>
                <a:cs typeface="Calibri" pitchFamily="34" charset="-120"/>
              </a:rPr>
              <a:t>outer r: which row</a:t>
            </a:r>
            <a:endParaRPr lang="en-US" sz="1400" dirty="0"/>
          </a:p>
          <a:p>
            <a:pPr marL="342900" indent="-342900">
              <a:spcAft>
                <a:spcPts val="400"/>
              </a:spcAft>
              <a:buSzPct val="100000"/>
              <a:buChar char="•"/>
            </a:pPr>
            <a:r>
              <a:rPr lang="en-US" sz="1400" dirty="0">
                <a:solidFill>
                  <a:srgbClr val="333B4F"/>
                </a:solidFill>
                <a:latin typeface="Calibri" pitchFamily="34" charset="0"/>
                <a:ea typeface="Calibri" pitchFamily="34" charset="-122"/>
                <a:cs typeface="Calibri" pitchFamily="34" charset="-120"/>
              </a:rPr>
              <a:t>inner c: which column in that row</a:t>
            </a:r>
            <a:endParaRPr lang="en-US" sz="1400" dirty="0"/>
          </a:p>
          <a:p>
            <a:pPr marL="342900" indent="-342900">
              <a:spcAft>
                <a:spcPts val="400"/>
              </a:spcAft>
              <a:buSzPct val="100000"/>
              <a:buChar char="•"/>
            </a:pPr>
            <a:r>
              <a:rPr lang="en-US" sz="1400" dirty="0">
                <a:solidFill>
                  <a:srgbClr val="333B4F"/>
                </a:solidFill>
                <a:latin typeface="Calibri" pitchFamily="34" charset="0"/>
                <a:ea typeface="Calibri" pitchFamily="34" charset="-122"/>
                <a:cs typeface="Calibri" pitchFamily="34" charset="-120"/>
              </a:rPr>
              <a:t>WriteLine after the inner loop = new row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TRAVERSAL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Row by Row or Column by Column?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Text 4"/>
          <p:cNvSpPr txBox="1"/>
          <p:nvPr/>
        </p:nvSpPr>
        <p:spPr>
          <a:xfrm>
            <a:off x="548640" y="1572768"/>
            <a:ext cx="53035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Row-major: outer loop = rows</a:t>
            </a:r>
            <a:endParaRPr lang="en-US" sz="1600" dirty="0"/>
          </a:p>
        </p:txBody>
      </p:sp>
      <p:sp>
        <p:nvSpPr>
          <p:cNvPr id="8" name="Text 5"/>
          <p:cNvSpPr txBox="1"/>
          <p:nvPr/>
        </p:nvSpPr>
        <p:spPr>
          <a:xfrm>
            <a:off x="9326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9" name="Text 6"/>
          <p:cNvSpPr txBox="1"/>
          <p:nvPr/>
        </p:nvSpPr>
        <p:spPr>
          <a:xfrm>
            <a:off x="16184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23042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29900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2" name="Text 9"/>
          <p:cNvSpPr txBox="1"/>
          <p:nvPr/>
        </p:nvSpPr>
        <p:spPr>
          <a:xfrm>
            <a:off x="548640" y="22128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3" name="Text 10"/>
          <p:cNvSpPr txBox="1"/>
          <p:nvPr/>
        </p:nvSpPr>
        <p:spPr>
          <a:xfrm>
            <a:off x="548640" y="26700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4" name="Text 11"/>
          <p:cNvSpPr txBox="1"/>
          <p:nvPr/>
        </p:nvSpPr>
        <p:spPr>
          <a:xfrm>
            <a:off x="548640" y="31272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5" name="Text 12"/>
          <p:cNvSpPr/>
          <p:nvPr/>
        </p:nvSpPr>
        <p:spPr>
          <a:xfrm>
            <a:off x="932688" y="22128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6" name="Text 13"/>
          <p:cNvSpPr/>
          <p:nvPr/>
        </p:nvSpPr>
        <p:spPr>
          <a:xfrm>
            <a:off x="1618488" y="22128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17" name="Text 14"/>
          <p:cNvSpPr/>
          <p:nvPr/>
        </p:nvSpPr>
        <p:spPr>
          <a:xfrm>
            <a:off x="2304288" y="22128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18" name="Text 15"/>
          <p:cNvSpPr/>
          <p:nvPr/>
        </p:nvSpPr>
        <p:spPr>
          <a:xfrm>
            <a:off x="2990088" y="22128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9" name="Text 16"/>
          <p:cNvSpPr/>
          <p:nvPr/>
        </p:nvSpPr>
        <p:spPr>
          <a:xfrm>
            <a:off x="932688" y="26700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20" name="Text 17"/>
          <p:cNvSpPr/>
          <p:nvPr/>
        </p:nvSpPr>
        <p:spPr>
          <a:xfrm>
            <a:off x="1618488" y="26700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21" name="Text 18"/>
          <p:cNvSpPr/>
          <p:nvPr/>
        </p:nvSpPr>
        <p:spPr>
          <a:xfrm>
            <a:off x="2304288" y="26700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a:t>
            </a:r>
            <a:endParaRPr lang="en-US" sz="1500" dirty="0"/>
          </a:p>
        </p:txBody>
      </p:sp>
      <p:sp>
        <p:nvSpPr>
          <p:cNvPr id="22" name="Text 19"/>
          <p:cNvSpPr/>
          <p:nvPr/>
        </p:nvSpPr>
        <p:spPr>
          <a:xfrm>
            <a:off x="2990088" y="26700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23" name="Text 20"/>
          <p:cNvSpPr/>
          <p:nvPr/>
        </p:nvSpPr>
        <p:spPr>
          <a:xfrm>
            <a:off x="932688" y="31272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a:t>
            </a:r>
            <a:endParaRPr lang="en-US" sz="1500" dirty="0"/>
          </a:p>
        </p:txBody>
      </p:sp>
      <p:sp>
        <p:nvSpPr>
          <p:cNvPr id="24" name="Text 21"/>
          <p:cNvSpPr/>
          <p:nvPr/>
        </p:nvSpPr>
        <p:spPr>
          <a:xfrm>
            <a:off x="1618488" y="31272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10</a:t>
            </a:r>
            <a:endParaRPr lang="en-US" sz="1500" dirty="0"/>
          </a:p>
        </p:txBody>
      </p:sp>
      <p:sp>
        <p:nvSpPr>
          <p:cNvPr id="25" name="Text 22"/>
          <p:cNvSpPr/>
          <p:nvPr/>
        </p:nvSpPr>
        <p:spPr>
          <a:xfrm>
            <a:off x="2304288" y="31272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11</a:t>
            </a:r>
            <a:endParaRPr lang="en-US" sz="1500" dirty="0"/>
          </a:p>
        </p:txBody>
      </p:sp>
      <p:sp>
        <p:nvSpPr>
          <p:cNvPr id="26" name="Text 23"/>
          <p:cNvSpPr/>
          <p:nvPr/>
        </p:nvSpPr>
        <p:spPr>
          <a:xfrm>
            <a:off x="2990088" y="31272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27" name="Shape 24"/>
          <p:cNvSpPr/>
          <p:nvPr/>
        </p:nvSpPr>
        <p:spPr>
          <a:xfrm>
            <a:off x="3767328" y="2441448"/>
            <a:ext cx="457200" cy="0"/>
          </a:xfrm>
          <a:prstGeom prst="line">
            <a:avLst/>
          </a:prstGeom>
          <a:noFill/>
          <a:ln w="15875">
            <a:solidFill>
              <a:srgbClr val="2F6FB3"/>
            </a:solidFill>
            <a:prstDash val="solid"/>
            <a:tailEnd type="triangle"/>
          </a:ln>
        </p:spPr>
      </p:sp>
      <p:sp>
        <p:nvSpPr>
          <p:cNvPr id="28" name="Shape 25"/>
          <p:cNvSpPr/>
          <p:nvPr/>
        </p:nvSpPr>
        <p:spPr>
          <a:xfrm>
            <a:off x="3767328" y="2898648"/>
            <a:ext cx="457200" cy="0"/>
          </a:xfrm>
          <a:prstGeom prst="line">
            <a:avLst/>
          </a:prstGeom>
          <a:noFill/>
          <a:ln w="15875">
            <a:solidFill>
              <a:srgbClr val="2F6FB3"/>
            </a:solidFill>
            <a:prstDash val="solid"/>
            <a:tailEnd type="triangle"/>
          </a:ln>
        </p:spPr>
      </p:sp>
      <p:sp>
        <p:nvSpPr>
          <p:cNvPr id="29" name="Shape 26"/>
          <p:cNvSpPr/>
          <p:nvPr/>
        </p:nvSpPr>
        <p:spPr>
          <a:xfrm>
            <a:off x="3767328" y="3355848"/>
            <a:ext cx="457200" cy="0"/>
          </a:xfrm>
          <a:prstGeom prst="line">
            <a:avLst/>
          </a:prstGeom>
          <a:noFill/>
          <a:ln w="15875">
            <a:solidFill>
              <a:srgbClr val="2F6FB3"/>
            </a:solidFill>
            <a:prstDash val="solid"/>
            <a:tailEnd type="triangle"/>
          </a:ln>
        </p:spPr>
      </p:sp>
      <p:sp>
        <p:nvSpPr>
          <p:cNvPr id="30" name="Shape 27"/>
          <p:cNvSpPr/>
          <p:nvPr/>
        </p:nvSpPr>
        <p:spPr>
          <a:xfrm>
            <a:off x="548640" y="3657600"/>
            <a:ext cx="5303520" cy="1417320"/>
          </a:xfrm>
          <a:prstGeom prst="roundRect">
            <a:avLst>
              <a:gd name="adj" fmla="val 5161"/>
            </a:avLst>
          </a:prstGeom>
          <a:solidFill>
            <a:srgbClr val="F4F6FA"/>
          </a:solidFill>
          <a:ln w="9525">
            <a:solidFill>
              <a:srgbClr val="C9D0DD"/>
            </a:solidFill>
            <a:prstDash val="solid"/>
          </a:ln>
        </p:spPr>
      </p:sp>
      <p:sp>
        <p:nvSpPr>
          <p:cNvPr id="31" name="Text 28"/>
          <p:cNvSpPr txBox="1"/>
          <p:nvPr/>
        </p:nvSpPr>
        <p:spPr>
          <a:xfrm>
            <a:off x="731520" y="3794760"/>
            <a:ext cx="4937760" cy="11887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rows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cols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m[r, c]</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p:txBody>
      </p:sp>
      <p:sp>
        <p:nvSpPr>
          <p:cNvPr id="32" name="Text 29"/>
          <p:cNvSpPr txBox="1"/>
          <p:nvPr/>
        </p:nvSpPr>
        <p:spPr>
          <a:xfrm>
            <a:off x="6355080" y="1572768"/>
            <a:ext cx="53035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Column-major: outer loop = columns</a:t>
            </a:r>
            <a:endParaRPr lang="en-US" sz="1600" dirty="0"/>
          </a:p>
        </p:txBody>
      </p:sp>
      <p:sp>
        <p:nvSpPr>
          <p:cNvPr id="33" name="Text 30"/>
          <p:cNvSpPr txBox="1"/>
          <p:nvPr/>
        </p:nvSpPr>
        <p:spPr>
          <a:xfrm>
            <a:off x="67391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34" name="Text 31"/>
          <p:cNvSpPr txBox="1"/>
          <p:nvPr/>
        </p:nvSpPr>
        <p:spPr>
          <a:xfrm>
            <a:off x="74249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35" name="Text 32"/>
          <p:cNvSpPr txBox="1"/>
          <p:nvPr/>
        </p:nvSpPr>
        <p:spPr>
          <a:xfrm>
            <a:off x="81107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36" name="Text 33"/>
          <p:cNvSpPr txBox="1"/>
          <p:nvPr/>
        </p:nvSpPr>
        <p:spPr>
          <a:xfrm>
            <a:off x="87965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37" name="Text 34"/>
          <p:cNvSpPr txBox="1"/>
          <p:nvPr/>
        </p:nvSpPr>
        <p:spPr>
          <a:xfrm>
            <a:off x="6355080" y="22128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38" name="Text 35"/>
          <p:cNvSpPr txBox="1"/>
          <p:nvPr/>
        </p:nvSpPr>
        <p:spPr>
          <a:xfrm>
            <a:off x="6355080" y="26700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39" name="Text 36"/>
          <p:cNvSpPr txBox="1"/>
          <p:nvPr/>
        </p:nvSpPr>
        <p:spPr>
          <a:xfrm>
            <a:off x="6355080" y="31272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40" name="Text 37"/>
          <p:cNvSpPr/>
          <p:nvPr/>
        </p:nvSpPr>
        <p:spPr>
          <a:xfrm>
            <a:off x="6739128" y="22128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41" name="Text 38"/>
          <p:cNvSpPr/>
          <p:nvPr/>
        </p:nvSpPr>
        <p:spPr>
          <a:xfrm>
            <a:off x="7424928" y="22128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42" name="Text 39"/>
          <p:cNvSpPr/>
          <p:nvPr/>
        </p:nvSpPr>
        <p:spPr>
          <a:xfrm>
            <a:off x="8110728" y="22128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a:t>
            </a:r>
            <a:endParaRPr lang="en-US" sz="1500" dirty="0"/>
          </a:p>
        </p:txBody>
      </p:sp>
      <p:sp>
        <p:nvSpPr>
          <p:cNvPr id="43" name="Text 40"/>
          <p:cNvSpPr/>
          <p:nvPr/>
        </p:nvSpPr>
        <p:spPr>
          <a:xfrm>
            <a:off x="8796528" y="2212848"/>
            <a:ext cx="685800" cy="45720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10</a:t>
            </a:r>
            <a:endParaRPr lang="en-US" sz="1500" dirty="0"/>
          </a:p>
        </p:txBody>
      </p:sp>
      <p:sp>
        <p:nvSpPr>
          <p:cNvPr id="44" name="Text 41"/>
          <p:cNvSpPr/>
          <p:nvPr/>
        </p:nvSpPr>
        <p:spPr>
          <a:xfrm>
            <a:off x="6739128" y="26700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45" name="Text 42"/>
          <p:cNvSpPr/>
          <p:nvPr/>
        </p:nvSpPr>
        <p:spPr>
          <a:xfrm>
            <a:off x="7424928" y="26700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46" name="Text 43"/>
          <p:cNvSpPr/>
          <p:nvPr/>
        </p:nvSpPr>
        <p:spPr>
          <a:xfrm>
            <a:off x="8110728" y="26700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47" name="Text 44"/>
          <p:cNvSpPr/>
          <p:nvPr/>
        </p:nvSpPr>
        <p:spPr>
          <a:xfrm>
            <a:off x="8796528" y="2670048"/>
            <a:ext cx="685800" cy="45720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11</a:t>
            </a:r>
            <a:endParaRPr lang="en-US" sz="1500" dirty="0"/>
          </a:p>
        </p:txBody>
      </p:sp>
      <p:sp>
        <p:nvSpPr>
          <p:cNvPr id="48" name="Text 45"/>
          <p:cNvSpPr/>
          <p:nvPr/>
        </p:nvSpPr>
        <p:spPr>
          <a:xfrm>
            <a:off x="6739128" y="3127248"/>
            <a:ext cx="68580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49" name="Text 46"/>
          <p:cNvSpPr/>
          <p:nvPr/>
        </p:nvSpPr>
        <p:spPr>
          <a:xfrm>
            <a:off x="7424928" y="3127248"/>
            <a:ext cx="68580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50" name="Text 47"/>
          <p:cNvSpPr/>
          <p:nvPr/>
        </p:nvSpPr>
        <p:spPr>
          <a:xfrm>
            <a:off x="8110728" y="3127248"/>
            <a:ext cx="685800" cy="45720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a:t>
            </a:r>
            <a:endParaRPr lang="en-US" sz="1500" dirty="0"/>
          </a:p>
        </p:txBody>
      </p:sp>
      <p:sp>
        <p:nvSpPr>
          <p:cNvPr id="51" name="Text 48"/>
          <p:cNvSpPr/>
          <p:nvPr/>
        </p:nvSpPr>
        <p:spPr>
          <a:xfrm>
            <a:off x="8796528" y="3127248"/>
            <a:ext cx="685800" cy="45720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52" name="Shape 49"/>
          <p:cNvSpPr/>
          <p:nvPr/>
        </p:nvSpPr>
        <p:spPr>
          <a:xfrm>
            <a:off x="7082028" y="3657600"/>
            <a:ext cx="0" cy="310896"/>
          </a:xfrm>
          <a:prstGeom prst="line">
            <a:avLst/>
          </a:prstGeom>
          <a:noFill/>
          <a:ln w="15875">
            <a:solidFill>
              <a:srgbClr val="B7791F"/>
            </a:solidFill>
            <a:prstDash val="solid"/>
            <a:tailEnd type="triangle"/>
          </a:ln>
        </p:spPr>
      </p:sp>
      <p:sp>
        <p:nvSpPr>
          <p:cNvPr id="53" name="Shape 50"/>
          <p:cNvSpPr/>
          <p:nvPr/>
        </p:nvSpPr>
        <p:spPr>
          <a:xfrm>
            <a:off x="7767828" y="3657600"/>
            <a:ext cx="0" cy="310896"/>
          </a:xfrm>
          <a:prstGeom prst="line">
            <a:avLst/>
          </a:prstGeom>
          <a:noFill/>
          <a:ln w="15875">
            <a:solidFill>
              <a:srgbClr val="B7791F"/>
            </a:solidFill>
            <a:prstDash val="solid"/>
            <a:tailEnd type="triangle"/>
          </a:ln>
        </p:spPr>
      </p:sp>
      <p:sp>
        <p:nvSpPr>
          <p:cNvPr id="54" name="Shape 51"/>
          <p:cNvSpPr/>
          <p:nvPr/>
        </p:nvSpPr>
        <p:spPr>
          <a:xfrm>
            <a:off x="8453628" y="3657600"/>
            <a:ext cx="0" cy="310896"/>
          </a:xfrm>
          <a:prstGeom prst="line">
            <a:avLst/>
          </a:prstGeom>
          <a:noFill/>
          <a:ln w="15875">
            <a:solidFill>
              <a:srgbClr val="B7791F"/>
            </a:solidFill>
            <a:prstDash val="solid"/>
            <a:tailEnd type="triangle"/>
          </a:ln>
        </p:spPr>
      </p:sp>
      <p:sp>
        <p:nvSpPr>
          <p:cNvPr id="55" name="Shape 52"/>
          <p:cNvSpPr/>
          <p:nvPr/>
        </p:nvSpPr>
        <p:spPr>
          <a:xfrm>
            <a:off x="9139428" y="3657600"/>
            <a:ext cx="0" cy="310896"/>
          </a:xfrm>
          <a:prstGeom prst="line">
            <a:avLst/>
          </a:prstGeom>
          <a:noFill/>
          <a:ln w="15875">
            <a:solidFill>
              <a:srgbClr val="B7791F"/>
            </a:solidFill>
            <a:prstDash val="solid"/>
            <a:tailEnd type="triangle"/>
          </a:ln>
        </p:spPr>
      </p:sp>
      <p:sp>
        <p:nvSpPr>
          <p:cNvPr id="56" name="Shape 53"/>
          <p:cNvSpPr/>
          <p:nvPr/>
        </p:nvSpPr>
        <p:spPr>
          <a:xfrm>
            <a:off x="6355080" y="3657600"/>
            <a:ext cx="5303520" cy="1417320"/>
          </a:xfrm>
          <a:prstGeom prst="roundRect">
            <a:avLst>
              <a:gd name="adj" fmla="val 5161"/>
            </a:avLst>
          </a:prstGeom>
          <a:solidFill>
            <a:srgbClr val="F4F6FA"/>
          </a:solidFill>
          <a:ln w="9525">
            <a:solidFill>
              <a:srgbClr val="C9D0DD"/>
            </a:solidFill>
            <a:prstDash val="solid"/>
          </a:ln>
        </p:spPr>
      </p:sp>
      <p:sp>
        <p:nvSpPr>
          <p:cNvPr id="57" name="Text 54"/>
          <p:cNvSpPr txBox="1"/>
          <p:nvPr/>
        </p:nvSpPr>
        <p:spPr>
          <a:xfrm>
            <a:off x="6537960" y="3794760"/>
            <a:ext cx="4937760" cy="11887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cols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rows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m[r, c]</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p:txBody>
      </p:sp>
      <p:sp>
        <p:nvSpPr>
          <p:cNvPr id="58" name="Shape 55"/>
          <p:cNvSpPr/>
          <p:nvPr/>
        </p:nvSpPr>
        <p:spPr>
          <a:xfrm>
            <a:off x="548640" y="5257800"/>
            <a:ext cx="11109960" cy="822960"/>
          </a:xfrm>
          <a:prstGeom prst="roundRect">
            <a:avLst>
              <a:gd name="adj" fmla="val 13333"/>
            </a:avLst>
          </a:prstGeom>
          <a:solidFill>
            <a:srgbClr val="FFF6E3"/>
          </a:solidFill>
          <a:ln w="12700">
            <a:solidFill>
              <a:srgbClr val="FFF6E3"/>
            </a:solidFill>
            <a:prstDash val="solid"/>
          </a:ln>
        </p:spPr>
      </p:sp>
      <p:pic>
        <p:nvPicPr>
          <p:cNvPr id="59" name="Image 0" descr="preencoded.png">    </p:cNvPr>
          <p:cNvPicPr>
            <a:picLocks noChangeAspect="1"/>
          </p:cNvPicPr>
          <p:nvPr/>
        </p:nvPicPr>
        <p:blipFill>
          <a:blip r:embed="rId1"/>
          <a:stretch>
            <a:fillRect/>
          </a:stretch>
        </p:blipFill>
        <p:spPr>
          <a:xfrm>
            <a:off x="822960" y="5394960"/>
            <a:ext cx="548640" cy="548640"/>
          </a:xfrm>
          <a:prstGeom prst="rect">
            <a:avLst/>
          </a:prstGeom>
        </p:spPr>
      </p:pic>
      <p:sp>
        <p:nvSpPr>
          <p:cNvPr id="60" name="Text 56"/>
          <p:cNvSpPr txBox="1"/>
          <p:nvPr/>
        </p:nvSpPr>
        <p:spPr>
          <a:xfrm>
            <a:off x="1645920" y="5330952"/>
            <a:ext cx="9738360" cy="67665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The outer loop picks the line, the inner loop walks along it. </a:t>
            </a:r>
            <a:pPr indent="0" marL="0">
              <a:buNone/>
            </a:pPr>
            <a:r>
              <a:rPr lang="en-US" sz="1500" dirty="0">
                <a:solidFill>
                  <a:srgbClr val="333B4F"/>
                </a:solidFill>
                <a:latin typeface="Calibri" pitchFamily="34" charset="0"/>
                <a:ea typeface="Calibri" pitchFamily="34" charset="-122"/>
                <a:cs typeface="Calibri" pitchFamily="34" charset="-120"/>
              </a:rPr>
              <a:t>The index inside m[r, c] is always row first — only the loop order changes.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OUTPUT FORMATTING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Printing a Matrix So the Columns Line Up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00200"/>
            <a:ext cx="6035040" cy="1097280"/>
          </a:xfrm>
          <a:prstGeom prst="roundRect">
            <a:avLst>
              <a:gd name="adj" fmla="val 8333"/>
            </a:avLst>
          </a:prstGeom>
          <a:solidFill>
            <a:srgbClr val="0F1729"/>
          </a:solidFill>
          <a:ln w="12700">
            <a:solidFill>
              <a:srgbClr val="0F1729"/>
            </a:solidFill>
            <a:prstDash val="solid"/>
          </a:ln>
        </p:spPr>
      </p:sp>
      <p:sp>
        <p:nvSpPr>
          <p:cNvPr id="8" name="Text 5"/>
          <p:cNvSpPr txBox="1"/>
          <p:nvPr/>
        </p:nvSpPr>
        <p:spPr>
          <a:xfrm>
            <a:off x="777240" y="1764792"/>
            <a:ext cx="5577840" cy="82296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120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inner statement of the usual nested loops:</a:t>
            </a:r>
            <a:endParaRPr lang="en-US" sz="1300" dirty="0"/>
          </a:p>
        </p:txBody>
      </p:sp>
      <p:sp>
        <p:nvSpPr>
          <p:cNvPr id="9" name="Text 6"/>
          <p:cNvSpPr txBox="1"/>
          <p:nvPr/>
        </p:nvSpPr>
        <p:spPr>
          <a:xfrm>
            <a:off x="548640" y="2834640"/>
            <a:ext cx="6035040" cy="27432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1 · a space: ragged</a:t>
            </a:r>
            <a:endParaRPr lang="en-US" sz="1400" dirty="0"/>
          </a:p>
        </p:txBody>
      </p:sp>
      <p:sp>
        <p:nvSpPr>
          <p:cNvPr id="10" name="Shape 7"/>
          <p:cNvSpPr/>
          <p:nvPr/>
        </p:nvSpPr>
        <p:spPr>
          <a:xfrm>
            <a:off x="548640" y="3127248"/>
            <a:ext cx="6035040" cy="658368"/>
          </a:xfrm>
          <a:prstGeom prst="roundRect">
            <a:avLst>
              <a:gd name="adj" fmla="val 13889"/>
            </a:avLst>
          </a:prstGeom>
          <a:solidFill>
            <a:srgbClr val="0F1729"/>
          </a:solidFill>
          <a:ln w="12700">
            <a:solidFill>
              <a:srgbClr val="0F1729"/>
            </a:solidFill>
            <a:prstDash val="solid"/>
          </a:ln>
        </p:spPr>
      </p:sp>
      <p:sp>
        <p:nvSpPr>
          <p:cNvPr id="11" name="Text 8"/>
          <p:cNvSpPr txBox="1"/>
          <p:nvPr/>
        </p:nvSpPr>
        <p:spPr>
          <a:xfrm>
            <a:off x="777240" y="3291840"/>
            <a:ext cx="5577840" cy="38404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.Write(m[r, c]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858000" y="2788920"/>
            <a:ext cx="4800600" cy="1005840"/>
          </a:xfrm>
          <a:prstGeom prst="roundRect">
            <a:avLst>
              <a:gd name="adj" fmla="val 9091"/>
            </a:avLst>
          </a:prstGeom>
          <a:solidFill>
            <a:srgbClr val="0B0F19"/>
          </a:solidFill>
          <a:ln w="12700">
            <a:solidFill>
              <a:srgbClr val="2A3654"/>
            </a:solidFill>
            <a:prstDash val="solid"/>
          </a:ln>
        </p:spPr>
      </p:sp>
      <p:sp>
        <p:nvSpPr>
          <p:cNvPr id="13" name="Shape 10"/>
          <p:cNvSpPr/>
          <p:nvPr/>
        </p:nvSpPr>
        <p:spPr>
          <a:xfrm>
            <a:off x="7040880" y="2916936"/>
            <a:ext cx="118872" cy="118872"/>
          </a:xfrm>
          <a:prstGeom prst="ellipse">
            <a:avLst/>
          </a:prstGeom>
          <a:solidFill>
            <a:srgbClr val="FF5F57"/>
          </a:solidFill>
          <a:ln w="12700">
            <a:solidFill>
              <a:srgbClr val="FF5F57"/>
            </a:solidFill>
            <a:prstDash val="solid"/>
          </a:ln>
        </p:spPr>
      </p:sp>
      <p:sp>
        <p:nvSpPr>
          <p:cNvPr id="14" name="Shape 11"/>
          <p:cNvSpPr/>
          <p:nvPr/>
        </p:nvSpPr>
        <p:spPr>
          <a:xfrm>
            <a:off x="7269480" y="2916936"/>
            <a:ext cx="118872" cy="118872"/>
          </a:xfrm>
          <a:prstGeom prst="ellipse">
            <a:avLst/>
          </a:prstGeom>
          <a:solidFill>
            <a:srgbClr val="FEBC2E"/>
          </a:solidFill>
          <a:ln w="12700">
            <a:solidFill>
              <a:srgbClr val="FEBC2E"/>
            </a:solidFill>
            <a:prstDash val="solid"/>
          </a:ln>
        </p:spPr>
      </p:sp>
      <p:sp>
        <p:nvSpPr>
          <p:cNvPr id="15" name="Shape 12"/>
          <p:cNvSpPr/>
          <p:nvPr/>
        </p:nvSpPr>
        <p:spPr>
          <a:xfrm>
            <a:off x="7498080" y="291693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7772400" y="2862072"/>
            <a:ext cx="3703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4"/>
          <p:cNvSpPr txBox="1"/>
          <p:nvPr/>
        </p:nvSpPr>
        <p:spPr>
          <a:xfrm>
            <a:off x="7086600" y="3172968"/>
            <a:ext cx="4343400" cy="502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5 120 7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40 3 1000 </a:t>
            </a:r>
            <a:endParaRPr lang="en-US" sz="1300" dirty="0"/>
          </a:p>
        </p:txBody>
      </p:sp>
      <p:sp>
        <p:nvSpPr>
          <p:cNvPr id="18" name="Text 15"/>
          <p:cNvSpPr txBox="1"/>
          <p:nvPr/>
        </p:nvSpPr>
        <p:spPr>
          <a:xfrm>
            <a:off x="548640" y="3931920"/>
            <a:ext cx="6035040" cy="274320"/>
          </a:xfrm>
          <a:prstGeom prst="rect">
            <a:avLst/>
          </a:prstGeom>
          <a:noFill/>
          <a:ln/>
        </p:spPr>
        <p:txBody>
          <a:bodyPr wrap="square" lIns="0" tIns="0" rIns="0" bIns="0" rtlCol="0" anchor="ctr"/>
          <a:lstStyle/>
          <a:p>
            <a:pPr indent="0" marL="0">
              <a:buNone/>
            </a:pPr>
            <a:r>
              <a:rPr lang="en-US" sz="1400" b="1" dirty="0">
                <a:solidFill>
                  <a:srgbClr val="2E9E6A"/>
                </a:solidFill>
                <a:latin typeface="Calibri" pitchFamily="34" charset="0"/>
                <a:ea typeface="Calibri" pitchFamily="34" charset="-122"/>
                <a:cs typeface="Calibri" pitchFamily="34" charset="-120"/>
              </a:rPr>
              <a:t>2 · width 5, right-aligned</a:t>
            </a:r>
            <a:endParaRPr lang="en-US" sz="1400" dirty="0"/>
          </a:p>
        </p:txBody>
      </p:sp>
      <p:sp>
        <p:nvSpPr>
          <p:cNvPr id="19" name="Shape 16"/>
          <p:cNvSpPr/>
          <p:nvPr/>
        </p:nvSpPr>
        <p:spPr>
          <a:xfrm>
            <a:off x="548640" y="4224528"/>
            <a:ext cx="6035040" cy="658368"/>
          </a:xfrm>
          <a:prstGeom prst="roundRect">
            <a:avLst>
              <a:gd name="adj" fmla="val 13889"/>
            </a:avLst>
          </a:prstGeom>
          <a:solidFill>
            <a:srgbClr val="0F1729"/>
          </a:solidFill>
          <a:ln w="12700">
            <a:solidFill>
              <a:srgbClr val="0F1729"/>
            </a:solidFill>
            <a:prstDash val="solid"/>
          </a:ln>
        </p:spPr>
      </p:sp>
      <p:sp>
        <p:nvSpPr>
          <p:cNvPr id="20" name="Text 17"/>
          <p:cNvSpPr txBox="1"/>
          <p:nvPr/>
        </p:nvSpPr>
        <p:spPr>
          <a:xfrm>
            <a:off x="777240" y="4389120"/>
            <a:ext cx="5577840" cy="38404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$"{m[r, c],5}"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1" name="Shape 18"/>
          <p:cNvSpPr/>
          <p:nvPr/>
        </p:nvSpPr>
        <p:spPr>
          <a:xfrm>
            <a:off x="6858000" y="3886200"/>
            <a:ext cx="4800600" cy="1005840"/>
          </a:xfrm>
          <a:prstGeom prst="roundRect">
            <a:avLst>
              <a:gd name="adj" fmla="val 9091"/>
            </a:avLst>
          </a:prstGeom>
          <a:solidFill>
            <a:srgbClr val="0B0F19"/>
          </a:solidFill>
          <a:ln w="12700">
            <a:solidFill>
              <a:srgbClr val="2A3654"/>
            </a:solidFill>
            <a:prstDash val="solid"/>
          </a:ln>
        </p:spPr>
      </p:sp>
      <p:sp>
        <p:nvSpPr>
          <p:cNvPr id="22" name="Shape 19"/>
          <p:cNvSpPr/>
          <p:nvPr/>
        </p:nvSpPr>
        <p:spPr>
          <a:xfrm>
            <a:off x="7040880" y="4014216"/>
            <a:ext cx="118872" cy="118872"/>
          </a:xfrm>
          <a:prstGeom prst="ellipse">
            <a:avLst/>
          </a:prstGeom>
          <a:solidFill>
            <a:srgbClr val="FF5F57"/>
          </a:solidFill>
          <a:ln w="12700">
            <a:solidFill>
              <a:srgbClr val="FF5F57"/>
            </a:solidFill>
            <a:prstDash val="solid"/>
          </a:ln>
        </p:spPr>
      </p:sp>
      <p:sp>
        <p:nvSpPr>
          <p:cNvPr id="23" name="Shape 20"/>
          <p:cNvSpPr/>
          <p:nvPr/>
        </p:nvSpPr>
        <p:spPr>
          <a:xfrm>
            <a:off x="7269480" y="4014216"/>
            <a:ext cx="118872" cy="118872"/>
          </a:xfrm>
          <a:prstGeom prst="ellipse">
            <a:avLst/>
          </a:prstGeom>
          <a:solidFill>
            <a:srgbClr val="FEBC2E"/>
          </a:solidFill>
          <a:ln w="12700">
            <a:solidFill>
              <a:srgbClr val="FEBC2E"/>
            </a:solidFill>
            <a:prstDash val="solid"/>
          </a:ln>
        </p:spPr>
      </p:sp>
      <p:sp>
        <p:nvSpPr>
          <p:cNvPr id="24" name="Shape 21"/>
          <p:cNvSpPr/>
          <p:nvPr/>
        </p:nvSpPr>
        <p:spPr>
          <a:xfrm>
            <a:off x="7498080" y="4014216"/>
            <a:ext cx="118872" cy="118872"/>
          </a:xfrm>
          <a:prstGeom prst="ellipse">
            <a:avLst/>
          </a:prstGeom>
          <a:solidFill>
            <a:srgbClr val="28C840"/>
          </a:solidFill>
          <a:ln w="12700">
            <a:solidFill>
              <a:srgbClr val="28C840"/>
            </a:solidFill>
            <a:prstDash val="solid"/>
          </a:ln>
        </p:spPr>
      </p:sp>
      <p:sp>
        <p:nvSpPr>
          <p:cNvPr id="25" name="Text 22"/>
          <p:cNvSpPr txBox="1"/>
          <p:nvPr/>
        </p:nvSpPr>
        <p:spPr>
          <a:xfrm>
            <a:off x="7772400" y="3959352"/>
            <a:ext cx="3703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6" name="Text 23"/>
          <p:cNvSpPr txBox="1"/>
          <p:nvPr/>
        </p:nvSpPr>
        <p:spPr>
          <a:xfrm>
            <a:off x="7086600" y="4270248"/>
            <a:ext cx="4343400" cy="502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5  120    7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40    3 1000</a:t>
            </a:r>
            <a:endParaRPr lang="en-US" sz="1300" dirty="0"/>
          </a:p>
        </p:txBody>
      </p:sp>
      <p:sp>
        <p:nvSpPr>
          <p:cNvPr id="27" name="Text 24"/>
          <p:cNvSpPr txBox="1"/>
          <p:nvPr/>
        </p:nvSpPr>
        <p:spPr>
          <a:xfrm>
            <a:off x="548640" y="5029200"/>
            <a:ext cx="6035040" cy="27432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3 · width −5, left-aligned</a:t>
            </a:r>
            <a:endParaRPr lang="en-US" sz="1400" dirty="0"/>
          </a:p>
        </p:txBody>
      </p:sp>
      <p:sp>
        <p:nvSpPr>
          <p:cNvPr id="28" name="Shape 25"/>
          <p:cNvSpPr/>
          <p:nvPr/>
        </p:nvSpPr>
        <p:spPr>
          <a:xfrm>
            <a:off x="548640" y="5321808"/>
            <a:ext cx="6035040" cy="658368"/>
          </a:xfrm>
          <a:prstGeom prst="roundRect">
            <a:avLst>
              <a:gd name="adj" fmla="val 13889"/>
            </a:avLst>
          </a:prstGeom>
          <a:solidFill>
            <a:srgbClr val="0F1729"/>
          </a:solidFill>
          <a:ln w="12700">
            <a:solidFill>
              <a:srgbClr val="0F1729"/>
            </a:solidFill>
            <a:prstDash val="solid"/>
          </a:ln>
        </p:spPr>
      </p:sp>
      <p:sp>
        <p:nvSpPr>
          <p:cNvPr id="29" name="Text 26"/>
          <p:cNvSpPr txBox="1"/>
          <p:nvPr/>
        </p:nvSpPr>
        <p:spPr>
          <a:xfrm>
            <a:off x="777240" y="5486400"/>
            <a:ext cx="5577840" cy="38404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$"{m[r, c],-5}|"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30" name="Shape 27"/>
          <p:cNvSpPr/>
          <p:nvPr/>
        </p:nvSpPr>
        <p:spPr>
          <a:xfrm>
            <a:off x="6858000" y="4983480"/>
            <a:ext cx="4800600" cy="1005840"/>
          </a:xfrm>
          <a:prstGeom prst="roundRect">
            <a:avLst>
              <a:gd name="adj" fmla="val 9091"/>
            </a:avLst>
          </a:prstGeom>
          <a:solidFill>
            <a:srgbClr val="0B0F19"/>
          </a:solidFill>
          <a:ln w="12700">
            <a:solidFill>
              <a:srgbClr val="2A3654"/>
            </a:solidFill>
            <a:prstDash val="solid"/>
          </a:ln>
        </p:spPr>
      </p:sp>
      <p:sp>
        <p:nvSpPr>
          <p:cNvPr id="31" name="Shape 28"/>
          <p:cNvSpPr/>
          <p:nvPr/>
        </p:nvSpPr>
        <p:spPr>
          <a:xfrm>
            <a:off x="7040880" y="5111496"/>
            <a:ext cx="118872" cy="118872"/>
          </a:xfrm>
          <a:prstGeom prst="ellipse">
            <a:avLst/>
          </a:prstGeom>
          <a:solidFill>
            <a:srgbClr val="FF5F57"/>
          </a:solidFill>
          <a:ln w="12700">
            <a:solidFill>
              <a:srgbClr val="FF5F57"/>
            </a:solidFill>
            <a:prstDash val="solid"/>
          </a:ln>
        </p:spPr>
      </p:sp>
      <p:sp>
        <p:nvSpPr>
          <p:cNvPr id="32" name="Shape 29"/>
          <p:cNvSpPr/>
          <p:nvPr/>
        </p:nvSpPr>
        <p:spPr>
          <a:xfrm>
            <a:off x="7269480" y="5111496"/>
            <a:ext cx="118872" cy="118872"/>
          </a:xfrm>
          <a:prstGeom prst="ellipse">
            <a:avLst/>
          </a:prstGeom>
          <a:solidFill>
            <a:srgbClr val="FEBC2E"/>
          </a:solidFill>
          <a:ln w="12700">
            <a:solidFill>
              <a:srgbClr val="FEBC2E"/>
            </a:solidFill>
            <a:prstDash val="solid"/>
          </a:ln>
        </p:spPr>
      </p:sp>
      <p:sp>
        <p:nvSpPr>
          <p:cNvPr id="33" name="Shape 30"/>
          <p:cNvSpPr/>
          <p:nvPr/>
        </p:nvSpPr>
        <p:spPr>
          <a:xfrm>
            <a:off x="7498080" y="5111496"/>
            <a:ext cx="118872" cy="118872"/>
          </a:xfrm>
          <a:prstGeom prst="ellipse">
            <a:avLst/>
          </a:prstGeom>
          <a:solidFill>
            <a:srgbClr val="28C840"/>
          </a:solidFill>
          <a:ln w="12700">
            <a:solidFill>
              <a:srgbClr val="28C840"/>
            </a:solidFill>
            <a:prstDash val="solid"/>
          </a:ln>
        </p:spPr>
      </p:sp>
      <p:sp>
        <p:nvSpPr>
          <p:cNvPr id="34" name="Text 31"/>
          <p:cNvSpPr txBox="1"/>
          <p:nvPr/>
        </p:nvSpPr>
        <p:spPr>
          <a:xfrm>
            <a:off x="7772400" y="5056632"/>
            <a:ext cx="3703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5" name="Text 32"/>
          <p:cNvSpPr txBox="1"/>
          <p:nvPr/>
        </p:nvSpPr>
        <p:spPr>
          <a:xfrm>
            <a:off x="7086600" y="5367528"/>
            <a:ext cx="4343400" cy="502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5    |120  |7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40   |3    |1000 |</a:t>
            </a:r>
            <a:endParaRPr lang="en-US" sz="1300" dirty="0"/>
          </a:p>
        </p:txBody>
      </p:sp>
      <p:sp>
        <p:nvSpPr>
          <p:cNvPr id="36" name="Text 33"/>
          <p:cNvSpPr txBox="1"/>
          <p:nvPr/>
        </p:nvSpPr>
        <p:spPr>
          <a:xfrm>
            <a:off x="6858000" y="1783080"/>
            <a:ext cx="480060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all three outputs: real runs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0" y="2103120"/>
          <a:ext cx="4800600" cy="914400"/>
        </p:xfrm>
        <a:graphic>
          <a:graphicData uri="http://schemas.openxmlformats.org/drawingml/2006/table">
            <a:tbl>
              <a:tblPr/>
              <a:tblGrid>
                <a:gridCol w="1188720"/>
                <a:gridCol w="3611880"/>
              </a:tblGrid>
              <a:tr h="21945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19456">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{x,5}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at least 5 characters, right-aligned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19456">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{x,-5}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at least 5 characters, left-aligned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WHEN INDICES GO WRONG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Out of Range and Wrong Brackets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Text 4"/>
          <p:cNvSpPr txBox="1"/>
          <p:nvPr/>
        </p:nvSpPr>
        <p:spPr>
          <a:xfrm>
            <a:off x="932688" y="18745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664208" y="18745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395728" y="18745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3127248" y="18745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1" name="Text 8"/>
          <p:cNvSpPr txBox="1"/>
          <p:nvPr/>
        </p:nvSpPr>
        <p:spPr>
          <a:xfrm>
            <a:off x="548640" y="216712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2" name="Text 9"/>
          <p:cNvSpPr txBox="1"/>
          <p:nvPr/>
        </p:nvSpPr>
        <p:spPr>
          <a:xfrm>
            <a:off x="548640" y="267004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3" name="Text 10"/>
          <p:cNvSpPr txBox="1"/>
          <p:nvPr/>
        </p:nvSpPr>
        <p:spPr>
          <a:xfrm>
            <a:off x="548640" y="317296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4" name="Text 11"/>
          <p:cNvSpPr/>
          <p:nvPr/>
        </p:nvSpPr>
        <p:spPr>
          <a:xfrm>
            <a:off x="932688" y="216712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15" name="Text 12"/>
          <p:cNvSpPr/>
          <p:nvPr/>
        </p:nvSpPr>
        <p:spPr>
          <a:xfrm>
            <a:off x="1664208" y="216712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16" name="Text 13"/>
          <p:cNvSpPr/>
          <p:nvPr/>
        </p:nvSpPr>
        <p:spPr>
          <a:xfrm>
            <a:off x="2395728" y="216712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17" name="Text 14"/>
          <p:cNvSpPr/>
          <p:nvPr/>
        </p:nvSpPr>
        <p:spPr>
          <a:xfrm>
            <a:off x="3127248" y="216712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18" name="Text 15"/>
          <p:cNvSpPr/>
          <p:nvPr/>
        </p:nvSpPr>
        <p:spPr>
          <a:xfrm>
            <a:off x="932688" y="267004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19" name="Text 16"/>
          <p:cNvSpPr/>
          <p:nvPr/>
        </p:nvSpPr>
        <p:spPr>
          <a:xfrm>
            <a:off x="1664208" y="267004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0" name="Text 17"/>
          <p:cNvSpPr/>
          <p:nvPr/>
        </p:nvSpPr>
        <p:spPr>
          <a:xfrm>
            <a:off x="2395728" y="267004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7</a:t>
            </a:r>
            <a:endParaRPr lang="en-US" sz="1600" dirty="0"/>
          </a:p>
        </p:txBody>
      </p:sp>
      <p:sp>
        <p:nvSpPr>
          <p:cNvPr id="21" name="Text 18"/>
          <p:cNvSpPr/>
          <p:nvPr/>
        </p:nvSpPr>
        <p:spPr>
          <a:xfrm>
            <a:off x="3127248" y="267004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2" name="Text 19"/>
          <p:cNvSpPr/>
          <p:nvPr/>
        </p:nvSpPr>
        <p:spPr>
          <a:xfrm>
            <a:off x="932688" y="317296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3" name="Text 20"/>
          <p:cNvSpPr/>
          <p:nvPr/>
        </p:nvSpPr>
        <p:spPr>
          <a:xfrm>
            <a:off x="1664208" y="317296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4" name="Text 21"/>
          <p:cNvSpPr/>
          <p:nvPr/>
        </p:nvSpPr>
        <p:spPr>
          <a:xfrm>
            <a:off x="2395728" y="317296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0</a:t>
            </a:r>
            <a:endParaRPr lang="en-US" sz="1600" dirty="0"/>
          </a:p>
        </p:txBody>
      </p:sp>
      <p:sp>
        <p:nvSpPr>
          <p:cNvPr id="25" name="Text 22"/>
          <p:cNvSpPr/>
          <p:nvPr/>
        </p:nvSpPr>
        <p:spPr>
          <a:xfrm>
            <a:off x="3127248" y="3172968"/>
            <a:ext cx="731520" cy="50292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26" name="Shape 23"/>
          <p:cNvSpPr/>
          <p:nvPr/>
        </p:nvSpPr>
        <p:spPr>
          <a:xfrm>
            <a:off x="932688" y="3675888"/>
            <a:ext cx="731520" cy="502920"/>
          </a:xfrm>
          <a:prstGeom prst="rect">
            <a:avLst/>
          </a:prstGeom>
          <a:solidFill>
            <a:srgbClr val="FBE9E7"/>
          </a:solidFill>
          <a:ln w="15875">
            <a:solidFill>
              <a:srgbClr val="C8453B"/>
            </a:solidFill>
            <a:prstDash val="dash"/>
          </a:ln>
        </p:spPr>
      </p:sp>
      <p:sp>
        <p:nvSpPr>
          <p:cNvPr id="27" name="Text 24"/>
          <p:cNvSpPr txBox="1"/>
          <p:nvPr/>
        </p:nvSpPr>
        <p:spPr>
          <a:xfrm>
            <a:off x="932688" y="3675888"/>
            <a:ext cx="731520" cy="502920"/>
          </a:xfrm>
          <a:prstGeom prst="rect">
            <a:avLst/>
          </a:prstGeom>
          <a:noFill/>
          <a:ln/>
        </p:spPr>
        <p:txBody>
          <a:bodyPr wrap="square" lIns="0" tIns="0" rIns="0" bIns="0" rtlCol="0" anchor="ctr"/>
          <a:lstStyle/>
          <a:p>
            <a:pPr algn="ctr" indent="0" marL="0">
              <a:buNone/>
            </a:pPr>
            <a:r>
              <a:rPr lang="en-US" sz="1800" b="1" dirty="0">
                <a:solidFill>
                  <a:srgbClr val="C8453B"/>
                </a:solidFill>
                <a:latin typeface="Courier New" pitchFamily="34" charset="0"/>
                <a:ea typeface="Courier New" pitchFamily="34" charset="-122"/>
                <a:cs typeface="Courier New" pitchFamily="34" charset="-120"/>
              </a:rPr>
              <a:t>?</a:t>
            </a:r>
            <a:endParaRPr lang="en-US" sz="1800" dirty="0"/>
          </a:p>
        </p:txBody>
      </p:sp>
      <p:sp>
        <p:nvSpPr>
          <p:cNvPr id="28" name="Text 25"/>
          <p:cNvSpPr txBox="1"/>
          <p:nvPr/>
        </p:nvSpPr>
        <p:spPr>
          <a:xfrm>
            <a:off x="548640" y="3675888"/>
            <a:ext cx="310896" cy="502920"/>
          </a:xfrm>
          <a:prstGeom prst="rect">
            <a:avLst/>
          </a:prstGeom>
          <a:noFill/>
          <a:ln/>
        </p:spPr>
        <p:txBody>
          <a:bodyPr wrap="square" lIns="0" tIns="0" rIns="0" bIns="0" rtlCol="0" anchor="ctr"/>
          <a:lstStyle/>
          <a:p>
            <a:pPr algn="r" indent="0" marL="0">
              <a:buNone/>
            </a:pPr>
            <a:r>
              <a:rPr lang="en-US" sz="1200" b="1" dirty="0">
                <a:solidFill>
                  <a:srgbClr val="C8453B"/>
                </a:solidFill>
                <a:latin typeface="Courier New" pitchFamily="34" charset="0"/>
                <a:ea typeface="Courier New" pitchFamily="34" charset="-122"/>
                <a:cs typeface="Courier New" pitchFamily="34" charset="-120"/>
              </a:rPr>
              <a:t>3</a:t>
            </a:r>
            <a:endParaRPr lang="en-US" sz="1200" dirty="0"/>
          </a:p>
        </p:txBody>
      </p:sp>
      <p:sp>
        <p:nvSpPr>
          <p:cNvPr id="29" name="Text 26"/>
          <p:cNvSpPr txBox="1"/>
          <p:nvPr/>
        </p:nvSpPr>
        <p:spPr>
          <a:xfrm>
            <a:off x="1755648" y="3767328"/>
            <a:ext cx="3200400" cy="32004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 m[3, 0]: there is no row 3</a:t>
            </a:r>
            <a:endParaRPr lang="en-US" sz="1400" dirty="0"/>
          </a:p>
        </p:txBody>
      </p:sp>
      <p:sp>
        <p:nvSpPr>
          <p:cNvPr id="30" name="Shape 27"/>
          <p:cNvSpPr/>
          <p:nvPr/>
        </p:nvSpPr>
        <p:spPr>
          <a:xfrm>
            <a:off x="548640" y="4160520"/>
            <a:ext cx="5394960" cy="658368"/>
          </a:xfrm>
          <a:prstGeom prst="roundRect">
            <a:avLst>
              <a:gd name="adj" fmla="val 13889"/>
            </a:avLst>
          </a:prstGeom>
          <a:solidFill>
            <a:srgbClr val="0F1729"/>
          </a:solidFill>
          <a:ln w="12700">
            <a:solidFill>
              <a:srgbClr val="0F1729"/>
            </a:solidFill>
            <a:prstDash val="solid"/>
          </a:ln>
        </p:spPr>
      </p:sp>
      <p:sp>
        <p:nvSpPr>
          <p:cNvPr id="31" name="Text 28"/>
          <p:cNvSpPr txBox="1"/>
          <p:nvPr/>
        </p:nvSpPr>
        <p:spPr>
          <a:xfrm>
            <a:off x="777240" y="4325112"/>
            <a:ext cx="4937760" cy="38404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.WriteLine(m[</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m is 3 x 4</a:t>
            </a:r>
            <a:endParaRPr lang="en-US" sz="1300" dirty="0"/>
          </a:p>
        </p:txBody>
      </p:sp>
      <p:sp>
        <p:nvSpPr>
          <p:cNvPr id="32" name="Shape 29"/>
          <p:cNvSpPr/>
          <p:nvPr/>
        </p:nvSpPr>
        <p:spPr>
          <a:xfrm>
            <a:off x="548640" y="4937760"/>
            <a:ext cx="5394960" cy="1161288"/>
          </a:xfrm>
          <a:prstGeom prst="roundRect">
            <a:avLst>
              <a:gd name="adj" fmla="val 7874"/>
            </a:avLst>
          </a:prstGeom>
          <a:solidFill>
            <a:srgbClr val="0B0F19"/>
          </a:solidFill>
          <a:ln w="12700">
            <a:solidFill>
              <a:srgbClr val="2A3654"/>
            </a:solidFill>
            <a:prstDash val="solid"/>
          </a:ln>
        </p:spPr>
      </p:sp>
      <p:sp>
        <p:nvSpPr>
          <p:cNvPr id="33" name="Shape 30"/>
          <p:cNvSpPr/>
          <p:nvPr/>
        </p:nvSpPr>
        <p:spPr>
          <a:xfrm>
            <a:off x="731520" y="5065776"/>
            <a:ext cx="118872" cy="118872"/>
          </a:xfrm>
          <a:prstGeom prst="ellipse">
            <a:avLst/>
          </a:prstGeom>
          <a:solidFill>
            <a:srgbClr val="FF5F57"/>
          </a:solidFill>
          <a:ln w="12700">
            <a:solidFill>
              <a:srgbClr val="FF5F57"/>
            </a:solidFill>
            <a:prstDash val="solid"/>
          </a:ln>
        </p:spPr>
      </p:sp>
      <p:sp>
        <p:nvSpPr>
          <p:cNvPr id="34" name="Shape 31"/>
          <p:cNvSpPr/>
          <p:nvPr/>
        </p:nvSpPr>
        <p:spPr>
          <a:xfrm>
            <a:off x="960120" y="5065776"/>
            <a:ext cx="118872" cy="118872"/>
          </a:xfrm>
          <a:prstGeom prst="ellipse">
            <a:avLst/>
          </a:prstGeom>
          <a:solidFill>
            <a:srgbClr val="FEBC2E"/>
          </a:solidFill>
          <a:ln w="12700">
            <a:solidFill>
              <a:srgbClr val="FEBC2E"/>
            </a:solidFill>
            <a:prstDash val="solid"/>
          </a:ln>
        </p:spPr>
      </p:sp>
      <p:sp>
        <p:nvSpPr>
          <p:cNvPr id="35" name="Shape 32"/>
          <p:cNvSpPr/>
          <p:nvPr/>
        </p:nvSpPr>
        <p:spPr>
          <a:xfrm>
            <a:off x="1188720" y="5065776"/>
            <a:ext cx="118872" cy="118872"/>
          </a:xfrm>
          <a:prstGeom prst="ellipse">
            <a:avLst/>
          </a:prstGeom>
          <a:solidFill>
            <a:srgbClr val="28C840"/>
          </a:solidFill>
          <a:ln w="12700">
            <a:solidFill>
              <a:srgbClr val="28C840"/>
            </a:solidFill>
            <a:prstDash val="solid"/>
          </a:ln>
        </p:spPr>
      </p:sp>
      <p:sp>
        <p:nvSpPr>
          <p:cNvPr id="36" name="Text 33"/>
          <p:cNvSpPr txBox="1"/>
          <p:nvPr/>
        </p:nvSpPr>
        <p:spPr>
          <a:xfrm>
            <a:off x="1463040" y="501091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run-time error (crash)</a:t>
            </a:r>
            <a:endParaRPr lang="en-US" sz="1000" dirty="0"/>
          </a:p>
        </p:txBody>
      </p:sp>
      <p:sp>
        <p:nvSpPr>
          <p:cNvPr id="37" name="Text 34"/>
          <p:cNvSpPr txBox="1"/>
          <p:nvPr/>
        </p:nvSpPr>
        <p:spPr>
          <a:xfrm>
            <a:off x="777240" y="5321808"/>
            <a:ext cx="4937760" cy="658368"/>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System.IndexOutOfRangeException: Index was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outside the bounds of the array.</a:t>
            </a:r>
            <a:endParaRPr lang="en-US" sz="1200" dirty="0"/>
          </a:p>
        </p:txBody>
      </p:sp>
      <p:sp>
        <p:nvSpPr>
          <p:cNvPr id="38" name="Shape 35"/>
          <p:cNvSpPr/>
          <p:nvPr/>
        </p:nvSpPr>
        <p:spPr>
          <a:xfrm>
            <a:off x="6263640" y="1600200"/>
            <a:ext cx="5394960" cy="2148840"/>
          </a:xfrm>
          <a:prstGeom prst="roundRect">
            <a:avLst>
              <a:gd name="adj" fmla="val 5106"/>
            </a:avLst>
          </a:prstGeom>
          <a:solidFill>
            <a:srgbClr val="FBE9E7"/>
          </a:solidFill>
          <a:ln w="12700">
            <a:solidFill>
              <a:srgbClr val="FBE9E7"/>
            </a:solidFill>
            <a:prstDash val="solid"/>
          </a:ln>
        </p:spPr>
      </p:sp>
      <p:sp>
        <p:nvSpPr>
          <p:cNvPr id="39" name="Text 36"/>
          <p:cNvSpPr txBox="1"/>
          <p:nvPr/>
        </p:nvSpPr>
        <p:spPr>
          <a:xfrm>
            <a:off x="6492240" y="1691640"/>
            <a:ext cx="4937760" cy="36576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Wrong brackets: compile error</a:t>
            </a:r>
            <a:endParaRPr lang="en-US" sz="1600" dirty="0"/>
          </a:p>
        </p:txBody>
      </p:sp>
      <p:sp>
        <p:nvSpPr>
          <p:cNvPr id="40" name="Shape 37"/>
          <p:cNvSpPr/>
          <p:nvPr/>
        </p:nvSpPr>
        <p:spPr>
          <a:xfrm>
            <a:off x="6492240" y="2103120"/>
            <a:ext cx="4937760" cy="566928"/>
          </a:xfrm>
          <a:prstGeom prst="roundRect">
            <a:avLst>
              <a:gd name="adj" fmla="val 16129"/>
            </a:avLst>
          </a:prstGeom>
          <a:solidFill>
            <a:srgbClr val="0F1729"/>
          </a:solidFill>
          <a:ln w="12700">
            <a:solidFill>
              <a:srgbClr val="0F1729"/>
            </a:solidFill>
            <a:prstDash val="solid"/>
          </a:ln>
        </p:spPr>
      </p:sp>
      <p:sp>
        <p:nvSpPr>
          <p:cNvPr id="41" name="Text 38"/>
          <p:cNvSpPr txBox="1"/>
          <p:nvPr/>
        </p:nvSpPr>
        <p:spPr>
          <a:xfrm>
            <a:off x="6720840" y="2267712"/>
            <a:ext cx="4480560" cy="29260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.WriteLine(m[</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wrong</a:t>
            </a:r>
            <a:endParaRPr lang="en-US" sz="1300" dirty="0"/>
          </a:p>
        </p:txBody>
      </p:sp>
      <p:sp>
        <p:nvSpPr>
          <p:cNvPr id="42" name="Text 39"/>
          <p:cNvSpPr txBox="1"/>
          <p:nvPr/>
        </p:nvSpPr>
        <p:spPr>
          <a:xfrm>
            <a:off x="6492240" y="2743200"/>
            <a:ext cx="4937760" cy="914400"/>
          </a:xfrm>
          <a:prstGeom prst="rect">
            <a:avLst/>
          </a:prstGeom>
          <a:noFill/>
          <a:ln/>
        </p:spPr>
        <p:txBody>
          <a:bodyPr wrap="square" lIns="0" tIns="0" rIns="0" bIns="0" rtlCol="0" anchor="t"/>
          <a:lstStyle/>
          <a:p>
            <a:pPr indent="0" marL="0">
              <a:buNone/>
            </a:pPr>
            <a:r>
              <a:rPr lang="en-US" sz="1400" b="1" dirty="0">
                <a:solidFill>
                  <a:srgbClr val="C8453B"/>
                </a:solidFill>
                <a:latin typeface="Courier New" pitchFamily="34" charset="0"/>
                <a:ea typeface="Courier New" pitchFamily="34" charset="-122"/>
                <a:cs typeface="Courier New" pitchFamily="34" charset="-120"/>
              </a:rPr>
              <a:t>error CS0022</a:t>
            </a:r>
            <a:pPr indent="0" marL="0">
              <a:buNone/>
            </a:pPr>
            <a:r>
              <a:rPr lang="en-US" sz="1400" dirty="0">
                <a:solidFill>
                  <a:srgbClr val="333B4F"/>
                </a:solidFill>
                <a:latin typeface="Calibri" pitchFamily="34" charset="0"/>
                <a:ea typeface="Calibri" pitchFamily="34" charset="-122"/>
                <a:cs typeface="Calibri" pitchFamily="34" charset="-120"/>
              </a:rPr>
              <a:t>: Wrong number of indices inside []; expected 2.  Write </a:t>
            </a:r>
            <a:pPr indent="0" marL="0">
              <a:buNone/>
            </a:pPr>
            <a:r>
              <a:rPr lang="en-US" sz="1400" b="1" dirty="0">
                <a:solidFill>
                  <a:srgbClr val="14213D"/>
                </a:solidFill>
                <a:latin typeface="Courier New" pitchFamily="34" charset="0"/>
                <a:ea typeface="Courier New" pitchFamily="34" charset="-122"/>
                <a:cs typeface="Courier New" pitchFamily="34" charset="-120"/>
              </a:rPr>
              <a:t>m[1, 2]</a:t>
            </a:r>
            <a:pPr indent="0" marL="0">
              <a:buNone/>
            </a:pPr>
            <a:r>
              <a:rPr lang="en-US" sz="1400" dirty="0">
                <a:solidFill>
                  <a:srgbClr val="333B4F"/>
                </a:solidFill>
                <a:latin typeface="Calibri" pitchFamily="34" charset="0"/>
                <a:ea typeface="Calibri" pitchFamily="34" charset="-122"/>
                <a:cs typeface="Calibri" pitchFamily="34" charset="-120"/>
              </a:rPr>
              <a:t>.</a:t>
            </a:r>
            <a:endParaRPr lang="en-US" sz="1400" dirty="0"/>
          </a:p>
        </p:txBody>
      </p:sp>
      <p:sp>
        <p:nvSpPr>
          <p:cNvPr id="43" name="Shape 40"/>
          <p:cNvSpPr/>
          <p:nvPr/>
        </p:nvSpPr>
        <p:spPr>
          <a:xfrm>
            <a:off x="6263640" y="3931920"/>
            <a:ext cx="5394960" cy="2167128"/>
          </a:xfrm>
          <a:prstGeom prst="roundRect">
            <a:avLst>
              <a:gd name="adj" fmla="val 5063"/>
            </a:avLst>
          </a:prstGeom>
          <a:solidFill>
            <a:srgbClr val="FFF1D6"/>
          </a:solidFill>
          <a:ln w="12700">
            <a:solidFill>
              <a:srgbClr val="FFF1D6"/>
            </a:solidFill>
            <a:prstDash val="solid"/>
          </a:ln>
        </p:spPr>
      </p:sp>
      <p:sp>
        <p:nvSpPr>
          <p:cNvPr id="44" name="Text 41"/>
          <p:cNvSpPr txBox="1"/>
          <p:nvPr/>
        </p:nvSpPr>
        <p:spPr>
          <a:xfrm>
            <a:off x="6492240" y="4023360"/>
            <a:ext cx="4937760" cy="365760"/>
          </a:xfrm>
          <a:prstGeom prst="rect">
            <a:avLst/>
          </a:prstGeom>
          <a:noFill/>
          <a:ln/>
        </p:spPr>
        <p:txBody>
          <a:bodyPr wrap="square" lIns="0" tIns="0" rIns="0" bIns="0" rtlCol="0" anchor="ctr"/>
          <a:lstStyle/>
          <a:p>
            <a:pPr indent="0" marL="0">
              <a:buNone/>
            </a:pPr>
            <a:r>
              <a:rPr lang="en-US" sz="1600" b="1" dirty="0">
                <a:solidFill>
                  <a:srgbClr val="B7791F"/>
                </a:solidFill>
                <a:latin typeface="Cambria" pitchFamily="34" charset="0"/>
                <a:ea typeface="Cambria" pitchFamily="34" charset="-122"/>
                <a:cs typeface="Cambria" pitchFamily="34" charset="-120"/>
              </a:rPr>
              <a:t>Swapped sizes: a silent logic error</a:t>
            </a:r>
            <a:endParaRPr lang="en-US" sz="1600" dirty="0"/>
          </a:p>
        </p:txBody>
      </p:sp>
      <p:sp>
        <p:nvSpPr>
          <p:cNvPr id="45" name="Shape 42"/>
          <p:cNvSpPr/>
          <p:nvPr/>
        </p:nvSpPr>
        <p:spPr>
          <a:xfrm>
            <a:off x="6492240" y="4434840"/>
            <a:ext cx="4937760" cy="566928"/>
          </a:xfrm>
          <a:prstGeom prst="roundRect">
            <a:avLst>
              <a:gd name="adj" fmla="val 16129"/>
            </a:avLst>
          </a:prstGeom>
          <a:solidFill>
            <a:srgbClr val="0F1729"/>
          </a:solidFill>
          <a:ln w="12700">
            <a:solidFill>
              <a:srgbClr val="0F1729"/>
            </a:solidFill>
            <a:prstDash val="solid"/>
          </a:ln>
        </p:spPr>
      </p:sp>
      <p:sp>
        <p:nvSpPr>
          <p:cNvPr id="46" name="Text 43"/>
          <p:cNvSpPr txBox="1"/>
          <p:nvPr/>
        </p:nvSpPr>
        <p:spPr>
          <a:xfrm>
            <a:off x="6720840" y="4599432"/>
            <a:ext cx="4480560" cy="292608"/>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m.GetLength(</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t>
            </a:r>
            <a:endParaRPr lang="en-US" sz="1300" dirty="0"/>
          </a:p>
        </p:txBody>
      </p:sp>
      <p:sp>
        <p:nvSpPr>
          <p:cNvPr id="47" name="Text 44"/>
          <p:cNvSpPr txBox="1"/>
          <p:nvPr/>
        </p:nvSpPr>
        <p:spPr>
          <a:xfrm>
            <a:off x="6492240" y="5074920"/>
            <a:ext cx="4937760" cy="9601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Columns need GetLength(1). On a square matrix the bug is invisible, so always test with a non-square one (3 × 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Rows, Columns and Diagonals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Reading a matrix, sums and averages per row and per column, the two diagonals, the transpose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11</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11_02_ROWCOLUMNSUMS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Reading a Matrix from the Keyboard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00200"/>
            <a:ext cx="3063240" cy="2834640"/>
          </a:xfrm>
          <a:prstGeom prst="roundRect">
            <a:avLst>
              <a:gd name="adj" fmla="val 2581"/>
            </a:avLst>
          </a:prstGeom>
          <a:solidFill>
            <a:srgbClr val="F4F6FA"/>
          </a:solidFill>
          <a:ln w="9525">
            <a:solidFill>
              <a:srgbClr val="C9D0DD"/>
            </a:solidFill>
            <a:prstDash val="solid"/>
          </a:ln>
        </p:spPr>
      </p:sp>
      <p:sp>
        <p:nvSpPr>
          <p:cNvPr id="8" name="Text 5"/>
          <p:cNvSpPr txBox="1"/>
          <p:nvPr/>
        </p:nvSpPr>
        <p:spPr>
          <a:xfrm>
            <a:off x="731520" y="1691640"/>
            <a:ext cx="26974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31520" y="2011680"/>
            <a:ext cx="2697480" cy="23317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rows, cols</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rows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 ←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TO</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cols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a[r, c]</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FOR</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p>
        </p:txBody>
      </p:sp>
      <p:sp>
        <p:nvSpPr>
          <p:cNvPr id="10" name="Shape 7"/>
          <p:cNvSpPr/>
          <p:nvPr/>
        </p:nvSpPr>
        <p:spPr>
          <a:xfrm>
            <a:off x="3794760" y="1600200"/>
            <a:ext cx="4983480" cy="4498848"/>
          </a:xfrm>
          <a:prstGeom prst="roundRect">
            <a:avLst>
              <a:gd name="adj" fmla="val 2033"/>
            </a:avLst>
          </a:prstGeom>
          <a:solidFill>
            <a:srgbClr val="0F1729"/>
          </a:solidFill>
          <a:ln w="12700">
            <a:solidFill>
              <a:srgbClr val="0F1729"/>
            </a:solidFill>
            <a:prstDash val="solid"/>
          </a:ln>
        </p:spPr>
      </p:sp>
      <p:sp>
        <p:nvSpPr>
          <p:cNvPr id="11" name="Text 8"/>
          <p:cNvSpPr txBox="1"/>
          <p:nvPr/>
        </p:nvSpPr>
        <p:spPr>
          <a:xfrm>
            <a:off x="4023360" y="1764792"/>
            <a:ext cx="4526280" cy="4224528"/>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"Rows: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"Columns: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[rows, cols];</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cols;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$"a[{r},{c}]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 c]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8961120" y="1600200"/>
            <a:ext cx="2697480" cy="4498848"/>
          </a:xfrm>
          <a:prstGeom prst="roundRect">
            <a:avLst>
              <a:gd name="adj" fmla="val 3390"/>
            </a:avLst>
          </a:prstGeom>
          <a:solidFill>
            <a:srgbClr val="0B0F19"/>
          </a:solidFill>
          <a:ln w="12700">
            <a:solidFill>
              <a:srgbClr val="2A3654"/>
            </a:solidFill>
            <a:prstDash val="solid"/>
          </a:ln>
        </p:spPr>
      </p:sp>
      <p:sp>
        <p:nvSpPr>
          <p:cNvPr id="13" name="Shape 10"/>
          <p:cNvSpPr/>
          <p:nvPr/>
        </p:nvSpPr>
        <p:spPr>
          <a:xfrm>
            <a:off x="9144000" y="1728216"/>
            <a:ext cx="118872" cy="118872"/>
          </a:xfrm>
          <a:prstGeom prst="ellipse">
            <a:avLst/>
          </a:prstGeom>
          <a:solidFill>
            <a:srgbClr val="FF5F57"/>
          </a:solidFill>
          <a:ln w="12700">
            <a:solidFill>
              <a:srgbClr val="FF5F57"/>
            </a:solidFill>
            <a:prstDash val="solid"/>
          </a:ln>
        </p:spPr>
      </p:sp>
      <p:sp>
        <p:nvSpPr>
          <p:cNvPr id="14" name="Shape 11"/>
          <p:cNvSpPr/>
          <p:nvPr/>
        </p:nvSpPr>
        <p:spPr>
          <a:xfrm>
            <a:off x="9372600" y="1728216"/>
            <a:ext cx="118872" cy="118872"/>
          </a:xfrm>
          <a:prstGeom prst="ellipse">
            <a:avLst/>
          </a:prstGeom>
          <a:solidFill>
            <a:srgbClr val="FEBC2E"/>
          </a:solidFill>
          <a:ln w="12700">
            <a:solidFill>
              <a:srgbClr val="FEBC2E"/>
            </a:solidFill>
            <a:prstDash val="solid"/>
          </a:ln>
        </p:spPr>
      </p:sp>
      <p:sp>
        <p:nvSpPr>
          <p:cNvPr id="15" name="Shape 12"/>
          <p:cNvSpPr/>
          <p:nvPr/>
        </p:nvSpPr>
        <p:spPr>
          <a:xfrm>
            <a:off x="9601200" y="172821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9875520" y="1673352"/>
            <a:ext cx="1600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4"/>
          <p:cNvSpPr txBox="1"/>
          <p:nvPr/>
        </p:nvSpPr>
        <p:spPr>
          <a:xfrm>
            <a:off x="9189720" y="1984248"/>
            <a:ext cx="2240280" cy="3995928"/>
          </a:xfrm>
          <a:prstGeom prst="rect">
            <a:avLst/>
          </a:prstGeom>
          <a:noFill/>
          <a:ln/>
        </p:spPr>
        <p:txBody>
          <a:bodyPr wrap="square" lIns="0" tIns="0" rIns="0" bIns="0" rtlCol="0" anchor="t"/>
          <a:lstStyle/>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Rows: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2</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Columns: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3</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a[0,0]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4</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a[0,1]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7</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a[0,2]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1</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a[1,0]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2</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a[1,1]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5</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a[1,2] =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8</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4    7    1  |   12</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2    5    8  |   15</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6   12    9  |   27</a:t>
            </a:r>
            <a:endParaRPr lang="en-US" sz="1150" dirty="0"/>
          </a:p>
        </p:txBody>
      </p:sp>
      <p:sp>
        <p:nvSpPr>
          <p:cNvPr id="18" name="Shape 15"/>
          <p:cNvSpPr/>
          <p:nvPr/>
        </p:nvSpPr>
        <p:spPr>
          <a:xfrm>
            <a:off x="548640" y="4617720"/>
            <a:ext cx="3063240" cy="1481328"/>
          </a:xfrm>
          <a:prstGeom prst="roundRect">
            <a:avLst>
              <a:gd name="adj" fmla="val 7407"/>
            </a:avLst>
          </a:prstGeom>
          <a:solidFill>
            <a:srgbClr val="FFF6E3"/>
          </a:solidFill>
          <a:ln w="12700">
            <a:solidFill>
              <a:srgbClr val="FFF6E3"/>
            </a:solidFill>
            <a:prstDash val="solid"/>
          </a:ln>
        </p:spPr>
      </p:sp>
      <p:pic>
        <p:nvPicPr>
          <p:cNvPr id="19" name="Image 0" descr="preencoded.png">    </p:cNvPr>
          <p:cNvPicPr>
            <a:picLocks noChangeAspect="1"/>
          </p:cNvPicPr>
          <p:nvPr/>
        </p:nvPicPr>
        <p:blipFill>
          <a:blip r:embed="rId1"/>
          <a:stretch>
            <a:fillRect/>
          </a:stretch>
        </p:blipFill>
        <p:spPr>
          <a:xfrm>
            <a:off x="822960" y="5084064"/>
            <a:ext cx="548640" cy="548640"/>
          </a:xfrm>
          <a:prstGeom prst="rect">
            <a:avLst/>
          </a:prstGeom>
        </p:spPr>
      </p:pic>
      <p:sp>
        <p:nvSpPr>
          <p:cNvPr id="20" name="Text 16"/>
          <p:cNvSpPr txBox="1"/>
          <p:nvPr/>
        </p:nvSpPr>
        <p:spPr>
          <a:xfrm>
            <a:off x="1645920" y="4690872"/>
            <a:ext cx="1691640" cy="133502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Sizes first, </a:t>
            </a:r>
            <a:pPr indent="0" marL="0">
              <a:buNone/>
            </a:pPr>
            <a:r>
              <a:rPr lang="en-US" sz="1400" dirty="0">
                <a:solidFill>
                  <a:srgbClr val="333B4F"/>
                </a:solidFill>
                <a:latin typeface="Calibri" pitchFamily="34" charset="0"/>
                <a:ea typeface="Calibri" pitchFamily="34" charset="-122"/>
                <a:cs typeface="Calibri" pitchFamily="34" charset="-120"/>
              </a:rPr>
              <a:t>then new int[rows, cols]: the size can come from variables.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ROW AND COLUMN SUMS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of Every Row, Sum of Every Column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Text 4"/>
          <p:cNvSpPr txBox="1"/>
          <p:nvPr/>
        </p:nvSpPr>
        <p:spPr>
          <a:xfrm>
            <a:off x="932688" y="155448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572768" y="155448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212848" y="155448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2852928" y="155448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Σ</a:t>
            </a:r>
            <a:endParaRPr lang="en-US" sz="1200" dirty="0"/>
          </a:p>
        </p:txBody>
      </p:sp>
      <p:sp>
        <p:nvSpPr>
          <p:cNvPr id="11" name="Text 8"/>
          <p:cNvSpPr txBox="1"/>
          <p:nvPr/>
        </p:nvSpPr>
        <p:spPr>
          <a:xfrm>
            <a:off x="548640" y="1847088"/>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2" name="Text 9"/>
          <p:cNvSpPr txBox="1"/>
          <p:nvPr/>
        </p:nvSpPr>
        <p:spPr>
          <a:xfrm>
            <a:off x="548640" y="2231136"/>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3" name="Text 10"/>
          <p:cNvSpPr txBox="1"/>
          <p:nvPr/>
        </p:nvSpPr>
        <p:spPr>
          <a:xfrm>
            <a:off x="548640" y="2615184"/>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Σ</a:t>
            </a:r>
            <a:endParaRPr lang="en-US" sz="1200" dirty="0"/>
          </a:p>
        </p:txBody>
      </p:sp>
      <p:sp>
        <p:nvSpPr>
          <p:cNvPr id="14" name="Text 11"/>
          <p:cNvSpPr/>
          <p:nvPr/>
        </p:nvSpPr>
        <p:spPr>
          <a:xfrm>
            <a:off x="932688" y="1847088"/>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5" name="Text 12"/>
          <p:cNvSpPr/>
          <p:nvPr/>
        </p:nvSpPr>
        <p:spPr>
          <a:xfrm>
            <a:off x="1572768" y="1847088"/>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p>
        </p:txBody>
      </p:sp>
      <p:sp>
        <p:nvSpPr>
          <p:cNvPr id="16" name="Text 13"/>
          <p:cNvSpPr/>
          <p:nvPr/>
        </p:nvSpPr>
        <p:spPr>
          <a:xfrm>
            <a:off x="2212848" y="1847088"/>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7" name="Text 14"/>
          <p:cNvSpPr/>
          <p:nvPr/>
        </p:nvSpPr>
        <p:spPr>
          <a:xfrm>
            <a:off x="2852928" y="1847088"/>
            <a:ext cx="640080" cy="384048"/>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18" name="Text 15"/>
          <p:cNvSpPr/>
          <p:nvPr/>
        </p:nvSpPr>
        <p:spPr>
          <a:xfrm>
            <a:off x="932688" y="2231136"/>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19" name="Text 16"/>
          <p:cNvSpPr/>
          <p:nvPr/>
        </p:nvSpPr>
        <p:spPr>
          <a:xfrm>
            <a:off x="1572768" y="2231136"/>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20" name="Text 17"/>
          <p:cNvSpPr/>
          <p:nvPr/>
        </p:nvSpPr>
        <p:spPr>
          <a:xfrm>
            <a:off x="2212848" y="2231136"/>
            <a:ext cx="64008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21" name="Text 18"/>
          <p:cNvSpPr/>
          <p:nvPr/>
        </p:nvSpPr>
        <p:spPr>
          <a:xfrm>
            <a:off x="2852928" y="2231136"/>
            <a:ext cx="640080" cy="384048"/>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15</a:t>
            </a:r>
            <a:endParaRPr lang="en-US" sz="1500" dirty="0"/>
          </a:p>
        </p:txBody>
      </p:sp>
      <p:sp>
        <p:nvSpPr>
          <p:cNvPr id="22" name="Text 19"/>
          <p:cNvSpPr/>
          <p:nvPr/>
        </p:nvSpPr>
        <p:spPr>
          <a:xfrm>
            <a:off x="932688" y="2615184"/>
            <a:ext cx="640080" cy="384048"/>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23" name="Text 20"/>
          <p:cNvSpPr/>
          <p:nvPr/>
        </p:nvSpPr>
        <p:spPr>
          <a:xfrm>
            <a:off x="1572768" y="2615184"/>
            <a:ext cx="640080" cy="384048"/>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12</a:t>
            </a:r>
            <a:endParaRPr lang="en-US" sz="1500" dirty="0"/>
          </a:p>
        </p:txBody>
      </p:sp>
      <p:sp>
        <p:nvSpPr>
          <p:cNvPr id="24" name="Text 21"/>
          <p:cNvSpPr/>
          <p:nvPr/>
        </p:nvSpPr>
        <p:spPr>
          <a:xfrm>
            <a:off x="2212848" y="2615184"/>
            <a:ext cx="640080" cy="384048"/>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a:t>
            </a:r>
            <a:endParaRPr lang="en-US" sz="1500" dirty="0"/>
          </a:p>
        </p:txBody>
      </p:sp>
      <p:sp>
        <p:nvSpPr>
          <p:cNvPr id="25" name="Text 22"/>
          <p:cNvSpPr/>
          <p:nvPr/>
        </p:nvSpPr>
        <p:spPr>
          <a:xfrm>
            <a:off x="2852928" y="2615184"/>
            <a:ext cx="640080" cy="384048"/>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27</a:t>
            </a:r>
            <a:endParaRPr lang="en-US" sz="1500" dirty="0"/>
          </a:p>
        </p:txBody>
      </p:sp>
      <p:sp>
        <p:nvSpPr>
          <p:cNvPr id="26" name="Text 23"/>
          <p:cNvSpPr txBox="1"/>
          <p:nvPr/>
        </p:nvSpPr>
        <p:spPr>
          <a:xfrm>
            <a:off x="3749040" y="1737360"/>
            <a:ext cx="7863840" cy="1280160"/>
          </a:xfrm>
          <a:prstGeom prst="rect">
            <a:avLst/>
          </a:prstGeom>
          <a:noFill/>
          <a:ln/>
        </p:spPr>
        <p:txBody>
          <a:bodyPr wrap="square" lIns="0" tIns="0" rIns="0" bIns="0" rtlCol="0" anchor="t"/>
          <a:lstStyle/>
          <a:p>
            <a:pPr indent="0" marL="0">
              <a:spcAft>
                <a:spcPts val="600"/>
              </a:spcAft>
              <a:buNone/>
            </a:pPr>
            <a:r>
              <a:rPr lang="en-US" sz="1600" b="1" dirty="0">
                <a:solidFill>
                  <a:srgbClr val="2E9E6A"/>
                </a:solidFill>
                <a:latin typeface="Calibri" pitchFamily="34" charset="0"/>
                <a:ea typeface="Calibri" pitchFamily="34" charset="-122"/>
                <a:cs typeface="Calibri" pitchFamily="34" charset="-120"/>
              </a:rPr>
              <a:t>Row sum   </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R</a:t>
            </a:r>
            <a:pPr indent="0" marL="0">
              <a:spcAft>
                <a:spcPts val="600"/>
              </a:spcAft>
              <a:buNone/>
            </a:pPr>
            <a:r>
              <a:rPr lang="en-US" sz="1600" baseline="-40000" dirty="0">
                <a:solidFill>
                  <a:srgbClr val="333B4F"/>
                </a:solidFill>
                <a:latin typeface="Calibri" pitchFamily="34" charset="0"/>
                <a:ea typeface="Calibri" pitchFamily="34" charset="-122"/>
                <a:cs typeface="Calibri" pitchFamily="34" charset="-120"/>
              </a:rPr>
              <a:t>r</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 = Σ</a:t>
            </a:r>
            <a:pPr indent="0" marL="0">
              <a:spcAft>
                <a:spcPts val="600"/>
              </a:spcAft>
              <a:buNone/>
            </a:pPr>
            <a:r>
              <a:rPr lang="en-US" sz="1600" baseline="-40000" dirty="0">
                <a:solidFill>
                  <a:srgbClr val="333B4F"/>
                </a:solidFill>
                <a:latin typeface="Calibri" pitchFamily="34" charset="0"/>
                <a:ea typeface="Calibri" pitchFamily="34" charset="-122"/>
                <a:cs typeface="Calibri" pitchFamily="34" charset="-120"/>
              </a:rPr>
              <a:t>c</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 a[r, c]</a:t>
            </a:r>
            <a:endParaRPr lang="en-US" sz="1600" dirty="0"/>
          </a:p>
          <a:p>
            <a:pPr indent="0" marL="0">
              <a:spcAft>
                <a:spcPts val="600"/>
              </a:spcAft>
              <a:buNone/>
            </a:pPr>
            <a:r>
              <a:rPr lang="en-US" sz="1600" b="1" dirty="0">
                <a:solidFill>
                  <a:srgbClr val="2F6FB3"/>
                </a:solidFill>
                <a:latin typeface="Calibri" pitchFamily="34" charset="0"/>
                <a:ea typeface="Calibri" pitchFamily="34" charset="-122"/>
                <a:cs typeface="Calibri" pitchFamily="34" charset="-120"/>
              </a:rPr>
              <a:t>Column sum   </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K</a:t>
            </a:r>
            <a:pPr indent="0" marL="0">
              <a:spcAft>
                <a:spcPts val="600"/>
              </a:spcAft>
              <a:buNone/>
            </a:pPr>
            <a:r>
              <a:rPr lang="en-US" sz="1600" baseline="-40000" dirty="0">
                <a:solidFill>
                  <a:srgbClr val="333B4F"/>
                </a:solidFill>
                <a:latin typeface="Calibri" pitchFamily="34" charset="0"/>
                <a:ea typeface="Calibri" pitchFamily="34" charset="-122"/>
                <a:cs typeface="Calibri" pitchFamily="34" charset="-120"/>
              </a:rPr>
              <a:t>c</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 = Σ</a:t>
            </a:r>
            <a:pPr indent="0" marL="0">
              <a:spcAft>
                <a:spcPts val="600"/>
              </a:spcAft>
              <a:buNone/>
            </a:pPr>
            <a:r>
              <a:rPr lang="en-US" sz="1600" baseline="-40000" dirty="0">
                <a:solidFill>
                  <a:srgbClr val="333B4F"/>
                </a:solidFill>
                <a:latin typeface="Calibri" pitchFamily="34" charset="0"/>
                <a:ea typeface="Calibri" pitchFamily="34" charset="-122"/>
                <a:cs typeface="Calibri" pitchFamily="34" charset="-120"/>
              </a:rPr>
              <a:t>r</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 a[r, c]</a:t>
            </a:r>
            <a:endParaRPr lang="en-US" sz="1600" dirty="0"/>
          </a:p>
          <a:p>
            <a:pPr indent="0" marL="0">
              <a:spcAft>
                <a:spcPts val="600"/>
              </a:spcAft>
              <a:buNone/>
            </a:pPr>
            <a:r>
              <a:rPr lang="en-US" sz="1600" b="1" dirty="0">
                <a:solidFill>
                  <a:srgbClr val="B7791F"/>
                </a:solidFill>
                <a:latin typeface="Calibri" pitchFamily="34" charset="0"/>
                <a:ea typeface="Calibri" pitchFamily="34" charset="-122"/>
                <a:cs typeface="Calibri" pitchFamily="34" charset="-120"/>
              </a:rPr>
              <a:t>Total   </a:t>
            </a:r>
            <a:pPr indent="0" marL="0">
              <a:spcAft>
                <a:spcPts val="600"/>
              </a:spcAft>
              <a:buNone/>
            </a:pPr>
            <a:r>
              <a:rPr lang="en-US" sz="1600" dirty="0">
                <a:solidFill>
                  <a:srgbClr val="333B4F"/>
                </a:solidFill>
                <a:latin typeface="Calibri" pitchFamily="34" charset="0"/>
                <a:ea typeface="Calibri" pitchFamily="34" charset="-122"/>
                <a:cs typeface="Calibri" pitchFamily="34" charset="-120"/>
              </a:rPr>
              <a:t>ΣR = 12 + 15 = 27 = 6 + 12 + 9 = ΣK</a:t>
            </a:r>
            <a:endParaRPr lang="en-US" sz="1600" dirty="0"/>
          </a:p>
        </p:txBody>
      </p:sp>
      <p:sp>
        <p:nvSpPr>
          <p:cNvPr id="27" name="Shape 24"/>
          <p:cNvSpPr/>
          <p:nvPr/>
        </p:nvSpPr>
        <p:spPr>
          <a:xfrm>
            <a:off x="548640" y="3127248"/>
            <a:ext cx="5440680" cy="2971800"/>
          </a:xfrm>
          <a:prstGeom prst="roundRect">
            <a:avLst>
              <a:gd name="adj" fmla="val 3077"/>
            </a:avLst>
          </a:prstGeom>
          <a:solidFill>
            <a:srgbClr val="0F1729"/>
          </a:solidFill>
          <a:ln w="12700">
            <a:solidFill>
              <a:srgbClr val="0F1729"/>
            </a:solidFill>
            <a:prstDash val="solid"/>
          </a:ln>
        </p:spPr>
      </p:sp>
      <p:sp>
        <p:nvSpPr>
          <p:cNvPr id="28" name="Text 25"/>
          <p:cNvSpPr txBox="1"/>
          <p:nvPr/>
        </p:nvSpPr>
        <p:spPr>
          <a:xfrm>
            <a:off x="777240" y="3236976"/>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row sums: outer loop = rows</a:t>
            </a:r>
            <a:endParaRPr lang="en-US" sz="1100" dirty="0"/>
          </a:p>
        </p:txBody>
      </p:sp>
      <p:sp>
        <p:nvSpPr>
          <p:cNvPr id="29" name="Text 26"/>
          <p:cNvSpPr txBox="1"/>
          <p:nvPr/>
        </p:nvSpPr>
        <p:spPr>
          <a:xfrm>
            <a:off x="777240" y="3538728"/>
            <a:ext cx="4983480" cy="24505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cols;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$"{a[r, c],5}"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rowSum += a[r,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 {rowSum,4}"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rowSum;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0" name="Shape 27"/>
          <p:cNvSpPr/>
          <p:nvPr/>
        </p:nvSpPr>
        <p:spPr>
          <a:xfrm>
            <a:off x="6217920" y="3127248"/>
            <a:ext cx="5440680" cy="2971800"/>
          </a:xfrm>
          <a:prstGeom prst="roundRect">
            <a:avLst>
              <a:gd name="adj" fmla="val 3077"/>
            </a:avLst>
          </a:prstGeom>
          <a:solidFill>
            <a:srgbClr val="0F1729"/>
          </a:solidFill>
          <a:ln w="12700">
            <a:solidFill>
              <a:srgbClr val="0F1729"/>
            </a:solidFill>
            <a:prstDash val="solid"/>
          </a:ln>
        </p:spPr>
      </p:sp>
      <p:sp>
        <p:nvSpPr>
          <p:cNvPr id="31" name="Text 28"/>
          <p:cNvSpPr txBox="1"/>
          <p:nvPr/>
        </p:nvSpPr>
        <p:spPr>
          <a:xfrm>
            <a:off x="6446520" y="3236976"/>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column sums: outer loop = columns</a:t>
            </a:r>
            <a:endParaRPr lang="en-US" sz="1100" dirty="0"/>
          </a:p>
        </p:txBody>
      </p:sp>
      <p:sp>
        <p:nvSpPr>
          <p:cNvPr id="32" name="Text 29"/>
          <p:cNvSpPr txBox="1"/>
          <p:nvPr/>
        </p:nvSpPr>
        <p:spPr>
          <a:xfrm>
            <a:off x="6446520" y="3538728"/>
            <a:ext cx="4983480" cy="24505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cols;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colSum += a[r,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$"{colSum,5}"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 {total,4}"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11_03_GRADEBOOK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Grade Book: Students × Exams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00200"/>
            <a:ext cx="5989320" cy="2468880"/>
          </a:xfrm>
          <a:prstGeom prst="roundRect">
            <a:avLst>
              <a:gd name="adj" fmla="val 3704"/>
            </a:avLst>
          </a:prstGeom>
          <a:solidFill>
            <a:srgbClr val="0F1729"/>
          </a:solidFill>
          <a:ln w="12700">
            <a:solidFill>
              <a:srgbClr val="0F1729"/>
            </a:solidFill>
            <a:prstDash val="solid"/>
          </a:ln>
        </p:spPr>
      </p:sp>
      <p:sp>
        <p:nvSpPr>
          <p:cNvPr id="8" name="Text 5"/>
          <p:cNvSpPr txBox="1"/>
          <p:nvPr/>
        </p:nvSpPr>
        <p:spPr>
          <a:xfrm>
            <a:off x="777240" y="1764792"/>
            <a:ext cx="5532120" cy="219456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students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"Elif"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"Mehmet"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"Zeynep"</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"Can"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exams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"Quiz"</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"Midterm"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"Final"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nStudents = grades.GetLength(</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nExams = grades.GetLength(</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548640" y="4206240"/>
            <a:ext cx="5989320" cy="1892808"/>
          </a:xfrm>
          <a:prstGeom prst="roundRect">
            <a:avLst>
              <a:gd name="adj" fmla="val 4831"/>
            </a:avLst>
          </a:prstGeom>
          <a:solidFill>
            <a:srgbClr val="0B0F19"/>
          </a:solidFill>
          <a:ln w="12700">
            <a:solidFill>
              <a:srgbClr val="2A3654"/>
            </a:solidFill>
            <a:prstDash val="solid"/>
          </a:ln>
        </p:spPr>
      </p:sp>
      <p:sp>
        <p:nvSpPr>
          <p:cNvPr id="10" name="Shape 7"/>
          <p:cNvSpPr/>
          <p:nvPr/>
        </p:nvSpPr>
        <p:spPr>
          <a:xfrm>
            <a:off x="731520" y="4334256"/>
            <a:ext cx="118872" cy="118872"/>
          </a:xfrm>
          <a:prstGeom prst="ellipse">
            <a:avLst/>
          </a:prstGeom>
          <a:solidFill>
            <a:srgbClr val="FF5F57"/>
          </a:solidFill>
          <a:ln w="12700">
            <a:solidFill>
              <a:srgbClr val="FF5F57"/>
            </a:solidFill>
            <a:prstDash val="solid"/>
          </a:ln>
        </p:spPr>
      </p:sp>
      <p:sp>
        <p:nvSpPr>
          <p:cNvPr id="11" name="Shape 8"/>
          <p:cNvSpPr/>
          <p:nvPr/>
        </p:nvSpPr>
        <p:spPr>
          <a:xfrm>
            <a:off x="960120" y="4334256"/>
            <a:ext cx="118872" cy="118872"/>
          </a:xfrm>
          <a:prstGeom prst="ellipse">
            <a:avLst/>
          </a:prstGeom>
          <a:solidFill>
            <a:srgbClr val="FEBC2E"/>
          </a:solidFill>
          <a:ln w="12700">
            <a:solidFill>
              <a:srgbClr val="FEBC2E"/>
            </a:solidFill>
            <a:prstDash val="solid"/>
          </a:ln>
        </p:spPr>
      </p:sp>
      <p:sp>
        <p:nvSpPr>
          <p:cNvPr id="12" name="Shape 9"/>
          <p:cNvSpPr/>
          <p:nvPr/>
        </p:nvSpPr>
        <p:spPr>
          <a:xfrm>
            <a:off x="1188720" y="433425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1463040" y="4279392"/>
            <a:ext cx="48920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code/11_03_GradeBook</a:t>
            </a:r>
            <a:endParaRPr lang="en-US" sz="1000" dirty="0"/>
          </a:p>
        </p:txBody>
      </p:sp>
      <p:sp>
        <p:nvSpPr>
          <p:cNvPr id="14" name="Text 11"/>
          <p:cNvSpPr txBox="1"/>
          <p:nvPr/>
        </p:nvSpPr>
        <p:spPr>
          <a:xfrm>
            <a:off x="777240" y="4590288"/>
            <a:ext cx="5532120" cy="1389888"/>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Student      Quiz  Midterm    Final  Average  Best</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Elif           70       65       80    71.67    80</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Mehmet         45       55       60    53.33    60</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Zeynep         90       85       95    90.00    95</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Can            60       75       50    61.67    75</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Average     66.25    70.00    71.25</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Top student: Zeynep (90.00)</a:t>
            </a:r>
            <a:endParaRPr lang="en-US" sz="1250" dirty="0"/>
          </a:p>
        </p:txBody>
      </p:sp>
      <p:sp>
        <p:nvSpPr>
          <p:cNvPr id="15" name="Text 12"/>
          <p:cNvSpPr txBox="1"/>
          <p:nvPr/>
        </p:nvSpPr>
        <p:spPr>
          <a:xfrm>
            <a:off x="7242048" y="1600200"/>
            <a:ext cx="7772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16" name="Text 13"/>
          <p:cNvSpPr txBox="1"/>
          <p:nvPr/>
        </p:nvSpPr>
        <p:spPr>
          <a:xfrm>
            <a:off x="8019288" y="1600200"/>
            <a:ext cx="7772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7" name="Text 14"/>
          <p:cNvSpPr txBox="1"/>
          <p:nvPr/>
        </p:nvSpPr>
        <p:spPr>
          <a:xfrm>
            <a:off x="8796528" y="1600200"/>
            <a:ext cx="7772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8" name="Text 15"/>
          <p:cNvSpPr txBox="1"/>
          <p:nvPr/>
        </p:nvSpPr>
        <p:spPr>
          <a:xfrm>
            <a:off x="6858000" y="1892808"/>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9" name="Text 16"/>
          <p:cNvSpPr txBox="1"/>
          <p:nvPr/>
        </p:nvSpPr>
        <p:spPr>
          <a:xfrm>
            <a:off x="6858000" y="2331720"/>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20" name="Text 17"/>
          <p:cNvSpPr txBox="1"/>
          <p:nvPr/>
        </p:nvSpPr>
        <p:spPr>
          <a:xfrm>
            <a:off x="6858000" y="2770632"/>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21" name="Text 18"/>
          <p:cNvSpPr txBox="1"/>
          <p:nvPr/>
        </p:nvSpPr>
        <p:spPr>
          <a:xfrm>
            <a:off x="6858000" y="3209544"/>
            <a:ext cx="310896" cy="438912"/>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22" name="Text 19"/>
          <p:cNvSpPr/>
          <p:nvPr/>
        </p:nvSpPr>
        <p:spPr>
          <a:xfrm>
            <a:off x="7242048" y="1892808"/>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70</a:t>
            </a:r>
            <a:endParaRPr lang="en-US" sz="1500" dirty="0"/>
          </a:p>
        </p:txBody>
      </p:sp>
      <p:sp>
        <p:nvSpPr>
          <p:cNvPr id="23" name="Text 20"/>
          <p:cNvSpPr/>
          <p:nvPr/>
        </p:nvSpPr>
        <p:spPr>
          <a:xfrm>
            <a:off x="8019288" y="1892808"/>
            <a:ext cx="777240" cy="438912"/>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65</a:t>
            </a:r>
            <a:endParaRPr lang="en-US" sz="1500" dirty="0"/>
          </a:p>
        </p:txBody>
      </p:sp>
      <p:sp>
        <p:nvSpPr>
          <p:cNvPr id="24" name="Text 21"/>
          <p:cNvSpPr/>
          <p:nvPr/>
        </p:nvSpPr>
        <p:spPr>
          <a:xfrm>
            <a:off x="8796528" y="1892808"/>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80</a:t>
            </a:r>
            <a:endParaRPr lang="en-US" sz="1500" dirty="0"/>
          </a:p>
        </p:txBody>
      </p:sp>
      <p:sp>
        <p:nvSpPr>
          <p:cNvPr id="25" name="Text 22"/>
          <p:cNvSpPr/>
          <p:nvPr/>
        </p:nvSpPr>
        <p:spPr>
          <a:xfrm>
            <a:off x="7242048" y="2331720"/>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45</a:t>
            </a:r>
            <a:endParaRPr lang="en-US" sz="1500" dirty="0"/>
          </a:p>
        </p:txBody>
      </p:sp>
      <p:sp>
        <p:nvSpPr>
          <p:cNvPr id="26" name="Text 23"/>
          <p:cNvSpPr/>
          <p:nvPr/>
        </p:nvSpPr>
        <p:spPr>
          <a:xfrm>
            <a:off x="8019288" y="2331720"/>
            <a:ext cx="777240" cy="438912"/>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55</a:t>
            </a:r>
            <a:endParaRPr lang="en-US" sz="1500" dirty="0"/>
          </a:p>
        </p:txBody>
      </p:sp>
      <p:sp>
        <p:nvSpPr>
          <p:cNvPr id="27" name="Text 24"/>
          <p:cNvSpPr/>
          <p:nvPr/>
        </p:nvSpPr>
        <p:spPr>
          <a:xfrm>
            <a:off x="8796528" y="2331720"/>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60</a:t>
            </a:r>
            <a:endParaRPr lang="en-US" sz="1500" dirty="0"/>
          </a:p>
        </p:txBody>
      </p:sp>
      <p:sp>
        <p:nvSpPr>
          <p:cNvPr id="28" name="Text 25"/>
          <p:cNvSpPr/>
          <p:nvPr/>
        </p:nvSpPr>
        <p:spPr>
          <a:xfrm>
            <a:off x="7242048" y="2770632"/>
            <a:ext cx="777240" cy="438912"/>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90</a:t>
            </a:r>
            <a:endParaRPr lang="en-US" sz="1500" dirty="0"/>
          </a:p>
        </p:txBody>
      </p:sp>
      <p:sp>
        <p:nvSpPr>
          <p:cNvPr id="29" name="Text 26"/>
          <p:cNvSpPr/>
          <p:nvPr/>
        </p:nvSpPr>
        <p:spPr>
          <a:xfrm>
            <a:off x="8019288" y="2770632"/>
            <a:ext cx="777240" cy="438912"/>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85</a:t>
            </a:r>
            <a:endParaRPr lang="en-US" sz="1500" dirty="0"/>
          </a:p>
        </p:txBody>
      </p:sp>
      <p:sp>
        <p:nvSpPr>
          <p:cNvPr id="30" name="Text 27"/>
          <p:cNvSpPr/>
          <p:nvPr/>
        </p:nvSpPr>
        <p:spPr>
          <a:xfrm>
            <a:off x="8796528" y="2770632"/>
            <a:ext cx="777240" cy="438912"/>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95</a:t>
            </a:r>
            <a:endParaRPr lang="en-US" sz="1500" dirty="0"/>
          </a:p>
        </p:txBody>
      </p:sp>
      <p:sp>
        <p:nvSpPr>
          <p:cNvPr id="31" name="Text 28"/>
          <p:cNvSpPr/>
          <p:nvPr/>
        </p:nvSpPr>
        <p:spPr>
          <a:xfrm>
            <a:off x="7242048" y="3209544"/>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60</a:t>
            </a:r>
            <a:endParaRPr lang="en-US" sz="1500" dirty="0"/>
          </a:p>
        </p:txBody>
      </p:sp>
      <p:sp>
        <p:nvSpPr>
          <p:cNvPr id="32" name="Text 29"/>
          <p:cNvSpPr/>
          <p:nvPr/>
        </p:nvSpPr>
        <p:spPr>
          <a:xfrm>
            <a:off x="8019288" y="3209544"/>
            <a:ext cx="777240" cy="438912"/>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75</a:t>
            </a:r>
            <a:endParaRPr lang="en-US" sz="1500" dirty="0"/>
          </a:p>
        </p:txBody>
      </p:sp>
      <p:sp>
        <p:nvSpPr>
          <p:cNvPr id="33" name="Text 30"/>
          <p:cNvSpPr/>
          <p:nvPr/>
        </p:nvSpPr>
        <p:spPr>
          <a:xfrm>
            <a:off x="8796528" y="3209544"/>
            <a:ext cx="777240" cy="438912"/>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50</a:t>
            </a:r>
            <a:endParaRPr lang="en-US" sz="1500" dirty="0"/>
          </a:p>
        </p:txBody>
      </p:sp>
      <p:sp>
        <p:nvSpPr>
          <p:cNvPr id="34" name="Text 31"/>
          <p:cNvSpPr txBox="1"/>
          <p:nvPr/>
        </p:nvSpPr>
        <p:spPr>
          <a:xfrm>
            <a:off x="9646920" y="1892808"/>
            <a:ext cx="1463040" cy="1755648"/>
          </a:xfrm>
          <a:prstGeom prst="rect">
            <a:avLst/>
          </a:prstGeom>
          <a:noFill/>
          <a:ln/>
        </p:spPr>
        <p:txBody>
          <a:bodyPr wrap="square" lIns="0" tIns="0" rIns="0" bIns="0" rtlCol="0" anchor="t"/>
          <a:lstStyle/>
          <a:p>
            <a:pPr indent="0" marL="0">
              <a:lnSpc>
                <a:spcPts val="3450"/>
              </a:lnSpc>
              <a:buNone/>
            </a:pPr>
            <a:r>
              <a:rPr lang="en-US" sz="1400" dirty="0">
                <a:solidFill>
                  <a:srgbClr val="5B6478"/>
                </a:solidFill>
                <a:latin typeface="Calibri" pitchFamily="34" charset="0"/>
                <a:ea typeface="Calibri" pitchFamily="34" charset="-122"/>
                <a:cs typeface="Calibri" pitchFamily="34" charset="-120"/>
              </a:rPr>
              <a:t>Elif</a:t>
            </a:r>
            <a:endParaRPr lang="en-US" sz="1400" dirty="0"/>
          </a:p>
          <a:p>
            <a:pPr indent="0" marL="0">
              <a:lnSpc>
                <a:spcPts val="3450"/>
              </a:lnSpc>
              <a:buNone/>
            </a:pPr>
            <a:r>
              <a:rPr lang="en-US" sz="1400" dirty="0">
                <a:solidFill>
                  <a:srgbClr val="5B6478"/>
                </a:solidFill>
                <a:latin typeface="Calibri" pitchFamily="34" charset="0"/>
                <a:ea typeface="Calibri" pitchFamily="34" charset="-122"/>
                <a:cs typeface="Calibri" pitchFamily="34" charset="-120"/>
              </a:rPr>
              <a:t>Mehmet</a:t>
            </a:r>
            <a:endParaRPr lang="en-US" sz="1400" dirty="0"/>
          </a:p>
          <a:p>
            <a:pPr indent="0" marL="0">
              <a:lnSpc>
                <a:spcPts val="3450"/>
              </a:lnSpc>
              <a:buNone/>
            </a:pPr>
            <a:r>
              <a:rPr lang="en-US" sz="1400" dirty="0">
                <a:solidFill>
                  <a:srgbClr val="5B6478"/>
                </a:solidFill>
                <a:latin typeface="Calibri" pitchFamily="34" charset="0"/>
                <a:ea typeface="Calibri" pitchFamily="34" charset="-122"/>
                <a:cs typeface="Calibri" pitchFamily="34" charset="-120"/>
              </a:rPr>
              <a:t>Zeynep</a:t>
            </a:r>
            <a:endParaRPr lang="en-US" sz="1400" dirty="0"/>
          </a:p>
          <a:p>
            <a:pPr indent="0" marL="0">
              <a:lnSpc>
                <a:spcPts val="3450"/>
              </a:lnSpc>
              <a:buNone/>
            </a:pPr>
            <a:r>
              <a:rPr lang="en-US" sz="1400" dirty="0">
                <a:solidFill>
                  <a:srgbClr val="5B6478"/>
                </a:solidFill>
                <a:latin typeface="Calibri" pitchFamily="34" charset="0"/>
                <a:ea typeface="Calibri" pitchFamily="34" charset="-122"/>
                <a:cs typeface="Calibri" pitchFamily="34" charset="-120"/>
              </a:rPr>
              <a:t>Can</a:t>
            </a:r>
            <a:endParaRPr lang="en-US" sz="1400" dirty="0"/>
          </a:p>
        </p:txBody>
      </p:sp>
      <p:sp>
        <p:nvSpPr>
          <p:cNvPr id="35" name="Text 32"/>
          <p:cNvSpPr txBox="1"/>
          <p:nvPr/>
        </p:nvSpPr>
        <p:spPr>
          <a:xfrm>
            <a:off x="7242048" y="3703320"/>
            <a:ext cx="2377440" cy="274320"/>
          </a:xfrm>
          <a:prstGeom prst="rect">
            <a:avLst/>
          </a:prstGeom>
          <a:noFill/>
          <a:ln/>
        </p:spPr>
        <p:txBody>
          <a:bodyPr wrap="square" lIns="0" tIns="0" rIns="0" bIns="0" rtlCol="0" anchor="ctr"/>
          <a:lstStyle/>
          <a:p>
            <a:pPr indent="0" marL="0">
              <a:buNone/>
            </a:pPr>
            <a:r>
              <a:rPr lang="en-US" sz="1200" b="1" dirty="0">
                <a:solidFill>
                  <a:srgbClr val="B7791F"/>
                </a:solidFill>
                <a:latin typeface="Calibri" pitchFamily="34" charset="0"/>
                <a:ea typeface="Calibri" pitchFamily="34" charset="-122"/>
                <a:cs typeface="Calibri" pitchFamily="34" charset="-120"/>
              </a:rPr>
              <a:t>Quiz   Mid   Final</a:t>
            </a:r>
            <a:endParaRPr lang="en-US" sz="1200" dirty="0"/>
          </a:p>
        </p:txBody>
      </p:sp>
      <p:sp>
        <p:nvSpPr>
          <p:cNvPr id="36" name="Text 33"/>
          <p:cNvSpPr txBox="1"/>
          <p:nvPr/>
        </p:nvSpPr>
        <p:spPr>
          <a:xfrm>
            <a:off x="6858000" y="4114800"/>
            <a:ext cx="4800600" cy="2011680"/>
          </a:xfrm>
          <a:prstGeom prst="rect">
            <a:avLst/>
          </a:prstGeom>
          <a:noFill/>
          <a:ln/>
        </p:spPr>
        <p:txBody>
          <a:bodyPr wrap="square" lIns="0" tIns="0" rIns="0" bIns="0" rtlCol="0" anchor="t"/>
          <a:lstStyle/>
          <a:p>
            <a:pPr indent="0" marL="0">
              <a:spcAft>
                <a:spcPts val="600"/>
              </a:spcAft>
              <a:buNone/>
            </a:pPr>
            <a:r>
              <a:rPr lang="en-US" sz="1400" b="1" dirty="0">
                <a:solidFill>
                  <a:srgbClr val="2E9E6A"/>
                </a:solidFill>
                <a:latin typeface="Calibri" pitchFamily="34" charset="0"/>
                <a:ea typeface="Calibri" pitchFamily="34" charset="-122"/>
                <a:cs typeface="Calibri" pitchFamily="34" charset="-120"/>
              </a:rPr>
              <a:t>a row </a:t>
            </a:r>
            <a:pPr indent="0" marL="0">
              <a:spcAft>
                <a:spcPts val="600"/>
              </a:spcAft>
              <a:buNone/>
            </a:pPr>
            <a:r>
              <a:rPr lang="en-US" sz="1400" dirty="0">
                <a:solidFill>
                  <a:srgbClr val="333B4F"/>
                </a:solidFill>
                <a:latin typeface="Calibri" pitchFamily="34" charset="0"/>
                <a:ea typeface="Calibri" pitchFamily="34" charset="-122"/>
                <a:cs typeface="Calibri" pitchFamily="34" charset="-120"/>
              </a:rPr>
              <a:t>(green) = one student: average and best grade</a:t>
            </a:r>
            <a:endParaRPr lang="en-US" sz="1400" dirty="0"/>
          </a:p>
          <a:p>
            <a:pPr indent="0" marL="0">
              <a:spcAft>
                <a:spcPts val="600"/>
              </a:spcAft>
              <a:buNone/>
            </a:pPr>
            <a:r>
              <a:rPr lang="en-US" sz="1400" b="1" dirty="0">
                <a:solidFill>
                  <a:srgbClr val="2F6FB3"/>
                </a:solidFill>
                <a:latin typeface="Calibri" pitchFamily="34" charset="0"/>
                <a:ea typeface="Calibri" pitchFamily="34" charset="-122"/>
                <a:cs typeface="Calibri" pitchFamily="34" charset="-120"/>
              </a:rPr>
              <a:t>a column </a:t>
            </a:r>
            <a:pPr indent="0" marL="0">
              <a:spcAft>
                <a:spcPts val="600"/>
              </a:spcAft>
              <a:buNone/>
            </a:pPr>
            <a:r>
              <a:rPr lang="en-US" sz="1400" dirty="0">
                <a:solidFill>
                  <a:srgbClr val="333B4F"/>
                </a:solidFill>
                <a:latin typeface="Calibri" pitchFamily="34" charset="0"/>
                <a:ea typeface="Calibri" pitchFamily="34" charset="-122"/>
                <a:cs typeface="Calibri" pitchFamily="34" charset="-120"/>
              </a:rPr>
              <a:t>(blue) = one exam: exam average</a:t>
            </a:r>
            <a:endParaRPr lang="en-US" sz="1400" dirty="0"/>
          </a:p>
          <a:p>
            <a:pPr indent="0" marL="0">
              <a:spcAft>
                <a:spcPts val="600"/>
              </a:spcAft>
              <a:buNone/>
            </a:pPr>
            <a:r>
              <a:rPr lang="en-US" sz="1400" dirty="0">
                <a:solidFill>
                  <a:srgbClr val="333B4F"/>
                </a:solidFill>
                <a:latin typeface="Calibri" pitchFamily="34" charset="0"/>
                <a:ea typeface="Calibri" pitchFamily="34" charset="-122"/>
                <a:cs typeface="Calibri" pitchFamily="34" charset="-120"/>
              </a:rPr>
              <a:t>grades[2, 1] = 85: Zeynep’s midterm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THE ROW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Average and Best Grade of Every Row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00200"/>
            <a:ext cx="6035040" cy="4498848"/>
          </a:xfrm>
          <a:prstGeom prst="roundRect">
            <a:avLst>
              <a:gd name="adj" fmla="val 2033"/>
            </a:avLst>
          </a:prstGeom>
          <a:solidFill>
            <a:srgbClr val="0F1729"/>
          </a:solidFill>
          <a:ln w="12700">
            <a:solidFill>
              <a:srgbClr val="0F1729"/>
            </a:solidFill>
            <a:prstDash val="solid"/>
          </a:ln>
        </p:spPr>
      </p:sp>
      <p:sp>
        <p:nvSpPr>
          <p:cNvPr id="8" name="Text 5"/>
          <p:cNvSpPr txBox="1"/>
          <p:nvPr/>
        </p:nvSpPr>
        <p:spPr>
          <a:xfrm>
            <a:off x="777240" y="1764792"/>
            <a:ext cx="5577840" cy="422452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nStudents;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rowMax = grades[r,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$"{students[r],-8}"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nExams;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$"{grades[r, c],9:F0}"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rowSum += grades[r,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(grades[r, c] &gt; rowMax)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rowMax = grades[r,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 rowSum / nExams;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$"{average,9:F2}{rowMax,6:F0}"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&gt; topAverage)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topAverage = average;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topStudent =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6812280" y="1600200"/>
            <a:ext cx="4846320" cy="1078992"/>
          </a:xfrm>
          <a:prstGeom prst="roundRect">
            <a:avLst>
              <a:gd name="adj" fmla="val 10169"/>
            </a:avLst>
          </a:prstGeom>
          <a:solidFill>
            <a:srgbClr val="EEF1F6"/>
          </a:solidFill>
          <a:ln w="12700">
            <a:solidFill>
              <a:srgbClr val="EEF1F6"/>
            </a:solidFill>
            <a:prstDash val="solid"/>
          </a:ln>
        </p:spPr>
      </p:sp>
      <p:sp>
        <p:nvSpPr>
          <p:cNvPr id="10" name="Shape 7"/>
          <p:cNvSpPr/>
          <p:nvPr/>
        </p:nvSpPr>
        <p:spPr>
          <a:xfrm>
            <a:off x="6812280" y="1737360"/>
            <a:ext cx="73152" cy="804672"/>
          </a:xfrm>
          <a:prstGeom prst="rect">
            <a:avLst/>
          </a:prstGeom>
          <a:solidFill>
            <a:srgbClr val="2E9E6A"/>
          </a:solidFill>
          <a:ln w="12700">
            <a:solidFill>
              <a:srgbClr val="2E9E6A"/>
            </a:solidFill>
            <a:prstDash val="solid"/>
          </a:ln>
        </p:spPr>
      </p:sp>
      <p:sp>
        <p:nvSpPr>
          <p:cNvPr id="11" name="Text 8"/>
          <p:cNvSpPr txBox="1"/>
          <p:nvPr/>
        </p:nvSpPr>
        <p:spPr>
          <a:xfrm>
            <a:off x="7040880" y="1691640"/>
            <a:ext cx="4480560" cy="320040"/>
          </a:xfrm>
          <a:prstGeom prst="rect">
            <a:avLst/>
          </a:prstGeom>
          <a:noFill/>
          <a:ln/>
        </p:spPr>
        <p:txBody>
          <a:bodyPr wrap="square" lIns="0" tIns="0" rIns="0" bIns="0" rtlCol="0" anchor="ctr"/>
          <a:lstStyle/>
          <a:p>
            <a:pPr indent="0" marL="0">
              <a:buNone/>
            </a:pPr>
            <a:r>
              <a:rPr lang="en-US" sz="1500" b="1" dirty="0">
                <a:solidFill>
                  <a:srgbClr val="2E9E6A"/>
                </a:solidFill>
                <a:latin typeface="Cambria" pitchFamily="34" charset="0"/>
                <a:ea typeface="Cambria" pitchFamily="34" charset="-122"/>
                <a:cs typeface="Cambria" pitchFamily="34" charset="-120"/>
              </a:rPr>
              <a:t>Per row (inside the outer loop)</a:t>
            </a:r>
            <a:endParaRPr lang="en-US" sz="1500" dirty="0"/>
          </a:p>
        </p:txBody>
      </p:sp>
      <p:sp>
        <p:nvSpPr>
          <p:cNvPr id="12" name="Text 9"/>
          <p:cNvSpPr txBox="1"/>
          <p:nvPr/>
        </p:nvSpPr>
        <p:spPr>
          <a:xfrm>
            <a:off x="7040880" y="2011680"/>
            <a:ext cx="4480560" cy="621792"/>
          </a:xfrm>
          <a:prstGeom prst="rect">
            <a:avLst/>
          </a:prstGeom>
          <a:noFill/>
          <a:ln/>
        </p:spPr>
        <p:txBody>
          <a:bodyPr wrap="square" lIns="0" tIns="0" rIns="0" bIns="0" rtlCol="0" anchor="t"/>
          <a:lstStyle/>
          <a:p>
            <a:pPr indent="0" marL="0">
              <a:buNone/>
            </a:pPr>
            <a:r>
              <a:rPr lang="en-US" sz="1350" dirty="0">
                <a:solidFill>
                  <a:srgbClr val="333B4F"/>
                </a:solidFill>
                <a:latin typeface="Calibri" pitchFamily="34" charset="0"/>
                <a:ea typeface="Calibri" pitchFamily="34" charset="-122"/>
                <a:cs typeface="Calibri" pitchFamily="34" charset="-120"/>
              </a:rPr>
              <a:t>rowSum ← 0 and rowMax ← grades[r, 0]: a fresh start for every student.</a:t>
            </a:r>
            <a:endParaRPr lang="en-US" sz="1350" dirty="0"/>
          </a:p>
        </p:txBody>
      </p:sp>
      <p:sp>
        <p:nvSpPr>
          <p:cNvPr id="13" name="Shape 10"/>
          <p:cNvSpPr/>
          <p:nvPr/>
        </p:nvSpPr>
        <p:spPr>
          <a:xfrm>
            <a:off x="6812280" y="2807208"/>
            <a:ext cx="4846320" cy="1078992"/>
          </a:xfrm>
          <a:prstGeom prst="roundRect">
            <a:avLst>
              <a:gd name="adj" fmla="val 10169"/>
            </a:avLst>
          </a:prstGeom>
          <a:solidFill>
            <a:srgbClr val="EEF1F6"/>
          </a:solidFill>
          <a:ln w="12700">
            <a:solidFill>
              <a:srgbClr val="EEF1F6"/>
            </a:solidFill>
            <a:prstDash val="solid"/>
          </a:ln>
        </p:spPr>
      </p:sp>
      <p:sp>
        <p:nvSpPr>
          <p:cNvPr id="14" name="Shape 11"/>
          <p:cNvSpPr/>
          <p:nvPr/>
        </p:nvSpPr>
        <p:spPr>
          <a:xfrm>
            <a:off x="6812280" y="2944368"/>
            <a:ext cx="73152" cy="804672"/>
          </a:xfrm>
          <a:prstGeom prst="rect">
            <a:avLst/>
          </a:prstGeom>
          <a:solidFill>
            <a:srgbClr val="2F6FB3"/>
          </a:solidFill>
          <a:ln w="12700">
            <a:solidFill>
              <a:srgbClr val="2F6FB3"/>
            </a:solidFill>
            <a:prstDash val="solid"/>
          </a:ln>
        </p:spPr>
      </p:sp>
      <p:sp>
        <p:nvSpPr>
          <p:cNvPr id="15" name="Text 12"/>
          <p:cNvSpPr txBox="1"/>
          <p:nvPr/>
        </p:nvSpPr>
        <p:spPr>
          <a:xfrm>
            <a:off x="7040880" y="2898648"/>
            <a:ext cx="4480560" cy="320040"/>
          </a:xfrm>
          <a:prstGeom prst="rect">
            <a:avLst/>
          </a:prstGeom>
          <a:noFill/>
          <a:ln/>
        </p:spPr>
        <p:txBody>
          <a:bodyPr wrap="square" lIns="0" tIns="0" rIns="0" bIns="0" rtlCol="0" anchor="ctr"/>
          <a:lstStyle/>
          <a:p>
            <a:pPr indent="0" marL="0">
              <a:buNone/>
            </a:pPr>
            <a:r>
              <a:rPr lang="en-US" sz="1500" b="1" dirty="0">
                <a:solidFill>
                  <a:srgbClr val="2F6FB3"/>
                </a:solidFill>
                <a:latin typeface="Cambria" pitchFamily="34" charset="0"/>
                <a:ea typeface="Cambria" pitchFamily="34" charset="-122"/>
                <a:cs typeface="Cambria" pitchFamily="34" charset="-120"/>
              </a:rPr>
              <a:t>Per element (inner loop)</a:t>
            </a:r>
            <a:endParaRPr lang="en-US" sz="1500" dirty="0"/>
          </a:p>
        </p:txBody>
      </p:sp>
      <p:sp>
        <p:nvSpPr>
          <p:cNvPr id="16" name="Text 13"/>
          <p:cNvSpPr txBox="1"/>
          <p:nvPr/>
        </p:nvSpPr>
        <p:spPr>
          <a:xfrm>
            <a:off x="7040880" y="3218688"/>
            <a:ext cx="4480560" cy="621792"/>
          </a:xfrm>
          <a:prstGeom prst="rect">
            <a:avLst/>
          </a:prstGeom>
          <a:noFill/>
          <a:ln/>
        </p:spPr>
        <p:txBody>
          <a:bodyPr wrap="square" lIns="0" tIns="0" rIns="0" bIns="0" rtlCol="0" anchor="t"/>
          <a:lstStyle/>
          <a:p>
            <a:pPr indent="0" marL="0">
              <a:buNone/>
            </a:pPr>
            <a:r>
              <a:rPr lang="en-US" sz="1350" dirty="0">
                <a:solidFill>
                  <a:srgbClr val="333B4F"/>
                </a:solidFill>
                <a:latin typeface="Calibri" pitchFamily="34" charset="0"/>
                <a:ea typeface="Calibri" pitchFamily="34" charset="-122"/>
                <a:cs typeface="Calibri" pitchFamily="34" charset="-120"/>
              </a:rPr>
              <a:t>print, add to rowSum, compare with rowMax.</a:t>
            </a:r>
            <a:endParaRPr lang="en-US" sz="1350" dirty="0"/>
          </a:p>
        </p:txBody>
      </p:sp>
      <p:sp>
        <p:nvSpPr>
          <p:cNvPr id="17" name="Shape 14"/>
          <p:cNvSpPr/>
          <p:nvPr/>
        </p:nvSpPr>
        <p:spPr>
          <a:xfrm>
            <a:off x="6812280" y="4014216"/>
            <a:ext cx="4846320" cy="1078992"/>
          </a:xfrm>
          <a:prstGeom prst="roundRect">
            <a:avLst>
              <a:gd name="adj" fmla="val 10169"/>
            </a:avLst>
          </a:prstGeom>
          <a:solidFill>
            <a:srgbClr val="EEF1F6"/>
          </a:solidFill>
          <a:ln w="12700">
            <a:solidFill>
              <a:srgbClr val="EEF1F6"/>
            </a:solidFill>
            <a:prstDash val="solid"/>
          </a:ln>
        </p:spPr>
      </p:sp>
      <p:sp>
        <p:nvSpPr>
          <p:cNvPr id="18" name="Shape 15"/>
          <p:cNvSpPr/>
          <p:nvPr/>
        </p:nvSpPr>
        <p:spPr>
          <a:xfrm>
            <a:off x="6812280" y="4151376"/>
            <a:ext cx="73152" cy="804672"/>
          </a:xfrm>
          <a:prstGeom prst="rect">
            <a:avLst/>
          </a:prstGeom>
          <a:solidFill>
            <a:srgbClr val="B7791F"/>
          </a:solidFill>
          <a:ln w="12700">
            <a:solidFill>
              <a:srgbClr val="B7791F"/>
            </a:solidFill>
            <a:prstDash val="solid"/>
          </a:ln>
        </p:spPr>
      </p:sp>
      <p:sp>
        <p:nvSpPr>
          <p:cNvPr id="19" name="Text 16"/>
          <p:cNvSpPr txBox="1"/>
          <p:nvPr/>
        </p:nvSpPr>
        <p:spPr>
          <a:xfrm>
            <a:off x="7040880" y="4105656"/>
            <a:ext cx="4480560" cy="320040"/>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After the row</a:t>
            </a:r>
            <a:endParaRPr lang="en-US" sz="1500" dirty="0"/>
          </a:p>
        </p:txBody>
      </p:sp>
      <p:sp>
        <p:nvSpPr>
          <p:cNvPr id="20" name="Text 17"/>
          <p:cNvSpPr txBox="1"/>
          <p:nvPr/>
        </p:nvSpPr>
        <p:spPr>
          <a:xfrm>
            <a:off x="7040880" y="4425696"/>
            <a:ext cx="4480560" cy="621792"/>
          </a:xfrm>
          <a:prstGeom prst="rect">
            <a:avLst/>
          </a:prstGeom>
          <a:noFill/>
          <a:ln/>
        </p:spPr>
        <p:txBody>
          <a:bodyPr wrap="square" lIns="0" tIns="0" rIns="0" bIns="0" rtlCol="0" anchor="t"/>
          <a:lstStyle/>
          <a:p>
            <a:pPr indent="0" marL="0">
              <a:buNone/>
            </a:pPr>
            <a:r>
              <a:rPr lang="en-US" sz="1350" dirty="0">
                <a:solidFill>
                  <a:srgbClr val="333B4F"/>
                </a:solidFill>
                <a:latin typeface="Calibri" pitchFamily="34" charset="0"/>
                <a:ea typeface="Calibri" pitchFamily="34" charset="-122"/>
                <a:cs typeface="Calibri" pitchFamily="34" charset="-120"/>
              </a:rPr>
              <a:t>average = rowSum / nExams; remember r if it is the best average so far.</a:t>
            </a:r>
            <a:endParaRPr lang="en-US" sz="1350" dirty="0"/>
          </a:p>
        </p:txBody>
      </p:sp>
      <p:sp>
        <p:nvSpPr>
          <p:cNvPr id="21" name="Shape 18"/>
          <p:cNvSpPr/>
          <p:nvPr/>
        </p:nvSpPr>
        <p:spPr>
          <a:xfrm>
            <a:off x="6812280" y="5257800"/>
            <a:ext cx="4846320" cy="841248"/>
          </a:xfrm>
          <a:prstGeom prst="roundRect">
            <a:avLst>
              <a:gd name="adj" fmla="val 13043"/>
            </a:avLst>
          </a:prstGeom>
          <a:solidFill>
            <a:srgbClr val="FBE9E7"/>
          </a:solidFill>
          <a:ln w="12700">
            <a:solidFill>
              <a:srgbClr val="FBE9E7"/>
            </a:solidFill>
            <a:prstDash val="solid"/>
          </a:ln>
        </p:spPr>
      </p:sp>
      <p:pic>
        <p:nvPicPr>
          <p:cNvPr id="22" name="Image 0" descr="preencoded.png">    </p:cNvPr>
          <p:cNvPicPr>
            <a:picLocks noChangeAspect="1"/>
          </p:cNvPicPr>
          <p:nvPr/>
        </p:nvPicPr>
        <p:blipFill>
          <a:blip r:embed="rId1"/>
          <a:stretch>
            <a:fillRect/>
          </a:stretch>
        </p:blipFill>
        <p:spPr>
          <a:xfrm>
            <a:off x="7086600" y="5404104"/>
            <a:ext cx="548640" cy="548640"/>
          </a:xfrm>
          <a:prstGeom prst="rect">
            <a:avLst/>
          </a:prstGeom>
        </p:spPr>
      </p:pic>
      <p:sp>
        <p:nvSpPr>
          <p:cNvPr id="23" name="Text 19"/>
          <p:cNvSpPr txBox="1"/>
          <p:nvPr/>
        </p:nvSpPr>
        <p:spPr>
          <a:xfrm>
            <a:off x="7909560" y="5330952"/>
            <a:ext cx="3474720" cy="69494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Max starts at grades[r, 0], </a:t>
            </a:r>
            <a:pPr indent="0" marL="0">
              <a:buNone/>
            </a:pPr>
            <a:r>
              <a:rPr lang="en-US" sz="1400" dirty="0">
                <a:solidFill>
                  <a:srgbClr val="333B4F"/>
                </a:solidFill>
                <a:latin typeface="Calibri" pitchFamily="34" charset="0"/>
                <a:ea typeface="Calibri" pitchFamily="34" charset="-122"/>
                <a:cs typeface="Calibri" pitchFamily="34" charset="-120"/>
              </a:rPr>
              <a:t>never at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SQUARE MATRICES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Main Diagonal, Anti-Diagonal, Triangles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Text 4"/>
          <p:cNvSpPr txBox="1"/>
          <p:nvPr/>
        </p:nvSpPr>
        <p:spPr>
          <a:xfrm>
            <a:off x="548640" y="1572768"/>
            <a:ext cx="36576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Diagonals (n = 4)</a:t>
            </a:r>
            <a:endParaRPr lang="en-US" sz="1600" dirty="0"/>
          </a:p>
        </p:txBody>
      </p:sp>
      <p:sp>
        <p:nvSpPr>
          <p:cNvPr id="8" name="Text 5"/>
          <p:cNvSpPr txBox="1"/>
          <p:nvPr/>
        </p:nvSpPr>
        <p:spPr>
          <a:xfrm>
            <a:off x="9326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9" name="Text 6"/>
          <p:cNvSpPr txBox="1"/>
          <p:nvPr/>
        </p:nvSpPr>
        <p:spPr>
          <a:xfrm>
            <a:off x="16184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23042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299008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2" name="Text 9"/>
          <p:cNvSpPr txBox="1"/>
          <p:nvPr/>
        </p:nvSpPr>
        <p:spPr>
          <a:xfrm>
            <a:off x="548640" y="221284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3" name="Text 10"/>
          <p:cNvSpPr txBox="1"/>
          <p:nvPr/>
        </p:nvSpPr>
        <p:spPr>
          <a:xfrm>
            <a:off x="548640" y="276148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4" name="Text 11"/>
          <p:cNvSpPr txBox="1"/>
          <p:nvPr/>
        </p:nvSpPr>
        <p:spPr>
          <a:xfrm>
            <a:off x="548640" y="331012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5" name="Text 12"/>
          <p:cNvSpPr txBox="1"/>
          <p:nvPr/>
        </p:nvSpPr>
        <p:spPr>
          <a:xfrm>
            <a:off x="548640" y="385876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16" name="Text 13"/>
          <p:cNvSpPr/>
          <p:nvPr/>
        </p:nvSpPr>
        <p:spPr>
          <a:xfrm>
            <a:off x="932688" y="2212848"/>
            <a:ext cx="685800" cy="54864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17" name="Text 14"/>
          <p:cNvSpPr/>
          <p:nvPr/>
        </p:nvSpPr>
        <p:spPr>
          <a:xfrm>
            <a:off x="1618488" y="221284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18" name="Text 15"/>
          <p:cNvSpPr/>
          <p:nvPr/>
        </p:nvSpPr>
        <p:spPr>
          <a:xfrm>
            <a:off x="2304288" y="221284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19" name="Text 16"/>
          <p:cNvSpPr/>
          <p:nvPr/>
        </p:nvSpPr>
        <p:spPr>
          <a:xfrm>
            <a:off x="2990088" y="2212848"/>
            <a:ext cx="685800" cy="54864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20" name="Text 17"/>
          <p:cNvSpPr/>
          <p:nvPr/>
        </p:nvSpPr>
        <p:spPr>
          <a:xfrm>
            <a:off x="932688" y="276148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21" name="Text 18"/>
          <p:cNvSpPr/>
          <p:nvPr/>
        </p:nvSpPr>
        <p:spPr>
          <a:xfrm>
            <a:off x="1618488" y="2761488"/>
            <a:ext cx="685800" cy="54864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22" name="Text 19"/>
          <p:cNvSpPr/>
          <p:nvPr/>
        </p:nvSpPr>
        <p:spPr>
          <a:xfrm>
            <a:off x="2304288" y="2761488"/>
            <a:ext cx="685800" cy="54864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23" name="Text 20"/>
          <p:cNvSpPr/>
          <p:nvPr/>
        </p:nvSpPr>
        <p:spPr>
          <a:xfrm>
            <a:off x="2990088" y="276148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24" name="Text 21"/>
          <p:cNvSpPr/>
          <p:nvPr/>
        </p:nvSpPr>
        <p:spPr>
          <a:xfrm>
            <a:off x="932688" y="331012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25" name="Text 22"/>
          <p:cNvSpPr/>
          <p:nvPr/>
        </p:nvSpPr>
        <p:spPr>
          <a:xfrm>
            <a:off x="1618488" y="3310128"/>
            <a:ext cx="685800" cy="54864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26" name="Text 23"/>
          <p:cNvSpPr/>
          <p:nvPr/>
        </p:nvSpPr>
        <p:spPr>
          <a:xfrm>
            <a:off x="2304288" y="3310128"/>
            <a:ext cx="685800" cy="54864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a:t>
            </a:r>
            <a:endParaRPr lang="en-US" sz="1700" dirty="0"/>
          </a:p>
        </p:txBody>
      </p:sp>
      <p:sp>
        <p:nvSpPr>
          <p:cNvPr id="27" name="Text 24"/>
          <p:cNvSpPr/>
          <p:nvPr/>
        </p:nvSpPr>
        <p:spPr>
          <a:xfrm>
            <a:off x="2990088" y="331012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6</a:t>
            </a:r>
            <a:endParaRPr lang="en-US" sz="1700" dirty="0"/>
          </a:p>
        </p:txBody>
      </p:sp>
      <p:sp>
        <p:nvSpPr>
          <p:cNvPr id="28" name="Text 25"/>
          <p:cNvSpPr/>
          <p:nvPr/>
        </p:nvSpPr>
        <p:spPr>
          <a:xfrm>
            <a:off x="932688" y="3858768"/>
            <a:ext cx="685800" cy="54864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29" name="Text 26"/>
          <p:cNvSpPr/>
          <p:nvPr/>
        </p:nvSpPr>
        <p:spPr>
          <a:xfrm>
            <a:off x="1618488" y="385876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30" name="Text 27"/>
          <p:cNvSpPr/>
          <p:nvPr/>
        </p:nvSpPr>
        <p:spPr>
          <a:xfrm>
            <a:off x="2304288" y="3858768"/>
            <a:ext cx="685800" cy="54864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700" dirty="0">
                <a:solidFill>
                  <a:srgbClr val="14213D"/>
                </a:solidFill>
                <a:latin typeface="Courier New" pitchFamily="34" charset="0"/>
                <a:ea typeface="Courier New" pitchFamily="34" charset="-122"/>
                <a:cs typeface="Courier New" pitchFamily="34" charset="-120"/>
              </a:rPr>
              <a:t>6</a:t>
            </a:r>
            <a:endParaRPr lang="en-US" sz="1700" dirty="0"/>
          </a:p>
        </p:txBody>
      </p:sp>
      <p:sp>
        <p:nvSpPr>
          <p:cNvPr id="31" name="Text 28"/>
          <p:cNvSpPr/>
          <p:nvPr/>
        </p:nvSpPr>
        <p:spPr>
          <a:xfrm>
            <a:off x="2990088" y="3858768"/>
            <a:ext cx="685800" cy="54864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a:t>
            </a:r>
            <a:endParaRPr lang="en-US" sz="1700" dirty="0"/>
          </a:p>
        </p:txBody>
      </p:sp>
      <p:sp>
        <p:nvSpPr>
          <p:cNvPr id="32" name="Text 29"/>
          <p:cNvSpPr txBox="1"/>
          <p:nvPr/>
        </p:nvSpPr>
        <p:spPr>
          <a:xfrm>
            <a:off x="548640" y="4526280"/>
            <a:ext cx="3657600" cy="685800"/>
          </a:xfrm>
          <a:prstGeom prst="rect">
            <a:avLst/>
          </a:prstGeom>
          <a:noFill/>
          <a:ln/>
        </p:spPr>
        <p:txBody>
          <a:bodyPr wrap="square" lIns="0" tIns="0" rIns="0" bIns="0" rtlCol="0" anchor="ctr"/>
          <a:lstStyle/>
          <a:p>
            <a:pPr indent="0" marL="0">
              <a:buNone/>
            </a:pPr>
            <a:r>
              <a:rPr lang="en-US" sz="1500" b="1" dirty="0">
                <a:solidFill>
                  <a:srgbClr val="B7791F"/>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alibri" pitchFamily="34" charset="0"/>
                <a:ea typeface="Calibri" pitchFamily="34" charset="-122"/>
                <a:cs typeface="Calibri" pitchFamily="34" charset="-120"/>
              </a:rPr>
              <a:t>main: r = c</a:t>
            </a:r>
            <a:endParaRPr lang="en-US" sz="1500" dirty="0"/>
          </a:p>
          <a:p>
            <a:pPr indent="0" marL="0">
              <a:buNone/>
            </a:pPr>
            <a:r>
              <a:rPr lang="en-US" sz="1500" b="1" dirty="0">
                <a:solidFill>
                  <a:srgbClr val="2F6FB3"/>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alibri" pitchFamily="34" charset="0"/>
                <a:ea typeface="Calibri" pitchFamily="34" charset="-122"/>
                <a:cs typeface="Calibri" pitchFamily="34" charset="-120"/>
              </a:rPr>
              <a:t>anti: r + c = n − 1</a:t>
            </a:r>
            <a:endParaRPr lang="en-US" sz="1500" dirty="0"/>
          </a:p>
        </p:txBody>
      </p:sp>
      <p:sp>
        <p:nvSpPr>
          <p:cNvPr id="33" name="Text 30"/>
          <p:cNvSpPr txBox="1"/>
          <p:nvPr/>
        </p:nvSpPr>
        <p:spPr>
          <a:xfrm>
            <a:off x="4069080" y="1572768"/>
            <a:ext cx="36576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Triangles</a:t>
            </a:r>
            <a:endParaRPr lang="en-US" sz="1600" dirty="0"/>
          </a:p>
        </p:txBody>
      </p:sp>
      <p:sp>
        <p:nvSpPr>
          <p:cNvPr id="34" name="Text 31"/>
          <p:cNvSpPr txBox="1"/>
          <p:nvPr/>
        </p:nvSpPr>
        <p:spPr>
          <a:xfrm>
            <a:off x="44531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35" name="Text 32"/>
          <p:cNvSpPr txBox="1"/>
          <p:nvPr/>
        </p:nvSpPr>
        <p:spPr>
          <a:xfrm>
            <a:off x="51389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36" name="Text 33"/>
          <p:cNvSpPr txBox="1"/>
          <p:nvPr/>
        </p:nvSpPr>
        <p:spPr>
          <a:xfrm>
            <a:off x="58247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37" name="Text 34"/>
          <p:cNvSpPr txBox="1"/>
          <p:nvPr/>
        </p:nvSpPr>
        <p:spPr>
          <a:xfrm>
            <a:off x="6510528" y="1920240"/>
            <a:ext cx="6858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38" name="Text 35"/>
          <p:cNvSpPr txBox="1"/>
          <p:nvPr/>
        </p:nvSpPr>
        <p:spPr>
          <a:xfrm>
            <a:off x="4069080" y="221284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39" name="Text 36"/>
          <p:cNvSpPr txBox="1"/>
          <p:nvPr/>
        </p:nvSpPr>
        <p:spPr>
          <a:xfrm>
            <a:off x="4069080" y="276148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40" name="Text 37"/>
          <p:cNvSpPr txBox="1"/>
          <p:nvPr/>
        </p:nvSpPr>
        <p:spPr>
          <a:xfrm>
            <a:off x="4069080" y="331012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41" name="Text 38"/>
          <p:cNvSpPr txBox="1"/>
          <p:nvPr/>
        </p:nvSpPr>
        <p:spPr>
          <a:xfrm>
            <a:off x="4069080" y="3858768"/>
            <a:ext cx="310896" cy="54864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42" name="Text 39"/>
          <p:cNvSpPr/>
          <p:nvPr/>
        </p:nvSpPr>
        <p:spPr>
          <a:xfrm>
            <a:off x="4453128" y="2212848"/>
            <a:ext cx="685800" cy="54864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43" name="Text 40"/>
          <p:cNvSpPr/>
          <p:nvPr/>
        </p:nvSpPr>
        <p:spPr>
          <a:xfrm>
            <a:off x="5138928" y="221284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44" name="Text 41"/>
          <p:cNvSpPr/>
          <p:nvPr/>
        </p:nvSpPr>
        <p:spPr>
          <a:xfrm>
            <a:off x="5824728" y="221284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45" name="Text 42"/>
          <p:cNvSpPr/>
          <p:nvPr/>
        </p:nvSpPr>
        <p:spPr>
          <a:xfrm>
            <a:off x="6510528" y="221284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46" name="Text 43"/>
          <p:cNvSpPr/>
          <p:nvPr/>
        </p:nvSpPr>
        <p:spPr>
          <a:xfrm>
            <a:off x="4453128" y="276148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47" name="Text 44"/>
          <p:cNvSpPr/>
          <p:nvPr/>
        </p:nvSpPr>
        <p:spPr>
          <a:xfrm>
            <a:off x="5138928" y="2761488"/>
            <a:ext cx="685800" cy="54864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48" name="Text 45"/>
          <p:cNvSpPr/>
          <p:nvPr/>
        </p:nvSpPr>
        <p:spPr>
          <a:xfrm>
            <a:off x="5824728" y="276148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49" name="Text 46"/>
          <p:cNvSpPr/>
          <p:nvPr/>
        </p:nvSpPr>
        <p:spPr>
          <a:xfrm>
            <a:off x="6510528" y="276148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50" name="Text 47"/>
          <p:cNvSpPr/>
          <p:nvPr/>
        </p:nvSpPr>
        <p:spPr>
          <a:xfrm>
            <a:off x="4453128" y="331012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51" name="Text 48"/>
          <p:cNvSpPr/>
          <p:nvPr/>
        </p:nvSpPr>
        <p:spPr>
          <a:xfrm>
            <a:off x="5138928" y="331012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52" name="Text 49"/>
          <p:cNvSpPr/>
          <p:nvPr/>
        </p:nvSpPr>
        <p:spPr>
          <a:xfrm>
            <a:off x="5824728" y="3310128"/>
            <a:ext cx="685800" cy="54864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a:t>
            </a:r>
            <a:endParaRPr lang="en-US" sz="1700" dirty="0"/>
          </a:p>
        </p:txBody>
      </p:sp>
      <p:sp>
        <p:nvSpPr>
          <p:cNvPr id="53" name="Text 50"/>
          <p:cNvSpPr/>
          <p:nvPr/>
        </p:nvSpPr>
        <p:spPr>
          <a:xfrm>
            <a:off x="6510528" y="3310128"/>
            <a:ext cx="685800" cy="54864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a:t>
            </a:r>
            <a:endParaRPr lang="en-US" sz="1700" dirty="0"/>
          </a:p>
        </p:txBody>
      </p:sp>
      <p:sp>
        <p:nvSpPr>
          <p:cNvPr id="54" name="Text 51"/>
          <p:cNvSpPr/>
          <p:nvPr/>
        </p:nvSpPr>
        <p:spPr>
          <a:xfrm>
            <a:off x="4453128" y="385876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55" name="Text 52"/>
          <p:cNvSpPr/>
          <p:nvPr/>
        </p:nvSpPr>
        <p:spPr>
          <a:xfrm>
            <a:off x="5138928" y="385876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0</a:t>
            </a:r>
            <a:endParaRPr lang="en-US" sz="1700" dirty="0"/>
          </a:p>
        </p:txBody>
      </p:sp>
      <p:sp>
        <p:nvSpPr>
          <p:cNvPr id="56" name="Text 53"/>
          <p:cNvSpPr/>
          <p:nvPr/>
        </p:nvSpPr>
        <p:spPr>
          <a:xfrm>
            <a:off x="5824728" y="3858768"/>
            <a:ext cx="685800" cy="54864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a:t>
            </a:r>
            <a:endParaRPr lang="en-US" sz="1700" dirty="0"/>
          </a:p>
        </p:txBody>
      </p:sp>
      <p:sp>
        <p:nvSpPr>
          <p:cNvPr id="57" name="Text 54"/>
          <p:cNvSpPr/>
          <p:nvPr/>
        </p:nvSpPr>
        <p:spPr>
          <a:xfrm>
            <a:off x="6510528" y="3858768"/>
            <a:ext cx="685800" cy="54864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a:t>
            </a:r>
            <a:endParaRPr lang="en-US" sz="1700" dirty="0"/>
          </a:p>
        </p:txBody>
      </p:sp>
      <p:sp>
        <p:nvSpPr>
          <p:cNvPr id="58" name="Text 55"/>
          <p:cNvSpPr txBox="1"/>
          <p:nvPr/>
        </p:nvSpPr>
        <p:spPr>
          <a:xfrm>
            <a:off x="4069080" y="4526280"/>
            <a:ext cx="3657600" cy="685800"/>
          </a:xfrm>
          <a:prstGeom prst="rect">
            <a:avLst/>
          </a:prstGeom>
          <a:noFill/>
          <a:ln/>
        </p:spPr>
        <p:txBody>
          <a:bodyPr wrap="square" lIns="0" tIns="0" rIns="0" bIns="0" rtlCol="0" anchor="ctr"/>
          <a:lstStyle/>
          <a:p>
            <a:pPr indent="0" marL="0">
              <a:buNone/>
            </a:pPr>
            <a:r>
              <a:rPr lang="en-US" sz="1500" b="1" dirty="0">
                <a:solidFill>
                  <a:srgbClr val="2E9E6A"/>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alibri" pitchFamily="34" charset="0"/>
                <a:ea typeface="Calibri" pitchFamily="34" charset="-122"/>
                <a:cs typeface="Calibri" pitchFamily="34" charset="-120"/>
              </a:rPr>
              <a:t>upper: c &gt; r</a:t>
            </a:r>
            <a:endParaRPr lang="en-US" sz="1500" dirty="0"/>
          </a:p>
          <a:p>
            <a:pPr indent="0" marL="0">
              <a:buNone/>
            </a:pPr>
            <a:r>
              <a:rPr lang="en-US" sz="1500" b="1" dirty="0">
                <a:solidFill>
                  <a:srgbClr val="C8453B"/>
                </a:solidFill>
                <a:latin typeface="Calibri" pitchFamily="34" charset="0"/>
                <a:ea typeface="Calibri" pitchFamily="34" charset="-122"/>
                <a:cs typeface="Calibri" pitchFamily="34" charset="-120"/>
              </a:rPr>
              <a:t>■ </a:t>
            </a:r>
            <a:pPr indent="0" marL="0">
              <a:buNone/>
            </a:pPr>
            <a:r>
              <a:rPr lang="en-US" sz="1500" dirty="0">
                <a:solidFill>
                  <a:srgbClr val="333B4F"/>
                </a:solidFill>
                <a:latin typeface="Calibri" pitchFamily="34" charset="0"/>
                <a:ea typeface="Calibri" pitchFamily="34" charset="-122"/>
                <a:cs typeface="Calibri" pitchFamily="34" charset="-120"/>
              </a:rPr>
              <a:t>lower: c &lt; r</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06640" y="1920240"/>
          <a:ext cx="4251960" cy="914400"/>
        </p:xfrm>
        <a:graphic>
          <a:graphicData uri="http://schemas.openxmlformats.org/drawingml/2006/table">
            <a:tbl>
              <a:tblPr/>
              <a:tblGrid>
                <a:gridCol w="1143000"/>
                <a:gridCol w="1508760"/>
                <a:gridCol w="160020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main diagonal</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r == c</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a[i, i]</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anti-diagonal</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r + c == n − 1</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a[i, n − 1 − i]</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upper triangle</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c &gt; r</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lower triangle</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c &lt; r</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60" name="Text 56"/>
          <p:cNvSpPr txBox="1"/>
          <p:nvPr/>
        </p:nvSpPr>
        <p:spPr>
          <a:xfrm>
            <a:off x="7406640" y="4206240"/>
            <a:ext cx="4251960" cy="731520"/>
          </a:xfrm>
          <a:prstGeom prst="rect">
            <a:avLst/>
          </a:prstGeom>
          <a:noFill/>
          <a:ln/>
        </p:spPr>
        <p:txBody>
          <a:bodyPr wrap="square" lIns="0" tIns="0" rIns="0" bIns="0" rtlCol="0" anchor="ctr"/>
          <a:lstStyle/>
          <a:p>
            <a:pPr indent="0" marL="0">
              <a:buNone/>
            </a:pPr>
            <a:r>
              <a:rPr lang="en-US" sz="1500" b="1" dirty="0">
                <a:solidFill>
                  <a:srgbClr val="B7791F"/>
                </a:solidFill>
                <a:latin typeface="Calibri" pitchFamily="34" charset="0"/>
                <a:ea typeface="Calibri" pitchFamily="34" charset="-122"/>
                <a:cs typeface="Calibri" pitchFamily="34" charset="-120"/>
              </a:rPr>
              <a:t>trace = Σ a[i, i] = 2 + 3 + 4 + 9 = 18</a:t>
            </a:r>
            <a:pPr indent="0" marL="0">
              <a:buNone/>
            </a:pPr>
            <a:endParaRPr lang="en-US" sz="1500" dirty="0"/>
          </a:p>
          <a:p>
            <a:pPr indent="0" marL="0">
              <a:buNone/>
            </a:pPr>
            <a:r>
              <a:rPr lang="en-US" sz="1500" b="1" dirty="0">
                <a:solidFill>
                  <a:srgbClr val="2F6FB3"/>
                </a:solidFill>
                <a:latin typeface="Calibri" pitchFamily="34" charset="0"/>
                <a:ea typeface="Calibri" pitchFamily="34" charset="-122"/>
                <a:cs typeface="Calibri" pitchFamily="34" charset="-120"/>
              </a:rPr>
              <a:t>anti = 8 + 5 + 5 + 8 = 26</a:t>
            </a:r>
            <a:endParaRPr lang="en-US" sz="1500" dirty="0"/>
          </a:p>
        </p:txBody>
      </p:sp>
      <p:sp>
        <p:nvSpPr>
          <p:cNvPr id="61" name="Shape 57"/>
          <p:cNvSpPr/>
          <p:nvPr/>
        </p:nvSpPr>
        <p:spPr>
          <a:xfrm>
            <a:off x="548640" y="5349240"/>
            <a:ext cx="11109960" cy="749808"/>
          </a:xfrm>
          <a:prstGeom prst="roundRect">
            <a:avLst>
              <a:gd name="adj" fmla="val 14634"/>
            </a:avLst>
          </a:prstGeom>
          <a:solidFill>
            <a:srgbClr val="FFF6E3"/>
          </a:solidFill>
          <a:ln w="12700">
            <a:solidFill>
              <a:srgbClr val="FFF6E3"/>
            </a:solidFill>
            <a:prstDash val="solid"/>
          </a:ln>
        </p:spPr>
      </p:sp>
      <p:pic>
        <p:nvPicPr>
          <p:cNvPr id="62" name="Image 0" descr="preencoded.png">    </p:cNvPr>
          <p:cNvPicPr>
            <a:picLocks noChangeAspect="1"/>
          </p:cNvPicPr>
          <p:nvPr/>
        </p:nvPicPr>
        <p:blipFill>
          <a:blip r:embed="rId1"/>
          <a:stretch>
            <a:fillRect/>
          </a:stretch>
        </p:blipFill>
        <p:spPr>
          <a:xfrm>
            <a:off x="822960" y="5486400"/>
            <a:ext cx="475488" cy="475488"/>
          </a:xfrm>
          <a:prstGeom prst="rect">
            <a:avLst/>
          </a:prstGeom>
        </p:spPr>
      </p:pic>
      <p:sp>
        <p:nvSpPr>
          <p:cNvPr id="63" name="Text 58"/>
          <p:cNvSpPr txBox="1"/>
          <p:nvPr/>
        </p:nvSpPr>
        <p:spPr>
          <a:xfrm>
            <a:off x="1572768" y="5422392"/>
            <a:ext cx="9811512" cy="60350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One loop is enough for a diagonal: </a:t>
            </a:r>
            <a:pPr indent="0" marL="0">
              <a:buNone/>
            </a:pPr>
            <a:r>
              <a:rPr lang="en-US" sz="1500" dirty="0">
                <a:solidFill>
                  <a:srgbClr val="333B4F"/>
                </a:solidFill>
                <a:latin typeface="Calibri" pitchFamily="34" charset="0"/>
                <a:ea typeface="Calibri" pitchFamily="34" charset="-122"/>
                <a:cs typeface="Calibri" pitchFamily="34" charset="-120"/>
              </a:rPr>
              <a:t>the column follows from the row.</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11_04_DIAGONALS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Diagonal Sums and the Identity Matrix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00200"/>
            <a:ext cx="6949440" cy="2514600"/>
          </a:xfrm>
          <a:prstGeom prst="roundRect">
            <a:avLst>
              <a:gd name="adj" fmla="val 3636"/>
            </a:avLst>
          </a:prstGeom>
          <a:solidFill>
            <a:srgbClr val="0F1729"/>
          </a:solidFill>
          <a:ln w="12700">
            <a:solidFill>
              <a:srgbClr val="0F1729"/>
            </a:solidFill>
            <a:prstDash val="solid"/>
          </a:ln>
        </p:spPr>
      </p:sp>
      <p:sp>
        <p:nvSpPr>
          <p:cNvPr id="8" name="Text 5"/>
          <p:cNvSpPr txBox="1"/>
          <p:nvPr/>
        </p:nvSpPr>
        <p:spPr>
          <a:xfrm>
            <a:off x="777240" y="170992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both diagonal sums with one loop</a:t>
            </a:r>
            <a:endParaRPr lang="en-US" sz="1100" dirty="0"/>
          </a:p>
        </p:txBody>
      </p:sp>
      <p:sp>
        <p:nvSpPr>
          <p:cNvPr id="9" name="Text 6"/>
          <p:cNvSpPr txBox="1"/>
          <p:nvPr/>
        </p:nvSpPr>
        <p:spPr>
          <a:xfrm>
            <a:off x="777240" y="2011680"/>
            <a:ext cx="6492240" cy="19933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mainSum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antiSum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mainSum += a[i,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antiSum += a[i,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$"Main diagonal sum (trace) = {mainSum}"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$"Anti-diagonal sum         = {antiSum}"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251960"/>
            <a:ext cx="6949440" cy="1847088"/>
          </a:xfrm>
          <a:prstGeom prst="roundRect">
            <a:avLst>
              <a:gd name="adj" fmla="val 4950"/>
            </a:avLst>
          </a:prstGeom>
          <a:solidFill>
            <a:srgbClr val="0F1729"/>
          </a:solidFill>
          <a:ln w="12700">
            <a:solidFill>
              <a:srgbClr val="0F1729"/>
            </a:solidFill>
            <a:prstDash val="solid"/>
          </a:ln>
        </p:spPr>
      </p:sp>
      <p:sp>
        <p:nvSpPr>
          <p:cNvPr id="11" name="Text 8"/>
          <p:cNvSpPr txBox="1"/>
          <p:nvPr/>
        </p:nvSpPr>
        <p:spPr>
          <a:xfrm>
            <a:off x="777240" y="436168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identity: 1 on the main diagonal, 0 elsewhere</a:t>
            </a:r>
            <a:endParaRPr lang="en-US" sz="1100" dirty="0"/>
          </a:p>
        </p:txBody>
      </p:sp>
      <p:sp>
        <p:nvSpPr>
          <p:cNvPr id="12" name="Text 9"/>
          <p:cNvSpPr txBox="1"/>
          <p:nvPr/>
        </p:nvSpPr>
        <p:spPr>
          <a:xfrm>
            <a:off x="777240" y="4663440"/>
            <a:ext cx="6492240" cy="132588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identity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 n];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all zeros</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identity[i,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$"Identity {n} x {n}:"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7726680" y="1600200"/>
            <a:ext cx="3931920" cy="4498848"/>
          </a:xfrm>
          <a:prstGeom prst="roundRect">
            <a:avLst>
              <a:gd name="adj" fmla="val 2326"/>
            </a:avLst>
          </a:prstGeom>
          <a:solidFill>
            <a:srgbClr val="0B0F19"/>
          </a:solidFill>
          <a:ln w="12700">
            <a:solidFill>
              <a:srgbClr val="2A3654"/>
            </a:solidFill>
            <a:prstDash val="solid"/>
          </a:ln>
        </p:spPr>
      </p:sp>
      <p:sp>
        <p:nvSpPr>
          <p:cNvPr id="14" name="Shape 11"/>
          <p:cNvSpPr/>
          <p:nvPr/>
        </p:nvSpPr>
        <p:spPr>
          <a:xfrm>
            <a:off x="7909560" y="1728216"/>
            <a:ext cx="118872" cy="118872"/>
          </a:xfrm>
          <a:prstGeom prst="ellipse">
            <a:avLst/>
          </a:prstGeom>
          <a:solidFill>
            <a:srgbClr val="FF5F57"/>
          </a:solidFill>
          <a:ln w="12700">
            <a:solidFill>
              <a:srgbClr val="FF5F57"/>
            </a:solidFill>
            <a:prstDash val="solid"/>
          </a:ln>
        </p:spPr>
      </p:sp>
      <p:sp>
        <p:nvSpPr>
          <p:cNvPr id="15" name="Shape 12"/>
          <p:cNvSpPr/>
          <p:nvPr/>
        </p:nvSpPr>
        <p:spPr>
          <a:xfrm>
            <a:off x="8138160" y="1728216"/>
            <a:ext cx="118872" cy="118872"/>
          </a:xfrm>
          <a:prstGeom prst="ellipse">
            <a:avLst/>
          </a:prstGeom>
          <a:solidFill>
            <a:srgbClr val="FEBC2E"/>
          </a:solidFill>
          <a:ln w="12700">
            <a:solidFill>
              <a:srgbClr val="FEBC2E"/>
            </a:solidFill>
            <a:prstDash val="solid"/>
          </a:ln>
        </p:spPr>
      </p:sp>
      <p:sp>
        <p:nvSpPr>
          <p:cNvPr id="16" name="Shape 13"/>
          <p:cNvSpPr/>
          <p:nvPr/>
        </p:nvSpPr>
        <p:spPr>
          <a:xfrm>
            <a:off x="8366760" y="172821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8641080" y="167335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code/11_04_Diagonals</a:t>
            </a:r>
            <a:endParaRPr lang="en-US" sz="1000" dirty="0"/>
          </a:p>
        </p:txBody>
      </p:sp>
      <p:sp>
        <p:nvSpPr>
          <p:cNvPr id="18" name="Text 15"/>
          <p:cNvSpPr txBox="1"/>
          <p:nvPr/>
        </p:nvSpPr>
        <p:spPr>
          <a:xfrm>
            <a:off x="7955280" y="1984248"/>
            <a:ext cx="3474720" cy="39959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[2]    7    1  (8)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7  [3]  (5)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  (5)  [4]    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(8)    0    6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Main diagonal sum (trace) = 18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Anti-diagonal sum         = 26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Identity 4 x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1  0  0  0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0  1  0  0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0  0  1  0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0  0  0  1</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11_05_TRANSPOSESYMMETRIC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Transpose: Rows Become Columns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Text 4"/>
          <p:cNvSpPr txBox="1"/>
          <p:nvPr/>
        </p:nvSpPr>
        <p:spPr>
          <a:xfrm>
            <a:off x="548640" y="1572768"/>
            <a:ext cx="237744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  (2 × 3)</a:t>
            </a:r>
            <a:endParaRPr lang="en-US" sz="1600" dirty="0"/>
          </a:p>
        </p:txBody>
      </p:sp>
      <p:sp>
        <p:nvSpPr>
          <p:cNvPr id="8" name="Text 5"/>
          <p:cNvSpPr txBox="1"/>
          <p:nvPr/>
        </p:nvSpPr>
        <p:spPr>
          <a:xfrm>
            <a:off x="932688" y="192024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9" name="Text 6"/>
          <p:cNvSpPr txBox="1"/>
          <p:nvPr/>
        </p:nvSpPr>
        <p:spPr>
          <a:xfrm>
            <a:off x="1481328" y="192024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2029968" y="192024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548640" y="22128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2" name="Text 9"/>
          <p:cNvSpPr txBox="1"/>
          <p:nvPr/>
        </p:nvSpPr>
        <p:spPr>
          <a:xfrm>
            <a:off x="548640" y="26700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3" name="Text 10"/>
          <p:cNvSpPr/>
          <p:nvPr/>
        </p:nvSpPr>
        <p:spPr>
          <a:xfrm>
            <a:off x="932688" y="22128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4" name="Text 11"/>
          <p:cNvSpPr/>
          <p:nvPr/>
        </p:nvSpPr>
        <p:spPr>
          <a:xfrm>
            <a:off x="1481328" y="22128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15" name="Text 12"/>
          <p:cNvSpPr/>
          <p:nvPr/>
        </p:nvSpPr>
        <p:spPr>
          <a:xfrm>
            <a:off x="2029968" y="22128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16" name="Text 13"/>
          <p:cNvSpPr/>
          <p:nvPr/>
        </p:nvSpPr>
        <p:spPr>
          <a:xfrm>
            <a:off x="932688" y="26700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7" name="Text 14"/>
          <p:cNvSpPr/>
          <p:nvPr/>
        </p:nvSpPr>
        <p:spPr>
          <a:xfrm>
            <a:off x="1481328" y="26700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18" name="Text 15"/>
          <p:cNvSpPr/>
          <p:nvPr/>
        </p:nvSpPr>
        <p:spPr>
          <a:xfrm>
            <a:off x="2029968" y="26700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19" name="Shape 16"/>
          <p:cNvSpPr/>
          <p:nvPr/>
        </p:nvSpPr>
        <p:spPr>
          <a:xfrm>
            <a:off x="2697480" y="2651760"/>
            <a:ext cx="731520" cy="0"/>
          </a:xfrm>
          <a:prstGeom prst="line">
            <a:avLst/>
          </a:prstGeom>
          <a:noFill/>
          <a:ln w="15875">
            <a:solidFill>
              <a:srgbClr val="14213D"/>
            </a:solidFill>
            <a:prstDash val="solid"/>
            <a:tailEnd type="triangle"/>
          </a:ln>
        </p:spPr>
      </p:sp>
      <p:sp>
        <p:nvSpPr>
          <p:cNvPr id="20" name="Text 17"/>
          <p:cNvSpPr txBox="1"/>
          <p:nvPr/>
        </p:nvSpPr>
        <p:spPr>
          <a:xfrm>
            <a:off x="3657600" y="1572768"/>
            <a:ext cx="219456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a:t>
            </a:r>
            <a:pPr indent="0" marL="0">
              <a:buNone/>
            </a:pPr>
            <a:r>
              <a:rPr lang="en-US" sz="1600" b="1" baseline="30000" dirty="0">
                <a:solidFill>
                  <a:srgbClr val="14213D"/>
                </a:solidFill>
                <a:latin typeface="Cambria" pitchFamily="34" charset="0"/>
                <a:ea typeface="Cambria" pitchFamily="34" charset="-122"/>
                <a:cs typeface="Cambria" pitchFamily="34" charset="-120"/>
              </a:rPr>
              <a:t>T</a:t>
            </a:r>
            <a:endParaRPr lang="en-US" sz="1600" dirty="0"/>
          </a:p>
        </p:txBody>
      </p:sp>
      <p:sp>
        <p:nvSpPr>
          <p:cNvPr id="21" name="Text 18"/>
          <p:cNvSpPr txBox="1"/>
          <p:nvPr/>
        </p:nvSpPr>
        <p:spPr>
          <a:xfrm>
            <a:off x="4114800" y="1572768"/>
            <a:ext cx="13716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(3 × 2)</a:t>
            </a:r>
            <a:endParaRPr lang="en-US" sz="1600" dirty="0"/>
          </a:p>
        </p:txBody>
      </p:sp>
      <p:sp>
        <p:nvSpPr>
          <p:cNvPr id="22" name="Text 19"/>
          <p:cNvSpPr txBox="1"/>
          <p:nvPr/>
        </p:nvSpPr>
        <p:spPr>
          <a:xfrm>
            <a:off x="3995928" y="192024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23" name="Text 20"/>
          <p:cNvSpPr txBox="1"/>
          <p:nvPr/>
        </p:nvSpPr>
        <p:spPr>
          <a:xfrm>
            <a:off x="4544568" y="1920240"/>
            <a:ext cx="54864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24" name="Text 21"/>
          <p:cNvSpPr txBox="1"/>
          <p:nvPr/>
        </p:nvSpPr>
        <p:spPr>
          <a:xfrm>
            <a:off x="3611880" y="22128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25" name="Text 22"/>
          <p:cNvSpPr txBox="1"/>
          <p:nvPr/>
        </p:nvSpPr>
        <p:spPr>
          <a:xfrm>
            <a:off x="3611880" y="26700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26" name="Text 23"/>
          <p:cNvSpPr txBox="1"/>
          <p:nvPr/>
        </p:nvSpPr>
        <p:spPr>
          <a:xfrm>
            <a:off x="3611880" y="3127248"/>
            <a:ext cx="310896" cy="45720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27" name="Text 24"/>
          <p:cNvSpPr/>
          <p:nvPr/>
        </p:nvSpPr>
        <p:spPr>
          <a:xfrm>
            <a:off x="3995928" y="22128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28" name="Text 25"/>
          <p:cNvSpPr/>
          <p:nvPr/>
        </p:nvSpPr>
        <p:spPr>
          <a:xfrm>
            <a:off x="4544568" y="22128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29" name="Text 26"/>
          <p:cNvSpPr/>
          <p:nvPr/>
        </p:nvSpPr>
        <p:spPr>
          <a:xfrm>
            <a:off x="3995928" y="26700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30" name="Text 27"/>
          <p:cNvSpPr/>
          <p:nvPr/>
        </p:nvSpPr>
        <p:spPr>
          <a:xfrm>
            <a:off x="4544568" y="26700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a:t>
            </a:r>
            <a:endParaRPr lang="en-US" sz="1500" dirty="0"/>
          </a:p>
        </p:txBody>
      </p:sp>
      <p:sp>
        <p:nvSpPr>
          <p:cNvPr id="31" name="Text 28"/>
          <p:cNvSpPr/>
          <p:nvPr/>
        </p:nvSpPr>
        <p:spPr>
          <a:xfrm>
            <a:off x="3995928" y="3127248"/>
            <a:ext cx="548640" cy="45720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32" name="Text 29"/>
          <p:cNvSpPr/>
          <p:nvPr/>
        </p:nvSpPr>
        <p:spPr>
          <a:xfrm>
            <a:off x="4544568" y="3127248"/>
            <a:ext cx="548640" cy="457200"/>
          </a:xfrm>
          <a:prstGeom prst="rect">
            <a:avLst/>
          </a:prstGeom>
          <a:solidFill>
            <a:srgbClr val="E3ECF8"/>
          </a:solidFill>
          <a:ln w="9525">
            <a:solidFill>
              <a:srgbClr val="14213D"/>
            </a:solid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6</a:t>
            </a:r>
            <a:endParaRPr lang="en-US" sz="1500" dirty="0"/>
          </a:p>
        </p:txBody>
      </p:sp>
      <p:sp>
        <p:nvSpPr>
          <p:cNvPr id="33" name="Text 30"/>
          <p:cNvSpPr txBox="1"/>
          <p:nvPr/>
        </p:nvSpPr>
        <p:spPr>
          <a:xfrm>
            <a:off x="548640" y="3703320"/>
            <a:ext cx="557784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Rule: </a:t>
            </a:r>
            <a:pPr indent="0" marL="0">
              <a:buNone/>
            </a:pPr>
            <a:r>
              <a:rPr lang="en-US" sz="1500" b="1" dirty="0">
                <a:solidFill>
                  <a:srgbClr val="14213D"/>
                </a:solidFill>
                <a:latin typeface="Courier New" pitchFamily="34" charset="0"/>
                <a:ea typeface="Courier New" pitchFamily="34" charset="-122"/>
                <a:cs typeface="Courier New" pitchFamily="34" charset="-120"/>
              </a:rPr>
              <a:t>t[c, r] = a[r, c]</a:t>
            </a:r>
            <a:pPr indent="0" marL="0">
              <a:buNone/>
            </a:pPr>
            <a:r>
              <a:rPr lang="en-US" sz="1500" dirty="0">
                <a:solidFill>
                  <a:srgbClr val="333B4F"/>
                </a:solidFill>
                <a:latin typeface="Calibri" pitchFamily="34" charset="0"/>
                <a:ea typeface="Calibri" pitchFamily="34" charset="-122"/>
                <a:cs typeface="Calibri" pitchFamily="34" charset="-120"/>
              </a:rPr>
              <a:t>  — sizes swap: 2 × 3 → 3 × 2</a:t>
            </a:r>
            <a:endParaRPr lang="en-US" sz="1500" dirty="0"/>
          </a:p>
        </p:txBody>
      </p:sp>
      <p:sp>
        <p:nvSpPr>
          <p:cNvPr id="34" name="Shape 31"/>
          <p:cNvSpPr/>
          <p:nvPr/>
        </p:nvSpPr>
        <p:spPr>
          <a:xfrm>
            <a:off x="548640" y="4206240"/>
            <a:ext cx="5577840" cy="1892808"/>
          </a:xfrm>
          <a:prstGeom prst="roundRect">
            <a:avLst>
              <a:gd name="adj" fmla="val 4831"/>
            </a:avLst>
          </a:prstGeom>
          <a:solidFill>
            <a:srgbClr val="0F1729"/>
          </a:solidFill>
          <a:ln w="12700">
            <a:solidFill>
              <a:srgbClr val="0F1729"/>
            </a:solidFill>
            <a:prstDash val="solid"/>
          </a:ln>
        </p:spPr>
      </p:sp>
      <p:sp>
        <p:nvSpPr>
          <p:cNvPr id="35" name="Text 32"/>
          <p:cNvSpPr txBox="1"/>
          <p:nvPr/>
        </p:nvSpPr>
        <p:spPr>
          <a:xfrm>
            <a:off x="777240" y="4370832"/>
            <a:ext cx="5120640" cy="1618488"/>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rows;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cols;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t[c, r] = a[r,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36" name="Shape 33"/>
          <p:cNvSpPr/>
          <p:nvPr/>
        </p:nvSpPr>
        <p:spPr>
          <a:xfrm>
            <a:off x="6400800" y="1600200"/>
            <a:ext cx="5257800" cy="2286000"/>
          </a:xfrm>
          <a:prstGeom prst="roundRect">
            <a:avLst>
              <a:gd name="adj" fmla="val 4000"/>
            </a:avLst>
          </a:prstGeom>
          <a:solidFill>
            <a:srgbClr val="0B0F19"/>
          </a:solidFill>
          <a:ln w="12700">
            <a:solidFill>
              <a:srgbClr val="2A3654"/>
            </a:solidFill>
            <a:prstDash val="solid"/>
          </a:ln>
        </p:spPr>
      </p:sp>
      <p:sp>
        <p:nvSpPr>
          <p:cNvPr id="37" name="Shape 34"/>
          <p:cNvSpPr/>
          <p:nvPr/>
        </p:nvSpPr>
        <p:spPr>
          <a:xfrm>
            <a:off x="6583680" y="1728216"/>
            <a:ext cx="118872" cy="118872"/>
          </a:xfrm>
          <a:prstGeom prst="ellipse">
            <a:avLst/>
          </a:prstGeom>
          <a:solidFill>
            <a:srgbClr val="FF5F57"/>
          </a:solidFill>
          <a:ln w="12700">
            <a:solidFill>
              <a:srgbClr val="FF5F57"/>
            </a:solidFill>
            <a:prstDash val="solid"/>
          </a:ln>
        </p:spPr>
      </p:sp>
      <p:sp>
        <p:nvSpPr>
          <p:cNvPr id="38" name="Shape 35"/>
          <p:cNvSpPr/>
          <p:nvPr/>
        </p:nvSpPr>
        <p:spPr>
          <a:xfrm>
            <a:off x="6812280" y="1728216"/>
            <a:ext cx="118872" cy="118872"/>
          </a:xfrm>
          <a:prstGeom prst="ellipse">
            <a:avLst/>
          </a:prstGeom>
          <a:solidFill>
            <a:srgbClr val="FEBC2E"/>
          </a:solidFill>
          <a:ln w="12700">
            <a:solidFill>
              <a:srgbClr val="FEBC2E"/>
            </a:solidFill>
            <a:prstDash val="solid"/>
          </a:ln>
        </p:spPr>
      </p:sp>
      <p:sp>
        <p:nvSpPr>
          <p:cNvPr id="39" name="Shape 36"/>
          <p:cNvSpPr/>
          <p:nvPr/>
        </p:nvSpPr>
        <p:spPr>
          <a:xfrm>
            <a:off x="7040880" y="1728216"/>
            <a:ext cx="118872" cy="118872"/>
          </a:xfrm>
          <a:prstGeom prst="ellipse">
            <a:avLst/>
          </a:prstGeom>
          <a:solidFill>
            <a:srgbClr val="28C840"/>
          </a:solidFill>
          <a:ln w="12700">
            <a:solidFill>
              <a:srgbClr val="28C840"/>
            </a:solidFill>
            <a:prstDash val="solid"/>
          </a:ln>
        </p:spPr>
      </p:sp>
      <p:sp>
        <p:nvSpPr>
          <p:cNvPr id="40" name="Text 37"/>
          <p:cNvSpPr txBox="1"/>
          <p:nvPr/>
        </p:nvSpPr>
        <p:spPr>
          <a:xfrm>
            <a:off x="7315200" y="1673352"/>
            <a:ext cx="4160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code/11_05_TransposeSymmetric</a:t>
            </a:r>
            <a:endParaRPr lang="en-US" sz="1000" dirty="0"/>
          </a:p>
        </p:txBody>
      </p:sp>
      <p:sp>
        <p:nvSpPr>
          <p:cNvPr id="41" name="Text 38"/>
          <p:cNvSpPr txBox="1"/>
          <p:nvPr/>
        </p:nvSpPr>
        <p:spPr>
          <a:xfrm>
            <a:off x="6629400" y="1984248"/>
            <a:ext cx="4800600" cy="17830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(2 x 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1   2   3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4   5   6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Transpose (3 x 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2   5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3   6</a:t>
            </a:r>
            <a:endParaRPr lang="en-US" sz="1300" dirty="0"/>
          </a:p>
        </p:txBody>
      </p:sp>
      <p:sp>
        <p:nvSpPr>
          <p:cNvPr id="42" name="Shape 39"/>
          <p:cNvSpPr/>
          <p:nvPr/>
        </p:nvSpPr>
        <p:spPr>
          <a:xfrm>
            <a:off x="6400800" y="4069080"/>
            <a:ext cx="5257800" cy="2029968"/>
          </a:xfrm>
          <a:prstGeom prst="roundRect">
            <a:avLst>
              <a:gd name="adj" fmla="val 5405"/>
            </a:avLst>
          </a:prstGeom>
          <a:solidFill>
            <a:srgbClr val="FBE9E7"/>
          </a:solidFill>
          <a:ln w="12700">
            <a:solidFill>
              <a:srgbClr val="FBE9E7"/>
            </a:solidFill>
            <a:prstDash val="solid"/>
          </a:ln>
        </p:spPr>
      </p:sp>
      <p:sp>
        <p:nvSpPr>
          <p:cNvPr id="43" name="Text 40"/>
          <p:cNvSpPr txBox="1"/>
          <p:nvPr/>
        </p:nvSpPr>
        <p:spPr>
          <a:xfrm>
            <a:off x="6629400" y="4160520"/>
            <a:ext cx="4754880" cy="32004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Classic bug</a:t>
            </a:r>
            <a:endParaRPr lang="en-US" sz="1600" dirty="0"/>
          </a:p>
        </p:txBody>
      </p:sp>
      <p:sp>
        <p:nvSpPr>
          <p:cNvPr id="44" name="Shape 41"/>
          <p:cNvSpPr/>
          <p:nvPr/>
        </p:nvSpPr>
        <p:spPr>
          <a:xfrm>
            <a:off x="6629400" y="4526280"/>
            <a:ext cx="4800600" cy="566928"/>
          </a:xfrm>
          <a:prstGeom prst="roundRect">
            <a:avLst>
              <a:gd name="adj" fmla="val 16129"/>
            </a:avLst>
          </a:prstGeom>
          <a:solidFill>
            <a:srgbClr val="0F1729"/>
          </a:solidFill>
          <a:ln w="12700">
            <a:solidFill>
              <a:srgbClr val="0F1729"/>
            </a:solidFill>
            <a:prstDash val="solid"/>
          </a:ln>
        </p:spPr>
      </p:sp>
      <p:sp>
        <p:nvSpPr>
          <p:cNvPr id="45" name="Text 42"/>
          <p:cNvSpPr txBox="1"/>
          <p:nvPr/>
        </p:nvSpPr>
        <p:spPr>
          <a:xfrm>
            <a:off x="6858000" y="4690872"/>
            <a:ext cx="4343400" cy="292608"/>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[rows, cols];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wrong</a:t>
            </a:r>
            <a:endParaRPr lang="en-US" sz="1200" dirty="0"/>
          </a:p>
        </p:txBody>
      </p:sp>
      <p:sp>
        <p:nvSpPr>
          <p:cNvPr id="46" name="Text 43"/>
          <p:cNvSpPr txBox="1"/>
          <p:nvPr/>
        </p:nvSpPr>
        <p:spPr>
          <a:xfrm>
            <a:off x="6629400" y="5166360"/>
            <a:ext cx="4846320" cy="868680"/>
          </a:xfrm>
          <a:prstGeom prst="rect">
            <a:avLst/>
          </a:prstGeom>
          <a:noFill/>
          <a:ln/>
        </p:spPr>
        <p:txBody>
          <a:bodyPr wrap="square" lIns="0" tIns="0" rIns="0" bIns="0" rtlCol="0" anchor="t"/>
          <a:lstStyle/>
          <a:p>
            <a:pPr indent="0" marL="0">
              <a:buNone/>
            </a:pPr>
            <a:r>
              <a:rPr lang="en-US" sz="1350" dirty="0">
                <a:solidFill>
                  <a:srgbClr val="333B4F"/>
                </a:solidFill>
                <a:latin typeface="Calibri" pitchFamily="34" charset="0"/>
                <a:ea typeface="Calibri" pitchFamily="34" charset="-122"/>
                <a:cs typeface="Calibri" pitchFamily="34" charset="-120"/>
              </a:rPr>
              <a:t>For a 2 × 3 matrix t[2, 0] does not exist → IndexOutOfRangeException. Create t with the sizes swapped.</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SYMMETRIC CHECK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Is the Matrix Equal to Its Transpose?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Text 4"/>
          <p:cNvSpPr txBox="1"/>
          <p:nvPr/>
        </p:nvSpPr>
        <p:spPr>
          <a:xfrm>
            <a:off x="932688" y="164592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572768" y="164592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212848" y="1645920"/>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548640" y="193852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1" name="Text 8"/>
          <p:cNvSpPr txBox="1"/>
          <p:nvPr/>
        </p:nvSpPr>
        <p:spPr>
          <a:xfrm>
            <a:off x="548640" y="244144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2" name="Text 9"/>
          <p:cNvSpPr txBox="1"/>
          <p:nvPr/>
        </p:nvSpPr>
        <p:spPr>
          <a:xfrm>
            <a:off x="548640" y="2944368"/>
            <a:ext cx="310896" cy="50292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3" name="Text 10"/>
          <p:cNvSpPr/>
          <p:nvPr/>
        </p:nvSpPr>
        <p:spPr>
          <a:xfrm>
            <a:off x="932688" y="1938528"/>
            <a:ext cx="640080" cy="50292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14" name="Text 11"/>
          <p:cNvSpPr/>
          <p:nvPr/>
        </p:nvSpPr>
        <p:spPr>
          <a:xfrm>
            <a:off x="1572768" y="1938528"/>
            <a:ext cx="640080" cy="50292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15" name="Text 12"/>
          <p:cNvSpPr/>
          <p:nvPr/>
        </p:nvSpPr>
        <p:spPr>
          <a:xfrm>
            <a:off x="2212848" y="1938528"/>
            <a:ext cx="640080" cy="50292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16" name="Text 13"/>
          <p:cNvSpPr/>
          <p:nvPr/>
        </p:nvSpPr>
        <p:spPr>
          <a:xfrm>
            <a:off x="932688" y="2441448"/>
            <a:ext cx="640080" cy="50292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17" name="Text 14"/>
          <p:cNvSpPr/>
          <p:nvPr/>
        </p:nvSpPr>
        <p:spPr>
          <a:xfrm>
            <a:off x="1572768" y="2441448"/>
            <a:ext cx="640080" cy="50292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5</a:t>
            </a:r>
            <a:endParaRPr lang="en-US" sz="1700" dirty="0"/>
          </a:p>
        </p:txBody>
      </p:sp>
      <p:sp>
        <p:nvSpPr>
          <p:cNvPr id="18" name="Text 15"/>
          <p:cNvSpPr/>
          <p:nvPr/>
        </p:nvSpPr>
        <p:spPr>
          <a:xfrm>
            <a:off x="2212848" y="2441448"/>
            <a:ext cx="640080" cy="502920"/>
          </a:xfrm>
          <a:prstGeom prst="rect">
            <a:avLst/>
          </a:prstGeom>
          <a:solidFill>
            <a:srgbClr val="9FD9B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a:t>
            </a:r>
            <a:endParaRPr lang="en-US" sz="1700" dirty="0"/>
          </a:p>
        </p:txBody>
      </p:sp>
      <p:sp>
        <p:nvSpPr>
          <p:cNvPr id="19" name="Text 16"/>
          <p:cNvSpPr/>
          <p:nvPr/>
        </p:nvSpPr>
        <p:spPr>
          <a:xfrm>
            <a:off x="932688" y="2944368"/>
            <a:ext cx="640080" cy="502920"/>
          </a:xfrm>
          <a:prstGeom prst="rect">
            <a:avLst/>
          </a:prstGeom>
          <a:solidFill>
            <a:srgbClr val="9CC3EE"/>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20" name="Text 17"/>
          <p:cNvSpPr/>
          <p:nvPr/>
        </p:nvSpPr>
        <p:spPr>
          <a:xfrm>
            <a:off x="1572768" y="2944368"/>
            <a:ext cx="640080" cy="502920"/>
          </a:xfrm>
          <a:prstGeom prst="rect">
            <a:avLst/>
          </a:prstGeom>
          <a:solidFill>
            <a:srgbClr val="9FD9BC"/>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4</a:t>
            </a:r>
            <a:endParaRPr lang="en-US" sz="1700" dirty="0"/>
          </a:p>
        </p:txBody>
      </p:sp>
      <p:sp>
        <p:nvSpPr>
          <p:cNvPr id="21" name="Text 18"/>
          <p:cNvSpPr/>
          <p:nvPr/>
        </p:nvSpPr>
        <p:spPr>
          <a:xfrm>
            <a:off x="2212848" y="2944368"/>
            <a:ext cx="640080" cy="502920"/>
          </a:xfrm>
          <a:prstGeom prst="rect">
            <a:avLst/>
          </a:prstGeom>
          <a:solidFill>
            <a:srgbClr val="EEF1F6"/>
          </a:solidFill>
          <a:ln w="9525">
            <a:solidFill>
              <a:srgbClr val="14213D"/>
            </a:solid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6</a:t>
            </a:r>
            <a:endParaRPr lang="en-US" sz="1700" dirty="0"/>
          </a:p>
        </p:txBody>
      </p:sp>
      <p:sp>
        <p:nvSpPr>
          <p:cNvPr id="22" name="Text 19"/>
          <p:cNvSpPr txBox="1"/>
          <p:nvPr/>
        </p:nvSpPr>
        <p:spPr>
          <a:xfrm>
            <a:off x="548640" y="3520440"/>
            <a:ext cx="25146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Same colour = mirror pair.</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S is symmetric: S</a:t>
            </a:r>
            <a:pPr indent="0" marL="0">
              <a:buNone/>
            </a:pPr>
            <a:r>
              <a:rPr lang="en-US" sz="1400" baseline="30000" dirty="0">
                <a:solidFill>
                  <a:srgbClr val="333B4F"/>
                </a:solidFill>
                <a:latin typeface="Calibri" pitchFamily="34" charset="0"/>
                <a:ea typeface="Calibri" pitchFamily="34" charset="-122"/>
                <a:cs typeface="Calibri" pitchFamily="34" charset="-120"/>
              </a:rPr>
              <a:t>T</a:t>
            </a:r>
            <a:pPr indent="0" marL="0">
              <a:buNone/>
            </a:pPr>
            <a:r>
              <a:rPr lang="en-US" sz="1400" dirty="0">
                <a:solidFill>
                  <a:srgbClr val="333B4F"/>
                </a:solidFill>
                <a:latin typeface="Calibri" pitchFamily="34" charset="0"/>
                <a:ea typeface="Calibri" pitchFamily="34" charset="-122"/>
                <a:cs typeface="Calibri" pitchFamily="34" charset="-120"/>
              </a:rPr>
              <a:t> = S</a:t>
            </a:r>
            <a:endParaRPr lang="en-US" sz="1400" dirty="0"/>
          </a:p>
        </p:txBody>
      </p:sp>
      <p:sp>
        <p:nvSpPr>
          <p:cNvPr id="23" name="Shape 20"/>
          <p:cNvSpPr/>
          <p:nvPr/>
        </p:nvSpPr>
        <p:spPr>
          <a:xfrm>
            <a:off x="3291840" y="1600200"/>
            <a:ext cx="8366760" cy="3337560"/>
          </a:xfrm>
          <a:prstGeom prst="roundRect">
            <a:avLst>
              <a:gd name="adj" fmla="val 2740"/>
            </a:avLst>
          </a:prstGeom>
          <a:solidFill>
            <a:srgbClr val="0F1729"/>
          </a:solidFill>
          <a:ln w="12700">
            <a:solidFill>
              <a:srgbClr val="0F1729"/>
            </a:solidFill>
            <a:prstDash val="solid"/>
          </a:ln>
        </p:spPr>
      </p:sp>
      <p:sp>
        <p:nvSpPr>
          <p:cNvPr id="24" name="Text 21"/>
          <p:cNvSpPr txBox="1"/>
          <p:nvPr/>
        </p:nvSpPr>
        <p:spPr>
          <a:xfrm>
            <a:off x="3520440" y="1764792"/>
            <a:ext cx="7909560" cy="306324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symmetric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checks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&lt; n; 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n; c++)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start right of the diagonal</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checks++;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(s[r, c] != s[c, 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symmetric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$"S symmetric? {symmetric}  ({checks} comparisons)"</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5" name="Shape 22"/>
          <p:cNvSpPr/>
          <p:nvPr/>
        </p:nvSpPr>
        <p:spPr>
          <a:xfrm>
            <a:off x="3291840" y="5074920"/>
            <a:ext cx="3931920" cy="1024128"/>
          </a:xfrm>
          <a:prstGeom prst="roundRect">
            <a:avLst>
              <a:gd name="adj" fmla="val 8929"/>
            </a:avLst>
          </a:prstGeom>
          <a:solidFill>
            <a:srgbClr val="0B0F19"/>
          </a:solidFill>
          <a:ln w="12700">
            <a:solidFill>
              <a:srgbClr val="2A3654"/>
            </a:solidFill>
            <a:prstDash val="solid"/>
          </a:ln>
        </p:spPr>
      </p:sp>
      <p:sp>
        <p:nvSpPr>
          <p:cNvPr id="26" name="Shape 23"/>
          <p:cNvSpPr/>
          <p:nvPr/>
        </p:nvSpPr>
        <p:spPr>
          <a:xfrm>
            <a:off x="3474720" y="5202936"/>
            <a:ext cx="118872" cy="118872"/>
          </a:xfrm>
          <a:prstGeom prst="ellipse">
            <a:avLst/>
          </a:prstGeom>
          <a:solidFill>
            <a:srgbClr val="FF5F57"/>
          </a:solidFill>
          <a:ln w="12700">
            <a:solidFill>
              <a:srgbClr val="FF5F57"/>
            </a:solidFill>
            <a:prstDash val="solid"/>
          </a:ln>
        </p:spPr>
      </p:sp>
      <p:sp>
        <p:nvSpPr>
          <p:cNvPr id="27" name="Shape 24"/>
          <p:cNvSpPr/>
          <p:nvPr/>
        </p:nvSpPr>
        <p:spPr>
          <a:xfrm>
            <a:off x="3703320" y="5202936"/>
            <a:ext cx="118872" cy="118872"/>
          </a:xfrm>
          <a:prstGeom prst="ellipse">
            <a:avLst/>
          </a:prstGeom>
          <a:solidFill>
            <a:srgbClr val="FEBC2E"/>
          </a:solidFill>
          <a:ln w="12700">
            <a:solidFill>
              <a:srgbClr val="FEBC2E"/>
            </a:solidFill>
            <a:prstDash val="solid"/>
          </a:ln>
        </p:spPr>
      </p:sp>
      <p:sp>
        <p:nvSpPr>
          <p:cNvPr id="28" name="Shape 25"/>
          <p:cNvSpPr/>
          <p:nvPr/>
        </p:nvSpPr>
        <p:spPr>
          <a:xfrm>
            <a:off x="3931920" y="5202936"/>
            <a:ext cx="118872" cy="118872"/>
          </a:xfrm>
          <a:prstGeom prst="ellipse">
            <a:avLst/>
          </a:prstGeom>
          <a:solidFill>
            <a:srgbClr val="28C840"/>
          </a:solidFill>
          <a:ln w="12700">
            <a:solidFill>
              <a:srgbClr val="28C840"/>
            </a:solidFill>
            <a:prstDash val="solid"/>
          </a:ln>
        </p:spPr>
      </p:sp>
      <p:sp>
        <p:nvSpPr>
          <p:cNvPr id="29" name="Text 26"/>
          <p:cNvSpPr txBox="1"/>
          <p:nvPr/>
        </p:nvSpPr>
        <p:spPr>
          <a:xfrm>
            <a:off x="4206240" y="514807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0" name="Text 27"/>
          <p:cNvSpPr txBox="1"/>
          <p:nvPr/>
        </p:nvSpPr>
        <p:spPr>
          <a:xfrm>
            <a:off x="3520440" y="5458968"/>
            <a:ext cx="3474720" cy="52120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 symmetric? True  (3 comparisons)</a:t>
            </a:r>
            <a:endParaRPr lang="en-US" sz="1300" dirty="0"/>
          </a:p>
        </p:txBody>
      </p:sp>
      <p:sp>
        <p:nvSpPr>
          <p:cNvPr id="31" name="Shape 28"/>
          <p:cNvSpPr/>
          <p:nvPr/>
        </p:nvSpPr>
        <p:spPr>
          <a:xfrm>
            <a:off x="7406640" y="5074920"/>
            <a:ext cx="4251960" cy="1024128"/>
          </a:xfrm>
          <a:prstGeom prst="roundRect">
            <a:avLst>
              <a:gd name="adj" fmla="val 10714"/>
            </a:avLst>
          </a:prstGeom>
          <a:solidFill>
            <a:srgbClr val="EEF1F6"/>
          </a:solidFill>
          <a:ln w="12700">
            <a:solidFill>
              <a:srgbClr val="EEF1F6"/>
            </a:solidFill>
            <a:prstDash val="solid"/>
          </a:ln>
        </p:spPr>
      </p:sp>
      <p:sp>
        <p:nvSpPr>
          <p:cNvPr id="32" name="Text 29"/>
          <p:cNvSpPr txBox="1"/>
          <p:nvPr/>
        </p:nvSpPr>
        <p:spPr>
          <a:xfrm>
            <a:off x="7589520" y="5120640"/>
            <a:ext cx="393192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Why c = r + 1?</a:t>
            </a:r>
            <a:endParaRPr lang="en-US" sz="1500" dirty="0"/>
          </a:p>
        </p:txBody>
      </p:sp>
      <p:sp>
        <p:nvSpPr>
          <p:cNvPr id="33" name="Text 30"/>
          <p:cNvSpPr txBox="1"/>
          <p:nvPr/>
        </p:nvSpPr>
        <p:spPr>
          <a:xfrm>
            <a:off x="7589520" y="5440680"/>
            <a:ext cx="3931920" cy="621792"/>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Only the upper triangle: n(n − 1)/2 = 3 pairs for n = 3, instead of 9 checks with c = 0.</a:t>
            </a:r>
            <a:endParaRPr lang="en-US" sz="1300" dirty="0"/>
          </a:p>
        </p:txBody>
      </p:sp>
      <p:sp>
        <p:nvSpPr>
          <p:cNvPr id="34" name="Shape 31"/>
          <p:cNvSpPr/>
          <p:nvPr/>
        </p:nvSpPr>
        <p:spPr>
          <a:xfrm>
            <a:off x="548640" y="4389120"/>
            <a:ext cx="2514600" cy="1709928"/>
          </a:xfrm>
          <a:prstGeom prst="roundRect">
            <a:avLst>
              <a:gd name="adj" fmla="val 6417"/>
            </a:avLst>
          </a:prstGeom>
          <a:solidFill>
            <a:srgbClr val="FFF6E3"/>
          </a:solidFill>
          <a:ln w="12700">
            <a:solidFill>
              <a:srgbClr val="FFF6E3"/>
            </a:solidFill>
            <a:prstDash val="solid"/>
          </a:ln>
        </p:spPr>
      </p:sp>
      <p:pic>
        <p:nvPicPr>
          <p:cNvPr id="35" name="Image 0" descr="preencoded.png">    </p:cNvPr>
          <p:cNvPicPr>
            <a:picLocks noChangeAspect="1"/>
          </p:cNvPicPr>
          <p:nvPr/>
        </p:nvPicPr>
        <p:blipFill>
          <a:blip r:embed="rId1"/>
          <a:stretch>
            <a:fillRect/>
          </a:stretch>
        </p:blipFill>
        <p:spPr>
          <a:xfrm>
            <a:off x="822960" y="4969764"/>
            <a:ext cx="548640" cy="548640"/>
          </a:xfrm>
          <a:prstGeom prst="rect">
            <a:avLst/>
          </a:prstGeom>
        </p:spPr>
      </p:pic>
      <p:sp>
        <p:nvSpPr>
          <p:cNvPr id="36" name="Text 32"/>
          <p:cNvSpPr txBox="1"/>
          <p:nvPr/>
        </p:nvSpPr>
        <p:spPr>
          <a:xfrm>
            <a:off x="1645920" y="4462272"/>
            <a:ext cx="1143000" cy="1563624"/>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Assume true, </a:t>
            </a:r>
            <a:pPr indent="0" marL="0">
              <a:buNone/>
            </a:pPr>
            <a:r>
              <a:rPr lang="en-US" sz="1350" dirty="0">
                <a:solidFill>
                  <a:srgbClr val="333B4F"/>
                </a:solidFill>
                <a:latin typeface="Calibri" pitchFamily="34" charset="0"/>
                <a:ea typeface="Calibri" pitchFamily="34" charset="-122"/>
                <a:cs typeface="Calibri" pitchFamily="34" charset="-120"/>
              </a:rPr>
              <a:t>then look for a counterexample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Matrix Arithmetic</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Addition, scalar multiplication and the row-times-column rule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11</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11_06_ADDSCALE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Addition and Scalar Multiplication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Text 4"/>
          <p:cNvSpPr txBox="1"/>
          <p:nvPr/>
        </p:nvSpPr>
        <p:spPr>
          <a:xfrm>
            <a:off x="548640" y="1572768"/>
            <a:ext cx="146304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A</a:t>
            </a:r>
            <a:endParaRPr lang="en-US" sz="1500" dirty="0"/>
          </a:p>
        </p:txBody>
      </p:sp>
      <p:sp>
        <p:nvSpPr>
          <p:cNvPr id="8" name="Text 5"/>
          <p:cNvSpPr/>
          <p:nvPr/>
        </p:nvSpPr>
        <p:spPr>
          <a:xfrm>
            <a:off x="5486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9" name="Text 6"/>
          <p:cNvSpPr/>
          <p:nvPr/>
        </p:nvSpPr>
        <p:spPr>
          <a:xfrm>
            <a:off x="10058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10" name="Text 7"/>
          <p:cNvSpPr/>
          <p:nvPr/>
        </p:nvSpPr>
        <p:spPr>
          <a:xfrm>
            <a:off x="14630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11" name="Text 8"/>
          <p:cNvSpPr/>
          <p:nvPr/>
        </p:nvSpPr>
        <p:spPr>
          <a:xfrm>
            <a:off x="5486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12" name="Text 9"/>
          <p:cNvSpPr/>
          <p:nvPr/>
        </p:nvSpPr>
        <p:spPr>
          <a:xfrm>
            <a:off x="10058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13" name="Text 10"/>
          <p:cNvSpPr/>
          <p:nvPr/>
        </p:nvSpPr>
        <p:spPr>
          <a:xfrm>
            <a:off x="14630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p>
        </p:txBody>
      </p:sp>
      <p:sp>
        <p:nvSpPr>
          <p:cNvPr id="14" name="Text 11"/>
          <p:cNvSpPr txBox="1"/>
          <p:nvPr/>
        </p:nvSpPr>
        <p:spPr>
          <a:xfrm>
            <a:off x="1920240" y="2075688"/>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15" name="Text 12"/>
          <p:cNvSpPr txBox="1"/>
          <p:nvPr/>
        </p:nvSpPr>
        <p:spPr>
          <a:xfrm>
            <a:off x="2377440" y="1572768"/>
            <a:ext cx="146304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B</a:t>
            </a:r>
            <a:endParaRPr lang="en-US" sz="1500" dirty="0"/>
          </a:p>
        </p:txBody>
      </p:sp>
      <p:sp>
        <p:nvSpPr>
          <p:cNvPr id="16" name="Text 13"/>
          <p:cNvSpPr/>
          <p:nvPr/>
        </p:nvSpPr>
        <p:spPr>
          <a:xfrm>
            <a:off x="23774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p>
        </p:txBody>
      </p:sp>
      <p:sp>
        <p:nvSpPr>
          <p:cNvPr id="17" name="Text 14"/>
          <p:cNvSpPr/>
          <p:nvPr/>
        </p:nvSpPr>
        <p:spPr>
          <a:xfrm>
            <a:off x="28346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a:t>
            </a:r>
            <a:endParaRPr lang="en-US" sz="1400" dirty="0"/>
          </a:p>
        </p:txBody>
      </p:sp>
      <p:sp>
        <p:nvSpPr>
          <p:cNvPr id="18" name="Text 15"/>
          <p:cNvSpPr/>
          <p:nvPr/>
        </p:nvSpPr>
        <p:spPr>
          <a:xfrm>
            <a:off x="3291840" y="187452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30</a:t>
            </a:r>
            <a:endParaRPr lang="en-US" sz="1400" dirty="0"/>
          </a:p>
        </p:txBody>
      </p:sp>
      <p:sp>
        <p:nvSpPr>
          <p:cNvPr id="19" name="Text 16"/>
          <p:cNvSpPr/>
          <p:nvPr/>
        </p:nvSpPr>
        <p:spPr>
          <a:xfrm>
            <a:off x="23774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20" name="Text 17"/>
          <p:cNvSpPr/>
          <p:nvPr/>
        </p:nvSpPr>
        <p:spPr>
          <a:xfrm>
            <a:off x="28346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21" name="Text 18"/>
          <p:cNvSpPr/>
          <p:nvPr/>
        </p:nvSpPr>
        <p:spPr>
          <a:xfrm>
            <a:off x="3291840" y="22860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2" name="Text 19"/>
          <p:cNvSpPr txBox="1"/>
          <p:nvPr/>
        </p:nvSpPr>
        <p:spPr>
          <a:xfrm>
            <a:off x="3749040" y="2075688"/>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23" name="Text 20"/>
          <p:cNvSpPr txBox="1"/>
          <p:nvPr/>
        </p:nvSpPr>
        <p:spPr>
          <a:xfrm>
            <a:off x="4206240" y="1572768"/>
            <a:ext cx="146304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A + B</a:t>
            </a:r>
            <a:endParaRPr lang="en-US" sz="1500" dirty="0"/>
          </a:p>
        </p:txBody>
      </p:sp>
      <p:sp>
        <p:nvSpPr>
          <p:cNvPr id="24" name="Text 21"/>
          <p:cNvSpPr/>
          <p:nvPr/>
        </p:nvSpPr>
        <p:spPr>
          <a:xfrm>
            <a:off x="4206240" y="187452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11</a:t>
            </a:r>
            <a:endParaRPr lang="en-US" sz="1400" dirty="0"/>
          </a:p>
        </p:txBody>
      </p:sp>
      <p:sp>
        <p:nvSpPr>
          <p:cNvPr id="25" name="Text 22"/>
          <p:cNvSpPr/>
          <p:nvPr/>
        </p:nvSpPr>
        <p:spPr>
          <a:xfrm>
            <a:off x="4663440" y="187452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22</a:t>
            </a:r>
            <a:endParaRPr lang="en-US" sz="1400" dirty="0"/>
          </a:p>
        </p:txBody>
      </p:sp>
      <p:sp>
        <p:nvSpPr>
          <p:cNvPr id="26" name="Text 23"/>
          <p:cNvSpPr/>
          <p:nvPr/>
        </p:nvSpPr>
        <p:spPr>
          <a:xfrm>
            <a:off x="5120640" y="187452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33</a:t>
            </a:r>
            <a:endParaRPr lang="en-US" sz="1400" dirty="0"/>
          </a:p>
        </p:txBody>
      </p:sp>
      <p:sp>
        <p:nvSpPr>
          <p:cNvPr id="27" name="Text 24"/>
          <p:cNvSpPr/>
          <p:nvPr/>
        </p:nvSpPr>
        <p:spPr>
          <a:xfrm>
            <a:off x="4206240" y="228600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8" name="Text 25"/>
          <p:cNvSpPr/>
          <p:nvPr/>
        </p:nvSpPr>
        <p:spPr>
          <a:xfrm>
            <a:off x="4663440" y="228600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9" name="Text 26"/>
          <p:cNvSpPr/>
          <p:nvPr/>
        </p:nvSpPr>
        <p:spPr>
          <a:xfrm>
            <a:off x="5120640" y="2286000"/>
            <a:ext cx="45720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30" name="Text 27"/>
          <p:cNvSpPr txBox="1"/>
          <p:nvPr/>
        </p:nvSpPr>
        <p:spPr>
          <a:xfrm>
            <a:off x="548640" y="2971800"/>
            <a:ext cx="457200" cy="822960"/>
          </a:xfrm>
          <a:prstGeom prst="rect">
            <a:avLst/>
          </a:prstGeom>
          <a:noFill/>
          <a:ln/>
        </p:spPr>
        <p:txBody>
          <a:bodyPr wrap="square" lIns="0" tIns="0" rIns="0" bIns="0" rtlCol="0" anchor="ctr"/>
          <a:lstStyle/>
          <a:p>
            <a:pPr algn="ctr" indent="0" marL="0">
              <a:buNone/>
            </a:pPr>
            <a:r>
              <a:rPr lang="en-US" sz="2400" b="1" dirty="0">
                <a:solidFill>
                  <a:srgbClr val="B7791F"/>
                </a:solidFill>
                <a:latin typeface="Cambria" pitchFamily="34" charset="0"/>
                <a:ea typeface="Cambria" pitchFamily="34" charset="-122"/>
                <a:cs typeface="Cambria" pitchFamily="34" charset="-120"/>
              </a:rPr>
              <a:t>3</a:t>
            </a:r>
            <a:endParaRPr lang="en-US" sz="2400" dirty="0"/>
          </a:p>
        </p:txBody>
      </p:sp>
      <p:sp>
        <p:nvSpPr>
          <p:cNvPr id="31" name="Text 28"/>
          <p:cNvSpPr txBox="1"/>
          <p:nvPr/>
        </p:nvSpPr>
        <p:spPr>
          <a:xfrm>
            <a:off x="960120" y="315468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32" name="Text 29"/>
          <p:cNvSpPr/>
          <p:nvPr/>
        </p:nvSpPr>
        <p:spPr>
          <a:xfrm>
            <a:off x="1463040" y="29718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33" name="Text 30"/>
          <p:cNvSpPr/>
          <p:nvPr/>
        </p:nvSpPr>
        <p:spPr>
          <a:xfrm>
            <a:off x="1920240" y="29718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34" name="Text 31"/>
          <p:cNvSpPr/>
          <p:nvPr/>
        </p:nvSpPr>
        <p:spPr>
          <a:xfrm>
            <a:off x="2377440" y="297180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35" name="Text 32"/>
          <p:cNvSpPr/>
          <p:nvPr/>
        </p:nvSpPr>
        <p:spPr>
          <a:xfrm>
            <a:off x="1463040" y="338328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36" name="Text 33"/>
          <p:cNvSpPr/>
          <p:nvPr/>
        </p:nvSpPr>
        <p:spPr>
          <a:xfrm>
            <a:off x="1920240" y="338328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37" name="Text 34"/>
          <p:cNvSpPr/>
          <p:nvPr/>
        </p:nvSpPr>
        <p:spPr>
          <a:xfrm>
            <a:off x="2377440" y="3383280"/>
            <a:ext cx="45720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p>
        </p:txBody>
      </p:sp>
      <p:sp>
        <p:nvSpPr>
          <p:cNvPr id="38" name="Text 35"/>
          <p:cNvSpPr txBox="1"/>
          <p:nvPr/>
        </p:nvSpPr>
        <p:spPr>
          <a:xfrm>
            <a:off x="2834640" y="315468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39" name="Text 36"/>
          <p:cNvSpPr/>
          <p:nvPr/>
        </p:nvSpPr>
        <p:spPr>
          <a:xfrm>
            <a:off x="3291840" y="297180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40" name="Text 37"/>
          <p:cNvSpPr/>
          <p:nvPr/>
        </p:nvSpPr>
        <p:spPr>
          <a:xfrm>
            <a:off x="3749040" y="297180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p>
        </p:txBody>
      </p:sp>
      <p:sp>
        <p:nvSpPr>
          <p:cNvPr id="41" name="Text 38"/>
          <p:cNvSpPr/>
          <p:nvPr/>
        </p:nvSpPr>
        <p:spPr>
          <a:xfrm>
            <a:off x="4206240" y="297180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42" name="Text 39"/>
          <p:cNvSpPr/>
          <p:nvPr/>
        </p:nvSpPr>
        <p:spPr>
          <a:xfrm>
            <a:off x="3291840" y="338328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43" name="Text 40"/>
          <p:cNvSpPr/>
          <p:nvPr/>
        </p:nvSpPr>
        <p:spPr>
          <a:xfrm>
            <a:off x="3749040" y="338328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p>
        </p:txBody>
      </p:sp>
      <p:sp>
        <p:nvSpPr>
          <p:cNvPr id="44" name="Text 41"/>
          <p:cNvSpPr/>
          <p:nvPr/>
        </p:nvSpPr>
        <p:spPr>
          <a:xfrm>
            <a:off x="4206240" y="3383280"/>
            <a:ext cx="457200" cy="411480"/>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18</a:t>
            </a:r>
            <a:endParaRPr lang="en-US" sz="1400" dirty="0"/>
          </a:p>
        </p:txBody>
      </p:sp>
      <p:sp>
        <p:nvSpPr>
          <p:cNvPr id="45" name="Text 42"/>
          <p:cNvSpPr txBox="1"/>
          <p:nvPr/>
        </p:nvSpPr>
        <p:spPr>
          <a:xfrm>
            <a:off x="548640" y="4023360"/>
            <a:ext cx="507492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 + B: </a:t>
            </a:r>
            <a:pPr indent="0" marL="0">
              <a:buNone/>
            </a:pPr>
            <a:r>
              <a:rPr lang="en-US" sz="1500" dirty="0">
                <a:solidFill>
                  <a:srgbClr val="333B4F"/>
                </a:solidFill>
                <a:latin typeface="Calibri" pitchFamily="34" charset="0"/>
                <a:ea typeface="Calibri" pitchFamily="34" charset="-122"/>
                <a:cs typeface="Calibri" pitchFamily="34" charset="-120"/>
              </a:rPr>
              <a:t>only if both have the same size</a:t>
            </a:r>
            <a:endParaRPr lang="en-US" sz="1500" dirty="0"/>
          </a:p>
          <a:p>
            <a:pPr indent="0" marL="0">
              <a:buNone/>
            </a:pPr>
            <a:r>
              <a:rPr lang="en-US" sz="1500" b="1" dirty="0">
                <a:solidFill>
                  <a:srgbClr val="14213D"/>
                </a:solidFill>
                <a:latin typeface="Calibri" pitchFamily="34" charset="0"/>
                <a:ea typeface="Calibri" pitchFamily="34" charset="-122"/>
                <a:cs typeface="Calibri" pitchFamily="34" charset="-120"/>
              </a:rPr>
              <a:t>k · A: </a:t>
            </a:r>
            <a:pPr indent="0" marL="0">
              <a:buNone/>
            </a:pPr>
            <a:r>
              <a:rPr lang="en-US" sz="1500" dirty="0">
                <a:solidFill>
                  <a:srgbClr val="333B4F"/>
                </a:solidFill>
                <a:latin typeface="Calibri" pitchFamily="34" charset="0"/>
                <a:ea typeface="Calibri" pitchFamily="34" charset="-122"/>
                <a:cs typeface="Calibri" pitchFamily="34" charset="-120"/>
              </a:rPr>
              <a:t>always defined</a:t>
            </a:r>
            <a:endParaRPr lang="en-US" sz="1500" dirty="0"/>
          </a:p>
        </p:txBody>
      </p:sp>
      <p:sp>
        <p:nvSpPr>
          <p:cNvPr id="46" name="Shape 43"/>
          <p:cNvSpPr/>
          <p:nvPr/>
        </p:nvSpPr>
        <p:spPr>
          <a:xfrm>
            <a:off x="548640" y="4754880"/>
            <a:ext cx="2606040" cy="1344168"/>
          </a:xfrm>
          <a:prstGeom prst="roundRect">
            <a:avLst>
              <a:gd name="adj" fmla="val 6803"/>
            </a:avLst>
          </a:prstGeom>
          <a:solidFill>
            <a:srgbClr val="0B0F19"/>
          </a:solidFill>
          <a:ln w="12700">
            <a:solidFill>
              <a:srgbClr val="2A3654"/>
            </a:solidFill>
            <a:prstDash val="solid"/>
          </a:ln>
        </p:spPr>
      </p:sp>
      <p:sp>
        <p:nvSpPr>
          <p:cNvPr id="47" name="Shape 44"/>
          <p:cNvSpPr/>
          <p:nvPr/>
        </p:nvSpPr>
        <p:spPr>
          <a:xfrm>
            <a:off x="731520" y="4882896"/>
            <a:ext cx="118872" cy="118872"/>
          </a:xfrm>
          <a:prstGeom prst="ellipse">
            <a:avLst/>
          </a:prstGeom>
          <a:solidFill>
            <a:srgbClr val="FF5F57"/>
          </a:solidFill>
          <a:ln w="12700">
            <a:solidFill>
              <a:srgbClr val="FF5F57"/>
            </a:solidFill>
            <a:prstDash val="solid"/>
          </a:ln>
        </p:spPr>
      </p:sp>
      <p:sp>
        <p:nvSpPr>
          <p:cNvPr id="48" name="Shape 45"/>
          <p:cNvSpPr/>
          <p:nvPr/>
        </p:nvSpPr>
        <p:spPr>
          <a:xfrm>
            <a:off x="960120" y="4882896"/>
            <a:ext cx="118872" cy="118872"/>
          </a:xfrm>
          <a:prstGeom prst="ellipse">
            <a:avLst/>
          </a:prstGeom>
          <a:solidFill>
            <a:srgbClr val="FEBC2E"/>
          </a:solidFill>
          <a:ln w="12700">
            <a:solidFill>
              <a:srgbClr val="FEBC2E"/>
            </a:solidFill>
            <a:prstDash val="solid"/>
          </a:ln>
        </p:spPr>
      </p:sp>
      <p:sp>
        <p:nvSpPr>
          <p:cNvPr id="49" name="Shape 46"/>
          <p:cNvSpPr/>
          <p:nvPr/>
        </p:nvSpPr>
        <p:spPr>
          <a:xfrm>
            <a:off x="1188720" y="4882896"/>
            <a:ext cx="118872" cy="118872"/>
          </a:xfrm>
          <a:prstGeom prst="ellipse">
            <a:avLst/>
          </a:prstGeom>
          <a:solidFill>
            <a:srgbClr val="28C840"/>
          </a:solidFill>
          <a:ln w="12700">
            <a:solidFill>
              <a:srgbClr val="28C840"/>
            </a:solidFill>
            <a:prstDash val="solid"/>
          </a:ln>
        </p:spPr>
      </p:sp>
      <p:sp>
        <p:nvSpPr>
          <p:cNvPr id="50" name="Text 47"/>
          <p:cNvSpPr txBox="1"/>
          <p:nvPr/>
        </p:nvSpPr>
        <p:spPr>
          <a:xfrm>
            <a:off x="1463040" y="4828032"/>
            <a:ext cx="1508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code/11_06_AddScale</a:t>
            </a:r>
            <a:endParaRPr lang="en-US" sz="1000" dirty="0"/>
          </a:p>
        </p:txBody>
      </p:sp>
      <p:sp>
        <p:nvSpPr>
          <p:cNvPr id="51" name="Text 48"/>
          <p:cNvSpPr txBox="1"/>
          <p:nvPr/>
        </p:nvSpPr>
        <p:spPr>
          <a:xfrm>
            <a:off x="777240" y="5138928"/>
            <a:ext cx="2148840" cy="84124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Scalar k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 B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11   22   33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3    3    3</a:t>
            </a:r>
            <a:endParaRPr lang="en-US" sz="1300" dirty="0"/>
          </a:p>
        </p:txBody>
      </p:sp>
      <p:sp>
        <p:nvSpPr>
          <p:cNvPr id="52" name="Shape 49"/>
          <p:cNvSpPr/>
          <p:nvPr/>
        </p:nvSpPr>
        <p:spPr>
          <a:xfrm>
            <a:off x="3291840" y="4754880"/>
            <a:ext cx="2331720" cy="1344168"/>
          </a:xfrm>
          <a:prstGeom prst="roundRect">
            <a:avLst>
              <a:gd name="adj" fmla="val 6803"/>
            </a:avLst>
          </a:prstGeom>
          <a:solidFill>
            <a:srgbClr val="0B0F19"/>
          </a:solidFill>
          <a:ln w="12700">
            <a:solidFill>
              <a:srgbClr val="2A3654"/>
            </a:solidFill>
            <a:prstDash val="solid"/>
          </a:ln>
        </p:spPr>
      </p:sp>
      <p:sp>
        <p:nvSpPr>
          <p:cNvPr id="53" name="Shape 50"/>
          <p:cNvSpPr/>
          <p:nvPr/>
        </p:nvSpPr>
        <p:spPr>
          <a:xfrm>
            <a:off x="3474720" y="4882896"/>
            <a:ext cx="118872" cy="118872"/>
          </a:xfrm>
          <a:prstGeom prst="ellipse">
            <a:avLst/>
          </a:prstGeom>
          <a:solidFill>
            <a:srgbClr val="FF5F57"/>
          </a:solidFill>
          <a:ln w="12700">
            <a:solidFill>
              <a:srgbClr val="FF5F57"/>
            </a:solidFill>
            <a:prstDash val="solid"/>
          </a:ln>
        </p:spPr>
      </p:sp>
      <p:sp>
        <p:nvSpPr>
          <p:cNvPr id="54" name="Shape 51"/>
          <p:cNvSpPr/>
          <p:nvPr/>
        </p:nvSpPr>
        <p:spPr>
          <a:xfrm>
            <a:off x="3703320" y="4882896"/>
            <a:ext cx="118872" cy="118872"/>
          </a:xfrm>
          <a:prstGeom prst="ellipse">
            <a:avLst/>
          </a:prstGeom>
          <a:solidFill>
            <a:srgbClr val="FEBC2E"/>
          </a:solidFill>
          <a:ln w="12700">
            <a:solidFill>
              <a:srgbClr val="FEBC2E"/>
            </a:solidFill>
            <a:prstDash val="solid"/>
          </a:ln>
        </p:spPr>
      </p:sp>
      <p:sp>
        <p:nvSpPr>
          <p:cNvPr id="55" name="Shape 52"/>
          <p:cNvSpPr/>
          <p:nvPr/>
        </p:nvSpPr>
        <p:spPr>
          <a:xfrm>
            <a:off x="3931920" y="4882896"/>
            <a:ext cx="118872" cy="118872"/>
          </a:xfrm>
          <a:prstGeom prst="ellipse">
            <a:avLst/>
          </a:prstGeom>
          <a:solidFill>
            <a:srgbClr val="28C840"/>
          </a:solidFill>
          <a:ln w="12700">
            <a:solidFill>
              <a:srgbClr val="28C840"/>
            </a:solidFill>
            <a:prstDash val="solid"/>
          </a:ln>
        </p:spPr>
      </p:sp>
      <p:sp>
        <p:nvSpPr>
          <p:cNvPr id="56" name="Text 53"/>
          <p:cNvSpPr txBox="1"/>
          <p:nvPr/>
        </p:nvSpPr>
        <p:spPr>
          <a:xfrm>
            <a:off x="4206240" y="4828032"/>
            <a:ext cx="1234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continued</a:t>
            </a:r>
            <a:endParaRPr lang="en-US" sz="1000" dirty="0"/>
          </a:p>
        </p:txBody>
      </p:sp>
      <p:sp>
        <p:nvSpPr>
          <p:cNvPr id="57" name="Text 54"/>
          <p:cNvSpPr txBox="1"/>
          <p:nvPr/>
        </p:nvSpPr>
        <p:spPr>
          <a:xfrm>
            <a:off x="3520440" y="5138928"/>
            <a:ext cx="1874520" cy="84124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3 * A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3    6    9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12   15   18</a:t>
            </a:r>
            <a:endParaRPr lang="en-US" sz="1300" dirty="0"/>
          </a:p>
        </p:txBody>
      </p:sp>
      <p:sp>
        <p:nvSpPr>
          <p:cNvPr id="58" name="Text 55"/>
          <p:cNvSpPr txBox="1"/>
          <p:nvPr/>
        </p:nvSpPr>
        <p:spPr>
          <a:xfrm>
            <a:off x="5852160" y="1572768"/>
            <a:ext cx="5806440" cy="329184"/>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First check the sizes …</a:t>
            </a:r>
            <a:endParaRPr lang="en-US" sz="1500" dirty="0"/>
          </a:p>
        </p:txBody>
      </p:sp>
      <p:sp>
        <p:nvSpPr>
          <p:cNvPr id="59" name="Shape 56"/>
          <p:cNvSpPr/>
          <p:nvPr/>
        </p:nvSpPr>
        <p:spPr>
          <a:xfrm>
            <a:off x="5852160" y="1920240"/>
            <a:ext cx="5806440" cy="594360"/>
          </a:xfrm>
          <a:prstGeom prst="roundRect">
            <a:avLst>
              <a:gd name="adj" fmla="val 15385"/>
            </a:avLst>
          </a:prstGeom>
          <a:solidFill>
            <a:srgbClr val="0F1729"/>
          </a:solidFill>
          <a:ln w="12700">
            <a:solidFill>
              <a:srgbClr val="0F1729"/>
            </a:solidFill>
            <a:prstDash val="solid"/>
          </a:ln>
        </p:spPr>
      </p:sp>
      <p:sp>
        <p:nvSpPr>
          <p:cNvPr id="60" name="Text 57"/>
          <p:cNvSpPr txBox="1"/>
          <p:nvPr/>
        </p:nvSpPr>
        <p:spPr>
          <a:xfrm>
            <a:off x="6080760" y="2084832"/>
            <a:ext cx="5349240" cy="320040"/>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(rows != b.GetLength(</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 cols != b.GetLength(</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61" name="Text 58"/>
          <p:cNvSpPr txBox="1"/>
          <p:nvPr/>
        </p:nvSpPr>
        <p:spPr>
          <a:xfrm>
            <a:off x="5852160" y="2651760"/>
            <a:ext cx="5806440" cy="329184"/>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 then add element by element (else branch)</a:t>
            </a:r>
            <a:endParaRPr lang="en-US" sz="1500" dirty="0"/>
          </a:p>
        </p:txBody>
      </p:sp>
      <p:sp>
        <p:nvSpPr>
          <p:cNvPr id="62" name="Shape 59"/>
          <p:cNvSpPr/>
          <p:nvPr/>
        </p:nvSpPr>
        <p:spPr>
          <a:xfrm>
            <a:off x="5852160" y="2999232"/>
            <a:ext cx="5806440" cy="3099816"/>
          </a:xfrm>
          <a:prstGeom prst="roundRect">
            <a:avLst>
              <a:gd name="adj" fmla="val 2950"/>
            </a:avLst>
          </a:prstGeom>
          <a:solidFill>
            <a:srgbClr val="0F1729"/>
          </a:solidFill>
          <a:ln w="12700">
            <a:solidFill>
              <a:srgbClr val="0F1729"/>
            </a:solidFill>
            <a:prstDash val="solid"/>
          </a:ln>
        </p:spPr>
      </p:sp>
      <p:sp>
        <p:nvSpPr>
          <p:cNvPr id="63" name="Text 60"/>
          <p:cNvSpPr txBox="1"/>
          <p:nvPr/>
        </p:nvSpPr>
        <p:spPr>
          <a:xfrm>
            <a:off x="6080760" y="3163824"/>
            <a:ext cx="5349240" cy="2825496"/>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[rows, cols];</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 &lt; rows; r++)</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 &lt; cols; c++)</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sum[r, c] = a[r, c] + b[r, c];</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MATRIX MULTIPLICATION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Row Times Column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Text 4"/>
          <p:cNvSpPr txBox="1"/>
          <p:nvPr/>
        </p:nvSpPr>
        <p:spPr>
          <a:xfrm>
            <a:off x="548640" y="1554480"/>
            <a:ext cx="219456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A  (2 × 3)</a:t>
            </a:r>
            <a:endParaRPr lang="en-US" sz="1500" dirty="0"/>
          </a:p>
        </p:txBody>
      </p:sp>
      <p:sp>
        <p:nvSpPr>
          <p:cNvPr id="8" name="Text 5"/>
          <p:cNvSpPr txBox="1"/>
          <p:nvPr/>
        </p:nvSpPr>
        <p:spPr>
          <a:xfrm>
            <a:off x="932688" y="1810512"/>
            <a:ext cx="5029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9" name="Text 6"/>
          <p:cNvSpPr txBox="1"/>
          <p:nvPr/>
        </p:nvSpPr>
        <p:spPr>
          <a:xfrm>
            <a:off x="1435608" y="1810512"/>
            <a:ext cx="5029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1938528" y="1810512"/>
            <a:ext cx="5029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548640" y="210312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2" name="Text 9"/>
          <p:cNvSpPr txBox="1"/>
          <p:nvPr/>
        </p:nvSpPr>
        <p:spPr>
          <a:xfrm>
            <a:off x="548640" y="251460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3" name="Text 10"/>
          <p:cNvSpPr/>
          <p:nvPr/>
        </p:nvSpPr>
        <p:spPr>
          <a:xfrm>
            <a:off x="932688" y="210312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a:t>
            </a:r>
            <a:endParaRPr lang="en-US" sz="1400" dirty="0"/>
          </a:p>
        </p:txBody>
      </p:sp>
      <p:sp>
        <p:nvSpPr>
          <p:cNvPr id="14" name="Text 11"/>
          <p:cNvSpPr/>
          <p:nvPr/>
        </p:nvSpPr>
        <p:spPr>
          <a:xfrm>
            <a:off x="1435608" y="210312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15" name="Text 12"/>
          <p:cNvSpPr/>
          <p:nvPr/>
        </p:nvSpPr>
        <p:spPr>
          <a:xfrm>
            <a:off x="1938528" y="210312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16" name="Text 13"/>
          <p:cNvSpPr/>
          <p:nvPr/>
        </p:nvSpPr>
        <p:spPr>
          <a:xfrm>
            <a:off x="932688" y="25146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p>
        </p:txBody>
      </p:sp>
      <p:sp>
        <p:nvSpPr>
          <p:cNvPr id="17" name="Text 14"/>
          <p:cNvSpPr/>
          <p:nvPr/>
        </p:nvSpPr>
        <p:spPr>
          <a:xfrm>
            <a:off x="1435608" y="25146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18" name="Text 15"/>
          <p:cNvSpPr/>
          <p:nvPr/>
        </p:nvSpPr>
        <p:spPr>
          <a:xfrm>
            <a:off x="1938528" y="25146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p>
        </p:txBody>
      </p:sp>
      <p:sp>
        <p:nvSpPr>
          <p:cNvPr id="19" name="Text 16"/>
          <p:cNvSpPr txBox="1"/>
          <p:nvPr/>
        </p:nvSpPr>
        <p:spPr>
          <a:xfrm>
            <a:off x="2514600" y="214884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20" name="Text 17"/>
          <p:cNvSpPr txBox="1"/>
          <p:nvPr/>
        </p:nvSpPr>
        <p:spPr>
          <a:xfrm>
            <a:off x="3017520" y="1554480"/>
            <a:ext cx="219456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B  (3 × 2)</a:t>
            </a:r>
            <a:endParaRPr lang="en-US" sz="1500" dirty="0"/>
          </a:p>
        </p:txBody>
      </p:sp>
      <p:sp>
        <p:nvSpPr>
          <p:cNvPr id="21" name="Text 18"/>
          <p:cNvSpPr txBox="1"/>
          <p:nvPr/>
        </p:nvSpPr>
        <p:spPr>
          <a:xfrm>
            <a:off x="3401568" y="1810512"/>
            <a:ext cx="5029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22" name="Text 19"/>
          <p:cNvSpPr txBox="1"/>
          <p:nvPr/>
        </p:nvSpPr>
        <p:spPr>
          <a:xfrm>
            <a:off x="3904488" y="1810512"/>
            <a:ext cx="5029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23" name="Text 20"/>
          <p:cNvSpPr txBox="1"/>
          <p:nvPr/>
        </p:nvSpPr>
        <p:spPr>
          <a:xfrm>
            <a:off x="3017520" y="210312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24" name="Text 21"/>
          <p:cNvSpPr txBox="1"/>
          <p:nvPr/>
        </p:nvSpPr>
        <p:spPr>
          <a:xfrm>
            <a:off x="3017520" y="251460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25" name="Text 22"/>
          <p:cNvSpPr txBox="1"/>
          <p:nvPr/>
        </p:nvSpPr>
        <p:spPr>
          <a:xfrm>
            <a:off x="3017520" y="292608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26" name="Text 23"/>
          <p:cNvSpPr/>
          <p:nvPr/>
        </p:nvSpPr>
        <p:spPr>
          <a:xfrm>
            <a:off x="3401568" y="210312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p>
        </p:txBody>
      </p:sp>
      <p:sp>
        <p:nvSpPr>
          <p:cNvPr id="27" name="Text 24"/>
          <p:cNvSpPr/>
          <p:nvPr/>
        </p:nvSpPr>
        <p:spPr>
          <a:xfrm>
            <a:off x="3904488" y="210312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8</a:t>
            </a:r>
            <a:endParaRPr lang="en-US" sz="1400" dirty="0"/>
          </a:p>
        </p:txBody>
      </p:sp>
      <p:sp>
        <p:nvSpPr>
          <p:cNvPr id="28" name="Text 25"/>
          <p:cNvSpPr/>
          <p:nvPr/>
        </p:nvSpPr>
        <p:spPr>
          <a:xfrm>
            <a:off x="3401568" y="25146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p>
        </p:txBody>
      </p:sp>
      <p:sp>
        <p:nvSpPr>
          <p:cNvPr id="29" name="Text 26"/>
          <p:cNvSpPr/>
          <p:nvPr/>
        </p:nvSpPr>
        <p:spPr>
          <a:xfrm>
            <a:off x="3904488" y="251460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10</a:t>
            </a:r>
            <a:endParaRPr lang="en-US" sz="1400" dirty="0"/>
          </a:p>
        </p:txBody>
      </p:sp>
      <p:sp>
        <p:nvSpPr>
          <p:cNvPr id="30" name="Text 27"/>
          <p:cNvSpPr/>
          <p:nvPr/>
        </p:nvSpPr>
        <p:spPr>
          <a:xfrm>
            <a:off x="3401568" y="292608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11</a:t>
            </a:r>
            <a:endParaRPr lang="en-US" sz="1400" dirty="0"/>
          </a:p>
        </p:txBody>
      </p:sp>
      <p:sp>
        <p:nvSpPr>
          <p:cNvPr id="31" name="Text 28"/>
          <p:cNvSpPr/>
          <p:nvPr/>
        </p:nvSpPr>
        <p:spPr>
          <a:xfrm>
            <a:off x="3904488" y="2926080"/>
            <a:ext cx="50292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12</a:t>
            </a:r>
            <a:endParaRPr lang="en-US" sz="1400" dirty="0"/>
          </a:p>
        </p:txBody>
      </p:sp>
      <p:sp>
        <p:nvSpPr>
          <p:cNvPr id="32" name="Text 29"/>
          <p:cNvSpPr txBox="1"/>
          <p:nvPr/>
        </p:nvSpPr>
        <p:spPr>
          <a:xfrm>
            <a:off x="4526280" y="214884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33" name="Text 30"/>
          <p:cNvSpPr txBox="1"/>
          <p:nvPr/>
        </p:nvSpPr>
        <p:spPr>
          <a:xfrm>
            <a:off x="5029200" y="1554480"/>
            <a:ext cx="2194560" cy="274320"/>
          </a:xfrm>
          <a:prstGeom prst="rect">
            <a:avLst/>
          </a:prstGeom>
          <a:noFill/>
          <a:ln/>
        </p:spPr>
        <p:txBody>
          <a:bodyPr wrap="square" lIns="0" tIns="0" rIns="0" bIns="0" rtlCol="0" anchor="ctr"/>
          <a:lstStyle/>
          <a:p>
            <a:pPr indent="0" marL="0">
              <a:buNone/>
            </a:pPr>
            <a:r>
              <a:rPr lang="en-US" sz="1500" b="1" dirty="0">
                <a:solidFill>
                  <a:srgbClr val="333B4F"/>
                </a:solidFill>
                <a:latin typeface="Cambria" pitchFamily="34" charset="0"/>
                <a:ea typeface="Cambria" pitchFamily="34" charset="-122"/>
                <a:cs typeface="Cambria" pitchFamily="34" charset="-120"/>
              </a:rPr>
              <a:t>C  (2 × 2)</a:t>
            </a:r>
            <a:endParaRPr lang="en-US" sz="1500" dirty="0"/>
          </a:p>
        </p:txBody>
      </p:sp>
      <p:sp>
        <p:nvSpPr>
          <p:cNvPr id="34" name="Text 31"/>
          <p:cNvSpPr txBox="1"/>
          <p:nvPr/>
        </p:nvSpPr>
        <p:spPr>
          <a:xfrm>
            <a:off x="5413248" y="1810512"/>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35" name="Text 32"/>
          <p:cNvSpPr txBox="1"/>
          <p:nvPr/>
        </p:nvSpPr>
        <p:spPr>
          <a:xfrm>
            <a:off x="6053328" y="1810512"/>
            <a:ext cx="6400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36" name="Text 33"/>
          <p:cNvSpPr txBox="1"/>
          <p:nvPr/>
        </p:nvSpPr>
        <p:spPr>
          <a:xfrm>
            <a:off x="5029200" y="210312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37" name="Text 34"/>
          <p:cNvSpPr txBox="1"/>
          <p:nvPr/>
        </p:nvSpPr>
        <p:spPr>
          <a:xfrm>
            <a:off x="5029200" y="2514600"/>
            <a:ext cx="310896" cy="4114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38" name="Text 35"/>
          <p:cNvSpPr/>
          <p:nvPr/>
        </p:nvSpPr>
        <p:spPr>
          <a:xfrm>
            <a:off x="5413248" y="2103120"/>
            <a:ext cx="64008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58</a:t>
            </a:r>
            <a:endParaRPr lang="en-US" sz="1400" dirty="0"/>
          </a:p>
        </p:txBody>
      </p:sp>
      <p:sp>
        <p:nvSpPr>
          <p:cNvPr id="39" name="Text 36"/>
          <p:cNvSpPr/>
          <p:nvPr/>
        </p:nvSpPr>
        <p:spPr>
          <a:xfrm>
            <a:off x="6053328" y="2103120"/>
            <a:ext cx="640080" cy="4114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64</a:t>
            </a:r>
            <a:endParaRPr lang="en-US" sz="1400" dirty="0"/>
          </a:p>
        </p:txBody>
      </p:sp>
      <p:sp>
        <p:nvSpPr>
          <p:cNvPr id="40" name="Text 37"/>
          <p:cNvSpPr/>
          <p:nvPr/>
        </p:nvSpPr>
        <p:spPr>
          <a:xfrm>
            <a:off x="5413248" y="2514600"/>
            <a:ext cx="64008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139</a:t>
            </a:r>
            <a:endParaRPr lang="en-US" sz="1400" dirty="0"/>
          </a:p>
        </p:txBody>
      </p:sp>
      <p:sp>
        <p:nvSpPr>
          <p:cNvPr id="41" name="Text 38"/>
          <p:cNvSpPr/>
          <p:nvPr/>
        </p:nvSpPr>
        <p:spPr>
          <a:xfrm>
            <a:off x="6053328" y="2514600"/>
            <a:ext cx="64008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154</a:t>
            </a:r>
            <a:endParaRPr lang="en-US" sz="1400" dirty="0"/>
          </a:p>
        </p:txBody>
      </p:sp>
      <p:sp>
        <p:nvSpPr>
          <p:cNvPr id="42" name="Text 39"/>
          <p:cNvSpPr txBox="1"/>
          <p:nvPr/>
        </p:nvSpPr>
        <p:spPr>
          <a:xfrm>
            <a:off x="548640" y="3337560"/>
            <a:ext cx="6766560" cy="365760"/>
          </a:xfrm>
          <a:prstGeom prst="rect">
            <a:avLst/>
          </a:prstGeom>
          <a:noFill/>
          <a:ln/>
        </p:spPr>
        <p:txBody>
          <a:bodyPr wrap="square" lIns="0" tIns="0" rIns="0" bIns="0" rtlCol="0" anchor="ctr"/>
          <a:lstStyle/>
          <a:p>
            <a:pPr indent="0" marL="0">
              <a:buNone/>
            </a:pPr>
            <a:r>
              <a:rPr lang="en-US" sz="1600" b="1" dirty="0">
                <a:solidFill>
                  <a:srgbClr val="B7791F"/>
                </a:solidFill>
                <a:latin typeface="Courier New" pitchFamily="34" charset="0"/>
                <a:ea typeface="Courier New" pitchFamily="34" charset="-122"/>
                <a:cs typeface="Courier New" pitchFamily="34" charset="-120"/>
              </a:rPr>
              <a:t>C[0, 1]</a:t>
            </a:r>
            <a:pPr indent="0" marL="0">
              <a:buNone/>
            </a:pPr>
            <a:r>
              <a:rPr lang="en-US" sz="1600" dirty="0">
                <a:solidFill>
                  <a:srgbClr val="333B4F"/>
                </a:solidFill>
                <a:latin typeface="Calibri" pitchFamily="34" charset="0"/>
                <a:ea typeface="Calibri" pitchFamily="34" charset="-122"/>
                <a:cs typeface="Calibri" pitchFamily="34" charset="-120"/>
              </a:rPr>
              <a:t> = 1·8 + 2·10 + 3·12 = 8 + 20 + 36 = </a:t>
            </a:r>
            <a:pPr indent="0" marL="0">
              <a:buNone/>
            </a:pPr>
            <a:r>
              <a:rPr lang="en-US" sz="1600" b="1" dirty="0">
                <a:solidFill>
                  <a:srgbClr val="B7791F"/>
                </a:solidFill>
                <a:latin typeface="Calibri" pitchFamily="34" charset="0"/>
                <a:ea typeface="Calibri" pitchFamily="34" charset="-122"/>
                <a:cs typeface="Calibri" pitchFamily="34" charset="-120"/>
              </a:rPr>
              <a:t>64</a:t>
            </a:r>
            <a:endParaRPr lang="en-US" sz="1600" dirty="0"/>
          </a:p>
        </p:txBody>
      </p:sp>
      <p:sp>
        <p:nvSpPr>
          <p:cNvPr id="43" name="Shape 40"/>
          <p:cNvSpPr/>
          <p:nvPr/>
        </p:nvSpPr>
        <p:spPr>
          <a:xfrm>
            <a:off x="548640" y="3840480"/>
            <a:ext cx="6766560" cy="2258568"/>
          </a:xfrm>
          <a:prstGeom prst="roundRect">
            <a:avLst>
              <a:gd name="adj" fmla="val 4858"/>
            </a:avLst>
          </a:prstGeom>
          <a:solidFill>
            <a:srgbClr val="EEF1F6"/>
          </a:solidFill>
          <a:ln w="12700">
            <a:solidFill>
              <a:srgbClr val="EEF1F6"/>
            </a:solidFill>
            <a:prstDash val="solid"/>
          </a:ln>
        </p:spPr>
      </p:sp>
      <p:sp>
        <p:nvSpPr>
          <p:cNvPr id="44" name="Text 41"/>
          <p:cNvSpPr txBox="1"/>
          <p:nvPr/>
        </p:nvSpPr>
        <p:spPr>
          <a:xfrm>
            <a:off x="777240" y="3950208"/>
            <a:ext cx="640080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Formula   </a:t>
            </a:r>
            <a:pPr indent="0" marL="0">
              <a:buNone/>
            </a:pPr>
            <a:r>
              <a:rPr lang="en-US" sz="1600" dirty="0">
                <a:solidFill>
                  <a:srgbClr val="333B4F"/>
                </a:solidFill>
                <a:latin typeface="Calibri" pitchFamily="34" charset="0"/>
                <a:ea typeface="Calibri" pitchFamily="34" charset="-122"/>
                <a:cs typeface="Calibri" pitchFamily="34" charset="-120"/>
              </a:rPr>
              <a:t>C[i, j] = Σ</a:t>
            </a:r>
            <a:pPr indent="0" marL="0">
              <a:buNone/>
            </a:pPr>
            <a:r>
              <a:rPr lang="en-US" sz="1600" baseline="-40000" dirty="0">
                <a:solidFill>
                  <a:srgbClr val="333B4F"/>
                </a:solidFill>
                <a:latin typeface="Calibri" pitchFamily="34" charset="0"/>
                <a:ea typeface="Calibri" pitchFamily="34" charset="-122"/>
                <a:cs typeface="Calibri" pitchFamily="34" charset="-120"/>
              </a:rPr>
              <a:t>k</a:t>
            </a:r>
            <a:pPr indent="0" marL="0">
              <a:buNone/>
            </a:pPr>
            <a:r>
              <a:rPr lang="en-US" sz="1600" dirty="0">
                <a:solidFill>
                  <a:srgbClr val="333B4F"/>
                </a:solidFill>
                <a:latin typeface="Calibri" pitchFamily="34" charset="0"/>
                <a:ea typeface="Calibri" pitchFamily="34" charset="-122"/>
                <a:cs typeface="Calibri" pitchFamily="34" charset="-120"/>
              </a:rPr>
              <a:t> A[i, k] · B[k, j],   k = 0 … n − 1</a:t>
            </a:r>
            <a:endParaRPr lang="en-US" sz="1600" dirty="0"/>
          </a:p>
        </p:txBody>
      </p:sp>
      <p:sp>
        <p:nvSpPr>
          <p:cNvPr id="45" name="Text 42"/>
          <p:cNvSpPr txBox="1"/>
          <p:nvPr/>
        </p:nvSpPr>
        <p:spPr>
          <a:xfrm>
            <a:off x="777240" y="4434840"/>
            <a:ext cx="6400800" cy="4114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Sizes   </a:t>
            </a:r>
            <a:pPr indent="0" marL="0">
              <a:buNone/>
            </a:pPr>
            <a:r>
              <a:rPr lang="en-US" sz="1600" dirty="0">
                <a:solidFill>
                  <a:srgbClr val="333B4F"/>
                </a:solidFill>
                <a:latin typeface="Calibri" pitchFamily="34" charset="0"/>
                <a:ea typeface="Calibri" pitchFamily="34" charset="-122"/>
                <a:cs typeface="Calibri" pitchFamily="34" charset="-120"/>
              </a:rPr>
              <a:t>(m × </a:t>
            </a:r>
            <a:pPr indent="0" marL="0">
              <a:buNone/>
            </a:pPr>
            <a:r>
              <a:rPr lang="en-US" sz="1600" b="1" dirty="0">
                <a:solidFill>
                  <a:srgbClr val="C8453B"/>
                </a:solidFill>
                <a:latin typeface="Calibri" pitchFamily="34" charset="0"/>
                <a:ea typeface="Calibri" pitchFamily="34" charset="-122"/>
                <a:cs typeface="Calibri" pitchFamily="34" charset="-120"/>
              </a:rPr>
              <a:t>n</a:t>
            </a:r>
            <a:pPr indent="0" marL="0">
              <a:buNone/>
            </a:pPr>
            <a:r>
              <a:rPr lang="en-US" sz="1600" dirty="0">
                <a:solidFill>
                  <a:srgbClr val="333B4F"/>
                </a:solidFill>
                <a:latin typeface="Calibri" pitchFamily="34" charset="0"/>
                <a:ea typeface="Calibri" pitchFamily="34" charset="-122"/>
                <a:cs typeface="Calibri" pitchFamily="34" charset="-120"/>
              </a:rPr>
              <a:t>) · (</a:t>
            </a:r>
            <a:pPr indent="0" marL="0">
              <a:buNone/>
            </a:pPr>
            <a:r>
              <a:rPr lang="en-US" sz="1600" b="1" dirty="0">
                <a:solidFill>
                  <a:srgbClr val="C8453B"/>
                </a:solidFill>
                <a:latin typeface="Calibri" pitchFamily="34" charset="0"/>
                <a:ea typeface="Calibri" pitchFamily="34" charset="-122"/>
                <a:cs typeface="Calibri" pitchFamily="34" charset="-120"/>
              </a:rPr>
              <a:t>n</a:t>
            </a:r>
            <a:pPr indent="0" marL="0">
              <a:buNone/>
            </a:pPr>
            <a:r>
              <a:rPr lang="en-US" sz="1600" dirty="0">
                <a:solidFill>
                  <a:srgbClr val="333B4F"/>
                </a:solidFill>
                <a:latin typeface="Calibri" pitchFamily="34" charset="0"/>
                <a:ea typeface="Calibri" pitchFamily="34" charset="-122"/>
                <a:cs typeface="Calibri" pitchFamily="34" charset="-120"/>
              </a:rPr>
              <a:t> × p)  →  m × p</a:t>
            </a:r>
            <a:endParaRPr lang="en-US" sz="1600" dirty="0"/>
          </a:p>
        </p:txBody>
      </p:sp>
      <p:sp>
        <p:nvSpPr>
          <p:cNvPr id="46" name="Text 43"/>
          <p:cNvSpPr txBox="1"/>
          <p:nvPr/>
        </p:nvSpPr>
        <p:spPr>
          <a:xfrm>
            <a:off x="777240" y="4937760"/>
            <a:ext cx="63550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The inner sizes must be equal (columns of A = rows of B); the outer sizes give the size of C. Otherwise A × B is not defined.</a:t>
            </a:r>
            <a:endParaRPr lang="en-US" sz="1400" dirty="0"/>
          </a:p>
        </p:txBody>
      </p:sp>
      <p:sp>
        <p:nvSpPr>
          <p:cNvPr id="47" name="Text 44"/>
          <p:cNvSpPr txBox="1"/>
          <p:nvPr/>
        </p:nvSpPr>
        <p:spPr>
          <a:xfrm>
            <a:off x="7589520" y="1572768"/>
            <a:ext cx="402336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Inner loop for C[1, 1]</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589520" y="1938528"/>
          <a:ext cx="4069080" cy="914400"/>
        </p:xfrm>
        <a:graphic>
          <a:graphicData uri="http://schemas.openxmlformats.org/drawingml/2006/table">
            <a:tbl>
              <a:tblPr/>
              <a:tblGrid>
                <a:gridCol w="502920"/>
                <a:gridCol w="868680"/>
                <a:gridCol w="868680"/>
                <a:gridCol w="914400"/>
                <a:gridCol w="91440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A[1,k]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B[k,1]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154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9" name="Shape 45"/>
          <p:cNvSpPr/>
          <p:nvPr/>
        </p:nvSpPr>
        <p:spPr>
          <a:xfrm>
            <a:off x="7589520" y="4206240"/>
            <a:ext cx="4069080" cy="1892808"/>
          </a:xfrm>
          <a:prstGeom prst="roundRect">
            <a:avLst>
              <a:gd name="adj" fmla="val 5797"/>
            </a:avLst>
          </a:prstGeom>
          <a:solidFill>
            <a:srgbClr val="FFF6E3"/>
          </a:solidFill>
          <a:ln w="12700">
            <a:solidFill>
              <a:srgbClr val="FFF6E3"/>
            </a:solidFill>
            <a:prstDash val="solid"/>
          </a:ln>
        </p:spPr>
      </p:sp>
      <p:pic>
        <p:nvPicPr>
          <p:cNvPr id="50" name="Image 0" descr="preencoded.png">    </p:cNvPr>
          <p:cNvPicPr>
            <a:picLocks noChangeAspect="1"/>
          </p:cNvPicPr>
          <p:nvPr/>
        </p:nvPicPr>
        <p:blipFill>
          <a:blip r:embed="rId1"/>
          <a:stretch>
            <a:fillRect/>
          </a:stretch>
        </p:blipFill>
        <p:spPr>
          <a:xfrm>
            <a:off x="7863840" y="4878324"/>
            <a:ext cx="548640" cy="548640"/>
          </a:xfrm>
          <a:prstGeom prst="rect">
            <a:avLst/>
          </a:prstGeom>
        </p:spPr>
      </p:pic>
      <p:sp>
        <p:nvSpPr>
          <p:cNvPr id="51" name="Text 46"/>
          <p:cNvSpPr txBox="1"/>
          <p:nvPr/>
        </p:nvSpPr>
        <p:spPr>
          <a:xfrm>
            <a:off x="8686800" y="4279392"/>
            <a:ext cx="2697480" cy="1746504"/>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Your turn: </a:t>
            </a:r>
            <a:pPr indent="0" marL="0">
              <a:buNone/>
            </a:pPr>
            <a:r>
              <a:rPr lang="en-US" sz="1450" dirty="0">
                <a:solidFill>
                  <a:srgbClr val="333B4F"/>
                </a:solidFill>
                <a:latin typeface="Calibri" pitchFamily="34" charset="0"/>
                <a:ea typeface="Calibri" pitchFamily="34" charset="-122"/>
                <a:cs typeface="Calibri" pitchFamily="34" charset="-120"/>
              </a:rPr>
              <a:t>compute C[1, 0] = row 1 of A × column 0 of B.</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11_07_MATRIXMULTIPLY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Three Nested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00200"/>
            <a:ext cx="7040880" cy="4498848"/>
          </a:xfrm>
          <a:prstGeom prst="roundRect">
            <a:avLst>
              <a:gd name="adj" fmla="val 2033"/>
            </a:avLst>
          </a:prstGeom>
          <a:solidFill>
            <a:srgbClr val="0F1729"/>
          </a:solidFill>
          <a:ln w="12700">
            <a:solidFill>
              <a:srgbClr val="0F1729"/>
            </a:solidFill>
            <a:prstDash val="solid"/>
          </a:ln>
        </p:spPr>
      </p:sp>
      <p:sp>
        <p:nvSpPr>
          <p:cNvPr id="8" name="Text 5"/>
          <p:cNvSpPr txBox="1"/>
          <p:nvPr/>
        </p:nvSpPr>
        <p:spPr>
          <a:xfrm>
            <a:off x="777240" y="1764792"/>
            <a:ext cx="6583680" cy="4224528"/>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(n != b.GetLength(</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F8BA3"/>
                </a:solidFill>
                <a:latin typeface="Courier New" pitchFamily="34" charset="0"/>
                <a:ea typeface="Courier New" pitchFamily="34" charset="-122"/>
                <a:cs typeface="Courier New" pitchFamily="34" charset="-120"/>
              </a:rPr>
              <a:t>// columns of A must = rows of B</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 x B is not defined."</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else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[m, p];        </a:t>
            </a:r>
            <a:pPr indent="0" marL="0">
              <a:spcAft>
                <a:spcPts val="100"/>
              </a:spcAft>
              <a:buNone/>
            </a:pPr>
            <a:r>
              <a:rPr lang="en-US" sz="1250" dirty="0">
                <a:solidFill>
                  <a:srgbClr val="7F8BA3"/>
                </a:solidFill>
                <a:latin typeface="Courier New" pitchFamily="34" charset="0"/>
                <a:ea typeface="Courier New" pitchFamily="34" charset="-122"/>
                <a:cs typeface="Courier New" pitchFamily="34" charset="-120"/>
              </a:rPr>
              <a:t>// result: m x p, starts at 0</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i &lt; m; i++)</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j &lt; p; j++)</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k &lt; n; k++)</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F8BA3"/>
                </a:solidFill>
                <a:latin typeface="Courier New" pitchFamily="34" charset="0"/>
                <a:ea typeface="Courier New" pitchFamily="34" charset="-122"/>
                <a:cs typeface="Courier New" pitchFamily="34" charset="-120"/>
              </a:rPr>
              <a:t>// row i of A times column j of B</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c[i, j] += a[i, k] * b[k, j];</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 ({m}x{n}) x B ({n}x{p}) = C ({m}x{p}):"</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9" name="Shape 6"/>
          <p:cNvSpPr/>
          <p:nvPr/>
        </p:nvSpPr>
        <p:spPr>
          <a:xfrm>
            <a:off x="7772400" y="1600200"/>
            <a:ext cx="3886200" cy="1600200"/>
          </a:xfrm>
          <a:prstGeom prst="roundRect">
            <a:avLst>
              <a:gd name="adj" fmla="val 5714"/>
            </a:avLst>
          </a:prstGeom>
          <a:solidFill>
            <a:srgbClr val="0B0F19"/>
          </a:solidFill>
          <a:ln w="12700">
            <a:solidFill>
              <a:srgbClr val="2A3654"/>
            </a:solidFill>
            <a:prstDash val="solid"/>
          </a:ln>
        </p:spPr>
      </p:sp>
      <p:sp>
        <p:nvSpPr>
          <p:cNvPr id="10" name="Shape 7"/>
          <p:cNvSpPr/>
          <p:nvPr/>
        </p:nvSpPr>
        <p:spPr>
          <a:xfrm>
            <a:off x="7955280" y="1728216"/>
            <a:ext cx="118872" cy="118872"/>
          </a:xfrm>
          <a:prstGeom prst="ellipse">
            <a:avLst/>
          </a:prstGeom>
          <a:solidFill>
            <a:srgbClr val="FF5F57"/>
          </a:solidFill>
          <a:ln w="12700">
            <a:solidFill>
              <a:srgbClr val="FF5F57"/>
            </a:solidFill>
            <a:prstDash val="solid"/>
          </a:ln>
        </p:spPr>
      </p:sp>
      <p:sp>
        <p:nvSpPr>
          <p:cNvPr id="11" name="Shape 8"/>
          <p:cNvSpPr/>
          <p:nvPr/>
        </p:nvSpPr>
        <p:spPr>
          <a:xfrm>
            <a:off x="8183880" y="1728216"/>
            <a:ext cx="118872" cy="118872"/>
          </a:xfrm>
          <a:prstGeom prst="ellipse">
            <a:avLst/>
          </a:prstGeom>
          <a:solidFill>
            <a:srgbClr val="FEBC2E"/>
          </a:solidFill>
          <a:ln w="12700">
            <a:solidFill>
              <a:srgbClr val="FEBC2E"/>
            </a:solidFill>
            <a:prstDash val="solid"/>
          </a:ln>
        </p:spPr>
      </p:sp>
      <p:sp>
        <p:nvSpPr>
          <p:cNvPr id="12" name="Shape 9"/>
          <p:cNvSpPr/>
          <p:nvPr/>
        </p:nvSpPr>
        <p:spPr>
          <a:xfrm>
            <a:off x="8412480" y="172821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686800" y="1673352"/>
            <a:ext cx="2788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code/11_07_MatrixMultiply</a:t>
            </a:r>
            <a:endParaRPr lang="en-US" sz="1000" dirty="0"/>
          </a:p>
        </p:txBody>
      </p:sp>
      <p:sp>
        <p:nvSpPr>
          <p:cNvPr id="14" name="Text 11"/>
          <p:cNvSpPr txBox="1"/>
          <p:nvPr/>
        </p:nvSpPr>
        <p:spPr>
          <a:xfrm>
            <a:off x="8001000" y="1984248"/>
            <a:ext cx="342900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(2x3) x B (3x2) = C (2x2):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58    64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139   154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Multiplications: 12</a:t>
            </a:r>
            <a:endParaRPr lang="en-US" sz="1300" dirty="0"/>
          </a:p>
        </p:txBody>
      </p:sp>
      <p:sp>
        <p:nvSpPr>
          <p:cNvPr id="15" name="Shape 12"/>
          <p:cNvSpPr/>
          <p:nvPr/>
        </p:nvSpPr>
        <p:spPr>
          <a:xfrm>
            <a:off x="7772400" y="3383280"/>
            <a:ext cx="3886200" cy="777240"/>
          </a:xfrm>
          <a:prstGeom prst="roundRect">
            <a:avLst>
              <a:gd name="adj" fmla="val 14118"/>
            </a:avLst>
          </a:prstGeom>
          <a:solidFill>
            <a:srgbClr val="EEF1F6"/>
          </a:solidFill>
          <a:ln w="12700">
            <a:solidFill>
              <a:srgbClr val="EEF1F6"/>
            </a:solidFill>
            <a:prstDash val="solid"/>
          </a:ln>
        </p:spPr>
      </p:sp>
      <p:sp>
        <p:nvSpPr>
          <p:cNvPr id="16" name="Text 13"/>
          <p:cNvSpPr txBox="1"/>
          <p:nvPr/>
        </p:nvSpPr>
        <p:spPr>
          <a:xfrm>
            <a:off x="7863840" y="3474720"/>
            <a:ext cx="457200" cy="594360"/>
          </a:xfrm>
          <a:prstGeom prst="rect">
            <a:avLst/>
          </a:prstGeom>
          <a:noFill/>
          <a:ln/>
        </p:spPr>
        <p:txBody>
          <a:bodyPr wrap="square" lIns="0" tIns="0" rIns="0" bIns="0" rtlCol="0" anchor="ctr"/>
          <a:lstStyle/>
          <a:p>
            <a:pPr algn="ctr" indent="0" marL="0">
              <a:buNone/>
            </a:pPr>
            <a:r>
              <a:rPr lang="en-US" sz="2200" b="1" dirty="0">
                <a:solidFill>
                  <a:srgbClr val="2F6FB3"/>
                </a:solidFill>
                <a:latin typeface="Courier New" pitchFamily="34" charset="0"/>
                <a:ea typeface="Courier New" pitchFamily="34" charset="-122"/>
                <a:cs typeface="Courier New" pitchFamily="34" charset="-120"/>
              </a:rPr>
              <a:t>i</a:t>
            </a:r>
            <a:endParaRPr lang="en-US" sz="2200" dirty="0"/>
          </a:p>
        </p:txBody>
      </p:sp>
      <p:sp>
        <p:nvSpPr>
          <p:cNvPr id="17" name="Text 14"/>
          <p:cNvSpPr txBox="1"/>
          <p:nvPr/>
        </p:nvSpPr>
        <p:spPr>
          <a:xfrm>
            <a:off x="8366760" y="3456432"/>
            <a:ext cx="3200400" cy="640080"/>
          </a:xfrm>
          <a:prstGeom prst="rect">
            <a:avLst/>
          </a:prstGeom>
          <a:noFill/>
          <a:ln/>
        </p:spPr>
        <p:txBody>
          <a:bodyPr wrap="square" lIns="0" tIns="0" rIns="0" bIns="0" rtlCol="0" anchor="ctr"/>
          <a:lstStyle/>
          <a:p>
            <a:pPr indent="0" marL="0">
              <a:buNone/>
            </a:pPr>
            <a:r>
              <a:rPr lang="en-US" sz="1350" b="1" dirty="0">
                <a:solidFill>
                  <a:srgbClr val="2F6FB3"/>
                </a:solidFill>
                <a:latin typeface="Calibri" pitchFamily="34" charset="0"/>
                <a:ea typeface="Calibri" pitchFamily="34" charset="-122"/>
                <a:cs typeface="Calibri" pitchFamily="34" charset="-120"/>
              </a:rPr>
              <a:t>0 … m − 1</a:t>
            </a:r>
            <a:pPr indent="0" marL="0">
              <a:buNone/>
            </a:pPr>
            <a:r>
              <a:rPr lang="en-US" sz="1350" dirty="0">
                <a:solidFill>
                  <a:srgbClr val="333B4F"/>
                </a:solidFill>
                <a:latin typeface="Calibri" pitchFamily="34" charset="0"/>
                <a:ea typeface="Calibri" pitchFamily="34" charset="-122"/>
                <a:cs typeface="Calibri" pitchFamily="34" charset="-120"/>
              </a:rPr>
              <a:t>  row of C</a:t>
            </a:r>
            <a:endParaRPr lang="en-US" sz="1350" dirty="0"/>
          </a:p>
        </p:txBody>
      </p:sp>
      <p:sp>
        <p:nvSpPr>
          <p:cNvPr id="18" name="Shape 15"/>
          <p:cNvSpPr/>
          <p:nvPr/>
        </p:nvSpPr>
        <p:spPr>
          <a:xfrm>
            <a:off x="7772400" y="4279392"/>
            <a:ext cx="3886200" cy="777240"/>
          </a:xfrm>
          <a:prstGeom prst="roundRect">
            <a:avLst>
              <a:gd name="adj" fmla="val 14118"/>
            </a:avLst>
          </a:prstGeom>
          <a:solidFill>
            <a:srgbClr val="EEF1F6"/>
          </a:solidFill>
          <a:ln w="12700">
            <a:solidFill>
              <a:srgbClr val="EEF1F6"/>
            </a:solidFill>
            <a:prstDash val="solid"/>
          </a:ln>
        </p:spPr>
      </p:sp>
      <p:sp>
        <p:nvSpPr>
          <p:cNvPr id="19" name="Text 16"/>
          <p:cNvSpPr txBox="1"/>
          <p:nvPr/>
        </p:nvSpPr>
        <p:spPr>
          <a:xfrm>
            <a:off x="7863840" y="4370832"/>
            <a:ext cx="457200" cy="59436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j</a:t>
            </a:r>
            <a:endParaRPr lang="en-US" sz="2200" dirty="0"/>
          </a:p>
        </p:txBody>
      </p:sp>
      <p:sp>
        <p:nvSpPr>
          <p:cNvPr id="20" name="Text 17"/>
          <p:cNvSpPr txBox="1"/>
          <p:nvPr/>
        </p:nvSpPr>
        <p:spPr>
          <a:xfrm>
            <a:off x="8366760" y="4352544"/>
            <a:ext cx="3200400" cy="640080"/>
          </a:xfrm>
          <a:prstGeom prst="rect">
            <a:avLst/>
          </a:prstGeom>
          <a:noFill/>
          <a:ln/>
        </p:spPr>
        <p:txBody>
          <a:bodyPr wrap="square" lIns="0" tIns="0" rIns="0" bIns="0" rtlCol="0" anchor="ctr"/>
          <a:lstStyle/>
          <a:p>
            <a:pPr indent="0" marL="0">
              <a:buNone/>
            </a:pPr>
            <a:r>
              <a:rPr lang="en-US" sz="1350" b="1" dirty="0">
                <a:solidFill>
                  <a:srgbClr val="B7791F"/>
                </a:solidFill>
                <a:latin typeface="Calibri" pitchFamily="34" charset="0"/>
                <a:ea typeface="Calibri" pitchFamily="34" charset="-122"/>
                <a:cs typeface="Calibri" pitchFamily="34" charset="-120"/>
              </a:rPr>
              <a:t>0 … p − 1</a:t>
            </a:r>
            <a:pPr indent="0" marL="0">
              <a:buNone/>
            </a:pPr>
            <a:r>
              <a:rPr lang="en-US" sz="1350" dirty="0">
                <a:solidFill>
                  <a:srgbClr val="333B4F"/>
                </a:solidFill>
                <a:latin typeface="Calibri" pitchFamily="34" charset="0"/>
                <a:ea typeface="Calibri" pitchFamily="34" charset="-122"/>
                <a:cs typeface="Calibri" pitchFamily="34" charset="-120"/>
              </a:rPr>
              <a:t>  column of C</a:t>
            </a:r>
            <a:endParaRPr lang="en-US" sz="1350" dirty="0"/>
          </a:p>
        </p:txBody>
      </p:sp>
      <p:sp>
        <p:nvSpPr>
          <p:cNvPr id="21" name="Shape 18"/>
          <p:cNvSpPr/>
          <p:nvPr/>
        </p:nvSpPr>
        <p:spPr>
          <a:xfrm>
            <a:off x="7772400" y="5175504"/>
            <a:ext cx="3886200" cy="777240"/>
          </a:xfrm>
          <a:prstGeom prst="roundRect">
            <a:avLst>
              <a:gd name="adj" fmla="val 14118"/>
            </a:avLst>
          </a:prstGeom>
          <a:solidFill>
            <a:srgbClr val="EEF1F6"/>
          </a:solidFill>
          <a:ln w="12700">
            <a:solidFill>
              <a:srgbClr val="EEF1F6"/>
            </a:solidFill>
            <a:prstDash val="solid"/>
          </a:ln>
        </p:spPr>
      </p:sp>
      <p:sp>
        <p:nvSpPr>
          <p:cNvPr id="22" name="Text 19"/>
          <p:cNvSpPr txBox="1"/>
          <p:nvPr/>
        </p:nvSpPr>
        <p:spPr>
          <a:xfrm>
            <a:off x="7863840" y="5266944"/>
            <a:ext cx="457200" cy="594360"/>
          </a:xfrm>
          <a:prstGeom prst="rect">
            <a:avLst/>
          </a:prstGeom>
          <a:noFill/>
          <a:ln/>
        </p:spPr>
        <p:txBody>
          <a:bodyPr wrap="square" lIns="0" tIns="0" rIns="0" bIns="0" rtlCol="0" anchor="ctr"/>
          <a:lstStyle/>
          <a:p>
            <a:pPr algn="ctr" indent="0" marL="0">
              <a:buNone/>
            </a:pPr>
            <a:r>
              <a:rPr lang="en-US" sz="2200" b="1" dirty="0">
                <a:solidFill>
                  <a:srgbClr val="2E9E6A"/>
                </a:solidFill>
                <a:latin typeface="Courier New" pitchFamily="34" charset="0"/>
                <a:ea typeface="Courier New" pitchFamily="34" charset="-122"/>
                <a:cs typeface="Courier New" pitchFamily="34" charset="-120"/>
              </a:rPr>
              <a:t>k</a:t>
            </a:r>
            <a:endParaRPr lang="en-US" sz="2200" dirty="0"/>
          </a:p>
        </p:txBody>
      </p:sp>
      <p:sp>
        <p:nvSpPr>
          <p:cNvPr id="23" name="Text 20"/>
          <p:cNvSpPr txBox="1"/>
          <p:nvPr/>
        </p:nvSpPr>
        <p:spPr>
          <a:xfrm>
            <a:off x="8366760" y="5248656"/>
            <a:ext cx="3200400" cy="640080"/>
          </a:xfrm>
          <a:prstGeom prst="rect">
            <a:avLst/>
          </a:prstGeom>
          <a:noFill/>
          <a:ln/>
        </p:spPr>
        <p:txBody>
          <a:bodyPr wrap="square" lIns="0" tIns="0" rIns="0" bIns="0" rtlCol="0" anchor="ctr"/>
          <a:lstStyle/>
          <a:p>
            <a:pPr indent="0" marL="0">
              <a:buNone/>
            </a:pPr>
            <a:r>
              <a:rPr lang="en-US" sz="1350" b="1" dirty="0">
                <a:solidFill>
                  <a:srgbClr val="2E9E6A"/>
                </a:solidFill>
                <a:latin typeface="Calibri" pitchFamily="34" charset="0"/>
                <a:ea typeface="Calibri" pitchFamily="34" charset="-122"/>
                <a:cs typeface="Calibri" pitchFamily="34" charset="-120"/>
              </a:rPr>
              <a:t>0 … n − 1</a:t>
            </a:r>
            <a:pPr indent="0" marL="0">
              <a:buNone/>
            </a:pPr>
            <a:r>
              <a:rPr lang="en-US" sz="1350" dirty="0">
                <a:solidFill>
                  <a:srgbClr val="333B4F"/>
                </a:solidFill>
                <a:latin typeface="Calibri" pitchFamily="34" charset="0"/>
                <a:ea typeface="Calibri" pitchFamily="34" charset="-122"/>
                <a:cs typeface="Calibri" pitchFamily="34" charset="-120"/>
              </a:rPr>
              <a:t>  walks along row i of A and column j of B</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PROPERTIES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 B ≠ B × A, and the Identity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Text 4"/>
          <p:cNvSpPr txBox="1"/>
          <p:nvPr/>
        </p:nvSpPr>
        <p:spPr>
          <a:xfrm>
            <a:off x="548640" y="1645920"/>
            <a:ext cx="118872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A</a:t>
            </a:r>
            <a:endParaRPr lang="en-US" sz="1400" dirty="0"/>
          </a:p>
        </p:txBody>
      </p:sp>
      <p:sp>
        <p:nvSpPr>
          <p:cNvPr id="8" name="Text 5"/>
          <p:cNvSpPr/>
          <p:nvPr/>
        </p:nvSpPr>
        <p:spPr>
          <a:xfrm>
            <a:off x="548640" y="196596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9" name="Text 6"/>
          <p:cNvSpPr/>
          <p:nvPr/>
        </p:nvSpPr>
        <p:spPr>
          <a:xfrm>
            <a:off x="1051560" y="196596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10" name="Text 7"/>
          <p:cNvSpPr/>
          <p:nvPr/>
        </p:nvSpPr>
        <p:spPr>
          <a:xfrm>
            <a:off x="548640" y="237744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11" name="Text 8"/>
          <p:cNvSpPr/>
          <p:nvPr/>
        </p:nvSpPr>
        <p:spPr>
          <a:xfrm>
            <a:off x="1051560" y="237744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2" name="Text 9"/>
          <p:cNvSpPr txBox="1"/>
          <p:nvPr/>
        </p:nvSpPr>
        <p:spPr>
          <a:xfrm>
            <a:off x="1645920" y="214884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13" name="Text 10"/>
          <p:cNvSpPr txBox="1"/>
          <p:nvPr/>
        </p:nvSpPr>
        <p:spPr>
          <a:xfrm>
            <a:off x="2194560" y="1645920"/>
            <a:ext cx="118872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B</a:t>
            </a:r>
            <a:endParaRPr lang="en-US" sz="1400" dirty="0"/>
          </a:p>
        </p:txBody>
      </p:sp>
      <p:sp>
        <p:nvSpPr>
          <p:cNvPr id="14" name="Text 11"/>
          <p:cNvSpPr/>
          <p:nvPr/>
        </p:nvSpPr>
        <p:spPr>
          <a:xfrm>
            <a:off x="2194560" y="196596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p>
        </p:txBody>
      </p:sp>
      <p:sp>
        <p:nvSpPr>
          <p:cNvPr id="15" name="Text 12"/>
          <p:cNvSpPr/>
          <p:nvPr/>
        </p:nvSpPr>
        <p:spPr>
          <a:xfrm>
            <a:off x="2697480" y="196596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6" name="Text 13"/>
          <p:cNvSpPr/>
          <p:nvPr/>
        </p:nvSpPr>
        <p:spPr>
          <a:xfrm>
            <a:off x="2194560" y="237744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7" name="Text 14"/>
          <p:cNvSpPr/>
          <p:nvPr/>
        </p:nvSpPr>
        <p:spPr>
          <a:xfrm>
            <a:off x="2697480" y="237744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p>
        </p:txBody>
      </p:sp>
      <p:sp>
        <p:nvSpPr>
          <p:cNvPr id="18" name="Text 15"/>
          <p:cNvSpPr txBox="1"/>
          <p:nvPr/>
        </p:nvSpPr>
        <p:spPr>
          <a:xfrm>
            <a:off x="3291840" y="214884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19" name="Text 16"/>
          <p:cNvSpPr txBox="1"/>
          <p:nvPr/>
        </p:nvSpPr>
        <p:spPr>
          <a:xfrm>
            <a:off x="3840480" y="1645920"/>
            <a:ext cx="146304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A × B</a:t>
            </a:r>
            <a:endParaRPr lang="en-US" sz="1400" dirty="0"/>
          </a:p>
        </p:txBody>
      </p:sp>
      <p:sp>
        <p:nvSpPr>
          <p:cNvPr id="20" name="Text 17"/>
          <p:cNvSpPr/>
          <p:nvPr/>
        </p:nvSpPr>
        <p:spPr>
          <a:xfrm>
            <a:off x="3840480" y="1965960"/>
            <a:ext cx="50292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21" name="Text 18"/>
          <p:cNvSpPr/>
          <p:nvPr/>
        </p:nvSpPr>
        <p:spPr>
          <a:xfrm>
            <a:off x="4343400" y="1965960"/>
            <a:ext cx="50292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22" name="Text 19"/>
          <p:cNvSpPr/>
          <p:nvPr/>
        </p:nvSpPr>
        <p:spPr>
          <a:xfrm>
            <a:off x="3840480" y="2377440"/>
            <a:ext cx="50292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23" name="Text 20"/>
          <p:cNvSpPr/>
          <p:nvPr/>
        </p:nvSpPr>
        <p:spPr>
          <a:xfrm>
            <a:off x="4343400" y="2377440"/>
            <a:ext cx="502920" cy="411480"/>
          </a:xfrm>
          <a:prstGeom prst="rect">
            <a:avLst/>
          </a:prstGeom>
          <a:solidFill>
            <a:srgbClr val="E6F4EC"/>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24" name="Text 21"/>
          <p:cNvSpPr txBox="1"/>
          <p:nvPr/>
        </p:nvSpPr>
        <p:spPr>
          <a:xfrm>
            <a:off x="548640" y="3108960"/>
            <a:ext cx="118872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B</a:t>
            </a:r>
            <a:endParaRPr lang="en-US" sz="1400" dirty="0"/>
          </a:p>
        </p:txBody>
      </p:sp>
      <p:sp>
        <p:nvSpPr>
          <p:cNvPr id="25" name="Text 22"/>
          <p:cNvSpPr/>
          <p:nvPr/>
        </p:nvSpPr>
        <p:spPr>
          <a:xfrm>
            <a:off x="548640" y="34290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p>
        </p:txBody>
      </p:sp>
      <p:sp>
        <p:nvSpPr>
          <p:cNvPr id="26" name="Text 23"/>
          <p:cNvSpPr/>
          <p:nvPr/>
        </p:nvSpPr>
        <p:spPr>
          <a:xfrm>
            <a:off x="1051560" y="34290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27" name="Text 24"/>
          <p:cNvSpPr/>
          <p:nvPr/>
        </p:nvSpPr>
        <p:spPr>
          <a:xfrm>
            <a:off x="548640" y="384048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28" name="Text 25"/>
          <p:cNvSpPr/>
          <p:nvPr/>
        </p:nvSpPr>
        <p:spPr>
          <a:xfrm>
            <a:off x="1051560" y="384048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p>
        </p:txBody>
      </p:sp>
      <p:sp>
        <p:nvSpPr>
          <p:cNvPr id="29" name="Text 26"/>
          <p:cNvSpPr txBox="1"/>
          <p:nvPr/>
        </p:nvSpPr>
        <p:spPr>
          <a:xfrm>
            <a:off x="1645920" y="361188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30" name="Text 27"/>
          <p:cNvSpPr txBox="1"/>
          <p:nvPr/>
        </p:nvSpPr>
        <p:spPr>
          <a:xfrm>
            <a:off x="2194560" y="3108960"/>
            <a:ext cx="118872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A</a:t>
            </a:r>
            <a:endParaRPr lang="en-US" sz="1400" dirty="0"/>
          </a:p>
        </p:txBody>
      </p:sp>
      <p:sp>
        <p:nvSpPr>
          <p:cNvPr id="31" name="Text 28"/>
          <p:cNvSpPr/>
          <p:nvPr/>
        </p:nvSpPr>
        <p:spPr>
          <a:xfrm>
            <a:off x="2194560" y="34290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32" name="Text 29"/>
          <p:cNvSpPr/>
          <p:nvPr/>
        </p:nvSpPr>
        <p:spPr>
          <a:xfrm>
            <a:off x="2697480" y="342900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33" name="Text 30"/>
          <p:cNvSpPr/>
          <p:nvPr/>
        </p:nvSpPr>
        <p:spPr>
          <a:xfrm>
            <a:off x="2194560" y="384048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34" name="Text 31"/>
          <p:cNvSpPr/>
          <p:nvPr/>
        </p:nvSpPr>
        <p:spPr>
          <a:xfrm>
            <a:off x="2697480" y="3840480"/>
            <a:ext cx="502920" cy="4114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35" name="Text 32"/>
          <p:cNvSpPr txBox="1"/>
          <p:nvPr/>
        </p:nvSpPr>
        <p:spPr>
          <a:xfrm>
            <a:off x="3291840" y="3611880"/>
            <a:ext cx="457200" cy="457200"/>
          </a:xfrm>
          <a:prstGeom prst="rect">
            <a:avLst/>
          </a:prstGeom>
          <a:noFill/>
          <a:ln/>
        </p:spPr>
        <p:txBody>
          <a:bodyPr wrap="square" lIns="0" tIns="0" rIns="0" bIns="0" rtlCol="0" anchor="ctr"/>
          <a:lstStyle/>
          <a:p>
            <a:pPr algn="ctr" indent="0" marL="0">
              <a:buNone/>
            </a:pPr>
            <a:r>
              <a:rPr lang="en-US" sz="2600" b="1" dirty="0">
                <a:solidFill>
                  <a:srgbClr val="14213D"/>
                </a:solidFill>
                <a:latin typeface="Cambria" pitchFamily="34" charset="0"/>
                <a:ea typeface="Cambria" pitchFamily="34" charset="-122"/>
                <a:cs typeface="Cambria" pitchFamily="34" charset="-120"/>
              </a:rPr>
              <a:t>=</a:t>
            </a:r>
            <a:endParaRPr lang="en-US" sz="2600" dirty="0"/>
          </a:p>
        </p:txBody>
      </p:sp>
      <p:sp>
        <p:nvSpPr>
          <p:cNvPr id="36" name="Text 33"/>
          <p:cNvSpPr txBox="1"/>
          <p:nvPr/>
        </p:nvSpPr>
        <p:spPr>
          <a:xfrm>
            <a:off x="3840480" y="3108960"/>
            <a:ext cx="1463040" cy="274320"/>
          </a:xfrm>
          <a:prstGeom prst="rect">
            <a:avLst/>
          </a:prstGeom>
          <a:noFill/>
          <a:ln/>
        </p:spPr>
        <p:txBody>
          <a:bodyPr wrap="square" lIns="0" tIns="0" rIns="0" bIns="0" rtlCol="0" anchor="ctr"/>
          <a:lstStyle/>
          <a:p>
            <a:pPr indent="0" marL="0">
              <a:buNone/>
            </a:pPr>
            <a:r>
              <a:rPr lang="en-US" sz="1400" b="1" dirty="0">
                <a:solidFill>
                  <a:srgbClr val="333B4F"/>
                </a:solidFill>
                <a:latin typeface="Cambria" pitchFamily="34" charset="0"/>
                <a:ea typeface="Cambria" pitchFamily="34" charset="-122"/>
                <a:cs typeface="Cambria" pitchFamily="34" charset="-120"/>
              </a:rPr>
              <a:t>B × A</a:t>
            </a:r>
            <a:endParaRPr lang="en-US" sz="1400" dirty="0"/>
          </a:p>
        </p:txBody>
      </p:sp>
      <p:sp>
        <p:nvSpPr>
          <p:cNvPr id="37" name="Text 34"/>
          <p:cNvSpPr/>
          <p:nvPr/>
        </p:nvSpPr>
        <p:spPr>
          <a:xfrm>
            <a:off x="3840480" y="3429000"/>
            <a:ext cx="502920" cy="41148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38" name="Text 35"/>
          <p:cNvSpPr/>
          <p:nvPr/>
        </p:nvSpPr>
        <p:spPr>
          <a:xfrm>
            <a:off x="4343400" y="3429000"/>
            <a:ext cx="502920" cy="41148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39" name="Text 36"/>
          <p:cNvSpPr/>
          <p:nvPr/>
        </p:nvSpPr>
        <p:spPr>
          <a:xfrm>
            <a:off x="3840480" y="3840480"/>
            <a:ext cx="502920" cy="41148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40" name="Text 37"/>
          <p:cNvSpPr/>
          <p:nvPr/>
        </p:nvSpPr>
        <p:spPr>
          <a:xfrm>
            <a:off x="4343400" y="3840480"/>
            <a:ext cx="502920" cy="411480"/>
          </a:xfrm>
          <a:prstGeom prst="rect">
            <a:avLst/>
          </a:prstGeom>
          <a:solidFill>
            <a:srgbClr val="FBE9E7"/>
          </a:solidFill>
          <a:ln w="9525">
            <a:solidFill>
              <a:srgbClr val="14213D"/>
            </a:solidFill>
          </a:ln>
        </p:spPr>
        <p:txBody>
          <a:bodyPr wrap="square" lIns="0" tIns="0" rIns="0" bIns="0" rtlCol="0" anchor="ct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p>
        </p:txBody>
      </p:sp>
      <p:sp>
        <p:nvSpPr>
          <p:cNvPr id="41" name="Text 38"/>
          <p:cNvSpPr txBox="1"/>
          <p:nvPr/>
        </p:nvSpPr>
        <p:spPr>
          <a:xfrm>
            <a:off x="548640" y="4434840"/>
            <a:ext cx="5120640" cy="36576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A × B swaps the columns of A, B × A swaps its rows.</a:t>
            </a:r>
            <a:endParaRPr lang="en-US" sz="1400" dirty="0"/>
          </a:p>
        </p:txBody>
      </p:sp>
      <p:sp>
        <p:nvSpPr>
          <p:cNvPr id="42" name="Shape 39"/>
          <p:cNvSpPr/>
          <p:nvPr/>
        </p:nvSpPr>
        <p:spPr>
          <a:xfrm>
            <a:off x="6263640" y="1600200"/>
            <a:ext cx="5394960" cy="1051560"/>
          </a:xfrm>
          <a:prstGeom prst="roundRect">
            <a:avLst>
              <a:gd name="adj" fmla="val 8696"/>
            </a:avLst>
          </a:prstGeom>
          <a:solidFill>
            <a:srgbClr val="0B0F19"/>
          </a:solidFill>
          <a:ln w="12700">
            <a:solidFill>
              <a:srgbClr val="2A3654"/>
            </a:solidFill>
            <a:prstDash val="solid"/>
          </a:ln>
        </p:spPr>
      </p:sp>
      <p:sp>
        <p:nvSpPr>
          <p:cNvPr id="43" name="Shape 40"/>
          <p:cNvSpPr/>
          <p:nvPr/>
        </p:nvSpPr>
        <p:spPr>
          <a:xfrm>
            <a:off x="6446520" y="1728216"/>
            <a:ext cx="118872" cy="118872"/>
          </a:xfrm>
          <a:prstGeom prst="ellipse">
            <a:avLst/>
          </a:prstGeom>
          <a:solidFill>
            <a:srgbClr val="FF5F57"/>
          </a:solidFill>
          <a:ln w="12700">
            <a:solidFill>
              <a:srgbClr val="FF5F57"/>
            </a:solidFill>
            <a:prstDash val="solid"/>
          </a:ln>
        </p:spPr>
      </p:sp>
      <p:sp>
        <p:nvSpPr>
          <p:cNvPr id="44" name="Shape 41"/>
          <p:cNvSpPr/>
          <p:nvPr/>
        </p:nvSpPr>
        <p:spPr>
          <a:xfrm>
            <a:off x="6675120" y="1728216"/>
            <a:ext cx="118872" cy="118872"/>
          </a:xfrm>
          <a:prstGeom prst="ellipse">
            <a:avLst/>
          </a:prstGeom>
          <a:solidFill>
            <a:srgbClr val="FEBC2E"/>
          </a:solidFill>
          <a:ln w="12700">
            <a:solidFill>
              <a:srgbClr val="FEBC2E"/>
            </a:solidFill>
            <a:prstDash val="solid"/>
          </a:ln>
        </p:spPr>
      </p:sp>
      <p:sp>
        <p:nvSpPr>
          <p:cNvPr id="45" name="Shape 42"/>
          <p:cNvSpPr/>
          <p:nvPr/>
        </p:nvSpPr>
        <p:spPr>
          <a:xfrm>
            <a:off x="6903720" y="1728216"/>
            <a:ext cx="118872" cy="118872"/>
          </a:xfrm>
          <a:prstGeom prst="ellipse">
            <a:avLst/>
          </a:prstGeom>
          <a:solidFill>
            <a:srgbClr val="28C840"/>
          </a:solidFill>
          <a:ln w="12700">
            <a:solidFill>
              <a:srgbClr val="28C840"/>
            </a:solidFill>
            <a:prstDash val="solid"/>
          </a:ln>
        </p:spPr>
      </p:sp>
      <p:sp>
        <p:nvSpPr>
          <p:cNvPr id="46" name="Text 43"/>
          <p:cNvSpPr txBox="1"/>
          <p:nvPr/>
        </p:nvSpPr>
        <p:spPr>
          <a:xfrm>
            <a:off x="7178040" y="167335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11_07 with these A and B · A × B</a:t>
            </a:r>
            <a:endParaRPr lang="en-US" sz="1000" dirty="0"/>
          </a:p>
        </p:txBody>
      </p:sp>
      <p:sp>
        <p:nvSpPr>
          <p:cNvPr id="47" name="Text 44"/>
          <p:cNvSpPr txBox="1"/>
          <p:nvPr/>
        </p:nvSpPr>
        <p:spPr>
          <a:xfrm>
            <a:off x="6492240" y="1984248"/>
            <a:ext cx="4937760" cy="548640"/>
          </a:xfrm>
          <a:prstGeom prst="rect">
            <a:avLst/>
          </a:prstGeom>
          <a:noFill/>
          <a:ln/>
        </p:spPr>
        <p:txBody>
          <a:bodyPr wrap="square" lIns="0" tIns="0" rIns="0" bIns="0" rtlCol="0" anchor="t"/>
          <a:lstStyle/>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 (2x2) x B (2x2) = C (2x2):</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2     1</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4     3</a:t>
            </a:r>
            <a:endParaRPr lang="en-US" sz="1150" dirty="0"/>
          </a:p>
        </p:txBody>
      </p:sp>
      <p:sp>
        <p:nvSpPr>
          <p:cNvPr id="48" name="Shape 45"/>
          <p:cNvSpPr/>
          <p:nvPr/>
        </p:nvSpPr>
        <p:spPr>
          <a:xfrm>
            <a:off x="6263640" y="2743200"/>
            <a:ext cx="5394960" cy="1051560"/>
          </a:xfrm>
          <a:prstGeom prst="roundRect">
            <a:avLst>
              <a:gd name="adj" fmla="val 8696"/>
            </a:avLst>
          </a:prstGeom>
          <a:solidFill>
            <a:srgbClr val="0B0F19"/>
          </a:solidFill>
          <a:ln w="12700">
            <a:solidFill>
              <a:srgbClr val="2A3654"/>
            </a:solidFill>
            <a:prstDash val="solid"/>
          </a:ln>
        </p:spPr>
      </p:sp>
      <p:sp>
        <p:nvSpPr>
          <p:cNvPr id="49" name="Shape 46"/>
          <p:cNvSpPr/>
          <p:nvPr/>
        </p:nvSpPr>
        <p:spPr>
          <a:xfrm>
            <a:off x="6446520" y="2871216"/>
            <a:ext cx="118872" cy="118872"/>
          </a:xfrm>
          <a:prstGeom prst="ellipse">
            <a:avLst/>
          </a:prstGeom>
          <a:solidFill>
            <a:srgbClr val="FF5F57"/>
          </a:solidFill>
          <a:ln w="12700">
            <a:solidFill>
              <a:srgbClr val="FF5F57"/>
            </a:solidFill>
            <a:prstDash val="solid"/>
          </a:ln>
        </p:spPr>
      </p:sp>
      <p:sp>
        <p:nvSpPr>
          <p:cNvPr id="50" name="Shape 47"/>
          <p:cNvSpPr/>
          <p:nvPr/>
        </p:nvSpPr>
        <p:spPr>
          <a:xfrm>
            <a:off x="6675120" y="2871216"/>
            <a:ext cx="118872" cy="118872"/>
          </a:xfrm>
          <a:prstGeom prst="ellipse">
            <a:avLst/>
          </a:prstGeom>
          <a:solidFill>
            <a:srgbClr val="FEBC2E"/>
          </a:solidFill>
          <a:ln w="12700">
            <a:solidFill>
              <a:srgbClr val="FEBC2E"/>
            </a:solidFill>
            <a:prstDash val="solid"/>
          </a:ln>
        </p:spPr>
      </p:sp>
      <p:sp>
        <p:nvSpPr>
          <p:cNvPr id="51" name="Shape 48"/>
          <p:cNvSpPr/>
          <p:nvPr/>
        </p:nvSpPr>
        <p:spPr>
          <a:xfrm>
            <a:off x="6903720" y="2871216"/>
            <a:ext cx="118872" cy="118872"/>
          </a:xfrm>
          <a:prstGeom prst="ellipse">
            <a:avLst/>
          </a:prstGeom>
          <a:solidFill>
            <a:srgbClr val="28C840"/>
          </a:solidFill>
          <a:ln w="12700">
            <a:solidFill>
              <a:srgbClr val="28C840"/>
            </a:solidFill>
            <a:prstDash val="solid"/>
          </a:ln>
        </p:spPr>
      </p:sp>
      <p:sp>
        <p:nvSpPr>
          <p:cNvPr id="52" name="Text 49"/>
          <p:cNvSpPr txBox="1"/>
          <p:nvPr/>
        </p:nvSpPr>
        <p:spPr>
          <a:xfrm>
            <a:off x="7178040" y="281635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initializers swapped · B × A</a:t>
            </a:r>
            <a:endParaRPr lang="en-US" sz="1000" dirty="0"/>
          </a:p>
        </p:txBody>
      </p:sp>
      <p:sp>
        <p:nvSpPr>
          <p:cNvPr id="53" name="Text 50"/>
          <p:cNvSpPr txBox="1"/>
          <p:nvPr/>
        </p:nvSpPr>
        <p:spPr>
          <a:xfrm>
            <a:off x="6492240" y="3127248"/>
            <a:ext cx="4937760" cy="548640"/>
          </a:xfrm>
          <a:prstGeom prst="rect">
            <a:avLst/>
          </a:prstGeom>
          <a:noFill/>
          <a:ln/>
        </p:spPr>
        <p:txBody>
          <a:bodyPr wrap="square" lIns="0" tIns="0" rIns="0" bIns="0" rtlCol="0" anchor="t"/>
          <a:lstStyle/>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A (2x2) x B (2x2) = C (2x2):</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3     4</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1     2</a:t>
            </a:r>
            <a:endParaRPr lang="en-US" sz="1150" dirty="0"/>
          </a:p>
        </p:txBody>
      </p:sp>
      <p:sp>
        <p:nvSpPr>
          <p:cNvPr id="54" name="Shape 51"/>
          <p:cNvSpPr/>
          <p:nvPr/>
        </p:nvSpPr>
        <p:spPr>
          <a:xfrm>
            <a:off x="548640" y="4892040"/>
            <a:ext cx="5074920" cy="1207008"/>
          </a:xfrm>
          <a:prstGeom prst="roundRect">
            <a:avLst>
              <a:gd name="adj" fmla="val 9091"/>
            </a:avLst>
          </a:prstGeom>
          <a:solidFill>
            <a:srgbClr val="FFF6E3"/>
          </a:solidFill>
          <a:ln w="12700">
            <a:solidFill>
              <a:srgbClr val="FFF6E3"/>
            </a:solidFill>
            <a:prstDash val="solid"/>
          </a:ln>
        </p:spPr>
      </p:sp>
      <p:pic>
        <p:nvPicPr>
          <p:cNvPr id="55" name="Image 0" descr="preencoded.png">    </p:cNvPr>
          <p:cNvPicPr>
            <a:picLocks noChangeAspect="1"/>
          </p:cNvPicPr>
          <p:nvPr/>
        </p:nvPicPr>
        <p:blipFill>
          <a:blip r:embed="rId1"/>
          <a:stretch>
            <a:fillRect/>
          </a:stretch>
        </p:blipFill>
        <p:spPr>
          <a:xfrm>
            <a:off x="822960" y="5221224"/>
            <a:ext cx="548640" cy="548640"/>
          </a:xfrm>
          <a:prstGeom prst="rect">
            <a:avLst/>
          </a:prstGeom>
        </p:spPr>
      </p:pic>
      <p:sp>
        <p:nvSpPr>
          <p:cNvPr id="56" name="Text 52"/>
          <p:cNvSpPr txBox="1"/>
          <p:nvPr/>
        </p:nvSpPr>
        <p:spPr>
          <a:xfrm>
            <a:off x="1645920" y="4965192"/>
            <a:ext cx="3703320" cy="106070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Identity = the “1” of matrices: </a:t>
            </a:r>
            <a:pPr indent="0" marL="0">
              <a:buNone/>
            </a:pPr>
            <a:r>
              <a:rPr lang="en-US" sz="1400" dirty="0">
                <a:solidFill>
                  <a:srgbClr val="333B4F"/>
                </a:solidFill>
                <a:latin typeface="Calibri" pitchFamily="34" charset="0"/>
                <a:ea typeface="Calibri" pitchFamily="34" charset="-122"/>
                <a:cs typeface="Calibri" pitchFamily="34" charset="-120"/>
              </a:rPr>
              <a:t>A × I = I × A = A. I has 1 on the main diagonal, 0 elsewhere (Example 4).</a:t>
            </a:r>
            <a:endParaRPr lang="en-US" sz="1400" dirty="0"/>
          </a:p>
        </p:txBody>
      </p:sp>
      <p:sp>
        <p:nvSpPr>
          <p:cNvPr id="57" name="Text 53"/>
          <p:cNvSpPr txBox="1"/>
          <p:nvPr/>
        </p:nvSpPr>
        <p:spPr>
          <a:xfrm>
            <a:off x="6263640" y="3931920"/>
            <a:ext cx="539496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Cost of n × n times n × n</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263640" y="4270248"/>
          <a:ext cx="5394960" cy="914400"/>
        </p:xfrm>
        <a:graphic>
          <a:graphicData uri="http://schemas.openxmlformats.org/drawingml/2006/table">
            <a:tbl>
              <a:tblPr/>
              <a:tblGrid>
                <a:gridCol w="1463040"/>
                <a:gridCol w="393192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multiplications n³</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1 000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1 000 000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1 000 000 000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Grids in Real Programs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Multiplication table, cinema seats, tic-tac-toe, images — and jagged arrays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11</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11_08_MULTIPLICATIONTABLE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Multiplication Table as a Matrix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00200"/>
            <a:ext cx="6400800" cy="2468880"/>
          </a:xfrm>
          <a:prstGeom prst="roundRect">
            <a:avLst>
              <a:gd name="adj" fmla="val 3704"/>
            </a:avLst>
          </a:prstGeom>
          <a:solidFill>
            <a:srgbClr val="0F1729"/>
          </a:solidFill>
          <a:ln w="12700">
            <a:solidFill>
              <a:srgbClr val="0F1729"/>
            </a:solidFill>
            <a:prstDash val="solid"/>
          </a:ln>
        </p:spPr>
      </p:sp>
      <p:sp>
        <p:nvSpPr>
          <p:cNvPr id="8" name="Text 5"/>
          <p:cNvSpPr txBox="1"/>
          <p:nvPr/>
        </p:nvSpPr>
        <p:spPr>
          <a:xfrm>
            <a:off x="777240" y="1764792"/>
            <a:ext cx="5943600" cy="2194560"/>
          </a:xfrm>
          <a:prstGeom prst="rect">
            <a:avLst/>
          </a:prstGeom>
          <a:noFill/>
          <a:ln/>
        </p:spPr>
        <p:txBody>
          <a:bodyPr wrap="square" lIns="0" tIns="0" rIns="0" bIns="0" rtlCol="0" anchor="t"/>
          <a:lstStyle/>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"Size n (1-12): "</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.ReadLine());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table =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[n, n];</a:t>
            </a:r>
            <a:endParaRPr lang="en-US" sz="1250" dirty="0"/>
          </a:p>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r &lt; n; r++)</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 &lt; n; c++)</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table[r, c] = (r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 (c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9" name="Shape 6"/>
          <p:cNvSpPr/>
          <p:nvPr/>
        </p:nvSpPr>
        <p:spPr>
          <a:xfrm>
            <a:off x="548640" y="4206240"/>
            <a:ext cx="6400800" cy="1097280"/>
          </a:xfrm>
          <a:prstGeom prst="roundRect">
            <a:avLst>
              <a:gd name="adj" fmla="val 8333"/>
            </a:avLst>
          </a:prstGeom>
          <a:solidFill>
            <a:srgbClr val="0F1729"/>
          </a:solidFill>
          <a:ln w="12700">
            <a:solidFill>
              <a:srgbClr val="0F1729"/>
            </a:solidFill>
            <a:prstDash val="solid"/>
          </a:ln>
        </p:spPr>
      </p:sp>
      <p:sp>
        <p:nvSpPr>
          <p:cNvPr id="10" name="Text 7"/>
          <p:cNvSpPr txBox="1"/>
          <p:nvPr/>
        </p:nvSpPr>
        <p:spPr>
          <a:xfrm>
            <a:off x="777240" y="4370832"/>
            <a:ext cx="5943600" cy="82296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 x 8 = table[6, 7] = {table[6, 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548640" y="5440680"/>
            <a:ext cx="6400800" cy="658368"/>
          </a:xfrm>
          <a:prstGeom prst="roundRect">
            <a:avLst>
              <a:gd name="adj" fmla="val 16667"/>
            </a:avLst>
          </a:prstGeom>
          <a:solidFill>
            <a:srgbClr val="FFF6E3"/>
          </a:solidFill>
          <a:ln w="12700">
            <a:solidFill>
              <a:srgbClr val="FFF6E3"/>
            </a:solidFill>
            <a:prstDash val="solid"/>
          </a:ln>
        </p:spPr>
      </p:sp>
      <p:pic>
        <p:nvPicPr>
          <p:cNvPr id="12" name="Image 0" descr="preencoded.png">    </p:cNvPr>
          <p:cNvPicPr>
            <a:picLocks noChangeAspect="1"/>
          </p:cNvPicPr>
          <p:nvPr/>
        </p:nvPicPr>
        <p:blipFill>
          <a:blip r:embed="rId1"/>
          <a:stretch>
            <a:fillRect/>
          </a:stretch>
        </p:blipFill>
        <p:spPr>
          <a:xfrm>
            <a:off x="822960" y="5577840"/>
            <a:ext cx="384048" cy="384048"/>
          </a:xfrm>
          <a:prstGeom prst="rect">
            <a:avLst/>
          </a:prstGeom>
        </p:spPr>
      </p:pic>
      <p:sp>
        <p:nvSpPr>
          <p:cNvPr id="13" name="Text 9"/>
          <p:cNvSpPr txBox="1"/>
          <p:nvPr/>
        </p:nvSpPr>
        <p:spPr>
          <a:xfrm>
            <a:off x="1481328" y="5513832"/>
            <a:ext cx="5193792" cy="51206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Index = number − 1: </a:t>
            </a:r>
            <a:pPr indent="0" marL="0">
              <a:buNone/>
            </a:pPr>
            <a:r>
              <a:rPr lang="en-US" sz="1400" b="1" dirty="0">
                <a:solidFill>
                  <a:srgbClr val="14213D"/>
                </a:solidFill>
                <a:latin typeface="Courier New" pitchFamily="34" charset="0"/>
                <a:ea typeface="Courier New" pitchFamily="34" charset="-122"/>
                <a:cs typeface="Courier New" pitchFamily="34" charset="-120"/>
              </a:rPr>
              <a:t>7 × 8 → table[6, 7]</a:t>
            </a:r>
            <a:endParaRPr lang="en-US" sz="1400" dirty="0"/>
          </a:p>
        </p:txBody>
      </p:sp>
      <p:sp>
        <p:nvSpPr>
          <p:cNvPr id="14" name="Shape 10"/>
          <p:cNvSpPr/>
          <p:nvPr/>
        </p:nvSpPr>
        <p:spPr>
          <a:xfrm>
            <a:off x="7132320" y="1600200"/>
            <a:ext cx="4526280" cy="4498848"/>
          </a:xfrm>
          <a:prstGeom prst="roundRect">
            <a:avLst>
              <a:gd name="adj" fmla="val 2033"/>
            </a:avLst>
          </a:prstGeom>
          <a:solidFill>
            <a:srgbClr val="0B0F19"/>
          </a:solidFill>
          <a:ln w="12700">
            <a:solidFill>
              <a:srgbClr val="2A3654"/>
            </a:solidFill>
            <a:prstDash val="solid"/>
          </a:ln>
        </p:spPr>
      </p:sp>
      <p:sp>
        <p:nvSpPr>
          <p:cNvPr id="15" name="Shape 11"/>
          <p:cNvSpPr/>
          <p:nvPr/>
        </p:nvSpPr>
        <p:spPr>
          <a:xfrm>
            <a:off x="7315200" y="1728216"/>
            <a:ext cx="118872" cy="118872"/>
          </a:xfrm>
          <a:prstGeom prst="ellipse">
            <a:avLst/>
          </a:prstGeom>
          <a:solidFill>
            <a:srgbClr val="FF5F57"/>
          </a:solidFill>
          <a:ln w="12700">
            <a:solidFill>
              <a:srgbClr val="FF5F57"/>
            </a:solidFill>
            <a:prstDash val="solid"/>
          </a:ln>
        </p:spPr>
      </p:sp>
      <p:sp>
        <p:nvSpPr>
          <p:cNvPr id="16" name="Shape 12"/>
          <p:cNvSpPr/>
          <p:nvPr/>
        </p:nvSpPr>
        <p:spPr>
          <a:xfrm>
            <a:off x="7543800" y="1728216"/>
            <a:ext cx="118872" cy="118872"/>
          </a:xfrm>
          <a:prstGeom prst="ellipse">
            <a:avLst/>
          </a:prstGeom>
          <a:solidFill>
            <a:srgbClr val="FEBC2E"/>
          </a:solidFill>
          <a:ln w="12700">
            <a:solidFill>
              <a:srgbClr val="FEBC2E"/>
            </a:solidFill>
            <a:prstDash val="solid"/>
          </a:ln>
        </p:spPr>
      </p:sp>
      <p:sp>
        <p:nvSpPr>
          <p:cNvPr id="17" name="Shape 13"/>
          <p:cNvSpPr/>
          <p:nvPr/>
        </p:nvSpPr>
        <p:spPr>
          <a:xfrm>
            <a:off x="7772400" y="1728216"/>
            <a:ext cx="118872" cy="118872"/>
          </a:xfrm>
          <a:prstGeom prst="ellipse">
            <a:avLst/>
          </a:prstGeom>
          <a:solidFill>
            <a:srgbClr val="28C840"/>
          </a:solidFill>
          <a:ln w="12700">
            <a:solidFill>
              <a:srgbClr val="28C840"/>
            </a:solidFill>
            <a:prstDash val="solid"/>
          </a:ln>
        </p:spPr>
      </p:sp>
      <p:sp>
        <p:nvSpPr>
          <p:cNvPr id="18" name="Text 14"/>
          <p:cNvSpPr txBox="1"/>
          <p:nvPr/>
        </p:nvSpPr>
        <p:spPr>
          <a:xfrm>
            <a:off x="8046720" y="167335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code/11_08_MultiplicationTable</a:t>
            </a:r>
            <a:endParaRPr lang="en-US" sz="1000" dirty="0"/>
          </a:p>
        </p:txBody>
      </p:sp>
      <p:sp>
        <p:nvSpPr>
          <p:cNvPr id="19" name="Text 15"/>
          <p:cNvSpPr txBox="1"/>
          <p:nvPr/>
        </p:nvSpPr>
        <p:spPr>
          <a:xfrm>
            <a:off x="7360920" y="1984248"/>
            <a:ext cx="4069080" cy="3995928"/>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Size n (1-12): </a:t>
            </a:r>
            <a:pPr indent="0" marL="0">
              <a:spcAft>
                <a:spcPts val="100"/>
              </a:spcAft>
              <a:buNone/>
            </a:pPr>
            <a:r>
              <a:rPr lang="en-US" sz="1250" b="1" dirty="0">
                <a:solidFill>
                  <a:srgbClr val="FCA311"/>
                </a:solidFill>
                <a:latin typeface="Courier New" pitchFamily="34" charset="0"/>
                <a:ea typeface="Courier New" pitchFamily="34" charset="-122"/>
                <a:cs typeface="Courier New" pitchFamily="34" charset="-120"/>
              </a:rPr>
              <a:t>9</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x|   1   2   3   4   5   6   7   8   9</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1|   1   2   3   4   5   6   7   8   9</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2|   2   4   6   8  10  12  14  16  18</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3|   3   6   9  12  15  18  21  24  27</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4|   4   8  12  16  20  24  28  32  36</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5|   5  10  15  20  25  30  35  40  45</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6|   6  12  18  24  30  36  42  48  54</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7|   7  14  21  28  35  42  49  56  63</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8|   8  16  24  32  40  48  56  64  72</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9|   9  18  27  36  45  54  63  72  81</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7 x 8 = table[6, 7] = 56</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11_09_CINEMABOOKING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Cinema Seats: a char Matrix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932688" y="1627632"/>
            <a:ext cx="3511296" cy="201168"/>
          </a:xfrm>
          <a:prstGeom prst="rect">
            <a:avLst/>
          </a:prstGeom>
          <a:solidFill>
            <a:srgbClr val="5B6478"/>
          </a:solidFill>
          <a:ln w="12700">
            <a:solidFill>
              <a:srgbClr val="5B6478"/>
            </a:solidFill>
            <a:prstDash val="solid"/>
          </a:ln>
        </p:spPr>
      </p:sp>
      <p:sp>
        <p:nvSpPr>
          <p:cNvPr id="8" name="Text 5"/>
          <p:cNvSpPr txBox="1"/>
          <p:nvPr/>
        </p:nvSpPr>
        <p:spPr>
          <a:xfrm>
            <a:off x="932688" y="1627632"/>
            <a:ext cx="3511296" cy="201168"/>
          </a:xfrm>
          <a:prstGeom prst="rect">
            <a:avLst/>
          </a:prstGeom>
          <a:noFill/>
          <a:ln/>
        </p:spPr>
        <p:txBody>
          <a:bodyPr wrap="square" lIns="0" tIns="0" rIns="0" bIns="0" rtlCol="0" anchor="ctr"/>
          <a:lstStyle/>
          <a:p>
            <a:pPr algn="ctr" indent="0" marL="0">
              <a:buNone/>
            </a:pPr>
            <a:r>
              <a:rPr lang="en-US" sz="1000" b="1" spc="600" kern="0" dirty="0">
                <a:solidFill>
                  <a:srgbClr val="FFFFFF"/>
                </a:solidFill>
                <a:latin typeface="Calibri" pitchFamily="34" charset="0"/>
                <a:ea typeface="Calibri" pitchFamily="34" charset="-122"/>
                <a:cs typeface="Calibri" pitchFamily="34" charset="-120"/>
              </a:rPr>
              <a:t>SCREEN</a:t>
            </a:r>
            <a:endParaRPr lang="en-US" sz="1000" dirty="0"/>
          </a:p>
        </p:txBody>
      </p:sp>
      <p:sp>
        <p:nvSpPr>
          <p:cNvPr id="9" name="Text 6"/>
          <p:cNvSpPr txBox="1"/>
          <p:nvPr/>
        </p:nvSpPr>
        <p:spPr>
          <a:xfrm>
            <a:off x="932688"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10" name="Text 7"/>
          <p:cNvSpPr txBox="1"/>
          <p:nvPr/>
        </p:nvSpPr>
        <p:spPr>
          <a:xfrm>
            <a:off x="1371600"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1" name="Text 8"/>
          <p:cNvSpPr txBox="1"/>
          <p:nvPr/>
        </p:nvSpPr>
        <p:spPr>
          <a:xfrm>
            <a:off x="1810512"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2" name="Text 9"/>
          <p:cNvSpPr txBox="1"/>
          <p:nvPr/>
        </p:nvSpPr>
        <p:spPr>
          <a:xfrm>
            <a:off x="2249424"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4</a:t>
            </a:r>
            <a:endParaRPr lang="en-US" sz="1200" dirty="0"/>
          </a:p>
        </p:txBody>
      </p:sp>
      <p:sp>
        <p:nvSpPr>
          <p:cNvPr id="13" name="Text 10"/>
          <p:cNvSpPr txBox="1"/>
          <p:nvPr/>
        </p:nvSpPr>
        <p:spPr>
          <a:xfrm>
            <a:off x="2688336"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5</a:t>
            </a:r>
            <a:endParaRPr lang="en-US" sz="1200" dirty="0"/>
          </a:p>
        </p:txBody>
      </p:sp>
      <p:sp>
        <p:nvSpPr>
          <p:cNvPr id="14" name="Text 11"/>
          <p:cNvSpPr txBox="1"/>
          <p:nvPr/>
        </p:nvSpPr>
        <p:spPr>
          <a:xfrm>
            <a:off x="3127248"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6</a:t>
            </a:r>
            <a:endParaRPr lang="en-US" sz="1200" dirty="0"/>
          </a:p>
        </p:txBody>
      </p:sp>
      <p:sp>
        <p:nvSpPr>
          <p:cNvPr id="15" name="Text 12"/>
          <p:cNvSpPr txBox="1"/>
          <p:nvPr/>
        </p:nvSpPr>
        <p:spPr>
          <a:xfrm>
            <a:off x="3566160"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7</a:t>
            </a:r>
            <a:endParaRPr lang="en-US" sz="1200" dirty="0"/>
          </a:p>
        </p:txBody>
      </p:sp>
      <p:sp>
        <p:nvSpPr>
          <p:cNvPr id="16" name="Text 13"/>
          <p:cNvSpPr txBox="1"/>
          <p:nvPr/>
        </p:nvSpPr>
        <p:spPr>
          <a:xfrm>
            <a:off x="4005072" y="1874520"/>
            <a:ext cx="438912"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8</a:t>
            </a:r>
            <a:endParaRPr lang="en-US" sz="1200" dirty="0"/>
          </a:p>
        </p:txBody>
      </p:sp>
      <p:sp>
        <p:nvSpPr>
          <p:cNvPr id="17" name="Text 14"/>
          <p:cNvSpPr txBox="1"/>
          <p:nvPr/>
        </p:nvSpPr>
        <p:spPr>
          <a:xfrm>
            <a:off x="548640" y="2167128"/>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8" name="Text 15"/>
          <p:cNvSpPr txBox="1"/>
          <p:nvPr/>
        </p:nvSpPr>
        <p:spPr>
          <a:xfrm>
            <a:off x="548640" y="2551176"/>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9" name="Text 16"/>
          <p:cNvSpPr txBox="1"/>
          <p:nvPr/>
        </p:nvSpPr>
        <p:spPr>
          <a:xfrm>
            <a:off x="548640" y="2935224"/>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20" name="Text 17"/>
          <p:cNvSpPr txBox="1"/>
          <p:nvPr/>
        </p:nvSpPr>
        <p:spPr>
          <a:xfrm>
            <a:off x="548640" y="3319272"/>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4</a:t>
            </a:r>
            <a:endParaRPr lang="en-US" sz="1200" dirty="0"/>
          </a:p>
        </p:txBody>
      </p:sp>
      <p:sp>
        <p:nvSpPr>
          <p:cNvPr id="21" name="Text 18"/>
          <p:cNvSpPr txBox="1"/>
          <p:nvPr/>
        </p:nvSpPr>
        <p:spPr>
          <a:xfrm>
            <a:off x="548640" y="3703320"/>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5</a:t>
            </a:r>
            <a:endParaRPr lang="en-US" sz="1200" dirty="0"/>
          </a:p>
        </p:txBody>
      </p:sp>
      <p:sp>
        <p:nvSpPr>
          <p:cNvPr id="22" name="Text 19"/>
          <p:cNvSpPr/>
          <p:nvPr/>
        </p:nvSpPr>
        <p:spPr>
          <a:xfrm>
            <a:off x="932688"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3" name="Text 20"/>
          <p:cNvSpPr/>
          <p:nvPr/>
        </p:nvSpPr>
        <p:spPr>
          <a:xfrm>
            <a:off x="1371600"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4" name="Text 21"/>
          <p:cNvSpPr/>
          <p:nvPr/>
        </p:nvSpPr>
        <p:spPr>
          <a:xfrm>
            <a:off x="1810512"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5" name="Text 22"/>
          <p:cNvSpPr/>
          <p:nvPr/>
        </p:nvSpPr>
        <p:spPr>
          <a:xfrm>
            <a:off x="2249424"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6" name="Text 23"/>
          <p:cNvSpPr/>
          <p:nvPr/>
        </p:nvSpPr>
        <p:spPr>
          <a:xfrm>
            <a:off x="2688336"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7" name="Text 24"/>
          <p:cNvSpPr/>
          <p:nvPr/>
        </p:nvSpPr>
        <p:spPr>
          <a:xfrm>
            <a:off x="3127248"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8" name="Text 25"/>
          <p:cNvSpPr/>
          <p:nvPr/>
        </p:nvSpPr>
        <p:spPr>
          <a:xfrm>
            <a:off x="3566160" y="2167128"/>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29" name="Text 26"/>
          <p:cNvSpPr/>
          <p:nvPr/>
        </p:nvSpPr>
        <p:spPr>
          <a:xfrm>
            <a:off x="4005072" y="2167128"/>
            <a:ext cx="438912" cy="384048"/>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30" name="Text 27"/>
          <p:cNvSpPr/>
          <p:nvPr/>
        </p:nvSpPr>
        <p:spPr>
          <a:xfrm>
            <a:off x="932688"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1" name="Text 28"/>
          <p:cNvSpPr/>
          <p:nvPr/>
        </p:nvSpPr>
        <p:spPr>
          <a:xfrm>
            <a:off x="1371600"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2" name="Text 29"/>
          <p:cNvSpPr/>
          <p:nvPr/>
        </p:nvSpPr>
        <p:spPr>
          <a:xfrm>
            <a:off x="1810512"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3" name="Text 30"/>
          <p:cNvSpPr/>
          <p:nvPr/>
        </p:nvSpPr>
        <p:spPr>
          <a:xfrm>
            <a:off x="2249424"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4" name="Text 31"/>
          <p:cNvSpPr/>
          <p:nvPr/>
        </p:nvSpPr>
        <p:spPr>
          <a:xfrm>
            <a:off x="2688336"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5" name="Text 32"/>
          <p:cNvSpPr/>
          <p:nvPr/>
        </p:nvSpPr>
        <p:spPr>
          <a:xfrm>
            <a:off x="3127248"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6" name="Text 33"/>
          <p:cNvSpPr/>
          <p:nvPr/>
        </p:nvSpPr>
        <p:spPr>
          <a:xfrm>
            <a:off x="3566160"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7" name="Text 34"/>
          <p:cNvSpPr/>
          <p:nvPr/>
        </p:nvSpPr>
        <p:spPr>
          <a:xfrm>
            <a:off x="4005072" y="2551176"/>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8" name="Text 35"/>
          <p:cNvSpPr/>
          <p:nvPr/>
        </p:nvSpPr>
        <p:spPr>
          <a:xfrm>
            <a:off x="932688" y="2935224"/>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39" name="Text 36"/>
          <p:cNvSpPr/>
          <p:nvPr/>
        </p:nvSpPr>
        <p:spPr>
          <a:xfrm>
            <a:off x="1371600" y="2935224"/>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0" name="Text 37"/>
          <p:cNvSpPr/>
          <p:nvPr/>
        </p:nvSpPr>
        <p:spPr>
          <a:xfrm>
            <a:off x="1810512" y="2935224"/>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1" name="Text 38"/>
          <p:cNvSpPr/>
          <p:nvPr/>
        </p:nvSpPr>
        <p:spPr>
          <a:xfrm>
            <a:off x="2249424" y="2935224"/>
            <a:ext cx="438912" cy="384048"/>
          </a:xfrm>
          <a:prstGeom prst="rect">
            <a:avLst/>
          </a:prstGeom>
          <a:solidFill>
            <a:srgbClr val="D5DAE3"/>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42" name="Text 39"/>
          <p:cNvSpPr/>
          <p:nvPr/>
        </p:nvSpPr>
        <p:spPr>
          <a:xfrm>
            <a:off x="2688336" y="2935224"/>
            <a:ext cx="438912" cy="384048"/>
          </a:xfrm>
          <a:prstGeom prst="rect">
            <a:avLst/>
          </a:prstGeom>
          <a:solidFill>
            <a:srgbClr val="D5DAE3"/>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43" name="Text 40"/>
          <p:cNvSpPr/>
          <p:nvPr/>
        </p:nvSpPr>
        <p:spPr>
          <a:xfrm>
            <a:off x="3127248" y="2935224"/>
            <a:ext cx="438912" cy="384048"/>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X</a:t>
            </a:r>
            <a:endParaRPr lang="en-US" sz="1400" dirty="0"/>
          </a:p>
        </p:txBody>
      </p:sp>
      <p:sp>
        <p:nvSpPr>
          <p:cNvPr id="44" name="Text 41"/>
          <p:cNvSpPr/>
          <p:nvPr/>
        </p:nvSpPr>
        <p:spPr>
          <a:xfrm>
            <a:off x="3566160" y="2935224"/>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5" name="Text 42"/>
          <p:cNvSpPr/>
          <p:nvPr/>
        </p:nvSpPr>
        <p:spPr>
          <a:xfrm>
            <a:off x="4005072" y="2935224"/>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6" name="Text 43"/>
          <p:cNvSpPr/>
          <p:nvPr/>
        </p:nvSpPr>
        <p:spPr>
          <a:xfrm>
            <a:off x="932688"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7" name="Text 44"/>
          <p:cNvSpPr/>
          <p:nvPr/>
        </p:nvSpPr>
        <p:spPr>
          <a:xfrm>
            <a:off x="1371600"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8" name="Text 45"/>
          <p:cNvSpPr/>
          <p:nvPr/>
        </p:nvSpPr>
        <p:spPr>
          <a:xfrm>
            <a:off x="1810512"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49" name="Text 46"/>
          <p:cNvSpPr/>
          <p:nvPr/>
        </p:nvSpPr>
        <p:spPr>
          <a:xfrm>
            <a:off x="2249424"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0" name="Text 47"/>
          <p:cNvSpPr/>
          <p:nvPr/>
        </p:nvSpPr>
        <p:spPr>
          <a:xfrm>
            <a:off x="2688336"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1" name="Text 48"/>
          <p:cNvSpPr/>
          <p:nvPr/>
        </p:nvSpPr>
        <p:spPr>
          <a:xfrm>
            <a:off x="3127248"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2" name="Text 49"/>
          <p:cNvSpPr/>
          <p:nvPr/>
        </p:nvSpPr>
        <p:spPr>
          <a:xfrm>
            <a:off x="3566160"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3" name="Text 50"/>
          <p:cNvSpPr/>
          <p:nvPr/>
        </p:nvSpPr>
        <p:spPr>
          <a:xfrm>
            <a:off x="4005072" y="3319272"/>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4" name="Text 51"/>
          <p:cNvSpPr/>
          <p:nvPr/>
        </p:nvSpPr>
        <p:spPr>
          <a:xfrm>
            <a:off x="932688"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5" name="Text 52"/>
          <p:cNvSpPr/>
          <p:nvPr/>
        </p:nvSpPr>
        <p:spPr>
          <a:xfrm>
            <a:off x="1371600"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6" name="Text 53"/>
          <p:cNvSpPr/>
          <p:nvPr/>
        </p:nvSpPr>
        <p:spPr>
          <a:xfrm>
            <a:off x="1810512"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7" name="Text 54"/>
          <p:cNvSpPr/>
          <p:nvPr/>
        </p:nvSpPr>
        <p:spPr>
          <a:xfrm>
            <a:off x="2249424"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8" name="Text 55"/>
          <p:cNvSpPr/>
          <p:nvPr/>
        </p:nvSpPr>
        <p:spPr>
          <a:xfrm>
            <a:off x="2688336"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59" name="Text 56"/>
          <p:cNvSpPr/>
          <p:nvPr/>
        </p:nvSpPr>
        <p:spPr>
          <a:xfrm>
            <a:off x="3127248"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60" name="Text 57"/>
          <p:cNvSpPr/>
          <p:nvPr/>
        </p:nvSpPr>
        <p:spPr>
          <a:xfrm>
            <a:off x="3566160"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61" name="Text 58"/>
          <p:cNvSpPr/>
          <p:nvPr/>
        </p:nvSpPr>
        <p:spPr>
          <a:xfrm>
            <a:off x="4005072" y="3703320"/>
            <a:ext cx="438912"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p>
        </p:txBody>
      </p:sp>
      <p:sp>
        <p:nvSpPr>
          <p:cNvPr id="62" name="Text 59"/>
          <p:cNvSpPr txBox="1"/>
          <p:nvPr/>
        </p:nvSpPr>
        <p:spPr>
          <a:xfrm>
            <a:off x="548640" y="4160520"/>
            <a:ext cx="4572000" cy="1325880"/>
          </a:xfrm>
          <a:prstGeom prst="rect">
            <a:avLst/>
          </a:prstGeom>
          <a:noFill/>
          <a:ln/>
        </p:spPr>
        <p:txBody>
          <a:bodyPr wrap="square" lIns="0" tIns="0" rIns="0" bIns="0" rtlCol="0" anchor="t"/>
          <a:lstStyle/>
          <a:p>
            <a:pPr indent="0" marL="0">
              <a:buNone/>
            </a:pPr>
            <a:r>
              <a:rPr lang="en-US" sz="1350" b="1" dirty="0">
                <a:solidFill>
                  <a:srgbClr val="B7791F"/>
                </a:solidFill>
                <a:latin typeface="Calibri" pitchFamily="34" charset="0"/>
                <a:ea typeface="Calibri" pitchFamily="34" charset="-122"/>
                <a:cs typeface="Calibri" pitchFamily="34" charset="-120"/>
              </a:rPr>
              <a:t>Seat numbers </a:t>
            </a:r>
            <a:pPr indent="0" marL="0">
              <a:buNone/>
            </a:pPr>
            <a:r>
              <a:rPr lang="en-US" sz="1350" dirty="0">
                <a:solidFill>
                  <a:srgbClr val="333B4F"/>
                </a:solidFill>
                <a:latin typeface="Calibri" pitchFamily="34" charset="0"/>
                <a:ea typeface="Calibri" pitchFamily="34" charset="-122"/>
                <a:cs typeface="Calibri" pitchFamily="34" charset="-120"/>
              </a:rPr>
              <a:t>and </a:t>
            </a:r>
            <a:pPr indent="0" marL="0">
              <a:buNone/>
            </a:pPr>
            <a:r>
              <a:rPr lang="en-US" sz="1350" b="1" dirty="0">
                <a:solidFill>
                  <a:srgbClr val="2F6FB3"/>
                </a:solidFill>
                <a:latin typeface="Calibri" pitchFamily="34" charset="0"/>
                <a:ea typeface="Calibri" pitchFamily="34" charset="-122"/>
                <a:cs typeface="Calibri" pitchFamily="34" charset="-120"/>
              </a:rPr>
              <a:t>row numbers </a:t>
            </a:r>
            <a:pPr indent="0" marL="0">
              <a:buNone/>
            </a:pPr>
            <a:r>
              <a:rPr lang="en-US" sz="1350" dirty="0">
                <a:solidFill>
                  <a:srgbClr val="333B4F"/>
                </a:solidFill>
                <a:latin typeface="Calibri" pitchFamily="34" charset="0"/>
                <a:ea typeface="Calibri" pitchFamily="34" charset="-122"/>
                <a:cs typeface="Calibri" pitchFamily="34" charset="-120"/>
              </a:rPr>
              <a:t>as the user sees them (from 1).</a:t>
            </a:r>
            <a:endParaRPr lang="en-US" sz="1350" dirty="0"/>
          </a:p>
          <a:p>
            <a:pPr indent="0" marL="0">
              <a:buNone/>
            </a:pPr>
            <a:r>
              <a:rPr lang="en-US" sz="1350" dirty="0">
                <a:solidFill>
                  <a:srgbClr val="333B4F"/>
                </a:solidFill>
                <a:latin typeface="Calibri" pitchFamily="34" charset="0"/>
                <a:ea typeface="Calibri" pitchFamily="34" charset="-122"/>
                <a:cs typeface="Calibri" pitchFamily="34" charset="-120"/>
              </a:rPr>
              <a:t>Row 3, seat 6 → </a:t>
            </a:r>
            <a:pPr indent="0" marL="0">
              <a:buNone/>
            </a:pPr>
            <a:r>
              <a:rPr lang="en-US" sz="1350" b="1" dirty="0">
                <a:solidFill>
                  <a:srgbClr val="14213D"/>
                </a:solidFill>
                <a:latin typeface="Courier New" pitchFamily="34" charset="0"/>
                <a:ea typeface="Courier New" pitchFamily="34" charset="-122"/>
                <a:cs typeface="Courier New" pitchFamily="34" charset="-120"/>
              </a:rPr>
              <a:t>seats[2, 5]</a:t>
            </a:r>
            <a:pPr indent="0" marL="0">
              <a:buNone/>
            </a:pPr>
            <a:r>
              <a:rPr lang="en-US" sz="1350" dirty="0">
                <a:solidFill>
                  <a:srgbClr val="333B4F"/>
                </a:solidFill>
                <a:latin typeface="Calibri" pitchFamily="34" charset="0"/>
                <a:ea typeface="Calibri" pitchFamily="34" charset="-122"/>
                <a:cs typeface="Calibri" pitchFamily="34" charset="-120"/>
              </a:rPr>
              <a:t>.</a:t>
            </a:r>
            <a:endParaRPr lang="en-US" sz="1350" dirty="0"/>
          </a:p>
          <a:p>
            <a:pPr indent="0" marL="0">
              <a:buNone/>
            </a:pPr>
            <a:r>
              <a:rPr lang="en-US" sz="1350" b="1" dirty="0">
                <a:solidFill>
                  <a:srgbClr val="B7791F"/>
                </a:solidFill>
                <a:latin typeface="Calibri" pitchFamily="34" charset="0"/>
                <a:ea typeface="Calibri" pitchFamily="34" charset="-122"/>
                <a:cs typeface="Calibri" pitchFamily="34" charset="-120"/>
              </a:rPr>
              <a:t>■ </a:t>
            </a:r>
            <a:pPr indent="0" marL="0">
              <a:buNone/>
            </a:pPr>
            <a:r>
              <a:rPr lang="en-US" sz="1350" dirty="0">
                <a:solidFill>
                  <a:srgbClr val="333B4F"/>
                </a:solidFill>
                <a:latin typeface="Calibri" pitchFamily="34" charset="0"/>
                <a:ea typeface="Calibri" pitchFamily="34" charset="-122"/>
                <a:cs typeface="Calibri" pitchFamily="34" charset="-120"/>
              </a:rPr>
              <a:t>booked in this run   </a:t>
            </a:r>
            <a:pPr indent="0" marL="0">
              <a:buNone/>
            </a:pPr>
            <a:r>
              <a:rPr lang="en-US" sz="1350" b="1" dirty="0">
                <a:solidFill>
                  <a:srgbClr val="9AA3B5"/>
                </a:solidFill>
                <a:latin typeface="Calibri" pitchFamily="34" charset="0"/>
                <a:ea typeface="Calibri" pitchFamily="34" charset="-122"/>
                <a:cs typeface="Calibri" pitchFamily="34" charset="-120"/>
              </a:rPr>
              <a:t>■ </a:t>
            </a:r>
            <a:pPr indent="0" marL="0">
              <a:buNone/>
            </a:pPr>
            <a:r>
              <a:rPr lang="en-US" sz="1350" dirty="0">
                <a:solidFill>
                  <a:srgbClr val="333B4F"/>
                </a:solidFill>
                <a:latin typeface="Calibri" pitchFamily="34" charset="0"/>
                <a:ea typeface="Calibri" pitchFamily="34" charset="-122"/>
                <a:cs typeface="Calibri" pitchFamily="34" charset="-120"/>
              </a:rPr>
              <a:t>sold before</a:t>
            </a:r>
            <a:endParaRPr lang="en-US" sz="1350" dirty="0"/>
          </a:p>
        </p:txBody>
      </p:sp>
      <p:sp>
        <p:nvSpPr>
          <p:cNvPr id="63" name="Shape 60"/>
          <p:cNvSpPr/>
          <p:nvPr/>
        </p:nvSpPr>
        <p:spPr>
          <a:xfrm>
            <a:off x="548640" y="5486400"/>
            <a:ext cx="4572000" cy="612648"/>
          </a:xfrm>
          <a:prstGeom prst="roundRect">
            <a:avLst>
              <a:gd name="adj" fmla="val 17910"/>
            </a:avLst>
          </a:prstGeom>
          <a:solidFill>
            <a:srgbClr val="FBE9E7"/>
          </a:solidFill>
          <a:ln w="12700">
            <a:solidFill>
              <a:srgbClr val="FBE9E7"/>
            </a:solidFill>
            <a:prstDash val="solid"/>
          </a:ln>
        </p:spPr>
      </p:sp>
      <p:pic>
        <p:nvPicPr>
          <p:cNvPr id="64" name="Image 0" descr="preencoded.png">    </p:cNvPr>
          <p:cNvPicPr>
            <a:picLocks noChangeAspect="1"/>
          </p:cNvPicPr>
          <p:nvPr/>
        </p:nvPicPr>
        <p:blipFill>
          <a:blip r:embed="rId1"/>
          <a:stretch>
            <a:fillRect/>
          </a:stretch>
        </p:blipFill>
        <p:spPr>
          <a:xfrm>
            <a:off x="822960" y="5623560"/>
            <a:ext cx="338328" cy="338328"/>
          </a:xfrm>
          <a:prstGeom prst="rect">
            <a:avLst/>
          </a:prstGeom>
        </p:spPr>
      </p:pic>
      <p:sp>
        <p:nvSpPr>
          <p:cNvPr id="65" name="Text 61"/>
          <p:cNvSpPr txBox="1"/>
          <p:nvPr/>
        </p:nvSpPr>
        <p:spPr>
          <a:xfrm>
            <a:off x="1435608" y="5559552"/>
            <a:ext cx="3410712" cy="46634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Check the range first, </a:t>
            </a:r>
            <a:pPr indent="0" marL="0">
              <a:buNone/>
            </a:pPr>
            <a:r>
              <a:rPr lang="en-US" sz="1400" dirty="0">
                <a:solidFill>
                  <a:srgbClr val="333B4F"/>
                </a:solidFill>
                <a:latin typeface="Calibri" pitchFamily="34" charset="0"/>
                <a:ea typeface="Calibri" pitchFamily="34" charset="-122"/>
                <a:cs typeface="Calibri" pitchFamily="34" charset="-120"/>
              </a:rPr>
              <a:t>then the seat.</a:t>
            </a:r>
            <a:endParaRPr lang="en-US" sz="1400" dirty="0"/>
          </a:p>
        </p:txBody>
      </p:sp>
      <p:sp>
        <p:nvSpPr>
          <p:cNvPr id="66" name="Shape 62"/>
          <p:cNvSpPr/>
          <p:nvPr/>
        </p:nvSpPr>
        <p:spPr>
          <a:xfrm>
            <a:off x="5349240" y="1600200"/>
            <a:ext cx="6309360" cy="4498848"/>
          </a:xfrm>
          <a:prstGeom prst="roundRect">
            <a:avLst>
              <a:gd name="adj" fmla="val 2033"/>
            </a:avLst>
          </a:prstGeom>
          <a:solidFill>
            <a:srgbClr val="0F1729"/>
          </a:solidFill>
          <a:ln w="12700">
            <a:solidFill>
              <a:srgbClr val="0F1729"/>
            </a:solidFill>
            <a:prstDash val="solid"/>
          </a:ln>
        </p:spPr>
      </p:sp>
      <p:sp>
        <p:nvSpPr>
          <p:cNvPr id="67" name="Text 63"/>
          <p:cNvSpPr txBox="1"/>
          <p:nvPr/>
        </p:nvSpPr>
        <p:spPr>
          <a:xfrm>
            <a:off x="5577840" y="170992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inside the do-while, after reading row and seat</a:t>
            </a:r>
            <a:endParaRPr lang="en-US" sz="1100" dirty="0"/>
          </a:p>
        </p:txBody>
      </p:sp>
      <p:sp>
        <p:nvSpPr>
          <p:cNvPr id="68" name="Text 64"/>
          <p:cNvSpPr txBox="1"/>
          <p:nvPr/>
        </p:nvSpPr>
        <p:spPr>
          <a:xfrm>
            <a:off x="5577840" y="2011680"/>
            <a:ext cx="5852160" cy="397764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(row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row &gt; rows || seat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seat &gt; perRow)</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No such seat."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(seats[row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Sorry, already sold."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seats[row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Booked: row {row}, seat {seat}."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A BOOKING SESSION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Cinema Booking: the Console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548640" y="1600200"/>
            <a:ext cx="5486400" cy="4498848"/>
          </a:xfrm>
          <a:prstGeom prst="roundRect">
            <a:avLst>
              <a:gd name="adj" fmla="val 2033"/>
            </a:avLst>
          </a:prstGeom>
          <a:solidFill>
            <a:srgbClr val="0B0F19"/>
          </a:solidFill>
          <a:ln w="12700">
            <a:solidFill>
              <a:srgbClr val="2A3654"/>
            </a:solidFill>
            <a:prstDash val="solid"/>
          </a:ln>
        </p:spPr>
      </p:sp>
      <p:sp>
        <p:nvSpPr>
          <p:cNvPr id="8" name="Shape 5"/>
          <p:cNvSpPr/>
          <p:nvPr/>
        </p:nvSpPr>
        <p:spPr>
          <a:xfrm>
            <a:off x="731520" y="172821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2821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2821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67335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code/11_09_CinemaBooking · part 1</a:t>
            </a:r>
            <a:endParaRPr lang="en-US" sz="1000" dirty="0"/>
          </a:p>
        </p:txBody>
      </p:sp>
      <p:sp>
        <p:nvSpPr>
          <p:cNvPr id="12" name="Text 9"/>
          <p:cNvSpPr txBox="1"/>
          <p:nvPr/>
        </p:nvSpPr>
        <p:spPr>
          <a:xfrm>
            <a:off x="777240" y="1984248"/>
            <a:ext cx="5029200" cy="3995928"/>
          </a:xfrm>
          <a:prstGeom prst="rect">
            <a:avLst/>
          </a:prstGeom>
          <a:noFill/>
          <a:ln/>
        </p:spPr>
        <p:txBody>
          <a:bodyPr wrap="square" lIns="0" tIns="0" rIns="0" bIns="0" rtlCol="0" anchor="t"/>
          <a:lstStyle/>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Cinema: 5 rows x 8 seats</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3</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Seat (1-8):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4</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Sorry, already sold.</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3</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Seat (1-8):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6</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Booked: row 3, seat 6.</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3</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Seat (1-8):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4</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Sorry, already sold.</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6</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Seat (1-8):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1</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No such seat.</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1</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Seat (1-8):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8</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  Booked: row 1, seat 8.</a:t>
            </a:r>
            <a:endParaRPr lang="en-US" sz="1150" dirty="0"/>
          </a:p>
          <a:p>
            <a:pPr indent="0" marL="0">
              <a:spcAft>
                <a:spcPts val="100"/>
              </a:spcAft>
              <a:buNone/>
            </a:pPr>
            <a:r>
              <a:rPr lang="en-US" sz="1150" dirty="0">
                <a:solidFill>
                  <a:srgbClr val="7EE2A8"/>
                </a:solidFill>
                <a:latin typeface="Courier New" pitchFamily="34" charset="0"/>
                <a:ea typeface="Courier New" pitchFamily="34" charset="-122"/>
                <a:cs typeface="Courier New" pitchFamily="34" charset="-120"/>
              </a:rPr>
              <a:t>Row (1-5, 0 = finish): </a:t>
            </a:r>
            <a:pPr indent="0" marL="0">
              <a:spcAft>
                <a:spcPts val="100"/>
              </a:spcAft>
              <a:buNone/>
            </a:pPr>
            <a:r>
              <a:rPr lang="en-US" sz="1150" b="1" dirty="0">
                <a:solidFill>
                  <a:srgbClr val="FCA311"/>
                </a:solidFill>
                <a:latin typeface="Courier New" pitchFamily="34" charset="0"/>
                <a:ea typeface="Courier New" pitchFamily="34" charset="-122"/>
                <a:cs typeface="Courier New" pitchFamily="34" charset="-120"/>
              </a:rPr>
              <a:t>0</a:t>
            </a:r>
            <a:endParaRPr lang="en-US" sz="1150" dirty="0"/>
          </a:p>
        </p:txBody>
      </p:sp>
      <p:sp>
        <p:nvSpPr>
          <p:cNvPr id="13" name="Shape 10"/>
          <p:cNvSpPr/>
          <p:nvPr/>
        </p:nvSpPr>
        <p:spPr>
          <a:xfrm>
            <a:off x="6263640" y="1600200"/>
            <a:ext cx="5394960" cy="2240280"/>
          </a:xfrm>
          <a:prstGeom prst="roundRect">
            <a:avLst>
              <a:gd name="adj" fmla="val 4082"/>
            </a:avLst>
          </a:prstGeom>
          <a:solidFill>
            <a:srgbClr val="0B0F19"/>
          </a:solidFill>
          <a:ln w="12700">
            <a:solidFill>
              <a:srgbClr val="2A3654"/>
            </a:solidFill>
            <a:prstDash val="solid"/>
          </a:ln>
        </p:spPr>
      </p:sp>
      <p:sp>
        <p:nvSpPr>
          <p:cNvPr id="14" name="Shape 11"/>
          <p:cNvSpPr/>
          <p:nvPr/>
        </p:nvSpPr>
        <p:spPr>
          <a:xfrm>
            <a:off x="6446520" y="1728216"/>
            <a:ext cx="118872" cy="118872"/>
          </a:xfrm>
          <a:prstGeom prst="ellipse">
            <a:avLst/>
          </a:prstGeom>
          <a:solidFill>
            <a:srgbClr val="FF5F57"/>
          </a:solidFill>
          <a:ln w="12700">
            <a:solidFill>
              <a:srgbClr val="FF5F57"/>
            </a:solidFill>
            <a:prstDash val="solid"/>
          </a:ln>
        </p:spPr>
      </p:sp>
      <p:sp>
        <p:nvSpPr>
          <p:cNvPr id="15" name="Shape 12"/>
          <p:cNvSpPr/>
          <p:nvPr/>
        </p:nvSpPr>
        <p:spPr>
          <a:xfrm>
            <a:off x="6675120" y="1728216"/>
            <a:ext cx="118872" cy="118872"/>
          </a:xfrm>
          <a:prstGeom prst="ellipse">
            <a:avLst/>
          </a:prstGeom>
          <a:solidFill>
            <a:srgbClr val="FEBC2E"/>
          </a:solidFill>
          <a:ln w="12700">
            <a:solidFill>
              <a:srgbClr val="FEBC2E"/>
            </a:solidFill>
            <a:prstDash val="solid"/>
          </a:ln>
        </p:spPr>
      </p:sp>
      <p:sp>
        <p:nvSpPr>
          <p:cNvPr id="16" name="Shape 13"/>
          <p:cNvSpPr/>
          <p:nvPr/>
        </p:nvSpPr>
        <p:spPr>
          <a:xfrm>
            <a:off x="6903720" y="172821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7178040" y="1673352"/>
            <a:ext cx="4297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part 2 · the map</a:t>
            </a:r>
            <a:endParaRPr lang="en-US" sz="1000" dirty="0"/>
          </a:p>
        </p:txBody>
      </p:sp>
      <p:sp>
        <p:nvSpPr>
          <p:cNvPr id="18" name="Text 15"/>
          <p:cNvSpPr txBox="1"/>
          <p:nvPr/>
        </p:nvSpPr>
        <p:spPr>
          <a:xfrm>
            <a:off x="6492240" y="1984248"/>
            <a:ext cx="4937760" cy="1737360"/>
          </a:xfrm>
          <a:prstGeom prst="rect">
            <a:avLst/>
          </a:prstGeom>
          <a:noFill/>
          <a:ln/>
        </p:spPr>
        <p:txBody>
          <a:bodyPr wrap="square" lIns="0" tIns="0" rIns="0" bIns="0" rtlCol="0" anchor="t"/>
          <a:lstStyle/>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S C R E E N</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     1 2 3 4 5 6 7 8</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Row1 . . . . . . . X</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Row2 . . . . . . . .</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Row3 . . . X X X . .</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Row4 . . . . . . . .</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Row5 . . . . . . . .</a:t>
            </a:r>
            <a:endParaRPr lang="en-US" sz="1250" dirty="0"/>
          </a:p>
          <a:p>
            <a:pPr indent="0" marL="0">
              <a:spcAft>
                <a:spcPts val="100"/>
              </a:spcAft>
              <a:buNone/>
            </a:pPr>
            <a:r>
              <a:rPr lang="en-US" sz="1250" dirty="0">
                <a:solidFill>
                  <a:srgbClr val="7EE2A8"/>
                </a:solidFill>
                <a:latin typeface="Courier New" pitchFamily="34" charset="0"/>
                <a:ea typeface="Courier New" pitchFamily="34" charset="-122"/>
                <a:cs typeface="Courier New" pitchFamily="34" charset="-120"/>
              </a:rPr>
              <a:t>Free seats: 36 of 40</a:t>
            </a:r>
            <a:endParaRPr lang="en-US" sz="1250" dirty="0"/>
          </a:p>
        </p:txBody>
      </p:sp>
      <p:sp>
        <p:nvSpPr>
          <p:cNvPr id="19" name="Shape 16"/>
          <p:cNvSpPr/>
          <p:nvPr/>
        </p:nvSpPr>
        <p:spPr>
          <a:xfrm>
            <a:off x="6263640" y="3977640"/>
            <a:ext cx="5394960" cy="2121408"/>
          </a:xfrm>
          <a:prstGeom prst="roundRect">
            <a:avLst>
              <a:gd name="adj" fmla="val 4310"/>
            </a:avLst>
          </a:prstGeom>
          <a:solidFill>
            <a:srgbClr val="0F1729"/>
          </a:solidFill>
          <a:ln w="12700">
            <a:solidFill>
              <a:srgbClr val="0F1729"/>
            </a:solidFill>
            <a:prstDash val="solid"/>
          </a:ln>
        </p:spPr>
      </p:sp>
      <p:sp>
        <p:nvSpPr>
          <p:cNvPr id="20" name="Text 17"/>
          <p:cNvSpPr txBox="1"/>
          <p:nvPr/>
        </p:nvSpPr>
        <p:spPr>
          <a:xfrm>
            <a:off x="6492240" y="408736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counting inside the printing loop</a:t>
            </a:r>
            <a:endParaRPr lang="en-US" sz="1100" dirty="0"/>
          </a:p>
        </p:txBody>
      </p:sp>
      <p:sp>
        <p:nvSpPr>
          <p:cNvPr id="21" name="Text 18"/>
          <p:cNvSpPr txBox="1"/>
          <p:nvPr/>
        </p:nvSpPr>
        <p:spPr>
          <a:xfrm>
            <a:off x="6492240" y="4389120"/>
            <a:ext cx="4937760" cy="1600200"/>
          </a:xfrm>
          <a:prstGeom prst="rect">
            <a:avLst/>
          </a:prstGeom>
          <a:noFill/>
          <a:ln/>
        </p:spPr>
        <p:txBody>
          <a:bodyPr wrap="square" lIns="0" tIns="0" rIns="0" bIns="0" rtlCol="0" anchor="t"/>
          <a:lstStyle/>
          <a:p>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5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c &lt; perRow; c++)</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 {seats[r, c]}"</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5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(seats[r, c] == </a:t>
            </a:r>
            <a:pPr indent="0" marL="0">
              <a:spcAft>
                <a:spcPts val="100"/>
              </a:spcAft>
              <a:buNone/>
            </a:pPr>
            <a:r>
              <a:rPr lang="en-US" sz="125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free++;</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indent="0" marL="0">
              <a:spcAft>
                <a:spcPts val="100"/>
              </a:spcAft>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11_10_TICTACTOE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Tic-Tac-Toe: Who Has Three in a Line?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Text 4"/>
          <p:cNvSpPr txBox="1"/>
          <p:nvPr/>
        </p:nvSpPr>
        <p:spPr>
          <a:xfrm>
            <a:off x="932688" y="16459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664208" y="16459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395728" y="1645920"/>
            <a:ext cx="73152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548640" y="193852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1" name="Text 8"/>
          <p:cNvSpPr txBox="1"/>
          <p:nvPr/>
        </p:nvSpPr>
        <p:spPr>
          <a:xfrm>
            <a:off x="548640" y="257860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2" name="Text 9"/>
          <p:cNvSpPr txBox="1"/>
          <p:nvPr/>
        </p:nvSpPr>
        <p:spPr>
          <a:xfrm>
            <a:off x="548640" y="321868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3" name="Text 10"/>
          <p:cNvSpPr/>
          <p:nvPr/>
        </p:nvSpPr>
        <p:spPr>
          <a:xfrm>
            <a:off x="932688" y="193852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O</a:t>
            </a:r>
            <a:endParaRPr lang="en-US" sz="2400" dirty="0"/>
          </a:p>
        </p:txBody>
      </p:sp>
      <p:sp>
        <p:nvSpPr>
          <p:cNvPr id="14" name="Text 11"/>
          <p:cNvSpPr/>
          <p:nvPr/>
        </p:nvSpPr>
        <p:spPr>
          <a:xfrm>
            <a:off x="1664208" y="193852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15" name="Text 12"/>
          <p:cNvSpPr/>
          <p:nvPr/>
        </p:nvSpPr>
        <p:spPr>
          <a:xfrm>
            <a:off x="2395728" y="1938528"/>
            <a:ext cx="73152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X</a:t>
            </a:r>
            <a:endParaRPr lang="en-US" sz="2400" dirty="0"/>
          </a:p>
        </p:txBody>
      </p:sp>
      <p:sp>
        <p:nvSpPr>
          <p:cNvPr id="16" name="Text 13"/>
          <p:cNvSpPr/>
          <p:nvPr/>
        </p:nvSpPr>
        <p:spPr>
          <a:xfrm>
            <a:off x="932688" y="257860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O</a:t>
            </a:r>
            <a:endParaRPr lang="en-US" sz="2400" dirty="0"/>
          </a:p>
        </p:txBody>
      </p:sp>
      <p:sp>
        <p:nvSpPr>
          <p:cNvPr id="17" name="Text 14"/>
          <p:cNvSpPr/>
          <p:nvPr/>
        </p:nvSpPr>
        <p:spPr>
          <a:xfrm>
            <a:off x="1664208" y="2578608"/>
            <a:ext cx="73152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X</a:t>
            </a:r>
            <a:endParaRPr lang="en-US" sz="2400" dirty="0"/>
          </a:p>
        </p:txBody>
      </p:sp>
      <p:sp>
        <p:nvSpPr>
          <p:cNvPr id="18" name="Text 15"/>
          <p:cNvSpPr/>
          <p:nvPr/>
        </p:nvSpPr>
        <p:spPr>
          <a:xfrm>
            <a:off x="2395728" y="257860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19" name="Text 16"/>
          <p:cNvSpPr/>
          <p:nvPr/>
        </p:nvSpPr>
        <p:spPr>
          <a:xfrm>
            <a:off x="932688" y="3218688"/>
            <a:ext cx="73152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X</a:t>
            </a:r>
            <a:endParaRPr lang="en-US" sz="2400" dirty="0"/>
          </a:p>
        </p:txBody>
      </p:sp>
      <p:sp>
        <p:nvSpPr>
          <p:cNvPr id="20" name="Text 17"/>
          <p:cNvSpPr/>
          <p:nvPr/>
        </p:nvSpPr>
        <p:spPr>
          <a:xfrm>
            <a:off x="1664208" y="321868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21" name="Text 18"/>
          <p:cNvSpPr/>
          <p:nvPr/>
        </p:nvSpPr>
        <p:spPr>
          <a:xfrm>
            <a:off x="2395728" y="3218688"/>
            <a:ext cx="73152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400"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22" name="Text 19"/>
          <p:cNvSpPr txBox="1"/>
          <p:nvPr/>
        </p:nvSpPr>
        <p:spPr>
          <a:xfrm>
            <a:off x="3200400" y="1920240"/>
            <a:ext cx="2286000" cy="17373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8 lines to check</a:t>
            </a:r>
            <a:pPr indent="0" marL="0">
              <a:buNone/>
            </a:pP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3 rows · 3 columns · 2 diagonals</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main: r = c</a:t>
            </a:r>
            <a:endParaRPr lang="en-US" sz="1400" dirty="0"/>
          </a:p>
          <a:p>
            <a:pPr indent="0" marL="0">
              <a:buNone/>
            </a:pPr>
            <a:r>
              <a:rPr lang="en-US" sz="1400" b="1" dirty="0">
                <a:solidFill>
                  <a:srgbClr val="B7791F"/>
                </a:solidFill>
                <a:latin typeface="Calibri" pitchFamily="34" charset="0"/>
                <a:ea typeface="Calibri" pitchFamily="34" charset="-122"/>
                <a:cs typeface="Calibri" pitchFamily="34" charset="-120"/>
              </a:rPr>
              <a:t>anti: r + c = 2</a:t>
            </a:r>
            <a:endParaRPr lang="en-US" sz="1400" dirty="0"/>
          </a:p>
        </p:txBody>
      </p:sp>
      <p:sp>
        <p:nvSpPr>
          <p:cNvPr id="23" name="Shape 20"/>
          <p:cNvSpPr/>
          <p:nvPr/>
        </p:nvSpPr>
        <p:spPr>
          <a:xfrm>
            <a:off x="548640" y="3886200"/>
            <a:ext cx="4846320" cy="2212848"/>
          </a:xfrm>
          <a:prstGeom prst="roundRect">
            <a:avLst>
              <a:gd name="adj" fmla="val 4132"/>
            </a:avLst>
          </a:prstGeom>
          <a:solidFill>
            <a:srgbClr val="0F1729"/>
          </a:solidFill>
          <a:ln w="12700">
            <a:solidFill>
              <a:srgbClr val="0F1729"/>
            </a:solidFill>
            <a:prstDash val="solid"/>
          </a:ln>
        </p:spPr>
      </p:sp>
      <p:sp>
        <p:nvSpPr>
          <p:cNvPr id="24" name="Text 21"/>
          <p:cNvSpPr txBox="1"/>
          <p:nvPr/>
        </p:nvSpPr>
        <p:spPr>
          <a:xfrm>
            <a:off x="777240" y="3995928"/>
            <a:ext cx="43891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anti-diagonal (the amber cells)</a:t>
            </a:r>
            <a:endParaRPr lang="en-US" sz="1100" dirty="0"/>
          </a:p>
        </p:txBody>
      </p:sp>
      <p:sp>
        <p:nvSpPr>
          <p:cNvPr id="25" name="Text 22"/>
          <p:cNvSpPr txBox="1"/>
          <p:nvPr/>
        </p:nvSpPr>
        <p:spPr>
          <a:xfrm>
            <a:off x="777240" y="4297680"/>
            <a:ext cx="4389120" cy="1691640"/>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win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6" name="Shape 23"/>
          <p:cNvSpPr/>
          <p:nvPr/>
        </p:nvSpPr>
        <p:spPr>
          <a:xfrm>
            <a:off x="5623560" y="1600200"/>
            <a:ext cx="6035040" cy="4498848"/>
          </a:xfrm>
          <a:prstGeom prst="roundRect">
            <a:avLst>
              <a:gd name="adj" fmla="val 2033"/>
            </a:avLst>
          </a:prstGeom>
          <a:solidFill>
            <a:srgbClr val="0F1729"/>
          </a:solidFill>
          <a:ln w="12700">
            <a:solidFill>
              <a:srgbClr val="0F1729"/>
            </a:solidFill>
            <a:prstDash val="solid"/>
          </a:ln>
        </p:spPr>
      </p:sp>
      <p:sp>
        <p:nvSpPr>
          <p:cNvPr id="27" name="Text 24"/>
          <p:cNvSpPr txBox="1"/>
          <p:nvPr/>
        </p:nvSpPr>
        <p:spPr>
          <a:xfrm>
            <a:off x="5852160" y="170992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rows and columns: one loop, i = 0, 1, 2</a:t>
            </a:r>
            <a:endParaRPr lang="en-US" sz="1100" dirty="0"/>
          </a:p>
        </p:txBody>
      </p:sp>
      <p:sp>
        <p:nvSpPr>
          <p:cNvPr id="28" name="Text 25"/>
          <p:cNvSpPr txBox="1"/>
          <p:nvPr/>
        </p:nvSpPr>
        <p:spPr>
          <a:xfrm>
            <a:off x="5852160" y="2011680"/>
            <a:ext cx="5577840" cy="3977640"/>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win check: 3 rows, 3 columns, 2 diagonals</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(board[i,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board[i,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board[i,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win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board[</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player)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win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A GAME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Tic-Tac-Toe: the Game Loop in Action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00200"/>
            <a:ext cx="3246120" cy="4498848"/>
          </a:xfrm>
          <a:prstGeom prst="roundRect">
            <a:avLst>
              <a:gd name="adj" fmla="val 2817"/>
            </a:avLst>
          </a:prstGeom>
          <a:solidFill>
            <a:srgbClr val="0B0F19"/>
          </a:solidFill>
          <a:ln w="12700">
            <a:solidFill>
              <a:srgbClr val="2A3654"/>
            </a:solidFill>
            <a:prstDash val="solid"/>
          </a:ln>
        </p:spPr>
      </p:sp>
      <p:sp>
        <p:nvSpPr>
          <p:cNvPr id="8" name="Shape 5"/>
          <p:cNvSpPr/>
          <p:nvPr/>
        </p:nvSpPr>
        <p:spPr>
          <a:xfrm>
            <a:off x="731520" y="172821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2821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2821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673352"/>
            <a:ext cx="2148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moves 1–3</a:t>
            </a:r>
            <a:endParaRPr lang="en-US" sz="1000" dirty="0"/>
          </a:p>
        </p:txBody>
      </p:sp>
      <p:sp>
        <p:nvSpPr>
          <p:cNvPr id="12" name="Text 9"/>
          <p:cNvSpPr txBox="1"/>
          <p:nvPr/>
        </p:nvSpPr>
        <p:spPr>
          <a:xfrm>
            <a:off x="777240" y="1984248"/>
            <a:ext cx="2788920" cy="3995928"/>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X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X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 X</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X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 .</a:t>
            </a:r>
            <a:endParaRPr lang="en-US" sz="1200" dirty="0"/>
          </a:p>
        </p:txBody>
      </p:sp>
      <p:sp>
        <p:nvSpPr>
          <p:cNvPr id="13" name="Shape 10"/>
          <p:cNvSpPr/>
          <p:nvPr/>
        </p:nvSpPr>
        <p:spPr>
          <a:xfrm>
            <a:off x="3931920" y="1600200"/>
            <a:ext cx="3246120" cy="4498848"/>
          </a:xfrm>
          <a:prstGeom prst="roundRect">
            <a:avLst>
              <a:gd name="adj" fmla="val 2817"/>
            </a:avLst>
          </a:prstGeom>
          <a:solidFill>
            <a:srgbClr val="0B0F19"/>
          </a:solidFill>
          <a:ln w="12700">
            <a:solidFill>
              <a:srgbClr val="2A3654"/>
            </a:solidFill>
            <a:prstDash val="solid"/>
          </a:ln>
        </p:spPr>
      </p:sp>
      <p:sp>
        <p:nvSpPr>
          <p:cNvPr id="14" name="Shape 11"/>
          <p:cNvSpPr/>
          <p:nvPr/>
        </p:nvSpPr>
        <p:spPr>
          <a:xfrm>
            <a:off x="4114800" y="1728216"/>
            <a:ext cx="118872" cy="118872"/>
          </a:xfrm>
          <a:prstGeom prst="ellipse">
            <a:avLst/>
          </a:prstGeom>
          <a:solidFill>
            <a:srgbClr val="FF5F57"/>
          </a:solidFill>
          <a:ln w="12700">
            <a:solidFill>
              <a:srgbClr val="FF5F57"/>
            </a:solidFill>
            <a:prstDash val="solid"/>
          </a:ln>
        </p:spPr>
      </p:sp>
      <p:sp>
        <p:nvSpPr>
          <p:cNvPr id="15" name="Shape 12"/>
          <p:cNvSpPr/>
          <p:nvPr/>
        </p:nvSpPr>
        <p:spPr>
          <a:xfrm>
            <a:off x="4343400" y="1728216"/>
            <a:ext cx="118872" cy="118872"/>
          </a:xfrm>
          <a:prstGeom prst="ellipse">
            <a:avLst/>
          </a:prstGeom>
          <a:solidFill>
            <a:srgbClr val="FEBC2E"/>
          </a:solidFill>
          <a:ln w="12700">
            <a:solidFill>
              <a:srgbClr val="FEBC2E"/>
            </a:solidFill>
            <a:prstDash val="solid"/>
          </a:ln>
        </p:spPr>
      </p:sp>
      <p:sp>
        <p:nvSpPr>
          <p:cNvPr id="16" name="Shape 13"/>
          <p:cNvSpPr/>
          <p:nvPr/>
        </p:nvSpPr>
        <p:spPr>
          <a:xfrm>
            <a:off x="4572000" y="172821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4846320" y="1673352"/>
            <a:ext cx="2148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moves 4–5</a:t>
            </a:r>
            <a:endParaRPr lang="en-US" sz="1000" dirty="0"/>
          </a:p>
        </p:txBody>
      </p:sp>
      <p:sp>
        <p:nvSpPr>
          <p:cNvPr id="18" name="Text 15"/>
          <p:cNvSpPr txBox="1"/>
          <p:nvPr/>
        </p:nvSpPr>
        <p:spPr>
          <a:xfrm>
            <a:off x="4160520" y="1984248"/>
            <a:ext cx="2788920" cy="3995928"/>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Invalid move, try again.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 X</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X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row: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col: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 X</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 X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X .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 wins after 5 moves!</a:t>
            </a:r>
            <a:endParaRPr lang="en-US" sz="1200" dirty="0"/>
          </a:p>
        </p:txBody>
      </p:sp>
      <p:sp>
        <p:nvSpPr>
          <p:cNvPr id="19" name="Shape 16"/>
          <p:cNvSpPr/>
          <p:nvPr/>
        </p:nvSpPr>
        <p:spPr>
          <a:xfrm>
            <a:off x="7315200" y="1600200"/>
            <a:ext cx="4343400" cy="4498848"/>
          </a:xfrm>
          <a:prstGeom prst="roundRect">
            <a:avLst>
              <a:gd name="adj" fmla="val 1684"/>
            </a:avLst>
          </a:prstGeom>
          <a:solidFill>
            <a:srgbClr val="F4F6FA"/>
          </a:solidFill>
          <a:ln w="9525">
            <a:solidFill>
              <a:srgbClr val="C9D0DD"/>
            </a:solidFill>
            <a:prstDash val="solid"/>
          </a:ln>
        </p:spPr>
      </p:sp>
      <p:sp>
        <p:nvSpPr>
          <p:cNvPr id="20" name="Text 17"/>
          <p:cNvSpPr txBox="1"/>
          <p:nvPr/>
        </p:nvSpPr>
        <p:spPr>
          <a:xfrm>
            <a:off x="7498080" y="1691640"/>
            <a:ext cx="39776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The game loop (pseudocode)</a:t>
            </a:r>
            <a:endParaRPr lang="en-US" sz="1200" dirty="0"/>
          </a:p>
        </p:txBody>
      </p:sp>
      <p:sp>
        <p:nvSpPr>
          <p:cNvPr id="21" name="Text 18"/>
          <p:cNvSpPr txBox="1"/>
          <p:nvPr/>
        </p:nvSpPr>
        <p:spPr>
          <a:xfrm>
            <a:off x="7498080" y="2011680"/>
            <a:ext cx="3977640" cy="3995928"/>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NOT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win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moves &lt; 9</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row, col</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cell taken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outside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"Invalid move"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board[row, col] ← player</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moves ← moves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board</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check the 8 lines → win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NOT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win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switch X ↔ O</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WHILE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11_11_IMAGEINVERT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 Image Is a Matrix of Brightness Values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Text 4"/>
          <p:cNvSpPr txBox="1"/>
          <p:nvPr/>
        </p:nvSpPr>
        <p:spPr>
          <a:xfrm>
            <a:off x="9326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3898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18470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23042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1" name="Text 8"/>
          <p:cNvSpPr txBox="1"/>
          <p:nvPr/>
        </p:nvSpPr>
        <p:spPr>
          <a:xfrm>
            <a:off x="27614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4</a:t>
            </a:r>
            <a:endParaRPr lang="en-US" sz="1200" dirty="0"/>
          </a:p>
        </p:txBody>
      </p:sp>
      <p:sp>
        <p:nvSpPr>
          <p:cNvPr id="12" name="Text 9"/>
          <p:cNvSpPr txBox="1"/>
          <p:nvPr/>
        </p:nvSpPr>
        <p:spPr>
          <a:xfrm>
            <a:off x="32186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5</a:t>
            </a:r>
            <a:endParaRPr lang="en-US" sz="1200" dirty="0"/>
          </a:p>
        </p:txBody>
      </p:sp>
      <p:sp>
        <p:nvSpPr>
          <p:cNvPr id="13" name="Text 10"/>
          <p:cNvSpPr txBox="1"/>
          <p:nvPr/>
        </p:nvSpPr>
        <p:spPr>
          <a:xfrm>
            <a:off x="36758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6</a:t>
            </a:r>
            <a:endParaRPr lang="en-US" sz="1200" dirty="0"/>
          </a:p>
        </p:txBody>
      </p:sp>
      <p:sp>
        <p:nvSpPr>
          <p:cNvPr id="14" name="Text 11"/>
          <p:cNvSpPr txBox="1"/>
          <p:nvPr/>
        </p:nvSpPr>
        <p:spPr>
          <a:xfrm>
            <a:off x="41330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7</a:t>
            </a:r>
            <a:endParaRPr lang="en-US" sz="1200" dirty="0"/>
          </a:p>
        </p:txBody>
      </p:sp>
      <p:sp>
        <p:nvSpPr>
          <p:cNvPr id="15" name="Text 12"/>
          <p:cNvSpPr txBox="1"/>
          <p:nvPr/>
        </p:nvSpPr>
        <p:spPr>
          <a:xfrm>
            <a:off x="4590288" y="1600200"/>
            <a:ext cx="45720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8</a:t>
            </a:r>
            <a:endParaRPr lang="en-US" sz="1200" dirty="0"/>
          </a:p>
        </p:txBody>
      </p:sp>
      <p:sp>
        <p:nvSpPr>
          <p:cNvPr id="16" name="Text 13"/>
          <p:cNvSpPr txBox="1"/>
          <p:nvPr/>
        </p:nvSpPr>
        <p:spPr>
          <a:xfrm>
            <a:off x="548640" y="1892808"/>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7" name="Text 14"/>
          <p:cNvSpPr txBox="1"/>
          <p:nvPr/>
        </p:nvSpPr>
        <p:spPr>
          <a:xfrm>
            <a:off x="548640" y="2276856"/>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8" name="Text 15"/>
          <p:cNvSpPr txBox="1"/>
          <p:nvPr/>
        </p:nvSpPr>
        <p:spPr>
          <a:xfrm>
            <a:off x="548640" y="2660904"/>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9" name="Text 16"/>
          <p:cNvSpPr txBox="1"/>
          <p:nvPr/>
        </p:nvSpPr>
        <p:spPr>
          <a:xfrm>
            <a:off x="548640" y="3044952"/>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20" name="Text 17"/>
          <p:cNvSpPr txBox="1"/>
          <p:nvPr/>
        </p:nvSpPr>
        <p:spPr>
          <a:xfrm>
            <a:off x="548640" y="3429000"/>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4</a:t>
            </a:r>
            <a:endParaRPr lang="en-US" sz="1200" dirty="0"/>
          </a:p>
        </p:txBody>
      </p:sp>
      <p:sp>
        <p:nvSpPr>
          <p:cNvPr id="21" name="Text 18"/>
          <p:cNvSpPr txBox="1"/>
          <p:nvPr/>
        </p:nvSpPr>
        <p:spPr>
          <a:xfrm>
            <a:off x="548640" y="3813048"/>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5</a:t>
            </a:r>
            <a:endParaRPr lang="en-US" sz="1200" dirty="0"/>
          </a:p>
        </p:txBody>
      </p:sp>
      <p:sp>
        <p:nvSpPr>
          <p:cNvPr id="22" name="Text 19"/>
          <p:cNvSpPr txBox="1"/>
          <p:nvPr/>
        </p:nvSpPr>
        <p:spPr>
          <a:xfrm>
            <a:off x="548640" y="4197096"/>
            <a:ext cx="310896" cy="384048"/>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6</a:t>
            </a:r>
            <a:endParaRPr lang="en-US" sz="1200" dirty="0"/>
          </a:p>
        </p:txBody>
      </p:sp>
      <p:sp>
        <p:nvSpPr>
          <p:cNvPr id="23" name="Text 20"/>
          <p:cNvSpPr/>
          <p:nvPr/>
        </p:nvSpPr>
        <p:spPr>
          <a:xfrm>
            <a:off x="932688" y="189280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24" name="Text 21"/>
          <p:cNvSpPr/>
          <p:nvPr/>
        </p:nvSpPr>
        <p:spPr>
          <a:xfrm>
            <a:off x="1389888" y="1892808"/>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25" name="Text 22"/>
          <p:cNvSpPr/>
          <p:nvPr/>
        </p:nvSpPr>
        <p:spPr>
          <a:xfrm>
            <a:off x="1847088" y="1892808"/>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26" name="Text 23"/>
          <p:cNvSpPr/>
          <p:nvPr/>
        </p:nvSpPr>
        <p:spPr>
          <a:xfrm>
            <a:off x="2304288" y="1892808"/>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27" name="Text 24"/>
          <p:cNvSpPr/>
          <p:nvPr/>
        </p:nvSpPr>
        <p:spPr>
          <a:xfrm>
            <a:off x="2761488" y="189280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28" name="Text 25"/>
          <p:cNvSpPr/>
          <p:nvPr/>
        </p:nvSpPr>
        <p:spPr>
          <a:xfrm>
            <a:off x="3218688" y="1892808"/>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29" name="Text 26"/>
          <p:cNvSpPr/>
          <p:nvPr/>
        </p:nvSpPr>
        <p:spPr>
          <a:xfrm>
            <a:off x="3675888" y="1892808"/>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0" name="Text 27"/>
          <p:cNvSpPr/>
          <p:nvPr/>
        </p:nvSpPr>
        <p:spPr>
          <a:xfrm>
            <a:off x="4133088" y="1892808"/>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31" name="Text 28"/>
          <p:cNvSpPr/>
          <p:nvPr/>
        </p:nvSpPr>
        <p:spPr>
          <a:xfrm>
            <a:off x="4590288" y="189280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32" name="Text 29"/>
          <p:cNvSpPr/>
          <p:nvPr/>
        </p:nvSpPr>
        <p:spPr>
          <a:xfrm>
            <a:off x="932688" y="2276856"/>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33" name="Text 30"/>
          <p:cNvSpPr/>
          <p:nvPr/>
        </p:nvSpPr>
        <p:spPr>
          <a:xfrm>
            <a:off x="13898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4" name="Text 31"/>
          <p:cNvSpPr/>
          <p:nvPr/>
        </p:nvSpPr>
        <p:spPr>
          <a:xfrm>
            <a:off x="18470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5" name="Text 32"/>
          <p:cNvSpPr/>
          <p:nvPr/>
        </p:nvSpPr>
        <p:spPr>
          <a:xfrm>
            <a:off x="23042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6" name="Text 33"/>
          <p:cNvSpPr/>
          <p:nvPr/>
        </p:nvSpPr>
        <p:spPr>
          <a:xfrm>
            <a:off x="2761488" y="2276856"/>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37" name="Text 34"/>
          <p:cNvSpPr/>
          <p:nvPr/>
        </p:nvSpPr>
        <p:spPr>
          <a:xfrm>
            <a:off x="32186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8" name="Text 35"/>
          <p:cNvSpPr/>
          <p:nvPr/>
        </p:nvSpPr>
        <p:spPr>
          <a:xfrm>
            <a:off x="36758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39" name="Text 36"/>
          <p:cNvSpPr/>
          <p:nvPr/>
        </p:nvSpPr>
        <p:spPr>
          <a:xfrm>
            <a:off x="4133088" y="227685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0" name="Text 37"/>
          <p:cNvSpPr/>
          <p:nvPr/>
        </p:nvSpPr>
        <p:spPr>
          <a:xfrm>
            <a:off x="4590288" y="2276856"/>
            <a:ext cx="457200" cy="384048"/>
          </a:xfrm>
          <a:prstGeom prst="rect">
            <a:avLst/>
          </a:prstGeom>
          <a:solidFill>
            <a:srgbClr val="AAAAAA"/>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41" name="Text 38"/>
          <p:cNvSpPr/>
          <p:nvPr/>
        </p:nvSpPr>
        <p:spPr>
          <a:xfrm>
            <a:off x="9326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2" name="Text 39"/>
          <p:cNvSpPr/>
          <p:nvPr/>
        </p:nvSpPr>
        <p:spPr>
          <a:xfrm>
            <a:off x="13898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3" name="Text 40"/>
          <p:cNvSpPr/>
          <p:nvPr/>
        </p:nvSpPr>
        <p:spPr>
          <a:xfrm>
            <a:off x="18470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4" name="Text 41"/>
          <p:cNvSpPr/>
          <p:nvPr/>
        </p:nvSpPr>
        <p:spPr>
          <a:xfrm>
            <a:off x="23042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5" name="Text 42"/>
          <p:cNvSpPr/>
          <p:nvPr/>
        </p:nvSpPr>
        <p:spPr>
          <a:xfrm>
            <a:off x="27614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6" name="Text 43"/>
          <p:cNvSpPr/>
          <p:nvPr/>
        </p:nvSpPr>
        <p:spPr>
          <a:xfrm>
            <a:off x="32186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7" name="Text 44"/>
          <p:cNvSpPr/>
          <p:nvPr/>
        </p:nvSpPr>
        <p:spPr>
          <a:xfrm>
            <a:off x="36758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8" name="Text 45"/>
          <p:cNvSpPr/>
          <p:nvPr/>
        </p:nvSpPr>
        <p:spPr>
          <a:xfrm>
            <a:off x="41330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49" name="Text 46"/>
          <p:cNvSpPr/>
          <p:nvPr/>
        </p:nvSpPr>
        <p:spPr>
          <a:xfrm>
            <a:off x="4590288" y="2660904"/>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0" name="Text 47"/>
          <p:cNvSpPr/>
          <p:nvPr/>
        </p:nvSpPr>
        <p:spPr>
          <a:xfrm>
            <a:off x="932688" y="3044952"/>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51" name="Text 48"/>
          <p:cNvSpPr/>
          <p:nvPr/>
        </p:nvSpPr>
        <p:spPr>
          <a:xfrm>
            <a:off x="13898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2" name="Text 49"/>
          <p:cNvSpPr/>
          <p:nvPr/>
        </p:nvSpPr>
        <p:spPr>
          <a:xfrm>
            <a:off x="18470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3" name="Text 50"/>
          <p:cNvSpPr/>
          <p:nvPr/>
        </p:nvSpPr>
        <p:spPr>
          <a:xfrm>
            <a:off x="23042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4" name="Text 51"/>
          <p:cNvSpPr/>
          <p:nvPr/>
        </p:nvSpPr>
        <p:spPr>
          <a:xfrm>
            <a:off x="27614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5" name="Text 52"/>
          <p:cNvSpPr/>
          <p:nvPr/>
        </p:nvSpPr>
        <p:spPr>
          <a:xfrm>
            <a:off x="32186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6" name="Text 53"/>
          <p:cNvSpPr/>
          <p:nvPr/>
        </p:nvSpPr>
        <p:spPr>
          <a:xfrm>
            <a:off x="36758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7" name="Text 54"/>
          <p:cNvSpPr/>
          <p:nvPr/>
        </p:nvSpPr>
        <p:spPr>
          <a:xfrm>
            <a:off x="4133088" y="3044952"/>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58" name="Text 55"/>
          <p:cNvSpPr/>
          <p:nvPr/>
        </p:nvSpPr>
        <p:spPr>
          <a:xfrm>
            <a:off x="4590288" y="3044952"/>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59" name="Text 56"/>
          <p:cNvSpPr/>
          <p:nvPr/>
        </p:nvSpPr>
        <p:spPr>
          <a:xfrm>
            <a:off x="932688" y="3429000"/>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60" name="Text 57"/>
          <p:cNvSpPr/>
          <p:nvPr/>
        </p:nvSpPr>
        <p:spPr>
          <a:xfrm>
            <a:off x="1389888" y="3429000"/>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61" name="Text 58"/>
          <p:cNvSpPr/>
          <p:nvPr/>
        </p:nvSpPr>
        <p:spPr>
          <a:xfrm>
            <a:off x="1847088" y="3429000"/>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62" name="Text 59"/>
          <p:cNvSpPr/>
          <p:nvPr/>
        </p:nvSpPr>
        <p:spPr>
          <a:xfrm>
            <a:off x="2304288" y="3429000"/>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63" name="Text 60"/>
          <p:cNvSpPr/>
          <p:nvPr/>
        </p:nvSpPr>
        <p:spPr>
          <a:xfrm>
            <a:off x="2761488" y="3429000"/>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64" name="Text 61"/>
          <p:cNvSpPr/>
          <p:nvPr/>
        </p:nvSpPr>
        <p:spPr>
          <a:xfrm>
            <a:off x="3218688" y="3429000"/>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65" name="Text 62"/>
          <p:cNvSpPr/>
          <p:nvPr/>
        </p:nvSpPr>
        <p:spPr>
          <a:xfrm>
            <a:off x="3675888" y="3429000"/>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66" name="Text 63"/>
          <p:cNvSpPr/>
          <p:nvPr/>
        </p:nvSpPr>
        <p:spPr>
          <a:xfrm>
            <a:off x="4133088" y="3429000"/>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67" name="Text 64"/>
          <p:cNvSpPr/>
          <p:nvPr/>
        </p:nvSpPr>
        <p:spPr>
          <a:xfrm>
            <a:off x="4590288" y="3429000"/>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68" name="Text 65"/>
          <p:cNvSpPr/>
          <p:nvPr/>
        </p:nvSpPr>
        <p:spPr>
          <a:xfrm>
            <a:off x="932688" y="381304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69" name="Text 66"/>
          <p:cNvSpPr/>
          <p:nvPr/>
        </p:nvSpPr>
        <p:spPr>
          <a:xfrm>
            <a:off x="1389888" y="381304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70" name="Text 67"/>
          <p:cNvSpPr/>
          <p:nvPr/>
        </p:nvSpPr>
        <p:spPr>
          <a:xfrm>
            <a:off x="1847088" y="3813048"/>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71" name="Text 68"/>
          <p:cNvSpPr/>
          <p:nvPr/>
        </p:nvSpPr>
        <p:spPr>
          <a:xfrm>
            <a:off x="2304288" y="3813048"/>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72" name="Text 69"/>
          <p:cNvSpPr/>
          <p:nvPr/>
        </p:nvSpPr>
        <p:spPr>
          <a:xfrm>
            <a:off x="2761488" y="3813048"/>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73" name="Text 70"/>
          <p:cNvSpPr/>
          <p:nvPr/>
        </p:nvSpPr>
        <p:spPr>
          <a:xfrm>
            <a:off x="3218688" y="3813048"/>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74" name="Text 71"/>
          <p:cNvSpPr/>
          <p:nvPr/>
        </p:nvSpPr>
        <p:spPr>
          <a:xfrm>
            <a:off x="3675888" y="3813048"/>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75" name="Text 72"/>
          <p:cNvSpPr/>
          <p:nvPr/>
        </p:nvSpPr>
        <p:spPr>
          <a:xfrm>
            <a:off x="4133088" y="381304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76" name="Text 73"/>
          <p:cNvSpPr/>
          <p:nvPr/>
        </p:nvSpPr>
        <p:spPr>
          <a:xfrm>
            <a:off x="4590288" y="3813048"/>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77" name="Text 74"/>
          <p:cNvSpPr/>
          <p:nvPr/>
        </p:nvSpPr>
        <p:spPr>
          <a:xfrm>
            <a:off x="9326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78" name="Text 75"/>
          <p:cNvSpPr/>
          <p:nvPr/>
        </p:nvSpPr>
        <p:spPr>
          <a:xfrm>
            <a:off x="13898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79" name="Text 76"/>
          <p:cNvSpPr/>
          <p:nvPr/>
        </p:nvSpPr>
        <p:spPr>
          <a:xfrm>
            <a:off x="18470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80" name="Text 77"/>
          <p:cNvSpPr/>
          <p:nvPr/>
        </p:nvSpPr>
        <p:spPr>
          <a:xfrm>
            <a:off x="2304288" y="4197096"/>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81" name="Text 78"/>
          <p:cNvSpPr/>
          <p:nvPr/>
        </p:nvSpPr>
        <p:spPr>
          <a:xfrm>
            <a:off x="2761488" y="4197096"/>
            <a:ext cx="457200" cy="384048"/>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9</a:t>
            </a:r>
            <a:endParaRPr lang="en-US" sz="1300" dirty="0"/>
          </a:p>
        </p:txBody>
      </p:sp>
      <p:sp>
        <p:nvSpPr>
          <p:cNvPr id="82" name="Text 79"/>
          <p:cNvSpPr/>
          <p:nvPr/>
        </p:nvSpPr>
        <p:spPr>
          <a:xfrm>
            <a:off x="3218688" y="4197096"/>
            <a:ext cx="457200" cy="384048"/>
          </a:xfrm>
          <a:prstGeom prst="rect">
            <a:avLst/>
          </a:prstGeom>
          <a:solidFill>
            <a:srgbClr val="555555"/>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83" name="Text 80"/>
          <p:cNvSpPr/>
          <p:nvPr/>
        </p:nvSpPr>
        <p:spPr>
          <a:xfrm>
            <a:off x="36758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84" name="Text 81"/>
          <p:cNvSpPr/>
          <p:nvPr/>
        </p:nvSpPr>
        <p:spPr>
          <a:xfrm>
            <a:off x="41330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85" name="Text 82"/>
          <p:cNvSpPr/>
          <p:nvPr/>
        </p:nvSpPr>
        <p:spPr>
          <a:xfrm>
            <a:off x="4590288" y="4197096"/>
            <a:ext cx="457200" cy="384048"/>
          </a:xfrm>
          <a:prstGeom prst="rect">
            <a:avLst/>
          </a:prstGeom>
          <a:solidFill>
            <a:srgbClr val="000000"/>
          </a:solidFill>
          <a:ln w="9525">
            <a:solidFill>
              <a:srgbClr val="14213D"/>
            </a:solid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a:t>
            </a:r>
            <a:endParaRPr lang="en-US" sz="1300" dirty="0"/>
          </a:p>
        </p:txBody>
      </p:sp>
      <p:sp>
        <p:nvSpPr>
          <p:cNvPr id="86" name="Text 83"/>
          <p:cNvSpPr txBox="1"/>
          <p:nvPr/>
        </p:nvSpPr>
        <p:spPr>
          <a:xfrm>
            <a:off x="548640" y="4617720"/>
            <a:ext cx="484632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0 = black … 9 = white</a:t>
            </a:r>
            <a:pPr indent="0" marL="0">
              <a:buNone/>
            </a:pPr>
            <a:r>
              <a:rPr lang="en-US" sz="1400" dirty="0">
                <a:solidFill>
                  <a:srgbClr val="333B4F"/>
                </a:solidFill>
                <a:latin typeface="Calibri" pitchFamily="34" charset="0"/>
                <a:ea typeface="Calibri" pitchFamily="34" charset="-122"/>
                <a:cs typeface="Calibri" pitchFamily="34" charset="-120"/>
              </a:rPr>
              <a:t>   (real photos: 0 … 255)</a:t>
            </a:r>
            <a:endParaRPr lang="en-US" sz="1400" dirty="0"/>
          </a:p>
        </p:txBody>
      </p:sp>
      <p:sp>
        <p:nvSpPr>
          <p:cNvPr id="87" name="Shape 84"/>
          <p:cNvSpPr/>
          <p:nvPr/>
        </p:nvSpPr>
        <p:spPr>
          <a:xfrm>
            <a:off x="548640" y="4983480"/>
            <a:ext cx="4846320" cy="1115568"/>
          </a:xfrm>
          <a:prstGeom prst="roundRect">
            <a:avLst>
              <a:gd name="adj" fmla="val 8197"/>
            </a:avLst>
          </a:prstGeom>
          <a:solidFill>
            <a:srgbClr val="0F1729"/>
          </a:solidFill>
          <a:ln w="12700">
            <a:solidFill>
              <a:srgbClr val="0F1729"/>
            </a:solidFill>
            <a:prstDash val="solid"/>
          </a:ln>
        </p:spPr>
      </p:sp>
      <p:sp>
        <p:nvSpPr>
          <p:cNvPr id="88" name="Text 85"/>
          <p:cNvSpPr txBox="1"/>
          <p:nvPr/>
        </p:nvSpPr>
        <p:spPr>
          <a:xfrm>
            <a:off x="777240" y="5093208"/>
            <a:ext cx="43891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invert: inside the usual nested loops</a:t>
            </a:r>
            <a:endParaRPr lang="en-US" sz="1100" dirty="0"/>
          </a:p>
        </p:txBody>
      </p:sp>
      <p:sp>
        <p:nvSpPr>
          <p:cNvPr id="89" name="Text 86"/>
          <p:cNvSpPr txBox="1"/>
          <p:nvPr/>
        </p:nvSpPr>
        <p:spPr>
          <a:xfrm>
            <a:off x="777240" y="5394960"/>
            <a:ext cx="4389120" cy="59436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image[r, c]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image[r, c];</a:t>
            </a:r>
            <a:endParaRPr lang="en-US" sz="1400" dirty="0"/>
          </a:p>
        </p:txBody>
      </p:sp>
      <p:sp>
        <p:nvSpPr>
          <p:cNvPr id="90" name="Shape 87"/>
          <p:cNvSpPr/>
          <p:nvPr/>
        </p:nvSpPr>
        <p:spPr>
          <a:xfrm>
            <a:off x="5623560" y="1600200"/>
            <a:ext cx="2926080" cy="4498848"/>
          </a:xfrm>
          <a:prstGeom prst="roundRect">
            <a:avLst>
              <a:gd name="adj" fmla="val 3125"/>
            </a:avLst>
          </a:prstGeom>
          <a:solidFill>
            <a:srgbClr val="0B0F19"/>
          </a:solidFill>
          <a:ln w="12700">
            <a:solidFill>
              <a:srgbClr val="2A3654"/>
            </a:solidFill>
            <a:prstDash val="solid"/>
          </a:ln>
        </p:spPr>
      </p:sp>
      <p:sp>
        <p:nvSpPr>
          <p:cNvPr id="91" name="Shape 88"/>
          <p:cNvSpPr/>
          <p:nvPr/>
        </p:nvSpPr>
        <p:spPr>
          <a:xfrm>
            <a:off x="5806440" y="1728216"/>
            <a:ext cx="118872" cy="118872"/>
          </a:xfrm>
          <a:prstGeom prst="ellipse">
            <a:avLst/>
          </a:prstGeom>
          <a:solidFill>
            <a:srgbClr val="FF5F57"/>
          </a:solidFill>
          <a:ln w="12700">
            <a:solidFill>
              <a:srgbClr val="FF5F57"/>
            </a:solidFill>
            <a:prstDash val="solid"/>
          </a:ln>
        </p:spPr>
      </p:sp>
      <p:sp>
        <p:nvSpPr>
          <p:cNvPr id="92" name="Shape 89"/>
          <p:cNvSpPr/>
          <p:nvPr/>
        </p:nvSpPr>
        <p:spPr>
          <a:xfrm>
            <a:off x="6035040" y="1728216"/>
            <a:ext cx="118872" cy="118872"/>
          </a:xfrm>
          <a:prstGeom prst="ellipse">
            <a:avLst/>
          </a:prstGeom>
          <a:solidFill>
            <a:srgbClr val="FEBC2E"/>
          </a:solidFill>
          <a:ln w="12700">
            <a:solidFill>
              <a:srgbClr val="FEBC2E"/>
            </a:solidFill>
            <a:prstDash val="solid"/>
          </a:ln>
        </p:spPr>
      </p:sp>
      <p:sp>
        <p:nvSpPr>
          <p:cNvPr id="93" name="Shape 90"/>
          <p:cNvSpPr/>
          <p:nvPr/>
        </p:nvSpPr>
        <p:spPr>
          <a:xfrm>
            <a:off x="6263640" y="1728216"/>
            <a:ext cx="118872" cy="118872"/>
          </a:xfrm>
          <a:prstGeom prst="ellipse">
            <a:avLst/>
          </a:prstGeom>
          <a:solidFill>
            <a:srgbClr val="28C840"/>
          </a:solidFill>
          <a:ln w="12700">
            <a:solidFill>
              <a:srgbClr val="28C840"/>
            </a:solidFill>
            <a:prstDash val="solid"/>
          </a:ln>
        </p:spPr>
      </p:sp>
      <p:sp>
        <p:nvSpPr>
          <p:cNvPr id="94" name="Text 91"/>
          <p:cNvSpPr txBox="1"/>
          <p:nvPr/>
        </p:nvSpPr>
        <p:spPr>
          <a:xfrm>
            <a:off x="6537960" y="1673352"/>
            <a:ext cx="1828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part 1</a:t>
            </a:r>
            <a:endParaRPr lang="en-US" sz="1000" dirty="0"/>
          </a:p>
        </p:txBody>
      </p:sp>
      <p:sp>
        <p:nvSpPr>
          <p:cNvPr id="95" name="Text 92"/>
          <p:cNvSpPr txBox="1"/>
          <p:nvPr/>
        </p:nvSpPr>
        <p:spPr>
          <a:xfrm>
            <a:off x="5852160" y="1984248"/>
            <a:ext cx="2468880" cy="39959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Original: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  **@@**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brightness: 5.76</a:t>
            </a:r>
            <a:endParaRPr lang="en-US" sz="1300" dirty="0"/>
          </a:p>
        </p:txBody>
      </p:sp>
      <p:sp>
        <p:nvSpPr>
          <p:cNvPr id="96" name="Shape 93"/>
          <p:cNvSpPr/>
          <p:nvPr/>
        </p:nvSpPr>
        <p:spPr>
          <a:xfrm>
            <a:off x="8732520" y="1600200"/>
            <a:ext cx="2926080" cy="4498848"/>
          </a:xfrm>
          <a:prstGeom prst="roundRect">
            <a:avLst>
              <a:gd name="adj" fmla="val 3125"/>
            </a:avLst>
          </a:prstGeom>
          <a:solidFill>
            <a:srgbClr val="0B0F19"/>
          </a:solidFill>
          <a:ln w="12700">
            <a:solidFill>
              <a:srgbClr val="2A3654"/>
            </a:solidFill>
            <a:prstDash val="solid"/>
          </a:ln>
        </p:spPr>
      </p:sp>
      <p:sp>
        <p:nvSpPr>
          <p:cNvPr id="97" name="Shape 94"/>
          <p:cNvSpPr/>
          <p:nvPr/>
        </p:nvSpPr>
        <p:spPr>
          <a:xfrm>
            <a:off x="8915400" y="1728216"/>
            <a:ext cx="118872" cy="118872"/>
          </a:xfrm>
          <a:prstGeom prst="ellipse">
            <a:avLst/>
          </a:prstGeom>
          <a:solidFill>
            <a:srgbClr val="FF5F57"/>
          </a:solidFill>
          <a:ln w="12700">
            <a:solidFill>
              <a:srgbClr val="FF5F57"/>
            </a:solidFill>
            <a:prstDash val="solid"/>
          </a:ln>
        </p:spPr>
      </p:sp>
      <p:sp>
        <p:nvSpPr>
          <p:cNvPr id="98" name="Shape 95"/>
          <p:cNvSpPr/>
          <p:nvPr/>
        </p:nvSpPr>
        <p:spPr>
          <a:xfrm>
            <a:off x="9144000" y="1728216"/>
            <a:ext cx="118872" cy="118872"/>
          </a:xfrm>
          <a:prstGeom prst="ellipse">
            <a:avLst/>
          </a:prstGeom>
          <a:solidFill>
            <a:srgbClr val="FEBC2E"/>
          </a:solidFill>
          <a:ln w="12700">
            <a:solidFill>
              <a:srgbClr val="FEBC2E"/>
            </a:solidFill>
            <a:prstDash val="solid"/>
          </a:ln>
        </p:spPr>
      </p:sp>
      <p:sp>
        <p:nvSpPr>
          <p:cNvPr id="99" name="Shape 96"/>
          <p:cNvSpPr/>
          <p:nvPr/>
        </p:nvSpPr>
        <p:spPr>
          <a:xfrm>
            <a:off x="9372600" y="1728216"/>
            <a:ext cx="118872" cy="118872"/>
          </a:xfrm>
          <a:prstGeom prst="ellipse">
            <a:avLst/>
          </a:prstGeom>
          <a:solidFill>
            <a:srgbClr val="28C840"/>
          </a:solidFill>
          <a:ln w="12700">
            <a:solidFill>
              <a:srgbClr val="28C840"/>
            </a:solidFill>
            <a:prstDash val="solid"/>
          </a:ln>
        </p:spPr>
      </p:sp>
      <p:sp>
        <p:nvSpPr>
          <p:cNvPr id="100" name="Text 97"/>
          <p:cNvSpPr txBox="1"/>
          <p:nvPr/>
        </p:nvSpPr>
        <p:spPr>
          <a:xfrm>
            <a:off x="9646920" y="1673352"/>
            <a:ext cx="1828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part 2</a:t>
            </a:r>
            <a:endParaRPr lang="en-US" sz="1000" dirty="0"/>
          </a:p>
        </p:txBody>
      </p:sp>
      <p:sp>
        <p:nvSpPr>
          <p:cNvPr id="101" name="Text 98"/>
          <p:cNvSpPr txBox="1"/>
          <p:nvPr/>
        </p:nvSpPr>
        <p:spPr>
          <a:xfrm>
            <a:off x="8961120" y="1984248"/>
            <a:ext cx="2468880" cy="3995928"/>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Inverted:</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11_12_PASCALJAGGED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Jagged Arrays int[][]: Rows of Different Lengths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Text 4"/>
          <p:cNvSpPr txBox="1"/>
          <p:nvPr/>
        </p:nvSpPr>
        <p:spPr>
          <a:xfrm>
            <a:off x="93268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34416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175564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216712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3</a:t>
            </a:r>
            <a:endParaRPr lang="en-US" sz="1200" dirty="0"/>
          </a:p>
        </p:txBody>
      </p:sp>
      <p:sp>
        <p:nvSpPr>
          <p:cNvPr id="11" name="Text 8"/>
          <p:cNvSpPr txBox="1"/>
          <p:nvPr/>
        </p:nvSpPr>
        <p:spPr>
          <a:xfrm>
            <a:off x="257860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4</a:t>
            </a:r>
            <a:endParaRPr lang="en-US" sz="1200" dirty="0"/>
          </a:p>
        </p:txBody>
      </p:sp>
      <p:sp>
        <p:nvSpPr>
          <p:cNvPr id="12" name="Text 9"/>
          <p:cNvSpPr txBox="1"/>
          <p:nvPr/>
        </p:nvSpPr>
        <p:spPr>
          <a:xfrm>
            <a:off x="2990088" y="1600200"/>
            <a:ext cx="41148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5</a:t>
            </a:r>
            <a:endParaRPr lang="en-US" sz="1200" dirty="0"/>
          </a:p>
        </p:txBody>
      </p:sp>
      <p:sp>
        <p:nvSpPr>
          <p:cNvPr id="13" name="Text 10"/>
          <p:cNvSpPr txBox="1"/>
          <p:nvPr/>
        </p:nvSpPr>
        <p:spPr>
          <a:xfrm>
            <a:off x="548640" y="1892808"/>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4" name="Text 11"/>
          <p:cNvSpPr txBox="1"/>
          <p:nvPr/>
        </p:nvSpPr>
        <p:spPr>
          <a:xfrm>
            <a:off x="548640" y="2221992"/>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5" name="Text 12"/>
          <p:cNvSpPr txBox="1"/>
          <p:nvPr/>
        </p:nvSpPr>
        <p:spPr>
          <a:xfrm>
            <a:off x="548640" y="2551176"/>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6" name="Text 13"/>
          <p:cNvSpPr txBox="1"/>
          <p:nvPr/>
        </p:nvSpPr>
        <p:spPr>
          <a:xfrm>
            <a:off x="548640" y="2880360"/>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3</a:t>
            </a:r>
            <a:endParaRPr lang="en-US" sz="1200" dirty="0"/>
          </a:p>
        </p:txBody>
      </p:sp>
      <p:sp>
        <p:nvSpPr>
          <p:cNvPr id="17" name="Text 14"/>
          <p:cNvSpPr txBox="1"/>
          <p:nvPr/>
        </p:nvSpPr>
        <p:spPr>
          <a:xfrm>
            <a:off x="548640" y="3209544"/>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4</a:t>
            </a:r>
            <a:endParaRPr lang="en-US" sz="1200" dirty="0"/>
          </a:p>
        </p:txBody>
      </p:sp>
      <p:sp>
        <p:nvSpPr>
          <p:cNvPr id="18" name="Text 15"/>
          <p:cNvSpPr txBox="1"/>
          <p:nvPr/>
        </p:nvSpPr>
        <p:spPr>
          <a:xfrm>
            <a:off x="548640" y="3538728"/>
            <a:ext cx="310896" cy="329184"/>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5</a:t>
            </a:r>
            <a:endParaRPr lang="en-US" sz="1200" dirty="0"/>
          </a:p>
        </p:txBody>
      </p:sp>
      <p:sp>
        <p:nvSpPr>
          <p:cNvPr id="19" name="Text 16"/>
          <p:cNvSpPr/>
          <p:nvPr/>
        </p:nvSpPr>
        <p:spPr>
          <a:xfrm>
            <a:off x="932688" y="189280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0" name="Text 17"/>
          <p:cNvSpPr/>
          <p:nvPr/>
        </p:nvSpPr>
        <p:spPr>
          <a:xfrm>
            <a:off x="932688" y="2221992"/>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1" name="Text 18"/>
          <p:cNvSpPr/>
          <p:nvPr/>
        </p:nvSpPr>
        <p:spPr>
          <a:xfrm>
            <a:off x="1344168" y="2221992"/>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2" name="Text 19"/>
          <p:cNvSpPr/>
          <p:nvPr/>
        </p:nvSpPr>
        <p:spPr>
          <a:xfrm>
            <a:off x="932688" y="2551176"/>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3" name="Text 20"/>
          <p:cNvSpPr/>
          <p:nvPr/>
        </p:nvSpPr>
        <p:spPr>
          <a:xfrm>
            <a:off x="1344168" y="2551176"/>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p>
        </p:txBody>
      </p:sp>
      <p:sp>
        <p:nvSpPr>
          <p:cNvPr id="24" name="Text 21"/>
          <p:cNvSpPr/>
          <p:nvPr/>
        </p:nvSpPr>
        <p:spPr>
          <a:xfrm>
            <a:off x="1755648" y="2551176"/>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5" name="Text 22"/>
          <p:cNvSpPr/>
          <p:nvPr/>
        </p:nvSpPr>
        <p:spPr>
          <a:xfrm>
            <a:off x="932688" y="2880360"/>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6" name="Text 23"/>
          <p:cNvSpPr/>
          <p:nvPr/>
        </p:nvSpPr>
        <p:spPr>
          <a:xfrm>
            <a:off x="1344168" y="2880360"/>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p>
        </p:txBody>
      </p:sp>
      <p:sp>
        <p:nvSpPr>
          <p:cNvPr id="27" name="Text 24"/>
          <p:cNvSpPr/>
          <p:nvPr/>
        </p:nvSpPr>
        <p:spPr>
          <a:xfrm>
            <a:off x="1755648" y="2880360"/>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3</a:t>
            </a:r>
            <a:endParaRPr lang="en-US" sz="1300" dirty="0"/>
          </a:p>
        </p:txBody>
      </p:sp>
      <p:sp>
        <p:nvSpPr>
          <p:cNvPr id="28" name="Text 25"/>
          <p:cNvSpPr/>
          <p:nvPr/>
        </p:nvSpPr>
        <p:spPr>
          <a:xfrm>
            <a:off x="2167128" y="2880360"/>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29" name="Text 26"/>
          <p:cNvSpPr/>
          <p:nvPr/>
        </p:nvSpPr>
        <p:spPr>
          <a:xfrm>
            <a:off x="932688" y="3209544"/>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30" name="Text 27"/>
          <p:cNvSpPr/>
          <p:nvPr/>
        </p:nvSpPr>
        <p:spPr>
          <a:xfrm>
            <a:off x="1344168" y="3209544"/>
            <a:ext cx="411480" cy="329184"/>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4</a:t>
            </a:r>
            <a:endParaRPr lang="en-US" sz="1300" dirty="0"/>
          </a:p>
        </p:txBody>
      </p:sp>
      <p:sp>
        <p:nvSpPr>
          <p:cNvPr id="31" name="Text 28"/>
          <p:cNvSpPr/>
          <p:nvPr/>
        </p:nvSpPr>
        <p:spPr>
          <a:xfrm>
            <a:off x="1755648" y="3209544"/>
            <a:ext cx="411480" cy="329184"/>
          </a:xfrm>
          <a:prstGeom prst="rect">
            <a:avLst/>
          </a:prstGeom>
          <a:solidFill>
            <a:srgbClr val="FFF1D6"/>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6</a:t>
            </a:r>
            <a:endParaRPr lang="en-US" sz="1300" dirty="0"/>
          </a:p>
        </p:txBody>
      </p:sp>
      <p:sp>
        <p:nvSpPr>
          <p:cNvPr id="32" name="Text 29"/>
          <p:cNvSpPr/>
          <p:nvPr/>
        </p:nvSpPr>
        <p:spPr>
          <a:xfrm>
            <a:off x="2167128" y="3209544"/>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4</a:t>
            </a:r>
            <a:endParaRPr lang="en-US" sz="1300" dirty="0"/>
          </a:p>
        </p:txBody>
      </p:sp>
      <p:sp>
        <p:nvSpPr>
          <p:cNvPr id="33" name="Text 30"/>
          <p:cNvSpPr/>
          <p:nvPr/>
        </p:nvSpPr>
        <p:spPr>
          <a:xfrm>
            <a:off x="2578608" y="3209544"/>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34" name="Text 31"/>
          <p:cNvSpPr/>
          <p:nvPr/>
        </p:nvSpPr>
        <p:spPr>
          <a:xfrm>
            <a:off x="932688" y="353872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35" name="Text 32"/>
          <p:cNvSpPr/>
          <p:nvPr/>
        </p:nvSpPr>
        <p:spPr>
          <a:xfrm>
            <a:off x="1344168" y="353872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a:t>
            </a:r>
            <a:endParaRPr lang="en-US" sz="1300" dirty="0"/>
          </a:p>
        </p:txBody>
      </p:sp>
      <p:sp>
        <p:nvSpPr>
          <p:cNvPr id="36" name="Text 33"/>
          <p:cNvSpPr/>
          <p:nvPr/>
        </p:nvSpPr>
        <p:spPr>
          <a:xfrm>
            <a:off x="1755648" y="3538728"/>
            <a:ext cx="411480" cy="329184"/>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10</a:t>
            </a:r>
            <a:endParaRPr lang="en-US" sz="1300" dirty="0"/>
          </a:p>
        </p:txBody>
      </p:sp>
      <p:sp>
        <p:nvSpPr>
          <p:cNvPr id="37" name="Text 34"/>
          <p:cNvSpPr/>
          <p:nvPr/>
        </p:nvSpPr>
        <p:spPr>
          <a:xfrm>
            <a:off x="2167128" y="353872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10</a:t>
            </a:r>
            <a:endParaRPr lang="en-US" sz="1300" dirty="0"/>
          </a:p>
        </p:txBody>
      </p:sp>
      <p:sp>
        <p:nvSpPr>
          <p:cNvPr id="38" name="Text 35"/>
          <p:cNvSpPr/>
          <p:nvPr/>
        </p:nvSpPr>
        <p:spPr>
          <a:xfrm>
            <a:off x="2578608" y="353872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a:t>
            </a:r>
            <a:endParaRPr lang="en-US" sz="1300" dirty="0"/>
          </a:p>
        </p:txBody>
      </p:sp>
      <p:sp>
        <p:nvSpPr>
          <p:cNvPr id="39" name="Text 36"/>
          <p:cNvSpPr/>
          <p:nvPr/>
        </p:nvSpPr>
        <p:spPr>
          <a:xfrm>
            <a:off x="2990088" y="3538728"/>
            <a:ext cx="411480" cy="329184"/>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a:t>
            </a:r>
            <a:endParaRPr lang="en-US" sz="1300" dirty="0"/>
          </a:p>
        </p:txBody>
      </p:sp>
      <p:sp>
        <p:nvSpPr>
          <p:cNvPr id="40" name="Text 37"/>
          <p:cNvSpPr txBox="1"/>
          <p:nvPr/>
        </p:nvSpPr>
        <p:spPr>
          <a:xfrm>
            <a:off x="548640" y="3931920"/>
            <a:ext cx="3474720" cy="594360"/>
          </a:xfrm>
          <a:prstGeom prst="rect">
            <a:avLst/>
          </a:prstGeom>
          <a:noFill/>
          <a:ln/>
        </p:spPr>
        <p:txBody>
          <a:bodyPr wrap="square" lIns="0" tIns="0" rIns="0" bIns="0" rtlCol="0" anchor="t"/>
          <a:lstStyle/>
          <a:p>
            <a:pPr indent="0" marL="0">
              <a:buNone/>
            </a:pPr>
            <a:r>
              <a:rPr lang="en-US" sz="1350" dirty="0">
                <a:solidFill>
                  <a:srgbClr val="333B4F"/>
                </a:solidFill>
                <a:latin typeface="Calibri" pitchFamily="34" charset="0"/>
                <a:ea typeface="Calibri" pitchFamily="34" charset="-122"/>
                <a:cs typeface="Calibri" pitchFamily="34" charset="-120"/>
              </a:rPr>
              <a:t>pascal[5][2] = 4 + 6 = </a:t>
            </a:r>
            <a:pPr indent="0" marL="0">
              <a:buNone/>
            </a:pPr>
            <a:r>
              <a:rPr lang="en-US" sz="1350" b="1" dirty="0">
                <a:solidFill>
                  <a:srgbClr val="B7791F"/>
                </a:solidFill>
                <a:latin typeface="Calibri" pitchFamily="34" charset="0"/>
                <a:ea typeface="Calibri" pitchFamily="34" charset="-122"/>
                <a:cs typeface="Calibri" pitchFamily="34" charset="-120"/>
              </a:rPr>
              <a:t>10</a:t>
            </a:r>
            <a:pPr indent="0" marL="0">
              <a:buNone/>
            </a:pPr>
            <a:r>
              <a:rPr lang="en-US" sz="1350" dirty="0">
                <a:solidFill>
                  <a:srgbClr val="333B4F"/>
                </a:solidFill>
                <a:latin typeface="Calibri" pitchFamily="34" charset="0"/>
                <a:ea typeface="Calibri" pitchFamily="34" charset="-122"/>
                <a:cs typeface="Calibri" pitchFamily="34" charset="-120"/>
              </a:rPr>
              <a:t> (sum of the two above)</a:t>
            </a:r>
            <a:endParaRPr lang="en-US" sz="13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3520440" cy="914400"/>
        </p:xfrm>
        <a:graphic>
          <a:graphicData uri="http://schemas.openxmlformats.org/drawingml/2006/table">
            <a:tbl>
              <a:tblPr/>
              <a:tblGrid>
                <a:gridCol w="868680"/>
                <a:gridCol w="1371600"/>
                <a:gridCol w="1280160"/>
              </a:tblGrid>
              <a:tr h="292608">
                <a:tc>
                  <a:txBody>
                    <a:bodyPr/>
                    <a:lstStyle/>
                    <a:p>
                      <a:pPr algn="ctr" indent="0" marL="0">
                        <a:buNone/>
                      </a:pP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int[,]</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int[][]</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9260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m[r, c]</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j[r][c]</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shape</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rectangle</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any length</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9260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GetLength(0)</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j.Length</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9260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row length</a:t>
                      </a:r>
                      <a:endParaRPr lang="en-US" sz="12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GetLength(1)</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200" dirty="0">
                          <a:solidFill>
                            <a:srgbClr val="14213D"/>
                          </a:solidFill>
                          <a:latin typeface="Courier New" pitchFamily="34" charset="0"/>
                          <a:ea typeface="Courier New" pitchFamily="34" charset="-122"/>
                          <a:cs typeface="Courier New" pitchFamily="34" charset="-120"/>
                        </a:rPr>
                        <a:t>j[r].Length</a:t>
                      </a:r>
                      <a:endParaRPr lang="en-US" sz="12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2" name="Shape 38"/>
          <p:cNvSpPr/>
          <p:nvPr/>
        </p:nvSpPr>
        <p:spPr>
          <a:xfrm>
            <a:off x="4251960" y="1600200"/>
            <a:ext cx="7406640" cy="2606040"/>
          </a:xfrm>
          <a:prstGeom prst="roundRect">
            <a:avLst>
              <a:gd name="adj" fmla="val 3509"/>
            </a:avLst>
          </a:prstGeom>
          <a:solidFill>
            <a:srgbClr val="0F1729"/>
          </a:solidFill>
          <a:ln w="12700">
            <a:solidFill>
              <a:srgbClr val="0F1729"/>
            </a:solidFill>
            <a:prstDash val="solid"/>
          </a:ln>
        </p:spPr>
      </p:sp>
      <p:sp>
        <p:nvSpPr>
          <p:cNvPr id="43" name="Text 39"/>
          <p:cNvSpPr txBox="1"/>
          <p:nvPr/>
        </p:nvSpPr>
        <p:spPr>
          <a:xfrm>
            <a:off x="4480560" y="1764792"/>
            <a:ext cx="6949440" cy="23317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pascal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 rows, none created yet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n;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pascal[r]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row r gets r + 1 elements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pascal[r][</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first and last element are 1</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pascal[r][r]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sum of the two numbers above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pascal[r][c] = pascal[r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pascal[r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4" name="Shape 40"/>
          <p:cNvSpPr/>
          <p:nvPr/>
        </p:nvSpPr>
        <p:spPr>
          <a:xfrm>
            <a:off x="4251960" y="4343400"/>
            <a:ext cx="4206240" cy="1755648"/>
          </a:xfrm>
          <a:prstGeom prst="roundRect">
            <a:avLst>
              <a:gd name="adj" fmla="val 5208"/>
            </a:avLst>
          </a:prstGeom>
          <a:solidFill>
            <a:srgbClr val="0B0F19"/>
          </a:solidFill>
          <a:ln w="12700">
            <a:solidFill>
              <a:srgbClr val="2A3654"/>
            </a:solidFill>
            <a:prstDash val="solid"/>
          </a:ln>
        </p:spPr>
      </p:sp>
      <p:sp>
        <p:nvSpPr>
          <p:cNvPr id="45" name="Shape 41"/>
          <p:cNvSpPr/>
          <p:nvPr/>
        </p:nvSpPr>
        <p:spPr>
          <a:xfrm>
            <a:off x="4434840" y="4471416"/>
            <a:ext cx="118872" cy="118872"/>
          </a:xfrm>
          <a:prstGeom prst="ellipse">
            <a:avLst/>
          </a:prstGeom>
          <a:solidFill>
            <a:srgbClr val="FF5F57"/>
          </a:solidFill>
          <a:ln w="12700">
            <a:solidFill>
              <a:srgbClr val="FF5F57"/>
            </a:solidFill>
            <a:prstDash val="solid"/>
          </a:ln>
        </p:spPr>
      </p:sp>
      <p:sp>
        <p:nvSpPr>
          <p:cNvPr id="46" name="Shape 42"/>
          <p:cNvSpPr/>
          <p:nvPr/>
        </p:nvSpPr>
        <p:spPr>
          <a:xfrm>
            <a:off x="4663440" y="4471416"/>
            <a:ext cx="118872" cy="118872"/>
          </a:xfrm>
          <a:prstGeom prst="ellipse">
            <a:avLst/>
          </a:prstGeom>
          <a:solidFill>
            <a:srgbClr val="FEBC2E"/>
          </a:solidFill>
          <a:ln w="12700">
            <a:solidFill>
              <a:srgbClr val="FEBC2E"/>
            </a:solidFill>
            <a:prstDash val="solid"/>
          </a:ln>
        </p:spPr>
      </p:sp>
      <p:sp>
        <p:nvSpPr>
          <p:cNvPr id="47" name="Shape 43"/>
          <p:cNvSpPr/>
          <p:nvPr/>
        </p:nvSpPr>
        <p:spPr>
          <a:xfrm>
            <a:off x="4892040" y="4471416"/>
            <a:ext cx="118872" cy="118872"/>
          </a:xfrm>
          <a:prstGeom prst="ellipse">
            <a:avLst/>
          </a:prstGeom>
          <a:solidFill>
            <a:srgbClr val="28C840"/>
          </a:solidFill>
          <a:ln w="12700">
            <a:solidFill>
              <a:srgbClr val="28C840"/>
            </a:solidFill>
            <a:prstDash val="solid"/>
          </a:ln>
        </p:spPr>
      </p:sp>
      <p:sp>
        <p:nvSpPr>
          <p:cNvPr id="48" name="Text 44"/>
          <p:cNvSpPr txBox="1"/>
          <p:nvPr/>
        </p:nvSpPr>
        <p:spPr>
          <a:xfrm>
            <a:off x="5166360" y="441655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code/11_12_PascalJagged</a:t>
            </a:r>
            <a:endParaRPr lang="en-US" sz="1000" dirty="0"/>
          </a:p>
        </p:txBody>
      </p:sp>
      <p:sp>
        <p:nvSpPr>
          <p:cNvPr id="49" name="Text 45"/>
          <p:cNvSpPr txBox="1"/>
          <p:nvPr/>
        </p:nvSpPr>
        <p:spPr>
          <a:xfrm>
            <a:off x="4480560" y="4727448"/>
            <a:ext cx="3749040" cy="1252728"/>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Number of rows: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6</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1   2   1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1   3   3   1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1   4   6   4   1</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   1   5  10  10   5   1</a:t>
            </a:r>
            <a:endParaRPr lang="en-US" sz="1100" dirty="0"/>
          </a:p>
        </p:txBody>
      </p:sp>
      <p:sp>
        <p:nvSpPr>
          <p:cNvPr id="50" name="Shape 46"/>
          <p:cNvSpPr/>
          <p:nvPr/>
        </p:nvSpPr>
        <p:spPr>
          <a:xfrm>
            <a:off x="8641080" y="4343400"/>
            <a:ext cx="3017520" cy="1755648"/>
          </a:xfrm>
          <a:prstGeom prst="roundRect">
            <a:avLst>
              <a:gd name="adj" fmla="val 5208"/>
            </a:avLst>
          </a:prstGeom>
          <a:solidFill>
            <a:srgbClr val="0B0F19"/>
          </a:solidFill>
          <a:ln w="12700">
            <a:solidFill>
              <a:srgbClr val="2A3654"/>
            </a:solidFill>
            <a:prstDash val="solid"/>
          </a:ln>
        </p:spPr>
      </p:sp>
      <p:sp>
        <p:nvSpPr>
          <p:cNvPr id="51" name="Shape 47"/>
          <p:cNvSpPr/>
          <p:nvPr/>
        </p:nvSpPr>
        <p:spPr>
          <a:xfrm>
            <a:off x="8823960" y="4471416"/>
            <a:ext cx="118872" cy="118872"/>
          </a:xfrm>
          <a:prstGeom prst="ellipse">
            <a:avLst/>
          </a:prstGeom>
          <a:solidFill>
            <a:srgbClr val="FF5F57"/>
          </a:solidFill>
          <a:ln w="12700">
            <a:solidFill>
              <a:srgbClr val="FF5F57"/>
            </a:solidFill>
            <a:prstDash val="solid"/>
          </a:ln>
        </p:spPr>
      </p:sp>
      <p:sp>
        <p:nvSpPr>
          <p:cNvPr id="52" name="Shape 48"/>
          <p:cNvSpPr/>
          <p:nvPr/>
        </p:nvSpPr>
        <p:spPr>
          <a:xfrm>
            <a:off x="9052560" y="4471416"/>
            <a:ext cx="118872" cy="118872"/>
          </a:xfrm>
          <a:prstGeom prst="ellipse">
            <a:avLst/>
          </a:prstGeom>
          <a:solidFill>
            <a:srgbClr val="FEBC2E"/>
          </a:solidFill>
          <a:ln w="12700">
            <a:solidFill>
              <a:srgbClr val="FEBC2E"/>
            </a:solidFill>
            <a:prstDash val="solid"/>
          </a:ln>
        </p:spPr>
      </p:sp>
      <p:sp>
        <p:nvSpPr>
          <p:cNvPr id="53" name="Shape 49"/>
          <p:cNvSpPr/>
          <p:nvPr/>
        </p:nvSpPr>
        <p:spPr>
          <a:xfrm>
            <a:off x="9281160" y="4471416"/>
            <a:ext cx="118872" cy="118872"/>
          </a:xfrm>
          <a:prstGeom prst="ellipse">
            <a:avLst/>
          </a:prstGeom>
          <a:solidFill>
            <a:srgbClr val="28C840"/>
          </a:solidFill>
          <a:ln w="12700">
            <a:solidFill>
              <a:srgbClr val="28C840"/>
            </a:solidFill>
            <a:prstDash val="solid"/>
          </a:ln>
        </p:spPr>
      </p:sp>
      <p:sp>
        <p:nvSpPr>
          <p:cNvPr id="54" name="Text 50"/>
          <p:cNvSpPr txBox="1"/>
          <p:nvPr/>
        </p:nvSpPr>
        <p:spPr>
          <a:xfrm>
            <a:off x="9555480" y="4416552"/>
            <a:ext cx="1920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continued</a:t>
            </a:r>
            <a:endParaRPr lang="en-US" sz="1000" dirty="0"/>
          </a:p>
        </p:txBody>
      </p:sp>
      <p:sp>
        <p:nvSpPr>
          <p:cNvPr id="55" name="Text 51"/>
          <p:cNvSpPr txBox="1"/>
          <p:nvPr/>
        </p:nvSpPr>
        <p:spPr>
          <a:xfrm>
            <a:off x="8869680" y="4727448"/>
            <a:ext cx="2560320" cy="12527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Rows: 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Last row length: 6</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Six Matrix Bugs (All Real Messages)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00200"/>
            <a:ext cx="3566160" cy="2103120"/>
          </a:xfrm>
          <a:prstGeom prst="roundRect">
            <a:avLst>
              <a:gd name="adj" fmla="val 5217"/>
            </a:avLst>
          </a:prstGeom>
          <a:solidFill>
            <a:srgbClr val="FBE9E7"/>
          </a:solidFill>
          <a:ln w="12700">
            <a:solidFill>
              <a:srgbClr val="FBE9E7"/>
            </a:solidFill>
            <a:prstDash val="solid"/>
          </a:ln>
        </p:spPr>
      </p:sp>
      <p:sp>
        <p:nvSpPr>
          <p:cNvPr id="8" name="Text 5"/>
          <p:cNvSpPr txBox="1"/>
          <p:nvPr/>
        </p:nvSpPr>
        <p:spPr>
          <a:xfrm>
            <a:off x="731520" y="1709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m[1][2] on an int[,]</a:t>
            </a:r>
            <a:endParaRPr lang="en-US" sz="1300" dirty="0"/>
          </a:p>
        </p:txBody>
      </p:sp>
      <p:sp>
        <p:nvSpPr>
          <p:cNvPr id="9" name="Text 6"/>
          <p:cNvSpPr txBox="1"/>
          <p:nvPr/>
        </p:nvSpPr>
        <p:spPr>
          <a:xfrm>
            <a:off x="731520" y="2240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error CS0022: Wrong number of indices inside []; expected 2</a:t>
            </a:r>
            <a:endParaRPr lang="en-US" sz="1200" dirty="0"/>
          </a:p>
        </p:txBody>
      </p:sp>
      <p:sp>
        <p:nvSpPr>
          <p:cNvPr id="10" name="Text 7"/>
          <p:cNvSpPr txBox="1"/>
          <p:nvPr/>
        </p:nvSpPr>
        <p:spPr>
          <a:xfrm>
            <a:off x="731520" y="3017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Write m[1, 2].</a:t>
            </a:r>
            <a:endParaRPr lang="en-US" sz="1350" dirty="0"/>
          </a:p>
        </p:txBody>
      </p:sp>
      <p:sp>
        <p:nvSpPr>
          <p:cNvPr id="11" name="Shape 8"/>
          <p:cNvSpPr/>
          <p:nvPr/>
        </p:nvSpPr>
        <p:spPr>
          <a:xfrm>
            <a:off x="4297680" y="1600200"/>
            <a:ext cx="3566160" cy="2103120"/>
          </a:xfrm>
          <a:prstGeom prst="roundRect">
            <a:avLst>
              <a:gd name="adj" fmla="val 5217"/>
            </a:avLst>
          </a:prstGeom>
          <a:solidFill>
            <a:srgbClr val="FBE9E7"/>
          </a:solidFill>
          <a:ln w="12700">
            <a:solidFill>
              <a:srgbClr val="FBE9E7"/>
            </a:solidFill>
            <a:prstDash val="solid"/>
          </a:ln>
        </p:spPr>
      </p:sp>
      <p:sp>
        <p:nvSpPr>
          <p:cNvPr id="12" name="Text 9"/>
          <p:cNvSpPr txBox="1"/>
          <p:nvPr/>
        </p:nvSpPr>
        <p:spPr>
          <a:xfrm>
            <a:off x="4480560" y="1709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 { 1, 2 }, { 3 } }</a:t>
            </a:r>
            <a:endParaRPr lang="en-US" sz="1300" dirty="0"/>
          </a:p>
        </p:txBody>
      </p:sp>
      <p:sp>
        <p:nvSpPr>
          <p:cNvPr id="13" name="Text 10"/>
          <p:cNvSpPr txBox="1"/>
          <p:nvPr/>
        </p:nvSpPr>
        <p:spPr>
          <a:xfrm>
            <a:off x="4480560" y="2240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error CS0847: An array initializer of length '2' is expected</a:t>
            </a:r>
            <a:endParaRPr lang="en-US" sz="1200" dirty="0"/>
          </a:p>
        </p:txBody>
      </p:sp>
      <p:sp>
        <p:nvSpPr>
          <p:cNvPr id="14" name="Text 11"/>
          <p:cNvSpPr txBox="1"/>
          <p:nvPr/>
        </p:nvSpPr>
        <p:spPr>
          <a:xfrm>
            <a:off x="4480560" y="3017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Every row needs the same length (or use a jagged array).</a:t>
            </a:r>
            <a:endParaRPr lang="en-US" sz="1350" dirty="0"/>
          </a:p>
        </p:txBody>
      </p:sp>
      <p:sp>
        <p:nvSpPr>
          <p:cNvPr id="15" name="Shape 12"/>
          <p:cNvSpPr/>
          <p:nvPr/>
        </p:nvSpPr>
        <p:spPr>
          <a:xfrm>
            <a:off x="8046720" y="1600200"/>
            <a:ext cx="3566160" cy="2103120"/>
          </a:xfrm>
          <a:prstGeom prst="roundRect">
            <a:avLst>
              <a:gd name="adj" fmla="val 5217"/>
            </a:avLst>
          </a:prstGeom>
          <a:solidFill>
            <a:srgbClr val="FBE9E7"/>
          </a:solidFill>
          <a:ln w="12700">
            <a:solidFill>
              <a:srgbClr val="FBE9E7"/>
            </a:solidFill>
            <a:prstDash val="solid"/>
          </a:ln>
        </p:spPr>
      </p:sp>
      <p:sp>
        <p:nvSpPr>
          <p:cNvPr id="16" name="Text 13"/>
          <p:cNvSpPr txBox="1"/>
          <p:nvPr/>
        </p:nvSpPr>
        <p:spPr>
          <a:xfrm>
            <a:off x="8229600" y="1709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for (r = 0; r &lt; m.Length; …)</a:t>
            </a:r>
            <a:endParaRPr lang="en-US" sz="1300" dirty="0"/>
          </a:p>
        </p:txBody>
      </p:sp>
      <p:sp>
        <p:nvSpPr>
          <p:cNvPr id="17" name="Text 14"/>
          <p:cNvSpPr txBox="1"/>
          <p:nvPr/>
        </p:nvSpPr>
        <p:spPr>
          <a:xfrm>
            <a:off x="8229600" y="2240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Length = 12 for 3 × 4 → IndexOutOfRangeException</a:t>
            </a:r>
            <a:endParaRPr lang="en-US" sz="1200" dirty="0"/>
          </a:p>
        </p:txBody>
      </p:sp>
      <p:sp>
        <p:nvSpPr>
          <p:cNvPr id="18" name="Text 15"/>
          <p:cNvSpPr txBox="1"/>
          <p:nvPr/>
        </p:nvSpPr>
        <p:spPr>
          <a:xfrm>
            <a:off x="8229600" y="3017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Rows: GetLength(0); columns: GetLength(1).</a:t>
            </a:r>
            <a:endParaRPr lang="en-US" sz="1350" dirty="0"/>
          </a:p>
        </p:txBody>
      </p:sp>
      <p:sp>
        <p:nvSpPr>
          <p:cNvPr id="19" name="Shape 16"/>
          <p:cNvSpPr/>
          <p:nvPr/>
        </p:nvSpPr>
        <p:spPr>
          <a:xfrm>
            <a:off x="548640" y="3886200"/>
            <a:ext cx="3566160" cy="2103120"/>
          </a:xfrm>
          <a:prstGeom prst="roundRect">
            <a:avLst>
              <a:gd name="adj" fmla="val 5217"/>
            </a:avLst>
          </a:prstGeom>
          <a:solidFill>
            <a:srgbClr val="FBE9E7"/>
          </a:solidFill>
          <a:ln w="12700">
            <a:solidFill>
              <a:srgbClr val="FBE9E7"/>
            </a:solidFill>
            <a:prstDash val="solid"/>
          </a:ln>
        </p:spPr>
      </p:sp>
      <p:sp>
        <p:nvSpPr>
          <p:cNvPr id="20" name="Text 17"/>
          <p:cNvSpPr txBox="1"/>
          <p:nvPr/>
        </p:nvSpPr>
        <p:spPr>
          <a:xfrm>
            <a:off x="731520" y="3995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c &lt; m.GetLength(0)</a:t>
            </a:r>
            <a:endParaRPr lang="en-US" sz="1300" dirty="0"/>
          </a:p>
        </p:txBody>
      </p:sp>
      <p:sp>
        <p:nvSpPr>
          <p:cNvPr id="21" name="Text 18"/>
          <p:cNvSpPr txBox="1"/>
          <p:nvPr/>
        </p:nvSpPr>
        <p:spPr>
          <a:xfrm>
            <a:off x="731520" y="4526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Works on 3 × 3, wrong on 3 × 4</a:t>
            </a:r>
            <a:endParaRPr lang="en-US" sz="1200" dirty="0"/>
          </a:p>
        </p:txBody>
      </p:sp>
      <p:sp>
        <p:nvSpPr>
          <p:cNvPr id="22" name="Text 19"/>
          <p:cNvSpPr txBox="1"/>
          <p:nvPr/>
        </p:nvSpPr>
        <p:spPr>
          <a:xfrm>
            <a:off x="731520" y="5303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Test with a non-square matrix.</a:t>
            </a:r>
            <a:endParaRPr lang="en-US" sz="1350" dirty="0"/>
          </a:p>
        </p:txBody>
      </p:sp>
      <p:sp>
        <p:nvSpPr>
          <p:cNvPr id="23" name="Shape 20"/>
          <p:cNvSpPr/>
          <p:nvPr/>
        </p:nvSpPr>
        <p:spPr>
          <a:xfrm>
            <a:off x="4297680" y="3886200"/>
            <a:ext cx="3566160" cy="2103120"/>
          </a:xfrm>
          <a:prstGeom prst="roundRect">
            <a:avLst>
              <a:gd name="adj" fmla="val 5217"/>
            </a:avLst>
          </a:prstGeom>
          <a:solidFill>
            <a:srgbClr val="FBE9E7"/>
          </a:solidFill>
          <a:ln w="12700">
            <a:solidFill>
              <a:srgbClr val="FBE9E7"/>
            </a:solidFill>
            <a:prstDash val="solid"/>
          </a:ln>
        </p:spPr>
      </p:sp>
      <p:sp>
        <p:nvSpPr>
          <p:cNvPr id="24" name="Text 21"/>
          <p:cNvSpPr txBox="1"/>
          <p:nvPr/>
        </p:nvSpPr>
        <p:spPr>
          <a:xfrm>
            <a:off x="4480560" y="3995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rowSum = 0 outside</a:t>
            </a:r>
            <a:endParaRPr lang="en-US" sz="1300" dirty="0"/>
          </a:p>
        </p:txBody>
      </p:sp>
      <p:sp>
        <p:nvSpPr>
          <p:cNvPr id="25" name="Text 22"/>
          <p:cNvSpPr txBox="1"/>
          <p:nvPr/>
        </p:nvSpPr>
        <p:spPr>
          <a:xfrm>
            <a:off x="4480560" y="4526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Row 0: 3   Row 1: 10</a:t>
            </a:r>
            <a:endParaRPr lang="en-US" sz="1200" dirty="0"/>
          </a:p>
          <a:p>
            <a:pPr indent="0" marL="0">
              <a:buNone/>
            </a:pPr>
            <a:r>
              <a:rPr lang="en-US" sz="1200" dirty="0">
                <a:solidFill>
                  <a:srgbClr val="14213D"/>
                </a:solidFill>
                <a:latin typeface="Courier New" pitchFamily="34" charset="0"/>
                <a:ea typeface="Courier New" pitchFamily="34" charset="-122"/>
                <a:cs typeface="Courier New" pitchFamily="34" charset="-120"/>
              </a:rPr>
              <a:t>(row 1 should be 7)</a:t>
            </a:r>
            <a:endParaRPr lang="en-US" sz="1200" dirty="0"/>
          </a:p>
        </p:txBody>
      </p:sp>
      <p:sp>
        <p:nvSpPr>
          <p:cNvPr id="26" name="Text 23"/>
          <p:cNvSpPr txBox="1"/>
          <p:nvPr/>
        </p:nvSpPr>
        <p:spPr>
          <a:xfrm>
            <a:off x="4480560" y="5303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Reset the accumulator inside the outer loop.</a:t>
            </a:r>
            <a:endParaRPr lang="en-US" sz="1350" dirty="0"/>
          </a:p>
        </p:txBody>
      </p:sp>
      <p:sp>
        <p:nvSpPr>
          <p:cNvPr id="27" name="Shape 24"/>
          <p:cNvSpPr/>
          <p:nvPr/>
        </p:nvSpPr>
        <p:spPr>
          <a:xfrm>
            <a:off x="8046720" y="3886200"/>
            <a:ext cx="3566160" cy="2103120"/>
          </a:xfrm>
          <a:prstGeom prst="roundRect">
            <a:avLst>
              <a:gd name="adj" fmla="val 5217"/>
            </a:avLst>
          </a:prstGeom>
          <a:solidFill>
            <a:srgbClr val="FBE9E7"/>
          </a:solidFill>
          <a:ln w="12700">
            <a:solidFill>
              <a:srgbClr val="FBE9E7"/>
            </a:solidFill>
            <a:prstDash val="solid"/>
          </a:ln>
        </p:spPr>
      </p:sp>
      <p:sp>
        <p:nvSpPr>
          <p:cNvPr id="28" name="Text 25"/>
          <p:cNvSpPr txBox="1"/>
          <p:nvPr/>
        </p:nvSpPr>
        <p:spPr>
          <a:xfrm>
            <a:off x="8229600" y="3995928"/>
            <a:ext cx="3200400" cy="457200"/>
          </a:xfrm>
          <a:prstGeom prst="rect">
            <a:avLst/>
          </a:prstGeom>
          <a:noFill/>
          <a:ln/>
        </p:spPr>
        <p:txBody>
          <a:bodyPr wrap="square" lIns="0" tIns="0" rIns="0" bIns="0" rtlCol="0" anchor="ctr"/>
          <a:lstStyle/>
          <a:p>
            <a:pPr indent="0" marL="0">
              <a:buNone/>
            </a:pPr>
            <a:r>
              <a:rPr lang="en-US" sz="1300" b="1" dirty="0">
                <a:solidFill>
                  <a:srgbClr val="C8453B"/>
                </a:solidFill>
                <a:latin typeface="Courier New" pitchFamily="34" charset="0"/>
                <a:ea typeface="Courier New" pitchFamily="34" charset="-122"/>
                <a:cs typeface="Courier New" pitchFamily="34" charset="-120"/>
              </a:rPr>
              <a:t>seats[row, seat]</a:t>
            </a:r>
            <a:endParaRPr lang="en-US" sz="1300" dirty="0"/>
          </a:p>
        </p:txBody>
      </p:sp>
      <p:sp>
        <p:nvSpPr>
          <p:cNvPr id="29" name="Text 26"/>
          <p:cNvSpPr txBox="1"/>
          <p:nvPr/>
        </p:nvSpPr>
        <p:spPr>
          <a:xfrm>
            <a:off x="8229600" y="4526280"/>
            <a:ext cx="3200400" cy="777240"/>
          </a:xfrm>
          <a:prstGeom prst="rect">
            <a:avLst/>
          </a:prstGeom>
          <a:noFill/>
          <a:ln/>
        </p:spPr>
        <p:txBody>
          <a:bodyPr wrap="square" lIns="0" tIns="0" rIns="0" bIns="0" rtlCol="0" anchor="t"/>
          <a:lstStyle/>
          <a:p>
            <a:pPr indent="0" marL="0">
              <a:buNone/>
            </a:pPr>
            <a:r>
              <a:rPr lang="en-US" sz="1200" dirty="0">
                <a:solidFill>
                  <a:srgbClr val="14213D"/>
                </a:solidFill>
                <a:latin typeface="Courier New" pitchFamily="34" charset="0"/>
                <a:ea typeface="Courier New" pitchFamily="34" charset="-122"/>
                <a:cs typeface="Courier New" pitchFamily="34" charset="-120"/>
              </a:rPr>
              <a:t>user types 1…5, indices are 0…4</a:t>
            </a:r>
            <a:endParaRPr lang="en-US" sz="1200" dirty="0"/>
          </a:p>
        </p:txBody>
      </p:sp>
      <p:sp>
        <p:nvSpPr>
          <p:cNvPr id="30" name="Text 27"/>
          <p:cNvSpPr txBox="1"/>
          <p:nvPr/>
        </p:nvSpPr>
        <p:spPr>
          <a:xfrm>
            <a:off x="8229600" y="5303520"/>
            <a:ext cx="3200400" cy="594360"/>
          </a:xfrm>
          <a:prstGeom prst="rect">
            <a:avLst/>
          </a:prstGeom>
          <a:noFill/>
          <a:ln/>
        </p:spPr>
        <p:txBody>
          <a:bodyPr wrap="square" lIns="0" tIns="0" rIns="0" bIns="0" rtlCol="0" anchor="t"/>
          <a:lstStyle/>
          <a:p>
            <a:pPr indent="0" marL="0">
              <a:buNone/>
            </a:pPr>
            <a:r>
              <a:rPr lang="en-US" sz="1350" b="1" dirty="0">
                <a:solidFill>
                  <a:srgbClr val="2E9E6A"/>
                </a:solidFill>
                <a:latin typeface="Calibri" pitchFamily="34" charset="0"/>
                <a:ea typeface="Calibri" pitchFamily="34" charset="-122"/>
                <a:cs typeface="Calibri" pitchFamily="34" charset="-120"/>
              </a:rPr>
              <a:t>Fix: </a:t>
            </a:r>
            <a:pPr indent="0" marL="0">
              <a:buNone/>
            </a:pPr>
            <a:r>
              <a:rPr lang="en-US" sz="1350" dirty="0">
                <a:solidFill>
                  <a:srgbClr val="333B4F"/>
                </a:solidFill>
                <a:latin typeface="Calibri" pitchFamily="34" charset="0"/>
                <a:ea typeface="Calibri" pitchFamily="34" charset="-122"/>
                <a:cs typeface="Calibri" pitchFamily="34" charset="-120"/>
              </a:rPr>
              <a:t>Convert once: seats[row − 1, seat − 1].</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3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Does This Program Print?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00200"/>
            <a:ext cx="6035040" cy="4498848"/>
          </a:xfrm>
          <a:prstGeom prst="roundRect">
            <a:avLst>
              <a:gd name="adj" fmla="val 2033"/>
            </a:avLst>
          </a:prstGeom>
          <a:solidFill>
            <a:srgbClr val="0F1729"/>
          </a:solidFill>
          <a:ln w="12700">
            <a:solidFill>
              <a:srgbClr val="0F1729"/>
            </a:solidFill>
            <a:prstDash val="solid"/>
          </a:ln>
        </p:spPr>
      </p:sp>
      <p:sp>
        <p:nvSpPr>
          <p:cNvPr id="8" name="Text 5"/>
          <p:cNvSpPr txBox="1"/>
          <p:nvPr/>
        </p:nvSpPr>
        <p:spPr>
          <a:xfrm>
            <a:off x="777240" y="1764792"/>
            <a:ext cx="5577840" cy="4224528"/>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q =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&gt;= 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 += q[r,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a:t>
            </a:r>
            <a:endParaRPr lang="en-US" sz="1300" dirty="0"/>
          </a:p>
        </p:txBody>
      </p:sp>
      <p:sp>
        <p:nvSpPr>
          <p:cNvPr id="9" name="Shape 6"/>
          <p:cNvSpPr/>
          <p:nvPr/>
        </p:nvSpPr>
        <p:spPr>
          <a:xfrm>
            <a:off x="6858000" y="1600200"/>
            <a:ext cx="4800600" cy="4498848"/>
          </a:xfrm>
          <a:prstGeom prst="roundRect">
            <a:avLst>
              <a:gd name="adj" fmla="val 2439"/>
            </a:avLst>
          </a:prstGeom>
          <a:solidFill>
            <a:srgbClr val="FFF6E3"/>
          </a:solidFill>
          <a:ln w="12700">
            <a:solidFill>
              <a:srgbClr val="FFF6E3"/>
            </a:solidFill>
            <a:prstDash val="solid"/>
          </a:ln>
        </p:spPr>
      </p:sp>
      <p:sp>
        <p:nvSpPr>
          <p:cNvPr id="10" name="Text 7"/>
          <p:cNvSpPr txBox="1"/>
          <p:nvPr/>
        </p:nvSpPr>
        <p:spPr>
          <a:xfrm>
            <a:off x="7086600" y="1737360"/>
            <a:ext cx="4389120" cy="41148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Choose one</a:t>
            </a:r>
            <a:endParaRPr lang="en-US" sz="1800" dirty="0"/>
          </a:p>
        </p:txBody>
      </p:sp>
      <p:sp>
        <p:nvSpPr>
          <p:cNvPr id="11" name="Shape 8"/>
          <p:cNvSpPr/>
          <p:nvPr/>
        </p:nvSpPr>
        <p:spPr>
          <a:xfrm>
            <a:off x="7086600" y="2331720"/>
            <a:ext cx="548640" cy="548640"/>
          </a:xfrm>
          <a:prstGeom prst="ellipse">
            <a:avLst/>
          </a:prstGeom>
          <a:solidFill>
            <a:srgbClr val="14213D"/>
          </a:solidFill>
          <a:ln w="12700">
            <a:solidFill>
              <a:srgbClr val="14213D"/>
            </a:solidFill>
            <a:prstDash val="solid"/>
          </a:ln>
        </p:spPr>
      </p:sp>
      <p:sp>
        <p:nvSpPr>
          <p:cNvPr id="12" name="Text 9"/>
          <p:cNvSpPr txBox="1"/>
          <p:nvPr/>
        </p:nvSpPr>
        <p:spPr>
          <a:xfrm>
            <a:off x="7086600" y="233172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A</a:t>
            </a:r>
            <a:endParaRPr lang="en-US" sz="1800" dirty="0"/>
          </a:p>
        </p:txBody>
      </p:sp>
      <p:sp>
        <p:nvSpPr>
          <p:cNvPr id="13" name="Text 10"/>
          <p:cNvSpPr txBox="1"/>
          <p:nvPr/>
        </p:nvSpPr>
        <p:spPr>
          <a:xfrm>
            <a:off x="7818120" y="2331720"/>
            <a:ext cx="3566160" cy="548640"/>
          </a:xfrm>
          <a:prstGeom prst="rect">
            <a:avLst/>
          </a:prstGeom>
          <a:noFill/>
          <a:ln/>
        </p:spPr>
        <p:txBody>
          <a:bodyPr wrap="square" lIns="0" tIns="0" rIns="0" bIns="0" rtlCol="0" anchor="ctr"/>
          <a:lstStyle/>
          <a:p>
            <a:pPr indent="0" marL="0">
              <a:buNone/>
            </a:pPr>
            <a:r>
              <a:rPr lang="en-US" sz="2000" dirty="0">
                <a:solidFill>
                  <a:srgbClr val="14213D"/>
                </a:solidFill>
                <a:latin typeface="Courier New" pitchFamily="34" charset="0"/>
                <a:ea typeface="Courier New" pitchFamily="34" charset="-122"/>
                <a:cs typeface="Courier New" pitchFamily="34" charset="-120"/>
              </a:rPr>
              <a:t>45</a:t>
            </a:r>
            <a:endParaRPr lang="en-US" sz="2000" dirty="0"/>
          </a:p>
        </p:txBody>
      </p:sp>
      <p:sp>
        <p:nvSpPr>
          <p:cNvPr id="14" name="Shape 11"/>
          <p:cNvSpPr/>
          <p:nvPr/>
        </p:nvSpPr>
        <p:spPr>
          <a:xfrm>
            <a:off x="7086600" y="3108960"/>
            <a:ext cx="548640" cy="548640"/>
          </a:xfrm>
          <a:prstGeom prst="ellipse">
            <a:avLst/>
          </a:prstGeom>
          <a:solidFill>
            <a:srgbClr val="14213D"/>
          </a:solidFill>
          <a:ln w="12700">
            <a:solidFill>
              <a:srgbClr val="14213D"/>
            </a:solidFill>
            <a:prstDash val="solid"/>
          </a:ln>
        </p:spPr>
      </p:sp>
      <p:sp>
        <p:nvSpPr>
          <p:cNvPr id="15" name="Text 12"/>
          <p:cNvSpPr txBox="1"/>
          <p:nvPr/>
        </p:nvSpPr>
        <p:spPr>
          <a:xfrm>
            <a:off x="7086600" y="310896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B</a:t>
            </a:r>
            <a:endParaRPr lang="en-US" sz="1800" dirty="0"/>
          </a:p>
        </p:txBody>
      </p:sp>
      <p:sp>
        <p:nvSpPr>
          <p:cNvPr id="16" name="Text 13"/>
          <p:cNvSpPr txBox="1"/>
          <p:nvPr/>
        </p:nvSpPr>
        <p:spPr>
          <a:xfrm>
            <a:off x="7818120" y="3108960"/>
            <a:ext cx="3566160" cy="548640"/>
          </a:xfrm>
          <a:prstGeom prst="rect">
            <a:avLst/>
          </a:prstGeom>
          <a:noFill/>
          <a:ln/>
        </p:spPr>
        <p:txBody>
          <a:bodyPr wrap="square" lIns="0" tIns="0" rIns="0" bIns="0" rtlCol="0" anchor="ctr"/>
          <a:lstStyle/>
          <a:p>
            <a:pPr indent="0" marL="0">
              <a:buNone/>
            </a:pPr>
            <a:r>
              <a:rPr lang="en-US" sz="2000" dirty="0">
                <a:solidFill>
                  <a:srgbClr val="14213D"/>
                </a:solidFill>
                <a:latin typeface="Courier New" pitchFamily="34" charset="0"/>
                <a:ea typeface="Courier New" pitchFamily="34" charset="-122"/>
                <a:cs typeface="Courier New" pitchFamily="34" charset="-120"/>
              </a:rPr>
              <a:t>26</a:t>
            </a:r>
            <a:endParaRPr lang="en-US" sz="2000" dirty="0"/>
          </a:p>
        </p:txBody>
      </p:sp>
      <p:sp>
        <p:nvSpPr>
          <p:cNvPr id="17" name="Shape 14"/>
          <p:cNvSpPr/>
          <p:nvPr/>
        </p:nvSpPr>
        <p:spPr>
          <a:xfrm>
            <a:off x="7086600" y="3886200"/>
            <a:ext cx="548640" cy="548640"/>
          </a:xfrm>
          <a:prstGeom prst="ellipse">
            <a:avLst/>
          </a:prstGeom>
          <a:solidFill>
            <a:srgbClr val="14213D"/>
          </a:solidFill>
          <a:ln w="12700">
            <a:solidFill>
              <a:srgbClr val="14213D"/>
            </a:solidFill>
            <a:prstDash val="solid"/>
          </a:ln>
        </p:spPr>
      </p:sp>
      <p:sp>
        <p:nvSpPr>
          <p:cNvPr id="18" name="Text 15"/>
          <p:cNvSpPr txBox="1"/>
          <p:nvPr/>
        </p:nvSpPr>
        <p:spPr>
          <a:xfrm>
            <a:off x="7086600" y="388620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C</a:t>
            </a:r>
            <a:endParaRPr lang="en-US" sz="1800" dirty="0"/>
          </a:p>
        </p:txBody>
      </p:sp>
      <p:sp>
        <p:nvSpPr>
          <p:cNvPr id="19" name="Text 16"/>
          <p:cNvSpPr txBox="1"/>
          <p:nvPr/>
        </p:nvSpPr>
        <p:spPr>
          <a:xfrm>
            <a:off x="7818120" y="3886200"/>
            <a:ext cx="3566160" cy="548640"/>
          </a:xfrm>
          <a:prstGeom prst="rect">
            <a:avLst/>
          </a:prstGeom>
          <a:noFill/>
          <a:ln/>
        </p:spPr>
        <p:txBody>
          <a:bodyPr wrap="square" lIns="0" tIns="0" rIns="0" bIns="0" rtlCol="0" anchor="ctr"/>
          <a:lstStyle/>
          <a:p>
            <a:pPr indent="0" marL="0">
              <a:buNone/>
            </a:pPr>
            <a:r>
              <a:rPr lang="en-US" sz="2000" dirty="0">
                <a:solidFill>
                  <a:srgbClr val="14213D"/>
                </a:solidFill>
                <a:latin typeface="Courier New" pitchFamily="34" charset="0"/>
                <a:ea typeface="Courier New" pitchFamily="34" charset="-122"/>
                <a:cs typeface="Courier New" pitchFamily="34" charset="-120"/>
              </a:rPr>
              <a:t>15</a:t>
            </a:r>
            <a:endParaRPr lang="en-US" sz="2000" dirty="0"/>
          </a:p>
        </p:txBody>
      </p:sp>
      <p:sp>
        <p:nvSpPr>
          <p:cNvPr id="20" name="Shape 17"/>
          <p:cNvSpPr/>
          <p:nvPr/>
        </p:nvSpPr>
        <p:spPr>
          <a:xfrm>
            <a:off x="7086600" y="4663440"/>
            <a:ext cx="548640" cy="548640"/>
          </a:xfrm>
          <a:prstGeom prst="ellipse">
            <a:avLst/>
          </a:prstGeom>
          <a:solidFill>
            <a:srgbClr val="14213D"/>
          </a:solidFill>
          <a:ln w="12700">
            <a:solidFill>
              <a:srgbClr val="14213D"/>
            </a:solidFill>
            <a:prstDash val="solid"/>
          </a:ln>
        </p:spPr>
      </p:sp>
      <p:sp>
        <p:nvSpPr>
          <p:cNvPr id="21" name="Text 18"/>
          <p:cNvSpPr txBox="1"/>
          <p:nvPr/>
        </p:nvSpPr>
        <p:spPr>
          <a:xfrm>
            <a:off x="7086600" y="466344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D</a:t>
            </a:r>
            <a:endParaRPr lang="en-US" sz="1800" dirty="0"/>
          </a:p>
        </p:txBody>
      </p:sp>
      <p:sp>
        <p:nvSpPr>
          <p:cNvPr id="22" name="Text 19"/>
          <p:cNvSpPr txBox="1"/>
          <p:nvPr/>
        </p:nvSpPr>
        <p:spPr>
          <a:xfrm>
            <a:off x="7818120" y="4663440"/>
            <a:ext cx="3566160" cy="548640"/>
          </a:xfrm>
          <a:prstGeom prst="rect">
            <a:avLst/>
          </a:prstGeom>
          <a:noFill/>
          <a:ln/>
        </p:spPr>
        <p:txBody>
          <a:bodyPr wrap="square" lIns="0" tIns="0" rIns="0" bIns="0" rtlCol="0" anchor="ctr"/>
          <a:lstStyle/>
          <a:p>
            <a:pPr indent="0" marL="0">
              <a:buNone/>
            </a:pPr>
            <a:r>
              <a:rPr lang="en-US" sz="2000" dirty="0">
                <a:solidFill>
                  <a:srgbClr val="14213D"/>
                </a:solidFill>
                <a:latin typeface="Courier New" pitchFamily="34" charset="0"/>
                <a:ea typeface="Courier New" pitchFamily="34" charset="-122"/>
                <a:cs typeface="Courier New" pitchFamily="34" charset="-120"/>
              </a:rPr>
              <a:t>34</a:t>
            </a:r>
            <a:endParaRPr lang="en-US" sz="2000" dirty="0"/>
          </a:p>
        </p:txBody>
      </p:sp>
      <p:sp>
        <p:nvSpPr>
          <p:cNvPr id="23" name="Text 20"/>
          <p:cNvSpPr txBox="1"/>
          <p:nvPr/>
        </p:nvSpPr>
        <p:spPr>
          <a:xfrm>
            <a:off x="7086600" y="5486400"/>
            <a:ext cx="4389120" cy="45720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Hint: shade the cells where c ≥ r.</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 B: 26</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Text 4"/>
          <p:cNvSpPr txBox="1"/>
          <p:nvPr/>
        </p:nvSpPr>
        <p:spPr>
          <a:xfrm>
            <a:off x="932688" y="1645920"/>
            <a:ext cx="82296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0</a:t>
            </a:r>
            <a:endParaRPr lang="en-US" sz="1200" dirty="0"/>
          </a:p>
        </p:txBody>
      </p:sp>
      <p:sp>
        <p:nvSpPr>
          <p:cNvPr id="8" name="Text 5"/>
          <p:cNvSpPr txBox="1"/>
          <p:nvPr/>
        </p:nvSpPr>
        <p:spPr>
          <a:xfrm>
            <a:off x="1755648" y="1645920"/>
            <a:ext cx="82296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1</a:t>
            </a:r>
            <a:endParaRPr lang="en-US" sz="1200" dirty="0"/>
          </a:p>
        </p:txBody>
      </p:sp>
      <p:sp>
        <p:nvSpPr>
          <p:cNvPr id="9" name="Text 6"/>
          <p:cNvSpPr txBox="1"/>
          <p:nvPr/>
        </p:nvSpPr>
        <p:spPr>
          <a:xfrm>
            <a:off x="2578608" y="1645920"/>
            <a:ext cx="822960" cy="274320"/>
          </a:xfrm>
          <a:prstGeom prst="rect">
            <a:avLst/>
          </a:prstGeom>
          <a:noFill/>
          <a:ln/>
        </p:spPr>
        <p:txBody>
          <a:bodyPr wrap="square" lIns="0" tIns="0" rIns="0" bIns="0" rtlCol="0" anchor="b"/>
          <a:lstStyle/>
          <a:p>
            <a:pPr algn="ctr" indent="0" marL="0">
              <a:buNone/>
            </a:pPr>
            <a:r>
              <a:rPr lang="en-US" sz="1200" b="1" dirty="0">
                <a:solidFill>
                  <a:srgbClr val="B7791F"/>
                </a:solidFill>
                <a:latin typeface="Courier New" pitchFamily="34" charset="0"/>
                <a:ea typeface="Courier New" pitchFamily="34" charset="-122"/>
                <a:cs typeface="Courier New" pitchFamily="34" charset="-120"/>
              </a:rPr>
              <a:t>2</a:t>
            </a:r>
            <a:endParaRPr lang="en-US" sz="1200" dirty="0"/>
          </a:p>
        </p:txBody>
      </p:sp>
      <p:sp>
        <p:nvSpPr>
          <p:cNvPr id="10" name="Text 7"/>
          <p:cNvSpPr txBox="1"/>
          <p:nvPr/>
        </p:nvSpPr>
        <p:spPr>
          <a:xfrm>
            <a:off x="548640" y="193852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0</a:t>
            </a:r>
            <a:endParaRPr lang="en-US" sz="1200" dirty="0"/>
          </a:p>
        </p:txBody>
      </p:sp>
      <p:sp>
        <p:nvSpPr>
          <p:cNvPr id="11" name="Text 8"/>
          <p:cNvSpPr txBox="1"/>
          <p:nvPr/>
        </p:nvSpPr>
        <p:spPr>
          <a:xfrm>
            <a:off x="548640" y="257860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1</a:t>
            </a:r>
            <a:endParaRPr lang="en-US" sz="1200" dirty="0"/>
          </a:p>
        </p:txBody>
      </p:sp>
      <p:sp>
        <p:nvSpPr>
          <p:cNvPr id="12" name="Text 9"/>
          <p:cNvSpPr txBox="1"/>
          <p:nvPr/>
        </p:nvSpPr>
        <p:spPr>
          <a:xfrm>
            <a:off x="548640" y="3218688"/>
            <a:ext cx="310896" cy="640080"/>
          </a:xfrm>
          <a:prstGeom prst="rect">
            <a:avLst/>
          </a:prstGeom>
          <a:noFill/>
          <a:ln/>
        </p:spPr>
        <p:txBody>
          <a:bodyPr wrap="square" lIns="0" tIns="0" rIns="0" bIns="0" rtlCol="0" anchor="ctr"/>
          <a:lstStyle/>
          <a:p>
            <a:pPr algn="r" indent="0" marL="0">
              <a:buNone/>
            </a:pPr>
            <a:r>
              <a:rPr lang="en-US" sz="1200" b="1" dirty="0">
                <a:solidFill>
                  <a:srgbClr val="2F6FB3"/>
                </a:solidFill>
                <a:latin typeface="Courier New" pitchFamily="34" charset="0"/>
                <a:ea typeface="Courier New" pitchFamily="34" charset="-122"/>
                <a:cs typeface="Courier New" pitchFamily="34" charset="-120"/>
              </a:rPr>
              <a:t>2</a:t>
            </a:r>
            <a:endParaRPr lang="en-US" sz="1200" dirty="0"/>
          </a:p>
        </p:txBody>
      </p:sp>
      <p:sp>
        <p:nvSpPr>
          <p:cNvPr id="13" name="Text 10"/>
          <p:cNvSpPr/>
          <p:nvPr/>
        </p:nvSpPr>
        <p:spPr>
          <a:xfrm>
            <a:off x="932688" y="193852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1</a:t>
            </a:r>
            <a:endParaRPr lang="en-US" sz="2000" dirty="0"/>
          </a:p>
        </p:txBody>
      </p:sp>
      <p:sp>
        <p:nvSpPr>
          <p:cNvPr id="14" name="Text 11"/>
          <p:cNvSpPr/>
          <p:nvPr/>
        </p:nvSpPr>
        <p:spPr>
          <a:xfrm>
            <a:off x="1755648" y="193852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2</a:t>
            </a:r>
            <a:endParaRPr lang="en-US" sz="2000" dirty="0"/>
          </a:p>
        </p:txBody>
      </p:sp>
      <p:sp>
        <p:nvSpPr>
          <p:cNvPr id="15" name="Text 12"/>
          <p:cNvSpPr/>
          <p:nvPr/>
        </p:nvSpPr>
        <p:spPr>
          <a:xfrm>
            <a:off x="2578608" y="193852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3</a:t>
            </a:r>
            <a:endParaRPr lang="en-US" sz="2000" dirty="0"/>
          </a:p>
        </p:txBody>
      </p:sp>
      <p:sp>
        <p:nvSpPr>
          <p:cNvPr id="16" name="Text 13"/>
          <p:cNvSpPr/>
          <p:nvPr/>
        </p:nvSpPr>
        <p:spPr>
          <a:xfrm>
            <a:off x="932688" y="2578608"/>
            <a:ext cx="82296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4</a:t>
            </a:r>
            <a:endParaRPr lang="en-US" sz="2000" dirty="0"/>
          </a:p>
        </p:txBody>
      </p:sp>
      <p:sp>
        <p:nvSpPr>
          <p:cNvPr id="17" name="Text 14"/>
          <p:cNvSpPr/>
          <p:nvPr/>
        </p:nvSpPr>
        <p:spPr>
          <a:xfrm>
            <a:off x="1755648" y="257860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5</a:t>
            </a:r>
            <a:endParaRPr lang="en-US" sz="2000" dirty="0"/>
          </a:p>
        </p:txBody>
      </p:sp>
      <p:sp>
        <p:nvSpPr>
          <p:cNvPr id="18" name="Text 15"/>
          <p:cNvSpPr/>
          <p:nvPr/>
        </p:nvSpPr>
        <p:spPr>
          <a:xfrm>
            <a:off x="2578608" y="257860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6</a:t>
            </a:r>
            <a:endParaRPr lang="en-US" sz="2000" dirty="0"/>
          </a:p>
        </p:txBody>
      </p:sp>
      <p:sp>
        <p:nvSpPr>
          <p:cNvPr id="19" name="Text 16"/>
          <p:cNvSpPr/>
          <p:nvPr/>
        </p:nvSpPr>
        <p:spPr>
          <a:xfrm>
            <a:off x="932688" y="3218688"/>
            <a:ext cx="82296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7</a:t>
            </a:r>
            <a:endParaRPr lang="en-US" sz="2000" dirty="0"/>
          </a:p>
        </p:txBody>
      </p:sp>
      <p:sp>
        <p:nvSpPr>
          <p:cNvPr id="20" name="Text 17"/>
          <p:cNvSpPr/>
          <p:nvPr/>
        </p:nvSpPr>
        <p:spPr>
          <a:xfrm>
            <a:off x="1755648" y="3218688"/>
            <a:ext cx="822960" cy="640080"/>
          </a:xfrm>
          <a:prstGeom prst="rect">
            <a:avLst/>
          </a:prstGeom>
          <a:solidFill>
            <a:srgbClr val="FFFFFF"/>
          </a:solidFill>
          <a:ln w="9525">
            <a:solidFill>
              <a:srgbClr val="14213D"/>
            </a:solid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8</a:t>
            </a:r>
            <a:endParaRPr lang="en-US" sz="2000" dirty="0"/>
          </a:p>
        </p:txBody>
      </p:sp>
      <p:sp>
        <p:nvSpPr>
          <p:cNvPr id="21" name="Text 18"/>
          <p:cNvSpPr/>
          <p:nvPr/>
        </p:nvSpPr>
        <p:spPr>
          <a:xfrm>
            <a:off x="2578608" y="3218688"/>
            <a:ext cx="822960" cy="640080"/>
          </a:xfrm>
          <a:prstGeom prst="rect">
            <a:avLst/>
          </a:prstGeom>
          <a:solidFill>
            <a:srgbClr val="FCA311"/>
          </a:solidFill>
          <a:ln w="9525">
            <a:solidFill>
              <a:srgbClr val="14213D"/>
            </a:solid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9</a:t>
            </a:r>
            <a:endParaRPr lang="en-US" sz="2000" dirty="0"/>
          </a:p>
        </p:txBody>
      </p:sp>
      <p:sp>
        <p:nvSpPr>
          <p:cNvPr id="22" name="Text 19"/>
          <p:cNvSpPr txBox="1"/>
          <p:nvPr/>
        </p:nvSpPr>
        <p:spPr>
          <a:xfrm>
            <a:off x="548640" y="3977640"/>
            <a:ext cx="4114800" cy="548640"/>
          </a:xfrm>
          <a:prstGeom prst="rect">
            <a:avLst/>
          </a:prstGeom>
          <a:noFill/>
          <a:ln/>
        </p:spPr>
        <p:txBody>
          <a:bodyPr wrap="square" lIns="0" tIns="0" rIns="0" bIns="0" rtlCol="0" anchor="ctr"/>
          <a:lstStyle/>
          <a:p>
            <a:pPr indent="0" marL="0">
              <a:buNone/>
            </a:pPr>
            <a:r>
              <a:rPr lang="en-US" sz="1500" b="1" dirty="0">
                <a:solidFill>
                  <a:srgbClr val="B7791F"/>
                </a:solidFill>
                <a:latin typeface="Calibri" pitchFamily="34" charset="0"/>
                <a:ea typeface="Calibri" pitchFamily="34" charset="-122"/>
                <a:cs typeface="Calibri" pitchFamily="34" charset="-120"/>
              </a:rPr>
              <a:t>c ≥ r: </a:t>
            </a:r>
            <a:pPr indent="0" marL="0">
              <a:buNone/>
            </a:pPr>
            <a:r>
              <a:rPr lang="en-US" sz="1500" dirty="0">
                <a:solidFill>
                  <a:srgbClr val="333B4F"/>
                </a:solidFill>
                <a:latin typeface="Calibri" pitchFamily="34" charset="0"/>
                <a:ea typeface="Calibri" pitchFamily="34" charset="-122"/>
                <a:cs typeface="Calibri" pitchFamily="34" charset="-120"/>
              </a:rPr>
              <a:t>the diagonal and everything to its right</a:t>
            </a:r>
            <a:endParaRPr lang="en-US" sz="1500" dirty="0"/>
          </a:p>
        </p:txBody>
      </p:sp>
      <p:sp>
        <p:nvSpPr>
          <p:cNvPr id="23" name="Text 20"/>
          <p:cNvSpPr txBox="1"/>
          <p:nvPr/>
        </p:nvSpPr>
        <p:spPr>
          <a:xfrm>
            <a:off x="4846320" y="1828800"/>
            <a:ext cx="6766560" cy="548640"/>
          </a:xfrm>
          <a:prstGeom prst="rect">
            <a:avLst/>
          </a:prstGeom>
          <a:noFill/>
          <a:ln/>
        </p:spPr>
        <p:txBody>
          <a:bodyPr wrap="square" lIns="0" tIns="0" rIns="0" bIns="0" rtlCol="0" anchor="ctr"/>
          <a:lstStyle/>
          <a:p>
            <a:pPr indent="0" marL="0">
              <a:buNone/>
            </a:pPr>
            <a:r>
              <a:rPr lang="en-US" sz="2200" dirty="0">
                <a:solidFill>
                  <a:srgbClr val="14213D"/>
                </a:solidFill>
                <a:latin typeface="Courier New" pitchFamily="34" charset="0"/>
                <a:ea typeface="Courier New" pitchFamily="34" charset="-122"/>
                <a:cs typeface="Courier New" pitchFamily="34" charset="-120"/>
              </a:rPr>
              <a:t>1 + 2 + 3 + 5 + 6 + 9 = </a:t>
            </a:r>
            <a:pPr indent="0" marL="0">
              <a:buNone/>
            </a:pPr>
            <a:r>
              <a:rPr lang="en-US" sz="2200" b="1" dirty="0">
                <a:solidFill>
                  <a:srgbClr val="2E9E6A"/>
                </a:solidFill>
                <a:latin typeface="Courier New" pitchFamily="34" charset="0"/>
                <a:ea typeface="Courier New" pitchFamily="34" charset="-122"/>
                <a:cs typeface="Courier New" pitchFamily="34" charset="-120"/>
              </a:rPr>
              <a:t>26</a:t>
            </a:r>
            <a:endParaRPr lang="en-US" sz="2200" dirty="0"/>
          </a:p>
        </p:txBody>
      </p:sp>
      <p:sp>
        <p:nvSpPr>
          <p:cNvPr id="24" name="Shape 21"/>
          <p:cNvSpPr/>
          <p:nvPr/>
        </p:nvSpPr>
        <p:spPr>
          <a:xfrm>
            <a:off x="4846320" y="2606040"/>
            <a:ext cx="2743200" cy="914400"/>
          </a:xfrm>
          <a:prstGeom prst="roundRect">
            <a:avLst>
              <a:gd name="adj" fmla="val 10000"/>
            </a:avLst>
          </a:prstGeom>
          <a:solidFill>
            <a:srgbClr val="0B0F19"/>
          </a:solidFill>
          <a:ln w="12700">
            <a:solidFill>
              <a:srgbClr val="2A3654"/>
            </a:solidFill>
            <a:prstDash val="solid"/>
          </a:ln>
        </p:spPr>
      </p:sp>
      <p:sp>
        <p:nvSpPr>
          <p:cNvPr id="25" name="Shape 22"/>
          <p:cNvSpPr/>
          <p:nvPr/>
        </p:nvSpPr>
        <p:spPr>
          <a:xfrm>
            <a:off x="5029200" y="2734056"/>
            <a:ext cx="118872" cy="118872"/>
          </a:xfrm>
          <a:prstGeom prst="ellipse">
            <a:avLst/>
          </a:prstGeom>
          <a:solidFill>
            <a:srgbClr val="FF5F57"/>
          </a:solidFill>
          <a:ln w="12700">
            <a:solidFill>
              <a:srgbClr val="FF5F57"/>
            </a:solidFill>
            <a:prstDash val="solid"/>
          </a:ln>
        </p:spPr>
      </p:sp>
      <p:sp>
        <p:nvSpPr>
          <p:cNvPr id="26" name="Shape 23"/>
          <p:cNvSpPr/>
          <p:nvPr/>
        </p:nvSpPr>
        <p:spPr>
          <a:xfrm>
            <a:off x="5257800" y="2734056"/>
            <a:ext cx="118872" cy="118872"/>
          </a:xfrm>
          <a:prstGeom prst="ellipse">
            <a:avLst/>
          </a:prstGeom>
          <a:solidFill>
            <a:srgbClr val="FEBC2E"/>
          </a:solidFill>
          <a:ln w="12700">
            <a:solidFill>
              <a:srgbClr val="FEBC2E"/>
            </a:solidFill>
            <a:prstDash val="solid"/>
          </a:ln>
        </p:spPr>
      </p:sp>
      <p:sp>
        <p:nvSpPr>
          <p:cNvPr id="27" name="Shape 24"/>
          <p:cNvSpPr/>
          <p:nvPr/>
        </p:nvSpPr>
        <p:spPr>
          <a:xfrm>
            <a:off x="5486400" y="2734056"/>
            <a:ext cx="118872" cy="118872"/>
          </a:xfrm>
          <a:prstGeom prst="ellipse">
            <a:avLst/>
          </a:prstGeom>
          <a:solidFill>
            <a:srgbClr val="28C840"/>
          </a:solidFill>
          <a:ln w="12700">
            <a:solidFill>
              <a:srgbClr val="28C840"/>
            </a:solidFill>
            <a:prstDash val="solid"/>
          </a:ln>
        </p:spPr>
      </p:sp>
      <p:sp>
        <p:nvSpPr>
          <p:cNvPr id="28" name="Text 25"/>
          <p:cNvSpPr txBox="1"/>
          <p:nvPr/>
        </p:nvSpPr>
        <p:spPr>
          <a:xfrm>
            <a:off x="5760720" y="2679192"/>
            <a:ext cx="16459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9" name="Text 26"/>
          <p:cNvSpPr txBox="1"/>
          <p:nvPr/>
        </p:nvSpPr>
        <p:spPr>
          <a:xfrm>
            <a:off x="5074920" y="2990088"/>
            <a:ext cx="2286000" cy="41148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26</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846320" y="3749040"/>
          <a:ext cx="6812280" cy="914400"/>
        </p:xfrm>
        <a:graphic>
          <a:graphicData uri="http://schemas.openxmlformats.org/drawingml/2006/table">
            <a:tbl>
              <a:tblPr/>
              <a:tblGrid>
                <a:gridCol w="1463040"/>
                <a:gridCol w="3886200"/>
                <a:gridCol w="146304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Condition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Cells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 &gt;= 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upper triangle + diagonal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 == 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main diagonal (trace)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 &lt;= 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lower triangle + diagonal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(no if)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all nine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1" name="Shape 27"/>
          <p:cNvSpPr/>
          <p:nvPr/>
        </p:nvSpPr>
        <p:spPr>
          <a:xfrm>
            <a:off x="548640" y="4754880"/>
            <a:ext cx="4069080" cy="1344168"/>
          </a:xfrm>
          <a:prstGeom prst="roundRect">
            <a:avLst>
              <a:gd name="adj" fmla="val 8163"/>
            </a:avLst>
          </a:prstGeom>
          <a:solidFill>
            <a:srgbClr val="FFF6E3"/>
          </a:solidFill>
          <a:ln w="12700">
            <a:solidFill>
              <a:srgbClr val="FFF6E3"/>
            </a:solidFill>
            <a:prstDash val="solid"/>
          </a:ln>
        </p:spPr>
      </p:sp>
      <p:pic>
        <p:nvPicPr>
          <p:cNvPr id="32" name="Image 0" descr="preencoded.png">    </p:cNvPr>
          <p:cNvPicPr>
            <a:picLocks noChangeAspect="1"/>
          </p:cNvPicPr>
          <p:nvPr/>
        </p:nvPicPr>
        <p:blipFill>
          <a:blip r:embed="rId1"/>
          <a:stretch>
            <a:fillRect/>
          </a:stretch>
        </p:blipFill>
        <p:spPr>
          <a:xfrm>
            <a:off x="822960" y="5152644"/>
            <a:ext cx="548640" cy="548640"/>
          </a:xfrm>
          <a:prstGeom prst="rect">
            <a:avLst/>
          </a:prstGeom>
        </p:spPr>
      </p:pic>
      <p:sp>
        <p:nvSpPr>
          <p:cNvPr id="33" name="Text 28"/>
          <p:cNvSpPr txBox="1"/>
          <p:nvPr/>
        </p:nvSpPr>
        <p:spPr>
          <a:xfrm>
            <a:off x="1645920" y="4828032"/>
            <a:ext cx="2697480" cy="119786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No if needed: </a:t>
            </a:r>
            <a:pPr indent="0" marL="0">
              <a:buNone/>
            </a:pPr>
            <a:r>
              <a:rPr lang="en-US" sz="1400" dirty="0">
                <a:solidFill>
                  <a:srgbClr val="333B4F"/>
                </a:solidFill>
                <a:latin typeface="Calibri" pitchFamily="34" charset="0"/>
                <a:ea typeface="Calibri" pitchFamily="34" charset="-122"/>
                <a:cs typeface="Calibri" pitchFamily="34" charset="-120"/>
              </a:rPr>
              <a:t>start the inner loop at c = r.</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QUICK FIRE · 5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Three Short Questions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Text 4"/>
          <p:cNvSpPr txBox="1"/>
          <p:nvPr/>
        </p:nvSpPr>
        <p:spPr>
          <a:xfrm>
            <a:off x="548640" y="1572768"/>
            <a:ext cx="548640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Q1 · Output?</a:t>
            </a:r>
            <a:endParaRPr lang="en-US" sz="1600" dirty="0"/>
          </a:p>
        </p:txBody>
      </p:sp>
      <p:sp>
        <p:nvSpPr>
          <p:cNvPr id="8" name="Shape 5"/>
          <p:cNvSpPr/>
          <p:nvPr/>
        </p:nvSpPr>
        <p:spPr>
          <a:xfrm>
            <a:off x="548640" y="1920240"/>
            <a:ext cx="5486400" cy="2331720"/>
          </a:xfrm>
          <a:prstGeom prst="roundRect">
            <a:avLst>
              <a:gd name="adj" fmla="val 3922"/>
            </a:avLst>
          </a:prstGeom>
          <a:solidFill>
            <a:srgbClr val="0F1729"/>
          </a:solidFill>
          <a:ln w="12700">
            <a:solidFill>
              <a:srgbClr val="0F1729"/>
            </a:solidFill>
            <a:prstDash val="solid"/>
          </a:ln>
        </p:spPr>
      </p:sp>
      <p:sp>
        <p:nvSpPr>
          <p:cNvPr id="9" name="Text 6"/>
          <p:cNvSpPr txBox="1"/>
          <p:nvPr/>
        </p:nvSpPr>
        <p:spPr>
          <a:xfrm>
            <a:off x="777240" y="2084832"/>
            <a:ext cx="5029200" cy="205740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 =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$"{m[r, c]}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Text 7"/>
          <p:cNvSpPr txBox="1"/>
          <p:nvPr/>
        </p:nvSpPr>
        <p:spPr>
          <a:xfrm>
            <a:off x="548640" y="4389120"/>
            <a:ext cx="548640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Q2 · Output?</a:t>
            </a:r>
            <a:endParaRPr lang="en-US" sz="1600" dirty="0"/>
          </a:p>
        </p:txBody>
      </p:sp>
      <p:sp>
        <p:nvSpPr>
          <p:cNvPr id="11" name="Shape 8"/>
          <p:cNvSpPr/>
          <p:nvPr/>
        </p:nvSpPr>
        <p:spPr>
          <a:xfrm>
            <a:off x="548640" y="4736592"/>
            <a:ext cx="5486400" cy="914400"/>
          </a:xfrm>
          <a:prstGeom prst="roundRect">
            <a:avLst>
              <a:gd name="adj" fmla="val 10000"/>
            </a:avLst>
          </a:prstGeom>
          <a:solidFill>
            <a:srgbClr val="0F1729"/>
          </a:solidFill>
          <a:ln w="12700">
            <a:solidFill>
              <a:srgbClr val="0F1729"/>
            </a:solidFill>
            <a:prstDash val="solid"/>
          </a:ln>
        </p:spPr>
      </p:sp>
      <p:sp>
        <p:nvSpPr>
          <p:cNvPr id="12" name="Text 9"/>
          <p:cNvSpPr txBox="1"/>
          <p:nvPr/>
        </p:nvSpPr>
        <p:spPr>
          <a:xfrm>
            <a:off x="777240" y="4901184"/>
            <a:ext cx="5029200" cy="64008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$"{g.Length} {g.GetLength(0)}"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Text 10"/>
          <p:cNvSpPr txBox="1"/>
          <p:nvPr/>
        </p:nvSpPr>
        <p:spPr>
          <a:xfrm>
            <a:off x="6263640" y="1572768"/>
            <a:ext cx="5394960" cy="32004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Q3 · What happens to a?</a:t>
            </a:r>
            <a:endParaRPr lang="en-US" sz="1600" dirty="0"/>
          </a:p>
        </p:txBody>
      </p:sp>
      <p:sp>
        <p:nvSpPr>
          <p:cNvPr id="14" name="Shape 11"/>
          <p:cNvSpPr/>
          <p:nvPr/>
        </p:nvSpPr>
        <p:spPr>
          <a:xfrm>
            <a:off x="6263640" y="1920240"/>
            <a:ext cx="5394960" cy="2514600"/>
          </a:xfrm>
          <a:prstGeom prst="roundRect">
            <a:avLst>
              <a:gd name="adj" fmla="val 3636"/>
            </a:avLst>
          </a:prstGeom>
          <a:solidFill>
            <a:srgbClr val="0F1729"/>
          </a:solidFill>
          <a:ln w="12700">
            <a:solidFill>
              <a:srgbClr val="0F1729"/>
            </a:solidFill>
            <a:prstDash val="solid"/>
          </a:ln>
        </p:spPr>
      </p:sp>
      <p:sp>
        <p:nvSpPr>
          <p:cNvPr id="15" name="Text 12"/>
          <p:cNvSpPr txBox="1"/>
          <p:nvPr/>
        </p:nvSpPr>
        <p:spPr>
          <a:xfrm>
            <a:off x="6492240" y="2084832"/>
            <a:ext cx="4937760" cy="224028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 = a[r,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 c] = a[c,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a[c, r] = temp;</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6263640" y="4617720"/>
            <a:ext cx="5394960" cy="1481328"/>
          </a:xfrm>
          <a:prstGeom prst="roundRect">
            <a:avLst>
              <a:gd name="adj" fmla="val 7407"/>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6537960" y="5084064"/>
            <a:ext cx="548640" cy="548640"/>
          </a:xfrm>
          <a:prstGeom prst="rect">
            <a:avLst/>
          </a:prstGeom>
        </p:spPr>
      </p:pic>
      <p:sp>
        <p:nvSpPr>
          <p:cNvPr id="18" name="Text 14"/>
          <p:cNvSpPr txBox="1"/>
          <p:nvPr/>
        </p:nvSpPr>
        <p:spPr>
          <a:xfrm>
            <a:off x="7360920" y="4690872"/>
            <a:ext cx="4023360" cy="1335024"/>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Q3 goal: </a:t>
            </a:r>
            <a:pPr indent="0" marL="0">
              <a:buNone/>
            </a:pPr>
            <a:r>
              <a:rPr lang="en-US" sz="1400" dirty="0">
                <a:solidFill>
                  <a:srgbClr val="333B4F"/>
                </a:solidFill>
                <a:latin typeface="Calibri" pitchFamily="34" charset="0"/>
                <a:ea typeface="Calibri" pitchFamily="34" charset="-122"/>
                <a:cs typeface="Calibri" pitchFamily="34" charset="-120"/>
              </a:rPr>
              <a:t>transpose a in place. Does it work? If not, find the smallest change that fixes it.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QUICK FIRE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(Real Runs)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Text 4"/>
          <p:cNvSpPr txBox="1"/>
          <p:nvPr/>
        </p:nvSpPr>
        <p:spPr>
          <a:xfrm>
            <a:off x="548640" y="1572768"/>
            <a:ext cx="34747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Q1 · columns become lines</a:t>
            </a:r>
            <a:endParaRPr lang="en-US" sz="1600" dirty="0"/>
          </a:p>
        </p:txBody>
      </p:sp>
      <p:sp>
        <p:nvSpPr>
          <p:cNvPr id="8" name="Shape 5"/>
          <p:cNvSpPr/>
          <p:nvPr/>
        </p:nvSpPr>
        <p:spPr>
          <a:xfrm>
            <a:off x="548640" y="1938528"/>
            <a:ext cx="3474720" cy="1325880"/>
          </a:xfrm>
          <a:prstGeom prst="roundRect">
            <a:avLst>
              <a:gd name="adj" fmla="val 6897"/>
            </a:avLst>
          </a:prstGeom>
          <a:solidFill>
            <a:srgbClr val="0B0F19"/>
          </a:solidFill>
          <a:ln w="12700">
            <a:solidFill>
              <a:srgbClr val="2A3654"/>
            </a:solidFill>
            <a:prstDash val="solid"/>
          </a:ln>
        </p:spPr>
      </p:sp>
      <p:sp>
        <p:nvSpPr>
          <p:cNvPr id="9" name="Shape 6"/>
          <p:cNvSpPr/>
          <p:nvPr/>
        </p:nvSpPr>
        <p:spPr>
          <a:xfrm>
            <a:off x="731520" y="2066544"/>
            <a:ext cx="118872" cy="118872"/>
          </a:xfrm>
          <a:prstGeom prst="ellipse">
            <a:avLst/>
          </a:prstGeom>
          <a:solidFill>
            <a:srgbClr val="FF5F57"/>
          </a:solidFill>
          <a:ln w="12700">
            <a:solidFill>
              <a:srgbClr val="FF5F57"/>
            </a:solidFill>
            <a:prstDash val="solid"/>
          </a:ln>
        </p:spPr>
      </p:sp>
      <p:sp>
        <p:nvSpPr>
          <p:cNvPr id="10" name="Shape 7"/>
          <p:cNvSpPr/>
          <p:nvPr/>
        </p:nvSpPr>
        <p:spPr>
          <a:xfrm>
            <a:off x="960120" y="2066544"/>
            <a:ext cx="118872" cy="118872"/>
          </a:xfrm>
          <a:prstGeom prst="ellipse">
            <a:avLst/>
          </a:prstGeom>
          <a:solidFill>
            <a:srgbClr val="FEBC2E"/>
          </a:solidFill>
          <a:ln w="12700">
            <a:solidFill>
              <a:srgbClr val="FEBC2E"/>
            </a:solidFill>
            <a:prstDash val="solid"/>
          </a:ln>
        </p:spPr>
      </p:sp>
      <p:sp>
        <p:nvSpPr>
          <p:cNvPr id="11" name="Shape 8"/>
          <p:cNvSpPr/>
          <p:nvPr/>
        </p:nvSpPr>
        <p:spPr>
          <a:xfrm>
            <a:off x="1188720" y="2066544"/>
            <a:ext cx="118872" cy="118872"/>
          </a:xfrm>
          <a:prstGeom prst="ellipse">
            <a:avLst/>
          </a:prstGeom>
          <a:solidFill>
            <a:srgbClr val="28C840"/>
          </a:solidFill>
          <a:ln w="12700">
            <a:solidFill>
              <a:srgbClr val="28C840"/>
            </a:solidFill>
            <a:prstDash val="solid"/>
          </a:ln>
        </p:spPr>
      </p:sp>
      <p:sp>
        <p:nvSpPr>
          <p:cNvPr id="12" name="Text 9"/>
          <p:cNvSpPr txBox="1"/>
          <p:nvPr/>
        </p:nvSpPr>
        <p:spPr>
          <a:xfrm>
            <a:off x="1463040" y="2011680"/>
            <a:ext cx="2377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3" name="Text 10"/>
          <p:cNvSpPr txBox="1"/>
          <p:nvPr/>
        </p:nvSpPr>
        <p:spPr>
          <a:xfrm>
            <a:off x="777240" y="2322576"/>
            <a:ext cx="3017520" cy="82296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1 4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2 5 </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3 6 </a:t>
            </a:r>
            <a:endParaRPr lang="en-US" sz="1400" dirty="0"/>
          </a:p>
        </p:txBody>
      </p:sp>
      <p:sp>
        <p:nvSpPr>
          <p:cNvPr id="14" name="Text 11"/>
          <p:cNvSpPr txBox="1"/>
          <p:nvPr/>
        </p:nvSpPr>
        <p:spPr>
          <a:xfrm>
            <a:off x="548640" y="3337560"/>
            <a:ext cx="347472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The transpose of m.</a:t>
            </a:r>
            <a:endParaRPr lang="en-US" sz="1400" dirty="0"/>
          </a:p>
        </p:txBody>
      </p:sp>
      <p:sp>
        <p:nvSpPr>
          <p:cNvPr id="15" name="Text 12"/>
          <p:cNvSpPr txBox="1"/>
          <p:nvPr/>
        </p:nvSpPr>
        <p:spPr>
          <a:xfrm>
            <a:off x="548640" y="3886200"/>
            <a:ext cx="34747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Q2 · all vs rows</a:t>
            </a:r>
            <a:endParaRPr lang="en-US" sz="1600" dirty="0"/>
          </a:p>
        </p:txBody>
      </p:sp>
      <p:sp>
        <p:nvSpPr>
          <p:cNvPr id="16" name="Shape 13"/>
          <p:cNvSpPr/>
          <p:nvPr/>
        </p:nvSpPr>
        <p:spPr>
          <a:xfrm>
            <a:off x="548640" y="4251960"/>
            <a:ext cx="3474720" cy="914400"/>
          </a:xfrm>
          <a:prstGeom prst="roundRect">
            <a:avLst>
              <a:gd name="adj" fmla="val 10000"/>
            </a:avLst>
          </a:prstGeom>
          <a:solidFill>
            <a:srgbClr val="0B0F19"/>
          </a:solidFill>
          <a:ln w="12700">
            <a:solidFill>
              <a:srgbClr val="2A3654"/>
            </a:solidFill>
            <a:prstDash val="solid"/>
          </a:ln>
        </p:spPr>
      </p:sp>
      <p:sp>
        <p:nvSpPr>
          <p:cNvPr id="17" name="Shape 14"/>
          <p:cNvSpPr/>
          <p:nvPr/>
        </p:nvSpPr>
        <p:spPr>
          <a:xfrm>
            <a:off x="731520" y="4379976"/>
            <a:ext cx="118872" cy="118872"/>
          </a:xfrm>
          <a:prstGeom prst="ellipse">
            <a:avLst/>
          </a:prstGeom>
          <a:solidFill>
            <a:srgbClr val="FF5F57"/>
          </a:solidFill>
          <a:ln w="12700">
            <a:solidFill>
              <a:srgbClr val="FF5F57"/>
            </a:solidFill>
            <a:prstDash val="solid"/>
          </a:ln>
        </p:spPr>
      </p:sp>
      <p:sp>
        <p:nvSpPr>
          <p:cNvPr id="18" name="Shape 15"/>
          <p:cNvSpPr/>
          <p:nvPr/>
        </p:nvSpPr>
        <p:spPr>
          <a:xfrm>
            <a:off x="960120" y="4379976"/>
            <a:ext cx="118872" cy="118872"/>
          </a:xfrm>
          <a:prstGeom prst="ellipse">
            <a:avLst/>
          </a:prstGeom>
          <a:solidFill>
            <a:srgbClr val="FEBC2E"/>
          </a:solidFill>
          <a:ln w="12700">
            <a:solidFill>
              <a:srgbClr val="FEBC2E"/>
            </a:solidFill>
            <a:prstDash val="solid"/>
          </a:ln>
        </p:spPr>
      </p:sp>
      <p:sp>
        <p:nvSpPr>
          <p:cNvPr id="19" name="Shape 16"/>
          <p:cNvSpPr/>
          <p:nvPr/>
        </p:nvSpPr>
        <p:spPr>
          <a:xfrm>
            <a:off x="1188720" y="437997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1463040" y="4325112"/>
            <a:ext cx="2377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77240" y="4636008"/>
            <a:ext cx="3017520" cy="41148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24 4</a:t>
            </a:r>
            <a:endParaRPr lang="en-US" sz="1400" dirty="0"/>
          </a:p>
        </p:txBody>
      </p:sp>
      <p:sp>
        <p:nvSpPr>
          <p:cNvPr id="22" name="Text 19"/>
          <p:cNvSpPr txBox="1"/>
          <p:nvPr/>
        </p:nvSpPr>
        <p:spPr>
          <a:xfrm>
            <a:off x="548640" y="5257800"/>
            <a:ext cx="347472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Length = 4 × 6 = 24 elements.</a:t>
            </a:r>
            <a:endParaRPr lang="en-US" sz="1400" dirty="0"/>
          </a:p>
        </p:txBody>
      </p:sp>
      <p:sp>
        <p:nvSpPr>
          <p:cNvPr id="23" name="Text 20"/>
          <p:cNvSpPr txBox="1"/>
          <p:nvPr/>
        </p:nvSpPr>
        <p:spPr>
          <a:xfrm>
            <a:off x="4343400" y="1572768"/>
            <a:ext cx="73152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Q3 · every pair is swapped twice → a is unchanged</a:t>
            </a:r>
            <a:endParaRPr lang="en-US" sz="1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343400" y="1938528"/>
          <a:ext cx="7315200" cy="914400"/>
        </p:xfrm>
        <a:graphic>
          <a:graphicData uri="http://schemas.openxmlformats.org/drawingml/2006/table">
            <a:tbl>
              <a:tblPr/>
              <a:tblGrid>
                <a:gridCol w="548640"/>
                <a:gridCol w="548640"/>
                <a:gridCol w="3017520"/>
                <a:gridCol w="320040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swap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 after the step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a[0,0] ↔ a[0,0]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2 / 3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a[0,1] ↔ a[1,0]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3 / 2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a[1,0] ↔ a[0,1]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1 2 / 3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a[1,1] ↔ a[1,1]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 2 / 3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25" name="Shape 21"/>
          <p:cNvSpPr/>
          <p:nvPr/>
        </p:nvSpPr>
        <p:spPr>
          <a:xfrm>
            <a:off x="4343400" y="4023360"/>
            <a:ext cx="4572000" cy="822960"/>
          </a:xfrm>
          <a:prstGeom prst="roundRect">
            <a:avLst>
              <a:gd name="adj" fmla="val 11111"/>
            </a:avLst>
          </a:prstGeom>
          <a:solidFill>
            <a:srgbClr val="0F1729"/>
          </a:solidFill>
          <a:ln w="12700">
            <a:solidFill>
              <a:srgbClr val="0F1729"/>
            </a:solidFill>
            <a:prstDash val="solid"/>
          </a:ln>
        </p:spPr>
      </p:sp>
      <p:sp>
        <p:nvSpPr>
          <p:cNvPr id="26" name="Text 22"/>
          <p:cNvSpPr txBox="1"/>
          <p:nvPr/>
        </p:nvSpPr>
        <p:spPr>
          <a:xfrm>
            <a:off x="4572000" y="4133088"/>
            <a:ext cx="41148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fix</a:t>
            </a:r>
            <a:endParaRPr lang="en-US" sz="1100" dirty="0"/>
          </a:p>
        </p:txBody>
      </p:sp>
      <p:sp>
        <p:nvSpPr>
          <p:cNvPr id="27" name="Text 23"/>
          <p:cNvSpPr txBox="1"/>
          <p:nvPr/>
        </p:nvSpPr>
        <p:spPr>
          <a:xfrm>
            <a:off x="4572000" y="4434840"/>
            <a:ext cx="4114800" cy="30175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t>
            </a:r>
            <a:endParaRPr lang="en-US" sz="1300" dirty="0"/>
          </a:p>
        </p:txBody>
      </p:sp>
      <p:sp>
        <p:nvSpPr>
          <p:cNvPr id="28" name="Shape 24"/>
          <p:cNvSpPr/>
          <p:nvPr/>
        </p:nvSpPr>
        <p:spPr>
          <a:xfrm>
            <a:off x="4343400" y="4956048"/>
            <a:ext cx="4572000" cy="1143000"/>
          </a:xfrm>
          <a:prstGeom prst="roundRect">
            <a:avLst>
              <a:gd name="adj" fmla="val 8000"/>
            </a:avLst>
          </a:prstGeom>
          <a:solidFill>
            <a:srgbClr val="0B0F19"/>
          </a:solidFill>
          <a:ln w="12700">
            <a:solidFill>
              <a:srgbClr val="2A3654"/>
            </a:solidFill>
            <a:prstDash val="solid"/>
          </a:ln>
        </p:spPr>
      </p:sp>
      <p:sp>
        <p:nvSpPr>
          <p:cNvPr id="29" name="Shape 25"/>
          <p:cNvSpPr/>
          <p:nvPr/>
        </p:nvSpPr>
        <p:spPr>
          <a:xfrm>
            <a:off x="4526280" y="5084064"/>
            <a:ext cx="118872" cy="118872"/>
          </a:xfrm>
          <a:prstGeom prst="ellipse">
            <a:avLst/>
          </a:prstGeom>
          <a:solidFill>
            <a:srgbClr val="FF5F57"/>
          </a:solidFill>
          <a:ln w="12700">
            <a:solidFill>
              <a:srgbClr val="FF5F57"/>
            </a:solidFill>
            <a:prstDash val="solid"/>
          </a:ln>
        </p:spPr>
      </p:sp>
      <p:sp>
        <p:nvSpPr>
          <p:cNvPr id="30" name="Shape 26"/>
          <p:cNvSpPr/>
          <p:nvPr/>
        </p:nvSpPr>
        <p:spPr>
          <a:xfrm>
            <a:off x="4754880" y="5084064"/>
            <a:ext cx="118872" cy="118872"/>
          </a:xfrm>
          <a:prstGeom prst="ellipse">
            <a:avLst/>
          </a:prstGeom>
          <a:solidFill>
            <a:srgbClr val="FEBC2E"/>
          </a:solidFill>
          <a:ln w="12700">
            <a:solidFill>
              <a:srgbClr val="FEBC2E"/>
            </a:solidFill>
            <a:prstDash val="solid"/>
          </a:ln>
        </p:spPr>
      </p:sp>
      <p:sp>
        <p:nvSpPr>
          <p:cNvPr id="31" name="Shape 27"/>
          <p:cNvSpPr/>
          <p:nvPr/>
        </p:nvSpPr>
        <p:spPr>
          <a:xfrm>
            <a:off x="4983480" y="5084064"/>
            <a:ext cx="118872" cy="118872"/>
          </a:xfrm>
          <a:prstGeom prst="ellipse">
            <a:avLst/>
          </a:prstGeom>
          <a:solidFill>
            <a:srgbClr val="28C840"/>
          </a:solidFill>
          <a:ln w="12700">
            <a:solidFill>
              <a:srgbClr val="28C840"/>
            </a:solidFill>
            <a:prstDash val="solid"/>
          </a:ln>
        </p:spPr>
      </p:sp>
      <p:sp>
        <p:nvSpPr>
          <p:cNvPr id="32" name="Text 28"/>
          <p:cNvSpPr txBox="1"/>
          <p:nvPr/>
        </p:nvSpPr>
        <p:spPr>
          <a:xfrm>
            <a:off x="5257800" y="5029200"/>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buggy run, then fixed run</a:t>
            </a:r>
            <a:endParaRPr lang="en-US" sz="1000" dirty="0"/>
          </a:p>
        </p:txBody>
      </p:sp>
      <p:sp>
        <p:nvSpPr>
          <p:cNvPr id="33" name="Text 29"/>
          <p:cNvSpPr txBox="1"/>
          <p:nvPr/>
        </p:nvSpPr>
        <p:spPr>
          <a:xfrm>
            <a:off x="4572000" y="5340096"/>
            <a:ext cx="4114800" cy="6400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2 / 3 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3 / 2 4</a:t>
            </a:r>
            <a:endParaRPr lang="en-US" sz="1300" dirty="0"/>
          </a:p>
        </p:txBody>
      </p:sp>
      <p:sp>
        <p:nvSpPr>
          <p:cNvPr id="34" name="Shape 30"/>
          <p:cNvSpPr/>
          <p:nvPr/>
        </p:nvSpPr>
        <p:spPr>
          <a:xfrm>
            <a:off x="9144000" y="4069080"/>
            <a:ext cx="2514600" cy="2029968"/>
          </a:xfrm>
          <a:prstGeom prst="roundRect">
            <a:avLst>
              <a:gd name="adj" fmla="val 5405"/>
            </a:avLst>
          </a:prstGeom>
          <a:solidFill>
            <a:srgbClr val="FFF6E3"/>
          </a:solidFill>
          <a:ln w="12700">
            <a:solidFill>
              <a:srgbClr val="FFF6E3"/>
            </a:solidFill>
            <a:prstDash val="solid"/>
          </a:ln>
        </p:spPr>
      </p:sp>
      <p:pic>
        <p:nvPicPr>
          <p:cNvPr id="35" name="Image 0" descr="preencoded.png">    </p:cNvPr>
          <p:cNvPicPr>
            <a:picLocks noChangeAspect="1"/>
          </p:cNvPicPr>
          <p:nvPr/>
        </p:nvPicPr>
        <p:blipFill>
          <a:blip r:embed="rId1"/>
          <a:stretch>
            <a:fillRect/>
          </a:stretch>
        </p:blipFill>
        <p:spPr>
          <a:xfrm>
            <a:off x="9418320" y="4809744"/>
            <a:ext cx="548640" cy="548640"/>
          </a:xfrm>
          <a:prstGeom prst="rect">
            <a:avLst/>
          </a:prstGeom>
        </p:spPr>
      </p:pic>
      <p:sp>
        <p:nvSpPr>
          <p:cNvPr id="36" name="Text 31"/>
          <p:cNvSpPr txBox="1"/>
          <p:nvPr/>
        </p:nvSpPr>
        <p:spPr>
          <a:xfrm>
            <a:off x="10241280" y="4142232"/>
            <a:ext cx="1143000" cy="1883664"/>
          </a:xfrm>
          <a:prstGeom prst="rect">
            <a:avLst/>
          </a:prstGeom>
          <a:noFill/>
          <a:ln/>
        </p:spPr>
        <p:txBody>
          <a:bodyPr wrap="square" lIns="0" tIns="0" rIns="0" bIns="0" rtlCol="0" anchor="ctr"/>
          <a:lstStyle/>
          <a:p>
            <a:pPr indent="0" marL="0">
              <a:buNone/>
            </a:pPr>
            <a:r>
              <a:rPr lang="en-US" sz="1350" b="1" dirty="0">
                <a:solidFill>
                  <a:srgbClr val="14213D"/>
                </a:solidFill>
                <a:latin typeface="Calibri" pitchFamily="34" charset="0"/>
                <a:ea typeface="Calibri" pitchFamily="34" charset="-122"/>
                <a:cs typeface="Calibri" pitchFamily="34" charset="-120"/>
              </a:rPr>
              <a:t>Same idea </a:t>
            </a:r>
            <a:pPr indent="0" marL="0">
              <a:buNone/>
            </a:pPr>
            <a:r>
              <a:rPr lang="en-US" sz="1350" dirty="0">
                <a:solidFill>
                  <a:srgbClr val="333B4F"/>
                </a:solidFill>
                <a:latin typeface="Calibri" pitchFamily="34" charset="0"/>
                <a:ea typeface="Calibri" pitchFamily="34" charset="-122"/>
                <a:cs typeface="Calibri" pitchFamily="34" charset="-120"/>
              </a:rPr>
              <a:t>as the symmetric check: visit only the upper triangle.</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 PAIRS · 35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548640" y="160020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01368"/>
            <a:ext cx="502920" cy="502920"/>
          </a:xfrm>
          <a:prstGeom prst="ellipse">
            <a:avLst/>
          </a:prstGeom>
          <a:solidFill>
            <a:srgbClr val="14213D"/>
          </a:solidFill>
          <a:ln w="12700">
            <a:solidFill>
              <a:srgbClr val="14213D"/>
            </a:solidFill>
            <a:prstDash val="solid"/>
          </a:ln>
        </p:spPr>
      </p:sp>
      <p:sp>
        <p:nvSpPr>
          <p:cNvPr id="9" name="Text 6"/>
          <p:cNvSpPr txBox="1"/>
          <p:nvPr/>
        </p:nvSpPr>
        <p:spPr>
          <a:xfrm>
            <a:off x="77724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A</a:t>
            </a:r>
            <a:endParaRPr lang="en-US" sz="1800" dirty="0"/>
          </a:p>
        </p:txBody>
      </p:sp>
      <p:sp>
        <p:nvSpPr>
          <p:cNvPr id="10" name="Text 7"/>
          <p:cNvSpPr txBox="1"/>
          <p:nvPr/>
        </p:nvSpPr>
        <p:spPr>
          <a:xfrm>
            <a:off x="141732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Max of each row</a:t>
            </a:r>
            <a:endParaRPr lang="en-US" sz="1700" dirty="0"/>
          </a:p>
        </p:txBody>
      </p:sp>
      <p:sp>
        <p:nvSpPr>
          <p:cNvPr id="11" name="Text 8"/>
          <p:cNvSpPr txBox="1"/>
          <p:nvPr/>
        </p:nvSpPr>
        <p:spPr>
          <a:xfrm>
            <a:off x="777240" y="242316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a 3 × 4 matrix; print the largest value of every row and its column index.</a:t>
            </a:r>
            <a:endParaRPr lang="en-US" sz="1400" dirty="0"/>
          </a:p>
        </p:txBody>
      </p:sp>
      <p:sp>
        <p:nvSpPr>
          <p:cNvPr id="12" name="Text 9"/>
          <p:cNvSpPr txBox="1"/>
          <p:nvPr/>
        </p:nvSpPr>
        <p:spPr>
          <a:xfrm>
            <a:off x="777240" y="326440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
        <p:nvSpPr>
          <p:cNvPr id="13" name="Shape 10"/>
          <p:cNvSpPr/>
          <p:nvPr/>
        </p:nvSpPr>
        <p:spPr>
          <a:xfrm>
            <a:off x="4297680" y="1600200"/>
            <a:ext cx="3566160" cy="2057400"/>
          </a:xfrm>
          <a:prstGeom prst="roundRect">
            <a:avLst>
              <a:gd name="adj" fmla="val 5333"/>
            </a:avLst>
          </a:prstGeom>
          <a:solidFill>
            <a:srgbClr val="EEF1F6"/>
          </a:solidFill>
          <a:ln w="12700">
            <a:solidFill>
              <a:srgbClr val="EEF1F6"/>
            </a:solidFill>
            <a:prstDash val="solid"/>
          </a:ln>
        </p:spPr>
      </p:sp>
      <p:sp>
        <p:nvSpPr>
          <p:cNvPr id="14" name="Shape 11"/>
          <p:cNvSpPr/>
          <p:nvPr/>
        </p:nvSpPr>
        <p:spPr>
          <a:xfrm>
            <a:off x="4526280" y="1801368"/>
            <a:ext cx="502920" cy="502920"/>
          </a:xfrm>
          <a:prstGeom prst="ellipse">
            <a:avLst/>
          </a:prstGeom>
          <a:solidFill>
            <a:srgbClr val="14213D"/>
          </a:solidFill>
          <a:ln w="12700">
            <a:solidFill>
              <a:srgbClr val="14213D"/>
            </a:solidFill>
            <a:prstDash val="solid"/>
          </a:ln>
        </p:spPr>
      </p:sp>
      <p:sp>
        <p:nvSpPr>
          <p:cNvPr id="15" name="Text 12"/>
          <p:cNvSpPr txBox="1"/>
          <p:nvPr/>
        </p:nvSpPr>
        <p:spPr>
          <a:xfrm>
            <a:off x="452628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B</a:t>
            </a:r>
            <a:endParaRPr lang="en-US" sz="1800" dirty="0"/>
          </a:p>
        </p:txBody>
      </p:sp>
      <p:sp>
        <p:nvSpPr>
          <p:cNvPr id="16" name="Text 13"/>
          <p:cNvSpPr txBox="1"/>
          <p:nvPr/>
        </p:nvSpPr>
        <p:spPr>
          <a:xfrm>
            <a:off x="516636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 − B</a:t>
            </a:r>
            <a:endParaRPr lang="en-US" sz="1700" dirty="0"/>
          </a:p>
        </p:txBody>
      </p:sp>
      <p:sp>
        <p:nvSpPr>
          <p:cNvPr id="17" name="Text 14"/>
          <p:cNvSpPr txBox="1"/>
          <p:nvPr/>
        </p:nvSpPr>
        <p:spPr>
          <a:xfrm>
            <a:off x="4526280" y="242316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Subtract two matrices of the same size; print "not defined" if the sizes differ.</a:t>
            </a:r>
            <a:endParaRPr lang="en-US" sz="1400" dirty="0"/>
          </a:p>
        </p:txBody>
      </p:sp>
      <p:sp>
        <p:nvSpPr>
          <p:cNvPr id="18" name="Text 15"/>
          <p:cNvSpPr txBox="1"/>
          <p:nvPr/>
        </p:nvSpPr>
        <p:spPr>
          <a:xfrm>
            <a:off x="4526280" y="326440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
        <p:nvSpPr>
          <p:cNvPr id="19" name="Shape 16"/>
          <p:cNvSpPr/>
          <p:nvPr/>
        </p:nvSpPr>
        <p:spPr>
          <a:xfrm>
            <a:off x="8046720" y="1600200"/>
            <a:ext cx="3566160" cy="2057400"/>
          </a:xfrm>
          <a:prstGeom prst="roundRect">
            <a:avLst>
              <a:gd name="adj" fmla="val 5333"/>
            </a:avLst>
          </a:prstGeom>
          <a:solidFill>
            <a:srgbClr val="EEF1F6"/>
          </a:solidFill>
          <a:ln w="12700">
            <a:solidFill>
              <a:srgbClr val="EEF1F6"/>
            </a:solidFill>
            <a:prstDash val="solid"/>
          </a:ln>
        </p:spPr>
      </p:sp>
      <p:sp>
        <p:nvSpPr>
          <p:cNvPr id="20" name="Shape 17"/>
          <p:cNvSpPr/>
          <p:nvPr/>
        </p:nvSpPr>
        <p:spPr>
          <a:xfrm>
            <a:off x="8275320" y="1801368"/>
            <a:ext cx="502920" cy="502920"/>
          </a:xfrm>
          <a:prstGeom prst="ellipse">
            <a:avLst/>
          </a:prstGeom>
          <a:solidFill>
            <a:srgbClr val="14213D"/>
          </a:solidFill>
          <a:ln w="12700">
            <a:solidFill>
              <a:srgbClr val="14213D"/>
            </a:solidFill>
            <a:prstDash val="solid"/>
          </a:ln>
        </p:spPr>
      </p:sp>
      <p:sp>
        <p:nvSpPr>
          <p:cNvPr id="21" name="Text 18"/>
          <p:cNvSpPr txBox="1"/>
          <p:nvPr/>
        </p:nvSpPr>
        <p:spPr>
          <a:xfrm>
            <a:off x="827532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C</a:t>
            </a:r>
            <a:endParaRPr lang="en-US" sz="1800" dirty="0"/>
          </a:p>
        </p:txBody>
      </p:sp>
      <p:sp>
        <p:nvSpPr>
          <p:cNvPr id="22" name="Text 19"/>
          <p:cNvSpPr txBox="1"/>
          <p:nvPr/>
        </p:nvSpPr>
        <p:spPr>
          <a:xfrm>
            <a:off x="891540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Is it the identity?</a:t>
            </a:r>
            <a:endParaRPr lang="en-US" sz="1700" dirty="0"/>
          </a:p>
        </p:txBody>
      </p:sp>
      <p:sp>
        <p:nvSpPr>
          <p:cNvPr id="23" name="Text 20"/>
          <p:cNvSpPr txBox="1"/>
          <p:nvPr/>
        </p:nvSpPr>
        <p:spPr>
          <a:xfrm>
            <a:off x="8275320" y="242316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Check whether a square matrix is the identity matrix.</a:t>
            </a:r>
            <a:endParaRPr lang="en-US" sz="1400" dirty="0"/>
          </a:p>
        </p:txBody>
      </p:sp>
      <p:sp>
        <p:nvSpPr>
          <p:cNvPr id="24" name="Text 21"/>
          <p:cNvSpPr txBox="1"/>
          <p:nvPr/>
        </p:nvSpPr>
        <p:spPr>
          <a:xfrm>
            <a:off x="8275320" y="326440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548640" y="3840480"/>
            <a:ext cx="3566160" cy="2057400"/>
          </a:xfrm>
          <a:prstGeom prst="roundRect">
            <a:avLst>
              <a:gd name="adj" fmla="val 5333"/>
            </a:avLst>
          </a:prstGeom>
          <a:solidFill>
            <a:srgbClr val="EEF1F6"/>
          </a:solidFill>
          <a:ln w="12700">
            <a:solidFill>
              <a:srgbClr val="EEF1F6"/>
            </a:solidFill>
            <a:prstDash val="solid"/>
          </a:ln>
        </p:spPr>
      </p:sp>
      <p:sp>
        <p:nvSpPr>
          <p:cNvPr id="26" name="Shape 23"/>
          <p:cNvSpPr/>
          <p:nvPr/>
        </p:nvSpPr>
        <p:spPr>
          <a:xfrm>
            <a:off x="777240" y="4041648"/>
            <a:ext cx="502920" cy="502920"/>
          </a:xfrm>
          <a:prstGeom prst="ellipse">
            <a:avLst/>
          </a:prstGeom>
          <a:solidFill>
            <a:srgbClr val="14213D"/>
          </a:solidFill>
          <a:ln w="12700">
            <a:solidFill>
              <a:srgbClr val="14213D"/>
            </a:solidFill>
            <a:prstDash val="solid"/>
          </a:ln>
        </p:spPr>
      </p:sp>
      <p:sp>
        <p:nvSpPr>
          <p:cNvPr id="27" name="Text 24"/>
          <p:cNvSpPr txBox="1"/>
          <p:nvPr/>
        </p:nvSpPr>
        <p:spPr>
          <a:xfrm>
            <a:off x="77724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D</a:t>
            </a:r>
            <a:endParaRPr lang="en-US" sz="1800" dirty="0"/>
          </a:p>
        </p:txBody>
      </p:sp>
      <p:sp>
        <p:nvSpPr>
          <p:cNvPr id="28" name="Text 25"/>
          <p:cNvSpPr txBox="1"/>
          <p:nvPr/>
        </p:nvSpPr>
        <p:spPr>
          <a:xfrm>
            <a:off x="141732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Border sum</a:t>
            </a:r>
            <a:endParaRPr lang="en-US" sz="1700" dirty="0"/>
          </a:p>
        </p:txBody>
      </p:sp>
      <p:sp>
        <p:nvSpPr>
          <p:cNvPr id="29" name="Text 26"/>
          <p:cNvSpPr txBox="1"/>
          <p:nvPr/>
        </p:nvSpPr>
        <p:spPr>
          <a:xfrm>
            <a:off x="777240" y="466344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Sum of the elements on the border (first/last row, first/last column).</a:t>
            </a:r>
            <a:endParaRPr lang="en-US" sz="1400" dirty="0"/>
          </a:p>
        </p:txBody>
      </p:sp>
      <p:sp>
        <p:nvSpPr>
          <p:cNvPr id="30" name="Text 27"/>
          <p:cNvSpPr txBox="1"/>
          <p:nvPr/>
        </p:nvSpPr>
        <p:spPr>
          <a:xfrm>
            <a:off x="777240" y="550468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
        <p:nvSpPr>
          <p:cNvPr id="31" name="Shape 28"/>
          <p:cNvSpPr/>
          <p:nvPr/>
        </p:nvSpPr>
        <p:spPr>
          <a:xfrm>
            <a:off x="4297680" y="3840480"/>
            <a:ext cx="3566160" cy="2057400"/>
          </a:xfrm>
          <a:prstGeom prst="roundRect">
            <a:avLst>
              <a:gd name="adj" fmla="val 5333"/>
            </a:avLst>
          </a:prstGeom>
          <a:solidFill>
            <a:srgbClr val="EEF1F6"/>
          </a:solidFill>
          <a:ln w="12700">
            <a:solidFill>
              <a:srgbClr val="EEF1F6"/>
            </a:solidFill>
            <a:prstDash val="solid"/>
          </a:ln>
        </p:spPr>
      </p:sp>
      <p:sp>
        <p:nvSpPr>
          <p:cNvPr id="32" name="Shape 29"/>
          <p:cNvSpPr/>
          <p:nvPr/>
        </p:nvSpPr>
        <p:spPr>
          <a:xfrm>
            <a:off x="4526280" y="4041648"/>
            <a:ext cx="502920" cy="502920"/>
          </a:xfrm>
          <a:prstGeom prst="ellipse">
            <a:avLst/>
          </a:prstGeom>
          <a:solidFill>
            <a:srgbClr val="14213D"/>
          </a:solidFill>
          <a:ln w="12700">
            <a:solidFill>
              <a:srgbClr val="14213D"/>
            </a:solidFill>
            <a:prstDash val="solid"/>
          </a:ln>
        </p:spPr>
      </p:sp>
      <p:sp>
        <p:nvSpPr>
          <p:cNvPr id="33" name="Text 30"/>
          <p:cNvSpPr txBox="1"/>
          <p:nvPr/>
        </p:nvSpPr>
        <p:spPr>
          <a:xfrm>
            <a:off x="452628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E</a:t>
            </a:r>
            <a:endParaRPr lang="en-US" sz="1800" dirty="0"/>
          </a:p>
        </p:txBody>
      </p:sp>
      <p:sp>
        <p:nvSpPr>
          <p:cNvPr id="34" name="Text 31"/>
          <p:cNvSpPr txBox="1"/>
          <p:nvPr/>
        </p:nvSpPr>
        <p:spPr>
          <a:xfrm>
            <a:off x="516636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Study planner</a:t>
            </a:r>
            <a:endParaRPr lang="en-US" sz="1700" dirty="0"/>
          </a:p>
        </p:txBody>
      </p:sp>
      <p:sp>
        <p:nvSpPr>
          <p:cNvPr id="35" name="Text 32"/>
          <p:cNvSpPr txBox="1"/>
          <p:nvPr/>
        </p:nvSpPr>
        <p:spPr>
          <a:xfrm>
            <a:off x="4526280" y="466344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Hours for 7 days × 4 weeks: total per day of week and per week.</a:t>
            </a:r>
            <a:endParaRPr lang="en-US" sz="1400" dirty="0"/>
          </a:p>
        </p:txBody>
      </p:sp>
      <p:sp>
        <p:nvSpPr>
          <p:cNvPr id="36" name="Text 33"/>
          <p:cNvSpPr txBox="1"/>
          <p:nvPr/>
        </p:nvSpPr>
        <p:spPr>
          <a:xfrm>
            <a:off x="4526280" y="550468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
        <p:nvSpPr>
          <p:cNvPr id="37" name="Shape 34"/>
          <p:cNvSpPr/>
          <p:nvPr/>
        </p:nvSpPr>
        <p:spPr>
          <a:xfrm>
            <a:off x="8046720" y="3840480"/>
            <a:ext cx="3566160" cy="2057400"/>
          </a:xfrm>
          <a:prstGeom prst="roundRect">
            <a:avLst>
              <a:gd name="adj" fmla="val 5333"/>
            </a:avLst>
          </a:prstGeom>
          <a:solidFill>
            <a:srgbClr val="EEF1F6"/>
          </a:solidFill>
          <a:ln w="12700">
            <a:solidFill>
              <a:srgbClr val="EEF1F6"/>
            </a:solidFill>
            <a:prstDash val="solid"/>
          </a:ln>
        </p:spPr>
      </p:sp>
      <p:sp>
        <p:nvSpPr>
          <p:cNvPr id="38" name="Shape 35"/>
          <p:cNvSpPr/>
          <p:nvPr/>
        </p:nvSpPr>
        <p:spPr>
          <a:xfrm>
            <a:off x="8275320" y="4041648"/>
            <a:ext cx="502920" cy="502920"/>
          </a:xfrm>
          <a:prstGeom prst="ellipse">
            <a:avLst/>
          </a:prstGeom>
          <a:solidFill>
            <a:srgbClr val="14213D"/>
          </a:solidFill>
          <a:ln w="12700">
            <a:solidFill>
              <a:srgbClr val="14213D"/>
            </a:solidFill>
            <a:prstDash val="solid"/>
          </a:ln>
        </p:spPr>
      </p:sp>
      <p:sp>
        <p:nvSpPr>
          <p:cNvPr id="39" name="Text 36"/>
          <p:cNvSpPr txBox="1"/>
          <p:nvPr/>
        </p:nvSpPr>
        <p:spPr>
          <a:xfrm>
            <a:off x="827532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F</a:t>
            </a:r>
            <a:endParaRPr lang="en-US" sz="1800" dirty="0"/>
          </a:p>
        </p:txBody>
      </p:sp>
      <p:sp>
        <p:nvSpPr>
          <p:cNvPr id="40" name="Text 37"/>
          <p:cNvSpPr txBox="1"/>
          <p:nvPr/>
        </p:nvSpPr>
        <p:spPr>
          <a:xfrm>
            <a:off x="891540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Rotate 90°</a:t>
            </a:r>
            <a:endParaRPr lang="en-US" sz="1700" dirty="0"/>
          </a:p>
        </p:txBody>
      </p:sp>
      <p:sp>
        <p:nvSpPr>
          <p:cNvPr id="41" name="Text 38"/>
          <p:cNvSpPr txBox="1"/>
          <p:nvPr/>
        </p:nvSpPr>
        <p:spPr>
          <a:xfrm>
            <a:off x="8275320" y="4663440"/>
            <a:ext cx="315468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Rotate an n × n matrix clockwise into a new matrix.</a:t>
            </a:r>
            <a:endParaRPr lang="en-US" sz="1400" dirty="0"/>
          </a:p>
        </p:txBody>
      </p:sp>
      <p:sp>
        <p:nvSpPr>
          <p:cNvPr id="42" name="Text 39"/>
          <p:cNvSpPr txBox="1"/>
          <p:nvPr/>
        </p:nvSpPr>
        <p:spPr>
          <a:xfrm>
            <a:off x="8275320" y="5504688"/>
            <a:ext cx="315468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 · DUE BEFORE WEEK 12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Practice at Home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11</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548640" y="1600200"/>
            <a:ext cx="5486400" cy="4498848"/>
          </a:xfrm>
          <a:prstGeom prst="roundRect">
            <a:avLst>
              <a:gd name="adj" fmla="val 2439"/>
            </a:avLst>
          </a:prstGeom>
          <a:solidFill>
            <a:srgbClr val="EEF1F6"/>
          </a:solidFill>
          <a:ln w="12700">
            <a:solidFill>
              <a:srgbClr val="EEF1F6"/>
            </a:solidFill>
            <a:prstDash val="solid"/>
          </a:ln>
        </p:spPr>
      </p:sp>
      <p:sp>
        <p:nvSpPr>
          <p:cNvPr id="8" name="Shape 5"/>
          <p:cNvSpPr/>
          <p:nvPr/>
        </p:nvSpPr>
        <p:spPr>
          <a:xfrm>
            <a:off x="777240" y="178308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30481"/>
            <a:ext cx="272125" cy="272125"/>
          </a:xfrm>
          <a:prstGeom prst="rect">
            <a:avLst/>
          </a:prstGeom>
        </p:spPr>
      </p:pic>
      <p:sp>
        <p:nvSpPr>
          <p:cNvPr id="10" name="Text 6"/>
          <p:cNvSpPr txBox="1"/>
          <p:nvPr/>
        </p:nvSpPr>
        <p:spPr>
          <a:xfrm>
            <a:off x="1508760" y="1783080"/>
            <a:ext cx="438912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Programs</a:t>
            </a:r>
            <a:endParaRPr lang="en-US" sz="1800" dirty="0"/>
          </a:p>
        </p:txBody>
      </p:sp>
      <p:sp>
        <p:nvSpPr>
          <p:cNvPr id="11" name="Text 7"/>
          <p:cNvSpPr txBox="1"/>
          <p:nvPr/>
        </p:nvSpPr>
        <p:spPr>
          <a:xfrm>
            <a:off x="777240" y="2514600"/>
            <a:ext cx="5074920" cy="35204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H1 · Example 2 with input validation: sizes 1–10, every element an integer (TryParse loops).</a:t>
            </a:r>
            <a:endParaRPr lang="en-US" sz="1450" dirty="0"/>
          </a:p>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H2 · Saddle point: find an element that is the smallest in its row and the largest in its column.</a:t>
            </a:r>
            <a:endParaRPr lang="en-US" sz="1450" dirty="0"/>
          </a:p>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H3 · Cinema: print the map after every booking and refuse bookings when the hall is full.</a:t>
            </a:r>
            <a:endParaRPr lang="en-US" sz="1450" dirty="0"/>
          </a:p>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H4 · Grade book: add a column “Final grade” = 30 % quiz + 30 % midterm + 40 % final.</a:t>
            </a:r>
            <a:endParaRPr lang="en-US" sz="1450" dirty="0"/>
          </a:p>
        </p:txBody>
      </p:sp>
      <p:sp>
        <p:nvSpPr>
          <p:cNvPr id="12" name="Shape 8"/>
          <p:cNvSpPr/>
          <p:nvPr/>
        </p:nvSpPr>
        <p:spPr>
          <a:xfrm>
            <a:off x="6263640" y="1600200"/>
            <a:ext cx="5394960" cy="4498848"/>
          </a:xfrm>
          <a:prstGeom prst="roundRect">
            <a:avLst>
              <a:gd name="adj" fmla="val 2439"/>
            </a:avLst>
          </a:prstGeom>
          <a:solidFill>
            <a:srgbClr val="EEF1F6"/>
          </a:solidFill>
          <a:ln w="12700">
            <a:solidFill>
              <a:srgbClr val="EEF1F6"/>
            </a:solidFill>
            <a:prstDash val="solid"/>
          </a:ln>
        </p:spPr>
      </p:sp>
      <p:sp>
        <p:nvSpPr>
          <p:cNvPr id="13" name="Shape 9"/>
          <p:cNvSpPr/>
          <p:nvPr/>
        </p:nvSpPr>
        <p:spPr>
          <a:xfrm>
            <a:off x="6492240" y="178308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639641" y="1930481"/>
            <a:ext cx="272125" cy="272125"/>
          </a:xfrm>
          <a:prstGeom prst="rect">
            <a:avLst/>
          </a:prstGeom>
        </p:spPr>
      </p:pic>
      <p:sp>
        <p:nvSpPr>
          <p:cNvPr id="15" name="Text 10"/>
          <p:cNvSpPr txBox="1"/>
          <p:nvPr/>
        </p:nvSpPr>
        <p:spPr>
          <a:xfrm>
            <a:off x="7223760" y="1783080"/>
            <a:ext cx="429768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On paper</a:t>
            </a:r>
            <a:endParaRPr lang="en-US" sz="1800" dirty="0"/>
          </a:p>
        </p:txBody>
      </p:sp>
      <p:sp>
        <p:nvSpPr>
          <p:cNvPr id="16" name="Text 11"/>
          <p:cNvSpPr txBox="1"/>
          <p:nvPr/>
        </p:nvSpPr>
        <p:spPr>
          <a:xfrm>
            <a:off x="6492240" y="2514600"/>
            <a:ext cx="4983480" cy="20116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H5 · Multiply by hand and check with 11_07: [[2, 0], [1, 3]] × [[1, 4], [2, 5]].</a:t>
            </a:r>
            <a:endParaRPr lang="en-US" sz="1450" dirty="0"/>
          </a:p>
          <a:p>
            <a:pPr marL="342900" indent="-342900">
              <a:spcAft>
                <a:spcPts val="800"/>
              </a:spcAft>
              <a:buSzPct val="100000"/>
              <a:buChar char="•"/>
            </a:pPr>
            <a:r>
              <a:rPr lang="en-US" sz="1450" dirty="0">
                <a:solidFill>
                  <a:srgbClr val="333B4F"/>
                </a:solidFill>
                <a:latin typeface="Calibri" pitchFamily="34" charset="0"/>
                <a:ea typeface="Calibri" pitchFamily="34" charset="-122"/>
                <a:cs typeface="Calibri" pitchFamily="34" charset="-120"/>
              </a:rPr>
              <a:t>H6 · Count: how many times did today’s examples repeat the “print a matrix” loops? Next week we write them once, as a method.</a:t>
            </a:r>
            <a:endParaRPr lang="en-US" sz="1450" dirty="0"/>
          </a:p>
        </p:txBody>
      </p:sp>
      <p:sp>
        <p:nvSpPr>
          <p:cNvPr id="17" name="Shape 12"/>
          <p:cNvSpPr/>
          <p:nvPr/>
        </p:nvSpPr>
        <p:spPr>
          <a:xfrm>
            <a:off x="6492240" y="4709160"/>
            <a:ext cx="4983480" cy="1188720"/>
          </a:xfrm>
          <a:prstGeom prst="roundRect">
            <a:avLst>
              <a:gd name="adj" fmla="val 9231"/>
            </a:avLst>
          </a:prstGeom>
          <a:solidFill>
            <a:srgbClr val="FFF6E3"/>
          </a:solidFill>
          <a:ln w="12700">
            <a:solidFill>
              <a:srgbClr val="FFF6E3"/>
            </a:solidFill>
            <a:prstDash val="solid"/>
          </a:ln>
        </p:spPr>
      </p:sp>
      <p:pic>
        <p:nvPicPr>
          <p:cNvPr id="18" name="Image 2" descr="preencoded.png">    </p:cNvPr>
          <p:cNvPicPr>
            <a:picLocks noChangeAspect="1"/>
          </p:cNvPicPr>
          <p:nvPr/>
        </p:nvPicPr>
        <p:blipFill>
          <a:blip r:embed="rId3"/>
          <a:stretch>
            <a:fillRect/>
          </a:stretch>
        </p:blipFill>
        <p:spPr>
          <a:xfrm>
            <a:off x="6766560" y="5029200"/>
            <a:ext cx="548640" cy="548640"/>
          </a:xfrm>
          <a:prstGeom prst="rect">
            <a:avLst/>
          </a:prstGeom>
        </p:spPr>
      </p:pic>
      <p:sp>
        <p:nvSpPr>
          <p:cNvPr id="19" name="Text 13"/>
          <p:cNvSpPr txBox="1"/>
          <p:nvPr/>
        </p:nvSpPr>
        <p:spPr>
          <a:xfrm>
            <a:off x="7589520" y="4782312"/>
            <a:ext cx="3611880" cy="104241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Preview of Week 12: </a:t>
            </a:r>
            <a:pPr indent="0" marL="0">
              <a:buNone/>
            </a:pPr>
            <a:r>
              <a:rPr lang="en-US" sz="1400" dirty="0">
                <a:solidFill>
                  <a:srgbClr val="333B4F"/>
                </a:solidFill>
                <a:latin typeface="Calibri" pitchFamily="34" charset="0"/>
                <a:ea typeface="Calibri" pitchFamily="34" charset="-122"/>
                <a:cs typeface="Calibri" pitchFamily="34" charset="-120"/>
              </a:rPr>
              <a:t>PrintMatrix(m) — write once, call everywhere.</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 m = new int[rows, cols]; m[r, c] — row first, both indices from 0.</a:t>
            </a:r>
            <a:endParaRPr lang="en-US" sz="1500" dirty="0"/>
          </a:p>
        </p:txBody>
      </p:sp>
      <p:sp>
        <p:nvSpPr>
          <p:cNvPr id="6" name="Text 4"/>
          <p:cNvSpPr txBox="1"/>
          <p:nvPr/>
        </p:nvSpPr>
        <p:spPr>
          <a:xfrm>
            <a:off x="548640" y="2429691"/>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429691"/>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GetLength(0) = rows, GetLength(1) = columns; Length = all elements.</a:t>
            </a:r>
            <a:endParaRPr lang="en-US" sz="1500" dirty="0"/>
          </a:p>
        </p:txBody>
      </p:sp>
      <p:sp>
        <p:nvSpPr>
          <p:cNvPr id="8" name="Text 6"/>
          <p:cNvSpPr txBox="1"/>
          <p:nvPr/>
        </p:nvSpPr>
        <p:spPr>
          <a:xfrm>
            <a:off x="548640" y="3030583"/>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030583"/>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Two nested loops visit every element; the outer loop picks the row (or column).</a:t>
            </a:r>
            <a:endParaRPr lang="en-US" sz="1500" dirty="0"/>
          </a:p>
        </p:txBody>
      </p:sp>
      <p:sp>
        <p:nvSpPr>
          <p:cNvPr id="10" name="Text 8"/>
          <p:cNvSpPr txBox="1"/>
          <p:nvPr/>
        </p:nvSpPr>
        <p:spPr>
          <a:xfrm>
            <a:off x="548640" y="3631474"/>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631474"/>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Reset row/column accumulators inside the outer loop; max starts at the first element.</a:t>
            </a:r>
            <a:endParaRPr lang="en-US" sz="1500" dirty="0"/>
          </a:p>
        </p:txBody>
      </p:sp>
      <p:sp>
        <p:nvSpPr>
          <p:cNvPr id="12" name="Text 10"/>
          <p:cNvSpPr txBox="1"/>
          <p:nvPr/>
        </p:nvSpPr>
        <p:spPr>
          <a:xfrm>
            <a:off x="548640" y="4232366"/>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232366"/>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Diagonals: a[i, i] and a[i, n − 1 − i]; transpose: t[c, r] = a[r, c].</a:t>
            </a:r>
            <a:endParaRPr lang="en-US" sz="1500" dirty="0"/>
          </a:p>
        </p:txBody>
      </p:sp>
      <p:sp>
        <p:nvSpPr>
          <p:cNvPr id="14" name="Text 12"/>
          <p:cNvSpPr txBox="1"/>
          <p:nvPr/>
        </p:nvSpPr>
        <p:spPr>
          <a:xfrm>
            <a:off x="548640" y="4833257"/>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4833257"/>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 B: C[i, j] = Σ A[i, k]·B[k, j], needs cols(A) = rows(B); A × B ≠ B × A.</a:t>
            </a:r>
            <a:endParaRPr lang="en-US" sz="1500" dirty="0"/>
          </a:p>
        </p:txBody>
      </p:sp>
      <p:sp>
        <p:nvSpPr>
          <p:cNvPr id="16" name="Text 14"/>
          <p:cNvSpPr txBox="1"/>
          <p:nvPr/>
        </p:nvSpPr>
        <p:spPr>
          <a:xfrm>
            <a:off x="548640" y="5434149"/>
            <a:ext cx="731520" cy="509451"/>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07</a:t>
            </a:r>
            <a:endParaRPr lang="en-US" sz="2000" dirty="0"/>
          </a:p>
        </p:txBody>
      </p:sp>
      <p:sp>
        <p:nvSpPr>
          <p:cNvPr id="17" name="Text 15"/>
          <p:cNvSpPr txBox="1"/>
          <p:nvPr/>
        </p:nvSpPr>
        <p:spPr>
          <a:xfrm>
            <a:off x="1325880" y="5434149"/>
            <a:ext cx="6675120" cy="509451"/>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Jagged int[][]: an array of rows, each with its own length.</a:t>
            </a:r>
            <a:endParaRPr lang="en-US" sz="1500" dirty="0"/>
          </a:p>
        </p:txBody>
      </p:sp>
      <p:sp>
        <p:nvSpPr>
          <p:cNvPr id="18" name="Shape 16"/>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9" name="Text 17"/>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20" name="Text 18"/>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Functions (methods): definition, calling, parameters</a:t>
            </a:r>
            <a:endParaRPr lang="en-US" sz="1800" dirty="0"/>
          </a:p>
        </p:txBody>
      </p:sp>
      <p:sp>
        <p:nvSpPr>
          <p:cNvPr id="21" name="Text 19"/>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2" name="Text 20"/>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4" name="Text 21"/>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11</a:t>
            </a:r>
            <a:endParaRPr lang="en-US" sz="1000" dirty="0"/>
          </a:p>
        </p:txBody>
      </p:sp>
      <p:sp>
        <p:nvSpPr>
          <p:cNvPr id="25" name="Text 22"/>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11 – Multi-Dimensional Arrays (Matrices)</dc:title>
  <dc:subject>PptxGenJS Presentation</dc:subject>
  <dc:creator>MCMP113</dc:creator>
  <cp:lastModifiedBy>MCMP113</cp:lastModifiedBy>
  <cp:revision>1</cp:revision>
  <dcterms:created xsi:type="dcterms:W3CDTF">2026-10-25T13:01:00Z</dcterms:created>
  <dcterms:modified xsi:type="dcterms:W3CDTF">2026-10-25T13:01:00Z</dcterms:modified>
</cp:coreProperties>
</file>