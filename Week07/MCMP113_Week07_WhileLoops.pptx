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(about 3 × 50 min). The terminal on the right is a real run of today's guess-the-number game (Example 9, seeded test run). Ask the class: how many guesses would YOU need for 1..100 in the worst case? (Answer from Week 1: 7 with halving.) Today we finally write loops whose number of passes is NOT known before the loop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Read the six outcomes quickly; point out that outcomes 4 and 5 are typical midterm questions (Week 8). Everything today uses only what we know so far: variables, operators, if/switch and loops. No arrays (Week 9) and no methods (Week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Recall the for loop: we know BEFORE the loop starts that it runs 10 times (counter-controlled). Then ask the three questions on the right. None of them has a number of passes known in advance: it depends on what the user types or on the data. Likely question: "Can I not just use for with a very big number?" Answer: you could combine for with break, but the intent becomes unclear; while states the stopping condition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Read the flowchart aloud: the diamond comes BEFORE the body, therefore "pre-test". If the condition is false at the very first test, the body is skipped completely: zero passes. Stress that something inside the body must eventually make the condition false (the "update"); otherwise we get an infinite loop (Part 4). Green arrow = repetition colour, same as in Week 1 and 2. Question to ask: where is the loop variable initialised? (Before the loop, never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Let students fill the table on paper first (2 min), then reveal. Key fact: the condition is tested one time MORE than the body runs (5 tests, 4 passes); the last test is the one that fails. After the loop, money = 1600 (not 1000!) because the loop stops only after passing the limit. Exam tip: in trace-table questions write a row for every test, including the final false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diamond is now AFTER the body: "post-test". The body runs once before any test, so it runs at least once. Syntax pitfalls: (1) the semicolon after while (condition); is required here, and missing it gives error CS1002 "; expected"; (2) variables declared INSIDE the do { } block are not visible in the while (...) condition, so declare them before the loop. Ask: which real situations need "at least once"? (Show a menu, ask for input, roll a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Both flowcharts use exactly the same boxes; only the position of the diamond differs. With i = 0 the while loop tests 0 &gt; 0, which is false, and prints nothing; the do-while prints 0 first and only then tests. This is exactly what Example 1 on the next slide shows with the input 0. For any start value ≥ 1 both loops print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Run the program live twice: input 3 and input 0. The for version comes last in the file (not shown on the slide; it is in the notes). For n = 3 all three loops agree. For n = 0 only do-while differs: it prints 0 before testing j &gt; 0. Ask: which version is correct for a countdown? (while/for: counting down from 0 should print nothing.) Take-away: do-while is not "better" or "worse"; it has a different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Colour the three parts on the board: init, condition, update. In the while version they move to three different places. Two differences: (1) in the for version k exists only inside the loop; in the while version k is still alive after the loop and equals 6. (2) If you later add a continue before k++ in the while version, the update is skipped and the loop never ends; in a for loop, continue still runs k++. Exercise: convert the Week 6 factorial for loop to a while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There is no loop that is always right: all three can express every repetition. We choose the one that makes the intent obvious to the reader. Counter-controlled = the number of passes is known before the loop starts. Condition-controlled = we repeat until something happens (a sentinel, valid input, a correct guess, a value reaching 1). Ask the class to classify: reading 30 student grades (for), reading grades until −1 (while), a menu (do-while).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A sentinel is a value that cannot be real data (a score of −1) and only means "stop". The pattern has two READs: the priming read before the loop and a second READ as the LAST statement of the body. Ask: what goes wrong if the READ is at the top of the body instead? (The −1 is added to the sum and counted.) The IF after the loop prevents division by zero when the first input is already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Map every pseudocode line from the previous slide to the C# code. The highest-score logic uses "count == 1 ||" so that the first score always becomes the record; this also works if all scores are 0 (initialising with 0 alone would too here, but not for negative data). Second run: typing −1 immediately gives "No scores entered." Without the if (count == 0) test, (double)0 / 0 is NaN and the program would print "Average: NaN". The rest of Program.cs (the if/else after the loop) is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do-while is natural here: we must ask at least once. The loop condition is the NEGATION of "valid": valid = ok AND 0 ≤ score ≤ 100, so we repeat while !ok || score &lt; 0 || score &gt; 100 (De Morgan, Week 4). Why test ok first? If TryParse fails, score is set to 0, which is in range; without !ok the text "abc" would be accepted as 0. Part (b) of the program (see notes) does the same with a while loop and a priming read. Note "1,75": with our invariant-culture template the comma is a thousands separator, so TryParse succeeds with 175 and the RANGE check rejects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Walk through the flowchart: the menu is shown, a choice is read, switch performs the action, and the loop repeats until the user chooses 0. do-while fits because the menu must appear at least once. Pitfall: int.TryParse sets choice to 0 when the text is not a number. Since 0 means Exit, typing "x" would silently end the program. That is why Example 4 sets choice = -1 when TryParse fails, so that the default case reports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The excerpt hides cases 1 and 2 (balance and deposit) to fit the slide; the full program is in the code folder and in the notes. Demo the run: deposit 500, try to withdraw 750 (insufficient funds), type x (unknown option), then 0 to exit. decimal is used for money (Week 3). Ask: what happens if the user types a negative deposit? (Rejected by the if (deposit &gt; 0) test.) Extension for strong students: add a transaction counter and print it at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This is Algorithm 5 of Week 1, now running. Compare the console table with the Week 1 trace table: identical. The loop invariant (Part 4): gcd(x, y) is the same before and after every pass, and when y reaches 0 the answer is x. LCM uses gcd × lcm = a × b. We divide first (a / gcd is exact) and use long, so that the product cannot overflow an int. Ask: what happens for a &lt; b, e.g. 18 and 48? (The first pass swaps them: 18 % 48 = 18.) The run is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Integer division and remainder were introduced in Week 4; now we repeat them in a loop. Do the trace on the board together: each row peels one digit off the right end of rest. reversed = reversed * 10 + digit shifts the digits already collected one place to the left and appends the new digit on the right. The loop stops when rest becomes 0; the number of passes equals the number of digits, which is not known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One loop computes all four results. Why do-while? The number 0 has one digit. A while (rest &gt; 0) loop would run zero times and report 0 digits. Why long for reversed? The reverse of 2147483647 (int.MaxValue) is 7463847412, which does not fit in an int; the notes show this run. We keep n unchanged and work on the copy rest, because we need n for the palindrome test. Numbers such as 1200 reverse to 21 because leading zeros vanish.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Same idea as digits, but base 2: rest % 2 is the last bit, rest / 2 drops it. The remainders appear from the least significant bit to the most significant, so each new bit is put on the LEFT of the string: binary = bit + binary. Check 13: 8 + 4 + 0 + 1 = 13. do-while makes the input 0 print "0" instead of an empty string. Convert.ToString(n, 2) is the built-in way; we use it only to check our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Rule: even → n / 2, odd → 3n + 1, stop at 1. For 6 it takes 8 steps; for 27 it takes 111 steps and climbs to 9232 before falling. The Collatz conjecture (Lothar Collatz, 1937) says every start value reaches 1. It has been checked by computer for enormous ranges but never proved. So this while loop is a real example where we cannot predict the number of passes, and nobody can yet prove that the loop always terminates. We use long because intermediate values can exceed the start value by far. The ?: operator (Week 5) chooses a line break every 10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while (true) looks like an infinite loop; the only exit is the break in the "Correct" branch. Use it when the stop decision is in the MIDDLE of the body. continue jumps straight back to the top: a non-numeric guess is reported but not counted as an attempt. Random.Shared.Next(1, 101) returns 1..100: the lower bound is included, the upper bound is excluded. A common bug is Next(1, 100), which can never produce 100. The excerpt hides the else-if branch that prints "Lower!"; it has the same shape as the "Higher!"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Random programs are hard to test because every run is different. For testing we temporarily replace the first line by new Random(42): with the same seed the generator produces the same sequence, and the secret is 67 in every run. The console shows such a test run. The guesses follow the halving strategy from Week 1: 50, 75, 62, 68, 65, 66, 67. Remove the seed again before "shipping" the game. Note: the exact numbers produced by a seed are an implementation detail of .NET, so do not rely on them across platforms or versions in real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program is given the secret and plays the halving strategy itself; this makes the run fully reproducible. Invariant: the secret is always inside low..high. Each wrong guess removes at least half of the range. The table was produced by running the program for every secret 1..100: never more than 7 guesses, 5.8 on average. This is binary search; in Week 10 we apply it to sorted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The loop has TWO ways to end: the flag granted becomes true, or the counter reaches MaxAttempts. Hence the &amp;&amp; in the condition. After the loop we must find out WHICH condition ended it; the if (granted) test does that. Note the else-if: after the third wrong try the program does not say "0 attempt(s) left" but reports the lock. Strings are compared with == in C# and the comparison is case-sensitive: "Okan2026" is wrong. Security aside: real systems never store plain passwords in the source code; this is only a loop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Compound interest each year: balance = balance · (1 + r/100). We do not know the number of years in advance, so while is the natural loop. Validation with do-while prevents rate = 0: with 0 % the balance never grows and the loop would never end. Also think about a deposit of 0: 0 &lt; 2·0 is false, so the loop runs zero times and the program prints 0 years. The rule of 72 (years ≈ 72 / r) is a quick mental estimate. At 5 % it says 14.4 years; the loop gives 15 because 1.05¹⁴ ≈ 1.980 &lt; 2 &lt; 1.05¹⁵ ≈ 2.079. The 5 % run is in the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Show one of these live and stop it with Ctrl+C (in the VS Code terminal) so that students see there is no reason to panic. (1) No update: i stays 1 forever. (2) The semicolon makes an empty loop body; the block below is NOT part of the loop. The compiler warns: CS0642 "Possible mistaken empty statement". (3) k is always odd, so k != 10 is always true; even after overflow k stays odd. (4) A 0 % rate never changes the balance, which is why Example 12 validates the rate. Debugging tip: print the loop variables inside the loop, or set a breakpoint.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Informal only: an invariant is a statement that is true before the loop, stays true after every pass, and together with the exit condition gives the result. Sum: before each test, sum = 1 + … + (i − 1). When the loop ends, i = n + 1, so sum = 1 + … + n. Euclid: gcd(x, y) never changes; at the end y = 0 and gcd(x, 0) = x. Halving: the secret is always in low..high; the range shrinks every pass, so the loop ends. Why care? It is how we convince ourselves (and the examiner) that a loop is correct, not just that it worked for one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Go through the table quickly; most of these appeared earlier today. The two compile errors (CS1002, CS0029) are the friendly ones: the compiler stops you. The others compile and run, which is why tracing and boundary tests (0, 1, the sentinel first, invalid text) matter. Ask students which of these they have already made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 min. Give 3 minutes on paper, individually, then 1 minute to compare with a neighbour. Answers on the next slide. Q2 is the classic trap: the condition is false from the start, but do-while runs once anyway. Q3: ask also for the number of passes, not only the printed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Q1: n goes 10 → 5 → 2 → 1; integer division 5 / 2 = 2. The condition is tested 4 times. Q2: one pass, even though 100 &lt; 50 is false from the start. Q3: m takes the values 3, 9, 27, 81, 243; the first value that is not &lt; 100 is 243, so it prints "243 5". Ask for a for-loop version of Q3: it would be awkward, because the number of passes is not obvious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min in total. E1 and E2 for everybody, E3 and E4 for fast pairs. Solutions are in the instructor edition of the notes. Walk around and check: priming read in E1, !ok in E2, a copy of n in E3, and the order of n++ and f *= n in E4. E4 answer: 10! = 3 628 800 is the first factorial above one million (9! = 362 880).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Collect the homework before the Week 8 review session. H4 is a good midterm-style question. Remind students that the midterm (Week 8) covers Weeks 1–7, including today: trace tables of while/do-while loops are very likely.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Summarise with the six take-aways. Next week is the midterm review with a practice exam; the midterm covers Weeks 1–7. Remind students to install nothing new; bring pen and paper for trace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7</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Loops: while and do-while</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Pre-test and post-test loops · sentinels · input validation · menus · number algorithms</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Your guess: 50</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Higher!</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Your guess: 75</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Lower!</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Your guess: 67</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Correct! 7 attempts.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LEARNING OBJECTIVES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By the end of this week you can …</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3566160"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2E9E6A"/>
          </a:solidFill>
          <a:ln w="12700">
            <a:solidFill>
              <a:srgbClr val="2E9E6A"/>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while loops</a:t>
            </a:r>
            <a:endParaRPr lang="en-US" sz="1700" dirty="0"/>
          </a:p>
        </p:txBody>
      </p:sp>
      <p:sp>
        <p:nvSpPr>
          <p:cNvPr id="11" name="Text 7"/>
          <p:cNvSpPr txBox="1"/>
          <p:nvPr/>
        </p:nvSpPr>
        <p:spPr>
          <a:xfrm>
            <a:off x="777240"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Pre-test loops: may run zero times. Trace them with a table.</a:t>
            </a:r>
            <a:endParaRPr lang="en-US" sz="1500" dirty="0"/>
          </a:p>
        </p:txBody>
      </p:sp>
      <p:sp>
        <p:nvSpPr>
          <p:cNvPr id="12" name="Shape 8"/>
          <p:cNvSpPr/>
          <p:nvPr/>
        </p:nvSpPr>
        <p:spPr>
          <a:xfrm>
            <a:off x="4315968" y="1645920"/>
            <a:ext cx="3566160"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4544568" y="1874520"/>
            <a:ext cx="566928" cy="566928"/>
          </a:xfrm>
          <a:prstGeom prst="ellipse">
            <a:avLst/>
          </a:prstGeom>
          <a:solidFill>
            <a:srgbClr val="2E9E6A"/>
          </a:solidFill>
          <a:ln w="12700">
            <a:solidFill>
              <a:srgbClr val="2E9E6A"/>
            </a:solidFill>
            <a:prstDash val="solid"/>
          </a:ln>
        </p:spPr>
      </p:sp>
      <p:pic>
        <p:nvPicPr>
          <p:cNvPr id="14" name="Image 1" descr="preencoded.png">    </p:cNvPr>
          <p:cNvPicPr>
            <a:picLocks noChangeAspect="1"/>
          </p:cNvPicPr>
          <p:nvPr/>
        </p:nvPicPr>
        <p:blipFill>
          <a:blip r:embed="rId2"/>
          <a:stretch>
            <a:fillRect/>
          </a:stretch>
        </p:blipFill>
        <p:spPr>
          <a:xfrm>
            <a:off x="4691969" y="2021921"/>
            <a:ext cx="272125" cy="272125"/>
          </a:xfrm>
          <a:prstGeom prst="rect">
            <a:avLst/>
          </a:prstGeom>
        </p:spPr>
      </p:pic>
      <p:sp>
        <p:nvSpPr>
          <p:cNvPr id="15" name="Text 10"/>
          <p:cNvSpPr txBox="1"/>
          <p:nvPr/>
        </p:nvSpPr>
        <p:spPr>
          <a:xfrm>
            <a:off x="5230368"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do-while loops</a:t>
            </a:r>
            <a:endParaRPr lang="en-US" sz="1700" dirty="0"/>
          </a:p>
        </p:txBody>
      </p:sp>
      <p:sp>
        <p:nvSpPr>
          <p:cNvPr id="16" name="Text 11"/>
          <p:cNvSpPr txBox="1"/>
          <p:nvPr/>
        </p:nvSpPr>
        <p:spPr>
          <a:xfrm>
            <a:off x="4544568"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Post-test loops: the body always runs at least once.</a:t>
            </a:r>
            <a:endParaRPr lang="en-US" sz="1500" dirty="0"/>
          </a:p>
        </p:txBody>
      </p:sp>
      <p:sp>
        <p:nvSpPr>
          <p:cNvPr id="17" name="Shape 12"/>
          <p:cNvSpPr/>
          <p:nvPr/>
        </p:nvSpPr>
        <p:spPr>
          <a:xfrm>
            <a:off x="8083296" y="1645920"/>
            <a:ext cx="3566160"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8311896"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8459297" y="2021921"/>
            <a:ext cx="272125" cy="272125"/>
          </a:xfrm>
          <a:prstGeom prst="rect">
            <a:avLst/>
          </a:prstGeom>
        </p:spPr>
      </p:pic>
      <p:sp>
        <p:nvSpPr>
          <p:cNvPr id="20" name="Text 14"/>
          <p:cNvSpPr txBox="1"/>
          <p:nvPr/>
        </p:nvSpPr>
        <p:spPr>
          <a:xfrm>
            <a:off x="8997696" y="187452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Choose the right loop</a:t>
            </a:r>
            <a:endParaRPr lang="en-US" sz="1700" dirty="0"/>
          </a:p>
        </p:txBody>
      </p:sp>
      <p:sp>
        <p:nvSpPr>
          <p:cNvPr id="21" name="Text 15"/>
          <p:cNvSpPr txBox="1"/>
          <p:nvPr/>
        </p:nvSpPr>
        <p:spPr>
          <a:xfrm>
            <a:off x="8311896" y="256032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Counter- vs condition-controlled; convert for ⇄ while.</a:t>
            </a:r>
            <a:endParaRPr lang="en-US" sz="1500" dirty="0"/>
          </a:p>
        </p:txBody>
      </p:sp>
      <p:sp>
        <p:nvSpPr>
          <p:cNvPr id="22" name="Shape 16"/>
          <p:cNvSpPr/>
          <p:nvPr/>
        </p:nvSpPr>
        <p:spPr>
          <a:xfrm>
            <a:off x="548640" y="3886200"/>
            <a:ext cx="3566160"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Validate input</a:t>
            </a:r>
            <a:endParaRPr lang="en-US" sz="1700" dirty="0"/>
          </a:p>
        </p:txBody>
      </p:sp>
      <p:sp>
        <p:nvSpPr>
          <p:cNvPr id="26" name="Text 19"/>
          <p:cNvSpPr txBox="1"/>
          <p:nvPr/>
        </p:nvSpPr>
        <p:spPr>
          <a:xfrm>
            <a:off x="777240"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Repeat until TryParse succeeds and the value is in range; menus.</a:t>
            </a:r>
            <a:endParaRPr lang="en-US" sz="1500" dirty="0"/>
          </a:p>
        </p:txBody>
      </p:sp>
      <p:sp>
        <p:nvSpPr>
          <p:cNvPr id="27" name="Shape 20"/>
          <p:cNvSpPr/>
          <p:nvPr/>
        </p:nvSpPr>
        <p:spPr>
          <a:xfrm>
            <a:off x="4315968" y="3886200"/>
            <a:ext cx="3566160"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4544568"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4691969" y="4262201"/>
            <a:ext cx="272125" cy="272125"/>
          </a:xfrm>
          <a:prstGeom prst="rect">
            <a:avLst/>
          </a:prstGeom>
        </p:spPr>
      </p:pic>
      <p:sp>
        <p:nvSpPr>
          <p:cNvPr id="30" name="Text 22"/>
          <p:cNvSpPr txBox="1"/>
          <p:nvPr/>
        </p:nvSpPr>
        <p:spPr>
          <a:xfrm>
            <a:off x="5230368"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Process numbers</a:t>
            </a:r>
            <a:endParaRPr lang="en-US" sz="1700" dirty="0"/>
          </a:p>
        </p:txBody>
      </p:sp>
      <p:sp>
        <p:nvSpPr>
          <p:cNvPr id="31" name="Text 23"/>
          <p:cNvSpPr txBox="1"/>
          <p:nvPr/>
        </p:nvSpPr>
        <p:spPr>
          <a:xfrm>
            <a:off x="4544568"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 10 and / 10 for digits, Euclid GCD/LCM, binary, Collatz.</a:t>
            </a:r>
            <a:endParaRPr lang="en-US" sz="1500" dirty="0"/>
          </a:p>
        </p:txBody>
      </p:sp>
      <p:sp>
        <p:nvSpPr>
          <p:cNvPr id="32" name="Shape 24"/>
          <p:cNvSpPr/>
          <p:nvPr/>
        </p:nvSpPr>
        <p:spPr>
          <a:xfrm>
            <a:off x="8083296" y="3886200"/>
            <a:ext cx="3566160"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831189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8459297" y="4262201"/>
            <a:ext cx="272125" cy="272125"/>
          </a:xfrm>
          <a:prstGeom prst="rect">
            <a:avLst/>
          </a:prstGeom>
        </p:spPr>
      </p:pic>
      <p:sp>
        <p:nvSpPr>
          <p:cNvPr id="35" name="Text 26"/>
          <p:cNvSpPr txBox="1"/>
          <p:nvPr/>
        </p:nvSpPr>
        <p:spPr>
          <a:xfrm>
            <a:off x="8997696" y="41148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Control the loop</a:t>
            </a:r>
            <a:endParaRPr lang="en-US" sz="1700" dirty="0"/>
          </a:p>
        </p:txBody>
      </p:sp>
      <p:sp>
        <p:nvSpPr>
          <p:cNvPr id="36" name="Text 27"/>
          <p:cNvSpPr txBox="1"/>
          <p:nvPr/>
        </p:nvSpPr>
        <p:spPr>
          <a:xfrm>
            <a:off x="8311896" y="4800600"/>
            <a:ext cx="3108960" cy="100584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while (true) + break, continue, infinite loops, loop invariants.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 · WEEK 6</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for loops count — but what if we cannot count?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5394960" cy="2697480"/>
          </a:xfrm>
          <a:prstGeom prst="roundRect">
            <a:avLst>
              <a:gd name="adj" fmla="val 3390"/>
            </a:avLst>
          </a:prstGeom>
          <a:solidFill>
            <a:srgbClr val="0F1729"/>
          </a:solidFill>
          <a:ln w="12700">
            <a:solidFill>
              <a:srgbClr val="0F1729"/>
            </a:solidFill>
            <a:prstDash val="solid"/>
          </a:ln>
        </p:spPr>
      </p:sp>
      <p:sp>
        <p:nvSpPr>
          <p:cNvPr id="8" name="Text 5"/>
          <p:cNvSpPr txBox="1"/>
          <p:nvPr/>
        </p:nvSpPr>
        <p:spPr>
          <a:xfrm>
            <a:off x="777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Counter-controlled loop</a:t>
            </a:r>
            <a:endParaRPr lang="en-US" sz="1100" dirty="0"/>
          </a:p>
        </p:txBody>
      </p:sp>
      <p:sp>
        <p:nvSpPr>
          <p:cNvPr id="9" name="Text 6"/>
          <p:cNvSpPr txBox="1"/>
          <p:nvPr/>
        </p:nvSpPr>
        <p:spPr>
          <a:xfrm>
            <a:off x="777240" y="2057400"/>
            <a:ext cx="4937760" cy="217627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Week 6: the number of passes is KNOWN</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sum += i;</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.WriteLine(sum);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55</a:t>
            </a:r>
            <a:endParaRPr lang="en-US" sz="1400" dirty="0"/>
          </a:p>
        </p:txBody>
      </p:sp>
      <p:sp>
        <p:nvSpPr>
          <p:cNvPr id="10" name="Shape 7"/>
          <p:cNvSpPr/>
          <p:nvPr/>
        </p:nvSpPr>
        <p:spPr>
          <a:xfrm>
            <a:off x="548640" y="4526280"/>
            <a:ext cx="5394960" cy="1508760"/>
          </a:xfrm>
          <a:prstGeom prst="roundRect">
            <a:avLst>
              <a:gd name="adj" fmla="val 7273"/>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006340"/>
            <a:ext cx="548640" cy="548640"/>
          </a:xfrm>
          <a:prstGeom prst="rect">
            <a:avLst/>
          </a:prstGeom>
        </p:spPr>
      </p:pic>
      <p:sp>
        <p:nvSpPr>
          <p:cNvPr id="12" name="Text 8"/>
          <p:cNvSpPr txBox="1"/>
          <p:nvPr/>
        </p:nvSpPr>
        <p:spPr>
          <a:xfrm>
            <a:off x="1645920" y="4599432"/>
            <a:ext cx="4023360" cy="13624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for = counter-controlled. </a:t>
            </a:r>
            <a:pPr indent="0" marL="0">
              <a:buNone/>
            </a:pPr>
            <a:r>
              <a:rPr lang="en-US" sz="1500" dirty="0">
                <a:solidFill>
                  <a:srgbClr val="333B4F"/>
                </a:solidFill>
                <a:latin typeface="Calibri" pitchFamily="34" charset="0"/>
                <a:ea typeface="Calibri" pitchFamily="34" charset="-122"/>
                <a:cs typeface="Calibri" pitchFamily="34" charset="-120"/>
              </a:rPr>
              <a:t>Start, end and step are known before the first pass: exactly 10 passes here.</a:t>
            </a:r>
            <a:endParaRPr lang="en-US" sz="1500" dirty="0"/>
          </a:p>
        </p:txBody>
      </p:sp>
      <p:sp>
        <p:nvSpPr>
          <p:cNvPr id="13" name="Text 9"/>
          <p:cNvSpPr txBox="1"/>
          <p:nvPr/>
        </p:nvSpPr>
        <p:spPr>
          <a:xfrm>
            <a:off x="6263640" y="1645920"/>
            <a:ext cx="5394960" cy="411480"/>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How many passes will these need?</a:t>
            </a:r>
            <a:endParaRPr lang="en-US" sz="1900" dirty="0"/>
          </a:p>
        </p:txBody>
      </p:sp>
      <p:sp>
        <p:nvSpPr>
          <p:cNvPr id="14" name="Shape 10"/>
          <p:cNvSpPr/>
          <p:nvPr/>
        </p:nvSpPr>
        <p:spPr>
          <a:xfrm>
            <a:off x="6263640" y="2148840"/>
            <a:ext cx="5394960" cy="914400"/>
          </a:xfrm>
          <a:prstGeom prst="roundRect">
            <a:avLst>
              <a:gd name="adj" fmla="val 12000"/>
            </a:avLst>
          </a:prstGeom>
          <a:solidFill>
            <a:srgbClr val="EEF1F6"/>
          </a:solidFill>
          <a:ln w="12700">
            <a:solidFill>
              <a:srgbClr val="EEF1F6"/>
            </a:solidFill>
            <a:prstDash val="solid"/>
          </a:ln>
        </p:spPr>
      </p:sp>
      <p:sp>
        <p:nvSpPr>
          <p:cNvPr id="15" name="Shape 11"/>
          <p:cNvSpPr/>
          <p:nvPr/>
        </p:nvSpPr>
        <p:spPr>
          <a:xfrm>
            <a:off x="6446520" y="2331720"/>
            <a:ext cx="548640" cy="548640"/>
          </a:xfrm>
          <a:prstGeom prst="ellipse">
            <a:avLst/>
          </a:prstGeom>
          <a:solidFill>
            <a:srgbClr val="EEF1F6"/>
          </a:solidFill>
          <a:ln w="12700">
            <a:solidFill>
              <a:srgbClr val="EEF1F6"/>
            </a:solidFill>
            <a:prstDash val="solid"/>
          </a:ln>
        </p:spPr>
      </p:sp>
      <p:pic>
        <p:nvPicPr>
          <p:cNvPr id="16" name="Image 1" descr="preencoded.png">    </p:cNvPr>
          <p:cNvPicPr>
            <a:picLocks noChangeAspect="1"/>
          </p:cNvPicPr>
          <p:nvPr/>
        </p:nvPicPr>
        <p:blipFill>
          <a:blip r:embed="rId2"/>
          <a:stretch>
            <a:fillRect/>
          </a:stretch>
        </p:blipFill>
        <p:spPr>
          <a:xfrm>
            <a:off x="6589166" y="2474366"/>
            <a:ext cx="263347" cy="263347"/>
          </a:xfrm>
          <a:prstGeom prst="rect">
            <a:avLst/>
          </a:prstGeom>
        </p:spPr>
      </p:pic>
      <p:sp>
        <p:nvSpPr>
          <p:cNvPr id="17" name="Text 12"/>
          <p:cNvSpPr txBox="1"/>
          <p:nvPr/>
        </p:nvSpPr>
        <p:spPr>
          <a:xfrm>
            <a:off x="7178040" y="2203704"/>
            <a:ext cx="4343400" cy="8046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Class average</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The teacher types scores until she types −1.</a:t>
            </a:r>
            <a:endParaRPr lang="en-US" sz="1500" dirty="0"/>
          </a:p>
        </p:txBody>
      </p:sp>
      <p:sp>
        <p:nvSpPr>
          <p:cNvPr id="18" name="Shape 13"/>
          <p:cNvSpPr/>
          <p:nvPr/>
        </p:nvSpPr>
        <p:spPr>
          <a:xfrm>
            <a:off x="6263640" y="3154680"/>
            <a:ext cx="5394960" cy="914400"/>
          </a:xfrm>
          <a:prstGeom prst="roundRect">
            <a:avLst>
              <a:gd name="adj" fmla="val 12000"/>
            </a:avLst>
          </a:prstGeom>
          <a:solidFill>
            <a:srgbClr val="EEF1F6"/>
          </a:solidFill>
          <a:ln w="12700">
            <a:solidFill>
              <a:srgbClr val="EEF1F6"/>
            </a:solidFill>
            <a:prstDash val="solid"/>
          </a:ln>
        </p:spPr>
      </p:sp>
      <p:sp>
        <p:nvSpPr>
          <p:cNvPr id="19" name="Shape 14"/>
          <p:cNvSpPr/>
          <p:nvPr/>
        </p:nvSpPr>
        <p:spPr>
          <a:xfrm>
            <a:off x="6446520" y="3337560"/>
            <a:ext cx="548640" cy="548640"/>
          </a:xfrm>
          <a:prstGeom prst="ellipse">
            <a:avLst/>
          </a:prstGeom>
          <a:solidFill>
            <a:srgbClr val="EEF1F6"/>
          </a:solidFill>
          <a:ln w="12700">
            <a:solidFill>
              <a:srgbClr val="EEF1F6"/>
            </a:solidFill>
            <a:prstDash val="solid"/>
          </a:ln>
        </p:spPr>
      </p:sp>
      <p:pic>
        <p:nvPicPr>
          <p:cNvPr id="20" name="Image 2" descr="preencoded.png">    </p:cNvPr>
          <p:cNvPicPr>
            <a:picLocks noChangeAspect="1"/>
          </p:cNvPicPr>
          <p:nvPr/>
        </p:nvPicPr>
        <p:blipFill>
          <a:blip r:embed="rId3"/>
          <a:stretch>
            <a:fillRect/>
          </a:stretch>
        </p:blipFill>
        <p:spPr>
          <a:xfrm>
            <a:off x="6589166" y="3480206"/>
            <a:ext cx="263347" cy="263347"/>
          </a:xfrm>
          <a:prstGeom prst="rect">
            <a:avLst/>
          </a:prstGeom>
        </p:spPr>
      </p:pic>
      <p:sp>
        <p:nvSpPr>
          <p:cNvPr id="21" name="Text 15"/>
          <p:cNvSpPr txBox="1"/>
          <p:nvPr/>
        </p:nvSpPr>
        <p:spPr>
          <a:xfrm>
            <a:off x="7178040" y="3209544"/>
            <a:ext cx="4343400" cy="8046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Guess the number</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The game goes on until the guess is correct.</a:t>
            </a:r>
            <a:endParaRPr lang="en-US" sz="1500" dirty="0"/>
          </a:p>
        </p:txBody>
      </p:sp>
      <p:sp>
        <p:nvSpPr>
          <p:cNvPr id="22" name="Shape 16"/>
          <p:cNvSpPr/>
          <p:nvPr/>
        </p:nvSpPr>
        <p:spPr>
          <a:xfrm>
            <a:off x="6263640" y="4160520"/>
            <a:ext cx="5394960" cy="914400"/>
          </a:xfrm>
          <a:prstGeom prst="roundRect">
            <a:avLst>
              <a:gd name="adj" fmla="val 12000"/>
            </a:avLst>
          </a:prstGeom>
          <a:solidFill>
            <a:srgbClr val="EEF1F6"/>
          </a:solidFill>
          <a:ln w="12700">
            <a:solidFill>
              <a:srgbClr val="EEF1F6"/>
            </a:solidFill>
            <a:prstDash val="solid"/>
          </a:ln>
        </p:spPr>
      </p:sp>
      <p:sp>
        <p:nvSpPr>
          <p:cNvPr id="23" name="Shape 17"/>
          <p:cNvSpPr/>
          <p:nvPr/>
        </p:nvSpPr>
        <p:spPr>
          <a:xfrm>
            <a:off x="6446520" y="4343400"/>
            <a:ext cx="548640" cy="548640"/>
          </a:xfrm>
          <a:prstGeom prst="ellipse">
            <a:avLst/>
          </a:prstGeom>
          <a:solidFill>
            <a:srgbClr val="EEF1F6"/>
          </a:solidFill>
          <a:ln w="12700">
            <a:solidFill>
              <a:srgbClr val="EEF1F6"/>
            </a:solidFill>
            <a:prstDash val="solid"/>
          </a:ln>
        </p:spPr>
      </p:sp>
      <p:pic>
        <p:nvPicPr>
          <p:cNvPr id="24" name="Image 3" descr="preencoded.png">    </p:cNvPr>
          <p:cNvPicPr>
            <a:picLocks noChangeAspect="1"/>
          </p:cNvPicPr>
          <p:nvPr/>
        </p:nvPicPr>
        <p:blipFill>
          <a:blip r:embed="rId4"/>
          <a:stretch>
            <a:fillRect/>
          </a:stretch>
        </p:blipFill>
        <p:spPr>
          <a:xfrm>
            <a:off x="6589166" y="4486046"/>
            <a:ext cx="263347" cy="263347"/>
          </a:xfrm>
          <a:prstGeom prst="rect">
            <a:avLst/>
          </a:prstGeom>
        </p:spPr>
      </p:pic>
      <p:sp>
        <p:nvSpPr>
          <p:cNvPr id="25" name="Text 18"/>
          <p:cNvSpPr txBox="1"/>
          <p:nvPr/>
        </p:nvSpPr>
        <p:spPr>
          <a:xfrm>
            <a:off x="7178040" y="4215384"/>
            <a:ext cx="4343400" cy="8046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Savings account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How many years until 10 000 TL doubles?</a:t>
            </a:r>
            <a:endParaRPr lang="en-US" sz="1500" dirty="0"/>
          </a:p>
        </p:txBody>
      </p:sp>
      <p:sp>
        <p:nvSpPr>
          <p:cNvPr id="26" name="Shape 19"/>
          <p:cNvSpPr/>
          <p:nvPr/>
        </p:nvSpPr>
        <p:spPr>
          <a:xfrm>
            <a:off x="6263640" y="5212080"/>
            <a:ext cx="5394960" cy="822960"/>
          </a:xfrm>
          <a:prstGeom prst="roundRect">
            <a:avLst>
              <a:gd name="adj" fmla="val 13333"/>
            </a:avLst>
          </a:prstGeom>
          <a:solidFill>
            <a:srgbClr val="E6F4EC"/>
          </a:solidFill>
          <a:ln w="12700">
            <a:solidFill>
              <a:srgbClr val="E6F4EC"/>
            </a:solidFill>
            <a:prstDash val="solid"/>
          </a:ln>
        </p:spPr>
      </p:sp>
      <p:sp>
        <p:nvSpPr>
          <p:cNvPr id="27" name="Text 20"/>
          <p:cNvSpPr txBox="1"/>
          <p:nvPr/>
        </p:nvSpPr>
        <p:spPr>
          <a:xfrm>
            <a:off x="6446520" y="5212080"/>
            <a:ext cx="5029200" cy="82296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Unknown in advance → </a:t>
            </a:r>
            <a:pPr indent="0" marL="0">
              <a:buNone/>
            </a:pPr>
            <a:r>
              <a:rPr lang="en-US" sz="1700" b="1" dirty="0">
                <a:solidFill>
                  <a:srgbClr val="2E9E6A"/>
                </a:solidFill>
                <a:latin typeface="Courier New" pitchFamily="34" charset="0"/>
                <a:ea typeface="Courier New" pitchFamily="34" charset="-122"/>
                <a:cs typeface="Courier New" pitchFamily="34" charset="-120"/>
              </a:rPr>
              <a:t>while</a:t>
            </a:r>
            <a:pPr indent="0" marL="0">
              <a:buNone/>
            </a:pPr>
            <a:r>
              <a:rPr lang="en-US" sz="1700" dirty="0">
                <a:solidFill>
                  <a:srgbClr val="14213D"/>
                </a:solidFill>
                <a:latin typeface="Calibri" pitchFamily="34" charset="0"/>
                <a:ea typeface="Calibri" pitchFamily="34" charset="-122"/>
                <a:cs typeface="Calibri" pitchFamily="34" charset="-120"/>
              </a:rPr>
              <a:t> / </a:t>
            </a:r>
            <a:pPr indent="0" marL="0">
              <a:buNone/>
            </a:pPr>
            <a:r>
              <a:rPr lang="en-US" sz="1700" b="1" dirty="0">
                <a:solidFill>
                  <a:srgbClr val="2E9E6A"/>
                </a:solidFill>
                <a:latin typeface="Courier New" pitchFamily="34" charset="0"/>
                <a:ea typeface="Courier New" pitchFamily="34" charset="-122"/>
                <a:cs typeface="Courier New" pitchFamily="34" charset="-120"/>
              </a:rPr>
              <a:t>do-while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while and do-while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Pre-test and post-test loops · flowcharts · trace tables · for ⇄ while</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7</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WHILE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while: test first, then run the body</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645920"/>
            <a:ext cx="5303520" cy="2331720"/>
          </a:xfrm>
          <a:prstGeom prst="roundRect">
            <a:avLst>
              <a:gd name="adj" fmla="val 3922"/>
            </a:avLst>
          </a:prstGeom>
          <a:solidFill>
            <a:srgbClr val="0F1729"/>
          </a:solidFill>
          <a:ln w="12700">
            <a:solidFill>
              <a:srgbClr val="0F1729"/>
            </a:solidFill>
            <a:prstDash val="solid"/>
          </a:ln>
        </p:spPr>
      </p:sp>
      <p:sp>
        <p:nvSpPr>
          <p:cNvPr id="8" name="Text 5"/>
          <p:cNvSpPr txBox="1"/>
          <p:nvPr/>
        </p:nvSpPr>
        <p:spPr>
          <a:xfrm>
            <a:off x="777240" y="1755648"/>
            <a:ext cx="4846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Syntax</a:t>
            </a:r>
            <a:endParaRPr lang="en-US" sz="1100" dirty="0"/>
          </a:p>
        </p:txBody>
      </p:sp>
      <p:sp>
        <p:nvSpPr>
          <p:cNvPr id="9" name="Text 6"/>
          <p:cNvSpPr txBox="1"/>
          <p:nvPr/>
        </p:nvSpPr>
        <p:spPr>
          <a:xfrm>
            <a:off x="777240" y="2057400"/>
            <a:ext cx="4846320" cy="181051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(condition)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body: runs again and again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as long as condition is true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next statement after the loop</a:t>
            </a:r>
            <a:endParaRPr lang="en-US" sz="1400" dirty="0"/>
          </a:p>
        </p:txBody>
      </p:sp>
      <p:sp>
        <p:nvSpPr>
          <p:cNvPr id="10" name="Shape 7"/>
          <p:cNvSpPr/>
          <p:nvPr/>
        </p:nvSpPr>
        <p:spPr>
          <a:xfrm>
            <a:off x="548640" y="4114800"/>
            <a:ext cx="5303520" cy="566928"/>
          </a:xfrm>
          <a:prstGeom prst="roundRect">
            <a:avLst>
              <a:gd name="adj" fmla="val 19355"/>
            </a:avLst>
          </a:prstGeom>
          <a:solidFill>
            <a:srgbClr val="EEF1F6"/>
          </a:solidFill>
          <a:ln w="12700">
            <a:solidFill>
              <a:srgbClr val="EEF1F6"/>
            </a:solidFill>
            <a:prstDash val="solid"/>
          </a:ln>
        </p:spPr>
      </p:sp>
      <p:sp>
        <p:nvSpPr>
          <p:cNvPr id="11" name="Shape 8"/>
          <p:cNvSpPr/>
          <p:nvPr/>
        </p:nvSpPr>
        <p:spPr>
          <a:xfrm>
            <a:off x="685800" y="4206240"/>
            <a:ext cx="384048" cy="384048"/>
          </a:xfrm>
          <a:prstGeom prst="ellipse">
            <a:avLst/>
          </a:prstGeom>
          <a:solidFill>
            <a:srgbClr val="14213D"/>
          </a:solidFill>
          <a:ln w="12700">
            <a:solidFill>
              <a:srgbClr val="14213D"/>
            </a:solidFill>
            <a:prstDash val="solid"/>
          </a:ln>
        </p:spPr>
      </p:sp>
      <p:sp>
        <p:nvSpPr>
          <p:cNvPr id="12" name="Text 9"/>
          <p:cNvSpPr txBox="1"/>
          <p:nvPr/>
        </p:nvSpPr>
        <p:spPr>
          <a:xfrm>
            <a:off x="68580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1188720" y="4114800"/>
            <a:ext cx="4572000" cy="566928"/>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Test the condition (a bool expression).</a:t>
            </a:r>
            <a:endParaRPr lang="en-US" sz="1400" dirty="0"/>
          </a:p>
        </p:txBody>
      </p:sp>
      <p:sp>
        <p:nvSpPr>
          <p:cNvPr id="14" name="Shape 11"/>
          <p:cNvSpPr/>
          <p:nvPr/>
        </p:nvSpPr>
        <p:spPr>
          <a:xfrm>
            <a:off x="548640" y="4773168"/>
            <a:ext cx="5303520" cy="566928"/>
          </a:xfrm>
          <a:prstGeom prst="roundRect">
            <a:avLst>
              <a:gd name="adj" fmla="val 19355"/>
            </a:avLst>
          </a:prstGeom>
          <a:solidFill>
            <a:srgbClr val="EEF1F6"/>
          </a:solidFill>
          <a:ln w="12700">
            <a:solidFill>
              <a:srgbClr val="EEF1F6"/>
            </a:solidFill>
            <a:prstDash val="solid"/>
          </a:ln>
        </p:spPr>
      </p:sp>
      <p:sp>
        <p:nvSpPr>
          <p:cNvPr id="15" name="Shape 12"/>
          <p:cNvSpPr/>
          <p:nvPr/>
        </p:nvSpPr>
        <p:spPr>
          <a:xfrm>
            <a:off x="685800" y="4864608"/>
            <a:ext cx="384048" cy="384048"/>
          </a:xfrm>
          <a:prstGeom prst="ellipse">
            <a:avLst/>
          </a:prstGeom>
          <a:solidFill>
            <a:srgbClr val="2E9E6A"/>
          </a:solidFill>
          <a:ln w="12700">
            <a:solidFill>
              <a:srgbClr val="2E9E6A"/>
            </a:solidFill>
            <a:prstDash val="solid"/>
          </a:ln>
        </p:spPr>
      </p:sp>
      <p:sp>
        <p:nvSpPr>
          <p:cNvPr id="16" name="Text 13"/>
          <p:cNvSpPr txBox="1"/>
          <p:nvPr/>
        </p:nvSpPr>
        <p:spPr>
          <a:xfrm>
            <a:off x="68580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1188720" y="4773168"/>
            <a:ext cx="4572000" cy="566928"/>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true → run the body once, then go back to 1.</a:t>
            </a:r>
            <a:endParaRPr lang="en-US" sz="1400" dirty="0"/>
          </a:p>
        </p:txBody>
      </p:sp>
      <p:sp>
        <p:nvSpPr>
          <p:cNvPr id="18" name="Shape 15"/>
          <p:cNvSpPr/>
          <p:nvPr/>
        </p:nvSpPr>
        <p:spPr>
          <a:xfrm>
            <a:off x="548640" y="5431536"/>
            <a:ext cx="5303520" cy="566928"/>
          </a:xfrm>
          <a:prstGeom prst="roundRect">
            <a:avLst>
              <a:gd name="adj" fmla="val 19355"/>
            </a:avLst>
          </a:prstGeom>
          <a:solidFill>
            <a:srgbClr val="EEF1F6"/>
          </a:solidFill>
          <a:ln w="12700">
            <a:solidFill>
              <a:srgbClr val="EEF1F6"/>
            </a:solidFill>
            <a:prstDash val="solid"/>
          </a:ln>
        </p:spPr>
      </p:sp>
      <p:sp>
        <p:nvSpPr>
          <p:cNvPr id="19" name="Shape 16"/>
          <p:cNvSpPr/>
          <p:nvPr/>
        </p:nvSpPr>
        <p:spPr>
          <a:xfrm>
            <a:off x="685800" y="5522976"/>
            <a:ext cx="384048" cy="384048"/>
          </a:xfrm>
          <a:prstGeom prst="ellipse">
            <a:avLst/>
          </a:prstGeom>
          <a:solidFill>
            <a:srgbClr val="C8453B"/>
          </a:solidFill>
          <a:ln w="12700">
            <a:solidFill>
              <a:srgbClr val="C8453B"/>
            </a:solidFill>
            <a:prstDash val="solid"/>
          </a:ln>
        </p:spPr>
      </p:sp>
      <p:sp>
        <p:nvSpPr>
          <p:cNvPr id="20" name="Text 17"/>
          <p:cNvSpPr txBox="1"/>
          <p:nvPr/>
        </p:nvSpPr>
        <p:spPr>
          <a:xfrm>
            <a:off x="685800" y="55229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188720" y="5431536"/>
            <a:ext cx="4572000" cy="566928"/>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false → continue after the loop.</a:t>
            </a:r>
            <a:endParaRPr lang="en-US" sz="1400" dirty="0"/>
          </a:p>
        </p:txBody>
      </p:sp>
      <p:sp>
        <p:nvSpPr>
          <p:cNvPr id="22" name="Shape 19"/>
          <p:cNvSpPr/>
          <p:nvPr/>
        </p:nvSpPr>
        <p:spPr>
          <a:xfrm>
            <a:off x="6400800" y="1828800"/>
            <a:ext cx="1828800" cy="457200"/>
          </a:xfrm>
          <a:prstGeom prst="flowChartProcess">
            <a:avLst/>
          </a:prstGeom>
          <a:solidFill>
            <a:srgbClr val="FFFFFF"/>
          </a:solidFill>
          <a:ln w="15875">
            <a:solidFill>
              <a:srgbClr val="14213D"/>
            </a:solidFill>
            <a:prstDash val="solid"/>
          </a:ln>
        </p:spPr>
      </p:sp>
      <p:sp>
        <p:nvSpPr>
          <p:cNvPr id="23" name="Text 20"/>
          <p:cNvSpPr txBox="1"/>
          <p:nvPr/>
        </p:nvSpPr>
        <p:spPr>
          <a:xfrm>
            <a:off x="6446520" y="1828800"/>
            <a:ext cx="17373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initialise variables</a:t>
            </a:r>
            <a:endParaRPr lang="en-US" sz="1300" dirty="0"/>
          </a:p>
        </p:txBody>
      </p:sp>
      <p:sp>
        <p:nvSpPr>
          <p:cNvPr id="24" name="Shape 21"/>
          <p:cNvSpPr/>
          <p:nvPr/>
        </p:nvSpPr>
        <p:spPr>
          <a:xfrm>
            <a:off x="6309360" y="2811780"/>
            <a:ext cx="2011680" cy="868680"/>
          </a:xfrm>
          <a:prstGeom prst="flowChartDecision">
            <a:avLst/>
          </a:prstGeom>
          <a:solidFill>
            <a:srgbClr val="E3ECF8"/>
          </a:solidFill>
          <a:ln w="15875">
            <a:solidFill>
              <a:srgbClr val="14213D"/>
            </a:solidFill>
            <a:prstDash val="solid"/>
          </a:ln>
        </p:spPr>
      </p:sp>
      <p:sp>
        <p:nvSpPr>
          <p:cNvPr id="25" name="Text 22"/>
          <p:cNvSpPr txBox="1"/>
          <p:nvPr/>
        </p:nvSpPr>
        <p:spPr>
          <a:xfrm>
            <a:off x="6355080" y="2811780"/>
            <a:ext cx="1920240" cy="8686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26" name="Shape 23"/>
          <p:cNvSpPr/>
          <p:nvPr/>
        </p:nvSpPr>
        <p:spPr>
          <a:xfrm>
            <a:off x="8823960" y="2926080"/>
            <a:ext cx="2103120" cy="640080"/>
          </a:xfrm>
          <a:prstGeom prst="flowChartProcess">
            <a:avLst/>
          </a:prstGeom>
          <a:solidFill>
            <a:srgbClr val="FFFFFF"/>
          </a:solidFill>
          <a:ln w="15875">
            <a:solidFill>
              <a:srgbClr val="14213D"/>
            </a:solidFill>
            <a:prstDash val="solid"/>
          </a:ln>
        </p:spPr>
      </p:sp>
      <p:sp>
        <p:nvSpPr>
          <p:cNvPr id="27" name="Text 24"/>
          <p:cNvSpPr txBox="1"/>
          <p:nvPr/>
        </p:nvSpPr>
        <p:spPr>
          <a:xfrm>
            <a:off x="8869680" y="2926080"/>
            <a:ext cx="201168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body</a:t>
            </a:r>
            <a:endParaRPr lang="en-US" sz="1300" dirty="0"/>
          </a:p>
          <a:p>
            <a:pPr algn="ctr" indent="0" marL="0">
              <a:buNone/>
            </a:pPr>
            <a:r>
              <a:rPr lang="en-US" sz="1300" dirty="0">
                <a:solidFill>
                  <a:srgbClr val="14213D"/>
                </a:solidFill>
                <a:latin typeface="Calibri" pitchFamily="34" charset="0"/>
                <a:ea typeface="Calibri" pitchFamily="34" charset="-122"/>
                <a:cs typeface="Calibri" pitchFamily="34" charset="-120"/>
              </a:rPr>
              <a:t>(includes the update)</a:t>
            </a:r>
            <a:endParaRPr lang="en-US" sz="1300" dirty="0"/>
          </a:p>
        </p:txBody>
      </p:sp>
      <p:sp>
        <p:nvSpPr>
          <p:cNvPr id="28" name="Shape 25"/>
          <p:cNvSpPr/>
          <p:nvPr/>
        </p:nvSpPr>
        <p:spPr>
          <a:xfrm>
            <a:off x="6400800" y="4251960"/>
            <a:ext cx="1828800" cy="457200"/>
          </a:xfrm>
          <a:prstGeom prst="flowChartProcess">
            <a:avLst/>
          </a:prstGeom>
          <a:solidFill>
            <a:srgbClr val="FFFFFF"/>
          </a:solidFill>
          <a:ln w="15875">
            <a:solidFill>
              <a:srgbClr val="14213D"/>
            </a:solidFill>
            <a:prstDash val="solid"/>
          </a:ln>
        </p:spPr>
      </p:sp>
      <p:sp>
        <p:nvSpPr>
          <p:cNvPr id="29" name="Text 26"/>
          <p:cNvSpPr txBox="1"/>
          <p:nvPr/>
        </p:nvSpPr>
        <p:spPr>
          <a:xfrm>
            <a:off x="6446520" y="4251960"/>
            <a:ext cx="17373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next statement</a:t>
            </a:r>
            <a:endParaRPr lang="en-US" sz="1300" dirty="0"/>
          </a:p>
        </p:txBody>
      </p:sp>
      <p:sp>
        <p:nvSpPr>
          <p:cNvPr id="30" name="Shape 27"/>
          <p:cNvSpPr/>
          <p:nvPr/>
        </p:nvSpPr>
        <p:spPr>
          <a:xfrm>
            <a:off x="7315200" y="2286000"/>
            <a:ext cx="0" cy="525780"/>
          </a:xfrm>
          <a:prstGeom prst="line">
            <a:avLst/>
          </a:prstGeom>
          <a:noFill/>
          <a:ln w="15875">
            <a:solidFill>
              <a:srgbClr val="14213D"/>
            </a:solidFill>
            <a:prstDash val="solid"/>
            <a:tailEnd type="triangle"/>
          </a:ln>
        </p:spPr>
      </p:sp>
      <p:sp>
        <p:nvSpPr>
          <p:cNvPr id="31" name="Shape 28"/>
          <p:cNvSpPr/>
          <p:nvPr/>
        </p:nvSpPr>
        <p:spPr>
          <a:xfrm>
            <a:off x="8321040" y="3246120"/>
            <a:ext cx="502920" cy="0"/>
          </a:xfrm>
          <a:prstGeom prst="line">
            <a:avLst/>
          </a:prstGeom>
          <a:noFill/>
          <a:ln w="15875">
            <a:solidFill>
              <a:srgbClr val="14213D"/>
            </a:solidFill>
            <a:prstDash val="solid"/>
            <a:tailEnd type="triangle"/>
          </a:ln>
        </p:spPr>
      </p:sp>
      <p:sp>
        <p:nvSpPr>
          <p:cNvPr id="32" name="Shape 29"/>
          <p:cNvSpPr/>
          <p:nvPr/>
        </p:nvSpPr>
        <p:spPr>
          <a:xfrm>
            <a:off x="7315200" y="3680460"/>
            <a:ext cx="0" cy="571500"/>
          </a:xfrm>
          <a:prstGeom prst="line">
            <a:avLst/>
          </a:prstGeom>
          <a:noFill/>
          <a:ln w="15875">
            <a:solidFill>
              <a:srgbClr val="14213D"/>
            </a:solidFill>
            <a:prstDash val="solid"/>
            <a:tailEnd type="triangle"/>
          </a:ln>
        </p:spPr>
      </p:sp>
      <p:sp>
        <p:nvSpPr>
          <p:cNvPr id="33" name="Shape 30"/>
          <p:cNvSpPr/>
          <p:nvPr/>
        </p:nvSpPr>
        <p:spPr>
          <a:xfrm flipV="1">
            <a:off x="9875520" y="2542032"/>
            <a:ext cx="0" cy="384048"/>
          </a:xfrm>
          <a:prstGeom prst="line">
            <a:avLst/>
          </a:prstGeom>
          <a:noFill/>
          <a:ln w="15875">
            <a:solidFill>
              <a:srgbClr val="2E9E6A"/>
            </a:solidFill>
            <a:prstDash val="solid"/>
          </a:ln>
        </p:spPr>
      </p:sp>
      <p:sp>
        <p:nvSpPr>
          <p:cNvPr id="34" name="Shape 31"/>
          <p:cNvSpPr/>
          <p:nvPr/>
        </p:nvSpPr>
        <p:spPr>
          <a:xfrm flipH="1">
            <a:off x="7315200" y="2542032"/>
            <a:ext cx="2560320" cy="0"/>
          </a:xfrm>
          <a:prstGeom prst="line">
            <a:avLst/>
          </a:prstGeom>
          <a:noFill/>
          <a:ln w="15875">
            <a:solidFill>
              <a:srgbClr val="2E9E6A"/>
            </a:solidFill>
            <a:prstDash val="solid"/>
            <a:tailEnd type="triangle"/>
          </a:ln>
        </p:spPr>
      </p:sp>
      <p:sp>
        <p:nvSpPr>
          <p:cNvPr id="35" name="Text 32"/>
          <p:cNvSpPr txBox="1"/>
          <p:nvPr/>
        </p:nvSpPr>
        <p:spPr>
          <a:xfrm>
            <a:off x="8366760" y="2971800"/>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true</a:t>
            </a:r>
            <a:endParaRPr lang="en-US" sz="1100" dirty="0"/>
          </a:p>
        </p:txBody>
      </p:sp>
      <p:sp>
        <p:nvSpPr>
          <p:cNvPr id="36" name="Text 33"/>
          <p:cNvSpPr txBox="1"/>
          <p:nvPr/>
        </p:nvSpPr>
        <p:spPr>
          <a:xfrm>
            <a:off x="7388352" y="3680460"/>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false</a:t>
            </a:r>
            <a:endParaRPr lang="en-US" sz="1100" dirty="0"/>
          </a:p>
        </p:txBody>
      </p:sp>
      <p:sp>
        <p:nvSpPr>
          <p:cNvPr id="37" name="Shape 34"/>
          <p:cNvSpPr/>
          <p:nvPr/>
        </p:nvSpPr>
        <p:spPr>
          <a:xfrm>
            <a:off x="6309360" y="5257800"/>
            <a:ext cx="5349240" cy="777240"/>
          </a:xfrm>
          <a:prstGeom prst="roundRect">
            <a:avLst>
              <a:gd name="adj" fmla="val 14118"/>
            </a:avLst>
          </a:prstGeom>
          <a:solidFill>
            <a:srgbClr val="E6F4EC"/>
          </a:solidFill>
          <a:ln w="12700">
            <a:solidFill>
              <a:srgbClr val="E6F4EC"/>
            </a:solidFill>
            <a:prstDash val="solid"/>
          </a:ln>
        </p:spPr>
      </p:sp>
      <p:sp>
        <p:nvSpPr>
          <p:cNvPr id="38" name="Text 35"/>
          <p:cNvSpPr txBox="1"/>
          <p:nvPr/>
        </p:nvSpPr>
        <p:spPr>
          <a:xfrm>
            <a:off x="6492240" y="5257800"/>
            <a:ext cx="5029200" cy="777240"/>
          </a:xfrm>
          <a:prstGeom prst="rect">
            <a:avLst/>
          </a:prstGeom>
          <a:noFill/>
          <a:ln/>
        </p:spPr>
        <p:txBody>
          <a:bodyPr wrap="square" lIns="0" tIns="0" rIns="0" bIns="0" rtlCol="0" anchor="ctr"/>
          <a:lstStyle/>
          <a:p>
            <a:pPr indent="0" marL="0">
              <a:buNone/>
            </a:pPr>
            <a:r>
              <a:rPr lang="en-US" sz="1500" b="1" dirty="0">
                <a:solidFill>
                  <a:srgbClr val="1F7A50"/>
                </a:solidFill>
                <a:latin typeface="Calibri" pitchFamily="34" charset="0"/>
                <a:ea typeface="Calibri" pitchFamily="34" charset="-122"/>
                <a:cs typeface="Calibri" pitchFamily="34" charset="-120"/>
              </a:rPr>
              <a:t>Pre-test loop: </a:t>
            </a:r>
            <a:pPr indent="0" marL="0">
              <a:buNone/>
            </a:pPr>
            <a:r>
              <a:rPr lang="en-US" sz="1500" dirty="0">
                <a:solidFill>
                  <a:srgbClr val="333B4F"/>
                </a:solidFill>
                <a:latin typeface="Calibri" pitchFamily="34" charset="0"/>
                <a:ea typeface="Calibri" pitchFamily="34" charset="-122"/>
                <a:cs typeface="Calibri" pitchFamily="34" charset="-120"/>
              </a:rPr>
              <a:t>0, 1, 2, … passes. The body may never run.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TRACING A WHILE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table: one row per test of the condition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548640" y="1645920"/>
            <a:ext cx="5303520" cy="3063240"/>
          </a:xfrm>
          <a:prstGeom prst="roundRect">
            <a:avLst>
              <a:gd name="adj" fmla="val 2985"/>
            </a:avLst>
          </a:prstGeom>
          <a:solidFill>
            <a:srgbClr val="0F1729"/>
          </a:solidFill>
          <a:ln w="12700">
            <a:solidFill>
              <a:srgbClr val="0F1729"/>
            </a:solidFill>
            <a:prstDash val="solid"/>
          </a:ln>
        </p:spPr>
      </p:sp>
      <p:sp>
        <p:nvSpPr>
          <p:cNvPr id="8" name="Text 5"/>
          <p:cNvSpPr txBox="1"/>
          <p:nvPr/>
        </p:nvSpPr>
        <p:spPr>
          <a:xfrm>
            <a:off x="777240" y="1755648"/>
            <a:ext cx="4846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How long until 100 TL passes 1000 TL?</a:t>
            </a:r>
            <a:endParaRPr lang="en-US" sz="1100" dirty="0"/>
          </a:p>
        </p:txBody>
      </p:sp>
      <p:sp>
        <p:nvSpPr>
          <p:cNvPr id="9" name="Text 6"/>
          <p:cNvSpPr txBox="1"/>
          <p:nvPr/>
        </p:nvSpPr>
        <p:spPr>
          <a:xfrm>
            <a:off x="777240" y="2057400"/>
            <a:ext cx="4846320" cy="25420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money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years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(money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money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years++;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$"{years} years, {money} TL"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548640" y="4892040"/>
            <a:ext cx="5303520" cy="1143000"/>
          </a:xfrm>
          <a:prstGeom prst="roundRect">
            <a:avLst>
              <a:gd name="adj" fmla="val 8000"/>
            </a:avLst>
          </a:prstGeom>
          <a:solidFill>
            <a:srgbClr val="0B0F19"/>
          </a:solidFill>
          <a:ln w="12700">
            <a:solidFill>
              <a:srgbClr val="2A3654"/>
            </a:solidFill>
            <a:prstDash val="solid"/>
          </a:ln>
        </p:spPr>
      </p:sp>
      <p:sp>
        <p:nvSpPr>
          <p:cNvPr id="11" name="Shape 8"/>
          <p:cNvSpPr/>
          <p:nvPr/>
        </p:nvSpPr>
        <p:spPr>
          <a:xfrm>
            <a:off x="731520" y="5020056"/>
            <a:ext cx="118872" cy="118872"/>
          </a:xfrm>
          <a:prstGeom prst="ellipse">
            <a:avLst/>
          </a:prstGeom>
          <a:solidFill>
            <a:srgbClr val="FF5F57"/>
          </a:solidFill>
          <a:ln w="12700">
            <a:solidFill>
              <a:srgbClr val="FF5F57"/>
            </a:solidFill>
            <a:prstDash val="solid"/>
          </a:ln>
        </p:spPr>
      </p:sp>
      <p:sp>
        <p:nvSpPr>
          <p:cNvPr id="12" name="Shape 9"/>
          <p:cNvSpPr/>
          <p:nvPr/>
        </p:nvSpPr>
        <p:spPr>
          <a:xfrm>
            <a:off x="960120" y="5020056"/>
            <a:ext cx="118872" cy="118872"/>
          </a:xfrm>
          <a:prstGeom prst="ellipse">
            <a:avLst/>
          </a:prstGeom>
          <a:solidFill>
            <a:srgbClr val="FEBC2E"/>
          </a:solidFill>
          <a:ln w="12700">
            <a:solidFill>
              <a:srgbClr val="FEBC2E"/>
            </a:solidFill>
            <a:prstDash val="solid"/>
          </a:ln>
        </p:spPr>
      </p:sp>
      <p:sp>
        <p:nvSpPr>
          <p:cNvPr id="13" name="Shape 10"/>
          <p:cNvSpPr/>
          <p:nvPr/>
        </p:nvSpPr>
        <p:spPr>
          <a:xfrm>
            <a:off x="1188720" y="502005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1463040" y="4965192"/>
            <a:ext cx="42062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77240" y="5276088"/>
            <a:ext cx="4846320" cy="640080"/>
          </a:xfrm>
          <a:prstGeom prst="rect">
            <a:avLst/>
          </a:prstGeom>
          <a:noFill/>
          <a:ln/>
        </p:spPr>
        <p:txBody>
          <a:bodyPr wrap="square" lIns="0" tIns="0" rIns="0" bIns="0" rtlCol="0" anchor="t"/>
          <a:lstStyle/>
          <a:p>
            <a:pPr indent="0" marL="0">
              <a:spcAft>
                <a:spcPts val="100"/>
              </a:spcAft>
              <a:buNone/>
            </a:pPr>
            <a:r>
              <a:rPr lang="en-US" sz="1400" dirty="0">
                <a:solidFill>
                  <a:srgbClr val="7EE2A8"/>
                </a:solidFill>
                <a:latin typeface="Courier New" pitchFamily="34" charset="0"/>
                <a:ea typeface="Courier New" pitchFamily="34" charset="-122"/>
                <a:cs typeface="Courier New" pitchFamily="34" charset="-120"/>
              </a:rPr>
              <a:t>4 years, 1600 TL</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0" y="1645920"/>
          <a:ext cx="5623560" cy="914400"/>
        </p:xfrm>
        <a:graphic>
          <a:graphicData uri="http://schemas.openxmlformats.org/drawingml/2006/table">
            <a:tbl>
              <a:tblPr/>
              <a:tblGrid>
                <a:gridCol w="685800"/>
                <a:gridCol w="1005840"/>
                <a:gridCol w="868680"/>
                <a:gridCol w="1600200"/>
                <a:gridCol w="146304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money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money &lt; 1000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run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run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run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run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1600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exit loop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7" name="Shape 13"/>
          <p:cNvSpPr/>
          <p:nvPr/>
        </p:nvSpPr>
        <p:spPr>
          <a:xfrm>
            <a:off x="6035040" y="4663440"/>
            <a:ext cx="5623560" cy="1371600"/>
          </a:xfrm>
          <a:prstGeom prst="roundRect">
            <a:avLst>
              <a:gd name="adj" fmla="val 8000"/>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6309360" y="5074920"/>
            <a:ext cx="548640" cy="548640"/>
          </a:xfrm>
          <a:prstGeom prst="rect">
            <a:avLst/>
          </a:prstGeom>
        </p:spPr>
      </p:pic>
      <p:sp>
        <p:nvSpPr>
          <p:cNvPr id="19" name="Text 14"/>
          <p:cNvSpPr txBox="1"/>
          <p:nvPr/>
        </p:nvSpPr>
        <p:spPr>
          <a:xfrm>
            <a:off x="7132320" y="4736592"/>
            <a:ext cx="4251960" cy="12252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5 tests, 4 passes. </a:t>
            </a:r>
            <a:pPr indent="0" marL="0">
              <a:buNone/>
            </a:pPr>
            <a:r>
              <a:rPr lang="en-US" sz="1500" dirty="0">
                <a:solidFill>
                  <a:srgbClr val="333B4F"/>
                </a:solidFill>
                <a:latin typeface="Calibri" pitchFamily="34" charset="0"/>
                <a:ea typeface="Calibri" pitchFamily="34" charset="-122"/>
                <a:cs typeface="Calibri" pitchFamily="34" charset="-120"/>
              </a:rPr>
              <a:t>A while loop always tests its condition once more than it runs the body. The last test is the false one.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THE DO-WHILE LOOP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do-while: run the body first, then test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548640" y="1645920"/>
            <a:ext cx="5303520" cy="2606040"/>
          </a:xfrm>
          <a:prstGeom prst="roundRect">
            <a:avLst>
              <a:gd name="adj" fmla="val 3509"/>
            </a:avLst>
          </a:prstGeom>
          <a:solidFill>
            <a:srgbClr val="0F1729"/>
          </a:solidFill>
          <a:ln w="12700">
            <a:solidFill>
              <a:srgbClr val="0F1729"/>
            </a:solidFill>
            <a:prstDash val="solid"/>
          </a:ln>
        </p:spPr>
      </p:sp>
      <p:sp>
        <p:nvSpPr>
          <p:cNvPr id="8" name="Text 5"/>
          <p:cNvSpPr txBox="1"/>
          <p:nvPr/>
        </p:nvSpPr>
        <p:spPr>
          <a:xfrm>
            <a:off x="777240" y="1755648"/>
            <a:ext cx="48463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Syntax</a:t>
            </a:r>
            <a:endParaRPr lang="en-US" sz="1100" dirty="0"/>
          </a:p>
        </p:txBody>
      </p:sp>
      <p:sp>
        <p:nvSpPr>
          <p:cNvPr id="9" name="Text 6"/>
          <p:cNvSpPr txBox="1"/>
          <p:nvPr/>
        </p:nvSpPr>
        <p:spPr>
          <a:xfrm>
            <a:off x="777240" y="2057400"/>
            <a:ext cx="4846320" cy="2084832"/>
          </a:xfrm>
          <a:prstGeom prst="rect">
            <a:avLst/>
          </a:prstGeom>
          <a:noFill/>
          <a:ln/>
        </p:spPr>
        <p:txBody>
          <a:bodyPr wrap="square" lIns="0" tIns="0" rIns="0" bIns="0" rtlCol="0" anchor="t"/>
          <a:lstStyle/>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do</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body: runs FIRST,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then the condition is tested</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(condition);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semicolon!</a:t>
            </a:r>
            <a:endParaRPr lang="en-US" sz="1400" dirty="0"/>
          </a:p>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next statement after the loop</a:t>
            </a:r>
            <a:endParaRPr lang="en-US" sz="1400" dirty="0"/>
          </a:p>
        </p:txBody>
      </p:sp>
      <p:sp>
        <p:nvSpPr>
          <p:cNvPr id="10" name="Shape 7"/>
          <p:cNvSpPr/>
          <p:nvPr/>
        </p:nvSpPr>
        <p:spPr>
          <a:xfrm>
            <a:off x="548640" y="4434840"/>
            <a:ext cx="5303520" cy="749808"/>
          </a:xfrm>
          <a:prstGeom prst="roundRect">
            <a:avLst>
              <a:gd name="adj" fmla="val 14634"/>
            </a:avLst>
          </a:prstGeom>
          <a:solidFill>
            <a:srgbClr val="EEF1F6"/>
          </a:solidFill>
          <a:ln w="12700">
            <a:solidFill>
              <a:srgbClr val="EEF1F6"/>
            </a:solidFill>
            <a:prstDash val="solid"/>
          </a:ln>
        </p:spPr>
      </p:sp>
      <p:sp>
        <p:nvSpPr>
          <p:cNvPr id="11" name="Shape 8"/>
          <p:cNvSpPr/>
          <p:nvPr/>
        </p:nvSpPr>
        <p:spPr>
          <a:xfrm>
            <a:off x="731520" y="4572000"/>
            <a:ext cx="475488" cy="475488"/>
          </a:xfrm>
          <a:prstGeom prst="ellipse">
            <a:avLst/>
          </a:prstGeom>
          <a:solidFill>
            <a:srgbClr val="2E9E6A"/>
          </a:solidFill>
          <a:ln w="12700">
            <a:solidFill>
              <a:srgbClr val="2E9E6A"/>
            </a:solidFill>
            <a:prstDash val="solid"/>
          </a:ln>
        </p:spPr>
      </p:sp>
      <p:pic>
        <p:nvPicPr>
          <p:cNvPr id="12" name="Image 0" descr="preencoded.png">    </p:cNvPr>
          <p:cNvPicPr>
            <a:picLocks noChangeAspect="1"/>
          </p:cNvPicPr>
          <p:nvPr/>
        </p:nvPicPr>
        <p:blipFill>
          <a:blip r:embed="rId1"/>
          <a:stretch>
            <a:fillRect/>
          </a:stretch>
        </p:blipFill>
        <p:spPr>
          <a:xfrm>
            <a:off x="855147" y="4695627"/>
            <a:ext cx="228234" cy="228234"/>
          </a:xfrm>
          <a:prstGeom prst="rect">
            <a:avLst/>
          </a:prstGeom>
        </p:spPr>
      </p:pic>
      <p:sp>
        <p:nvSpPr>
          <p:cNvPr id="13" name="Text 9"/>
          <p:cNvSpPr txBox="1"/>
          <p:nvPr/>
        </p:nvSpPr>
        <p:spPr>
          <a:xfrm>
            <a:off x="1389888" y="4489704"/>
            <a:ext cx="4325112" cy="640080"/>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At least one pass</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The body runs before the first test.</a:t>
            </a:r>
            <a:endParaRPr lang="en-US" sz="1500" dirty="0"/>
          </a:p>
        </p:txBody>
      </p:sp>
      <p:sp>
        <p:nvSpPr>
          <p:cNvPr id="14" name="Shape 10"/>
          <p:cNvSpPr/>
          <p:nvPr/>
        </p:nvSpPr>
        <p:spPr>
          <a:xfrm>
            <a:off x="548640" y="5303520"/>
            <a:ext cx="5303520" cy="749808"/>
          </a:xfrm>
          <a:prstGeom prst="roundRect">
            <a:avLst>
              <a:gd name="adj" fmla="val 14634"/>
            </a:avLst>
          </a:prstGeom>
          <a:solidFill>
            <a:srgbClr val="EEF1F6"/>
          </a:solidFill>
          <a:ln w="12700">
            <a:solidFill>
              <a:srgbClr val="EEF1F6"/>
            </a:solidFill>
            <a:prstDash val="solid"/>
          </a:ln>
        </p:spPr>
      </p:sp>
      <p:sp>
        <p:nvSpPr>
          <p:cNvPr id="15" name="Shape 11"/>
          <p:cNvSpPr/>
          <p:nvPr/>
        </p:nvSpPr>
        <p:spPr>
          <a:xfrm>
            <a:off x="731520" y="5440680"/>
            <a:ext cx="475488" cy="475488"/>
          </a:xfrm>
          <a:prstGeom prst="ellipse">
            <a:avLst/>
          </a:prstGeom>
          <a:solidFill>
            <a:srgbClr val="C8453B"/>
          </a:solidFill>
          <a:ln w="12700">
            <a:solidFill>
              <a:srgbClr val="C8453B"/>
            </a:solidFill>
            <a:prstDash val="solid"/>
          </a:ln>
        </p:spPr>
      </p:sp>
      <p:pic>
        <p:nvPicPr>
          <p:cNvPr id="16" name="Image 1" descr="preencoded.png">    </p:cNvPr>
          <p:cNvPicPr>
            <a:picLocks noChangeAspect="1"/>
          </p:cNvPicPr>
          <p:nvPr/>
        </p:nvPicPr>
        <p:blipFill>
          <a:blip r:embed="rId2"/>
          <a:stretch>
            <a:fillRect/>
          </a:stretch>
        </p:blipFill>
        <p:spPr>
          <a:xfrm>
            <a:off x="855147" y="5564307"/>
            <a:ext cx="228234" cy="228234"/>
          </a:xfrm>
          <a:prstGeom prst="rect">
            <a:avLst/>
          </a:prstGeom>
        </p:spPr>
      </p:pic>
      <p:sp>
        <p:nvSpPr>
          <p:cNvPr id="17" name="Text 12"/>
          <p:cNvSpPr txBox="1"/>
          <p:nvPr/>
        </p:nvSpPr>
        <p:spPr>
          <a:xfrm>
            <a:off x="1389888" y="5358384"/>
            <a:ext cx="4325112" cy="640080"/>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while (…); ends with a semicolon</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Only in do-while! Missing → CS1002.</a:t>
            </a:r>
            <a:endParaRPr lang="en-US" sz="1500" dirty="0"/>
          </a:p>
        </p:txBody>
      </p:sp>
      <p:sp>
        <p:nvSpPr>
          <p:cNvPr id="18" name="Shape 13"/>
          <p:cNvSpPr/>
          <p:nvPr/>
        </p:nvSpPr>
        <p:spPr>
          <a:xfrm>
            <a:off x="6766560" y="1691640"/>
            <a:ext cx="1828800" cy="457200"/>
          </a:xfrm>
          <a:prstGeom prst="flowChartProcess">
            <a:avLst/>
          </a:prstGeom>
          <a:solidFill>
            <a:srgbClr val="FFFFFF"/>
          </a:solidFill>
          <a:ln w="15875">
            <a:solidFill>
              <a:srgbClr val="14213D"/>
            </a:solidFill>
            <a:prstDash val="solid"/>
          </a:ln>
        </p:spPr>
      </p:sp>
      <p:sp>
        <p:nvSpPr>
          <p:cNvPr id="19" name="Text 14"/>
          <p:cNvSpPr txBox="1"/>
          <p:nvPr/>
        </p:nvSpPr>
        <p:spPr>
          <a:xfrm>
            <a:off x="6812280" y="1691640"/>
            <a:ext cx="17373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initialise variables</a:t>
            </a:r>
            <a:endParaRPr lang="en-US" sz="1300" dirty="0"/>
          </a:p>
        </p:txBody>
      </p:sp>
      <p:sp>
        <p:nvSpPr>
          <p:cNvPr id="20" name="Shape 15"/>
          <p:cNvSpPr/>
          <p:nvPr/>
        </p:nvSpPr>
        <p:spPr>
          <a:xfrm>
            <a:off x="6629400" y="2651760"/>
            <a:ext cx="2103120" cy="640080"/>
          </a:xfrm>
          <a:prstGeom prst="flowChartProcess">
            <a:avLst/>
          </a:prstGeom>
          <a:solidFill>
            <a:srgbClr val="FFFFFF"/>
          </a:solidFill>
          <a:ln w="15875">
            <a:solidFill>
              <a:srgbClr val="14213D"/>
            </a:solidFill>
            <a:prstDash val="solid"/>
          </a:ln>
        </p:spPr>
      </p:sp>
      <p:sp>
        <p:nvSpPr>
          <p:cNvPr id="21" name="Text 16"/>
          <p:cNvSpPr txBox="1"/>
          <p:nvPr/>
        </p:nvSpPr>
        <p:spPr>
          <a:xfrm>
            <a:off x="6675120" y="2651760"/>
            <a:ext cx="2011680" cy="6400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body</a:t>
            </a:r>
            <a:endParaRPr lang="en-US" sz="1300" dirty="0"/>
          </a:p>
          <a:p>
            <a:pPr algn="ctr" indent="0" marL="0">
              <a:buNone/>
            </a:pPr>
            <a:r>
              <a:rPr lang="en-US" sz="1300" dirty="0">
                <a:solidFill>
                  <a:srgbClr val="14213D"/>
                </a:solidFill>
                <a:latin typeface="Calibri" pitchFamily="34" charset="0"/>
                <a:ea typeface="Calibri" pitchFamily="34" charset="-122"/>
                <a:cs typeface="Calibri" pitchFamily="34" charset="-120"/>
              </a:rPr>
              <a:t>(includes the update)</a:t>
            </a:r>
            <a:endParaRPr lang="en-US" sz="1300" dirty="0"/>
          </a:p>
        </p:txBody>
      </p:sp>
      <p:sp>
        <p:nvSpPr>
          <p:cNvPr id="22" name="Shape 17"/>
          <p:cNvSpPr/>
          <p:nvPr/>
        </p:nvSpPr>
        <p:spPr>
          <a:xfrm>
            <a:off x="6675120" y="3611880"/>
            <a:ext cx="2011680" cy="868680"/>
          </a:xfrm>
          <a:prstGeom prst="flowChartDecision">
            <a:avLst/>
          </a:prstGeom>
          <a:solidFill>
            <a:srgbClr val="E3ECF8"/>
          </a:solidFill>
          <a:ln w="15875">
            <a:solidFill>
              <a:srgbClr val="14213D"/>
            </a:solidFill>
            <a:prstDash val="solid"/>
          </a:ln>
        </p:spPr>
      </p:sp>
      <p:sp>
        <p:nvSpPr>
          <p:cNvPr id="23" name="Text 18"/>
          <p:cNvSpPr txBox="1"/>
          <p:nvPr/>
        </p:nvSpPr>
        <p:spPr>
          <a:xfrm>
            <a:off x="6720840" y="3611880"/>
            <a:ext cx="1920240" cy="86868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condition ?</a:t>
            </a:r>
            <a:endParaRPr lang="en-US" sz="1300" dirty="0"/>
          </a:p>
        </p:txBody>
      </p:sp>
      <p:sp>
        <p:nvSpPr>
          <p:cNvPr id="24" name="Shape 19"/>
          <p:cNvSpPr/>
          <p:nvPr/>
        </p:nvSpPr>
        <p:spPr>
          <a:xfrm>
            <a:off x="6766560" y="4846320"/>
            <a:ext cx="1828800" cy="457200"/>
          </a:xfrm>
          <a:prstGeom prst="flowChartProcess">
            <a:avLst/>
          </a:prstGeom>
          <a:solidFill>
            <a:srgbClr val="FFFFFF"/>
          </a:solidFill>
          <a:ln w="15875">
            <a:solidFill>
              <a:srgbClr val="14213D"/>
            </a:solidFill>
            <a:prstDash val="solid"/>
          </a:ln>
        </p:spPr>
      </p:sp>
      <p:sp>
        <p:nvSpPr>
          <p:cNvPr id="25" name="Text 20"/>
          <p:cNvSpPr txBox="1"/>
          <p:nvPr/>
        </p:nvSpPr>
        <p:spPr>
          <a:xfrm>
            <a:off x="6812280" y="4846320"/>
            <a:ext cx="1737360" cy="457200"/>
          </a:xfrm>
          <a:prstGeom prst="rect">
            <a:avLst/>
          </a:prstGeom>
          <a:noFill/>
          <a:ln/>
        </p:spPr>
        <p:txBody>
          <a:bodyPr wrap="square" lIns="0" tIns="0" rIns="0" bIns="0" rtlCol="0" anchor="ctr"/>
          <a:lstStyle/>
          <a:p>
            <a:pPr algn="ctr" indent="0" marL="0">
              <a:buNone/>
            </a:pPr>
            <a:r>
              <a:rPr lang="en-US" sz="1300" dirty="0">
                <a:solidFill>
                  <a:srgbClr val="14213D"/>
                </a:solidFill>
                <a:latin typeface="Calibri" pitchFamily="34" charset="0"/>
                <a:ea typeface="Calibri" pitchFamily="34" charset="-122"/>
                <a:cs typeface="Calibri" pitchFamily="34" charset="-120"/>
              </a:rPr>
              <a:t>next statement</a:t>
            </a:r>
            <a:endParaRPr lang="en-US" sz="1300" dirty="0"/>
          </a:p>
        </p:txBody>
      </p:sp>
      <p:sp>
        <p:nvSpPr>
          <p:cNvPr id="26" name="Shape 21"/>
          <p:cNvSpPr/>
          <p:nvPr/>
        </p:nvSpPr>
        <p:spPr>
          <a:xfrm>
            <a:off x="7680960" y="2148840"/>
            <a:ext cx="0" cy="502920"/>
          </a:xfrm>
          <a:prstGeom prst="line">
            <a:avLst/>
          </a:prstGeom>
          <a:noFill/>
          <a:ln w="15875">
            <a:solidFill>
              <a:srgbClr val="14213D"/>
            </a:solidFill>
            <a:prstDash val="solid"/>
            <a:tailEnd type="triangle"/>
          </a:ln>
        </p:spPr>
      </p:sp>
      <p:sp>
        <p:nvSpPr>
          <p:cNvPr id="27" name="Shape 22"/>
          <p:cNvSpPr/>
          <p:nvPr/>
        </p:nvSpPr>
        <p:spPr>
          <a:xfrm>
            <a:off x="7680960" y="3291840"/>
            <a:ext cx="0" cy="320040"/>
          </a:xfrm>
          <a:prstGeom prst="line">
            <a:avLst/>
          </a:prstGeom>
          <a:noFill/>
          <a:ln w="15875">
            <a:solidFill>
              <a:srgbClr val="14213D"/>
            </a:solidFill>
            <a:prstDash val="solid"/>
            <a:tailEnd type="triangle"/>
          </a:ln>
        </p:spPr>
      </p:sp>
      <p:sp>
        <p:nvSpPr>
          <p:cNvPr id="28" name="Shape 23"/>
          <p:cNvSpPr/>
          <p:nvPr/>
        </p:nvSpPr>
        <p:spPr>
          <a:xfrm>
            <a:off x="7680960" y="4480560"/>
            <a:ext cx="0" cy="365760"/>
          </a:xfrm>
          <a:prstGeom prst="line">
            <a:avLst/>
          </a:prstGeom>
          <a:noFill/>
          <a:ln w="15875">
            <a:solidFill>
              <a:srgbClr val="14213D"/>
            </a:solidFill>
            <a:prstDash val="solid"/>
            <a:tailEnd type="triangle"/>
          </a:ln>
        </p:spPr>
      </p:sp>
      <p:sp>
        <p:nvSpPr>
          <p:cNvPr id="29" name="Shape 24"/>
          <p:cNvSpPr/>
          <p:nvPr/>
        </p:nvSpPr>
        <p:spPr>
          <a:xfrm>
            <a:off x="8686800" y="4046220"/>
            <a:ext cx="594360" cy="0"/>
          </a:xfrm>
          <a:prstGeom prst="line">
            <a:avLst/>
          </a:prstGeom>
          <a:noFill/>
          <a:ln w="15875">
            <a:solidFill>
              <a:srgbClr val="2E9E6A"/>
            </a:solidFill>
            <a:prstDash val="solid"/>
          </a:ln>
        </p:spPr>
      </p:sp>
      <p:sp>
        <p:nvSpPr>
          <p:cNvPr id="30" name="Shape 25"/>
          <p:cNvSpPr/>
          <p:nvPr/>
        </p:nvSpPr>
        <p:spPr>
          <a:xfrm flipV="1">
            <a:off x="9281160" y="2404872"/>
            <a:ext cx="0" cy="1641348"/>
          </a:xfrm>
          <a:prstGeom prst="line">
            <a:avLst/>
          </a:prstGeom>
          <a:noFill/>
          <a:ln w="15875">
            <a:solidFill>
              <a:srgbClr val="2E9E6A"/>
            </a:solidFill>
            <a:prstDash val="solid"/>
          </a:ln>
        </p:spPr>
      </p:sp>
      <p:sp>
        <p:nvSpPr>
          <p:cNvPr id="31" name="Shape 26"/>
          <p:cNvSpPr/>
          <p:nvPr/>
        </p:nvSpPr>
        <p:spPr>
          <a:xfrm flipH="1">
            <a:off x="7680960" y="2404872"/>
            <a:ext cx="1600200" cy="0"/>
          </a:xfrm>
          <a:prstGeom prst="line">
            <a:avLst/>
          </a:prstGeom>
          <a:noFill/>
          <a:ln w="15875">
            <a:solidFill>
              <a:srgbClr val="2E9E6A"/>
            </a:solidFill>
            <a:prstDash val="solid"/>
            <a:tailEnd type="triangle"/>
          </a:ln>
        </p:spPr>
      </p:sp>
      <p:sp>
        <p:nvSpPr>
          <p:cNvPr id="32" name="Text 27"/>
          <p:cNvSpPr txBox="1"/>
          <p:nvPr/>
        </p:nvSpPr>
        <p:spPr>
          <a:xfrm>
            <a:off x="8705088" y="3771900"/>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true</a:t>
            </a:r>
            <a:endParaRPr lang="en-US" sz="1100" dirty="0"/>
          </a:p>
        </p:txBody>
      </p:sp>
      <p:sp>
        <p:nvSpPr>
          <p:cNvPr id="33" name="Text 28"/>
          <p:cNvSpPr txBox="1"/>
          <p:nvPr/>
        </p:nvSpPr>
        <p:spPr>
          <a:xfrm>
            <a:off x="7754112" y="4480560"/>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false</a:t>
            </a:r>
            <a:endParaRPr lang="en-US" sz="1100" dirty="0"/>
          </a:p>
        </p:txBody>
      </p:sp>
      <p:sp>
        <p:nvSpPr>
          <p:cNvPr id="34" name="Shape 29"/>
          <p:cNvSpPr/>
          <p:nvPr/>
        </p:nvSpPr>
        <p:spPr>
          <a:xfrm>
            <a:off x="9646920" y="2743200"/>
            <a:ext cx="2011680" cy="1737360"/>
          </a:xfrm>
          <a:prstGeom prst="roundRect">
            <a:avLst>
              <a:gd name="adj" fmla="val 6316"/>
            </a:avLst>
          </a:prstGeom>
          <a:solidFill>
            <a:srgbClr val="E6F4EC"/>
          </a:solidFill>
          <a:ln w="12700">
            <a:solidFill>
              <a:srgbClr val="E6F4EC"/>
            </a:solidFill>
            <a:prstDash val="solid"/>
          </a:ln>
        </p:spPr>
      </p:sp>
      <p:sp>
        <p:nvSpPr>
          <p:cNvPr id="35" name="Text 30"/>
          <p:cNvSpPr txBox="1"/>
          <p:nvPr/>
        </p:nvSpPr>
        <p:spPr>
          <a:xfrm>
            <a:off x="9784080" y="2743200"/>
            <a:ext cx="1783080" cy="1737360"/>
          </a:xfrm>
          <a:prstGeom prst="rect">
            <a:avLst/>
          </a:prstGeom>
          <a:noFill/>
          <a:ln/>
        </p:spPr>
        <p:txBody>
          <a:bodyPr wrap="square" lIns="0" tIns="0" rIns="0" bIns="0" rtlCol="0" anchor="ctr"/>
          <a:lstStyle/>
          <a:p>
            <a:pPr indent="0" marL="0">
              <a:buNone/>
            </a:pPr>
            <a:r>
              <a:rPr lang="en-US" sz="1500" b="1" dirty="0">
                <a:solidFill>
                  <a:srgbClr val="1F7A50"/>
                </a:solidFill>
                <a:latin typeface="Calibri" pitchFamily="34" charset="0"/>
                <a:ea typeface="Calibri" pitchFamily="34" charset="-122"/>
                <a:cs typeface="Calibri" pitchFamily="34" charset="-120"/>
              </a:rPr>
              <a:t>Post-test</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1, 2, 3, … passes. Never zero.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PRE-TEST VS POST-TEST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Same condition, same start value: i = 0</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5440680" cy="4434840"/>
          </a:xfrm>
          <a:prstGeom prst="roundRect">
            <a:avLst>
              <a:gd name="adj" fmla="val 2474"/>
            </a:avLst>
          </a:prstGeom>
          <a:solidFill>
            <a:srgbClr val="EEF1F6"/>
          </a:solidFill>
          <a:ln w="12700">
            <a:solidFill>
              <a:srgbClr val="EEF1F6"/>
            </a:solidFill>
            <a:prstDash val="solid"/>
          </a:ln>
        </p:spPr>
      </p:sp>
      <p:sp>
        <p:nvSpPr>
          <p:cNvPr id="8" name="Shape 5"/>
          <p:cNvSpPr/>
          <p:nvPr/>
        </p:nvSpPr>
        <p:spPr>
          <a:xfrm>
            <a:off x="6217920" y="1645920"/>
            <a:ext cx="5440680" cy="4434840"/>
          </a:xfrm>
          <a:prstGeom prst="roundRect">
            <a:avLst>
              <a:gd name="adj" fmla="val 2474"/>
            </a:avLst>
          </a:prstGeom>
          <a:solidFill>
            <a:srgbClr val="EEF1F6"/>
          </a:solidFill>
          <a:ln w="12700">
            <a:solidFill>
              <a:srgbClr val="EEF1F6"/>
            </a:solidFill>
            <a:prstDash val="solid"/>
          </a:ln>
        </p:spPr>
      </p:sp>
      <p:sp>
        <p:nvSpPr>
          <p:cNvPr id="9" name="Text 6"/>
          <p:cNvSpPr txBox="1"/>
          <p:nvPr/>
        </p:nvSpPr>
        <p:spPr>
          <a:xfrm>
            <a:off x="777240" y="1737360"/>
            <a:ext cx="502920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while: diamond first</a:t>
            </a:r>
            <a:endParaRPr lang="en-US" sz="1700" dirty="0"/>
          </a:p>
        </p:txBody>
      </p:sp>
      <p:sp>
        <p:nvSpPr>
          <p:cNvPr id="10" name="Text 7"/>
          <p:cNvSpPr txBox="1"/>
          <p:nvPr/>
        </p:nvSpPr>
        <p:spPr>
          <a:xfrm>
            <a:off x="6446520" y="1737360"/>
            <a:ext cx="502920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do-while: body first</a:t>
            </a:r>
            <a:endParaRPr lang="en-US" sz="1700" dirty="0"/>
          </a:p>
        </p:txBody>
      </p:sp>
      <p:sp>
        <p:nvSpPr>
          <p:cNvPr id="11" name="Shape 8"/>
          <p:cNvSpPr/>
          <p:nvPr/>
        </p:nvSpPr>
        <p:spPr>
          <a:xfrm>
            <a:off x="1143000" y="2148840"/>
            <a:ext cx="1371600" cy="457200"/>
          </a:xfrm>
          <a:prstGeom prst="flowChartProcess">
            <a:avLst/>
          </a:prstGeom>
          <a:solidFill>
            <a:srgbClr val="FFFFFF"/>
          </a:solidFill>
          <a:ln w="15875">
            <a:solidFill>
              <a:srgbClr val="14213D"/>
            </a:solidFill>
            <a:prstDash val="solid"/>
          </a:ln>
        </p:spPr>
      </p:sp>
      <p:sp>
        <p:nvSpPr>
          <p:cNvPr id="12" name="Text 9"/>
          <p:cNvSpPr txBox="1"/>
          <p:nvPr/>
        </p:nvSpPr>
        <p:spPr>
          <a:xfrm>
            <a:off x="1188720" y="2148840"/>
            <a:ext cx="128016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 0</a:t>
            </a:r>
            <a:endParaRPr lang="en-US" sz="1200" dirty="0"/>
          </a:p>
        </p:txBody>
      </p:sp>
      <p:sp>
        <p:nvSpPr>
          <p:cNvPr id="13" name="Shape 10"/>
          <p:cNvSpPr/>
          <p:nvPr/>
        </p:nvSpPr>
        <p:spPr>
          <a:xfrm>
            <a:off x="1051560" y="3131820"/>
            <a:ext cx="1554480" cy="868680"/>
          </a:xfrm>
          <a:prstGeom prst="flowChartDecision">
            <a:avLst/>
          </a:prstGeom>
          <a:solidFill>
            <a:srgbClr val="E3ECF8"/>
          </a:solidFill>
          <a:ln w="15875">
            <a:solidFill>
              <a:srgbClr val="14213D"/>
            </a:solidFill>
            <a:prstDash val="solid"/>
          </a:ln>
        </p:spPr>
      </p:sp>
      <p:sp>
        <p:nvSpPr>
          <p:cNvPr id="14" name="Text 11"/>
          <p:cNvSpPr txBox="1"/>
          <p:nvPr/>
        </p:nvSpPr>
        <p:spPr>
          <a:xfrm>
            <a:off x="1097280" y="3131820"/>
            <a:ext cx="1463040" cy="8686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&gt; 0 ?</a:t>
            </a:r>
            <a:endParaRPr lang="en-US" sz="1200" dirty="0"/>
          </a:p>
        </p:txBody>
      </p:sp>
      <p:sp>
        <p:nvSpPr>
          <p:cNvPr id="15" name="Shape 12"/>
          <p:cNvSpPr/>
          <p:nvPr/>
        </p:nvSpPr>
        <p:spPr>
          <a:xfrm>
            <a:off x="3291840" y="3223260"/>
            <a:ext cx="1463040" cy="685800"/>
          </a:xfrm>
          <a:prstGeom prst="flowChartProcess">
            <a:avLst/>
          </a:prstGeom>
          <a:solidFill>
            <a:srgbClr val="FFFFFF"/>
          </a:solidFill>
          <a:ln w="15875">
            <a:solidFill>
              <a:srgbClr val="14213D"/>
            </a:solidFill>
            <a:prstDash val="solid"/>
          </a:ln>
        </p:spPr>
      </p:sp>
      <p:sp>
        <p:nvSpPr>
          <p:cNvPr id="16" name="Text 13"/>
          <p:cNvSpPr txBox="1"/>
          <p:nvPr/>
        </p:nvSpPr>
        <p:spPr>
          <a:xfrm>
            <a:off x="3337560" y="3223260"/>
            <a:ext cx="1371600" cy="6858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i</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i ← i − 1</a:t>
            </a:r>
            <a:endParaRPr lang="en-US" sz="1200" dirty="0"/>
          </a:p>
        </p:txBody>
      </p:sp>
      <p:sp>
        <p:nvSpPr>
          <p:cNvPr id="17" name="Shape 14"/>
          <p:cNvSpPr/>
          <p:nvPr/>
        </p:nvSpPr>
        <p:spPr>
          <a:xfrm>
            <a:off x="1005840" y="4572000"/>
            <a:ext cx="1645920" cy="457200"/>
          </a:xfrm>
          <a:prstGeom prst="flowChartProcess">
            <a:avLst/>
          </a:prstGeom>
          <a:solidFill>
            <a:srgbClr val="FFFFFF"/>
          </a:solidFill>
          <a:ln w="15875">
            <a:solidFill>
              <a:srgbClr val="14213D"/>
            </a:solidFill>
            <a:prstDash val="solid"/>
          </a:ln>
        </p:spPr>
      </p:sp>
      <p:sp>
        <p:nvSpPr>
          <p:cNvPr id="18" name="Text 15"/>
          <p:cNvSpPr txBox="1"/>
          <p:nvPr/>
        </p:nvSpPr>
        <p:spPr>
          <a:xfrm>
            <a:off x="1051560" y="4572000"/>
            <a:ext cx="155448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"Go!"</a:t>
            </a:r>
            <a:endParaRPr lang="en-US" sz="1200" dirty="0"/>
          </a:p>
        </p:txBody>
      </p:sp>
      <p:sp>
        <p:nvSpPr>
          <p:cNvPr id="19" name="Shape 16"/>
          <p:cNvSpPr/>
          <p:nvPr/>
        </p:nvSpPr>
        <p:spPr>
          <a:xfrm>
            <a:off x="1828800" y="2606040"/>
            <a:ext cx="0" cy="525780"/>
          </a:xfrm>
          <a:prstGeom prst="line">
            <a:avLst/>
          </a:prstGeom>
          <a:noFill/>
          <a:ln w="15875">
            <a:solidFill>
              <a:srgbClr val="14213D"/>
            </a:solidFill>
            <a:prstDash val="solid"/>
            <a:tailEnd type="triangle"/>
          </a:ln>
        </p:spPr>
      </p:sp>
      <p:sp>
        <p:nvSpPr>
          <p:cNvPr id="20" name="Shape 17"/>
          <p:cNvSpPr/>
          <p:nvPr/>
        </p:nvSpPr>
        <p:spPr>
          <a:xfrm>
            <a:off x="2606040" y="3566160"/>
            <a:ext cx="685800" cy="0"/>
          </a:xfrm>
          <a:prstGeom prst="line">
            <a:avLst/>
          </a:prstGeom>
          <a:noFill/>
          <a:ln w="15875">
            <a:solidFill>
              <a:srgbClr val="14213D"/>
            </a:solidFill>
            <a:prstDash val="solid"/>
            <a:tailEnd type="triangle"/>
          </a:ln>
        </p:spPr>
      </p:sp>
      <p:sp>
        <p:nvSpPr>
          <p:cNvPr id="21" name="Shape 18"/>
          <p:cNvSpPr/>
          <p:nvPr/>
        </p:nvSpPr>
        <p:spPr>
          <a:xfrm>
            <a:off x="1828800" y="4000500"/>
            <a:ext cx="0" cy="571500"/>
          </a:xfrm>
          <a:prstGeom prst="line">
            <a:avLst/>
          </a:prstGeom>
          <a:noFill/>
          <a:ln w="15875">
            <a:solidFill>
              <a:srgbClr val="14213D"/>
            </a:solidFill>
            <a:prstDash val="solid"/>
            <a:tailEnd type="triangle"/>
          </a:ln>
        </p:spPr>
      </p:sp>
      <p:sp>
        <p:nvSpPr>
          <p:cNvPr id="22" name="Shape 19"/>
          <p:cNvSpPr/>
          <p:nvPr/>
        </p:nvSpPr>
        <p:spPr>
          <a:xfrm flipV="1">
            <a:off x="4023360" y="2862072"/>
            <a:ext cx="0" cy="361188"/>
          </a:xfrm>
          <a:prstGeom prst="line">
            <a:avLst/>
          </a:prstGeom>
          <a:noFill/>
          <a:ln w="15875">
            <a:solidFill>
              <a:srgbClr val="2E9E6A"/>
            </a:solidFill>
            <a:prstDash val="solid"/>
          </a:ln>
        </p:spPr>
      </p:sp>
      <p:sp>
        <p:nvSpPr>
          <p:cNvPr id="23" name="Shape 20"/>
          <p:cNvSpPr/>
          <p:nvPr/>
        </p:nvSpPr>
        <p:spPr>
          <a:xfrm flipH="1">
            <a:off x="1828800" y="2862072"/>
            <a:ext cx="2194560" cy="0"/>
          </a:xfrm>
          <a:prstGeom prst="line">
            <a:avLst/>
          </a:prstGeom>
          <a:noFill/>
          <a:ln w="15875">
            <a:solidFill>
              <a:srgbClr val="2E9E6A"/>
            </a:solidFill>
            <a:prstDash val="solid"/>
            <a:tailEnd type="triangle"/>
          </a:ln>
        </p:spPr>
      </p:sp>
      <p:sp>
        <p:nvSpPr>
          <p:cNvPr id="24" name="Text 21"/>
          <p:cNvSpPr txBox="1"/>
          <p:nvPr/>
        </p:nvSpPr>
        <p:spPr>
          <a:xfrm>
            <a:off x="2651760" y="3291840"/>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true</a:t>
            </a:r>
            <a:endParaRPr lang="en-US" sz="1100" dirty="0"/>
          </a:p>
        </p:txBody>
      </p:sp>
      <p:sp>
        <p:nvSpPr>
          <p:cNvPr id="25" name="Text 22"/>
          <p:cNvSpPr txBox="1"/>
          <p:nvPr/>
        </p:nvSpPr>
        <p:spPr>
          <a:xfrm>
            <a:off x="1901952" y="4000500"/>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false</a:t>
            </a:r>
            <a:endParaRPr lang="en-US" sz="1100" dirty="0"/>
          </a:p>
        </p:txBody>
      </p:sp>
      <p:sp>
        <p:nvSpPr>
          <p:cNvPr id="26" name="Shape 23"/>
          <p:cNvSpPr/>
          <p:nvPr/>
        </p:nvSpPr>
        <p:spPr>
          <a:xfrm>
            <a:off x="6903720" y="2148840"/>
            <a:ext cx="1371600" cy="457200"/>
          </a:xfrm>
          <a:prstGeom prst="flowChartProcess">
            <a:avLst/>
          </a:prstGeom>
          <a:solidFill>
            <a:srgbClr val="FFFFFF"/>
          </a:solidFill>
          <a:ln w="15875">
            <a:solidFill>
              <a:srgbClr val="14213D"/>
            </a:solidFill>
            <a:prstDash val="solid"/>
          </a:ln>
        </p:spPr>
      </p:sp>
      <p:sp>
        <p:nvSpPr>
          <p:cNvPr id="27" name="Text 24"/>
          <p:cNvSpPr txBox="1"/>
          <p:nvPr/>
        </p:nvSpPr>
        <p:spPr>
          <a:xfrm>
            <a:off x="6949440" y="2148840"/>
            <a:ext cx="128016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 0</a:t>
            </a:r>
            <a:endParaRPr lang="en-US" sz="1200" dirty="0"/>
          </a:p>
        </p:txBody>
      </p:sp>
      <p:sp>
        <p:nvSpPr>
          <p:cNvPr id="28" name="Shape 25"/>
          <p:cNvSpPr/>
          <p:nvPr/>
        </p:nvSpPr>
        <p:spPr>
          <a:xfrm>
            <a:off x="6858000" y="3108960"/>
            <a:ext cx="1463040" cy="685800"/>
          </a:xfrm>
          <a:prstGeom prst="flowChartProcess">
            <a:avLst/>
          </a:prstGeom>
          <a:solidFill>
            <a:srgbClr val="FFFFFF"/>
          </a:solidFill>
          <a:ln w="15875">
            <a:solidFill>
              <a:srgbClr val="14213D"/>
            </a:solidFill>
            <a:prstDash val="solid"/>
          </a:ln>
        </p:spPr>
      </p:sp>
      <p:sp>
        <p:nvSpPr>
          <p:cNvPr id="29" name="Text 26"/>
          <p:cNvSpPr txBox="1"/>
          <p:nvPr/>
        </p:nvSpPr>
        <p:spPr>
          <a:xfrm>
            <a:off x="6903720" y="3108960"/>
            <a:ext cx="1371600" cy="6858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i</a:t>
            </a:r>
            <a:endParaRPr lang="en-US" sz="1200" dirty="0"/>
          </a:p>
          <a:p>
            <a:pPr algn="ctr" indent="0" marL="0">
              <a:buNone/>
            </a:pPr>
            <a:r>
              <a:rPr lang="en-US" sz="1200" dirty="0">
                <a:solidFill>
                  <a:srgbClr val="14213D"/>
                </a:solidFill>
                <a:latin typeface="Calibri" pitchFamily="34" charset="0"/>
                <a:ea typeface="Calibri" pitchFamily="34" charset="-122"/>
                <a:cs typeface="Calibri" pitchFamily="34" charset="-120"/>
              </a:rPr>
              <a:t>i ← i − 1</a:t>
            </a:r>
            <a:endParaRPr lang="en-US" sz="1200" dirty="0"/>
          </a:p>
        </p:txBody>
      </p:sp>
      <p:sp>
        <p:nvSpPr>
          <p:cNvPr id="30" name="Shape 27"/>
          <p:cNvSpPr/>
          <p:nvPr/>
        </p:nvSpPr>
        <p:spPr>
          <a:xfrm>
            <a:off x="6812280" y="4114800"/>
            <a:ext cx="1554480" cy="868680"/>
          </a:xfrm>
          <a:prstGeom prst="flowChartDecision">
            <a:avLst/>
          </a:prstGeom>
          <a:solidFill>
            <a:srgbClr val="E3ECF8"/>
          </a:solidFill>
          <a:ln w="15875">
            <a:solidFill>
              <a:srgbClr val="14213D"/>
            </a:solidFill>
            <a:prstDash val="solid"/>
          </a:ln>
        </p:spPr>
      </p:sp>
      <p:sp>
        <p:nvSpPr>
          <p:cNvPr id="31" name="Text 28"/>
          <p:cNvSpPr txBox="1"/>
          <p:nvPr/>
        </p:nvSpPr>
        <p:spPr>
          <a:xfrm>
            <a:off x="6858000" y="4114800"/>
            <a:ext cx="1463040" cy="8686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i &gt; 0 ?</a:t>
            </a:r>
            <a:endParaRPr lang="en-US" sz="1200" dirty="0"/>
          </a:p>
        </p:txBody>
      </p:sp>
      <p:sp>
        <p:nvSpPr>
          <p:cNvPr id="32" name="Shape 29"/>
          <p:cNvSpPr/>
          <p:nvPr/>
        </p:nvSpPr>
        <p:spPr>
          <a:xfrm>
            <a:off x="6766560" y="5349240"/>
            <a:ext cx="1645920" cy="457200"/>
          </a:xfrm>
          <a:prstGeom prst="flowChartProcess">
            <a:avLst/>
          </a:prstGeom>
          <a:solidFill>
            <a:srgbClr val="FFFFFF"/>
          </a:solidFill>
          <a:ln w="15875">
            <a:solidFill>
              <a:srgbClr val="14213D"/>
            </a:solidFill>
            <a:prstDash val="solid"/>
          </a:ln>
        </p:spPr>
      </p:sp>
      <p:sp>
        <p:nvSpPr>
          <p:cNvPr id="33" name="Text 30"/>
          <p:cNvSpPr txBox="1"/>
          <p:nvPr/>
        </p:nvSpPr>
        <p:spPr>
          <a:xfrm>
            <a:off x="6812280" y="5349240"/>
            <a:ext cx="1554480" cy="4572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"Go!"</a:t>
            </a:r>
            <a:endParaRPr lang="en-US" sz="1200" dirty="0"/>
          </a:p>
        </p:txBody>
      </p:sp>
      <p:sp>
        <p:nvSpPr>
          <p:cNvPr id="34" name="Shape 31"/>
          <p:cNvSpPr/>
          <p:nvPr/>
        </p:nvSpPr>
        <p:spPr>
          <a:xfrm>
            <a:off x="7589520" y="2606040"/>
            <a:ext cx="0" cy="502920"/>
          </a:xfrm>
          <a:prstGeom prst="line">
            <a:avLst/>
          </a:prstGeom>
          <a:noFill/>
          <a:ln w="15875">
            <a:solidFill>
              <a:srgbClr val="14213D"/>
            </a:solidFill>
            <a:prstDash val="solid"/>
            <a:tailEnd type="triangle"/>
          </a:ln>
        </p:spPr>
      </p:sp>
      <p:sp>
        <p:nvSpPr>
          <p:cNvPr id="35" name="Shape 32"/>
          <p:cNvSpPr/>
          <p:nvPr/>
        </p:nvSpPr>
        <p:spPr>
          <a:xfrm>
            <a:off x="7589520" y="3794760"/>
            <a:ext cx="0" cy="320040"/>
          </a:xfrm>
          <a:prstGeom prst="line">
            <a:avLst/>
          </a:prstGeom>
          <a:noFill/>
          <a:ln w="15875">
            <a:solidFill>
              <a:srgbClr val="14213D"/>
            </a:solidFill>
            <a:prstDash val="solid"/>
            <a:tailEnd type="triangle"/>
          </a:ln>
        </p:spPr>
      </p:sp>
      <p:sp>
        <p:nvSpPr>
          <p:cNvPr id="36" name="Shape 33"/>
          <p:cNvSpPr/>
          <p:nvPr/>
        </p:nvSpPr>
        <p:spPr>
          <a:xfrm>
            <a:off x="7589520" y="4983480"/>
            <a:ext cx="0" cy="365760"/>
          </a:xfrm>
          <a:prstGeom prst="line">
            <a:avLst/>
          </a:prstGeom>
          <a:noFill/>
          <a:ln w="15875">
            <a:solidFill>
              <a:srgbClr val="14213D"/>
            </a:solidFill>
            <a:prstDash val="solid"/>
            <a:tailEnd type="triangle"/>
          </a:ln>
        </p:spPr>
      </p:sp>
      <p:sp>
        <p:nvSpPr>
          <p:cNvPr id="37" name="Shape 34"/>
          <p:cNvSpPr/>
          <p:nvPr/>
        </p:nvSpPr>
        <p:spPr>
          <a:xfrm>
            <a:off x="8366760" y="4549140"/>
            <a:ext cx="411480" cy="0"/>
          </a:xfrm>
          <a:prstGeom prst="line">
            <a:avLst/>
          </a:prstGeom>
          <a:noFill/>
          <a:ln w="15875">
            <a:solidFill>
              <a:srgbClr val="2E9E6A"/>
            </a:solidFill>
            <a:prstDash val="solid"/>
          </a:ln>
        </p:spPr>
      </p:sp>
      <p:sp>
        <p:nvSpPr>
          <p:cNvPr id="38" name="Shape 35"/>
          <p:cNvSpPr/>
          <p:nvPr/>
        </p:nvSpPr>
        <p:spPr>
          <a:xfrm flipV="1">
            <a:off x="8778240" y="2862072"/>
            <a:ext cx="0" cy="1687068"/>
          </a:xfrm>
          <a:prstGeom prst="line">
            <a:avLst/>
          </a:prstGeom>
          <a:noFill/>
          <a:ln w="15875">
            <a:solidFill>
              <a:srgbClr val="2E9E6A"/>
            </a:solidFill>
            <a:prstDash val="solid"/>
          </a:ln>
        </p:spPr>
      </p:sp>
      <p:sp>
        <p:nvSpPr>
          <p:cNvPr id="39" name="Shape 36"/>
          <p:cNvSpPr/>
          <p:nvPr/>
        </p:nvSpPr>
        <p:spPr>
          <a:xfrm flipH="1">
            <a:off x="7589520" y="2862072"/>
            <a:ext cx="1188720" cy="0"/>
          </a:xfrm>
          <a:prstGeom prst="line">
            <a:avLst/>
          </a:prstGeom>
          <a:noFill/>
          <a:ln w="15875">
            <a:solidFill>
              <a:srgbClr val="2E9E6A"/>
            </a:solidFill>
            <a:prstDash val="solid"/>
            <a:tailEnd type="triangle"/>
          </a:ln>
        </p:spPr>
      </p:sp>
      <p:sp>
        <p:nvSpPr>
          <p:cNvPr id="40" name="Text 37"/>
          <p:cNvSpPr txBox="1"/>
          <p:nvPr/>
        </p:nvSpPr>
        <p:spPr>
          <a:xfrm>
            <a:off x="8385048" y="4274820"/>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true</a:t>
            </a:r>
            <a:endParaRPr lang="en-US" sz="1100" dirty="0"/>
          </a:p>
        </p:txBody>
      </p:sp>
      <p:sp>
        <p:nvSpPr>
          <p:cNvPr id="41" name="Text 38"/>
          <p:cNvSpPr txBox="1"/>
          <p:nvPr/>
        </p:nvSpPr>
        <p:spPr>
          <a:xfrm>
            <a:off x="7662672" y="4983480"/>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false</a:t>
            </a:r>
            <a:endParaRPr lang="en-US" sz="1100" dirty="0"/>
          </a:p>
        </p:txBody>
      </p:sp>
      <p:sp>
        <p:nvSpPr>
          <p:cNvPr id="42" name="Shape 39"/>
          <p:cNvSpPr/>
          <p:nvPr/>
        </p:nvSpPr>
        <p:spPr>
          <a:xfrm>
            <a:off x="777240" y="5257800"/>
            <a:ext cx="4983480" cy="685800"/>
          </a:xfrm>
          <a:prstGeom prst="roundRect">
            <a:avLst>
              <a:gd name="adj" fmla="val 16000"/>
            </a:avLst>
          </a:prstGeom>
          <a:solidFill>
            <a:srgbClr val="FFFFFF"/>
          </a:solidFill>
          <a:ln w="12700">
            <a:solidFill>
              <a:srgbClr val="FFFFFF"/>
            </a:solidFill>
            <a:prstDash val="solid"/>
          </a:ln>
        </p:spPr>
      </p:sp>
      <p:sp>
        <p:nvSpPr>
          <p:cNvPr id="43" name="Text 40"/>
          <p:cNvSpPr txBox="1"/>
          <p:nvPr/>
        </p:nvSpPr>
        <p:spPr>
          <a:xfrm>
            <a:off x="960120" y="5257800"/>
            <a:ext cx="4663440" cy="685800"/>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0 passes → output: </a:t>
            </a:r>
            <a:pPr indent="0" marL="0">
              <a:buNone/>
            </a:pPr>
            <a:r>
              <a:rPr lang="en-US" sz="1600" b="1" dirty="0">
                <a:solidFill>
                  <a:srgbClr val="2E9E6A"/>
                </a:solidFill>
                <a:latin typeface="Courier New" pitchFamily="34" charset="0"/>
                <a:ea typeface="Courier New" pitchFamily="34" charset="-122"/>
                <a:cs typeface="Courier New" pitchFamily="34" charset="-120"/>
              </a:rPr>
              <a:t>Go!</a:t>
            </a:r>
            <a:endParaRPr lang="en-US" sz="1600" dirty="0"/>
          </a:p>
        </p:txBody>
      </p:sp>
      <p:sp>
        <p:nvSpPr>
          <p:cNvPr id="44" name="Shape 41"/>
          <p:cNvSpPr/>
          <p:nvPr/>
        </p:nvSpPr>
        <p:spPr>
          <a:xfrm>
            <a:off x="9235440" y="2834640"/>
            <a:ext cx="2240280" cy="1737360"/>
          </a:xfrm>
          <a:prstGeom prst="roundRect">
            <a:avLst>
              <a:gd name="adj" fmla="val 6316"/>
            </a:avLst>
          </a:prstGeom>
          <a:solidFill>
            <a:srgbClr val="FFFFFF"/>
          </a:solidFill>
          <a:ln w="12700">
            <a:solidFill>
              <a:srgbClr val="FFFFFF"/>
            </a:solidFill>
            <a:prstDash val="solid"/>
          </a:ln>
        </p:spPr>
      </p:sp>
      <p:sp>
        <p:nvSpPr>
          <p:cNvPr id="45" name="Text 42"/>
          <p:cNvSpPr txBox="1"/>
          <p:nvPr/>
        </p:nvSpPr>
        <p:spPr>
          <a:xfrm>
            <a:off x="9372600" y="2834640"/>
            <a:ext cx="2011680" cy="1737360"/>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1 pass → output:</a:t>
            </a:r>
            <a:endParaRPr lang="en-US" sz="1600" dirty="0"/>
          </a:p>
          <a:p>
            <a:pPr indent="0" marL="0">
              <a:buNone/>
            </a:pPr>
            <a:r>
              <a:rPr lang="en-US" sz="1600" b="1" dirty="0">
                <a:solidFill>
                  <a:srgbClr val="2E9E6A"/>
                </a:solidFill>
                <a:latin typeface="Courier New" pitchFamily="34" charset="0"/>
                <a:ea typeface="Courier New" pitchFamily="34" charset="-122"/>
                <a:cs typeface="Courier New" pitchFamily="34" charset="-120"/>
              </a:rPr>
              <a:t>0 Go!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 · 07_01_COUNTDOWNTHREEWAYS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One countdown, three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60350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57784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"while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n;</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"do-while :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n;</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$"{j}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"Go!"</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858000" y="1645920"/>
            <a:ext cx="4800600" cy="1600200"/>
          </a:xfrm>
          <a:prstGeom prst="roundRect">
            <a:avLst>
              <a:gd name="adj" fmla="val 5714"/>
            </a:avLst>
          </a:prstGeom>
          <a:solidFill>
            <a:srgbClr val="0B0F19"/>
          </a:solidFill>
          <a:ln w="12700">
            <a:solidFill>
              <a:srgbClr val="2A3654"/>
            </a:solidFill>
            <a:prstDash val="solid"/>
          </a:ln>
        </p:spPr>
      </p:sp>
      <p:sp>
        <p:nvSpPr>
          <p:cNvPr id="11" name="Shape 8"/>
          <p:cNvSpPr/>
          <p:nvPr/>
        </p:nvSpPr>
        <p:spPr>
          <a:xfrm>
            <a:off x="704088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26948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49808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772400" y="1719072"/>
            <a:ext cx="3703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086600" y="2029968"/>
            <a:ext cx="434340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Start the countdown from: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while    : 3 2 1 Go!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do-while : 3 2 1 Go!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for      : 3 2 1 Go!</a:t>
            </a:r>
            <a:endParaRPr lang="en-US" sz="1300" dirty="0"/>
          </a:p>
        </p:txBody>
      </p:sp>
      <p:sp>
        <p:nvSpPr>
          <p:cNvPr id="16" name="Shape 13"/>
          <p:cNvSpPr/>
          <p:nvPr/>
        </p:nvSpPr>
        <p:spPr>
          <a:xfrm>
            <a:off x="6858000" y="3383280"/>
            <a:ext cx="4800600" cy="1600200"/>
          </a:xfrm>
          <a:prstGeom prst="roundRect">
            <a:avLst>
              <a:gd name="adj" fmla="val 5714"/>
            </a:avLst>
          </a:prstGeom>
          <a:solidFill>
            <a:srgbClr val="0B0F19"/>
          </a:solidFill>
          <a:ln w="12700">
            <a:solidFill>
              <a:srgbClr val="2A3654"/>
            </a:solidFill>
            <a:prstDash val="solid"/>
          </a:ln>
        </p:spPr>
      </p:sp>
      <p:sp>
        <p:nvSpPr>
          <p:cNvPr id="17" name="Shape 14"/>
          <p:cNvSpPr/>
          <p:nvPr/>
        </p:nvSpPr>
        <p:spPr>
          <a:xfrm>
            <a:off x="7040880" y="3511296"/>
            <a:ext cx="118872" cy="118872"/>
          </a:xfrm>
          <a:prstGeom prst="ellipse">
            <a:avLst/>
          </a:prstGeom>
          <a:solidFill>
            <a:srgbClr val="FF5F57"/>
          </a:solidFill>
          <a:ln w="12700">
            <a:solidFill>
              <a:srgbClr val="FF5F57"/>
            </a:solidFill>
            <a:prstDash val="solid"/>
          </a:ln>
        </p:spPr>
      </p:sp>
      <p:sp>
        <p:nvSpPr>
          <p:cNvPr id="18" name="Shape 15"/>
          <p:cNvSpPr/>
          <p:nvPr/>
        </p:nvSpPr>
        <p:spPr>
          <a:xfrm>
            <a:off x="7269480" y="3511296"/>
            <a:ext cx="118872" cy="118872"/>
          </a:xfrm>
          <a:prstGeom prst="ellipse">
            <a:avLst/>
          </a:prstGeom>
          <a:solidFill>
            <a:srgbClr val="FEBC2E"/>
          </a:solidFill>
          <a:ln w="12700">
            <a:solidFill>
              <a:srgbClr val="FEBC2E"/>
            </a:solidFill>
            <a:prstDash val="solid"/>
          </a:ln>
        </p:spPr>
      </p:sp>
      <p:sp>
        <p:nvSpPr>
          <p:cNvPr id="19" name="Shape 16"/>
          <p:cNvSpPr/>
          <p:nvPr/>
        </p:nvSpPr>
        <p:spPr>
          <a:xfrm>
            <a:off x="7498080" y="351129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772400" y="3456432"/>
            <a:ext cx="37033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086600" y="3767328"/>
            <a:ext cx="4343400" cy="109728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Start the countdown from: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while    : Go!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do-while : 0 Go!</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for      : Go!</a:t>
            </a:r>
            <a:endParaRPr lang="en-US" sz="1300" dirty="0"/>
          </a:p>
        </p:txBody>
      </p:sp>
      <p:sp>
        <p:nvSpPr>
          <p:cNvPr id="22" name="Shape 19"/>
          <p:cNvSpPr/>
          <p:nvPr/>
        </p:nvSpPr>
        <p:spPr>
          <a:xfrm>
            <a:off x="6858000" y="5120640"/>
            <a:ext cx="4800600" cy="960120"/>
          </a:xfrm>
          <a:prstGeom prst="roundRect">
            <a:avLst>
              <a:gd name="adj" fmla="val 11429"/>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132320" y="5326380"/>
            <a:ext cx="548640" cy="548640"/>
          </a:xfrm>
          <a:prstGeom prst="rect">
            <a:avLst/>
          </a:prstGeom>
        </p:spPr>
      </p:pic>
      <p:sp>
        <p:nvSpPr>
          <p:cNvPr id="24" name="Text 20"/>
          <p:cNvSpPr txBox="1"/>
          <p:nvPr/>
        </p:nvSpPr>
        <p:spPr>
          <a:xfrm>
            <a:off x="7955280" y="5193792"/>
            <a:ext cx="3429000" cy="81381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n = 0: </a:t>
            </a:r>
            <a:pPr indent="0" marL="0">
              <a:buNone/>
            </a:pPr>
            <a:r>
              <a:rPr lang="en-US" sz="1500" dirty="0">
                <a:solidFill>
                  <a:srgbClr val="333B4F"/>
                </a:solidFill>
                <a:latin typeface="Calibri" pitchFamily="34" charset="0"/>
                <a:ea typeface="Calibri" pitchFamily="34" charset="-122"/>
                <a:cs typeface="Calibri" pitchFamily="34" charset="-120"/>
              </a:rPr>
              <a:t>only do-while prints 0.</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CONVERTING FOR ⇄ WHILE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Every for loop is a while loop in disguise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5120640" cy="2148840"/>
          </a:xfrm>
          <a:prstGeom prst="roundRect">
            <a:avLst>
              <a:gd name="adj" fmla="val 4255"/>
            </a:avLst>
          </a:prstGeom>
          <a:solidFill>
            <a:srgbClr val="0F1729"/>
          </a:solidFill>
          <a:ln w="12700">
            <a:solidFill>
              <a:srgbClr val="0F1729"/>
            </a:solidFill>
            <a:prstDash val="solid"/>
          </a:ln>
        </p:spPr>
      </p:sp>
      <p:sp>
        <p:nvSpPr>
          <p:cNvPr id="8" name="Text 5"/>
          <p:cNvSpPr txBox="1"/>
          <p:nvPr/>
        </p:nvSpPr>
        <p:spPr>
          <a:xfrm>
            <a:off x="77724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for</a:t>
            </a:r>
            <a:endParaRPr lang="en-US" sz="1100" dirty="0"/>
          </a:p>
        </p:txBody>
      </p:sp>
      <p:sp>
        <p:nvSpPr>
          <p:cNvPr id="9" name="Text 6"/>
          <p:cNvSpPr txBox="1"/>
          <p:nvPr/>
        </p:nvSpPr>
        <p:spPr>
          <a:xfrm>
            <a:off x="777240" y="2057400"/>
            <a:ext cx="4663440" cy="162763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total += k;</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0" name="Shape 7"/>
          <p:cNvSpPr/>
          <p:nvPr/>
        </p:nvSpPr>
        <p:spPr>
          <a:xfrm>
            <a:off x="6537960" y="1645920"/>
            <a:ext cx="5120640" cy="2926080"/>
          </a:xfrm>
          <a:prstGeom prst="roundRect">
            <a:avLst>
              <a:gd name="adj" fmla="val 3125"/>
            </a:avLst>
          </a:prstGeom>
          <a:solidFill>
            <a:srgbClr val="0F1729"/>
          </a:solidFill>
          <a:ln w="12700">
            <a:solidFill>
              <a:srgbClr val="0F1729"/>
            </a:solidFill>
            <a:prstDash val="solid"/>
          </a:ln>
        </p:spPr>
      </p:sp>
      <p:sp>
        <p:nvSpPr>
          <p:cNvPr id="11" name="Text 8"/>
          <p:cNvSpPr txBox="1"/>
          <p:nvPr/>
        </p:nvSpPr>
        <p:spPr>
          <a:xfrm>
            <a:off x="6766560" y="1755648"/>
            <a:ext cx="46634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while</a:t>
            </a:r>
            <a:endParaRPr lang="en-US" sz="1100" dirty="0"/>
          </a:p>
        </p:txBody>
      </p:sp>
      <p:sp>
        <p:nvSpPr>
          <p:cNvPr id="12" name="Text 9"/>
          <p:cNvSpPr txBox="1"/>
          <p:nvPr/>
        </p:nvSpPr>
        <p:spPr>
          <a:xfrm>
            <a:off x="6766560" y="2057400"/>
            <a:ext cx="4663440" cy="2404872"/>
          </a:xfrm>
          <a:prstGeom prst="rect">
            <a:avLst/>
          </a:prstGeom>
          <a:noFill/>
          <a:ln/>
        </p:spPr>
        <p:txBody>
          <a:bodyPr wrap="square" lIns="0" tIns="0" rIns="0" bIns="0" rtlCol="0" anchor="t"/>
          <a:lstStyle/>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1 init</a:t>
            </a:r>
            <a:endParaRPr lang="en-US" sz="1500" dirty="0"/>
          </a:p>
          <a:p>
            <a:pPr indent="0" marL="0">
              <a:spcAft>
                <a:spcPts val="100"/>
              </a:spcAft>
              <a:buNone/>
            </a:pPr>
            <a:r>
              <a:rPr lang="en-US" sz="15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 &lt;= </a:t>
            </a:r>
            <a:pPr indent="0" marL="0">
              <a:spcAft>
                <a:spcPts val="100"/>
              </a:spcAft>
              <a:buNone/>
            </a:pPr>
            <a:r>
              <a:rPr lang="en-US" sz="15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2 condition</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total += k;</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    k++;            </a:t>
            </a:r>
            <a:pPr indent="0" marL="0">
              <a:spcAft>
                <a:spcPts val="100"/>
              </a:spcAft>
              <a:buNone/>
            </a:pPr>
            <a:r>
              <a:rPr lang="en-US" sz="1500" dirty="0">
                <a:solidFill>
                  <a:srgbClr val="7F8BA3"/>
                </a:solidFill>
                <a:latin typeface="Courier New" pitchFamily="34" charset="0"/>
                <a:ea typeface="Courier New" pitchFamily="34" charset="-122"/>
                <a:cs typeface="Courier New" pitchFamily="34" charset="-120"/>
              </a:rPr>
              <a:t>// 3 update</a:t>
            </a:r>
            <a:endParaRPr lang="en-US" sz="1500" dirty="0"/>
          </a:p>
          <a:p>
            <a:pPr indent="0" marL="0">
              <a:spcAft>
                <a:spcPts val="100"/>
              </a:spcAft>
              <a:buNone/>
            </a:pPr>
            <a:r>
              <a:rPr lang="en-US" sz="1500" dirty="0">
                <a:solidFill>
                  <a:srgbClr val="E6EDF7"/>
                </a:solidFill>
                <a:latin typeface="Courier New" pitchFamily="34" charset="0"/>
                <a:ea typeface="Courier New" pitchFamily="34" charset="-122"/>
                <a:cs typeface="Courier New" pitchFamily="34" charset="-120"/>
              </a:rPr>
              <a:t>}</a:t>
            </a:r>
            <a:endParaRPr lang="en-US" sz="1500" dirty="0"/>
          </a:p>
        </p:txBody>
      </p:sp>
      <p:sp>
        <p:nvSpPr>
          <p:cNvPr id="13" name="Shape 10"/>
          <p:cNvSpPr/>
          <p:nvPr/>
        </p:nvSpPr>
        <p:spPr>
          <a:xfrm>
            <a:off x="5824728" y="2395728"/>
            <a:ext cx="566928" cy="566928"/>
          </a:xfrm>
          <a:prstGeom prst="ellipse">
            <a:avLst/>
          </a:prstGeom>
          <a:solidFill>
            <a:srgbClr val="FCA311"/>
          </a:solidFill>
          <a:ln w="12700">
            <a:solidFill>
              <a:srgbClr val="FCA311"/>
            </a:solidFill>
            <a:prstDash val="solid"/>
          </a:ln>
        </p:spPr>
      </p:sp>
      <p:pic>
        <p:nvPicPr>
          <p:cNvPr id="14" name="Image 0" descr="preencoded.png">    </p:cNvPr>
          <p:cNvPicPr>
            <a:picLocks noChangeAspect="1"/>
          </p:cNvPicPr>
          <p:nvPr/>
        </p:nvPicPr>
        <p:blipFill>
          <a:blip r:embed="rId1"/>
          <a:stretch>
            <a:fillRect/>
          </a:stretch>
        </p:blipFill>
        <p:spPr>
          <a:xfrm>
            <a:off x="5972129" y="2543129"/>
            <a:ext cx="272125" cy="272125"/>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5760720" cy="914400"/>
        </p:xfrm>
        <a:graphic>
          <a:graphicData uri="http://schemas.openxmlformats.org/drawingml/2006/table">
            <a:tbl>
              <a:tblPr/>
              <a:tblGrid>
                <a:gridCol w="1737360"/>
                <a:gridCol w="1828800"/>
                <a:gridCol w="21945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 init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inside the header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before the loop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 condition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 the header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 while ( … )</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3 update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 the header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last line of the body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k after the loop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does not exist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still exists: k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6" name="Shape 11"/>
          <p:cNvSpPr/>
          <p:nvPr/>
        </p:nvSpPr>
        <p:spPr>
          <a:xfrm>
            <a:off x="6537960" y="4754880"/>
            <a:ext cx="5120640" cy="1280160"/>
          </a:xfrm>
          <a:prstGeom prst="roundRect">
            <a:avLst>
              <a:gd name="adj" fmla="val 8571"/>
            </a:avLst>
          </a:prstGeom>
          <a:solidFill>
            <a:srgbClr val="FFF6E3"/>
          </a:solidFill>
          <a:ln w="12700">
            <a:solidFill>
              <a:srgbClr val="FFF6E3"/>
            </a:solidFill>
            <a:prstDash val="solid"/>
          </a:ln>
        </p:spPr>
      </p:sp>
      <p:pic>
        <p:nvPicPr>
          <p:cNvPr id="17" name="Image 1" descr="preencoded.png">    </p:cNvPr>
          <p:cNvPicPr>
            <a:picLocks noChangeAspect="1"/>
          </p:cNvPicPr>
          <p:nvPr/>
        </p:nvPicPr>
        <p:blipFill>
          <a:blip r:embed="rId2"/>
          <a:stretch>
            <a:fillRect/>
          </a:stretch>
        </p:blipFill>
        <p:spPr>
          <a:xfrm>
            <a:off x="6812280" y="5120640"/>
            <a:ext cx="548640" cy="548640"/>
          </a:xfrm>
          <a:prstGeom prst="rect">
            <a:avLst/>
          </a:prstGeom>
        </p:spPr>
      </p:pic>
      <p:sp>
        <p:nvSpPr>
          <p:cNvPr id="18" name="Text 12"/>
          <p:cNvSpPr txBox="1"/>
          <p:nvPr/>
        </p:nvSpPr>
        <p:spPr>
          <a:xfrm>
            <a:off x="7635240" y="4828032"/>
            <a:ext cx="3749040" cy="11338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Both give total = 15. </a:t>
            </a:r>
            <a:pPr indent="0" marL="0">
              <a:buNone/>
            </a:pPr>
            <a:r>
              <a:rPr lang="en-US" sz="1400" dirty="0">
                <a:solidFill>
                  <a:srgbClr val="333B4F"/>
                </a:solidFill>
                <a:latin typeface="Calibri" pitchFamily="34" charset="0"/>
                <a:ea typeface="Calibri" pitchFamily="34" charset="-122"/>
                <a:cs typeface="Calibri" pitchFamily="34" charset="-120"/>
              </a:rPr>
              <a:t>In while, a continue placed before k++ skips the update → infinite loop.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WHICH LOOP WHEN?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Choose the loop that states your intent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206240"/>
                <a:gridCol w="4251960"/>
                <a:gridCol w="265176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Situation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Best choice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Number of passes known before the loop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print 1..N, read exactly N scores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for</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Repeat until a special stop value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read scores until −1 (sentinel)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while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Zero passes must be possible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process digits while n &gt; 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while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Body must run at least once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menu, "ask again" input validation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do-while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Stop decision is in the middle of the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guess game: read, check, break</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b="1" dirty="0">
                          <a:solidFill>
                            <a:srgbClr val="14213D"/>
                          </a:solidFill>
                          <a:latin typeface="Courier New" pitchFamily="34" charset="0"/>
                          <a:ea typeface="Courier New" pitchFamily="34" charset="-122"/>
                          <a:cs typeface="Courier New" pitchFamily="34" charset="-120"/>
                        </a:rPr>
                        <a:t>while (true) + break</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663440"/>
            <a:ext cx="5440680" cy="1371600"/>
          </a:xfrm>
          <a:prstGeom prst="roundRect">
            <a:avLst>
              <a:gd name="adj" fmla="val 8000"/>
            </a:avLst>
          </a:prstGeom>
          <a:solidFill>
            <a:srgbClr val="EEF1F6"/>
          </a:solidFill>
          <a:ln w="12700">
            <a:solidFill>
              <a:srgbClr val="EEF1F6"/>
            </a:solidFill>
            <a:prstDash val="solid"/>
          </a:ln>
        </p:spPr>
      </p:sp>
      <p:sp>
        <p:nvSpPr>
          <p:cNvPr id="9" name="Shape 5"/>
          <p:cNvSpPr/>
          <p:nvPr/>
        </p:nvSpPr>
        <p:spPr>
          <a:xfrm>
            <a:off x="731520" y="5074920"/>
            <a:ext cx="548640" cy="548640"/>
          </a:xfrm>
          <a:prstGeom prst="ellipse">
            <a:avLst/>
          </a:prstGeom>
          <a:solidFill>
            <a:srgbClr val="14213D"/>
          </a:solidFill>
          <a:ln w="12700">
            <a:solidFill>
              <a:srgbClr val="14213D"/>
            </a:solidFill>
            <a:prstDash val="solid"/>
          </a:ln>
        </p:spPr>
      </p:sp>
      <p:pic>
        <p:nvPicPr>
          <p:cNvPr id="10" name="Image 0" descr="preencoded.png">    </p:cNvPr>
          <p:cNvPicPr>
            <a:picLocks noChangeAspect="1"/>
          </p:cNvPicPr>
          <p:nvPr/>
        </p:nvPicPr>
        <p:blipFill>
          <a:blip r:embed="rId1"/>
          <a:stretch>
            <a:fillRect/>
          </a:stretch>
        </p:blipFill>
        <p:spPr>
          <a:xfrm>
            <a:off x="874166" y="5217566"/>
            <a:ext cx="263347" cy="263347"/>
          </a:xfrm>
          <a:prstGeom prst="rect">
            <a:avLst/>
          </a:prstGeom>
        </p:spPr>
      </p:pic>
      <p:sp>
        <p:nvSpPr>
          <p:cNvPr id="11" name="Text 6"/>
          <p:cNvSpPr txBox="1"/>
          <p:nvPr/>
        </p:nvSpPr>
        <p:spPr>
          <a:xfrm>
            <a:off x="1463040" y="4718304"/>
            <a:ext cx="438912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Counter-controlled</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We know HOW MANY passes: a counter goes from start to end.</a:t>
            </a:r>
            <a:endParaRPr lang="en-US" sz="1500" dirty="0"/>
          </a:p>
        </p:txBody>
      </p:sp>
      <p:sp>
        <p:nvSpPr>
          <p:cNvPr id="12" name="Shape 7"/>
          <p:cNvSpPr/>
          <p:nvPr/>
        </p:nvSpPr>
        <p:spPr>
          <a:xfrm>
            <a:off x="6217920" y="4663440"/>
            <a:ext cx="5440680" cy="1371600"/>
          </a:xfrm>
          <a:prstGeom prst="roundRect">
            <a:avLst>
              <a:gd name="adj" fmla="val 8000"/>
            </a:avLst>
          </a:prstGeom>
          <a:solidFill>
            <a:srgbClr val="EEF1F6"/>
          </a:solidFill>
          <a:ln w="12700">
            <a:solidFill>
              <a:srgbClr val="EEF1F6"/>
            </a:solidFill>
            <a:prstDash val="solid"/>
          </a:ln>
        </p:spPr>
      </p:sp>
      <p:sp>
        <p:nvSpPr>
          <p:cNvPr id="13" name="Shape 8"/>
          <p:cNvSpPr/>
          <p:nvPr/>
        </p:nvSpPr>
        <p:spPr>
          <a:xfrm>
            <a:off x="6400800" y="5074920"/>
            <a:ext cx="548640" cy="548640"/>
          </a:xfrm>
          <a:prstGeom prst="ellipse">
            <a:avLst/>
          </a:prstGeom>
          <a:solidFill>
            <a:srgbClr val="2E9E6A"/>
          </a:solidFill>
          <a:ln w="12700">
            <a:solidFill>
              <a:srgbClr val="2E9E6A"/>
            </a:solidFill>
            <a:prstDash val="solid"/>
          </a:ln>
        </p:spPr>
      </p:sp>
      <p:pic>
        <p:nvPicPr>
          <p:cNvPr id="14" name="Image 1" descr="preencoded.png">    </p:cNvPr>
          <p:cNvPicPr>
            <a:picLocks noChangeAspect="1"/>
          </p:cNvPicPr>
          <p:nvPr/>
        </p:nvPicPr>
        <p:blipFill>
          <a:blip r:embed="rId2"/>
          <a:stretch>
            <a:fillRect/>
          </a:stretch>
        </p:blipFill>
        <p:spPr>
          <a:xfrm>
            <a:off x="6543446" y="5217566"/>
            <a:ext cx="263347" cy="263347"/>
          </a:xfrm>
          <a:prstGeom prst="rect">
            <a:avLst/>
          </a:prstGeom>
        </p:spPr>
      </p:pic>
      <p:sp>
        <p:nvSpPr>
          <p:cNvPr id="15" name="Text 9"/>
          <p:cNvSpPr txBox="1"/>
          <p:nvPr/>
        </p:nvSpPr>
        <p:spPr>
          <a:xfrm>
            <a:off x="7132320" y="4718304"/>
            <a:ext cx="4389120" cy="12618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Condition-controlled</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We know WHEN to stop, not how many passes: sentinel, flag, result.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Sentinels, validation and menus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Loops that talk to the user: read until −1, ask again until valid, show a menu until Exit</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7</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SENTINEL-CONTROLLED LOOPS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Read until a special value: the sentinel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645920"/>
            <a:ext cx="4846320" cy="4434840"/>
          </a:xfrm>
          <a:prstGeom prst="roundRect">
            <a:avLst>
              <a:gd name="adj" fmla="val 1649"/>
            </a:avLst>
          </a:prstGeom>
          <a:solidFill>
            <a:srgbClr val="F4F6FA"/>
          </a:solidFill>
          <a:ln w="9525">
            <a:solidFill>
              <a:srgbClr val="C9D0DD"/>
            </a:solidFill>
            <a:prstDash val="solid"/>
          </a:ln>
        </p:spPr>
      </p:sp>
      <p:sp>
        <p:nvSpPr>
          <p:cNvPr id="8" name="Text 5"/>
          <p:cNvSpPr txBox="1"/>
          <p:nvPr/>
        </p:nvSpPr>
        <p:spPr>
          <a:xfrm>
            <a:off x="731520" y="1737360"/>
            <a:ext cx="448056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Pseudocode</a:t>
            </a:r>
            <a:endParaRPr lang="en-US" sz="1200" dirty="0"/>
          </a:p>
        </p:txBody>
      </p:sp>
      <p:sp>
        <p:nvSpPr>
          <p:cNvPr id="9" name="Text 6"/>
          <p:cNvSpPr txBox="1"/>
          <p:nvPr/>
        </p:nvSpPr>
        <p:spPr>
          <a:xfrm>
            <a:off x="731520" y="2057400"/>
            <a:ext cx="4480560" cy="393192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START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count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score          (priming read)</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score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count ← count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sum + score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READ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score        (next value)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count &gt; 0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count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PRINT</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"No scores"</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0" y="1645920"/>
          <a:ext cx="5989320" cy="914400"/>
        </p:xfrm>
        <a:graphic>
          <a:graphicData uri="http://schemas.openxmlformats.org/drawingml/2006/table">
            <a:tbl>
              <a:tblPr/>
              <a:tblGrid>
                <a:gridCol w="1463040"/>
                <a:gridCol w="1005840"/>
                <a:gridCol w="1417320"/>
                <a:gridCol w="1005840"/>
                <a:gridCol w="1097280"/>
              </a:tblGrid>
              <a:tr h="438912">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READ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score ≠ −1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sum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38912">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1 (priming)</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72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85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157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247</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2E9E6A"/>
                          </a:solidFill>
                          <a:latin typeface="Calibri" pitchFamily="34" charset="0"/>
                          <a:ea typeface="Calibri" pitchFamily="34" charset="-122"/>
                          <a:cs typeface="Calibri" pitchFamily="34" charset="-120"/>
                        </a:rPr>
                        <a:t>true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311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38912">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8453B"/>
                          </a:solidFill>
                          <a:latin typeface="Calibri" pitchFamily="34" charset="0"/>
                          <a:ea typeface="Calibri" pitchFamily="34" charset="-122"/>
                          <a:cs typeface="Calibri" pitchFamily="34" charset="-120"/>
                        </a:rPr>
                        <a:t>false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311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1" name="Shape 7"/>
          <p:cNvSpPr/>
          <p:nvPr/>
        </p:nvSpPr>
        <p:spPr>
          <a:xfrm>
            <a:off x="5669280" y="4434840"/>
            <a:ext cx="5989320" cy="685800"/>
          </a:xfrm>
          <a:prstGeom prst="roundRect">
            <a:avLst>
              <a:gd name="adj" fmla="val 16000"/>
            </a:avLst>
          </a:prstGeom>
          <a:solidFill>
            <a:srgbClr val="E6F4EC"/>
          </a:solidFill>
          <a:ln w="12700">
            <a:solidFill>
              <a:srgbClr val="E6F4EC"/>
            </a:solidFill>
            <a:prstDash val="solid"/>
          </a:ln>
        </p:spPr>
      </p:sp>
      <p:sp>
        <p:nvSpPr>
          <p:cNvPr id="12" name="Text 8"/>
          <p:cNvSpPr txBox="1"/>
          <p:nvPr/>
        </p:nvSpPr>
        <p:spPr>
          <a:xfrm>
            <a:off x="5852160" y="4434840"/>
            <a:ext cx="5669280" cy="685800"/>
          </a:xfrm>
          <a:prstGeom prst="rect">
            <a:avLst/>
          </a:prstGeom>
          <a:noFill/>
          <a:ln/>
        </p:spPr>
        <p:txBody>
          <a:bodyPr wrap="square" lIns="0" tIns="0" rIns="0" bIns="0" rtlCol="0" anchor="ctr"/>
          <a:lstStyle/>
          <a:p>
            <a:pPr indent="0" marL="0">
              <a:buNone/>
            </a:pPr>
            <a:r>
              <a:rPr lang="en-US" sz="1600" b="1" dirty="0">
                <a:solidFill>
                  <a:srgbClr val="14213D"/>
                </a:solidFill>
                <a:latin typeface="Courier New" pitchFamily="34" charset="0"/>
                <a:ea typeface="Courier New" pitchFamily="34" charset="-122"/>
                <a:cs typeface="Courier New" pitchFamily="34" charset="-120"/>
              </a:rPr>
              <a:t>average = 311 / 4 = 77.75</a:t>
            </a:r>
            <a:endParaRPr lang="en-US" sz="1600" dirty="0"/>
          </a:p>
        </p:txBody>
      </p:sp>
      <p:sp>
        <p:nvSpPr>
          <p:cNvPr id="13" name="Shape 9"/>
          <p:cNvSpPr/>
          <p:nvPr/>
        </p:nvSpPr>
        <p:spPr>
          <a:xfrm>
            <a:off x="5669280" y="5257800"/>
            <a:ext cx="5989320" cy="822960"/>
          </a:xfrm>
          <a:prstGeom prst="roundRect">
            <a:avLst>
              <a:gd name="adj" fmla="val 13333"/>
            </a:avLst>
          </a:prstGeom>
          <a:solidFill>
            <a:srgbClr val="FFF6E3"/>
          </a:solidFill>
          <a:ln w="12700">
            <a:solidFill>
              <a:srgbClr val="FFF6E3"/>
            </a:solidFill>
            <a:prstDash val="solid"/>
          </a:ln>
        </p:spPr>
      </p:sp>
      <p:pic>
        <p:nvPicPr>
          <p:cNvPr id="14" name="Image 0" descr="preencoded.png">    </p:cNvPr>
          <p:cNvPicPr>
            <a:picLocks noChangeAspect="1"/>
          </p:cNvPicPr>
          <p:nvPr/>
        </p:nvPicPr>
        <p:blipFill>
          <a:blip r:embed="rId1"/>
          <a:stretch>
            <a:fillRect/>
          </a:stretch>
        </p:blipFill>
        <p:spPr>
          <a:xfrm>
            <a:off x="5943600" y="5394960"/>
            <a:ext cx="548640" cy="548640"/>
          </a:xfrm>
          <a:prstGeom prst="rect">
            <a:avLst/>
          </a:prstGeom>
        </p:spPr>
      </p:pic>
      <p:sp>
        <p:nvSpPr>
          <p:cNvPr id="15" name="Text 10"/>
          <p:cNvSpPr txBox="1"/>
          <p:nvPr/>
        </p:nvSpPr>
        <p:spPr>
          <a:xfrm>
            <a:off x="6766560" y="5330952"/>
            <a:ext cx="4617720" cy="6766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The sentinel is never counted: </a:t>
            </a:r>
            <a:pPr indent="0" marL="0">
              <a:buNone/>
            </a:pPr>
            <a:r>
              <a:rPr lang="en-US" sz="1400" dirty="0">
                <a:solidFill>
                  <a:srgbClr val="333B4F"/>
                </a:solidFill>
                <a:latin typeface="Calibri" pitchFamily="34" charset="0"/>
                <a:ea typeface="Calibri" pitchFamily="34" charset="-122"/>
                <a:cs typeface="Calibri" pitchFamily="34" charset="-120"/>
              </a:rPr>
              <a:t>it is tested before it is used.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2 · 07_02_SENTINELAVERAGE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Class average with the sentinel −1</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645920"/>
            <a:ext cx="66751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21792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Sentinel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$"Enter scores (0-100), {Sentinel} to finish."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"Score: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priming read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Sentinel)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score;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score &gt; highest)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highest = score;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first score or a new record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"Score: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the NEXT value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45920"/>
            <a:ext cx="4206240" cy="2240280"/>
          </a:xfrm>
          <a:prstGeom prst="roundRect">
            <a:avLst>
              <a:gd name="adj" fmla="val 4082"/>
            </a:avLst>
          </a:prstGeom>
          <a:solidFill>
            <a:srgbClr val="0B0F19"/>
          </a:solidFill>
          <a:ln w="12700">
            <a:solidFill>
              <a:srgbClr val="2A3654"/>
            </a:solidFill>
            <a:prstDash val="solid"/>
          </a:ln>
        </p:spPr>
      </p:sp>
      <p:sp>
        <p:nvSpPr>
          <p:cNvPr id="11" name="Shape 8"/>
          <p:cNvSpPr/>
          <p:nvPr/>
        </p:nvSpPr>
        <p:spPr>
          <a:xfrm>
            <a:off x="76352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7190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2029968"/>
            <a:ext cx="3749040" cy="1737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scores (0-100), -1 to finish.</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90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Count: 4  Sum: 311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77.75  Highest: 90</a:t>
            </a:r>
            <a:endParaRPr lang="en-US" sz="1300" dirty="0"/>
          </a:p>
        </p:txBody>
      </p:sp>
      <p:sp>
        <p:nvSpPr>
          <p:cNvPr id="16" name="Shape 13"/>
          <p:cNvSpPr/>
          <p:nvPr/>
        </p:nvSpPr>
        <p:spPr>
          <a:xfrm>
            <a:off x="7452360" y="4023360"/>
            <a:ext cx="4206240" cy="1097280"/>
          </a:xfrm>
          <a:prstGeom prst="roundRect">
            <a:avLst>
              <a:gd name="adj" fmla="val 8333"/>
            </a:avLst>
          </a:prstGeom>
          <a:solidFill>
            <a:srgbClr val="0B0F19"/>
          </a:solidFill>
          <a:ln w="12700">
            <a:solidFill>
              <a:srgbClr val="2A3654"/>
            </a:solidFill>
            <a:prstDash val="solid"/>
          </a:ln>
        </p:spPr>
      </p:sp>
      <p:sp>
        <p:nvSpPr>
          <p:cNvPr id="17" name="Shape 14"/>
          <p:cNvSpPr/>
          <p:nvPr/>
        </p:nvSpPr>
        <p:spPr>
          <a:xfrm>
            <a:off x="7635240" y="4151376"/>
            <a:ext cx="118872" cy="118872"/>
          </a:xfrm>
          <a:prstGeom prst="ellipse">
            <a:avLst/>
          </a:prstGeom>
          <a:solidFill>
            <a:srgbClr val="FF5F57"/>
          </a:solidFill>
          <a:ln w="12700">
            <a:solidFill>
              <a:srgbClr val="FF5F57"/>
            </a:solidFill>
            <a:prstDash val="solid"/>
          </a:ln>
        </p:spPr>
      </p:sp>
      <p:sp>
        <p:nvSpPr>
          <p:cNvPr id="18" name="Shape 15"/>
          <p:cNvSpPr/>
          <p:nvPr/>
        </p:nvSpPr>
        <p:spPr>
          <a:xfrm>
            <a:off x="7863840" y="4151376"/>
            <a:ext cx="118872" cy="118872"/>
          </a:xfrm>
          <a:prstGeom prst="ellipse">
            <a:avLst/>
          </a:prstGeom>
          <a:solidFill>
            <a:srgbClr val="FEBC2E"/>
          </a:solidFill>
          <a:ln w="12700">
            <a:solidFill>
              <a:srgbClr val="FEBC2E"/>
            </a:solidFill>
            <a:prstDash val="solid"/>
          </a:ln>
        </p:spPr>
      </p:sp>
      <p:sp>
        <p:nvSpPr>
          <p:cNvPr id="19" name="Shape 16"/>
          <p:cNvSpPr/>
          <p:nvPr/>
        </p:nvSpPr>
        <p:spPr>
          <a:xfrm>
            <a:off x="8092440" y="415137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366760" y="409651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680960" y="4407408"/>
            <a:ext cx="3749040" cy="594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Enter scores (0-100), -1 to finish.</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Score: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No scores entered.</a:t>
            </a:r>
            <a:endParaRPr lang="en-US" sz="1300" dirty="0"/>
          </a:p>
        </p:txBody>
      </p:sp>
      <p:sp>
        <p:nvSpPr>
          <p:cNvPr id="22" name="Shape 19"/>
          <p:cNvSpPr/>
          <p:nvPr/>
        </p:nvSpPr>
        <p:spPr>
          <a:xfrm>
            <a:off x="7452360" y="5257800"/>
            <a:ext cx="4206240" cy="822960"/>
          </a:xfrm>
          <a:prstGeom prst="roundRect">
            <a:avLst>
              <a:gd name="adj" fmla="val 13333"/>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726680" y="5394960"/>
            <a:ext cx="548640" cy="548640"/>
          </a:xfrm>
          <a:prstGeom prst="rect">
            <a:avLst/>
          </a:prstGeom>
        </p:spPr>
      </p:pic>
      <p:sp>
        <p:nvSpPr>
          <p:cNvPr id="24" name="Text 20"/>
          <p:cNvSpPr txBox="1"/>
          <p:nvPr/>
        </p:nvSpPr>
        <p:spPr>
          <a:xfrm>
            <a:off x="8549640" y="5330952"/>
            <a:ext cx="2834640" cy="6766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No if (count == 0)? </a:t>
            </a:r>
            <a:pPr indent="0" marL="0">
              <a:buNone/>
            </a:pPr>
            <a:r>
              <a:rPr lang="en-US" sz="1400" dirty="0">
                <a:solidFill>
                  <a:srgbClr val="333B4F"/>
                </a:solidFill>
                <a:latin typeface="Calibri" pitchFamily="34" charset="0"/>
                <a:ea typeface="Calibri" pitchFamily="34" charset="-122"/>
                <a:cs typeface="Calibri" pitchFamily="34" charset="-120"/>
              </a:rPr>
              <a:t>0.0 / 0 = NaN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3 · 07_03_VALIDATEDINPUT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Ask again until the input is valid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7" name="Shape 4"/>
          <p:cNvSpPr/>
          <p:nvPr/>
        </p:nvSpPr>
        <p:spPr>
          <a:xfrm>
            <a:off x="548640" y="1645920"/>
            <a:ext cx="6400800" cy="3291840"/>
          </a:xfrm>
          <a:prstGeom prst="roundRect">
            <a:avLst>
              <a:gd name="adj" fmla="val 2778"/>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(part a)</a:t>
            </a:r>
            <a:endParaRPr lang="en-US" sz="1100" dirty="0"/>
          </a:p>
        </p:txBody>
      </p:sp>
      <p:sp>
        <p:nvSpPr>
          <p:cNvPr id="9" name="Text 6"/>
          <p:cNvSpPr txBox="1"/>
          <p:nvPr/>
        </p:nvSpPr>
        <p:spPr>
          <a:xfrm>
            <a:off x="777240" y="2057400"/>
            <a:ext cx="5943600" cy="2770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ok;</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"Exam score (0-100):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ok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(!ok || score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Invalid: whole number 0-100 only."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(!ok || score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score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3291840"/>
          </a:xfrm>
          <a:prstGeom prst="roundRect">
            <a:avLst>
              <a:gd name="adj" fmla="val 2778"/>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2029968"/>
            <a:ext cx="4023360" cy="2788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abc</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Invalid: whole number 0-100 only.</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Invalid: whole number 0-100 only.</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Exam score (0-100):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85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Height in metres (0.5-2.5):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Invalid: example 1.75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Height in metres (0.5-2.5):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Invalid: example 1.75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Height in metres (0.5-2.5):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1.75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Accepted: 85 points, 1.75 m</a:t>
            </a:r>
            <a:endParaRPr lang="en-US" sz="1200" dirty="0"/>
          </a:p>
        </p:txBody>
      </p:sp>
      <p:sp>
        <p:nvSpPr>
          <p:cNvPr id="16" name="Shape 13"/>
          <p:cNvSpPr/>
          <p:nvPr/>
        </p:nvSpPr>
        <p:spPr>
          <a:xfrm>
            <a:off x="548640" y="5120640"/>
            <a:ext cx="5440680" cy="960120"/>
          </a:xfrm>
          <a:prstGeom prst="roundRect">
            <a:avLst>
              <a:gd name="adj" fmla="val 11429"/>
            </a:avLst>
          </a:prstGeom>
          <a:solidFill>
            <a:srgbClr val="EEF1F6"/>
          </a:solidFill>
          <a:ln w="12700">
            <a:solidFill>
              <a:srgbClr val="EEF1F6"/>
            </a:solidFill>
            <a:prstDash val="solid"/>
          </a:ln>
        </p:spPr>
      </p:sp>
      <p:sp>
        <p:nvSpPr>
          <p:cNvPr id="17" name="Shape 14"/>
          <p:cNvSpPr/>
          <p:nvPr/>
        </p:nvSpPr>
        <p:spPr>
          <a:xfrm>
            <a:off x="731520" y="5326380"/>
            <a:ext cx="548640" cy="548640"/>
          </a:xfrm>
          <a:prstGeom prst="ellipse">
            <a:avLst/>
          </a:prstGeom>
          <a:solidFill>
            <a:srgbClr val="2E9E6A"/>
          </a:solidFill>
          <a:ln w="12700">
            <a:solidFill>
              <a:srgbClr val="2E9E6A"/>
            </a:solidFill>
            <a:prstDash val="solid"/>
          </a:ln>
        </p:spPr>
      </p:sp>
      <p:pic>
        <p:nvPicPr>
          <p:cNvPr id="18" name="Image 0" descr="preencoded.png">    </p:cNvPr>
          <p:cNvPicPr>
            <a:picLocks noChangeAspect="1"/>
          </p:cNvPicPr>
          <p:nvPr/>
        </p:nvPicPr>
        <p:blipFill>
          <a:blip r:embed="rId1"/>
          <a:stretch>
            <a:fillRect/>
          </a:stretch>
        </p:blipFill>
        <p:spPr>
          <a:xfrm>
            <a:off x="874166" y="5469026"/>
            <a:ext cx="263347" cy="263347"/>
          </a:xfrm>
          <a:prstGeom prst="rect">
            <a:avLst/>
          </a:prstGeom>
        </p:spPr>
      </p:pic>
      <p:sp>
        <p:nvSpPr>
          <p:cNvPr id="19" name="Text 15"/>
          <p:cNvSpPr txBox="1"/>
          <p:nvPr/>
        </p:nvSpPr>
        <p:spPr>
          <a:xfrm>
            <a:off x="1463040" y="5175504"/>
            <a:ext cx="4389120" cy="8503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Repeat while NOT valid</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!ok || score &lt; 0 || score &gt; 100</a:t>
            </a:r>
            <a:endParaRPr lang="en-US" sz="1500" dirty="0"/>
          </a:p>
        </p:txBody>
      </p:sp>
      <p:sp>
        <p:nvSpPr>
          <p:cNvPr id="20" name="Shape 16"/>
          <p:cNvSpPr/>
          <p:nvPr/>
        </p:nvSpPr>
        <p:spPr>
          <a:xfrm>
            <a:off x="6217920" y="5120640"/>
            <a:ext cx="5440680" cy="960120"/>
          </a:xfrm>
          <a:prstGeom prst="roundRect">
            <a:avLst>
              <a:gd name="adj" fmla="val 11429"/>
            </a:avLst>
          </a:prstGeom>
          <a:solidFill>
            <a:srgbClr val="EEF1F6"/>
          </a:solidFill>
          <a:ln w="12700">
            <a:solidFill>
              <a:srgbClr val="EEF1F6"/>
            </a:solidFill>
            <a:prstDash val="solid"/>
          </a:ln>
        </p:spPr>
      </p:sp>
      <p:sp>
        <p:nvSpPr>
          <p:cNvPr id="21" name="Shape 17"/>
          <p:cNvSpPr/>
          <p:nvPr/>
        </p:nvSpPr>
        <p:spPr>
          <a:xfrm>
            <a:off x="6400800" y="5326380"/>
            <a:ext cx="548640" cy="548640"/>
          </a:xfrm>
          <a:prstGeom prst="ellipse">
            <a:avLst/>
          </a:prstGeom>
          <a:solidFill>
            <a:srgbClr val="C8453B"/>
          </a:solidFill>
          <a:ln w="12700">
            <a:solidFill>
              <a:srgbClr val="C8453B"/>
            </a:solidFill>
            <a:prstDash val="solid"/>
          </a:ln>
        </p:spPr>
      </p:sp>
      <p:pic>
        <p:nvPicPr>
          <p:cNvPr id="22" name="Image 1" descr="preencoded.png">    </p:cNvPr>
          <p:cNvPicPr>
            <a:picLocks noChangeAspect="1"/>
          </p:cNvPicPr>
          <p:nvPr/>
        </p:nvPicPr>
        <p:blipFill>
          <a:blip r:embed="rId2"/>
          <a:stretch>
            <a:fillRect/>
          </a:stretch>
        </p:blipFill>
        <p:spPr>
          <a:xfrm>
            <a:off x="6543446" y="5469026"/>
            <a:ext cx="263347" cy="263347"/>
          </a:xfrm>
          <a:prstGeom prst="rect">
            <a:avLst/>
          </a:prstGeom>
        </p:spPr>
      </p:pic>
      <p:sp>
        <p:nvSpPr>
          <p:cNvPr id="23" name="Text 18"/>
          <p:cNvSpPr txBox="1"/>
          <p:nvPr/>
        </p:nvSpPr>
        <p:spPr>
          <a:xfrm>
            <a:off x="7132320" y="5175504"/>
            <a:ext cx="4389120" cy="85039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If TryParse fails, the out value is 0</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so always test ok before the range.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MENU-DRIVEN PROGRAMS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menu is a do-while around a switch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7" name="Shape 4"/>
          <p:cNvSpPr/>
          <p:nvPr/>
        </p:nvSpPr>
        <p:spPr>
          <a:xfrm>
            <a:off x="1645920" y="1600200"/>
            <a:ext cx="1371600" cy="365760"/>
          </a:xfrm>
          <a:prstGeom prst="flowChartTerminator">
            <a:avLst/>
          </a:prstGeom>
          <a:solidFill>
            <a:srgbClr val="FFF1D6"/>
          </a:solidFill>
          <a:ln w="15875">
            <a:solidFill>
              <a:srgbClr val="14213D"/>
            </a:solidFill>
            <a:prstDash val="solid"/>
          </a:ln>
        </p:spPr>
      </p:sp>
      <p:sp>
        <p:nvSpPr>
          <p:cNvPr id="8" name="Text 5"/>
          <p:cNvSpPr txBox="1"/>
          <p:nvPr/>
        </p:nvSpPr>
        <p:spPr>
          <a:xfrm>
            <a:off x="1691640" y="1600200"/>
            <a:ext cx="1280160" cy="3657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Start</a:t>
            </a:r>
            <a:endParaRPr lang="en-US" sz="1200" dirty="0"/>
          </a:p>
        </p:txBody>
      </p:sp>
      <p:sp>
        <p:nvSpPr>
          <p:cNvPr id="9" name="Shape 6"/>
          <p:cNvSpPr/>
          <p:nvPr/>
        </p:nvSpPr>
        <p:spPr>
          <a:xfrm>
            <a:off x="1417320" y="2185416"/>
            <a:ext cx="1828800" cy="384048"/>
          </a:xfrm>
          <a:prstGeom prst="flowChartProcess">
            <a:avLst/>
          </a:prstGeom>
          <a:solidFill>
            <a:srgbClr val="FFFFFF"/>
          </a:solidFill>
          <a:ln w="15875">
            <a:solidFill>
              <a:srgbClr val="14213D"/>
            </a:solidFill>
            <a:prstDash val="solid"/>
          </a:ln>
        </p:spPr>
      </p:sp>
      <p:sp>
        <p:nvSpPr>
          <p:cNvPr id="10" name="Text 7"/>
          <p:cNvSpPr txBox="1"/>
          <p:nvPr/>
        </p:nvSpPr>
        <p:spPr>
          <a:xfrm>
            <a:off x="1463040" y="2185416"/>
            <a:ext cx="1737360" cy="384048"/>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balance ← 0</a:t>
            </a:r>
            <a:endParaRPr lang="en-US" sz="1200" dirty="0"/>
          </a:p>
        </p:txBody>
      </p:sp>
      <p:sp>
        <p:nvSpPr>
          <p:cNvPr id="11" name="Shape 8"/>
          <p:cNvSpPr/>
          <p:nvPr/>
        </p:nvSpPr>
        <p:spPr>
          <a:xfrm>
            <a:off x="1188720" y="2811780"/>
            <a:ext cx="2286000" cy="411480"/>
          </a:xfrm>
          <a:prstGeom prst="flowChartInputOutput">
            <a:avLst/>
          </a:prstGeom>
          <a:solidFill>
            <a:srgbClr val="FFFFFF"/>
          </a:solidFill>
          <a:ln w="15875">
            <a:solidFill>
              <a:srgbClr val="14213D"/>
            </a:solidFill>
            <a:prstDash val="solid"/>
          </a:ln>
        </p:spPr>
      </p:sp>
      <p:sp>
        <p:nvSpPr>
          <p:cNvPr id="12" name="Text 9"/>
          <p:cNvSpPr txBox="1"/>
          <p:nvPr/>
        </p:nvSpPr>
        <p:spPr>
          <a:xfrm>
            <a:off x="1234440" y="2811780"/>
            <a:ext cx="21945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PRINT menu</a:t>
            </a:r>
            <a:endParaRPr lang="en-US" sz="1200" dirty="0"/>
          </a:p>
        </p:txBody>
      </p:sp>
      <p:sp>
        <p:nvSpPr>
          <p:cNvPr id="13" name="Shape 10"/>
          <p:cNvSpPr/>
          <p:nvPr/>
        </p:nvSpPr>
        <p:spPr>
          <a:xfrm>
            <a:off x="1188720" y="3451860"/>
            <a:ext cx="2286000" cy="411480"/>
          </a:xfrm>
          <a:prstGeom prst="flowChartInputOutput">
            <a:avLst/>
          </a:prstGeom>
          <a:solidFill>
            <a:srgbClr val="FFFFFF"/>
          </a:solidFill>
          <a:ln w="15875">
            <a:solidFill>
              <a:srgbClr val="14213D"/>
            </a:solidFill>
            <a:prstDash val="solid"/>
          </a:ln>
        </p:spPr>
      </p:sp>
      <p:sp>
        <p:nvSpPr>
          <p:cNvPr id="14" name="Text 11"/>
          <p:cNvSpPr txBox="1"/>
          <p:nvPr/>
        </p:nvSpPr>
        <p:spPr>
          <a:xfrm>
            <a:off x="1234440" y="3451860"/>
            <a:ext cx="21945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READ choice</a:t>
            </a:r>
            <a:endParaRPr lang="en-US" sz="1200" dirty="0"/>
          </a:p>
        </p:txBody>
      </p:sp>
      <p:sp>
        <p:nvSpPr>
          <p:cNvPr id="15" name="Shape 12"/>
          <p:cNvSpPr/>
          <p:nvPr/>
        </p:nvSpPr>
        <p:spPr>
          <a:xfrm>
            <a:off x="1188720" y="4091940"/>
            <a:ext cx="2286000" cy="411480"/>
          </a:xfrm>
          <a:prstGeom prst="flowChartPredefinedProcess">
            <a:avLst/>
          </a:prstGeom>
          <a:solidFill>
            <a:srgbClr val="FFFFFF"/>
          </a:solidFill>
          <a:ln w="15875">
            <a:solidFill>
              <a:srgbClr val="14213D"/>
            </a:solidFill>
            <a:prstDash val="solid"/>
          </a:ln>
        </p:spPr>
      </p:sp>
      <p:sp>
        <p:nvSpPr>
          <p:cNvPr id="16" name="Text 13"/>
          <p:cNvSpPr txBox="1"/>
          <p:nvPr/>
        </p:nvSpPr>
        <p:spPr>
          <a:xfrm>
            <a:off x="1234440" y="4091940"/>
            <a:ext cx="2194560" cy="41148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switch: do the action</a:t>
            </a:r>
            <a:endParaRPr lang="en-US" sz="1200" dirty="0"/>
          </a:p>
        </p:txBody>
      </p:sp>
      <p:sp>
        <p:nvSpPr>
          <p:cNvPr id="17" name="Shape 14"/>
          <p:cNvSpPr/>
          <p:nvPr/>
        </p:nvSpPr>
        <p:spPr>
          <a:xfrm>
            <a:off x="1417320" y="4732020"/>
            <a:ext cx="1828800" cy="685800"/>
          </a:xfrm>
          <a:prstGeom prst="flowChartDecision">
            <a:avLst/>
          </a:prstGeom>
          <a:solidFill>
            <a:srgbClr val="E3ECF8"/>
          </a:solidFill>
          <a:ln w="15875">
            <a:solidFill>
              <a:srgbClr val="14213D"/>
            </a:solidFill>
            <a:prstDash val="solid"/>
          </a:ln>
        </p:spPr>
      </p:sp>
      <p:sp>
        <p:nvSpPr>
          <p:cNvPr id="18" name="Text 15"/>
          <p:cNvSpPr txBox="1"/>
          <p:nvPr/>
        </p:nvSpPr>
        <p:spPr>
          <a:xfrm>
            <a:off x="1463040" y="4732020"/>
            <a:ext cx="1737360" cy="68580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choice ≠ 0 ?</a:t>
            </a:r>
            <a:endParaRPr lang="en-US" sz="1200" dirty="0"/>
          </a:p>
        </p:txBody>
      </p:sp>
      <p:sp>
        <p:nvSpPr>
          <p:cNvPr id="19" name="Shape 16"/>
          <p:cNvSpPr/>
          <p:nvPr/>
        </p:nvSpPr>
        <p:spPr>
          <a:xfrm>
            <a:off x="1645920" y="5669280"/>
            <a:ext cx="1371600" cy="365760"/>
          </a:xfrm>
          <a:prstGeom prst="flowChartTerminator">
            <a:avLst/>
          </a:prstGeom>
          <a:solidFill>
            <a:srgbClr val="FFF1D6"/>
          </a:solidFill>
          <a:ln w="15875">
            <a:solidFill>
              <a:srgbClr val="14213D"/>
            </a:solidFill>
            <a:prstDash val="solid"/>
          </a:ln>
        </p:spPr>
      </p:sp>
      <p:sp>
        <p:nvSpPr>
          <p:cNvPr id="20" name="Text 17"/>
          <p:cNvSpPr txBox="1"/>
          <p:nvPr/>
        </p:nvSpPr>
        <p:spPr>
          <a:xfrm>
            <a:off x="1691640" y="5669280"/>
            <a:ext cx="1280160" cy="365760"/>
          </a:xfrm>
          <a:prstGeom prst="rect">
            <a:avLst/>
          </a:prstGeom>
          <a:noFill/>
          <a:ln/>
        </p:spPr>
        <p:txBody>
          <a:bodyPr wrap="square" lIns="0" tIns="0" rIns="0" bIns="0" rtlCol="0" anchor="ctr"/>
          <a:lstStyle/>
          <a:p>
            <a:pPr algn="ctr" indent="0" marL="0">
              <a:buNone/>
            </a:pPr>
            <a:r>
              <a:rPr lang="en-US" sz="1200" dirty="0">
                <a:solidFill>
                  <a:srgbClr val="14213D"/>
                </a:solidFill>
                <a:latin typeface="Calibri" pitchFamily="34" charset="0"/>
                <a:ea typeface="Calibri" pitchFamily="34" charset="-122"/>
                <a:cs typeface="Calibri" pitchFamily="34" charset="-120"/>
              </a:rPr>
              <a:t>End</a:t>
            </a:r>
            <a:endParaRPr lang="en-US" sz="1200" dirty="0"/>
          </a:p>
        </p:txBody>
      </p:sp>
      <p:sp>
        <p:nvSpPr>
          <p:cNvPr id="21" name="Shape 18"/>
          <p:cNvSpPr/>
          <p:nvPr/>
        </p:nvSpPr>
        <p:spPr>
          <a:xfrm>
            <a:off x="2331720" y="1965960"/>
            <a:ext cx="0" cy="219456"/>
          </a:xfrm>
          <a:prstGeom prst="line">
            <a:avLst/>
          </a:prstGeom>
          <a:noFill/>
          <a:ln w="15875">
            <a:solidFill>
              <a:srgbClr val="14213D"/>
            </a:solidFill>
            <a:prstDash val="solid"/>
            <a:tailEnd type="triangle"/>
          </a:ln>
        </p:spPr>
      </p:sp>
      <p:sp>
        <p:nvSpPr>
          <p:cNvPr id="22" name="Shape 19"/>
          <p:cNvSpPr/>
          <p:nvPr/>
        </p:nvSpPr>
        <p:spPr>
          <a:xfrm>
            <a:off x="2331720" y="2569464"/>
            <a:ext cx="0" cy="242316"/>
          </a:xfrm>
          <a:prstGeom prst="line">
            <a:avLst/>
          </a:prstGeom>
          <a:noFill/>
          <a:ln w="15875">
            <a:solidFill>
              <a:srgbClr val="14213D"/>
            </a:solidFill>
            <a:prstDash val="solid"/>
            <a:tailEnd type="triangle"/>
          </a:ln>
        </p:spPr>
      </p:sp>
      <p:sp>
        <p:nvSpPr>
          <p:cNvPr id="23" name="Shape 20"/>
          <p:cNvSpPr/>
          <p:nvPr/>
        </p:nvSpPr>
        <p:spPr>
          <a:xfrm>
            <a:off x="2331720" y="3223260"/>
            <a:ext cx="0" cy="228600"/>
          </a:xfrm>
          <a:prstGeom prst="line">
            <a:avLst/>
          </a:prstGeom>
          <a:noFill/>
          <a:ln w="15875">
            <a:solidFill>
              <a:srgbClr val="14213D"/>
            </a:solidFill>
            <a:prstDash val="solid"/>
            <a:tailEnd type="triangle"/>
          </a:ln>
        </p:spPr>
      </p:sp>
      <p:sp>
        <p:nvSpPr>
          <p:cNvPr id="24" name="Shape 21"/>
          <p:cNvSpPr/>
          <p:nvPr/>
        </p:nvSpPr>
        <p:spPr>
          <a:xfrm>
            <a:off x="2331720" y="3863340"/>
            <a:ext cx="0" cy="228600"/>
          </a:xfrm>
          <a:prstGeom prst="line">
            <a:avLst/>
          </a:prstGeom>
          <a:noFill/>
          <a:ln w="15875">
            <a:solidFill>
              <a:srgbClr val="14213D"/>
            </a:solidFill>
            <a:prstDash val="solid"/>
            <a:tailEnd type="triangle"/>
          </a:ln>
        </p:spPr>
      </p:sp>
      <p:sp>
        <p:nvSpPr>
          <p:cNvPr id="25" name="Shape 22"/>
          <p:cNvSpPr/>
          <p:nvPr/>
        </p:nvSpPr>
        <p:spPr>
          <a:xfrm>
            <a:off x="2331720" y="4503420"/>
            <a:ext cx="0" cy="228600"/>
          </a:xfrm>
          <a:prstGeom prst="line">
            <a:avLst/>
          </a:prstGeom>
          <a:noFill/>
          <a:ln w="15875">
            <a:solidFill>
              <a:srgbClr val="14213D"/>
            </a:solidFill>
            <a:prstDash val="solid"/>
            <a:tailEnd type="triangle"/>
          </a:ln>
        </p:spPr>
      </p:sp>
      <p:sp>
        <p:nvSpPr>
          <p:cNvPr id="26" name="Shape 23"/>
          <p:cNvSpPr/>
          <p:nvPr/>
        </p:nvSpPr>
        <p:spPr>
          <a:xfrm>
            <a:off x="2331720" y="5417820"/>
            <a:ext cx="0" cy="251460"/>
          </a:xfrm>
          <a:prstGeom prst="line">
            <a:avLst/>
          </a:prstGeom>
          <a:noFill/>
          <a:ln w="15875">
            <a:solidFill>
              <a:srgbClr val="14213D"/>
            </a:solidFill>
            <a:prstDash val="solid"/>
            <a:tailEnd type="triangle"/>
          </a:ln>
        </p:spPr>
      </p:sp>
      <p:sp>
        <p:nvSpPr>
          <p:cNvPr id="27" name="Shape 24"/>
          <p:cNvSpPr/>
          <p:nvPr/>
        </p:nvSpPr>
        <p:spPr>
          <a:xfrm>
            <a:off x="3246120" y="5074920"/>
            <a:ext cx="822960" cy="0"/>
          </a:xfrm>
          <a:prstGeom prst="line">
            <a:avLst/>
          </a:prstGeom>
          <a:noFill/>
          <a:ln w="15875">
            <a:solidFill>
              <a:srgbClr val="2E9E6A"/>
            </a:solidFill>
            <a:prstDash val="solid"/>
          </a:ln>
        </p:spPr>
      </p:sp>
      <p:sp>
        <p:nvSpPr>
          <p:cNvPr id="28" name="Shape 25"/>
          <p:cNvSpPr/>
          <p:nvPr/>
        </p:nvSpPr>
        <p:spPr>
          <a:xfrm flipV="1">
            <a:off x="4069080" y="2697480"/>
            <a:ext cx="0" cy="2377440"/>
          </a:xfrm>
          <a:prstGeom prst="line">
            <a:avLst/>
          </a:prstGeom>
          <a:noFill/>
          <a:ln w="15875">
            <a:solidFill>
              <a:srgbClr val="2E9E6A"/>
            </a:solidFill>
            <a:prstDash val="solid"/>
          </a:ln>
        </p:spPr>
      </p:sp>
      <p:sp>
        <p:nvSpPr>
          <p:cNvPr id="29" name="Shape 26"/>
          <p:cNvSpPr/>
          <p:nvPr/>
        </p:nvSpPr>
        <p:spPr>
          <a:xfrm flipH="1">
            <a:off x="2331720" y="2697480"/>
            <a:ext cx="1737360" cy="0"/>
          </a:xfrm>
          <a:prstGeom prst="line">
            <a:avLst/>
          </a:prstGeom>
          <a:noFill/>
          <a:ln w="15875">
            <a:solidFill>
              <a:srgbClr val="2E9E6A"/>
            </a:solidFill>
            <a:prstDash val="solid"/>
            <a:tailEnd type="triangle"/>
          </a:ln>
        </p:spPr>
      </p:sp>
      <p:sp>
        <p:nvSpPr>
          <p:cNvPr id="30" name="Text 27"/>
          <p:cNvSpPr txBox="1"/>
          <p:nvPr/>
        </p:nvSpPr>
        <p:spPr>
          <a:xfrm>
            <a:off x="3264408" y="4800600"/>
            <a:ext cx="548640" cy="228600"/>
          </a:xfrm>
          <a:prstGeom prst="rect">
            <a:avLst/>
          </a:prstGeom>
          <a:noFill/>
          <a:ln/>
        </p:spPr>
        <p:txBody>
          <a:bodyPr wrap="square" lIns="0" tIns="0" rIns="0" bIns="0" rtlCol="0" anchor="ctr"/>
          <a:lstStyle/>
          <a:p>
            <a:pPr indent="0" marL="0">
              <a:buNone/>
            </a:pPr>
            <a:r>
              <a:rPr lang="en-US" sz="1100" b="1" dirty="0">
                <a:solidFill>
                  <a:srgbClr val="2E9E6A"/>
                </a:solidFill>
                <a:latin typeface="Calibri" pitchFamily="34" charset="0"/>
                <a:ea typeface="Calibri" pitchFamily="34" charset="-122"/>
                <a:cs typeface="Calibri" pitchFamily="34" charset="-120"/>
              </a:rPr>
              <a:t>true</a:t>
            </a:r>
            <a:endParaRPr lang="en-US" sz="1100" dirty="0"/>
          </a:p>
        </p:txBody>
      </p:sp>
      <p:sp>
        <p:nvSpPr>
          <p:cNvPr id="31" name="Text 28"/>
          <p:cNvSpPr txBox="1"/>
          <p:nvPr/>
        </p:nvSpPr>
        <p:spPr>
          <a:xfrm>
            <a:off x="2404872" y="5399532"/>
            <a:ext cx="548640" cy="228600"/>
          </a:xfrm>
          <a:prstGeom prst="rect">
            <a:avLst/>
          </a:prstGeom>
          <a:noFill/>
          <a:ln/>
        </p:spPr>
        <p:txBody>
          <a:bodyPr wrap="square" lIns="0" tIns="0" rIns="0" bIns="0" rtlCol="0" anchor="ctr"/>
          <a:lstStyle/>
          <a:p>
            <a:pPr indent="0" marL="0">
              <a:buNone/>
            </a:pPr>
            <a:r>
              <a:rPr lang="en-US" sz="1100" b="1" dirty="0">
                <a:solidFill>
                  <a:srgbClr val="C8453B"/>
                </a:solidFill>
                <a:latin typeface="Calibri" pitchFamily="34" charset="0"/>
                <a:ea typeface="Calibri" pitchFamily="34" charset="-122"/>
                <a:cs typeface="Calibri" pitchFamily="34" charset="-120"/>
              </a:rPr>
              <a:t>false</a:t>
            </a:r>
            <a:endParaRPr lang="en-US" sz="1100" dirty="0"/>
          </a:p>
        </p:txBody>
      </p:sp>
      <p:sp>
        <p:nvSpPr>
          <p:cNvPr id="32" name="Shape 29"/>
          <p:cNvSpPr/>
          <p:nvPr/>
        </p:nvSpPr>
        <p:spPr>
          <a:xfrm>
            <a:off x="4937760" y="1645920"/>
            <a:ext cx="6720840" cy="1005840"/>
          </a:xfrm>
          <a:prstGeom prst="roundRect">
            <a:avLst>
              <a:gd name="adj" fmla="val 10909"/>
            </a:avLst>
          </a:prstGeom>
          <a:solidFill>
            <a:srgbClr val="EEF1F6"/>
          </a:solidFill>
          <a:ln w="12700">
            <a:solidFill>
              <a:srgbClr val="EEF1F6"/>
            </a:solidFill>
            <a:prstDash val="solid"/>
          </a:ln>
        </p:spPr>
      </p:sp>
      <p:sp>
        <p:nvSpPr>
          <p:cNvPr id="33" name="Shape 30"/>
          <p:cNvSpPr/>
          <p:nvPr/>
        </p:nvSpPr>
        <p:spPr>
          <a:xfrm>
            <a:off x="5120640" y="1874520"/>
            <a:ext cx="548640" cy="548640"/>
          </a:xfrm>
          <a:prstGeom prst="ellipse">
            <a:avLst/>
          </a:prstGeom>
          <a:solidFill>
            <a:srgbClr val="2E9E6A"/>
          </a:solidFill>
          <a:ln w="12700">
            <a:solidFill>
              <a:srgbClr val="2E9E6A"/>
            </a:solidFill>
            <a:prstDash val="solid"/>
          </a:ln>
        </p:spPr>
      </p:sp>
      <p:pic>
        <p:nvPicPr>
          <p:cNvPr id="34" name="Image 0" descr="preencoded.png">    </p:cNvPr>
          <p:cNvPicPr>
            <a:picLocks noChangeAspect="1"/>
          </p:cNvPicPr>
          <p:nvPr/>
        </p:nvPicPr>
        <p:blipFill>
          <a:blip r:embed="rId1"/>
          <a:stretch>
            <a:fillRect/>
          </a:stretch>
        </p:blipFill>
        <p:spPr>
          <a:xfrm>
            <a:off x="5263286" y="2017166"/>
            <a:ext cx="263347" cy="263347"/>
          </a:xfrm>
          <a:prstGeom prst="rect">
            <a:avLst/>
          </a:prstGeom>
        </p:spPr>
      </p:pic>
      <p:sp>
        <p:nvSpPr>
          <p:cNvPr id="35" name="Text 31"/>
          <p:cNvSpPr txBox="1"/>
          <p:nvPr/>
        </p:nvSpPr>
        <p:spPr>
          <a:xfrm>
            <a:off x="5852160" y="1700784"/>
            <a:ext cx="5669280" cy="896112"/>
          </a:xfrm>
          <a:prstGeom prst="rect">
            <a:avLst/>
          </a:prstGeom>
          <a:noFill/>
          <a:ln/>
        </p:spPr>
        <p:txBody>
          <a:bodyPr wrap="square" lIns="0" tIns="0" rIns="0" bIns="0" rtlCol="0" anchor="ctr"/>
          <a:lstStyle/>
          <a:p>
            <a:pPr indent="0" marL="0">
              <a:spcAft>
                <a:spcPts val="200"/>
              </a:spcAft>
              <a:buNone/>
            </a:pPr>
            <a:r>
              <a:rPr lang="en-US" sz="1600" b="1" dirty="0">
                <a:solidFill>
                  <a:srgbClr val="14213D"/>
                </a:solidFill>
                <a:latin typeface="Cambria" pitchFamily="34" charset="0"/>
                <a:ea typeface="Cambria" pitchFamily="34" charset="-122"/>
                <a:cs typeface="Cambria" pitchFamily="34" charset="-120"/>
              </a:rPr>
              <a:t>do-while</a:t>
            </a:r>
            <a:endParaRPr lang="en-US" sz="1600" dirty="0"/>
          </a:p>
          <a:p>
            <a:pPr indent="0" marL="0">
              <a:spcAft>
                <a:spcPts val="200"/>
              </a:spcAft>
              <a:buNone/>
            </a:pPr>
            <a:r>
              <a:rPr lang="en-US" sz="1500" dirty="0">
                <a:solidFill>
                  <a:srgbClr val="333B4F"/>
                </a:solidFill>
                <a:latin typeface="Calibri" pitchFamily="34" charset="0"/>
                <a:ea typeface="Calibri" pitchFamily="34" charset="-122"/>
                <a:cs typeface="Calibri" pitchFamily="34" charset="-120"/>
              </a:rPr>
              <a:t>The menu must be shown at least once.</a:t>
            </a:r>
            <a:endParaRPr lang="en-US" sz="1600" dirty="0"/>
          </a:p>
        </p:txBody>
      </p:sp>
      <p:sp>
        <p:nvSpPr>
          <p:cNvPr id="36" name="Shape 32"/>
          <p:cNvSpPr/>
          <p:nvPr/>
        </p:nvSpPr>
        <p:spPr>
          <a:xfrm>
            <a:off x="4937760" y="2788920"/>
            <a:ext cx="6720840" cy="1005840"/>
          </a:xfrm>
          <a:prstGeom prst="roundRect">
            <a:avLst>
              <a:gd name="adj" fmla="val 10909"/>
            </a:avLst>
          </a:prstGeom>
          <a:solidFill>
            <a:srgbClr val="EEF1F6"/>
          </a:solidFill>
          <a:ln w="12700">
            <a:solidFill>
              <a:srgbClr val="EEF1F6"/>
            </a:solidFill>
            <a:prstDash val="solid"/>
          </a:ln>
        </p:spPr>
      </p:sp>
      <p:sp>
        <p:nvSpPr>
          <p:cNvPr id="37" name="Shape 33"/>
          <p:cNvSpPr/>
          <p:nvPr/>
        </p:nvSpPr>
        <p:spPr>
          <a:xfrm>
            <a:off x="5120640" y="3017520"/>
            <a:ext cx="548640" cy="548640"/>
          </a:xfrm>
          <a:prstGeom prst="ellipse">
            <a:avLst/>
          </a:prstGeom>
          <a:solidFill>
            <a:srgbClr val="2F6FB3"/>
          </a:solidFill>
          <a:ln w="12700">
            <a:solidFill>
              <a:srgbClr val="2F6FB3"/>
            </a:solidFill>
            <a:prstDash val="solid"/>
          </a:ln>
        </p:spPr>
      </p:sp>
      <p:pic>
        <p:nvPicPr>
          <p:cNvPr id="38" name="Image 1" descr="preencoded.png">    </p:cNvPr>
          <p:cNvPicPr>
            <a:picLocks noChangeAspect="1"/>
          </p:cNvPicPr>
          <p:nvPr/>
        </p:nvPicPr>
        <p:blipFill>
          <a:blip r:embed="rId2"/>
          <a:stretch>
            <a:fillRect/>
          </a:stretch>
        </p:blipFill>
        <p:spPr>
          <a:xfrm>
            <a:off x="5263286" y="3160166"/>
            <a:ext cx="263347" cy="263347"/>
          </a:xfrm>
          <a:prstGeom prst="rect">
            <a:avLst/>
          </a:prstGeom>
        </p:spPr>
      </p:pic>
      <p:sp>
        <p:nvSpPr>
          <p:cNvPr id="39" name="Text 34"/>
          <p:cNvSpPr txBox="1"/>
          <p:nvPr/>
        </p:nvSpPr>
        <p:spPr>
          <a:xfrm>
            <a:off x="5852160" y="2843784"/>
            <a:ext cx="5669280" cy="896112"/>
          </a:xfrm>
          <a:prstGeom prst="rect">
            <a:avLst/>
          </a:prstGeom>
          <a:noFill/>
          <a:ln/>
        </p:spPr>
        <p:txBody>
          <a:bodyPr wrap="square" lIns="0" tIns="0" rIns="0" bIns="0" rtlCol="0" anchor="ctr"/>
          <a:lstStyle/>
          <a:p>
            <a:pPr indent="0" marL="0">
              <a:spcAft>
                <a:spcPts val="200"/>
              </a:spcAft>
              <a:buNone/>
            </a:pPr>
            <a:r>
              <a:rPr lang="en-US" sz="1600" b="1" dirty="0">
                <a:solidFill>
                  <a:srgbClr val="14213D"/>
                </a:solidFill>
                <a:latin typeface="Cambria" pitchFamily="34" charset="0"/>
                <a:ea typeface="Cambria" pitchFamily="34" charset="-122"/>
                <a:cs typeface="Cambria" pitchFamily="34" charset="-120"/>
              </a:rPr>
              <a:t>switch (Week 5)</a:t>
            </a:r>
            <a:endParaRPr lang="en-US" sz="1600" dirty="0"/>
          </a:p>
          <a:p>
            <a:pPr indent="0" marL="0">
              <a:spcAft>
                <a:spcPts val="200"/>
              </a:spcAft>
              <a:buNone/>
            </a:pPr>
            <a:r>
              <a:rPr lang="en-US" sz="1500" dirty="0">
                <a:solidFill>
                  <a:srgbClr val="333B4F"/>
                </a:solidFill>
                <a:latin typeface="Calibri" pitchFamily="34" charset="0"/>
                <a:ea typeface="Calibri" pitchFamily="34" charset="-122"/>
                <a:cs typeface="Calibri" pitchFamily="34" charset="-120"/>
              </a:rPr>
              <a:t>One case per menu option; default catches everything else.</a:t>
            </a:r>
            <a:endParaRPr lang="en-US" sz="1600" dirty="0"/>
          </a:p>
        </p:txBody>
      </p:sp>
      <p:sp>
        <p:nvSpPr>
          <p:cNvPr id="40" name="Shape 35"/>
          <p:cNvSpPr/>
          <p:nvPr/>
        </p:nvSpPr>
        <p:spPr>
          <a:xfrm>
            <a:off x="4937760" y="3931920"/>
            <a:ext cx="6720840" cy="1005840"/>
          </a:xfrm>
          <a:prstGeom prst="roundRect">
            <a:avLst>
              <a:gd name="adj" fmla="val 10909"/>
            </a:avLst>
          </a:prstGeom>
          <a:solidFill>
            <a:srgbClr val="EEF1F6"/>
          </a:solidFill>
          <a:ln w="12700">
            <a:solidFill>
              <a:srgbClr val="EEF1F6"/>
            </a:solidFill>
            <a:prstDash val="solid"/>
          </a:ln>
        </p:spPr>
      </p:sp>
      <p:sp>
        <p:nvSpPr>
          <p:cNvPr id="41" name="Shape 36"/>
          <p:cNvSpPr/>
          <p:nvPr/>
        </p:nvSpPr>
        <p:spPr>
          <a:xfrm>
            <a:off x="5120640" y="4160520"/>
            <a:ext cx="548640" cy="548640"/>
          </a:xfrm>
          <a:prstGeom prst="ellipse">
            <a:avLst/>
          </a:prstGeom>
          <a:solidFill>
            <a:srgbClr val="14213D"/>
          </a:solidFill>
          <a:ln w="12700">
            <a:solidFill>
              <a:srgbClr val="14213D"/>
            </a:solidFill>
            <a:prstDash val="solid"/>
          </a:ln>
        </p:spPr>
      </p:sp>
      <p:pic>
        <p:nvPicPr>
          <p:cNvPr id="42" name="Image 2" descr="preencoded.png">    </p:cNvPr>
          <p:cNvPicPr>
            <a:picLocks noChangeAspect="1"/>
          </p:cNvPicPr>
          <p:nvPr/>
        </p:nvPicPr>
        <p:blipFill>
          <a:blip r:embed="rId3"/>
          <a:stretch>
            <a:fillRect/>
          </a:stretch>
        </p:blipFill>
        <p:spPr>
          <a:xfrm>
            <a:off x="5263286" y="4303166"/>
            <a:ext cx="263347" cy="263347"/>
          </a:xfrm>
          <a:prstGeom prst="rect">
            <a:avLst/>
          </a:prstGeom>
        </p:spPr>
      </p:pic>
      <p:sp>
        <p:nvSpPr>
          <p:cNvPr id="43" name="Text 37"/>
          <p:cNvSpPr txBox="1"/>
          <p:nvPr/>
        </p:nvSpPr>
        <p:spPr>
          <a:xfrm>
            <a:off x="5852160" y="3986784"/>
            <a:ext cx="5669280" cy="896112"/>
          </a:xfrm>
          <a:prstGeom prst="rect">
            <a:avLst/>
          </a:prstGeom>
          <a:noFill/>
          <a:ln/>
        </p:spPr>
        <p:txBody>
          <a:bodyPr wrap="square" lIns="0" tIns="0" rIns="0" bIns="0" rtlCol="0" anchor="ctr"/>
          <a:lstStyle/>
          <a:p>
            <a:pPr indent="0" marL="0">
              <a:spcAft>
                <a:spcPts val="200"/>
              </a:spcAft>
              <a:buNone/>
            </a:pPr>
            <a:r>
              <a:rPr lang="en-US" sz="1600" b="1" dirty="0">
                <a:solidFill>
                  <a:srgbClr val="14213D"/>
                </a:solidFill>
                <a:latin typeface="Cambria" pitchFamily="34" charset="0"/>
                <a:ea typeface="Cambria" pitchFamily="34" charset="-122"/>
                <a:cs typeface="Cambria" pitchFamily="34" charset="-120"/>
              </a:rPr>
              <a:t>Exit option</a:t>
            </a:r>
            <a:endParaRPr lang="en-US" sz="1600" dirty="0"/>
          </a:p>
          <a:p>
            <a:pPr indent="0" marL="0">
              <a:spcAft>
                <a:spcPts val="200"/>
              </a:spcAft>
              <a:buNone/>
            </a:pPr>
            <a:r>
              <a:rPr lang="en-US" sz="1500" dirty="0">
                <a:solidFill>
                  <a:srgbClr val="333B4F"/>
                </a:solidFill>
                <a:latin typeface="Calibri" pitchFamily="34" charset="0"/>
                <a:ea typeface="Calibri" pitchFamily="34" charset="-122"/>
                <a:cs typeface="Calibri" pitchFamily="34" charset="-120"/>
              </a:rPr>
              <a:t>The loop condition is choice != 0.</a:t>
            </a:r>
            <a:endParaRPr lang="en-US" sz="1600" dirty="0"/>
          </a:p>
        </p:txBody>
      </p:sp>
      <p:sp>
        <p:nvSpPr>
          <p:cNvPr id="44" name="Shape 38"/>
          <p:cNvSpPr/>
          <p:nvPr/>
        </p:nvSpPr>
        <p:spPr>
          <a:xfrm>
            <a:off x="4937760" y="5074920"/>
            <a:ext cx="6720840" cy="1005840"/>
          </a:xfrm>
          <a:prstGeom prst="roundRect">
            <a:avLst>
              <a:gd name="adj" fmla="val 10909"/>
            </a:avLst>
          </a:prstGeom>
          <a:solidFill>
            <a:srgbClr val="EEF1F6"/>
          </a:solidFill>
          <a:ln w="12700">
            <a:solidFill>
              <a:srgbClr val="EEF1F6"/>
            </a:solidFill>
            <a:prstDash val="solid"/>
          </a:ln>
        </p:spPr>
      </p:sp>
      <p:sp>
        <p:nvSpPr>
          <p:cNvPr id="45" name="Shape 39"/>
          <p:cNvSpPr/>
          <p:nvPr/>
        </p:nvSpPr>
        <p:spPr>
          <a:xfrm>
            <a:off x="5120640" y="5303520"/>
            <a:ext cx="548640" cy="548640"/>
          </a:xfrm>
          <a:prstGeom prst="ellipse">
            <a:avLst/>
          </a:prstGeom>
          <a:solidFill>
            <a:srgbClr val="C8453B"/>
          </a:solidFill>
          <a:ln w="12700">
            <a:solidFill>
              <a:srgbClr val="C8453B"/>
            </a:solidFill>
            <a:prstDash val="solid"/>
          </a:ln>
        </p:spPr>
      </p:sp>
      <p:pic>
        <p:nvPicPr>
          <p:cNvPr id="46" name="Image 3" descr="preencoded.png">    </p:cNvPr>
          <p:cNvPicPr>
            <a:picLocks noChangeAspect="1"/>
          </p:cNvPicPr>
          <p:nvPr/>
        </p:nvPicPr>
        <p:blipFill>
          <a:blip r:embed="rId4"/>
          <a:stretch>
            <a:fillRect/>
          </a:stretch>
        </p:blipFill>
        <p:spPr>
          <a:xfrm>
            <a:off x="5263286" y="5446166"/>
            <a:ext cx="263347" cy="263347"/>
          </a:xfrm>
          <a:prstGeom prst="rect">
            <a:avLst/>
          </a:prstGeom>
        </p:spPr>
      </p:pic>
      <p:sp>
        <p:nvSpPr>
          <p:cNvPr id="47" name="Text 40"/>
          <p:cNvSpPr txBox="1"/>
          <p:nvPr/>
        </p:nvSpPr>
        <p:spPr>
          <a:xfrm>
            <a:off x="5852160" y="5129784"/>
            <a:ext cx="5669280" cy="896112"/>
          </a:xfrm>
          <a:prstGeom prst="rect">
            <a:avLst/>
          </a:prstGeom>
          <a:noFill/>
          <a:ln/>
        </p:spPr>
        <p:txBody>
          <a:bodyPr wrap="square" lIns="0" tIns="0" rIns="0" bIns="0" rtlCol="0" anchor="ctr"/>
          <a:lstStyle/>
          <a:p>
            <a:pPr indent="0" marL="0">
              <a:spcAft>
                <a:spcPts val="200"/>
              </a:spcAft>
              <a:buNone/>
            </a:pPr>
            <a:r>
              <a:rPr lang="en-US" sz="1600" b="1" dirty="0">
                <a:solidFill>
                  <a:srgbClr val="14213D"/>
                </a:solidFill>
                <a:latin typeface="Cambria" pitchFamily="34" charset="0"/>
                <a:ea typeface="Cambria" pitchFamily="34" charset="-122"/>
                <a:cs typeface="Cambria" pitchFamily="34" charset="-120"/>
              </a:rPr>
              <a:t>TryParse fails: choice = 0 = Exit!</a:t>
            </a:r>
            <a:endParaRPr lang="en-US" sz="1600" dirty="0"/>
          </a:p>
          <a:p>
            <a:pPr indent="0" marL="0">
              <a:spcAft>
                <a:spcPts val="200"/>
              </a:spcAft>
              <a:buNone/>
            </a:pPr>
            <a:r>
              <a:rPr lang="en-US" sz="1500" dirty="0">
                <a:solidFill>
                  <a:srgbClr val="333B4F"/>
                </a:solidFill>
                <a:latin typeface="Calibri" pitchFamily="34" charset="0"/>
                <a:ea typeface="Calibri" pitchFamily="34" charset="-122"/>
                <a:cs typeface="Calibri" pitchFamily="34" charset="-120"/>
              </a:rPr>
              <a:t>Set choice = -1 instead, so default reports the error.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4 · 07_04_BANKMENU</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Okan Mini Bank: menu loop in C#</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548640" y="1645920"/>
            <a:ext cx="66751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21792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 Balance 2) Deposit 3) Withdraw 0) Exit"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"Choice: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not a number -&gt; default case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switch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case 1, 2, 3: balance, deposit, withdraw (see Program.cs)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"Goodbye!"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default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"Unknown option, try again."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(choice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06640" y="1645920"/>
            <a:ext cx="4251960" cy="3566160"/>
          </a:xfrm>
          <a:prstGeom prst="roundRect">
            <a:avLst>
              <a:gd name="adj" fmla="val 2564"/>
            </a:avLst>
          </a:prstGeom>
          <a:solidFill>
            <a:srgbClr val="0B0F19"/>
          </a:solidFill>
          <a:ln w="12700">
            <a:solidFill>
              <a:srgbClr val="2A3654"/>
            </a:solidFill>
            <a:prstDash val="solid"/>
          </a:ln>
        </p:spPr>
      </p:sp>
      <p:sp>
        <p:nvSpPr>
          <p:cNvPr id="11" name="Shape 8"/>
          <p:cNvSpPr/>
          <p:nvPr/>
        </p:nvSpPr>
        <p:spPr>
          <a:xfrm>
            <a:off x="75895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181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467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21040" y="1719072"/>
            <a:ext cx="3154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35240" y="2029968"/>
            <a:ext cx="3794760" cy="30632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OKAN MINI BANK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Balance 2) Deposit 3) Withdraw 0) Exit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Amount to deposit: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New balance: 500.00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Balance 2) Deposit 3) Withdraw 0) Exit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Amount to withdraw: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750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Insufficient funds.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Balance 2) Deposit 3) Withdraw 0) Exit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x</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Unknown option, try again.</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Balance 2) Deposit 3) Withdraw 0) Exit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Choice: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Goodbye!</a:t>
            </a:r>
            <a:endParaRPr lang="en-US" sz="1200" dirty="0"/>
          </a:p>
        </p:txBody>
      </p:sp>
      <p:sp>
        <p:nvSpPr>
          <p:cNvPr id="16" name="Shape 13"/>
          <p:cNvSpPr/>
          <p:nvPr/>
        </p:nvSpPr>
        <p:spPr>
          <a:xfrm>
            <a:off x="7406640" y="5349240"/>
            <a:ext cx="4251960" cy="731520"/>
          </a:xfrm>
          <a:prstGeom prst="roundRect">
            <a:avLst>
              <a:gd name="adj" fmla="val 15000"/>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7680960" y="5486400"/>
            <a:ext cx="457200" cy="457200"/>
          </a:xfrm>
          <a:prstGeom prst="rect">
            <a:avLst/>
          </a:prstGeom>
        </p:spPr>
      </p:pic>
      <p:sp>
        <p:nvSpPr>
          <p:cNvPr id="18" name="Text 14"/>
          <p:cNvSpPr txBox="1"/>
          <p:nvPr/>
        </p:nvSpPr>
        <p:spPr>
          <a:xfrm>
            <a:off x="8412480" y="5422392"/>
            <a:ext cx="2971800" cy="58521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"x" is not 0: </a:t>
            </a:r>
            <a:pPr indent="0" marL="0">
              <a:buNone/>
            </a:pPr>
            <a:r>
              <a:rPr lang="en-US" sz="1400" dirty="0">
                <a:solidFill>
                  <a:srgbClr val="333B4F"/>
                </a:solidFill>
                <a:latin typeface="Calibri" pitchFamily="34" charset="0"/>
                <a:ea typeface="Calibri" pitchFamily="34" charset="-122"/>
                <a:cs typeface="Calibri" pitchFamily="34" charset="-120"/>
              </a:rPr>
              <a:t>choice = -1 → default.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Number algorithms with while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Euclid GCD &amp; LCM · digits with % 10 and / 10 · decimal → binary · Collatz</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7</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5 · 07_05_GCDLCM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Euclid's GCD (Week 1) in C# — and the LCM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 inside else)</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copies: a and b are needed for the LCM</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b;</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x</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",6}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y</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",6}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x % y</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$"{x,6} {y,6} {r,7}"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gcd = x;</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lcm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 / gcd * b;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divide first, then multiply</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$"GCD({a}, {b}) = {gcd}"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$"LCM({a}, {b}) = {lcm}"</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2331720"/>
          </a:xfrm>
          <a:prstGeom prst="roundRect">
            <a:avLst>
              <a:gd name="adj" fmla="val 3922"/>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2029968"/>
            <a:ext cx="4023360" cy="182880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First positive integer a :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Second positive integer b: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x      y   x % y</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48     18      12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18     12       6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12      6       0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GCD(48, 18) = 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LCM(48, 18) = 144</a:t>
            </a:r>
            <a:endParaRPr lang="en-US" sz="1300" dirty="0"/>
          </a:p>
        </p:txBody>
      </p:sp>
      <p:sp>
        <p:nvSpPr>
          <p:cNvPr id="16" name="Shape 13"/>
          <p:cNvSpPr/>
          <p:nvPr/>
        </p:nvSpPr>
        <p:spPr>
          <a:xfrm>
            <a:off x="7178040" y="4114800"/>
            <a:ext cx="4480560" cy="914400"/>
          </a:xfrm>
          <a:prstGeom prst="roundRect">
            <a:avLst>
              <a:gd name="adj" fmla="val 12000"/>
            </a:avLst>
          </a:prstGeom>
          <a:solidFill>
            <a:srgbClr val="EEF1F6"/>
          </a:solidFill>
          <a:ln w="12700">
            <a:solidFill>
              <a:srgbClr val="EEF1F6"/>
            </a:solidFill>
            <a:prstDash val="solid"/>
          </a:ln>
        </p:spPr>
      </p:sp>
      <p:sp>
        <p:nvSpPr>
          <p:cNvPr id="17" name="Shape 14"/>
          <p:cNvSpPr/>
          <p:nvPr/>
        </p:nvSpPr>
        <p:spPr>
          <a:xfrm>
            <a:off x="7360920" y="4297680"/>
            <a:ext cx="548640" cy="548640"/>
          </a:xfrm>
          <a:prstGeom prst="ellipse">
            <a:avLst/>
          </a:prstGeom>
          <a:solidFill>
            <a:srgbClr val="2E9E6A"/>
          </a:solidFill>
          <a:ln w="12700">
            <a:solidFill>
              <a:srgbClr val="2E9E6A"/>
            </a:solidFill>
            <a:prstDash val="solid"/>
          </a:ln>
        </p:spPr>
      </p:sp>
      <p:pic>
        <p:nvPicPr>
          <p:cNvPr id="18" name="Image 0" descr="preencoded.png">    </p:cNvPr>
          <p:cNvPicPr>
            <a:picLocks noChangeAspect="1"/>
          </p:cNvPicPr>
          <p:nvPr/>
        </p:nvPicPr>
        <p:blipFill>
          <a:blip r:embed="rId1"/>
          <a:stretch>
            <a:fillRect/>
          </a:stretch>
        </p:blipFill>
        <p:spPr>
          <a:xfrm>
            <a:off x="7503566" y="4440326"/>
            <a:ext cx="263347" cy="263347"/>
          </a:xfrm>
          <a:prstGeom prst="rect">
            <a:avLst/>
          </a:prstGeom>
        </p:spPr>
      </p:pic>
      <p:sp>
        <p:nvSpPr>
          <p:cNvPr id="19" name="Text 15"/>
          <p:cNvSpPr txBox="1"/>
          <p:nvPr/>
        </p:nvSpPr>
        <p:spPr>
          <a:xfrm>
            <a:off x="8092440" y="4169664"/>
            <a:ext cx="3429000" cy="8046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gcd(48,18) = gcd(18,12)</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 gcd(12,6) = gcd(6,0) = 6</a:t>
            </a:r>
            <a:endParaRPr lang="en-US" sz="1400" dirty="0"/>
          </a:p>
        </p:txBody>
      </p:sp>
      <p:sp>
        <p:nvSpPr>
          <p:cNvPr id="20" name="Shape 16"/>
          <p:cNvSpPr/>
          <p:nvPr/>
        </p:nvSpPr>
        <p:spPr>
          <a:xfrm>
            <a:off x="7178040" y="5166360"/>
            <a:ext cx="4480560" cy="914400"/>
          </a:xfrm>
          <a:prstGeom prst="roundRect">
            <a:avLst>
              <a:gd name="adj" fmla="val 12000"/>
            </a:avLst>
          </a:prstGeom>
          <a:solidFill>
            <a:srgbClr val="EEF1F6"/>
          </a:solidFill>
          <a:ln w="12700">
            <a:solidFill>
              <a:srgbClr val="EEF1F6"/>
            </a:solidFill>
            <a:prstDash val="solid"/>
          </a:ln>
        </p:spPr>
      </p:sp>
      <p:sp>
        <p:nvSpPr>
          <p:cNvPr id="21" name="Shape 17"/>
          <p:cNvSpPr/>
          <p:nvPr/>
        </p:nvSpPr>
        <p:spPr>
          <a:xfrm>
            <a:off x="7360920" y="5349240"/>
            <a:ext cx="548640" cy="548640"/>
          </a:xfrm>
          <a:prstGeom prst="ellipse">
            <a:avLst/>
          </a:prstGeom>
          <a:solidFill>
            <a:srgbClr val="14213D"/>
          </a:solidFill>
          <a:ln w="12700">
            <a:solidFill>
              <a:srgbClr val="14213D"/>
            </a:solidFill>
            <a:prstDash val="solid"/>
          </a:ln>
        </p:spPr>
      </p:sp>
      <p:pic>
        <p:nvPicPr>
          <p:cNvPr id="22" name="Image 1" descr="preencoded.png">    </p:cNvPr>
          <p:cNvPicPr>
            <a:picLocks noChangeAspect="1"/>
          </p:cNvPicPr>
          <p:nvPr/>
        </p:nvPicPr>
        <p:blipFill>
          <a:blip r:embed="rId2"/>
          <a:stretch>
            <a:fillRect/>
          </a:stretch>
        </p:blipFill>
        <p:spPr>
          <a:xfrm>
            <a:off x="7503566" y="5491886"/>
            <a:ext cx="263347" cy="263347"/>
          </a:xfrm>
          <a:prstGeom prst="rect">
            <a:avLst/>
          </a:prstGeom>
        </p:spPr>
      </p:pic>
      <p:sp>
        <p:nvSpPr>
          <p:cNvPr id="23" name="Text 18"/>
          <p:cNvSpPr txBox="1"/>
          <p:nvPr/>
        </p:nvSpPr>
        <p:spPr>
          <a:xfrm>
            <a:off x="8092440" y="5221224"/>
            <a:ext cx="3429000" cy="80467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lcm = a / gcd · b</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48 / 6 · 18 = 144</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PEELING OFF DIGITS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 10 gives the last digit, / 10 removes it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1417320" y="1691640"/>
            <a:ext cx="868680" cy="914400"/>
          </a:xfrm>
          <a:prstGeom prst="roundRect">
            <a:avLst>
              <a:gd name="adj" fmla="val 12632"/>
            </a:avLst>
          </a:prstGeom>
          <a:solidFill>
            <a:srgbClr val="EEF1F6"/>
          </a:solidFill>
          <a:ln w="12700">
            <a:solidFill>
              <a:srgbClr val="EEF1F6"/>
            </a:solidFill>
            <a:prstDash val="solid"/>
          </a:ln>
        </p:spPr>
      </p:sp>
      <p:sp>
        <p:nvSpPr>
          <p:cNvPr id="8" name="Text 5"/>
          <p:cNvSpPr txBox="1"/>
          <p:nvPr/>
        </p:nvSpPr>
        <p:spPr>
          <a:xfrm>
            <a:off x="1417320" y="1691640"/>
            <a:ext cx="868680" cy="914400"/>
          </a:xfrm>
          <a:prstGeom prst="rect">
            <a:avLst/>
          </a:prstGeom>
          <a:noFill/>
          <a:ln/>
        </p:spPr>
        <p:txBody>
          <a:bodyPr wrap="square" lIns="0" tIns="0" rIns="0" bIns="0" rtlCol="0" anchor="ctr"/>
          <a:lstStyle/>
          <a:p>
            <a:pPr algn="ctr" indent="0" marL="0">
              <a:buNone/>
            </a:pPr>
            <a:r>
              <a:rPr lang="en-US" sz="3600" b="1" dirty="0">
                <a:solidFill>
                  <a:srgbClr val="14213D"/>
                </a:solidFill>
                <a:latin typeface="Courier New" pitchFamily="34" charset="0"/>
                <a:ea typeface="Courier New" pitchFamily="34" charset="-122"/>
                <a:cs typeface="Courier New" pitchFamily="34" charset="-120"/>
              </a:rPr>
              <a:t>4</a:t>
            </a:r>
            <a:endParaRPr lang="en-US" sz="3600" dirty="0"/>
          </a:p>
        </p:txBody>
      </p:sp>
      <p:sp>
        <p:nvSpPr>
          <p:cNvPr id="9" name="Shape 6"/>
          <p:cNvSpPr/>
          <p:nvPr/>
        </p:nvSpPr>
        <p:spPr>
          <a:xfrm>
            <a:off x="2423160" y="1691640"/>
            <a:ext cx="868680" cy="914400"/>
          </a:xfrm>
          <a:prstGeom prst="roundRect">
            <a:avLst>
              <a:gd name="adj" fmla="val 12632"/>
            </a:avLst>
          </a:prstGeom>
          <a:solidFill>
            <a:srgbClr val="EEF1F6"/>
          </a:solidFill>
          <a:ln w="12700">
            <a:solidFill>
              <a:srgbClr val="EEF1F6"/>
            </a:solidFill>
            <a:prstDash val="solid"/>
          </a:ln>
        </p:spPr>
      </p:sp>
      <p:sp>
        <p:nvSpPr>
          <p:cNvPr id="10" name="Text 7"/>
          <p:cNvSpPr txBox="1"/>
          <p:nvPr/>
        </p:nvSpPr>
        <p:spPr>
          <a:xfrm>
            <a:off x="2423160" y="1691640"/>
            <a:ext cx="868680" cy="914400"/>
          </a:xfrm>
          <a:prstGeom prst="rect">
            <a:avLst/>
          </a:prstGeom>
          <a:noFill/>
          <a:ln/>
        </p:spPr>
        <p:txBody>
          <a:bodyPr wrap="square" lIns="0" tIns="0" rIns="0" bIns="0" rtlCol="0" anchor="ctr"/>
          <a:lstStyle/>
          <a:p>
            <a:pPr algn="ctr" indent="0" marL="0">
              <a:buNone/>
            </a:pPr>
            <a:r>
              <a:rPr lang="en-US" sz="3600" b="1" dirty="0">
                <a:solidFill>
                  <a:srgbClr val="14213D"/>
                </a:solidFill>
                <a:latin typeface="Courier New" pitchFamily="34" charset="0"/>
                <a:ea typeface="Courier New" pitchFamily="34" charset="-122"/>
                <a:cs typeface="Courier New" pitchFamily="34" charset="-120"/>
              </a:rPr>
              <a:t>0</a:t>
            </a:r>
            <a:endParaRPr lang="en-US" sz="3600" dirty="0"/>
          </a:p>
        </p:txBody>
      </p:sp>
      <p:sp>
        <p:nvSpPr>
          <p:cNvPr id="11" name="Shape 8"/>
          <p:cNvSpPr/>
          <p:nvPr/>
        </p:nvSpPr>
        <p:spPr>
          <a:xfrm>
            <a:off x="3429000" y="1691640"/>
            <a:ext cx="868680" cy="914400"/>
          </a:xfrm>
          <a:prstGeom prst="roundRect">
            <a:avLst>
              <a:gd name="adj" fmla="val 12632"/>
            </a:avLst>
          </a:prstGeom>
          <a:solidFill>
            <a:srgbClr val="EEF1F6"/>
          </a:solidFill>
          <a:ln w="12700">
            <a:solidFill>
              <a:srgbClr val="EEF1F6"/>
            </a:solidFill>
            <a:prstDash val="solid"/>
          </a:ln>
        </p:spPr>
      </p:sp>
      <p:sp>
        <p:nvSpPr>
          <p:cNvPr id="12" name="Text 9"/>
          <p:cNvSpPr txBox="1"/>
          <p:nvPr/>
        </p:nvSpPr>
        <p:spPr>
          <a:xfrm>
            <a:off x="3429000" y="1691640"/>
            <a:ext cx="868680" cy="914400"/>
          </a:xfrm>
          <a:prstGeom prst="rect">
            <a:avLst/>
          </a:prstGeom>
          <a:noFill/>
          <a:ln/>
        </p:spPr>
        <p:txBody>
          <a:bodyPr wrap="square" lIns="0" tIns="0" rIns="0" bIns="0" rtlCol="0" anchor="ctr"/>
          <a:lstStyle/>
          <a:p>
            <a:pPr algn="ctr" indent="0" marL="0">
              <a:buNone/>
            </a:pPr>
            <a:r>
              <a:rPr lang="en-US" sz="3600" b="1" dirty="0">
                <a:solidFill>
                  <a:srgbClr val="14213D"/>
                </a:solidFill>
                <a:latin typeface="Courier New" pitchFamily="34" charset="0"/>
                <a:ea typeface="Courier New" pitchFamily="34" charset="-122"/>
                <a:cs typeface="Courier New" pitchFamily="34" charset="-120"/>
              </a:rPr>
              <a:t>7</a:t>
            </a:r>
            <a:endParaRPr lang="en-US" sz="3600" dirty="0"/>
          </a:p>
        </p:txBody>
      </p:sp>
      <p:sp>
        <p:nvSpPr>
          <p:cNvPr id="13" name="Shape 10"/>
          <p:cNvSpPr/>
          <p:nvPr/>
        </p:nvSpPr>
        <p:spPr>
          <a:xfrm>
            <a:off x="4434840" y="1691640"/>
            <a:ext cx="868680" cy="914400"/>
          </a:xfrm>
          <a:prstGeom prst="roundRect">
            <a:avLst>
              <a:gd name="adj" fmla="val 12632"/>
            </a:avLst>
          </a:prstGeom>
          <a:solidFill>
            <a:srgbClr val="FFF1D6"/>
          </a:solidFill>
          <a:ln w="12700">
            <a:solidFill>
              <a:srgbClr val="FFF1D6"/>
            </a:solidFill>
            <a:prstDash val="solid"/>
          </a:ln>
        </p:spPr>
      </p:sp>
      <p:sp>
        <p:nvSpPr>
          <p:cNvPr id="14" name="Text 11"/>
          <p:cNvSpPr txBox="1"/>
          <p:nvPr/>
        </p:nvSpPr>
        <p:spPr>
          <a:xfrm>
            <a:off x="4434840" y="1691640"/>
            <a:ext cx="868680" cy="914400"/>
          </a:xfrm>
          <a:prstGeom prst="rect">
            <a:avLst/>
          </a:prstGeom>
          <a:noFill/>
          <a:ln/>
        </p:spPr>
        <p:txBody>
          <a:bodyPr wrap="square" lIns="0" tIns="0" rIns="0" bIns="0" rtlCol="0" anchor="ctr"/>
          <a:lstStyle/>
          <a:p>
            <a:pPr algn="ctr" indent="0" marL="0">
              <a:buNone/>
            </a:pPr>
            <a:r>
              <a:rPr lang="en-US" sz="3600" b="1" dirty="0">
                <a:solidFill>
                  <a:srgbClr val="14213D"/>
                </a:solidFill>
                <a:latin typeface="Courier New" pitchFamily="34" charset="0"/>
                <a:ea typeface="Courier New" pitchFamily="34" charset="-122"/>
                <a:cs typeface="Courier New" pitchFamily="34" charset="-120"/>
              </a:rPr>
              <a:t>1</a:t>
            </a:r>
            <a:endParaRPr lang="en-US" sz="3600" dirty="0"/>
          </a:p>
        </p:txBody>
      </p:sp>
      <p:sp>
        <p:nvSpPr>
          <p:cNvPr id="15" name="Shape 12"/>
          <p:cNvSpPr/>
          <p:nvPr/>
        </p:nvSpPr>
        <p:spPr>
          <a:xfrm>
            <a:off x="548640" y="2834640"/>
            <a:ext cx="3017520" cy="777240"/>
          </a:xfrm>
          <a:prstGeom prst="roundRect">
            <a:avLst>
              <a:gd name="adj" fmla="val 11765"/>
            </a:avLst>
          </a:prstGeom>
          <a:solidFill>
            <a:srgbClr val="0F1729"/>
          </a:solidFill>
          <a:ln w="12700">
            <a:solidFill>
              <a:srgbClr val="0F1729"/>
            </a:solidFill>
            <a:prstDash val="solid"/>
          </a:ln>
        </p:spPr>
      </p:sp>
      <p:sp>
        <p:nvSpPr>
          <p:cNvPr id="16" name="Text 13"/>
          <p:cNvSpPr txBox="1"/>
          <p:nvPr/>
        </p:nvSpPr>
        <p:spPr>
          <a:xfrm>
            <a:off x="777240" y="2999232"/>
            <a:ext cx="2560320" cy="502920"/>
          </a:xfrm>
          <a:prstGeom prst="rect">
            <a:avLst/>
          </a:prstGeom>
          <a:noFill/>
          <a:ln/>
        </p:spPr>
        <p:txBody>
          <a:bodyPr wrap="square" lIns="0" tIns="0" rIns="0" bIns="0" rtlCol="0" anchor="t"/>
          <a:lstStyle/>
          <a:p>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4071</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10</a:t>
            </a:r>
            <a:endParaRPr lang="en-US" sz="1600" dirty="0"/>
          </a:p>
        </p:txBody>
      </p:sp>
      <p:sp>
        <p:nvSpPr>
          <p:cNvPr id="17" name="Text 14"/>
          <p:cNvSpPr txBox="1"/>
          <p:nvPr/>
        </p:nvSpPr>
        <p:spPr>
          <a:xfrm>
            <a:off x="3749040" y="2834640"/>
            <a:ext cx="2468880" cy="777240"/>
          </a:xfrm>
          <a:prstGeom prst="rect">
            <a:avLst/>
          </a:prstGeom>
          <a:noFill/>
          <a:ln/>
        </p:spPr>
        <p:txBody>
          <a:bodyPr wrap="square" lIns="0" tIns="0" rIns="0" bIns="0" rtlCol="0" anchor="ctr"/>
          <a:lstStyle/>
          <a:p>
            <a:pPr indent="0" marL="0">
              <a:buNone/>
            </a:pPr>
            <a:r>
              <a:rPr lang="en-US" sz="1600" b="1" dirty="0">
                <a:solidFill>
                  <a:srgbClr val="B7791F"/>
                </a:solidFill>
                <a:latin typeface="Courier New" pitchFamily="34" charset="0"/>
                <a:ea typeface="Courier New" pitchFamily="34" charset="-122"/>
                <a:cs typeface="Courier New" pitchFamily="34" charset="-120"/>
              </a:rPr>
              <a:t>→ 1   (last digit)</a:t>
            </a:r>
            <a:endParaRPr lang="en-US" sz="1600" dirty="0"/>
          </a:p>
        </p:txBody>
      </p:sp>
      <p:sp>
        <p:nvSpPr>
          <p:cNvPr id="18" name="Shape 15"/>
          <p:cNvSpPr/>
          <p:nvPr/>
        </p:nvSpPr>
        <p:spPr>
          <a:xfrm>
            <a:off x="548640" y="3749040"/>
            <a:ext cx="3017520" cy="777240"/>
          </a:xfrm>
          <a:prstGeom prst="roundRect">
            <a:avLst>
              <a:gd name="adj" fmla="val 11765"/>
            </a:avLst>
          </a:prstGeom>
          <a:solidFill>
            <a:srgbClr val="0F1729"/>
          </a:solidFill>
          <a:ln w="12700">
            <a:solidFill>
              <a:srgbClr val="0F1729"/>
            </a:solidFill>
            <a:prstDash val="solid"/>
          </a:ln>
        </p:spPr>
      </p:sp>
      <p:sp>
        <p:nvSpPr>
          <p:cNvPr id="19" name="Text 16"/>
          <p:cNvSpPr txBox="1"/>
          <p:nvPr/>
        </p:nvSpPr>
        <p:spPr>
          <a:xfrm>
            <a:off x="777240" y="3913632"/>
            <a:ext cx="2560320" cy="502920"/>
          </a:xfrm>
          <a:prstGeom prst="rect">
            <a:avLst/>
          </a:prstGeom>
          <a:noFill/>
          <a:ln/>
        </p:spPr>
        <p:txBody>
          <a:bodyPr wrap="square" lIns="0" tIns="0" rIns="0" bIns="0" rtlCol="0" anchor="t"/>
          <a:lstStyle/>
          <a:p>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4071</a:t>
            </a:r>
            <a:pPr indent="0" marL="0">
              <a:spcAft>
                <a:spcPts val="100"/>
              </a:spcAft>
              <a:buNone/>
            </a:pPr>
            <a:r>
              <a:rPr lang="en-US" sz="16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600" dirty="0">
                <a:solidFill>
                  <a:srgbClr val="B5CEA8"/>
                </a:solidFill>
                <a:latin typeface="Courier New" pitchFamily="34" charset="0"/>
                <a:ea typeface="Courier New" pitchFamily="34" charset="-122"/>
                <a:cs typeface="Courier New" pitchFamily="34" charset="-120"/>
              </a:rPr>
              <a:t>10</a:t>
            </a:r>
            <a:endParaRPr lang="en-US" sz="1600" dirty="0"/>
          </a:p>
        </p:txBody>
      </p:sp>
      <p:sp>
        <p:nvSpPr>
          <p:cNvPr id="20" name="Text 17"/>
          <p:cNvSpPr txBox="1"/>
          <p:nvPr/>
        </p:nvSpPr>
        <p:spPr>
          <a:xfrm>
            <a:off x="3749040" y="3749040"/>
            <a:ext cx="2468880" cy="777240"/>
          </a:xfrm>
          <a:prstGeom prst="rect">
            <a:avLst/>
          </a:prstGeom>
          <a:noFill/>
          <a:ln/>
        </p:spPr>
        <p:txBody>
          <a:bodyPr wrap="square" lIns="0" tIns="0" rIns="0" bIns="0" rtlCol="0" anchor="ctr"/>
          <a:lstStyle/>
          <a:p>
            <a:pPr indent="0" marL="0">
              <a:buNone/>
            </a:pPr>
            <a:r>
              <a:rPr lang="en-US" sz="1600" b="1" dirty="0">
                <a:solidFill>
                  <a:srgbClr val="B7791F"/>
                </a:solidFill>
                <a:latin typeface="Courier New" pitchFamily="34" charset="0"/>
                <a:ea typeface="Courier New" pitchFamily="34" charset="-122"/>
                <a:cs typeface="Courier New" pitchFamily="34" charset="-120"/>
              </a:rPr>
              <a:t>→ 407 (drop it)</a:t>
            </a:r>
            <a:endParaRPr lang="en-US" sz="1600" dirty="0"/>
          </a:p>
        </p:txBody>
      </p:sp>
      <p:sp>
        <p:nvSpPr>
          <p:cNvPr id="21" name="Shape 18"/>
          <p:cNvSpPr/>
          <p:nvPr/>
        </p:nvSpPr>
        <p:spPr>
          <a:xfrm>
            <a:off x="548640" y="4754880"/>
            <a:ext cx="5669280" cy="1325880"/>
          </a:xfrm>
          <a:prstGeom prst="roundRect">
            <a:avLst>
              <a:gd name="adj" fmla="val 8276"/>
            </a:avLst>
          </a:prstGeom>
          <a:solidFill>
            <a:srgbClr val="FFF6E3"/>
          </a:solidFill>
          <a:ln w="12700">
            <a:solidFill>
              <a:srgbClr val="FFF6E3"/>
            </a:solidFill>
            <a:prstDash val="solid"/>
          </a:ln>
        </p:spPr>
      </p:sp>
      <p:pic>
        <p:nvPicPr>
          <p:cNvPr id="22" name="Image 0" descr="preencoded.png">    </p:cNvPr>
          <p:cNvPicPr>
            <a:picLocks noChangeAspect="1"/>
          </p:cNvPicPr>
          <p:nvPr/>
        </p:nvPicPr>
        <p:blipFill>
          <a:blip r:embed="rId1"/>
          <a:stretch>
            <a:fillRect/>
          </a:stretch>
        </p:blipFill>
        <p:spPr>
          <a:xfrm>
            <a:off x="822960" y="5143500"/>
            <a:ext cx="548640" cy="548640"/>
          </a:xfrm>
          <a:prstGeom prst="rect">
            <a:avLst/>
          </a:prstGeom>
        </p:spPr>
      </p:pic>
      <p:sp>
        <p:nvSpPr>
          <p:cNvPr id="23" name="Text 19"/>
          <p:cNvSpPr txBox="1"/>
          <p:nvPr/>
        </p:nvSpPr>
        <p:spPr>
          <a:xfrm>
            <a:off x="1645920" y="4828032"/>
            <a:ext cx="4297680" cy="1179576"/>
          </a:xfrm>
          <a:prstGeom prst="rect">
            <a:avLst/>
          </a:prstGeom>
          <a:noFill/>
          <a:ln/>
        </p:spPr>
        <p:txBody>
          <a:bodyPr wrap="square" lIns="0" tIns="0" rIns="0" bIns="0" rtlCol="0" anchor="ctr"/>
          <a:lstStyle/>
          <a:p>
            <a:pPr indent="0" marL="0">
              <a:buNone/>
            </a:pPr>
            <a:r>
              <a:rPr lang="en-US" sz="1400" b="1" dirty="0">
                <a:solidFill>
                  <a:srgbClr val="333B4F"/>
                </a:solidFill>
                <a:latin typeface="Courier New" pitchFamily="34" charset="0"/>
                <a:ea typeface="Courier New" pitchFamily="34" charset="-122"/>
                <a:cs typeface="Courier New" pitchFamily="34" charset="-120"/>
              </a:rPr>
              <a:t>reversed = reversed * 10 + digit</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appends the new digit on the right: 17 → 170 → 1704.</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92240" y="1645920"/>
          <a:ext cx="5166360" cy="914400"/>
        </p:xfrm>
        <a:graphic>
          <a:graphicData uri="http://schemas.openxmlformats.org/drawingml/2006/table">
            <a:tbl>
              <a:tblPr/>
              <a:tblGrid>
                <a:gridCol w="1005840"/>
                <a:gridCol w="960120"/>
                <a:gridCol w="960120"/>
                <a:gridCol w="914400"/>
                <a:gridCol w="1325880"/>
              </a:tblGrid>
              <a:tr h="457200">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rest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digit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count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sum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reversed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4071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407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17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40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170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1704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r" indent="0" marL="0">
                        <a:buNone/>
                      </a:pPr>
                      <a:r>
                        <a:rPr lang="en-US" sz="1500" dirty="0">
                          <a:solidFill>
                            <a:srgbClr val="14213D"/>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gridSpan="4">
                  <a:txBody>
                    <a:bodyPr/>
                    <a:lstStyle/>
                    <a:p>
                      <a:pPr algn="l" indent="0" marL="0">
                        <a:buNone/>
                      </a:pPr>
                      <a:r>
                        <a:rPr lang="en-US" sz="1500" b="1" dirty="0">
                          <a:solidFill>
                            <a:srgbClr val="C8453B"/>
                          </a:solidFill>
                          <a:latin typeface="Courier New" pitchFamily="34" charset="0"/>
                          <a:ea typeface="Courier New" pitchFamily="34" charset="-122"/>
                          <a:cs typeface="Courier New" pitchFamily="34" charset="-120"/>
                        </a:rPr>
                        <a:t>stop: rest &gt; 0 is 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hMerge="1">
                  <a:tcPr/>
                </a:tc>
                <a:tc hMerge="1">
                  <a:tcPr/>
                </a:tc>
                <a:tc hMerge="1">
                  <a:tcPr/>
                </a:tc>
              </a:tr>
            </a:tbl>
          </a:graphicData>
        </a:graphic>
      </p:graphicFrame>
      <p:sp>
        <p:nvSpPr>
          <p:cNvPr id="25" name="Text 20"/>
          <p:cNvSpPr txBox="1"/>
          <p:nvPr/>
        </p:nvSpPr>
        <p:spPr>
          <a:xfrm>
            <a:off x="6492240" y="4480560"/>
            <a:ext cx="5166360" cy="32004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Values at the END of each pass</a:t>
            </a:r>
            <a:endParaRPr lang="en-US" sz="1300" dirty="0"/>
          </a:p>
        </p:txBody>
      </p:sp>
      <p:sp>
        <p:nvSpPr>
          <p:cNvPr id="26" name="Shape 21"/>
          <p:cNvSpPr/>
          <p:nvPr/>
        </p:nvSpPr>
        <p:spPr>
          <a:xfrm>
            <a:off x="6492240" y="4892040"/>
            <a:ext cx="5166360" cy="1188720"/>
          </a:xfrm>
          <a:prstGeom prst="roundRect">
            <a:avLst>
              <a:gd name="adj" fmla="val 9231"/>
            </a:avLst>
          </a:prstGeom>
          <a:solidFill>
            <a:srgbClr val="E6F4EC"/>
          </a:solidFill>
          <a:ln w="12700">
            <a:solidFill>
              <a:srgbClr val="E6F4EC"/>
            </a:solidFill>
            <a:prstDash val="solid"/>
          </a:ln>
        </p:spPr>
      </p:sp>
      <p:sp>
        <p:nvSpPr>
          <p:cNvPr id="27" name="Text 22"/>
          <p:cNvSpPr txBox="1"/>
          <p:nvPr/>
        </p:nvSpPr>
        <p:spPr>
          <a:xfrm>
            <a:off x="6675120" y="4892040"/>
            <a:ext cx="4846320" cy="1188720"/>
          </a:xfrm>
          <a:prstGeom prst="rect">
            <a:avLst/>
          </a:prstGeom>
          <a:noFill/>
          <a:ln/>
        </p:spPr>
        <p:txBody>
          <a:bodyPr wrap="square" lIns="0" tIns="0" rIns="0" bIns="0" rtlCol="0" anchor="ctr"/>
          <a:lstStyle/>
          <a:p>
            <a:pPr indent="0" marL="0">
              <a:buNone/>
            </a:pPr>
            <a:r>
              <a:rPr lang="en-US" sz="1600" b="1" dirty="0">
                <a:solidFill>
                  <a:srgbClr val="333B4F"/>
                </a:solidFill>
                <a:latin typeface="Calibri" pitchFamily="34" charset="0"/>
                <a:ea typeface="Calibri" pitchFamily="34" charset="-122"/>
                <a:cs typeface="Calibri" pitchFamily="34" charset="-120"/>
              </a:rPr>
              <a:t>4 digits, sum 12, reverse 1704</a:t>
            </a:r>
            <a:endParaRPr lang="en-US" sz="1600" dirty="0"/>
          </a:p>
          <a:p>
            <a:pPr indent="0" marL="0">
              <a:buNone/>
            </a:pPr>
            <a:r>
              <a:rPr lang="en-US" sz="1600" dirty="0">
                <a:solidFill>
                  <a:srgbClr val="333B4F"/>
                </a:solidFill>
                <a:latin typeface="Calibri" pitchFamily="34" charset="0"/>
                <a:ea typeface="Calibri" pitchFamily="34" charset="-122"/>
                <a:cs typeface="Calibri" pitchFamily="34" charset="-120"/>
              </a:rPr>
              <a:t>1704 ≠ 4071 → not a palindrome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6 · 07_06_DIGITTOOLS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Digit count, digit sum, reverse, palindrome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548640" y="1645920"/>
            <a:ext cx="66751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21792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 n;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working copy; n is kept for the test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reversed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long: the reverse may not fit in an int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do-while, so that n = 0 is counted as a 1-digit number</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 = rest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last digit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digitSum += digit;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reversed = reversed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digit;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append on the right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drop the last digit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45920"/>
            <a:ext cx="4206240" cy="1783080"/>
          </a:xfrm>
          <a:prstGeom prst="roundRect">
            <a:avLst>
              <a:gd name="adj" fmla="val 5128"/>
            </a:avLst>
          </a:prstGeom>
          <a:solidFill>
            <a:srgbClr val="0B0F19"/>
          </a:solidFill>
          <a:ln w="12700">
            <a:solidFill>
              <a:srgbClr val="2A3654"/>
            </a:solidFill>
            <a:prstDash val="solid"/>
          </a:ln>
        </p:spPr>
      </p:sp>
      <p:sp>
        <p:nvSpPr>
          <p:cNvPr id="11" name="Shape 8"/>
          <p:cNvSpPr/>
          <p:nvPr/>
        </p:nvSpPr>
        <p:spPr>
          <a:xfrm>
            <a:off x="763524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86384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09244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366760" y="171907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680960" y="2029968"/>
            <a:ext cx="3749040" cy="128016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non-negative integer: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non-negative integer: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12321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Digits : 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Sum    : 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Reverse: 12321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12321 is a palindrome.</a:t>
            </a:r>
            <a:endParaRPr lang="en-US" sz="1200" dirty="0"/>
          </a:p>
        </p:txBody>
      </p:sp>
      <p:sp>
        <p:nvSpPr>
          <p:cNvPr id="16" name="Shape 13"/>
          <p:cNvSpPr/>
          <p:nvPr/>
        </p:nvSpPr>
        <p:spPr>
          <a:xfrm>
            <a:off x="7452360" y="3566160"/>
            <a:ext cx="4206240" cy="1508760"/>
          </a:xfrm>
          <a:prstGeom prst="roundRect">
            <a:avLst>
              <a:gd name="adj" fmla="val 6061"/>
            </a:avLst>
          </a:prstGeom>
          <a:solidFill>
            <a:srgbClr val="0B0F19"/>
          </a:solidFill>
          <a:ln w="12700">
            <a:solidFill>
              <a:srgbClr val="2A3654"/>
            </a:solidFill>
            <a:prstDash val="solid"/>
          </a:ln>
        </p:spPr>
      </p:sp>
      <p:sp>
        <p:nvSpPr>
          <p:cNvPr id="17" name="Shape 14"/>
          <p:cNvSpPr/>
          <p:nvPr/>
        </p:nvSpPr>
        <p:spPr>
          <a:xfrm>
            <a:off x="7635240" y="3694176"/>
            <a:ext cx="118872" cy="118872"/>
          </a:xfrm>
          <a:prstGeom prst="ellipse">
            <a:avLst/>
          </a:prstGeom>
          <a:solidFill>
            <a:srgbClr val="FF5F57"/>
          </a:solidFill>
          <a:ln w="12700">
            <a:solidFill>
              <a:srgbClr val="FF5F57"/>
            </a:solidFill>
            <a:prstDash val="solid"/>
          </a:ln>
        </p:spPr>
      </p:sp>
      <p:sp>
        <p:nvSpPr>
          <p:cNvPr id="18" name="Shape 15"/>
          <p:cNvSpPr/>
          <p:nvPr/>
        </p:nvSpPr>
        <p:spPr>
          <a:xfrm>
            <a:off x="7863840" y="3694176"/>
            <a:ext cx="118872" cy="118872"/>
          </a:xfrm>
          <a:prstGeom prst="ellipse">
            <a:avLst/>
          </a:prstGeom>
          <a:solidFill>
            <a:srgbClr val="FEBC2E"/>
          </a:solidFill>
          <a:ln w="12700">
            <a:solidFill>
              <a:srgbClr val="FEBC2E"/>
            </a:solidFill>
            <a:prstDash val="solid"/>
          </a:ln>
        </p:spPr>
      </p:sp>
      <p:sp>
        <p:nvSpPr>
          <p:cNvPr id="19" name="Shape 16"/>
          <p:cNvSpPr/>
          <p:nvPr/>
        </p:nvSpPr>
        <p:spPr>
          <a:xfrm>
            <a:off x="8092440" y="369417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366760" y="3639312"/>
            <a:ext cx="31089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680960" y="3950208"/>
            <a:ext cx="3749040" cy="10058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Enter a non-negative integer: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Digits :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Sum    :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Reverse: 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0 is a palindrome.</a:t>
            </a:r>
            <a:endParaRPr lang="en-US" sz="1200" dirty="0"/>
          </a:p>
        </p:txBody>
      </p:sp>
      <p:sp>
        <p:nvSpPr>
          <p:cNvPr id="22" name="Shape 19"/>
          <p:cNvSpPr/>
          <p:nvPr/>
        </p:nvSpPr>
        <p:spPr>
          <a:xfrm>
            <a:off x="7452360" y="5212080"/>
            <a:ext cx="4206240" cy="868680"/>
          </a:xfrm>
          <a:prstGeom prst="roundRect">
            <a:avLst>
              <a:gd name="adj" fmla="val 12632"/>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726680" y="5372100"/>
            <a:ext cx="548640" cy="548640"/>
          </a:xfrm>
          <a:prstGeom prst="rect">
            <a:avLst/>
          </a:prstGeom>
        </p:spPr>
      </p:pic>
      <p:sp>
        <p:nvSpPr>
          <p:cNvPr id="24" name="Text 20"/>
          <p:cNvSpPr txBox="1"/>
          <p:nvPr/>
        </p:nvSpPr>
        <p:spPr>
          <a:xfrm>
            <a:off x="8549640" y="5285232"/>
            <a:ext cx="2834640" cy="72237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do-while: </a:t>
            </a:r>
            <a:pPr indent="0" marL="0">
              <a:buNone/>
            </a:pPr>
            <a:r>
              <a:rPr lang="en-US" sz="1500" dirty="0">
                <a:solidFill>
                  <a:srgbClr val="333B4F"/>
                </a:solidFill>
                <a:latin typeface="Calibri" pitchFamily="34" charset="0"/>
                <a:ea typeface="Calibri" pitchFamily="34" charset="-122"/>
                <a:cs typeface="Calibri" pitchFamily="34" charset="-120"/>
              </a:rPr>
              <a:t>0 has 1 digit.</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7 · 07_07_DECIMALTOBINARY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Decimal to binary: divide by 2 until 0</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548640" y="1645920"/>
            <a:ext cx="6766560" cy="3566160"/>
          </a:xfrm>
          <a:prstGeom prst="roundRect">
            <a:avLst>
              <a:gd name="adj" fmla="val 2564"/>
            </a:avLst>
          </a:prstGeom>
          <a:solidFill>
            <a:srgbClr val="0F1729"/>
          </a:solidFill>
          <a:ln w="12700">
            <a:solidFill>
              <a:srgbClr val="0F1729"/>
            </a:solidFill>
            <a:prstDash val="solid"/>
          </a:ln>
        </p:spPr>
      </p:sp>
      <p:sp>
        <p:nvSpPr>
          <p:cNvPr id="8" name="Text 5"/>
          <p:cNvSpPr txBox="1"/>
          <p:nvPr/>
        </p:nvSpPr>
        <p:spPr>
          <a:xfrm>
            <a:off x="777240" y="1755648"/>
            <a:ext cx="6309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309360" cy="304495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 n;</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binary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bit = rest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$"{rest} / 2 = {rest / 2}, remainder {bit}"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binary = bit + binary;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new bit goes to the LEFT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(rest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 in binary = {binary}"</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$"Built-in check: {Convert.ToString(n, 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349240"/>
            <a:ext cx="6766560" cy="731520"/>
          </a:xfrm>
          <a:prstGeom prst="roundRect">
            <a:avLst>
              <a:gd name="adj" fmla="val 15000"/>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12" name="Text 8"/>
          <p:cNvSpPr txBox="1"/>
          <p:nvPr/>
        </p:nvSpPr>
        <p:spPr>
          <a:xfrm>
            <a:off x="1554480" y="5422392"/>
            <a:ext cx="5486400" cy="585216"/>
          </a:xfrm>
          <a:prstGeom prst="rect">
            <a:avLst/>
          </a:prstGeom>
          <a:noFill/>
          <a:ln/>
        </p:spPr>
        <p:txBody>
          <a:bodyPr wrap="square" lIns="0" tIns="0" rIns="0" bIns="0" rtlCol="0" anchor="ctr"/>
          <a:lstStyle/>
          <a:p>
            <a:pPr indent="0" marL="0">
              <a:buNone/>
            </a:pPr>
            <a:r>
              <a:rPr lang="en-US" sz="1300" b="1" dirty="0">
                <a:solidFill>
                  <a:srgbClr val="333B4F"/>
                </a:solidFill>
                <a:latin typeface="Courier New" pitchFamily="34" charset="0"/>
                <a:ea typeface="Courier New" pitchFamily="34" charset="-122"/>
                <a:cs typeface="Courier New" pitchFamily="34" charset="-120"/>
              </a:rPr>
              <a:t>2026 → 11111101010</a:t>
            </a:r>
            <a:pPr indent="0" marL="0">
              <a:buNone/>
            </a:pPr>
            <a:r>
              <a:rPr lang="en-US" sz="1300" dirty="0">
                <a:solidFill>
                  <a:srgbClr val="333B4F"/>
                </a:solidFill>
                <a:latin typeface="Calibri" pitchFamily="34" charset="0"/>
                <a:ea typeface="Calibri" pitchFamily="34" charset="-122"/>
                <a:cs typeface="Calibri" pitchFamily="34" charset="-120"/>
              </a:rPr>
              <a:t>   (1024+512+256+128+64+32+8+2)</a:t>
            </a:r>
            <a:endParaRPr lang="en-US" sz="1300" dirty="0"/>
          </a:p>
        </p:txBody>
      </p:sp>
      <p:sp>
        <p:nvSpPr>
          <p:cNvPr id="13" name="Shape 9"/>
          <p:cNvSpPr/>
          <p:nvPr/>
        </p:nvSpPr>
        <p:spPr>
          <a:xfrm>
            <a:off x="7543800" y="1645920"/>
            <a:ext cx="4114800" cy="2240280"/>
          </a:xfrm>
          <a:prstGeom prst="roundRect">
            <a:avLst>
              <a:gd name="adj" fmla="val 4082"/>
            </a:avLst>
          </a:prstGeom>
          <a:solidFill>
            <a:srgbClr val="0B0F19"/>
          </a:solidFill>
          <a:ln w="12700">
            <a:solidFill>
              <a:srgbClr val="2A3654"/>
            </a:solidFill>
            <a:prstDash val="solid"/>
          </a:ln>
        </p:spPr>
      </p:sp>
      <p:sp>
        <p:nvSpPr>
          <p:cNvPr id="14" name="Shape 10"/>
          <p:cNvSpPr/>
          <p:nvPr/>
        </p:nvSpPr>
        <p:spPr>
          <a:xfrm>
            <a:off x="7726680" y="1773936"/>
            <a:ext cx="118872" cy="118872"/>
          </a:xfrm>
          <a:prstGeom prst="ellipse">
            <a:avLst/>
          </a:prstGeom>
          <a:solidFill>
            <a:srgbClr val="FF5F57"/>
          </a:solidFill>
          <a:ln w="12700">
            <a:solidFill>
              <a:srgbClr val="FF5F57"/>
            </a:solidFill>
            <a:prstDash val="solid"/>
          </a:ln>
        </p:spPr>
      </p:sp>
      <p:sp>
        <p:nvSpPr>
          <p:cNvPr id="15" name="Shape 11"/>
          <p:cNvSpPr/>
          <p:nvPr/>
        </p:nvSpPr>
        <p:spPr>
          <a:xfrm>
            <a:off x="7955280" y="1773936"/>
            <a:ext cx="118872" cy="118872"/>
          </a:xfrm>
          <a:prstGeom prst="ellipse">
            <a:avLst/>
          </a:prstGeom>
          <a:solidFill>
            <a:srgbClr val="FEBC2E"/>
          </a:solidFill>
          <a:ln w="12700">
            <a:solidFill>
              <a:srgbClr val="FEBC2E"/>
            </a:solidFill>
            <a:prstDash val="solid"/>
          </a:ln>
        </p:spPr>
      </p:sp>
      <p:sp>
        <p:nvSpPr>
          <p:cNvPr id="16" name="Shape 12"/>
          <p:cNvSpPr/>
          <p:nvPr/>
        </p:nvSpPr>
        <p:spPr>
          <a:xfrm>
            <a:off x="8183880" y="1773936"/>
            <a:ext cx="118872" cy="118872"/>
          </a:xfrm>
          <a:prstGeom prst="ellipse">
            <a:avLst/>
          </a:prstGeom>
          <a:solidFill>
            <a:srgbClr val="28C840"/>
          </a:solidFill>
          <a:ln w="12700">
            <a:solidFill>
              <a:srgbClr val="28C840"/>
            </a:solidFill>
            <a:prstDash val="solid"/>
          </a:ln>
        </p:spPr>
      </p:sp>
      <p:sp>
        <p:nvSpPr>
          <p:cNvPr id="17" name="Text 13"/>
          <p:cNvSpPr txBox="1"/>
          <p:nvPr/>
        </p:nvSpPr>
        <p:spPr>
          <a:xfrm>
            <a:off x="8458200" y="1719072"/>
            <a:ext cx="3017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8" name="Text 14"/>
          <p:cNvSpPr txBox="1"/>
          <p:nvPr/>
        </p:nvSpPr>
        <p:spPr>
          <a:xfrm>
            <a:off x="7772400" y="2029968"/>
            <a:ext cx="3657600" cy="173736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Non-negative integer: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13</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13 / 2 = 6, remainder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6 / 2 = 3, remainder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3 / 2 = 1, remainder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 / 2 = 0, remainder 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13 in binary = 1101</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Built-in check: 1101</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543800" y="4023360"/>
          <a:ext cx="4114800" cy="914400"/>
        </p:xfrm>
        <a:graphic>
          <a:graphicData uri="http://schemas.openxmlformats.org/drawingml/2006/table">
            <a:tbl>
              <a:tblPr/>
              <a:tblGrid>
                <a:gridCol w="1005840"/>
                <a:gridCol w="1280160"/>
                <a:gridCol w="182880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rest % 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bit string</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01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101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r" indent="0" marL="0">
                        <a:buNone/>
                      </a:pPr>
                      <a:r>
                        <a:rPr lang="en-US" sz="1400" dirty="0">
                          <a:solidFill>
                            <a:srgbClr val="14213D"/>
                          </a:solidFill>
                          <a:latin typeface="Courier New" pitchFamily="34" charset="0"/>
                          <a:ea typeface="Courier New" pitchFamily="34" charset="-122"/>
                          <a:cs typeface="Courier New" pitchFamily="34" charset="-120"/>
                        </a:rPr>
                        <a:t>1101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8 · 07_08_COLLATZ</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Collatz: nobody knows how many passes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548640" y="1645920"/>
            <a:ext cx="580644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3492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34924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steps++;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&gt; peak)</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peak =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10 numbers per line keeps long sequences readable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.Write(steps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6583680" y="1645920"/>
            <a:ext cx="5074920" cy="1005840"/>
          </a:xfrm>
          <a:prstGeom prst="roundRect">
            <a:avLst>
              <a:gd name="adj" fmla="val 9091"/>
            </a:avLst>
          </a:prstGeom>
          <a:solidFill>
            <a:srgbClr val="0B0F19"/>
          </a:solidFill>
          <a:ln w="12700">
            <a:solidFill>
              <a:srgbClr val="2A3654"/>
            </a:solidFill>
            <a:prstDash val="solid"/>
          </a:ln>
        </p:spPr>
      </p:sp>
      <p:sp>
        <p:nvSpPr>
          <p:cNvPr id="11" name="Shape 8"/>
          <p:cNvSpPr/>
          <p:nvPr/>
        </p:nvSpPr>
        <p:spPr>
          <a:xfrm>
            <a:off x="676656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699516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22376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498080" y="1719072"/>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6812280" y="2029968"/>
            <a:ext cx="4617720" cy="5029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Starting value (&gt;=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6 3 10 5 16 8 4 2 1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8 steps, highest value 16</a:t>
            </a:r>
            <a:endParaRPr lang="en-US" sz="1200" dirty="0"/>
          </a:p>
        </p:txBody>
      </p:sp>
      <p:sp>
        <p:nvSpPr>
          <p:cNvPr id="16" name="Shape 13"/>
          <p:cNvSpPr/>
          <p:nvPr/>
        </p:nvSpPr>
        <p:spPr>
          <a:xfrm>
            <a:off x="6583680" y="2724912"/>
            <a:ext cx="5074920" cy="3401568"/>
          </a:xfrm>
          <a:prstGeom prst="roundRect">
            <a:avLst>
              <a:gd name="adj" fmla="val 2688"/>
            </a:avLst>
          </a:prstGeom>
          <a:solidFill>
            <a:srgbClr val="0B0F19"/>
          </a:solidFill>
          <a:ln w="12700">
            <a:solidFill>
              <a:srgbClr val="2A3654"/>
            </a:solidFill>
            <a:prstDash val="solid"/>
          </a:ln>
        </p:spPr>
      </p:sp>
      <p:sp>
        <p:nvSpPr>
          <p:cNvPr id="17" name="Shape 14"/>
          <p:cNvSpPr/>
          <p:nvPr/>
        </p:nvSpPr>
        <p:spPr>
          <a:xfrm>
            <a:off x="6766560" y="2852928"/>
            <a:ext cx="118872" cy="118872"/>
          </a:xfrm>
          <a:prstGeom prst="ellipse">
            <a:avLst/>
          </a:prstGeom>
          <a:solidFill>
            <a:srgbClr val="FF5F57"/>
          </a:solidFill>
          <a:ln w="12700">
            <a:solidFill>
              <a:srgbClr val="FF5F57"/>
            </a:solidFill>
            <a:prstDash val="solid"/>
          </a:ln>
        </p:spPr>
      </p:sp>
      <p:sp>
        <p:nvSpPr>
          <p:cNvPr id="18" name="Shape 15"/>
          <p:cNvSpPr/>
          <p:nvPr/>
        </p:nvSpPr>
        <p:spPr>
          <a:xfrm>
            <a:off x="6995160" y="2852928"/>
            <a:ext cx="118872" cy="118872"/>
          </a:xfrm>
          <a:prstGeom prst="ellipse">
            <a:avLst/>
          </a:prstGeom>
          <a:solidFill>
            <a:srgbClr val="FEBC2E"/>
          </a:solidFill>
          <a:ln w="12700">
            <a:solidFill>
              <a:srgbClr val="FEBC2E"/>
            </a:solidFill>
            <a:prstDash val="solid"/>
          </a:ln>
        </p:spPr>
      </p:sp>
      <p:sp>
        <p:nvSpPr>
          <p:cNvPr id="19" name="Shape 16"/>
          <p:cNvSpPr/>
          <p:nvPr/>
        </p:nvSpPr>
        <p:spPr>
          <a:xfrm>
            <a:off x="7223760" y="2852928"/>
            <a:ext cx="118872" cy="118872"/>
          </a:xfrm>
          <a:prstGeom prst="ellipse">
            <a:avLst/>
          </a:prstGeom>
          <a:solidFill>
            <a:srgbClr val="28C840"/>
          </a:solidFill>
          <a:ln w="12700">
            <a:solidFill>
              <a:srgbClr val="28C840"/>
            </a:solidFill>
            <a:prstDash val="solid"/>
          </a:ln>
        </p:spPr>
      </p:sp>
      <p:sp>
        <p:nvSpPr>
          <p:cNvPr id="20" name="Text 17"/>
          <p:cNvSpPr txBox="1"/>
          <p:nvPr/>
        </p:nvSpPr>
        <p:spPr>
          <a:xfrm>
            <a:off x="7498080" y="2798064"/>
            <a:ext cx="3977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6812280" y="3108960"/>
            <a:ext cx="4617720" cy="2898648"/>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Starting value (&gt;=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Starting value (&gt;= 1):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27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27 82 41 124 62 31 94 47 142 71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214 107 322 161 484 242 121 364 182 91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274 137 412 206 103 310 155 466 233 700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350 175 526 263 790 395 1186 593 1780 890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445 1336 668 334 167 502 251 754 377 1132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566 283 850 425 1276 638 319 958 479 1438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719 2158 1079 3238 1619 4858 2429 7288 3644 1822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911 2734 1367 4102 2051 6154 3077 9232 4616 2308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1154 577 1732 866 433 1300 650 325 976 488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244 122 61 184 92 46 23 70 35 106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53 160 80 40 20 10 5 16 8 4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2 1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111 steps, highest value 9232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4</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Games, security and pitfalls</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Random · while (true) + break · continue · attempts · infinite loops · loop invariants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7</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07_09_GUESSNUMBER</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Guess the number: while (true) + break</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645920"/>
            <a:ext cx="667512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21792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"Your guess: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.TryParse(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"Please type a whole number."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continue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back to the top; attempt not counted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attempts++;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&lt; secret)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"Higher!"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else if (guess &gt; secret): "Lower!" (same shape)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$"Correct! {attempts} attempts."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leave the loop immediately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452360" y="1645920"/>
            <a:ext cx="4206240" cy="1143000"/>
          </a:xfrm>
          <a:prstGeom prst="roundRect">
            <a:avLst>
              <a:gd name="adj" fmla="val 8000"/>
            </a:avLst>
          </a:prstGeom>
          <a:solidFill>
            <a:srgbClr val="0F1729"/>
          </a:solidFill>
          <a:ln w="12700">
            <a:solidFill>
              <a:srgbClr val="0F1729"/>
            </a:solidFill>
            <a:prstDash val="solid"/>
          </a:ln>
        </p:spPr>
      </p:sp>
      <p:sp>
        <p:nvSpPr>
          <p:cNvPr id="11" name="Text 8"/>
          <p:cNvSpPr txBox="1"/>
          <p:nvPr/>
        </p:nvSpPr>
        <p:spPr>
          <a:xfrm>
            <a:off x="7680960" y="1755648"/>
            <a:ext cx="37490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secret: 1 … 100</a:t>
            </a:r>
            <a:endParaRPr lang="en-US" sz="1100" dirty="0"/>
          </a:p>
        </p:txBody>
      </p:sp>
      <p:sp>
        <p:nvSpPr>
          <p:cNvPr id="12" name="Text 9"/>
          <p:cNvSpPr txBox="1"/>
          <p:nvPr/>
        </p:nvSpPr>
        <p:spPr>
          <a:xfrm>
            <a:off x="7680960" y="2057400"/>
            <a:ext cx="3749040" cy="6217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Random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.Shared.Next(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7452360" y="2926080"/>
            <a:ext cx="4206240" cy="960120"/>
          </a:xfrm>
          <a:prstGeom prst="roundRect">
            <a:avLst>
              <a:gd name="adj" fmla="val 11429"/>
            </a:avLst>
          </a:prstGeom>
          <a:solidFill>
            <a:srgbClr val="EEF1F6"/>
          </a:solidFill>
          <a:ln w="12700">
            <a:solidFill>
              <a:srgbClr val="EEF1F6"/>
            </a:solidFill>
            <a:prstDash val="solid"/>
          </a:ln>
        </p:spPr>
      </p:sp>
      <p:sp>
        <p:nvSpPr>
          <p:cNvPr id="14" name="Shape 11"/>
          <p:cNvSpPr/>
          <p:nvPr/>
        </p:nvSpPr>
        <p:spPr>
          <a:xfrm>
            <a:off x="7635240" y="3131820"/>
            <a:ext cx="548640" cy="548640"/>
          </a:xfrm>
          <a:prstGeom prst="ellipse">
            <a:avLst/>
          </a:prstGeom>
          <a:solidFill>
            <a:srgbClr val="2E9E6A"/>
          </a:solidFill>
          <a:ln w="12700">
            <a:solidFill>
              <a:srgbClr val="2E9E6A"/>
            </a:solidFill>
            <a:prstDash val="solid"/>
          </a:ln>
        </p:spPr>
      </p:sp>
      <p:pic>
        <p:nvPicPr>
          <p:cNvPr id="15" name="Image 0" descr="preencoded.png">    </p:cNvPr>
          <p:cNvPicPr>
            <a:picLocks noChangeAspect="1"/>
          </p:cNvPicPr>
          <p:nvPr/>
        </p:nvPicPr>
        <p:blipFill>
          <a:blip r:embed="rId1"/>
          <a:stretch>
            <a:fillRect/>
          </a:stretch>
        </p:blipFill>
        <p:spPr>
          <a:xfrm>
            <a:off x="7777886" y="3274466"/>
            <a:ext cx="263347" cy="263347"/>
          </a:xfrm>
          <a:prstGeom prst="rect">
            <a:avLst/>
          </a:prstGeom>
        </p:spPr>
      </p:pic>
      <p:sp>
        <p:nvSpPr>
          <p:cNvPr id="16" name="Text 12"/>
          <p:cNvSpPr txBox="1"/>
          <p:nvPr/>
        </p:nvSpPr>
        <p:spPr>
          <a:xfrm>
            <a:off x="8366760" y="2980944"/>
            <a:ext cx="3154680" cy="8503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continue</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back to the top, skip the rest</a:t>
            </a:r>
            <a:endParaRPr lang="en-US" sz="1400" dirty="0"/>
          </a:p>
        </p:txBody>
      </p:sp>
      <p:sp>
        <p:nvSpPr>
          <p:cNvPr id="17" name="Shape 13"/>
          <p:cNvSpPr/>
          <p:nvPr/>
        </p:nvSpPr>
        <p:spPr>
          <a:xfrm>
            <a:off x="7452360" y="4023360"/>
            <a:ext cx="4206240" cy="960120"/>
          </a:xfrm>
          <a:prstGeom prst="roundRect">
            <a:avLst>
              <a:gd name="adj" fmla="val 11429"/>
            </a:avLst>
          </a:prstGeom>
          <a:solidFill>
            <a:srgbClr val="EEF1F6"/>
          </a:solidFill>
          <a:ln w="12700">
            <a:solidFill>
              <a:srgbClr val="EEF1F6"/>
            </a:solidFill>
            <a:prstDash val="solid"/>
          </a:ln>
        </p:spPr>
      </p:sp>
      <p:sp>
        <p:nvSpPr>
          <p:cNvPr id="18" name="Shape 14"/>
          <p:cNvSpPr/>
          <p:nvPr/>
        </p:nvSpPr>
        <p:spPr>
          <a:xfrm>
            <a:off x="7635240" y="4229100"/>
            <a:ext cx="548640" cy="548640"/>
          </a:xfrm>
          <a:prstGeom prst="ellipse">
            <a:avLst/>
          </a:prstGeom>
          <a:solidFill>
            <a:srgbClr val="C8453B"/>
          </a:solidFill>
          <a:ln w="12700">
            <a:solidFill>
              <a:srgbClr val="C8453B"/>
            </a:solidFill>
            <a:prstDash val="solid"/>
          </a:ln>
        </p:spPr>
      </p:sp>
      <p:pic>
        <p:nvPicPr>
          <p:cNvPr id="19" name="Image 1" descr="preencoded.png">    </p:cNvPr>
          <p:cNvPicPr>
            <a:picLocks noChangeAspect="1"/>
          </p:cNvPicPr>
          <p:nvPr/>
        </p:nvPicPr>
        <p:blipFill>
          <a:blip r:embed="rId2"/>
          <a:stretch>
            <a:fillRect/>
          </a:stretch>
        </p:blipFill>
        <p:spPr>
          <a:xfrm>
            <a:off x="7777886" y="4371746"/>
            <a:ext cx="263347" cy="263347"/>
          </a:xfrm>
          <a:prstGeom prst="rect">
            <a:avLst/>
          </a:prstGeom>
        </p:spPr>
      </p:pic>
      <p:sp>
        <p:nvSpPr>
          <p:cNvPr id="20" name="Text 15"/>
          <p:cNvSpPr txBox="1"/>
          <p:nvPr/>
        </p:nvSpPr>
        <p:spPr>
          <a:xfrm>
            <a:off x="8366760" y="4078224"/>
            <a:ext cx="3154680" cy="8503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break</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leave the loop immediately</a:t>
            </a:r>
            <a:endParaRPr lang="en-US" sz="1400" dirty="0"/>
          </a:p>
        </p:txBody>
      </p:sp>
      <p:sp>
        <p:nvSpPr>
          <p:cNvPr id="21" name="Shape 16"/>
          <p:cNvSpPr/>
          <p:nvPr/>
        </p:nvSpPr>
        <p:spPr>
          <a:xfrm>
            <a:off x="7452360" y="5120640"/>
            <a:ext cx="4206240" cy="960120"/>
          </a:xfrm>
          <a:prstGeom prst="roundRect">
            <a:avLst>
              <a:gd name="adj" fmla="val 11429"/>
            </a:avLst>
          </a:prstGeom>
          <a:solidFill>
            <a:srgbClr val="EEF1F6"/>
          </a:solidFill>
          <a:ln w="12700">
            <a:solidFill>
              <a:srgbClr val="EEF1F6"/>
            </a:solidFill>
            <a:prstDash val="solid"/>
          </a:ln>
        </p:spPr>
      </p:sp>
      <p:sp>
        <p:nvSpPr>
          <p:cNvPr id="22" name="Shape 17"/>
          <p:cNvSpPr/>
          <p:nvPr/>
        </p:nvSpPr>
        <p:spPr>
          <a:xfrm>
            <a:off x="7635240" y="5326380"/>
            <a:ext cx="548640" cy="548640"/>
          </a:xfrm>
          <a:prstGeom prst="ellipse">
            <a:avLst/>
          </a:prstGeom>
          <a:solidFill>
            <a:srgbClr val="14213D"/>
          </a:solidFill>
          <a:ln w="12700">
            <a:solidFill>
              <a:srgbClr val="14213D"/>
            </a:solidFill>
            <a:prstDash val="solid"/>
          </a:ln>
        </p:spPr>
      </p:sp>
      <p:pic>
        <p:nvPicPr>
          <p:cNvPr id="23" name="Image 2" descr="preencoded.png">    </p:cNvPr>
          <p:cNvPicPr>
            <a:picLocks noChangeAspect="1"/>
          </p:cNvPicPr>
          <p:nvPr/>
        </p:nvPicPr>
        <p:blipFill>
          <a:blip r:embed="rId3"/>
          <a:stretch>
            <a:fillRect/>
          </a:stretch>
        </p:blipFill>
        <p:spPr>
          <a:xfrm>
            <a:off x="7777886" y="5469026"/>
            <a:ext cx="263347" cy="263347"/>
          </a:xfrm>
          <a:prstGeom prst="rect">
            <a:avLst/>
          </a:prstGeom>
        </p:spPr>
      </p:pic>
      <p:sp>
        <p:nvSpPr>
          <p:cNvPr id="24" name="Text 18"/>
          <p:cNvSpPr txBox="1"/>
          <p:nvPr/>
        </p:nvSpPr>
        <p:spPr>
          <a:xfrm>
            <a:off x="8366760" y="5175504"/>
            <a:ext cx="3154680" cy="850392"/>
          </a:xfrm>
          <a:prstGeom prst="rect">
            <a:avLst/>
          </a:prstGeom>
          <a:noFill/>
          <a:ln/>
        </p:spPr>
        <p:txBody>
          <a:bodyPr wrap="square" lIns="0" tIns="0" rIns="0" bIns="0" rtlCol="0" anchor="ctr"/>
          <a:lstStyle/>
          <a:p>
            <a:pPr indent="0" marL="0">
              <a:spcAft>
                <a:spcPts val="200"/>
              </a:spcAft>
              <a:buNone/>
            </a:pPr>
            <a:r>
              <a:rPr lang="en-US" sz="1400" b="1" dirty="0">
                <a:solidFill>
                  <a:srgbClr val="14213D"/>
                </a:solidFill>
                <a:latin typeface="Cambria" pitchFamily="34" charset="0"/>
                <a:ea typeface="Cambria" pitchFamily="34" charset="-122"/>
                <a:cs typeface="Cambria" pitchFamily="34" charset="-120"/>
              </a:rPr>
              <a:t>attempts++</a:t>
            </a:r>
            <a:endParaRPr lang="en-US" sz="1400" dirty="0"/>
          </a:p>
          <a:p>
            <a:pPr indent="0" marL="0">
              <a:spcAft>
                <a:spcPts val="200"/>
              </a:spcAft>
              <a:buNone/>
            </a:pPr>
            <a:r>
              <a:rPr lang="en-US" sz="1300" dirty="0">
                <a:solidFill>
                  <a:srgbClr val="333B4F"/>
                </a:solidFill>
                <a:latin typeface="Calibri" pitchFamily="34" charset="0"/>
                <a:ea typeface="Calibri" pitchFamily="34" charset="-122"/>
                <a:cs typeface="Calibri" pitchFamily="34" charset="-120"/>
              </a:rPr>
              <a:t>counts only valid guesses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9 · TESTING A RANDOM PROGRAM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Reproducible runs with a fixed seed</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645920"/>
            <a:ext cx="5120640" cy="4434840"/>
          </a:xfrm>
          <a:prstGeom prst="roundRect">
            <a:avLst>
              <a:gd name="adj" fmla="val 2062"/>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40233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 (test run, seed 42)</a:t>
            </a:r>
            <a:endParaRPr lang="en-US" sz="1000" dirty="0"/>
          </a:p>
        </p:txBody>
      </p:sp>
      <p:sp>
        <p:nvSpPr>
          <p:cNvPr id="12" name="Text 9"/>
          <p:cNvSpPr txBox="1"/>
          <p:nvPr/>
        </p:nvSpPr>
        <p:spPr>
          <a:xfrm>
            <a:off x="777240" y="2029968"/>
            <a:ext cx="4663440" cy="3931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I am thinking of a number between 1 and 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50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Higher!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Lower!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abc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Please type a whole number.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62</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Higher!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Lower!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Higher!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66</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Higher!</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Your guess: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67</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Correct! 7 attempts.</a:t>
            </a:r>
            <a:endParaRPr lang="en-US" sz="1300" dirty="0"/>
          </a:p>
        </p:txBody>
      </p:sp>
      <p:sp>
        <p:nvSpPr>
          <p:cNvPr id="13" name="Shape 10"/>
          <p:cNvSpPr/>
          <p:nvPr/>
        </p:nvSpPr>
        <p:spPr>
          <a:xfrm>
            <a:off x="5897880" y="1645920"/>
            <a:ext cx="5760720" cy="1508760"/>
          </a:xfrm>
          <a:prstGeom prst="roundRect">
            <a:avLst>
              <a:gd name="adj" fmla="val 6061"/>
            </a:avLst>
          </a:prstGeom>
          <a:solidFill>
            <a:srgbClr val="0F1729"/>
          </a:solidFill>
          <a:ln w="12700">
            <a:solidFill>
              <a:srgbClr val="0F1729"/>
            </a:solidFill>
            <a:prstDash val="solid"/>
          </a:ln>
        </p:spPr>
      </p:sp>
      <p:sp>
        <p:nvSpPr>
          <p:cNvPr id="14" name="Text 11"/>
          <p:cNvSpPr txBox="1"/>
          <p:nvPr/>
        </p:nvSpPr>
        <p:spPr>
          <a:xfrm>
            <a:off x="612648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Test line (swap for the first line)</a:t>
            </a:r>
            <a:endParaRPr lang="en-US" sz="1100" dirty="0"/>
          </a:p>
        </p:txBody>
      </p:sp>
      <p:sp>
        <p:nvSpPr>
          <p:cNvPr id="15" name="Text 12"/>
          <p:cNvSpPr txBox="1"/>
          <p:nvPr/>
        </p:nvSpPr>
        <p:spPr>
          <a:xfrm>
            <a:off x="6126480" y="2057400"/>
            <a:ext cx="5303520" cy="987552"/>
          </a:xfrm>
          <a:prstGeom prst="rect">
            <a:avLst/>
          </a:prstGeom>
          <a:noFill/>
          <a:ln/>
        </p:spPr>
        <p:txBody>
          <a:bodyPr wrap="square" lIns="0" tIns="0" rIns="0" bIns="0" rtlCol="0" anchor="t"/>
          <a:lstStyle/>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int secret = Random.Shared.Next(1, 101);</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secret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Random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).Next(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6" name="Shape 13"/>
          <p:cNvSpPr/>
          <p:nvPr/>
        </p:nvSpPr>
        <p:spPr>
          <a:xfrm>
            <a:off x="5897880" y="3291840"/>
            <a:ext cx="5760720" cy="914400"/>
          </a:xfrm>
          <a:prstGeom prst="roundRect">
            <a:avLst>
              <a:gd name="adj" fmla="val 12000"/>
            </a:avLst>
          </a:prstGeom>
          <a:solidFill>
            <a:srgbClr val="EEF1F6"/>
          </a:solidFill>
          <a:ln w="12700">
            <a:solidFill>
              <a:srgbClr val="EEF1F6"/>
            </a:solidFill>
            <a:prstDash val="solid"/>
          </a:ln>
        </p:spPr>
      </p:sp>
      <p:sp>
        <p:nvSpPr>
          <p:cNvPr id="17" name="Shape 14"/>
          <p:cNvSpPr/>
          <p:nvPr/>
        </p:nvSpPr>
        <p:spPr>
          <a:xfrm>
            <a:off x="6080760" y="3474720"/>
            <a:ext cx="548640" cy="548640"/>
          </a:xfrm>
          <a:prstGeom prst="ellipse">
            <a:avLst/>
          </a:prstGeom>
          <a:solidFill>
            <a:srgbClr val="2E9E6A"/>
          </a:solidFill>
          <a:ln w="12700">
            <a:solidFill>
              <a:srgbClr val="2E9E6A"/>
            </a:solidFill>
            <a:prstDash val="solid"/>
          </a:ln>
        </p:spPr>
      </p:sp>
      <p:pic>
        <p:nvPicPr>
          <p:cNvPr id="18" name="Image 0" descr="preencoded.png">    </p:cNvPr>
          <p:cNvPicPr>
            <a:picLocks noChangeAspect="1"/>
          </p:cNvPicPr>
          <p:nvPr/>
        </p:nvPicPr>
        <p:blipFill>
          <a:blip r:embed="rId1"/>
          <a:stretch>
            <a:fillRect/>
          </a:stretch>
        </p:blipFill>
        <p:spPr>
          <a:xfrm>
            <a:off x="6223406" y="3617366"/>
            <a:ext cx="263347" cy="263347"/>
          </a:xfrm>
          <a:prstGeom prst="rect">
            <a:avLst/>
          </a:prstGeom>
        </p:spPr>
      </p:pic>
      <p:sp>
        <p:nvSpPr>
          <p:cNvPr id="19" name="Text 15"/>
          <p:cNvSpPr txBox="1"/>
          <p:nvPr/>
        </p:nvSpPr>
        <p:spPr>
          <a:xfrm>
            <a:off x="6812280" y="3346704"/>
            <a:ext cx="4709160" cy="8046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Same seed, same secret</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Seed 42 gave secret 67 in every run.</a:t>
            </a:r>
            <a:endParaRPr lang="en-US" sz="1500" dirty="0"/>
          </a:p>
        </p:txBody>
      </p:sp>
      <p:sp>
        <p:nvSpPr>
          <p:cNvPr id="20" name="Shape 16"/>
          <p:cNvSpPr/>
          <p:nvPr/>
        </p:nvSpPr>
        <p:spPr>
          <a:xfrm>
            <a:off x="5897880" y="4343400"/>
            <a:ext cx="5760720" cy="914400"/>
          </a:xfrm>
          <a:prstGeom prst="roundRect">
            <a:avLst>
              <a:gd name="adj" fmla="val 12000"/>
            </a:avLst>
          </a:prstGeom>
          <a:solidFill>
            <a:srgbClr val="EEF1F6"/>
          </a:solidFill>
          <a:ln w="12700">
            <a:solidFill>
              <a:srgbClr val="EEF1F6"/>
            </a:solidFill>
            <a:prstDash val="solid"/>
          </a:ln>
        </p:spPr>
      </p:sp>
      <p:sp>
        <p:nvSpPr>
          <p:cNvPr id="21" name="Shape 17"/>
          <p:cNvSpPr/>
          <p:nvPr/>
        </p:nvSpPr>
        <p:spPr>
          <a:xfrm>
            <a:off x="6080760" y="4526280"/>
            <a:ext cx="548640" cy="548640"/>
          </a:xfrm>
          <a:prstGeom prst="ellipse">
            <a:avLst/>
          </a:prstGeom>
          <a:solidFill>
            <a:srgbClr val="14213D"/>
          </a:solidFill>
          <a:ln w="12700">
            <a:solidFill>
              <a:srgbClr val="14213D"/>
            </a:solidFill>
            <a:prstDash val="solid"/>
          </a:ln>
        </p:spPr>
      </p:sp>
      <p:pic>
        <p:nvPicPr>
          <p:cNvPr id="22" name="Image 1" descr="preencoded.png">    </p:cNvPr>
          <p:cNvPicPr>
            <a:picLocks noChangeAspect="1"/>
          </p:cNvPicPr>
          <p:nvPr/>
        </p:nvPicPr>
        <p:blipFill>
          <a:blip r:embed="rId2"/>
          <a:stretch>
            <a:fillRect/>
          </a:stretch>
        </p:blipFill>
        <p:spPr>
          <a:xfrm>
            <a:off x="6223406" y="4668926"/>
            <a:ext cx="263347" cy="263347"/>
          </a:xfrm>
          <a:prstGeom prst="rect">
            <a:avLst/>
          </a:prstGeom>
        </p:spPr>
      </p:pic>
      <p:sp>
        <p:nvSpPr>
          <p:cNvPr id="23" name="Text 18"/>
          <p:cNvSpPr txBox="1"/>
          <p:nvPr/>
        </p:nvSpPr>
        <p:spPr>
          <a:xfrm>
            <a:off x="6812280" y="4398264"/>
            <a:ext cx="4709160" cy="804672"/>
          </a:xfrm>
          <a:prstGeom prst="rect">
            <a:avLst/>
          </a:prstGeom>
          <a:noFill/>
          <a:ln/>
        </p:spPr>
        <p:txBody>
          <a:bodyPr wrap="square" lIns="0" tIns="0" rIns="0" bIns="0" rtlCol="0" anchor="ctr"/>
          <a:lstStyle/>
          <a:p>
            <a:pPr indent="0" marL="0">
              <a:spcAft>
                <a:spcPts val="200"/>
              </a:spcAft>
              <a:buNone/>
            </a:pPr>
            <a:r>
              <a:rPr lang="en-US" sz="1500" b="1" dirty="0">
                <a:solidFill>
                  <a:srgbClr val="14213D"/>
                </a:solidFill>
                <a:latin typeface="Cambria" pitchFamily="34" charset="0"/>
                <a:ea typeface="Cambria" pitchFamily="34" charset="-122"/>
                <a:cs typeface="Cambria" pitchFamily="34" charset="-120"/>
              </a:rPr>
              <a:t>Halving strategy (Week 1)</a:t>
            </a:r>
            <a:endParaRPr lang="en-US" sz="1500" dirty="0"/>
          </a:p>
          <a:p>
            <a:pPr indent="0" marL="0">
              <a:spcAft>
                <a:spcPts val="200"/>
              </a:spcAft>
              <a:buNone/>
            </a:pPr>
            <a:r>
              <a:rPr lang="en-US" sz="1400" dirty="0">
                <a:solidFill>
                  <a:srgbClr val="333B4F"/>
                </a:solidFill>
                <a:latin typeface="Calibri" pitchFamily="34" charset="0"/>
                <a:ea typeface="Calibri" pitchFamily="34" charset="-122"/>
                <a:cs typeface="Calibri" pitchFamily="34" charset="-120"/>
              </a:rPr>
              <a:t>Always guess the middle of what is left.</a:t>
            </a:r>
            <a:endParaRPr lang="en-US" sz="1500" dirty="0"/>
          </a:p>
        </p:txBody>
      </p:sp>
      <p:sp>
        <p:nvSpPr>
          <p:cNvPr id="24" name="Shape 19"/>
          <p:cNvSpPr/>
          <p:nvPr/>
        </p:nvSpPr>
        <p:spPr>
          <a:xfrm>
            <a:off x="5897880" y="5394960"/>
            <a:ext cx="5760720" cy="685800"/>
          </a:xfrm>
          <a:prstGeom prst="roundRect">
            <a:avLst>
              <a:gd name="adj" fmla="val 16000"/>
            </a:avLst>
          </a:prstGeom>
          <a:solidFill>
            <a:srgbClr val="E6F4EC"/>
          </a:solidFill>
          <a:ln w="12700">
            <a:solidFill>
              <a:srgbClr val="E6F4EC"/>
            </a:solidFill>
            <a:prstDash val="solid"/>
          </a:ln>
        </p:spPr>
      </p:sp>
      <p:sp>
        <p:nvSpPr>
          <p:cNvPr id="25" name="Text 20"/>
          <p:cNvSpPr txBox="1"/>
          <p:nvPr/>
        </p:nvSpPr>
        <p:spPr>
          <a:xfrm>
            <a:off x="6080760" y="5394960"/>
            <a:ext cx="5486400" cy="685800"/>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Worst case for 1..100: </a:t>
            </a:r>
            <a:pPr indent="0" marL="0">
              <a:buNone/>
            </a:pPr>
            <a:r>
              <a:rPr lang="en-US" sz="1500" dirty="0">
                <a:solidFill>
                  <a:srgbClr val="333B4F"/>
                </a:solidFill>
                <a:latin typeface="Calibri" pitchFamily="34" charset="0"/>
                <a:ea typeface="Calibri" pitchFamily="34" charset="-122"/>
                <a:cs typeface="Calibri" pitchFamily="34" charset="-120"/>
              </a:rPr>
              <a:t>⌈log₂ 101⌉ = 7 guesses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10 · 07_10_COMPUTERGUESSES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Now the computer guesses: binary search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645920"/>
            <a:ext cx="61264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6692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66928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 (low + high)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middle of the range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guesses++;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$"#{guesses}: {low}..{high} -&gt; {guess}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&lt; secret)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"higher"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low = guess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else if (guess &gt; secret): "lower", high = guess - 1</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else: "correct!"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(guess != secret);</a:t>
            </a:r>
            <a:endParaRPr lang="en-US" sz="1200" dirty="0"/>
          </a:p>
        </p:txBody>
      </p:sp>
      <p:sp>
        <p:nvSpPr>
          <p:cNvPr id="10" name="Shape 7"/>
          <p:cNvSpPr/>
          <p:nvPr/>
        </p:nvSpPr>
        <p:spPr>
          <a:xfrm>
            <a:off x="6903720" y="1645920"/>
            <a:ext cx="4754880" cy="2423160"/>
          </a:xfrm>
          <a:prstGeom prst="roundRect">
            <a:avLst>
              <a:gd name="adj" fmla="val 3774"/>
            </a:avLst>
          </a:prstGeom>
          <a:solidFill>
            <a:srgbClr val="0B0F19"/>
          </a:solidFill>
          <a:ln w="12700">
            <a:solidFill>
              <a:srgbClr val="2A3654"/>
            </a:solidFill>
            <a:prstDash val="solid"/>
          </a:ln>
        </p:spPr>
      </p:sp>
      <p:sp>
        <p:nvSpPr>
          <p:cNvPr id="11" name="Shape 8"/>
          <p:cNvSpPr/>
          <p:nvPr/>
        </p:nvSpPr>
        <p:spPr>
          <a:xfrm>
            <a:off x="70866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3152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5438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7818120" y="1719072"/>
            <a:ext cx="3657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132320" y="2029968"/>
            <a:ext cx="4297680" cy="192024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Secret number for the computer (1-100):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67</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#1: 1..100 -&gt; 50  higher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#2: 51..100 -&gt; 75  lower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#3: 51..74 -&gt; 62  higher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#4: 63..74 -&gt; 68  lower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#5: 63..67 -&gt; 65  higher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#6: 66..67 -&gt; 66  higher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#7: 67..67 -&gt; 67  correct!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Found 67 in 7 guesses.</a:t>
            </a:r>
            <a:endParaRPr lang="en-US" sz="1200" dirty="0"/>
          </a:p>
        </p:txBody>
      </p:sp>
      <p:sp>
        <p:nvSpPr>
          <p:cNvPr id="16" name="Text 13"/>
          <p:cNvSpPr txBox="1"/>
          <p:nvPr/>
        </p:nvSpPr>
        <p:spPr>
          <a:xfrm>
            <a:off x="6903720" y="4206240"/>
            <a:ext cx="475488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All 100 secrets tested: guesses needed</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903720" y="4572000"/>
          <a:ext cx="4754880" cy="914400"/>
        </p:xfrm>
        <a:graphic>
          <a:graphicData uri="http://schemas.openxmlformats.org/drawingml/2006/table">
            <a:tbl>
              <a:tblPr/>
              <a:tblGrid>
                <a:gridCol w="1051560"/>
                <a:gridCol w="502920"/>
                <a:gridCol w="502920"/>
                <a:gridCol w="502920"/>
                <a:gridCol w="502920"/>
                <a:gridCol w="548640"/>
                <a:gridCol w="548640"/>
                <a:gridCol w="5943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guesses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secrets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6903720" y="5486400"/>
            <a:ext cx="4754880" cy="365760"/>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maximum 7, average 5.8</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11 · 07_11_PASSWORDATTEMPTS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Password with three attempts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548640" y="1645920"/>
            <a:ext cx="68122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6355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635508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Password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"okan2026"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const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MaxAttempts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attempts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granted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(attempts &lt; MaxAttempts &amp;&amp; !granted)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"Password: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entry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attempts++;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(entry == Password)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granted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(attempts &lt; MaxAttempts)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left = MaxAttempts - attempts;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$"Wrong! {left} attempt(s) left."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589520" y="1645920"/>
            <a:ext cx="4069080" cy="1234440"/>
          </a:xfrm>
          <a:prstGeom prst="roundRect">
            <a:avLst>
              <a:gd name="adj" fmla="val 7407"/>
            </a:avLst>
          </a:prstGeom>
          <a:solidFill>
            <a:srgbClr val="0B0F19"/>
          </a:solidFill>
          <a:ln w="12700">
            <a:solidFill>
              <a:srgbClr val="2A3654"/>
            </a:solidFill>
            <a:prstDash val="solid"/>
          </a:ln>
        </p:spPr>
      </p:sp>
      <p:sp>
        <p:nvSpPr>
          <p:cNvPr id="11" name="Shape 8"/>
          <p:cNvSpPr/>
          <p:nvPr/>
        </p:nvSpPr>
        <p:spPr>
          <a:xfrm>
            <a:off x="777240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800100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822960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503920" y="171907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818120" y="2029968"/>
            <a:ext cx="3611880" cy="73152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okan2025</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Wrong! 2 attempt(s) left.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okan2026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Access granted (attempt 2).</a:t>
            </a:r>
            <a:endParaRPr lang="en-US" sz="1200" dirty="0"/>
          </a:p>
        </p:txBody>
      </p:sp>
      <p:sp>
        <p:nvSpPr>
          <p:cNvPr id="16" name="Shape 13"/>
          <p:cNvSpPr/>
          <p:nvPr/>
        </p:nvSpPr>
        <p:spPr>
          <a:xfrm>
            <a:off x="7589520" y="3017520"/>
            <a:ext cx="4069080" cy="1600200"/>
          </a:xfrm>
          <a:prstGeom prst="roundRect">
            <a:avLst>
              <a:gd name="adj" fmla="val 5714"/>
            </a:avLst>
          </a:prstGeom>
          <a:solidFill>
            <a:srgbClr val="0B0F19"/>
          </a:solidFill>
          <a:ln w="12700">
            <a:solidFill>
              <a:srgbClr val="2A3654"/>
            </a:solidFill>
            <a:prstDash val="solid"/>
          </a:ln>
        </p:spPr>
      </p:sp>
      <p:sp>
        <p:nvSpPr>
          <p:cNvPr id="17" name="Shape 14"/>
          <p:cNvSpPr/>
          <p:nvPr/>
        </p:nvSpPr>
        <p:spPr>
          <a:xfrm>
            <a:off x="7772400" y="3145536"/>
            <a:ext cx="118872" cy="118872"/>
          </a:xfrm>
          <a:prstGeom prst="ellipse">
            <a:avLst/>
          </a:prstGeom>
          <a:solidFill>
            <a:srgbClr val="FF5F57"/>
          </a:solidFill>
          <a:ln w="12700">
            <a:solidFill>
              <a:srgbClr val="FF5F57"/>
            </a:solidFill>
            <a:prstDash val="solid"/>
          </a:ln>
        </p:spPr>
      </p:sp>
      <p:sp>
        <p:nvSpPr>
          <p:cNvPr id="18" name="Shape 15"/>
          <p:cNvSpPr/>
          <p:nvPr/>
        </p:nvSpPr>
        <p:spPr>
          <a:xfrm>
            <a:off x="8001000" y="3145536"/>
            <a:ext cx="118872" cy="118872"/>
          </a:xfrm>
          <a:prstGeom prst="ellipse">
            <a:avLst/>
          </a:prstGeom>
          <a:solidFill>
            <a:srgbClr val="FEBC2E"/>
          </a:solidFill>
          <a:ln w="12700">
            <a:solidFill>
              <a:srgbClr val="FEBC2E"/>
            </a:solidFill>
            <a:prstDash val="solid"/>
          </a:ln>
        </p:spPr>
      </p:sp>
      <p:sp>
        <p:nvSpPr>
          <p:cNvPr id="19" name="Shape 16"/>
          <p:cNvSpPr/>
          <p:nvPr/>
        </p:nvSpPr>
        <p:spPr>
          <a:xfrm>
            <a:off x="8229600" y="3145536"/>
            <a:ext cx="118872" cy="118872"/>
          </a:xfrm>
          <a:prstGeom prst="ellipse">
            <a:avLst/>
          </a:prstGeom>
          <a:solidFill>
            <a:srgbClr val="28C840"/>
          </a:solidFill>
          <a:ln w="12700">
            <a:solidFill>
              <a:srgbClr val="28C840"/>
            </a:solidFill>
            <a:prstDash val="solid"/>
          </a:ln>
        </p:spPr>
      </p:sp>
      <p:sp>
        <p:nvSpPr>
          <p:cNvPr id="20" name="Text 17"/>
          <p:cNvSpPr txBox="1"/>
          <p:nvPr/>
        </p:nvSpPr>
        <p:spPr>
          <a:xfrm>
            <a:off x="8503920" y="3090672"/>
            <a:ext cx="29718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21" name="Text 18"/>
          <p:cNvSpPr txBox="1"/>
          <p:nvPr/>
        </p:nvSpPr>
        <p:spPr>
          <a:xfrm>
            <a:off x="7818120" y="3401568"/>
            <a:ext cx="3611880" cy="109728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1234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Wrong! 2 attempt(s) left.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password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Wrong! 1 attempt(s) left.</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Password: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Okan2026</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Wrong password. Account locked.</a:t>
            </a:r>
            <a:endParaRPr lang="en-US" sz="1200" dirty="0"/>
          </a:p>
        </p:txBody>
      </p:sp>
      <p:sp>
        <p:nvSpPr>
          <p:cNvPr id="22" name="Shape 19"/>
          <p:cNvSpPr/>
          <p:nvPr/>
        </p:nvSpPr>
        <p:spPr>
          <a:xfrm>
            <a:off x="7589520" y="4754880"/>
            <a:ext cx="4069080" cy="1325880"/>
          </a:xfrm>
          <a:prstGeom prst="roundRect">
            <a:avLst>
              <a:gd name="adj" fmla="val 8276"/>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7863840" y="5143500"/>
            <a:ext cx="548640" cy="548640"/>
          </a:xfrm>
          <a:prstGeom prst="rect">
            <a:avLst/>
          </a:prstGeom>
        </p:spPr>
      </p:pic>
      <p:sp>
        <p:nvSpPr>
          <p:cNvPr id="24" name="Text 20"/>
          <p:cNvSpPr txBox="1"/>
          <p:nvPr/>
        </p:nvSpPr>
        <p:spPr>
          <a:xfrm>
            <a:off x="8686800" y="4828032"/>
            <a:ext cx="2697480" cy="11795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Two exits: </a:t>
            </a:r>
            <a:pPr indent="0" marL="0">
              <a:buNone/>
            </a:pPr>
            <a:r>
              <a:rPr lang="en-US" sz="1400" dirty="0">
                <a:solidFill>
                  <a:srgbClr val="333B4F"/>
                </a:solidFill>
                <a:latin typeface="Calibri" pitchFamily="34" charset="0"/>
                <a:ea typeface="Calibri" pitchFamily="34" charset="-122"/>
                <a:cs typeface="Calibri" pitchFamily="34" charset="-120"/>
              </a:rPr>
              <a:t>granted is true OR attempts reached 3.</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EXAMPLE 12 · 07_12_DOUBLINGTIME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How many years until the money doubles?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 (excerpt)</a:t>
            </a:r>
            <a:endParaRPr lang="en-US" sz="1100" dirty="0"/>
          </a:p>
        </p:txBody>
      </p:sp>
      <p:sp>
        <p:nvSpPr>
          <p:cNvPr id="9" name="Text 6"/>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rate;</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do</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"Annual interest rate in % (&gt; 0):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(rate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0 % -&gt; the loop below never ends!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decimal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balance = principal;</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Year</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",4}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Balance (TL)</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",14}"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(balance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principal)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balance += balance * rate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one year of interest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years++;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$"{years,4} {balance,14:F2}"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$"The deposit doubles after {years} years."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$"Rule of 72: about {72 / rate:F1} years"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7178040" y="1645920"/>
            <a:ext cx="4480560" cy="3017520"/>
          </a:xfrm>
          <a:prstGeom prst="roundRect">
            <a:avLst>
              <a:gd name="adj" fmla="val 3030"/>
            </a:avLst>
          </a:prstGeom>
          <a:solidFill>
            <a:srgbClr val="0B0F19"/>
          </a:solidFill>
          <a:ln w="12700">
            <a:solidFill>
              <a:srgbClr val="2A3654"/>
            </a:solidFill>
            <a:prstDash val="solid"/>
          </a:ln>
        </p:spPr>
      </p:sp>
      <p:sp>
        <p:nvSpPr>
          <p:cNvPr id="11" name="Shape 8"/>
          <p:cNvSpPr/>
          <p:nvPr/>
        </p:nvSpPr>
        <p:spPr>
          <a:xfrm>
            <a:off x="7360920" y="1773936"/>
            <a:ext cx="118872" cy="118872"/>
          </a:xfrm>
          <a:prstGeom prst="ellipse">
            <a:avLst/>
          </a:prstGeom>
          <a:solidFill>
            <a:srgbClr val="FF5F57"/>
          </a:solidFill>
          <a:ln w="12700">
            <a:solidFill>
              <a:srgbClr val="FF5F57"/>
            </a:solidFill>
            <a:prstDash val="solid"/>
          </a:ln>
        </p:spPr>
      </p:sp>
      <p:sp>
        <p:nvSpPr>
          <p:cNvPr id="12" name="Shape 9"/>
          <p:cNvSpPr/>
          <p:nvPr/>
        </p:nvSpPr>
        <p:spPr>
          <a:xfrm>
            <a:off x="7589520" y="1773936"/>
            <a:ext cx="118872" cy="118872"/>
          </a:xfrm>
          <a:prstGeom prst="ellipse">
            <a:avLst/>
          </a:prstGeom>
          <a:solidFill>
            <a:srgbClr val="FEBC2E"/>
          </a:solidFill>
          <a:ln w="12700">
            <a:solidFill>
              <a:srgbClr val="FEBC2E"/>
            </a:solidFill>
            <a:prstDash val="solid"/>
          </a:ln>
        </p:spPr>
      </p:sp>
      <p:sp>
        <p:nvSpPr>
          <p:cNvPr id="13" name="Shape 10"/>
          <p:cNvSpPr/>
          <p:nvPr/>
        </p:nvSpPr>
        <p:spPr>
          <a:xfrm>
            <a:off x="7818120" y="1773936"/>
            <a:ext cx="118872" cy="118872"/>
          </a:xfrm>
          <a:prstGeom prst="ellipse">
            <a:avLst/>
          </a:prstGeom>
          <a:solidFill>
            <a:srgbClr val="28C840"/>
          </a:solidFill>
          <a:ln w="12700">
            <a:solidFill>
              <a:srgbClr val="28C840"/>
            </a:solidFill>
            <a:prstDash val="solid"/>
          </a:ln>
        </p:spPr>
      </p:sp>
      <p:sp>
        <p:nvSpPr>
          <p:cNvPr id="14" name="Text 11"/>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2"/>
          <p:cNvSpPr txBox="1"/>
          <p:nvPr/>
        </p:nvSpPr>
        <p:spPr>
          <a:xfrm>
            <a:off x="7406640" y="2029968"/>
            <a:ext cx="4023360" cy="25146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Deposit (TL):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Annual interest rate in % (&gt; 0): </a:t>
            </a:r>
            <a:pPr indent="0" marL="0">
              <a:spcAft>
                <a:spcPts val="100"/>
              </a:spcAft>
              <a:buNone/>
            </a:pPr>
            <a:r>
              <a:rPr lang="en-US" sz="1200" b="1" dirty="0">
                <a:solidFill>
                  <a:srgbClr val="FCA311"/>
                </a:solidFill>
                <a:latin typeface="Courier New" pitchFamily="34" charset="0"/>
                <a:ea typeface="Courier New" pitchFamily="34" charset="-122"/>
                <a:cs typeface="Courier New" pitchFamily="34" charset="-120"/>
              </a:rPr>
              <a:t>12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Year   Balance (TL)</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1       11200.00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2       12544.00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3       14049.28</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4       15735.19</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5       17623.42</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6       19738.23</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7       22106.81</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The deposit doubles after 7 years.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Rule of 72: about 6.0 years</a:t>
            </a:r>
            <a:endParaRPr lang="en-US" sz="1200" dirty="0"/>
          </a:p>
        </p:txBody>
      </p:sp>
      <p:sp>
        <p:nvSpPr>
          <p:cNvPr id="16" name="Shape 13"/>
          <p:cNvSpPr/>
          <p:nvPr/>
        </p:nvSpPr>
        <p:spPr>
          <a:xfrm>
            <a:off x="7178040" y="4800600"/>
            <a:ext cx="4480560" cy="1280160"/>
          </a:xfrm>
          <a:prstGeom prst="roundRect">
            <a:avLst>
              <a:gd name="adj" fmla="val 8571"/>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7452360" y="5166360"/>
            <a:ext cx="548640" cy="548640"/>
          </a:xfrm>
          <a:prstGeom prst="rect">
            <a:avLst/>
          </a:prstGeom>
        </p:spPr>
      </p:pic>
      <p:sp>
        <p:nvSpPr>
          <p:cNvPr id="18" name="Text 14"/>
          <p:cNvSpPr txBox="1"/>
          <p:nvPr/>
        </p:nvSpPr>
        <p:spPr>
          <a:xfrm>
            <a:off x="8275320" y="4873752"/>
            <a:ext cx="3108960" cy="11338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Rule of 72: </a:t>
            </a:r>
            <a:pPr indent="0" marL="0">
              <a:buNone/>
            </a:pPr>
            <a:r>
              <a:rPr lang="en-US" sz="1400" dirty="0">
                <a:solidFill>
                  <a:srgbClr val="333B4F"/>
                </a:solidFill>
                <a:latin typeface="Calibri" pitchFamily="34" charset="0"/>
                <a:ea typeface="Calibri" pitchFamily="34" charset="-122"/>
                <a:cs typeface="Calibri" pitchFamily="34" charset="-120"/>
              </a:rPr>
              <a:t>years ≈ 72 / r. At 12 %: 6.0 estimated, 7 by the loop.</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INFINITE LOOPS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When the condition never becomes false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548640" y="1645920"/>
            <a:ext cx="5440680" cy="1783080"/>
          </a:xfrm>
          <a:prstGeom prst="roundRect">
            <a:avLst>
              <a:gd name="adj" fmla="val 5128"/>
            </a:avLst>
          </a:prstGeom>
          <a:solidFill>
            <a:srgbClr val="0F1729"/>
          </a:solidFill>
          <a:ln w="12700">
            <a:solidFill>
              <a:srgbClr val="0F1729"/>
            </a:solidFill>
            <a:prstDash val="solid"/>
          </a:ln>
        </p:spPr>
      </p:sp>
      <p:sp>
        <p:nvSpPr>
          <p:cNvPr id="8" name="Text 5"/>
          <p:cNvSpPr txBox="1"/>
          <p:nvPr/>
        </p:nvSpPr>
        <p:spPr>
          <a:xfrm>
            <a:off x="77724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① No update → prints 1 forever</a:t>
            </a:r>
            <a:endParaRPr lang="en-US" sz="1100" dirty="0"/>
          </a:p>
        </p:txBody>
      </p:sp>
      <p:sp>
        <p:nvSpPr>
          <p:cNvPr id="9" name="Text 6"/>
          <p:cNvSpPr txBox="1"/>
          <p:nvPr/>
        </p:nvSpPr>
        <p:spPr>
          <a:xfrm>
            <a:off x="777240" y="2057400"/>
            <a:ext cx="4983480" cy="12618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6217920" y="1645920"/>
            <a:ext cx="5440680" cy="1783080"/>
          </a:xfrm>
          <a:prstGeom prst="roundRect">
            <a:avLst>
              <a:gd name="adj" fmla="val 5128"/>
            </a:avLst>
          </a:prstGeom>
          <a:solidFill>
            <a:srgbClr val="0F1729"/>
          </a:solidFill>
          <a:ln w="12700">
            <a:solidFill>
              <a:srgbClr val="0F1729"/>
            </a:solidFill>
            <a:prstDash val="solid"/>
          </a:ln>
        </p:spPr>
      </p:sp>
      <p:sp>
        <p:nvSpPr>
          <p:cNvPr id="11" name="Text 8"/>
          <p:cNvSpPr txBox="1"/>
          <p:nvPr/>
        </p:nvSpPr>
        <p:spPr>
          <a:xfrm>
            <a:off x="6446520" y="175564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② Stray ; → hangs silently (CS0642)</a:t>
            </a:r>
            <a:endParaRPr lang="en-US" sz="1100" dirty="0"/>
          </a:p>
        </p:txBody>
      </p:sp>
      <p:sp>
        <p:nvSpPr>
          <p:cNvPr id="12" name="Text 9"/>
          <p:cNvSpPr txBox="1"/>
          <p:nvPr/>
        </p:nvSpPr>
        <p:spPr>
          <a:xfrm>
            <a:off x="6446520" y="2057400"/>
            <a:ext cx="4983480" cy="12618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548640" y="3566160"/>
            <a:ext cx="5440680" cy="1783080"/>
          </a:xfrm>
          <a:prstGeom prst="roundRect">
            <a:avLst>
              <a:gd name="adj" fmla="val 5128"/>
            </a:avLst>
          </a:prstGeom>
          <a:solidFill>
            <a:srgbClr val="0F1729"/>
          </a:solidFill>
          <a:ln w="12700">
            <a:solidFill>
              <a:srgbClr val="0F1729"/>
            </a:solidFill>
            <a:prstDash val="solid"/>
          </a:ln>
        </p:spPr>
      </p:sp>
      <p:sp>
        <p:nvSpPr>
          <p:cNvPr id="14" name="Text 11"/>
          <p:cNvSpPr txBox="1"/>
          <p:nvPr/>
        </p:nvSpPr>
        <p:spPr>
          <a:xfrm>
            <a:off x="777240" y="367588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③ Condition never false</a:t>
            </a:r>
            <a:endParaRPr lang="en-US" sz="1100" dirty="0"/>
          </a:p>
        </p:txBody>
      </p:sp>
      <p:sp>
        <p:nvSpPr>
          <p:cNvPr id="15" name="Text 12"/>
          <p:cNvSpPr txBox="1"/>
          <p:nvPr/>
        </p:nvSpPr>
        <p:spPr>
          <a:xfrm>
            <a:off x="777240" y="3977640"/>
            <a:ext cx="4983480" cy="126187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1, 3, 5,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k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6" name="Shape 13"/>
          <p:cNvSpPr/>
          <p:nvPr/>
        </p:nvSpPr>
        <p:spPr>
          <a:xfrm>
            <a:off x="6217920" y="3566160"/>
            <a:ext cx="5440680" cy="1783080"/>
          </a:xfrm>
          <a:prstGeom prst="roundRect">
            <a:avLst>
              <a:gd name="adj" fmla="val 5128"/>
            </a:avLst>
          </a:prstGeom>
          <a:solidFill>
            <a:srgbClr val="0F1729"/>
          </a:solidFill>
          <a:ln w="12700">
            <a:solidFill>
              <a:srgbClr val="0F1729"/>
            </a:solidFill>
            <a:prstDash val="solid"/>
          </a:ln>
        </p:spPr>
      </p:sp>
      <p:sp>
        <p:nvSpPr>
          <p:cNvPr id="17" name="Text 14"/>
          <p:cNvSpPr txBox="1"/>
          <p:nvPr/>
        </p:nvSpPr>
        <p:spPr>
          <a:xfrm>
            <a:off x="6446520" y="3675888"/>
            <a:ext cx="49834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④ Nothing changes: rate 0 %</a:t>
            </a:r>
            <a:endParaRPr lang="en-US" sz="1100" dirty="0"/>
          </a:p>
        </p:txBody>
      </p:sp>
      <p:sp>
        <p:nvSpPr>
          <p:cNvPr id="18" name="Text 15"/>
          <p:cNvSpPr txBox="1"/>
          <p:nvPr/>
        </p:nvSpPr>
        <p:spPr>
          <a:xfrm>
            <a:off x="6446520" y="3977640"/>
            <a:ext cx="4983480" cy="126187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(balance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principal)</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balance += balance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9" name="Shape 16"/>
          <p:cNvSpPr/>
          <p:nvPr/>
        </p:nvSpPr>
        <p:spPr>
          <a:xfrm>
            <a:off x="548640" y="5532120"/>
            <a:ext cx="11109960" cy="548640"/>
          </a:xfrm>
          <a:prstGeom prst="roundRect">
            <a:avLst>
              <a:gd name="adj" fmla="val 20000"/>
            </a:avLst>
          </a:prstGeom>
          <a:solidFill>
            <a:srgbClr val="FFF6E3"/>
          </a:solidFill>
          <a:ln w="12700">
            <a:solidFill>
              <a:srgbClr val="FFF6E3"/>
            </a:solidFill>
            <a:prstDash val="solid"/>
          </a:ln>
        </p:spPr>
      </p:sp>
      <p:pic>
        <p:nvPicPr>
          <p:cNvPr id="20" name="Image 0" descr="preencoded.png">    </p:cNvPr>
          <p:cNvPicPr>
            <a:picLocks noChangeAspect="1"/>
          </p:cNvPicPr>
          <p:nvPr/>
        </p:nvPicPr>
        <p:blipFill>
          <a:blip r:embed="rId1"/>
          <a:stretch>
            <a:fillRect/>
          </a:stretch>
        </p:blipFill>
        <p:spPr>
          <a:xfrm>
            <a:off x="822960" y="5669280"/>
            <a:ext cx="274320" cy="274320"/>
          </a:xfrm>
          <a:prstGeom prst="rect">
            <a:avLst/>
          </a:prstGeom>
        </p:spPr>
      </p:pic>
      <p:sp>
        <p:nvSpPr>
          <p:cNvPr id="21" name="Text 17"/>
          <p:cNvSpPr txBox="1"/>
          <p:nvPr/>
        </p:nvSpPr>
        <p:spPr>
          <a:xfrm>
            <a:off x="1371600" y="5605272"/>
            <a:ext cx="10012680" cy="4023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Stuck? </a:t>
            </a:r>
            <a:pPr indent="0" marL="0">
              <a:buNone/>
            </a:pPr>
            <a:r>
              <a:rPr lang="en-US" sz="1500" dirty="0">
                <a:solidFill>
                  <a:srgbClr val="333B4F"/>
                </a:solidFill>
                <a:latin typeface="Calibri" pitchFamily="34" charset="0"/>
                <a:ea typeface="Calibri" pitchFamily="34" charset="-122"/>
                <a:cs typeface="Calibri" pitchFamily="34" charset="-120"/>
              </a:rPr>
              <a:t>Press Ctrl+C in the terminal to stop the running program.</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LOOP INVARIANTS (INFORMALLY)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stays true on every pass?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31</a:t>
            </a:r>
            <a:endParaRPr lang="en-US" sz="1000" dirty="0"/>
          </a:p>
        </p:txBody>
      </p:sp>
      <p:sp>
        <p:nvSpPr>
          <p:cNvPr id="7" name="Shape 4"/>
          <p:cNvSpPr/>
          <p:nvPr/>
        </p:nvSpPr>
        <p:spPr>
          <a:xfrm>
            <a:off x="548640" y="1645920"/>
            <a:ext cx="3657600" cy="2194560"/>
          </a:xfrm>
          <a:prstGeom prst="roundRect">
            <a:avLst>
              <a:gd name="adj" fmla="val 3333"/>
            </a:avLst>
          </a:prstGeom>
          <a:solidFill>
            <a:srgbClr val="F4F6FA"/>
          </a:solidFill>
          <a:ln w="9525">
            <a:solidFill>
              <a:srgbClr val="C9D0DD"/>
            </a:solidFill>
            <a:prstDash val="solid"/>
          </a:ln>
        </p:spPr>
      </p:sp>
      <p:sp>
        <p:nvSpPr>
          <p:cNvPr id="8" name="Text 5"/>
          <p:cNvSpPr txBox="1"/>
          <p:nvPr/>
        </p:nvSpPr>
        <p:spPr>
          <a:xfrm>
            <a:off x="731520" y="1737360"/>
            <a:ext cx="32918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Sum 1..n</a:t>
            </a:r>
            <a:endParaRPr lang="en-US" sz="1200" dirty="0"/>
          </a:p>
        </p:txBody>
      </p:sp>
      <p:sp>
        <p:nvSpPr>
          <p:cNvPr id="9" name="Text 6"/>
          <p:cNvSpPr txBox="1"/>
          <p:nvPr/>
        </p:nvSpPr>
        <p:spPr>
          <a:xfrm>
            <a:off x="731520" y="2057400"/>
            <a:ext cx="3291840" cy="169164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sum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i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sum ← sum + i</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i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sp>
        <p:nvSpPr>
          <p:cNvPr id="10" name="Shape 7"/>
          <p:cNvSpPr/>
          <p:nvPr/>
        </p:nvSpPr>
        <p:spPr>
          <a:xfrm>
            <a:off x="4315968" y="1645920"/>
            <a:ext cx="3657600" cy="2194560"/>
          </a:xfrm>
          <a:prstGeom prst="roundRect">
            <a:avLst>
              <a:gd name="adj" fmla="val 3333"/>
            </a:avLst>
          </a:prstGeom>
          <a:solidFill>
            <a:srgbClr val="F4F6FA"/>
          </a:solidFill>
          <a:ln w="9525">
            <a:solidFill>
              <a:srgbClr val="C9D0DD"/>
            </a:solidFill>
            <a:prstDash val="solid"/>
          </a:ln>
        </p:spPr>
      </p:sp>
      <p:sp>
        <p:nvSpPr>
          <p:cNvPr id="11" name="Text 8"/>
          <p:cNvSpPr txBox="1"/>
          <p:nvPr/>
        </p:nvSpPr>
        <p:spPr>
          <a:xfrm>
            <a:off x="4498848" y="1737360"/>
            <a:ext cx="329184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Euclid</a:t>
            </a:r>
            <a:endParaRPr lang="en-US" sz="1200" dirty="0"/>
          </a:p>
        </p:txBody>
      </p:sp>
      <p:sp>
        <p:nvSpPr>
          <p:cNvPr id="12" name="Text 9"/>
          <p:cNvSpPr txBox="1"/>
          <p:nvPr/>
        </p:nvSpPr>
        <p:spPr>
          <a:xfrm>
            <a:off x="4498848" y="2057400"/>
            <a:ext cx="3291840" cy="1691640"/>
          </a:xfrm>
          <a:prstGeom prst="rect">
            <a:avLst/>
          </a:prstGeom>
          <a:noFill/>
          <a:ln/>
        </p:spPr>
        <p:txBody>
          <a:bodyPr wrap="square" lIns="0" tIns="0" rIns="0" bIns="0" rtlCol="0" anchor="t"/>
          <a:lstStyle/>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y ≠ 0</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r ← x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mod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y</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x ← y</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y ← r</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sp>
        <p:nvSpPr>
          <p:cNvPr id="13" name="Shape 10"/>
          <p:cNvSpPr/>
          <p:nvPr/>
        </p:nvSpPr>
        <p:spPr>
          <a:xfrm>
            <a:off x="8083296" y="1645920"/>
            <a:ext cx="3566160" cy="2194560"/>
          </a:xfrm>
          <a:prstGeom prst="roundRect">
            <a:avLst>
              <a:gd name="adj" fmla="val 3333"/>
            </a:avLst>
          </a:prstGeom>
          <a:solidFill>
            <a:srgbClr val="F4F6FA"/>
          </a:solidFill>
          <a:ln w="9525">
            <a:solidFill>
              <a:srgbClr val="C9D0DD"/>
            </a:solidFill>
            <a:prstDash val="solid"/>
          </a:ln>
        </p:spPr>
      </p:sp>
      <p:sp>
        <p:nvSpPr>
          <p:cNvPr id="14" name="Text 11"/>
          <p:cNvSpPr txBox="1"/>
          <p:nvPr/>
        </p:nvSpPr>
        <p:spPr>
          <a:xfrm>
            <a:off x="8266176" y="1737360"/>
            <a:ext cx="320040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Halving</a:t>
            </a:r>
            <a:endParaRPr lang="en-US" sz="1200" dirty="0"/>
          </a:p>
        </p:txBody>
      </p:sp>
      <p:sp>
        <p:nvSpPr>
          <p:cNvPr id="15" name="Text 12"/>
          <p:cNvSpPr txBox="1"/>
          <p:nvPr/>
        </p:nvSpPr>
        <p:spPr>
          <a:xfrm>
            <a:off x="8266176" y="2057400"/>
            <a:ext cx="3200400" cy="1691640"/>
          </a:xfrm>
          <a:prstGeom prst="rect">
            <a:avLst/>
          </a:prstGeom>
          <a:noFill/>
          <a:ln/>
        </p:spPr>
        <p:txBody>
          <a:bodyPr wrap="square" lIns="0" tIns="0" rIns="0" bIns="0" rtlCol="0" anchor="t"/>
          <a:lstStyle/>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guess ≠ secret</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guess ← (low+high) </a:t>
            </a:r>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2</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 low ← guess + 1</a:t>
            </a:r>
            <a:endParaRPr lang="en-US" sz="1300" dirty="0"/>
          </a:p>
          <a:p>
            <a:pPr indent="0" marL="0">
              <a:spcAft>
                <a:spcPts val="100"/>
              </a:spcAft>
              <a:buNone/>
            </a:pPr>
            <a:r>
              <a:rPr lang="en-US" sz="1300" dirty="0">
                <a:solidFill>
                  <a:srgbClr val="14213D"/>
                </a:solidFill>
                <a:latin typeface="Courier New" pitchFamily="34" charset="0"/>
                <a:ea typeface="Courier New" pitchFamily="34" charset="-122"/>
                <a:cs typeface="Courier New" pitchFamily="34" charset="-120"/>
              </a:rPr>
              <a:t>  … high ← guess − 1</a:t>
            </a:r>
            <a:endParaRPr lang="en-US" sz="1300" dirty="0"/>
          </a:p>
          <a:p>
            <a:pPr indent="0" marL="0">
              <a:spcAft>
                <a:spcPts val="100"/>
              </a:spcAft>
              <a:buNone/>
            </a:pPr>
            <a:r>
              <a:rPr lang="en-US" sz="1300" b="1" dirty="0">
                <a:solidFill>
                  <a:srgbClr val="2F6FB3"/>
                </a:solidFill>
                <a:latin typeface="Courier New" pitchFamily="34" charset="0"/>
                <a:ea typeface="Courier New" pitchFamily="34" charset="-122"/>
                <a:cs typeface="Courier New" pitchFamily="34" charset="-120"/>
              </a:rPr>
              <a:t>END WHILE</a:t>
            </a:r>
            <a:endParaRPr lang="en-US" sz="1300" dirty="0"/>
          </a:p>
        </p:txBody>
      </p:sp>
      <p:sp>
        <p:nvSpPr>
          <p:cNvPr id="16" name="Shape 13"/>
          <p:cNvSpPr/>
          <p:nvPr/>
        </p:nvSpPr>
        <p:spPr>
          <a:xfrm>
            <a:off x="548640" y="3977640"/>
            <a:ext cx="3657600" cy="1371600"/>
          </a:xfrm>
          <a:prstGeom prst="roundRect">
            <a:avLst>
              <a:gd name="adj" fmla="val 8000"/>
            </a:avLst>
          </a:prstGeom>
          <a:solidFill>
            <a:srgbClr val="E6F4EC"/>
          </a:solidFill>
          <a:ln w="12700">
            <a:solidFill>
              <a:srgbClr val="E6F4EC"/>
            </a:solidFill>
            <a:prstDash val="solid"/>
          </a:ln>
        </p:spPr>
      </p:sp>
      <p:sp>
        <p:nvSpPr>
          <p:cNvPr id="17" name="Text 14"/>
          <p:cNvSpPr txBox="1"/>
          <p:nvPr/>
        </p:nvSpPr>
        <p:spPr>
          <a:xfrm>
            <a:off x="731520" y="4023360"/>
            <a:ext cx="3291840" cy="1280160"/>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Invariant: </a:t>
            </a:r>
            <a:pPr indent="0" marL="0">
              <a:buNone/>
            </a:pPr>
            <a:r>
              <a:rPr lang="en-US" sz="1400" b="1" dirty="0">
                <a:solidFill>
                  <a:srgbClr val="333B4F"/>
                </a:solidFill>
                <a:latin typeface="Calibri" pitchFamily="34" charset="0"/>
                <a:ea typeface="Calibri" pitchFamily="34" charset="-122"/>
                <a:cs typeface="Calibri" pitchFamily="34" charset="-120"/>
              </a:rPr>
              <a:t>sum = 1 + … + (i − 1)</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At the end i = n + 1, so sum = 1 + … + n.</a:t>
            </a:r>
            <a:endParaRPr lang="en-US" sz="1400" dirty="0"/>
          </a:p>
        </p:txBody>
      </p:sp>
      <p:sp>
        <p:nvSpPr>
          <p:cNvPr id="18" name="Shape 15"/>
          <p:cNvSpPr/>
          <p:nvPr/>
        </p:nvSpPr>
        <p:spPr>
          <a:xfrm>
            <a:off x="4315968" y="3977640"/>
            <a:ext cx="3657600" cy="1371600"/>
          </a:xfrm>
          <a:prstGeom prst="roundRect">
            <a:avLst>
              <a:gd name="adj" fmla="val 8000"/>
            </a:avLst>
          </a:prstGeom>
          <a:solidFill>
            <a:srgbClr val="E6F4EC"/>
          </a:solidFill>
          <a:ln w="12700">
            <a:solidFill>
              <a:srgbClr val="E6F4EC"/>
            </a:solidFill>
            <a:prstDash val="solid"/>
          </a:ln>
        </p:spPr>
      </p:sp>
      <p:sp>
        <p:nvSpPr>
          <p:cNvPr id="19" name="Text 16"/>
          <p:cNvSpPr txBox="1"/>
          <p:nvPr/>
        </p:nvSpPr>
        <p:spPr>
          <a:xfrm>
            <a:off x="4498848" y="4023360"/>
            <a:ext cx="3291840" cy="1280160"/>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Invariant: </a:t>
            </a:r>
            <a:pPr indent="0" marL="0">
              <a:buNone/>
            </a:pPr>
            <a:r>
              <a:rPr lang="en-US" sz="1400" b="1" dirty="0">
                <a:solidFill>
                  <a:srgbClr val="333B4F"/>
                </a:solidFill>
                <a:latin typeface="Calibri" pitchFamily="34" charset="0"/>
                <a:ea typeface="Calibri" pitchFamily="34" charset="-122"/>
                <a:cs typeface="Calibri" pitchFamily="34" charset="-120"/>
              </a:rPr>
              <a:t>gcd(x, y) = gcd(a, b)</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At the end y = 0, and gcd(x, 0) = x.</a:t>
            </a:r>
            <a:endParaRPr lang="en-US" sz="1400" dirty="0"/>
          </a:p>
        </p:txBody>
      </p:sp>
      <p:sp>
        <p:nvSpPr>
          <p:cNvPr id="20" name="Shape 17"/>
          <p:cNvSpPr/>
          <p:nvPr/>
        </p:nvSpPr>
        <p:spPr>
          <a:xfrm>
            <a:off x="8083296" y="3977640"/>
            <a:ext cx="3566160" cy="1371600"/>
          </a:xfrm>
          <a:prstGeom prst="roundRect">
            <a:avLst>
              <a:gd name="adj" fmla="val 8000"/>
            </a:avLst>
          </a:prstGeom>
          <a:solidFill>
            <a:srgbClr val="E6F4EC"/>
          </a:solidFill>
          <a:ln w="12700">
            <a:solidFill>
              <a:srgbClr val="E6F4EC"/>
            </a:solidFill>
            <a:prstDash val="solid"/>
          </a:ln>
        </p:spPr>
      </p:sp>
      <p:sp>
        <p:nvSpPr>
          <p:cNvPr id="21" name="Text 18"/>
          <p:cNvSpPr txBox="1"/>
          <p:nvPr/>
        </p:nvSpPr>
        <p:spPr>
          <a:xfrm>
            <a:off x="8266176" y="4023360"/>
            <a:ext cx="3291840" cy="1280160"/>
          </a:xfrm>
          <a:prstGeom prst="rect">
            <a:avLst/>
          </a:prstGeom>
          <a:noFill/>
          <a:ln/>
        </p:spPr>
        <p:txBody>
          <a:bodyPr wrap="square" lIns="0" tIns="0" rIns="0" bIns="0" rtlCol="0" anchor="ctr"/>
          <a:lstStyle/>
          <a:p>
            <a:pPr indent="0" marL="0">
              <a:buNone/>
            </a:pPr>
            <a:r>
              <a:rPr lang="en-US" sz="1400" b="1" dirty="0">
                <a:solidFill>
                  <a:srgbClr val="1F7A50"/>
                </a:solidFill>
                <a:latin typeface="Calibri" pitchFamily="34" charset="0"/>
                <a:ea typeface="Calibri" pitchFamily="34" charset="-122"/>
                <a:cs typeface="Calibri" pitchFamily="34" charset="-120"/>
              </a:rPr>
              <a:t>Invariant: </a:t>
            </a:r>
            <a:pPr indent="0" marL="0">
              <a:buNone/>
            </a:pPr>
            <a:r>
              <a:rPr lang="en-US" sz="1400" b="1" dirty="0">
                <a:solidFill>
                  <a:srgbClr val="333B4F"/>
                </a:solidFill>
                <a:latin typeface="Calibri" pitchFamily="34" charset="0"/>
                <a:ea typeface="Calibri" pitchFamily="34" charset="-122"/>
                <a:cs typeface="Calibri" pitchFamily="34" charset="-120"/>
              </a:rPr>
              <a:t>low ≤ secret ≤ high</a:t>
            </a:r>
            <a:endParaRPr lang="en-US" sz="1400" dirty="0"/>
          </a:p>
          <a:p>
            <a:pPr indent="0" marL="0">
              <a:buNone/>
            </a:pPr>
            <a:r>
              <a:rPr lang="en-US" sz="1400" dirty="0">
                <a:solidFill>
                  <a:srgbClr val="333B4F"/>
                </a:solidFill>
                <a:latin typeface="Calibri" pitchFamily="34" charset="0"/>
                <a:ea typeface="Calibri" pitchFamily="34" charset="-122"/>
                <a:cs typeface="Calibri" pitchFamily="34" charset="-120"/>
              </a:rPr>
              <a:t>The range shrinks each pass, so the loop ends.</a:t>
            </a:r>
            <a:endParaRPr lang="en-US" sz="1400" dirty="0"/>
          </a:p>
        </p:txBody>
      </p:sp>
      <p:sp>
        <p:nvSpPr>
          <p:cNvPr id="22" name="Shape 19"/>
          <p:cNvSpPr/>
          <p:nvPr/>
        </p:nvSpPr>
        <p:spPr>
          <a:xfrm>
            <a:off x="548640" y="5486400"/>
            <a:ext cx="11109960" cy="594360"/>
          </a:xfrm>
          <a:prstGeom prst="roundRect">
            <a:avLst>
              <a:gd name="adj" fmla="val 18462"/>
            </a:avLst>
          </a:prstGeom>
          <a:solidFill>
            <a:srgbClr val="FFF6E3"/>
          </a:solidFill>
          <a:ln w="12700">
            <a:solidFill>
              <a:srgbClr val="FFF6E3"/>
            </a:solidFill>
            <a:prstDash val="solid"/>
          </a:ln>
        </p:spPr>
      </p:sp>
      <p:pic>
        <p:nvPicPr>
          <p:cNvPr id="23" name="Image 0" descr="preencoded.png">    </p:cNvPr>
          <p:cNvPicPr>
            <a:picLocks noChangeAspect="1"/>
          </p:cNvPicPr>
          <p:nvPr/>
        </p:nvPicPr>
        <p:blipFill>
          <a:blip r:embed="rId1"/>
          <a:stretch>
            <a:fillRect/>
          </a:stretch>
        </p:blipFill>
        <p:spPr>
          <a:xfrm>
            <a:off x="822960" y="5623560"/>
            <a:ext cx="320040" cy="320040"/>
          </a:xfrm>
          <a:prstGeom prst="rect">
            <a:avLst/>
          </a:prstGeom>
        </p:spPr>
      </p:pic>
      <p:sp>
        <p:nvSpPr>
          <p:cNvPr id="24" name="Text 20"/>
          <p:cNvSpPr txBox="1"/>
          <p:nvPr/>
        </p:nvSpPr>
        <p:spPr>
          <a:xfrm>
            <a:off x="1417320" y="5559552"/>
            <a:ext cx="9966960" cy="4480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true before the loop  +  stays true after each pass  +  exit condition  ⇒  correct result</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Seven loop bugs and how to fix them</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023360"/>
                <a:gridCol w="3566160"/>
                <a:gridCol w="3520440"/>
              </a:tblGrid>
              <a:tr h="512064">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Mistake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Symptom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Fix</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1206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while (i &lt;= 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hangs; warning CS0642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remove the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no update in the body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infinite loop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change a variable of the condition</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do { … } while (x &gt; 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error CS1002: ; expected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end do-while with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while (x =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error CS0029 (int → bool)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compare with ==</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READ at the top of a sentinel loop</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sentinel added to the sum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priming read + READ at the end</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range check without !ok</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"abc" accepted as 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test !ok || out of range</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&lt; instead of &lt;= (or vice versa)</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one pass too many / too few</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trace table, test the boundaries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Quiz: what is printed? How many passes?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548640" y="1645920"/>
            <a:ext cx="3611880" cy="3657600"/>
          </a:xfrm>
          <a:prstGeom prst="roundRect">
            <a:avLst>
              <a:gd name="adj" fmla="val 2532"/>
            </a:avLst>
          </a:prstGeom>
          <a:solidFill>
            <a:srgbClr val="0F1729"/>
          </a:solidFill>
          <a:ln w="12700">
            <a:solidFill>
              <a:srgbClr val="0F1729"/>
            </a:solidFill>
            <a:prstDash val="solid"/>
          </a:ln>
        </p:spPr>
      </p:sp>
      <p:sp>
        <p:nvSpPr>
          <p:cNvPr id="8" name="Text 5"/>
          <p:cNvSpPr txBox="1"/>
          <p:nvPr/>
        </p:nvSpPr>
        <p:spPr>
          <a:xfrm>
            <a:off x="77724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Q1</a:t>
            </a:r>
            <a:endParaRPr lang="en-US" sz="1100" dirty="0"/>
          </a:p>
        </p:txBody>
      </p:sp>
      <p:sp>
        <p:nvSpPr>
          <p:cNvPr id="9" name="Text 6"/>
          <p:cNvSpPr txBox="1"/>
          <p:nvPr/>
        </p:nvSpPr>
        <p:spPr>
          <a:xfrm>
            <a:off x="777240" y="2057400"/>
            <a:ext cx="3154680" cy="31363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$"{n}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4297680" y="1645920"/>
            <a:ext cx="3611880" cy="3657600"/>
          </a:xfrm>
          <a:prstGeom prst="roundRect">
            <a:avLst>
              <a:gd name="adj" fmla="val 2532"/>
            </a:avLst>
          </a:prstGeom>
          <a:solidFill>
            <a:srgbClr val="0F1729"/>
          </a:solidFill>
          <a:ln w="12700">
            <a:solidFill>
              <a:srgbClr val="0F1729"/>
            </a:solidFill>
            <a:prstDash val="solid"/>
          </a:ln>
        </p:spPr>
      </p:sp>
      <p:sp>
        <p:nvSpPr>
          <p:cNvPr id="11" name="Text 8"/>
          <p:cNvSpPr txBox="1"/>
          <p:nvPr/>
        </p:nvSpPr>
        <p:spPr>
          <a:xfrm>
            <a:off x="452628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Q2</a:t>
            </a:r>
            <a:endParaRPr lang="en-US" sz="1100" dirty="0"/>
          </a:p>
        </p:txBody>
      </p:sp>
      <p:sp>
        <p:nvSpPr>
          <p:cNvPr id="12" name="Text 9"/>
          <p:cNvSpPr txBox="1"/>
          <p:nvPr/>
        </p:nvSpPr>
        <p:spPr>
          <a:xfrm>
            <a:off x="4526280" y="2057400"/>
            <a:ext cx="3154680" cy="31363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do</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$"{x}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(x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{x}"</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3" name="Shape 10"/>
          <p:cNvSpPr/>
          <p:nvPr/>
        </p:nvSpPr>
        <p:spPr>
          <a:xfrm>
            <a:off x="8046720" y="1645920"/>
            <a:ext cx="3611880" cy="3657600"/>
          </a:xfrm>
          <a:prstGeom prst="roundRect">
            <a:avLst>
              <a:gd name="adj" fmla="val 2532"/>
            </a:avLst>
          </a:prstGeom>
          <a:solidFill>
            <a:srgbClr val="0F1729"/>
          </a:solidFill>
          <a:ln w="12700">
            <a:solidFill>
              <a:srgbClr val="0F1729"/>
            </a:solidFill>
            <a:prstDash val="solid"/>
          </a:ln>
        </p:spPr>
      </p:sp>
      <p:sp>
        <p:nvSpPr>
          <p:cNvPr id="14" name="Text 11"/>
          <p:cNvSpPr txBox="1"/>
          <p:nvPr/>
        </p:nvSpPr>
        <p:spPr>
          <a:xfrm>
            <a:off x="8275320" y="1755648"/>
            <a:ext cx="31546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Q3</a:t>
            </a:r>
            <a:endParaRPr lang="en-US" sz="1100" dirty="0"/>
          </a:p>
        </p:txBody>
      </p:sp>
      <p:sp>
        <p:nvSpPr>
          <p:cNvPr id="15" name="Text 12"/>
          <p:cNvSpPr txBox="1"/>
          <p:nvPr/>
        </p:nvSpPr>
        <p:spPr>
          <a:xfrm>
            <a:off x="8275320" y="2057400"/>
            <a:ext cx="3154680" cy="313639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&lt;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$"{m} {c}"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6" name="Shape 13"/>
          <p:cNvSpPr/>
          <p:nvPr/>
        </p:nvSpPr>
        <p:spPr>
          <a:xfrm>
            <a:off x="548640" y="5486400"/>
            <a:ext cx="11109960" cy="594360"/>
          </a:xfrm>
          <a:prstGeom prst="roundRect">
            <a:avLst>
              <a:gd name="adj" fmla="val 18462"/>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623560"/>
            <a:ext cx="320040" cy="320040"/>
          </a:xfrm>
          <a:prstGeom prst="rect">
            <a:avLst/>
          </a:prstGeom>
        </p:spPr>
      </p:pic>
      <p:sp>
        <p:nvSpPr>
          <p:cNvPr id="18" name="Text 14"/>
          <p:cNvSpPr txBox="1"/>
          <p:nvPr/>
        </p:nvSpPr>
        <p:spPr>
          <a:xfrm>
            <a:off x="1417320" y="5559552"/>
            <a:ext cx="9966960" cy="44805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Write the output exactly, and count the passes of the body.</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PREDICT THE OUTPUT · ANSWERS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Answers (checked by running the code)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548640" y="1645920"/>
            <a:ext cx="3611880" cy="914400"/>
          </a:xfrm>
          <a:prstGeom prst="roundRect">
            <a:avLst>
              <a:gd name="adj" fmla="val 10000"/>
            </a:avLst>
          </a:prstGeom>
          <a:solidFill>
            <a:srgbClr val="0B0F19"/>
          </a:solidFill>
          <a:ln w="12700">
            <a:solidFill>
              <a:srgbClr val="2A3654"/>
            </a:solidFill>
            <a:prstDash val="solid"/>
          </a:ln>
        </p:spPr>
      </p:sp>
      <p:sp>
        <p:nvSpPr>
          <p:cNvPr id="8" name="Shape 5"/>
          <p:cNvSpPr/>
          <p:nvPr/>
        </p:nvSpPr>
        <p:spPr>
          <a:xfrm>
            <a:off x="731520" y="1773936"/>
            <a:ext cx="118872" cy="118872"/>
          </a:xfrm>
          <a:prstGeom prst="ellipse">
            <a:avLst/>
          </a:prstGeom>
          <a:solidFill>
            <a:srgbClr val="FF5F57"/>
          </a:solidFill>
          <a:ln w="12700">
            <a:solidFill>
              <a:srgbClr val="FF5F57"/>
            </a:solidFill>
            <a:prstDash val="solid"/>
          </a:ln>
        </p:spPr>
      </p:sp>
      <p:sp>
        <p:nvSpPr>
          <p:cNvPr id="9" name="Shape 6"/>
          <p:cNvSpPr/>
          <p:nvPr/>
        </p:nvSpPr>
        <p:spPr>
          <a:xfrm>
            <a:off x="960120" y="1773936"/>
            <a:ext cx="118872" cy="118872"/>
          </a:xfrm>
          <a:prstGeom prst="ellipse">
            <a:avLst/>
          </a:prstGeom>
          <a:solidFill>
            <a:srgbClr val="FEBC2E"/>
          </a:solidFill>
          <a:ln w="12700">
            <a:solidFill>
              <a:srgbClr val="FEBC2E"/>
            </a:solidFill>
            <a:prstDash val="solid"/>
          </a:ln>
        </p:spPr>
      </p:sp>
      <p:sp>
        <p:nvSpPr>
          <p:cNvPr id="10" name="Shape 7"/>
          <p:cNvSpPr/>
          <p:nvPr/>
        </p:nvSpPr>
        <p:spPr>
          <a:xfrm>
            <a:off x="1188720" y="1773936"/>
            <a:ext cx="118872" cy="118872"/>
          </a:xfrm>
          <a:prstGeom prst="ellipse">
            <a:avLst/>
          </a:prstGeom>
          <a:solidFill>
            <a:srgbClr val="28C840"/>
          </a:solidFill>
          <a:ln w="12700">
            <a:solidFill>
              <a:srgbClr val="28C840"/>
            </a:solidFill>
            <a:prstDash val="solid"/>
          </a:ln>
        </p:spPr>
      </p:sp>
      <p:sp>
        <p:nvSpPr>
          <p:cNvPr id="11" name="Text 8"/>
          <p:cNvSpPr txBox="1"/>
          <p:nvPr/>
        </p:nvSpPr>
        <p:spPr>
          <a:xfrm>
            <a:off x="146304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Q1</a:t>
            </a:r>
            <a:endParaRPr lang="en-US" sz="1000" dirty="0"/>
          </a:p>
        </p:txBody>
      </p:sp>
      <p:sp>
        <p:nvSpPr>
          <p:cNvPr id="12" name="Text 9"/>
          <p:cNvSpPr txBox="1"/>
          <p:nvPr/>
        </p:nvSpPr>
        <p:spPr>
          <a:xfrm>
            <a:off x="777240" y="2029968"/>
            <a:ext cx="315468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5 2 1</a:t>
            </a:r>
            <a:endParaRPr lang="en-US" sz="1500" dirty="0"/>
          </a:p>
        </p:txBody>
      </p:sp>
      <p:sp>
        <p:nvSpPr>
          <p:cNvPr id="13" name="Shape 10"/>
          <p:cNvSpPr/>
          <p:nvPr/>
        </p:nvSpPr>
        <p:spPr>
          <a:xfrm>
            <a:off x="4297680" y="1645920"/>
            <a:ext cx="3611880" cy="914400"/>
          </a:xfrm>
          <a:prstGeom prst="roundRect">
            <a:avLst>
              <a:gd name="adj" fmla="val 10000"/>
            </a:avLst>
          </a:prstGeom>
          <a:solidFill>
            <a:srgbClr val="0B0F19"/>
          </a:solidFill>
          <a:ln w="12700">
            <a:solidFill>
              <a:srgbClr val="2A3654"/>
            </a:solidFill>
            <a:prstDash val="solid"/>
          </a:ln>
        </p:spPr>
      </p:sp>
      <p:sp>
        <p:nvSpPr>
          <p:cNvPr id="14" name="Shape 11"/>
          <p:cNvSpPr/>
          <p:nvPr/>
        </p:nvSpPr>
        <p:spPr>
          <a:xfrm>
            <a:off x="4480560" y="1773936"/>
            <a:ext cx="118872" cy="118872"/>
          </a:xfrm>
          <a:prstGeom prst="ellipse">
            <a:avLst/>
          </a:prstGeom>
          <a:solidFill>
            <a:srgbClr val="FF5F57"/>
          </a:solidFill>
          <a:ln w="12700">
            <a:solidFill>
              <a:srgbClr val="FF5F57"/>
            </a:solidFill>
            <a:prstDash val="solid"/>
          </a:ln>
        </p:spPr>
      </p:sp>
      <p:sp>
        <p:nvSpPr>
          <p:cNvPr id="15" name="Shape 12"/>
          <p:cNvSpPr/>
          <p:nvPr/>
        </p:nvSpPr>
        <p:spPr>
          <a:xfrm>
            <a:off x="4709160" y="1773936"/>
            <a:ext cx="118872" cy="118872"/>
          </a:xfrm>
          <a:prstGeom prst="ellipse">
            <a:avLst/>
          </a:prstGeom>
          <a:solidFill>
            <a:srgbClr val="FEBC2E"/>
          </a:solidFill>
          <a:ln w="12700">
            <a:solidFill>
              <a:srgbClr val="FEBC2E"/>
            </a:solidFill>
            <a:prstDash val="solid"/>
          </a:ln>
        </p:spPr>
      </p:sp>
      <p:sp>
        <p:nvSpPr>
          <p:cNvPr id="16" name="Shape 13"/>
          <p:cNvSpPr/>
          <p:nvPr/>
        </p:nvSpPr>
        <p:spPr>
          <a:xfrm>
            <a:off x="4937760" y="1773936"/>
            <a:ext cx="118872" cy="118872"/>
          </a:xfrm>
          <a:prstGeom prst="ellipse">
            <a:avLst/>
          </a:prstGeom>
          <a:solidFill>
            <a:srgbClr val="28C840"/>
          </a:solidFill>
          <a:ln w="12700">
            <a:solidFill>
              <a:srgbClr val="28C840"/>
            </a:solidFill>
            <a:prstDash val="solid"/>
          </a:ln>
        </p:spPr>
      </p:sp>
      <p:sp>
        <p:nvSpPr>
          <p:cNvPr id="17" name="Text 14"/>
          <p:cNvSpPr txBox="1"/>
          <p:nvPr/>
        </p:nvSpPr>
        <p:spPr>
          <a:xfrm>
            <a:off x="521208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Q2</a:t>
            </a:r>
            <a:endParaRPr lang="en-US" sz="1000" dirty="0"/>
          </a:p>
        </p:txBody>
      </p:sp>
      <p:sp>
        <p:nvSpPr>
          <p:cNvPr id="18" name="Text 15"/>
          <p:cNvSpPr txBox="1"/>
          <p:nvPr/>
        </p:nvSpPr>
        <p:spPr>
          <a:xfrm>
            <a:off x="4526280" y="2029968"/>
            <a:ext cx="315468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100 | 110</a:t>
            </a:r>
            <a:endParaRPr lang="en-US" sz="1500" dirty="0"/>
          </a:p>
        </p:txBody>
      </p:sp>
      <p:sp>
        <p:nvSpPr>
          <p:cNvPr id="19" name="Shape 16"/>
          <p:cNvSpPr/>
          <p:nvPr/>
        </p:nvSpPr>
        <p:spPr>
          <a:xfrm>
            <a:off x="8046720" y="1645920"/>
            <a:ext cx="3611880" cy="914400"/>
          </a:xfrm>
          <a:prstGeom prst="roundRect">
            <a:avLst>
              <a:gd name="adj" fmla="val 10000"/>
            </a:avLst>
          </a:prstGeom>
          <a:solidFill>
            <a:srgbClr val="0B0F19"/>
          </a:solidFill>
          <a:ln w="12700">
            <a:solidFill>
              <a:srgbClr val="2A3654"/>
            </a:solidFill>
            <a:prstDash val="solid"/>
          </a:ln>
        </p:spPr>
      </p:sp>
      <p:sp>
        <p:nvSpPr>
          <p:cNvPr id="20" name="Shape 17"/>
          <p:cNvSpPr/>
          <p:nvPr/>
        </p:nvSpPr>
        <p:spPr>
          <a:xfrm>
            <a:off x="8229600" y="1773936"/>
            <a:ext cx="118872" cy="118872"/>
          </a:xfrm>
          <a:prstGeom prst="ellipse">
            <a:avLst/>
          </a:prstGeom>
          <a:solidFill>
            <a:srgbClr val="FF5F57"/>
          </a:solidFill>
          <a:ln w="12700">
            <a:solidFill>
              <a:srgbClr val="FF5F57"/>
            </a:solidFill>
            <a:prstDash val="solid"/>
          </a:ln>
        </p:spPr>
      </p:sp>
      <p:sp>
        <p:nvSpPr>
          <p:cNvPr id="21" name="Shape 18"/>
          <p:cNvSpPr/>
          <p:nvPr/>
        </p:nvSpPr>
        <p:spPr>
          <a:xfrm>
            <a:off x="8458200" y="1773936"/>
            <a:ext cx="118872" cy="118872"/>
          </a:xfrm>
          <a:prstGeom prst="ellipse">
            <a:avLst/>
          </a:prstGeom>
          <a:solidFill>
            <a:srgbClr val="FEBC2E"/>
          </a:solidFill>
          <a:ln w="12700">
            <a:solidFill>
              <a:srgbClr val="FEBC2E"/>
            </a:solidFill>
            <a:prstDash val="solid"/>
          </a:ln>
        </p:spPr>
      </p:sp>
      <p:sp>
        <p:nvSpPr>
          <p:cNvPr id="22" name="Shape 19"/>
          <p:cNvSpPr/>
          <p:nvPr/>
        </p:nvSpPr>
        <p:spPr>
          <a:xfrm>
            <a:off x="8686800" y="1773936"/>
            <a:ext cx="118872" cy="118872"/>
          </a:xfrm>
          <a:prstGeom prst="ellipse">
            <a:avLst/>
          </a:prstGeom>
          <a:solidFill>
            <a:srgbClr val="28C840"/>
          </a:solidFill>
          <a:ln w="12700">
            <a:solidFill>
              <a:srgbClr val="28C840"/>
            </a:solidFill>
            <a:prstDash val="solid"/>
          </a:ln>
        </p:spPr>
      </p:sp>
      <p:sp>
        <p:nvSpPr>
          <p:cNvPr id="23" name="Text 20"/>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Q3</a:t>
            </a:r>
            <a:endParaRPr lang="en-US" sz="1000" dirty="0"/>
          </a:p>
        </p:txBody>
      </p:sp>
      <p:sp>
        <p:nvSpPr>
          <p:cNvPr id="24" name="Text 21"/>
          <p:cNvSpPr txBox="1"/>
          <p:nvPr/>
        </p:nvSpPr>
        <p:spPr>
          <a:xfrm>
            <a:off x="8275320" y="2029968"/>
            <a:ext cx="3154680" cy="41148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243 5</a:t>
            </a:r>
            <a:endParaRPr lang="en-US" sz="15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3611880" cy="914400"/>
        </p:xfrm>
        <a:graphic>
          <a:graphicData uri="http://schemas.openxmlformats.org/drawingml/2006/table">
            <a:tbl>
              <a:tblPr/>
              <a:tblGrid>
                <a:gridCol w="1234440"/>
                <a:gridCol w="1097280"/>
                <a:gridCol w="1280160"/>
              </a:tblGrid>
              <a:tr h="4114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 before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 after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printed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gridSpan="3">
                  <a:txBody>
                    <a:bodyPr/>
                    <a:lstStyle/>
                    <a:p>
                      <a:pPr algn="l" indent="0" marL="0">
                        <a:buNone/>
                      </a:pPr>
                      <a:r>
                        <a:rPr lang="en-US" sz="1400" b="1" dirty="0">
                          <a:solidFill>
                            <a:srgbClr val="C8453B"/>
                          </a:solidFill>
                          <a:latin typeface="Courier New" pitchFamily="34" charset="0"/>
                          <a:ea typeface="Courier New" pitchFamily="34" charset="-122"/>
                          <a:cs typeface="Courier New" pitchFamily="34" charset="-120"/>
                        </a:rPr>
                        <a:t>1 &gt; 1 is false: stop</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hMerge="1">
                  <a:tcPr/>
                </a:tc>
                <a:tc hMerge="1">
                  <a:tcPr/>
                </a:tc>
              </a:tr>
            </a:tbl>
          </a:graphicData>
        </a:graphic>
      </p:graphicFrame>
      <p:sp>
        <p:nvSpPr>
          <p:cNvPr id="26" name="Shape 22"/>
          <p:cNvSpPr/>
          <p:nvPr/>
        </p:nvSpPr>
        <p:spPr>
          <a:xfrm>
            <a:off x="4297680" y="2743200"/>
            <a:ext cx="3611880" cy="2057400"/>
          </a:xfrm>
          <a:prstGeom prst="roundRect">
            <a:avLst>
              <a:gd name="adj" fmla="val 5333"/>
            </a:avLst>
          </a:prstGeom>
          <a:solidFill>
            <a:srgbClr val="E6F4EC"/>
          </a:solidFill>
          <a:ln w="12700">
            <a:solidFill>
              <a:srgbClr val="E6F4EC"/>
            </a:solidFill>
            <a:prstDash val="solid"/>
          </a:ln>
        </p:spPr>
      </p:sp>
      <p:sp>
        <p:nvSpPr>
          <p:cNvPr id="27" name="Text 23"/>
          <p:cNvSpPr txBox="1"/>
          <p:nvPr/>
        </p:nvSpPr>
        <p:spPr>
          <a:xfrm>
            <a:off x="4480560" y="2788920"/>
            <a:ext cx="3291840" cy="1965960"/>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do-while runs once</a:t>
            </a:r>
            <a:endParaRPr lang="en-US" sz="1500" dirty="0"/>
          </a:p>
          <a:p>
            <a:pPr indent="0" marL="0">
              <a:buNone/>
            </a:pPr>
            <a:r>
              <a:rPr lang="en-US" sz="1500" dirty="0">
                <a:solidFill>
                  <a:srgbClr val="333B4F"/>
                </a:solidFill>
                <a:latin typeface="Calibri" pitchFamily="34" charset="0"/>
                <a:ea typeface="Calibri" pitchFamily="34" charset="-122"/>
                <a:cs typeface="Calibri" pitchFamily="34" charset="-120"/>
              </a:rPr>
              <a:t>prints 100, x becomes 110, then 110 &lt; 50 is false → stop.</a:t>
            </a:r>
            <a:endParaRPr lang="en-US" sz="150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8046720" y="2743200"/>
          <a:ext cx="3611880" cy="914400"/>
        </p:xfrm>
        <a:graphic>
          <a:graphicData uri="http://schemas.openxmlformats.org/drawingml/2006/table">
            <a:tbl>
              <a:tblPr/>
              <a:tblGrid>
                <a:gridCol w="1188720"/>
                <a:gridCol w="1234440"/>
                <a:gridCol w="1188720"/>
              </a:tblGrid>
              <a:tr h="38404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9</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27</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81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4</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84048">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243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29" name="Shape 24"/>
          <p:cNvSpPr/>
          <p:nvPr/>
        </p:nvSpPr>
        <p:spPr>
          <a:xfrm>
            <a:off x="548640" y="5166360"/>
            <a:ext cx="7360920" cy="914400"/>
          </a:xfrm>
          <a:prstGeom prst="roundRect">
            <a:avLst>
              <a:gd name="adj" fmla="val 12000"/>
            </a:avLst>
          </a:prstGeom>
          <a:solidFill>
            <a:srgbClr val="FFF6E3"/>
          </a:solidFill>
          <a:ln w="12700">
            <a:solidFill>
              <a:srgbClr val="FFF6E3"/>
            </a:solidFill>
            <a:prstDash val="solid"/>
          </a:ln>
        </p:spPr>
      </p:sp>
      <p:pic>
        <p:nvPicPr>
          <p:cNvPr id="30" name="Image 0" descr="preencoded.png">    </p:cNvPr>
          <p:cNvPicPr>
            <a:picLocks noChangeAspect="1"/>
          </p:cNvPicPr>
          <p:nvPr/>
        </p:nvPicPr>
        <p:blipFill>
          <a:blip r:embed="rId1"/>
          <a:stretch>
            <a:fillRect/>
          </a:stretch>
        </p:blipFill>
        <p:spPr>
          <a:xfrm>
            <a:off x="822960" y="5349240"/>
            <a:ext cx="548640" cy="548640"/>
          </a:xfrm>
          <a:prstGeom prst="rect">
            <a:avLst/>
          </a:prstGeom>
        </p:spPr>
      </p:pic>
      <p:sp>
        <p:nvSpPr>
          <p:cNvPr id="31" name="Text 25"/>
          <p:cNvSpPr txBox="1"/>
          <p:nvPr/>
        </p:nvSpPr>
        <p:spPr>
          <a:xfrm>
            <a:off x="1645920" y="5239512"/>
            <a:ext cx="5989320" cy="7680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Q1: 3 passes, 4 tests.  Q2: 1 pass.  Q3: 5 passes.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IN-CLASS EXERCISES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turn (pairs, 25 minutes)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548640" y="1645920"/>
            <a:ext cx="5440680" cy="210312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E1 · Even and odd ★</a:t>
            </a:r>
            <a:endParaRPr lang="en-US" sz="1700" dirty="0"/>
          </a:p>
        </p:txBody>
      </p:sp>
      <p:sp>
        <p:nvSpPr>
          <p:cNvPr id="11" name="Text 7"/>
          <p:cNvSpPr txBox="1"/>
          <p:nvPr/>
        </p:nvSpPr>
        <p:spPr>
          <a:xfrm>
            <a:off x="77724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integers until 0 (sentinel). Print how many were even and how many were odd.</a:t>
            </a:r>
            <a:endParaRPr lang="en-US" sz="1500" dirty="0"/>
          </a:p>
        </p:txBody>
      </p:sp>
      <p:sp>
        <p:nvSpPr>
          <p:cNvPr id="12" name="Shape 8"/>
          <p:cNvSpPr/>
          <p:nvPr/>
        </p:nvSpPr>
        <p:spPr>
          <a:xfrm>
            <a:off x="6217920" y="1645920"/>
            <a:ext cx="5440680" cy="210312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2E9E6A"/>
          </a:solidFill>
          <a:ln w="12700">
            <a:solidFill>
              <a:srgbClr val="2E9E6A"/>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E2 · Month days ★</a:t>
            </a:r>
            <a:endParaRPr lang="en-US" sz="1700" dirty="0"/>
          </a:p>
        </p:txBody>
      </p:sp>
      <p:sp>
        <p:nvSpPr>
          <p:cNvPr id="16" name="Text 11"/>
          <p:cNvSpPr txBox="1"/>
          <p:nvPr/>
        </p:nvSpPr>
        <p:spPr>
          <a:xfrm>
            <a:off x="6446520" y="256032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a month 1–12 with do-while + TryParse (ask again if invalid). Print its number of days (Feb = 28) with switch.</a:t>
            </a:r>
            <a:endParaRPr lang="en-US" sz="1500" dirty="0"/>
          </a:p>
        </p:txBody>
      </p:sp>
      <p:sp>
        <p:nvSpPr>
          <p:cNvPr id="17" name="Shape 12"/>
          <p:cNvSpPr/>
          <p:nvPr/>
        </p:nvSpPr>
        <p:spPr>
          <a:xfrm>
            <a:off x="548640" y="3886200"/>
            <a:ext cx="5440680" cy="210312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777240" y="41148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262201"/>
            <a:ext cx="272125" cy="272125"/>
          </a:xfrm>
          <a:prstGeom prst="rect">
            <a:avLst/>
          </a:prstGeom>
        </p:spPr>
      </p:pic>
      <p:sp>
        <p:nvSpPr>
          <p:cNvPr id="20" name="Text 14"/>
          <p:cNvSpPr txBox="1"/>
          <p:nvPr/>
        </p:nvSpPr>
        <p:spPr>
          <a:xfrm>
            <a:off x="146304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E3 · Count a digit ★★</a:t>
            </a:r>
            <a:endParaRPr lang="en-US" sz="1700" dirty="0"/>
          </a:p>
        </p:txBody>
      </p:sp>
      <p:sp>
        <p:nvSpPr>
          <p:cNvPr id="21" name="Text 15"/>
          <p:cNvSpPr txBox="1"/>
          <p:nvPr/>
        </p:nvSpPr>
        <p:spPr>
          <a:xfrm>
            <a:off x="77724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Read n and a digit d. Print how many times d occurs in n (e.g. 1 in 10101 → 3). Careful with n = 0.</a:t>
            </a:r>
            <a:endParaRPr lang="en-US" sz="1500" dirty="0"/>
          </a:p>
        </p:txBody>
      </p:sp>
      <p:sp>
        <p:nvSpPr>
          <p:cNvPr id="22" name="Shape 16"/>
          <p:cNvSpPr/>
          <p:nvPr/>
        </p:nvSpPr>
        <p:spPr>
          <a:xfrm>
            <a:off x="6217920" y="3886200"/>
            <a:ext cx="5440680" cy="210312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6446520" y="4114800"/>
            <a:ext cx="566928" cy="566928"/>
          </a:xfrm>
          <a:prstGeom prst="ellipse">
            <a:avLst/>
          </a:prstGeom>
          <a:solidFill>
            <a:srgbClr val="2E9E6A"/>
          </a:solidFill>
          <a:ln w="12700">
            <a:solidFill>
              <a:srgbClr val="2E9E6A"/>
            </a:solidFill>
            <a:prstDash val="solid"/>
          </a:ln>
        </p:spPr>
      </p:sp>
      <p:pic>
        <p:nvPicPr>
          <p:cNvPr id="24" name="Image 3" descr="preencoded.png">    </p:cNvPr>
          <p:cNvPicPr>
            <a:picLocks noChangeAspect="1"/>
          </p:cNvPicPr>
          <p:nvPr/>
        </p:nvPicPr>
        <p:blipFill>
          <a:blip r:embed="rId4"/>
          <a:stretch>
            <a:fillRect/>
          </a:stretch>
        </p:blipFill>
        <p:spPr>
          <a:xfrm>
            <a:off x="6593921" y="4262201"/>
            <a:ext cx="272125" cy="272125"/>
          </a:xfrm>
          <a:prstGeom prst="rect">
            <a:avLst/>
          </a:prstGeom>
        </p:spPr>
      </p:pic>
      <p:sp>
        <p:nvSpPr>
          <p:cNvPr id="25" name="Text 18"/>
          <p:cNvSpPr txBox="1"/>
          <p:nvPr/>
        </p:nvSpPr>
        <p:spPr>
          <a:xfrm>
            <a:off x="7132320" y="41148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E4 · from for to while ★★</a:t>
            </a:r>
            <a:endParaRPr lang="en-US" sz="1700" dirty="0"/>
          </a:p>
        </p:txBody>
      </p:sp>
      <p:sp>
        <p:nvSpPr>
          <p:cNvPr id="26" name="Text 19"/>
          <p:cNvSpPr txBox="1"/>
          <p:nvPr/>
        </p:nvSpPr>
        <p:spPr>
          <a:xfrm>
            <a:off x="6446520" y="4800600"/>
            <a:ext cx="4983480" cy="1051560"/>
          </a:xfrm>
          <a:prstGeom prst="rect">
            <a:avLst/>
          </a:prstGeom>
          <a:noFill/>
          <a:ln/>
        </p:spPr>
        <p:txBody>
          <a:bodyPr wrap="square" lIns="0" tIns="0" rIns="0" bIns="0" rtlCol="0" anchor="t"/>
          <a:lstStyle/>
          <a:p>
            <a:pPr indent="0" marL="0">
              <a:buNone/>
            </a:pPr>
            <a:r>
              <a:rPr lang="en-US" sz="1500" dirty="0">
                <a:solidFill>
                  <a:srgbClr val="333B4F"/>
                </a:solidFill>
                <a:latin typeface="Calibri" pitchFamily="34" charset="0"/>
                <a:ea typeface="Calibri" pitchFamily="34" charset="-122"/>
                <a:cs typeface="Calibri" pitchFamily="34" charset="-120"/>
              </a:rPr>
              <a:t>Rewrite the Week 6 factorial as a while loop. Then find the smallest n with n! &gt; 1 000 000.</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HOMEWORK</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Before next week (midterm review!)</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7</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548640" y="1645920"/>
            <a:ext cx="5440680" cy="1874520"/>
          </a:xfrm>
          <a:prstGeom prst="roundRect">
            <a:avLst>
              <a:gd name="adj" fmla="val 5854"/>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H1 · Unit converter menu</a:t>
            </a:r>
            <a:endParaRPr lang="en-US" sz="1700" dirty="0"/>
          </a:p>
        </p:txBody>
      </p:sp>
      <p:sp>
        <p:nvSpPr>
          <p:cNvPr id="11" name="Text 7"/>
          <p:cNvSpPr txBox="1"/>
          <p:nvPr/>
        </p:nvSpPr>
        <p:spPr>
          <a:xfrm>
            <a:off x="77724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do-while + switch: 1) km → mile, 2) °C → °F, 3) kg → lb, 0) Exit. Validate every number with TryParse.</a:t>
            </a:r>
            <a:endParaRPr lang="en-US" sz="1400" dirty="0"/>
          </a:p>
        </p:txBody>
      </p:sp>
      <p:sp>
        <p:nvSpPr>
          <p:cNvPr id="12" name="Shape 8"/>
          <p:cNvSpPr/>
          <p:nvPr/>
        </p:nvSpPr>
        <p:spPr>
          <a:xfrm>
            <a:off x="6217920" y="1645920"/>
            <a:ext cx="5440680" cy="1874520"/>
          </a:xfrm>
          <a:prstGeom prst="roundRect">
            <a:avLst>
              <a:gd name="adj" fmla="val 5854"/>
            </a:avLst>
          </a:prstGeom>
          <a:solidFill>
            <a:srgbClr val="EEF1F6"/>
          </a:solidFill>
          <a:ln w="12700">
            <a:solidFill>
              <a:srgbClr val="EEF1F6"/>
            </a:solidFill>
            <a:prstDash val="solid"/>
          </a:ln>
        </p:spPr>
      </p:sp>
      <p:sp>
        <p:nvSpPr>
          <p:cNvPr id="13" name="Shape 9"/>
          <p:cNvSpPr/>
          <p:nvPr/>
        </p:nvSpPr>
        <p:spPr>
          <a:xfrm>
            <a:off x="6446520"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6593921" y="2021921"/>
            <a:ext cx="272125" cy="272125"/>
          </a:xfrm>
          <a:prstGeom prst="rect">
            <a:avLst/>
          </a:prstGeom>
        </p:spPr>
      </p:pic>
      <p:sp>
        <p:nvSpPr>
          <p:cNvPr id="15" name="Text 10"/>
          <p:cNvSpPr txBox="1"/>
          <p:nvPr/>
        </p:nvSpPr>
        <p:spPr>
          <a:xfrm>
            <a:off x="7132320" y="187452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H2 · Prime check with while</a:t>
            </a:r>
            <a:endParaRPr lang="en-US" sz="1700" dirty="0"/>
          </a:p>
        </p:txBody>
      </p:sp>
      <p:sp>
        <p:nvSpPr>
          <p:cNvPr id="16" name="Text 11"/>
          <p:cNvSpPr txBox="1"/>
          <p:nvPr/>
        </p:nvSpPr>
        <p:spPr>
          <a:xfrm>
            <a:off x="6446520" y="256032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n ≥ 2 and test divisors d while d · d ≤ n. Stop at the first divisor found.</a:t>
            </a:r>
            <a:endParaRPr lang="en-US" sz="1400" dirty="0"/>
          </a:p>
        </p:txBody>
      </p:sp>
      <p:sp>
        <p:nvSpPr>
          <p:cNvPr id="17" name="Shape 12"/>
          <p:cNvSpPr/>
          <p:nvPr/>
        </p:nvSpPr>
        <p:spPr>
          <a:xfrm>
            <a:off x="548640" y="3657600"/>
            <a:ext cx="5440680" cy="1874520"/>
          </a:xfrm>
          <a:prstGeom prst="roundRect">
            <a:avLst>
              <a:gd name="adj" fmla="val 5854"/>
            </a:avLst>
          </a:prstGeom>
          <a:solidFill>
            <a:srgbClr val="EEF1F6"/>
          </a:solidFill>
          <a:ln w="12700">
            <a:solidFill>
              <a:srgbClr val="EEF1F6"/>
            </a:solidFill>
            <a:prstDash val="solid"/>
          </a:ln>
        </p:spPr>
      </p:sp>
      <p:sp>
        <p:nvSpPr>
          <p:cNvPr id="18" name="Shape 13"/>
          <p:cNvSpPr/>
          <p:nvPr/>
        </p:nvSpPr>
        <p:spPr>
          <a:xfrm>
            <a:off x="777240" y="388620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924641" y="4033601"/>
            <a:ext cx="272125" cy="272125"/>
          </a:xfrm>
          <a:prstGeom prst="rect">
            <a:avLst/>
          </a:prstGeom>
        </p:spPr>
      </p:pic>
      <p:sp>
        <p:nvSpPr>
          <p:cNvPr id="20" name="Text 14"/>
          <p:cNvSpPr txBox="1"/>
          <p:nvPr/>
        </p:nvSpPr>
        <p:spPr>
          <a:xfrm>
            <a:off x="146304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H3 · Better guessing game</a:t>
            </a:r>
            <a:endParaRPr lang="en-US" sz="1700" dirty="0"/>
          </a:p>
        </p:txBody>
      </p:sp>
      <p:sp>
        <p:nvSpPr>
          <p:cNvPr id="21" name="Text 15"/>
          <p:cNvSpPr txBox="1"/>
          <p:nvPr/>
        </p:nvSpPr>
        <p:spPr>
          <a:xfrm>
            <a:off x="77724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At most 7 attempts; after each game ask "Play again? (y/n)" with a do-while around the game.</a:t>
            </a:r>
            <a:endParaRPr lang="en-US" sz="1400" dirty="0"/>
          </a:p>
        </p:txBody>
      </p:sp>
      <p:sp>
        <p:nvSpPr>
          <p:cNvPr id="22" name="Shape 16"/>
          <p:cNvSpPr/>
          <p:nvPr/>
        </p:nvSpPr>
        <p:spPr>
          <a:xfrm>
            <a:off x="6217920" y="3657600"/>
            <a:ext cx="5440680" cy="1874520"/>
          </a:xfrm>
          <a:prstGeom prst="roundRect">
            <a:avLst>
              <a:gd name="adj" fmla="val 5854"/>
            </a:avLst>
          </a:prstGeom>
          <a:solidFill>
            <a:srgbClr val="EEF1F6"/>
          </a:solidFill>
          <a:ln w="12700">
            <a:solidFill>
              <a:srgbClr val="EEF1F6"/>
            </a:solidFill>
            <a:prstDash val="solid"/>
          </a:ln>
        </p:spPr>
      </p:sp>
      <p:sp>
        <p:nvSpPr>
          <p:cNvPr id="23" name="Shape 17"/>
          <p:cNvSpPr/>
          <p:nvPr/>
        </p:nvSpPr>
        <p:spPr>
          <a:xfrm>
            <a:off x="6446520" y="3886200"/>
            <a:ext cx="566928" cy="566928"/>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6593921" y="4033601"/>
            <a:ext cx="272125" cy="272125"/>
          </a:xfrm>
          <a:prstGeom prst="rect">
            <a:avLst/>
          </a:prstGeom>
        </p:spPr>
      </p:pic>
      <p:sp>
        <p:nvSpPr>
          <p:cNvPr id="25" name="Text 18"/>
          <p:cNvSpPr txBox="1"/>
          <p:nvPr/>
        </p:nvSpPr>
        <p:spPr>
          <a:xfrm>
            <a:off x="7132320" y="3886200"/>
            <a:ext cx="434340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H4 · Binary to decimal</a:t>
            </a:r>
            <a:endParaRPr lang="en-US" sz="1700" dirty="0"/>
          </a:p>
        </p:txBody>
      </p:sp>
      <p:sp>
        <p:nvSpPr>
          <p:cNvPr id="26" name="Text 19"/>
          <p:cNvSpPr txBox="1"/>
          <p:nvPr/>
        </p:nvSpPr>
        <p:spPr>
          <a:xfrm>
            <a:off x="6446520" y="4572000"/>
            <a:ext cx="4983480" cy="8229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Read a number made of 0s and 1s (e.g. 1101) as an int and convert it with % 10 and / 10 (1101 → 13).</a:t>
            </a:r>
            <a:endParaRPr lang="en-US" sz="1400" dirty="0"/>
          </a:p>
        </p:txBody>
      </p:sp>
      <p:sp>
        <p:nvSpPr>
          <p:cNvPr id="27" name="Shape 20"/>
          <p:cNvSpPr/>
          <p:nvPr/>
        </p:nvSpPr>
        <p:spPr>
          <a:xfrm>
            <a:off x="548640" y="5669280"/>
            <a:ext cx="11109960" cy="457200"/>
          </a:xfrm>
          <a:prstGeom prst="roundRect">
            <a:avLst>
              <a:gd name="adj" fmla="val 24000"/>
            </a:avLst>
          </a:prstGeom>
          <a:solidFill>
            <a:srgbClr val="FFF6E3"/>
          </a:solidFill>
          <a:ln w="12700">
            <a:solidFill>
              <a:srgbClr val="FFF6E3"/>
            </a:solidFill>
            <a:prstDash val="solid"/>
          </a:ln>
        </p:spPr>
      </p:sp>
      <p:pic>
        <p:nvPicPr>
          <p:cNvPr id="28" name="Image 4" descr="preencoded.png">    </p:cNvPr>
          <p:cNvPicPr>
            <a:picLocks noChangeAspect="1"/>
          </p:cNvPicPr>
          <p:nvPr/>
        </p:nvPicPr>
        <p:blipFill>
          <a:blip r:embed="rId5"/>
          <a:stretch>
            <a:fillRect/>
          </a:stretch>
        </p:blipFill>
        <p:spPr>
          <a:xfrm>
            <a:off x="822960" y="5806440"/>
            <a:ext cx="182880" cy="182880"/>
          </a:xfrm>
          <a:prstGeom prst="rect">
            <a:avLst/>
          </a:prstGeom>
        </p:spPr>
      </p:pic>
      <p:sp>
        <p:nvSpPr>
          <p:cNvPr id="29" name="Text 21"/>
          <p:cNvSpPr txBox="1"/>
          <p:nvPr/>
        </p:nvSpPr>
        <p:spPr>
          <a:xfrm>
            <a:off x="1280160" y="5742432"/>
            <a:ext cx="10104120" cy="3108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Submit the four Program.cs files on the course group; include one console run for each.</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while tests BEFORE the body (0 or more passes); do-while tests AFTER (1 or more passes).</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Use for when you can count the passes; while/do-while when you only know when to stop.</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Sentinel loops: priming read before the loop, read the next value at the end of the body.</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Validation: repeat while !ok || out of range. Menus: do-while around a switch.</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 10 and / 10 peel digits; Euclid, binary and Collatz are while loops too.</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Every loop needs progress toward its exit. Stuck? Ctrl+C, then trace the variables.</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Week 8: Midterm review &amp; practice exam</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7</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7 – Loops: while and do-while</dc:title>
  <dc:subject>PptxGenJS Presentation</dc:subject>
  <dc:creator>MCMP113</dc:creator>
  <cp:lastModifiedBy>MCMP113</cp:lastModifiedBy>
  <cp:revision>1</cp:revision>
  <dcterms:created xsi:type="dcterms:W3CDTF">2026-10-25T13:00:20Z</dcterms:created>
  <dcterms:modified xsi:type="dcterms:W3CDTF">2026-10-25T13:00:20Z</dcterms:modified>
</cp:coreProperties>
</file>