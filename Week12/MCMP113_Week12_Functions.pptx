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(about 3 × 50 min). The terminal on the right is a real run of Example 8: one name, Max, four different methods. Opening question: "In the last six weeks, how many times did you copy the same TryParse loop or the same for loop that draws a line?" Today we learn to give a block of code a NAME, to call it as often as we like and to pass data into it. This is the most important step from small exercises to real programs. Week 13 continues with return values, void methods and scope; today return is used but explained only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Outcomes 3 and 4 (the call stack and value vs ref) are typical final-exam questions: the Week 15 practice final contains a method call trace with value and ref parameters. Tell students that from today on every program may use methods, and that from now on the homework is graded also on how well the program is split into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Show this typical student code: the TryParse validation loop of Week 7 is copied for every input. If we want to change the message "Try again", we must change every copy, and we will forget one. The right side shows the Week 12 version: the loop is written ONCE inside a method called ReadInt, and each input is one short line. Also mention Week 11: the matrix programs had long blocks like "print the matrix" that we copied for matrix A, B and C. Today these become PrintMatrix-like methods. Ask: how many lines does the left side need for 10 inputs? About 60. The right side: 10 lines plus the method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40 min. Vocabulary first: method, call, parameter, argument, return value. In C# "function" and "method" are used for the same idea; the official name is method, and a method declared inside another method (or inside the top-level statements) is a local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DRY = "Don't Repeat Yourself". Decomposition: a big problem becomes several small ones that fit in your head, the structure chart on the right is a design you can draw BEFORE coding (like a flowchart, Week 2: the predefined-process symbol is exactly a method call). Testing: a method with clear inputs and one output can be checked with known values (Week 13 does PASS/FAIL tests). Reuse: IsLeapYear written once can be used in every program. Also: names document the code. "if (IsLeapYear(year))" is easier to read than the long boolean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Before methods (Week 6) every line of = signs was its own for loop: five loops for this receipt. Now the loop lives in PrintLine, and each line is a single call with two ARGUMENTS: which symbol and how many. PrintItem has two parameters of different types: a string and a double. Its body is one line, but it hides the format string {name,-18}{amount,9:F2}; if the layout changes, we change it in one place. Point out the order in the file: first the statements that run, then the methods. Execution starts at the first statement, not at the first method. Ask: what would you change to make all lines 40 characters wide? (The arguments 30, and the widths in PrintItem.)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Each call fills the parameters with new values: PrintLine('=', 30) sets symbol = '=' and count = 30; PrintLine('*', 12) sets symbol = '*' and count = 12. The last PrintItem call shows that an argument can be an expression: 60 + 25 + 110 is computed FIRST, and only the result 195 is copied into amount. Both methods are void: they print and give nothing back. Comment line above each method: course rule from this week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Read the header from left to right. static: the local function cannot see the variables of the main program, everything must come in through parameters (we always write static this term). Return type: the type of the value that comes back (int), or void if nothing comes back. Name: PascalCase, usually a verb or a question (PrintLine, ReadInt, IsPrime, Square). Parameter list: type and name of every input, separated by commas; () if there is none. Body: the statements between the braces; return ends the method and sends the value back to the caller. The call: Square(5) is an EXPRESSION with the value 25; it can stand wherever an int can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Our programs use top-level statements (Week 3). Methods written inside them are called LOCAL FUNCTIONS. Course rule: put them at the bottom, after all statements, each with a one-line comment. They do not run by themselves: the program starts at the first statement; a method body runs only when it is called. The order of the methods does not matter. The keyword static on a local function means: it cannot use variables of the main program (error CS8421 "A static local function cannot contain a reference to 'rate'"). This is good: all data goes in through parameters and comes back with return, so the method is easy to understand and to test. The right side shows what the compiler makes of it: a class Program with a Main method. You will see this classic form in books and in Example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Greet is void: it DOES something (prints) and gives nothing back. Square, Cube and CircleArea COMPUTE something and give it back with return; they print nothing. Cube calls Square: methods can call other methods. CircleArea uses Math.PI; Math.Sqrt and Math.Pow are methods too, written by Microsoft: you have been CALLING methods since Week 3 (Console.WriteLine, int.Parse). Naming: the parameter radius and the argument r (next slide) have different names; that is normal. The parameter name is used only inside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 call of a void method is a statement on its own line: Greet("Elif");. A call of a value-returning method is an expression: it can be printed, stored or combined: Square(3) + Square(4) = 9 + 16 = 25. Run it live with 7 and 2.5. Area = π · 2.5² = 19.634…, printed with F2 as 19.63. Common mistake: calling a value-returning method as a statement, e.g. Square(n); alone: it compiles but the result is thrown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Rule of thumb for this course: methods that compute should return the result and NOT print it; the caller decides whether to print, store or use it. Then the same method works in a GUI, a web page or a test. The two compiler errors are real messages from .NET 10: using a void method as a value (CS0029) and forgetting return on a path (CS0161, more in Week 13). Naming conventions: PascalCase; verbs for actions (PrintLine, ReadInt, Swap), nouns for computed values (Square, Average), Is/Has for bool questions (IsPrime, IsLeapYear).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30 min. This part explains the machine model behind a call. Students who can draw the stack frames can answer every value/ref question in Part 3 and in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Go through the six steps with the code of Example 3. Step 1: the arguments are evaluated (here simply 3 and 4; they could be expressions like a + 1). Step 2: a new STACK FRAME is created for Hypotenuse: a small memory area with its own variables x, y, sum, result. The values are COPIED into the parameters. Step 3: execution jumps into the method; the caller waits and remembers where to continue (the return address). Step 4: the body runs; it may call further methods (Square), which repeat steps 1–6. Step 5: return sends the value back; the call expression is replaced by it: double c = 5;. Step 6: the frame is removed and all its variables are gone. The name "stack": like a stack of plates, the last frame put on top is the first one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 Each column is a picture of the call stack at one moment; the newest frame is on top, the active one has an amber header. ① Only main exists: a = 3, b = 4, c has no value yet. ② Hypotenuse is called: a new frame with x = 3 and y = 4, COPIES of a and b (amber). ③ Hypotenuse calls Square(x): a third frame with v = 3. Square computes 9 and returns. Then Square(y) gets a NEW frame with v = 4 (not shown). ④ Hypotenuse returned 5: its frame and the Square frames are gone, only c = 5 remains in main. Ask: how many frames exist at most at the same time? Three (main, Hypotenuse, Square). In VS Code the CALL STACK panel shows exactly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Each method prints a line when it starts and when it returns; the indentation shows the depth of the call stack (2 spaces for Hypotenuse, 4 for Square). Read the console with the snapshots of the previous slide: the two Square calls do not overlap; the first one has already returned before the second starts. Notice that Square has its own variable called result, and Hypotenuse has another one with the same name. They are different boxes in different frames; no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Parameter = the variable in the method header (the empty box). Argument = the value in the call (what goes into the box). Turkish: parametre / argüman (gerçek parametre). Matching is by position: the first argument goes into the first parameter, and so on. Names do not have to match. Number and types must match; an int argument can go into a double parameter (implicit widening, Week 3), but not the other way. The two error messages are real .NET 10 messages. Arguments can be any expressions: Hypotenuse(a + 1, 2 * b) first computes 4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45 min. The central question of every exercise in this part: after the call, has the CALLER's variable changed? Draw the frames, and the answer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① main has score = 70. The call AddBonus(score) copies 70 into the new variable points. ② Inside, points becomes 80 (the program prints it). ③ After the return, the frame of AddBonus is gone and with it the 80; score is still 70. This is the default in C# for int, double, bool, char, decimal …: pass by value. It protects the caller: a method cannot accidentally destroy your variables. ④ If we WANT the new value, the method returns it and the caller stores it: score = WithBonus(score);. Return is the normal way to get a result out of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Run the program and compare with the four snapshots. The line inside AddBonus proves that the method DID compute 80, but only in its own copy. Typical exam question: "What is printed?" Students who think in terms of "the same name = the same variable" get it wrong. Here the names are even different (score / points); in the quiz at the end the names are the same, and the answer is still a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Recall Week 9: an array variable holds a reference (an arrow) to the boxes, int[] b = a; does not copy the boxes. Passing an array works the same way: the parameter a gets a copy of the ARROW, not of the elements. So AddToAll(grades, 5) changes the elements of the one and only array: after the call grades is 60 75 47 93. bonus = 5 is a normal value parameter. This is useful: a method can fill, sort or change an array without returning it (BubbleSort(a) in the homework). It is also dangerous: a method can change your data when you do not expect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ReplaceArray assigns a brand-new array to its parameter a. That only changes the parameter's own arrow; the caller's variable grades still points to the old array. When the method returns, the new array is unreachable (the garbage collector frees it). Summary of the rule: through the copied reference you can change the ELEMENTS (a[i] = …), but you cannot make the caller's variable point somewhere else (a = new …). If a method creates a new array, it should RETURN it: int[] copy = MakeCopy(a); (Week 13: returning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Left: SwapCopies(a, b) swaps the copies x and y; a and b do not change (pass by value again). Right: Swap(ref a, ref b): x and y have NO boxes of their own; they are aliases (other names) of a and b. Every assignment to x writes into a. ref must be written in BOTH places: in the header (ref int x) and in the call (Swap(ref a, ref b)); forgetting it in the call gives CS1620 "Argument 1 must be passed with the 'ref' keyword". A ref argument must be a variable that already has a value (not a literal like 5, not an unassigned variable: CS0165). Use ref rarely: when a method really must change the caller's variables, like Swap. Usually return is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The first three lines of output show the difference between SwapCopies and Swap. Divide gives back TWO results, so a single return is not enough: out parameters. out int q in the call declares the variable right there (C# 7). The method MUST assign every out parameter before it returns (otherwise CS0177 "The out parameter 'q' must be assigned to before control leaves the current method"); the caller does not need to initialise it. And you know an out method since Week 5: int.TryParse(text, out int age) returns bool (did it work?) and gives the number through out. Run twice: with 19 and with "nineteen".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This table is the summary of Part 3; it is also printed in the notes. The key column is the last one: can the CALLER's variable change? For arrays the answer is split: the elements yes, the variable itself (which array it points to) no. In this course: use value parameters and return by default; use arrays as parameters freely; use ref only for swap-like methods; use out when you must return two or more values (Week 13 also shows tuples).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40 min. Mostly examples: we take algorithms from Weeks 1–11 and package them as methods. Show at least Examples 9, 10 and 12 live; 11 and 13 can be homework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A parameter with "= value" in the header is OPTIONAL: if the call leaves it out, the default is used. Optional parameters must come after the required ones. Named arguments (count: 5) say which parameter gets the value; you can skip earlier optional parameters and use any order. Very readable for methods with many numbers: Price(net: 100m, vatRate: 0.10m, discount: 0.10m). Check the numbers: 100 · 1.20 = 120; 100 · 1.01 = 101; 100 · 0.75 · 1.20 = 90; 100 · 0.90 · 1.10 = 99. The VAT rates are examples (Turkey uses 20 %, 10 % and 1 % for different goods). decimal (m suffix) is the right type for money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Several methods may have the same name if their PARAMETER LISTS differ (number or types). The compiler picks the best match from the arguments: Max(3, 8) → int version; Max(2.5, 1.75) → double version; Max(4, 11, 7) → three ints; Max(scores) → array. Max(3, 2.5): there is no (int, double) version; 3 can be widened to double, so Max(double, double) is chosen. The result 3 is a double (printed as 3). The return type alone is NOT enough to overload. Console.WriteLine itself has 18 overloads, that is why it can print int, double, string … Important limitation: LOCAL functions cannot be overloaded (CS0128 "A local variable or function named 'Max' is already defined in this scope"). That is why this example writes the methods in "partial class Program", the class the compiler creates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Every method here is an algorithm from an earlier week, now with a name and parameters. The main program reads like a description: "if IsPrime(k), print k". IsPrime and IsLeapYear return bool: they are questions. IsPrime can return as soon as a divisor is found (return inside the loop ends the method, Week 13 calls this early return). Lcm is built on Gcd: a / Gcd(a, b) * b; dividing first keeps the numbers small. Gcd(84, 36) = 12 is the Week 1 trace. Factorial returns long: 20! = 2 432 902 008 176 640 000 is the largest that fits (Week 6). Ask: in Gcd we change a and b inside the method. Does that change the caller's 84 and 36? No: value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ReadInt keeps asking until TryParse succeeds and returns the number. ReadIntInRange CALLS ReadInt and adds the range check: methods built from methods. In the main program every input is one line, and the error handling is consistent everywhere. You may copy ReadInt and ReadIntInRange into every future program (and the exam allows it as a known helper if you write it). Walk through the run: "abc" is rejected by TryParse, 12 by the range check, 105 and -5 by the 0–100 check. Average(int[]) returns a double: (double)sum / Length, the cast avoids integer division (Week 4): (70 + 85 + 40) / 3 = 65.00.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Weeks 9 and 10 wrote these loops directly in the main program, and for a second group we would have copied all of them. Now Report(title, grades) is called twice with different arrays; each loop exists once. Report is a void method that calls five other methods. Max(grades) - Min(grades) composes two calls in one expression. Check Group A by hand: (72.5 + 45 + 88 + 60 + 95.5 + 38) / 6 = 399 / 6 = 66.50; range 95.5 − 38 = 57.5.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The do-while + switch menu of Week 7, now organised with methods: the main loop only decides WHAT to do; ShowMenu, ReadIntInRange, ReadDouble and Calculate do the work. Calculate uses the switch expression of Week 5 and returns the result. The division-by-zero check stays in the main loop because it decides what to PRINT. Run: 12.5 + 7.5 = 20.00; 10 / 0 → error; 7 is rejected; 2 to the power of 10 = 1024.00; 0 exits. Ask: which method would you change to add "6) remainder"? ShowMenu, the range in ReadIntInRange call (0, 6), and Calculate.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live demo with Example 13 (DigitTools). Click left of the line number to set a breakpoint (red dot) on "int sum = DigitSum(number);" and press F5. The program stops BEFORE that line. F10 (Step Over) runs the whole call at once; F11 (Step Into) enters DigitSum and you can watch n and sum change in the VARIABLES panel at every loop step. Shift+F11 (Step Out) finishes the method and returns to the caller. The CALL STACK panel shows the frames: DigitSum on top, the main program (&lt;Main&gt;$) below; exactly our stack diagrams. Input 2026: 4 digits, digit sum 10, reversed 6202, average digit 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first four are compile errors with real .NET 10 codes: easy to find, the compiler tells you the line. The last three are silent logic bugs: the program runs and prints a wrong value, much worse. Most frequent in exams: calling a value-returning method and ignoring the result (Square(n); Console.WriteLine(n);), and expecting a value parameter to change the caller's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Three minutes alone on paper, then compare with a neighbour. Answers on the next slide. Q1: two variables named x (the main program's and the parameter) — draw two frames. Q2: an array element and an int in the same call, then ref. Q3: in which order do the calls run, and what is printed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Q1: Change gets a copy of 5 in ITS OWN x; x = 500 in that frame only, the main x stays 5. Twice(5) returns 10, which is assigned: 10. Q2: Update changes the element through the copied reference (a[0] = 99) but n = 0 changes only the copy of k: "99 10". Bump(ref k) increments k itself: 11. Q3: the arguments of + are evaluated left to right: F(2) prints "F(2) " and returns 5; F(3) prints "F(3) " and returns 10; then WriteLine prints 15. Output on one line: F(2) F(3)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 in total. E1 and E2 for everybody, E3 and E4 for fast pairs. Solutions (tested) are in the instructor edition of the notes. Check while walking around: methods at the bottom with a one-line comment, static, compute methods do not print. E3: 9/5 must be 9.0/5 or 1.8 (integer division gives 1!). E4: SortThree calls Swap with ref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H1 reuses IsLeapYear from Example 9: methods calling methods. H2 practises a default parameter; the loop must not use Math.Pow. H3 needs the Program class (overloads), like Example 8. H4 is the most important: the bubble sort of Week 10 as a void method that changes the caller's array, which works because arrays pass a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Summarise with the six take-aways. Next week: the return statement in detail (early return, every path must return), bool predicates such as IsValidTCKimlik (the Week 1 algorithm as a method), returning arrays and tuples, recursion, and scope: where a variable is visible and how long it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12</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Functions (Methods): Definition, Calling, Parameter Passing</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Why methods · anatomy · the call stack · pass by value · arrays as parameters · ref and out · default and named arguments · overloading</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Max(3, 8)        = 8</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Max(2.5, 1.75)   = 2.5</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Max(4, 11, 7)    = 11</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Max(scores)      = 93</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Max(3, 2.5)      = 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Explain why</a:t>
            </a:r>
            <a:endParaRPr lang="en-US" sz="1700" dirty="0"/>
          </a:p>
        </p:txBody>
      </p:sp>
      <p:sp>
        <p:nvSpPr>
          <p:cNvPr id="11" name="Text 7"/>
          <p:cNvSpPr txBox="1"/>
          <p:nvPr/>
        </p:nvSpPr>
        <p:spPr>
          <a:xfrm>
            <a:off x="777240"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Methods avoid copy-paste (DRY), split big problems, make testing and reuse easy.</a:t>
            </a:r>
            <a:endParaRPr lang="en-US" sz="1500" dirty="0"/>
          </a:p>
        </p:txBody>
      </p:sp>
      <p:sp>
        <p:nvSpPr>
          <p:cNvPr id="12" name="Shape 8"/>
          <p:cNvSpPr/>
          <p:nvPr/>
        </p:nvSpPr>
        <p:spPr>
          <a:xfrm>
            <a:off x="4315968" y="1645920"/>
            <a:ext cx="356616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4544568"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91969" y="2021921"/>
            <a:ext cx="272125" cy="272125"/>
          </a:xfrm>
          <a:prstGeom prst="rect">
            <a:avLst/>
          </a:prstGeom>
        </p:spPr>
      </p:pic>
      <p:sp>
        <p:nvSpPr>
          <p:cNvPr id="15" name="Text 10"/>
          <p:cNvSpPr txBox="1"/>
          <p:nvPr/>
        </p:nvSpPr>
        <p:spPr>
          <a:xfrm>
            <a:off x="5230368"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Define a method</a:t>
            </a:r>
            <a:endParaRPr lang="en-US" sz="1700" dirty="0"/>
          </a:p>
        </p:txBody>
      </p:sp>
      <p:sp>
        <p:nvSpPr>
          <p:cNvPr id="16" name="Text 11"/>
          <p:cNvSpPr txBox="1"/>
          <p:nvPr/>
        </p:nvSpPr>
        <p:spPr>
          <a:xfrm>
            <a:off x="4544568"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Return type, name, parameter list, body, return. Local functions at the bottom of Program.cs.</a:t>
            </a:r>
            <a:endParaRPr lang="en-US" sz="1500" dirty="0"/>
          </a:p>
        </p:txBody>
      </p:sp>
      <p:sp>
        <p:nvSpPr>
          <p:cNvPr id="17" name="Shape 12"/>
          <p:cNvSpPr/>
          <p:nvPr/>
        </p:nvSpPr>
        <p:spPr>
          <a:xfrm>
            <a:off x="8083296" y="1645920"/>
            <a:ext cx="356616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8311896" y="1874520"/>
            <a:ext cx="566928" cy="566928"/>
          </a:xfrm>
          <a:prstGeom prst="ellipse">
            <a:avLst/>
          </a:prstGeom>
          <a:solidFill>
            <a:srgbClr val="2F6FB3"/>
          </a:solidFill>
          <a:ln w="12700">
            <a:solidFill>
              <a:srgbClr val="2F6FB3"/>
            </a:solidFill>
            <a:prstDash val="solid"/>
          </a:ln>
        </p:spPr>
      </p:sp>
      <p:pic>
        <p:nvPicPr>
          <p:cNvPr id="19" name="Image 2" descr="preencoded.png">    </p:cNvPr>
          <p:cNvPicPr>
            <a:picLocks noChangeAspect="1"/>
          </p:cNvPicPr>
          <p:nvPr/>
        </p:nvPicPr>
        <p:blipFill>
          <a:blip r:embed="rId3"/>
          <a:stretch>
            <a:fillRect/>
          </a:stretch>
        </p:blipFill>
        <p:spPr>
          <a:xfrm>
            <a:off x="8459297" y="2021921"/>
            <a:ext cx="272125" cy="272125"/>
          </a:xfrm>
          <a:prstGeom prst="rect">
            <a:avLst/>
          </a:prstGeom>
        </p:spPr>
      </p:pic>
      <p:sp>
        <p:nvSpPr>
          <p:cNvPr id="20" name="Text 14"/>
          <p:cNvSpPr txBox="1"/>
          <p:nvPr/>
        </p:nvSpPr>
        <p:spPr>
          <a:xfrm>
            <a:off x="8997696"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Trace a call</a:t>
            </a:r>
            <a:endParaRPr lang="en-US" sz="1700" dirty="0"/>
          </a:p>
        </p:txBody>
      </p:sp>
      <p:sp>
        <p:nvSpPr>
          <p:cNvPr id="21" name="Text 15"/>
          <p:cNvSpPr txBox="1"/>
          <p:nvPr/>
        </p:nvSpPr>
        <p:spPr>
          <a:xfrm>
            <a:off x="8311896"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Arguments are copied into parameters; a new frame goes on the call stack; it is removed on return.</a:t>
            </a:r>
            <a:endParaRPr lang="en-US" sz="1500" dirty="0"/>
          </a:p>
        </p:txBody>
      </p:sp>
      <p:sp>
        <p:nvSpPr>
          <p:cNvPr id="22" name="Shape 16"/>
          <p:cNvSpPr/>
          <p:nvPr/>
        </p:nvSpPr>
        <p:spPr>
          <a:xfrm>
            <a:off x="548640" y="3886200"/>
            <a:ext cx="356616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2F6FB3"/>
          </a:solidFill>
          <a:ln w="12700">
            <a:solidFill>
              <a:srgbClr val="2F6FB3"/>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Pass parameters</a:t>
            </a:r>
            <a:endParaRPr lang="en-US" sz="1700" dirty="0"/>
          </a:p>
        </p:txBody>
      </p:sp>
      <p:sp>
        <p:nvSpPr>
          <p:cNvPr id="26" name="Text 19"/>
          <p:cNvSpPr txBox="1"/>
          <p:nvPr/>
        </p:nvSpPr>
        <p:spPr>
          <a:xfrm>
            <a:off x="777240"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By value (copy), arrays (reference copied), ref (alias), out (result).</a:t>
            </a:r>
            <a:endParaRPr lang="en-US" sz="1500" dirty="0"/>
          </a:p>
        </p:txBody>
      </p:sp>
      <p:sp>
        <p:nvSpPr>
          <p:cNvPr id="27" name="Shape 20"/>
          <p:cNvSpPr/>
          <p:nvPr/>
        </p:nvSpPr>
        <p:spPr>
          <a:xfrm>
            <a:off x="4315968" y="3886200"/>
            <a:ext cx="3566160"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4544568"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91969" y="4262201"/>
            <a:ext cx="272125" cy="272125"/>
          </a:xfrm>
          <a:prstGeom prst="rect">
            <a:avLst/>
          </a:prstGeom>
        </p:spPr>
      </p:pic>
      <p:sp>
        <p:nvSpPr>
          <p:cNvPr id="30" name="Text 22"/>
          <p:cNvSpPr txBox="1"/>
          <p:nvPr/>
        </p:nvSpPr>
        <p:spPr>
          <a:xfrm>
            <a:off x="5230368"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Write flexible methods</a:t>
            </a:r>
            <a:endParaRPr lang="en-US" sz="1700" dirty="0"/>
          </a:p>
        </p:txBody>
      </p:sp>
      <p:sp>
        <p:nvSpPr>
          <p:cNvPr id="31" name="Text 23"/>
          <p:cNvSpPr txBox="1"/>
          <p:nvPr/>
        </p:nvSpPr>
        <p:spPr>
          <a:xfrm>
            <a:off x="4544568"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Default values, named arguments and overloading (same name, different parameters).</a:t>
            </a:r>
            <a:endParaRPr lang="en-US" sz="1500" dirty="0"/>
          </a:p>
        </p:txBody>
      </p:sp>
      <p:sp>
        <p:nvSpPr>
          <p:cNvPr id="32" name="Shape 24"/>
          <p:cNvSpPr/>
          <p:nvPr/>
        </p:nvSpPr>
        <p:spPr>
          <a:xfrm>
            <a:off x="8083296" y="3886200"/>
            <a:ext cx="3566160"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8311896"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59297" y="4262201"/>
            <a:ext cx="272125" cy="272125"/>
          </a:xfrm>
          <a:prstGeom prst="rect">
            <a:avLst/>
          </a:prstGeom>
        </p:spPr>
      </p:pic>
      <p:sp>
        <p:nvSpPr>
          <p:cNvPr id="35" name="Text 26"/>
          <p:cNvSpPr txBox="1"/>
          <p:nvPr/>
        </p:nvSpPr>
        <p:spPr>
          <a:xfrm>
            <a:off x="8997696"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Refactor and debug</a:t>
            </a:r>
            <a:endParaRPr lang="en-US" sz="1700" dirty="0"/>
          </a:p>
        </p:txBody>
      </p:sp>
      <p:sp>
        <p:nvSpPr>
          <p:cNvPr id="36" name="Text 27"/>
          <p:cNvSpPr txBox="1"/>
          <p:nvPr/>
        </p:nvSpPr>
        <p:spPr>
          <a:xfrm>
            <a:off x="8311896"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Turn earlier programs into methods; step into calls with F11 in VS Code.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WEEKS 5–11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 have written the same code again and again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5257800" cy="3291840"/>
          </a:xfrm>
          <a:prstGeom prst="roundRect">
            <a:avLst>
              <a:gd name="adj" fmla="val 2778"/>
            </a:avLst>
          </a:prstGeom>
          <a:solidFill>
            <a:srgbClr val="0F1729"/>
          </a:solidFill>
          <a:ln w="12700">
            <a:solidFill>
              <a:srgbClr val="0F1729"/>
            </a:solidFill>
            <a:prstDash val="solid"/>
          </a:ln>
        </p:spPr>
      </p:sp>
      <p:sp>
        <p:nvSpPr>
          <p:cNvPr id="8" name="Text 5"/>
          <p:cNvSpPr txBox="1"/>
          <p:nvPr/>
        </p:nvSpPr>
        <p:spPr>
          <a:xfrm>
            <a:off x="777240" y="1755648"/>
            <a:ext cx="4800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Until now: the same loop, copied for every input</a:t>
            </a:r>
            <a:endParaRPr lang="en-US" sz="1100" dirty="0"/>
          </a:p>
        </p:txBody>
      </p:sp>
      <p:sp>
        <p:nvSpPr>
          <p:cNvPr id="9" name="Text 6"/>
          <p:cNvSpPr txBox="1"/>
          <p:nvPr/>
        </p:nvSpPr>
        <p:spPr>
          <a:xfrm>
            <a:off x="777240" y="2057400"/>
            <a:ext cx="4800600" cy="2770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"Age: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age;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age))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"Try again: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"Year: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year;</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year))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"Try again: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5074920"/>
            <a:ext cx="5257800" cy="1005840"/>
          </a:xfrm>
          <a:prstGeom prst="roundRect">
            <a:avLst>
              <a:gd name="adj" fmla="val 10909"/>
            </a:avLst>
          </a:prstGeom>
          <a:solidFill>
            <a:srgbClr val="FBE9E7"/>
          </a:solidFill>
          <a:ln w="12700">
            <a:solidFill>
              <a:srgbClr val="FBE9E7"/>
            </a:solidFill>
            <a:prstDash val="solid"/>
          </a:ln>
        </p:spPr>
      </p:sp>
      <p:sp>
        <p:nvSpPr>
          <p:cNvPr id="11" name="Text 8"/>
          <p:cNvSpPr txBox="1"/>
          <p:nvPr/>
        </p:nvSpPr>
        <p:spPr>
          <a:xfrm>
            <a:off x="777240" y="5120640"/>
            <a:ext cx="4800600" cy="914400"/>
          </a:xfrm>
          <a:prstGeom prst="rect">
            <a:avLst/>
          </a:prstGeom>
          <a:noFill/>
          <a:ln/>
        </p:spPr>
        <p:txBody>
          <a:bodyPr wrap="square" lIns="0" tIns="0" rIns="0" bIns="0" rtlCol="0" anchor="ctr"/>
          <a:lstStyle/>
          <a:p>
            <a:pPr indent="0" marL="0">
              <a:buNone/>
            </a:pPr>
            <a:r>
              <a:rPr lang="en-US" sz="1500" b="1" dirty="0">
                <a:solidFill>
                  <a:srgbClr val="C8453B"/>
                </a:solidFill>
                <a:latin typeface="Calibri" pitchFamily="34" charset="0"/>
                <a:ea typeface="Calibri" pitchFamily="34" charset="-122"/>
                <a:cs typeface="Calibri" pitchFamily="34" charset="-120"/>
              </a:rPr>
              <a:t>Copy-paste = copied bugs. </a:t>
            </a:r>
            <a:pPr indent="0" marL="0">
              <a:buNone/>
            </a:pPr>
            <a:r>
              <a:rPr lang="en-US" sz="1500" dirty="0">
                <a:solidFill>
                  <a:srgbClr val="333B4F"/>
                </a:solidFill>
                <a:latin typeface="Calibri" pitchFamily="34" charset="0"/>
                <a:ea typeface="Calibri" pitchFamily="34" charset="-122"/>
                <a:cs typeface="Calibri" pitchFamily="34" charset="-120"/>
              </a:rPr>
              <a:t>Fix one copy, forget the other.</a:t>
            </a:r>
            <a:endParaRPr lang="en-US" sz="1500" dirty="0"/>
          </a:p>
        </p:txBody>
      </p:sp>
      <p:sp>
        <p:nvSpPr>
          <p:cNvPr id="12" name="Shape 9"/>
          <p:cNvSpPr/>
          <p:nvPr/>
        </p:nvSpPr>
        <p:spPr>
          <a:xfrm>
            <a:off x="5989320" y="1645920"/>
            <a:ext cx="5669280" cy="1051560"/>
          </a:xfrm>
          <a:prstGeom prst="roundRect">
            <a:avLst>
              <a:gd name="adj" fmla="val 8696"/>
            </a:avLst>
          </a:prstGeom>
          <a:solidFill>
            <a:srgbClr val="0F1729"/>
          </a:solidFill>
          <a:ln w="12700">
            <a:solidFill>
              <a:srgbClr val="0F1729"/>
            </a:solidFill>
            <a:prstDash val="solid"/>
          </a:ln>
        </p:spPr>
      </p:sp>
      <p:sp>
        <p:nvSpPr>
          <p:cNvPr id="13" name="Text 10"/>
          <p:cNvSpPr txBox="1"/>
          <p:nvPr/>
        </p:nvSpPr>
        <p:spPr>
          <a:xfrm>
            <a:off x="6217920" y="1755648"/>
            <a:ext cx="5212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Week 12: call a method</a:t>
            </a:r>
            <a:endParaRPr lang="en-US" sz="1100" dirty="0"/>
          </a:p>
        </p:txBody>
      </p:sp>
      <p:sp>
        <p:nvSpPr>
          <p:cNvPr id="14" name="Text 11"/>
          <p:cNvSpPr txBox="1"/>
          <p:nvPr/>
        </p:nvSpPr>
        <p:spPr>
          <a:xfrm>
            <a:off x="6217920" y="2057400"/>
            <a:ext cx="5212080" cy="53035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age = ReadInt(</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"Age: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year = ReadInt(</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"Year: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5" name="Shape 12"/>
          <p:cNvSpPr/>
          <p:nvPr/>
        </p:nvSpPr>
        <p:spPr>
          <a:xfrm>
            <a:off x="5989320" y="2834640"/>
            <a:ext cx="5669280" cy="2697480"/>
          </a:xfrm>
          <a:prstGeom prst="roundRect">
            <a:avLst>
              <a:gd name="adj" fmla="val 3390"/>
            </a:avLst>
          </a:prstGeom>
          <a:solidFill>
            <a:srgbClr val="0F1729"/>
          </a:solidFill>
          <a:ln w="12700">
            <a:solidFill>
              <a:srgbClr val="0F1729"/>
            </a:solidFill>
            <a:prstDash val="solid"/>
          </a:ln>
        </p:spPr>
      </p:sp>
      <p:sp>
        <p:nvSpPr>
          <p:cNvPr id="16" name="Text 13"/>
          <p:cNvSpPr txBox="1"/>
          <p:nvPr/>
        </p:nvSpPr>
        <p:spPr>
          <a:xfrm>
            <a:off x="6217920" y="2944368"/>
            <a:ext cx="5212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written ONCE (Example 10)</a:t>
            </a:r>
            <a:endParaRPr lang="en-US" sz="1100" dirty="0"/>
          </a:p>
        </p:txBody>
      </p:sp>
      <p:sp>
        <p:nvSpPr>
          <p:cNvPr id="17" name="Text 14"/>
          <p:cNvSpPr txBox="1"/>
          <p:nvPr/>
        </p:nvSpPr>
        <p:spPr>
          <a:xfrm>
            <a:off x="6217920" y="3246120"/>
            <a:ext cx="5212080" cy="21762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ReadInt(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prompt)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.Write(prompt);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Whole number, please: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8" name="Shape 15"/>
          <p:cNvSpPr/>
          <p:nvPr/>
        </p:nvSpPr>
        <p:spPr>
          <a:xfrm>
            <a:off x="5989320" y="5623560"/>
            <a:ext cx="5669280" cy="457200"/>
          </a:xfrm>
          <a:prstGeom prst="roundRect">
            <a:avLst>
              <a:gd name="adj" fmla="val 24000"/>
            </a:avLst>
          </a:prstGeom>
          <a:solidFill>
            <a:srgbClr val="FFF6E3"/>
          </a:solidFill>
          <a:ln w="12700">
            <a:solidFill>
              <a:srgbClr val="FFF6E3"/>
            </a:solidFill>
            <a:prstDash val="solid"/>
          </a:ln>
        </p:spPr>
      </p:sp>
      <p:pic>
        <p:nvPicPr>
          <p:cNvPr id="19" name="Image 0" descr="preencoded.png">    </p:cNvPr>
          <p:cNvPicPr>
            <a:picLocks noChangeAspect="1"/>
          </p:cNvPicPr>
          <p:nvPr/>
        </p:nvPicPr>
        <p:blipFill>
          <a:blip r:embed="rId1"/>
          <a:stretch>
            <a:fillRect/>
          </a:stretch>
        </p:blipFill>
        <p:spPr>
          <a:xfrm>
            <a:off x="6263640" y="5760720"/>
            <a:ext cx="182880" cy="182880"/>
          </a:xfrm>
          <a:prstGeom prst="rect">
            <a:avLst/>
          </a:prstGeom>
        </p:spPr>
      </p:pic>
      <p:sp>
        <p:nvSpPr>
          <p:cNvPr id="20" name="Text 16"/>
          <p:cNvSpPr txBox="1"/>
          <p:nvPr/>
        </p:nvSpPr>
        <p:spPr>
          <a:xfrm>
            <a:off x="6720840" y="5696712"/>
            <a:ext cx="4663440" cy="31089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A method = a named, reusable block of code.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Defining and calling methods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Why methods · anatomy of a method · local functions in Program.cs · void and value-returning</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12</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WHY 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Four reasons professionals split programs into methods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45920"/>
            <a:ext cx="26974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16002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DRY</a:t>
            </a:r>
            <a:endParaRPr lang="en-US" sz="1700" dirty="0"/>
          </a:p>
        </p:txBody>
      </p:sp>
      <p:sp>
        <p:nvSpPr>
          <p:cNvPr id="11" name="Text 7"/>
          <p:cNvSpPr txBox="1"/>
          <p:nvPr/>
        </p:nvSpPr>
        <p:spPr>
          <a:xfrm>
            <a:off x="777240" y="2560320"/>
            <a:ext cx="22402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Write once, call many times; fix a bug in ONE place.</a:t>
            </a:r>
            <a:endParaRPr lang="en-US" sz="1400" dirty="0"/>
          </a:p>
        </p:txBody>
      </p:sp>
      <p:sp>
        <p:nvSpPr>
          <p:cNvPr id="12" name="Shape 8"/>
          <p:cNvSpPr/>
          <p:nvPr/>
        </p:nvSpPr>
        <p:spPr>
          <a:xfrm>
            <a:off x="3383280" y="1645920"/>
            <a:ext cx="269748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3611880" y="1874520"/>
            <a:ext cx="566928" cy="566928"/>
          </a:xfrm>
          <a:prstGeom prst="ellipse">
            <a:avLst/>
          </a:prstGeom>
          <a:solidFill>
            <a:srgbClr val="2F6FB3"/>
          </a:solidFill>
          <a:ln w="12700">
            <a:solidFill>
              <a:srgbClr val="2F6FB3"/>
            </a:solidFill>
            <a:prstDash val="solid"/>
          </a:ln>
        </p:spPr>
      </p:sp>
      <p:pic>
        <p:nvPicPr>
          <p:cNvPr id="14" name="Image 1" descr="preencoded.png">    </p:cNvPr>
          <p:cNvPicPr>
            <a:picLocks noChangeAspect="1"/>
          </p:cNvPicPr>
          <p:nvPr/>
        </p:nvPicPr>
        <p:blipFill>
          <a:blip r:embed="rId2"/>
          <a:stretch>
            <a:fillRect/>
          </a:stretch>
        </p:blipFill>
        <p:spPr>
          <a:xfrm>
            <a:off x="3759281" y="2021921"/>
            <a:ext cx="272125" cy="272125"/>
          </a:xfrm>
          <a:prstGeom prst="rect">
            <a:avLst/>
          </a:prstGeom>
        </p:spPr>
      </p:pic>
      <p:sp>
        <p:nvSpPr>
          <p:cNvPr id="15" name="Text 10"/>
          <p:cNvSpPr txBox="1"/>
          <p:nvPr/>
        </p:nvSpPr>
        <p:spPr>
          <a:xfrm>
            <a:off x="4297680" y="1874520"/>
            <a:ext cx="16002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Decomposition</a:t>
            </a:r>
            <a:endParaRPr lang="en-US" sz="1700" dirty="0"/>
          </a:p>
        </p:txBody>
      </p:sp>
      <p:sp>
        <p:nvSpPr>
          <p:cNvPr id="16" name="Text 11"/>
          <p:cNvSpPr txBox="1"/>
          <p:nvPr/>
        </p:nvSpPr>
        <p:spPr>
          <a:xfrm>
            <a:off x="3611880" y="2560320"/>
            <a:ext cx="22402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Split a big problem into small named steps.</a:t>
            </a:r>
            <a:endParaRPr lang="en-US" sz="1400" dirty="0"/>
          </a:p>
        </p:txBody>
      </p:sp>
      <p:sp>
        <p:nvSpPr>
          <p:cNvPr id="17" name="Shape 12"/>
          <p:cNvSpPr/>
          <p:nvPr/>
        </p:nvSpPr>
        <p:spPr>
          <a:xfrm>
            <a:off x="548640" y="3886200"/>
            <a:ext cx="269748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777240" y="4114800"/>
            <a:ext cx="566928" cy="566928"/>
          </a:xfrm>
          <a:prstGeom prst="ellipse">
            <a:avLst/>
          </a:prstGeom>
          <a:solidFill>
            <a:srgbClr val="2E9E6A"/>
          </a:solidFill>
          <a:ln w="12700">
            <a:solidFill>
              <a:srgbClr val="2E9E6A"/>
            </a:solidFill>
            <a:prstDash val="solid"/>
          </a:ln>
        </p:spPr>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16002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Testing</a:t>
            </a:r>
            <a:endParaRPr lang="en-US" sz="1700" dirty="0"/>
          </a:p>
        </p:txBody>
      </p:sp>
      <p:sp>
        <p:nvSpPr>
          <p:cNvPr id="21" name="Text 15"/>
          <p:cNvSpPr txBox="1"/>
          <p:nvPr/>
        </p:nvSpPr>
        <p:spPr>
          <a:xfrm>
            <a:off x="777240" y="4800600"/>
            <a:ext cx="22402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Check one small method with known inputs.</a:t>
            </a:r>
            <a:endParaRPr lang="en-US" sz="1400" dirty="0"/>
          </a:p>
        </p:txBody>
      </p:sp>
      <p:sp>
        <p:nvSpPr>
          <p:cNvPr id="22" name="Shape 16"/>
          <p:cNvSpPr/>
          <p:nvPr/>
        </p:nvSpPr>
        <p:spPr>
          <a:xfrm>
            <a:off x="3383280" y="3886200"/>
            <a:ext cx="269748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3611880" y="4114800"/>
            <a:ext cx="566928" cy="566928"/>
          </a:xfrm>
          <a:prstGeom prst="ellipse">
            <a:avLst/>
          </a:prstGeom>
          <a:solidFill>
            <a:srgbClr val="B7791F"/>
          </a:solidFill>
          <a:ln w="12700">
            <a:solidFill>
              <a:srgbClr val="B7791F"/>
            </a:solidFill>
            <a:prstDash val="solid"/>
          </a:ln>
        </p:spPr>
      </p:sp>
      <p:pic>
        <p:nvPicPr>
          <p:cNvPr id="24" name="Image 3" descr="preencoded.png">    </p:cNvPr>
          <p:cNvPicPr>
            <a:picLocks noChangeAspect="1"/>
          </p:cNvPicPr>
          <p:nvPr/>
        </p:nvPicPr>
        <p:blipFill>
          <a:blip r:embed="rId4"/>
          <a:stretch>
            <a:fillRect/>
          </a:stretch>
        </p:blipFill>
        <p:spPr>
          <a:xfrm>
            <a:off x="3759281" y="4262201"/>
            <a:ext cx="272125" cy="272125"/>
          </a:xfrm>
          <a:prstGeom prst="rect">
            <a:avLst/>
          </a:prstGeom>
        </p:spPr>
      </p:pic>
      <p:sp>
        <p:nvSpPr>
          <p:cNvPr id="25" name="Text 18"/>
          <p:cNvSpPr txBox="1"/>
          <p:nvPr/>
        </p:nvSpPr>
        <p:spPr>
          <a:xfrm>
            <a:off x="4297680" y="4114800"/>
            <a:ext cx="16002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Reuse</a:t>
            </a:r>
            <a:endParaRPr lang="en-US" sz="1700" dirty="0"/>
          </a:p>
        </p:txBody>
      </p:sp>
      <p:sp>
        <p:nvSpPr>
          <p:cNvPr id="26" name="Text 19"/>
          <p:cNvSpPr txBox="1"/>
          <p:nvPr/>
        </p:nvSpPr>
        <p:spPr>
          <a:xfrm>
            <a:off x="3611880" y="4800600"/>
            <a:ext cx="22402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Use the same method in many programs.</a:t>
            </a:r>
            <a:endParaRPr lang="en-US" sz="1400" dirty="0"/>
          </a:p>
        </p:txBody>
      </p:sp>
      <p:sp>
        <p:nvSpPr>
          <p:cNvPr id="27" name="Text 20"/>
          <p:cNvSpPr txBox="1"/>
          <p:nvPr/>
        </p:nvSpPr>
        <p:spPr>
          <a:xfrm>
            <a:off x="6446520" y="1645920"/>
            <a:ext cx="5212080" cy="36576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Structure chart: Example 11 (grade report)</a:t>
            </a:r>
            <a:endParaRPr lang="en-US" sz="1500" dirty="0"/>
          </a:p>
        </p:txBody>
      </p:sp>
      <p:sp>
        <p:nvSpPr>
          <p:cNvPr id="28" name="Shape 21"/>
          <p:cNvSpPr/>
          <p:nvPr/>
        </p:nvSpPr>
        <p:spPr>
          <a:xfrm>
            <a:off x="6492240" y="2903220"/>
            <a:ext cx="2103120" cy="685800"/>
          </a:xfrm>
          <a:prstGeom prst="flowChartPredefinedProcess">
            <a:avLst/>
          </a:prstGeom>
          <a:solidFill>
            <a:srgbClr val="FFFFFF"/>
          </a:solidFill>
          <a:ln w="15875">
            <a:solidFill>
              <a:srgbClr val="14213D"/>
            </a:solidFill>
            <a:prstDash val="solid"/>
          </a:ln>
        </p:spPr>
      </p:sp>
      <p:sp>
        <p:nvSpPr>
          <p:cNvPr id="29" name="Text 22"/>
          <p:cNvSpPr txBox="1"/>
          <p:nvPr/>
        </p:nvSpPr>
        <p:spPr>
          <a:xfrm>
            <a:off x="6537960" y="2903220"/>
            <a:ext cx="2011680" cy="685800"/>
          </a:xfrm>
          <a:prstGeom prst="rect">
            <a:avLst/>
          </a:prstGeom>
          <a:noFill/>
          <a:ln/>
        </p:spPr>
        <p:txBody>
          <a:bodyPr wrap="square" lIns="0" tIns="0" rIns="0" bIns="0" rtlCol="0" anchor="ctr"/>
          <a:lstStyle/>
          <a:p>
            <a:pPr algn="ctr" indent="0" marL="0">
              <a:buNone/>
            </a:pPr>
            <a:r>
              <a:rPr lang="en-US" sz="1500" dirty="0">
                <a:solidFill>
                  <a:srgbClr val="14213D"/>
                </a:solidFill>
                <a:latin typeface="Calibri" pitchFamily="34" charset="0"/>
                <a:ea typeface="Calibri" pitchFamily="34" charset="-122"/>
                <a:cs typeface="Calibri" pitchFamily="34" charset="-120"/>
              </a:rPr>
              <a:t>Report</a:t>
            </a:r>
            <a:endParaRPr lang="en-US" sz="1500" dirty="0"/>
          </a:p>
        </p:txBody>
      </p:sp>
      <p:sp>
        <p:nvSpPr>
          <p:cNvPr id="30" name="Shape 23"/>
          <p:cNvSpPr/>
          <p:nvPr/>
        </p:nvSpPr>
        <p:spPr>
          <a:xfrm>
            <a:off x="9418320" y="2020824"/>
            <a:ext cx="2103120" cy="438912"/>
          </a:xfrm>
          <a:prstGeom prst="flowChartPredefinedProcess">
            <a:avLst/>
          </a:prstGeom>
          <a:solidFill>
            <a:srgbClr val="FFFFFF"/>
          </a:solidFill>
          <a:ln w="15875">
            <a:solidFill>
              <a:srgbClr val="14213D"/>
            </a:solidFill>
            <a:prstDash val="solid"/>
          </a:ln>
        </p:spPr>
      </p:sp>
      <p:sp>
        <p:nvSpPr>
          <p:cNvPr id="31" name="Text 24"/>
          <p:cNvSpPr txBox="1"/>
          <p:nvPr/>
        </p:nvSpPr>
        <p:spPr>
          <a:xfrm>
            <a:off x="9464040" y="2020824"/>
            <a:ext cx="201168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PrintArray</a:t>
            </a:r>
            <a:endParaRPr lang="en-US" sz="1300" dirty="0"/>
          </a:p>
        </p:txBody>
      </p:sp>
      <p:sp>
        <p:nvSpPr>
          <p:cNvPr id="32" name="Shape 25"/>
          <p:cNvSpPr/>
          <p:nvPr/>
        </p:nvSpPr>
        <p:spPr>
          <a:xfrm>
            <a:off x="8595360" y="3246120"/>
            <a:ext cx="411480" cy="0"/>
          </a:xfrm>
          <a:prstGeom prst="line">
            <a:avLst/>
          </a:prstGeom>
          <a:noFill/>
          <a:ln w="15875">
            <a:solidFill>
              <a:srgbClr val="14213D"/>
            </a:solidFill>
            <a:prstDash val="solid"/>
          </a:ln>
        </p:spPr>
      </p:sp>
      <p:sp>
        <p:nvSpPr>
          <p:cNvPr id="33" name="Shape 26"/>
          <p:cNvSpPr/>
          <p:nvPr/>
        </p:nvSpPr>
        <p:spPr>
          <a:xfrm flipV="1">
            <a:off x="9006840" y="2240280"/>
            <a:ext cx="0" cy="1005840"/>
          </a:xfrm>
          <a:prstGeom prst="line">
            <a:avLst/>
          </a:prstGeom>
          <a:noFill/>
          <a:ln w="15875">
            <a:solidFill>
              <a:srgbClr val="14213D"/>
            </a:solidFill>
            <a:prstDash val="solid"/>
          </a:ln>
        </p:spPr>
      </p:sp>
      <p:sp>
        <p:nvSpPr>
          <p:cNvPr id="34" name="Shape 27"/>
          <p:cNvSpPr/>
          <p:nvPr/>
        </p:nvSpPr>
        <p:spPr>
          <a:xfrm>
            <a:off x="9006840" y="2240280"/>
            <a:ext cx="411480" cy="0"/>
          </a:xfrm>
          <a:prstGeom prst="line">
            <a:avLst/>
          </a:prstGeom>
          <a:noFill/>
          <a:ln w="15875">
            <a:solidFill>
              <a:srgbClr val="14213D"/>
            </a:solidFill>
            <a:prstDash val="solid"/>
            <a:tailEnd type="triangle"/>
          </a:ln>
        </p:spPr>
      </p:sp>
      <p:sp>
        <p:nvSpPr>
          <p:cNvPr id="35" name="Shape 28"/>
          <p:cNvSpPr/>
          <p:nvPr/>
        </p:nvSpPr>
        <p:spPr>
          <a:xfrm>
            <a:off x="9418320" y="2569464"/>
            <a:ext cx="2103120" cy="438912"/>
          </a:xfrm>
          <a:prstGeom prst="flowChartPredefinedProcess">
            <a:avLst/>
          </a:prstGeom>
          <a:solidFill>
            <a:srgbClr val="FFFFFF"/>
          </a:solidFill>
          <a:ln w="15875">
            <a:solidFill>
              <a:srgbClr val="14213D"/>
            </a:solidFill>
            <a:prstDash val="solid"/>
          </a:ln>
        </p:spPr>
      </p:sp>
      <p:sp>
        <p:nvSpPr>
          <p:cNvPr id="36" name="Text 29"/>
          <p:cNvSpPr txBox="1"/>
          <p:nvPr/>
        </p:nvSpPr>
        <p:spPr>
          <a:xfrm>
            <a:off x="9464040" y="2569464"/>
            <a:ext cx="201168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Average</a:t>
            </a:r>
            <a:endParaRPr lang="en-US" sz="1300" dirty="0"/>
          </a:p>
        </p:txBody>
      </p:sp>
      <p:sp>
        <p:nvSpPr>
          <p:cNvPr id="37" name="Shape 30"/>
          <p:cNvSpPr/>
          <p:nvPr/>
        </p:nvSpPr>
        <p:spPr>
          <a:xfrm>
            <a:off x="8595360" y="3246120"/>
            <a:ext cx="411480" cy="0"/>
          </a:xfrm>
          <a:prstGeom prst="line">
            <a:avLst/>
          </a:prstGeom>
          <a:noFill/>
          <a:ln w="15875">
            <a:solidFill>
              <a:srgbClr val="14213D"/>
            </a:solidFill>
            <a:prstDash val="solid"/>
          </a:ln>
        </p:spPr>
      </p:sp>
      <p:sp>
        <p:nvSpPr>
          <p:cNvPr id="38" name="Shape 31"/>
          <p:cNvSpPr/>
          <p:nvPr/>
        </p:nvSpPr>
        <p:spPr>
          <a:xfrm flipV="1">
            <a:off x="9006840" y="2788920"/>
            <a:ext cx="0" cy="457200"/>
          </a:xfrm>
          <a:prstGeom prst="line">
            <a:avLst/>
          </a:prstGeom>
          <a:noFill/>
          <a:ln w="15875">
            <a:solidFill>
              <a:srgbClr val="14213D"/>
            </a:solidFill>
            <a:prstDash val="solid"/>
          </a:ln>
        </p:spPr>
      </p:sp>
      <p:sp>
        <p:nvSpPr>
          <p:cNvPr id="39" name="Shape 32"/>
          <p:cNvSpPr/>
          <p:nvPr/>
        </p:nvSpPr>
        <p:spPr>
          <a:xfrm>
            <a:off x="9006840" y="2788920"/>
            <a:ext cx="411480" cy="0"/>
          </a:xfrm>
          <a:prstGeom prst="line">
            <a:avLst/>
          </a:prstGeom>
          <a:noFill/>
          <a:ln w="15875">
            <a:solidFill>
              <a:srgbClr val="14213D"/>
            </a:solidFill>
            <a:prstDash val="solid"/>
            <a:tailEnd type="triangle"/>
          </a:ln>
        </p:spPr>
      </p:sp>
      <p:sp>
        <p:nvSpPr>
          <p:cNvPr id="40" name="Shape 33"/>
          <p:cNvSpPr/>
          <p:nvPr/>
        </p:nvSpPr>
        <p:spPr>
          <a:xfrm>
            <a:off x="9418320" y="3118104"/>
            <a:ext cx="2103120" cy="438912"/>
          </a:xfrm>
          <a:prstGeom prst="flowChartPredefinedProcess">
            <a:avLst/>
          </a:prstGeom>
          <a:solidFill>
            <a:srgbClr val="FFFFFF"/>
          </a:solidFill>
          <a:ln w="15875">
            <a:solidFill>
              <a:srgbClr val="14213D"/>
            </a:solidFill>
            <a:prstDash val="solid"/>
          </a:ln>
        </p:spPr>
      </p:sp>
      <p:sp>
        <p:nvSpPr>
          <p:cNvPr id="41" name="Text 34"/>
          <p:cNvSpPr txBox="1"/>
          <p:nvPr/>
        </p:nvSpPr>
        <p:spPr>
          <a:xfrm>
            <a:off x="9464040" y="3118104"/>
            <a:ext cx="201168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Max</a:t>
            </a:r>
            <a:endParaRPr lang="en-US" sz="1300" dirty="0"/>
          </a:p>
        </p:txBody>
      </p:sp>
      <p:sp>
        <p:nvSpPr>
          <p:cNvPr id="42" name="Shape 35"/>
          <p:cNvSpPr/>
          <p:nvPr/>
        </p:nvSpPr>
        <p:spPr>
          <a:xfrm>
            <a:off x="8595360" y="3246120"/>
            <a:ext cx="411480" cy="0"/>
          </a:xfrm>
          <a:prstGeom prst="line">
            <a:avLst/>
          </a:prstGeom>
          <a:noFill/>
          <a:ln w="15875">
            <a:solidFill>
              <a:srgbClr val="14213D"/>
            </a:solidFill>
            <a:prstDash val="solid"/>
          </a:ln>
        </p:spPr>
      </p:sp>
      <p:sp>
        <p:nvSpPr>
          <p:cNvPr id="43" name="Shape 36"/>
          <p:cNvSpPr/>
          <p:nvPr/>
        </p:nvSpPr>
        <p:spPr>
          <a:xfrm>
            <a:off x="9006840" y="3246120"/>
            <a:ext cx="0" cy="91440"/>
          </a:xfrm>
          <a:prstGeom prst="line">
            <a:avLst/>
          </a:prstGeom>
          <a:noFill/>
          <a:ln w="15875">
            <a:solidFill>
              <a:srgbClr val="14213D"/>
            </a:solidFill>
            <a:prstDash val="solid"/>
          </a:ln>
        </p:spPr>
      </p:sp>
      <p:sp>
        <p:nvSpPr>
          <p:cNvPr id="44" name="Shape 37"/>
          <p:cNvSpPr/>
          <p:nvPr/>
        </p:nvSpPr>
        <p:spPr>
          <a:xfrm>
            <a:off x="9006840" y="3337560"/>
            <a:ext cx="411480" cy="0"/>
          </a:xfrm>
          <a:prstGeom prst="line">
            <a:avLst/>
          </a:prstGeom>
          <a:noFill/>
          <a:ln w="15875">
            <a:solidFill>
              <a:srgbClr val="14213D"/>
            </a:solidFill>
            <a:prstDash val="solid"/>
            <a:tailEnd type="triangle"/>
          </a:ln>
        </p:spPr>
      </p:sp>
      <p:sp>
        <p:nvSpPr>
          <p:cNvPr id="45" name="Shape 38"/>
          <p:cNvSpPr/>
          <p:nvPr/>
        </p:nvSpPr>
        <p:spPr>
          <a:xfrm>
            <a:off x="9418320" y="3666744"/>
            <a:ext cx="2103120" cy="438912"/>
          </a:xfrm>
          <a:prstGeom prst="flowChartPredefinedProcess">
            <a:avLst/>
          </a:prstGeom>
          <a:solidFill>
            <a:srgbClr val="FFFFFF"/>
          </a:solidFill>
          <a:ln w="15875">
            <a:solidFill>
              <a:srgbClr val="14213D"/>
            </a:solidFill>
            <a:prstDash val="solid"/>
          </a:ln>
        </p:spPr>
      </p:sp>
      <p:sp>
        <p:nvSpPr>
          <p:cNvPr id="46" name="Text 39"/>
          <p:cNvSpPr txBox="1"/>
          <p:nvPr/>
        </p:nvSpPr>
        <p:spPr>
          <a:xfrm>
            <a:off x="9464040" y="3666744"/>
            <a:ext cx="201168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Min</a:t>
            </a:r>
            <a:endParaRPr lang="en-US" sz="1300" dirty="0"/>
          </a:p>
        </p:txBody>
      </p:sp>
      <p:sp>
        <p:nvSpPr>
          <p:cNvPr id="47" name="Shape 40"/>
          <p:cNvSpPr/>
          <p:nvPr/>
        </p:nvSpPr>
        <p:spPr>
          <a:xfrm>
            <a:off x="8595360" y="3246120"/>
            <a:ext cx="411480" cy="0"/>
          </a:xfrm>
          <a:prstGeom prst="line">
            <a:avLst/>
          </a:prstGeom>
          <a:noFill/>
          <a:ln w="15875">
            <a:solidFill>
              <a:srgbClr val="14213D"/>
            </a:solidFill>
            <a:prstDash val="solid"/>
          </a:ln>
        </p:spPr>
      </p:sp>
      <p:sp>
        <p:nvSpPr>
          <p:cNvPr id="48" name="Shape 41"/>
          <p:cNvSpPr/>
          <p:nvPr/>
        </p:nvSpPr>
        <p:spPr>
          <a:xfrm>
            <a:off x="9006840" y="3246120"/>
            <a:ext cx="0" cy="640080"/>
          </a:xfrm>
          <a:prstGeom prst="line">
            <a:avLst/>
          </a:prstGeom>
          <a:noFill/>
          <a:ln w="15875">
            <a:solidFill>
              <a:srgbClr val="14213D"/>
            </a:solidFill>
            <a:prstDash val="solid"/>
          </a:ln>
        </p:spPr>
      </p:sp>
      <p:sp>
        <p:nvSpPr>
          <p:cNvPr id="49" name="Shape 42"/>
          <p:cNvSpPr/>
          <p:nvPr/>
        </p:nvSpPr>
        <p:spPr>
          <a:xfrm>
            <a:off x="9006840" y="3886200"/>
            <a:ext cx="411480" cy="0"/>
          </a:xfrm>
          <a:prstGeom prst="line">
            <a:avLst/>
          </a:prstGeom>
          <a:noFill/>
          <a:ln w="15875">
            <a:solidFill>
              <a:srgbClr val="14213D"/>
            </a:solidFill>
            <a:prstDash val="solid"/>
            <a:tailEnd type="triangle"/>
          </a:ln>
        </p:spPr>
      </p:sp>
      <p:sp>
        <p:nvSpPr>
          <p:cNvPr id="50" name="Shape 43"/>
          <p:cNvSpPr/>
          <p:nvPr/>
        </p:nvSpPr>
        <p:spPr>
          <a:xfrm>
            <a:off x="9418320" y="4215384"/>
            <a:ext cx="2103120" cy="438912"/>
          </a:xfrm>
          <a:prstGeom prst="flowChartPredefinedProcess">
            <a:avLst/>
          </a:prstGeom>
          <a:solidFill>
            <a:srgbClr val="FFFFFF"/>
          </a:solidFill>
          <a:ln w="15875">
            <a:solidFill>
              <a:srgbClr val="14213D"/>
            </a:solidFill>
            <a:prstDash val="solid"/>
          </a:ln>
        </p:spPr>
      </p:sp>
      <p:sp>
        <p:nvSpPr>
          <p:cNvPr id="51" name="Text 44"/>
          <p:cNvSpPr txBox="1"/>
          <p:nvPr/>
        </p:nvSpPr>
        <p:spPr>
          <a:xfrm>
            <a:off x="9464040" y="4215384"/>
            <a:ext cx="201168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CountAtLeast</a:t>
            </a:r>
            <a:endParaRPr lang="en-US" sz="1300" dirty="0"/>
          </a:p>
        </p:txBody>
      </p:sp>
      <p:sp>
        <p:nvSpPr>
          <p:cNvPr id="52" name="Shape 45"/>
          <p:cNvSpPr/>
          <p:nvPr/>
        </p:nvSpPr>
        <p:spPr>
          <a:xfrm>
            <a:off x="8595360" y="3246120"/>
            <a:ext cx="411480" cy="0"/>
          </a:xfrm>
          <a:prstGeom prst="line">
            <a:avLst/>
          </a:prstGeom>
          <a:noFill/>
          <a:ln w="15875">
            <a:solidFill>
              <a:srgbClr val="14213D"/>
            </a:solidFill>
            <a:prstDash val="solid"/>
          </a:ln>
        </p:spPr>
      </p:sp>
      <p:sp>
        <p:nvSpPr>
          <p:cNvPr id="53" name="Shape 46"/>
          <p:cNvSpPr/>
          <p:nvPr/>
        </p:nvSpPr>
        <p:spPr>
          <a:xfrm>
            <a:off x="9006840" y="3246120"/>
            <a:ext cx="0" cy="1188720"/>
          </a:xfrm>
          <a:prstGeom prst="line">
            <a:avLst/>
          </a:prstGeom>
          <a:noFill/>
          <a:ln w="15875">
            <a:solidFill>
              <a:srgbClr val="14213D"/>
            </a:solidFill>
            <a:prstDash val="solid"/>
          </a:ln>
        </p:spPr>
      </p:sp>
      <p:sp>
        <p:nvSpPr>
          <p:cNvPr id="54" name="Shape 47"/>
          <p:cNvSpPr/>
          <p:nvPr/>
        </p:nvSpPr>
        <p:spPr>
          <a:xfrm>
            <a:off x="9006840" y="4434840"/>
            <a:ext cx="411480" cy="0"/>
          </a:xfrm>
          <a:prstGeom prst="line">
            <a:avLst/>
          </a:prstGeom>
          <a:noFill/>
          <a:ln w="15875">
            <a:solidFill>
              <a:srgbClr val="14213D"/>
            </a:solidFill>
            <a:prstDash val="solid"/>
            <a:tailEnd type="triangle"/>
          </a:ln>
        </p:spPr>
      </p:sp>
      <p:sp>
        <p:nvSpPr>
          <p:cNvPr id="55" name="Shape 48"/>
          <p:cNvSpPr/>
          <p:nvPr/>
        </p:nvSpPr>
        <p:spPr>
          <a:xfrm>
            <a:off x="6446520" y="4754880"/>
            <a:ext cx="5212080" cy="1325880"/>
          </a:xfrm>
          <a:prstGeom prst="roundRect">
            <a:avLst>
              <a:gd name="adj" fmla="val 8276"/>
            </a:avLst>
          </a:prstGeom>
          <a:solidFill>
            <a:srgbClr val="FFF6E3"/>
          </a:solidFill>
          <a:ln w="12700">
            <a:solidFill>
              <a:srgbClr val="FFF6E3"/>
            </a:solidFill>
            <a:prstDash val="solid"/>
          </a:ln>
        </p:spPr>
      </p:sp>
      <p:pic>
        <p:nvPicPr>
          <p:cNvPr id="56" name="Image 4" descr="preencoded.png">    </p:cNvPr>
          <p:cNvPicPr>
            <a:picLocks noChangeAspect="1"/>
          </p:cNvPicPr>
          <p:nvPr/>
        </p:nvPicPr>
        <p:blipFill>
          <a:blip r:embed="rId5"/>
          <a:stretch>
            <a:fillRect/>
          </a:stretch>
        </p:blipFill>
        <p:spPr>
          <a:xfrm>
            <a:off x="6720840" y="5143500"/>
            <a:ext cx="548640" cy="548640"/>
          </a:xfrm>
          <a:prstGeom prst="rect">
            <a:avLst/>
          </a:prstGeom>
        </p:spPr>
      </p:pic>
      <p:sp>
        <p:nvSpPr>
          <p:cNvPr id="57" name="Text 49"/>
          <p:cNvSpPr txBox="1"/>
          <p:nvPr/>
        </p:nvSpPr>
        <p:spPr>
          <a:xfrm>
            <a:off x="7543800" y="4828032"/>
            <a:ext cx="3840480" cy="117957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Flowchart link (Week 2): </a:t>
            </a:r>
            <a:pPr indent="0" marL="0">
              <a:buNone/>
            </a:pPr>
            <a:r>
              <a:rPr lang="en-US" sz="1500" dirty="0">
                <a:solidFill>
                  <a:srgbClr val="333B4F"/>
                </a:solidFill>
                <a:latin typeface="Calibri" pitchFamily="34" charset="0"/>
                <a:ea typeface="Calibri" pitchFamily="34" charset="-122"/>
                <a:cs typeface="Calibri" pitchFamily="34" charset="-120"/>
              </a:rPr>
              <a:t>the predefined-process box is a method call.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12_01_WHYMETHODS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Draw a line: written once, called five times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45920"/>
            <a:ext cx="4206240" cy="2788920"/>
          </a:xfrm>
          <a:prstGeom prst="roundRect">
            <a:avLst>
              <a:gd name="adj" fmla="val 3279"/>
            </a:avLst>
          </a:prstGeom>
          <a:solidFill>
            <a:srgbClr val="0F1729"/>
          </a:solidFill>
          <a:ln w="12700">
            <a:solidFill>
              <a:srgbClr val="0F1729"/>
            </a:solidFill>
            <a:prstDash val="solid"/>
          </a:ln>
        </p:spPr>
      </p:sp>
      <p:sp>
        <p:nvSpPr>
          <p:cNvPr id="8" name="Text 5"/>
          <p:cNvSpPr txBox="1"/>
          <p:nvPr/>
        </p:nvSpPr>
        <p:spPr>
          <a:xfrm>
            <a:off x="777240" y="1755648"/>
            <a:ext cx="37490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 the statements that run</a:t>
            </a:r>
            <a:endParaRPr lang="en-US" sz="1100" dirty="0"/>
          </a:p>
        </p:txBody>
      </p:sp>
      <p:sp>
        <p:nvSpPr>
          <p:cNvPr id="9" name="Text 6"/>
          <p:cNvSpPr txBox="1"/>
          <p:nvPr/>
        </p:nvSpPr>
        <p:spPr>
          <a:xfrm>
            <a:off x="777240" y="2057400"/>
            <a:ext cx="3749040" cy="226771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OKAN CAFE"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PrintItem(</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"Tea x2"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PrintItem(</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"Simit x1"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PrintItem(</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"Toast x1"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PrintItem(</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"TOTAL"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4892040" y="1645920"/>
            <a:ext cx="3291840" cy="2788920"/>
          </a:xfrm>
          <a:prstGeom prst="roundRect">
            <a:avLst>
              <a:gd name="adj" fmla="val 3279"/>
            </a:avLst>
          </a:prstGeom>
          <a:solidFill>
            <a:srgbClr val="0B0F19"/>
          </a:solidFill>
          <a:ln w="12700">
            <a:solidFill>
              <a:srgbClr val="2A3654"/>
            </a:solidFill>
            <a:prstDash val="solid"/>
          </a:ln>
        </p:spPr>
      </p:sp>
      <p:sp>
        <p:nvSpPr>
          <p:cNvPr id="11" name="Shape 8"/>
          <p:cNvSpPr/>
          <p:nvPr/>
        </p:nvSpPr>
        <p:spPr>
          <a:xfrm>
            <a:off x="5074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5303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5532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5806440" y="171907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5120640" y="2029968"/>
            <a:ext cx="2834640" cy="22860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OKAN CAFE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Tea x2                60.00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Simit x1              25.00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Toast x1             110.00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TOTAL                195.00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8321040" y="1645920"/>
            <a:ext cx="3337560" cy="2788920"/>
          </a:xfrm>
          <a:prstGeom prst="roundRect">
            <a:avLst>
              <a:gd name="adj" fmla="val 3279"/>
            </a:avLst>
          </a:prstGeom>
          <a:solidFill>
            <a:srgbClr val="0F1729"/>
          </a:solidFill>
          <a:ln w="12700">
            <a:solidFill>
              <a:srgbClr val="0F1729"/>
            </a:solidFill>
            <a:prstDash val="solid"/>
          </a:ln>
        </p:spPr>
      </p:sp>
      <p:sp>
        <p:nvSpPr>
          <p:cNvPr id="17" name="Text 14"/>
          <p:cNvSpPr txBox="1"/>
          <p:nvPr/>
        </p:nvSpPr>
        <p:spPr>
          <a:xfrm>
            <a:off x="8549640" y="1755648"/>
            <a:ext cx="2880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Week 6 style (no methods)</a:t>
            </a:r>
            <a:endParaRPr lang="en-US" sz="1100" dirty="0"/>
          </a:p>
        </p:txBody>
      </p:sp>
      <p:sp>
        <p:nvSpPr>
          <p:cNvPr id="18" name="Text 15"/>
          <p:cNvSpPr txBox="1"/>
          <p:nvPr/>
        </p:nvSpPr>
        <p:spPr>
          <a:xfrm>
            <a:off x="8549640" y="2057400"/>
            <a:ext cx="2880360" cy="226771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 and the same loop</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again for every line</a:t>
            </a:r>
            <a:endParaRPr lang="en-US" sz="1200" dirty="0"/>
          </a:p>
        </p:txBody>
      </p:sp>
      <p:sp>
        <p:nvSpPr>
          <p:cNvPr id="19" name="Shape 16"/>
          <p:cNvSpPr/>
          <p:nvPr/>
        </p:nvSpPr>
        <p:spPr>
          <a:xfrm>
            <a:off x="548640" y="4617720"/>
            <a:ext cx="5440680" cy="1463040"/>
          </a:xfrm>
          <a:prstGeom prst="roundRect">
            <a:avLst>
              <a:gd name="adj" fmla="val 7500"/>
            </a:avLst>
          </a:prstGeom>
          <a:solidFill>
            <a:srgbClr val="FBE9E7"/>
          </a:solidFill>
          <a:ln w="12700">
            <a:solidFill>
              <a:srgbClr val="FBE9E7"/>
            </a:solidFill>
            <a:prstDash val="solid"/>
          </a:ln>
        </p:spPr>
      </p:sp>
      <p:sp>
        <p:nvSpPr>
          <p:cNvPr id="20" name="Text 17"/>
          <p:cNvSpPr txBox="1"/>
          <p:nvPr/>
        </p:nvSpPr>
        <p:spPr>
          <a:xfrm>
            <a:off x="777240" y="4663440"/>
            <a:ext cx="4983480" cy="1371600"/>
          </a:xfrm>
          <a:prstGeom prst="rect">
            <a:avLst/>
          </a:prstGeom>
          <a:noFill/>
          <a:ln/>
        </p:spPr>
        <p:txBody>
          <a:bodyPr wrap="square" lIns="0" tIns="0" rIns="0" bIns="0" rtlCol="0" anchor="ctr"/>
          <a:lstStyle/>
          <a:p>
            <a:pPr indent="0" marL="0">
              <a:buNone/>
            </a:pPr>
            <a:r>
              <a:rPr lang="en-US" sz="1500" b="1" dirty="0">
                <a:solidFill>
                  <a:srgbClr val="C8453B"/>
                </a:solidFill>
                <a:latin typeface="Calibri" pitchFamily="34" charset="0"/>
                <a:ea typeface="Calibri" pitchFamily="34" charset="-122"/>
                <a:cs typeface="Calibri" pitchFamily="34" charset="-120"/>
              </a:rPr>
              <a:t>Without methods: </a:t>
            </a:r>
            <a:pPr indent="0" marL="0">
              <a:buNone/>
            </a:pPr>
            <a:r>
              <a:rPr lang="en-US" sz="1500" dirty="0">
                <a:solidFill>
                  <a:srgbClr val="333B4F"/>
                </a:solidFill>
                <a:latin typeface="Calibri" pitchFamily="34" charset="0"/>
                <a:ea typeface="Calibri" pitchFamily="34" charset="-122"/>
                <a:cs typeface="Calibri" pitchFamily="34" charset="-120"/>
              </a:rPr>
              <a:t>5 lines of the receipt = 5 copies of the loop (25 lines).</a:t>
            </a:r>
            <a:endParaRPr lang="en-US" sz="1500" dirty="0"/>
          </a:p>
        </p:txBody>
      </p:sp>
      <p:sp>
        <p:nvSpPr>
          <p:cNvPr id="21" name="Shape 18"/>
          <p:cNvSpPr/>
          <p:nvPr/>
        </p:nvSpPr>
        <p:spPr>
          <a:xfrm>
            <a:off x="6217920" y="4617720"/>
            <a:ext cx="5440680" cy="1463040"/>
          </a:xfrm>
          <a:prstGeom prst="roundRect">
            <a:avLst>
              <a:gd name="adj" fmla="val 7500"/>
            </a:avLst>
          </a:prstGeom>
          <a:solidFill>
            <a:srgbClr val="E6F4EC"/>
          </a:solidFill>
          <a:ln w="12700">
            <a:solidFill>
              <a:srgbClr val="E6F4EC"/>
            </a:solidFill>
            <a:prstDash val="solid"/>
          </a:ln>
        </p:spPr>
      </p:sp>
      <p:sp>
        <p:nvSpPr>
          <p:cNvPr id="22" name="Text 19"/>
          <p:cNvSpPr txBox="1"/>
          <p:nvPr/>
        </p:nvSpPr>
        <p:spPr>
          <a:xfrm>
            <a:off x="6446520" y="4663440"/>
            <a:ext cx="4983480" cy="1371600"/>
          </a:xfrm>
          <a:prstGeom prst="rect">
            <a:avLst/>
          </a:prstGeom>
          <a:noFill/>
          <a:ln/>
        </p:spPr>
        <p:txBody>
          <a:bodyPr wrap="square" lIns="0" tIns="0" rIns="0" bIns="0" rtlCol="0" anchor="ctr"/>
          <a:lstStyle/>
          <a:p>
            <a:pPr indent="0" marL="0">
              <a:buNone/>
            </a:pPr>
            <a:r>
              <a:rPr lang="en-US" sz="1500" b="1" dirty="0">
                <a:solidFill>
                  <a:srgbClr val="1F7A50"/>
                </a:solidFill>
                <a:latin typeface="Calibri" pitchFamily="34" charset="0"/>
                <a:ea typeface="Calibri" pitchFamily="34" charset="-122"/>
                <a:cs typeface="Calibri" pitchFamily="34" charset="-120"/>
              </a:rPr>
              <a:t>With PrintLine: </a:t>
            </a:r>
            <a:pPr indent="0" marL="0">
              <a:buNone/>
            </a:pPr>
            <a:r>
              <a:rPr lang="en-US" sz="1500" dirty="0">
                <a:solidFill>
                  <a:srgbClr val="333B4F"/>
                </a:solidFill>
                <a:latin typeface="Calibri" pitchFamily="34" charset="0"/>
                <a:ea typeface="Calibri" pitchFamily="34" charset="-122"/>
                <a:cs typeface="Calibri" pitchFamily="34" charset="-120"/>
              </a:rPr>
              <a:t>1 loop + 5 one-line calls. Change the loop once, all lines change.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THE TWO 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Same method, different arguments in every call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45920"/>
            <a:ext cx="5486400" cy="2423160"/>
          </a:xfrm>
          <a:prstGeom prst="roundRect">
            <a:avLst>
              <a:gd name="adj" fmla="val 3774"/>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PrintLine: two parameters (char, int)</a:t>
            </a:r>
            <a:endParaRPr lang="en-US" sz="1100" dirty="0"/>
          </a:p>
        </p:txBody>
      </p:sp>
      <p:sp>
        <p:nvSpPr>
          <p:cNvPr id="9" name="Text 6"/>
          <p:cNvSpPr txBox="1"/>
          <p:nvPr/>
        </p:nvSpPr>
        <p:spPr>
          <a:xfrm>
            <a:off x="777240" y="2057400"/>
            <a:ext cx="5029200" cy="1901952"/>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prints symbol count times, then a new line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PrintLine(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symbol,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count;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.Write(symbol);</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206240"/>
            <a:ext cx="5486400" cy="1874520"/>
          </a:xfrm>
          <a:prstGeom prst="roundRect">
            <a:avLst>
              <a:gd name="adj" fmla="val 4878"/>
            </a:avLst>
          </a:prstGeom>
          <a:solidFill>
            <a:srgbClr val="0F1729"/>
          </a:solidFill>
          <a:ln w="12700">
            <a:solidFill>
              <a:srgbClr val="0F1729"/>
            </a:solidFill>
            <a:prstDash val="solid"/>
          </a:ln>
        </p:spPr>
      </p:sp>
      <p:sp>
        <p:nvSpPr>
          <p:cNvPr id="11" name="Text 8"/>
          <p:cNvSpPr txBox="1"/>
          <p:nvPr/>
        </p:nvSpPr>
        <p:spPr>
          <a:xfrm>
            <a:off x="777240" y="431596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PrintItem: two parameters (string, double)</a:t>
            </a:r>
            <a:endParaRPr lang="en-US" sz="1100" dirty="0"/>
          </a:p>
        </p:txBody>
      </p:sp>
      <p:sp>
        <p:nvSpPr>
          <p:cNvPr id="12" name="Text 9"/>
          <p:cNvSpPr txBox="1"/>
          <p:nvPr/>
        </p:nvSpPr>
        <p:spPr>
          <a:xfrm>
            <a:off x="777240" y="4617720"/>
            <a:ext cx="5029200" cy="1353312"/>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prints one receipt line (30 characters wide)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PrintItem(</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name,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$"{name,-18}{amount,9:F2} TL"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63640" y="1645920"/>
          <a:ext cx="5394960" cy="914400"/>
        </p:xfrm>
        <a:graphic>
          <a:graphicData uri="http://schemas.openxmlformats.org/drawingml/2006/table">
            <a:tbl>
              <a:tblPr/>
              <a:tblGrid>
                <a:gridCol w="2377440"/>
                <a:gridCol w="1554480"/>
                <a:gridCol w="146304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call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1st parameter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2nd parameter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PrintLine('=', 30)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symbol = '='</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count = 30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PrintLine('-', 30)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symbol = '-'</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count = 30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PrintLine('*', 12)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symbol = '*'</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count = 12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PrintItem("Tea x2", 60)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name = "Tea x2"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amount = 60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PrintItem("TOTAL",</a:t>
                      </a:r>
                      <a:endParaRPr lang="en-US" sz="1300" dirty="0">
                        <a:latin typeface="Courier New" charset="0"/>
                        <a:ea typeface="Courier New" charset="0"/>
                        <a:cs typeface="Courier New" charset="0"/>
                      </a:endParaRPr>
                    </a:p>
                    <a:p>
                      <a:pPr algn="l" indent="0" marL="0">
                        <a:buNone/>
                      </a:pPr>
                      <a:r>
                        <a:rPr lang="en-US" sz="1300" dirty="0">
                          <a:solidFill>
                            <a:srgbClr val="14213D"/>
                          </a:solidFill>
                          <a:latin typeface="Courier New" pitchFamily="34" charset="0"/>
                          <a:ea typeface="Courier New" pitchFamily="34" charset="-122"/>
                          <a:cs typeface="Courier New" pitchFamily="34" charset="-120"/>
                        </a:rPr>
                        <a:t>   60 + 25 + 110)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name = "TOTAL"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B7791F"/>
                          </a:solidFill>
                          <a:latin typeface="Calibri" pitchFamily="34" charset="0"/>
                          <a:ea typeface="Calibri" pitchFamily="34" charset="-122"/>
                          <a:cs typeface="Calibri" pitchFamily="34" charset="-120"/>
                        </a:rPr>
                        <a:t>amount = 195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4" name="Shape 10"/>
          <p:cNvSpPr/>
          <p:nvPr/>
        </p:nvSpPr>
        <p:spPr>
          <a:xfrm>
            <a:off x="6263640" y="4846320"/>
            <a:ext cx="5394960" cy="1234440"/>
          </a:xfrm>
          <a:prstGeom prst="roundRect">
            <a:avLst>
              <a:gd name="adj" fmla="val 8889"/>
            </a:avLst>
          </a:prstGeom>
          <a:solidFill>
            <a:srgbClr val="FFF6E3"/>
          </a:solidFill>
          <a:ln w="12700">
            <a:solidFill>
              <a:srgbClr val="FFF6E3"/>
            </a:solidFill>
            <a:prstDash val="solid"/>
          </a:ln>
        </p:spPr>
      </p:sp>
      <p:pic>
        <p:nvPicPr>
          <p:cNvPr id="15" name="Image 0" descr="preencoded.png">    </p:cNvPr>
          <p:cNvPicPr>
            <a:picLocks noChangeAspect="1"/>
          </p:cNvPicPr>
          <p:nvPr/>
        </p:nvPicPr>
        <p:blipFill>
          <a:blip r:embed="rId1"/>
          <a:stretch>
            <a:fillRect/>
          </a:stretch>
        </p:blipFill>
        <p:spPr>
          <a:xfrm>
            <a:off x="6537960" y="5189220"/>
            <a:ext cx="548640" cy="548640"/>
          </a:xfrm>
          <a:prstGeom prst="rect">
            <a:avLst/>
          </a:prstGeom>
        </p:spPr>
      </p:pic>
      <p:sp>
        <p:nvSpPr>
          <p:cNvPr id="16" name="Text 11"/>
          <p:cNvSpPr txBox="1"/>
          <p:nvPr/>
        </p:nvSpPr>
        <p:spPr>
          <a:xfrm>
            <a:off x="7360920" y="4919472"/>
            <a:ext cx="4023360" cy="108813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Arguments are evaluated first: </a:t>
            </a:r>
            <a:pPr indent="0" marL="0">
              <a:buNone/>
            </a:pPr>
            <a:r>
              <a:rPr lang="en-US" sz="1400" dirty="0">
                <a:solidFill>
                  <a:srgbClr val="333B4F"/>
                </a:solidFill>
                <a:latin typeface="Calibri" pitchFamily="34" charset="0"/>
                <a:ea typeface="Calibri" pitchFamily="34" charset="-122"/>
                <a:cs typeface="Calibri" pitchFamily="34" charset="-120"/>
              </a:rPr>
              <a:t>only the value 195 is copied into amount.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ANATOMY OF A METHOD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static int Square(int x) — five parts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91640"/>
            <a:ext cx="1600200" cy="685800"/>
          </a:xfrm>
          <a:prstGeom prst="rect">
            <a:avLst/>
          </a:prstGeom>
          <a:solidFill>
            <a:srgbClr val="0F1729"/>
          </a:solidFill>
          <a:ln w="38100">
            <a:solidFill>
              <a:srgbClr val="5B6478"/>
            </a:solidFill>
            <a:prstDash val="solid"/>
          </a:ln>
        </p:spPr>
      </p:sp>
      <p:sp>
        <p:nvSpPr>
          <p:cNvPr id="8" name="Text 5"/>
          <p:cNvSpPr txBox="1"/>
          <p:nvPr/>
        </p:nvSpPr>
        <p:spPr>
          <a:xfrm>
            <a:off x="548640" y="1691640"/>
            <a:ext cx="1600200" cy="685800"/>
          </a:xfrm>
          <a:prstGeom prst="rect">
            <a:avLst/>
          </a:prstGeom>
          <a:noFill/>
          <a:ln/>
        </p:spPr>
        <p:txBody>
          <a:bodyPr wrap="square" lIns="0" tIns="0" rIns="0" bIns="0" rtlCol="0" anchor="ctr"/>
          <a:lstStyle/>
          <a:p>
            <a:pPr algn="ctr" indent="0" marL="0">
              <a:buNone/>
            </a:pPr>
            <a:r>
              <a:rPr lang="en-US" sz="2400" b="1" dirty="0">
                <a:solidFill>
                  <a:srgbClr val="7AB8FF"/>
                </a:solidFill>
                <a:latin typeface="Courier New" pitchFamily="34" charset="0"/>
                <a:ea typeface="Courier New" pitchFamily="34" charset="-122"/>
                <a:cs typeface="Courier New" pitchFamily="34" charset="-120"/>
              </a:rPr>
              <a:t>static</a:t>
            </a:r>
            <a:endParaRPr lang="en-US" sz="2400" dirty="0"/>
          </a:p>
        </p:txBody>
      </p:sp>
      <p:sp>
        <p:nvSpPr>
          <p:cNvPr id="9" name="Text 6"/>
          <p:cNvSpPr txBox="1"/>
          <p:nvPr/>
        </p:nvSpPr>
        <p:spPr>
          <a:xfrm>
            <a:off x="548640" y="2468880"/>
            <a:ext cx="1600200" cy="914400"/>
          </a:xfrm>
          <a:prstGeom prst="rect">
            <a:avLst/>
          </a:prstGeom>
          <a:noFill/>
          <a:ln/>
        </p:spPr>
        <p:txBody>
          <a:bodyPr wrap="square" lIns="0" tIns="0" rIns="0" bIns="0" rtlCol="0" anchor="t"/>
          <a:lstStyle/>
          <a:p>
            <a:pPr algn="ctr" indent="0" marL="0">
              <a:buNone/>
            </a:pPr>
            <a:r>
              <a:rPr lang="en-US" sz="1400" b="1" dirty="0">
                <a:solidFill>
                  <a:srgbClr val="5B6478"/>
                </a:solidFill>
                <a:latin typeface="Calibri" pitchFamily="34" charset="0"/>
                <a:ea typeface="Calibri" pitchFamily="34" charset="-122"/>
                <a:cs typeface="Calibri" pitchFamily="34" charset="-120"/>
              </a:rPr>
              <a:t>modifier</a:t>
            </a:r>
            <a:endParaRPr lang="en-US" sz="1400" dirty="0"/>
          </a:p>
          <a:p>
            <a:pPr algn="ctr" indent="0" marL="0">
              <a:buNone/>
            </a:pPr>
            <a:r>
              <a:rPr lang="en-US" sz="1300" dirty="0">
                <a:solidFill>
                  <a:srgbClr val="333B4F"/>
                </a:solidFill>
                <a:latin typeface="Calibri" pitchFamily="34" charset="0"/>
                <a:ea typeface="Calibri" pitchFamily="34" charset="-122"/>
                <a:cs typeface="Calibri" pitchFamily="34" charset="-120"/>
              </a:rPr>
              <a:t>uses only its parameters</a:t>
            </a:r>
            <a:endParaRPr lang="en-US" sz="1400" dirty="0"/>
          </a:p>
        </p:txBody>
      </p:sp>
      <p:sp>
        <p:nvSpPr>
          <p:cNvPr id="10" name="Shape 7"/>
          <p:cNvSpPr/>
          <p:nvPr/>
        </p:nvSpPr>
        <p:spPr>
          <a:xfrm>
            <a:off x="2258568" y="1691640"/>
            <a:ext cx="1143000" cy="685800"/>
          </a:xfrm>
          <a:prstGeom prst="rect">
            <a:avLst/>
          </a:prstGeom>
          <a:solidFill>
            <a:srgbClr val="0F1729"/>
          </a:solidFill>
          <a:ln w="38100">
            <a:solidFill>
              <a:srgbClr val="2F6FB3"/>
            </a:solidFill>
            <a:prstDash val="solid"/>
          </a:ln>
        </p:spPr>
      </p:sp>
      <p:sp>
        <p:nvSpPr>
          <p:cNvPr id="11" name="Text 8"/>
          <p:cNvSpPr txBox="1"/>
          <p:nvPr/>
        </p:nvSpPr>
        <p:spPr>
          <a:xfrm>
            <a:off x="2258568" y="1691640"/>
            <a:ext cx="1143000" cy="685800"/>
          </a:xfrm>
          <a:prstGeom prst="rect">
            <a:avLst/>
          </a:prstGeom>
          <a:noFill/>
          <a:ln/>
        </p:spPr>
        <p:txBody>
          <a:bodyPr wrap="square" lIns="0" tIns="0" rIns="0" bIns="0" rtlCol="0" anchor="ctr"/>
          <a:lstStyle/>
          <a:p>
            <a:pPr algn="ctr" indent="0" marL="0">
              <a:buNone/>
            </a:pPr>
            <a:r>
              <a:rPr lang="en-US" sz="2400" b="1" dirty="0">
                <a:solidFill>
                  <a:srgbClr val="7AB8FF"/>
                </a:solidFill>
                <a:latin typeface="Courier New" pitchFamily="34" charset="0"/>
                <a:ea typeface="Courier New" pitchFamily="34" charset="-122"/>
                <a:cs typeface="Courier New" pitchFamily="34" charset="-120"/>
              </a:rPr>
              <a:t>int</a:t>
            </a:r>
            <a:endParaRPr lang="en-US" sz="2400" dirty="0"/>
          </a:p>
        </p:txBody>
      </p:sp>
      <p:sp>
        <p:nvSpPr>
          <p:cNvPr id="12" name="Text 9"/>
          <p:cNvSpPr txBox="1"/>
          <p:nvPr/>
        </p:nvSpPr>
        <p:spPr>
          <a:xfrm>
            <a:off x="2258568" y="2468880"/>
            <a:ext cx="1143000" cy="914400"/>
          </a:xfrm>
          <a:prstGeom prst="rect">
            <a:avLst/>
          </a:prstGeom>
          <a:noFill/>
          <a:ln/>
        </p:spPr>
        <p:txBody>
          <a:bodyPr wrap="square" lIns="0" tIns="0" rIns="0" bIns="0" rtlCol="0" anchor="t"/>
          <a:lstStyle/>
          <a:p>
            <a:pPr algn="ctr" indent="0" marL="0">
              <a:buNone/>
            </a:pPr>
            <a:r>
              <a:rPr lang="en-US" sz="1400" b="1" dirty="0">
                <a:solidFill>
                  <a:srgbClr val="2F6FB3"/>
                </a:solidFill>
                <a:latin typeface="Calibri" pitchFamily="34" charset="0"/>
                <a:ea typeface="Calibri" pitchFamily="34" charset="-122"/>
                <a:cs typeface="Calibri" pitchFamily="34" charset="-120"/>
              </a:rPr>
              <a:t>return type</a:t>
            </a:r>
            <a:endParaRPr lang="en-US" sz="1400" dirty="0"/>
          </a:p>
          <a:p>
            <a:pPr algn="ctr" indent="0" marL="0">
              <a:buNone/>
            </a:pPr>
            <a:r>
              <a:rPr lang="en-US" sz="1300" dirty="0">
                <a:solidFill>
                  <a:srgbClr val="333B4F"/>
                </a:solidFill>
                <a:latin typeface="Calibri" pitchFamily="34" charset="0"/>
                <a:ea typeface="Calibri" pitchFamily="34" charset="-122"/>
                <a:cs typeface="Calibri" pitchFamily="34" charset="-120"/>
              </a:rPr>
              <a:t>type of the result (void = none)</a:t>
            </a:r>
            <a:endParaRPr lang="en-US" sz="1400" dirty="0"/>
          </a:p>
        </p:txBody>
      </p:sp>
      <p:sp>
        <p:nvSpPr>
          <p:cNvPr id="13" name="Shape 10"/>
          <p:cNvSpPr/>
          <p:nvPr/>
        </p:nvSpPr>
        <p:spPr>
          <a:xfrm>
            <a:off x="3511296" y="1691640"/>
            <a:ext cx="1828800" cy="685800"/>
          </a:xfrm>
          <a:prstGeom prst="rect">
            <a:avLst/>
          </a:prstGeom>
          <a:solidFill>
            <a:srgbClr val="0F1729"/>
          </a:solidFill>
          <a:ln w="38100">
            <a:solidFill>
              <a:srgbClr val="14213D"/>
            </a:solidFill>
            <a:prstDash val="solid"/>
          </a:ln>
        </p:spPr>
      </p:sp>
      <p:sp>
        <p:nvSpPr>
          <p:cNvPr id="14" name="Text 11"/>
          <p:cNvSpPr txBox="1"/>
          <p:nvPr/>
        </p:nvSpPr>
        <p:spPr>
          <a:xfrm>
            <a:off x="3511296" y="1691640"/>
            <a:ext cx="1828800" cy="685800"/>
          </a:xfrm>
          <a:prstGeom prst="rect">
            <a:avLst/>
          </a:prstGeom>
          <a:noFill/>
          <a:ln/>
        </p:spPr>
        <p:txBody>
          <a:bodyPr wrap="square" lIns="0" tIns="0" rIns="0" bIns="0" rtlCol="0" anchor="ctr"/>
          <a:lstStyle/>
          <a:p>
            <a:pPr algn="ctr" indent="0" marL="0">
              <a:buNone/>
            </a:pPr>
            <a:r>
              <a:rPr lang="en-US" sz="2400" b="1" dirty="0">
                <a:solidFill>
                  <a:srgbClr val="E6EDF7"/>
                </a:solidFill>
                <a:latin typeface="Courier New" pitchFamily="34" charset="0"/>
                <a:ea typeface="Courier New" pitchFamily="34" charset="-122"/>
                <a:cs typeface="Courier New" pitchFamily="34" charset="-120"/>
              </a:rPr>
              <a:t>Square</a:t>
            </a:r>
            <a:endParaRPr lang="en-US" sz="2400" dirty="0"/>
          </a:p>
        </p:txBody>
      </p:sp>
      <p:sp>
        <p:nvSpPr>
          <p:cNvPr id="15" name="Text 12"/>
          <p:cNvSpPr txBox="1"/>
          <p:nvPr/>
        </p:nvSpPr>
        <p:spPr>
          <a:xfrm>
            <a:off x="3511296" y="2468880"/>
            <a:ext cx="1828800" cy="914400"/>
          </a:xfrm>
          <a:prstGeom prst="rect">
            <a:avLst/>
          </a:prstGeom>
          <a:noFill/>
          <a:ln/>
        </p:spPr>
        <p:txBody>
          <a:bodyPr wrap="square" lIns="0" tIns="0" rIns="0" bIns="0" rtlCol="0" anchor="t"/>
          <a:lstStyle/>
          <a:p>
            <a:pPr algn="ctr" indent="0" marL="0">
              <a:buNone/>
            </a:pPr>
            <a:r>
              <a:rPr lang="en-US" sz="1400" b="1" dirty="0">
                <a:solidFill>
                  <a:srgbClr val="14213D"/>
                </a:solidFill>
                <a:latin typeface="Calibri" pitchFamily="34" charset="0"/>
                <a:ea typeface="Calibri" pitchFamily="34" charset="-122"/>
                <a:cs typeface="Calibri" pitchFamily="34" charset="-120"/>
              </a:rPr>
              <a:t>name</a:t>
            </a:r>
            <a:endParaRPr lang="en-US" sz="1400" dirty="0"/>
          </a:p>
          <a:p>
            <a:pPr algn="ctr" indent="0" marL="0">
              <a:buNone/>
            </a:pPr>
            <a:r>
              <a:rPr lang="en-US" sz="1300" dirty="0">
                <a:solidFill>
                  <a:srgbClr val="333B4F"/>
                </a:solidFill>
                <a:latin typeface="Calibri" pitchFamily="34" charset="0"/>
                <a:ea typeface="Calibri" pitchFamily="34" charset="-122"/>
                <a:cs typeface="Calibri" pitchFamily="34" charset="-120"/>
              </a:rPr>
              <a:t>PascalCase verb or noun</a:t>
            </a:r>
            <a:endParaRPr lang="en-US" sz="1400" dirty="0"/>
          </a:p>
        </p:txBody>
      </p:sp>
      <p:sp>
        <p:nvSpPr>
          <p:cNvPr id="16" name="Shape 13"/>
          <p:cNvSpPr/>
          <p:nvPr/>
        </p:nvSpPr>
        <p:spPr>
          <a:xfrm>
            <a:off x="5449824" y="1691640"/>
            <a:ext cx="1828800" cy="685800"/>
          </a:xfrm>
          <a:prstGeom prst="rect">
            <a:avLst/>
          </a:prstGeom>
          <a:solidFill>
            <a:srgbClr val="0F1729"/>
          </a:solidFill>
          <a:ln w="38100">
            <a:solidFill>
              <a:srgbClr val="2E9E6A"/>
            </a:solidFill>
            <a:prstDash val="solid"/>
          </a:ln>
        </p:spPr>
      </p:sp>
      <p:sp>
        <p:nvSpPr>
          <p:cNvPr id="17" name="Text 14"/>
          <p:cNvSpPr txBox="1"/>
          <p:nvPr/>
        </p:nvSpPr>
        <p:spPr>
          <a:xfrm>
            <a:off x="5449824" y="1691640"/>
            <a:ext cx="1828800" cy="685800"/>
          </a:xfrm>
          <a:prstGeom prst="rect">
            <a:avLst/>
          </a:prstGeom>
          <a:noFill/>
          <a:ln/>
        </p:spPr>
        <p:txBody>
          <a:bodyPr wrap="square" lIns="0" tIns="0" rIns="0" bIns="0" rtlCol="0" anchor="ctr"/>
          <a:lstStyle/>
          <a:p>
            <a:pPr algn="ctr" indent="0" marL="0">
              <a:buNone/>
            </a:pPr>
            <a:r>
              <a:rPr lang="en-US" sz="2400" b="1" dirty="0">
                <a:solidFill>
                  <a:srgbClr val="7EE2A8"/>
                </a:solidFill>
                <a:latin typeface="Courier New" pitchFamily="34" charset="0"/>
                <a:ea typeface="Courier New" pitchFamily="34" charset="-122"/>
                <a:cs typeface="Courier New" pitchFamily="34" charset="-120"/>
              </a:rPr>
              <a:t>(int x)</a:t>
            </a:r>
            <a:endParaRPr lang="en-US" sz="2400" dirty="0"/>
          </a:p>
        </p:txBody>
      </p:sp>
      <p:sp>
        <p:nvSpPr>
          <p:cNvPr id="18" name="Text 15"/>
          <p:cNvSpPr txBox="1"/>
          <p:nvPr/>
        </p:nvSpPr>
        <p:spPr>
          <a:xfrm>
            <a:off x="5449824" y="2468880"/>
            <a:ext cx="1828800" cy="914400"/>
          </a:xfrm>
          <a:prstGeom prst="rect">
            <a:avLst/>
          </a:prstGeom>
          <a:noFill/>
          <a:ln/>
        </p:spPr>
        <p:txBody>
          <a:bodyPr wrap="square" lIns="0" tIns="0" rIns="0" bIns="0" rtlCol="0" anchor="t"/>
          <a:lstStyle/>
          <a:p>
            <a:pPr algn="ctr" indent="0" marL="0">
              <a:buNone/>
            </a:pPr>
            <a:r>
              <a:rPr lang="en-US" sz="1400" b="1" dirty="0">
                <a:solidFill>
                  <a:srgbClr val="2E9E6A"/>
                </a:solidFill>
                <a:latin typeface="Calibri" pitchFamily="34" charset="0"/>
                <a:ea typeface="Calibri" pitchFamily="34" charset="-122"/>
                <a:cs typeface="Calibri" pitchFamily="34" charset="-120"/>
              </a:rPr>
              <a:t>parameter list</a:t>
            </a:r>
            <a:endParaRPr lang="en-US" sz="1400" dirty="0"/>
          </a:p>
          <a:p>
            <a:pPr algn="ctr" indent="0" marL="0">
              <a:buNone/>
            </a:pPr>
            <a:r>
              <a:rPr lang="en-US" sz="1300" dirty="0">
                <a:solidFill>
                  <a:srgbClr val="333B4F"/>
                </a:solidFill>
                <a:latin typeface="Calibri" pitchFamily="34" charset="0"/>
                <a:ea typeface="Calibri" pitchFamily="34" charset="-122"/>
                <a:cs typeface="Calibri" pitchFamily="34" charset="-120"/>
              </a:rPr>
              <a:t>type + name of each input</a:t>
            </a:r>
            <a:endParaRPr lang="en-US" sz="1400" dirty="0"/>
          </a:p>
        </p:txBody>
      </p:sp>
      <p:sp>
        <p:nvSpPr>
          <p:cNvPr id="19" name="Shape 16"/>
          <p:cNvSpPr/>
          <p:nvPr/>
        </p:nvSpPr>
        <p:spPr>
          <a:xfrm>
            <a:off x="548640" y="3520440"/>
            <a:ext cx="6766560" cy="2560320"/>
          </a:xfrm>
          <a:prstGeom prst="roundRect">
            <a:avLst>
              <a:gd name="adj" fmla="val 3571"/>
            </a:avLst>
          </a:prstGeom>
          <a:solidFill>
            <a:srgbClr val="0F1729"/>
          </a:solidFill>
          <a:ln w="12700">
            <a:solidFill>
              <a:srgbClr val="0F1729"/>
            </a:solidFill>
            <a:prstDash val="solid"/>
          </a:ln>
        </p:spPr>
      </p:sp>
      <p:sp>
        <p:nvSpPr>
          <p:cNvPr id="20" name="Text 17"/>
          <p:cNvSpPr txBox="1"/>
          <p:nvPr/>
        </p:nvSpPr>
        <p:spPr>
          <a:xfrm>
            <a:off x="777240" y="3630168"/>
            <a:ext cx="6309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the definition (at the bottom of Program.cs)</a:t>
            </a:r>
            <a:endParaRPr lang="en-US" sz="1100" dirty="0"/>
          </a:p>
        </p:txBody>
      </p:sp>
      <p:sp>
        <p:nvSpPr>
          <p:cNvPr id="21" name="Text 18"/>
          <p:cNvSpPr txBox="1"/>
          <p:nvPr/>
        </p:nvSpPr>
        <p:spPr>
          <a:xfrm>
            <a:off x="777240" y="3931920"/>
            <a:ext cx="6309360" cy="203911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returns x * x</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Square(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 x;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ends the method, sends the value back</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2" name="Shape 19"/>
          <p:cNvSpPr/>
          <p:nvPr/>
        </p:nvSpPr>
        <p:spPr>
          <a:xfrm>
            <a:off x="7589520" y="1691640"/>
            <a:ext cx="4069080" cy="2011680"/>
          </a:xfrm>
          <a:prstGeom prst="roundRect">
            <a:avLst>
              <a:gd name="adj" fmla="val 4545"/>
            </a:avLst>
          </a:prstGeom>
          <a:solidFill>
            <a:srgbClr val="0F1729"/>
          </a:solidFill>
          <a:ln w="12700">
            <a:solidFill>
              <a:srgbClr val="0F1729"/>
            </a:solidFill>
            <a:prstDash val="solid"/>
          </a:ln>
        </p:spPr>
      </p:sp>
      <p:sp>
        <p:nvSpPr>
          <p:cNvPr id="23" name="Text 20"/>
          <p:cNvSpPr txBox="1"/>
          <p:nvPr/>
        </p:nvSpPr>
        <p:spPr>
          <a:xfrm>
            <a:off x="7818120" y="1801368"/>
            <a:ext cx="36118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calls (expressions)</a:t>
            </a:r>
            <a:endParaRPr lang="en-US" sz="1100" dirty="0"/>
          </a:p>
        </p:txBody>
      </p:sp>
      <p:sp>
        <p:nvSpPr>
          <p:cNvPr id="24" name="Text 21"/>
          <p:cNvSpPr txBox="1"/>
          <p:nvPr/>
        </p:nvSpPr>
        <p:spPr>
          <a:xfrm>
            <a:off x="7818120" y="2103120"/>
            <a:ext cx="3611880" cy="149047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y = Square(</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25</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z = Square(y)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626</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.WriteLine(Square(</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5" name="Shape 22"/>
          <p:cNvSpPr/>
          <p:nvPr/>
        </p:nvSpPr>
        <p:spPr>
          <a:xfrm>
            <a:off x="7589520" y="3886200"/>
            <a:ext cx="4069080" cy="1005840"/>
          </a:xfrm>
          <a:prstGeom prst="roundRect">
            <a:avLst>
              <a:gd name="adj" fmla="val 10909"/>
            </a:avLst>
          </a:prstGeom>
          <a:solidFill>
            <a:srgbClr val="EEF1F6"/>
          </a:solidFill>
          <a:ln w="12700">
            <a:solidFill>
              <a:srgbClr val="EEF1F6"/>
            </a:solidFill>
            <a:prstDash val="solid"/>
          </a:ln>
        </p:spPr>
      </p:sp>
      <p:sp>
        <p:nvSpPr>
          <p:cNvPr id="26" name="Shape 23"/>
          <p:cNvSpPr/>
          <p:nvPr/>
        </p:nvSpPr>
        <p:spPr>
          <a:xfrm>
            <a:off x="7772400" y="4114800"/>
            <a:ext cx="548640" cy="548640"/>
          </a:xfrm>
          <a:prstGeom prst="ellipse">
            <a:avLst/>
          </a:prstGeom>
          <a:solidFill>
            <a:srgbClr val="2E9E6A"/>
          </a:solidFill>
          <a:ln w="12700">
            <a:solidFill>
              <a:srgbClr val="2E9E6A"/>
            </a:solidFill>
            <a:prstDash val="solid"/>
          </a:ln>
        </p:spPr>
      </p:sp>
      <p:pic>
        <p:nvPicPr>
          <p:cNvPr id="27" name="Image 0" descr="preencoded.png">    </p:cNvPr>
          <p:cNvPicPr>
            <a:picLocks noChangeAspect="1"/>
          </p:cNvPicPr>
          <p:nvPr/>
        </p:nvPicPr>
        <p:blipFill>
          <a:blip r:embed="rId1"/>
          <a:stretch>
            <a:fillRect/>
          </a:stretch>
        </p:blipFill>
        <p:spPr>
          <a:xfrm>
            <a:off x="7915046" y="4257446"/>
            <a:ext cx="263347" cy="263347"/>
          </a:xfrm>
          <a:prstGeom prst="rect">
            <a:avLst/>
          </a:prstGeom>
        </p:spPr>
      </p:pic>
      <p:sp>
        <p:nvSpPr>
          <p:cNvPr id="28" name="Text 24"/>
          <p:cNvSpPr txBox="1"/>
          <p:nvPr/>
        </p:nvSpPr>
        <p:spPr>
          <a:xfrm>
            <a:off x="8503920" y="3941064"/>
            <a:ext cx="3017520" cy="89611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Parameter x</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a variable that gets its value from the call</a:t>
            </a:r>
            <a:endParaRPr lang="en-US" sz="1400" dirty="0"/>
          </a:p>
        </p:txBody>
      </p:sp>
      <p:sp>
        <p:nvSpPr>
          <p:cNvPr id="29" name="Shape 25"/>
          <p:cNvSpPr/>
          <p:nvPr/>
        </p:nvSpPr>
        <p:spPr>
          <a:xfrm>
            <a:off x="7589520" y="5029200"/>
            <a:ext cx="4069080" cy="1051560"/>
          </a:xfrm>
          <a:prstGeom prst="roundRect">
            <a:avLst>
              <a:gd name="adj" fmla="val 10435"/>
            </a:avLst>
          </a:prstGeom>
          <a:solidFill>
            <a:srgbClr val="EEF1F6"/>
          </a:solidFill>
          <a:ln w="12700">
            <a:solidFill>
              <a:srgbClr val="EEF1F6"/>
            </a:solidFill>
            <a:prstDash val="solid"/>
          </a:ln>
        </p:spPr>
      </p:sp>
      <p:sp>
        <p:nvSpPr>
          <p:cNvPr id="30" name="Shape 26"/>
          <p:cNvSpPr/>
          <p:nvPr/>
        </p:nvSpPr>
        <p:spPr>
          <a:xfrm>
            <a:off x="7772400" y="5280660"/>
            <a:ext cx="548640" cy="548640"/>
          </a:xfrm>
          <a:prstGeom prst="ellipse">
            <a:avLst/>
          </a:prstGeom>
          <a:solidFill>
            <a:srgbClr val="B7791F"/>
          </a:solidFill>
          <a:ln w="12700">
            <a:solidFill>
              <a:srgbClr val="B7791F"/>
            </a:solidFill>
            <a:prstDash val="solid"/>
          </a:ln>
        </p:spPr>
      </p:sp>
      <p:pic>
        <p:nvPicPr>
          <p:cNvPr id="31" name="Image 1" descr="preencoded.png">    </p:cNvPr>
          <p:cNvPicPr>
            <a:picLocks noChangeAspect="1"/>
          </p:cNvPicPr>
          <p:nvPr/>
        </p:nvPicPr>
        <p:blipFill>
          <a:blip r:embed="rId2"/>
          <a:stretch>
            <a:fillRect/>
          </a:stretch>
        </p:blipFill>
        <p:spPr>
          <a:xfrm>
            <a:off x="7915046" y="5423306"/>
            <a:ext cx="263347" cy="263347"/>
          </a:xfrm>
          <a:prstGeom prst="rect">
            <a:avLst/>
          </a:prstGeom>
        </p:spPr>
      </p:pic>
      <p:sp>
        <p:nvSpPr>
          <p:cNvPr id="32" name="Text 27"/>
          <p:cNvSpPr txBox="1"/>
          <p:nvPr/>
        </p:nvSpPr>
        <p:spPr>
          <a:xfrm>
            <a:off x="8503920" y="5084064"/>
            <a:ext cx="3017520" cy="94183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Argument 5</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the value written in the call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METHODS IN A TOP-LEVEL PROGRAM</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Program.cs: statements first, local functions at the bottom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45920"/>
            <a:ext cx="5760720" cy="4434840"/>
          </a:xfrm>
          <a:prstGeom prst="roundRect">
            <a:avLst>
              <a:gd name="adj" fmla="val 2474"/>
            </a:avLst>
          </a:prstGeom>
          <a:solidFill>
            <a:srgbClr val="EEF1F6"/>
          </a:solidFill>
          <a:ln w="12700">
            <a:solidFill>
              <a:srgbClr val="EEF1F6"/>
            </a:solidFill>
            <a:prstDash val="solid"/>
          </a:ln>
        </p:spPr>
      </p:sp>
      <p:sp>
        <p:nvSpPr>
          <p:cNvPr id="8" name="Text 5"/>
          <p:cNvSpPr txBox="1"/>
          <p:nvPr/>
        </p:nvSpPr>
        <p:spPr>
          <a:xfrm>
            <a:off x="777240" y="1737360"/>
            <a:ext cx="5303520" cy="365760"/>
          </a:xfrm>
          <a:prstGeom prst="rect">
            <a:avLst/>
          </a:prstGeom>
          <a:noFill/>
          <a:ln/>
        </p:spPr>
        <p:txBody>
          <a:bodyPr wrap="square" lIns="0" tIns="0" rIns="0" bIns="0" rtlCol="0" anchor="ct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Program.cs</a:t>
            </a:r>
            <a:endParaRPr lang="en-US" sz="1500" dirty="0"/>
          </a:p>
        </p:txBody>
      </p:sp>
      <p:sp>
        <p:nvSpPr>
          <p:cNvPr id="9" name="Shape 6"/>
          <p:cNvSpPr/>
          <p:nvPr/>
        </p:nvSpPr>
        <p:spPr>
          <a:xfrm>
            <a:off x="777240" y="2148840"/>
            <a:ext cx="5303520" cy="1600200"/>
          </a:xfrm>
          <a:prstGeom prst="rect">
            <a:avLst/>
          </a:prstGeom>
          <a:solidFill>
            <a:srgbClr val="FFF1D6"/>
          </a:solidFill>
          <a:ln w="12700">
            <a:solidFill>
              <a:srgbClr val="B7791F"/>
            </a:solidFill>
            <a:prstDash val="solid"/>
          </a:ln>
        </p:spPr>
      </p:sp>
      <p:sp>
        <p:nvSpPr>
          <p:cNvPr id="10" name="Text 7"/>
          <p:cNvSpPr txBox="1"/>
          <p:nvPr/>
        </p:nvSpPr>
        <p:spPr>
          <a:xfrm>
            <a:off x="960120" y="2194560"/>
            <a:ext cx="4937760" cy="1508760"/>
          </a:xfrm>
          <a:prstGeom prst="rect">
            <a:avLst/>
          </a:prstGeom>
          <a:noFill/>
          <a:ln/>
        </p:spPr>
        <p:txBody>
          <a:bodyPr wrap="square" lIns="0" tIns="0" rIns="0" bIns="0" rtlCol="0" anchor="ctr"/>
          <a:lstStyle/>
          <a:p>
            <a:pPr indent="0" marL="0">
              <a:spcAft>
                <a:spcPts val="300"/>
              </a:spcAft>
              <a:buNone/>
            </a:pPr>
            <a:r>
              <a:rPr lang="en-US" sz="1400" b="1" dirty="0">
                <a:solidFill>
                  <a:srgbClr val="333B4F"/>
                </a:solidFill>
                <a:latin typeface="Calibri" pitchFamily="34" charset="0"/>
                <a:ea typeface="Calibri" pitchFamily="34" charset="-122"/>
                <a:cs typeface="Calibri" pitchFamily="34" charset="-120"/>
              </a:rPr>
              <a:t>① top-level statements</a:t>
            </a:r>
            <a:endParaRPr lang="en-US" sz="1400" dirty="0"/>
          </a:p>
          <a:p>
            <a:pPr indent="0" marL="0">
              <a:spcAft>
                <a:spcPts val="300"/>
              </a:spcAft>
              <a:buNone/>
            </a:pPr>
            <a:r>
              <a:rPr lang="en-US" sz="1400" dirty="0">
                <a:solidFill>
                  <a:srgbClr val="333B4F"/>
                </a:solidFill>
                <a:latin typeface="Calibri" pitchFamily="34" charset="0"/>
                <a:ea typeface="Calibri" pitchFamily="34" charset="-122"/>
                <a:cs typeface="Calibri" pitchFamily="34" charset="-120"/>
              </a:rPr>
              <a:t>run from top to bottom; the program starts here</a:t>
            </a:r>
            <a:endParaRPr lang="en-US" sz="1400" dirty="0"/>
          </a:p>
          <a:p>
            <a:pPr indent="0" marL="0">
              <a:spcAft>
                <a:spcPts val="300"/>
              </a:spcAft>
              <a:buNone/>
            </a:pPr>
            <a:r>
              <a:rPr lang="en-US" sz="1400" b="1" dirty="0">
                <a:solidFill>
                  <a:srgbClr val="2F6FB3"/>
                </a:solidFill>
                <a:latin typeface="Courier New" pitchFamily="34" charset="0"/>
                <a:ea typeface="Courier New" pitchFamily="34" charset="-122"/>
                <a:cs typeface="Courier New" pitchFamily="34" charset="-120"/>
              </a:rPr>
              <a:t>int y = Square(5);</a:t>
            </a:r>
            <a:endParaRPr lang="en-US" sz="1400" dirty="0"/>
          </a:p>
        </p:txBody>
      </p:sp>
      <p:sp>
        <p:nvSpPr>
          <p:cNvPr id="11" name="Shape 8"/>
          <p:cNvSpPr/>
          <p:nvPr/>
        </p:nvSpPr>
        <p:spPr>
          <a:xfrm>
            <a:off x="777240" y="3931920"/>
            <a:ext cx="5303520" cy="1965960"/>
          </a:xfrm>
          <a:prstGeom prst="rect">
            <a:avLst/>
          </a:prstGeom>
          <a:solidFill>
            <a:srgbClr val="E3ECF8"/>
          </a:solidFill>
          <a:ln w="12700">
            <a:solidFill>
              <a:srgbClr val="2F6FB3"/>
            </a:solidFill>
            <a:prstDash val="solid"/>
          </a:ln>
        </p:spPr>
      </p:sp>
      <p:sp>
        <p:nvSpPr>
          <p:cNvPr id="12" name="Text 9"/>
          <p:cNvSpPr txBox="1"/>
          <p:nvPr/>
        </p:nvSpPr>
        <p:spPr>
          <a:xfrm>
            <a:off x="960120" y="3977640"/>
            <a:ext cx="4480560" cy="1874520"/>
          </a:xfrm>
          <a:prstGeom prst="rect">
            <a:avLst/>
          </a:prstGeom>
          <a:noFill/>
          <a:ln/>
        </p:spPr>
        <p:txBody>
          <a:bodyPr wrap="square" lIns="0" tIns="0" rIns="0" bIns="0" rtlCol="0" anchor="ctr"/>
          <a:lstStyle/>
          <a:p>
            <a:pPr indent="0" marL="0">
              <a:spcAft>
                <a:spcPts val="300"/>
              </a:spcAft>
              <a:buNone/>
            </a:pPr>
            <a:r>
              <a:rPr lang="en-US" sz="1400" b="1" dirty="0">
                <a:solidFill>
                  <a:srgbClr val="333B4F"/>
                </a:solidFill>
                <a:latin typeface="Calibri" pitchFamily="34" charset="0"/>
                <a:ea typeface="Calibri" pitchFamily="34" charset="-122"/>
                <a:cs typeface="Calibri" pitchFamily="34" charset="-120"/>
              </a:rPr>
              <a:t>② local functions (methods)</a:t>
            </a:r>
            <a:endParaRPr lang="en-US" sz="1400" dirty="0"/>
          </a:p>
          <a:p>
            <a:pPr indent="0" marL="0">
              <a:spcAft>
                <a:spcPts val="300"/>
              </a:spcAft>
              <a:buNone/>
            </a:pPr>
            <a:r>
              <a:rPr lang="en-US" sz="1400" dirty="0">
                <a:solidFill>
                  <a:srgbClr val="333B4F"/>
                </a:solidFill>
                <a:latin typeface="Calibri" pitchFamily="34" charset="0"/>
                <a:ea typeface="Calibri" pitchFamily="34" charset="-122"/>
                <a:cs typeface="Calibri" pitchFamily="34" charset="-120"/>
              </a:rPr>
              <a:t>run only when called; any order</a:t>
            </a:r>
            <a:endParaRPr lang="en-US" sz="1400" dirty="0"/>
          </a:p>
          <a:p>
            <a:pPr indent="0" marL="0">
              <a:spcAft>
                <a:spcPts val="300"/>
              </a:spcAft>
              <a:buNone/>
            </a:pPr>
            <a:r>
              <a:rPr lang="en-US" sz="1400" dirty="0">
                <a:solidFill>
                  <a:srgbClr val="5B6478"/>
                </a:solidFill>
                <a:latin typeface="Courier New" pitchFamily="34" charset="0"/>
                <a:ea typeface="Courier New" pitchFamily="34" charset="-122"/>
                <a:cs typeface="Courier New" pitchFamily="34" charset="-120"/>
              </a:rPr>
              <a:t>// returns x * x</a:t>
            </a:r>
            <a:endParaRPr lang="en-US" sz="1400" dirty="0"/>
          </a:p>
          <a:p>
            <a:pPr indent="0" marL="0">
              <a:spcAft>
                <a:spcPts val="300"/>
              </a:spcAft>
              <a:buNone/>
            </a:pPr>
            <a:r>
              <a:rPr lang="en-US" sz="1400" b="1" dirty="0">
                <a:solidFill>
                  <a:srgbClr val="2F6FB3"/>
                </a:solidFill>
                <a:latin typeface="Courier New" pitchFamily="34" charset="0"/>
                <a:ea typeface="Courier New" pitchFamily="34" charset="-122"/>
                <a:cs typeface="Courier New" pitchFamily="34" charset="-120"/>
              </a:rPr>
              <a:t>static int Square(int x) { … }</a:t>
            </a:r>
            <a:endParaRPr lang="en-US" sz="1400" dirty="0"/>
          </a:p>
        </p:txBody>
      </p:sp>
      <p:sp>
        <p:nvSpPr>
          <p:cNvPr id="13" name="Shape 10"/>
          <p:cNvSpPr/>
          <p:nvPr/>
        </p:nvSpPr>
        <p:spPr>
          <a:xfrm>
            <a:off x="4114800" y="3520440"/>
            <a:ext cx="1645920" cy="0"/>
          </a:xfrm>
          <a:prstGeom prst="line">
            <a:avLst/>
          </a:prstGeom>
          <a:noFill/>
          <a:ln w="15875">
            <a:solidFill>
              <a:srgbClr val="2F6FB3"/>
            </a:solidFill>
            <a:prstDash val="solid"/>
          </a:ln>
        </p:spPr>
      </p:sp>
      <p:sp>
        <p:nvSpPr>
          <p:cNvPr id="14" name="Shape 11"/>
          <p:cNvSpPr/>
          <p:nvPr/>
        </p:nvSpPr>
        <p:spPr>
          <a:xfrm>
            <a:off x="5760720" y="3520440"/>
            <a:ext cx="0" cy="1051560"/>
          </a:xfrm>
          <a:prstGeom prst="line">
            <a:avLst/>
          </a:prstGeom>
          <a:noFill/>
          <a:ln w="15875">
            <a:solidFill>
              <a:srgbClr val="2F6FB3"/>
            </a:solidFill>
            <a:prstDash val="solid"/>
          </a:ln>
        </p:spPr>
      </p:sp>
      <p:sp>
        <p:nvSpPr>
          <p:cNvPr id="15" name="Shape 12"/>
          <p:cNvSpPr/>
          <p:nvPr/>
        </p:nvSpPr>
        <p:spPr>
          <a:xfrm flipH="1">
            <a:off x="5486400" y="4572000"/>
            <a:ext cx="274320" cy="0"/>
          </a:xfrm>
          <a:prstGeom prst="line">
            <a:avLst/>
          </a:prstGeom>
          <a:noFill/>
          <a:ln w="15875">
            <a:solidFill>
              <a:srgbClr val="2F6FB3"/>
            </a:solidFill>
            <a:prstDash val="solid"/>
            <a:tailEnd type="triangle"/>
          </a:ln>
        </p:spPr>
      </p:sp>
      <p:sp>
        <p:nvSpPr>
          <p:cNvPr id="16" name="Text 13"/>
          <p:cNvSpPr txBox="1"/>
          <p:nvPr/>
        </p:nvSpPr>
        <p:spPr>
          <a:xfrm>
            <a:off x="4663440" y="3200400"/>
            <a:ext cx="1188720" cy="274320"/>
          </a:xfrm>
          <a:prstGeom prst="rect">
            <a:avLst/>
          </a:prstGeom>
          <a:noFill/>
          <a:ln/>
        </p:spPr>
        <p:txBody>
          <a:bodyPr wrap="square" lIns="0" tIns="0" rIns="0" bIns="0" rtlCol="0" anchor="ctr"/>
          <a:lstStyle/>
          <a:p>
            <a:pPr algn="l" indent="0" marL="0">
              <a:buNone/>
            </a:pPr>
            <a:r>
              <a:rPr lang="en-US" sz="1200" b="1" dirty="0">
                <a:solidFill>
                  <a:srgbClr val="2F6FB3"/>
                </a:solidFill>
                <a:latin typeface="Calibri" pitchFamily="34" charset="0"/>
                <a:ea typeface="Calibri" pitchFamily="34" charset="-122"/>
                <a:cs typeface="Calibri" pitchFamily="34" charset="-120"/>
              </a:rPr>
              <a:t>call</a:t>
            </a:r>
            <a:endParaRPr lang="en-US" sz="1200" dirty="0"/>
          </a:p>
        </p:txBody>
      </p:sp>
      <p:sp>
        <p:nvSpPr>
          <p:cNvPr id="17" name="Shape 14"/>
          <p:cNvSpPr/>
          <p:nvPr/>
        </p:nvSpPr>
        <p:spPr>
          <a:xfrm>
            <a:off x="6537960" y="1645920"/>
            <a:ext cx="5120640" cy="2971800"/>
          </a:xfrm>
          <a:prstGeom prst="roundRect">
            <a:avLst>
              <a:gd name="adj" fmla="val 3077"/>
            </a:avLst>
          </a:prstGeom>
          <a:solidFill>
            <a:srgbClr val="0F1729"/>
          </a:solidFill>
          <a:ln w="12700">
            <a:solidFill>
              <a:srgbClr val="0F1729"/>
            </a:solidFill>
            <a:prstDash val="solid"/>
          </a:ln>
        </p:spPr>
      </p:sp>
      <p:sp>
        <p:nvSpPr>
          <p:cNvPr id="18" name="Text 15"/>
          <p:cNvSpPr txBox="1"/>
          <p:nvPr/>
        </p:nvSpPr>
        <p:spPr>
          <a:xfrm>
            <a:off x="676656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what the compiler builds (classic form)</a:t>
            </a:r>
            <a:endParaRPr lang="en-US" sz="1100" dirty="0"/>
          </a:p>
        </p:txBody>
      </p:sp>
      <p:sp>
        <p:nvSpPr>
          <p:cNvPr id="19" name="Text 16"/>
          <p:cNvSpPr txBox="1"/>
          <p:nvPr/>
        </p:nvSpPr>
        <p:spPr>
          <a:xfrm>
            <a:off x="6766560" y="2057400"/>
            <a:ext cx="4663440" cy="245059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class</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Program</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Main()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y = Square(</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Square(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 …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0" name="Shape 17"/>
          <p:cNvSpPr/>
          <p:nvPr/>
        </p:nvSpPr>
        <p:spPr>
          <a:xfrm>
            <a:off x="6537960" y="4754880"/>
            <a:ext cx="5120640" cy="1325880"/>
          </a:xfrm>
          <a:prstGeom prst="roundRect">
            <a:avLst>
              <a:gd name="adj" fmla="val 8276"/>
            </a:avLst>
          </a:prstGeom>
          <a:solidFill>
            <a:srgbClr val="FBE9E7"/>
          </a:solidFill>
          <a:ln w="12700">
            <a:solidFill>
              <a:srgbClr val="FBE9E7"/>
            </a:solidFill>
            <a:prstDash val="solid"/>
          </a:ln>
        </p:spPr>
      </p:sp>
      <p:sp>
        <p:nvSpPr>
          <p:cNvPr id="21" name="Text 18"/>
          <p:cNvSpPr txBox="1"/>
          <p:nvPr/>
        </p:nvSpPr>
        <p:spPr>
          <a:xfrm>
            <a:off x="6766560" y="4800600"/>
            <a:ext cx="4663440" cy="1234440"/>
          </a:xfrm>
          <a:prstGeom prst="rect">
            <a:avLst/>
          </a:prstGeom>
          <a:noFill/>
          <a:ln/>
        </p:spPr>
        <p:txBody>
          <a:bodyPr wrap="square" lIns="0" tIns="0" rIns="0" bIns="0" rtlCol="0" anchor="ctr"/>
          <a:lstStyle/>
          <a:p>
            <a:pPr indent="0" marL="0">
              <a:buNone/>
            </a:pPr>
            <a:r>
              <a:rPr lang="en-US" sz="1400" b="1" dirty="0">
                <a:solidFill>
                  <a:srgbClr val="C8453B"/>
                </a:solidFill>
                <a:latin typeface="Calibri" pitchFamily="34" charset="0"/>
                <a:ea typeface="Calibri" pitchFamily="34" charset="-122"/>
                <a:cs typeface="Calibri" pitchFamily="34" charset="-120"/>
              </a:rPr>
              <a:t>static local function: </a:t>
            </a:r>
            <a:pPr indent="0" marL="0">
              <a:buNone/>
            </a:pPr>
            <a:r>
              <a:rPr lang="en-US" sz="1400" dirty="0">
                <a:solidFill>
                  <a:srgbClr val="333B4F"/>
                </a:solidFill>
                <a:latin typeface="Calibri" pitchFamily="34" charset="0"/>
                <a:ea typeface="Calibri" pitchFamily="34" charset="-122"/>
                <a:cs typeface="Calibri" pitchFamily="34" charset="-120"/>
              </a:rPr>
              <a:t>cannot use main-program variables (CS8421). Pass them as parameters.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12_02_FIRSTMETHODS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Four small methods: one void, three value-returning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45920"/>
            <a:ext cx="6675120" cy="1965960"/>
          </a:xfrm>
          <a:prstGeom prst="roundRect">
            <a:avLst>
              <a:gd name="adj" fmla="val 4651"/>
            </a:avLst>
          </a:prstGeom>
          <a:solidFill>
            <a:srgbClr val="0F1729"/>
          </a:solidFill>
          <a:ln w="12700">
            <a:solidFill>
              <a:srgbClr val="0F1729"/>
            </a:solidFill>
            <a:prstDash val="solid"/>
          </a:ln>
        </p:spPr>
      </p:sp>
      <p:sp>
        <p:nvSpPr>
          <p:cNvPr id="8" name="Text 5"/>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void: does something</a:t>
            </a:r>
            <a:endParaRPr lang="en-US" sz="1100" dirty="0"/>
          </a:p>
        </p:txBody>
      </p:sp>
      <p:sp>
        <p:nvSpPr>
          <p:cNvPr id="9" name="Text 6"/>
          <p:cNvSpPr txBox="1"/>
          <p:nvPr/>
        </p:nvSpPr>
        <p:spPr>
          <a:xfrm>
            <a:off x="777240" y="2057400"/>
            <a:ext cx="6217920" cy="144475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prints a greeting; void = it returns nothing</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Greet(</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name)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$"Hello, {name}! Welcome to MCMP113."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3749040"/>
            <a:ext cx="6675120" cy="2331720"/>
          </a:xfrm>
          <a:prstGeom prst="roundRect">
            <a:avLst>
              <a:gd name="adj" fmla="val 3922"/>
            </a:avLst>
          </a:prstGeom>
          <a:solidFill>
            <a:srgbClr val="0F1729"/>
          </a:solidFill>
          <a:ln w="12700">
            <a:solidFill>
              <a:srgbClr val="0F1729"/>
            </a:solidFill>
            <a:prstDash val="solid"/>
          </a:ln>
        </p:spPr>
      </p:sp>
      <p:sp>
        <p:nvSpPr>
          <p:cNvPr id="11" name="Text 8"/>
          <p:cNvSpPr txBox="1"/>
          <p:nvPr/>
        </p:nvSpPr>
        <p:spPr>
          <a:xfrm>
            <a:off x="777240" y="385876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returns a double</a:t>
            </a:r>
            <a:endParaRPr lang="en-US" sz="1100" dirty="0"/>
          </a:p>
        </p:txBody>
      </p:sp>
      <p:sp>
        <p:nvSpPr>
          <p:cNvPr id="12" name="Text 9"/>
          <p:cNvSpPr txBox="1"/>
          <p:nvPr/>
        </p:nvSpPr>
        <p:spPr>
          <a:xfrm>
            <a:off x="777240" y="4160520"/>
            <a:ext cx="6217920" cy="181051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returns the area of a circle with the given radius</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CircleArea(</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radius)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.PI * radius * radius;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7406640" y="1645920"/>
            <a:ext cx="4251960" cy="2926080"/>
          </a:xfrm>
          <a:prstGeom prst="roundRect">
            <a:avLst>
              <a:gd name="adj" fmla="val 3125"/>
            </a:avLst>
          </a:prstGeom>
          <a:solidFill>
            <a:srgbClr val="0F1729"/>
          </a:solidFill>
          <a:ln w="12700">
            <a:solidFill>
              <a:srgbClr val="0F1729"/>
            </a:solidFill>
            <a:prstDash val="solid"/>
          </a:ln>
        </p:spPr>
      </p:sp>
      <p:sp>
        <p:nvSpPr>
          <p:cNvPr id="14" name="Text 11"/>
          <p:cNvSpPr txBox="1"/>
          <p:nvPr/>
        </p:nvSpPr>
        <p:spPr>
          <a:xfrm>
            <a:off x="7635240" y="1755648"/>
            <a:ext cx="3794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return int values; Cube calls Square</a:t>
            </a:r>
            <a:endParaRPr lang="en-US" sz="1100" dirty="0"/>
          </a:p>
        </p:txBody>
      </p:sp>
      <p:sp>
        <p:nvSpPr>
          <p:cNvPr id="15" name="Text 12"/>
          <p:cNvSpPr txBox="1"/>
          <p:nvPr/>
        </p:nvSpPr>
        <p:spPr>
          <a:xfrm>
            <a:off x="7635240" y="2057400"/>
            <a:ext cx="3794760" cy="240487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returns x * x</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Square(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 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returns x * x * x by calling Square</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Cube(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Square(x) * 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6" name="Shape 13"/>
          <p:cNvSpPr/>
          <p:nvPr/>
        </p:nvSpPr>
        <p:spPr>
          <a:xfrm>
            <a:off x="7406640" y="4709160"/>
            <a:ext cx="4251960" cy="1371600"/>
          </a:xfrm>
          <a:prstGeom prst="roundRect">
            <a:avLst>
              <a:gd name="adj" fmla="val 8000"/>
            </a:avLst>
          </a:prstGeom>
          <a:solidFill>
            <a:srgbClr val="EEF1F6"/>
          </a:solidFill>
          <a:ln w="12700">
            <a:solidFill>
              <a:srgbClr val="EEF1F6"/>
            </a:solidFill>
            <a:prstDash val="solid"/>
          </a:ln>
        </p:spPr>
      </p:sp>
      <p:sp>
        <p:nvSpPr>
          <p:cNvPr id="17" name="Shape 14"/>
          <p:cNvSpPr/>
          <p:nvPr/>
        </p:nvSpPr>
        <p:spPr>
          <a:xfrm>
            <a:off x="7589520" y="5120640"/>
            <a:ext cx="548640" cy="548640"/>
          </a:xfrm>
          <a:prstGeom prst="ellipse">
            <a:avLst/>
          </a:prstGeom>
          <a:solidFill>
            <a:srgbClr val="B7791F"/>
          </a:solidFill>
          <a:ln w="12700">
            <a:solidFill>
              <a:srgbClr val="B7791F"/>
            </a:solidFill>
            <a:prstDash val="solid"/>
          </a:ln>
        </p:spPr>
      </p:sp>
      <p:pic>
        <p:nvPicPr>
          <p:cNvPr id="18" name="Image 0" descr="preencoded.png">    </p:cNvPr>
          <p:cNvPicPr>
            <a:picLocks noChangeAspect="1"/>
          </p:cNvPicPr>
          <p:nvPr/>
        </p:nvPicPr>
        <p:blipFill>
          <a:blip r:embed="rId1"/>
          <a:stretch>
            <a:fillRect/>
          </a:stretch>
        </p:blipFill>
        <p:spPr>
          <a:xfrm>
            <a:off x="7732166" y="5263286"/>
            <a:ext cx="263347" cy="263347"/>
          </a:xfrm>
          <a:prstGeom prst="rect">
            <a:avLst/>
          </a:prstGeom>
        </p:spPr>
      </p:pic>
      <p:sp>
        <p:nvSpPr>
          <p:cNvPr id="19" name="Text 15"/>
          <p:cNvSpPr txBox="1"/>
          <p:nvPr/>
        </p:nvSpPr>
        <p:spPr>
          <a:xfrm>
            <a:off x="8321040" y="4764024"/>
            <a:ext cx="320040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You already call methods</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Console.WriteLine, int.Parse, Math.Sqrt: written by Microsoft.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CALLING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Calling: a statement, or a value inside an expression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45920"/>
            <a:ext cx="60350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 top-level statements</a:t>
            </a:r>
            <a:endParaRPr lang="en-US" sz="1100" dirty="0"/>
          </a:p>
        </p:txBody>
      </p:sp>
      <p:sp>
        <p:nvSpPr>
          <p:cNvPr id="9" name="Text 6"/>
          <p:cNvSpPr txBox="1"/>
          <p:nvPr/>
        </p:nvSpPr>
        <p:spPr>
          <a:xfrm>
            <a:off x="777240" y="2057400"/>
            <a:ext cx="5577840" cy="391363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Greet(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"Elif"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Greet(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"Mehmet"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"Enter an integer: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$"Square({n}) = {Square(n)}"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$"Cube({n}) = {Cube(n)}"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Square(</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Square(</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calls in an expression</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$"Square(3) + Square(4) = {sum}"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"Radius in cm: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area = CircleArea(r);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store the result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$"Area = {area:F2} cm^2"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812280" y="1645920"/>
            <a:ext cx="4846320" cy="2514600"/>
          </a:xfrm>
          <a:prstGeom prst="roundRect">
            <a:avLst>
              <a:gd name="adj" fmla="val 3636"/>
            </a:avLst>
          </a:prstGeom>
          <a:solidFill>
            <a:srgbClr val="0B0F19"/>
          </a:solidFill>
          <a:ln w="12700">
            <a:solidFill>
              <a:srgbClr val="2A3654"/>
            </a:solidFill>
            <a:prstDash val="solid"/>
          </a:ln>
        </p:spPr>
      </p:sp>
      <p:sp>
        <p:nvSpPr>
          <p:cNvPr id="11" name="Shape 8"/>
          <p:cNvSpPr/>
          <p:nvPr/>
        </p:nvSpPr>
        <p:spPr>
          <a:xfrm>
            <a:off x="699516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22376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45236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726680" y="1719072"/>
            <a:ext cx="37490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040880" y="2029968"/>
            <a:ext cx="4389120" cy="20116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Hello, Elif! Welcome to MCMP113.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Hello, Mehmet! Welcome to MCMP113.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an integer: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Square(7) = 49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Cube(7) = 343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Square(3) + Square(4) = 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Radius in cm: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Area = 19.63 cm^2</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12280" y="4343400"/>
          <a:ext cx="4846320" cy="914400"/>
        </p:xfrm>
        <a:graphic>
          <a:graphicData uri="http://schemas.openxmlformats.org/drawingml/2006/table">
            <a:tbl>
              <a:tblPr/>
              <a:tblGrid>
                <a:gridCol w="2103120"/>
                <a:gridCol w="1463040"/>
                <a:gridCol w="128016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kind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Greet("Elif")</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statement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Square(7)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expression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CircleArea(2.5)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expression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19.634…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VOID VS VALUE-RETURNING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Does the method DO something or COMPUTE something?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1463040"/>
                <a:gridCol w="4663440"/>
                <a:gridCol w="4983480"/>
              </a:tblGrid>
              <a:tr h="457200">
                <a:tc>
                  <a:txBody>
                    <a:bodyPr/>
                    <a:lstStyle/>
                    <a:p>
                      <a:pPr algn="l" indent="0" marL="0">
                        <a:buNone/>
                      </a:pP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void method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value-returning method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header</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static void Greet(string name)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static int Square(int x)</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purpose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an action: print, change an array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 computation: gives a result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return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none (or return; to leave early)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return value; required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call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Greet("Elif");</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int y = Square(5);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names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PrintLine, ShowMenu, Swap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Square, Average, IsPrime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572000"/>
            <a:ext cx="5486400" cy="1508760"/>
          </a:xfrm>
          <a:prstGeom prst="roundRect">
            <a:avLst>
              <a:gd name="adj" fmla="val 6061"/>
            </a:avLst>
          </a:prstGeom>
          <a:solidFill>
            <a:srgbClr val="0F1729"/>
          </a:solidFill>
          <a:ln w="12700">
            <a:solidFill>
              <a:srgbClr val="0F1729"/>
            </a:solidFill>
            <a:prstDash val="solid"/>
          </a:ln>
        </p:spPr>
      </p:sp>
      <p:sp>
        <p:nvSpPr>
          <p:cNvPr id="9" name="Text 5"/>
          <p:cNvSpPr txBox="1"/>
          <p:nvPr/>
        </p:nvSpPr>
        <p:spPr>
          <a:xfrm>
            <a:off x="777240" y="468172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void has no value</a:t>
            </a:r>
            <a:endParaRPr lang="en-US" sz="1100" dirty="0"/>
          </a:p>
        </p:txBody>
      </p:sp>
      <p:sp>
        <p:nvSpPr>
          <p:cNvPr id="10" name="Text 6"/>
          <p:cNvSpPr txBox="1"/>
          <p:nvPr/>
        </p:nvSpPr>
        <p:spPr>
          <a:xfrm>
            <a:off x="777240" y="4983480"/>
            <a:ext cx="5029200" cy="98755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Greet(</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"Ali"</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error CS0029: Cannot implicitly convert</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type 'void' to 'int'</a:t>
            </a:r>
            <a:endParaRPr lang="en-US" sz="1300" dirty="0"/>
          </a:p>
        </p:txBody>
      </p:sp>
      <p:sp>
        <p:nvSpPr>
          <p:cNvPr id="11" name="Shape 7"/>
          <p:cNvSpPr/>
          <p:nvPr/>
        </p:nvSpPr>
        <p:spPr>
          <a:xfrm>
            <a:off x="6172200" y="4572000"/>
            <a:ext cx="5486400" cy="1508760"/>
          </a:xfrm>
          <a:prstGeom prst="roundRect">
            <a:avLst>
              <a:gd name="adj" fmla="val 6061"/>
            </a:avLst>
          </a:prstGeom>
          <a:solidFill>
            <a:srgbClr val="0F1729"/>
          </a:solidFill>
          <a:ln w="12700">
            <a:solidFill>
              <a:srgbClr val="0F1729"/>
            </a:solidFill>
            <a:prstDash val="solid"/>
          </a:ln>
        </p:spPr>
      </p:sp>
      <p:sp>
        <p:nvSpPr>
          <p:cNvPr id="12" name="Text 8"/>
          <p:cNvSpPr txBox="1"/>
          <p:nvPr/>
        </p:nvSpPr>
        <p:spPr>
          <a:xfrm>
            <a:off x="6400800" y="468172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every path must return</a:t>
            </a:r>
            <a:endParaRPr lang="en-US" sz="1100" dirty="0"/>
          </a:p>
        </p:txBody>
      </p:sp>
      <p:sp>
        <p:nvSpPr>
          <p:cNvPr id="13" name="Text 9"/>
          <p:cNvSpPr txBox="1"/>
          <p:nvPr/>
        </p:nvSpPr>
        <p:spPr>
          <a:xfrm>
            <a:off x="6400800" y="4983480"/>
            <a:ext cx="5029200" cy="98755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Sign(</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error CS0161: 'Sign(int)': not all code</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paths return a value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Calls and the call stack</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What happens step by step · stack frames · parameters vs arguments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12</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 CALL, STEP BY STEP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double c = Hypotenuse(a, b);  — six steps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45920"/>
            <a:ext cx="3108960" cy="1371600"/>
          </a:xfrm>
          <a:prstGeom prst="roundRect">
            <a:avLst>
              <a:gd name="adj" fmla="val 8000"/>
            </a:avLst>
          </a:prstGeom>
          <a:solidFill>
            <a:srgbClr val="EEF1F6"/>
          </a:solidFill>
          <a:ln w="12700">
            <a:solidFill>
              <a:srgbClr val="EEF1F6"/>
            </a:solidFill>
            <a:prstDash val="solid"/>
          </a:ln>
        </p:spPr>
      </p:sp>
      <p:sp>
        <p:nvSpPr>
          <p:cNvPr id="8" name="Text 5"/>
          <p:cNvSpPr txBox="1"/>
          <p:nvPr/>
        </p:nvSpPr>
        <p:spPr>
          <a:xfrm>
            <a:off x="685800" y="1783080"/>
            <a:ext cx="548640" cy="548640"/>
          </a:xfrm>
          <a:prstGeom prst="rect">
            <a:avLst/>
          </a:prstGeom>
          <a:noFill/>
          <a:ln/>
        </p:spPr>
        <p:txBody>
          <a:bodyPr wrap="square" lIns="0" tIns="0" rIns="0" bIns="0" rtlCol="0" anchor="ctr"/>
          <a:lstStyle/>
          <a:p>
            <a:pPr indent="0" marL="0">
              <a:buNone/>
            </a:pPr>
            <a:r>
              <a:rPr lang="en-US" sz="2600" b="1" dirty="0">
                <a:solidFill>
                  <a:srgbClr val="B7791F"/>
                </a:solidFill>
                <a:latin typeface="Courier New" pitchFamily="34" charset="0"/>
                <a:ea typeface="Courier New" pitchFamily="34" charset="-122"/>
                <a:cs typeface="Courier New" pitchFamily="34" charset="-120"/>
              </a:rPr>
              <a:t>1</a:t>
            </a:r>
            <a:endParaRPr lang="en-US" sz="2600" dirty="0"/>
          </a:p>
        </p:txBody>
      </p:sp>
      <p:sp>
        <p:nvSpPr>
          <p:cNvPr id="9" name="Text 6"/>
          <p:cNvSpPr txBox="1"/>
          <p:nvPr/>
        </p:nvSpPr>
        <p:spPr>
          <a:xfrm>
            <a:off x="1188720" y="1737360"/>
            <a:ext cx="2377440" cy="1188720"/>
          </a:xfrm>
          <a:prstGeom prst="rect">
            <a:avLst/>
          </a:prstGeom>
          <a:noFill/>
          <a:ln/>
        </p:spPr>
        <p:txBody>
          <a:bodyPr wrap="square" lIns="0" tIns="0" rIns="0" bIns="0" rtlCol="0" anchor="ctr"/>
          <a:lstStyle/>
          <a:p>
            <a:pPr indent="0" marL="0">
              <a:spcAft>
                <a:spcPts val="300"/>
              </a:spcAft>
              <a:buNone/>
            </a:pPr>
            <a:r>
              <a:rPr lang="en-US" sz="1500" b="1" dirty="0">
                <a:solidFill>
                  <a:srgbClr val="333B4F"/>
                </a:solidFill>
                <a:latin typeface="Cambria" pitchFamily="34" charset="0"/>
                <a:ea typeface="Cambria" pitchFamily="34" charset="-122"/>
                <a:cs typeface="Cambria" pitchFamily="34" charset="-120"/>
              </a:rPr>
              <a:t>Evaluate the arguments</a:t>
            </a:r>
            <a:endParaRPr lang="en-US" sz="1500" dirty="0"/>
          </a:p>
          <a:p>
            <a:pPr indent="0" marL="0">
              <a:spcAft>
                <a:spcPts val="300"/>
              </a:spcAft>
              <a:buNone/>
            </a:pPr>
            <a:r>
              <a:rPr lang="en-US" sz="1300" dirty="0">
                <a:solidFill>
                  <a:srgbClr val="5B6478"/>
                </a:solidFill>
                <a:latin typeface="Courier New" pitchFamily="34" charset="0"/>
                <a:ea typeface="Courier New" pitchFamily="34" charset="-122"/>
                <a:cs typeface="Courier New" pitchFamily="34" charset="-120"/>
              </a:rPr>
              <a:t>a → 3, b → 4</a:t>
            </a:r>
            <a:endParaRPr lang="en-US" sz="1500" dirty="0"/>
          </a:p>
        </p:txBody>
      </p:sp>
      <p:sp>
        <p:nvSpPr>
          <p:cNvPr id="10" name="Shape 7"/>
          <p:cNvSpPr/>
          <p:nvPr/>
        </p:nvSpPr>
        <p:spPr>
          <a:xfrm>
            <a:off x="3749040" y="1645920"/>
            <a:ext cx="3108960" cy="1371600"/>
          </a:xfrm>
          <a:prstGeom prst="roundRect">
            <a:avLst>
              <a:gd name="adj" fmla="val 8000"/>
            </a:avLst>
          </a:prstGeom>
          <a:solidFill>
            <a:srgbClr val="FFF1D6"/>
          </a:solidFill>
          <a:ln w="12700">
            <a:solidFill>
              <a:srgbClr val="FFF1D6"/>
            </a:solidFill>
            <a:prstDash val="solid"/>
          </a:ln>
        </p:spPr>
      </p:sp>
      <p:sp>
        <p:nvSpPr>
          <p:cNvPr id="11" name="Text 8"/>
          <p:cNvSpPr txBox="1"/>
          <p:nvPr/>
        </p:nvSpPr>
        <p:spPr>
          <a:xfrm>
            <a:off x="3886200" y="1783080"/>
            <a:ext cx="548640" cy="548640"/>
          </a:xfrm>
          <a:prstGeom prst="rect">
            <a:avLst/>
          </a:prstGeom>
          <a:noFill/>
          <a:ln/>
        </p:spPr>
        <p:txBody>
          <a:bodyPr wrap="square" lIns="0" tIns="0" rIns="0" bIns="0" rtlCol="0" anchor="ctr"/>
          <a:lstStyle/>
          <a:p>
            <a:pPr indent="0" marL="0">
              <a:buNone/>
            </a:pPr>
            <a:r>
              <a:rPr lang="en-US" sz="2600" b="1" dirty="0">
                <a:solidFill>
                  <a:srgbClr val="B7791F"/>
                </a:solidFill>
                <a:latin typeface="Courier New" pitchFamily="34" charset="0"/>
                <a:ea typeface="Courier New" pitchFamily="34" charset="-122"/>
                <a:cs typeface="Courier New" pitchFamily="34" charset="-120"/>
              </a:rPr>
              <a:t>2</a:t>
            </a:r>
            <a:endParaRPr lang="en-US" sz="2600" dirty="0"/>
          </a:p>
        </p:txBody>
      </p:sp>
      <p:sp>
        <p:nvSpPr>
          <p:cNvPr id="12" name="Text 9"/>
          <p:cNvSpPr txBox="1"/>
          <p:nvPr/>
        </p:nvSpPr>
        <p:spPr>
          <a:xfrm>
            <a:off x="4389120" y="1737360"/>
            <a:ext cx="2377440" cy="1188720"/>
          </a:xfrm>
          <a:prstGeom prst="rect">
            <a:avLst/>
          </a:prstGeom>
          <a:noFill/>
          <a:ln/>
        </p:spPr>
        <p:txBody>
          <a:bodyPr wrap="square" lIns="0" tIns="0" rIns="0" bIns="0" rtlCol="0" anchor="ctr"/>
          <a:lstStyle/>
          <a:p>
            <a:pPr indent="0" marL="0">
              <a:spcAft>
                <a:spcPts val="300"/>
              </a:spcAft>
              <a:buNone/>
            </a:pPr>
            <a:r>
              <a:rPr lang="en-US" sz="1500" b="1" dirty="0">
                <a:solidFill>
                  <a:srgbClr val="333B4F"/>
                </a:solidFill>
                <a:latin typeface="Cambria" pitchFamily="34" charset="0"/>
                <a:ea typeface="Cambria" pitchFamily="34" charset="-122"/>
                <a:cs typeface="Cambria" pitchFamily="34" charset="-120"/>
              </a:rPr>
              <a:t>New frame, copy values</a:t>
            </a:r>
            <a:endParaRPr lang="en-US" sz="1500" dirty="0"/>
          </a:p>
          <a:p>
            <a:pPr indent="0" marL="0">
              <a:spcAft>
                <a:spcPts val="300"/>
              </a:spcAft>
              <a:buNone/>
            </a:pPr>
            <a:r>
              <a:rPr lang="en-US" sz="1300" dirty="0">
                <a:solidFill>
                  <a:srgbClr val="5B6478"/>
                </a:solidFill>
                <a:latin typeface="Courier New" pitchFamily="34" charset="0"/>
                <a:ea typeface="Courier New" pitchFamily="34" charset="-122"/>
                <a:cs typeface="Courier New" pitchFamily="34" charset="-120"/>
              </a:rPr>
              <a:t>x ← 3, y ← 4</a:t>
            </a:r>
            <a:endParaRPr lang="en-US" sz="1500" dirty="0"/>
          </a:p>
        </p:txBody>
      </p:sp>
      <p:sp>
        <p:nvSpPr>
          <p:cNvPr id="13" name="Shape 10"/>
          <p:cNvSpPr/>
          <p:nvPr/>
        </p:nvSpPr>
        <p:spPr>
          <a:xfrm>
            <a:off x="548640" y="3154680"/>
            <a:ext cx="3108960" cy="1371600"/>
          </a:xfrm>
          <a:prstGeom prst="roundRect">
            <a:avLst>
              <a:gd name="adj" fmla="val 8000"/>
            </a:avLst>
          </a:prstGeom>
          <a:solidFill>
            <a:srgbClr val="EEF1F6"/>
          </a:solidFill>
          <a:ln w="12700">
            <a:solidFill>
              <a:srgbClr val="EEF1F6"/>
            </a:solidFill>
            <a:prstDash val="solid"/>
          </a:ln>
        </p:spPr>
      </p:sp>
      <p:sp>
        <p:nvSpPr>
          <p:cNvPr id="14" name="Text 11"/>
          <p:cNvSpPr txBox="1"/>
          <p:nvPr/>
        </p:nvSpPr>
        <p:spPr>
          <a:xfrm>
            <a:off x="685800" y="3291840"/>
            <a:ext cx="548640" cy="548640"/>
          </a:xfrm>
          <a:prstGeom prst="rect">
            <a:avLst/>
          </a:prstGeom>
          <a:noFill/>
          <a:ln/>
        </p:spPr>
        <p:txBody>
          <a:bodyPr wrap="square" lIns="0" tIns="0" rIns="0" bIns="0" rtlCol="0" anchor="ctr"/>
          <a:lstStyle/>
          <a:p>
            <a:pPr indent="0" marL="0">
              <a:buNone/>
            </a:pPr>
            <a:r>
              <a:rPr lang="en-US" sz="2600" b="1" dirty="0">
                <a:solidFill>
                  <a:srgbClr val="B7791F"/>
                </a:solidFill>
                <a:latin typeface="Courier New" pitchFamily="34" charset="0"/>
                <a:ea typeface="Courier New" pitchFamily="34" charset="-122"/>
                <a:cs typeface="Courier New" pitchFamily="34" charset="-120"/>
              </a:rPr>
              <a:t>3</a:t>
            </a:r>
            <a:endParaRPr lang="en-US" sz="2600" dirty="0"/>
          </a:p>
        </p:txBody>
      </p:sp>
      <p:sp>
        <p:nvSpPr>
          <p:cNvPr id="15" name="Text 12"/>
          <p:cNvSpPr txBox="1"/>
          <p:nvPr/>
        </p:nvSpPr>
        <p:spPr>
          <a:xfrm>
            <a:off x="1188720" y="3246120"/>
            <a:ext cx="2377440" cy="1188720"/>
          </a:xfrm>
          <a:prstGeom prst="rect">
            <a:avLst/>
          </a:prstGeom>
          <a:noFill/>
          <a:ln/>
        </p:spPr>
        <p:txBody>
          <a:bodyPr wrap="square" lIns="0" tIns="0" rIns="0" bIns="0" rtlCol="0" anchor="ctr"/>
          <a:lstStyle/>
          <a:p>
            <a:pPr indent="0" marL="0">
              <a:spcAft>
                <a:spcPts val="300"/>
              </a:spcAft>
              <a:buNone/>
            </a:pPr>
            <a:r>
              <a:rPr lang="en-US" sz="1500" b="1" dirty="0">
                <a:solidFill>
                  <a:srgbClr val="333B4F"/>
                </a:solidFill>
                <a:latin typeface="Cambria" pitchFamily="34" charset="0"/>
                <a:ea typeface="Cambria" pitchFamily="34" charset="-122"/>
                <a:cs typeface="Cambria" pitchFamily="34" charset="-120"/>
              </a:rPr>
              <a:t>Jump into the method</a:t>
            </a:r>
            <a:endParaRPr lang="en-US" sz="1500" dirty="0"/>
          </a:p>
          <a:p>
            <a:pPr indent="0" marL="0">
              <a:spcAft>
                <a:spcPts val="300"/>
              </a:spcAft>
              <a:buNone/>
            </a:pPr>
            <a:r>
              <a:rPr lang="en-US" sz="1300" dirty="0">
                <a:solidFill>
                  <a:srgbClr val="5B6478"/>
                </a:solidFill>
                <a:latin typeface="Courier New" pitchFamily="34" charset="0"/>
                <a:ea typeface="Courier New" pitchFamily="34" charset="-122"/>
                <a:cs typeface="Courier New" pitchFamily="34" charset="-120"/>
              </a:rPr>
              <a:t>main waits at this line</a:t>
            </a:r>
            <a:endParaRPr lang="en-US" sz="1500" dirty="0"/>
          </a:p>
        </p:txBody>
      </p:sp>
      <p:sp>
        <p:nvSpPr>
          <p:cNvPr id="16" name="Shape 13"/>
          <p:cNvSpPr/>
          <p:nvPr/>
        </p:nvSpPr>
        <p:spPr>
          <a:xfrm>
            <a:off x="3749040" y="3154680"/>
            <a:ext cx="3108960" cy="1371600"/>
          </a:xfrm>
          <a:prstGeom prst="roundRect">
            <a:avLst>
              <a:gd name="adj" fmla="val 8000"/>
            </a:avLst>
          </a:prstGeom>
          <a:solidFill>
            <a:srgbClr val="EEF1F6"/>
          </a:solidFill>
          <a:ln w="12700">
            <a:solidFill>
              <a:srgbClr val="EEF1F6"/>
            </a:solidFill>
            <a:prstDash val="solid"/>
          </a:ln>
        </p:spPr>
      </p:sp>
      <p:sp>
        <p:nvSpPr>
          <p:cNvPr id="17" name="Text 14"/>
          <p:cNvSpPr txBox="1"/>
          <p:nvPr/>
        </p:nvSpPr>
        <p:spPr>
          <a:xfrm>
            <a:off x="3886200" y="3291840"/>
            <a:ext cx="548640" cy="548640"/>
          </a:xfrm>
          <a:prstGeom prst="rect">
            <a:avLst/>
          </a:prstGeom>
          <a:noFill/>
          <a:ln/>
        </p:spPr>
        <p:txBody>
          <a:bodyPr wrap="square" lIns="0" tIns="0" rIns="0" bIns="0" rtlCol="0" anchor="ctr"/>
          <a:lstStyle/>
          <a:p>
            <a:pPr indent="0" marL="0">
              <a:buNone/>
            </a:pPr>
            <a:r>
              <a:rPr lang="en-US" sz="2600" b="1" dirty="0">
                <a:solidFill>
                  <a:srgbClr val="B7791F"/>
                </a:solidFill>
                <a:latin typeface="Courier New" pitchFamily="34" charset="0"/>
                <a:ea typeface="Courier New" pitchFamily="34" charset="-122"/>
                <a:cs typeface="Courier New" pitchFamily="34" charset="-120"/>
              </a:rPr>
              <a:t>4</a:t>
            </a:r>
            <a:endParaRPr lang="en-US" sz="2600" dirty="0"/>
          </a:p>
        </p:txBody>
      </p:sp>
      <p:sp>
        <p:nvSpPr>
          <p:cNvPr id="18" name="Text 15"/>
          <p:cNvSpPr txBox="1"/>
          <p:nvPr/>
        </p:nvSpPr>
        <p:spPr>
          <a:xfrm>
            <a:off x="4389120" y="3246120"/>
            <a:ext cx="2377440" cy="1188720"/>
          </a:xfrm>
          <a:prstGeom prst="rect">
            <a:avLst/>
          </a:prstGeom>
          <a:noFill/>
          <a:ln/>
        </p:spPr>
        <p:txBody>
          <a:bodyPr wrap="square" lIns="0" tIns="0" rIns="0" bIns="0" rtlCol="0" anchor="ctr"/>
          <a:lstStyle/>
          <a:p>
            <a:pPr indent="0" marL="0">
              <a:spcAft>
                <a:spcPts val="300"/>
              </a:spcAft>
              <a:buNone/>
            </a:pPr>
            <a:r>
              <a:rPr lang="en-US" sz="1500" b="1" dirty="0">
                <a:solidFill>
                  <a:srgbClr val="333B4F"/>
                </a:solidFill>
                <a:latin typeface="Cambria" pitchFamily="34" charset="0"/>
                <a:ea typeface="Cambria" pitchFamily="34" charset="-122"/>
                <a:cs typeface="Cambria" pitchFamily="34" charset="-120"/>
              </a:rPr>
              <a:t>Run the body</a:t>
            </a:r>
            <a:endParaRPr lang="en-US" sz="1500" dirty="0"/>
          </a:p>
          <a:p>
            <a:pPr indent="0" marL="0">
              <a:spcAft>
                <a:spcPts val="300"/>
              </a:spcAft>
              <a:buNone/>
            </a:pPr>
            <a:r>
              <a:rPr lang="en-US" sz="1300" dirty="0">
                <a:solidFill>
                  <a:srgbClr val="5B6478"/>
                </a:solidFill>
                <a:latin typeface="Courier New" pitchFamily="34" charset="0"/>
                <a:ea typeface="Courier New" pitchFamily="34" charset="-122"/>
                <a:cs typeface="Courier New" pitchFamily="34" charset="-120"/>
              </a:rPr>
              <a:t>may call Square …</a:t>
            </a:r>
            <a:endParaRPr lang="en-US" sz="1500" dirty="0"/>
          </a:p>
        </p:txBody>
      </p:sp>
      <p:sp>
        <p:nvSpPr>
          <p:cNvPr id="19" name="Shape 16"/>
          <p:cNvSpPr/>
          <p:nvPr/>
        </p:nvSpPr>
        <p:spPr>
          <a:xfrm>
            <a:off x="548640" y="4663440"/>
            <a:ext cx="3108960" cy="1371600"/>
          </a:xfrm>
          <a:prstGeom prst="roundRect">
            <a:avLst>
              <a:gd name="adj" fmla="val 8000"/>
            </a:avLst>
          </a:prstGeom>
          <a:solidFill>
            <a:srgbClr val="FFF1D6"/>
          </a:solidFill>
          <a:ln w="12700">
            <a:solidFill>
              <a:srgbClr val="FFF1D6"/>
            </a:solidFill>
            <a:prstDash val="solid"/>
          </a:ln>
        </p:spPr>
      </p:sp>
      <p:sp>
        <p:nvSpPr>
          <p:cNvPr id="20" name="Text 17"/>
          <p:cNvSpPr txBox="1"/>
          <p:nvPr/>
        </p:nvSpPr>
        <p:spPr>
          <a:xfrm>
            <a:off x="685800" y="4800600"/>
            <a:ext cx="548640" cy="548640"/>
          </a:xfrm>
          <a:prstGeom prst="rect">
            <a:avLst/>
          </a:prstGeom>
          <a:noFill/>
          <a:ln/>
        </p:spPr>
        <p:txBody>
          <a:bodyPr wrap="square" lIns="0" tIns="0" rIns="0" bIns="0" rtlCol="0" anchor="ctr"/>
          <a:lstStyle/>
          <a:p>
            <a:pPr indent="0" marL="0">
              <a:buNone/>
            </a:pPr>
            <a:r>
              <a:rPr lang="en-US" sz="2600" b="1" dirty="0">
                <a:solidFill>
                  <a:srgbClr val="B7791F"/>
                </a:solidFill>
                <a:latin typeface="Courier New" pitchFamily="34" charset="0"/>
                <a:ea typeface="Courier New" pitchFamily="34" charset="-122"/>
                <a:cs typeface="Courier New" pitchFamily="34" charset="-120"/>
              </a:rPr>
              <a:t>5</a:t>
            </a:r>
            <a:endParaRPr lang="en-US" sz="2600" dirty="0"/>
          </a:p>
        </p:txBody>
      </p:sp>
      <p:sp>
        <p:nvSpPr>
          <p:cNvPr id="21" name="Text 18"/>
          <p:cNvSpPr txBox="1"/>
          <p:nvPr/>
        </p:nvSpPr>
        <p:spPr>
          <a:xfrm>
            <a:off x="1188720" y="4754880"/>
            <a:ext cx="2377440" cy="1188720"/>
          </a:xfrm>
          <a:prstGeom prst="rect">
            <a:avLst/>
          </a:prstGeom>
          <a:noFill/>
          <a:ln/>
        </p:spPr>
        <p:txBody>
          <a:bodyPr wrap="square" lIns="0" tIns="0" rIns="0" bIns="0" rtlCol="0" anchor="ctr"/>
          <a:lstStyle/>
          <a:p>
            <a:pPr indent="0" marL="0">
              <a:spcAft>
                <a:spcPts val="300"/>
              </a:spcAft>
              <a:buNone/>
            </a:pPr>
            <a:r>
              <a:rPr lang="en-US" sz="1500" b="1" dirty="0">
                <a:solidFill>
                  <a:srgbClr val="333B4F"/>
                </a:solidFill>
                <a:latin typeface="Cambria" pitchFamily="34" charset="0"/>
                <a:ea typeface="Cambria" pitchFamily="34" charset="-122"/>
                <a:cs typeface="Cambria" pitchFamily="34" charset="-120"/>
              </a:rPr>
              <a:t>return sends a value back</a:t>
            </a:r>
            <a:endParaRPr lang="en-US" sz="1500" dirty="0"/>
          </a:p>
          <a:p>
            <a:pPr indent="0" marL="0">
              <a:spcAft>
                <a:spcPts val="300"/>
              </a:spcAft>
              <a:buNone/>
            </a:pPr>
            <a:r>
              <a:rPr lang="en-US" sz="1300" dirty="0">
                <a:solidFill>
                  <a:srgbClr val="5B6478"/>
                </a:solidFill>
                <a:latin typeface="Courier New" pitchFamily="34" charset="0"/>
                <a:ea typeface="Courier New" pitchFamily="34" charset="-122"/>
                <a:cs typeface="Courier New" pitchFamily="34" charset="-120"/>
              </a:rPr>
              <a:t>Hypotenuse(a, b) → 5</a:t>
            </a:r>
            <a:endParaRPr lang="en-US" sz="1500" dirty="0"/>
          </a:p>
        </p:txBody>
      </p:sp>
      <p:sp>
        <p:nvSpPr>
          <p:cNvPr id="22" name="Shape 19"/>
          <p:cNvSpPr/>
          <p:nvPr/>
        </p:nvSpPr>
        <p:spPr>
          <a:xfrm>
            <a:off x="3749040" y="4663440"/>
            <a:ext cx="3108960" cy="1371600"/>
          </a:xfrm>
          <a:prstGeom prst="roundRect">
            <a:avLst>
              <a:gd name="adj" fmla="val 8000"/>
            </a:avLst>
          </a:prstGeom>
          <a:solidFill>
            <a:srgbClr val="EEF1F6"/>
          </a:solidFill>
          <a:ln w="12700">
            <a:solidFill>
              <a:srgbClr val="EEF1F6"/>
            </a:solidFill>
            <a:prstDash val="solid"/>
          </a:ln>
        </p:spPr>
      </p:sp>
      <p:sp>
        <p:nvSpPr>
          <p:cNvPr id="23" name="Text 20"/>
          <p:cNvSpPr txBox="1"/>
          <p:nvPr/>
        </p:nvSpPr>
        <p:spPr>
          <a:xfrm>
            <a:off x="3886200" y="4800600"/>
            <a:ext cx="548640" cy="548640"/>
          </a:xfrm>
          <a:prstGeom prst="rect">
            <a:avLst/>
          </a:prstGeom>
          <a:noFill/>
          <a:ln/>
        </p:spPr>
        <p:txBody>
          <a:bodyPr wrap="square" lIns="0" tIns="0" rIns="0" bIns="0" rtlCol="0" anchor="ctr"/>
          <a:lstStyle/>
          <a:p>
            <a:pPr indent="0" marL="0">
              <a:buNone/>
            </a:pPr>
            <a:r>
              <a:rPr lang="en-US" sz="2600" b="1" dirty="0">
                <a:solidFill>
                  <a:srgbClr val="B7791F"/>
                </a:solidFill>
                <a:latin typeface="Courier New" pitchFamily="34" charset="0"/>
                <a:ea typeface="Courier New" pitchFamily="34" charset="-122"/>
                <a:cs typeface="Courier New" pitchFamily="34" charset="-120"/>
              </a:rPr>
              <a:t>6</a:t>
            </a:r>
            <a:endParaRPr lang="en-US" sz="2600" dirty="0"/>
          </a:p>
        </p:txBody>
      </p:sp>
      <p:sp>
        <p:nvSpPr>
          <p:cNvPr id="24" name="Text 21"/>
          <p:cNvSpPr txBox="1"/>
          <p:nvPr/>
        </p:nvSpPr>
        <p:spPr>
          <a:xfrm>
            <a:off x="4389120" y="4754880"/>
            <a:ext cx="2377440" cy="1188720"/>
          </a:xfrm>
          <a:prstGeom prst="rect">
            <a:avLst/>
          </a:prstGeom>
          <a:noFill/>
          <a:ln/>
        </p:spPr>
        <p:txBody>
          <a:bodyPr wrap="square" lIns="0" tIns="0" rIns="0" bIns="0" rtlCol="0" anchor="ctr"/>
          <a:lstStyle/>
          <a:p>
            <a:pPr indent="0" marL="0">
              <a:spcAft>
                <a:spcPts val="300"/>
              </a:spcAft>
              <a:buNone/>
            </a:pPr>
            <a:r>
              <a:rPr lang="en-US" sz="1500" b="1" dirty="0">
                <a:solidFill>
                  <a:srgbClr val="333B4F"/>
                </a:solidFill>
                <a:latin typeface="Cambria" pitchFamily="34" charset="0"/>
                <a:ea typeface="Cambria" pitchFamily="34" charset="-122"/>
                <a:cs typeface="Cambria" pitchFamily="34" charset="-120"/>
              </a:rPr>
              <a:t>Frame removed</a:t>
            </a:r>
            <a:endParaRPr lang="en-US" sz="1500" dirty="0"/>
          </a:p>
          <a:p>
            <a:pPr indent="0" marL="0">
              <a:spcAft>
                <a:spcPts val="300"/>
              </a:spcAft>
              <a:buNone/>
            </a:pPr>
            <a:r>
              <a:rPr lang="en-US" sz="1300" dirty="0">
                <a:solidFill>
                  <a:srgbClr val="5B6478"/>
                </a:solidFill>
                <a:latin typeface="Courier New" pitchFamily="34" charset="0"/>
                <a:ea typeface="Courier New" pitchFamily="34" charset="-122"/>
                <a:cs typeface="Courier New" pitchFamily="34" charset="-120"/>
              </a:rPr>
              <a:t>x, y, sum, result are gone</a:t>
            </a:r>
            <a:endParaRPr lang="en-US" sz="1500" dirty="0"/>
          </a:p>
        </p:txBody>
      </p:sp>
      <p:sp>
        <p:nvSpPr>
          <p:cNvPr id="25" name="Shape 22"/>
          <p:cNvSpPr/>
          <p:nvPr/>
        </p:nvSpPr>
        <p:spPr>
          <a:xfrm>
            <a:off x="7086600" y="1645920"/>
            <a:ext cx="4572000" cy="4434840"/>
          </a:xfrm>
          <a:prstGeom prst="roundRect">
            <a:avLst>
              <a:gd name="adj" fmla="val 2062"/>
            </a:avLst>
          </a:prstGeom>
          <a:solidFill>
            <a:srgbClr val="0F1729"/>
          </a:solidFill>
          <a:ln w="12700">
            <a:solidFill>
              <a:srgbClr val="0F1729"/>
            </a:solidFill>
            <a:prstDash val="solid"/>
          </a:ln>
        </p:spPr>
      </p:sp>
      <p:sp>
        <p:nvSpPr>
          <p:cNvPr id="26" name="Text 23"/>
          <p:cNvSpPr txBox="1"/>
          <p:nvPr/>
        </p:nvSpPr>
        <p:spPr>
          <a:xfrm>
            <a:off x="7315200" y="1755648"/>
            <a:ext cx="4114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Example 3 (without the trace lines)</a:t>
            </a:r>
            <a:endParaRPr lang="en-US" sz="1100" dirty="0"/>
          </a:p>
        </p:txBody>
      </p:sp>
      <p:sp>
        <p:nvSpPr>
          <p:cNvPr id="27" name="Text 24"/>
          <p:cNvSpPr txBox="1"/>
          <p:nvPr/>
        </p:nvSpPr>
        <p:spPr>
          <a:xfrm>
            <a:off x="7315200" y="2057400"/>
            <a:ext cx="411480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Hypotenuse(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Square(x) + Square(y);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.Sqrt(sum);</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THE CALL STACK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Four snapshots of memory while Example 3 runs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4178808"/>
            <a:ext cx="2651760" cy="1353312"/>
          </a:xfrm>
          <a:prstGeom prst="rect">
            <a:avLst/>
          </a:prstGeom>
          <a:solidFill>
            <a:srgbClr val="EEF1F6"/>
          </a:solidFill>
          <a:ln w="12700">
            <a:solidFill>
              <a:srgbClr val="14213D"/>
            </a:solidFill>
            <a:prstDash val="solid"/>
          </a:ln>
        </p:spPr>
      </p:sp>
      <p:sp>
        <p:nvSpPr>
          <p:cNvPr id="8" name="Shape 5"/>
          <p:cNvSpPr/>
          <p:nvPr/>
        </p:nvSpPr>
        <p:spPr>
          <a:xfrm>
            <a:off x="548640" y="4178808"/>
            <a:ext cx="2651760" cy="329184"/>
          </a:xfrm>
          <a:prstGeom prst="rect">
            <a:avLst/>
          </a:prstGeom>
          <a:solidFill>
            <a:srgbClr val="FCA311"/>
          </a:solidFill>
          <a:ln w="12700">
            <a:solidFill>
              <a:srgbClr val="14213D"/>
            </a:solidFill>
            <a:prstDash val="solid"/>
          </a:ln>
        </p:spPr>
      </p:sp>
      <p:sp>
        <p:nvSpPr>
          <p:cNvPr id="9" name="Text 6"/>
          <p:cNvSpPr txBox="1"/>
          <p:nvPr/>
        </p:nvSpPr>
        <p:spPr>
          <a:xfrm>
            <a:off x="640080" y="4178808"/>
            <a:ext cx="246888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main</a:t>
            </a:r>
            <a:endParaRPr lang="en-US" sz="1200" dirty="0"/>
          </a:p>
        </p:txBody>
      </p:sp>
      <p:sp>
        <p:nvSpPr>
          <p:cNvPr id="10" name="Text 7"/>
          <p:cNvSpPr txBox="1"/>
          <p:nvPr/>
        </p:nvSpPr>
        <p:spPr>
          <a:xfrm>
            <a:off x="594360" y="4553712"/>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11" name="Shape 8"/>
          <p:cNvSpPr/>
          <p:nvPr/>
        </p:nvSpPr>
        <p:spPr>
          <a:xfrm>
            <a:off x="1508760" y="4553712"/>
            <a:ext cx="1600200" cy="256032"/>
          </a:xfrm>
          <a:prstGeom prst="rect">
            <a:avLst/>
          </a:prstGeom>
          <a:solidFill>
            <a:srgbClr val="FFFFFF"/>
          </a:solidFill>
          <a:ln w="9525">
            <a:solidFill>
              <a:srgbClr val="8A94AB"/>
            </a:solidFill>
            <a:prstDash val="solid"/>
          </a:ln>
        </p:spPr>
      </p:sp>
      <p:sp>
        <p:nvSpPr>
          <p:cNvPr id="12" name="Text 9"/>
          <p:cNvSpPr txBox="1"/>
          <p:nvPr/>
        </p:nvSpPr>
        <p:spPr>
          <a:xfrm>
            <a:off x="1508760" y="4553712"/>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13" name="Text 10"/>
          <p:cNvSpPr txBox="1"/>
          <p:nvPr/>
        </p:nvSpPr>
        <p:spPr>
          <a:xfrm>
            <a:off x="594360" y="4864608"/>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b</a:t>
            </a:r>
            <a:endParaRPr lang="en-US" sz="1400" dirty="0"/>
          </a:p>
        </p:txBody>
      </p:sp>
      <p:sp>
        <p:nvSpPr>
          <p:cNvPr id="14" name="Shape 11"/>
          <p:cNvSpPr/>
          <p:nvPr/>
        </p:nvSpPr>
        <p:spPr>
          <a:xfrm>
            <a:off x="1508760" y="4864608"/>
            <a:ext cx="1600200" cy="256032"/>
          </a:xfrm>
          <a:prstGeom prst="rect">
            <a:avLst/>
          </a:prstGeom>
          <a:solidFill>
            <a:srgbClr val="FFFFFF"/>
          </a:solidFill>
          <a:ln w="9525">
            <a:solidFill>
              <a:srgbClr val="8A94AB"/>
            </a:solidFill>
            <a:prstDash val="solid"/>
          </a:ln>
        </p:spPr>
      </p:sp>
      <p:sp>
        <p:nvSpPr>
          <p:cNvPr id="15" name="Text 12"/>
          <p:cNvSpPr txBox="1"/>
          <p:nvPr/>
        </p:nvSpPr>
        <p:spPr>
          <a:xfrm>
            <a:off x="1508760" y="4864608"/>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16" name="Text 13"/>
          <p:cNvSpPr txBox="1"/>
          <p:nvPr/>
        </p:nvSpPr>
        <p:spPr>
          <a:xfrm>
            <a:off x="594360" y="5175504"/>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c</a:t>
            </a:r>
            <a:endParaRPr lang="en-US" sz="1400" dirty="0"/>
          </a:p>
        </p:txBody>
      </p:sp>
      <p:sp>
        <p:nvSpPr>
          <p:cNvPr id="17" name="Shape 14"/>
          <p:cNvSpPr/>
          <p:nvPr/>
        </p:nvSpPr>
        <p:spPr>
          <a:xfrm>
            <a:off x="1508760" y="5175504"/>
            <a:ext cx="1600200" cy="256032"/>
          </a:xfrm>
          <a:prstGeom prst="rect">
            <a:avLst/>
          </a:prstGeom>
          <a:solidFill>
            <a:srgbClr val="FFFFFF"/>
          </a:solidFill>
          <a:ln w="9525">
            <a:solidFill>
              <a:srgbClr val="8A94AB"/>
            </a:solidFill>
            <a:prstDash val="solid"/>
          </a:ln>
        </p:spPr>
      </p:sp>
      <p:sp>
        <p:nvSpPr>
          <p:cNvPr id="18" name="Text 15"/>
          <p:cNvSpPr txBox="1"/>
          <p:nvPr/>
        </p:nvSpPr>
        <p:spPr>
          <a:xfrm>
            <a:off x="1508760" y="5175504"/>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19" name="Shape 16"/>
          <p:cNvSpPr/>
          <p:nvPr/>
        </p:nvSpPr>
        <p:spPr>
          <a:xfrm>
            <a:off x="502920" y="5568696"/>
            <a:ext cx="2743200" cy="0"/>
          </a:xfrm>
          <a:prstGeom prst="line">
            <a:avLst/>
          </a:prstGeom>
          <a:noFill/>
          <a:ln w="25400">
            <a:solidFill>
              <a:srgbClr val="14213D"/>
            </a:solidFill>
            <a:prstDash val="solid"/>
          </a:ln>
        </p:spPr>
      </p:sp>
      <p:sp>
        <p:nvSpPr>
          <p:cNvPr id="20" name="Text 17"/>
          <p:cNvSpPr txBox="1"/>
          <p:nvPr/>
        </p:nvSpPr>
        <p:spPr>
          <a:xfrm>
            <a:off x="548640" y="5623560"/>
            <a:ext cx="265176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① main runs</a:t>
            </a:r>
            <a:endParaRPr lang="en-US" sz="1500" dirty="0"/>
          </a:p>
        </p:txBody>
      </p:sp>
      <p:sp>
        <p:nvSpPr>
          <p:cNvPr id="21" name="Shape 18"/>
          <p:cNvSpPr/>
          <p:nvPr/>
        </p:nvSpPr>
        <p:spPr>
          <a:xfrm>
            <a:off x="3364992" y="4178808"/>
            <a:ext cx="2651760" cy="1353312"/>
          </a:xfrm>
          <a:prstGeom prst="rect">
            <a:avLst/>
          </a:prstGeom>
          <a:solidFill>
            <a:srgbClr val="EEF1F6"/>
          </a:solidFill>
          <a:ln w="12700">
            <a:solidFill>
              <a:srgbClr val="14213D"/>
            </a:solidFill>
            <a:prstDash val="solid"/>
          </a:ln>
        </p:spPr>
      </p:sp>
      <p:sp>
        <p:nvSpPr>
          <p:cNvPr id="22" name="Shape 19"/>
          <p:cNvSpPr/>
          <p:nvPr/>
        </p:nvSpPr>
        <p:spPr>
          <a:xfrm>
            <a:off x="3364992" y="4178808"/>
            <a:ext cx="2651760" cy="329184"/>
          </a:xfrm>
          <a:prstGeom prst="rect">
            <a:avLst/>
          </a:prstGeom>
          <a:solidFill>
            <a:srgbClr val="14213D"/>
          </a:solidFill>
          <a:ln w="12700">
            <a:solidFill>
              <a:srgbClr val="14213D"/>
            </a:solidFill>
            <a:prstDash val="solid"/>
          </a:ln>
        </p:spPr>
      </p:sp>
      <p:sp>
        <p:nvSpPr>
          <p:cNvPr id="23" name="Text 20"/>
          <p:cNvSpPr txBox="1"/>
          <p:nvPr/>
        </p:nvSpPr>
        <p:spPr>
          <a:xfrm>
            <a:off x="3456432" y="4178808"/>
            <a:ext cx="24688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24" name="Text 21"/>
          <p:cNvSpPr txBox="1"/>
          <p:nvPr/>
        </p:nvSpPr>
        <p:spPr>
          <a:xfrm>
            <a:off x="3410712" y="4553712"/>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25" name="Shape 22"/>
          <p:cNvSpPr/>
          <p:nvPr/>
        </p:nvSpPr>
        <p:spPr>
          <a:xfrm>
            <a:off x="4325112" y="4553712"/>
            <a:ext cx="1600200" cy="256032"/>
          </a:xfrm>
          <a:prstGeom prst="rect">
            <a:avLst/>
          </a:prstGeom>
          <a:solidFill>
            <a:srgbClr val="FFFFFF"/>
          </a:solidFill>
          <a:ln w="9525">
            <a:solidFill>
              <a:srgbClr val="8A94AB"/>
            </a:solidFill>
            <a:prstDash val="solid"/>
          </a:ln>
        </p:spPr>
      </p:sp>
      <p:sp>
        <p:nvSpPr>
          <p:cNvPr id="26" name="Text 23"/>
          <p:cNvSpPr txBox="1"/>
          <p:nvPr/>
        </p:nvSpPr>
        <p:spPr>
          <a:xfrm>
            <a:off x="4325112" y="4553712"/>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27" name="Text 24"/>
          <p:cNvSpPr txBox="1"/>
          <p:nvPr/>
        </p:nvSpPr>
        <p:spPr>
          <a:xfrm>
            <a:off x="3410712" y="4864608"/>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b</a:t>
            </a:r>
            <a:endParaRPr lang="en-US" sz="1400" dirty="0"/>
          </a:p>
        </p:txBody>
      </p:sp>
      <p:sp>
        <p:nvSpPr>
          <p:cNvPr id="28" name="Shape 25"/>
          <p:cNvSpPr/>
          <p:nvPr/>
        </p:nvSpPr>
        <p:spPr>
          <a:xfrm>
            <a:off x="4325112" y="4864608"/>
            <a:ext cx="1600200" cy="256032"/>
          </a:xfrm>
          <a:prstGeom prst="rect">
            <a:avLst/>
          </a:prstGeom>
          <a:solidFill>
            <a:srgbClr val="FFFFFF"/>
          </a:solidFill>
          <a:ln w="9525">
            <a:solidFill>
              <a:srgbClr val="8A94AB"/>
            </a:solidFill>
            <a:prstDash val="solid"/>
          </a:ln>
        </p:spPr>
      </p:sp>
      <p:sp>
        <p:nvSpPr>
          <p:cNvPr id="29" name="Text 26"/>
          <p:cNvSpPr txBox="1"/>
          <p:nvPr/>
        </p:nvSpPr>
        <p:spPr>
          <a:xfrm>
            <a:off x="4325112" y="4864608"/>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30" name="Text 27"/>
          <p:cNvSpPr txBox="1"/>
          <p:nvPr/>
        </p:nvSpPr>
        <p:spPr>
          <a:xfrm>
            <a:off x="3410712" y="5175504"/>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c</a:t>
            </a:r>
            <a:endParaRPr lang="en-US" sz="1400" dirty="0"/>
          </a:p>
        </p:txBody>
      </p:sp>
      <p:sp>
        <p:nvSpPr>
          <p:cNvPr id="31" name="Shape 28"/>
          <p:cNvSpPr/>
          <p:nvPr/>
        </p:nvSpPr>
        <p:spPr>
          <a:xfrm>
            <a:off x="4325112" y="5175504"/>
            <a:ext cx="1600200" cy="256032"/>
          </a:xfrm>
          <a:prstGeom prst="rect">
            <a:avLst/>
          </a:prstGeom>
          <a:solidFill>
            <a:srgbClr val="FFFFFF"/>
          </a:solidFill>
          <a:ln w="9525">
            <a:solidFill>
              <a:srgbClr val="8A94AB"/>
            </a:solidFill>
            <a:prstDash val="solid"/>
          </a:ln>
        </p:spPr>
      </p:sp>
      <p:sp>
        <p:nvSpPr>
          <p:cNvPr id="32" name="Text 29"/>
          <p:cNvSpPr txBox="1"/>
          <p:nvPr/>
        </p:nvSpPr>
        <p:spPr>
          <a:xfrm>
            <a:off x="4325112" y="5175504"/>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3" name="Shape 30"/>
          <p:cNvSpPr/>
          <p:nvPr/>
        </p:nvSpPr>
        <p:spPr>
          <a:xfrm>
            <a:off x="3364992" y="2752344"/>
            <a:ext cx="2651760" cy="1353312"/>
          </a:xfrm>
          <a:prstGeom prst="rect">
            <a:avLst/>
          </a:prstGeom>
          <a:solidFill>
            <a:srgbClr val="EEF1F6"/>
          </a:solidFill>
          <a:ln w="12700">
            <a:solidFill>
              <a:srgbClr val="14213D"/>
            </a:solidFill>
            <a:prstDash val="solid"/>
          </a:ln>
        </p:spPr>
      </p:sp>
      <p:sp>
        <p:nvSpPr>
          <p:cNvPr id="34" name="Shape 31"/>
          <p:cNvSpPr/>
          <p:nvPr/>
        </p:nvSpPr>
        <p:spPr>
          <a:xfrm>
            <a:off x="3364992" y="2752344"/>
            <a:ext cx="2651760" cy="329184"/>
          </a:xfrm>
          <a:prstGeom prst="rect">
            <a:avLst/>
          </a:prstGeom>
          <a:solidFill>
            <a:srgbClr val="FCA311"/>
          </a:solidFill>
          <a:ln w="12700">
            <a:solidFill>
              <a:srgbClr val="14213D"/>
            </a:solidFill>
            <a:prstDash val="solid"/>
          </a:ln>
        </p:spPr>
      </p:sp>
      <p:sp>
        <p:nvSpPr>
          <p:cNvPr id="35" name="Text 32"/>
          <p:cNvSpPr txBox="1"/>
          <p:nvPr/>
        </p:nvSpPr>
        <p:spPr>
          <a:xfrm>
            <a:off x="3456432" y="2752344"/>
            <a:ext cx="246888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Hypotenuse</a:t>
            </a:r>
            <a:endParaRPr lang="en-US" sz="1200" dirty="0"/>
          </a:p>
        </p:txBody>
      </p:sp>
      <p:sp>
        <p:nvSpPr>
          <p:cNvPr id="36" name="Text 33"/>
          <p:cNvSpPr txBox="1"/>
          <p:nvPr/>
        </p:nvSpPr>
        <p:spPr>
          <a:xfrm>
            <a:off x="3410712" y="3127248"/>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37" name="Shape 34"/>
          <p:cNvSpPr/>
          <p:nvPr/>
        </p:nvSpPr>
        <p:spPr>
          <a:xfrm>
            <a:off x="4325112" y="3127248"/>
            <a:ext cx="1600200" cy="256032"/>
          </a:xfrm>
          <a:prstGeom prst="rect">
            <a:avLst/>
          </a:prstGeom>
          <a:solidFill>
            <a:srgbClr val="FFF1D6"/>
          </a:solidFill>
          <a:ln w="9525">
            <a:solidFill>
              <a:srgbClr val="8A94AB"/>
            </a:solidFill>
            <a:prstDash val="solid"/>
          </a:ln>
        </p:spPr>
      </p:sp>
      <p:sp>
        <p:nvSpPr>
          <p:cNvPr id="38" name="Text 35"/>
          <p:cNvSpPr txBox="1"/>
          <p:nvPr/>
        </p:nvSpPr>
        <p:spPr>
          <a:xfrm>
            <a:off x="4325112" y="3127248"/>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39" name="Text 36"/>
          <p:cNvSpPr txBox="1"/>
          <p:nvPr/>
        </p:nvSpPr>
        <p:spPr>
          <a:xfrm>
            <a:off x="3410712" y="3438144"/>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y</a:t>
            </a:r>
            <a:endParaRPr lang="en-US" sz="1400" dirty="0"/>
          </a:p>
        </p:txBody>
      </p:sp>
      <p:sp>
        <p:nvSpPr>
          <p:cNvPr id="40" name="Shape 37"/>
          <p:cNvSpPr/>
          <p:nvPr/>
        </p:nvSpPr>
        <p:spPr>
          <a:xfrm>
            <a:off x="4325112" y="3438144"/>
            <a:ext cx="1600200" cy="256032"/>
          </a:xfrm>
          <a:prstGeom prst="rect">
            <a:avLst/>
          </a:prstGeom>
          <a:solidFill>
            <a:srgbClr val="FFF1D6"/>
          </a:solidFill>
          <a:ln w="9525">
            <a:solidFill>
              <a:srgbClr val="8A94AB"/>
            </a:solidFill>
            <a:prstDash val="solid"/>
          </a:ln>
        </p:spPr>
      </p:sp>
      <p:sp>
        <p:nvSpPr>
          <p:cNvPr id="41" name="Text 38"/>
          <p:cNvSpPr txBox="1"/>
          <p:nvPr/>
        </p:nvSpPr>
        <p:spPr>
          <a:xfrm>
            <a:off x="4325112" y="3438144"/>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42" name="Text 39"/>
          <p:cNvSpPr txBox="1"/>
          <p:nvPr/>
        </p:nvSpPr>
        <p:spPr>
          <a:xfrm>
            <a:off x="3410712" y="3749040"/>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sum</a:t>
            </a:r>
            <a:endParaRPr lang="en-US" sz="1400" dirty="0"/>
          </a:p>
        </p:txBody>
      </p:sp>
      <p:sp>
        <p:nvSpPr>
          <p:cNvPr id="43" name="Shape 40"/>
          <p:cNvSpPr/>
          <p:nvPr/>
        </p:nvSpPr>
        <p:spPr>
          <a:xfrm>
            <a:off x="4325112" y="3749040"/>
            <a:ext cx="1600200" cy="256032"/>
          </a:xfrm>
          <a:prstGeom prst="rect">
            <a:avLst/>
          </a:prstGeom>
          <a:solidFill>
            <a:srgbClr val="FFFFFF"/>
          </a:solidFill>
          <a:ln w="9525">
            <a:solidFill>
              <a:srgbClr val="8A94AB"/>
            </a:solidFill>
            <a:prstDash val="solid"/>
          </a:ln>
        </p:spPr>
      </p:sp>
      <p:sp>
        <p:nvSpPr>
          <p:cNvPr id="44" name="Text 41"/>
          <p:cNvSpPr txBox="1"/>
          <p:nvPr/>
        </p:nvSpPr>
        <p:spPr>
          <a:xfrm>
            <a:off x="4325112" y="3749040"/>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5" name="Shape 42"/>
          <p:cNvSpPr/>
          <p:nvPr/>
        </p:nvSpPr>
        <p:spPr>
          <a:xfrm>
            <a:off x="3319272" y="5568696"/>
            <a:ext cx="2743200" cy="0"/>
          </a:xfrm>
          <a:prstGeom prst="line">
            <a:avLst/>
          </a:prstGeom>
          <a:noFill/>
          <a:ln w="25400">
            <a:solidFill>
              <a:srgbClr val="14213D"/>
            </a:solidFill>
            <a:prstDash val="solid"/>
          </a:ln>
        </p:spPr>
      </p:sp>
      <p:sp>
        <p:nvSpPr>
          <p:cNvPr id="46" name="Text 43"/>
          <p:cNvSpPr txBox="1"/>
          <p:nvPr/>
        </p:nvSpPr>
        <p:spPr>
          <a:xfrm>
            <a:off x="3364992" y="5623560"/>
            <a:ext cx="265176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② Hypotenuse(a, b)</a:t>
            </a:r>
            <a:endParaRPr lang="en-US" sz="1500" dirty="0"/>
          </a:p>
        </p:txBody>
      </p:sp>
      <p:sp>
        <p:nvSpPr>
          <p:cNvPr id="47" name="Shape 44"/>
          <p:cNvSpPr/>
          <p:nvPr/>
        </p:nvSpPr>
        <p:spPr>
          <a:xfrm>
            <a:off x="6181344" y="4178808"/>
            <a:ext cx="2651760" cy="1353312"/>
          </a:xfrm>
          <a:prstGeom prst="rect">
            <a:avLst/>
          </a:prstGeom>
          <a:solidFill>
            <a:srgbClr val="EEF1F6"/>
          </a:solidFill>
          <a:ln w="12700">
            <a:solidFill>
              <a:srgbClr val="14213D"/>
            </a:solidFill>
            <a:prstDash val="solid"/>
          </a:ln>
        </p:spPr>
      </p:sp>
      <p:sp>
        <p:nvSpPr>
          <p:cNvPr id="48" name="Shape 45"/>
          <p:cNvSpPr/>
          <p:nvPr/>
        </p:nvSpPr>
        <p:spPr>
          <a:xfrm>
            <a:off x="6181344" y="4178808"/>
            <a:ext cx="2651760" cy="329184"/>
          </a:xfrm>
          <a:prstGeom prst="rect">
            <a:avLst/>
          </a:prstGeom>
          <a:solidFill>
            <a:srgbClr val="14213D"/>
          </a:solidFill>
          <a:ln w="12700">
            <a:solidFill>
              <a:srgbClr val="14213D"/>
            </a:solidFill>
            <a:prstDash val="solid"/>
          </a:ln>
        </p:spPr>
      </p:sp>
      <p:sp>
        <p:nvSpPr>
          <p:cNvPr id="49" name="Text 46"/>
          <p:cNvSpPr txBox="1"/>
          <p:nvPr/>
        </p:nvSpPr>
        <p:spPr>
          <a:xfrm>
            <a:off x="6272784" y="4178808"/>
            <a:ext cx="24688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50" name="Text 47"/>
          <p:cNvSpPr txBox="1"/>
          <p:nvPr/>
        </p:nvSpPr>
        <p:spPr>
          <a:xfrm>
            <a:off x="6227064" y="4553712"/>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51" name="Shape 48"/>
          <p:cNvSpPr/>
          <p:nvPr/>
        </p:nvSpPr>
        <p:spPr>
          <a:xfrm>
            <a:off x="7141464" y="4553712"/>
            <a:ext cx="1600200" cy="256032"/>
          </a:xfrm>
          <a:prstGeom prst="rect">
            <a:avLst/>
          </a:prstGeom>
          <a:solidFill>
            <a:srgbClr val="FFFFFF"/>
          </a:solidFill>
          <a:ln w="9525">
            <a:solidFill>
              <a:srgbClr val="8A94AB"/>
            </a:solidFill>
            <a:prstDash val="solid"/>
          </a:ln>
        </p:spPr>
      </p:sp>
      <p:sp>
        <p:nvSpPr>
          <p:cNvPr id="52" name="Text 49"/>
          <p:cNvSpPr txBox="1"/>
          <p:nvPr/>
        </p:nvSpPr>
        <p:spPr>
          <a:xfrm>
            <a:off x="7141464" y="4553712"/>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53" name="Text 50"/>
          <p:cNvSpPr txBox="1"/>
          <p:nvPr/>
        </p:nvSpPr>
        <p:spPr>
          <a:xfrm>
            <a:off x="6227064" y="4864608"/>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b</a:t>
            </a:r>
            <a:endParaRPr lang="en-US" sz="1400" dirty="0"/>
          </a:p>
        </p:txBody>
      </p:sp>
      <p:sp>
        <p:nvSpPr>
          <p:cNvPr id="54" name="Shape 51"/>
          <p:cNvSpPr/>
          <p:nvPr/>
        </p:nvSpPr>
        <p:spPr>
          <a:xfrm>
            <a:off x="7141464" y="4864608"/>
            <a:ext cx="1600200" cy="256032"/>
          </a:xfrm>
          <a:prstGeom prst="rect">
            <a:avLst/>
          </a:prstGeom>
          <a:solidFill>
            <a:srgbClr val="FFFFFF"/>
          </a:solidFill>
          <a:ln w="9525">
            <a:solidFill>
              <a:srgbClr val="8A94AB"/>
            </a:solidFill>
            <a:prstDash val="solid"/>
          </a:ln>
        </p:spPr>
      </p:sp>
      <p:sp>
        <p:nvSpPr>
          <p:cNvPr id="55" name="Text 52"/>
          <p:cNvSpPr txBox="1"/>
          <p:nvPr/>
        </p:nvSpPr>
        <p:spPr>
          <a:xfrm>
            <a:off x="7141464" y="4864608"/>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56" name="Text 53"/>
          <p:cNvSpPr txBox="1"/>
          <p:nvPr/>
        </p:nvSpPr>
        <p:spPr>
          <a:xfrm>
            <a:off x="6227064" y="5175504"/>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c</a:t>
            </a:r>
            <a:endParaRPr lang="en-US" sz="1400" dirty="0"/>
          </a:p>
        </p:txBody>
      </p:sp>
      <p:sp>
        <p:nvSpPr>
          <p:cNvPr id="57" name="Shape 54"/>
          <p:cNvSpPr/>
          <p:nvPr/>
        </p:nvSpPr>
        <p:spPr>
          <a:xfrm>
            <a:off x="7141464" y="5175504"/>
            <a:ext cx="1600200" cy="256032"/>
          </a:xfrm>
          <a:prstGeom prst="rect">
            <a:avLst/>
          </a:prstGeom>
          <a:solidFill>
            <a:srgbClr val="FFFFFF"/>
          </a:solidFill>
          <a:ln w="9525">
            <a:solidFill>
              <a:srgbClr val="8A94AB"/>
            </a:solidFill>
            <a:prstDash val="solid"/>
          </a:ln>
        </p:spPr>
      </p:sp>
      <p:sp>
        <p:nvSpPr>
          <p:cNvPr id="58" name="Text 55"/>
          <p:cNvSpPr txBox="1"/>
          <p:nvPr/>
        </p:nvSpPr>
        <p:spPr>
          <a:xfrm>
            <a:off x="7141464" y="5175504"/>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9" name="Shape 56"/>
          <p:cNvSpPr/>
          <p:nvPr/>
        </p:nvSpPr>
        <p:spPr>
          <a:xfrm>
            <a:off x="6181344" y="2752344"/>
            <a:ext cx="2651760" cy="1353312"/>
          </a:xfrm>
          <a:prstGeom prst="rect">
            <a:avLst/>
          </a:prstGeom>
          <a:solidFill>
            <a:srgbClr val="EEF1F6"/>
          </a:solidFill>
          <a:ln w="12700">
            <a:solidFill>
              <a:srgbClr val="14213D"/>
            </a:solidFill>
            <a:prstDash val="solid"/>
          </a:ln>
        </p:spPr>
      </p:sp>
      <p:sp>
        <p:nvSpPr>
          <p:cNvPr id="60" name="Shape 57"/>
          <p:cNvSpPr/>
          <p:nvPr/>
        </p:nvSpPr>
        <p:spPr>
          <a:xfrm>
            <a:off x="6181344" y="2752344"/>
            <a:ext cx="2651760" cy="329184"/>
          </a:xfrm>
          <a:prstGeom prst="rect">
            <a:avLst/>
          </a:prstGeom>
          <a:solidFill>
            <a:srgbClr val="14213D"/>
          </a:solidFill>
          <a:ln w="12700">
            <a:solidFill>
              <a:srgbClr val="14213D"/>
            </a:solidFill>
            <a:prstDash val="solid"/>
          </a:ln>
        </p:spPr>
      </p:sp>
      <p:sp>
        <p:nvSpPr>
          <p:cNvPr id="61" name="Text 58"/>
          <p:cNvSpPr txBox="1"/>
          <p:nvPr/>
        </p:nvSpPr>
        <p:spPr>
          <a:xfrm>
            <a:off x="6272784" y="2752344"/>
            <a:ext cx="24688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Hypotenuse</a:t>
            </a:r>
            <a:endParaRPr lang="en-US" sz="1200" dirty="0"/>
          </a:p>
        </p:txBody>
      </p:sp>
      <p:sp>
        <p:nvSpPr>
          <p:cNvPr id="62" name="Text 59"/>
          <p:cNvSpPr txBox="1"/>
          <p:nvPr/>
        </p:nvSpPr>
        <p:spPr>
          <a:xfrm>
            <a:off x="6227064" y="3127248"/>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63" name="Shape 60"/>
          <p:cNvSpPr/>
          <p:nvPr/>
        </p:nvSpPr>
        <p:spPr>
          <a:xfrm>
            <a:off x="7141464" y="3127248"/>
            <a:ext cx="1600200" cy="256032"/>
          </a:xfrm>
          <a:prstGeom prst="rect">
            <a:avLst/>
          </a:prstGeom>
          <a:solidFill>
            <a:srgbClr val="FFFFFF"/>
          </a:solidFill>
          <a:ln w="9525">
            <a:solidFill>
              <a:srgbClr val="8A94AB"/>
            </a:solidFill>
            <a:prstDash val="solid"/>
          </a:ln>
        </p:spPr>
      </p:sp>
      <p:sp>
        <p:nvSpPr>
          <p:cNvPr id="64" name="Text 61"/>
          <p:cNvSpPr txBox="1"/>
          <p:nvPr/>
        </p:nvSpPr>
        <p:spPr>
          <a:xfrm>
            <a:off x="7141464" y="3127248"/>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65" name="Text 62"/>
          <p:cNvSpPr txBox="1"/>
          <p:nvPr/>
        </p:nvSpPr>
        <p:spPr>
          <a:xfrm>
            <a:off x="6227064" y="3438144"/>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y</a:t>
            </a:r>
            <a:endParaRPr lang="en-US" sz="1400" dirty="0"/>
          </a:p>
        </p:txBody>
      </p:sp>
      <p:sp>
        <p:nvSpPr>
          <p:cNvPr id="66" name="Shape 63"/>
          <p:cNvSpPr/>
          <p:nvPr/>
        </p:nvSpPr>
        <p:spPr>
          <a:xfrm>
            <a:off x="7141464" y="3438144"/>
            <a:ext cx="1600200" cy="256032"/>
          </a:xfrm>
          <a:prstGeom prst="rect">
            <a:avLst/>
          </a:prstGeom>
          <a:solidFill>
            <a:srgbClr val="FFFFFF"/>
          </a:solidFill>
          <a:ln w="9525">
            <a:solidFill>
              <a:srgbClr val="8A94AB"/>
            </a:solidFill>
            <a:prstDash val="solid"/>
          </a:ln>
        </p:spPr>
      </p:sp>
      <p:sp>
        <p:nvSpPr>
          <p:cNvPr id="67" name="Text 64"/>
          <p:cNvSpPr txBox="1"/>
          <p:nvPr/>
        </p:nvSpPr>
        <p:spPr>
          <a:xfrm>
            <a:off x="7141464" y="3438144"/>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68" name="Text 65"/>
          <p:cNvSpPr txBox="1"/>
          <p:nvPr/>
        </p:nvSpPr>
        <p:spPr>
          <a:xfrm>
            <a:off x="6227064" y="3749040"/>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sum</a:t>
            </a:r>
            <a:endParaRPr lang="en-US" sz="1400" dirty="0"/>
          </a:p>
        </p:txBody>
      </p:sp>
      <p:sp>
        <p:nvSpPr>
          <p:cNvPr id="69" name="Shape 66"/>
          <p:cNvSpPr/>
          <p:nvPr/>
        </p:nvSpPr>
        <p:spPr>
          <a:xfrm>
            <a:off x="7141464" y="3749040"/>
            <a:ext cx="1600200" cy="256032"/>
          </a:xfrm>
          <a:prstGeom prst="rect">
            <a:avLst/>
          </a:prstGeom>
          <a:solidFill>
            <a:srgbClr val="FFFFFF"/>
          </a:solidFill>
          <a:ln w="9525">
            <a:solidFill>
              <a:srgbClr val="8A94AB"/>
            </a:solidFill>
            <a:prstDash val="solid"/>
          </a:ln>
        </p:spPr>
      </p:sp>
      <p:sp>
        <p:nvSpPr>
          <p:cNvPr id="70" name="Text 67"/>
          <p:cNvSpPr txBox="1"/>
          <p:nvPr/>
        </p:nvSpPr>
        <p:spPr>
          <a:xfrm>
            <a:off x="7141464" y="3749040"/>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71" name="Shape 68"/>
          <p:cNvSpPr/>
          <p:nvPr/>
        </p:nvSpPr>
        <p:spPr>
          <a:xfrm>
            <a:off x="6181344" y="1636776"/>
            <a:ext cx="2651760" cy="1042416"/>
          </a:xfrm>
          <a:prstGeom prst="rect">
            <a:avLst/>
          </a:prstGeom>
          <a:solidFill>
            <a:srgbClr val="EEF1F6"/>
          </a:solidFill>
          <a:ln w="12700">
            <a:solidFill>
              <a:srgbClr val="14213D"/>
            </a:solidFill>
            <a:prstDash val="solid"/>
          </a:ln>
        </p:spPr>
      </p:sp>
      <p:sp>
        <p:nvSpPr>
          <p:cNvPr id="72" name="Shape 69"/>
          <p:cNvSpPr/>
          <p:nvPr/>
        </p:nvSpPr>
        <p:spPr>
          <a:xfrm>
            <a:off x="6181344" y="1636776"/>
            <a:ext cx="2651760" cy="329184"/>
          </a:xfrm>
          <a:prstGeom prst="rect">
            <a:avLst/>
          </a:prstGeom>
          <a:solidFill>
            <a:srgbClr val="FCA311"/>
          </a:solidFill>
          <a:ln w="12700">
            <a:solidFill>
              <a:srgbClr val="14213D"/>
            </a:solidFill>
            <a:prstDash val="solid"/>
          </a:ln>
        </p:spPr>
      </p:sp>
      <p:sp>
        <p:nvSpPr>
          <p:cNvPr id="73" name="Text 70"/>
          <p:cNvSpPr txBox="1"/>
          <p:nvPr/>
        </p:nvSpPr>
        <p:spPr>
          <a:xfrm>
            <a:off x="6272784" y="1636776"/>
            <a:ext cx="246888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Square</a:t>
            </a:r>
            <a:endParaRPr lang="en-US" sz="1200" dirty="0"/>
          </a:p>
        </p:txBody>
      </p:sp>
      <p:sp>
        <p:nvSpPr>
          <p:cNvPr id="74" name="Text 71"/>
          <p:cNvSpPr txBox="1"/>
          <p:nvPr/>
        </p:nvSpPr>
        <p:spPr>
          <a:xfrm>
            <a:off x="6227064" y="2011680"/>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v</a:t>
            </a:r>
            <a:endParaRPr lang="en-US" sz="1400" dirty="0"/>
          </a:p>
        </p:txBody>
      </p:sp>
      <p:sp>
        <p:nvSpPr>
          <p:cNvPr id="75" name="Shape 72"/>
          <p:cNvSpPr/>
          <p:nvPr/>
        </p:nvSpPr>
        <p:spPr>
          <a:xfrm>
            <a:off x="7141464" y="2011680"/>
            <a:ext cx="1600200" cy="256032"/>
          </a:xfrm>
          <a:prstGeom prst="rect">
            <a:avLst/>
          </a:prstGeom>
          <a:solidFill>
            <a:srgbClr val="FFF1D6"/>
          </a:solidFill>
          <a:ln w="9525">
            <a:solidFill>
              <a:srgbClr val="8A94AB"/>
            </a:solidFill>
            <a:prstDash val="solid"/>
          </a:ln>
        </p:spPr>
      </p:sp>
      <p:sp>
        <p:nvSpPr>
          <p:cNvPr id="76" name="Text 73"/>
          <p:cNvSpPr txBox="1"/>
          <p:nvPr/>
        </p:nvSpPr>
        <p:spPr>
          <a:xfrm>
            <a:off x="7141464" y="2011680"/>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77" name="Text 74"/>
          <p:cNvSpPr txBox="1"/>
          <p:nvPr/>
        </p:nvSpPr>
        <p:spPr>
          <a:xfrm>
            <a:off x="6227064" y="2322576"/>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result</a:t>
            </a:r>
            <a:endParaRPr lang="en-US" sz="1400" dirty="0"/>
          </a:p>
        </p:txBody>
      </p:sp>
      <p:sp>
        <p:nvSpPr>
          <p:cNvPr id="78" name="Shape 75"/>
          <p:cNvSpPr/>
          <p:nvPr/>
        </p:nvSpPr>
        <p:spPr>
          <a:xfrm>
            <a:off x="7141464" y="2322576"/>
            <a:ext cx="1600200" cy="256032"/>
          </a:xfrm>
          <a:prstGeom prst="rect">
            <a:avLst/>
          </a:prstGeom>
          <a:solidFill>
            <a:srgbClr val="FFFFFF"/>
          </a:solidFill>
          <a:ln w="9525">
            <a:solidFill>
              <a:srgbClr val="8A94AB"/>
            </a:solidFill>
            <a:prstDash val="solid"/>
          </a:ln>
        </p:spPr>
      </p:sp>
      <p:sp>
        <p:nvSpPr>
          <p:cNvPr id="79" name="Text 76"/>
          <p:cNvSpPr txBox="1"/>
          <p:nvPr/>
        </p:nvSpPr>
        <p:spPr>
          <a:xfrm>
            <a:off x="7141464" y="2322576"/>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9</a:t>
            </a:r>
            <a:endParaRPr lang="en-US" sz="1400" dirty="0"/>
          </a:p>
        </p:txBody>
      </p:sp>
      <p:sp>
        <p:nvSpPr>
          <p:cNvPr id="80" name="Shape 77"/>
          <p:cNvSpPr/>
          <p:nvPr/>
        </p:nvSpPr>
        <p:spPr>
          <a:xfrm>
            <a:off x="6135624" y="5568696"/>
            <a:ext cx="2743200" cy="0"/>
          </a:xfrm>
          <a:prstGeom prst="line">
            <a:avLst/>
          </a:prstGeom>
          <a:noFill/>
          <a:ln w="25400">
            <a:solidFill>
              <a:srgbClr val="14213D"/>
            </a:solidFill>
            <a:prstDash val="solid"/>
          </a:ln>
        </p:spPr>
      </p:sp>
      <p:sp>
        <p:nvSpPr>
          <p:cNvPr id="81" name="Text 78"/>
          <p:cNvSpPr txBox="1"/>
          <p:nvPr/>
        </p:nvSpPr>
        <p:spPr>
          <a:xfrm>
            <a:off x="6181344" y="5623560"/>
            <a:ext cx="265176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③ Square(x)</a:t>
            </a:r>
            <a:endParaRPr lang="en-US" sz="1500" dirty="0"/>
          </a:p>
        </p:txBody>
      </p:sp>
      <p:sp>
        <p:nvSpPr>
          <p:cNvPr id="82" name="Shape 79"/>
          <p:cNvSpPr/>
          <p:nvPr/>
        </p:nvSpPr>
        <p:spPr>
          <a:xfrm>
            <a:off x="8997696" y="4178808"/>
            <a:ext cx="2651760" cy="1353312"/>
          </a:xfrm>
          <a:prstGeom prst="rect">
            <a:avLst/>
          </a:prstGeom>
          <a:solidFill>
            <a:srgbClr val="EEF1F6"/>
          </a:solidFill>
          <a:ln w="12700">
            <a:solidFill>
              <a:srgbClr val="14213D"/>
            </a:solidFill>
            <a:prstDash val="solid"/>
          </a:ln>
        </p:spPr>
      </p:sp>
      <p:sp>
        <p:nvSpPr>
          <p:cNvPr id="83" name="Shape 80"/>
          <p:cNvSpPr/>
          <p:nvPr/>
        </p:nvSpPr>
        <p:spPr>
          <a:xfrm>
            <a:off x="8997696" y="4178808"/>
            <a:ext cx="2651760" cy="329184"/>
          </a:xfrm>
          <a:prstGeom prst="rect">
            <a:avLst/>
          </a:prstGeom>
          <a:solidFill>
            <a:srgbClr val="FCA311"/>
          </a:solidFill>
          <a:ln w="12700">
            <a:solidFill>
              <a:srgbClr val="14213D"/>
            </a:solidFill>
            <a:prstDash val="solid"/>
          </a:ln>
        </p:spPr>
      </p:sp>
      <p:sp>
        <p:nvSpPr>
          <p:cNvPr id="84" name="Text 81"/>
          <p:cNvSpPr txBox="1"/>
          <p:nvPr/>
        </p:nvSpPr>
        <p:spPr>
          <a:xfrm>
            <a:off x="9089136" y="4178808"/>
            <a:ext cx="246888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main</a:t>
            </a:r>
            <a:endParaRPr lang="en-US" sz="1200" dirty="0"/>
          </a:p>
        </p:txBody>
      </p:sp>
      <p:sp>
        <p:nvSpPr>
          <p:cNvPr id="85" name="Text 82"/>
          <p:cNvSpPr txBox="1"/>
          <p:nvPr/>
        </p:nvSpPr>
        <p:spPr>
          <a:xfrm>
            <a:off x="9043416" y="4553712"/>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86" name="Shape 83"/>
          <p:cNvSpPr/>
          <p:nvPr/>
        </p:nvSpPr>
        <p:spPr>
          <a:xfrm>
            <a:off x="9957816" y="4553712"/>
            <a:ext cx="1600200" cy="256032"/>
          </a:xfrm>
          <a:prstGeom prst="rect">
            <a:avLst/>
          </a:prstGeom>
          <a:solidFill>
            <a:srgbClr val="FFFFFF"/>
          </a:solidFill>
          <a:ln w="9525">
            <a:solidFill>
              <a:srgbClr val="8A94AB"/>
            </a:solidFill>
            <a:prstDash val="solid"/>
          </a:ln>
        </p:spPr>
      </p:sp>
      <p:sp>
        <p:nvSpPr>
          <p:cNvPr id="87" name="Text 84"/>
          <p:cNvSpPr txBox="1"/>
          <p:nvPr/>
        </p:nvSpPr>
        <p:spPr>
          <a:xfrm>
            <a:off x="9957816" y="4553712"/>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88" name="Text 85"/>
          <p:cNvSpPr txBox="1"/>
          <p:nvPr/>
        </p:nvSpPr>
        <p:spPr>
          <a:xfrm>
            <a:off x="9043416" y="4864608"/>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b</a:t>
            </a:r>
            <a:endParaRPr lang="en-US" sz="1400" dirty="0"/>
          </a:p>
        </p:txBody>
      </p:sp>
      <p:sp>
        <p:nvSpPr>
          <p:cNvPr id="89" name="Shape 86"/>
          <p:cNvSpPr/>
          <p:nvPr/>
        </p:nvSpPr>
        <p:spPr>
          <a:xfrm>
            <a:off x="9957816" y="4864608"/>
            <a:ext cx="1600200" cy="256032"/>
          </a:xfrm>
          <a:prstGeom prst="rect">
            <a:avLst/>
          </a:prstGeom>
          <a:solidFill>
            <a:srgbClr val="FFFFFF"/>
          </a:solidFill>
          <a:ln w="9525">
            <a:solidFill>
              <a:srgbClr val="8A94AB"/>
            </a:solidFill>
            <a:prstDash val="solid"/>
          </a:ln>
        </p:spPr>
      </p:sp>
      <p:sp>
        <p:nvSpPr>
          <p:cNvPr id="90" name="Text 87"/>
          <p:cNvSpPr txBox="1"/>
          <p:nvPr/>
        </p:nvSpPr>
        <p:spPr>
          <a:xfrm>
            <a:off x="9957816" y="4864608"/>
            <a:ext cx="1600200" cy="25603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91" name="Text 88"/>
          <p:cNvSpPr txBox="1"/>
          <p:nvPr/>
        </p:nvSpPr>
        <p:spPr>
          <a:xfrm>
            <a:off x="9043416" y="5175504"/>
            <a:ext cx="822960" cy="256032"/>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c</a:t>
            </a:r>
            <a:endParaRPr lang="en-US" sz="1400" dirty="0"/>
          </a:p>
        </p:txBody>
      </p:sp>
      <p:sp>
        <p:nvSpPr>
          <p:cNvPr id="92" name="Shape 89"/>
          <p:cNvSpPr/>
          <p:nvPr/>
        </p:nvSpPr>
        <p:spPr>
          <a:xfrm>
            <a:off x="9957816" y="5175504"/>
            <a:ext cx="1600200" cy="256032"/>
          </a:xfrm>
          <a:prstGeom prst="rect">
            <a:avLst/>
          </a:prstGeom>
          <a:solidFill>
            <a:srgbClr val="E6F4EC"/>
          </a:solidFill>
          <a:ln w="9525">
            <a:solidFill>
              <a:srgbClr val="8A94AB"/>
            </a:solidFill>
            <a:prstDash val="solid"/>
          </a:ln>
        </p:spPr>
      </p:sp>
      <p:sp>
        <p:nvSpPr>
          <p:cNvPr id="93" name="Text 90"/>
          <p:cNvSpPr txBox="1"/>
          <p:nvPr/>
        </p:nvSpPr>
        <p:spPr>
          <a:xfrm>
            <a:off x="9957816" y="5175504"/>
            <a:ext cx="1600200" cy="256032"/>
          </a:xfrm>
          <a:prstGeom prst="rect">
            <a:avLst/>
          </a:prstGeom>
          <a:noFill/>
          <a:ln/>
        </p:spPr>
        <p:txBody>
          <a:bodyPr wrap="square" lIns="0" tIns="0" rIns="0" bIns="0" rtlCol="0" anchor="ctr"/>
          <a:lstStyle/>
          <a:p>
            <a:pPr algn="ctr" indent="0" marL="0">
              <a:buNone/>
            </a:pPr>
            <a:r>
              <a:rPr lang="en-US" sz="1400" b="1" dirty="0">
                <a:solidFill>
                  <a:srgbClr val="1F7A50"/>
                </a:solidFill>
                <a:latin typeface="Courier New" pitchFamily="34" charset="0"/>
                <a:ea typeface="Courier New" pitchFamily="34" charset="-122"/>
                <a:cs typeface="Courier New" pitchFamily="34" charset="-120"/>
              </a:rPr>
              <a:t>5</a:t>
            </a:r>
            <a:endParaRPr lang="en-US" sz="1400" dirty="0"/>
          </a:p>
        </p:txBody>
      </p:sp>
      <p:sp>
        <p:nvSpPr>
          <p:cNvPr id="94" name="Shape 91"/>
          <p:cNvSpPr/>
          <p:nvPr/>
        </p:nvSpPr>
        <p:spPr>
          <a:xfrm>
            <a:off x="8951976" y="5568696"/>
            <a:ext cx="2743200" cy="0"/>
          </a:xfrm>
          <a:prstGeom prst="line">
            <a:avLst/>
          </a:prstGeom>
          <a:noFill/>
          <a:ln w="25400">
            <a:solidFill>
              <a:srgbClr val="14213D"/>
            </a:solidFill>
            <a:prstDash val="solid"/>
          </a:ln>
        </p:spPr>
      </p:sp>
      <p:sp>
        <p:nvSpPr>
          <p:cNvPr id="95" name="Text 92"/>
          <p:cNvSpPr txBox="1"/>
          <p:nvPr/>
        </p:nvSpPr>
        <p:spPr>
          <a:xfrm>
            <a:off x="8997696" y="5623560"/>
            <a:ext cx="2651760" cy="3657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④ back in main</a:t>
            </a:r>
            <a:endParaRPr lang="en-US" sz="1500" dirty="0"/>
          </a:p>
        </p:txBody>
      </p:sp>
      <p:sp>
        <p:nvSpPr>
          <p:cNvPr id="96" name="Shape 93"/>
          <p:cNvSpPr/>
          <p:nvPr/>
        </p:nvSpPr>
        <p:spPr>
          <a:xfrm>
            <a:off x="548640" y="1874520"/>
            <a:ext cx="274320" cy="274320"/>
          </a:xfrm>
          <a:prstGeom prst="rect">
            <a:avLst/>
          </a:prstGeom>
          <a:solidFill>
            <a:srgbClr val="FFF1D6"/>
          </a:solidFill>
          <a:ln w="12700">
            <a:solidFill>
              <a:srgbClr val="8A94AB"/>
            </a:solidFill>
            <a:prstDash val="solid"/>
          </a:ln>
        </p:spPr>
      </p:sp>
      <p:sp>
        <p:nvSpPr>
          <p:cNvPr id="97" name="Text 94"/>
          <p:cNvSpPr txBox="1"/>
          <p:nvPr/>
        </p:nvSpPr>
        <p:spPr>
          <a:xfrm>
            <a:off x="914400" y="1828800"/>
            <a:ext cx="201168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copied argument</a:t>
            </a:r>
            <a:endParaRPr lang="en-US" sz="1300" dirty="0"/>
          </a:p>
        </p:txBody>
      </p:sp>
      <p:sp>
        <p:nvSpPr>
          <p:cNvPr id="98" name="Shape 95"/>
          <p:cNvSpPr/>
          <p:nvPr/>
        </p:nvSpPr>
        <p:spPr>
          <a:xfrm>
            <a:off x="548640" y="2331720"/>
            <a:ext cx="274320" cy="274320"/>
          </a:xfrm>
          <a:prstGeom prst="rect">
            <a:avLst/>
          </a:prstGeom>
          <a:solidFill>
            <a:srgbClr val="FCA311"/>
          </a:solidFill>
          <a:ln w="12700">
            <a:solidFill>
              <a:srgbClr val="FCA311"/>
            </a:solidFill>
            <a:prstDash val="solid"/>
          </a:ln>
        </p:spPr>
      </p:sp>
      <p:sp>
        <p:nvSpPr>
          <p:cNvPr id="99" name="Text 96"/>
          <p:cNvSpPr txBox="1"/>
          <p:nvPr/>
        </p:nvSpPr>
        <p:spPr>
          <a:xfrm>
            <a:off x="914400" y="2286000"/>
            <a:ext cx="201168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active frame</a:t>
            </a:r>
            <a:endParaRPr lang="en-US" sz="1300" dirty="0"/>
          </a:p>
        </p:txBody>
      </p:sp>
      <p:sp>
        <p:nvSpPr>
          <p:cNvPr id="100" name="Shape 97"/>
          <p:cNvSpPr/>
          <p:nvPr/>
        </p:nvSpPr>
        <p:spPr>
          <a:xfrm>
            <a:off x="548640" y="2788920"/>
            <a:ext cx="274320" cy="274320"/>
          </a:xfrm>
          <a:prstGeom prst="rect">
            <a:avLst/>
          </a:prstGeom>
          <a:solidFill>
            <a:srgbClr val="E6F4EC"/>
          </a:solidFill>
          <a:ln w="12700">
            <a:solidFill>
              <a:srgbClr val="8A94AB"/>
            </a:solidFill>
            <a:prstDash val="solid"/>
          </a:ln>
        </p:spPr>
      </p:sp>
      <p:sp>
        <p:nvSpPr>
          <p:cNvPr id="101" name="Text 98"/>
          <p:cNvSpPr txBox="1"/>
          <p:nvPr/>
        </p:nvSpPr>
        <p:spPr>
          <a:xfrm>
            <a:off x="914400" y="2743200"/>
            <a:ext cx="201168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returned value</a:t>
            </a:r>
            <a:endParaRPr lang="en-US" sz="1300" dirty="0"/>
          </a:p>
        </p:txBody>
      </p:sp>
      <p:sp>
        <p:nvSpPr>
          <p:cNvPr id="102" name="Text 99"/>
          <p:cNvSpPr txBox="1"/>
          <p:nvPr/>
        </p:nvSpPr>
        <p:spPr>
          <a:xfrm>
            <a:off x="8997696" y="1828800"/>
            <a:ext cx="2651760" cy="365760"/>
          </a:xfrm>
          <a:prstGeom prst="rect">
            <a:avLst/>
          </a:prstGeom>
          <a:noFill/>
          <a:ln/>
        </p:spPr>
        <p:txBody>
          <a:bodyPr wrap="square" lIns="0" tIns="0" rIns="0" bIns="0" rtlCol="0" anchor="ctr"/>
          <a:lstStyle/>
          <a:p>
            <a:pPr algn="ctr" indent="0" marL="0">
              <a:buNone/>
            </a:pPr>
            <a:r>
              <a:rPr lang="en-US" sz="1400" b="1" dirty="0">
                <a:solidFill>
                  <a:srgbClr val="5B6478"/>
                </a:solidFill>
                <a:latin typeface="Calibri" pitchFamily="34" charset="0"/>
                <a:ea typeface="Calibri" pitchFamily="34" charset="-122"/>
                <a:cs typeface="Calibri" pitchFamily="34" charset="-120"/>
              </a:rPr>
              <a:t>newest frame on top ↑</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12_03_CALLSTACK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program that prints its own call stack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45920"/>
            <a:ext cx="63550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8978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(main and Square; Hypotenuse on the previous slides)</a:t>
            </a:r>
            <a:endParaRPr lang="en-US" sz="1100" dirty="0"/>
          </a:p>
        </p:txBody>
      </p:sp>
      <p:sp>
        <p:nvSpPr>
          <p:cNvPr id="9" name="Text 6"/>
          <p:cNvSpPr txBox="1"/>
          <p:nvPr/>
        </p:nvSpPr>
        <p:spPr>
          <a:xfrm>
            <a:off x="777240" y="2057400"/>
            <a:ext cx="589788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$"main: a = {a}, b = {b}"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Hypotenuse(a, b);</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$"main: c = {c}"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Square(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Square starts: v = {v}"</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 = v *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Square returns {result}"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086600" y="1645920"/>
            <a:ext cx="4572000" cy="2697480"/>
          </a:xfrm>
          <a:prstGeom prst="roundRect">
            <a:avLst>
              <a:gd name="adj" fmla="val 3390"/>
            </a:avLst>
          </a:prstGeom>
          <a:solidFill>
            <a:srgbClr val="0B0F19"/>
          </a:solidFill>
          <a:ln w="12700">
            <a:solidFill>
              <a:srgbClr val="2A3654"/>
            </a:solidFill>
            <a:prstDash val="solid"/>
          </a:ln>
        </p:spPr>
      </p:sp>
      <p:sp>
        <p:nvSpPr>
          <p:cNvPr id="11" name="Shape 8"/>
          <p:cNvSpPr/>
          <p:nvPr/>
        </p:nvSpPr>
        <p:spPr>
          <a:xfrm>
            <a:off x="726948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49808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72668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01000" y="1719072"/>
            <a:ext cx="3474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315200" y="2029968"/>
            <a:ext cx="4114800" cy="21945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main: a = 3, b =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Hypotenuse starts: x = 3, y =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Square starts: v = 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Square returns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Square starts: v =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Square returns 16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Hypotenuse returns 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main: c = 5</a:t>
            </a:r>
            <a:endParaRPr lang="en-US" sz="1300" dirty="0"/>
          </a:p>
        </p:txBody>
      </p:sp>
      <p:sp>
        <p:nvSpPr>
          <p:cNvPr id="16" name="Shape 13"/>
          <p:cNvSpPr/>
          <p:nvPr/>
        </p:nvSpPr>
        <p:spPr>
          <a:xfrm>
            <a:off x="7086600" y="4526280"/>
            <a:ext cx="4572000" cy="1554480"/>
          </a:xfrm>
          <a:prstGeom prst="roundRect">
            <a:avLst>
              <a:gd name="adj" fmla="val 7059"/>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7360920" y="5029200"/>
            <a:ext cx="548640" cy="548640"/>
          </a:xfrm>
          <a:prstGeom prst="rect">
            <a:avLst/>
          </a:prstGeom>
        </p:spPr>
      </p:pic>
      <p:sp>
        <p:nvSpPr>
          <p:cNvPr id="18" name="Text 14"/>
          <p:cNvSpPr txBox="1"/>
          <p:nvPr/>
        </p:nvSpPr>
        <p:spPr>
          <a:xfrm>
            <a:off x="8183880" y="4599432"/>
            <a:ext cx="3200400" cy="140817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Indentation = depth. </a:t>
            </a:r>
            <a:pPr indent="0" marL="0">
              <a:buNone/>
            </a:pPr>
            <a:r>
              <a:rPr lang="en-US" sz="1500" dirty="0">
                <a:solidFill>
                  <a:srgbClr val="333B4F"/>
                </a:solidFill>
                <a:latin typeface="Calibri" pitchFamily="34" charset="0"/>
                <a:ea typeface="Calibri" pitchFamily="34" charset="-122"/>
                <a:cs typeface="Calibri" pitchFamily="34" charset="-120"/>
              </a:rPr>
              <a:t>main → Hypotenuse → Square: at most 3 frames.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PARAMETERS VS ARGUMENTS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Arguments are matched to parameters by POSITION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Text 4"/>
          <p:cNvSpPr txBox="1"/>
          <p:nvPr/>
        </p:nvSpPr>
        <p:spPr>
          <a:xfrm>
            <a:off x="548640" y="1691640"/>
            <a:ext cx="6400800" cy="457200"/>
          </a:xfrm>
          <a:prstGeom prst="rect">
            <a:avLst/>
          </a:prstGeom>
          <a:noFill/>
          <a:ln/>
        </p:spPr>
        <p:txBody>
          <a:bodyPr wrap="square" lIns="0" tIns="0" rIns="0" bIns="0" rtlCol="0" anchor="ctr"/>
          <a:lstStyle/>
          <a:p>
            <a:pPr indent="0" marL="0">
              <a:buNone/>
            </a:pPr>
            <a:r>
              <a:rPr lang="en-US" sz="2000" b="1" dirty="0">
                <a:solidFill>
                  <a:srgbClr val="14213D"/>
                </a:solidFill>
                <a:latin typeface="Courier New" pitchFamily="34" charset="0"/>
                <a:ea typeface="Courier New" pitchFamily="34" charset="-122"/>
                <a:cs typeface="Courier New" pitchFamily="34" charset="-120"/>
              </a:rPr>
              <a:t>double c = Hypotenuse(</a:t>
            </a:r>
            <a:pPr indent="0" marL="0">
              <a:buNone/>
            </a:pPr>
            <a:r>
              <a:rPr lang="en-US" sz="2000" b="1" dirty="0">
                <a:solidFill>
                  <a:srgbClr val="B7791F"/>
                </a:solidFill>
                <a:latin typeface="Courier New" pitchFamily="34" charset="0"/>
                <a:ea typeface="Courier New" pitchFamily="34" charset="-122"/>
                <a:cs typeface="Courier New" pitchFamily="34" charset="-120"/>
              </a:rPr>
              <a:t>a</a:t>
            </a:r>
            <a:pPr indent="0" marL="0">
              <a:buNone/>
            </a:pPr>
            <a:r>
              <a:rPr lang="en-US" sz="2000" b="1" dirty="0">
                <a:solidFill>
                  <a:srgbClr val="14213D"/>
                </a:solidFill>
                <a:latin typeface="Courier New" pitchFamily="34" charset="0"/>
                <a:ea typeface="Courier New" pitchFamily="34" charset="-122"/>
                <a:cs typeface="Courier New" pitchFamily="34" charset="-120"/>
              </a:rPr>
              <a:t>, </a:t>
            </a:r>
            <a:pPr indent="0" marL="0">
              <a:buNone/>
            </a:pPr>
            <a:r>
              <a:rPr lang="en-US" sz="2000" b="1" dirty="0">
                <a:solidFill>
                  <a:srgbClr val="B7791F"/>
                </a:solidFill>
                <a:latin typeface="Courier New" pitchFamily="34" charset="0"/>
                <a:ea typeface="Courier New" pitchFamily="34" charset="-122"/>
                <a:cs typeface="Courier New" pitchFamily="34" charset="-120"/>
              </a:rPr>
              <a:t>b</a:t>
            </a:r>
            <a:pPr indent="0" marL="0">
              <a:buNone/>
            </a:pPr>
            <a:r>
              <a:rPr lang="en-US" sz="2000" b="1" dirty="0">
                <a:solidFill>
                  <a:srgbClr val="14213D"/>
                </a:solidFill>
                <a:latin typeface="Courier New" pitchFamily="34" charset="0"/>
                <a:ea typeface="Courier New" pitchFamily="34" charset="-122"/>
                <a:cs typeface="Courier New" pitchFamily="34" charset="-120"/>
              </a:rPr>
              <a:t>);</a:t>
            </a:r>
            <a:endParaRPr lang="en-US" sz="2000" dirty="0"/>
          </a:p>
        </p:txBody>
      </p:sp>
      <p:sp>
        <p:nvSpPr>
          <p:cNvPr id="8" name="Text 5"/>
          <p:cNvSpPr txBox="1"/>
          <p:nvPr/>
        </p:nvSpPr>
        <p:spPr>
          <a:xfrm>
            <a:off x="548640" y="2880360"/>
            <a:ext cx="6858000" cy="457200"/>
          </a:xfrm>
          <a:prstGeom prst="rect">
            <a:avLst/>
          </a:prstGeom>
          <a:noFill/>
          <a:ln/>
        </p:spPr>
        <p:txBody>
          <a:bodyPr wrap="square" lIns="0" tIns="0" rIns="0" bIns="0" rtlCol="0" anchor="ctr"/>
          <a:lstStyle/>
          <a:p>
            <a:pPr indent="0" marL="0">
              <a:buNone/>
            </a:pPr>
            <a:r>
              <a:rPr lang="en-US" sz="2000" b="1" dirty="0">
                <a:solidFill>
                  <a:srgbClr val="14213D"/>
                </a:solidFill>
                <a:latin typeface="Courier New" pitchFamily="34" charset="0"/>
                <a:ea typeface="Courier New" pitchFamily="34" charset="-122"/>
                <a:cs typeface="Courier New" pitchFamily="34" charset="-120"/>
              </a:rPr>
              <a:t>static double Hypotenuse(</a:t>
            </a:r>
            <a:pPr indent="0" marL="0">
              <a:buNone/>
            </a:pPr>
            <a:r>
              <a:rPr lang="en-US" sz="2000" b="1" dirty="0">
                <a:solidFill>
                  <a:srgbClr val="2E9E6A"/>
                </a:solidFill>
                <a:latin typeface="Courier New" pitchFamily="34" charset="0"/>
                <a:ea typeface="Courier New" pitchFamily="34" charset="-122"/>
                <a:cs typeface="Courier New" pitchFamily="34" charset="-120"/>
              </a:rPr>
              <a:t>double x</a:t>
            </a:r>
            <a:pPr indent="0" marL="0">
              <a:buNone/>
            </a:pPr>
            <a:r>
              <a:rPr lang="en-US" sz="2000" b="1" dirty="0">
                <a:solidFill>
                  <a:srgbClr val="14213D"/>
                </a:solidFill>
                <a:latin typeface="Courier New" pitchFamily="34" charset="0"/>
                <a:ea typeface="Courier New" pitchFamily="34" charset="-122"/>
                <a:cs typeface="Courier New" pitchFamily="34" charset="-120"/>
              </a:rPr>
              <a:t>, </a:t>
            </a:r>
            <a:pPr indent="0" marL="0">
              <a:buNone/>
            </a:pPr>
            <a:r>
              <a:rPr lang="en-US" sz="2000" b="1" dirty="0">
                <a:solidFill>
                  <a:srgbClr val="2E9E6A"/>
                </a:solidFill>
                <a:latin typeface="Courier New" pitchFamily="34" charset="0"/>
                <a:ea typeface="Courier New" pitchFamily="34" charset="-122"/>
                <a:cs typeface="Courier New" pitchFamily="34" charset="-120"/>
              </a:rPr>
              <a:t>double y</a:t>
            </a:r>
            <a:pPr indent="0" marL="0">
              <a:buNone/>
            </a:pPr>
            <a:r>
              <a:rPr lang="en-US" sz="2000" b="1" dirty="0">
                <a:solidFill>
                  <a:srgbClr val="14213D"/>
                </a:solidFill>
                <a:latin typeface="Courier New" pitchFamily="34" charset="0"/>
                <a:ea typeface="Courier New" pitchFamily="34" charset="-122"/>
                <a:cs typeface="Courier New" pitchFamily="34" charset="-120"/>
              </a:rPr>
              <a:t>)</a:t>
            </a:r>
            <a:endParaRPr lang="en-US" sz="2000" dirty="0"/>
          </a:p>
        </p:txBody>
      </p:sp>
      <p:sp>
        <p:nvSpPr>
          <p:cNvPr id="9" name="Shape 6"/>
          <p:cNvSpPr/>
          <p:nvPr/>
        </p:nvSpPr>
        <p:spPr>
          <a:xfrm>
            <a:off x="3977640" y="2148840"/>
            <a:ext cx="990600" cy="731520"/>
          </a:xfrm>
          <a:prstGeom prst="line">
            <a:avLst/>
          </a:prstGeom>
          <a:noFill/>
          <a:ln w="15875">
            <a:solidFill>
              <a:srgbClr val="B7791F"/>
            </a:solidFill>
            <a:prstDash val="solid"/>
            <a:tailEnd type="triangle"/>
          </a:ln>
        </p:spPr>
      </p:sp>
      <p:sp>
        <p:nvSpPr>
          <p:cNvPr id="10" name="Shape 7"/>
          <p:cNvSpPr/>
          <p:nvPr/>
        </p:nvSpPr>
        <p:spPr>
          <a:xfrm>
            <a:off x="4434840" y="2148840"/>
            <a:ext cx="2057400" cy="731520"/>
          </a:xfrm>
          <a:prstGeom prst="line">
            <a:avLst/>
          </a:prstGeom>
          <a:noFill/>
          <a:ln w="15875">
            <a:solidFill>
              <a:srgbClr val="B7791F"/>
            </a:solidFill>
            <a:prstDash val="solid"/>
            <a:tailEnd type="triangle"/>
          </a:ln>
        </p:spPr>
      </p:sp>
      <p:sp>
        <p:nvSpPr>
          <p:cNvPr id="11" name="Text 8"/>
          <p:cNvSpPr txBox="1"/>
          <p:nvPr/>
        </p:nvSpPr>
        <p:spPr>
          <a:xfrm>
            <a:off x="548640" y="2286000"/>
            <a:ext cx="2926080" cy="365760"/>
          </a:xfrm>
          <a:prstGeom prst="rect">
            <a:avLst/>
          </a:prstGeom>
          <a:noFill/>
          <a:ln/>
        </p:spPr>
        <p:txBody>
          <a:bodyPr wrap="square" lIns="0" tIns="0" rIns="0" bIns="0" rtlCol="0" anchor="ctr"/>
          <a:lstStyle/>
          <a:p>
            <a:pPr algn="l" indent="0" marL="0">
              <a:buNone/>
            </a:pPr>
            <a:r>
              <a:rPr lang="en-US" sz="1400" b="1" dirty="0">
                <a:solidFill>
                  <a:srgbClr val="B7791F"/>
                </a:solidFill>
                <a:latin typeface="Calibri" pitchFamily="34" charset="0"/>
                <a:ea typeface="Calibri" pitchFamily="34" charset="-122"/>
                <a:cs typeface="Calibri" pitchFamily="34" charset="-120"/>
              </a:rPr>
              <a:t>arguments (values)</a:t>
            </a:r>
            <a:endParaRPr lang="en-US" sz="1400" dirty="0"/>
          </a:p>
        </p:txBody>
      </p:sp>
      <p:sp>
        <p:nvSpPr>
          <p:cNvPr id="12" name="Text 9"/>
          <p:cNvSpPr txBox="1"/>
          <p:nvPr/>
        </p:nvSpPr>
        <p:spPr>
          <a:xfrm>
            <a:off x="548640" y="3383280"/>
            <a:ext cx="3657600" cy="365760"/>
          </a:xfrm>
          <a:prstGeom prst="rect">
            <a:avLst/>
          </a:prstGeom>
          <a:noFill/>
          <a:ln/>
        </p:spPr>
        <p:txBody>
          <a:bodyPr wrap="square" lIns="0" tIns="0" rIns="0" bIns="0" rtlCol="0" anchor="ctr"/>
          <a:lstStyle/>
          <a:p>
            <a:pPr algn="l" indent="0" marL="0">
              <a:buNone/>
            </a:pPr>
            <a:r>
              <a:rPr lang="en-US" sz="1400" b="1" dirty="0">
                <a:solidFill>
                  <a:srgbClr val="2E9E6A"/>
                </a:solidFill>
                <a:latin typeface="Calibri" pitchFamily="34" charset="0"/>
                <a:ea typeface="Calibri" pitchFamily="34" charset="-122"/>
                <a:cs typeface="Calibri" pitchFamily="34" charset="-120"/>
              </a:rPr>
              <a:t>parameters (variables)</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109960" cy="914400"/>
        </p:xfrm>
        <a:graphic>
          <a:graphicData uri="http://schemas.openxmlformats.org/drawingml/2006/table">
            <a:tbl>
              <a:tblPr/>
              <a:tblGrid>
                <a:gridCol w="2011680"/>
                <a:gridCol w="9098280"/>
              </a:tblGrid>
              <a:tr h="50292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Example of a violation → real compiler message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same number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Square()  →  CS7036: There is no argument given that corresponds to the required parameter 'x' of 'Square(int)'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compatible types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Square("5")  →  CS1503: Argument 1: cannot convert from 'string' to 'int'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names may differ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argument a goes into parameter x (position counts)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4" name="Shape 10"/>
          <p:cNvSpPr/>
          <p:nvPr/>
        </p:nvSpPr>
        <p:spPr>
          <a:xfrm>
            <a:off x="7863840" y="1645920"/>
            <a:ext cx="3794760" cy="2057400"/>
          </a:xfrm>
          <a:prstGeom prst="roundRect">
            <a:avLst>
              <a:gd name="adj" fmla="val 5333"/>
            </a:avLst>
          </a:prstGeom>
          <a:solidFill>
            <a:srgbClr val="FFF6E3"/>
          </a:solidFill>
          <a:ln w="12700">
            <a:solidFill>
              <a:srgbClr val="FFF6E3"/>
            </a:solidFill>
            <a:prstDash val="solid"/>
          </a:ln>
        </p:spPr>
      </p:sp>
      <p:pic>
        <p:nvPicPr>
          <p:cNvPr id="15" name="Image 0" descr="preencoded.png">    </p:cNvPr>
          <p:cNvPicPr>
            <a:picLocks noChangeAspect="1"/>
          </p:cNvPicPr>
          <p:nvPr/>
        </p:nvPicPr>
        <p:blipFill>
          <a:blip r:embed="rId1"/>
          <a:stretch>
            <a:fillRect/>
          </a:stretch>
        </p:blipFill>
        <p:spPr>
          <a:xfrm>
            <a:off x="8138160" y="2400300"/>
            <a:ext cx="548640" cy="548640"/>
          </a:xfrm>
          <a:prstGeom prst="rect">
            <a:avLst/>
          </a:prstGeom>
        </p:spPr>
      </p:pic>
      <p:sp>
        <p:nvSpPr>
          <p:cNvPr id="16" name="Text 11"/>
          <p:cNvSpPr txBox="1"/>
          <p:nvPr/>
        </p:nvSpPr>
        <p:spPr>
          <a:xfrm>
            <a:off x="8961120" y="1719072"/>
            <a:ext cx="2423160" cy="1911096"/>
          </a:xfrm>
          <a:prstGeom prst="rect">
            <a:avLst/>
          </a:prstGeom>
          <a:noFill/>
          <a:ln/>
        </p:spPr>
        <p:txBody>
          <a:bodyPr wrap="square" lIns="0" tIns="0" rIns="0" bIns="0" rtlCol="0" anchor="ctr"/>
          <a:lstStyle/>
          <a:p>
            <a:pPr indent="0" marL="0">
              <a:buNone/>
            </a:pPr>
            <a:r>
              <a:rPr lang="en-US" sz="1500" b="1" dirty="0">
                <a:solidFill>
                  <a:srgbClr val="2E9E6A"/>
                </a:solidFill>
                <a:latin typeface="Calibri" pitchFamily="34" charset="0"/>
                <a:ea typeface="Calibri" pitchFamily="34" charset="-122"/>
                <a:cs typeface="Calibri" pitchFamily="34" charset="-120"/>
              </a:rPr>
              <a:t>Parameter </a:t>
            </a:r>
            <a:pPr indent="0" marL="0">
              <a:buNone/>
            </a:pPr>
            <a:r>
              <a:rPr lang="en-US" sz="1500" dirty="0">
                <a:solidFill>
                  <a:srgbClr val="333B4F"/>
                </a:solidFill>
                <a:latin typeface="Calibri" pitchFamily="34" charset="0"/>
                <a:ea typeface="Calibri" pitchFamily="34" charset="-122"/>
                <a:cs typeface="Calibri" pitchFamily="34" charset="-120"/>
              </a:rPr>
              <a:t>= the box in the header.
</a:t>
            </a:r>
            <a:pPr indent="0" marL="0">
              <a:buNone/>
            </a:pPr>
            <a:r>
              <a:rPr lang="en-US" sz="1500" b="1" dirty="0">
                <a:solidFill>
                  <a:srgbClr val="B7791F"/>
                </a:solidFill>
                <a:latin typeface="Calibri" pitchFamily="34" charset="0"/>
                <a:ea typeface="Calibri" pitchFamily="34" charset="-122"/>
                <a:cs typeface="Calibri" pitchFamily="34" charset="-120"/>
              </a:rPr>
              <a:t>Argument </a:t>
            </a:r>
            <a:pPr indent="0" marL="0">
              <a:buNone/>
            </a:pPr>
            <a:r>
              <a:rPr lang="en-US" sz="1500" dirty="0">
                <a:solidFill>
                  <a:srgbClr val="333B4F"/>
                </a:solidFill>
                <a:latin typeface="Calibri" pitchFamily="34" charset="0"/>
                <a:ea typeface="Calibri" pitchFamily="34" charset="-122"/>
                <a:cs typeface="Calibri" pitchFamily="34" charset="-120"/>
              </a:rPr>
              <a:t>= the value you put in.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Passing parameters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By value (a copy) · arrays (the reference is copied) · ref (an alias) · out (a result)</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12</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PASS BY VALUE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parameter is a COPY: changing it does not change the caller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4334256"/>
            <a:ext cx="2331720" cy="923544"/>
          </a:xfrm>
          <a:prstGeom prst="rect">
            <a:avLst/>
          </a:prstGeom>
          <a:solidFill>
            <a:srgbClr val="EEF1F6"/>
          </a:solidFill>
          <a:ln w="12700">
            <a:solidFill>
              <a:srgbClr val="14213D"/>
            </a:solidFill>
            <a:prstDash val="solid"/>
          </a:ln>
        </p:spPr>
      </p:sp>
      <p:sp>
        <p:nvSpPr>
          <p:cNvPr id="8" name="Shape 5"/>
          <p:cNvSpPr/>
          <p:nvPr/>
        </p:nvSpPr>
        <p:spPr>
          <a:xfrm>
            <a:off x="548640" y="4334256"/>
            <a:ext cx="2331720" cy="329184"/>
          </a:xfrm>
          <a:prstGeom prst="rect">
            <a:avLst/>
          </a:prstGeom>
          <a:solidFill>
            <a:srgbClr val="14213D"/>
          </a:solidFill>
          <a:ln w="12700">
            <a:solidFill>
              <a:srgbClr val="14213D"/>
            </a:solidFill>
            <a:prstDash val="solid"/>
          </a:ln>
        </p:spPr>
      </p:sp>
      <p:sp>
        <p:nvSpPr>
          <p:cNvPr id="9" name="Text 6"/>
          <p:cNvSpPr txBox="1"/>
          <p:nvPr/>
        </p:nvSpPr>
        <p:spPr>
          <a:xfrm>
            <a:off x="640080" y="4334256"/>
            <a:ext cx="214884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10" name="Text 7"/>
          <p:cNvSpPr txBox="1"/>
          <p:nvPr/>
        </p:nvSpPr>
        <p:spPr>
          <a:xfrm>
            <a:off x="594360" y="4709160"/>
            <a:ext cx="914400" cy="448056"/>
          </a:xfrm>
          <a:prstGeom prst="rect">
            <a:avLst/>
          </a:prstGeom>
          <a:noFill/>
          <a:ln/>
        </p:spPr>
        <p:txBody>
          <a:bodyPr wrap="square" lIns="0" tIns="0" rIns="0" bIns="0" rtlCol="0" anchor="ct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score</a:t>
            </a:r>
            <a:endParaRPr lang="en-US" sz="1600" dirty="0"/>
          </a:p>
        </p:txBody>
      </p:sp>
      <p:sp>
        <p:nvSpPr>
          <p:cNvPr id="11" name="Shape 8"/>
          <p:cNvSpPr/>
          <p:nvPr/>
        </p:nvSpPr>
        <p:spPr>
          <a:xfrm>
            <a:off x="1600200" y="4709160"/>
            <a:ext cx="1188720" cy="448056"/>
          </a:xfrm>
          <a:prstGeom prst="rect">
            <a:avLst/>
          </a:prstGeom>
          <a:solidFill>
            <a:srgbClr val="FFFFFF"/>
          </a:solidFill>
          <a:ln w="9525">
            <a:solidFill>
              <a:srgbClr val="8A94AB"/>
            </a:solidFill>
            <a:prstDash val="solid"/>
          </a:ln>
        </p:spPr>
      </p:sp>
      <p:sp>
        <p:nvSpPr>
          <p:cNvPr id="12" name="Text 9"/>
          <p:cNvSpPr txBox="1"/>
          <p:nvPr/>
        </p:nvSpPr>
        <p:spPr>
          <a:xfrm>
            <a:off x="1600200" y="4709160"/>
            <a:ext cx="1188720" cy="448056"/>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70</a:t>
            </a:r>
            <a:endParaRPr lang="en-US" sz="1600" dirty="0"/>
          </a:p>
        </p:txBody>
      </p:sp>
      <p:sp>
        <p:nvSpPr>
          <p:cNvPr id="13" name="Shape 10"/>
          <p:cNvSpPr/>
          <p:nvPr/>
        </p:nvSpPr>
        <p:spPr>
          <a:xfrm>
            <a:off x="548640" y="2496312"/>
            <a:ext cx="2331720" cy="923544"/>
          </a:xfrm>
          <a:prstGeom prst="rect">
            <a:avLst/>
          </a:prstGeom>
          <a:solidFill>
            <a:srgbClr val="EEF1F6"/>
          </a:solidFill>
          <a:ln w="12700">
            <a:solidFill>
              <a:srgbClr val="14213D"/>
            </a:solidFill>
            <a:prstDash val="solid"/>
          </a:ln>
        </p:spPr>
      </p:sp>
      <p:sp>
        <p:nvSpPr>
          <p:cNvPr id="14" name="Shape 11"/>
          <p:cNvSpPr/>
          <p:nvPr/>
        </p:nvSpPr>
        <p:spPr>
          <a:xfrm>
            <a:off x="548640" y="2496312"/>
            <a:ext cx="2331720" cy="329184"/>
          </a:xfrm>
          <a:prstGeom prst="rect">
            <a:avLst/>
          </a:prstGeom>
          <a:solidFill>
            <a:srgbClr val="FCA311"/>
          </a:solidFill>
          <a:ln w="12700">
            <a:solidFill>
              <a:srgbClr val="14213D"/>
            </a:solidFill>
            <a:prstDash val="solid"/>
          </a:ln>
        </p:spPr>
      </p:sp>
      <p:sp>
        <p:nvSpPr>
          <p:cNvPr id="15" name="Text 12"/>
          <p:cNvSpPr txBox="1"/>
          <p:nvPr/>
        </p:nvSpPr>
        <p:spPr>
          <a:xfrm>
            <a:off x="640080" y="2496312"/>
            <a:ext cx="214884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AddBonus</a:t>
            </a:r>
            <a:endParaRPr lang="en-US" sz="1200" dirty="0"/>
          </a:p>
        </p:txBody>
      </p:sp>
      <p:sp>
        <p:nvSpPr>
          <p:cNvPr id="16" name="Text 13"/>
          <p:cNvSpPr txBox="1"/>
          <p:nvPr/>
        </p:nvSpPr>
        <p:spPr>
          <a:xfrm>
            <a:off x="594360" y="2871216"/>
            <a:ext cx="914400" cy="448056"/>
          </a:xfrm>
          <a:prstGeom prst="rect">
            <a:avLst/>
          </a:prstGeom>
          <a:noFill/>
          <a:ln/>
        </p:spPr>
        <p:txBody>
          <a:bodyPr wrap="square" lIns="0" tIns="0" rIns="0" bIns="0" rtlCol="0" anchor="ct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points</a:t>
            </a:r>
            <a:endParaRPr lang="en-US" sz="1600" dirty="0"/>
          </a:p>
        </p:txBody>
      </p:sp>
      <p:sp>
        <p:nvSpPr>
          <p:cNvPr id="17" name="Shape 14"/>
          <p:cNvSpPr/>
          <p:nvPr/>
        </p:nvSpPr>
        <p:spPr>
          <a:xfrm>
            <a:off x="1600200" y="2871216"/>
            <a:ext cx="1188720" cy="448056"/>
          </a:xfrm>
          <a:prstGeom prst="rect">
            <a:avLst/>
          </a:prstGeom>
          <a:solidFill>
            <a:srgbClr val="FFF1D6"/>
          </a:solidFill>
          <a:ln w="9525">
            <a:solidFill>
              <a:srgbClr val="8A94AB"/>
            </a:solidFill>
            <a:prstDash val="solid"/>
          </a:ln>
        </p:spPr>
      </p:sp>
      <p:sp>
        <p:nvSpPr>
          <p:cNvPr id="18" name="Text 15"/>
          <p:cNvSpPr txBox="1"/>
          <p:nvPr/>
        </p:nvSpPr>
        <p:spPr>
          <a:xfrm>
            <a:off x="1600200" y="2871216"/>
            <a:ext cx="1188720" cy="448056"/>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70</a:t>
            </a:r>
            <a:endParaRPr lang="en-US" sz="1600" dirty="0"/>
          </a:p>
        </p:txBody>
      </p:sp>
      <p:sp>
        <p:nvSpPr>
          <p:cNvPr id="19" name="Shape 16"/>
          <p:cNvSpPr/>
          <p:nvPr/>
        </p:nvSpPr>
        <p:spPr>
          <a:xfrm>
            <a:off x="2788920" y="4933188"/>
            <a:ext cx="274320" cy="0"/>
          </a:xfrm>
          <a:prstGeom prst="line">
            <a:avLst/>
          </a:prstGeom>
          <a:noFill/>
          <a:ln w="15875">
            <a:solidFill>
              <a:srgbClr val="B7791F"/>
            </a:solidFill>
            <a:prstDash val="solid"/>
          </a:ln>
        </p:spPr>
      </p:sp>
      <p:sp>
        <p:nvSpPr>
          <p:cNvPr id="20" name="Shape 17"/>
          <p:cNvSpPr/>
          <p:nvPr/>
        </p:nvSpPr>
        <p:spPr>
          <a:xfrm flipV="1">
            <a:off x="3063240" y="3095244"/>
            <a:ext cx="0" cy="1837944"/>
          </a:xfrm>
          <a:prstGeom prst="line">
            <a:avLst/>
          </a:prstGeom>
          <a:noFill/>
          <a:ln w="15875">
            <a:solidFill>
              <a:srgbClr val="B7791F"/>
            </a:solidFill>
            <a:prstDash val="solid"/>
          </a:ln>
        </p:spPr>
      </p:sp>
      <p:sp>
        <p:nvSpPr>
          <p:cNvPr id="21" name="Shape 18"/>
          <p:cNvSpPr/>
          <p:nvPr/>
        </p:nvSpPr>
        <p:spPr>
          <a:xfrm flipH="1">
            <a:off x="2807208" y="3095244"/>
            <a:ext cx="256032" cy="0"/>
          </a:xfrm>
          <a:prstGeom prst="line">
            <a:avLst/>
          </a:prstGeom>
          <a:noFill/>
          <a:ln w="15875">
            <a:solidFill>
              <a:srgbClr val="B7791F"/>
            </a:solidFill>
            <a:prstDash val="solid"/>
            <a:tailEnd type="triangle"/>
          </a:ln>
        </p:spPr>
      </p:sp>
      <p:sp>
        <p:nvSpPr>
          <p:cNvPr id="22" name="Text 19"/>
          <p:cNvSpPr txBox="1"/>
          <p:nvPr/>
        </p:nvSpPr>
        <p:spPr>
          <a:xfrm>
            <a:off x="3108960" y="3858768"/>
            <a:ext cx="1188720" cy="310896"/>
          </a:xfrm>
          <a:prstGeom prst="rect">
            <a:avLst/>
          </a:prstGeom>
          <a:noFill/>
          <a:ln/>
        </p:spPr>
        <p:txBody>
          <a:bodyPr wrap="square" lIns="0" tIns="0" rIns="0" bIns="0" rtlCol="0" anchor="ctr"/>
          <a:lstStyle/>
          <a:p>
            <a:pPr algn="l" indent="0" marL="0">
              <a:buNone/>
            </a:pPr>
            <a:r>
              <a:rPr lang="en-US" sz="1200" b="1" dirty="0">
                <a:solidFill>
                  <a:srgbClr val="B7791F"/>
                </a:solidFill>
                <a:latin typeface="Calibri" pitchFamily="34" charset="0"/>
                <a:ea typeface="Calibri" pitchFamily="34" charset="-122"/>
                <a:cs typeface="Calibri" pitchFamily="34" charset="-120"/>
              </a:rPr>
              <a:t>copy</a:t>
            </a:r>
            <a:endParaRPr lang="en-US" sz="1200" dirty="0"/>
          </a:p>
        </p:txBody>
      </p:sp>
      <p:sp>
        <p:nvSpPr>
          <p:cNvPr id="23" name="Shape 20"/>
          <p:cNvSpPr/>
          <p:nvPr/>
        </p:nvSpPr>
        <p:spPr>
          <a:xfrm>
            <a:off x="3429000" y="4334256"/>
            <a:ext cx="2331720" cy="923544"/>
          </a:xfrm>
          <a:prstGeom prst="rect">
            <a:avLst/>
          </a:prstGeom>
          <a:solidFill>
            <a:srgbClr val="EEF1F6"/>
          </a:solidFill>
          <a:ln w="12700">
            <a:solidFill>
              <a:srgbClr val="14213D"/>
            </a:solidFill>
            <a:prstDash val="solid"/>
          </a:ln>
        </p:spPr>
      </p:sp>
      <p:sp>
        <p:nvSpPr>
          <p:cNvPr id="24" name="Shape 21"/>
          <p:cNvSpPr/>
          <p:nvPr/>
        </p:nvSpPr>
        <p:spPr>
          <a:xfrm>
            <a:off x="3429000" y="4334256"/>
            <a:ext cx="2331720" cy="329184"/>
          </a:xfrm>
          <a:prstGeom prst="rect">
            <a:avLst/>
          </a:prstGeom>
          <a:solidFill>
            <a:srgbClr val="14213D"/>
          </a:solidFill>
          <a:ln w="12700">
            <a:solidFill>
              <a:srgbClr val="14213D"/>
            </a:solidFill>
            <a:prstDash val="solid"/>
          </a:ln>
        </p:spPr>
      </p:sp>
      <p:sp>
        <p:nvSpPr>
          <p:cNvPr id="25" name="Text 22"/>
          <p:cNvSpPr txBox="1"/>
          <p:nvPr/>
        </p:nvSpPr>
        <p:spPr>
          <a:xfrm>
            <a:off x="3520440" y="4334256"/>
            <a:ext cx="214884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26" name="Text 23"/>
          <p:cNvSpPr txBox="1"/>
          <p:nvPr/>
        </p:nvSpPr>
        <p:spPr>
          <a:xfrm>
            <a:off x="3474720" y="4709160"/>
            <a:ext cx="914400" cy="448056"/>
          </a:xfrm>
          <a:prstGeom prst="rect">
            <a:avLst/>
          </a:prstGeom>
          <a:noFill/>
          <a:ln/>
        </p:spPr>
        <p:txBody>
          <a:bodyPr wrap="square" lIns="0" tIns="0" rIns="0" bIns="0" rtlCol="0" anchor="ct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score</a:t>
            </a:r>
            <a:endParaRPr lang="en-US" sz="1600" dirty="0"/>
          </a:p>
        </p:txBody>
      </p:sp>
      <p:sp>
        <p:nvSpPr>
          <p:cNvPr id="27" name="Shape 24"/>
          <p:cNvSpPr/>
          <p:nvPr/>
        </p:nvSpPr>
        <p:spPr>
          <a:xfrm>
            <a:off x="4480560" y="4709160"/>
            <a:ext cx="1188720" cy="448056"/>
          </a:xfrm>
          <a:prstGeom prst="rect">
            <a:avLst/>
          </a:prstGeom>
          <a:solidFill>
            <a:srgbClr val="FFFFFF"/>
          </a:solidFill>
          <a:ln w="9525">
            <a:solidFill>
              <a:srgbClr val="8A94AB"/>
            </a:solidFill>
            <a:prstDash val="solid"/>
          </a:ln>
        </p:spPr>
      </p:sp>
      <p:sp>
        <p:nvSpPr>
          <p:cNvPr id="28" name="Text 25"/>
          <p:cNvSpPr txBox="1"/>
          <p:nvPr/>
        </p:nvSpPr>
        <p:spPr>
          <a:xfrm>
            <a:off x="4480560" y="4709160"/>
            <a:ext cx="1188720" cy="448056"/>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70</a:t>
            </a:r>
            <a:endParaRPr lang="en-US" sz="1600" dirty="0"/>
          </a:p>
        </p:txBody>
      </p:sp>
      <p:sp>
        <p:nvSpPr>
          <p:cNvPr id="29" name="Shape 26"/>
          <p:cNvSpPr/>
          <p:nvPr/>
        </p:nvSpPr>
        <p:spPr>
          <a:xfrm>
            <a:off x="3429000" y="2496312"/>
            <a:ext cx="2331720" cy="923544"/>
          </a:xfrm>
          <a:prstGeom prst="rect">
            <a:avLst/>
          </a:prstGeom>
          <a:solidFill>
            <a:srgbClr val="EEF1F6"/>
          </a:solidFill>
          <a:ln w="12700">
            <a:solidFill>
              <a:srgbClr val="14213D"/>
            </a:solidFill>
            <a:prstDash val="solid"/>
          </a:ln>
        </p:spPr>
      </p:sp>
      <p:sp>
        <p:nvSpPr>
          <p:cNvPr id="30" name="Shape 27"/>
          <p:cNvSpPr/>
          <p:nvPr/>
        </p:nvSpPr>
        <p:spPr>
          <a:xfrm>
            <a:off x="3429000" y="2496312"/>
            <a:ext cx="2331720" cy="329184"/>
          </a:xfrm>
          <a:prstGeom prst="rect">
            <a:avLst/>
          </a:prstGeom>
          <a:solidFill>
            <a:srgbClr val="FCA311"/>
          </a:solidFill>
          <a:ln w="12700">
            <a:solidFill>
              <a:srgbClr val="14213D"/>
            </a:solidFill>
            <a:prstDash val="solid"/>
          </a:ln>
        </p:spPr>
      </p:sp>
      <p:sp>
        <p:nvSpPr>
          <p:cNvPr id="31" name="Text 28"/>
          <p:cNvSpPr txBox="1"/>
          <p:nvPr/>
        </p:nvSpPr>
        <p:spPr>
          <a:xfrm>
            <a:off x="3520440" y="2496312"/>
            <a:ext cx="214884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AddBonus</a:t>
            </a:r>
            <a:endParaRPr lang="en-US" sz="1200" dirty="0"/>
          </a:p>
        </p:txBody>
      </p:sp>
      <p:sp>
        <p:nvSpPr>
          <p:cNvPr id="32" name="Text 29"/>
          <p:cNvSpPr txBox="1"/>
          <p:nvPr/>
        </p:nvSpPr>
        <p:spPr>
          <a:xfrm>
            <a:off x="3474720" y="2871216"/>
            <a:ext cx="914400" cy="448056"/>
          </a:xfrm>
          <a:prstGeom prst="rect">
            <a:avLst/>
          </a:prstGeom>
          <a:noFill/>
          <a:ln/>
        </p:spPr>
        <p:txBody>
          <a:bodyPr wrap="square" lIns="0" tIns="0" rIns="0" bIns="0" rtlCol="0" anchor="ct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points</a:t>
            </a:r>
            <a:endParaRPr lang="en-US" sz="1600" dirty="0"/>
          </a:p>
        </p:txBody>
      </p:sp>
      <p:sp>
        <p:nvSpPr>
          <p:cNvPr id="33" name="Shape 30"/>
          <p:cNvSpPr/>
          <p:nvPr/>
        </p:nvSpPr>
        <p:spPr>
          <a:xfrm>
            <a:off x="4480560" y="2871216"/>
            <a:ext cx="1188720" cy="448056"/>
          </a:xfrm>
          <a:prstGeom prst="rect">
            <a:avLst/>
          </a:prstGeom>
          <a:solidFill>
            <a:srgbClr val="FFF1D6"/>
          </a:solidFill>
          <a:ln w="9525">
            <a:solidFill>
              <a:srgbClr val="8A94AB"/>
            </a:solidFill>
            <a:prstDash val="solid"/>
          </a:ln>
        </p:spPr>
      </p:sp>
      <p:sp>
        <p:nvSpPr>
          <p:cNvPr id="34" name="Text 31"/>
          <p:cNvSpPr txBox="1"/>
          <p:nvPr/>
        </p:nvSpPr>
        <p:spPr>
          <a:xfrm>
            <a:off x="4480560" y="2871216"/>
            <a:ext cx="1188720" cy="44805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70 → 80</a:t>
            </a:r>
            <a:endParaRPr lang="en-US" sz="1400" dirty="0"/>
          </a:p>
        </p:txBody>
      </p:sp>
      <p:sp>
        <p:nvSpPr>
          <p:cNvPr id="35" name="Shape 32"/>
          <p:cNvSpPr/>
          <p:nvPr/>
        </p:nvSpPr>
        <p:spPr>
          <a:xfrm>
            <a:off x="6309360" y="4334256"/>
            <a:ext cx="2331720" cy="923544"/>
          </a:xfrm>
          <a:prstGeom prst="rect">
            <a:avLst/>
          </a:prstGeom>
          <a:solidFill>
            <a:srgbClr val="EEF1F6"/>
          </a:solidFill>
          <a:ln w="12700">
            <a:solidFill>
              <a:srgbClr val="14213D"/>
            </a:solidFill>
            <a:prstDash val="solid"/>
          </a:ln>
        </p:spPr>
      </p:sp>
      <p:sp>
        <p:nvSpPr>
          <p:cNvPr id="36" name="Shape 33"/>
          <p:cNvSpPr/>
          <p:nvPr/>
        </p:nvSpPr>
        <p:spPr>
          <a:xfrm>
            <a:off x="6309360" y="4334256"/>
            <a:ext cx="2331720" cy="329184"/>
          </a:xfrm>
          <a:prstGeom prst="rect">
            <a:avLst/>
          </a:prstGeom>
          <a:solidFill>
            <a:srgbClr val="FCA311"/>
          </a:solidFill>
          <a:ln w="12700">
            <a:solidFill>
              <a:srgbClr val="14213D"/>
            </a:solidFill>
            <a:prstDash val="solid"/>
          </a:ln>
        </p:spPr>
      </p:sp>
      <p:sp>
        <p:nvSpPr>
          <p:cNvPr id="37" name="Text 34"/>
          <p:cNvSpPr txBox="1"/>
          <p:nvPr/>
        </p:nvSpPr>
        <p:spPr>
          <a:xfrm>
            <a:off x="6400800" y="4334256"/>
            <a:ext cx="214884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main</a:t>
            </a:r>
            <a:endParaRPr lang="en-US" sz="1200" dirty="0"/>
          </a:p>
        </p:txBody>
      </p:sp>
      <p:sp>
        <p:nvSpPr>
          <p:cNvPr id="38" name="Text 35"/>
          <p:cNvSpPr txBox="1"/>
          <p:nvPr/>
        </p:nvSpPr>
        <p:spPr>
          <a:xfrm>
            <a:off x="6355080" y="4709160"/>
            <a:ext cx="914400" cy="448056"/>
          </a:xfrm>
          <a:prstGeom prst="rect">
            <a:avLst/>
          </a:prstGeom>
          <a:noFill/>
          <a:ln/>
        </p:spPr>
        <p:txBody>
          <a:bodyPr wrap="square" lIns="0" tIns="0" rIns="0" bIns="0" rtlCol="0" anchor="ct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score</a:t>
            </a:r>
            <a:endParaRPr lang="en-US" sz="1600" dirty="0"/>
          </a:p>
        </p:txBody>
      </p:sp>
      <p:sp>
        <p:nvSpPr>
          <p:cNvPr id="39" name="Shape 36"/>
          <p:cNvSpPr/>
          <p:nvPr/>
        </p:nvSpPr>
        <p:spPr>
          <a:xfrm>
            <a:off x="7360920" y="4709160"/>
            <a:ext cx="1188720" cy="448056"/>
          </a:xfrm>
          <a:prstGeom prst="rect">
            <a:avLst/>
          </a:prstGeom>
          <a:solidFill>
            <a:srgbClr val="E6F4EC"/>
          </a:solidFill>
          <a:ln w="9525">
            <a:solidFill>
              <a:srgbClr val="8A94AB"/>
            </a:solidFill>
            <a:prstDash val="solid"/>
          </a:ln>
        </p:spPr>
      </p:sp>
      <p:sp>
        <p:nvSpPr>
          <p:cNvPr id="40" name="Text 37"/>
          <p:cNvSpPr txBox="1"/>
          <p:nvPr/>
        </p:nvSpPr>
        <p:spPr>
          <a:xfrm>
            <a:off x="7360920" y="4709160"/>
            <a:ext cx="1188720" cy="448056"/>
          </a:xfrm>
          <a:prstGeom prst="rect">
            <a:avLst/>
          </a:prstGeom>
          <a:noFill/>
          <a:ln/>
        </p:spPr>
        <p:txBody>
          <a:bodyPr wrap="square" lIns="0" tIns="0" rIns="0" bIns="0" rtlCol="0" anchor="ctr"/>
          <a:lstStyle/>
          <a:p>
            <a:pPr algn="ctr" indent="0" marL="0">
              <a:buNone/>
            </a:pPr>
            <a:r>
              <a:rPr lang="en-US" sz="1600" b="1" dirty="0">
                <a:solidFill>
                  <a:srgbClr val="1F7A50"/>
                </a:solidFill>
                <a:latin typeface="Courier New" pitchFamily="34" charset="0"/>
                <a:ea typeface="Courier New" pitchFamily="34" charset="-122"/>
                <a:cs typeface="Courier New" pitchFamily="34" charset="-120"/>
              </a:rPr>
              <a:t>70</a:t>
            </a:r>
            <a:endParaRPr lang="en-US" sz="1600" dirty="0"/>
          </a:p>
        </p:txBody>
      </p:sp>
      <p:sp>
        <p:nvSpPr>
          <p:cNvPr id="41" name="Shape 38"/>
          <p:cNvSpPr/>
          <p:nvPr/>
        </p:nvSpPr>
        <p:spPr>
          <a:xfrm>
            <a:off x="6309360" y="2496312"/>
            <a:ext cx="2331720" cy="923544"/>
          </a:xfrm>
          <a:prstGeom prst="rect">
            <a:avLst/>
          </a:prstGeom>
          <a:solidFill>
            <a:srgbClr val="F7F8FB"/>
          </a:solidFill>
          <a:ln w="12700">
            <a:solidFill>
              <a:srgbClr val="B8C0CF"/>
            </a:solidFill>
            <a:prstDash val="dash"/>
          </a:ln>
        </p:spPr>
      </p:sp>
      <p:sp>
        <p:nvSpPr>
          <p:cNvPr id="42" name="Shape 39"/>
          <p:cNvSpPr/>
          <p:nvPr/>
        </p:nvSpPr>
        <p:spPr>
          <a:xfrm>
            <a:off x="6309360" y="2496312"/>
            <a:ext cx="2331720" cy="329184"/>
          </a:xfrm>
          <a:prstGeom prst="rect">
            <a:avLst/>
          </a:prstGeom>
          <a:solidFill>
            <a:srgbClr val="DCE1EA"/>
          </a:solidFill>
          <a:ln w="12700">
            <a:solidFill>
              <a:srgbClr val="B8C0CF"/>
            </a:solidFill>
            <a:prstDash val="dash"/>
          </a:ln>
        </p:spPr>
      </p:sp>
      <p:sp>
        <p:nvSpPr>
          <p:cNvPr id="43" name="Text 40"/>
          <p:cNvSpPr txBox="1"/>
          <p:nvPr/>
        </p:nvSpPr>
        <p:spPr>
          <a:xfrm>
            <a:off x="6400800" y="2496312"/>
            <a:ext cx="2148840" cy="329184"/>
          </a:xfrm>
          <a:prstGeom prst="rect">
            <a:avLst/>
          </a:prstGeom>
          <a:noFill/>
          <a:ln/>
        </p:spPr>
        <p:txBody>
          <a:bodyPr wrap="square" lIns="0" tIns="0" rIns="0" bIns="0" rtlCol="0" anchor="ctr"/>
          <a:lstStyle/>
          <a:p>
            <a:pPr indent="0" marL="0">
              <a:buNone/>
            </a:pPr>
            <a:r>
              <a:rPr lang="en-US" sz="1200" b="1" dirty="0">
                <a:solidFill>
                  <a:srgbClr val="8A94AB"/>
                </a:solidFill>
                <a:latin typeface="Courier New" pitchFamily="34" charset="0"/>
                <a:ea typeface="Courier New" pitchFamily="34" charset="-122"/>
                <a:cs typeface="Courier New" pitchFamily="34" charset="-120"/>
              </a:rPr>
              <a:t>AddBonus (gone)</a:t>
            </a:r>
            <a:endParaRPr lang="en-US" sz="1200" dirty="0"/>
          </a:p>
        </p:txBody>
      </p:sp>
      <p:sp>
        <p:nvSpPr>
          <p:cNvPr id="44" name="Text 41"/>
          <p:cNvSpPr txBox="1"/>
          <p:nvPr/>
        </p:nvSpPr>
        <p:spPr>
          <a:xfrm>
            <a:off x="6355080" y="2871216"/>
            <a:ext cx="914400" cy="448056"/>
          </a:xfrm>
          <a:prstGeom prst="rect">
            <a:avLst/>
          </a:prstGeom>
          <a:noFill/>
          <a:ln/>
        </p:spPr>
        <p:txBody>
          <a:bodyPr wrap="square" lIns="0" tIns="0" rIns="0" bIns="0" rtlCol="0" anchor="ctr"/>
          <a:lstStyle/>
          <a:p>
            <a:pPr algn="r" indent="0" marL="0">
              <a:buNone/>
            </a:pPr>
            <a:r>
              <a:rPr lang="en-US" sz="1600" dirty="0">
                <a:solidFill>
                  <a:srgbClr val="9AA3B5"/>
                </a:solidFill>
                <a:latin typeface="Courier New" pitchFamily="34" charset="0"/>
                <a:ea typeface="Courier New" pitchFamily="34" charset="-122"/>
                <a:cs typeface="Courier New" pitchFamily="34" charset="-120"/>
              </a:rPr>
              <a:t>points</a:t>
            </a:r>
            <a:endParaRPr lang="en-US" sz="1600" dirty="0"/>
          </a:p>
        </p:txBody>
      </p:sp>
      <p:sp>
        <p:nvSpPr>
          <p:cNvPr id="45" name="Shape 42"/>
          <p:cNvSpPr/>
          <p:nvPr/>
        </p:nvSpPr>
        <p:spPr>
          <a:xfrm>
            <a:off x="7360920" y="2871216"/>
            <a:ext cx="1188720" cy="448056"/>
          </a:xfrm>
          <a:prstGeom prst="rect">
            <a:avLst/>
          </a:prstGeom>
          <a:solidFill>
            <a:srgbClr val="FFFFFF"/>
          </a:solidFill>
          <a:ln w="9525">
            <a:solidFill>
              <a:srgbClr val="8A94AB"/>
            </a:solidFill>
            <a:prstDash val="solid"/>
          </a:ln>
        </p:spPr>
      </p:sp>
      <p:sp>
        <p:nvSpPr>
          <p:cNvPr id="46" name="Text 43"/>
          <p:cNvSpPr txBox="1"/>
          <p:nvPr/>
        </p:nvSpPr>
        <p:spPr>
          <a:xfrm>
            <a:off x="7360920" y="2871216"/>
            <a:ext cx="1188720" cy="448056"/>
          </a:xfrm>
          <a:prstGeom prst="rect">
            <a:avLst/>
          </a:prstGeom>
          <a:noFill/>
          <a:ln/>
        </p:spPr>
        <p:txBody>
          <a:bodyPr wrap="square" lIns="0" tIns="0" rIns="0" bIns="0" rtlCol="0" anchor="ctr"/>
          <a:lstStyle/>
          <a:p>
            <a:pPr algn="ctr" indent="0" marL="0">
              <a:buNone/>
            </a:pPr>
            <a:r>
              <a:rPr lang="en-US" sz="1600" b="1" dirty="0">
                <a:solidFill>
                  <a:srgbClr val="9AA3B5"/>
                </a:solidFill>
                <a:latin typeface="Courier New" pitchFamily="34" charset="0"/>
                <a:ea typeface="Courier New" pitchFamily="34" charset="-122"/>
                <a:cs typeface="Courier New" pitchFamily="34" charset="-120"/>
              </a:rPr>
              <a:t>80</a:t>
            </a:r>
            <a:endParaRPr lang="en-US" sz="1600" dirty="0"/>
          </a:p>
        </p:txBody>
      </p:sp>
      <p:sp>
        <p:nvSpPr>
          <p:cNvPr id="47" name="Shape 44"/>
          <p:cNvSpPr/>
          <p:nvPr/>
        </p:nvSpPr>
        <p:spPr>
          <a:xfrm>
            <a:off x="9189720" y="4334256"/>
            <a:ext cx="2331720" cy="923544"/>
          </a:xfrm>
          <a:prstGeom prst="rect">
            <a:avLst/>
          </a:prstGeom>
          <a:solidFill>
            <a:srgbClr val="EEF1F6"/>
          </a:solidFill>
          <a:ln w="12700">
            <a:solidFill>
              <a:srgbClr val="14213D"/>
            </a:solidFill>
            <a:prstDash val="solid"/>
          </a:ln>
        </p:spPr>
      </p:sp>
      <p:sp>
        <p:nvSpPr>
          <p:cNvPr id="48" name="Shape 45"/>
          <p:cNvSpPr/>
          <p:nvPr/>
        </p:nvSpPr>
        <p:spPr>
          <a:xfrm>
            <a:off x="9189720" y="4334256"/>
            <a:ext cx="2331720" cy="329184"/>
          </a:xfrm>
          <a:prstGeom prst="rect">
            <a:avLst/>
          </a:prstGeom>
          <a:solidFill>
            <a:srgbClr val="14213D"/>
          </a:solidFill>
          <a:ln w="12700">
            <a:solidFill>
              <a:srgbClr val="14213D"/>
            </a:solidFill>
            <a:prstDash val="solid"/>
          </a:ln>
        </p:spPr>
      </p:sp>
      <p:sp>
        <p:nvSpPr>
          <p:cNvPr id="49" name="Text 46"/>
          <p:cNvSpPr txBox="1"/>
          <p:nvPr/>
        </p:nvSpPr>
        <p:spPr>
          <a:xfrm>
            <a:off x="9281160" y="4334256"/>
            <a:ext cx="214884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50" name="Text 47"/>
          <p:cNvSpPr txBox="1"/>
          <p:nvPr/>
        </p:nvSpPr>
        <p:spPr>
          <a:xfrm>
            <a:off x="9235440" y="4709160"/>
            <a:ext cx="914400" cy="448056"/>
          </a:xfrm>
          <a:prstGeom prst="rect">
            <a:avLst/>
          </a:prstGeom>
          <a:noFill/>
          <a:ln/>
        </p:spPr>
        <p:txBody>
          <a:bodyPr wrap="square" lIns="0" tIns="0" rIns="0" bIns="0" rtlCol="0" anchor="ct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score</a:t>
            </a:r>
            <a:endParaRPr lang="en-US" sz="1600" dirty="0"/>
          </a:p>
        </p:txBody>
      </p:sp>
      <p:sp>
        <p:nvSpPr>
          <p:cNvPr id="51" name="Shape 48"/>
          <p:cNvSpPr/>
          <p:nvPr/>
        </p:nvSpPr>
        <p:spPr>
          <a:xfrm>
            <a:off x="10241280" y="4709160"/>
            <a:ext cx="1188720" cy="448056"/>
          </a:xfrm>
          <a:prstGeom prst="rect">
            <a:avLst/>
          </a:prstGeom>
          <a:solidFill>
            <a:srgbClr val="E6F4EC"/>
          </a:solidFill>
          <a:ln w="9525">
            <a:solidFill>
              <a:srgbClr val="8A94AB"/>
            </a:solidFill>
            <a:prstDash val="solid"/>
          </a:ln>
        </p:spPr>
      </p:sp>
      <p:sp>
        <p:nvSpPr>
          <p:cNvPr id="52" name="Text 49"/>
          <p:cNvSpPr txBox="1"/>
          <p:nvPr/>
        </p:nvSpPr>
        <p:spPr>
          <a:xfrm>
            <a:off x="10241280" y="4709160"/>
            <a:ext cx="1188720" cy="448056"/>
          </a:xfrm>
          <a:prstGeom prst="rect">
            <a:avLst/>
          </a:prstGeom>
          <a:noFill/>
          <a:ln/>
        </p:spPr>
        <p:txBody>
          <a:bodyPr wrap="square" lIns="0" tIns="0" rIns="0" bIns="0" rtlCol="0" anchor="ctr"/>
          <a:lstStyle/>
          <a:p>
            <a:pPr algn="ctr" indent="0" marL="0">
              <a:buNone/>
            </a:pPr>
            <a:r>
              <a:rPr lang="en-US" sz="1400" b="1" dirty="0">
                <a:solidFill>
                  <a:srgbClr val="1F7A50"/>
                </a:solidFill>
                <a:latin typeface="Courier New" pitchFamily="34" charset="0"/>
                <a:ea typeface="Courier New" pitchFamily="34" charset="-122"/>
                <a:cs typeface="Courier New" pitchFamily="34" charset="-120"/>
              </a:rPr>
              <a:t>70 → 80</a:t>
            </a:r>
            <a:endParaRPr lang="en-US" sz="1400" dirty="0"/>
          </a:p>
        </p:txBody>
      </p:sp>
      <p:sp>
        <p:nvSpPr>
          <p:cNvPr id="53" name="Shape 50"/>
          <p:cNvSpPr/>
          <p:nvPr/>
        </p:nvSpPr>
        <p:spPr>
          <a:xfrm>
            <a:off x="9189720" y="2496312"/>
            <a:ext cx="2331720" cy="923544"/>
          </a:xfrm>
          <a:prstGeom prst="rect">
            <a:avLst/>
          </a:prstGeom>
          <a:solidFill>
            <a:srgbClr val="EEF1F6"/>
          </a:solidFill>
          <a:ln w="12700">
            <a:solidFill>
              <a:srgbClr val="14213D"/>
            </a:solidFill>
            <a:prstDash val="solid"/>
          </a:ln>
        </p:spPr>
      </p:sp>
      <p:sp>
        <p:nvSpPr>
          <p:cNvPr id="54" name="Shape 51"/>
          <p:cNvSpPr/>
          <p:nvPr/>
        </p:nvSpPr>
        <p:spPr>
          <a:xfrm>
            <a:off x="9189720" y="2496312"/>
            <a:ext cx="2331720" cy="329184"/>
          </a:xfrm>
          <a:prstGeom prst="rect">
            <a:avLst/>
          </a:prstGeom>
          <a:solidFill>
            <a:srgbClr val="FCA311"/>
          </a:solidFill>
          <a:ln w="12700">
            <a:solidFill>
              <a:srgbClr val="14213D"/>
            </a:solidFill>
            <a:prstDash val="solid"/>
          </a:ln>
        </p:spPr>
      </p:sp>
      <p:sp>
        <p:nvSpPr>
          <p:cNvPr id="55" name="Text 52"/>
          <p:cNvSpPr txBox="1"/>
          <p:nvPr/>
        </p:nvSpPr>
        <p:spPr>
          <a:xfrm>
            <a:off x="9281160" y="2496312"/>
            <a:ext cx="214884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WithBonus</a:t>
            </a:r>
            <a:endParaRPr lang="en-US" sz="1200" dirty="0"/>
          </a:p>
        </p:txBody>
      </p:sp>
      <p:sp>
        <p:nvSpPr>
          <p:cNvPr id="56" name="Text 53"/>
          <p:cNvSpPr txBox="1"/>
          <p:nvPr/>
        </p:nvSpPr>
        <p:spPr>
          <a:xfrm>
            <a:off x="9235440" y="2871216"/>
            <a:ext cx="914400" cy="448056"/>
          </a:xfrm>
          <a:prstGeom prst="rect">
            <a:avLst/>
          </a:prstGeom>
          <a:noFill/>
          <a:ln/>
        </p:spPr>
        <p:txBody>
          <a:bodyPr wrap="square" lIns="0" tIns="0" rIns="0" bIns="0" rtlCol="0" anchor="ct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points</a:t>
            </a:r>
            <a:endParaRPr lang="en-US" sz="1600" dirty="0"/>
          </a:p>
        </p:txBody>
      </p:sp>
      <p:sp>
        <p:nvSpPr>
          <p:cNvPr id="57" name="Shape 54"/>
          <p:cNvSpPr/>
          <p:nvPr/>
        </p:nvSpPr>
        <p:spPr>
          <a:xfrm>
            <a:off x="10241280" y="2871216"/>
            <a:ext cx="1188720" cy="448056"/>
          </a:xfrm>
          <a:prstGeom prst="rect">
            <a:avLst/>
          </a:prstGeom>
          <a:solidFill>
            <a:srgbClr val="FFF1D6"/>
          </a:solidFill>
          <a:ln w="9525">
            <a:solidFill>
              <a:srgbClr val="8A94AB"/>
            </a:solidFill>
            <a:prstDash val="solid"/>
          </a:ln>
        </p:spPr>
      </p:sp>
      <p:sp>
        <p:nvSpPr>
          <p:cNvPr id="58" name="Text 55"/>
          <p:cNvSpPr txBox="1"/>
          <p:nvPr/>
        </p:nvSpPr>
        <p:spPr>
          <a:xfrm>
            <a:off x="10241280" y="2871216"/>
            <a:ext cx="1188720" cy="448056"/>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70</a:t>
            </a:r>
            <a:endParaRPr lang="en-US" sz="1600" dirty="0"/>
          </a:p>
        </p:txBody>
      </p:sp>
      <p:sp>
        <p:nvSpPr>
          <p:cNvPr id="59" name="Shape 56"/>
          <p:cNvSpPr/>
          <p:nvPr/>
        </p:nvSpPr>
        <p:spPr>
          <a:xfrm>
            <a:off x="11430000" y="3095244"/>
            <a:ext cx="274320" cy="0"/>
          </a:xfrm>
          <a:prstGeom prst="line">
            <a:avLst/>
          </a:prstGeom>
          <a:noFill/>
          <a:ln w="15875">
            <a:solidFill>
              <a:srgbClr val="2E9E6A"/>
            </a:solidFill>
            <a:prstDash val="solid"/>
          </a:ln>
        </p:spPr>
      </p:sp>
      <p:sp>
        <p:nvSpPr>
          <p:cNvPr id="60" name="Shape 57"/>
          <p:cNvSpPr/>
          <p:nvPr/>
        </p:nvSpPr>
        <p:spPr>
          <a:xfrm>
            <a:off x="11704320" y="3095244"/>
            <a:ext cx="0" cy="1837944"/>
          </a:xfrm>
          <a:prstGeom prst="line">
            <a:avLst/>
          </a:prstGeom>
          <a:noFill/>
          <a:ln w="15875">
            <a:solidFill>
              <a:srgbClr val="2E9E6A"/>
            </a:solidFill>
            <a:prstDash val="solid"/>
          </a:ln>
        </p:spPr>
      </p:sp>
      <p:sp>
        <p:nvSpPr>
          <p:cNvPr id="61" name="Shape 58"/>
          <p:cNvSpPr/>
          <p:nvPr/>
        </p:nvSpPr>
        <p:spPr>
          <a:xfrm flipH="1">
            <a:off x="11448288" y="4933188"/>
            <a:ext cx="256032" cy="0"/>
          </a:xfrm>
          <a:prstGeom prst="line">
            <a:avLst/>
          </a:prstGeom>
          <a:noFill/>
          <a:ln w="15875">
            <a:solidFill>
              <a:srgbClr val="2E9E6A"/>
            </a:solidFill>
            <a:prstDash val="solid"/>
            <a:tailEnd type="triangle"/>
          </a:ln>
        </p:spPr>
      </p:sp>
      <p:sp>
        <p:nvSpPr>
          <p:cNvPr id="62" name="Text 59"/>
          <p:cNvSpPr txBox="1"/>
          <p:nvPr/>
        </p:nvSpPr>
        <p:spPr>
          <a:xfrm>
            <a:off x="10012680" y="3557016"/>
            <a:ext cx="1645920" cy="365760"/>
          </a:xfrm>
          <a:prstGeom prst="rect">
            <a:avLst/>
          </a:prstGeom>
          <a:noFill/>
          <a:ln/>
        </p:spPr>
        <p:txBody>
          <a:bodyPr wrap="square" lIns="0" tIns="0" rIns="0" bIns="0" rtlCol="0" anchor="ctr"/>
          <a:lstStyle/>
          <a:p>
            <a:pPr algn="r" indent="0" marL="0">
              <a:buNone/>
            </a:pPr>
            <a:r>
              <a:rPr lang="en-US" sz="1300" b="1" dirty="0">
                <a:solidFill>
                  <a:srgbClr val="2E9E6A"/>
                </a:solidFill>
                <a:latin typeface="Calibri" pitchFamily="34" charset="0"/>
                <a:ea typeface="Calibri" pitchFamily="34" charset="-122"/>
                <a:cs typeface="Calibri" pitchFamily="34" charset="-120"/>
              </a:rPr>
              <a:t>return 80</a:t>
            </a:r>
            <a:endParaRPr lang="en-US" sz="1300" dirty="0"/>
          </a:p>
        </p:txBody>
      </p:sp>
      <p:sp>
        <p:nvSpPr>
          <p:cNvPr id="63" name="Shape 60"/>
          <p:cNvSpPr/>
          <p:nvPr/>
        </p:nvSpPr>
        <p:spPr>
          <a:xfrm>
            <a:off x="502920" y="5294376"/>
            <a:ext cx="2423160" cy="0"/>
          </a:xfrm>
          <a:prstGeom prst="line">
            <a:avLst/>
          </a:prstGeom>
          <a:noFill/>
          <a:ln w="25400">
            <a:solidFill>
              <a:srgbClr val="14213D"/>
            </a:solidFill>
            <a:prstDash val="solid"/>
          </a:ln>
        </p:spPr>
      </p:sp>
      <p:sp>
        <p:nvSpPr>
          <p:cNvPr id="64" name="Text 61"/>
          <p:cNvSpPr txBox="1"/>
          <p:nvPr/>
        </p:nvSpPr>
        <p:spPr>
          <a:xfrm>
            <a:off x="457200" y="5349240"/>
            <a:ext cx="269748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① call AddBonus(score)</a:t>
            </a:r>
            <a:endParaRPr lang="en-US" sz="1400" dirty="0"/>
          </a:p>
        </p:txBody>
      </p:sp>
      <p:sp>
        <p:nvSpPr>
          <p:cNvPr id="65" name="Shape 62"/>
          <p:cNvSpPr/>
          <p:nvPr/>
        </p:nvSpPr>
        <p:spPr>
          <a:xfrm>
            <a:off x="3383280" y="5294376"/>
            <a:ext cx="2423160" cy="0"/>
          </a:xfrm>
          <a:prstGeom prst="line">
            <a:avLst/>
          </a:prstGeom>
          <a:noFill/>
          <a:ln w="25400">
            <a:solidFill>
              <a:srgbClr val="14213D"/>
            </a:solidFill>
            <a:prstDash val="solid"/>
          </a:ln>
        </p:spPr>
      </p:sp>
      <p:sp>
        <p:nvSpPr>
          <p:cNvPr id="66" name="Text 63"/>
          <p:cNvSpPr txBox="1"/>
          <p:nvPr/>
        </p:nvSpPr>
        <p:spPr>
          <a:xfrm>
            <a:off x="3337560" y="5349240"/>
            <a:ext cx="269748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② points = points + 10</a:t>
            </a:r>
            <a:endParaRPr lang="en-US" sz="1400" dirty="0"/>
          </a:p>
        </p:txBody>
      </p:sp>
      <p:sp>
        <p:nvSpPr>
          <p:cNvPr id="67" name="Shape 64"/>
          <p:cNvSpPr/>
          <p:nvPr/>
        </p:nvSpPr>
        <p:spPr>
          <a:xfrm>
            <a:off x="6263640" y="5294376"/>
            <a:ext cx="2423160" cy="0"/>
          </a:xfrm>
          <a:prstGeom prst="line">
            <a:avLst/>
          </a:prstGeom>
          <a:noFill/>
          <a:ln w="25400">
            <a:solidFill>
              <a:srgbClr val="14213D"/>
            </a:solidFill>
            <a:prstDash val="solid"/>
          </a:ln>
        </p:spPr>
      </p:sp>
      <p:sp>
        <p:nvSpPr>
          <p:cNvPr id="68" name="Text 65"/>
          <p:cNvSpPr txBox="1"/>
          <p:nvPr/>
        </p:nvSpPr>
        <p:spPr>
          <a:xfrm>
            <a:off x="6217920" y="5349240"/>
            <a:ext cx="269748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③ after AddBonus</a:t>
            </a:r>
            <a:endParaRPr lang="en-US" sz="1400" dirty="0"/>
          </a:p>
        </p:txBody>
      </p:sp>
      <p:sp>
        <p:nvSpPr>
          <p:cNvPr id="69" name="Shape 66"/>
          <p:cNvSpPr/>
          <p:nvPr/>
        </p:nvSpPr>
        <p:spPr>
          <a:xfrm>
            <a:off x="9144000" y="5294376"/>
            <a:ext cx="2423160" cy="0"/>
          </a:xfrm>
          <a:prstGeom prst="line">
            <a:avLst/>
          </a:prstGeom>
          <a:noFill/>
          <a:ln w="25400">
            <a:solidFill>
              <a:srgbClr val="14213D"/>
            </a:solidFill>
            <a:prstDash val="solid"/>
          </a:ln>
        </p:spPr>
      </p:sp>
      <p:sp>
        <p:nvSpPr>
          <p:cNvPr id="70" name="Text 67"/>
          <p:cNvSpPr txBox="1"/>
          <p:nvPr/>
        </p:nvSpPr>
        <p:spPr>
          <a:xfrm>
            <a:off x="9098280" y="5349240"/>
            <a:ext cx="269748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④ score = WithBonus(score)</a:t>
            </a:r>
            <a:endParaRPr lang="en-US" sz="1400" dirty="0"/>
          </a:p>
        </p:txBody>
      </p:sp>
      <p:sp>
        <p:nvSpPr>
          <p:cNvPr id="71" name="Text 68"/>
          <p:cNvSpPr txBox="1"/>
          <p:nvPr/>
        </p:nvSpPr>
        <p:spPr>
          <a:xfrm>
            <a:off x="548640" y="5760720"/>
            <a:ext cx="11109960" cy="365760"/>
          </a:xfrm>
          <a:prstGeom prst="rect">
            <a:avLst/>
          </a:prstGeom>
          <a:noFill/>
          <a:ln/>
        </p:spPr>
        <p:txBody>
          <a:bodyPr wrap="square" lIns="0" tIns="0" rIns="0" bIns="0" rtlCol="0" anchor="ctr"/>
          <a:lstStyle/>
          <a:p>
            <a:pPr algn="l" indent="0" marL="0">
              <a:buNone/>
            </a:pPr>
            <a:r>
              <a:rPr lang="en-US" sz="1400" dirty="0">
                <a:solidFill>
                  <a:srgbClr val="5B6478"/>
                </a:solidFill>
                <a:latin typeface="Calibri" pitchFamily="34" charset="0"/>
                <a:ea typeface="Calibri" pitchFamily="34" charset="-122"/>
                <a:cs typeface="Calibri" pitchFamily="34" charset="-120"/>
              </a:rPr>
              <a:t>Real output: "inside AddBonus: points = 80" · "After AddBonus: score = 70" · "After WithBonus: score = 80"</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12_04_PASSBYVALUE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AddBonus changes a copy; WithBonus returns the result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(without the method comments)</a:t>
            </a:r>
            <a:endParaRPr lang="en-US" sz="1100" dirty="0"/>
          </a:p>
        </p:txBody>
      </p:sp>
      <p:sp>
        <p:nvSpPr>
          <p:cNvPr id="9" name="Text 6"/>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$"Before:            score = {score}"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AddBonus(score);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70 is copied into points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$"After AddBonus:    score = {score}"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score = WithBonus(score);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store the returned value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$"After WithBonus:   score = {score}"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AddBonus(</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points)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points = points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inside AddBonus: points = {points}"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WithBonus(</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points)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points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78040" y="1645920"/>
            <a:ext cx="4480560" cy="1691640"/>
          </a:xfrm>
          <a:prstGeom prst="roundRect">
            <a:avLst>
              <a:gd name="adj" fmla="val 5405"/>
            </a:avLst>
          </a:prstGeom>
          <a:solidFill>
            <a:srgbClr val="0B0F19"/>
          </a:solidFill>
          <a:ln w="12700">
            <a:solidFill>
              <a:srgbClr val="2A3654"/>
            </a:solidFill>
            <a:prstDash val="solid"/>
          </a:ln>
        </p:spPr>
      </p:sp>
      <p:sp>
        <p:nvSpPr>
          <p:cNvPr id="11" name="Shape 8"/>
          <p:cNvSpPr/>
          <p:nvPr/>
        </p:nvSpPr>
        <p:spPr>
          <a:xfrm>
            <a:off x="7360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406640" y="2029968"/>
            <a:ext cx="4023360" cy="11887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Before:            score = 70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inside AddBonus: points = 80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After AddBonus:    score = 70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After WithBonus:   score = 80</a:t>
            </a:r>
            <a:endParaRPr lang="en-US" sz="1200" dirty="0"/>
          </a:p>
        </p:txBody>
      </p:sp>
      <p:sp>
        <p:nvSpPr>
          <p:cNvPr id="16" name="Shape 13"/>
          <p:cNvSpPr/>
          <p:nvPr/>
        </p:nvSpPr>
        <p:spPr>
          <a:xfrm>
            <a:off x="7178040" y="3520440"/>
            <a:ext cx="4480560" cy="1188720"/>
          </a:xfrm>
          <a:prstGeom prst="roundRect">
            <a:avLst>
              <a:gd name="adj" fmla="val 9231"/>
            </a:avLst>
          </a:prstGeom>
          <a:solidFill>
            <a:srgbClr val="EEF1F6"/>
          </a:solidFill>
          <a:ln w="12700">
            <a:solidFill>
              <a:srgbClr val="EEF1F6"/>
            </a:solidFill>
            <a:prstDash val="solid"/>
          </a:ln>
        </p:spPr>
      </p:sp>
      <p:sp>
        <p:nvSpPr>
          <p:cNvPr id="17" name="Shape 14"/>
          <p:cNvSpPr/>
          <p:nvPr/>
        </p:nvSpPr>
        <p:spPr>
          <a:xfrm>
            <a:off x="7360920" y="3840480"/>
            <a:ext cx="548640" cy="548640"/>
          </a:xfrm>
          <a:prstGeom prst="ellipse">
            <a:avLst/>
          </a:prstGeom>
          <a:solidFill>
            <a:srgbClr val="14213D"/>
          </a:solidFill>
          <a:ln w="12700">
            <a:solidFill>
              <a:srgbClr val="14213D"/>
            </a:solidFill>
            <a:prstDash val="solid"/>
          </a:ln>
        </p:spPr>
      </p:sp>
      <p:pic>
        <p:nvPicPr>
          <p:cNvPr id="18" name="Image 0" descr="preencoded.png">    </p:cNvPr>
          <p:cNvPicPr>
            <a:picLocks noChangeAspect="1"/>
          </p:cNvPicPr>
          <p:nvPr/>
        </p:nvPicPr>
        <p:blipFill>
          <a:blip r:embed="rId1"/>
          <a:stretch>
            <a:fillRect/>
          </a:stretch>
        </p:blipFill>
        <p:spPr>
          <a:xfrm>
            <a:off x="7503566" y="3983126"/>
            <a:ext cx="263347" cy="263347"/>
          </a:xfrm>
          <a:prstGeom prst="rect">
            <a:avLst/>
          </a:prstGeom>
        </p:spPr>
      </p:pic>
      <p:sp>
        <p:nvSpPr>
          <p:cNvPr id="19" name="Text 15"/>
          <p:cNvSpPr txBox="1"/>
          <p:nvPr/>
        </p:nvSpPr>
        <p:spPr>
          <a:xfrm>
            <a:off x="8092440" y="3575304"/>
            <a:ext cx="3429000" cy="107899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value parameter</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int, double, bool, char, decimal …: a copy.</a:t>
            </a:r>
            <a:endParaRPr lang="en-US" sz="1500" dirty="0"/>
          </a:p>
        </p:txBody>
      </p:sp>
      <p:sp>
        <p:nvSpPr>
          <p:cNvPr id="20" name="Shape 16"/>
          <p:cNvSpPr/>
          <p:nvPr/>
        </p:nvSpPr>
        <p:spPr>
          <a:xfrm>
            <a:off x="7178040" y="4846320"/>
            <a:ext cx="4480560" cy="1234440"/>
          </a:xfrm>
          <a:prstGeom prst="roundRect">
            <a:avLst>
              <a:gd name="adj" fmla="val 8889"/>
            </a:avLst>
          </a:prstGeom>
          <a:solidFill>
            <a:srgbClr val="EEF1F6"/>
          </a:solidFill>
          <a:ln w="12700">
            <a:solidFill>
              <a:srgbClr val="EEF1F6"/>
            </a:solidFill>
            <a:prstDash val="solid"/>
          </a:ln>
        </p:spPr>
      </p:sp>
      <p:sp>
        <p:nvSpPr>
          <p:cNvPr id="21" name="Shape 17"/>
          <p:cNvSpPr/>
          <p:nvPr/>
        </p:nvSpPr>
        <p:spPr>
          <a:xfrm>
            <a:off x="7360920" y="5189220"/>
            <a:ext cx="548640" cy="548640"/>
          </a:xfrm>
          <a:prstGeom prst="ellipse">
            <a:avLst/>
          </a:prstGeom>
          <a:solidFill>
            <a:srgbClr val="2E9E6A"/>
          </a:solidFill>
          <a:ln w="12700">
            <a:solidFill>
              <a:srgbClr val="2E9E6A"/>
            </a:solidFill>
            <a:prstDash val="solid"/>
          </a:ln>
        </p:spPr>
      </p:sp>
      <p:pic>
        <p:nvPicPr>
          <p:cNvPr id="22" name="Image 1" descr="preencoded.png">    </p:cNvPr>
          <p:cNvPicPr>
            <a:picLocks noChangeAspect="1"/>
          </p:cNvPicPr>
          <p:nvPr/>
        </p:nvPicPr>
        <p:blipFill>
          <a:blip r:embed="rId2"/>
          <a:stretch>
            <a:fillRect/>
          </a:stretch>
        </p:blipFill>
        <p:spPr>
          <a:xfrm>
            <a:off x="7503566" y="5331866"/>
            <a:ext cx="263347" cy="263347"/>
          </a:xfrm>
          <a:prstGeom prst="rect">
            <a:avLst/>
          </a:prstGeom>
        </p:spPr>
      </p:pic>
      <p:sp>
        <p:nvSpPr>
          <p:cNvPr id="23" name="Text 18"/>
          <p:cNvSpPr txBox="1"/>
          <p:nvPr/>
        </p:nvSpPr>
        <p:spPr>
          <a:xfrm>
            <a:off x="8092440" y="4901184"/>
            <a:ext cx="3429000" cy="112471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Need the new value?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return it, and assign it in the caller.</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ARRAYS AS PARAMETERS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REFERENCE is copied: both names point to the same array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3968496"/>
            <a:ext cx="3291840" cy="786384"/>
          </a:xfrm>
          <a:prstGeom prst="rect">
            <a:avLst/>
          </a:prstGeom>
          <a:solidFill>
            <a:srgbClr val="EEF1F6"/>
          </a:solidFill>
          <a:ln w="12700">
            <a:solidFill>
              <a:srgbClr val="14213D"/>
            </a:solidFill>
            <a:prstDash val="solid"/>
          </a:ln>
        </p:spPr>
      </p:sp>
      <p:sp>
        <p:nvSpPr>
          <p:cNvPr id="8" name="Shape 5"/>
          <p:cNvSpPr/>
          <p:nvPr/>
        </p:nvSpPr>
        <p:spPr>
          <a:xfrm>
            <a:off x="548640" y="3968496"/>
            <a:ext cx="3291840" cy="329184"/>
          </a:xfrm>
          <a:prstGeom prst="rect">
            <a:avLst/>
          </a:prstGeom>
          <a:solidFill>
            <a:srgbClr val="14213D"/>
          </a:solidFill>
          <a:ln w="12700">
            <a:solidFill>
              <a:srgbClr val="14213D"/>
            </a:solidFill>
            <a:prstDash val="solid"/>
          </a:ln>
        </p:spPr>
      </p:sp>
      <p:sp>
        <p:nvSpPr>
          <p:cNvPr id="9" name="Text 6"/>
          <p:cNvSpPr txBox="1"/>
          <p:nvPr/>
        </p:nvSpPr>
        <p:spPr>
          <a:xfrm>
            <a:off x="640080" y="3968496"/>
            <a:ext cx="310896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10" name="Text 7"/>
          <p:cNvSpPr txBox="1"/>
          <p:nvPr/>
        </p:nvSpPr>
        <p:spPr>
          <a:xfrm>
            <a:off x="594360" y="434340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grades</a:t>
            </a:r>
            <a:endParaRPr lang="en-US" sz="1400" dirty="0"/>
          </a:p>
        </p:txBody>
      </p:sp>
      <p:sp>
        <p:nvSpPr>
          <p:cNvPr id="11" name="Shape 8"/>
          <p:cNvSpPr/>
          <p:nvPr/>
        </p:nvSpPr>
        <p:spPr>
          <a:xfrm>
            <a:off x="1600200" y="4343400"/>
            <a:ext cx="2148840" cy="310896"/>
          </a:xfrm>
          <a:prstGeom prst="rect">
            <a:avLst/>
          </a:prstGeom>
          <a:solidFill>
            <a:srgbClr val="FFFFFF"/>
          </a:solidFill>
          <a:ln w="9525">
            <a:solidFill>
              <a:srgbClr val="8A94AB"/>
            </a:solidFill>
            <a:prstDash val="solid"/>
          </a:ln>
        </p:spPr>
      </p:sp>
      <p:sp>
        <p:nvSpPr>
          <p:cNvPr id="12" name="Text 9"/>
          <p:cNvSpPr txBox="1"/>
          <p:nvPr/>
        </p:nvSpPr>
        <p:spPr>
          <a:xfrm>
            <a:off x="1600200" y="4343400"/>
            <a:ext cx="214884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13" name="Shape 10"/>
          <p:cNvSpPr/>
          <p:nvPr/>
        </p:nvSpPr>
        <p:spPr>
          <a:xfrm>
            <a:off x="548640" y="2039112"/>
            <a:ext cx="3291840" cy="1517904"/>
          </a:xfrm>
          <a:prstGeom prst="rect">
            <a:avLst/>
          </a:prstGeom>
          <a:solidFill>
            <a:srgbClr val="EEF1F6"/>
          </a:solidFill>
          <a:ln w="12700">
            <a:solidFill>
              <a:srgbClr val="14213D"/>
            </a:solidFill>
            <a:prstDash val="solid"/>
          </a:ln>
        </p:spPr>
      </p:sp>
      <p:sp>
        <p:nvSpPr>
          <p:cNvPr id="14" name="Shape 11"/>
          <p:cNvSpPr/>
          <p:nvPr/>
        </p:nvSpPr>
        <p:spPr>
          <a:xfrm>
            <a:off x="548640" y="2039112"/>
            <a:ext cx="3291840" cy="329184"/>
          </a:xfrm>
          <a:prstGeom prst="rect">
            <a:avLst/>
          </a:prstGeom>
          <a:solidFill>
            <a:srgbClr val="FCA311"/>
          </a:solidFill>
          <a:ln w="12700">
            <a:solidFill>
              <a:srgbClr val="14213D"/>
            </a:solidFill>
            <a:prstDash val="solid"/>
          </a:ln>
        </p:spPr>
      </p:sp>
      <p:sp>
        <p:nvSpPr>
          <p:cNvPr id="15" name="Text 12"/>
          <p:cNvSpPr txBox="1"/>
          <p:nvPr/>
        </p:nvSpPr>
        <p:spPr>
          <a:xfrm>
            <a:off x="640080" y="2039112"/>
            <a:ext cx="310896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AddToAll</a:t>
            </a:r>
            <a:endParaRPr lang="en-US" sz="1200" dirty="0"/>
          </a:p>
        </p:txBody>
      </p:sp>
      <p:sp>
        <p:nvSpPr>
          <p:cNvPr id="16" name="Text 13"/>
          <p:cNvSpPr txBox="1"/>
          <p:nvPr/>
        </p:nvSpPr>
        <p:spPr>
          <a:xfrm>
            <a:off x="594360" y="241401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17" name="Shape 14"/>
          <p:cNvSpPr/>
          <p:nvPr/>
        </p:nvSpPr>
        <p:spPr>
          <a:xfrm>
            <a:off x="1600200" y="2414016"/>
            <a:ext cx="2148840" cy="310896"/>
          </a:xfrm>
          <a:prstGeom prst="rect">
            <a:avLst/>
          </a:prstGeom>
          <a:solidFill>
            <a:srgbClr val="FFF1D6"/>
          </a:solidFill>
          <a:ln w="9525">
            <a:solidFill>
              <a:srgbClr val="8A94AB"/>
            </a:solidFill>
            <a:prstDash val="solid"/>
          </a:ln>
        </p:spPr>
      </p:sp>
      <p:sp>
        <p:nvSpPr>
          <p:cNvPr id="18" name="Text 15"/>
          <p:cNvSpPr txBox="1"/>
          <p:nvPr/>
        </p:nvSpPr>
        <p:spPr>
          <a:xfrm>
            <a:off x="1600200" y="2414016"/>
            <a:ext cx="214884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19" name="Text 16"/>
          <p:cNvSpPr txBox="1"/>
          <p:nvPr/>
        </p:nvSpPr>
        <p:spPr>
          <a:xfrm>
            <a:off x="594360" y="277977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bonus</a:t>
            </a:r>
            <a:endParaRPr lang="en-US" sz="1400" dirty="0"/>
          </a:p>
        </p:txBody>
      </p:sp>
      <p:sp>
        <p:nvSpPr>
          <p:cNvPr id="20" name="Shape 17"/>
          <p:cNvSpPr/>
          <p:nvPr/>
        </p:nvSpPr>
        <p:spPr>
          <a:xfrm>
            <a:off x="1600200" y="2779776"/>
            <a:ext cx="2148840" cy="310896"/>
          </a:xfrm>
          <a:prstGeom prst="rect">
            <a:avLst/>
          </a:prstGeom>
          <a:solidFill>
            <a:srgbClr val="FFF1D6"/>
          </a:solidFill>
          <a:ln w="9525">
            <a:solidFill>
              <a:srgbClr val="8A94AB"/>
            </a:solidFill>
            <a:prstDash val="solid"/>
          </a:ln>
        </p:spPr>
      </p:sp>
      <p:sp>
        <p:nvSpPr>
          <p:cNvPr id="21" name="Text 18"/>
          <p:cNvSpPr txBox="1"/>
          <p:nvPr/>
        </p:nvSpPr>
        <p:spPr>
          <a:xfrm>
            <a:off x="1600200" y="2779776"/>
            <a:ext cx="214884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22" name="Text 19"/>
          <p:cNvSpPr txBox="1"/>
          <p:nvPr/>
        </p:nvSpPr>
        <p:spPr>
          <a:xfrm>
            <a:off x="594360" y="314553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i</a:t>
            </a:r>
            <a:endParaRPr lang="en-US" sz="1400" dirty="0"/>
          </a:p>
        </p:txBody>
      </p:sp>
      <p:sp>
        <p:nvSpPr>
          <p:cNvPr id="23" name="Shape 20"/>
          <p:cNvSpPr/>
          <p:nvPr/>
        </p:nvSpPr>
        <p:spPr>
          <a:xfrm>
            <a:off x="1600200" y="3145536"/>
            <a:ext cx="2148840" cy="310896"/>
          </a:xfrm>
          <a:prstGeom prst="rect">
            <a:avLst/>
          </a:prstGeom>
          <a:solidFill>
            <a:srgbClr val="FFFFFF"/>
          </a:solidFill>
          <a:ln w="9525">
            <a:solidFill>
              <a:srgbClr val="8A94AB"/>
            </a:solidFill>
            <a:prstDash val="solid"/>
          </a:ln>
        </p:spPr>
      </p:sp>
      <p:sp>
        <p:nvSpPr>
          <p:cNvPr id="24" name="Text 21"/>
          <p:cNvSpPr txBox="1"/>
          <p:nvPr/>
        </p:nvSpPr>
        <p:spPr>
          <a:xfrm>
            <a:off x="1600200" y="3145536"/>
            <a:ext cx="214884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0..3</a:t>
            </a:r>
            <a:endParaRPr lang="en-US" sz="1400" dirty="0"/>
          </a:p>
        </p:txBody>
      </p:sp>
      <p:sp>
        <p:nvSpPr>
          <p:cNvPr id="25" name="Text 22"/>
          <p:cNvSpPr txBox="1"/>
          <p:nvPr/>
        </p:nvSpPr>
        <p:spPr>
          <a:xfrm>
            <a:off x="4572000" y="1828800"/>
            <a:ext cx="2834640" cy="365760"/>
          </a:xfrm>
          <a:prstGeom prst="rect">
            <a:avLst/>
          </a:prstGeom>
          <a:noFill/>
          <a:ln/>
        </p:spPr>
        <p:txBody>
          <a:bodyPr wrap="square" lIns="0" tIns="0" rIns="0" bIns="0" rtlCol="0" anchor="ctr"/>
          <a:lstStyle/>
          <a:p>
            <a:pPr algn="l" indent="0" marL="0">
              <a:buNone/>
            </a:pPr>
            <a:r>
              <a:rPr lang="en-US" sz="1400" b="1" dirty="0">
                <a:solidFill>
                  <a:srgbClr val="5B6478"/>
                </a:solidFill>
                <a:latin typeface="Calibri" pitchFamily="34" charset="0"/>
                <a:ea typeface="Calibri" pitchFamily="34" charset="-122"/>
                <a:cs typeface="Calibri" pitchFamily="34" charset="-120"/>
              </a:rPr>
              <a:t>the array (one copy)</a:t>
            </a:r>
            <a:endParaRPr lang="en-US" sz="1400" dirty="0"/>
          </a:p>
        </p:txBody>
      </p:sp>
      <p:sp>
        <p:nvSpPr>
          <p:cNvPr id="26" name="Shape 23"/>
          <p:cNvSpPr/>
          <p:nvPr/>
        </p:nvSpPr>
        <p:spPr>
          <a:xfrm>
            <a:off x="4572000" y="2331720"/>
            <a:ext cx="685800" cy="548640"/>
          </a:xfrm>
          <a:prstGeom prst="rect">
            <a:avLst/>
          </a:prstGeom>
          <a:solidFill>
            <a:srgbClr val="EEF1F6"/>
          </a:solidFill>
          <a:ln w="9525">
            <a:solidFill>
              <a:srgbClr val="8A94AB"/>
            </a:solidFill>
            <a:prstDash val="solid"/>
          </a:ln>
        </p:spPr>
      </p:sp>
      <p:sp>
        <p:nvSpPr>
          <p:cNvPr id="27" name="Text 24"/>
          <p:cNvSpPr txBox="1"/>
          <p:nvPr/>
        </p:nvSpPr>
        <p:spPr>
          <a:xfrm>
            <a:off x="4572000" y="2331720"/>
            <a:ext cx="6858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55</a:t>
            </a:r>
            <a:endParaRPr lang="en-US" sz="1700" dirty="0"/>
          </a:p>
        </p:txBody>
      </p:sp>
      <p:sp>
        <p:nvSpPr>
          <p:cNvPr id="28" name="Shape 25"/>
          <p:cNvSpPr/>
          <p:nvPr/>
        </p:nvSpPr>
        <p:spPr>
          <a:xfrm>
            <a:off x="5257800" y="2331720"/>
            <a:ext cx="685800" cy="548640"/>
          </a:xfrm>
          <a:prstGeom prst="rect">
            <a:avLst/>
          </a:prstGeom>
          <a:solidFill>
            <a:srgbClr val="EEF1F6"/>
          </a:solidFill>
          <a:ln w="9525">
            <a:solidFill>
              <a:srgbClr val="8A94AB"/>
            </a:solidFill>
            <a:prstDash val="solid"/>
          </a:ln>
        </p:spPr>
      </p:sp>
      <p:sp>
        <p:nvSpPr>
          <p:cNvPr id="29" name="Text 26"/>
          <p:cNvSpPr txBox="1"/>
          <p:nvPr/>
        </p:nvSpPr>
        <p:spPr>
          <a:xfrm>
            <a:off x="5257800" y="2331720"/>
            <a:ext cx="6858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70</a:t>
            </a:r>
            <a:endParaRPr lang="en-US" sz="1700" dirty="0"/>
          </a:p>
        </p:txBody>
      </p:sp>
      <p:sp>
        <p:nvSpPr>
          <p:cNvPr id="30" name="Shape 27"/>
          <p:cNvSpPr/>
          <p:nvPr/>
        </p:nvSpPr>
        <p:spPr>
          <a:xfrm>
            <a:off x="5943600" y="2331720"/>
            <a:ext cx="685800" cy="548640"/>
          </a:xfrm>
          <a:prstGeom prst="rect">
            <a:avLst/>
          </a:prstGeom>
          <a:solidFill>
            <a:srgbClr val="EEF1F6"/>
          </a:solidFill>
          <a:ln w="9525">
            <a:solidFill>
              <a:srgbClr val="8A94AB"/>
            </a:solidFill>
            <a:prstDash val="solid"/>
          </a:ln>
        </p:spPr>
      </p:sp>
      <p:sp>
        <p:nvSpPr>
          <p:cNvPr id="31" name="Text 28"/>
          <p:cNvSpPr txBox="1"/>
          <p:nvPr/>
        </p:nvSpPr>
        <p:spPr>
          <a:xfrm>
            <a:off x="5943600" y="2331720"/>
            <a:ext cx="6858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42</a:t>
            </a:r>
            <a:endParaRPr lang="en-US" sz="1700" dirty="0"/>
          </a:p>
        </p:txBody>
      </p:sp>
      <p:sp>
        <p:nvSpPr>
          <p:cNvPr id="32" name="Shape 29"/>
          <p:cNvSpPr/>
          <p:nvPr/>
        </p:nvSpPr>
        <p:spPr>
          <a:xfrm>
            <a:off x="6629400" y="2331720"/>
            <a:ext cx="685800" cy="548640"/>
          </a:xfrm>
          <a:prstGeom prst="rect">
            <a:avLst/>
          </a:prstGeom>
          <a:solidFill>
            <a:srgbClr val="EEF1F6"/>
          </a:solidFill>
          <a:ln w="9525">
            <a:solidFill>
              <a:srgbClr val="8A94AB"/>
            </a:solidFill>
            <a:prstDash val="solid"/>
          </a:ln>
        </p:spPr>
      </p:sp>
      <p:sp>
        <p:nvSpPr>
          <p:cNvPr id="33" name="Text 30"/>
          <p:cNvSpPr txBox="1"/>
          <p:nvPr/>
        </p:nvSpPr>
        <p:spPr>
          <a:xfrm>
            <a:off x="6629400" y="2331720"/>
            <a:ext cx="6858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88</a:t>
            </a:r>
            <a:endParaRPr lang="en-US" sz="1700" dirty="0"/>
          </a:p>
        </p:txBody>
      </p:sp>
      <p:sp>
        <p:nvSpPr>
          <p:cNvPr id="34" name="Text 31"/>
          <p:cNvSpPr txBox="1"/>
          <p:nvPr/>
        </p:nvSpPr>
        <p:spPr>
          <a:xfrm>
            <a:off x="4572000" y="2971800"/>
            <a:ext cx="3291840" cy="320040"/>
          </a:xfrm>
          <a:prstGeom prst="rect">
            <a:avLst/>
          </a:prstGeom>
          <a:noFill/>
          <a:ln/>
        </p:spPr>
        <p:txBody>
          <a:bodyPr wrap="square" lIns="0" tIns="0" rIns="0" bIns="0" rtlCol="0" anchor="ctr"/>
          <a:lstStyle/>
          <a:p>
            <a:pPr algn="l" indent="0" marL="0">
              <a:buNone/>
            </a:pPr>
            <a:r>
              <a:rPr lang="en-US" sz="1300" dirty="0">
                <a:solidFill>
                  <a:srgbClr val="5B6478"/>
                </a:solidFill>
                <a:latin typeface="Calibri" pitchFamily="34" charset="0"/>
                <a:ea typeface="Calibri" pitchFamily="34" charset="-122"/>
                <a:cs typeface="Calibri" pitchFamily="34" charset="-120"/>
              </a:rPr>
              <a:t>before the call</a:t>
            </a:r>
            <a:endParaRPr lang="en-US" sz="1300" dirty="0"/>
          </a:p>
        </p:txBody>
      </p:sp>
      <p:sp>
        <p:nvSpPr>
          <p:cNvPr id="35" name="Shape 32"/>
          <p:cNvSpPr/>
          <p:nvPr/>
        </p:nvSpPr>
        <p:spPr>
          <a:xfrm>
            <a:off x="4572000" y="3794760"/>
            <a:ext cx="685800" cy="548640"/>
          </a:xfrm>
          <a:prstGeom prst="rect">
            <a:avLst/>
          </a:prstGeom>
          <a:solidFill>
            <a:srgbClr val="E6F4EC"/>
          </a:solidFill>
          <a:ln w="9525">
            <a:solidFill>
              <a:srgbClr val="8A94AB"/>
            </a:solidFill>
            <a:prstDash val="solid"/>
          </a:ln>
        </p:spPr>
      </p:sp>
      <p:sp>
        <p:nvSpPr>
          <p:cNvPr id="36" name="Text 33"/>
          <p:cNvSpPr txBox="1"/>
          <p:nvPr/>
        </p:nvSpPr>
        <p:spPr>
          <a:xfrm>
            <a:off x="4572000" y="3794760"/>
            <a:ext cx="6858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60</a:t>
            </a:r>
            <a:endParaRPr lang="en-US" sz="1700" dirty="0"/>
          </a:p>
        </p:txBody>
      </p:sp>
      <p:sp>
        <p:nvSpPr>
          <p:cNvPr id="37" name="Shape 34"/>
          <p:cNvSpPr/>
          <p:nvPr/>
        </p:nvSpPr>
        <p:spPr>
          <a:xfrm>
            <a:off x="5257800" y="3794760"/>
            <a:ext cx="685800" cy="548640"/>
          </a:xfrm>
          <a:prstGeom prst="rect">
            <a:avLst/>
          </a:prstGeom>
          <a:solidFill>
            <a:srgbClr val="E6F4EC"/>
          </a:solidFill>
          <a:ln w="9525">
            <a:solidFill>
              <a:srgbClr val="8A94AB"/>
            </a:solidFill>
            <a:prstDash val="solid"/>
          </a:ln>
        </p:spPr>
      </p:sp>
      <p:sp>
        <p:nvSpPr>
          <p:cNvPr id="38" name="Text 35"/>
          <p:cNvSpPr txBox="1"/>
          <p:nvPr/>
        </p:nvSpPr>
        <p:spPr>
          <a:xfrm>
            <a:off x="5257800" y="3794760"/>
            <a:ext cx="6858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75</a:t>
            </a:r>
            <a:endParaRPr lang="en-US" sz="1700" dirty="0"/>
          </a:p>
        </p:txBody>
      </p:sp>
      <p:sp>
        <p:nvSpPr>
          <p:cNvPr id="39" name="Shape 36"/>
          <p:cNvSpPr/>
          <p:nvPr/>
        </p:nvSpPr>
        <p:spPr>
          <a:xfrm>
            <a:off x="5943600" y="3794760"/>
            <a:ext cx="685800" cy="548640"/>
          </a:xfrm>
          <a:prstGeom prst="rect">
            <a:avLst/>
          </a:prstGeom>
          <a:solidFill>
            <a:srgbClr val="E6F4EC"/>
          </a:solidFill>
          <a:ln w="9525">
            <a:solidFill>
              <a:srgbClr val="8A94AB"/>
            </a:solidFill>
            <a:prstDash val="solid"/>
          </a:ln>
        </p:spPr>
      </p:sp>
      <p:sp>
        <p:nvSpPr>
          <p:cNvPr id="40" name="Text 37"/>
          <p:cNvSpPr txBox="1"/>
          <p:nvPr/>
        </p:nvSpPr>
        <p:spPr>
          <a:xfrm>
            <a:off x="5943600" y="3794760"/>
            <a:ext cx="6858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47</a:t>
            </a:r>
            <a:endParaRPr lang="en-US" sz="1700" dirty="0"/>
          </a:p>
        </p:txBody>
      </p:sp>
      <p:sp>
        <p:nvSpPr>
          <p:cNvPr id="41" name="Shape 38"/>
          <p:cNvSpPr/>
          <p:nvPr/>
        </p:nvSpPr>
        <p:spPr>
          <a:xfrm>
            <a:off x="6629400" y="3794760"/>
            <a:ext cx="685800" cy="548640"/>
          </a:xfrm>
          <a:prstGeom prst="rect">
            <a:avLst/>
          </a:prstGeom>
          <a:solidFill>
            <a:srgbClr val="E6F4EC"/>
          </a:solidFill>
          <a:ln w="9525">
            <a:solidFill>
              <a:srgbClr val="8A94AB"/>
            </a:solidFill>
            <a:prstDash val="solid"/>
          </a:ln>
        </p:spPr>
      </p:sp>
      <p:sp>
        <p:nvSpPr>
          <p:cNvPr id="42" name="Text 39"/>
          <p:cNvSpPr txBox="1"/>
          <p:nvPr/>
        </p:nvSpPr>
        <p:spPr>
          <a:xfrm>
            <a:off x="6629400" y="3794760"/>
            <a:ext cx="6858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93</a:t>
            </a:r>
            <a:endParaRPr lang="en-US" sz="1700" dirty="0"/>
          </a:p>
        </p:txBody>
      </p:sp>
      <p:sp>
        <p:nvSpPr>
          <p:cNvPr id="43" name="Text 40"/>
          <p:cNvSpPr txBox="1"/>
          <p:nvPr/>
        </p:nvSpPr>
        <p:spPr>
          <a:xfrm>
            <a:off x="4572000" y="4434840"/>
            <a:ext cx="3291840" cy="320040"/>
          </a:xfrm>
          <a:prstGeom prst="rect">
            <a:avLst/>
          </a:prstGeom>
          <a:noFill/>
          <a:ln/>
        </p:spPr>
        <p:txBody>
          <a:bodyPr wrap="square" lIns="0" tIns="0" rIns="0" bIns="0" rtlCol="0" anchor="ctr"/>
          <a:lstStyle/>
          <a:p>
            <a:pPr algn="l" indent="0" marL="0">
              <a:buNone/>
            </a:pPr>
            <a:r>
              <a:rPr lang="en-US" sz="1300" b="1" dirty="0">
                <a:solidFill>
                  <a:srgbClr val="1F7A50"/>
                </a:solidFill>
                <a:latin typeface="Calibri" pitchFamily="34" charset="0"/>
                <a:ea typeface="Calibri" pitchFamily="34" charset="-122"/>
                <a:cs typeface="Calibri" pitchFamily="34" charset="-120"/>
              </a:rPr>
              <a:t>after AddToAll(grades, 5)</a:t>
            </a:r>
            <a:endParaRPr lang="en-US" sz="1300" dirty="0"/>
          </a:p>
        </p:txBody>
      </p:sp>
      <p:sp>
        <p:nvSpPr>
          <p:cNvPr id="44" name="Shape 41"/>
          <p:cNvSpPr/>
          <p:nvPr/>
        </p:nvSpPr>
        <p:spPr>
          <a:xfrm>
            <a:off x="3749040" y="2569464"/>
            <a:ext cx="804672" cy="36576"/>
          </a:xfrm>
          <a:prstGeom prst="line">
            <a:avLst/>
          </a:prstGeom>
          <a:noFill/>
          <a:ln w="15875">
            <a:solidFill>
              <a:srgbClr val="B7791F"/>
            </a:solidFill>
            <a:prstDash val="solid"/>
            <a:tailEnd type="triangle"/>
          </a:ln>
        </p:spPr>
      </p:sp>
      <p:sp>
        <p:nvSpPr>
          <p:cNvPr id="45" name="Shape 42"/>
          <p:cNvSpPr/>
          <p:nvPr/>
        </p:nvSpPr>
        <p:spPr>
          <a:xfrm flipV="1">
            <a:off x="3749040" y="2743200"/>
            <a:ext cx="804672" cy="1755648"/>
          </a:xfrm>
          <a:prstGeom prst="line">
            <a:avLst/>
          </a:prstGeom>
          <a:noFill/>
          <a:ln w="15875">
            <a:solidFill>
              <a:srgbClr val="14213D"/>
            </a:solidFill>
            <a:prstDash val="solid"/>
            <a:tailEnd type="triangle"/>
          </a:ln>
        </p:spPr>
      </p:sp>
      <p:sp>
        <p:nvSpPr>
          <p:cNvPr id="46" name="Shape 43"/>
          <p:cNvSpPr/>
          <p:nvPr/>
        </p:nvSpPr>
        <p:spPr>
          <a:xfrm>
            <a:off x="7498080" y="1645920"/>
            <a:ext cx="4160520" cy="3063240"/>
          </a:xfrm>
          <a:prstGeom prst="roundRect">
            <a:avLst>
              <a:gd name="adj" fmla="val 2985"/>
            </a:avLst>
          </a:prstGeom>
          <a:solidFill>
            <a:srgbClr val="0F1729"/>
          </a:solidFill>
          <a:ln w="12700">
            <a:solidFill>
              <a:srgbClr val="0F1729"/>
            </a:solidFill>
            <a:prstDash val="solid"/>
          </a:ln>
        </p:spPr>
      </p:sp>
      <p:sp>
        <p:nvSpPr>
          <p:cNvPr id="47" name="Text 44"/>
          <p:cNvSpPr txBox="1"/>
          <p:nvPr/>
        </p:nvSpPr>
        <p:spPr>
          <a:xfrm>
            <a:off x="7726680" y="1755648"/>
            <a:ext cx="3703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changes the elements</a:t>
            </a:r>
            <a:endParaRPr lang="en-US" sz="1100" dirty="0"/>
          </a:p>
        </p:txBody>
      </p:sp>
      <p:sp>
        <p:nvSpPr>
          <p:cNvPr id="48" name="Text 45"/>
          <p:cNvSpPr txBox="1"/>
          <p:nvPr/>
        </p:nvSpPr>
        <p:spPr>
          <a:xfrm>
            <a:off x="7726680" y="2057400"/>
            <a:ext cx="3703320" cy="25420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AddToAll(</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bonus)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a[i] += bonus;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49" name="Shape 46"/>
          <p:cNvSpPr/>
          <p:nvPr/>
        </p:nvSpPr>
        <p:spPr>
          <a:xfrm>
            <a:off x="548640" y="5074920"/>
            <a:ext cx="11109960" cy="1005840"/>
          </a:xfrm>
          <a:prstGeom prst="roundRect">
            <a:avLst>
              <a:gd name="adj" fmla="val 10909"/>
            </a:avLst>
          </a:prstGeom>
          <a:solidFill>
            <a:srgbClr val="FFF6E3"/>
          </a:solidFill>
          <a:ln w="12700">
            <a:solidFill>
              <a:srgbClr val="FFF6E3"/>
            </a:solidFill>
            <a:prstDash val="solid"/>
          </a:ln>
        </p:spPr>
      </p:sp>
      <p:pic>
        <p:nvPicPr>
          <p:cNvPr id="50" name="Image 0" descr="preencoded.png">    </p:cNvPr>
          <p:cNvPicPr>
            <a:picLocks noChangeAspect="1"/>
          </p:cNvPicPr>
          <p:nvPr/>
        </p:nvPicPr>
        <p:blipFill>
          <a:blip r:embed="rId1"/>
          <a:stretch>
            <a:fillRect/>
          </a:stretch>
        </p:blipFill>
        <p:spPr>
          <a:xfrm>
            <a:off x="822960" y="5303520"/>
            <a:ext cx="548640" cy="548640"/>
          </a:xfrm>
          <a:prstGeom prst="rect">
            <a:avLst/>
          </a:prstGeom>
        </p:spPr>
      </p:pic>
      <p:sp>
        <p:nvSpPr>
          <p:cNvPr id="51" name="Text 47"/>
          <p:cNvSpPr txBox="1"/>
          <p:nvPr/>
        </p:nvSpPr>
        <p:spPr>
          <a:xfrm>
            <a:off x="1645920" y="5148072"/>
            <a:ext cx="9738360" cy="859536"/>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Two arrows, one array: </a:t>
            </a:r>
            <a:pPr indent="0" marL="0">
              <a:buNone/>
            </a:pPr>
            <a:r>
              <a:rPr lang="en-US" sz="1600" dirty="0">
                <a:solidFill>
                  <a:srgbClr val="333B4F"/>
                </a:solidFill>
                <a:latin typeface="Calibri" pitchFamily="34" charset="0"/>
                <a:ea typeface="Calibri" pitchFamily="34" charset="-122"/>
                <a:cs typeface="Calibri" pitchFamily="34" charset="-120"/>
              </a:rPr>
              <a:t>a[i] += bonus changes the elements the caller sees through grades.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12_05_ARRAYPARAMETERS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But a NEW array in the parameter is not seen by the caller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3236976"/>
            <a:ext cx="3108960" cy="786384"/>
          </a:xfrm>
          <a:prstGeom prst="rect">
            <a:avLst/>
          </a:prstGeom>
          <a:solidFill>
            <a:srgbClr val="EEF1F6"/>
          </a:solidFill>
          <a:ln w="12700">
            <a:solidFill>
              <a:srgbClr val="14213D"/>
            </a:solidFill>
            <a:prstDash val="solid"/>
          </a:ln>
        </p:spPr>
      </p:sp>
      <p:sp>
        <p:nvSpPr>
          <p:cNvPr id="8" name="Shape 5"/>
          <p:cNvSpPr/>
          <p:nvPr/>
        </p:nvSpPr>
        <p:spPr>
          <a:xfrm>
            <a:off x="548640" y="3236976"/>
            <a:ext cx="3108960" cy="329184"/>
          </a:xfrm>
          <a:prstGeom prst="rect">
            <a:avLst/>
          </a:prstGeom>
          <a:solidFill>
            <a:srgbClr val="14213D"/>
          </a:solidFill>
          <a:ln w="12700">
            <a:solidFill>
              <a:srgbClr val="14213D"/>
            </a:solidFill>
            <a:prstDash val="solid"/>
          </a:ln>
        </p:spPr>
      </p:sp>
      <p:sp>
        <p:nvSpPr>
          <p:cNvPr id="9" name="Text 6"/>
          <p:cNvSpPr txBox="1"/>
          <p:nvPr/>
        </p:nvSpPr>
        <p:spPr>
          <a:xfrm>
            <a:off x="640080" y="3236976"/>
            <a:ext cx="29260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10" name="Text 7"/>
          <p:cNvSpPr txBox="1"/>
          <p:nvPr/>
        </p:nvSpPr>
        <p:spPr>
          <a:xfrm>
            <a:off x="594360" y="361188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grades</a:t>
            </a:r>
            <a:endParaRPr lang="en-US" sz="1400" dirty="0"/>
          </a:p>
        </p:txBody>
      </p:sp>
      <p:sp>
        <p:nvSpPr>
          <p:cNvPr id="11" name="Shape 8"/>
          <p:cNvSpPr/>
          <p:nvPr/>
        </p:nvSpPr>
        <p:spPr>
          <a:xfrm>
            <a:off x="1600200" y="3611880"/>
            <a:ext cx="1965960" cy="310896"/>
          </a:xfrm>
          <a:prstGeom prst="rect">
            <a:avLst/>
          </a:prstGeom>
          <a:solidFill>
            <a:srgbClr val="FFFFFF"/>
          </a:solidFill>
          <a:ln w="9525">
            <a:solidFill>
              <a:srgbClr val="8A94AB"/>
            </a:solidFill>
            <a:prstDash val="solid"/>
          </a:ln>
        </p:spPr>
      </p:sp>
      <p:sp>
        <p:nvSpPr>
          <p:cNvPr id="12" name="Text 9"/>
          <p:cNvSpPr txBox="1"/>
          <p:nvPr/>
        </p:nvSpPr>
        <p:spPr>
          <a:xfrm>
            <a:off x="1600200" y="3611880"/>
            <a:ext cx="196596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13" name="Shape 10"/>
          <p:cNvSpPr/>
          <p:nvPr/>
        </p:nvSpPr>
        <p:spPr>
          <a:xfrm>
            <a:off x="548640" y="1947672"/>
            <a:ext cx="3108960" cy="786384"/>
          </a:xfrm>
          <a:prstGeom prst="rect">
            <a:avLst/>
          </a:prstGeom>
          <a:solidFill>
            <a:srgbClr val="EEF1F6"/>
          </a:solidFill>
          <a:ln w="12700">
            <a:solidFill>
              <a:srgbClr val="14213D"/>
            </a:solidFill>
            <a:prstDash val="solid"/>
          </a:ln>
        </p:spPr>
      </p:sp>
      <p:sp>
        <p:nvSpPr>
          <p:cNvPr id="14" name="Shape 11"/>
          <p:cNvSpPr/>
          <p:nvPr/>
        </p:nvSpPr>
        <p:spPr>
          <a:xfrm>
            <a:off x="548640" y="1947672"/>
            <a:ext cx="3108960" cy="329184"/>
          </a:xfrm>
          <a:prstGeom prst="rect">
            <a:avLst/>
          </a:prstGeom>
          <a:solidFill>
            <a:srgbClr val="FCA311"/>
          </a:solidFill>
          <a:ln w="12700">
            <a:solidFill>
              <a:srgbClr val="14213D"/>
            </a:solidFill>
            <a:prstDash val="solid"/>
          </a:ln>
        </p:spPr>
      </p:sp>
      <p:sp>
        <p:nvSpPr>
          <p:cNvPr id="15" name="Text 12"/>
          <p:cNvSpPr txBox="1"/>
          <p:nvPr/>
        </p:nvSpPr>
        <p:spPr>
          <a:xfrm>
            <a:off x="640080" y="1947672"/>
            <a:ext cx="292608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ReplaceArray</a:t>
            </a:r>
            <a:endParaRPr lang="en-US" sz="1200" dirty="0"/>
          </a:p>
        </p:txBody>
      </p:sp>
      <p:sp>
        <p:nvSpPr>
          <p:cNvPr id="16" name="Text 13"/>
          <p:cNvSpPr txBox="1"/>
          <p:nvPr/>
        </p:nvSpPr>
        <p:spPr>
          <a:xfrm>
            <a:off x="594360" y="232257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17" name="Shape 14"/>
          <p:cNvSpPr/>
          <p:nvPr/>
        </p:nvSpPr>
        <p:spPr>
          <a:xfrm>
            <a:off x="1600200" y="2322576"/>
            <a:ext cx="1965960" cy="310896"/>
          </a:xfrm>
          <a:prstGeom prst="rect">
            <a:avLst/>
          </a:prstGeom>
          <a:solidFill>
            <a:srgbClr val="FFF1D6"/>
          </a:solidFill>
          <a:ln w="9525">
            <a:solidFill>
              <a:srgbClr val="8A94AB"/>
            </a:solidFill>
            <a:prstDash val="solid"/>
          </a:ln>
        </p:spPr>
      </p:sp>
      <p:sp>
        <p:nvSpPr>
          <p:cNvPr id="18" name="Text 15"/>
          <p:cNvSpPr txBox="1"/>
          <p:nvPr/>
        </p:nvSpPr>
        <p:spPr>
          <a:xfrm>
            <a:off x="1600200" y="2322576"/>
            <a:ext cx="196596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19" name="Shape 16"/>
          <p:cNvSpPr/>
          <p:nvPr/>
        </p:nvSpPr>
        <p:spPr>
          <a:xfrm>
            <a:off x="4434840" y="3154680"/>
            <a:ext cx="640080" cy="502920"/>
          </a:xfrm>
          <a:prstGeom prst="rect">
            <a:avLst/>
          </a:prstGeom>
          <a:solidFill>
            <a:srgbClr val="E6F4EC"/>
          </a:solidFill>
          <a:ln w="9525">
            <a:solidFill>
              <a:srgbClr val="8A94AB"/>
            </a:solidFill>
            <a:prstDash val="solid"/>
          </a:ln>
        </p:spPr>
      </p:sp>
      <p:sp>
        <p:nvSpPr>
          <p:cNvPr id="20" name="Text 17"/>
          <p:cNvSpPr txBox="1"/>
          <p:nvPr/>
        </p:nvSpPr>
        <p:spPr>
          <a:xfrm>
            <a:off x="4434840" y="315468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60</a:t>
            </a:r>
            <a:endParaRPr lang="en-US" sz="1600" dirty="0"/>
          </a:p>
        </p:txBody>
      </p:sp>
      <p:sp>
        <p:nvSpPr>
          <p:cNvPr id="21" name="Shape 18"/>
          <p:cNvSpPr/>
          <p:nvPr/>
        </p:nvSpPr>
        <p:spPr>
          <a:xfrm>
            <a:off x="5074920" y="3154680"/>
            <a:ext cx="640080" cy="502920"/>
          </a:xfrm>
          <a:prstGeom prst="rect">
            <a:avLst/>
          </a:prstGeom>
          <a:solidFill>
            <a:srgbClr val="E6F4EC"/>
          </a:solidFill>
          <a:ln w="9525">
            <a:solidFill>
              <a:srgbClr val="8A94AB"/>
            </a:solidFill>
            <a:prstDash val="solid"/>
          </a:ln>
        </p:spPr>
      </p:sp>
      <p:sp>
        <p:nvSpPr>
          <p:cNvPr id="22" name="Text 19"/>
          <p:cNvSpPr txBox="1"/>
          <p:nvPr/>
        </p:nvSpPr>
        <p:spPr>
          <a:xfrm>
            <a:off x="5074920" y="315468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75</a:t>
            </a:r>
            <a:endParaRPr lang="en-US" sz="1600" dirty="0"/>
          </a:p>
        </p:txBody>
      </p:sp>
      <p:sp>
        <p:nvSpPr>
          <p:cNvPr id="23" name="Shape 20"/>
          <p:cNvSpPr/>
          <p:nvPr/>
        </p:nvSpPr>
        <p:spPr>
          <a:xfrm>
            <a:off x="5715000" y="3154680"/>
            <a:ext cx="640080" cy="502920"/>
          </a:xfrm>
          <a:prstGeom prst="rect">
            <a:avLst/>
          </a:prstGeom>
          <a:solidFill>
            <a:srgbClr val="E6F4EC"/>
          </a:solidFill>
          <a:ln w="9525">
            <a:solidFill>
              <a:srgbClr val="8A94AB"/>
            </a:solidFill>
            <a:prstDash val="solid"/>
          </a:ln>
        </p:spPr>
      </p:sp>
      <p:sp>
        <p:nvSpPr>
          <p:cNvPr id="24" name="Text 21"/>
          <p:cNvSpPr txBox="1"/>
          <p:nvPr/>
        </p:nvSpPr>
        <p:spPr>
          <a:xfrm>
            <a:off x="5715000" y="315468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25" name="Shape 22"/>
          <p:cNvSpPr/>
          <p:nvPr/>
        </p:nvSpPr>
        <p:spPr>
          <a:xfrm>
            <a:off x="6355080" y="3154680"/>
            <a:ext cx="640080" cy="502920"/>
          </a:xfrm>
          <a:prstGeom prst="rect">
            <a:avLst/>
          </a:prstGeom>
          <a:solidFill>
            <a:srgbClr val="E6F4EC"/>
          </a:solidFill>
          <a:ln w="9525">
            <a:solidFill>
              <a:srgbClr val="8A94AB"/>
            </a:solidFill>
            <a:prstDash val="solid"/>
          </a:ln>
        </p:spPr>
      </p:sp>
      <p:sp>
        <p:nvSpPr>
          <p:cNvPr id="26" name="Text 23"/>
          <p:cNvSpPr txBox="1"/>
          <p:nvPr/>
        </p:nvSpPr>
        <p:spPr>
          <a:xfrm>
            <a:off x="6355080" y="315468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93</a:t>
            </a:r>
            <a:endParaRPr lang="en-US" sz="1600" dirty="0"/>
          </a:p>
        </p:txBody>
      </p:sp>
      <p:sp>
        <p:nvSpPr>
          <p:cNvPr id="27" name="Shape 24"/>
          <p:cNvSpPr/>
          <p:nvPr/>
        </p:nvSpPr>
        <p:spPr>
          <a:xfrm>
            <a:off x="4434840" y="1783080"/>
            <a:ext cx="640080" cy="502920"/>
          </a:xfrm>
          <a:prstGeom prst="rect">
            <a:avLst/>
          </a:prstGeom>
          <a:solidFill>
            <a:srgbClr val="FFF1D6"/>
          </a:solidFill>
          <a:ln w="9525">
            <a:solidFill>
              <a:srgbClr val="8A94AB"/>
            </a:solidFill>
            <a:prstDash val="solid"/>
          </a:ln>
        </p:spPr>
      </p:sp>
      <p:sp>
        <p:nvSpPr>
          <p:cNvPr id="28" name="Text 25"/>
          <p:cNvSpPr txBox="1"/>
          <p:nvPr/>
        </p:nvSpPr>
        <p:spPr>
          <a:xfrm>
            <a:off x="4434840" y="178308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9" name="Shape 26"/>
          <p:cNvSpPr/>
          <p:nvPr/>
        </p:nvSpPr>
        <p:spPr>
          <a:xfrm>
            <a:off x="5074920" y="1783080"/>
            <a:ext cx="640080" cy="502920"/>
          </a:xfrm>
          <a:prstGeom prst="rect">
            <a:avLst/>
          </a:prstGeom>
          <a:solidFill>
            <a:srgbClr val="FFF1D6"/>
          </a:solidFill>
          <a:ln w="9525">
            <a:solidFill>
              <a:srgbClr val="8A94AB"/>
            </a:solidFill>
            <a:prstDash val="solid"/>
          </a:ln>
        </p:spPr>
      </p:sp>
      <p:sp>
        <p:nvSpPr>
          <p:cNvPr id="30" name="Text 27"/>
          <p:cNvSpPr txBox="1"/>
          <p:nvPr/>
        </p:nvSpPr>
        <p:spPr>
          <a:xfrm>
            <a:off x="5074920" y="178308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31" name="Shape 28"/>
          <p:cNvSpPr/>
          <p:nvPr/>
        </p:nvSpPr>
        <p:spPr>
          <a:xfrm>
            <a:off x="5715000" y="1783080"/>
            <a:ext cx="640080" cy="502920"/>
          </a:xfrm>
          <a:prstGeom prst="rect">
            <a:avLst/>
          </a:prstGeom>
          <a:solidFill>
            <a:srgbClr val="FFF1D6"/>
          </a:solidFill>
          <a:ln w="9525">
            <a:solidFill>
              <a:srgbClr val="8A94AB"/>
            </a:solidFill>
            <a:prstDash val="solid"/>
          </a:ln>
        </p:spPr>
      </p:sp>
      <p:sp>
        <p:nvSpPr>
          <p:cNvPr id="32" name="Text 29"/>
          <p:cNvSpPr txBox="1"/>
          <p:nvPr/>
        </p:nvSpPr>
        <p:spPr>
          <a:xfrm>
            <a:off x="5715000" y="178308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33" name="Shape 30"/>
          <p:cNvSpPr/>
          <p:nvPr/>
        </p:nvSpPr>
        <p:spPr>
          <a:xfrm>
            <a:off x="6355080" y="1783080"/>
            <a:ext cx="640080" cy="502920"/>
          </a:xfrm>
          <a:prstGeom prst="rect">
            <a:avLst/>
          </a:prstGeom>
          <a:solidFill>
            <a:srgbClr val="FFF1D6"/>
          </a:solidFill>
          <a:ln w="9525">
            <a:solidFill>
              <a:srgbClr val="8A94AB"/>
            </a:solidFill>
            <a:prstDash val="solid"/>
          </a:ln>
        </p:spPr>
      </p:sp>
      <p:sp>
        <p:nvSpPr>
          <p:cNvPr id="34" name="Text 31"/>
          <p:cNvSpPr txBox="1"/>
          <p:nvPr/>
        </p:nvSpPr>
        <p:spPr>
          <a:xfrm>
            <a:off x="6355080" y="178308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35" name="Text 32"/>
          <p:cNvSpPr txBox="1"/>
          <p:nvPr/>
        </p:nvSpPr>
        <p:spPr>
          <a:xfrm>
            <a:off x="4434840" y="2286000"/>
            <a:ext cx="2743200" cy="320040"/>
          </a:xfrm>
          <a:prstGeom prst="rect">
            <a:avLst/>
          </a:prstGeom>
          <a:noFill/>
          <a:ln/>
        </p:spPr>
        <p:txBody>
          <a:bodyPr wrap="square" lIns="0" tIns="0" rIns="0" bIns="0" rtlCol="0" anchor="ctr"/>
          <a:lstStyle/>
          <a:p>
            <a:pPr algn="l" indent="0" marL="0">
              <a:buNone/>
            </a:pPr>
            <a:r>
              <a:rPr lang="en-US" sz="1200" b="1" dirty="0">
                <a:solidFill>
                  <a:srgbClr val="B7791F"/>
                </a:solidFill>
                <a:latin typeface="Calibri" pitchFamily="34" charset="0"/>
                <a:ea typeface="Calibri" pitchFamily="34" charset="-122"/>
                <a:cs typeface="Calibri" pitchFamily="34" charset="-120"/>
              </a:rPr>
              <a:t>new array (lost on return)</a:t>
            </a:r>
            <a:endParaRPr lang="en-US" sz="1200" dirty="0"/>
          </a:p>
        </p:txBody>
      </p:sp>
      <p:sp>
        <p:nvSpPr>
          <p:cNvPr id="36" name="Text 33"/>
          <p:cNvSpPr txBox="1"/>
          <p:nvPr/>
        </p:nvSpPr>
        <p:spPr>
          <a:xfrm>
            <a:off x="4434840" y="3657600"/>
            <a:ext cx="2743200" cy="320040"/>
          </a:xfrm>
          <a:prstGeom prst="rect">
            <a:avLst/>
          </a:prstGeom>
          <a:noFill/>
          <a:ln/>
        </p:spPr>
        <p:txBody>
          <a:bodyPr wrap="square" lIns="0" tIns="0" rIns="0" bIns="0" rtlCol="0" anchor="ctr"/>
          <a:lstStyle/>
          <a:p>
            <a:pPr algn="l" indent="0" marL="0">
              <a:buNone/>
            </a:pPr>
            <a:r>
              <a:rPr lang="en-US" sz="1200" b="1" dirty="0">
                <a:solidFill>
                  <a:srgbClr val="1F7A50"/>
                </a:solidFill>
                <a:latin typeface="Calibri" pitchFamily="34" charset="0"/>
                <a:ea typeface="Calibri" pitchFamily="34" charset="-122"/>
                <a:cs typeface="Calibri" pitchFamily="34" charset="-120"/>
              </a:rPr>
              <a:t>the caller's array</a:t>
            </a:r>
            <a:endParaRPr lang="en-US" sz="1200" dirty="0"/>
          </a:p>
        </p:txBody>
      </p:sp>
      <p:sp>
        <p:nvSpPr>
          <p:cNvPr id="37" name="Shape 34"/>
          <p:cNvSpPr/>
          <p:nvPr/>
        </p:nvSpPr>
        <p:spPr>
          <a:xfrm flipV="1">
            <a:off x="3566160" y="2034540"/>
            <a:ext cx="850392" cy="443484"/>
          </a:xfrm>
          <a:prstGeom prst="line">
            <a:avLst/>
          </a:prstGeom>
          <a:noFill/>
          <a:ln w="15875">
            <a:solidFill>
              <a:srgbClr val="B7791F"/>
            </a:solidFill>
            <a:prstDash val="solid"/>
            <a:tailEnd type="triangle"/>
          </a:ln>
        </p:spPr>
      </p:sp>
      <p:sp>
        <p:nvSpPr>
          <p:cNvPr id="38" name="Shape 35"/>
          <p:cNvSpPr/>
          <p:nvPr/>
        </p:nvSpPr>
        <p:spPr>
          <a:xfrm flipV="1">
            <a:off x="3566160" y="3406140"/>
            <a:ext cx="850392" cy="361188"/>
          </a:xfrm>
          <a:prstGeom prst="line">
            <a:avLst/>
          </a:prstGeom>
          <a:noFill/>
          <a:ln w="15875">
            <a:solidFill>
              <a:srgbClr val="14213D"/>
            </a:solidFill>
            <a:prstDash val="solid"/>
            <a:tailEnd type="triangle"/>
          </a:ln>
        </p:spPr>
      </p:sp>
      <p:sp>
        <p:nvSpPr>
          <p:cNvPr id="39" name="Shape 36"/>
          <p:cNvSpPr/>
          <p:nvPr/>
        </p:nvSpPr>
        <p:spPr>
          <a:xfrm>
            <a:off x="548640" y="4206240"/>
            <a:ext cx="6583680" cy="1874520"/>
          </a:xfrm>
          <a:prstGeom prst="roundRect">
            <a:avLst>
              <a:gd name="adj" fmla="val 4878"/>
            </a:avLst>
          </a:prstGeom>
          <a:solidFill>
            <a:srgbClr val="0F1729"/>
          </a:solidFill>
          <a:ln w="12700">
            <a:solidFill>
              <a:srgbClr val="0F1729"/>
            </a:solidFill>
            <a:prstDash val="solid"/>
          </a:ln>
        </p:spPr>
      </p:sp>
      <p:sp>
        <p:nvSpPr>
          <p:cNvPr id="40" name="Text 37"/>
          <p:cNvSpPr txBox="1"/>
          <p:nvPr/>
        </p:nvSpPr>
        <p:spPr>
          <a:xfrm>
            <a:off x="777240" y="4315968"/>
            <a:ext cx="6126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 = new … changes only the parameter</a:t>
            </a:r>
            <a:endParaRPr lang="en-US" sz="1100" dirty="0"/>
          </a:p>
        </p:txBody>
      </p:sp>
      <p:sp>
        <p:nvSpPr>
          <p:cNvPr id="41" name="Text 38"/>
          <p:cNvSpPr txBox="1"/>
          <p:nvPr/>
        </p:nvSpPr>
        <p:spPr>
          <a:xfrm>
            <a:off x="777240" y="4617720"/>
            <a:ext cx="6126480" cy="135331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ReplaceArray(</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PrintArray(</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inside ReplaceArray"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42" name="Shape 39"/>
          <p:cNvSpPr/>
          <p:nvPr/>
        </p:nvSpPr>
        <p:spPr>
          <a:xfrm>
            <a:off x="7360920" y="1645920"/>
            <a:ext cx="4297680" cy="1783080"/>
          </a:xfrm>
          <a:prstGeom prst="roundRect">
            <a:avLst>
              <a:gd name="adj" fmla="val 5128"/>
            </a:avLst>
          </a:prstGeom>
          <a:solidFill>
            <a:srgbClr val="0B0F19"/>
          </a:solidFill>
          <a:ln w="12700">
            <a:solidFill>
              <a:srgbClr val="2A3654"/>
            </a:solidFill>
            <a:prstDash val="solid"/>
          </a:ln>
        </p:spPr>
      </p:sp>
      <p:sp>
        <p:nvSpPr>
          <p:cNvPr id="43" name="Shape 40"/>
          <p:cNvSpPr/>
          <p:nvPr/>
        </p:nvSpPr>
        <p:spPr>
          <a:xfrm>
            <a:off x="7543800" y="1773936"/>
            <a:ext cx="118872" cy="118872"/>
          </a:xfrm>
          <a:prstGeom prst="ellipse">
            <a:avLst/>
          </a:prstGeom>
          <a:solidFill>
            <a:srgbClr val="FF5F57"/>
          </a:solidFill>
          <a:ln w="12700">
            <a:solidFill>
              <a:srgbClr val="FF5F57"/>
            </a:solidFill>
            <a:prstDash val="solid"/>
          </a:ln>
        </p:spPr>
      </p:sp>
      <p:sp>
        <p:nvSpPr>
          <p:cNvPr id="44" name="Shape 41"/>
          <p:cNvSpPr/>
          <p:nvPr/>
        </p:nvSpPr>
        <p:spPr>
          <a:xfrm>
            <a:off x="7772400" y="1773936"/>
            <a:ext cx="118872" cy="118872"/>
          </a:xfrm>
          <a:prstGeom prst="ellipse">
            <a:avLst/>
          </a:prstGeom>
          <a:solidFill>
            <a:srgbClr val="FEBC2E"/>
          </a:solidFill>
          <a:ln w="12700">
            <a:solidFill>
              <a:srgbClr val="FEBC2E"/>
            </a:solidFill>
            <a:prstDash val="solid"/>
          </a:ln>
        </p:spPr>
      </p:sp>
      <p:sp>
        <p:nvSpPr>
          <p:cNvPr id="45" name="Shape 42"/>
          <p:cNvSpPr/>
          <p:nvPr/>
        </p:nvSpPr>
        <p:spPr>
          <a:xfrm>
            <a:off x="8001000" y="1773936"/>
            <a:ext cx="118872" cy="118872"/>
          </a:xfrm>
          <a:prstGeom prst="ellipse">
            <a:avLst/>
          </a:prstGeom>
          <a:solidFill>
            <a:srgbClr val="28C840"/>
          </a:solidFill>
          <a:ln w="12700">
            <a:solidFill>
              <a:srgbClr val="28C840"/>
            </a:solidFill>
            <a:prstDash val="solid"/>
          </a:ln>
        </p:spPr>
      </p:sp>
      <p:sp>
        <p:nvSpPr>
          <p:cNvPr id="46" name="Text 43"/>
          <p:cNvSpPr txBox="1"/>
          <p:nvPr/>
        </p:nvSpPr>
        <p:spPr>
          <a:xfrm>
            <a:off x="8275320" y="1719072"/>
            <a:ext cx="3200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47" name="Text 44"/>
          <p:cNvSpPr txBox="1"/>
          <p:nvPr/>
        </p:nvSpPr>
        <p:spPr>
          <a:xfrm>
            <a:off x="7589520" y="2029968"/>
            <a:ext cx="3840480" cy="12801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                 : 55 70 42 88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after AddToAll        : 60 75 47 93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inside ReplaceArray : 0 0 0 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after ReplaceArray    : 60 75 47 93</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360920" y="3611880"/>
          <a:ext cx="4297680" cy="914400"/>
        </p:xfrm>
        <a:graphic>
          <a:graphicData uri="http://schemas.openxmlformats.org/drawingml/2006/table">
            <a:tbl>
              <a:tblPr/>
              <a:tblGrid>
                <a:gridCol w="2468880"/>
                <a:gridCol w="182880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inside the method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caller sees it?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a[i] = …</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7A50"/>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a = new int[…]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C8453B"/>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49" name="Shape 45"/>
          <p:cNvSpPr/>
          <p:nvPr/>
        </p:nvSpPr>
        <p:spPr>
          <a:xfrm>
            <a:off x="7360920" y="5120640"/>
            <a:ext cx="4297680" cy="960120"/>
          </a:xfrm>
          <a:prstGeom prst="roundRect">
            <a:avLst>
              <a:gd name="adj" fmla="val 11429"/>
            </a:avLst>
          </a:prstGeom>
          <a:solidFill>
            <a:srgbClr val="FFF6E3"/>
          </a:solidFill>
          <a:ln w="12700">
            <a:solidFill>
              <a:srgbClr val="FFF6E3"/>
            </a:solidFill>
            <a:prstDash val="solid"/>
          </a:ln>
        </p:spPr>
      </p:sp>
      <p:pic>
        <p:nvPicPr>
          <p:cNvPr id="50" name="Image 0" descr="preencoded.png">    </p:cNvPr>
          <p:cNvPicPr>
            <a:picLocks noChangeAspect="1"/>
          </p:cNvPicPr>
          <p:nvPr/>
        </p:nvPicPr>
        <p:blipFill>
          <a:blip r:embed="rId1"/>
          <a:stretch>
            <a:fillRect/>
          </a:stretch>
        </p:blipFill>
        <p:spPr>
          <a:xfrm>
            <a:off x="7635240" y="5326380"/>
            <a:ext cx="548640" cy="548640"/>
          </a:xfrm>
          <a:prstGeom prst="rect">
            <a:avLst/>
          </a:prstGeom>
        </p:spPr>
      </p:pic>
      <p:sp>
        <p:nvSpPr>
          <p:cNvPr id="51" name="Text 46"/>
          <p:cNvSpPr txBox="1"/>
          <p:nvPr/>
        </p:nvSpPr>
        <p:spPr>
          <a:xfrm>
            <a:off x="8458200" y="5193792"/>
            <a:ext cx="2926080" cy="81381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New array? </a:t>
            </a:r>
            <a:pPr indent="0" marL="0">
              <a:buNone/>
            </a:pPr>
            <a:r>
              <a:rPr lang="en-US" sz="1500" dirty="0">
                <a:solidFill>
                  <a:srgbClr val="333B4F"/>
                </a:solidFill>
                <a:latin typeface="Calibri" pitchFamily="34" charset="0"/>
                <a:ea typeface="Calibri" pitchFamily="34" charset="-122"/>
                <a:cs typeface="Calibri" pitchFamily="34" charset="-120"/>
              </a:rPr>
              <a:t>Return it (Week 13).</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REF PARAMETERS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ref: the parameter is an alias of the caller's variable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3419856"/>
            <a:ext cx="2651760" cy="1152144"/>
          </a:xfrm>
          <a:prstGeom prst="rect">
            <a:avLst/>
          </a:prstGeom>
          <a:solidFill>
            <a:srgbClr val="EEF1F6"/>
          </a:solidFill>
          <a:ln w="12700">
            <a:solidFill>
              <a:srgbClr val="14213D"/>
            </a:solidFill>
            <a:prstDash val="solid"/>
          </a:ln>
        </p:spPr>
      </p:sp>
      <p:sp>
        <p:nvSpPr>
          <p:cNvPr id="8" name="Shape 5"/>
          <p:cNvSpPr/>
          <p:nvPr/>
        </p:nvSpPr>
        <p:spPr>
          <a:xfrm>
            <a:off x="548640" y="3419856"/>
            <a:ext cx="2651760" cy="329184"/>
          </a:xfrm>
          <a:prstGeom prst="rect">
            <a:avLst/>
          </a:prstGeom>
          <a:solidFill>
            <a:srgbClr val="14213D"/>
          </a:solidFill>
          <a:ln w="12700">
            <a:solidFill>
              <a:srgbClr val="14213D"/>
            </a:solidFill>
            <a:prstDash val="solid"/>
          </a:ln>
        </p:spPr>
      </p:sp>
      <p:sp>
        <p:nvSpPr>
          <p:cNvPr id="9" name="Text 6"/>
          <p:cNvSpPr txBox="1"/>
          <p:nvPr/>
        </p:nvSpPr>
        <p:spPr>
          <a:xfrm>
            <a:off x="640080" y="3419856"/>
            <a:ext cx="24688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10" name="Text 7"/>
          <p:cNvSpPr txBox="1"/>
          <p:nvPr/>
        </p:nvSpPr>
        <p:spPr>
          <a:xfrm>
            <a:off x="594360" y="379476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11" name="Shape 8"/>
          <p:cNvSpPr/>
          <p:nvPr/>
        </p:nvSpPr>
        <p:spPr>
          <a:xfrm>
            <a:off x="1600200" y="3794760"/>
            <a:ext cx="1508760" cy="310896"/>
          </a:xfrm>
          <a:prstGeom prst="rect">
            <a:avLst/>
          </a:prstGeom>
          <a:solidFill>
            <a:srgbClr val="FFFFFF"/>
          </a:solidFill>
          <a:ln w="9525">
            <a:solidFill>
              <a:srgbClr val="8A94AB"/>
            </a:solidFill>
            <a:prstDash val="solid"/>
          </a:ln>
        </p:spPr>
      </p:sp>
      <p:sp>
        <p:nvSpPr>
          <p:cNvPr id="12" name="Text 9"/>
          <p:cNvSpPr txBox="1"/>
          <p:nvPr/>
        </p:nvSpPr>
        <p:spPr>
          <a:xfrm>
            <a:off x="1600200" y="3794760"/>
            <a:ext cx="150876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13" name="Text 10"/>
          <p:cNvSpPr txBox="1"/>
          <p:nvPr/>
        </p:nvSpPr>
        <p:spPr>
          <a:xfrm>
            <a:off x="594360" y="416052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b</a:t>
            </a:r>
            <a:endParaRPr lang="en-US" sz="1400" dirty="0"/>
          </a:p>
        </p:txBody>
      </p:sp>
      <p:sp>
        <p:nvSpPr>
          <p:cNvPr id="14" name="Shape 11"/>
          <p:cNvSpPr/>
          <p:nvPr/>
        </p:nvSpPr>
        <p:spPr>
          <a:xfrm>
            <a:off x="1600200" y="4160520"/>
            <a:ext cx="1508760" cy="310896"/>
          </a:xfrm>
          <a:prstGeom prst="rect">
            <a:avLst/>
          </a:prstGeom>
          <a:solidFill>
            <a:srgbClr val="FFFFFF"/>
          </a:solidFill>
          <a:ln w="9525">
            <a:solidFill>
              <a:srgbClr val="8A94AB"/>
            </a:solidFill>
            <a:prstDash val="solid"/>
          </a:ln>
        </p:spPr>
      </p:sp>
      <p:sp>
        <p:nvSpPr>
          <p:cNvPr id="15" name="Text 12"/>
          <p:cNvSpPr txBox="1"/>
          <p:nvPr/>
        </p:nvSpPr>
        <p:spPr>
          <a:xfrm>
            <a:off x="1600200" y="4160520"/>
            <a:ext cx="150876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9</a:t>
            </a:r>
            <a:endParaRPr lang="en-US" sz="1400" dirty="0"/>
          </a:p>
        </p:txBody>
      </p:sp>
      <p:sp>
        <p:nvSpPr>
          <p:cNvPr id="16" name="Shape 13"/>
          <p:cNvSpPr/>
          <p:nvPr/>
        </p:nvSpPr>
        <p:spPr>
          <a:xfrm>
            <a:off x="548640" y="1764792"/>
            <a:ext cx="2651760" cy="1152144"/>
          </a:xfrm>
          <a:prstGeom prst="rect">
            <a:avLst/>
          </a:prstGeom>
          <a:solidFill>
            <a:srgbClr val="EEF1F6"/>
          </a:solidFill>
          <a:ln w="12700">
            <a:solidFill>
              <a:srgbClr val="14213D"/>
            </a:solidFill>
            <a:prstDash val="solid"/>
          </a:ln>
        </p:spPr>
      </p:sp>
      <p:sp>
        <p:nvSpPr>
          <p:cNvPr id="17" name="Shape 14"/>
          <p:cNvSpPr/>
          <p:nvPr/>
        </p:nvSpPr>
        <p:spPr>
          <a:xfrm>
            <a:off x="548640" y="1764792"/>
            <a:ext cx="2651760" cy="329184"/>
          </a:xfrm>
          <a:prstGeom prst="rect">
            <a:avLst/>
          </a:prstGeom>
          <a:solidFill>
            <a:srgbClr val="FCA311"/>
          </a:solidFill>
          <a:ln w="12700">
            <a:solidFill>
              <a:srgbClr val="14213D"/>
            </a:solidFill>
            <a:prstDash val="solid"/>
          </a:ln>
        </p:spPr>
      </p:sp>
      <p:sp>
        <p:nvSpPr>
          <p:cNvPr id="18" name="Text 15"/>
          <p:cNvSpPr txBox="1"/>
          <p:nvPr/>
        </p:nvSpPr>
        <p:spPr>
          <a:xfrm>
            <a:off x="640080" y="1764792"/>
            <a:ext cx="246888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SwapCopies</a:t>
            </a:r>
            <a:endParaRPr lang="en-US" sz="1200" dirty="0"/>
          </a:p>
        </p:txBody>
      </p:sp>
      <p:sp>
        <p:nvSpPr>
          <p:cNvPr id="19" name="Text 16"/>
          <p:cNvSpPr txBox="1"/>
          <p:nvPr/>
        </p:nvSpPr>
        <p:spPr>
          <a:xfrm>
            <a:off x="594360" y="213969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20" name="Shape 17"/>
          <p:cNvSpPr/>
          <p:nvPr/>
        </p:nvSpPr>
        <p:spPr>
          <a:xfrm>
            <a:off x="1600200" y="2139696"/>
            <a:ext cx="1508760" cy="310896"/>
          </a:xfrm>
          <a:prstGeom prst="rect">
            <a:avLst/>
          </a:prstGeom>
          <a:solidFill>
            <a:srgbClr val="FFF1D6"/>
          </a:solidFill>
          <a:ln w="9525">
            <a:solidFill>
              <a:srgbClr val="8A94AB"/>
            </a:solidFill>
            <a:prstDash val="solid"/>
          </a:ln>
        </p:spPr>
      </p:sp>
      <p:sp>
        <p:nvSpPr>
          <p:cNvPr id="21" name="Text 18"/>
          <p:cNvSpPr txBox="1"/>
          <p:nvPr/>
        </p:nvSpPr>
        <p:spPr>
          <a:xfrm>
            <a:off x="1600200" y="2139696"/>
            <a:ext cx="1508760" cy="310896"/>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5 → 9</a:t>
            </a:r>
            <a:endParaRPr lang="en-US" sz="1300" dirty="0"/>
          </a:p>
        </p:txBody>
      </p:sp>
      <p:sp>
        <p:nvSpPr>
          <p:cNvPr id="22" name="Text 19"/>
          <p:cNvSpPr txBox="1"/>
          <p:nvPr/>
        </p:nvSpPr>
        <p:spPr>
          <a:xfrm>
            <a:off x="594360" y="250545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y</a:t>
            </a:r>
            <a:endParaRPr lang="en-US" sz="1400" dirty="0"/>
          </a:p>
        </p:txBody>
      </p:sp>
      <p:sp>
        <p:nvSpPr>
          <p:cNvPr id="23" name="Shape 20"/>
          <p:cNvSpPr/>
          <p:nvPr/>
        </p:nvSpPr>
        <p:spPr>
          <a:xfrm>
            <a:off x="1600200" y="2505456"/>
            <a:ext cx="1508760" cy="310896"/>
          </a:xfrm>
          <a:prstGeom prst="rect">
            <a:avLst/>
          </a:prstGeom>
          <a:solidFill>
            <a:srgbClr val="FFF1D6"/>
          </a:solidFill>
          <a:ln w="9525">
            <a:solidFill>
              <a:srgbClr val="8A94AB"/>
            </a:solidFill>
            <a:prstDash val="solid"/>
          </a:ln>
        </p:spPr>
      </p:sp>
      <p:sp>
        <p:nvSpPr>
          <p:cNvPr id="24" name="Text 21"/>
          <p:cNvSpPr txBox="1"/>
          <p:nvPr/>
        </p:nvSpPr>
        <p:spPr>
          <a:xfrm>
            <a:off x="1600200" y="2505456"/>
            <a:ext cx="1508760" cy="310896"/>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 → 5</a:t>
            </a:r>
            <a:endParaRPr lang="en-US" sz="1300" dirty="0"/>
          </a:p>
        </p:txBody>
      </p:sp>
      <p:sp>
        <p:nvSpPr>
          <p:cNvPr id="25" name="Shape 22"/>
          <p:cNvSpPr/>
          <p:nvPr/>
        </p:nvSpPr>
        <p:spPr>
          <a:xfrm>
            <a:off x="3108960" y="3950208"/>
            <a:ext cx="320040" cy="0"/>
          </a:xfrm>
          <a:prstGeom prst="line">
            <a:avLst/>
          </a:prstGeom>
          <a:noFill/>
          <a:ln w="15875">
            <a:solidFill>
              <a:srgbClr val="B7791F"/>
            </a:solidFill>
            <a:prstDash val="solid"/>
          </a:ln>
        </p:spPr>
      </p:sp>
      <p:sp>
        <p:nvSpPr>
          <p:cNvPr id="26" name="Shape 23"/>
          <p:cNvSpPr/>
          <p:nvPr/>
        </p:nvSpPr>
        <p:spPr>
          <a:xfrm flipV="1">
            <a:off x="3429000" y="2295144"/>
            <a:ext cx="0" cy="1655064"/>
          </a:xfrm>
          <a:prstGeom prst="line">
            <a:avLst/>
          </a:prstGeom>
          <a:noFill/>
          <a:ln w="15875">
            <a:solidFill>
              <a:srgbClr val="B7791F"/>
            </a:solidFill>
            <a:prstDash val="solid"/>
          </a:ln>
        </p:spPr>
      </p:sp>
      <p:sp>
        <p:nvSpPr>
          <p:cNvPr id="27" name="Shape 24"/>
          <p:cNvSpPr/>
          <p:nvPr/>
        </p:nvSpPr>
        <p:spPr>
          <a:xfrm flipH="1">
            <a:off x="3127248" y="2295144"/>
            <a:ext cx="301752" cy="0"/>
          </a:xfrm>
          <a:prstGeom prst="line">
            <a:avLst/>
          </a:prstGeom>
          <a:noFill/>
          <a:ln w="15875">
            <a:solidFill>
              <a:srgbClr val="B7791F"/>
            </a:solidFill>
            <a:prstDash val="solid"/>
            <a:tailEnd type="triangle"/>
          </a:ln>
        </p:spPr>
      </p:sp>
      <p:sp>
        <p:nvSpPr>
          <p:cNvPr id="28" name="Text 25"/>
          <p:cNvSpPr txBox="1"/>
          <p:nvPr/>
        </p:nvSpPr>
        <p:spPr>
          <a:xfrm>
            <a:off x="3474720" y="2967228"/>
            <a:ext cx="1188720" cy="310896"/>
          </a:xfrm>
          <a:prstGeom prst="rect">
            <a:avLst/>
          </a:prstGeom>
          <a:noFill/>
          <a:ln/>
        </p:spPr>
        <p:txBody>
          <a:bodyPr wrap="square" lIns="0" tIns="0" rIns="0" bIns="0" rtlCol="0" anchor="ctr"/>
          <a:lstStyle/>
          <a:p>
            <a:pPr algn="l" indent="0" marL="0">
              <a:buNone/>
            </a:pPr>
            <a:r>
              <a:rPr lang="en-US" sz="1200" b="1" dirty="0">
                <a:solidFill>
                  <a:srgbClr val="B7791F"/>
                </a:solidFill>
                <a:latin typeface="Calibri" pitchFamily="34" charset="0"/>
                <a:ea typeface="Calibri" pitchFamily="34" charset="-122"/>
                <a:cs typeface="Calibri" pitchFamily="34" charset="-120"/>
              </a:rPr>
              <a:t>copy</a:t>
            </a:r>
            <a:endParaRPr lang="en-US" sz="1200" dirty="0"/>
          </a:p>
        </p:txBody>
      </p:sp>
      <p:sp>
        <p:nvSpPr>
          <p:cNvPr id="29" name="Text 26"/>
          <p:cNvSpPr txBox="1"/>
          <p:nvPr/>
        </p:nvSpPr>
        <p:spPr>
          <a:xfrm>
            <a:off x="548640" y="4709160"/>
            <a:ext cx="3657600" cy="365760"/>
          </a:xfrm>
          <a:prstGeom prst="rect">
            <a:avLst/>
          </a:prstGeom>
          <a:noFill/>
          <a:ln/>
        </p:spPr>
        <p:txBody>
          <a:bodyPr wrap="square" lIns="0" tIns="0" rIns="0" bIns="0" rtlCol="0" anchor="ctr"/>
          <a:lstStyle/>
          <a:p>
            <a:pPr algn="l" indent="0" marL="0">
              <a:buNone/>
            </a:pPr>
            <a:r>
              <a:rPr lang="en-US" sz="1500" b="1" dirty="0">
                <a:solidFill>
                  <a:srgbClr val="C8453B"/>
                </a:solidFill>
                <a:latin typeface="Calibri" pitchFamily="34" charset="0"/>
                <a:ea typeface="Calibri" pitchFamily="34" charset="-122"/>
                <a:cs typeface="Calibri" pitchFamily="34" charset="-120"/>
              </a:rPr>
              <a:t>a = 5, b = 9: unchanged</a:t>
            </a:r>
            <a:endParaRPr lang="en-US" sz="1500" dirty="0"/>
          </a:p>
        </p:txBody>
      </p:sp>
      <p:sp>
        <p:nvSpPr>
          <p:cNvPr id="30" name="Shape 27"/>
          <p:cNvSpPr/>
          <p:nvPr/>
        </p:nvSpPr>
        <p:spPr>
          <a:xfrm>
            <a:off x="6035040" y="3419856"/>
            <a:ext cx="2651760" cy="1152144"/>
          </a:xfrm>
          <a:prstGeom prst="rect">
            <a:avLst/>
          </a:prstGeom>
          <a:solidFill>
            <a:srgbClr val="EEF1F6"/>
          </a:solidFill>
          <a:ln w="12700">
            <a:solidFill>
              <a:srgbClr val="14213D"/>
            </a:solidFill>
            <a:prstDash val="solid"/>
          </a:ln>
        </p:spPr>
      </p:sp>
      <p:sp>
        <p:nvSpPr>
          <p:cNvPr id="31" name="Shape 28"/>
          <p:cNvSpPr/>
          <p:nvPr/>
        </p:nvSpPr>
        <p:spPr>
          <a:xfrm>
            <a:off x="6035040" y="3419856"/>
            <a:ext cx="2651760" cy="329184"/>
          </a:xfrm>
          <a:prstGeom prst="rect">
            <a:avLst/>
          </a:prstGeom>
          <a:solidFill>
            <a:srgbClr val="14213D"/>
          </a:solidFill>
          <a:ln w="12700">
            <a:solidFill>
              <a:srgbClr val="14213D"/>
            </a:solidFill>
            <a:prstDash val="solid"/>
          </a:ln>
        </p:spPr>
      </p:sp>
      <p:sp>
        <p:nvSpPr>
          <p:cNvPr id="32" name="Text 29"/>
          <p:cNvSpPr txBox="1"/>
          <p:nvPr/>
        </p:nvSpPr>
        <p:spPr>
          <a:xfrm>
            <a:off x="6126480" y="3419856"/>
            <a:ext cx="24688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33" name="Text 30"/>
          <p:cNvSpPr txBox="1"/>
          <p:nvPr/>
        </p:nvSpPr>
        <p:spPr>
          <a:xfrm>
            <a:off x="6080760" y="379476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34" name="Shape 31"/>
          <p:cNvSpPr/>
          <p:nvPr/>
        </p:nvSpPr>
        <p:spPr>
          <a:xfrm>
            <a:off x="7086600" y="3794760"/>
            <a:ext cx="1508760" cy="310896"/>
          </a:xfrm>
          <a:prstGeom prst="rect">
            <a:avLst/>
          </a:prstGeom>
          <a:solidFill>
            <a:srgbClr val="E6F4EC"/>
          </a:solidFill>
          <a:ln w="9525">
            <a:solidFill>
              <a:srgbClr val="8A94AB"/>
            </a:solidFill>
            <a:prstDash val="solid"/>
          </a:ln>
        </p:spPr>
      </p:sp>
      <p:sp>
        <p:nvSpPr>
          <p:cNvPr id="35" name="Text 32"/>
          <p:cNvSpPr txBox="1"/>
          <p:nvPr/>
        </p:nvSpPr>
        <p:spPr>
          <a:xfrm>
            <a:off x="7086600" y="3794760"/>
            <a:ext cx="1508760" cy="310896"/>
          </a:xfrm>
          <a:prstGeom prst="rect">
            <a:avLst/>
          </a:prstGeom>
          <a:noFill/>
          <a:ln/>
        </p:spPr>
        <p:txBody>
          <a:bodyPr wrap="square" lIns="0" tIns="0" rIns="0" bIns="0" rtlCol="0" anchor="ctr"/>
          <a:lstStyle/>
          <a:p>
            <a:pPr algn="ctr" indent="0" marL="0">
              <a:buNone/>
            </a:pPr>
            <a:r>
              <a:rPr lang="en-US" sz="1300" b="1" dirty="0">
                <a:solidFill>
                  <a:srgbClr val="1F7A50"/>
                </a:solidFill>
                <a:latin typeface="Courier New" pitchFamily="34" charset="0"/>
                <a:ea typeface="Courier New" pitchFamily="34" charset="-122"/>
                <a:cs typeface="Courier New" pitchFamily="34" charset="-120"/>
              </a:rPr>
              <a:t>5 → 9</a:t>
            </a:r>
            <a:endParaRPr lang="en-US" sz="1300" dirty="0"/>
          </a:p>
        </p:txBody>
      </p:sp>
      <p:sp>
        <p:nvSpPr>
          <p:cNvPr id="36" name="Text 33"/>
          <p:cNvSpPr txBox="1"/>
          <p:nvPr/>
        </p:nvSpPr>
        <p:spPr>
          <a:xfrm>
            <a:off x="6080760" y="416052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b</a:t>
            </a:r>
            <a:endParaRPr lang="en-US" sz="1400" dirty="0"/>
          </a:p>
        </p:txBody>
      </p:sp>
      <p:sp>
        <p:nvSpPr>
          <p:cNvPr id="37" name="Shape 34"/>
          <p:cNvSpPr/>
          <p:nvPr/>
        </p:nvSpPr>
        <p:spPr>
          <a:xfrm>
            <a:off x="7086600" y="4160520"/>
            <a:ext cx="1508760" cy="310896"/>
          </a:xfrm>
          <a:prstGeom prst="rect">
            <a:avLst/>
          </a:prstGeom>
          <a:solidFill>
            <a:srgbClr val="E6F4EC"/>
          </a:solidFill>
          <a:ln w="9525">
            <a:solidFill>
              <a:srgbClr val="8A94AB"/>
            </a:solidFill>
            <a:prstDash val="solid"/>
          </a:ln>
        </p:spPr>
      </p:sp>
      <p:sp>
        <p:nvSpPr>
          <p:cNvPr id="38" name="Text 35"/>
          <p:cNvSpPr txBox="1"/>
          <p:nvPr/>
        </p:nvSpPr>
        <p:spPr>
          <a:xfrm>
            <a:off x="7086600" y="4160520"/>
            <a:ext cx="1508760" cy="310896"/>
          </a:xfrm>
          <a:prstGeom prst="rect">
            <a:avLst/>
          </a:prstGeom>
          <a:noFill/>
          <a:ln/>
        </p:spPr>
        <p:txBody>
          <a:bodyPr wrap="square" lIns="0" tIns="0" rIns="0" bIns="0" rtlCol="0" anchor="ctr"/>
          <a:lstStyle/>
          <a:p>
            <a:pPr algn="ctr" indent="0" marL="0">
              <a:buNone/>
            </a:pPr>
            <a:r>
              <a:rPr lang="en-US" sz="1300" b="1" dirty="0">
                <a:solidFill>
                  <a:srgbClr val="1F7A50"/>
                </a:solidFill>
                <a:latin typeface="Courier New" pitchFamily="34" charset="0"/>
                <a:ea typeface="Courier New" pitchFamily="34" charset="-122"/>
                <a:cs typeface="Courier New" pitchFamily="34" charset="-120"/>
              </a:rPr>
              <a:t>9 → 5</a:t>
            </a:r>
            <a:endParaRPr lang="en-US" sz="1300" dirty="0"/>
          </a:p>
        </p:txBody>
      </p:sp>
      <p:sp>
        <p:nvSpPr>
          <p:cNvPr id="39" name="Shape 36"/>
          <p:cNvSpPr/>
          <p:nvPr/>
        </p:nvSpPr>
        <p:spPr>
          <a:xfrm>
            <a:off x="6035040" y="1764792"/>
            <a:ext cx="2651760" cy="1152144"/>
          </a:xfrm>
          <a:prstGeom prst="rect">
            <a:avLst/>
          </a:prstGeom>
          <a:solidFill>
            <a:srgbClr val="EEF1F6"/>
          </a:solidFill>
          <a:ln w="12700">
            <a:solidFill>
              <a:srgbClr val="14213D"/>
            </a:solidFill>
            <a:prstDash val="solid"/>
          </a:ln>
        </p:spPr>
      </p:sp>
      <p:sp>
        <p:nvSpPr>
          <p:cNvPr id="40" name="Shape 37"/>
          <p:cNvSpPr/>
          <p:nvPr/>
        </p:nvSpPr>
        <p:spPr>
          <a:xfrm>
            <a:off x="6035040" y="1764792"/>
            <a:ext cx="2651760" cy="329184"/>
          </a:xfrm>
          <a:prstGeom prst="rect">
            <a:avLst/>
          </a:prstGeom>
          <a:solidFill>
            <a:srgbClr val="FCA311"/>
          </a:solidFill>
          <a:ln w="12700">
            <a:solidFill>
              <a:srgbClr val="14213D"/>
            </a:solidFill>
            <a:prstDash val="solid"/>
          </a:ln>
        </p:spPr>
      </p:sp>
      <p:sp>
        <p:nvSpPr>
          <p:cNvPr id="41" name="Text 38"/>
          <p:cNvSpPr txBox="1"/>
          <p:nvPr/>
        </p:nvSpPr>
        <p:spPr>
          <a:xfrm>
            <a:off x="6126480" y="1764792"/>
            <a:ext cx="246888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Swap(ref, ref)</a:t>
            </a:r>
            <a:endParaRPr lang="en-US" sz="1200" dirty="0"/>
          </a:p>
        </p:txBody>
      </p:sp>
      <p:sp>
        <p:nvSpPr>
          <p:cNvPr id="42" name="Text 39"/>
          <p:cNvSpPr txBox="1"/>
          <p:nvPr/>
        </p:nvSpPr>
        <p:spPr>
          <a:xfrm>
            <a:off x="6080760" y="213969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43" name="Shape 40"/>
          <p:cNvSpPr/>
          <p:nvPr/>
        </p:nvSpPr>
        <p:spPr>
          <a:xfrm>
            <a:off x="7086600" y="2139696"/>
            <a:ext cx="1508760" cy="310896"/>
          </a:xfrm>
          <a:prstGeom prst="rect">
            <a:avLst/>
          </a:prstGeom>
          <a:solidFill>
            <a:srgbClr val="F7F8FB"/>
          </a:solidFill>
          <a:ln w="9525">
            <a:solidFill>
              <a:srgbClr val="8A94AB"/>
            </a:solidFill>
            <a:prstDash val="dash"/>
          </a:ln>
        </p:spPr>
      </p:sp>
      <p:sp>
        <p:nvSpPr>
          <p:cNvPr id="44" name="Text 41"/>
          <p:cNvSpPr txBox="1"/>
          <p:nvPr/>
        </p:nvSpPr>
        <p:spPr>
          <a:xfrm>
            <a:off x="7086600" y="2139696"/>
            <a:ext cx="1508760" cy="310896"/>
          </a:xfrm>
          <a:prstGeom prst="rect">
            <a:avLst/>
          </a:prstGeom>
          <a:noFill/>
          <a:ln/>
        </p:spPr>
        <p:txBody>
          <a:bodyPr wrap="square" lIns="0" tIns="0" rIns="0" bIns="0" rtlCol="0" anchor="ctr"/>
          <a:lstStyle/>
          <a:p>
            <a:pPr algn="ctr" indent="0" marL="0">
              <a:buNone/>
            </a:pPr>
            <a:r>
              <a:rPr lang="en-US" sz="1400" b="1" dirty="0">
                <a:solidFill>
                  <a:srgbClr val="2F6FB3"/>
                </a:solidFill>
                <a:latin typeface="Courier New" pitchFamily="34" charset="0"/>
                <a:ea typeface="Courier New" pitchFamily="34" charset="-122"/>
                <a:cs typeface="Courier New" pitchFamily="34" charset="-120"/>
              </a:rPr>
              <a:t>→ a</a:t>
            </a:r>
            <a:endParaRPr lang="en-US" sz="1400" dirty="0"/>
          </a:p>
        </p:txBody>
      </p:sp>
      <p:sp>
        <p:nvSpPr>
          <p:cNvPr id="45" name="Text 42"/>
          <p:cNvSpPr txBox="1"/>
          <p:nvPr/>
        </p:nvSpPr>
        <p:spPr>
          <a:xfrm>
            <a:off x="6080760" y="250545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y</a:t>
            </a:r>
            <a:endParaRPr lang="en-US" sz="1400" dirty="0"/>
          </a:p>
        </p:txBody>
      </p:sp>
      <p:sp>
        <p:nvSpPr>
          <p:cNvPr id="46" name="Shape 43"/>
          <p:cNvSpPr/>
          <p:nvPr/>
        </p:nvSpPr>
        <p:spPr>
          <a:xfrm>
            <a:off x="7086600" y="2505456"/>
            <a:ext cx="1508760" cy="310896"/>
          </a:xfrm>
          <a:prstGeom prst="rect">
            <a:avLst/>
          </a:prstGeom>
          <a:solidFill>
            <a:srgbClr val="F7F8FB"/>
          </a:solidFill>
          <a:ln w="9525">
            <a:solidFill>
              <a:srgbClr val="8A94AB"/>
            </a:solidFill>
            <a:prstDash val="dash"/>
          </a:ln>
        </p:spPr>
      </p:sp>
      <p:sp>
        <p:nvSpPr>
          <p:cNvPr id="47" name="Text 44"/>
          <p:cNvSpPr txBox="1"/>
          <p:nvPr/>
        </p:nvSpPr>
        <p:spPr>
          <a:xfrm>
            <a:off x="7086600" y="2505456"/>
            <a:ext cx="1508760" cy="310896"/>
          </a:xfrm>
          <a:prstGeom prst="rect">
            <a:avLst/>
          </a:prstGeom>
          <a:noFill/>
          <a:ln/>
        </p:spPr>
        <p:txBody>
          <a:bodyPr wrap="square" lIns="0" tIns="0" rIns="0" bIns="0" rtlCol="0" anchor="ctr"/>
          <a:lstStyle/>
          <a:p>
            <a:pPr algn="ctr" indent="0" marL="0">
              <a:buNone/>
            </a:pPr>
            <a:r>
              <a:rPr lang="en-US" sz="1400" b="1" dirty="0">
                <a:solidFill>
                  <a:srgbClr val="2F6FB3"/>
                </a:solidFill>
                <a:latin typeface="Courier New" pitchFamily="34" charset="0"/>
                <a:ea typeface="Courier New" pitchFamily="34" charset="-122"/>
                <a:cs typeface="Courier New" pitchFamily="34" charset="-120"/>
              </a:rPr>
              <a:t>→ b</a:t>
            </a:r>
            <a:endParaRPr lang="en-US" sz="1400" dirty="0"/>
          </a:p>
        </p:txBody>
      </p:sp>
      <p:sp>
        <p:nvSpPr>
          <p:cNvPr id="48" name="Shape 45"/>
          <p:cNvSpPr/>
          <p:nvPr/>
        </p:nvSpPr>
        <p:spPr>
          <a:xfrm>
            <a:off x="8595360" y="2295144"/>
            <a:ext cx="365760" cy="0"/>
          </a:xfrm>
          <a:prstGeom prst="line">
            <a:avLst/>
          </a:prstGeom>
          <a:noFill/>
          <a:ln w="15875">
            <a:solidFill>
              <a:srgbClr val="2F6FB3"/>
            </a:solidFill>
            <a:prstDash val="solid"/>
          </a:ln>
        </p:spPr>
      </p:sp>
      <p:sp>
        <p:nvSpPr>
          <p:cNvPr id="49" name="Shape 46"/>
          <p:cNvSpPr/>
          <p:nvPr/>
        </p:nvSpPr>
        <p:spPr>
          <a:xfrm>
            <a:off x="8961120" y="2295144"/>
            <a:ext cx="0" cy="1655064"/>
          </a:xfrm>
          <a:prstGeom prst="line">
            <a:avLst/>
          </a:prstGeom>
          <a:noFill/>
          <a:ln w="15875">
            <a:solidFill>
              <a:srgbClr val="2F6FB3"/>
            </a:solidFill>
            <a:prstDash val="solid"/>
          </a:ln>
        </p:spPr>
      </p:sp>
      <p:sp>
        <p:nvSpPr>
          <p:cNvPr id="50" name="Shape 47"/>
          <p:cNvSpPr/>
          <p:nvPr/>
        </p:nvSpPr>
        <p:spPr>
          <a:xfrm flipH="1">
            <a:off x="8613648" y="3950208"/>
            <a:ext cx="347472" cy="0"/>
          </a:xfrm>
          <a:prstGeom prst="line">
            <a:avLst/>
          </a:prstGeom>
          <a:noFill/>
          <a:ln w="15875">
            <a:solidFill>
              <a:srgbClr val="2F6FB3"/>
            </a:solidFill>
            <a:prstDash val="solid"/>
            <a:tailEnd type="triangle"/>
          </a:ln>
        </p:spPr>
      </p:sp>
      <p:sp>
        <p:nvSpPr>
          <p:cNvPr id="51" name="Text 48"/>
          <p:cNvSpPr txBox="1"/>
          <p:nvPr/>
        </p:nvSpPr>
        <p:spPr>
          <a:xfrm>
            <a:off x="9006840" y="2967228"/>
            <a:ext cx="1188720" cy="310896"/>
          </a:xfrm>
          <a:prstGeom prst="rect">
            <a:avLst/>
          </a:prstGeom>
          <a:noFill/>
          <a:ln/>
        </p:spPr>
        <p:txBody>
          <a:bodyPr wrap="square" lIns="0" tIns="0" rIns="0" bIns="0" rtlCol="0" anchor="ctr"/>
          <a:lstStyle/>
          <a:p>
            <a:pPr algn="l" indent="0" marL="0">
              <a:buNone/>
            </a:pPr>
            <a:r>
              <a:rPr lang="en-US" sz="1200" b="1" dirty="0">
                <a:solidFill>
                  <a:srgbClr val="2F6FB3"/>
                </a:solidFill>
                <a:latin typeface="Calibri" pitchFamily="34" charset="0"/>
                <a:ea typeface="Calibri" pitchFamily="34" charset="-122"/>
                <a:cs typeface="Calibri" pitchFamily="34" charset="-120"/>
              </a:rPr>
              <a:t>alias</a:t>
            </a:r>
            <a:endParaRPr lang="en-US" sz="1200" dirty="0"/>
          </a:p>
        </p:txBody>
      </p:sp>
      <p:sp>
        <p:nvSpPr>
          <p:cNvPr id="52" name="Shape 49"/>
          <p:cNvSpPr/>
          <p:nvPr/>
        </p:nvSpPr>
        <p:spPr>
          <a:xfrm>
            <a:off x="8595360" y="2660904"/>
            <a:ext cx="685800" cy="0"/>
          </a:xfrm>
          <a:prstGeom prst="line">
            <a:avLst/>
          </a:prstGeom>
          <a:noFill/>
          <a:ln w="15875">
            <a:solidFill>
              <a:srgbClr val="2F6FB3"/>
            </a:solidFill>
            <a:prstDash val="solid"/>
          </a:ln>
        </p:spPr>
      </p:sp>
      <p:sp>
        <p:nvSpPr>
          <p:cNvPr id="53" name="Shape 50"/>
          <p:cNvSpPr/>
          <p:nvPr/>
        </p:nvSpPr>
        <p:spPr>
          <a:xfrm>
            <a:off x="9281160" y="2660904"/>
            <a:ext cx="0" cy="1655064"/>
          </a:xfrm>
          <a:prstGeom prst="line">
            <a:avLst/>
          </a:prstGeom>
          <a:noFill/>
          <a:ln w="15875">
            <a:solidFill>
              <a:srgbClr val="2F6FB3"/>
            </a:solidFill>
            <a:prstDash val="solid"/>
          </a:ln>
        </p:spPr>
      </p:sp>
      <p:sp>
        <p:nvSpPr>
          <p:cNvPr id="54" name="Shape 51"/>
          <p:cNvSpPr/>
          <p:nvPr/>
        </p:nvSpPr>
        <p:spPr>
          <a:xfrm flipH="1">
            <a:off x="8613648" y="4315968"/>
            <a:ext cx="667512" cy="0"/>
          </a:xfrm>
          <a:prstGeom prst="line">
            <a:avLst/>
          </a:prstGeom>
          <a:noFill/>
          <a:ln w="15875">
            <a:solidFill>
              <a:srgbClr val="2F6FB3"/>
            </a:solidFill>
            <a:prstDash val="solid"/>
            <a:tailEnd type="triangle"/>
          </a:ln>
        </p:spPr>
      </p:sp>
      <p:sp>
        <p:nvSpPr>
          <p:cNvPr id="55" name="Text 52"/>
          <p:cNvSpPr txBox="1"/>
          <p:nvPr/>
        </p:nvSpPr>
        <p:spPr>
          <a:xfrm>
            <a:off x="6035040" y="4709160"/>
            <a:ext cx="3657600" cy="365760"/>
          </a:xfrm>
          <a:prstGeom prst="rect">
            <a:avLst/>
          </a:prstGeom>
          <a:noFill/>
          <a:ln/>
        </p:spPr>
        <p:txBody>
          <a:bodyPr wrap="square" lIns="0" tIns="0" rIns="0" bIns="0" rtlCol="0" anchor="ctr"/>
          <a:lstStyle/>
          <a:p>
            <a:pPr algn="l" indent="0" marL="0">
              <a:buNone/>
            </a:pPr>
            <a:r>
              <a:rPr lang="en-US" sz="1500" b="1" dirty="0">
                <a:solidFill>
                  <a:srgbClr val="1F7A50"/>
                </a:solidFill>
                <a:latin typeface="Calibri" pitchFamily="34" charset="0"/>
                <a:ea typeface="Calibri" pitchFamily="34" charset="-122"/>
                <a:cs typeface="Calibri" pitchFamily="34" charset="-120"/>
              </a:rPr>
              <a:t>a = 9, b = 5: swapped</a:t>
            </a:r>
            <a:endParaRPr lang="en-US" sz="1500" dirty="0"/>
          </a:p>
        </p:txBody>
      </p:sp>
      <p:sp>
        <p:nvSpPr>
          <p:cNvPr id="56" name="Shape 53"/>
          <p:cNvSpPr/>
          <p:nvPr/>
        </p:nvSpPr>
        <p:spPr>
          <a:xfrm>
            <a:off x="548640" y="5120640"/>
            <a:ext cx="5212080" cy="960120"/>
          </a:xfrm>
          <a:prstGeom prst="roundRect">
            <a:avLst>
              <a:gd name="adj" fmla="val 9524"/>
            </a:avLst>
          </a:prstGeom>
          <a:solidFill>
            <a:srgbClr val="0F1729"/>
          </a:solidFill>
          <a:ln w="12700">
            <a:solidFill>
              <a:srgbClr val="0F1729"/>
            </a:solidFill>
            <a:prstDash val="solid"/>
          </a:ln>
        </p:spPr>
      </p:sp>
      <p:sp>
        <p:nvSpPr>
          <p:cNvPr id="57" name="Text 54"/>
          <p:cNvSpPr txBox="1"/>
          <p:nvPr/>
        </p:nvSpPr>
        <p:spPr>
          <a:xfrm>
            <a:off x="777240" y="5285232"/>
            <a:ext cx="4754880" cy="685800"/>
          </a:xfrm>
          <a:prstGeom prst="rect">
            <a:avLst/>
          </a:prstGeom>
          <a:noFill/>
          <a:ln/>
        </p:spPr>
        <p:txBody>
          <a:bodyPr wrap="square" lIns="0" tIns="0" rIns="0" bIns="0" rtlCol="0" anchor="t"/>
          <a:lstStyle/>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SwapCopies(a, b);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copies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Swap(</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aliases</a:t>
            </a:r>
            <a:endParaRPr lang="en-US" sz="1300" dirty="0"/>
          </a:p>
        </p:txBody>
      </p:sp>
      <p:sp>
        <p:nvSpPr>
          <p:cNvPr id="58" name="Shape 55"/>
          <p:cNvSpPr/>
          <p:nvPr/>
        </p:nvSpPr>
        <p:spPr>
          <a:xfrm>
            <a:off x="6035040" y="5120640"/>
            <a:ext cx="5623560" cy="960120"/>
          </a:xfrm>
          <a:prstGeom prst="roundRect">
            <a:avLst>
              <a:gd name="adj" fmla="val 9524"/>
            </a:avLst>
          </a:prstGeom>
          <a:solidFill>
            <a:srgbClr val="0F1729"/>
          </a:solidFill>
          <a:ln w="12700">
            <a:solidFill>
              <a:srgbClr val="0F1729"/>
            </a:solidFill>
            <a:prstDash val="solid"/>
          </a:ln>
        </p:spPr>
      </p:sp>
      <p:sp>
        <p:nvSpPr>
          <p:cNvPr id="59" name="Text 56"/>
          <p:cNvSpPr txBox="1"/>
          <p:nvPr/>
        </p:nvSpPr>
        <p:spPr>
          <a:xfrm>
            <a:off x="6263640" y="5285232"/>
            <a:ext cx="5166360" cy="685800"/>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Swap(a, b);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error CS1620: Argument 1 must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be passed with the 'ref' keyword</a:t>
            </a:r>
            <a:endParaRPr lang="en-US" sz="1200" dirty="0"/>
          </a:p>
        </p:txBody>
      </p:sp>
      <p:sp>
        <p:nvSpPr>
          <p:cNvPr id="60" name="Shape 57"/>
          <p:cNvSpPr/>
          <p:nvPr/>
        </p:nvSpPr>
        <p:spPr>
          <a:xfrm>
            <a:off x="9829800" y="1645920"/>
            <a:ext cx="1828800" cy="2926080"/>
          </a:xfrm>
          <a:prstGeom prst="roundRect">
            <a:avLst>
              <a:gd name="adj" fmla="val 6000"/>
            </a:avLst>
          </a:prstGeom>
          <a:solidFill>
            <a:srgbClr val="E3ECF8"/>
          </a:solidFill>
          <a:ln w="12700">
            <a:solidFill>
              <a:srgbClr val="E3ECF8"/>
            </a:solidFill>
            <a:prstDash val="solid"/>
          </a:ln>
        </p:spPr>
      </p:sp>
      <p:sp>
        <p:nvSpPr>
          <p:cNvPr id="61" name="Text 58"/>
          <p:cNvSpPr txBox="1"/>
          <p:nvPr/>
        </p:nvSpPr>
        <p:spPr>
          <a:xfrm>
            <a:off x="9921240" y="1691640"/>
            <a:ext cx="1645920" cy="2834640"/>
          </a:xfrm>
          <a:prstGeom prst="rect">
            <a:avLst/>
          </a:prstGeom>
          <a:noFill/>
          <a:ln/>
        </p:spPr>
        <p:txBody>
          <a:bodyPr wrap="square" lIns="0" tIns="0" rIns="0" bIns="0" rtlCol="0" anchor="ctr"/>
          <a:lstStyle/>
          <a:p>
            <a:pPr algn="ctr" indent="0" marL="0">
              <a:buNone/>
            </a:pPr>
            <a:r>
              <a:rPr lang="en-US" sz="1800" b="1" dirty="0">
                <a:solidFill>
                  <a:srgbClr val="2F6FB3"/>
                </a:solidFill>
                <a:latin typeface="Courier New" pitchFamily="34" charset="0"/>
                <a:ea typeface="Courier New" pitchFamily="34" charset="-122"/>
                <a:cs typeface="Courier New" pitchFamily="34" charset="-120"/>
              </a:rPr>
              <a:t>ref</a:t>
            </a:r>
            <a:endParaRPr lang="en-US" sz="1300" dirty="0"/>
          </a:p>
          <a:p>
            <a:pPr algn="ctr" indent="0" marL="0">
              <a:buNone/>
            </a:pPr>
            <a:r>
              <a:rPr lang="en-US" sz="1300" dirty="0">
                <a:solidFill>
                  <a:srgbClr val="333B4F"/>
                </a:solidFill>
                <a:latin typeface="Calibri" pitchFamily="34" charset="0"/>
                <a:ea typeface="Calibri" pitchFamily="34" charset="-122"/>
                <a:cs typeface="Calibri" pitchFamily="34" charset="-120"/>
              </a:rPr>
              <a:t>in the header AND in the call; argument must have a value.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12_06_REFOUT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Swap with ref, Divide with out, and TryParse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645920"/>
            <a:ext cx="6035040" cy="2514600"/>
          </a:xfrm>
          <a:prstGeom prst="roundRect">
            <a:avLst>
              <a:gd name="adj" fmla="val 3636"/>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two results through out (header split for the slide)</a:t>
            </a:r>
            <a:endParaRPr lang="en-US" sz="1100" dirty="0"/>
          </a:p>
        </p:txBody>
      </p:sp>
      <p:sp>
        <p:nvSpPr>
          <p:cNvPr id="9" name="Text 6"/>
          <p:cNvSpPr txBox="1"/>
          <p:nvPr/>
        </p:nvSpPr>
        <p:spPr>
          <a:xfrm>
            <a:off x="777240" y="2057400"/>
            <a:ext cx="5577840" cy="199339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Divide(</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q,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$"17 / 5: quotient {q}, remainder {r}"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Divide(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dividend,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divisor,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quotient,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remainder)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quotient = dividend / divisor;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remainder = dividend % divisor;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297680"/>
            <a:ext cx="6035040" cy="1783080"/>
          </a:xfrm>
          <a:prstGeom prst="roundRect">
            <a:avLst>
              <a:gd name="adj" fmla="val 5128"/>
            </a:avLst>
          </a:prstGeom>
          <a:solidFill>
            <a:srgbClr val="0F1729"/>
          </a:solidFill>
          <a:ln w="12700">
            <a:solidFill>
              <a:srgbClr val="0F1729"/>
            </a:solidFill>
            <a:prstDash val="solid"/>
          </a:ln>
        </p:spPr>
      </p:sp>
      <p:sp>
        <p:nvSpPr>
          <p:cNvPr id="11" name="Text 8"/>
          <p:cNvSpPr txBox="1"/>
          <p:nvPr/>
        </p:nvSpPr>
        <p:spPr>
          <a:xfrm>
            <a:off x="777240" y="4462272"/>
            <a:ext cx="5577840" cy="1508760"/>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int.TryParse is an out method you already know (Week 5)</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"Your age: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age))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$"Next year you will be {age + 1}."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p:txBody>
      </p:sp>
      <p:sp>
        <p:nvSpPr>
          <p:cNvPr id="12" name="Shape 9"/>
          <p:cNvSpPr/>
          <p:nvPr/>
        </p:nvSpPr>
        <p:spPr>
          <a:xfrm>
            <a:off x="6766560" y="1645920"/>
            <a:ext cx="4892040" cy="2057400"/>
          </a:xfrm>
          <a:prstGeom prst="roundRect">
            <a:avLst>
              <a:gd name="adj" fmla="val 4444"/>
            </a:avLst>
          </a:prstGeom>
          <a:solidFill>
            <a:srgbClr val="0B0F19"/>
          </a:solidFill>
          <a:ln w="12700">
            <a:solidFill>
              <a:srgbClr val="2A3654"/>
            </a:solidFill>
            <a:prstDash val="solid"/>
          </a:ln>
        </p:spPr>
      </p:sp>
      <p:sp>
        <p:nvSpPr>
          <p:cNvPr id="13" name="Shape 10"/>
          <p:cNvSpPr/>
          <p:nvPr/>
        </p:nvSpPr>
        <p:spPr>
          <a:xfrm>
            <a:off x="6949440" y="1773936"/>
            <a:ext cx="118872" cy="118872"/>
          </a:xfrm>
          <a:prstGeom prst="ellipse">
            <a:avLst/>
          </a:prstGeom>
          <a:solidFill>
            <a:srgbClr val="FF5F57"/>
          </a:solidFill>
          <a:ln w="12700">
            <a:solidFill>
              <a:srgbClr val="FF5F57"/>
            </a:solidFill>
            <a:prstDash val="solid"/>
          </a:ln>
        </p:spPr>
      </p:sp>
      <p:sp>
        <p:nvSpPr>
          <p:cNvPr id="14" name="Shape 11"/>
          <p:cNvSpPr/>
          <p:nvPr/>
        </p:nvSpPr>
        <p:spPr>
          <a:xfrm>
            <a:off x="7178040" y="1773936"/>
            <a:ext cx="118872" cy="118872"/>
          </a:xfrm>
          <a:prstGeom prst="ellipse">
            <a:avLst/>
          </a:prstGeom>
          <a:solidFill>
            <a:srgbClr val="FEBC2E"/>
          </a:solidFill>
          <a:ln w="12700">
            <a:solidFill>
              <a:srgbClr val="FEBC2E"/>
            </a:solidFill>
            <a:prstDash val="solid"/>
          </a:ln>
        </p:spPr>
      </p:sp>
      <p:sp>
        <p:nvSpPr>
          <p:cNvPr id="15" name="Shape 12"/>
          <p:cNvSpPr/>
          <p:nvPr/>
        </p:nvSpPr>
        <p:spPr>
          <a:xfrm>
            <a:off x="7406640" y="1773936"/>
            <a:ext cx="118872" cy="118872"/>
          </a:xfrm>
          <a:prstGeom prst="ellipse">
            <a:avLst/>
          </a:prstGeom>
          <a:solidFill>
            <a:srgbClr val="28C840"/>
          </a:solidFill>
          <a:ln w="12700">
            <a:solidFill>
              <a:srgbClr val="28C840"/>
            </a:solidFill>
            <a:prstDash val="solid"/>
          </a:ln>
        </p:spPr>
      </p:sp>
      <p:sp>
        <p:nvSpPr>
          <p:cNvPr id="16" name="Text 13"/>
          <p:cNvSpPr txBox="1"/>
          <p:nvPr/>
        </p:nvSpPr>
        <p:spPr>
          <a:xfrm>
            <a:off x="7680960" y="1719072"/>
            <a:ext cx="37947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1</a:t>
            </a:r>
            <a:endParaRPr lang="en-US" sz="1000" dirty="0"/>
          </a:p>
        </p:txBody>
      </p:sp>
      <p:sp>
        <p:nvSpPr>
          <p:cNvPr id="17" name="Text 14"/>
          <p:cNvSpPr txBox="1"/>
          <p:nvPr/>
        </p:nvSpPr>
        <p:spPr>
          <a:xfrm>
            <a:off x="6995160" y="2029968"/>
            <a:ext cx="4434840" cy="15544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            a = 5, b = 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After SwapCopies: a = 5, b = 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After Swap(ref):  a = 9, b = 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17 / 5: quotient 3, remainder 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Your age: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Next year you will be 20.</a:t>
            </a:r>
            <a:endParaRPr lang="en-US" sz="1200" dirty="0"/>
          </a:p>
        </p:txBody>
      </p:sp>
      <p:sp>
        <p:nvSpPr>
          <p:cNvPr id="18" name="Shape 15"/>
          <p:cNvSpPr/>
          <p:nvPr/>
        </p:nvSpPr>
        <p:spPr>
          <a:xfrm>
            <a:off x="6766560" y="3840480"/>
            <a:ext cx="4892040" cy="868680"/>
          </a:xfrm>
          <a:prstGeom prst="roundRect">
            <a:avLst>
              <a:gd name="adj" fmla="val 10526"/>
            </a:avLst>
          </a:prstGeom>
          <a:solidFill>
            <a:srgbClr val="0B0F19"/>
          </a:solidFill>
          <a:ln w="12700">
            <a:solidFill>
              <a:srgbClr val="2A3654"/>
            </a:solidFill>
            <a:prstDash val="solid"/>
          </a:ln>
        </p:spPr>
      </p:sp>
      <p:sp>
        <p:nvSpPr>
          <p:cNvPr id="19" name="Shape 16"/>
          <p:cNvSpPr/>
          <p:nvPr/>
        </p:nvSpPr>
        <p:spPr>
          <a:xfrm>
            <a:off x="6949440" y="3968496"/>
            <a:ext cx="118872" cy="118872"/>
          </a:xfrm>
          <a:prstGeom prst="ellipse">
            <a:avLst/>
          </a:prstGeom>
          <a:solidFill>
            <a:srgbClr val="FF5F57"/>
          </a:solidFill>
          <a:ln w="12700">
            <a:solidFill>
              <a:srgbClr val="FF5F57"/>
            </a:solidFill>
            <a:prstDash val="solid"/>
          </a:ln>
        </p:spPr>
      </p:sp>
      <p:sp>
        <p:nvSpPr>
          <p:cNvPr id="20" name="Shape 17"/>
          <p:cNvSpPr/>
          <p:nvPr/>
        </p:nvSpPr>
        <p:spPr>
          <a:xfrm>
            <a:off x="7178040" y="3968496"/>
            <a:ext cx="118872" cy="118872"/>
          </a:xfrm>
          <a:prstGeom prst="ellipse">
            <a:avLst/>
          </a:prstGeom>
          <a:solidFill>
            <a:srgbClr val="FEBC2E"/>
          </a:solidFill>
          <a:ln w="12700">
            <a:solidFill>
              <a:srgbClr val="FEBC2E"/>
            </a:solidFill>
            <a:prstDash val="solid"/>
          </a:ln>
        </p:spPr>
      </p:sp>
      <p:sp>
        <p:nvSpPr>
          <p:cNvPr id="21" name="Shape 18"/>
          <p:cNvSpPr/>
          <p:nvPr/>
        </p:nvSpPr>
        <p:spPr>
          <a:xfrm>
            <a:off x="7406640" y="3968496"/>
            <a:ext cx="118872" cy="118872"/>
          </a:xfrm>
          <a:prstGeom prst="ellipse">
            <a:avLst/>
          </a:prstGeom>
          <a:solidFill>
            <a:srgbClr val="28C840"/>
          </a:solidFill>
          <a:ln w="12700">
            <a:solidFill>
              <a:srgbClr val="28C840"/>
            </a:solidFill>
            <a:prstDash val="solid"/>
          </a:ln>
        </p:spPr>
      </p:sp>
      <p:sp>
        <p:nvSpPr>
          <p:cNvPr id="22" name="Text 19"/>
          <p:cNvSpPr txBox="1"/>
          <p:nvPr/>
        </p:nvSpPr>
        <p:spPr>
          <a:xfrm>
            <a:off x="7680960" y="3913632"/>
            <a:ext cx="37947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(last lines)</a:t>
            </a:r>
            <a:endParaRPr lang="en-US" sz="1000" dirty="0"/>
          </a:p>
        </p:txBody>
      </p:sp>
      <p:sp>
        <p:nvSpPr>
          <p:cNvPr id="23" name="Text 20"/>
          <p:cNvSpPr txBox="1"/>
          <p:nvPr/>
        </p:nvSpPr>
        <p:spPr>
          <a:xfrm>
            <a:off x="6995160" y="4224528"/>
            <a:ext cx="4434840" cy="3657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Your age: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nineteen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That is not a whole number.</a:t>
            </a:r>
            <a:endParaRPr lang="en-US" sz="1200" dirty="0"/>
          </a:p>
        </p:txBody>
      </p:sp>
      <p:sp>
        <p:nvSpPr>
          <p:cNvPr id="24" name="Shape 21"/>
          <p:cNvSpPr/>
          <p:nvPr/>
        </p:nvSpPr>
        <p:spPr>
          <a:xfrm>
            <a:off x="6766560" y="4846320"/>
            <a:ext cx="4892040" cy="1234440"/>
          </a:xfrm>
          <a:prstGeom prst="roundRect">
            <a:avLst>
              <a:gd name="adj" fmla="val 8889"/>
            </a:avLst>
          </a:prstGeom>
          <a:solidFill>
            <a:srgbClr val="FFF6E3"/>
          </a:solidFill>
          <a:ln w="12700">
            <a:solidFill>
              <a:srgbClr val="FFF6E3"/>
            </a:solidFill>
            <a:prstDash val="solid"/>
          </a:ln>
        </p:spPr>
      </p:sp>
      <p:pic>
        <p:nvPicPr>
          <p:cNvPr id="25" name="Image 0" descr="preencoded.png">    </p:cNvPr>
          <p:cNvPicPr>
            <a:picLocks noChangeAspect="1"/>
          </p:cNvPicPr>
          <p:nvPr/>
        </p:nvPicPr>
        <p:blipFill>
          <a:blip r:embed="rId1"/>
          <a:stretch>
            <a:fillRect/>
          </a:stretch>
        </p:blipFill>
        <p:spPr>
          <a:xfrm>
            <a:off x="7040880" y="5189220"/>
            <a:ext cx="548640" cy="548640"/>
          </a:xfrm>
          <a:prstGeom prst="rect">
            <a:avLst/>
          </a:prstGeom>
        </p:spPr>
      </p:pic>
      <p:sp>
        <p:nvSpPr>
          <p:cNvPr id="26" name="Text 22"/>
          <p:cNvSpPr txBox="1"/>
          <p:nvPr/>
        </p:nvSpPr>
        <p:spPr>
          <a:xfrm>
            <a:off x="7863840" y="4919472"/>
            <a:ext cx="3520440" cy="108813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out: </a:t>
            </a:r>
            <a:pPr indent="0" marL="0">
              <a:buNone/>
            </a:pPr>
            <a:r>
              <a:rPr lang="en-US" sz="1400" dirty="0">
                <a:solidFill>
                  <a:srgbClr val="333B4F"/>
                </a:solidFill>
                <a:latin typeface="Calibri" pitchFamily="34" charset="0"/>
                <a:ea typeface="Calibri" pitchFamily="34" charset="-122"/>
                <a:cs typeface="Calibri" pitchFamily="34" charset="-120"/>
              </a:rPr>
              <a:t>the method MUST assign it (CS0177); the caller need not.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FOUR WAYS TO PASS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Value, array, ref, out — what can the method change?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1097280"/>
                <a:gridCol w="1737360"/>
                <a:gridCol w="2011680"/>
                <a:gridCol w="3520440"/>
                <a:gridCol w="2743200"/>
              </a:tblGrid>
              <a:tr h="56692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kind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header</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call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what is passed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caller's variable can change?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value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int x</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F(n)</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 copy of the value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C8453B"/>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array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int[] a</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F(arr)</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 copy of the reference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1F7A50"/>
                          </a:solidFill>
                          <a:latin typeface="Calibri" pitchFamily="34" charset="0"/>
                          <a:ea typeface="Calibri" pitchFamily="34" charset="-122"/>
                          <a:cs typeface="Calibri" pitchFamily="34" charset="-120"/>
                        </a:rPr>
                        <a:t>elements yes, variable no</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ref</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ref int x</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F(ref n)</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the variable itself (alias); must have a value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7A50"/>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out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out int x</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F(out int n)</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the variable; the method must assign it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1F7A50"/>
                          </a:solidFill>
                          <a:latin typeface="Calibri" pitchFamily="34" charset="0"/>
                          <a:ea typeface="Calibri" pitchFamily="34" charset="-122"/>
                          <a:cs typeface="Calibri" pitchFamily="34" charset="-120"/>
                        </a:rPr>
                        <a:t>yes (always assigned)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548640" y="4709160"/>
            <a:ext cx="5486400" cy="1371600"/>
          </a:xfrm>
          <a:prstGeom prst="roundRect">
            <a:avLst>
              <a:gd name="adj" fmla="val 8000"/>
            </a:avLst>
          </a:prstGeom>
          <a:solidFill>
            <a:srgbClr val="EEF1F6"/>
          </a:solidFill>
          <a:ln w="12700">
            <a:solidFill>
              <a:srgbClr val="EEF1F6"/>
            </a:solidFill>
            <a:prstDash val="solid"/>
          </a:ln>
        </p:spPr>
      </p:sp>
      <p:sp>
        <p:nvSpPr>
          <p:cNvPr id="9" name="Shape 5"/>
          <p:cNvSpPr/>
          <p:nvPr/>
        </p:nvSpPr>
        <p:spPr>
          <a:xfrm>
            <a:off x="731520" y="5120640"/>
            <a:ext cx="548640" cy="548640"/>
          </a:xfrm>
          <a:prstGeom prst="ellipse">
            <a:avLst/>
          </a:prstGeom>
          <a:solidFill>
            <a:srgbClr val="2E9E6A"/>
          </a:solidFill>
          <a:ln w="12700">
            <a:solidFill>
              <a:srgbClr val="2E9E6A"/>
            </a:solidFill>
            <a:prstDash val="solid"/>
          </a:ln>
        </p:spPr>
      </p:sp>
      <p:pic>
        <p:nvPicPr>
          <p:cNvPr id="10" name="Image 0" descr="preencoded.png">    </p:cNvPr>
          <p:cNvPicPr>
            <a:picLocks noChangeAspect="1"/>
          </p:cNvPicPr>
          <p:nvPr/>
        </p:nvPicPr>
        <p:blipFill>
          <a:blip r:embed="rId1"/>
          <a:stretch>
            <a:fillRect/>
          </a:stretch>
        </p:blipFill>
        <p:spPr>
          <a:xfrm>
            <a:off x="874166" y="5263286"/>
            <a:ext cx="263347" cy="263347"/>
          </a:xfrm>
          <a:prstGeom prst="rect">
            <a:avLst/>
          </a:prstGeom>
        </p:spPr>
      </p:pic>
      <p:sp>
        <p:nvSpPr>
          <p:cNvPr id="11" name="Text 6"/>
          <p:cNvSpPr txBox="1"/>
          <p:nvPr/>
        </p:nvSpPr>
        <p:spPr>
          <a:xfrm>
            <a:off x="1463040" y="4764024"/>
            <a:ext cx="443484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Default choice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value parameters + return. Simple, safe, testable.</a:t>
            </a:r>
            <a:endParaRPr lang="en-US" sz="1500" dirty="0"/>
          </a:p>
        </p:txBody>
      </p:sp>
      <p:sp>
        <p:nvSpPr>
          <p:cNvPr id="12" name="Shape 7"/>
          <p:cNvSpPr/>
          <p:nvPr/>
        </p:nvSpPr>
        <p:spPr>
          <a:xfrm>
            <a:off x="6172200" y="4709160"/>
            <a:ext cx="5486400" cy="1371600"/>
          </a:xfrm>
          <a:prstGeom prst="roundRect">
            <a:avLst>
              <a:gd name="adj" fmla="val 8000"/>
            </a:avLst>
          </a:prstGeom>
          <a:solidFill>
            <a:srgbClr val="EEF1F6"/>
          </a:solidFill>
          <a:ln w="12700">
            <a:solidFill>
              <a:srgbClr val="EEF1F6"/>
            </a:solidFill>
            <a:prstDash val="solid"/>
          </a:ln>
        </p:spPr>
      </p:sp>
      <p:sp>
        <p:nvSpPr>
          <p:cNvPr id="13" name="Shape 8"/>
          <p:cNvSpPr/>
          <p:nvPr/>
        </p:nvSpPr>
        <p:spPr>
          <a:xfrm>
            <a:off x="6355080" y="5120640"/>
            <a:ext cx="548640" cy="548640"/>
          </a:xfrm>
          <a:prstGeom prst="ellipse">
            <a:avLst/>
          </a:prstGeom>
          <a:solidFill>
            <a:srgbClr val="2F6FB3"/>
          </a:solidFill>
          <a:ln w="12700">
            <a:solidFill>
              <a:srgbClr val="2F6FB3"/>
            </a:solidFill>
            <a:prstDash val="solid"/>
          </a:ln>
        </p:spPr>
      </p:sp>
      <p:pic>
        <p:nvPicPr>
          <p:cNvPr id="14" name="Image 1" descr="preencoded.png">    </p:cNvPr>
          <p:cNvPicPr>
            <a:picLocks noChangeAspect="1"/>
          </p:cNvPicPr>
          <p:nvPr/>
        </p:nvPicPr>
        <p:blipFill>
          <a:blip r:embed="rId2"/>
          <a:stretch>
            <a:fillRect/>
          </a:stretch>
        </p:blipFill>
        <p:spPr>
          <a:xfrm>
            <a:off x="6497726" y="5263286"/>
            <a:ext cx="263347" cy="263347"/>
          </a:xfrm>
          <a:prstGeom prst="rect">
            <a:avLst/>
          </a:prstGeom>
        </p:spPr>
      </p:pic>
      <p:sp>
        <p:nvSpPr>
          <p:cNvPr id="15" name="Text 9"/>
          <p:cNvSpPr txBox="1"/>
          <p:nvPr/>
        </p:nvSpPr>
        <p:spPr>
          <a:xfrm>
            <a:off x="7086600" y="4764024"/>
            <a:ext cx="443484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ref / out sparingly</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Swap (ref); several results, TryParse (out).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Flexible and reusable methods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Default and named arguments · overloading · refactoring earlier programs · debugging calls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12</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7 · 12_07_DEFAULTNAMED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Optional parameters and named arguments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45920"/>
            <a:ext cx="8641080" cy="2514600"/>
          </a:xfrm>
          <a:prstGeom prst="roundRect">
            <a:avLst>
              <a:gd name="adj" fmla="val 3636"/>
            </a:avLst>
          </a:prstGeom>
          <a:solidFill>
            <a:srgbClr val="0F1729"/>
          </a:solidFill>
          <a:ln w="12700">
            <a:solidFill>
              <a:srgbClr val="0F1729"/>
            </a:solidFill>
            <a:prstDash val="solid"/>
          </a:ln>
        </p:spPr>
      </p:sp>
      <p:sp>
        <p:nvSpPr>
          <p:cNvPr id="8" name="Text 5"/>
          <p:cNvSpPr txBox="1"/>
          <p:nvPr/>
        </p:nvSpPr>
        <p:spPr>
          <a:xfrm>
            <a:off x="777240" y="1755648"/>
            <a:ext cx="81838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calls: defaults are filled in, names pick the parameter</a:t>
            </a:r>
            <a:endParaRPr lang="en-US" sz="1100" dirty="0"/>
          </a:p>
        </p:txBody>
      </p:sp>
      <p:sp>
        <p:nvSpPr>
          <p:cNvPr id="9" name="Text 6"/>
          <p:cNvSpPr txBox="1"/>
          <p:nvPr/>
        </p:nvSpPr>
        <p:spPr>
          <a:xfrm>
            <a:off x="777240" y="2057400"/>
            <a:ext cx="8183880" cy="199339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both defaults: 20 times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count uses its default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PrintLine(count: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named: skip symbol</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PrintLine(count: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symbol: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named: any order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$"Laptop: {Price(100m):F2} TL"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$"Bread:  {Price(100m, 0.01m):F2} TL"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$"Coat:   {Price(100m, discount: 0.25m):F2} TL"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$"Shoes:  {Price(net: 100m, vatRate: 0.10m, discount: 0.10m):F2} TL"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9326880" y="1645920"/>
            <a:ext cx="2331720" cy="2514600"/>
          </a:xfrm>
          <a:prstGeom prst="roundRect">
            <a:avLst>
              <a:gd name="adj" fmla="val 3922"/>
            </a:avLst>
          </a:prstGeom>
          <a:solidFill>
            <a:srgbClr val="0B0F19"/>
          </a:solidFill>
          <a:ln w="12700">
            <a:solidFill>
              <a:srgbClr val="2A3654"/>
            </a:solidFill>
            <a:prstDash val="solid"/>
          </a:ln>
        </p:spPr>
      </p:sp>
      <p:sp>
        <p:nvSpPr>
          <p:cNvPr id="11" name="Shape 8"/>
          <p:cNvSpPr/>
          <p:nvPr/>
        </p:nvSpPr>
        <p:spPr>
          <a:xfrm>
            <a:off x="950976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973836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996696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0241280" y="1719072"/>
            <a:ext cx="1234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9555480" y="2029968"/>
            <a:ext cx="1874520" cy="20116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Laptop: 120.00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Bread:  101.00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Coat:   90.00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Shoes:  99.00 TL</a:t>
            </a:r>
            <a:endParaRPr lang="en-US" sz="1200" dirty="0"/>
          </a:p>
        </p:txBody>
      </p:sp>
      <p:sp>
        <p:nvSpPr>
          <p:cNvPr id="16" name="Shape 13"/>
          <p:cNvSpPr/>
          <p:nvPr/>
        </p:nvSpPr>
        <p:spPr>
          <a:xfrm>
            <a:off x="548640" y="4297680"/>
            <a:ext cx="8641080" cy="1783080"/>
          </a:xfrm>
          <a:prstGeom prst="roundRect">
            <a:avLst>
              <a:gd name="adj" fmla="val 5128"/>
            </a:avLst>
          </a:prstGeom>
          <a:solidFill>
            <a:srgbClr val="0F1729"/>
          </a:solidFill>
          <a:ln w="12700">
            <a:solidFill>
              <a:srgbClr val="0F1729"/>
            </a:solidFill>
            <a:prstDash val="solid"/>
          </a:ln>
        </p:spPr>
      </p:sp>
      <p:sp>
        <p:nvSpPr>
          <p:cNvPr id="17" name="Text 14"/>
          <p:cNvSpPr txBox="1"/>
          <p:nvPr/>
        </p:nvSpPr>
        <p:spPr>
          <a:xfrm>
            <a:off x="777240" y="4407408"/>
            <a:ext cx="81838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the headers: default values after =</a:t>
            </a:r>
            <a:endParaRPr lang="en-US" sz="1100" dirty="0"/>
          </a:p>
        </p:txBody>
      </p:sp>
      <p:sp>
        <p:nvSpPr>
          <p:cNvPr id="18" name="Text 15"/>
          <p:cNvSpPr txBox="1"/>
          <p:nvPr/>
        </p:nvSpPr>
        <p:spPr>
          <a:xfrm>
            <a:off x="777240" y="4709160"/>
            <a:ext cx="8183880" cy="12618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PrintLine(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symbol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Price(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net,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vatRate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0.20m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discount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discounted = net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discount);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discounted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vatRate);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9" name="Shape 16"/>
          <p:cNvSpPr/>
          <p:nvPr/>
        </p:nvSpPr>
        <p:spPr>
          <a:xfrm>
            <a:off x="9326880" y="4297680"/>
            <a:ext cx="2331720" cy="1783080"/>
          </a:xfrm>
          <a:prstGeom prst="roundRect">
            <a:avLst>
              <a:gd name="adj" fmla="val 6154"/>
            </a:avLst>
          </a:prstGeom>
          <a:solidFill>
            <a:srgbClr val="FFF6E3"/>
          </a:solidFill>
          <a:ln w="12700">
            <a:solidFill>
              <a:srgbClr val="FFF6E3"/>
            </a:solidFill>
            <a:prstDash val="solid"/>
          </a:ln>
        </p:spPr>
      </p:sp>
      <p:sp>
        <p:nvSpPr>
          <p:cNvPr id="20" name="Text 17"/>
          <p:cNvSpPr txBox="1"/>
          <p:nvPr/>
        </p:nvSpPr>
        <p:spPr>
          <a:xfrm>
            <a:off x="9464040" y="4343400"/>
            <a:ext cx="2057400" cy="1691640"/>
          </a:xfrm>
          <a:prstGeom prst="rect">
            <a:avLst/>
          </a:prstGeom>
          <a:noFill/>
          <a:ln/>
        </p:spPr>
        <p:txBody>
          <a:bodyPr wrap="square" lIns="0" tIns="0" rIns="0" bIns="0" rtlCol="0" anchor="ctr"/>
          <a:lstStyle/>
          <a:p>
            <a:pPr indent="0" marL="0">
              <a:buNone/>
            </a:pPr>
            <a:r>
              <a:rPr lang="en-US" sz="1400" b="1" dirty="0">
                <a:solidFill>
                  <a:srgbClr val="333B4F"/>
                </a:solidFill>
                <a:latin typeface="Courier New" pitchFamily="34" charset="0"/>
                <a:ea typeface="Courier New" pitchFamily="34" charset="-122"/>
                <a:cs typeface="Courier New" pitchFamily="34" charset="-120"/>
              </a:rPr>
              <a:t>decimal</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for money; literals need the m suffix: 0.20m</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8 · 12_08_OVERLOADING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Overloading: one name, different parameter lists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548640" y="1645920"/>
            <a:ext cx="621792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7607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(methods in the Program class)</a:t>
            </a:r>
            <a:endParaRPr lang="en-US" sz="1100" dirty="0"/>
          </a:p>
        </p:txBody>
      </p:sp>
      <p:sp>
        <p:nvSpPr>
          <p:cNvPr id="9" name="Text 6"/>
          <p:cNvSpPr txBox="1"/>
          <p:nvPr/>
        </p:nvSpPr>
        <p:spPr>
          <a:xfrm>
            <a:off x="777240" y="2057400"/>
            <a:ext cx="5760720" cy="391363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partial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class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Program</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returns the larger of two ints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&gt; b ? a : b;</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returns the larger of two doubles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&gt; b ? a : b;</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returns the largest of three ints (reuses 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Max(Max(a, b),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p:txBody>
      </p:sp>
      <p:sp>
        <p:nvSpPr>
          <p:cNvPr id="10" name="Shape 7"/>
          <p:cNvSpPr/>
          <p:nvPr/>
        </p:nvSpPr>
        <p:spPr>
          <a:xfrm>
            <a:off x="6949440" y="1645920"/>
            <a:ext cx="4709160" cy="1828800"/>
          </a:xfrm>
          <a:prstGeom prst="roundRect">
            <a:avLst>
              <a:gd name="adj" fmla="val 5000"/>
            </a:avLst>
          </a:prstGeom>
          <a:solidFill>
            <a:srgbClr val="0B0F19"/>
          </a:solidFill>
          <a:ln w="12700">
            <a:solidFill>
              <a:srgbClr val="2A3654"/>
            </a:solidFill>
            <a:prstDash val="solid"/>
          </a:ln>
        </p:spPr>
      </p:sp>
      <p:sp>
        <p:nvSpPr>
          <p:cNvPr id="11" name="Shape 8"/>
          <p:cNvSpPr/>
          <p:nvPr/>
        </p:nvSpPr>
        <p:spPr>
          <a:xfrm>
            <a:off x="71323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3609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5895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863840" y="1719072"/>
            <a:ext cx="36118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178040" y="2029968"/>
            <a:ext cx="4251960" cy="13258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Max(3, 8)        = 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Max(2.5, 1.75)   = 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Max(4, 11, 7)    = 11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Max(scores)      = 93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Max(3, 2.5)      = 3</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949440" y="3611880"/>
          <a:ext cx="4709160" cy="914400"/>
        </p:xfrm>
        <a:graphic>
          <a:graphicData uri="http://schemas.openxmlformats.org/drawingml/2006/table">
            <a:tbl>
              <a:tblPr/>
              <a:tblGrid>
                <a:gridCol w="2103120"/>
                <a:gridCol w="260604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chosen version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Max(3, 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Max(int, 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Max(2.5, 1.75)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Max(double, double)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Max(scores)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Max(int[])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Max(3, 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Max(double, double)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7" name="Shape 13"/>
          <p:cNvSpPr/>
          <p:nvPr/>
        </p:nvSpPr>
        <p:spPr>
          <a:xfrm>
            <a:off x="6949440" y="5532120"/>
            <a:ext cx="4709160" cy="548640"/>
          </a:xfrm>
          <a:prstGeom prst="roundRect">
            <a:avLst>
              <a:gd name="adj" fmla="val 20000"/>
            </a:avLst>
          </a:prstGeom>
          <a:solidFill>
            <a:srgbClr val="FBE9E7"/>
          </a:solidFill>
          <a:ln w="12700">
            <a:solidFill>
              <a:srgbClr val="FBE9E7"/>
            </a:solidFill>
            <a:prstDash val="solid"/>
          </a:ln>
        </p:spPr>
      </p:sp>
      <p:sp>
        <p:nvSpPr>
          <p:cNvPr id="18" name="Text 14"/>
          <p:cNvSpPr txBox="1"/>
          <p:nvPr/>
        </p:nvSpPr>
        <p:spPr>
          <a:xfrm>
            <a:off x="7132320" y="5532120"/>
            <a:ext cx="4389120" cy="548640"/>
          </a:xfrm>
          <a:prstGeom prst="rect">
            <a:avLst/>
          </a:prstGeom>
          <a:noFill/>
          <a:ln/>
        </p:spPr>
        <p:txBody>
          <a:bodyPr wrap="square" lIns="0" tIns="0" rIns="0" bIns="0" rtlCol="0" anchor="ctr"/>
          <a:lstStyle/>
          <a:p>
            <a:pPr indent="0" marL="0">
              <a:buNone/>
            </a:pPr>
            <a:r>
              <a:rPr lang="en-US" sz="1400" b="1" dirty="0">
                <a:solidFill>
                  <a:srgbClr val="C8453B"/>
                </a:solidFill>
                <a:latin typeface="Calibri" pitchFamily="34" charset="0"/>
                <a:ea typeface="Calibri" pitchFamily="34" charset="-122"/>
                <a:cs typeface="Calibri" pitchFamily="34" charset="-120"/>
              </a:rPr>
              <a:t>Local functions: </a:t>
            </a:r>
            <a:pPr indent="0" marL="0">
              <a:buNone/>
            </a:pPr>
            <a:r>
              <a:rPr lang="en-US" sz="1400" dirty="0">
                <a:solidFill>
                  <a:srgbClr val="333B4F"/>
                </a:solidFill>
                <a:latin typeface="Calibri" pitchFamily="34" charset="0"/>
                <a:ea typeface="Calibri" pitchFamily="34" charset="-122"/>
                <a:cs typeface="Calibri" pitchFamily="34" charset="-120"/>
              </a:rPr>
              <a:t>no overloading (CS0128)</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12_09_MATHTOOLKIT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Refactoring: old algorithms become reusable methods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852160" cy="914400"/>
        </p:xfrm>
        <a:graphic>
          <a:graphicData uri="http://schemas.openxmlformats.org/drawingml/2006/table">
            <a:tbl>
              <a:tblPr/>
              <a:tblGrid>
                <a:gridCol w="2743200"/>
                <a:gridCol w="1828800"/>
                <a:gridCol w="128016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from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returns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IsLeapYear(year)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Week 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bool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IsPrime(n)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Week 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bool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Factorial(n)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Week 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long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Gcd(a,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Weeks 1, 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Lcm(a,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uses Gcd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3977640"/>
            <a:ext cx="5852160" cy="2103120"/>
          </a:xfrm>
          <a:prstGeom prst="roundRect">
            <a:avLst>
              <a:gd name="adj" fmla="val 4348"/>
            </a:avLst>
          </a:prstGeom>
          <a:solidFill>
            <a:srgbClr val="0B0F19"/>
          </a:solidFill>
          <a:ln w="12700">
            <a:solidFill>
              <a:srgbClr val="2A3654"/>
            </a:solidFill>
            <a:prstDash val="solid"/>
          </a:ln>
        </p:spPr>
      </p:sp>
      <p:sp>
        <p:nvSpPr>
          <p:cNvPr id="9" name="Shape 5"/>
          <p:cNvSpPr/>
          <p:nvPr/>
        </p:nvSpPr>
        <p:spPr>
          <a:xfrm>
            <a:off x="731520" y="4105656"/>
            <a:ext cx="118872" cy="118872"/>
          </a:xfrm>
          <a:prstGeom prst="ellipse">
            <a:avLst/>
          </a:prstGeom>
          <a:solidFill>
            <a:srgbClr val="FF5F57"/>
          </a:solidFill>
          <a:ln w="12700">
            <a:solidFill>
              <a:srgbClr val="FF5F57"/>
            </a:solidFill>
            <a:prstDash val="solid"/>
          </a:ln>
        </p:spPr>
      </p:sp>
      <p:sp>
        <p:nvSpPr>
          <p:cNvPr id="10" name="Shape 6"/>
          <p:cNvSpPr/>
          <p:nvPr/>
        </p:nvSpPr>
        <p:spPr>
          <a:xfrm>
            <a:off x="960120" y="4105656"/>
            <a:ext cx="118872" cy="118872"/>
          </a:xfrm>
          <a:prstGeom prst="ellipse">
            <a:avLst/>
          </a:prstGeom>
          <a:solidFill>
            <a:srgbClr val="FEBC2E"/>
          </a:solidFill>
          <a:ln w="12700">
            <a:solidFill>
              <a:srgbClr val="FEBC2E"/>
            </a:solidFill>
            <a:prstDash val="solid"/>
          </a:ln>
        </p:spPr>
      </p:sp>
      <p:sp>
        <p:nvSpPr>
          <p:cNvPr id="11" name="Shape 7"/>
          <p:cNvSpPr/>
          <p:nvPr/>
        </p:nvSpPr>
        <p:spPr>
          <a:xfrm>
            <a:off x="1188720" y="4105656"/>
            <a:ext cx="118872" cy="118872"/>
          </a:xfrm>
          <a:prstGeom prst="ellipse">
            <a:avLst/>
          </a:prstGeom>
          <a:solidFill>
            <a:srgbClr val="28C840"/>
          </a:solidFill>
          <a:ln w="12700">
            <a:solidFill>
              <a:srgbClr val="28C840"/>
            </a:solidFill>
            <a:prstDash val="solid"/>
          </a:ln>
        </p:spPr>
      </p:sp>
      <p:sp>
        <p:nvSpPr>
          <p:cNvPr id="12" name="Text 8"/>
          <p:cNvSpPr txBox="1"/>
          <p:nvPr/>
        </p:nvSpPr>
        <p:spPr>
          <a:xfrm>
            <a:off x="1463040" y="4050792"/>
            <a:ext cx="47548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3" name="Text 9"/>
          <p:cNvSpPr txBox="1"/>
          <p:nvPr/>
        </p:nvSpPr>
        <p:spPr>
          <a:xfrm>
            <a:off x="777240" y="4361688"/>
            <a:ext cx="5394960" cy="16002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1900: not a leap year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2000: leap year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2024: leap year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2026: not a leap year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Primes up to 30: 2 3 5 7 11 13 17 19 23 29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5! = 120, 10! = 3628800, 20! = 2432902008176640000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Gcd(84, 36) = 12, Lcm(84, 36) = 252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Gcd(17, 5) = 1, Lcm(4, 6) = 12</a:t>
            </a:r>
            <a:endParaRPr lang="en-US" sz="1200" dirty="0"/>
          </a:p>
        </p:txBody>
      </p:sp>
      <p:sp>
        <p:nvSpPr>
          <p:cNvPr id="14" name="Shape 10"/>
          <p:cNvSpPr/>
          <p:nvPr/>
        </p:nvSpPr>
        <p:spPr>
          <a:xfrm>
            <a:off x="6583680" y="1645920"/>
            <a:ext cx="5074920" cy="4434840"/>
          </a:xfrm>
          <a:prstGeom prst="roundRect">
            <a:avLst>
              <a:gd name="adj" fmla="val 2062"/>
            </a:avLst>
          </a:prstGeom>
          <a:solidFill>
            <a:srgbClr val="0F1729"/>
          </a:solidFill>
          <a:ln w="12700">
            <a:solidFill>
              <a:srgbClr val="0F1729"/>
            </a:solidFill>
            <a:prstDash val="solid"/>
          </a:ln>
        </p:spPr>
      </p:sp>
      <p:sp>
        <p:nvSpPr>
          <p:cNvPr id="15" name="Text 11"/>
          <p:cNvSpPr txBox="1"/>
          <p:nvPr/>
        </p:nvSpPr>
        <p:spPr>
          <a:xfrm>
            <a:off x="6812280" y="1755648"/>
            <a:ext cx="46177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IsPrime: a bool question</a:t>
            </a:r>
            <a:endParaRPr lang="en-US" sz="1100" dirty="0"/>
          </a:p>
        </p:txBody>
      </p:sp>
      <p:sp>
        <p:nvSpPr>
          <p:cNvPr id="16" name="Text 12"/>
          <p:cNvSpPr txBox="1"/>
          <p:nvPr/>
        </p:nvSpPr>
        <p:spPr>
          <a:xfrm>
            <a:off x="6812280" y="2057400"/>
            <a:ext cx="461772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IsPrime(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 d &lt;= n; 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12_10_READVALIDATED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Input methods: the TryParse loop, written once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45920"/>
            <a:ext cx="6949440" cy="2057400"/>
          </a:xfrm>
          <a:prstGeom prst="roundRect">
            <a:avLst>
              <a:gd name="adj" fmla="val 4444"/>
            </a:avLst>
          </a:prstGeom>
          <a:solidFill>
            <a:srgbClr val="0F1729"/>
          </a:solidFill>
          <a:ln w="12700">
            <a:solidFill>
              <a:srgbClr val="0F1729"/>
            </a:solidFill>
            <a:prstDash val="solid"/>
          </a:ln>
        </p:spPr>
      </p:sp>
      <p:sp>
        <p:nvSpPr>
          <p:cNvPr id="8" name="Text 5"/>
          <p:cNvSpPr txBox="1"/>
          <p:nvPr/>
        </p:nvSpPr>
        <p:spPr>
          <a:xfrm>
            <a:off x="777240" y="175564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main: every input is one call</a:t>
            </a:r>
            <a:endParaRPr lang="en-US" sz="1100" dirty="0"/>
          </a:p>
        </p:txBody>
      </p:sp>
      <p:sp>
        <p:nvSpPr>
          <p:cNvPr id="9" name="Text 6"/>
          <p:cNvSpPr txBox="1"/>
          <p:nvPr/>
        </p:nvSpPr>
        <p:spPr>
          <a:xfrm>
            <a:off x="777240" y="2057400"/>
            <a:ext cx="6492240" cy="15361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ReadIntInRange(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"How many students (1-10)?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[n];</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grades[i] = ReadIntInRange(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$"Grade {i + 1} (0-100):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$"Grades: {string.Join("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grades)}"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$"Average: {Average(grades):F2}"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3794760"/>
            <a:ext cx="6949440" cy="2286000"/>
          </a:xfrm>
          <a:prstGeom prst="roundRect">
            <a:avLst>
              <a:gd name="adj" fmla="val 4000"/>
            </a:avLst>
          </a:prstGeom>
          <a:solidFill>
            <a:srgbClr val="0F1729"/>
          </a:solidFill>
          <a:ln w="12700">
            <a:solidFill>
              <a:srgbClr val="0F1729"/>
            </a:solidFill>
            <a:prstDash val="solid"/>
          </a:ln>
        </p:spPr>
      </p:sp>
      <p:sp>
        <p:nvSpPr>
          <p:cNvPr id="11" name="Text 8"/>
          <p:cNvSpPr txBox="1"/>
          <p:nvPr/>
        </p:nvSpPr>
        <p:spPr>
          <a:xfrm>
            <a:off x="777240" y="3959352"/>
            <a:ext cx="6492240" cy="201168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ReadIntInRange(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prompt,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 = ReadInt(prompt);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 &lt; min || value &gt; 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Must be between {min} and {max}."</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 = ReadInt(prompt);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7680960" y="1645920"/>
            <a:ext cx="3977640" cy="4434840"/>
          </a:xfrm>
          <a:prstGeom prst="roundRect">
            <a:avLst>
              <a:gd name="adj" fmla="val 2299"/>
            </a:avLst>
          </a:prstGeom>
          <a:solidFill>
            <a:srgbClr val="0B0F19"/>
          </a:solidFill>
          <a:ln w="12700">
            <a:solidFill>
              <a:srgbClr val="2A3654"/>
            </a:solidFill>
            <a:prstDash val="solid"/>
          </a:ln>
        </p:spPr>
      </p:sp>
      <p:sp>
        <p:nvSpPr>
          <p:cNvPr id="13" name="Shape 10"/>
          <p:cNvSpPr/>
          <p:nvPr/>
        </p:nvSpPr>
        <p:spPr>
          <a:xfrm>
            <a:off x="7863840" y="1773936"/>
            <a:ext cx="118872" cy="118872"/>
          </a:xfrm>
          <a:prstGeom prst="ellipse">
            <a:avLst/>
          </a:prstGeom>
          <a:solidFill>
            <a:srgbClr val="FF5F57"/>
          </a:solidFill>
          <a:ln w="12700">
            <a:solidFill>
              <a:srgbClr val="FF5F57"/>
            </a:solidFill>
            <a:prstDash val="solid"/>
          </a:ln>
        </p:spPr>
      </p:sp>
      <p:sp>
        <p:nvSpPr>
          <p:cNvPr id="14" name="Shape 11"/>
          <p:cNvSpPr/>
          <p:nvPr/>
        </p:nvSpPr>
        <p:spPr>
          <a:xfrm>
            <a:off x="8092440" y="1773936"/>
            <a:ext cx="118872" cy="118872"/>
          </a:xfrm>
          <a:prstGeom prst="ellipse">
            <a:avLst/>
          </a:prstGeom>
          <a:solidFill>
            <a:srgbClr val="FEBC2E"/>
          </a:solidFill>
          <a:ln w="12700">
            <a:solidFill>
              <a:srgbClr val="FEBC2E"/>
            </a:solidFill>
            <a:prstDash val="solid"/>
          </a:ln>
        </p:spPr>
      </p:sp>
      <p:sp>
        <p:nvSpPr>
          <p:cNvPr id="15" name="Shape 12"/>
          <p:cNvSpPr/>
          <p:nvPr/>
        </p:nvSpPr>
        <p:spPr>
          <a:xfrm>
            <a:off x="8321040" y="1773936"/>
            <a:ext cx="118872" cy="118872"/>
          </a:xfrm>
          <a:prstGeom prst="ellipse">
            <a:avLst/>
          </a:prstGeom>
          <a:solidFill>
            <a:srgbClr val="28C840"/>
          </a:solidFill>
          <a:ln w="12700">
            <a:solidFill>
              <a:srgbClr val="28C840"/>
            </a:solidFill>
            <a:prstDash val="solid"/>
          </a:ln>
        </p:spPr>
      </p:sp>
      <p:sp>
        <p:nvSpPr>
          <p:cNvPr id="16" name="Text 13"/>
          <p:cNvSpPr txBox="1"/>
          <p:nvPr/>
        </p:nvSpPr>
        <p:spPr>
          <a:xfrm>
            <a:off x="8595360" y="1719072"/>
            <a:ext cx="2880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7" name="Text 14"/>
          <p:cNvSpPr txBox="1"/>
          <p:nvPr/>
        </p:nvSpPr>
        <p:spPr>
          <a:xfrm>
            <a:off x="7909560" y="2029968"/>
            <a:ext cx="3520440" cy="3931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How many students (1-10)?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Whole number, please: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Must be between 1 and 10.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How many students (1-10)?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 1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Must be between 0 and 100.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 1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 2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85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 3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Must be between 0 and 100.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 3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40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Grades: 70, 85, 40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Average: 65.00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11 · 12_11_ARRAYTOOLKIT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 array toolkit: one Report, called for two groups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548640" y="1645920"/>
            <a:ext cx="726948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68122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Report calls five methods</a:t>
            </a:r>
            <a:endParaRPr lang="en-US" sz="1100" dirty="0"/>
          </a:p>
        </p:txBody>
      </p:sp>
      <p:sp>
        <p:nvSpPr>
          <p:cNvPr id="9" name="Text 6"/>
          <p:cNvSpPr txBox="1"/>
          <p:nvPr/>
        </p:nvSpPr>
        <p:spPr>
          <a:xfrm>
            <a:off x="777240" y="2057400"/>
            <a:ext cx="6812280" cy="222199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Report(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title,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{title}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PrintArray(grades);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$"Average: {Average(grades):F2}"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 = Max(grades);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 = Min(grades);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$"Max: {max}, Min: {min}, range: {max - min}"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passed = CountAtLeast(grades,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$"Passed (&gt;= 50): {passed} of {grades.Length}"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526280"/>
            <a:ext cx="7269480" cy="1554480"/>
          </a:xfrm>
          <a:prstGeom prst="roundRect">
            <a:avLst>
              <a:gd name="adj" fmla="val 5882"/>
            </a:avLst>
          </a:prstGeom>
          <a:solidFill>
            <a:srgbClr val="0F1729"/>
          </a:solidFill>
          <a:ln w="12700">
            <a:solidFill>
              <a:srgbClr val="0F1729"/>
            </a:solidFill>
            <a:prstDash val="solid"/>
          </a:ln>
        </p:spPr>
      </p:sp>
      <p:sp>
        <p:nvSpPr>
          <p:cNvPr id="11" name="Text 8"/>
          <p:cNvSpPr txBox="1"/>
          <p:nvPr/>
        </p:nvSpPr>
        <p:spPr>
          <a:xfrm>
            <a:off x="777240" y="4636008"/>
            <a:ext cx="68122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main: two groups, one Report</a:t>
            </a:r>
            <a:endParaRPr lang="en-US" sz="1100" dirty="0"/>
          </a:p>
        </p:txBody>
      </p:sp>
      <p:sp>
        <p:nvSpPr>
          <p:cNvPr id="12" name="Text 9"/>
          <p:cNvSpPr txBox="1"/>
          <p:nvPr/>
        </p:nvSpPr>
        <p:spPr>
          <a:xfrm>
            <a:off x="777240" y="4937760"/>
            <a:ext cx="681228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groupA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72.5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95.5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groupB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Report(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"Group 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groupA);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Report(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"Group 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groupB);</a:t>
            </a:r>
            <a:endParaRPr lang="en-US" sz="1200" dirty="0"/>
          </a:p>
        </p:txBody>
      </p:sp>
      <p:sp>
        <p:nvSpPr>
          <p:cNvPr id="13" name="Shape 10"/>
          <p:cNvSpPr/>
          <p:nvPr/>
        </p:nvSpPr>
        <p:spPr>
          <a:xfrm>
            <a:off x="8001000" y="1645920"/>
            <a:ext cx="3657600" cy="4434840"/>
          </a:xfrm>
          <a:prstGeom prst="roundRect">
            <a:avLst>
              <a:gd name="adj" fmla="val 2500"/>
            </a:avLst>
          </a:prstGeom>
          <a:solidFill>
            <a:srgbClr val="0B0F19"/>
          </a:solidFill>
          <a:ln w="12700">
            <a:solidFill>
              <a:srgbClr val="2A3654"/>
            </a:solidFill>
            <a:prstDash val="solid"/>
          </a:ln>
        </p:spPr>
      </p:sp>
      <p:sp>
        <p:nvSpPr>
          <p:cNvPr id="14" name="Shape 11"/>
          <p:cNvSpPr/>
          <p:nvPr/>
        </p:nvSpPr>
        <p:spPr>
          <a:xfrm>
            <a:off x="818388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841248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864108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8915400" y="1719072"/>
            <a:ext cx="25603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8229600" y="2029968"/>
            <a:ext cx="3200400" cy="3931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Group A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Grades: 72.5 45 88 60 95.5 38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Average: 66.50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Max: 95.5, Min: 38, range: 57.5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Passed (&gt;= 50): 4 of 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Group B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Grades: 80 65 90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Average: 78.33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Max: 90, Min: 65, range: 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Passed (&gt;= 50): 3 of 3</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12 · 12_12_MENUCALCULATOR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menu program built from small methods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548640" y="1645920"/>
            <a:ext cx="585216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810512"/>
            <a:ext cx="5394960" cy="416052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ShowMenu();</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 = ReadIntInRange(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"Choice: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ReadDouble(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"First number: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 = ReadDouble(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"Second number: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&amp;&amp; y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"Error: division by zero."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 = Calculate(choice, x,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$"Result: {result:F2}"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6537960" y="1645920"/>
            <a:ext cx="5120640" cy="2606040"/>
          </a:xfrm>
          <a:prstGeom prst="roundRect">
            <a:avLst>
              <a:gd name="adj" fmla="val 3509"/>
            </a:avLst>
          </a:prstGeom>
          <a:solidFill>
            <a:srgbClr val="0F1729"/>
          </a:solidFill>
          <a:ln w="12700">
            <a:solidFill>
              <a:srgbClr val="0F1729"/>
            </a:solidFill>
            <a:prstDash val="solid"/>
          </a:ln>
        </p:spPr>
      </p:sp>
      <p:sp>
        <p:nvSpPr>
          <p:cNvPr id="10" name="Text 7"/>
          <p:cNvSpPr txBox="1"/>
          <p:nvPr/>
        </p:nvSpPr>
        <p:spPr>
          <a:xfrm>
            <a:off x="676656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Calculate (switch expression)</a:t>
            </a:r>
            <a:endParaRPr lang="en-US" sz="1100" dirty="0"/>
          </a:p>
        </p:txBody>
      </p:sp>
      <p:sp>
        <p:nvSpPr>
          <p:cNvPr id="11" name="Text 8"/>
          <p:cNvSpPr txBox="1"/>
          <p:nvPr/>
        </p:nvSpPr>
        <p:spPr>
          <a:xfrm>
            <a:off x="6766560" y="2057400"/>
            <a:ext cx="4663440" cy="20848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Calculate(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op,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op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switch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x +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x -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x *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x /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_ =&gt;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.Pow(x,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537960" y="4389120"/>
            <a:ext cx="5120640" cy="1691640"/>
          </a:xfrm>
          <a:prstGeom prst="roundRect">
            <a:avLst>
              <a:gd name="adj" fmla="val 5405"/>
            </a:avLst>
          </a:prstGeom>
          <a:solidFill>
            <a:srgbClr val="0B0F19"/>
          </a:solidFill>
          <a:ln w="12700">
            <a:solidFill>
              <a:srgbClr val="2A3654"/>
            </a:solidFill>
            <a:prstDash val="solid"/>
          </a:ln>
        </p:spPr>
      </p:sp>
      <p:sp>
        <p:nvSpPr>
          <p:cNvPr id="13" name="Shape 10"/>
          <p:cNvSpPr/>
          <p:nvPr/>
        </p:nvSpPr>
        <p:spPr>
          <a:xfrm>
            <a:off x="6720840" y="4517136"/>
            <a:ext cx="118872" cy="118872"/>
          </a:xfrm>
          <a:prstGeom prst="ellipse">
            <a:avLst/>
          </a:prstGeom>
          <a:solidFill>
            <a:srgbClr val="FF5F57"/>
          </a:solidFill>
          <a:ln w="12700">
            <a:solidFill>
              <a:srgbClr val="FF5F57"/>
            </a:solidFill>
            <a:prstDash val="solid"/>
          </a:ln>
        </p:spPr>
      </p:sp>
      <p:sp>
        <p:nvSpPr>
          <p:cNvPr id="14" name="Shape 11"/>
          <p:cNvSpPr/>
          <p:nvPr/>
        </p:nvSpPr>
        <p:spPr>
          <a:xfrm>
            <a:off x="6949440" y="4517136"/>
            <a:ext cx="118872" cy="118872"/>
          </a:xfrm>
          <a:prstGeom prst="ellipse">
            <a:avLst/>
          </a:prstGeom>
          <a:solidFill>
            <a:srgbClr val="FEBC2E"/>
          </a:solidFill>
          <a:ln w="12700">
            <a:solidFill>
              <a:srgbClr val="FEBC2E"/>
            </a:solidFill>
            <a:prstDash val="solid"/>
          </a:ln>
        </p:spPr>
      </p:sp>
      <p:sp>
        <p:nvSpPr>
          <p:cNvPr id="15" name="Shape 12"/>
          <p:cNvSpPr/>
          <p:nvPr/>
        </p:nvSpPr>
        <p:spPr>
          <a:xfrm>
            <a:off x="7178040" y="4517136"/>
            <a:ext cx="118872" cy="118872"/>
          </a:xfrm>
          <a:prstGeom prst="ellipse">
            <a:avLst/>
          </a:prstGeom>
          <a:solidFill>
            <a:srgbClr val="28C840"/>
          </a:solidFill>
          <a:ln w="12700">
            <a:solidFill>
              <a:srgbClr val="28C840"/>
            </a:solidFill>
            <a:prstDash val="solid"/>
          </a:ln>
        </p:spPr>
      </p:sp>
      <p:sp>
        <p:nvSpPr>
          <p:cNvPr id="16" name="Text 13"/>
          <p:cNvSpPr txBox="1"/>
          <p:nvPr/>
        </p:nvSpPr>
        <p:spPr>
          <a:xfrm>
            <a:off x="7452360" y="4462272"/>
            <a:ext cx="4023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(third round of the run)</a:t>
            </a:r>
            <a:endParaRPr lang="en-US" sz="1000" dirty="0"/>
          </a:p>
        </p:txBody>
      </p:sp>
      <p:sp>
        <p:nvSpPr>
          <p:cNvPr id="17" name="Text 14"/>
          <p:cNvSpPr txBox="1"/>
          <p:nvPr/>
        </p:nvSpPr>
        <p:spPr>
          <a:xfrm>
            <a:off x="6766560" y="4773168"/>
            <a:ext cx="4663440" cy="11887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Choice: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Please type 0-5: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First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Second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Result: 1024.00</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DEBUGGING CALLS IN VS CODE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Breakpoints, Step Into (F11) and the CALL STACK panel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45920"/>
            <a:ext cx="6629400" cy="2103120"/>
          </a:xfrm>
          <a:prstGeom prst="rect">
            <a:avLst/>
          </a:prstGeom>
          <a:solidFill>
            <a:srgbClr val="1E1E1E"/>
          </a:solidFill>
          <a:ln w="12700">
            <a:solidFill>
              <a:srgbClr val="1E1E1E"/>
            </a:solidFill>
            <a:prstDash val="solid"/>
          </a:ln>
        </p:spPr>
      </p:sp>
      <p:sp>
        <p:nvSpPr>
          <p:cNvPr id="8" name="Text 5"/>
          <p:cNvSpPr txBox="1"/>
          <p:nvPr/>
        </p:nvSpPr>
        <p:spPr>
          <a:xfrm>
            <a:off x="914400" y="1783080"/>
            <a:ext cx="365760" cy="310896"/>
          </a:xfrm>
          <a:prstGeom prst="rect">
            <a:avLst/>
          </a:prstGeom>
          <a:noFill/>
          <a:ln/>
        </p:spPr>
        <p:txBody>
          <a:bodyPr wrap="square" lIns="0" tIns="0" rIns="0" bIns="0" rtlCol="0" anchor="ctr"/>
          <a:lstStyle/>
          <a:p>
            <a:pPr algn="r" indent="0" marL="0">
              <a:buNone/>
            </a:pPr>
            <a:r>
              <a:rPr lang="en-US" sz="1200" dirty="0">
                <a:solidFill>
                  <a:srgbClr val="858585"/>
                </a:solidFill>
                <a:latin typeface="Courier New" pitchFamily="34" charset="0"/>
                <a:ea typeface="Courier New" pitchFamily="34" charset="-122"/>
                <a:cs typeface="Courier New" pitchFamily="34" charset="-120"/>
              </a:rPr>
              <a:t>5</a:t>
            </a:r>
            <a:endParaRPr lang="en-US" sz="1200" dirty="0"/>
          </a:p>
        </p:txBody>
      </p:sp>
      <p:sp>
        <p:nvSpPr>
          <p:cNvPr id="9" name="Text 6"/>
          <p:cNvSpPr txBox="1"/>
          <p:nvPr/>
        </p:nvSpPr>
        <p:spPr>
          <a:xfrm>
            <a:off x="1417320" y="1783080"/>
            <a:ext cx="5669280" cy="310896"/>
          </a:xfrm>
          <a:prstGeom prst="rect">
            <a:avLst/>
          </a:prstGeom>
          <a:noFill/>
          <a:ln/>
        </p:spPr>
        <p:txBody>
          <a:bodyPr wrap="square" lIns="0" tIns="0" rIns="0" bIns="0" rtlCol="0" anchor="ctr"/>
          <a:lstStyle/>
          <a:p>
            <a:pPr indent="0" marL="0">
              <a:buNone/>
            </a:pPr>
            <a:r>
              <a:rPr lang="en-US" sz="1200" dirty="0">
                <a:solidFill>
                  <a:srgbClr val="D4D4D4"/>
                </a:solidFill>
                <a:latin typeface="Courier New" pitchFamily="34" charset="0"/>
                <a:ea typeface="Courier New" pitchFamily="34" charset="-122"/>
                <a:cs typeface="Courier New" pitchFamily="34" charset="-120"/>
              </a:rPr>
              <a:t>int number = int.Parse(Console.ReadLine());</a:t>
            </a:r>
            <a:endParaRPr lang="en-US" sz="1200" dirty="0"/>
          </a:p>
        </p:txBody>
      </p:sp>
      <p:sp>
        <p:nvSpPr>
          <p:cNvPr id="10" name="Text 7"/>
          <p:cNvSpPr txBox="1"/>
          <p:nvPr/>
        </p:nvSpPr>
        <p:spPr>
          <a:xfrm>
            <a:off x="914400" y="2167128"/>
            <a:ext cx="365760" cy="310896"/>
          </a:xfrm>
          <a:prstGeom prst="rect">
            <a:avLst/>
          </a:prstGeom>
          <a:noFill/>
          <a:ln/>
        </p:spPr>
        <p:txBody>
          <a:bodyPr wrap="square" lIns="0" tIns="0" rIns="0" bIns="0" rtlCol="0" anchor="ctr"/>
          <a:lstStyle/>
          <a:p>
            <a:pPr algn="r" indent="0" marL="0">
              <a:buNone/>
            </a:pPr>
            <a:r>
              <a:rPr lang="en-US" sz="1200" dirty="0">
                <a:solidFill>
                  <a:srgbClr val="858585"/>
                </a:solidFill>
                <a:latin typeface="Courier New" pitchFamily="34" charset="0"/>
                <a:ea typeface="Courier New" pitchFamily="34" charset="-122"/>
                <a:cs typeface="Courier New" pitchFamily="34" charset="-120"/>
              </a:rPr>
              <a:t>6</a:t>
            </a:r>
            <a:endParaRPr lang="en-US" sz="1200" dirty="0"/>
          </a:p>
        </p:txBody>
      </p:sp>
      <p:sp>
        <p:nvSpPr>
          <p:cNvPr id="11" name="Text 8"/>
          <p:cNvSpPr txBox="1"/>
          <p:nvPr/>
        </p:nvSpPr>
        <p:spPr>
          <a:xfrm>
            <a:off x="1417320" y="2167128"/>
            <a:ext cx="5669280" cy="310896"/>
          </a:xfrm>
          <a:prstGeom prst="rect">
            <a:avLst/>
          </a:prstGeom>
          <a:noFill/>
          <a:ln/>
        </p:spPr>
        <p:txBody>
          <a:bodyPr wrap="square" lIns="0" tIns="0" rIns="0" bIns="0" rtlCol="0" anchor="ctr"/>
          <a:lstStyle/>
          <a:p>
            <a:pPr indent="0" marL="0">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p:txBody>
      </p:sp>
      <p:sp>
        <p:nvSpPr>
          <p:cNvPr id="12" name="Text 9"/>
          <p:cNvSpPr txBox="1"/>
          <p:nvPr/>
        </p:nvSpPr>
        <p:spPr>
          <a:xfrm>
            <a:off x="914400" y="2551176"/>
            <a:ext cx="365760" cy="310896"/>
          </a:xfrm>
          <a:prstGeom prst="rect">
            <a:avLst/>
          </a:prstGeom>
          <a:noFill/>
          <a:ln/>
        </p:spPr>
        <p:txBody>
          <a:bodyPr wrap="square" lIns="0" tIns="0" rIns="0" bIns="0" rtlCol="0" anchor="ctr"/>
          <a:lstStyle/>
          <a:p>
            <a:pPr algn="r" indent="0" marL="0">
              <a:buNone/>
            </a:pPr>
            <a:r>
              <a:rPr lang="en-US" sz="1200" dirty="0">
                <a:solidFill>
                  <a:srgbClr val="858585"/>
                </a:solidFill>
                <a:latin typeface="Courier New" pitchFamily="34" charset="0"/>
                <a:ea typeface="Courier New" pitchFamily="34" charset="-122"/>
                <a:cs typeface="Courier New" pitchFamily="34" charset="-120"/>
              </a:rPr>
              <a:t>7</a:t>
            </a:r>
            <a:endParaRPr lang="en-US" sz="1200" dirty="0"/>
          </a:p>
        </p:txBody>
      </p:sp>
      <p:sp>
        <p:nvSpPr>
          <p:cNvPr id="13" name="Text 10"/>
          <p:cNvSpPr txBox="1"/>
          <p:nvPr/>
        </p:nvSpPr>
        <p:spPr>
          <a:xfrm>
            <a:off x="1417320" y="2551176"/>
            <a:ext cx="5669280" cy="310896"/>
          </a:xfrm>
          <a:prstGeom prst="rect">
            <a:avLst/>
          </a:prstGeom>
          <a:noFill/>
          <a:ln/>
        </p:spPr>
        <p:txBody>
          <a:bodyPr wrap="square" lIns="0" tIns="0" rIns="0" bIns="0" rtlCol="0" anchor="ctr"/>
          <a:lstStyle/>
          <a:p>
            <a:pPr indent="0" marL="0">
              <a:buNone/>
            </a:pPr>
            <a:r>
              <a:rPr lang="en-US" sz="1200" dirty="0">
                <a:solidFill>
                  <a:srgbClr val="D4D4D4"/>
                </a:solidFill>
                <a:latin typeface="Courier New" pitchFamily="34" charset="0"/>
                <a:ea typeface="Courier New" pitchFamily="34" charset="-122"/>
                <a:cs typeface="Courier New" pitchFamily="34" charset="-120"/>
              </a:rPr>
              <a:t>int count = CountDigits(number);</a:t>
            </a:r>
            <a:endParaRPr lang="en-US" sz="1200" dirty="0"/>
          </a:p>
        </p:txBody>
      </p:sp>
      <p:sp>
        <p:nvSpPr>
          <p:cNvPr id="14" name="Shape 11"/>
          <p:cNvSpPr/>
          <p:nvPr/>
        </p:nvSpPr>
        <p:spPr>
          <a:xfrm>
            <a:off x="594360" y="2907792"/>
            <a:ext cx="6537960" cy="365760"/>
          </a:xfrm>
          <a:prstGeom prst="rect">
            <a:avLst/>
          </a:prstGeom>
          <a:solidFill>
            <a:srgbClr val="4B4B18"/>
          </a:solidFill>
          <a:ln w="12700">
            <a:solidFill>
              <a:srgbClr val="4B4B18"/>
            </a:solidFill>
            <a:prstDash val="solid"/>
          </a:ln>
        </p:spPr>
      </p:sp>
      <p:sp>
        <p:nvSpPr>
          <p:cNvPr id="15" name="Shape 12"/>
          <p:cNvSpPr/>
          <p:nvPr/>
        </p:nvSpPr>
        <p:spPr>
          <a:xfrm>
            <a:off x="685800" y="3008376"/>
            <a:ext cx="182880" cy="182880"/>
          </a:xfrm>
          <a:prstGeom prst="ellipse">
            <a:avLst/>
          </a:prstGeom>
          <a:solidFill>
            <a:srgbClr val="E51400"/>
          </a:solidFill>
          <a:ln w="12700">
            <a:solidFill>
              <a:srgbClr val="E51400"/>
            </a:solidFill>
            <a:prstDash val="solid"/>
          </a:ln>
        </p:spPr>
      </p:sp>
      <p:sp>
        <p:nvSpPr>
          <p:cNvPr id="16" name="Text 13"/>
          <p:cNvSpPr txBox="1"/>
          <p:nvPr/>
        </p:nvSpPr>
        <p:spPr>
          <a:xfrm>
            <a:off x="914400" y="2935224"/>
            <a:ext cx="365760" cy="310896"/>
          </a:xfrm>
          <a:prstGeom prst="rect">
            <a:avLst/>
          </a:prstGeom>
          <a:noFill/>
          <a:ln/>
        </p:spPr>
        <p:txBody>
          <a:bodyPr wrap="square" lIns="0" tIns="0" rIns="0" bIns="0" rtlCol="0" anchor="ctr"/>
          <a:lstStyle/>
          <a:p>
            <a:pPr algn="r" indent="0" marL="0">
              <a:buNone/>
            </a:pPr>
            <a:r>
              <a:rPr lang="en-US" sz="1200" dirty="0">
                <a:solidFill>
                  <a:srgbClr val="858585"/>
                </a:solidFill>
                <a:latin typeface="Courier New" pitchFamily="34" charset="0"/>
                <a:ea typeface="Courier New" pitchFamily="34" charset="-122"/>
                <a:cs typeface="Courier New" pitchFamily="34" charset="-120"/>
              </a:rPr>
              <a:t>8</a:t>
            </a:r>
            <a:endParaRPr lang="en-US" sz="1200" dirty="0"/>
          </a:p>
        </p:txBody>
      </p:sp>
      <p:sp>
        <p:nvSpPr>
          <p:cNvPr id="17" name="Text 14"/>
          <p:cNvSpPr txBox="1"/>
          <p:nvPr/>
        </p:nvSpPr>
        <p:spPr>
          <a:xfrm>
            <a:off x="1417320" y="2935224"/>
            <a:ext cx="5669280" cy="310896"/>
          </a:xfrm>
          <a:prstGeom prst="rect">
            <a:avLst/>
          </a:prstGeom>
          <a:noFill/>
          <a:ln/>
        </p:spPr>
        <p:txBody>
          <a:bodyPr wrap="square" lIns="0" tIns="0" rIns="0" bIns="0" rtlCol="0" anchor="ctr"/>
          <a:lstStyle/>
          <a:p>
            <a:pPr indent="0" marL="0">
              <a:buNone/>
            </a:pPr>
            <a:r>
              <a:rPr lang="en-US" sz="1200" dirty="0">
                <a:solidFill>
                  <a:srgbClr val="D4D4D4"/>
                </a:solidFill>
                <a:latin typeface="Courier New" pitchFamily="34" charset="0"/>
                <a:ea typeface="Courier New" pitchFamily="34" charset="-122"/>
                <a:cs typeface="Courier New" pitchFamily="34" charset="-120"/>
              </a:rPr>
              <a:t>int sum = DigitSum(number);</a:t>
            </a:r>
            <a:endParaRPr lang="en-US" sz="1200" dirty="0"/>
          </a:p>
        </p:txBody>
      </p:sp>
      <p:sp>
        <p:nvSpPr>
          <p:cNvPr id="18" name="Text 15"/>
          <p:cNvSpPr txBox="1"/>
          <p:nvPr/>
        </p:nvSpPr>
        <p:spPr>
          <a:xfrm>
            <a:off x="914400" y="3319272"/>
            <a:ext cx="365760" cy="310896"/>
          </a:xfrm>
          <a:prstGeom prst="rect">
            <a:avLst/>
          </a:prstGeom>
          <a:noFill/>
          <a:ln/>
        </p:spPr>
        <p:txBody>
          <a:bodyPr wrap="square" lIns="0" tIns="0" rIns="0" bIns="0" rtlCol="0" anchor="ctr"/>
          <a:lstStyle/>
          <a:p>
            <a:pPr algn="r" indent="0" marL="0">
              <a:buNone/>
            </a:pPr>
            <a:r>
              <a:rPr lang="en-US" sz="1200" dirty="0">
                <a:solidFill>
                  <a:srgbClr val="858585"/>
                </a:solidFill>
                <a:latin typeface="Courier New" pitchFamily="34" charset="0"/>
                <a:ea typeface="Courier New" pitchFamily="34" charset="-122"/>
                <a:cs typeface="Courier New" pitchFamily="34" charset="-120"/>
              </a:rPr>
              <a:t>9</a:t>
            </a:r>
            <a:endParaRPr lang="en-US" sz="1200" dirty="0"/>
          </a:p>
        </p:txBody>
      </p:sp>
      <p:sp>
        <p:nvSpPr>
          <p:cNvPr id="19" name="Text 16"/>
          <p:cNvSpPr txBox="1"/>
          <p:nvPr/>
        </p:nvSpPr>
        <p:spPr>
          <a:xfrm>
            <a:off x="1417320" y="3319272"/>
            <a:ext cx="5669280" cy="310896"/>
          </a:xfrm>
          <a:prstGeom prst="rect">
            <a:avLst/>
          </a:prstGeom>
          <a:noFill/>
          <a:ln/>
        </p:spPr>
        <p:txBody>
          <a:bodyPr wrap="square" lIns="0" tIns="0" rIns="0" bIns="0" rtlCol="0" anchor="ctr"/>
          <a:lstStyle/>
          <a:p>
            <a:pPr indent="0" marL="0">
              <a:buNone/>
            </a:pPr>
            <a:r>
              <a:rPr lang="en-US" sz="1200" dirty="0">
                <a:solidFill>
                  <a:srgbClr val="D4D4D4"/>
                </a:solidFill>
                <a:latin typeface="Courier New" pitchFamily="34" charset="0"/>
                <a:ea typeface="Courier New" pitchFamily="34" charset="-122"/>
                <a:cs typeface="Courier New" pitchFamily="34" charset="-120"/>
              </a:rPr>
              <a:t>int reversed = Reverse(number);</a:t>
            </a:r>
            <a:endParaRPr lang="en-US" sz="1200" dirty="0"/>
          </a:p>
        </p:txBody>
      </p:sp>
      <p:sp>
        <p:nvSpPr>
          <p:cNvPr id="20" name="Text 17"/>
          <p:cNvSpPr txBox="1"/>
          <p:nvPr/>
        </p:nvSpPr>
        <p:spPr>
          <a:xfrm>
            <a:off x="4251960" y="2935224"/>
            <a:ext cx="2834640" cy="310896"/>
          </a:xfrm>
          <a:prstGeom prst="rect">
            <a:avLst/>
          </a:prstGeom>
          <a:noFill/>
          <a:ln/>
        </p:spPr>
        <p:txBody>
          <a:bodyPr wrap="square" lIns="0" tIns="0" rIns="0" bIns="0" rtlCol="0" anchor="ctr"/>
          <a:lstStyle/>
          <a:p>
            <a:pPr indent="0" marL="0">
              <a:buNone/>
            </a:pPr>
            <a:r>
              <a:rPr lang="en-US" sz="1300" b="1" dirty="0">
                <a:solidFill>
                  <a:srgbClr val="FCA311"/>
                </a:solidFill>
                <a:latin typeface="Calibri" pitchFamily="34" charset="0"/>
                <a:ea typeface="Calibri" pitchFamily="34" charset="-122"/>
                <a:cs typeface="Calibri" pitchFamily="34" charset="-120"/>
              </a:rPr>
              <a:t>◀ breakpoint (F9)</a:t>
            </a:r>
            <a:endParaRPr lang="en-US" sz="1300" dirty="0"/>
          </a:p>
        </p:txBody>
      </p:sp>
      <p:sp>
        <p:nvSpPr>
          <p:cNvPr id="21" name="Shape 18"/>
          <p:cNvSpPr/>
          <p:nvPr/>
        </p:nvSpPr>
        <p:spPr>
          <a:xfrm>
            <a:off x="548640" y="3840480"/>
            <a:ext cx="6629400" cy="685800"/>
          </a:xfrm>
          <a:prstGeom prst="rect">
            <a:avLst/>
          </a:prstGeom>
          <a:solidFill>
            <a:srgbClr val="252526"/>
          </a:solidFill>
          <a:ln w="12700">
            <a:solidFill>
              <a:srgbClr val="252526"/>
            </a:solidFill>
            <a:prstDash val="solid"/>
          </a:ln>
        </p:spPr>
      </p:sp>
      <p:sp>
        <p:nvSpPr>
          <p:cNvPr id="22" name="Text 19"/>
          <p:cNvSpPr txBox="1"/>
          <p:nvPr/>
        </p:nvSpPr>
        <p:spPr>
          <a:xfrm>
            <a:off x="731520" y="3840480"/>
            <a:ext cx="6309360" cy="685800"/>
          </a:xfrm>
          <a:prstGeom prst="rect">
            <a:avLst/>
          </a:prstGeom>
          <a:noFill/>
          <a:ln/>
        </p:spPr>
        <p:txBody>
          <a:bodyPr wrap="square" lIns="0" tIns="0" rIns="0" bIns="0" rtlCol="0" anchor="ctr"/>
          <a:lstStyle/>
          <a:p>
            <a:pPr indent="0" marL="0">
              <a:buNone/>
            </a:pPr>
            <a:r>
              <a:rPr lang="en-US" sz="1200" b="1" dirty="0">
                <a:solidFill>
                  <a:srgbClr val="BBBBBB"/>
                </a:solidFill>
                <a:latin typeface="Courier New" pitchFamily="34" charset="0"/>
                <a:ea typeface="Courier New" pitchFamily="34" charset="-122"/>
                <a:cs typeface="Courier New" pitchFamily="34" charset="-120"/>
              </a:rPr>
              <a:t>CALL STACK</a:t>
            </a:r>
            <a:endParaRPr lang="en-US" sz="1200" dirty="0"/>
          </a:p>
          <a:p>
            <a:pPr indent="0" marL="0">
              <a:buNone/>
            </a:pPr>
            <a:r>
              <a:rPr lang="en-US" sz="1200" dirty="0">
                <a:solidFill>
                  <a:srgbClr val="D4D4D4"/>
                </a:solidFill>
                <a:latin typeface="Courier New" pitchFamily="34" charset="0"/>
                <a:ea typeface="Courier New" pitchFamily="34" charset="-122"/>
                <a:cs typeface="Courier New" pitchFamily="34" charset="-120"/>
              </a:rPr>
              <a:t>after F11:  DigitSum  ▸  &lt;Main&gt;$</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6629400" cy="914400"/>
        </p:xfrm>
        <a:graphic>
          <a:graphicData uri="http://schemas.openxmlformats.org/drawingml/2006/table">
            <a:tbl>
              <a:tblPr/>
              <a:tblGrid>
                <a:gridCol w="2240280"/>
                <a:gridCol w="1097280"/>
                <a:gridCol w="914400"/>
                <a:gridCol w="2377440"/>
              </a:tblGrid>
              <a:tr h="23774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inside DigitSum(2026)</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 % 10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sum</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 after n /= 10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23774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2026</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3774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1st pass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6</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6</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202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23774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2nd pass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3774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3rd pass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23774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4th pass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0 → return 10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7360920" y="1645920"/>
          <a:ext cx="4297680" cy="914400"/>
        </p:xfrm>
        <a:graphic>
          <a:graphicData uri="http://schemas.openxmlformats.org/drawingml/2006/table">
            <a:tbl>
              <a:tblPr/>
              <a:tblGrid>
                <a:gridCol w="1234440"/>
                <a:gridCol w="306324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key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toggle breakpoint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start / continue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Step Over (run the call)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F11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Step Into (enter it)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Shift+F11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Step Out (finish it)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25" name="Shape 20"/>
          <p:cNvSpPr/>
          <p:nvPr/>
        </p:nvSpPr>
        <p:spPr>
          <a:xfrm>
            <a:off x="7360920" y="4343400"/>
            <a:ext cx="4297680" cy="1737360"/>
          </a:xfrm>
          <a:prstGeom prst="roundRect">
            <a:avLst>
              <a:gd name="adj" fmla="val 5263"/>
            </a:avLst>
          </a:prstGeom>
          <a:solidFill>
            <a:srgbClr val="0B0F19"/>
          </a:solidFill>
          <a:ln w="12700">
            <a:solidFill>
              <a:srgbClr val="2A3654"/>
            </a:solidFill>
            <a:prstDash val="solid"/>
          </a:ln>
        </p:spPr>
      </p:sp>
      <p:sp>
        <p:nvSpPr>
          <p:cNvPr id="26" name="Shape 21"/>
          <p:cNvSpPr/>
          <p:nvPr/>
        </p:nvSpPr>
        <p:spPr>
          <a:xfrm>
            <a:off x="7543800" y="4471416"/>
            <a:ext cx="118872" cy="118872"/>
          </a:xfrm>
          <a:prstGeom prst="ellipse">
            <a:avLst/>
          </a:prstGeom>
          <a:solidFill>
            <a:srgbClr val="FF5F57"/>
          </a:solidFill>
          <a:ln w="12700">
            <a:solidFill>
              <a:srgbClr val="FF5F57"/>
            </a:solidFill>
            <a:prstDash val="solid"/>
          </a:ln>
        </p:spPr>
      </p:sp>
      <p:sp>
        <p:nvSpPr>
          <p:cNvPr id="27" name="Shape 22"/>
          <p:cNvSpPr/>
          <p:nvPr/>
        </p:nvSpPr>
        <p:spPr>
          <a:xfrm>
            <a:off x="7772400" y="4471416"/>
            <a:ext cx="118872" cy="118872"/>
          </a:xfrm>
          <a:prstGeom prst="ellipse">
            <a:avLst/>
          </a:prstGeom>
          <a:solidFill>
            <a:srgbClr val="FEBC2E"/>
          </a:solidFill>
          <a:ln w="12700">
            <a:solidFill>
              <a:srgbClr val="FEBC2E"/>
            </a:solidFill>
            <a:prstDash val="solid"/>
          </a:ln>
        </p:spPr>
      </p:sp>
      <p:sp>
        <p:nvSpPr>
          <p:cNvPr id="28" name="Shape 23"/>
          <p:cNvSpPr/>
          <p:nvPr/>
        </p:nvSpPr>
        <p:spPr>
          <a:xfrm>
            <a:off x="8001000" y="4471416"/>
            <a:ext cx="118872" cy="118872"/>
          </a:xfrm>
          <a:prstGeom prst="ellipse">
            <a:avLst/>
          </a:prstGeom>
          <a:solidFill>
            <a:srgbClr val="28C840"/>
          </a:solidFill>
          <a:ln w="12700">
            <a:solidFill>
              <a:srgbClr val="28C840"/>
            </a:solidFill>
            <a:prstDash val="solid"/>
          </a:ln>
        </p:spPr>
      </p:sp>
      <p:sp>
        <p:nvSpPr>
          <p:cNvPr id="29" name="Text 24"/>
          <p:cNvSpPr txBox="1"/>
          <p:nvPr/>
        </p:nvSpPr>
        <p:spPr>
          <a:xfrm>
            <a:off x="8275320" y="4416552"/>
            <a:ext cx="3200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0" name="Text 25"/>
          <p:cNvSpPr txBox="1"/>
          <p:nvPr/>
        </p:nvSpPr>
        <p:spPr>
          <a:xfrm>
            <a:off x="7589520" y="4727448"/>
            <a:ext cx="3840480" cy="12344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a positive integer: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2026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Digits: 4, digit sum: 10, reversed: 6202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Average digit: 2.50</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Method bugs and how to fix them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206240"/>
                <a:gridCol w="3108960"/>
                <a:gridCol w="3794760"/>
              </a:tblGrid>
              <a:tr h="53035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Mistake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Symptom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3035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Square() / Square("5")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CS7036 / CS1503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right number and types of arguments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3035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n = Greet("Ali");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CS0029 (void has no value)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call a void method as a statement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3035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Swap(a, b);  // header has ref</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CS1620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Swap(ref a, ref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3035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two local functions named Max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CS0128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different names, or methods in the class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3035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Square(n);  // result ignored</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 error, n unchanged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n = Square(n);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3035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expecting points = 80 in the caller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value parameter: copy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return the value (or ref)</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3035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printing inside a "compute" method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cannot reuse the result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return it; print in the caller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what is printed?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45920"/>
            <a:ext cx="3383280" cy="4434840"/>
          </a:xfrm>
          <a:prstGeom prst="roundRect">
            <a:avLst>
              <a:gd name="adj" fmla="val 2703"/>
            </a:avLst>
          </a:prstGeom>
          <a:solidFill>
            <a:srgbClr val="0F1729"/>
          </a:solidFill>
          <a:ln w="12700">
            <a:solidFill>
              <a:srgbClr val="0F1729"/>
            </a:solidFill>
            <a:prstDash val="solid"/>
          </a:ln>
        </p:spPr>
      </p:sp>
      <p:sp>
        <p:nvSpPr>
          <p:cNvPr id="8" name="Text 5"/>
          <p:cNvSpPr txBox="1"/>
          <p:nvPr/>
        </p:nvSpPr>
        <p:spPr>
          <a:xfrm>
            <a:off x="777240" y="1755648"/>
            <a:ext cx="2926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Q1 · same name, two boxes</a:t>
            </a:r>
            <a:endParaRPr lang="en-US" sz="1100" dirty="0"/>
          </a:p>
        </p:txBody>
      </p:sp>
      <p:sp>
        <p:nvSpPr>
          <p:cNvPr id="9" name="Text 6"/>
          <p:cNvSpPr txBox="1"/>
          <p:nvPr/>
        </p:nvSpPr>
        <p:spPr>
          <a:xfrm>
            <a:off x="777240" y="2057400"/>
            <a:ext cx="292608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Change(x);</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x = Twice(x);</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Change(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Twice(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4023360" y="1645920"/>
            <a:ext cx="4023360" cy="4434840"/>
          </a:xfrm>
          <a:prstGeom prst="roundRect">
            <a:avLst>
              <a:gd name="adj" fmla="val 2273"/>
            </a:avLst>
          </a:prstGeom>
          <a:solidFill>
            <a:srgbClr val="0F1729"/>
          </a:solidFill>
          <a:ln w="12700">
            <a:solidFill>
              <a:srgbClr val="0F1729"/>
            </a:solidFill>
            <a:prstDash val="solid"/>
          </a:ln>
        </p:spPr>
      </p:sp>
      <p:sp>
        <p:nvSpPr>
          <p:cNvPr id="11" name="Text 8"/>
          <p:cNvSpPr txBox="1"/>
          <p:nvPr/>
        </p:nvSpPr>
        <p:spPr>
          <a:xfrm>
            <a:off x="4251960" y="1755648"/>
            <a:ext cx="3566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Q2 · array, value, ref</a:t>
            </a:r>
            <a:endParaRPr lang="en-US" sz="1100" dirty="0"/>
          </a:p>
        </p:txBody>
      </p:sp>
      <p:sp>
        <p:nvSpPr>
          <p:cNvPr id="12" name="Text 9"/>
          <p:cNvSpPr txBox="1"/>
          <p:nvPr/>
        </p:nvSpPr>
        <p:spPr>
          <a:xfrm>
            <a:off x="4251960" y="2057400"/>
            <a:ext cx="356616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Update(a, k);</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$"{a[0]} {k}"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Bump(</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.WriteLine(k);</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Update(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arr,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arr[</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Bump(</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8138160" y="1645920"/>
            <a:ext cx="3520440" cy="4434840"/>
          </a:xfrm>
          <a:prstGeom prst="roundRect">
            <a:avLst>
              <a:gd name="adj" fmla="val 2597"/>
            </a:avLst>
          </a:prstGeom>
          <a:solidFill>
            <a:srgbClr val="0F1729"/>
          </a:solidFill>
          <a:ln w="12700">
            <a:solidFill>
              <a:srgbClr val="0F1729"/>
            </a:solidFill>
            <a:prstDash val="solid"/>
          </a:ln>
        </p:spPr>
      </p:sp>
      <p:sp>
        <p:nvSpPr>
          <p:cNvPr id="14" name="Text 11"/>
          <p:cNvSpPr txBox="1"/>
          <p:nvPr/>
        </p:nvSpPr>
        <p:spPr>
          <a:xfrm>
            <a:off x="8366760" y="1755648"/>
            <a:ext cx="3063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Q3 · order of calls</a:t>
            </a:r>
            <a:endParaRPr lang="en-US" sz="1100" dirty="0"/>
          </a:p>
        </p:txBody>
      </p:sp>
      <p:sp>
        <p:nvSpPr>
          <p:cNvPr id="15" name="Text 12"/>
          <p:cNvSpPr txBox="1"/>
          <p:nvPr/>
        </p:nvSpPr>
        <p:spPr>
          <a:xfrm>
            <a:off x="8366760" y="2057400"/>
            <a:ext cx="306324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.WriteLine(F(</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F(</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$"F({n})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(checked by running the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45920"/>
            <a:ext cx="3383280" cy="1143000"/>
          </a:xfrm>
          <a:prstGeom prst="roundRect">
            <a:avLst>
              <a:gd name="adj" fmla="val 8000"/>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2286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Q1</a:t>
            </a:r>
            <a:endParaRPr lang="en-US" sz="1000" dirty="0"/>
          </a:p>
        </p:txBody>
      </p:sp>
      <p:sp>
        <p:nvSpPr>
          <p:cNvPr id="12" name="Text 9"/>
          <p:cNvSpPr txBox="1"/>
          <p:nvPr/>
        </p:nvSpPr>
        <p:spPr>
          <a:xfrm>
            <a:off x="777240" y="2029968"/>
            <a:ext cx="2926080" cy="6400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5</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10</a:t>
            </a:r>
            <a:endParaRPr lang="en-US" sz="1500" dirty="0"/>
          </a:p>
        </p:txBody>
      </p:sp>
      <p:sp>
        <p:nvSpPr>
          <p:cNvPr id="13" name="Shape 10"/>
          <p:cNvSpPr/>
          <p:nvPr/>
        </p:nvSpPr>
        <p:spPr>
          <a:xfrm>
            <a:off x="4023360" y="1645920"/>
            <a:ext cx="4023360" cy="1143000"/>
          </a:xfrm>
          <a:prstGeom prst="roundRect">
            <a:avLst>
              <a:gd name="adj" fmla="val 8000"/>
            </a:avLst>
          </a:prstGeom>
          <a:solidFill>
            <a:srgbClr val="0B0F19"/>
          </a:solidFill>
          <a:ln w="12700">
            <a:solidFill>
              <a:srgbClr val="2A3654"/>
            </a:solidFill>
            <a:prstDash val="solid"/>
          </a:ln>
        </p:spPr>
      </p:sp>
      <p:sp>
        <p:nvSpPr>
          <p:cNvPr id="14" name="Shape 11"/>
          <p:cNvSpPr/>
          <p:nvPr/>
        </p:nvSpPr>
        <p:spPr>
          <a:xfrm>
            <a:off x="420624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443484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466344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4937760" y="1719072"/>
            <a:ext cx="29260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Q2</a:t>
            </a:r>
            <a:endParaRPr lang="en-US" sz="1000" dirty="0"/>
          </a:p>
        </p:txBody>
      </p:sp>
      <p:sp>
        <p:nvSpPr>
          <p:cNvPr id="18" name="Text 15"/>
          <p:cNvSpPr txBox="1"/>
          <p:nvPr/>
        </p:nvSpPr>
        <p:spPr>
          <a:xfrm>
            <a:off x="4251960" y="2029968"/>
            <a:ext cx="3566160" cy="6400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99 10</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11</a:t>
            </a:r>
            <a:endParaRPr lang="en-US" sz="1500" dirty="0"/>
          </a:p>
        </p:txBody>
      </p:sp>
      <p:sp>
        <p:nvSpPr>
          <p:cNvPr id="19" name="Shape 16"/>
          <p:cNvSpPr/>
          <p:nvPr/>
        </p:nvSpPr>
        <p:spPr>
          <a:xfrm>
            <a:off x="8138160" y="1645920"/>
            <a:ext cx="3520440" cy="1143000"/>
          </a:xfrm>
          <a:prstGeom prst="roundRect">
            <a:avLst>
              <a:gd name="adj" fmla="val 8000"/>
            </a:avLst>
          </a:prstGeom>
          <a:solidFill>
            <a:srgbClr val="0B0F19"/>
          </a:solidFill>
          <a:ln w="12700">
            <a:solidFill>
              <a:srgbClr val="2A3654"/>
            </a:solidFill>
            <a:prstDash val="solid"/>
          </a:ln>
        </p:spPr>
      </p:sp>
      <p:sp>
        <p:nvSpPr>
          <p:cNvPr id="20" name="Shape 17"/>
          <p:cNvSpPr/>
          <p:nvPr/>
        </p:nvSpPr>
        <p:spPr>
          <a:xfrm>
            <a:off x="8321040" y="1773936"/>
            <a:ext cx="118872" cy="118872"/>
          </a:xfrm>
          <a:prstGeom prst="ellipse">
            <a:avLst/>
          </a:prstGeom>
          <a:solidFill>
            <a:srgbClr val="FF5F57"/>
          </a:solidFill>
          <a:ln w="12700">
            <a:solidFill>
              <a:srgbClr val="FF5F57"/>
            </a:solidFill>
            <a:prstDash val="solid"/>
          </a:ln>
        </p:spPr>
      </p:sp>
      <p:sp>
        <p:nvSpPr>
          <p:cNvPr id="21" name="Shape 18"/>
          <p:cNvSpPr/>
          <p:nvPr/>
        </p:nvSpPr>
        <p:spPr>
          <a:xfrm>
            <a:off x="8549640" y="1773936"/>
            <a:ext cx="118872" cy="118872"/>
          </a:xfrm>
          <a:prstGeom prst="ellipse">
            <a:avLst/>
          </a:prstGeom>
          <a:solidFill>
            <a:srgbClr val="FEBC2E"/>
          </a:solidFill>
          <a:ln w="12700">
            <a:solidFill>
              <a:srgbClr val="FEBC2E"/>
            </a:solidFill>
            <a:prstDash val="solid"/>
          </a:ln>
        </p:spPr>
      </p:sp>
      <p:sp>
        <p:nvSpPr>
          <p:cNvPr id="22" name="Shape 19"/>
          <p:cNvSpPr/>
          <p:nvPr/>
        </p:nvSpPr>
        <p:spPr>
          <a:xfrm>
            <a:off x="8778240" y="17739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9052560" y="1719072"/>
            <a:ext cx="24231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Q3</a:t>
            </a:r>
            <a:endParaRPr lang="en-US" sz="1000" dirty="0"/>
          </a:p>
        </p:txBody>
      </p:sp>
      <p:sp>
        <p:nvSpPr>
          <p:cNvPr id="24" name="Text 21"/>
          <p:cNvSpPr txBox="1"/>
          <p:nvPr/>
        </p:nvSpPr>
        <p:spPr>
          <a:xfrm>
            <a:off x="8366760" y="2029968"/>
            <a:ext cx="3063240" cy="6400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F(2) F(3) 15</a:t>
            </a:r>
            <a:endParaRPr lang="en-US" sz="1500" dirty="0"/>
          </a:p>
        </p:txBody>
      </p:sp>
      <p:sp>
        <p:nvSpPr>
          <p:cNvPr id="25" name="Text 22"/>
          <p:cNvSpPr txBox="1"/>
          <p:nvPr/>
        </p:nvSpPr>
        <p:spPr>
          <a:xfrm>
            <a:off x="548640" y="2971800"/>
            <a:ext cx="3383280" cy="457200"/>
          </a:xfrm>
          <a:prstGeom prst="rect">
            <a:avLst/>
          </a:prstGeom>
          <a:noFill/>
          <a:ln/>
        </p:spPr>
        <p:txBody>
          <a:bodyPr wrap="square" lIns="0" tIns="0" rIns="0" bIns="0" rtlCol="0" anchor="ctr"/>
          <a:lstStyle/>
          <a:p>
            <a:pPr algn="l" indent="0" marL="0">
              <a:buNone/>
            </a:pPr>
            <a:r>
              <a:rPr lang="en-US" sz="1400" b="1" dirty="0">
                <a:solidFill>
                  <a:srgbClr val="5B6478"/>
                </a:solidFill>
                <a:latin typeface="Calibri" pitchFamily="34" charset="0"/>
                <a:ea typeface="Calibri" pitchFamily="34" charset="-122"/>
                <a:cs typeface="Calibri" pitchFamily="34" charset="-120"/>
              </a:rPr>
              <a:t>Two different boxes called x:</a:t>
            </a:r>
            <a:endParaRPr lang="en-US" sz="1400" dirty="0"/>
          </a:p>
        </p:txBody>
      </p:sp>
      <p:sp>
        <p:nvSpPr>
          <p:cNvPr id="26" name="Shape 23"/>
          <p:cNvSpPr/>
          <p:nvPr/>
        </p:nvSpPr>
        <p:spPr>
          <a:xfrm>
            <a:off x="548640" y="5294376"/>
            <a:ext cx="3383280" cy="786384"/>
          </a:xfrm>
          <a:prstGeom prst="rect">
            <a:avLst/>
          </a:prstGeom>
          <a:solidFill>
            <a:srgbClr val="EEF1F6"/>
          </a:solidFill>
          <a:ln w="12700">
            <a:solidFill>
              <a:srgbClr val="14213D"/>
            </a:solidFill>
            <a:prstDash val="solid"/>
          </a:ln>
        </p:spPr>
      </p:sp>
      <p:sp>
        <p:nvSpPr>
          <p:cNvPr id="27" name="Shape 24"/>
          <p:cNvSpPr/>
          <p:nvPr/>
        </p:nvSpPr>
        <p:spPr>
          <a:xfrm>
            <a:off x="548640" y="5294376"/>
            <a:ext cx="3383280" cy="329184"/>
          </a:xfrm>
          <a:prstGeom prst="rect">
            <a:avLst/>
          </a:prstGeom>
          <a:solidFill>
            <a:srgbClr val="14213D"/>
          </a:solidFill>
          <a:ln w="12700">
            <a:solidFill>
              <a:srgbClr val="14213D"/>
            </a:solidFill>
            <a:prstDash val="solid"/>
          </a:ln>
        </p:spPr>
      </p:sp>
      <p:sp>
        <p:nvSpPr>
          <p:cNvPr id="28" name="Text 25"/>
          <p:cNvSpPr txBox="1"/>
          <p:nvPr/>
        </p:nvSpPr>
        <p:spPr>
          <a:xfrm>
            <a:off x="640080" y="5294376"/>
            <a:ext cx="320040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29" name="Text 26"/>
          <p:cNvSpPr txBox="1"/>
          <p:nvPr/>
        </p:nvSpPr>
        <p:spPr>
          <a:xfrm>
            <a:off x="594360" y="566928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30" name="Shape 27"/>
          <p:cNvSpPr/>
          <p:nvPr/>
        </p:nvSpPr>
        <p:spPr>
          <a:xfrm>
            <a:off x="1600200" y="5669280"/>
            <a:ext cx="2240280" cy="310896"/>
          </a:xfrm>
          <a:prstGeom prst="rect">
            <a:avLst/>
          </a:prstGeom>
          <a:solidFill>
            <a:srgbClr val="E6F4EC"/>
          </a:solidFill>
          <a:ln w="9525">
            <a:solidFill>
              <a:srgbClr val="8A94AB"/>
            </a:solidFill>
            <a:prstDash val="solid"/>
          </a:ln>
        </p:spPr>
      </p:sp>
      <p:sp>
        <p:nvSpPr>
          <p:cNvPr id="31" name="Text 28"/>
          <p:cNvSpPr txBox="1"/>
          <p:nvPr/>
        </p:nvSpPr>
        <p:spPr>
          <a:xfrm>
            <a:off x="1600200" y="5669280"/>
            <a:ext cx="2240280" cy="310896"/>
          </a:xfrm>
          <a:prstGeom prst="rect">
            <a:avLst/>
          </a:prstGeom>
          <a:noFill/>
          <a:ln/>
        </p:spPr>
        <p:txBody>
          <a:bodyPr wrap="square" lIns="0" tIns="0" rIns="0" bIns="0" rtlCol="0" anchor="ctr"/>
          <a:lstStyle/>
          <a:p>
            <a:pPr algn="ctr" indent="0" marL="0">
              <a:buNone/>
            </a:pPr>
            <a:r>
              <a:rPr lang="en-US" sz="1400" b="1" dirty="0">
                <a:solidFill>
                  <a:srgbClr val="1F7A50"/>
                </a:solidFill>
                <a:latin typeface="Courier New" pitchFamily="34" charset="0"/>
                <a:ea typeface="Courier New" pitchFamily="34" charset="-122"/>
                <a:cs typeface="Courier New" pitchFamily="34" charset="-120"/>
              </a:rPr>
              <a:t>5</a:t>
            </a:r>
            <a:endParaRPr lang="en-US" sz="1400" dirty="0"/>
          </a:p>
        </p:txBody>
      </p:sp>
      <p:sp>
        <p:nvSpPr>
          <p:cNvPr id="32" name="Shape 29"/>
          <p:cNvSpPr/>
          <p:nvPr/>
        </p:nvSpPr>
        <p:spPr>
          <a:xfrm>
            <a:off x="548640" y="4050792"/>
            <a:ext cx="3383280" cy="786384"/>
          </a:xfrm>
          <a:prstGeom prst="rect">
            <a:avLst/>
          </a:prstGeom>
          <a:solidFill>
            <a:srgbClr val="EEF1F6"/>
          </a:solidFill>
          <a:ln w="12700">
            <a:solidFill>
              <a:srgbClr val="14213D"/>
            </a:solidFill>
            <a:prstDash val="solid"/>
          </a:ln>
        </p:spPr>
      </p:sp>
      <p:sp>
        <p:nvSpPr>
          <p:cNvPr id="33" name="Shape 30"/>
          <p:cNvSpPr/>
          <p:nvPr/>
        </p:nvSpPr>
        <p:spPr>
          <a:xfrm>
            <a:off x="548640" y="4050792"/>
            <a:ext cx="3383280" cy="329184"/>
          </a:xfrm>
          <a:prstGeom prst="rect">
            <a:avLst/>
          </a:prstGeom>
          <a:solidFill>
            <a:srgbClr val="FCA311"/>
          </a:solidFill>
          <a:ln w="12700">
            <a:solidFill>
              <a:srgbClr val="14213D"/>
            </a:solidFill>
            <a:prstDash val="solid"/>
          </a:ln>
        </p:spPr>
      </p:sp>
      <p:sp>
        <p:nvSpPr>
          <p:cNvPr id="34" name="Text 31"/>
          <p:cNvSpPr txBox="1"/>
          <p:nvPr/>
        </p:nvSpPr>
        <p:spPr>
          <a:xfrm>
            <a:off x="640080" y="4050792"/>
            <a:ext cx="320040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Change</a:t>
            </a:r>
            <a:endParaRPr lang="en-US" sz="1200" dirty="0"/>
          </a:p>
        </p:txBody>
      </p:sp>
      <p:sp>
        <p:nvSpPr>
          <p:cNvPr id="35" name="Text 32"/>
          <p:cNvSpPr txBox="1"/>
          <p:nvPr/>
        </p:nvSpPr>
        <p:spPr>
          <a:xfrm>
            <a:off x="594360" y="4425696"/>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36" name="Shape 33"/>
          <p:cNvSpPr/>
          <p:nvPr/>
        </p:nvSpPr>
        <p:spPr>
          <a:xfrm>
            <a:off x="1600200" y="4425696"/>
            <a:ext cx="2240280" cy="310896"/>
          </a:xfrm>
          <a:prstGeom prst="rect">
            <a:avLst/>
          </a:prstGeom>
          <a:solidFill>
            <a:srgbClr val="FFF1D6"/>
          </a:solidFill>
          <a:ln w="9525">
            <a:solidFill>
              <a:srgbClr val="8A94AB"/>
            </a:solidFill>
            <a:prstDash val="solid"/>
          </a:ln>
        </p:spPr>
      </p:sp>
      <p:sp>
        <p:nvSpPr>
          <p:cNvPr id="37" name="Text 34"/>
          <p:cNvSpPr txBox="1"/>
          <p:nvPr/>
        </p:nvSpPr>
        <p:spPr>
          <a:xfrm>
            <a:off x="1600200" y="4425696"/>
            <a:ext cx="2240280" cy="310896"/>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5 → 500</a:t>
            </a:r>
            <a:endParaRPr lang="en-US" sz="1300" dirty="0"/>
          </a:p>
        </p:txBody>
      </p:sp>
      <p:sp>
        <p:nvSpPr>
          <p:cNvPr id="38" name="Shape 35"/>
          <p:cNvSpPr/>
          <p:nvPr/>
        </p:nvSpPr>
        <p:spPr>
          <a:xfrm>
            <a:off x="4023360" y="4928616"/>
            <a:ext cx="2194560" cy="1152144"/>
          </a:xfrm>
          <a:prstGeom prst="rect">
            <a:avLst/>
          </a:prstGeom>
          <a:solidFill>
            <a:srgbClr val="EEF1F6"/>
          </a:solidFill>
          <a:ln w="12700">
            <a:solidFill>
              <a:srgbClr val="14213D"/>
            </a:solidFill>
            <a:prstDash val="solid"/>
          </a:ln>
        </p:spPr>
      </p:sp>
      <p:sp>
        <p:nvSpPr>
          <p:cNvPr id="39" name="Shape 36"/>
          <p:cNvSpPr/>
          <p:nvPr/>
        </p:nvSpPr>
        <p:spPr>
          <a:xfrm>
            <a:off x="4023360" y="4928616"/>
            <a:ext cx="2194560" cy="329184"/>
          </a:xfrm>
          <a:prstGeom prst="rect">
            <a:avLst/>
          </a:prstGeom>
          <a:solidFill>
            <a:srgbClr val="14213D"/>
          </a:solidFill>
          <a:ln w="12700">
            <a:solidFill>
              <a:srgbClr val="14213D"/>
            </a:solidFill>
            <a:prstDash val="solid"/>
          </a:ln>
        </p:spPr>
      </p:sp>
      <p:sp>
        <p:nvSpPr>
          <p:cNvPr id="40" name="Text 37"/>
          <p:cNvSpPr txBox="1"/>
          <p:nvPr/>
        </p:nvSpPr>
        <p:spPr>
          <a:xfrm>
            <a:off x="4114800" y="4928616"/>
            <a:ext cx="2011680" cy="329184"/>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main</a:t>
            </a:r>
            <a:endParaRPr lang="en-US" sz="1200" dirty="0"/>
          </a:p>
        </p:txBody>
      </p:sp>
      <p:sp>
        <p:nvSpPr>
          <p:cNvPr id="41" name="Text 38"/>
          <p:cNvSpPr txBox="1"/>
          <p:nvPr/>
        </p:nvSpPr>
        <p:spPr>
          <a:xfrm>
            <a:off x="4069080" y="530352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p>
        </p:txBody>
      </p:sp>
      <p:sp>
        <p:nvSpPr>
          <p:cNvPr id="42" name="Shape 39"/>
          <p:cNvSpPr/>
          <p:nvPr/>
        </p:nvSpPr>
        <p:spPr>
          <a:xfrm>
            <a:off x="5074920" y="5303520"/>
            <a:ext cx="1051560" cy="310896"/>
          </a:xfrm>
          <a:prstGeom prst="rect">
            <a:avLst/>
          </a:prstGeom>
          <a:solidFill>
            <a:srgbClr val="FFFFFF"/>
          </a:solidFill>
          <a:ln w="9525">
            <a:solidFill>
              <a:srgbClr val="8A94AB"/>
            </a:solidFill>
            <a:prstDash val="solid"/>
          </a:ln>
        </p:spPr>
      </p:sp>
      <p:sp>
        <p:nvSpPr>
          <p:cNvPr id="43" name="Text 40"/>
          <p:cNvSpPr txBox="1"/>
          <p:nvPr/>
        </p:nvSpPr>
        <p:spPr>
          <a:xfrm>
            <a:off x="5074920" y="5303520"/>
            <a:ext cx="105156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4" name="Text 41"/>
          <p:cNvSpPr txBox="1"/>
          <p:nvPr/>
        </p:nvSpPr>
        <p:spPr>
          <a:xfrm>
            <a:off x="4069080" y="5669280"/>
            <a:ext cx="91440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k</a:t>
            </a:r>
            <a:endParaRPr lang="en-US" sz="1400" dirty="0"/>
          </a:p>
        </p:txBody>
      </p:sp>
      <p:sp>
        <p:nvSpPr>
          <p:cNvPr id="45" name="Shape 42"/>
          <p:cNvSpPr/>
          <p:nvPr/>
        </p:nvSpPr>
        <p:spPr>
          <a:xfrm>
            <a:off x="5074920" y="5669280"/>
            <a:ext cx="1051560" cy="310896"/>
          </a:xfrm>
          <a:prstGeom prst="rect">
            <a:avLst/>
          </a:prstGeom>
          <a:solidFill>
            <a:srgbClr val="E6F4EC"/>
          </a:solidFill>
          <a:ln w="9525">
            <a:solidFill>
              <a:srgbClr val="8A94AB"/>
            </a:solidFill>
            <a:prstDash val="solid"/>
          </a:ln>
        </p:spPr>
      </p:sp>
      <p:sp>
        <p:nvSpPr>
          <p:cNvPr id="46" name="Text 43"/>
          <p:cNvSpPr txBox="1"/>
          <p:nvPr/>
        </p:nvSpPr>
        <p:spPr>
          <a:xfrm>
            <a:off x="5074920" y="5669280"/>
            <a:ext cx="1051560" cy="310896"/>
          </a:xfrm>
          <a:prstGeom prst="rect">
            <a:avLst/>
          </a:prstGeom>
          <a:noFill/>
          <a:ln/>
        </p:spPr>
        <p:txBody>
          <a:bodyPr wrap="square" lIns="0" tIns="0" rIns="0" bIns="0" rtlCol="0" anchor="ctr"/>
          <a:lstStyle/>
          <a:p>
            <a:pPr algn="ctr" indent="0" marL="0">
              <a:buNone/>
            </a:pPr>
            <a:r>
              <a:rPr lang="en-US" sz="1400" b="1" dirty="0">
                <a:solidFill>
                  <a:srgbClr val="1F7A50"/>
                </a:solidFill>
                <a:latin typeface="Courier New" pitchFamily="34" charset="0"/>
                <a:ea typeface="Courier New" pitchFamily="34" charset="-122"/>
                <a:cs typeface="Courier New" pitchFamily="34" charset="-120"/>
              </a:rPr>
              <a:t>10</a:t>
            </a:r>
            <a:endParaRPr lang="en-US" sz="1400" dirty="0"/>
          </a:p>
        </p:txBody>
      </p:sp>
      <p:sp>
        <p:nvSpPr>
          <p:cNvPr id="47" name="Shape 44"/>
          <p:cNvSpPr/>
          <p:nvPr/>
        </p:nvSpPr>
        <p:spPr>
          <a:xfrm>
            <a:off x="4023360" y="3410712"/>
            <a:ext cx="2194560" cy="1152144"/>
          </a:xfrm>
          <a:prstGeom prst="rect">
            <a:avLst/>
          </a:prstGeom>
          <a:solidFill>
            <a:srgbClr val="EEF1F6"/>
          </a:solidFill>
          <a:ln w="12700">
            <a:solidFill>
              <a:srgbClr val="14213D"/>
            </a:solidFill>
            <a:prstDash val="solid"/>
          </a:ln>
        </p:spPr>
      </p:sp>
      <p:sp>
        <p:nvSpPr>
          <p:cNvPr id="48" name="Shape 45"/>
          <p:cNvSpPr/>
          <p:nvPr/>
        </p:nvSpPr>
        <p:spPr>
          <a:xfrm>
            <a:off x="4023360" y="3410712"/>
            <a:ext cx="2194560" cy="329184"/>
          </a:xfrm>
          <a:prstGeom prst="rect">
            <a:avLst/>
          </a:prstGeom>
          <a:solidFill>
            <a:srgbClr val="FCA311"/>
          </a:solidFill>
          <a:ln w="12700">
            <a:solidFill>
              <a:srgbClr val="14213D"/>
            </a:solidFill>
            <a:prstDash val="solid"/>
          </a:ln>
        </p:spPr>
      </p:sp>
      <p:sp>
        <p:nvSpPr>
          <p:cNvPr id="49" name="Text 46"/>
          <p:cNvSpPr txBox="1"/>
          <p:nvPr/>
        </p:nvSpPr>
        <p:spPr>
          <a:xfrm>
            <a:off x="4114800" y="3410712"/>
            <a:ext cx="2011680" cy="329184"/>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Update</a:t>
            </a:r>
            <a:endParaRPr lang="en-US" sz="1200" dirty="0"/>
          </a:p>
        </p:txBody>
      </p:sp>
      <p:sp>
        <p:nvSpPr>
          <p:cNvPr id="50" name="Text 47"/>
          <p:cNvSpPr txBox="1"/>
          <p:nvPr/>
        </p:nvSpPr>
        <p:spPr>
          <a:xfrm>
            <a:off x="4069080" y="3785616"/>
            <a:ext cx="64008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arr</a:t>
            </a:r>
            <a:endParaRPr lang="en-US" sz="1400" dirty="0"/>
          </a:p>
        </p:txBody>
      </p:sp>
      <p:sp>
        <p:nvSpPr>
          <p:cNvPr id="51" name="Shape 48"/>
          <p:cNvSpPr/>
          <p:nvPr/>
        </p:nvSpPr>
        <p:spPr>
          <a:xfrm>
            <a:off x="4800600" y="3785616"/>
            <a:ext cx="1325880" cy="310896"/>
          </a:xfrm>
          <a:prstGeom prst="rect">
            <a:avLst/>
          </a:prstGeom>
          <a:solidFill>
            <a:srgbClr val="FFFFFF"/>
          </a:solidFill>
          <a:ln w="9525">
            <a:solidFill>
              <a:srgbClr val="8A94AB"/>
            </a:solidFill>
            <a:prstDash val="solid"/>
          </a:ln>
        </p:spPr>
      </p:sp>
      <p:sp>
        <p:nvSpPr>
          <p:cNvPr id="52" name="Text 49"/>
          <p:cNvSpPr txBox="1"/>
          <p:nvPr/>
        </p:nvSpPr>
        <p:spPr>
          <a:xfrm>
            <a:off x="4800600" y="3785616"/>
            <a:ext cx="1325880" cy="310896"/>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3" name="Text 50"/>
          <p:cNvSpPr txBox="1"/>
          <p:nvPr/>
        </p:nvSpPr>
        <p:spPr>
          <a:xfrm>
            <a:off x="4069080" y="4151376"/>
            <a:ext cx="640080" cy="310896"/>
          </a:xfrm>
          <a:prstGeom prst="rect">
            <a:avLst/>
          </a:prstGeom>
          <a:noFill/>
          <a:ln/>
        </p:spPr>
        <p:txBody>
          <a:bodyPr wrap="square" lIns="0" tIns="0" rIns="0" bIns="0" rtlCol="0" anchor="ct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n</a:t>
            </a:r>
            <a:endParaRPr lang="en-US" sz="1400" dirty="0"/>
          </a:p>
        </p:txBody>
      </p:sp>
      <p:sp>
        <p:nvSpPr>
          <p:cNvPr id="54" name="Shape 51"/>
          <p:cNvSpPr/>
          <p:nvPr/>
        </p:nvSpPr>
        <p:spPr>
          <a:xfrm>
            <a:off x="4800600" y="4151376"/>
            <a:ext cx="1325880" cy="310896"/>
          </a:xfrm>
          <a:prstGeom prst="rect">
            <a:avLst/>
          </a:prstGeom>
          <a:solidFill>
            <a:srgbClr val="FFF1D6"/>
          </a:solidFill>
          <a:ln w="9525">
            <a:solidFill>
              <a:srgbClr val="8A94AB"/>
            </a:solidFill>
            <a:prstDash val="solid"/>
          </a:ln>
        </p:spPr>
      </p:sp>
      <p:sp>
        <p:nvSpPr>
          <p:cNvPr id="55" name="Text 52"/>
          <p:cNvSpPr txBox="1"/>
          <p:nvPr/>
        </p:nvSpPr>
        <p:spPr>
          <a:xfrm>
            <a:off x="4800600" y="4151376"/>
            <a:ext cx="1325880" cy="310896"/>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10 → 0</a:t>
            </a:r>
            <a:endParaRPr lang="en-US" sz="1300" dirty="0"/>
          </a:p>
        </p:txBody>
      </p:sp>
      <p:sp>
        <p:nvSpPr>
          <p:cNvPr id="56" name="Shape 53"/>
          <p:cNvSpPr/>
          <p:nvPr/>
        </p:nvSpPr>
        <p:spPr>
          <a:xfrm>
            <a:off x="6583680" y="4343400"/>
            <a:ext cx="457200" cy="411480"/>
          </a:xfrm>
          <a:prstGeom prst="rect">
            <a:avLst/>
          </a:prstGeom>
          <a:solidFill>
            <a:srgbClr val="FFF1D6"/>
          </a:solidFill>
          <a:ln w="9525">
            <a:solidFill>
              <a:srgbClr val="8A94AB"/>
            </a:solidFill>
            <a:prstDash val="solid"/>
          </a:ln>
        </p:spPr>
      </p:sp>
      <p:sp>
        <p:nvSpPr>
          <p:cNvPr id="57" name="Text 54"/>
          <p:cNvSpPr txBox="1"/>
          <p:nvPr/>
        </p:nvSpPr>
        <p:spPr>
          <a:xfrm>
            <a:off x="6583680" y="4343400"/>
            <a:ext cx="457200" cy="41148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99</a:t>
            </a:r>
            <a:endParaRPr lang="en-US" sz="1400" dirty="0"/>
          </a:p>
        </p:txBody>
      </p:sp>
      <p:sp>
        <p:nvSpPr>
          <p:cNvPr id="58" name="Shape 55"/>
          <p:cNvSpPr/>
          <p:nvPr/>
        </p:nvSpPr>
        <p:spPr>
          <a:xfrm>
            <a:off x="7040880" y="4343400"/>
            <a:ext cx="457200" cy="411480"/>
          </a:xfrm>
          <a:prstGeom prst="rect">
            <a:avLst/>
          </a:prstGeom>
          <a:solidFill>
            <a:srgbClr val="FFFFFF"/>
          </a:solidFill>
          <a:ln w="9525">
            <a:solidFill>
              <a:srgbClr val="8A94AB"/>
            </a:solidFill>
            <a:prstDash val="solid"/>
          </a:ln>
        </p:spPr>
      </p:sp>
      <p:sp>
        <p:nvSpPr>
          <p:cNvPr id="59" name="Text 56"/>
          <p:cNvSpPr txBox="1"/>
          <p:nvPr/>
        </p:nvSpPr>
        <p:spPr>
          <a:xfrm>
            <a:off x="7040880" y="4343400"/>
            <a:ext cx="457200" cy="41148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60" name="Shape 57"/>
          <p:cNvSpPr/>
          <p:nvPr/>
        </p:nvSpPr>
        <p:spPr>
          <a:xfrm>
            <a:off x="7498080" y="4343400"/>
            <a:ext cx="457200" cy="411480"/>
          </a:xfrm>
          <a:prstGeom prst="rect">
            <a:avLst/>
          </a:prstGeom>
          <a:solidFill>
            <a:srgbClr val="FFFFFF"/>
          </a:solidFill>
          <a:ln w="9525">
            <a:solidFill>
              <a:srgbClr val="8A94AB"/>
            </a:solidFill>
            <a:prstDash val="solid"/>
          </a:ln>
        </p:spPr>
      </p:sp>
      <p:sp>
        <p:nvSpPr>
          <p:cNvPr id="61" name="Text 58"/>
          <p:cNvSpPr txBox="1"/>
          <p:nvPr/>
        </p:nvSpPr>
        <p:spPr>
          <a:xfrm>
            <a:off x="7498080" y="4343400"/>
            <a:ext cx="457200" cy="41148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62" name="Shape 59"/>
          <p:cNvSpPr/>
          <p:nvPr/>
        </p:nvSpPr>
        <p:spPr>
          <a:xfrm>
            <a:off x="6126480" y="3941064"/>
            <a:ext cx="438912" cy="539496"/>
          </a:xfrm>
          <a:prstGeom prst="line">
            <a:avLst/>
          </a:prstGeom>
          <a:noFill/>
          <a:ln w="15875">
            <a:solidFill>
              <a:srgbClr val="B7791F"/>
            </a:solidFill>
            <a:prstDash val="solid"/>
            <a:tailEnd type="triangle"/>
          </a:ln>
        </p:spPr>
      </p:sp>
      <p:sp>
        <p:nvSpPr>
          <p:cNvPr id="63" name="Shape 60"/>
          <p:cNvSpPr/>
          <p:nvPr/>
        </p:nvSpPr>
        <p:spPr>
          <a:xfrm flipV="1">
            <a:off x="6126480" y="4636008"/>
            <a:ext cx="438912" cy="822960"/>
          </a:xfrm>
          <a:prstGeom prst="line">
            <a:avLst/>
          </a:prstGeom>
          <a:noFill/>
          <a:ln w="15875">
            <a:solidFill>
              <a:srgbClr val="14213D"/>
            </a:solidFill>
            <a:prstDash val="solid"/>
            <a:tailEnd type="triangle"/>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138160" y="2971800"/>
          <a:ext cx="3520440" cy="914400"/>
        </p:xfrm>
        <a:graphic>
          <a:graphicData uri="http://schemas.openxmlformats.org/drawingml/2006/table">
            <a:tbl>
              <a:tblPr/>
              <a:tblGrid>
                <a:gridCol w="1143000"/>
                <a:gridCol w="1188720"/>
                <a:gridCol w="118872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prints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returns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F(2)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F(3)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 + 10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65" name="Shape 61"/>
          <p:cNvSpPr/>
          <p:nvPr/>
        </p:nvSpPr>
        <p:spPr>
          <a:xfrm>
            <a:off x="8138160" y="4754880"/>
            <a:ext cx="3520440" cy="1325880"/>
          </a:xfrm>
          <a:prstGeom prst="roundRect">
            <a:avLst>
              <a:gd name="adj" fmla="val 8276"/>
            </a:avLst>
          </a:prstGeom>
          <a:solidFill>
            <a:srgbClr val="FFF6E3"/>
          </a:solidFill>
          <a:ln w="12700">
            <a:solidFill>
              <a:srgbClr val="FFF6E3"/>
            </a:solidFill>
            <a:prstDash val="solid"/>
          </a:ln>
        </p:spPr>
      </p:sp>
      <p:pic>
        <p:nvPicPr>
          <p:cNvPr id="66" name="Image 0" descr="preencoded.png">    </p:cNvPr>
          <p:cNvPicPr>
            <a:picLocks noChangeAspect="1"/>
          </p:cNvPicPr>
          <p:nvPr/>
        </p:nvPicPr>
        <p:blipFill>
          <a:blip r:embed="rId1"/>
          <a:stretch>
            <a:fillRect/>
          </a:stretch>
        </p:blipFill>
        <p:spPr>
          <a:xfrm>
            <a:off x="8412480" y="5143500"/>
            <a:ext cx="548640" cy="548640"/>
          </a:xfrm>
          <a:prstGeom prst="rect">
            <a:avLst/>
          </a:prstGeom>
        </p:spPr>
      </p:pic>
      <p:sp>
        <p:nvSpPr>
          <p:cNvPr id="67" name="Text 62"/>
          <p:cNvSpPr txBox="1"/>
          <p:nvPr/>
        </p:nvSpPr>
        <p:spPr>
          <a:xfrm>
            <a:off x="9235440" y="4828032"/>
            <a:ext cx="2148840" cy="11795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Left to right: </a:t>
            </a:r>
            <a:pPr indent="0" marL="0">
              <a:buNone/>
            </a:pPr>
            <a:r>
              <a:rPr lang="en-US" sz="1400" dirty="0">
                <a:solidFill>
                  <a:srgbClr val="333B4F"/>
                </a:solidFill>
                <a:latin typeface="Calibri" pitchFamily="34" charset="0"/>
                <a:ea typeface="Calibri" pitchFamily="34" charset="-122"/>
                <a:cs typeface="Calibri" pitchFamily="34" charset="-120"/>
              </a:rPr>
              <a:t>both calls print before WriteLine.</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EXERCISES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(pairs, 25 minutes)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Shape 4"/>
          <p:cNvSpPr/>
          <p:nvPr/>
        </p:nvSpPr>
        <p:spPr>
          <a:xfrm>
            <a:off x="548640" y="1645920"/>
            <a:ext cx="54406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E1 · Rectangle ★</a:t>
            </a:r>
            <a:endParaRPr lang="en-US" sz="1700" dirty="0"/>
          </a:p>
        </p:txBody>
      </p:sp>
      <p:sp>
        <p:nvSpPr>
          <p:cNvPr id="11" name="Text 7"/>
          <p:cNvSpPr txBox="1"/>
          <p:nvPr/>
        </p:nvSpPr>
        <p:spPr>
          <a:xfrm>
            <a:off x="77724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Area(w, h) and Perimeter(w, h) return doubles. Read w and h, print both with F2.</a:t>
            </a:r>
            <a:endParaRPr lang="en-US" sz="1500" dirty="0"/>
          </a:p>
        </p:txBody>
      </p:sp>
      <p:sp>
        <p:nvSpPr>
          <p:cNvPr id="12" name="Shape 8"/>
          <p:cNvSpPr/>
          <p:nvPr/>
        </p:nvSpPr>
        <p:spPr>
          <a:xfrm>
            <a:off x="6217920" y="1645920"/>
            <a:ext cx="544068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2F6FB3"/>
          </a:solidFill>
          <a:ln w="12700">
            <a:solidFill>
              <a:srgbClr val="2F6FB3"/>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E2 · Box of symbols ★</a:t>
            </a:r>
            <a:endParaRPr lang="en-US" sz="1700" dirty="0"/>
          </a:p>
        </p:txBody>
      </p:sp>
      <p:sp>
        <p:nvSpPr>
          <p:cNvPr id="16" name="Text 11"/>
          <p:cNvSpPr txBox="1"/>
          <p:nvPr/>
        </p:nvSpPr>
        <p:spPr>
          <a:xfrm>
            <a:off x="644652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PrintBox(width, height, symbol = '#') prints a filled rectangle; reuse PrintLine from Example 1.</a:t>
            </a:r>
            <a:endParaRPr lang="en-US" sz="1500" dirty="0"/>
          </a:p>
        </p:txBody>
      </p:sp>
      <p:sp>
        <p:nvSpPr>
          <p:cNvPr id="17" name="Shape 12"/>
          <p:cNvSpPr/>
          <p:nvPr/>
        </p:nvSpPr>
        <p:spPr>
          <a:xfrm>
            <a:off x="548640" y="3886200"/>
            <a:ext cx="544068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777240" y="4114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E3 · Temperature table ★★</a:t>
            </a:r>
            <a:endParaRPr lang="en-US" sz="1700" dirty="0"/>
          </a:p>
        </p:txBody>
      </p:sp>
      <p:sp>
        <p:nvSpPr>
          <p:cNvPr id="21" name="Text 15"/>
          <p:cNvSpPr txBox="1"/>
          <p:nvPr/>
        </p:nvSpPr>
        <p:spPr>
          <a:xfrm>
            <a:off x="77724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CelsiusToFahrenheit(c) returns c · 9/5 + 32. Print a table for −10, 0, 10, …, 40 °C.</a:t>
            </a:r>
            <a:endParaRPr lang="en-US" sz="1500" dirty="0"/>
          </a:p>
        </p:txBody>
      </p:sp>
      <p:sp>
        <p:nvSpPr>
          <p:cNvPr id="22" name="Shape 16"/>
          <p:cNvSpPr/>
          <p:nvPr/>
        </p:nvSpPr>
        <p:spPr>
          <a:xfrm>
            <a:off x="6217920" y="3886200"/>
            <a:ext cx="544068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6446520" y="4114800"/>
            <a:ext cx="566928" cy="566928"/>
          </a:xfrm>
          <a:prstGeom prst="ellipse">
            <a:avLst/>
          </a:prstGeom>
          <a:solidFill>
            <a:srgbClr val="2F6FB3"/>
          </a:solidFill>
          <a:ln w="12700">
            <a:solidFill>
              <a:srgbClr val="2F6FB3"/>
            </a:solidFill>
            <a:prstDash val="solid"/>
          </a:ln>
        </p:spPr>
      </p:sp>
      <p:pic>
        <p:nvPicPr>
          <p:cNvPr id="24" name="Image 3" descr="preencoded.png">    </p:cNvPr>
          <p:cNvPicPr>
            <a:picLocks noChangeAspect="1"/>
          </p:cNvPicPr>
          <p:nvPr/>
        </p:nvPicPr>
        <p:blipFill>
          <a:blip r:embed="rId4"/>
          <a:stretch>
            <a:fillRect/>
          </a:stretch>
        </p:blipFill>
        <p:spPr>
          <a:xfrm>
            <a:off x="6593921" y="4262201"/>
            <a:ext cx="272125" cy="272125"/>
          </a:xfrm>
          <a:prstGeom prst="rect">
            <a:avLst/>
          </a:prstGeom>
        </p:spPr>
      </p:pic>
      <p:sp>
        <p:nvSpPr>
          <p:cNvPr id="25" name="Text 18"/>
          <p:cNvSpPr txBox="1"/>
          <p:nvPr/>
        </p:nvSpPr>
        <p:spPr>
          <a:xfrm>
            <a:off x="713232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E4 · Sort three ★★</a:t>
            </a:r>
            <a:endParaRPr lang="en-US" sz="1700" dirty="0"/>
          </a:p>
        </p:txBody>
      </p:sp>
      <p:sp>
        <p:nvSpPr>
          <p:cNvPr id="26" name="Text 19"/>
          <p:cNvSpPr txBox="1"/>
          <p:nvPr/>
        </p:nvSpPr>
        <p:spPr>
          <a:xfrm>
            <a:off x="644652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SortThree(ref a, ref b, ref c) puts three ints in ascending order using Swap(ref, ref).</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Before next week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Shape 4"/>
          <p:cNvSpPr/>
          <p:nvPr/>
        </p:nvSpPr>
        <p:spPr>
          <a:xfrm>
            <a:off x="548640" y="1645920"/>
            <a:ext cx="5440680" cy="1874520"/>
          </a:xfrm>
          <a:prstGeom prst="roundRect">
            <a:avLst>
              <a:gd name="adj" fmla="val 5854"/>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H1 · Days in a month ★★</a:t>
            </a:r>
            <a:endParaRPr lang="en-US" sz="1700" dirty="0"/>
          </a:p>
        </p:txBody>
      </p:sp>
      <p:sp>
        <p:nvSpPr>
          <p:cNvPr id="11" name="Text 7"/>
          <p:cNvSpPr txBox="1"/>
          <p:nvPr/>
        </p:nvSpPr>
        <p:spPr>
          <a:xfrm>
            <a:off x="77724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DaysInMonth(month, year) uses IsLeapYear. Print all 12 months of 2024 and the total (366).</a:t>
            </a:r>
            <a:endParaRPr lang="en-US" sz="1400" dirty="0"/>
          </a:p>
        </p:txBody>
      </p:sp>
      <p:sp>
        <p:nvSpPr>
          <p:cNvPr id="12" name="Shape 8"/>
          <p:cNvSpPr/>
          <p:nvPr/>
        </p:nvSpPr>
        <p:spPr>
          <a:xfrm>
            <a:off x="6217920" y="1645920"/>
            <a:ext cx="5440680" cy="1874520"/>
          </a:xfrm>
          <a:prstGeom prst="roundRect">
            <a:avLst>
              <a:gd name="adj" fmla="val 5854"/>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H2 · Power ★</a:t>
            </a:r>
            <a:endParaRPr lang="en-US" sz="1700" dirty="0"/>
          </a:p>
        </p:txBody>
      </p:sp>
      <p:sp>
        <p:nvSpPr>
          <p:cNvPr id="16" name="Text 11"/>
          <p:cNvSpPr txBox="1"/>
          <p:nvPr/>
        </p:nvSpPr>
        <p:spPr>
          <a:xfrm>
            <a:off x="644652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Power(x, exponent = 2) with a loop (no Math.Pow). Test Power(3), Power(2, 10), Power(1.5, 3).</a:t>
            </a:r>
            <a:endParaRPr lang="en-US" sz="1400" dirty="0"/>
          </a:p>
        </p:txBody>
      </p:sp>
      <p:sp>
        <p:nvSpPr>
          <p:cNvPr id="17" name="Shape 12"/>
          <p:cNvSpPr/>
          <p:nvPr/>
        </p:nvSpPr>
        <p:spPr>
          <a:xfrm>
            <a:off x="548640" y="3657600"/>
            <a:ext cx="5440680" cy="1874520"/>
          </a:xfrm>
          <a:prstGeom prst="roundRect">
            <a:avLst>
              <a:gd name="adj" fmla="val 5854"/>
            </a:avLst>
          </a:prstGeom>
          <a:solidFill>
            <a:srgbClr val="EEF1F6"/>
          </a:solidFill>
          <a:ln w="12700">
            <a:solidFill>
              <a:srgbClr val="EEF1F6"/>
            </a:solidFill>
            <a:prstDash val="solid"/>
          </a:ln>
        </p:spPr>
      </p:sp>
      <p:sp>
        <p:nvSpPr>
          <p:cNvPr id="18" name="Shape 13"/>
          <p:cNvSpPr/>
          <p:nvPr/>
        </p:nvSpPr>
        <p:spPr>
          <a:xfrm>
            <a:off x="777240" y="38862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033601"/>
            <a:ext cx="272125" cy="272125"/>
          </a:xfrm>
          <a:prstGeom prst="rect">
            <a:avLst/>
          </a:prstGeom>
        </p:spPr>
      </p:pic>
      <p:sp>
        <p:nvSpPr>
          <p:cNvPr id="20" name="Text 14"/>
          <p:cNvSpPr txBox="1"/>
          <p:nvPr/>
        </p:nvSpPr>
        <p:spPr>
          <a:xfrm>
            <a:off x="146304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H3 · Area overloads ★★</a:t>
            </a:r>
            <a:endParaRPr lang="en-US" sz="1700" dirty="0"/>
          </a:p>
        </p:txBody>
      </p:sp>
      <p:sp>
        <p:nvSpPr>
          <p:cNvPr id="21" name="Text 15"/>
          <p:cNvSpPr txBox="1"/>
          <p:nvPr/>
        </p:nvSpPr>
        <p:spPr>
          <a:xfrm>
            <a:off x="77724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Area(r) circle, Area(w, h) rectangle, Area(a, b, c) triangle (Heron). Program class.</a:t>
            </a:r>
            <a:endParaRPr lang="en-US" sz="1400" dirty="0"/>
          </a:p>
        </p:txBody>
      </p:sp>
      <p:sp>
        <p:nvSpPr>
          <p:cNvPr id="22" name="Shape 16"/>
          <p:cNvSpPr/>
          <p:nvPr/>
        </p:nvSpPr>
        <p:spPr>
          <a:xfrm>
            <a:off x="6217920" y="3657600"/>
            <a:ext cx="5440680" cy="1874520"/>
          </a:xfrm>
          <a:prstGeom prst="roundRect">
            <a:avLst>
              <a:gd name="adj" fmla="val 5854"/>
            </a:avLst>
          </a:prstGeom>
          <a:solidFill>
            <a:srgbClr val="EEF1F6"/>
          </a:solidFill>
          <a:ln w="12700">
            <a:solidFill>
              <a:srgbClr val="EEF1F6"/>
            </a:solidFill>
            <a:prstDash val="solid"/>
          </a:ln>
        </p:spPr>
      </p:sp>
      <p:sp>
        <p:nvSpPr>
          <p:cNvPr id="23" name="Shape 17"/>
          <p:cNvSpPr/>
          <p:nvPr/>
        </p:nvSpPr>
        <p:spPr>
          <a:xfrm>
            <a:off x="6446520" y="38862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6593921" y="4033601"/>
            <a:ext cx="272125" cy="272125"/>
          </a:xfrm>
          <a:prstGeom prst="rect">
            <a:avLst/>
          </a:prstGeom>
        </p:spPr>
      </p:pic>
      <p:sp>
        <p:nvSpPr>
          <p:cNvPr id="25" name="Text 18"/>
          <p:cNvSpPr txBox="1"/>
          <p:nvPr/>
        </p:nvSpPr>
        <p:spPr>
          <a:xfrm>
            <a:off x="713232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H4 · Sorting method ★★</a:t>
            </a:r>
            <a:endParaRPr lang="en-US" sz="1700" dirty="0"/>
          </a:p>
        </p:txBody>
      </p:sp>
      <p:sp>
        <p:nvSpPr>
          <p:cNvPr id="26" name="Text 19"/>
          <p:cNvSpPr txBox="1"/>
          <p:nvPr/>
        </p:nvSpPr>
        <p:spPr>
          <a:xfrm>
            <a:off x="644652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BubbleSort(int[] a) (Week 10) and PrintArray(int[] a). Sort { 31, 12, 47, 8, 25, 19 }.</a:t>
            </a:r>
            <a:endParaRPr lang="en-US" sz="1400" dirty="0"/>
          </a:p>
        </p:txBody>
      </p:sp>
      <p:sp>
        <p:nvSpPr>
          <p:cNvPr id="27" name="Shape 20"/>
          <p:cNvSpPr/>
          <p:nvPr/>
        </p:nvSpPr>
        <p:spPr>
          <a:xfrm>
            <a:off x="548640" y="5669280"/>
            <a:ext cx="11109960" cy="457200"/>
          </a:xfrm>
          <a:prstGeom prst="roundRect">
            <a:avLst>
              <a:gd name="adj" fmla="val 24000"/>
            </a:avLst>
          </a:prstGeom>
          <a:solidFill>
            <a:srgbClr val="FFF6E3"/>
          </a:solidFill>
          <a:ln w="12700">
            <a:solidFill>
              <a:srgbClr val="FFF6E3"/>
            </a:solidFill>
            <a:prstDash val="solid"/>
          </a:ln>
        </p:spPr>
      </p:sp>
      <p:pic>
        <p:nvPicPr>
          <p:cNvPr id="28" name="Image 4" descr="preencoded.png">    </p:cNvPr>
          <p:cNvPicPr>
            <a:picLocks noChangeAspect="1"/>
          </p:cNvPicPr>
          <p:nvPr/>
        </p:nvPicPr>
        <p:blipFill>
          <a:blip r:embed="rId5"/>
          <a:stretch>
            <a:fillRect/>
          </a:stretch>
        </p:blipFill>
        <p:spPr>
          <a:xfrm>
            <a:off x="822960" y="5806440"/>
            <a:ext cx="182880" cy="182880"/>
          </a:xfrm>
          <a:prstGeom prst="rect">
            <a:avLst/>
          </a:prstGeom>
        </p:spPr>
      </p:pic>
      <p:sp>
        <p:nvSpPr>
          <p:cNvPr id="29" name="Text 21"/>
          <p:cNvSpPr txBox="1"/>
          <p:nvPr/>
        </p:nvSpPr>
        <p:spPr>
          <a:xfrm>
            <a:off x="1280160" y="5742432"/>
            <a:ext cx="10104120" cy="3108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Submit the four Program.cs files on the course group; include one console run for each.</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method is a named block of code: write once, call many times (DRY).</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Header: static, return type (or void), PascalCase name, parameter list. Local functions go at the bottom.</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Each call gets a new stack frame; arguments are COPIED into parameters; return removes the frame.</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Value parameters: the caller's variable never changes. Return the result instead.</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Arrays: the reference is copied, so elements can change. ref = alias (Swap); out = extra results.</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Defaults, named arguments and overloading make methods flexible. Debug calls with F11.</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Week 13: return values, void methods and scope</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12</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12 – Functions (Methods): Definition, Calling, Parameter Passing</dc:title>
  <dc:subject>PptxGenJS Presentation</dc:subject>
  <dc:creator>MCMP113</dc:creator>
  <cp:lastModifiedBy>MCMP113</cp:lastModifiedBy>
  <cp:revision>1</cp:revision>
  <dcterms:created xsi:type="dcterms:W3CDTF">2026-10-25T13:01:13Z</dcterms:created>
  <dcterms:modified xsi:type="dcterms:W3CDTF">2026-10-25T13:01:13Z</dcterms:modified>
</cp:coreProperties>
</file>