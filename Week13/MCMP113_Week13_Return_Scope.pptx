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13 (about 3 × 50 min). The terminal shows a real run of today's Example 6: the call stack of Factorial(4). Each "call" line is a method that has started but not finished yet; each "return" line hands a value back to the call below it. Opening question: "Last week we wrote methods. What exactly happens when a method finishes? Where does its result go, and what happens to its variables?" That is today: return values, void methods, recursion and scope. Remind students: methods are local functions placed at the BOTTOM of Program.cs, each with a one-line comment (course rule since Week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Six outcomes. Outcomes 4 (recursion traces) and 6 (scope errors) are typical final-exam questions: the Week 15 practice final has a recursion trace and a "spot the scope error" question. The T.C. Kimlik check from Week 1 finally becomes a real, reusable method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Recall the parts of a method header: the return type, the name (PascalCase verb), the parameter list. The call Square(7) copies the ARGUMENT 7 into the PARAMETER x (pass by value). Ask: "What is the return type of PrintTitle?" (void). "Can I write int y = PrintTitle(\"A\");?" No: a void method has no value (we will see the real compiler error CS0029 in a moment). Today we look at the right half of the picture: what comes BACK from a method, and which variables a method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40 min. Key message: a value-returning method is an EXPRESSION (its call has a value); a void method is a STATEMENT (it does something). We finish Part 1 with the T.C. Kimlik check as a bool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Walk through the diagram: (1) the caller reaches Square(7); (2) 7 is copied into x and the caller WAITS; (3) return x * x computes 49 and ends Square; (4) the call expression is replaced by 49, so the line becomes int sq = 49. Because the call is a value, it can stand anywhere an int can stand: Square(3) + Square(4) = 9 + 16 = 25. Sign shows several return statements: only ONE of them runs per call. Question: what does Sign(0) return? 0 — neither if runs, the last return is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void methods DO something (print, change an array, write a file in Week 14); value-returning methods COMPUTE something and give it back. Design rule for this course: a method that computes should return the result and NOT print it. The caller can then print it, compare it, store it, or test it automatically. A method like PrintAverage that prints inside is useless for "is the average &gt;= 60?" — you cannot get the number back. Calling a void method inside an expression is a compile error: int x = PrintTitle("A"); gives CS0029 Cannot implicitly convert type 'void' to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LetterGrade starts with a GUARD CLAUSE: invalid scores are handled and the method returns at once; the rest of the method can assume 0 ≤ score ≤ 100. The switch expression is the Week 5 example scale; return returns its value directly. In a void method, a plain "return;" leaves early: PrintQuotient never divides by zero. Question: how many return statements run when LetterGrade(105) is called? Exactly one: "invalid". The run shows 105 -&gt;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In Sign without the final return, what happens for n = 0? Neither if runs and the method reaches its closing brace without a value. The compiler refuses: CS0161 not all code paths return a value. Note: the compiler does not reason about values; even if you "know" n is never 0, every path must end with return (or throw). The table lists the other return mistakes we reproduced with dotnet build. CS0266: return n / 2.0 in an int method — the division is double; cast or change the return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 predicate returns bool and is named like a question: IsEven, IsPrime, HasDigit, CanVote. It reads well in an if: if (IsEven(n)). Two style points. (1) Return the condition itself: return n % 2 == 0; instead of if … return true; else return false;. (2) Do not write if (IsEven(n) == true) — IsEven(n) already is a bool. Trap: IsOdd written as n % 2 == 1 is WRONG for negative numbers, because -7 % 2 is -1 in C#. Use n % 2 != 0. The run shows IsEven(-7) = False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This is the algorithm from Week 1 (pseudocode on the left) and Week 4 (digit arithmetic), now a bool method: input a string, output true/false. Guard clause first: wrong length, a non-digit, or a leading 0 → false. Then the 11 characters become 11 digits (id[i] - '0' turns the character '7' into the number 7). The d10 formula can be negative: 7 * oddSum - evenSum. Mod() is the safe modulo from Week 4. Privacy: we only ever use made-up numbers like 12345678950. Never type a real person's ID number into an exercise or upload it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Each test number has a reason: a valid one; a valid one whose d10 formula is NEGATIVE (19090909018: 7·1 − 36 = −29); a wrong last digit; two swapped digits (8 5 9 → 8 5 9 swapped to 5 9); a leading zero; only 10 digits; a letter. With raw % instead of Mod, d10 for 19090909018 would be −9, never equal to a digit, and a correct number would be rejected. All numbers are invented. Ask the class to change one digit of 12345678950 and predict the result (always False: a single changed digit is always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35 min. return gives back exactly ONE value — but that value can be an array or a tuple. Then we combine methods (composition) and discuss what makes a method easy to test (pure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ReadArray creates a NEW array inside the method and returns it. The local variable result dies when the method ends, but the array itself lives on, because the caller now holds a reference to it (Week 9: arrays are reference types). ReverseCopy and EvensOnly do not touch the original: the last line of the run prints data again, unchanged. EvensOnly needs the size of the result before it can create it: pass 1 counts, pass 2 copies. (In Week 14+ you will meet List&lt;int&gt;, which can grow — not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return can give back only one value. Two ways around it: (1) out parameters — the method writes into the caller's variables; you already know this pattern from int.TryParse(text, out int value). Every out parameter must be assigned before the method ends. (2) A tuple (C# 7): (int min, int max) is ONE value with two named parts. The caller can deconstruct it (int min, int max) = MinMax(temps); or keep it whole and use result.min. Recommendation: prefer tuples for new code; they read like math. Use out when an API requires it (TryParse).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An argument can be any expression of the right type — including another method call. C# evaluates the inner call first, then passes its value to the outer call. Max(Max(8, 15), 11): inner Max gives 15, outer Max(15, 11) gives 15. This gives the maximum of three values with a two-parameter method. WithVat(Discount(250, 10)): 10 % off gives 225, then +20 % VAT gives 270. Ask: is WithVat(Discount(p, 10)) the same as Discount(WithVat(p), 10)? Yes here (multiplication is commutative), but not in general (e.g. a fixed shipping fee). Also the out/tuple results from the previous slide: the console shows the real run of Example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A PURE function: (1) its result depends only on its parameters, (2) it changes nothing outside itself (no printing, no changing the caller's array, no global variables). Average is pure: called twice, the same 73.67. CurveAndAverage has a SIDE EFFECT: it adds 5 to every element of the caller's array (arrays are passed as references!). Calling it twice gives 78.67 then 83.67, and one grade is now 101 — a bug that is easy to miss. Pure functions are easy to test (Check(Average(…) == 70)), easy to reuse, safe to call twice. Side effects are sometimes necessary (printing, sorting in place), but make them obvious in the name and the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40 min. Recursion is not a new statement — it is a method call where the called method happens to be the same one. Everything from Part 1 (copy of arguments, return values) still holds; the call stack makes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Mathematics already defines factorial recursively: 0! = 1! = 1, n! = n · (n − 1)!. The C# code is a direct translation. Two parts are REQUIRED: the base case (stops the recursion, answers directly) and the recursive step (calls itself with a SMALLER problem, so the base case will be reached). Analogy: Russian matryoshka dolls — open a doll, find a smaller one, until the smallest doll that does not open. Factorial with a loop (Week 6) is just as good; recursion pays off for problems that are naturally recursive (trees, folders, divide-and-conquer, later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 Draw this on the board as well. Every call gets its own STACK FRAME with its own n. The frames pile up (winding) until the base case Factorial(1) returns 1. Then each frame finishes its multiplication and returns (unwinding): 2·1 = 2, 3·2 = 6, 4·6 = 24. Four different variables called n exist at the same time — one per frame. This is why scope and lifetime matter (Part 4). The console is the real output of FactorialTrace, which prints "call" on entry and "return" on exit, indented by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SumOfDigits: the last digit is n % 10, the rest of the number is n / 10 (Week 7 digit tricks). Base case: a one-digit number is its own digit sum. Gcd is the Week 1 Euclid algorithm: gcd(a, b) = gcd(b, a mod b) until b = 0. Trace Gcd(84, 36) → Gcd(36, 12) → Gcd(12, 0) → 12, the Week 1 homework answer. Note Gcd is TAIL recursive: the recursive call is the last thing it does, so it turns easily into a while loop (Week 7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Fib(n) = Fib(n − 1) + Fib(n − 2) calls itself TWICE. The tree for n = 5 has 15 calls. F(3) is computed twice, F(2) three times, F(1) five times. The number of calls grows like the Fibonacci numbers themselves (about ×1.6 per step): calls(n) = 2·Fib(n + 1) − 1. For n = 5: 2·8 − 1 = 15. Question: how many calls for n = 6? 2·Fib(7) − 1 = 2·13 − 1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table is the real output of Example 7. Both columns of Fibonacci numbers agree (the program checks it and would print MISMATCH otherwise). The recursive version needs 29.9 million calls for n = 35 (about 0.1 s on a lab PC; n = 45 would take minutes), the loop version needs 34 passes. Lesson: recursion is elegant, but naive recursion that recomputes the same values can be exponentially slow. A loop (or remembering computed values — "memoization", a later course) fixes it. The call counter is passed with ref (Week 12) so that all calls share one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Without a base case, Factorial calls itself forever: 5, 4, 3, …, 0, −1, −2, … Every call adds a frame; the stack (about 1 MB per thread) fills up and the process is killed with "Stack overflow." — it cannot be caught with try/catch. The compiler does NOT warn about this program; it builds with 0 warnings. The repeat count in the message (here 174 131) depends on the machine and the build. Checklist for every recursive method: (1) is there a base case? (2) does every call move TOWARDS it? (3) is the depth reasonable (thousands, not millions)? Otherwise use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35 min. Scope = WHERE in the code a name can be used (a compile-time idea). Lifetime = WHEN the variable exists in memory (a run-time idea). For local variables both end at the closing brace of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Read the diagram from the outside in. total is declared in the outermost box, so every inner box can use it. i belongs to the for statement, square to one pass of the loop body. After the loop, neither exists: CS0103. The if-box and the else-box are SIBLINGS: both may declare their own message. The static methods are separate boxes: they see only their parameters and their own locals (and constants), never total — that is the point of static. Question: can the loop body use total? Yes (look out). Can the top level use square? No (look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All three messages were produced by uncommenting the lines of Example 8 one at a time and running dotnet build. CS0103: square and i are used after their block has ended. Fix: declare the variable BEFORE the block if you need it afterwards. CS0136: C# does not allow a nested block to reuse a name of an enclosing block (C and C++ allow this "shadowing" and it causes bugs). Fix: choose another name, e.g. partial. CS0128: two declarations in the same block. Fix: assign instead of declaring again (total = 5;). Exception you will meet: a local FUNCTION may reuse a top-level name for its own parameter (C# 8+), see Example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CountCalls declares calls = 0 every time it runs: the variable is created on entry and destroyed on exit, so it prints 1 three times. A local variable does not remember anything between calls. (To count calls you need a variable that lives longer: a parameter passed with ref, as in Example 7, or a return value the caller keeps.) TryToChange: the parameter value is a local variable initialised with a COPY of points; changing it changes only the copy, which dies at the end of the method (Week 12, pass by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In a top-level program, a NON-static local function can use (capture) the variables of the top-level code: AddBonus reads bonus. Change bonus somewhere far away and the same call AddBonus(70) gives a different result — the dependency is hidden. A static local function can only use its parameters (and constants). AddPoints gets the bonus as a parameter: everything it needs is visible in its header. Trying to use bonus inside it gives CS8421. Another trap with captured variables: calling AddBonus BEFORE the line int bonus = 5; gives CS0165 Use of unassigned local variable 'bonus'. Square(int n) shows that a local function parameter may have the same name as a top-level variable: the parameter hides it inside Square. It compiles, but it is confusing —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 top-level const (const double VatRate = 0.20;) can be used by static local functions because it never changes (Example 5, WithVat). A top-level VARIABLE used by local functions behaves like a global variable: any method may read or change it, in any order. Problems: hidden inputs (the header does not show them), order of declaration matters (CS0165), tests are hard because the result depends on history. Rule for this course: make local functions static; pass what they need as parameters; return what they compute. Exceptions must be justified in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Because pure methods depend only on their arguments, we can check them automatically: call with a known input, compare with the answer you computed by hand, print PASS or FAIL. Pick boundary values: LetterGrade(90) must be AA, LetterGrade(89.5) must be BA, 59.9 must be FF (Week 5 boundary tests!). Check returns its bool so the results can be collected in a bool[] and counted. Professional C# uses test frameworks (xUnit, NUnit, MSTest) with the same idea: Assert.Equal(expected, actual). Run the tests after every change: if something that used to PASS now FAILS, you broke it just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Example 11: IsPrime is written once (trial division up to √n, Week 6) and reused by three other methods. If IsPrime has a bug, it is fixed in one place. PrimesUpTo even uses CountPrimes to know the length of the array it returns. Example 12: string helpers. IsPalindrome reuses Reverse. The conversion pair is tested with a ROUND TRIP: converting there and back must give the start value (compare doubles with a tolerance, Week 4). "Ey Edip Adanada pide ye" is the classic Turkish palindrome.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compile errors are the friendly ones: the compiler tells you the line. The dangerous ones are silent: printing instead of returning, ignoring a return value (Square(5); alone computes and throws away 25), side effects on an array parameter, infinite recursion (builds without warning!). Ask students which of these they have already made in the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Three minutes alone on paper, then compare with a neighbour. Answers on the next slide. Q1: pass by value and composition. Q2: printing before AND after the recursive call. Q3: early return — and in which ORDER the lines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Q1: Change gets a COPY of x; x stays 5. Twice(Twice(5)) = Twice(10) = 20. Q2: the first Write runs on the way DOWN (3 2 1), the second on the way UP while the frames unwind (1 2 3): "3 2 1 1 2 3 ". Show(0) prints nothing and returns. Q3: Test(7) returns "big" before reaching the WriteLine. Test(-3) prints "checking..." DURING the call, before Console.WriteLine in the caller can print the returned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Give two minutes. Students should find three errors and name the rule, ideally with the error code. The answer slide shows the real dotnet build output. Hint if they are stuck: draw the boxes (blocks) around the for body and the if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Line 4: sum is already declared in the enclosing (top-level) scope → CS0136. Line 11: label lives only inside the if body; i lives only inside the for → CS0103 twice. One possible fix is on the right: no inner declaration (use sum += i * i), declare label before the if, and do not print i. The program then prints "30 large" (1 + 4 + 9 + 16 = 30). The compiler also warns that label is never used (CS0219), a side effect of the other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 E1 and E2 for everybody, E3 and E4 for fast pairs. Solutions in the instructor edition of the notes (all compiled and run). Check while walking around: E1 returns the condition directly and tests 1900 and 2000; E2 has a base case for e = 0; E3 uses a tuple with three names; E4 names the error codes before compiling.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H1 turns the check into a generator: from 9 digits compute the full 11-digit number (e.g. 123456789 → 12345678950). Synthetic numbers only! H2 is a reusable input method you will use in Week 14's mini-project. H3 is binary search (Week 10) written recursively: the base cases are "range empty" and "found". H4 combines the conversion pair with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Summarise with the six take-aways. Next week: files. Data will finally outlive the program: we will save and load grade lists with File.WriteAllLines and File.ReadAllLines (arrays!), and build the Student Grade Manager mini-project from the methods of Weeks 12 and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13</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Value-Returning and void Functions · Scope</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return · bool predicates · returning arrays and tuples · pure functions · recursion · block scope, lifetime, local functions</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call Factorial(4)</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call Factorial(3)</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call Factorial(2)</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call Factorial(1)</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return 1</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return 2</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return 6</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return 24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return and void</a:t>
            </a:r>
            <a:endParaRPr lang="en-US" sz="1700" dirty="0"/>
          </a:p>
        </p:txBody>
      </p:sp>
      <p:sp>
        <p:nvSpPr>
          <p:cNvPr id="11" name="Text 7"/>
          <p:cNvSpPr txBox="1"/>
          <p:nvPr/>
        </p:nvSpPr>
        <p:spPr>
          <a:xfrm>
            <a:off x="77724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return ends a method and hands back a value; void methods perform actions.</a:t>
            </a:r>
            <a:endParaRPr lang="en-US" sz="1500" dirty="0"/>
          </a:p>
        </p:txBody>
      </p:sp>
      <p:sp>
        <p:nvSpPr>
          <p:cNvPr id="12" name="Shape 8"/>
          <p:cNvSpPr/>
          <p:nvPr/>
        </p:nvSpPr>
        <p:spPr>
          <a:xfrm>
            <a:off x="4315968" y="1645920"/>
            <a:ext cx="356616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544568"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91969" y="2021921"/>
            <a:ext cx="272125" cy="272125"/>
          </a:xfrm>
          <a:prstGeom prst="rect">
            <a:avLst/>
          </a:prstGeom>
        </p:spPr>
      </p:pic>
      <p:sp>
        <p:nvSpPr>
          <p:cNvPr id="15" name="Text 10"/>
          <p:cNvSpPr txBox="1"/>
          <p:nvPr/>
        </p:nvSpPr>
        <p:spPr>
          <a:xfrm>
            <a:off x="5230368"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bool predicates</a:t>
            </a:r>
            <a:endParaRPr lang="en-US" sz="1700" dirty="0"/>
          </a:p>
        </p:txBody>
      </p:sp>
      <p:sp>
        <p:nvSpPr>
          <p:cNvPr id="16" name="Text 11"/>
          <p:cNvSpPr txBox="1"/>
          <p:nvPr/>
        </p:nvSpPr>
        <p:spPr>
          <a:xfrm>
            <a:off x="4544568"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IsEven, IsPrime, IsValidTCKimlik: methods that answer a yes/no question.</a:t>
            </a:r>
            <a:endParaRPr lang="en-US" sz="1500" dirty="0"/>
          </a:p>
        </p:txBody>
      </p:sp>
      <p:sp>
        <p:nvSpPr>
          <p:cNvPr id="17" name="Shape 12"/>
          <p:cNvSpPr/>
          <p:nvPr/>
        </p:nvSpPr>
        <p:spPr>
          <a:xfrm>
            <a:off x="8083296" y="1645920"/>
            <a:ext cx="356616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311896" y="187452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59297" y="2021921"/>
            <a:ext cx="272125" cy="272125"/>
          </a:xfrm>
          <a:prstGeom prst="rect">
            <a:avLst/>
          </a:prstGeom>
        </p:spPr>
      </p:pic>
      <p:sp>
        <p:nvSpPr>
          <p:cNvPr id="20" name="Text 14"/>
          <p:cNvSpPr txBox="1"/>
          <p:nvPr/>
        </p:nvSpPr>
        <p:spPr>
          <a:xfrm>
            <a:off x="8997696"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Several results</a:t>
            </a:r>
            <a:endParaRPr lang="en-US" sz="1700" dirty="0"/>
          </a:p>
        </p:txBody>
      </p:sp>
      <p:sp>
        <p:nvSpPr>
          <p:cNvPr id="21" name="Text 15"/>
          <p:cNvSpPr txBox="1"/>
          <p:nvPr/>
        </p:nvSpPr>
        <p:spPr>
          <a:xfrm>
            <a:off x="8311896"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Return arrays; return two values with out parameters or a tuple.</a:t>
            </a:r>
            <a:endParaRPr lang="en-US" sz="1500" dirty="0"/>
          </a:p>
        </p:txBody>
      </p:sp>
      <p:sp>
        <p:nvSpPr>
          <p:cNvPr id="22" name="Shape 16"/>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Compose, stay pure</a:t>
            </a:r>
            <a:endParaRPr lang="en-US" sz="1700" dirty="0"/>
          </a:p>
        </p:txBody>
      </p:sp>
      <p:sp>
        <p:nvSpPr>
          <p:cNvPr id="26" name="Text 19"/>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Max(Max(a, b), c); pure functions vs side effects; PASS/FAIL tests.</a:t>
            </a:r>
            <a:endParaRPr lang="en-US" sz="1500" dirty="0"/>
          </a:p>
        </p:txBody>
      </p:sp>
      <p:sp>
        <p:nvSpPr>
          <p:cNvPr id="27" name="Shape 20"/>
          <p:cNvSpPr/>
          <p:nvPr/>
        </p:nvSpPr>
        <p:spPr>
          <a:xfrm>
            <a:off x="4315968" y="3886200"/>
            <a:ext cx="356616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544568" y="4114800"/>
            <a:ext cx="566928" cy="566928"/>
          </a:xfrm>
          <a:prstGeom prst="ellipse">
            <a:avLst/>
          </a:prstGeom>
          <a:solidFill>
            <a:srgbClr val="2F6FB3"/>
          </a:solidFill>
          <a:ln w="12700">
            <a:solidFill>
              <a:srgbClr val="2F6FB3"/>
            </a:solidFill>
            <a:prstDash val="solid"/>
          </a:ln>
        </p:spPr>
      </p:sp>
      <p:pic>
        <p:nvPicPr>
          <p:cNvPr id="29" name="Image 4" descr="preencoded.png">    </p:cNvPr>
          <p:cNvPicPr>
            <a:picLocks noChangeAspect="1"/>
          </p:cNvPicPr>
          <p:nvPr/>
        </p:nvPicPr>
        <p:blipFill>
          <a:blip r:embed="rId5"/>
          <a:stretch>
            <a:fillRect/>
          </a:stretch>
        </p:blipFill>
        <p:spPr>
          <a:xfrm>
            <a:off x="4691969" y="4262201"/>
            <a:ext cx="272125" cy="272125"/>
          </a:xfrm>
          <a:prstGeom prst="rect">
            <a:avLst/>
          </a:prstGeom>
        </p:spPr>
      </p:pic>
      <p:sp>
        <p:nvSpPr>
          <p:cNvPr id="30" name="Text 22"/>
          <p:cNvSpPr txBox="1"/>
          <p:nvPr/>
        </p:nvSpPr>
        <p:spPr>
          <a:xfrm>
            <a:off x="5230368"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Recursion</a:t>
            </a:r>
            <a:endParaRPr lang="en-US" sz="1700" dirty="0"/>
          </a:p>
        </p:txBody>
      </p:sp>
      <p:sp>
        <p:nvSpPr>
          <p:cNvPr id="31" name="Text 23"/>
          <p:cNvSpPr txBox="1"/>
          <p:nvPr/>
        </p:nvSpPr>
        <p:spPr>
          <a:xfrm>
            <a:off x="4544568"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Base case + recursive step; trace the call stack of Factorial and Fibonacci.</a:t>
            </a:r>
            <a:endParaRPr lang="en-US" sz="1500" dirty="0"/>
          </a:p>
        </p:txBody>
      </p:sp>
      <p:sp>
        <p:nvSpPr>
          <p:cNvPr id="32" name="Shape 24"/>
          <p:cNvSpPr/>
          <p:nvPr/>
        </p:nvSpPr>
        <p:spPr>
          <a:xfrm>
            <a:off x="8083296" y="3886200"/>
            <a:ext cx="356616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311896" y="4114800"/>
            <a:ext cx="566928" cy="566928"/>
          </a:xfrm>
          <a:prstGeom prst="ellipse">
            <a:avLst/>
          </a:prstGeom>
          <a:solidFill>
            <a:srgbClr val="2F6FB3"/>
          </a:solidFill>
          <a:ln w="12700">
            <a:solidFill>
              <a:srgbClr val="2F6FB3"/>
            </a:solidFill>
            <a:prstDash val="solid"/>
          </a:ln>
        </p:spPr>
      </p:sp>
      <p:pic>
        <p:nvPicPr>
          <p:cNvPr id="34" name="Image 5" descr="preencoded.png">    </p:cNvPr>
          <p:cNvPicPr>
            <a:picLocks noChangeAspect="1"/>
          </p:cNvPicPr>
          <p:nvPr/>
        </p:nvPicPr>
        <p:blipFill>
          <a:blip r:embed="rId6"/>
          <a:stretch>
            <a:fillRect/>
          </a:stretch>
        </p:blipFill>
        <p:spPr>
          <a:xfrm>
            <a:off x="8459297" y="4262201"/>
            <a:ext cx="272125" cy="272125"/>
          </a:xfrm>
          <a:prstGeom prst="rect">
            <a:avLst/>
          </a:prstGeom>
        </p:spPr>
      </p:pic>
      <p:sp>
        <p:nvSpPr>
          <p:cNvPr id="35" name="Text 26"/>
          <p:cNvSpPr txBox="1"/>
          <p:nvPr/>
        </p:nvSpPr>
        <p:spPr>
          <a:xfrm>
            <a:off x="8997696"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Scope and lifetime</a:t>
            </a:r>
            <a:endParaRPr lang="en-US" sz="1700" dirty="0"/>
          </a:p>
        </p:txBody>
      </p:sp>
      <p:sp>
        <p:nvSpPr>
          <p:cNvPr id="36" name="Text 27"/>
          <p:cNvSpPr txBox="1"/>
          <p:nvPr/>
        </p:nvSpPr>
        <p:spPr>
          <a:xfrm>
            <a:off x="8311896"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Block and method scope, CS0103 / CS0136, local vs static local functions.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12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method: a named, reusable block of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5852160" cy="2377440"/>
          </a:xfrm>
          <a:prstGeom prst="roundRect">
            <a:avLst>
              <a:gd name="adj" fmla="val 3846"/>
            </a:avLst>
          </a:prstGeom>
          <a:solidFill>
            <a:srgbClr val="0F1729"/>
          </a:solidFill>
          <a:ln w="12700">
            <a:solidFill>
              <a:srgbClr val="0F1729"/>
            </a:solidFill>
            <a:prstDash val="solid"/>
          </a:ln>
        </p:spPr>
      </p:sp>
      <p:sp>
        <p:nvSpPr>
          <p:cNvPr id="8" name="Text 5"/>
          <p:cNvSpPr txBox="1"/>
          <p:nvPr/>
        </p:nvSpPr>
        <p:spPr>
          <a:xfrm>
            <a:off x="777240" y="175564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13_01_ReturnBasics · a value-returning method</a:t>
            </a:r>
            <a:endParaRPr lang="en-US" sz="1100" dirty="0"/>
          </a:p>
        </p:txBody>
      </p:sp>
      <p:sp>
        <p:nvSpPr>
          <p:cNvPr id="9" name="Text 6"/>
          <p:cNvSpPr txBox="1"/>
          <p:nvPr/>
        </p:nvSpPr>
        <p:spPr>
          <a:xfrm>
            <a:off x="777240" y="2057400"/>
            <a:ext cx="5394960" cy="1856232"/>
          </a:xfrm>
          <a:prstGeom prst="rect">
            <a:avLst/>
          </a:prstGeom>
          <a:noFill/>
          <a:ln/>
        </p:spPr>
        <p:txBody>
          <a:bodyPr wrap="square" lIns="0" tIns="0" rIns="0" bIns="0" rtlCol="0" anchor="t"/>
          <a:lstStyle/>
          <a:p>
            <a:pPr indent="0" marL="0">
              <a:spcAft>
                <a:spcPts val="100"/>
              </a:spcAft>
              <a:buNone/>
            </a:pPr>
            <a:r>
              <a:rPr lang="en-US" sz="18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8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8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800" dirty="0">
                <a:solidFill>
                  <a:srgbClr val="E6EDF7"/>
                </a:solidFill>
                <a:latin typeface="Courier New" pitchFamily="34" charset="0"/>
                <a:ea typeface="Courier New" pitchFamily="34" charset="-122"/>
                <a:cs typeface="Courier New" pitchFamily="34" charset="-120"/>
              </a:rPr>
              <a:t> Square(</a:t>
            </a:r>
            <a:pPr indent="0" marL="0">
              <a:spcAft>
                <a:spcPts val="100"/>
              </a:spcAft>
              <a:buNone/>
            </a:pPr>
            <a:r>
              <a:rPr lang="en-US" sz="18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800" dirty="0">
                <a:solidFill>
                  <a:srgbClr val="E6EDF7"/>
                </a:solidFill>
                <a:latin typeface="Courier New" pitchFamily="34" charset="0"/>
                <a:ea typeface="Courier New" pitchFamily="34" charset="-122"/>
                <a:cs typeface="Courier New" pitchFamily="34" charset="-120"/>
              </a:rPr>
              <a:t> x)</a:t>
            </a:r>
            <a:endParaRPr lang="en-US" sz="1800" dirty="0"/>
          </a:p>
          <a:p>
            <a:pPr indent="0" marL="0">
              <a:spcAft>
                <a:spcPts val="100"/>
              </a:spcAft>
              <a:buNone/>
            </a:pPr>
            <a:r>
              <a:rPr lang="en-US" sz="1800" dirty="0">
                <a:solidFill>
                  <a:srgbClr val="E6EDF7"/>
                </a:solidFill>
                <a:latin typeface="Courier New" pitchFamily="34" charset="0"/>
                <a:ea typeface="Courier New" pitchFamily="34" charset="-122"/>
                <a:cs typeface="Courier New" pitchFamily="34" charset="-120"/>
              </a:rPr>
              <a:t>{</a:t>
            </a:r>
            <a:endParaRPr lang="en-US" sz="1800" dirty="0"/>
          </a:p>
          <a:p>
            <a:pPr indent="0" marL="0">
              <a:spcAft>
                <a:spcPts val="100"/>
              </a:spcAft>
              <a:buNone/>
            </a:pPr>
            <a:r>
              <a:rPr lang="en-US" sz="18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8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800" dirty="0">
                <a:solidFill>
                  <a:srgbClr val="E6EDF7"/>
                </a:solidFill>
                <a:latin typeface="Courier New" pitchFamily="34" charset="0"/>
                <a:ea typeface="Courier New" pitchFamily="34" charset="-122"/>
                <a:cs typeface="Courier New" pitchFamily="34" charset="-120"/>
              </a:rPr>
              <a:t> x * x;</a:t>
            </a:r>
            <a:endParaRPr lang="en-US" sz="1800" dirty="0"/>
          </a:p>
          <a:p>
            <a:pPr indent="0" marL="0">
              <a:spcAft>
                <a:spcPts val="100"/>
              </a:spcAft>
              <a:buNone/>
            </a:pPr>
            <a:r>
              <a:rPr lang="en-US" sz="1800" dirty="0">
                <a:solidFill>
                  <a:srgbClr val="E6EDF7"/>
                </a:solidFill>
                <a:latin typeface="Courier New" pitchFamily="34" charset="0"/>
                <a:ea typeface="Courier New" pitchFamily="34" charset="-122"/>
                <a:cs typeface="Courier New" pitchFamily="34" charset="-120"/>
              </a:rPr>
              <a:t>}</a:t>
            </a:r>
            <a:endParaRPr lang="en-US" sz="1800" dirty="0"/>
          </a:p>
        </p:txBody>
      </p:sp>
      <p:sp>
        <p:nvSpPr>
          <p:cNvPr id="10" name="Shape 7"/>
          <p:cNvSpPr/>
          <p:nvPr/>
        </p:nvSpPr>
        <p:spPr>
          <a:xfrm>
            <a:off x="548640" y="4160520"/>
            <a:ext cx="5852160" cy="1920240"/>
          </a:xfrm>
          <a:prstGeom prst="roundRect">
            <a:avLst>
              <a:gd name="adj" fmla="val 4762"/>
            </a:avLst>
          </a:prstGeom>
          <a:solidFill>
            <a:srgbClr val="0F1729"/>
          </a:solidFill>
          <a:ln w="12700">
            <a:solidFill>
              <a:srgbClr val="0F1729"/>
            </a:solidFill>
            <a:prstDash val="solid"/>
          </a:ln>
        </p:spPr>
      </p:sp>
      <p:sp>
        <p:nvSpPr>
          <p:cNvPr id="11" name="Text 8"/>
          <p:cNvSpPr txBox="1"/>
          <p:nvPr/>
        </p:nvSpPr>
        <p:spPr>
          <a:xfrm>
            <a:off x="777240" y="427024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calls</a:t>
            </a:r>
            <a:endParaRPr lang="en-US" sz="1100" dirty="0"/>
          </a:p>
        </p:txBody>
      </p:sp>
      <p:sp>
        <p:nvSpPr>
          <p:cNvPr id="12" name="Text 9"/>
          <p:cNvSpPr txBox="1"/>
          <p:nvPr/>
        </p:nvSpPr>
        <p:spPr>
          <a:xfrm>
            <a:off x="777240" y="4572000"/>
            <a:ext cx="5394960" cy="1399032"/>
          </a:xfrm>
          <a:prstGeom prst="rect">
            <a:avLst/>
          </a:prstGeom>
          <a:noFill/>
          <a:ln/>
        </p:spPr>
        <p:txBody>
          <a:bodyPr wrap="square" lIns="0" tIns="0" rIns="0" bIns="0" rtlCol="0" anchor="t"/>
          <a:lstStyle/>
          <a:p>
            <a:pPr indent="0" marL="0">
              <a:spcAft>
                <a:spcPts val="100"/>
              </a:spcAft>
              <a:buNone/>
            </a:pPr>
            <a:r>
              <a:rPr lang="en-US" sz="14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50" dirty="0">
                <a:solidFill>
                  <a:srgbClr val="E6EDF7"/>
                </a:solidFill>
                <a:latin typeface="Courier New" pitchFamily="34" charset="0"/>
                <a:ea typeface="Courier New" pitchFamily="34" charset="-122"/>
                <a:cs typeface="Courier New" pitchFamily="34" charset="-120"/>
              </a:rPr>
              <a:t> sq = Square(</a:t>
            </a:r>
            <a:pPr indent="0" marL="0">
              <a:spcAft>
                <a:spcPts val="100"/>
              </a:spcAft>
              <a:buNone/>
            </a:pPr>
            <a:r>
              <a:rPr lang="en-US" sz="145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4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50" dirty="0">
                <a:solidFill>
                  <a:srgbClr val="7F8BA3"/>
                </a:solidFill>
                <a:latin typeface="Courier New" pitchFamily="34" charset="0"/>
                <a:ea typeface="Courier New" pitchFamily="34" charset="-122"/>
                <a:cs typeface="Courier New" pitchFamily="34" charset="-120"/>
              </a:rPr>
              <a:t>// argument 7</a:t>
            </a:r>
            <a:endParaRPr lang="en-US" sz="1450" dirty="0"/>
          </a:p>
          <a:p>
            <a:pPr indent="0" marL="0">
              <a:spcAft>
                <a:spcPts val="100"/>
              </a:spcAft>
              <a:buNone/>
            </a:pPr>
            <a:r>
              <a:rPr lang="en-US" sz="14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50" dirty="0">
                <a:solidFill>
                  <a:srgbClr val="E6EDF7"/>
                </a:solidFill>
                <a:latin typeface="Courier New" pitchFamily="34" charset="0"/>
                <a:ea typeface="Courier New" pitchFamily="34" charset="-122"/>
                <a:cs typeface="Courier New" pitchFamily="34" charset="-120"/>
              </a:rPr>
              <a:t>.WriteLine(sq);        </a:t>
            </a:r>
            <a:pPr indent="0" marL="0">
              <a:spcAft>
                <a:spcPts val="100"/>
              </a:spcAft>
              <a:buNone/>
            </a:pPr>
            <a:r>
              <a:rPr lang="en-US" sz="1450" dirty="0">
                <a:solidFill>
                  <a:srgbClr val="7F8BA3"/>
                </a:solidFill>
                <a:latin typeface="Courier New" pitchFamily="34" charset="0"/>
                <a:ea typeface="Courier New" pitchFamily="34" charset="-122"/>
                <a:cs typeface="Courier New" pitchFamily="34" charset="-120"/>
              </a:rPr>
              <a:t>// 49</a:t>
            </a:r>
            <a:endParaRPr lang="en-US" sz="1450" dirty="0"/>
          </a:p>
          <a:p>
            <a:pPr indent="0" marL="0">
              <a:spcAft>
                <a:spcPts val="100"/>
              </a:spcAft>
              <a:buNone/>
            </a:pPr>
            <a:r>
              <a:rPr lang="en-US" sz="1450" dirty="0">
                <a:solidFill>
                  <a:srgbClr val="E6EDF7"/>
                </a:solidFill>
                <a:latin typeface="Courier New" pitchFamily="34" charset="0"/>
                <a:ea typeface="Courier New" pitchFamily="34" charset="-122"/>
                <a:cs typeface="Courier New" pitchFamily="34" charset="-120"/>
              </a:rPr>
              <a:t>PrintTitle(</a:t>
            </a:r>
            <a:pPr indent="0" marL="0">
              <a:spcAft>
                <a:spcPts val="100"/>
              </a:spcAft>
              <a:buNone/>
            </a:pPr>
            <a:r>
              <a:rPr lang="en-US" sz="1450" dirty="0">
                <a:solidFill>
                  <a:srgbClr val="CE9178"/>
                </a:solidFill>
                <a:latin typeface="Courier New" pitchFamily="34" charset="0"/>
                <a:ea typeface="Courier New" pitchFamily="34" charset="-122"/>
                <a:cs typeface="Courier New" pitchFamily="34" charset="-120"/>
              </a:rPr>
              <a:t>"Early return"</a:t>
            </a:r>
            <a:pPr indent="0" marL="0">
              <a:spcAft>
                <a:spcPts val="100"/>
              </a:spcAft>
              <a:buNone/>
            </a:pPr>
            <a:r>
              <a:rPr lang="en-US" sz="14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50" dirty="0">
                <a:solidFill>
                  <a:srgbClr val="7F8BA3"/>
                </a:solidFill>
                <a:latin typeface="Courier New" pitchFamily="34" charset="0"/>
                <a:ea typeface="Courier New" pitchFamily="34" charset="-122"/>
                <a:cs typeface="Courier New" pitchFamily="34" charset="-120"/>
              </a:rPr>
              <a:t>// void: no value</a:t>
            </a:r>
            <a:endParaRPr lang="en-US" sz="1450" dirty="0"/>
          </a:p>
        </p:txBody>
      </p:sp>
      <p:sp>
        <p:nvSpPr>
          <p:cNvPr id="13" name="Shape 10"/>
          <p:cNvSpPr/>
          <p:nvPr/>
        </p:nvSpPr>
        <p:spPr>
          <a:xfrm>
            <a:off x="6675120" y="1645920"/>
            <a:ext cx="4983480" cy="987552"/>
          </a:xfrm>
          <a:prstGeom prst="roundRect">
            <a:avLst>
              <a:gd name="adj" fmla="val 11111"/>
            </a:avLst>
          </a:prstGeom>
          <a:solidFill>
            <a:srgbClr val="EEF1F6"/>
          </a:solidFill>
          <a:ln w="12700">
            <a:solidFill>
              <a:srgbClr val="EEF1F6"/>
            </a:solidFill>
            <a:prstDash val="solid"/>
          </a:ln>
        </p:spPr>
      </p:sp>
      <p:sp>
        <p:nvSpPr>
          <p:cNvPr id="14" name="Shape 11"/>
          <p:cNvSpPr/>
          <p:nvPr/>
        </p:nvSpPr>
        <p:spPr>
          <a:xfrm>
            <a:off x="6858000" y="1865376"/>
            <a:ext cx="548640" cy="548640"/>
          </a:xfrm>
          <a:prstGeom prst="ellipse">
            <a:avLst/>
          </a:prstGeom>
          <a:solidFill>
            <a:srgbClr val="EEF1F6"/>
          </a:solidFill>
          <a:ln w="12700">
            <a:solidFill>
              <a:srgbClr val="EEF1F6"/>
            </a:solidFill>
            <a:prstDash val="solid"/>
          </a:ln>
        </p:spPr>
      </p:sp>
      <p:pic>
        <p:nvPicPr>
          <p:cNvPr id="15" name="Image 0" descr="preencoded.png">    </p:cNvPr>
          <p:cNvPicPr>
            <a:picLocks noChangeAspect="1"/>
          </p:cNvPicPr>
          <p:nvPr/>
        </p:nvPicPr>
        <p:blipFill>
          <a:blip r:embed="rId1"/>
          <a:stretch>
            <a:fillRect/>
          </a:stretch>
        </p:blipFill>
        <p:spPr>
          <a:xfrm>
            <a:off x="7000646" y="2008022"/>
            <a:ext cx="263347" cy="263347"/>
          </a:xfrm>
          <a:prstGeom prst="rect">
            <a:avLst/>
          </a:prstGeom>
        </p:spPr>
      </p:pic>
      <p:sp>
        <p:nvSpPr>
          <p:cNvPr id="16" name="Text 12"/>
          <p:cNvSpPr txBox="1"/>
          <p:nvPr/>
        </p:nvSpPr>
        <p:spPr>
          <a:xfrm>
            <a:off x="7589520" y="1700784"/>
            <a:ext cx="393192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static int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return type: the call produces an int</a:t>
            </a:r>
            <a:endParaRPr lang="en-US" sz="1500" dirty="0"/>
          </a:p>
        </p:txBody>
      </p:sp>
      <p:sp>
        <p:nvSpPr>
          <p:cNvPr id="17" name="Shape 13"/>
          <p:cNvSpPr/>
          <p:nvPr/>
        </p:nvSpPr>
        <p:spPr>
          <a:xfrm>
            <a:off x="6675120" y="2761488"/>
            <a:ext cx="4983480" cy="987552"/>
          </a:xfrm>
          <a:prstGeom prst="roundRect">
            <a:avLst>
              <a:gd name="adj" fmla="val 11111"/>
            </a:avLst>
          </a:prstGeom>
          <a:solidFill>
            <a:srgbClr val="EEF1F6"/>
          </a:solidFill>
          <a:ln w="12700">
            <a:solidFill>
              <a:srgbClr val="EEF1F6"/>
            </a:solidFill>
            <a:prstDash val="solid"/>
          </a:ln>
        </p:spPr>
      </p:sp>
      <p:sp>
        <p:nvSpPr>
          <p:cNvPr id="18" name="Shape 14"/>
          <p:cNvSpPr/>
          <p:nvPr/>
        </p:nvSpPr>
        <p:spPr>
          <a:xfrm>
            <a:off x="6858000" y="2980944"/>
            <a:ext cx="548640" cy="548640"/>
          </a:xfrm>
          <a:prstGeom prst="ellipse">
            <a:avLst/>
          </a:prstGeom>
          <a:solidFill>
            <a:srgbClr val="EEF1F6"/>
          </a:solidFill>
          <a:ln w="12700">
            <a:solidFill>
              <a:srgbClr val="EEF1F6"/>
            </a:solidFill>
            <a:prstDash val="solid"/>
          </a:ln>
        </p:spPr>
      </p:sp>
      <p:pic>
        <p:nvPicPr>
          <p:cNvPr id="19" name="Image 1" descr="preencoded.png">    </p:cNvPr>
          <p:cNvPicPr>
            <a:picLocks noChangeAspect="1"/>
          </p:cNvPicPr>
          <p:nvPr/>
        </p:nvPicPr>
        <p:blipFill>
          <a:blip r:embed="rId2"/>
          <a:stretch>
            <a:fillRect/>
          </a:stretch>
        </p:blipFill>
        <p:spPr>
          <a:xfrm>
            <a:off x="7000646" y="3123590"/>
            <a:ext cx="263347" cy="263347"/>
          </a:xfrm>
          <a:prstGeom prst="rect">
            <a:avLst/>
          </a:prstGeom>
        </p:spPr>
      </p:pic>
      <p:sp>
        <p:nvSpPr>
          <p:cNvPr id="20" name="Text 15"/>
          <p:cNvSpPr txBox="1"/>
          <p:nvPr/>
        </p:nvSpPr>
        <p:spPr>
          <a:xfrm>
            <a:off x="7589520" y="2816352"/>
            <a:ext cx="393192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Square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name: PascalCase, says what it computes</a:t>
            </a:r>
            <a:endParaRPr lang="en-US" sz="1500" dirty="0"/>
          </a:p>
        </p:txBody>
      </p:sp>
      <p:sp>
        <p:nvSpPr>
          <p:cNvPr id="21" name="Shape 16"/>
          <p:cNvSpPr/>
          <p:nvPr/>
        </p:nvSpPr>
        <p:spPr>
          <a:xfrm>
            <a:off x="6675120" y="3877056"/>
            <a:ext cx="4983480" cy="987552"/>
          </a:xfrm>
          <a:prstGeom prst="roundRect">
            <a:avLst>
              <a:gd name="adj" fmla="val 11111"/>
            </a:avLst>
          </a:prstGeom>
          <a:solidFill>
            <a:srgbClr val="EEF1F6"/>
          </a:solidFill>
          <a:ln w="12700">
            <a:solidFill>
              <a:srgbClr val="EEF1F6"/>
            </a:solidFill>
            <a:prstDash val="solid"/>
          </a:ln>
        </p:spPr>
      </p:sp>
      <p:sp>
        <p:nvSpPr>
          <p:cNvPr id="22" name="Shape 17"/>
          <p:cNvSpPr/>
          <p:nvPr/>
        </p:nvSpPr>
        <p:spPr>
          <a:xfrm>
            <a:off x="6858000" y="4096512"/>
            <a:ext cx="548640" cy="548640"/>
          </a:xfrm>
          <a:prstGeom prst="ellipse">
            <a:avLst/>
          </a:prstGeom>
          <a:solidFill>
            <a:srgbClr val="EEF1F6"/>
          </a:solidFill>
          <a:ln w="12700">
            <a:solidFill>
              <a:srgbClr val="EEF1F6"/>
            </a:solidFill>
            <a:prstDash val="solid"/>
          </a:ln>
        </p:spPr>
      </p:sp>
      <p:pic>
        <p:nvPicPr>
          <p:cNvPr id="23" name="Image 2" descr="preencoded.png">    </p:cNvPr>
          <p:cNvPicPr>
            <a:picLocks noChangeAspect="1"/>
          </p:cNvPicPr>
          <p:nvPr/>
        </p:nvPicPr>
        <p:blipFill>
          <a:blip r:embed="rId3"/>
          <a:stretch>
            <a:fillRect/>
          </a:stretch>
        </p:blipFill>
        <p:spPr>
          <a:xfrm>
            <a:off x="7000646" y="4239158"/>
            <a:ext cx="263347" cy="263347"/>
          </a:xfrm>
          <a:prstGeom prst="rect">
            <a:avLst/>
          </a:prstGeom>
        </p:spPr>
      </p:pic>
      <p:sp>
        <p:nvSpPr>
          <p:cNvPr id="24" name="Text 18"/>
          <p:cNvSpPr txBox="1"/>
          <p:nvPr/>
        </p:nvSpPr>
        <p:spPr>
          <a:xfrm>
            <a:off x="7589520" y="3931920"/>
            <a:ext cx="393192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(int x)</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parameter: a local variable, gets a copy</a:t>
            </a:r>
            <a:endParaRPr lang="en-US" sz="1500" dirty="0"/>
          </a:p>
        </p:txBody>
      </p:sp>
      <p:sp>
        <p:nvSpPr>
          <p:cNvPr id="25" name="Shape 19"/>
          <p:cNvSpPr/>
          <p:nvPr/>
        </p:nvSpPr>
        <p:spPr>
          <a:xfrm>
            <a:off x="6675120" y="4992624"/>
            <a:ext cx="4983480" cy="987552"/>
          </a:xfrm>
          <a:prstGeom prst="roundRect">
            <a:avLst>
              <a:gd name="adj" fmla="val 11111"/>
            </a:avLst>
          </a:prstGeom>
          <a:solidFill>
            <a:srgbClr val="EEF1F6"/>
          </a:solidFill>
          <a:ln w="12700">
            <a:solidFill>
              <a:srgbClr val="EEF1F6"/>
            </a:solidFill>
            <a:prstDash val="solid"/>
          </a:ln>
        </p:spPr>
      </p:sp>
      <p:sp>
        <p:nvSpPr>
          <p:cNvPr id="26" name="Shape 20"/>
          <p:cNvSpPr/>
          <p:nvPr/>
        </p:nvSpPr>
        <p:spPr>
          <a:xfrm>
            <a:off x="6858000" y="5212080"/>
            <a:ext cx="548640" cy="548640"/>
          </a:xfrm>
          <a:prstGeom prst="ellipse">
            <a:avLst/>
          </a:prstGeom>
          <a:solidFill>
            <a:srgbClr val="EEF1F6"/>
          </a:solidFill>
          <a:ln w="12700">
            <a:solidFill>
              <a:srgbClr val="EEF1F6"/>
            </a:solidFill>
            <a:prstDash val="solid"/>
          </a:ln>
        </p:spPr>
      </p:sp>
      <p:pic>
        <p:nvPicPr>
          <p:cNvPr id="27" name="Image 3" descr="preencoded.png">    </p:cNvPr>
          <p:cNvPicPr>
            <a:picLocks noChangeAspect="1"/>
          </p:cNvPicPr>
          <p:nvPr/>
        </p:nvPicPr>
        <p:blipFill>
          <a:blip r:embed="rId4"/>
          <a:stretch>
            <a:fillRect/>
          </a:stretch>
        </p:blipFill>
        <p:spPr>
          <a:xfrm>
            <a:off x="7000646" y="5354726"/>
            <a:ext cx="263347" cy="263347"/>
          </a:xfrm>
          <a:prstGeom prst="rect">
            <a:avLst/>
          </a:prstGeom>
        </p:spPr>
      </p:pic>
      <p:sp>
        <p:nvSpPr>
          <p:cNvPr id="28" name="Text 21"/>
          <p:cNvSpPr txBox="1"/>
          <p:nvPr/>
        </p:nvSpPr>
        <p:spPr>
          <a:xfrm>
            <a:off x="7589520" y="5047488"/>
            <a:ext cx="3931920" cy="877824"/>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return x * x;</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hands the value back and ends the method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return and void</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What a method gives back · early return · every path must return · bool predicates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RETURN STATEMENT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return hands a value back — and leaves the method at once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45920"/>
            <a:ext cx="47548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4297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Sign: three returns, one runs</a:t>
            </a:r>
            <a:endParaRPr lang="en-US" sz="1100" dirty="0"/>
          </a:p>
        </p:txBody>
      </p:sp>
      <p:sp>
        <p:nvSpPr>
          <p:cNvPr id="9" name="Text 6"/>
          <p:cNvSpPr txBox="1"/>
          <p:nvPr/>
        </p:nvSpPr>
        <p:spPr>
          <a:xfrm>
            <a:off x="777240" y="2057400"/>
            <a:ext cx="4297680" cy="3913632"/>
          </a:xfrm>
          <a:prstGeom prst="rect">
            <a:avLst/>
          </a:prstGeom>
          <a:noFill/>
          <a:ln/>
        </p:spPr>
        <p:txBody>
          <a:bodyPr wrap="square" lIns="0" tIns="0" rIns="0" bIns="0" rtlCol="0" anchor="t"/>
          <a:lstStyle/>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Sign(</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sp>
        <p:nvSpPr>
          <p:cNvPr id="10" name="Shape 7"/>
          <p:cNvSpPr/>
          <p:nvPr/>
        </p:nvSpPr>
        <p:spPr>
          <a:xfrm>
            <a:off x="5577840" y="1691640"/>
            <a:ext cx="3017520" cy="548640"/>
          </a:xfrm>
          <a:prstGeom prst="roundRect">
            <a:avLst>
              <a:gd name="adj" fmla="val 13333"/>
            </a:avLst>
          </a:prstGeom>
          <a:solidFill>
            <a:srgbClr val="E3ECF8"/>
          </a:solidFill>
          <a:ln w="15875">
            <a:solidFill>
              <a:srgbClr val="2F6FB3"/>
            </a:solidFill>
            <a:prstDash val="solid"/>
          </a:ln>
        </p:spPr>
      </p:sp>
      <p:sp>
        <p:nvSpPr>
          <p:cNvPr id="11" name="Text 8"/>
          <p:cNvSpPr txBox="1"/>
          <p:nvPr/>
        </p:nvSpPr>
        <p:spPr>
          <a:xfrm>
            <a:off x="5577840" y="1691640"/>
            <a:ext cx="301752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int sq = Square(7);</a:t>
            </a:r>
            <a:endParaRPr lang="en-US" sz="1400" dirty="0"/>
          </a:p>
        </p:txBody>
      </p:sp>
      <p:sp>
        <p:nvSpPr>
          <p:cNvPr id="12" name="Shape 9"/>
          <p:cNvSpPr/>
          <p:nvPr/>
        </p:nvSpPr>
        <p:spPr>
          <a:xfrm>
            <a:off x="8823960" y="2423160"/>
            <a:ext cx="2788920" cy="1143000"/>
          </a:xfrm>
          <a:prstGeom prst="roundRect">
            <a:avLst>
              <a:gd name="adj" fmla="val 6400"/>
            </a:avLst>
          </a:prstGeom>
          <a:solidFill>
            <a:srgbClr val="EEF1F6"/>
          </a:solidFill>
          <a:ln w="15875">
            <a:solidFill>
              <a:srgbClr val="5B6478"/>
            </a:solidFill>
            <a:prstDash val="solid"/>
          </a:ln>
        </p:spPr>
      </p:sp>
      <p:sp>
        <p:nvSpPr>
          <p:cNvPr id="13" name="Text 10"/>
          <p:cNvSpPr txBox="1"/>
          <p:nvPr/>
        </p:nvSpPr>
        <p:spPr>
          <a:xfrm>
            <a:off x="8915400" y="2468880"/>
            <a:ext cx="2651760" cy="1051560"/>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Square(int x)</a:t>
            </a:r>
            <a:pPr indent="0" marL="0">
              <a:buNone/>
            </a:pPr>
            <a:r>
              <a:rPr lang="en-US" sz="1300" dirty="0">
                <a:solidFill>
                  <a:srgbClr val="333B4F"/>
                </a:solidFill>
                <a:latin typeface="Calibri" pitchFamily="34" charset="0"/>
                <a:ea typeface="Calibri" pitchFamily="34" charset="-122"/>
                <a:cs typeface="Calibri" pitchFamily="34" charset="-120"/>
              </a:rPr>
              <a:t>
</a:t>
            </a:r>
            <a:pPr indent="0" marL="0">
              <a:buNone/>
            </a:pPr>
            <a:r>
              <a:rPr lang="en-US" sz="1300" dirty="0">
                <a:solidFill>
                  <a:srgbClr val="333B4F"/>
                </a:solidFill>
                <a:latin typeface="Courier New" pitchFamily="34" charset="0"/>
                <a:ea typeface="Courier New" pitchFamily="34" charset="-122"/>
                <a:cs typeface="Courier New" pitchFamily="34" charset="-120"/>
              </a:rPr>
              <a:t>x = 7   (copy of 7)</a:t>
            </a:r>
            <a:pPr indent="0" marL="0">
              <a:buNone/>
            </a:pPr>
            <a:r>
              <a:rPr lang="en-US" sz="1300" dirty="0">
                <a:solidFill>
                  <a:srgbClr val="333B4F"/>
                </a:solidFill>
                <a:latin typeface="Calibri" pitchFamily="34" charset="0"/>
                <a:ea typeface="Calibri" pitchFamily="34" charset="-122"/>
                <a:cs typeface="Calibri" pitchFamily="34" charset="-120"/>
              </a:rPr>
              <a:t>
</a:t>
            </a:r>
            <a:pPr indent="0" marL="0">
              <a:buNone/>
            </a:pPr>
            <a:r>
              <a:rPr lang="en-US" sz="1300" b="1" dirty="0">
                <a:solidFill>
                  <a:srgbClr val="2F6FB3"/>
                </a:solidFill>
                <a:latin typeface="Courier New" pitchFamily="34" charset="0"/>
                <a:ea typeface="Courier New" pitchFamily="34" charset="-122"/>
                <a:cs typeface="Courier New" pitchFamily="34" charset="-120"/>
              </a:rPr>
              <a:t>return 7 * 7;</a:t>
            </a:r>
            <a:endParaRPr lang="en-US" sz="1300" dirty="0"/>
          </a:p>
        </p:txBody>
      </p:sp>
      <p:sp>
        <p:nvSpPr>
          <p:cNvPr id="14" name="Shape 11"/>
          <p:cNvSpPr/>
          <p:nvPr/>
        </p:nvSpPr>
        <p:spPr>
          <a:xfrm>
            <a:off x="8595360" y="1965960"/>
            <a:ext cx="1508760" cy="0"/>
          </a:xfrm>
          <a:prstGeom prst="line">
            <a:avLst/>
          </a:prstGeom>
          <a:noFill/>
          <a:ln w="15875">
            <a:solidFill>
              <a:srgbClr val="2F6FB3"/>
            </a:solidFill>
            <a:prstDash val="solid"/>
          </a:ln>
        </p:spPr>
      </p:sp>
      <p:sp>
        <p:nvSpPr>
          <p:cNvPr id="15" name="Shape 12"/>
          <p:cNvSpPr/>
          <p:nvPr/>
        </p:nvSpPr>
        <p:spPr>
          <a:xfrm>
            <a:off x="10104120" y="1965960"/>
            <a:ext cx="0" cy="457200"/>
          </a:xfrm>
          <a:prstGeom prst="line">
            <a:avLst/>
          </a:prstGeom>
          <a:noFill/>
          <a:ln w="15875">
            <a:solidFill>
              <a:srgbClr val="2F6FB3"/>
            </a:solidFill>
            <a:prstDash val="solid"/>
            <a:tailEnd type="triangle"/>
          </a:ln>
        </p:spPr>
      </p:sp>
      <p:sp>
        <p:nvSpPr>
          <p:cNvPr id="16" name="Text 13"/>
          <p:cNvSpPr txBox="1"/>
          <p:nvPr/>
        </p:nvSpPr>
        <p:spPr>
          <a:xfrm>
            <a:off x="8641080" y="1645920"/>
            <a:ext cx="3017520" cy="274320"/>
          </a:xfrm>
          <a:prstGeom prst="rect">
            <a:avLst/>
          </a:prstGeom>
          <a:noFill/>
          <a:ln/>
        </p:spPr>
        <p:txBody>
          <a:bodyPr wrap="square" lIns="0" tIns="0" rIns="0" bIns="0" rtlCol="0" anchor="ctr"/>
          <a:lstStyle/>
          <a:p>
            <a:pPr indent="0" marL="0">
              <a:buNone/>
            </a:pPr>
            <a:r>
              <a:rPr lang="en-US" sz="1300" b="1" dirty="0">
                <a:solidFill>
                  <a:srgbClr val="2F6FB3"/>
                </a:solidFill>
                <a:latin typeface="Calibri" pitchFamily="34" charset="0"/>
                <a:ea typeface="Calibri" pitchFamily="34" charset="-122"/>
                <a:cs typeface="Calibri" pitchFamily="34" charset="-120"/>
              </a:rPr>
              <a:t>① call: copy 7 → x</a:t>
            </a:r>
            <a:endParaRPr lang="en-US" sz="1300" dirty="0"/>
          </a:p>
        </p:txBody>
      </p:sp>
      <p:sp>
        <p:nvSpPr>
          <p:cNvPr id="17" name="Shape 14"/>
          <p:cNvSpPr/>
          <p:nvPr/>
        </p:nvSpPr>
        <p:spPr>
          <a:xfrm>
            <a:off x="10104120" y="3566160"/>
            <a:ext cx="0" cy="411480"/>
          </a:xfrm>
          <a:prstGeom prst="line">
            <a:avLst/>
          </a:prstGeom>
          <a:noFill/>
          <a:ln w="15875">
            <a:solidFill>
              <a:srgbClr val="2E9E6A"/>
            </a:solidFill>
            <a:prstDash val="solid"/>
          </a:ln>
        </p:spPr>
      </p:sp>
      <p:sp>
        <p:nvSpPr>
          <p:cNvPr id="18" name="Shape 15"/>
          <p:cNvSpPr/>
          <p:nvPr/>
        </p:nvSpPr>
        <p:spPr>
          <a:xfrm flipH="1">
            <a:off x="7086600" y="3977640"/>
            <a:ext cx="3017520" cy="0"/>
          </a:xfrm>
          <a:prstGeom prst="line">
            <a:avLst/>
          </a:prstGeom>
          <a:noFill/>
          <a:ln w="15875">
            <a:solidFill>
              <a:srgbClr val="2E9E6A"/>
            </a:solidFill>
            <a:prstDash val="solid"/>
          </a:ln>
        </p:spPr>
      </p:sp>
      <p:sp>
        <p:nvSpPr>
          <p:cNvPr id="19" name="Shape 16"/>
          <p:cNvSpPr/>
          <p:nvPr/>
        </p:nvSpPr>
        <p:spPr>
          <a:xfrm>
            <a:off x="7086600" y="3977640"/>
            <a:ext cx="0" cy="182880"/>
          </a:xfrm>
          <a:prstGeom prst="line">
            <a:avLst/>
          </a:prstGeom>
          <a:noFill/>
          <a:ln w="15875">
            <a:solidFill>
              <a:srgbClr val="2E9E6A"/>
            </a:solidFill>
            <a:prstDash val="solid"/>
            <a:tailEnd type="triangle"/>
          </a:ln>
        </p:spPr>
      </p:sp>
      <p:sp>
        <p:nvSpPr>
          <p:cNvPr id="20" name="Text 17"/>
          <p:cNvSpPr txBox="1"/>
          <p:nvPr/>
        </p:nvSpPr>
        <p:spPr>
          <a:xfrm>
            <a:off x="7223760" y="3611880"/>
            <a:ext cx="2743200" cy="320040"/>
          </a:xfrm>
          <a:prstGeom prst="rect">
            <a:avLst/>
          </a:prstGeom>
          <a:noFill/>
          <a:ln/>
        </p:spPr>
        <p:txBody>
          <a:bodyPr wrap="square" lIns="0" tIns="0" rIns="0" bIns="0" rtlCol="0" anchor="ctr"/>
          <a:lstStyle/>
          <a:p>
            <a:pPr indent="0" marL="0">
              <a:buNone/>
            </a:pPr>
            <a:r>
              <a:rPr lang="en-US" sz="1300" b="1" dirty="0">
                <a:solidFill>
                  <a:srgbClr val="1F7A50"/>
                </a:solidFill>
                <a:latin typeface="Calibri" pitchFamily="34" charset="0"/>
                <a:ea typeface="Calibri" pitchFamily="34" charset="-122"/>
                <a:cs typeface="Calibri" pitchFamily="34" charset="-120"/>
              </a:rPr>
              <a:t>② return 49: Square ends</a:t>
            </a:r>
            <a:endParaRPr lang="en-US" sz="1300" dirty="0"/>
          </a:p>
        </p:txBody>
      </p:sp>
      <p:sp>
        <p:nvSpPr>
          <p:cNvPr id="21" name="Shape 18"/>
          <p:cNvSpPr/>
          <p:nvPr/>
        </p:nvSpPr>
        <p:spPr>
          <a:xfrm>
            <a:off x="5577840" y="4160520"/>
            <a:ext cx="3017520" cy="548640"/>
          </a:xfrm>
          <a:prstGeom prst="roundRect">
            <a:avLst>
              <a:gd name="adj" fmla="val 13333"/>
            </a:avLst>
          </a:prstGeom>
          <a:solidFill>
            <a:srgbClr val="E6F4EC"/>
          </a:solidFill>
          <a:ln w="15875">
            <a:solidFill>
              <a:srgbClr val="2E9E6A"/>
            </a:solidFill>
            <a:prstDash val="solid"/>
          </a:ln>
        </p:spPr>
      </p:sp>
      <p:sp>
        <p:nvSpPr>
          <p:cNvPr id="22" name="Text 19"/>
          <p:cNvSpPr txBox="1"/>
          <p:nvPr/>
        </p:nvSpPr>
        <p:spPr>
          <a:xfrm>
            <a:off x="5577840" y="4160520"/>
            <a:ext cx="301752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int sq = 49;</a:t>
            </a:r>
            <a:endParaRPr lang="en-US" sz="1400" dirty="0"/>
          </a:p>
        </p:txBody>
      </p:sp>
      <p:sp>
        <p:nvSpPr>
          <p:cNvPr id="23" name="Text 20"/>
          <p:cNvSpPr txBox="1"/>
          <p:nvPr/>
        </p:nvSpPr>
        <p:spPr>
          <a:xfrm>
            <a:off x="8732520" y="4160520"/>
            <a:ext cx="2926080" cy="548640"/>
          </a:xfrm>
          <a:prstGeom prst="rect">
            <a:avLst/>
          </a:prstGeom>
          <a:noFill/>
          <a:ln/>
        </p:spPr>
        <p:txBody>
          <a:bodyPr wrap="square" lIns="0" tIns="0" rIns="0" bIns="0" rtlCol="0" anchor="ctr"/>
          <a:lstStyle/>
          <a:p>
            <a:pPr indent="0" marL="0">
              <a:buNone/>
            </a:pPr>
            <a:r>
              <a:rPr lang="en-US" sz="1300" b="1" dirty="0">
                <a:solidFill>
                  <a:srgbClr val="1F7A50"/>
                </a:solidFill>
                <a:latin typeface="Calibri" pitchFamily="34" charset="0"/>
                <a:ea typeface="Calibri" pitchFamily="34" charset="-122"/>
                <a:cs typeface="Calibri" pitchFamily="34" charset="-120"/>
              </a:rPr>
              <a:t>③ the call is replaced by its value</a:t>
            </a:r>
            <a:endParaRPr lang="en-US" sz="1300" dirty="0"/>
          </a:p>
        </p:txBody>
      </p:sp>
      <p:sp>
        <p:nvSpPr>
          <p:cNvPr id="24" name="Shape 21"/>
          <p:cNvSpPr/>
          <p:nvPr/>
        </p:nvSpPr>
        <p:spPr>
          <a:xfrm>
            <a:off x="5577840" y="4846320"/>
            <a:ext cx="6080760" cy="1234440"/>
          </a:xfrm>
          <a:prstGeom prst="roundRect">
            <a:avLst>
              <a:gd name="adj" fmla="val 7407"/>
            </a:avLst>
          </a:prstGeom>
          <a:solidFill>
            <a:srgbClr val="0B0F19"/>
          </a:solidFill>
          <a:ln w="12700">
            <a:solidFill>
              <a:srgbClr val="2A3654"/>
            </a:solidFill>
            <a:prstDash val="solid"/>
          </a:ln>
        </p:spPr>
      </p:sp>
      <p:sp>
        <p:nvSpPr>
          <p:cNvPr id="25" name="Shape 22"/>
          <p:cNvSpPr/>
          <p:nvPr/>
        </p:nvSpPr>
        <p:spPr>
          <a:xfrm>
            <a:off x="5760720" y="4974336"/>
            <a:ext cx="118872" cy="118872"/>
          </a:xfrm>
          <a:prstGeom prst="ellipse">
            <a:avLst/>
          </a:prstGeom>
          <a:solidFill>
            <a:srgbClr val="FF5F57"/>
          </a:solidFill>
          <a:ln w="12700">
            <a:solidFill>
              <a:srgbClr val="FF5F57"/>
            </a:solidFill>
            <a:prstDash val="solid"/>
          </a:ln>
        </p:spPr>
      </p:sp>
      <p:sp>
        <p:nvSpPr>
          <p:cNvPr id="26" name="Shape 23"/>
          <p:cNvSpPr/>
          <p:nvPr/>
        </p:nvSpPr>
        <p:spPr>
          <a:xfrm>
            <a:off x="5989320" y="4974336"/>
            <a:ext cx="118872" cy="118872"/>
          </a:xfrm>
          <a:prstGeom prst="ellipse">
            <a:avLst/>
          </a:prstGeom>
          <a:solidFill>
            <a:srgbClr val="FEBC2E"/>
          </a:solidFill>
          <a:ln w="12700">
            <a:solidFill>
              <a:srgbClr val="FEBC2E"/>
            </a:solidFill>
            <a:prstDash val="solid"/>
          </a:ln>
        </p:spPr>
      </p:sp>
      <p:sp>
        <p:nvSpPr>
          <p:cNvPr id="27" name="Shape 24"/>
          <p:cNvSpPr/>
          <p:nvPr/>
        </p:nvSpPr>
        <p:spPr>
          <a:xfrm>
            <a:off x="6217920" y="4974336"/>
            <a:ext cx="118872" cy="118872"/>
          </a:xfrm>
          <a:prstGeom prst="ellipse">
            <a:avLst/>
          </a:prstGeom>
          <a:solidFill>
            <a:srgbClr val="28C840"/>
          </a:solidFill>
          <a:ln w="12700">
            <a:solidFill>
              <a:srgbClr val="28C840"/>
            </a:solidFill>
            <a:prstDash val="solid"/>
          </a:ln>
        </p:spPr>
      </p:sp>
      <p:sp>
        <p:nvSpPr>
          <p:cNvPr id="28" name="Text 25"/>
          <p:cNvSpPr txBox="1"/>
          <p:nvPr/>
        </p:nvSpPr>
        <p:spPr>
          <a:xfrm>
            <a:off x="6492240" y="4919472"/>
            <a:ext cx="49834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9" name="Text 26"/>
          <p:cNvSpPr txBox="1"/>
          <p:nvPr/>
        </p:nvSpPr>
        <p:spPr>
          <a:xfrm>
            <a:off x="5806440" y="5230368"/>
            <a:ext cx="5623560" cy="7315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Square(7) = 49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Square(3) + Square(4) = 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Sign(-8) = -1, Sign(0) = 0, Sign(5) = 1</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VOID VS VALUE-RETURNING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 action or a computation?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45920"/>
            <a:ext cx="548640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void: an action (no value)</a:t>
            </a:r>
            <a:endParaRPr lang="en-US" sz="1100" dirty="0"/>
          </a:p>
        </p:txBody>
      </p:sp>
      <p:sp>
        <p:nvSpPr>
          <p:cNvPr id="9" name="Text 6"/>
          <p:cNvSpPr txBox="1"/>
          <p:nvPr/>
        </p:nvSpPr>
        <p:spPr>
          <a:xfrm>
            <a:off x="777240" y="2057400"/>
            <a:ext cx="5029200" cy="222199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PrintTitle(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title)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title.Length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{title}"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63640" y="1645920"/>
          <a:ext cx="5394960" cy="914400"/>
        </p:xfrm>
        <a:graphic>
          <a:graphicData uri="http://schemas.openxmlformats.org/drawingml/2006/table">
            <a:tbl>
              <a:tblPr/>
              <a:tblGrid>
                <a:gridCol w="1280160"/>
                <a:gridCol w="1920240"/>
                <a:gridCol w="2194560"/>
              </a:tblGrid>
              <a:tr h="411480">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void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value-returning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action: print, change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computation: a result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Header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void Show(…)</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Square(…)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statement on its own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inside an expression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return;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return value;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 is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optional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required on every path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Examples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PrintTitle, PrintArray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Square, Average, IsPrime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1" name="Shape 7"/>
          <p:cNvSpPr/>
          <p:nvPr/>
        </p:nvSpPr>
        <p:spPr>
          <a:xfrm>
            <a:off x="548640" y="4572000"/>
            <a:ext cx="5486400" cy="1508760"/>
          </a:xfrm>
          <a:prstGeom prst="roundRect">
            <a:avLst>
              <a:gd name="adj" fmla="val 7273"/>
            </a:avLst>
          </a:prstGeom>
          <a:solidFill>
            <a:srgbClr val="FFF6E3"/>
          </a:solidFill>
          <a:ln w="12700">
            <a:solidFill>
              <a:srgbClr val="FFF6E3"/>
            </a:solidFill>
            <a:prstDash val="solid"/>
          </a:ln>
        </p:spPr>
      </p:sp>
      <p:pic>
        <p:nvPicPr>
          <p:cNvPr id="12" name="Image 0" descr="preencoded.png">    </p:cNvPr>
          <p:cNvPicPr>
            <a:picLocks noChangeAspect="1"/>
          </p:cNvPicPr>
          <p:nvPr/>
        </p:nvPicPr>
        <p:blipFill>
          <a:blip r:embed="rId1"/>
          <a:stretch>
            <a:fillRect/>
          </a:stretch>
        </p:blipFill>
        <p:spPr>
          <a:xfrm>
            <a:off x="822960" y="5052060"/>
            <a:ext cx="548640" cy="548640"/>
          </a:xfrm>
          <a:prstGeom prst="rect">
            <a:avLst/>
          </a:prstGeom>
        </p:spPr>
      </p:pic>
      <p:sp>
        <p:nvSpPr>
          <p:cNvPr id="13" name="Text 8"/>
          <p:cNvSpPr txBox="1"/>
          <p:nvPr/>
        </p:nvSpPr>
        <p:spPr>
          <a:xfrm>
            <a:off x="1645920" y="4645152"/>
            <a:ext cx="4114800" cy="136245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Prefer return over printing inside. </a:t>
            </a:r>
            <a:pPr indent="0" marL="0">
              <a:buNone/>
            </a:pPr>
            <a:r>
              <a:rPr lang="en-US" sz="1400" dirty="0">
                <a:solidFill>
                  <a:srgbClr val="333B4F"/>
                </a:solidFill>
                <a:latin typeface="Calibri" pitchFamily="34" charset="0"/>
                <a:ea typeface="Calibri" pitchFamily="34" charset="-122"/>
                <a:cs typeface="Calibri" pitchFamily="34" charset="-120"/>
              </a:rPr>
              <a:t>Average(a) can be printed, compared with 60, stored or tested; PrintAverage(a) can only print.</a:t>
            </a:r>
            <a:endParaRPr lang="en-US" sz="1400" dirty="0"/>
          </a:p>
        </p:txBody>
      </p:sp>
      <p:sp>
        <p:nvSpPr>
          <p:cNvPr id="14" name="Shape 9"/>
          <p:cNvSpPr/>
          <p:nvPr/>
        </p:nvSpPr>
        <p:spPr>
          <a:xfrm>
            <a:off x="6263640" y="4572000"/>
            <a:ext cx="5394960" cy="1508760"/>
          </a:xfrm>
          <a:prstGeom prst="roundRect">
            <a:avLst>
              <a:gd name="adj" fmla="val 6061"/>
            </a:avLst>
          </a:prstGeom>
          <a:solidFill>
            <a:srgbClr val="1A0F12"/>
          </a:solidFill>
          <a:ln w="12700">
            <a:solidFill>
              <a:srgbClr val="C8453B"/>
            </a:solidFill>
            <a:prstDash val="solid"/>
          </a:ln>
        </p:spPr>
      </p:sp>
      <p:sp>
        <p:nvSpPr>
          <p:cNvPr id="15" name="Text 10"/>
          <p:cNvSpPr txBox="1"/>
          <p:nvPr/>
        </p:nvSpPr>
        <p:spPr>
          <a:xfrm>
            <a:off x="6492240" y="4645152"/>
            <a:ext cx="493776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 · using a void method as a value</a:t>
            </a:r>
            <a:endParaRPr lang="en-US" sz="1000" dirty="0"/>
          </a:p>
        </p:txBody>
      </p:sp>
      <p:sp>
        <p:nvSpPr>
          <p:cNvPr id="16" name="Text 11"/>
          <p:cNvSpPr txBox="1"/>
          <p:nvPr/>
        </p:nvSpPr>
        <p:spPr>
          <a:xfrm>
            <a:off x="6492240" y="4919472"/>
            <a:ext cx="4937760" cy="1069848"/>
          </a:xfrm>
          <a:prstGeom prst="rect">
            <a:avLst/>
          </a:prstGeom>
          <a:noFill/>
          <a:ln/>
        </p:spPr>
        <p:txBody>
          <a:bodyPr wrap="square" lIns="0" tIns="0" rIns="0" bIns="0" rtlCol="0" anchor="t"/>
          <a:lstStyle/>
          <a:p>
            <a:pPr indent="0" marL="0">
              <a:spcAft>
                <a:spcPts val="200"/>
              </a:spcAft>
              <a:buNone/>
            </a:pPr>
            <a:r>
              <a:rPr lang="en-US" sz="1300" dirty="0">
                <a:solidFill>
                  <a:srgbClr val="FF8A80"/>
                </a:solidFill>
                <a:latin typeface="Courier New" pitchFamily="34" charset="0"/>
                <a:ea typeface="Courier New" pitchFamily="34" charset="-122"/>
                <a:cs typeface="Courier New" pitchFamily="34" charset="-120"/>
              </a:rPr>
              <a:t>int x = PrintTitle("A");</a:t>
            </a:r>
            <a:endParaRPr lang="en-US" sz="1300" dirty="0"/>
          </a:p>
          <a:p>
            <a:pPr indent="0" marL="0">
              <a:spcAft>
                <a:spcPts val="200"/>
              </a:spcAft>
              <a:buNone/>
            </a:pPr>
            <a:r>
              <a:rPr lang="en-US" sz="1300" dirty="0">
                <a:solidFill>
                  <a:srgbClr val="FF8A80"/>
                </a:solidFill>
                <a:latin typeface="Courier New" pitchFamily="34" charset="0"/>
                <a:ea typeface="Courier New" pitchFamily="34" charset="-122"/>
                <a:cs typeface="Courier New" pitchFamily="34" charset="-120"/>
              </a:rPr>
              <a:t>error CS0029: Cannot implicitly convert type 'void' to 'int'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EARLY RETURN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Guard clauses: handle the bad case first, then return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45920"/>
            <a:ext cx="4297680" cy="4434840"/>
          </a:xfrm>
          <a:prstGeom prst="roundRect">
            <a:avLst>
              <a:gd name="adj" fmla="val 2128"/>
            </a:avLst>
          </a:prstGeom>
          <a:solidFill>
            <a:srgbClr val="0F1729"/>
          </a:solidFill>
          <a:ln w="12700">
            <a:solidFill>
              <a:srgbClr val="0F1729"/>
            </a:solidFill>
            <a:prstDash val="solid"/>
          </a:ln>
        </p:spPr>
      </p:sp>
      <p:sp>
        <p:nvSpPr>
          <p:cNvPr id="8" name="Text 5"/>
          <p:cNvSpPr txBox="1"/>
          <p:nvPr/>
        </p:nvSpPr>
        <p:spPr>
          <a:xfrm>
            <a:off x="777240" y="1755648"/>
            <a:ext cx="3840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guard clause + switch</a:t>
            </a:r>
            <a:endParaRPr lang="en-US" sz="1100" dirty="0"/>
          </a:p>
        </p:txBody>
      </p:sp>
      <p:sp>
        <p:nvSpPr>
          <p:cNvPr id="9" name="Text 6"/>
          <p:cNvSpPr txBox="1"/>
          <p:nvPr/>
        </p:nvSpPr>
        <p:spPr>
          <a:xfrm>
            <a:off x="777240" y="2057400"/>
            <a:ext cx="3840480" cy="3913632"/>
          </a:xfrm>
          <a:prstGeom prst="rect">
            <a:avLst/>
          </a:prstGeom>
          <a:noFill/>
          <a:ln/>
        </p:spPr>
        <p:txBody>
          <a:bodyPr wrap="square" lIns="0" tIns="0" rIns="0" bIns="0" rtlCol="0" anchor="t"/>
          <a:lstStyle/>
          <a:p>
            <a:pPr indent="0" marL="0">
              <a:spcAft>
                <a:spcPts val="100"/>
              </a:spcAft>
              <a:buNone/>
            </a:pPr>
            <a:r>
              <a:rPr lang="en-US" sz="135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LetterGrade(</a:t>
            </a:r>
            <a:pPr indent="0" marL="0">
              <a:spcAft>
                <a:spcPts val="100"/>
              </a:spcAft>
              <a:buNone/>
            </a:pPr>
            <a:r>
              <a:rPr lang="en-US" sz="13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score)</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5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(score &lt;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 score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5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"invalid"</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5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score </a:t>
            </a:r>
            <a:pPr indent="0" marL="0">
              <a:spcAft>
                <a:spcPts val="100"/>
              </a:spcAft>
              <a:buNone/>
            </a:pPr>
            <a:r>
              <a:rPr lang="en-US" sz="1350" dirty="0">
                <a:solidFill>
                  <a:srgbClr val="7AB8FF"/>
                </a:solidFill>
                <a:latin typeface="Courier New" pitchFamily="34" charset="0"/>
                <a:ea typeface="Courier New" pitchFamily="34" charset="-122"/>
                <a:cs typeface="Courier New" pitchFamily="34" charset="-120"/>
              </a:rPr>
              <a:t>switch</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"AA"</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80</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"BB"</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75</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"CB"</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70</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"CC"</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65</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"DC"</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"DD"</a:t>
            </a:r>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_ =&gt; </a:t>
            </a:r>
            <a:pPr indent="0" marL="0">
              <a:spcAft>
                <a:spcPts val="100"/>
              </a:spcAft>
              <a:buNone/>
            </a:pPr>
            <a:r>
              <a:rPr lang="en-US" sz="1350" dirty="0">
                <a:solidFill>
                  <a:srgbClr val="CE9178"/>
                </a:solidFill>
                <a:latin typeface="Courier New" pitchFamily="34" charset="0"/>
                <a:ea typeface="Courier New" pitchFamily="34" charset="-122"/>
                <a:cs typeface="Courier New" pitchFamily="34" charset="-120"/>
              </a:rPr>
              <a:t>"FF"</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    };</a:t>
            </a:r>
            <a:endParaRPr lang="en-US" sz="1350" dirty="0"/>
          </a:p>
          <a:p>
            <a:pPr indent="0" marL="0">
              <a:spcAft>
                <a:spcPts val="100"/>
              </a:spcAft>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p:txBody>
      </p:sp>
      <p:sp>
        <p:nvSpPr>
          <p:cNvPr id="10" name="Shape 7"/>
          <p:cNvSpPr/>
          <p:nvPr/>
        </p:nvSpPr>
        <p:spPr>
          <a:xfrm>
            <a:off x="5029200" y="1645920"/>
            <a:ext cx="6629400" cy="2788920"/>
          </a:xfrm>
          <a:prstGeom prst="roundRect">
            <a:avLst>
              <a:gd name="adj" fmla="val 3279"/>
            </a:avLst>
          </a:prstGeom>
          <a:solidFill>
            <a:srgbClr val="0F1729"/>
          </a:solidFill>
          <a:ln w="12700">
            <a:solidFill>
              <a:srgbClr val="0F1729"/>
            </a:solidFill>
            <a:prstDash val="solid"/>
          </a:ln>
        </p:spPr>
      </p:sp>
      <p:sp>
        <p:nvSpPr>
          <p:cNvPr id="11" name="Text 8"/>
          <p:cNvSpPr txBox="1"/>
          <p:nvPr/>
        </p:nvSpPr>
        <p:spPr>
          <a:xfrm>
            <a:off x="5257800" y="1755648"/>
            <a:ext cx="6172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void: return; leaves early</a:t>
            </a:r>
            <a:endParaRPr lang="en-US" sz="1100" dirty="0"/>
          </a:p>
        </p:txBody>
      </p:sp>
      <p:sp>
        <p:nvSpPr>
          <p:cNvPr id="12" name="Text 9"/>
          <p:cNvSpPr txBox="1"/>
          <p:nvPr/>
        </p:nvSpPr>
        <p:spPr>
          <a:xfrm>
            <a:off x="5257800" y="2057400"/>
            <a:ext cx="6172200" cy="226771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PrintQuotient(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cannot divide by zero"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 {a / b} remainder {a %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5029200" y="4572000"/>
            <a:ext cx="2651760" cy="1508760"/>
          </a:xfrm>
          <a:prstGeom prst="roundRect">
            <a:avLst>
              <a:gd name="adj" fmla="val 6061"/>
            </a:avLst>
          </a:prstGeom>
          <a:solidFill>
            <a:srgbClr val="0B0F19"/>
          </a:solidFill>
          <a:ln w="12700">
            <a:solidFill>
              <a:srgbClr val="2A3654"/>
            </a:solidFill>
            <a:prstDash val="solid"/>
          </a:ln>
        </p:spPr>
      </p:sp>
      <p:sp>
        <p:nvSpPr>
          <p:cNvPr id="14" name="Shape 11"/>
          <p:cNvSpPr/>
          <p:nvPr/>
        </p:nvSpPr>
        <p:spPr>
          <a:xfrm>
            <a:off x="5212080" y="4700016"/>
            <a:ext cx="118872" cy="118872"/>
          </a:xfrm>
          <a:prstGeom prst="ellipse">
            <a:avLst/>
          </a:prstGeom>
          <a:solidFill>
            <a:srgbClr val="FF5F57"/>
          </a:solidFill>
          <a:ln w="12700">
            <a:solidFill>
              <a:srgbClr val="FF5F57"/>
            </a:solidFill>
            <a:prstDash val="solid"/>
          </a:ln>
        </p:spPr>
      </p:sp>
      <p:sp>
        <p:nvSpPr>
          <p:cNvPr id="15" name="Shape 12"/>
          <p:cNvSpPr/>
          <p:nvPr/>
        </p:nvSpPr>
        <p:spPr>
          <a:xfrm>
            <a:off x="5440680" y="4700016"/>
            <a:ext cx="118872" cy="118872"/>
          </a:xfrm>
          <a:prstGeom prst="ellipse">
            <a:avLst/>
          </a:prstGeom>
          <a:solidFill>
            <a:srgbClr val="FEBC2E"/>
          </a:solidFill>
          <a:ln w="12700">
            <a:solidFill>
              <a:srgbClr val="FEBC2E"/>
            </a:solidFill>
            <a:prstDash val="solid"/>
          </a:ln>
        </p:spPr>
      </p:sp>
      <p:sp>
        <p:nvSpPr>
          <p:cNvPr id="16" name="Shape 13"/>
          <p:cNvSpPr/>
          <p:nvPr/>
        </p:nvSpPr>
        <p:spPr>
          <a:xfrm>
            <a:off x="5669280" y="470001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5943600" y="4645152"/>
            <a:ext cx="15544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grades</a:t>
            </a:r>
            <a:endParaRPr lang="en-US" sz="1000" dirty="0"/>
          </a:p>
        </p:txBody>
      </p:sp>
      <p:sp>
        <p:nvSpPr>
          <p:cNvPr id="18" name="Text 15"/>
          <p:cNvSpPr txBox="1"/>
          <p:nvPr/>
        </p:nvSpPr>
        <p:spPr>
          <a:xfrm>
            <a:off x="5257800" y="4956048"/>
            <a:ext cx="2194560" cy="10058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95 -&gt; AA</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87 -&gt; BA</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72 -&gt; CC</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105 -&gt; invalid</a:t>
            </a:r>
            <a:endParaRPr lang="en-US" sz="1300" dirty="0"/>
          </a:p>
        </p:txBody>
      </p:sp>
      <p:sp>
        <p:nvSpPr>
          <p:cNvPr id="19" name="Shape 16"/>
          <p:cNvSpPr/>
          <p:nvPr/>
        </p:nvSpPr>
        <p:spPr>
          <a:xfrm>
            <a:off x="7818120" y="4572000"/>
            <a:ext cx="3840480" cy="1508760"/>
          </a:xfrm>
          <a:prstGeom prst="roundRect">
            <a:avLst>
              <a:gd name="adj" fmla="val 6061"/>
            </a:avLst>
          </a:prstGeom>
          <a:solidFill>
            <a:srgbClr val="0B0F19"/>
          </a:solidFill>
          <a:ln w="12700">
            <a:solidFill>
              <a:srgbClr val="2A3654"/>
            </a:solidFill>
            <a:prstDash val="solid"/>
          </a:ln>
        </p:spPr>
      </p:sp>
      <p:sp>
        <p:nvSpPr>
          <p:cNvPr id="20" name="Shape 17"/>
          <p:cNvSpPr/>
          <p:nvPr/>
        </p:nvSpPr>
        <p:spPr>
          <a:xfrm>
            <a:off x="8001000" y="4700016"/>
            <a:ext cx="118872" cy="118872"/>
          </a:xfrm>
          <a:prstGeom prst="ellipse">
            <a:avLst/>
          </a:prstGeom>
          <a:solidFill>
            <a:srgbClr val="FF5F57"/>
          </a:solidFill>
          <a:ln w="12700">
            <a:solidFill>
              <a:srgbClr val="FF5F57"/>
            </a:solidFill>
            <a:prstDash val="solid"/>
          </a:ln>
        </p:spPr>
      </p:sp>
      <p:sp>
        <p:nvSpPr>
          <p:cNvPr id="21" name="Shape 18"/>
          <p:cNvSpPr/>
          <p:nvPr/>
        </p:nvSpPr>
        <p:spPr>
          <a:xfrm>
            <a:off x="8229600" y="4700016"/>
            <a:ext cx="118872" cy="118872"/>
          </a:xfrm>
          <a:prstGeom prst="ellipse">
            <a:avLst/>
          </a:prstGeom>
          <a:solidFill>
            <a:srgbClr val="FEBC2E"/>
          </a:solidFill>
          <a:ln w="12700">
            <a:solidFill>
              <a:srgbClr val="FEBC2E"/>
            </a:solidFill>
            <a:prstDash val="solid"/>
          </a:ln>
        </p:spPr>
      </p:sp>
      <p:sp>
        <p:nvSpPr>
          <p:cNvPr id="22" name="Shape 19"/>
          <p:cNvSpPr/>
          <p:nvPr/>
        </p:nvSpPr>
        <p:spPr>
          <a:xfrm>
            <a:off x="8458200" y="470001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8732520" y="4645152"/>
            <a:ext cx="2743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PrintQuotient</a:t>
            </a:r>
            <a:endParaRPr lang="en-US" sz="1000" dirty="0"/>
          </a:p>
        </p:txBody>
      </p:sp>
      <p:sp>
        <p:nvSpPr>
          <p:cNvPr id="24" name="Text 21"/>
          <p:cNvSpPr txBox="1"/>
          <p:nvPr/>
        </p:nvSpPr>
        <p:spPr>
          <a:xfrm>
            <a:off x="8046720" y="4956048"/>
            <a:ext cx="3383280" cy="10058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17 / 5 = 3 remainder 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17 /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cannot divide by zero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EVERY PATH MUST RETURN · CS0161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compiler checks every way out of the method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45920"/>
            <a:ext cx="4572000" cy="3246120"/>
          </a:xfrm>
          <a:prstGeom prst="roundRect">
            <a:avLst>
              <a:gd name="adj" fmla="val 2817"/>
            </a:avLst>
          </a:prstGeom>
          <a:solidFill>
            <a:srgbClr val="0F1729"/>
          </a:solidFill>
          <a:ln w="12700">
            <a:solidFill>
              <a:srgbClr val="0F1729"/>
            </a:solidFill>
            <a:prstDash val="solid"/>
          </a:ln>
        </p:spPr>
      </p:sp>
      <p:sp>
        <p:nvSpPr>
          <p:cNvPr id="8" name="Text 5"/>
          <p:cNvSpPr txBox="1"/>
          <p:nvPr/>
        </p:nvSpPr>
        <p:spPr>
          <a:xfrm>
            <a:off x="777240" y="1755648"/>
            <a:ext cx="4114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missing the last return</a:t>
            </a:r>
            <a:endParaRPr lang="en-US" sz="1100" dirty="0"/>
          </a:p>
        </p:txBody>
      </p:sp>
      <p:sp>
        <p:nvSpPr>
          <p:cNvPr id="9" name="Text 6"/>
          <p:cNvSpPr txBox="1"/>
          <p:nvPr/>
        </p:nvSpPr>
        <p:spPr>
          <a:xfrm>
            <a:off x="777240" y="2057400"/>
            <a:ext cx="4114800" cy="272491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Sign(</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n == 0: no return!</a:t>
            </a:r>
            <a:endParaRPr lang="en-US" sz="1300" dirty="0"/>
          </a:p>
        </p:txBody>
      </p:sp>
      <p:sp>
        <p:nvSpPr>
          <p:cNvPr id="10" name="Shape 7"/>
          <p:cNvSpPr/>
          <p:nvPr/>
        </p:nvSpPr>
        <p:spPr>
          <a:xfrm>
            <a:off x="548640" y="5029200"/>
            <a:ext cx="4572000" cy="1051560"/>
          </a:xfrm>
          <a:prstGeom prst="roundRect">
            <a:avLst>
              <a:gd name="adj" fmla="val 8696"/>
            </a:avLst>
          </a:prstGeom>
          <a:solidFill>
            <a:srgbClr val="1A0F12"/>
          </a:solidFill>
          <a:ln w="12700">
            <a:solidFill>
              <a:srgbClr val="C8453B"/>
            </a:solidFill>
            <a:prstDash val="solid"/>
          </a:ln>
        </p:spPr>
      </p:sp>
      <p:sp>
        <p:nvSpPr>
          <p:cNvPr id="11" name="Text 8"/>
          <p:cNvSpPr txBox="1"/>
          <p:nvPr/>
        </p:nvSpPr>
        <p:spPr>
          <a:xfrm>
            <a:off x="777240" y="5102352"/>
            <a:ext cx="411480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a:t>
            </a:r>
            <a:endParaRPr lang="en-US" sz="1000" dirty="0"/>
          </a:p>
        </p:txBody>
      </p:sp>
      <p:sp>
        <p:nvSpPr>
          <p:cNvPr id="12" name="Text 9"/>
          <p:cNvSpPr txBox="1"/>
          <p:nvPr/>
        </p:nvSpPr>
        <p:spPr>
          <a:xfrm>
            <a:off x="777240" y="5376672"/>
            <a:ext cx="4114800" cy="612648"/>
          </a:xfrm>
          <a:prstGeom prst="rect">
            <a:avLst/>
          </a:prstGeom>
          <a:noFill/>
          <a:ln/>
        </p:spPr>
        <p:txBody>
          <a:bodyPr wrap="square" lIns="0" tIns="0" rIns="0" bIns="0" rtlCol="0" anchor="t"/>
          <a:lstStyle/>
          <a:p>
            <a:pPr indent="0" marL="0">
              <a:spcAft>
                <a:spcPts val="200"/>
              </a:spcAft>
              <a:buNone/>
            </a:pPr>
            <a:r>
              <a:rPr lang="en-US" sz="1300" dirty="0">
                <a:solidFill>
                  <a:srgbClr val="FF8A80"/>
                </a:solidFill>
                <a:latin typeface="Courier New" pitchFamily="34" charset="0"/>
                <a:ea typeface="Courier New" pitchFamily="34" charset="-122"/>
                <a:cs typeface="Courier New" pitchFamily="34" charset="-120"/>
              </a:rPr>
              <a:t>error CS0161: 'Sign(int)': not all code paths return a value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349240" y="1645920"/>
          <a:ext cx="6309360" cy="914400"/>
        </p:xfrm>
        <a:graphic>
          <a:graphicData uri="http://schemas.openxmlformats.org/drawingml/2006/table">
            <a:tbl>
              <a:tblPr/>
              <a:tblGrid>
                <a:gridCol w="1051560"/>
                <a:gridCol w="3337560"/>
                <a:gridCol w="1920240"/>
              </a:tblGrid>
              <a:tr h="53035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Situation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30352">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CS0161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path ends without return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add the last return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30352">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CS0127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void method: return 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 or make it int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30352">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CS0126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method: return;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 a 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30352">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CS0029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void call used as a 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call it as a statement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30352">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CS0266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method: return n / 2.0;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cast, or return double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4" name="Shape 10"/>
          <p:cNvSpPr/>
          <p:nvPr/>
        </p:nvSpPr>
        <p:spPr>
          <a:xfrm>
            <a:off x="5349240" y="5029200"/>
            <a:ext cx="6309360" cy="1051560"/>
          </a:xfrm>
          <a:prstGeom prst="roundRect">
            <a:avLst>
              <a:gd name="adj" fmla="val 10435"/>
            </a:avLst>
          </a:prstGeom>
          <a:solidFill>
            <a:srgbClr val="FFF6E3"/>
          </a:solidFill>
          <a:ln w="12700">
            <a:solidFill>
              <a:srgbClr val="FFF6E3"/>
            </a:solidFill>
            <a:prstDash val="solid"/>
          </a:ln>
        </p:spPr>
      </p:sp>
      <p:pic>
        <p:nvPicPr>
          <p:cNvPr id="15" name="Image 0" descr="preencoded.png">    </p:cNvPr>
          <p:cNvPicPr>
            <a:picLocks noChangeAspect="1"/>
          </p:cNvPicPr>
          <p:nvPr/>
        </p:nvPicPr>
        <p:blipFill>
          <a:blip r:embed="rId1"/>
          <a:stretch>
            <a:fillRect/>
          </a:stretch>
        </p:blipFill>
        <p:spPr>
          <a:xfrm>
            <a:off x="5623560" y="5280660"/>
            <a:ext cx="548640" cy="548640"/>
          </a:xfrm>
          <a:prstGeom prst="rect">
            <a:avLst/>
          </a:prstGeom>
        </p:spPr>
      </p:pic>
      <p:sp>
        <p:nvSpPr>
          <p:cNvPr id="16" name="Text 11"/>
          <p:cNvSpPr txBox="1"/>
          <p:nvPr/>
        </p:nvSpPr>
        <p:spPr>
          <a:xfrm>
            <a:off x="6446520" y="5102352"/>
            <a:ext cx="4937760" cy="90525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Rule: </a:t>
            </a:r>
            <a:pPr indent="0" marL="0">
              <a:buNone/>
            </a:pPr>
            <a:r>
              <a:rPr lang="en-US" sz="1400" dirty="0">
                <a:solidFill>
                  <a:srgbClr val="333B4F"/>
                </a:solidFill>
                <a:latin typeface="Calibri" pitchFamily="34" charset="0"/>
                <a:ea typeface="Calibri" pitchFamily="34" charset="-122"/>
                <a:cs typeface="Calibri" pitchFamily="34" charset="-120"/>
              </a:rPr>
              <a:t>a value-returning method must end with return on EVERY path — even the "impossible" one.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BOOL PREDICATES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Methods that answer a yes/no question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5120640" cy="1645920"/>
          </a:xfrm>
          <a:prstGeom prst="roundRect">
            <a:avLst>
              <a:gd name="adj" fmla="val 5556"/>
            </a:avLst>
          </a:prstGeom>
          <a:solidFill>
            <a:srgbClr val="0F1729"/>
          </a:solidFill>
          <a:ln w="12700">
            <a:solidFill>
              <a:srgbClr val="0F1729"/>
            </a:solidFill>
            <a:prstDash val="solid"/>
          </a:ln>
        </p:spPr>
      </p:sp>
      <p:sp>
        <p:nvSpPr>
          <p:cNvPr id="8" name="Text 5"/>
          <p:cNvSpPr txBox="1"/>
          <p:nvPr/>
        </p:nvSpPr>
        <p:spPr>
          <a:xfrm>
            <a:off x="77724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return the condition itself</a:t>
            </a:r>
            <a:endParaRPr lang="en-US" sz="1100" dirty="0"/>
          </a:p>
        </p:txBody>
      </p:sp>
      <p:sp>
        <p:nvSpPr>
          <p:cNvPr id="9" name="Text 6"/>
          <p:cNvSpPr txBox="1"/>
          <p:nvPr/>
        </p:nvSpPr>
        <p:spPr>
          <a:xfrm>
            <a:off x="777240" y="2057400"/>
            <a:ext cx="4663440" cy="1124712"/>
          </a:xfrm>
          <a:prstGeom prst="rect">
            <a:avLst/>
          </a:prstGeom>
          <a:noFill/>
          <a:ln/>
        </p:spPr>
        <p:txBody>
          <a:bodyPr wrap="square" lIns="0" tIns="0" rIns="0" bIns="0" rtlCol="0" anchor="t"/>
          <a:lstStyle/>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IsEven(</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sp>
        <p:nvSpPr>
          <p:cNvPr id="10" name="Shape 7"/>
          <p:cNvSpPr/>
          <p:nvPr/>
        </p:nvSpPr>
        <p:spPr>
          <a:xfrm>
            <a:off x="548640" y="3383280"/>
            <a:ext cx="5120640" cy="1600200"/>
          </a:xfrm>
          <a:prstGeom prst="roundRect">
            <a:avLst>
              <a:gd name="adj" fmla="val 5714"/>
            </a:avLst>
          </a:prstGeom>
          <a:solidFill>
            <a:srgbClr val="0F1729"/>
          </a:solidFill>
          <a:ln w="12700">
            <a:solidFill>
              <a:srgbClr val="0F1729"/>
            </a:solidFill>
            <a:prstDash val="solid"/>
          </a:ln>
        </p:spPr>
      </p:sp>
      <p:sp>
        <p:nvSpPr>
          <p:cNvPr id="11" name="Text 8"/>
          <p:cNvSpPr txBox="1"/>
          <p:nvPr/>
        </p:nvSpPr>
        <p:spPr>
          <a:xfrm>
            <a:off x="777240" y="349300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works, but unnecessary</a:t>
            </a:r>
            <a:endParaRPr lang="en-US" sz="1100" dirty="0"/>
          </a:p>
        </p:txBody>
      </p:sp>
      <p:sp>
        <p:nvSpPr>
          <p:cNvPr id="12" name="Text 9"/>
          <p:cNvSpPr txBox="1"/>
          <p:nvPr/>
        </p:nvSpPr>
        <p:spPr>
          <a:xfrm>
            <a:off x="777240" y="3794760"/>
            <a:ext cx="4663440" cy="107899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long-winded</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548640" y="5074920"/>
            <a:ext cx="5120640" cy="1005840"/>
          </a:xfrm>
          <a:prstGeom prst="roundRect">
            <a:avLst>
              <a:gd name="adj" fmla="val 9091"/>
            </a:avLst>
          </a:prstGeom>
          <a:solidFill>
            <a:srgbClr val="0B0F19"/>
          </a:solidFill>
          <a:ln w="12700">
            <a:solidFill>
              <a:srgbClr val="2A3654"/>
            </a:solidFill>
            <a:prstDash val="solid"/>
          </a:ln>
        </p:spPr>
      </p:sp>
      <p:sp>
        <p:nvSpPr>
          <p:cNvPr id="14" name="Shape 11"/>
          <p:cNvSpPr/>
          <p:nvPr/>
        </p:nvSpPr>
        <p:spPr>
          <a:xfrm>
            <a:off x="731520" y="5202936"/>
            <a:ext cx="118872" cy="118872"/>
          </a:xfrm>
          <a:prstGeom prst="ellipse">
            <a:avLst/>
          </a:prstGeom>
          <a:solidFill>
            <a:srgbClr val="FF5F57"/>
          </a:solidFill>
          <a:ln w="12700">
            <a:solidFill>
              <a:srgbClr val="FF5F57"/>
            </a:solidFill>
            <a:prstDash val="solid"/>
          </a:ln>
        </p:spPr>
      </p:sp>
      <p:sp>
        <p:nvSpPr>
          <p:cNvPr id="15" name="Shape 12"/>
          <p:cNvSpPr/>
          <p:nvPr/>
        </p:nvSpPr>
        <p:spPr>
          <a:xfrm>
            <a:off x="960120" y="5202936"/>
            <a:ext cx="118872" cy="118872"/>
          </a:xfrm>
          <a:prstGeom prst="ellipse">
            <a:avLst/>
          </a:prstGeom>
          <a:solidFill>
            <a:srgbClr val="FEBC2E"/>
          </a:solidFill>
          <a:ln w="12700">
            <a:solidFill>
              <a:srgbClr val="FEBC2E"/>
            </a:solidFill>
            <a:prstDash val="solid"/>
          </a:ln>
        </p:spPr>
      </p:sp>
      <p:sp>
        <p:nvSpPr>
          <p:cNvPr id="16" name="Shape 13"/>
          <p:cNvSpPr/>
          <p:nvPr/>
        </p:nvSpPr>
        <p:spPr>
          <a:xfrm>
            <a:off x="1188720" y="5202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1463040" y="5148072"/>
            <a:ext cx="4023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777240" y="5458968"/>
            <a:ext cx="4663440" cy="502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IsEven(14) = True, IsEven(-7) = False</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-29 % 10 = -9, but Mod(-29, 10) = 1</a:t>
            </a:r>
            <a:endParaRPr lang="en-US" sz="1300" dirty="0"/>
          </a:p>
        </p:txBody>
      </p:sp>
      <p:sp>
        <p:nvSpPr>
          <p:cNvPr id="19" name="Shape 16"/>
          <p:cNvSpPr/>
          <p:nvPr/>
        </p:nvSpPr>
        <p:spPr>
          <a:xfrm>
            <a:off x="5897880" y="1645920"/>
            <a:ext cx="5760720" cy="4434840"/>
          </a:xfrm>
          <a:prstGeom prst="roundRect">
            <a:avLst>
              <a:gd name="adj" fmla="val 2062"/>
            </a:avLst>
          </a:prstGeom>
          <a:solidFill>
            <a:srgbClr val="0F1729"/>
          </a:solidFill>
          <a:ln w="12700">
            <a:solidFill>
              <a:srgbClr val="0F1729"/>
            </a:solidFill>
            <a:prstDash val="solid"/>
          </a:ln>
        </p:spPr>
      </p:sp>
      <p:sp>
        <p:nvSpPr>
          <p:cNvPr id="20" name="Text 17"/>
          <p:cNvSpPr txBox="1"/>
          <p:nvPr/>
        </p:nvSpPr>
        <p:spPr>
          <a:xfrm>
            <a:off x="612648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leave as soon as the answer is known</a:t>
            </a:r>
            <a:endParaRPr lang="en-US" sz="1100" dirty="0"/>
          </a:p>
        </p:txBody>
      </p:sp>
      <p:sp>
        <p:nvSpPr>
          <p:cNvPr id="21" name="Text 18"/>
          <p:cNvSpPr txBox="1"/>
          <p:nvPr/>
        </p:nvSpPr>
        <p:spPr>
          <a:xfrm>
            <a:off x="6126480" y="2057400"/>
            <a:ext cx="5303520" cy="391363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IsAllDigits(</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(s.Length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char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 &lt; </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c &gt; </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'9'</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 ALGORITHM AS A METHOD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IsValidTCKimlik: the check digits, finally reusable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45920"/>
            <a:ext cx="4206240" cy="4434840"/>
          </a:xfrm>
          <a:prstGeom prst="roundRect">
            <a:avLst>
              <a:gd name="adj" fmla="val 1739"/>
            </a:avLst>
          </a:prstGeom>
          <a:solidFill>
            <a:srgbClr val="F4F6FA"/>
          </a:solidFill>
          <a:ln w="9525">
            <a:solidFill>
              <a:srgbClr val="C9D0DD"/>
            </a:solidFill>
            <a:prstDash val="solid"/>
          </a:ln>
        </p:spPr>
      </p:sp>
      <p:sp>
        <p:nvSpPr>
          <p:cNvPr id="8" name="Text 5"/>
          <p:cNvSpPr txBox="1"/>
          <p:nvPr/>
        </p:nvSpPr>
        <p:spPr>
          <a:xfrm>
            <a:off x="731520" y="1737360"/>
            <a:ext cx="38404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 (Week 1)</a:t>
            </a:r>
            <a:endParaRPr lang="en-US" sz="1200" dirty="0"/>
          </a:p>
        </p:txBody>
      </p:sp>
      <p:sp>
        <p:nvSpPr>
          <p:cNvPr id="9" name="Text 6"/>
          <p:cNvSpPr txBox="1"/>
          <p:nvPr/>
        </p:nvSpPr>
        <p:spPr>
          <a:xfrm>
            <a:off x="731520" y="2057400"/>
            <a:ext cx="3840480" cy="393192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length ≠ 11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not all digits</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d1 =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RETURN false</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IF</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odd ← d1+d3+d5+d7+d9</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even ← d2+d4+d6+d8</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d10 ← (7·odd − even)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10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d11 ← (odd + even + d10)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10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RETURN digit 10 = d10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AND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digit 11 = d11</a:t>
            </a:r>
            <a:endParaRPr lang="en-US" sz="1400" dirty="0"/>
          </a:p>
        </p:txBody>
      </p:sp>
      <p:sp>
        <p:nvSpPr>
          <p:cNvPr id="10" name="Shape 7"/>
          <p:cNvSpPr/>
          <p:nvPr/>
        </p:nvSpPr>
        <p:spPr>
          <a:xfrm>
            <a:off x="4983480" y="1645920"/>
            <a:ext cx="6675120" cy="4434840"/>
          </a:xfrm>
          <a:prstGeom prst="roundRect">
            <a:avLst>
              <a:gd name="adj" fmla="val 2062"/>
            </a:avLst>
          </a:prstGeom>
          <a:solidFill>
            <a:srgbClr val="0F1729"/>
          </a:solidFill>
          <a:ln w="12700">
            <a:solidFill>
              <a:srgbClr val="0F1729"/>
            </a:solidFill>
            <a:prstDash val="solid"/>
          </a:ln>
        </p:spPr>
      </p:sp>
      <p:sp>
        <p:nvSpPr>
          <p:cNvPr id="11" name="Text 8"/>
          <p:cNvSpPr txBox="1"/>
          <p:nvPr/>
        </p:nvSpPr>
        <p:spPr>
          <a:xfrm>
            <a:off x="521208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13_02_TCKimlik</a:t>
            </a:r>
            <a:endParaRPr lang="en-US" sz="1100" dirty="0"/>
          </a:p>
        </p:txBody>
      </p:sp>
      <p:sp>
        <p:nvSpPr>
          <p:cNvPr id="12" name="Text 9"/>
          <p:cNvSpPr txBox="1"/>
          <p:nvPr/>
        </p:nvSpPr>
        <p:spPr>
          <a:xfrm>
            <a:off x="5212080" y="2057400"/>
            <a:ext cx="6217920" cy="39136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IsValidTCKimlik(</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id)</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(id.Length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!IsAllDigits(id) || id[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d[i] = id[i]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oddSum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evenSum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d10 = Mod(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oddSum - evenSum,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d11 = (oddSum + evenSum + d10)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d10 &amp;&amp; 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d11;</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TESTING THE PREDICATE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Seven synthetic test numbers — and the negative-mod trap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45920"/>
            <a:ext cx="5120640" cy="3017520"/>
          </a:xfrm>
          <a:prstGeom prst="roundRect">
            <a:avLst>
              <a:gd name="adj" fmla="val 3030"/>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4023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2" name="Text 9"/>
          <p:cNvSpPr txBox="1"/>
          <p:nvPr/>
        </p:nvSpPr>
        <p:spPr>
          <a:xfrm>
            <a:off x="777240" y="2029968"/>
            <a:ext cx="4663440" cy="251460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12345678950  -&gt; True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19090909018  -&gt; True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12345678951  -&gt; False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12345678590  -&gt; False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02345678950  -&gt; False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1234567895   -&gt; False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1234567895A  -&gt; False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Number to check: </a:t>
            </a:r>
            <a:pPr indent="0" marL="0">
              <a:spcAft>
                <a:spcPts val="100"/>
              </a:spcAft>
              <a:buNone/>
            </a:pPr>
            <a:r>
              <a:rPr lang="en-US" sz="1400" b="1" dirty="0">
                <a:solidFill>
                  <a:srgbClr val="FCA311"/>
                </a:solidFill>
                <a:latin typeface="Courier New" pitchFamily="34" charset="0"/>
                <a:ea typeface="Courier New" pitchFamily="34" charset="-122"/>
                <a:cs typeface="Courier New" pitchFamily="34" charset="-120"/>
              </a:rPr>
              <a:t>12345678950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The check digits are correct.</a:t>
            </a:r>
            <a:endParaRPr lang="en-US" sz="1400" dirty="0"/>
          </a:p>
        </p:txBody>
      </p:sp>
      <p:sp>
        <p:nvSpPr>
          <p:cNvPr id="13" name="Shape 10"/>
          <p:cNvSpPr/>
          <p:nvPr/>
        </p:nvSpPr>
        <p:spPr>
          <a:xfrm>
            <a:off x="548640" y="4800600"/>
            <a:ext cx="5120640" cy="1280160"/>
          </a:xfrm>
          <a:prstGeom prst="roundRect">
            <a:avLst>
              <a:gd name="adj" fmla="val 8571"/>
            </a:avLst>
          </a:prstGeom>
          <a:solidFill>
            <a:srgbClr val="EEF1F6"/>
          </a:solidFill>
          <a:ln w="12700">
            <a:solidFill>
              <a:srgbClr val="EEF1F6"/>
            </a:solidFill>
            <a:prstDash val="solid"/>
          </a:ln>
        </p:spPr>
      </p:sp>
      <p:pic>
        <p:nvPicPr>
          <p:cNvPr id="14" name="Image 0" descr="preencoded.png">    </p:cNvPr>
          <p:cNvPicPr>
            <a:picLocks noChangeAspect="1"/>
          </p:cNvPicPr>
          <p:nvPr/>
        </p:nvPicPr>
        <p:blipFill>
          <a:blip r:embed="rId1"/>
          <a:stretch>
            <a:fillRect/>
          </a:stretch>
        </p:blipFill>
        <p:spPr>
          <a:xfrm>
            <a:off x="822960" y="5166360"/>
            <a:ext cx="548640" cy="548640"/>
          </a:xfrm>
          <a:prstGeom prst="rect">
            <a:avLst/>
          </a:prstGeom>
        </p:spPr>
      </p:pic>
      <p:sp>
        <p:nvSpPr>
          <p:cNvPr id="15" name="Text 11"/>
          <p:cNvSpPr txBox="1"/>
          <p:nvPr/>
        </p:nvSpPr>
        <p:spPr>
          <a:xfrm>
            <a:off x="1645920" y="4873752"/>
            <a:ext cx="3749040" cy="1133856"/>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One reason per test: </a:t>
            </a:r>
            <a:pPr indent="0" marL="0">
              <a:buNone/>
            </a:pPr>
            <a:r>
              <a:rPr lang="en-US" sz="1300" dirty="0">
                <a:solidFill>
                  <a:srgbClr val="333B4F"/>
                </a:solidFill>
                <a:latin typeface="Calibri" pitchFamily="34" charset="0"/>
                <a:ea typeface="Calibri" pitchFamily="34" charset="-122"/>
                <a:cs typeface="Calibri" pitchFamily="34" charset="-120"/>
              </a:rPr>
              <a:t>valid · negative 7·odd − even · wrong d11 · swapped digits · leading 0 · 10 digits · a letter</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897880" y="1645920"/>
          <a:ext cx="5760720" cy="914400"/>
        </p:xfrm>
        <a:graphic>
          <a:graphicData uri="http://schemas.openxmlformats.org/drawingml/2006/table">
            <a:tbl>
              <a:tblPr/>
              <a:tblGrid>
                <a:gridCol w="3291840"/>
                <a:gridCol w="2468880"/>
              </a:tblGrid>
              <a:tr h="42976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19090909018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odd = 1+0+0+0+0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even = 9+9+9+9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36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7·odd − even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C8453B"/>
                          </a:solidFill>
                          <a:latin typeface="Calibri" pitchFamily="34" charset="0"/>
                          <a:ea typeface="Calibri" pitchFamily="34" charset="-122"/>
                          <a:cs typeface="Calibri" pitchFamily="34" charset="-120"/>
                        </a:rPr>
                        <a:t>−29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-29 % 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C8453B"/>
                          </a:solidFill>
                          <a:latin typeface="Calibri" pitchFamily="34" charset="0"/>
                          <a:ea typeface="Calibri" pitchFamily="34" charset="-122"/>
                          <a:cs typeface="Calibri" pitchFamily="34" charset="-120"/>
                        </a:rPr>
                        <a:t>−9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Mod(-29, 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7A50"/>
                          </a:solidFill>
                          <a:latin typeface="Calibri" pitchFamily="34" charset="0"/>
                          <a:ea typeface="Calibri" pitchFamily="34" charset="-122"/>
                          <a:cs typeface="Calibri" pitchFamily="34" charset="-120"/>
                        </a:rPr>
                        <a:t>1  ✓ = digit 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 + 36 + 1) % 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1F7A50"/>
                          </a:solidFill>
                          <a:latin typeface="Calibri" pitchFamily="34" charset="0"/>
                          <a:ea typeface="Calibri" pitchFamily="34" charset="-122"/>
                          <a:cs typeface="Calibri" pitchFamily="34" charset="-120"/>
                        </a:rPr>
                        <a:t>8  ✓ = digit 11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7" name="Shape 12"/>
          <p:cNvSpPr/>
          <p:nvPr/>
        </p:nvSpPr>
        <p:spPr>
          <a:xfrm>
            <a:off x="5897880" y="4846320"/>
            <a:ext cx="5760720" cy="1234440"/>
          </a:xfrm>
          <a:prstGeom prst="roundRect">
            <a:avLst>
              <a:gd name="adj" fmla="val 8889"/>
            </a:avLst>
          </a:prstGeom>
          <a:solidFill>
            <a:srgbClr val="FBE9E7"/>
          </a:solidFill>
          <a:ln w="12700">
            <a:solidFill>
              <a:srgbClr val="FBE9E7"/>
            </a:solidFill>
            <a:prstDash val="solid"/>
          </a:ln>
        </p:spPr>
      </p:sp>
      <p:pic>
        <p:nvPicPr>
          <p:cNvPr id="18" name="Image 1" descr="preencoded.png">    </p:cNvPr>
          <p:cNvPicPr>
            <a:picLocks noChangeAspect="1"/>
          </p:cNvPicPr>
          <p:nvPr/>
        </p:nvPicPr>
        <p:blipFill>
          <a:blip r:embed="rId2"/>
          <a:stretch>
            <a:fillRect/>
          </a:stretch>
        </p:blipFill>
        <p:spPr>
          <a:xfrm>
            <a:off x="6172200" y="5189220"/>
            <a:ext cx="548640" cy="548640"/>
          </a:xfrm>
          <a:prstGeom prst="rect">
            <a:avLst/>
          </a:prstGeom>
        </p:spPr>
      </p:pic>
      <p:sp>
        <p:nvSpPr>
          <p:cNvPr id="19" name="Text 13"/>
          <p:cNvSpPr txBox="1"/>
          <p:nvPr/>
        </p:nvSpPr>
        <p:spPr>
          <a:xfrm>
            <a:off x="6995160" y="4919472"/>
            <a:ext cx="4389120" cy="10881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Synthetic numbers only. </a:t>
            </a:r>
            <a:pPr indent="0" marL="0">
              <a:buNone/>
            </a:pPr>
            <a:r>
              <a:rPr lang="en-US" sz="1400" dirty="0">
                <a:solidFill>
                  <a:srgbClr val="333B4F"/>
                </a:solidFill>
                <a:latin typeface="Calibri" pitchFamily="34" charset="0"/>
                <a:ea typeface="Calibri" pitchFamily="34" charset="-122"/>
                <a:cs typeface="Calibri" pitchFamily="34" charset="-120"/>
              </a:rPr>
              <a:t>Never use or share a real person's T.C. Kimlik No in code, tests or screenshots.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More than one value · composition · purity</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Returning arrays · out parameters and tuples · calls inside calls · side effects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RETURNING ARRAYS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method can create an array and hand it back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45920"/>
            <a:ext cx="5212080" cy="3200400"/>
          </a:xfrm>
          <a:prstGeom prst="roundRect">
            <a:avLst>
              <a:gd name="adj" fmla="val 2857"/>
            </a:avLst>
          </a:prstGeom>
          <a:solidFill>
            <a:srgbClr val="0F1729"/>
          </a:solidFill>
          <a:ln w="12700">
            <a:solidFill>
              <a:srgbClr val="0F1729"/>
            </a:solidFill>
            <a:prstDash val="solid"/>
          </a:ln>
        </p:spPr>
      </p:sp>
      <p:sp>
        <p:nvSpPr>
          <p:cNvPr id="8" name="Text 5"/>
          <p:cNvSpPr txBox="1"/>
          <p:nvPr/>
        </p:nvSpPr>
        <p:spPr>
          <a:xfrm>
            <a:off x="777240" y="1755648"/>
            <a:ext cx="47548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creates, fills, returns</a:t>
            </a:r>
            <a:endParaRPr lang="en-US" sz="1100" dirty="0"/>
          </a:p>
        </p:txBody>
      </p:sp>
      <p:sp>
        <p:nvSpPr>
          <p:cNvPr id="9" name="Text 6"/>
          <p:cNvSpPr txBox="1"/>
          <p:nvPr/>
        </p:nvSpPr>
        <p:spPr>
          <a:xfrm>
            <a:off x="777240" y="2057400"/>
            <a:ext cx="4754880" cy="267919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ReadArray(</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value {i + 1}: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result[i]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983480"/>
            <a:ext cx="5212080" cy="1097280"/>
          </a:xfrm>
          <a:prstGeom prst="roundRect">
            <a:avLst>
              <a:gd name="adj" fmla="val 8333"/>
            </a:avLst>
          </a:prstGeom>
          <a:solidFill>
            <a:srgbClr val="0F1729"/>
          </a:solidFill>
          <a:ln w="12700">
            <a:solidFill>
              <a:srgbClr val="0F1729"/>
            </a:solidFill>
            <a:prstDash val="solid"/>
          </a:ln>
        </p:spPr>
      </p:sp>
      <p:sp>
        <p:nvSpPr>
          <p:cNvPr id="11" name="Text 8"/>
          <p:cNvSpPr txBox="1"/>
          <p:nvPr/>
        </p:nvSpPr>
        <p:spPr>
          <a:xfrm>
            <a:off x="777240" y="5148072"/>
            <a:ext cx="4754880" cy="82296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data = ReadArray(n);</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evens = EvensOnly(data);</a:t>
            </a:r>
            <a:endParaRPr lang="en-US" sz="1400" dirty="0"/>
          </a:p>
        </p:txBody>
      </p:sp>
      <p:sp>
        <p:nvSpPr>
          <p:cNvPr id="12" name="Shape 9"/>
          <p:cNvSpPr/>
          <p:nvPr/>
        </p:nvSpPr>
        <p:spPr>
          <a:xfrm>
            <a:off x="5989320" y="1645920"/>
            <a:ext cx="5669280" cy="2743200"/>
          </a:xfrm>
          <a:prstGeom prst="roundRect">
            <a:avLst>
              <a:gd name="adj" fmla="val 3333"/>
            </a:avLst>
          </a:prstGeom>
          <a:solidFill>
            <a:srgbClr val="0B0F19"/>
          </a:solidFill>
          <a:ln w="12700">
            <a:solidFill>
              <a:srgbClr val="2A3654"/>
            </a:solidFill>
            <a:prstDash val="solid"/>
          </a:ln>
        </p:spPr>
      </p:sp>
      <p:sp>
        <p:nvSpPr>
          <p:cNvPr id="13" name="Shape 10"/>
          <p:cNvSpPr/>
          <p:nvPr/>
        </p:nvSpPr>
        <p:spPr>
          <a:xfrm>
            <a:off x="6172200" y="1773936"/>
            <a:ext cx="118872" cy="118872"/>
          </a:xfrm>
          <a:prstGeom prst="ellipse">
            <a:avLst/>
          </a:prstGeom>
          <a:solidFill>
            <a:srgbClr val="FF5F57"/>
          </a:solidFill>
          <a:ln w="12700">
            <a:solidFill>
              <a:srgbClr val="FF5F57"/>
            </a:solidFill>
            <a:prstDash val="solid"/>
          </a:ln>
        </p:spPr>
      </p:sp>
      <p:sp>
        <p:nvSpPr>
          <p:cNvPr id="14" name="Shape 11"/>
          <p:cNvSpPr/>
          <p:nvPr/>
        </p:nvSpPr>
        <p:spPr>
          <a:xfrm>
            <a:off x="6400800" y="1773936"/>
            <a:ext cx="118872" cy="118872"/>
          </a:xfrm>
          <a:prstGeom prst="ellipse">
            <a:avLst/>
          </a:prstGeom>
          <a:solidFill>
            <a:srgbClr val="FEBC2E"/>
          </a:solidFill>
          <a:ln w="12700">
            <a:solidFill>
              <a:srgbClr val="FEBC2E"/>
            </a:solidFill>
            <a:prstDash val="solid"/>
          </a:ln>
        </p:spPr>
      </p:sp>
      <p:sp>
        <p:nvSpPr>
          <p:cNvPr id="15" name="Shape 12"/>
          <p:cNvSpPr/>
          <p:nvPr/>
        </p:nvSpPr>
        <p:spPr>
          <a:xfrm>
            <a:off x="6629400" y="177393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6903720" y="1719072"/>
            <a:ext cx="4572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7" name="Text 14"/>
          <p:cNvSpPr txBox="1"/>
          <p:nvPr/>
        </p:nvSpPr>
        <p:spPr>
          <a:xfrm>
            <a:off x="6217920" y="2029968"/>
            <a:ext cx="5212080" cy="2240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How many numbers?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value 1: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value 2: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value 3: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value 4: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value 5: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data    : [8, 3, 12, 7, 6]  (Length 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reversed: [6, 7, 12, 3, 8]  (Length 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evens   : [8, 12, 6]  (Length 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data    : [8, 3, 12, 7, 6]  (Length 5)</a:t>
            </a:r>
            <a:endParaRPr lang="en-US" sz="1300" dirty="0"/>
          </a:p>
        </p:txBody>
      </p:sp>
      <p:sp>
        <p:nvSpPr>
          <p:cNvPr id="18" name="Text 15"/>
          <p:cNvSpPr txBox="1"/>
          <p:nvPr/>
        </p:nvSpPr>
        <p:spPr>
          <a:xfrm>
            <a:off x="5989320" y="4526280"/>
            <a:ext cx="1097280" cy="45720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data</a:t>
            </a:r>
            <a:endParaRPr lang="en-US" sz="1400" dirty="0"/>
          </a:p>
        </p:txBody>
      </p:sp>
      <p:sp>
        <p:nvSpPr>
          <p:cNvPr id="19" name="Shape 16"/>
          <p:cNvSpPr/>
          <p:nvPr/>
        </p:nvSpPr>
        <p:spPr>
          <a:xfrm>
            <a:off x="7086600" y="4526280"/>
            <a:ext cx="566928" cy="457200"/>
          </a:xfrm>
          <a:prstGeom prst="rect">
            <a:avLst/>
          </a:prstGeom>
          <a:solidFill>
            <a:srgbClr val="E6F4EC"/>
          </a:solidFill>
          <a:ln w="9525">
            <a:solidFill>
              <a:srgbClr val="8A94AB"/>
            </a:solidFill>
            <a:prstDash val="solid"/>
          </a:ln>
        </p:spPr>
      </p:sp>
      <p:sp>
        <p:nvSpPr>
          <p:cNvPr id="20" name="Text 17"/>
          <p:cNvSpPr txBox="1"/>
          <p:nvPr/>
        </p:nvSpPr>
        <p:spPr>
          <a:xfrm>
            <a:off x="7086600" y="452628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21" name="Shape 18"/>
          <p:cNvSpPr/>
          <p:nvPr/>
        </p:nvSpPr>
        <p:spPr>
          <a:xfrm>
            <a:off x="7653528" y="4526280"/>
            <a:ext cx="566928" cy="457200"/>
          </a:xfrm>
          <a:prstGeom prst="rect">
            <a:avLst/>
          </a:prstGeom>
          <a:solidFill>
            <a:srgbClr val="FFFFFF"/>
          </a:solidFill>
          <a:ln w="9525">
            <a:solidFill>
              <a:srgbClr val="8A94AB"/>
            </a:solidFill>
            <a:prstDash val="solid"/>
          </a:ln>
        </p:spPr>
      </p:sp>
      <p:sp>
        <p:nvSpPr>
          <p:cNvPr id="22" name="Text 19"/>
          <p:cNvSpPr txBox="1"/>
          <p:nvPr/>
        </p:nvSpPr>
        <p:spPr>
          <a:xfrm>
            <a:off x="7653528" y="452628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23" name="Shape 20"/>
          <p:cNvSpPr/>
          <p:nvPr/>
        </p:nvSpPr>
        <p:spPr>
          <a:xfrm>
            <a:off x="8220456" y="4526280"/>
            <a:ext cx="566928" cy="457200"/>
          </a:xfrm>
          <a:prstGeom prst="rect">
            <a:avLst/>
          </a:prstGeom>
          <a:solidFill>
            <a:srgbClr val="E6F4EC"/>
          </a:solidFill>
          <a:ln w="9525">
            <a:solidFill>
              <a:srgbClr val="8A94AB"/>
            </a:solidFill>
            <a:prstDash val="solid"/>
          </a:ln>
        </p:spPr>
      </p:sp>
      <p:sp>
        <p:nvSpPr>
          <p:cNvPr id="24" name="Text 21"/>
          <p:cNvSpPr txBox="1"/>
          <p:nvPr/>
        </p:nvSpPr>
        <p:spPr>
          <a:xfrm>
            <a:off x="8220456" y="452628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12</a:t>
            </a:r>
            <a:endParaRPr lang="en-US" sz="1500" dirty="0"/>
          </a:p>
        </p:txBody>
      </p:sp>
      <p:sp>
        <p:nvSpPr>
          <p:cNvPr id="25" name="Shape 22"/>
          <p:cNvSpPr/>
          <p:nvPr/>
        </p:nvSpPr>
        <p:spPr>
          <a:xfrm>
            <a:off x="8787384" y="4526280"/>
            <a:ext cx="566928" cy="457200"/>
          </a:xfrm>
          <a:prstGeom prst="rect">
            <a:avLst/>
          </a:prstGeom>
          <a:solidFill>
            <a:srgbClr val="FFFFFF"/>
          </a:solidFill>
          <a:ln w="9525">
            <a:solidFill>
              <a:srgbClr val="8A94AB"/>
            </a:solidFill>
            <a:prstDash val="solid"/>
          </a:ln>
        </p:spPr>
      </p:sp>
      <p:sp>
        <p:nvSpPr>
          <p:cNvPr id="26" name="Text 23"/>
          <p:cNvSpPr txBox="1"/>
          <p:nvPr/>
        </p:nvSpPr>
        <p:spPr>
          <a:xfrm>
            <a:off x="8787384" y="452628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7</a:t>
            </a:r>
            <a:endParaRPr lang="en-US" sz="1500" dirty="0"/>
          </a:p>
        </p:txBody>
      </p:sp>
      <p:sp>
        <p:nvSpPr>
          <p:cNvPr id="27" name="Shape 24"/>
          <p:cNvSpPr/>
          <p:nvPr/>
        </p:nvSpPr>
        <p:spPr>
          <a:xfrm>
            <a:off x="9354312" y="4526280"/>
            <a:ext cx="566928" cy="457200"/>
          </a:xfrm>
          <a:prstGeom prst="rect">
            <a:avLst/>
          </a:prstGeom>
          <a:solidFill>
            <a:srgbClr val="E6F4EC"/>
          </a:solidFill>
          <a:ln w="9525">
            <a:solidFill>
              <a:srgbClr val="8A94AB"/>
            </a:solidFill>
            <a:prstDash val="solid"/>
          </a:ln>
        </p:spPr>
      </p:sp>
      <p:sp>
        <p:nvSpPr>
          <p:cNvPr id="28" name="Text 25"/>
          <p:cNvSpPr txBox="1"/>
          <p:nvPr/>
        </p:nvSpPr>
        <p:spPr>
          <a:xfrm>
            <a:off x="9354312" y="452628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29" name="Text 26"/>
          <p:cNvSpPr txBox="1"/>
          <p:nvPr/>
        </p:nvSpPr>
        <p:spPr>
          <a:xfrm>
            <a:off x="5989320" y="5120640"/>
            <a:ext cx="1097280" cy="457200"/>
          </a:xfrm>
          <a:prstGeom prst="rect">
            <a:avLst/>
          </a:prstGeom>
          <a:noFill/>
          <a:ln/>
        </p:spPr>
        <p:txBody>
          <a:bodyPr wrap="square" lIns="0" tIns="0" rIns="0" bIns="0" rtlCol="0" anchor="ct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evens</a:t>
            </a:r>
            <a:endParaRPr lang="en-US" sz="1400" dirty="0"/>
          </a:p>
        </p:txBody>
      </p:sp>
      <p:sp>
        <p:nvSpPr>
          <p:cNvPr id="30" name="Shape 27"/>
          <p:cNvSpPr/>
          <p:nvPr/>
        </p:nvSpPr>
        <p:spPr>
          <a:xfrm>
            <a:off x="7086600" y="5120640"/>
            <a:ext cx="566928" cy="457200"/>
          </a:xfrm>
          <a:prstGeom prst="rect">
            <a:avLst/>
          </a:prstGeom>
          <a:solidFill>
            <a:srgbClr val="E6F4EC"/>
          </a:solidFill>
          <a:ln w="9525">
            <a:solidFill>
              <a:srgbClr val="8A94AB"/>
            </a:solidFill>
            <a:prstDash val="solid"/>
          </a:ln>
        </p:spPr>
      </p:sp>
      <p:sp>
        <p:nvSpPr>
          <p:cNvPr id="31" name="Text 28"/>
          <p:cNvSpPr txBox="1"/>
          <p:nvPr/>
        </p:nvSpPr>
        <p:spPr>
          <a:xfrm>
            <a:off x="7086600" y="512064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32" name="Shape 29"/>
          <p:cNvSpPr/>
          <p:nvPr/>
        </p:nvSpPr>
        <p:spPr>
          <a:xfrm>
            <a:off x="7653528" y="5120640"/>
            <a:ext cx="566928" cy="457200"/>
          </a:xfrm>
          <a:prstGeom prst="rect">
            <a:avLst/>
          </a:prstGeom>
          <a:solidFill>
            <a:srgbClr val="E6F4EC"/>
          </a:solidFill>
          <a:ln w="9525">
            <a:solidFill>
              <a:srgbClr val="8A94AB"/>
            </a:solidFill>
            <a:prstDash val="solid"/>
          </a:ln>
        </p:spPr>
      </p:sp>
      <p:sp>
        <p:nvSpPr>
          <p:cNvPr id="33" name="Text 30"/>
          <p:cNvSpPr txBox="1"/>
          <p:nvPr/>
        </p:nvSpPr>
        <p:spPr>
          <a:xfrm>
            <a:off x="7653528" y="512064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12</a:t>
            </a:r>
            <a:endParaRPr lang="en-US" sz="1500" dirty="0"/>
          </a:p>
        </p:txBody>
      </p:sp>
      <p:sp>
        <p:nvSpPr>
          <p:cNvPr id="34" name="Shape 31"/>
          <p:cNvSpPr/>
          <p:nvPr/>
        </p:nvSpPr>
        <p:spPr>
          <a:xfrm>
            <a:off x="8220456" y="5120640"/>
            <a:ext cx="566928" cy="457200"/>
          </a:xfrm>
          <a:prstGeom prst="rect">
            <a:avLst/>
          </a:prstGeom>
          <a:solidFill>
            <a:srgbClr val="E6F4EC"/>
          </a:solidFill>
          <a:ln w="9525">
            <a:solidFill>
              <a:srgbClr val="8A94AB"/>
            </a:solidFill>
            <a:prstDash val="solid"/>
          </a:ln>
        </p:spPr>
      </p:sp>
      <p:sp>
        <p:nvSpPr>
          <p:cNvPr id="35" name="Text 32"/>
          <p:cNvSpPr txBox="1"/>
          <p:nvPr/>
        </p:nvSpPr>
        <p:spPr>
          <a:xfrm>
            <a:off x="8220456" y="5120640"/>
            <a:ext cx="56692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36" name="Text 33"/>
          <p:cNvSpPr txBox="1"/>
          <p:nvPr/>
        </p:nvSpPr>
        <p:spPr>
          <a:xfrm>
            <a:off x="10012680" y="4526280"/>
            <a:ext cx="1645920" cy="105156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pass 1: count = 3</a:t>
            </a:r>
            <a:endParaRPr lang="en-US" sz="1300" dirty="0"/>
          </a:p>
          <a:p>
            <a:pPr indent="0" marL="0">
              <a:buNone/>
            </a:pPr>
            <a:r>
              <a:rPr lang="en-US" sz="1300" dirty="0">
                <a:solidFill>
                  <a:srgbClr val="5B6478"/>
                </a:solidFill>
                <a:latin typeface="Calibri" pitchFamily="34" charset="0"/>
                <a:ea typeface="Calibri" pitchFamily="34" charset="-122"/>
                <a:cs typeface="Calibri" pitchFamily="34" charset="-120"/>
              </a:rPr>
              <a:t>pass 2: copy</a:t>
            </a:r>
            <a:endParaRPr lang="en-US" sz="1300" dirty="0"/>
          </a:p>
        </p:txBody>
      </p:sp>
      <p:sp>
        <p:nvSpPr>
          <p:cNvPr id="37" name="Text 34"/>
          <p:cNvSpPr txBox="1"/>
          <p:nvPr/>
        </p:nvSpPr>
        <p:spPr>
          <a:xfrm>
            <a:off x="7086600" y="5623560"/>
            <a:ext cx="4114800" cy="365760"/>
          </a:xfrm>
          <a:prstGeom prst="rect">
            <a:avLst/>
          </a:prstGeom>
          <a:noFill/>
          <a:ln/>
        </p:spPr>
        <p:txBody>
          <a:bodyPr wrap="square" lIns="0" tIns="0" rIns="0" bIns="0" rtlCol="0" anchor="ctr"/>
          <a:lstStyle/>
          <a:p>
            <a:pPr indent="0" marL="0">
              <a:buNone/>
            </a:pPr>
            <a:r>
              <a:rPr lang="en-US" sz="1300" b="1" dirty="0">
                <a:solidFill>
                  <a:srgbClr val="1F7A50"/>
                </a:solidFill>
                <a:latin typeface="Calibri" pitchFamily="34" charset="0"/>
                <a:ea typeface="Calibri" pitchFamily="34" charset="-122"/>
                <a:cs typeface="Calibri" pitchFamily="34" charset="-120"/>
              </a:rPr>
              <a:t>a NEW array of length 3</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TWO RESULTS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Two results: out parameters or a tuple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45920"/>
            <a:ext cx="589788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55648"/>
            <a:ext cx="5440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out parameters</a:t>
            </a:r>
            <a:endParaRPr lang="en-US" sz="1100" dirty="0"/>
          </a:p>
        </p:txBody>
      </p:sp>
      <p:sp>
        <p:nvSpPr>
          <p:cNvPr id="9" name="Text 6"/>
          <p:cNvSpPr txBox="1"/>
          <p:nvPr/>
        </p:nvSpPr>
        <p:spPr>
          <a:xfrm>
            <a:off x="777240" y="2057400"/>
            <a:ext cx="5440680" cy="222199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MinMaxOut(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 = a[</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 = a[</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 loop updates min and 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629400" y="1645920"/>
            <a:ext cx="5029200" cy="2743200"/>
          </a:xfrm>
          <a:prstGeom prst="roundRect">
            <a:avLst>
              <a:gd name="adj" fmla="val 3333"/>
            </a:avLst>
          </a:prstGeom>
          <a:solidFill>
            <a:srgbClr val="0F1729"/>
          </a:solidFill>
          <a:ln w="12700">
            <a:solidFill>
              <a:srgbClr val="0F1729"/>
            </a:solidFill>
            <a:prstDash val="solid"/>
          </a:ln>
        </p:spPr>
      </p:sp>
      <p:sp>
        <p:nvSpPr>
          <p:cNvPr id="11" name="Text 8"/>
          <p:cNvSpPr txBox="1"/>
          <p:nvPr/>
        </p:nvSpPr>
        <p:spPr>
          <a:xfrm>
            <a:off x="6858000" y="1755648"/>
            <a:ext cx="45720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 named tuple</a:t>
            </a:r>
            <a:endParaRPr lang="en-US" sz="1100" dirty="0"/>
          </a:p>
        </p:txBody>
      </p:sp>
      <p:sp>
        <p:nvSpPr>
          <p:cNvPr id="12" name="Text 9"/>
          <p:cNvSpPr txBox="1"/>
          <p:nvPr/>
        </p:nvSpPr>
        <p:spPr>
          <a:xfrm>
            <a:off x="6858000" y="2057400"/>
            <a:ext cx="4572000" cy="222199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min,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max) MinMax(</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min = a[</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max = a[</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 loop updates min and max</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(min, max);</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3" name="Shape 10"/>
          <p:cNvSpPr/>
          <p:nvPr/>
        </p:nvSpPr>
        <p:spPr>
          <a:xfrm>
            <a:off x="548640" y="4526280"/>
            <a:ext cx="5897880" cy="685800"/>
          </a:xfrm>
          <a:prstGeom prst="roundRect">
            <a:avLst>
              <a:gd name="adj" fmla="val 13333"/>
            </a:avLst>
          </a:prstGeom>
          <a:solidFill>
            <a:srgbClr val="0F1729"/>
          </a:solidFill>
          <a:ln w="12700">
            <a:solidFill>
              <a:srgbClr val="0F1729"/>
            </a:solidFill>
            <a:prstDash val="solid"/>
          </a:ln>
        </p:spPr>
      </p:sp>
      <p:sp>
        <p:nvSpPr>
          <p:cNvPr id="14" name="Text 11"/>
          <p:cNvSpPr txBox="1"/>
          <p:nvPr/>
        </p:nvSpPr>
        <p:spPr>
          <a:xfrm>
            <a:off x="777240" y="4690872"/>
            <a:ext cx="5440680" cy="411480"/>
          </a:xfrm>
          <a:prstGeom prst="rect">
            <a:avLst/>
          </a:prstGeom>
          <a:noFill/>
          <a:ln/>
        </p:spPr>
        <p:txBody>
          <a:bodyPr wrap="square" lIns="0" tIns="0" rIns="0" bIns="0" rtlCol="0" anchor="t"/>
          <a:lstStyle/>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MinMaxOut(temps,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low,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high);</a:t>
            </a:r>
            <a:endParaRPr lang="en-US" sz="1400" dirty="0"/>
          </a:p>
        </p:txBody>
      </p:sp>
      <p:sp>
        <p:nvSpPr>
          <p:cNvPr id="15" name="Shape 12"/>
          <p:cNvSpPr/>
          <p:nvPr/>
        </p:nvSpPr>
        <p:spPr>
          <a:xfrm>
            <a:off x="6629400" y="4526280"/>
            <a:ext cx="5029200" cy="685800"/>
          </a:xfrm>
          <a:prstGeom prst="roundRect">
            <a:avLst>
              <a:gd name="adj" fmla="val 13333"/>
            </a:avLst>
          </a:prstGeom>
          <a:solidFill>
            <a:srgbClr val="0F1729"/>
          </a:solidFill>
          <a:ln w="12700">
            <a:solidFill>
              <a:srgbClr val="0F1729"/>
            </a:solidFill>
            <a:prstDash val="solid"/>
          </a:ln>
        </p:spPr>
      </p:sp>
      <p:sp>
        <p:nvSpPr>
          <p:cNvPr id="16" name="Text 13"/>
          <p:cNvSpPr txBox="1"/>
          <p:nvPr/>
        </p:nvSpPr>
        <p:spPr>
          <a:xfrm>
            <a:off x="6858000" y="4690872"/>
            <a:ext cx="4572000" cy="411480"/>
          </a:xfrm>
          <a:prstGeom prst="rect">
            <a:avLst/>
          </a:prstGeom>
          <a:noFill/>
          <a:ln/>
        </p:spPr>
        <p:txBody>
          <a:bodyPr wrap="square" lIns="0" tIns="0" rIns="0" bIns="0" rtlCol="0" anchor="t"/>
          <a:lstStyle/>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min,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max) = MinMax(temps);</a:t>
            </a:r>
            <a:endParaRPr lang="en-US" sz="1400" dirty="0"/>
          </a:p>
        </p:txBody>
      </p:sp>
      <p:sp>
        <p:nvSpPr>
          <p:cNvPr id="17" name="Shape 14"/>
          <p:cNvSpPr/>
          <p:nvPr/>
        </p:nvSpPr>
        <p:spPr>
          <a:xfrm>
            <a:off x="548640" y="5349240"/>
            <a:ext cx="5897880" cy="731520"/>
          </a:xfrm>
          <a:prstGeom prst="roundRect">
            <a:avLst>
              <a:gd name="adj" fmla="val 15000"/>
            </a:avLst>
          </a:prstGeom>
          <a:solidFill>
            <a:srgbClr val="FFF6E3"/>
          </a:solidFill>
          <a:ln w="12700">
            <a:solidFill>
              <a:srgbClr val="FFF6E3"/>
            </a:solidFill>
            <a:prstDash val="solid"/>
          </a:ln>
        </p:spPr>
      </p:sp>
      <p:pic>
        <p:nvPicPr>
          <p:cNvPr id="18" name="Image 0" descr="preencoded.png">    </p:cNvPr>
          <p:cNvPicPr>
            <a:picLocks noChangeAspect="1"/>
          </p:cNvPicPr>
          <p:nvPr/>
        </p:nvPicPr>
        <p:blipFill>
          <a:blip r:embed="rId1"/>
          <a:stretch>
            <a:fillRect/>
          </a:stretch>
        </p:blipFill>
        <p:spPr>
          <a:xfrm>
            <a:off x="822960" y="5486400"/>
            <a:ext cx="457200" cy="457200"/>
          </a:xfrm>
          <a:prstGeom prst="rect">
            <a:avLst/>
          </a:prstGeom>
        </p:spPr>
      </p:pic>
      <p:sp>
        <p:nvSpPr>
          <p:cNvPr id="19" name="Text 15"/>
          <p:cNvSpPr txBox="1"/>
          <p:nvPr/>
        </p:nvSpPr>
        <p:spPr>
          <a:xfrm>
            <a:off x="1554480" y="5422392"/>
            <a:ext cx="4617720" cy="58521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out: </a:t>
            </a:r>
            <a:pPr indent="0" marL="0">
              <a:buNone/>
            </a:pPr>
            <a:r>
              <a:rPr lang="en-US" sz="1400" dirty="0">
                <a:solidFill>
                  <a:srgbClr val="333B4F"/>
                </a:solidFill>
                <a:latin typeface="Calibri" pitchFamily="34" charset="0"/>
                <a:ea typeface="Calibri" pitchFamily="34" charset="-122"/>
                <a:cs typeface="Calibri" pitchFamily="34" charset="-120"/>
              </a:rPr>
              <a:t>must be assigned inside — like int.TryParse.</a:t>
            </a:r>
            <a:endParaRPr lang="en-US" sz="1400" dirty="0"/>
          </a:p>
        </p:txBody>
      </p:sp>
      <p:sp>
        <p:nvSpPr>
          <p:cNvPr id="20" name="Shape 16"/>
          <p:cNvSpPr/>
          <p:nvPr/>
        </p:nvSpPr>
        <p:spPr>
          <a:xfrm>
            <a:off x="6629400" y="5349240"/>
            <a:ext cx="5029200" cy="731520"/>
          </a:xfrm>
          <a:prstGeom prst="roundRect">
            <a:avLst>
              <a:gd name="adj" fmla="val 15000"/>
            </a:avLst>
          </a:prstGeom>
          <a:solidFill>
            <a:srgbClr val="FFF6E3"/>
          </a:solidFill>
          <a:ln w="12700">
            <a:solidFill>
              <a:srgbClr val="FFF6E3"/>
            </a:solidFill>
            <a:prstDash val="solid"/>
          </a:ln>
        </p:spPr>
      </p:sp>
      <p:pic>
        <p:nvPicPr>
          <p:cNvPr id="21" name="Image 1" descr="preencoded.png">    </p:cNvPr>
          <p:cNvPicPr>
            <a:picLocks noChangeAspect="1"/>
          </p:cNvPicPr>
          <p:nvPr/>
        </p:nvPicPr>
        <p:blipFill>
          <a:blip r:embed="rId2"/>
          <a:stretch>
            <a:fillRect/>
          </a:stretch>
        </p:blipFill>
        <p:spPr>
          <a:xfrm>
            <a:off x="6903720" y="5486400"/>
            <a:ext cx="457200" cy="457200"/>
          </a:xfrm>
          <a:prstGeom prst="rect">
            <a:avLst/>
          </a:prstGeom>
        </p:spPr>
      </p:pic>
      <p:sp>
        <p:nvSpPr>
          <p:cNvPr id="22" name="Text 17"/>
          <p:cNvSpPr txBox="1"/>
          <p:nvPr/>
        </p:nvSpPr>
        <p:spPr>
          <a:xfrm>
            <a:off x="7635240" y="5422392"/>
            <a:ext cx="3749040" cy="58521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tuple: </a:t>
            </a:r>
            <a:pPr indent="0" marL="0">
              <a:buNone/>
            </a:pPr>
            <a:r>
              <a:rPr lang="en-US" sz="1400" dirty="0">
                <a:solidFill>
                  <a:srgbClr val="333B4F"/>
                </a:solidFill>
                <a:latin typeface="Calibri" pitchFamily="34" charset="0"/>
                <a:ea typeface="Calibri" pitchFamily="34" charset="-122"/>
                <a:cs typeface="Calibri" pitchFamily="34" charset="-120"/>
              </a:rPr>
              <a:t>one value with named parts.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COMPOSITION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Calls inside calls: evaluated from the inside out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91640"/>
            <a:ext cx="3657600" cy="640080"/>
          </a:xfrm>
          <a:prstGeom prst="roundRect">
            <a:avLst>
              <a:gd name="adj" fmla="val 11429"/>
            </a:avLst>
          </a:prstGeom>
          <a:solidFill>
            <a:srgbClr val="EEF1F6"/>
          </a:solidFill>
          <a:ln w="15875">
            <a:solidFill>
              <a:srgbClr val="14213D"/>
            </a:solidFill>
            <a:prstDash val="solid"/>
          </a:ln>
        </p:spPr>
      </p:sp>
      <p:sp>
        <p:nvSpPr>
          <p:cNvPr id="8" name="Text 5"/>
          <p:cNvSpPr txBox="1"/>
          <p:nvPr/>
        </p:nvSpPr>
        <p:spPr>
          <a:xfrm>
            <a:off x="548640" y="1691640"/>
            <a:ext cx="3657600" cy="64008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Max(Max(8, 15), 11)</a:t>
            </a:r>
            <a:endParaRPr lang="en-US" sz="1500" dirty="0"/>
          </a:p>
        </p:txBody>
      </p:sp>
      <p:sp>
        <p:nvSpPr>
          <p:cNvPr id="9" name="Shape 6"/>
          <p:cNvSpPr/>
          <p:nvPr/>
        </p:nvSpPr>
        <p:spPr>
          <a:xfrm>
            <a:off x="4206240" y="2011680"/>
            <a:ext cx="685800" cy="0"/>
          </a:xfrm>
          <a:prstGeom prst="line">
            <a:avLst/>
          </a:prstGeom>
          <a:noFill/>
          <a:ln w="15875">
            <a:solidFill>
              <a:srgbClr val="14213D"/>
            </a:solidFill>
            <a:prstDash val="solid"/>
            <a:tailEnd type="triangle"/>
          </a:ln>
        </p:spPr>
      </p:sp>
      <p:sp>
        <p:nvSpPr>
          <p:cNvPr id="10" name="Text 7"/>
          <p:cNvSpPr txBox="1"/>
          <p:nvPr/>
        </p:nvSpPr>
        <p:spPr>
          <a:xfrm>
            <a:off x="3931920" y="2377440"/>
            <a:ext cx="2377440" cy="45720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inner Max(8, 15) → 15</a:t>
            </a:r>
            <a:endParaRPr lang="en-US" sz="1300" dirty="0"/>
          </a:p>
        </p:txBody>
      </p:sp>
      <p:sp>
        <p:nvSpPr>
          <p:cNvPr id="11" name="Shape 8"/>
          <p:cNvSpPr/>
          <p:nvPr/>
        </p:nvSpPr>
        <p:spPr>
          <a:xfrm>
            <a:off x="4892040" y="1691640"/>
            <a:ext cx="2103120" cy="640080"/>
          </a:xfrm>
          <a:prstGeom prst="roundRect">
            <a:avLst>
              <a:gd name="adj" fmla="val 11429"/>
            </a:avLst>
          </a:prstGeom>
          <a:solidFill>
            <a:srgbClr val="E3ECF8"/>
          </a:solidFill>
          <a:ln w="15875">
            <a:solidFill>
              <a:srgbClr val="14213D"/>
            </a:solidFill>
            <a:prstDash val="solid"/>
          </a:ln>
        </p:spPr>
      </p:sp>
      <p:sp>
        <p:nvSpPr>
          <p:cNvPr id="12" name="Text 9"/>
          <p:cNvSpPr txBox="1"/>
          <p:nvPr/>
        </p:nvSpPr>
        <p:spPr>
          <a:xfrm>
            <a:off x="4892040" y="1691640"/>
            <a:ext cx="2103120" cy="64008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Max(15, 11)</a:t>
            </a:r>
            <a:endParaRPr lang="en-US" sz="1500" dirty="0"/>
          </a:p>
        </p:txBody>
      </p:sp>
      <p:sp>
        <p:nvSpPr>
          <p:cNvPr id="13" name="Shape 10"/>
          <p:cNvSpPr/>
          <p:nvPr/>
        </p:nvSpPr>
        <p:spPr>
          <a:xfrm>
            <a:off x="6995160" y="2011680"/>
            <a:ext cx="685800" cy="0"/>
          </a:xfrm>
          <a:prstGeom prst="line">
            <a:avLst/>
          </a:prstGeom>
          <a:noFill/>
          <a:ln w="15875">
            <a:solidFill>
              <a:srgbClr val="14213D"/>
            </a:solidFill>
            <a:prstDash val="solid"/>
            <a:tailEnd type="triangle"/>
          </a:ln>
        </p:spPr>
      </p:sp>
      <p:sp>
        <p:nvSpPr>
          <p:cNvPr id="14" name="Text 11"/>
          <p:cNvSpPr txBox="1"/>
          <p:nvPr/>
        </p:nvSpPr>
        <p:spPr>
          <a:xfrm>
            <a:off x="6720840" y="2377440"/>
            <a:ext cx="2377440" cy="45720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Max(15, 11) → 15</a:t>
            </a:r>
            <a:endParaRPr lang="en-US" sz="1300" dirty="0"/>
          </a:p>
        </p:txBody>
      </p:sp>
      <p:sp>
        <p:nvSpPr>
          <p:cNvPr id="15" name="Shape 12"/>
          <p:cNvSpPr/>
          <p:nvPr/>
        </p:nvSpPr>
        <p:spPr>
          <a:xfrm>
            <a:off x="7680960" y="1691640"/>
            <a:ext cx="1097280" cy="640080"/>
          </a:xfrm>
          <a:prstGeom prst="roundRect">
            <a:avLst>
              <a:gd name="adj" fmla="val 11429"/>
            </a:avLst>
          </a:prstGeom>
          <a:solidFill>
            <a:srgbClr val="E6F4EC"/>
          </a:solidFill>
          <a:ln w="15875">
            <a:solidFill>
              <a:srgbClr val="14213D"/>
            </a:solidFill>
            <a:prstDash val="solid"/>
          </a:ln>
        </p:spPr>
      </p:sp>
      <p:sp>
        <p:nvSpPr>
          <p:cNvPr id="16" name="Text 13"/>
          <p:cNvSpPr txBox="1"/>
          <p:nvPr/>
        </p:nvSpPr>
        <p:spPr>
          <a:xfrm>
            <a:off x="7680960" y="1691640"/>
            <a:ext cx="1097280" cy="64008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15</a:t>
            </a:r>
            <a:endParaRPr lang="en-US" sz="1500" dirty="0"/>
          </a:p>
        </p:txBody>
      </p:sp>
      <p:sp>
        <p:nvSpPr>
          <p:cNvPr id="17" name="Shape 14"/>
          <p:cNvSpPr/>
          <p:nvPr/>
        </p:nvSpPr>
        <p:spPr>
          <a:xfrm>
            <a:off x="548640" y="3063240"/>
            <a:ext cx="3657600" cy="640080"/>
          </a:xfrm>
          <a:prstGeom prst="roundRect">
            <a:avLst>
              <a:gd name="adj" fmla="val 11429"/>
            </a:avLst>
          </a:prstGeom>
          <a:solidFill>
            <a:srgbClr val="EEF1F6"/>
          </a:solidFill>
          <a:ln w="15875">
            <a:solidFill>
              <a:srgbClr val="14213D"/>
            </a:solidFill>
            <a:prstDash val="solid"/>
          </a:ln>
        </p:spPr>
      </p:sp>
      <p:sp>
        <p:nvSpPr>
          <p:cNvPr id="18" name="Text 15"/>
          <p:cNvSpPr txBox="1"/>
          <p:nvPr/>
        </p:nvSpPr>
        <p:spPr>
          <a:xfrm>
            <a:off x="548640" y="3063240"/>
            <a:ext cx="3657600" cy="64008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WithVat(Discount(250, 10))</a:t>
            </a:r>
            <a:endParaRPr lang="en-US" sz="1500" dirty="0"/>
          </a:p>
        </p:txBody>
      </p:sp>
      <p:sp>
        <p:nvSpPr>
          <p:cNvPr id="19" name="Shape 16"/>
          <p:cNvSpPr/>
          <p:nvPr/>
        </p:nvSpPr>
        <p:spPr>
          <a:xfrm>
            <a:off x="4206240" y="3383280"/>
            <a:ext cx="685800" cy="0"/>
          </a:xfrm>
          <a:prstGeom prst="line">
            <a:avLst/>
          </a:prstGeom>
          <a:noFill/>
          <a:ln w="15875">
            <a:solidFill>
              <a:srgbClr val="14213D"/>
            </a:solidFill>
            <a:prstDash val="solid"/>
            <a:tailEnd type="triangle"/>
          </a:ln>
        </p:spPr>
      </p:sp>
      <p:sp>
        <p:nvSpPr>
          <p:cNvPr id="20" name="Text 17"/>
          <p:cNvSpPr txBox="1"/>
          <p:nvPr/>
        </p:nvSpPr>
        <p:spPr>
          <a:xfrm>
            <a:off x="3931920" y="3749040"/>
            <a:ext cx="2377440" cy="45720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Discount → 250 · 0.9 = 225</a:t>
            </a:r>
            <a:endParaRPr lang="en-US" sz="1300" dirty="0"/>
          </a:p>
        </p:txBody>
      </p:sp>
      <p:sp>
        <p:nvSpPr>
          <p:cNvPr id="21" name="Shape 18"/>
          <p:cNvSpPr/>
          <p:nvPr/>
        </p:nvSpPr>
        <p:spPr>
          <a:xfrm>
            <a:off x="4892040" y="3063240"/>
            <a:ext cx="2103120" cy="640080"/>
          </a:xfrm>
          <a:prstGeom prst="roundRect">
            <a:avLst>
              <a:gd name="adj" fmla="val 11429"/>
            </a:avLst>
          </a:prstGeom>
          <a:solidFill>
            <a:srgbClr val="E3ECF8"/>
          </a:solidFill>
          <a:ln w="15875">
            <a:solidFill>
              <a:srgbClr val="14213D"/>
            </a:solidFill>
            <a:prstDash val="solid"/>
          </a:ln>
        </p:spPr>
      </p:sp>
      <p:sp>
        <p:nvSpPr>
          <p:cNvPr id="22" name="Text 19"/>
          <p:cNvSpPr txBox="1"/>
          <p:nvPr/>
        </p:nvSpPr>
        <p:spPr>
          <a:xfrm>
            <a:off x="4892040" y="3063240"/>
            <a:ext cx="2103120" cy="64008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WithVat(225)</a:t>
            </a:r>
            <a:endParaRPr lang="en-US" sz="1500" dirty="0"/>
          </a:p>
        </p:txBody>
      </p:sp>
      <p:sp>
        <p:nvSpPr>
          <p:cNvPr id="23" name="Shape 20"/>
          <p:cNvSpPr/>
          <p:nvPr/>
        </p:nvSpPr>
        <p:spPr>
          <a:xfrm>
            <a:off x="6995160" y="3383280"/>
            <a:ext cx="685800" cy="0"/>
          </a:xfrm>
          <a:prstGeom prst="line">
            <a:avLst/>
          </a:prstGeom>
          <a:noFill/>
          <a:ln w="15875">
            <a:solidFill>
              <a:srgbClr val="14213D"/>
            </a:solidFill>
            <a:prstDash val="solid"/>
            <a:tailEnd type="triangle"/>
          </a:ln>
        </p:spPr>
      </p:sp>
      <p:sp>
        <p:nvSpPr>
          <p:cNvPr id="24" name="Text 21"/>
          <p:cNvSpPr txBox="1"/>
          <p:nvPr/>
        </p:nvSpPr>
        <p:spPr>
          <a:xfrm>
            <a:off x="6720840" y="3749040"/>
            <a:ext cx="2377440" cy="457200"/>
          </a:xfrm>
          <a:prstGeom prst="rect">
            <a:avLst/>
          </a:prstGeom>
          <a:noFill/>
          <a:ln/>
        </p:spPr>
        <p:txBody>
          <a:bodyPr wrap="square" lIns="0" tIns="0" rIns="0" bIns="0" rtlCol="0" anchor="ctr"/>
          <a:lstStyle/>
          <a:p>
            <a:pPr algn="ctr" indent="0" marL="0">
              <a:buNone/>
            </a:pPr>
            <a:r>
              <a:rPr lang="en-US" sz="1300" dirty="0">
                <a:solidFill>
                  <a:srgbClr val="5B6478"/>
                </a:solidFill>
                <a:latin typeface="Calibri" pitchFamily="34" charset="0"/>
                <a:ea typeface="Calibri" pitchFamily="34" charset="-122"/>
                <a:cs typeface="Calibri" pitchFamily="34" charset="-120"/>
              </a:rPr>
              <a:t>225 · 1.20 = 270</a:t>
            </a:r>
            <a:endParaRPr lang="en-US" sz="1300" dirty="0"/>
          </a:p>
        </p:txBody>
      </p:sp>
      <p:sp>
        <p:nvSpPr>
          <p:cNvPr id="25" name="Shape 22"/>
          <p:cNvSpPr/>
          <p:nvPr/>
        </p:nvSpPr>
        <p:spPr>
          <a:xfrm>
            <a:off x="7680960" y="3063240"/>
            <a:ext cx="1097280" cy="640080"/>
          </a:xfrm>
          <a:prstGeom prst="roundRect">
            <a:avLst>
              <a:gd name="adj" fmla="val 11429"/>
            </a:avLst>
          </a:prstGeom>
          <a:solidFill>
            <a:srgbClr val="E6F4EC"/>
          </a:solidFill>
          <a:ln w="15875">
            <a:solidFill>
              <a:srgbClr val="14213D"/>
            </a:solidFill>
            <a:prstDash val="solid"/>
          </a:ln>
        </p:spPr>
      </p:sp>
      <p:sp>
        <p:nvSpPr>
          <p:cNvPr id="26" name="Text 23"/>
          <p:cNvSpPr txBox="1"/>
          <p:nvPr/>
        </p:nvSpPr>
        <p:spPr>
          <a:xfrm>
            <a:off x="7680960" y="3063240"/>
            <a:ext cx="1097280" cy="64008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270</a:t>
            </a:r>
            <a:endParaRPr lang="en-US" sz="1500" dirty="0"/>
          </a:p>
        </p:txBody>
      </p:sp>
      <p:sp>
        <p:nvSpPr>
          <p:cNvPr id="27" name="Shape 24"/>
          <p:cNvSpPr/>
          <p:nvPr/>
        </p:nvSpPr>
        <p:spPr>
          <a:xfrm>
            <a:off x="9006840" y="1691640"/>
            <a:ext cx="2651760" cy="2011680"/>
          </a:xfrm>
          <a:prstGeom prst="roundRect">
            <a:avLst>
              <a:gd name="adj" fmla="val 5455"/>
            </a:avLst>
          </a:prstGeom>
          <a:solidFill>
            <a:srgbClr val="FFF6E3"/>
          </a:solidFill>
          <a:ln w="12700">
            <a:solidFill>
              <a:srgbClr val="FFF6E3"/>
            </a:solidFill>
            <a:prstDash val="solid"/>
          </a:ln>
        </p:spPr>
      </p:sp>
      <p:pic>
        <p:nvPicPr>
          <p:cNvPr id="28" name="Image 0" descr="preencoded.png">    </p:cNvPr>
          <p:cNvPicPr>
            <a:picLocks noChangeAspect="1"/>
          </p:cNvPicPr>
          <p:nvPr/>
        </p:nvPicPr>
        <p:blipFill>
          <a:blip r:embed="rId1"/>
          <a:stretch>
            <a:fillRect/>
          </a:stretch>
        </p:blipFill>
        <p:spPr>
          <a:xfrm>
            <a:off x="9281160" y="2423160"/>
            <a:ext cx="548640" cy="548640"/>
          </a:xfrm>
          <a:prstGeom prst="rect">
            <a:avLst/>
          </a:prstGeom>
        </p:spPr>
      </p:pic>
      <p:sp>
        <p:nvSpPr>
          <p:cNvPr id="29" name="Text 25"/>
          <p:cNvSpPr txBox="1"/>
          <p:nvPr/>
        </p:nvSpPr>
        <p:spPr>
          <a:xfrm>
            <a:off x="10104120" y="1764792"/>
            <a:ext cx="1280160" cy="1865376"/>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Inside out: </a:t>
            </a:r>
            <a:pPr indent="0" marL="0">
              <a:buNone/>
            </a:pPr>
            <a:r>
              <a:rPr lang="en-US" sz="1300" dirty="0">
                <a:solidFill>
                  <a:srgbClr val="333B4F"/>
                </a:solidFill>
                <a:latin typeface="Calibri" pitchFamily="34" charset="0"/>
                <a:ea typeface="Calibri" pitchFamily="34" charset="-122"/>
                <a:cs typeface="Calibri" pitchFamily="34" charset="-120"/>
              </a:rPr>
              <a:t>the inner call runs first; its value is the argument.</a:t>
            </a:r>
            <a:endParaRPr lang="en-US" sz="1300" dirty="0"/>
          </a:p>
        </p:txBody>
      </p:sp>
      <p:sp>
        <p:nvSpPr>
          <p:cNvPr id="30" name="Shape 26"/>
          <p:cNvSpPr/>
          <p:nvPr/>
        </p:nvSpPr>
        <p:spPr>
          <a:xfrm>
            <a:off x="548640" y="4434840"/>
            <a:ext cx="5212080" cy="1645920"/>
          </a:xfrm>
          <a:prstGeom prst="roundRect">
            <a:avLst>
              <a:gd name="adj" fmla="val 5556"/>
            </a:avLst>
          </a:prstGeom>
          <a:solidFill>
            <a:srgbClr val="0B0F19"/>
          </a:solidFill>
          <a:ln w="12700">
            <a:solidFill>
              <a:srgbClr val="2A3654"/>
            </a:solidFill>
            <a:prstDash val="solid"/>
          </a:ln>
        </p:spPr>
      </p:sp>
      <p:sp>
        <p:nvSpPr>
          <p:cNvPr id="31" name="Shape 27"/>
          <p:cNvSpPr/>
          <p:nvPr/>
        </p:nvSpPr>
        <p:spPr>
          <a:xfrm>
            <a:off x="731520" y="4562856"/>
            <a:ext cx="118872" cy="118872"/>
          </a:xfrm>
          <a:prstGeom prst="ellipse">
            <a:avLst/>
          </a:prstGeom>
          <a:solidFill>
            <a:srgbClr val="FF5F57"/>
          </a:solidFill>
          <a:ln w="12700">
            <a:solidFill>
              <a:srgbClr val="FF5F57"/>
            </a:solidFill>
            <a:prstDash val="solid"/>
          </a:ln>
        </p:spPr>
      </p:sp>
      <p:sp>
        <p:nvSpPr>
          <p:cNvPr id="32" name="Shape 28"/>
          <p:cNvSpPr/>
          <p:nvPr/>
        </p:nvSpPr>
        <p:spPr>
          <a:xfrm>
            <a:off x="960120" y="4562856"/>
            <a:ext cx="118872" cy="118872"/>
          </a:xfrm>
          <a:prstGeom prst="ellipse">
            <a:avLst/>
          </a:prstGeom>
          <a:solidFill>
            <a:srgbClr val="FEBC2E"/>
          </a:solidFill>
          <a:ln w="12700">
            <a:solidFill>
              <a:srgbClr val="FEBC2E"/>
            </a:solidFill>
            <a:prstDash val="solid"/>
          </a:ln>
        </p:spPr>
      </p:sp>
      <p:sp>
        <p:nvSpPr>
          <p:cNvPr id="33" name="Shape 29"/>
          <p:cNvSpPr/>
          <p:nvPr/>
        </p:nvSpPr>
        <p:spPr>
          <a:xfrm>
            <a:off x="1188720" y="4562856"/>
            <a:ext cx="118872" cy="118872"/>
          </a:xfrm>
          <a:prstGeom prst="ellipse">
            <a:avLst/>
          </a:prstGeom>
          <a:solidFill>
            <a:srgbClr val="28C840"/>
          </a:solidFill>
          <a:ln w="12700">
            <a:solidFill>
              <a:srgbClr val="28C840"/>
            </a:solidFill>
            <a:prstDash val="solid"/>
          </a:ln>
        </p:spPr>
      </p:sp>
      <p:sp>
        <p:nvSpPr>
          <p:cNvPr id="34" name="Text 30"/>
          <p:cNvSpPr txBox="1"/>
          <p:nvPr/>
        </p:nvSpPr>
        <p:spPr>
          <a:xfrm>
            <a:off x="1463040" y="4507992"/>
            <a:ext cx="4114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13_05_PureFunctions</a:t>
            </a:r>
            <a:endParaRPr lang="en-US" sz="1000" dirty="0"/>
          </a:p>
        </p:txBody>
      </p:sp>
      <p:sp>
        <p:nvSpPr>
          <p:cNvPr id="35" name="Text 31"/>
          <p:cNvSpPr txBox="1"/>
          <p:nvPr/>
        </p:nvSpPr>
        <p:spPr>
          <a:xfrm>
            <a:off x="777240" y="4818888"/>
            <a:ext cx="4754880" cy="11430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Max(Max(8, 15), 11) = 15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WithVat(Discount(250, 10)) = 270.00 TL</a:t>
            </a:r>
            <a:endParaRPr lang="en-US" sz="1300" dirty="0"/>
          </a:p>
        </p:txBody>
      </p:sp>
      <p:sp>
        <p:nvSpPr>
          <p:cNvPr id="36" name="Shape 32"/>
          <p:cNvSpPr/>
          <p:nvPr/>
        </p:nvSpPr>
        <p:spPr>
          <a:xfrm>
            <a:off x="5943600" y="4434840"/>
            <a:ext cx="5715000" cy="1645920"/>
          </a:xfrm>
          <a:prstGeom prst="roundRect">
            <a:avLst>
              <a:gd name="adj" fmla="val 5556"/>
            </a:avLst>
          </a:prstGeom>
          <a:solidFill>
            <a:srgbClr val="0B0F19"/>
          </a:solidFill>
          <a:ln w="12700">
            <a:solidFill>
              <a:srgbClr val="2A3654"/>
            </a:solidFill>
            <a:prstDash val="solid"/>
          </a:ln>
        </p:spPr>
      </p:sp>
      <p:sp>
        <p:nvSpPr>
          <p:cNvPr id="37" name="Shape 33"/>
          <p:cNvSpPr/>
          <p:nvPr/>
        </p:nvSpPr>
        <p:spPr>
          <a:xfrm>
            <a:off x="6126480" y="4562856"/>
            <a:ext cx="118872" cy="118872"/>
          </a:xfrm>
          <a:prstGeom prst="ellipse">
            <a:avLst/>
          </a:prstGeom>
          <a:solidFill>
            <a:srgbClr val="FF5F57"/>
          </a:solidFill>
          <a:ln w="12700">
            <a:solidFill>
              <a:srgbClr val="FF5F57"/>
            </a:solidFill>
            <a:prstDash val="solid"/>
          </a:ln>
        </p:spPr>
      </p:sp>
      <p:sp>
        <p:nvSpPr>
          <p:cNvPr id="38" name="Shape 34"/>
          <p:cNvSpPr/>
          <p:nvPr/>
        </p:nvSpPr>
        <p:spPr>
          <a:xfrm>
            <a:off x="6355080" y="4562856"/>
            <a:ext cx="118872" cy="118872"/>
          </a:xfrm>
          <a:prstGeom prst="ellipse">
            <a:avLst/>
          </a:prstGeom>
          <a:solidFill>
            <a:srgbClr val="FEBC2E"/>
          </a:solidFill>
          <a:ln w="12700">
            <a:solidFill>
              <a:srgbClr val="FEBC2E"/>
            </a:solidFill>
            <a:prstDash val="solid"/>
          </a:ln>
        </p:spPr>
      </p:sp>
      <p:sp>
        <p:nvSpPr>
          <p:cNvPr id="39" name="Shape 35"/>
          <p:cNvSpPr/>
          <p:nvPr/>
        </p:nvSpPr>
        <p:spPr>
          <a:xfrm>
            <a:off x="6583680" y="4562856"/>
            <a:ext cx="118872" cy="118872"/>
          </a:xfrm>
          <a:prstGeom prst="ellipse">
            <a:avLst/>
          </a:prstGeom>
          <a:solidFill>
            <a:srgbClr val="28C840"/>
          </a:solidFill>
          <a:ln w="12700">
            <a:solidFill>
              <a:srgbClr val="28C840"/>
            </a:solidFill>
            <a:prstDash val="solid"/>
          </a:ln>
        </p:spPr>
      </p:sp>
      <p:sp>
        <p:nvSpPr>
          <p:cNvPr id="40" name="Text 36"/>
          <p:cNvSpPr txBox="1"/>
          <p:nvPr/>
        </p:nvSpPr>
        <p:spPr>
          <a:xfrm>
            <a:off x="6858000" y="4507992"/>
            <a:ext cx="4617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13_04_MultipleResults</a:t>
            </a:r>
            <a:endParaRPr lang="en-US" sz="1000" dirty="0"/>
          </a:p>
        </p:txBody>
      </p:sp>
      <p:sp>
        <p:nvSpPr>
          <p:cNvPr id="41" name="Text 37"/>
          <p:cNvSpPr txBox="1"/>
          <p:nvPr/>
        </p:nvSpPr>
        <p:spPr>
          <a:xfrm>
            <a:off x="6172200" y="4818888"/>
            <a:ext cx="5257800" cy="11430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temps: 14 9 21 17 6 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out:   min = 6, max = 21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tuple: min = 6, max = 21, range = 15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whole: result.min = -5, result.max = 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47 = 6 * 7 + 5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PURE FUNCTIONS AND SIDE EFFECTS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Same input, same output — and nothing else changes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45920"/>
            <a:ext cx="54864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pure vs side effect</a:t>
            </a:r>
            <a:endParaRPr lang="en-US" sz="1100" dirty="0"/>
          </a:p>
        </p:txBody>
      </p:sp>
      <p:sp>
        <p:nvSpPr>
          <p:cNvPr id="9" name="Text 6"/>
          <p:cNvSpPr txBox="1"/>
          <p:nvPr/>
        </p:nvSpPr>
        <p:spPr>
          <a:xfrm>
            <a:off x="777240" y="2057400"/>
            <a:ext cx="5029200" cy="39136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Average(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)sum / a.Length;</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CurveAndAverage(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a.Length;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Average(a);</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6263640" y="1645920"/>
            <a:ext cx="5394960" cy="2103120"/>
          </a:xfrm>
          <a:prstGeom prst="roundRect">
            <a:avLst>
              <a:gd name="adj" fmla="val 4348"/>
            </a:avLst>
          </a:prstGeom>
          <a:solidFill>
            <a:srgbClr val="0B0F19"/>
          </a:solidFill>
          <a:ln w="12700">
            <a:solidFill>
              <a:srgbClr val="2A3654"/>
            </a:solidFill>
            <a:prstDash val="solid"/>
          </a:ln>
        </p:spPr>
      </p:sp>
      <p:sp>
        <p:nvSpPr>
          <p:cNvPr id="11" name="Shape 8"/>
          <p:cNvSpPr/>
          <p:nvPr/>
        </p:nvSpPr>
        <p:spPr>
          <a:xfrm>
            <a:off x="64465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66751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69037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178040" y="171907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6492240" y="2029968"/>
            <a:ext cx="4937760" cy="16002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73.67, again: 73.67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Passed? True</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after Curve: 78.67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after Curve: 83.67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grades is now: 82 68 101</a:t>
            </a:r>
            <a:endParaRPr lang="en-US" sz="1300" dirty="0"/>
          </a:p>
        </p:txBody>
      </p:sp>
      <p:sp>
        <p:nvSpPr>
          <p:cNvPr id="16" name="Shape 13"/>
          <p:cNvSpPr/>
          <p:nvPr/>
        </p:nvSpPr>
        <p:spPr>
          <a:xfrm>
            <a:off x="6263640" y="3931920"/>
            <a:ext cx="5394960" cy="960120"/>
          </a:xfrm>
          <a:prstGeom prst="roundRect">
            <a:avLst>
              <a:gd name="adj" fmla="val 11429"/>
            </a:avLst>
          </a:prstGeom>
          <a:solidFill>
            <a:srgbClr val="EEF1F6"/>
          </a:solidFill>
          <a:ln w="12700">
            <a:solidFill>
              <a:srgbClr val="EEF1F6"/>
            </a:solidFill>
            <a:prstDash val="solid"/>
          </a:ln>
        </p:spPr>
      </p:sp>
      <p:sp>
        <p:nvSpPr>
          <p:cNvPr id="17" name="Shape 14"/>
          <p:cNvSpPr/>
          <p:nvPr/>
        </p:nvSpPr>
        <p:spPr>
          <a:xfrm>
            <a:off x="6446520" y="4137660"/>
            <a:ext cx="548640" cy="548640"/>
          </a:xfrm>
          <a:prstGeom prst="ellipse">
            <a:avLst/>
          </a:prstGeom>
          <a:solidFill>
            <a:srgbClr val="E6F4EC"/>
          </a:solidFill>
          <a:ln w="12700">
            <a:solidFill>
              <a:srgbClr val="E6F4EC"/>
            </a:solidFill>
            <a:prstDash val="solid"/>
          </a:ln>
        </p:spPr>
      </p:sp>
      <p:pic>
        <p:nvPicPr>
          <p:cNvPr id="18" name="Image 0" descr="preencoded.png">    </p:cNvPr>
          <p:cNvPicPr>
            <a:picLocks noChangeAspect="1"/>
          </p:cNvPicPr>
          <p:nvPr/>
        </p:nvPicPr>
        <p:blipFill>
          <a:blip r:embed="rId1"/>
          <a:stretch>
            <a:fillRect/>
          </a:stretch>
        </p:blipFill>
        <p:spPr>
          <a:xfrm>
            <a:off x="6589166" y="4280306"/>
            <a:ext cx="263347" cy="263347"/>
          </a:xfrm>
          <a:prstGeom prst="rect">
            <a:avLst/>
          </a:prstGeom>
        </p:spPr>
      </p:pic>
      <p:sp>
        <p:nvSpPr>
          <p:cNvPr id="19" name="Text 15"/>
          <p:cNvSpPr txBox="1"/>
          <p:nvPr/>
        </p:nvSpPr>
        <p:spPr>
          <a:xfrm>
            <a:off x="7178040" y="3986784"/>
            <a:ext cx="4343400" cy="85039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Pure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result depends only on the arguments; changes nothing</a:t>
            </a:r>
            <a:endParaRPr lang="en-US" sz="1500" dirty="0"/>
          </a:p>
        </p:txBody>
      </p:sp>
      <p:sp>
        <p:nvSpPr>
          <p:cNvPr id="20" name="Shape 16"/>
          <p:cNvSpPr/>
          <p:nvPr/>
        </p:nvSpPr>
        <p:spPr>
          <a:xfrm>
            <a:off x="6263640" y="5029200"/>
            <a:ext cx="5394960" cy="960120"/>
          </a:xfrm>
          <a:prstGeom prst="roundRect">
            <a:avLst>
              <a:gd name="adj" fmla="val 11429"/>
            </a:avLst>
          </a:prstGeom>
          <a:solidFill>
            <a:srgbClr val="EEF1F6"/>
          </a:solidFill>
          <a:ln w="12700">
            <a:solidFill>
              <a:srgbClr val="EEF1F6"/>
            </a:solidFill>
            <a:prstDash val="solid"/>
          </a:ln>
        </p:spPr>
      </p:sp>
      <p:sp>
        <p:nvSpPr>
          <p:cNvPr id="21" name="Shape 17"/>
          <p:cNvSpPr/>
          <p:nvPr/>
        </p:nvSpPr>
        <p:spPr>
          <a:xfrm>
            <a:off x="6446520" y="5234940"/>
            <a:ext cx="548640" cy="548640"/>
          </a:xfrm>
          <a:prstGeom prst="ellipse">
            <a:avLst/>
          </a:prstGeom>
          <a:solidFill>
            <a:srgbClr val="FBE9E7"/>
          </a:solidFill>
          <a:ln w="12700">
            <a:solidFill>
              <a:srgbClr val="FBE9E7"/>
            </a:solidFill>
            <a:prstDash val="solid"/>
          </a:ln>
        </p:spPr>
      </p:sp>
      <p:pic>
        <p:nvPicPr>
          <p:cNvPr id="22" name="Image 1" descr="preencoded.png">    </p:cNvPr>
          <p:cNvPicPr>
            <a:picLocks noChangeAspect="1"/>
          </p:cNvPicPr>
          <p:nvPr/>
        </p:nvPicPr>
        <p:blipFill>
          <a:blip r:embed="rId2"/>
          <a:stretch>
            <a:fillRect/>
          </a:stretch>
        </p:blipFill>
        <p:spPr>
          <a:xfrm>
            <a:off x="6589166" y="5377586"/>
            <a:ext cx="263347" cy="263347"/>
          </a:xfrm>
          <a:prstGeom prst="rect">
            <a:avLst/>
          </a:prstGeom>
        </p:spPr>
      </p:pic>
      <p:sp>
        <p:nvSpPr>
          <p:cNvPr id="23" name="Text 18"/>
          <p:cNvSpPr txBox="1"/>
          <p:nvPr/>
        </p:nvSpPr>
        <p:spPr>
          <a:xfrm>
            <a:off x="7178040" y="5084064"/>
            <a:ext cx="4343400" cy="85039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Side effect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prints, changes an argument array or a global variable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Recursion</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A method that calls itself · base case · the call stack · Fibonacci naive vs loop</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RECURSION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Solve a problem with a smaller copy of itself</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Text 4"/>
          <p:cNvSpPr txBox="1"/>
          <p:nvPr/>
        </p:nvSpPr>
        <p:spPr>
          <a:xfrm>
            <a:off x="548640" y="1645920"/>
            <a:ext cx="5669280" cy="548640"/>
          </a:xfrm>
          <a:prstGeom prst="rect">
            <a:avLst/>
          </a:prstGeom>
          <a:noFill/>
          <a:ln/>
        </p:spPr>
        <p:txBody>
          <a:bodyPr wrap="square" lIns="0" tIns="0" rIns="0" bIns="0"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n! = n · (n − 1)!</a:t>
            </a:r>
            <a:pPr indent="0" marL="0">
              <a:buNone/>
            </a:pPr>
            <a:r>
              <a:rPr lang="en-US" sz="2400" dirty="0">
                <a:solidFill>
                  <a:srgbClr val="5B6478"/>
                </a:solidFill>
                <a:latin typeface="Cambria" pitchFamily="34" charset="0"/>
                <a:ea typeface="Cambria" pitchFamily="34" charset="-122"/>
                <a:cs typeface="Cambria" pitchFamily="34" charset="-120"/>
              </a:rPr>
              <a:t>     0! = 1! = 1</a:t>
            </a:r>
            <a:endParaRPr lang="en-US" sz="2400" dirty="0"/>
          </a:p>
        </p:txBody>
      </p:sp>
      <p:sp>
        <p:nvSpPr>
          <p:cNvPr id="8" name="Shape 5"/>
          <p:cNvSpPr/>
          <p:nvPr/>
        </p:nvSpPr>
        <p:spPr>
          <a:xfrm>
            <a:off x="548640" y="2331720"/>
            <a:ext cx="5669280" cy="3749040"/>
          </a:xfrm>
          <a:prstGeom prst="roundRect">
            <a:avLst>
              <a:gd name="adj" fmla="val 2439"/>
            </a:avLst>
          </a:prstGeom>
          <a:solidFill>
            <a:srgbClr val="0F1729"/>
          </a:solidFill>
          <a:ln w="12700">
            <a:solidFill>
              <a:srgbClr val="0F1729"/>
            </a:solidFill>
            <a:prstDash val="solid"/>
          </a:ln>
        </p:spPr>
      </p:sp>
      <p:sp>
        <p:nvSpPr>
          <p:cNvPr id="9" name="Text 6"/>
          <p:cNvSpPr txBox="1"/>
          <p:nvPr/>
        </p:nvSpPr>
        <p:spPr>
          <a:xfrm>
            <a:off x="777240" y="2441448"/>
            <a:ext cx="5212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13_06_RecursionBasics</a:t>
            </a:r>
            <a:endParaRPr lang="en-US" sz="1100" dirty="0"/>
          </a:p>
        </p:txBody>
      </p:sp>
      <p:sp>
        <p:nvSpPr>
          <p:cNvPr id="10" name="Text 7"/>
          <p:cNvSpPr txBox="1"/>
          <p:nvPr/>
        </p:nvSpPr>
        <p:spPr>
          <a:xfrm>
            <a:off x="777240" y="2743200"/>
            <a:ext cx="5212080" cy="3227832"/>
          </a:xfrm>
          <a:prstGeom prst="rect">
            <a:avLst/>
          </a:prstGeom>
          <a:noFill/>
          <a:ln/>
        </p:spPr>
        <p:txBody>
          <a:bodyPr wrap="square" lIns="0" tIns="0" rIns="0" bIns="0" rtlCol="0" anchor="t"/>
          <a:lstStyle/>
          <a:p>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n! = n * (n-1)!, with 0! = 1! = 1</a:t>
            </a:r>
            <a:endParaRPr lang="en-US" sz="1500" dirty="0"/>
          </a:p>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Factorial(</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n * Factorial(n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sp>
        <p:nvSpPr>
          <p:cNvPr id="11" name="Shape 8"/>
          <p:cNvSpPr/>
          <p:nvPr/>
        </p:nvSpPr>
        <p:spPr>
          <a:xfrm>
            <a:off x="6492240" y="1645920"/>
            <a:ext cx="5166360" cy="1143000"/>
          </a:xfrm>
          <a:prstGeom prst="roundRect">
            <a:avLst>
              <a:gd name="adj" fmla="val 9600"/>
            </a:avLst>
          </a:prstGeom>
          <a:solidFill>
            <a:srgbClr val="EEF1F6"/>
          </a:solidFill>
          <a:ln w="12700">
            <a:solidFill>
              <a:srgbClr val="EEF1F6"/>
            </a:solidFill>
            <a:prstDash val="solid"/>
          </a:ln>
        </p:spPr>
      </p:sp>
      <p:sp>
        <p:nvSpPr>
          <p:cNvPr id="12" name="Shape 9"/>
          <p:cNvSpPr/>
          <p:nvPr/>
        </p:nvSpPr>
        <p:spPr>
          <a:xfrm>
            <a:off x="6675120" y="1943100"/>
            <a:ext cx="548640" cy="548640"/>
          </a:xfrm>
          <a:prstGeom prst="ellipse">
            <a:avLst/>
          </a:prstGeom>
          <a:solidFill>
            <a:srgbClr val="2E9E6A"/>
          </a:solidFill>
          <a:ln w="12700">
            <a:solidFill>
              <a:srgbClr val="2E9E6A"/>
            </a:solidFill>
            <a:prstDash val="solid"/>
          </a:ln>
        </p:spPr>
      </p:sp>
      <p:pic>
        <p:nvPicPr>
          <p:cNvPr id="13" name="Image 0" descr="preencoded.png">    </p:cNvPr>
          <p:cNvPicPr>
            <a:picLocks noChangeAspect="1"/>
          </p:cNvPicPr>
          <p:nvPr/>
        </p:nvPicPr>
        <p:blipFill>
          <a:blip r:embed="rId1"/>
          <a:stretch>
            <a:fillRect/>
          </a:stretch>
        </p:blipFill>
        <p:spPr>
          <a:xfrm>
            <a:off x="6817766" y="2085746"/>
            <a:ext cx="263347" cy="263347"/>
          </a:xfrm>
          <a:prstGeom prst="rect">
            <a:avLst/>
          </a:prstGeom>
        </p:spPr>
      </p:pic>
      <p:sp>
        <p:nvSpPr>
          <p:cNvPr id="14" name="Text 10"/>
          <p:cNvSpPr txBox="1"/>
          <p:nvPr/>
        </p:nvSpPr>
        <p:spPr>
          <a:xfrm>
            <a:off x="7406640" y="1700784"/>
            <a:ext cx="4114800" cy="10332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Base case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n &lt;= 1: answer directly, no further call.</a:t>
            </a:r>
            <a:endParaRPr lang="en-US" sz="1500" dirty="0"/>
          </a:p>
        </p:txBody>
      </p:sp>
      <p:sp>
        <p:nvSpPr>
          <p:cNvPr id="15" name="Shape 11"/>
          <p:cNvSpPr/>
          <p:nvPr/>
        </p:nvSpPr>
        <p:spPr>
          <a:xfrm>
            <a:off x="6492240" y="2926080"/>
            <a:ext cx="5166360" cy="1143000"/>
          </a:xfrm>
          <a:prstGeom prst="roundRect">
            <a:avLst>
              <a:gd name="adj" fmla="val 9600"/>
            </a:avLst>
          </a:prstGeom>
          <a:solidFill>
            <a:srgbClr val="EEF1F6"/>
          </a:solidFill>
          <a:ln w="12700">
            <a:solidFill>
              <a:srgbClr val="EEF1F6"/>
            </a:solidFill>
            <a:prstDash val="solid"/>
          </a:ln>
        </p:spPr>
      </p:sp>
      <p:sp>
        <p:nvSpPr>
          <p:cNvPr id="16" name="Shape 12"/>
          <p:cNvSpPr/>
          <p:nvPr/>
        </p:nvSpPr>
        <p:spPr>
          <a:xfrm>
            <a:off x="6675120" y="3223260"/>
            <a:ext cx="548640" cy="548640"/>
          </a:xfrm>
          <a:prstGeom prst="ellipse">
            <a:avLst/>
          </a:prstGeom>
          <a:solidFill>
            <a:srgbClr val="2F6FB3"/>
          </a:solidFill>
          <a:ln w="12700">
            <a:solidFill>
              <a:srgbClr val="2F6FB3"/>
            </a:solidFill>
            <a:prstDash val="solid"/>
          </a:ln>
        </p:spPr>
      </p:sp>
      <p:pic>
        <p:nvPicPr>
          <p:cNvPr id="17" name="Image 1" descr="preencoded.png">    </p:cNvPr>
          <p:cNvPicPr>
            <a:picLocks noChangeAspect="1"/>
          </p:cNvPicPr>
          <p:nvPr/>
        </p:nvPicPr>
        <p:blipFill>
          <a:blip r:embed="rId2"/>
          <a:stretch>
            <a:fillRect/>
          </a:stretch>
        </p:blipFill>
        <p:spPr>
          <a:xfrm>
            <a:off x="6817766" y="3365906"/>
            <a:ext cx="263347" cy="263347"/>
          </a:xfrm>
          <a:prstGeom prst="rect">
            <a:avLst/>
          </a:prstGeom>
        </p:spPr>
      </p:pic>
      <p:sp>
        <p:nvSpPr>
          <p:cNvPr id="18" name="Text 13"/>
          <p:cNvSpPr txBox="1"/>
          <p:nvPr/>
        </p:nvSpPr>
        <p:spPr>
          <a:xfrm>
            <a:off x="7406640" y="2980944"/>
            <a:ext cx="4114800" cy="10332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Recursive step</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call itself with a smaller n: n − 1.</a:t>
            </a:r>
            <a:endParaRPr lang="en-US" sz="1500" dirty="0"/>
          </a:p>
        </p:txBody>
      </p:sp>
      <p:sp>
        <p:nvSpPr>
          <p:cNvPr id="19" name="Shape 14"/>
          <p:cNvSpPr/>
          <p:nvPr/>
        </p:nvSpPr>
        <p:spPr>
          <a:xfrm>
            <a:off x="6492240" y="4206240"/>
            <a:ext cx="5166360" cy="1874520"/>
          </a:xfrm>
          <a:prstGeom prst="roundRect">
            <a:avLst>
              <a:gd name="adj" fmla="val 4878"/>
            </a:avLst>
          </a:prstGeom>
          <a:solidFill>
            <a:srgbClr val="0B0F19"/>
          </a:solidFill>
          <a:ln w="12700">
            <a:solidFill>
              <a:srgbClr val="2A3654"/>
            </a:solidFill>
            <a:prstDash val="solid"/>
          </a:ln>
        </p:spPr>
      </p:sp>
      <p:sp>
        <p:nvSpPr>
          <p:cNvPr id="20" name="Shape 15"/>
          <p:cNvSpPr/>
          <p:nvPr/>
        </p:nvSpPr>
        <p:spPr>
          <a:xfrm>
            <a:off x="6675120" y="4334256"/>
            <a:ext cx="118872" cy="118872"/>
          </a:xfrm>
          <a:prstGeom prst="ellipse">
            <a:avLst/>
          </a:prstGeom>
          <a:solidFill>
            <a:srgbClr val="FF5F57"/>
          </a:solidFill>
          <a:ln w="12700">
            <a:solidFill>
              <a:srgbClr val="FF5F57"/>
            </a:solidFill>
            <a:prstDash val="solid"/>
          </a:ln>
        </p:spPr>
      </p:sp>
      <p:sp>
        <p:nvSpPr>
          <p:cNvPr id="21" name="Shape 16"/>
          <p:cNvSpPr/>
          <p:nvPr/>
        </p:nvSpPr>
        <p:spPr>
          <a:xfrm>
            <a:off x="6903720" y="4334256"/>
            <a:ext cx="118872" cy="118872"/>
          </a:xfrm>
          <a:prstGeom prst="ellipse">
            <a:avLst/>
          </a:prstGeom>
          <a:solidFill>
            <a:srgbClr val="FEBC2E"/>
          </a:solidFill>
          <a:ln w="12700">
            <a:solidFill>
              <a:srgbClr val="FEBC2E"/>
            </a:solidFill>
            <a:prstDash val="solid"/>
          </a:ln>
        </p:spPr>
      </p:sp>
      <p:sp>
        <p:nvSpPr>
          <p:cNvPr id="22" name="Shape 17"/>
          <p:cNvSpPr/>
          <p:nvPr/>
        </p:nvSpPr>
        <p:spPr>
          <a:xfrm>
            <a:off x="7132320" y="4334256"/>
            <a:ext cx="118872" cy="118872"/>
          </a:xfrm>
          <a:prstGeom prst="ellipse">
            <a:avLst/>
          </a:prstGeom>
          <a:solidFill>
            <a:srgbClr val="28C840"/>
          </a:solidFill>
          <a:ln w="12700">
            <a:solidFill>
              <a:srgbClr val="28C840"/>
            </a:solidFill>
            <a:prstDash val="solid"/>
          </a:ln>
        </p:spPr>
      </p:sp>
      <p:sp>
        <p:nvSpPr>
          <p:cNvPr id="23" name="Text 18"/>
          <p:cNvSpPr txBox="1"/>
          <p:nvPr/>
        </p:nvSpPr>
        <p:spPr>
          <a:xfrm>
            <a:off x="7406640" y="4279392"/>
            <a:ext cx="40690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4" name="Text 19"/>
          <p:cNvSpPr txBox="1"/>
          <p:nvPr/>
        </p:nvSpPr>
        <p:spPr>
          <a:xfrm>
            <a:off x="6720840" y="4590288"/>
            <a:ext cx="4709160" cy="137160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Factorial(5) = 120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SumOfDigits(2026) = 10</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Gcd(84, 36) = 12</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CALL STACK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of Factorial(4): frames pile up, then unwind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5577840"/>
            <a:ext cx="4480560" cy="512064"/>
          </a:xfrm>
          <a:prstGeom prst="roundRect">
            <a:avLst>
              <a:gd name="adj" fmla="val 8929"/>
            </a:avLst>
          </a:prstGeom>
          <a:solidFill>
            <a:srgbClr val="EEF1F6"/>
          </a:solidFill>
          <a:ln w="15875">
            <a:solidFill>
              <a:srgbClr val="14213D"/>
            </a:solidFill>
            <a:prstDash val="solid"/>
          </a:ln>
        </p:spPr>
      </p:sp>
      <p:sp>
        <p:nvSpPr>
          <p:cNvPr id="8" name="Text 5"/>
          <p:cNvSpPr txBox="1"/>
          <p:nvPr/>
        </p:nvSpPr>
        <p:spPr>
          <a:xfrm>
            <a:off x="685800" y="5577840"/>
            <a:ext cx="4297680" cy="512064"/>
          </a:xfrm>
          <a:prstGeom prst="rect">
            <a:avLst/>
          </a:prstGeom>
          <a:noFill/>
          <a:ln/>
        </p:spPr>
        <p:txBody>
          <a:bodyPr wrap="square" lIns="0" tIns="0" rIns="0" bIns="0" rtlCol="0" anchor="ct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top level: f = FactorialTrace(4, 0)</a:t>
            </a:r>
            <a:endParaRPr lang="en-US" sz="1300" dirty="0"/>
          </a:p>
        </p:txBody>
      </p:sp>
      <p:sp>
        <p:nvSpPr>
          <p:cNvPr id="9" name="Shape 6"/>
          <p:cNvSpPr/>
          <p:nvPr/>
        </p:nvSpPr>
        <p:spPr>
          <a:xfrm>
            <a:off x="548640" y="4956048"/>
            <a:ext cx="4480560" cy="512064"/>
          </a:xfrm>
          <a:prstGeom prst="roundRect">
            <a:avLst>
              <a:gd name="adj" fmla="val 8929"/>
            </a:avLst>
          </a:prstGeom>
          <a:solidFill>
            <a:srgbClr val="E3ECF8"/>
          </a:solidFill>
          <a:ln w="15875">
            <a:solidFill>
              <a:srgbClr val="14213D"/>
            </a:solidFill>
            <a:prstDash val="solid"/>
          </a:ln>
        </p:spPr>
      </p:sp>
      <p:sp>
        <p:nvSpPr>
          <p:cNvPr id="10" name="Text 7"/>
          <p:cNvSpPr txBox="1"/>
          <p:nvPr/>
        </p:nvSpPr>
        <p:spPr>
          <a:xfrm>
            <a:off x="685800" y="4956048"/>
            <a:ext cx="4297680" cy="512064"/>
          </a:xfrm>
          <a:prstGeom prst="rect">
            <a:avLst/>
          </a:prstGeom>
          <a:noFill/>
          <a:ln/>
        </p:spPr>
        <p:txBody>
          <a:bodyPr wrap="square" lIns="0" tIns="0" rIns="0" bIns="0" rtlCol="0" anchor="ct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Factorial(4)   n = 4   waits: 4 * ?</a:t>
            </a:r>
            <a:endParaRPr lang="en-US" sz="1300" dirty="0"/>
          </a:p>
        </p:txBody>
      </p:sp>
      <p:sp>
        <p:nvSpPr>
          <p:cNvPr id="11" name="Text 8"/>
          <p:cNvSpPr txBox="1"/>
          <p:nvPr/>
        </p:nvSpPr>
        <p:spPr>
          <a:xfrm>
            <a:off x="5349240" y="4956048"/>
            <a:ext cx="2103120" cy="512064"/>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returns 4 · 6 = 24</a:t>
            </a:r>
            <a:endParaRPr lang="en-US" sz="1400" dirty="0"/>
          </a:p>
        </p:txBody>
      </p:sp>
      <p:sp>
        <p:nvSpPr>
          <p:cNvPr id="12" name="Shape 9"/>
          <p:cNvSpPr/>
          <p:nvPr/>
        </p:nvSpPr>
        <p:spPr>
          <a:xfrm>
            <a:off x="548640" y="4334256"/>
            <a:ext cx="4480560" cy="512064"/>
          </a:xfrm>
          <a:prstGeom prst="roundRect">
            <a:avLst>
              <a:gd name="adj" fmla="val 8929"/>
            </a:avLst>
          </a:prstGeom>
          <a:solidFill>
            <a:srgbClr val="E3ECF8"/>
          </a:solidFill>
          <a:ln w="15875">
            <a:solidFill>
              <a:srgbClr val="14213D"/>
            </a:solidFill>
            <a:prstDash val="solid"/>
          </a:ln>
        </p:spPr>
      </p:sp>
      <p:sp>
        <p:nvSpPr>
          <p:cNvPr id="13" name="Text 10"/>
          <p:cNvSpPr txBox="1"/>
          <p:nvPr/>
        </p:nvSpPr>
        <p:spPr>
          <a:xfrm>
            <a:off x="685800" y="4334256"/>
            <a:ext cx="4297680" cy="512064"/>
          </a:xfrm>
          <a:prstGeom prst="rect">
            <a:avLst/>
          </a:prstGeom>
          <a:noFill/>
          <a:ln/>
        </p:spPr>
        <p:txBody>
          <a:bodyPr wrap="square" lIns="0" tIns="0" rIns="0" bIns="0" rtlCol="0" anchor="ct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Factorial(3)   n = 3   waits: 3 * ?</a:t>
            </a:r>
            <a:endParaRPr lang="en-US" sz="1300" dirty="0"/>
          </a:p>
        </p:txBody>
      </p:sp>
      <p:sp>
        <p:nvSpPr>
          <p:cNvPr id="14" name="Text 11"/>
          <p:cNvSpPr txBox="1"/>
          <p:nvPr/>
        </p:nvSpPr>
        <p:spPr>
          <a:xfrm>
            <a:off x="5349240" y="4334256"/>
            <a:ext cx="2103120" cy="512064"/>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returns 3 · 2 = 6</a:t>
            </a:r>
            <a:endParaRPr lang="en-US" sz="1400" dirty="0"/>
          </a:p>
        </p:txBody>
      </p:sp>
      <p:sp>
        <p:nvSpPr>
          <p:cNvPr id="15" name="Shape 12"/>
          <p:cNvSpPr/>
          <p:nvPr/>
        </p:nvSpPr>
        <p:spPr>
          <a:xfrm>
            <a:off x="548640" y="3712464"/>
            <a:ext cx="4480560" cy="512064"/>
          </a:xfrm>
          <a:prstGeom prst="roundRect">
            <a:avLst>
              <a:gd name="adj" fmla="val 8929"/>
            </a:avLst>
          </a:prstGeom>
          <a:solidFill>
            <a:srgbClr val="E3ECF8"/>
          </a:solidFill>
          <a:ln w="15875">
            <a:solidFill>
              <a:srgbClr val="14213D"/>
            </a:solidFill>
            <a:prstDash val="solid"/>
          </a:ln>
        </p:spPr>
      </p:sp>
      <p:sp>
        <p:nvSpPr>
          <p:cNvPr id="16" name="Text 13"/>
          <p:cNvSpPr txBox="1"/>
          <p:nvPr/>
        </p:nvSpPr>
        <p:spPr>
          <a:xfrm>
            <a:off x="685800" y="3712464"/>
            <a:ext cx="4297680" cy="512064"/>
          </a:xfrm>
          <a:prstGeom prst="rect">
            <a:avLst/>
          </a:prstGeom>
          <a:noFill/>
          <a:ln/>
        </p:spPr>
        <p:txBody>
          <a:bodyPr wrap="square" lIns="0" tIns="0" rIns="0" bIns="0" rtlCol="0" anchor="ct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Factorial(2)   n = 2   waits: 2 * ?</a:t>
            </a:r>
            <a:endParaRPr lang="en-US" sz="1300" dirty="0"/>
          </a:p>
        </p:txBody>
      </p:sp>
      <p:sp>
        <p:nvSpPr>
          <p:cNvPr id="17" name="Text 14"/>
          <p:cNvSpPr txBox="1"/>
          <p:nvPr/>
        </p:nvSpPr>
        <p:spPr>
          <a:xfrm>
            <a:off x="5349240" y="3712464"/>
            <a:ext cx="2103120" cy="512064"/>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returns 2 · 1 = 2</a:t>
            </a:r>
            <a:endParaRPr lang="en-US" sz="1400" dirty="0"/>
          </a:p>
        </p:txBody>
      </p:sp>
      <p:sp>
        <p:nvSpPr>
          <p:cNvPr id="18" name="Shape 15"/>
          <p:cNvSpPr/>
          <p:nvPr/>
        </p:nvSpPr>
        <p:spPr>
          <a:xfrm>
            <a:off x="548640" y="3090672"/>
            <a:ext cx="4480560" cy="512064"/>
          </a:xfrm>
          <a:prstGeom prst="roundRect">
            <a:avLst>
              <a:gd name="adj" fmla="val 8929"/>
            </a:avLst>
          </a:prstGeom>
          <a:solidFill>
            <a:srgbClr val="E6F4EC"/>
          </a:solidFill>
          <a:ln w="15875">
            <a:solidFill>
              <a:srgbClr val="14213D"/>
            </a:solidFill>
            <a:prstDash val="solid"/>
          </a:ln>
        </p:spPr>
      </p:sp>
      <p:sp>
        <p:nvSpPr>
          <p:cNvPr id="19" name="Text 16"/>
          <p:cNvSpPr txBox="1"/>
          <p:nvPr/>
        </p:nvSpPr>
        <p:spPr>
          <a:xfrm>
            <a:off x="685800" y="3090672"/>
            <a:ext cx="4297680" cy="512064"/>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Factorial(1)   n = 1   base case</a:t>
            </a:r>
            <a:endParaRPr lang="en-US" sz="1300" dirty="0"/>
          </a:p>
        </p:txBody>
      </p:sp>
      <p:sp>
        <p:nvSpPr>
          <p:cNvPr id="20" name="Text 17"/>
          <p:cNvSpPr txBox="1"/>
          <p:nvPr/>
        </p:nvSpPr>
        <p:spPr>
          <a:xfrm>
            <a:off x="5349240" y="3090672"/>
            <a:ext cx="2103120" cy="512064"/>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returns 1</a:t>
            </a:r>
            <a:endParaRPr lang="en-US" sz="1400" dirty="0"/>
          </a:p>
        </p:txBody>
      </p:sp>
      <p:sp>
        <p:nvSpPr>
          <p:cNvPr id="21" name="Shape 18"/>
          <p:cNvSpPr/>
          <p:nvPr/>
        </p:nvSpPr>
        <p:spPr>
          <a:xfrm>
            <a:off x="5166360" y="3319272"/>
            <a:ext cx="0" cy="2075688"/>
          </a:xfrm>
          <a:prstGeom prst="line">
            <a:avLst/>
          </a:prstGeom>
          <a:noFill/>
          <a:ln w="15875">
            <a:solidFill>
              <a:srgbClr val="2E9E6A"/>
            </a:solidFill>
            <a:prstDash val="solid"/>
            <a:tailEnd type="triangle"/>
          </a:ln>
        </p:spPr>
      </p:sp>
      <p:sp>
        <p:nvSpPr>
          <p:cNvPr id="22" name="Text 19"/>
          <p:cNvSpPr txBox="1"/>
          <p:nvPr/>
        </p:nvSpPr>
        <p:spPr>
          <a:xfrm>
            <a:off x="548640" y="2514600"/>
            <a:ext cx="2743200" cy="274320"/>
          </a:xfrm>
          <a:prstGeom prst="rect">
            <a:avLst/>
          </a:prstGeom>
          <a:noFill/>
          <a:ln/>
        </p:spPr>
        <p:txBody>
          <a:bodyPr wrap="square" lIns="0" tIns="0" rIns="0" bIns="0" rtlCol="0" anchor="ctr"/>
          <a:lstStyle/>
          <a:p>
            <a:pPr indent="0" marL="0">
              <a:buNone/>
            </a:pPr>
            <a:r>
              <a:rPr lang="en-US" sz="1300" b="1" dirty="0">
                <a:solidFill>
                  <a:srgbClr val="5B6478"/>
                </a:solidFill>
                <a:latin typeface="Calibri" pitchFamily="34" charset="0"/>
                <a:ea typeface="Calibri" pitchFamily="34" charset="-122"/>
                <a:cs typeface="Calibri" pitchFamily="34" charset="-120"/>
              </a:rPr>
              <a:t>top of the stack</a:t>
            </a:r>
            <a:endParaRPr lang="en-US" sz="1300" dirty="0"/>
          </a:p>
        </p:txBody>
      </p:sp>
      <p:sp>
        <p:nvSpPr>
          <p:cNvPr id="23" name="Text 20"/>
          <p:cNvSpPr txBox="1"/>
          <p:nvPr/>
        </p:nvSpPr>
        <p:spPr>
          <a:xfrm>
            <a:off x="548640" y="1645920"/>
            <a:ext cx="6949440" cy="777240"/>
          </a:xfrm>
          <a:prstGeom prst="rect">
            <a:avLst/>
          </a:prstGeom>
          <a:noFill/>
          <a:ln/>
        </p:spPr>
        <p:txBody>
          <a:bodyPr wrap="square" lIns="0" tIns="0" rIns="0" bIns="0" rtlCol="0" anchor="ctr"/>
          <a:lstStyle/>
          <a:p>
            <a:pPr indent="0" marL="0">
              <a:buNone/>
            </a:pPr>
            <a:r>
              <a:rPr lang="en-US" sz="1500" b="1" dirty="0">
                <a:solidFill>
                  <a:srgbClr val="2F6FB3"/>
                </a:solidFill>
                <a:latin typeface="Calibri" pitchFamily="34" charset="0"/>
                <a:ea typeface="Calibri" pitchFamily="34" charset="-122"/>
                <a:cs typeface="Calibri" pitchFamily="34" charset="-120"/>
              </a:rPr>
              <a:t>Winding: </a:t>
            </a:r>
            <a:pPr indent="0" marL="0">
              <a:buNone/>
            </a:pPr>
            <a:r>
              <a:rPr lang="en-US" sz="1500" dirty="0">
                <a:solidFill>
                  <a:srgbClr val="333B4F"/>
                </a:solidFill>
                <a:latin typeface="Calibri" pitchFamily="34" charset="0"/>
                <a:ea typeface="Calibri" pitchFamily="34" charset="-122"/>
                <a:cs typeface="Calibri" pitchFamily="34" charset="-120"/>
              </a:rPr>
              <a:t>each call pushes a frame.  </a:t>
            </a:r>
            <a:pPr indent="0" marL="0">
              <a:buNone/>
            </a:pPr>
            <a:r>
              <a:rPr lang="en-US" sz="1500" b="1" dirty="0">
                <a:solidFill>
                  <a:srgbClr val="1F7A50"/>
                </a:solidFill>
                <a:latin typeface="Calibri" pitchFamily="34" charset="0"/>
                <a:ea typeface="Calibri" pitchFamily="34" charset="-122"/>
                <a:cs typeface="Calibri" pitchFamily="34" charset="-120"/>
              </a:rPr>
              <a:t>Unwinding: </a:t>
            </a:r>
            <a:pPr indent="0" marL="0">
              <a:buNone/>
            </a:pPr>
            <a:r>
              <a:rPr lang="en-US" sz="1500" dirty="0">
                <a:solidFill>
                  <a:srgbClr val="333B4F"/>
                </a:solidFill>
                <a:latin typeface="Calibri" pitchFamily="34" charset="0"/>
                <a:ea typeface="Calibri" pitchFamily="34" charset="-122"/>
                <a:cs typeface="Calibri" pitchFamily="34" charset="-120"/>
              </a:rPr>
              <a:t>each return pops one.</a:t>
            </a:r>
            <a:endParaRPr lang="en-US" sz="1500" dirty="0"/>
          </a:p>
        </p:txBody>
      </p:sp>
      <p:sp>
        <p:nvSpPr>
          <p:cNvPr id="24" name="Shape 21"/>
          <p:cNvSpPr/>
          <p:nvPr/>
        </p:nvSpPr>
        <p:spPr>
          <a:xfrm>
            <a:off x="7680960" y="1645920"/>
            <a:ext cx="3977640" cy="4434840"/>
          </a:xfrm>
          <a:prstGeom prst="roundRect">
            <a:avLst>
              <a:gd name="adj" fmla="val 2299"/>
            </a:avLst>
          </a:prstGeom>
          <a:solidFill>
            <a:srgbClr val="0B0F19"/>
          </a:solidFill>
          <a:ln w="12700">
            <a:solidFill>
              <a:srgbClr val="2A3654"/>
            </a:solidFill>
            <a:prstDash val="solid"/>
          </a:ln>
        </p:spPr>
      </p:sp>
      <p:sp>
        <p:nvSpPr>
          <p:cNvPr id="25" name="Shape 22"/>
          <p:cNvSpPr/>
          <p:nvPr/>
        </p:nvSpPr>
        <p:spPr>
          <a:xfrm>
            <a:off x="7863840" y="1773936"/>
            <a:ext cx="118872" cy="118872"/>
          </a:xfrm>
          <a:prstGeom prst="ellipse">
            <a:avLst/>
          </a:prstGeom>
          <a:solidFill>
            <a:srgbClr val="FF5F57"/>
          </a:solidFill>
          <a:ln w="12700">
            <a:solidFill>
              <a:srgbClr val="FF5F57"/>
            </a:solidFill>
            <a:prstDash val="solid"/>
          </a:ln>
        </p:spPr>
      </p:sp>
      <p:sp>
        <p:nvSpPr>
          <p:cNvPr id="26" name="Shape 23"/>
          <p:cNvSpPr/>
          <p:nvPr/>
        </p:nvSpPr>
        <p:spPr>
          <a:xfrm>
            <a:off x="8092440" y="1773936"/>
            <a:ext cx="118872" cy="118872"/>
          </a:xfrm>
          <a:prstGeom prst="ellipse">
            <a:avLst/>
          </a:prstGeom>
          <a:solidFill>
            <a:srgbClr val="FEBC2E"/>
          </a:solidFill>
          <a:ln w="12700">
            <a:solidFill>
              <a:srgbClr val="FEBC2E"/>
            </a:solidFill>
            <a:prstDash val="solid"/>
          </a:ln>
        </p:spPr>
      </p:sp>
      <p:sp>
        <p:nvSpPr>
          <p:cNvPr id="27" name="Shape 24"/>
          <p:cNvSpPr/>
          <p:nvPr/>
        </p:nvSpPr>
        <p:spPr>
          <a:xfrm>
            <a:off x="8321040" y="1773936"/>
            <a:ext cx="118872" cy="118872"/>
          </a:xfrm>
          <a:prstGeom prst="ellipse">
            <a:avLst/>
          </a:prstGeom>
          <a:solidFill>
            <a:srgbClr val="28C840"/>
          </a:solidFill>
          <a:ln w="12700">
            <a:solidFill>
              <a:srgbClr val="28C840"/>
            </a:solidFill>
            <a:prstDash val="solid"/>
          </a:ln>
        </p:spPr>
      </p:sp>
      <p:sp>
        <p:nvSpPr>
          <p:cNvPr id="28" name="Text 25"/>
          <p:cNvSpPr txBox="1"/>
          <p:nvPr/>
        </p:nvSpPr>
        <p:spPr>
          <a:xfrm>
            <a:off x="8595360" y="1719072"/>
            <a:ext cx="2880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9" name="Text 26"/>
          <p:cNvSpPr txBox="1"/>
          <p:nvPr/>
        </p:nvSpPr>
        <p:spPr>
          <a:xfrm>
            <a:off x="7909560" y="2029968"/>
            <a:ext cx="3520440" cy="393192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Call stack of FactorialTrace(4):</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call Factorial(4)</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call Factorial(3)</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call Factorial(2)</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call Factorial(1)</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return 1</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return 2</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return 6</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return 24</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Result: 24</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MORE RECURSION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Sum of digits and Euclid's GCD, recursively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548640" y="1645920"/>
            <a:ext cx="5486400" cy="2514600"/>
          </a:xfrm>
          <a:prstGeom prst="roundRect">
            <a:avLst>
              <a:gd name="adj" fmla="val 3636"/>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SumOfDigits</a:t>
            </a:r>
            <a:endParaRPr lang="en-US" sz="1100" dirty="0"/>
          </a:p>
        </p:txBody>
      </p:sp>
      <p:sp>
        <p:nvSpPr>
          <p:cNvPr id="9" name="Text 6"/>
          <p:cNvSpPr txBox="1"/>
          <p:nvPr/>
        </p:nvSpPr>
        <p:spPr>
          <a:xfrm>
            <a:off x="777240" y="2057400"/>
            <a:ext cx="5029200" cy="199339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SumOfDigits(</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SumOfDigits(n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6172200" y="1645920"/>
            <a:ext cx="5486400" cy="2514600"/>
          </a:xfrm>
          <a:prstGeom prst="roundRect">
            <a:avLst>
              <a:gd name="adj" fmla="val 3636"/>
            </a:avLst>
          </a:prstGeom>
          <a:solidFill>
            <a:srgbClr val="0F1729"/>
          </a:solidFill>
          <a:ln w="12700">
            <a:solidFill>
              <a:srgbClr val="0F1729"/>
            </a:solidFill>
            <a:prstDash val="solid"/>
          </a:ln>
        </p:spPr>
      </p:sp>
      <p:sp>
        <p:nvSpPr>
          <p:cNvPr id="11" name="Text 8"/>
          <p:cNvSpPr txBox="1"/>
          <p:nvPr/>
        </p:nvSpPr>
        <p:spPr>
          <a:xfrm>
            <a:off x="640080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Gcd (Euclid, Week 1)</a:t>
            </a:r>
            <a:endParaRPr lang="en-US" sz="1100" dirty="0"/>
          </a:p>
        </p:txBody>
      </p:sp>
      <p:sp>
        <p:nvSpPr>
          <p:cNvPr id="12" name="Text 9"/>
          <p:cNvSpPr txBox="1"/>
          <p:nvPr/>
        </p:nvSpPr>
        <p:spPr>
          <a:xfrm>
            <a:off x="6400800" y="2057400"/>
            <a:ext cx="5029200" cy="199339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Gcd(</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b)</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Gcd(b, a % b);</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5486400" cy="914400"/>
        </p:xfrm>
        <a:graphic>
          <a:graphicData uri="http://schemas.openxmlformats.org/drawingml/2006/table">
            <a:tbl>
              <a:tblPr/>
              <a:tblGrid>
                <a:gridCol w="2743200"/>
                <a:gridCol w="2743200"/>
              </a:tblGrid>
              <a:tr h="32918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computes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29184">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SumOfDigits(2026)</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6 + SumOfDigits(202)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SumOfDigits(202)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2 + SumOfDigits(20)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29184">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SumOfDigits(20)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 + SumOfDigits(2)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SumOfDigits(2)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2   (base case)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172200" y="4297680"/>
          <a:ext cx="5486400" cy="914400"/>
        </p:xfrm>
        <a:graphic>
          <a:graphicData uri="http://schemas.openxmlformats.org/drawingml/2006/table">
            <a:tbl>
              <a:tblPr/>
              <a:tblGrid>
                <a:gridCol w="2011680"/>
                <a:gridCol w="1097280"/>
                <a:gridCol w="2377440"/>
              </a:tblGrid>
              <a:tr h="32918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call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 % b</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29184">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Gcd(84, 36)</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Gcd(36, 12)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Gcd(36, 12)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Gcd(12,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29184">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Gcd(12,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12  (base case)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FIBONACCI · NAIVE RECURSION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call tree of FibRec(5): the same work again and again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flipH="1">
            <a:off x="1060704" y="5029200"/>
            <a:ext cx="448056" cy="502920"/>
          </a:xfrm>
          <a:prstGeom prst="line">
            <a:avLst/>
          </a:prstGeom>
          <a:noFill/>
          <a:ln w="15875">
            <a:solidFill>
              <a:srgbClr val="8A94AB"/>
            </a:solidFill>
            <a:prstDash val="solid"/>
          </a:ln>
        </p:spPr>
      </p:sp>
      <p:sp>
        <p:nvSpPr>
          <p:cNvPr id="8" name="Shape 5"/>
          <p:cNvSpPr/>
          <p:nvPr/>
        </p:nvSpPr>
        <p:spPr>
          <a:xfrm>
            <a:off x="1508760" y="5029200"/>
            <a:ext cx="448056" cy="502920"/>
          </a:xfrm>
          <a:prstGeom prst="line">
            <a:avLst/>
          </a:prstGeom>
          <a:noFill/>
          <a:ln w="15875">
            <a:solidFill>
              <a:srgbClr val="8A94AB"/>
            </a:solidFill>
            <a:prstDash val="solid"/>
          </a:ln>
        </p:spPr>
      </p:sp>
      <p:sp>
        <p:nvSpPr>
          <p:cNvPr id="9" name="Shape 6"/>
          <p:cNvSpPr/>
          <p:nvPr/>
        </p:nvSpPr>
        <p:spPr>
          <a:xfrm flipH="1">
            <a:off x="1508760" y="4069080"/>
            <a:ext cx="672084" cy="502920"/>
          </a:xfrm>
          <a:prstGeom prst="line">
            <a:avLst/>
          </a:prstGeom>
          <a:noFill/>
          <a:ln w="15875">
            <a:solidFill>
              <a:srgbClr val="8A94AB"/>
            </a:solidFill>
            <a:prstDash val="solid"/>
          </a:ln>
        </p:spPr>
      </p:sp>
      <p:sp>
        <p:nvSpPr>
          <p:cNvPr id="10" name="Shape 7"/>
          <p:cNvSpPr/>
          <p:nvPr/>
        </p:nvSpPr>
        <p:spPr>
          <a:xfrm>
            <a:off x="2180844" y="4069080"/>
            <a:ext cx="672084" cy="502920"/>
          </a:xfrm>
          <a:prstGeom prst="line">
            <a:avLst/>
          </a:prstGeom>
          <a:noFill/>
          <a:ln w="15875">
            <a:solidFill>
              <a:srgbClr val="8A94AB"/>
            </a:solidFill>
            <a:prstDash val="solid"/>
          </a:ln>
        </p:spPr>
      </p:sp>
      <p:sp>
        <p:nvSpPr>
          <p:cNvPr id="11" name="Shape 8"/>
          <p:cNvSpPr/>
          <p:nvPr/>
        </p:nvSpPr>
        <p:spPr>
          <a:xfrm flipH="1">
            <a:off x="3749040" y="4069080"/>
            <a:ext cx="448056" cy="502920"/>
          </a:xfrm>
          <a:prstGeom prst="line">
            <a:avLst/>
          </a:prstGeom>
          <a:noFill/>
          <a:ln w="15875">
            <a:solidFill>
              <a:srgbClr val="8A94AB"/>
            </a:solidFill>
            <a:prstDash val="solid"/>
          </a:ln>
        </p:spPr>
      </p:sp>
      <p:sp>
        <p:nvSpPr>
          <p:cNvPr id="12" name="Shape 9"/>
          <p:cNvSpPr/>
          <p:nvPr/>
        </p:nvSpPr>
        <p:spPr>
          <a:xfrm>
            <a:off x="4197096" y="4069080"/>
            <a:ext cx="448056" cy="502920"/>
          </a:xfrm>
          <a:prstGeom prst="line">
            <a:avLst/>
          </a:prstGeom>
          <a:noFill/>
          <a:ln w="15875">
            <a:solidFill>
              <a:srgbClr val="8A94AB"/>
            </a:solidFill>
            <a:prstDash val="solid"/>
          </a:ln>
        </p:spPr>
      </p:sp>
      <p:sp>
        <p:nvSpPr>
          <p:cNvPr id="13" name="Shape 10"/>
          <p:cNvSpPr/>
          <p:nvPr/>
        </p:nvSpPr>
        <p:spPr>
          <a:xfrm flipH="1">
            <a:off x="2180844" y="3108960"/>
            <a:ext cx="1008126" cy="502920"/>
          </a:xfrm>
          <a:prstGeom prst="line">
            <a:avLst/>
          </a:prstGeom>
          <a:noFill/>
          <a:ln w="15875">
            <a:solidFill>
              <a:srgbClr val="8A94AB"/>
            </a:solidFill>
            <a:prstDash val="solid"/>
          </a:ln>
        </p:spPr>
      </p:sp>
      <p:sp>
        <p:nvSpPr>
          <p:cNvPr id="14" name="Shape 11"/>
          <p:cNvSpPr/>
          <p:nvPr/>
        </p:nvSpPr>
        <p:spPr>
          <a:xfrm>
            <a:off x="3188970" y="3108960"/>
            <a:ext cx="1008126" cy="502920"/>
          </a:xfrm>
          <a:prstGeom prst="line">
            <a:avLst/>
          </a:prstGeom>
          <a:noFill/>
          <a:ln w="15875">
            <a:solidFill>
              <a:srgbClr val="8A94AB"/>
            </a:solidFill>
            <a:prstDash val="solid"/>
          </a:ln>
        </p:spPr>
      </p:sp>
      <p:sp>
        <p:nvSpPr>
          <p:cNvPr id="15" name="Shape 12"/>
          <p:cNvSpPr/>
          <p:nvPr/>
        </p:nvSpPr>
        <p:spPr>
          <a:xfrm flipH="1">
            <a:off x="5541264" y="4069080"/>
            <a:ext cx="448056" cy="502920"/>
          </a:xfrm>
          <a:prstGeom prst="line">
            <a:avLst/>
          </a:prstGeom>
          <a:noFill/>
          <a:ln w="15875">
            <a:solidFill>
              <a:srgbClr val="8A94AB"/>
            </a:solidFill>
            <a:prstDash val="solid"/>
          </a:ln>
        </p:spPr>
      </p:sp>
      <p:sp>
        <p:nvSpPr>
          <p:cNvPr id="16" name="Shape 13"/>
          <p:cNvSpPr/>
          <p:nvPr/>
        </p:nvSpPr>
        <p:spPr>
          <a:xfrm>
            <a:off x="5989320" y="4069080"/>
            <a:ext cx="448056" cy="502920"/>
          </a:xfrm>
          <a:prstGeom prst="line">
            <a:avLst/>
          </a:prstGeom>
          <a:noFill/>
          <a:ln w="15875">
            <a:solidFill>
              <a:srgbClr val="8A94AB"/>
            </a:solidFill>
            <a:prstDash val="solid"/>
          </a:ln>
        </p:spPr>
      </p:sp>
      <p:sp>
        <p:nvSpPr>
          <p:cNvPr id="17" name="Shape 14"/>
          <p:cNvSpPr/>
          <p:nvPr/>
        </p:nvSpPr>
        <p:spPr>
          <a:xfrm flipH="1">
            <a:off x="5989320" y="3108960"/>
            <a:ext cx="672084" cy="502920"/>
          </a:xfrm>
          <a:prstGeom prst="line">
            <a:avLst/>
          </a:prstGeom>
          <a:noFill/>
          <a:ln w="15875">
            <a:solidFill>
              <a:srgbClr val="8A94AB"/>
            </a:solidFill>
            <a:prstDash val="solid"/>
          </a:ln>
        </p:spPr>
      </p:sp>
      <p:sp>
        <p:nvSpPr>
          <p:cNvPr id="18" name="Shape 15"/>
          <p:cNvSpPr/>
          <p:nvPr/>
        </p:nvSpPr>
        <p:spPr>
          <a:xfrm>
            <a:off x="6661404" y="3108960"/>
            <a:ext cx="672084" cy="502920"/>
          </a:xfrm>
          <a:prstGeom prst="line">
            <a:avLst/>
          </a:prstGeom>
          <a:noFill/>
          <a:ln w="15875">
            <a:solidFill>
              <a:srgbClr val="8A94AB"/>
            </a:solidFill>
            <a:prstDash val="solid"/>
          </a:ln>
        </p:spPr>
      </p:sp>
      <p:sp>
        <p:nvSpPr>
          <p:cNvPr id="19" name="Shape 16"/>
          <p:cNvSpPr/>
          <p:nvPr/>
        </p:nvSpPr>
        <p:spPr>
          <a:xfrm flipH="1">
            <a:off x="3188970" y="2148840"/>
            <a:ext cx="1736217" cy="502920"/>
          </a:xfrm>
          <a:prstGeom prst="line">
            <a:avLst/>
          </a:prstGeom>
          <a:noFill/>
          <a:ln w="15875">
            <a:solidFill>
              <a:srgbClr val="8A94AB"/>
            </a:solidFill>
            <a:prstDash val="solid"/>
          </a:ln>
        </p:spPr>
      </p:sp>
      <p:sp>
        <p:nvSpPr>
          <p:cNvPr id="20" name="Shape 17"/>
          <p:cNvSpPr/>
          <p:nvPr/>
        </p:nvSpPr>
        <p:spPr>
          <a:xfrm>
            <a:off x="4925187" y="2148840"/>
            <a:ext cx="1736217" cy="502920"/>
          </a:xfrm>
          <a:prstGeom prst="line">
            <a:avLst/>
          </a:prstGeom>
          <a:noFill/>
          <a:ln w="15875">
            <a:solidFill>
              <a:srgbClr val="8A94AB"/>
            </a:solidFill>
            <a:prstDash val="solid"/>
          </a:ln>
        </p:spPr>
      </p:sp>
      <p:sp>
        <p:nvSpPr>
          <p:cNvPr id="21" name="Shape 18"/>
          <p:cNvSpPr/>
          <p:nvPr/>
        </p:nvSpPr>
        <p:spPr>
          <a:xfrm>
            <a:off x="685800" y="5532120"/>
            <a:ext cx="749808" cy="457200"/>
          </a:xfrm>
          <a:prstGeom prst="roundRect">
            <a:avLst>
              <a:gd name="adj" fmla="val 20000"/>
            </a:avLst>
          </a:prstGeom>
          <a:solidFill>
            <a:srgbClr val="E6F4EC"/>
          </a:solidFill>
          <a:ln w="15875">
            <a:solidFill>
              <a:srgbClr val="14213D"/>
            </a:solidFill>
            <a:prstDash val="solid"/>
          </a:ln>
        </p:spPr>
      </p:sp>
      <p:sp>
        <p:nvSpPr>
          <p:cNvPr id="22" name="Text 19"/>
          <p:cNvSpPr txBox="1"/>
          <p:nvPr/>
        </p:nvSpPr>
        <p:spPr>
          <a:xfrm>
            <a:off x="685800" y="553212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F(1)</a:t>
            </a:r>
            <a:endParaRPr lang="en-US" sz="1400" dirty="0"/>
          </a:p>
        </p:txBody>
      </p:sp>
      <p:sp>
        <p:nvSpPr>
          <p:cNvPr id="23" name="Shape 20"/>
          <p:cNvSpPr/>
          <p:nvPr/>
        </p:nvSpPr>
        <p:spPr>
          <a:xfrm>
            <a:off x="1581912" y="5532120"/>
            <a:ext cx="749808" cy="457200"/>
          </a:xfrm>
          <a:prstGeom prst="roundRect">
            <a:avLst>
              <a:gd name="adj" fmla="val 20000"/>
            </a:avLst>
          </a:prstGeom>
          <a:solidFill>
            <a:srgbClr val="E6F4EC"/>
          </a:solidFill>
          <a:ln w="15875">
            <a:solidFill>
              <a:srgbClr val="14213D"/>
            </a:solidFill>
            <a:prstDash val="solid"/>
          </a:ln>
        </p:spPr>
      </p:sp>
      <p:sp>
        <p:nvSpPr>
          <p:cNvPr id="24" name="Text 21"/>
          <p:cNvSpPr txBox="1"/>
          <p:nvPr/>
        </p:nvSpPr>
        <p:spPr>
          <a:xfrm>
            <a:off x="1581912" y="553212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F(0)</a:t>
            </a:r>
            <a:endParaRPr lang="en-US" sz="1400" dirty="0"/>
          </a:p>
        </p:txBody>
      </p:sp>
      <p:sp>
        <p:nvSpPr>
          <p:cNvPr id="25" name="Shape 22"/>
          <p:cNvSpPr/>
          <p:nvPr/>
        </p:nvSpPr>
        <p:spPr>
          <a:xfrm>
            <a:off x="1133856" y="4572000"/>
            <a:ext cx="749808" cy="457200"/>
          </a:xfrm>
          <a:prstGeom prst="roundRect">
            <a:avLst>
              <a:gd name="adj" fmla="val 20000"/>
            </a:avLst>
          </a:prstGeom>
          <a:solidFill>
            <a:srgbClr val="FFF1D6"/>
          </a:solidFill>
          <a:ln w="15875">
            <a:solidFill>
              <a:srgbClr val="14213D"/>
            </a:solidFill>
            <a:prstDash val="solid"/>
          </a:ln>
        </p:spPr>
      </p:sp>
      <p:sp>
        <p:nvSpPr>
          <p:cNvPr id="26" name="Text 23"/>
          <p:cNvSpPr txBox="1"/>
          <p:nvPr/>
        </p:nvSpPr>
        <p:spPr>
          <a:xfrm>
            <a:off x="1133856" y="457200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F(2)</a:t>
            </a:r>
            <a:endParaRPr lang="en-US" sz="1400" dirty="0"/>
          </a:p>
        </p:txBody>
      </p:sp>
      <p:sp>
        <p:nvSpPr>
          <p:cNvPr id="27" name="Shape 24"/>
          <p:cNvSpPr/>
          <p:nvPr/>
        </p:nvSpPr>
        <p:spPr>
          <a:xfrm>
            <a:off x="2478024" y="4572000"/>
            <a:ext cx="749808" cy="457200"/>
          </a:xfrm>
          <a:prstGeom prst="roundRect">
            <a:avLst>
              <a:gd name="adj" fmla="val 20000"/>
            </a:avLst>
          </a:prstGeom>
          <a:solidFill>
            <a:srgbClr val="E6F4EC"/>
          </a:solidFill>
          <a:ln w="15875">
            <a:solidFill>
              <a:srgbClr val="14213D"/>
            </a:solidFill>
            <a:prstDash val="solid"/>
          </a:ln>
        </p:spPr>
      </p:sp>
      <p:sp>
        <p:nvSpPr>
          <p:cNvPr id="28" name="Text 25"/>
          <p:cNvSpPr txBox="1"/>
          <p:nvPr/>
        </p:nvSpPr>
        <p:spPr>
          <a:xfrm>
            <a:off x="2478024" y="457200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F(1)</a:t>
            </a:r>
            <a:endParaRPr lang="en-US" sz="1400" dirty="0"/>
          </a:p>
        </p:txBody>
      </p:sp>
      <p:sp>
        <p:nvSpPr>
          <p:cNvPr id="29" name="Shape 26"/>
          <p:cNvSpPr/>
          <p:nvPr/>
        </p:nvSpPr>
        <p:spPr>
          <a:xfrm>
            <a:off x="1805940" y="3611880"/>
            <a:ext cx="749808" cy="457200"/>
          </a:xfrm>
          <a:prstGeom prst="roundRect">
            <a:avLst>
              <a:gd name="adj" fmla="val 20000"/>
            </a:avLst>
          </a:prstGeom>
          <a:solidFill>
            <a:srgbClr val="E3ECF8"/>
          </a:solidFill>
          <a:ln w="15875">
            <a:solidFill>
              <a:srgbClr val="14213D"/>
            </a:solidFill>
            <a:prstDash val="solid"/>
          </a:ln>
        </p:spPr>
      </p:sp>
      <p:sp>
        <p:nvSpPr>
          <p:cNvPr id="30" name="Text 27"/>
          <p:cNvSpPr txBox="1"/>
          <p:nvPr/>
        </p:nvSpPr>
        <p:spPr>
          <a:xfrm>
            <a:off x="1805940" y="361188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F(3)</a:t>
            </a:r>
            <a:endParaRPr lang="en-US" sz="1400" dirty="0"/>
          </a:p>
        </p:txBody>
      </p:sp>
      <p:sp>
        <p:nvSpPr>
          <p:cNvPr id="31" name="Shape 28"/>
          <p:cNvSpPr/>
          <p:nvPr/>
        </p:nvSpPr>
        <p:spPr>
          <a:xfrm>
            <a:off x="3374136" y="4572000"/>
            <a:ext cx="749808" cy="457200"/>
          </a:xfrm>
          <a:prstGeom prst="roundRect">
            <a:avLst>
              <a:gd name="adj" fmla="val 20000"/>
            </a:avLst>
          </a:prstGeom>
          <a:solidFill>
            <a:srgbClr val="E6F4EC"/>
          </a:solidFill>
          <a:ln w="15875">
            <a:solidFill>
              <a:srgbClr val="14213D"/>
            </a:solidFill>
            <a:prstDash val="solid"/>
          </a:ln>
        </p:spPr>
      </p:sp>
      <p:sp>
        <p:nvSpPr>
          <p:cNvPr id="32" name="Text 29"/>
          <p:cNvSpPr txBox="1"/>
          <p:nvPr/>
        </p:nvSpPr>
        <p:spPr>
          <a:xfrm>
            <a:off x="3374136" y="457200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F(1)</a:t>
            </a:r>
            <a:endParaRPr lang="en-US" sz="1400" dirty="0"/>
          </a:p>
        </p:txBody>
      </p:sp>
      <p:sp>
        <p:nvSpPr>
          <p:cNvPr id="33" name="Shape 30"/>
          <p:cNvSpPr/>
          <p:nvPr/>
        </p:nvSpPr>
        <p:spPr>
          <a:xfrm>
            <a:off x="4270248" y="4572000"/>
            <a:ext cx="749808" cy="457200"/>
          </a:xfrm>
          <a:prstGeom prst="roundRect">
            <a:avLst>
              <a:gd name="adj" fmla="val 20000"/>
            </a:avLst>
          </a:prstGeom>
          <a:solidFill>
            <a:srgbClr val="E6F4EC"/>
          </a:solidFill>
          <a:ln w="15875">
            <a:solidFill>
              <a:srgbClr val="14213D"/>
            </a:solidFill>
            <a:prstDash val="solid"/>
          </a:ln>
        </p:spPr>
      </p:sp>
      <p:sp>
        <p:nvSpPr>
          <p:cNvPr id="34" name="Text 31"/>
          <p:cNvSpPr txBox="1"/>
          <p:nvPr/>
        </p:nvSpPr>
        <p:spPr>
          <a:xfrm>
            <a:off x="4270248" y="457200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F(0)</a:t>
            </a:r>
            <a:endParaRPr lang="en-US" sz="1400" dirty="0"/>
          </a:p>
        </p:txBody>
      </p:sp>
      <p:sp>
        <p:nvSpPr>
          <p:cNvPr id="35" name="Shape 32"/>
          <p:cNvSpPr/>
          <p:nvPr/>
        </p:nvSpPr>
        <p:spPr>
          <a:xfrm>
            <a:off x="3822192" y="3611880"/>
            <a:ext cx="749808" cy="457200"/>
          </a:xfrm>
          <a:prstGeom prst="roundRect">
            <a:avLst>
              <a:gd name="adj" fmla="val 20000"/>
            </a:avLst>
          </a:prstGeom>
          <a:solidFill>
            <a:srgbClr val="FFF1D6"/>
          </a:solidFill>
          <a:ln w="15875">
            <a:solidFill>
              <a:srgbClr val="14213D"/>
            </a:solidFill>
            <a:prstDash val="solid"/>
          </a:ln>
        </p:spPr>
      </p:sp>
      <p:sp>
        <p:nvSpPr>
          <p:cNvPr id="36" name="Text 33"/>
          <p:cNvSpPr txBox="1"/>
          <p:nvPr/>
        </p:nvSpPr>
        <p:spPr>
          <a:xfrm>
            <a:off x="3822192" y="361188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F(2)</a:t>
            </a:r>
            <a:endParaRPr lang="en-US" sz="1400" dirty="0"/>
          </a:p>
        </p:txBody>
      </p:sp>
      <p:sp>
        <p:nvSpPr>
          <p:cNvPr id="37" name="Shape 34"/>
          <p:cNvSpPr/>
          <p:nvPr/>
        </p:nvSpPr>
        <p:spPr>
          <a:xfrm>
            <a:off x="2814066" y="2651760"/>
            <a:ext cx="749808" cy="457200"/>
          </a:xfrm>
          <a:prstGeom prst="roundRect">
            <a:avLst>
              <a:gd name="adj" fmla="val 20000"/>
            </a:avLst>
          </a:prstGeom>
          <a:solidFill>
            <a:srgbClr val="EEF1F6"/>
          </a:solidFill>
          <a:ln w="15875">
            <a:solidFill>
              <a:srgbClr val="14213D"/>
            </a:solidFill>
            <a:prstDash val="solid"/>
          </a:ln>
        </p:spPr>
      </p:sp>
      <p:sp>
        <p:nvSpPr>
          <p:cNvPr id="38" name="Text 35"/>
          <p:cNvSpPr txBox="1"/>
          <p:nvPr/>
        </p:nvSpPr>
        <p:spPr>
          <a:xfrm>
            <a:off x="2814066" y="265176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F(4)</a:t>
            </a:r>
            <a:endParaRPr lang="en-US" sz="1400" dirty="0"/>
          </a:p>
        </p:txBody>
      </p:sp>
      <p:sp>
        <p:nvSpPr>
          <p:cNvPr id="39" name="Shape 36"/>
          <p:cNvSpPr/>
          <p:nvPr/>
        </p:nvSpPr>
        <p:spPr>
          <a:xfrm>
            <a:off x="5166360" y="4572000"/>
            <a:ext cx="749808" cy="457200"/>
          </a:xfrm>
          <a:prstGeom prst="roundRect">
            <a:avLst>
              <a:gd name="adj" fmla="val 20000"/>
            </a:avLst>
          </a:prstGeom>
          <a:solidFill>
            <a:srgbClr val="E6F4EC"/>
          </a:solidFill>
          <a:ln w="15875">
            <a:solidFill>
              <a:srgbClr val="14213D"/>
            </a:solidFill>
            <a:prstDash val="solid"/>
          </a:ln>
        </p:spPr>
      </p:sp>
      <p:sp>
        <p:nvSpPr>
          <p:cNvPr id="40" name="Text 37"/>
          <p:cNvSpPr txBox="1"/>
          <p:nvPr/>
        </p:nvSpPr>
        <p:spPr>
          <a:xfrm>
            <a:off x="5166360" y="457200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F(1)</a:t>
            </a:r>
            <a:endParaRPr lang="en-US" sz="1400" dirty="0"/>
          </a:p>
        </p:txBody>
      </p:sp>
      <p:sp>
        <p:nvSpPr>
          <p:cNvPr id="41" name="Shape 38"/>
          <p:cNvSpPr/>
          <p:nvPr/>
        </p:nvSpPr>
        <p:spPr>
          <a:xfrm>
            <a:off x="6062472" y="4572000"/>
            <a:ext cx="749808" cy="457200"/>
          </a:xfrm>
          <a:prstGeom prst="roundRect">
            <a:avLst>
              <a:gd name="adj" fmla="val 20000"/>
            </a:avLst>
          </a:prstGeom>
          <a:solidFill>
            <a:srgbClr val="E6F4EC"/>
          </a:solidFill>
          <a:ln w="15875">
            <a:solidFill>
              <a:srgbClr val="14213D"/>
            </a:solidFill>
            <a:prstDash val="solid"/>
          </a:ln>
        </p:spPr>
      </p:sp>
      <p:sp>
        <p:nvSpPr>
          <p:cNvPr id="42" name="Text 39"/>
          <p:cNvSpPr txBox="1"/>
          <p:nvPr/>
        </p:nvSpPr>
        <p:spPr>
          <a:xfrm>
            <a:off x="6062472" y="457200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F(0)</a:t>
            </a:r>
            <a:endParaRPr lang="en-US" sz="1400" dirty="0"/>
          </a:p>
        </p:txBody>
      </p:sp>
      <p:sp>
        <p:nvSpPr>
          <p:cNvPr id="43" name="Shape 40"/>
          <p:cNvSpPr/>
          <p:nvPr/>
        </p:nvSpPr>
        <p:spPr>
          <a:xfrm>
            <a:off x="5614416" y="3611880"/>
            <a:ext cx="749808" cy="457200"/>
          </a:xfrm>
          <a:prstGeom prst="roundRect">
            <a:avLst>
              <a:gd name="adj" fmla="val 20000"/>
            </a:avLst>
          </a:prstGeom>
          <a:solidFill>
            <a:srgbClr val="FFF1D6"/>
          </a:solidFill>
          <a:ln w="15875">
            <a:solidFill>
              <a:srgbClr val="14213D"/>
            </a:solidFill>
            <a:prstDash val="solid"/>
          </a:ln>
        </p:spPr>
      </p:sp>
      <p:sp>
        <p:nvSpPr>
          <p:cNvPr id="44" name="Text 41"/>
          <p:cNvSpPr txBox="1"/>
          <p:nvPr/>
        </p:nvSpPr>
        <p:spPr>
          <a:xfrm>
            <a:off x="5614416" y="361188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F(2)</a:t>
            </a:r>
            <a:endParaRPr lang="en-US" sz="1400" dirty="0"/>
          </a:p>
        </p:txBody>
      </p:sp>
      <p:sp>
        <p:nvSpPr>
          <p:cNvPr id="45" name="Shape 42"/>
          <p:cNvSpPr/>
          <p:nvPr/>
        </p:nvSpPr>
        <p:spPr>
          <a:xfrm>
            <a:off x="6958584" y="3611880"/>
            <a:ext cx="749808" cy="457200"/>
          </a:xfrm>
          <a:prstGeom prst="roundRect">
            <a:avLst>
              <a:gd name="adj" fmla="val 20000"/>
            </a:avLst>
          </a:prstGeom>
          <a:solidFill>
            <a:srgbClr val="E6F4EC"/>
          </a:solidFill>
          <a:ln w="15875">
            <a:solidFill>
              <a:srgbClr val="14213D"/>
            </a:solidFill>
            <a:prstDash val="solid"/>
          </a:ln>
        </p:spPr>
      </p:sp>
      <p:sp>
        <p:nvSpPr>
          <p:cNvPr id="46" name="Text 43"/>
          <p:cNvSpPr txBox="1"/>
          <p:nvPr/>
        </p:nvSpPr>
        <p:spPr>
          <a:xfrm>
            <a:off x="6958584" y="361188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F(1)</a:t>
            </a:r>
            <a:endParaRPr lang="en-US" sz="1400" dirty="0"/>
          </a:p>
        </p:txBody>
      </p:sp>
      <p:sp>
        <p:nvSpPr>
          <p:cNvPr id="47" name="Shape 44"/>
          <p:cNvSpPr/>
          <p:nvPr/>
        </p:nvSpPr>
        <p:spPr>
          <a:xfrm>
            <a:off x="6286500" y="2651760"/>
            <a:ext cx="749808" cy="457200"/>
          </a:xfrm>
          <a:prstGeom prst="roundRect">
            <a:avLst>
              <a:gd name="adj" fmla="val 20000"/>
            </a:avLst>
          </a:prstGeom>
          <a:solidFill>
            <a:srgbClr val="E3ECF8"/>
          </a:solidFill>
          <a:ln w="15875">
            <a:solidFill>
              <a:srgbClr val="14213D"/>
            </a:solidFill>
            <a:prstDash val="solid"/>
          </a:ln>
        </p:spPr>
      </p:sp>
      <p:sp>
        <p:nvSpPr>
          <p:cNvPr id="48" name="Text 45"/>
          <p:cNvSpPr txBox="1"/>
          <p:nvPr/>
        </p:nvSpPr>
        <p:spPr>
          <a:xfrm>
            <a:off x="6286500" y="265176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F(3)</a:t>
            </a:r>
            <a:endParaRPr lang="en-US" sz="1400" dirty="0"/>
          </a:p>
        </p:txBody>
      </p:sp>
      <p:sp>
        <p:nvSpPr>
          <p:cNvPr id="49" name="Shape 46"/>
          <p:cNvSpPr/>
          <p:nvPr/>
        </p:nvSpPr>
        <p:spPr>
          <a:xfrm>
            <a:off x="4550283" y="1691640"/>
            <a:ext cx="749808" cy="457200"/>
          </a:xfrm>
          <a:prstGeom prst="roundRect">
            <a:avLst>
              <a:gd name="adj" fmla="val 20000"/>
            </a:avLst>
          </a:prstGeom>
          <a:solidFill>
            <a:srgbClr val="EEF1F6"/>
          </a:solidFill>
          <a:ln w="15875">
            <a:solidFill>
              <a:srgbClr val="14213D"/>
            </a:solidFill>
            <a:prstDash val="solid"/>
          </a:ln>
        </p:spPr>
      </p:sp>
      <p:sp>
        <p:nvSpPr>
          <p:cNvPr id="50" name="Text 47"/>
          <p:cNvSpPr txBox="1"/>
          <p:nvPr/>
        </p:nvSpPr>
        <p:spPr>
          <a:xfrm>
            <a:off x="4550283" y="1691640"/>
            <a:ext cx="749808" cy="45720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F(5)</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046720" y="1645920"/>
          <a:ext cx="3611880" cy="914400"/>
        </p:xfrm>
        <a:graphic>
          <a:graphicData uri="http://schemas.openxmlformats.org/drawingml/2006/table">
            <a:tbl>
              <a:tblPr/>
              <a:tblGrid>
                <a:gridCol w="2011680"/>
                <a:gridCol w="160020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times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52" name="Shape 48"/>
          <p:cNvSpPr/>
          <p:nvPr/>
        </p:nvSpPr>
        <p:spPr>
          <a:xfrm>
            <a:off x="8046720" y="4754880"/>
            <a:ext cx="3611880" cy="1325880"/>
          </a:xfrm>
          <a:prstGeom prst="roundRect">
            <a:avLst>
              <a:gd name="adj" fmla="val 8276"/>
            </a:avLst>
          </a:prstGeom>
          <a:solidFill>
            <a:srgbClr val="FFF6E3"/>
          </a:solidFill>
          <a:ln w="12700">
            <a:solidFill>
              <a:srgbClr val="FFF6E3"/>
            </a:solidFill>
            <a:prstDash val="solid"/>
          </a:ln>
        </p:spPr>
      </p:sp>
      <p:pic>
        <p:nvPicPr>
          <p:cNvPr id="53" name="Image 0" descr="preencoded.png">    </p:cNvPr>
          <p:cNvPicPr>
            <a:picLocks noChangeAspect="1"/>
          </p:cNvPicPr>
          <p:nvPr/>
        </p:nvPicPr>
        <p:blipFill>
          <a:blip r:embed="rId1"/>
          <a:stretch>
            <a:fillRect/>
          </a:stretch>
        </p:blipFill>
        <p:spPr>
          <a:xfrm>
            <a:off x="8321040" y="5143500"/>
            <a:ext cx="548640" cy="548640"/>
          </a:xfrm>
          <a:prstGeom prst="rect">
            <a:avLst/>
          </a:prstGeom>
        </p:spPr>
      </p:pic>
      <p:sp>
        <p:nvSpPr>
          <p:cNvPr id="54" name="Text 49"/>
          <p:cNvSpPr txBox="1"/>
          <p:nvPr/>
        </p:nvSpPr>
        <p:spPr>
          <a:xfrm>
            <a:off x="9144000" y="4828032"/>
            <a:ext cx="2240280" cy="117957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Repeated work. </a:t>
            </a:r>
            <a:pPr indent="0" marL="0">
              <a:buNone/>
            </a:pPr>
            <a:r>
              <a:rPr lang="en-US" sz="1400" dirty="0">
                <a:solidFill>
                  <a:srgbClr val="333B4F"/>
                </a:solidFill>
                <a:latin typeface="Calibri" pitchFamily="34" charset="0"/>
                <a:ea typeface="Calibri" pitchFamily="34" charset="-122"/>
                <a:cs typeface="Calibri" pitchFamily="34" charset="-120"/>
              </a:rPr>
              <a:t>calls(n) = 2·Fib(n+1) − 1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FIBONACCI · NAIVE VS LOOP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Same numbers — 29 860 703 calls vs 34 loop passes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45920"/>
            <a:ext cx="6400800" cy="2011680"/>
          </a:xfrm>
          <a:prstGeom prst="roundRect">
            <a:avLst>
              <a:gd name="adj" fmla="val 4545"/>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5303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2" name="Text 9"/>
          <p:cNvSpPr txBox="1"/>
          <p:nvPr/>
        </p:nvSpPr>
        <p:spPr>
          <a:xfrm>
            <a:off x="777240" y="2029968"/>
            <a:ext cx="5943600" cy="15087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First 10 terms: 0 1 1 2 3 5 8 13 21 34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n        Fib(n)   recursive calls   loop passes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5             5                15             4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10            55               177             9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20          6765             21891            19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30        832040           2692537            29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35       9227465          29860703            34</a:t>
            </a:r>
            <a:endParaRPr lang="en-US" sz="1300" dirty="0"/>
          </a:p>
        </p:txBody>
      </p:sp>
      <p:sp>
        <p:nvSpPr>
          <p:cNvPr id="13" name="Shape 10"/>
          <p:cNvSpPr/>
          <p:nvPr/>
        </p:nvSpPr>
        <p:spPr>
          <a:xfrm>
            <a:off x="7178040" y="1645920"/>
            <a:ext cx="4480560" cy="4434840"/>
          </a:xfrm>
          <a:prstGeom prst="roundRect">
            <a:avLst>
              <a:gd name="adj" fmla="val 2062"/>
            </a:avLst>
          </a:prstGeom>
          <a:solidFill>
            <a:srgbClr val="0F1729"/>
          </a:solidFill>
          <a:ln w="12700">
            <a:solidFill>
              <a:srgbClr val="0F1729"/>
            </a:solidFill>
            <a:prstDash val="solid"/>
          </a:ln>
        </p:spPr>
      </p:sp>
      <p:sp>
        <p:nvSpPr>
          <p:cNvPr id="14" name="Text 11"/>
          <p:cNvSpPr txBox="1"/>
          <p:nvPr/>
        </p:nvSpPr>
        <p:spPr>
          <a:xfrm>
            <a:off x="7406640" y="1755648"/>
            <a:ext cx="4023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loop: n − 1 passes</a:t>
            </a:r>
            <a:endParaRPr lang="en-US" sz="1100" dirty="0"/>
          </a:p>
        </p:txBody>
      </p:sp>
      <p:sp>
        <p:nvSpPr>
          <p:cNvPr id="15" name="Text 12"/>
          <p:cNvSpPr txBox="1"/>
          <p:nvPr/>
        </p:nvSpPr>
        <p:spPr>
          <a:xfrm>
            <a:off x="7406640" y="2057400"/>
            <a:ext cx="4023360" cy="39136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FibLoop(</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previous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current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next = previous + current;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previous = current;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current = next;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current;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6" name="Shape 13"/>
          <p:cNvSpPr/>
          <p:nvPr/>
        </p:nvSpPr>
        <p:spPr>
          <a:xfrm>
            <a:off x="548640" y="3794760"/>
            <a:ext cx="6400800" cy="2286000"/>
          </a:xfrm>
          <a:prstGeom prst="roundRect">
            <a:avLst>
              <a:gd name="adj" fmla="val 4000"/>
            </a:avLst>
          </a:prstGeom>
          <a:solidFill>
            <a:srgbClr val="0F1729"/>
          </a:solidFill>
          <a:ln w="12700">
            <a:solidFill>
              <a:srgbClr val="0F1729"/>
            </a:solidFill>
            <a:prstDash val="solid"/>
          </a:ln>
        </p:spPr>
      </p:sp>
      <p:sp>
        <p:nvSpPr>
          <p:cNvPr id="17" name="Text 14"/>
          <p:cNvSpPr txBox="1"/>
          <p:nvPr/>
        </p:nvSpPr>
        <p:spPr>
          <a:xfrm>
            <a:off x="777240" y="390448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naive recursion: two calls per call</a:t>
            </a:r>
            <a:endParaRPr lang="en-US" sz="1100" dirty="0"/>
          </a:p>
        </p:txBody>
      </p:sp>
      <p:sp>
        <p:nvSpPr>
          <p:cNvPr id="18" name="Text 15"/>
          <p:cNvSpPr txBox="1"/>
          <p:nvPr/>
        </p:nvSpPr>
        <p:spPr>
          <a:xfrm>
            <a:off x="777240" y="4206240"/>
            <a:ext cx="5943600" cy="176479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FibRec(</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calls)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calls++;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FibRec(n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calls) + FibRec(n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calls);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STACK OVERFLOW</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No base case: the stack runs out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45920"/>
            <a:ext cx="5120640" cy="2377440"/>
          </a:xfrm>
          <a:prstGeom prst="roundRect">
            <a:avLst>
              <a:gd name="adj" fmla="val 3846"/>
            </a:avLst>
          </a:prstGeom>
          <a:solidFill>
            <a:srgbClr val="0F1729"/>
          </a:solidFill>
          <a:ln w="12700">
            <a:solidFill>
              <a:srgbClr val="0F1729"/>
            </a:solidFill>
            <a:prstDash val="solid"/>
          </a:ln>
        </p:spPr>
      </p:sp>
      <p:sp>
        <p:nvSpPr>
          <p:cNvPr id="8" name="Text 5"/>
          <p:cNvSpPr txBox="1"/>
          <p:nvPr/>
        </p:nvSpPr>
        <p:spPr>
          <a:xfrm>
            <a:off x="77724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builds with 0 warnings!</a:t>
            </a:r>
            <a:endParaRPr lang="en-US" sz="1100" dirty="0"/>
          </a:p>
        </p:txBody>
      </p:sp>
      <p:sp>
        <p:nvSpPr>
          <p:cNvPr id="9" name="Text 6"/>
          <p:cNvSpPr txBox="1"/>
          <p:nvPr/>
        </p:nvSpPr>
        <p:spPr>
          <a:xfrm>
            <a:off x="777240" y="2057400"/>
            <a:ext cx="4663440" cy="1856232"/>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infinite recursion: no base case</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.WriteLine(Factorial(</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Factorial(</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Factorial(n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4160520"/>
            <a:ext cx="5120640" cy="1920240"/>
          </a:xfrm>
          <a:prstGeom prst="roundRect">
            <a:avLst>
              <a:gd name="adj" fmla="val 4762"/>
            </a:avLst>
          </a:prstGeom>
          <a:solidFill>
            <a:srgbClr val="1A0F12"/>
          </a:solidFill>
          <a:ln w="12700">
            <a:solidFill>
              <a:srgbClr val="C8453B"/>
            </a:solidFill>
            <a:prstDash val="solid"/>
          </a:ln>
        </p:spPr>
      </p:sp>
      <p:sp>
        <p:nvSpPr>
          <p:cNvPr id="11" name="Text 8"/>
          <p:cNvSpPr txBox="1"/>
          <p:nvPr/>
        </p:nvSpPr>
        <p:spPr>
          <a:xfrm>
            <a:off x="777240" y="4233672"/>
            <a:ext cx="466344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run · process aborted (exit code 134)</a:t>
            </a:r>
            <a:endParaRPr lang="en-US" sz="1000" dirty="0"/>
          </a:p>
        </p:txBody>
      </p:sp>
      <p:sp>
        <p:nvSpPr>
          <p:cNvPr id="12" name="Text 9"/>
          <p:cNvSpPr txBox="1"/>
          <p:nvPr/>
        </p:nvSpPr>
        <p:spPr>
          <a:xfrm>
            <a:off x="777240" y="4507992"/>
            <a:ext cx="4663440" cy="1481328"/>
          </a:xfrm>
          <a:prstGeom prst="rect">
            <a:avLst/>
          </a:prstGeom>
          <a:noFill/>
          <a:ln/>
        </p:spPr>
        <p:txBody>
          <a:bodyPr wrap="square" lIns="0" tIns="0" rIns="0" bIns="0" rtlCol="0" anchor="t"/>
          <a:lstStyle/>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Stack overflow.</a:t>
            </a:r>
            <a:endParaRPr lang="en-US" sz="1200" dirty="0"/>
          </a:p>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Repeated 174131 times:</a:t>
            </a:r>
            <a:endParaRPr lang="en-US" sz="1200" dirty="0"/>
          </a:p>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   at Program.&lt;&lt;Main&gt;$&gt;g__Factorial|0_0(Int32)</a:t>
            </a:r>
            <a:endParaRPr lang="en-US" sz="1200" dirty="0"/>
          </a:p>
        </p:txBody>
      </p:sp>
      <p:sp>
        <p:nvSpPr>
          <p:cNvPr id="13" name="Shape 10"/>
          <p:cNvSpPr/>
          <p:nvPr/>
        </p:nvSpPr>
        <p:spPr>
          <a:xfrm>
            <a:off x="5897880" y="1645920"/>
            <a:ext cx="5760720" cy="1371600"/>
          </a:xfrm>
          <a:prstGeom prst="roundRect">
            <a:avLst>
              <a:gd name="adj" fmla="val 8000"/>
            </a:avLst>
          </a:prstGeom>
          <a:solidFill>
            <a:srgbClr val="EEF1F6"/>
          </a:solidFill>
          <a:ln w="12700">
            <a:solidFill>
              <a:srgbClr val="EEF1F6"/>
            </a:solidFill>
            <a:prstDash val="solid"/>
          </a:ln>
        </p:spPr>
      </p:sp>
      <p:sp>
        <p:nvSpPr>
          <p:cNvPr id="14" name="Shape 11"/>
          <p:cNvSpPr/>
          <p:nvPr/>
        </p:nvSpPr>
        <p:spPr>
          <a:xfrm>
            <a:off x="6080760" y="2057400"/>
            <a:ext cx="548640" cy="548640"/>
          </a:xfrm>
          <a:prstGeom prst="ellipse">
            <a:avLst/>
          </a:prstGeom>
          <a:solidFill>
            <a:srgbClr val="2E9E6A"/>
          </a:solidFill>
          <a:ln w="12700">
            <a:solidFill>
              <a:srgbClr val="2E9E6A"/>
            </a:solidFill>
            <a:prstDash val="solid"/>
          </a:ln>
        </p:spPr>
      </p:sp>
      <p:pic>
        <p:nvPicPr>
          <p:cNvPr id="15" name="Image 0" descr="preencoded.png">    </p:cNvPr>
          <p:cNvPicPr>
            <a:picLocks noChangeAspect="1"/>
          </p:cNvPicPr>
          <p:nvPr/>
        </p:nvPicPr>
        <p:blipFill>
          <a:blip r:embed="rId1"/>
          <a:stretch>
            <a:fillRect/>
          </a:stretch>
        </p:blipFill>
        <p:spPr>
          <a:xfrm>
            <a:off x="6223406" y="2200046"/>
            <a:ext cx="263347" cy="263347"/>
          </a:xfrm>
          <a:prstGeom prst="rect">
            <a:avLst/>
          </a:prstGeom>
        </p:spPr>
      </p:pic>
      <p:sp>
        <p:nvSpPr>
          <p:cNvPr id="16" name="Text 12"/>
          <p:cNvSpPr txBox="1"/>
          <p:nvPr/>
        </p:nvSpPr>
        <p:spPr>
          <a:xfrm>
            <a:off x="6812280" y="1700784"/>
            <a:ext cx="470916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Base case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Every recursive method needs a case that does not call itself.</a:t>
            </a:r>
            <a:endParaRPr lang="en-US" sz="1500" dirty="0"/>
          </a:p>
        </p:txBody>
      </p:sp>
      <p:sp>
        <p:nvSpPr>
          <p:cNvPr id="17" name="Shape 13"/>
          <p:cNvSpPr/>
          <p:nvPr/>
        </p:nvSpPr>
        <p:spPr>
          <a:xfrm>
            <a:off x="5897880" y="3154680"/>
            <a:ext cx="5760720" cy="1371600"/>
          </a:xfrm>
          <a:prstGeom prst="roundRect">
            <a:avLst>
              <a:gd name="adj" fmla="val 8000"/>
            </a:avLst>
          </a:prstGeom>
          <a:solidFill>
            <a:srgbClr val="EEF1F6"/>
          </a:solidFill>
          <a:ln w="12700">
            <a:solidFill>
              <a:srgbClr val="EEF1F6"/>
            </a:solidFill>
            <a:prstDash val="solid"/>
          </a:ln>
        </p:spPr>
      </p:sp>
      <p:sp>
        <p:nvSpPr>
          <p:cNvPr id="18" name="Shape 14"/>
          <p:cNvSpPr/>
          <p:nvPr/>
        </p:nvSpPr>
        <p:spPr>
          <a:xfrm>
            <a:off x="6080760" y="3566160"/>
            <a:ext cx="548640" cy="548640"/>
          </a:xfrm>
          <a:prstGeom prst="ellipse">
            <a:avLst/>
          </a:prstGeom>
          <a:solidFill>
            <a:srgbClr val="2F6FB3"/>
          </a:solidFill>
          <a:ln w="12700">
            <a:solidFill>
              <a:srgbClr val="2F6FB3"/>
            </a:solidFill>
            <a:prstDash val="solid"/>
          </a:ln>
        </p:spPr>
      </p:sp>
      <p:pic>
        <p:nvPicPr>
          <p:cNvPr id="19" name="Image 1" descr="preencoded.png">    </p:cNvPr>
          <p:cNvPicPr>
            <a:picLocks noChangeAspect="1"/>
          </p:cNvPicPr>
          <p:nvPr/>
        </p:nvPicPr>
        <p:blipFill>
          <a:blip r:embed="rId2"/>
          <a:stretch>
            <a:fillRect/>
          </a:stretch>
        </p:blipFill>
        <p:spPr>
          <a:xfrm>
            <a:off x="6223406" y="3708806"/>
            <a:ext cx="263347" cy="263347"/>
          </a:xfrm>
          <a:prstGeom prst="rect">
            <a:avLst/>
          </a:prstGeom>
        </p:spPr>
      </p:pic>
      <p:sp>
        <p:nvSpPr>
          <p:cNvPr id="20" name="Text 15"/>
          <p:cNvSpPr txBox="1"/>
          <p:nvPr/>
        </p:nvSpPr>
        <p:spPr>
          <a:xfrm>
            <a:off x="6812280" y="3209544"/>
            <a:ext cx="470916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Progress</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Each call must move towards the base case (n − 1, n / 10, a % b).</a:t>
            </a:r>
            <a:endParaRPr lang="en-US" sz="1500" dirty="0"/>
          </a:p>
        </p:txBody>
      </p:sp>
      <p:sp>
        <p:nvSpPr>
          <p:cNvPr id="21" name="Shape 16"/>
          <p:cNvSpPr/>
          <p:nvPr/>
        </p:nvSpPr>
        <p:spPr>
          <a:xfrm>
            <a:off x="5897880" y="4663440"/>
            <a:ext cx="5760720" cy="1371600"/>
          </a:xfrm>
          <a:prstGeom prst="roundRect">
            <a:avLst>
              <a:gd name="adj" fmla="val 8000"/>
            </a:avLst>
          </a:prstGeom>
          <a:solidFill>
            <a:srgbClr val="EEF1F6"/>
          </a:solidFill>
          <a:ln w="12700">
            <a:solidFill>
              <a:srgbClr val="EEF1F6"/>
            </a:solidFill>
            <a:prstDash val="solid"/>
          </a:ln>
        </p:spPr>
      </p:sp>
      <p:sp>
        <p:nvSpPr>
          <p:cNvPr id="22" name="Shape 17"/>
          <p:cNvSpPr/>
          <p:nvPr/>
        </p:nvSpPr>
        <p:spPr>
          <a:xfrm>
            <a:off x="6080760" y="5074920"/>
            <a:ext cx="548640" cy="548640"/>
          </a:xfrm>
          <a:prstGeom prst="ellipse">
            <a:avLst/>
          </a:prstGeom>
          <a:solidFill>
            <a:srgbClr val="C8453B"/>
          </a:solidFill>
          <a:ln w="12700">
            <a:solidFill>
              <a:srgbClr val="C8453B"/>
            </a:solidFill>
            <a:prstDash val="solid"/>
          </a:ln>
        </p:spPr>
      </p:sp>
      <p:pic>
        <p:nvPicPr>
          <p:cNvPr id="23" name="Image 2" descr="preencoded.png">    </p:cNvPr>
          <p:cNvPicPr>
            <a:picLocks noChangeAspect="1"/>
          </p:cNvPicPr>
          <p:nvPr/>
        </p:nvPicPr>
        <p:blipFill>
          <a:blip r:embed="rId3"/>
          <a:stretch>
            <a:fillRect/>
          </a:stretch>
        </p:blipFill>
        <p:spPr>
          <a:xfrm>
            <a:off x="6223406" y="5217566"/>
            <a:ext cx="263347" cy="263347"/>
          </a:xfrm>
          <a:prstGeom prst="rect">
            <a:avLst/>
          </a:prstGeom>
        </p:spPr>
      </p:pic>
      <p:sp>
        <p:nvSpPr>
          <p:cNvPr id="24" name="Text 18"/>
          <p:cNvSpPr txBox="1"/>
          <p:nvPr/>
        </p:nvSpPr>
        <p:spPr>
          <a:xfrm>
            <a:off x="6812280" y="4718304"/>
            <a:ext cx="470916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Depth</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Thousands of nested calls are fine, millions are not: use a loop.</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Scope and lifetime</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Where a name is visible · how long a variable lives · local functions · tests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BLOCK SCOPE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Every { } is a box: you can look out, not in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45920"/>
            <a:ext cx="6903720" cy="4434840"/>
          </a:xfrm>
          <a:prstGeom prst="roundRect">
            <a:avLst>
              <a:gd name="adj" fmla="val 1649"/>
            </a:avLst>
          </a:prstGeom>
          <a:solidFill>
            <a:srgbClr val="F7F8FB"/>
          </a:solidFill>
          <a:ln w="19050">
            <a:solidFill>
              <a:srgbClr val="14213D"/>
            </a:solidFill>
            <a:prstDash val="solid"/>
          </a:ln>
        </p:spPr>
      </p:sp>
      <p:sp>
        <p:nvSpPr>
          <p:cNvPr id="8" name="Text 5"/>
          <p:cNvSpPr txBox="1"/>
          <p:nvPr/>
        </p:nvSpPr>
        <p:spPr>
          <a:xfrm>
            <a:off x="731520" y="1691640"/>
            <a:ext cx="6583680" cy="365760"/>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Program.cs top level:  total, points</a:t>
            </a:r>
            <a:endParaRPr lang="en-US" sz="1300" dirty="0"/>
          </a:p>
        </p:txBody>
      </p:sp>
      <p:sp>
        <p:nvSpPr>
          <p:cNvPr id="9" name="Shape 6"/>
          <p:cNvSpPr/>
          <p:nvPr/>
        </p:nvSpPr>
        <p:spPr>
          <a:xfrm>
            <a:off x="777240" y="2148840"/>
            <a:ext cx="3840480" cy="1691640"/>
          </a:xfrm>
          <a:prstGeom prst="roundRect">
            <a:avLst>
              <a:gd name="adj" fmla="val 4324"/>
            </a:avLst>
          </a:prstGeom>
          <a:solidFill>
            <a:srgbClr val="E6F4EC"/>
          </a:solidFill>
          <a:ln w="15875">
            <a:solidFill>
              <a:srgbClr val="2E9E6A"/>
            </a:solidFill>
            <a:prstDash val="solid"/>
          </a:ln>
        </p:spPr>
      </p:sp>
      <p:sp>
        <p:nvSpPr>
          <p:cNvPr id="10" name="Text 7"/>
          <p:cNvSpPr txBox="1"/>
          <p:nvPr/>
        </p:nvSpPr>
        <p:spPr>
          <a:xfrm>
            <a:off x="914400" y="2176272"/>
            <a:ext cx="3657600" cy="365760"/>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for (int i = 1; …):  i</a:t>
            </a:r>
            <a:endParaRPr lang="en-US" sz="1300" dirty="0"/>
          </a:p>
        </p:txBody>
      </p:sp>
      <p:sp>
        <p:nvSpPr>
          <p:cNvPr id="11" name="Shape 8"/>
          <p:cNvSpPr/>
          <p:nvPr/>
        </p:nvSpPr>
        <p:spPr>
          <a:xfrm>
            <a:off x="1005840" y="2606040"/>
            <a:ext cx="3383280" cy="1051560"/>
          </a:xfrm>
          <a:prstGeom prst="roundRect">
            <a:avLst>
              <a:gd name="adj" fmla="val 6957"/>
            </a:avLst>
          </a:prstGeom>
          <a:solidFill>
            <a:srgbClr val="FFFFFF"/>
          </a:solidFill>
          <a:ln w="15875">
            <a:solidFill>
              <a:srgbClr val="2E9E6A"/>
            </a:solidFill>
            <a:prstDash val="dash"/>
          </a:ln>
        </p:spPr>
      </p:sp>
      <p:sp>
        <p:nvSpPr>
          <p:cNvPr id="12" name="Text 9"/>
          <p:cNvSpPr txBox="1"/>
          <p:nvPr/>
        </p:nvSpPr>
        <p:spPr>
          <a:xfrm>
            <a:off x="1143000" y="2651760"/>
            <a:ext cx="3200400" cy="960120"/>
          </a:xfrm>
          <a:prstGeom prst="rect">
            <a:avLst/>
          </a:prstGeom>
          <a:noFill/>
          <a:ln/>
        </p:spPr>
        <p:txBody>
          <a:bodyPr wrap="square" lIns="0" tIns="0" rIns="0" bIns="0" rtlCol="0" anchor="ct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 loop body }:  square</a:t>
            </a:r>
            <a:endParaRPr lang="en-US" sz="1300" dirty="0"/>
          </a:p>
          <a:p>
            <a:pPr algn="l" indent="0" marL="0">
              <a:buNone/>
            </a:pPr>
            <a:r>
              <a:rPr lang="en-US" sz="1300" dirty="0">
                <a:solidFill>
                  <a:srgbClr val="14213D"/>
                </a:solidFill>
                <a:latin typeface="Courier New" pitchFamily="34" charset="0"/>
                <a:ea typeface="Courier New" pitchFamily="34" charset="-122"/>
                <a:cs typeface="Courier New" pitchFamily="34" charset="-120"/>
              </a:rPr>
              <a:t>(a new square every pass)</a:t>
            </a:r>
            <a:endParaRPr lang="en-US" sz="1300" dirty="0"/>
          </a:p>
        </p:txBody>
      </p:sp>
      <p:sp>
        <p:nvSpPr>
          <p:cNvPr id="13" name="Shape 10"/>
          <p:cNvSpPr/>
          <p:nvPr/>
        </p:nvSpPr>
        <p:spPr>
          <a:xfrm>
            <a:off x="4800600" y="2148840"/>
            <a:ext cx="2423160" cy="777240"/>
          </a:xfrm>
          <a:prstGeom prst="roundRect">
            <a:avLst>
              <a:gd name="adj" fmla="val 9412"/>
            </a:avLst>
          </a:prstGeom>
          <a:solidFill>
            <a:srgbClr val="E3ECF8"/>
          </a:solidFill>
          <a:ln w="15875">
            <a:solidFill>
              <a:srgbClr val="2F6FB3"/>
            </a:solidFill>
            <a:prstDash val="solid"/>
          </a:ln>
        </p:spPr>
      </p:sp>
      <p:sp>
        <p:nvSpPr>
          <p:cNvPr id="14" name="Text 11"/>
          <p:cNvSpPr txBox="1"/>
          <p:nvPr/>
        </p:nvSpPr>
        <p:spPr>
          <a:xfrm>
            <a:off x="4892040" y="2148840"/>
            <a:ext cx="2286000" cy="777240"/>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if { }:</a:t>
            </a:r>
            <a:endParaRPr lang="en-US" sz="1300" dirty="0"/>
          </a:p>
          <a:p>
            <a:pPr algn="l" indent="0" marL="0">
              <a:buNone/>
            </a:pPr>
            <a:r>
              <a:rPr lang="en-US" sz="1300" b="1" dirty="0">
                <a:solidFill>
                  <a:srgbClr val="14213D"/>
                </a:solidFill>
                <a:latin typeface="Courier New" pitchFamily="34" charset="0"/>
                <a:ea typeface="Courier New" pitchFamily="34" charset="-122"/>
                <a:cs typeface="Courier New" pitchFamily="34" charset="-120"/>
              </a:rPr>
              <a:t>message</a:t>
            </a:r>
            <a:endParaRPr lang="en-US" sz="1300" dirty="0"/>
          </a:p>
        </p:txBody>
      </p:sp>
      <p:sp>
        <p:nvSpPr>
          <p:cNvPr id="15" name="Shape 12"/>
          <p:cNvSpPr/>
          <p:nvPr/>
        </p:nvSpPr>
        <p:spPr>
          <a:xfrm>
            <a:off x="4800600" y="3063240"/>
            <a:ext cx="2423160" cy="777240"/>
          </a:xfrm>
          <a:prstGeom prst="roundRect">
            <a:avLst>
              <a:gd name="adj" fmla="val 9412"/>
            </a:avLst>
          </a:prstGeom>
          <a:solidFill>
            <a:srgbClr val="E3ECF8"/>
          </a:solidFill>
          <a:ln w="15875">
            <a:solidFill>
              <a:srgbClr val="2F6FB3"/>
            </a:solidFill>
            <a:prstDash val="solid"/>
          </a:ln>
        </p:spPr>
      </p:sp>
      <p:sp>
        <p:nvSpPr>
          <p:cNvPr id="16" name="Text 13"/>
          <p:cNvSpPr txBox="1"/>
          <p:nvPr/>
        </p:nvSpPr>
        <p:spPr>
          <a:xfrm>
            <a:off x="4892040" y="3063240"/>
            <a:ext cx="2286000" cy="777240"/>
          </a:xfrm>
          <a:prstGeom prst="rect">
            <a:avLst/>
          </a:prstGeom>
          <a:noFill/>
          <a:ln/>
        </p:spPr>
        <p:txBody>
          <a:bodyPr wrap="square" lIns="0" tIns="0" rIns="0" bIns="0" rtlCol="0" anchor="ct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else { }:</a:t>
            </a:r>
            <a:endParaRPr lang="en-US" sz="1300" dirty="0"/>
          </a:p>
          <a:p>
            <a:pPr algn="l" indent="0" marL="0">
              <a:buNone/>
            </a:pPr>
            <a:r>
              <a:rPr lang="en-US" sz="1300" b="1" dirty="0">
                <a:solidFill>
                  <a:srgbClr val="14213D"/>
                </a:solidFill>
                <a:latin typeface="Courier New" pitchFamily="34" charset="0"/>
                <a:ea typeface="Courier New" pitchFamily="34" charset="-122"/>
                <a:cs typeface="Courier New" pitchFamily="34" charset="-120"/>
              </a:rPr>
              <a:t>message</a:t>
            </a:r>
            <a:endParaRPr lang="en-US" sz="1300" dirty="0"/>
          </a:p>
        </p:txBody>
      </p:sp>
      <p:sp>
        <p:nvSpPr>
          <p:cNvPr id="17" name="Shape 14"/>
          <p:cNvSpPr/>
          <p:nvPr/>
        </p:nvSpPr>
        <p:spPr>
          <a:xfrm>
            <a:off x="777240" y="4069080"/>
            <a:ext cx="3200400" cy="1828800"/>
          </a:xfrm>
          <a:prstGeom prst="roundRect">
            <a:avLst>
              <a:gd name="adj" fmla="val 4000"/>
            </a:avLst>
          </a:prstGeom>
          <a:solidFill>
            <a:srgbClr val="FFF1D6"/>
          </a:solidFill>
          <a:ln w="15875">
            <a:solidFill>
              <a:srgbClr val="B7791F"/>
            </a:solidFill>
            <a:prstDash val="dash"/>
          </a:ln>
        </p:spPr>
      </p:sp>
      <p:sp>
        <p:nvSpPr>
          <p:cNvPr id="18" name="Text 15"/>
          <p:cNvSpPr txBox="1"/>
          <p:nvPr/>
        </p:nvSpPr>
        <p:spPr>
          <a:xfrm>
            <a:off x="914400" y="4114800"/>
            <a:ext cx="3017520" cy="1737360"/>
          </a:xfrm>
          <a:prstGeom prst="rect">
            <a:avLst/>
          </a:prstGeom>
          <a:noFill/>
          <a:ln/>
        </p:spPr>
        <p:txBody>
          <a:bodyPr wrap="square" lIns="0" tIns="0" rIns="0" bIns="0" rtlCol="0" anchor="ct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static void CountCalls()</a:t>
            </a:r>
            <a:endParaRPr lang="en-US" sz="1300" dirty="0"/>
          </a:p>
          <a:p>
            <a:pPr algn="l" indent="0" marL="0">
              <a:buNone/>
            </a:pPr>
            <a:r>
              <a:rPr lang="en-US" sz="1300" dirty="0">
                <a:solidFill>
                  <a:srgbClr val="14213D"/>
                </a:solidFill>
                <a:latin typeface="Courier New" pitchFamily="34" charset="0"/>
                <a:ea typeface="Courier New" pitchFamily="34" charset="-122"/>
                <a:cs typeface="Courier New" pitchFamily="34" charset="-120"/>
              </a:rPr>
              <a:t>{ calls }</a:t>
            </a:r>
            <a:endParaRPr lang="en-US" sz="1300" dirty="0"/>
          </a:p>
          <a:p>
            <a:pPr algn="l" indent="0" marL="0">
              <a:buNone/>
            </a:pPr>
            <a:endParaRPr lang="en-US" sz="1300" dirty="0"/>
          </a:p>
          <a:p>
            <a:pPr algn="l" indent="0" marL="0">
              <a:buNone/>
            </a:pPr>
            <a:r>
              <a:rPr lang="en-US" sz="1300" dirty="0">
                <a:solidFill>
                  <a:srgbClr val="14213D"/>
                </a:solidFill>
                <a:latin typeface="Courier New" pitchFamily="34" charset="0"/>
                <a:ea typeface="Courier New" pitchFamily="34" charset="-122"/>
                <a:cs typeface="Courier New" pitchFamily="34" charset="-120"/>
              </a:rPr>
              <a:t>cannot see total</a:t>
            </a:r>
            <a:endParaRPr lang="en-US" sz="1300" dirty="0"/>
          </a:p>
        </p:txBody>
      </p:sp>
      <p:sp>
        <p:nvSpPr>
          <p:cNvPr id="19" name="Shape 16"/>
          <p:cNvSpPr/>
          <p:nvPr/>
        </p:nvSpPr>
        <p:spPr>
          <a:xfrm>
            <a:off x="4114800" y="4069080"/>
            <a:ext cx="3108960" cy="1828800"/>
          </a:xfrm>
          <a:prstGeom prst="roundRect">
            <a:avLst>
              <a:gd name="adj" fmla="val 4000"/>
            </a:avLst>
          </a:prstGeom>
          <a:solidFill>
            <a:srgbClr val="FFF1D6"/>
          </a:solidFill>
          <a:ln w="15875">
            <a:solidFill>
              <a:srgbClr val="B7791F"/>
            </a:solidFill>
            <a:prstDash val="dash"/>
          </a:ln>
        </p:spPr>
      </p:sp>
      <p:sp>
        <p:nvSpPr>
          <p:cNvPr id="20" name="Text 17"/>
          <p:cNvSpPr txBox="1"/>
          <p:nvPr/>
        </p:nvSpPr>
        <p:spPr>
          <a:xfrm>
            <a:off x="4251960" y="4114800"/>
            <a:ext cx="2926080" cy="1737360"/>
          </a:xfrm>
          <a:prstGeom prst="rect">
            <a:avLst/>
          </a:prstGeom>
          <a:noFill/>
          <a:ln/>
        </p:spPr>
        <p:txBody>
          <a:bodyPr wrap="square" lIns="0" tIns="0" rIns="0" bIns="0" rtlCol="0" anchor="ct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static void TryToChange(</a:t>
            </a:r>
            <a:endParaRPr lang="en-US" sz="1300" dirty="0"/>
          </a:p>
          <a:p>
            <a:pPr algn="l" indent="0" marL="0">
              <a:buNone/>
            </a:pPr>
            <a:r>
              <a:rPr lang="en-US" sz="1300" dirty="0">
                <a:solidFill>
                  <a:srgbClr val="14213D"/>
                </a:solidFill>
                <a:latin typeface="Courier New" pitchFamily="34" charset="0"/>
                <a:ea typeface="Courier New" pitchFamily="34" charset="-122"/>
                <a:cs typeface="Courier New" pitchFamily="34" charset="-120"/>
              </a:rPr>
              <a:t>    int value)</a:t>
            </a:r>
            <a:endParaRPr lang="en-US" sz="1300" dirty="0"/>
          </a:p>
          <a:p>
            <a:pPr algn="l" indent="0" marL="0">
              <a:buNone/>
            </a:pPr>
            <a:r>
              <a:rPr lang="en-US" sz="1300" dirty="0">
                <a:solidFill>
                  <a:srgbClr val="14213D"/>
                </a:solidFill>
                <a:latin typeface="Courier New" pitchFamily="34" charset="0"/>
                <a:ea typeface="Courier New" pitchFamily="34" charset="-122"/>
                <a:cs typeface="Courier New" pitchFamily="34" charset="-120"/>
              </a:rPr>
              <a:t>{ value }</a:t>
            </a:r>
            <a:endParaRPr lang="en-US" sz="1300" dirty="0"/>
          </a:p>
        </p:txBody>
      </p:sp>
      <p:sp>
        <p:nvSpPr>
          <p:cNvPr id="21" name="Shape 18"/>
          <p:cNvSpPr/>
          <p:nvPr/>
        </p:nvSpPr>
        <p:spPr>
          <a:xfrm>
            <a:off x="7680960" y="1645920"/>
            <a:ext cx="3977640" cy="1005840"/>
          </a:xfrm>
          <a:prstGeom prst="roundRect">
            <a:avLst>
              <a:gd name="adj" fmla="val 10909"/>
            </a:avLst>
          </a:prstGeom>
          <a:solidFill>
            <a:srgbClr val="EEF1F6"/>
          </a:solidFill>
          <a:ln w="12700">
            <a:solidFill>
              <a:srgbClr val="EEF1F6"/>
            </a:solidFill>
            <a:prstDash val="solid"/>
          </a:ln>
        </p:spPr>
      </p:sp>
      <p:sp>
        <p:nvSpPr>
          <p:cNvPr id="22" name="Shape 19"/>
          <p:cNvSpPr/>
          <p:nvPr/>
        </p:nvSpPr>
        <p:spPr>
          <a:xfrm>
            <a:off x="7863840" y="1874520"/>
            <a:ext cx="548640" cy="548640"/>
          </a:xfrm>
          <a:prstGeom prst="ellipse">
            <a:avLst/>
          </a:prstGeom>
          <a:solidFill>
            <a:srgbClr val="2E9E6A"/>
          </a:solidFill>
          <a:ln w="12700">
            <a:solidFill>
              <a:srgbClr val="2E9E6A"/>
            </a:solidFill>
            <a:prstDash val="solid"/>
          </a:ln>
        </p:spPr>
      </p:sp>
      <p:pic>
        <p:nvPicPr>
          <p:cNvPr id="23" name="Image 0" descr="preencoded.png">    </p:cNvPr>
          <p:cNvPicPr>
            <a:picLocks noChangeAspect="1"/>
          </p:cNvPicPr>
          <p:nvPr/>
        </p:nvPicPr>
        <p:blipFill>
          <a:blip r:embed="rId1"/>
          <a:stretch>
            <a:fillRect/>
          </a:stretch>
        </p:blipFill>
        <p:spPr>
          <a:xfrm>
            <a:off x="8006486" y="2017166"/>
            <a:ext cx="263347" cy="263347"/>
          </a:xfrm>
          <a:prstGeom prst="rect">
            <a:avLst/>
          </a:prstGeom>
        </p:spPr>
      </p:pic>
      <p:sp>
        <p:nvSpPr>
          <p:cNvPr id="24" name="Text 20"/>
          <p:cNvSpPr txBox="1"/>
          <p:nvPr/>
        </p:nvSpPr>
        <p:spPr>
          <a:xfrm>
            <a:off x="8595360" y="1700784"/>
            <a:ext cx="2926080" cy="89611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Look out: allowed</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An inner block sees the names of every enclosing block.</a:t>
            </a:r>
            <a:endParaRPr lang="en-US" sz="1400" dirty="0"/>
          </a:p>
        </p:txBody>
      </p:sp>
      <p:sp>
        <p:nvSpPr>
          <p:cNvPr id="25" name="Shape 21"/>
          <p:cNvSpPr/>
          <p:nvPr/>
        </p:nvSpPr>
        <p:spPr>
          <a:xfrm>
            <a:off x="7680960" y="2770632"/>
            <a:ext cx="3977640" cy="1005840"/>
          </a:xfrm>
          <a:prstGeom prst="roundRect">
            <a:avLst>
              <a:gd name="adj" fmla="val 10909"/>
            </a:avLst>
          </a:prstGeom>
          <a:solidFill>
            <a:srgbClr val="EEF1F6"/>
          </a:solidFill>
          <a:ln w="12700">
            <a:solidFill>
              <a:srgbClr val="EEF1F6"/>
            </a:solidFill>
            <a:prstDash val="solid"/>
          </a:ln>
        </p:spPr>
      </p:sp>
      <p:sp>
        <p:nvSpPr>
          <p:cNvPr id="26" name="Shape 22"/>
          <p:cNvSpPr/>
          <p:nvPr/>
        </p:nvSpPr>
        <p:spPr>
          <a:xfrm>
            <a:off x="7863840" y="2999232"/>
            <a:ext cx="548640" cy="548640"/>
          </a:xfrm>
          <a:prstGeom prst="ellipse">
            <a:avLst/>
          </a:prstGeom>
          <a:solidFill>
            <a:srgbClr val="C8453B"/>
          </a:solidFill>
          <a:ln w="12700">
            <a:solidFill>
              <a:srgbClr val="C8453B"/>
            </a:solidFill>
            <a:prstDash val="solid"/>
          </a:ln>
        </p:spPr>
      </p:sp>
      <p:pic>
        <p:nvPicPr>
          <p:cNvPr id="27" name="Image 1" descr="preencoded.png">    </p:cNvPr>
          <p:cNvPicPr>
            <a:picLocks noChangeAspect="1"/>
          </p:cNvPicPr>
          <p:nvPr/>
        </p:nvPicPr>
        <p:blipFill>
          <a:blip r:embed="rId2"/>
          <a:stretch>
            <a:fillRect/>
          </a:stretch>
        </p:blipFill>
        <p:spPr>
          <a:xfrm>
            <a:off x="8006486" y="3141878"/>
            <a:ext cx="263347" cy="263347"/>
          </a:xfrm>
          <a:prstGeom prst="rect">
            <a:avLst/>
          </a:prstGeom>
        </p:spPr>
      </p:pic>
      <p:sp>
        <p:nvSpPr>
          <p:cNvPr id="28" name="Text 23"/>
          <p:cNvSpPr txBox="1"/>
          <p:nvPr/>
        </p:nvSpPr>
        <p:spPr>
          <a:xfrm>
            <a:off x="8595360" y="2825496"/>
            <a:ext cx="2926080" cy="89611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Look in: CS0103</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Outside a block its names do not exist.</a:t>
            </a:r>
            <a:endParaRPr lang="en-US" sz="1400" dirty="0"/>
          </a:p>
        </p:txBody>
      </p:sp>
      <p:sp>
        <p:nvSpPr>
          <p:cNvPr id="29" name="Shape 24"/>
          <p:cNvSpPr/>
          <p:nvPr/>
        </p:nvSpPr>
        <p:spPr>
          <a:xfrm>
            <a:off x="7680960" y="3895344"/>
            <a:ext cx="3977640" cy="1005840"/>
          </a:xfrm>
          <a:prstGeom prst="roundRect">
            <a:avLst>
              <a:gd name="adj" fmla="val 10909"/>
            </a:avLst>
          </a:prstGeom>
          <a:solidFill>
            <a:srgbClr val="EEF1F6"/>
          </a:solidFill>
          <a:ln w="12700">
            <a:solidFill>
              <a:srgbClr val="EEF1F6"/>
            </a:solidFill>
            <a:prstDash val="solid"/>
          </a:ln>
        </p:spPr>
      </p:sp>
      <p:sp>
        <p:nvSpPr>
          <p:cNvPr id="30" name="Shape 25"/>
          <p:cNvSpPr/>
          <p:nvPr/>
        </p:nvSpPr>
        <p:spPr>
          <a:xfrm>
            <a:off x="7863840" y="4123944"/>
            <a:ext cx="548640" cy="548640"/>
          </a:xfrm>
          <a:prstGeom prst="ellipse">
            <a:avLst/>
          </a:prstGeom>
          <a:solidFill>
            <a:srgbClr val="2F6FB3"/>
          </a:solidFill>
          <a:ln w="12700">
            <a:solidFill>
              <a:srgbClr val="2F6FB3"/>
            </a:solidFill>
            <a:prstDash val="solid"/>
          </a:ln>
        </p:spPr>
      </p:sp>
      <p:pic>
        <p:nvPicPr>
          <p:cNvPr id="31" name="Image 2" descr="preencoded.png">    </p:cNvPr>
          <p:cNvPicPr>
            <a:picLocks noChangeAspect="1"/>
          </p:cNvPicPr>
          <p:nvPr/>
        </p:nvPicPr>
        <p:blipFill>
          <a:blip r:embed="rId3"/>
          <a:stretch>
            <a:fillRect/>
          </a:stretch>
        </p:blipFill>
        <p:spPr>
          <a:xfrm>
            <a:off x="8006486" y="4266590"/>
            <a:ext cx="263347" cy="263347"/>
          </a:xfrm>
          <a:prstGeom prst="rect">
            <a:avLst/>
          </a:prstGeom>
        </p:spPr>
      </p:pic>
      <p:sp>
        <p:nvSpPr>
          <p:cNvPr id="32" name="Text 26"/>
          <p:cNvSpPr txBox="1"/>
          <p:nvPr/>
        </p:nvSpPr>
        <p:spPr>
          <a:xfrm>
            <a:off x="8595360" y="3950208"/>
            <a:ext cx="2926080" cy="89611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Siblings: independent</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if and else may both declare message.</a:t>
            </a:r>
            <a:endParaRPr lang="en-US" sz="1400" dirty="0"/>
          </a:p>
        </p:txBody>
      </p:sp>
      <p:sp>
        <p:nvSpPr>
          <p:cNvPr id="33" name="Shape 27"/>
          <p:cNvSpPr/>
          <p:nvPr/>
        </p:nvSpPr>
        <p:spPr>
          <a:xfrm>
            <a:off x="7680960" y="5020056"/>
            <a:ext cx="3977640" cy="1005840"/>
          </a:xfrm>
          <a:prstGeom prst="roundRect">
            <a:avLst>
              <a:gd name="adj" fmla="val 10909"/>
            </a:avLst>
          </a:prstGeom>
          <a:solidFill>
            <a:srgbClr val="EEF1F6"/>
          </a:solidFill>
          <a:ln w="12700">
            <a:solidFill>
              <a:srgbClr val="EEF1F6"/>
            </a:solidFill>
            <a:prstDash val="solid"/>
          </a:ln>
        </p:spPr>
      </p:sp>
      <p:sp>
        <p:nvSpPr>
          <p:cNvPr id="34" name="Shape 28"/>
          <p:cNvSpPr/>
          <p:nvPr/>
        </p:nvSpPr>
        <p:spPr>
          <a:xfrm>
            <a:off x="7863840" y="5248656"/>
            <a:ext cx="548640" cy="548640"/>
          </a:xfrm>
          <a:prstGeom prst="ellipse">
            <a:avLst/>
          </a:prstGeom>
          <a:solidFill>
            <a:srgbClr val="B7791F"/>
          </a:solidFill>
          <a:ln w="12700">
            <a:solidFill>
              <a:srgbClr val="B7791F"/>
            </a:solidFill>
            <a:prstDash val="solid"/>
          </a:ln>
        </p:spPr>
      </p:sp>
      <p:pic>
        <p:nvPicPr>
          <p:cNvPr id="35" name="Image 3" descr="preencoded.png">    </p:cNvPr>
          <p:cNvPicPr>
            <a:picLocks noChangeAspect="1"/>
          </p:cNvPicPr>
          <p:nvPr/>
        </p:nvPicPr>
        <p:blipFill>
          <a:blip r:embed="rId4"/>
          <a:stretch>
            <a:fillRect/>
          </a:stretch>
        </p:blipFill>
        <p:spPr>
          <a:xfrm>
            <a:off x="8006486" y="5391302"/>
            <a:ext cx="263347" cy="263347"/>
          </a:xfrm>
          <a:prstGeom prst="rect">
            <a:avLst/>
          </a:prstGeom>
        </p:spPr>
      </p:pic>
      <p:sp>
        <p:nvSpPr>
          <p:cNvPr id="36" name="Text 29"/>
          <p:cNvSpPr txBox="1"/>
          <p:nvPr/>
        </p:nvSpPr>
        <p:spPr>
          <a:xfrm>
            <a:off x="8595360" y="5074920"/>
            <a:ext cx="2926080" cy="89611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Static method: own box</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Only parameters, locals and constants.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SCOPE ERRORS · REAL COMPILER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CS0103, CS0136, CS0128: one name, one meaning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645920"/>
            <a:ext cx="60350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13_08_BlockScope (comments shortened)</a:t>
            </a:r>
            <a:endParaRPr lang="en-US" sz="1100" dirty="0"/>
          </a:p>
        </p:txBody>
      </p:sp>
      <p:sp>
        <p:nvSpPr>
          <p:cNvPr id="9" name="Text 6"/>
          <p:cNvSpPr txBox="1"/>
          <p:nvPr/>
        </p:nvSpPr>
        <p:spPr>
          <a:xfrm>
            <a:off x="777240" y="2057400"/>
            <a:ext cx="55778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square = i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square;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Console.WriteLine(square);</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Console.WriteLine(i);</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$"total = {total}"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int total = k;      // CS0136</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$"k = {k}, total = {total}"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int total = 5;          // CS0128</a:t>
            </a:r>
            <a:endParaRPr lang="en-US" sz="1200" dirty="0"/>
          </a:p>
        </p:txBody>
      </p:sp>
      <p:sp>
        <p:nvSpPr>
          <p:cNvPr id="10" name="Shape 7"/>
          <p:cNvSpPr/>
          <p:nvPr/>
        </p:nvSpPr>
        <p:spPr>
          <a:xfrm>
            <a:off x="6812280" y="1645920"/>
            <a:ext cx="4846320" cy="1325880"/>
          </a:xfrm>
          <a:prstGeom prst="roundRect">
            <a:avLst>
              <a:gd name="adj" fmla="val 6897"/>
            </a:avLst>
          </a:prstGeom>
          <a:solidFill>
            <a:srgbClr val="1A0F12"/>
          </a:solidFill>
          <a:ln w="12700">
            <a:solidFill>
              <a:srgbClr val="C8453B"/>
            </a:solidFill>
            <a:prstDash val="solid"/>
          </a:ln>
        </p:spPr>
      </p:sp>
      <p:sp>
        <p:nvSpPr>
          <p:cNvPr id="11" name="Text 8"/>
          <p:cNvSpPr txBox="1"/>
          <p:nvPr/>
        </p:nvSpPr>
        <p:spPr>
          <a:xfrm>
            <a:off x="7040880" y="1719072"/>
            <a:ext cx="438912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a:t>
            </a:r>
            <a:endParaRPr lang="en-US" sz="1000" dirty="0"/>
          </a:p>
        </p:txBody>
      </p:sp>
      <p:sp>
        <p:nvSpPr>
          <p:cNvPr id="12" name="Text 9"/>
          <p:cNvSpPr txBox="1"/>
          <p:nvPr/>
        </p:nvSpPr>
        <p:spPr>
          <a:xfrm>
            <a:off x="7040880" y="1993392"/>
            <a:ext cx="4389120" cy="886968"/>
          </a:xfrm>
          <a:prstGeom prst="rect">
            <a:avLst/>
          </a:prstGeom>
          <a:noFill/>
          <a:ln/>
        </p:spPr>
        <p:txBody>
          <a:bodyPr wrap="square" lIns="0" tIns="0" rIns="0" bIns="0" rtlCol="0" anchor="t"/>
          <a:lstStyle/>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error CS0103: The name 'square' does not exist in the current context</a:t>
            </a:r>
            <a:endParaRPr lang="en-US" sz="1200" dirty="0"/>
          </a:p>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error CS0103: The name 'i' does not exist in the current context</a:t>
            </a:r>
            <a:endParaRPr lang="en-US" sz="1200" dirty="0"/>
          </a:p>
        </p:txBody>
      </p:sp>
      <p:sp>
        <p:nvSpPr>
          <p:cNvPr id="13" name="Shape 10"/>
          <p:cNvSpPr/>
          <p:nvPr/>
        </p:nvSpPr>
        <p:spPr>
          <a:xfrm>
            <a:off x="6812280" y="3108960"/>
            <a:ext cx="4846320" cy="1783080"/>
          </a:xfrm>
          <a:prstGeom prst="roundRect">
            <a:avLst>
              <a:gd name="adj" fmla="val 5128"/>
            </a:avLst>
          </a:prstGeom>
          <a:solidFill>
            <a:srgbClr val="1A0F12"/>
          </a:solidFill>
          <a:ln w="12700">
            <a:solidFill>
              <a:srgbClr val="C8453B"/>
            </a:solidFill>
            <a:prstDash val="solid"/>
          </a:ln>
        </p:spPr>
      </p:sp>
      <p:sp>
        <p:nvSpPr>
          <p:cNvPr id="14" name="Text 11"/>
          <p:cNvSpPr txBox="1"/>
          <p:nvPr/>
        </p:nvSpPr>
        <p:spPr>
          <a:xfrm>
            <a:off x="7040880" y="3182112"/>
            <a:ext cx="438912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a:t>
            </a:r>
            <a:endParaRPr lang="en-US" sz="1000" dirty="0"/>
          </a:p>
        </p:txBody>
      </p:sp>
      <p:sp>
        <p:nvSpPr>
          <p:cNvPr id="15" name="Text 12"/>
          <p:cNvSpPr txBox="1"/>
          <p:nvPr/>
        </p:nvSpPr>
        <p:spPr>
          <a:xfrm>
            <a:off x="7040880" y="3456432"/>
            <a:ext cx="4389120" cy="1344168"/>
          </a:xfrm>
          <a:prstGeom prst="rect">
            <a:avLst/>
          </a:prstGeom>
          <a:noFill/>
          <a:ln/>
        </p:spPr>
        <p:txBody>
          <a:bodyPr wrap="square" lIns="0" tIns="0" rIns="0" bIns="0" rtlCol="0" anchor="t"/>
          <a:lstStyle/>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error CS0136: A local or parameter named 'total' cannot be declared in this scope because that name is used in an enclosing local scope to define a local or parameter</a:t>
            </a:r>
            <a:endParaRPr lang="en-US" sz="1200" dirty="0"/>
          </a:p>
        </p:txBody>
      </p:sp>
      <p:sp>
        <p:nvSpPr>
          <p:cNvPr id="16" name="Shape 13"/>
          <p:cNvSpPr/>
          <p:nvPr/>
        </p:nvSpPr>
        <p:spPr>
          <a:xfrm>
            <a:off x="6812280" y="5029200"/>
            <a:ext cx="4846320" cy="1051560"/>
          </a:xfrm>
          <a:prstGeom prst="roundRect">
            <a:avLst>
              <a:gd name="adj" fmla="val 8696"/>
            </a:avLst>
          </a:prstGeom>
          <a:solidFill>
            <a:srgbClr val="1A0F12"/>
          </a:solidFill>
          <a:ln w="12700">
            <a:solidFill>
              <a:srgbClr val="C8453B"/>
            </a:solidFill>
            <a:prstDash val="solid"/>
          </a:ln>
        </p:spPr>
      </p:sp>
      <p:sp>
        <p:nvSpPr>
          <p:cNvPr id="17" name="Text 14"/>
          <p:cNvSpPr txBox="1"/>
          <p:nvPr/>
        </p:nvSpPr>
        <p:spPr>
          <a:xfrm>
            <a:off x="7040880" y="5102352"/>
            <a:ext cx="438912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a:t>
            </a:r>
            <a:endParaRPr lang="en-US" sz="1000" dirty="0"/>
          </a:p>
        </p:txBody>
      </p:sp>
      <p:sp>
        <p:nvSpPr>
          <p:cNvPr id="18" name="Text 15"/>
          <p:cNvSpPr txBox="1"/>
          <p:nvPr/>
        </p:nvSpPr>
        <p:spPr>
          <a:xfrm>
            <a:off x="7040880" y="5376672"/>
            <a:ext cx="4389120" cy="612648"/>
          </a:xfrm>
          <a:prstGeom prst="rect">
            <a:avLst/>
          </a:prstGeom>
          <a:noFill/>
          <a:ln/>
        </p:spPr>
        <p:txBody>
          <a:bodyPr wrap="square" lIns="0" tIns="0" rIns="0" bIns="0" rtlCol="0" anchor="t"/>
          <a:lstStyle/>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error CS0128: A local variable or function named 'total' is already defined in this scope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LIFETIME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Locals are born at the call and die at the closing brace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6400800" cy="2423160"/>
          </a:xfrm>
          <a:prstGeom prst="roundRect">
            <a:avLst>
              <a:gd name="adj" fmla="val 3774"/>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 new calls at every call</a:t>
            </a:r>
            <a:endParaRPr lang="en-US" sz="1100" dirty="0"/>
          </a:p>
        </p:txBody>
      </p:sp>
      <p:sp>
        <p:nvSpPr>
          <p:cNvPr id="9" name="Text 6"/>
          <p:cNvSpPr txBox="1"/>
          <p:nvPr/>
        </p:nvSpPr>
        <p:spPr>
          <a:xfrm>
            <a:off x="777240" y="2057400"/>
            <a:ext cx="5943600" cy="190195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Prints how often it has been called... or does it?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CountCalls()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calls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calls++;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$"CountCalls: calls = {calls}"</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206240"/>
            <a:ext cx="6400800" cy="1874520"/>
          </a:xfrm>
          <a:prstGeom prst="roundRect">
            <a:avLst>
              <a:gd name="adj" fmla="val 4878"/>
            </a:avLst>
          </a:prstGeom>
          <a:solidFill>
            <a:srgbClr val="0F1729"/>
          </a:solidFill>
          <a:ln w="12700">
            <a:solidFill>
              <a:srgbClr val="0F1729"/>
            </a:solidFill>
            <a:prstDash val="solid"/>
          </a:ln>
        </p:spPr>
      </p:sp>
      <p:sp>
        <p:nvSpPr>
          <p:cNvPr id="11" name="Text 8"/>
          <p:cNvSpPr txBox="1"/>
          <p:nvPr/>
        </p:nvSpPr>
        <p:spPr>
          <a:xfrm>
            <a:off x="777240" y="431596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value: a copy of the argument</a:t>
            </a:r>
            <a:endParaRPr lang="en-US" sz="1100" dirty="0"/>
          </a:p>
        </p:txBody>
      </p:sp>
      <p:sp>
        <p:nvSpPr>
          <p:cNvPr id="12" name="Text 9"/>
          <p:cNvSpPr txBox="1"/>
          <p:nvPr/>
        </p:nvSpPr>
        <p:spPr>
          <a:xfrm>
            <a:off x="777240" y="4617720"/>
            <a:ext cx="5943600" cy="1353312"/>
          </a:xfrm>
          <a:prstGeom prst="rect">
            <a:avLst/>
          </a:prstGeom>
          <a:noFill/>
          <a:ln/>
        </p:spPr>
        <p:txBody>
          <a:bodyPr wrap="square" lIns="0" tIns="0" rIns="0" bIns="0" rtlCol="0" anchor="t"/>
          <a:lstStyle/>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Changes only its own copy of the argument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TryToChange(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value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$"inside TryToChange: value = {value}"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7178040" y="1645920"/>
            <a:ext cx="4480560" cy="2240280"/>
          </a:xfrm>
          <a:prstGeom prst="roundRect">
            <a:avLst>
              <a:gd name="adj" fmla="val 4082"/>
            </a:avLst>
          </a:prstGeom>
          <a:solidFill>
            <a:srgbClr val="0B0F19"/>
          </a:solidFill>
          <a:ln w="12700">
            <a:solidFill>
              <a:srgbClr val="2A3654"/>
            </a:solidFill>
            <a:prstDash val="solid"/>
          </a:ln>
        </p:spPr>
      </p:sp>
      <p:sp>
        <p:nvSpPr>
          <p:cNvPr id="14" name="Shape 11"/>
          <p:cNvSpPr/>
          <p:nvPr/>
        </p:nvSpPr>
        <p:spPr>
          <a:xfrm>
            <a:off x="736092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758952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781812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7406640" y="2029968"/>
            <a:ext cx="4023360" cy="17373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CountCalls: calls = 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CountCalls: calls = 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CountCalls: calls = 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inside TryToChange: value = 100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after TryToChange: points = 40</a:t>
            </a:r>
            <a:endParaRPr lang="en-US" sz="1300" dirty="0"/>
          </a:p>
        </p:txBody>
      </p:sp>
      <p:sp>
        <p:nvSpPr>
          <p:cNvPr id="19" name="Shape 16"/>
          <p:cNvSpPr/>
          <p:nvPr/>
        </p:nvSpPr>
        <p:spPr>
          <a:xfrm>
            <a:off x="7178040" y="4069080"/>
            <a:ext cx="1417320" cy="1097280"/>
          </a:xfrm>
          <a:prstGeom prst="roundRect">
            <a:avLst>
              <a:gd name="adj" fmla="val 6667"/>
            </a:avLst>
          </a:prstGeom>
          <a:solidFill>
            <a:srgbClr val="EEF1F6"/>
          </a:solidFill>
          <a:ln w="15875">
            <a:solidFill>
              <a:srgbClr val="5B6478"/>
            </a:solidFill>
            <a:prstDash val="solid"/>
          </a:ln>
        </p:spPr>
      </p:sp>
      <p:sp>
        <p:nvSpPr>
          <p:cNvPr id="20" name="Text 17"/>
          <p:cNvSpPr txBox="1"/>
          <p:nvPr/>
        </p:nvSpPr>
        <p:spPr>
          <a:xfrm>
            <a:off x="7223760" y="4114800"/>
            <a:ext cx="1325880" cy="10058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call 1</a:t>
            </a:r>
            <a:pPr algn="ctr" indent="0" marL="0">
              <a:buNone/>
            </a:pPr>
            <a:r>
              <a:rPr lang="en-US" sz="1300" dirty="0">
                <a:solidFill>
                  <a:srgbClr val="333B4F"/>
                </a:solidFill>
                <a:latin typeface="Calibri" pitchFamily="34" charset="0"/>
                <a:ea typeface="Calibri" pitchFamily="34" charset="-122"/>
                <a:cs typeface="Calibri" pitchFamily="34" charset="-120"/>
              </a:rPr>
              <a:t>
</a:t>
            </a:r>
            <a:pPr algn="ctr" indent="0" marL="0">
              <a:buNone/>
            </a:pPr>
            <a:r>
              <a:rPr lang="en-US" sz="1300" dirty="0">
                <a:solidFill>
                  <a:srgbClr val="333B4F"/>
                </a:solidFill>
                <a:latin typeface="Courier New" pitchFamily="34" charset="0"/>
                <a:ea typeface="Courier New" pitchFamily="34" charset="-122"/>
                <a:cs typeface="Courier New" pitchFamily="34" charset="-120"/>
              </a:rPr>
              <a:t>calls = 1</a:t>
            </a:r>
            <a:endParaRPr lang="en-US" sz="1300" dirty="0"/>
          </a:p>
        </p:txBody>
      </p:sp>
      <p:sp>
        <p:nvSpPr>
          <p:cNvPr id="21" name="Shape 18"/>
          <p:cNvSpPr/>
          <p:nvPr/>
        </p:nvSpPr>
        <p:spPr>
          <a:xfrm>
            <a:off x="8686800" y="4069080"/>
            <a:ext cx="1417320" cy="1097280"/>
          </a:xfrm>
          <a:prstGeom prst="roundRect">
            <a:avLst>
              <a:gd name="adj" fmla="val 6667"/>
            </a:avLst>
          </a:prstGeom>
          <a:solidFill>
            <a:srgbClr val="EEF1F6"/>
          </a:solidFill>
          <a:ln w="15875">
            <a:solidFill>
              <a:srgbClr val="5B6478"/>
            </a:solidFill>
            <a:prstDash val="solid"/>
          </a:ln>
        </p:spPr>
      </p:sp>
      <p:sp>
        <p:nvSpPr>
          <p:cNvPr id="22" name="Text 19"/>
          <p:cNvSpPr txBox="1"/>
          <p:nvPr/>
        </p:nvSpPr>
        <p:spPr>
          <a:xfrm>
            <a:off x="8732520" y="4114800"/>
            <a:ext cx="1325880" cy="10058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call 2</a:t>
            </a:r>
            <a:pPr algn="ctr" indent="0" marL="0">
              <a:buNone/>
            </a:pPr>
            <a:r>
              <a:rPr lang="en-US" sz="1300" dirty="0">
                <a:solidFill>
                  <a:srgbClr val="333B4F"/>
                </a:solidFill>
                <a:latin typeface="Calibri" pitchFamily="34" charset="0"/>
                <a:ea typeface="Calibri" pitchFamily="34" charset="-122"/>
                <a:cs typeface="Calibri" pitchFamily="34" charset="-120"/>
              </a:rPr>
              <a:t>
</a:t>
            </a:r>
            <a:pPr algn="ctr" indent="0" marL="0">
              <a:buNone/>
            </a:pPr>
            <a:r>
              <a:rPr lang="en-US" sz="1300" dirty="0">
                <a:solidFill>
                  <a:srgbClr val="333B4F"/>
                </a:solidFill>
                <a:latin typeface="Courier New" pitchFamily="34" charset="0"/>
                <a:ea typeface="Courier New" pitchFamily="34" charset="-122"/>
                <a:cs typeface="Courier New" pitchFamily="34" charset="-120"/>
              </a:rPr>
              <a:t>calls = 1</a:t>
            </a:r>
            <a:endParaRPr lang="en-US" sz="1300" dirty="0"/>
          </a:p>
        </p:txBody>
      </p:sp>
      <p:sp>
        <p:nvSpPr>
          <p:cNvPr id="23" name="Shape 20"/>
          <p:cNvSpPr/>
          <p:nvPr/>
        </p:nvSpPr>
        <p:spPr>
          <a:xfrm>
            <a:off x="10195560" y="4069080"/>
            <a:ext cx="1417320" cy="1097280"/>
          </a:xfrm>
          <a:prstGeom prst="roundRect">
            <a:avLst>
              <a:gd name="adj" fmla="val 6667"/>
            </a:avLst>
          </a:prstGeom>
          <a:solidFill>
            <a:srgbClr val="EEF1F6"/>
          </a:solidFill>
          <a:ln w="15875">
            <a:solidFill>
              <a:srgbClr val="5B6478"/>
            </a:solidFill>
            <a:prstDash val="solid"/>
          </a:ln>
        </p:spPr>
      </p:sp>
      <p:sp>
        <p:nvSpPr>
          <p:cNvPr id="24" name="Text 21"/>
          <p:cNvSpPr txBox="1"/>
          <p:nvPr/>
        </p:nvSpPr>
        <p:spPr>
          <a:xfrm>
            <a:off x="10241280" y="4114800"/>
            <a:ext cx="1325880" cy="10058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call 3</a:t>
            </a:r>
            <a:pPr algn="ctr" indent="0" marL="0">
              <a:buNone/>
            </a:pPr>
            <a:r>
              <a:rPr lang="en-US" sz="1300" dirty="0">
                <a:solidFill>
                  <a:srgbClr val="333B4F"/>
                </a:solidFill>
                <a:latin typeface="Calibri" pitchFamily="34" charset="0"/>
                <a:ea typeface="Calibri" pitchFamily="34" charset="-122"/>
                <a:cs typeface="Calibri" pitchFamily="34" charset="-120"/>
              </a:rPr>
              <a:t>
</a:t>
            </a:r>
            <a:pPr algn="ctr" indent="0" marL="0">
              <a:buNone/>
            </a:pPr>
            <a:r>
              <a:rPr lang="en-US" sz="1300" dirty="0">
                <a:solidFill>
                  <a:srgbClr val="333B4F"/>
                </a:solidFill>
                <a:latin typeface="Courier New" pitchFamily="34" charset="0"/>
                <a:ea typeface="Courier New" pitchFamily="34" charset="-122"/>
                <a:cs typeface="Courier New" pitchFamily="34" charset="-120"/>
              </a:rPr>
              <a:t>calls = 1</a:t>
            </a:r>
            <a:endParaRPr lang="en-US" sz="1300" dirty="0"/>
          </a:p>
        </p:txBody>
      </p:sp>
      <p:sp>
        <p:nvSpPr>
          <p:cNvPr id="25" name="Text 22"/>
          <p:cNvSpPr txBox="1"/>
          <p:nvPr/>
        </p:nvSpPr>
        <p:spPr>
          <a:xfrm>
            <a:off x="7178040" y="5257800"/>
            <a:ext cx="4480560" cy="822960"/>
          </a:xfrm>
          <a:prstGeom prst="rect">
            <a:avLst/>
          </a:prstGeom>
          <a:noFill/>
          <a:ln/>
        </p:spPr>
        <p:txBody>
          <a:bodyPr wrap="square" lIns="0" tIns="0" rIns="0" bIns="0" rtlCol="0" anchor="t"/>
          <a:lstStyle/>
          <a:p>
            <a:pPr indent="0" marL="0">
              <a:buNone/>
            </a:pPr>
            <a:r>
              <a:rPr lang="en-US" sz="1300" dirty="0">
                <a:solidFill>
                  <a:srgbClr val="5B6478"/>
                </a:solidFill>
                <a:latin typeface="Calibri" pitchFamily="34" charset="0"/>
                <a:ea typeface="Calibri" pitchFamily="34" charset="-122"/>
                <a:cs typeface="Calibri" pitchFamily="34" charset="-120"/>
              </a:rPr>
              <a:t>Each box: calls is created with 0, becomes 1, and is destroyed when the method returns.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LOCAL FUNCTIONS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Capturing a variable vs a static local function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548640" y="1645920"/>
            <a:ext cx="5852160" cy="2971800"/>
          </a:xfrm>
          <a:prstGeom prst="roundRect">
            <a:avLst>
              <a:gd name="adj" fmla="val 3077"/>
            </a:avLst>
          </a:prstGeom>
          <a:solidFill>
            <a:srgbClr val="0F1729"/>
          </a:solidFill>
          <a:ln w="12700">
            <a:solidFill>
              <a:srgbClr val="0F1729"/>
            </a:solidFill>
            <a:prstDash val="solid"/>
          </a:ln>
        </p:spPr>
      </p:sp>
      <p:sp>
        <p:nvSpPr>
          <p:cNvPr id="8" name="Text 5"/>
          <p:cNvSpPr txBox="1"/>
          <p:nvPr/>
        </p:nvSpPr>
        <p:spPr>
          <a:xfrm>
            <a:off x="777240" y="175564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13_09_LocalFunctions</a:t>
            </a:r>
            <a:endParaRPr lang="en-US" sz="1100" dirty="0"/>
          </a:p>
        </p:txBody>
      </p:sp>
      <p:sp>
        <p:nvSpPr>
          <p:cNvPr id="9" name="Text 6"/>
          <p:cNvSpPr txBox="1"/>
          <p:nvPr/>
        </p:nvSpPr>
        <p:spPr>
          <a:xfrm>
            <a:off x="777240" y="2057400"/>
            <a:ext cx="5394960" cy="24505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AddBonus(</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 bonus;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AddPoints(</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points)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return grade + bonus;  // CS8421</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 points;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754880"/>
            <a:ext cx="5852160" cy="1325880"/>
          </a:xfrm>
          <a:prstGeom prst="roundRect">
            <a:avLst>
              <a:gd name="adj" fmla="val 6897"/>
            </a:avLst>
          </a:prstGeom>
          <a:solidFill>
            <a:srgbClr val="1A0F12"/>
          </a:solidFill>
          <a:ln w="12700">
            <a:solidFill>
              <a:srgbClr val="C8453B"/>
            </a:solidFill>
            <a:prstDash val="solid"/>
          </a:ln>
        </p:spPr>
      </p:sp>
      <p:sp>
        <p:nvSpPr>
          <p:cNvPr id="11" name="Text 8"/>
          <p:cNvSpPr txBox="1"/>
          <p:nvPr/>
        </p:nvSpPr>
        <p:spPr>
          <a:xfrm>
            <a:off x="777240" y="4828032"/>
            <a:ext cx="539496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 · static uses bonus / call before int bonus = 5;</a:t>
            </a:r>
            <a:endParaRPr lang="en-US" sz="1000" dirty="0"/>
          </a:p>
        </p:txBody>
      </p:sp>
      <p:sp>
        <p:nvSpPr>
          <p:cNvPr id="12" name="Text 9"/>
          <p:cNvSpPr txBox="1"/>
          <p:nvPr/>
        </p:nvSpPr>
        <p:spPr>
          <a:xfrm>
            <a:off x="777240" y="5102352"/>
            <a:ext cx="5394960" cy="886968"/>
          </a:xfrm>
          <a:prstGeom prst="rect">
            <a:avLst/>
          </a:prstGeom>
          <a:noFill/>
          <a:ln/>
        </p:spPr>
        <p:txBody>
          <a:bodyPr wrap="square" lIns="0" tIns="0" rIns="0" bIns="0" rtlCol="0" anchor="t"/>
          <a:lstStyle/>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error CS8421: A static local function cannot contain a reference to 'bonus'.</a:t>
            </a:r>
            <a:endParaRPr lang="en-US" sz="1200" dirty="0"/>
          </a:p>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error CS0165: Use of unassigned local variable 'bonus'</a:t>
            </a:r>
            <a:endParaRPr lang="en-US" sz="1200" dirty="0"/>
          </a:p>
        </p:txBody>
      </p:sp>
      <p:sp>
        <p:nvSpPr>
          <p:cNvPr id="13" name="Shape 10"/>
          <p:cNvSpPr/>
          <p:nvPr/>
        </p:nvSpPr>
        <p:spPr>
          <a:xfrm>
            <a:off x="6629400" y="1645920"/>
            <a:ext cx="5029200" cy="2194560"/>
          </a:xfrm>
          <a:prstGeom prst="roundRect">
            <a:avLst>
              <a:gd name="adj" fmla="val 4167"/>
            </a:avLst>
          </a:prstGeom>
          <a:solidFill>
            <a:srgbClr val="0B0F19"/>
          </a:solidFill>
          <a:ln w="12700">
            <a:solidFill>
              <a:srgbClr val="2A3654"/>
            </a:solidFill>
            <a:prstDash val="solid"/>
          </a:ln>
        </p:spPr>
      </p:sp>
      <p:sp>
        <p:nvSpPr>
          <p:cNvPr id="14" name="Shape 11"/>
          <p:cNvSpPr/>
          <p:nvPr/>
        </p:nvSpPr>
        <p:spPr>
          <a:xfrm>
            <a:off x="681228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704088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726948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7543800" y="1719072"/>
            <a:ext cx="39319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6858000" y="2029968"/>
            <a:ext cx="4572000" cy="16916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AddBonus(70) = 75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AddBonus(70) = 80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(same call, new result!)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AddPoints(70, 5) = 75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visits = 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Square(9) = 81, top-level n is still 4</a:t>
            </a:r>
            <a:endParaRPr lang="en-US" sz="1300" dirty="0"/>
          </a:p>
        </p:txBody>
      </p:sp>
      <p:sp>
        <p:nvSpPr>
          <p:cNvPr id="19" name="Shape 16"/>
          <p:cNvSpPr/>
          <p:nvPr/>
        </p:nvSpPr>
        <p:spPr>
          <a:xfrm>
            <a:off x="6629400" y="3977640"/>
            <a:ext cx="5029200" cy="1005840"/>
          </a:xfrm>
          <a:prstGeom prst="roundRect">
            <a:avLst>
              <a:gd name="adj" fmla="val 10909"/>
            </a:avLst>
          </a:prstGeom>
          <a:solidFill>
            <a:srgbClr val="EEF1F6"/>
          </a:solidFill>
          <a:ln w="12700">
            <a:solidFill>
              <a:srgbClr val="EEF1F6"/>
            </a:solidFill>
            <a:prstDash val="solid"/>
          </a:ln>
        </p:spPr>
      </p:sp>
      <p:sp>
        <p:nvSpPr>
          <p:cNvPr id="20" name="Shape 17"/>
          <p:cNvSpPr/>
          <p:nvPr/>
        </p:nvSpPr>
        <p:spPr>
          <a:xfrm>
            <a:off x="6812280" y="4206240"/>
            <a:ext cx="548640" cy="548640"/>
          </a:xfrm>
          <a:prstGeom prst="ellipse">
            <a:avLst/>
          </a:prstGeom>
          <a:solidFill>
            <a:srgbClr val="B7791F"/>
          </a:solidFill>
          <a:ln w="12700">
            <a:solidFill>
              <a:srgbClr val="B7791F"/>
            </a:solidFill>
            <a:prstDash val="solid"/>
          </a:ln>
        </p:spPr>
      </p:sp>
      <p:pic>
        <p:nvPicPr>
          <p:cNvPr id="21" name="Image 0" descr="preencoded.png">    </p:cNvPr>
          <p:cNvPicPr>
            <a:picLocks noChangeAspect="1"/>
          </p:cNvPicPr>
          <p:nvPr/>
        </p:nvPicPr>
        <p:blipFill>
          <a:blip r:embed="rId1"/>
          <a:stretch>
            <a:fillRect/>
          </a:stretch>
        </p:blipFill>
        <p:spPr>
          <a:xfrm>
            <a:off x="6954926" y="4348886"/>
            <a:ext cx="263347" cy="263347"/>
          </a:xfrm>
          <a:prstGeom prst="rect">
            <a:avLst/>
          </a:prstGeom>
        </p:spPr>
      </p:pic>
      <p:sp>
        <p:nvSpPr>
          <p:cNvPr id="22" name="Text 18"/>
          <p:cNvSpPr txBox="1"/>
          <p:nvPr/>
        </p:nvSpPr>
        <p:spPr>
          <a:xfrm>
            <a:off x="7543800" y="4032504"/>
            <a:ext cx="3977640" cy="89611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non-static: captures</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reads/changes top-level variables (hidden input)</a:t>
            </a:r>
            <a:endParaRPr lang="en-US" sz="1400" dirty="0"/>
          </a:p>
        </p:txBody>
      </p:sp>
      <p:sp>
        <p:nvSpPr>
          <p:cNvPr id="23" name="Shape 19"/>
          <p:cNvSpPr/>
          <p:nvPr/>
        </p:nvSpPr>
        <p:spPr>
          <a:xfrm>
            <a:off x="6629400" y="5074920"/>
            <a:ext cx="5029200" cy="1005840"/>
          </a:xfrm>
          <a:prstGeom prst="roundRect">
            <a:avLst>
              <a:gd name="adj" fmla="val 10909"/>
            </a:avLst>
          </a:prstGeom>
          <a:solidFill>
            <a:srgbClr val="EEF1F6"/>
          </a:solidFill>
          <a:ln w="12700">
            <a:solidFill>
              <a:srgbClr val="EEF1F6"/>
            </a:solidFill>
            <a:prstDash val="solid"/>
          </a:ln>
        </p:spPr>
      </p:sp>
      <p:sp>
        <p:nvSpPr>
          <p:cNvPr id="24" name="Shape 20"/>
          <p:cNvSpPr/>
          <p:nvPr/>
        </p:nvSpPr>
        <p:spPr>
          <a:xfrm>
            <a:off x="6812280" y="5303520"/>
            <a:ext cx="548640" cy="548640"/>
          </a:xfrm>
          <a:prstGeom prst="ellipse">
            <a:avLst/>
          </a:prstGeom>
          <a:solidFill>
            <a:srgbClr val="2E9E6A"/>
          </a:solidFill>
          <a:ln w="12700">
            <a:solidFill>
              <a:srgbClr val="2E9E6A"/>
            </a:solidFill>
            <a:prstDash val="solid"/>
          </a:ln>
        </p:spPr>
      </p:sp>
      <p:pic>
        <p:nvPicPr>
          <p:cNvPr id="25" name="Image 1" descr="preencoded.png">    </p:cNvPr>
          <p:cNvPicPr>
            <a:picLocks noChangeAspect="1"/>
          </p:cNvPicPr>
          <p:nvPr/>
        </p:nvPicPr>
        <p:blipFill>
          <a:blip r:embed="rId2"/>
          <a:stretch>
            <a:fillRect/>
          </a:stretch>
        </p:blipFill>
        <p:spPr>
          <a:xfrm>
            <a:off x="6954926" y="5446166"/>
            <a:ext cx="263347" cy="263347"/>
          </a:xfrm>
          <a:prstGeom prst="rect">
            <a:avLst/>
          </a:prstGeom>
        </p:spPr>
      </p:pic>
      <p:sp>
        <p:nvSpPr>
          <p:cNvPr id="26" name="Text 21"/>
          <p:cNvSpPr txBox="1"/>
          <p:nvPr/>
        </p:nvSpPr>
        <p:spPr>
          <a:xfrm>
            <a:off x="7543800" y="5129784"/>
            <a:ext cx="3977640" cy="89611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static: self-contained</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only parameters + constants: preferred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CONSTANTS AND "GLOBAL" VARIABLES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Share constants freely — avoid shared variables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Shape 4"/>
          <p:cNvSpPr/>
          <p:nvPr/>
        </p:nvSpPr>
        <p:spPr>
          <a:xfrm>
            <a:off x="548640" y="1645920"/>
            <a:ext cx="5577840" cy="2057400"/>
          </a:xfrm>
          <a:prstGeom prst="roundRect">
            <a:avLst>
              <a:gd name="adj" fmla="val 4444"/>
            </a:avLst>
          </a:prstGeom>
          <a:solidFill>
            <a:srgbClr val="0F1729"/>
          </a:solidFill>
          <a:ln w="12700">
            <a:solidFill>
              <a:srgbClr val="0F1729"/>
            </a:solidFill>
            <a:prstDash val="solid"/>
          </a:ln>
        </p:spPr>
      </p:sp>
      <p:sp>
        <p:nvSpPr>
          <p:cNvPr id="8" name="Text 5"/>
          <p:cNvSpPr txBox="1"/>
          <p:nvPr/>
        </p:nvSpPr>
        <p:spPr>
          <a:xfrm>
            <a:off x="777240" y="1755648"/>
            <a:ext cx="5120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 constant: fine everywhere</a:t>
            </a:r>
            <a:endParaRPr lang="en-US" sz="1100" dirty="0"/>
          </a:p>
        </p:txBody>
      </p:sp>
      <p:sp>
        <p:nvSpPr>
          <p:cNvPr id="9" name="Text 6"/>
          <p:cNvSpPr txBox="1"/>
          <p:nvPr/>
        </p:nvSpPr>
        <p:spPr>
          <a:xfrm>
            <a:off x="777240" y="2057400"/>
            <a:ext cx="5120640" cy="153619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VatRate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0.20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Returns the price with VAT added</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WithVat(</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price)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price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VatRate);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3840480"/>
            <a:ext cx="5577840" cy="2240280"/>
          </a:xfrm>
          <a:prstGeom prst="roundRect">
            <a:avLst>
              <a:gd name="adj" fmla="val 4082"/>
            </a:avLst>
          </a:prstGeom>
          <a:solidFill>
            <a:srgbClr val="0F1729"/>
          </a:solidFill>
          <a:ln w="12700">
            <a:solidFill>
              <a:srgbClr val="0F1729"/>
            </a:solidFill>
            <a:prstDash val="solid"/>
          </a:ln>
        </p:spPr>
      </p:sp>
      <p:sp>
        <p:nvSpPr>
          <p:cNvPr id="11" name="Text 8"/>
          <p:cNvSpPr txBox="1"/>
          <p:nvPr/>
        </p:nvSpPr>
        <p:spPr>
          <a:xfrm>
            <a:off x="777240" y="3950208"/>
            <a:ext cx="5120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 shared variable: avoid</a:t>
            </a:r>
            <a:endParaRPr lang="en-US" sz="1100" dirty="0"/>
          </a:p>
        </p:txBody>
      </p:sp>
      <p:sp>
        <p:nvSpPr>
          <p:cNvPr id="12" name="Text 9"/>
          <p:cNvSpPr txBox="1"/>
          <p:nvPr/>
        </p:nvSpPr>
        <p:spPr>
          <a:xfrm>
            <a:off x="777240" y="4251960"/>
            <a:ext cx="5120640" cy="171907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visits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Visit();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Visit();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Visit()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visits++;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355080" y="1645920"/>
          <a:ext cx="5303520" cy="914400"/>
        </p:xfrm>
        <a:graphic>
          <a:graphicData uri="http://schemas.openxmlformats.org/drawingml/2006/table">
            <a:tbl>
              <a:tblPr/>
              <a:tblGrid>
                <a:gridCol w="1417320"/>
                <a:gridCol w="1051560"/>
                <a:gridCol w="1463040"/>
                <a:gridCol w="1371600"/>
              </a:tblGrid>
              <a:tr h="502920">
                <a:tc>
                  <a:txBody>
                    <a:bodyPr/>
                    <a:lstStyle/>
                    <a:p>
                      <a:pPr algn="l" indent="0" marL="0">
                        <a:buNone/>
                      </a:pP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const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top-level variable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parameter + return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changes?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never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anywhere, any time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only via return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visible in header?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 (but fixed)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b="1" dirty="0">
                          <a:solidFill>
                            <a:srgbClr val="C8453B"/>
                          </a:solidFill>
                          <a:latin typeface="Calibri" pitchFamily="34" charset="0"/>
                          <a:ea typeface="Calibri" pitchFamily="34" charset="-122"/>
                          <a:cs typeface="Calibri" pitchFamily="34" charset="-120"/>
                        </a:rPr>
                        <a:t>no — hidden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b="1" dirty="0">
                          <a:solidFill>
                            <a:srgbClr val="1F7A5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static method?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allowed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C8453B"/>
                          </a:solidFill>
                          <a:latin typeface="Courier New" pitchFamily="34" charset="0"/>
                          <a:ea typeface="Courier New" pitchFamily="34" charset="-122"/>
                          <a:cs typeface="Courier New" pitchFamily="34" charset="-120"/>
                        </a:rPr>
                        <a:t>CS8421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allowed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easy to test?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b="1" dirty="0">
                          <a:solidFill>
                            <a:srgbClr val="C8453B"/>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b="1" dirty="0">
                          <a:solidFill>
                            <a:srgbClr val="1F7A50"/>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4" name="Shape 10"/>
          <p:cNvSpPr/>
          <p:nvPr/>
        </p:nvSpPr>
        <p:spPr>
          <a:xfrm>
            <a:off x="6355080" y="4343400"/>
            <a:ext cx="5303520" cy="1737360"/>
          </a:xfrm>
          <a:prstGeom prst="roundRect">
            <a:avLst>
              <a:gd name="adj" fmla="val 6316"/>
            </a:avLst>
          </a:prstGeom>
          <a:solidFill>
            <a:srgbClr val="FFF6E3"/>
          </a:solidFill>
          <a:ln w="12700">
            <a:solidFill>
              <a:srgbClr val="FFF6E3"/>
            </a:solidFill>
            <a:prstDash val="solid"/>
          </a:ln>
        </p:spPr>
      </p:sp>
      <p:pic>
        <p:nvPicPr>
          <p:cNvPr id="15" name="Image 0" descr="preencoded.png">    </p:cNvPr>
          <p:cNvPicPr>
            <a:picLocks noChangeAspect="1"/>
          </p:cNvPicPr>
          <p:nvPr/>
        </p:nvPicPr>
        <p:blipFill>
          <a:blip r:embed="rId1"/>
          <a:stretch>
            <a:fillRect/>
          </a:stretch>
        </p:blipFill>
        <p:spPr>
          <a:xfrm>
            <a:off x="6629400" y="4937760"/>
            <a:ext cx="548640" cy="548640"/>
          </a:xfrm>
          <a:prstGeom prst="rect">
            <a:avLst/>
          </a:prstGeom>
        </p:spPr>
      </p:pic>
      <p:sp>
        <p:nvSpPr>
          <p:cNvPr id="16" name="Text 11"/>
          <p:cNvSpPr txBox="1"/>
          <p:nvPr/>
        </p:nvSpPr>
        <p:spPr>
          <a:xfrm>
            <a:off x="7452360" y="4416552"/>
            <a:ext cx="3931920" cy="159105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Course rule: </a:t>
            </a:r>
            <a:pPr indent="0" marL="0">
              <a:buNone/>
            </a:pPr>
            <a:r>
              <a:rPr lang="en-US" sz="1400" dirty="0">
                <a:solidFill>
                  <a:srgbClr val="333B4F"/>
                </a:solidFill>
                <a:latin typeface="Calibri" pitchFamily="34" charset="0"/>
                <a:ea typeface="Calibri" pitchFamily="34" charset="-122"/>
                <a:cs typeface="Calibri" pitchFamily="34" charset="-120"/>
              </a:rPr>
              <a:t>local functions are static. Pass inputs as parameters, give results back with return (or a tuple).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TESTING 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Known input, expected output: PASS or FAIL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45920"/>
            <a:ext cx="5486400" cy="3200400"/>
          </a:xfrm>
          <a:prstGeom prst="roundRect">
            <a:avLst>
              <a:gd name="adj" fmla="val 2857"/>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the test helper</a:t>
            </a:r>
            <a:endParaRPr lang="en-US" sz="1100" dirty="0"/>
          </a:p>
        </p:txBody>
      </p:sp>
      <p:sp>
        <p:nvSpPr>
          <p:cNvPr id="9" name="Text 6"/>
          <p:cNvSpPr txBox="1"/>
          <p:nvPr/>
        </p:nvSpPr>
        <p:spPr>
          <a:xfrm>
            <a:off x="777240" y="2057400"/>
            <a:ext cx="5029200" cy="2679192"/>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Check(</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description,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ok)</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verdict = ok ?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"PASS"</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"FAIL"</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$"{verdict}  {description}"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ok;</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7"/>
          <p:cNvSpPr/>
          <p:nvPr/>
        </p:nvSpPr>
        <p:spPr>
          <a:xfrm>
            <a:off x="6217920" y="1645920"/>
            <a:ext cx="5440680" cy="3200400"/>
          </a:xfrm>
          <a:prstGeom prst="roundRect">
            <a:avLst>
              <a:gd name="adj" fmla="val 2857"/>
            </a:avLst>
          </a:prstGeom>
          <a:solidFill>
            <a:srgbClr val="0B0F19"/>
          </a:solidFill>
          <a:ln w="12700">
            <a:solidFill>
              <a:srgbClr val="2A3654"/>
            </a:solidFill>
            <a:prstDash val="solid"/>
          </a:ln>
        </p:spPr>
      </p:sp>
      <p:sp>
        <p:nvSpPr>
          <p:cNvPr id="11" name="Shape 8"/>
          <p:cNvSpPr/>
          <p:nvPr/>
        </p:nvSpPr>
        <p:spPr>
          <a:xfrm>
            <a:off x="640080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662940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685800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132320" y="1719072"/>
            <a:ext cx="4343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6446520" y="2029968"/>
            <a:ext cx="4983480" cy="26974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Self-tests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Average {50, 70, 90} = 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LetterGrade(90) = AA</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LetterGrade(89.5) = BA</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LetterGrade(59.9) = FF</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GradePoint("CB") = 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IsPassing("DD")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!IsPassing("FF")</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 of 7 tests passed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Report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Ayse      85.00  BA  3.5  passed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Mehmet    55.00  FF  0.0  failed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Zeynep    91.33  AA  4.0  passed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Can       50.00  FF  0.0  failed</a:t>
            </a:r>
            <a:endParaRPr lang="en-US" sz="1200" dirty="0"/>
          </a:p>
        </p:txBody>
      </p:sp>
      <p:sp>
        <p:nvSpPr>
          <p:cNvPr id="16" name="Shape 13"/>
          <p:cNvSpPr/>
          <p:nvPr/>
        </p:nvSpPr>
        <p:spPr>
          <a:xfrm>
            <a:off x="548640" y="4983480"/>
            <a:ext cx="11109960" cy="1097280"/>
          </a:xfrm>
          <a:prstGeom prst="roundRect">
            <a:avLst>
              <a:gd name="adj" fmla="val 8333"/>
            </a:avLst>
          </a:prstGeom>
          <a:solidFill>
            <a:srgbClr val="0F1729"/>
          </a:solidFill>
          <a:ln w="12700">
            <a:solidFill>
              <a:srgbClr val="0F1729"/>
            </a:solidFill>
            <a:prstDash val="solid"/>
          </a:ln>
        </p:spPr>
      </p:sp>
      <p:sp>
        <p:nvSpPr>
          <p:cNvPr id="17" name="Text 14"/>
          <p:cNvSpPr txBox="1"/>
          <p:nvPr/>
        </p:nvSpPr>
        <p:spPr>
          <a:xfrm>
            <a:off x="777240" y="5148072"/>
            <a:ext cx="10652760" cy="822960"/>
          </a:xfrm>
          <a:prstGeom prst="rect">
            <a:avLst/>
          </a:prstGeom>
          <a:noFill/>
          <a:ln/>
        </p:spPr>
        <p:txBody>
          <a:bodyPr wrap="square" lIns="0" tIns="0" rIns="0" bIns="0" rtlCol="0" anchor="t"/>
          <a:lstStyle/>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Check(</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"LetterGrade(90) = AA"</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LetterGrade(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"AA"</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Check(</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"LetterGrade(89.5) = BA"</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LetterGrade(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89.5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"BA"</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Check(</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"LetterGrade(59.9) = FF"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LetterGrade(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59.9</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"FF"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SMALL METHODS, REUSED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Utility methods: write once, call everywhere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2697480" y="1828800"/>
            <a:ext cx="1920240" cy="548640"/>
          </a:xfrm>
          <a:prstGeom prst="roundRect">
            <a:avLst>
              <a:gd name="adj" fmla="val 13333"/>
            </a:avLst>
          </a:prstGeom>
          <a:solidFill>
            <a:srgbClr val="E6F4EC"/>
          </a:solidFill>
          <a:ln w="15875">
            <a:solidFill>
              <a:srgbClr val="14213D"/>
            </a:solidFill>
            <a:prstDash val="solid"/>
          </a:ln>
        </p:spPr>
      </p:sp>
      <p:sp>
        <p:nvSpPr>
          <p:cNvPr id="8" name="Text 5"/>
          <p:cNvSpPr txBox="1"/>
          <p:nvPr/>
        </p:nvSpPr>
        <p:spPr>
          <a:xfrm>
            <a:off x="2697480" y="1828800"/>
            <a:ext cx="192024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IsPrime</a:t>
            </a:r>
            <a:endParaRPr lang="en-US" sz="1400" dirty="0"/>
          </a:p>
        </p:txBody>
      </p:sp>
      <p:sp>
        <p:nvSpPr>
          <p:cNvPr id="9" name="Shape 6"/>
          <p:cNvSpPr/>
          <p:nvPr/>
        </p:nvSpPr>
        <p:spPr>
          <a:xfrm>
            <a:off x="548640" y="3017520"/>
            <a:ext cx="1920240" cy="548640"/>
          </a:xfrm>
          <a:prstGeom prst="roundRect">
            <a:avLst>
              <a:gd name="adj" fmla="val 13333"/>
            </a:avLst>
          </a:prstGeom>
          <a:solidFill>
            <a:srgbClr val="EEF1F6"/>
          </a:solidFill>
          <a:ln w="15875">
            <a:solidFill>
              <a:srgbClr val="14213D"/>
            </a:solidFill>
            <a:prstDash val="solid"/>
          </a:ln>
        </p:spPr>
      </p:sp>
      <p:sp>
        <p:nvSpPr>
          <p:cNvPr id="10" name="Text 7"/>
          <p:cNvSpPr txBox="1"/>
          <p:nvPr/>
        </p:nvSpPr>
        <p:spPr>
          <a:xfrm>
            <a:off x="548640" y="3017520"/>
            <a:ext cx="192024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NextPrime</a:t>
            </a:r>
            <a:endParaRPr lang="en-US" sz="1400" dirty="0"/>
          </a:p>
        </p:txBody>
      </p:sp>
      <p:sp>
        <p:nvSpPr>
          <p:cNvPr id="11" name="Shape 8"/>
          <p:cNvSpPr/>
          <p:nvPr/>
        </p:nvSpPr>
        <p:spPr>
          <a:xfrm>
            <a:off x="2697480" y="3017520"/>
            <a:ext cx="1920240" cy="548640"/>
          </a:xfrm>
          <a:prstGeom prst="roundRect">
            <a:avLst>
              <a:gd name="adj" fmla="val 13333"/>
            </a:avLst>
          </a:prstGeom>
          <a:solidFill>
            <a:srgbClr val="EEF1F6"/>
          </a:solidFill>
          <a:ln w="15875">
            <a:solidFill>
              <a:srgbClr val="14213D"/>
            </a:solidFill>
            <a:prstDash val="solid"/>
          </a:ln>
        </p:spPr>
      </p:sp>
      <p:sp>
        <p:nvSpPr>
          <p:cNvPr id="12" name="Text 9"/>
          <p:cNvSpPr txBox="1"/>
          <p:nvPr/>
        </p:nvSpPr>
        <p:spPr>
          <a:xfrm>
            <a:off x="2697480" y="3017520"/>
            <a:ext cx="192024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CountPrimes</a:t>
            </a:r>
            <a:endParaRPr lang="en-US" sz="1400" dirty="0"/>
          </a:p>
        </p:txBody>
      </p:sp>
      <p:sp>
        <p:nvSpPr>
          <p:cNvPr id="13" name="Shape 10"/>
          <p:cNvSpPr/>
          <p:nvPr/>
        </p:nvSpPr>
        <p:spPr>
          <a:xfrm>
            <a:off x="4846320" y="3017520"/>
            <a:ext cx="1920240" cy="548640"/>
          </a:xfrm>
          <a:prstGeom prst="roundRect">
            <a:avLst>
              <a:gd name="adj" fmla="val 13333"/>
            </a:avLst>
          </a:prstGeom>
          <a:solidFill>
            <a:srgbClr val="EEF1F6"/>
          </a:solidFill>
          <a:ln w="15875">
            <a:solidFill>
              <a:srgbClr val="14213D"/>
            </a:solidFill>
            <a:prstDash val="solid"/>
          </a:ln>
        </p:spPr>
      </p:sp>
      <p:sp>
        <p:nvSpPr>
          <p:cNvPr id="14" name="Text 11"/>
          <p:cNvSpPr txBox="1"/>
          <p:nvPr/>
        </p:nvSpPr>
        <p:spPr>
          <a:xfrm>
            <a:off x="4846320" y="3017520"/>
            <a:ext cx="192024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PrimesUpTo</a:t>
            </a:r>
            <a:endParaRPr lang="en-US" sz="1400" dirty="0"/>
          </a:p>
        </p:txBody>
      </p:sp>
      <p:sp>
        <p:nvSpPr>
          <p:cNvPr id="15" name="Shape 12"/>
          <p:cNvSpPr/>
          <p:nvPr/>
        </p:nvSpPr>
        <p:spPr>
          <a:xfrm flipV="1">
            <a:off x="1508760" y="2377440"/>
            <a:ext cx="1504188" cy="640080"/>
          </a:xfrm>
          <a:prstGeom prst="line">
            <a:avLst/>
          </a:prstGeom>
          <a:noFill/>
          <a:ln w="15875">
            <a:solidFill>
              <a:srgbClr val="2E9E6A"/>
            </a:solidFill>
            <a:prstDash val="solid"/>
            <a:tailEnd type="triangle"/>
          </a:ln>
        </p:spPr>
      </p:sp>
      <p:sp>
        <p:nvSpPr>
          <p:cNvPr id="16" name="Shape 13"/>
          <p:cNvSpPr/>
          <p:nvPr/>
        </p:nvSpPr>
        <p:spPr>
          <a:xfrm flipV="1">
            <a:off x="3657600" y="2377440"/>
            <a:ext cx="0" cy="640080"/>
          </a:xfrm>
          <a:prstGeom prst="line">
            <a:avLst/>
          </a:prstGeom>
          <a:noFill/>
          <a:ln w="15875">
            <a:solidFill>
              <a:srgbClr val="2E9E6A"/>
            </a:solidFill>
            <a:prstDash val="solid"/>
            <a:tailEnd type="triangle"/>
          </a:ln>
        </p:spPr>
      </p:sp>
      <p:sp>
        <p:nvSpPr>
          <p:cNvPr id="17" name="Shape 14"/>
          <p:cNvSpPr/>
          <p:nvPr/>
        </p:nvSpPr>
        <p:spPr>
          <a:xfrm flipH="1" flipV="1">
            <a:off x="4302252" y="2377440"/>
            <a:ext cx="1504188" cy="640080"/>
          </a:xfrm>
          <a:prstGeom prst="line">
            <a:avLst/>
          </a:prstGeom>
          <a:noFill/>
          <a:ln w="15875">
            <a:solidFill>
              <a:srgbClr val="2E9E6A"/>
            </a:solidFill>
            <a:prstDash val="solid"/>
            <a:tailEnd type="triangle"/>
          </a:ln>
        </p:spPr>
      </p:sp>
      <p:sp>
        <p:nvSpPr>
          <p:cNvPr id="18" name="Shape 15"/>
          <p:cNvSpPr/>
          <p:nvPr/>
        </p:nvSpPr>
        <p:spPr>
          <a:xfrm flipH="1">
            <a:off x="4617720" y="3291840"/>
            <a:ext cx="228600" cy="0"/>
          </a:xfrm>
          <a:prstGeom prst="line">
            <a:avLst/>
          </a:prstGeom>
          <a:noFill/>
          <a:ln w="15875">
            <a:solidFill>
              <a:srgbClr val="2F6FB3"/>
            </a:solidFill>
            <a:prstDash val="solid"/>
            <a:tailEnd type="triangle"/>
          </a:ln>
        </p:spPr>
      </p:sp>
      <p:sp>
        <p:nvSpPr>
          <p:cNvPr id="19" name="Text 16"/>
          <p:cNvSpPr txBox="1"/>
          <p:nvPr/>
        </p:nvSpPr>
        <p:spPr>
          <a:xfrm>
            <a:off x="548640" y="1645920"/>
            <a:ext cx="2011680" cy="32004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arrow = "calls"</a:t>
            </a:r>
            <a:endParaRPr lang="en-US" sz="1300" dirty="0"/>
          </a:p>
        </p:txBody>
      </p:sp>
      <p:sp>
        <p:nvSpPr>
          <p:cNvPr id="20" name="Shape 17"/>
          <p:cNvSpPr/>
          <p:nvPr/>
        </p:nvSpPr>
        <p:spPr>
          <a:xfrm>
            <a:off x="548640" y="3749040"/>
            <a:ext cx="6263640" cy="2331720"/>
          </a:xfrm>
          <a:prstGeom prst="roundRect">
            <a:avLst>
              <a:gd name="adj" fmla="val 3922"/>
            </a:avLst>
          </a:prstGeom>
          <a:solidFill>
            <a:srgbClr val="0B0F19"/>
          </a:solidFill>
          <a:ln w="12700">
            <a:solidFill>
              <a:srgbClr val="2A3654"/>
            </a:solidFill>
            <a:prstDash val="solid"/>
          </a:ln>
        </p:spPr>
      </p:sp>
      <p:sp>
        <p:nvSpPr>
          <p:cNvPr id="21" name="Shape 18"/>
          <p:cNvSpPr/>
          <p:nvPr/>
        </p:nvSpPr>
        <p:spPr>
          <a:xfrm>
            <a:off x="731520" y="3877056"/>
            <a:ext cx="118872" cy="118872"/>
          </a:xfrm>
          <a:prstGeom prst="ellipse">
            <a:avLst/>
          </a:prstGeom>
          <a:solidFill>
            <a:srgbClr val="FF5F57"/>
          </a:solidFill>
          <a:ln w="12700">
            <a:solidFill>
              <a:srgbClr val="FF5F57"/>
            </a:solidFill>
            <a:prstDash val="solid"/>
          </a:ln>
        </p:spPr>
      </p:sp>
      <p:sp>
        <p:nvSpPr>
          <p:cNvPr id="22" name="Shape 19"/>
          <p:cNvSpPr/>
          <p:nvPr/>
        </p:nvSpPr>
        <p:spPr>
          <a:xfrm>
            <a:off x="960120" y="3877056"/>
            <a:ext cx="118872" cy="118872"/>
          </a:xfrm>
          <a:prstGeom prst="ellipse">
            <a:avLst/>
          </a:prstGeom>
          <a:solidFill>
            <a:srgbClr val="FEBC2E"/>
          </a:solidFill>
          <a:ln w="12700">
            <a:solidFill>
              <a:srgbClr val="FEBC2E"/>
            </a:solidFill>
            <a:prstDash val="solid"/>
          </a:ln>
        </p:spPr>
      </p:sp>
      <p:sp>
        <p:nvSpPr>
          <p:cNvPr id="23" name="Shape 20"/>
          <p:cNvSpPr/>
          <p:nvPr/>
        </p:nvSpPr>
        <p:spPr>
          <a:xfrm>
            <a:off x="1188720" y="3877056"/>
            <a:ext cx="118872" cy="118872"/>
          </a:xfrm>
          <a:prstGeom prst="ellipse">
            <a:avLst/>
          </a:prstGeom>
          <a:solidFill>
            <a:srgbClr val="28C840"/>
          </a:solidFill>
          <a:ln w="12700">
            <a:solidFill>
              <a:srgbClr val="28C840"/>
            </a:solidFill>
            <a:prstDash val="solid"/>
          </a:ln>
        </p:spPr>
      </p:sp>
      <p:sp>
        <p:nvSpPr>
          <p:cNvPr id="24" name="Text 21"/>
          <p:cNvSpPr txBox="1"/>
          <p:nvPr/>
        </p:nvSpPr>
        <p:spPr>
          <a:xfrm>
            <a:off x="1463040" y="3822192"/>
            <a:ext cx="5166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5" name="Text 22"/>
          <p:cNvSpPr txBox="1"/>
          <p:nvPr/>
        </p:nvSpPr>
        <p:spPr>
          <a:xfrm>
            <a:off x="777240" y="4133088"/>
            <a:ext cx="5806440" cy="1828800"/>
          </a:xfrm>
          <a:prstGeom prst="rect">
            <a:avLst/>
          </a:prstGeom>
          <a:noFill/>
          <a:ln/>
        </p:spPr>
        <p:txBody>
          <a:bodyPr wrap="square" lIns="0" tIns="0" rIns="0" bIns="0" rtlCol="0" anchor="t"/>
          <a:lstStyle/>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Upper limit n: </a:t>
            </a:r>
            <a:pPr indent="0" marL="0">
              <a:spcAft>
                <a:spcPts val="100"/>
              </a:spcAft>
              <a:buNone/>
            </a:pPr>
            <a:r>
              <a:rPr lang="en-US" sz="1250" b="1" dirty="0">
                <a:solidFill>
                  <a:srgbClr val="FCA311"/>
                </a:solidFill>
                <a:latin typeface="Courier New" pitchFamily="34" charset="0"/>
                <a:ea typeface="Courier New" pitchFamily="34" charset="-122"/>
                <a:cs typeface="Courier New" pitchFamily="34" charset="-120"/>
              </a:rPr>
              <a:t>50</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Primes up to 50: 2 3 5 7 11 13 17 19 23 29 31 37 41 43 47</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Count: 15, next prime after 50: 53</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Self-tests ---</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PASS  IsPrime 1, 2, 97, 91</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PASS  NextPrime(13) = 17, NextPrime(1) = 2</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PASS  CountPrimes(100) = 25</a:t>
            </a:r>
            <a:endParaRPr lang="en-US" sz="1250" dirty="0"/>
          </a:p>
        </p:txBody>
      </p:sp>
      <p:sp>
        <p:nvSpPr>
          <p:cNvPr id="26" name="Shape 23"/>
          <p:cNvSpPr/>
          <p:nvPr/>
        </p:nvSpPr>
        <p:spPr>
          <a:xfrm>
            <a:off x="6949440" y="1645920"/>
            <a:ext cx="4709160" cy="4434840"/>
          </a:xfrm>
          <a:prstGeom prst="roundRect">
            <a:avLst>
              <a:gd name="adj" fmla="val 2062"/>
            </a:avLst>
          </a:prstGeom>
          <a:solidFill>
            <a:srgbClr val="0B0F19"/>
          </a:solidFill>
          <a:ln w="12700">
            <a:solidFill>
              <a:srgbClr val="2A3654"/>
            </a:solidFill>
            <a:prstDash val="solid"/>
          </a:ln>
        </p:spPr>
      </p:sp>
      <p:sp>
        <p:nvSpPr>
          <p:cNvPr id="27" name="Shape 24"/>
          <p:cNvSpPr/>
          <p:nvPr/>
        </p:nvSpPr>
        <p:spPr>
          <a:xfrm>
            <a:off x="7132320" y="1773936"/>
            <a:ext cx="118872" cy="118872"/>
          </a:xfrm>
          <a:prstGeom prst="ellipse">
            <a:avLst/>
          </a:prstGeom>
          <a:solidFill>
            <a:srgbClr val="FF5F57"/>
          </a:solidFill>
          <a:ln w="12700">
            <a:solidFill>
              <a:srgbClr val="FF5F57"/>
            </a:solidFill>
            <a:prstDash val="solid"/>
          </a:ln>
        </p:spPr>
      </p:sp>
      <p:sp>
        <p:nvSpPr>
          <p:cNvPr id="28" name="Shape 25"/>
          <p:cNvSpPr/>
          <p:nvPr/>
        </p:nvSpPr>
        <p:spPr>
          <a:xfrm>
            <a:off x="7360920" y="1773936"/>
            <a:ext cx="118872" cy="118872"/>
          </a:xfrm>
          <a:prstGeom prst="ellipse">
            <a:avLst/>
          </a:prstGeom>
          <a:solidFill>
            <a:srgbClr val="FEBC2E"/>
          </a:solidFill>
          <a:ln w="12700">
            <a:solidFill>
              <a:srgbClr val="FEBC2E"/>
            </a:solidFill>
            <a:prstDash val="solid"/>
          </a:ln>
        </p:spPr>
      </p:sp>
      <p:sp>
        <p:nvSpPr>
          <p:cNvPr id="29" name="Shape 26"/>
          <p:cNvSpPr/>
          <p:nvPr/>
        </p:nvSpPr>
        <p:spPr>
          <a:xfrm>
            <a:off x="7589520" y="1773936"/>
            <a:ext cx="118872" cy="118872"/>
          </a:xfrm>
          <a:prstGeom prst="ellipse">
            <a:avLst/>
          </a:prstGeom>
          <a:solidFill>
            <a:srgbClr val="28C840"/>
          </a:solidFill>
          <a:ln w="12700">
            <a:solidFill>
              <a:srgbClr val="28C840"/>
            </a:solidFill>
            <a:prstDash val="solid"/>
          </a:ln>
        </p:spPr>
      </p:sp>
      <p:sp>
        <p:nvSpPr>
          <p:cNvPr id="30" name="Text 27"/>
          <p:cNvSpPr txBox="1"/>
          <p:nvPr/>
        </p:nvSpPr>
        <p:spPr>
          <a:xfrm>
            <a:off x="7863840" y="1719072"/>
            <a:ext cx="3611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1" name="Text 28"/>
          <p:cNvSpPr txBox="1"/>
          <p:nvPr/>
        </p:nvSpPr>
        <p:spPr>
          <a:xfrm>
            <a:off x="7178040" y="2029968"/>
            <a:ext cx="4251960" cy="3931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 word or sentence: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Kayak</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Vowels: 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Reversed: kayaK</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Palindrome? True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36.6 C = 97.88 F, and back: 36.60 C</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Self-tests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CountVowels("Programming") =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Reverse("abc") = "cba"</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IsPalindrome("Ey Edip Adanada pide ye")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!IsPalindrome("Okan")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CelsiusToFahrenheit(100) = 212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  round trip -40.5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All tests passed.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Ten return and scope bugs — and their fixes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206240"/>
                <a:gridCol w="3429000"/>
                <a:gridCol w="3474720"/>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Mistake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Symptom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path without return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CS0161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end every path with return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printing inside a computing method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result cannot be reused or tested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 it; print in the caller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Square(5);  (result ignored)</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 effect at 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sq = Square(5);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y = PrintTitle("A");</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CS0029 (void)</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void call is a statement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return n % 2 == 1;  // IsOdd</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false for −7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 % 2 != 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using a variable after its block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CS0103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declare it before the block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same name in a nested block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CS0136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choose a different name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recursion without base case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Stack overflow (no warning)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base case + progress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method changes the array parameter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caller's data changed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work on a copy; say so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static method uses a top-level variable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CS8421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pass it as a parameter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what is printed?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45920"/>
            <a:ext cx="3886200" cy="4434840"/>
          </a:xfrm>
          <a:prstGeom prst="roundRect">
            <a:avLst>
              <a:gd name="adj" fmla="val 2353"/>
            </a:avLst>
          </a:prstGeom>
          <a:solidFill>
            <a:srgbClr val="0F1729"/>
          </a:solidFill>
          <a:ln w="12700">
            <a:solidFill>
              <a:srgbClr val="0F1729"/>
            </a:solidFill>
            <a:prstDash val="solid"/>
          </a:ln>
        </p:spPr>
      </p:sp>
      <p:sp>
        <p:nvSpPr>
          <p:cNvPr id="8" name="Text 5"/>
          <p:cNvSpPr txBox="1"/>
          <p:nvPr/>
        </p:nvSpPr>
        <p:spPr>
          <a:xfrm>
            <a:off x="777240" y="1755648"/>
            <a:ext cx="34290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Q1 · value or copy?</a:t>
            </a:r>
            <a:endParaRPr lang="en-US" sz="1100" dirty="0"/>
          </a:p>
        </p:txBody>
      </p:sp>
      <p:sp>
        <p:nvSpPr>
          <p:cNvPr id="9" name="Text 6"/>
          <p:cNvSpPr txBox="1"/>
          <p:nvPr/>
        </p:nvSpPr>
        <p:spPr>
          <a:xfrm>
            <a:off x="777240" y="2057400"/>
            <a:ext cx="34290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Change(x);</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.WriteLine(x);</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.WriteLine(Twice(Twice(x)));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Change(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Twice(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4526280" y="1645920"/>
            <a:ext cx="3063240" cy="4434840"/>
          </a:xfrm>
          <a:prstGeom prst="roundRect">
            <a:avLst>
              <a:gd name="adj" fmla="val 2985"/>
            </a:avLst>
          </a:prstGeom>
          <a:solidFill>
            <a:srgbClr val="0F1729"/>
          </a:solidFill>
          <a:ln w="12700">
            <a:solidFill>
              <a:srgbClr val="0F1729"/>
            </a:solidFill>
            <a:prstDash val="solid"/>
          </a:ln>
        </p:spPr>
      </p:sp>
      <p:sp>
        <p:nvSpPr>
          <p:cNvPr id="11" name="Text 8"/>
          <p:cNvSpPr txBox="1"/>
          <p:nvPr/>
        </p:nvSpPr>
        <p:spPr>
          <a:xfrm>
            <a:off x="4754880" y="1755648"/>
            <a:ext cx="26060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Q2 · before and after</a:t>
            </a:r>
            <a:endParaRPr lang="en-US" sz="1100" dirty="0"/>
          </a:p>
        </p:txBody>
      </p:sp>
      <p:sp>
        <p:nvSpPr>
          <p:cNvPr id="12" name="Text 9"/>
          <p:cNvSpPr txBox="1"/>
          <p:nvPr/>
        </p:nvSpPr>
        <p:spPr>
          <a:xfrm>
            <a:off x="4754880" y="2057400"/>
            <a:ext cx="2606040" cy="391363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Show(</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Show(</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Show(n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7680960" y="1645920"/>
            <a:ext cx="3977640" cy="4434840"/>
          </a:xfrm>
          <a:prstGeom prst="roundRect">
            <a:avLst>
              <a:gd name="adj" fmla="val 2299"/>
            </a:avLst>
          </a:prstGeom>
          <a:solidFill>
            <a:srgbClr val="0F1729"/>
          </a:solidFill>
          <a:ln w="12700">
            <a:solidFill>
              <a:srgbClr val="0F1729"/>
            </a:solidFill>
            <a:prstDash val="solid"/>
          </a:ln>
        </p:spPr>
      </p:sp>
      <p:sp>
        <p:nvSpPr>
          <p:cNvPr id="14" name="Text 11"/>
          <p:cNvSpPr txBox="1"/>
          <p:nvPr/>
        </p:nvSpPr>
        <p:spPr>
          <a:xfrm>
            <a:off x="7909560" y="1755648"/>
            <a:ext cx="3520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Q3 · early return</a:t>
            </a:r>
            <a:endParaRPr lang="en-US" sz="1100" dirty="0"/>
          </a:p>
        </p:txBody>
      </p:sp>
      <p:sp>
        <p:nvSpPr>
          <p:cNvPr id="15" name="Text 12"/>
          <p:cNvSpPr txBox="1"/>
          <p:nvPr/>
        </p:nvSpPr>
        <p:spPr>
          <a:xfrm>
            <a:off x="7909560" y="2057400"/>
            <a:ext cx="35204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.WriteLine(Test(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.WriteLine(Test(-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Test(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"big"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"checking..."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"negative"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"small"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(checked by running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548640" y="1645920"/>
            <a:ext cx="3429000" cy="1280160"/>
          </a:xfrm>
          <a:prstGeom prst="roundRect">
            <a:avLst>
              <a:gd name="adj" fmla="val 7143"/>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2331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Q1</a:t>
            </a:r>
            <a:endParaRPr lang="en-US" sz="1000" dirty="0"/>
          </a:p>
        </p:txBody>
      </p:sp>
      <p:sp>
        <p:nvSpPr>
          <p:cNvPr id="12" name="Text 9"/>
          <p:cNvSpPr txBox="1"/>
          <p:nvPr/>
        </p:nvSpPr>
        <p:spPr>
          <a:xfrm>
            <a:off x="777240" y="2029968"/>
            <a:ext cx="2971800" cy="77724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5</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20</a:t>
            </a:r>
            <a:endParaRPr lang="en-US" sz="1500" dirty="0"/>
          </a:p>
        </p:txBody>
      </p:sp>
      <p:sp>
        <p:nvSpPr>
          <p:cNvPr id="13" name="Shape 10"/>
          <p:cNvSpPr/>
          <p:nvPr/>
        </p:nvSpPr>
        <p:spPr>
          <a:xfrm>
            <a:off x="4069080" y="1645920"/>
            <a:ext cx="3429000" cy="1280160"/>
          </a:xfrm>
          <a:prstGeom prst="roundRect">
            <a:avLst>
              <a:gd name="adj" fmla="val 7143"/>
            </a:avLst>
          </a:prstGeom>
          <a:solidFill>
            <a:srgbClr val="0B0F19"/>
          </a:solidFill>
          <a:ln w="12700">
            <a:solidFill>
              <a:srgbClr val="2A3654"/>
            </a:solidFill>
            <a:prstDash val="solid"/>
          </a:ln>
        </p:spPr>
      </p:sp>
      <p:sp>
        <p:nvSpPr>
          <p:cNvPr id="14" name="Shape 11"/>
          <p:cNvSpPr/>
          <p:nvPr/>
        </p:nvSpPr>
        <p:spPr>
          <a:xfrm>
            <a:off x="425196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448056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470916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4983480" y="1719072"/>
            <a:ext cx="2331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Q2</a:t>
            </a:r>
            <a:endParaRPr lang="en-US" sz="1000" dirty="0"/>
          </a:p>
        </p:txBody>
      </p:sp>
      <p:sp>
        <p:nvSpPr>
          <p:cNvPr id="18" name="Text 15"/>
          <p:cNvSpPr txBox="1"/>
          <p:nvPr/>
        </p:nvSpPr>
        <p:spPr>
          <a:xfrm>
            <a:off x="4297680" y="2029968"/>
            <a:ext cx="2971800" cy="77724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3 2 1 1 2 3 </a:t>
            </a:r>
            <a:endParaRPr lang="en-US" sz="1500" dirty="0"/>
          </a:p>
        </p:txBody>
      </p:sp>
      <p:sp>
        <p:nvSpPr>
          <p:cNvPr id="19" name="Shape 16"/>
          <p:cNvSpPr/>
          <p:nvPr/>
        </p:nvSpPr>
        <p:spPr>
          <a:xfrm>
            <a:off x="7589520" y="1645920"/>
            <a:ext cx="4069080" cy="1280160"/>
          </a:xfrm>
          <a:prstGeom prst="roundRect">
            <a:avLst>
              <a:gd name="adj" fmla="val 7143"/>
            </a:avLst>
          </a:prstGeom>
          <a:solidFill>
            <a:srgbClr val="0B0F19"/>
          </a:solidFill>
          <a:ln w="12700">
            <a:solidFill>
              <a:srgbClr val="2A3654"/>
            </a:solidFill>
            <a:prstDash val="solid"/>
          </a:ln>
        </p:spPr>
      </p:sp>
      <p:sp>
        <p:nvSpPr>
          <p:cNvPr id="20" name="Shape 17"/>
          <p:cNvSpPr/>
          <p:nvPr/>
        </p:nvSpPr>
        <p:spPr>
          <a:xfrm>
            <a:off x="7772400" y="1773936"/>
            <a:ext cx="118872" cy="118872"/>
          </a:xfrm>
          <a:prstGeom prst="ellipse">
            <a:avLst/>
          </a:prstGeom>
          <a:solidFill>
            <a:srgbClr val="FF5F57"/>
          </a:solidFill>
          <a:ln w="12700">
            <a:solidFill>
              <a:srgbClr val="FF5F57"/>
            </a:solidFill>
            <a:prstDash val="solid"/>
          </a:ln>
        </p:spPr>
      </p:sp>
      <p:sp>
        <p:nvSpPr>
          <p:cNvPr id="21" name="Shape 18"/>
          <p:cNvSpPr/>
          <p:nvPr/>
        </p:nvSpPr>
        <p:spPr>
          <a:xfrm>
            <a:off x="8001000" y="1773936"/>
            <a:ext cx="118872" cy="118872"/>
          </a:xfrm>
          <a:prstGeom prst="ellipse">
            <a:avLst/>
          </a:prstGeom>
          <a:solidFill>
            <a:srgbClr val="FEBC2E"/>
          </a:solidFill>
          <a:ln w="12700">
            <a:solidFill>
              <a:srgbClr val="FEBC2E"/>
            </a:solidFill>
            <a:prstDash val="solid"/>
          </a:ln>
        </p:spPr>
      </p:sp>
      <p:sp>
        <p:nvSpPr>
          <p:cNvPr id="22" name="Shape 19"/>
          <p:cNvSpPr/>
          <p:nvPr/>
        </p:nvSpPr>
        <p:spPr>
          <a:xfrm>
            <a:off x="8229600" y="17739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8503920" y="1719072"/>
            <a:ext cx="2971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Q3</a:t>
            </a:r>
            <a:endParaRPr lang="en-US" sz="1000" dirty="0"/>
          </a:p>
        </p:txBody>
      </p:sp>
      <p:sp>
        <p:nvSpPr>
          <p:cNvPr id="24" name="Text 21"/>
          <p:cNvSpPr txBox="1"/>
          <p:nvPr/>
        </p:nvSpPr>
        <p:spPr>
          <a:xfrm>
            <a:off x="7818120" y="2029968"/>
            <a:ext cx="3611880" cy="77724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big</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checking...</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negative</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069080" y="3108960"/>
          <a:ext cx="3429000" cy="914400"/>
        </p:xfrm>
        <a:graphic>
          <a:graphicData uri="http://schemas.openxmlformats.org/drawingml/2006/table">
            <a:tbl>
              <a:tblPr/>
              <a:tblGrid>
                <a:gridCol w="1325880"/>
                <a:gridCol w="1051560"/>
                <a:gridCol w="105156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frame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down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up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Show(3)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Show(2)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Show(1)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Show(0)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return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26" name="Text 22"/>
          <p:cNvSpPr txBox="1"/>
          <p:nvPr/>
        </p:nvSpPr>
        <p:spPr>
          <a:xfrm>
            <a:off x="548640" y="3108960"/>
            <a:ext cx="3429000" cy="19202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Q1: </a:t>
            </a:r>
            <a:pPr indent="0" marL="0">
              <a:buNone/>
            </a:pPr>
            <a:r>
              <a:rPr lang="en-US" sz="1400" dirty="0">
                <a:solidFill>
                  <a:srgbClr val="333B4F"/>
                </a:solidFill>
                <a:latin typeface="Calibri" pitchFamily="34" charset="0"/>
                <a:ea typeface="Calibri" pitchFamily="34" charset="-122"/>
                <a:cs typeface="Calibri" pitchFamily="34" charset="-120"/>
              </a:rPr>
              <a:t>x in Change is a copy; Twice(Twice(5)) = Twice(10) = 20.</a:t>
            </a:r>
            <a:endParaRPr lang="en-US" sz="1400" dirty="0"/>
          </a:p>
        </p:txBody>
      </p:sp>
      <p:sp>
        <p:nvSpPr>
          <p:cNvPr id="27" name="Text 23"/>
          <p:cNvSpPr txBox="1"/>
          <p:nvPr/>
        </p:nvSpPr>
        <p:spPr>
          <a:xfrm>
            <a:off x="7589520" y="3108960"/>
            <a:ext cx="4069080" cy="19202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Q3: </a:t>
            </a:r>
            <a:pPr indent="0" marL="0">
              <a:buNone/>
            </a:pPr>
            <a:r>
              <a:rPr lang="en-US" sz="1400" dirty="0">
                <a:solidFill>
                  <a:srgbClr val="333B4F"/>
                </a:solidFill>
                <a:latin typeface="Calibri" pitchFamily="34" charset="0"/>
                <a:ea typeface="Calibri" pitchFamily="34" charset="-122"/>
                <a:cs typeface="Calibri" pitchFamily="34" charset="-120"/>
              </a:rPr>
              <a:t>"checking..." is printed INSIDE Test(-3), before the caller prints the returned "negative".</a:t>
            </a:r>
            <a:endParaRPr lang="en-US" sz="1400" dirty="0"/>
          </a:p>
        </p:txBody>
      </p:sp>
      <p:sp>
        <p:nvSpPr>
          <p:cNvPr id="28" name="Shape 24"/>
          <p:cNvSpPr/>
          <p:nvPr/>
        </p:nvSpPr>
        <p:spPr>
          <a:xfrm>
            <a:off x="548640" y="5257800"/>
            <a:ext cx="11109960" cy="822960"/>
          </a:xfrm>
          <a:prstGeom prst="roundRect">
            <a:avLst>
              <a:gd name="adj" fmla="val 13333"/>
            </a:avLst>
          </a:prstGeom>
          <a:solidFill>
            <a:srgbClr val="FFF6E3"/>
          </a:solidFill>
          <a:ln w="12700">
            <a:solidFill>
              <a:srgbClr val="FFF6E3"/>
            </a:solidFill>
            <a:prstDash val="solid"/>
          </a:ln>
        </p:spPr>
      </p:sp>
      <p:pic>
        <p:nvPicPr>
          <p:cNvPr id="29" name="Image 0" descr="preencoded.png">    </p:cNvPr>
          <p:cNvPicPr>
            <a:picLocks noChangeAspect="1"/>
          </p:cNvPicPr>
          <p:nvPr/>
        </p:nvPicPr>
        <p:blipFill>
          <a:blip r:embed="rId1"/>
          <a:stretch>
            <a:fillRect/>
          </a:stretch>
        </p:blipFill>
        <p:spPr>
          <a:xfrm>
            <a:off x="822960" y="5394960"/>
            <a:ext cx="548640" cy="548640"/>
          </a:xfrm>
          <a:prstGeom prst="rect">
            <a:avLst/>
          </a:prstGeom>
        </p:spPr>
      </p:pic>
      <p:sp>
        <p:nvSpPr>
          <p:cNvPr id="30" name="Text 25"/>
          <p:cNvSpPr txBox="1"/>
          <p:nvPr/>
        </p:nvSpPr>
        <p:spPr>
          <a:xfrm>
            <a:off x="1645920" y="5330952"/>
            <a:ext cx="9738360" cy="67665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Q2: code after the recursive call runs while the stack unwinds — in reverse order.</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SPOT THE ERRORS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which lines do not compile — and why?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45920"/>
            <a:ext cx="65836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Q4 · find three errors</a:t>
            </a:r>
            <a:endParaRPr lang="en-US" sz="1100" dirty="0"/>
          </a:p>
        </p:txBody>
      </p:sp>
      <p:sp>
        <p:nvSpPr>
          <p:cNvPr id="9" name="Text 6"/>
          <p:cNvSpPr txBox="1"/>
          <p:nvPr/>
        </p:nvSpPr>
        <p:spPr>
          <a:xfrm>
            <a:off x="777240" y="2057400"/>
            <a:ext cx="6126480" cy="3913632"/>
          </a:xfrm>
          <a:prstGeom prst="rect">
            <a:avLst/>
          </a:prstGeom>
          <a:noFill/>
          <a:ln/>
        </p:spPr>
        <p:txBody>
          <a:bodyPr wrap="square" lIns="0" tIns="0" rIns="0" bIns="0" rtlCol="0" anchor="t"/>
          <a:lstStyle/>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i++)</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sum = i * i;</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sum += i;</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(sum &gt;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label = </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"large"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$"{sum} {label} {i}"</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sp>
        <p:nvSpPr>
          <p:cNvPr id="10" name="Shape 7"/>
          <p:cNvSpPr/>
          <p:nvPr/>
        </p:nvSpPr>
        <p:spPr>
          <a:xfrm>
            <a:off x="7360920" y="1645920"/>
            <a:ext cx="4297680" cy="1371600"/>
          </a:xfrm>
          <a:prstGeom prst="roundRect">
            <a:avLst>
              <a:gd name="adj" fmla="val 8000"/>
            </a:avLst>
          </a:prstGeom>
          <a:solidFill>
            <a:srgbClr val="EEF1F6"/>
          </a:solidFill>
          <a:ln w="12700">
            <a:solidFill>
              <a:srgbClr val="EEF1F6"/>
            </a:solidFill>
            <a:prstDash val="solid"/>
          </a:ln>
        </p:spPr>
      </p:sp>
      <p:sp>
        <p:nvSpPr>
          <p:cNvPr id="11" name="Shape 8"/>
          <p:cNvSpPr/>
          <p:nvPr/>
        </p:nvSpPr>
        <p:spPr>
          <a:xfrm>
            <a:off x="7589520" y="1874520"/>
            <a:ext cx="566928" cy="566928"/>
          </a:xfrm>
          <a:prstGeom prst="ellipse">
            <a:avLst/>
          </a:prstGeom>
          <a:solidFill>
            <a:srgbClr val="14213D"/>
          </a:solidFill>
          <a:ln w="12700">
            <a:solidFill>
              <a:srgbClr val="14213D"/>
            </a:solidFill>
            <a:prstDash val="solid"/>
          </a:ln>
        </p:spPr>
      </p:sp>
      <p:pic>
        <p:nvPicPr>
          <p:cNvPr id="12" name="Image 0" descr="preencoded.png">    </p:cNvPr>
          <p:cNvPicPr>
            <a:picLocks noChangeAspect="1"/>
          </p:cNvPicPr>
          <p:nvPr/>
        </p:nvPicPr>
        <p:blipFill>
          <a:blip r:embed="rId1"/>
          <a:stretch>
            <a:fillRect/>
          </a:stretch>
        </p:blipFill>
        <p:spPr>
          <a:xfrm>
            <a:off x="7736921" y="2021921"/>
            <a:ext cx="272125" cy="272125"/>
          </a:xfrm>
          <a:prstGeom prst="rect">
            <a:avLst/>
          </a:prstGeom>
        </p:spPr>
      </p:pic>
      <p:sp>
        <p:nvSpPr>
          <p:cNvPr id="13" name="Text 9"/>
          <p:cNvSpPr txBox="1"/>
          <p:nvPr/>
        </p:nvSpPr>
        <p:spPr>
          <a:xfrm>
            <a:off x="8275320" y="1874520"/>
            <a:ext cx="3200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Look for</a:t>
            </a:r>
            <a:endParaRPr lang="en-US" sz="1700" dirty="0"/>
          </a:p>
        </p:txBody>
      </p:sp>
      <p:sp>
        <p:nvSpPr>
          <p:cNvPr id="14" name="Text 10"/>
          <p:cNvSpPr txBox="1"/>
          <p:nvPr/>
        </p:nvSpPr>
        <p:spPr>
          <a:xfrm>
            <a:off x="7589520" y="2560320"/>
            <a:ext cx="3840480" cy="32004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names declared twice, names used outside their box</a:t>
            </a:r>
            <a:endParaRPr lang="en-US" sz="1300" dirty="0"/>
          </a:p>
        </p:txBody>
      </p:sp>
      <p:sp>
        <p:nvSpPr>
          <p:cNvPr id="15" name="Shape 11"/>
          <p:cNvSpPr/>
          <p:nvPr/>
        </p:nvSpPr>
        <p:spPr>
          <a:xfrm>
            <a:off x="7360920" y="3154680"/>
            <a:ext cx="4297680" cy="1371600"/>
          </a:xfrm>
          <a:prstGeom prst="roundRect">
            <a:avLst>
              <a:gd name="adj" fmla="val 8000"/>
            </a:avLst>
          </a:prstGeom>
          <a:solidFill>
            <a:srgbClr val="EEF1F6"/>
          </a:solidFill>
          <a:ln w="12700">
            <a:solidFill>
              <a:srgbClr val="EEF1F6"/>
            </a:solidFill>
            <a:prstDash val="solid"/>
          </a:ln>
        </p:spPr>
      </p:sp>
      <p:sp>
        <p:nvSpPr>
          <p:cNvPr id="16" name="Shape 12"/>
          <p:cNvSpPr/>
          <p:nvPr/>
        </p:nvSpPr>
        <p:spPr>
          <a:xfrm>
            <a:off x="7589520" y="3383280"/>
            <a:ext cx="566928" cy="566928"/>
          </a:xfrm>
          <a:prstGeom prst="ellipse">
            <a:avLst/>
          </a:prstGeom>
          <a:solidFill>
            <a:srgbClr val="14213D"/>
          </a:solidFill>
          <a:ln w="12700">
            <a:solidFill>
              <a:srgbClr val="14213D"/>
            </a:solidFill>
            <a:prstDash val="solid"/>
          </a:ln>
        </p:spPr>
      </p:sp>
      <p:pic>
        <p:nvPicPr>
          <p:cNvPr id="17" name="Image 1" descr="preencoded.png">    </p:cNvPr>
          <p:cNvPicPr>
            <a:picLocks noChangeAspect="1"/>
          </p:cNvPicPr>
          <p:nvPr/>
        </p:nvPicPr>
        <p:blipFill>
          <a:blip r:embed="rId2"/>
          <a:stretch>
            <a:fillRect/>
          </a:stretch>
        </p:blipFill>
        <p:spPr>
          <a:xfrm>
            <a:off x="7736921" y="3530681"/>
            <a:ext cx="272125" cy="272125"/>
          </a:xfrm>
          <a:prstGeom prst="rect">
            <a:avLst/>
          </a:prstGeom>
        </p:spPr>
      </p:pic>
      <p:sp>
        <p:nvSpPr>
          <p:cNvPr id="18" name="Text 13"/>
          <p:cNvSpPr txBox="1"/>
          <p:nvPr/>
        </p:nvSpPr>
        <p:spPr>
          <a:xfrm>
            <a:off x="8275320" y="3383280"/>
            <a:ext cx="3200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Draw the boxes</a:t>
            </a:r>
            <a:endParaRPr lang="en-US" sz="1700" dirty="0"/>
          </a:p>
        </p:txBody>
      </p:sp>
      <p:sp>
        <p:nvSpPr>
          <p:cNvPr id="19" name="Text 14"/>
          <p:cNvSpPr txBox="1"/>
          <p:nvPr/>
        </p:nvSpPr>
        <p:spPr>
          <a:xfrm>
            <a:off x="7589520" y="4069080"/>
            <a:ext cx="3840480" cy="32004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top level ⊃ for ⊃ body; top level ⊃ if-body</a:t>
            </a:r>
            <a:endParaRPr lang="en-US" sz="1300" dirty="0"/>
          </a:p>
        </p:txBody>
      </p:sp>
      <p:sp>
        <p:nvSpPr>
          <p:cNvPr id="20" name="Shape 15"/>
          <p:cNvSpPr/>
          <p:nvPr/>
        </p:nvSpPr>
        <p:spPr>
          <a:xfrm>
            <a:off x="7360920" y="4663440"/>
            <a:ext cx="4297680" cy="1371600"/>
          </a:xfrm>
          <a:prstGeom prst="roundRect">
            <a:avLst>
              <a:gd name="adj" fmla="val 8000"/>
            </a:avLst>
          </a:prstGeom>
          <a:solidFill>
            <a:srgbClr val="EEF1F6"/>
          </a:solidFill>
          <a:ln w="12700">
            <a:solidFill>
              <a:srgbClr val="EEF1F6"/>
            </a:solidFill>
            <a:prstDash val="solid"/>
          </a:ln>
        </p:spPr>
      </p:sp>
      <p:sp>
        <p:nvSpPr>
          <p:cNvPr id="21" name="Shape 16"/>
          <p:cNvSpPr/>
          <p:nvPr/>
        </p:nvSpPr>
        <p:spPr>
          <a:xfrm>
            <a:off x="7589520" y="4892040"/>
            <a:ext cx="566928" cy="566928"/>
          </a:xfrm>
          <a:prstGeom prst="ellipse">
            <a:avLst/>
          </a:prstGeom>
          <a:solidFill>
            <a:srgbClr val="14213D"/>
          </a:solidFill>
          <a:ln w="12700">
            <a:solidFill>
              <a:srgbClr val="14213D"/>
            </a:solidFill>
            <a:prstDash val="solid"/>
          </a:ln>
        </p:spPr>
      </p:sp>
      <p:pic>
        <p:nvPicPr>
          <p:cNvPr id="22" name="Image 2" descr="preencoded.png">    </p:cNvPr>
          <p:cNvPicPr>
            <a:picLocks noChangeAspect="1"/>
          </p:cNvPicPr>
          <p:nvPr/>
        </p:nvPicPr>
        <p:blipFill>
          <a:blip r:embed="rId3"/>
          <a:stretch>
            <a:fillRect/>
          </a:stretch>
        </p:blipFill>
        <p:spPr>
          <a:xfrm>
            <a:off x="7736921" y="5039441"/>
            <a:ext cx="272125" cy="272125"/>
          </a:xfrm>
          <a:prstGeom prst="rect">
            <a:avLst/>
          </a:prstGeom>
        </p:spPr>
      </p:pic>
      <p:sp>
        <p:nvSpPr>
          <p:cNvPr id="23" name="Text 17"/>
          <p:cNvSpPr txBox="1"/>
          <p:nvPr/>
        </p:nvSpPr>
        <p:spPr>
          <a:xfrm>
            <a:off x="8275320" y="4892040"/>
            <a:ext cx="3200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Bonus</a:t>
            </a:r>
            <a:endParaRPr lang="en-US" sz="1700" dirty="0"/>
          </a:p>
        </p:txBody>
      </p:sp>
      <p:sp>
        <p:nvSpPr>
          <p:cNvPr id="24" name="Text 18"/>
          <p:cNvSpPr txBox="1"/>
          <p:nvPr/>
        </p:nvSpPr>
        <p:spPr>
          <a:xfrm>
            <a:off x="7589520" y="5577840"/>
            <a:ext cx="3840480" cy="32004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Rewrite the program so it compiles and prints the sum of squares.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SPOT THE ERRORS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Three errors: one nested name, two names out of scope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45920"/>
            <a:ext cx="6583680" cy="2377440"/>
          </a:xfrm>
          <a:prstGeom prst="roundRect">
            <a:avLst>
              <a:gd name="adj" fmla="val 3846"/>
            </a:avLst>
          </a:prstGeom>
          <a:solidFill>
            <a:srgbClr val="1A0F12"/>
          </a:solidFill>
          <a:ln w="12700">
            <a:solidFill>
              <a:srgbClr val="C8453B"/>
            </a:solidFill>
            <a:prstDash val="solid"/>
          </a:ln>
        </p:spPr>
      </p:sp>
      <p:sp>
        <p:nvSpPr>
          <p:cNvPr id="8" name="Text 5"/>
          <p:cNvSpPr txBox="1"/>
          <p:nvPr/>
        </p:nvSpPr>
        <p:spPr>
          <a:xfrm>
            <a:off x="777240" y="1719072"/>
            <a:ext cx="6126480" cy="228600"/>
          </a:xfrm>
          <a:prstGeom prst="rect">
            <a:avLst/>
          </a:prstGeom>
          <a:noFill/>
          <a:ln/>
        </p:spPr>
        <p:txBody>
          <a:bodyPr wrap="square" lIns="0" tIns="0" rIns="0" bIns="0" rtlCol="0" anchor="ctr"/>
          <a:lstStyle/>
          <a:p>
            <a:pPr indent="0" marL="0">
              <a:buNone/>
            </a:pPr>
            <a:r>
              <a:rPr lang="en-US" sz="1000" dirty="0">
                <a:solidFill>
                  <a:srgbClr val="E8A39C"/>
                </a:solidFill>
                <a:latin typeface="Courier New" pitchFamily="34" charset="0"/>
                <a:ea typeface="Courier New" pitchFamily="34" charset="-122"/>
                <a:cs typeface="Courier New" pitchFamily="34" charset="-120"/>
              </a:rPr>
              <a:t>dotnet build (real output, error lines only)</a:t>
            </a:r>
            <a:endParaRPr lang="en-US" sz="1000" dirty="0"/>
          </a:p>
        </p:txBody>
      </p:sp>
      <p:sp>
        <p:nvSpPr>
          <p:cNvPr id="9" name="Text 6"/>
          <p:cNvSpPr txBox="1"/>
          <p:nvPr/>
        </p:nvSpPr>
        <p:spPr>
          <a:xfrm>
            <a:off x="777240" y="1993392"/>
            <a:ext cx="6126480" cy="1938528"/>
          </a:xfrm>
          <a:prstGeom prst="rect">
            <a:avLst/>
          </a:prstGeom>
          <a:noFill/>
          <a:ln/>
        </p:spPr>
        <p:txBody>
          <a:bodyPr wrap="square" lIns="0" tIns="0" rIns="0" bIns="0" rtlCol="0" anchor="t"/>
          <a:lstStyle/>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(4,9): error CS0136: A local or parameter named 'sum' cannot be declared in this scope because that name is used in an enclosing local scope to define a local or parameter</a:t>
            </a:r>
            <a:endParaRPr lang="en-US" sz="1200" dirty="0"/>
          </a:p>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(11,28): error CS0103: The name 'label' does not exist in the current context</a:t>
            </a:r>
            <a:endParaRPr lang="en-US" sz="1200" dirty="0"/>
          </a:p>
          <a:p>
            <a:pPr indent="0" marL="0">
              <a:spcAft>
                <a:spcPts val="200"/>
              </a:spcAft>
              <a:buNone/>
            </a:pPr>
            <a:r>
              <a:rPr lang="en-US" sz="1200" dirty="0">
                <a:solidFill>
                  <a:srgbClr val="FF8A80"/>
                </a:solidFill>
                <a:latin typeface="Courier New" pitchFamily="34" charset="0"/>
                <a:ea typeface="Courier New" pitchFamily="34" charset="-122"/>
                <a:cs typeface="Courier New" pitchFamily="34" charset="-120"/>
              </a:rPr>
              <a:t>(11,36): error CS0103: The name 'i' does not exist in the current context</a:t>
            </a:r>
            <a:endParaRPr lang="en-US" sz="1200" dirty="0"/>
          </a:p>
        </p:txBody>
      </p:sp>
      <p:sp>
        <p:nvSpPr>
          <p:cNvPr id="10" name="Shape 7"/>
          <p:cNvSpPr/>
          <p:nvPr/>
        </p:nvSpPr>
        <p:spPr>
          <a:xfrm>
            <a:off x="7360920" y="1645920"/>
            <a:ext cx="4297680" cy="4434840"/>
          </a:xfrm>
          <a:prstGeom prst="roundRect">
            <a:avLst>
              <a:gd name="adj" fmla="val 2128"/>
            </a:avLst>
          </a:prstGeom>
          <a:solidFill>
            <a:srgbClr val="0F1729"/>
          </a:solidFill>
          <a:ln w="12700">
            <a:solidFill>
              <a:srgbClr val="0F1729"/>
            </a:solidFill>
            <a:prstDash val="solid"/>
          </a:ln>
        </p:spPr>
      </p:sp>
      <p:sp>
        <p:nvSpPr>
          <p:cNvPr id="11" name="Text 8"/>
          <p:cNvSpPr txBox="1"/>
          <p:nvPr/>
        </p:nvSpPr>
        <p:spPr>
          <a:xfrm>
            <a:off x="7589520" y="1755648"/>
            <a:ext cx="3840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fixed → prints 30 large</a:t>
            </a:r>
            <a:endParaRPr lang="en-US" sz="1100" dirty="0"/>
          </a:p>
        </p:txBody>
      </p:sp>
      <p:sp>
        <p:nvSpPr>
          <p:cNvPr id="12" name="Text 9"/>
          <p:cNvSpPr txBox="1"/>
          <p:nvPr/>
        </p:nvSpPr>
        <p:spPr>
          <a:xfrm>
            <a:off x="7589520" y="2057400"/>
            <a:ext cx="384048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i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label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"small"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label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"large"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$"{sum} {label}"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6583680" cy="914400"/>
        </p:xfrm>
        <a:graphic>
          <a:graphicData uri="http://schemas.openxmlformats.org/drawingml/2006/table">
            <a:tbl>
              <a:tblPr/>
              <a:tblGrid>
                <a:gridCol w="822960"/>
                <a:gridCol w="1371600"/>
                <a:gridCol w="4389120"/>
              </a:tblGrid>
              <a:tr h="43891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error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reason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CS0136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sum exists in the enclosing scope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CS0103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label only inside the if body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CS0103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 only inside the for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EXERCISES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(pairs, 25 minutes)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548640" y="1645920"/>
            <a:ext cx="54406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E1 · IsLeapYear + tests ★</a:t>
            </a:r>
            <a:endParaRPr lang="en-US" sz="1700" dirty="0"/>
          </a:p>
        </p:txBody>
      </p:sp>
      <p:sp>
        <p:nvSpPr>
          <p:cNvPr id="11" name="Text 7"/>
          <p:cNvSpPr txBox="1"/>
          <p:nvPr/>
        </p:nvSpPr>
        <p:spPr>
          <a:xfrm>
            <a:off x="77724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Write bool IsLeapYear(int year) and four PASS/FAIL checks: 2024, 1900, 2000, 2026.</a:t>
            </a:r>
            <a:endParaRPr lang="en-US" sz="1500" dirty="0"/>
          </a:p>
        </p:txBody>
      </p:sp>
      <p:sp>
        <p:nvSpPr>
          <p:cNvPr id="12" name="Shape 8"/>
          <p:cNvSpPr/>
          <p:nvPr/>
        </p:nvSpPr>
        <p:spPr>
          <a:xfrm>
            <a:off x="6217920" y="1645920"/>
            <a:ext cx="54406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2F6FB3"/>
          </a:solidFill>
          <a:ln w="12700">
            <a:solidFill>
              <a:srgbClr val="2F6FB3"/>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E2 · Recursive Power ★★</a:t>
            </a:r>
            <a:endParaRPr lang="en-US" sz="1700" dirty="0"/>
          </a:p>
        </p:txBody>
      </p:sp>
      <p:sp>
        <p:nvSpPr>
          <p:cNvPr id="16" name="Text 11"/>
          <p:cNvSpPr txBox="1"/>
          <p:nvPr/>
        </p:nvSpPr>
        <p:spPr>
          <a:xfrm>
            <a:off x="644652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double Power(double b, int e) for e ≥ 0 with recursion. Trace Power(2, 5) on paper.</a:t>
            </a:r>
            <a:endParaRPr lang="en-US" sz="1500" dirty="0"/>
          </a:p>
        </p:txBody>
      </p:sp>
      <p:sp>
        <p:nvSpPr>
          <p:cNvPr id="17" name="Shape 12"/>
          <p:cNvSpPr/>
          <p:nvPr/>
        </p:nvSpPr>
        <p:spPr>
          <a:xfrm>
            <a:off x="548640" y="3886200"/>
            <a:ext cx="54406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E3 · Three results ★★</a:t>
            </a:r>
            <a:endParaRPr lang="en-US" sz="1700" dirty="0"/>
          </a:p>
        </p:txBody>
      </p:sp>
      <p:sp>
        <p:nvSpPr>
          <p:cNvPr id="21" name="Text 15"/>
          <p:cNvSpPr txBox="1"/>
          <p:nvPr/>
        </p:nvSpPr>
        <p:spPr>
          <a:xfrm>
            <a:off x="77724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Stats(int[] a) returns (int min, int max, double mean) as one tuple. Test with { 4, 8, 15, 16, 23, 42 }.</a:t>
            </a:r>
            <a:endParaRPr lang="en-US" sz="1500" dirty="0"/>
          </a:p>
        </p:txBody>
      </p:sp>
      <p:sp>
        <p:nvSpPr>
          <p:cNvPr id="22" name="Shape 16"/>
          <p:cNvSpPr/>
          <p:nvPr/>
        </p:nvSpPr>
        <p:spPr>
          <a:xfrm>
            <a:off x="6217920" y="3886200"/>
            <a:ext cx="54406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6446520" y="411480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6593921" y="4262201"/>
            <a:ext cx="272125" cy="272125"/>
          </a:xfrm>
          <a:prstGeom prst="rect">
            <a:avLst/>
          </a:prstGeom>
        </p:spPr>
      </p:pic>
      <p:sp>
        <p:nvSpPr>
          <p:cNvPr id="25" name="Text 18"/>
          <p:cNvSpPr txBox="1"/>
          <p:nvPr/>
        </p:nvSpPr>
        <p:spPr>
          <a:xfrm>
            <a:off x="713232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E4 · Scope detective ★</a:t>
            </a:r>
            <a:endParaRPr lang="en-US" sz="1700" dirty="0"/>
          </a:p>
        </p:txBody>
      </p:sp>
      <p:sp>
        <p:nvSpPr>
          <p:cNvPr id="26" name="Text 19"/>
          <p:cNvSpPr txBox="1"/>
          <p:nvPr/>
        </p:nvSpPr>
        <p:spPr>
          <a:xfrm>
            <a:off x="644652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Predict the errors of the given snippet (in the notes) with their codes, then check with dotnet build.</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Before next week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548640" y="1645920"/>
            <a:ext cx="5440680" cy="1874520"/>
          </a:xfrm>
          <a:prstGeom prst="roundRect">
            <a:avLst>
              <a:gd name="adj" fmla="val 5854"/>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H1 · Check-digit generator ★★</a:t>
            </a:r>
            <a:endParaRPr lang="en-US" sz="1700" dirty="0"/>
          </a:p>
        </p:txBody>
      </p:sp>
      <p:sp>
        <p:nvSpPr>
          <p:cNvPr id="11" name="Text 7"/>
          <p:cNvSpPr txBox="1"/>
          <p:nvPr/>
        </p:nvSpPr>
        <p:spPr>
          <a:xfrm>
            <a:off x="77724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string CompleteTCKimlik(string first9) returns all 11 digits. Test: 123456789 → 12345678950; then IsValidTCKimlik(result).</a:t>
            </a:r>
            <a:endParaRPr lang="en-US" sz="1400" dirty="0"/>
          </a:p>
        </p:txBody>
      </p:sp>
      <p:sp>
        <p:nvSpPr>
          <p:cNvPr id="12" name="Shape 8"/>
          <p:cNvSpPr/>
          <p:nvPr/>
        </p:nvSpPr>
        <p:spPr>
          <a:xfrm>
            <a:off x="6217920" y="1645920"/>
            <a:ext cx="5440680" cy="1874520"/>
          </a:xfrm>
          <a:prstGeom prst="roundRect">
            <a:avLst>
              <a:gd name="adj" fmla="val 5854"/>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H2 · ReadIntInRange ★★</a:t>
            </a:r>
            <a:endParaRPr lang="en-US" sz="1700" dirty="0"/>
          </a:p>
        </p:txBody>
      </p:sp>
      <p:sp>
        <p:nvSpPr>
          <p:cNvPr id="16" name="Text 11"/>
          <p:cNvSpPr txBox="1"/>
          <p:nvPr/>
        </p:nvSpPr>
        <p:spPr>
          <a:xfrm>
            <a:off x="644652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int ReadIntInRange(string prompt, int min, int max) asks until TryParse succeeds and the value is in range.</a:t>
            </a:r>
            <a:endParaRPr lang="en-US" sz="1400" dirty="0"/>
          </a:p>
        </p:txBody>
      </p:sp>
      <p:sp>
        <p:nvSpPr>
          <p:cNvPr id="17" name="Shape 12"/>
          <p:cNvSpPr/>
          <p:nvPr/>
        </p:nvSpPr>
        <p:spPr>
          <a:xfrm>
            <a:off x="548640" y="3657600"/>
            <a:ext cx="5440680" cy="1874520"/>
          </a:xfrm>
          <a:prstGeom prst="roundRect">
            <a:avLst>
              <a:gd name="adj" fmla="val 5854"/>
            </a:avLst>
          </a:prstGeom>
          <a:solidFill>
            <a:srgbClr val="EEF1F6"/>
          </a:solidFill>
          <a:ln w="12700">
            <a:solidFill>
              <a:srgbClr val="EEF1F6"/>
            </a:solidFill>
            <a:prstDash val="solid"/>
          </a:ln>
        </p:spPr>
      </p:sp>
      <p:sp>
        <p:nvSpPr>
          <p:cNvPr id="18" name="Shape 13"/>
          <p:cNvSpPr/>
          <p:nvPr/>
        </p:nvSpPr>
        <p:spPr>
          <a:xfrm>
            <a:off x="777240" y="38862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033601"/>
            <a:ext cx="272125" cy="272125"/>
          </a:xfrm>
          <a:prstGeom prst="rect">
            <a:avLst/>
          </a:prstGeom>
        </p:spPr>
      </p:pic>
      <p:sp>
        <p:nvSpPr>
          <p:cNvPr id="20" name="Text 14"/>
          <p:cNvSpPr txBox="1"/>
          <p:nvPr/>
        </p:nvSpPr>
        <p:spPr>
          <a:xfrm>
            <a:off x="146304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H3 · Recursive binary search ★★★</a:t>
            </a:r>
            <a:endParaRPr lang="en-US" sz="1700" dirty="0"/>
          </a:p>
        </p:txBody>
      </p:sp>
      <p:sp>
        <p:nvSpPr>
          <p:cNvPr id="21" name="Text 15"/>
          <p:cNvSpPr txBox="1"/>
          <p:nvPr/>
        </p:nvSpPr>
        <p:spPr>
          <a:xfrm>
            <a:off x="77724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int Find(int[] a, int target, int low, int high) returns the index or −1. Trace it for the Week 10 array.</a:t>
            </a:r>
            <a:endParaRPr lang="en-US" sz="1400" dirty="0"/>
          </a:p>
        </p:txBody>
      </p:sp>
      <p:sp>
        <p:nvSpPr>
          <p:cNvPr id="22" name="Shape 16"/>
          <p:cNvSpPr/>
          <p:nvPr/>
        </p:nvSpPr>
        <p:spPr>
          <a:xfrm>
            <a:off x="6217920" y="3657600"/>
            <a:ext cx="5440680" cy="1874520"/>
          </a:xfrm>
          <a:prstGeom prst="roundRect">
            <a:avLst>
              <a:gd name="adj" fmla="val 5854"/>
            </a:avLst>
          </a:prstGeom>
          <a:solidFill>
            <a:srgbClr val="EEF1F6"/>
          </a:solidFill>
          <a:ln w="12700">
            <a:solidFill>
              <a:srgbClr val="EEF1F6"/>
            </a:solidFill>
            <a:prstDash val="solid"/>
          </a:ln>
        </p:spPr>
      </p:sp>
      <p:sp>
        <p:nvSpPr>
          <p:cNvPr id="23" name="Shape 17"/>
          <p:cNvSpPr/>
          <p:nvPr/>
        </p:nvSpPr>
        <p:spPr>
          <a:xfrm>
            <a:off x="6446520" y="38862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6593921" y="4033601"/>
            <a:ext cx="272125" cy="272125"/>
          </a:xfrm>
          <a:prstGeom prst="rect">
            <a:avLst/>
          </a:prstGeom>
        </p:spPr>
      </p:pic>
      <p:sp>
        <p:nvSpPr>
          <p:cNvPr id="25" name="Text 18"/>
          <p:cNvSpPr txBox="1"/>
          <p:nvPr/>
        </p:nvSpPr>
        <p:spPr>
          <a:xfrm>
            <a:off x="713232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H4 · Conversion table ★</a:t>
            </a:r>
            <a:endParaRPr lang="en-US" sz="1700" dirty="0"/>
          </a:p>
        </p:txBody>
      </p:sp>
      <p:sp>
        <p:nvSpPr>
          <p:cNvPr id="26" name="Text 19"/>
          <p:cNvSpPr txBox="1"/>
          <p:nvPr/>
        </p:nvSpPr>
        <p:spPr>
          <a:xfrm>
            <a:off x="644652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Using CelsiusToFahrenheit, print a table for −10 … 40 °C in steps of 10 (F2 format).</a:t>
            </a:r>
            <a:endParaRPr lang="en-US" sz="1400" dirty="0"/>
          </a:p>
        </p:txBody>
      </p:sp>
      <p:sp>
        <p:nvSpPr>
          <p:cNvPr id="27" name="Shape 20"/>
          <p:cNvSpPr/>
          <p:nvPr/>
        </p:nvSpPr>
        <p:spPr>
          <a:xfrm>
            <a:off x="548640" y="5669280"/>
            <a:ext cx="11109960" cy="457200"/>
          </a:xfrm>
          <a:prstGeom prst="roundRect">
            <a:avLst>
              <a:gd name="adj" fmla="val 24000"/>
            </a:avLst>
          </a:prstGeom>
          <a:solidFill>
            <a:srgbClr val="FFF6E3"/>
          </a:solidFill>
          <a:ln w="12700">
            <a:solidFill>
              <a:srgbClr val="FFF6E3"/>
            </a:solidFill>
            <a:prstDash val="solid"/>
          </a:ln>
        </p:spPr>
      </p:sp>
      <p:pic>
        <p:nvPicPr>
          <p:cNvPr id="28" name="Image 4" descr="preencoded.png">    </p:cNvPr>
          <p:cNvPicPr>
            <a:picLocks noChangeAspect="1"/>
          </p:cNvPicPr>
          <p:nvPr/>
        </p:nvPicPr>
        <p:blipFill>
          <a:blip r:embed="rId5"/>
          <a:stretch>
            <a:fillRect/>
          </a:stretch>
        </p:blipFill>
        <p:spPr>
          <a:xfrm>
            <a:off x="822960" y="5806440"/>
            <a:ext cx="182880" cy="182880"/>
          </a:xfrm>
          <a:prstGeom prst="rect">
            <a:avLst/>
          </a:prstGeom>
        </p:spPr>
      </p:pic>
      <p:sp>
        <p:nvSpPr>
          <p:cNvPr id="29" name="Text 21"/>
          <p:cNvSpPr txBox="1"/>
          <p:nvPr/>
        </p:nvSpPr>
        <p:spPr>
          <a:xfrm>
            <a:off x="1280160" y="5742432"/>
            <a:ext cx="10104120" cy="3108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Submit the four Program.cs files on the course group; include one console run for each.</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return hands back one value and ends the method; every path must return (CS0161).</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void methods act; value-returning methods compute. Prefer return over printing inside.</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bool predicates read like questions: IsEven, IsPrime, IsValidTCKimlik.</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Several results: return an array, use out parameters, or a tuple (int min, int max).</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Recursion = base case + smaller step; each call has its own stack frame.</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Scope: a name lives in its block; look out, never in (CS0103, CS0136). Prefer static local functions.</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Week 14: Files and semester review</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13</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13 – Value-Returning and void Functions · Scope</dc:title>
  <dc:subject>PptxGenJS Presentation</dc:subject>
  <dc:creator>MCMP113</dc:creator>
  <cp:lastModifiedBy>MCMP113</cp:lastModifiedBy>
  <cp:revision>1</cp:revision>
  <dcterms:created xsi:type="dcterms:W3CDTF">2026-10-25T13:01:24Z</dcterms:created>
  <dcterms:modified xsi:type="dcterms:W3CDTF">2026-10-25T13:01:24Z</dcterms:modified>
</cp:coreProperties>
</file>