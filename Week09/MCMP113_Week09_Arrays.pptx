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back after the midterm. Today starts the second half of the course: data structures. Timing (approx.): Part 1 why arrays and the memory model ~20 min, Part 2 declaring and accessing ~35 min, Part 3 traversing, reading and printing with worked examples ~45 min, Part 4 more types, counting arrays, parallel arrays and references ~40 min, then mistakes, quiz and exercises. Everything today is still top-level statements: no methods until Week 12. The terminal on the right previews the whole lecture in five lines; come back to it at the end and ask students to explain each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 min. Objective 2 (the box diagram) is the most important one: every array question in the exams can be answered by drawing the boxes with their indices. Objective 6 (reference vs copy) is the classic source of bugs and of exam questions; it also prepares Week 12, where arrays are passed to methods.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Bridge (~5 min). In Weeks 6 to 8 we computed sums, averages, minimum and maximum of N inputs with one variable x that is overwritten in every pass (midterm review Q12, 08_04_GradeStats). Ask the class: "Now print how many grades are ABOVE the average." The average is known only after the last input, but by then the earlier grades are gone: x holds only the last one. Possible student answer: ask the user to type everything twice. Works, but is absurd for 100 grades. We need to KEEP all values: that is an array. The diagram on the right is the same input as example 09_02.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about 20 minutes. Two slides: the motivation (ten variables vs one array) and the picture that every later slide uses: boxes with indices.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 min. Left: five variables need five declarations, five reads and a five-term sum; for 100 students the program becomes 300 lines, and a loop cannot help, because g1, g2, … are different names: a loop variable cannot pick "the i-th name". Right: the array gives the values a common name and a number. The number can be a variable (i), so one loop handles any count. Both columns are valid C#; the right one is how the reading part of 09_02_GradeStats works (there n is read from the keyboard).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7 min; draw it on the board as well. The variable grades does not hold the five numbers itself: it refers to (points to) a block of five double boxes that lie side by side in memory. A double needs 8 bytes, so neighbouring boxes are 8 bytes apart; the addresses shown are only an illustration (real addresses are chosen by the runtime and are not visible in C#). The index says how many boxes to skip from the start: grades[0] skips none, so the first index is 0, and the last is Length − 1 = 4. Likely question: "Can an array grow?" No, the size is fixed when it is created (List&lt;T&gt;, which can grow, is a later topic). Ask: what is grades[2]? (40) What is the index of 91?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about 35 minutes, ends with the first predict-the-output quiz.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 min. Read the line from left to right: int[] is the TYPE "array of int" (the brackets belong to the type, not to the name; C-style int scores[5] is a compile error in C#). new int[5] CREATES five boxes in memory and fills them with the default value 0. The size may be any int expression, also a variable read from the keyboard (lower code block). A negative size from the keyboard stops the program with OverflowException at run time; a negative constant such as new int[-1] does not even compile (CS0248). A size of 0 is allowed: an empty array, Length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 min. Unlike a local variable (Week 3: using an unassigned local is error CS0165), the elements of a new array are always initialised. Numbers get zero, bool false, char the null character \0 (code 0, invisible when printed, so the program prints its code with (int)), and string gets null: "no string at all", which is different from the empty string "". Note that C# prints the double 0.0 as 0. Pitfall preview: calling a method on a null string element (names[0].Length) crashes with NullReferenceException.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 min. When the values are known when you write the program, list them in braces: the compiler counts them and sets the size. The three forms are equivalent; the short form is only allowed in a declaration. In the third form new[] the element type is inferred from the values (all must have a common type). After creation the size is fixed: assigning another array to the variable (a = new int[] { 9, 9 };) is allowed, but that makes a NEW array, the old one is not resized. Ask: what is Length here? (3, then 2 after the reassignment.)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 min. Walk through the code line by line and update the boxes on the board. Line scores[1] = scores[1] + 5 reads box 1 (85), adds 5 and writes 90 back into the same box (scores[1] += 5 is the same). The expression inside the brackets can be any int expression: scores[scores.Length - 1] is the last element. Element boxes behave exactly like ordinary variables: they can be read, assigned, incremented (scores[2]++) and used in expressions. Output from 09_01_ArrayBasics.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 min. Run 09_03_OutOfRange live with 3, then 5, then -1. The compiler cannot know the value of index, so the program compiles; the check happens at run time and the program stops with an unhandled exception. Read the message with the class: the exception type, the text "Index was outside the bounds of the array" and the line number (21) tell you exactly where to look. The path is shortened here; on Windows it shows your project folder. Typical causes: i &lt;= a.Length in a loop, a[a.Length] for "the last element", user numbers 1..n used as indices without subtracting 1. Fix: check 0 &lt;= index &lt; Length before accessing (the "Checked" line). Catching exceptions with try/catch is Week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write the six output lines on paper (pairs allowed). Encourage drawing the boxes for a and b first. Hints only if stuck: what is a[0] - 2? Which indices does i += 2 visit? Answers on the next slide; verified with 09_13_PredictChecker.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Line by line: a[1] + a[3] = 8 + 16 = 24. a[a.Length - 1] = a[4] = 23 (the last element). a[a[0] - 2] = a[4 - 2] = a[2] = 15: evaluate the inner index first. a[2] = a[0] * 2 overwrites 15 with 8, giving 4,8,8,16,23. The loop fills b with i*i: 0, 1, 4, 9, 16; b[4] - b[2] = 16 - 4 = 12. i += 2 visits indices 0, 2, 4: 0 + 4 + 16 = 20. Typical wrong answer for line 3: 13 (taking a[0] - 2 = 2 as the value instead of the index).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 about 45 minutes. The loop pattern of the first slide is used in almost every program from now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 min. This loop header is the most frequently written line of Weeks 9 to 11; students should be able to write it in their sleep. Start at 0 because the first index is 0; stop with i &lt; Length (strictly less) because the last index is Length - 1. With i &lt;= a.Length the last pass uses a[5] and the program crashes (IndexOutOfRangeException). Always use a.Length instead of the literal 5: if the size changes, the loop still works. The pointer i on the diagram shows the box processed in each pass; the table shows that the condition is evaluated Length + 1 = 6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 min. foreach visits the elements in order 0, 1, 2, ... and gives you each VALUE in the iteration variable. It is shorter and cannot go out of range. But: (1) there is no index (no "Grade 3:" labels, no neighbours a[i-1]); (2) the iteration variable is read-only: assigning to it is compile error CS1656 (shown, real compiler message); (3) you cannot change the array elements through it. Rule of thumb: foreach when you only READ every value (sum, count, print); for when you need the index or want to WRITE elements. The second example is the end of 09_06_MonthlyTemperatures.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 min. Reading: the size comes first (n), then new double[n], then one loop that stores each input in grades[i]. Prompt with i + 1 so that users see "Grade 1" while the program uses index 0. Printing: Console.WriteLine(array) does NOT print the values, it prints the type name System.Int32[] (Int32 is the .NET name of int); real output from 09_01. Use string.Join(separator, array) for a quick one-line print, or a loop when you need formatting (e.g. {x,6:F1} columns). Exception: Console.WriteLine of a char[] prints the characters as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 min. This is the problem from the recap slide, now solvable. Design: three passes over the data. Pass 1 reads and stores, pass 2 sums, pass 3 compares each stored grade with the average. Passes 1 and 2 could be merged, but pass 3 cannot: it needs the average, which exists only after all grades are summed. Check the run by hand: 72 + 85.5 + 40 + 91 + 66 = 354.5, / 5 = 70.9; above: 72, 85.5, 91, so 3 of 5. Test cases to suggest: all grades equal (above = 0, because &gt; not &gt;=), n =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 min. Point out the three for loops with the same header pattern, and that passes 2 and 3 use grades.Length while pass 1 uses n (equal here). sum is a double so that the average is a real division (Week 4). string.Join prints the stored grades on one line; 85.5 appears with its decimal point thanks to InvariantGlobalization in our project template. Ask: what changes if we want the count of grades BELOW the average? Only the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 min. Reversing is impossible without storage: the first number typed must be printed last. The second loop starts at the LAST index, numbers.Length - 1 (not Length!), and runs while i &gt;= 0 (index 0 must be included), decreasing i. Both are common exam traps. Trace the diagram: i = 4, 3, 2, 1, 0. Variation for exercises: print only the elements with even index, or every second element backwards.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 min. Compare with Week 5, where day number to day name needed a switch with seven cases. Here the names are data, and the day number (minus 1) is the index. lessonHours is a parallel array: the same index describes the same day (more on parallel arrays in Part 4). The range check uses dayNames.Length, so the code does not repeat the number 7. Run with 3 (Wednesday), 7 (Sunday, the last index 6) and 8 (rejected). Without the check, 8 would crash with IndexOutOfRangeException, and 0 would use index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 min. Data are written into the program with initializer lists (example values similar to Istanbul's monthly averages; the exact numbers do not matter). The change from the previous month needs two neighbouring elements, so the loop starts at i = 1: with i = 0 the expression temps[i - 1] would be temps[-1] and crash. January is printed before the loop. The last part uses foreach because it only reads values. Verify by hand: the twelve values sum to 176.5, / 12 = 14.708…, printed as 14.71.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4, about 40 minutes. Five patterns that come back in Weeks 10 to 15, plus the reference-type behaviour of arrays.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 min. Any type can be the element type; the patterns stay the same. A string is not an array, but it can be read like one: text[i] is the i-th character (a char) and text.Length the number of characters; the same index rules apply (0 to Length - 1, IndexOutOfRangeException outside). Strings are immutable: text[0] = 'b' is compile error CS0200 (real message on the slide: the indexer is read only). To change characters, build a new string or work with a char[]. Turkish note: our vowel counter uses the English vowels; adding ı, ö, ü is an exercise.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 min. Outer loop over the characters of the text, inner loop over the five vowels. vowelCounts is parallel to vowels: vowelCounts[v] counts vowels[v]. char.ToLower makes "A" and "a" the same; char.IsLetter excludes spaces and punctuation, so letters - vowels = consonants. Check by hand for "Programming is fun!": 16 letters; vowels o, a, i, i, u = 5 (a:1, i:2, o:1, u:1); consonants 11. The final if protects text[0] for an empty input (try pressing Enter only). Lines 34-41 (the final printing) are not on the slide; the console shows their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7 min. Six counters in one array instead of six variables with a six-case switch. The rolled value selects the box to increment: face 1 goes to index 0, face 6 to index 5. (Alternative: new int[7] and counts[face]++, leaving index 0 unused.) The fixed seed 2026 makes the run repeatable, so everyone sees the same numbers as on the slide; Random.Shared gives new rolls each run. Histogram: one star per 1 %. With 60 rolls the shares vary a lot (5 % to 26.7 %); with 6000 rolls all are close to 1/6 = 16.7 %: law of large numbers. Check: the 60 counts add up to 60, the 6000 counts to 6000.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 min. Three arrays of the same length whose elements with the same index belong together: names[1], midterms[1], finals[1] all describe Mehmet. The fourth array totals is computed with the course weights (midterm 40 %, final 60 %). Check: Ayşe 0.4 × 78 + 0.6 × 85 = 31.2 + 51 = 82.2; class average (82.2 + 42 + 89.6 + 66 + 44.8) / 5 = 324.6 / 5 = 64.92. The pass mark 50 is only an example threshold. Danger of parallel arrays: if one array is sorted or an element is deleted, the others must be changed in exactly the same way, otherwise data gets mixed. Later courses replace them with a class Student.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7 min; draw this on the board. An int variable holds its value directly (value type): y = x copies the number. An array variable holds only a REFERENCE to the boxes (reference type): b = a copies the reference, so a and b are two names for ONE array, and a change through b is visible through a. A real copy needs a new block of boxes: (int[])a.Clone() (the cast is needed because Clone returns object) or a loop into new int[a.Length]. == on arrays compares references: a == c is False even if the contents are equal. Week 12 preview: passing an array to a method passes the reference, so the method can change the caller's elements.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 min. Run 09_10_CopyVsReference. Each step prints a again: after step 1 a has changed (99), after steps 2 and 3 it has not (the copies changed). a == b is True (same array), a == c is False although the first and third values are equal: == compares references. The last line contrasts the value type int. Ask: after step 1, what would a[0] = 5 print for b[0]?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7 min. Both programs fill an array where each element is computed from elements BEFORE it, so the loop starts after the "seed" elements: Fibonacci needs fib[0] and fib[1] (loop from 2), the running total needs total[0] (loop from 1). Fibonacci uses long; the program accepts at most 93 numbers because fib[92] = 7,540,113,804,746,346,429 (real output for n = 93) is the largest Fibonacci number that fits in a long (max ≈ 9.22 × 10^18); fib[93] would overflow. Running total uses decimal for money; check: 1250 + 980.50 = 2230.50, …, week total 10461.25 TL.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 min. Ask students which ones they already made in the examples today. 1 and 2 cause IndexOutOfRangeException at run time; 3 compiles and runs but prints System.Int32[]; 4 is the reference trap; 5 is the 1-based/0-based mix-up from the day-names example; 6 does not compile (C# is not C). Exam tip: for every loop over an array, check the first and the last value of i against 0 and Length - 1.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write the five output lines. Hint: draw the arrays and the arrows of x, y and z before executing any assignment. The second block is the running-total pattern in place; the third is a counting array where the VALUES of data are used as indices. Answers next slide; verified with 09_13_PredictChecker.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 and y are the same array, z is a copy made AFTER y[0] = 10 (so z starts as 10, 2, 3). Then z[1] = 20 changes only z, and x[2] = 30 changes x and y (same array). Lines: 10 2 30 / 10 2 30 / 10 20 3. Second block: each element becomes the sum of itself and the new value of its left neighbour: 1, 3, 6, 10, 15 (running total, because a[i - 1] has already been updated). Third block: data values 2, 0, 2, 3 are indices: c[2] twice, c[0] and c[3] once: 1 0 2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Assign two exercises per pair (A+D, B+E, C+F). Write the program in VS Code, test it with the given input, then swap and test the neighbour's program with your own edge case. Expected results: A with 3 1 4 1 5: sum 14, even-index sum 3 + 4 + 5 = 12. B: 10 numbers stored, then print those &gt; the first number. C: "level" is a palindrome, "Okan" is not (compare text[i] with text[text.Length - 1 - i]). D: index = sum - 2; the eleven counts must add up to 1000, and sum 7 should be the most frequent (expected about 1000/6 ≈ 167). E: bool[] seats of 10, reserve 3 and 7, print free seats. F: two arrays, element-wise sum. Solutions in the instructor edition of the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H1 to H3 on paper (trace, box diagram, pseudocode), H4 to H6 as programs (upload the Program.cs files or screenshots of a run to the course group as announced). H4 hint: two passes, like 09_02, plus a day-name lookup table. H5 extends the vowel counter: add the Turkish vowels ı, ö, ü (and use a Turkish test sentence; if the console shows ? for Turkish letters on Windows, add Console.InputEncoding = System.Text.Encoding.UTF8 and the same for OutputEncoding). H6 prepares Week 10: think about how you would find the largest element and its index. Answer for H1: a = 1 4 9 16 25, printed backwards 25 16 9 4 1. H2: p and q are the same array {5, 0}; r is a clone made after q[1] = 0, then r[0] = 9, so r = {9,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write on paper the loop that prints the elements of int[] a with odd index, from the last to the first. (One answer: start at a.Length - 1 if that index is odd, otherwise a.Length - 2, and use i -= 2 while i &gt;= 1.) Next week: max/min with index, linear and binary search, bubble and selection sort: all built on today's loop over the boxes.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image" Target="../media/image-32-5.png"/><Relationship Id="rId6" Type="http://schemas.openxmlformats.org/officeDocument/2006/relationships/image" Target="../media/image-32-6.png"/><Relationship Id="rId7" Type="http://schemas.openxmlformats.org/officeDocument/2006/relationships/slideLayout" Target="../slideLayouts/slideLayout1.xml"/><Relationship Id="rId8"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slideLayout" Target="../slideLayouts/slideLayout1.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548640"/>
            <a:ext cx="7315200" cy="457200"/>
          </a:xfrm>
          <a:prstGeom prst="rect">
            <a:avLst/>
          </a:prstGeom>
          <a:noFill/>
          <a:ln/>
        </p:spPr>
        <p:txBody>
          <a:bodyPr wrap="square" lIns="0" tIns="0" rIns="0" bIns="0" rtlCol="0" anchor="ctr"/>
          <a:lstStyle/>
          <a:p>
            <a:pPr indent="0" marL="0">
              <a:buNone/>
            </a:pPr>
            <a:r>
              <a:rPr lang="en-US" sz="2000" b="1" dirty="0">
                <a:solidFill>
                  <a:srgbClr val="FCA311"/>
                </a:solidFill>
                <a:latin typeface="Courier New" pitchFamily="34" charset="0"/>
                <a:ea typeface="Courier New" pitchFamily="34" charset="-122"/>
                <a:cs typeface="Courier New" pitchFamily="34" charset="-120"/>
              </a:rPr>
              <a:t>&gt;_ MCMP113</a:t>
            </a:r>
            <a:endParaRPr lang="en-US" sz="2000" dirty="0"/>
          </a:p>
        </p:txBody>
      </p:sp>
      <p:sp>
        <p:nvSpPr>
          <p:cNvPr id="3" name="Text 1"/>
          <p:cNvSpPr txBox="1"/>
          <p:nvPr/>
        </p:nvSpPr>
        <p:spPr>
          <a:xfrm>
            <a:off x="548640" y="1097280"/>
            <a:ext cx="7498080" cy="914400"/>
          </a:xfrm>
          <a:prstGeom prst="rect">
            <a:avLst/>
          </a:prstGeom>
          <a:noFill/>
          <a:ln/>
        </p:spPr>
        <p:txBody>
          <a:bodyPr wrap="square" lIns="0" tIns="0" rIns="0" bIns="0" rtlCol="0" anchor="t"/>
          <a:lstStyle/>
          <a:p>
            <a:pPr indent="0" marL="0">
              <a:buNone/>
            </a:pPr>
            <a:r>
              <a:rPr lang="en-US" sz="2000" dirty="0">
                <a:solidFill>
                  <a:srgbClr val="C7CEDC"/>
                </a:solidFill>
                <a:latin typeface="Calibri" pitchFamily="34" charset="0"/>
                <a:ea typeface="Calibri" pitchFamily="34" charset="-122"/>
                <a:cs typeface="Calibri" pitchFamily="34" charset="-120"/>
              </a:rPr>
              <a:t>Introduction to Basic Algorithms and Programming</a:t>
            </a:r>
            <a:endParaRPr lang="en-US" sz="2000" dirty="0"/>
          </a:p>
        </p:txBody>
      </p:sp>
      <p:sp>
        <p:nvSpPr>
          <p:cNvPr id="4" name="Text 2"/>
          <p:cNvSpPr txBox="1"/>
          <p:nvPr/>
        </p:nvSpPr>
        <p:spPr>
          <a:xfrm>
            <a:off x="548640" y="1828800"/>
            <a:ext cx="7498080" cy="457200"/>
          </a:xfrm>
          <a:prstGeom prst="rect">
            <a:avLst/>
          </a:prstGeom>
          <a:noFill/>
          <a:ln/>
        </p:spPr>
        <p:txBody>
          <a:bodyPr wrap="square" lIns="0" tIns="0" rIns="0" bIns="0" rtlCol="0" anchor="ctr"/>
          <a:lstStyle/>
          <a:p>
            <a:pPr indent="0" marL="0">
              <a:buNone/>
            </a:pPr>
            <a:r>
              <a:rPr lang="en-US" sz="1800" b="1" dirty="0">
                <a:solidFill>
                  <a:srgbClr val="FCA311"/>
                </a:solidFill>
                <a:latin typeface="Courier New" pitchFamily="34" charset="0"/>
                <a:ea typeface="Courier New" pitchFamily="34" charset="-122"/>
                <a:cs typeface="Courier New" pitchFamily="34" charset="-120"/>
              </a:rPr>
              <a:t>Week 9</a:t>
            </a:r>
            <a:endParaRPr lang="en-US" sz="1800" dirty="0"/>
          </a:p>
        </p:txBody>
      </p:sp>
      <p:sp>
        <p:nvSpPr>
          <p:cNvPr id="5" name="Text 3"/>
          <p:cNvSpPr txBox="1"/>
          <p:nvPr/>
        </p:nvSpPr>
        <p:spPr>
          <a:xfrm>
            <a:off x="548640" y="2286000"/>
            <a:ext cx="7498080" cy="1554480"/>
          </a:xfrm>
          <a:prstGeom prst="rect">
            <a:avLst/>
          </a:prstGeom>
          <a:noFill/>
          <a:ln/>
        </p:spPr>
        <p:txBody>
          <a:bodyPr wrap="square" lIns="0" tIns="0" rIns="0" bIns="0" rtlCol="0" anchor="t">
            <a:normAutofit/>
          </a:bodyPr>
          <a:lstStyle/>
          <a:p>
            <a:pPr indent="0" marL="0">
              <a:buNone/>
            </a:pPr>
            <a:r>
              <a:rPr lang="en-US" sz="3800" b="1" dirty="0">
                <a:solidFill>
                  <a:srgbClr val="FFFFFF"/>
                </a:solidFill>
                <a:latin typeface="Cambria" pitchFamily="34" charset="0"/>
                <a:ea typeface="Cambria" pitchFamily="34" charset="-122"/>
                <a:cs typeface="Cambria" pitchFamily="34" charset="-120"/>
              </a:rPr>
              <a:t>One-Dimensional Arrays</a:t>
            </a:r>
            <a:endParaRPr lang="en-US" sz="3800" dirty="0"/>
          </a:p>
        </p:txBody>
      </p:sp>
      <p:sp>
        <p:nvSpPr>
          <p:cNvPr id="6" name="Text 4"/>
          <p:cNvSpPr txBox="1"/>
          <p:nvPr/>
        </p:nvSpPr>
        <p:spPr>
          <a:xfrm>
            <a:off x="548640" y="3886200"/>
            <a:ext cx="7498080" cy="640080"/>
          </a:xfrm>
          <a:prstGeom prst="rect">
            <a:avLst/>
          </a:prstGeom>
          <a:noFill/>
          <a:ln/>
        </p:spPr>
        <p:txBody>
          <a:bodyPr wrap="square" lIns="0" tIns="0" rIns="0" bIns="0" rtlCol="0" anchor="t"/>
          <a:lstStyle/>
          <a:p>
            <a:pPr indent="0" marL="0">
              <a:buNone/>
            </a:pPr>
            <a:r>
              <a:rPr lang="en-US" sz="1600" dirty="0">
                <a:solidFill>
                  <a:srgbClr val="C7CEDC"/>
                </a:solidFill>
                <a:latin typeface="Calibri" pitchFamily="34" charset="0"/>
                <a:ea typeface="Calibri" pitchFamily="34" charset="-122"/>
                <a:cs typeface="Calibri" pitchFamily="34" charset="-120"/>
              </a:rPr>
              <a:t>Declaration, assignment and element access · many values under one name</a:t>
            </a:r>
            <a:endParaRPr lang="en-US" sz="1600" dirty="0"/>
          </a:p>
        </p:txBody>
      </p:sp>
      <p:sp>
        <p:nvSpPr>
          <p:cNvPr id="7" name="Text 5"/>
          <p:cNvSpPr txBox="1"/>
          <p:nvPr/>
        </p:nvSpPr>
        <p:spPr>
          <a:xfrm>
            <a:off x="548640" y="4892040"/>
            <a:ext cx="7315200" cy="1005840"/>
          </a:xfrm>
          <a:prstGeom prst="rect">
            <a:avLst/>
          </a:prstGeom>
          <a:noFill/>
          <a:ln/>
        </p:spPr>
        <p:txBody>
          <a:bodyPr wrap="square" lIns="0" tIns="0" rIns="0" bIns="0" rtlCol="0" anchor="ctr"/>
          <a:lstStyle/>
          <a:p>
            <a:pPr indent="0" marL="0">
              <a:spcAft>
                <a:spcPts val="400"/>
              </a:spcAft>
              <a:buNone/>
            </a:pPr>
            <a:r>
              <a:rPr lang="en-US" sz="1500" b="1" dirty="0">
                <a:solidFill>
                  <a:srgbClr val="FFFFFF"/>
                </a:solidFill>
                <a:latin typeface="Calibri" pitchFamily="34" charset="0"/>
                <a:ea typeface="Calibri" pitchFamily="34" charset="-122"/>
                <a:cs typeface="Calibri" pitchFamily="34" charset="-120"/>
              </a:rPr>
              <a:t>Asst. Prof. Hasan Oğuz, PhD</a:t>
            </a:r>
            <a:endParaRPr lang="en-US" sz="1500" dirty="0"/>
          </a:p>
          <a:p>
            <a:pPr indent="0" marL="0">
              <a:spcAft>
                <a:spcPts val="400"/>
              </a:spcAft>
              <a:buNone/>
            </a:pPr>
            <a:r>
              <a:rPr lang="en-US" sz="1500" dirty="0">
                <a:solidFill>
                  <a:srgbClr val="C7CEDC"/>
                </a:solidFill>
                <a:latin typeface="Calibri" pitchFamily="34" charset="0"/>
                <a:ea typeface="Calibri" pitchFamily="34" charset="-122"/>
                <a:cs typeface="Calibri" pitchFamily="34" charset="-120"/>
              </a:rPr>
              <a:t>Istanbul Okan University  ·  Vocational School</a:t>
            </a:r>
            <a:endParaRPr lang="en-US" sz="1500" dirty="0"/>
          </a:p>
          <a:p>
            <a:pPr indent="0" marL="0">
              <a:spcAft>
                <a:spcPts val="400"/>
              </a:spcAft>
              <a:buNone/>
            </a:pPr>
            <a:r>
              <a:rPr lang="en-US" sz="1500" dirty="0">
                <a:solidFill>
                  <a:srgbClr val="C7CEDC"/>
                </a:solidFill>
                <a:latin typeface="Calibri" pitchFamily="34" charset="0"/>
                <a:ea typeface="Calibri" pitchFamily="34" charset="-122"/>
                <a:cs typeface="Calibri" pitchFamily="34" charset="-120"/>
              </a:rPr>
              <a:t>2026–2027 Fall Semester</a:t>
            </a:r>
            <a:endParaRPr lang="en-US" sz="1500" dirty="0"/>
          </a:p>
        </p:txBody>
      </p:sp>
      <p:sp>
        <p:nvSpPr>
          <p:cNvPr id="8" name="Shape 6"/>
          <p:cNvSpPr/>
          <p:nvPr/>
        </p:nvSpPr>
        <p:spPr>
          <a:xfrm>
            <a:off x="8412480" y="1188720"/>
            <a:ext cx="3246120" cy="3931920"/>
          </a:xfrm>
          <a:prstGeom prst="roundRect">
            <a:avLst>
              <a:gd name="adj" fmla="val 3380"/>
            </a:avLst>
          </a:prstGeom>
          <a:solidFill>
            <a:srgbClr val="0F1729"/>
          </a:solidFill>
          <a:ln w="12700">
            <a:solidFill>
              <a:srgbClr val="2A3654"/>
            </a:solidFill>
            <a:prstDash val="solid"/>
          </a:ln>
        </p:spPr>
      </p:sp>
      <p:sp>
        <p:nvSpPr>
          <p:cNvPr id="9" name="Shape 7"/>
          <p:cNvSpPr/>
          <p:nvPr/>
        </p:nvSpPr>
        <p:spPr>
          <a:xfrm>
            <a:off x="8641080" y="1371600"/>
            <a:ext cx="146304" cy="146304"/>
          </a:xfrm>
          <a:prstGeom prst="ellipse">
            <a:avLst/>
          </a:prstGeom>
          <a:solidFill>
            <a:srgbClr val="FF5F57"/>
          </a:solidFill>
          <a:ln w="12700">
            <a:solidFill>
              <a:srgbClr val="FF5F57"/>
            </a:solidFill>
            <a:prstDash val="solid"/>
          </a:ln>
        </p:spPr>
      </p:sp>
      <p:sp>
        <p:nvSpPr>
          <p:cNvPr id="10" name="Shape 8"/>
          <p:cNvSpPr/>
          <p:nvPr/>
        </p:nvSpPr>
        <p:spPr>
          <a:xfrm>
            <a:off x="8915400" y="1371600"/>
            <a:ext cx="146304" cy="146304"/>
          </a:xfrm>
          <a:prstGeom prst="ellipse">
            <a:avLst/>
          </a:prstGeom>
          <a:solidFill>
            <a:srgbClr val="FEBC2E"/>
          </a:solidFill>
          <a:ln w="12700">
            <a:solidFill>
              <a:srgbClr val="FEBC2E"/>
            </a:solidFill>
            <a:prstDash val="solid"/>
          </a:ln>
        </p:spPr>
      </p:sp>
      <p:sp>
        <p:nvSpPr>
          <p:cNvPr id="11" name="Shape 9"/>
          <p:cNvSpPr/>
          <p:nvPr/>
        </p:nvSpPr>
        <p:spPr>
          <a:xfrm>
            <a:off x="9189720" y="1371600"/>
            <a:ext cx="146304" cy="146304"/>
          </a:xfrm>
          <a:prstGeom prst="ellipse">
            <a:avLst/>
          </a:prstGeom>
          <a:solidFill>
            <a:srgbClr val="28C840"/>
          </a:solidFill>
          <a:ln w="12700">
            <a:solidFill>
              <a:srgbClr val="28C840"/>
            </a:solidFill>
            <a:prstDash val="solid"/>
          </a:ln>
        </p:spPr>
      </p:sp>
      <p:sp>
        <p:nvSpPr>
          <p:cNvPr id="12" name="Text 10"/>
          <p:cNvSpPr txBox="1"/>
          <p:nvPr/>
        </p:nvSpPr>
        <p:spPr>
          <a:xfrm>
            <a:off x="8686800" y="1737360"/>
            <a:ext cx="2834640" cy="3200400"/>
          </a:xfrm>
          <a:prstGeom prst="rect">
            <a:avLst/>
          </a:prstGeom>
          <a:noFill/>
          <a:ln/>
        </p:spPr>
        <p:txBody>
          <a:bodyPr wrap="square" lIns="0" tIns="0" rIns="0" bIns="0" rtlCol="0" anchor="t"/>
          <a:lstStyle/>
          <a:p>
            <a:pPr indent="0" marL="0">
              <a:spcAft>
                <a:spcPts val="500"/>
              </a:spcAft>
              <a:buNone/>
            </a:pPr>
            <a:r>
              <a:rPr lang="en-US" sz="1400" dirty="0">
                <a:solidFill>
                  <a:srgbClr val="FCA311"/>
                </a:solidFill>
                <a:latin typeface="Courier New" pitchFamily="34" charset="0"/>
                <a:ea typeface="Courier New" pitchFamily="34" charset="-122"/>
                <a:cs typeface="Courier New" pitchFamily="34" charset="-120"/>
              </a:rPr>
              <a:t>&gt; </a:t>
            </a:r>
            <a:pPr indent="0" marL="0">
              <a:spcAft>
                <a:spcPts val="500"/>
              </a:spcAft>
              <a:buNone/>
            </a:pPr>
            <a:r>
              <a:rPr lang="en-US" sz="1400" dirty="0">
                <a:solidFill>
                  <a:srgbClr val="E6EDF7"/>
                </a:solidFill>
                <a:latin typeface="Courier New" pitchFamily="34" charset="0"/>
                <a:ea typeface="Courier New" pitchFamily="34" charset="-122"/>
                <a:cs typeface="Courier New" pitchFamily="34" charset="-120"/>
              </a:rPr>
              <a:t>int[] a = { 3, 7, 1 };</a:t>
            </a:r>
            <a:endParaRPr lang="en-US" sz="1400" dirty="0"/>
          </a:p>
          <a:p>
            <a:pPr indent="0" marL="0">
              <a:spcAft>
                <a:spcPts val="500"/>
              </a:spcAft>
              <a:buNone/>
            </a:pPr>
            <a:r>
              <a:rPr lang="en-US" sz="1400" dirty="0">
                <a:solidFill>
                  <a:srgbClr val="FCA311"/>
                </a:solidFill>
                <a:latin typeface="Courier New" pitchFamily="34" charset="0"/>
                <a:ea typeface="Courier New" pitchFamily="34" charset="-122"/>
                <a:cs typeface="Courier New" pitchFamily="34" charset="-120"/>
              </a:rPr>
              <a:t>&gt; </a:t>
            </a:r>
            <a:pPr indent="0" marL="0">
              <a:spcAft>
                <a:spcPts val="500"/>
              </a:spcAft>
              <a:buNone/>
            </a:pPr>
            <a:r>
              <a:rPr lang="en-US" sz="1400" dirty="0">
                <a:solidFill>
                  <a:srgbClr val="E6EDF7"/>
                </a:solidFill>
                <a:latin typeface="Courier New" pitchFamily="34" charset="0"/>
                <a:ea typeface="Courier New" pitchFamily="34" charset="-122"/>
                <a:cs typeface="Courier New" pitchFamily="34" charset="-120"/>
              </a:rPr>
              <a:t>a[1] = 9;</a:t>
            </a:r>
            <a:endParaRPr lang="en-US" sz="1400" dirty="0"/>
          </a:p>
          <a:p>
            <a:pPr indent="0" marL="0">
              <a:spcAft>
                <a:spcPts val="500"/>
              </a:spcAft>
              <a:buNone/>
            </a:pPr>
            <a:r>
              <a:rPr lang="en-US" sz="1400" dirty="0">
                <a:solidFill>
                  <a:srgbClr val="FCA311"/>
                </a:solidFill>
                <a:latin typeface="Courier New" pitchFamily="34" charset="0"/>
                <a:ea typeface="Courier New" pitchFamily="34" charset="-122"/>
                <a:cs typeface="Courier New" pitchFamily="34" charset="-120"/>
              </a:rPr>
              <a:t>&gt; </a:t>
            </a:r>
            <a:pPr indent="0" marL="0">
              <a:spcAft>
                <a:spcPts val="500"/>
              </a:spcAft>
              <a:buNone/>
            </a:pPr>
            <a:r>
              <a:rPr lang="en-US" sz="1400" dirty="0">
                <a:solidFill>
                  <a:srgbClr val="E6EDF7"/>
                </a:solidFill>
                <a:latin typeface="Courier New" pitchFamily="34" charset="0"/>
                <a:ea typeface="Courier New" pitchFamily="34" charset="-122"/>
                <a:cs typeface="Courier New" pitchFamily="34" charset="-120"/>
              </a:rPr>
              <a:t>string.Join(", ", a)</a:t>
            </a:r>
            <a:endParaRPr lang="en-US" sz="1400" dirty="0"/>
          </a:p>
          <a:p>
            <a:pPr indent="0" marL="0">
              <a:spcAft>
                <a:spcPts val="500"/>
              </a:spcAft>
              <a:buNone/>
            </a:pPr>
            <a:r>
              <a:rPr lang="en-US" sz="1400" dirty="0">
                <a:solidFill>
                  <a:srgbClr val="7EE2A8"/>
                </a:solidFill>
                <a:latin typeface="Courier New" pitchFamily="34" charset="0"/>
                <a:ea typeface="Courier New" pitchFamily="34" charset="-122"/>
                <a:cs typeface="Courier New" pitchFamily="34" charset="-120"/>
              </a:rPr>
              <a:t>3, 9, 1</a:t>
            </a:r>
            <a:endParaRPr lang="en-US" sz="1400" dirty="0"/>
          </a:p>
          <a:p>
            <a:pPr indent="0" marL="0">
              <a:spcAft>
                <a:spcPts val="500"/>
              </a:spcAft>
              <a:buNone/>
            </a:pPr>
            <a:r>
              <a:rPr lang="en-US" sz="1400" dirty="0">
                <a:solidFill>
                  <a:srgbClr val="FCA311"/>
                </a:solidFill>
                <a:latin typeface="Courier New" pitchFamily="34" charset="0"/>
                <a:ea typeface="Courier New" pitchFamily="34" charset="-122"/>
                <a:cs typeface="Courier New" pitchFamily="34" charset="-120"/>
              </a:rPr>
              <a:t>&gt; </a:t>
            </a:r>
            <a:pPr indent="0" marL="0">
              <a:spcAft>
                <a:spcPts val="500"/>
              </a:spcAft>
              <a:buNone/>
            </a:pPr>
            <a:r>
              <a:rPr lang="en-US" sz="1400" dirty="0">
                <a:solidFill>
                  <a:srgbClr val="E6EDF7"/>
                </a:solidFill>
                <a:latin typeface="Courier New" pitchFamily="34" charset="0"/>
                <a:ea typeface="Courier New" pitchFamily="34" charset="-122"/>
                <a:cs typeface="Courier New" pitchFamily="34" charset="-120"/>
              </a:rPr>
              <a:t>a.Length</a:t>
            </a:r>
            <a:endParaRPr lang="en-US" sz="1400" dirty="0"/>
          </a:p>
          <a:p>
            <a:pPr indent="0" marL="0">
              <a:spcAft>
                <a:spcPts val="500"/>
              </a:spcAft>
              <a:buNone/>
            </a:pPr>
            <a:r>
              <a:rPr lang="en-US" sz="1400" dirty="0">
                <a:solidFill>
                  <a:srgbClr val="7EE2A8"/>
                </a:solidFill>
                <a:latin typeface="Courier New" pitchFamily="34" charset="0"/>
                <a:ea typeface="Courier New" pitchFamily="34" charset="-122"/>
                <a:cs typeface="Courier New" pitchFamily="34" charset="-120"/>
              </a:rPr>
              <a:t>3</a:t>
            </a:r>
            <a:endParaRPr lang="en-US" sz="1400" dirty="0"/>
          </a:p>
          <a:p>
            <a:pPr indent="0" marL="0">
              <a:spcAft>
                <a:spcPts val="500"/>
              </a:spcAft>
              <a:buNone/>
            </a:pPr>
            <a:r>
              <a:rPr lang="en-US" sz="1400" dirty="0">
                <a:solidFill>
                  <a:srgbClr val="FCA311"/>
                </a:solidFill>
                <a:latin typeface="Courier New" pitchFamily="34" charset="0"/>
                <a:ea typeface="Courier New" pitchFamily="34" charset="-122"/>
                <a:cs typeface="Courier New" pitchFamily="34" charset="-120"/>
              </a:rPr>
              <a:t>&gt; </a:t>
            </a:r>
            <a:pPr indent="0" marL="0">
              <a:spcAft>
                <a:spcPts val="500"/>
              </a:spcAft>
              <a:buNone/>
            </a:pPr>
            <a:r>
              <a:rPr lang="en-US" sz="1400" dirty="0">
                <a:solidFill>
                  <a:srgbClr val="E6EDF7"/>
                </a:solidFill>
                <a:latin typeface="Courier New" pitchFamily="34" charset="0"/>
                <a:ea typeface="Courier New" pitchFamily="34" charset="-122"/>
                <a:cs typeface="Courier New" pitchFamily="34" charset="-120"/>
              </a:rPr>
              <a:t>a[3]</a:t>
            </a:r>
            <a:endParaRPr lang="en-US" sz="1400" dirty="0"/>
          </a:p>
          <a:p>
            <a:pPr indent="0" marL="0">
              <a:spcAft>
                <a:spcPts val="500"/>
              </a:spcAft>
              <a:buNone/>
            </a:pPr>
            <a:r>
              <a:rPr lang="en-US" sz="1400" dirty="0">
                <a:solidFill>
                  <a:srgbClr val="7EE2A8"/>
                </a:solidFill>
                <a:latin typeface="Courier New" pitchFamily="34" charset="0"/>
                <a:ea typeface="Courier New" pitchFamily="34" charset="-122"/>
                <a:cs typeface="Courier New" pitchFamily="34" charset="-120"/>
              </a:rPr>
              <a:t>IndexOutOfRange…</a:t>
            </a:r>
            <a:endParaRPr lang="en-US" sz="1400" dirty="0"/>
          </a:p>
          <a:p>
            <a:pPr indent="0" marL="0">
              <a:spcAft>
                <a:spcPts val="500"/>
              </a:spcAft>
              <a:buNone/>
            </a:pPr>
            <a:r>
              <a:rPr lang="en-US" sz="1400" dirty="0">
                <a:solidFill>
                  <a:srgbClr val="FCA311"/>
                </a:solidFill>
                <a:latin typeface="Courier New" pitchFamily="34" charset="0"/>
                <a:ea typeface="Courier New" pitchFamily="34" charset="-122"/>
                <a:cs typeface="Courier New" pitchFamily="34" charset="-120"/>
              </a:rPr>
              <a:t>&gt; </a:t>
            </a:r>
            <a:pPr indent="0" marL="0">
              <a:spcAft>
                <a:spcPts val="500"/>
              </a:spcAft>
              <a:buNone/>
            </a:pPr>
            <a:r>
              <a:rPr lang="en-US" sz="1400" dirty="0">
                <a:solidFill>
                  <a:srgbClr val="E6EDF7"/>
                </a:solidFill>
                <a:latin typeface="Courier New" pitchFamily="34" charset="0"/>
                <a:ea typeface="Courier New" pitchFamily="34" charset="-122"/>
                <a:cs typeface="Courier New" pitchFamily="34" charset="-120"/>
              </a:rPr>
              <a:t>_</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WEEK 9 · LEARNING OBJECTIVES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By the End of Today You Can …</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9</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a:t>
            </a:r>
            <a:endParaRPr lang="en-US" sz="1000" dirty="0"/>
          </a:p>
        </p:txBody>
      </p:sp>
      <p:sp>
        <p:nvSpPr>
          <p:cNvPr id="7" name="Shape 4"/>
          <p:cNvSpPr/>
          <p:nvPr/>
        </p:nvSpPr>
        <p:spPr>
          <a:xfrm>
            <a:off x="548640" y="1600200"/>
            <a:ext cx="3566160" cy="2103120"/>
          </a:xfrm>
          <a:prstGeom prst="roundRect">
            <a:avLst>
              <a:gd name="adj" fmla="val 5217"/>
            </a:avLst>
          </a:prstGeom>
          <a:solidFill>
            <a:srgbClr val="EEF1F6"/>
          </a:solidFill>
          <a:ln w="12700">
            <a:solidFill>
              <a:srgbClr val="EEF1F6"/>
            </a:solidFill>
            <a:prstDash val="solid"/>
          </a:ln>
        </p:spPr>
      </p:sp>
      <p:sp>
        <p:nvSpPr>
          <p:cNvPr id="8" name="Shape 5"/>
          <p:cNvSpPr/>
          <p:nvPr/>
        </p:nvSpPr>
        <p:spPr>
          <a:xfrm>
            <a:off x="777240" y="1828800"/>
            <a:ext cx="566928" cy="566928"/>
          </a:xfrm>
          <a:prstGeom prst="ellipse">
            <a:avLst/>
          </a:prstGeom>
          <a:solidFill>
            <a:srgbClr val="14213D"/>
          </a:solidFill>
          <a:ln w="12700">
            <a:solidFill>
              <a:srgbClr val="14213D"/>
            </a:solidFill>
            <a:prstDash val="solid"/>
          </a:ln>
        </p:spPr>
      </p:sp>
      <p:pic>
        <p:nvPicPr>
          <p:cNvPr id="9" name="Image 0" descr="preencoded.png">    </p:cNvPr>
          <p:cNvPicPr>
            <a:picLocks noChangeAspect="1"/>
          </p:cNvPicPr>
          <p:nvPr/>
        </p:nvPicPr>
        <p:blipFill>
          <a:blip r:embed="rId1"/>
          <a:stretch>
            <a:fillRect/>
          </a:stretch>
        </p:blipFill>
        <p:spPr>
          <a:xfrm>
            <a:off x="924641" y="1976201"/>
            <a:ext cx="272125" cy="272125"/>
          </a:xfrm>
          <a:prstGeom prst="rect">
            <a:avLst/>
          </a:prstGeom>
        </p:spPr>
      </p:pic>
      <p:sp>
        <p:nvSpPr>
          <p:cNvPr id="10" name="Text 6"/>
          <p:cNvSpPr txBox="1"/>
          <p:nvPr/>
        </p:nvSpPr>
        <p:spPr>
          <a:xfrm>
            <a:off x="1463040" y="1828800"/>
            <a:ext cx="246888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Explain why</a:t>
            </a:r>
            <a:endParaRPr lang="en-US" sz="1700" dirty="0"/>
          </a:p>
        </p:txBody>
      </p:sp>
      <p:sp>
        <p:nvSpPr>
          <p:cNvPr id="11" name="Text 7"/>
          <p:cNvSpPr txBox="1"/>
          <p:nvPr/>
        </p:nvSpPr>
        <p:spPr>
          <a:xfrm>
            <a:off x="777240" y="2514600"/>
            <a:ext cx="3108960" cy="1051560"/>
          </a:xfrm>
          <a:prstGeom prst="rect">
            <a:avLst/>
          </a:prstGeom>
          <a:noFill/>
          <a:ln/>
        </p:spPr>
        <p:txBody>
          <a:bodyPr wrap="square" lIns="0" tIns="0" rIns="0" bIns="0" rtlCol="0" anchor="t"/>
          <a:lstStyle/>
          <a:p>
            <a:pPr indent="0" marL="0">
              <a:buNone/>
            </a:pPr>
            <a:r>
              <a:rPr lang="en-US" sz="1500" dirty="0">
                <a:solidFill>
                  <a:srgbClr val="333B4F"/>
                </a:solidFill>
                <a:latin typeface="Calibri" pitchFamily="34" charset="0"/>
                <a:ea typeface="Calibri" pitchFamily="34" charset="-122"/>
                <a:cs typeface="Calibri" pitchFamily="34" charset="-120"/>
              </a:rPr>
              <a:t>Say why an array beats ten separate variables, and when you need one.</a:t>
            </a:r>
            <a:endParaRPr lang="en-US" sz="1500" dirty="0"/>
          </a:p>
        </p:txBody>
      </p:sp>
      <p:sp>
        <p:nvSpPr>
          <p:cNvPr id="12" name="Shape 8"/>
          <p:cNvSpPr/>
          <p:nvPr/>
        </p:nvSpPr>
        <p:spPr>
          <a:xfrm>
            <a:off x="4297680" y="1600200"/>
            <a:ext cx="3566160" cy="2103120"/>
          </a:xfrm>
          <a:prstGeom prst="roundRect">
            <a:avLst>
              <a:gd name="adj" fmla="val 5217"/>
            </a:avLst>
          </a:prstGeom>
          <a:solidFill>
            <a:srgbClr val="EEF1F6"/>
          </a:solidFill>
          <a:ln w="12700">
            <a:solidFill>
              <a:srgbClr val="EEF1F6"/>
            </a:solidFill>
            <a:prstDash val="solid"/>
          </a:ln>
        </p:spPr>
      </p:sp>
      <p:sp>
        <p:nvSpPr>
          <p:cNvPr id="13" name="Shape 9"/>
          <p:cNvSpPr/>
          <p:nvPr/>
        </p:nvSpPr>
        <p:spPr>
          <a:xfrm>
            <a:off x="4526280" y="1828800"/>
            <a:ext cx="566928" cy="566928"/>
          </a:xfrm>
          <a:prstGeom prst="ellipse">
            <a:avLst/>
          </a:prstGeom>
          <a:solidFill>
            <a:srgbClr val="14213D"/>
          </a:solidFill>
          <a:ln w="12700">
            <a:solidFill>
              <a:srgbClr val="14213D"/>
            </a:solidFill>
            <a:prstDash val="solid"/>
          </a:ln>
        </p:spPr>
      </p:sp>
      <p:pic>
        <p:nvPicPr>
          <p:cNvPr id="14" name="Image 1" descr="preencoded.png">    </p:cNvPr>
          <p:cNvPicPr>
            <a:picLocks noChangeAspect="1"/>
          </p:cNvPicPr>
          <p:nvPr/>
        </p:nvPicPr>
        <p:blipFill>
          <a:blip r:embed="rId2"/>
          <a:stretch>
            <a:fillRect/>
          </a:stretch>
        </p:blipFill>
        <p:spPr>
          <a:xfrm>
            <a:off x="4673681" y="1976201"/>
            <a:ext cx="272125" cy="272125"/>
          </a:xfrm>
          <a:prstGeom prst="rect">
            <a:avLst/>
          </a:prstGeom>
        </p:spPr>
      </p:pic>
      <p:sp>
        <p:nvSpPr>
          <p:cNvPr id="15" name="Text 10"/>
          <p:cNvSpPr txBox="1"/>
          <p:nvPr/>
        </p:nvSpPr>
        <p:spPr>
          <a:xfrm>
            <a:off x="5212080" y="1828800"/>
            <a:ext cx="246888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Draw the boxes</a:t>
            </a:r>
            <a:endParaRPr lang="en-US" sz="1700" dirty="0"/>
          </a:p>
        </p:txBody>
      </p:sp>
      <p:sp>
        <p:nvSpPr>
          <p:cNvPr id="16" name="Text 11"/>
          <p:cNvSpPr txBox="1"/>
          <p:nvPr/>
        </p:nvSpPr>
        <p:spPr>
          <a:xfrm>
            <a:off x="4526280" y="2514600"/>
            <a:ext cx="3108960" cy="1051560"/>
          </a:xfrm>
          <a:prstGeom prst="rect">
            <a:avLst/>
          </a:prstGeom>
          <a:noFill/>
          <a:ln/>
        </p:spPr>
        <p:txBody>
          <a:bodyPr wrap="square" lIns="0" tIns="0" rIns="0" bIns="0" rtlCol="0" anchor="t"/>
          <a:lstStyle/>
          <a:p>
            <a:pPr indent="0" marL="0">
              <a:buNone/>
            </a:pPr>
            <a:r>
              <a:rPr lang="en-US" sz="1500" dirty="0">
                <a:solidFill>
                  <a:srgbClr val="333B4F"/>
                </a:solidFill>
                <a:latin typeface="Calibri" pitchFamily="34" charset="0"/>
                <a:ea typeface="Calibri" pitchFamily="34" charset="-122"/>
                <a:cs typeface="Calibri" pitchFamily="34" charset="-120"/>
              </a:rPr>
              <a:t>Draw an array as numbered boxes: index from 0, last index Length − 1.</a:t>
            </a:r>
            <a:endParaRPr lang="en-US" sz="1500" dirty="0"/>
          </a:p>
        </p:txBody>
      </p:sp>
      <p:sp>
        <p:nvSpPr>
          <p:cNvPr id="17" name="Shape 12"/>
          <p:cNvSpPr/>
          <p:nvPr/>
        </p:nvSpPr>
        <p:spPr>
          <a:xfrm>
            <a:off x="8046720" y="1600200"/>
            <a:ext cx="3566160" cy="2103120"/>
          </a:xfrm>
          <a:prstGeom prst="roundRect">
            <a:avLst>
              <a:gd name="adj" fmla="val 5217"/>
            </a:avLst>
          </a:prstGeom>
          <a:solidFill>
            <a:srgbClr val="EEF1F6"/>
          </a:solidFill>
          <a:ln w="12700">
            <a:solidFill>
              <a:srgbClr val="EEF1F6"/>
            </a:solidFill>
            <a:prstDash val="solid"/>
          </a:ln>
        </p:spPr>
      </p:sp>
      <p:sp>
        <p:nvSpPr>
          <p:cNvPr id="18" name="Shape 13"/>
          <p:cNvSpPr/>
          <p:nvPr/>
        </p:nvSpPr>
        <p:spPr>
          <a:xfrm>
            <a:off x="8275320" y="1828800"/>
            <a:ext cx="566928" cy="566928"/>
          </a:xfrm>
          <a:prstGeom prst="ellipse">
            <a:avLst/>
          </a:prstGeom>
          <a:solidFill>
            <a:srgbClr val="14213D"/>
          </a:solidFill>
          <a:ln w="12700">
            <a:solidFill>
              <a:srgbClr val="14213D"/>
            </a:solidFill>
            <a:prstDash val="solid"/>
          </a:ln>
        </p:spPr>
      </p:sp>
      <p:pic>
        <p:nvPicPr>
          <p:cNvPr id="19" name="Image 2" descr="preencoded.png">    </p:cNvPr>
          <p:cNvPicPr>
            <a:picLocks noChangeAspect="1"/>
          </p:cNvPicPr>
          <p:nvPr/>
        </p:nvPicPr>
        <p:blipFill>
          <a:blip r:embed="rId3"/>
          <a:stretch>
            <a:fillRect/>
          </a:stretch>
        </p:blipFill>
        <p:spPr>
          <a:xfrm>
            <a:off x="8422721" y="1976201"/>
            <a:ext cx="272125" cy="272125"/>
          </a:xfrm>
          <a:prstGeom prst="rect">
            <a:avLst/>
          </a:prstGeom>
        </p:spPr>
      </p:pic>
      <p:sp>
        <p:nvSpPr>
          <p:cNvPr id="20" name="Text 14"/>
          <p:cNvSpPr txBox="1"/>
          <p:nvPr/>
        </p:nvSpPr>
        <p:spPr>
          <a:xfrm>
            <a:off x="8961120" y="1828800"/>
            <a:ext cx="246888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Declare &amp; create</a:t>
            </a:r>
            <a:endParaRPr lang="en-US" sz="1700" dirty="0"/>
          </a:p>
        </p:txBody>
      </p:sp>
      <p:sp>
        <p:nvSpPr>
          <p:cNvPr id="21" name="Text 15"/>
          <p:cNvSpPr txBox="1"/>
          <p:nvPr/>
        </p:nvSpPr>
        <p:spPr>
          <a:xfrm>
            <a:off x="8275320" y="2514600"/>
            <a:ext cx="3108960" cy="1051560"/>
          </a:xfrm>
          <a:prstGeom prst="rect">
            <a:avLst/>
          </a:prstGeom>
          <a:noFill/>
          <a:ln/>
        </p:spPr>
        <p:txBody>
          <a:bodyPr wrap="square" lIns="0" tIns="0" rIns="0" bIns="0" rtlCol="0" anchor="t"/>
          <a:lstStyle/>
          <a:p>
            <a:pPr indent="0" marL="0">
              <a:buNone/>
            </a:pPr>
            <a:r>
              <a:rPr lang="en-US" sz="1500" dirty="0">
                <a:solidFill>
                  <a:srgbClr val="333B4F"/>
                </a:solidFill>
                <a:latin typeface="Calibri" pitchFamily="34" charset="0"/>
                <a:ea typeface="Calibri" pitchFamily="34" charset="-122"/>
                <a:cs typeface="Calibri" pitchFamily="34" charset="-120"/>
              </a:rPr>
              <a:t>Write new int[n] and initializer lists; know the default values.</a:t>
            </a:r>
            <a:endParaRPr lang="en-US" sz="1500" dirty="0"/>
          </a:p>
        </p:txBody>
      </p:sp>
      <p:sp>
        <p:nvSpPr>
          <p:cNvPr id="22" name="Shape 16"/>
          <p:cNvSpPr/>
          <p:nvPr/>
        </p:nvSpPr>
        <p:spPr>
          <a:xfrm>
            <a:off x="548640" y="3886200"/>
            <a:ext cx="3566160" cy="2103120"/>
          </a:xfrm>
          <a:prstGeom prst="roundRect">
            <a:avLst>
              <a:gd name="adj" fmla="val 5217"/>
            </a:avLst>
          </a:prstGeom>
          <a:solidFill>
            <a:srgbClr val="EEF1F6"/>
          </a:solidFill>
          <a:ln w="12700">
            <a:solidFill>
              <a:srgbClr val="EEF1F6"/>
            </a:solidFill>
            <a:prstDash val="solid"/>
          </a:ln>
        </p:spPr>
      </p:sp>
      <p:sp>
        <p:nvSpPr>
          <p:cNvPr id="23" name="Shape 17"/>
          <p:cNvSpPr/>
          <p:nvPr/>
        </p:nvSpPr>
        <p:spPr>
          <a:xfrm>
            <a:off x="777240" y="4114800"/>
            <a:ext cx="566928" cy="566928"/>
          </a:xfrm>
          <a:prstGeom prst="ellipse">
            <a:avLst/>
          </a:prstGeom>
          <a:solidFill>
            <a:srgbClr val="14213D"/>
          </a:solidFill>
          <a:ln w="12700">
            <a:solidFill>
              <a:srgbClr val="14213D"/>
            </a:solidFill>
            <a:prstDash val="solid"/>
          </a:ln>
        </p:spPr>
      </p:sp>
      <p:pic>
        <p:nvPicPr>
          <p:cNvPr id="24" name="Image 3" descr="preencoded.png">    </p:cNvPr>
          <p:cNvPicPr>
            <a:picLocks noChangeAspect="1"/>
          </p:cNvPicPr>
          <p:nvPr/>
        </p:nvPicPr>
        <p:blipFill>
          <a:blip r:embed="rId4"/>
          <a:stretch>
            <a:fillRect/>
          </a:stretch>
        </p:blipFill>
        <p:spPr>
          <a:xfrm>
            <a:off x="924641" y="4262201"/>
            <a:ext cx="272125" cy="272125"/>
          </a:xfrm>
          <a:prstGeom prst="rect">
            <a:avLst/>
          </a:prstGeom>
        </p:spPr>
      </p:pic>
      <p:sp>
        <p:nvSpPr>
          <p:cNvPr id="25" name="Text 18"/>
          <p:cNvSpPr txBox="1"/>
          <p:nvPr/>
        </p:nvSpPr>
        <p:spPr>
          <a:xfrm>
            <a:off x="1463040" y="4114800"/>
            <a:ext cx="246888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Access elements</a:t>
            </a:r>
            <a:endParaRPr lang="en-US" sz="1700" dirty="0"/>
          </a:p>
        </p:txBody>
      </p:sp>
      <p:sp>
        <p:nvSpPr>
          <p:cNvPr id="26" name="Text 19"/>
          <p:cNvSpPr txBox="1"/>
          <p:nvPr/>
        </p:nvSpPr>
        <p:spPr>
          <a:xfrm>
            <a:off x="777240" y="4800600"/>
            <a:ext cx="3108960" cy="1051560"/>
          </a:xfrm>
          <a:prstGeom prst="rect">
            <a:avLst/>
          </a:prstGeom>
          <a:noFill/>
          <a:ln/>
        </p:spPr>
        <p:txBody>
          <a:bodyPr wrap="square" lIns="0" tIns="0" rIns="0" bIns="0" rtlCol="0" anchor="t"/>
          <a:lstStyle/>
          <a:p>
            <a:pPr indent="0" marL="0">
              <a:buNone/>
            </a:pPr>
            <a:r>
              <a:rPr lang="en-US" sz="1500" dirty="0">
                <a:solidFill>
                  <a:srgbClr val="333B4F"/>
                </a:solidFill>
                <a:latin typeface="Calibri" pitchFamily="34" charset="0"/>
                <a:ea typeface="Calibri" pitchFamily="34" charset="-122"/>
                <a:cs typeface="Calibri" pitchFamily="34" charset="-120"/>
              </a:rPr>
              <a:t>Read and change a[i]; avoid IndexOutOfRangeException.</a:t>
            </a:r>
            <a:endParaRPr lang="en-US" sz="1500" dirty="0"/>
          </a:p>
        </p:txBody>
      </p:sp>
      <p:sp>
        <p:nvSpPr>
          <p:cNvPr id="27" name="Shape 20"/>
          <p:cNvSpPr/>
          <p:nvPr/>
        </p:nvSpPr>
        <p:spPr>
          <a:xfrm>
            <a:off x="4297680" y="3886200"/>
            <a:ext cx="3566160" cy="2103120"/>
          </a:xfrm>
          <a:prstGeom prst="roundRect">
            <a:avLst>
              <a:gd name="adj" fmla="val 5217"/>
            </a:avLst>
          </a:prstGeom>
          <a:solidFill>
            <a:srgbClr val="EEF1F6"/>
          </a:solidFill>
          <a:ln w="12700">
            <a:solidFill>
              <a:srgbClr val="EEF1F6"/>
            </a:solidFill>
            <a:prstDash val="solid"/>
          </a:ln>
        </p:spPr>
      </p:sp>
      <p:sp>
        <p:nvSpPr>
          <p:cNvPr id="28" name="Shape 21"/>
          <p:cNvSpPr/>
          <p:nvPr/>
        </p:nvSpPr>
        <p:spPr>
          <a:xfrm>
            <a:off x="4526280" y="4114800"/>
            <a:ext cx="566928" cy="566928"/>
          </a:xfrm>
          <a:prstGeom prst="ellipse">
            <a:avLst/>
          </a:prstGeom>
          <a:solidFill>
            <a:srgbClr val="14213D"/>
          </a:solidFill>
          <a:ln w="12700">
            <a:solidFill>
              <a:srgbClr val="14213D"/>
            </a:solidFill>
            <a:prstDash val="solid"/>
          </a:ln>
        </p:spPr>
      </p:sp>
      <p:pic>
        <p:nvPicPr>
          <p:cNvPr id="29" name="Image 4" descr="preencoded.png">    </p:cNvPr>
          <p:cNvPicPr>
            <a:picLocks noChangeAspect="1"/>
          </p:cNvPicPr>
          <p:nvPr/>
        </p:nvPicPr>
        <p:blipFill>
          <a:blip r:embed="rId5"/>
          <a:stretch>
            <a:fillRect/>
          </a:stretch>
        </p:blipFill>
        <p:spPr>
          <a:xfrm>
            <a:off x="4673681" y="4262201"/>
            <a:ext cx="272125" cy="272125"/>
          </a:xfrm>
          <a:prstGeom prst="rect">
            <a:avLst/>
          </a:prstGeom>
        </p:spPr>
      </p:pic>
      <p:sp>
        <p:nvSpPr>
          <p:cNvPr id="30" name="Text 22"/>
          <p:cNvSpPr txBox="1"/>
          <p:nvPr/>
        </p:nvSpPr>
        <p:spPr>
          <a:xfrm>
            <a:off x="5212080" y="4114800"/>
            <a:ext cx="246888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Traverse</a:t>
            </a:r>
            <a:endParaRPr lang="en-US" sz="1700" dirty="0"/>
          </a:p>
        </p:txBody>
      </p:sp>
      <p:sp>
        <p:nvSpPr>
          <p:cNvPr id="31" name="Text 23"/>
          <p:cNvSpPr txBox="1"/>
          <p:nvPr/>
        </p:nvSpPr>
        <p:spPr>
          <a:xfrm>
            <a:off x="4526280" y="4800600"/>
            <a:ext cx="3108960" cy="1051560"/>
          </a:xfrm>
          <a:prstGeom prst="rect">
            <a:avLst/>
          </a:prstGeom>
          <a:noFill/>
          <a:ln/>
        </p:spPr>
        <p:txBody>
          <a:bodyPr wrap="square" lIns="0" tIns="0" rIns="0" bIns="0" rtlCol="0" anchor="t"/>
          <a:lstStyle/>
          <a:p>
            <a:pPr indent="0" marL="0">
              <a:buNone/>
            </a:pPr>
            <a:r>
              <a:rPr lang="en-US" sz="1500" dirty="0">
                <a:solidFill>
                  <a:srgbClr val="333B4F"/>
                </a:solidFill>
                <a:latin typeface="Calibri" pitchFamily="34" charset="0"/>
                <a:ea typeface="Calibri" pitchFamily="34" charset="-122"/>
                <a:cs typeface="Calibri" pitchFamily="34" charset="-120"/>
              </a:rPr>
              <a:t>Process every element with for and foreach; read N values; print an array.</a:t>
            </a:r>
            <a:endParaRPr lang="en-US" sz="1500" dirty="0"/>
          </a:p>
        </p:txBody>
      </p:sp>
      <p:sp>
        <p:nvSpPr>
          <p:cNvPr id="32" name="Shape 24"/>
          <p:cNvSpPr/>
          <p:nvPr/>
        </p:nvSpPr>
        <p:spPr>
          <a:xfrm>
            <a:off x="8046720" y="3886200"/>
            <a:ext cx="3566160" cy="2103120"/>
          </a:xfrm>
          <a:prstGeom prst="roundRect">
            <a:avLst>
              <a:gd name="adj" fmla="val 5217"/>
            </a:avLst>
          </a:prstGeom>
          <a:solidFill>
            <a:srgbClr val="EEF1F6"/>
          </a:solidFill>
          <a:ln w="12700">
            <a:solidFill>
              <a:srgbClr val="EEF1F6"/>
            </a:solidFill>
            <a:prstDash val="solid"/>
          </a:ln>
        </p:spPr>
      </p:sp>
      <p:sp>
        <p:nvSpPr>
          <p:cNvPr id="33" name="Shape 25"/>
          <p:cNvSpPr/>
          <p:nvPr/>
        </p:nvSpPr>
        <p:spPr>
          <a:xfrm>
            <a:off x="8275320" y="4114800"/>
            <a:ext cx="566928" cy="566928"/>
          </a:xfrm>
          <a:prstGeom prst="ellipse">
            <a:avLst/>
          </a:prstGeom>
          <a:solidFill>
            <a:srgbClr val="14213D"/>
          </a:solidFill>
          <a:ln w="12700">
            <a:solidFill>
              <a:srgbClr val="14213D"/>
            </a:solidFill>
            <a:prstDash val="solid"/>
          </a:ln>
        </p:spPr>
      </p:sp>
      <p:pic>
        <p:nvPicPr>
          <p:cNvPr id="34" name="Image 5" descr="preencoded.png">    </p:cNvPr>
          <p:cNvPicPr>
            <a:picLocks noChangeAspect="1"/>
          </p:cNvPicPr>
          <p:nvPr/>
        </p:nvPicPr>
        <p:blipFill>
          <a:blip r:embed="rId6"/>
          <a:stretch>
            <a:fillRect/>
          </a:stretch>
        </p:blipFill>
        <p:spPr>
          <a:xfrm>
            <a:off x="8422721" y="4262201"/>
            <a:ext cx="272125" cy="272125"/>
          </a:xfrm>
          <a:prstGeom prst="rect">
            <a:avLst/>
          </a:prstGeom>
        </p:spPr>
      </p:pic>
      <p:sp>
        <p:nvSpPr>
          <p:cNvPr id="35" name="Text 26"/>
          <p:cNvSpPr txBox="1"/>
          <p:nvPr/>
        </p:nvSpPr>
        <p:spPr>
          <a:xfrm>
            <a:off x="8961120" y="4114800"/>
            <a:ext cx="246888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Copy correctly</a:t>
            </a:r>
            <a:endParaRPr lang="en-US" sz="1700" dirty="0"/>
          </a:p>
        </p:txBody>
      </p:sp>
      <p:sp>
        <p:nvSpPr>
          <p:cNvPr id="36" name="Text 27"/>
          <p:cNvSpPr txBox="1"/>
          <p:nvPr/>
        </p:nvSpPr>
        <p:spPr>
          <a:xfrm>
            <a:off x="8275320" y="4800600"/>
            <a:ext cx="3108960" cy="1051560"/>
          </a:xfrm>
          <a:prstGeom prst="rect">
            <a:avLst/>
          </a:prstGeom>
          <a:noFill/>
          <a:ln/>
        </p:spPr>
        <p:txBody>
          <a:bodyPr wrap="square" lIns="0" tIns="0" rIns="0" bIns="0" rtlCol="0" anchor="t"/>
          <a:lstStyle/>
          <a:p>
            <a:pPr indent="0" marL="0">
              <a:buNone/>
            </a:pPr>
            <a:r>
              <a:rPr lang="en-US" sz="1500" dirty="0">
                <a:solidFill>
                  <a:srgbClr val="333B4F"/>
                </a:solidFill>
                <a:latin typeface="Calibri" pitchFamily="34" charset="0"/>
                <a:ea typeface="Calibri" pitchFamily="34" charset="-122"/>
                <a:cs typeface="Calibri" pitchFamily="34" charset="-120"/>
              </a:rPr>
              <a:t>Tell a second name (b = a) from a real copy (Clone or a loop).</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RECAP · WEEKS 6–8 → WEEK 9</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A Question Our Loops Cannot Answer Yet</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9</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a:t>
            </a:r>
            <a:endParaRPr lang="en-US" sz="1000" dirty="0"/>
          </a:p>
        </p:txBody>
      </p:sp>
      <p:sp>
        <p:nvSpPr>
          <p:cNvPr id="7" name="Text 4"/>
          <p:cNvSpPr txBox="1"/>
          <p:nvPr/>
        </p:nvSpPr>
        <p:spPr>
          <a:xfrm>
            <a:off x="548640" y="1572768"/>
            <a:ext cx="5120640" cy="329184"/>
          </a:xfrm>
          <a:prstGeom prst="rect">
            <a:avLst/>
          </a:prstGeom>
          <a:noFill/>
          <a:ln/>
        </p:spPr>
        <p:txBody>
          <a:bodyPr wrap="square" lIns="0" tIns="0" rIns="0" bIns="0" rtlCol="0" anchor="ctr"/>
          <a:lstStyle/>
          <a:p>
            <a:pPr indent="0" marL="0">
              <a:buNone/>
            </a:pPr>
            <a:r>
              <a:rPr lang="en-US" sz="1600" b="1" dirty="0">
                <a:solidFill>
                  <a:srgbClr val="5B6478"/>
                </a:solidFill>
                <a:latin typeface="Cambria" pitchFamily="34" charset="0"/>
                <a:ea typeface="Cambria" pitchFamily="34" charset="-122"/>
                <a:cs typeface="Cambria" pitchFamily="34" charset="-120"/>
              </a:rPr>
              <a:t>Weeks 6–8: one variable, overwritten</a:t>
            </a:r>
            <a:endParaRPr lang="en-US" sz="1600" dirty="0"/>
          </a:p>
        </p:txBody>
      </p:sp>
      <p:sp>
        <p:nvSpPr>
          <p:cNvPr id="8" name="Shape 5"/>
          <p:cNvSpPr/>
          <p:nvPr/>
        </p:nvSpPr>
        <p:spPr>
          <a:xfrm>
            <a:off x="548640" y="1938528"/>
            <a:ext cx="5120640" cy="2514600"/>
          </a:xfrm>
          <a:prstGeom prst="roundRect">
            <a:avLst>
              <a:gd name="adj" fmla="val 2909"/>
            </a:avLst>
          </a:prstGeom>
          <a:solidFill>
            <a:srgbClr val="F4F6FA"/>
          </a:solidFill>
          <a:ln w="9525">
            <a:solidFill>
              <a:srgbClr val="C9D0DD"/>
            </a:solidFill>
            <a:prstDash val="solid"/>
          </a:ln>
        </p:spPr>
      </p:sp>
      <p:sp>
        <p:nvSpPr>
          <p:cNvPr id="9" name="Text 6"/>
          <p:cNvSpPr txBox="1"/>
          <p:nvPr/>
        </p:nvSpPr>
        <p:spPr>
          <a:xfrm>
            <a:off x="731520" y="2075688"/>
            <a:ext cx="4754880" cy="2286000"/>
          </a:xfrm>
          <a:prstGeom prst="rect">
            <a:avLst/>
          </a:prstGeom>
          <a:noFill/>
          <a:ln/>
        </p:spPr>
        <p:txBody>
          <a:bodyPr wrap="square" lIns="0" tIns="0" rIns="0" bIns="0" rtlCol="0" anchor="t"/>
          <a:lstStyle/>
          <a:p>
            <a:pPr indent="0" marL="0">
              <a:spcAft>
                <a:spcPts val="100"/>
              </a:spcAft>
              <a:buNone/>
            </a:pPr>
            <a:r>
              <a:rPr lang="en-US" sz="1500" dirty="0">
                <a:solidFill>
                  <a:srgbClr val="14213D"/>
                </a:solidFill>
                <a:latin typeface="Courier New" pitchFamily="34" charset="0"/>
                <a:ea typeface="Courier New" pitchFamily="34" charset="-122"/>
                <a:cs typeface="Courier New" pitchFamily="34" charset="-120"/>
              </a:rPr>
              <a:t>sum ← 0</a:t>
            </a:r>
            <a:endParaRPr lang="en-US" sz="1500" dirty="0"/>
          </a:p>
          <a:p>
            <a:pPr indent="0" marL="0">
              <a:spcAft>
                <a:spcPts val="100"/>
              </a:spcAft>
              <a:buNone/>
            </a:pPr>
            <a:r>
              <a:rPr lang="en-US" sz="1500" b="1" dirty="0">
                <a:solidFill>
                  <a:srgbClr val="2F6FB3"/>
                </a:solidFill>
                <a:latin typeface="Courier New" pitchFamily="34" charset="0"/>
                <a:ea typeface="Courier New" pitchFamily="34" charset="-122"/>
                <a:cs typeface="Courier New" pitchFamily="34" charset="-120"/>
              </a:rPr>
              <a:t>FOR</a:t>
            </a:r>
            <a:pPr indent="0" marL="0">
              <a:spcAft>
                <a:spcPts val="100"/>
              </a:spcAft>
              <a:buNone/>
            </a:pPr>
            <a:r>
              <a:rPr lang="en-US" sz="1500" dirty="0">
                <a:solidFill>
                  <a:srgbClr val="14213D"/>
                </a:solidFill>
                <a:latin typeface="Courier New" pitchFamily="34" charset="0"/>
                <a:ea typeface="Courier New" pitchFamily="34" charset="-122"/>
                <a:cs typeface="Courier New" pitchFamily="34" charset="-120"/>
              </a:rPr>
              <a:t> i ← 1 </a:t>
            </a:r>
            <a:pPr indent="0" marL="0">
              <a:spcAft>
                <a:spcPts val="100"/>
              </a:spcAft>
              <a:buNone/>
            </a:pPr>
            <a:r>
              <a:rPr lang="en-US" sz="1500" b="1" dirty="0">
                <a:solidFill>
                  <a:srgbClr val="2F6FB3"/>
                </a:solidFill>
                <a:latin typeface="Courier New" pitchFamily="34" charset="0"/>
                <a:ea typeface="Courier New" pitchFamily="34" charset="-122"/>
                <a:cs typeface="Courier New" pitchFamily="34" charset="-120"/>
              </a:rPr>
              <a:t>TO</a:t>
            </a:r>
            <a:pPr indent="0" marL="0">
              <a:spcAft>
                <a:spcPts val="100"/>
              </a:spcAft>
              <a:buNone/>
            </a:pPr>
            <a:r>
              <a:rPr lang="en-US" sz="1500" dirty="0">
                <a:solidFill>
                  <a:srgbClr val="14213D"/>
                </a:solidFill>
                <a:latin typeface="Courier New" pitchFamily="34" charset="0"/>
                <a:ea typeface="Courier New" pitchFamily="34" charset="-122"/>
                <a:cs typeface="Courier New" pitchFamily="34" charset="-120"/>
              </a:rPr>
              <a:t> n</a:t>
            </a:r>
            <a:endParaRPr lang="en-US" sz="1500" dirty="0"/>
          </a:p>
          <a:p>
            <a:pPr indent="0" marL="0">
              <a:spcAft>
                <a:spcPts val="100"/>
              </a:spcAft>
              <a:buNone/>
            </a:pPr>
            <a:r>
              <a:rPr lang="en-US" sz="15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500" b="1" dirty="0">
                <a:solidFill>
                  <a:srgbClr val="2F6FB3"/>
                </a:solidFill>
                <a:latin typeface="Courier New" pitchFamily="34" charset="0"/>
                <a:ea typeface="Courier New" pitchFamily="34" charset="-122"/>
                <a:cs typeface="Courier New" pitchFamily="34" charset="-120"/>
              </a:rPr>
              <a:t>READ</a:t>
            </a:r>
            <a:pPr indent="0" marL="0">
              <a:spcAft>
                <a:spcPts val="100"/>
              </a:spcAft>
              <a:buNone/>
            </a:pPr>
            <a:r>
              <a:rPr lang="en-US" sz="1500" dirty="0">
                <a:solidFill>
                  <a:srgbClr val="14213D"/>
                </a:solidFill>
                <a:latin typeface="Courier New" pitchFamily="34" charset="0"/>
                <a:ea typeface="Courier New" pitchFamily="34" charset="-122"/>
                <a:cs typeface="Courier New" pitchFamily="34" charset="-120"/>
              </a:rPr>
              <a:t> x            // x is overwritten</a:t>
            </a:r>
            <a:endParaRPr lang="en-US" sz="1500" dirty="0"/>
          </a:p>
          <a:p>
            <a:pPr indent="0" marL="0">
              <a:spcAft>
                <a:spcPts val="100"/>
              </a:spcAft>
              <a:buNone/>
            </a:pPr>
            <a:r>
              <a:rPr lang="en-US" sz="1500" dirty="0">
                <a:solidFill>
                  <a:srgbClr val="14213D"/>
                </a:solidFill>
                <a:latin typeface="Courier New" pitchFamily="34" charset="0"/>
                <a:ea typeface="Courier New" pitchFamily="34" charset="-122"/>
                <a:cs typeface="Courier New" pitchFamily="34" charset="-120"/>
              </a:rPr>
              <a:t>  sum ← sum + x</a:t>
            </a:r>
            <a:endParaRPr lang="en-US" sz="1500" dirty="0"/>
          </a:p>
          <a:p>
            <a:pPr indent="0" marL="0">
              <a:spcAft>
                <a:spcPts val="100"/>
              </a:spcAft>
              <a:buNone/>
            </a:pPr>
            <a:r>
              <a:rPr lang="en-US" sz="1500" b="1" dirty="0">
                <a:solidFill>
                  <a:srgbClr val="2F6FB3"/>
                </a:solidFill>
                <a:latin typeface="Courier New" pitchFamily="34" charset="0"/>
                <a:ea typeface="Courier New" pitchFamily="34" charset="-122"/>
                <a:cs typeface="Courier New" pitchFamily="34" charset="-120"/>
              </a:rPr>
              <a:t>END FOR</a:t>
            </a:r>
            <a:endParaRPr lang="en-US" sz="1500" dirty="0"/>
          </a:p>
          <a:p>
            <a:pPr indent="0" marL="0">
              <a:spcAft>
                <a:spcPts val="100"/>
              </a:spcAft>
              <a:buNone/>
            </a:pPr>
            <a:r>
              <a:rPr lang="en-US" sz="1500" dirty="0">
                <a:solidFill>
                  <a:srgbClr val="14213D"/>
                </a:solidFill>
                <a:latin typeface="Courier New" pitchFamily="34" charset="0"/>
                <a:ea typeface="Courier New" pitchFamily="34" charset="-122"/>
                <a:cs typeface="Courier New" pitchFamily="34" charset="-120"/>
              </a:rPr>
              <a:t>average ← sum / n</a:t>
            </a:r>
            <a:endParaRPr lang="en-US" sz="1500" dirty="0"/>
          </a:p>
          <a:p>
            <a:pPr indent="0" marL="0">
              <a:spcAft>
                <a:spcPts val="100"/>
              </a:spcAft>
              <a:buNone/>
            </a:pPr>
            <a:r>
              <a:rPr lang="en-US" sz="1500" b="1" dirty="0">
                <a:solidFill>
                  <a:srgbClr val="2F6FB3"/>
                </a:solidFill>
                <a:latin typeface="Courier New" pitchFamily="34" charset="0"/>
                <a:ea typeface="Courier New" pitchFamily="34" charset="-122"/>
                <a:cs typeface="Courier New" pitchFamily="34" charset="-120"/>
              </a:rPr>
              <a:t>PRINT</a:t>
            </a:r>
            <a:pPr indent="0" marL="0">
              <a:spcAft>
                <a:spcPts val="100"/>
              </a:spcAft>
              <a:buNone/>
            </a:pPr>
            <a:r>
              <a:rPr lang="en-US" sz="1500" dirty="0">
                <a:solidFill>
                  <a:srgbClr val="14213D"/>
                </a:solidFill>
                <a:latin typeface="Courier New" pitchFamily="34" charset="0"/>
                <a:ea typeface="Courier New" pitchFamily="34" charset="-122"/>
                <a:cs typeface="Courier New" pitchFamily="34" charset="-120"/>
              </a:rPr>
              <a:t> how many x &gt; average ???</a:t>
            </a:r>
            <a:endParaRPr lang="en-US" sz="1500" dirty="0"/>
          </a:p>
        </p:txBody>
      </p:sp>
      <p:sp>
        <p:nvSpPr>
          <p:cNvPr id="10" name="Shape 7"/>
          <p:cNvSpPr/>
          <p:nvPr/>
        </p:nvSpPr>
        <p:spPr>
          <a:xfrm>
            <a:off x="548640" y="4617720"/>
            <a:ext cx="5120640" cy="1463040"/>
          </a:xfrm>
          <a:prstGeom prst="roundRect">
            <a:avLst>
              <a:gd name="adj" fmla="val 7500"/>
            </a:avLst>
          </a:prstGeom>
          <a:solidFill>
            <a:srgbClr val="FBE9E7"/>
          </a:solidFill>
          <a:ln w="12700">
            <a:solidFill>
              <a:srgbClr val="FBE9E7"/>
            </a:solidFill>
            <a:prstDash val="solid"/>
          </a:ln>
        </p:spPr>
      </p:sp>
      <p:pic>
        <p:nvPicPr>
          <p:cNvPr id="11" name="Image 0" descr="preencoded.png">    </p:cNvPr>
          <p:cNvPicPr>
            <a:picLocks noChangeAspect="1"/>
          </p:cNvPicPr>
          <p:nvPr/>
        </p:nvPicPr>
        <p:blipFill>
          <a:blip r:embed="rId1"/>
          <a:stretch>
            <a:fillRect/>
          </a:stretch>
        </p:blipFill>
        <p:spPr>
          <a:xfrm>
            <a:off x="822960" y="5074920"/>
            <a:ext cx="548640" cy="548640"/>
          </a:xfrm>
          <a:prstGeom prst="rect">
            <a:avLst/>
          </a:prstGeom>
        </p:spPr>
      </p:pic>
      <p:sp>
        <p:nvSpPr>
          <p:cNvPr id="12" name="Text 8"/>
          <p:cNvSpPr txBox="1"/>
          <p:nvPr/>
        </p:nvSpPr>
        <p:spPr>
          <a:xfrm>
            <a:off x="1645920" y="4690872"/>
            <a:ext cx="3749040" cy="1316736"/>
          </a:xfrm>
          <a:prstGeom prst="rect">
            <a:avLst/>
          </a:prstGeom>
          <a:noFill/>
          <a:ln/>
        </p:spPr>
        <p:txBody>
          <a:bodyPr wrap="square" lIns="0" tIns="0" rIns="0" bIns="0" rtlCol="0" anchor="ctr"/>
          <a:lstStyle/>
          <a:p>
            <a:pPr indent="0" marL="0">
              <a:buNone/>
            </a:pPr>
            <a:r>
              <a:rPr lang="en-US" sz="1500" b="1" dirty="0">
                <a:solidFill>
                  <a:srgbClr val="C8453B"/>
                </a:solidFill>
                <a:latin typeface="Calibri" pitchFamily="34" charset="0"/>
                <a:ea typeface="Calibri" pitchFamily="34" charset="-122"/>
                <a:cs typeface="Calibri" pitchFamily="34" charset="-120"/>
              </a:rPr>
              <a:t>Too late! </a:t>
            </a:r>
            <a:pPr indent="0" marL="0">
              <a:buNone/>
            </a:pPr>
            <a:r>
              <a:rPr lang="en-US" sz="1500" dirty="0">
                <a:solidFill>
                  <a:srgbClr val="333B4F"/>
                </a:solidFill>
                <a:latin typeface="Calibri" pitchFamily="34" charset="0"/>
                <a:ea typeface="Calibri" pitchFamily="34" charset="-122"/>
                <a:cs typeface="Calibri" pitchFamily="34" charset="-120"/>
              </a:rPr>
              <a:t>When the average is known, x holds only the last grade. The other grades are lost.</a:t>
            </a:r>
            <a:endParaRPr lang="en-US" sz="1500" dirty="0"/>
          </a:p>
        </p:txBody>
      </p:sp>
      <p:sp>
        <p:nvSpPr>
          <p:cNvPr id="13" name="Text 9"/>
          <p:cNvSpPr txBox="1"/>
          <p:nvPr/>
        </p:nvSpPr>
        <p:spPr>
          <a:xfrm>
            <a:off x="6126480" y="1572768"/>
            <a:ext cx="5486400" cy="329184"/>
          </a:xfrm>
          <a:prstGeom prst="rect">
            <a:avLst/>
          </a:prstGeom>
          <a:noFill/>
          <a:ln/>
        </p:spPr>
        <p:txBody>
          <a:bodyPr wrap="square" lIns="0" tIns="0" rIns="0" bIns="0" rtlCol="0" anchor="ctr"/>
          <a:lstStyle/>
          <a:p>
            <a:pPr indent="0" marL="0">
              <a:buNone/>
            </a:pPr>
            <a:r>
              <a:rPr lang="en-US" sz="1600" b="1" dirty="0">
                <a:solidFill>
                  <a:srgbClr val="B7791F"/>
                </a:solidFill>
                <a:latin typeface="Cambria" pitchFamily="34" charset="0"/>
                <a:ea typeface="Cambria" pitchFamily="34" charset="-122"/>
                <a:cs typeface="Cambria" pitchFamily="34" charset="-120"/>
              </a:rPr>
              <a:t>Week 9: keep every value in an array</a:t>
            </a:r>
            <a:endParaRPr lang="en-US" sz="1600" dirty="0"/>
          </a:p>
        </p:txBody>
      </p:sp>
      <p:sp>
        <p:nvSpPr>
          <p:cNvPr id="14" name="Shape 10"/>
          <p:cNvSpPr/>
          <p:nvPr/>
        </p:nvSpPr>
        <p:spPr>
          <a:xfrm>
            <a:off x="6126480" y="1938528"/>
            <a:ext cx="5532120" cy="2514600"/>
          </a:xfrm>
          <a:prstGeom prst="roundRect">
            <a:avLst>
              <a:gd name="adj" fmla="val 4364"/>
            </a:avLst>
          </a:prstGeom>
          <a:solidFill>
            <a:srgbClr val="EEF1F6"/>
          </a:solidFill>
          <a:ln w="12700">
            <a:solidFill>
              <a:srgbClr val="EEF1F6"/>
            </a:solidFill>
            <a:prstDash val="solid"/>
          </a:ln>
        </p:spPr>
      </p:sp>
      <p:sp>
        <p:nvSpPr>
          <p:cNvPr id="15" name="Shape 11"/>
          <p:cNvSpPr/>
          <p:nvPr/>
        </p:nvSpPr>
        <p:spPr>
          <a:xfrm>
            <a:off x="7178040" y="2514600"/>
            <a:ext cx="868680" cy="640080"/>
          </a:xfrm>
          <a:prstGeom prst="rect">
            <a:avLst/>
          </a:prstGeom>
          <a:solidFill>
            <a:srgbClr val="FFFFFF"/>
          </a:solidFill>
          <a:ln w="15875">
            <a:solidFill>
              <a:srgbClr val="14213D"/>
            </a:solidFill>
            <a:prstDash val="solid"/>
          </a:ln>
        </p:spPr>
      </p:sp>
      <p:sp>
        <p:nvSpPr>
          <p:cNvPr id="16" name="Text 12"/>
          <p:cNvSpPr txBox="1"/>
          <p:nvPr/>
        </p:nvSpPr>
        <p:spPr>
          <a:xfrm>
            <a:off x="7178040" y="2514600"/>
            <a:ext cx="868680" cy="640080"/>
          </a:xfrm>
          <a:prstGeom prst="rect">
            <a:avLst/>
          </a:prstGeom>
          <a:noFill/>
          <a:ln/>
        </p:spPr>
        <p:txBody>
          <a:bodyPr wrap="square" lIns="0" tIns="0" rIns="0" bIns="0" rtlCol="0" anchor="ctr"/>
          <a:lstStyle/>
          <a:p>
            <a:pPr algn="ctr" indent="0" marL="0">
              <a:buNone/>
            </a:pPr>
            <a:r>
              <a:rPr lang="en-US" sz="1700" b="1" dirty="0">
                <a:solidFill>
                  <a:srgbClr val="14213D"/>
                </a:solidFill>
                <a:latin typeface="Courier New" pitchFamily="34" charset="0"/>
                <a:ea typeface="Courier New" pitchFamily="34" charset="-122"/>
                <a:cs typeface="Courier New" pitchFamily="34" charset="-120"/>
              </a:rPr>
              <a:t>72</a:t>
            </a:r>
            <a:endParaRPr lang="en-US" sz="1700" dirty="0"/>
          </a:p>
        </p:txBody>
      </p:sp>
      <p:sp>
        <p:nvSpPr>
          <p:cNvPr id="17" name="Text 13"/>
          <p:cNvSpPr txBox="1"/>
          <p:nvPr/>
        </p:nvSpPr>
        <p:spPr>
          <a:xfrm>
            <a:off x="7178040" y="3182112"/>
            <a:ext cx="868680" cy="274320"/>
          </a:xfrm>
          <a:prstGeom prst="rect">
            <a:avLst/>
          </a:prstGeom>
          <a:noFill/>
          <a:ln/>
        </p:spPr>
        <p:txBody>
          <a:bodyPr wrap="square" lIns="0" tIns="0" rIns="0" bIns="0" rtlCol="0" anchor="ctr"/>
          <a:lstStyle/>
          <a:p>
            <a:pPr algn="ctr" indent="0" marL="0">
              <a:buNone/>
            </a:pPr>
            <a:r>
              <a:rPr lang="en-US" sz="1300" dirty="0">
                <a:solidFill>
                  <a:srgbClr val="5B6478"/>
                </a:solidFill>
                <a:latin typeface="Courier New" pitchFamily="34" charset="0"/>
                <a:ea typeface="Courier New" pitchFamily="34" charset="-122"/>
                <a:cs typeface="Courier New" pitchFamily="34" charset="-120"/>
              </a:rPr>
              <a:t>[0]</a:t>
            </a:r>
            <a:endParaRPr lang="en-US" sz="1300" dirty="0"/>
          </a:p>
        </p:txBody>
      </p:sp>
      <p:sp>
        <p:nvSpPr>
          <p:cNvPr id="18" name="Shape 14"/>
          <p:cNvSpPr/>
          <p:nvPr/>
        </p:nvSpPr>
        <p:spPr>
          <a:xfrm>
            <a:off x="8046720" y="2514600"/>
            <a:ext cx="868680" cy="640080"/>
          </a:xfrm>
          <a:prstGeom prst="rect">
            <a:avLst/>
          </a:prstGeom>
          <a:solidFill>
            <a:srgbClr val="FFFFFF"/>
          </a:solidFill>
          <a:ln w="15875">
            <a:solidFill>
              <a:srgbClr val="14213D"/>
            </a:solidFill>
            <a:prstDash val="solid"/>
          </a:ln>
        </p:spPr>
      </p:sp>
      <p:sp>
        <p:nvSpPr>
          <p:cNvPr id="19" name="Text 15"/>
          <p:cNvSpPr txBox="1"/>
          <p:nvPr/>
        </p:nvSpPr>
        <p:spPr>
          <a:xfrm>
            <a:off x="8046720" y="2514600"/>
            <a:ext cx="868680" cy="640080"/>
          </a:xfrm>
          <a:prstGeom prst="rect">
            <a:avLst/>
          </a:prstGeom>
          <a:noFill/>
          <a:ln/>
        </p:spPr>
        <p:txBody>
          <a:bodyPr wrap="square" lIns="0" tIns="0" rIns="0" bIns="0" rtlCol="0" anchor="ctr"/>
          <a:lstStyle/>
          <a:p>
            <a:pPr algn="ctr" indent="0" marL="0">
              <a:buNone/>
            </a:pPr>
            <a:r>
              <a:rPr lang="en-US" sz="1700" b="1" dirty="0">
                <a:solidFill>
                  <a:srgbClr val="14213D"/>
                </a:solidFill>
                <a:latin typeface="Courier New" pitchFamily="34" charset="0"/>
                <a:ea typeface="Courier New" pitchFamily="34" charset="-122"/>
                <a:cs typeface="Courier New" pitchFamily="34" charset="-120"/>
              </a:rPr>
              <a:t>85.5</a:t>
            </a:r>
            <a:endParaRPr lang="en-US" sz="1700" dirty="0"/>
          </a:p>
        </p:txBody>
      </p:sp>
      <p:sp>
        <p:nvSpPr>
          <p:cNvPr id="20" name="Text 16"/>
          <p:cNvSpPr txBox="1"/>
          <p:nvPr/>
        </p:nvSpPr>
        <p:spPr>
          <a:xfrm>
            <a:off x="8046720" y="3182112"/>
            <a:ext cx="868680" cy="274320"/>
          </a:xfrm>
          <a:prstGeom prst="rect">
            <a:avLst/>
          </a:prstGeom>
          <a:noFill/>
          <a:ln/>
        </p:spPr>
        <p:txBody>
          <a:bodyPr wrap="square" lIns="0" tIns="0" rIns="0" bIns="0" rtlCol="0" anchor="ctr"/>
          <a:lstStyle/>
          <a:p>
            <a:pPr algn="ctr" indent="0" marL="0">
              <a:buNone/>
            </a:pPr>
            <a:r>
              <a:rPr lang="en-US" sz="1300" dirty="0">
                <a:solidFill>
                  <a:srgbClr val="5B6478"/>
                </a:solidFill>
                <a:latin typeface="Courier New" pitchFamily="34" charset="0"/>
                <a:ea typeface="Courier New" pitchFamily="34" charset="-122"/>
                <a:cs typeface="Courier New" pitchFamily="34" charset="-120"/>
              </a:rPr>
              <a:t>[1]</a:t>
            </a:r>
            <a:endParaRPr lang="en-US" sz="1300" dirty="0"/>
          </a:p>
        </p:txBody>
      </p:sp>
      <p:sp>
        <p:nvSpPr>
          <p:cNvPr id="21" name="Shape 17"/>
          <p:cNvSpPr/>
          <p:nvPr/>
        </p:nvSpPr>
        <p:spPr>
          <a:xfrm>
            <a:off x="8915400" y="2514600"/>
            <a:ext cx="868680" cy="640080"/>
          </a:xfrm>
          <a:prstGeom prst="rect">
            <a:avLst/>
          </a:prstGeom>
          <a:solidFill>
            <a:srgbClr val="FFFFFF"/>
          </a:solidFill>
          <a:ln w="15875">
            <a:solidFill>
              <a:srgbClr val="14213D"/>
            </a:solidFill>
            <a:prstDash val="solid"/>
          </a:ln>
        </p:spPr>
      </p:sp>
      <p:sp>
        <p:nvSpPr>
          <p:cNvPr id="22" name="Text 18"/>
          <p:cNvSpPr txBox="1"/>
          <p:nvPr/>
        </p:nvSpPr>
        <p:spPr>
          <a:xfrm>
            <a:off x="8915400" y="2514600"/>
            <a:ext cx="868680" cy="640080"/>
          </a:xfrm>
          <a:prstGeom prst="rect">
            <a:avLst/>
          </a:prstGeom>
          <a:noFill/>
          <a:ln/>
        </p:spPr>
        <p:txBody>
          <a:bodyPr wrap="square" lIns="0" tIns="0" rIns="0" bIns="0" rtlCol="0" anchor="ctr"/>
          <a:lstStyle/>
          <a:p>
            <a:pPr algn="ctr" indent="0" marL="0">
              <a:buNone/>
            </a:pPr>
            <a:r>
              <a:rPr lang="en-US" sz="1700" b="1" dirty="0">
                <a:solidFill>
                  <a:srgbClr val="14213D"/>
                </a:solidFill>
                <a:latin typeface="Courier New" pitchFamily="34" charset="0"/>
                <a:ea typeface="Courier New" pitchFamily="34" charset="-122"/>
                <a:cs typeface="Courier New" pitchFamily="34" charset="-120"/>
              </a:rPr>
              <a:t>40</a:t>
            </a:r>
            <a:endParaRPr lang="en-US" sz="1700" dirty="0"/>
          </a:p>
        </p:txBody>
      </p:sp>
      <p:sp>
        <p:nvSpPr>
          <p:cNvPr id="23" name="Text 19"/>
          <p:cNvSpPr txBox="1"/>
          <p:nvPr/>
        </p:nvSpPr>
        <p:spPr>
          <a:xfrm>
            <a:off x="8915400" y="3182112"/>
            <a:ext cx="868680" cy="274320"/>
          </a:xfrm>
          <a:prstGeom prst="rect">
            <a:avLst/>
          </a:prstGeom>
          <a:noFill/>
          <a:ln/>
        </p:spPr>
        <p:txBody>
          <a:bodyPr wrap="square" lIns="0" tIns="0" rIns="0" bIns="0" rtlCol="0" anchor="ctr"/>
          <a:lstStyle/>
          <a:p>
            <a:pPr algn="ctr" indent="0" marL="0">
              <a:buNone/>
            </a:pPr>
            <a:r>
              <a:rPr lang="en-US" sz="1300" dirty="0">
                <a:solidFill>
                  <a:srgbClr val="5B6478"/>
                </a:solidFill>
                <a:latin typeface="Courier New" pitchFamily="34" charset="0"/>
                <a:ea typeface="Courier New" pitchFamily="34" charset="-122"/>
                <a:cs typeface="Courier New" pitchFamily="34" charset="-120"/>
              </a:rPr>
              <a:t>[2]</a:t>
            </a:r>
            <a:endParaRPr lang="en-US" sz="1300" dirty="0"/>
          </a:p>
        </p:txBody>
      </p:sp>
      <p:sp>
        <p:nvSpPr>
          <p:cNvPr id="24" name="Shape 20"/>
          <p:cNvSpPr/>
          <p:nvPr/>
        </p:nvSpPr>
        <p:spPr>
          <a:xfrm>
            <a:off x="9784080" y="2514600"/>
            <a:ext cx="868680" cy="640080"/>
          </a:xfrm>
          <a:prstGeom prst="rect">
            <a:avLst/>
          </a:prstGeom>
          <a:solidFill>
            <a:srgbClr val="FFFFFF"/>
          </a:solidFill>
          <a:ln w="15875">
            <a:solidFill>
              <a:srgbClr val="14213D"/>
            </a:solidFill>
            <a:prstDash val="solid"/>
          </a:ln>
        </p:spPr>
      </p:sp>
      <p:sp>
        <p:nvSpPr>
          <p:cNvPr id="25" name="Text 21"/>
          <p:cNvSpPr txBox="1"/>
          <p:nvPr/>
        </p:nvSpPr>
        <p:spPr>
          <a:xfrm>
            <a:off x="9784080" y="2514600"/>
            <a:ext cx="868680" cy="640080"/>
          </a:xfrm>
          <a:prstGeom prst="rect">
            <a:avLst/>
          </a:prstGeom>
          <a:noFill/>
          <a:ln/>
        </p:spPr>
        <p:txBody>
          <a:bodyPr wrap="square" lIns="0" tIns="0" rIns="0" bIns="0" rtlCol="0" anchor="ctr"/>
          <a:lstStyle/>
          <a:p>
            <a:pPr algn="ctr" indent="0" marL="0">
              <a:buNone/>
            </a:pPr>
            <a:r>
              <a:rPr lang="en-US" sz="1700" b="1" dirty="0">
                <a:solidFill>
                  <a:srgbClr val="14213D"/>
                </a:solidFill>
                <a:latin typeface="Courier New" pitchFamily="34" charset="0"/>
                <a:ea typeface="Courier New" pitchFamily="34" charset="-122"/>
                <a:cs typeface="Courier New" pitchFamily="34" charset="-120"/>
              </a:rPr>
              <a:t>91</a:t>
            </a:r>
            <a:endParaRPr lang="en-US" sz="1700" dirty="0"/>
          </a:p>
        </p:txBody>
      </p:sp>
      <p:sp>
        <p:nvSpPr>
          <p:cNvPr id="26" name="Text 22"/>
          <p:cNvSpPr txBox="1"/>
          <p:nvPr/>
        </p:nvSpPr>
        <p:spPr>
          <a:xfrm>
            <a:off x="9784080" y="3182112"/>
            <a:ext cx="868680" cy="274320"/>
          </a:xfrm>
          <a:prstGeom prst="rect">
            <a:avLst/>
          </a:prstGeom>
          <a:noFill/>
          <a:ln/>
        </p:spPr>
        <p:txBody>
          <a:bodyPr wrap="square" lIns="0" tIns="0" rIns="0" bIns="0" rtlCol="0" anchor="ctr"/>
          <a:lstStyle/>
          <a:p>
            <a:pPr algn="ctr" indent="0" marL="0">
              <a:buNone/>
            </a:pPr>
            <a:r>
              <a:rPr lang="en-US" sz="1300" dirty="0">
                <a:solidFill>
                  <a:srgbClr val="5B6478"/>
                </a:solidFill>
                <a:latin typeface="Courier New" pitchFamily="34" charset="0"/>
                <a:ea typeface="Courier New" pitchFamily="34" charset="-122"/>
                <a:cs typeface="Courier New" pitchFamily="34" charset="-120"/>
              </a:rPr>
              <a:t>[3]</a:t>
            </a:r>
            <a:endParaRPr lang="en-US" sz="1300" dirty="0"/>
          </a:p>
        </p:txBody>
      </p:sp>
      <p:sp>
        <p:nvSpPr>
          <p:cNvPr id="27" name="Shape 23"/>
          <p:cNvSpPr/>
          <p:nvPr/>
        </p:nvSpPr>
        <p:spPr>
          <a:xfrm>
            <a:off x="10652760" y="2514600"/>
            <a:ext cx="868680" cy="640080"/>
          </a:xfrm>
          <a:prstGeom prst="rect">
            <a:avLst/>
          </a:prstGeom>
          <a:solidFill>
            <a:srgbClr val="FFFFFF"/>
          </a:solidFill>
          <a:ln w="15875">
            <a:solidFill>
              <a:srgbClr val="14213D"/>
            </a:solidFill>
            <a:prstDash val="solid"/>
          </a:ln>
        </p:spPr>
      </p:sp>
      <p:sp>
        <p:nvSpPr>
          <p:cNvPr id="28" name="Text 24"/>
          <p:cNvSpPr txBox="1"/>
          <p:nvPr/>
        </p:nvSpPr>
        <p:spPr>
          <a:xfrm>
            <a:off x="10652760" y="2514600"/>
            <a:ext cx="868680" cy="640080"/>
          </a:xfrm>
          <a:prstGeom prst="rect">
            <a:avLst/>
          </a:prstGeom>
          <a:noFill/>
          <a:ln/>
        </p:spPr>
        <p:txBody>
          <a:bodyPr wrap="square" lIns="0" tIns="0" rIns="0" bIns="0" rtlCol="0" anchor="ctr"/>
          <a:lstStyle/>
          <a:p>
            <a:pPr algn="ctr" indent="0" marL="0">
              <a:buNone/>
            </a:pPr>
            <a:r>
              <a:rPr lang="en-US" sz="1700" b="1" dirty="0">
                <a:solidFill>
                  <a:srgbClr val="14213D"/>
                </a:solidFill>
                <a:latin typeface="Courier New" pitchFamily="34" charset="0"/>
                <a:ea typeface="Courier New" pitchFamily="34" charset="-122"/>
                <a:cs typeface="Courier New" pitchFamily="34" charset="-120"/>
              </a:rPr>
              <a:t>66</a:t>
            </a:r>
            <a:endParaRPr lang="en-US" sz="1700" dirty="0"/>
          </a:p>
        </p:txBody>
      </p:sp>
      <p:sp>
        <p:nvSpPr>
          <p:cNvPr id="29" name="Text 25"/>
          <p:cNvSpPr txBox="1"/>
          <p:nvPr/>
        </p:nvSpPr>
        <p:spPr>
          <a:xfrm>
            <a:off x="10652760" y="3182112"/>
            <a:ext cx="868680" cy="274320"/>
          </a:xfrm>
          <a:prstGeom prst="rect">
            <a:avLst/>
          </a:prstGeom>
          <a:noFill/>
          <a:ln/>
        </p:spPr>
        <p:txBody>
          <a:bodyPr wrap="square" lIns="0" tIns="0" rIns="0" bIns="0" rtlCol="0" anchor="ctr"/>
          <a:lstStyle/>
          <a:p>
            <a:pPr algn="ctr" indent="0" marL="0">
              <a:buNone/>
            </a:pPr>
            <a:r>
              <a:rPr lang="en-US" sz="1300" dirty="0">
                <a:solidFill>
                  <a:srgbClr val="5B6478"/>
                </a:solidFill>
                <a:latin typeface="Courier New" pitchFamily="34" charset="0"/>
                <a:ea typeface="Courier New" pitchFamily="34" charset="-122"/>
                <a:cs typeface="Courier New" pitchFamily="34" charset="-120"/>
              </a:rPr>
              <a:t>[4]</a:t>
            </a:r>
            <a:endParaRPr lang="en-US" sz="1300" dirty="0"/>
          </a:p>
        </p:txBody>
      </p:sp>
      <p:sp>
        <p:nvSpPr>
          <p:cNvPr id="30" name="Text 26"/>
          <p:cNvSpPr txBox="1"/>
          <p:nvPr/>
        </p:nvSpPr>
        <p:spPr>
          <a:xfrm>
            <a:off x="6153912" y="2514600"/>
            <a:ext cx="914400" cy="640080"/>
          </a:xfrm>
          <a:prstGeom prst="rect">
            <a:avLst/>
          </a:prstGeom>
          <a:noFill/>
          <a:ln/>
        </p:spPr>
        <p:txBody>
          <a:bodyPr wrap="square" lIns="0" tIns="0" rIns="0" bIns="0" rtlCol="0" anchor="ctr"/>
          <a:lstStyle/>
          <a:p>
            <a:pPr algn="r" indent="0" marL="0">
              <a:buNone/>
            </a:pPr>
            <a:r>
              <a:rPr lang="en-US" sz="1600" b="1" dirty="0">
                <a:solidFill>
                  <a:srgbClr val="14213D"/>
                </a:solidFill>
                <a:latin typeface="Courier New" pitchFamily="34" charset="0"/>
                <a:ea typeface="Courier New" pitchFamily="34" charset="-122"/>
                <a:cs typeface="Courier New" pitchFamily="34" charset="-120"/>
              </a:rPr>
              <a:t>grades</a:t>
            </a:r>
            <a:endParaRPr lang="en-US" sz="1600" dirty="0"/>
          </a:p>
        </p:txBody>
      </p:sp>
      <p:sp>
        <p:nvSpPr>
          <p:cNvPr id="31" name="Text 27"/>
          <p:cNvSpPr txBox="1"/>
          <p:nvPr/>
        </p:nvSpPr>
        <p:spPr>
          <a:xfrm>
            <a:off x="6355080" y="3611880"/>
            <a:ext cx="5120640" cy="777240"/>
          </a:xfrm>
          <a:prstGeom prst="rect">
            <a:avLst/>
          </a:prstGeom>
          <a:noFill/>
          <a:ln/>
        </p:spPr>
        <p:txBody>
          <a:bodyPr wrap="square" lIns="0" tIns="0" rIns="0" bIns="0" rtlCol="0" anchor="t"/>
          <a:lstStyle/>
          <a:p>
            <a:pPr indent="0" marL="0">
              <a:buNone/>
            </a:pPr>
            <a:r>
              <a:rPr lang="en-US" sz="1500" dirty="0">
                <a:solidFill>
                  <a:srgbClr val="333B4F"/>
                </a:solidFill>
                <a:latin typeface="Calibri" pitchFamily="34" charset="0"/>
                <a:ea typeface="Calibri" pitchFamily="34" charset="-122"/>
                <a:cs typeface="Calibri" pitchFamily="34" charset="-120"/>
              </a:rPr>
              <a:t>Average 70.9 → go through the boxes again: 72, 85.5 and 91 are above it → 3 of 5.</a:t>
            </a:r>
            <a:endParaRPr lang="en-US" sz="1500" dirty="0"/>
          </a:p>
        </p:txBody>
      </p:sp>
      <p:sp>
        <p:nvSpPr>
          <p:cNvPr id="32" name="Shape 28"/>
          <p:cNvSpPr/>
          <p:nvPr/>
        </p:nvSpPr>
        <p:spPr>
          <a:xfrm>
            <a:off x="6126480" y="4617720"/>
            <a:ext cx="5532120" cy="1463040"/>
          </a:xfrm>
          <a:prstGeom prst="roundRect">
            <a:avLst>
              <a:gd name="adj" fmla="val 7500"/>
            </a:avLst>
          </a:prstGeom>
          <a:solidFill>
            <a:srgbClr val="FFF6E3"/>
          </a:solidFill>
          <a:ln w="12700">
            <a:solidFill>
              <a:srgbClr val="FFF6E3"/>
            </a:solidFill>
            <a:prstDash val="solid"/>
          </a:ln>
        </p:spPr>
      </p:sp>
      <p:pic>
        <p:nvPicPr>
          <p:cNvPr id="33" name="Image 1" descr="preencoded.png">    </p:cNvPr>
          <p:cNvPicPr>
            <a:picLocks noChangeAspect="1"/>
          </p:cNvPicPr>
          <p:nvPr/>
        </p:nvPicPr>
        <p:blipFill>
          <a:blip r:embed="rId2"/>
          <a:stretch>
            <a:fillRect/>
          </a:stretch>
        </p:blipFill>
        <p:spPr>
          <a:xfrm>
            <a:off x="6400800" y="5074920"/>
            <a:ext cx="548640" cy="548640"/>
          </a:xfrm>
          <a:prstGeom prst="rect">
            <a:avLst/>
          </a:prstGeom>
        </p:spPr>
      </p:pic>
      <p:sp>
        <p:nvSpPr>
          <p:cNvPr id="34" name="Text 29"/>
          <p:cNvSpPr txBox="1"/>
          <p:nvPr/>
        </p:nvSpPr>
        <p:spPr>
          <a:xfrm>
            <a:off x="7223760" y="4690872"/>
            <a:ext cx="4160520" cy="1316736"/>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Array = </a:t>
            </a:r>
            <a:pPr indent="0" marL="0">
              <a:buNone/>
            </a:pPr>
            <a:r>
              <a:rPr lang="en-US" sz="1500" dirty="0">
                <a:solidFill>
                  <a:srgbClr val="333B4F"/>
                </a:solidFill>
                <a:latin typeface="Calibri" pitchFamily="34" charset="0"/>
                <a:ea typeface="Calibri" pitchFamily="34" charset="-122"/>
                <a:cs typeface="Calibri" pitchFamily="34" charset="-120"/>
              </a:rPr>
              <a:t>many values of the same type under ONE name, each in its own numbered box.</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1463040"/>
            <a:ext cx="2743200" cy="1280160"/>
          </a:xfrm>
          <a:prstGeom prst="rect">
            <a:avLst/>
          </a:prstGeom>
          <a:noFill/>
          <a:ln/>
        </p:spPr>
        <p:txBody>
          <a:bodyPr wrap="square" lIns="0" tIns="0" rIns="0" bIns="0" rtlCol="0" anchor="ctr"/>
          <a:lstStyle/>
          <a:p>
            <a:pPr indent="0" marL="0">
              <a:buNone/>
            </a:pPr>
            <a:r>
              <a:rPr lang="en-US" sz="8800" b="1" dirty="0">
                <a:solidFill>
                  <a:srgbClr val="FCA311"/>
                </a:solidFill>
                <a:latin typeface="Courier New" pitchFamily="34" charset="0"/>
                <a:ea typeface="Courier New" pitchFamily="34" charset="-122"/>
                <a:cs typeface="Courier New" pitchFamily="34" charset="-120"/>
              </a:rPr>
              <a:t>&gt;_</a:t>
            </a:r>
            <a:endParaRPr lang="en-US" sz="8800" dirty="0"/>
          </a:p>
        </p:txBody>
      </p:sp>
      <p:sp>
        <p:nvSpPr>
          <p:cNvPr id="3" name="Text 1"/>
          <p:cNvSpPr txBox="1"/>
          <p:nvPr/>
        </p:nvSpPr>
        <p:spPr>
          <a:xfrm>
            <a:off x="548640" y="2926080"/>
            <a:ext cx="5486400" cy="365760"/>
          </a:xfrm>
          <a:prstGeom prst="rect">
            <a:avLst/>
          </a:prstGeom>
          <a:noFill/>
          <a:ln/>
        </p:spPr>
        <p:txBody>
          <a:bodyPr wrap="square" lIns="0" tIns="0" rIns="0" bIns="0" rtlCol="0" anchor="ctr"/>
          <a:lstStyle/>
          <a:p>
            <a:pPr indent="0" marL="0">
              <a:buNone/>
            </a:pPr>
            <a:r>
              <a:rPr lang="en-US" sz="1600" spc="400" kern="0" dirty="0">
                <a:solidFill>
                  <a:srgbClr val="8A94AB"/>
                </a:solidFill>
                <a:latin typeface="Courier New" pitchFamily="34" charset="0"/>
                <a:ea typeface="Courier New" pitchFamily="34" charset="-122"/>
                <a:cs typeface="Courier New" pitchFamily="34" charset="-120"/>
              </a:rPr>
              <a:t>PART 1</a:t>
            </a:r>
            <a:endParaRPr lang="en-US" sz="1600" dirty="0"/>
          </a:p>
        </p:txBody>
      </p:sp>
      <p:sp>
        <p:nvSpPr>
          <p:cNvPr id="4" name="Text 2"/>
          <p:cNvSpPr txBox="1"/>
          <p:nvPr/>
        </p:nvSpPr>
        <p:spPr>
          <a:xfrm>
            <a:off x="548640" y="3337560"/>
            <a:ext cx="10515600" cy="914400"/>
          </a:xfrm>
          <a:prstGeom prst="rect">
            <a:avLst/>
          </a:prstGeom>
          <a:noFill/>
          <a:ln/>
        </p:spPr>
        <p:txBody>
          <a:bodyPr wrap="square" lIns="0" tIns="0" rIns="0" bIns="0" rtlCol="0" anchor="ctr">
            <a:normAutofit/>
          </a:bodyPr>
          <a:lstStyle/>
          <a:p>
            <a:pPr indent="0" marL="0">
              <a:buNone/>
            </a:pPr>
            <a:r>
              <a:rPr lang="en-US" sz="4200" b="1" dirty="0">
                <a:solidFill>
                  <a:srgbClr val="FFFFFF"/>
                </a:solidFill>
                <a:latin typeface="Cambria" pitchFamily="34" charset="0"/>
                <a:ea typeface="Cambria" pitchFamily="34" charset="-122"/>
                <a:cs typeface="Cambria" pitchFamily="34" charset="-120"/>
              </a:rPr>
              <a:t>Why Arrays? The Memory Model</a:t>
            </a:r>
            <a:endParaRPr lang="en-US" sz="4200" dirty="0"/>
          </a:p>
        </p:txBody>
      </p:sp>
      <p:sp>
        <p:nvSpPr>
          <p:cNvPr id="5" name="Text 3"/>
          <p:cNvSpPr txBox="1"/>
          <p:nvPr/>
        </p:nvSpPr>
        <p:spPr>
          <a:xfrm>
            <a:off x="548640" y="4343400"/>
            <a:ext cx="10515600" cy="548640"/>
          </a:xfrm>
          <a:prstGeom prst="rect">
            <a:avLst/>
          </a:prstGeom>
          <a:noFill/>
          <a:ln/>
        </p:spPr>
        <p:txBody>
          <a:bodyPr wrap="square" lIns="0" tIns="0" rIns="0" bIns="0" rtlCol="0" anchor="ctr"/>
          <a:lstStyle/>
          <a:p>
            <a:pPr indent="0" marL="0">
              <a:buNone/>
            </a:pPr>
            <a:r>
              <a:rPr lang="en-US" sz="1800" dirty="0">
                <a:solidFill>
                  <a:srgbClr val="C7CEDC"/>
                </a:solidFill>
                <a:latin typeface="Calibri" pitchFamily="34" charset="0"/>
                <a:ea typeface="Calibri" pitchFamily="34" charset="-122"/>
                <a:cs typeface="Calibri" pitchFamily="34" charset="-120"/>
              </a:rPr>
              <a:t>One name, many numbered boxes — and why the first box is number 0</a:t>
            </a:r>
            <a:endParaRPr lang="en-US" sz="1800" dirty="0"/>
          </a:p>
        </p:txBody>
      </p:sp>
      <p:sp>
        <p:nvSpPr>
          <p:cNvPr id="6" name="Text 4"/>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8A94AB"/>
                </a:solidFill>
                <a:latin typeface="Calibri" pitchFamily="34" charset="0"/>
                <a:ea typeface="Calibri" pitchFamily="34" charset="-122"/>
                <a:cs typeface="Calibri" pitchFamily="34" charset="-120"/>
              </a:rPr>
              <a:t>MCMP113  ·  Week 9</a:t>
            </a:r>
            <a:endParaRPr lang="en-US" sz="1000" dirty="0"/>
          </a:p>
        </p:txBody>
      </p:sp>
      <p:sp>
        <p:nvSpPr>
          <p:cNvPr id="7" name="Text 5"/>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8A94AB"/>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MOTIVATION</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Many Grades: Many Variables or One Array?</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9</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5</a:t>
            </a:r>
            <a:endParaRPr lang="en-US" sz="1000" dirty="0"/>
          </a:p>
        </p:txBody>
      </p:sp>
      <p:sp>
        <p:nvSpPr>
          <p:cNvPr id="7" name="Text 4"/>
          <p:cNvSpPr txBox="1"/>
          <p:nvPr/>
        </p:nvSpPr>
        <p:spPr>
          <a:xfrm>
            <a:off x="548640" y="1572768"/>
            <a:ext cx="5212080" cy="329184"/>
          </a:xfrm>
          <a:prstGeom prst="rect">
            <a:avLst/>
          </a:prstGeom>
          <a:noFill/>
          <a:ln/>
        </p:spPr>
        <p:txBody>
          <a:bodyPr wrap="square" lIns="0" tIns="0" rIns="0" bIns="0" rtlCol="0" anchor="ctr"/>
          <a:lstStyle/>
          <a:p>
            <a:pPr indent="0" marL="0">
              <a:buNone/>
            </a:pPr>
            <a:r>
              <a:rPr lang="en-US" sz="1600" b="1" dirty="0">
                <a:solidFill>
                  <a:srgbClr val="C8453B"/>
                </a:solidFill>
                <a:latin typeface="Cambria" pitchFamily="34" charset="0"/>
                <a:ea typeface="Cambria" pitchFamily="34" charset="-122"/>
                <a:cs typeface="Cambria" pitchFamily="34" charset="-120"/>
              </a:rPr>
              <a:t>Five grades without an array</a:t>
            </a:r>
            <a:endParaRPr lang="en-US" sz="1600" dirty="0"/>
          </a:p>
        </p:txBody>
      </p:sp>
      <p:sp>
        <p:nvSpPr>
          <p:cNvPr id="8" name="Shape 5"/>
          <p:cNvSpPr/>
          <p:nvPr/>
        </p:nvSpPr>
        <p:spPr>
          <a:xfrm>
            <a:off x="548640" y="1920240"/>
            <a:ext cx="5212080" cy="3246120"/>
          </a:xfrm>
          <a:prstGeom prst="roundRect">
            <a:avLst>
              <a:gd name="adj" fmla="val 2817"/>
            </a:avLst>
          </a:prstGeom>
          <a:solidFill>
            <a:srgbClr val="0F1729"/>
          </a:solidFill>
          <a:ln w="12700">
            <a:solidFill>
              <a:srgbClr val="0F1729"/>
            </a:solidFill>
            <a:prstDash val="solid"/>
          </a:ln>
        </p:spPr>
      </p:sp>
      <p:sp>
        <p:nvSpPr>
          <p:cNvPr id="9" name="Text 6"/>
          <p:cNvSpPr txBox="1"/>
          <p:nvPr/>
        </p:nvSpPr>
        <p:spPr>
          <a:xfrm>
            <a:off x="777240" y="2084832"/>
            <a:ext cx="4754880" cy="2971800"/>
          </a:xfrm>
          <a:prstGeom prst="rect">
            <a:avLst/>
          </a:prstGeom>
          <a:noFill/>
          <a:ln/>
        </p:spPr>
        <p:txBody>
          <a:bodyPr wrap="square" lIns="0" tIns="0" rIns="0" bIns="0" rtlCol="0" anchor="t"/>
          <a:lstStyle/>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g1 =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.Parse(</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.ReadLine());</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g2 =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.Parse(</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.ReadLine());</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g3 =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.Parse(</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.ReadLine());</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g4 =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.Parse(</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.ReadLine());</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g5 =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.Parse(</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.ReadLine());</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sum = g1 + g2 + g3 + g4 + g5;</a:t>
            </a:r>
            <a:endParaRPr lang="en-US" sz="1200" dirty="0"/>
          </a:p>
          <a:p>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100 grades: 100 names, 100 lines ...</a:t>
            </a:r>
            <a:endParaRPr lang="en-US" sz="1200" dirty="0"/>
          </a:p>
        </p:txBody>
      </p:sp>
      <p:sp>
        <p:nvSpPr>
          <p:cNvPr id="10" name="Text 7"/>
          <p:cNvSpPr txBox="1"/>
          <p:nvPr/>
        </p:nvSpPr>
        <p:spPr>
          <a:xfrm>
            <a:off x="6309360" y="1572768"/>
            <a:ext cx="5349240" cy="329184"/>
          </a:xfrm>
          <a:prstGeom prst="rect">
            <a:avLst/>
          </a:prstGeom>
          <a:noFill/>
          <a:ln/>
        </p:spPr>
        <p:txBody>
          <a:bodyPr wrap="square" lIns="0" tIns="0" rIns="0" bIns="0" rtlCol="0" anchor="ctr"/>
          <a:lstStyle/>
          <a:p>
            <a:pPr indent="0" marL="0">
              <a:buNone/>
            </a:pPr>
            <a:r>
              <a:rPr lang="en-US" sz="1600" b="1" dirty="0">
                <a:solidFill>
                  <a:srgbClr val="2E9E6A"/>
                </a:solidFill>
                <a:latin typeface="Cambria" pitchFamily="34" charset="0"/>
                <a:ea typeface="Cambria" pitchFamily="34" charset="-122"/>
                <a:cs typeface="Cambria" pitchFamily="34" charset="-120"/>
              </a:rPr>
              <a:t>Five grades with an array</a:t>
            </a:r>
            <a:endParaRPr lang="en-US" sz="1600" dirty="0"/>
          </a:p>
        </p:txBody>
      </p:sp>
      <p:sp>
        <p:nvSpPr>
          <p:cNvPr id="11" name="Shape 8"/>
          <p:cNvSpPr/>
          <p:nvPr/>
        </p:nvSpPr>
        <p:spPr>
          <a:xfrm>
            <a:off x="6309360" y="1920240"/>
            <a:ext cx="5349240" cy="3246120"/>
          </a:xfrm>
          <a:prstGeom prst="roundRect">
            <a:avLst>
              <a:gd name="adj" fmla="val 2817"/>
            </a:avLst>
          </a:prstGeom>
          <a:solidFill>
            <a:srgbClr val="0F1729"/>
          </a:solidFill>
          <a:ln w="12700">
            <a:solidFill>
              <a:srgbClr val="0F1729"/>
            </a:solidFill>
            <a:prstDash val="solid"/>
          </a:ln>
        </p:spPr>
      </p:sp>
      <p:sp>
        <p:nvSpPr>
          <p:cNvPr id="12" name="Text 9"/>
          <p:cNvSpPr txBox="1"/>
          <p:nvPr/>
        </p:nvSpPr>
        <p:spPr>
          <a:xfrm>
            <a:off x="6537960" y="2084832"/>
            <a:ext cx="4892040" cy="2971800"/>
          </a:xfrm>
          <a:prstGeom prst="rect">
            <a:avLst/>
          </a:prstGeom>
          <a:noFill/>
          <a:ln/>
        </p:spPr>
        <p:txBody>
          <a:bodyPr wrap="square" lIns="0" tIns="0" rIns="0" bIns="0" rtlCol="0" anchor="t"/>
          <a:lstStyle/>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g = </a:t>
            </a:r>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new</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5</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sum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i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i &lt; g.Length; i++)</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g[i] =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.Parse(</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.ReadLine());</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sum += g[i];</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p:txBody>
      </p:sp>
      <p:sp>
        <p:nvSpPr>
          <p:cNvPr id="13" name="Shape 10"/>
          <p:cNvSpPr/>
          <p:nvPr/>
        </p:nvSpPr>
        <p:spPr>
          <a:xfrm>
            <a:off x="548640" y="5303520"/>
            <a:ext cx="5212080" cy="777240"/>
          </a:xfrm>
          <a:prstGeom prst="roundRect">
            <a:avLst>
              <a:gd name="adj" fmla="val 14118"/>
            </a:avLst>
          </a:prstGeom>
          <a:solidFill>
            <a:srgbClr val="FBE9E7"/>
          </a:solidFill>
          <a:ln w="12700">
            <a:solidFill>
              <a:srgbClr val="FBE9E7"/>
            </a:solidFill>
            <a:prstDash val="solid"/>
          </a:ln>
        </p:spPr>
      </p:sp>
      <p:sp>
        <p:nvSpPr>
          <p:cNvPr id="14" name="Shape 11"/>
          <p:cNvSpPr/>
          <p:nvPr/>
        </p:nvSpPr>
        <p:spPr>
          <a:xfrm>
            <a:off x="731520" y="5413248"/>
            <a:ext cx="548640" cy="548640"/>
          </a:xfrm>
          <a:prstGeom prst="ellipse">
            <a:avLst/>
          </a:prstGeom>
          <a:solidFill>
            <a:srgbClr val="C8453B"/>
          </a:solidFill>
          <a:ln w="12700">
            <a:solidFill>
              <a:srgbClr val="C8453B"/>
            </a:solidFill>
            <a:prstDash val="solid"/>
          </a:ln>
        </p:spPr>
      </p:sp>
      <p:pic>
        <p:nvPicPr>
          <p:cNvPr id="15" name="Image 0" descr="preencoded.png">    </p:cNvPr>
          <p:cNvPicPr>
            <a:picLocks noChangeAspect="1"/>
          </p:cNvPicPr>
          <p:nvPr/>
        </p:nvPicPr>
        <p:blipFill>
          <a:blip r:embed="rId1"/>
          <a:stretch>
            <a:fillRect/>
          </a:stretch>
        </p:blipFill>
        <p:spPr>
          <a:xfrm>
            <a:off x="874166" y="5555894"/>
            <a:ext cx="263347" cy="263347"/>
          </a:xfrm>
          <a:prstGeom prst="rect">
            <a:avLst/>
          </a:prstGeom>
        </p:spPr>
      </p:pic>
      <p:sp>
        <p:nvSpPr>
          <p:cNvPr id="16" name="Text 12"/>
          <p:cNvSpPr txBox="1"/>
          <p:nvPr/>
        </p:nvSpPr>
        <p:spPr>
          <a:xfrm>
            <a:off x="1463040" y="5303520"/>
            <a:ext cx="4114800" cy="777240"/>
          </a:xfrm>
          <a:prstGeom prst="rect">
            <a:avLst/>
          </a:prstGeom>
          <a:noFill/>
          <a:ln/>
        </p:spPr>
        <p:txBody>
          <a:bodyPr wrap="square" lIns="0" tIns="0" rIns="0" bIns="0" rtlCol="0" anchor="ctr"/>
          <a:lstStyle/>
          <a:p>
            <a:pPr indent="0" marL="0">
              <a:buNone/>
            </a:pPr>
            <a:r>
              <a:rPr lang="en-US" sz="1700" b="1" dirty="0">
                <a:solidFill>
                  <a:srgbClr val="C8453B"/>
                </a:solidFill>
                <a:latin typeface="Cambria" pitchFamily="34" charset="0"/>
                <a:ea typeface="Cambria" pitchFamily="34" charset="-122"/>
                <a:cs typeface="Cambria" pitchFamily="34" charset="-120"/>
              </a:rPr>
              <a:t>n names · a loop cannot help</a:t>
            </a:r>
            <a:endParaRPr lang="en-US" sz="1700" dirty="0"/>
          </a:p>
        </p:txBody>
      </p:sp>
      <p:sp>
        <p:nvSpPr>
          <p:cNvPr id="17" name="Shape 13"/>
          <p:cNvSpPr/>
          <p:nvPr/>
        </p:nvSpPr>
        <p:spPr>
          <a:xfrm>
            <a:off x="6309360" y="5303520"/>
            <a:ext cx="5349240" cy="777240"/>
          </a:xfrm>
          <a:prstGeom prst="roundRect">
            <a:avLst>
              <a:gd name="adj" fmla="val 14118"/>
            </a:avLst>
          </a:prstGeom>
          <a:solidFill>
            <a:srgbClr val="E6F4EC"/>
          </a:solidFill>
          <a:ln w="12700">
            <a:solidFill>
              <a:srgbClr val="E6F4EC"/>
            </a:solidFill>
            <a:prstDash val="solid"/>
          </a:ln>
        </p:spPr>
      </p:sp>
      <p:sp>
        <p:nvSpPr>
          <p:cNvPr id="18" name="Shape 14"/>
          <p:cNvSpPr/>
          <p:nvPr/>
        </p:nvSpPr>
        <p:spPr>
          <a:xfrm>
            <a:off x="6492240" y="5413248"/>
            <a:ext cx="548640" cy="548640"/>
          </a:xfrm>
          <a:prstGeom prst="ellipse">
            <a:avLst/>
          </a:prstGeom>
          <a:solidFill>
            <a:srgbClr val="2E9E6A"/>
          </a:solidFill>
          <a:ln w="12700">
            <a:solidFill>
              <a:srgbClr val="2E9E6A"/>
            </a:solidFill>
            <a:prstDash val="solid"/>
          </a:ln>
        </p:spPr>
      </p:sp>
      <p:pic>
        <p:nvPicPr>
          <p:cNvPr id="19" name="Image 1" descr="preencoded.png">    </p:cNvPr>
          <p:cNvPicPr>
            <a:picLocks noChangeAspect="1"/>
          </p:cNvPicPr>
          <p:nvPr/>
        </p:nvPicPr>
        <p:blipFill>
          <a:blip r:embed="rId2"/>
          <a:stretch>
            <a:fillRect/>
          </a:stretch>
        </p:blipFill>
        <p:spPr>
          <a:xfrm>
            <a:off x="6634886" y="5555894"/>
            <a:ext cx="263347" cy="263347"/>
          </a:xfrm>
          <a:prstGeom prst="rect">
            <a:avLst/>
          </a:prstGeom>
        </p:spPr>
      </p:pic>
      <p:sp>
        <p:nvSpPr>
          <p:cNvPr id="20" name="Text 15"/>
          <p:cNvSpPr txBox="1"/>
          <p:nvPr/>
        </p:nvSpPr>
        <p:spPr>
          <a:xfrm>
            <a:off x="7223760" y="5303520"/>
            <a:ext cx="4251960" cy="777240"/>
          </a:xfrm>
          <a:prstGeom prst="rect">
            <a:avLst/>
          </a:prstGeom>
          <a:noFill/>
          <a:ln/>
        </p:spPr>
        <p:txBody>
          <a:bodyPr wrap="square" lIns="0" tIns="0" rIns="0" bIns="0" rtlCol="0" anchor="ctr"/>
          <a:lstStyle/>
          <a:p>
            <a:pPr indent="0" marL="0">
              <a:buNone/>
            </a:pPr>
            <a:r>
              <a:rPr lang="en-US" sz="1700" b="1" dirty="0">
                <a:solidFill>
                  <a:srgbClr val="1F7A50"/>
                </a:solidFill>
                <a:latin typeface="Cambria" pitchFamily="34" charset="0"/>
                <a:ea typeface="Cambria" pitchFamily="34" charset="-122"/>
                <a:cs typeface="Cambria" pitchFamily="34" charset="-120"/>
              </a:rPr>
              <a:t>1 name + index i · one loop, any size</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THE MEMORY MODEL</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An Array Is a Row of Numbered Boxes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9</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6</a:t>
            </a:r>
            <a:endParaRPr lang="en-US" sz="1000" dirty="0"/>
          </a:p>
        </p:txBody>
      </p:sp>
      <p:sp>
        <p:nvSpPr>
          <p:cNvPr id="7" name="Text 4"/>
          <p:cNvSpPr txBox="1"/>
          <p:nvPr/>
        </p:nvSpPr>
        <p:spPr>
          <a:xfrm>
            <a:off x="548640" y="1783080"/>
            <a:ext cx="2377440" cy="274320"/>
          </a:xfrm>
          <a:prstGeom prst="rect">
            <a:avLst/>
          </a:prstGeom>
          <a:noFill/>
          <a:ln/>
        </p:spPr>
        <p:txBody>
          <a:bodyPr wrap="square" lIns="0" tIns="0" rIns="0" bIns="0" rtlCol="0" anchor="ctr"/>
          <a:lstStyle/>
          <a:p>
            <a:pPr algn="r" indent="0" marL="0">
              <a:buNone/>
            </a:pPr>
            <a:r>
              <a:rPr lang="en-US" sz="1300" i="1" dirty="0">
                <a:solidFill>
                  <a:srgbClr val="5B6478"/>
                </a:solidFill>
                <a:latin typeface="Calibri" pitchFamily="34" charset="0"/>
                <a:ea typeface="Calibri" pitchFamily="34" charset="-122"/>
                <a:cs typeface="Calibri" pitchFamily="34" charset="-120"/>
              </a:rPr>
              <a:t>address (illustration)</a:t>
            </a:r>
            <a:endParaRPr lang="en-US" sz="1300" dirty="0"/>
          </a:p>
        </p:txBody>
      </p:sp>
      <p:sp>
        <p:nvSpPr>
          <p:cNvPr id="8" name="Shape 5"/>
          <p:cNvSpPr/>
          <p:nvPr/>
        </p:nvSpPr>
        <p:spPr>
          <a:xfrm>
            <a:off x="3291840" y="2194560"/>
            <a:ext cx="1417320" cy="868680"/>
          </a:xfrm>
          <a:prstGeom prst="rect">
            <a:avLst/>
          </a:prstGeom>
          <a:solidFill>
            <a:srgbClr val="FFFFFF"/>
          </a:solidFill>
          <a:ln w="15875">
            <a:solidFill>
              <a:srgbClr val="14213D"/>
            </a:solidFill>
            <a:prstDash val="solid"/>
          </a:ln>
        </p:spPr>
      </p:sp>
      <p:sp>
        <p:nvSpPr>
          <p:cNvPr id="9" name="Text 6"/>
          <p:cNvSpPr txBox="1"/>
          <p:nvPr/>
        </p:nvSpPr>
        <p:spPr>
          <a:xfrm>
            <a:off x="3291840" y="2194560"/>
            <a:ext cx="1417320" cy="868680"/>
          </a:xfrm>
          <a:prstGeom prst="rect">
            <a:avLst/>
          </a:prstGeom>
          <a:noFill/>
          <a:ln/>
        </p:spPr>
        <p:txBody>
          <a:bodyPr wrap="square" lIns="0" tIns="0" rIns="0" bIns="0" rtlCol="0" anchor="ctr"/>
          <a:lstStyle/>
          <a:p>
            <a:pPr algn="ctr" indent="0" marL="0">
              <a:buNone/>
            </a:pPr>
            <a:r>
              <a:rPr lang="en-US" sz="2200" b="1" dirty="0">
                <a:solidFill>
                  <a:srgbClr val="14213D"/>
                </a:solidFill>
                <a:latin typeface="Courier New" pitchFamily="34" charset="0"/>
                <a:ea typeface="Courier New" pitchFamily="34" charset="-122"/>
                <a:cs typeface="Courier New" pitchFamily="34" charset="-120"/>
              </a:rPr>
              <a:t>72</a:t>
            </a:r>
            <a:endParaRPr lang="en-US" sz="2200" dirty="0"/>
          </a:p>
        </p:txBody>
      </p:sp>
      <p:sp>
        <p:nvSpPr>
          <p:cNvPr id="10" name="Text 7"/>
          <p:cNvSpPr txBox="1"/>
          <p:nvPr/>
        </p:nvSpPr>
        <p:spPr>
          <a:xfrm>
            <a:off x="3291840" y="3090672"/>
            <a:ext cx="1417320" cy="274320"/>
          </a:xfrm>
          <a:prstGeom prst="rect">
            <a:avLst/>
          </a:prstGeom>
          <a:noFill/>
          <a:ln/>
        </p:spPr>
        <p:txBody>
          <a:bodyPr wrap="square" lIns="0" tIns="0" rIns="0" bIns="0" rtlCol="0" anchor="ctr"/>
          <a:lstStyle/>
          <a:p>
            <a:pPr algn="ctr" indent="0" marL="0">
              <a:buNone/>
            </a:pPr>
            <a:r>
              <a:rPr lang="en-US" sz="1600" dirty="0">
                <a:solidFill>
                  <a:srgbClr val="5B6478"/>
                </a:solidFill>
                <a:latin typeface="Courier New" pitchFamily="34" charset="0"/>
                <a:ea typeface="Courier New" pitchFamily="34" charset="-122"/>
                <a:cs typeface="Courier New" pitchFamily="34" charset="-120"/>
              </a:rPr>
              <a:t>[0]</a:t>
            </a:r>
            <a:endParaRPr lang="en-US" sz="1600" dirty="0"/>
          </a:p>
        </p:txBody>
      </p:sp>
      <p:sp>
        <p:nvSpPr>
          <p:cNvPr id="11" name="Shape 8"/>
          <p:cNvSpPr/>
          <p:nvPr/>
        </p:nvSpPr>
        <p:spPr>
          <a:xfrm>
            <a:off x="4709160" y="2194560"/>
            <a:ext cx="1417320" cy="868680"/>
          </a:xfrm>
          <a:prstGeom prst="rect">
            <a:avLst/>
          </a:prstGeom>
          <a:solidFill>
            <a:srgbClr val="FFFFFF"/>
          </a:solidFill>
          <a:ln w="15875">
            <a:solidFill>
              <a:srgbClr val="14213D"/>
            </a:solidFill>
            <a:prstDash val="solid"/>
          </a:ln>
        </p:spPr>
      </p:sp>
      <p:sp>
        <p:nvSpPr>
          <p:cNvPr id="12" name="Text 9"/>
          <p:cNvSpPr txBox="1"/>
          <p:nvPr/>
        </p:nvSpPr>
        <p:spPr>
          <a:xfrm>
            <a:off x="4709160" y="2194560"/>
            <a:ext cx="1417320" cy="868680"/>
          </a:xfrm>
          <a:prstGeom prst="rect">
            <a:avLst/>
          </a:prstGeom>
          <a:noFill/>
          <a:ln/>
        </p:spPr>
        <p:txBody>
          <a:bodyPr wrap="square" lIns="0" tIns="0" rIns="0" bIns="0" rtlCol="0" anchor="ctr"/>
          <a:lstStyle/>
          <a:p>
            <a:pPr algn="ctr" indent="0" marL="0">
              <a:buNone/>
            </a:pPr>
            <a:r>
              <a:rPr lang="en-US" sz="2200" b="1" dirty="0">
                <a:solidFill>
                  <a:srgbClr val="14213D"/>
                </a:solidFill>
                <a:latin typeface="Courier New" pitchFamily="34" charset="0"/>
                <a:ea typeface="Courier New" pitchFamily="34" charset="-122"/>
                <a:cs typeface="Courier New" pitchFamily="34" charset="-120"/>
              </a:rPr>
              <a:t>85.5</a:t>
            </a:r>
            <a:endParaRPr lang="en-US" sz="2200" dirty="0"/>
          </a:p>
        </p:txBody>
      </p:sp>
      <p:sp>
        <p:nvSpPr>
          <p:cNvPr id="13" name="Text 10"/>
          <p:cNvSpPr txBox="1"/>
          <p:nvPr/>
        </p:nvSpPr>
        <p:spPr>
          <a:xfrm>
            <a:off x="4709160" y="3090672"/>
            <a:ext cx="1417320" cy="274320"/>
          </a:xfrm>
          <a:prstGeom prst="rect">
            <a:avLst/>
          </a:prstGeom>
          <a:noFill/>
          <a:ln/>
        </p:spPr>
        <p:txBody>
          <a:bodyPr wrap="square" lIns="0" tIns="0" rIns="0" bIns="0" rtlCol="0" anchor="ctr"/>
          <a:lstStyle/>
          <a:p>
            <a:pPr algn="ctr" indent="0" marL="0">
              <a:buNone/>
            </a:pPr>
            <a:r>
              <a:rPr lang="en-US" sz="1600" dirty="0">
                <a:solidFill>
                  <a:srgbClr val="5B6478"/>
                </a:solidFill>
                <a:latin typeface="Courier New" pitchFamily="34" charset="0"/>
                <a:ea typeface="Courier New" pitchFamily="34" charset="-122"/>
                <a:cs typeface="Courier New" pitchFamily="34" charset="-120"/>
              </a:rPr>
              <a:t>[1]</a:t>
            </a:r>
            <a:endParaRPr lang="en-US" sz="1600" dirty="0"/>
          </a:p>
        </p:txBody>
      </p:sp>
      <p:sp>
        <p:nvSpPr>
          <p:cNvPr id="14" name="Shape 11"/>
          <p:cNvSpPr/>
          <p:nvPr/>
        </p:nvSpPr>
        <p:spPr>
          <a:xfrm>
            <a:off x="6126480" y="2194560"/>
            <a:ext cx="1417320" cy="868680"/>
          </a:xfrm>
          <a:prstGeom prst="rect">
            <a:avLst/>
          </a:prstGeom>
          <a:solidFill>
            <a:srgbClr val="FFF1D6"/>
          </a:solidFill>
          <a:ln w="15875">
            <a:solidFill>
              <a:srgbClr val="14213D"/>
            </a:solidFill>
            <a:prstDash val="solid"/>
          </a:ln>
        </p:spPr>
      </p:sp>
      <p:sp>
        <p:nvSpPr>
          <p:cNvPr id="15" name="Text 12"/>
          <p:cNvSpPr txBox="1"/>
          <p:nvPr/>
        </p:nvSpPr>
        <p:spPr>
          <a:xfrm>
            <a:off x="6126480" y="2194560"/>
            <a:ext cx="1417320" cy="868680"/>
          </a:xfrm>
          <a:prstGeom prst="rect">
            <a:avLst/>
          </a:prstGeom>
          <a:noFill/>
          <a:ln/>
        </p:spPr>
        <p:txBody>
          <a:bodyPr wrap="square" lIns="0" tIns="0" rIns="0" bIns="0" rtlCol="0" anchor="ctr"/>
          <a:lstStyle/>
          <a:p>
            <a:pPr algn="ctr" indent="0" marL="0">
              <a:buNone/>
            </a:pPr>
            <a:r>
              <a:rPr lang="en-US" sz="2200" b="1" dirty="0">
                <a:solidFill>
                  <a:srgbClr val="14213D"/>
                </a:solidFill>
                <a:latin typeface="Courier New" pitchFamily="34" charset="0"/>
                <a:ea typeface="Courier New" pitchFamily="34" charset="-122"/>
                <a:cs typeface="Courier New" pitchFamily="34" charset="-120"/>
              </a:rPr>
              <a:t>40</a:t>
            </a:r>
            <a:endParaRPr lang="en-US" sz="2200" dirty="0"/>
          </a:p>
        </p:txBody>
      </p:sp>
      <p:sp>
        <p:nvSpPr>
          <p:cNvPr id="16" name="Text 13"/>
          <p:cNvSpPr txBox="1"/>
          <p:nvPr/>
        </p:nvSpPr>
        <p:spPr>
          <a:xfrm>
            <a:off x="6126480" y="3090672"/>
            <a:ext cx="1417320" cy="274320"/>
          </a:xfrm>
          <a:prstGeom prst="rect">
            <a:avLst/>
          </a:prstGeom>
          <a:noFill/>
          <a:ln/>
        </p:spPr>
        <p:txBody>
          <a:bodyPr wrap="square" lIns="0" tIns="0" rIns="0" bIns="0" rtlCol="0" anchor="ctr"/>
          <a:lstStyle/>
          <a:p>
            <a:pPr algn="ctr" indent="0" marL="0">
              <a:buNone/>
            </a:pPr>
            <a:r>
              <a:rPr lang="en-US" sz="1600" dirty="0">
                <a:solidFill>
                  <a:srgbClr val="5B6478"/>
                </a:solidFill>
                <a:latin typeface="Courier New" pitchFamily="34" charset="0"/>
                <a:ea typeface="Courier New" pitchFamily="34" charset="-122"/>
                <a:cs typeface="Courier New" pitchFamily="34" charset="-120"/>
              </a:rPr>
              <a:t>[2]</a:t>
            </a:r>
            <a:endParaRPr lang="en-US" sz="1600" dirty="0"/>
          </a:p>
        </p:txBody>
      </p:sp>
      <p:sp>
        <p:nvSpPr>
          <p:cNvPr id="17" name="Shape 14"/>
          <p:cNvSpPr/>
          <p:nvPr/>
        </p:nvSpPr>
        <p:spPr>
          <a:xfrm>
            <a:off x="7543800" y="2194560"/>
            <a:ext cx="1417320" cy="868680"/>
          </a:xfrm>
          <a:prstGeom prst="rect">
            <a:avLst/>
          </a:prstGeom>
          <a:solidFill>
            <a:srgbClr val="FFFFFF"/>
          </a:solidFill>
          <a:ln w="15875">
            <a:solidFill>
              <a:srgbClr val="14213D"/>
            </a:solidFill>
            <a:prstDash val="solid"/>
          </a:ln>
        </p:spPr>
      </p:sp>
      <p:sp>
        <p:nvSpPr>
          <p:cNvPr id="18" name="Text 15"/>
          <p:cNvSpPr txBox="1"/>
          <p:nvPr/>
        </p:nvSpPr>
        <p:spPr>
          <a:xfrm>
            <a:off x="7543800" y="2194560"/>
            <a:ext cx="1417320" cy="868680"/>
          </a:xfrm>
          <a:prstGeom prst="rect">
            <a:avLst/>
          </a:prstGeom>
          <a:noFill/>
          <a:ln/>
        </p:spPr>
        <p:txBody>
          <a:bodyPr wrap="square" lIns="0" tIns="0" rIns="0" bIns="0" rtlCol="0" anchor="ctr"/>
          <a:lstStyle/>
          <a:p>
            <a:pPr algn="ctr" indent="0" marL="0">
              <a:buNone/>
            </a:pPr>
            <a:r>
              <a:rPr lang="en-US" sz="2200" b="1" dirty="0">
                <a:solidFill>
                  <a:srgbClr val="14213D"/>
                </a:solidFill>
                <a:latin typeface="Courier New" pitchFamily="34" charset="0"/>
                <a:ea typeface="Courier New" pitchFamily="34" charset="-122"/>
                <a:cs typeface="Courier New" pitchFamily="34" charset="-120"/>
              </a:rPr>
              <a:t>91</a:t>
            </a:r>
            <a:endParaRPr lang="en-US" sz="2200" dirty="0"/>
          </a:p>
        </p:txBody>
      </p:sp>
      <p:sp>
        <p:nvSpPr>
          <p:cNvPr id="19" name="Text 16"/>
          <p:cNvSpPr txBox="1"/>
          <p:nvPr/>
        </p:nvSpPr>
        <p:spPr>
          <a:xfrm>
            <a:off x="7543800" y="3090672"/>
            <a:ext cx="1417320" cy="274320"/>
          </a:xfrm>
          <a:prstGeom prst="rect">
            <a:avLst/>
          </a:prstGeom>
          <a:noFill/>
          <a:ln/>
        </p:spPr>
        <p:txBody>
          <a:bodyPr wrap="square" lIns="0" tIns="0" rIns="0" bIns="0" rtlCol="0" anchor="ctr"/>
          <a:lstStyle/>
          <a:p>
            <a:pPr algn="ctr" indent="0" marL="0">
              <a:buNone/>
            </a:pPr>
            <a:r>
              <a:rPr lang="en-US" sz="1600" dirty="0">
                <a:solidFill>
                  <a:srgbClr val="5B6478"/>
                </a:solidFill>
                <a:latin typeface="Courier New" pitchFamily="34" charset="0"/>
                <a:ea typeface="Courier New" pitchFamily="34" charset="-122"/>
                <a:cs typeface="Courier New" pitchFamily="34" charset="-120"/>
              </a:rPr>
              <a:t>[3]</a:t>
            </a:r>
            <a:endParaRPr lang="en-US" sz="1600" dirty="0"/>
          </a:p>
        </p:txBody>
      </p:sp>
      <p:sp>
        <p:nvSpPr>
          <p:cNvPr id="20" name="Shape 17"/>
          <p:cNvSpPr/>
          <p:nvPr/>
        </p:nvSpPr>
        <p:spPr>
          <a:xfrm>
            <a:off x="8961120" y="2194560"/>
            <a:ext cx="1417320" cy="868680"/>
          </a:xfrm>
          <a:prstGeom prst="rect">
            <a:avLst/>
          </a:prstGeom>
          <a:solidFill>
            <a:srgbClr val="FFFFFF"/>
          </a:solidFill>
          <a:ln w="15875">
            <a:solidFill>
              <a:srgbClr val="14213D"/>
            </a:solidFill>
            <a:prstDash val="solid"/>
          </a:ln>
        </p:spPr>
      </p:sp>
      <p:sp>
        <p:nvSpPr>
          <p:cNvPr id="21" name="Text 18"/>
          <p:cNvSpPr txBox="1"/>
          <p:nvPr/>
        </p:nvSpPr>
        <p:spPr>
          <a:xfrm>
            <a:off x="8961120" y="2194560"/>
            <a:ext cx="1417320" cy="868680"/>
          </a:xfrm>
          <a:prstGeom prst="rect">
            <a:avLst/>
          </a:prstGeom>
          <a:noFill/>
          <a:ln/>
        </p:spPr>
        <p:txBody>
          <a:bodyPr wrap="square" lIns="0" tIns="0" rIns="0" bIns="0" rtlCol="0" anchor="ctr"/>
          <a:lstStyle/>
          <a:p>
            <a:pPr algn="ctr" indent="0" marL="0">
              <a:buNone/>
            </a:pPr>
            <a:r>
              <a:rPr lang="en-US" sz="2200" b="1" dirty="0">
                <a:solidFill>
                  <a:srgbClr val="14213D"/>
                </a:solidFill>
                <a:latin typeface="Courier New" pitchFamily="34" charset="0"/>
                <a:ea typeface="Courier New" pitchFamily="34" charset="-122"/>
                <a:cs typeface="Courier New" pitchFamily="34" charset="-120"/>
              </a:rPr>
              <a:t>66</a:t>
            </a:r>
            <a:endParaRPr lang="en-US" sz="2200" dirty="0"/>
          </a:p>
        </p:txBody>
      </p:sp>
      <p:sp>
        <p:nvSpPr>
          <p:cNvPr id="22" name="Text 19"/>
          <p:cNvSpPr txBox="1"/>
          <p:nvPr/>
        </p:nvSpPr>
        <p:spPr>
          <a:xfrm>
            <a:off x="8961120" y="3090672"/>
            <a:ext cx="1417320" cy="274320"/>
          </a:xfrm>
          <a:prstGeom prst="rect">
            <a:avLst/>
          </a:prstGeom>
          <a:noFill/>
          <a:ln/>
        </p:spPr>
        <p:txBody>
          <a:bodyPr wrap="square" lIns="0" tIns="0" rIns="0" bIns="0" rtlCol="0" anchor="ctr"/>
          <a:lstStyle/>
          <a:p>
            <a:pPr algn="ctr" indent="0" marL="0">
              <a:buNone/>
            </a:pPr>
            <a:r>
              <a:rPr lang="en-US" sz="1600" dirty="0">
                <a:solidFill>
                  <a:srgbClr val="5B6478"/>
                </a:solidFill>
                <a:latin typeface="Courier New" pitchFamily="34" charset="0"/>
                <a:ea typeface="Courier New" pitchFamily="34" charset="-122"/>
                <a:cs typeface="Courier New" pitchFamily="34" charset="-120"/>
              </a:rPr>
              <a:t>[4]</a:t>
            </a:r>
            <a:endParaRPr lang="en-US" sz="1600" dirty="0"/>
          </a:p>
        </p:txBody>
      </p:sp>
      <p:sp>
        <p:nvSpPr>
          <p:cNvPr id="23" name="Text 20"/>
          <p:cNvSpPr txBox="1"/>
          <p:nvPr/>
        </p:nvSpPr>
        <p:spPr>
          <a:xfrm>
            <a:off x="3291840" y="1783080"/>
            <a:ext cx="1417320" cy="274320"/>
          </a:xfrm>
          <a:prstGeom prst="rect">
            <a:avLst/>
          </a:prstGeom>
          <a:noFill/>
          <a:ln/>
        </p:spPr>
        <p:txBody>
          <a:bodyPr wrap="square" lIns="0" tIns="0" rIns="0" bIns="0" rtlCol="0" anchor="ctr"/>
          <a:lstStyle/>
          <a:p>
            <a:pPr algn="ctr" indent="0" marL="0">
              <a:buNone/>
            </a:pPr>
            <a:r>
              <a:rPr lang="en-US" sz="1300" dirty="0">
                <a:solidFill>
                  <a:srgbClr val="5B6478"/>
                </a:solidFill>
                <a:latin typeface="Courier New" pitchFamily="34" charset="0"/>
                <a:ea typeface="Courier New" pitchFamily="34" charset="-122"/>
                <a:cs typeface="Courier New" pitchFamily="34" charset="-120"/>
              </a:rPr>
              <a:t>1000</a:t>
            </a:r>
            <a:endParaRPr lang="en-US" sz="1300" dirty="0"/>
          </a:p>
        </p:txBody>
      </p:sp>
      <p:sp>
        <p:nvSpPr>
          <p:cNvPr id="24" name="Text 21"/>
          <p:cNvSpPr txBox="1"/>
          <p:nvPr/>
        </p:nvSpPr>
        <p:spPr>
          <a:xfrm>
            <a:off x="4709160" y="1783080"/>
            <a:ext cx="1417320" cy="274320"/>
          </a:xfrm>
          <a:prstGeom prst="rect">
            <a:avLst/>
          </a:prstGeom>
          <a:noFill/>
          <a:ln/>
        </p:spPr>
        <p:txBody>
          <a:bodyPr wrap="square" lIns="0" tIns="0" rIns="0" bIns="0" rtlCol="0" anchor="ctr"/>
          <a:lstStyle/>
          <a:p>
            <a:pPr algn="ctr" indent="0" marL="0">
              <a:buNone/>
            </a:pPr>
            <a:r>
              <a:rPr lang="en-US" sz="1300" dirty="0">
                <a:solidFill>
                  <a:srgbClr val="5B6478"/>
                </a:solidFill>
                <a:latin typeface="Courier New" pitchFamily="34" charset="0"/>
                <a:ea typeface="Courier New" pitchFamily="34" charset="-122"/>
                <a:cs typeface="Courier New" pitchFamily="34" charset="-120"/>
              </a:rPr>
              <a:t>1008</a:t>
            </a:r>
            <a:endParaRPr lang="en-US" sz="1300" dirty="0"/>
          </a:p>
        </p:txBody>
      </p:sp>
      <p:sp>
        <p:nvSpPr>
          <p:cNvPr id="25" name="Text 22"/>
          <p:cNvSpPr txBox="1"/>
          <p:nvPr/>
        </p:nvSpPr>
        <p:spPr>
          <a:xfrm>
            <a:off x="6126480" y="1783080"/>
            <a:ext cx="1417320" cy="274320"/>
          </a:xfrm>
          <a:prstGeom prst="rect">
            <a:avLst/>
          </a:prstGeom>
          <a:noFill/>
          <a:ln/>
        </p:spPr>
        <p:txBody>
          <a:bodyPr wrap="square" lIns="0" tIns="0" rIns="0" bIns="0" rtlCol="0" anchor="ctr"/>
          <a:lstStyle/>
          <a:p>
            <a:pPr algn="ctr" indent="0" marL="0">
              <a:buNone/>
            </a:pPr>
            <a:r>
              <a:rPr lang="en-US" sz="1300" dirty="0">
                <a:solidFill>
                  <a:srgbClr val="5B6478"/>
                </a:solidFill>
                <a:latin typeface="Courier New" pitchFamily="34" charset="0"/>
                <a:ea typeface="Courier New" pitchFamily="34" charset="-122"/>
                <a:cs typeface="Courier New" pitchFamily="34" charset="-120"/>
              </a:rPr>
              <a:t>1016</a:t>
            </a:r>
            <a:endParaRPr lang="en-US" sz="1300" dirty="0"/>
          </a:p>
        </p:txBody>
      </p:sp>
      <p:sp>
        <p:nvSpPr>
          <p:cNvPr id="26" name="Text 23"/>
          <p:cNvSpPr txBox="1"/>
          <p:nvPr/>
        </p:nvSpPr>
        <p:spPr>
          <a:xfrm>
            <a:off x="7543800" y="1783080"/>
            <a:ext cx="1417320" cy="274320"/>
          </a:xfrm>
          <a:prstGeom prst="rect">
            <a:avLst/>
          </a:prstGeom>
          <a:noFill/>
          <a:ln/>
        </p:spPr>
        <p:txBody>
          <a:bodyPr wrap="square" lIns="0" tIns="0" rIns="0" bIns="0" rtlCol="0" anchor="ctr"/>
          <a:lstStyle/>
          <a:p>
            <a:pPr algn="ctr" indent="0" marL="0">
              <a:buNone/>
            </a:pPr>
            <a:r>
              <a:rPr lang="en-US" sz="1300" dirty="0">
                <a:solidFill>
                  <a:srgbClr val="5B6478"/>
                </a:solidFill>
                <a:latin typeface="Courier New" pitchFamily="34" charset="0"/>
                <a:ea typeface="Courier New" pitchFamily="34" charset="-122"/>
                <a:cs typeface="Courier New" pitchFamily="34" charset="-120"/>
              </a:rPr>
              <a:t>1024</a:t>
            </a:r>
            <a:endParaRPr lang="en-US" sz="1300" dirty="0"/>
          </a:p>
        </p:txBody>
      </p:sp>
      <p:sp>
        <p:nvSpPr>
          <p:cNvPr id="27" name="Text 24"/>
          <p:cNvSpPr txBox="1"/>
          <p:nvPr/>
        </p:nvSpPr>
        <p:spPr>
          <a:xfrm>
            <a:off x="8961120" y="1783080"/>
            <a:ext cx="1417320" cy="274320"/>
          </a:xfrm>
          <a:prstGeom prst="rect">
            <a:avLst/>
          </a:prstGeom>
          <a:noFill/>
          <a:ln/>
        </p:spPr>
        <p:txBody>
          <a:bodyPr wrap="square" lIns="0" tIns="0" rIns="0" bIns="0" rtlCol="0" anchor="ctr"/>
          <a:lstStyle/>
          <a:p>
            <a:pPr algn="ctr" indent="0" marL="0">
              <a:buNone/>
            </a:pPr>
            <a:r>
              <a:rPr lang="en-US" sz="1300" dirty="0">
                <a:solidFill>
                  <a:srgbClr val="5B6478"/>
                </a:solidFill>
                <a:latin typeface="Courier New" pitchFamily="34" charset="0"/>
                <a:ea typeface="Courier New" pitchFamily="34" charset="-122"/>
                <a:cs typeface="Courier New" pitchFamily="34" charset="-120"/>
              </a:rPr>
              <a:t>1032</a:t>
            </a:r>
            <a:endParaRPr lang="en-US" sz="1300" dirty="0"/>
          </a:p>
        </p:txBody>
      </p:sp>
      <p:sp>
        <p:nvSpPr>
          <p:cNvPr id="28" name="Text 25"/>
          <p:cNvSpPr txBox="1"/>
          <p:nvPr/>
        </p:nvSpPr>
        <p:spPr>
          <a:xfrm>
            <a:off x="566928" y="2395728"/>
            <a:ext cx="960120" cy="457200"/>
          </a:xfrm>
          <a:prstGeom prst="rect">
            <a:avLst/>
          </a:prstGeom>
          <a:noFill/>
          <a:ln/>
        </p:spPr>
        <p:txBody>
          <a:bodyPr wrap="square" lIns="0" tIns="0" rIns="0" bIns="0" rtlCol="0" anchor="ctr"/>
          <a:lstStyle/>
          <a:p>
            <a:pPr algn="r" indent="0" marL="0">
              <a:buNone/>
            </a:pPr>
            <a:r>
              <a:rPr lang="en-US" sz="1700" b="1" dirty="0">
                <a:solidFill>
                  <a:srgbClr val="14213D"/>
                </a:solidFill>
                <a:latin typeface="Courier New" pitchFamily="34" charset="0"/>
                <a:ea typeface="Courier New" pitchFamily="34" charset="-122"/>
                <a:cs typeface="Courier New" pitchFamily="34" charset="-120"/>
              </a:rPr>
              <a:t>grades</a:t>
            </a:r>
            <a:endParaRPr lang="en-US" sz="1700" dirty="0"/>
          </a:p>
        </p:txBody>
      </p:sp>
      <p:sp>
        <p:nvSpPr>
          <p:cNvPr id="29" name="Shape 26"/>
          <p:cNvSpPr/>
          <p:nvPr/>
        </p:nvSpPr>
        <p:spPr>
          <a:xfrm>
            <a:off x="1600200" y="2395728"/>
            <a:ext cx="457200" cy="457200"/>
          </a:xfrm>
          <a:prstGeom prst="rect">
            <a:avLst/>
          </a:prstGeom>
          <a:solidFill>
            <a:srgbClr val="EEF1F6"/>
          </a:solidFill>
          <a:ln w="15875">
            <a:solidFill>
              <a:srgbClr val="14213D"/>
            </a:solidFill>
            <a:prstDash val="solid"/>
          </a:ln>
        </p:spPr>
      </p:sp>
      <p:sp>
        <p:nvSpPr>
          <p:cNvPr id="30" name="Shape 27"/>
          <p:cNvSpPr/>
          <p:nvPr/>
        </p:nvSpPr>
        <p:spPr>
          <a:xfrm>
            <a:off x="1773936" y="2569464"/>
            <a:ext cx="109728" cy="109728"/>
          </a:xfrm>
          <a:prstGeom prst="ellipse">
            <a:avLst/>
          </a:prstGeom>
          <a:solidFill>
            <a:srgbClr val="14213D"/>
          </a:solidFill>
          <a:ln w="12700">
            <a:solidFill>
              <a:srgbClr val="14213D"/>
            </a:solidFill>
            <a:prstDash val="solid"/>
          </a:ln>
        </p:spPr>
      </p:sp>
      <p:sp>
        <p:nvSpPr>
          <p:cNvPr id="31" name="Shape 28"/>
          <p:cNvSpPr/>
          <p:nvPr/>
        </p:nvSpPr>
        <p:spPr>
          <a:xfrm>
            <a:off x="1828800" y="2624328"/>
            <a:ext cx="1463040" cy="0"/>
          </a:xfrm>
          <a:prstGeom prst="line">
            <a:avLst/>
          </a:prstGeom>
          <a:noFill/>
          <a:ln w="15875">
            <a:solidFill>
              <a:srgbClr val="14213D"/>
            </a:solidFill>
            <a:prstDash val="solid"/>
            <a:tailEnd type="triangle"/>
          </a:ln>
        </p:spPr>
      </p:sp>
      <p:sp>
        <p:nvSpPr>
          <p:cNvPr id="32" name="Text 29"/>
          <p:cNvSpPr txBox="1"/>
          <p:nvPr/>
        </p:nvSpPr>
        <p:spPr>
          <a:xfrm>
            <a:off x="548640" y="3108960"/>
            <a:ext cx="2377440" cy="274320"/>
          </a:xfrm>
          <a:prstGeom prst="rect">
            <a:avLst/>
          </a:prstGeom>
          <a:noFill/>
          <a:ln/>
        </p:spPr>
        <p:txBody>
          <a:bodyPr wrap="square" lIns="0" tIns="0" rIns="0" bIns="0" rtlCol="0" anchor="ctr"/>
          <a:lstStyle/>
          <a:p>
            <a:pPr algn="r" indent="0" marL="0">
              <a:buNone/>
            </a:pPr>
            <a:r>
              <a:rPr lang="en-US" sz="1300" i="1" dirty="0">
                <a:solidFill>
                  <a:srgbClr val="5B6478"/>
                </a:solidFill>
                <a:latin typeface="Calibri" pitchFamily="34" charset="0"/>
                <a:ea typeface="Calibri" pitchFamily="34" charset="-122"/>
                <a:cs typeface="Calibri" pitchFamily="34" charset="-120"/>
              </a:rPr>
              <a:t>index</a:t>
            </a:r>
            <a:endParaRPr lang="en-US" sz="1300" dirty="0"/>
          </a:p>
        </p:txBody>
      </p:sp>
      <p:sp>
        <p:nvSpPr>
          <p:cNvPr id="33" name="Shape 30"/>
          <p:cNvSpPr/>
          <p:nvPr/>
        </p:nvSpPr>
        <p:spPr>
          <a:xfrm>
            <a:off x="3291840" y="3456432"/>
            <a:ext cx="0" cy="182880"/>
          </a:xfrm>
          <a:prstGeom prst="line">
            <a:avLst/>
          </a:prstGeom>
          <a:noFill/>
          <a:ln w="15875">
            <a:solidFill>
              <a:srgbClr val="B7791F"/>
            </a:solidFill>
            <a:prstDash val="solid"/>
          </a:ln>
        </p:spPr>
      </p:sp>
      <p:sp>
        <p:nvSpPr>
          <p:cNvPr id="34" name="Shape 31"/>
          <p:cNvSpPr/>
          <p:nvPr/>
        </p:nvSpPr>
        <p:spPr>
          <a:xfrm>
            <a:off x="10378440" y="3456432"/>
            <a:ext cx="0" cy="182880"/>
          </a:xfrm>
          <a:prstGeom prst="line">
            <a:avLst/>
          </a:prstGeom>
          <a:noFill/>
          <a:ln w="15875">
            <a:solidFill>
              <a:srgbClr val="B7791F"/>
            </a:solidFill>
            <a:prstDash val="solid"/>
          </a:ln>
        </p:spPr>
      </p:sp>
      <p:sp>
        <p:nvSpPr>
          <p:cNvPr id="35" name="Shape 32"/>
          <p:cNvSpPr/>
          <p:nvPr/>
        </p:nvSpPr>
        <p:spPr>
          <a:xfrm>
            <a:off x="3291840" y="3639312"/>
            <a:ext cx="7086600" cy="0"/>
          </a:xfrm>
          <a:prstGeom prst="line">
            <a:avLst/>
          </a:prstGeom>
          <a:noFill/>
          <a:ln w="15875">
            <a:solidFill>
              <a:srgbClr val="B7791F"/>
            </a:solidFill>
            <a:prstDash val="solid"/>
          </a:ln>
        </p:spPr>
      </p:sp>
      <p:sp>
        <p:nvSpPr>
          <p:cNvPr id="36" name="Text 33"/>
          <p:cNvSpPr txBox="1"/>
          <p:nvPr/>
        </p:nvSpPr>
        <p:spPr>
          <a:xfrm>
            <a:off x="3291840" y="3685032"/>
            <a:ext cx="7086600" cy="320040"/>
          </a:xfrm>
          <a:prstGeom prst="rect">
            <a:avLst/>
          </a:prstGeom>
          <a:noFill/>
          <a:ln/>
        </p:spPr>
        <p:txBody>
          <a:bodyPr wrap="square" lIns="0" tIns="0" rIns="0" bIns="0" rtlCol="0" anchor="ctr"/>
          <a:lstStyle/>
          <a:p>
            <a:pPr algn="ctr" indent="0" marL="0">
              <a:buNone/>
            </a:pPr>
            <a:r>
              <a:rPr lang="en-US" sz="1500" b="1" dirty="0">
                <a:solidFill>
                  <a:srgbClr val="B7791F"/>
                </a:solidFill>
                <a:latin typeface="Courier New" pitchFamily="34" charset="0"/>
                <a:ea typeface="Courier New" pitchFamily="34" charset="-122"/>
                <a:cs typeface="Courier New" pitchFamily="34" charset="-120"/>
              </a:rPr>
              <a:t>grades.Length = 5    (indices 0 … 4)</a:t>
            </a:r>
            <a:endParaRPr lang="en-US" sz="1500" dirty="0"/>
          </a:p>
        </p:txBody>
      </p:sp>
      <p:sp>
        <p:nvSpPr>
          <p:cNvPr id="37" name="Shape 34"/>
          <p:cNvSpPr/>
          <p:nvPr/>
        </p:nvSpPr>
        <p:spPr>
          <a:xfrm>
            <a:off x="548640" y="4160520"/>
            <a:ext cx="3566160" cy="1920240"/>
          </a:xfrm>
          <a:prstGeom prst="roundRect">
            <a:avLst>
              <a:gd name="adj" fmla="val 5714"/>
            </a:avLst>
          </a:prstGeom>
          <a:solidFill>
            <a:srgbClr val="EEF1F6"/>
          </a:solidFill>
          <a:ln w="12700">
            <a:solidFill>
              <a:srgbClr val="EEF1F6"/>
            </a:solidFill>
            <a:prstDash val="solid"/>
          </a:ln>
        </p:spPr>
      </p:sp>
      <p:sp>
        <p:nvSpPr>
          <p:cNvPr id="38" name="Shape 35"/>
          <p:cNvSpPr/>
          <p:nvPr/>
        </p:nvSpPr>
        <p:spPr>
          <a:xfrm>
            <a:off x="777240" y="4389120"/>
            <a:ext cx="566928" cy="566928"/>
          </a:xfrm>
          <a:prstGeom prst="ellipse">
            <a:avLst/>
          </a:prstGeom>
          <a:solidFill>
            <a:srgbClr val="14213D"/>
          </a:solidFill>
          <a:ln w="12700">
            <a:solidFill>
              <a:srgbClr val="14213D"/>
            </a:solidFill>
            <a:prstDash val="solid"/>
          </a:ln>
        </p:spPr>
      </p:sp>
      <p:pic>
        <p:nvPicPr>
          <p:cNvPr id="39" name="Image 0" descr="preencoded.png">    </p:cNvPr>
          <p:cNvPicPr>
            <a:picLocks noChangeAspect="1"/>
          </p:cNvPicPr>
          <p:nvPr/>
        </p:nvPicPr>
        <p:blipFill>
          <a:blip r:embed="rId1"/>
          <a:stretch>
            <a:fillRect/>
          </a:stretch>
        </p:blipFill>
        <p:spPr>
          <a:xfrm>
            <a:off x="924641" y="4536521"/>
            <a:ext cx="272125" cy="272125"/>
          </a:xfrm>
          <a:prstGeom prst="rect">
            <a:avLst/>
          </a:prstGeom>
        </p:spPr>
      </p:pic>
      <p:sp>
        <p:nvSpPr>
          <p:cNvPr id="40" name="Text 36"/>
          <p:cNvSpPr txBox="1"/>
          <p:nvPr/>
        </p:nvSpPr>
        <p:spPr>
          <a:xfrm>
            <a:off x="1463040" y="4389120"/>
            <a:ext cx="246888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Element</a:t>
            </a:r>
            <a:endParaRPr lang="en-US" sz="1700" dirty="0"/>
          </a:p>
        </p:txBody>
      </p:sp>
      <p:sp>
        <p:nvSpPr>
          <p:cNvPr id="41" name="Text 37"/>
          <p:cNvSpPr txBox="1"/>
          <p:nvPr/>
        </p:nvSpPr>
        <p:spPr>
          <a:xfrm>
            <a:off x="777240" y="5074920"/>
            <a:ext cx="3108960" cy="86868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One box. grades[2] is the element with index 2; its value is 40.</a:t>
            </a:r>
            <a:endParaRPr lang="en-US" sz="1400" dirty="0"/>
          </a:p>
        </p:txBody>
      </p:sp>
      <p:sp>
        <p:nvSpPr>
          <p:cNvPr id="42" name="Shape 38"/>
          <p:cNvSpPr/>
          <p:nvPr/>
        </p:nvSpPr>
        <p:spPr>
          <a:xfrm>
            <a:off x="4297680" y="4160520"/>
            <a:ext cx="3566160" cy="1920240"/>
          </a:xfrm>
          <a:prstGeom prst="roundRect">
            <a:avLst>
              <a:gd name="adj" fmla="val 5714"/>
            </a:avLst>
          </a:prstGeom>
          <a:solidFill>
            <a:srgbClr val="EEF1F6"/>
          </a:solidFill>
          <a:ln w="12700">
            <a:solidFill>
              <a:srgbClr val="EEF1F6"/>
            </a:solidFill>
            <a:prstDash val="solid"/>
          </a:ln>
        </p:spPr>
      </p:sp>
      <p:sp>
        <p:nvSpPr>
          <p:cNvPr id="43" name="Shape 39"/>
          <p:cNvSpPr/>
          <p:nvPr/>
        </p:nvSpPr>
        <p:spPr>
          <a:xfrm>
            <a:off x="4526280" y="4389120"/>
            <a:ext cx="566928" cy="566928"/>
          </a:xfrm>
          <a:prstGeom prst="ellipse">
            <a:avLst/>
          </a:prstGeom>
          <a:solidFill>
            <a:srgbClr val="14213D"/>
          </a:solidFill>
          <a:ln w="12700">
            <a:solidFill>
              <a:srgbClr val="14213D"/>
            </a:solidFill>
            <a:prstDash val="solid"/>
          </a:ln>
        </p:spPr>
      </p:sp>
      <p:pic>
        <p:nvPicPr>
          <p:cNvPr id="44" name="Image 1" descr="preencoded.png">    </p:cNvPr>
          <p:cNvPicPr>
            <a:picLocks noChangeAspect="1"/>
          </p:cNvPicPr>
          <p:nvPr/>
        </p:nvPicPr>
        <p:blipFill>
          <a:blip r:embed="rId2"/>
          <a:stretch>
            <a:fillRect/>
          </a:stretch>
        </p:blipFill>
        <p:spPr>
          <a:xfrm>
            <a:off x="4673681" y="4536521"/>
            <a:ext cx="272125" cy="272125"/>
          </a:xfrm>
          <a:prstGeom prst="rect">
            <a:avLst/>
          </a:prstGeom>
        </p:spPr>
      </p:pic>
      <p:sp>
        <p:nvSpPr>
          <p:cNvPr id="45" name="Text 40"/>
          <p:cNvSpPr txBox="1"/>
          <p:nvPr/>
        </p:nvSpPr>
        <p:spPr>
          <a:xfrm>
            <a:off x="5212080" y="4389120"/>
            <a:ext cx="246888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Index</a:t>
            </a:r>
            <a:endParaRPr lang="en-US" sz="1700" dirty="0"/>
          </a:p>
        </p:txBody>
      </p:sp>
      <p:sp>
        <p:nvSpPr>
          <p:cNvPr id="46" name="Text 41"/>
          <p:cNvSpPr txBox="1"/>
          <p:nvPr/>
        </p:nvSpPr>
        <p:spPr>
          <a:xfrm>
            <a:off x="4526280" y="5074920"/>
            <a:ext cx="3108960" cy="86868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Position = number of boxes to skip from the start. First index 0, last Length − 1.</a:t>
            </a:r>
            <a:endParaRPr lang="en-US" sz="1400" dirty="0"/>
          </a:p>
        </p:txBody>
      </p:sp>
      <p:sp>
        <p:nvSpPr>
          <p:cNvPr id="47" name="Shape 42"/>
          <p:cNvSpPr/>
          <p:nvPr/>
        </p:nvSpPr>
        <p:spPr>
          <a:xfrm>
            <a:off x="8046720" y="4160520"/>
            <a:ext cx="3566160" cy="1920240"/>
          </a:xfrm>
          <a:prstGeom prst="roundRect">
            <a:avLst>
              <a:gd name="adj" fmla="val 5714"/>
            </a:avLst>
          </a:prstGeom>
          <a:solidFill>
            <a:srgbClr val="EEF1F6"/>
          </a:solidFill>
          <a:ln w="12700">
            <a:solidFill>
              <a:srgbClr val="EEF1F6"/>
            </a:solidFill>
            <a:prstDash val="solid"/>
          </a:ln>
        </p:spPr>
      </p:sp>
      <p:sp>
        <p:nvSpPr>
          <p:cNvPr id="48" name="Shape 43"/>
          <p:cNvSpPr/>
          <p:nvPr/>
        </p:nvSpPr>
        <p:spPr>
          <a:xfrm>
            <a:off x="8275320" y="4389120"/>
            <a:ext cx="566928" cy="566928"/>
          </a:xfrm>
          <a:prstGeom prst="ellipse">
            <a:avLst/>
          </a:prstGeom>
          <a:solidFill>
            <a:srgbClr val="14213D"/>
          </a:solidFill>
          <a:ln w="12700">
            <a:solidFill>
              <a:srgbClr val="14213D"/>
            </a:solidFill>
            <a:prstDash val="solid"/>
          </a:ln>
        </p:spPr>
      </p:sp>
      <p:pic>
        <p:nvPicPr>
          <p:cNvPr id="49" name="Image 2" descr="preencoded.png">    </p:cNvPr>
          <p:cNvPicPr>
            <a:picLocks noChangeAspect="1"/>
          </p:cNvPicPr>
          <p:nvPr/>
        </p:nvPicPr>
        <p:blipFill>
          <a:blip r:embed="rId3"/>
          <a:stretch>
            <a:fillRect/>
          </a:stretch>
        </p:blipFill>
        <p:spPr>
          <a:xfrm>
            <a:off x="8422721" y="4536521"/>
            <a:ext cx="272125" cy="272125"/>
          </a:xfrm>
          <a:prstGeom prst="rect">
            <a:avLst/>
          </a:prstGeom>
        </p:spPr>
      </p:pic>
      <p:sp>
        <p:nvSpPr>
          <p:cNvPr id="50" name="Text 44"/>
          <p:cNvSpPr txBox="1"/>
          <p:nvPr/>
        </p:nvSpPr>
        <p:spPr>
          <a:xfrm>
            <a:off x="8961120" y="4389120"/>
            <a:ext cx="246888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Length &amp; type</a:t>
            </a:r>
            <a:endParaRPr lang="en-US" sz="1700" dirty="0"/>
          </a:p>
        </p:txBody>
      </p:sp>
      <p:sp>
        <p:nvSpPr>
          <p:cNvPr id="51" name="Text 45"/>
          <p:cNvSpPr txBox="1"/>
          <p:nvPr/>
        </p:nvSpPr>
        <p:spPr>
          <a:xfrm>
            <a:off x="8275320" y="5074920"/>
            <a:ext cx="3108960" cy="86868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Fixed size, set when the array is created. All elements have the same type.</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1463040"/>
            <a:ext cx="2743200" cy="1280160"/>
          </a:xfrm>
          <a:prstGeom prst="rect">
            <a:avLst/>
          </a:prstGeom>
          <a:noFill/>
          <a:ln/>
        </p:spPr>
        <p:txBody>
          <a:bodyPr wrap="square" lIns="0" tIns="0" rIns="0" bIns="0" rtlCol="0" anchor="ctr"/>
          <a:lstStyle/>
          <a:p>
            <a:pPr indent="0" marL="0">
              <a:buNone/>
            </a:pPr>
            <a:r>
              <a:rPr lang="en-US" sz="8800" b="1" dirty="0">
                <a:solidFill>
                  <a:srgbClr val="FCA311"/>
                </a:solidFill>
                <a:latin typeface="Courier New" pitchFamily="34" charset="0"/>
                <a:ea typeface="Courier New" pitchFamily="34" charset="-122"/>
                <a:cs typeface="Courier New" pitchFamily="34" charset="-120"/>
              </a:rPr>
              <a:t>&gt;_</a:t>
            </a:r>
            <a:endParaRPr lang="en-US" sz="8800" dirty="0"/>
          </a:p>
        </p:txBody>
      </p:sp>
      <p:sp>
        <p:nvSpPr>
          <p:cNvPr id="3" name="Text 1"/>
          <p:cNvSpPr txBox="1"/>
          <p:nvPr/>
        </p:nvSpPr>
        <p:spPr>
          <a:xfrm>
            <a:off x="548640" y="2926080"/>
            <a:ext cx="5486400" cy="365760"/>
          </a:xfrm>
          <a:prstGeom prst="rect">
            <a:avLst/>
          </a:prstGeom>
          <a:noFill/>
          <a:ln/>
        </p:spPr>
        <p:txBody>
          <a:bodyPr wrap="square" lIns="0" tIns="0" rIns="0" bIns="0" rtlCol="0" anchor="ctr"/>
          <a:lstStyle/>
          <a:p>
            <a:pPr indent="0" marL="0">
              <a:buNone/>
            </a:pPr>
            <a:r>
              <a:rPr lang="en-US" sz="1600" spc="400" kern="0" dirty="0">
                <a:solidFill>
                  <a:srgbClr val="8A94AB"/>
                </a:solidFill>
                <a:latin typeface="Courier New" pitchFamily="34" charset="0"/>
                <a:ea typeface="Courier New" pitchFamily="34" charset="-122"/>
                <a:cs typeface="Courier New" pitchFamily="34" charset="-120"/>
              </a:rPr>
              <a:t>PART 2</a:t>
            </a:r>
            <a:endParaRPr lang="en-US" sz="1600" dirty="0"/>
          </a:p>
        </p:txBody>
      </p:sp>
      <p:sp>
        <p:nvSpPr>
          <p:cNvPr id="4" name="Text 2"/>
          <p:cNvSpPr txBox="1"/>
          <p:nvPr/>
        </p:nvSpPr>
        <p:spPr>
          <a:xfrm>
            <a:off x="548640" y="3337560"/>
            <a:ext cx="10515600" cy="914400"/>
          </a:xfrm>
          <a:prstGeom prst="rect">
            <a:avLst/>
          </a:prstGeom>
          <a:noFill/>
          <a:ln/>
        </p:spPr>
        <p:txBody>
          <a:bodyPr wrap="square" lIns="0" tIns="0" rIns="0" bIns="0" rtlCol="0" anchor="ctr">
            <a:normAutofit/>
          </a:bodyPr>
          <a:lstStyle/>
          <a:p>
            <a:pPr indent="0" marL="0">
              <a:buNone/>
            </a:pPr>
            <a:r>
              <a:rPr lang="en-US" sz="4200" b="1" dirty="0">
                <a:solidFill>
                  <a:srgbClr val="FFFFFF"/>
                </a:solidFill>
                <a:latin typeface="Cambria" pitchFamily="34" charset="0"/>
                <a:ea typeface="Cambria" pitchFamily="34" charset="-122"/>
                <a:cs typeface="Cambria" pitchFamily="34" charset="-120"/>
              </a:rPr>
              <a:t>Declaring, Creating, Accessing</a:t>
            </a:r>
            <a:endParaRPr lang="en-US" sz="4200" dirty="0"/>
          </a:p>
        </p:txBody>
      </p:sp>
      <p:sp>
        <p:nvSpPr>
          <p:cNvPr id="5" name="Text 3"/>
          <p:cNvSpPr txBox="1"/>
          <p:nvPr/>
        </p:nvSpPr>
        <p:spPr>
          <a:xfrm>
            <a:off x="548640" y="4343400"/>
            <a:ext cx="10515600" cy="548640"/>
          </a:xfrm>
          <a:prstGeom prst="rect">
            <a:avLst/>
          </a:prstGeom>
          <a:noFill/>
          <a:ln/>
        </p:spPr>
        <p:txBody>
          <a:bodyPr wrap="square" lIns="0" tIns="0" rIns="0" bIns="0" rtlCol="0" anchor="ctr"/>
          <a:lstStyle/>
          <a:p>
            <a:pPr indent="0" marL="0">
              <a:buNone/>
            </a:pPr>
            <a:r>
              <a:rPr lang="en-US" sz="1800" dirty="0">
                <a:solidFill>
                  <a:srgbClr val="C7CEDC"/>
                </a:solidFill>
                <a:latin typeface="Calibri" pitchFamily="34" charset="0"/>
                <a:ea typeface="Calibri" pitchFamily="34" charset="-122"/>
                <a:cs typeface="Calibri" pitchFamily="34" charset="-120"/>
              </a:rPr>
              <a:t>new, default values, initializer lists, a[i] — and the exception you will meet</a:t>
            </a:r>
            <a:endParaRPr lang="en-US" sz="1800" dirty="0"/>
          </a:p>
        </p:txBody>
      </p:sp>
      <p:sp>
        <p:nvSpPr>
          <p:cNvPr id="6" name="Text 4"/>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8A94AB"/>
                </a:solidFill>
                <a:latin typeface="Calibri" pitchFamily="34" charset="0"/>
                <a:ea typeface="Calibri" pitchFamily="34" charset="-122"/>
                <a:cs typeface="Calibri" pitchFamily="34" charset="-120"/>
              </a:rPr>
              <a:t>MCMP113  ·  Week 9</a:t>
            </a:r>
            <a:endParaRPr lang="en-US" sz="1000" dirty="0"/>
          </a:p>
        </p:txBody>
      </p:sp>
      <p:sp>
        <p:nvSpPr>
          <p:cNvPr id="7" name="Text 5"/>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8A94AB"/>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DECLARATION</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Anatomy of int[] scores = new int[5];</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9</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8</a:t>
            </a:r>
            <a:endParaRPr lang="en-US" sz="1000" dirty="0"/>
          </a:p>
        </p:txBody>
      </p:sp>
      <p:sp>
        <p:nvSpPr>
          <p:cNvPr id="7" name="Text 4"/>
          <p:cNvSpPr txBox="1"/>
          <p:nvPr/>
        </p:nvSpPr>
        <p:spPr>
          <a:xfrm>
            <a:off x="548640" y="1783080"/>
            <a:ext cx="1417320" cy="640080"/>
          </a:xfrm>
          <a:prstGeom prst="rect">
            <a:avLst/>
          </a:prstGeom>
          <a:noFill/>
          <a:ln/>
        </p:spPr>
        <p:txBody>
          <a:bodyPr wrap="square" lIns="0" tIns="0" rIns="0" bIns="0" rtlCol="0" anchor="ctr"/>
          <a:lstStyle/>
          <a:p>
            <a:pPr algn="ctr" indent="0" marL="0">
              <a:buNone/>
            </a:pPr>
            <a:r>
              <a:rPr lang="en-US" sz="2600" b="1" dirty="0">
                <a:solidFill>
                  <a:srgbClr val="2F6FB3"/>
                </a:solidFill>
                <a:latin typeface="Courier New" pitchFamily="34" charset="0"/>
                <a:ea typeface="Courier New" pitchFamily="34" charset="-122"/>
                <a:cs typeface="Courier New" pitchFamily="34" charset="-120"/>
              </a:rPr>
              <a:t>int[]</a:t>
            </a:r>
            <a:endParaRPr lang="en-US" sz="2600" dirty="0"/>
          </a:p>
        </p:txBody>
      </p:sp>
      <p:sp>
        <p:nvSpPr>
          <p:cNvPr id="8" name="Shape 5"/>
          <p:cNvSpPr/>
          <p:nvPr/>
        </p:nvSpPr>
        <p:spPr>
          <a:xfrm>
            <a:off x="640080" y="2496312"/>
            <a:ext cx="1234440" cy="0"/>
          </a:xfrm>
          <a:prstGeom prst="line">
            <a:avLst/>
          </a:prstGeom>
          <a:noFill/>
          <a:ln w="25400">
            <a:solidFill>
              <a:srgbClr val="2F6FB3"/>
            </a:solidFill>
            <a:prstDash val="solid"/>
          </a:ln>
        </p:spPr>
      </p:sp>
      <p:sp>
        <p:nvSpPr>
          <p:cNvPr id="9" name="Text 6"/>
          <p:cNvSpPr txBox="1"/>
          <p:nvPr/>
        </p:nvSpPr>
        <p:spPr>
          <a:xfrm>
            <a:off x="182880" y="2560320"/>
            <a:ext cx="2148840" cy="502920"/>
          </a:xfrm>
          <a:prstGeom prst="rect">
            <a:avLst/>
          </a:prstGeom>
          <a:noFill/>
          <a:ln/>
        </p:spPr>
        <p:txBody>
          <a:bodyPr wrap="square" lIns="0" tIns="0" rIns="0" bIns="0" rtlCol="0" anchor="t"/>
          <a:lstStyle/>
          <a:p>
            <a:pPr algn="ctr" indent="0" marL="0">
              <a:buNone/>
            </a:pPr>
            <a:r>
              <a:rPr lang="en-US" sz="1400" b="1" dirty="0">
                <a:solidFill>
                  <a:srgbClr val="2F6FB3"/>
                </a:solidFill>
                <a:latin typeface="Calibri" pitchFamily="34" charset="0"/>
                <a:ea typeface="Calibri" pitchFamily="34" charset="-122"/>
                <a:cs typeface="Calibri" pitchFamily="34" charset="-120"/>
              </a:rPr>
              <a:t>type: array of int</a:t>
            </a:r>
            <a:endParaRPr lang="en-US" sz="1400" dirty="0"/>
          </a:p>
        </p:txBody>
      </p:sp>
      <p:sp>
        <p:nvSpPr>
          <p:cNvPr id="10" name="Text 7"/>
          <p:cNvSpPr txBox="1"/>
          <p:nvPr/>
        </p:nvSpPr>
        <p:spPr>
          <a:xfrm>
            <a:off x="2075688" y="1783080"/>
            <a:ext cx="1645920" cy="640080"/>
          </a:xfrm>
          <a:prstGeom prst="rect">
            <a:avLst/>
          </a:prstGeom>
          <a:noFill/>
          <a:ln/>
        </p:spPr>
        <p:txBody>
          <a:bodyPr wrap="square" lIns="0" tIns="0" rIns="0" bIns="0" rtlCol="0" anchor="ctr"/>
          <a:lstStyle/>
          <a:p>
            <a:pPr algn="ctr" indent="0" marL="0">
              <a:buNone/>
            </a:pPr>
            <a:r>
              <a:rPr lang="en-US" sz="2600" b="1" dirty="0">
                <a:solidFill>
                  <a:srgbClr val="14213D"/>
                </a:solidFill>
                <a:latin typeface="Courier New" pitchFamily="34" charset="0"/>
                <a:ea typeface="Courier New" pitchFamily="34" charset="-122"/>
                <a:cs typeface="Courier New" pitchFamily="34" charset="-120"/>
              </a:rPr>
              <a:t>scores</a:t>
            </a:r>
            <a:endParaRPr lang="en-US" sz="2600" dirty="0"/>
          </a:p>
        </p:txBody>
      </p:sp>
      <p:sp>
        <p:nvSpPr>
          <p:cNvPr id="11" name="Shape 8"/>
          <p:cNvSpPr/>
          <p:nvPr/>
        </p:nvSpPr>
        <p:spPr>
          <a:xfrm>
            <a:off x="2167128" y="2496312"/>
            <a:ext cx="1463040" cy="0"/>
          </a:xfrm>
          <a:prstGeom prst="line">
            <a:avLst/>
          </a:prstGeom>
          <a:noFill/>
          <a:ln w="25400">
            <a:solidFill>
              <a:srgbClr val="14213D"/>
            </a:solidFill>
            <a:prstDash val="solid"/>
          </a:ln>
        </p:spPr>
      </p:sp>
      <p:sp>
        <p:nvSpPr>
          <p:cNvPr id="12" name="Text 9"/>
          <p:cNvSpPr txBox="1"/>
          <p:nvPr/>
        </p:nvSpPr>
        <p:spPr>
          <a:xfrm>
            <a:off x="1709928" y="2560320"/>
            <a:ext cx="2377440" cy="502920"/>
          </a:xfrm>
          <a:prstGeom prst="rect">
            <a:avLst/>
          </a:prstGeom>
          <a:noFill/>
          <a:ln/>
        </p:spPr>
        <p:txBody>
          <a:bodyPr wrap="square" lIns="0" tIns="0" rIns="0" bIns="0" rtlCol="0" anchor="t"/>
          <a:lstStyle/>
          <a:p>
            <a:pPr algn="ctr" indent="0" marL="0">
              <a:buNone/>
            </a:pPr>
            <a:r>
              <a:rPr lang="en-US" sz="1400" b="1" dirty="0">
                <a:solidFill>
                  <a:srgbClr val="14213D"/>
                </a:solidFill>
                <a:latin typeface="Calibri" pitchFamily="34" charset="0"/>
                <a:ea typeface="Calibri" pitchFamily="34" charset="-122"/>
                <a:cs typeface="Calibri" pitchFamily="34" charset="-120"/>
              </a:rPr>
              <a:t>name</a:t>
            </a:r>
            <a:endParaRPr lang="en-US" sz="1400" dirty="0"/>
          </a:p>
        </p:txBody>
      </p:sp>
      <p:sp>
        <p:nvSpPr>
          <p:cNvPr id="13" name="Text 10"/>
          <p:cNvSpPr txBox="1"/>
          <p:nvPr/>
        </p:nvSpPr>
        <p:spPr>
          <a:xfrm>
            <a:off x="3831336" y="1783080"/>
            <a:ext cx="502920" cy="640080"/>
          </a:xfrm>
          <a:prstGeom prst="rect">
            <a:avLst/>
          </a:prstGeom>
          <a:noFill/>
          <a:ln/>
        </p:spPr>
        <p:txBody>
          <a:bodyPr wrap="square" lIns="0" tIns="0" rIns="0" bIns="0" rtlCol="0" anchor="ctr"/>
          <a:lstStyle/>
          <a:p>
            <a:pPr algn="ctr" indent="0" marL="0">
              <a:buNone/>
            </a:pPr>
            <a:r>
              <a:rPr lang="en-US" sz="2600" b="1" dirty="0">
                <a:solidFill>
                  <a:srgbClr val="5B6478"/>
                </a:solidFill>
                <a:latin typeface="Courier New" pitchFamily="34" charset="0"/>
                <a:ea typeface="Courier New" pitchFamily="34" charset="-122"/>
                <a:cs typeface="Courier New" pitchFamily="34" charset="-120"/>
              </a:rPr>
              <a:t>=</a:t>
            </a:r>
            <a:endParaRPr lang="en-US" sz="2600" dirty="0"/>
          </a:p>
        </p:txBody>
      </p:sp>
      <p:sp>
        <p:nvSpPr>
          <p:cNvPr id="14" name="Text 11"/>
          <p:cNvSpPr txBox="1"/>
          <p:nvPr/>
        </p:nvSpPr>
        <p:spPr>
          <a:xfrm>
            <a:off x="4443984" y="1783080"/>
            <a:ext cx="960120" cy="640080"/>
          </a:xfrm>
          <a:prstGeom prst="rect">
            <a:avLst/>
          </a:prstGeom>
          <a:noFill/>
          <a:ln/>
        </p:spPr>
        <p:txBody>
          <a:bodyPr wrap="square" lIns="0" tIns="0" rIns="0" bIns="0" rtlCol="0" anchor="ctr"/>
          <a:lstStyle/>
          <a:p>
            <a:pPr algn="ctr" indent="0" marL="0">
              <a:buNone/>
            </a:pPr>
            <a:r>
              <a:rPr lang="en-US" sz="2600" b="1" dirty="0">
                <a:solidFill>
                  <a:srgbClr val="2E9E6A"/>
                </a:solidFill>
                <a:latin typeface="Courier New" pitchFamily="34" charset="0"/>
                <a:ea typeface="Courier New" pitchFamily="34" charset="-122"/>
                <a:cs typeface="Courier New" pitchFamily="34" charset="-120"/>
              </a:rPr>
              <a:t>new</a:t>
            </a:r>
            <a:endParaRPr lang="en-US" sz="2600" dirty="0"/>
          </a:p>
        </p:txBody>
      </p:sp>
      <p:sp>
        <p:nvSpPr>
          <p:cNvPr id="15" name="Shape 12"/>
          <p:cNvSpPr/>
          <p:nvPr/>
        </p:nvSpPr>
        <p:spPr>
          <a:xfrm>
            <a:off x="4535424" y="2496312"/>
            <a:ext cx="777240" cy="0"/>
          </a:xfrm>
          <a:prstGeom prst="line">
            <a:avLst/>
          </a:prstGeom>
          <a:noFill/>
          <a:ln w="25400">
            <a:solidFill>
              <a:srgbClr val="2E9E6A"/>
            </a:solidFill>
            <a:prstDash val="solid"/>
          </a:ln>
        </p:spPr>
      </p:sp>
      <p:sp>
        <p:nvSpPr>
          <p:cNvPr id="16" name="Text 13"/>
          <p:cNvSpPr txBox="1"/>
          <p:nvPr/>
        </p:nvSpPr>
        <p:spPr>
          <a:xfrm>
            <a:off x="4078224" y="2560320"/>
            <a:ext cx="1691640" cy="502920"/>
          </a:xfrm>
          <a:prstGeom prst="rect">
            <a:avLst/>
          </a:prstGeom>
          <a:noFill/>
          <a:ln/>
        </p:spPr>
        <p:txBody>
          <a:bodyPr wrap="square" lIns="0" tIns="0" rIns="0" bIns="0" rtlCol="0" anchor="t"/>
          <a:lstStyle/>
          <a:p>
            <a:pPr algn="ctr" indent="0" marL="0">
              <a:buNone/>
            </a:pPr>
            <a:r>
              <a:rPr lang="en-US" sz="1400" b="1" dirty="0">
                <a:solidFill>
                  <a:srgbClr val="2E9E6A"/>
                </a:solidFill>
                <a:latin typeface="Calibri" pitchFamily="34" charset="0"/>
                <a:ea typeface="Calibri" pitchFamily="34" charset="-122"/>
                <a:cs typeface="Calibri" pitchFamily="34" charset="-120"/>
              </a:rPr>
              <a:t>create boxes</a:t>
            </a:r>
            <a:endParaRPr lang="en-US" sz="1400" dirty="0"/>
          </a:p>
        </p:txBody>
      </p:sp>
      <p:sp>
        <p:nvSpPr>
          <p:cNvPr id="17" name="Text 14"/>
          <p:cNvSpPr txBox="1"/>
          <p:nvPr/>
        </p:nvSpPr>
        <p:spPr>
          <a:xfrm>
            <a:off x="5513832" y="1783080"/>
            <a:ext cx="1645920" cy="640080"/>
          </a:xfrm>
          <a:prstGeom prst="rect">
            <a:avLst/>
          </a:prstGeom>
          <a:noFill/>
          <a:ln/>
        </p:spPr>
        <p:txBody>
          <a:bodyPr wrap="square" lIns="0" tIns="0" rIns="0" bIns="0" rtlCol="0" anchor="ctr"/>
          <a:lstStyle/>
          <a:p>
            <a:pPr algn="ctr" indent="0" marL="0">
              <a:buNone/>
            </a:pPr>
            <a:r>
              <a:rPr lang="en-US" sz="2600" b="1" dirty="0">
                <a:solidFill>
                  <a:srgbClr val="B7791F"/>
                </a:solidFill>
                <a:latin typeface="Courier New" pitchFamily="34" charset="0"/>
                <a:ea typeface="Courier New" pitchFamily="34" charset="-122"/>
                <a:cs typeface="Courier New" pitchFamily="34" charset="-120"/>
              </a:rPr>
              <a:t>int[5]</a:t>
            </a:r>
            <a:endParaRPr lang="en-US" sz="2600" dirty="0"/>
          </a:p>
        </p:txBody>
      </p:sp>
      <p:sp>
        <p:nvSpPr>
          <p:cNvPr id="18" name="Shape 15"/>
          <p:cNvSpPr/>
          <p:nvPr/>
        </p:nvSpPr>
        <p:spPr>
          <a:xfrm>
            <a:off x="5605272" y="2496312"/>
            <a:ext cx="1463040" cy="0"/>
          </a:xfrm>
          <a:prstGeom prst="line">
            <a:avLst/>
          </a:prstGeom>
          <a:noFill/>
          <a:ln w="25400">
            <a:solidFill>
              <a:srgbClr val="B7791F"/>
            </a:solidFill>
            <a:prstDash val="solid"/>
          </a:ln>
        </p:spPr>
      </p:sp>
      <p:sp>
        <p:nvSpPr>
          <p:cNvPr id="19" name="Text 16"/>
          <p:cNvSpPr txBox="1"/>
          <p:nvPr/>
        </p:nvSpPr>
        <p:spPr>
          <a:xfrm>
            <a:off x="5148072" y="2560320"/>
            <a:ext cx="2377440" cy="502920"/>
          </a:xfrm>
          <a:prstGeom prst="rect">
            <a:avLst/>
          </a:prstGeom>
          <a:noFill/>
          <a:ln/>
        </p:spPr>
        <p:txBody>
          <a:bodyPr wrap="square" lIns="0" tIns="0" rIns="0" bIns="0" rtlCol="0" anchor="t"/>
          <a:lstStyle/>
          <a:p>
            <a:pPr algn="ctr" indent="0" marL="0">
              <a:buNone/>
            </a:pPr>
            <a:r>
              <a:rPr lang="en-US" sz="1400" b="1" dirty="0">
                <a:solidFill>
                  <a:srgbClr val="B7791F"/>
                </a:solidFill>
                <a:latin typeface="Calibri" pitchFamily="34" charset="0"/>
                <a:ea typeface="Calibri" pitchFamily="34" charset="-122"/>
                <a:cs typeface="Calibri" pitchFamily="34" charset="-120"/>
              </a:rPr>
              <a:t>element type + size</a:t>
            </a:r>
            <a:endParaRPr lang="en-US" sz="1400" dirty="0"/>
          </a:p>
        </p:txBody>
      </p:sp>
      <p:sp>
        <p:nvSpPr>
          <p:cNvPr id="20" name="Text 17"/>
          <p:cNvSpPr txBox="1"/>
          <p:nvPr/>
        </p:nvSpPr>
        <p:spPr>
          <a:xfrm>
            <a:off x="7269480" y="1783080"/>
            <a:ext cx="502920" cy="640080"/>
          </a:xfrm>
          <a:prstGeom prst="rect">
            <a:avLst/>
          </a:prstGeom>
          <a:noFill/>
          <a:ln/>
        </p:spPr>
        <p:txBody>
          <a:bodyPr wrap="square" lIns="0" tIns="0" rIns="0" bIns="0" rtlCol="0" anchor="ctr"/>
          <a:lstStyle/>
          <a:p>
            <a:pPr algn="ctr" indent="0" marL="0">
              <a:buNone/>
            </a:pPr>
            <a:r>
              <a:rPr lang="en-US" sz="2600" b="1" dirty="0">
                <a:solidFill>
                  <a:srgbClr val="5B6478"/>
                </a:solidFill>
                <a:latin typeface="Courier New" pitchFamily="34" charset="0"/>
                <a:ea typeface="Courier New" pitchFamily="34" charset="-122"/>
                <a:cs typeface="Courier New" pitchFamily="34" charset="-120"/>
              </a:rPr>
              <a:t>;</a:t>
            </a:r>
            <a:endParaRPr lang="en-US" sz="2600" dirty="0"/>
          </a:p>
        </p:txBody>
      </p:sp>
      <p:sp>
        <p:nvSpPr>
          <p:cNvPr id="21" name="Text 18"/>
          <p:cNvSpPr txBox="1"/>
          <p:nvPr/>
        </p:nvSpPr>
        <p:spPr>
          <a:xfrm>
            <a:off x="8229600" y="1600200"/>
            <a:ext cx="3429000" cy="329184"/>
          </a:xfrm>
          <a:prstGeom prst="rect">
            <a:avLst/>
          </a:prstGeom>
          <a:noFill/>
          <a:ln/>
        </p:spPr>
        <p:txBody>
          <a:bodyPr wrap="square" lIns="0" tIns="0" rIns="0" bIns="0" rtlCol="0" anchor="ctr"/>
          <a:lstStyle/>
          <a:p>
            <a:pPr indent="0" marL="0">
              <a:buNone/>
            </a:pPr>
            <a:r>
              <a:rPr lang="en-US" sz="1500" b="1" dirty="0">
                <a:solidFill>
                  <a:srgbClr val="5B6478"/>
                </a:solidFill>
                <a:latin typeface="Cambria" pitchFamily="34" charset="0"/>
                <a:ea typeface="Cambria" pitchFamily="34" charset="-122"/>
                <a:cs typeface="Cambria" pitchFamily="34" charset="-120"/>
              </a:rPr>
              <a:t>Result in memory</a:t>
            </a:r>
            <a:endParaRPr lang="en-US" sz="1500" dirty="0"/>
          </a:p>
        </p:txBody>
      </p:sp>
      <p:sp>
        <p:nvSpPr>
          <p:cNvPr id="22" name="Shape 19"/>
          <p:cNvSpPr/>
          <p:nvPr/>
        </p:nvSpPr>
        <p:spPr>
          <a:xfrm>
            <a:off x="8229600" y="2011680"/>
            <a:ext cx="658368" cy="548640"/>
          </a:xfrm>
          <a:prstGeom prst="rect">
            <a:avLst/>
          </a:prstGeom>
          <a:solidFill>
            <a:srgbClr val="FFFFFF"/>
          </a:solidFill>
          <a:ln w="15875">
            <a:solidFill>
              <a:srgbClr val="14213D"/>
            </a:solidFill>
            <a:prstDash val="solid"/>
          </a:ln>
        </p:spPr>
      </p:sp>
      <p:sp>
        <p:nvSpPr>
          <p:cNvPr id="23" name="Text 20"/>
          <p:cNvSpPr txBox="1"/>
          <p:nvPr/>
        </p:nvSpPr>
        <p:spPr>
          <a:xfrm>
            <a:off x="8229600" y="2011680"/>
            <a:ext cx="658368" cy="548640"/>
          </a:xfrm>
          <a:prstGeom prst="rect">
            <a:avLst/>
          </a:prstGeom>
          <a:noFill/>
          <a:ln/>
        </p:spPr>
        <p:txBody>
          <a:bodyPr wrap="square" lIns="0" tIns="0" rIns="0" bIns="0" rtlCol="0" anchor="ctr"/>
          <a:lstStyle/>
          <a:p>
            <a:pPr algn="ctr" indent="0" marL="0">
              <a:buNone/>
            </a:pPr>
            <a:r>
              <a:rPr lang="en-US" sz="1700" b="1" dirty="0">
                <a:solidFill>
                  <a:srgbClr val="14213D"/>
                </a:solidFill>
                <a:latin typeface="Courier New" pitchFamily="34" charset="0"/>
                <a:ea typeface="Courier New" pitchFamily="34" charset="-122"/>
                <a:cs typeface="Courier New" pitchFamily="34" charset="-120"/>
              </a:rPr>
              <a:t>0</a:t>
            </a:r>
            <a:endParaRPr lang="en-US" sz="1700" dirty="0"/>
          </a:p>
        </p:txBody>
      </p:sp>
      <p:sp>
        <p:nvSpPr>
          <p:cNvPr id="24" name="Text 21"/>
          <p:cNvSpPr txBox="1"/>
          <p:nvPr/>
        </p:nvSpPr>
        <p:spPr>
          <a:xfrm>
            <a:off x="8229600" y="2587752"/>
            <a:ext cx="658368" cy="274320"/>
          </a:xfrm>
          <a:prstGeom prst="rect">
            <a:avLst/>
          </a:prstGeom>
          <a:noFill/>
          <a:ln/>
        </p:spPr>
        <p:txBody>
          <a:bodyPr wrap="square" lIns="0" tIns="0" rIns="0" bIns="0" rtlCol="0" anchor="ctr"/>
          <a:lstStyle/>
          <a:p>
            <a:pPr algn="ctr" indent="0" marL="0">
              <a:buNone/>
            </a:pPr>
            <a:r>
              <a:rPr lang="en-US" sz="1300" dirty="0">
                <a:solidFill>
                  <a:srgbClr val="5B6478"/>
                </a:solidFill>
                <a:latin typeface="Courier New" pitchFamily="34" charset="0"/>
                <a:ea typeface="Courier New" pitchFamily="34" charset="-122"/>
                <a:cs typeface="Courier New" pitchFamily="34" charset="-120"/>
              </a:rPr>
              <a:t>[0]</a:t>
            </a:r>
            <a:endParaRPr lang="en-US" sz="1300" dirty="0"/>
          </a:p>
        </p:txBody>
      </p:sp>
      <p:sp>
        <p:nvSpPr>
          <p:cNvPr id="25" name="Shape 22"/>
          <p:cNvSpPr/>
          <p:nvPr/>
        </p:nvSpPr>
        <p:spPr>
          <a:xfrm>
            <a:off x="8887968" y="2011680"/>
            <a:ext cx="658368" cy="548640"/>
          </a:xfrm>
          <a:prstGeom prst="rect">
            <a:avLst/>
          </a:prstGeom>
          <a:solidFill>
            <a:srgbClr val="FFFFFF"/>
          </a:solidFill>
          <a:ln w="15875">
            <a:solidFill>
              <a:srgbClr val="14213D"/>
            </a:solidFill>
            <a:prstDash val="solid"/>
          </a:ln>
        </p:spPr>
      </p:sp>
      <p:sp>
        <p:nvSpPr>
          <p:cNvPr id="26" name="Text 23"/>
          <p:cNvSpPr txBox="1"/>
          <p:nvPr/>
        </p:nvSpPr>
        <p:spPr>
          <a:xfrm>
            <a:off x="8887968" y="2011680"/>
            <a:ext cx="658368" cy="548640"/>
          </a:xfrm>
          <a:prstGeom prst="rect">
            <a:avLst/>
          </a:prstGeom>
          <a:noFill/>
          <a:ln/>
        </p:spPr>
        <p:txBody>
          <a:bodyPr wrap="square" lIns="0" tIns="0" rIns="0" bIns="0" rtlCol="0" anchor="ctr"/>
          <a:lstStyle/>
          <a:p>
            <a:pPr algn="ctr" indent="0" marL="0">
              <a:buNone/>
            </a:pPr>
            <a:r>
              <a:rPr lang="en-US" sz="1700" b="1" dirty="0">
                <a:solidFill>
                  <a:srgbClr val="14213D"/>
                </a:solidFill>
                <a:latin typeface="Courier New" pitchFamily="34" charset="0"/>
                <a:ea typeface="Courier New" pitchFamily="34" charset="-122"/>
                <a:cs typeface="Courier New" pitchFamily="34" charset="-120"/>
              </a:rPr>
              <a:t>0</a:t>
            </a:r>
            <a:endParaRPr lang="en-US" sz="1700" dirty="0"/>
          </a:p>
        </p:txBody>
      </p:sp>
      <p:sp>
        <p:nvSpPr>
          <p:cNvPr id="27" name="Text 24"/>
          <p:cNvSpPr txBox="1"/>
          <p:nvPr/>
        </p:nvSpPr>
        <p:spPr>
          <a:xfrm>
            <a:off x="8887968" y="2587752"/>
            <a:ext cx="658368" cy="274320"/>
          </a:xfrm>
          <a:prstGeom prst="rect">
            <a:avLst/>
          </a:prstGeom>
          <a:noFill/>
          <a:ln/>
        </p:spPr>
        <p:txBody>
          <a:bodyPr wrap="square" lIns="0" tIns="0" rIns="0" bIns="0" rtlCol="0" anchor="ctr"/>
          <a:lstStyle/>
          <a:p>
            <a:pPr algn="ctr" indent="0" marL="0">
              <a:buNone/>
            </a:pPr>
            <a:r>
              <a:rPr lang="en-US" sz="1300" dirty="0">
                <a:solidFill>
                  <a:srgbClr val="5B6478"/>
                </a:solidFill>
                <a:latin typeface="Courier New" pitchFamily="34" charset="0"/>
                <a:ea typeface="Courier New" pitchFamily="34" charset="-122"/>
                <a:cs typeface="Courier New" pitchFamily="34" charset="-120"/>
              </a:rPr>
              <a:t>[1]</a:t>
            </a:r>
            <a:endParaRPr lang="en-US" sz="1300" dirty="0"/>
          </a:p>
        </p:txBody>
      </p:sp>
      <p:sp>
        <p:nvSpPr>
          <p:cNvPr id="28" name="Shape 25"/>
          <p:cNvSpPr/>
          <p:nvPr/>
        </p:nvSpPr>
        <p:spPr>
          <a:xfrm>
            <a:off x="9546336" y="2011680"/>
            <a:ext cx="658368" cy="548640"/>
          </a:xfrm>
          <a:prstGeom prst="rect">
            <a:avLst/>
          </a:prstGeom>
          <a:solidFill>
            <a:srgbClr val="FFFFFF"/>
          </a:solidFill>
          <a:ln w="15875">
            <a:solidFill>
              <a:srgbClr val="14213D"/>
            </a:solidFill>
            <a:prstDash val="solid"/>
          </a:ln>
        </p:spPr>
      </p:sp>
      <p:sp>
        <p:nvSpPr>
          <p:cNvPr id="29" name="Text 26"/>
          <p:cNvSpPr txBox="1"/>
          <p:nvPr/>
        </p:nvSpPr>
        <p:spPr>
          <a:xfrm>
            <a:off x="9546336" y="2011680"/>
            <a:ext cx="658368" cy="548640"/>
          </a:xfrm>
          <a:prstGeom prst="rect">
            <a:avLst/>
          </a:prstGeom>
          <a:noFill/>
          <a:ln/>
        </p:spPr>
        <p:txBody>
          <a:bodyPr wrap="square" lIns="0" tIns="0" rIns="0" bIns="0" rtlCol="0" anchor="ctr"/>
          <a:lstStyle/>
          <a:p>
            <a:pPr algn="ctr" indent="0" marL="0">
              <a:buNone/>
            </a:pPr>
            <a:r>
              <a:rPr lang="en-US" sz="1700" b="1" dirty="0">
                <a:solidFill>
                  <a:srgbClr val="14213D"/>
                </a:solidFill>
                <a:latin typeface="Courier New" pitchFamily="34" charset="0"/>
                <a:ea typeface="Courier New" pitchFamily="34" charset="-122"/>
                <a:cs typeface="Courier New" pitchFamily="34" charset="-120"/>
              </a:rPr>
              <a:t>0</a:t>
            </a:r>
            <a:endParaRPr lang="en-US" sz="1700" dirty="0"/>
          </a:p>
        </p:txBody>
      </p:sp>
      <p:sp>
        <p:nvSpPr>
          <p:cNvPr id="30" name="Text 27"/>
          <p:cNvSpPr txBox="1"/>
          <p:nvPr/>
        </p:nvSpPr>
        <p:spPr>
          <a:xfrm>
            <a:off x="9546336" y="2587752"/>
            <a:ext cx="658368" cy="274320"/>
          </a:xfrm>
          <a:prstGeom prst="rect">
            <a:avLst/>
          </a:prstGeom>
          <a:noFill/>
          <a:ln/>
        </p:spPr>
        <p:txBody>
          <a:bodyPr wrap="square" lIns="0" tIns="0" rIns="0" bIns="0" rtlCol="0" anchor="ctr"/>
          <a:lstStyle/>
          <a:p>
            <a:pPr algn="ctr" indent="0" marL="0">
              <a:buNone/>
            </a:pPr>
            <a:r>
              <a:rPr lang="en-US" sz="1300" dirty="0">
                <a:solidFill>
                  <a:srgbClr val="5B6478"/>
                </a:solidFill>
                <a:latin typeface="Courier New" pitchFamily="34" charset="0"/>
                <a:ea typeface="Courier New" pitchFamily="34" charset="-122"/>
                <a:cs typeface="Courier New" pitchFamily="34" charset="-120"/>
              </a:rPr>
              <a:t>[2]</a:t>
            </a:r>
            <a:endParaRPr lang="en-US" sz="1300" dirty="0"/>
          </a:p>
        </p:txBody>
      </p:sp>
      <p:sp>
        <p:nvSpPr>
          <p:cNvPr id="31" name="Shape 28"/>
          <p:cNvSpPr/>
          <p:nvPr/>
        </p:nvSpPr>
        <p:spPr>
          <a:xfrm>
            <a:off x="10204704" y="2011680"/>
            <a:ext cx="658368" cy="548640"/>
          </a:xfrm>
          <a:prstGeom prst="rect">
            <a:avLst/>
          </a:prstGeom>
          <a:solidFill>
            <a:srgbClr val="FFFFFF"/>
          </a:solidFill>
          <a:ln w="15875">
            <a:solidFill>
              <a:srgbClr val="14213D"/>
            </a:solidFill>
            <a:prstDash val="solid"/>
          </a:ln>
        </p:spPr>
      </p:sp>
      <p:sp>
        <p:nvSpPr>
          <p:cNvPr id="32" name="Text 29"/>
          <p:cNvSpPr txBox="1"/>
          <p:nvPr/>
        </p:nvSpPr>
        <p:spPr>
          <a:xfrm>
            <a:off x="10204704" y="2011680"/>
            <a:ext cx="658368" cy="548640"/>
          </a:xfrm>
          <a:prstGeom prst="rect">
            <a:avLst/>
          </a:prstGeom>
          <a:noFill/>
          <a:ln/>
        </p:spPr>
        <p:txBody>
          <a:bodyPr wrap="square" lIns="0" tIns="0" rIns="0" bIns="0" rtlCol="0" anchor="ctr"/>
          <a:lstStyle/>
          <a:p>
            <a:pPr algn="ctr" indent="0" marL="0">
              <a:buNone/>
            </a:pPr>
            <a:r>
              <a:rPr lang="en-US" sz="1700" b="1" dirty="0">
                <a:solidFill>
                  <a:srgbClr val="14213D"/>
                </a:solidFill>
                <a:latin typeface="Courier New" pitchFamily="34" charset="0"/>
                <a:ea typeface="Courier New" pitchFamily="34" charset="-122"/>
                <a:cs typeface="Courier New" pitchFamily="34" charset="-120"/>
              </a:rPr>
              <a:t>0</a:t>
            </a:r>
            <a:endParaRPr lang="en-US" sz="1700" dirty="0"/>
          </a:p>
        </p:txBody>
      </p:sp>
      <p:sp>
        <p:nvSpPr>
          <p:cNvPr id="33" name="Text 30"/>
          <p:cNvSpPr txBox="1"/>
          <p:nvPr/>
        </p:nvSpPr>
        <p:spPr>
          <a:xfrm>
            <a:off x="10204704" y="2587752"/>
            <a:ext cx="658368" cy="274320"/>
          </a:xfrm>
          <a:prstGeom prst="rect">
            <a:avLst/>
          </a:prstGeom>
          <a:noFill/>
          <a:ln/>
        </p:spPr>
        <p:txBody>
          <a:bodyPr wrap="square" lIns="0" tIns="0" rIns="0" bIns="0" rtlCol="0" anchor="ctr"/>
          <a:lstStyle/>
          <a:p>
            <a:pPr algn="ctr" indent="0" marL="0">
              <a:buNone/>
            </a:pPr>
            <a:r>
              <a:rPr lang="en-US" sz="1300" dirty="0">
                <a:solidFill>
                  <a:srgbClr val="5B6478"/>
                </a:solidFill>
                <a:latin typeface="Courier New" pitchFamily="34" charset="0"/>
                <a:ea typeface="Courier New" pitchFamily="34" charset="-122"/>
                <a:cs typeface="Courier New" pitchFamily="34" charset="-120"/>
              </a:rPr>
              <a:t>[3]</a:t>
            </a:r>
            <a:endParaRPr lang="en-US" sz="1300" dirty="0"/>
          </a:p>
        </p:txBody>
      </p:sp>
      <p:sp>
        <p:nvSpPr>
          <p:cNvPr id="34" name="Shape 31"/>
          <p:cNvSpPr/>
          <p:nvPr/>
        </p:nvSpPr>
        <p:spPr>
          <a:xfrm>
            <a:off x="10863072" y="2011680"/>
            <a:ext cx="658368" cy="548640"/>
          </a:xfrm>
          <a:prstGeom prst="rect">
            <a:avLst/>
          </a:prstGeom>
          <a:solidFill>
            <a:srgbClr val="FFFFFF"/>
          </a:solidFill>
          <a:ln w="15875">
            <a:solidFill>
              <a:srgbClr val="14213D"/>
            </a:solidFill>
            <a:prstDash val="solid"/>
          </a:ln>
        </p:spPr>
      </p:sp>
      <p:sp>
        <p:nvSpPr>
          <p:cNvPr id="35" name="Text 32"/>
          <p:cNvSpPr txBox="1"/>
          <p:nvPr/>
        </p:nvSpPr>
        <p:spPr>
          <a:xfrm>
            <a:off x="10863072" y="2011680"/>
            <a:ext cx="658368" cy="548640"/>
          </a:xfrm>
          <a:prstGeom prst="rect">
            <a:avLst/>
          </a:prstGeom>
          <a:noFill/>
          <a:ln/>
        </p:spPr>
        <p:txBody>
          <a:bodyPr wrap="square" lIns="0" tIns="0" rIns="0" bIns="0" rtlCol="0" anchor="ctr"/>
          <a:lstStyle/>
          <a:p>
            <a:pPr algn="ctr" indent="0" marL="0">
              <a:buNone/>
            </a:pPr>
            <a:r>
              <a:rPr lang="en-US" sz="1700" b="1" dirty="0">
                <a:solidFill>
                  <a:srgbClr val="14213D"/>
                </a:solidFill>
                <a:latin typeface="Courier New" pitchFamily="34" charset="0"/>
                <a:ea typeface="Courier New" pitchFamily="34" charset="-122"/>
                <a:cs typeface="Courier New" pitchFamily="34" charset="-120"/>
              </a:rPr>
              <a:t>0</a:t>
            </a:r>
            <a:endParaRPr lang="en-US" sz="1700" dirty="0"/>
          </a:p>
        </p:txBody>
      </p:sp>
      <p:sp>
        <p:nvSpPr>
          <p:cNvPr id="36" name="Text 33"/>
          <p:cNvSpPr txBox="1"/>
          <p:nvPr/>
        </p:nvSpPr>
        <p:spPr>
          <a:xfrm>
            <a:off x="10863072" y="2587752"/>
            <a:ext cx="658368" cy="274320"/>
          </a:xfrm>
          <a:prstGeom prst="rect">
            <a:avLst/>
          </a:prstGeom>
          <a:noFill/>
          <a:ln/>
        </p:spPr>
        <p:txBody>
          <a:bodyPr wrap="square" lIns="0" tIns="0" rIns="0" bIns="0" rtlCol="0" anchor="ctr"/>
          <a:lstStyle/>
          <a:p>
            <a:pPr algn="ctr" indent="0" marL="0">
              <a:buNone/>
            </a:pPr>
            <a:r>
              <a:rPr lang="en-US" sz="1300" dirty="0">
                <a:solidFill>
                  <a:srgbClr val="5B6478"/>
                </a:solidFill>
                <a:latin typeface="Courier New" pitchFamily="34" charset="0"/>
                <a:ea typeface="Courier New" pitchFamily="34" charset="-122"/>
                <a:cs typeface="Courier New" pitchFamily="34" charset="-120"/>
              </a:rPr>
              <a:t>[4]</a:t>
            </a:r>
            <a:endParaRPr lang="en-US" sz="1300" dirty="0"/>
          </a:p>
        </p:txBody>
      </p:sp>
      <p:sp>
        <p:nvSpPr>
          <p:cNvPr id="37" name="Text 34"/>
          <p:cNvSpPr txBox="1"/>
          <p:nvPr/>
        </p:nvSpPr>
        <p:spPr>
          <a:xfrm>
            <a:off x="548640" y="3200400"/>
            <a:ext cx="5486400" cy="329184"/>
          </a:xfrm>
          <a:prstGeom prst="rect">
            <a:avLst/>
          </a:prstGeom>
          <a:noFill/>
          <a:ln/>
        </p:spPr>
        <p:txBody>
          <a:bodyPr wrap="square" lIns="0" tIns="0" rIns="0" bIns="0"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Size known only at run time</a:t>
            </a:r>
            <a:endParaRPr lang="en-US" sz="1600" dirty="0"/>
          </a:p>
        </p:txBody>
      </p:sp>
      <p:sp>
        <p:nvSpPr>
          <p:cNvPr id="38" name="Shape 35"/>
          <p:cNvSpPr/>
          <p:nvPr/>
        </p:nvSpPr>
        <p:spPr>
          <a:xfrm>
            <a:off x="548640" y="3566160"/>
            <a:ext cx="5486400" cy="1600200"/>
          </a:xfrm>
          <a:prstGeom prst="roundRect">
            <a:avLst>
              <a:gd name="adj" fmla="val 5714"/>
            </a:avLst>
          </a:prstGeom>
          <a:solidFill>
            <a:srgbClr val="0F1729"/>
          </a:solidFill>
          <a:ln w="12700">
            <a:solidFill>
              <a:srgbClr val="0F1729"/>
            </a:solidFill>
            <a:prstDash val="solid"/>
          </a:ln>
        </p:spPr>
      </p:sp>
      <p:sp>
        <p:nvSpPr>
          <p:cNvPr id="39" name="Text 36"/>
          <p:cNvSpPr txBox="1"/>
          <p:nvPr/>
        </p:nvSpPr>
        <p:spPr>
          <a:xfrm>
            <a:off x="777240" y="3675888"/>
            <a:ext cx="502920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09_02_GradeStats</a:t>
            </a:r>
            <a:endParaRPr lang="en-US" sz="1100" dirty="0"/>
          </a:p>
        </p:txBody>
      </p:sp>
      <p:sp>
        <p:nvSpPr>
          <p:cNvPr id="40" name="Text 37"/>
          <p:cNvSpPr txBox="1"/>
          <p:nvPr/>
        </p:nvSpPr>
        <p:spPr>
          <a:xfrm>
            <a:off x="777240" y="3977640"/>
            <a:ext cx="5029200" cy="1078992"/>
          </a:xfrm>
          <a:prstGeom prst="rect">
            <a:avLst/>
          </a:prstGeom>
          <a:noFill/>
          <a:ln/>
        </p:spPr>
        <p:txBody>
          <a:bodyPr wrap="square" lIns="0" tIns="0" rIns="0" bIns="0" rtlCol="0" anchor="t"/>
          <a:lstStyle/>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300" dirty="0">
                <a:solidFill>
                  <a:srgbClr val="CE9178"/>
                </a:solidFill>
                <a:latin typeface="Courier New" pitchFamily="34" charset="0"/>
                <a:ea typeface="Courier New" pitchFamily="34" charset="-122"/>
                <a:cs typeface="Courier New" pitchFamily="34" charset="-120"/>
              </a:rPr>
              <a:t>"How many students? "</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n =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.Parse(</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.ReadLine());</a:t>
            </a:r>
            <a:endParaRPr lang="en-US" sz="1300" dirty="0"/>
          </a:p>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grades = </a:t>
            </a:r>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new</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[n];</a:t>
            </a:r>
            <a:endParaRPr lang="en-US" sz="1300" dirty="0"/>
          </a:p>
        </p:txBody>
      </p:sp>
      <p:sp>
        <p:nvSpPr>
          <p:cNvPr id="41" name="Text 38"/>
          <p:cNvSpPr txBox="1"/>
          <p:nvPr/>
        </p:nvSpPr>
        <p:spPr>
          <a:xfrm>
            <a:off x="6309360" y="3200400"/>
            <a:ext cx="5349240" cy="329184"/>
          </a:xfrm>
          <a:prstGeom prst="rect">
            <a:avLst/>
          </a:prstGeom>
          <a:noFill/>
          <a:ln/>
        </p:spPr>
        <p:txBody>
          <a:bodyPr wrap="square" lIns="0" tIns="0" rIns="0" bIns="0"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Two steps are also fine</a:t>
            </a:r>
            <a:endParaRPr lang="en-US" sz="1600" dirty="0"/>
          </a:p>
        </p:txBody>
      </p:sp>
      <p:sp>
        <p:nvSpPr>
          <p:cNvPr id="42" name="Shape 39"/>
          <p:cNvSpPr/>
          <p:nvPr/>
        </p:nvSpPr>
        <p:spPr>
          <a:xfrm>
            <a:off x="6309360" y="3566160"/>
            <a:ext cx="5349240" cy="1600200"/>
          </a:xfrm>
          <a:prstGeom prst="roundRect">
            <a:avLst>
              <a:gd name="adj" fmla="val 5714"/>
            </a:avLst>
          </a:prstGeom>
          <a:solidFill>
            <a:srgbClr val="0F1729"/>
          </a:solidFill>
          <a:ln w="12700">
            <a:solidFill>
              <a:srgbClr val="0F1729"/>
            </a:solidFill>
            <a:prstDash val="solid"/>
          </a:ln>
        </p:spPr>
      </p:sp>
      <p:sp>
        <p:nvSpPr>
          <p:cNvPr id="43" name="Text 40"/>
          <p:cNvSpPr txBox="1"/>
          <p:nvPr/>
        </p:nvSpPr>
        <p:spPr>
          <a:xfrm>
            <a:off x="6537960" y="3730752"/>
            <a:ext cx="4892040" cy="1325880"/>
          </a:xfrm>
          <a:prstGeom prst="rect">
            <a:avLst/>
          </a:prstGeom>
          <a:noFill/>
          <a:ln/>
        </p:spPr>
        <p:txBody>
          <a:bodyPr wrap="square" lIns="0" tIns="0" rIns="0" bIns="0" rtlCol="0" anchor="t"/>
          <a:lstStyle/>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scores;          </a:t>
            </a:r>
            <a:pPr indent="0" marL="0">
              <a:spcAft>
                <a:spcPts val="100"/>
              </a:spcAft>
              <a:buNone/>
            </a:pPr>
            <a:r>
              <a:rPr lang="en-US" sz="1300" dirty="0">
                <a:solidFill>
                  <a:srgbClr val="7F8BA3"/>
                </a:solidFill>
                <a:latin typeface="Courier New" pitchFamily="34" charset="0"/>
                <a:ea typeface="Courier New" pitchFamily="34" charset="-122"/>
                <a:cs typeface="Courier New" pitchFamily="34" charset="-120"/>
              </a:rPr>
              <a:t>// declared, no array yet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scores = </a:t>
            </a:r>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new</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5</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7F8BA3"/>
                </a:solidFill>
                <a:latin typeface="Courier New" pitchFamily="34" charset="0"/>
                <a:ea typeface="Courier New" pitchFamily="34" charset="-122"/>
                <a:cs typeface="Courier New" pitchFamily="34" charset="-120"/>
              </a:rPr>
              <a:t>// now 5 boxes exist</a:t>
            </a:r>
            <a:endParaRPr lang="en-US" sz="1300" dirty="0"/>
          </a:p>
        </p:txBody>
      </p:sp>
      <p:sp>
        <p:nvSpPr>
          <p:cNvPr id="44" name="Shape 41"/>
          <p:cNvSpPr/>
          <p:nvPr/>
        </p:nvSpPr>
        <p:spPr>
          <a:xfrm>
            <a:off x="548640" y="5349240"/>
            <a:ext cx="11109960" cy="731520"/>
          </a:xfrm>
          <a:prstGeom prst="roundRect">
            <a:avLst>
              <a:gd name="adj" fmla="val 15000"/>
            </a:avLst>
          </a:prstGeom>
          <a:solidFill>
            <a:srgbClr val="FBE9E7"/>
          </a:solidFill>
          <a:ln w="12700">
            <a:solidFill>
              <a:srgbClr val="FBE9E7"/>
            </a:solidFill>
            <a:prstDash val="solid"/>
          </a:ln>
        </p:spPr>
      </p:sp>
      <p:pic>
        <p:nvPicPr>
          <p:cNvPr id="45" name="Image 0" descr="preencoded.png">    </p:cNvPr>
          <p:cNvPicPr>
            <a:picLocks noChangeAspect="1"/>
          </p:cNvPicPr>
          <p:nvPr/>
        </p:nvPicPr>
        <p:blipFill>
          <a:blip r:embed="rId1"/>
          <a:stretch>
            <a:fillRect/>
          </a:stretch>
        </p:blipFill>
        <p:spPr>
          <a:xfrm>
            <a:off x="822960" y="5486400"/>
            <a:ext cx="457200" cy="457200"/>
          </a:xfrm>
          <a:prstGeom prst="rect">
            <a:avLst/>
          </a:prstGeom>
        </p:spPr>
      </p:pic>
      <p:sp>
        <p:nvSpPr>
          <p:cNvPr id="46" name="Text 42"/>
          <p:cNvSpPr txBox="1"/>
          <p:nvPr/>
        </p:nvSpPr>
        <p:spPr>
          <a:xfrm>
            <a:off x="1554480" y="5422392"/>
            <a:ext cx="9829800" cy="585216"/>
          </a:xfrm>
          <a:prstGeom prst="rect">
            <a:avLst/>
          </a:prstGeom>
          <a:noFill/>
          <a:ln/>
        </p:spPr>
        <p:txBody>
          <a:bodyPr wrap="square" lIns="0" tIns="0" rIns="0" bIns="0" rtlCol="0" anchor="ctr"/>
          <a:lstStyle/>
          <a:p>
            <a:pPr indent="0" marL="0">
              <a:buNone/>
            </a:pPr>
            <a:r>
              <a:rPr lang="en-US" sz="1500" b="1" dirty="0">
                <a:solidFill>
                  <a:srgbClr val="C8453B"/>
                </a:solidFill>
                <a:latin typeface="Calibri" pitchFamily="34" charset="0"/>
                <a:ea typeface="Calibri" pitchFamily="34" charset="-122"/>
                <a:cs typeface="Calibri" pitchFamily="34" charset="-120"/>
              </a:rPr>
              <a:t>Not C/C++ style: </a:t>
            </a:r>
            <a:pPr indent="0" marL="0">
              <a:buNone/>
            </a:pPr>
            <a:r>
              <a:rPr lang="en-US" sz="1500" dirty="0">
                <a:solidFill>
                  <a:srgbClr val="333B4F"/>
                </a:solidFill>
                <a:latin typeface="Calibri" pitchFamily="34" charset="0"/>
                <a:ea typeface="Calibri" pitchFamily="34" charset="-122"/>
                <a:cs typeface="Calibri" pitchFamily="34" charset="-120"/>
              </a:rPr>
              <a:t>int scores[5]; does not compile in C#. The size belongs to new, the brackets to the type.</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DEFAULT VALUES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new Fills Every Box with a Default Value</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9</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9</a:t>
            </a:r>
            <a:endParaRPr lang="en-US" sz="1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6949440" cy="914400"/>
        </p:xfrm>
        <a:graphic>
          <a:graphicData uri="http://schemas.openxmlformats.org/drawingml/2006/table">
            <a:tbl>
              <a:tblPr/>
              <a:tblGrid>
                <a:gridCol w="1783080"/>
                <a:gridCol w="1600200"/>
                <a:gridCol w="3566160"/>
              </a:tblGrid>
              <a:tr h="475488">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Element type</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Default value</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Example</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475488">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int, long, short, byte</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0</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new int[3] → 0, 0, 0</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75488">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double, float</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0.0 (prints 0)</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new double[2] → 0, 0</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75488">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decimal</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0</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new decimal[2] → 0, 0</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75488">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bool</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false</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new bool[2] → False, False</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75488">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char</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'\0' (code 0)</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new char[2] → '\0', '\0'</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75488">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string</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null</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new string[2] → null, null</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bl>
          </a:graphicData>
        </a:graphic>
      </p:graphicFrame>
      <p:sp>
        <p:nvSpPr>
          <p:cNvPr id="8" name="Shape 4"/>
          <p:cNvSpPr/>
          <p:nvPr/>
        </p:nvSpPr>
        <p:spPr>
          <a:xfrm>
            <a:off x="7726680" y="1645920"/>
            <a:ext cx="3931920" cy="1600200"/>
          </a:xfrm>
          <a:prstGeom prst="roundRect">
            <a:avLst>
              <a:gd name="adj" fmla="val 5714"/>
            </a:avLst>
          </a:prstGeom>
          <a:solidFill>
            <a:srgbClr val="0F1729"/>
          </a:solidFill>
          <a:ln w="12700">
            <a:solidFill>
              <a:srgbClr val="0F1729"/>
            </a:solidFill>
            <a:prstDash val="solid"/>
          </a:ln>
        </p:spPr>
      </p:sp>
      <p:sp>
        <p:nvSpPr>
          <p:cNvPr id="9" name="Text 5"/>
          <p:cNvSpPr txBox="1"/>
          <p:nvPr/>
        </p:nvSpPr>
        <p:spPr>
          <a:xfrm>
            <a:off x="7955280" y="1755648"/>
            <a:ext cx="347472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09_01_ArrayBasics (excerpt)</a:t>
            </a:r>
            <a:endParaRPr lang="en-US" sz="1100" dirty="0"/>
          </a:p>
        </p:txBody>
      </p:sp>
      <p:sp>
        <p:nvSpPr>
          <p:cNvPr id="10" name="Text 6"/>
          <p:cNvSpPr txBox="1"/>
          <p:nvPr/>
        </p:nvSpPr>
        <p:spPr>
          <a:xfrm>
            <a:off x="7955280" y="2057400"/>
            <a:ext cx="3474720" cy="1078992"/>
          </a:xfrm>
          <a:prstGeom prst="rect">
            <a:avLst/>
          </a:prstGeom>
          <a:noFill/>
          <a:ln/>
        </p:spPr>
        <p:txBody>
          <a:bodyPr wrap="square" lIns="0" tIns="0" rIns="0" bIns="0" rtlCol="0" anchor="t"/>
          <a:lstStyle/>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prices =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new</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3</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bool</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present =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new</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bool</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3</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string</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names =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new</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string</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3</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char</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letters =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new</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char</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3</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1" name="Shape 7"/>
          <p:cNvSpPr/>
          <p:nvPr/>
        </p:nvSpPr>
        <p:spPr>
          <a:xfrm>
            <a:off x="7726680" y="3383280"/>
            <a:ext cx="3931920" cy="1600200"/>
          </a:xfrm>
          <a:prstGeom prst="roundRect">
            <a:avLst>
              <a:gd name="adj" fmla="val 5714"/>
            </a:avLst>
          </a:prstGeom>
          <a:solidFill>
            <a:srgbClr val="0B0F19"/>
          </a:solidFill>
          <a:ln w="12700">
            <a:solidFill>
              <a:srgbClr val="2A3654"/>
            </a:solidFill>
            <a:prstDash val="solid"/>
          </a:ln>
        </p:spPr>
      </p:sp>
      <p:sp>
        <p:nvSpPr>
          <p:cNvPr id="12" name="Shape 8"/>
          <p:cNvSpPr/>
          <p:nvPr/>
        </p:nvSpPr>
        <p:spPr>
          <a:xfrm>
            <a:off x="7909560" y="3511296"/>
            <a:ext cx="118872" cy="118872"/>
          </a:xfrm>
          <a:prstGeom prst="ellipse">
            <a:avLst/>
          </a:prstGeom>
          <a:solidFill>
            <a:srgbClr val="FF5F57"/>
          </a:solidFill>
          <a:ln w="12700">
            <a:solidFill>
              <a:srgbClr val="FF5F57"/>
            </a:solidFill>
            <a:prstDash val="solid"/>
          </a:ln>
        </p:spPr>
      </p:sp>
      <p:sp>
        <p:nvSpPr>
          <p:cNvPr id="13" name="Shape 9"/>
          <p:cNvSpPr/>
          <p:nvPr/>
        </p:nvSpPr>
        <p:spPr>
          <a:xfrm>
            <a:off x="8138160" y="3511296"/>
            <a:ext cx="118872" cy="118872"/>
          </a:xfrm>
          <a:prstGeom prst="ellipse">
            <a:avLst/>
          </a:prstGeom>
          <a:solidFill>
            <a:srgbClr val="FEBC2E"/>
          </a:solidFill>
          <a:ln w="12700">
            <a:solidFill>
              <a:srgbClr val="FEBC2E"/>
            </a:solidFill>
            <a:prstDash val="solid"/>
          </a:ln>
        </p:spPr>
      </p:sp>
      <p:sp>
        <p:nvSpPr>
          <p:cNvPr id="14" name="Shape 10"/>
          <p:cNvSpPr/>
          <p:nvPr/>
        </p:nvSpPr>
        <p:spPr>
          <a:xfrm>
            <a:off x="8366760" y="3511296"/>
            <a:ext cx="118872" cy="118872"/>
          </a:xfrm>
          <a:prstGeom prst="ellipse">
            <a:avLst/>
          </a:prstGeom>
          <a:solidFill>
            <a:srgbClr val="28C840"/>
          </a:solidFill>
          <a:ln w="12700">
            <a:solidFill>
              <a:srgbClr val="28C840"/>
            </a:solidFill>
            <a:prstDash val="solid"/>
          </a:ln>
        </p:spPr>
      </p:sp>
      <p:sp>
        <p:nvSpPr>
          <p:cNvPr id="15" name="Text 11"/>
          <p:cNvSpPr txBox="1"/>
          <p:nvPr/>
        </p:nvSpPr>
        <p:spPr>
          <a:xfrm>
            <a:off x="8641080" y="3456432"/>
            <a:ext cx="283464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16" name="Text 12"/>
          <p:cNvSpPr txBox="1"/>
          <p:nvPr/>
        </p:nvSpPr>
        <p:spPr>
          <a:xfrm>
            <a:off x="7955280" y="3767328"/>
            <a:ext cx="3474720" cy="1097280"/>
          </a:xfrm>
          <a:prstGeom prst="rect">
            <a:avLst/>
          </a:prstGeom>
          <a:noFill/>
          <a:ln/>
        </p:spPr>
        <p:txBody>
          <a:bodyPr wrap="square" lIns="0" tIns="0" rIns="0" bIns="0" rtlCol="0" anchor="t"/>
          <a:lstStyle/>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double: 0, bool: False</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string is null: True, char code: 0</a:t>
            </a:r>
            <a:endParaRPr lang="en-US" sz="1200" dirty="0"/>
          </a:p>
        </p:txBody>
      </p:sp>
      <p:sp>
        <p:nvSpPr>
          <p:cNvPr id="17" name="Shape 13"/>
          <p:cNvSpPr/>
          <p:nvPr/>
        </p:nvSpPr>
        <p:spPr>
          <a:xfrm>
            <a:off x="548640" y="5166360"/>
            <a:ext cx="11109960" cy="914400"/>
          </a:xfrm>
          <a:prstGeom prst="roundRect">
            <a:avLst>
              <a:gd name="adj" fmla="val 12000"/>
            </a:avLst>
          </a:prstGeom>
          <a:solidFill>
            <a:srgbClr val="FFF6E3"/>
          </a:solidFill>
          <a:ln w="12700">
            <a:solidFill>
              <a:srgbClr val="FFF6E3"/>
            </a:solidFill>
            <a:prstDash val="solid"/>
          </a:ln>
        </p:spPr>
      </p:sp>
      <p:pic>
        <p:nvPicPr>
          <p:cNvPr id="18" name="Image 0" descr="preencoded.png">    </p:cNvPr>
          <p:cNvPicPr>
            <a:picLocks noChangeAspect="1"/>
          </p:cNvPicPr>
          <p:nvPr/>
        </p:nvPicPr>
        <p:blipFill>
          <a:blip r:embed="rId1"/>
          <a:stretch>
            <a:fillRect/>
          </a:stretch>
        </p:blipFill>
        <p:spPr>
          <a:xfrm>
            <a:off x="822960" y="5349240"/>
            <a:ext cx="548640" cy="548640"/>
          </a:xfrm>
          <a:prstGeom prst="rect">
            <a:avLst/>
          </a:prstGeom>
        </p:spPr>
      </p:pic>
      <p:sp>
        <p:nvSpPr>
          <p:cNvPr id="19" name="Text 14"/>
          <p:cNvSpPr txBox="1"/>
          <p:nvPr/>
        </p:nvSpPr>
        <p:spPr>
          <a:xfrm>
            <a:off x="1645920" y="5239512"/>
            <a:ext cx="9738360" cy="768096"/>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null ≠ "". </a:t>
            </a:r>
            <a:pPr indent="0" marL="0">
              <a:buNone/>
            </a:pPr>
            <a:r>
              <a:rPr lang="en-US" sz="1500" dirty="0">
                <a:solidFill>
                  <a:srgbClr val="333B4F"/>
                </a:solidFill>
                <a:latin typeface="Calibri" pitchFamily="34" charset="0"/>
                <a:ea typeface="Calibri" pitchFamily="34" charset="-122"/>
                <a:cs typeface="Calibri" pitchFamily="34" charset="-120"/>
              </a:rPr>
              <a:t>null means "no string yet"; "" is a string with 0 characters. Fill string arrays before you use the elements.</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INITIALIZER LISTS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Known Values? Write Them Directly</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9</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10</a:t>
            </a:r>
            <a:endParaRPr lang="en-US" sz="1000" dirty="0"/>
          </a:p>
        </p:txBody>
      </p:sp>
      <p:sp>
        <p:nvSpPr>
          <p:cNvPr id="7" name="Text 4"/>
          <p:cNvSpPr txBox="1"/>
          <p:nvPr/>
        </p:nvSpPr>
        <p:spPr>
          <a:xfrm>
            <a:off x="548640" y="1645920"/>
            <a:ext cx="6035040" cy="292608"/>
          </a:xfrm>
          <a:prstGeom prst="rect">
            <a:avLst/>
          </a:prstGeom>
          <a:noFill/>
          <a:ln/>
        </p:spPr>
        <p:txBody>
          <a:bodyPr wrap="square" lIns="0" tIns="0" rIns="0" bIns="0" rtlCol="0" anchor="ctr"/>
          <a:lstStyle/>
          <a:p>
            <a:pPr indent="0" marL="0">
              <a:buNone/>
            </a:pPr>
            <a:r>
              <a:rPr lang="en-US" sz="1400" b="1" dirty="0">
                <a:solidFill>
                  <a:srgbClr val="5B6478"/>
                </a:solidFill>
                <a:latin typeface="Calibri" pitchFamily="34" charset="0"/>
                <a:ea typeface="Calibri" pitchFamily="34" charset="-122"/>
                <a:cs typeface="Calibri" pitchFamily="34" charset="-120"/>
              </a:rPr>
              <a:t>Short form (declaration only)</a:t>
            </a:r>
            <a:endParaRPr lang="en-US" sz="1400" dirty="0"/>
          </a:p>
        </p:txBody>
      </p:sp>
      <p:sp>
        <p:nvSpPr>
          <p:cNvPr id="8" name="Shape 5"/>
          <p:cNvSpPr/>
          <p:nvPr/>
        </p:nvSpPr>
        <p:spPr>
          <a:xfrm>
            <a:off x="548640" y="1947672"/>
            <a:ext cx="6035040" cy="621792"/>
          </a:xfrm>
          <a:prstGeom prst="roundRect">
            <a:avLst>
              <a:gd name="adj" fmla="val 14706"/>
            </a:avLst>
          </a:prstGeom>
          <a:solidFill>
            <a:srgbClr val="0F1729"/>
          </a:solidFill>
          <a:ln w="12700">
            <a:solidFill>
              <a:srgbClr val="0F1729"/>
            </a:solidFill>
            <a:prstDash val="solid"/>
          </a:ln>
        </p:spPr>
      </p:sp>
      <p:sp>
        <p:nvSpPr>
          <p:cNvPr id="9" name="Text 6"/>
          <p:cNvSpPr txBox="1"/>
          <p:nvPr/>
        </p:nvSpPr>
        <p:spPr>
          <a:xfrm>
            <a:off x="777240" y="2112264"/>
            <a:ext cx="5577840" cy="347472"/>
          </a:xfrm>
          <a:prstGeom prst="rect">
            <a:avLst/>
          </a:prstGeom>
          <a:noFill/>
          <a:ln/>
        </p:spPr>
        <p:txBody>
          <a:bodyPr wrap="square" lIns="0" tIns="0" rIns="0" bIns="0" rtlCol="0" anchor="t"/>
          <a:lstStyle/>
          <a:p>
            <a:pPr indent="0" marL="0">
              <a:spcAft>
                <a:spcPts val="100"/>
              </a:spcAft>
              <a:buNone/>
            </a:pPr>
            <a:r>
              <a:rPr lang="en-US" sz="15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 a = { </a:t>
            </a:r>
            <a:pPr indent="0" marL="0">
              <a:spcAft>
                <a:spcPts val="100"/>
              </a:spcAft>
              <a:buNone/>
            </a:pPr>
            <a:r>
              <a:rPr lang="en-US" sz="1500" dirty="0">
                <a:solidFill>
                  <a:srgbClr val="B5CEA8"/>
                </a:solidFill>
                <a:latin typeface="Courier New" pitchFamily="34" charset="0"/>
                <a:ea typeface="Courier New" pitchFamily="34" charset="-122"/>
                <a:cs typeface="Courier New" pitchFamily="34" charset="-120"/>
              </a:rPr>
              <a:t>3</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500" dirty="0">
                <a:solidFill>
                  <a:srgbClr val="B5CEA8"/>
                </a:solidFill>
                <a:latin typeface="Courier New" pitchFamily="34" charset="0"/>
                <a:ea typeface="Courier New" pitchFamily="34" charset="-122"/>
                <a:cs typeface="Courier New" pitchFamily="34" charset="-120"/>
              </a:rPr>
              <a:t>7</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5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 };</a:t>
            </a:r>
            <a:endParaRPr lang="en-US" sz="1500" dirty="0"/>
          </a:p>
        </p:txBody>
      </p:sp>
      <p:sp>
        <p:nvSpPr>
          <p:cNvPr id="10" name="Text 7"/>
          <p:cNvSpPr txBox="1"/>
          <p:nvPr/>
        </p:nvSpPr>
        <p:spPr>
          <a:xfrm>
            <a:off x="548640" y="2670048"/>
            <a:ext cx="6035040" cy="292608"/>
          </a:xfrm>
          <a:prstGeom prst="rect">
            <a:avLst/>
          </a:prstGeom>
          <a:noFill/>
          <a:ln/>
        </p:spPr>
        <p:txBody>
          <a:bodyPr wrap="square" lIns="0" tIns="0" rIns="0" bIns="0" rtlCol="0" anchor="ctr"/>
          <a:lstStyle/>
          <a:p>
            <a:pPr indent="0" marL="0">
              <a:buNone/>
            </a:pPr>
            <a:r>
              <a:rPr lang="en-US" sz="1400" b="1" dirty="0">
                <a:solidFill>
                  <a:srgbClr val="5B6478"/>
                </a:solidFill>
                <a:latin typeface="Calibri" pitchFamily="34" charset="0"/>
                <a:ea typeface="Calibri" pitchFamily="34" charset="-122"/>
                <a:cs typeface="Calibri" pitchFamily="34" charset="-120"/>
              </a:rPr>
              <a:t>With new and the type</a:t>
            </a:r>
            <a:endParaRPr lang="en-US" sz="1400" dirty="0"/>
          </a:p>
        </p:txBody>
      </p:sp>
      <p:sp>
        <p:nvSpPr>
          <p:cNvPr id="11" name="Shape 8"/>
          <p:cNvSpPr/>
          <p:nvPr/>
        </p:nvSpPr>
        <p:spPr>
          <a:xfrm>
            <a:off x="548640" y="2971800"/>
            <a:ext cx="6035040" cy="621792"/>
          </a:xfrm>
          <a:prstGeom prst="roundRect">
            <a:avLst>
              <a:gd name="adj" fmla="val 14706"/>
            </a:avLst>
          </a:prstGeom>
          <a:solidFill>
            <a:srgbClr val="0F1729"/>
          </a:solidFill>
          <a:ln w="12700">
            <a:solidFill>
              <a:srgbClr val="0F1729"/>
            </a:solidFill>
            <a:prstDash val="solid"/>
          </a:ln>
        </p:spPr>
      </p:sp>
      <p:sp>
        <p:nvSpPr>
          <p:cNvPr id="12" name="Text 9"/>
          <p:cNvSpPr txBox="1"/>
          <p:nvPr/>
        </p:nvSpPr>
        <p:spPr>
          <a:xfrm>
            <a:off x="777240" y="3136392"/>
            <a:ext cx="5577840" cy="347472"/>
          </a:xfrm>
          <a:prstGeom prst="rect">
            <a:avLst/>
          </a:prstGeom>
          <a:noFill/>
          <a:ln/>
        </p:spPr>
        <p:txBody>
          <a:bodyPr wrap="square" lIns="0" tIns="0" rIns="0" bIns="0" rtlCol="0" anchor="t"/>
          <a:lstStyle/>
          <a:p>
            <a:pPr indent="0" marL="0">
              <a:spcAft>
                <a:spcPts val="100"/>
              </a:spcAft>
              <a:buNone/>
            </a:pPr>
            <a:r>
              <a:rPr lang="en-US" sz="15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 a = </a:t>
            </a:r>
            <a:pPr indent="0" marL="0">
              <a:spcAft>
                <a:spcPts val="100"/>
              </a:spcAft>
              <a:buNone/>
            </a:pPr>
            <a:r>
              <a:rPr lang="en-US" sz="1500" dirty="0">
                <a:solidFill>
                  <a:srgbClr val="7AB8FF"/>
                </a:solidFill>
                <a:latin typeface="Courier New" pitchFamily="34" charset="0"/>
                <a:ea typeface="Courier New" pitchFamily="34" charset="-122"/>
                <a:cs typeface="Courier New" pitchFamily="34" charset="-120"/>
              </a:rPr>
              <a:t>new</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5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500" dirty="0">
                <a:solidFill>
                  <a:srgbClr val="B5CEA8"/>
                </a:solidFill>
                <a:latin typeface="Courier New" pitchFamily="34" charset="0"/>
                <a:ea typeface="Courier New" pitchFamily="34" charset="-122"/>
                <a:cs typeface="Courier New" pitchFamily="34" charset="-120"/>
              </a:rPr>
              <a:t>3</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500" dirty="0">
                <a:solidFill>
                  <a:srgbClr val="B5CEA8"/>
                </a:solidFill>
                <a:latin typeface="Courier New" pitchFamily="34" charset="0"/>
                <a:ea typeface="Courier New" pitchFamily="34" charset="-122"/>
                <a:cs typeface="Courier New" pitchFamily="34" charset="-120"/>
              </a:rPr>
              <a:t>7</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5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 };</a:t>
            </a:r>
            <a:endParaRPr lang="en-US" sz="1500" dirty="0"/>
          </a:p>
        </p:txBody>
      </p:sp>
      <p:sp>
        <p:nvSpPr>
          <p:cNvPr id="13" name="Text 10"/>
          <p:cNvSpPr txBox="1"/>
          <p:nvPr/>
        </p:nvSpPr>
        <p:spPr>
          <a:xfrm>
            <a:off x="548640" y="3694176"/>
            <a:ext cx="6035040" cy="292608"/>
          </a:xfrm>
          <a:prstGeom prst="rect">
            <a:avLst/>
          </a:prstGeom>
          <a:noFill/>
          <a:ln/>
        </p:spPr>
        <p:txBody>
          <a:bodyPr wrap="square" lIns="0" tIns="0" rIns="0" bIns="0" rtlCol="0" anchor="ctr"/>
          <a:lstStyle/>
          <a:p>
            <a:pPr indent="0" marL="0">
              <a:buNone/>
            </a:pPr>
            <a:r>
              <a:rPr lang="en-US" sz="1400" b="1" dirty="0">
                <a:solidFill>
                  <a:srgbClr val="5B6478"/>
                </a:solidFill>
                <a:latin typeface="Calibri" pitchFamily="34" charset="0"/>
                <a:ea typeface="Calibri" pitchFamily="34" charset="-122"/>
                <a:cs typeface="Calibri" pitchFamily="34" charset="-120"/>
              </a:rPr>
              <a:t>Type inferred: new[]</a:t>
            </a:r>
            <a:endParaRPr lang="en-US" sz="1400" dirty="0"/>
          </a:p>
        </p:txBody>
      </p:sp>
      <p:sp>
        <p:nvSpPr>
          <p:cNvPr id="14" name="Shape 11"/>
          <p:cNvSpPr/>
          <p:nvPr/>
        </p:nvSpPr>
        <p:spPr>
          <a:xfrm>
            <a:off x="548640" y="3995928"/>
            <a:ext cx="6035040" cy="621792"/>
          </a:xfrm>
          <a:prstGeom prst="roundRect">
            <a:avLst>
              <a:gd name="adj" fmla="val 14706"/>
            </a:avLst>
          </a:prstGeom>
          <a:solidFill>
            <a:srgbClr val="0F1729"/>
          </a:solidFill>
          <a:ln w="12700">
            <a:solidFill>
              <a:srgbClr val="0F1729"/>
            </a:solidFill>
            <a:prstDash val="solid"/>
          </a:ln>
        </p:spPr>
      </p:sp>
      <p:sp>
        <p:nvSpPr>
          <p:cNvPr id="15" name="Text 12"/>
          <p:cNvSpPr txBox="1"/>
          <p:nvPr/>
        </p:nvSpPr>
        <p:spPr>
          <a:xfrm>
            <a:off x="777240" y="4160520"/>
            <a:ext cx="5577840" cy="347472"/>
          </a:xfrm>
          <a:prstGeom prst="rect">
            <a:avLst/>
          </a:prstGeom>
          <a:noFill/>
          <a:ln/>
        </p:spPr>
        <p:txBody>
          <a:bodyPr wrap="square" lIns="0" tIns="0" rIns="0" bIns="0" rtlCol="0" anchor="t"/>
          <a:lstStyle/>
          <a:p>
            <a:pPr indent="0" marL="0">
              <a:spcAft>
                <a:spcPts val="100"/>
              </a:spcAft>
              <a:buNone/>
            </a:pPr>
            <a:r>
              <a:rPr lang="en-US" sz="1500" dirty="0">
                <a:solidFill>
                  <a:srgbClr val="7AB8FF"/>
                </a:solidFill>
                <a:latin typeface="Courier New" pitchFamily="34" charset="0"/>
                <a:ea typeface="Courier New" pitchFamily="34" charset="-122"/>
                <a:cs typeface="Courier New" pitchFamily="34" charset="-120"/>
              </a:rPr>
              <a:t>var</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 a = </a:t>
            </a:r>
            <a:pPr indent="0" marL="0">
              <a:spcAft>
                <a:spcPts val="100"/>
              </a:spcAft>
              <a:buNone/>
            </a:pPr>
            <a:r>
              <a:rPr lang="en-US" sz="1500" dirty="0">
                <a:solidFill>
                  <a:srgbClr val="7AB8FF"/>
                </a:solidFill>
                <a:latin typeface="Courier New" pitchFamily="34" charset="0"/>
                <a:ea typeface="Courier New" pitchFamily="34" charset="-122"/>
                <a:cs typeface="Courier New" pitchFamily="34" charset="-120"/>
              </a:rPr>
              <a:t>new</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500" dirty="0">
                <a:solidFill>
                  <a:srgbClr val="B5CEA8"/>
                </a:solidFill>
                <a:latin typeface="Courier New" pitchFamily="34" charset="0"/>
                <a:ea typeface="Courier New" pitchFamily="34" charset="-122"/>
                <a:cs typeface="Courier New" pitchFamily="34" charset="-120"/>
              </a:rPr>
              <a:t>3</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500" dirty="0">
                <a:solidFill>
                  <a:srgbClr val="B5CEA8"/>
                </a:solidFill>
                <a:latin typeface="Courier New" pitchFamily="34" charset="0"/>
                <a:ea typeface="Courier New" pitchFamily="34" charset="-122"/>
                <a:cs typeface="Courier New" pitchFamily="34" charset="-120"/>
              </a:rPr>
              <a:t>7</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5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500" dirty="0">
                <a:solidFill>
                  <a:srgbClr val="7F8BA3"/>
                </a:solidFill>
                <a:latin typeface="Courier New" pitchFamily="34" charset="0"/>
                <a:ea typeface="Courier New" pitchFamily="34" charset="-122"/>
                <a:cs typeface="Courier New" pitchFamily="34" charset="-120"/>
              </a:rPr>
              <a:t>// int[]</a:t>
            </a:r>
            <a:endParaRPr lang="en-US" sz="1500" dirty="0"/>
          </a:p>
        </p:txBody>
      </p:sp>
      <p:sp>
        <p:nvSpPr>
          <p:cNvPr id="16" name="Text 13"/>
          <p:cNvSpPr txBox="1"/>
          <p:nvPr/>
        </p:nvSpPr>
        <p:spPr>
          <a:xfrm>
            <a:off x="6949440" y="1645920"/>
            <a:ext cx="4663440" cy="329184"/>
          </a:xfrm>
          <a:prstGeom prst="rect">
            <a:avLst/>
          </a:prstGeom>
          <a:noFill/>
          <a:ln/>
        </p:spPr>
        <p:txBody>
          <a:bodyPr wrap="square" lIns="0" tIns="0" rIns="0" bIns="0" rtlCol="0" anchor="ctr"/>
          <a:lstStyle/>
          <a:p>
            <a:pPr indent="0" marL="0">
              <a:buNone/>
            </a:pPr>
            <a:r>
              <a:rPr lang="en-US" sz="1500" b="1" dirty="0">
                <a:solidFill>
                  <a:srgbClr val="5B6478"/>
                </a:solidFill>
                <a:latin typeface="Cambria" pitchFamily="34" charset="0"/>
                <a:ea typeface="Cambria" pitchFamily="34" charset="-122"/>
                <a:cs typeface="Cambria" pitchFamily="34" charset="-120"/>
              </a:rPr>
              <a:t>All three create</a:t>
            </a:r>
            <a:endParaRPr lang="en-US" sz="1500" dirty="0"/>
          </a:p>
        </p:txBody>
      </p:sp>
      <p:sp>
        <p:nvSpPr>
          <p:cNvPr id="17" name="Shape 14"/>
          <p:cNvSpPr/>
          <p:nvPr/>
        </p:nvSpPr>
        <p:spPr>
          <a:xfrm>
            <a:off x="7863840" y="2103120"/>
            <a:ext cx="822960" cy="640080"/>
          </a:xfrm>
          <a:prstGeom prst="rect">
            <a:avLst/>
          </a:prstGeom>
          <a:solidFill>
            <a:srgbClr val="FFFFFF"/>
          </a:solidFill>
          <a:ln w="15875">
            <a:solidFill>
              <a:srgbClr val="14213D"/>
            </a:solidFill>
            <a:prstDash val="solid"/>
          </a:ln>
        </p:spPr>
      </p:sp>
      <p:sp>
        <p:nvSpPr>
          <p:cNvPr id="18" name="Text 15"/>
          <p:cNvSpPr txBox="1"/>
          <p:nvPr/>
        </p:nvSpPr>
        <p:spPr>
          <a:xfrm>
            <a:off x="7863840" y="2103120"/>
            <a:ext cx="822960" cy="640080"/>
          </a:xfrm>
          <a:prstGeom prst="rect">
            <a:avLst/>
          </a:prstGeom>
          <a:noFill/>
          <a:ln/>
        </p:spPr>
        <p:txBody>
          <a:bodyPr wrap="square" lIns="0" tIns="0" rIns="0" bIns="0" rtlCol="0" anchor="ctr"/>
          <a:lstStyle/>
          <a:p>
            <a:pPr algn="ctr" indent="0" marL="0">
              <a:buNone/>
            </a:pPr>
            <a:r>
              <a:rPr lang="en-US" sz="2000" b="1" dirty="0">
                <a:solidFill>
                  <a:srgbClr val="14213D"/>
                </a:solidFill>
                <a:latin typeface="Courier New" pitchFamily="34" charset="0"/>
                <a:ea typeface="Courier New" pitchFamily="34" charset="-122"/>
                <a:cs typeface="Courier New" pitchFamily="34" charset="-120"/>
              </a:rPr>
              <a:t>3</a:t>
            </a:r>
            <a:endParaRPr lang="en-US" sz="2000" dirty="0"/>
          </a:p>
        </p:txBody>
      </p:sp>
      <p:sp>
        <p:nvSpPr>
          <p:cNvPr id="19" name="Text 16"/>
          <p:cNvSpPr txBox="1"/>
          <p:nvPr/>
        </p:nvSpPr>
        <p:spPr>
          <a:xfrm>
            <a:off x="7863840" y="2770632"/>
            <a:ext cx="822960" cy="274320"/>
          </a:xfrm>
          <a:prstGeom prst="rect">
            <a:avLst/>
          </a:prstGeom>
          <a:noFill/>
          <a:ln/>
        </p:spPr>
        <p:txBody>
          <a:bodyPr wrap="square" lIns="0" tIns="0" rIns="0" bIns="0" rtlCol="0" anchor="ctr"/>
          <a:lstStyle/>
          <a:p>
            <a:pPr algn="ctr" indent="0" marL="0">
              <a:buNone/>
            </a:pPr>
            <a:r>
              <a:rPr lang="en-US" sz="1300" dirty="0">
                <a:solidFill>
                  <a:srgbClr val="5B6478"/>
                </a:solidFill>
                <a:latin typeface="Courier New" pitchFamily="34" charset="0"/>
                <a:ea typeface="Courier New" pitchFamily="34" charset="-122"/>
                <a:cs typeface="Courier New" pitchFamily="34" charset="-120"/>
              </a:rPr>
              <a:t>[0]</a:t>
            </a:r>
            <a:endParaRPr lang="en-US" sz="1300" dirty="0"/>
          </a:p>
        </p:txBody>
      </p:sp>
      <p:sp>
        <p:nvSpPr>
          <p:cNvPr id="20" name="Shape 17"/>
          <p:cNvSpPr/>
          <p:nvPr/>
        </p:nvSpPr>
        <p:spPr>
          <a:xfrm>
            <a:off x="8686800" y="2103120"/>
            <a:ext cx="822960" cy="640080"/>
          </a:xfrm>
          <a:prstGeom prst="rect">
            <a:avLst/>
          </a:prstGeom>
          <a:solidFill>
            <a:srgbClr val="FFFFFF"/>
          </a:solidFill>
          <a:ln w="15875">
            <a:solidFill>
              <a:srgbClr val="14213D"/>
            </a:solidFill>
            <a:prstDash val="solid"/>
          </a:ln>
        </p:spPr>
      </p:sp>
      <p:sp>
        <p:nvSpPr>
          <p:cNvPr id="21" name="Text 18"/>
          <p:cNvSpPr txBox="1"/>
          <p:nvPr/>
        </p:nvSpPr>
        <p:spPr>
          <a:xfrm>
            <a:off x="8686800" y="2103120"/>
            <a:ext cx="822960" cy="640080"/>
          </a:xfrm>
          <a:prstGeom prst="rect">
            <a:avLst/>
          </a:prstGeom>
          <a:noFill/>
          <a:ln/>
        </p:spPr>
        <p:txBody>
          <a:bodyPr wrap="square" lIns="0" tIns="0" rIns="0" bIns="0" rtlCol="0" anchor="ctr"/>
          <a:lstStyle/>
          <a:p>
            <a:pPr algn="ctr" indent="0" marL="0">
              <a:buNone/>
            </a:pPr>
            <a:r>
              <a:rPr lang="en-US" sz="2000" b="1" dirty="0">
                <a:solidFill>
                  <a:srgbClr val="14213D"/>
                </a:solidFill>
                <a:latin typeface="Courier New" pitchFamily="34" charset="0"/>
                <a:ea typeface="Courier New" pitchFamily="34" charset="-122"/>
                <a:cs typeface="Courier New" pitchFamily="34" charset="-120"/>
              </a:rPr>
              <a:t>7</a:t>
            </a:r>
            <a:endParaRPr lang="en-US" sz="2000" dirty="0"/>
          </a:p>
        </p:txBody>
      </p:sp>
      <p:sp>
        <p:nvSpPr>
          <p:cNvPr id="22" name="Text 19"/>
          <p:cNvSpPr txBox="1"/>
          <p:nvPr/>
        </p:nvSpPr>
        <p:spPr>
          <a:xfrm>
            <a:off x="8686800" y="2770632"/>
            <a:ext cx="822960" cy="274320"/>
          </a:xfrm>
          <a:prstGeom prst="rect">
            <a:avLst/>
          </a:prstGeom>
          <a:noFill/>
          <a:ln/>
        </p:spPr>
        <p:txBody>
          <a:bodyPr wrap="square" lIns="0" tIns="0" rIns="0" bIns="0" rtlCol="0" anchor="ctr"/>
          <a:lstStyle/>
          <a:p>
            <a:pPr algn="ctr" indent="0" marL="0">
              <a:buNone/>
            </a:pPr>
            <a:r>
              <a:rPr lang="en-US" sz="1300" dirty="0">
                <a:solidFill>
                  <a:srgbClr val="5B6478"/>
                </a:solidFill>
                <a:latin typeface="Courier New" pitchFamily="34" charset="0"/>
                <a:ea typeface="Courier New" pitchFamily="34" charset="-122"/>
                <a:cs typeface="Courier New" pitchFamily="34" charset="-120"/>
              </a:rPr>
              <a:t>[1]</a:t>
            </a:r>
            <a:endParaRPr lang="en-US" sz="1300" dirty="0"/>
          </a:p>
        </p:txBody>
      </p:sp>
      <p:sp>
        <p:nvSpPr>
          <p:cNvPr id="23" name="Shape 20"/>
          <p:cNvSpPr/>
          <p:nvPr/>
        </p:nvSpPr>
        <p:spPr>
          <a:xfrm>
            <a:off x="9509760" y="2103120"/>
            <a:ext cx="822960" cy="640080"/>
          </a:xfrm>
          <a:prstGeom prst="rect">
            <a:avLst/>
          </a:prstGeom>
          <a:solidFill>
            <a:srgbClr val="FFFFFF"/>
          </a:solidFill>
          <a:ln w="15875">
            <a:solidFill>
              <a:srgbClr val="14213D"/>
            </a:solidFill>
            <a:prstDash val="solid"/>
          </a:ln>
        </p:spPr>
      </p:sp>
      <p:sp>
        <p:nvSpPr>
          <p:cNvPr id="24" name="Text 21"/>
          <p:cNvSpPr txBox="1"/>
          <p:nvPr/>
        </p:nvSpPr>
        <p:spPr>
          <a:xfrm>
            <a:off x="9509760" y="2103120"/>
            <a:ext cx="822960" cy="640080"/>
          </a:xfrm>
          <a:prstGeom prst="rect">
            <a:avLst/>
          </a:prstGeom>
          <a:noFill/>
          <a:ln/>
        </p:spPr>
        <p:txBody>
          <a:bodyPr wrap="square" lIns="0" tIns="0" rIns="0" bIns="0" rtlCol="0" anchor="ctr"/>
          <a:lstStyle/>
          <a:p>
            <a:pPr algn="ctr" indent="0" marL="0">
              <a:buNone/>
            </a:pPr>
            <a:r>
              <a:rPr lang="en-US" sz="2000" b="1" dirty="0">
                <a:solidFill>
                  <a:srgbClr val="14213D"/>
                </a:solidFill>
                <a:latin typeface="Courier New" pitchFamily="34" charset="0"/>
                <a:ea typeface="Courier New" pitchFamily="34" charset="-122"/>
                <a:cs typeface="Courier New" pitchFamily="34" charset="-120"/>
              </a:rPr>
              <a:t>1</a:t>
            </a:r>
            <a:endParaRPr lang="en-US" sz="2000" dirty="0"/>
          </a:p>
        </p:txBody>
      </p:sp>
      <p:sp>
        <p:nvSpPr>
          <p:cNvPr id="25" name="Text 22"/>
          <p:cNvSpPr txBox="1"/>
          <p:nvPr/>
        </p:nvSpPr>
        <p:spPr>
          <a:xfrm>
            <a:off x="9509760" y="2770632"/>
            <a:ext cx="822960" cy="274320"/>
          </a:xfrm>
          <a:prstGeom prst="rect">
            <a:avLst/>
          </a:prstGeom>
          <a:noFill/>
          <a:ln/>
        </p:spPr>
        <p:txBody>
          <a:bodyPr wrap="square" lIns="0" tIns="0" rIns="0" bIns="0" rtlCol="0" anchor="ctr"/>
          <a:lstStyle/>
          <a:p>
            <a:pPr algn="ctr" indent="0" marL="0">
              <a:buNone/>
            </a:pPr>
            <a:r>
              <a:rPr lang="en-US" sz="1300" dirty="0">
                <a:solidFill>
                  <a:srgbClr val="5B6478"/>
                </a:solidFill>
                <a:latin typeface="Courier New" pitchFamily="34" charset="0"/>
                <a:ea typeface="Courier New" pitchFamily="34" charset="-122"/>
                <a:cs typeface="Courier New" pitchFamily="34" charset="-120"/>
              </a:rPr>
              <a:t>[2]</a:t>
            </a:r>
            <a:endParaRPr lang="en-US" sz="1300" dirty="0"/>
          </a:p>
        </p:txBody>
      </p:sp>
      <p:sp>
        <p:nvSpPr>
          <p:cNvPr id="26" name="Text 23"/>
          <p:cNvSpPr txBox="1"/>
          <p:nvPr/>
        </p:nvSpPr>
        <p:spPr>
          <a:xfrm>
            <a:off x="7205472" y="2103120"/>
            <a:ext cx="548640" cy="640080"/>
          </a:xfrm>
          <a:prstGeom prst="rect">
            <a:avLst/>
          </a:prstGeom>
          <a:noFill/>
          <a:ln/>
        </p:spPr>
        <p:txBody>
          <a:bodyPr wrap="square" lIns="0" tIns="0" rIns="0" bIns="0" rtlCol="0" anchor="ctr"/>
          <a:lstStyle/>
          <a:p>
            <a:pPr algn="r" indent="0" marL="0">
              <a:buNone/>
            </a:pPr>
            <a:r>
              <a:rPr lang="en-US" sz="1600" b="1" dirty="0">
                <a:solidFill>
                  <a:srgbClr val="14213D"/>
                </a:solidFill>
                <a:latin typeface="Courier New" pitchFamily="34" charset="0"/>
                <a:ea typeface="Courier New" pitchFamily="34" charset="-122"/>
                <a:cs typeface="Courier New" pitchFamily="34" charset="-120"/>
              </a:rPr>
              <a:t>a</a:t>
            </a:r>
            <a:endParaRPr lang="en-US" sz="1600" dirty="0"/>
          </a:p>
        </p:txBody>
      </p:sp>
      <p:sp>
        <p:nvSpPr>
          <p:cNvPr id="27" name="Text 24"/>
          <p:cNvSpPr txBox="1"/>
          <p:nvPr/>
        </p:nvSpPr>
        <p:spPr>
          <a:xfrm>
            <a:off x="7863840" y="3108960"/>
            <a:ext cx="2468880" cy="320040"/>
          </a:xfrm>
          <a:prstGeom prst="rect">
            <a:avLst/>
          </a:prstGeom>
          <a:noFill/>
          <a:ln/>
        </p:spPr>
        <p:txBody>
          <a:bodyPr wrap="square" lIns="0" tIns="0" rIns="0" bIns="0" rtlCol="0" anchor="ctr"/>
          <a:lstStyle/>
          <a:p>
            <a:pPr algn="ctr" indent="0" marL="0">
              <a:buNone/>
            </a:pPr>
            <a:r>
              <a:rPr lang="en-US" sz="1500" b="1" dirty="0">
                <a:solidFill>
                  <a:srgbClr val="B7791F"/>
                </a:solidFill>
                <a:latin typeface="Courier New" pitchFamily="34" charset="0"/>
                <a:ea typeface="Courier New" pitchFamily="34" charset="-122"/>
                <a:cs typeface="Courier New" pitchFamily="34" charset="-120"/>
              </a:rPr>
              <a:t>a.Length = 3</a:t>
            </a:r>
            <a:endParaRPr lang="en-US" sz="1500" dirty="0"/>
          </a:p>
        </p:txBody>
      </p:sp>
      <p:sp>
        <p:nvSpPr>
          <p:cNvPr id="28" name="Shape 25"/>
          <p:cNvSpPr/>
          <p:nvPr/>
        </p:nvSpPr>
        <p:spPr>
          <a:xfrm>
            <a:off x="6949440" y="3611880"/>
            <a:ext cx="4709160" cy="914400"/>
          </a:xfrm>
          <a:prstGeom prst="roundRect">
            <a:avLst>
              <a:gd name="adj" fmla="val 10000"/>
            </a:avLst>
          </a:prstGeom>
          <a:solidFill>
            <a:srgbClr val="0F1729"/>
          </a:solidFill>
          <a:ln w="12700">
            <a:solidFill>
              <a:srgbClr val="0F1729"/>
            </a:solidFill>
            <a:prstDash val="solid"/>
          </a:ln>
        </p:spPr>
      </p:sp>
      <p:sp>
        <p:nvSpPr>
          <p:cNvPr id="29" name="Text 26"/>
          <p:cNvSpPr txBox="1"/>
          <p:nvPr/>
        </p:nvSpPr>
        <p:spPr>
          <a:xfrm>
            <a:off x="7178040" y="3776472"/>
            <a:ext cx="4251960" cy="640080"/>
          </a:xfrm>
          <a:prstGeom prst="rect">
            <a:avLst/>
          </a:prstGeom>
          <a:noFill/>
          <a:ln/>
        </p:spPr>
        <p:txBody>
          <a:bodyPr wrap="square" lIns="0" tIns="0" rIns="0" bIns="0" rtlCol="0" anchor="t"/>
          <a:lstStyle/>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string</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days = { </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"Mon"</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"Tue"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"Wed"</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char</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vowels = { </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'a'</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'i'</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'o'</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'u'</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p:txBody>
      </p:sp>
      <p:sp>
        <p:nvSpPr>
          <p:cNvPr id="30" name="Shape 27"/>
          <p:cNvSpPr/>
          <p:nvPr/>
        </p:nvSpPr>
        <p:spPr>
          <a:xfrm>
            <a:off x="548640" y="4846320"/>
            <a:ext cx="11109960" cy="1234440"/>
          </a:xfrm>
          <a:prstGeom prst="roundRect">
            <a:avLst>
              <a:gd name="adj" fmla="val 8889"/>
            </a:avLst>
          </a:prstGeom>
          <a:solidFill>
            <a:srgbClr val="FFF6E3"/>
          </a:solidFill>
          <a:ln w="12700">
            <a:solidFill>
              <a:srgbClr val="FFF6E3"/>
            </a:solidFill>
            <a:prstDash val="solid"/>
          </a:ln>
        </p:spPr>
      </p:sp>
      <p:pic>
        <p:nvPicPr>
          <p:cNvPr id="31" name="Image 0" descr="preencoded.png">    </p:cNvPr>
          <p:cNvPicPr>
            <a:picLocks noChangeAspect="1"/>
          </p:cNvPicPr>
          <p:nvPr/>
        </p:nvPicPr>
        <p:blipFill>
          <a:blip r:embed="rId1"/>
          <a:stretch>
            <a:fillRect/>
          </a:stretch>
        </p:blipFill>
        <p:spPr>
          <a:xfrm>
            <a:off x="822960" y="5189220"/>
            <a:ext cx="548640" cy="548640"/>
          </a:xfrm>
          <a:prstGeom prst="rect">
            <a:avLst/>
          </a:prstGeom>
        </p:spPr>
      </p:pic>
      <p:sp>
        <p:nvSpPr>
          <p:cNvPr id="32" name="Text 28"/>
          <p:cNvSpPr txBox="1"/>
          <p:nvPr/>
        </p:nvSpPr>
        <p:spPr>
          <a:xfrm>
            <a:off x="1645920" y="4919472"/>
            <a:ext cx="9738360" cy="1088136"/>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The size is fixed. </a:t>
            </a:r>
            <a:pPr indent="0" marL="0">
              <a:buNone/>
            </a:pPr>
            <a:r>
              <a:rPr lang="en-US" sz="1500" dirty="0">
                <a:solidFill>
                  <a:srgbClr val="333B4F"/>
                </a:solidFill>
                <a:latin typeface="Calibri" pitchFamily="34" charset="0"/>
                <a:ea typeface="Calibri" pitchFamily="34" charset="-122"/>
                <a:cs typeface="Calibri" pitchFamily="34" charset="-120"/>
              </a:rPr>
              <a:t>There is no "add one more box". a = new int[] { 9, 9 }; creates a NEW 2-element array and lets a refer to it; Length is read-only (a.Length = 4; does not compile).</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ELEMENT ACCESS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a[i] Reads a Box, a[i] = … Writes It</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9</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11</a:t>
            </a:r>
            <a:endParaRPr lang="en-US" sz="1000" dirty="0"/>
          </a:p>
        </p:txBody>
      </p:sp>
      <p:sp>
        <p:nvSpPr>
          <p:cNvPr id="7" name="Shape 4"/>
          <p:cNvSpPr/>
          <p:nvPr/>
        </p:nvSpPr>
        <p:spPr>
          <a:xfrm>
            <a:off x="548640" y="1645920"/>
            <a:ext cx="6035040" cy="2926080"/>
          </a:xfrm>
          <a:prstGeom prst="roundRect">
            <a:avLst>
              <a:gd name="adj" fmla="val 3125"/>
            </a:avLst>
          </a:prstGeom>
          <a:solidFill>
            <a:srgbClr val="0F1729"/>
          </a:solidFill>
          <a:ln w="12700">
            <a:solidFill>
              <a:srgbClr val="0F1729"/>
            </a:solidFill>
            <a:prstDash val="solid"/>
          </a:ln>
        </p:spPr>
      </p:sp>
      <p:sp>
        <p:nvSpPr>
          <p:cNvPr id="8" name="Text 5"/>
          <p:cNvSpPr txBox="1"/>
          <p:nvPr/>
        </p:nvSpPr>
        <p:spPr>
          <a:xfrm>
            <a:off x="777240" y="1755648"/>
            <a:ext cx="557784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09_01_ArrayBasics (excerpt)</a:t>
            </a:r>
            <a:endParaRPr lang="en-US" sz="1100" dirty="0"/>
          </a:p>
        </p:txBody>
      </p:sp>
      <p:sp>
        <p:nvSpPr>
          <p:cNvPr id="9" name="Text 6"/>
          <p:cNvSpPr txBox="1"/>
          <p:nvPr/>
        </p:nvSpPr>
        <p:spPr>
          <a:xfrm>
            <a:off x="777240" y="2057400"/>
            <a:ext cx="5577840" cy="2404872"/>
          </a:xfrm>
          <a:prstGeom prst="rect">
            <a:avLst/>
          </a:prstGeom>
          <a:noFill/>
          <a:ln/>
        </p:spPr>
        <p:txBody>
          <a:bodyPr wrap="square" lIns="0" tIns="0" rIns="0" bIns="0" rtlCol="0" anchor="t"/>
          <a:lstStyle/>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scores = </a:t>
            </a:r>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new</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5</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scores[</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72</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scores[</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85</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scores[</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4</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90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scores[</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 scores[</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5</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p:txBody>
      </p:sp>
      <p:sp>
        <p:nvSpPr>
          <p:cNvPr id="10" name="Shape 7"/>
          <p:cNvSpPr/>
          <p:nvPr/>
        </p:nvSpPr>
        <p:spPr>
          <a:xfrm>
            <a:off x="548640" y="4709160"/>
            <a:ext cx="6035040" cy="1371600"/>
          </a:xfrm>
          <a:prstGeom prst="roundRect">
            <a:avLst>
              <a:gd name="adj" fmla="val 6667"/>
            </a:avLst>
          </a:prstGeom>
          <a:solidFill>
            <a:srgbClr val="0B0F19"/>
          </a:solidFill>
          <a:ln w="12700">
            <a:solidFill>
              <a:srgbClr val="2A3654"/>
            </a:solidFill>
            <a:prstDash val="solid"/>
          </a:ln>
        </p:spPr>
      </p:sp>
      <p:sp>
        <p:nvSpPr>
          <p:cNvPr id="11" name="Shape 8"/>
          <p:cNvSpPr/>
          <p:nvPr/>
        </p:nvSpPr>
        <p:spPr>
          <a:xfrm>
            <a:off x="731520" y="4837176"/>
            <a:ext cx="118872" cy="118872"/>
          </a:xfrm>
          <a:prstGeom prst="ellipse">
            <a:avLst/>
          </a:prstGeom>
          <a:solidFill>
            <a:srgbClr val="FF5F57"/>
          </a:solidFill>
          <a:ln w="12700">
            <a:solidFill>
              <a:srgbClr val="FF5F57"/>
            </a:solidFill>
            <a:prstDash val="solid"/>
          </a:ln>
        </p:spPr>
      </p:sp>
      <p:sp>
        <p:nvSpPr>
          <p:cNvPr id="12" name="Shape 9"/>
          <p:cNvSpPr/>
          <p:nvPr/>
        </p:nvSpPr>
        <p:spPr>
          <a:xfrm>
            <a:off x="960120" y="4837176"/>
            <a:ext cx="118872" cy="118872"/>
          </a:xfrm>
          <a:prstGeom prst="ellipse">
            <a:avLst/>
          </a:prstGeom>
          <a:solidFill>
            <a:srgbClr val="FEBC2E"/>
          </a:solidFill>
          <a:ln w="12700">
            <a:solidFill>
              <a:srgbClr val="FEBC2E"/>
            </a:solidFill>
            <a:prstDash val="solid"/>
          </a:ln>
        </p:spPr>
      </p:sp>
      <p:sp>
        <p:nvSpPr>
          <p:cNvPr id="13" name="Shape 10"/>
          <p:cNvSpPr/>
          <p:nvPr/>
        </p:nvSpPr>
        <p:spPr>
          <a:xfrm>
            <a:off x="1188720" y="4837176"/>
            <a:ext cx="118872" cy="118872"/>
          </a:xfrm>
          <a:prstGeom prst="ellipse">
            <a:avLst/>
          </a:prstGeom>
          <a:solidFill>
            <a:srgbClr val="28C840"/>
          </a:solidFill>
          <a:ln w="12700">
            <a:solidFill>
              <a:srgbClr val="28C840"/>
            </a:solidFill>
            <a:prstDash val="solid"/>
          </a:ln>
        </p:spPr>
      </p:sp>
      <p:sp>
        <p:nvSpPr>
          <p:cNvPr id="14" name="Text 11"/>
          <p:cNvSpPr txBox="1"/>
          <p:nvPr/>
        </p:nvSpPr>
        <p:spPr>
          <a:xfrm>
            <a:off x="1463040" y="4782312"/>
            <a:ext cx="493776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15" name="Text 12"/>
          <p:cNvSpPr txBox="1"/>
          <p:nvPr/>
        </p:nvSpPr>
        <p:spPr>
          <a:xfrm>
            <a:off x="777240" y="5093208"/>
            <a:ext cx="5577840" cy="868680"/>
          </a:xfrm>
          <a:prstGeom prst="rect">
            <a:avLst/>
          </a:prstGeom>
          <a:noFill/>
          <a:ln/>
        </p:spPr>
        <p:txBody>
          <a:bodyPr wrap="square" lIns="0" tIns="0" rIns="0" bIns="0" rtlCol="0" anchor="t"/>
          <a:lstStyle/>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Length: 5</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After new int[5]: 0, 0, 0, 0, 0</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After assignments: 72, 90, 0, 0, 90</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First: 72, last: 90</a:t>
            </a:r>
            <a:endParaRPr lang="en-US" sz="1300" dirty="0"/>
          </a:p>
        </p:txBody>
      </p:sp>
      <p:sp>
        <p:nvSpPr>
          <p:cNvPr id="16" name="Text 13"/>
          <p:cNvSpPr txBox="1"/>
          <p:nvPr/>
        </p:nvSpPr>
        <p:spPr>
          <a:xfrm>
            <a:off x="6949440" y="1645920"/>
            <a:ext cx="4709160" cy="274320"/>
          </a:xfrm>
          <a:prstGeom prst="rect">
            <a:avLst/>
          </a:prstGeom>
          <a:noFill/>
          <a:ln/>
        </p:spPr>
        <p:txBody>
          <a:bodyPr wrap="square" lIns="0" tIns="0" rIns="0" bIns="0" rtlCol="0" anchor="ctr"/>
          <a:lstStyle/>
          <a:p>
            <a:pPr indent="0" marL="0">
              <a:buNone/>
            </a:pPr>
            <a:r>
              <a:rPr lang="en-US" sz="1300" b="1" dirty="0">
                <a:solidFill>
                  <a:srgbClr val="5B6478"/>
                </a:solidFill>
                <a:latin typeface="Courier New" pitchFamily="34" charset="0"/>
                <a:ea typeface="Courier New" pitchFamily="34" charset="-122"/>
                <a:cs typeface="Courier New" pitchFamily="34" charset="-120"/>
              </a:rPr>
              <a:t>after new int[5]</a:t>
            </a:r>
            <a:endParaRPr lang="en-US" sz="1300" dirty="0"/>
          </a:p>
        </p:txBody>
      </p:sp>
      <p:sp>
        <p:nvSpPr>
          <p:cNvPr id="17" name="Shape 14"/>
          <p:cNvSpPr/>
          <p:nvPr/>
        </p:nvSpPr>
        <p:spPr>
          <a:xfrm>
            <a:off x="7452360" y="1947672"/>
            <a:ext cx="731520" cy="457200"/>
          </a:xfrm>
          <a:prstGeom prst="rect">
            <a:avLst/>
          </a:prstGeom>
          <a:solidFill>
            <a:srgbClr val="FFFFFF"/>
          </a:solidFill>
          <a:ln w="15875">
            <a:solidFill>
              <a:srgbClr val="14213D"/>
            </a:solidFill>
            <a:prstDash val="solid"/>
          </a:ln>
        </p:spPr>
      </p:sp>
      <p:sp>
        <p:nvSpPr>
          <p:cNvPr id="18" name="Text 15"/>
          <p:cNvSpPr txBox="1"/>
          <p:nvPr/>
        </p:nvSpPr>
        <p:spPr>
          <a:xfrm>
            <a:off x="7452360" y="1947672"/>
            <a:ext cx="731520" cy="45720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0</a:t>
            </a:r>
            <a:endParaRPr lang="en-US" sz="1600" dirty="0"/>
          </a:p>
        </p:txBody>
      </p:sp>
      <p:sp>
        <p:nvSpPr>
          <p:cNvPr id="19" name="Text 16"/>
          <p:cNvSpPr txBox="1"/>
          <p:nvPr/>
        </p:nvSpPr>
        <p:spPr>
          <a:xfrm>
            <a:off x="7452360" y="2432304"/>
            <a:ext cx="731520" cy="274320"/>
          </a:xfrm>
          <a:prstGeom prst="rect">
            <a:avLst/>
          </a:prstGeom>
          <a:noFill/>
          <a:ln/>
        </p:spPr>
        <p:txBody>
          <a:bodyPr wrap="square" lIns="0" tIns="0" rIns="0" bIns="0" rtlCol="0" anchor="ctr"/>
          <a:lstStyle/>
          <a:p>
            <a:pPr algn="ctr" indent="0" marL="0">
              <a:buNone/>
            </a:pPr>
            <a:r>
              <a:rPr lang="en-US" sz="1200" dirty="0">
                <a:solidFill>
                  <a:srgbClr val="5B6478"/>
                </a:solidFill>
                <a:latin typeface="Courier New" pitchFamily="34" charset="0"/>
                <a:ea typeface="Courier New" pitchFamily="34" charset="-122"/>
                <a:cs typeface="Courier New" pitchFamily="34" charset="-120"/>
              </a:rPr>
              <a:t>[0]</a:t>
            </a:r>
            <a:endParaRPr lang="en-US" sz="1200" dirty="0"/>
          </a:p>
        </p:txBody>
      </p:sp>
      <p:sp>
        <p:nvSpPr>
          <p:cNvPr id="20" name="Shape 17"/>
          <p:cNvSpPr/>
          <p:nvPr/>
        </p:nvSpPr>
        <p:spPr>
          <a:xfrm>
            <a:off x="8183880" y="1947672"/>
            <a:ext cx="731520" cy="457200"/>
          </a:xfrm>
          <a:prstGeom prst="rect">
            <a:avLst/>
          </a:prstGeom>
          <a:solidFill>
            <a:srgbClr val="FFFFFF"/>
          </a:solidFill>
          <a:ln w="15875">
            <a:solidFill>
              <a:srgbClr val="14213D"/>
            </a:solidFill>
            <a:prstDash val="solid"/>
          </a:ln>
        </p:spPr>
      </p:sp>
      <p:sp>
        <p:nvSpPr>
          <p:cNvPr id="21" name="Text 18"/>
          <p:cNvSpPr txBox="1"/>
          <p:nvPr/>
        </p:nvSpPr>
        <p:spPr>
          <a:xfrm>
            <a:off x="8183880" y="1947672"/>
            <a:ext cx="731520" cy="45720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0</a:t>
            </a:r>
            <a:endParaRPr lang="en-US" sz="1600" dirty="0"/>
          </a:p>
        </p:txBody>
      </p:sp>
      <p:sp>
        <p:nvSpPr>
          <p:cNvPr id="22" name="Text 19"/>
          <p:cNvSpPr txBox="1"/>
          <p:nvPr/>
        </p:nvSpPr>
        <p:spPr>
          <a:xfrm>
            <a:off x="8183880" y="2432304"/>
            <a:ext cx="731520" cy="274320"/>
          </a:xfrm>
          <a:prstGeom prst="rect">
            <a:avLst/>
          </a:prstGeom>
          <a:noFill/>
          <a:ln/>
        </p:spPr>
        <p:txBody>
          <a:bodyPr wrap="square" lIns="0" tIns="0" rIns="0" bIns="0" rtlCol="0" anchor="ctr"/>
          <a:lstStyle/>
          <a:p>
            <a:pPr algn="ctr" indent="0" marL="0">
              <a:buNone/>
            </a:pPr>
            <a:r>
              <a:rPr lang="en-US" sz="1200" dirty="0">
                <a:solidFill>
                  <a:srgbClr val="5B6478"/>
                </a:solidFill>
                <a:latin typeface="Courier New" pitchFamily="34" charset="0"/>
                <a:ea typeface="Courier New" pitchFamily="34" charset="-122"/>
                <a:cs typeface="Courier New" pitchFamily="34" charset="-120"/>
              </a:rPr>
              <a:t>[1]</a:t>
            </a:r>
            <a:endParaRPr lang="en-US" sz="1200" dirty="0"/>
          </a:p>
        </p:txBody>
      </p:sp>
      <p:sp>
        <p:nvSpPr>
          <p:cNvPr id="23" name="Shape 20"/>
          <p:cNvSpPr/>
          <p:nvPr/>
        </p:nvSpPr>
        <p:spPr>
          <a:xfrm>
            <a:off x="8915400" y="1947672"/>
            <a:ext cx="731520" cy="457200"/>
          </a:xfrm>
          <a:prstGeom prst="rect">
            <a:avLst/>
          </a:prstGeom>
          <a:solidFill>
            <a:srgbClr val="FFFFFF"/>
          </a:solidFill>
          <a:ln w="15875">
            <a:solidFill>
              <a:srgbClr val="14213D"/>
            </a:solidFill>
            <a:prstDash val="solid"/>
          </a:ln>
        </p:spPr>
      </p:sp>
      <p:sp>
        <p:nvSpPr>
          <p:cNvPr id="24" name="Text 21"/>
          <p:cNvSpPr txBox="1"/>
          <p:nvPr/>
        </p:nvSpPr>
        <p:spPr>
          <a:xfrm>
            <a:off x="8915400" y="1947672"/>
            <a:ext cx="731520" cy="45720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0</a:t>
            </a:r>
            <a:endParaRPr lang="en-US" sz="1600" dirty="0"/>
          </a:p>
        </p:txBody>
      </p:sp>
      <p:sp>
        <p:nvSpPr>
          <p:cNvPr id="25" name="Text 22"/>
          <p:cNvSpPr txBox="1"/>
          <p:nvPr/>
        </p:nvSpPr>
        <p:spPr>
          <a:xfrm>
            <a:off x="8915400" y="2432304"/>
            <a:ext cx="731520" cy="274320"/>
          </a:xfrm>
          <a:prstGeom prst="rect">
            <a:avLst/>
          </a:prstGeom>
          <a:noFill/>
          <a:ln/>
        </p:spPr>
        <p:txBody>
          <a:bodyPr wrap="square" lIns="0" tIns="0" rIns="0" bIns="0" rtlCol="0" anchor="ctr"/>
          <a:lstStyle/>
          <a:p>
            <a:pPr algn="ctr" indent="0" marL="0">
              <a:buNone/>
            </a:pPr>
            <a:r>
              <a:rPr lang="en-US" sz="1200" dirty="0">
                <a:solidFill>
                  <a:srgbClr val="5B6478"/>
                </a:solidFill>
                <a:latin typeface="Courier New" pitchFamily="34" charset="0"/>
                <a:ea typeface="Courier New" pitchFamily="34" charset="-122"/>
                <a:cs typeface="Courier New" pitchFamily="34" charset="-120"/>
              </a:rPr>
              <a:t>[2]</a:t>
            </a:r>
            <a:endParaRPr lang="en-US" sz="1200" dirty="0"/>
          </a:p>
        </p:txBody>
      </p:sp>
      <p:sp>
        <p:nvSpPr>
          <p:cNvPr id="26" name="Shape 23"/>
          <p:cNvSpPr/>
          <p:nvPr/>
        </p:nvSpPr>
        <p:spPr>
          <a:xfrm>
            <a:off x="9646920" y="1947672"/>
            <a:ext cx="731520" cy="457200"/>
          </a:xfrm>
          <a:prstGeom prst="rect">
            <a:avLst/>
          </a:prstGeom>
          <a:solidFill>
            <a:srgbClr val="FFFFFF"/>
          </a:solidFill>
          <a:ln w="15875">
            <a:solidFill>
              <a:srgbClr val="14213D"/>
            </a:solidFill>
            <a:prstDash val="solid"/>
          </a:ln>
        </p:spPr>
      </p:sp>
      <p:sp>
        <p:nvSpPr>
          <p:cNvPr id="27" name="Text 24"/>
          <p:cNvSpPr txBox="1"/>
          <p:nvPr/>
        </p:nvSpPr>
        <p:spPr>
          <a:xfrm>
            <a:off x="9646920" y="1947672"/>
            <a:ext cx="731520" cy="45720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0</a:t>
            </a:r>
            <a:endParaRPr lang="en-US" sz="1600" dirty="0"/>
          </a:p>
        </p:txBody>
      </p:sp>
      <p:sp>
        <p:nvSpPr>
          <p:cNvPr id="28" name="Text 25"/>
          <p:cNvSpPr txBox="1"/>
          <p:nvPr/>
        </p:nvSpPr>
        <p:spPr>
          <a:xfrm>
            <a:off x="9646920" y="2432304"/>
            <a:ext cx="731520" cy="274320"/>
          </a:xfrm>
          <a:prstGeom prst="rect">
            <a:avLst/>
          </a:prstGeom>
          <a:noFill/>
          <a:ln/>
        </p:spPr>
        <p:txBody>
          <a:bodyPr wrap="square" lIns="0" tIns="0" rIns="0" bIns="0" rtlCol="0" anchor="ctr"/>
          <a:lstStyle/>
          <a:p>
            <a:pPr algn="ctr" indent="0" marL="0">
              <a:buNone/>
            </a:pPr>
            <a:r>
              <a:rPr lang="en-US" sz="1200" dirty="0">
                <a:solidFill>
                  <a:srgbClr val="5B6478"/>
                </a:solidFill>
                <a:latin typeface="Courier New" pitchFamily="34" charset="0"/>
                <a:ea typeface="Courier New" pitchFamily="34" charset="-122"/>
                <a:cs typeface="Courier New" pitchFamily="34" charset="-120"/>
              </a:rPr>
              <a:t>[3]</a:t>
            </a:r>
            <a:endParaRPr lang="en-US" sz="1200" dirty="0"/>
          </a:p>
        </p:txBody>
      </p:sp>
      <p:sp>
        <p:nvSpPr>
          <p:cNvPr id="29" name="Shape 26"/>
          <p:cNvSpPr/>
          <p:nvPr/>
        </p:nvSpPr>
        <p:spPr>
          <a:xfrm>
            <a:off x="10378440" y="1947672"/>
            <a:ext cx="731520" cy="457200"/>
          </a:xfrm>
          <a:prstGeom prst="rect">
            <a:avLst/>
          </a:prstGeom>
          <a:solidFill>
            <a:srgbClr val="FFFFFF"/>
          </a:solidFill>
          <a:ln w="15875">
            <a:solidFill>
              <a:srgbClr val="14213D"/>
            </a:solidFill>
            <a:prstDash val="solid"/>
          </a:ln>
        </p:spPr>
      </p:sp>
      <p:sp>
        <p:nvSpPr>
          <p:cNvPr id="30" name="Text 27"/>
          <p:cNvSpPr txBox="1"/>
          <p:nvPr/>
        </p:nvSpPr>
        <p:spPr>
          <a:xfrm>
            <a:off x="10378440" y="1947672"/>
            <a:ext cx="731520" cy="45720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0</a:t>
            </a:r>
            <a:endParaRPr lang="en-US" sz="1600" dirty="0"/>
          </a:p>
        </p:txBody>
      </p:sp>
      <p:sp>
        <p:nvSpPr>
          <p:cNvPr id="31" name="Text 28"/>
          <p:cNvSpPr txBox="1"/>
          <p:nvPr/>
        </p:nvSpPr>
        <p:spPr>
          <a:xfrm>
            <a:off x="10378440" y="2432304"/>
            <a:ext cx="731520" cy="274320"/>
          </a:xfrm>
          <a:prstGeom prst="rect">
            <a:avLst/>
          </a:prstGeom>
          <a:noFill/>
          <a:ln/>
        </p:spPr>
        <p:txBody>
          <a:bodyPr wrap="square" lIns="0" tIns="0" rIns="0" bIns="0" rtlCol="0" anchor="ctr"/>
          <a:lstStyle/>
          <a:p>
            <a:pPr algn="ctr" indent="0" marL="0">
              <a:buNone/>
            </a:pPr>
            <a:r>
              <a:rPr lang="en-US" sz="1200" dirty="0">
                <a:solidFill>
                  <a:srgbClr val="5B6478"/>
                </a:solidFill>
                <a:latin typeface="Courier New" pitchFamily="34" charset="0"/>
                <a:ea typeface="Courier New" pitchFamily="34" charset="-122"/>
                <a:cs typeface="Courier New" pitchFamily="34" charset="-120"/>
              </a:rPr>
              <a:t>[4]</a:t>
            </a:r>
            <a:endParaRPr lang="en-US" sz="1200" dirty="0"/>
          </a:p>
        </p:txBody>
      </p:sp>
      <p:sp>
        <p:nvSpPr>
          <p:cNvPr id="32" name="Text 29"/>
          <p:cNvSpPr txBox="1"/>
          <p:nvPr/>
        </p:nvSpPr>
        <p:spPr>
          <a:xfrm>
            <a:off x="6949440" y="2761488"/>
            <a:ext cx="4709160" cy="274320"/>
          </a:xfrm>
          <a:prstGeom prst="rect">
            <a:avLst/>
          </a:prstGeom>
          <a:noFill/>
          <a:ln/>
        </p:spPr>
        <p:txBody>
          <a:bodyPr wrap="square" lIns="0" tIns="0" rIns="0" bIns="0" rtlCol="0" anchor="ctr"/>
          <a:lstStyle/>
          <a:p>
            <a:pPr indent="0" marL="0">
              <a:buNone/>
            </a:pPr>
            <a:r>
              <a:rPr lang="en-US" sz="1300" b="1" dirty="0">
                <a:solidFill>
                  <a:srgbClr val="5B6478"/>
                </a:solidFill>
                <a:latin typeface="Courier New" pitchFamily="34" charset="0"/>
                <a:ea typeface="Courier New" pitchFamily="34" charset="-122"/>
                <a:cs typeface="Courier New" pitchFamily="34" charset="-120"/>
              </a:rPr>
              <a:t>scores[0] = 72;  scores[1] = 85;</a:t>
            </a:r>
            <a:endParaRPr lang="en-US" sz="1300" dirty="0"/>
          </a:p>
        </p:txBody>
      </p:sp>
      <p:sp>
        <p:nvSpPr>
          <p:cNvPr id="33" name="Shape 30"/>
          <p:cNvSpPr/>
          <p:nvPr/>
        </p:nvSpPr>
        <p:spPr>
          <a:xfrm>
            <a:off x="7452360" y="3063240"/>
            <a:ext cx="731520" cy="457200"/>
          </a:xfrm>
          <a:prstGeom prst="rect">
            <a:avLst/>
          </a:prstGeom>
          <a:solidFill>
            <a:srgbClr val="FFF1D6"/>
          </a:solidFill>
          <a:ln w="15875">
            <a:solidFill>
              <a:srgbClr val="14213D"/>
            </a:solidFill>
            <a:prstDash val="solid"/>
          </a:ln>
        </p:spPr>
      </p:sp>
      <p:sp>
        <p:nvSpPr>
          <p:cNvPr id="34" name="Text 31"/>
          <p:cNvSpPr txBox="1"/>
          <p:nvPr/>
        </p:nvSpPr>
        <p:spPr>
          <a:xfrm>
            <a:off x="7452360" y="3063240"/>
            <a:ext cx="731520" cy="45720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72</a:t>
            </a:r>
            <a:endParaRPr lang="en-US" sz="1600" dirty="0"/>
          </a:p>
        </p:txBody>
      </p:sp>
      <p:sp>
        <p:nvSpPr>
          <p:cNvPr id="35" name="Text 32"/>
          <p:cNvSpPr txBox="1"/>
          <p:nvPr/>
        </p:nvSpPr>
        <p:spPr>
          <a:xfrm>
            <a:off x="7452360" y="3547872"/>
            <a:ext cx="731520" cy="274320"/>
          </a:xfrm>
          <a:prstGeom prst="rect">
            <a:avLst/>
          </a:prstGeom>
          <a:noFill/>
          <a:ln/>
        </p:spPr>
        <p:txBody>
          <a:bodyPr wrap="square" lIns="0" tIns="0" rIns="0" bIns="0" rtlCol="0" anchor="ctr"/>
          <a:lstStyle/>
          <a:p>
            <a:pPr algn="ctr" indent="0" marL="0">
              <a:buNone/>
            </a:pPr>
            <a:r>
              <a:rPr lang="en-US" sz="1200" dirty="0">
                <a:solidFill>
                  <a:srgbClr val="5B6478"/>
                </a:solidFill>
                <a:latin typeface="Courier New" pitchFamily="34" charset="0"/>
                <a:ea typeface="Courier New" pitchFamily="34" charset="-122"/>
                <a:cs typeface="Courier New" pitchFamily="34" charset="-120"/>
              </a:rPr>
              <a:t>[0]</a:t>
            </a:r>
            <a:endParaRPr lang="en-US" sz="1200" dirty="0"/>
          </a:p>
        </p:txBody>
      </p:sp>
      <p:sp>
        <p:nvSpPr>
          <p:cNvPr id="36" name="Shape 33"/>
          <p:cNvSpPr/>
          <p:nvPr/>
        </p:nvSpPr>
        <p:spPr>
          <a:xfrm>
            <a:off x="8183880" y="3063240"/>
            <a:ext cx="731520" cy="457200"/>
          </a:xfrm>
          <a:prstGeom prst="rect">
            <a:avLst/>
          </a:prstGeom>
          <a:solidFill>
            <a:srgbClr val="FFF1D6"/>
          </a:solidFill>
          <a:ln w="15875">
            <a:solidFill>
              <a:srgbClr val="14213D"/>
            </a:solidFill>
            <a:prstDash val="solid"/>
          </a:ln>
        </p:spPr>
      </p:sp>
      <p:sp>
        <p:nvSpPr>
          <p:cNvPr id="37" name="Text 34"/>
          <p:cNvSpPr txBox="1"/>
          <p:nvPr/>
        </p:nvSpPr>
        <p:spPr>
          <a:xfrm>
            <a:off x="8183880" y="3063240"/>
            <a:ext cx="731520" cy="45720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85</a:t>
            </a:r>
            <a:endParaRPr lang="en-US" sz="1600" dirty="0"/>
          </a:p>
        </p:txBody>
      </p:sp>
      <p:sp>
        <p:nvSpPr>
          <p:cNvPr id="38" name="Text 35"/>
          <p:cNvSpPr txBox="1"/>
          <p:nvPr/>
        </p:nvSpPr>
        <p:spPr>
          <a:xfrm>
            <a:off x="8183880" y="3547872"/>
            <a:ext cx="731520" cy="274320"/>
          </a:xfrm>
          <a:prstGeom prst="rect">
            <a:avLst/>
          </a:prstGeom>
          <a:noFill/>
          <a:ln/>
        </p:spPr>
        <p:txBody>
          <a:bodyPr wrap="square" lIns="0" tIns="0" rIns="0" bIns="0" rtlCol="0" anchor="ctr"/>
          <a:lstStyle/>
          <a:p>
            <a:pPr algn="ctr" indent="0" marL="0">
              <a:buNone/>
            </a:pPr>
            <a:r>
              <a:rPr lang="en-US" sz="1200" dirty="0">
                <a:solidFill>
                  <a:srgbClr val="5B6478"/>
                </a:solidFill>
                <a:latin typeface="Courier New" pitchFamily="34" charset="0"/>
                <a:ea typeface="Courier New" pitchFamily="34" charset="-122"/>
                <a:cs typeface="Courier New" pitchFamily="34" charset="-120"/>
              </a:rPr>
              <a:t>[1]</a:t>
            </a:r>
            <a:endParaRPr lang="en-US" sz="1200" dirty="0"/>
          </a:p>
        </p:txBody>
      </p:sp>
      <p:sp>
        <p:nvSpPr>
          <p:cNvPr id="39" name="Shape 36"/>
          <p:cNvSpPr/>
          <p:nvPr/>
        </p:nvSpPr>
        <p:spPr>
          <a:xfrm>
            <a:off x="8915400" y="3063240"/>
            <a:ext cx="731520" cy="457200"/>
          </a:xfrm>
          <a:prstGeom prst="rect">
            <a:avLst/>
          </a:prstGeom>
          <a:solidFill>
            <a:srgbClr val="FFFFFF"/>
          </a:solidFill>
          <a:ln w="15875">
            <a:solidFill>
              <a:srgbClr val="14213D"/>
            </a:solidFill>
            <a:prstDash val="solid"/>
          </a:ln>
        </p:spPr>
      </p:sp>
      <p:sp>
        <p:nvSpPr>
          <p:cNvPr id="40" name="Text 37"/>
          <p:cNvSpPr txBox="1"/>
          <p:nvPr/>
        </p:nvSpPr>
        <p:spPr>
          <a:xfrm>
            <a:off x="8915400" y="3063240"/>
            <a:ext cx="731520" cy="45720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0</a:t>
            </a:r>
            <a:endParaRPr lang="en-US" sz="1600" dirty="0"/>
          </a:p>
        </p:txBody>
      </p:sp>
      <p:sp>
        <p:nvSpPr>
          <p:cNvPr id="41" name="Text 38"/>
          <p:cNvSpPr txBox="1"/>
          <p:nvPr/>
        </p:nvSpPr>
        <p:spPr>
          <a:xfrm>
            <a:off x="8915400" y="3547872"/>
            <a:ext cx="731520" cy="274320"/>
          </a:xfrm>
          <a:prstGeom prst="rect">
            <a:avLst/>
          </a:prstGeom>
          <a:noFill/>
          <a:ln/>
        </p:spPr>
        <p:txBody>
          <a:bodyPr wrap="square" lIns="0" tIns="0" rIns="0" bIns="0" rtlCol="0" anchor="ctr"/>
          <a:lstStyle/>
          <a:p>
            <a:pPr algn="ctr" indent="0" marL="0">
              <a:buNone/>
            </a:pPr>
            <a:r>
              <a:rPr lang="en-US" sz="1200" dirty="0">
                <a:solidFill>
                  <a:srgbClr val="5B6478"/>
                </a:solidFill>
                <a:latin typeface="Courier New" pitchFamily="34" charset="0"/>
                <a:ea typeface="Courier New" pitchFamily="34" charset="-122"/>
                <a:cs typeface="Courier New" pitchFamily="34" charset="-120"/>
              </a:rPr>
              <a:t>[2]</a:t>
            </a:r>
            <a:endParaRPr lang="en-US" sz="1200" dirty="0"/>
          </a:p>
        </p:txBody>
      </p:sp>
      <p:sp>
        <p:nvSpPr>
          <p:cNvPr id="42" name="Shape 39"/>
          <p:cNvSpPr/>
          <p:nvPr/>
        </p:nvSpPr>
        <p:spPr>
          <a:xfrm>
            <a:off x="9646920" y="3063240"/>
            <a:ext cx="731520" cy="457200"/>
          </a:xfrm>
          <a:prstGeom prst="rect">
            <a:avLst/>
          </a:prstGeom>
          <a:solidFill>
            <a:srgbClr val="FFFFFF"/>
          </a:solidFill>
          <a:ln w="15875">
            <a:solidFill>
              <a:srgbClr val="14213D"/>
            </a:solidFill>
            <a:prstDash val="solid"/>
          </a:ln>
        </p:spPr>
      </p:sp>
      <p:sp>
        <p:nvSpPr>
          <p:cNvPr id="43" name="Text 40"/>
          <p:cNvSpPr txBox="1"/>
          <p:nvPr/>
        </p:nvSpPr>
        <p:spPr>
          <a:xfrm>
            <a:off x="9646920" y="3063240"/>
            <a:ext cx="731520" cy="45720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0</a:t>
            </a:r>
            <a:endParaRPr lang="en-US" sz="1600" dirty="0"/>
          </a:p>
        </p:txBody>
      </p:sp>
      <p:sp>
        <p:nvSpPr>
          <p:cNvPr id="44" name="Text 41"/>
          <p:cNvSpPr txBox="1"/>
          <p:nvPr/>
        </p:nvSpPr>
        <p:spPr>
          <a:xfrm>
            <a:off x="9646920" y="3547872"/>
            <a:ext cx="731520" cy="274320"/>
          </a:xfrm>
          <a:prstGeom prst="rect">
            <a:avLst/>
          </a:prstGeom>
          <a:noFill/>
          <a:ln/>
        </p:spPr>
        <p:txBody>
          <a:bodyPr wrap="square" lIns="0" tIns="0" rIns="0" bIns="0" rtlCol="0" anchor="ctr"/>
          <a:lstStyle/>
          <a:p>
            <a:pPr algn="ctr" indent="0" marL="0">
              <a:buNone/>
            </a:pPr>
            <a:r>
              <a:rPr lang="en-US" sz="1200" dirty="0">
                <a:solidFill>
                  <a:srgbClr val="5B6478"/>
                </a:solidFill>
                <a:latin typeface="Courier New" pitchFamily="34" charset="0"/>
                <a:ea typeface="Courier New" pitchFamily="34" charset="-122"/>
                <a:cs typeface="Courier New" pitchFamily="34" charset="-120"/>
              </a:rPr>
              <a:t>[3]</a:t>
            </a:r>
            <a:endParaRPr lang="en-US" sz="1200" dirty="0"/>
          </a:p>
        </p:txBody>
      </p:sp>
      <p:sp>
        <p:nvSpPr>
          <p:cNvPr id="45" name="Shape 42"/>
          <p:cNvSpPr/>
          <p:nvPr/>
        </p:nvSpPr>
        <p:spPr>
          <a:xfrm>
            <a:off x="10378440" y="3063240"/>
            <a:ext cx="731520" cy="457200"/>
          </a:xfrm>
          <a:prstGeom prst="rect">
            <a:avLst/>
          </a:prstGeom>
          <a:solidFill>
            <a:srgbClr val="FFFFFF"/>
          </a:solidFill>
          <a:ln w="15875">
            <a:solidFill>
              <a:srgbClr val="14213D"/>
            </a:solidFill>
            <a:prstDash val="solid"/>
          </a:ln>
        </p:spPr>
      </p:sp>
      <p:sp>
        <p:nvSpPr>
          <p:cNvPr id="46" name="Text 43"/>
          <p:cNvSpPr txBox="1"/>
          <p:nvPr/>
        </p:nvSpPr>
        <p:spPr>
          <a:xfrm>
            <a:off x="10378440" y="3063240"/>
            <a:ext cx="731520" cy="45720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0</a:t>
            </a:r>
            <a:endParaRPr lang="en-US" sz="1600" dirty="0"/>
          </a:p>
        </p:txBody>
      </p:sp>
      <p:sp>
        <p:nvSpPr>
          <p:cNvPr id="47" name="Text 44"/>
          <p:cNvSpPr txBox="1"/>
          <p:nvPr/>
        </p:nvSpPr>
        <p:spPr>
          <a:xfrm>
            <a:off x="10378440" y="3547872"/>
            <a:ext cx="731520" cy="274320"/>
          </a:xfrm>
          <a:prstGeom prst="rect">
            <a:avLst/>
          </a:prstGeom>
          <a:noFill/>
          <a:ln/>
        </p:spPr>
        <p:txBody>
          <a:bodyPr wrap="square" lIns="0" tIns="0" rIns="0" bIns="0" rtlCol="0" anchor="ctr"/>
          <a:lstStyle/>
          <a:p>
            <a:pPr algn="ctr" indent="0" marL="0">
              <a:buNone/>
            </a:pPr>
            <a:r>
              <a:rPr lang="en-US" sz="1200" dirty="0">
                <a:solidFill>
                  <a:srgbClr val="5B6478"/>
                </a:solidFill>
                <a:latin typeface="Courier New" pitchFamily="34" charset="0"/>
                <a:ea typeface="Courier New" pitchFamily="34" charset="-122"/>
                <a:cs typeface="Courier New" pitchFamily="34" charset="-120"/>
              </a:rPr>
              <a:t>[4]</a:t>
            </a:r>
            <a:endParaRPr lang="en-US" sz="1200" dirty="0"/>
          </a:p>
        </p:txBody>
      </p:sp>
      <p:sp>
        <p:nvSpPr>
          <p:cNvPr id="48" name="Text 45"/>
          <p:cNvSpPr txBox="1"/>
          <p:nvPr/>
        </p:nvSpPr>
        <p:spPr>
          <a:xfrm>
            <a:off x="6949440" y="3877056"/>
            <a:ext cx="4709160" cy="274320"/>
          </a:xfrm>
          <a:prstGeom prst="rect">
            <a:avLst/>
          </a:prstGeom>
          <a:noFill/>
          <a:ln/>
        </p:spPr>
        <p:txBody>
          <a:bodyPr wrap="square" lIns="0" tIns="0" rIns="0" bIns="0" rtlCol="0" anchor="ctr"/>
          <a:lstStyle/>
          <a:p>
            <a:pPr indent="0" marL="0">
              <a:buNone/>
            </a:pPr>
            <a:r>
              <a:rPr lang="en-US" sz="1300" b="1" dirty="0">
                <a:solidFill>
                  <a:srgbClr val="5B6478"/>
                </a:solidFill>
                <a:latin typeface="Courier New" pitchFamily="34" charset="0"/>
                <a:ea typeface="Courier New" pitchFamily="34" charset="-122"/>
                <a:cs typeface="Courier New" pitchFamily="34" charset="-120"/>
              </a:rPr>
              <a:t>scores[4] = 90;</a:t>
            </a:r>
            <a:endParaRPr lang="en-US" sz="1300" dirty="0"/>
          </a:p>
        </p:txBody>
      </p:sp>
      <p:sp>
        <p:nvSpPr>
          <p:cNvPr id="49" name="Shape 46"/>
          <p:cNvSpPr/>
          <p:nvPr/>
        </p:nvSpPr>
        <p:spPr>
          <a:xfrm>
            <a:off x="7452360" y="4178808"/>
            <a:ext cx="731520" cy="457200"/>
          </a:xfrm>
          <a:prstGeom prst="rect">
            <a:avLst/>
          </a:prstGeom>
          <a:solidFill>
            <a:srgbClr val="FFFFFF"/>
          </a:solidFill>
          <a:ln w="15875">
            <a:solidFill>
              <a:srgbClr val="14213D"/>
            </a:solidFill>
            <a:prstDash val="solid"/>
          </a:ln>
        </p:spPr>
      </p:sp>
      <p:sp>
        <p:nvSpPr>
          <p:cNvPr id="50" name="Text 47"/>
          <p:cNvSpPr txBox="1"/>
          <p:nvPr/>
        </p:nvSpPr>
        <p:spPr>
          <a:xfrm>
            <a:off x="7452360" y="4178808"/>
            <a:ext cx="731520" cy="45720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72</a:t>
            </a:r>
            <a:endParaRPr lang="en-US" sz="1600" dirty="0"/>
          </a:p>
        </p:txBody>
      </p:sp>
      <p:sp>
        <p:nvSpPr>
          <p:cNvPr id="51" name="Text 48"/>
          <p:cNvSpPr txBox="1"/>
          <p:nvPr/>
        </p:nvSpPr>
        <p:spPr>
          <a:xfrm>
            <a:off x="7452360" y="4663440"/>
            <a:ext cx="731520" cy="274320"/>
          </a:xfrm>
          <a:prstGeom prst="rect">
            <a:avLst/>
          </a:prstGeom>
          <a:noFill/>
          <a:ln/>
        </p:spPr>
        <p:txBody>
          <a:bodyPr wrap="square" lIns="0" tIns="0" rIns="0" bIns="0" rtlCol="0" anchor="ctr"/>
          <a:lstStyle/>
          <a:p>
            <a:pPr algn="ctr" indent="0" marL="0">
              <a:buNone/>
            </a:pPr>
            <a:r>
              <a:rPr lang="en-US" sz="1200" dirty="0">
                <a:solidFill>
                  <a:srgbClr val="5B6478"/>
                </a:solidFill>
                <a:latin typeface="Courier New" pitchFamily="34" charset="0"/>
                <a:ea typeface="Courier New" pitchFamily="34" charset="-122"/>
                <a:cs typeface="Courier New" pitchFamily="34" charset="-120"/>
              </a:rPr>
              <a:t>[0]</a:t>
            </a:r>
            <a:endParaRPr lang="en-US" sz="1200" dirty="0"/>
          </a:p>
        </p:txBody>
      </p:sp>
      <p:sp>
        <p:nvSpPr>
          <p:cNvPr id="52" name="Shape 49"/>
          <p:cNvSpPr/>
          <p:nvPr/>
        </p:nvSpPr>
        <p:spPr>
          <a:xfrm>
            <a:off x="8183880" y="4178808"/>
            <a:ext cx="731520" cy="457200"/>
          </a:xfrm>
          <a:prstGeom prst="rect">
            <a:avLst/>
          </a:prstGeom>
          <a:solidFill>
            <a:srgbClr val="FFFFFF"/>
          </a:solidFill>
          <a:ln w="15875">
            <a:solidFill>
              <a:srgbClr val="14213D"/>
            </a:solidFill>
            <a:prstDash val="solid"/>
          </a:ln>
        </p:spPr>
      </p:sp>
      <p:sp>
        <p:nvSpPr>
          <p:cNvPr id="53" name="Text 50"/>
          <p:cNvSpPr txBox="1"/>
          <p:nvPr/>
        </p:nvSpPr>
        <p:spPr>
          <a:xfrm>
            <a:off x="8183880" y="4178808"/>
            <a:ext cx="731520" cy="45720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85</a:t>
            </a:r>
            <a:endParaRPr lang="en-US" sz="1600" dirty="0"/>
          </a:p>
        </p:txBody>
      </p:sp>
      <p:sp>
        <p:nvSpPr>
          <p:cNvPr id="54" name="Text 51"/>
          <p:cNvSpPr txBox="1"/>
          <p:nvPr/>
        </p:nvSpPr>
        <p:spPr>
          <a:xfrm>
            <a:off x="8183880" y="4663440"/>
            <a:ext cx="731520" cy="274320"/>
          </a:xfrm>
          <a:prstGeom prst="rect">
            <a:avLst/>
          </a:prstGeom>
          <a:noFill/>
          <a:ln/>
        </p:spPr>
        <p:txBody>
          <a:bodyPr wrap="square" lIns="0" tIns="0" rIns="0" bIns="0" rtlCol="0" anchor="ctr"/>
          <a:lstStyle/>
          <a:p>
            <a:pPr algn="ctr" indent="0" marL="0">
              <a:buNone/>
            </a:pPr>
            <a:r>
              <a:rPr lang="en-US" sz="1200" dirty="0">
                <a:solidFill>
                  <a:srgbClr val="5B6478"/>
                </a:solidFill>
                <a:latin typeface="Courier New" pitchFamily="34" charset="0"/>
                <a:ea typeface="Courier New" pitchFamily="34" charset="-122"/>
                <a:cs typeface="Courier New" pitchFamily="34" charset="-120"/>
              </a:rPr>
              <a:t>[1]</a:t>
            </a:r>
            <a:endParaRPr lang="en-US" sz="1200" dirty="0"/>
          </a:p>
        </p:txBody>
      </p:sp>
      <p:sp>
        <p:nvSpPr>
          <p:cNvPr id="55" name="Shape 52"/>
          <p:cNvSpPr/>
          <p:nvPr/>
        </p:nvSpPr>
        <p:spPr>
          <a:xfrm>
            <a:off x="8915400" y="4178808"/>
            <a:ext cx="731520" cy="457200"/>
          </a:xfrm>
          <a:prstGeom prst="rect">
            <a:avLst/>
          </a:prstGeom>
          <a:solidFill>
            <a:srgbClr val="FFFFFF"/>
          </a:solidFill>
          <a:ln w="15875">
            <a:solidFill>
              <a:srgbClr val="14213D"/>
            </a:solidFill>
            <a:prstDash val="solid"/>
          </a:ln>
        </p:spPr>
      </p:sp>
      <p:sp>
        <p:nvSpPr>
          <p:cNvPr id="56" name="Text 53"/>
          <p:cNvSpPr txBox="1"/>
          <p:nvPr/>
        </p:nvSpPr>
        <p:spPr>
          <a:xfrm>
            <a:off x="8915400" y="4178808"/>
            <a:ext cx="731520" cy="45720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0</a:t>
            </a:r>
            <a:endParaRPr lang="en-US" sz="1600" dirty="0"/>
          </a:p>
        </p:txBody>
      </p:sp>
      <p:sp>
        <p:nvSpPr>
          <p:cNvPr id="57" name="Text 54"/>
          <p:cNvSpPr txBox="1"/>
          <p:nvPr/>
        </p:nvSpPr>
        <p:spPr>
          <a:xfrm>
            <a:off x="8915400" y="4663440"/>
            <a:ext cx="731520" cy="274320"/>
          </a:xfrm>
          <a:prstGeom prst="rect">
            <a:avLst/>
          </a:prstGeom>
          <a:noFill/>
          <a:ln/>
        </p:spPr>
        <p:txBody>
          <a:bodyPr wrap="square" lIns="0" tIns="0" rIns="0" bIns="0" rtlCol="0" anchor="ctr"/>
          <a:lstStyle/>
          <a:p>
            <a:pPr algn="ctr" indent="0" marL="0">
              <a:buNone/>
            </a:pPr>
            <a:r>
              <a:rPr lang="en-US" sz="1200" dirty="0">
                <a:solidFill>
                  <a:srgbClr val="5B6478"/>
                </a:solidFill>
                <a:latin typeface="Courier New" pitchFamily="34" charset="0"/>
                <a:ea typeface="Courier New" pitchFamily="34" charset="-122"/>
                <a:cs typeface="Courier New" pitchFamily="34" charset="-120"/>
              </a:rPr>
              <a:t>[2]</a:t>
            </a:r>
            <a:endParaRPr lang="en-US" sz="1200" dirty="0"/>
          </a:p>
        </p:txBody>
      </p:sp>
      <p:sp>
        <p:nvSpPr>
          <p:cNvPr id="58" name="Shape 55"/>
          <p:cNvSpPr/>
          <p:nvPr/>
        </p:nvSpPr>
        <p:spPr>
          <a:xfrm>
            <a:off x="9646920" y="4178808"/>
            <a:ext cx="731520" cy="457200"/>
          </a:xfrm>
          <a:prstGeom prst="rect">
            <a:avLst/>
          </a:prstGeom>
          <a:solidFill>
            <a:srgbClr val="FFFFFF"/>
          </a:solidFill>
          <a:ln w="15875">
            <a:solidFill>
              <a:srgbClr val="14213D"/>
            </a:solidFill>
            <a:prstDash val="solid"/>
          </a:ln>
        </p:spPr>
      </p:sp>
      <p:sp>
        <p:nvSpPr>
          <p:cNvPr id="59" name="Text 56"/>
          <p:cNvSpPr txBox="1"/>
          <p:nvPr/>
        </p:nvSpPr>
        <p:spPr>
          <a:xfrm>
            <a:off x="9646920" y="4178808"/>
            <a:ext cx="731520" cy="45720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0</a:t>
            </a:r>
            <a:endParaRPr lang="en-US" sz="1600" dirty="0"/>
          </a:p>
        </p:txBody>
      </p:sp>
      <p:sp>
        <p:nvSpPr>
          <p:cNvPr id="60" name="Text 57"/>
          <p:cNvSpPr txBox="1"/>
          <p:nvPr/>
        </p:nvSpPr>
        <p:spPr>
          <a:xfrm>
            <a:off x="9646920" y="4663440"/>
            <a:ext cx="731520" cy="274320"/>
          </a:xfrm>
          <a:prstGeom prst="rect">
            <a:avLst/>
          </a:prstGeom>
          <a:noFill/>
          <a:ln/>
        </p:spPr>
        <p:txBody>
          <a:bodyPr wrap="square" lIns="0" tIns="0" rIns="0" bIns="0" rtlCol="0" anchor="ctr"/>
          <a:lstStyle/>
          <a:p>
            <a:pPr algn="ctr" indent="0" marL="0">
              <a:buNone/>
            </a:pPr>
            <a:r>
              <a:rPr lang="en-US" sz="1200" dirty="0">
                <a:solidFill>
                  <a:srgbClr val="5B6478"/>
                </a:solidFill>
                <a:latin typeface="Courier New" pitchFamily="34" charset="0"/>
                <a:ea typeface="Courier New" pitchFamily="34" charset="-122"/>
                <a:cs typeface="Courier New" pitchFamily="34" charset="-120"/>
              </a:rPr>
              <a:t>[3]</a:t>
            </a:r>
            <a:endParaRPr lang="en-US" sz="1200" dirty="0"/>
          </a:p>
        </p:txBody>
      </p:sp>
      <p:sp>
        <p:nvSpPr>
          <p:cNvPr id="61" name="Shape 58"/>
          <p:cNvSpPr/>
          <p:nvPr/>
        </p:nvSpPr>
        <p:spPr>
          <a:xfrm>
            <a:off x="10378440" y="4178808"/>
            <a:ext cx="731520" cy="457200"/>
          </a:xfrm>
          <a:prstGeom prst="rect">
            <a:avLst/>
          </a:prstGeom>
          <a:solidFill>
            <a:srgbClr val="FFF1D6"/>
          </a:solidFill>
          <a:ln w="15875">
            <a:solidFill>
              <a:srgbClr val="14213D"/>
            </a:solidFill>
            <a:prstDash val="solid"/>
          </a:ln>
        </p:spPr>
      </p:sp>
      <p:sp>
        <p:nvSpPr>
          <p:cNvPr id="62" name="Text 59"/>
          <p:cNvSpPr txBox="1"/>
          <p:nvPr/>
        </p:nvSpPr>
        <p:spPr>
          <a:xfrm>
            <a:off x="10378440" y="4178808"/>
            <a:ext cx="731520" cy="45720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90</a:t>
            </a:r>
            <a:endParaRPr lang="en-US" sz="1600" dirty="0"/>
          </a:p>
        </p:txBody>
      </p:sp>
      <p:sp>
        <p:nvSpPr>
          <p:cNvPr id="63" name="Text 60"/>
          <p:cNvSpPr txBox="1"/>
          <p:nvPr/>
        </p:nvSpPr>
        <p:spPr>
          <a:xfrm>
            <a:off x="10378440" y="4663440"/>
            <a:ext cx="731520" cy="274320"/>
          </a:xfrm>
          <a:prstGeom prst="rect">
            <a:avLst/>
          </a:prstGeom>
          <a:noFill/>
          <a:ln/>
        </p:spPr>
        <p:txBody>
          <a:bodyPr wrap="square" lIns="0" tIns="0" rIns="0" bIns="0" rtlCol="0" anchor="ctr"/>
          <a:lstStyle/>
          <a:p>
            <a:pPr algn="ctr" indent="0" marL="0">
              <a:buNone/>
            </a:pPr>
            <a:r>
              <a:rPr lang="en-US" sz="1200" dirty="0">
                <a:solidFill>
                  <a:srgbClr val="5B6478"/>
                </a:solidFill>
                <a:latin typeface="Courier New" pitchFamily="34" charset="0"/>
                <a:ea typeface="Courier New" pitchFamily="34" charset="-122"/>
                <a:cs typeface="Courier New" pitchFamily="34" charset="-120"/>
              </a:rPr>
              <a:t>[4]</a:t>
            </a:r>
            <a:endParaRPr lang="en-US" sz="1200" dirty="0"/>
          </a:p>
        </p:txBody>
      </p:sp>
      <p:sp>
        <p:nvSpPr>
          <p:cNvPr id="64" name="Text 61"/>
          <p:cNvSpPr txBox="1"/>
          <p:nvPr/>
        </p:nvSpPr>
        <p:spPr>
          <a:xfrm>
            <a:off x="6949440" y="4992624"/>
            <a:ext cx="4709160" cy="274320"/>
          </a:xfrm>
          <a:prstGeom prst="rect">
            <a:avLst/>
          </a:prstGeom>
          <a:noFill/>
          <a:ln/>
        </p:spPr>
        <p:txBody>
          <a:bodyPr wrap="square" lIns="0" tIns="0" rIns="0" bIns="0" rtlCol="0" anchor="ctr"/>
          <a:lstStyle/>
          <a:p>
            <a:pPr indent="0" marL="0">
              <a:buNone/>
            </a:pPr>
            <a:r>
              <a:rPr lang="en-US" sz="1300" b="1" dirty="0">
                <a:solidFill>
                  <a:srgbClr val="5B6478"/>
                </a:solidFill>
                <a:latin typeface="Courier New" pitchFamily="34" charset="0"/>
                <a:ea typeface="Courier New" pitchFamily="34" charset="-122"/>
                <a:cs typeface="Courier New" pitchFamily="34" charset="-120"/>
              </a:rPr>
              <a:t>scores[1] = scores[1] + 5;</a:t>
            </a:r>
            <a:endParaRPr lang="en-US" sz="1300" dirty="0"/>
          </a:p>
        </p:txBody>
      </p:sp>
      <p:sp>
        <p:nvSpPr>
          <p:cNvPr id="65" name="Shape 62"/>
          <p:cNvSpPr/>
          <p:nvPr/>
        </p:nvSpPr>
        <p:spPr>
          <a:xfrm>
            <a:off x="7452360" y="5294376"/>
            <a:ext cx="731520" cy="457200"/>
          </a:xfrm>
          <a:prstGeom prst="rect">
            <a:avLst/>
          </a:prstGeom>
          <a:solidFill>
            <a:srgbClr val="FFFFFF"/>
          </a:solidFill>
          <a:ln w="15875">
            <a:solidFill>
              <a:srgbClr val="14213D"/>
            </a:solidFill>
            <a:prstDash val="solid"/>
          </a:ln>
        </p:spPr>
      </p:sp>
      <p:sp>
        <p:nvSpPr>
          <p:cNvPr id="66" name="Text 63"/>
          <p:cNvSpPr txBox="1"/>
          <p:nvPr/>
        </p:nvSpPr>
        <p:spPr>
          <a:xfrm>
            <a:off x="7452360" y="5294376"/>
            <a:ext cx="731520" cy="45720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72</a:t>
            </a:r>
            <a:endParaRPr lang="en-US" sz="1600" dirty="0"/>
          </a:p>
        </p:txBody>
      </p:sp>
      <p:sp>
        <p:nvSpPr>
          <p:cNvPr id="67" name="Text 64"/>
          <p:cNvSpPr txBox="1"/>
          <p:nvPr/>
        </p:nvSpPr>
        <p:spPr>
          <a:xfrm>
            <a:off x="7452360" y="5779008"/>
            <a:ext cx="731520" cy="274320"/>
          </a:xfrm>
          <a:prstGeom prst="rect">
            <a:avLst/>
          </a:prstGeom>
          <a:noFill/>
          <a:ln/>
        </p:spPr>
        <p:txBody>
          <a:bodyPr wrap="square" lIns="0" tIns="0" rIns="0" bIns="0" rtlCol="0" anchor="ctr"/>
          <a:lstStyle/>
          <a:p>
            <a:pPr algn="ctr" indent="0" marL="0">
              <a:buNone/>
            </a:pPr>
            <a:r>
              <a:rPr lang="en-US" sz="1200" dirty="0">
                <a:solidFill>
                  <a:srgbClr val="5B6478"/>
                </a:solidFill>
                <a:latin typeface="Courier New" pitchFamily="34" charset="0"/>
                <a:ea typeface="Courier New" pitchFamily="34" charset="-122"/>
                <a:cs typeface="Courier New" pitchFamily="34" charset="-120"/>
              </a:rPr>
              <a:t>[0]</a:t>
            </a:r>
            <a:endParaRPr lang="en-US" sz="1200" dirty="0"/>
          </a:p>
        </p:txBody>
      </p:sp>
      <p:sp>
        <p:nvSpPr>
          <p:cNvPr id="68" name="Shape 65"/>
          <p:cNvSpPr/>
          <p:nvPr/>
        </p:nvSpPr>
        <p:spPr>
          <a:xfrm>
            <a:off x="8183880" y="5294376"/>
            <a:ext cx="731520" cy="457200"/>
          </a:xfrm>
          <a:prstGeom prst="rect">
            <a:avLst/>
          </a:prstGeom>
          <a:solidFill>
            <a:srgbClr val="FFF1D6"/>
          </a:solidFill>
          <a:ln w="15875">
            <a:solidFill>
              <a:srgbClr val="14213D"/>
            </a:solidFill>
            <a:prstDash val="solid"/>
          </a:ln>
        </p:spPr>
      </p:sp>
      <p:sp>
        <p:nvSpPr>
          <p:cNvPr id="69" name="Text 66"/>
          <p:cNvSpPr txBox="1"/>
          <p:nvPr/>
        </p:nvSpPr>
        <p:spPr>
          <a:xfrm>
            <a:off x="8183880" y="5294376"/>
            <a:ext cx="731520" cy="45720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90</a:t>
            </a:r>
            <a:endParaRPr lang="en-US" sz="1600" dirty="0"/>
          </a:p>
        </p:txBody>
      </p:sp>
      <p:sp>
        <p:nvSpPr>
          <p:cNvPr id="70" name="Text 67"/>
          <p:cNvSpPr txBox="1"/>
          <p:nvPr/>
        </p:nvSpPr>
        <p:spPr>
          <a:xfrm>
            <a:off x="8183880" y="5779008"/>
            <a:ext cx="731520" cy="274320"/>
          </a:xfrm>
          <a:prstGeom prst="rect">
            <a:avLst/>
          </a:prstGeom>
          <a:noFill/>
          <a:ln/>
        </p:spPr>
        <p:txBody>
          <a:bodyPr wrap="square" lIns="0" tIns="0" rIns="0" bIns="0" rtlCol="0" anchor="ctr"/>
          <a:lstStyle/>
          <a:p>
            <a:pPr algn="ctr" indent="0" marL="0">
              <a:buNone/>
            </a:pPr>
            <a:r>
              <a:rPr lang="en-US" sz="1200" dirty="0">
                <a:solidFill>
                  <a:srgbClr val="5B6478"/>
                </a:solidFill>
                <a:latin typeface="Courier New" pitchFamily="34" charset="0"/>
                <a:ea typeface="Courier New" pitchFamily="34" charset="-122"/>
                <a:cs typeface="Courier New" pitchFamily="34" charset="-120"/>
              </a:rPr>
              <a:t>[1]</a:t>
            </a:r>
            <a:endParaRPr lang="en-US" sz="1200" dirty="0"/>
          </a:p>
        </p:txBody>
      </p:sp>
      <p:sp>
        <p:nvSpPr>
          <p:cNvPr id="71" name="Shape 68"/>
          <p:cNvSpPr/>
          <p:nvPr/>
        </p:nvSpPr>
        <p:spPr>
          <a:xfrm>
            <a:off x="8915400" y="5294376"/>
            <a:ext cx="731520" cy="457200"/>
          </a:xfrm>
          <a:prstGeom prst="rect">
            <a:avLst/>
          </a:prstGeom>
          <a:solidFill>
            <a:srgbClr val="FFFFFF"/>
          </a:solidFill>
          <a:ln w="15875">
            <a:solidFill>
              <a:srgbClr val="14213D"/>
            </a:solidFill>
            <a:prstDash val="solid"/>
          </a:ln>
        </p:spPr>
      </p:sp>
      <p:sp>
        <p:nvSpPr>
          <p:cNvPr id="72" name="Text 69"/>
          <p:cNvSpPr txBox="1"/>
          <p:nvPr/>
        </p:nvSpPr>
        <p:spPr>
          <a:xfrm>
            <a:off x="8915400" y="5294376"/>
            <a:ext cx="731520" cy="45720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0</a:t>
            </a:r>
            <a:endParaRPr lang="en-US" sz="1600" dirty="0"/>
          </a:p>
        </p:txBody>
      </p:sp>
      <p:sp>
        <p:nvSpPr>
          <p:cNvPr id="73" name="Text 70"/>
          <p:cNvSpPr txBox="1"/>
          <p:nvPr/>
        </p:nvSpPr>
        <p:spPr>
          <a:xfrm>
            <a:off x="8915400" y="5779008"/>
            <a:ext cx="731520" cy="274320"/>
          </a:xfrm>
          <a:prstGeom prst="rect">
            <a:avLst/>
          </a:prstGeom>
          <a:noFill/>
          <a:ln/>
        </p:spPr>
        <p:txBody>
          <a:bodyPr wrap="square" lIns="0" tIns="0" rIns="0" bIns="0" rtlCol="0" anchor="ctr"/>
          <a:lstStyle/>
          <a:p>
            <a:pPr algn="ctr" indent="0" marL="0">
              <a:buNone/>
            </a:pPr>
            <a:r>
              <a:rPr lang="en-US" sz="1200" dirty="0">
                <a:solidFill>
                  <a:srgbClr val="5B6478"/>
                </a:solidFill>
                <a:latin typeface="Courier New" pitchFamily="34" charset="0"/>
                <a:ea typeface="Courier New" pitchFamily="34" charset="-122"/>
                <a:cs typeface="Courier New" pitchFamily="34" charset="-120"/>
              </a:rPr>
              <a:t>[2]</a:t>
            </a:r>
            <a:endParaRPr lang="en-US" sz="1200" dirty="0"/>
          </a:p>
        </p:txBody>
      </p:sp>
      <p:sp>
        <p:nvSpPr>
          <p:cNvPr id="74" name="Shape 71"/>
          <p:cNvSpPr/>
          <p:nvPr/>
        </p:nvSpPr>
        <p:spPr>
          <a:xfrm>
            <a:off x="9646920" y="5294376"/>
            <a:ext cx="731520" cy="457200"/>
          </a:xfrm>
          <a:prstGeom prst="rect">
            <a:avLst/>
          </a:prstGeom>
          <a:solidFill>
            <a:srgbClr val="FFFFFF"/>
          </a:solidFill>
          <a:ln w="15875">
            <a:solidFill>
              <a:srgbClr val="14213D"/>
            </a:solidFill>
            <a:prstDash val="solid"/>
          </a:ln>
        </p:spPr>
      </p:sp>
      <p:sp>
        <p:nvSpPr>
          <p:cNvPr id="75" name="Text 72"/>
          <p:cNvSpPr txBox="1"/>
          <p:nvPr/>
        </p:nvSpPr>
        <p:spPr>
          <a:xfrm>
            <a:off x="9646920" y="5294376"/>
            <a:ext cx="731520" cy="45720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0</a:t>
            </a:r>
            <a:endParaRPr lang="en-US" sz="1600" dirty="0"/>
          </a:p>
        </p:txBody>
      </p:sp>
      <p:sp>
        <p:nvSpPr>
          <p:cNvPr id="76" name="Text 73"/>
          <p:cNvSpPr txBox="1"/>
          <p:nvPr/>
        </p:nvSpPr>
        <p:spPr>
          <a:xfrm>
            <a:off x="9646920" y="5779008"/>
            <a:ext cx="731520" cy="274320"/>
          </a:xfrm>
          <a:prstGeom prst="rect">
            <a:avLst/>
          </a:prstGeom>
          <a:noFill/>
          <a:ln/>
        </p:spPr>
        <p:txBody>
          <a:bodyPr wrap="square" lIns="0" tIns="0" rIns="0" bIns="0" rtlCol="0" anchor="ctr"/>
          <a:lstStyle/>
          <a:p>
            <a:pPr algn="ctr" indent="0" marL="0">
              <a:buNone/>
            </a:pPr>
            <a:r>
              <a:rPr lang="en-US" sz="1200" dirty="0">
                <a:solidFill>
                  <a:srgbClr val="5B6478"/>
                </a:solidFill>
                <a:latin typeface="Courier New" pitchFamily="34" charset="0"/>
                <a:ea typeface="Courier New" pitchFamily="34" charset="-122"/>
                <a:cs typeface="Courier New" pitchFamily="34" charset="-120"/>
              </a:rPr>
              <a:t>[3]</a:t>
            </a:r>
            <a:endParaRPr lang="en-US" sz="1200" dirty="0"/>
          </a:p>
        </p:txBody>
      </p:sp>
      <p:sp>
        <p:nvSpPr>
          <p:cNvPr id="77" name="Shape 74"/>
          <p:cNvSpPr/>
          <p:nvPr/>
        </p:nvSpPr>
        <p:spPr>
          <a:xfrm>
            <a:off x="10378440" y="5294376"/>
            <a:ext cx="731520" cy="457200"/>
          </a:xfrm>
          <a:prstGeom prst="rect">
            <a:avLst/>
          </a:prstGeom>
          <a:solidFill>
            <a:srgbClr val="FFFFFF"/>
          </a:solidFill>
          <a:ln w="15875">
            <a:solidFill>
              <a:srgbClr val="14213D"/>
            </a:solidFill>
            <a:prstDash val="solid"/>
          </a:ln>
        </p:spPr>
      </p:sp>
      <p:sp>
        <p:nvSpPr>
          <p:cNvPr id="78" name="Text 75"/>
          <p:cNvSpPr txBox="1"/>
          <p:nvPr/>
        </p:nvSpPr>
        <p:spPr>
          <a:xfrm>
            <a:off x="10378440" y="5294376"/>
            <a:ext cx="731520" cy="45720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90</a:t>
            </a:r>
            <a:endParaRPr lang="en-US" sz="1600" dirty="0"/>
          </a:p>
        </p:txBody>
      </p:sp>
      <p:sp>
        <p:nvSpPr>
          <p:cNvPr id="79" name="Text 76"/>
          <p:cNvSpPr txBox="1"/>
          <p:nvPr/>
        </p:nvSpPr>
        <p:spPr>
          <a:xfrm>
            <a:off x="10378440" y="5779008"/>
            <a:ext cx="731520" cy="274320"/>
          </a:xfrm>
          <a:prstGeom prst="rect">
            <a:avLst/>
          </a:prstGeom>
          <a:noFill/>
          <a:ln/>
        </p:spPr>
        <p:txBody>
          <a:bodyPr wrap="square" lIns="0" tIns="0" rIns="0" bIns="0" rtlCol="0" anchor="ctr"/>
          <a:lstStyle/>
          <a:p>
            <a:pPr algn="ctr" indent="0" marL="0">
              <a:buNone/>
            </a:pPr>
            <a:r>
              <a:rPr lang="en-US" sz="1200" dirty="0">
                <a:solidFill>
                  <a:srgbClr val="5B6478"/>
                </a:solidFill>
                <a:latin typeface="Courier New" pitchFamily="34" charset="0"/>
                <a:ea typeface="Courier New" pitchFamily="34" charset="-122"/>
                <a:cs typeface="Courier New" pitchFamily="34" charset="-120"/>
              </a:rPr>
              <a:t>[4]</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RUN-TIME ERROR</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IndexOutOfRangeException: the Box Does Not Exist</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9</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12</a:t>
            </a:r>
            <a:endParaRPr lang="en-US" sz="1000" dirty="0"/>
          </a:p>
        </p:txBody>
      </p:sp>
      <p:sp>
        <p:nvSpPr>
          <p:cNvPr id="7" name="Shape 4"/>
          <p:cNvSpPr/>
          <p:nvPr/>
        </p:nvSpPr>
        <p:spPr>
          <a:xfrm>
            <a:off x="548640" y="1645920"/>
            <a:ext cx="6995160" cy="2880360"/>
          </a:xfrm>
          <a:prstGeom prst="roundRect">
            <a:avLst>
              <a:gd name="adj" fmla="val 3175"/>
            </a:avLst>
          </a:prstGeom>
          <a:solidFill>
            <a:srgbClr val="0F1729"/>
          </a:solidFill>
          <a:ln w="12700">
            <a:solidFill>
              <a:srgbClr val="0F1729"/>
            </a:solidFill>
            <a:prstDash val="solid"/>
          </a:ln>
        </p:spPr>
      </p:sp>
      <p:sp>
        <p:nvSpPr>
          <p:cNvPr id="8" name="Text 5"/>
          <p:cNvSpPr txBox="1"/>
          <p:nvPr/>
        </p:nvSpPr>
        <p:spPr>
          <a:xfrm>
            <a:off x="777240" y="1755648"/>
            <a:ext cx="653796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09_03_OutOfRange (excerpt)</a:t>
            </a:r>
            <a:endParaRPr lang="en-US" sz="1100" dirty="0"/>
          </a:p>
        </p:txBody>
      </p:sp>
      <p:sp>
        <p:nvSpPr>
          <p:cNvPr id="9" name="Text 6"/>
          <p:cNvSpPr txBox="1"/>
          <p:nvPr/>
        </p:nvSpPr>
        <p:spPr>
          <a:xfrm>
            <a:off x="777240" y="2057400"/>
            <a:ext cx="6537960" cy="2359152"/>
          </a:xfrm>
          <a:prstGeom prst="rect">
            <a:avLst/>
          </a:prstGeom>
          <a:noFill/>
          <a:ln/>
        </p:spPr>
        <p:txBody>
          <a:bodyPr wrap="square" lIns="0" tIns="0" rIns="0" bIns="0" rtlCol="0" anchor="t"/>
          <a:lstStyle/>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 =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20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30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40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50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"Index: "</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index =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.Parse(</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.ReadLine());</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(index &gt;=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&amp;&amp; index &lt; a.Length)</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$"Checked:   a[{index}] = {a[index]}"</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else</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$"Checked:   {index} is not a valid index"</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$"Unchecked: a[{index}] = {a[index]}"</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0" name="Shape 7"/>
          <p:cNvSpPr/>
          <p:nvPr/>
        </p:nvSpPr>
        <p:spPr>
          <a:xfrm>
            <a:off x="8183880" y="1737360"/>
            <a:ext cx="530352" cy="502920"/>
          </a:xfrm>
          <a:prstGeom prst="rect">
            <a:avLst/>
          </a:prstGeom>
          <a:solidFill>
            <a:srgbClr val="FFFFFF"/>
          </a:solidFill>
          <a:ln w="15875">
            <a:solidFill>
              <a:srgbClr val="14213D"/>
            </a:solidFill>
            <a:prstDash val="solid"/>
          </a:ln>
        </p:spPr>
      </p:sp>
      <p:sp>
        <p:nvSpPr>
          <p:cNvPr id="11" name="Text 8"/>
          <p:cNvSpPr txBox="1"/>
          <p:nvPr/>
        </p:nvSpPr>
        <p:spPr>
          <a:xfrm>
            <a:off x="8183880" y="1737360"/>
            <a:ext cx="530352"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10</a:t>
            </a:r>
            <a:endParaRPr lang="en-US" sz="1600" dirty="0"/>
          </a:p>
        </p:txBody>
      </p:sp>
      <p:sp>
        <p:nvSpPr>
          <p:cNvPr id="12" name="Text 9"/>
          <p:cNvSpPr txBox="1"/>
          <p:nvPr/>
        </p:nvSpPr>
        <p:spPr>
          <a:xfrm>
            <a:off x="8183880" y="2267712"/>
            <a:ext cx="530352" cy="274320"/>
          </a:xfrm>
          <a:prstGeom prst="rect">
            <a:avLst/>
          </a:prstGeom>
          <a:noFill/>
          <a:ln/>
        </p:spPr>
        <p:txBody>
          <a:bodyPr wrap="square" lIns="0" tIns="0" rIns="0" bIns="0" rtlCol="0" anchor="ctr"/>
          <a:lstStyle/>
          <a:p>
            <a:pPr algn="ctr" indent="0" marL="0">
              <a:buNone/>
            </a:pPr>
            <a:r>
              <a:rPr lang="en-US" sz="1300" dirty="0">
                <a:solidFill>
                  <a:srgbClr val="5B6478"/>
                </a:solidFill>
                <a:latin typeface="Courier New" pitchFamily="34" charset="0"/>
                <a:ea typeface="Courier New" pitchFamily="34" charset="-122"/>
                <a:cs typeface="Courier New" pitchFamily="34" charset="-120"/>
              </a:rPr>
              <a:t>[0]</a:t>
            </a:r>
            <a:endParaRPr lang="en-US" sz="1300" dirty="0"/>
          </a:p>
        </p:txBody>
      </p:sp>
      <p:sp>
        <p:nvSpPr>
          <p:cNvPr id="13" name="Shape 10"/>
          <p:cNvSpPr/>
          <p:nvPr/>
        </p:nvSpPr>
        <p:spPr>
          <a:xfrm>
            <a:off x="8714232" y="1737360"/>
            <a:ext cx="530352" cy="502920"/>
          </a:xfrm>
          <a:prstGeom prst="rect">
            <a:avLst/>
          </a:prstGeom>
          <a:solidFill>
            <a:srgbClr val="FFFFFF"/>
          </a:solidFill>
          <a:ln w="15875">
            <a:solidFill>
              <a:srgbClr val="14213D"/>
            </a:solidFill>
            <a:prstDash val="solid"/>
          </a:ln>
        </p:spPr>
      </p:sp>
      <p:sp>
        <p:nvSpPr>
          <p:cNvPr id="14" name="Text 11"/>
          <p:cNvSpPr txBox="1"/>
          <p:nvPr/>
        </p:nvSpPr>
        <p:spPr>
          <a:xfrm>
            <a:off x="8714232" y="1737360"/>
            <a:ext cx="530352"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20</a:t>
            </a:r>
            <a:endParaRPr lang="en-US" sz="1600" dirty="0"/>
          </a:p>
        </p:txBody>
      </p:sp>
      <p:sp>
        <p:nvSpPr>
          <p:cNvPr id="15" name="Text 12"/>
          <p:cNvSpPr txBox="1"/>
          <p:nvPr/>
        </p:nvSpPr>
        <p:spPr>
          <a:xfrm>
            <a:off x="8714232" y="2267712"/>
            <a:ext cx="530352" cy="274320"/>
          </a:xfrm>
          <a:prstGeom prst="rect">
            <a:avLst/>
          </a:prstGeom>
          <a:noFill/>
          <a:ln/>
        </p:spPr>
        <p:txBody>
          <a:bodyPr wrap="square" lIns="0" tIns="0" rIns="0" bIns="0" rtlCol="0" anchor="ctr"/>
          <a:lstStyle/>
          <a:p>
            <a:pPr algn="ctr" indent="0" marL="0">
              <a:buNone/>
            </a:pPr>
            <a:r>
              <a:rPr lang="en-US" sz="1300" dirty="0">
                <a:solidFill>
                  <a:srgbClr val="5B6478"/>
                </a:solidFill>
                <a:latin typeface="Courier New" pitchFamily="34" charset="0"/>
                <a:ea typeface="Courier New" pitchFamily="34" charset="-122"/>
                <a:cs typeface="Courier New" pitchFamily="34" charset="-120"/>
              </a:rPr>
              <a:t>[1]</a:t>
            </a:r>
            <a:endParaRPr lang="en-US" sz="1300" dirty="0"/>
          </a:p>
        </p:txBody>
      </p:sp>
      <p:sp>
        <p:nvSpPr>
          <p:cNvPr id="16" name="Shape 13"/>
          <p:cNvSpPr/>
          <p:nvPr/>
        </p:nvSpPr>
        <p:spPr>
          <a:xfrm>
            <a:off x="9244584" y="1737360"/>
            <a:ext cx="530352" cy="502920"/>
          </a:xfrm>
          <a:prstGeom prst="rect">
            <a:avLst/>
          </a:prstGeom>
          <a:solidFill>
            <a:srgbClr val="FFFFFF"/>
          </a:solidFill>
          <a:ln w="15875">
            <a:solidFill>
              <a:srgbClr val="14213D"/>
            </a:solidFill>
            <a:prstDash val="solid"/>
          </a:ln>
        </p:spPr>
      </p:sp>
      <p:sp>
        <p:nvSpPr>
          <p:cNvPr id="17" name="Text 14"/>
          <p:cNvSpPr txBox="1"/>
          <p:nvPr/>
        </p:nvSpPr>
        <p:spPr>
          <a:xfrm>
            <a:off x="9244584" y="1737360"/>
            <a:ext cx="530352"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30</a:t>
            </a:r>
            <a:endParaRPr lang="en-US" sz="1600" dirty="0"/>
          </a:p>
        </p:txBody>
      </p:sp>
      <p:sp>
        <p:nvSpPr>
          <p:cNvPr id="18" name="Text 15"/>
          <p:cNvSpPr txBox="1"/>
          <p:nvPr/>
        </p:nvSpPr>
        <p:spPr>
          <a:xfrm>
            <a:off x="9244584" y="2267712"/>
            <a:ext cx="530352" cy="274320"/>
          </a:xfrm>
          <a:prstGeom prst="rect">
            <a:avLst/>
          </a:prstGeom>
          <a:noFill/>
          <a:ln/>
        </p:spPr>
        <p:txBody>
          <a:bodyPr wrap="square" lIns="0" tIns="0" rIns="0" bIns="0" rtlCol="0" anchor="ctr"/>
          <a:lstStyle/>
          <a:p>
            <a:pPr algn="ctr" indent="0" marL="0">
              <a:buNone/>
            </a:pPr>
            <a:r>
              <a:rPr lang="en-US" sz="1300" dirty="0">
                <a:solidFill>
                  <a:srgbClr val="5B6478"/>
                </a:solidFill>
                <a:latin typeface="Courier New" pitchFamily="34" charset="0"/>
                <a:ea typeface="Courier New" pitchFamily="34" charset="-122"/>
                <a:cs typeface="Courier New" pitchFamily="34" charset="-120"/>
              </a:rPr>
              <a:t>[2]</a:t>
            </a:r>
            <a:endParaRPr lang="en-US" sz="1300" dirty="0"/>
          </a:p>
        </p:txBody>
      </p:sp>
      <p:sp>
        <p:nvSpPr>
          <p:cNvPr id="19" name="Shape 16"/>
          <p:cNvSpPr/>
          <p:nvPr/>
        </p:nvSpPr>
        <p:spPr>
          <a:xfrm>
            <a:off x="9774936" y="1737360"/>
            <a:ext cx="530352" cy="502920"/>
          </a:xfrm>
          <a:prstGeom prst="rect">
            <a:avLst/>
          </a:prstGeom>
          <a:solidFill>
            <a:srgbClr val="FFFFFF"/>
          </a:solidFill>
          <a:ln w="15875">
            <a:solidFill>
              <a:srgbClr val="14213D"/>
            </a:solidFill>
            <a:prstDash val="solid"/>
          </a:ln>
        </p:spPr>
      </p:sp>
      <p:sp>
        <p:nvSpPr>
          <p:cNvPr id="20" name="Text 17"/>
          <p:cNvSpPr txBox="1"/>
          <p:nvPr/>
        </p:nvSpPr>
        <p:spPr>
          <a:xfrm>
            <a:off x="9774936" y="1737360"/>
            <a:ext cx="530352"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40</a:t>
            </a:r>
            <a:endParaRPr lang="en-US" sz="1600" dirty="0"/>
          </a:p>
        </p:txBody>
      </p:sp>
      <p:sp>
        <p:nvSpPr>
          <p:cNvPr id="21" name="Text 18"/>
          <p:cNvSpPr txBox="1"/>
          <p:nvPr/>
        </p:nvSpPr>
        <p:spPr>
          <a:xfrm>
            <a:off x="9774936" y="2267712"/>
            <a:ext cx="530352" cy="274320"/>
          </a:xfrm>
          <a:prstGeom prst="rect">
            <a:avLst/>
          </a:prstGeom>
          <a:noFill/>
          <a:ln/>
        </p:spPr>
        <p:txBody>
          <a:bodyPr wrap="square" lIns="0" tIns="0" rIns="0" bIns="0" rtlCol="0" anchor="ctr"/>
          <a:lstStyle/>
          <a:p>
            <a:pPr algn="ctr" indent="0" marL="0">
              <a:buNone/>
            </a:pPr>
            <a:r>
              <a:rPr lang="en-US" sz="1300" dirty="0">
                <a:solidFill>
                  <a:srgbClr val="5B6478"/>
                </a:solidFill>
                <a:latin typeface="Courier New" pitchFamily="34" charset="0"/>
                <a:ea typeface="Courier New" pitchFamily="34" charset="-122"/>
                <a:cs typeface="Courier New" pitchFamily="34" charset="-120"/>
              </a:rPr>
              <a:t>[3]</a:t>
            </a:r>
            <a:endParaRPr lang="en-US" sz="1300" dirty="0"/>
          </a:p>
        </p:txBody>
      </p:sp>
      <p:sp>
        <p:nvSpPr>
          <p:cNvPr id="22" name="Shape 19"/>
          <p:cNvSpPr/>
          <p:nvPr/>
        </p:nvSpPr>
        <p:spPr>
          <a:xfrm>
            <a:off x="10305288" y="1737360"/>
            <a:ext cx="530352" cy="502920"/>
          </a:xfrm>
          <a:prstGeom prst="rect">
            <a:avLst/>
          </a:prstGeom>
          <a:solidFill>
            <a:srgbClr val="FFFFFF"/>
          </a:solidFill>
          <a:ln w="15875">
            <a:solidFill>
              <a:srgbClr val="14213D"/>
            </a:solidFill>
            <a:prstDash val="solid"/>
          </a:ln>
        </p:spPr>
      </p:sp>
      <p:sp>
        <p:nvSpPr>
          <p:cNvPr id="23" name="Text 20"/>
          <p:cNvSpPr txBox="1"/>
          <p:nvPr/>
        </p:nvSpPr>
        <p:spPr>
          <a:xfrm>
            <a:off x="10305288" y="1737360"/>
            <a:ext cx="530352"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50</a:t>
            </a:r>
            <a:endParaRPr lang="en-US" sz="1600" dirty="0"/>
          </a:p>
        </p:txBody>
      </p:sp>
      <p:sp>
        <p:nvSpPr>
          <p:cNvPr id="24" name="Text 21"/>
          <p:cNvSpPr txBox="1"/>
          <p:nvPr/>
        </p:nvSpPr>
        <p:spPr>
          <a:xfrm>
            <a:off x="10305288" y="2267712"/>
            <a:ext cx="530352" cy="274320"/>
          </a:xfrm>
          <a:prstGeom prst="rect">
            <a:avLst/>
          </a:prstGeom>
          <a:noFill/>
          <a:ln/>
        </p:spPr>
        <p:txBody>
          <a:bodyPr wrap="square" lIns="0" tIns="0" rIns="0" bIns="0" rtlCol="0" anchor="ctr"/>
          <a:lstStyle/>
          <a:p>
            <a:pPr algn="ctr" indent="0" marL="0">
              <a:buNone/>
            </a:pPr>
            <a:r>
              <a:rPr lang="en-US" sz="1300" dirty="0">
                <a:solidFill>
                  <a:srgbClr val="5B6478"/>
                </a:solidFill>
                <a:latin typeface="Courier New" pitchFamily="34" charset="0"/>
                <a:ea typeface="Courier New" pitchFamily="34" charset="-122"/>
                <a:cs typeface="Courier New" pitchFamily="34" charset="-120"/>
              </a:rPr>
              <a:t>[4]</a:t>
            </a:r>
            <a:endParaRPr lang="en-US" sz="1300" dirty="0"/>
          </a:p>
        </p:txBody>
      </p:sp>
      <p:sp>
        <p:nvSpPr>
          <p:cNvPr id="25" name="Text 22"/>
          <p:cNvSpPr txBox="1"/>
          <p:nvPr/>
        </p:nvSpPr>
        <p:spPr>
          <a:xfrm>
            <a:off x="7708392" y="1737360"/>
            <a:ext cx="365760" cy="502920"/>
          </a:xfrm>
          <a:prstGeom prst="rect">
            <a:avLst/>
          </a:prstGeom>
          <a:noFill/>
          <a:ln/>
        </p:spPr>
        <p:txBody>
          <a:bodyPr wrap="square" lIns="0" tIns="0" rIns="0" bIns="0" rtlCol="0" anchor="ctr"/>
          <a:lstStyle/>
          <a:p>
            <a:pPr algn="r" indent="0" marL="0">
              <a:buNone/>
            </a:pPr>
            <a:r>
              <a:rPr lang="en-US" sz="1600" b="1" dirty="0">
                <a:solidFill>
                  <a:srgbClr val="14213D"/>
                </a:solidFill>
                <a:latin typeface="Courier New" pitchFamily="34" charset="0"/>
                <a:ea typeface="Courier New" pitchFamily="34" charset="-122"/>
                <a:cs typeface="Courier New" pitchFamily="34" charset="-120"/>
              </a:rPr>
              <a:t>a</a:t>
            </a:r>
            <a:endParaRPr lang="en-US" sz="1600" dirty="0"/>
          </a:p>
        </p:txBody>
      </p:sp>
      <p:sp>
        <p:nvSpPr>
          <p:cNvPr id="26" name="Shape 23"/>
          <p:cNvSpPr/>
          <p:nvPr/>
        </p:nvSpPr>
        <p:spPr>
          <a:xfrm>
            <a:off x="10835640" y="1737360"/>
            <a:ext cx="530352" cy="502920"/>
          </a:xfrm>
          <a:prstGeom prst="rect">
            <a:avLst/>
          </a:prstGeom>
          <a:solidFill>
            <a:srgbClr val="FBE9E7"/>
          </a:solidFill>
          <a:ln w="15875">
            <a:solidFill>
              <a:srgbClr val="C8453B"/>
            </a:solidFill>
            <a:prstDash val="dash"/>
          </a:ln>
        </p:spPr>
      </p:sp>
      <p:sp>
        <p:nvSpPr>
          <p:cNvPr id="27" name="Text 24"/>
          <p:cNvSpPr txBox="1"/>
          <p:nvPr/>
        </p:nvSpPr>
        <p:spPr>
          <a:xfrm>
            <a:off x="10835640" y="1737360"/>
            <a:ext cx="530352" cy="502920"/>
          </a:xfrm>
          <a:prstGeom prst="rect">
            <a:avLst/>
          </a:prstGeom>
          <a:noFill/>
          <a:ln/>
        </p:spPr>
        <p:txBody>
          <a:bodyPr wrap="square" lIns="0" tIns="0" rIns="0" bIns="0" rtlCol="0" anchor="ctr"/>
          <a:lstStyle/>
          <a:p>
            <a:pPr algn="ctr" indent="0" marL="0">
              <a:buNone/>
            </a:pPr>
            <a:r>
              <a:rPr lang="en-US" sz="1800" b="1" dirty="0">
                <a:solidFill>
                  <a:srgbClr val="C8453B"/>
                </a:solidFill>
                <a:latin typeface="Courier New" pitchFamily="34" charset="0"/>
                <a:ea typeface="Courier New" pitchFamily="34" charset="-122"/>
                <a:cs typeface="Courier New" pitchFamily="34" charset="-120"/>
              </a:rPr>
              <a:t>?</a:t>
            </a:r>
            <a:endParaRPr lang="en-US" sz="1800" dirty="0"/>
          </a:p>
        </p:txBody>
      </p:sp>
      <p:sp>
        <p:nvSpPr>
          <p:cNvPr id="28" name="Text 25"/>
          <p:cNvSpPr txBox="1"/>
          <p:nvPr/>
        </p:nvSpPr>
        <p:spPr>
          <a:xfrm>
            <a:off x="10835640" y="2267712"/>
            <a:ext cx="530352" cy="274320"/>
          </a:xfrm>
          <a:prstGeom prst="rect">
            <a:avLst/>
          </a:prstGeom>
          <a:noFill/>
          <a:ln/>
        </p:spPr>
        <p:txBody>
          <a:bodyPr wrap="square" lIns="0" tIns="0" rIns="0" bIns="0" rtlCol="0" anchor="ctr"/>
          <a:lstStyle/>
          <a:p>
            <a:pPr algn="ctr" indent="0" marL="0">
              <a:buNone/>
            </a:pPr>
            <a:r>
              <a:rPr lang="en-US" sz="1300" b="1" dirty="0">
                <a:solidFill>
                  <a:srgbClr val="C8453B"/>
                </a:solidFill>
                <a:latin typeface="Courier New" pitchFamily="34" charset="0"/>
                <a:ea typeface="Courier New" pitchFamily="34" charset="-122"/>
                <a:cs typeface="Courier New" pitchFamily="34" charset="-120"/>
              </a:rPr>
              <a:t>[5]</a:t>
            </a:r>
            <a:endParaRPr lang="en-US" sz="1300" dirty="0"/>
          </a:p>
        </p:txBody>
      </p:sp>
      <p:sp>
        <p:nvSpPr>
          <p:cNvPr id="29" name="Text 26"/>
          <p:cNvSpPr txBox="1"/>
          <p:nvPr/>
        </p:nvSpPr>
        <p:spPr>
          <a:xfrm>
            <a:off x="7726680" y="2578608"/>
            <a:ext cx="3931920" cy="301752"/>
          </a:xfrm>
          <a:prstGeom prst="rect">
            <a:avLst/>
          </a:prstGeom>
          <a:noFill/>
          <a:ln/>
        </p:spPr>
        <p:txBody>
          <a:bodyPr wrap="square" lIns="0" tIns="0" rIns="0" bIns="0" rtlCol="0" anchor="ctr"/>
          <a:lstStyle/>
          <a:p>
            <a:pPr algn="ctr" indent="0" marL="0">
              <a:buNone/>
            </a:pPr>
            <a:r>
              <a:rPr lang="en-US" sz="1500" b="1" dirty="0">
                <a:solidFill>
                  <a:srgbClr val="2E9E6A"/>
                </a:solidFill>
                <a:latin typeface="Calibri" pitchFamily="34" charset="0"/>
                <a:ea typeface="Calibri" pitchFamily="34" charset="-122"/>
                <a:cs typeface="Calibri" pitchFamily="34" charset="-120"/>
              </a:rPr>
              <a:t>valid: 0 … Length − 1 = 4</a:t>
            </a:r>
            <a:endParaRPr lang="en-US" sz="1500" dirty="0"/>
          </a:p>
        </p:txBody>
      </p:sp>
      <p:sp>
        <p:nvSpPr>
          <p:cNvPr id="30" name="Text 27"/>
          <p:cNvSpPr txBox="1"/>
          <p:nvPr/>
        </p:nvSpPr>
        <p:spPr>
          <a:xfrm>
            <a:off x="7726680" y="2880360"/>
            <a:ext cx="3931920" cy="301752"/>
          </a:xfrm>
          <a:prstGeom prst="rect">
            <a:avLst/>
          </a:prstGeom>
          <a:noFill/>
          <a:ln/>
        </p:spPr>
        <p:txBody>
          <a:bodyPr wrap="square" lIns="0" tIns="0" rIns="0" bIns="0" rtlCol="0" anchor="ctr"/>
          <a:lstStyle/>
          <a:p>
            <a:pPr algn="ctr" indent="0" marL="0">
              <a:buNone/>
            </a:pPr>
            <a:r>
              <a:rPr lang="en-US" sz="1500" b="1" dirty="0">
                <a:solidFill>
                  <a:srgbClr val="C8453B"/>
                </a:solidFill>
                <a:latin typeface="Calibri" pitchFamily="34" charset="0"/>
                <a:ea typeface="Calibri" pitchFamily="34" charset="-122"/>
                <a:cs typeface="Calibri" pitchFamily="34" charset="-120"/>
              </a:rPr>
              <a:t>a[5], a[-1]: no such box</a:t>
            </a:r>
            <a:endParaRPr lang="en-US" sz="1500" dirty="0"/>
          </a:p>
        </p:txBody>
      </p:sp>
      <p:sp>
        <p:nvSpPr>
          <p:cNvPr id="31" name="Shape 28"/>
          <p:cNvSpPr/>
          <p:nvPr/>
        </p:nvSpPr>
        <p:spPr>
          <a:xfrm>
            <a:off x="7726680" y="3291840"/>
            <a:ext cx="3931920" cy="1234440"/>
          </a:xfrm>
          <a:prstGeom prst="roundRect">
            <a:avLst>
              <a:gd name="adj" fmla="val 7407"/>
            </a:avLst>
          </a:prstGeom>
          <a:solidFill>
            <a:srgbClr val="0B0F19"/>
          </a:solidFill>
          <a:ln w="12700">
            <a:solidFill>
              <a:srgbClr val="2A3654"/>
            </a:solidFill>
            <a:prstDash val="solid"/>
          </a:ln>
        </p:spPr>
      </p:sp>
      <p:sp>
        <p:nvSpPr>
          <p:cNvPr id="32" name="Shape 29"/>
          <p:cNvSpPr/>
          <p:nvPr/>
        </p:nvSpPr>
        <p:spPr>
          <a:xfrm>
            <a:off x="7909560" y="3419856"/>
            <a:ext cx="118872" cy="118872"/>
          </a:xfrm>
          <a:prstGeom prst="ellipse">
            <a:avLst/>
          </a:prstGeom>
          <a:solidFill>
            <a:srgbClr val="FF5F57"/>
          </a:solidFill>
          <a:ln w="12700">
            <a:solidFill>
              <a:srgbClr val="FF5F57"/>
            </a:solidFill>
            <a:prstDash val="solid"/>
          </a:ln>
        </p:spPr>
      </p:sp>
      <p:sp>
        <p:nvSpPr>
          <p:cNvPr id="33" name="Shape 30"/>
          <p:cNvSpPr/>
          <p:nvPr/>
        </p:nvSpPr>
        <p:spPr>
          <a:xfrm>
            <a:off x="8138160" y="3419856"/>
            <a:ext cx="118872" cy="118872"/>
          </a:xfrm>
          <a:prstGeom prst="ellipse">
            <a:avLst/>
          </a:prstGeom>
          <a:solidFill>
            <a:srgbClr val="FEBC2E"/>
          </a:solidFill>
          <a:ln w="12700">
            <a:solidFill>
              <a:srgbClr val="FEBC2E"/>
            </a:solidFill>
            <a:prstDash val="solid"/>
          </a:ln>
        </p:spPr>
      </p:sp>
      <p:sp>
        <p:nvSpPr>
          <p:cNvPr id="34" name="Shape 31"/>
          <p:cNvSpPr/>
          <p:nvPr/>
        </p:nvSpPr>
        <p:spPr>
          <a:xfrm>
            <a:off x="8366760" y="3419856"/>
            <a:ext cx="118872" cy="118872"/>
          </a:xfrm>
          <a:prstGeom prst="ellipse">
            <a:avLst/>
          </a:prstGeom>
          <a:solidFill>
            <a:srgbClr val="28C840"/>
          </a:solidFill>
          <a:ln w="12700">
            <a:solidFill>
              <a:srgbClr val="28C840"/>
            </a:solidFill>
            <a:prstDash val="solid"/>
          </a:ln>
        </p:spPr>
      </p:sp>
      <p:sp>
        <p:nvSpPr>
          <p:cNvPr id="35" name="Text 32"/>
          <p:cNvSpPr txBox="1"/>
          <p:nvPr/>
        </p:nvSpPr>
        <p:spPr>
          <a:xfrm>
            <a:off x="8641080" y="3364992"/>
            <a:ext cx="283464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Run 1 (index 3)</a:t>
            </a:r>
            <a:endParaRPr lang="en-US" sz="1000" dirty="0"/>
          </a:p>
        </p:txBody>
      </p:sp>
      <p:sp>
        <p:nvSpPr>
          <p:cNvPr id="36" name="Text 33"/>
          <p:cNvSpPr txBox="1"/>
          <p:nvPr/>
        </p:nvSpPr>
        <p:spPr>
          <a:xfrm>
            <a:off x="7955280" y="3675888"/>
            <a:ext cx="3474720" cy="731520"/>
          </a:xfrm>
          <a:prstGeom prst="rect">
            <a:avLst/>
          </a:prstGeom>
          <a:noFill/>
          <a:ln/>
        </p:spPr>
        <p:txBody>
          <a:bodyPr wrap="square" lIns="0" tIns="0" rIns="0" bIns="0" rtlCol="0" anchor="t"/>
          <a:lstStyle/>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Index: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3</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Checked:   a[3] = 40</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Unchecked: a[3] = 40</a:t>
            </a:r>
            <a:endParaRPr lang="en-US" sz="1200" dirty="0"/>
          </a:p>
        </p:txBody>
      </p:sp>
      <p:sp>
        <p:nvSpPr>
          <p:cNvPr id="37" name="Shape 34"/>
          <p:cNvSpPr/>
          <p:nvPr/>
        </p:nvSpPr>
        <p:spPr>
          <a:xfrm>
            <a:off x="548640" y="4663440"/>
            <a:ext cx="11109960" cy="1417320"/>
          </a:xfrm>
          <a:prstGeom prst="roundRect">
            <a:avLst>
              <a:gd name="adj" fmla="val 6452"/>
            </a:avLst>
          </a:prstGeom>
          <a:solidFill>
            <a:srgbClr val="0B0F19"/>
          </a:solidFill>
          <a:ln w="12700">
            <a:solidFill>
              <a:srgbClr val="2A3654"/>
            </a:solidFill>
            <a:prstDash val="solid"/>
          </a:ln>
        </p:spPr>
      </p:sp>
      <p:sp>
        <p:nvSpPr>
          <p:cNvPr id="38" name="Shape 35"/>
          <p:cNvSpPr/>
          <p:nvPr/>
        </p:nvSpPr>
        <p:spPr>
          <a:xfrm>
            <a:off x="731520" y="4791456"/>
            <a:ext cx="118872" cy="118872"/>
          </a:xfrm>
          <a:prstGeom prst="ellipse">
            <a:avLst/>
          </a:prstGeom>
          <a:solidFill>
            <a:srgbClr val="FF5F57"/>
          </a:solidFill>
          <a:ln w="12700">
            <a:solidFill>
              <a:srgbClr val="FF5F57"/>
            </a:solidFill>
            <a:prstDash val="solid"/>
          </a:ln>
        </p:spPr>
      </p:sp>
      <p:sp>
        <p:nvSpPr>
          <p:cNvPr id="39" name="Shape 36"/>
          <p:cNvSpPr/>
          <p:nvPr/>
        </p:nvSpPr>
        <p:spPr>
          <a:xfrm>
            <a:off x="960120" y="4791456"/>
            <a:ext cx="118872" cy="118872"/>
          </a:xfrm>
          <a:prstGeom prst="ellipse">
            <a:avLst/>
          </a:prstGeom>
          <a:solidFill>
            <a:srgbClr val="FEBC2E"/>
          </a:solidFill>
          <a:ln w="12700">
            <a:solidFill>
              <a:srgbClr val="FEBC2E"/>
            </a:solidFill>
            <a:prstDash val="solid"/>
          </a:ln>
        </p:spPr>
      </p:sp>
      <p:sp>
        <p:nvSpPr>
          <p:cNvPr id="40" name="Shape 37"/>
          <p:cNvSpPr/>
          <p:nvPr/>
        </p:nvSpPr>
        <p:spPr>
          <a:xfrm>
            <a:off x="1188720" y="4791456"/>
            <a:ext cx="118872" cy="118872"/>
          </a:xfrm>
          <a:prstGeom prst="ellipse">
            <a:avLst/>
          </a:prstGeom>
          <a:solidFill>
            <a:srgbClr val="28C840"/>
          </a:solidFill>
          <a:ln w="12700">
            <a:solidFill>
              <a:srgbClr val="28C840"/>
            </a:solidFill>
            <a:prstDash val="solid"/>
          </a:ln>
        </p:spPr>
      </p:sp>
      <p:sp>
        <p:nvSpPr>
          <p:cNvPr id="41" name="Text 38"/>
          <p:cNvSpPr txBox="1"/>
          <p:nvPr/>
        </p:nvSpPr>
        <p:spPr>
          <a:xfrm>
            <a:off x="1463040" y="4736592"/>
            <a:ext cx="1001268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Run 2 (index 5) — the program stops at line 21</a:t>
            </a:r>
            <a:endParaRPr lang="en-US" sz="1000" dirty="0"/>
          </a:p>
        </p:txBody>
      </p:sp>
      <p:sp>
        <p:nvSpPr>
          <p:cNvPr id="42" name="Text 39"/>
          <p:cNvSpPr txBox="1"/>
          <p:nvPr/>
        </p:nvSpPr>
        <p:spPr>
          <a:xfrm>
            <a:off x="777240" y="5047488"/>
            <a:ext cx="10652760" cy="914400"/>
          </a:xfrm>
          <a:prstGeom prst="rect">
            <a:avLst/>
          </a:prstGeom>
          <a:noFill/>
          <a:ln/>
        </p:spPr>
        <p:txBody>
          <a:bodyPr wrap="square" lIns="0" tIns="0" rIns="0" bIns="0" rtlCol="0" anchor="t"/>
          <a:lstStyle/>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Valid indices: 0 .. 4</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Index: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5</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Checked:   5 is not a valid index</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Unhandled exception. System.IndexOutOfRangeException: Index was outside the bounds of the array.</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   at Program.&lt;Main&gt;$(String[] args) in …/09_03_OutOfRange/Program.cs:line 21</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PREDICT THE OUTPUT · 4 MIN</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Quiz 1: Indices and a Filling Loop</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9</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13</a:t>
            </a:r>
            <a:endParaRPr lang="en-US" sz="1000" dirty="0"/>
          </a:p>
        </p:txBody>
      </p:sp>
      <p:sp>
        <p:nvSpPr>
          <p:cNvPr id="7" name="Shape 4"/>
          <p:cNvSpPr/>
          <p:nvPr/>
        </p:nvSpPr>
        <p:spPr>
          <a:xfrm>
            <a:off x="9372600" y="301752"/>
            <a:ext cx="2286000" cy="347472"/>
          </a:xfrm>
          <a:prstGeom prst="roundRect">
            <a:avLst>
              <a:gd name="adj" fmla="val 50000"/>
            </a:avLst>
          </a:prstGeom>
          <a:solidFill>
            <a:srgbClr val="14213D"/>
          </a:solidFill>
          <a:ln w="12700">
            <a:solidFill>
              <a:srgbClr val="14213D"/>
            </a:solidFill>
            <a:prstDash val="solid"/>
          </a:ln>
        </p:spPr>
      </p:sp>
      <p:sp>
        <p:nvSpPr>
          <p:cNvPr id="8" name="Text 5"/>
          <p:cNvSpPr txBox="1"/>
          <p:nvPr/>
        </p:nvSpPr>
        <p:spPr>
          <a:xfrm>
            <a:off x="9372600" y="301752"/>
            <a:ext cx="228600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PREDICT · 4 min</a:t>
            </a:r>
            <a:endParaRPr lang="en-US" sz="1200" dirty="0"/>
          </a:p>
        </p:txBody>
      </p:sp>
      <p:sp>
        <p:nvSpPr>
          <p:cNvPr id="9" name="Shape 6"/>
          <p:cNvSpPr/>
          <p:nvPr/>
        </p:nvSpPr>
        <p:spPr>
          <a:xfrm>
            <a:off x="548640" y="1645920"/>
            <a:ext cx="6400800" cy="4434840"/>
          </a:xfrm>
          <a:prstGeom prst="roundRect">
            <a:avLst>
              <a:gd name="adj" fmla="val 2062"/>
            </a:avLst>
          </a:prstGeom>
          <a:solidFill>
            <a:srgbClr val="0F1729"/>
          </a:solidFill>
          <a:ln w="12700">
            <a:solidFill>
              <a:srgbClr val="0F1729"/>
            </a:solidFill>
            <a:prstDash val="solid"/>
          </a:ln>
        </p:spPr>
      </p:sp>
      <p:sp>
        <p:nvSpPr>
          <p:cNvPr id="10" name="Text 7"/>
          <p:cNvSpPr txBox="1"/>
          <p:nvPr/>
        </p:nvSpPr>
        <p:spPr>
          <a:xfrm>
            <a:off x="777240" y="1755648"/>
            <a:ext cx="594360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Program.cs</a:t>
            </a:r>
            <a:endParaRPr lang="en-US" sz="1100" dirty="0"/>
          </a:p>
        </p:txBody>
      </p:sp>
      <p:sp>
        <p:nvSpPr>
          <p:cNvPr id="11" name="Text 8"/>
          <p:cNvSpPr txBox="1"/>
          <p:nvPr/>
        </p:nvSpPr>
        <p:spPr>
          <a:xfrm>
            <a:off x="777240" y="2057400"/>
            <a:ext cx="5943600" cy="3913632"/>
          </a:xfrm>
          <a:prstGeom prst="rect">
            <a:avLst/>
          </a:prstGeom>
          <a:noFill/>
          <a:ln/>
        </p:spPr>
        <p:txBody>
          <a:bodyPr wrap="square" lIns="0" tIns="0" rIns="0" bIns="0" rtlCol="0" anchor="t"/>
          <a:lstStyle/>
          <a:p>
            <a:pPr indent="0" marL="0">
              <a:spcAft>
                <a:spcPts val="100"/>
              </a:spcAft>
              <a:buNone/>
            </a:pPr>
            <a:r>
              <a:rPr lang="en-US" sz="1300" dirty="0">
                <a:solidFill>
                  <a:srgbClr val="5A6680"/>
                </a:solidFill>
                <a:latin typeface="Courier New" pitchFamily="34" charset="0"/>
                <a:ea typeface="Courier New" pitchFamily="34" charset="-122"/>
                <a:cs typeface="Courier New" pitchFamily="34" charset="-120"/>
              </a:rPr>
              <a:t> 1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 =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4</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8</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15</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16</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23</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indent="0" marL="0">
              <a:spcAft>
                <a:spcPts val="100"/>
              </a:spcAft>
              <a:buNone/>
            </a:pPr>
            <a:r>
              <a:rPr lang="en-US" sz="1300" dirty="0">
                <a:solidFill>
                  <a:srgbClr val="5A6680"/>
                </a:solidFill>
                <a:latin typeface="Courier New" pitchFamily="34" charset="0"/>
                <a:ea typeface="Courier New" pitchFamily="34" charset="-122"/>
                <a:cs typeface="Courier New" pitchFamily="34" charset="-120"/>
              </a:rPr>
              <a:t> 2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.WriteLine(a[</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 a[</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3</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5A6680"/>
                </a:solidFill>
                <a:latin typeface="Courier New" pitchFamily="34" charset="0"/>
                <a:ea typeface="Courier New" pitchFamily="34" charset="-122"/>
                <a:cs typeface="Courier New" pitchFamily="34" charset="-120"/>
              </a:rPr>
              <a:t> 3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.WriteLine(a[a.Length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5A6680"/>
                </a:solidFill>
                <a:latin typeface="Courier New" pitchFamily="34" charset="0"/>
                <a:ea typeface="Courier New" pitchFamily="34" charset="-122"/>
                <a:cs typeface="Courier New" pitchFamily="34" charset="-120"/>
              </a:rPr>
              <a:t> 4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.WriteLine(a[a[</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2</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5A6680"/>
                </a:solidFill>
                <a:latin typeface="Courier New" pitchFamily="34" charset="0"/>
                <a:ea typeface="Courier New" pitchFamily="34" charset="-122"/>
                <a:cs typeface="Courier New" pitchFamily="34" charset="-120"/>
              </a:rPr>
              <a:t> 5  </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2</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 a[</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2</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5A6680"/>
                </a:solidFill>
                <a:latin typeface="Courier New" pitchFamily="34" charset="0"/>
                <a:ea typeface="Courier New" pitchFamily="34" charset="-122"/>
                <a:cs typeface="Courier New" pitchFamily="34" charset="-120"/>
              </a:rPr>
              <a:t> 6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string</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.Join(</a:t>
            </a:r>
            <a:pPr indent="0" marL="0">
              <a:spcAft>
                <a:spcPts val="100"/>
              </a:spcAft>
              <a:buNone/>
            </a:pPr>
            <a:r>
              <a:rPr lang="en-US" sz="1300" dirty="0">
                <a:solidFill>
                  <a:srgbClr val="CE9178"/>
                </a:solidFill>
                <a:latin typeface="Courier New" pitchFamily="34" charset="0"/>
                <a:ea typeface="Courier New" pitchFamily="34" charset="-122"/>
                <a:cs typeface="Courier New" pitchFamily="34" charset="-120"/>
              </a:rPr>
              <a: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a:t>
            </a:r>
            <a:endParaRPr lang="en-US" sz="1300" dirty="0"/>
          </a:p>
          <a:p>
            <a:pPr indent="0" marL="0">
              <a:spcAft>
                <a:spcPts val="100"/>
              </a:spcAft>
              <a:buNone/>
            </a:pPr>
            <a:r>
              <a:rPr lang="en-US" sz="1300" dirty="0">
                <a:solidFill>
                  <a:srgbClr val="5A6680"/>
                </a:solidFill>
                <a:latin typeface="Courier New" pitchFamily="34" charset="0"/>
                <a:ea typeface="Courier New" pitchFamily="34" charset="-122"/>
                <a:cs typeface="Courier New" pitchFamily="34" charset="-120"/>
              </a:rPr>
              <a:t> 7  </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indent="0" marL="0">
              <a:spcAft>
                <a:spcPts val="100"/>
              </a:spcAft>
              <a:buNone/>
            </a:pPr>
            <a:r>
              <a:rPr lang="en-US" sz="1300" dirty="0">
                <a:solidFill>
                  <a:srgbClr val="5A6680"/>
                </a:solidFill>
                <a:latin typeface="Courier New" pitchFamily="34" charset="0"/>
                <a:ea typeface="Courier New" pitchFamily="34" charset="-122"/>
                <a:cs typeface="Courier New" pitchFamily="34" charset="-120"/>
              </a:rPr>
              <a:t> 8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b = </a:t>
            </a:r>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new</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5</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5A6680"/>
                </a:solidFill>
                <a:latin typeface="Courier New" pitchFamily="34" charset="0"/>
                <a:ea typeface="Courier New" pitchFamily="34" charset="-122"/>
                <a:cs typeface="Courier New" pitchFamily="34" charset="-120"/>
              </a:rPr>
              <a:t> 9  </a:t>
            </a:r>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i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i &lt; b.Length; i++)</a:t>
            </a:r>
            <a:endParaRPr lang="en-US" sz="1300" dirty="0"/>
          </a:p>
          <a:p>
            <a:pPr indent="0" marL="0">
              <a:spcAft>
                <a:spcPts val="100"/>
              </a:spcAft>
              <a:buNone/>
            </a:pPr>
            <a:r>
              <a:rPr lang="en-US" sz="1300" dirty="0">
                <a:solidFill>
                  <a:srgbClr val="5A6680"/>
                </a:solidFill>
                <a:latin typeface="Courier New" pitchFamily="34" charset="0"/>
                <a:ea typeface="Courier New" pitchFamily="34" charset="-122"/>
                <a:cs typeface="Courier New" pitchFamily="34" charset="-120"/>
              </a:rPr>
              <a:t>10  </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5A6680"/>
                </a:solidFill>
                <a:latin typeface="Courier New" pitchFamily="34" charset="0"/>
                <a:ea typeface="Courier New" pitchFamily="34" charset="-122"/>
                <a:cs typeface="Courier New" pitchFamily="34" charset="-120"/>
              </a:rPr>
              <a:t>11  </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b[i] = i * i;</a:t>
            </a:r>
            <a:endParaRPr lang="en-US" sz="1300" dirty="0"/>
          </a:p>
          <a:p>
            <a:pPr indent="0" marL="0">
              <a:spcAft>
                <a:spcPts val="100"/>
              </a:spcAft>
              <a:buNone/>
            </a:pPr>
            <a:r>
              <a:rPr lang="en-US" sz="1300" dirty="0">
                <a:solidFill>
                  <a:srgbClr val="5A6680"/>
                </a:solidFill>
                <a:latin typeface="Courier New" pitchFamily="34" charset="0"/>
                <a:ea typeface="Courier New" pitchFamily="34" charset="-122"/>
                <a:cs typeface="Courier New" pitchFamily="34" charset="-120"/>
              </a:rPr>
              <a:t>12  </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5A6680"/>
                </a:solidFill>
                <a:latin typeface="Courier New" pitchFamily="34" charset="0"/>
                <a:ea typeface="Courier New" pitchFamily="34" charset="-122"/>
                <a:cs typeface="Courier New" pitchFamily="34" charset="-120"/>
              </a:rPr>
              <a:t>13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.WriteLine(b[</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4</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 b[</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2</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5A6680"/>
                </a:solidFill>
                <a:latin typeface="Courier New" pitchFamily="34" charset="0"/>
                <a:ea typeface="Courier New" pitchFamily="34" charset="-122"/>
                <a:cs typeface="Courier New" pitchFamily="34" charset="-120"/>
              </a:rPr>
              <a:t>14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s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5A6680"/>
                </a:solidFill>
                <a:latin typeface="Courier New" pitchFamily="34" charset="0"/>
                <a:ea typeface="Courier New" pitchFamily="34" charset="-122"/>
                <a:cs typeface="Courier New" pitchFamily="34" charset="-120"/>
              </a:rPr>
              <a:t>15  </a:t>
            </a:r>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i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i &lt; b.Length; i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2</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5A6680"/>
                </a:solidFill>
                <a:latin typeface="Courier New" pitchFamily="34" charset="0"/>
                <a:ea typeface="Courier New" pitchFamily="34" charset="-122"/>
                <a:cs typeface="Courier New" pitchFamily="34" charset="-120"/>
              </a:rPr>
              <a:t>16  </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5A6680"/>
                </a:solidFill>
                <a:latin typeface="Courier New" pitchFamily="34" charset="0"/>
                <a:ea typeface="Courier New" pitchFamily="34" charset="-122"/>
                <a:cs typeface="Courier New" pitchFamily="34" charset="-120"/>
              </a:rPr>
              <a:t>17  </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s += b[i];</a:t>
            </a:r>
            <a:endParaRPr lang="en-US" sz="1300" dirty="0"/>
          </a:p>
          <a:p>
            <a:pPr indent="0" marL="0">
              <a:spcAft>
                <a:spcPts val="100"/>
              </a:spcAft>
              <a:buNone/>
            </a:pPr>
            <a:r>
              <a:rPr lang="en-US" sz="1300" dirty="0">
                <a:solidFill>
                  <a:srgbClr val="5A6680"/>
                </a:solidFill>
                <a:latin typeface="Courier New" pitchFamily="34" charset="0"/>
                <a:ea typeface="Courier New" pitchFamily="34" charset="-122"/>
                <a:cs typeface="Courier New" pitchFamily="34" charset="-120"/>
              </a:rPr>
              <a:t>18  </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5A6680"/>
                </a:solidFill>
                <a:latin typeface="Courier New" pitchFamily="34" charset="0"/>
                <a:ea typeface="Courier New" pitchFamily="34" charset="-122"/>
                <a:cs typeface="Courier New" pitchFamily="34" charset="-120"/>
              </a:rPr>
              <a:t>19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.WriteLine(s);</a:t>
            </a:r>
            <a:endParaRPr lang="en-US" sz="1300" dirty="0"/>
          </a:p>
        </p:txBody>
      </p:sp>
      <p:sp>
        <p:nvSpPr>
          <p:cNvPr id="12" name="Shape 9"/>
          <p:cNvSpPr/>
          <p:nvPr/>
        </p:nvSpPr>
        <p:spPr>
          <a:xfrm>
            <a:off x="7223760" y="1645920"/>
            <a:ext cx="4434840" cy="4434840"/>
          </a:xfrm>
          <a:prstGeom prst="roundRect">
            <a:avLst>
              <a:gd name="adj" fmla="val 2474"/>
            </a:avLst>
          </a:prstGeom>
          <a:solidFill>
            <a:srgbClr val="EEF1F6"/>
          </a:solidFill>
          <a:ln w="12700">
            <a:solidFill>
              <a:srgbClr val="EEF1F6"/>
            </a:solidFill>
            <a:prstDash val="solid"/>
          </a:ln>
        </p:spPr>
      </p:sp>
      <p:sp>
        <p:nvSpPr>
          <p:cNvPr id="13" name="Text 10"/>
          <p:cNvSpPr txBox="1"/>
          <p:nvPr/>
        </p:nvSpPr>
        <p:spPr>
          <a:xfrm>
            <a:off x="7452360" y="1783080"/>
            <a:ext cx="3977640" cy="365760"/>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Your answer</a:t>
            </a:r>
            <a:endParaRPr lang="en-US" sz="1700" dirty="0"/>
          </a:p>
        </p:txBody>
      </p:sp>
      <p:sp>
        <p:nvSpPr>
          <p:cNvPr id="14" name="Text 11"/>
          <p:cNvSpPr txBox="1"/>
          <p:nvPr/>
        </p:nvSpPr>
        <p:spPr>
          <a:xfrm>
            <a:off x="7452360" y="2240280"/>
            <a:ext cx="320040" cy="571500"/>
          </a:xfrm>
          <a:prstGeom prst="rect">
            <a:avLst/>
          </a:prstGeom>
          <a:noFill/>
          <a:ln/>
        </p:spPr>
        <p:txBody>
          <a:bodyPr wrap="square" lIns="0" tIns="0" rIns="0" bIns="0" rtlCol="0" anchor="b"/>
          <a:lstStyle/>
          <a:p>
            <a:pPr indent="0" marL="0">
              <a:buNone/>
            </a:pPr>
            <a:r>
              <a:rPr lang="en-US" sz="1300" dirty="0">
                <a:solidFill>
                  <a:srgbClr val="5B6478"/>
                </a:solidFill>
                <a:latin typeface="Courier New" pitchFamily="34" charset="0"/>
                <a:ea typeface="Courier New" pitchFamily="34" charset="-122"/>
                <a:cs typeface="Courier New" pitchFamily="34" charset="-120"/>
              </a:rPr>
              <a:t>1</a:t>
            </a:r>
            <a:endParaRPr lang="en-US" sz="1300" dirty="0"/>
          </a:p>
        </p:txBody>
      </p:sp>
      <p:sp>
        <p:nvSpPr>
          <p:cNvPr id="15" name="Shape 12"/>
          <p:cNvSpPr/>
          <p:nvPr/>
        </p:nvSpPr>
        <p:spPr>
          <a:xfrm>
            <a:off x="7818120" y="2811780"/>
            <a:ext cx="3566160" cy="0"/>
          </a:xfrm>
          <a:prstGeom prst="line">
            <a:avLst/>
          </a:prstGeom>
          <a:noFill/>
          <a:ln w="15875">
            <a:solidFill>
              <a:srgbClr val="D5DAE3"/>
            </a:solidFill>
            <a:prstDash val="solid"/>
          </a:ln>
        </p:spPr>
      </p:sp>
      <p:sp>
        <p:nvSpPr>
          <p:cNvPr id="16" name="Text 13"/>
          <p:cNvSpPr txBox="1"/>
          <p:nvPr/>
        </p:nvSpPr>
        <p:spPr>
          <a:xfrm>
            <a:off x="7452360" y="2857500"/>
            <a:ext cx="320040" cy="571500"/>
          </a:xfrm>
          <a:prstGeom prst="rect">
            <a:avLst/>
          </a:prstGeom>
          <a:noFill/>
          <a:ln/>
        </p:spPr>
        <p:txBody>
          <a:bodyPr wrap="square" lIns="0" tIns="0" rIns="0" bIns="0" rtlCol="0" anchor="b"/>
          <a:lstStyle/>
          <a:p>
            <a:pPr indent="0" marL="0">
              <a:buNone/>
            </a:pPr>
            <a:r>
              <a:rPr lang="en-US" sz="1300" dirty="0">
                <a:solidFill>
                  <a:srgbClr val="5B6478"/>
                </a:solidFill>
                <a:latin typeface="Courier New" pitchFamily="34" charset="0"/>
                <a:ea typeface="Courier New" pitchFamily="34" charset="-122"/>
                <a:cs typeface="Courier New" pitchFamily="34" charset="-120"/>
              </a:rPr>
              <a:t>2</a:t>
            </a:r>
            <a:endParaRPr lang="en-US" sz="1300" dirty="0"/>
          </a:p>
        </p:txBody>
      </p:sp>
      <p:sp>
        <p:nvSpPr>
          <p:cNvPr id="17" name="Shape 14"/>
          <p:cNvSpPr/>
          <p:nvPr/>
        </p:nvSpPr>
        <p:spPr>
          <a:xfrm>
            <a:off x="7818120" y="3429000"/>
            <a:ext cx="3566160" cy="0"/>
          </a:xfrm>
          <a:prstGeom prst="line">
            <a:avLst/>
          </a:prstGeom>
          <a:noFill/>
          <a:ln w="15875">
            <a:solidFill>
              <a:srgbClr val="D5DAE3"/>
            </a:solidFill>
            <a:prstDash val="solid"/>
          </a:ln>
        </p:spPr>
      </p:sp>
      <p:sp>
        <p:nvSpPr>
          <p:cNvPr id="18" name="Text 15"/>
          <p:cNvSpPr txBox="1"/>
          <p:nvPr/>
        </p:nvSpPr>
        <p:spPr>
          <a:xfrm>
            <a:off x="7452360" y="3474720"/>
            <a:ext cx="320040" cy="571500"/>
          </a:xfrm>
          <a:prstGeom prst="rect">
            <a:avLst/>
          </a:prstGeom>
          <a:noFill/>
          <a:ln/>
        </p:spPr>
        <p:txBody>
          <a:bodyPr wrap="square" lIns="0" tIns="0" rIns="0" bIns="0" rtlCol="0" anchor="b"/>
          <a:lstStyle/>
          <a:p>
            <a:pPr indent="0" marL="0">
              <a:buNone/>
            </a:pPr>
            <a:r>
              <a:rPr lang="en-US" sz="1300" dirty="0">
                <a:solidFill>
                  <a:srgbClr val="5B6478"/>
                </a:solidFill>
                <a:latin typeface="Courier New" pitchFamily="34" charset="0"/>
                <a:ea typeface="Courier New" pitchFamily="34" charset="-122"/>
                <a:cs typeface="Courier New" pitchFamily="34" charset="-120"/>
              </a:rPr>
              <a:t>3</a:t>
            </a:r>
            <a:endParaRPr lang="en-US" sz="1300" dirty="0"/>
          </a:p>
        </p:txBody>
      </p:sp>
      <p:sp>
        <p:nvSpPr>
          <p:cNvPr id="19" name="Shape 16"/>
          <p:cNvSpPr/>
          <p:nvPr/>
        </p:nvSpPr>
        <p:spPr>
          <a:xfrm>
            <a:off x="7818120" y="4046220"/>
            <a:ext cx="3566160" cy="0"/>
          </a:xfrm>
          <a:prstGeom prst="line">
            <a:avLst/>
          </a:prstGeom>
          <a:noFill/>
          <a:ln w="15875">
            <a:solidFill>
              <a:srgbClr val="D5DAE3"/>
            </a:solidFill>
            <a:prstDash val="solid"/>
          </a:ln>
        </p:spPr>
      </p:sp>
      <p:sp>
        <p:nvSpPr>
          <p:cNvPr id="20" name="Text 17"/>
          <p:cNvSpPr txBox="1"/>
          <p:nvPr/>
        </p:nvSpPr>
        <p:spPr>
          <a:xfrm>
            <a:off x="7452360" y="4091940"/>
            <a:ext cx="320040" cy="571500"/>
          </a:xfrm>
          <a:prstGeom prst="rect">
            <a:avLst/>
          </a:prstGeom>
          <a:noFill/>
          <a:ln/>
        </p:spPr>
        <p:txBody>
          <a:bodyPr wrap="square" lIns="0" tIns="0" rIns="0" bIns="0" rtlCol="0" anchor="b"/>
          <a:lstStyle/>
          <a:p>
            <a:pPr indent="0" marL="0">
              <a:buNone/>
            </a:pPr>
            <a:r>
              <a:rPr lang="en-US" sz="1300" dirty="0">
                <a:solidFill>
                  <a:srgbClr val="5B6478"/>
                </a:solidFill>
                <a:latin typeface="Courier New" pitchFamily="34" charset="0"/>
                <a:ea typeface="Courier New" pitchFamily="34" charset="-122"/>
                <a:cs typeface="Courier New" pitchFamily="34" charset="-120"/>
              </a:rPr>
              <a:t>4</a:t>
            </a:r>
            <a:endParaRPr lang="en-US" sz="1300" dirty="0"/>
          </a:p>
        </p:txBody>
      </p:sp>
      <p:sp>
        <p:nvSpPr>
          <p:cNvPr id="21" name="Shape 18"/>
          <p:cNvSpPr/>
          <p:nvPr/>
        </p:nvSpPr>
        <p:spPr>
          <a:xfrm>
            <a:off x="7818120" y="4663440"/>
            <a:ext cx="3566160" cy="0"/>
          </a:xfrm>
          <a:prstGeom prst="line">
            <a:avLst/>
          </a:prstGeom>
          <a:noFill/>
          <a:ln w="15875">
            <a:solidFill>
              <a:srgbClr val="D5DAE3"/>
            </a:solidFill>
            <a:prstDash val="solid"/>
          </a:ln>
        </p:spPr>
      </p:sp>
      <p:sp>
        <p:nvSpPr>
          <p:cNvPr id="22" name="Text 19"/>
          <p:cNvSpPr txBox="1"/>
          <p:nvPr/>
        </p:nvSpPr>
        <p:spPr>
          <a:xfrm>
            <a:off x="7452360" y="4709160"/>
            <a:ext cx="320040" cy="571500"/>
          </a:xfrm>
          <a:prstGeom prst="rect">
            <a:avLst/>
          </a:prstGeom>
          <a:noFill/>
          <a:ln/>
        </p:spPr>
        <p:txBody>
          <a:bodyPr wrap="square" lIns="0" tIns="0" rIns="0" bIns="0" rtlCol="0" anchor="b"/>
          <a:lstStyle/>
          <a:p>
            <a:pPr indent="0" marL="0">
              <a:buNone/>
            </a:pPr>
            <a:r>
              <a:rPr lang="en-US" sz="1300" dirty="0">
                <a:solidFill>
                  <a:srgbClr val="5B6478"/>
                </a:solidFill>
                <a:latin typeface="Courier New" pitchFamily="34" charset="0"/>
                <a:ea typeface="Courier New" pitchFamily="34" charset="-122"/>
                <a:cs typeface="Courier New" pitchFamily="34" charset="-120"/>
              </a:rPr>
              <a:t>5</a:t>
            </a:r>
            <a:endParaRPr lang="en-US" sz="1300" dirty="0"/>
          </a:p>
        </p:txBody>
      </p:sp>
      <p:sp>
        <p:nvSpPr>
          <p:cNvPr id="23" name="Shape 20"/>
          <p:cNvSpPr/>
          <p:nvPr/>
        </p:nvSpPr>
        <p:spPr>
          <a:xfrm>
            <a:off x="7818120" y="5280660"/>
            <a:ext cx="3566160" cy="0"/>
          </a:xfrm>
          <a:prstGeom prst="line">
            <a:avLst/>
          </a:prstGeom>
          <a:noFill/>
          <a:ln w="15875">
            <a:solidFill>
              <a:srgbClr val="D5DAE3"/>
            </a:solidFill>
            <a:prstDash val="solid"/>
          </a:ln>
        </p:spPr>
      </p:sp>
      <p:sp>
        <p:nvSpPr>
          <p:cNvPr id="24" name="Text 21"/>
          <p:cNvSpPr txBox="1"/>
          <p:nvPr/>
        </p:nvSpPr>
        <p:spPr>
          <a:xfrm>
            <a:off x="7452360" y="5326380"/>
            <a:ext cx="320040" cy="571500"/>
          </a:xfrm>
          <a:prstGeom prst="rect">
            <a:avLst/>
          </a:prstGeom>
          <a:noFill/>
          <a:ln/>
        </p:spPr>
        <p:txBody>
          <a:bodyPr wrap="square" lIns="0" tIns="0" rIns="0" bIns="0" rtlCol="0" anchor="b"/>
          <a:lstStyle/>
          <a:p>
            <a:pPr indent="0" marL="0">
              <a:buNone/>
            </a:pPr>
            <a:r>
              <a:rPr lang="en-US" sz="1300" dirty="0">
                <a:solidFill>
                  <a:srgbClr val="5B6478"/>
                </a:solidFill>
                <a:latin typeface="Courier New" pitchFamily="34" charset="0"/>
                <a:ea typeface="Courier New" pitchFamily="34" charset="-122"/>
                <a:cs typeface="Courier New" pitchFamily="34" charset="-120"/>
              </a:rPr>
              <a:t>6</a:t>
            </a:r>
            <a:endParaRPr lang="en-US" sz="1300" dirty="0"/>
          </a:p>
        </p:txBody>
      </p:sp>
      <p:sp>
        <p:nvSpPr>
          <p:cNvPr id="25" name="Shape 22"/>
          <p:cNvSpPr/>
          <p:nvPr/>
        </p:nvSpPr>
        <p:spPr>
          <a:xfrm>
            <a:off x="7818120" y="5897880"/>
            <a:ext cx="3566160" cy="0"/>
          </a:xfrm>
          <a:prstGeom prst="line">
            <a:avLst/>
          </a:prstGeom>
          <a:noFill/>
          <a:ln w="15875">
            <a:solidFill>
              <a:srgbClr val="D5DAE3"/>
            </a:solidFill>
            <a:prstDash val="solid"/>
          </a:ln>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ANSWER · QUIZ 1</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Quiz 1: Answer</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9</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14</a:t>
            </a:r>
            <a:endParaRPr lang="en-US" sz="1000" dirty="0"/>
          </a:p>
        </p:txBody>
      </p:sp>
      <p:sp>
        <p:nvSpPr>
          <p:cNvPr id="7" name="Shape 4"/>
          <p:cNvSpPr/>
          <p:nvPr/>
        </p:nvSpPr>
        <p:spPr>
          <a:xfrm>
            <a:off x="9372600" y="301752"/>
            <a:ext cx="2286000" cy="347472"/>
          </a:xfrm>
          <a:prstGeom prst="roundRect">
            <a:avLst>
              <a:gd name="adj" fmla="val 50000"/>
            </a:avLst>
          </a:prstGeom>
          <a:solidFill>
            <a:srgbClr val="2E9E6A"/>
          </a:solidFill>
          <a:ln w="12700">
            <a:solidFill>
              <a:srgbClr val="2E9E6A"/>
            </a:solidFill>
            <a:prstDash val="solid"/>
          </a:ln>
        </p:spPr>
      </p:sp>
      <p:sp>
        <p:nvSpPr>
          <p:cNvPr id="8" name="Text 5"/>
          <p:cNvSpPr txBox="1"/>
          <p:nvPr/>
        </p:nvSpPr>
        <p:spPr>
          <a:xfrm>
            <a:off x="9372600" y="301752"/>
            <a:ext cx="228600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ANSWER</a:t>
            </a:r>
            <a:endParaRPr lang="en-US" sz="1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7223760" cy="914400"/>
        </p:xfrm>
        <a:graphic>
          <a:graphicData uri="http://schemas.openxmlformats.org/drawingml/2006/table">
            <a:tbl>
              <a:tblPr/>
              <a:tblGrid>
                <a:gridCol w="457200"/>
                <a:gridCol w="1737360"/>
                <a:gridCol w="5029200"/>
              </a:tblGrid>
              <a:tr h="475488">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Output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Why</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475488">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24</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a[1] + a[3] = 8 + 16</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75488">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23</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a[a.Length − 1] = a[4], the last element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75488">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15</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inner first: a[0] − 2 = 2  →  a[2]</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75488">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4,8,8,16,23</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a[2] = a[0] * 2 = 8 overwrites 15</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75488">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12</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b = {0, 1, 4, 9, 16};  16 − 4</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75488">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6</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20</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i = 0, 2, 4:  0 + 4 + 16</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bl>
          </a:graphicData>
        </a:graphic>
      </p:graphicFrame>
      <p:sp>
        <p:nvSpPr>
          <p:cNvPr id="10" name="Shape 6"/>
          <p:cNvSpPr/>
          <p:nvPr/>
        </p:nvSpPr>
        <p:spPr>
          <a:xfrm>
            <a:off x="1463040" y="5257800"/>
            <a:ext cx="685800" cy="457200"/>
          </a:xfrm>
          <a:prstGeom prst="rect">
            <a:avLst/>
          </a:prstGeom>
          <a:solidFill>
            <a:srgbClr val="FFFFFF"/>
          </a:solidFill>
          <a:ln w="15875">
            <a:solidFill>
              <a:srgbClr val="14213D"/>
            </a:solidFill>
            <a:prstDash val="solid"/>
          </a:ln>
        </p:spPr>
      </p:sp>
      <p:sp>
        <p:nvSpPr>
          <p:cNvPr id="11" name="Text 7"/>
          <p:cNvSpPr txBox="1"/>
          <p:nvPr/>
        </p:nvSpPr>
        <p:spPr>
          <a:xfrm>
            <a:off x="1463040" y="5257800"/>
            <a:ext cx="685800" cy="457200"/>
          </a:xfrm>
          <a:prstGeom prst="rect">
            <a:avLst/>
          </a:prstGeom>
          <a:noFill/>
          <a:ln/>
        </p:spPr>
        <p:txBody>
          <a:bodyPr wrap="square" lIns="0" tIns="0" rIns="0" bIns="0" rtlCol="0" anchor="ctr"/>
          <a:lstStyle/>
          <a:p>
            <a:pPr algn="ctr" indent="0" marL="0">
              <a:buNone/>
            </a:pPr>
            <a:r>
              <a:rPr lang="en-US" sz="1500" b="1" dirty="0">
                <a:solidFill>
                  <a:srgbClr val="14213D"/>
                </a:solidFill>
                <a:latin typeface="Courier New" pitchFamily="34" charset="0"/>
                <a:ea typeface="Courier New" pitchFamily="34" charset="-122"/>
                <a:cs typeface="Courier New" pitchFamily="34" charset="-120"/>
              </a:rPr>
              <a:t>4</a:t>
            </a:r>
            <a:endParaRPr lang="en-US" sz="1500" dirty="0"/>
          </a:p>
        </p:txBody>
      </p:sp>
      <p:sp>
        <p:nvSpPr>
          <p:cNvPr id="12" name="Text 8"/>
          <p:cNvSpPr txBox="1"/>
          <p:nvPr/>
        </p:nvSpPr>
        <p:spPr>
          <a:xfrm>
            <a:off x="1463040" y="5742432"/>
            <a:ext cx="685800" cy="274320"/>
          </a:xfrm>
          <a:prstGeom prst="rect">
            <a:avLst/>
          </a:prstGeom>
          <a:noFill/>
          <a:ln/>
        </p:spPr>
        <p:txBody>
          <a:bodyPr wrap="square" lIns="0" tIns="0" rIns="0" bIns="0" rtlCol="0" anchor="ctr"/>
          <a:lstStyle/>
          <a:p>
            <a:pPr algn="ctr" indent="0" marL="0">
              <a:buNone/>
            </a:pPr>
            <a:r>
              <a:rPr lang="en-US" sz="1300" dirty="0">
                <a:solidFill>
                  <a:srgbClr val="5B6478"/>
                </a:solidFill>
                <a:latin typeface="Courier New" pitchFamily="34" charset="0"/>
                <a:ea typeface="Courier New" pitchFamily="34" charset="-122"/>
                <a:cs typeface="Courier New" pitchFamily="34" charset="-120"/>
              </a:rPr>
              <a:t>[0]</a:t>
            </a:r>
            <a:endParaRPr lang="en-US" sz="1300" dirty="0"/>
          </a:p>
        </p:txBody>
      </p:sp>
      <p:sp>
        <p:nvSpPr>
          <p:cNvPr id="13" name="Shape 9"/>
          <p:cNvSpPr/>
          <p:nvPr/>
        </p:nvSpPr>
        <p:spPr>
          <a:xfrm>
            <a:off x="2148840" y="5257800"/>
            <a:ext cx="685800" cy="457200"/>
          </a:xfrm>
          <a:prstGeom prst="rect">
            <a:avLst/>
          </a:prstGeom>
          <a:solidFill>
            <a:srgbClr val="FFFFFF"/>
          </a:solidFill>
          <a:ln w="15875">
            <a:solidFill>
              <a:srgbClr val="14213D"/>
            </a:solidFill>
            <a:prstDash val="solid"/>
          </a:ln>
        </p:spPr>
      </p:sp>
      <p:sp>
        <p:nvSpPr>
          <p:cNvPr id="14" name="Text 10"/>
          <p:cNvSpPr txBox="1"/>
          <p:nvPr/>
        </p:nvSpPr>
        <p:spPr>
          <a:xfrm>
            <a:off x="2148840" y="5257800"/>
            <a:ext cx="685800" cy="457200"/>
          </a:xfrm>
          <a:prstGeom prst="rect">
            <a:avLst/>
          </a:prstGeom>
          <a:noFill/>
          <a:ln/>
        </p:spPr>
        <p:txBody>
          <a:bodyPr wrap="square" lIns="0" tIns="0" rIns="0" bIns="0" rtlCol="0" anchor="ctr"/>
          <a:lstStyle/>
          <a:p>
            <a:pPr algn="ctr" indent="0" marL="0">
              <a:buNone/>
            </a:pPr>
            <a:r>
              <a:rPr lang="en-US" sz="1500" b="1" dirty="0">
                <a:solidFill>
                  <a:srgbClr val="14213D"/>
                </a:solidFill>
                <a:latin typeface="Courier New" pitchFamily="34" charset="0"/>
                <a:ea typeface="Courier New" pitchFamily="34" charset="-122"/>
                <a:cs typeface="Courier New" pitchFamily="34" charset="-120"/>
              </a:rPr>
              <a:t>8</a:t>
            </a:r>
            <a:endParaRPr lang="en-US" sz="1500" dirty="0"/>
          </a:p>
        </p:txBody>
      </p:sp>
      <p:sp>
        <p:nvSpPr>
          <p:cNvPr id="15" name="Text 11"/>
          <p:cNvSpPr txBox="1"/>
          <p:nvPr/>
        </p:nvSpPr>
        <p:spPr>
          <a:xfrm>
            <a:off x="2148840" y="5742432"/>
            <a:ext cx="685800" cy="274320"/>
          </a:xfrm>
          <a:prstGeom prst="rect">
            <a:avLst/>
          </a:prstGeom>
          <a:noFill/>
          <a:ln/>
        </p:spPr>
        <p:txBody>
          <a:bodyPr wrap="square" lIns="0" tIns="0" rIns="0" bIns="0" rtlCol="0" anchor="ctr"/>
          <a:lstStyle/>
          <a:p>
            <a:pPr algn="ctr" indent="0" marL="0">
              <a:buNone/>
            </a:pPr>
            <a:r>
              <a:rPr lang="en-US" sz="1300" dirty="0">
                <a:solidFill>
                  <a:srgbClr val="5B6478"/>
                </a:solidFill>
                <a:latin typeface="Courier New" pitchFamily="34" charset="0"/>
                <a:ea typeface="Courier New" pitchFamily="34" charset="-122"/>
                <a:cs typeface="Courier New" pitchFamily="34" charset="-120"/>
              </a:rPr>
              <a:t>[1]</a:t>
            </a:r>
            <a:endParaRPr lang="en-US" sz="1300" dirty="0"/>
          </a:p>
        </p:txBody>
      </p:sp>
      <p:sp>
        <p:nvSpPr>
          <p:cNvPr id="16" name="Shape 12"/>
          <p:cNvSpPr/>
          <p:nvPr/>
        </p:nvSpPr>
        <p:spPr>
          <a:xfrm>
            <a:off x="2834640" y="5257800"/>
            <a:ext cx="685800" cy="457200"/>
          </a:xfrm>
          <a:prstGeom prst="rect">
            <a:avLst/>
          </a:prstGeom>
          <a:solidFill>
            <a:srgbClr val="FFF1D6"/>
          </a:solidFill>
          <a:ln w="15875">
            <a:solidFill>
              <a:srgbClr val="14213D"/>
            </a:solidFill>
            <a:prstDash val="solid"/>
          </a:ln>
        </p:spPr>
      </p:sp>
      <p:sp>
        <p:nvSpPr>
          <p:cNvPr id="17" name="Text 13"/>
          <p:cNvSpPr txBox="1"/>
          <p:nvPr/>
        </p:nvSpPr>
        <p:spPr>
          <a:xfrm>
            <a:off x="2834640" y="5257800"/>
            <a:ext cx="685800" cy="457200"/>
          </a:xfrm>
          <a:prstGeom prst="rect">
            <a:avLst/>
          </a:prstGeom>
          <a:noFill/>
          <a:ln/>
        </p:spPr>
        <p:txBody>
          <a:bodyPr wrap="square" lIns="0" tIns="0" rIns="0" bIns="0" rtlCol="0" anchor="ctr"/>
          <a:lstStyle/>
          <a:p>
            <a:pPr algn="ctr" indent="0" marL="0">
              <a:buNone/>
            </a:pPr>
            <a:r>
              <a:rPr lang="en-US" sz="1500" b="1" dirty="0">
                <a:solidFill>
                  <a:srgbClr val="14213D"/>
                </a:solidFill>
                <a:latin typeface="Courier New" pitchFamily="34" charset="0"/>
                <a:ea typeface="Courier New" pitchFamily="34" charset="-122"/>
                <a:cs typeface="Courier New" pitchFamily="34" charset="-120"/>
              </a:rPr>
              <a:t>8</a:t>
            </a:r>
            <a:endParaRPr lang="en-US" sz="1500" dirty="0"/>
          </a:p>
        </p:txBody>
      </p:sp>
      <p:sp>
        <p:nvSpPr>
          <p:cNvPr id="18" name="Text 14"/>
          <p:cNvSpPr txBox="1"/>
          <p:nvPr/>
        </p:nvSpPr>
        <p:spPr>
          <a:xfrm>
            <a:off x="2834640" y="5742432"/>
            <a:ext cx="685800" cy="274320"/>
          </a:xfrm>
          <a:prstGeom prst="rect">
            <a:avLst/>
          </a:prstGeom>
          <a:noFill/>
          <a:ln/>
        </p:spPr>
        <p:txBody>
          <a:bodyPr wrap="square" lIns="0" tIns="0" rIns="0" bIns="0" rtlCol="0" anchor="ctr"/>
          <a:lstStyle/>
          <a:p>
            <a:pPr algn="ctr" indent="0" marL="0">
              <a:buNone/>
            </a:pPr>
            <a:r>
              <a:rPr lang="en-US" sz="1300" dirty="0">
                <a:solidFill>
                  <a:srgbClr val="5B6478"/>
                </a:solidFill>
                <a:latin typeface="Courier New" pitchFamily="34" charset="0"/>
                <a:ea typeface="Courier New" pitchFamily="34" charset="-122"/>
                <a:cs typeface="Courier New" pitchFamily="34" charset="-120"/>
              </a:rPr>
              <a:t>[2]</a:t>
            </a:r>
            <a:endParaRPr lang="en-US" sz="1300" dirty="0"/>
          </a:p>
        </p:txBody>
      </p:sp>
      <p:sp>
        <p:nvSpPr>
          <p:cNvPr id="19" name="Shape 15"/>
          <p:cNvSpPr/>
          <p:nvPr/>
        </p:nvSpPr>
        <p:spPr>
          <a:xfrm>
            <a:off x="3520440" y="5257800"/>
            <a:ext cx="685800" cy="457200"/>
          </a:xfrm>
          <a:prstGeom prst="rect">
            <a:avLst/>
          </a:prstGeom>
          <a:solidFill>
            <a:srgbClr val="FFFFFF"/>
          </a:solidFill>
          <a:ln w="15875">
            <a:solidFill>
              <a:srgbClr val="14213D"/>
            </a:solidFill>
            <a:prstDash val="solid"/>
          </a:ln>
        </p:spPr>
      </p:sp>
      <p:sp>
        <p:nvSpPr>
          <p:cNvPr id="20" name="Text 16"/>
          <p:cNvSpPr txBox="1"/>
          <p:nvPr/>
        </p:nvSpPr>
        <p:spPr>
          <a:xfrm>
            <a:off x="3520440" y="5257800"/>
            <a:ext cx="685800" cy="457200"/>
          </a:xfrm>
          <a:prstGeom prst="rect">
            <a:avLst/>
          </a:prstGeom>
          <a:noFill/>
          <a:ln/>
        </p:spPr>
        <p:txBody>
          <a:bodyPr wrap="square" lIns="0" tIns="0" rIns="0" bIns="0" rtlCol="0" anchor="ctr"/>
          <a:lstStyle/>
          <a:p>
            <a:pPr algn="ctr" indent="0" marL="0">
              <a:buNone/>
            </a:pPr>
            <a:r>
              <a:rPr lang="en-US" sz="1500" b="1" dirty="0">
                <a:solidFill>
                  <a:srgbClr val="14213D"/>
                </a:solidFill>
                <a:latin typeface="Courier New" pitchFamily="34" charset="0"/>
                <a:ea typeface="Courier New" pitchFamily="34" charset="-122"/>
                <a:cs typeface="Courier New" pitchFamily="34" charset="-120"/>
              </a:rPr>
              <a:t>16</a:t>
            </a:r>
            <a:endParaRPr lang="en-US" sz="1500" dirty="0"/>
          </a:p>
        </p:txBody>
      </p:sp>
      <p:sp>
        <p:nvSpPr>
          <p:cNvPr id="21" name="Text 17"/>
          <p:cNvSpPr txBox="1"/>
          <p:nvPr/>
        </p:nvSpPr>
        <p:spPr>
          <a:xfrm>
            <a:off x="3520440" y="5742432"/>
            <a:ext cx="685800" cy="274320"/>
          </a:xfrm>
          <a:prstGeom prst="rect">
            <a:avLst/>
          </a:prstGeom>
          <a:noFill/>
          <a:ln/>
        </p:spPr>
        <p:txBody>
          <a:bodyPr wrap="square" lIns="0" tIns="0" rIns="0" bIns="0" rtlCol="0" anchor="ctr"/>
          <a:lstStyle/>
          <a:p>
            <a:pPr algn="ctr" indent="0" marL="0">
              <a:buNone/>
            </a:pPr>
            <a:r>
              <a:rPr lang="en-US" sz="1300" dirty="0">
                <a:solidFill>
                  <a:srgbClr val="5B6478"/>
                </a:solidFill>
                <a:latin typeface="Courier New" pitchFamily="34" charset="0"/>
                <a:ea typeface="Courier New" pitchFamily="34" charset="-122"/>
                <a:cs typeface="Courier New" pitchFamily="34" charset="-120"/>
              </a:rPr>
              <a:t>[3]</a:t>
            </a:r>
            <a:endParaRPr lang="en-US" sz="1300" dirty="0"/>
          </a:p>
        </p:txBody>
      </p:sp>
      <p:sp>
        <p:nvSpPr>
          <p:cNvPr id="22" name="Shape 18"/>
          <p:cNvSpPr/>
          <p:nvPr/>
        </p:nvSpPr>
        <p:spPr>
          <a:xfrm>
            <a:off x="4206240" y="5257800"/>
            <a:ext cx="685800" cy="457200"/>
          </a:xfrm>
          <a:prstGeom prst="rect">
            <a:avLst/>
          </a:prstGeom>
          <a:solidFill>
            <a:srgbClr val="FFFFFF"/>
          </a:solidFill>
          <a:ln w="15875">
            <a:solidFill>
              <a:srgbClr val="14213D"/>
            </a:solidFill>
            <a:prstDash val="solid"/>
          </a:ln>
        </p:spPr>
      </p:sp>
      <p:sp>
        <p:nvSpPr>
          <p:cNvPr id="23" name="Text 19"/>
          <p:cNvSpPr txBox="1"/>
          <p:nvPr/>
        </p:nvSpPr>
        <p:spPr>
          <a:xfrm>
            <a:off x="4206240" y="5257800"/>
            <a:ext cx="685800" cy="457200"/>
          </a:xfrm>
          <a:prstGeom prst="rect">
            <a:avLst/>
          </a:prstGeom>
          <a:noFill/>
          <a:ln/>
        </p:spPr>
        <p:txBody>
          <a:bodyPr wrap="square" lIns="0" tIns="0" rIns="0" bIns="0" rtlCol="0" anchor="ctr"/>
          <a:lstStyle/>
          <a:p>
            <a:pPr algn="ctr" indent="0" marL="0">
              <a:buNone/>
            </a:pPr>
            <a:r>
              <a:rPr lang="en-US" sz="1500" b="1" dirty="0">
                <a:solidFill>
                  <a:srgbClr val="14213D"/>
                </a:solidFill>
                <a:latin typeface="Courier New" pitchFamily="34" charset="0"/>
                <a:ea typeface="Courier New" pitchFamily="34" charset="-122"/>
                <a:cs typeface="Courier New" pitchFamily="34" charset="-120"/>
              </a:rPr>
              <a:t>23</a:t>
            </a:r>
            <a:endParaRPr lang="en-US" sz="1500" dirty="0"/>
          </a:p>
        </p:txBody>
      </p:sp>
      <p:sp>
        <p:nvSpPr>
          <p:cNvPr id="24" name="Text 20"/>
          <p:cNvSpPr txBox="1"/>
          <p:nvPr/>
        </p:nvSpPr>
        <p:spPr>
          <a:xfrm>
            <a:off x="4206240" y="5742432"/>
            <a:ext cx="685800" cy="274320"/>
          </a:xfrm>
          <a:prstGeom prst="rect">
            <a:avLst/>
          </a:prstGeom>
          <a:noFill/>
          <a:ln/>
        </p:spPr>
        <p:txBody>
          <a:bodyPr wrap="square" lIns="0" tIns="0" rIns="0" bIns="0" rtlCol="0" anchor="ctr"/>
          <a:lstStyle/>
          <a:p>
            <a:pPr algn="ctr" indent="0" marL="0">
              <a:buNone/>
            </a:pPr>
            <a:r>
              <a:rPr lang="en-US" sz="1300" dirty="0">
                <a:solidFill>
                  <a:srgbClr val="5B6478"/>
                </a:solidFill>
                <a:latin typeface="Courier New" pitchFamily="34" charset="0"/>
                <a:ea typeface="Courier New" pitchFamily="34" charset="-122"/>
                <a:cs typeface="Courier New" pitchFamily="34" charset="-120"/>
              </a:rPr>
              <a:t>[4]</a:t>
            </a:r>
            <a:endParaRPr lang="en-US" sz="1300" dirty="0"/>
          </a:p>
        </p:txBody>
      </p:sp>
      <p:sp>
        <p:nvSpPr>
          <p:cNvPr id="25" name="Text 21"/>
          <p:cNvSpPr txBox="1"/>
          <p:nvPr/>
        </p:nvSpPr>
        <p:spPr>
          <a:xfrm>
            <a:off x="896112" y="5257800"/>
            <a:ext cx="457200" cy="457200"/>
          </a:xfrm>
          <a:prstGeom prst="rect">
            <a:avLst/>
          </a:prstGeom>
          <a:noFill/>
          <a:ln/>
        </p:spPr>
        <p:txBody>
          <a:bodyPr wrap="square" lIns="0" tIns="0" rIns="0" bIns="0" rtlCol="0" anchor="ctr"/>
          <a:lstStyle/>
          <a:p>
            <a:pPr algn="r" indent="0" marL="0">
              <a:buNone/>
            </a:pPr>
            <a:r>
              <a:rPr lang="en-US" sz="1600" b="1" dirty="0">
                <a:solidFill>
                  <a:srgbClr val="14213D"/>
                </a:solidFill>
                <a:latin typeface="Courier New" pitchFamily="34" charset="0"/>
                <a:ea typeface="Courier New" pitchFamily="34" charset="-122"/>
                <a:cs typeface="Courier New" pitchFamily="34" charset="-120"/>
              </a:rPr>
              <a:t>a</a:t>
            </a:r>
            <a:endParaRPr lang="en-US" sz="1600" dirty="0"/>
          </a:p>
        </p:txBody>
      </p:sp>
      <p:sp>
        <p:nvSpPr>
          <p:cNvPr id="26" name="Shape 22"/>
          <p:cNvSpPr/>
          <p:nvPr/>
        </p:nvSpPr>
        <p:spPr>
          <a:xfrm>
            <a:off x="5486400" y="5257800"/>
            <a:ext cx="457200" cy="457200"/>
          </a:xfrm>
          <a:prstGeom prst="rect">
            <a:avLst/>
          </a:prstGeom>
          <a:solidFill>
            <a:srgbClr val="E6F4EC"/>
          </a:solidFill>
          <a:ln w="15875">
            <a:solidFill>
              <a:srgbClr val="14213D"/>
            </a:solidFill>
            <a:prstDash val="solid"/>
          </a:ln>
        </p:spPr>
      </p:sp>
      <p:sp>
        <p:nvSpPr>
          <p:cNvPr id="27" name="Text 23"/>
          <p:cNvSpPr txBox="1"/>
          <p:nvPr/>
        </p:nvSpPr>
        <p:spPr>
          <a:xfrm>
            <a:off x="5486400" y="5257800"/>
            <a:ext cx="457200" cy="457200"/>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0</a:t>
            </a:r>
            <a:endParaRPr lang="en-US" sz="1400" dirty="0"/>
          </a:p>
        </p:txBody>
      </p:sp>
      <p:sp>
        <p:nvSpPr>
          <p:cNvPr id="28" name="Text 24"/>
          <p:cNvSpPr txBox="1"/>
          <p:nvPr/>
        </p:nvSpPr>
        <p:spPr>
          <a:xfrm>
            <a:off x="5486400" y="5742432"/>
            <a:ext cx="457200" cy="274320"/>
          </a:xfrm>
          <a:prstGeom prst="rect">
            <a:avLst/>
          </a:prstGeom>
          <a:noFill/>
          <a:ln/>
        </p:spPr>
        <p:txBody>
          <a:bodyPr wrap="square" lIns="0" tIns="0" rIns="0" bIns="0" rtlCol="0" anchor="ctr"/>
          <a:lstStyle/>
          <a:p>
            <a:pPr algn="ctr" indent="0" marL="0">
              <a:buNone/>
            </a:pPr>
            <a:r>
              <a:rPr lang="en-US" sz="1300" dirty="0">
                <a:solidFill>
                  <a:srgbClr val="5B6478"/>
                </a:solidFill>
                <a:latin typeface="Courier New" pitchFamily="34" charset="0"/>
                <a:ea typeface="Courier New" pitchFamily="34" charset="-122"/>
                <a:cs typeface="Courier New" pitchFamily="34" charset="-120"/>
              </a:rPr>
              <a:t>[0]</a:t>
            </a:r>
            <a:endParaRPr lang="en-US" sz="1300" dirty="0"/>
          </a:p>
        </p:txBody>
      </p:sp>
      <p:sp>
        <p:nvSpPr>
          <p:cNvPr id="29" name="Shape 25"/>
          <p:cNvSpPr/>
          <p:nvPr/>
        </p:nvSpPr>
        <p:spPr>
          <a:xfrm>
            <a:off x="5943600" y="5257800"/>
            <a:ext cx="457200" cy="457200"/>
          </a:xfrm>
          <a:prstGeom prst="rect">
            <a:avLst/>
          </a:prstGeom>
          <a:solidFill>
            <a:srgbClr val="FFFFFF"/>
          </a:solidFill>
          <a:ln w="15875">
            <a:solidFill>
              <a:srgbClr val="14213D"/>
            </a:solidFill>
            <a:prstDash val="solid"/>
          </a:ln>
        </p:spPr>
      </p:sp>
      <p:sp>
        <p:nvSpPr>
          <p:cNvPr id="30" name="Text 26"/>
          <p:cNvSpPr txBox="1"/>
          <p:nvPr/>
        </p:nvSpPr>
        <p:spPr>
          <a:xfrm>
            <a:off x="5943600" y="5257800"/>
            <a:ext cx="457200" cy="457200"/>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1</a:t>
            </a:r>
            <a:endParaRPr lang="en-US" sz="1400" dirty="0"/>
          </a:p>
        </p:txBody>
      </p:sp>
      <p:sp>
        <p:nvSpPr>
          <p:cNvPr id="31" name="Text 27"/>
          <p:cNvSpPr txBox="1"/>
          <p:nvPr/>
        </p:nvSpPr>
        <p:spPr>
          <a:xfrm>
            <a:off x="5943600" y="5742432"/>
            <a:ext cx="457200" cy="274320"/>
          </a:xfrm>
          <a:prstGeom prst="rect">
            <a:avLst/>
          </a:prstGeom>
          <a:noFill/>
          <a:ln/>
        </p:spPr>
        <p:txBody>
          <a:bodyPr wrap="square" lIns="0" tIns="0" rIns="0" bIns="0" rtlCol="0" anchor="ctr"/>
          <a:lstStyle/>
          <a:p>
            <a:pPr algn="ctr" indent="0" marL="0">
              <a:buNone/>
            </a:pPr>
            <a:r>
              <a:rPr lang="en-US" sz="1300" dirty="0">
                <a:solidFill>
                  <a:srgbClr val="5B6478"/>
                </a:solidFill>
                <a:latin typeface="Courier New" pitchFamily="34" charset="0"/>
                <a:ea typeface="Courier New" pitchFamily="34" charset="-122"/>
                <a:cs typeface="Courier New" pitchFamily="34" charset="-120"/>
              </a:rPr>
              <a:t>[1]</a:t>
            </a:r>
            <a:endParaRPr lang="en-US" sz="1300" dirty="0"/>
          </a:p>
        </p:txBody>
      </p:sp>
      <p:sp>
        <p:nvSpPr>
          <p:cNvPr id="32" name="Shape 28"/>
          <p:cNvSpPr/>
          <p:nvPr/>
        </p:nvSpPr>
        <p:spPr>
          <a:xfrm>
            <a:off x="6400800" y="5257800"/>
            <a:ext cx="457200" cy="457200"/>
          </a:xfrm>
          <a:prstGeom prst="rect">
            <a:avLst/>
          </a:prstGeom>
          <a:solidFill>
            <a:srgbClr val="E6F4EC"/>
          </a:solidFill>
          <a:ln w="15875">
            <a:solidFill>
              <a:srgbClr val="14213D"/>
            </a:solidFill>
            <a:prstDash val="solid"/>
          </a:ln>
        </p:spPr>
      </p:sp>
      <p:sp>
        <p:nvSpPr>
          <p:cNvPr id="33" name="Text 29"/>
          <p:cNvSpPr txBox="1"/>
          <p:nvPr/>
        </p:nvSpPr>
        <p:spPr>
          <a:xfrm>
            <a:off x="6400800" y="5257800"/>
            <a:ext cx="457200" cy="457200"/>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4</a:t>
            </a:r>
            <a:endParaRPr lang="en-US" sz="1400" dirty="0"/>
          </a:p>
        </p:txBody>
      </p:sp>
      <p:sp>
        <p:nvSpPr>
          <p:cNvPr id="34" name="Text 30"/>
          <p:cNvSpPr txBox="1"/>
          <p:nvPr/>
        </p:nvSpPr>
        <p:spPr>
          <a:xfrm>
            <a:off x="6400800" y="5742432"/>
            <a:ext cx="457200" cy="274320"/>
          </a:xfrm>
          <a:prstGeom prst="rect">
            <a:avLst/>
          </a:prstGeom>
          <a:noFill/>
          <a:ln/>
        </p:spPr>
        <p:txBody>
          <a:bodyPr wrap="square" lIns="0" tIns="0" rIns="0" bIns="0" rtlCol="0" anchor="ctr"/>
          <a:lstStyle/>
          <a:p>
            <a:pPr algn="ctr" indent="0" marL="0">
              <a:buNone/>
            </a:pPr>
            <a:r>
              <a:rPr lang="en-US" sz="1300" dirty="0">
                <a:solidFill>
                  <a:srgbClr val="5B6478"/>
                </a:solidFill>
                <a:latin typeface="Courier New" pitchFamily="34" charset="0"/>
                <a:ea typeface="Courier New" pitchFamily="34" charset="-122"/>
                <a:cs typeface="Courier New" pitchFamily="34" charset="-120"/>
              </a:rPr>
              <a:t>[2]</a:t>
            </a:r>
            <a:endParaRPr lang="en-US" sz="1300" dirty="0"/>
          </a:p>
        </p:txBody>
      </p:sp>
      <p:sp>
        <p:nvSpPr>
          <p:cNvPr id="35" name="Shape 31"/>
          <p:cNvSpPr/>
          <p:nvPr/>
        </p:nvSpPr>
        <p:spPr>
          <a:xfrm>
            <a:off x="6858000" y="5257800"/>
            <a:ext cx="457200" cy="457200"/>
          </a:xfrm>
          <a:prstGeom prst="rect">
            <a:avLst/>
          </a:prstGeom>
          <a:solidFill>
            <a:srgbClr val="FFFFFF"/>
          </a:solidFill>
          <a:ln w="15875">
            <a:solidFill>
              <a:srgbClr val="14213D"/>
            </a:solidFill>
            <a:prstDash val="solid"/>
          </a:ln>
        </p:spPr>
      </p:sp>
      <p:sp>
        <p:nvSpPr>
          <p:cNvPr id="36" name="Text 32"/>
          <p:cNvSpPr txBox="1"/>
          <p:nvPr/>
        </p:nvSpPr>
        <p:spPr>
          <a:xfrm>
            <a:off x="6858000" y="5257800"/>
            <a:ext cx="457200" cy="457200"/>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9</a:t>
            </a:r>
            <a:endParaRPr lang="en-US" sz="1400" dirty="0"/>
          </a:p>
        </p:txBody>
      </p:sp>
      <p:sp>
        <p:nvSpPr>
          <p:cNvPr id="37" name="Text 33"/>
          <p:cNvSpPr txBox="1"/>
          <p:nvPr/>
        </p:nvSpPr>
        <p:spPr>
          <a:xfrm>
            <a:off x="6858000" y="5742432"/>
            <a:ext cx="457200" cy="274320"/>
          </a:xfrm>
          <a:prstGeom prst="rect">
            <a:avLst/>
          </a:prstGeom>
          <a:noFill/>
          <a:ln/>
        </p:spPr>
        <p:txBody>
          <a:bodyPr wrap="square" lIns="0" tIns="0" rIns="0" bIns="0" rtlCol="0" anchor="ctr"/>
          <a:lstStyle/>
          <a:p>
            <a:pPr algn="ctr" indent="0" marL="0">
              <a:buNone/>
            </a:pPr>
            <a:r>
              <a:rPr lang="en-US" sz="1300" dirty="0">
                <a:solidFill>
                  <a:srgbClr val="5B6478"/>
                </a:solidFill>
                <a:latin typeface="Courier New" pitchFamily="34" charset="0"/>
                <a:ea typeface="Courier New" pitchFamily="34" charset="-122"/>
                <a:cs typeface="Courier New" pitchFamily="34" charset="-120"/>
              </a:rPr>
              <a:t>[3]</a:t>
            </a:r>
            <a:endParaRPr lang="en-US" sz="1300" dirty="0"/>
          </a:p>
        </p:txBody>
      </p:sp>
      <p:sp>
        <p:nvSpPr>
          <p:cNvPr id="38" name="Shape 34"/>
          <p:cNvSpPr/>
          <p:nvPr/>
        </p:nvSpPr>
        <p:spPr>
          <a:xfrm>
            <a:off x="7315200" y="5257800"/>
            <a:ext cx="457200" cy="457200"/>
          </a:xfrm>
          <a:prstGeom prst="rect">
            <a:avLst/>
          </a:prstGeom>
          <a:solidFill>
            <a:srgbClr val="E6F4EC"/>
          </a:solidFill>
          <a:ln w="15875">
            <a:solidFill>
              <a:srgbClr val="14213D"/>
            </a:solidFill>
            <a:prstDash val="solid"/>
          </a:ln>
        </p:spPr>
      </p:sp>
      <p:sp>
        <p:nvSpPr>
          <p:cNvPr id="39" name="Text 35"/>
          <p:cNvSpPr txBox="1"/>
          <p:nvPr/>
        </p:nvSpPr>
        <p:spPr>
          <a:xfrm>
            <a:off x="7315200" y="5257800"/>
            <a:ext cx="457200" cy="457200"/>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16</a:t>
            </a:r>
            <a:endParaRPr lang="en-US" sz="1400" dirty="0"/>
          </a:p>
        </p:txBody>
      </p:sp>
      <p:sp>
        <p:nvSpPr>
          <p:cNvPr id="40" name="Text 36"/>
          <p:cNvSpPr txBox="1"/>
          <p:nvPr/>
        </p:nvSpPr>
        <p:spPr>
          <a:xfrm>
            <a:off x="7315200" y="5742432"/>
            <a:ext cx="457200" cy="274320"/>
          </a:xfrm>
          <a:prstGeom prst="rect">
            <a:avLst/>
          </a:prstGeom>
          <a:noFill/>
          <a:ln/>
        </p:spPr>
        <p:txBody>
          <a:bodyPr wrap="square" lIns="0" tIns="0" rIns="0" bIns="0" rtlCol="0" anchor="ctr"/>
          <a:lstStyle/>
          <a:p>
            <a:pPr algn="ctr" indent="0" marL="0">
              <a:buNone/>
            </a:pPr>
            <a:r>
              <a:rPr lang="en-US" sz="1300" dirty="0">
                <a:solidFill>
                  <a:srgbClr val="5B6478"/>
                </a:solidFill>
                <a:latin typeface="Courier New" pitchFamily="34" charset="0"/>
                <a:ea typeface="Courier New" pitchFamily="34" charset="-122"/>
                <a:cs typeface="Courier New" pitchFamily="34" charset="-120"/>
              </a:rPr>
              <a:t>[4]</a:t>
            </a:r>
            <a:endParaRPr lang="en-US" sz="1300" dirty="0"/>
          </a:p>
        </p:txBody>
      </p:sp>
      <p:sp>
        <p:nvSpPr>
          <p:cNvPr id="41" name="Text 37"/>
          <p:cNvSpPr txBox="1"/>
          <p:nvPr/>
        </p:nvSpPr>
        <p:spPr>
          <a:xfrm>
            <a:off x="5010912" y="5257800"/>
            <a:ext cx="365760" cy="457200"/>
          </a:xfrm>
          <a:prstGeom prst="rect">
            <a:avLst/>
          </a:prstGeom>
          <a:noFill/>
          <a:ln/>
        </p:spPr>
        <p:txBody>
          <a:bodyPr wrap="square" lIns="0" tIns="0" rIns="0" bIns="0" rtlCol="0" anchor="ctr"/>
          <a:lstStyle/>
          <a:p>
            <a:pPr algn="r" indent="0" marL="0">
              <a:buNone/>
            </a:pPr>
            <a:r>
              <a:rPr lang="en-US" sz="1600" b="1" dirty="0">
                <a:solidFill>
                  <a:srgbClr val="14213D"/>
                </a:solidFill>
                <a:latin typeface="Courier New" pitchFamily="34" charset="0"/>
                <a:ea typeface="Courier New" pitchFamily="34" charset="-122"/>
                <a:cs typeface="Courier New" pitchFamily="34" charset="-120"/>
              </a:rPr>
              <a:t>b</a:t>
            </a:r>
            <a:endParaRPr lang="en-US" sz="1600" dirty="0"/>
          </a:p>
        </p:txBody>
      </p:sp>
      <p:sp>
        <p:nvSpPr>
          <p:cNvPr id="42" name="Shape 38"/>
          <p:cNvSpPr/>
          <p:nvPr/>
        </p:nvSpPr>
        <p:spPr>
          <a:xfrm>
            <a:off x="8046720" y="1645920"/>
            <a:ext cx="3611880" cy="3383280"/>
          </a:xfrm>
          <a:prstGeom prst="roundRect">
            <a:avLst>
              <a:gd name="adj" fmla="val 2703"/>
            </a:avLst>
          </a:prstGeom>
          <a:solidFill>
            <a:srgbClr val="0B0F19"/>
          </a:solidFill>
          <a:ln w="12700">
            <a:solidFill>
              <a:srgbClr val="2A3654"/>
            </a:solidFill>
            <a:prstDash val="solid"/>
          </a:ln>
        </p:spPr>
      </p:sp>
      <p:sp>
        <p:nvSpPr>
          <p:cNvPr id="43" name="Shape 39"/>
          <p:cNvSpPr/>
          <p:nvPr/>
        </p:nvSpPr>
        <p:spPr>
          <a:xfrm>
            <a:off x="8229600" y="1773936"/>
            <a:ext cx="118872" cy="118872"/>
          </a:xfrm>
          <a:prstGeom prst="ellipse">
            <a:avLst/>
          </a:prstGeom>
          <a:solidFill>
            <a:srgbClr val="FF5F57"/>
          </a:solidFill>
          <a:ln w="12700">
            <a:solidFill>
              <a:srgbClr val="FF5F57"/>
            </a:solidFill>
            <a:prstDash val="solid"/>
          </a:ln>
        </p:spPr>
      </p:sp>
      <p:sp>
        <p:nvSpPr>
          <p:cNvPr id="44" name="Shape 40"/>
          <p:cNvSpPr/>
          <p:nvPr/>
        </p:nvSpPr>
        <p:spPr>
          <a:xfrm>
            <a:off x="8458200" y="1773936"/>
            <a:ext cx="118872" cy="118872"/>
          </a:xfrm>
          <a:prstGeom prst="ellipse">
            <a:avLst/>
          </a:prstGeom>
          <a:solidFill>
            <a:srgbClr val="FEBC2E"/>
          </a:solidFill>
          <a:ln w="12700">
            <a:solidFill>
              <a:srgbClr val="FEBC2E"/>
            </a:solidFill>
            <a:prstDash val="solid"/>
          </a:ln>
        </p:spPr>
      </p:sp>
      <p:sp>
        <p:nvSpPr>
          <p:cNvPr id="45" name="Shape 41"/>
          <p:cNvSpPr/>
          <p:nvPr/>
        </p:nvSpPr>
        <p:spPr>
          <a:xfrm>
            <a:off x="8686800" y="1773936"/>
            <a:ext cx="118872" cy="118872"/>
          </a:xfrm>
          <a:prstGeom prst="ellipse">
            <a:avLst/>
          </a:prstGeom>
          <a:solidFill>
            <a:srgbClr val="28C840"/>
          </a:solidFill>
          <a:ln w="12700">
            <a:solidFill>
              <a:srgbClr val="28C840"/>
            </a:solidFill>
            <a:prstDash val="solid"/>
          </a:ln>
        </p:spPr>
      </p:sp>
      <p:sp>
        <p:nvSpPr>
          <p:cNvPr id="46" name="Text 42"/>
          <p:cNvSpPr txBox="1"/>
          <p:nvPr/>
        </p:nvSpPr>
        <p:spPr>
          <a:xfrm>
            <a:off x="8961120" y="1719072"/>
            <a:ext cx="251460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09_13_PredictChecker</a:t>
            </a:r>
            <a:endParaRPr lang="en-US" sz="1000" dirty="0"/>
          </a:p>
        </p:txBody>
      </p:sp>
      <p:sp>
        <p:nvSpPr>
          <p:cNvPr id="47" name="Text 43"/>
          <p:cNvSpPr txBox="1"/>
          <p:nvPr/>
        </p:nvSpPr>
        <p:spPr>
          <a:xfrm>
            <a:off x="8275320" y="2029968"/>
            <a:ext cx="3154680" cy="2880360"/>
          </a:xfrm>
          <a:prstGeom prst="rect">
            <a:avLst/>
          </a:prstGeom>
          <a:noFill/>
          <a:ln/>
        </p:spPr>
        <p:txBody>
          <a:bodyPr wrap="square" lIns="0" tIns="0" rIns="0" bIns="0" rtlCol="0" anchor="t"/>
          <a:lstStyle/>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 Quiz 1: indices ---</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24</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23</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15</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4,8,8,16,23</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 Quiz 2: filling with a loop ---</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12</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20</a:t>
            </a:r>
            <a:endParaRPr lang="en-US" sz="1300" dirty="0"/>
          </a:p>
        </p:txBody>
      </p:sp>
      <p:sp>
        <p:nvSpPr>
          <p:cNvPr id="48" name="Text 44"/>
          <p:cNvSpPr txBox="1"/>
          <p:nvPr/>
        </p:nvSpPr>
        <p:spPr>
          <a:xfrm>
            <a:off x="8046720" y="5120640"/>
            <a:ext cx="3611880" cy="320040"/>
          </a:xfrm>
          <a:prstGeom prst="rect">
            <a:avLst/>
          </a:prstGeom>
          <a:noFill/>
          <a:ln/>
        </p:spPr>
        <p:txBody>
          <a:bodyPr wrap="square" lIns="0" tIns="0" rIns="0" bIns="0" rtlCol="0" anchor="ctr"/>
          <a:lstStyle/>
          <a:p>
            <a:pPr indent="0" marL="0">
              <a:buNone/>
            </a:pPr>
            <a:r>
              <a:rPr lang="en-US" sz="1300" i="1" dirty="0">
                <a:solidFill>
                  <a:srgbClr val="5B6478"/>
                </a:solidFill>
                <a:latin typeface="Calibri" pitchFamily="34" charset="0"/>
                <a:ea typeface="Calibri" pitchFamily="34" charset="-122"/>
                <a:cs typeface="Calibri" pitchFamily="34" charset="-120"/>
              </a:rPr>
              <a:t>Real output (first part of 09_13).</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1463040"/>
            <a:ext cx="2743200" cy="1280160"/>
          </a:xfrm>
          <a:prstGeom prst="rect">
            <a:avLst/>
          </a:prstGeom>
          <a:noFill/>
          <a:ln/>
        </p:spPr>
        <p:txBody>
          <a:bodyPr wrap="square" lIns="0" tIns="0" rIns="0" bIns="0" rtlCol="0" anchor="ctr"/>
          <a:lstStyle/>
          <a:p>
            <a:pPr indent="0" marL="0">
              <a:buNone/>
            </a:pPr>
            <a:r>
              <a:rPr lang="en-US" sz="8800" b="1" dirty="0">
                <a:solidFill>
                  <a:srgbClr val="FCA311"/>
                </a:solidFill>
                <a:latin typeface="Courier New" pitchFamily="34" charset="0"/>
                <a:ea typeface="Courier New" pitchFamily="34" charset="-122"/>
                <a:cs typeface="Courier New" pitchFamily="34" charset="-120"/>
              </a:rPr>
              <a:t>&gt;_</a:t>
            </a:r>
            <a:endParaRPr lang="en-US" sz="8800" dirty="0"/>
          </a:p>
        </p:txBody>
      </p:sp>
      <p:sp>
        <p:nvSpPr>
          <p:cNvPr id="3" name="Text 1"/>
          <p:cNvSpPr txBox="1"/>
          <p:nvPr/>
        </p:nvSpPr>
        <p:spPr>
          <a:xfrm>
            <a:off x="548640" y="2926080"/>
            <a:ext cx="5486400" cy="365760"/>
          </a:xfrm>
          <a:prstGeom prst="rect">
            <a:avLst/>
          </a:prstGeom>
          <a:noFill/>
          <a:ln/>
        </p:spPr>
        <p:txBody>
          <a:bodyPr wrap="square" lIns="0" tIns="0" rIns="0" bIns="0" rtlCol="0" anchor="ctr"/>
          <a:lstStyle/>
          <a:p>
            <a:pPr indent="0" marL="0">
              <a:buNone/>
            </a:pPr>
            <a:r>
              <a:rPr lang="en-US" sz="1600" spc="400" kern="0" dirty="0">
                <a:solidFill>
                  <a:srgbClr val="8A94AB"/>
                </a:solidFill>
                <a:latin typeface="Courier New" pitchFamily="34" charset="0"/>
                <a:ea typeface="Courier New" pitchFamily="34" charset="-122"/>
                <a:cs typeface="Courier New" pitchFamily="34" charset="-120"/>
              </a:rPr>
              <a:t>PART 3</a:t>
            </a:r>
            <a:endParaRPr lang="en-US" sz="1600" dirty="0"/>
          </a:p>
        </p:txBody>
      </p:sp>
      <p:sp>
        <p:nvSpPr>
          <p:cNvPr id="4" name="Text 2"/>
          <p:cNvSpPr txBox="1"/>
          <p:nvPr/>
        </p:nvSpPr>
        <p:spPr>
          <a:xfrm>
            <a:off x="548640" y="3337560"/>
            <a:ext cx="10515600" cy="914400"/>
          </a:xfrm>
          <a:prstGeom prst="rect">
            <a:avLst/>
          </a:prstGeom>
          <a:noFill/>
          <a:ln/>
        </p:spPr>
        <p:txBody>
          <a:bodyPr wrap="square" lIns="0" tIns="0" rIns="0" bIns="0" rtlCol="0" anchor="ctr">
            <a:normAutofit/>
          </a:bodyPr>
          <a:lstStyle/>
          <a:p>
            <a:pPr indent="0" marL="0">
              <a:buNone/>
            </a:pPr>
            <a:r>
              <a:rPr lang="en-US" sz="4200" b="1" dirty="0">
                <a:solidFill>
                  <a:srgbClr val="FFFFFF"/>
                </a:solidFill>
                <a:latin typeface="Cambria" pitchFamily="34" charset="0"/>
                <a:ea typeface="Cambria" pitchFamily="34" charset="-122"/>
                <a:cs typeface="Cambria" pitchFamily="34" charset="-120"/>
              </a:rPr>
              <a:t>Traversing, Reading, Printing</a:t>
            </a:r>
            <a:endParaRPr lang="en-US" sz="4200" dirty="0"/>
          </a:p>
        </p:txBody>
      </p:sp>
      <p:sp>
        <p:nvSpPr>
          <p:cNvPr id="5" name="Text 3"/>
          <p:cNvSpPr txBox="1"/>
          <p:nvPr/>
        </p:nvSpPr>
        <p:spPr>
          <a:xfrm>
            <a:off x="548640" y="4343400"/>
            <a:ext cx="10515600" cy="548640"/>
          </a:xfrm>
          <a:prstGeom prst="rect">
            <a:avLst/>
          </a:prstGeom>
          <a:noFill/>
          <a:ln/>
        </p:spPr>
        <p:txBody>
          <a:bodyPr wrap="square" lIns="0" tIns="0" rIns="0" bIns="0" rtlCol="0" anchor="ctr"/>
          <a:lstStyle/>
          <a:p>
            <a:pPr indent="0" marL="0">
              <a:buNone/>
            </a:pPr>
            <a:r>
              <a:rPr lang="en-US" sz="1800" dirty="0">
                <a:solidFill>
                  <a:srgbClr val="C7CEDC"/>
                </a:solidFill>
                <a:latin typeface="Calibri" pitchFamily="34" charset="0"/>
                <a:ea typeface="Calibri" pitchFamily="34" charset="-122"/>
                <a:cs typeface="Calibri" pitchFamily="34" charset="-120"/>
              </a:rPr>
              <a:t>for and foreach over every element · N values from the keyboard · four worked examples</a:t>
            </a:r>
            <a:endParaRPr lang="en-US" sz="1800" dirty="0"/>
          </a:p>
        </p:txBody>
      </p:sp>
      <p:sp>
        <p:nvSpPr>
          <p:cNvPr id="6" name="Text 4"/>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8A94AB"/>
                </a:solidFill>
                <a:latin typeface="Calibri" pitchFamily="34" charset="0"/>
                <a:ea typeface="Calibri" pitchFamily="34" charset="-122"/>
                <a:cs typeface="Calibri" pitchFamily="34" charset="-120"/>
              </a:rPr>
              <a:t>MCMP113  ·  Week 9</a:t>
            </a:r>
            <a:endParaRPr lang="en-US" sz="1000" dirty="0"/>
          </a:p>
        </p:txBody>
      </p:sp>
      <p:sp>
        <p:nvSpPr>
          <p:cNvPr id="7" name="Text 5"/>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8A94AB"/>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TRAVERSAL WITH FOR</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The Standard Loop: i from 0 While i &lt; Length</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9</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16</a:t>
            </a:r>
            <a:endParaRPr lang="en-US" sz="1000" dirty="0"/>
          </a:p>
        </p:txBody>
      </p:sp>
      <p:sp>
        <p:nvSpPr>
          <p:cNvPr id="7" name="Shape 4"/>
          <p:cNvSpPr/>
          <p:nvPr/>
        </p:nvSpPr>
        <p:spPr>
          <a:xfrm>
            <a:off x="548640" y="1645920"/>
            <a:ext cx="5577840" cy="1965960"/>
          </a:xfrm>
          <a:prstGeom prst="roundRect">
            <a:avLst>
              <a:gd name="adj" fmla="val 4651"/>
            </a:avLst>
          </a:prstGeom>
          <a:solidFill>
            <a:srgbClr val="0F1729"/>
          </a:solidFill>
          <a:ln w="12700">
            <a:solidFill>
              <a:srgbClr val="0F1729"/>
            </a:solidFill>
            <a:prstDash val="solid"/>
          </a:ln>
        </p:spPr>
      </p:sp>
      <p:sp>
        <p:nvSpPr>
          <p:cNvPr id="8" name="Text 5"/>
          <p:cNvSpPr txBox="1"/>
          <p:nvPr/>
        </p:nvSpPr>
        <p:spPr>
          <a:xfrm>
            <a:off x="777240" y="1755648"/>
            <a:ext cx="512064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09_01_ArrayBasics</a:t>
            </a:r>
            <a:endParaRPr lang="en-US" sz="1100" dirty="0"/>
          </a:p>
        </p:txBody>
      </p:sp>
      <p:sp>
        <p:nvSpPr>
          <p:cNvPr id="9" name="Text 6"/>
          <p:cNvSpPr txBox="1"/>
          <p:nvPr/>
        </p:nvSpPr>
        <p:spPr>
          <a:xfrm>
            <a:off x="777240" y="2057400"/>
            <a:ext cx="5120640" cy="1444752"/>
          </a:xfrm>
          <a:prstGeom prst="rect">
            <a:avLst/>
          </a:prstGeom>
          <a:noFill/>
          <a:ln/>
        </p:spPr>
        <p:txBody>
          <a:bodyPr wrap="square" lIns="0" tIns="0" rIns="0" bIns="0" rtlCol="0" anchor="t"/>
          <a:lstStyle/>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primes =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2</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3</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5</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7</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 &lt; primes.Length; i++)</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$"primes[{i}] = {primes[i]}"</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0" name="Shape 7"/>
          <p:cNvSpPr/>
          <p:nvPr/>
        </p:nvSpPr>
        <p:spPr>
          <a:xfrm>
            <a:off x="548640" y="3749040"/>
            <a:ext cx="5577840" cy="1508760"/>
          </a:xfrm>
          <a:prstGeom prst="roundRect">
            <a:avLst>
              <a:gd name="adj" fmla="val 6061"/>
            </a:avLst>
          </a:prstGeom>
          <a:solidFill>
            <a:srgbClr val="0B0F19"/>
          </a:solidFill>
          <a:ln w="12700">
            <a:solidFill>
              <a:srgbClr val="2A3654"/>
            </a:solidFill>
            <a:prstDash val="solid"/>
          </a:ln>
        </p:spPr>
      </p:sp>
      <p:sp>
        <p:nvSpPr>
          <p:cNvPr id="11" name="Shape 8"/>
          <p:cNvSpPr/>
          <p:nvPr/>
        </p:nvSpPr>
        <p:spPr>
          <a:xfrm>
            <a:off x="731520" y="3877056"/>
            <a:ext cx="118872" cy="118872"/>
          </a:xfrm>
          <a:prstGeom prst="ellipse">
            <a:avLst/>
          </a:prstGeom>
          <a:solidFill>
            <a:srgbClr val="FF5F57"/>
          </a:solidFill>
          <a:ln w="12700">
            <a:solidFill>
              <a:srgbClr val="FF5F57"/>
            </a:solidFill>
            <a:prstDash val="solid"/>
          </a:ln>
        </p:spPr>
      </p:sp>
      <p:sp>
        <p:nvSpPr>
          <p:cNvPr id="12" name="Shape 9"/>
          <p:cNvSpPr/>
          <p:nvPr/>
        </p:nvSpPr>
        <p:spPr>
          <a:xfrm>
            <a:off x="960120" y="3877056"/>
            <a:ext cx="118872" cy="118872"/>
          </a:xfrm>
          <a:prstGeom prst="ellipse">
            <a:avLst/>
          </a:prstGeom>
          <a:solidFill>
            <a:srgbClr val="FEBC2E"/>
          </a:solidFill>
          <a:ln w="12700">
            <a:solidFill>
              <a:srgbClr val="FEBC2E"/>
            </a:solidFill>
            <a:prstDash val="solid"/>
          </a:ln>
        </p:spPr>
      </p:sp>
      <p:sp>
        <p:nvSpPr>
          <p:cNvPr id="13" name="Shape 10"/>
          <p:cNvSpPr/>
          <p:nvPr/>
        </p:nvSpPr>
        <p:spPr>
          <a:xfrm>
            <a:off x="1188720" y="3877056"/>
            <a:ext cx="118872" cy="118872"/>
          </a:xfrm>
          <a:prstGeom prst="ellipse">
            <a:avLst/>
          </a:prstGeom>
          <a:solidFill>
            <a:srgbClr val="28C840"/>
          </a:solidFill>
          <a:ln w="12700">
            <a:solidFill>
              <a:srgbClr val="28C840"/>
            </a:solidFill>
            <a:prstDash val="solid"/>
          </a:ln>
        </p:spPr>
      </p:sp>
      <p:sp>
        <p:nvSpPr>
          <p:cNvPr id="14" name="Text 11"/>
          <p:cNvSpPr txBox="1"/>
          <p:nvPr/>
        </p:nvSpPr>
        <p:spPr>
          <a:xfrm>
            <a:off x="1463040" y="3822192"/>
            <a:ext cx="448056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15" name="Text 12"/>
          <p:cNvSpPr txBox="1"/>
          <p:nvPr/>
        </p:nvSpPr>
        <p:spPr>
          <a:xfrm>
            <a:off x="777240" y="4133088"/>
            <a:ext cx="5120640" cy="1005840"/>
          </a:xfrm>
          <a:prstGeom prst="rect">
            <a:avLst/>
          </a:prstGeom>
          <a:noFill/>
          <a:ln/>
        </p:spPr>
        <p:txBody>
          <a:bodyPr wrap="square" lIns="0" tIns="0" rIns="0" bIns="0" rtlCol="0" anchor="t"/>
          <a:lstStyle/>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primes[0] = 2</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primes[1] = 3</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primes[2] = 5</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primes[3] = 7</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primes[4] = 11</a:t>
            </a:r>
            <a:endParaRPr lang="en-US" sz="1200" dirty="0"/>
          </a:p>
        </p:txBody>
      </p:sp>
      <p:sp>
        <p:nvSpPr>
          <p:cNvPr id="16" name="Shape 13"/>
          <p:cNvSpPr/>
          <p:nvPr/>
        </p:nvSpPr>
        <p:spPr>
          <a:xfrm>
            <a:off x="7178040" y="2011680"/>
            <a:ext cx="777240" cy="548640"/>
          </a:xfrm>
          <a:prstGeom prst="rect">
            <a:avLst/>
          </a:prstGeom>
          <a:solidFill>
            <a:srgbClr val="FFFFFF"/>
          </a:solidFill>
          <a:ln w="15875">
            <a:solidFill>
              <a:srgbClr val="14213D"/>
            </a:solidFill>
            <a:prstDash val="solid"/>
          </a:ln>
        </p:spPr>
      </p:sp>
      <p:sp>
        <p:nvSpPr>
          <p:cNvPr id="17" name="Text 14"/>
          <p:cNvSpPr txBox="1"/>
          <p:nvPr/>
        </p:nvSpPr>
        <p:spPr>
          <a:xfrm>
            <a:off x="7178040" y="2011680"/>
            <a:ext cx="777240" cy="548640"/>
          </a:xfrm>
          <a:prstGeom prst="rect">
            <a:avLst/>
          </a:prstGeom>
          <a:noFill/>
          <a:ln/>
        </p:spPr>
        <p:txBody>
          <a:bodyPr wrap="square" lIns="0" tIns="0" rIns="0" bIns="0" rtlCol="0" anchor="ctr"/>
          <a:lstStyle/>
          <a:p>
            <a:pPr algn="ctr" indent="0" marL="0">
              <a:buNone/>
            </a:pPr>
            <a:r>
              <a:rPr lang="en-US" sz="1700" b="1" dirty="0">
                <a:solidFill>
                  <a:srgbClr val="14213D"/>
                </a:solidFill>
                <a:latin typeface="Courier New" pitchFamily="34" charset="0"/>
                <a:ea typeface="Courier New" pitchFamily="34" charset="-122"/>
                <a:cs typeface="Courier New" pitchFamily="34" charset="-120"/>
              </a:rPr>
              <a:t>2</a:t>
            </a:r>
            <a:endParaRPr lang="en-US" sz="1700" dirty="0"/>
          </a:p>
        </p:txBody>
      </p:sp>
      <p:sp>
        <p:nvSpPr>
          <p:cNvPr id="18" name="Text 15"/>
          <p:cNvSpPr txBox="1"/>
          <p:nvPr/>
        </p:nvSpPr>
        <p:spPr>
          <a:xfrm>
            <a:off x="7178040" y="2587752"/>
            <a:ext cx="777240" cy="274320"/>
          </a:xfrm>
          <a:prstGeom prst="rect">
            <a:avLst/>
          </a:prstGeom>
          <a:noFill/>
          <a:ln/>
        </p:spPr>
        <p:txBody>
          <a:bodyPr wrap="square" lIns="0" tIns="0" rIns="0" bIns="0" rtlCol="0" anchor="ctr"/>
          <a:lstStyle/>
          <a:p>
            <a:pPr algn="ctr" indent="0" marL="0">
              <a:buNone/>
            </a:pPr>
            <a:r>
              <a:rPr lang="en-US" sz="1300" dirty="0">
                <a:solidFill>
                  <a:srgbClr val="5B6478"/>
                </a:solidFill>
                <a:latin typeface="Courier New" pitchFamily="34" charset="0"/>
                <a:ea typeface="Courier New" pitchFamily="34" charset="-122"/>
                <a:cs typeface="Courier New" pitchFamily="34" charset="-120"/>
              </a:rPr>
              <a:t>[0]</a:t>
            </a:r>
            <a:endParaRPr lang="en-US" sz="1300" dirty="0"/>
          </a:p>
        </p:txBody>
      </p:sp>
      <p:sp>
        <p:nvSpPr>
          <p:cNvPr id="19" name="Shape 16"/>
          <p:cNvSpPr/>
          <p:nvPr/>
        </p:nvSpPr>
        <p:spPr>
          <a:xfrm>
            <a:off x="7955280" y="2011680"/>
            <a:ext cx="777240" cy="548640"/>
          </a:xfrm>
          <a:prstGeom prst="rect">
            <a:avLst/>
          </a:prstGeom>
          <a:solidFill>
            <a:srgbClr val="FFFFFF"/>
          </a:solidFill>
          <a:ln w="15875">
            <a:solidFill>
              <a:srgbClr val="14213D"/>
            </a:solidFill>
            <a:prstDash val="solid"/>
          </a:ln>
        </p:spPr>
      </p:sp>
      <p:sp>
        <p:nvSpPr>
          <p:cNvPr id="20" name="Text 17"/>
          <p:cNvSpPr txBox="1"/>
          <p:nvPr/>
        </p:nvSpPr>
        <p:spPr>
          <a:xfrm>
            <a:off x="7955280" y="2011680"/>
            <a:ext cx="777240" cy="548640"/>
          </a:xfrm>
          <a:prstGeom prst="rect">
            <a:avLst/>
          </a:prstGeom>
          <a:noFill/>
          <a:ln/>
        </p:spPr>
        <p:txBody>
          <a:bodyPr wrap="square" lIns="0" tIns="0" rIns="0" bIns="0" rtlCol="0" anchor="ctr"/>
          <a:lstStyle/>
          <a:p>
            <a:pPr algn="ctr" indent="0" marL="0">
              <a:buNone/>
            </a:pPr>
            <a:r>
              <a:rPr lang="en-US" sz="1700" b="1" dirty="0">
                <a:solidFill>
                  <a:srgbClr val="14213D"/>
                </a:solidFill>
                <a:latin typeface="Courier New" pitchFamily="34" charset="0"/>
                <a:ea typeface="Courier New" pitchFamily="34" charset="-122"/>
                <a:cs typeface="Courier New" pitchFamily="34" charset="-120"/>
              </a:rPr>
              <a:t>3</a:t>
            </a:r>
            <a:endParaRPr lang="en-US" sz="1700" dirty="0"/>
          </a:p>
        </p:txBody>
      </p:sp>
      <p:sp>
        <p:nvSpPr>
          <p:cNvPr id="21" name="Text 18"/>
          <p:cNvSpPr txBox="1"/>
          <p:nvPr/>
        </p:nvSpPr>
        <p:spPr>
          <a:xfrm>
            <a:off x="7955280" y="2587752"/>
            <a:ext cx="777240" cy="274320"/>
          </a:xfrm>
          <a:prstGeom prst="rect">
            <a:avLst/>
          </a:prstGeom>
          <a:noFill/>
          <a:ln/>
        </p:spPr>
        <p:txBody>
          <a:bodyPr wrap="square" lIns="0" tIns="0" rIns="0" bIns="0" rtlCol="0" anchor="ctr"/>
          <a:lstStyle/>
          <a:p>
            <a:pPr algn="ctr" indent="0" marL="0">
              <a:buNone/>
            </a:pPr>
            <a:r>
              <a:rPr lang="en-US" sz="1300" dirty="0">
                <a:solidFill>
                  <a:srgbClr val="5B6478"/>
                </a:solidFill>
                <a:latin typeface="Courier New" pitchFamily="34" charset="0"/>
                <a:ea typeface="Courier New" pitchFamily="34" charset="-122"/>
                <a:cs typeface="Courier New" pitchFamily="34" charset="-120"/>
              </a:rPr>
              <a:t>[1]</a:t>
            </a:r>
            <a:endParaRPr lang="en-US" sz="1300" dirty="0"/>
          </a:p>
        </p:txBody>
      </p:sp>
      <p:sp>
        <p:nvSpPr>
          <p:cNvPr id="22" name="Shape 19"/>
          <p:cNvSpPr/>
          <p:nvPr/>
        </p:nvSpPr>
        <p:spPr>
          <a:xfrm>
            <a:off x="8732520" y="2011680"/>
            <a:ext cx="777240" cy="548640"/>
          </a:xfrm>
          <a:prstGeom prst="rect">
            <a:avLst/>
          </a:prstGeom>
          <a:solidFill>
            <a:srgbClr val="FFFFFF"/>
          </a:solidFill>
          <a:ln w="15875">
            <a:solidFill>
              <a:srgbClr val="14213D"/>
            </a:solidFill>
            <a:prstDash val="solid"/>
          </a:ln>
        </p:spPr>
      </p:sp>
      <p:sp>
        <p:nvSpPr>
          <p:cNvPr id="23" name="Text 20"/>
          <p:cNvSpPr txBox="1"/>
          <p:nvPr/>
        </p:nvSpPr>
        <p:spPr>
          <a:xfrm>
            <a:off x="8732520" y="2011680"/>
            <a:ext cx="777240" cy="548640"/>
          </a:xfrm>
          <a:prstGeom prst="rect">
            <a:avLst/>
          </a:prstGeom>
          <a:noFill/>
          <a:ln/>
        </p:spPr>
        <p:txBody>
          <a:bodyPr wrap="square" lIns="0" tIns="0" rIns="0" bIns="0" rtlCol="0" anchor="ctr"/>
          <a:lstStyle/>
          <a:p>
            <a:pPr algn="ctr" indent="0" marL="0">
              <a:buNone/>
            </a:pPr>
            <a:r>
              <a:rPr lang="en-US" sz="1700" b="1" dirty="0">
                <a:solidFill>
                  <a:srgbClr val="14213D"/>
                </a:solidFill>
                <a:latin typeface="Courier New" pitchFamily="34" charset="0"/>
                <a:ea typeface="Courier New" pitchFamily="34" charset="-122"/>
                <a:cs typeface="Courier New" pitchFamily="34" charset="-120"/>
              </a:rPr>
              <a:t>5</a:t>
            </a:r>
            <a:endParaRPr lang="en-US" sz="1700" dirty="0"/>
          </a:p>
        </p:txBody>
      </p:sp>
      <p:sp>
        <p:nvSpPr>
          <p:cNvPr id="24" name="Text 21"/>
          <p:cNvSpPr txBox="1"/>
          <p:nvPr/>
        </p:nvSpPr>
        <p:spPr>
          <a:xfrm>
            <a:off x="8732520" y="2587752"/>
            <a:ext cx="777240" cy="274320"/>
          </a:xfrm>
          <a:prstGeom prst="rect">
            <a:avLst/>
          </a:prstGeom>
          <a:noFill/>
          <a:ln/>
        </p:spPr>
        <p:txBody>
          <a:bodyPr wrap="square" lIns="0" tIns="0" rIns="0" bIns="0" rtlCol="0" anchor="ctr"/>
          <a:lstStyle/>
          <a:p>
            <a:pPr algn="ctr" indent="0" marL="0">
              <a:buNone/>
            </a:pPr>
            <a:r>
              <a:rPr lang="en-US" sz="1300" dirty="0">
                <a:solidFill>
                  <a:srgbClr val="5B6478"/>
                </a:solidFill>
                <a:latin typeface="Courier New" pitchFamily="34" charset="0"/>
                <a:ea typeface="Courier New" pitchFamily="34" charset="-122"/>
                <a:cs typeface="Courier New" pitchFamily="34" charset="-120"/>
              </a:rPr>
              <a:t>[2]</a:t>
            </a:r>
            <a:endParaRPr lang="en-US" sz="1300" dirty="0"/>
          </a:p>
        </p:txBody>
      </p:sp>
      <p:sp>
        <p:nvSpPr>
          <p:cNvPr id="25" name="Shape 22"/>
          <p:cNvSpPr/>
          <p:nvPr/>
        </p:nvSpPr>
        <p:spPr>
          <a:xfrm>
            <a:off x="9509760" y="2011680"/>
            <a:ext cx="777240" cy="548640"/>
          </a:xfrm>
          <a:prstGeom prst="rect">
            <a:avLst/>
          </a:prstGeom>
          <a:solidFill>
            <a:srgbClr val="FFFFFF"/>
          </a:solidFill>
          <a:ln w="15875">
            <a:solidFill>
              <a:srgbClr val="14213D"/>
            </a:solidFill>
            <a:prstDash val="solid"/>
          </a:ln>
        </p:spPr>
      </p:sp>
      <p:sp>
        <p:nvSpPr>
          <p:cNvPr id="26" name="Text 23"/>
          <p:cNvSpPr txBox="1"/>
          <p:nvPr/>
        </p:nvSpPr>
        <p:spPr>
          <a:xfrm>
            <a:off x="9509760" y="2011680"/>
            <a:ext cx="777240" cy="548640"/>
          </a:xfrm>
          <a:prstGeom prst="rect">
            <a:avLst/>
          </a:prstGeom>
          <a:noFill/>
          <a:ln/>
        </p:spPr>
        <p:txBody>
          <a:bodyPr wrap="square" lIns="0" tIns="0" rIns="0" bIns="0" rtlCol="0" anchor="ctr"/>
          <a:lstStyle/>
          <a:p>
            <a:pPr algn="ctr" indent="0" marL="0">
              <a:buNone/>
            </a:pPr>
            <a:r>
              <a:rPr lang="en-US" sz="1700" b="1" dirty="0">
                <a:solidFill>
                  <a:srgbClr val="14213D"/>
                </a:solidFill>
                <a:latin typeface="Courier New" pitchFamily="34" charset="0"/>
                <a:ea typeface="Courier New" pitchFamily="34" charset="-122"/>
                <a:cs typeface="Courier New" pitchFamily="34" charset="-120"/>
              </a:rPr>
              <a:t>7</a:t>
            </a:r>
            <a:endParaRPr lang="en-US" sz="1700" dirty="0"/>
          </a:p>
        </p:txBody>
      </p:sp>
      <p:sp>
        <p:nvSpPr>
          <p:cNvPr id="27" name="Text 24"/>
          <p:cNvSpPr txBox="1"/>
          <p:nvPr/>
        </p:nvSpPr>
        <p:spPr>
          <a:xfrm>
            <a:off x="9509760" y="2587752"/>
            <a:ext cx="777240" cy="274320"/>
          </a:xfrm>
          <a:prstGeom prst="rect">
            <a:avLst/>
          </a:prstGeom>
          <a:noFill/>
          <a:ln/>
        </p:spPr>
        <p:txBody>
          <a:bodyPr wrap="square" lIns="0" tIns="0" rIns="0" bIns="0" rtlCol="0" anchor="ctr"/>
          <a:lstStyle/>
          <a:p>
            <a:pPr algn="ctr" indent="0" marL="0">
              <a:buNone/>
            </a:pPr>
            <a:r>
              <a:rPr lang="en-US" sz="1300" dirty="0">
                <a:solidFill>
                  <a:srgbClr val="5B6478"/>
                </a:solidFill>
                <a:latin typeface="Courier New" pitchFamily="34" charset="0"/>
                <a:ea typeface="Courier New" pitchFamily="34" charset="-122"/>
                <a:cs typeface="Courier New" pitchFamily="34" charset="-120"/>
              </a:rPr>
              <a:t>[3]</a:t>
            </a:r>
            <a:endParaRPr lang="en-US" sz="1300" dirty="0"/>
          </a:p>
        </p:txBody>
      </p:sp>
      <p:sp>
        <p:nvSpPr>
          <p:cNvPr id="28" name="Shape 25"/>
          <p:cNvSpPr/>
          <p:nvPr/>
        </p:nvSpPr>
        <p:spPr>
          <a:xfrm>
            <a:off x="10287000" y="2011680"/>
            <a:ext cx="777240" cy="548640"/>
          </a:xfrm>
          <a:prstGeom prst="rect">
            <a:avLst/>
          </a:prstGeom>
          <a:solidFill>
            <a:srgbClr val="FFFFFF"/>
          </a:solidFill>
          <a:ln w="15875">
            <a:solidFill>
              <a:srgbClr val="14213D"/>
            </a:solidFill>
            <a:prstDash val="solid"/>
          </a:ln>
        </p:spPr>
      </p:sp>
      <p:sp>
        <p:nvSpPr>
          <p:cNvPr id="29" name="Text 26"/>
          <p:cNvSpPr txBox="1"/>
          <p:nvPr/>
        </p:nvSpPr>
        <p:spPr>
          <a:xfrm>
            <a:off x="10287000" y="2011680"/>
            <a:ext cx="777240" cy="548640"/>
          </a:xfrm>
          <a:prstGeom prst="rect">
            <a:avLst/>
          </a:prstGeom>
          <a:noFill/>
          <a:ln/>
        </p:spPr>
        <p:txBody>
          <a:bodyPr wrap="square" lIns="0" tIns="0" rIns="0" bIns="0" rtlCol="0" anchor="ctr"/>
          <a:lstStyle/>
          <a:p>
            <a:pPr algn="ctr" indent="0" marL="0">
              <a:buNone/>
            </a:pPr>
            <a:r>
              <a:rPr lang="en-US" sz="1700" b="1" dirty="0">
                <a:solidFill>
                  <a:srgbClr val="14213D"/>
                </a:solidFill>
                <a:latin typeface="Courier New" pitchFamily="34" charset="0"/>
                <a:ea typeface="Courier New" pitchFamily="34" charset="-122"/>
                <a:cs typeface="Courier New" pitchFamily="34" charset="-120"/>
              </a:rPr>
              <a:t>11</a:t>
            </a:r>
            <a:endParaRPr lang="en-US" sz="1700" dirty="0"/>
          </a:p>
        </p:txBody>
      </p:sp>
      <p:sp>
        <p:nvSpPr>
          <p:cNvPr id="30" name="Text 27"/>
          <p:cNvSpPr txBox="1"/>
          <p:nvPr/>
        </p:nvSpPr>
        <p:spPr>
          <a:xfrm>
            <a:off x="10287000" y="2587752"/>
            <a:ext cx="777240" cy="274320"/>
          </a:xfrm>
          <a:prstGeom prst="rect">
            <a:avLst/>
          </a:prstGeom>
          <a:noFill/>
          <a:ln/>
        </p:spPr>
        <p:txBody>
          <a:bodyPr wrap="square" lIns="0" tIns="0" rIns="0" bIns="0" rtlCol="0" anchor="ctr"/>
          <a:lstStyle/>
          <a:p>
            <a:pPr algn="ctr" indent="0" marL="0">
              <a:buNone/>
            </a:pPr>
            <a:r>
              <a:rPr lang="en-US" sz="1300" dirty="0">
                <a:solidFill>
                  <a:srgbClr val="5B6478"/>
                </a:solidFill>
                <a:latin typeface="Courier New" pitchFamily="34" charset="0"/>
                <a:ea typeface="Courier New" pitchFamily="34" charset="-122"/>
                <a:cs typeface="Courier New" pitchFamily="34" charset="-120"/>
              </a:rPr>
              <a:t>[4]</a:t>
            </a:r>
            <a:endParaRPr lang="en-US" sz="1300" dirty="0"/>
          </a:p>
        </p:txBody>
      </p:sp>
      <p:sp>
        <p:nvSpPr>
          <p:cNvPr id="31" name="Text 28"/>
          <p:cNvSpPr txBox="1"/>
          <p:nvPr/>
        </p:nvSpPr>
        <p:spPr>
          <a:xfrm>
            <a:off x="6153912" y="2011680"/>
            <a:ext cx="914400" cy="548640"/>
          </a:xfrm>
          <a:prstGeom prst="rect">
            <a:avLst/>
          </a:prstGeom>
          <a:noFill/>
          <a:ln/>
        </p:spPr>
        <p:txBody>
          <a:bodyPr wrap="square" lIns="0" tIns="0" rIns="0" bIns="0" rtlCol="0" anchor="ctr"/>
          <a:lstStyle/>
          <a:p>
            <a:pPr algn="r" indent="0" marL="0">
              <a:buNone/>
            </a:pPr>
            <a:r>
              <a:rPr lang="en-US" sz="1600" b="1" dirty="0">
                <a:solidFill>
                  <a:srgbClr val="14213D"/>
                </a:solidFill>
                <a:latin typeface="Courier New" pitchFamily="34" charset="0"/>
                <a:ea typeface="Courier New" pitchFamily="34" charset="-122"/>
                <a:cs typeface="Courier New" pitchFamily="34" charset="-120"/>
              </a:rPr>
              <a:t>primes</a:t>
            </a:r>
            <a:endParaRPr lang="en-US" sz="1600" dirty="0"/>
          </a:p>
        </p:txBody>
      </p:sp>
      <p:sp>
        <p:nvSpPr>
          <p:cNvPr id="32" name="Shape 29"/>
          <p:cNvSpPr/>
          <p:nvPr/>
        </p:nvSpPr>
        <p:spPr>
          <a:xfrm>
            <a:off x="8983980" y="2880360"/>
            <a:ext cx="274320" cy="365760"/>
          </a:xfrm>
          <a:prstGeom prst="upArrow">
            <a:avLst/>
          </a:prstGeom>
          <a:solidFill>
            <a:srgbClr val="FCA311"/>
          </a:solidFill>
          <a:ln w="12700">
            <a:solidFill>
              <a:srgbClr val="FCA311"/>
            </a:solidFill>
            <a:prstDash val="solid"/>
          </a:ln>
        </p:spPr>
      </p:sp>
      <p:sp>
        <p:nvSpPr>
          <p:cNvPr id="33" name="Text 30"/>
          <p:cNvSpPr txBox="1"/>
          <p:nvPr/>
        </p:nvSpPr>
        <p:spPr>
          <a:xfrm>
            <a:off x="8572500" y="3246120"/>
            <a:ext cx="1097280" cy="274320"/>
          </a:xfrm>
          <a:prstGeom prst="rect">
            <a:avLst/>
          </a:prstGeom>
          <a:noFill/>
          <a:ln/>
        </p:spPr>
        <p:txBody>
          <a:bodyPr wrap="square" lIns="0" tIns="0" rIns="0" bIns="0" rtlCol="0" anchor="ctr"/>
          <a:lstStyle/>
          <a:p>
            <a:pPr algn="ctr" indent="0" marL="0">
              <a:buNone/>
            </a:pPr>
            <a:r>
              <a:rPr lang="en-US" sz="1400" b="1" dirty="0">
                <a:solidFill>
                  <a:srgbClr val="B7791F"/>
                </a:solidFill>
                <a:latin typeface="Courier New" pitchFamily="34" charset="0"/>
                <a:ea typeface="Courier New" pitchFamily="34" charset="-122"/>
                <a:cs typeface="Courier New" pitchFamily="34" charset="-120"/>
              </a:rPr>
              <a:t>i = 2</a:t>
            </a:r>
            <a:endParaRPr lang="en-US" sz="14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400800" y="3657600"/>
          <a:ext cx="5257800" cy="914400"/>
        </p:xfrm>
        <a:graphic>
          <a:graphicData uri="http://schemas.openxmlformats.org/drawingml/2006/table">
            <a:tbl>
              <a:tblPr/>
              <a:tblGrid>
                <a:gridCol w="1005840"/>
                <a:gridCol w="1188720"/>
                <a:gridCol w="3063240"/>
              </a:tblGrid>
              <a:tr h="384048">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i</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i &lt; 5 ?</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action</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384048">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0</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true</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print primes[0]</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84048">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1 … 4</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true</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print primes[1] … [4]</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384048">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5</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false</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loop ends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bl>
          </a:graphicData>
        </a:graphic>
      </p:graphicFrame>
      <p:sp>
        <p:nvSpPr>
          <p:cNvPr id="35" name="Shape 31"/>
          <p:cNvSpPr/>
          <p:nvPr/>
        </p:nvSpPr>
        <p:spPr>
          <a:xfrm>
            <a:off x="548640" y="5394960"/>
            <a:ext cx="11109960" cy="685800"/>
          </a:xfrm>
          <a:prstGeom prst="roundRect">
            <a:avLst>
              <a:gd name="adj" fmla="val 16000"/>
            </a:avLst>
          </a:prstGeom>
          <a:solidFill>
            <a:srgbClr val="FBE9E7"/>
          </a:solidFill>
          <a:ln w="12700">
            <a:solidFill>
              <a:srgbClr val="FBE9E7"/>
            </a:solidFill>
            <a:prstDash val="solid"/>
          </a:ln>
        </p:spPr>
      </p:sp>
      <p:pic>
        <p:nvPicPr>
          <p:cNvPr id="36" name="Image 0" descr="preencoded.png">    </p:cNvPr>
          <p:cNvPicPr>
            <a:picLocks noChangeAspect="1"/>
          </p:cNvPicPr>
          <p:nvPr/>
        </p:nvPicPr>
        <p:blipFill>
          <a:blip r:embed="rId1"/>
          <a:stretch>
            <a:fillRect/>
          </a:stretch>
        </p:blipFill>
        <p:spPr>
          <a:xfrm>
            <a:off x="822960" y="5532120"/>
            <a:ext cx="411480" cy="411480"/>
          </a:xfrm>
          <a:prstGeom prst="rect">
            <a:avLst/>
          </a:prstGeom>
        </p:spPr>
      </p:pic>
      <p:sp>
        <p:nvSpPr>
          <p:cNvPr id="37" name="Text 32"/>
          <p:cNvSpPr txBox="1"/>
          <p:nvPr/>
        </p:nvSpPr>
        <p:spPr>
          <a:xfrm>
            <a:off x="1508760" y="5468112"/>
            <a:ext cx="9875520" cy="539496"/>
          </a:xfrm>
          <a:prstGeom prst="rect">
            <a:avLst/>
          </a:prstGeom>
          <a:noFill/>
          <a:ln/>
        </p:spPr>
        <p:txBody>
          <a:bodyPr wrap="square" lIns="0" tIns="0" rIns="0" bIns="0" rtlCol="0" anchor="ctr"/>
          <a:lstStyle/>
          <a:p>
            <a:pPr indent="0" marL="0">
              <a:buNone/>
            </a:pPr>
            <a:r>
              <a:rPr lang="en-US" sz="1400" b="1" dirty="0">
                <a:solidFill>
                  <a:srgbClr val="C8453B"/>
                </a:solidFill>
                <a:latin typeface="Courier New" pitchFamily="34" charset="0"/>
                <a:ea typeface="Courier New" pitchFamily="34" charset="-122"/>
                <a:cs typeface="Courier New" pitchFamily="34" charset="-120"/>
              </a:rPr>
              <a:t>for (int i = 0; i &lt;= a.Length; i++)  </a:t>
            </a:r>
            <a:pPr indent="0" marL="0">
              <a:buNone/>
            </a:pPr>
            <a:r>
              <a:rPr lang="en-US" sz="1400" dirty="0">
                <a:solidFill>
                  <a:srgbClr val="333B4F"/>
                </a:solidFill>
                <a:latin typeface="Calibri" pitchFamily="34" charset="0"/>
                <a:ea typeface="Calibri" pitchFamily="34" charset="-122"/>
                <a:cs typeface="Calibri" pitchFamily="34" charset="-120"/>
              </a:rPr>
              <a:t>→ one pass too many → IndexOutOfRangeException.</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TRAVERSAL WITH FOREACH</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foreach: Every Value, No Index</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9</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17</a:t>
            </a:r>
            <a:endParaRPr lang="en-US" sz="1000" dirty="0"/>
          </a:p>
        </p:txBody>
      </p:sp>
      <p:sp>
        <p:nvSpPr>
          <p:cNvPr id="7" name="Shape 4"/>
          <p:cNvSpPr/>
          <p:nvPr/>
        </p:nvSpPr>
        <p:spPr>
          <a:xfrm>
            <a:off x="548640" y="1645920"/>
            <a:ext cx="5394960" cy="1920240"/>
          </a:xfrm>
          <a:prstGeom prst="roundRect">
            <a:avLst>
              <a:gd name="adj" fmla="val 4762"/>
            </a:avLst>
          </a:prstGeom>
          <a:solidFill>
            <a:srgbClr val="0F1729"/>
          </a:solidFill>
          <a:ln w="12700">
            <a:solidFill>
              <a:srgbClr val="0F1729"/>
            </a:solidFill>
            <a:prstDash val="solid"/>
          </a:ln>
        </p:spPr>
      </p:sp>
      <p:sp>
        <p:nvSpPr>
          <p:cNvPr id="8" name="Text 5"/>
          <p:cNvSpPr txBox="1"/>
          <p:nvPr/>
        </p:nvSpPr>
        <p:spPr>
          <a:xfrm>
            <a:off x="777240" y="1755648"/>
            <a:ext cx="493776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09_01_ArrayBasics</a:t>
            </a:r>
            <a:endParaRPr lang="en-US" sz="1100" dirty="0"/>
          </a:p>
        </p:txBody>
      </p:sp>
      <p:sp>
        <p:nvSpPr>
          <p:cNvPr id="9" name="Text 6"/>
          <p:cNvSpPr txBox="1"/>
          <p:nvPr/>
        </p:nvSpPr>
        <p:spPr>
          <a:xfrm>
            <a:off x="777240" y="2057400"/>
            <a:ext cx="4937760" cy="1399032"/>
          </a:xfrm>
          <a:prstGeom prst="rect">
            <a:avLst/>
          </a:prstGeom>
          <a:noFill/>
          <a:ln/>
        </p:spPr>
        <p:txBody>
          <a:bodyPr wrap="square" lIns="0" tIns="0" rIns="0" bIns="0" rtlCol="0" anchor="t"/>
          <a:lstStyle/>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string</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days = </a:t>
            </a:r>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new</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300" dirty="0">
                <a:solidFill>
                  <a:srgbClr val="CE9178"/>
                </a:solidFill>
                <a:latin typeface="Courier New" pitchFamily="34" charset="0"/>
                <a:ea typeface="Courier New" pitchFamily="34" charset="-122"/>
                <a:cs typeface="Courier New" pitchFamily="34" charset="-120"/>
              </a:rPr>
              <a:t>"Mon"</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CE9178"/>
                </a:solidFill>
                <a:latin typeface="Courier New" pitchFamily="34" charset="0"/>
                <a:ea typeface="Courier New" pitchFamily="34" charset="-122"/>
                <a:cs typeface="Courier New" pitchFamily="34" charset="-120"/>
              </a:rPr>
              <a:t>"Tue"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CE9178"/>
                </a:solidFill>
                <a:latin typeface="Courier New" pitchFamily="34" charset="0"/>
                <a:ea typeface="Courier New" pitchFamily="34" charset="-122"/>
                <a:cs typeface="Courier New" pitchFamily="34" charset="-120"/>
              </a:rPr>
              <a:t>"Wed"</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foreach</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string</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day </a:t>
            </a:r>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in</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days)</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.Write(day + </a:t>
            </a:r>
            <a:pPr indent="0" marL="0">
              <a:spcAft>
                <a:spcPts val="100"/>
              </a:spcAft>
              <a:buNone/>
            </a:pPr>
            <a:r>
              <a:rPr lang="en-US" sz="1300" dirty="0">
                <a:solidFill>
                  <a:srgbClr val="CE9178"/>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p:txBody>
      </p:sp>
      <p:sp>
        <p:nvSpPr>
          <p:cNvPr id="10" name="Shape 7"/>
          <p:cNvSpPr/>
          <p:nvPr/>
        </p:nvSpPr>
        <p:spPr>
          <a:xfrm>
            <a:off x="548640" y="3657600"/>
            <a:ext cx="5394960" cy="685800"/>
          </a:xfrm>
          <a:prstGeom prst="roundRect">
            <a:avLst>
              <a:gd name="adj" fmla="val 13333"/>
            </a:avLst>
          </a:prstGeom>
          <a:solidFill>
            <a:srgbClr val="0B0F19"/>
          </a:solidFill>
          <a:ln w="12700">
            <a:solidFill>
              <a:srgbClr val="2A3654"/>
            </a:solidFill>
            <a:prstDash val="solid"/>
          </a:ln>
        </p:spPr>
      </p:sp>
      <p:sp>
        <p:nvSpPr>
          <p:cNvPr id="11" name="Shape 8"/>
          <p:cNvSpPr/>
          <p:nvPr/>
        </p:nvSpPr>
        <p:spPr>
          <a:xfrm>
            <a:off x="731520" y="3785616"/>
            <a:ext cx="118872" cy="118872"/>
          </a:xfrm>
          <a:prstGeom prst="ellipse">
            <a:avLst/>
          </a:prstGeom>
          <a:solidFill>
            <a:srgbClr val="FF5F57"/>
          </a:solidFill>
          <a:ln w="12700">
            <a:solidFill>
              <a:srgbClr val="FF5F57"/>
            </a:solidFill>
            <a:prstDash val="solid"/>
          </a:ln>
        </p:spPr>
      </p:sp>
      <p:sp>
        <p:nvSpPr>
          <p:cNvPr id="12" name="Shape 9"/>
          <p:cNvSpPr/>
          <p:nvPr/>
        </p:nvSpPr>
        <p:spPr>
          <a:xfrm>
            <a:off x="960120" y="3785616"/>
            <a:ext cx="118872" cy="118872"/>
          </a:xfrm>
          <a:prstGeom prst="ellipse">
            <a:avLst/>
          </a:prstGeom>
          <a:solidFill>
            <a:srgbClr val="FEBC2E"/>
          </a:solidFill>
          <a:ln w="12700">
            <a:solidFill>
              <a:srgbClr val="FEBC2E"/>
            </a:solidFill>
            <a:prstDash val="solid"/>
          </a:ln>
        </p:spPr>
      </p:sp>
      <p:sp>
        <p:nvSpPr>
          <p:cNvPr id="13" name="Shape 10"/>
          <p:cNvSpPr/>
          <p:nvPr/>
        </p:nvSpPr>
        <p:spPr>
          <a:xfrm>
            <a:off x="1188720" y="3785616"/>
            <a:ext cx="118872" cy="118872"/>
          </a:xfrm>
          <a:prstGeom prst="ellipse">
            <a:avLst/>
          </a:prstGeom>
          <a:solidFill>
            <a:srgbClr val="28C840"/>
          </a:solidFill>
          <a:ln w="12700">
            <a:solidFill>
              <a:srgbClr val="28C840"/>
            </a:solidFill>
            <a:prstDash val="solid"/>
          </a:ln>
        </p:spPr>
      </p:sp>
      <p:sp>
        <p:nvSpPr>
          <p:cNvPr id="14" name="Text 11"/>
          <p:cNvSpPr txBox="1"/>
          <p:nvPr/>
        </p:nvSpPr>
        <p:spPr>
          <a:xfrm>
            <a:off x="1463040" y="3730752"/>
            <a:ext cx="429768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15" name="Text 12"/>
          <p:cNvSpPr txBox="1"/>
          <p:nvPr/>
        </p:nvSpPr>
        <p:spPr>
          <a:xfrm>
            <a:off x="777240" y="4041648"/>
            <a:ext cx="4937760" cy="182880"/>
          </a:xfrm>
          <a:prstGeom prst="rect">
            <a:avLst/>
          </a:prstGeom>
          <a:noFill/>
          <a:ln/>
        </p:spPr>
        <p:txBody>
          <a:bodyPr wrap="square" lIns="0" tIns="0" rIns="0" bIns="0" rtlCol="0" anchor="t"/>
          <a:lstStyle/>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Mon Tue Wed </a:t>
            </a:r>
            <a:endParaRPr lang="en-US" sz="1300" dirty="0"/>
          </a:p>
        </p:txBody>
      </p:sp>
      <p:sp>
        <p:nvSpPr>
          <p:cNvPr id="16" name="Shape 13"/>
          <p:cNvSpPr/>
          <p:nvPr/>
        </p:nvSpPr>
        <p:spPr>
          <a:xfrm>
            <a:off x="548640" y="4480560"/>
            <a:ext cx="5394960" cy="1600200"/>
          </a:xfrm>
          <a:prstGeom prst="roundRect">
            <a:avLst>
              <a:gd name="adj" fmla="val 5714"/>
            </a:avLst>
          </a:prstGeom>
          <a:solidFill>
            <a:srgbClr val="0F1729"/>
          </a:solidFill>
          <a:ln w="12700">
            <a:solidFill>
              <a:srgbClr val="0F1729"/>
            </a:solidFill>
            <a:prstDash val="solid"/>
          </a:ln>
        </p:spPr>
      </p:sp>
      <p:sp>
        <p:nvSpPr>
          <p:cNvPr id="17" name="Text 14"/>
          <p:cNvSpPr txBox="1"/>
          <p:nvPr/>
        </p:nvSpPr>
        <p:spPr>
          <a:xfrm>
            <a:off x="777240" y="4590288"/>
            <a:ext cx="493776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Not allowed</a:t>
            </a:r>
            <a:endParaRPr lang="en-US" sz="1100" dirty="0"/>
          </a:p>
        </p:txBody>
      </p:sp>
      <p:sp>
        <p:nvSpPr>
          <p:cNvPr id="18" name="Text 15"/>
          <p:cNvSpPr txBox="1"/>
          <p:nvPr/>
        </p:nvSpPr>
        <p:spPr>
          <a:xfrm>
            <a:off x="777240" y="4892040"/>
            <a:ext cx="4937760" cy="1078992"/>
          </a:xfrm>
          <a:prstGeom prst="rect">
            <a:avLst/>
          </a:prstGeom>
          <a:noFill/>
          <a:ln/>
        </p:spPr>
        <p:txBody>
          <a:bodyPr wrap="square" lIns="0" tIns="0" rIns="0" bIns="0" rtlCol="0" anchor="t"/>
          <a:lstStyle/>
          <a:p>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foreach</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x </a:t>
            </a:r>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in</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x = x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2</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7F8BA3"/>
                </a:solidFill>
                <a:latin typeface="Courier New" pitchFamily="34" charset="0"/>
                <a:ea typeface="Courier New" pitchFamily="34" charset="-122"/>
                <a:cs typeface="Courier New" pitchFamily="34" charset="-120"/>
              </a:rPr>
              <a:t>// compile error</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p:txBody>
      </p:sp>
      <p:sp>
        <p:nvSpPr>
          <p:cNvPr id="19" name="Shape 16"/>
          <p:cNvSpPr/>
          <p:nvPr/>
        </p:nvSpPr>
        <p:spPr>
          <a:xfrm>
            <a:off x="6217920" y="4480560"/>
            <a:ext cx="5440680" cy="1600200"/>
          </a:xfrm>
          <a:prstGeom prst="roundRect">
            <a:avLst>
              <a:gd name="adj" fmla="val 5714"/>
            </a:avLst>
          </a:prstGeom>
          <a:solidFill>
            <a:srgbClr val="0B0F19"/>
          </a:solidFill>
          <a:ln w="12700">
            <a:solidFill>
              <a:srgbClr val="2A3654"/>
            </a:solidFill>
            <a:prstDash val="solid"/>
          </a:ln>
        </p:spPr>
      </p:sp>
      <p:sp>
        <p:nvSpPr>
          <p:cNvPr id="20" name="Shape 17"/>
          <p:cNvSpPr/>
          <p:nvPr/>
        </p:nvSpPr>
        <p:spPr>
          <a:xfrm>
            <a:off x="6400800" y="4608576"/>
            <a:ext cx="118872" cy="118872"/>
          </a:xfrm>
          <a:prstGeom prst="ellipse">
            <a:avLst/>
          </a:prstGeom>
          <a:solidFill>
            <a:srgbClr val="FF5F57"/>
          </a:solidFill>
          <a:ln w="12700">
            <a:solidFill>
              <a:srgbClr val="FF5F57"/>
            </a:solidFill>
            <a:prstDash val="solid"/>
          </a:ln>
        </p:spPr>
      </p:sp>
      <p:sp>
        <p:nvSpPr>
          <p:cNvPr id="21" name="Shape 18"/>
          <p:cNvSpPr/>
          <p:nvPr/>
        </p:nvSpPr>
        <p:spPr>
          <a:xfrm>
            <a:off x="6629400" y="4608576"/>
            <a:ext cx="118872" cy="118872"/>
          </a:xfrm>
          <a:prstGeom prst="ellipse">
            <a:avLst/>
          </a:prstGeom>
          <a:solidFill>
            <a:srgbClr val="FEBC2E"/>
          </a:solidFill>
          <a:ln w="12700">
            <a:solidFill>
              <a:srgbClr val="FEBC2E"/>
            </a:solidFill>
            <a:prstDash val="solid"/>
          </a:ln>
        </p:spPr>
      </p:sp>
      <p:sp>
        <p:nvSpPr>
          <p:cNvPr id="22" name="Shape 19"/>
          <p:cNvSpPr/>
          <p:nvPr/>
        </p:nvSpPr>
        <p:spPr>
          <a:xfrm>
            <a:off x="6858000" y="4608576"/>
            <a:ext cx="118872" cy="118872"/>
          </a:xfrm>
          <a:prstGeom prst="ellipse">
            <a:avLst/>
          </a:prstGeom>
          <a:solidFill>
            <a:srgbClr val="28C840"/>
          </a:solidFill>
          <a:ln w="12700">
            <a:solidFill>
              <a:srgbClr val="28C840"/>
            </a:solidFill>
            <a:prstDash val="solid"/>
          </a:ln>
        </p:spPr>
      </p:sp>
      <p:sp>
        <p:nvSpPr>
          <p:cNvPr id="23" name="Text 20"/>
          <p:cNvSpPr txBox="1"/>
          <p:nvPr/>
        </p:nvSpPr>
        <p:spPr>
          <a:xfrm>
            <a:off x="7132320" y="4553712"/>
            <a:ext cx="434340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dotnet build</a:t>
            </a:r>
            <a:endParaRPr lang="en-US" sz="1000" dirty="0"/>
          </a:p>
        </p:txBody>
      </p:sp>
      <p:sp>
        <p:nvSpPr>
          <p:cNvPr id="24" name="Text 21"/>
          <p:cNvSpPr txBox="1"/>
          <p:nvPr/>
        </p:nvSpPr>
        <p:spPr>
          <a:xfrm>
            <a:off x="6446520" y="4864608"/>
            <a:ext cx="4983480" cy="1097280"/>
          </a:xfrm>
          <a:prstGeom prst="rect">
            <a:avLst/>
          </a:prstGeom>
          <a:noFill/>
          <a:ln/>
        </p:spPr>
        <p:txBody>
          <a:bodyPr wrap="square" lIns="0" tIns="0" rIns="0" bIns="0" rtlCol="0" anchor="t"/>
          <a:lstStyle/>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error CS1656: Cannot assign to 'x'</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because it is a 'foreach iteration</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variable'</a:t>
            </a:r>
            <a:endParaRPr lang="en-US" sz="13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217920" y="1645920"/>
          <a:ext cx="5440680" cy="914400"/>
        </p:xfrm>
        <a:graphic>
          <a:graphicData uri="http://schemas.openxmlformats.org/drawingml/2006/table">
            <a:tbl>
              <a:tblPr/>
              <a:tblGrid>
                <a:gridCol w="1965960"/>
                <a:gridCol w="1783080"/>
                <a:gridCol w="1691640"/>
              </a:tblGrid>
              <a:tr h="457200">
                <a:tc>
                  <a:txBody>
                    <a:bodyPr/>
                    <a:lstStyle/>
                    <a:p>
                      <a:pPr algn="ctr" indent="0" marL="0">
                        <a:buNone/>
                      </a:pP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for</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foreach</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457200">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index available</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yes: i</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57200">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can change elements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yes: a[i] = …</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no (read-only)</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57200">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neighbours a[i − 1]</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57200">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out-of-range risk</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57200">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use it to …</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fill, change, compare</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read every value</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INPUT AND OUTPUT</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Reading N Values · Printing an Array</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9</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18</a:t>
            </a:r>
            <a:endParaRPr lang="en-US" sz="1000" dirty="0"/>
          </a:p>
        </p:txBody>
      </p:sp>
      <p:sp>
        <p:nvSpPr>
          <p:cNvPr id="7" name="Text 4"/>
          <p:cNvSpPr txBox="1"/>
          <p:nvPr/>
        </p:nvSpPr>
        <p:spPr>
          <a:xfrm>
            <a:off x="548640" y="1572768"/>
            <a:ext cx="5486400" cy="329184"/>
          </a:xfrm>
          <a:prstGeom prst="rect">
            <a:avLst/>
          </a:prstGeom>
          <a:noFill/>
          <a:ln/>
        </p:spPr>
        <p:txBody>
          <a:bodyPr wrap="square" lIns="0" tIns="0" rIns="0" bIns="0"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Reading (09_02_GradeStats)</a:t>
            </a:r>
            <a:endParaRPr lang="en-US" sz="1600" dirty="0"/>
          </a:p>
        </p:txBody>
      </p:sp>
      <p:sp>
        <p:nvSpPr>
          <p:cNvPr id="8" name="Shape 5"/>
          <p:cNvSpPr/>
          <p:nvPr/>
        </p:nvSpPr>
        <p:spPr>
          <a:xfrm>
            <a:off x="548640" y="1920240"/>
            <a:ext cx="5486400" cy="2514600"/>
          </a:xfrm>
          <a:prstGeom prst="roundRect">
            <a:avLst>
              <a:gd name="adj" fmla="val 3636"/>
            </a:avLst>
          </a:prstGeom>
          <a:solidFill>
            <a:srgbClr val="0F1729"/>
          </a:solidFill>
          <a:ln w="12700">
            <a:solidFill>
              <a:srgbClr val="0F1729"/>
            </a:solidFill>
            <a:prstDash val="solid"/>
          </a:ln>
        </p:spPr>
      </p:sp>
      <p:sp>
        <p:nvSpPr>
          <p:cNvPr id="9" name="Text 6"/>
          <p:cNvSpPr txBox="1"/>
          <p:nvPr/>
        </p:nvSpPr>
        <p:spPr>
          <a:xfrm>
            <a:off x="777240" y="2084832"/>
            <a:ext cx="5029200" cy="2240280"/>
          </a:xfrm>
          <a:prstGeom prst="rect">
            <a:avLst/>
          </a:prstGeom>
          <a:noFill/>
          <a:ln/>
        </p:spPr>
        <p:txBody>
          <a:bodyPr wrap="square" lIns="0" tIns="0" rIns="0" bIns="0" rtlCol="0" anchor="t"/>
          <a:lstStyle/>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grades = </a:t>
            </a:r>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new</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[n];</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indent="0" marL="0">
              <a:spcAft>
                <a:spcPts val="100"/>
              </a:spcAft>
              <a:buNone/>
            </a:pPr>
            <a:r>
              <a:rPr lang="en-US" sz="1300" dirty="0">
                <a:solidFill>
                  <a:srgbClr val="7F8BA3"/>
                </a:solidFill>
                <a:latin typeface="Courier New" pitchFamily="34" charset="0"/>
                <a:ea typeface="Courier New" pitchFamily="34" charset="-122"/>
                <a:cs typeface="Courier New" pitchFamily="34" charset="-120"/>
              </a:rPr>
              <a:t>// Pass 1: read and store every grade</a:t>
            </a:r>
            <a:endParaRPr lang="en-US" sz="1300" dirty="0"/>
          </a:p>
          <a:p>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i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i &lt; n; i++)</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300" dirty="0">
                <a:solidFill>
                  <a:srgbClr val="CE9178"/>
                </a:solidFill>
                <a:latin typeface="Courier New" pitchFamily="34" charset="0"/>
                <a:ea typeface="Courier New" pitchFamily="34" charset="-122"/>
                <a:cs typeface="Courier New" pitchFamily="34" charset="-120"/>
              </a:rPr>
              <a:t>$"Grade {i + 1}: "</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grades[i] =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.Parse(</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.ReadLine());</a:t>
            </a:r>
            <a:endParaRPr lang="en-US" sz="1300" dirty="0"/>
          </a:p>
        </p:txBody>
      </p:sp>
      <p:sp>
        <p:nvSpPr>
          <p:cNvPr id="10" name="Shape 7"/>
          <p:cNvSpPr/>
          <p:nvPr/>
        </p:nvSpPr>
        <p:spPr>
          <a:xfrm>
            <a:off x="548640" y="4572000"/>
            <a:ext cx="5486400" cy="1508760"/>
          </a:xfrm>
          <a:prstGeom prst="roundRect">
            <a:avLst>
              <a:gd name="adj" fmla="val 6061"/>
            </a:avLst>
          </a:prstGeom>
          <a:solidFill>
            <a:srgbClr val="0B0F19"/>
          </a:solidFill>
          <a:ln w="12700">
            <a:solidFill>
              <a:srgbClr val="2A3654"/>
            </a:solidFill>
            <a:prstDash val="solid"/>
          </a:ln>
        </p:spPr>
      </p:sp>
      <p:sp>
        <p:nvSpPr>
          <p:cNvPr id="11" name="Shape 8"/>
          <p:cNvSpPr/>
          <p:nvPr/>
        </p:nvSpPr>
        <p:spPr>
          <a:xfrm>
            <a:off x="731520" y="4700016"/>
            <a:ext cx="118872" cy="118872"/>
          </a:xfrm>
          <a:prstGeom prst="ellipse">
            <a:avLst/>
          </a:prstGeom>
          <a:solidFill>
            <a:srgbClr val="FF5F57"/>
          </a:solidFill>
          <a:ln w="12700">
            <a:solidFill>
              <a:srgbClr val="FF5F57"/>
            </a:solidFill>
            <a:prstDash val="solid"/>
          </a:ln>
        </p:spPr>
      </p:sp>
      <p:sp>
        <p:nvSpPr>
          <p:cNvPr id="12" name="Shape 9"/>
          <p:cNvSpPr/>
          <p:nvPr/>
        </p:nvSpPr>
        <p:spPr>
          <a:xfrm>
            <a:off x="960120" y="4700016"/>
            <a:ext cx="118872" cy="118872"/>
          </a:xfrm>
          <a:prstGeom prst="ellipse">
            <a:avLst/>
          </a:prstGeom>
          <a:solidFill>
            <a:srgbClr val="FEBC2E"/>
          </a:solidFill>
          <a:ln w="12700">
            <a:solidFill>
              <a:srgbClr val="FEBC2E"/>
            </a:solidFill>
            <a:prstDash val="solid"/>
          </a:ln>
        </p:spPr>
      </p:sp>
      <p:sp>
        <p:nvSpPr>
          <p:cNvPr id="13" name="Shape 10"/>
          <p:cNvSpPr/>
          <p:nvPr/>
        </p:nvSpPr>
        <p:spPr>
          <a:xfrm>
            <a:off x="1188720" y="4700016"/>
            <a:ext cx="118872" cy="118872"/>
          </a:xfrm>
          <a:prstGeom prst="ellipse">
            <a:avLst/>
          </a:prstGeom>
          <a:solidFill>
            <a:srgbClr val="28C840"/>
          </a:solidFill>
          <a:ln w="12700">
            <a:solidFill>
              <a:srgbClr val="28C840"/>
            </a:solidFill>
            <a:prstDash val="solid"/>
          </a:ln>
        </p:spPr>
      </p:sp>
      <p:sp>
        <p:nvSpPr>
          <p:cNvPr id="14" name="Text 11"/>
          <p:cNvSpPr txBox="1"/>
          <p:nvPr/>
        </p:nvSpPr>
        <p:spPr>
          <a:xfrm>
            <a:off x="1463040" y="4645152"/>
            <a:ext cx="438912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15" name="Text 12"/>
          <p:cNvSpPr txBox="1"/>
          <p:nvPr/>
        </p:nvSpPr>
        <p:spPr>
          <a:xfrm>
            <a:off x="777240" y="4956048"/>
            <a:ext cx="5029200" cy="1005840"/>
          </a:xfrm>
          <a:prstGeom prst="rect">
            <a:avLst/>
          </a:prstGeom>
          <a:noFill/>
          <a:ln/>
        </p:spPr>
        <p:txBody>
          <a:bodyPr wrap="square" lIns="0" tIns="0" rIns="0" bIns="0" rtlCol="0" anchor="t"/>
          <a:lstStyle/>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How many students?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5</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Grade 1: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72</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Grade 2: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85.5</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a:t>
            </a:r>
            <a:endParaRPr lang="en-US" sz="1300" dirty="0"/>
          </a:p>
        </p:txBody>
      </p:sp>
      <p:sp>
        <p:nvSpPr>
          <p:cNvPr id="16" name="Text 13"/>
          <p:cNvSpPr txBox="1"/>
          <p:nvPr/>
        </p:nvSpPr>
        <p:spPr>
          <a:xfrm>
            <a:off x="6309360" y="1572768"/>
            <a:ext cx="5349240" cy="329184"/>
          </a:xfrm>
          <a:prstGeom prst="rect">
            <a:avLst/>
          </a:prstGeom>
          <a:noFill/>
          <a:ln/>
        </p:spPr>
        <p:txBody>
          <a:bodyPr wrap="square" lIns="0" tIns="0" rIns="0" bIns="0"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Printing: three ways</a:t>
            </a:r>
            <a:endParaRPr lang="en-US" sz="1600" dirty="0"/>
          </a:p>
        </p:txBody>
      </p:sp>
      <p:sp>
        <p:nvSpPr>
          <p:cNvPr id="17" name="Shape 14"/>
          <p:cNvSpPr/>
          <p:nvPr/>
        </p:nvSpPr>
        <p:spPr>
          <a:xfrm>
            <a:off x="6309360" y="1920240"/>
            <a:ext cx="5349240" cy="2514600"/>
          </a:xfrm>
          <a:prstGeom prst="roundRect">
            <a:avLst>
              <a:gd name="adj" fmla="val 3636"/>
            </a:avLst>
          </a:prstGeom>
          <a:solidFill>
            <a:srgbClr val="0F1729"/>
          </a:solidFill>
          <a:ln w="12700">
            <a:solidFill>
              <a:srgbClr val="0F1729"/>
            </a:solidFill>
            <a:prstDash val="solid"/>
          </a:ln>
        </p:spPr>
      </p:sp>
      <p:sp>
        <p:nvSpPr>
          <p:cNvPr id="18" name="Text 15"/>
          <p:cNvSpPr txBox="1"/>
          <p:nvPr/>
        </p:nvSpPr>
        <p:spPr>
          <a:xfrm>
            <a:off x="6537960" y="2029968"/>
            <a:ext cx="489204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09_01_ArrayBasics</a:t>
            </a:r>
            <a:endParaRPr lang="en-US" sz="1100" dirty="0"/>
          </a:p>
        </p:txBody>
      </p:sp>
      <p:sp>
        <p:nvSpPr>
          <p:cNvPr id="19" name="Text 16"/>
          <p:cNvSpPr txBox="1"/>
          <p:nvPr/>
        </p:nvSpPr>
        <p:spPr>
          <a:xfrm>
            <a:off x="6537960" y="2331720"/>
            <a:ext cx="4892040" cy="1993392"/>
          </a:xfrm>
          <a:prstGeom prst="rect">
            <a:avLst/>
          </a:prstGeom>
          <a:noFill/>
          <a:ln/>
        </p:spPr>
        <p:txBody>
          <a:bodyPr wrap="square" lIns="0" tIns="0" rIns="0" bIns="0" rtlCol="0" anchor="t"/>
          <a:lstStyle/>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.WriteLine(primes);</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string</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.Join(</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primes));</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 &lt; primes.Length; i++)</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$"{primes[i],4}"</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20" name="Shape 17"/>
          <p:cNvSpPr/>
          <p:nvPr/>
        </p:nvSpPr>
        <p:spPr>
          <a:xfrm>
            <a:off x="6309360" y="4572000"/>
            <a:ext cx="5349240" cy="1508760"/>
          </a:xfrm>
          <a:prstGeom prst="roundRect">
            <a:avLst>
              <a:gd name="adj" fmla="val 6061"/>
            </a:avLst>
          </a:prstGeom>
          <a:solidFill>
            <a:srgbClr val="0B0F19"/>
          </a:solidFill>
          <a:ln w="12700">
            <a:solidFill>
              <a:srgbClr val="2A3654"/>
            </a:solidFill>
            <a:prstDash val="solid"/>
          </a:ln>
        </p:spPr>
      </p:sp>
      <p:sp>
        <p:nvSpPr>
          <p:cNvPr id="21" name="Shape 18"/>
          <p:cNvSpPr/>
          <p:nvPr/>
        </p:nvSpPr>
        <p:spPr>
          <a:xfrm>
            <a:off x="6492240" y="4700016"/>
            <a:ext cx="118872" cy="118872"/>
          </a:xfrm>
          <a:prstGeom prst="ellipse">
            <a:avLst/>
          </a:prstGeom>
          <a:solidFill>
            <a:srgbClr val="FF5F57"/>
          </a:solidFill>
          <a:ln w="12700">
            <a:solidFill>
              <a:srgbClr val="FF5F57"/>
            </a:solidFill>
            <a:prstDash val="solid"/>
          </a:ln>
        </p:spPr>
      </p:sp>
      <p:sp>
        <p:nvSpPr>
          <p:cNvPr id="22" name="Shape 19"/>
          <p:cNvSpPr/>
          <p:nvPr/>
        </p:nvSpPr>
        <p:spPr>
          <a:xfrm>
            <a:off x="6720840" y="4700016"/>
            <a:ext cx="118872" cy="118872"/>
          </a:xfrm>
          <a:prstGeom prst="ellipse">
            <a:avLst/>
          </a:prstGeom>
          <a:solidFill>
            <a:srgbClr val="FEBC2E"/>
          </a:solidFill>
          <a:ln w="12700">
            <a:solidFill>
              <a:srgbClr val="FEBC2E"/>
            </a:solidFill>
            <a:prstDash val="solid"/>
          </a:ln>
        </p:spPr>
      </p:sp>
      <p:sp>
        <p:nvSpPr>
          <p:cNvPr id="23" name="Shape 20"/>
          <p:cNvSpPr/>
          <p:nvPr/>
        </p:nvSpPr>
        <p:spPr>
          <a:xfrm>
            <a:off x="6949440" y="4700016"/>
            <a:ext cx="118872" cy="118872"/>
          </a:xfrm>
          <a:prstGeom prst="ellipse">
            <a:avLst/>
          </a:prstGeom>
          <a:solidFill>
            <a:srgbClr val="28C840"/>
          </a:solidFill>
          <a:ln w="12700">
            <a:solidFill>
              <a:srgbClr val="28C840"/>
            </a:solidFill>
            <a:prstDash val="solid"/>
          </a:ln>
        </p:spPr>
      </p:sp>
      <p:sp>
        <p:nvSpPr>
          <p:cNvPr id="24" name="Text 21"/>
          <p:cNvSpPr txBox="1"/>
          <p:nvPr/>
        </p:nvSpPr>
        <p:spPr>
          <a:xfrm>
            <a:off x="7223760" y="4645152"/>
            <a:ext cx="425196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25" name="Text 22"/>
          <p:cNvSpPr txBox="1"/>
          <p:nvPr/>
        </p:nvSpPr>
        <p:spPr>
          <a:xfrm>
            <a:off x="6537960" y="4956048"/>
            <a:ext cx="4892040" cy="1005840"/>
          </a:xfrm>
          <a:prstGeom prst="rect">
            <a:avLst/>
          </a:prstGeom>
          <a:noFill/>
          <a:ln/>
        </p:spPr>
        <p:txBody>
          <a:bodyPr wrap="square" lIns="0" tIns="0" rIns="0" bIns="0" rtlCol="0" anchor="t"/>
          <a:lstStyle/>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System.Int32[]</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2, 3, 5, 7, 11</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   2   3   5   7  11</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WORKED EXAMPLE 1 · PROBLEM</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Grade Statistics: Average and Above-Average Count</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9</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19</a:t>
            </a:r>
            <a:endParaRPr lang="en-US" sz="1000" dirty="0"/>
          </a:p>
        </p:txBody>
      </p:sp>
      <p:sp>
        <p:nvSpPr>
          <p:cNvPr id="7" name="Shape 4"/>
          <p:cNvSpPr/>
          <p:nvPr/>
        </p:nvSpPr>
        <p:spPr>
          <a:xfrm>
            <a:off x="548640" y="1645920"/>
            <a:ext cx="5669280" cy="4434840"/>
          </a:xfrm>
          <a:prstGeom prst="roundRect">
            <a:avLst>
              <a:gd name="adj" fmla="val 1649"/>
            </a:avLst>
          </a:prstGeom>
          <a:solidFill>
            <a:srgbClr val="F4F6FA"/>
          </a:solidFill>
          <a:ln w="9525">
            <a:solidFill>
              <a:srgbClr val="C9D0DD"/>
            </a:solidFill>
            <a:prstDash val="solid"/>
          </a:ln>
        </p:spPr>
      </p:sp>
      <p:sp>
        <p:nvSpPr>
          <p:cNvPr id="8" name="Text 5"/>
          <p:cNvSpPr txBox="1"/>
          <p:nvPr/>
        </p:nvSpPr>
        <p:spPr>
          <a:xfrm>
            <a:off x="731520" y="1737360"/>
            <a:ext cx="5303520" cy="274320"/>
          </a:xfrm>
          <a:prstGeom prst="rect">
            <a:avLst/>
          </a:prstGeom>
          <a:noFill/>
          <a:ln/>
        </p:spPr>
        <p:txBody>
          <a:bodyPr wrap="square" lIns="0" tIns="0" rIns="0" bIns="0" rtlCol="0" anchor="ctr"/>
          <a:lstStyle/>
          <a:p>
            <a:pPr indent="0" marL="0">
              <a:buNone/>
            </a:pPr>
            <a:r>
              <a:rPr lang="en-US" sz="1200" b="1" dirty="0">
                <a:solidFill>
                  <a:srgbClr val="5B6478"/>
                </a:solidFill>
                <a:latin typeface="Calibri" pitchFamily="34" charset="0"/>
                <a:ea typeface="Calibri" pitchFamily="34" charset="-122"/>
                <a:cs typeface="Calibri" pitchFamily="34" charset="-120"/>
              </a:rPr>
              <a:t>Pseudocode</a:t>
            </a:r>
            <a:endParaRPr lang="en-US" sz="1200" dirty="0"/>
          </a:p>
        </p:txBody>
      </p:sp>
      <p:sp>
        <p:nvSpPr>
          <p:cNvPr id="9" name="Text 6"/>
          <p:cNvSpPr txBox="1"/>
          <p:nvPr/>
        </p:nvSpPr>
        <p:spPr>
          <a:xfrm>
            <a:off x="731520" y="2057400"/>
            <a:ext cx="5303520" cy="3931920"/>
          </a:xfrm>
          <a:prstGeom prst="rect">
            <a:avLst/>
          </a:prstGeom>
          <a:noFill/>
          <a:ln/>
        </p:spPr>
        <p:txBody>
          <a:bodyPr wrap="square" lIns="0" tIns="0" rIns="0" bIns="0" rtlCol="0" anchor="t"/>
          <a:lstStyle/>
          <a:p>
            <a:pPr indent="0" marL="0">
              <a:spcAft>
                <a:spcPts val="100"/>
              </a:spcAft>
              <a:buNone/>
            </a:pPr>
            <a:r>
              <a:rPr lang="en-US" sz="1300" b="1" dirty="0">
                <a:solidFill>
                  <a:srgbClr val="2F6FB3"/>
                </a:solidFill>
                <a:latin typeface="Courier New" pitchFamily="34" charset="0"/>
                <a:ea typeface="Courier New" pitchFamily="34" charset="-122"/>
                <a:cs typeface="Courier New" pitchFamily="34" charset="-120"/>
              </a:rPr>
              <a:t>START</a:t>
            </a:r>
            <a:endParaRPr lang="en-US" sz="1300" dirty="0"/>
          </a:p>
          <a:p>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300" b="1" dirty="0">
                <a:solidFill>
                  <a:srgbClr val="2F6FB3"/>
                </a:solidFill>
                <a:latin typeface="Courier New" pitchFamily="34" charset="0"/>
                <a:ea typeface="Courier New" pitchFamily="34" charset="-122"/>
                <a:cs typeface="Courier New" pitchFamily="34" charset="-120"/>
              </a:rPr>
              <a:t>READ</a:t>
            </a:r>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 n</a:t>
            </a:r>
            <a:endParaRPr lang="en-US" sz="1300" dirty="0"/>
          </a:p>
          <a:p>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  grades ← new array of n numbers</a:t>
            </a:r>
            <a:endParaRPr lang="en-US" sz="1300" dirty="0"/>
          </a:p>
          <a:p>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300" b="1" dirty="0">
                <a:solidFill>
                  <a:srgbClr val="2F6FB3"/>
                </a:solidFill>
                <a:latin typeface="Courier New" pitchFamily="34" charset="0"/>
                <a:ea typeface="Courier New" pitchFamily="34" charset="-122"/>
                <a:cs typeface="Courier New" pitchFamily="34" charset="-120"/>
              </a:rPr>
              <a:t>FOR</a:t>
            </a:r>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 i ← 0 </a:t>
            </a:r>
            <a:pPr indent="0" marL="0">
              <a:spcAft>
                <a:spcPts val="100"/>
              </a:spcAft>
              <a:buNone/>
            </a:pPr>
            <a:r>
              <a:rPr lang="en-US" sz="1300" b="1" dirty="0">
                <a:solidFill>
                  <a:srgbClr val="2F6FB3"/>
                </a:solidFill>
                <a:latin typeface="Courier New" pitchFamily="34" charset="0"/>
                <a:ea typeface="Courier New" pitchFamily="34" charset="-122"/>
                <a:cs typeface="Courier New" pitchFamily="34" charset="-120"/>
              </a:rPr>
              <a:t>TO</a:t>
            </a:r>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 n − 1</a:t>
            </a:r>
            <a:endParaRPr lang="en-US" sz="1300" dirty="0"/>
          </a:p>
          <a:p>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300" b="1" dirty="0">
                <a:solidFill>
                  <a:srgbClr val="2F6FB3"/>
                </a:solidFill>
                <a:latin typeface="Courier New" pitchFamily="34" charset="0"/>
                <a:ea typeface="Courier New" pitchFamily="34" charset="-122"/>
                <a:cs typeface="Courier New" pitchFamily="34" charset="-120"/>
              </a:rPr>
              <a:t>READ</a:t>
            </a:r>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 grades[i]</a:t>
            </a:r>
            <a:endParaRPr lang="en-US" sz="1300" dirty="0"/>
          </a:p>
          <a:p>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300" b="1" dirty="0">
                <a:solidFill>
                  <a:srgbClr val="2F6FB3"/>
                </a:solidFill>
                <a:latin typeface="Courier New" pitchFamily="34" charset="0"/>
                <a:ea typeface="Courier New" pitchFamily="34" charset="-122"/>
                <a:cs typeface="Courier New" pitchFamily="34" charset="-120"/>
              </a:rPr>
              <a:t>END FOR</a:t>
            </a:r>
            <a:endParaRPr lang="en-US" sz="1300" dirty="0"/>
          </a:p>
          <a:p>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  sum ← 0</a:t>
            </a:r>
            <a:endParaRPr lang="en-US" sz="1300" dirty="0"/>
          </a:p>
          <a:p>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300" b="1" dirty="0">
                <a:solidFill>
                  <a:srgbClr val="2F6FB3"/>
                </a:solidFill>
                <a:latin typeface="Courier New" pitchFamily="34" charset="0"/>
                <a:ea typeface="Courier New" pitchFamily="34" charset="-122"/>
                <a:cs typeface="Courier New" pitchFamily="34" charset="-120"/>
              </a:rPr>
              <a:t>FOR</a:t>
            </a:r>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 i ← 0 </a:t>
            </a:r>
            <a:pPr indent="0" marL="0">
              <a:spcAft>
                <a:spcPts val="100"/>
              </a:spcAft>
              <a:buNone/>
            </a:pPr>
            <a:r>
              <a:rPr lang="en-US" sz="1300" b="1" dirty="0">
                <a:solidFill>
                  <a:srgbClr val="2F6FB3"/>
                </a:solidFill>
                <a:latin typeface="Courier New" pitchFamily="34" charset="0"/>
                <a:ea typeface="Courier New" pitchFamily="34" charset="-122"/>
                <a:cs typeface="Courier New" pitchFamily="34" charset="-120"/>
              </a:rPr>
              <a:t>TO</a:t>
            </a:r>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 n − 1</a:t>
            </a:r>
            <a:endParaRPr lang="en-US" sz="1300" dirty="0"/>
          </a:p>
          <a:p>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    sum ← sum + grades[i]</a:t>
            </a:r>
            <a:endParaRPr lang="en-US" sz="1300" dirty="0"/>
          </a:p>
          <a:p>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300" b="1" dirty="0">
                <a:solidFill>
                  <a:srgbClr val="2F6FB3"/>
                </a:solidFill>
                <a:latin typeface="Courier New" pitchFamily="34" charset="0"/>
                <a:ea typeface="Courier New" pitchFamily="34" charset="-122"/>
                <a:cs typeface="Courier New" pitchFamily="34" charset="-120"/>
              </a:rPr>
              <a:t>END FOR</a:t>
            </a:r>
            <a:endParaRPr lang="en-US" sz="1300" dirty="0"/>
          </a:p>
          <a:p>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  average ← sum / n</a:t>
            </a:r>
            <a:endParaRPr lang="en-US" sz="1300" dirty="0"/>
          </a:p>
          <a:p>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  count ← 0</a:t>
            </a:r>
            <a:endParaRPr lang="en-US" sz="1300" dirty="0"/>
          </a:p>
          <a:p>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300" b="1" dirty="0">
                <a:solidFill>
                  <a:srgbClr val="2F6FB3"/>
                </a:solidFill>
                <a:latin typeface="Courier New" pitchFamily="34" charset="0"/>
                <a:ea typeface="Courier New" pitchFamily="34" charset="-122"/>
                <a:cs typeface="Courier New" pitchFamily="34" charset="-120"/>
              </a:rPr>
              <a:t>FOR</a:t>
            </a:r>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 i ← 0 </a:t>
            </a:r>
            <a:pPr indent="0" marL="0">
              <a:spcAft>
                <a:spcPts val="100"/>
              </a:spcAft>
              <a:buNone/>
            </a:pPr>
            <a:r>
              <a:rPr lang="en-US" sz="1300" b="1" dirty="0">
                <a:solidFill>
                  <a:srgbClr val="2F6FB3"/>
                </a:solidFill>
                <a:latin typeface="Courier New" pitchFamily="34" charset="0"/>
                <a:ea typeface="Courier New" pitchFamily="34" charset="-122"/>
                <a:cs typeface="Courier New" pitchFamily="34" charset="-120"/>
              </a:rPr>
              <a:t>TO</a:t>
            </a:r>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 n − 1</a:t>
            </a:r>
            <a:endParaRPr lang="en-US" sz="1300" dirty="0"/>
          </a:p>
          <a:p>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300" b="1" dirty="0">
                <a:solidFill>
                  <a:srgbClr val="2F6FB3"/>
                </a:solidFill>
                <a:latin typeface="Courier New" pitchFamily="34" charset="0"/>
                <a:ea typeface="Courier New" pitchFamily="34" charset="-122"/>
                <a:cs typeface="Courier New" pitchFamily="34" charset="-120"/>
              </a:rPr>
              <a:t>IF</a:t>
            </a:r>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 grades[i] &gt; average </a:t>
            </a:r>
            <a:pPr indent="0" marL="0">
              <a:spcAft>
                <a:spcPts val="100"/>
              </a:spcAft>
              <a:buNone/>
            </a:pPr>
            <a:r>
              <a:rPr lang="en-US" sz="1300" b="1" dirty="0">
                <a:solidFill>
                  <a:srgbClr val="2F6FB3"/>
                </a:solidFill>
                <a:latin typeface="Courier New" pitchFamily="34" charset="0"/>
                <a:ea typeface="Courier New" pitchFamily="34" charset="-122"/>
                <a:cs typeface="Courier New" pitchFamily="34" charset="-120"/>
              </a:rPr>
              <a:t>THEN</a:t>
            </a:r>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 count ← count + 1</a:t>
            </a:r>
            <a:endParaRPr lang="en-US" sz="1300" dirty="0"/>
          </a:p>
          <a:p>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300" b="1" dirty="0">
                <a:solidFill>
                  <a:srgbClr val="2F6FB3"/>
                </a:solidFill>
                <a:latin typeface="Courier New" pitchFamily="34" charset="0"/>
                <a:ea typeface="Courier New" pitchFamily="34" charset="-122"/>
                <a:cs typeface="Courier New" pitchFamily="34" charset="-120"/>
              </a:rPr>
              <a:t>END FOR</a:t>
            </a:r>
            <a:endParaRPr lang="en-US" sz="1300" dirty="0"/>
          </a:p>
          <a:p>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300" b="1" dirty="0">
                <a:solidFill>
                  <a:srgbClr val="2F6FB3"/>
                </a:solidFill>
                <a:latin typeface="Courier New" pitchFamily="34" charset="0"/>
                <a:ea typeface="Courier New" pitchFamily="34" charset="-122"/>
                <a:cs typeface="Courier New" pitchFamily="34" charset="-120"/>
              </a:rPr>
              <a:t>PRINT</a:t>
            </a:r>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 average, count</a:t>
            </a:r>
            <a:endParaRPr lang="en-US" sz="1300" dirty="0"/>
          </a:p>
          <a:p>
            <a:pPr indent="0" marL="0">
              <a:spcAft>
                <a:spcPts val="100"/>
              </a:spcAft>
              <a:buNone/>
            </a:pPr>
            <a:r>
              <a:rPr lang="en-US" sz="1300" b="1" dirty="0">
                <a:solidFill>
                  <a:srgbClr val="2F6FB3"/>
                </a:solidFill>
                <a:latin typeface="Courier New" pitchFamily="34" charset="0"/>
                <a:ea typeface="Courier New" pitchFamily="34" charset="-122"/>
                <a:cs typeface="Courier New" pitchFamily="34" charset="-120"/>
              </a:rPr>
              <a:t>END</a:t>
            </a:r>
            <a:endParaRPr lang="en-US" sz="1300" dirty="0"/>
          </a:p>
        </p:txBody>
      </p:sp>
      <p:sp>
        <p:nvSpPr>
          <p:cNvPr id="10" name="Shape 7"/>
          <p:cNvSpPr/>
          <p:nvPr/>
        </p:nvSpPr>
        <p:spPr>
          <a:xfrm>
            <a:off x="6492240" y="1645920"/>
            <a:ext cx="5166360" cy="2743200"/>
          </a:xfrm>
          <a:prstGeom prst="roundRect">
            <a:avLst>
              <a:gd name="adj" fmla="val 3333"/>
            </a:avLst>
          </a:prstGeom>
          <a:solidFill>
            <a:srgbClr val="0B0F19"/>
          </a:solidFill>
          <a:ln w="12700">
            <a:solidFill>
              <a:srgbClr val="2A3654"/>
            </a:solidFill>
            <a:prstDash val="solid"/>
          </a:ln>
        </p:spPr>
      </p:sp>
      <p:sp>
        <p:nvSpPr>
          <p:cNvPr id="11" name="Shape 8"/>
          <p:cNvSpPr/>
          <p:nvPr/>
        </p:nvSpPr>
        <p:spPr>
          <a:xfrm>
            <a:off x="6675120" y="1773936"/>
            <a:ext cx="118872" cy="118872"/>
          </a:xfrm>
          <a:prstGeom prst="ellipse">
            <a:avLst/>
          </a:prstGeom>
          <a:solidFill>
            <a:srgbClr val="FF5F57"/>
          </a:solidFill>
          <a:ln w="12700">
            <a:solidFill>
              <a:srgbClr val="FF5F57"/>
            </a:solidFill>
            <a:prstDash val="solid"/>
          </a:ln>
        </p:spPr>
      </p:sp>
      <p:sp>
        <p:nvSpPr>
          <p:cNvPr id="12" name="Shape 9"/>
          <p:cNvSpPr/>
          <p:nvPr/>
        </p:nvSpPr>
        <p:spPr>
          <a:xfrm>
            <a:off x="6903720" y="1773936"/>
            <a:ext cx="118872" cy="118872"/>
          </a:xfrm>
          <a:prstGeom prst="ellipse">
            <a:avLst/>
          </a:prstGeom>
          <a:solidFill>
            <a:srgbClr val="FEBC2E"/>
          </a:solidFill>
          <a:ln w="12700">
            <a:solidFill>
              <a:srgbClr val="FEBC2E"/>
            </a:solidFill>
            <a:prstDash val="solid"/>
          </a:ln>
        </p:spPr>
      </p:sp>
      <p:sp>
        <p:nvSpPr>
          <p:cNvPr id="13" name="Shape 10"/>
          <p:cNvSpPr/>
          <p:nvPr/>
        </p:nvSpPr>
        <p:spPr>
          <a:xfrm>
            <a:off x="7132320" y="1773936"/>
            <a:ext cx="118872" cy="118872"/>
          </a:xfrm>
          <a:prstGeom prst="ellipse">
            <a:avLst/>
          </a:prstGeom>
          <a:solidFill>
            <a:srgbClr val="28C840"/>
          </a:solidFill>
          <a:ln w="12700">
            <a:solidFill>
              <a:srgbClr val="28C840"/>
            </a:solidFill>
            <a:prstDash val="solid"/>
          </a:ln>
        </p:spPr>
      </p:sp>
      <p:sp>
        <p:nvSpPr>
          <p:cNvPr id="14" name="Text 11"/>
          <p:cNvSpPr txBox="1"/>
          <p:nvPr/>
        </p:nvSpPr>
        <p:spPr>
          <a:xfrm>
            <a:off x="7406640" y="1719072"/>
            <a:ext cx="406908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09_02_GradeStats</a:t>
            </a:r>
            <a:endParaRPr lang="en-US" sz="1000" dirty="0"/>
          </a:p>
        </p:txBody>
      </p:sp>
      <p:sp>
        <p:nvSpPr>
          <p:cNvPr id="15" name="Text 12"/>
          <p:cNvSpPr txBox="1"/>
          <p:nvPr/>
        </p:nvSpPr>
        <p:spPr>
          <a:xfrm>
            <a:off x="6720840" y="2029968"/>
            <a:ext cx="4709160" cy="2240280"/>
          </a:xfrm>
          <a:prstGeom prst="rect">
            <a:avLst/>
          </a:prstGeom>
          <a:noFill/>
          <a:ln/>
        </p:spPr>
        <p:txBody>
          <a:bodyPr wrap="square" lIns="0" tIns="0" rIns="0" bIns="0" rtlCol="0" anchor="t"/>
          <a:lstStyle/>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How many students?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5</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Grade 1: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72</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Grade 2: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85.5</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Grade 3: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40</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Grade 4: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91</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Grade 5: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66</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Grades: 72 | 85.5 | 40 | 91 | 66</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Average: 70.90</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Above average: 3 of 5</a:t>
            </a:r>
            <a:endParaRPr lang="en-US" sz="1300" dirty="0"/>
          </a:p>
        </p:txBody>
      </p:sp>
      <p:sp>
        <p:nvSpPr>
          <p:cNvPr id="16" name="Shape 13"/>
          <p:cNvSpPr/>
          <p:nvPr/>
        </p:nvSpPr>
        <p:spPr>
          <a:xfrm>
            <a:off x="7269480" y="4617720"/>
            <a:ext cx="822960" cy="502920"/>
          </a:xfrm>
          <a:prstGeom prst="rect">
            <a:avLst/>
          </a:prstGeom>
          <a:solidFill>
            <a:srgbClr val="E6F4EC"/>
          </a:solidFill>
          <a:ln w="15875">
            <a:solidFill>
              <a:srgbClr val="14213D"/>
            </a:solidFill>
            <a:prstDash val="solid"/>
          </a:ln>
        </p:spPr>
      </p:sp>
      <p:sp>
        <p:nvSpPr>
          <p:cNvPr id="17" name="Text 14"/>
          <p:cNvSpPr txBox="1"/>
          <p:nvPr/>
        </p:nvSpPr>
        <p:spPr>
          <a:xfrm>
            <a:off x="7269480" y="4617720"/>
            <a:ext cx="822960" cy="502920"/>
          </a:xfrm>
          <a:prstGeom prst="rect">
            <a:avLst/>
          </a:prstGeom>
          <a:noFill/>
          <a:ln/>
        </p:spPr>
        <p:txBody>
          <a:bodyPr wrap="square" lIns="0" tIns="0" rIns="0" bIns="0" rtlCol="0" anchor="ctr"/>
          <a:lstStyle/>
          <a:p>
            <a:pPr algn="ctr" indent="0" marL="0">
              <a:buNone/>
            </a:pPr>
            <a:r>
              <a:rPr lang="en-US" sz="1500" b="1" dirty="0">
                <a:solidFill>
                  <a:srgbClr val="14213D"/>
                </a:solidFill>
                <a:latin typeface="Courier New" pitchFamily="34" charset="0"/>
                <a:ea typeface="Courier New" pitchFamily="34" charset="-122"/>
                <a:cs typeface="Courier New" pitchFamily="34" charset="-120"/>
              </a:rPr>
              <a:t>72</a:t>
            </a:r>
            <a:endParaRPr lang="en-US" sz="1500" dirty="0"/>
          </a:p>
        </p:txBody>
      </p:sp>
      <p:sp>
        <p:nvSpPr>
          <p:cNvPr id="18" name="Text 15"/>
          <p:cNvSpPr txBox="1"/>
          <p:nvPr/>
        </p:nvSpPr>
        <p:spPr>
          <a:xfrm>
            <a:off x="7269480" y="5148072"/>
            <a:ext cx="822960" cy="274320"/>
          </a:xfrm>
          <a:prstGeom prst="rect">
            <a:avLst/>
          </a:prstGeom>
          <a:noFill/>
          <a:ln/>
        </p:spPr>
        <p:txBody>
          <a:bodyPr wrap="square" lIns="0" tIns="0" rIns="0" bIns="0" rtlCol="0" anchor="ctr"/>
          <a:lstStyle/>
          <a:p>
            <a:pPr algn="ctr" indent="0" marL="0">
              <a:buNone/>
            </a:pPr>
            <a:r>
              <a:rPr lang="en-US" sz="1300" dirty="0">
                <a:solidFill>
                  <a:srgbClr val="5B6478"/>
                </a:solidFill>
                <a:latin typeface="Courier New" pitchFamily="34" charset="0"/>
                <a:ea typeface="Courier New" pitchFamily="34" charset="-122"/>
                <a:cs typeface="Courier New" pitchFamily="34" charset="-120"/>
              </a:rPr>
              <a:t>[0]</a:t>
            </a:r>
            <a:endParaRPr lang="en-US" sz="1300" dirty="0"/>
          </a:p>
        </p:txBody>
      </p:sp>
      <p:sp>
        <p:nvSpPr>
          <p:cNvPr id="19" name="Shape 16"/>
          <p:cNvSpPr/>
          <p:nvPr/>
        </p:nvSpPr>
        <p:spPr>
          <a:xfrm>
            <a:off x="8092440" y="4617720"/>
            <a:ext cx="822960" cy="502920"/>
          </a:xfrm>
          <a:prstGeom prst="rect">
            <a:avLst/>
          </a:prstGeom>
          <a:solidFill>
            <a:srgbClr val="E6F4EC"/>
          </a:solidFill>
          <a:ln w="15875">
            <a:solidFill>
              <a:srgbClr val="14213D"/>
            </a:solidFill>
            <a:prstDash val="solid"/>
          </a:ln>
        </p:spPr>
      </p:sp>
      <p:sp>
        <p:nvSpPr>
          <p:cNvPr id="20" name="Text 17"/>
          <p:cNvSpPr txBox="1"/>
          <p:nvPr/>
        </p:nvSpPr>
        <p:spPr>
          <a:xfrm>
            <a:off x="8092440" y="4617720"/>
            <a:ext cx="822960" cy="502920"/>
          </a:xfrm>
          <a:prstGeom prst="rect">
            <a:avLst/>
          </a:prstGeom>
          <a:noFill/>
          <a:ln/>
        </p:spPr>
        <p:txBody>
          <a:bodyPr wrap="square" lIns="0" tIns="0" rIns="0" bIns="0" rtlCol="0" anchor="ctr"/>
          <a:lstStyle/>
          <a:p>
            <a:pPr algn="ctr" indent="0" marL="0">
              <a:buNone/>
            </a:pPr>
            <a:r>
              <a:rPr lang="en-US" sz="1500" b="1" dirty="0">
                <a:solidFill>
                  <a:srgbClr val="14213D"/>
                </a:solidFill>
                <a:latin typeface="Courier New" pitchFamily="34" charset="0"/>
                <a:ea typeface="Courier New" pitchFamily="34" charset="-122"/>
                <a:cs typeface="Courier New" pitchFamily="34" charset="-120"/>
              </a:rPr>
              <a:t>85.5</a:t>
            </a:r>
            <a:endParaRPr lang="en-US" sz="1500" dirty="0"/>
          </a:p>
        </p:txBody>
      </p:sp>
      <p:sp>
        <p:nvSpPr>
          <p:cNvPr id="21" name="Text 18"/>
          <p:cNvSpPr txBox="1"/>
          <p:nvPr/>
        </p:nvSpPr>
        <p:spPr>
          <a:xfrm>
            <a:off x="8092440" y="5148072"/>
            <a:ext cx="822960" cy="274320"/>
          </a:xfrm>
          <a:prstGeom prst="rect">
            <a:avLst/>
          </a:prstGeom>
          <a:noFill/>
          <a:ln/>
        </p:spPr>
        <p:txBody>
          <a:bodyPr wrap="square" lIns="0" tIns="0" rIns="0" bIns="0" rtlCol="0" anchor="ctr"/>
          <a:lstStyle/>
          <a:p>
            <a:pPr algn="ctr" indent="0" marL="0">
              <a:buNone/>
            </a:pPr>
            <a:r>
              <a:rPr lang="en-US" sz="1300" dirty="0">
                <a:solidFill>
                  <a:srgbClr val="5B6478"/>
                </a:solidFill>
                <a:latin typeface="Courier New" pitchFamily="34" charset="0"/>
                <a:ea typeface="Courier New" pitchFamily="34" charset="-122"/>
                <a:cs typeface="Courier New" pitchFamily="34" charset="-120"/>
              </a:rPr>
              <a:t>[1]</a:t>
            </a:r>
            <a:endParaRPr lang="en-US" sz="1300" dirty="0"/>
          </a:p>
        </p:txBody>
      </p:sp>
      <p:sp>
        <p:nvSpPr>
          <p:cNvPr id="22" name="Shape 19"/>
          <p:cNvSpPr/>
          <p:nvPr/>
        </p:nvSpPr>
        <p:spPr>
          <a:xfrm>
            <a:off x="8915400" y="4617720"/>
            <a:ext cx="822960" cy="502920"/>
          </a:xfrm>
          <a:prstGeom prst="rect">
            <a:avLst/>
          </a:prstGeom>
          <a:solidFill>
            <a:srgbClr val="FFFFFF"/>
          </a:solidFill>
          <a:ln w="15875">
            <a:solidFill>
              <a:srgbClr val="14213D"/>
            </a:solidFill>
            <a:prstDash val="solid"/>
          </a:ln>
        </p:spPr>
      </p:sp>
      <p:sp>
        <p:nvSpPr>
          <p:cNvPr id="23" name="Text 20"/>
          <p:cNvSpPr txBox="1"/>
          <p:nvPr/>
        </p:nvSpPr>
        <p:spPr>
          <a:xfrm>
            <a:off x="8915400" y="4617720"/>
            <a:ext cx="822960" cy="502920"/>
          </a:xfrm>
          <a:prstGeom prst="rect">
            <a:avLst/>
          </a:prstGeom>
          <a:noFill/>
          <a:ln/>
        </p:spPr>
        <p:txBody>
          <a:bodyPr wrap="square" lIns="0" tIns="0" rIns="0" bIns="0" rtlCol="0" anchor="ctr"/>
          <a:lstStyle/>
          <a:p>
            <a:pPr algn="ctr" indent="0" marL="0">
              <a:buNone/>
            </a:pPr>
            <a:r>
              <a:rPr lang="en-US" sz="1500" b="1" dirty="0">
                <a:solidFill>
                  <a:srgbClr val="14213D"/>
                </a:solidFill>
                <a:latin typeface="Courier New" pitchFamily="34" charset="0"/>
                <a:ea typeface="Courier New" pitchFamily="34" charset="-122"/>
                <a:cs typeface="Courier New" pitchFamily="34" charset="-120"/>
              </a:rPr>
              <a:t>40</a:t>
            </a:r>
            <a:endParaRPr lang="en-US" sz="1500" dirty="0"/>
          </a:p>
        </p:txBody>
      </p:sp>
      <p:sp>
        <p:nvSpPr>
          <p:cNvPr id="24" name="Text 21"/>
          <p:cNvSpPr txBox="1"/>
          <p:nvPr/>
        </p:nvSpPr>
        <p:spPr>
          <a:xfrm>
            <a:off x="8915400" y="5148072"/>
            <a:ext cx="822960" cy="274320"/>
          </a:xfrm>
          <a:prstGeom prst="rect">
            <a:avLst/>
          </a:prstGeom>
          <a:noFill/>
          <a:ln/>
        </p:spPr>
        <p:txBody>
          <a:bodyPr wrap="square" lIns="0" tIns="0" rIns="0" bIns="0" rtlCol="0" anchor="ctr"/>
          <a:lstStyle/>
          <a:p>
            <a:pPr algn="ctr" indent="0" marL="0">
              <a:buNone/>
            </a:pPr>
            <a:r>
              <a:rPr lang="en-US" sz="1300" dirty="0">
                <a:solidFill>
                  <a:srgbClr val="5B6478"/>
                </a:solidFill>
                <a:latin typeface="Courier New" pitchFamily="34" charset="0"/>
                <a:ea typeface="Courier New" pitchFamily="34" charset="-122"/>
                <a:cs typeface="Courier New" pitchFamily="34" charset="-120"/>
              </a:rPr>
              <a:t>[2]</a:t>
            </a:r>
            <a:endParaRPr lang="en-US" sz="1300" dirty="0"/>
          </a:p>
        </p:txBody>
      </p:sp>
      <p:sp>
        <p:nvSpPr>
          <p:cNvPr id="25" name="Shape 22"/>
          <p:cNvSpPr/>
          <p:nvPr/>
        </p:nvSpPr>
        <p:spPr>
          <a:xfrm>
            <a:off x="9738360" y="4617720"/>
            <a:ext cx="822960" cy="502920"/>
          </a:xfrm>
          <a:prstGeom prst="rect">
            <a:avLst/>
          </a:prstGeom>
          <a:solidFill>
            <a:srgbClr val="E6F4EC"/>
          </a:solidFill>
          <a:ln w="15875">
            <a:solidFill>
              <a:srgbClr val="14213D"/>
            </a:solidFill>
            <a:prstDash val="solid"/>
          </a:ln>
        </p:spPr>
      </p:sp>
      <p:sp>
        <p:nvSpPr>
          <p:cNvPr id="26" name="Text 23"/>
          <p:cNvSpPr txBox="1"/>
          <p:nvPr/>
        </p:nvSpPr>
        <p:spPr>
          <a:xfrm>
            <a:off x="9738360" y="4617720"/>
            <a:ext cx="822960" cy="502920"/>
          </a:xfrm>
          <a:prstGeom prst="rect">
            <a:avLst/>
          </a:prstGeom>
          <a:noFill/>
          <a:ln/>
        </p:spPr>
        <p:txBody>
          <a:bodyPr wrap="square" lIns="0" tIns="0" rIns="0" bIns="0" rtlCol="0" anchor="ctr"/>
          <a:lstStyle/>
          <a:p>
            <a:pPr algn="ctr" indent="0" marL="0">
              <a:buNone/>
            </a:pPr>
            <a:r>
              <a:rPr lang="en-US" sz="1500" b="1" dirty="0">
                <a:solidFill>
                  <a:srgbClr val="14213D"/>
                </a:solidFill>
                <a:latin typeface="Courier New" pitchFamily="34" charset="0"/>
                <a:ea typeface="Courier New" pitchFamily="34" charset="-122"/>
                <a:cs typeface="Courier New" pitchFamily="34" charset="-120"/>
              </a:rPr>
              <a:t>91</a:t>
            </a:r>
            <a:endParaRPr lang="en-US" sz="1500" dirty="0"/>
          </a:p>
        </p:txBody>
      </p:sp>
      <p:sp>
        <p:nvSpPr>
          <p:cNvPr id="27" name="Text 24"/>
          <p:cNvSpPr txBox="1"/>
          <p:nvPr/>
        </p:nvSpPr>
        <p:spPr>
          <a:xfrm>
            <a:off x="9738360" y="5148072"/>
            <a:ext cx="822960" cy="274320"/>
          </a:xfrm>
          <a:prstGeom prst="rect">
            <a:avLst/>
          </a:prstGeom>
          <a:noFill/>
          <a:ln/>
        </p:spPr>
        <p:txBody>
          <a:bodyPr wrap="square" lIns="0" tIns="0" rIns="0" bIns="0" rtlCol="0" anchor="ctr"/>
          <a:lstStyle/>
          <a:p>
            <a:pPr algn="ctr" indent="0" marL="0">
              <a:buNone/>
            </a:pPr>
            <a:r>
              <a:rPr lang="en-US" sz="1300" dirty="0">
                <a:solidFill>
                  <a:srgbClr val="5B6478"/>
                </a:solidFill>
                <a:latin typeface="Courier New" pitchFamily="34" charset="0"/>
                <a:ea typeface="Courier New" pitchFamily="34" charset="-122"/>
                <a:cs typeface="Courier New" pitchFamily="34" charset="-120"/>
              </a:rPr>
              <a:t>[3]</a:t>
            </a:r>
            <a:endParaRPr lang="en-US" sz="1300" dirty="0"/>
          </a:p>
        </p:txBody>
      </p:sp>
      <p:sp>
        <p:nvSpPr>
          <p:cNvPr id="28" name="Shape 25"/>
          <p:cNvSpPr/>
          <p:nvPr/>
        </p:nvSpPr>
        <p:spPr>
          <a:xfrm>
            <a:off x="10561320" y="4617720"/>
            <a:ext cx="822960" cy="502920"/>
          </a:xfrm>
          <a:prstGeom prst="rect">
            <a:avLst/>
          </a:prstGeom>
          <a:solidFill>
            <a:srgbClr val="FFFFFF"/>
          </a:solidFill>
          <a:ln w="15875">
            <a:solidFill>
              <a:srgbClr val="14213D"/>
            </a:solidFill>
            <a:prstDash val="solid"/>
          </a:ln>
        </p:spPr>
      </p:sp>
      <p:sp>
        <p:nvSpPr>
          <p:cNvPr id="29" name="Text 26"/>
          <p:cNvSpPr txBox="1"/>
          <p:nvPr/>
        </p:nvSpPr>
        <p:spPr>
          <a:xfrm>
            <a:off x="10561320" y="4617720"/>
            <a:ext cx="822960" cy="502920"/>
          </a:xfrm>
          <a:prstGeom prst="rect">
            <a:avLst/>
          </a:prstGeom>
          <a:noFill/>
          <a:ln/>
        </p:spPr>
        <p:txBody>
          <a:bodyPr wrap="square" lIns="0" tIns="0" rIns="0" bIns="0" rtlCol="0" anchor="ctr"/>
          <a:lstStyle/>
          <a:p>
            <a:pPr algn="ctr" indent="0" marL="0">
              <a:buNone/>
            </a:pPr>
            <a:r>
              <a:rPr lang="en-US" sz="1500" b="1" dirty="0">
                <a:solidFill>
                  <a:srgbClr val="14213D"/>
                </a:solidFill>
                <a:latin typeface="Courier New" pitchFamily="34" charset="0"/>
                <a:ea typeface="Courier New" pitchFamily="34" charset="-122"/>
                <a:cs typeface="Courier New" pitchFamily="34" charset="-120"/>
              </a:rPr>
              <a:t>66</a:t>
            </a:r>
            <a:endParaRPr lang="en-US" sz="1500" dirty="0"/>
          </a:p>
        </p:txBody>
      </p:sp>
      <p:sp>
        <p:nvSpPr>
          <p:cNvPr id="30" name="Text 27"/>
          <p:cNvSpPr txBox="1"/>
          <p:nvPr/>
        </p:nvSpPr>
        <p:spPr>
          <a:xfrm>
            <a:off x="10561320" y="5148072"/>
            <a:ext cx="822960" cy="274320"/>
          </a:xfrm>
          <a:prstGeom prst="rect">
            <a:avLst/>
          </a:prstGeom>
          <a:noFill/>
          <a:ln/>
        </p:spPr>
        <p:txBody>
          <a:bodyPr wrap="square" lIns="0" tIns="0" rIns="0" bIns="0" rtlCol="0" anchor="ctr"/>
          <a:lstStyle/>
          <a:p>
            <a:pPr algn="ctr" indent="0" marL="0">
              <a:buNone/>
            </a:pPr>
            <a:r>
              <a:rPr lang="en-US" sz="1300" dirty="0">
                <a:solidFill>
                  <a:srgbClr val="5B6478"/>
                </a:solidFill>
                <a:latin typeface="Courier New" pitchFamily="34" charset="0"/>
                <a:ea typeface="Courier New" pitchFamily="34" charset="-122"/>
                <a:cs typeface="Courier New" pitchFamily="34" charset="-120"/>
              </a:rPr>
              <a:t>[4]</a:t>
            </a:r>
            <a:endParaRPr lang="en-US" sz="1300" dirty="0"/>
          </a:p>
        </p:txBody>
      </p:sp>
      <p:sp>
        <p:nvSpPr>
          <p:cNvPr id="31" name="Text 28"/>
          <p:cNvSpPr txBox="1"/>
          <p:nvPr/>
        </p:nvSpPr>
        <p:spPr>
          <a:xfrm>
            <a:off x="6291072" y="4617720"/>
            <a:ext cx="868680" cy="502920"/>
          </a:xfrm>
          <a:prstGeom prst="rect">
            <a:avLst/>
          </a:prstGeom>
          <a:noFill/>
          <a:ln/>
        </p:spPr>
        <p:txBody>
          <a:bodyPr wrap="square" lIns="0" tIns="0" rIns="0" bIns="0" rtlCol="0" anchor="ctr"/>
          <a:lstStyle/>
          <a:p>
            <a:pPr algn="r" indent="0" marL="0">
              <a:buNone/>
            </a:pPr>
            <a:r>
              <a:rPr lang="en-US" sz="1600" b="1" dirty="0">
                <a:solidFill>
                  <a:srgbClr val="14213D"/>
                </a:solidFill>
                <a:latin typeface="Courier New" pitchFamily="34" charset="0"/>
                <a:ea typeface="Courier New" pitchFamily="34" charset="-122"/>
                <a:cs typeface="Courier New" pitchFamily="34" charset="-120"/>
              </a:rPr>
              <a:t>grades</a:t>
            </a:r>
            <a:endParaRPr lang="en-US" sz="1600" dirty="0"/>
          </a:p>
        </p:txBody>
      </p:sp>
      <p:sp>
        <p:nvSpPr>
          <p:cNvPr id="32" name="Text 29"/>
          <p:cNvSpPr txBox="1"/>
          <p:nvPr/>
        </p:nvSpPr>
        <p:spPr>
          <a:xfrm>
            <a:off x="7269480" y="5715000"/>
            <a:ext cx="4114800" cy="320040"/>
          </a:xfrm>
          <a:prstGeom prst="rect">
            <a:avLst/>
          </a:prstGeom>
          <a:noFill/>
          <a:ln/>
        </p:spPr>
        <p:txBody>
          <a:bodyPr wrap="square" lIns="0" tIns="0" rIns="0" bIns="0" rtlCol="0" anchor="ctr"/>
          <a:lstStyle/>
          <a:p>
            <a:pPr indent="0" marL="0">
              <a:buNone/>
            </a:pPr>
            <a:r>
              <a:rPr lang="en-US" sz="1400" b="1" dirty="0">
                <a:solidFill>
                  <a:srgbClr val="1F7A50"/>
                </a:solidFill>
                <a:latin typeface="Calibri" pitchFamily="34" charset="0"/>
                <a:ea typeface="Calibri" pitchFamily="34" charset="-122"/>
                <a:cs typeface="Calibri" pitchFamily="34" charset="-120"/>
              </a:rPr>
              <a:t>green = above 70.9</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WORKED EXAMPLE 1 · CODE</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Grade Statistics in C#</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9</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20</a:t>
            </a:r>
            <a:endParaRPr lang="en-US" sz="1000" dirty="0"/>
          </a:p>
        </p:txBody>
      </p:sp>
      <p:sp>
        <p:nvSpPr>
          <p:cNvPr id="7" name="Shape 4"/>
          <p:cNvSpPr/>
          <p:nvPr/>
        </p:nvSpPr>
        <p:spPr>
          <a:xfrm>
            <a:off x="548640" y="1645920"/>
            <a:ext cx="5029200" cy="4434840"/>
          </a:xfrm>
          <a:prstGeom prst="roundRect">
            <a:avLst>
              <a:gd name="adj" fmla="val 2062"/>
            </a:avLst>
          </a:prstGeom>
          <a:solidFill>
            <a:srgbClr val="0F1729"/>
          </a:solidFill>
          <a:ln w="12700">
            <a:solidFill>
              <a:srgbClr val="0F1729"/>
            </a:solidFill>
            <a:prstDash val="solid"/>
          </a:ln>
        </p:spPr>
      </p:sp>
      <p:sp>
        <p:nvSpPr>
          <p:cNvPr id="8" name="Text 5"/>
          <p:cNvSpPr txBox="1"/>
          <p:nvPr/>
        </p:nvSpPr>
        <p:spPr>
          <a:xfrm>
            <a:off x="777240" y="1755648"/>
            <a:ext cx="457200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Program.cs (1/2)</a:t>
            </a:r>
            <a:endParaRPr lang="en-US" sz="1100" dirty="0"/>
          </a:p>
        </p:txBody>
      </p:sp>
      <p:sp>
        <p:nvSpPr>
          <p:cNvPr id="9" name="Text 6"/>
          <p:cNvSpPr txBox="1"/>
          <p:nvPr/>
        </p:nvSpPr>
        <p:spPr>
          <a:xfrm>
            <a:off x="777240" y="2057400"/>
            <a:ext cx="4572000" cy="3913632"/>
          </a:xfrm>
          <a:prstGeom prst="rect">
            <a:avLst/>
          </a:prstGeom>
          <a:noFill/>
          <a:ln/>
        </p:spPr>
        <p:txBody>
          <a:bodyPr wrap="square" lIns="0" tIns="0" rIns="0" bIns="0" rtlCol="0" anchor="t"/>
          <a:lstStyle/>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"How many students? "</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n =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.Parse(</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.ReadLine());</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grades =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new</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[n];</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Pass 1: read and store every grade</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 &lt; n; i++)</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$"Grade {i + 1}: "</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grades[i] =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.Parse(</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.ReadLine());</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0" name="Shape 7"/>
          <p:cNvSpPr/>
          <p:nvPr/>
        </p:nvSpPr>
        <p:spPr>
          <a:xfrm>
            <a:off x="5715000" y="1645920"/>
            <a:ext cx="5943600" cy="4434840"/>
          </a:xfrm>
          <a:prstGeom prst="roundRect">
            <a:avLst>
              <a:gd name="adj" fmla="val 2062"/>
            </a:avLst>
          </a:prstGeom>
          <a:solidFill>
            <a:srgbClr val="0F1729"/>
          </a:solidFill>
          <a:ln w="12700">
            <a:solidFill>
              <a:srgbClr val="0F1729"/>
            </a:solidFill>
            <a:prstDash val="solid"/>
          </a:ln>
        </p:spPr>
      </p:sp>
      <p:sp>
        <p:nvSpPr>
          <p:cNvPr id="11" name="Text 8"/>
          <p:cNvSpPr txBox="1"/>
          <p:nvPr/>
        </p:nvSpPr>
        <p:spPr>
          <a:xfrm>
            <a:off x="5943600" y="1755648"/>
            <a:ext cx="548640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Program.cs (2/2)</a:t>
            </a:r>
            <a:endParaRPr lang="en-US" sz="1100" dirty="0"/>
          </a:p>
        </p:txBody>
      </p:sp>
      <p:sp>
        <p:nvSpPr>
          <p:cNvPr id="12" name="Text 9"/>
          <p:cNvSpPr txBox="1"/>
          <p:nvPr/>
        </p:nvSpPr>
        <p:spPr>
          <a:xfrm>
            <a:off x="5943600" y="2057400"/>
            <a:ext cx="5486400" cy="3913632"/>
          </a:xfrm>
          <a:prstGeom prst="rect">
            <a:avLst/>
          </a:prstGeom>
          <a:noFill/>
          <a:ln/>
        </p:spPr>
        <p:txBody>
          <a:bodyPr wrap="square" lIns="0" tIns="0" rIns="0" bIns="0" rtlCol="0" anchor="t"/>
          <a:lstStyle/>
          <a:p>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Pass 2: the sum and the average</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sum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 &lt; grades.Length; i++)</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sum += grades[i];</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average = sum / grades.Length;</a:t>
            </a:r>
            <a:endParaRPr lang="en-US" sz="1200" dirty="0"/>
          </a:p>
          <a:p>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Pass 3: count the grades above the average</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aboveCount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 &lt; grades.Length; i++)</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(grades[i] &gt; average)</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aboveCount++;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$"Grades: {string.Join("</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 grades)}"</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$"Average: {average:F2}"</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$"Above average: {aboveCount} of {n}"</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WORKED EXAMPLE 2</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Printing in Reverse: Store First, Then Walk Back</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9</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21</a:t>
            </a:r>
            <a:endParaRPr lang="en-US" sz="1000" dirty="0"/>
          </a:p>
        </p:txBody>
      </p:sp>
      <p:sp>
        <p:nvSpPr>
          <p:cNvPr id="7" name="Shape 4"/>
          <p:cNvSpPr/>
          <p:nvPr/>
        </p:nvSpPr>
        <p:spPr>
          <a:xfrm>
            <a:off x="548640" y="1645920"/>
            <a:ext cx="5852160" cy="4434840"/>
          </a:xfrm>
          <a:prstGeom prst="roundRect">
            <a:avLst>
              <a:gd name="adj" fmla="val 2062"/>
            </a:avLst>
          </a:prstGeom>
          <a:solidFill>
            <a:srgbClr val="0F1729"/>
          </a:solidFill>
          <a:ln w="12700">
            <a:solidFill>
              <a:srgbClr val="0F1729"/>
            </a:solidFill>
            <a:prstDash val="solid"/>
          </a:ln>
        </p:spPr>
      </p:sp>
      <p:sp>
        <p:nvSpPr>
          <p:cNvPr id="8" name="Text 5"/>
          <p:cNvSpPr txBox="1"/>
          <p:nvPr/>
        </p:nvSpPr>
        <p:spPr>
          <a:xfrm>
            <a:off x="777240" y="1755648"/>
            <a:ext cx="539496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09_04_ReversePrint</a:t>
            </a:r>
            <a:endParaRPr lang="en-US" sz="1100" dirty="0"/>
          </a:p>
        </p:txBody>
      </p:sp>
      <p:sp>
        <p:nvSpPr>
          <p:cNvPr id="9" name="Text 6"/>
          <p:cNvSpPr txBox="1"/>
          <p:nvPr/>
        </p:nvSpPr>
        <p:spPr>
          <a:xfrm>
            <a:off x="777240" y="2057400"/>
            <a:ext cx="5394960" cy="3913632"/>
          </a:xfrm>
          <a:prstGeom prst="rect">
            <a:avLst/>
          </a:prstGeom>
          <a:noFill/>
          <a:ln/>
        </p:spPr>
        <p:txBody>
          <a:bodyPr wrap="square" lIns="0" tIns="0" rIns="0" bIns="0" rtlCol="0" anchor="t"/>
          <a:lstStyle/>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300" dirty="0">
                <a:solidFill>
                  <a:srgbClr val="CE9178"/>
                </a:solidFill>
                <a:latin typeface="Courier New" pitchFamily="34" charset="0"/>
                <a:ea typeface="Courier New" pitchFamily="34" charset="-122"/>
                <a:cs typeface="Courier New" pitchFamily="34" charset="-120"/>
              </a:rPr>
              <a:t>"How many numbers? "</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n =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.Parse(</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.ReadLine());</a:t>
            </a:r>
            <a:endParaRPr lang="en-US" sz="1300" dirty="0"/>
          </a:p>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numbers = </a:t>
            </a:r>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new</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[n];</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i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i &lt; n; i++)</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300" dirty="0">
                <a:solidFill>
                  <a:srgbClr val="CE9178"/>
                </a:solidFill>
                <a:latin typeface="Courier New" pitchFamily="34" charset="0"/>
                <a:ea typeface="Courier New" pitchFamily="34" charset="-122"/>
                <a:cs typeface="Courier New" pitchFamily="34" charset="-120"/>
              </a:rPr>
              <a:t>$"Number {i + 1}: "</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numbers[i] =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.Parse(</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.ReadLine());</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300" dirty="0">
                <a:solidFill>
                  <a:srgbClr val="CE9178"/>
                </a:solidFill>
                <a:latin typeface="Courier New" pitchFamily="34" charset="0"/>
                <a:ea typeface="Courier New" pitchFamily="34" charset="-122"/>
                <a:cs typeface="Courier New" pitchFamily="34" charset="-120"/>
              </a:rPr>
              <a:t>"Reversed:"</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i = numbers.Length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i &gt;=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i--)</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300" dirty="0">
                <a:solidFill>
                  <a:srgbClr val="CE9178"/>
                </a:solidFill>
                <a:latin typeface="Courier New" pitchFamily="34" charset="0"/>
                <a:ea typeface="Courier New" pitchFamily="34" charset="-122"/>
                <a:cs typeface="Courier New" pitchFamily="34" charset="-120"/>
              </a:rPr>
              <a:t>$" {numbers[i]}"</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.WriteLine();</a:t>
            </a:r>
            <a:endParaRPr lang="en-US" sz="1300" dirty="0"/>
          </a:p>
        </p:txBody>
      </p:sp>
      <p:sp>
        <p:nvSpPr>
          <p:cNvPr id="10" name="Shape 7"/>
          <p:cNvSpPr/>
          <p:nvPr/>
        </p:nvSpPr>
        <p:spPr>
          <a:xfrm>
            <a:off x="7680960" y="2103120"/>
            <a:ext cx="777240" cy="566928"/>
          </a:xfrm>
          <a:prstGeom prst="rect">
            <a:avLst/>
          </a:prstGeom>
          <a:solidFill>
            <a:srgbClr val="FFFFFF"/>
          </a:solidFill>
          <a:ln w="15875">
            <a:solidFill>
              <a:srgbClr val="14213D"/>
            </a:solidFill>
            <a:prstDash val="solid"/>
          </a:ln>
        </p:spPr>
      </p:sp>
      <p:sp>
        <p:nvSpPr>
          <p:cNvPr id="11" name="Text 8"/>
          <p:cNvSpPr txBox="1"/>
          <p:nvPr/>
        </p:nvSpPr>
        <p:spPr>
          <a:xfrm>
            <a:off x="7680960" y="2103120"/>
            <a:ext cx="777240" cy="566928"/>
          </a:xfrm>
          <a:prstGeom prst="rect">
            <a:avLst/>
          </a:prstGeom>
          <a:noFill/>
          <a:ln/>
        </p:spPr>
        <p:txBody>
          <a:bodyPr wrap="square" lIns="0" tIns="0" rIns="0" bIns="0" rtlCol="0" anchor="ctr"/>
          <a:lstStyle/>
          <a:p>
            <a:pPr algn="ctr" indent="0" marL="0">
              <a:buNone/>
            </a:pPr>
            <a:r>
              <a:rPr lang="en-US" sz="1700" b="1" dirty="0">
                <a:solidFill>
                  <a:srgbClr val="14213D"/>
                </a:solidFill>
                <a:latin typeface="Courier New" pitchFamily="34" charset="0"/>
                <a:ea typeface="Courier New" pitchFamily="34" charset="-122"/>
                <a:cs typeface="Courier New" pitchFamily="34" charset="-120"/>
              </a:rPr>
              <a:t>4</a:t>
            </a:r>
            <a:endParaRPr lang="en-US" sz="1700" dirty="0"/>
          </a:p>
        </p:txBody>
      </p:sp>
      <p:sp>
        <p:nvSpPr>
          <p:cNvPr id="12" name="Text 9"/>
          <p:cNvSpPr txBox="1"/>
          <p:nvPr/>
        </p:nvSpPr>
        <p:spPr>
          <a:xfrm>
            <a:off x="7680960" y="2697480"/>
            <a:ext cx="777240" cy="274320"/>
          </a:xfrm>
          <a:prstGeom prst="rect">
            <a:avLst/>
          </a:prstGeom>
          <a:noFill/>
          <a:ln/>
        </p:spPr>
        <p:txBody>
          <a:bodyPr wrap="square" lIns="0" tIns="0" rIns="0" bIns="0" rtlCol="0" anchor="ctr"/>
          <a:lstStyle/>
          <a:p>
            <a:pPr algn="ctr" indent="0" marL="0">
              <a:buNone/>
            </a:pPr>
            <a:r>
              <a:rPr lang="en-US" sz="1300" dirty="0">
                <a:solidFill>
                  <a:srgbClr val="5B6478"/>
                </a:solidFill>
                <a:latin typeface="Courier New" pitchFamily="34" charset="0"/>
                <a:ea typeface="Courier New" pitchFamily="34" charset="-122"/>
                <a:cs typeface="Courier New" pitchFamily="34" charset="-120"/>
              </a:rPr>
              <a:t>[0]</a:t>
            </a:r>
            <a:endParaRPr lang="en-US" sz="1300" dirty="0"/>
          </a:p>
        </p:txBody>
      </p:sp>
      <p:sp>
        <p:nvSpPr>
          <p:cNvPr id="13" name="Shape 10"/>
          <p:cNvSpPr/>
          <p:nvPr/>
        </p:nvSpPr>
        <p:spPr>
          <a:xfrm>
            <a:off x="8458200" y="2103120"/>
            <a:ext cx="777240" cy="566928"/>
          </a:xfrm>
          <a:prstGeom prst="rect">
            <a:avLst/>
          </a:prstGeom>
          <a:solidFill>
            <a:srgbClr val="FFFFFF"/>
          </a:solidFill>
          <a:ln w="15875">
            <a:solidFill>
              <a:srgbClr val="14213D"/>
            </a:solidFill>
            <a:prstDash val="solid"/>
          </a:ln>
        </p:spPr>
      </p:sp>
      <p:sp>
        <p:nvSpPr>
          <p:cNvPr id="14" name="Text 11"/>
          <p:cNvSpPr txBox="1"/>
          <p:nvPr/>
        </p:nvSpPr>
        <p:spPr>
          <a:xfrm>
            <a:off x="8458200" y="2103120"/>
            <a:ext cx="777240" cy="566928"/>
          </a:xfrm>
          <a:prstGeom prst="rect">
            <a:avLst/>
          </a:prstGeom>
          <a:noFill/>
          <a:ln/>
        </p:spPr>
        <p:txBody>
          <a:bodyPr wrap="square" lIns="0" tIns="0" rIns="0" bIns="0" rtlCol="0" anchor="ctr"/>
          <a:lstStyle/>
          <a:p>
            <a:pPr algn="ctr" indent="0" marL="0">
              <a:buNone/>
            </a:pPr>
            <a:r>
              <a:rPr lang="en-US" sz="1700" b="1" dirty="0">
                <a:solidFill>
                  <a:srgbClr val="14213D"/>
                </a:solidFill>
                <a:latin typeface="Courier New" pitchFamily="34" charset="0"/>
                <a:ea typeface="Courier New" pitchFamily="34" charset="-122"/>
                <a:cs typeface="Courier New" pitchFamily="34" charset="-120"/>
              </a:rPr>
              <a:t>8</a:t>
            </a:r>
            <a:endParaRPr lang="en-US" sz="1700" dirty="0"/>
          </a:p>
        </p:txBody>
      </p:sp>
      <p:sp>
        <p:nvSpPr>
          <p:cNvPr id="15" name="Text 12"/>
          <p:cNvSpPr txBox="1"/>
          <p:nvPr/>
        </p:nvSpPr>
        <p:spPr>
          <a:xfrm>
            <a:off x="8458200" y="2697480"/>
            <a:ext cx="777240" cy="274320"/>
          </a:xfrm>
          <a:prstGeom prst="rect">
            <a:avLst/>
          </a:prstGeom>
          <a:noFill/>
          <a:ln/>
        </p:spPr>
        <p:txBody>
          <a:bodyPr wrap="square" lIns="0" tIns="0" rIns="0" bIns="0" rtlCol="0" anchor="ctr"/>
          <a:lstStyle/>
          <a:p>
            <a:pPr algn="ctr" indent="0" marL="0">
              <a:buNone/>
            </a:pPr>
            <a:r>
              <a:rPr lang="en-US" sz="1300" dirty="0">
                <a:solidFill>
                  <a:srgbClr val="5B6478"/>
                </a:solidFill>
                <a:latin typeface="Courier New" pitchFamily="34" charset="0"/>
                <a:ea typeface="Courier New" pitchFamily="34" charset="-122"/>
                <a:cs typeface="Courier New" pitchFamily="34" charset="-120"/>
              </a:rPr>
              <a:t>[1]</a:t>
            </a:r>
            <a:endParaRPr lang="en-US" sz="1300" dirty="0"/>
          </a:p>
        </p:txBody>
      </p:sp>
      <p:sp>
        <p:nvSpPr>
          <p:cNvPr id="16" name="Shape 13"/>
          <p:cNvSpPr/>
          <p:nvPr/>
        </p:nvSpPr>
        <p:spPr>
          <a:xfrm>
            <a:off x="9235440" y="2103120"/>
            <a:ext cx="777240" cy="566928"/>
          </a:xfrm>
          <a:prstGeom prst="rect">
            <a:avLst/>
          </a:prstGeom>
          <a:solidFill>
            <a:srgbClr val="FFFFFF"/>
          </a:solidFill>
          <a:ln w="15875">
            <a:solidFill>
              <a:srgbClr val="14213D"/>
            </a:solidFill>
            <a:prstDash val="solid"/>
          </a:ln>
        </p:spPr>
      </p:sp>
      <p:sp>
        <p:nvSpPr>
          <p:cNvPr id="17" name="Text 14"/>
          <p:cNvSpPr txBox="1"/>
          <p:nvPr/>
        </p:nvSpPr>
        <p:spPr>
          <a:xfrm>
            <a:off x="9235440" y="2103120"/>
            <a:ext cx="777240" cy="566928"/>
          </a:xfrm>
          <a:prstGeom prst="rect">
            <a:avLst/>
          </a:prstGeom>
          <a:noFill/>
          <a:ln/>
        </p:spPr>
        <p:txBody>
          <a:bodyPr wrap="square" lIns="0" tIns="0" rIns="0" bIns="0" rtlCol="0" anchor="ctr"/>
          <a:lstStyle/>
          <a:p>
            <a:pPr algn="ctr" indent="0" marL="0">
              <a:buNone/>
            </a:pPr>
            <a:r>
              <a:rPr lang="en-US" sz="1700" b="1" dirty="0">
                <a:solidFill>
                  <a:srgbClr val="14213D"/>
                </a:solidFill>
                <a:latin typeface="Courier New" pitchFamily="34" charset="0"/>
                <a:ea typeface="Courier New" pitchFamily="34" charset="-122"/>
                <a:cs typeface="Courier New" pitchFamily="34" charset="-120"/>
              </a:rPr>
              <a:t>15</a:t>
            </a:r>
            <a:endParaRPr lang="en-US" sz="1700" dirty="0"/>
          </a:p>
        </p:txBody>
      </p:sp>
      <p:sp>
        <p:nvSpPr>
          <p:cNvPr id="18" name="Text 15"/>
          <p:cNvSpPr txBox="1"/>
          <p:nvPr/>
        </p:nvSpPr>
        <p:spPr>
          <a:xfrm>
            <a:off x="9235440" y="2697480"/>
            <a:ext cx="777240" cy="274320"/>
          </a:xfrm>
          <a:prstGeom prst="rect">
            <a:avLst/>
          </a:prstGeom>
          <a:noFill/>
          <a:ln/>
        </p:spPr>
        <p:txBody>
          <a:bodyPr wrap="square" lIns="0" tIns="0" rIns="0" bIns="0" rtlCol="0" anchor="ctr"/>
          <a:lstStyle/>
          <a:p>
            <a:pPr algn="ctr" indent="0" marL="0">
              <a:buNone/>
            </a:pPr>
            <a:r>
              <a:rPr lang="en-US" sz="1300" dirty="0">
                <a:solidFill>
                  <a:srgbClr val="5B6478"/>
                </a:solidFill>
                <a:latin typeface="Courier New" pitchFamily="34" charset="0"/>
                <a:ea typeface="Courier New" pitchFamily="34" charset="-122"/>
                <a:cs typeface="Courier New" pitchFamily="34" charset="-120"/>
              </a:rPr>
              <a:t>[2]</a:t>
            </a:r>
            <a:endParaRPr lang="en-US" sz="1300" dirty="0"/>
          </a:p>
        </p:txBody>
      </p:sp>
      <p:sp>
        <p:nvSpPr>
          <p:cNvPr id="19" name="Shape 16"/>
          <p:cNvSpPr/>
          <p:nvPr/>
        </p:nvSpPr>
        <p:spPr>
          <a:xfrm>
            <a:off x="10012680" y="2103120"/>
            <a:ext cx="777240" cy="566928"/>
          </a:xfrm>
          <a:prstGeom prst="rect">
            <a:avLst/>
          </a:prstGeom>
          <a:solidFill>
            <a:srgbClr val="FFFFFF"/>
          </a:solidFill>
          <a:ln w="15875">
            <a:solidFill>
              <a:srgbClr val="14213D"/>
            </a:solidFill>
            <a:prstDash val="solid"/>
          </a:ln>
        </p:spPr>
      </p:sp>
      <p:sp>
        <p:nvSpPr>
          <p:cNvPr id="20" name="Text 17"/>
          <p:cNvSpPr txBox="1"/>
          <p:nvPr/>
        </p:nvSpPr>
        <p:spPr>
          <a:xfrm>
            <a:off x="10012680" y="2103120"/>
            <a:ext cx="777240" cy="566928"/>
          </a:xfrm>
          <a:prstGeom prst="rect">
            <a:avLst/>
          </a:prstGeom>
          <a:noFill/>
          <a:ln/>
        </p:spPr>
        <p:txBody>
          <a:bodyPr wrap="square" lIns="0" tIns="0" rIns="0" bIns="0" rtlCol="0" anchor="ctr"/>
          <a:lstStyle/>
          <a:p>
            <a:pPr algn="ctr" indent="0" marL="0">
              <a:buNone/>
            </a:pPr>
            <a:r>
              <a:rPr lang="en-US" sz="1700" b="1" dirty="0">
                <a:solidFill>
                  <a:srgbClr val="14213D"/>
                </a:solidFill>
                <a:latin typeface="Courier New" pitchFamily="34" charset="0"/>
                <a:ea typeface="Courier New" pitchFamily="34" charset="-122"/>
                <a:cs typeface="Courier New" pitchFamily="34" charset="-120"/>
              </a:rPr>
              <a:t>16</a:t>
            </a:r>
            <a:endParaRPr lang="en-US" sz="1700" dirty="0"/>
          </a:p>
        </p:txBody>
      </p:sp>
      <p:sp>
        <p:nvSpPr>
          <p:cNvPr id="21" name="Text 18"/>
          <p:cNvSpPr txBox="1"/>
          <p:nvPr/>
        </p:nvSpPr>
        <p:spPr>
          <a:xfrm>
            <a:off x="10012680" y="2697480"/>
            <a:ext cx="777240" cy="274320"/>
          </a:xfrm>
          <a:prstGeom prst="rect">
            <a:avLst/>
          </a:prstGeom>
          <a:noFill/>
          <a:ln/>
        </p:spPr>
        <p:txBody>
          <a:bodyPr wrap="square" lIns="0" tIns="0" rIns="0" bIns="0" rtlCol="0" anchor="ctr"/>
          <a:lstStyle/>
          <a:p>
            <a:pPr algn="ctr" indent="0" marL="0">
              <a:buNone/>
            </a:pPr>
            <a:r>
              <a:rPr lang="en-US" sz="1300" dirty="0">
                <a:solidFill>
                  <a:srgbClr val="5B6478"/>
                </a:solidFill>
                <a:latin typeface="Courier New" pitchFamily="34" charset="0"/>
                <a:ea typeface="Courier New" pitchFamily="34" charset="-122"/>
                <a:cs typeface="Courier New" pitchFamily="34" charset="-120"/>
              </a:rPr>
              <a:t>[3]</a:t>
            </a:r>
            <a:endParaRPr lang="en-US" sz="1300" dirty="0"/>
          </a:p>
        </p:txBody>
      </p:sp>
      <p:sp>
        <p:nvSpPr>
          <p:cNvPr id="22" name="Shape 19"/>
          <p:cNvSpPr/>
          <p:nvPr/>
        </p:nvSpPr>
        <p:spPr>
          <a:xfrm>
            <a:off x="10789920" y="2103120"/>
            <a:ext cx="777240" cy="566928"/>
          </a:xfrm>
          <a:prstGeom prst="rect">
            <a:avLst/>
          </a:prstGeom>
          <a:solidFill>
            <a:srgbClr val="FFFFFF"/>
          </a:solidFill>
          <a:ln w="15875">
            <a:solidFill>
              <a:srgbClr val="14213D"/>
            </a:solidFill>
            <a:prstDash val="solid"/>
          </a:ln>
        </p:spPr>
      </p:sp>
      <p:sp>
        <p:nvSpPr>
          <p:cNvPr id="23" name="Text 20"/>
          <p:cNvSpPr txBox="1"/>
          <p:nvPr/>
        </p:nvSpPr>
        <p:spPr>
          <a:xfrm>
            <a:off x="10789920" y="2103120"/>
            <a:ext cx="777240" cy="566928"/>
          </a:xfrm>
          <a:prstGeom prst="rect">
            <a:avLst/>
          </a:prstGeom>
          <a:noFill/>
          <a:ln/>
        </p:spPr>
        <p:txBody>
          <a:bodyPr wrap="square" lIns="0" tIns="0" rIns="0" bIns="0" rtlCol="0" anchor="ctr"/>
          <a:lstStyle/>
          <a:p>
            <a:pPr algn="ctr" indent="0" marL="0">
              <a:buNone/>
            </a:pPr>
            <a:r>
              <a:rPr lang="en-US" sz="1700" b="1" dirty="0">
                <a:solidFill>
                  <a:srgbClr val="14213D"/>
                </a:solidFill>
                <a:latin typeface="Courier New" pitchFamily="34" charset="0"/>
                <a:ea typeface="Courier New" pitchFamily="34" charset="-122"/>
                <a:cs typeface="Courier New" pitchFamily="34" charset="-120"/>
              </a:rPr>
              <a:t>23</a:t>
            </a:r>
            <a:endParaRPr lang="en-US" sz="1700" dirty="0"/>
          </a:p>
        </p:txBody>
      </p:sp>
      <p:sp>
        <p:nvSpPr>
          <p:cNvPr id="24" name="Text 21"/>
          <p:cNvSpPr txBox="1"/>
          <p:nvPr/>
        </p:nvSpPr>
        <p:spPr>
          <a:xfrm>
            <a:off x="10789920" y="2697480"/>
            <a:ext cx="777240" cy="274320"/>
          </a:xfrm>
          <a:prstGeom prst="rect">
            <a:avLst/>
          </a:prstGeom>
          <a:noFill/>
          <a:ln/>
        </p:spPr>
        <p:txBody>
          <a:bodyPr wrap="square" lIns="0" tIns="0" rIns="0" bIns="0" rtlCol="0" anchor="ctr"/>
          <a:lstStyle/>
          <a:p>
            <a:pPr algn="ctr" indent="0" marL="0">
              <a:buNone/>
            </a:pPr>
            <a:r>
              <a:rPr lang="en-US" sz="1300" dirty="0">
                <a:solidFill>
                  <a:srgbClr val="5B6478"/>
                </a:solidFill>
                <a:latin typeface="Courier New" pitchFamily="34" charset="0"/>
                <a:ea typeface="Courier New" pitchFamily="34" charset="-122"/>
                <a:cs typeface="Courier New" pitchFamily="34" charset="-120"/>
              </a:rPr>
              <a:t>[4]</a:t>
            </a:r>
            <a:endParaRPr lang="en-US" sz="1300" dirty="0"/>
          </a:p>
        </p:txBody>
      </p:sp>
      <p:sp>
        <p:nvSpPr>
          <p:cNvPr id="25" name="Text 22"/>
          <p:cNvSpPr txBox="1"/>
          <p:nvPr/>
        </p:nvSpPr>
        <p:spPr>
          <a:xfrm>
            <a:off x="6565392" y="2103120"/>
            <a:ext cx="1005840" cy="566928"/>
          </a:xfrm>
          <a:prstGeom prst="rect">
            <a:avLst/>
          </a:prstGeom>
          <a:noFill/>
          <a:ln/>
        </p:spPr>
        <p:txBody>
          <a:bodyPr wrap="square" lIns="0" tIns="0" rIns="0" bIns="0" rtlCol="0" anchor="ctr"/>
          <a:lstStyle/>
          <a:p>
            <a:pPr algn="r" indent="0" marL="0">
              <a:buNone/>
            </a:pPr>
            <a:r>
              <a:rPr lang="en-US" sz="1600" b="1" dirty="0">
                <a:solidFill>
                  <a:srgbClr val="14213D"/>
                </a:solidFill>
                <a:latin typeface="Courier New" pitchFamily="34" charset="0"/>
                <a:ea typeface="Courier New" pitchFamily="34" charset="-122"/>
                <a:cs typeface="Courier New" pitchFamily="34" charset="-120"/>
              </a:rPr>
              <a:t>numbers</a:t>
            </a:r>
            <a:endParaRPr lang="en-US" sz="1600" dirty="0"/>
          </a:p>
        </p:txBody>
      </p:sp>
      <p:sp>
        <p:nvSpPr>
          <p:cNvPr id="26" name="Shape 23"/>
          <p:cNvSpPr/>
          <p:nvPr/>
        </p:nvSpPr>
        <p:spPr>
          <a:xfrm flipH="1">
            <a:off x="10401300" y="1737360"/>
            <a:ext cx="777240" cy="457200"/>
          </a:xfrm>
          <a:prstGeom prst="arc">
            <a:avLst>
              <a:gd name="adj1" fmla="val 10800000"/>
              <a:gd name="adj2" fmla="val 21600000"/>
            </a:avLst>
          </a:prstGeom>
          <a:noFill/>
          <a:ln w="22225">
            <a:solidFill>
              <a:srgbClr val="FCA311"/>
            </a:solidFill>
            <a:prstDash val="solid"/>
            <a:tailEnd type="triangle"/>
          </a:ln>
        </p:spPr>
      </p:sp>
      <p:sp>
        <p:nvSpPr>
          <p:cNvPr id="27" name="Shape 24"/>
          <p:cNvSpPr/>
          <p:nvPr/>
        </p:nvSpPr>
        <p:spPr>
          <a:xfrm flipH="1">
            <a:off x="9624060" y="1737360"/>
            <a:ext cx="777240" cy="457200"/>
          </a:xfrm>
          <a:prstGeom prst="arc">
            <a:avLst>
              <a:gd name="adj1" fmla="val 10800000"/>
              <a:gd name="adj2" fmla="val 21600000"/>
            </a:avLst>
          </a:prstGeom>
          <a:noFill/>
          <a:ln w="22225">
            <a:solidFill>
              <a:srgbClr val="FCA311"/>
            </a:solidFill>
            <a:prstDash val="solid"/>
            <a:tailEnd type="triangle"/>
          </a:ln>
        </p:spPr>
      </p:sp>
      <p:sp>
        <p:nvSpPr>
          <p:cNvPr id="28" name="Shape 25"/>
          <p:cNvSpPr/>
          <p:nvPr/>
        </p:nvSpPr>
        <p:spPr>
          <a:xfrm flipH="1">
            <a:off x="8846820" y="1737360"/>
            <a:ext cx="777240" cy="457200"/>
          </a:xfrm>
          <a:prstGeom prst="arc">
            <a:avLst>
              <a:gd name="adj1" fmla="val 10800000"/>
              <a:gd name="adj2" fmla="val 21600000"/>
            </a:avLst>
          </a:prstGeom>
          <a:noFill/>
          <a:ln w="22225">
            <a:solidFill>
              <a:srgbClr val="FCA311"/>
            </a:solidFill>
            <a:prstDash val="solid"/>
            <a:tailEnd type="triangle"/>
          </a:ln>
        </p:spPr>
      </p:sp>
      <p:sp>
        <p:nvSpPr>
          <p:cNvPr id="29" name="Shape 26"/>
          <p:cNvSpPr/>
          <p:nvPr/>
        </p:nvSpPr>
        <p:spPr>
          <a:xfrm flipH="1">
            <a:off x="8069580" y="1737360"/>
            <a:ext cx="777240" cy="457200"/>
          </a:xfrm>
          <a:prstGeom prst="arc">
            <a:avLst>
              <a:gd name="adj1" fmla="val 10800000"/>
              <a:gd name="adj2" fmla="val 21600000"/>
            </a:avLst>
          </a:prstGeom>
          <a:noFill/>
          <a:ln w="22225">
            <a:solidFill>
              <a:srgbClr val="FCA311"/>
            </a:solidFill>
            <a:prstDash val="solid"/>
            <a:tailEnd type="triangle"/>
          </a:ln>
        </p:spPr>
      </p:sp>
      <p:sp>
        <p:nvSpPr>
          <p:cNvPr id="30" name="Text 27"/>
          <p:cNvSpPr txBox="1"/>
          <p:nvPr/>
        </p:nvSpPr>
        <p:spPr>
          <a:xfrm>
            <a:off x="6675120" y="3063240"/>
            <a:ext cx="4983480" cy="320040"/>
          </a:xfrm>
          <a:prstGeom prst="rect">
            <a:avLst/>
          </a:prstGeom>
          <a:noFill/>
          <a:ln/>
        </p:spPr>
        <p:txBody>
          <a:bodyPr wrap="square" lIns="0" tIns="0" rIns="0" bIns="0" rtlCol="0" anchor="ctr"/>
          <a:lstStyle/>
          <a:p>
            <a:pPr algn="ctr" indent="0" marL="0">
              <a:buNone/>
            </a:pPr>
            <a:r>
              <a:rPr lang="en-US" sz="1500" b="1" dirty="0">
                <a:solidFill>
                  <a:srgbClr val="B7791F"/>
                </a:solidFill>
                <a:latin typeface="Courier New" pitchFamily="34" charset="0"/>
                <a:ea typeface="Courier New" pitchFamily="34" charset="-122"/>
                <a:cs typeface="Courier New" pitchFamily="34" charset="-120"/>
              </a:rPr>
              <a:t>i = 4, 3, 2, 1, 0</a:t>
            </a:r>
            <a:endParaRPr lang="en-US" sz="1500" dirty="0"/>
          </a:p>
        </p:txBody>
      </p:sp>
      <p:sp>
        <p:nvSpPr>
          <p:cNvPr id="31" name="Shape 28"/>
          <p:cNvSpPr/>
          <p:nvPr/>
        </p:nvSpPr>
        <p:spPr>
          <a:xfrm>
            <a:off x="6675120" y="3566160"/>
            <a:ext cx="4983480" cy="2514600"/>
          </a:xfrm>
          <a:prstGeom prst="roundRect">
            <a:avLst>
              <a:gd name="adj" fmla="val 3636"/>
            </a:avLst>
          </a:prstGeom>
          <a:solidFill>
            <a:srgbClr val="0B0F19"/>
          </a:solidFill>
          <a:ln w="12700">
            <a:solidFill>
              <a:srgbClr val="2A3654"/>
            </a:solidFill>
            <a:prstDash val="solid"/>
          </a:ln>
        </p:spPr>
      </p:sp>
      <p:sp>
        <p:nvSpPr>
          <p:cNvPr id="32" name="Shape 29"/>
          <p:cNvSpPr/>
          <p:nvPr/>
        </p:nvSpPr>
        <p:spPr>
          <a:xfrm>
            <a:off x="6858000" y="3694176"/>
            <a:ext cx="118872" cy="118872"/>
          </a:xfrm>
          <a:prstGeom prst="ellipse">
            <a:avLst/>
          </a:prstGeom>
          <a:solidFill>
            <a:srgbClr val="FF5F57"/>
          </a:solidFill>
          <a:ln w="12700">
            <a:solidFill>
              <a:srgbClr val="FF5F57"/>
            </a:solidFill>
            <a:prstDash val="solid"/>
          </a:ln>
        </p:spPr>
      </p:sp>
      <p:sp>
        <p:nvSpPr>
          <p:cNvPr id="33" name="Shape 30"/>
          <p:cNvSpPr/>
          <p:nvPr/>
        </p:nvSpPr>
        <p:spPr>
          <a:xfrm>
            <a:off x="7086600" y="3694176"/>
            <a:ext cx="118872" cy="118872"/>
          </a:xfrm>
          <a:prstGeom prst="ellipse">
            <a:avLst/>
          </a:prstGeom>
          <a:solidFill>
            <a:srgbClr val="FEBC2E"/>
          </a:solidFill>
          <a:ln w="12700">
            <a:solidFill>
              <a:srgbClr val="FEBC2E"/>
            </a:solidFill>
            <a:prstDash val="solid"/>
          </a:ln>
        </p:spPr>
      </p:sp>
      <p:sp>
        <p:nvSpPr>
          <p:cNvPr id="34" name="Shape 31"/>
          <p:cNvSpPr/>
          <p:nvPr/>
        </p:nvSpPr>
        <p:spPr>
          <a:xfrm>
            <a:off x="7315200" y="3694176"/>
            <a:ext cx="118872" cy="118872"/>
          </a:xfrm>
          <a:prstGeom prst="ellipse">
            <a:avLst/>
          </a:prstGeom>
          <a:solidFill>
            <a:srgbClr val="28C840"/>
          </a:solidFill>
          <a:ln w="12700">
            <a:solidFill>
              <a:srgbClr val="28C840"/>
            </a:solidFill>
            <a:prstDash val="solid"/>
          </a:ln>
        </p:spPr>
      </p:sp>
      <p:sp>
        <p:nvSpPr>
          <p:cNvPr id="35" name="Text 32"/>
          <p:cNvSpPr txBox="1"/>
          <p:nvPr/>
        </p:nvSpPr>
        <p:spPr>
          <a:xfrm>
            <a:off x="7589520" y="3639312"/>
            <a:ext cx="388620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36" name="Text 33"/>
          <p:cNvSpPr txBox="1"/>
          <p:nvPr/>
        </p:nvSpPr>
        <p:spPr>
          <a:xfrm>
            <a:off x="6903720" y="3950208"/>
            <a:ext cx="4526280" cy="2011680"/>
          </a:xfrm>
          <a:prstGeom prst="rect">
            <a:avLst/>
          </a:prstGeom>
          <a:noFill/>
          <a:ln/>
        </p:spPr>
        <p:txBody>
          <a:bodyPr wrap="square" lIns="0" tIns="0" rIns="0" bIns="0" rtlCol="0" anchor="t"/>
          <a:lstStyle/>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How many numbers?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5</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Number 1: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4</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Number 2: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8</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Number 3: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15</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Number 4: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16</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Number 5: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23</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Reversed: 23 16 15 8 4</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WORKED EXAMPLE 3</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A Lookup Table Replaces a switch</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9</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22</a:t>
            </a:r>
            <a:endParaRPr lang="en-US" sz="1000" dirty="0"/>
          </a:p>
        </p:txBody>
      </p:sp>
      <p:sp>
        <p:nvSpPr>
          <p:cNvPr id="7" name="Shape 4"/>
          <p:cNvSpPr/>
          <p:nvPr/>
        </p:nvSpPr>
        <p:spPr>
          <a:xfrm>
            <a:off x="548640" y="1645920"/>
            <a:ext cx="6720840" cy="4434840"/>
          </a:xfrm>
          <a:prstGeom prst="roundRect">
            <a:avLst>
              <a:gd name="adj" fmla="val 2062"/>
            </a:avLst>
          </a:prstGeom>
          <a:solidFill>
            <a:srgbClr val="0F1729"/>
          </a:solidFill>
          <a:ln w="12700">
            <a:solidFill>
              <a:srgbClr val="0F1729"/>
            </a:solidFill>
            <a:prstDash val="solid"/>
          </a:ln>
        </p:spPr>
      </p:sp>
      <p:sp>
        <p:nvSpPr>
          <p:cNvPr id="8" name="Text 5"/>
          <p:cNvSpPr txBox="1"/>
          <p:nvPr/>
        </p:nvSpPr>
        <p:spPr>
          <a:xfrm>
            <a:off x="777240" y="1755648"/>
            <a:ext cx="626364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09_05_DayNames</a:t>
            </a:r>
            <a:endParaRPr lang="en-US" sz="1100" dirty="0"/>
          </a:p>
        </p:txBody>
      </p:sp>
      <p:sp>
        <p:nvSpPr>
          <p:cNvPr id="9" name="Text 6"/>
          <p:cNvSpPr txBox="1"/>
          <p:nvPr/>
        </p:nvSpPr>
        <p:spPr>
          <a:xfrm>
            <a:off x="777240" y="2057400"/>
            <a:ext cx="6263640" cy="3913632"/>
          </a:xfrm>
          <a:prstGeom prst="rect">
            <a:avLst/>
          </a:prstGeom>
          <a:noFill/>
          <a:ln/>
        </p:spPr>
        <p:txBody>
          <a:bodyPr wrap="square" lIns="0" tIns="0" rIns="0" bIns="0" rtlCol="0" anchor="t"/>
          <a:lstStyle/>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string</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dayNames = { </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"Monday"</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"Tuesday"</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"Wednesday"</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"Thursday"</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"Friday"</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"Saturday"</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"Sunday"</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lessonHours =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4</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6</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2</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6</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3</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"Day number (1-7): "</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day =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.Parse(</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.ReadLine());</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(day &lt;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day &gt; dayNames.Length)</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"There is no such day."</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else</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index = day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string</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name = dayNames[index];</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$"{name}: {lessonHours[index]} lesson hours"</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0" name="Text 7"/>
          <p:cNvSpPr txBox="1"/>
          <p:nvPr/>
        </p:nvSpPr>
        <p:spPr>
          <a:xfrm>
            <a:off x="7452360" y="1691640"/>
            <a:ext cx="594360" cy="274320"/>
          </a:xfrm>
          <a:prstGeom prst="rect">
            <a:avLst/>
          </a:prstGeom>
          <a:noFill/>
          <a:ln/>
        </p:spPr>
        <p:txBody>
          <a:bodyPr wrap="square" lIns="0" tIns="0" rIns="0" bIns="0" rtlCol="0" anchor="ctr"/>
          <a:lstStyle/>
          <a:p>
            <a:pPr algn="ctr" indent="0" marL="0">
              <a:buNone/>
            </a:pPr>
            <a:r>
              <a:rPr lang="en-US" sz="1300" b="1" dirty="0">
                <a:solidFill>
                  <a:srgbClr val="2F6FB3"/>
                </a:solidFill>
                <a:latin typeface="Courier New" pitchFamily="34" charset="0"/>
                <a:ea typeface="Courier New" pitchFamily="34" charset="-122"/>
                <a:cs typeface="Courier New" pitchFamily="34" charset="-120"/>
              </a:rPr>
              <a:t>1</a:t>
            </a:r>
            <a:endParaRPr lang="en-US" sz="1300" dirty="0"/>
          </a:p>
        </p:txBody>
      </p:sp>
      <p:sp>
        <p:nvSpPr>
          <p:cNvPr id="11" name="Text 8"/>
          <p:cNvSpPr txBox="1"/>
          <p:nvPr/>
        </p:nvSpPr>
        <p:spPr>
          <a:xfrm>
            <a:off x="8046720" y="1691640"/>
            <a:ext cx="594360" cy="274320"/>
          </a:xfrm>
          <a:prstGeom prst="rect">
            <a:avLst/>
          </a:prstGeom>
          <a:noFill/>
          <a:ln/>
        </p:spPr>
        <p:txBody>
          <a:bodyPr wrap="square" lIns="0" tIns="0" rIns="0" bIns="0" rtlCol="0" anchor="ctr"/>
          <a:lstStyle/>
          <a:p>
            <a:pPr algn="ctr" indent="0" marL="0">
              <a:buNone/>
            </a:pPr>
            <a:r>
              <a:rPr lang="en-US" sz="1300" b="1" dirty="0">
                <a:solidFill>
                  <a:srgbClr val="2F6FB3"/>
                </a:solidFill>
                <a:latin typeface="Courier New" pitchFamily="34" charset="0"/>
                <a:ea typeface="Courier New" pitchFamily="34" charset="-122"/>
                <a:cs typeface="Courier New" pitchFamily="34" charset="-120"/>
              </a:rPr>
              <a:t>2</a:t>
            </a:r>
            <a:endParaRPr lang="en-US" sz="1300" dirty="0"/>
          </a:p>
        </p:txBody>
      </p:sp>
      <p:sp>
        <p:nvSpPr>
          <p:cNvPr id="12" name="Text 9"/>
          <p:cNvSpPr txBox="1"/>
          <p:nvPr/>
        </p:nvSpPr>
        <p:spPr>
          <a:xfrm>
            <a:off x="8641080" y="1691640"/>
            <a:ext cx="594360" cy="274320"/>
          </a:xfrm>
          <a:prstGeom prst="rect">
            <a:avLst/>
          </a:prstGeom>
          <a:noFill/>
          <a:ln/>
        </p:spPr>
        <p:txBody>
          <a:bodyPr wrap="square" lIns="0" tIns="0" rIns="0" bIns="0" rtlCol="0" anchor="ctr"/>
          <a:lstStyle/>
          <a:p>
            <a:pPr algn="ctr" indent="0" marL="0">
              <a:buNone/>
            </a:pPr>
            <a:r>
              <a:rPr lang="en-US" sz="1300" b="1" dirty="0">
                <a:solidFill>
                  <a:srgbClr val="2F6FB3"/>
                </a:solidFill>
                <a:latin typeface="Courier New" pitchFamily="34" charset="0"/>
                <a:ea typeface="Courier New" pitchFamily="34" charset="-122"/>
                <a:cs typeface="Courier New" pitchFamily="34" charset="-120"/>
              </a:rPr>
              <a:t>3</a:t>
            </a:r>
            <a:endParaRPr lang="en-US" sz="1300" dirty="0"/>
          </a:p>
        </p:txBody>
      </p:sp>
      <p:sp>
        <p:nvSpPr>
          <p:cNvPr id="13" name="Text 10"/>
          <p:cNvSpPr txBox="1"/>
          <p:nvPr/>
        </p:nvSpPr>
        <p:spPr>
          <a:xfrm>
            <a:off x="9235440" y="1691640"/>
            <a:ext cx="594360" cy="274320"/>
          </a:xfrm>
          <a:prstGeom prst="rect">
            <a:avLst/>
          </a:prstGeom>
          <a:noFill/>
          <a:ln/>
        </p:spPr>
        <p:txBody>
          <a:bodyPr wrap="square" lIns="0" tIns="0" rIns="0" bIns="0" rtlCol="0" anchor="ctr"/>
          <a:lstStyle/>
          <a:p>
            <a:pPr algn="ctr" indent="0" marL="0">
              <a:buNone/>
            </a:pPr>
            <a:r>
              <a:rPr lang="en-US" sz="1300" b="1" dirty="0">
                <a:solidFill>
                  <a:srgbClr val="2F6FB3"/>
                </a:solidFill>
                <a:latin typeface="Courier New" pitchFamily="34" charset="0"/>
                <a:ea typeface="Courier New" pitchFamily="34" charset="-122"/>
                <a:cs typeface="Courier New" pitchFamily="34" charset="-120"/>
              </a:rPr>
              <a:t>4</a:t>
            </a:r>
            <a:endParaRPr lang="en-US" sz="1300" dirty="0"/>
          </a:p>
        </p:txBody>
      </p:sp>
      <p:sp>
        <p:nvSpPr>
          <p:cNvPr id="14" name="Text 11"/>
          <p:cNvSpPr txBox="1"/>
          <p:nvPr/>
        </p:nvSpPr>
        <p:spPr>
          <a:xfrm>
            <a:off x="9829800" y="1691640"/>
            <a:ext cx="594360" cy="274320"/>
          </a:xfrm>
          <a:prstGeom prst="rect">
            <a:avLst/>
          </a:prstGeom>
          <a:noFill/>
          <a:ln/>
        </p:spPr>
        <p:txBody>
          <a:bodyPr wrap="square" lIns="0" tIns="0" rIns="0" bIns="0" rtlCol="0" anchor="ctr"/>
          <a:lstStyle/>
          <a:p>
            <a:pPr algn="ctr" indent="0" marL="0">
              <a:buNone/>
            </a:pPr>
            <a:r>
              <a:rPr lang="en-US" sz="1300" b="1" dirty="0">
                <a:solidFill>
                  <a:srgbClr val="2F6FB3"/>
                </a:solidFill>
                <a:latin typeface="Courier New" pitchFamily="34" charset="0"/>
                <a:ea typeface="Courier New" pitchFamily="34" charset="-122"/>
                <a:cs typeface="Courier New" pitchFamily="34" charset="-120"/>
              </a:rPr>
              <a:t>5</a:t>
            </a:r>
            <a:endParaRPr lang="en-US" sz="1300" dirty="0"/>
          </a:p>
        </p:txBody>
      </p:sp>
      <p:sp>
        <p:nvSpPr>
          <p:cNvPr id="15" name="Text 12"/>
          <p:cNvSpPr txBox="1"/>
          <p:nvPr/>
        </p:nvSpPr>
        <p:spPr>
          <a:xfrm>
            <a:off x="10424160" y="1691640"/>
            <a:ext cx="594360" cy="274320"/>
          </a:xfrm>
          <a:prstGeom prst="rect">
            <a:avLst/>
          </a:prstGeom>
          <a:noFill/>
          <a:ln/>
        </p:spPr>
        <p:txBody>
          <a:bodyPr wrap="square" lIns="0" tIns="0" rIns="0" bIns="0" rtlCol="0" anchor="ctr"/>
          <a:lstStyle/>
          <a:p>
            <a:pPr algn="ctr" indent="0" marL="0">
              <a:buNone/>
            </a:pPr>
            <a:r>
              <a:rPr lang="en-US" sz="1300" b="1" dirty="0">
                <a:solidFill>
                  <a:srgbClr val="2F6FB3"/>
                </a:solidFill>
                <a:latin typeface="Courier New" pitchFamily="34" charset="0"/>
                <a:ea typeface="Courier New" pitchFamily="34" charset="-122"/>
                <a:cs typeface="Courier New" pitchFamily="34" charset="-120"/>
              </a:rPr>
              <a:t>6</a:t>
            </a:r>
            <a:endParaRPr lang="en-US" sz="1300" dirty="0"/>
          </a:p>
        </p:txBody>
      </p:sp>
      <p:sp>
        <p:nvSpPr>
          <p:cNvPr id="16" name="Text 13"/>
          <p:cNvSpPr txBox="1"/>
          <p:nvPr/>
        </p:nvSpPr>
        <p:spPr>
          <a:xfrm>
            <a:off x="11018520" y="1691640"/>
            <a:ext cx="594360" cy="274320"/>
          </a:xfrm>
          <a:prstGeom prst="rect">
            <a:avLst/>
          </a:prstGeom>
          <a:noFill/>
          <a:ln/>
        </p:spPr>
        <p:txBody>
          <a:bodyPr wrap="square" lIns="0" tIns="0" rIns="0" bIns="0" rtlCol="0" anchor="ctr"/>
          <a:lstStyle/>
          <a:p>
            <a:pPr algn="ctr" indent="0" marL="0">
              <a:buNone/>
            </a:pPr>
            <a:r>
              <a:rPr lang="en-US" sz="1300" b="1" dirty="0">
                <a:solidFill>
                  <a:srgbClr val="2F6FB3"/>
                </a:solidFill>
                <a:latin typeface="Courier New" pitchFamily="34" charset="0"/>
                <a:ea typeface="Courier New" pitchFamily="34" charset="-122"/>
                <a:cs typeface="Courier New" pitchFamily="34" charset="-120"/>
              </a:rPr>
              <a:t>7</a:t>
            </a:r>
            <a:endParaRPr lang="en-US" sz="1300" dirty="0"/>
          </a:p>
        </p:txBody>
      </p:sp>
      <p:sp>
        <p:nvSpPr>
          <p:cNvPr id="17" name="Shape 14"/>
          <p:cNvSpPr/>
          <p:nvPr/>
        </p:nvSpPr>
        <p:spPr>
          <a:xfrm>
            <a:off x="7452360" y="2057400"/>
            <a:ext cx="594360" cy="502920"/>
          </a:xfrm>
          <a:prstGeom prst="rect">
            <a:avLst/>
          </a:prstGeom>
          <a:solidFill>
            <a:srgbClr val="FFFFFF"/>
          </a:solidFill>
          <a:ln w="15875">
            <a:solidFill>
              <a:srgbClr val="14213D"/>
            </a:solidFill>
            <a:prstDash val="solid"/>
          </a:ln>
        </p:spPr>
      </p:sp>
      <p:sp>
        <p:nvSpPr>
          <p:cNvPr id="18" name="Text 15"/>
          <p:cNvSpPr txBox="1"/>
          <p:nvPr/>
        </p:nvSpPr>
        <p:spPr>
          <a:xfrm>
            <a:off x="7452360" y="2057400"/>
            <a:ext cx="594360" cy="502920"/>
          </a:xfrm>
          <a:prstGeom prst="rect">
            <a:avLst/>
          </a:prstGeom>
          <a:noFill/>
          <a:ln/>
        </p:spPr>
        <p:txBody>
          <a:bodyPr wrap="square" lIns="0" tIns="0" rIns="0" bIns="0" rtlCol="0" anchor="ctr"/>
          <a:lstStyle/>
          <a:p>
            <a:pPr algn="ctr" indent="0" marL="0">
              <a:buNone/>
            </a:pPr>
            <a:r>
              <a:rPr lang="en-US" sz="1300" b="1" dirty="0">
                <a:solidFill>
                  <a:srgbClr val="14213D"/>
                </a:solidFill>
                <a:latin typeface="Courier New" pitchFamily="34" charset="0"/>
                <a:ea typeface="Courier New" pitchFamily="34" charset="-122"/>
                <a:cs typeface="Courier New" pitchFamily="34" charset="-120"/>
              </a:rPr>
              <a:t>Mon</a:t>
            </a:r>
            <a:endParaRPr lang="en-US" sz="1300" dirty="0"/>
          </a:p>
        </p:txBody>
      </p:sp>
      <p:sp>
        <p:nvSpPr>
          <p:cNvPr id="19" name="Text 16"/>
          <p:cNvSpPr txBox="1"/>
          <p:nvPr/>
        </p:nvSpPr>
        <p:spPr>
          <a:xfrm>
            <a:off x="7452360" y="2587752"/>
            <a:ext cx="594360" cy="274320"/>
          </a:xfrm>
          <a:prstGeom prst="rect">
            <a:avLst/>
          </a:prstGeom>
          <a:noFill/>
          <a:ln/>
        </p:spPr>
        <p:txBody>
          <a:bodyPr wrap="square" lIns="0" tIns="0" rIns="0" bIns="0" rtlCol="0" anchor="ctr"/>
          <a:lstStyle/>
          <a:p>
            <a:pPr algn="ctr" indent="0" marL="0">
              <a:buNone/>
            </a:pPr>
            <a:r>
              <a:rPr lang="en-US" sz="1300" dirty="0">
                <a:solidFill>
                  <a:srgbClr val="5B6478"/>
                </a:solidFill>
                <a:latin typeface="Courier New" pitchFamily="34" charset="0"/>
                <a:ea typeface="Courier New" pitchFamily="34" charset="-122"/>
                <a:cs typeface="Courier New" pitchFamily="34" charset="-120"/>
              </a:rPr>
              <a:t>[0]</a:t>
            </a:r>
            <a:endParaRPr lang="en-US" sz="1300" dirty="0"/>
          </a:p>
        </p:txBody>
      </p:sp>
      <p:sp>
        <p:nvSpPr>
          <p:cNvPr id="20" name="Shape 17"/>
          <p:cNvSpPr/>
          <p:nvPr/>
        </p:nvSpPr>
        <p:spPr>
          <a:xfrm>
            <a:off x="8046720" y="2057400"/>
            <a:ext cx="594360" cy="502920"/>
          </a:xfrm>
          <a:prstGeom prst="rect">
            <a:avLst/>
          </a:prstGeom>
          <a:solidFill>
            <a:srgbClr val="FFFFFF"/>
          </a:solidFill>
          <a:ln w="15875">
            <a:solidFill>
              <a:srgbClr val="14213D"/>
            </a:solidFill>
            <a:prstDash val="solid"/>
          </a:ln>
        </p:spPr>
      </p:sp>
      <p:sp>
        <p:nvSpPr>
          <p:cNvPr id="21" name="Text 18"/>
          <p:cNvSpPr txBox="1"/>
          <p:nvPr/>
        </p:nvSpPr>
        <p:spPr>
          <a:xfrm>
            <a:off x="8046720" y="2057400"/>
            <a:ext cx="594360" cy="502920"/>
          </a:xfrm>
          <a:prstGeom prst="rect">
            <a:avLst/>
          </a:prstGeom>
          <a:noFill/>
          <a:ln/>
        </p:spPr>
        <p:txBody>
          <a:bodyPr wrap="square" lIns="0" tIns="0" rIns="0" bIns="0" rtlCol="0" anchor="ctr"/>
          <a:lstStyle/>
          <a:p>
            <a:pPr algn="ctr" indent="0" marL="0">
              <a:buNone/>
            </a:pPr>
            <a:r>
              <a:rPr lang="en-US" sz="1300" b="1" dirty="0">
                <a:solidFill>
                  <a:srgbClr val="14213D"/>
                </a:solidFill>
                <a:latin typeface="Courier New" pitchFamily="34" charset="0"/>
                <a:ea typeface="Courier New" pitchFamily="34" charset="-122"/>
                <a:cs typeface="Courier New" pitchFamily="34" charset="-120"/>
              </a:rPr>
              <a:t>Tue</a:t>
            </a:r>
            <a:endParaRPr lang="en-US" sz="1300" dirty="0"/>
          </a:p>
        </p:txBody>
      </p:sp>
      <p:sp>
        <p:nvSpPr>
          <p:cNvPr id="22" name="Text 19"/>
          <p:cNvSpPr txBox="1"/>
          <p:nvPr/>
        </p:nvSpPr>
        <p:spPr>
          <a:xfrm>
            <a:off x="8046720" y="2587752"/>
            <a:ext cx="594360" cy="274320"/>
          </a:xfrm>
          <a:prstGeom prst="rect">
            <a:avLst/>
          </a:prstGeom>
          <a:noFill/>
          <a:ln/>
        </p:spPr>
        <p:txBody>
          <a:bodyPr wrap="square" lIns="0" tIns="0" rIns="0" bIns="0" rtlCol="0" anchor="ctr"/>
          <a:lstStyle/>
          <a:p>
            <a:pPr algn="ctr" indent="0" marL="0">
              <a:buNone/>
            </a:pPr>
            <a:r>
              <a:rPr lang="en-US" sz="1300" dirty="0">
                <a:solidFill>
                  <a:srgbClr val="5B6478"/>
                </a:solidFill>
                <a:latin typeface="Courier New" pitchFamily="34" charset="0"/>
                <a:ea typeface="Courier New" pitchFamily="34" charset="-122"/>
                <a:cs typeface="Courier New" pitchFamily="34" charset="-120"/>
              </a:rPr>
              <a:t>[1]</a:t>
            </a:r>
            <a:endParaRPr lang="en-US" sz="1300" dirty="0"/>
          </a:p>
        </p:txBody>
      </p:sp>
      <p:sp>
        <p:nvSpPr>
          <p:cNvPr id="23" name="Shape 20"/>
          <p:cNvSpPr/>
          <p:nvPr/>
        </p:nvSpPr>
        <p:spPr>
          <a:xfrm>
            <a:off x="8641080" y="2057400"/>
            <a:ext cx="594360" cy="502920"/>
          </a:xfrm>
          <a:prstGeom prst="rect">
            <a:avLst/>
          </a:prstGeom>
          <a:solidFill>
            <a:srgbClr val="FFF1D6"/>
          </a:solidFill>
          <a:ln w="15875">
            <a:solidFill>
              <a:srgbClr val="14213D"/>
            </a:solidFill>
            <a:prstDash val="solid"/>
          </a:ln>
        </p:spPr>
      </p:sp>
      <p:sp>
        <p:nvSpPr>
          <p:cNvPr id="24" name="Text 21"/>
          <p:cNvSpPr txBox="1"/>
          <p:nvPr/>
        </p:nvSpPr>
        <p:spPr>
          <a:xfrm>
            <a:off x="8641080" y="2057400"/>
            <a:ext cx="594360" cy="502920"/>
          </a:xfrm>
          <a:prstGeom prst="rect">
            <a:avLst/>
          </a:prstGeom>
          <a:noFill/>
          <a:ln/>
        </p:spPr>
        <p:txBody>
          <a:bodyPr wrap="square" lIns="0" tIns="0" rIns="0" bIns="0" rtlCol="0" anchor="ctr"/>
          <a:lstStyle/>
          <a:p>
            <a:pPr algn="ctr" indent="0" marL="0">
              <a:buNone/>
            </a:pPr>
            <a:r>
              <a:rPr lang="en-US" sz="1300" b="1" dirty="0">
                <a:solidFill>
                  <a:srgbClr val="14213D"/>
                </a:solidFill>
                <a:latin typeface="Courier New" pitchFamily="34" charset="0"/>
                <a:ea typeface="Courier New" pitchFamily="34" charset="-122"/>
                <a:cs typeface="Courier New" pitchFamily="34" charset="-120"/>
              </a:rPr>
              <a:t>Wed</a:t>
            </a:r>
            <a:endParaRPr lang="en-US" sz="1300" dirty="0"/>
          </a:p>
        </p:txBody>
      </p:sp>
      <p:sp>
        <p:nvSpPr>
          <p:cNvPr id="25" name="Text 22"/>
          <p:cNvSpPr txBox="1"/>
          <p:nvPr/>
        </p:nvSpPr>
        <p:spPr>
          <a:xfrm>
            <a:off x="8641080" y="2587752"/>
            <a:ext cx="594360" cy="274320"/>
          </a:xfrm>
          <a:prstGeom prst="rect">
            <a:avLst/>
          </a:prstGeom>
          <a:noFill/>
          <a:ln/>
        </p:spPr>
        <p:txBody>
          <a:bodyPr wrap="square" lIns="0" tIns="0" rIns="0" bIns="0" rtlCol="0" anchor="ctr"/>
          <a:lstStyle/>
          <a:p>
            <a:pPr algn="ctr" indent="0" marL="0">
              <a:buNone/>
            </a:pPr>
            <a:r>
              <a:rPr lang="en-US" sz="1300" dirty="0">
                <a:solidFill>
                  <a:srgbClr val="5B6478"/>
                </a:solidFill>
                <a:latin typeface="Courier New" pitchFamily="34" charset="0"/>
                <a:ea typeface="Courier New" pitchFamily="34" charset="-122"/>
                <a:cs typeface="Courier New" pitchFamily="34" charset="-120"/>
              </a:rPr>
              <a:t>[2]</a:t>
            </a:r>
            <a:endParaRPr lang="en-US" sz="1300" dirty="0"/>
          </a:p>
        </p:txBody>
      </p:sp>
      <p:sp>
        <p:nvSpPr>
          <p:cNvPr id="26" name="Shape 23"/>
          <p:cNvSpPr/>
          <p:nvPr/>
        </p:nvSpPr>
        <p:spPr>
          <a:xfrm>
            <a:off x="9235440" y="2057400"/>
            <a:ext cx="594360" cy="502920"/>
          </a:xfrm>
          <a:prstGeom prst="rect">
            <a:avLst/>
          </a:prstGeom>
          <a:solidFill>
            <a:srgbClr val="FFFFFF"/>
          </a:solidFill>
          <a:ln w="15875">
            <a:solidFill>
              <a:srgbClr val="14213D"/>
            </a:solidFill>
            <a:prstDash val="solid"/>
          </a:ln>
        </p:spPr>
      </p:sp>
      <p:sp>
        <p:nvSpPr>
          <p:cNvPr id="27" name="Text 24"/>
          <p:cNvSpPr txBox="1"/>
          <p:nvPr/>
        </p:nvSpPr>
        <p:spPr>
          <a:xfrm>
            <a:off x="9235440" y="2057400"/>
            <a:ext cx="594360" cy="502920"/>
          </a:xfrm>
          <a:prstGeom prst="rect">
            <a:avLst/>
          </a:prstGeom>
          <a:noFill/>
          <a:ln/>
        </p:spPr>
        <p:txBody>
          <a:bodyPr wrap="square" lIns="0" tIns="0" rIns="0" bIns="0" rtlCol="0" anchor="ctr"/>
          <a:lstStyle/>
          <a:p>
            <a:pPr algn="ctr" indent="0" marL="0">
              <a:buNone/>
            </a:pPr>
            <a:r>
              <a:rPr lang="en-US" sz="1300" b="1" dirty="0">
                <a:solidFill>
                  <a:srgbClr val="14213D"/>
                </a:solidFill>
                <a:latin typeface="Courier New" pitchFamily="34" charset="0"/>
                <a:ea typeface="Courier New" pitchFamily="34" charset="-122"/>
                <a:cs typeface="Courier New" pitchFamily="34" charset="-120"/>
              </a:rPr>
              <a:t>Thu</a:t>
            </a:r>
            <a:endParaRPr lang="en-US" sz="1300" dirty="0"/>
          </a:p>
        </p:txBody>
      </p:sp>
      <p:sp>
        <p:nvSpPr>
          <p:cNvPr id="28" name="Text 25"/>
          <p:cNvSpPr txBox="1"/>
          <p:nvPr/>
        </p:nvSpPr>
        <p:spPr>
          <a:xfrm>
            <a:off x="9235440" y="2587752"/>
            <a:ext cx="594360" cy="274320"/>
          </a:xfrm>
          <a:prstGeom prst="rect">
            <a:avLst/>
          </a:prstGeom>
          <a:noFill/>
          <a:ln/>
        </p:spPr>
        <p:txBody>
          <a:bodyPr wrap="square" lIns="0" tIns="0" rIns="0" bIns="0" rtlCol="0" anchor="ctr"/>
          <a:lstStyle/>
          <a:p>
            <a:pPr algn="ctr" indent="0" marL="0">
              <a:buNone/>
            </a:pPr>
            <a:r>
              <a:rPr lang="en-US" sz="1300" dirty="0">
                <a:solidFill>
                  <a:srgbClr val="5B6478"/>
                </a:solidFill>
                <a:latin typeface="Courier New" pitchFamily="34" charset="0"/>
                <a:ea typeface="Courier New" pitchFamily="34" charset="-122"/>
                <a:cs typeface="Courier New" pitchFamily="34" charset="-120"/>
              </a:rPr>
              <a:t>[3]</a:t>
            </a:r>
            <a:endParaRPr lang="en-US" sz="1300" dirty="0"/>
          </a:p>
        </p:txBody>
      </p:sp>
      <p:sp>
        <p:nvSpPr>
          <p:cNvPr id="29" name="Shape 26"/>
          <p:cNvSpPr/>
          <p:nvPr/>
        </p:nvSpPr>
        <p:spPr>
          <a:xfrm>
            <a:off x="9829800" y="2057400"/>
            <a:ext cx="594360" cy="502920"/>
          </a:xfrm>
          <a:prstGeom prst="rect">
            <a:avLst/>
          </a:prstGeom>
          <a:solidFill>
            <a:srgbClr val="FFFFFF"/>
          </a:solidFill>
          <a:ln w="15875">
            <a:solidFill>
              <a:srgbClr val="14213D"/>
            </a:solidFill>
            <a:prstDash val="solid"/>
          </a:ln>
        </p:spPr>
      </p:sp>
      <p:sp>
        <p:nvSpPr>
          <p:cNvPr id="30" name="Text 27"/>
          <p:cNvSpPr txBox="1"/>
          <p:nvPr/>
        </p:nvSpPr>
        <p:spPr>
          <a:xfrm>
            <a:off x="9829800" y="2057400"/>
            <a:ext cx="594360" cy="502920"/>
          </a:xfrm>
          <a:prstGeom prst="rect">
            <a:avLst/>
          </a:prstGeom>
          <a:noFill/>
          <a:ln/>
        </p:spPr>
        <p:txBody>
          <a:bodyPr wrap="square" lIns="0" tIns="0" rIns="0" bIns="0" rtlCol="0" anchor="ctr"/>
          <a:lstStyle/>
          <a:p>
            <a:pPr algn="ctr" indent="0" marL="0">
              <a:buNone/>
            </a:pPr>
            <a:r>
              <a:rPr lang="en-US" sz="1300" b="1" dirty="0">
                <a:solidFill>
                  <a:srgbClr val="14213D"/>
                </a:solidFill>
                <a:latin typeface="Courier New" pitchFamily="34" charset="0"/>
                <a:ea typeface="Courier New" pitchFamily="34" charset="-122"/>
                <a:cs typeface="Courier New" pitchFamily="34" charset="-120"/>
              </a:rPr>
              <a:t>Fri</a:t>
            </a:r>
            <a:endParaRPr lang="en-US" sz="1300" dirty="0"/>
          </a:p>
        </p:txBody>
      </p:sp>
      <p:sp>
        <p:nvSpPr>
          <p:cNvPr id="31" name="Text 28"/>
          <p:cNvSpPr txBox="1"/>
          <p:nvPr/>
        </p:nvSpPr>
        <p:spPr>
          <a:xfrm>
            <a:off x="9829800" y="2587752"/>
            <a:ext cx="594360" cy="274320"/>
          </a:xfrm>
          <a:prstGeom prst="rect">
            <a:avLst/>
          </a:prstGeom>
          <a:noFill/>
          <a:ln/>
        </p:spPr>
        <p:txBody>
          <a:bodyPr wrap="square" lIns="0" tIns="0" rIns="0" bIns="0" rtlCol="0" anchor="ctr"/>
          <a:lstStyle/>
          <a:p>
            <a:pPr algn="ctr" indent="0" marL="0">
              <a:buNone/>
            </a:pPr>
            <a:r>
              <a:rPr lang="en-US" sz="1300" dirty="0">
                <a:solidFill>
                  <a:srgbClr val="5B6478"/>
                </a:solidFill>
                <a:latin typeface="Courier New" pitchFamily="34" charset="0"/>
                <a:ea typeface="Courier New" pitchFamily="34" charset="-122"/>
                <a:cs typeface="Courier New" pitchFamily="34" charset="-120"/>
              </a:rPr>
              <a:t>[4]</a:t>
            </a:r>
            <a:endParaRPr lang="en-US" sz="1300" dirty="0"/>
          </a:p>
        </p:txBody>
      </p:sp>
      <p:sp>
        <p:nvSpPr>
          <p:cNvPr id="32" name="Shape 29"/>
          <p:cNvSpPr/>
          <p:nvPr/>
        </p:nvSpPr>
        <p:spPr>
          <a:xfrm>
            <a:off x="10424160" y="2057400"/>
            <a:ext cx="594360" cy="502920"/>
          </a:xfrm>
          <a:prstGeom prst="rect">
            <a:avLst/>
          </a:prstGeom>
          <a:solidFill>
            <a:srgbClr val="FFFFFF"/>
          </a:solidFill>
          <a:ln w="15875">
            <a:solidFill>
              <a:srgbClr val="14213D"/>
            </a:solidFill>
            <a:prstDash val="solid"/>
          </a:ln>
        </p:spPr>
      </p:sp>
      <p:sp>
        <p:nvSpPr>
          <p:cNvPr id="33" name="Text 30"/>
          <p:cNvSpPr txBox="1"/>
          <p:nvPr/>
        </p:nvSpPr>
        <p:spPr>
          <a:xfrm>
            <a:off x="10424160" y="2057400"/>
            <a:ext cx="594360" cy="502920"/>
          </a:xfrm>
          <a:prstGeom prst="rect">
            <a:avLst/>
          </a:prstGeom>
          <a:noFill/>
          <a:ln/>
        </p:spPr>
        <p:txBody>
          <a:bodyPr wrap="square" lIns="0" tIns="0" rIns="0" bIns="0" rtlCol="0" anchor="ctr"/>
          <a:lstStyle/>
          <a:p>
            <a:pPr algn="ctr" indent="0" marL="0">
              <a:buNone/>
            </a:pPr>
            <a:r>
              <a:rPr lang="en-US" sz="1300" b="1" dirty="0">
                <a:solidFill>
                  <a:srgbClr val="14213D"/>
                </a:solidFill>
                <a:latin typeface="Courier New" pitchFamily="34" charset="0"/>
                <a:ea typeface="Courier New" pitchFamily="34" charset="-122"/>
                <a:cs typeface="Courier New" pitchFamily="34" charset="-120"/>
              </a:rPr>
              <a:t>Sat</a:t>
            </a:r>
            <a:endParaRPr lang="en-US" sz="1300" dirty="0"/>
          </a:p>
        </p:txBody>
      </p:sp>
      <p:sp>
        <p:nvSpPr>
          <p:cNvPr id="34" name="Text 31"/>
          <p:cNvSpPr txBox="1"/>
          <p:nvPr/>
        </p:nvSpPr>
        <p:spPr>
          <a:xfrm>
            <a:off x="10424160" y="2587752"/>
            <a:ext cx="594360" cy="274320"/>
          </a:xfrm>
          <a:prstGeom prst="rect">
            <a:avLst/>
          </a:prstGeom>
          <a:noFill/>
          <a:ln/>
        </p:spPr>
        <p:txBody>
          <a:bodyPr wrap="square" lIns="0" tIns="0" rIns="0" bIns="0" rtlCol="0" anchor="ctr"/>
          <a:lstStyle/>
          <a:p>
            <a:pPr algn="ctr" indent="0" marL="0">
              <a:buNone/>
            </a:pPr>
            <a:r>
              <a:rPr lang="en-US" sz="1300" dirty="0">
                <a:solidFill>
                  <a:srgbClr val="5B6478"/>
                </a:solidFill>
                <a:latin typeface="Courier New" pitchFamily="34" charset="0"/>
                <a:ea typeface="Courier New" pitchFamily="34" charset="-122"/>
                <a:cs typeface="Courier New" pitchFamily="34" charset="-120"/>
              </a:rPr>
              <a:t>[5]</a:t>
            </a:r>
            <a:endParaRPr lang="en-US" sz="1300" dirty="0"/>
          </a:p>
        </p:txBody>
      </p:sp>
      <p:sp>
        <p:nvSpPr>
          <p:cNvPr id="35" name="Shape 32"/>
          <p:cNvSpPr/>
          <p:nvPr/>
        </p:nvSpPr>
        <p:spPr>
          <a:xfrm>
            <a:off x="11018520" y="2057400"/>
            <a:ext cx="594360" cy="502920"/>
          </a:xfrm>
          <a:prstGeom prst="rect">
            <a:avLst/>
          </a:prstGeom>
          <a:solidFill>
            <a:srgbClr val="FFFFFF"/>
          </a:solidFill>
          <a:ln w="15875">
            <a:solidFill>
              <a:srgbClr val="14213D"/>
            </a:solidFill>
            <a:prstDash val="solid"/>
          </a:ln>
        </p:spPr>
      </p:sp>
      <p:sp>
        <p:nvSpPr>
          <p:cNvPr id="36" name="Text 33"/>
          <p:cNvSpPr txBox="1"/>
          <p:nvPr/>
        </p:nvSpPr>
        <p:spPr>
          <a:xfrm>
            <a:off x="11018520" y="2057400"/>
            <a:ext cx="594360" cy="502920"/>
          </a:xfrm>
          <a:prstGeom prst="rect">
            <a:avLst/>
          </a:prstGeom>
          <a:noFill/>
          <a:ln/>
        </p:spPr>
        <p:txBody>
          <a:bodyPr wrap="square" lIns="0" tIns="0" rIns="0" bIns="0" rtlCol="0" anchor="ctr"/>
          <a:lstStyle/>
          <a:p>
            <a:pPr algn="ctr" indent="0" marL="0">
              <a:buNone/>
            </a:pPr>
            <a:r>
              <a:rPr lang="en-US" sz="1300" b="1" dirty="0">
                <a:solidFill>
                  <a:srgbClr val="14213D"/>
                </a:solidFill>
                <a:latin typeface="Courier New" pitchFamily="34" charset="0"/>
                <a:ea typeface="Courier New" pitchFamily="34" charset="-122"/>
                <a:cs typeface="Courier New" pitchFamily="34" charset="-120"/>
              </a:rPr>
              <a:t>Sun</a:t>
            </a:r>
            <a:endParaRPr lang="en-US" sz="1300" dirty="0"/>
          </a:p>
        </p:txBody>
      </p:sp>
      <p:sp>
        <p:nvSpPr>
          <p:cNvPr id="37" name="Text 34"/>
          <p:cNvSpPr txBox="1"/>
          <p:nvPr/>
        </p:nvSpPr>
        <p:spPr>
          <a:xfrm>
            <a:off x="11018520" y="2587752"/>
            <a:ext cx="594360" cy="274320"/>
          </a:xfrm>
          <a:prstGeom prst="rect">
            <a:avLst/>
          </a:prstGeom>
          <a:noFill/>
          <a:ln/>
        </p:spPr>
        <p:txBody>
          <a:bodyPr wrap="square" lIns="0" tIns="0" rIns="0" bIns="0" rtlCol="0" anchor="ctr"/>
          <a:lstStyle/>
          <a:p>
            <a:pPr algn="ctr" indent="0" marL="0">
              <a:buNone/>
            </a:pPr>
            <a:r>
              <a:rPr lang="en-US" sz="1300" dirty="0">
                <a:solidFill>
                  <a:srgbClr val="5B6478"/>
                </a:solidFill>
                <a:latin typeface="Courier New" pitchFamily="34" charset="0"/>
                <a:ea typeface="Courier New" pitchFamily="34" charset="-122"/>
                <a:cs typeface="Courier New" pitchFamily="34" charset="-120"/>
              </a:rPr>
              <a:t>[6]</a:t>
            </a:r>
            <a:endParaRPr lang="en-US" sz="1300" dirty="0"/>
          </a:p>
        </p:txBody>
      </p:sp>
      <p:sp>
        <p:nvSpPr>
          <p:cNvPr id="38" name="Text 35"/>
          <p:cNvSpPr txBox="1"/>
          <p:nvPr/>
        </p:nvSpPr>
        <p:spPr>
          <a:xfrm>
            <a:off x="7452360" y="2926080"/>
            <a:ext cx="4206240" cy="320040"/>
          </a:xfrm>
          <a:prstGeom prst="rect">
            <a:avLst/>
          </a:prstGeom>
          <a:noFill/>
          <a:ln/>
        </p:spPr>
        <p:txBody>
          <a:bodyPr wrap="square" lIns="0" tIns="0" rIns="0" bIns="0" rtlCol="0" anchor="ctr"/>
          <a:lstStyle/>
          <a:p>
            <a:pPr algn="ctr" indent="0" marL="0">
              <a:buNone/>
            </a:pPr>
            <a:r>
              <a:rPr lang="en-US" sz="1400" b="1" dirty="0">
                <a:solidFill>
                  <a:srgbClr val="B7791F"/>
                </a:solidFill>
                <a:latin typeface="Calibri" pitchFamily="34" charset="0"/>
                <a:ea typeface="Calibri" pitchFamily="34" charset="-122"/>
                <a:cs typeface="Calibri" pitchFamily="34" charset="-120"/>
              </a:rPr>
              <a:t>index = day − 1:  day 3  →  dayNames[2]</a:t>
            </a:r>
            <a:endParaRPr lang="en-US" sz="1400" dirty="0"/>
          </a:p>
        </p:txBody>
      </p:sp>
      <p:sp>
        <p:nvSpPr>
          <p:cNvPr id="39" name="Shape 36"/>
          <p:cNvSpPr/>
          <p:nvPr/>
        </p:nvSpPr>
        <p:spPr>
          <a:xfrm>
            <a:off x="7452360" y="3429000"/>
            <a:ext cx="4206240" cy="1097280"/>
          </a:xfrm>
          <a:prstGeom prst="roundRect">
            <a:avLst>
              <a:gd name="adj" fmla="val 8333"/>
            </a:avLst>
          </a:prstGeom>
          <a:solidFill>
            <a:srgbClr val="0B0F19"/>
          </a:solidFill>
          <a:ln w="12700">
            <a:solidFill>
              <a:srgbClr val="2A3654"/>
            </a:solidFill>
            <a:prstDash val="solid"/>
          </a:ln>
        </p:spPr>
      </p:sp>
      <p:sp>
        <p:nvSpPr>
          <p:cNvPr id="40" name="Shape 37"/>
          <p:cNvSpPr/>
          <p:nvPr/>
        </p:nvSpPr>
        <p:spPr>
          <a:xfrm>
            <a:off x="7635240" y="3557016"/>
            <a:ext cx="118872" cy="118872"/>
          </a:xfrm>
          <a:prstGeom prst="ellipse">
            <a:avLst/>
          </a:prstGeom>
          <a:solidFill>
            <a:srgbClr val="FF5F57"/>
          </a:solidFill>
          <a:ln w="12700">
            <a:solidFill>
              <a:srgbClr val="FF5F57"/>
            </a:solidFill>
            <a:prstDash val="solid"/>
          </a:ln>
        </p:spPr>
      </p:sp>
      <p:sp>
        <p:nvSpPr>
          <p:cNvPr id="41" name="Shape 38"/>
          <p:cNvSpPr/>
          <p:nvPr/>
        </p:nvSpPr>
        <p:spPr>
          <a:xfrm>
            <a:off x="7863840" y="3557016"/>
            <a:ext cx="118872" cy="118872"/>
          </a:xfrm>
          <a:prstGeom prst="ellipse">
            <a:avLst/>
          </a:prstGeom>
          <a:solidFill>
            <a:srgbClr val="FEBC2E"/>
          </a:solidFill>
          <a:ln w="12700">
            <a:solidFill>
              <a:srgbClr val="FEBC2E"/>
            </a:solidFill>
            <a:prstDash val="solid"/>
          </a:ln>
        </p:spPr>
      </p:sp>
      <p:sp>
        <p:nvSpPr>
          <p:cNvPr id="42" name="Shape 39"/>
          <p:cNvSpPr/>
          <p:nvPr/>
        </p:nvSpPr>
        <p:spPr>
          <a:xfrm>
            <a:off x="8092440" y="3557016"/>
            <a:ext cx="118872" cy="118872"/>
          </a:xfrm>
          <a:prstGeom prst="ellipse">
            <a:avLst/>
          </a:prstGeom>
          <a:solidFill>
            <a:srgbClr val="28C840"/>
          </a:solidFill>
          <a:ln w="12700">
            <a:solidFill>
              <a:srgbClr val="28C840"/>
            </a:solidFill>
            <a:prstDash val="solid"/>
          </a:ln>
        </p:spPr>
      </p:sp>
      <p:sp>
        <p:nvSpPr>
          <p:cNvPr id="43" name="Text 40"/>
          <p:cNvSpPr txBox="1"/>
          <p:nvPr/>
        </p:nvSpPr>
        <p:spPr>
          <a:xfrm>
            <a:off x="8366760" y="3502152"/>
            <a:ext cx="310896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Run 1</a:t>
            </a:r>
            <a:endParaRPr lang="en-US" sz="1000" dirty="0"/>
          </a:p>
        </p:txBody>
      </p:sp>
      <p:sp>
        <p:nvSpPr>
          <p:cNvPr id="44" name="Text 41"/>
          <p:cNvSpPr txBox="1"/>
          <p:nvPr/>
        </p:nvSpPr>
        <p:spPr>
          <a:xfrm>
            <a:off x="7680960" y="3813048"/>
            <a:ext cx="3749040" cy="594360"/>
          </a:xfrm>
          <a:prstGeom prst="rect">
            <a:avLst/>
          </a:prstGeom>
          <a:noFill/>
          <a:ln/>
        </p:spPr>
        <p:txBody>
          <a:bodyPr wrap="square" lIns="0" tIns="0" rIns="0" bIns="0" rtlCol="0" anchor="t"/>
          <a:lstStyle/>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Day number (1-7):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3</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Wednesday: 2 lesson hours</a:t>
            </a:r>
            <a:endParaRPr lang="en-US" sz="1300" dirty="0"/>
          </a:p>
        </p:txBody>
      </p:sp>
      <p:sp>
        <p:nvSpPr>
          <p:cNvPr id="45" name="Shape 42"/>
          <p:cNvSpPr/>
          <p:nvPr/>
        </p:nvSpPr>
        <p:spPr>
          <a:xfrm>
            <a:off x="7452360" y="4663440"/>
            <a:ext cx="4206240" cy="1097280"/>
          </a:xfrm>
          <a:prstGeom prst="roundRect">
            <a:avLst>
              <a:gd name="adj" fmla="val 8333"/>
            </a:avLst>
          </a:prstGeom>
          <a:solidFill>
            <a:srgbClr val="0B0F19"/>
          </a:solidFill>
          <a:ln w="12700">
            <a:solidFill>
              <a:srgbClr val="2A3654"/>
            </a:solidFill>
            <a:prstDash val="solid"/>
          </a:ln>
        </p:spPr>
      </p:sp>
      <p:sp>
        <p:nvSpPr>
          <p:cNvPr id="46" name="Shape 43"/>
          <p:cNvSpPr/>
          <p:nvPr/>
        </p:nvSpPr>
        <p:spPr>
          <a:xfrm>
            <a:off x="7635240" y="4791456"/>
            <a:ext cx="118872" cy="118872"/>
          </a:xfrm>
          <a:prstGeom prst="ellipse">
            <a:avLst/>
          </a:prstGeom>
          <a:solidFill>
            <a:srgbClr val="FF5F57"/>
          </a:solidFill>
          <a:ln w="12700">
            <a:solidFill>
              <a:srgbClr val="FF5F57"/>
            </a:solidFill>
            <a:prstDash val="solid"/>
          </a:ln>
        </p:spPr>
      </p:sp>
      <p:sp>
        <p:nvSpPr>
          <p:cNvPr id="47" name="Shape 44"/>
          <p:cNvSpPr/>
          <p:nvPr/>
        </p:nvSpPr>
        <p:spPr>
          <a:xfrm>
            <a:off x="7863840" y="4791456"/>
            <a:ext cx="118872" cy="118872"/>
          </a:xfrm>
          <a:prstGeom prst="ellipse">
            <a:avLst/>
          </a:prstGeom>
          <a:solidFill>
            <a:srgbClr val="FEBC2E"/>
          </a:solidFill>
          <a:ln w="12700">
            <a:solidFill>
              <a:srgbClr val="FEBC2E"/>
            </a:solidFill>
            <a:prstDash val="solid"/>
          </a:ln>
        </p:spPr>
      </p:sp>
      <p:sp>
        <p:nvSpPr>
          <p:cNvPr id="48" name="Shape 45"/>
          <p:cNvSpPr/>
          <p:nvPr/>
        </p:nvSpPr>
        <p:spPr>
          <a:xfrm>
            <a:off x="8092440" y="4791456"/>
            <a:ext cx="118872" cy="118872"/>
          </a:xfrm>
          <a:prstGeom prst="ellipse">
            <a:avLst/>
          </a:prstGeom>
          <a:solidFill>
            <a:srgbClr val="28C840"/>
          </a:solidFill>
          <a:ln w="12700">
            <a:solidFill>
              <a:srgbClr val="28C840"/>
            </a:solidFill>
            <a:prstDash val="solid"/>
          </a:ln>
        </p:spPr>
      </p:sp>
      <p:sp>
        <p:nvSpPr>
          <p:cNvPr id="49" name="Text 46"/>
          <p:cNvSpPr txBox="1"/>
          <p:nvPr/>
        </p:nvSpPr>
        <p:spPr>
          <a:xfrm>
            <a:off x="8366760" y="4736592"/>
            <a:ext cx="310896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Run 2</a:t>
            </a:r>
            <a:endParaRPr lang="en-US" sz="1000" dirty="0"/>
          </a:p>
        </p:txBody>
      </p:sp>
      <p:sp>
        <p:nvSpPr>
          <p:cNvPr id="50" name="Text 47"/>
          <p:cNvSpPr txBox="1"/>
          <p:nvPr/>
        </p:nvSpPr>
        <p:spPr>
          <a:xfrm>
            <a:off x="7680960" y="5047488"/>
            <a:ext cx="3749040" cy="594360"/>
          </a:xfrm>
          <a:prstGeom prst="rect">
            <a:avLst/>
          </a:prstGeom>
          <a:noFill/>
          <a:ln/>
        </p:spPr>
        <p:txBody>
          <a:bodyPr wrap="square" lIns="0" tIns="0" rIns="0" bIns="0" rtlCol="0" anchor="t"/>
          <a:lstStyle/>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Day number (1-7):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8</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There is no such day.</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WORKED EXAMPLE 4</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Monthly Temperatures: Neighbours a[i − 1] and a[i]</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9</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23</a:t>
            </a:r>
            <a:endParaRPr lang="en-US" sz="1000" dirty="0"/>
          </a:p>
        </p:txBody>
      </p:sp>
      <p:sp>
        <p:nvSpPr>
          <p:cNvPr id="7" name="Shape 4"/>
          <p:cNvSpPr/>
          <p:nvPr/>
        </p:nvSpPr>
        <p:spPr>
          <a:xfrm>
            <a:off x="548640" y="1645920"/>
            <a:ext cx="6995160" cy="2423160"/>
          </a:xfrm>
          <a:prstGeom prst="roundRect">
            <a:avLst>
              <a:gd name="adj" fmla="val 3774"/>
            </a:avLst>
          </a:prstGeom>
          <a:solidFill>
            <a:srgbClr val="0F1729"/>
          </a:solidFill>
          <a:ln w="12700">
            <a:solidFill>
              <a:srgbClr val="0F1729"/>
            </a:solidFill>
            <a:prstDash val="solid"/>
          </a:ln>
        </p:spPr>
      </p:sp>
      <p:sp>
        <p:nvSpPr>
          <p:cNvPr id="8" name="Text 5"/>
          <p:cNvSpPr txBox="1"/>
          <p:nvPr/>
        </p:nvSpPr>
        <p:spPr>
          <a:xfrm>
            <a:off x="777240" y="1755648"/>
            <a:ext cx="653796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09_06_MonthlyTemperatures (excerpt)</a:t>
            </a:r>
            <a:endParaRPr lang="en-US" sz="1100" dirty="0"/>
          </a:p>
        </p:txBody>
      </p:sp>
      <p:sp>
        <p:nvSpPr>
          <p:cNvPr id="9" name="Text 6"/>
          <p:cNvSpPr txBox="1"/>
          <p:nvPr/>
        </p:nvSpPr>
        <p:spPr>
          <a:xfrm>
            <a:off x="777240" y="2057400"/>
            <a:ext cx="6537960" cy="1901952"/>
          </a:xfrm>
          <a:prstGeom prst="rect">
            <a:avLst/>
          </a:prstGeom>
          <a:noFill/>
          <a:ln/>
        </p:spPr>
        <p:txBody>
          <a:bodyPr wrap="square" lIns="0" tIns="0" rIns="0" bIns="0" rtlCol="0" anchor="t"/>
          <a:lstStyle/>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"Month   Temp   Change"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January has no previous month: the loop starts at index 1</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$"{months[0],-5}{temps[0],7:F1}{"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",9}"</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 &lt; temps.Length; i++)</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change = temps[i] - temps[i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$"{months[i],-5}{temps[i],7:F1}{change,9:F1}"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0" name="Shape 7"/>
          <p:cNvSpPr/>
          <p:nvPr/>
        </p:nvSpPr>
        <p:spPr>
          <a:xfrm>
            <a:off x="1417320" y="4343400"/>
            <a:ext cx="777240" cy="502920"/>
          </a:xfrm>
          <a:prstGeom prst="rect">
            <a:avLst/>
          </a:prstGeom>
          <a:solidFill>
            <a:srgbClr val="FFFFFF"/>
          </a:solidFill>
          <a:ln w="15875">
            <a:solidFill>
              <a:srgbClr val="14213D"/>
            </a:solidFill>
            <a:prstDash val="solid"/>
          </a:ln>
        </p:spPr>
      </p:sp>
      <p:sp>
        <p:nvSpPr>
          <p:cNvPr id="11" name="Text 8"/>
          <p:cNvSpPr txBox="1"/>
          <p:nvPr/>
        </p:nvSpPr>
        <p:spPr>
          <a:xfrm>
            <a:off x="1417320" y="4343400"/>
            <a:ext cx="777240" cy="502920"/>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6.1</a:t>
            </a:r>
            <a:endParaRPr lang="en-US" sz="1400" dirty="0"/>
          </a:p>
        </p:txBody>
      </p:sp>
      <p:sp>
        <p:nvSpPr>
          <p:cNvPr id="12" name="Text 9"/>
          <p:cNvSpPr txBox="1"/>
          <p:nvPr/>
        </p:nvSpPr>
        <p:spPr>
          <a:xfrm>
            <a:off x="1417320" y="4873752"/>
            <a:ext cx="777240" cy="274320"/>
          </a:xfrm>
          <a:prstGeom prst="rect">
            <a:avLst/>
          </a:prstGeom>
          <a:noFill/>
          <a:ln/>
        </p:spPr>
        <p:txBody>
          <a:bodyPr wrap="square" lIns="0" tIns="0" rIns="0" bIns="0" rtlCol="0" anchor="ctr"/>
          <a:lstStyle/>
          <a:p>
            <a:pPr algn="ctr" indent="0" marL="0">
              <a:buNone/>
            </a:pPr>
            <a:r>
              <a:rPr lang="en-US" sz="1300" dirty="0">
                <a:solidFill>
                  <a:srgbClr val="5B6478"/>
                </a:solidFill>
                <a:latin typeface="Courier New" pitchFamily="34" charset="0"/>
                <a:ea typeface="Courier New" pitchFamily="34" charset="-122"/>
                <a:cs typeface="Courier New" pitchFamily="34" charset="-120"/>
              </a:rPr>
              <a:t>[0]</a:t>
            </a:r>
            <a:endParaRPr lang="en-US" sz="1300" dirty="0"/>
          </a:p>
        </p:txBody>
      </p:sp>
      <p:sp>
        <p:nvSpPr>
          <p:cNvPr id="13" name="Shape 10"/>
          <p:cNvSpPr/>
          <p:nvPr/>
        </p:nvSpPr>
        <p:spPr>
          <a:xfrm>
            <a:off x="2194560" y="4343400"/>
            <a:ext cx="777240" cy="502920"/>
          </a:xfrm>
          <a:prstGeom prst="rect">
            <a:avLst/>
          </a:prstGeom>
          <a:solidFill>
            <a:srgbClr val="E3ECF8"/>
          </a:solidFill>
          <a:ln w="15875">
            <a:solidFill>
              <a:srgbClr val="14213D"/>
            </a:solidFill>
            <a:prstDash val="solid"/>
          </a:ln>
        </p:spPr>
      </p:sp>
      <p:sp>
        <p:nvSpPr>
          <p:cNvPr id="14" name="Text 11"/>
          <p:cNvSpPr txBox="1"/>
          <p:nvPr/>
        </p:nvSpPr>
        <p:spPr>
          <a:xfrm>
            <a:off x="2194560" y="4343400"/>
            <a:ext cx="777240" cy="502920"/>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6.4</a:t>
            </a:r>
            <a:endParaRPr lang="en-US" sz="1400" dirty="0"/>
          </a:p>
        </p:txBody>
      </p:sp>
      <p:sp>
        <p:nvSpPr>
          <p:cNvPr id="15" name="Text 12"/>
          <p:cNvSpPr txBox="1"/>
          <p:nvPr/>
        </p:nvSpPr>
        <p:spPr>
          <a:xfrm>
            <a:off x="2194560" y="4873752"/>
            <a:ext cx="777240" cy="274320"/>
          </a:xfrm>
          <a:prstGeom prst="rect">
            <a:avLst/>
          </a:prstGeom>
          <a:noFill/>
          <a:ln/>
        </p:spPr>
        <p:txBody>
          <a:bodyPr wrap="square" lIns="0" tIns="0" rIns="0" bIns="0" rtlCol="0" anchor="ctr"/>
          <a:lstStyle/>
          <a:p>
            <a:pPr algn="ctr" indent="0" marL="0">
              <a:buNone/>
            </a:pPr>
            <a:r>
              <a:rPr lang="en-US" sz="1300" dirty="0">
                <a:solidFill>
                  <a:srgbClr val="5B6478"/>
                </a:solidFill>
                <a:latin typeface="Courier New" pitchFamily="34" charset="0"/>
                <a:ea typeface="Courier New" pitchFamily="34" charset="-122"/>
                <a:cs typeface="Courier New" pitchFamily="34" charset="-120"/>
              </a:rPr>
              <a:t>[1]</a:t>
            </a:r>
            <a:endParaRPr lang="en-US" sz="1300" dirty="0"/>
          </a:p>
        </p:txBody>
      </p:sp>
      <p:sp>
        <p:nvSpPr>
          <p:cNvPr id="16" name="Shape 13"/>
          <p:cNvSpPr/>
          <p:nvPr/>
        </p:nvSpPr>
        <p:spPr>
          <a:xfrm>
            <a:off x="2971800" y="4343400"/>
            <a:ext cx="777240" cy="502920"/>
          </a:xfrm>
          <a:prstGeom prst="rect">
            <a:avLst/>
          </a:prstGeom>
          <a:solidFill>
            <a:srgbClr val="FFF1D6"/>
          </a:solidFill>
          <a:ln w="15875">
            <a:solidFill>
              <a:srgbClr val="14213D"/>
            </a:solidFill>
            <a:prstDash val="solid"/>
          </a:ln>
        </p:spPr>
      </p:sp>
      <p:sp>
        <p:nvSpPr>
          <p:cNvPr id="17" name="Text 14"/>
          <p:cNvSpPr txBox="1"/>
          <p:nvPr/>
        </p:nvSpPr>
        <p:spPr>
          <a:xfrm>
            <a:off x="2971800" y="4343400"/>
            <a:ext cx="777240" cy="502920"/>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8.2</a:t>
            </a:r>
            <a:endParaRPr lang="en-US" sz="1400" dirty="0"/>
          </a:p>
        </p:txBody>
      </p:sp>
      <p:sp>
        <p:nvSpPr>
          <p:cNvPr id="18" name="Text 15"/>
          <p:cNvSpPr txBox="1"/>
          <p:nvPr/>
        </p:nvSpPr>
        <p:spPr>
          <a:xfrm>
            <a:off x="2971800" y="4873752"/>
            <a:ext cx="777240" cy="274320"/>
          </a:xfrm>
          <a:prstGeom prst="rect">
            <a:avLst/>
          </a:prstGeom>
          <a:noFill/>
          <a:ln/>
        </p:spPr>
        <p:txBody>
          <a:bodyPr wrap="square" lIns="0" tIns="0" rIns="0" bIns="0" rtlCol="0" anchor="ctr"/>
          <a:lstStyle/>
          <a:p>
            <a:pPr algn="ctr" indent="0" marL="0">
              <a:buNone/>
            </a:pPr>
            <a:r>
              <a:rPr lang="en-US" sz="1300" dirty="0">
                <a:solidFill>
                  <a:srgbClr val="5B6478"/>
                </a:solidFill>
                <a:latin typeface="Courier New" pitchFamily="34" charset="0"/>
                <a:ea typeface="Courier New" pitchFamily="34" charset="-122"/>
                <a:cs typeface="Courier New" pitchFamily="34" charset="-120"/>
              </a:rPr>
              <a:t>[2]</a:t>
            </a:r>
            <a:endParaRPr lang="en-US" sz="1300" dirty="0"/>
          </a:p>
        </p:txBody>
      </p:sp>
      <p:sp>
        <p:nvSpPr>
          <p:cNvPr id="19" name="Shape 16"/>
          <p:cNvSpPr/>
          <p:nvPr/>
        </p:nvSpPr>
        <p:spPr>
          <a:xfrm>
            <a:off x="3749040" y="4343400"/>
            <a:ext cx="777240" cy="502920"/>
          </a:xfrm>
          <a:prstGeom prst="rect">
            <a:avLst/>
          </a:prstGeom>
          <a:solidFill>
            <a:srgbClr val="FFFFFF"/>
          </a:solidFill>
          <a:ln w="15875">
            <a:solidFill>
              <a:srgbClr val="14213D"/>
            </a:solidFill>
            <a:prstDash val="solid"/>
          </a:ln>
        </p:spPr>
      </p:sp>
      <p:sp>
        <p:nvSpPr>
          <p:cNvPr id="20" name="Text 17"/>
          <p:cNvSpPr txBox="1"/>
          <p:nvPr/>
        </p:nvSpPr>
        <p:spPr>
          <a:xfrm>
            <a:off x="3749040" y="4343400"/>
            <a:ext cx="777240" cy="502920"/>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12.3</a:t>
            </a:r>
            <a:endParaRPr lang="en-US" sz="1400" dirty="0"/>
          </a:p>
        </p:txBody>
      </p:sp>
      <p:sp>
        <p:nvSpPr>
          <p:cNvPr id="21" name="Text 18"/>
          <p:cNvSpPr txBox="1"/>
          <p:nvPr/>
        </p:nvSpPr>
        <p:spPr>
          <a:xfrm>
            <a:off x="3749040" y="4873752"/>
            <a:ext cx="777240" cy="274320"/>
          </a:xfrm>
          <a:prstGeom prst="rect">
            <a:avLst/>
          </a:prstGeom>
          <a:noFill/>
          <a:ln/>
        </p:spPr>
        <p:txBody>
          <a:bodyPr wrap="square" lIns="0" tIns="0" rIns="0" bIns="0" rtlCol="0" anchor="ctr"/>
          <a:lstStyle/>
          <a:p>
            <a:pPr algn="ctr" indent="0" marL="0">
              <a:buNone/>
            </a:pPr>
            <a:r>
              <a:rPr lang="en-US" sz="1300" dirty="0">
                <a:solidFill>
                  <a:srgbClr val="5B6478"/>
                </a:solidFill>
                <a:latin typeface="Courier New" pitchFamily="34" charset="0"/>
                <a:ea typeface="Courier New" pitchFamily="34" charset="-122"/>
                <a:cs typeface="Courier New" pitchFamily="34" charset="-120"/>
              </a:rPr>
              <a:t>[3]</a:t>
            </a:r>
            <a:endParaRPr lang="en-US" sz="1300" dirty="0"/>
          </a:p>
        </p:txBody>
      </p:sp>
      <p:sp>
        <p:nvSpPr>
          <p:cNvPr id="22" name="Shape 19"/>
          <p:cNvSpPr/>
          <p:nvPr/>
        </p:nvSpPr>
        <p:spPr>
          <a:xfrm>
            <a:off x="4526280" y="4343400"/>
            <a:ext cx="777240" cy="502920"/>
          </a:xfrm>
          <a:prstGeom prst="rect">
            <a:avLst/>
          </a:prstGeom>
          <a:solidFill>
            <a:srgbClr val="FFFFFF"/>
          </a:solidFill>
          <a:ln w="15875">
            <a:solidFill>
              <a:srgbClr val="14213D"/>
            </a:solidFill>
            <a:prstDash val="solid"/>
          </a:ln>
        </p:spPr>
      </p:sp>
      <p:sp>
        <p:nvSpPr>
          <p:cNvPr id="23" name="Text 20"/>
          <p:cNvSpPr txBox="1"/>
          <p:nvPr/>
        </p:nvSpPr>
        <p:spPr>
          <a:xfrm>
            <a:off x="4526280" y="4343400"/>
            <a:ext cx="777240" cy="502920"/>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17.0</a:t>
            </a:r>
            <a:endParaRPr lang="en-US" sz="1400" dirty="0"/>
          </a:p>
        </p:txBody>
      </p:sp>
      <p:sp>
        <p:nvSpPr>
          <p:cNvPr id="24" name="Text 21"/>
          <p:cNvSpPr txBox="1"/>
          <p:nvPr/>
        </p:nvSpPr>
        <p:spPr>
          <a:xfrm>
            <a:off x="4526280" y="4873752"/>
            <a:ext cx="777240" cy="274320"/>
          </a:xfrm>
          <a:prstGeom prst="rect">
            <a:avLst/>
          </a:prstGeom>
          <a:noFill/>
          <a:ln/>
        </p:spPr>
        <p:txBody>
          <a:bodyPr wrap="square" lIns="0" tIns="0" rIns="0" bIns="0" rtlCol="0" anchor="ctr"/>
          <a:lstStyle/>
          <a:p>
            <a:pPr algn="ctr" indent="0" marL="0">
              <a:buNone/>
            </a:pPr>
            <a:r>
              <a:rPr lang="en-US" sz="1300" dirty="0">
                <a:solidFill>
                  <a:srgbClr val="5B6478"/>
                </a:solidFill>
                <a:latin typeface="Courier New" pitchFamily="34" charset="0"/>
                <a:ea typeface="Courier New" pitchFamily="34" charset="-122"/>
                <a:cs typeface="Courier New" pitchFamily="34" charset="-120"/>
              </a:rPr>
              <a:t>[4]</a:t>
            </a:r>
            <a:endParaRPr lang="en-US" sz="1300" dirty="0"/>
          </a:p>
        </p:txBody>
      </p:sp>
      <p:sp>
        <p:nvSpPr>
          <p:cNvPr id="25" name="Shape 22"/>
          <p:cNvSpPr/>
          <p:nvPr/>
        </p:nvSpPr>
        <p:spPr>
          <a:xfrm>
            <a:off x="5303520" y="4343400"/>
            <a:ext cx="777240" cy="502920"/>
          </a:xfrm>
          <a:prstGeom prst="rect">
            <a:avLst/>
          </a:prstGeom>
          <a:solidFill>
            <a:srgbClr val="FFFFFF"/>
          </a:solidFill>
          <a:ln w="15875">
            <a:solidFill>
              <a:srgbClr val="14213D"/>
            </a:solidFill>
            <a:prstDash val="solid"/>
          </a:ln>
        </p:spPr>
      </p:sp>
      <p:sp>
        <p:nvSpPr>
          <p:cNvPr id="26" name="Text 23"/>
          <p:cNvSpPr txBox="1"/>
          <p:nvPr/>
        </p:nvSpPr>
        <p:spPr>
          <a:xfrm>
            <a:off x="5303520" y="4343400"/>
            <a:ext cx="777240" cy="502920"/>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a:t>
            </a:r>
            <a:endParaRPr lang="en-US" sz="1400" dirty="0"/>
          </a:p>
        </p:txBody>
      </p:sp>
      <p:sp>
        <p:nvSpPr>
          <p:cNvPr id="27" name="Text 24"/>
          <p:cNvSpPr txBox="1"/>
          <p:nvPr/>
        </p:nvSpPr>
        <p:spPr>
          <a:xfrm>
            <a:off x="5303520" y="4873752"/>
            <a:ext cx="777240" cy="274320"/>
          </a:xfrm>
          <a:prstGeom prst="rect">
            <a:avLst/>
          </a:prstGeom>
          <a:noFill/>
          <a:ln/>
        </p:spPr>
        <p:txBody>
          <a:bodyPr wrap="square" lIns="0" tIns="0" rIns="0" bIns="0" rtlCol="0" anchor="ctr"/>
          <a:lstStyle/>
          <a:p>
            <a:pPr algn="ctr" indent="0" marL="0">
              <a:buNone/>
            </a:pPr>
            <a:r>
              <a:rPr lang="en-US" sz="1300" dirty="0">
                <a:solidFill>
                  <a:srgbClr val="5B6478"/>
                </a:solidFill>
                <a:latin typeface="Courier New" pitchFamily="34" charset="0"/>
                <a:ea typeface="Courier New" pitchFamily="34" charset="-122"/>
                <a:cs typeface="Courier New" pitchFamily="34" charset="-120"/>
              </a:rPr>
              <a:t>[5]</a:t>
            </a:r>
            <a:endParaRPr lang="en-US" sz="1300" dirty="0"/>
          </a:p>
        </p:txBody>
      </p:sp>
      <p:sp>
        <p:nvSpPr>
          <p:cNvPr id="28" name="Text 25"/>
          <p:cNvSpPr txBox="1"/>
          <p:nvPr/>
        </p:nvSpPr>
        <p:spPr>
          <a:xfrm>
            <a:off x="530352" y="4343400"/>
            <a:ext cx="777240" cy="502920"/>
          </a:xfrm>
          <a:prstGeom prst="rect">
            <a:avLst/>
          </a:prstGeom>
          <a:noFill/>
          <a:ln/>
        </p:spPr>
        <p:txBody>
          <a:bodyPr wrap="square" lIns="0" tIns="0" rIns="0" bIns="0" rtlCol="0" anchor="ctr"/>
          <a:lstStyle/>
          <a:p>
            <a:pPr algn="r" indent="0" marL="0">
              <a:buNone/>
            </a:pPr>
            <a:r>
              <a:rPr lang="en-US" sz="1600" b="1" dirty="0">
                <a:solidFill>
                  <a:srgbClr val="14213D"/>
                </a:solidFill>
                <a:latin typeface="Courier New" pitchFamily="34" charset="0"/>
                <a:ea typeface="Courier New" pitchFamily="34" charset="-122"/>
                <a:cs typeface="Courier New" pitchFamily="34" charset="-120"/>
              </a:rPr>
              <a:t>temps</a:t>
            </a:r>
            <a:endParaRPr lang="en-US" sz="1600" dirty="0"/>
          </a:p>
        </p:txBody>
      </p:sp>
      <p:sp>
        <p:nvSpPr>
          <p:cNvPr id="29" name="Text 26"/>
          <p:cNvSpPr txBox="1"/>
          <p:nvPr/>
        </p:nvSpPr>
        <p:spPr>
          <a:xfrm>
            <a:off x="2194560" y="5166360"/>
            <a:ext cx="777240" cy="274320"/>
          </a:xfrm>
          <a:prstGeom prst="rect">
            <a:avLst/>
          </a:prstGeom>
          <a:noFill/>
          <a:ln/>
        </p:spPr>
        <p:txBody>
          <a:bodyPr wrap="square" lIns="0" tIns="0" rIns="0" bIns="0" rtlCol="0" anchor="ctr"/>
          <a:lstStyle/>
          <a:p>
            <a:pPr algn="ctr" indent="0" marL="0">
              <a:buNone/>
            </a:pPr>
            <a:r>
              <a:rPr lang="en-US" sz="1300" b="1" dirty="0">
                <a:solidFill>
                  <a:srgbClr val="2F6FB3"/>
                </a:solidFill>
                <a:latin typeface="Courier New" pitchFamily="34" charset="0"/>
                <a:ea typeface="Courier New" pitchFamily="34" charset="-122"/>
                <a:cs typeface="Courier New" pitchFamily="34" charset="-120"/>
              </a:rPr>
              <a:t>i − 1</a:t>
            </a:r>
            <a:endParaRPr lang="en-US" sz="1300" dirty="0"/>
          </a:p>
        </p:txBody>
      </p:sp>
      <p:sp>
        <p:nvSpPr>
          <p:cNvPr id="30" name="Text 27"/>
          <p:cNvSpPr txBox="1"/>
          <p:nvPr/>
        </p:nvSpPr>
        <p:spPr>
          <a:xfrm>
            <a:off x="2971800" y="5166360"/>
            <a:ext cx="777240" cy="274320"/>
          </a:xfrm>
          <a:prstGeom prst="rect">
            <a:avLst/>
          </a:prstGeom>
          <a:noFill/>
          <a:ln/>
        </p:spPr>
        <p:txBody>
          <a:bodyPr wrap="square" lIns="0" tIns="0" rIns="0" bIns="0" rtlCol="0" anchor="ctr"/>
          <a:lstStyle/>
          <a:p>
            <a:pPr algn="ctr" indent="0" marL="0">
              <a:buNone/>
            </a:pPr>
            <a:r>
              <a:rPr lang="en-US" sz="1300" b="1" dirty="0">
                <a:solidFill>
                  <a:srgbClr val="B7791F"/>
                </a:solidFill>
                <a:latin typeface="Courier New" pitchFamily="34" charset="0"/>
                <a:ea typeface="Courier New" pitchFamily="34" charset="-122"/>
                <a:cs typeface="Courier New" pitchFamily="34" charset="-120"/>
              </a:rPr>
              <a:t>i</a:t>
            </a:r>
            <a:endParaRPr lang="en-US" sz="1300" dirty="0"/>
          </a:p>
        </p:txBody>
      </p:sp>
      <p:sp>
        <p:nvSpPr>
          <p:cNvPr id="31" name="Text 28"/>
          <p:cNvSpPr txBox="1"/>
          <p:nvPr/>
        </p:nvSpPr>
        <p:spPr>
          <a:xfrm>
            <a:off x="6263640" y="4297680"/>
            <a:ext cx="1097280" cy="1188720"/>
          </a:xfrm>
          <a:prstGeom prst="rect">
            <a:avLst/>
          </a:prstGeom>
          <a:noFill/>
          <a:ln/>
        </p:spPr>
        <p:txBody>
          <a:bodyPr wrap="square" lIns="0" tIns="0" rIns="0" bIns="0" rtlCol="0" anchor="t"/>
          <a:lstStyle/>
          <a:p>
            <a:pPr indent="0" marL="0">
              <a:buNone/>
            </a:pPr>
            <a:r>
              <a:rPr lang="en-US" sz="1300" dirty="0">
                <a:solidFill>
                  <a:srgbClr val="5B6478"/>
                </a:solidFill>
                <a:latin typeface="Calibri" pitchFamily="34" charset="0"/>
                <a:ea typeface="Calibri" pitchFamily="34" charset="-122"/>
                <a:cs typeface="Calibri" pitchFamily="34" charset="-120"/>
              </a:rPr>
              <a:t>change = 8.2 − 6.4 = 1.8</a:t>
            </a:r>
            <a:endParaRPr lang="en-US" sz="1300" dirty="0"/>
          </a:p>
        </p:txBody>
      </p:sp>
      <p:sp>
        <p:nvSpPr>
          <p:cNvPr id="32" name="Shape 29"/>
          <p:cNvSpPr/>
          <p:nvPr/>
        </p:nvSpPr>
        <p:spPr>
          <a:xfrm>
            <a:off x="548640" y="5486400"/>
            <a:ext cx="6675120" cy="594360"/>
          </a:xfrm>
          <a:prstGeom prst="roundRect">
            <a:avLst>
              <a:gd name="adj" fmla="val 18462"/>
            </a:avLst>
          </a:prstGeom>
          <a:solidFill>
            <a:srgbClr val="FBE9E7"/>
          </a:solidFill>
          <a:ln w="12700">
            <a:solidFill>
              <a:srgbClr val="FBE9E7"/>
            </a:solidFill>
            <a:prstDash val="solid"/>
          </a:ln>
        </p:spPr>
      </p:sp>
      <p:pic>
        <p:nvPicPr>
          <p:cNvPr id="33" name="Image 0" descr="preencoded.png">    </p:cNvPr>
          <p:cNvPicPr>
            <a:picLocks noChangeAspect="1"/>
          </p:cNvPicPr>
          <p:nvPr/>
        </p:nvPicPr>
        <p:blipFill>
          <a:blip r:embed="rId1"/>
          <a:stretch>
            <a:fillRect/>
          </a:stretch>
        </p:blipFill>
        <p:spPr>
          <a:xfrm>
            <a:off x="822960" y="5623560"/>
            <a:ext cx="320040" cy="320040"/>
          </a:xfrm>
          <a:prstGeom prst="rect">
            <a:avLst/>
          </a:prstGeom>
        </p:spPr>
      </p:pic>
      <p:sp>
        <p:nvSpPr>
          <p:cNvPr id="34" name="Text 30"/>
          <p:cNvSpPr txBox="1"/>
          <p:nvPr/>
        </p:nvSpPr>
        <p:spPr>
          <a:xfrm>
            <a:off x="1417320" y="5559552"/>
            <a:ext cx="5532120" cy="448056"/>
          </a:xfrm>
          <a:prstGeom prst="rect">
            <a:avLst/>
          </a:prstGeom>
          <a:noFill/>
          <a:ln/>
        </p:spPr>
        <p:txBody>
          <a:bodyPr wrap="square" lIns="0" tIns="0" rIns="0" bIns="0" rtlCol="0" anchor="ctr"/>
          <a:lstStyle/>
          <a:p>
            <a:pPr indent="0" marL="0">
              <a:buNone/>
            </a:pPr>
            <a:r>
              <a:rPr lang="en-US" sz="1400" b="1" dirty="0">
                <a:solidFill>
                  <a:srgbClr val="333B4F"/>
                </a:solidFill>
                <a:latin typeface="Calibri" pitchFamily="34" charset="0"/>
                <a:ea typeface="Calibri" pitchFamily="34" charset="-122"/>
                <a:cs typeface="Calibri" pitchFamily="34" charset="-120"/>
              </a:rPr>
              <a:t>Start at i = 1: </a:t>
            </a:r>
            <a:pPr indent="0" marL="0">
              <a:buNone/>
            </a:pPr>
            <a:r>
              <a:rPr lang="en-US" sz="1400" dirty="0">
                <a:solidFill>
                  <a:srgbClr val="333B4F"/>
                </a:solidFill>
                <a:latin typeface="Calibri" pitchFamily="34" charset="0"/>
                <a:ea typeface="Calibri" pitchFamily="34" charset="-122"/>
                <a:cs typeface="Calibri" pitchFamily="34" charset="-120"/>
              </a:rPr>
              <a:t>temps[0 − 1] does not exist.</a:t>
            </a:r>
            <a:endParaRPr lang="en-US" sz="1400" dirty="0"/>
          </a:p>
        </p:txBody>
      </p:sp>
      <p:sp>
        <p:nvSpPr>
          <p:cNvPr id="35" name="Shape 31"/>
          <p:cNvSpPr/>
          <p:nvPr/>
        </p:nvSpPr>
        <p:spPr>
          <a:xfrm>
            <a:off x="7726680" y="1645920"/>
            <a:ext cx="3931920" cy="4434840"/>
          </a:xfrm>
          <a:prstGeom prst="roundRect">
            <a:avLst>
              <a:gd name="adj" fmla="val 2326"/>
            </a:avLst>
          </a:prstGeom>
          <a:solidFill>
            <a:srgbClr val="0B0F19"/>
          </a:solidFill>
          <a:ln w="12700">
            <a:solidFill>
              <a:srgbClr val="2A3654"/>
            </a:solidFill>
            <a:prstDash val="solid"/>
          </a:ln>
        </p:spPr>
      </p:sp>
      <p:sp>
        <p:nvSpPr>
          <p:cNvPr id="36" name="Shape 32"/>
          <p:cNvSpPr/>
          <p:nvPr/>
        </p:nvSpPr>
        <p:spPr>
          <a:xfrm>
            <a:off x="7909560" y="1773936"/>
            <a:ext cx="118872" cy="118872"/>
          </a:xfrm>
          <a:prstGeom prst="ellipse">
            <a:avLst/>
          </a:prstGeom>
          <a:solidFill>
            <a:srgbClr val="FF5F57"/>
          </a:solidFill>
          <a:ln w="12700">
            <a:solidFill>
              <a:srgbClr val="FF5F57"/>
            </a:solidFill>
            <a:prstDash val="solid"/>
          </a:ln>
        </p:spPr>
      </p:sp>
      <p:sp>
        <p:nvSpPr>
          <p:cNvPr id="37" name="Shape 33"/>
          <p:cNvSpPr/>
          <p:nvPr/>
        </p:nvSpPr>
        <p:spPr>
          <a:xfrm>
            <a:off x="8138160" y="1773936"/>
            <a:ext cx="118872" cy="118872"/>
          </a:xfrm>
          <a:prstGeom prst="ellipse">
            <a:avLst/>
          </a:prstGeom>
          <a:solidFill>
            <a:srgbClr val="FEBC2E"/>
          </a:solidFill>
          <a:ln w="12700">
            <a:solidFill>
              <a:srgbClr val="FEBC2E"/>
            </a:solidFill>
            <a:prstDash val="solid"/>
          </a:ln>
        </p:spPr>
      </p:sp>
      <p:sp>
        <p:nvSpPr>
          <p:cNvPr id="38" name="Shape 34"/>
          <p:cNvSpPr/>
          <p:nvPr/>
        </p:nvSpPr>
        <p:spPr>
          <a:xfrm>
            <a:off x="8366760" y="1773936"/>
            <a:ext cx="118872" cy="118872"/>
          </a:xfrm>
          <a:prstGeom prst="ellipse">
            <a:avLst/>
          </a:prstGeom>
          <a:solidFill>
            <a:srgbClr val="28C840"/>
          </a:solidFill>
          <a:ln w="12700">
            <a:solidFill>
              <a:srgbClr val="28C840"/>
            </a:solidFill>
            <a:prstDash val="solid"/>
          </a:ln>
        </p:spPr>
      </p:sp>
      <p:sp>
        <p:nvSpPr>
          <p:cNvPr id="39" name="Text 35"/>
          <p:cNvSpPr txBox="1"/>
          <p:nvPr/>
        </p:nvSpPr>
        <p:spPr>
          <a:xfrm>
            <a:off x="8641080" y="1719072"/>
            <a:ext cx="283464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40" name="Text 36"/>
          <p:cNvSpPr txBox="1"/>
          <p:nvPr/>
        </p:nvSpPr>
        <p:spPr>
          <a:xfrm>
            <a:off x="7955280" y="2029968"/>
            <a:ext cx="3474720" cy="3931920"/>
          </a:xfrm>
          <a:prstGeom prst="rect">
            <a:avLst/>
          </a:prstGeom>
          <a:noFill/>
          <a:ln/>
        </p:spPr>
        <p:txBody>
          <a:bodyPr wrap="square" lIns="0" tIns="0" rIns="0" bIns="0" rtlCol="0" anchor="t"/>
          <a:lstStyle/>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Year average: 14.71 C</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Month   Temp   Change</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Jan      6.1        -</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Feb      6.4      0.3</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Mar      8.2      1.8</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Apr     12.3      4.1</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May     17.0      4.7</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Jun     21.6      4.6</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Jul     24.0      2.4</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Aug     24.2      0.2</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Sep     20.6     -3.6</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Oct     16.2     -4.4</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Nov     11.8     -4.4</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Dec      8.1     -3.7</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Warmer than average: 17.0 21.6 24.0 24.2 20.6 16.2</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1463040"/>
            <a:ext cx="2743200" cy="1280160"/>
          </a:xfrm>
          <a:prstGeom prst="rect">
            <a:avLst/>
          </a:prstGeom>
          <a:noFill/>
          <a:ln/>
        </p:spPr>
        <p:txBody>
          <a:bodyPr wrap="square" lIns="0" tIns="0" rIns="0" bIns="0" rtlCol="0" anchor="ctr"/>
          <a:lstStyle/>
          <a:p>
            <a:pPr indent="0" marL="0">
              <a:buNone/>
            </a:pPr>
            <a:r>
              <a:rPr lang="en-US" sz="8800" b="1" dirty="0">
                <a:solidFill>
                  <a:srgbClr val="FCA311"/>
                </a:solidFill>
                <a:latin typeface="Courier New" pitchFamily="34" charset="0"/>
                <a:ea typeface="Courier New" pitchFamily="34" charset="-122"/>
                <a:cs typeface="Courier New" pitchFamily="34" charset="-120"/>
              </a:rPr>
              <a:t>&gt;_</a:t>
            </a:r>
            <a:endParaRPr lang="en-US" sz="8800" dirty="0"/>
          </a:p>
        </p:txBody>
      </p:sp>
      <p:sp>
        <p:nvSpPr>
          <p:cNvPr id="3" name="Text 1"/>
          <p:cNvSpPr txBox="1"/>
          <p:nvPr/>
        </p:nvSpPr>
        <p:spPr>
          <a:xfrm>
            <a:off x="548640" y="2926080"/>
            <a:ext cx="5486400" cy="365760"/>
          </a:xfrm>
          <a:prstGeom prst="rect">
            <a:avLst/>
          </a:prstGeom>
          <a:noFill/>
          <a:ln/>
        </p:spPr>
        <p:txBody>
          <a:bodyPr wrap="square" lIns="0" tIns="0" rIns="0" bIns="0" rtlCol="0" anchor="ctr"/>
          <a:lstStyle/>
          <a:p>
            <a:pPr indent="0" marL="0">
              <a:buNone/>
            </a:pPr>
            <a:r>
              <a:rPr lang="en-US" sz="1600" spc="400" kern="0" dirty="0">
                <a:solidFill>
                  <a:srgbClr val="8A94AB"/>
                </a:solidFill>
                <a:latin typeface="Courier New" pitchFamily="34" charset="0"/>
                <a:ea typeface="Courier New" pitchFamily="34" charset="-122"/>
                <a:cs typeface="Courier New" pitchFamily="34" charset="-120"/>
              </a:rPr>
              <a:t>PART 4</a:t>
            </a:r>
            <a:endParaRPr lang="en-US" sz="1600" dirty="0"/>
          </a:p>
        </p:txBody>
      </p:sp>
      <p:sp>
        <p:nvSpPr>
          <p:cNvPr id="4" name="Text 2"/>
          <p:cNvSpPr txBox="1"/>
          <p:nvPr/>
        </p:nvSpPr>
        <p:spPr>
          <a:xfrm>
            <a:off x="548640" y="3337560"/>
            <a:ext cx="10515600" cy="914400"/>
          </a:xfrm>
          <a:prstGeom prst="rect">
            <a:avLst/>
          </a:prstGeom>
          <a:noFill/>
          <a:ln/>
        </p:spPr>
        <p:txBody>
          <a:bodyPr wrap="square" lIns="0" tIns="0" rIns="0" bIns="0" rtlCol="0" anchor="ctr">
            <a:normAutofit/>
          </a:bodyPr>
          <a:lstStyle/>
          <a:p>
            <a:pPr indent="0" marL="0">
              <a:buNone/>
            </a:pPr>
            <a:r>
              <a:rPr lang="en-US" sz="4200" b="1" dirty="0">
                <a:solidFill>
                  <a:srgbClr val="FFFFFF"/>
                </a:solidFill>
                <a:latin typeface="Cambria" pitchFamily="34" charset="0"/>
                <a:ea typeface="Cambria" pitchFamily="34" charset="-122"/>
                <a:cs typeface="Cambria" pitchFamily="34" charset="-120"/>
              </a:rPr>
              <a:t>More Types, Patterns and References</a:t>
            </a:r>
            <a:endParaRPr lang="en-US" sz="4200" dirty="0"/>
          </a:p>
        </p:txBody>
      </p:sp>
      <p:sp>
        <p:nvSpPr>
          <p:cNvPr id="5" name="Text 3"/>
          <p:cNvSpPr txBox="1"/>
          <p:nvPr/>
        </p:nvSpPr>
        <p:spPr>
          <a:xfrm>
            <a:off x="548640" y="4343400"/>
            <a:ext cx="10515600" cy="548640"/>
          </a:xfrm>
          <a:prstGeom prst="rect">
            <a:avLst/>
          </a:prstGeom>
          <a:noFill/>
          <a:ln/>
        </p:spPr>
        <p:txBody>
          <a:bodyPr wrap="square" lIns="0" tIns="0" rIns="0" bIns="0" rtlCol="0" anchor="ctr"/>
          <a:lstStyle/>
          <a:p>
            <a:pPr indent="0" marL="0">
              <a:buNone/>
            </a:pPr>
            <a:r>
              <a:rPr lang="en-US" sz="1800" dirty="0">
                <a:solidFill>
                  <a:srgbClr val="C7CEDC"/>
                </a:solidFill>
                <a:latin typeface="Calibri" pitchFamily="34" charset="0"/>
                <a:ea typeface="Calibri" pitchFamily="34" charset="-122"/>
                <a:cs typeface="Calibri" pitchFamily="34" charset="-120"/>
              </a:rPr>
              <a:t>char and string · counting arrays · parallel arrays · copy or second name? · building from neighbours</a:t>
            </a:r>
            <a:endParaRPr lang="en-US" sz="1800" dirty="0"/>
          </a:p>
        </p:txBody>
      </p:sp>
      <p:sp>
        <p:nvSpPr>
          <p:cNvPr id="6" name="Text 4"/>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8A94AB"/>
                </a:solidFill>
                <a:latin typeface="Calibri" pitchFamily="34" charset="0"/>
                <a:ea typeface="Calibri" pitchFamily="34" charset="-122"/>
                <a:cs typeface="Calibri" pitchFamily="34" charset="-120"/>
              </a:rPr>
              <a:t>MCMP113  ·  Week 9</a:t>
            </a:r>
            <a:endParaRPr lang="en-US" sz="1000" dirty="0"/>
          </a:p>
        </p:txBody>
      </p:sp>
      <p:sp>
        <p:nvSpPr>
          <p:cNvPr id="7" name="Text 5"/>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8A94AB"/>
                </a:solidFill>
                <a:latin typeface="Calibri" pitchFamily="34" charset="0"/>
                <a:ea typeface="Calibri" pitchFamily="34" charset="-122"/>
                <a:cs typeface="Calibri" pitchFamily="34" charset="-120"/>
              </a:rPr>
              <a:t>24</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ELEMENT TYPES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Arrays of Any Type · a String Is Almost a char Array</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9</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25</a:t>
            </a:r>
            <a:endParaRPr lang="en-US" sz="1000" dirty="0"/>
          </a:p>
        </p:txBody>
      </p:sp>
      <p:sp>
        <p:nvSpPr>
          <p:cNvPr id="7" name="Shape 4"/>
          <p:cNvSpPr/>
          <p:nvPr/>
        </p:nvSpPr>
        <p:spPr>
          <a:xfrm>
            <a:off x="548640" y="1645920"/>
            <a:ext cx="5486400" cy="658368"/>
          </a:xfrm>
          <a:prstGeom prst="roundRect">
            <a:avLst>
              <a:gd name="adj" fmla="val 16667"/>
            </a:avLst>
          </a:prstGeom>
          <a:solidFill>
            <a:srgbClr val="EEF1F6"/>
          </a:solidFill>
          <a:ln w="12700">
            <a:solidFill>
              <a:srgbClr val="EEF1F6"/>
            </a:solidFill>
            <a:prstDash val="solid"/>
          </a:ln>
        </p:spPr>
      </p:sp>
      <p:sp>
        <p:nvSpPr>
          <p:cNvPr id="8" name="Text 5"/>
          <p:cNvSpPr txBox="1"/>
          <p:nvPr/>
        </p:nvSpPr>
        <p:spPr>
          <a:xfrm>
            <a:off x="731520" y="1645920"/>
            <a:ext cx="1280160" cy="658368"/>
          </a:xfrm>
          <a:prstGeom prst="rect">
            <a:avLst/>
          </a:prstGeom>
          <a:noFill/>
          <a:ln/>
        </p:spPr>
        <p:txBody>
          <a:bodyPr wrap="square" lIns="0" tIns="0" rIns="0" bIns="0" rtlCol="0" anchor="ctr"/>
          <a:lstStyle/>
          <a:p>
            <a:pPr indent="0" marL="0">
              <a:buNone/>
            </a:pPr>
            <a:r>
              <a:rPr lang="en-US" sz="1600" b="1" dirty="0">
                <a:solidFill>
                  <a:srgbClr val="2F6FB3"/>
                </a:solidFill>
                <a:latin typeface="Courier New" pitchFamily="34" charset="0"/>
                <a:ea typeface="Courier New" pitchFamily="34" charset="-122"/>
                <a:cs typeface="Courier New" pitchFamily="34" charset="-120"/>
              </a:rPr>
              <a:t>double[]</a:t>
            </a:r>
            <a:endParaRPr lang="en-US" sz="1600" dirty="0"/>
          </a:p>
        </p:txBody>
      </p:sp>
      <p:sp>
        <p:nvSpPr>
          <p:cNvPr id="9" name="Text 6"/>
          <p:cNvSpPr txBox="1"/>
          <p:nvPr/>
        </p:nvSpPr>
        <p:spPr>
          <a:xfrm>
            <a:off x="2011680" y="1645920"/>
            <a:ext cx="3931920" cy="658368"/>
          </a:xfrm>
          <a:prstGeom prst="rect">
            <a:avLst/>
          </a:prstGeom>
          <a:noFill/>
          <a:ln/>
        </p:spPr>
        <p:txBody>
          <a:bodyPr wrap="square" lIns="0" tIns="0" rIns="0" bIns="0" rtlCol="0" anchor="ctr"/>
          <a:lstStyle/>
          <a:p>
            <a:pPr indent="0" marL="0">
              <a:buNone/>
            </a:pPr>
            <a:r>
              <a:rPr lang="en-US" sz="1300" dirty="0">
                <a:solidFill>
                  <a:srgbClr val="14213D"/>
                </a:solidFill>
                <a:latin typeface="Courier New" pitchFamily="34" charset="0"/>
                <a:ea typeface="Courier New" pitchFamily="34" charset="-122"/>
                <a:cs typeface="Courier New" pitchFamily="34" charset="-120"/>
              </a:rPr>
              <a:t>double[] temps = { 6.1, 6.4 };</a:t>
            </a:r>
            <a:endParaRPr lang="en-US" sz="1300" dirty="0"/>
          </a:p>
        </p:txBody>
      </p:sp>
      <p:sp>
        <p:nvSpPr>
          <p:cNvPr id="10" name="Shape 7"/>
          <p:cNvSpPr/>
          <p:nvPr/>
        </p:nvSpPr>
        <p:spPr>
          <a:xfrm>
            <a:off x="548640" y="2423160"/>
            <a:ext cx="5486400" cy="658368"/>
          </a:xfrm>
          <a:prstGeom prst="roundRect">
            <a:avLst>
              <a:gd name="adj" fmla="val 16667"/>
            </a:avLst>
          </a:prstGeom>
          <a:solidFill>
            <a:srgbClr val="EEF1F6"/>
          </a:solidFill>
          <a:ln w="12700">
            <a:solidFill>
              <a:srgbClr val="EEF1F6"/>
            </a:solidFill>
            <a:prstDash val="solid"/>
          </a:ln>
        </p:spPr>
      </p:sp>
      <p:sp>
        <p:nvSpPr>
          <p:cNvPr id="11" name="Text 8"/>
          <p:cNvSpPr txBox="1"/>
          <p:nvPr/>
        </p:nvSpPr>
        <p:spPr>
          <a:xfrm>
            <a:off x="731520" y="2423160"/>
            <a:ext cx="1280160" cy="658368"/>
          </a:xfrm>
          <a:prstGeom prst="rect">
            <a:avLst/>
          </a:prstGeom>
          <a:noFill/>
          <a:ln/>
        </p:spPr>
        <p:txBody>
          <a:bodyPr wrap="square" lIns="0" tIns="0" rIns="0" bIns="0" rtlCol="0" anchor="ctr"/>
          <a:lstStyle/>
          <a:p>
            <a:pPr indent="0" marL="0">
              <a:buNone/>
            </a:pPr>
            <a:r>
              <a:rPr lang="en-US" sz="1600" b="1" dirty="0">
                <a:solidFill>
                  <a:srgbClr val="2E9E6A"/>
                </a:solidFill>
                <a:latin typeface="Courier New" pitchFamily="34" charset="0"/>
                <a:ea typeface="Courier New" pitchFamily="34" charset="-122"/>
                <a:cs typeface="Courier New" pitchFamily="34" charset="-120"/>
              </a:rPr>
              <a:t>string[]</a:t>
            </a:r>
            <a:endParaRPr lang="en-US" sz="1600" dirty="0"/>
          </a:p>
        </p:txBody>
      </p:sp>
      <p:sp>
        <p:nvSpPr>
          <p:cNvPr id="12" name="Text 9"/>
          <p:cNvSpPr txBox="1"/>
          <p:nvPr/>
        </p:nvSpPr>
        <p:spPr>
          <a:xfrm>
            <a:off x="2011680" y="2423160"/>
            <a:ext cx="3931920" cy="658368"/>
          </a:xfrm>
          <a:prstGeom prst="rect">
            <a:avLst/>
          </a:prstGeom>
          <a:noFill/>
          <a:ln/>
        </p:spPr>
        <p:txBody>
          <a:bodyPr wrap="square" lIns="0" tIns="0" rIns="0" bIns="0" rtlCol="0" anchor="ctr"/>
          <a:lstStyle/>
          <a:p>
            <a:pPr indent="0" marL="0">
              <a:buNone/>
            </a:pPr>
            <a:r>
              <a:rPr lang="en-US" sz="1300" dirty="0">
                <a:solidFill>
                  <a:srgbClr val="14213D"/>
                </a:solidFill>
                <a:latin typeface="Courier New" pitchFamily="34" charset="0"/>
                <a:ea typeface="Courier New" pitchFamily="34" charset="-122"/>
                <a:cs typeface="Courier New" pitchFamily="34" charset="-120"/>
              </a:rPr>
              <a:t>string[] names = { "Ayşe", "Can" };</a:t>
            </a:r>
            <a:endParaRPr lang="en-US" sz="1300" dirty="0"/>
          </a:p>
        </p:txBody>
      </p:sp>
      <p:sp>
        <p:nvSpPr>
          <p:cNvPr id="13" name="Shape 10"/>
          <p:cNvSpPr/>
          <p:nvPr/>
        </p:nvSpPr>
        <p:spPr>
          <a:xfrm>
            <a:off x="548640" y="3200400"/>
            <a:ext cx="5486400" cy="658368"/>
          </a:xfrm>
          <a:prstGeom prst="roundRect">
            <a:avLst>
              <a:gd name="adj" fmla="val 16667"/>
            </a:avLst>
          </a:prstGeom>
          <a:solidFill>
            <a:srgbClr val="EEF1F6"/>
          </a:solidFill>
          <a:ln w="12700">
            <a:solidFill>
              <a:srgbClr val="EEF1F6"/>
            </a:solidFill>
            <a:prstDash val="solid"/>
          </a:ln>
        </p:spPr>
      </p:sp>
      <p:sp>
        <p:nvSpPr>
          <p:cNvPr id="14" name="Text 11"/>
          <p:cNvSpPr txBox="1"/>
          <p:nvPr/>
        </p:nvSpPr>
        <p:spPr>
          <a:xfrm>
            <a:off x="731520" y="3200400"/>
            <a:ext cx="1280160" cy="658368"/>
          </a:xfrm>
          <a:prstGeom prst="rect">
            <a:avLst/>
          </a:prstGeom>
          <a:noFill/>
          <a:ln/>
        </p:spPr>
        <p:txBody>
          <a:bodyPr wrap="square" lIns="0" tIns="0" rIns="0" bIns="0" rtlCol="0" anchor="ctr"/>
          <a:lstStyle/>
          <a:p>
            <a:pPr indent="0" marL="0">
              <a:buNone/>
            </a:pPr>
            <a:r>
              <a:rPr lang="en-US" sz="1600" b="1" dirty="0">
                <a:solidFill>
                  <a:srgbClr val="B7791F"/>
                </a:solidFill>
                <a:latin typeface="Courier New" pitchFamily="34" charset="0"/>
                <a:ea typeface="Courier New" pitchFamily="34" charset="-122"/>
                <a:cs typeface="Courier New" pitchFamily="34" charset="-120"/>
              </a:rPr>
              <a:t>char[]</a:t>
            </a:r>
            <a:endParaRPr lang="en-US" sz="1600" dirty="0"/>
          </a:p>
        </p:txBody>
      </p:sp>
      <p:sp>
        <p:nvSpPr>
          <p:cNvPr id="15" name="Text 12"/>
          <p:cNvSpPr txBox="1"/>
          <p:nvPr/>
        </p:nvSpPr>
        <p:spPr>
          <a:xfrm>
            <a:off x="2011680" y="3200400"/>
            <a:ext cx="3931920" cy="658368"/>
          </a:xfrm>
          <a:prstGeom prst="rect">
            <a:avLst/>
          </a:prstGeom>
          <a:noFill/>
          <a:ln/>
        </p:spPr>
        <p:txBody>
          <a:bodyPr wrap="square" lIns="0" tIns="0" rIns="0" bIns="0" rtlCol="0" anchor="ctr"/>
          <a:lstStyle/>
          <a:p>
            <a:pPr indent="0" marL="0">
              <a:buNone/>
            </a:pPr>
            <a:r>
              <a:rPr lang="en-US" sz="1300" dirty="0">
                <a:solidFill>
                  <a:srgbClr val="14213D"/>
                </a:solidFill>
                <a:latin typeface="Courier New" pitchFamily="34" charset="0"/>
                <a:ea typeface="Courier New" pitchFamily="34" charset="-122"/>
                <a:cs typeface="Courier New" pitchFamily="34" charset="-120"/>
              </a:rPr>
              <a:t>char[] vowels = { 'a', 'e', 'i' };</a:t>
            </a:r>
            <a:endParaRPr lang="en-US" sz="1300" dirty="0"/>
          </a:p>
        </p:txBody>
      </p:sp>
      <p:sp>
        <p:nvSpPr>
          <p:cNvPr id="16" name="Shape 13"/>
          <p:cNvSpPr/>
          <p:nvPr/>
        </p:nvSpPr>
        <p:spPr>
          <a:xfrm>
            <a:off x="548640" y="3977640"/>
            <a:ext cx="5486400" cy="658368"/>
          </a:xfrm>
          <a:prstGeom prst="roundRect">
            <a:avLst>
              <a:gd name="adj" fmla="val 16667"/>
            </a:avLst>
          </a:prstGeom>
          <a:solidFill>
            <a:srgbClr val="EEF1F6"/>
          </a:solidFill>
          <a:ln w="12700">
            <a:solidFill>
              <a:srgbClr val="EEF1F6"/>
            </a:solidFill>
            <a:prstDash val="solid"/>
          </a:ln>
        </p:spPr>
      </p:sp>
      <p:sp>
        <p:nvSpPr>
          <p:cNvPr id="17" name="Text 14"/>
          <p:cNvSpPr txBox="1"/>
          <p:nvPr/>
        </p:nvSpPr>
        <p:spPr>
          <a:xfrm>
            <a:off x="731520" y="3977640"/>
            <a:ext cx="1280160" cy="658368"/>
          </a:xfrm>
          <a:prstGeom prst="rect">
            <a:avLst/>
          </a:prstGeom>
          <a:noFill/>
          <a:ln/>
        </p:spPr>
        <p:txBody>
          <a:bodyPr wrap="square" lIns="0" tIns="0" rIns="0" bIns="0" rtlCol="0" anchor="ctr"/>
          <a:lstStyle/>
          <a:p>
            <a:pPr indent="0" marL="0">
              <a:buNone/>
            </a:pPr>
            <a:r>
              <a:rPr lang="en-US" sz="1600" b="1" dirty="0">
                <a:solidFill>
                  <a:srgbClr val="C8453B"/>
                </a:solidFill>
                <a:latin typeface="Courier New" pitchFamily="34" charset="0"/>
                <a:ea typeface="Courier New" pitchFamily="34" charset="-122"/>
                <a:cs typeface="Courier New" pitchFamily="34" charset="-120"/>
              </a:rPr>
              <a:t>bool[]</a:t>
            </a:r>
            <a:endParaRPr lang="en-US" sz="1600" dirty="0"/>
          </a:p>
        </p:txBody>
      </p:sp>
      <p:sp>
        <p:nvSpPr>
          <p:cNvPr id="18" name="Text 15"/>
          <p:cNvSpPr txBox="1"/>
          <p:nvPr/>
        </p:nvSpPr>
        <p:spPr>
          <a:xfrm>
            <a:off x="2011680" y="3977640"/>
            <a:ext cx="3931920" cy="658368"/>
          </a:xfrm>
          <a:prstGeom prst="rect">
            <a:avLst/>
          </a:prstGeom>
          <a:noFill/>
          <a:ln/>
        </p:spPr>
        <p:txBody>
          <a:bodyPr wrap="square" lIns="0" tIns="0" rIns="0" bIns="0" rtlCol="0" anchor="ctr"/>
          <a:lstStyle/>
          <a:p>
            <a:pPr indent="0" marL="0">
              <a:buNone/>
            </a:pPr>
            <a:r>
              <a:rPr lang="en-US" sz="1300" dirty="0">
                <a:solidFill>
                  <a:srgbClr val="14213D"/>
                </a:solidFill>
                <a:latin typeface="Courier New" pitchFamily="34" charset="0"/>
                <a:ea typeface="Courier New" pitchFamily="34" charset="-122"/>
                <a:cs typeface="Courier New" pitchFamily="34" charset="-120"/>
              </a:rPr>
              <a:t>bool[] present = new bool[30];</a:t>
            </a:r>
            <a:endParaRPr lang="en-US" sz="1300" dirty="0"/>
          </a:p>
        </p:txBody>
      </p:sp>
      <p:sp>
        <p:nvSpPr>
          <p:cNvPr id="19" name="Text 16"/>
          <p:cNvSpPr txBox="1"/>
          <p:nvPr/>
        </p:nvSpPr>
        <p:spPr>
          <a:xfrm>
            <a:off x="6355080" y="1600200"/>
            <a:ext cx="5303520" cy="329184"/>
          </a:xfrm>
          <a:prstGeom prst="rect">
            <a:avLst/>
          </a:prstGeom>
          <a:noFill/>
          <a:ln/>
        </p:spPr>
        <p:txBody>
          <a:bodyPr wrap="square" lIns="0" tIns="0" rIns="0" bIns="0"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string text = "Hello";</a:t>
            </a:r>
            <a:endParaRPr lang="en-US" sz="1600" dirty="0"/>
          </a:p>
        </p:txBody>
      </p:sp>
      <p:sp>
        <p:nvSpPr>
          <p:cNvPr id="20" name="Shape 17"/>
          <p:cNvSpPr/>
          <p:nvPr/>
        </p:nvSpPr>
        <p:spPr>
          <a:xfrm>
            <a:off x="6675120" y="2057400"/>
            <a:ext cx="822960" cy="548640"/>
          </a:xfrm>
          <a:prstGeom prst="rect">
            <a:avLst/>
          </a:prstGeom>
          <a:solidFill>
            <a:srgbClr val="FFFFFF"/>
          </a:solidFill>
          <a:ln w="15875">
            <a:solidFill>
              <a:srgbClr val="14213D"/>
            </a:solidFill>
            <a:prstDash val="solid"/>
          </a:ln>
        </p:spPr>
      </p:sp>
      <p:sp>
        <p:nvSpPr>
          <p:cNvPr id="21" name="Text 18"/>
          <p:cNvSpPr txBox="1"/>
          <p:nvPr/>
        </p:nvSpPr>
        <p:spPr>
          <a:xfrm>
            <a:off x="6675120" y="2057400"/>
            <a:ext cx="822960" cy="54864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'H'</a:t>
            </a:r>
            <a:endParaRPr lang="en-US" sz="1600" dirty="0"/>
          </a:p>
        </p:txBody>
      </p:sp>
      <p:sp>
        <p:nvSpPr>
          <p:cNvPr id="22" name="Text 19"/>
          <p:cNvSpPr txBox="1"/>
          <p:nvPr/>
        </p:nvSpPr>
        <p:spPr>
          <a:xfrm>
            <a:off x="6675120" y="2633472"/>
            <a:ext cx="822960" cy="274320"/>
          </a:xfrm>
          <a:prstGeom prst="rect">
            <a:avLst/>
          </a:prstGeom>
          <a:noFill/>
          <a:ln/>
        </p:spPr>
        <p:txBody>
          <a:bodyPr wrap="square" lIns="0" tIns="0" rIns="0" bIns="0" rtlCol="0" anchor="ctr"/>
          <a:lstStyle/>
          <a:p>
            <a:pPr algn="ctr" indent="0" marL="0">
              <a:buNone/>
            </a:pPr>
            <a:r>
              <a:rPr lang="en-US" sz="1300" dirty="0">
                <a:solidFill>
                  <a:srgbClr val="5B6478"/>
                </a:solidFill>
                <a:latin typeface="Courier New" pitchFamily="34" charset="0"/>
                <a:ea typeface="Courier New" pitchFamily="34" charset="-122"/>
                <a:cs typeface="Courier New" pitchFamily="34" charset="-120"/>
              </a:rPr>
              <a:t>[0]</a:t>
            </a:r>
            <a:endParaRPr lang="en-US" sz="1300" dirty="0"/>
          </a:p>
        </p:txBody>
      </p:sp>
      <p:sp>
        <p:nvSpPr>
          <p:cNvPr id="23" name="Shape 20"/>
          <p:cNvSpPr/>
          <p:nvPr/>
        </p:nvSpPr>
        <p:spPr>
          <a:xfrm>
            <a:off x="7498080" y="2057400"/>
            <a:ext cx="822960" cy="548640"/>
          </a:xfrm>
          <a:prstGeom prst="rect">
            <a:avLst/>
          </a:prstGeom>
          <a:solidFill>
            <a:srgbClr val="FFFFFF"/>
          </a:solidFill>
          <a:ln w="15875">
            <a:solidFill>
              <a:srgbClr val="14213D"/>
            </a:solidFill>
            <a:prstDash val="solid"/>
          </a:ln>
        </p:spPr>
      </p:sp>
      <p:sp>
        <p:nvSpPr>
          <p:cNvPr id="24" name="Text 21"/>
          <p:cNvSpPr txBox="1"/>
          <p:nvPr/>
        </p:nvSpPr>
        <p:spPr>
          <a:xfrm>
            <a:off x="7498080" y="2057400"/>
            <a:ext cx="822960" cy="54864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'e'</a:t>
            </a:r>
            <a:endParaRPr lang="en-US" sz="1600" dirty="0"/>
          </a:p>
        </p:txBody>
      </p:sp>
      <p:sp>
        <p:nvSpPr>
          <p:cNvPr id="25" name="Text 22"/>
          <p:cNvSpPr txBox="1"/>
          <p:nvPr/>
        </p:nvSpPr>
        <p:spPr>
          <a:xfrm>
            <a:off x="7498080" y="2633472"/>
            <a:ext cx="822960" cy="274320"/>
          </a:xfrm>
          <a:prstGeom prst="rect">
            <a:avLst/>
          </a:prstGeom>
          <a:noFill/>
          <a:ln/>
        </p:spPr>
        <p:txBody>
          <a:bodyPr wrap="square" lIns="0" tIns="0" rIns="0" bIns="0" rtlCol="0" anchor="ctr"/>
          <a:lstStyle/>
          <a:p>
            <a:pPr algn="ctr" indent="0" marL="0">
              <a:buNone/>
            </a:pPr>
            <a:r>
              <a:rPr lang="en-US" sz="1300" dirty="0">
                <a:solidFill>
                  <a:srgbClr val="5B6478"/>
                </a:solidFill>
                <a:latin typeface="Courier New" pitchFamily="34" charset="0"/>
                <a:ea typeface="Courier New" pitchFamily="34" charset="-122"/>
                <a:cs typeface="Courier New" pitchFamily="34" charset="-120"/>
              </a:rPr>
              <a:t>[1]</a:t>
            </a:r>
            <a:endParaRPr lang="en-US" sz="1300" dirty="0"/>
          </a:p>
        </p:txBody>
      </p:sp>
      <p:sp>
        <p:nvSpPr>
          <p:cNvPr id="26" name="Shape 23"/>
          <p:cNvSpPr/>
          <p:nvPr/>
        </p:nvSpPr>
        <p:spPr>
          <a:xfrm>
            <a:off x="8321040" y="2057400"/>
            <a:ext cx="822960" cy="548640"/>
          </a:xfrm>
          <a:prstGeom prst="rect">
            <a:avLst/>
          </a:prstGeom>
          <a:solidFill>
            <a:srgbClr val="FFFFFF"/>
          </a:solidFill>
          <a:ln w="15875">
            <a:solidFill>
              <a:srgbClr val="14213D"/>
            </a:solidFill>
            <a:prstDash val="solid"/>
          </a:ln>
        </p:spPr>
      </p:sp>
      <p:sp>
        <p:nvSpPr>
          <p:cNvPr id="27" name="Text 24"/>
          <p:cNvSpPr txBox="1"/>
          <p:nvPr/>
        </p:nvSpPr>
        <p:spPr>
          <a:xfrm>
            <a:off x="8321040" y="2057400"/>
            <a:ext cx="822960" cy="54864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'l'</a:t>
            </a:r>
            <a:endParaRPr lang="en-US" sz="1600" dirty="0"/>
          </a:p>
        </p:txBody>
      </p:sp>
      <p:sp>
        <p:nvSpPr>
          <p:cNvPr id="28" name="Text 25"/>
          <p:cNvSpPr txBox="1"/>
          <p:nvPr/>
        </p:nvSpPr>
        <p:spPr>
          <a:xfrm>
            <a:off x="8321040" y="2633472"/>
            <a:ext cx="822960" cy="274320"/>
          </a:xfrm>
          <a:prstGeom prst="rect">
            <a:avLst/>
          </a:prstGeom>
          <a:noFill/>
          <a:ln/>
        </p:spPr>
        <p:txBody>
          <a:bodyPr wrap="square" lIns="0" tIns="0" rIns="0" bIns="0" rtlCol="0" anchor="ctr"/>
          <a:lstStyle/>
          <a:p>
            <a:pPr algn="ctr" indent="0" marL="0">
              <a:buNone/>
            </a:pPr>
            <a:r>
              <a:rPr lang="en-US" sz="1300" dirty="0">
                <a:solidFill>
                  <a:srgbClr val="5B6478"/>
                </a:solidFill>
                <a:latin typeface="Courier New" pitchFamily="34" charset="0"/>
                <a:ea typeface="Courier New" pitchFamily="34" charset="-122"/>
                <a:cs typeface="Courier New" pitchFamily="34" charset="-120"/>
              </a:rPr>
              <a:t>[2]</a:t>
            </a:r>
            <a:endParaRPr lang="en-US" sz="1300" dirty="0"/>
          </a:p>
        </p:txBody>
      </p:sp>
      <p:sp>
        <p:nvSpPr>
          <p:cNvPr id="29" name="Shape 26"/>
          <p:cNvSpPr/>
          <p:nvPr/>
        </p:nvSpPr>
        <p:spPr>
          <a:xfrm>
            <a:off x="9144000" y="2057400"/>
            <a:ext cx="822960" cy="548640"/>
          </a:xfrm>
          <a:prstGeom prst="rect">
            <a:avLst/>
          </a:prstGeom>
          <a:solidFill>
            <a:srgbClr val="FFFFFF"/>
          </a:solidFill>
          <a:ln w="15875">
            <a:solidFill>
              <a:srgbClr val="14213D"/>
            </a:solidFill>
            <a:prstDash val="solid"/>
          </a:ln>
        </p:spPr>
      </p:sp>
      <p:sp>
        <p:nvSpPr>
          <p:cNvPr id="30" name="Text 27"/>
          <p:cNvSpPr txBox="1"/>
          <p:nvPr/>
        </p:nvSpPr>
        <p:spPr>
          <a:xfrm>
            <a:off x="9144000" y="2057400"/>
            <a:ext cx="822960" cy="54864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'l'</a:t>
            </a:r>
            <a:endParaRPr lang="en-US" sz="1600" dirty="0"/>
          </a:p>
        </p:txBody>
      </p:sp>
      <p:sp>
        <p:nvSpPr>
          <p:cNvPr id="31" name="Text 28"/>
          <p:cNvSpPr txBox="1"/>
          <p:nvPr/>
        </p:nvSpPr>
        <p:spPr>
          <a:xfrm>
            <a:off x="9144000" y="2633472"/>
            <a:ext cx="822960" cy="274320"/>
          </a:xfrm>
          <a:prstGeom prst="rect">
            <a:avLst/>
          </a:prstGeom>
          <a:noFill/>
          <a:ln/>
        </p:spPr>
        <p:txBody>
          <a:bodyPr wrap="square" lIns="0" tIns="0" rIns="0" bIns="0" rtlCol="0" anchor="ctr"/>
          <a:lstStyle/>
          <a:p>
            <a:pPr algn="ctr" indent="0" marL="0">
              <a:buNone/>
            </a:pPr>
            <a:r>
              <a:rPr lang="en-US" sz="1300" dirty="0">
                <a:solidFill>
                  <a:srgbClr val="5B6478"/>
                </a:solidFill>
                <a:latin typeface="Courier New" pitchFamily="34" charset="0"/>
                <a:ea typeface="Courier New" pitchFamily="34" charset="-122"/>
                <a:cs typeface="Courier New" pitchFamily="34" charset="-120"/>
              </a:rPr>
              <a:t>[3]</a:t>
            </a:r>
            <a:endParaRPr lang="en-US" sz="1300" dirty="0"/>
          </a:p>
        </p:txBody>
      </p:sp>
      <p:sp>
        <p:nvSpPr>
          <p:cNvPr id="32" name="Shape 29"/>
          <p:cNvSpPr/>
          <p:nvPr/>
        </p:nvSpPr>
        <p:spPr>
          <a:xfrm>
            <a:off x="9966960" y="2057400"/>
            <a:ext cx="822960" cy="548640"/>
          </a:xfrm>
          <a:prstGeom prst="rect">
            <a:avLst/>
          </a:prstGeom>
          <a:solidFill>
            <a:srgbClr val="FFFFFF"/>
          </a:solidFill>
          <a:ln w="15875">
            <a:solidFill>
              <a:srgbClr val="14213D"/>
            </a:solidFill>
            <a:prstDash val="solid"/>
          </a:ln>
        </p:spPr>
      </p:sp>
      <p:sp>
        <p:nvSpPr>
          <p:cNvPr id="33" name="Text 30"/>
          <p:cNvSpPr txBox="1"/>
          <p:nvPr/>
        </p:nvSpPr>
        <p:spPr>
          <a:xfrm>
            <a:off x="9966960" y="2057400"/>
            <a:ext cx="822960" cy="54864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'o'</a:t>
            </a:r>
            <a:endParaRPr lang="en-US" sz="1600" dirty="0"/>
          </a:p>
        </p:txBody>
      </p:sp>
      <p:sp>
        <p:nvSpPr>
          <p:cNvPr id="34" name="Text 31"/>
          <p:cNvSpPr txBox="1"/>
          <p:nvPr/>
        </p:nvSpPr>
        <p:spPr>
          <a:xfrm>
            <a:off x="9966960" y="2633472"/>
            <a:ext cx="822960" cy="274320"/>
          </a:xfrm>
          <a:prstGeom prst="rect">
            <a:avLst/>
          </a:prstGeom>
          <a:noFill/>
          <a:ln/>
        </p:spPr>
        <p:txBody>
          <a:bodyPr wrap="square" lIns="0" tIns="0" rIns="0" bIns="0" rtlCol="0" anchor="ctr"/>
          <a:lstStyle/>
          <a:p>
            <a:pPr algn="ctr" indent="0" marL="0">
              <a:buNone/>
            </a:pPr>
            <a:r>
              <a:rPr lang="en-US" sz="1300" dirty="0">
                <a:solidFill>
                  <a:srgbClr val="5B6478"/>
                </a:solidFill>
                <a:latin typeface="Courier New" pitchFamily="34" charset="0"/>
                <a:ea typeface="Courier New" pitchFamily="34" charset="-122"/>
                <a:cs typeface="Courier New" pitchFamily="34" charset="-120"/>
              </a:rPr>
              <a:t>[4]</a:t>
            </a:r>
            <a:endParaRPr lang="en-US" sz="13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6355080" y="3017520"/>
          <a:ext cx="5303520" cy="914400"/>
        </p:xfrm>
        <a:graphic>
          <a:graphicData uri="http://schemas.openxmlformats.org/drawingml/2006/table">
            <a:tbl>
              <a:tblPr/>
              <a:tblGrid>
                <a:gridCol w="2468880"/>
                <a:gridCol w="2834640"/>
              </a:tblGrid>
              <a:tr h="365760">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Expression</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Value</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365760">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text.Length</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5</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65760">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text[0]</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'H'  (a char)</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365760">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text[text.Length − 1]</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'o'</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65760">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text[5]</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IndexOutOfRangeException</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bl>
          </a:graphicData>
        </a:graphic>
      </p:graphicFrame>
      <p:sp>
        <p:nvSpPr>
          <p:cNvPr id="36" name="Shape 32"/>
          <p:cNvSpPr/>
          <p:nvPr/>
        </p:nvSpPr>
        <p:spPr>
          <a:xfrm>
            <a:off x="548640" y="4846320"/>
            <a:ext cx="5486400" cy="1234440"/>
          </a:xfrm>
          <a:prstGeom prst="roundRect">
            <a:avLst>
              <a:gd name="adj" fmla="val 7407"/>
            </a:avLst>
          </a:prstGeom>
          <a:solidFill>
            <a:srgbClr val="0F1729"/>
          </a:solidFill>
          <a:ln w="12700">
            <a:solidFill>
              <a:srgbClr val="0F1729"/>
            </a:solidFill>
            <a:prstDash val="solid"/>
          </a:ln>
        </p:spPr>
      </p:sp>
      <p:sp>
        <p:nvSpPr>
          <p:cNvPr id="37" name="Text 33"/>
          <p:cNvSpPr txBox="1"/>
          <p:nvPr/>
        </p:nvSpPr>
        <p:spPr>
          <a:xfrm>
            <a:off x="777240" y="4956048"/>
            <a:ext cx="502920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Strings are read-only</a:t>
            </a:r>
            <a:endParaRPr lang="en-US" sz="1100" dirty="0"/>
          </a:p>
        </p:txBody>
      </p:sp>
      <p:sp>
        <p:nvSpPr>
          <p:cNvPr id="38" name="Text 34"/>
          <p:cNvSpPr txBox="1"/>
          <p:nvPr/>
        </p:nvSpPr>
        <p:spPr>
          <a:xfrm>
            <a:off x="777240" y="5257800"/>
            <a:ext cx="5029200" cy="713232"/>
          </a:xfrm>
          <a:prstGeom prst="rect">
            <a:avLst/>
          </a:prstGeom>
          <a:noFill/>
          <a:ln/>
        </p:spPr>
        <p:txBody>
          <a:bodyPr wrap="square" lIns="0" tIns="0" rIns="0" bIns="0" rtlCol="0" anchor="t"/>
          <a:lstStyle/>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string</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s = </a:t>
            </a:r>
            <a:pPr indent="0" marL="0">
              <a:spcAft>
                <a:spcPts val="100"/>
              </a:spcAft>
              <a:buNone/>
            </a:pPr>
            <a:r>
              <a:rPr lang="en-US" sz="1300" dirty="0">
                <a:solidFill>
                  <a:srgbClr val="CE9178"/>
                </a:solidFill>
                <a:latin typeface="Courier New" pitchFamily="34" charset="0"/>
                <a:ea typeface="Courier New" pitchFamily="34" charset="-122"/>
                <a:cs typeface="Courier New" pitchFamily="34" charset="-120"/>
              </a:rPr>
              <a:t>"cat"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s[</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300" dirty="0">
                <a:solidFill>
                  <a:srgbClr val="CE9178"/>
                </a:solidFill>
                <a:latin typeface="Courier New" pitchFamily="34" charset="0"/>
                <a:ea typeface="Courier New" pitchFamily="34" charset="-122"/>
                <a:cs typeface="Courier New" pitchFamily="34" charset="-120"/>
              </a:rPr>
              <a:t>'b'</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7F8BA3"/>
                </a:solidFill>
                <a:latin typeface="Courier New" pitchFamily="34" charset="0"/>
                <a:ea typeface="Courier New" pitchFamily="34" charset="-122"/>
                <a:cs typeface="Courier New" pitchFamily="34" charset="-120"/>
              </a:rPr>
              <a:t>// compile error</a:t>
            </a:r>
            <a:endParaRPr lang="en-US" sz="1300" dirty="0"/>
          </a:p>
        </p:txBody>
      </p:sp>
      <p:sp>
        <p:nvSpPr>
          <p:cNvPr id="39" name="Shape 35"/>
          <p:cNvSpPr/>
          <p:nvPr/>
        </p:nvSpPr>
        <p:spPr>
          <a:xfrm>
            <a:off x="6355080" y="4983480"/>
            <a:ext cx="5303520" cy="1097280"/>
          </a:xfrm>
          <a:prstGeom prst="roundRect">
            <a:avLst>
              <a:gd name="adj" fmla="val 8333"/>
            </a:avLst>
          </a:prstGeom>
          <a:solidFill>
            <a:srgbClr val="0B0F19"/>
          </a:solidFill>
          <a:ln w="12700">
            <a:solidFill>
              <a:srgbClr val="2A3654"/>
            </a:solidFill>
            <a:prstDash val="solid"/>
          </a:ln>
        </p:spPr>
      </p:sp>
      <p:sp>
        <p:nvSpPr>
          <p:cNvPr id="40" name="Shape 36"/>
          <p:cNvSpPr/>
          <p:nvPr/>
        </p:nvSpPr>
        <p:spPr>
          <a:xfrm>
            <a:off x="6537960" y="5111496"/>
            <a:ext cx="118872" cy="118872"/>
          </a:xfrm>
          <a:prstGeom prst="ellipse">
            <a:avLst/>
          </a:prstGeom>
          <a:solidFill>
            <a:srgbClr val="FF5F57"/>
          </a:solidFill>
          <a:ln w="12700">
            <a:solidFill>
              <a:srgbClr val="FF5F57"/>
            </a:solidFill>
            <a:prstDash val="solid"/>
          </a:ln>
        </p:spPr>
      </p:sp>
      <p:sp>
        <p:nvSpPr>
          <p:cNvPr id="41" name="Shape 37"/>
          <p:cNvSpPr/>
          <p:nvPr/>
        </p:nvSpPr>
        <p:spPr>
          <a:xfrm>
            <a:off x="6766560" y="5111496"/>
            <a:ext cx="118872" cy="118872"/>
          </a:xfrm>
          <a:prstGeom prst="ellipse">
            <a:avLst/>
          </a:prstGeom>
          <a:solidFill>
            <a:srgbClr val="FEBC2E"/>
          </a:solidFill>
          <a:ln w="12700">
            <a:solidFill>
              <a:srgbClr val="FEBC2E"/>
            </a:solidFill>
            <a:prstDash val="solid"/>
          </a:ln>
        </p:spPr>
      </p:sp>
      <p:sp>
        <p:nvSpPr>
          <p:cNvPr id="42" name="Shape 38"/>
          <p:cNvSpPr/>
          <p:nvPr/>
        </p:nvSpPr>
        <p:spPr>
          <a:xfrm>
            <a:off x="6995160" y="5111496"/>
            <a:ext cx="118872" cy="118872"/>
          </a:xfrm>
          <a:prstGeom prst="ellipse">
            <a:avLst/>
          </a:prstGeom>
          <a:solidFill>
            <a:srgbClr val="28C840"/>
          </a:solidFill>
          <a:ln w="12700">
            <a:solidFill>
              <a:srgbClr val="28C840"/>
            </a:solidFill>
            <a:prstDash val="solid"/>
          </a:ln>
        </p:spPr>
      </p:sp>
      <p:sp>
        <p:nvSpPr>
          <p:cNvPr id="43" name="Text 39"/>
          <p:cNvSpPr txBox="1"/>
          <p:nvPr/>
        </p:nvSpPr>
        <p:spPr>
          <a:xfrm>
            <a:off x="7269480" y="5056632"/>
            <a:ext cx="420624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dotnet build</a:t>
            </a:r>
            <a:endParaRPr lang="en-US" sz="1000" dirty="0"/>
          </a:p>
        </p:txBody>
      </p:sp>
      <p:sp>
        <p:nvSpPr>
          <p:cNvPr id="44" name="Text 40"/>
          <p:cNvSpPr txBox="1"/>
          <p:nvPr/>
        </p:nvSpPr>
        <p:spPr>
          <a:xfrm>
            <a:off x="6583680" y="5367528"/>
            <a:ext cx="4846320" cy="594360"/>
          </a:xfrm>
          <a:prstGeom prst="rect">
            <a:avLst/>
          </a:prstGeom>
          <a:noFill/>
          <a:ln/>
        </p:spPr>
        <p:txBody>
          <a:bodyPr wrap="square" lIns="0" tIns="0" rIns="0" bIns="0" rtlCol="0" anchor="t"/>
          <a:lstStyle/>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error CS0200: Property or indexer</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'string.this[int]' cannot be assigned</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to -- it is read only</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WORKED EXAMPLE 5</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Vowel Counter: Indexing a String</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9</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26</a:t>
            </a:r>
            <a:endParaRPr lang="en-US" sz="1000" dirty="0"/>
          </a:p>
        </p:txBody>
      </p:sp>
      <p:sp>
        <p:nvSpPr>
          <p:cNvPr id="7" name="Shape 4"/>
          <p:cNvSpPr/>
          <p:nvPr/>
        </p:nvSpPr>
        <p:spPr>
          <a:xfrm>
            <a:off x="548640" y="1645920"/>
            <a:ext cx="5486400" cy="4434840"/>
          </a:xfrm>
          <a:prstGeom prst="roundRect">
            <a:avLst>
              <a:gd name="adj" fmla="val 2062"/>
            </a:avLst>
          </a:prstGeom>
          <a:solidFill>
            <a:srgbClr val="0F1729"/>
          </a:solidFill>
          <a:ln w="12700">
            <a:solidFill>
              <a:srgbClr val="0F1729"/>
            </a:solidFill>
            <a:prstDash val="solid"/>
          </a:ln>
        </p:spPr>
      </p:sp>
      <p:sp>
        <p:nvSpPr>
          <p:cNvPr id="8" name="Text 5"/>
          <p:cNvSpPr txBox="1"/>
          <p:nvPr/>
        </p:nvSpPr>
        <p:spPr>
          <a:xfrm>
            <a:off x="777240" y="1755648"/>
            <a:ext cx="502920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09_09_VowelCounter (lines 4–25)</a:t>
            </a:r>
            <a:endParaRPr lang="en-US" sz="1100" dirty="0"/>
          </a:p>
        </p:txBody>
      </p:sp>
      <p:sp>
        <p:nvSpPr>
          <p:cNvPr id="9" name="Text 6"/>
          <p:cNvSpPr txBox="1"/>
          <p:nvPr/>
        </p:nvSpPr>
        <p:spPr>
          <a:xfrm>
            <a:off x="777240" y="2057400"/>
            <a:ext cx="5029200" cy="3913632"/>
          </a:xfrm>
          <a:prstGeom prst="rect">
            <a:avLst/>
          </a:prstGeom>
          <a:noFill/>
          <a:ln/>
        </p:spPr>
        <p:txBody>
          <a:bodyPr wrap="square" lIns="0" tIns="0" rIns="0" bIns="0" rtlCol="0" anchor="t"/>
          <a:lstStyle/>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char</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vowels = { </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'a'</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'i'</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'o'</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'u'</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vowelCounts =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new</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[vowels.Length];</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"Text: "</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string</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text =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.ReadLine();</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letters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 &lt; text.Length; i++)</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char</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c =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char</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.ToLower(text[i]);</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char</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.IsLetter(c))</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letters++;</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v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v &lt; vowels.Length; v++)</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(c == vowels[v])</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vowelCounts[v]++;</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0" name="Shape 7"/>
          <p:cNvSpPr/>
          <p:nvPr/>
        </p:nvSpPr>
        <p:spPr>
          <a:xfrm>
            <a:off x="6217920" y="1645920"/>
            <a:ext cx="5440680" cy="1783080"/>
          </a:xfrm>
          <a:prstGeom prst="roundRect">
            <a:avLst>
              <a:gd name="adj" fmla="val 5128"/>
            </a:avLst>
          </a:prstGeom>
          <a:solidFill>
            <a:srgbClr val="0F1729"/>
          </a:solidFill>
          <a:ln w="12700">
            <a:solidFill>
              <a:srgbClr val="0F1729"/>
            </a:solidFill>
            <a:prstDash val="solid"/>
          </a:ln>
        </p:spPr>
      </p:sp>
      <p:sp>
        <p:nvSpPr>
          <p:cNvPr id="11" name="Text 8"/>
          <p:cNvSpPr txBox="1"/>
          <p:nvPr/>
        </p:nvSpPr>
        <p:spPr>
          <a:xfrm>
            <a:off x="6446520" y="1755648"/>
            <a:ext cx="498348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lines 27–33 (printing lines 34–41 not shown)</a:t>
            </a:r>
            <a:endParaRPr lang="en-US" sz="1100" dirty="0"/>
          </a:p>
        </p:txBody>
      </p:sp>
      <p:sp>
        <p:nvSpPr>
          <p:cNvPr id="12" name="Text 9"/>
          <p:cNvSpPr txBox="1"/>
          <p:nvPr/>
        </p:nvSpPr>
        <p:spPr>
          <a:xfrm>
            <a:off x="6446520" y="2057400"/>
            <a:ext cx="4983480" cy="1261872"/>
          </a:xfrm>
          <a:prstGeom prst="rect">
            <a:avLst/>
          </a:prstGeom>
          <a:noFill/>
          <a:ln/>
        </p:spPr>
        <p:txBody>
          <a:bodyPr wrap="square" lIns="0" tIns="0" rIns="0" bIns="0" rtlCol="0" anchor="t"/>
          <a:lstStyle/>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totalVowels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v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v &lt; vowels.Length; v++)</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$"{vowels[v]}:{vowelCounts[v]}  "</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totalVowels += vowelCounts[v];</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endParaRPr lang="en-US" sz="1200" dirty="0"/>
          </a:p>
        </p:txBody>
      </p:sp>
      <p:sp>
        <p:nvSpPr>
          <p:cNvPr id="13" name="Shape 10"/>
          <p:cNvSpPr/>
          <p:nvPr/>
        </p:nvSpPr>
        <p:spPr>
          <a:xfrm>
            <a:off x="6217920" y="3611880"/>
            <a:ext cx="5440680" cy="2468880"/>
          </a:xfrm>
          <a:prstGeom prst="roundRect">
            <a:avLst>
              <a:gd name="adj" fmla="val 3704"/>
            </a:avLst>
          </a:prstGeom>
          <a:solidFill>
            <a:srgbClr val="0B0F19"/>
          </a:solidFill>
          <a:ln w="12700">
            <a:solidFill>
              <a:srgbClr val="2A3654"/>
            </a:solidFill>
            <a:prstDash val="solid"/>
          </a:ln>
        </p:spPr>
      </p:sp>
      <p:sp>
        <p:nvSpPr>
          <p:cNvPr id="14" name="Shape 11"/>
          <p:cNvSpPr/>
          <p:nvPr/>
        </p:nvSpPr>
        <p:spPr>
          <a:xfrm>
            <a:off x="6400800" y="3739896"/>
            <a:ext cx="118872" cy="118872"/>
          </a:xfrm>
          <a:prstGeom prst="ellipse">
            <a:avLst/>
          </a:prstGeom>
          <a:solidFill>
            <a:srgbClr val="FF5F57"/>
          </a:solidFill>
          <a:ln w="12700">
            <a:solidFill>
              <a:srgbClr val="FF5F57"/>
            </a:solidFill>
            <a:prstDash val="solid"/>
          </a:ln>
        </p:spPr>
      </p:sp>
      <p:sp>
        <p:nvSpPr>
          <p:cNvPr id="15" name="Shape 12"/>
          <p:cNvSpPr/>
          <p:nvPr/>
        </p:nvSpPr>
        <p:spPr>
          <a:xfrm>
            <a:off x="6629400" y="3739896"/>
            <a:ext cx="118872" cy="118872"/>
          </a:xfrm>
          <a:prstGeom prst="ellipse">
            <a:avLst/>
          </a:prstGeom>
          <a:solidFill>
            <a:srgbClr val="FEBC2E"/>
          </a:solidFill>
          <a:ln w="12700">
            <a:solidFill>
              <a:srgbClr val="FEBC2E"/>
            </a:solidFill>
            <a:prstDash val="solid"/>
          </a:ln>
        </p:spPr>
      </p:sp>
      <p:sp>
        <p:nvSpPr>
          <p:cNvPr id="16" name="Shape 13"/>
          <p:cNvSpPr/>
          <p:nvPr/>
        </p:nvSpPr>
        <p:spPr>
          <a:xfrm>
            <a:off x="6858000" y="3739896"/>
            <a:ext cx="118872" cy="118872"/>
          </a:xfrm>
          <a:prstGeom prst="ellipse">
            <a:avLst/>
          </a:prstGeom>
          <a:solidFill>
            <a:srgbClr val="28C840"/>
          </a:solidFill>
          <a:ln w="12700">
            <a:solidFill>
              <a:srgbClr val="28C840"/>
            </a:solidFill>
            <a:prstDash val="solid"/>
          </a:ln>
        </p:spPr>
      </p:sp>
      <p:sp>
        <p:nvSpPr>
          <p:cNvPr id="17" name="Text 14"/>
          <p:cNvSpPr txBox="1"/>
          <p:nvPr/>
        </p:nvSpPr>
        <p:spPr>
          <a:xfrm>
            <a:off x="7132320" y="3685032"/>
            <a:ext cx="434340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18" name="Text 15"/>
          <p:cNvSpPr txBox="1"/>
          <p:nvPr/>
        </p:nvSpPr>
        <p:spPr>
          <a:xfrm>
            <a:off x="6446520" y="3995928"/>
            <a:ext cx="4983480" cy="1965960"/>
          </a:xfrm>
          <a:prstGeom prst="rect">
            <a:avLst/>
          </a:prstGeom>
          <a:noFill/>
          <a:ln/>
        </p:spPr>
        <p:txBody>
          <a:bodyPr wrap="square" lIns="0" tIns="0" rIns="0" bIns="0" rtlCol="0" anchor="t"/>
          <a:lstStyle/>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Text: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Programming is fun!</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a:1  e:0  i:2  o:1  u:1  </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Letters: 16, vowels: 5</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Consonants: 11</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First: 'P', last: '!'</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PATTERN: COUNTING ARRAY</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Dice Frequencies: counts[face − 1]++</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9</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27</a:t>
            </a:r>
            <a:endParaRPr lang="en-US" sz="1000" dirty="0"/>
          </a:p>
        </p:txBody>
      </p:sp>
      <p:sp>
        <p:nvSpPr>
          <p:cNvPr id="7" name="Shape 4"/>
          <p:cNvSpPr/>
          <p:nvPr/>
        </p:nvSpPr>
        <p:spPr>
          <a:xfrm>
            <a:off x="548640" y="1645920"/>
            <a:ext cx="6035040" cy="2743200"/>
          </a:xfrm>
          <a:prstGeom prst="roundRect">
            <a:avLst>
              <a:gd name="adj" fmla="val 3333"/>
            </a:avLst>
          </a:prstGeom>
          <a:solidFill>
            <a:srgbClr val="0F1729"/>
          </a:solidFill>
          <a:ln w="12700">
            <a:solidFill>
              <a:srgbClr val="0F1729"/>
            </a:solidFill>
            <a:prstDash val="solid"/>
          </a:ln>
        </p:spPr>
      </p:sp>
      <p:sp>
        <p:nvSpPr>
          <p:cNvPr id="8" name="Text 5"/>
          <p:cNvSpPr txBox="1"/>
          <p:nvPr/>
        </p:nvSpPr>
        <p:spPr>
          <a:xfrm>
            <a:off x="777240" y="1755648"/>
            <a:ext cx="557784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09_07_DiceHistogram (excerpt)</a:t>
            </a:r>
            <a:endParaRPr lang="en-US" sz="1100" dirty="0"/>
          </a:p>
        </p:txBody>
      </p:sp>
      <p:sp>
        <p:nvSpPr>
          <p:cNvPr id="9" name="Text 6"/>
          <p:cNvSpPr txBox="1"/>
          <p:nvPr/>
        </p:nvSpPr>
        <p:spPr>
          <a:xfrm>
            <a:off x="777240" y="2057400"/>
            <a:ext cx="5577840" cy="2221992"/>
          </a:xfrm>
          <a:prstGeom prst="rect">
            <a:avLst/>
          </a:prstGeom>
          <a:noFill/>
          <a:ln/>
        </p:spPr>
        <p:txBody>
          <a:bodyPr wrap="square" lIns="0" tIns="0" rIns="0" bIns="0" rtlCol="0" anchor="t"/>
          <a:lstStyle/>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Random</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rng =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new</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Random</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2026</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counts =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new</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6</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r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r &lt; rolls; r++)</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face = rng.Next(</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7</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counts[face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0" name="Text 7"/>
          <p:cNvSpPr txBox="1"/>
          <p:nvPr/>
        </p:nvSpPr>
        <p:spPr>
          <a:xfrm>
            <a:off x="548640" y="4480560"/>
            <a:ext cx="6035040" cy="274320"/>
          </a:xfrm>
          <a:prstGeom prst="rect">
            <a:avLst/>
          </a:prstGeom>
          <a:noFill/>
          <a:ln/>
        </p:spPr>
        <p:txBody>
          <a:bodyPr wrap="square" lIns="0" tIns="0" rIns="0" bIns="0" rtlCol="0" anchor="ctr"/>
          <a:lstStyle/>
          <a:p>
            <a:pPr indent="0" marL="0">
              <a:buNone/>
            </a:pPr>
            <a:r>
              <a:rPr lang="en-US" sz="1300" b="1" dirty="0">
                <a:solidFill>
                  <a:srgbClr val="5B6478"/>
                </a:solidFill>
                <a:latin typeface="Calibri" pitchFamily="34" charset="0"/>
                <a:ea typeface="Calibri" pitchFamily="34" charset="-122"/>
                <a:cs typeface="Calibri" pitchFamily="34" charset="-120"/>
              </a:rPr>
              <a:t>example rolls 3, 1, 3, 6: counts after two and after four rolls</a:t>
            </a:r>
            <a:endParaRPr lang="en-US" sz="1300" dirty="0"/>
          </a:p>
        </p:txBody>
      </p:sp>
      <p:sp>
        <p:nvSpPr>
          <p:cNvPr id="11" name="Shape 8"/>
          <p:cNvSpPr/>
          <p:nvPr/>
        </p:nvSpPr>
        <p:spPr>
          <a:xfrm>
            <a:off x="1417320" y="4846320"/>
            <a:ext cx="502920" cy="384048"/>
          </a:xfrm>
          <a:prstGeom prst="rect">
            <a:avLst/>
          </a:prstGeom>
          <a:solidFill>
            <a:srgbClr val="FFF1D6"/>
          </a:solidFill>
          <a:ln w="15875">
            <a:solidFill>
              <a:srgbClr val="14213D"/>
            </a:solidFill>
            <a:prstDash val="solid"/>
          </a:ln>
        </p:spPr>
      </p:sp>
      <p:sp>
        <p:nvSpPr>
          <p:cNvPr id="12" name="Text 9"/>
          <p:cNvSpPr txBox="1"/>
          <p:nvPr/>
        </p:nvSpPr>
        <p:spPr>
          <a:xfrm>
            <a:off x="1417320" y="4846320"/>
            <a:ext cx="502920" cy="384048"/>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1</a:t>
            </a:r>
            <a:endParaRPr lang="en-US" sz="1400" dirty="0"/>
          </a:p>
        </p:txBody>
      </p:sp>
      <p:sp>
        <p:nvSpPr>
          <p:cNvPr id="13" name="Text 10"/>
          <p:cNvSpPr txBox="1"/>
          <p:nvPr/>
        </p:nvSpPr>
        <p:spPr>
          <a:xfrm>
            <a:off x="1417320" y="5257800"/>
            <a:ext cx="502920" cy="274320"/>
          </a:xfrm>
          <a:prstGeom prst="rect">
            <a:avLst/>
          </a:prstGeom>
          <a:noFill/>
          <a:ln/>
        </p:spPr>
        <p:txBody>
          <a:bodyPr wrap="square" lIns="0" tIns="0" rIns="0" bIns="0" rtlCol="0" anchor="ctr"/>
          <a:lstStyle/>
          <a:p>
            <a:pPr algn="ctr" indent="0" marL="0">
              <a:buNone/>
            </a:pPr>
            <a:r>
              <a:rPr lang="en-US" sz="1100" dirty="0">
                <a:solidFill>
                  <a:srgbClr val="5B6478"/>
                </a:solidFill>
                <a:latin typeface="Courier New" pitchFamily="34" charset="0"/>
                <a:ea typeface="Courier New" pitchFamily="34" charset="-122"/>
                <a:cs typeface="Courier New" pitchFamily="34" charset="-120"/>
              </a:rPr>
              <a:t>[0]</a:t>
            </a:r>
            <a:endParaRPr lang="en-US" sz="1100" dirty="0"/>
          </a:p>
        </p:txBody>
      </p:sp>
      <p:sp>
        <p:nvSpPr>
          <p:cNvPr id="14" name="Shape 11"/>
          <p:cNvSpPr/>
          <p:nvPr/>
        </p:nvSpPr>
        <p:spPr>
          <a:xfrm>
            <a:off x="1920240" y="4846320"/>
            <a:ext cx="502920" cy="384048"/>
          </a:xfrm>
          <a:prstGeom prst="rect">
            <a:avLst/>
          </a:prstGeom>
          <a:solidFill>
            <a:srgbClr val="FFFFFF"/>
          </a:solidFill>
          <a:ln w="15875">
            <a:solidFill>
              <a:srgbClr val="14213D"/>
            </a:solidFill>
            <a:prstDash val="solid"/>
          </a:ln>
        </p:spPr>
      </p:sp>
      <p:sp>
        <p:nvSpPr>
          <p:cNvPr id="15" name="Text 12"/>
          <p:cNvSpPr txBox="1"/>
          <p:nvPr/>
        </p:nvSpPr>
        <p:spPr>
          <a:xfrm>
            <a:off x="1920240" y="4846320"/>
            <a:ext cx="502920" cy="384048"/>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0</a:t>
            </a:r>
            <a:endParaRPr lang="en-US" sz="1400" dirty="0"/>
          </a:p>
        </p:txBody>
      </p:sp>
      <p:sp>
        <p:nvSpPr>
          <p:cNvPr id="16" name="Text 13"/>
          <p:cNvSpPr txBox="1"/>
          <p:nvPr/>
        </p:nvSpPr>
        <p:spPr>
          <a:xfrm>
            <a:off x="1920240" y="5257800"/>
            <a:ext cx="502920" cy="274320"/>
          </a:xfrm>
          <a:prstGeom prst="rect">
            <a:avLst/>
          </a:prstGeom>
          <a:noFill/>
          <a:ln/>
        </p:spPr>
        <p:txBody>
          <a:bodyPr wrap="square" lIns="0" tIns="0" rIns="0" bIns="0" rtlCol="0" anchor="ctr"/>
          <a:lstStyle/>
          <a:p>
            <a:pPr algn="ctr" indent="0" marL="0">
              <a:buNone/>
            </a:pPr>
            <a:r>
              <a:rPr lang="en-US" sz="1100" dirty="0">
                <a:solidFill>
                  <a:srgbClr val="5B6478"/>
                </a:solidFill>
                <a:latin typeface="Courier New" pitchFamily="34" charset="0"/>
                <a:ea typeface="Courier New" pitchFamily="34" charset="-122"/>
                <a:cs typeface="Courier New" pitchFamily="34" charset="-120"/>
              </a:rPr>
              <a:t>[1]</a:t>
            </a:r>
            <a:endParaRPr lang="en-US" sz="1100" dirty="0"/>
          </a:p>
        </p:txBody>
      </p:sp>
      <p:sp>
        <p:nvSpPr>
          <p:cNvPr id="17" name="Shape 14"/>
          <p:cNvSpPr/>
          <p:nvPr/>
        </p:nvSpPr>
        <p:spPr>
          <a:xfrm>
            <a:off x="2423160" y="4846320"/>
            <a:ext cx="502920" cy="384048"/>
          </a:xfrm>
          <a:prstGeom prst="rect">
            <a:avLst/>
          </a:prstGeom>
          <a:solidFill>
            <a:srgbClr val="FFF1D6"/>
          </a:solidFill>
          <a:ln w="15875">
            <a:solidFill>
              <a:srgbClr val="14213D"/>
            </a:solidFill>
            <a:prstDash val="solid"/>
          </a:ln>
        </p:spPr>
      </p:sp>
      <p:sp>
        <p:nvSpPr>
          <p:cNvPr id="18" name="Text 15"/>
          <p:cNvSpPr txBox="1"/>
          <p:nvPr/>
        </p:nvSpPr>
        <p:spPr>
          <a:xfrm>
            <a:off x="2423160" y="4846320"/>
            <a:ext cx="502920" cy="384048"/>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1</a:t>
            </a:r>
            <a:endParaRPr lang="en-US" sz="1400" dirty="0"/>
          </a:p>
        </p:txBody>
      </p:sp>
      <p:sp>
        <p:nvSpPr>
          <p:cNvPr id="19" name="Text 16"/>
          <p:cNvSpPr txBox="1"/>
          <p:nvPr/>
        </p:nvSpPr>
        <p:spPr>
          <a:xfrm>
            <a:off x="2423160" y="5257800"/>
            <a:ext cx="502920" cy="274320"/>
          </a:xfrm>
          <a:prstGeom prst="rect">
            <a:avLst/>
          </a:prstGeom>
          <a:noFill/>
          <a:ln/>
        </p:spPr>
        <p:txBody>
          <a:bodyPr wrap="square" lIns="0" tIns="0" rIns="0" bIns="0" rtlCol="0" anchor="ctr"/>
          <a:lstStyle/>
          <a:p>
            <a:pPr algn="ctr" indent="0" marL="0">
              <a:buNone/>
            </a:pPr>
            <a:r>
              <a:rPr lang="en-US" sz="1100" dirty="0">
                <a:solidFill>
                  <a:srgbClr val="5B6478"/>
                </a:solidFill>
                <a:latin typeface="Courier New" pitchFamily="34" charset="0"/>
                <a:ea typeface="Courier New" pitchFamily="34" charset="-122"/>
                <a:cs typeface="Courier New" pitchFamily="34" charset="-120"/>
              </a:rPr>
              <a:t>[2]</a:t>
            </a:r>
            <a:endParaRPr lang="en-US" sz="1100" dirty="0"/>
          </a:p>
        </p:txBody>
      </p:sp>
      <p:sp>
        <p:nvSpPr>
          <p:cNvPr id="20" name="Shape 17"/>
          <p:cNvSpPr/>
          <p:nvPr/>
        </p:nvSpPr>
        <p:spPr>
          <a:xfrm>
            <a:off x="2926080" y="4846320"/>
            <a:ext cx="502920" cy="384048"/>
          </a:xfrm>
          <a:prstGeom prst="rect">
            <a:avLst/>
          </a:prstGeom>
          <a:solidFill>
            <a:srgbClr val="FFFFFF"/>
          </a:solidFill>
          <a:ln w="15875">
            <a:solidFill>
              <a:srgbClr val="14213D"/>
            </a:solidFill>
            <a:prstDash val="solid"/>
          </a:ln>
        </p:spPr>
      </p:sp>
      <p:sp>
        <p:nvSpPr>
          <p:cNvPr id="21" name="Text 18"/>
          <p:cNvSpPr txBox="1"/>
          <p:nvPr/>
        </p:nvSpPr>
        <p:spPr>
          <a:xfrm>
            <a:off x="2926080" y="4846320"/>
            <a:ext cx="502920" cy="384048"/>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0</a:t>
            </a:r>
            <a:endParaRPr lang="en-US" sz="1400" dirty="0"/>
          </a:p>
        </p:txBody>
      </p:sp>
      <p:sp>
        <p:nvSpPr>
          <p:cNvPr id="22" name="Text 19"/>
          <p:cNvSpPr txBox="1"/>
          <p:nvPr/>
        </p:nvSpPr>
        <p:spPr>
          <a:xfrm>
            <a:off x="2926080" y="5257800"/>
            <a:ext cx="502920" cy="274320"/>
          </a:xfrm>
          <a:prstGeom prst="rect">
            <a:avLst/>
          </a:prstGeom>
          <a:noFill/>
          <a:ln/>
        </p:spPr>
        <p:txBody>
          <a:bodyPr wrap="square" lIns="0" tIns="0" rIns="0" bIns="0" rtlCol="0" anchor="ctr"/>
          <a:lstStyle/>
          <a:p>
            <a:pPr algn="ctr" indent="0" marL="0">
              <a:buNone/>
            </a:pPr>
            <a:r>
              <a:rPr lang="en-US" sz="1100" dirty="0">
                <a:solidFill>
                  <a:srgbClr val="5B6478"/>
                </a:solidFill>
                <a:latin typeface="Courier New" pitchFamily="34" charset="0"/>
                <a:ea typeface="Courier New" pitchFamily="34" charset="-122"/>
                <a:cs typeface="Courier New" pitchFamily="34" charset="-120"/>
              </a:rPr>
              <a:t>[3]</a:t>
            </a:r>
            <a:endParaRPr lang="en-US" sz="1100" dirty="0"/>
          </a:p>
        </p:txBody>
      </p:sp>
      <p:sp>
        <p:nvSpPr>
          <p:cNvPr id="23" name="Shape 20"/>
          <p:cNvSpPr/>
          <p:nvPr/>
        </p:nvSpPr>
        <p:spPr>
          <a:xfrm>
            <a:off x="3429000" y="4846320"/>
            <a:ext cx="502920" cy="384048"/>
          </a:xfrm>
          <a:prstGeom prst="rect">
            <a:avLst/>
          </a:prstGeom>
          <a:solidFill>
            <a:srgbClr val="FFFFFF"/>
          </a:solidFill>
          <a:ln w="15875">
            <a:solidFill>
              <a:srgbClr val="14213D"/>
            </a:solidFill>
            <a:prstDash val="solid"/>
          </a:ln>
        </p:spPr>
      </p:sp>
      <p:sp>
        <p:nvSpPr>
          <p:cNvPr id="24" name="Text 21"/>
          <p:cNvSpPr txBox="1"/>
          <p:nvPr/>
        </p:nvSpPr>
        <p:spPr>
          <a:xfrm>
            <a:off x="3429000" y="4846320"/>
            <a:ext cx="502920" cy="384048"/>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0</a:t>
            </a:r>
            <a:endParaRPr lang="en-US" sz="1400" dirty="0"/>
          </a:p>
        </p:txBody>
      </p:sp>
      <p:sp>
        <p:nvSpPr>
          <p:cNvPr id="25" name="Text 22"/>
          <p:cNvSpPr txBox="1"/>
          <p:nvPr/>
        </p:nvSpPr>
        <p:spPr>
          <a:xfrm>
            <a:off x="3429000" y="5257800"/>
            <a:ext cx="502920" cy="274320"/>
          </a:xfrm>
          <a:prstGeom prst="rect">
            <a:avLst/>
          </a:prstGeom>
          <a:noFill/>
          <a:ln/>
        </p:spPr>
        <p:txBody>
          <a:bodyPr wrap="square" lIns="0" tIns="0" rIns="0" bIns="0" rtlCol="0" anchor="ctr"/>
          <a:lstStyle/>
          <a:p>
            <a:pPr algn="ctr" indent="0" marL="0">
              <a:buNone/>
            </a:pPr>
            <a:r>
              <a:rPr lang="en-US" sz="1100" dirty="0">
                <a:solidFill>
                  <a:srgbClr val="5B6478"/>
                </a:solidFill>
                <a:latin typeface="Courier New" pitchFamily="34" charset="0"/>
                <a:ea typeface="Courier New" pitchFamily="34" charset="-122"/>
                <a:cs typeface="Courier New" pitchFamily="34" charset="-120"/>
              </a:rPr>
              <a:t>[4]</a:t>
            </a:r>
            <a:endParaRPr lang="en-US" sz="1100" dirty="0"/>
          </a:p>
        </p:txBody>
      </p:sp>
      <p:sp>
        <p:nvSpPr>
          <p:cNvPr id="26" name="Shape 23"/>
          <p:cNvSpPr/>
          <p:nvPr/>
        </p:nvSpPr>
        <p:spPr>
          <a:xfrm>
            <a:off x="3931920" y="4846320"/>
            <a:ext cx="502920" cy="384048"/>
          </a:xfrm>
          <a:prstGeom prst="rect">
            <a:avLst/>
          </a:prstGeom>
          <a:solidFill>
            <a:srgbClr val="FFFFFF"/>
          </a:solidFill>
          <a:ln w="15875">
            <a:solidFill>
              <a:srgbClr val="14213D"/>
            </a:solidFill>
            <a:prstDash val="solid"/>
          </a:ln>
        </p:spPr>
      </p:sp>
      <p:sp>
        <p:nvSpPr>
          <p:cNvPr id="27" name="Text 24"/>
          <p:cNvSpPr txBox="1"/>
          <p:nvPr/>
        </p:nvSpPr>
        <p:spPr>
          <a:xfrm>
            <a:off x="3931920" y="4846320"/>
            <a:ext cx="502920" cy="384048"/>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0</a:t>
            </a:r>
            <a:endParaRPr lang="en-US" sz="1400" dirty="0"/>
          </a:p>
        </p:txBody>
      </p:sp>
      <p:sp>
        <p:nvSpPr>
          <p:cNvPr id="28" name="Text 25"/>
          <p:cNvSpPr txBox="1"/>
          <p:nvPr/>
        </p:nvSpPr>
        <p:spPr>
          <a:xfrm>
            <a:off x="3931920" y="5257800"/>
            <a:ext cx="502920" cy="274320"/>
          </a:xfrm>
          <a:prstGeom prst="rect">
            <a:avLst/>
          </a:prstGeom>
          <a:noFill/>
          <a:ln/>
        </p:spPr>
        <p:txBody>
          <a:bodyPr wrap="square" lIns="0" tIns="0" rIns="0" bIns="0" rtlCol="0" anchor="ctr"/>
          <a:lstStyle/>
          <a:p>
            <a:pPr algn="ctr" indent="0" marL="0">
              <a:buNone/>
            </a:pPr>
            <a:r>
              <a:rPr lang="en-US" sz="1100" dirty="0">
                <a:solidFill>
                  <a:srgbClr val="5B6478"/>
                </a:solidFill>
                <a:latin typeface="Courier New" pitchFamily="34" charset="0"/>
                <a:ea typeface="Courier New" pitchFamily="34" charset="-122"/>
                <a:cs typeface="Courier New" pitchFamily="34" charset="-120"/>
              </a:rPr>
              <a:t>[5]</a:t>
            </a:r>
            <a:endParaRPr lang="en-US" sz="1100" dirty="0"/>
          </a:p>
        </p:txBody>
      </p:sp>
      <p:sp>
        <p:nvSpPr>
          <p:cNvPr id="29" name="Text 26"/>
          <p:cNvSpPr txBox="1"/>
          <p:nvPr/>
        </p:nvSpPr>
        <p:spPr>
          <a:xfrm>
            <a:off x="530352" y="4846320"/>
            <a:ext cx="777240" cy="384048"/>
          </a:xfrm>
          <a:prstGeom prst="rect">
            <a:avLst/>
          </a:prstGeom>
          <a:noFill/>
          <a:ln/>
        </p:spPr>
        <p:txBody>
          <a:bodyPr wrap="square" lIns="0" tIns="0" rIns="0" bIns="0" rtlCol="0" anchor="ctr"/>
          <a:lstStyle/>
          <a:p>
            <a:pPr algn="r" indent="0" marL="0">
              <a:buNone/>
            </a:pPr>
            <a:r>
              <a:rPr lang="en-US" sz="1400" b="1" dirty="0">
                <a:solidFill>
                  <a:srgbClr val="14213D"/>
                </a:solidFill>
                <a:latin typeface="Courier New" pitchFamily="34" charset="0"/>
                <a:ea typeface="Courier New" pitchFamily="34" charset="-122"/>
                <a:cs typeface="Courier New" pitchFamily="34" charset="-120"/>
              </a:rPr>
              <a:t>counts</a:t>
            </a:r>
            <a:endParaRPr lang="en-US" sz="1400" dirty="0"/>
          </a:p>
        </p:txBody>
      </p:sp>
      <p:sp>
        <p:nvSpPr>
          <p:cNvPr id="30" name="Text 27"/>
          <p:cNvSpPr txBox="1"/>
          <p:nvPr/>
        </p:nvSpPr>
        <p:spPr>
          <a:xfrm>
            <a:off x="4572000" y="4846320"/>
            <a:ext cx="1920240" cy="384048"/>
          </a:xfrm>
          <a:prstGeom prst="rect">
            <a:avLst/>
          </a:prstGeom>
          <a:noFill/>
          <a:ln/>
        </p:spPr>
        <p:txBody>
          <a:bodyPr wrap="square" lIns="0" tIns="0" rIns="0" bIns="0" rtlCol="0" anchor="ctr"/>
          <a:lstStyle/>
          <a:p>
            <a:pPr indent="0" marL="0">
              <a:buNone/>
            </a:pPr>
            <a:r>
              <a:rPr lang="en-US" sz="1300" dirty="0">
                <a:solidFill>
                  <a:srgbClr val="5B6478"/>
                </a:solidFill>
                <a:latin typeface="Calibri" pitchFamily="34" charset="0"/>
                <a:ea typeface="Calibri" pitchFamily="34" charset="-122"/>
                <a:cs typeface="Calibri" pitchFamily="34" charset="-120"/>
              </a:rPr>
              <a:t>after 3, 1</a:t>
            </a:r>
            <a:endParaRPr lang="en-US" sz="1300" dirty="0"/>
          </a:p>
        </p:txBody>
      </p:sp>
      <p:sp>
        <p:nvSpPr>
          <p:cNvPr id="31" name="Shape 28"/>
          <p:cNvSpPr/>
          <p:nvPr/>
        </p:nvSpPr>
        <p:spPr>
          <a:xfrm>
            <a:off x="1417320" y="5532120"/>
            <a:ext cx="502920" cy="384048"/>
          </a:xfrm>
          <a:prstGeom prst="rect">
            <a:avLst/>
          </a:prstGeom>
          <a:solidFill>
            <a:srgbClr val="FFFFFF"/>
          </a:solidFill>
          <a:ln w="15875">
            <a:solidFill>
              <a:srgbClr val="14213D"/>
            </a:solidFill>
            <a:prstDash val="solid"/>
          </a:ln>
        </p:spPr>
      </p:sp>
      <p:sp>
        <p:nvSpPr>
          <p:cNvPr id="32" name="Text 29"/>
          <p:cNvSpPr txBox="1"/>
          <p:nvPr/>
        </p:nvSpPr>
        <p:spPr>
          <a:xfrm>
            <a:off x="1417320" y="5532120"/>
            <a:ext cx="502920" cy="384048"/>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1</a:t>
            </a:r>
            <a:endParaRPr lang="en-US" sz="1400" dirty="0"/>
          </a:p>
        </p:txBody>
      </p:sp>
      <p:sp>
        <p:nvSpPr>
          <p:cNvPr id="33" name="Shape 30"/>
          <p:cNvSpPr/>
          <p:nvPr/>
        </p:nvSpPr>
        <p:spPr>
          <a:xfrm>
            <a:off x="1920240" y="5532120"/>
            <a:ext cx="502920" cy="384048"/>
          </a:xfrm>
          <a:prstGeom prst="rect">
            <a:avLst/>
          </a:prstGeom>
          <a:solidFill>
            <a:srgbClr val="FFFFFF"/>
          </a:solidFill>
          <a:ln w="15875">
            <a:solidFill>
              <a:srgbClr val="14213D"/>
            </a:solidFill>
            <a:prstDash val="solid"/>
          </a:ln>
        </p:spPr>
      </p:sp>
      <p:sp>
        <p:nvSpPr>
          <p:cNvPr id="34" name="Text 31"/>
          <p:cNvSpPr txBox="1"/>
          <p:nvPr/>
        </p:nvSpPr>
        <p:spPr>
          <a:xfrm>
            <a:off x="1920240" y="5532120"/>
            <a:ext cx="502920" cy="384048"/>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0</a:t>
            </a:r>
            <a:endParaRPr lang="en-US" sz="1400" dirty="0"/>
          </a:p>
        </p:txBody>
      </p:sp>
      <p:sp>
        <p:nvSpPr>
          <p:cNvPr id="35" name="Shape 32"/>
          <p:cNvSpPr/>
          <p:nvPr/>
        </p:nvSpPr>
        <p:spPr>
          <a:xfrm>
            <a:off x="2423160" y="5532120"/>
            <a:ext cx="502920" cy="384048"/>
          </a:xfrm>
          <a:prstGeom prst="rect">
            <a:avLst/>
          </a:prstGeom>
          <a:solidFill>
            <a:srgbClr val="FFF1D6"/>
          </a:solidFill>
          <a:ln w="15875">
            <a:solidFill>
              <a:srgbClr val="14213D"/>
            </a:solidFill>
            <a:prstDash val="solid"/>
          </a:ln>
        </p:spPr>
      </p:sp>
      <p:sp>
        <p:nvSpPr>
          <p:cNvPr id="36" name="Text 33"/>
          <p:cNvSpPr txBox="1"/>
          <p:nvPr/>
        </p:nvSpPr>
        <p:spPr>
          <a:xfrm>
            <a:off x="2423160" y="5532120"/>
            <a:ext cx="502920" cy="384048"/>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2</a:t>
            </a:r>
            <a:endParaRPr lang="en-US" sz="1400" dirty="0"/>
          </a:p>
        </p:txBody>
      </p:sp>
      <p:sp>
        <p:nvSpPr>
          <p:cNvPr id="37" name="Shape 34"/>
          <p:cNvSpPr/>
          <p:nvPr/>
        </p:nvSpPr>
        <p:spPr>
          <a:xfrm>
            <a:off x="2926080" y="5532120"/>
            <a:ext cx="502920" cy="384048"/>
          </a:xfrm>
          <a:prstGeom prst="rect">
            <a:avLst/>
          </a:prstGeom>
          <a:solidFill>
            <a:srgbClr val="FFFFFF"/>
          </a:solidFill>
          <a:ln w="15875">
            <a:solidFill>
              <a:srgbClr val="14213D"/>
            </a:solidFill>
            <a:prstDash val="solid"/>
          </a:ln>
        </p:spPr>
      </p:sp>
      <p:sp>
        <p:nvSpPr>
          <p:cNvPr id="38" name="Text 35"/>
          <p:cNvSpPr txBox="1"/>
          <p:nvPr/>
        </p:nvSpPr>
        <p:spPr>
          <a:xfrm>
            <a:off x="2926080" y="5532120"/>
            <a:ext cx="502920" cy="384048"/>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0</a:t>
            </a:r>
            <a:endParaRPr lang="en-US" sz="1400" dirty="0"/>
          </a:p>
        </p:txBody>
      </p:sp>
      <p:sp>
        <p:nvSpPr>
          <p:cNvPr id="39" name="Shape 36"/>
          <p:cNvSpPr/>
          <p:nvPr/>
        </p:nvSpPr>
        <p:spPr>
          <a:xfrm>
            <a:off x="3429000" y="5532120"/>
            <a:ext cx="502920" cy="384048"/>
          </a:xfrm>
          <a:prstGeom prst="rect">
            <a:avLst/>
          </a:prstGeom>
          <a:solidFill>
            <a:srgbClr val="FFFFFF"/>
          </a:solidFill>
          <a:ln w="15875">
            <a:solidFill>
              <a:srgbClr val="14213D"/>
            </a:solidFill>
            <a:prstDash val="solid"/>
          </a:ln>
        </p:spPr>
      </p:sp>
      <p:sp>
        <p:nvSpPr>
          <p:cNvPr id="40" name="Text 37"/>
          <p:cNvSpPr txBox="1"/>
          <p:nvPr/>
        </p:nvSpPr>
        <p:spPr>
          <a:xfrm>
            <a:off x="3429000" y="5532120"/>
            <a:ext cx="502920" cy="384048"/>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0</a:t>
            </a:r>
            <a:endParaRPr lang="en-US" sz="1400" dirty="0"/>
          </a:p>
        </p:txBody>
      </p:sp>
      <p:sp>
        <p:nvSpPr>
          <p:cNvPr id="41" name="Shape 38"/>
          <p:cNvSpPr/>
          <p:nvPr/>
        </p:nvSpPr>
        <p:spPr>
          <a:xfrm>
            <a:off x="3931920" y="5532120"/>
            <a:ext cx="502920" cy="384048"/>
          </a:xfrm>
          <a:prstGeom prst="rect">
            <a:avLst/>
          </a:prstGeom>
          <a:solidFill>
            <a:srgbClr val="FFF1D6"/>
          </a:solidFill>
          <a:ln w="15875">
            <a:solidFill>
              <a:srgbClr val="14213D"/>
            </a:solidFill>
            <a:prstDash val="solid"/>
          </a:ln>
        </p:spPr>
      </p:sp>
      <p:sp>
        <p:nvSpPr>
          <p:cNvPr id="42" name="Text 39"/>
          <p:cNvSpPr txBox="1"/>
          <p:nvPr/>
        </p:nvSpPr>
        <p:spPr>
          <a:xfrm>
            <a:off x="3931920" y="5532120"/>
            <a:ext cx="502920" cy="384048"/>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1</a:t>
            </a:r>
            <a:endParaRPr lang="en-US" sz="1400" dirty="0"/>
          </a:p>
        </p:txBody>
      </p:sp>
      <p:sp>
        <p:nvSpPr>
          <p:cNvPr id="43" name="Text 40"/>
          <p:cNvSpPr txBox="1"/>
          <p:nvPr/>
        </p:nvSpPr>
        <p:spPr>
          <a:xfrm>
            <a:off x="4572000" y="5532120"/>
            <a:ext cx="1920240" cy="384048"/>
          </a:xfrm>
          <a:prstGeom prst="rect">
            <a:avLst/>
          </a:prstGeom>
          <a:noFill/>
          <a:ln/>
        </p:spPr>
        <p:txBody>
          <a:bodyPr wrap="square" lIns="0" tIns="0" rIns="0" bIns="0" rtlCol="0" anchor="ctr"/>
          <a:lstStyle/>
          <a:p>
            <a:pPr indent="0" marL="0">
              <a:buNone/>
            </a:pPr>
            <a:r>
              <a:rPr lang="en-US" sz="1300" dirty="0">
                <a:solidFill>
                  <a:srgbClr val="5B6478"/>
                </a:solidFill>
                <a:latin typeface="Calibri" pitchFamily="34" charset="0"/>
                <a:ea typeface="Calibri" pitchFamily="34" charset="-122"/>
                <a:cs typeface="Calibri" pitchFamily="34" charset="-120"/>
              </a:rPr>
              <a:t>after 3, 1, 3, 6</a:t>
            </a:r>
            <a:endParaRPr lang="en-US" sz="1300" dirty="0"/>
          </a:p>
        </p:txBody>
      </p:sp>
      <p:sp>
        <p:nvSpPr>
          <p:cNvPr id="44" name="Shape 41"/>
          <p:cNvSpPr/>
          <p:nvPr/>
        </p:nvSpPr>
        <p:spPr>
          <a:xfrm>
            <a:off x="6812280" y="1645920"/>
            <a:ext cx="4846320" cy="2148840"/>
          </a:xfrm>
          <a:prstGeom prst="roundRect">
            <a:avLst>
              <a:gd name="adj" fmla="val 4255"/>
            </a:avLst>
          </a:prstGeom>
          <a:solidFill>
            <a:srgbClr val="0B0F19"/>
          </a:solidFill>
          <a:ln w="12700">
            <a:solidFill>
              <a:srgbClr val="2A3654"/>
            </a:solidFill>
            <a:prstDash val="solid"/>
          </a:ln>
        </p:spPr>
      </p:sp>
      <p:sp>
        <p:nvSpPr>
          <p:cNvPr id="45" name="Shape 42"/>
          <p:cNvSpPr/>
          <p:nvPr/>
        </p:nvSpPr>
        <p:spPr>
          <a:xfrm>
            <a:off x="6995160" y="1773936"/>
            <a:ext cx="118872" cy="118872"/>
          </a:xfrm>
          <a:prstGeom prst="ellipse">
            <a:avLst/>
          </a:prstGeom>
          <a:solidFill>
            <a:srgbClr val="FF5F57"/>
          </a:solidFill>
          <a:ln w="12700">
            <a:solidFill>
              <a:srgbClr val="FF5F57"/>
            </a:solidFill>
            <a:prstDash val="solid"/>
          </a:ln>
        </p:spPr>
      </p:sp>
      <p:sp>
        <p:nvSpPr>
          <p:cNvPr id="46" name="Shape 43"/>
          <p:cNvSpPr/>
          <p:nvPr/>
        </p:nvSpPr>
        <p:spPr>
          <a:xfrm>
            <a:off x="7223760" y="1773936"/>
            <a:ext cx="118872" cy="118872"/>
          </a:xfrm>
          <a:prstGeom prst="ellipse">
            <a:avLst/>
          </a:prstGeom>
          <a:solidFill>
            <a:srgbClr val="FEBC2E"/>
          </a:solidFill>
          <a:ln w="12700">
            <a:solidFill>
              <a:srgbClr val="FEBC2E"/>
            </a:solidFill>
            <a:prstDash val="solid"/>
          </a:ln>
        </p:spPr>
      </p:sp>
      <p:sp>
        <p:nvSpPr>
          <p:cNvPr id="47" name="Shape 44"/>
          <p:cNvSpPr/>
          <p:nvPr/>
        </p:nvSpPr>
        <p:spPr>
          <a:xfrm>
            <a:off x="7452360" y="1773936"/>
            <a:ext cx="118872" cy="118872"/>
          </a:xfrm>
          <a:prstGeom prst="ellipse">
            <a:avLst/>
          </a:prstGeom>
          <a:solidFill>
            <a:srgbClr val="28C840"/>
          </a:solidFill>
          <a:ln w="12700">
            <a:solidFill>
              <a:srgbClr val="28C840"/>
            </a:solidFill>
            <a:prstDash val="solid"/>
          </a:ln>
        </p:spPr>
      </p:sp>
      <p:sp>
        <p:nvSpPr>
          <p:cNvPr id="48" name="Text 45"/>
          <p:cNvSpPr txBox="1"/>
          <p:nvPr/>
        </p:nvSpPr>
        <p:spPr>
          <a:xfrm>
            <a:off x="7726680" y="1719072"/>
            <a:ext cx="374904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60 rolls</a:t>
            </a:r>
            <a:endParaRPr lang="en-US" sz="1000" dirty="0"/>
          </a:p>
        </p:txBody>
      </p:sp>
      <p:sp>
        <p:nvSpPr>
          <p:cNvPr id="49" name="Text 46"/>
          <p:cNvSpPr txBox="1"/>
          <p:nvPr/>
        </p:nvSpPr>
        <p:spPr>
          <a:xfrm>
            <a:off x="7040880" y="2029968"/>
            <a:ext cx="4389120" cy="1645920"/>
          </a:xfrm>
          <a:prstGeom prst="rect">
            <a:avLst/>
          </a:prstGeom>
          <a:noFill/>
          <a:ln/>
        </p:spPr>
        <p:txBody>
          <a:bodyPr wrap="square" lIns="0" tIns="0" rIns="0" bIns="0" rtlCol="0" anchor="t"/>
          <a:lstStyle/>
          <a:p>
            <a:pPr indent="0" marL="0">
              <a:spcAft>
                <a:spcPts val="100"/>
              </a:spcAft>
              <a:buNone/>
            </a:pPr>
            <a:r>
              <a:rPr lang="en-US" sz="1100" dirty="0">
                <a:solidFill>
                  <a:srgbClr val="7EE2A8"/>
                </a:solidFill>
                <a:latin typeface="Courier New" pitchFamily="34" charset="0"/>
                <a:ea typeface="Courier New" pitchFamily="34" charset="-122"/>
                <a:cs typeface="Courier New" pitchFamily="34" charset="-120"/>
              </a:rPr>
              <a:t>How many rolls? </a:t>
            </a:r>
            <a:pPr indent="0" marL="0">
              <a:spcAft>
                <a:spcPts val="100"/>
              </a:spcAft>
              <a:buNone/>
            </a:pPr>
            <a:r>
              <a:rPr lang="en-US" sz="1100" b="1" dirty="0">
                <a:solidFill>
                  <a:srgbClr val="FCA311"/>
                </a:solidFill>
                <a:latin typeface="Courier New" pitchFamily="34" charset="0"/>
                <a:ea typeface="Courier New" pitchFamily="34" charset="-122"/>
                <a:cs typeface="Courier New" pitchFamily="34" charset="-120"/>
              </a:rPr>
              <a:t>60</a:t>
            </a:r>
            <a:endParaRPr lang="en-US" sz="1100" dirty="0"/>
          </a:p>
          <a:p>
            <a:pPr indent="0" marL="0">
              <a:spcAft>
                <a:spcPts val="100"/>
              </a:spcAft>
              <a:buNone/>
            </a:pPr>
            <a:r>
              <a:rPr lang="en-US" sz="1100" dirty="0">
                <a:solidFill>
                  <a:srgbClr val="7EE2A8"/>
                </a:solidFill>
                <a:latin typeface="Courier New" pitchFamily="34" charset="0"/>
                <a:ea typeface="Courier New" pitchFamily="34" charset="-122"/>
                <a:cs typeface="Courier New" pitchFamily="34" charset="-120"/>
              </a:rPr>
              <a:t>Face  Count  Share  Histogram</a:t>
            </a:r>
            <a:endParaRPr lang="en-US" sz="1100" dirty="0"/>
          </a:p>
          <a:p>
            <a:pPr indent="0" marL="0">
              <a:spcAft>
                <a:spcPts val="100"/>
              </a:spcAft>
              <a:buNone/>
            </a:pPr>
            <a:r>
              <a:rPr lang="en-US" sz="1100" dirty="0">
                <a:solidFill>
                  <a:srgbClr val="7EE2A8"/>
                </a:solidFill>
                <a:latin typeface="Courier New" pitchFamily="34" charset="0"/>
                <a:ea typeface="Courier New" pitchFamily="34" charset="-122"/>
                <a:cs typeface="Courier New" pitchFamily="34" charset="-120"/>
              </a:rPr>
              <a:t>   1     16   26.7%  ***************************</a:t>
            </a:r>
            <a:endParaRPr lang="en-US" sz="1100" dirty="0"/>
          </a:p>
          <a:p>
            <a:pPr indent="0" marL="0">
              <a:spcAft>
                <a:spcPts val="100"/>
              </a:spcAft>
              <a:buNone/>
            </a:pPr>
            <a:r>
              <a:rPr lang="en-US" sz="1100" dirty="0">
                <a:solidFill>
                  <a:srgbClr val="7EE2A8"/>
                </a:solidFill>
                <a:latin typeface="Courier New" pitchFamily="34" charset="0"/>
                <a:ea typeface="Courier New" pitchFamily="34" charset="-122"/>
                <a:cs typeface="Courier New" pitchFamily="34" charset="-120"/>
              </a:rPr>
              <a:t>   2     12   20.0%  ********************</a:t>
            </a:r>
            <a:endParaRPr lang="en-US" sz="1100" dirty="0"/>
          </a:p>
          <a:p>
            <a:pPr indent="0" marL="0">
              <a:spcAft>
                <a:spcPts val="100"/>
              </a:spcAft>
              <a:buNone/>
            </a:pPr>
            <a:r>
              <a:rPr lang="en-US" sz="1100" dirty="0">
                <a:solidFill>
                  <a:srgbClr val="7EE2A8"/>
                </a:solidFill>
                <a:latin typeface="Courier New" pitchFamily="34" charset="0"/>
                <a:ea typeface="Courier New" pitchFamily="34" charset="-122"/>
                <a:cs typeface="Courier New" pitchFamily="34" charset="-120"/>
              </a:rPr>
              <a:t>   3      3    5.0%  *****</a:t>
            </a:r>
            <a:endParaRPr lang="en-US" sz="1100" dirty="0"/>
          </a:p>
          <a:p>
            <a:pPr indent="0" marL="0">
              <a:spcAft>
                <a:spcPts val="100"/>
              </a:spcAft>
              <a:buNone/>
            </a:pPr>
            <a:r>
              <a:rPr lang="en-US" sz="1100" dirty="0">
                <a:solidFill>
                  <a:srgbClr val="7EE2A8"/>
                </a:solidFill>
                <a:latin typeface="Courier New" pitchFamily="34" charset="0"/>
                <a:ea typeface="Courier New" pitchFamily="34" charset="-122"/>
                <a:cs typeface="Courier New" pitchFamily="34" charset="-120"/>
              </a:rPr>
              <a:t>   4      9   15.0%  ***************</a:t>
            </a:r>
            <a:endParaRPr lang="en-US" sz="1100" dirty="0"/>
          </a:p>
          <a:p>
            <a:pPr indent="0" marL="0">
              <a:spcAft>
                <a:spcPts val="100"/>
              </a:spcAft>
              <a:buNone/>
            </a:pPr>
            <a:r>
              <a:rPr lang="en-US" sz="1100" dirty="0">
                <a:solidFill>
                  <a:srgbClr val="7EE2A8"/>
                </a:solidFill>
                <a:latin typeface="Courier New" pitchFamily="34" charset="0"/>
                <a:ea typeface="Courier New" pitchFamily="34" charset="-122"/>
                <a:cs typeface="Courier New" pitchFamily="34" charset="-120"/>
              </a:rPr>
              <a:t>   5      8   13.3%  *************</a:t>
            </a:r>
            <a:endParaRPr lang="en-US" sz="1100" dirty="0"/>
          </a:p>
          <a:p>
            <a:pPr indent="0" marL="0">
              <a:spcAft>
                <a:spcPts val="100"/>
              </a:spcAft>
              <a:buNone/>
            </a:pPr>
            <a:r>
              <a:rPr lang="en-US" sz="1100" dirty="0">
                <a:solidFill>
                  <a:srgbClr val="7EE2A8"/>
                </a:solidFill>
                <a:latin typeface="Courier New" pitchFamily="34" charset="0"/>
                <a:ea typeface="Courier New" pitchFamily="34" charset="-122"/>
                <a:cs typeface="Courier New" pitchFamily="34" charset="-120"/>
              </a:rPr>
              <a:t>   6     12   20.0%  ********************</a:t>
            </a:r>
            <a:endParaRPr lang="en-US" sz="1100" dirty="0"/>
          </a:p>
        </p:txBody>
      </p:sp>
      <p:sp>
        <p:nvSpPr>
          <p:cNvPr id="50" name="Shape 47"/>
          <p:cNvSpPr/>
          <p:nvPr/>
        </p:nvSpPr>
        <p:spPr>
          <a:xfrm>
            <a:off x="6812280" y="3931920"/>
            <a:ext cx="4846320" cy="2148840"/>
          </a:xfrm>
          <a:prstGeom prst="roundRect">
            <a:avLst>
              <a:gd name="adj" fmla="val 4255"/>
            </a:avLst>
          </a:prstGeom>
          <a:solidFill>
            <a:srgbClr val="0B0F19"/>
          </a:solidFill>
          <a:ln w="12700">
            <a:solidFill>
              <a:srgbClr val="2A3654"/>
            </a:solidFill>
            <a:prstDash val="solid"/>
          </a:ln>
        </p:spPr>
      </p:sp>
      <p:sp>
        <p:nvSpPr>
          <p:cNvPr id="51" name="Shape 48"/>
          <p:cNvSpPr/>
          <p:nvPr/>
        </p:nvSpPr>
        <p:spPr>
          <a:xfrm>
            <a:off x="6995160" y="4059936"/>
            <a:ext cx="118872" cy="118872"/>
          </a:xfrm>
          <a:prstGeom prst="ellipse">
            <a:avLst/>
          </a:prstGeom>
          <a:solidFill>
            <a:srgbClr val="FF5F57"/>
          </a:solidFill>
          <a:ln w="12700">
            <a:solidFill>
              <a:srgbClr val="FF5F57"/>
            </a:solidFill>
            <a:prstDash val="solid"/>
          </a:ln>
        </p:spPr>
      </p:sp>
      <p:sp>
        <p:nvSpPr>
          <p:cNvPr id="52" name="Shape 49"/>
          <p:cNvSpPr/>
          <p:nvPr/>
        </p:nvSpPr>
        <p:spPr>
          <a:xfrm>
            <a:off x="7223760" y="4059936"/>
            <a:ext cx="118872" cy="118872"/>
          </a:xfrm>
          <a:prstGeom prst="ellipse">
            <a:avLst/>
          </a:prstGeom>
          <a:solidFill>
            <a:srgbClr val="FEBC2E"/>
          </a:solidFill>
          <a:ln w="12700">
            <a:solidFill>
              <a:srgbClr val="FEBC2E"/>
            </a:solidFill>
            <a:prstDash val="solid"/>
          </a:ln>
        </p:spPr>
      </p:sp>
      <p:sp>
        <p:nvSpPr>
          <p:cNvPr id="53" name="Shape 50"/>
          <p:cNvSpPr/>
          <p:nvPr/>
        </p:nvSpPr>
        <p:spPr>
          <a:xfrm>
            <a:off x="7452360" y="4059936"/>
            <a:ext cx="118872" cy="118872"/>
          </a:xfrm>
          <a:prstGeom prst="ellipse">
            <a:avLst/>
          </a:prstGeom>
          <a:solidFill>
            <a:srgbClr val="28C840"/>
          </a:solidFill>
          <a:ln w="12700">
            <a:solidFill>
              <a:srgbClr val="28C840"/>
            </a:solidFill>
            <a:prstDash val="solid"/>
          </a:ln>
        </p:spPr>
      </p:sp>
      <p:sp>
        <p:nvSpPr>
          <p:cNvPr id="54" name="Text 51"/>
          <p:cNvSpPr txBox="1"/>
          <p:nvPr/>
        </p:nvSpPr>
        <p:spPr>
          <a:xfrm>
            <a:off x="7726680" y="4005072"/>
            <a:ext cx="374904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6000 rolls (header shortened: * = 1 %)</a:t>
            </a:r>
            <a:endParaRPr lang="en-US" sz="1000" dirty="0"/>
          </a:p>
        </p:txBody>
      </p:sp>
      <p:sp>
        <p:nvSpPr>
          <p:cNvPr id="55" name="Text 52"/>
          <p:cNvSpPr txBox="1"/>
          <p:nvPr/>
        </p:nvSpPr>
        <p:spPr>
          <a:xfrm>
            <a:off x="7040880" y="4315968"/>
            <a:ext cx="4389120" cy="1645920"/>
          </a:xfrm>
          <a:prstGeom prst="rect">
            <a:avLst/>
          </a:prstGeom>
          <a:noFill/>
          <a:ln/>
        </p:spPr>
        <p:txBody>
          <a:bodyPr wrap="square" lIns="0" tIns="0" rIns="0" bIns="0" rtlCol="0" anchor="t"/>
          <a:lstStyle/>
          <a:p>
            <a:pPr indent="0" marL="0">
              <a:spcAft>
                <a:spcPts val="100"/>
              </a:spcAft>
              <a:buNone/>
            </a:pPr>
            <a:r>
              <a:rPr lang="en-US" sz="1100" dirty="0">
                <a:solidFill>
                  <a:srgbClr val="7EE2A8"/>
                </a:solidFill>
                <a:latin typeface="Courier New" pitchFamily="34" charset="0"/>
                <a:ea typeface="Courier New" pitchFamily="34" charset="-122"/>
                <a:cs typeface="Courier New" pitchFamily="34" charset="-120"/>
              </a:rPr>
              <a:t>How many rolls? </a:t>
            </a:r>
            <a:pPr indent="0" marL="0">
              <a:spcAft>
                <a:spcPts val="100"/>
              </a:spcAft>
              <a:buNone/>
            </a:pPr>
            <a:r>
              <a:rPr lang="en-US" sz="1100" b="1" dirty="0">
                <a:solidFill>
                  <a:srgbClr val="FCA311"/>
                </a:solidFill>
                <a:latin typeface="Courier New" pitchFamily="34" charset="0"/>
                <a:ea typeface="Courier New" pitchFamily="34" charset="-122"/>
                <a:cs typeface="Courier New" pitchFamily="34" charset="-120"/>
              </a:rPr>
              <a:t>6000</a:t>
            </a:r>
            <a:endParaRPr lang="en-US" sz="1100" dirty="0"/>
          </a:p>
          <a:p>
            <a:pPr indent="0" marL="0">
              <a:spcAft>
                <a:spcPts val="100"/>
              </a:spcAft>
              <a:buNone/>
            </a:pPr>
            <a:r>
              <a:rPr lang="en-US" sz="1100" dirty="0">
                <a:solidFill>
                  <a:srgbClr val="7EE2A8"/>
                </a:solidFill>
                <a:latin typeface="Courier New" pitchFamily="34" charset="0"/>
                <a:ea typeface="Courier New" pitchFamily="34" charset="-122"/>
                <a:cs typeface="Courier New" pitchFamily="34" charset="-120"/>
              </a:rPr>
              <a:t>Face  Count  Share  Histogram</a:t>
            </a:r>
            <a:endParaRPr lang="en-US" sz="1100" dirty="0"/>
          </a:p>
          <a:p>
            <a:pPr indent="0" marL="0">
              <a:spcAft>
                <a:spcPts val="100"/>
              </a:spcAft>
              <a:buNone/>
            </a:pPr>
            <a:r>
              <a:rPr lang="en-US" sz="1100" dirty="0">
                <a:solidFill>
                  <a:srgbClr val="7EE2A8"/>
                </a:solidFill>
                <a:latin typeface="Courier New" pitchFamily="34" charset="0"/>
                <a:ea typeface="Courier New" pitchFamily="34" charset="-122"/>
                <a:cs typeface="Courier New" pitchFamily="34" charset="-120"/>
              </a:rPr>
              <a:t>   1   1037   17.3%  *****************</a:t>
            </a:r>
            <a:endParaRPr lang="en-US" sz="1100" dirty="0"/>
          </a:p>
          <a:p>
            <a:pPr indent="0" marL="0">
              <a:spcAft>
                <a:spcPts val="100"/>
              </a:spcAft>
              <a:buNone/>
            </a:pPr>
            <a:r>
              <a:rPr lang="en-US" sz="1100" dirty="0">
                <a:solidFill>
                  <a:srgbClr val="7EE2A8"/>
                </a:solidFill>
                <a:latin typeface="Courier New" pitchFamily="34" charset="0"/>
                <a:ea typeface="Courier New" pitchFamily="34" charset="-122"/>
                <a:cs typeface="Courier New" pitchFamily="34" charset="-120"/>
              </a:rPr>
              <a:t>   2    967   16.1%  ****************</a:t>
            </a:r>
            <a:endParaRPr lang="en-US" sz="1100" dirty="0"/>
          </a:p>
          <a:p>
            <a:pPr indent="0" marL="0">
              <a:spcAft>
                <a:spcPts val="100"/>
              </a:spcAft>
              <a:buNone/>
            </a:pPr>
            <a:r>
              <a:rPr lang="en-US" sz="1100" dirty="0">
                <a:solidFill>
                  <a:srgbClr val="7EE2A8"/>
                </a:solidFill>
                <a:latin typeface="Courier New" pitchFamily="34" charset="0"/>
                <a:ea typeface="Courier New" pitchFamily="34" charset="-122"/>
                <a:cs typeface="Courier New" pitchFamily="34" charset="-120"/>
              </a:rPr>
              <a:t>   3    981   16.4%  ****************</a:t>
            </a:r>
            <a:endParaRPr lang="en-US" sz="1100" dirty="0"/>
          </a:p>
          <a:p>
            <a:pPr indent="0" marL="0">
              <a:spcAft>
                <a:spcPts val="100"/>
              </a:spcAft>
              <a:buNone/>
            </a:pPr>
            <a:r>
              <a:rPr lang="en-US" sz="1100" dirty="0">
                <a:solidFill>
                  <a:srgbClr val="7EE2A8"/>
                </a:solidFill>
                <a:latin typeface="Courier New" pitchFamily="34" charset="0"/>
                <a:ea typeface="Courier New" pitchFamily="34" charset="-122"/>
                <a:cs typeface="Courier New" pitchFamily="34" charset="-120"/>
              </a:rPr>
              <a:t>   4   1036   17.3%  *****************</a:t>
            </a:r>
            <a:endParaRPr lang="en-US" sz="1100" dirty="0"/>
          </a:p>
          <a:p>
            <a:pPr indent="0" marL="0">
              <a:spcAft>
                <a:spcPts val="100"/>
              </a:spcAft>
              <a:buNone/>
            </a:pPr>
            <a:r>
              <a:rPr lang="en-US" sz="1100" dirty="0">
                <a:solidFill>
                  <a:srgbClr val="7EE2A8"/>
                </a:solidFill>
                <a:latin typeface="Courier New" pitchFamily="34" charset="0"/>
                <a:ea typeface="Courier New" pitchFamily="34" charset="-122"/>
                <a:cs typeface="Courier New" pitchFamily="34" charset="-120"/>
              </a:rPr>
              <a:t>   5    971   16.2%  ****************</a:t>
            </a:r>
            <a:endParaRPr lang="en-US" sz="1100" dirty="0"/>
          </a:p>
          <a:p>
            <a:pPr indent="0" marL="0">
              <a:spcAft>
                <a:spcPts val="100"/>
              </a:spcAft>
              <a:buNone/>
            </a:pPr>
            <a:r>
              <a:rPr lang="en-US" sz="1100" dirty="0">
                <a:solidFill>
                  <a:srgbClr val="7EE2A8"/>
                </a:solidFill>
                <a:latin typeface="Courier New" pitchFamily="34" charset="0"/>
                <a:ea typeface="Courier New" pitchFamily="34" charset="-122"/>
                <a:cs typeface="Courier New" pitchFamily="34" charset="-120"/>
              </a:rPr>
              <a:t>   6   1008   16.8%  *****************</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PATTERN: PARALLEL ARRAYS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Parallel Arrays: One Index, One Student</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9</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28</a:t>
            </a:r>
            <a:endParaRPr lang="en-US" sz="1000" dirty="0"/>
          </a:p>
        </p:txBody>
      </p:sp>
      <p:sp>
        <p:nvSpPr>
          <p:cNvPr id="7" name="Shape 4"/>
          <p:cNvSpPr/>
          <p:nvPr/>
        </p:nvSpPr>
        <p:spPr>
          <a:xfrm>
            <a:off x="1600200" y="1691640"/>
            <a:ext cx="914400" cy="457200"/>
          </a:xfrm>
          <a:prstGeom prst="rect">
            <a:avLst/>
          </a:prstGeom>
          <a:solidFill>
            <a:srgbClr val="FFFFFF"/>
          </a:solidFill>
          <a:ln w="15875">
            <a:solidFill>
              <a:srgbClr val="14213D"/>
            </a:solidFill>
            <a:prstDash val="solid"/>
          </a:ln>
        </p:spPr>
      </p:sp>
      <p:sp>
        <p:nvSpPr>
          <p:cNvPr id="8" name="Text 5"/>
          <p:cNvSpPr txBox="1"/>
          <p:nvPr/>
        </p:nvSpPr>
        <p:spPr>
          <a:xfrm>
            <a:off x="1600200" y="1691640"/>
            <a:ext cx="914400" cy="457200"/>
          </a:xfrm>
          <a:prstGeom prst="rect">
            <a:avLst/>
          </a:prstGeom>
          <a:noFill/>
          <a:ln/>
        </p:spPr>
        <p:txBody>
          <a:bodyPr wrap="square" lIns="0" tIns="0" rIns="0" bIns="0" rtlCol="0" anchor="ctr"/>
          <a:lstStyle/>
          <a:p>
            <a:pPr algn="ctr" indent="0" marL="0">
              <a:buNone/>
            </a:pPr>
            <a:r>
              <a:rPr lang="en-US" sz="1300" b="1" dirty="0">
                <a:solidFill>
                  <a:srgbClr val="14213D"/>
                </a:solidFill>
                <a:latin typeface="Calibri" pitchFamily="34" charset="0"/>
                <a:ea typeface="Calibri" pitchFamily="34" charset="-122"/>
                <a:cs typeface="Calibri" pitchFamily="34" charset="-120"/>
              </a:rPr>
              <a:t>Ayşe</a:t>
            </a:r>
            <a:endParaRPr lang="en-US" sz="1300" dirty="0"/>
          </a:p>
        </p:txBody>
      </p:sp>
      <p:sp>
        <p:nvSpPr>
          <p:cNvPr id="9" name="Shape 6"/>
          <p:cNvSpPr/>
          <p:nvPr/>
        </p:nvSpPr>
        <p:spPr>
          <a:xfrm>
            <a:off x="2514600" y="1691640"/>
            <a:ext cx="914400" cy="457200"/>
          </a:xfrm>
          <a:prstGeom prst="rect">
            <a:avLst/>
          </a:prstGeom>
          <a:solidFill>
            <a:srgbClr val="FFF1D6"/>
          </a:solidFill>
          <a:ln w="15875">
            <a:solidFill>
              <a:srgbClr val="14213D"/>
            </a:solidFill>
            <a:prstDash val="solid"/>
          </a:ln>
        </p:spPr>
      </p:sp>
      <p:sp>
        <p:nvSpPr>
          <p:cNvPr id="10" name="Text 7"/>
          <p:cNvSpPr txBox="1"/>
          <p:nvPr/>
        </p:nvSpPr>
        <p:spPr>
          <a:xfrm>
            <a:off x="2514600" y="1691640"/>
            <a:ext cx="914400" cy="457200"/>
          </a:xfrm>
          <a:prstGeom prst="rect">
            <a:avLst/>
          </a:prstGeom>
          <a:noFill/>
          <a:ln/>
        </p:spPr>
        <p:txBody>
          <a:bodyPr wrap="square" lIns="0" tIns="0" rIns="0" bIns="0" rtlCol="0" anchor="ctr"/>
          <a:lstStyle/>
          <a:p>
            <a:pPr algn="ctr" indent="0" marL="0">
              <a:buNone/>
            </a:pPr>
            <a:r>
              <a:rPr lang="en-US" sz="1300" b="1" dirty="0">
                <a:solidFill>
                  <a:srgbClr val="14213D"/>
                </a:solidFill>
                <a:latin typeface="Calibri" pitchFamily="34" charset="0"/>
                <a:ea typeface="Calibri" pitchFamily="34" charset="-122"/>
                <a:cs typeface="Calibri" pitchFamily="34" charset="-120"/>
              </a:rPr>
              <a:t>Mehmet</a:t>
            </a:r>
            <a:endParaRPr lang="en-US" sz="1300" dirty="0"/>
          </a:p>
        </p:txBody>
      </p:sp>
      <p:sp>
        <p:nvSpPr>
          <p:cNvPr id="11" name="Shape 8"/>
          <p:cNvSpPr/>
          <p:nvPr/>
        </p:nvSpPr>
        <p:spPr>
          <a:xfrm>
            <a:off x="3429000" y="1691640"/>
            <a:ext cx="914400" cy="457200"/>
          </a:xfrm>
          <a:prstGeom prst="rect">
            <a:avLst/>
          </a:prstGeom>
          <a:solidFill>
            <a:srgbClr val="FFFFFF"/>
          </a:solidFill>
          <a:ln w="15875">
            <a:solidFill>
              <a:srgbClr val="14213D"/>
            </a:solidFill>
            <a:prstDash val="solid"/>
          </a:ln>
        </p:spPr>
      </p:sp>
      <p:sp>
        <p:nvSpPr>
          <p:cNvPr id="12" name="Text 9"/>
          <p:cNvSpPr txBox="1"/>
          <p:nvPr/>
        </p:nvSpPr>
        <p:spPr>
          <a:xfrm>
            <a:off x="3429000" y="1691640"/>
            <a:ext cx="914400" cy="457200"/>
          </a:xfrm>
          <a:prstGeom prst="rect">
            <a:avLst/>
          </a:prstGeom>
          <a:noFill/>
          <a:ln/>
        </p:spPr>
        <p:txBody>
          <a:bodyPr wrap="square" lIns="0" tIns="0" rIns="0" bIns="0" rtlCol="0" anchor="ctr"/>
          <a:lstStyle/>
          <a:p>
            <a:pPr algn="ctr" indent="0" marL="0">
              <a:buNone/>
            </a:pPr>
            <a:r>
              <a:rPr lang="en-US" sz="1300" b="1" dirty="0">
                <a:solidFill>
                  <a:srgbClr val="14213D"/>
                </a:solidFill>
                <a:latin typeface="Calibri" pitchFamily="34" charset="0"/>
                <a:ea typeface="Calibri" pitchFamily="34" charset="-122"/>
                <a:cs typeface="Calibri" pitchFamily="34" charset="-120"/>
              </a:rPr>
              <a:t>Elif</a:t>
            </a:r>
            <a:endParaRPr lang="en-US" sz="1300" dirty="0"/>
          </a:p>
        </p:txBody>
      </p:sp>
      <p:sp>
        <p:nvSpPr>
          <p:cNvPr id="13" name="Shape 10"/>
          <p:cNvSpPr/>
          <p:nvPr/>
        </p:nvSpPr>
        <p:spPr>
          <a:xfrm>
            <a:off x="4343400" y="1691640"/>
            <a:ext cx="914400" cy="457200"/>
          </a:xfrm>
          <a:prstGeom prst="rect">
            <a:avLst/>
          </a:prstGeom>
          <a:solidFill>
            <a:srgbClr val="FFFFFF"/>
          </a:solidFill>
          <a:ln w="15875">
            <a:solidFill>
              <a:srgbClr val="14213D"/>
            </a:solidFill>
            <a:prstDash val="solid"/>
          </a:ln>
        </p:spPr>
      </p:sp>
      <p:sp>
        <p:nvSpPr>
          <p:cNvPr id="14" name="Text 11"/>
          <p:cNvSpPr txBox="1"/>
          <p:nvPr/>
        </p:nvSpPr>
        <p:spPr>
          <a:xfrm>
            <a:off x="4343400" y="1691640"/>
            <a:ext cx="914400" cy="457200"/>
          </a:xfrm>
          <a:prstGeom prst="rect">
            <a:avLst/>
          </a:prstGeom>
          <a:noFill/>
          <a:ln/>
        </p:spPr>
        <p:txBody>
          <a:bodyPr wrap="square" lIns="0" tIns="0" rIns="0" bIns="0" rtlCol="0" anchor="ctr"/>
          <a:lstStyle/>
          <a:p>
            <a:pPr algn="ctr" indent="0" marL="0">
              <a:buNone/>
            </a:pPr>
            <a:r>
              <a:rPr lang="en-US" sz="1300" b="1" dirty="0">
                <a:solidFill>
                  <a:srgbClr val="14213D"/>
                </a:solidFill>
                <a:latin typeface="Calibri" pitchFamily="34" charset="0"/>
                <a:ea typeface="Calibri" pitchFamily="34" charset="-122"/>
                <a:cs typeface="Calibri" pitchFamily="34" charset="-120"/>
              </a:rPr>
              <a:t>Can</a:t>
            </a:r>
            <a:endParaRPr lang="en-US" sz="1300" dirty="0"/>
          </a:p>
        </p:txBody>
      </p:sp>
      <p:sp>
        <p:nvSpPr>
          <p:cNvPr id="15" name="Shape 12"/>
          <p:cNvSpPr/>
          <p:nvPr/>
        </p:nvSpPr>
        <p:spPr>
          <a:xfrm>
            <a:off x="5257800" y="1691640"/>
            <a:ext cx="914400" cy="457200"/>
          </a:xfrm>
          <a:prstGeom prst="rect">
            <a:avLst/>
          </a:prstGeom>
          <a:solidFill>
            <a:srgbClr val="FFFFFF"/>
          </a:solidFill>
          <a:ln w="15875">
            <a:solidFill>
              <a:srgbClr val="14213D"/>
            </a:solidFill>
            <a:prstDash val="solid"/>
          </a:ln>
        </p:spPr>
      </p:sp>
      <p:sp>
        <p:nvSpPr>
          <p:cNvPr id="16" name="Text 13"/>
          <p:cNvSpPr txBox="1"/>
          <p:nvPr/>
        </p:nvSpPr>
        <p:spPr>
          <a:xfrm>
            <a:off x="5257800" y="1691640"/>
            <a:ext cx="914400" cy="457200"/>
          </a:xfrm>
          <a:prstGeom prst="rect">
            <a:avLst/>
          </a:prstGeom>
          <a:noFill/>
          <a:ln/>
        </p:spPr>
        <p:txBody>
          <a:bodyPr wrap="square" lIns="0" tIns="0" rIns="0" bIns="0" rtlCol="0" anchor="ctr"/>
          <a:lstStyle/>
          <a:p>
            <a:pPr algn="ctr" indent="0" marL="0">
              <a:buNone/>
            </a:pPr>
            <a:r>
              <a:rPr lang="en-US" sz="1300" b="1" dirty="0">
                <a:solidFill>
                  <a:srgbClr val="14213D"/>
                </a:solidFill>
                <a:latin typeface="Calibri" pitchFamily="34" charset="0"/>
                <a:ea typeface="Calibri" pitchFamily="34" charset="-122"/>
                <a:cs typeface="Calibri" pitchFamily="34" charset="-120"/>
              </a:rPr>
              <a:t>Zeynep</a:t>
            </a:r>
            <a:endParaRPr lang="en-US" sz="1300" dirty="0"/>
          </a:p>
        </p:txBody>
      </p:sp>
      <p:sp>
        <p:nvSpPr>
          <p:cNvPr id="17" name="Text 14"/>
          <p:cNvSpPr txBox="1"/>
          <p:nvPr/>
        </p:nvSpPr>
        <p:spPr>
          <a:xfrm>
            <a:off x="484632" y="1691640"/>
            <a:ext cx="1005840" cy="457200"/>
          </a:xfrm>
          <a:prstGeom prst="rect">
            <a:avLst/>
          </a:prstGeom>
          <a:noFill/>
          <a:ln/>
        </p:spPr>
        <p:txBody>
          <a:bodyPr wrap="square" lIns="0" tIns="0" rIns="0" bIns="0" rtlCol="0" anchor="ctr"/>
          <a:lstStyle/>
          <a:p>
            <a:pPr algn="r" indent="0" marL="0">
              <a:buNone/>
            </a:pPr>
            <a:r>
              <a:rPr lang="en-US" sz="1400" b="1" dirty="0">
                <a:solidFill>
                  <a:srgbClr val="14213D"/>
                </a:solidFill>
                <a:latin typeface="Courier New" pitchFamily="34" charset="0"/>
                <a:ea typeface="Courier New" pitchFamily="34" charset="-122"/>
                <a:cs typeface="Courier New" pitchFamily="34" charset="-120"/>
              </a:rPr>
              <a:t>names</a:t>
            </a:r>
            <a:endParaRPr lang="en-US" sz="1400" dirty="0"/>
          </a:p>
        </p:txBody>
      </p:sp>
      <p:sp>
        <p:nvSpPr>
          <p:cNvPr id="18" name="Shape 15"/>
          <p:cNvSpPr/>
          <p:nvPr/>
        </p:nvSpPr>
        <p:spPr>
          <a:xfrm>
            <a:off x="1600200" y="2258568"/>
            <a:ext cx="914400" cy="457200"/>
          </a:xfrm>
          <a:prstGeom prst="rect">
            <a:avLst/>
          </a:prstGeom>
          <a:solidFill>
            <a:srgbClr val="FFFFFF"/>
          </a:solidFill>
          <a:ln w="15875">
            <a:solidFill>
              <a:srgbClr val="14213D"/>
            </a:solidFill>
            <a:prstDash val="solid"/>
          </a:ln>
        </p:spPr>
      </p:sp>
      <p:sp>
        <p:nvSpPr>
          <p:cNvPr id="19" name="Text 16"/>
          <p:cNvSpPr txBox="1"/>
          <p:nvPr/>
        </p:nvSpPr>
        <p:spPr>
          <a:xfrm>
            <a:off x="1600200" y="2258568"/>
            <a:ext cx="914400" cy="457200"/>
          </a:xfrm>
          <a:prstGeom prst="rect">
            <a:avLst/>
          </a:prstGeom>
          <a:noFill/>
          <a:ln/>
        </p:spPr>
        <p:txBody>
          <a:bodyPr wrap="square" lIns="0" tIns="0" rIns="0" bIns="0" rtlCol="0" anchor="ctr"/>
          <a:lstStyle/>
          <a:p>
            <a:pPr algn="ctr" indent="0" marL="0">
              <a:buNone/>
            </a:pPr>
            <a:r>
              <a:rPr lang="en-US" sz="1300" b="1" dirty="0">
                <a:solidFill>
                  <a:srgbClr val="14213D"/>
                </a:solidFill>
                <a:latin typeface="Courier New" pitchFamily="34" charset="0"/>
                <a:ea typeface="Courier New" pitchFamily="34" charset="-122"/>
                <a:cs typeface="Courier New" pitchFamily="34" charset="-120"/>
              </a:rPr>
              <a:t>78</a:t>
            </a:r>
            <a:endParaRPr lang="en-US" sz="1300" dirty="0"/>
          </a:p>
        </p:txBody>
      </p:sp>
      <p:sp>
        <p:nvSpPr>
          <p:cNvPr id="20" name="Shape 17"/>
          <p:cNvSpPr/>
          <p:nvPr/>
        </p:nvSpPr>
        <p:spPr>
          <a:xfrm>
            <a:off x="2514600" y="2258568"/>
            <a:ext cx="914400" cy="457200"/>
          </a:xfrm>
          <a:prstGeom prst="rect">
            <a:avLst/>
          </a:prstGeom>
          <a:solidFill>
            <a:srgbClr val="FFF1D6"/>
          </a:solidFill>
          <a:ln w="15875">
            <a:solidFill>
              <a:srgbClr val="14213D"/>
            </a:solidFill>
            <a:prstDash val="solid"/>
          </a:ln>
        </p:spPr>
      </p:sp>
      <p:sp>
        <p:nvSpPr>
          <p:cNvPr id="21" name="Text 18"/>
          <p:cNvSpPr txBox="1"/>
          <p:nvPr/>
        </p:nvSpPr>
        <p:spPr>
          <a:xfrm>
            <a:off x="2514600" y="2258568"/>
            <a:ext cx="914400" cy="457200"/>
          </a:xfrm>
          <a:prstGeom prst="rect">
            <a:avLst/>
          </a:prstGeom>
          <a:noFill/>
          <a:ln/>
        </p:spPr>
        <p:txBody>
          <a:bodyPr wrap="square" lIns="0" tIns="0" rIns="0" bIns="0" rtlCol="0" anchor="ctr"/>
          <a:lstStyle/>
          <a:p>
            <a:pPr algn="ctr" indent="0" marL="0">
              <a:buNone/>
            </a:pPr>
            <a:r>
              <a:rPr lang="en-US" sz="1300" b="1" dirty="0">
                <a:solidFill>
                  <a:srgbClr val="14213D"/>
                </a:solidFill>
                <a:latin typeface="Courier New" pitchFamily="34" charset="0"/>
                <a:ea typeface="Courier New" pitchFamily="34" charset="-122"/>
                <a:cs typeface="Courier New" pitchFamily="34" charset="-120"/>
              </a:rPr>
              <a:t>45</a:t>
            </a:r>
            <a:endParaRPr lang="en-US" sz="1300" dirty="0"/>
          </a:p>
        </p:txBody>
      </p:sp>
      <p:sp>
        <p:nvSpPr>
          <p:cNvPr id="22" name="Shape 19"/>
          <p:cNvSpPr/>
          <p:nvPr/>
        </p:nvSpPr>
        <p:spPr>
          <a:xfrm>
            <a:off x="3429000" y="2258568"/>
            <a:ext cx="914400" cy="457200"/>
          </a:xfrm>
          <a:prstGeom prst="rect">
            <a:avLst/>
          </a:prstGeom>
          <a:solidFill>
            <a:srgbClr val="FFFFFF"/>
          </a:solidFill>
          <a:ln w="15875">
            <a:solidFill>
              <a:srgbClr val="14213D"/>
            </a:solidFill>
            <a:prstDash val="solid"/>
          </a:ln>
        </p:spPr>
      </p:sp>
      <p:sp>
        <p:nvSpPr>
          <p:cNvPr id="23" name="Text 20"/>
          <p:cNvSpPr txBox="1"/>
          <p:nvPr/>
        </p:nvSpPr>
        <p:spPr>
          <a:xfrm>
            <a:off x="3429000" y="2258568"/>
            <a:ext cx="914400" cy="457200"/>
          </a:xfrm>
          <a:prstGeom prst="rect">
            <a:avLst/>
          </a:prstGeom>
          <a:noFill/>
          <a:ln/>
        </p:spPr>
        <p:txBody>
          <a:bodyPr wrap="square" lIns="0" tIns="0" rIns="0" bIns="0" rtlCol="0" anchor="ctr"/>
          <a:lstStyle/>
          <a:p>
            <a:pPr algn="ctr" indent="0" marL="0">
              <a:buNone/>
            </a:pPr>
            <a:r>
              <a:rPr lang="en-US" sz="1300" b="1" dirty="0">
                <a:solidFill>
                  <a:srgbClr val="14213D"/>
                </a:solidFill>
                <a:latin typeface="Courier New" pitchFamily="34" charset="0"/>
                <a:ea typeface="Courier New" pitchFamily="34" charset="-122"/>
                <a:cs typeface="Courier New" pitchFamily="34" charset="-120"/>
              </a:rPr>
              <a:t>92</a:t>
            </a:r>
            <a:endParaRPr lang="en-US" sz="1300" dirty="0"/>
          </a:p>
        </p:txBody>
      </p:sp>
      <p:sp>
        <p:nvSpPr>
          <p:cNvPr id="24" name="Shape 21"/>
          <p:cNvSpPr/>
          <p:nvPr/>
        </p:nvSpPr>
        <p:spPr>
          <a:xfrm>
            <a:off x="4343400" y="2258568"/>
            <a:ext cx="914400" cy="457200"/>
          </a:xfrm>
          <a:prstGeom prst="rect">
            <a:avLst/>
          </a:prstGeom>
          <a:solidFill>
            <a:srgbClr val="FFFFFF"/>
          </a:solidFill>
          <a:ln w="15875">
            <a:solidFill>
              <a:srgbClr val="14213D"/>
            </a:solidFill>
            <a:prstDash val="solid"/>
          </a:ln>
        </p:spPr>
      </p:sp>
      <p:sp>
        <p:nvSpPr>
          <p:cNvPr id="25" name="Text 22"/>
          <p:cNvSpPr txBox="1"/>
          <p:nvPr/>
        </p:nvSpPr>
        <p:spPr>
          <a:xfrm>
            <a:off x="4343400" y="2258568"/>
            <a:ext cx="914400" cy="457200"/>
          </a:xfrm>
          <a:prstGeom prst="rect">
            <a:avLst/>
          </a:prstGeom>
          <a:noFill/>
          <a:ln/>
        </p:spPr>
        <p:txBody>
          <a:bodyPr wrap="square" lIns="0" tIns="0" rIns="0" bIns="0" rtlCol="0" anchor="ctr"/>
          <a:lstStyle/>
          <a:p>
            <a:pPr algn="ctr" indent="0" marL="0">
              <a:buNone/>
            </a:pPr>
            <a:r>
              <a:rPr lang="en-US" sz="1300" b="1" dirty="0">
                <a:solidFill>
                  <a:srgbClr val="14213D"/>
                </a:solidFill>
                <a:latin typeface="Courier New" pitchFamily="34" charset="0"/>
                <a:ea typeface="Courier New" pitchFamily="34" charset="-122"/>
                <a:cs typeface="Courier New" pitchFamily="34" charset="-120"/>
              </a:rPr>
              <a:t>60</a:t>
            </a:r>
            <a:endParaRPr lang="en-US" sz="1300" dirty="0"/>
          </a:p>
        </p:txBody>
      </p:sp>
      <p:sp>
        <p:nvSpPr>
          <p:cNvPr id="26" name="Shape 23"/>
          <p:cNvSpPr/>
          <p:nvPr/>
        </p:nvSpPr>
        <p:spPr>
          <a:xfrm>
            <a:off x="5257800" y="2258568"/>
            <a:ext cx="914400" cy="457200"/>
          </a:xfrm>
          <a:prstGeom prst="rect">
            <a:avLst/>
          </a:prstGeom>
          <a:solidFill>
            <a:srgbClr val="FFFFFF"/>
          </a:solidFill>
          <a:ln w="15875">
            <a:solidFill>
              <a:srgbClr val="14213D"/>
            </a:solidFill>
            <a:prstDash val="solid"/>
          </a:ln>
        </p:spPr>
      </p:sp>
      <p:sp>
        <p:nvSpPr>
          <p:cNvPr id="27" name="Text 24"/>
          <p:cNvSpPr txBox="1"/>
          <p:nvPr/>
        </p:nvSpPr>
        <p:spPr>
          <a:xfrm>
            <a:off x="5257800" y="2258568"/>
            <a:ext cx="914400" cy="457200"/>
          </a:xfrm>
          <a:prstGeom prst="rect">
            <a:avLst/>
          </a:prstGeom>
          <a:noFill/>
          <a:ln/>
        </p:spPr>
        <p:txBody>
          <a:bodyPr wrap="square" lIns="0" tIns="0" rIns="0" bIns="0" rtlCol="0" anchor="ctr"/>
          <a:lstStyle/>
          <a:p>
            <a:pPr algn="ctr" indent="0" marL="0">
              <a:buNone/>
            </a:pPr>
            <a:r>
              <a:rPr lang="en-US" sz="1300" b="1" dirty="0">
                <a:solidFill>
                  <a:srgbClr val="14213D"/>
                </a:solidFill>
                <a:latin typeface="Courier New" pitchFamily="34" charset="0"/>
                <a:ea typeface="Courier New" pitchFamily="34" charset="-122"/>
                <a:cs typeface="Courier New" pitchFamily="34" charset="-120"/>
              </a:rPr>
              <a:t>55</a:t>
            </a:r>
            <a:endParaRPr lang="en-US" sz="1300" dirty="0"/>
          </a:p>
        </p:txBody>
      </p:sp>
      <p:sp>
        <p:nvSpPr>
          <p:cNvPr id="28" name="Text 25"/>
          <p:cNvSpPr txBox="1"/>
          <p:nvPr/>
        </p:nvSpPr>
        <p:spPr>
          <a:xfrm>
            <a:off x="484632" y="2258568"/>
            <a:ext cx="1005840" cy="457200"/>
          </a:xfrm>
          <a:prstGeom prst="rect">
            <a:avLst/>
          </a:prstGeom>
          <a:noFill/>
          <a:ln/>
        </p:spPr>
        <p:txBody>
          <a:bodyPr wrap="square" lIns="0" tIns="0" rIns="0" bIns="0" rtlCol="0" anchor="ctr"/>
          <a:lstStyle/>
          <a:p>
            <a:pPr algn="r" indent="0" marL="0">
              <a:buNone/>
            </a:pPr>
            <a:r>
              <a:rPr lang="en-US" sz="1400" b="1" dirty="0">
                <a:solidFill>
                  <a:srgbClr val="14213D"/>
                </a:solidFill>
                <a:latin typeface="Courier New" pitchFamily="34" charset="0"/>
                <a:ea typeface="Courier New" pitchFamily="34" charset="-122"/>
                <a:cs typeface="Courier New" pitchFamily="34" charset="-120"/>
              </a:rPr>
              <a:t>midterms</a:t>
            </a:r>
            <a:endParaRPr lang="en-US" sz="1400" dirty="0"/>
          </a:p>
        </p:txBody>
      </p:sp>
      <p:sp>
        <p:nvSpPr>
          <p:cNvPr id="29" name="Shape 26"/>
          <p:cNvSpPr/>
          <p:nvPr/>
        </p:nvSpPr>
        <p:spPr>
          <a:xfrm>
            <a:off x="1600200" y="2825496"/>
            <a:ext cx="914400" cy="457200"/>
          </a:xfrm>
          <a:prstGeom prst="rect">
            <a:avLst/>
          </a:prstGeom>
          <a:solidFill>
            <a:srgbClr val="FFFFFF"/>
          </a:solidFill>
          <a:ln w="15875">
            <a:solidFill>
              <a:srgbClr val="14213D"/>
            </a:solidFill>
            <a:prstDash val="solid"/>
          </a:ln>
        </p:spPr>
      </p:sp>
      <p:sp>
        <p:nvSpPr>
          <p:cNvPr id="30" name="Text 27"/>
          <p:cNvSpPr txBox="1"/>
          <p:nvPr/>
        </p:nvSpPr>
        <p:spPr>
          <a:xfrm>
            <a:off x="1600200" y="2825496"/>
            <a:ext cx="914400" cy="457200"/>
          </a:xfrm>
          <a:prstGeom prst="rect">
            <a:avLst/>
          </a:prstGeom>
          <a:noFill/>
          <a:ln/>
        </p:spPr>
        <p:txBody>
          <a:bodyPr wrap="square" lIns="0" tIns="0" rIns="0" bIns="0" rtlCol="0" anchor="ctr"/>
          <a:lstStyle/>
          <a:p>
            <a:pPr algn="ctr" indent="0" marL="0">
              <a:buNone/>
            </a:pPr>
            <a:r>
              <a:rPr lang="en-US" sz="1300" b="1" dirty="0">
                <a:solidFill>
                  <a:srgbClr val="14213D"/>
                </a:solidFill>
                <a:latin typeface="Courier New" pitchFamily="34" charset="0"/>
                <a:ea typeface="Courier New" pitchFamily="34" charset="-122"/>
                <a:cs typeface="Courier New" pitchFamily="34" charset="-120"/>
              </a:rPr>
              <a:t>85</a:t>
            </a:r>
            <a:endParaRPr lang="en-US" sz="1300" dirty="0"/>
          </a:p>
        </p:txBody>
      </p:sp>
      <p:sp>
        <p:nvSpPr>
          <p:cNvPr id="31" name="Shape 28"/>
          <p:cNvSpPr/>
          <p:nvPr/>
        </p:nvSpPr>
        <p:spPr>
          <a:xfrm>
            <a:off x="2514600" y="2825496"/>
            <a:ext cx="914400" cy="457200"/>
          </a:xfrm>
          <a:prstGeom prst="rect">
            <a:avLst/>
          </a:prstGeom>
          <a:solidFill>
            <a:srgbClr val="FFF1D6"/>
          </a:solidFill>
          <a:ln w="15875">
            <a:solidFill>
              <a:srgbClr val="14213D"/>
            </a:solidFill>
            <a:prstDash val="solid"/>
          </a:ln>
        </p:spPr>
      </p:sp>
      <p:sp>
        <p:nvSpPr>
          <p:cNvPr id="32" name="Text 29"/>
          <p:cNvSpPr txBox="1"/>
          <p:nvPr/>
        </p:nvSpPr>
        <p:spPr>
          <a:xfrm>
            <a:off x="2514600" y="2825496"/>
            <a:ext cx="914400" cy="457200"/>
          </a:xfrm>
          <a:prstGeom prst="rect">
            <a:avLst/>
          </a:prstGeom>
          <a:noFill/>
          <a:ln/>
        </p:spPr>
        <p:txBody>
          <a:bodyPr wrap="square" lIns="0" tIns="0" rIns="0" bIns="0" rtlCol="0" anchor="ctr"/>
          <a:lstStyle/>
          <a:p>
            <a:pPr algn="ctr" indent="0" marL="0">
              <a:buNone/>
            </a:pPr>
            <a:r>
              <a:rPr lang="en-US" sz="1300" b="1" dirty="0">
                <a:solidFill>
                  <a:srgbClr val="14213D"/>
                </a:solidFill>
                <a:latin typeface="Courier New" pitchFamily="34" charset="0"/>
                <a:ea typeface="Courier New" pitchFamily="34" charset="-122"/>
                <a:cs typeface="Courier New" pitchFamily="34" charset="-120"/>
              </a:rPr>
              <a:t>40</a:t>
            </a:r>
            <a:endParaRPr lang="en-US" sz="1300" dirty="0"/>
          </a:p>
        </p:txBody>
      </p:sp>
      <p:sp>
        <p:nvSpPr>
          <p:cNvPr id="33" name="Shape 30"/>
          <p:cNvSpPr/>
          <p:nvPr/>
        </p:nvSpPr>
        <p:spPr>
          <a:xfrm>
            <a:off x="3429000" y="2825496"/>
            <a:ext cx="914400" cy="457200"/>
          </a:xfrm>
          <a:prstGeom prst="rect">
            <a:avLst/>
          </a:prstGeom>
          <a:solidFill>
            <a:srgbClr val="FFFFFF"/>
          </a:solidFill>
          <a:ln w="15875">
            <a:solidFill>
              <a:srgbClr val="14213D"/>
            </a:solidFill>
            <a:prstDash val="solid"/>
          </a:ln>
        </p:spPr>
      </p:sp>
      <p:sp>
        <p:nvSpPr>
          <p:cNvPr id="34" name="Text 31"/>
          <p:cNvSpPr txBox="1"/>
          <p:nvPr/>
        </p:nvSpPr>
        <p:spPr>
          <a:xfrm>
            <a:off x="3429000" y="2825496"/>
            <a:ext cx="914400" cy="457200"/>
          </a:xfrm>
          <a:prstGeom prst="rect">
            <a:avLst/>
          </a:prstGeom>
          <a:noFill/>
          <a:ln/>
        </p:spPr>
        <p:txBody>
          <a:bodyPr wrap="square" lIns="0" tIns="0" rIns="0" bIns="0" rtlCol="0" anchor="ctr"/>
          <a:lstStyle/>
          <a:p>
            <a:pPr algn="ctr" indent="0" marL="0">
              <a:buNone/>
            </a:pPr>
            <a:r>
              <a:rPr lang="en-US" sz="1300" b="1" dirty="0">
                <a:solidFill>
                  <a:srgbClr val="14213D"/>
                </a:solidFill>
                <a:latin typeface="Courier New" pitchFamily="34" charset="0"/>
                <a:ea typeface="Courier New" pitchFamily="34" charset="-122"/>
                <a:cs typeface="Courier New" pitchFamily="34" charset="-120"/>
              </a:rPr>
              <a:t>88</a:t>
            </a:r>
            <a:endParaRPr lang="en-US" sz="1300" dirty="0"/>
          </a:p>
        </p:txBody>
      </p:sp>
      <p:sp>
        <p:nvSpPr>
          <p:cNvPr id="35" name="Shape 32"/>
          <p:cNvSpPr/>
          <p:nvPr/>
        </p:nvSpPr>
        <p:spPr>
          <a:xfrm>
            <a:off x="4343400" y="2825496"/>
            <a:ext cx="914400" cy="457200"/>
          </a:xfrm>
          <a:prstGeom prst="rect">
            <a:avLst/>
          </a:prstGeom>
          <a:solidFill>
            <a:srgbClr val="FFFFFF"/>
          </a:solidFill>
          <a:ln w="15875">
            <a:solidFill>
              <a:srgbClr val="14213D"/>
            </a:solidFill>
            <a:prstDash val="solid"/>
          </a:ln>
        </p:spPr>
      </p:sp>
      <p:sp>
        <p:nvSpPr>
          <p:cNvPr id="36" name="Text 33"/>
          <p:cNvSpPr txBox="1"/>
          <p:nvPr/>
        </p:nvSpPr>
        <p:spPr>
          <a:xfrm>
            <a:off x="4343400" y="2825496"/>
            <a:ext cx="914400" cy="457200"/>
          </a:xfrm>
          <a:prstGeom prst="rect">
            <a:avLst/>
          </a:prstGeom>
          <a:noFill/>
          <a:ln/>
        </p:spPr>
        <p:txBody>
          <a:bodyPr wrap="square" lIns="0" tIns="0" rIns="0" bIns="0" rtlCol="0" anchor="ctr"/>
          <a:lstStyle/>
          <a:p>
            <a:pPr algn="ctr" indent="0" marL="0">
              <a:buNone/>
            </a:pPr>
            <a:r>
              <a:rPr lang="en-US" sz="1300" b="1" dirty="0">
                <a:solidFill>
                  <a:srgbClr val="14213D"/>
                </a:solidFill>
                <a:latin typeface="Courier New" pitchFamily="34" charset="0"/>
                <a:ea typeface="Courier New" pitchFamily="34" charset="-122"/>
                <a:cs typeface="Courier New" pitchFamily="34" charset="-120"/>
              </a:rPr>
              <a:t>70</a:t>
            </a:r>
            <a:endParaRPr lang="en-US" sz="1300" dirty="0"/>
          </a:p>
        </p:txBody>
      </p:sp>
      <p:sp>
        <p:nvSpPr>
          <p:cNvPr id="37" name="Shape 34"/>
          <p:cNvSpPr/>
          <p:nvPr/>
        </p:nvSpPr>
        <p:spPr>
          <a:xfrm>
            <a:off x="5257800" y="2825496"/>
            <a:ext cx="914400" cy="457200"/>
          </a:xfrm>
          <a:prstGeom prst="rect">
            <a:avLst/>
          </a:prstGeom>
          <a:solidFill>
            <a:srgbClr val="FFFFFF"/>
          </a:solidFill>
          <a:ln w="15875">
            <a:solidFill>
              <a:srgbClr val="14213D"/>
            </a:solidFill>
            <a:prstDash val="solid"/>
          </a:ln>
        </p:spPr>
      </p:sp>
      <p:sp>
        <p:nvSpPr>
          <p:cNvPr id="38" name="Text 35"/>
          <p:cNvSpPr txBox="1"/>
          <p:nvPr/>
        </p:nvSpPr>
        <p:spPr>
          <a:xfrm>
            <a:off x="5257800" y="2825496"/>
            <a:ext cx="914400" cy="457200"/>
          </a:xfrm>
          <a:prstGeom prst="rect">
            <a:avLst/>
          </a:prstGeom>
          <a:noFill/>
          <a:ln/>
        </p:spPr>
        <p:txBody>
          <a:bodyPr wrap="square" lIns="0" tIns="0" rIns="0" bIns="0" rtlCol="0" anchor="ctr"/>
          <a:lstStyle/>
          <a:p>
            <a:pPr algn="ctr" indent="0" marL="0">
              <a:buNone/>
            </a:pPr>
            <a:r>
              <a:rPr lang="en-US" sz="1300" b="1" dirty="0">
                <a:solidFill>
                  <a:srgbClr val="14213D"/>
                </a:solidFill>
                <a:latin typeface="Courier New" pitchFamily="34" charset="0"/>
                <a:ea typeface="Courier New" pitchFamily="34" charset="-122"/>
                <a:cs typeface="Courier New" pitchFamily="34" charset="-120"/>
              </a:rPr>
              <a:t>38</a:t>
            </a:r>
            <a:endParaRPr lang="en-US" sz="1300" dirty="0"/>
          </a:p>
        </p:txBody>
      </p:sp>
      <p:sp>
        <p:nvSpPr>
          <p:cNvPr id="39" name="Text 36"/>
          <p:cNvSpPr txBox="1"/>
          <p:nvPr/>
        </p:nvSpPr>
        <p:spPr>
          <a:xfrm>
            <a:off x="484632" y="2825496"/>
            <a:ext cx="1005840" cy="457200"/>
          </a:xfrm>
          <a:prstGeom prst="rect">
            <a:avLst/>
          </a:prstGeom>
          <a:noFill/>
          <a:ln/>
        </p:spPr>
        <p:txBody>
          <a:bodyPr wrap="square" lIns="0" tIns="0" rIns="0" bIns="0" rtlCol="0" anchor="ctr"/>
          <a:lstStyle/>
          <a:p>
            <a:pPr algn="r" indent="0" marL="0">
              <a:buNone/>
            </a:pPr>
            <a:r>
              <a:rPr lang="en-US" sz="1400" b="1" dirty="0">
                <a:solidFill>
                  <a:srgbClr val="14213D"/>
                </a:solidFill>
                <a:latin typeface="Courier New" pitchFamily="34" charset="0"/>
                <a:ea typeface="Courier New" pitchFamily="34" charset="-122"/>
                <a:cs typeface="Courier New" pitchFamily="34" charset="-120"/>
              </a:rPr>
              <a:t>finals</a:t>
            </a:r>
            <a:endParaRPr lang="en-US" sz="1400" dirty="0"/>
          </a:p>
        </p:txBody>
      </p:sp>
      <p:sp>
        <p:nvSpPr>
          <p:cNvPr id="40" name="Shape 37"/>
          <p:cNvSpPr/>
          <p:nvPr/>
        </p:nvSpPr>
        <p:spPr>
          <a:xfrm>
            <a:off x="1600200" y="3392424"/>
            <a:ext cx="914400" cy="457200"/>
          </a:xfrm>
          <a:prstGeom prst="rect">
            <a:avLst/>
          </a:prstGeom>
          <a:solidFill>
            <a:srgbClr val="FFFFFF"/>
          </a:solidFill>
          <a:ln w="15875">
            <a:solidFill>
              <a:srgbClr val="14213D"/>
            </a:solidFill>
            <a:prstDash val="solid"/>
          </a:ln>
        </p:spPr>
      </p:sp>
      <p:sp>
        <p:nvSpPr>
          <p:cNvPr id="41" name="Text 38"/>
          <p:cNvSpPr txBox="1"/>
          <p:nvPr/>
        </p:nvSpPr>
        <p:spPr>
          <a:xfrm>
            <a:off x="1600200" y="3392424"/>
            <a:ext cx="914400" cy="457200"/>
          </a:xfrm>
          <a:prstGeom prst="rect">
            <a:avLst/>
          </a:prstGeom>
          <a:noFill/>
          <a:ln/>
        </p:spPr>
        <p:txBody>
          <a:bodyPr wrap="square" lIns="0" tIns="0" rIns="0" bIns="0" rtlCol="0" anchor="ctr"/>
          <a:lstStyle/>
          <a:p>
            <a:pPr algn="ctr" indent="0" marL="0">
              <a:buNone/>
            </a:pPr>
            <a:r>
              <a:rPr lang="en-US" sz="1300" b="1" dirty="0">
                <a:solidFill>
                  <a:srgbClr val="14213D"/>
                </a:solidFill>
                <a:latin typeface="Courier New" pitchFamily="34" charset="0"/>
                <a:ea typeface="Courier New" pitchFamily="34" charset="-122"/>
                <a:cs typeface="Courier New" pitchFamily="34" charset="-120"/>
              </a:rPr>
              <a:t>82.2</a:t>
            </a:r>
            <a:endParaRPr lang="en-US" sz="1300" dirty="0"/>
          </a:p>
        </p:txBody>
      </p:sp>
      <p:sp>
        <p:nvSpPr>
          <p:cNvPr id="42" name="Text 39"/>
          <p:cNvSpPr txBox="1"/>
          <p:nvPr/>
        </p:nvSpPr>
        <p:spPr>
          <a:xfrm>
            <a:off x="1600200" y="3877056"/>
            <a:ext cx="914400" cy="274320"/>
          </a:xfrm>
          <a:prstGeom prst="rect">
            <a:avLst/>
          </a:prstGeom>
          <a:noFill/>
          <a:ln/>
        </p:spPr>
        <p:txBody>
          <a:bodyPr wrap="square" lIns="0" tIns="0" rIns="0" bIns="0" rtlCol="0" anchor="ctr"/>
          <a:lstStyle/>
          <a:p>
            <a:pPr algn="ctr" indent="0" marL="0">
              <a:buNone/>
            </a:pPr>
            <a:r>
              <a:rPr lang="en-US" sz="1300" dirty="0">
                <a:solidFill>
                  <a:srgbClr val="5B6478"/>
                </a:solidFill>
                <a:latin typeface="Courier New" pitchFamily="34" charset="0"/>
                <a:ea typeface="Courier New" pitchFamily="34" charset="-122"/>
                <a:cs typeface="Courier New" pitchFamily="34" charset="-120"/>
              </a:rPr>
              <a:t>[0]</a:t>
            </a:r>
            <a:endParaRPr lang="en-US" sz="1300" dirty="0"/>
          </a:p>
        </p:txBody>
      </p:sp>
      <p:sp>
        <p:nvSpPr>
          <p:cNvPr id="43" name="Shape 40"/>
          <p:cNvSpPr/>
          <p:nvPr/>
        </p:nvSpPr>
        <p:spPr>
          <a:xfrm>
            <a:off x="2514600" y="3392424"/>
            <a:ext cx="914400" cy="457200"/>
          </a:xfrm>
          <a:prstGeom prst="rect">
            <a:avLst/>
          </a:prstGeom>
          <a:solidFill>
            <a:srgbClr val="FFF1D6"/>
          </a:solidFill>
          <a:ln w="15875">
            <a:solidFill>
              <a:srgbClr val="14213D"/>
            </a:solidFill>
            <a:prstDash val="solid"/>
          </a:ln>
        </p:spPr>
      </p:sp>
      <p:sp>
        <p:nvSpPr>
          <p:cNvPr id="44" name="Text 41"/>
          <p:cNvSpPr txBox="1"/>
          <p:nvPr/>
        </p:nvSpPr>
        <p:spPr>
          <a:xfrm>
            <a:off x="2514600" y="3392424"/>
            <a:ext cx="914400" cy="457200"/>
          </a:xfrm>
          <a:prstGeom prst="rect">
            <a:avLst/>
          </a:prstGeom>
          <a:noFill/>
          <a:ln/>
        </p:spPr>
        <p:txBody>
          <a:bodyPr wrap="square" lIns="0" tIns="0" rIns="0" bIns="0" rtlCol="0" anchor="ctr"/>
          <a:lstStyle/>
          <a:p>
            <a:pPr algn="ctr" indent="0" marL="0">
              <a:buNone/>
            </a:pPr>
            <a:r>
              <a:rPr lang="en-US" sz="1300" b="1" dirty="0">
                <a:solidFill>
                  <a:srgbClr val="14213D"/>
                </a:solidFill>
                <a:latin typeface="Courier New" pitchFamily="34" charset="0"/>
                <a:ea typeface="Courier New" pitchFamily="34" charset="-122"/>
                <a:cs typeface="Courier New" pitchFamily="34" charset="-120"/>
              </a:rPr>
              <a:t>42.0</a:t>
            </a:r>
            <a:endParaRPr lang="en-US" sz="1300" dirty="0"/>
          </a:p>
        </p:txBody>
      </p:sp>
      <p:sp>
        <p:nvSpPr>
          <p:cNvPr id="45" name="Text 42"/>
          <p:cNvSpPr txBox="1"/>
          <p:nvPr/>
        </p:nvSpPr>
        <p:spPr>
          <a:xfrm>
            <a:off x="2514600" y="3877056"/>
            <a:ext cx="914400" cy="274320"/>
          </a:xfrm>
          <a:prstGeom prst="rect">
            <a:avLst/>
          </a:prstGeom>
          <a:noFill/>
          <a:ln/>
        </p:spPr>
        <p:txBody>
          <a:bodyPr wrap="square" lIns="0" tIns="0" rIns="0" bIns="0" rtlCol="0" anchor="ctr"/>
          <a:lstStyle/>
          <a:p>
            <a:pPr algn="ctr" indent="0" marL="0">
              <a:buNone/>
            </a:pPr>
            <a:r>
              <a:rPr lang="en-US" sz="1300" dirty="0">
                <a:solidFill>
                  <a:srgbClr val="5B6478"/>
                </a:solidFill>
                <a:latin typeface="Courier New" pitchFamily="34" charset="0"/>
                <a:ea typeface="Courier New" pitchFamily="34" charset="-122"/>
                <a:cs typeface="Courier New" pitchFamily="34" charset="-120"/>
              </a:rPr>
              <a:t>[1]</a:t>
            </a:r>
            <a:endParaRPr lang="en-US" sz="1300" dirty="0"/>
          </a:p>
        </p:txBody>
      </p:sp>
      <p:sp>
        <p:nvSpPr>
          <p:cNvPr id="46" name="Shape 43"/>
          <p:cNvSpPr/>
          <p:nvPr/>
        </p:nvSpPr>
        <p:spPr>
          <a:xfrm>
            <a:off x="3429000" y="3392424"/>
            <a:ext cx="914400" cy="457200"/>
          </a:xfrm>
          <a:prstGeom prst="rect">
            <a:avLst/>
          </a:prstGeom>
          <a:solidFill>
            <a:srgbClr val="FFFFFF"/>
          </a:solidFill>
          <a:ln w="15875">
            <a:solidFill>
              <a:srgbClr val="14213D"/>
            </a:solidFill>
            <a:prstDash val="solid"/>
          </a:ln>
        </p:spPr>
      </p:sp>
      <p:sp>
        <p:nvSpPr>
          <p:cNvPr id="47" name="Text 44"/>
          <p:cNvSpPr txBox="1"/>
          <p:nvPr/>
        </p:nvSpPr>
        <p:spPr>
          <a:xfrm>
            <a:off x="3429000" y="3392424"/>
            <a:ext cx="914400" cy="457200"/>
          </a:xfrm>
          <a:prstGeom prst="rect">
            <a:avLst/>
          </a:prstGeom>
          <a:noFill/>
          <a:ln/>
        </p:spPr>
        <p:txBody>
          <a:bodyPr wrap="square" lIns="0" tIns="0" rIns="0" bIns="0" rtlCol="0" anchor="ctr"/>
          <a:lstStyle/>
          <a:p>
            <a:pPr algn="ctr" indent="0" marL="0">
              <a:buNone/>
            </a:pPr>
            <a:r>
              <a:rPr lang="en-US" sz="1300" b="1" dirty="0">
                <a:solidFill>
                  <a:srgbClr val="14213D"/>
                </a:solidFill>
                <a:latin typeface="Courier New" pitchFamily="34" charset="0"/>
                <a:ea typeface="Courier New" pitchFamily="34" charset="-122"/>
                <a:cs typeface="Courier New" pitchFamily="34" charset="-120"/>
              </a:rPr>
              <a:t>89.6</a:t>
            </a:r>
            <a:endParaRPr lang="en-US" sz="1300" dirty="0"/>
          </a:p>
        </p:txBody>
      </p:sp>
      <p:sp>
        <p:nvSpPr>
          <p:cNvPr id="48" name="Text 45"/>
          <p:cNvSpPr txBox="1"/>
          <p:nvPr/>
        </p:nvSpPr>
        <p:spPr>
          <a:xfrm>
            <a:off x="3429000" y="3877056"/>
            <a:ext cx="914400" cy="274320"/>
          </a:xfrm>
          <a:prstGeom prst="rect">
            <a:avLst/>
          </a:prstGeom>
          <a:noFill/>
          <a:ln/>
        </p:spPr>
        <p:txBody>
          <a:bodyPr wrap="square" lIns="0" tIns="0" rIns="0" bIns="0" rtlCol="0" anchor="ctr"/>
          <a:lstStyle/>
          <a:p>
            <a:pPr algn="ctr" indent="0" marL="0">
              <a:buNone/>
            </a:pPr>
            <a:r>
              <a:rPr lang="en-US" sz="1300" dirty="0">
                <a:solidFill>
                  <a:srgbClr val="5B6478"/>
                </a:solidFill>
                <a:latin typeface="Courier New" pitchFamily="34" charset="0"/>
                <a:ea typeface="Courier New" pitchFamily="34" charset="-122"/>
                <a:cs typeface="Courier New" pitchFamily="34" charset="-120"/>
              </a:rPr>
              <a:t>[2]</a:t>
            </a:r>
            <a:endParaRPr lang="en-US" sz="1300" dirty="0"/>
          </a:p>
        </p:txBody>
      </p:sp>
      <p:sp>
        <p:nvSpPr>
          <p:cNvPr id="49" name="Shape 46"/>
          <p:cNvSpPr/>
          <p:nvPr/>
        </p:nvSpPr>
        <p:spPr>
          <a:xfrm>
            <a:off x="4343400" y="3392424"/>
            <a:ext cx="914400" cy="457200"/>
          </a:xfrm>
          <a:prstGeom prst="rect">
            <a:avLst/>
          </a:prstGeom>
          <a:solidFill>
            <a:srgbClr val="FFFFFF"/>
          </a:solidFill>
          <a:ln w="15875">
            <a:solidFill>
              <a:srgbClr val="14213D"/>
            </a:solidFill>
            <a:prstDash val="solid"/>
          </a:ln>
        </p:spPr>
      </p:sp>
      <p:sp>
        <p:nvSpPr>
          <p:cNvPr id="50" name="Text 47"/>
          <p:cNvSpPr txBox="1"/>
          <p:nvPr/>
        </p:nvSpPr>
        <p:spPr>
          <a:xfrm>
            <a:off x="4343400" y="3392424"/>
            <a:ext cx="914400" cy="457200"/>
          </a:xfrm>
          <a:prstGeom prst="rect">
            <a:avLst/>
          </a:prstGeom>
          <a:noFill/>
          <a:ln/>
        </p:spPr>
        <p:txBody>
          <a:bodyPr wrap="square" lIns="0" tIns="0" rIns="0" bIns="0" rtlCol="0" anchor="ctr"/>
          <a:lstStyle/>
          <a:p>
            <a:pPr algn="ctr" indent="0" marL="0">
              <a:buNone/>
            </a:pPr>
            <a:r>
              <a:rPr lang="en-US" sz="1300" b="1" dirty="0">
                <a:solidFill>
                  <a:srgbClr val="14213D"/>
                </a:solidFill>
                <a:latin typeface="Courier New" pitchFamily="34" charset="0"/>
                <a:ea typeface="Courier New" pitchFamily="34" charset="-122"/>
                <a:cs typeface="Courier New" pitchFamily="34" charset="-120"/>
              </a:rPr>
              <a:t>66.0</a:t>
            </a:r>
            <a:endParaRPr lang="en-US" sz="1300" dirty="0"/>
          </a:p>
        </p:txBody>
      </p:sp>
      <p:sp>
        <p:nvSpPr>
          <p:cNvPr id="51" name="Text 48"/>
          <p:cNvSpPr txBox="1"/>
          <p:nvPr/>
        </p:nvSpPr>
        <p:spPr>
          <a:xfrm>
            <a:off x="4343400" y="3877056"/>
            <a:ext cx="914400" cy="274320"/>
          </a:xfrm>
          <a:prstGeom prst="rect">
            <a:avLst/>
          </a:prstGeom>
          <a:noFill/>
          <a:ln/>
        </p:spPr>
        <p:txBody>
          <a:bodyPr wrap="square" lIns="0" tIns="0" rIns="0" bIns="0" rtlCol="0" anchor="ctr"/>
          <a:lstStyle/>
          <a:p>
            <a:pPr algn="ctr" indent="0" marL="0">
              <a:buNone/>
            </a:pPr>
            <a:r>
              <a:rPr lang="en-US" sz="1300" dirty="0">
                <a:solidFill>
                  <a:srgbClr val="5B6478"/>
                </a:solidFill>
                <a:latin typeface="Courier New" pitchFamily="34" charset="0"/>
                <a:ea typeface="Courier New" pitchFamily="34" charset="-122"/>
                <a:cs typeface="Courier New" pitchFamily="34" charset="-120"/>
              </a:rPr>
              <a:t>[3]</a:t>
            </a:r>
            <a:endParaRPr lang="en-US" sz="1300" dirty="0"/>
          </a:p>
        </p:txBody>
      </p:sp>
      <p:sp>
        <p:nvSpPr>
          <p:cNvPr id="52" name="Shape 49"/>
          <p:cNvSpPr/>
          <p:nvPr/>
        </p:nvSpPr>
        <p:spPr>
          <a:xfrm>
            <a:off x="5257800" y="3392424"/>
            <a:ext cx="914400" cy="457200"/>
          </a:xfrm>
          <a:prstGeom prst="rect">
            <a:avLst/>
          </a:prstGeom>
          <a:solidFill>
            <a:srgbClr val="FFFFFF"/>
          </a:solidFill>
          <a:ln w="15875">
            <a:solidFill>
              <a:srgbClr val="14213D"/>
            </a:solidFill>
            <a:prstDash val="solid"/>
          </a:ln>
        </p:spPr>
      </p:sp>
      <p:sp>
        <p:nvSpPr>
          <p:cNvPr id="53" name="Text 50"/>
          <p:cNvSpPr txBox="1"/>
          <p:nvPr/>
        </p:nvSpPr>
        <p:spPr>
          <a:xfrm>
            <a:off x="5257800" y="3392424"/>
            <a:ext cx="914400" cy="457200"/>
          </a:xfrm>
          <a:prstGeom prst="rect">
            <a:avLst/>
          </a:prstGeom>
          <a:noFill/>
          <a:ln/>
        </p:spPr>
        <p:txBody>
          <a:bodyPr wrap="square" lIns="0" tIns="0" rIns="0" bIns="0" rtlCol="0" anchor="ctr"/>
          <a:lstStyle/>
          <a:p>
            <a:pPr algn="ctr" indent="0" marL="0">
              <a:buNone/>
            </a:pPr>
            <a:r>
              <a:rPr lang="en-US" sz="1300" b="1" dirty="0">
                <a:solidFill>
                  <a:srgbClr val="14213D"/>
                </a:solidFill>
                <a:latin typeface="Courier New" pitchFamily="34" charset="0"/>
                <a:ea typeface="Courier New" pitchFamily="34" charset="-122"/>
                <a:cs typeface="Courier New" pitchFamily="34" charset="-120"/>
              </a:rPr>
              <a:t>44.8</a:t>
            </a:r>
            <a:endParaRPr lang="en-US" sz="1300" dirty="0"/>
          </a:p>
        </p:txBody>
      </p:sp>
      <p:sp>
        <p:nvSpPr>
          <p:cNvPr id="54" name="Text 51"/>
          <p:cNvSpPr txBox="1"/>
          <p:nvPr/>
        </p:nvSpPr>
        <p:spPr>
          <a:xfrm>
            <a:off x="5257800" y="3877056"/>
            <a:ext cx="914400" cy="274320"/>
          </a:xfrm>
          <a:prstGeom prst="rect">
            <a:avLst/>
          </a:prstGeom>
          <a:noFill/>
          <a:ln/>
        </p:spPr>
        <p:txBody>
          <a:bodyPr wrap="square" lIns="0" tIns="0" rIns="0" bIns="0" rtlCol="0" anchor="ctr"/>
          <a:lstStyle/>
          <a:p>
            <a:pPr algn="ctr" indent="0" marL="0">
              <a:buNone/>
            </a:pPr>
            <a:r>
              <a:rPr lang="en-US" sz="1300" dirty="0">
                <a:solidFill>
                  <a:srgbClr val="5B6478"/>
                </a:solidFill>
                <a:latin typeface="Courier New" pitchFamily="34" charset="0"/>
                <a:ea typeface="Courier New" pitchFamily="34" charset="-122"/>
                <a:cs typeface="Courier New" pitchFamily="34" charset="-120"/>
              </a:rPr>
              <a:t>[4]</a:t>
            </a:r>
            <a:endParaRPr lang="en-US" sz="1300" dirty="0"/>
          </a:p>
        </p:txBody>
      </p:sp>
      <p:sp>
        <p:nvSpPr>
          <p:cNvPr id="55" name="Text 52"/>
          <p:cNvSpPr txBox="1"/>
          <p:nvPr/>
        </p:nvSpPr>
        <p:spPr>
          <a:xfrm>
            <a:off x="484632" y="3392424"/>
            <a:ext cx="1005840" cy="457200"/>
          </a:xfrm>
          <a:prstGeom prst="rect">
            <a:avLst/>
          </a:prstGeom>
          <a:noFill/>
          <a:ln/>
        </p:spPr>
        <p:txBody>
          <a:bodyPr wrap="square" lIns="0" tIns="0" rIns="0" bIns="0" rtlCol="0" anchor="ctr"/>
          <a:lstStyle/>
          <a:p>
            <a:pPr algn="r" indent="0" marL="0">
              <a:buNone/>
            </a:pPr>
            <a:r>
              <a:rPr lang="en-US" sz="1400" b="1" dirty="0">
                <a:solidFill>
                  <a:srgbClr val="14213D"/>
                </a:solidFill>
                <a:latin typeface="Courier New" pitchFamily="34" charset="0"/>
                <a:ea typeface="Courier New" pitchFamily="34" charset="-122"/>
                <a:cs typeface="Courier New" pitchFamily="34" charset="-120"/>
              </a:rPr>
              <a:t>totals</a:t>
            </a:r>
            <a:endParaRPr lang="en-US" sz="1400" dirty="0"/>
          </a:p>
        </p:txBody>
      </p:sp>
      <p:sp>
        <p:nvSpPr>
          <p:cNvPr id="56" name="Text 53"/>
          <p:cNvSpPr txBox="1"/>
          <p:nvPr/>
        </p:nvSpPr>
        <p:spPr>
          <a:xfrm>
            <a:off x="1600200" y="4206240"/>
            <a:ext cx="4572000" cy="292608"/>
          </a:xfrm>
          <a:prstGeom prst="rect">
            <a:avLst/>
          </a:prstGeom>
          <a:noFill/>
          <a:ln/>
        </p:spPr>
        <p:txBody>
          <a:bodyPr wrap="square" lIns="0" tIns="0" rIns="0" bIns="0" rtlCol="0" anchor="ctr"/>
          <a:lstStyle/>
          <a:p>
            <a:pPr algn="ctr" indent="0" marL="0">
              <a:buNone/>
            </a:pPr>
            <a:r>
              <a:rPr lang="en-US" sz="1400" b="1" dirty="0">
                <a:solidFill>
                  <a:srgbClr val="B7791F"/>
                </a:solidFill>
                <a:latin typeface="Calibri" pitchFamily="34" charset="0"/>
                <a:ea typeface="Calibri" pitchFamily="34" charset="-122"/>
                <a:cs typeface="Calibri" pitchFamily="34" charset="-120"/>
              </a:rPr>
              <a:t>same index = same student</a:t>
            </a:r>
            <a:endParaRPr lang="en-US" sz="1400" dirty="0"/>
          </a:p>
        </p:txBody>
      </p:sp>
      <p:sp>
        <p:nvSpPr>
          <p:cNvPr id="57" name="Shape 54"/>
          <p:cNvSpPr/>
          <p:nvPr/>
        </p:nvSpPr>
        <p:spPr>
          <a:xfrm>
            <a:off x="548640" y="4572000"/>
            <a:ext cx="5760720" cy="1508760"/>
          </a:xfrm>
          <a:prstGeom prst="roundRect">
            <a:avLst>
              <a:gd name="adj" fmla="val 6061"/>
            </a:avLst>
          </a:prstGeom>
          <a:solidFill>
            <a:srgbClr val="0F1729"/>
          </a:solidFill>
          <a:ln w="12700">
            <a:solidFill>
              <a:srgbClr val="0F1729"/>
            </a:solidFill>
            <a:prstDash val="solid"/>
          </a:ln>
        </p:spPr>
      </p:sp>
      <p:sp>
        <p:nvSpPr>
          <p:cNvPr id="58" name="Text 55"/>
          <p:cNvSpPr txBox="1"/>
          <p:nvPr/>
        </p:nvSpPr>
        <p:spPr>
          <a:xfrm>
            <a:off x="777240" y="4736592"/>
            <a:ext cx="5303520" cy="1234440"/>
          </a:xfrm>
          <a:prstGeom prst="rect">
            <a:avLst/>
          </a:prstGeom>
          <a:noFill/>
          <a:ln/>
        </p:spPr>
        <p:txBody>
          <a:bodyPr wrap="square" lIns="0" tIns="0" rIns="0" bIns="0" rtlCol="0" anchor="t"/>
          <a:lstStyle/>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 &lt; names.Length; i++)</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totals[i]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0.4</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midterms[i]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0.6</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finals[i];</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classSum += totals[i];</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59" name="Shape 56"/>
          <p:cNvSpPr/>
          <p:nvPr/>
        </p:nvSpPr>
        <p:spPr>
          <a:xfrm>
            <a:off x="6583680" y="1645920"/>
            <a:ext cx="5074920" cy="2651760"/>
          </a:xfrm>
          <a:prstGeom prst="roundRect">
            <a:avLst>
              <a:gd name="adj" fmla="val 3448"/>
            </a:avLst>
          </a:prstGeom>
          <a:solidFill>
            <a:srgbClr val="0B0F19"/>
          </a:solidFill>
          <a:ln w="12700">
            <a:solidFill>
              <a:srgbClr val="2A3654"/>
            </a:solidFill>
            <a:prstDash val="solid"/>
          </a:ln>
        </p:spPr>
      </p:sp>
      <p:sp>
        <p:nvSpPr>
          <p:cNvPr id="60" name="Shape 57"/>
          <p:cNvSpPr/>
          <p:nvPr/>
        </p:nvSpPr>
        <p:spPr>
          <a:xfrm>
            <a:off x="6766560" y="1773936"/>
            <a:ext cx="118872" cy="118872"/>
          </a:xfrm>
          <a:prstGeom prst="ellipse">
            <a:avLst/>
          </a:prstGeom>
          <a:solidFill>
            <a:srgbClr val="FF5F57"/>
          </a:solidFill>
          <a:ln w="12700">
            <a:solidFill>
              <a:srgbClr val="FF5F57"/>
            </a:solidFill>
            <a:prstDash val="solid"/>
          </a:ln>
        </p:spPr>
      </p:sp>
      <p:sp>
        <p:nvSpPr>
          <p:cNvPr id="61" name="Shape 58"/>
          <p:cNvSpPr/>
          <p:nvPr/>
        </p:nvSpPr>
        <p:spPr>
          <a:xfrm>
            <a:off x="6995160" y="1773936"/>
            <a:ext cx="118872" cy="118872"/>
          </a:xfrm>
          <a:prstGeom prst="ellipse">
            <a:avLst/>
          </a:prstGeom>
          <a:solidFill>
            <a:srgbClr val="FEBC2E"/>
          </a:solidFill>
          <a:ln w="12700">
            <a:solidFill>
              <a:srgbClr val="FEBC2E"/>
            </a:solidFill>
            <a:prstDash val="solid"/>
          </a:ln>
        </p:spPr>
      </p:sp>
      <p:sp>
        <p:nvSpPr>
          <p:cNvPr id="62" name="Shape 59"/>
          <p:cNvSpPr/>
          <p:nvPr/>
        </p:nvSpPr>
        <p:spPr>
          <a:xfrm>
            <a:off x="7223760" y="1773936"/>
            <a:ext cx="118872" cy="118872"/>
          </a:xfrm>
          <a:prstGeom prst="ellipse">
            <a:avLst/>
          </a:prstGeom>
          <a:solidFill>
            <a:srgbClr val="28C840"/>
          </a:solidFill>
          <a:ln w="12700">
            <a:solidFill>
              <a:srgbClr val="28C840"/>
            </a:solidFill>
            <a:prstDash val="solid"/>
          </a:ln>
        </p:spPr>
      </p:sp>
      <p:sp>
        <p:nvSpPr>
          <p:cNvPr id="63" name="Text 60"/>
          <p:cNvSpPr txBox="1"/>
          <p:nvPr/>
        </p:nvSpPr>
        <p:spPr>
          <a:xfrm>
            <a:off x="7498080" y="1719072"/>
            <a:ext cx="397764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09_08_StudentReport</a:t>
            </a:r>
            <a:endParaRPr lang="en-US" sz="1000" dirty="0"/>
          </a:p>
        </p:txBody>
      </p:sp>
      <p:sp>
        <p:nvSpPr>
          <p:cNvPr id="64" name="Text 61"/>
          <p:cNvSpPr txBox="1"/>
          <p:nvPr/>
        </p:nvSpPr>
        <p:spPr>
          <a:xfrm>
            <a:off x="6812280" y="2029968"/>
            <a:ext cx="4617720" cy="2148840"/>
          </a:xfrm>
          <a:prstGeom prst="rect">
            <a:avLst/>
          </a:prstGeom>
          <a:noFill/>
          <a:ln/>
        </p:spPr>
        <p:txBody>
          <a:bodyPr wrap="square" lIns="0" tIns="0" rIns="0" bIns="0" rtlCol="0" anchor="t"/>
          <a:lstStyle/>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Name      Mid  Final   Total  Result</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Ayşe       78     85    82.2  PASS</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Mehmet     45     40    42.0  FAIL</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Elif       92     88    89.6  PASS</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Can        60     70    66.0  PASS</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Zeynep     55     38    44.8  FAIL</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Class average: 64.92</a:t>
            </a:r>
            <a:endParaRPr lang="en-US" sz="1300" dirty="0"/>
          </a:p>
        </p:txBody>
      </p:sp>
      <p:sp>
        <p:nvSpPr>
          <p:cNvPr id="65" name="Shape 62"/>
          <p:cNvSpPr/>
          <p:nvPr/>
        </p:nvSpPr>
        <p:spPr>
          <a:xfrm>
            <a:off x="6583680" y="4480560"/>
            <a:ext cx="5074920" cy="1600200"/>
          </a:xfrm>
          <a:prstGeom prst="roundRect">
            <a:avLst>
              <a:gd name="adj" fmla="val 6857"/>
            </a:avLst>
          </a:prstGeom>
          <a:solidFill>
            <a:srgbClr val="FFF6E3"/>
          </a:solidFill>
          <a:ln w="12700">
            <a:solidFill>
              <a:srgbClr val="FFF6E3"/>
            </a:solidFill>
            <a:prstDash val="solid"/>
          </a:ln>
        </p:spPr>
      </p:sp>
      <p:pic>
        <p:nvPicPr>
          <p:cNvPr id="66" name="Image 0" descr="preencoded.png">    </p:cNvPr>
          <p:cNvPicPr>
            <a:picLocks noChangeAspect="1"/>
          </p:cNvPicPr>
          <p:nvPr/>
        </p:nvPicPr>
        <p:blipFill>
          <a:blip r:embed="rId1"/>
          <a:stretch>
            <a:fillRect/>
          </a:stretch>
        </p:blipFill>
        <p:spPr>
          <a:xfrm>
            <a:off x="6858000" y="5006340"/>
            <a:ext cx="548640" cy="548640"/>
          </a:xfrm>
          <a:prstGeom prst="rect">
            <a:avLst/>
          </a:prstGeom>
        </p:spPr>
      </p:pic>
      <p:sp>
        <p:nvSpPr>
          <p:cNvPr id="67" name="Text 63"/>
          <p:cNvSpPr txBox="1"/>
          <p:nvPr/>
        </p:nvSpPr>
        <p:spPr>
          <a:xfrm>
            <a:off x="7680960" y="4553712"/>
            <a:ext cx="3703320" cy="1453896"/>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Keep them in step: </a:t>
            </a:r>
            <a:pPr indent="0" marL="0">
              <a:buNone/>
            </a:pPr>
            <a:r>
              <a:rPr lang="en-US" sz="1400" dirty="0">
                <a:solidFill>
                  <a:srgbClr val="333B4F"/>
                </a:solidFill>
                <a:latin typeface="Calibri" pitchFamily="34" charset="0"/>
                <a:ea typeface="Calibri" pitchFamily="34" charset="-122"/>
                <a:cs typeface="Calibri" pitchFamily="34" charset="-120"/>
              </a:rPr>
              <a:t>same length, and every change (sort, delete) must be applied to all arrays at the same index.</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ARRAYS ARE REFERENCE TYPES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b = a Does Not Copy the Array</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9</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29</a:t>
            </a:r>
            <a:endParaRPr lang="en-US" sz="1000" dirty="0"/>
          </a:p>
        </p:txBody>
      </p:sp>
      <p:sp>
        <p:nvSpPr>
          <p:cNvPr id="7" name="Text 4"/>
          <p:cNvSpPr txBox="1"/>
          <p:nvPr/>
        </p:nvSpPr>
        <p:spPr>
          <a:xfrm>
            <a:off x="548640" y="1600200"/>
            <a:ext cx="5486400" cy="329184"/>
          </a:xfrm>
          <a:prstGeom prst="rect">
            <a:avLst/>
          </a:prstGeom>
          <a:noFill/>
          <a:ln/>
        </p:spPr>
        <p:txBody>
          <a:bodyPr wrap="square" lIns="0" tIns="0" rIns="0" bIns="0" rtlCol="0" anchor="ctr"/>
          <a:lstStyle/>
          <a:p>
            <a:pPr indent="0" marL="0">
              <a:buNone/>
            </a:pPr>
            <a:r>
              <a:rPr lang="en-US" sz="1600" b="1" dirty="0">
                <a:solidFill>
                  <a:srgbClr val="C8453B"/>
                </a:solidFill>
                <a:latin typeface="Cambria" pitchFamily="34" charset="0"/>
                <a:ea typeface="Cambria" pitchFamily="34" charset="-122"/>
                <a:cs typeface="Cambria" pitchFamily="34" charset="-120"/>
              </a:rPr>
              <a:t>int[] b = a;   →  ONE array, two names</a:t>
            </a:r>
            <a:endParaRPr lang="en-US" sz="1600" dirty="0"/>
          </a:p>
        </p:txBody>
      </p:sp>
      <p:sp>
        <p:nvSpPr>
          <p:cNvPr id="8" name="Shape 5"/>
          <p:cNvSpPr/>
          <p:nvPr/>
        </p:nvSpPr>
        <p:spPr>
          <a:xfrm>
            <a:off x="2377440" y="2331720"/>
            <a:ext cx="777240" cy="566928"/>
          </a:xfrm>
          <a:prstGeom prst="rect">
            <a:avLst/>
          </a:prstGeom>
          <a:solidFill>
            <a:srgbClr val="FFFFFF"/>
          </a:solidFill>
          <a:ln w="15875">
            <a:solidFill>
              <a:srgbClr val="14213D"/>
            </a:solidFill>
            <a:prstDash val="solid"/>
          </a:ln>
        </p:spPr>
      </p:sp>
      <p:sp>
        <p:nvSpPr>
          <p:cNvPr id="9" name="Text 6"/>
          <p:cNvSpPr txBox="1"/>
          <p:nvPr/>
        </p:nvSpPr>
        <p:spPr>
          <a:xfrm>
            <a:off x="2377440" y="2331720"/>
            <a:ext cx="777240" cy="566928"/>
          </a:xfrm>
          <a:prstGeom prst="rect">
            <a:avLst/>
          </a:prstGeom>
          <a:noFill/>
          <a:ln/>
        </p:spPr>
        <p:txBody>
          <a:bodyPr wrap="square" lIns="0" tIns="0" rIns="0" bIns="0" rtlCol="0" anchor="ctr"/>
          <a:lstStyle/>
          <a:p>
            <a:pPr algn="ctr" indent="0" marL="0">
              <a:buNone/>
            </a:pPr>
            <a:r>
              <a:rPr lang="en-US" sz="1800" b="1" dirty="0">
                <a:solidFill>
                  <a:srgbClr val="14213D"/>
                </a:solidFill>
                <a:latin typeface="Courier New" pitchFamily="34" charset="0"/>
                <a:ea typeface="Courier New" pitchFamily="34" charset="-122"/>
                <a:cs typeface="Courier New" pitchFamily="34" charset="-120"/>
              </a:rPr>
              <a:t>99</a:t>
            </a:r>
            <a:endParaRPr lang="en-US" sz="1800" dirty="0"/>
          </a:p>
        </p:txBody>
      </p:sp>
      <p:sp>
        <p:nvSpPr>
          <p:cNvPr id="10" name="Text 7"/>
          <p:cNvSpPr txBox="1"/>
          <p:nvPr/>
        </p:nvSpPr>
        <p:spPr>
          <a:xfrm>
            <a:off x="2377440" y="2926080"/>
            <a:ext cx="777240" cy="274320"/>
          </a:xfrm>
          <a:prstGeom prst="rect">
            <a:avLst/>
          </a:prstGeom>
          <a:noFill/>
          <a:ln/>
        </p:spPr>
        <p:txBody>
          <a:bodyPr wrap="square" lIns="0" tIns="0" rIns="0" bIns="0" rtlCol="0" anchor="ctr"/>
          <a:lstStyle/>
          <a:p>
            <a:pPr algn="ctr" indent="0" marL="0">
              <a:buNone/>
            </a:pPr>
            <a:r>
              <a:rPr lang="en-US" sz="1300" dirty="0">
                <a:solidFill>
                  <a:srgbClr val="5B6478"/>
                </a:solidFill>
                <a:latin typeface="Courier New" pitchFamily="34" charset="0"/>
                <a:ea typeface="Courier New" pitchFamily="34" charset="-122"/>
                <a:cs typeface="Courier New" pitchFamily="34" charset="-120"/>
              </a:rPr>
              <a:t>[0]</a:t>
            </a:r>
            <a:endParaRPr lang="en-US" sz="1300" dirty="0"/>
          </a:p>
        </p:txBody>
      </p:sp>
      <p:sp>
        <p:nvSpPr>
          <p:cNvPr id="11" name="Shape 8"/>
          <p:cNvSpPr/>
          <p:nvPr/>
        </p:nvSpPr>
        <p:spPr>
          <a:xfrm>
            <a:off x="3154680" y="2331720"/>
            <a:ext cx="777240" cy="566928"/>
          </a:xfrm>
          <a:prstGeom prst="rect">
            <a:avLst/>
          </a:prstGeom>
          <a:solidFill>
            <a:srgbClr val="FFFFFF"/>
          </a:solidFill>
          <a:ln w="15875">
            <a:solidFill>
              <a:srgbClr val="14213D"/>
            </a:solidFill>
            <a:prstDash val="solid"/>
          </a:ln>
        </p:spPr>
      </p:sp>
      <p:sp>
        <p:nvSpPr>
          <p:cNvPr id="12" name="Text 9"/>
          <p:cNvSpPr txBox="1"/>
          <p:nvPr/>
        </p:nvSpPr>
        <p:spPr>
          <a:xfrm>
            <a:off x="3154680" y="2331720"/>
            <a:ext cx="777240" cy="566928"/>
          </a:xfrm>
          <a:prstGeom prst="rect">
            <a:avLst/>
          </a:prstGeom>
          <a:noFill/>
          <a:ln/>
        </p:spPr>
        <p:txBody>
          <a:bodyPr wrap="square" lIns="0" tIns="0" rIns="0" bIns="0" rtlCol="0" anchor="ctr"/>
          <a:lstStyle/>
          <a:p>
            <a:pPr algn="ctr" indent="0" marL="0">
              <a:buNone/>
            </a:pPr>
            <a:r>
              <a:rPr lang="en-US" sz="1800" b="1" dirty="0">
                <a:solidFill>
                  <a:srgbClr val="14213D"/>
                </a:solidFill>
                <a:latin typeface="Courier New" pitchFamily="34" charset="0"/>
                <a:ea typeface="Courier New" pitchFamily="34" charset="-122"/>
                <a:cs typeface="Courier New" pitchFamily="34" charset="-120"/>
              </a:rPr>
              <a:t>2</a:t>
            </a:r>
            <a:endParaRPr lang="en-US" sz="1800" dirty="0"/>
          </a:p>
        </p:txBody>
      </p:sp>
      <p:sp>
        <p:nvSpPr>
          <p:cNvPr id="13" name="Text 10"/>
          <p:cNvSpPr txBox="1"/>
          <p:nvPr/>
        </p:nvSpPr>
        <p:spPr>
          <a:xfrm>
            <a:off x="3154680" y="2926080"/>
            <a:ext cx="777240" cy="274320"/>
          </a:xfrm>
          <a:prstGeom prst="rect">
            <a:avLst/>
          </a:prstGeom>
          <a:noFill/>
          <a:ln/>
        </p:spPr>
        <p:txBody>
          <a:bodyPr wrap="square" lIns="0" tIns="0" rIns="0" bIns="0" rtlCol="0" anchor="ctr"/>
          <a:lstStyle/>
          <a:p>
            <a:pPr algn="ctr" indent="0" marL="0">
              <a:buNone/>
            </a:pPr>
            <a:r>
              <a:rPr lang="en-US" sz="1300" dirty="0">
                <a:solidFill>
                  <a:srgbClr val="5B6478"/>
                </a:solidFill>
                <a:latin typeface="Courier New" pitchFamily="34" charset="0"/>
                <a:ea typeface="Courier New" pitchFamily="34" charset="-122"/>
                <a:cs typeface="Courier New" pitchFamily="34" charset="-120"/>
              </a:rPr>
              <a:t>[1]</a:t>
            </a:r>
            <a:endParaRPr lang="en-US" sz="1300" dirty="0"/>
          </a:p>
        </p:txBody>
      </p:sp>
      <p:sp>
        <p:nvSpPr>
          <p:cNvPr id="14" name="Shape 11"/>
          <p:cNvSpPr/>
          <p:nvPr/>
        </p:nvSpPr>
        <p:spPr>
          <a:xfrm>
            <a:off x="3931920" y="2331720"/>
            <a:ext cx="777240" cy="566928"/>
          </a:xfrm>
          <a:prstGeom prst="rect">
            <a:avLst/>
          </a:prstGeom>
          <a:solidFill>
            <a:srgbClr val="FFFFFF"/>
          </a:solidFill>
          <a:ln w="15875">
            <a:solidFill>
              <a:srgbClr val="14213D"/>
            </a:solidFill>
            <a:prstDash val="solid"/>
          </a:ln>
        </p:spPr>
      </p:sp>
      <p:sp>
        <p:nvSpPr>
          <p:cNvPr id="15" name="Text 12"/>
          <p:cNvSpPr txBox="1"/>
          <p:nvPr/>
        </p:nvSpPr>
        <p:spPr>
          <a:xfrm>
            <a:off x="3931920" y="2331720"/>
            <a:ext cx="777240" cy="566928"/>
          </a:xfrm>
          <a:prstGeom prst="rect">
            <a:avLst/>
          </a:prstGeom>
          <a:noFill/>
          <a:ln/>
        </p:spPr>
        <p:txBody>
          <a:bodyPr wrap="square" lIns="0" tIns="0" rIns="0" bIns="0" rtlCol="0" anchor="ctr"/>
          <a:lstStyle/>
          <a:p>
            <a:pPr algn="ctr" indent="0" marL="0">
              <a:buNone/>
            </a:pPr>
            <a:r>
              <a:rPr lang="en-US" sz="1800" b="1" dirty="0">
                <a:solidFill>
                  <a:srgbClr val="14213D"/>
                </a:solidFill>
                <a:latin typeface="Courier New" pitchFamily="34" charset="0"/>
                <a:ea typeface="Courier New" pitchFamily="34" charset="-122"/>
                <a:cs typeface="Courier New" pitchFamily="34" charset="-120"/>
              </a:rPr>
              <a:t>3</a:t>
            </a:r>
            <a:endParaRPr lang="en-US" sz="1800" dirty="0"/>
          </a:p>
        </p:txBody>
      </p:sp>
      <p:sp>
        <p:nvSpPr>
          <p:cNvPr id="16" name="Text 13"/>
          <p:cNvSpPr txBox="1"/>
          <p:nvPr/>
        </p:nvSpPr>
        <p:spPr>
          <a:xfrm>
            <a:off x="3931920" y="2926080"/>
            <a:ext cx="777240" cy="274320"/>
          </a:xfrm>
          <a:prstGeom prst="rect">
            <a:avLst/>
          </a:prstGeom>
          <a:noFill/>
          <a:ln/>
        </p:spPr>
        <p:txBody>
          <a:bodyPr wrap="square" lIns="0" tIns="0" rIns="0" bIns="0" rtlCol="0" anchor="ctr"/>
          <a:lstStyle/>
          <a:p>
            <a:pPr algn="ctr" indent="0" marL="0">
              <a:buNone/>
            </a:pPr>
            <a:r>
              <a:rPr lang="en-US" sz="1300" dirty="0">
                <a:solidFill>
                  <a:srgbClr val="5B6478"/>
                </a:solidFill>
                <a:latin typeface="Courier New" pitchFamily="34" charset="0"/>
                <a:ea typeface="Courier New" pitchFamily="34" charset="-122"/>
                <a:cs typeface="Courier New" pitchFamily="34" charset="-120"/>
              </a:rPr>
              <a:t>[2]</a:t>
            </a:r>
            <a:endParaRPr lang="en-US" sz="1300" dirty="0"/>
          </a:p>
        </p:txBody>
      </p:sp>
      <p:sp>
        <p:nvSpPr>
          <p:cNvPr id="17" name="Text 14"/>
          <p:cNvSpPr txBox="1"/>
          <p:nvPr/>
        </p:nvSpPr>
        <p:spPr>
          <a:xfrm>
            <a:off x="475488" y="2057400"/>
            <a:ext cx="365760" cy="457200"/>
          </a:xfrm>
          <a:prstGeom prst="rect">
            <a:avLst/>
          </a:prstGeom>
          <a:noFill/>
          <a:ln/>
        </p:spPr>
        <p:txBody>
          <a:bodyPr wrap="square" lIns="0" tIns="0" rIns="0" bIns="0" rtlCol="0" anchor="ctr"/>
          <a:lstStyle/>
          <a:p>
            <a:pPr algn="r" indent="0" marL="0">
              <a:buNone/>
            </a:pPr>
            <a:r>
              <a:rPr lang="en-US" sz="1700" b="1" dirty="0">
                <a:solidFill>
                  <a:srgbClr val="14213D"/>
                </a:solidFill>
                <a:latin typeface="Courier New" pitchFamily="34" charset="0"/>
                <a:ea typeface="Courier New" pitchFamily="34" charset="-122"/>
                <a:cs typeface="Courier New" pitchFamily="34" charset="-120"/>
              </a:rPr>
              <a:t>a</a:t>
            </a:r>
            <a:endParaRPr lang="en-US" sz="1700" dirty="0"/>
          </a:p>
        </p:txBody>
      </p:sp>
      <p:sp>
        <p:nvSpPr>
          <p:cNvPr id="18" name="Shape 15"/>
          <p:cNvSpPr/>
          <p:nvPr/>
        </p:nvSpPr>
        <p:spPr>
          <a:xfrm>
            <a:off x="914400" y="2057400"/>
            <a:ext cx="457200" cy="457200"/>
          </a:xfrm>
          <a:prstGeom prst="rect">
            <a:avLst/>
          </a:prstGeom>
          <a:solidFill>
            <a:srgbClr val="EEF1F6"/>
          </a:solidFill>
          <a:ln w="15875">
            <a:solidFill>
              <a:srgbClr val="14213D"/>
            </a:solidFill>
            <a:prstDash val="solid"/>
          </a:ln>
        </p:spPr>
      </p:sp>
      <p:sp>
        <p:nvSpPr>
          <p:cNvPr id="19" name="Shape 16"/>
          <p:cNvSpPr/>
          <p:nvPr/>
        </p:nvSpPr>
        <p:spPr>
          <a:xfrm>
            <a:off x="1088136" y="2231136"/>
            <a:ext cx="109728" cy="109728"/>
          </a:xfrm>
          <a:prstGeom prst="ellipse">
            <a:avLst/>
          </a:prstGeom>
          <a:solidFill>
            <a:srgbClr val="14213D"/>
          </a:solidFill>
          <a:ln w="12700">
            <a:solidFill>
              <a:srgbClr val="14213D"/>
            </a:solidFill>
            <a:prstDash val="solid"/>
          </a:ln>
        </p:spPr>
      </p:sp>
      <p:sp>
        <p:nvSpPr>
          <p:cNvPr id="20" name="Shape 17"/>
          <p:cNvSpPr/>
          <p:nvPr/>
        </p:nvSpPr>
        <p:spPr>
          <a:xfrm>
            <a:off x="1143000" y="2286000"/>
            <a:ext cx="1234440" cy="182880"/>
          </a:xfrm>
          <a:prstGeom prst="line">
            <a:avLst/>
          </a:prstGeom>
          <a:noFill/>
          <a:ln w="15875">
            <a:solidFill>
              <a:srgbClr val="14213D"/>
            </a:solidFill>
            <a:prstDash val="solid"/>
            <a:tailEnd type="triangle"/>
          </a:ln>
        </p:spPr>
      </p:sp>
      <p:sp>
        <p:nvSpPr>
          <p:cNvPr id="21" name="Text 18"/>
          <p:cNvSpPr txBox="1"/>
          <p:nvPr/>
        </p:nvSpPr>
        <p:spPr>
          <a:xfrm>
            <a:off x="475488" y="2834640"/>
            <a:ext cx="365760" cy="457200"/>
          </a:xfrm>
          <a:prstGeom prst="rect">
            <a:avLst/>
          </a:prstGeom>
          <a:noFill/>
          <a:ln/>
        </p:spPr>
        <p:txBody>
          <a:bodyPr wrap="square" lIns="0" tIns="0" rIns="0" bIns="0" rtlCol="0" anchor="ctr"/>
          <a:lstStyle/>
          <a:p>
            <a:pPr algn="r" indent="0" marL="0">
              <a:buNone/>
            </a:pPr>
            <a:r>
              <a:rPr lang="en-US" sz="1700" b="1" dirty="0">
                <a:solidFill>
                  <a:srgbClr val="C8453B"/>
                </a:solidFill>
                <a:latin typeface="Courier New" pitchFamily="34" charset="0"/>
                <a:ea typeface="Courier New" pitchFamily="34" charset="-122"/>
                <a:cs typeface="Courier New" pitchFamily="34" charset="-120"/>
              </a:rPr>
              <a:t>b</a:t>
            </a:r>
            <a:endParaRPr lang="en-US" sz="1700" dirty="0"/>
          </a:p>
        </p:txBody>
      </p:sp>
      <p:sp>
        <p:nvSpPr>
          <p:cNvPr id="22" name="Shape 19"/>
          <p:cNvSpPr/>
          <p:nvPr/>
        </p:nvSpPr>
        <p:spPr>
          <a:xfrm>
            <a:off x="914400" y="2834640"/>
            <a:ext cx="457200" cy="457200"/>
          </a:xfrm>
          <a:prstGeom prst="rect">
            <a:avLst/>
          </a:prstGeom>
          <a:solidFill>
            <a:srgbClr val="EEF1F6"/>
          </a:solidFill>
          <a:ln w="15875">
            <a:solidFill>
              <a:srgbClr val="C8453B"/>
            </a:solidFill>
            <a:prstDash val="solid"/>
          </a:ln>
        </p:spPr>
      </p:sp>
      <p:sp>
        <p:nvSpPr>
          <p:cNvPr id="23" name="Shape 20"/>
          <p:cNvSpPr/>
          <p:nvPr/>
        </p:nvSpPr>
        <p:spPr>
          <a:xfrm>
            <a:off x="1088136" y="3008376"/>
            <a:ext cx="109728" cy="109728"/>
          </a:xfrm>
          <a:prstGeom prst="ellipse">
            <a:avLst/>
          </a:prstGeom>
          <a:solidFill>
            <a:srgbClr val="C8453B"/>
          </a:solidFill>
          <a:ln w="12700">
            <a:solidFill>
              <a:srgbClr val="C8453B"/>
            </a:solidFill>
            <a:prstDash val="solid"/>
          </a:ln>
        </p:spPr>
      </p:sp>
      <p:sp>
        <p:nvSpPr>
          <p:cNvPr id="24" name="Shape 21"/>
          <p:cNvSpPr/>
          <p:nvPr/>
        </p:nvSpPr>
        <p:spPr>
          <a:xfrm flipV="1">
            <a:off x="1143000" y="2743200"/>
            <a:ext cx="1234440" cy="320040"/>
          </a:xfrm>
          <a:prstGeom prst="line">
            <a:avLst/>
          </a:prstGeom>
          <a:noFill/>
          <a:ln w="15875">
            <a:solidFill>
              <a:srgbClr val="C8453B"/>
            </a:solidFill>
            <a:prstDash val="solid"/>
            <a:tailEnd type="triangle"/>
          </a:ln>
        </p:spPr>
      </p:sp>
      <p:sp>
        <p:nvSpPr>
          <p:cNvPr id="25" name="Text 22"/>
          <p:cNvSpPr txBox="1"/>
          <p:nvPr/>
        </p:nvSpPr>
        <p:spPr>
          <a:xfrm>
            <a:off x="548640" y="3611880"/>
            <a:ext cx="5486400" cy="640080"/>
          </a:xfrm>
          <a:prstGeom prst="rect">
            <a:avLst/>
          </a:prstGeom>
          <a:noFill/>
          <a:ln/>
        </p:spPr>
        <p:txBody>
          <a:bodyPr wrap="square" lIns="0" tIns="0" rIns="0" bIns="0" rtlCol="0" anchor="t"/>
          <a:lstStyle/>
          <a:p>
            <a:pPr indent="0" marL="0">
              <a:buNone/>
            </a:pPr>
            <a:r>
              <a:rPr lang="en-US" sz="1500" dirty="0">
                <a:solidFill>
                  <a:srgbClr val="333B4F"/>
                </a:solidFill>
                <a:latin typeface="Calibri" pitchFamily="34" charset="0"/>
                <a:ea typeface="Calibri" pitchFamily="34" charset="-122"/>
                <a:cs typeface="Calibri" pitchFamily="34" charset="-120"/>
              </a:rPr>
              <a:t>b[0] = 99 changes the only array → a[0] is 99 too.</a:t>
            </a:r>
            <a:endParaRPr lang="en-US" sz="1500" dirty="0"/>
          </a:p>
        </p:txBody>
      </p:sp>
      <p:sp>
        <p:nvSpPr>
          <p:cNvPr id="26" name="Text 23"/>
          <p:cNvSpPr txBox="1"/>
          <p:nvPr/>
        </p:nvSpPr>
        <p:spPr>
          <a:xfrm>
            <a:off x="6355080" y="1600200"/>
            <a:ext cx="5303520" cy="329184"/>
          </a:xfrm>
          <a:prstGeom prst="rect">
            <a:avLst/>
          </a:prstGeom>
          <a:noFill/>
          <a:ln/>
        </p:spPr>
        <p:txBody>
          <a:bodyPr wrap="square" lIns="0" tIns="0" rIns="0" bIns="0" rtlCol="0" anchor="ctr"/>
          <a:lstStyle/>
          <a:p>
            <a:pPr indent="0" marL="0">
              <a:buNone/>
            </a:pPr>
            <a:r>
              <a:rPr lang="en-US" sz="1600" b="1" dirty="0">
                <a:solidFill>
                  <a:srgbClr val="2E9E6A"/>
                </a:solidFill>
                <a:latin typeface="Cambria" pitchFamily="34" charset="0"/>
                <a:ea typeface="Cambria" pitchFamily="34" charset="-122"/>
                <a:cs typeface="Cambria" pitchFamily="34" charset="-120"/>
              </a:rPr>
              <a:t>int[] c = (int[])a.Clone();  →  a new array</a:t>
            </a:r>
            <a:endParaRPr lang="en-US" sz="1600" dirty="0"/>
          </a:p>
        </p:txBody>
      </p:sp>
      <p:sp>
        <p:nvSpPr>
          <p:cNvPr id="27" name="Shape 24"/>
          <p:cNvSpPr/>
          <p:nvPr/>
        </p:nvSpPr>
        <p:spPr>
          <a:xfrm>
            <a:off x="7955280" y="2057400"/>
            <a:ext cx="777240" cy="502920"/>
          </a:xfrm>
          <a:prstGeom prst="rect">
            <a:avLst/>
          </a:prstGeom>
          <a:solidFill>
            <a:srgbClr val="FFFFFF"/>
          </a:solidFill>
          <a:ln w="15875">
            <a:solidFill>
              <a:srgbClr val="14213D"/>
            </a:solidFill>
            <a:prstDash val="solid"/>
          </a:ln>
        </p:spPr>
      </p:sp>
      <p:sp>
        <p:nvSpPr>
          <p:cNvPr id="28" name="Text 25"/>
          <p:cNvSpPr txBox="1"/>
          <p:nvPr/>
        </p:nvSpPr>
        <p:spPr>
          <a:xfrm>
            <a:off x="7955280" y="2057400"/>
            <a:ext cx="777240" cy="502920"/>
          </a:xfrm>
          <a:prstGeom prst="rect">
            <a:avLst/>
          </a:prstGeom>
          <a:noFill/>
          <a:ln/>
        </p:spPr>
        <p:txBody>
          <a:bodyPr wrap="square" lIns="0" tIns="0" rIns="0" bIns="0" rtlCol="0" anchor="ctr"/>
          <a:lstStyle/>
          <a:p>
            <a:pPr algn="ctr" indent="0" marL="0">
              <a:buNone/>
            </a:pPr>
            <a:r>
              <a:rPr lang="en-US" sz="1700" b="1" dirty="0">
                <a:solidFill>
                  <a:srgbClr val="14213D"/>
                </a:solidFill>
                <a:latin typeface="Courier New" pitchFamily="34" charset="0"/>
                <a:ea typeface="Courier New" pitchFamily="34" charset="-122"/>
                <a:cs typeface="Courier New" pitchFamily="34" charset="-120"/>
              </a:rPr>
              <a:t>99</a:t>
            </a:r>
            <a:endParaRPr lang="en-US" sz="1700" dirty="0"/>
          </a:p>
        </p:txBody>
      </p:sp>
      <p:sp>
        <p:nvSpPr>
          <p:cNvPr id="29" name="Text 26"/>
          <p:cNvSpPr txBox="1"/>
          <p:nvPr/>
        </p:nvSpPr>
        <p:spPr>
          <a:xfrm>
            <a:off x="7955280" y="2587752"/>
            <a:ext cx="777240" cy="274320"/>
          </a:xfrm>
          <a:prstGeom prst="rect">
            <a:avLst/>
          </a:prstGeom>
          <a:noFill/>
          <a:ln/>
        </p:spPr>
        <p:txBody>
          <a:bodyPr wrap="square" lIns="0" tIns="0" rIns="0" bIns="0" rtlCol="0" anchor="ctr"/>
          <a:lstStyle/>
          <a:p>
            <a:pPr algn="ctr" indent="0" marL="0">
              <a:buNone/>
            </a:pPr>
            <a:r>
              <a:rPr lang="en-US" sz="1300" dirty="0">
                <a:solidFill>
                  <a:srgbClr val="5B6478"/>
                </a:solidFill>
                <a:latin typeface="Courier New" pitchFamily="34" charset="0"/>
                <a:ea typeface="Courier New" pitchFamily="34" charset="-122"/>
                <a:cs typeface="Courier New" pitchFamily="34" charset="-120"/>
              </a:rPr>
              <a:t>[0]</a:t>
            </a:r>
            <a:endParaRPr lang="en-US" sz="1300" dirty="0"/>
          </a:p>
        </p:txBody>
      </p:sp>
      <p:sp>
        <p:nvSpPr>
          <p:cNvPr id="30" name="Shape 27"/>
          <p:cNvSpPr/>
          <p:nvPr/>
        </p:nvSpPr>
        <p:spPr>
          <a:xfrm>
            <a:off x="8732520" y="2057400"/>
            <a:ext cx="777240" cy="502920"/>
          </a:xfrm>
          <a:prstGeom prst="rect">
            <a:avLst/>
          </a:prstGeom>
          <a:solidFill>
            <a:srgbClr val="FFFFFF"/>
          </a:solidFill>
          <a:ln w="15875">
            <a:solidFill>
              <a:srgbClr val="14213D"/>
            </a:solidFill>
            <a:prstDash val="solid"/>
          </a:ln>
        </p:spPr>
      </p:sp>
      <p:sp>
        <p:nvSpPr>
          <p:cNvPr id="31" name="Text 28"/>
          <p:cNvSpPr txBox="1"/>
          <p:nvPr/>
        </p:nvSpPr>
        <p:spPr>
          <a:xfrm>
            <a:off x="8732520" y="2057400"/>
            <a:ext cx="777240" cy="502920"/>
          </a:xfrm>
          <a:prstGeom prst="rect">
            <a:avLst/>
          </a:prstGeom>
          <a:noFill/>
          <a:ln/>
        </p:spPr>
        <p:txBody>
          <a:bodyPr wrap="square" lIns="0" tIns="0" rIns="0" bIns="0" rtlCol="0" anchor="ctr"/>
          <a:lstStyle/>
          <a:p>
            <a:pPr algn="ctr" indent="0" marL="0">
              <a:buNone/>
            </a:pPr>
            <a:r>
              <a:rPr lang="en-US" sz="1700" b="1" dirty="0">
                <a:solidFill>
                  <a:srgbClr val="14213D"/>
                </a:solidFill>
                <a:latin typeface="Courier New" pitchFamily="34" charset="0"/>
                <a:ea typeface="Courier New" pitchFamily="34" charset="-122"/>
                <a:cs typeface="Courier New" pitchFamily="34" charset="-120"/>
              </a:rPr>
              <a:t>2</a:t>
            </a:r>
            <a:endParaRPr lang="en-US" sz="1700" dirty="0"/>
          </a:p>
        </p:txBody>
      </p:sp>
      <p:sp>
        <p:nvSpPr>
          <p:cNvPr id="32" name="Text 29"/>
          <p:cNvSpPr txBox="1"/>
          <p:nvPr/>
        </p:nvSpPr>
        <p:spPr>
          <a:xfrm>
            <a:off x="8732520" y="2587752"/>
            <a:ext cx="777240" cy="274320"/>
          </a:xfrm>
          <a:prstGeom prst="rect">
            <a:avLst/>
          </a:prstGeom>
          <a:noFill/>
          <a:ln/>
        </p:spPr>
        <p:txBody>
          <a:bodyPr wrap="square" lIns="0" tIns="0" rIns="0" bIns="0" rtlCol="0" anchor="ctr"/>
          <a:lstStyle/>
          <a:p>
            <a:pPr algn="ctr" indent="0" marL="0">
              <a:buNone/>
            </a:pPr>
            <a:r>
              <a:rPr lang="en-US" sz="1300" dirty="0">
                <a:solidFill>
                  <a:srgbClr val="5B6478"/>
                </a:solidFill>
                <a:latin typeface="Courier New" pitchFamily="34" charset="0"/>
                <a:ea typeface="Courier New" pitchFamily="34" charset="-122"/>
                <a:cs typeface="Courier New" pitchFamily="34" charset="-120"/>
              </a:rPr>
              <a:t>[1]</a:t>
            </a:r>
            <a:endParaRPr lang="en-US" sz="1300" dirty="0"/>
          </a:p>
        </p:txBody>
      </p:sp>
      <p:sp>
        <p:nvSpPr>
          <p:cNvPr id="33" name="Shape 30"/>
          <p:cNvSpPr/>
          <p:nvPr/>
        </p:nvSpPr>
        <p:spPr>
          <a:xfrm>
            <a:off x="9509760" y="2057400"/>
            <a:ext cx="777240" cy="502920"/>
          </a:xfrm>
          <a:prstGeom prst="rect">
            <a:avLst/>
          </a:prstGeom>
          <a:solidFill>
            <a:srgbClr val="FFFFFF"/>
          </a:solidFill>
          <a:ln w="15875">
            <a:solidFill>
              <a:srgbClr val="14213D"/>
            </a:solidFill>
            <a:prstDash val="solid"/>
          </a:ln>
        </p:spPr>
      </p:sp>
      <p:sp>
        <p:nvSpPr>
          <p:cNvPr id="34" name="Text 31"/>
          <p:cNvSpPr txBox="1"/>
          <p:nvPr/>
        </p:nvSpPr>
        <p:spPr>
          <a:xfrm>
            <a:off x="9509760" y="2057400"/>
            <a:ext cx="777240" cy="502920"/>
          </a:xfrm>
          <a:prstGeom prst="rect">
            <a:avLst/>
          </a:prstGeom>
          <a:noFill/>
          <a:ln/>
        </p:spPr>
        <p:txBody>
          <a:bodyPr wrap="square" lIns="0" tIns="0" rIns="0" bIns="0" rtlCol="0" anchor="ctr"/>
          <a:lstStyle/>
          <a:p>
            <a:pPr algn="ctr" indent="0" marL="0">
              <a:buNone/>
            </a:pPr>
            <a:r>
              <a:rPr lang="en-US" sz="1700" b="1" dirty="0">
                <a:solidFill>
                  <a:srgbClr val="14213D"/>
                </a:solidFill>
                <a:latin typeface="Courier New" pitchFamily="34" charset="0"/>
                <a:ea typeface="Courier New" pitchFamily="34" charset="-122"/>
                <a:cs typeface="Courier New" pitchFamily="34" charset="-120"/>
              </a:rPr>
              <a:t>3</a:t>
            </a:r>
            <a:endParaRPr lang="en-US" sz="1700" dirty="0"/>
          </a:p>
        </p:txBody>
      </p:sp>
      <p:sp>
        <p:nvSpPr>
          <p:cNvPr id="35" name="Text 32"/>
          <p:cNvSpPr txBox="1"/>
          <p:nvPr/>
        </p:nvSpPr>
        <p:spPr>
          <a:xfrm>
            <a:off x="9509760" y="2587752"/>
            <a:ext cx="777240" cy="274320"/>
          </a:xfrm>
          <a:prstGeom prst="rect">
            <a:avLst/>
          </a:prstGeom>
          <a:noFill/>
          <a:ln/>
        </p:spPr>
        <p:txBody>
          <a:bodyPr wrap="square" lIns="0" tIns="0" rIns="0" bIns="0" rtlCol="0" anchor="ctr"/>
          <a:lstStyle/>
          <a:p>
            <a:pPr algn="ctr" indent="0" marL="0">
              <a:buNone/>
            </a:pPr>
            <a:r>
              <a:rPr lang="en-US" sz="1300" dirty="0">
                <a:solidFill>
                  <a:srgbClr val="5B6478"/>
                </a:solidFill>
                <a:latin typeface="Courier New" pitchFamily="34" charset="0"/>
                <a:ea typeface="Courier New" pitchFamily="34" charset="-122"/>
                <a:cs typeface="Courier New" pitchFamily="34" charset="-120"/>
              </a:rPr>
              <a:t>[2]</a:t>
            </a:r>
            <a:endParaRPr lang="en-US" sz="1300" dirty="0"/>
          </a:p>
        </p:txBody>
      </p:sp>
      <p:sp>
        <p:nvSpPr>
          <p:cNvPr id="36" name="Text 33"/>
          <p:cNvSpPr txBox="1"/>
          <p:nvPr/>
        </p:nvSpPr>
        <p:spPr>
          <a:xfrm>
            <a:off x="6373368" y="2075688"/>
            <a:ext cx="365760" cy="457200"/>
          </a:xfrm>
          <a:prstGeom prst="rect">
            <a:avLst/>
          </a:prstGeom>
          <a:noFill/>
          <a:ln/>
        </p:spPr>
        <p:txBody>
          <a:bodyPr wrap="square" lIns="0" tIns="0" rIns="0" bIns="0" rtlCol="0" anchor="ctr"/>
          <a:lstStyle/>
          <a:p>
            <a:pPr algn="r" indent="0" marL="0">
              <a:buNone/>
            </a:pPr>
            <a:r>
              <a:rPr lang="en-US" sz="1700" b="1" dirty="0">
                <a:solidFill>
                  <a:srgbClr val="14213D"/>
                </a:solidFill>
                <a:latin typeface="Courier New" pitchFamily="34" charset="0"/>
                <a:ea typeface="Courier New" pitchFamily="34" charset="-122"/>
                <a:cs typeface="Courier New" pitchFamily="34" charset="-120"/>
              </a:rPr>
              <a:t>a</a:t>
            </a:r>
            <a:endParaRPr lang="en-US" sz="1700" dirty="0"/>
          </a:p>
        </p:txBody>
      </p:sp>
      <p:sp>
        <p:nvSpPr>
          <p:cNvPr id="37" name="Shape 34"/>
          <p:cNvSpPr/>
          <p:nvPr/>
        </p:nvSpPr>
        <p:spPr>
          <a:xfrm>
            <a:off x="6812280" y="2075688"/>
            <a:ext cx="457200" cy="457200"/>
          </a:xfrm>
          <a:prstGeom prst="rect">
            <a:avLst/>
          </a:prstGeom>
          <a:solidFill>
            <a:srgbClr val="EEF1F6"/>
          </a:solidFill>
          <a:ln w="15875">
            <a:solidFill>
              <a:srgbClr val="14213D"/>
            </a:solidFill>
            <a:prstDash val="solid"/>
          </a:ln>
        </p:spPr>
      </p:sp>
      <p:sp>
        <p:nvSpPr>
          <p:cNvPr id="38" name="Shape 35"/>
          <p:cNvSpPr/>
          <p:nvPr/>
        </p:nvSpPr>
        <p:spPr>
          <a:xfrm>
            <a:off x="6986016" y="2249424"/>
            <a:ext cx="109728" cy="109728"/>
          </a:xfrm>
          <a:prstGeom prst="ellipse">
            <a:avLst/>
          </a:prstGeom>
          <a:solidFill>
            <a:srgbClr val="14213D"/>
          </a:solidFill>
          <a:ln w="12700">
            <a:solidFill>
              <a:srgbClr val="14213D"/>
            </a:solidFill>
            <a:prstDash val="solid"/>
          </a:ln>
        </p:spPr>
      </p:sp>
      <p:sp>
        <p:nvSpPr>
          <p:cNvPr id="39" name="Shape 36"/>
          <p:cNvSpPr/>
          <p:nvPr/>
        </p:nvSpPr>
        <p:spPr>
          <a:xfrm>
            <a:off x="7040880" y="2304288"/>
            <a:ext cx="914400" cy="0"/>
          </a:xfrm>
          <a:prstGeom prst="line">
            <a:avLst/>
          </a:prstGeom>
          <a:noFill/>
          <a:ln w="15875">
            <a:solidFill>
              <a:srgbClr val="14213D"/>
            </a:solidFill>
            <a:prstDash val="solid"/>
            <a:tailEnd type="triangle"/>
          </a:ln>
        </p:spPr>
      </p:sp>
      <p:sp>
        <p:nvSpPr>
          <p:cNvPr id="40" name="Shape 37"/>
          <p:cNvSpPr/>
          <p:nvPr/>
        </p:nvSpPr>
        <p:spPr>
          <a:xfrm>
            <a:off x="7955280" y="3017520"/>
            <a:ext cx="777240" cy="502920"/>
          </a:xfrm>
          <a:prstGeom prst="rect">
            <a:avLst/>
          </a:prstGeom>
          <a:solidFill>
            <a:srgbClr val="FFFFFF"/>
          </a:solidFill>
          <a:ln w="15875">
            <a:solidFill>
              <a:srgbClr val="14213D"/>
            </a:solidFill>
            <a:prstDash val="solid"/>
          </a:ln>
        </p:spPr>
      </p:sp>
      <p:sp>
        <p:nvSpPr>
          <p:cNvPr id="41" name="Text 38"/>
          <p:cNvSpPr txBox="1"/>
          <p:nvPr/>
        </p:nvSpPr>
        <p:spPr>
          <a:xfrm>
            <a:off x="7955280" y="3017520"/>
            <a:ext cx="777240" cy="502920"/>
          </a:xfrm>
          <a:prstGeom prst="rect">
            <a:avLst/>
          </a:prstGeom>
          <a:noFill/>
          <a:ln/>
        </p:spPr>
        <p:txBody>
          <a:bodyPr wrap="square" lIns="0" tIns="0" rIns="0" bIns="0" rtlCol="0" anchor="ctr"/>
          <a:lstStyle/>
          <a:p>
            <a:pPr algn="ctr" indent="0" marL="0">
              <a:buNone/>
            </a:pPr>
            <a:r>
              <a:rPr lang="en-US" sz="1700" b="1" dirty="0">
                <a:solidFill>
                  <a:srgbClr val="14213D"/>
                </a:solidFill>
                <a:latin typeface="Courier New" pitchFamily="34" charset="0"/>
                <a:ea typeface="Courier New" pitchFamily="34" charset="-122"/>
                <a:cs typeface="Courier New" pitchFamily="34" charset="-120"/>
              </a:rPr>
              <a:t>99</a:t>
            </a:r>
            <a:endParaRPr lang="en-US" sz="1700" dirty="0"/>
          </a:p>
        </p:txBody>
      </p:sp>
      <p:sp>
        <p:nvSpPr>
          <p:cNvPr id="42" name="Text 39"/>
          <p:cNvSpPr txBox="1"/>
          <p:nvPr/>
        </p:nvSpPr>
        <p:spPr>
          <a:xfrm>
            <a:off x="7955280" y="3547872"/>
            <a:ext cx="777240" cy="274320"/>
          </a:xfrm>
          <a:prstGeom prst="rect">
            <a:avLst/>
          </a:prstGeom>
          <a:noFill/>
          <a:ln/>
        </p:spPr>
        <p:txBody>
          <a:bodyPr wrap="square" lIns="0" tIns="0" rIns="0" bIns="0" rtlCol="0" anchor="ctr"/>
          <a:lstStyle/>
          <a:p>
            <a:pPr algn="ctr" indent="0" marL="0">
              <a:buNone/>
            </a:pPr>
            <a:r>
              <a:rPr lang="en-US" sz="1300" dirty="0">
                <a:solidFill>
                  <a:srgbClr val="5B6478"/>
                </a:solidFill>
                <a:latin typeface="Courier New" pitchFamily="34" charset="0"/>
                <a:ea typeface="Courier New" pitchFamily="34" charset="-122"/>
                <a:cs typeface="Courier New" pitchFamily="34" charset="-120"/>
              </a:rPr>
              <a:t>[0]</a:t>
            </a:r>
            <a:endParaRPr lang="en-US" sz="1300" dirty="0"/>
          </a:p>
        </p:txBody>
      </p:sp>
      <p:sp>
        <p:nvSpPr>
          <p:cNvPr id="43" name="Shape 40"/>
          <p:cNvSpPr/>
          <p:nvPr/>
        </p:nvSpPr>
        <p:spPr>
          <a:xfrm>
            <a:off x="8732520" y="3017520"/>
            <a:ext cx="777240" cy="502920"/>
          </a:xfrm>
          <a:prstGeom prst="rect">
            <a:avLst/>
          </a:prstGeom>
          <a:solidFill>
            <a:srgbClr val="FFF1D6"/>
          </a:solidFill>
          <a:ln w="15875">
            <a:solidFill>
              <a:srgbClr val="14213D"/>
            </a:solidFill>
            <a:prstDash val="solid"/>
          </a:ln>
        </p:spPr>
      </p:sp>
      <p:sp>
        <p:nvSpPr>
          <p:cNvPr id="44" name="Text 41"/>
          <p:cNvSpPr txBox="1"/>
          <p:nvPr/>
        </p:nvSpPr>
        <p:spPr>
          <a:xfrm>
            <a:off x="8732520" y="3017520"/>
            <a:ext cx="777240" cy="502920"/>
          </a:xfrm>
          <a:prstGeom prst="rect">
            <a:avLst/>
          </a:prstGeom>
          <a:noFill/>
          <a:ln/>
        </p:spPr>
        <p:txBody>
          <a:bodyPr wrap="square" lIns="0" tIns="0" rIns="0" bIns="0" rtlCol="0" anchor="ctr"/>
          <a:lstStyle/>
          <a:p>
            <a:pPr algn="ctr" indent="0" marL="0">
              <a:buNone/>
            </a:pPr>
            <a:r>
              <a:rPr lang="en-US" sz="1700" b="1" dirty="0">
                <a:solidFill>
                  <a:srgbClr val="14213D"/>
                </a:solidFill>
                <a:latin typeface="Courier New" pitchFamily="34" charset="0"/>
                <a:ea typeface="Courier New" pitchFamily="34" charset="-122"/>
                <a:cs typeface="Courier New" pitchFamily="34" charset="-120"/>
              </a:rPr>
              <a:t>77</a:t>
            </a:r>
            <a:endParaRPr lang="en-US" sz="1700" dirty="0"/>
          </a:p>
        </p:txBody>
      </p:sp>
      <p:sp>
        <p:nvSpPr>
          <p:cNvPr id="45" name="Text 42"/>
          <p:cNvSpPr txBox="1"/>
          <p:nvPr/>
        </p:nvSpPr>
        <p:spPr>
          <a:xfrm>
            <a:off x="8732520" y="3547872"/>
            <a:ext cx="777240" cy="274320"/>
          </a:xfrm>
          <a:prstGeom prst="rect">
            <a:avLst/>
          </a:prstGeom>
          <a:noFill/>
          <a:ln/>
        </p:spPr>
        <p:txBody>
          <a:bodyPr wrap="square" lIns="0" tIns="0" rIns="0" bIns="0" rtlCol="0" anchor="ctr"/>
          <a:lstStyle/>
          <a:p>
            <a:pPr algn="ctr" indent="0" marL="0">
              <a:buNone/>
            </a:pPr>
            <a:r>
              <a:rPr lang="en-US" sz="1300" dirty="0">
                <a:solidFill>
                  <a:srgbClr val="5B6478"/>
                </a:solidFill>
                <a:latin typeface="Courier New" pitchFamily="34" charset="0"/>
                <a:ea typeface="Courier New" pitchFamily="34" charset="-122"/>
                <a:cs typeface="Courier New" pitchFamily="34" charset="-120"/>
              </a:rPr>
              <a:t>[1]</a:t>
            </a:r>
            <a:endParaRPr lang="en-US" sz="1300" dirty="0"/>
          </a:p>
        </p:txBody>
      </p:sp>
      <p:sp>
        <p:nvSpPr>
          <p:cNvPr id="46" name="Shape 43"/>
          <p:cNvSpPr/>
          <p:nvPr/>
        </p:nvSpPr>
        <p:spPr>
          <a:xfrm>
            <a:off x="9509760" y="3017520"/>
            <a:ext cx="777240" cy="502920"/>
          </a:xfrm>
          <a:prstGeom prst="rect">
            <a:avLst/>
          </a:prstGeom>
          <a:solidFill>
            <a:srgbClr val="FFFFFF"/>
          </a:solidFill>
          <a:ln w="15875">
            <a:solidFill>
              <a:srgbClr val="14213D"/>
            </a:solidFill>
            <a:prstDash val="solid"/>
          </a:ln>
        </p:spPr>
      </p:sp>
      <p:sp>
        <p:nvSpPr>
          <p:cNvPr id="47" name="Text 44"/>
          <p:cNvSpPr txBox="1"/>
          <p:nvPr/>
        </p:nvSpPr>
        <p:spPr>
          <a:xfrm>
            <a:off x="9509760" y="3017520"/>
            <a:ext cx="777240" cy="502920"/>
          </a:xfrm>
          <a:prstGeom prst="rect">
            <a:avLst/>
          </a:prstGeom>
          <a:noFill/>
          <a:ln/>
        </p:spPr>
        <p:txBody>
          <a:bodyPr wrap="square" lIns="0" tIns="0" rIns="0" bIns="0" rtlCol="0" anchor="ctr"/>
          <a:lstStyle/>
          <a:p>
            <a:pPr algn="ctr" indent="0" marL="0">
              <a:buNone/>
            </a:pPr>
            <a:r>
              <a:rPr lang="en-US" sz="1700" b="1" dirty="0">
                <a:solidFill>
                  <a:srgbClr val="14213D"/>
                </a:solidFill>
                <a:latin typeface="Courier New" pitchFamily="34" charset="0"/>
                <a:ea typeface="Courier New" pitchFamily="34" charset="-122"/>
                <a:cs typeface="Courier New" pitchFamily="34" charset="-120"/>
              </a:rPr>
              <a:t>3</a:t>
            </a:r>
            <a:endParaRPr lang="en-US" sz="1700" dirty="0"/>
          </a:p>
        </p:txBody>
      </p:sp>
      <p:sp>
        <p:nvSpPr>
          <p:cNvPr id="48" name="Text 45"/>
          <p:cNvSpPr txBox="1"/>
          <p:nvPr/>
        </p:nvSpPr>
        <p:spPr>
          <a:xfrm>
            <a:off x="9509760" y="3547872"/>
            <a:ext cx="777240" cy="274320"/>
          </a:xfrm>
          <a:prstGeom prst="rect">
            <a:avLst/>
          </a:prstGeom>
          <a:noFill/>
          <a:ln/>
        </p:spPr>
        <p:txBody>
          <a:bodyPr wrap="square" lIns="0" tIns="0" rIns="0" bIns="0" rtlCol="0" anchor="ctr"/>
          <a:lstStyle/>
          <a:p>
            <a:pPr algn="ctr" indent="0" marL="0">
              <a:buNone/>
            </a:pPr>
            <a:r>
              <a:rPr lang="en-US" sz="1300" dirty="0">
                <a:solidFill>
                  <a:srgbClr val="5B6478"/>
                </a:solidFill>
                <a:latin typeface="Courier New" pitchFamily="34" charset="0"/>
                <a:ea typeface="Courier New" pitchFamily="34" charset="-122"/>
                <a:cs typeface="Courier New" pitchFamily="34" charset="-120"/>
              </a:rPr>
              <a:t>[2]</a:t>
            </a:r>
            <a:endParaRPr lang="en-US" sz="1300" dirty="0"/>
          </a:p>
        </p:txBody>
      </p:sp>
      <p:sp>
        <p:nvSpPr>
          <p:cNvPr id="49" name="Text 46"/>
          <p:cNvSpPr txBox="1"/>
          <p:nvPr/>
        </p:nvSpPr>
        <p:spPr>
          <a:xfrm>
            <a:off x="6373368" y="3035808"/>
            <a:ext cx="365760" cy="457200"/>
          </a:xfrm>
          <a:prstGeom prst="rect">
            <a:avLst/>
          </a:prstGeom>
          <a:noFill/>
          <a:ln/>
        </p:spPr>
        <p:txBody>
          <a:bodyPr wrap="square" lIns="0" tIns="0" rIns="0" bIns="0" rtlCol="0" anchor="ctr"/>
          <a:lstStyle/>
          <a:p>
            <a:pPr algn="r" indent="0" marL="0">
              <a:buNone/>
            </a:pPr>
            <a:r>
              <a:rPr lang="en-US" sz="1700" b="1" dirty="0">
                <a:solidFill>
                  <a:srgbClr val="2E9E6A"/>
                </a:solidFill>
                <a:latin typeface="Courier New" pitchFamily="34" charset="0"/>
                <a:ea typeface="Courier New" pitchFamily="34" charset="-122"/>
                <a:cs typeface="Courier New" pitchFamily="34" charset="-120"/>
              </a:rPr>
              <a:t>c</a:t>
            </a:r>
            <a:endParaRPr lang="en-US" sz="1700" dirty="0"/>
          </a:p>
        </p:txBody>
      </p:sp>
      <p:sp>
        <p:nvSpPr>
          <p:cNvPr id="50" name="Shape 47"/>
          <p:cNvSpPr/>
          <p:nvPr/>
        </p:nvSpPr>
        <p:spPr>
          <a:xfrm>
            <a:off x="6812280" y="3035808"/>
            <a:ext cx="457200" cy="457200"/>
          </a:xfrm>
          <a:prstGeom prst="rect">
            <a:avLst/>
          </a:prstGeom>
          <a:solidFill>
            <a:srgbClr val="EEF1F6"/>
          </a:solidFill>
          <a:ln w="15875">
            <a:solidFill>
              <a:srgbClr val="2E9E6A"/>
            </a:solidFill>
            <a:prstDash val="solid"/>
          </a:ln>
        </p:spPr>
      </p:sp>
      <p:sp>
        <p:nvSpPr>
          <p:cNvPr id="51" name="Shape 48"/>
          <p:cNvSpPr/>
          <p:nvPr/>
        </p:nvSpPr>
        <p:spPr>
          <a:xfrm>
            <a:off x="6986016" y="3209544"/>
            <a:ext cx="109728" cy="109728"/>
          </a:xfrm>
          <a:prstGeom prst="ellipse">
            <a:avLst/>
          </a:prstGeom>
          <a:solidFill>
            <a:srgbClr val="2E9E6A"/>
          </a:solidFill>
          <a:ln w="12700">
            <a:solidFill>
              <a:srgbClr val="2E9E6A"/>
            </a:solidFill>
            <a:prstDash val="solid"/>
          </a:ln>
        </p:spPr>
      </p:sp>
      <p:sp>
        <p:nvSpPr>
          <p:cNvPr id="52" name="Shape 49"/>
          <p:cNvSpPr/>
          <p:nvPr/>
        </p:nvSpPr>
        <p:spPr>
          <a:xfrm>
            <a:off x="7040880" y="3264408"/>
            <a:ext cx="914400" cy="0"/>
          </a:xfrm>
          <a:prstGeom prst="line">
            <a:avLst/>
          </a:prstGeom>
          <a:noFill/>
          <a:ln w="15875">
            <a:solidFill>
              <a:srgbClr val="2E9E6A"/>
            </a:solidFill>
            <a:prstDash val="solid"/>
            <a:tailEnd type="triangle"/>
          </a:ln>
        </p:spPr>
      </p:sp>
      <p:sp>
        <p:nvSpPr>
          <p:cNvPr id="53" name="Text 50"/>
          <p:cNvSpPr txBox="1"/>
          <p:nvPr/>
        </p:nvSpPr>
        <p:spPr>
          <a:xfrm>
            <a:off x="6355080" y="3886200"/>
            <a:ext cx="5303520" cy="457200"/>
          </a:xfrm>
          <a:prstGeom prst="rect">
            <a:avLst/>
          </a:prstGeom>
          <a:noFill/>
          <a:ln/>
        </p:spPr>
        <p:txBody>
          <a:bodyPr wrap="square" lIns="0" tIns="0" rIns="0" bIns="0" rtlCol="0" anchor="t"/>
          <a:lstStyle/>
          <a:p>
            <a:pPr indent="0" marL="0">
              <a:buNone/>
            </a:pPr>
            <a:r>
              <a:rPr lang="en-US" sz="1500" dirty="0">
                <a:solidFill>
                  <a:srgbClr val="333B4F"/>
                </a:solidFill>
                <a:latin typeface="Calibri" pitchFamily="34" charset="0"/>
                <a:ea typeface="Calibri" pitchFamily="34" charset="-122"/>
                <a:cs typeface="Calibri" pitchFamily="34" charset="-120"/>
              </a:rPr>
              <a:t>c[1] = 77 changes only the copy.</a:t>
            </a:r>
            <a:endParaRPr lang="en-US" sz="15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48640" y="4434840"/>
          <a:ext cx="11109960" cy="914400"/>
        </p:xfrm>
        <a:graphic>
          <a:graphicData uri="http://schemas.openxmlformats.org/drawingml/2006/table">
            <a:tbl>
              <a:tblPr/>
              <a:tblGrid>
                <a:gridCol w="4023360"/>
                <a:gridCol w="3566160"/>
                <a:gridCol w="3520440"/>
              </a:tblGrid>
              <a:tr h="329184">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Statement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Copies …</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After changing the new name</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329184">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int y = x;</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the value (value type)</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x unchanged</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29184">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int[] b = a;</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the reference only</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a changed too!</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329184">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int[] c = (int[])a.Clone();</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all elements (new array)</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a unchanged</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29184">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copy loop into new int[a.Length]</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all elements (new array)</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a unchanged</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COPY OR SECOND NAME? · CODE</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Proving It with a Program</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9</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30</a:t>
            </a:r>
            <a:endParaRPr lang="en-US" sz="1000" dirty="0"/>
          </a:p>
        </p:txBody>
      </p:sp>
      <p:sp>
        <p:nvSpPr>
          <p:cNvPr id="7" name="Shape 4"/>
          <p:cNvSpPr/>
          <p:nvPr/>
        </p:nvSpPr>
        <p:spPr>
          <a:xfrm>
            <a:off x="548640" y="1645920"/>
            <a:ext cx="6400800" cy="4434840"/>
          </a:xfrm>
          <a:prstGeom prst="roundRect">
            <a:avLst>
              <a:gd name="adj" fmla="val 2062"/>
            </a:avLst>
          </a:prstGeom>
          <a:solidFill>
            <a:srgbClr val="0F1729"/>
          </a:solidFill>
          <a:ln w="12700">
            <a:solidFill>
              <a:srgbClr val="0F1729"/>
            </a:solidFill>
            <a:prstDash val="solid"/>
          </a:ln>
        </p:spPr>
      </p:sp>
      <p:sp>
        <p:nvSpPr>
          <p:cNvPr id="8" name="Text 5"/>
          <p:cNvSpPr txBox="1"/>
          <p:nvPr/>
        </p:nvSpPr>
        <p:spPr>
          <a:xfrm>
            <a:off x="777240" y="1755648"/>
            <a:ext cx="594360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09_10_CopyVsReference (excerpt)</a:t>
            </a:r>
            <a:endParaRPr lang="en-US" sz="1100" dirty="0"/>
          </a:p>
        </p:txBody>
      </p:sp>
      <p:sp>
        <p:nvSpPr>
          <p:cNvPr id="9" name="Text 6"/>
          <p:cNvSpPr txBox="1"/>
          <p:nvPr/>
        </p:nvSpPr>
        <p:spPr>
          <a:xfrm>
            <a:off x="777240" y="2057400"/>
            <a:ext cx="5943600" cy="3913632"/>
          </a:xfrm>
          <a:prstGeom prst="rect">
            <a:avLst/>
          </a:prstGeom>
          <a:noFill/>
          <a:ln/>
        </p:spPr>
        <p:txBody>
          <a:bodyPr wrap="square" lIns="0" tIns="0" rIns="0" bIns="0" rtlCol="0" anchor="t"/>
          <a:lstStyle/>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 =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2</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3</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b = a;</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b[</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99</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   a = {string.Join("</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 a)}"</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   b = {string.Join("</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 b)}"</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c =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[])a.Clone();</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c[</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77</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   a = {string.Join("</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 a)}"</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   c = {string.Join("</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 c)}"</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d =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new</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[a.Length];</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 &lt; a.Length; i++)</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d[i] = a[i];</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d[</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2</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55</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   a = {string.Join("</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 a)}"</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   d = {string.Join("</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 d)}"</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$"a == b: {a == b},  a == c: {a == c}"</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0" name="Shape 7"/>
          <p:cNvSpPr/>
          <p:nvPr/>
        </p:nvSpPr>
        <p:spPr>
          <a:xfrm>
            <a:off x="7178040" y="1645920"/>
            <a:ext cx="4480560" cy="4434840"/>
          </a:xfrm>
          <a:prstGeom prst="roundRect">
            <a:avLst>
              <a:gd name="adj" fmla="val 2062"/>
            </a:avLst>
          </a:prstGeom>
          <a:solidFill>
            <a:srgbClr val="0B0F19"/>
          </a:solidFill>
          <a:ln w="12700">
            <a:solidFill>
              <a:srgbClr val="2A3654"/>
            </a:solidFill>
            <a:prstDash val="solid"/>
          </a:ln>
        </p:spPr>
      </p:sp>
      <p:sp>
        <p:nvSpPr>
          <p:cNvPr id="11" name="Shape 8"/>
          <p:cNvSpPr/>
          <p:nvPr/>
        </p:nvSpPr>
        <p:spPr>
          <a:xfrm>
            <a:off x="7360920" y="1773936"/>
            <a:ext cx="118872" cy="118872"/>
          </a:xfrm>
          <a:prstGeom prst="ellipse">
            <a:avLst/>
          </a:prstGeom>
          <a:solidFill>
            <a:srgbClr val="FF5F57"/>
          </a:solidFill>
          <a:ln w="12700">
            <a:solidFill>
              <a:srgbClr val="FF5F57"/>
            </a:solidFill>
            <a:prstDash val="solid"/>
          </a:ln>
        </p:spPr>
      </p:sp>
      <p:sp>
        <p:nvSpPr>
          <p:cNvPr id="12" name="Shape 9"/>
          <p:cNvSpPr/>
          <p:nvPr/>
        </p:nvSpPr>
        <p:spPr>
          <a:xfrm>
            <a:off x="7589520" y="1773936"/>
            <a:ext cx="118872" cy="118872"/>
          </a:xfrm>
          <a:prstGeom prst="ellipse">
            <a:avLst/>
          </a:prstGeom>
          <a:solidFill>
            <a:srgbClr val="FEBC2E"/>
          </a:solidFill>
          <a:ln w="12700">
            <a:solidFill>
              <a:srgbClr val="FEBC2E"/>
            </a:solidFill>
            <a:prstDash val="solid"/>
          </a:ln>
        </p:spPr>
      </p:sp>
      <p:sp>
        <p:nvSpPr>
          <p:cNvPr id="13" name="Shape 10"/>
          <p:cNvSpPr/>
          <p:nvPr/>
        </p:nvSpPr>
        <p:spPr>
          <a:xfrm>
            <a:off x="7818120" y="1773936"/>
            <a:ext cx="118872" cy="118872"/>
          </a:xfrm>
          <a:prstGeom prst="ellipse">
            <a:avLst/>
          </a:prstGeom>
          <a:solidFill>
            <a:srgbClr val="28C840"/>
          </a:solidFill>
          <a:ln w="12700">
            <a:solidFill>
              <a:srgbClr val="28C840"/>
            </a:solidFill>
            <a:prstDash val="solid"/>
          </a:ln>
        </p:spPr>
      </p:sp>
      <p:sp>
        <p:nvSpPr>
          <p:cNvPr id="14" name="Text 11"/>
          <p:cNvSpPr txBox="1"/>
          <p:nvPr/>
        </p:nvSpPr>
        <p:spPr>
          <a:xfrm>
            <a:off x="8092440" y="1719072"/>
            <a:ext cx="338328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15" name="Text 12"/>
          <p:cNvSpPr txBox="1"/>
          <p:nvPr/>
        </p:nvSpPr>
        <p:spPr>
          <a:xfrm>
            <a:off x="7406640" y="2029968"/>
            <a:ext cx="4023360" cy="3931920"/>
          </a:xfrm>
          <a:prstGeom prst="rect">
            <a:avLst/>
          </a:prstGeom>
          <a:noFill/>
          <a:ln/>
        </p:spPr>
        <p:txBody>
          <a:bodyPr wrap="square" lIns="0" tIns="0" rIns="0" bIns="0" rtlCol="0" anchor="t"/>
          <a:lstStyle/>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1) int[] b = a;  b[0] = 99;</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   a = 99, 2, 3</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   b = 99, 2, 3</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2) int[] c = (int[])a.Clone();  c[1] = 77;</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   a = 99, 2, 3</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   c = 99, 77, 3</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3) copy loop into d;  d[2] = 55;</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   a = 99, 2, 3</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   d = 99, 2, 55</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a == b: True,  a == c: False</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int: x = 1, y = 99</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PATTERN: BUILD FROM EARLIER ELEMENTS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Fibonacci and Running Totals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9</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31</a:t>
            </a:r>
            <a:endParaRPr lang="en-US" sz="1000" dirty="0"/>
          </a:p>
        </p:txBody>
      </p:sp>
      <p:sp>
        <p:nvSpPr>
          <p:cNvPr id="7" name="Shape 4"/>
          <p:cNvSpPr/>
          <p:nvPr/>
        </p:nvSpPr>
        <p:spPr>
          <a:xfrm>
            <a:off x="548640" y="1645920"/>
            <a:ext cx="5486400" cy="2103120"/>
          </a:xfrm>
          <a:prstGeom prst="roundRect">
            <a:avLst>
              <a:gd name="adj" fmla="val 4348"/>
            </a:avLst>
          </a:prstGeom>
          <a:solidFill>
            <a:srgbClr val="0F1729"/>
          </a:solidFill>
          <a:ln w="12700">
            <a:solidFill>
              <a:srgbClr val="0F1729"/>
            </a:solidFill>
            <a:prstDash val="solid"/>
          </a:ln>
        </p:spPr>
      </p:sp>
      <p:sp>
        <p:nvSpPr>
          <p:cNvPr id="8" name="Text 5"/>
          <p:cNvSpPr txBox="1"/>
          <p:nvPr/>
        </p:nvSpPr>
        <p:spPr>
          <a:xfrm>
            <a:off x="777240" y="1755648"/>
            <a:ext cx="502920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09_11_FibonacciArray (excerpt)</a:t>
            </a:r>
            <a:endParaRPr lang="en-US" sz="1100" dirty="0"/>
          </a:p>
        </p:txBody>
      </p:sp>
      <p:sp>
        <p:nvSpPr>
          <p:cNvPr id="9" name="Text 6"/>
          <p:cNvSpPr txBox="1"/>
          <p:nvPr/>
        </p:nvSpPr>
        <p:spPr>
          <a:xfrm>
            <a:off x="777240" y="2057400"/>
            <a:ext cx="5029200" cy="1581912"/>
          </a:xfrm>
          <a:prstGeom prst="rect">
            <a:avLst/>
          </a:prstGeom>
          <a:noFill/>
          <a:ln/>
        </p:spPr>
        <p:txBody>
          <a:bodyPr wrap="square" lIns="0" tIns="0" rIns="0" bIns="0" rtlCol="0" anchor="t"/>
          <a:lstStyle/>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long</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fib =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new</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long</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[n];</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fib[</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fib[</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2</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 &lt; n; i++)</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fib[i] = fib[i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fib[i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2</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0" name="Shape 7"/>
          <p:cNvSpPr/>
          <p:nvPr/>
        </p:nvSpPr>
        <p:spPr>
          <a:xfrm>
            <a:off x="1234440" y="3931920"/>
            <a:ext cx="566928" cy="438912"/>
          </a:xfrm>
          <a:prstGeom prst="rect">
            <a:avLst/>
          </a:prstGeom>
          <a:solidFill>
            <a:srgbClr val="FFFFFF"/>
          </a:solidFill>
          <a:ln w="15875">
            <a:solidFill>
              <a:srgbClr val="14213D"/>
            </a:solidFill>
            <a:prstDash val="solid"/>
          </a:ln>
        </p:spPr>
      </p:sp>
      <p:sp>
        <p:nvSpPr>
          <p:cNvPr id="11" name="Text 8"/>
          <p:cNvSpPr txBox="1"/>
          <p:nvPr/>
        </p:nvSpPr>
        <p:spPr>
          <a:xfrm>
            <a:off x="1234440" y="3931920"/>
            <a:ext cx="566928" cy="438912"/>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0</a:t>
            </a:r>
            <a:endParaRPr lang="en-US" sz="1400" dirty="0"/>
          </a:p>
        </p:txBody>
      </p:sp>
      <p:sp>
        <p:nvSpPr>
          <p:cNvPr id="12" name="Text 9"/>
          <p:cNvSpPr txBox="1"/>
          <p:nvPr/>
        </p:nvSpPr>
        <p:spPr>
          <a:xfrm>
            <a:off x="1234440" y="4398264"/>
            <a:ext cx="566928" cy="274320"/>
          </a:xfrm>
          <a:prstGeom prst="rect">
            <a:avLst/>
          </a:prstGeom>
          <a:noFill/>
          <a:ln/>
        </p:spPr>
        <p:txBody>
          <a:bodyPr wrap="square" lIns="0" tIns="0" rIns="0" bIns="0" rtlCol="0" anchor="ctr"/>
          <a:lstStyle/>
          <a:p>
            <a:pPr algn="ctr" indent="0" marL="0">
              <a:buNone/>
            </a:pPr>
            <a:r>
              <a:rPr lang="en-US" sz="1100" dirty="0">
                <a:solidFill>
                  <a:srgbClr val="5B6478"/>
                </a:solidFill>
                <a:latin typeface="Courier New" pitchFamily="34" charset="0"/>
                <a:ea typeface="Courier New" pitchFamily="34" charset="-122"/>
                <a:cs typeface="Courier New" pitchFamily="34" charset="-120"/>
              </a:rPr>
              <a:t>[0]</a:t>
            </a:r>
            <a:endParaRPr lang="en-US" sz="1100" dirty="0"/>
          </a:p>
        </p:txBody>
      </p:sp>
      <p:sp>
        <p:nvSpPr>
          <p:cNvPr id="13" name="Shape 10"/>
          <p:cNvSpPr/>
          <p:nvPr/>
        </p:nvSpPr>
        <p:spPr>
          <a:xfrm>
            <a:off x="1801368" y="3931920"/>
            <a:ext cx="566928" cy="438912"/>
          </a:xfrm>
          <a:prstGeom prst="rect">
            <a:avLst/>
          </a:prstGeom>
          <a:solidFill>
            <a:srgbClr val="FFFFFF"/>
          </a:solidFill>
          <a:ln w="15875">
            <a:solidFill>
              <a:srgbClr val="14213D"/>
            </a:solidFill>
            <a:prstDash val="solid"/>
          </a:ln>
        </p:spPr>
      </p:sp>
      <p:sp>
        <p:nvSpPr>
          <p:cNvPr id="14" name="Text 11"/>
          <p:cNvSpPr txBox="1"/>
          <p:nvPr/>
        </p:nvSpPr>
        <p:spPr>
          <a:xfrm>
            <a:off x="1801368" y="3931920"/>
            <a:ext cx="566928" cy="438912"/>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1</a:t>
            </a:r>
            <a:endParaRPr lang="en-US" sz="1400" dirty="0"/>
          </a:p>
        </p:txBody>
      </p:sp>
      <p:sp>
        <p:nvSpPr>
          <p:cNvPr id="15" name="Text 12"/>
          <p:cNvSpPr txBox="1"/>
          <p:nvPr/>
        </p:nvSpPr>
        <p:spPr>
          <a:xfrm>
            <a:off x="1801368" y="4398264"/>
            <a:ext cx="566928" cy="274320"/>
          </a:xfrm>
          <a:prstGeom prst="rect">
            <a:avLst/>
          </a:prstGeom>
          <a:noFill/>
          <a:ln/>
        </p:spPr>
        <p:txBody>
          <a:bodyPr wrap="square" lIns="0" tIns="0" rIns="0" bIns="0" rtlCol="0" anchor="ctr"/>
          <a:lstStyle/>
          <a:p>
            <a:pPr algn="ctr" indent="0" marL="0">
              <a:buNone/>
            </a:pPr>
            <a:r>
              <a:rPr lang="en-US" sz="1100" dirty="0">
                <a:solidFill>
                  <a:srgbClr val="5B6478"/>
                </a:solidFill>
                <a:latin typeface="Courier New" pitchFamily="34" charset="0"/>
                <a:ea typeface="Courier New" pitchFamily="34" charset="-122"/>
                <a:cs typeface="Courier New" pitchFamily="34" charset="-120"/>
              </a:rPr>
              <a:t>[1]</a:t>
            </a:r>
            <a:endParaRPr lang="en-US" sz="1100" dirty="0"/>
          </a:p>
        </p:txBody>
      </p:sp>
      <p:sp>
        <p:nvSpPr>
          <p:cNvPr id="16" name="Shape 13"/>
          <p:cNvSpPr/>
          <p:nvPr/>
        </p:nvSpPr>
        <p:spPr>
          <a:xfrm>
            <a:off x="2368296" y="3931920"/>
            <a:ext cx="566928" cy="438912"/>
          </a:xfrm>
          <a:prstGeom prst="rect">
            <a:avLst/>
          </a:prstGeom>
          <a:solidFill>
            <a:srgbClr val="FFFFFF"/>
          </a:solidFill>
          <a:ln w="15875">
            <a:solidFill>
              <a:srgbClr val="14213D"/>
            </a:solidFill>
            <a:prstDash val="solid"/>
          </a:ln>
        </p:spPr>
      </p:sp>
      <p:sp>
        <p:nvSpPr>
          <p:cNvPr id="17" name="Text 14"/>
          <p:cNvSpPr txBox="1"/>
          <p:nvPr/>
        </p:nvSpPr>
        <p:spPr>
          <a:xfrm>
            <a:off x="2368296" y="3931920"/>
            <a:ext cx="566928" cy="438912"/>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1</a:t>
            </a:r>
            <a:endParaRPr lang="en-US" sz="1400" dirty="0"/>
          </a:p>
        </p:txBody>
      </p:sp>
      <p:sp>
        <p:nvSpPr>
          <p:cNvPr id="18" name="Text 15"/>
          <p:cNvSpPr txBox="1"/>
          <p:nvPr/>
        </p:nvSpPr>
        <p:spPr>
          <a:xfrm>
            <a:off x="2368296" y="4398264"/>
            <a:ext cx="566928" cy="274320"/>
          </a:xfrm>
          <a:prstGeom prst="rect">
            <a:avLst/>
          </a:prstGeom>
          <a:noFill/>
          <a:ln/>
        </p:spPr>
        <p:txBody>
          <a:bodyPr wrap="square" lIns="0" tIns="0" rIns="0" bIns="0" rtlCol="0" anchor="ctr"/>
          <a:lstStyle/>
          <a:p>
            <a:pPr algn="ctr" indent="0" marL="0">
              <a:buNone/>
            </a:pPr>
            <a:r>
              <a:rPr lang="en-US" sz="1100" dirty="0">
                <a:solidFill>
                  <a:srgbClr val="5B6478"/>
                </a:solidFill>
                <a:latin typeface="Courier New" pitchFamily="34" charset="0"/>
                <a:ea typeface="Courier New" pitchFamily="34" charset="-122"/>
                <a:cs typeface="Courier New" pitchFamily="34" charset="-120"/>
              </a:rPr>
              <a:t>[2]</a:t>
            </a:r>
            <a:endParaRPr lang="en-US" sz="1100" dirty="0"/>
          </a:p>
        </p:txBody>
      </p:sp>
      <p:sp>
        <p:nvSpPr>
          <p:cNvPr id="19" name="Shape 16"/>
          <p:cNvSpPr/>
          <p:nvPr/>
        </p:nvSpPr>
        <p:spPr>
          <a:xfrm>
            <a:off x="2935224" y="3931920"/>
            <a:ext cx="566928" cy="438912"/>
          </a:xfrm>
          <a:prstGeom prst="rect">
            <a:avLst/>
          </a:prstGeom>
          <a:solidFill>
            <a:srgbClr val="FFFFFF"/>
          </a:solidFill>
          <a:ln w="15875">
            <a:solidFill>
              <a:srgbClr val="14213D"/>
            </a:solidFill>
            <a:prstDash val="solid"/>
          </a:ln>
        </p:spPr>
      </p:sp>
      <p:sp>
        <p:nvSpPr>
          <p:cNvPr id="20" name="Text 17"/>
          <p:cNvSpPr txBox="1"/>
          <p:nvPr/>
        </p:nvSpPr>
        <p:spPr>
          <a:xfrm>
            <a:off x="2935224" y="3931920"/>
            <a:ext cx="566928" cy="438912"/>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2</a:t>
            </a:r>
            <a:endParaRPr lang="en-US" sz="1400" dirty="0"/>
          </a:p>
        </p:txBody>
      </p:sp>
      <p:sp>
        <p:nvSpPr>
          <p:cNvPr id="21" name="Text 18"/>
          <p:cNvSpPr txBox="1"/>
          <p:nvPr/>
        </p:nvSpPr>
        <p:spPr>
          <a:xfrm>
            <a:off x="2935224" y="4398264"/>
            <a:ext cx="566928" cy="274320"/>
          </a:xfrm>
          <a:prstGeom prst="rect">
            <a:avLst/>
          </a:prstGeom>
          <a:noFill/>
          <a:ln/>
        </p:spPr>
        <p:txBody>
          <a:bodyPr wrap="square" lIns="0" tIns="0" rIns="0" bIns="0" rtlCol="0" anchor="ctr"/>
          <a:lstStyle/>
          <a:p>
            <a:pPr algn="ctr" indent="0" marL="0">
              <a:buNone/>
            </a:pPr>
            <a:r>
              <a:rPr lang="en-US" sz="1100" dirty="0">
                <a:solidFill>
                  <a:srgbClr val="5B6478"/>
                </a:solidFill>
                <a:latin typeface="Courier New" pitchFamily="34" charset="0"/>
                <a:ea typeface="Courier New" pitchFamily="34" charset="-122"/>
                <a:cs typeface="Courier New" pitchFamily="34" charset="-120"/>
              </a:rPr>
              <a:t>[3]</a:t>
            </a:r>
            <a:endParaRPr lang="en-US" sz="1100" dirty="0"/>
          </a:p>
        </p:txBody>
      </p:sp>
      <p:sp>
        <p:nvSpPr>
          <p:cNvPr id="22" name="Shape 19"/>
          <p:cNvSpPr/>
          <p:nvPr/>
        </p:nvSpPr>
        <p:spPr>
          <a:xfrm>
            <a:off x="3502152" y="3931920"/>
            <a:ext cx="566928" cy="438912"/>
          </a:xfrm>
          <a:prstGeom prst="rect">
            <a:avLst/>
          </a:prstGeom>
          <a:solidFill>
            <a:srgbClr val="E3ECF8"/>
          </a:solidFill>
          <a:ln w="15875">
            <a:solidFill>
              <a:srgbClr val="14213D"/>
            </a:solidFill>
            <a:prstDash val="solid"/>
          </a:ln>
        </p:spPr>
      </p:sp>
      <p:sp>
        <p:nvSpPr>
          <p:cNvPr id="23" name="Text 20"/>
          <p:cNvSpPr txBox="1"/>
          <p:nvPr/>
        </p:nvSpPr>
        <p:spPr>
          <a:xfrm>
            <a:off x="3502152" y="3931920"/>
            <a:ext cx="566928" cy="438912"/>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3</a:t>
            </a:r>
            <a:endParaRPr lang="en-US" sz="1400" dirty="0"/>
          </a:p>
        </p:txBody>
      </p:sp>
      <p:sp>
        <p:nvSpPr>
          <p:cNvPr id="24" name="Text 21"/>
          <p:cNvSpPr txBox="1"/>
          <p:nvPr/>
        </p:nvSpPr>
        <p:spPr>
          <a:xfrm>
            <a:off x="3502152" y="4398264"/>
            <a:ext cx="566928" cy="274320"/>
          </a:xfrm>
          <a:prstGeom prst="rect">
            <a:avLst/>
          </a:prstGeom>
          <a:noFill/>
          <a:ln/>
        </p:spPr>
        <p:txBody>
          <a:bodyPr wrap="square" lIns="0" tIns="0" rIns="0" bIns="0" rtlCol="0" anchor="ctr"/>
          <a:lstStyle/>
          <a:p>
            <a:pPr algn="ctr" indent="0" marL="0">
              <a:buNone/>
            </a:pPr>
            <a:r>
              <a:rPr lang="en-US" sz="1100" dirty="0">
                <a:solidFill>
                  <a:srgbClr val="5B6478"/>
                </a:solidFill>
                <a:latin typeface="Courier New" pitchFamily="34" charset="0"/>
                <a:ea typeface="Courier New" pitchFamily="34" charset="-122"/>
                <a:cs typeface="Courier New" pitchFamily="34" charset="-120"/>
              </a:rPr>
              <a:t>[4]</a:t>
            </a:r>
            <a:endParaRPr lang="en-US" sz="1100" dirty="0"/>
          </a:p>
        </p:txBody>
      </p:sp>
      <p:sp>
        <p:nvSpPr>
          <p:cNvPr id="25" name="Shape 22"/>
          <p:cNvSpPr/>
          <p:nvPr/>
        </p:nvSpPr>
        <p:spPr>
          <a:xfrm>
            <a:off x="4069080" y="3931920"/>
            <a:ext cx="566928" cy="438912"/>
          </a:xfrm>
          <a:prstGeom prst="rect">
            <a:avLst/>
          </a:prstGeom>
          <a:solidFill>
            <a:srgbClr val="E3ECF8"/>
          </a:solidFill>
          <a:ln w="15875">
            <a:solidFill>
              <a:srgbClr val="14213D"/>
            </a:solidFill>
            <a:prstDash val="solid"/>
          </a:ln>
        </p:spPr>
      </p:sp>
      <p:sp>
        <p:nvSpPr>
          <p:cNvPr id="26" name="Text 23"/>
          <p:cNvSpPr txBox="1"/>
          <p:nvPr/>
        </p:nvSpPr>
        <p:spPr>
          <a:xfrm>
            <a:off x="4069080" y="3931920"/>
            <a:ext cx="566928" cy="438912"/>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5</a:t>
            </a:r>
            <a:endParaRPr lang="en-US" sz="1400" dirty="0"/>
          </a:p>
        </p:txBody>
      </p:sp>
      <p:sp>
        <p:nvSpPr>
          <p:cNvPr id="27" name="Text 24"/>
          <p:cNvSpPr txBox="1"/>
          <p:nvPr/>
        </p:nvSpPr>
        <p:spPr>
          <a:xfrm>
            <a:off x="4069080" y="4398264"/>
            <a:ext cx="566928" cy="274320"/>
          </a:xfrm>
          <a:prstGeom prst="rect">
            <a:avLst/>
          </a:prstGeom>
          <a:noFill/>
          <a:ln/>
        </p:spPr>
        <p:txBody>
          <a:bodyPr wrap="square" lIns="0" tIns="0" rIns="0" bIns="0" rtlCol="0" anchor="ctr"/>
          <a:lstStyle/>
          <a:p>
            <a:pPr algn="ctr" indent="0" marL="0">
              <a:buNone/>
            </a:pPr>
            <a:r>
              <a:rPr lang="en-US" sz="1100" dirty="0">
                <a:solidFill>
                  <a:srgbClr val="5B6478"/>
                </a:solidFill>
                <a:latin typeface="Courier New" pitchFamily="34" charset="0"/>
                <a:ea typeface="Courier New" pitchFamily="34" charset="-122"/>
                <a:cs typeface="Courier New" pitchFamily="34" charset="-120"/>
              </a:rPr>
              <a:t>[5]</a:t>
            </a:r>
            <a:endParaRPr lang="en-US" sz="1100" dirty="0"/>
          </a:p>
        </p:txBody>
      </p:sp>
      <p:sp>
        <p:nvSpPr>
          <p:cNvPr id="28" name="Shape 25"/>
          <p:cNvSpPr/>
          <p:nvPr/>
        </p:nvSpPr>
        <p:spPr>
          <a:xfrm>
            <a:off x="4636008" y="3931920"/>
            <a:ext cx="566928" cy="438912"/>
          </a:xfrm>
          <a:prstGeom prst="rect">
            <a:avLst/>
          </a:prstGeom>
          <a:solidFill>
            <a:srgbClr val="FFF1D6"/>
          </a:solidFill>
          <a:ln w="15875">
            <a:solidFill>
              <a:srgbClr val="14213D"/>
            </a:solidFill>
            <a:prstDash val="solid"/>
          </a:ln>
        </p:spPr>
      </p:sp>
      <p:sp>
        <p:nvSpPr>
          <p:cNvPr id="29" name="Text 26"/>
          <p:cNvSpPr txBox="1"/>
          <p:nvPr/>
        </p:nvSpPr>
        <p:spPr>
          <a:xfrm>
            <a:off x="4636008" y="3931920"/>
            <a:ext cx="566928" cy="438912"/>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8</a:t>
            </a:r>
            <a:endParaRPr lang="en-US" sz="1400" dirty="0"/>
          </a:p>
        </p:txBody>
      </p:sp>
      <p:sp>
        <p:nvSpPr>
          <p:cNvPr id="30" name="Text 27"/>
          <p:cNvSpPr txBox="1"/>
          <p:nvPr/>
        </p:nvSpPr>
        <p:spPr>
          <a:xfrm>
            <a:off x="4636008" y="4398264"/>
            <a:ext cx="566928" cy="274320"/>
          </a:xfrm>
          <a:prstGeom prst="rect">
            <a:avLst/>
          </a:prstGeom>
          <a:noFill/>
          <a:ln/>
        </p:spPr>
        <p:txBody>
          <a:bodyPr wrap="square" lIns="0" tIns="0" rIns="0" bIns="0" rtlCol="0" anchor="ctr"/>
          <a:lstStyle/>
          <a:p>
            <a:pPr algn="ctr" indent="0" marL="0">
              <a:buNone/>
            </a:pPr>
            <a:r>
              <a:rPr lang="en-US" sz="1100" dirty="0">
                <a:solidFill>
                  <a:srgbClr val="5B6478"/>
                </a:solidFill>
                <a:latin typeface="Courier New" pitchFamily="34" charset="0"/>
                <a:ea typeface="Courier New" pitchFamily="34" charset="-122"/>
                <a:cs typeface="Courier New" pitchFamily="34" charset="-120"/>
              </a:rPr>
              <a:t>[6]</a:t>
            </a:r>
            <a:endParaRPr lang="en-US" sz="1100" dirty="0"/>
          </a:p>
        </p:txBody>
      </p:sp>
      <p:sp>
        <p:nvSpPr>
          <p:cNvPr id="31" name="Text 28"/>
          <p:cNvSpPr txBox="1"/>
          <p:nvPr/>
        </p:nvSpPr>
        <p:spPr>
          <a:xfrm>
            <a:off x="621792" y="3931920"/>
            <a:ext cx="502920" cy="438912"/>
          </a:xfrm>
          <a:prstGeom prst="rect">
            <a:avLst/>
          </a:prstGeom>
          <a:noFill/>
          <a:ln/>
        </p:spPr>
        <p:txBody>
          <a:bodyPr wrap="square" lIns="0" tIns="0" rIns="0" bIns="0" rtlCol="0" anchor="ctr"/>
          <a:lstStyle/>
          <a:p>
            <a:pPr algn="r" indent="0" marL="0">
              <a:buNone/>
            </a:pPr>
            <a:r>
              <a:rPr lang="en-US" sz="1600" b="1" dirty="0">
                <a:solidFill>
                  <a:srgbClr val="14213D"/>
                </a:solidFill>
                <a:latin typeface="Courier New" pitchFamily="34" charset="0"/>
                <a:ea typeface="Courier New" pitchFamily="34" charset="-122"/>
                <a:cs typeface="Courier New" pitchFamily="34" charset="-120"/>
              </a:rPr>
              <a:t>fib</a:t>
            </a:r>
            <a:endParaRPr lang="en-US" sz="1600" dirty="0"/>
          </a:p>
        </p:txBody>
      </p:sp>
      <p:sp>
        <p:nvSpPr>
          <p:cNvPr id="32" name="Text 29"/>
          <p:cNvSpPr txBox="1"/>
          <p:nvPr/>
        </p:nvSpPr>
        <p:spPr>
          <a:xfrm>
            <a:off x="548640" y="4709160"/>
            <a:ext cx="5486400" cy="274320"/>
          </a:xfrm>
          <a:prstGeom prst="rect">
            <a:avLst/>
          </a:prstGeom>
          <a:noFill/>
          <a:ln/>
        </p:spPr>
        <p:txBody>
          <a:bodyPr wrap="square" lIns="0" tIns="0" rIns="0" bIns="0" rtlCol="0" anchor="ctr"/>
          <a:lstStyle/>
          <a:p>
            <a:pPr algn="ctr" indent="0" marL="0">
              <a:buNone/>
            </a:pPr>
            <a:r>
              <a:rPr lang="en-US" sz="1300" b="1" dirty="0">
                <a:solidFill>
                  <a:srgbClr val="B7791F"/>
                </a:solidFill>
                <a:latin typeface="Courier New" pitchFamily="34" charset="0"/>
                <a:ea typeface="Courier New" pitchFamily="34" charset="-122"/>
                <a:cs typeface="Courier New" pitchFamily="34" charset="-120"/>
              </a:rPr>
              <a:t>fib[6] = fib[5] + fib[4] = 5 + 3</a:t>
            </a:r>
            <a:endParaRPr lang="en-US" sz="1300" dirty="0"/>
          </a:p>
        </p:txBody>
      </p:sp>
      <p:sp>
        <p:nvSpPr>
          <p:cNvPr id="33" name="Shape 30"/>
          <p:cNvSpPr/>
          <p:nvPr/>
        </p:nvSpPr>
        <p:spPr>
          <a:xfrm>
            <a:off x="548640" y="5074920"/>
            <a:ext cx="5486400" cy="1005840"/>
          </a:xfrm>
          <a:prstGeom prst="roundRect">
            <a:avLst>
              <a:gd name="adj" fmla="val 9091"/>
            </a:avLst>
          </a:prstGeom>
          <a:solidFill>
            <a:srgbClr val="0B0F19"/>
          </a:solidFill>
          <a:ln w="12700">
            <a:solidFill>
              <a:srgbClr val="2A3654"/>
            </a:solidFill>
            <a:prstDash val="solid"/>
          </a:ln>
        </p:spPr>
      </p:sp>
      <p:sp>
        <p:nvSpPr>
          <p:cNvPr id="34" name="Shape 31"/>
          <p:cNvSpPr/>
          <p:nvPr/>
        </p:nvSpPr>
        <p:spPr>
          <a:xfrm>
            <a:off x="731520" y="5202936"/>
            <a:ext cx="118872" cy="118872"/>
          </a:xfrm>
          <a:prstGeom prst="ellipse">
            <a:avLst/>
          </a:prstGeom>
          <a:solidFill>
            <a:srgbClr val="FF5F57"/>
          </a:solidFill>
          <a:ln w="12700">
            <a:solidFill>
              <a:srgbClr val="FF5F57"/>
            </a:solidFill>
            <a:prstDash val="solid"/>
          </a:ln>
        </p:spPr>
      </p:sp>
      <p:sp>
        <p:nvSpPr>
          <p:cNvPr id="35" name="Shape 32"/>
          <p:cNvSpPr/>
          <p:nvPr/>
        </p:nvSpPr>
        <p:spPr>
          <a:xfrm>
            <a:off x="960120" y="5202936"/>
            <a:ext cx="118872" cy="118872"/>
          </a:xfrm>
          <a:prstGeom prst="ellipse">
            <a:avLst/>
          </a:prstGeom>
          <a:solidFill>
            <a:srgbClr val="FEBC2E"/>
          </a:solidFill>
          <a:ln w="12700">
            <a:solidFill>
              <a:srgbClr val="FEBC2E"/>
            </a:solidFill>
            <a:prstDash val="solid"/>
          </a:ln>
        </p:spPr>
      </p:sp>
      <p:sp>
        <p:nvSpPr>
          <p:cNvPr id="36" name="Shape 33"/>
          <p:cNvSpPr/>
          <p:nvPr/>
        </p:nvSpPr>
        <p:spPr>
          <a:xfrm>
            <a:off x="1188720" y="5202936"/>
            <a:ext cx="118872" cy="118872"/>
          </a:xfrm>
          <a:prstGeom prst="ellipse">
            <a:avLst/>
          </a:prstGeom>
          <a:solidFill>
            <a:srgbClr val="28C840"/>
          </a:solidFill>
          <a:ln w="12700">
            <a:solidFill>
              <a:srgbClr val="28C840"/>
            </a:solidFill>
            <a:prstDash val="solid"/>
          </a:ln>
        </p:spPr>
      </p:sp>
      <p:sp>
        <p:nvSpPr>
          <p:cNvPr id="37" name="Text 34"/>
          <p:cNvSpPr txBox="1"/>
          <p:nvPr/>
        </p:nvSpPr>
        <p:spPr>
          <a:xfrm>
            <a:off x="1463040" y="5148072"/>
            <a:ext cx="438912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38" name="Text 35"/>
          <p:cNvSpPr txBox="1"/>
          <p:nvPr/>
        </p:nvSpPr>
        <p:spPr>
          <a:xfrm>
            <a:off x="777240" y="5458968"/>
            <a:ext cx="5029200" cy="502920"/>
          </a:xfrm>
          <a:prstGeom prst="rect">
            <a:avLst/>
          </a:prstGeom>
          <a:noFill/>
          <a:ln/>
        </p:spPr>
        <p:txBody>
          <a:bodyPr wrap="square" lIns="0" tIns="0" rIns="0" bIns="0" rtlCol="0" anchor="t"/>
          <a:lstStyle/>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How many Fibonacci numbers (2-93)?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10</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0 1 1 2 3 5 8 13 21 34</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fib[9] = 34</a:t>
            </a:r>
            <a:endParaRPr lang="en-US" sz="1200" dirty="0"/>
          </a:p>
        </p:txBody>
      </p:sp>
      <p:sp>
        <p:nvSpPr>
          <p:cNvPr id="39" name="Shape 36"/>
          <p:cNvSpPr/>
          <p:nvPr/>
        </p:nvSpPr>
        <p:spPr>
          <a:xfrm>
            <a:off x="6263640" y="1645920"/>
            <a:ext cx="5394960" cy="1600200"/>
          </a:xfrm>
          <a:prstGeom prst="roundRect">
            <a:avLst>
              <a:gd name="adj" fmla="val 5714"/>
            </a:avLst>
          </a:prstGeom>
          <a:solidFill>
            <a:srgbClr val="0F1729"/>
          </a:solidFill>
          <a:ln w="12700">
            <a:solidFill>
              <a:srgbClr val="0F1729"/>
            </a:solidFill>
            <a:prstDash val="solid"/>
          </a:ln>
        </p:spPr>
      </p:sp>
      <p:sp>
        <p:nvSpPr>
          <p:cNvPr id="40" name="Text 37"/>
          <p:cNvSpPr txBox="1"/>
          <p:nvPr/>
        </p:nvSpPr>
        <p:spPr>
          <a:xfrm>
            <a:off x="6492240" y="1755648"/>
            <a:ext cx="493776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09_12_RunningTotal (excerpt)</a:t>
            </a:r>
            <a:endParaRPr lang="en-US" sz="1100" dirty="0"/>
          </a:p>
        </p:txBody>
      </p:sp>
      <p:sp>
        <p:nvSpPr>
          <p:cNvPr id="41" name="Text 38"/>
          <p:cNvSpPr txBox="1"/>
          <p:nvPr/>
        </p:nvSpPr>
        <p:spPr>
          <a:xfrm>
            <a:off x="6492240" y="2057400"/>
            <a:ext cx="4937760" cy="1078992"/>
          </a:xfrm>
          <a:prstGeom prst="rect">
            <a:avLst/>
          </a:prstGeom>
          <a:noFill/>
          <a:ln/>
        </p:spPr>
        <p:txBody>
          <a:bodyPr wrap="square" lIns="0" tIns="0" rIns="0" bIns="0" rtlCol="0" anchor="t"/>
          <a:lstStyle/>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total[</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sales[</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 &lt; days.Length; i++)</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total[i] = total[i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sales[i];</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42" name="Shape 39"/>
          <p:cNvSpPr/>
          <p:nvPr/>
        </p:nvSpPr>
        <p:spPr>
          <a:xfrm>
            <a:off x="6263640" y="3383280"/>
            <a:ext cx="5394960" cy="2697480"/>
          </a:xfrm>
          <a:prstGeom prst="roundRect">
            <a:avLst>
              <a:gd name="adj" fmla="val 3390"/>
            </a:avLst>
          </a:prstGeom>
          <a:solidFill>
            <a:srgbClr val="0B0F19"/>
          </a:solidFill>
          <a:ln w="12700">
            <a:solidFill>
              <a:srgbClr val="2A3654"/>
            </a:solidFill>
            <a:prstDash val="solid"/>
          </a:ln>
        </p:spPr>
      </p:sp>
      <p:sp>
        <p:nvSpPr>
          <p:cNvPr id="43" name="Shape 40"/>
          <p:cNvSpPr/>
          <p:nvPr/>
        </p:nvSpPr>
        <p:spPr>
          <a:xfrm>
            <a:off x="6446520" y="3511296"/>
            <a:ext cx="118872" cy="118872"/>
          </a:xfrm>
          <a:prstGeom prst="ellipse">
            <a:avLst/>
          </a:prstGeom>
          <a:solidFill>
            <a:srgbClr val="FF5F57"/>
          </a:solidFill>
          <a:ln w="12700">
            <a:solidFill>
              <a:srgbClr val="FF5F57"/>
            </a:solidFill>
            <a:prstDash val="solid"/>
          </a:ln>
        </p:spPr>
      </p:sp>
      <p:sp>
        <p:nvSpPr>
          <p:cNvPr id="44" name="Shape 41"/>
          <p:cNvSpPr/>
          <p:nvPr/>
        </p:nvSpPr>
        <p:spPr>
          <a:xfrm>
            <a:off x="6675120" y="3511296"/>
            <a:ext cx="118872" cy="118872"/>
          </a:xfrm>
          <a:prstGeom prst="ellipse">
            <a:avLst/>
          </a:prstGeom>
          <a:solidFill>
            <a:srgbClr val="FEBC2E"/>
          </a:solidFill>
          <a:ln w="12700">
            <a:solidFill>
              <a:srgbClr val="FEBC2E"/>
            </a:solidFill>
            <a:prstDash val="solid"/>
          </a:ln>
        </p:spPr>
      </p:sp>
      <p:sp>
        <p:nvSpPr>
          <p:cNvPr id="45" name="Shape 42"/>
          <p:cNvSpPr/>
          <p:nvPr/>
        </p:nvSpPr>
        <p:spPr>
          <a:xfrm>
            <a:off x="6903720" y="3511296"/>
            <a:ext cx="118872" cy="118872"/>
          </a:xfrm>
          <a:prstGeom prst="ellipse">
            <a:avLst/>
          </a:prstGeom>
          <a:solidFill>
            <a:srgbClr val="28C840"/>
          </a:solidFill>
          <a:ln w="12700">
            <a:solidFill>
              <a:srgbClr val="28C840"/>
            </a:solidFill>
            <a:prstDash val="solid"/>
          </a:ln>
        </p:spPr>
      </p:sp>
      <p:sp>
        <p:nvSpPr>
          <p:cNvPr id="46" name="Text 43"/>
          <p:cNvSpPr txBox="1"/>
          <p:nvPr/>
        </p:nvSpPr>
        <p:spPr>
          <a:xfrm>
            <a:off x="7178040" y="3456432"/>
            <a:ext cx="429768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Output after the 7 inputs (1250 … 1500)</a:t>
            </a:r>
            <a:endParaRPr lang="en-US" sz="1000" dirty="0"/>
          </a:p>
        </p:txBody>
      </p:sp>
      <p:sp>
        <p:nvSpPr>
          <p:cNvPr id="47" name="Text 44"/>
          <p:cNvSpPr txBox="1"/>
          <p:nvPr/>
        </p:nvSpPr>
        <p:spPr>
          <a:xfrm>
            <a:off x="6492240" y="3767328"/>
            <a:ext cx="4937760" cy="2194560"/>
          </a:xfrm>
          <a:prstGeom prst="rect">
            <a:avLst/>
          </a:prstGeom>
          <a:noFill/>
          <a:ln/>
        </p:spPr>
        <p:txBody>
          <a:bodyPr wrap="square" lIns="0" tIns="0" rIns="0" bIns="0" rtlCol="0" anchor="t"/>
          <a:lstStyle/>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Day      Sales      Total</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Mon    1250.00    1250.00</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Tue     980.50    2230.50</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Wed    1430.00    3660.50</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Thu       0.00    3660.50</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Fri    2100.75    5761.25</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Sat    3200.00    8961.25</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Sun    1500.00   10461.25</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Week total: 10461.25 TL</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COMMON MISTAKES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Six Array Mistakes and How to Avoid Them</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9</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32</a:t>
            </a:r>
            <a:endParaRPr lang="en-US" sz="1000" dirty="0"/>
          </a:p>
        </p:txBody>
      </p:sp>
      <p:sp>
        <p:nvSpPr>
          <p:cNvPr id="7" name="Shape 4"/>
          <p:cNvSpPr/>
          <p:nvPr/>
        </p:nvSpPr>
        <p:spPr>
          <a:xfrm>
            <a:off x="548640" y="1645920"/>
            <a:ext cx="5486400" cy="1325880"/>
          </a:xfrm>
          <a:prstGeom prst="roundRect">
            <a:avLst>
              <a:gd name="adj" fmla="val 8276"/>
            </a:avLst>
          </a:prstGeom>
          <a:solidFill>
            <a:srgbClr val="FBE9E7"/>
          </a:solidFill>
          <a:ln w="12700">
            <a:solidFill>
              <a:srgbClr val="FBE9E7"/>
            </a:solidFill>
            <a:prstDash val="solid"/>
          </a:ln>
        </p:spPr>
      </p:sp>
      <p:sp>
        <p:nvSpPr>
          <p:cNvPr id="8" name="Shape 5"/>
          <p:cNvSpPr/>
          <p:nvPr/>
        </p:nvSpPr>
        <p:spPr>
          <a:xfrm>
            <a:off x="749808" y="2011680"/>
            <a:ext cx="566928" cy="566928"/>
          </a:xfrm>
          <a:prstGeom prst="ellipse">
            <a:avLst/>
          </a:prstGeom>
          <a:solidFill>
            <a:srgbClr val="C8453B"/>
          </a:solidFill>
          <a:ln w="12700">
            <a:solidFill>
              <a:srgbClr val="C8453B"/>
            </a:solidFill>
            <a:prstDash val="solid"/>
          </a:ln>
        </p:spPr>
      </p:sp>
      <p:pic>
        <p:nvPicPr>
          <p:cNvPr id="9" name="Image 0" descr="preencoded.png">    </p:cNvPr>
          <p:cNvPicPr>
            <a:picLocks noChangeAspect="1"/>
          </p:cNvPicPr>
          <p:nvPr/>
        </p:nvPicPr>
        <p:blipFill>
          <a:blip r:embed="rId1"/>
          <a:stretch>
            <a:fillRect/>
          </a:stretch>
        </p:blipFill>
        <p:spPr>
          <a:xfrm>
            <a:off x="897209" y="2159081"/>
            <a:ext cx="272125" cy="272125"/>
          </a:xfrm>
          <a:prstGeom prst="rect">
            <a:avLst/>
          </a:prstGeom>
        </p:spPr>
      </p:pic>
      <p:sp>
        <p:nvSpPr>
          <p:cNvPr id="10" name="Text 6"/>
          <p:cNvSpPr txBox="1"/>
          <p:nvPr/>
        </p:nvSpPr>
        <p:spPr>
          <a:xfrm>
            <a:off x="1508760" y="1783080"/>
            <a:ext cx="4389120" cy="457200"/>
          </a:xfrm>
          <a:prstGeom prst="rect">
            <a:avLst/>
          </a:prstGeom>
          <a:noFill/>
          <a:ln/>
        </p:spPr>
        <p:txBody>
          <a:bodyPr wrap="square" lIns="0" tIns="0" rIns="0" bIns="0" rtlCol="0" anchor="ctr"/>
          <a:lstStyle/>
          <a:p>
            <a:pPr indent="0" marL="0">
              <a:buNone/>
            </a:pPr>
            <a:r>
              <a:rPr lang="en-US" sz="1600" b="1" dirty="0">
                <a:solidFill>
                  <a:srgbClr val="C8453B"/>
                </a:solidFill>
                <a:latin typeface="Courier New" pitchFamily="34" charset="0"/>
                <a:ea typeface="Courier New" pitchFamily="34" charset="-122"/>
                <a:cs typeface="Courier New" pitchFamily="34" charset="-120"/>
              </a:rPr>
              <a:t>i &lt;= a.Length</a:t>
            </a:r>
            <a:endParaRPr lang="en-US" sz="1600" dirty="0"/>
          </a:p>
        </p:txBody>
      </p:sp>
      <p:sp>
        <p:nvSpPr>
          <p:cNvPr id="11" name="Text 7"/>
          <p:cNvSpPr txBox="1"/>
          <p:nvPr/>
        </p:nvSpPr>
        <p:spPr>
          <a:xfrm>
            <a:off x="1508760" y="2267712"/>
            <a:ext cx="4389120" cy="566928"/>
          </a:xfrm>
          <a:prstGeom prst="rect">
            <a:avLst/>
          </a:prstGeom>
          <a:noFill/>
          <a:ln/>
        </p:spPr>
        <p:txBody>
          <a:bodyPr wrap="square" lIns="0" tIns="0" rIns="0" bIns="0" rtlCol="0" anchor="t"/>
          <a:lstStyle/>
          <a:p>
            <a:pPr indent="0" marL="0">
              <a:buNone/>
            </a:pPr>
            <a:r>
              <a:rPr lang="en-US" sz="1500" dirty="0">
                <a:solidFill>
                  <a:srgbClr val="333B4F"/>
                </a:solidFill>
                <a:latin typeface="Calibri" pitchFamily="34" charset="0"/>
                <a:ea typeface="Calibri" pitchFamily="34" charset="-122"/>
                <a:cs typeface="Calibri" pitchFamily="34" charset="-120"/>
              </a:rPr>
              <a:t>Loop one pass too far. Use i &lt; a.Length.</a:t>
            </a:r>
            <a:endParaRPr lang="en-US" sz="1500" dirty="0"/>
          </a:p>
        </p:txBody>
      </p:sp>
      <p:sp>
        <p:nvSpPr>
          <p:cNvPr id="12" name="Shape 8"/>
          <p:cNvSpPr/>
          <p:nvPr/>
        </p:nvSpPr>
        <p:spPr>
          <a:xfrm>
            <a:off x="6153912" y="1645920"/>
            <a:ext cx="5486400" cy="1325880"/>
          </a:xfrm>
          <a:prstGeom prst="roundRect">
            <a:avLst>
              <a:gd name="adj" fmla="val 8276"/>
            </a:avLst>
          </a:prstGeom>
          <a:solidFill>
            <a:srgbClr val="FBE9E7"/>
          </a:solidFill>
          <a:ln w="12700">
            <a:solidFill>
              <a:srgbClr val="FBE9E7"/>
            </a:solidFill>
            <a:prstDash val="solid"/>
          </a:ln>
        </p:spPr>
      </p:sp>
      <p:sp>
        <p:nvSpPr>
          <p:cNvPr id="13" name="Shape 9"/>
          <p:cNvSpPr/>
          <p:nvPr/>
        </p:nvSpPr>
        <p:spPr>
          <a:xfrm>
            <a:off x="6355080" y="2011680"/>
            <a:ext cx="566928" cy="566928"/>
          </a:xfrm>
          <a:prstGeom prst="ellipse">
            <a:avLst/>
          </a:prstGeom>
          <a:solidFill>
            <a:srgbClr val="C8453B"/>
          </a:solidFill>
          <a:ln w="12700">
            <a:solidFill>
              <a:srgbClr val="C8453B"/>
            </a:solidFill>
            <a:prstDash val="solid"/>
          </a:ln>
        </p:spPr>
      </p:sp>
      <p:pic>
        <p:nvPicPr>
          <p:cNvPr id="14" name="Image 1" descr="preencoded.png">    </p:cNvPr>
          <p:cNvPicPr>
            <a:picLocks noChangeAspect="1"/>
          </p:cNvPicPr>
          <p:nvPr/>
        </p:nvPicPr>
        <p:blipFill>
          <a:blip r:embed="rId2"/>
          <a:stretch>
            <a:fillRect/>
          </a:stretch>
        </p:blipFill>
        <p:spPr>
          <a:xfrm>
            <a:off x="6502481" y="2159081"/>
            <a:ext cx="272125" cy="272125"/>
          </a:xfrm>
          <a:prstGeom prst="rect">
            <a:avLst/>
          </a:prstGeom>
        </p:spPr>
      </p:pic>
      <p:sp>
        <p:nvSpPr>
          <p:cNvPr id="15" name="Text 10"/>
          <p:cNvSpPr txBox="1"/>
          <p:nvPr/>
        </p:nvSpPr>
        <p:spPr>
          <a:xfrm>
            <a:off x="7114032" y="1783080"/>
            <a:ext cx="4389120" cy="457200"/>
          </a:xfrm>
          <a:prstGeom prst="rect">
            <a:avLst/>
          </a:prstGeom>
          <a:noFill/>
          <a:ln/>
        </p:spPr>
        <p:txBody>
          <a:bodyPr wrap="square" lIns="0" tIns="0" rIns="0" bIns="0" rtlCol="0" anchor="ctr"/>
          <a:lstStyle/>
          <a:p>
            <a:pPr indent="0" marL="0">
              <a:buNone/>
            </a:pPr>
            <a:r>
              <a:rPr lang="en-US" sz="1600" b="1" dirty="0">
                <a:solidFill>
                  <a:srgbClr val="C8453B"/>
                </a:solidFill>
                <a:latin typeface="Courier New" pitchFamily="34" charset="0"/>
                <a:ea typeface="Courier New" pitchFamily="34" charset="-122"/>
                <a:cs typeface="Courier New" pitchFamily="34" charset="-120"/>
              </a:rPr>
              <a:t>a[a.Length]</a:t>
            </a:r>
            <a:endParaRPr lang="en-US" sz="1600" dirty="0"/>
          </a:p>
        </p:txBody>
      </p:sp>
      <p:sp>
        <p:nvSpPr>
          <p:cNvPr id="16" name="Text 11"/>
          <p:cNvSpPr txBox="1"/>
          <p:nvPr/>
        </p:nvSpPr>
        <p:spPr>
          <a:xfrm>
            <a:off x="7114032" y="2267712"/>
            <a:ext cx="4389120" cy="566928"/>
          </a:xfrm>
          <a:prstGeom prst="rect">
            <a:avLst/>
          </a:prstGeom>
          <a:noFill/>
          <a:ln/>
        </p:spPr>
        <p:txBody>
          <a:bodyPr wrap="square" lIns="0" tIns="0" rIns="0" bIns="0" rtlCol="0" anchor="t"/>
          <a:lstStyle/>
          <a:p>
            <a:pPr indent="0" marL="0">
              <a:buNone/>
            </a:pPr>
            <a:r>
              <a:rPr lang="en-US" sz="1500" dirty="0">
                <a:solidFill>
                  <a:srgbClr val="333B4F"/>
                </a:solidFill>
                <a:latin typeface="Calibri" pitchFamily="34" charset="0"/>
                <a:ea typeface="Calibri" pitchFamily="34" charset="-122"/>
                <a:cs typeface="Calibri" pitchFamily="34" charset="-120"/>
              </a:rPr>
              <a:t>Not the last element: that is a[a.Length − 1].</a:t>
            </a:r>
            <a:endParaRPr lang="en-US" sz="1500" dirty="0"/>
          </a:p>
        </p:txBody>
      </p:sp>
      <p:sp>
        <p:nvSpPr>
          <p:cNvPr id="17" name="Shape 12"/>
          <p:cNvSpPr/>
          <p:nvPr/>
        </p:nvSpPr>
        <p:spPr>
          <a:xfrm>
            <a:off x="548640" y="3127248"/>
            <a:ext cx="5486400" cy="1325880"/>
          </a:xfrm>
          <a:prstGeom prst="roundRect">
            <a:avLst>
              <a:gd name="adj" fmla="val 8276"/>
            </a:avLst>
          </a:prstGeom>
          <a:solidFill>
            <a:srgbClr val="FBE9E7"/>
          </a:solidFill>
          <a:ln w="12700">
            <a:solidFill>
              <a:srgbClr val="FBE9E7"/>
            </a:solidFill>
            <a:prstDash val="solid"/>
          </a:ln>
        </p:spPr>
      </p:sp>
      <p:sp>
        <p:nvSpPr>
          <p:cNvPr id="18" name="Shape 13"/>
          <p:cNvSpPr/>
          <p:nvPr/>
        </p:nvSpPr>
        <p:spPr>
          <a:xfrm>
            <a:off x="749808" y="3493008"/>
            <a:ext cx="566928" cy="566928"/>
          </a:xfrm>
          <a:prstGeom prst="ellipse">
            <a:avLst/>
          </a:prstGeom>
          <a:solidFill>
            <a:srgbClr val="C8453B"/>
          </a:solidFill>
          <a:ln w="12700">
            <a:solidFill>
              <a:srgbClr val="C8453B"/>
            </a:solidFill>
            <a:prstDash val="solid"/>
          </a:ln>
        </p:spPr>
      </p:sp>
      <p:pic>
        <p:nvPicPr>
          <p:cNvPr id="19" name="Image 2" descr="preencoded.png">    </p:cNvPr>
          <p:cNvPicPr>
            <a:picLocks noChangeAspect="1"/>
          </p:cNvPicPr>
          <p:nvPr/>
        </p:nvPicPr>
        <p:blipFill>
          <a:blip r:embed="rId3"/>
          <a:stretch>
            <a:fillRect/>
          </a:stretch>
        </p:blipFill>
        <p:spPr>
          <a:xfrm>
            <a:off x="897209" y="3640409"/>
            <a:ext cx="272125" cy="272125"/>
          </a:xfrm>
          <a:prstGeom prst="rect">
            <a:avLst/>
          </a:prstGeom>
        </p:spPr>
      </p:pic>
      <p:sp>
        <p:nvSpPr>
          <p:cNvPr id="20" name="Text 14"/>
          <p:cNvSpPr txBox="1"/>
          <p:nvPr/>
        </p:nvSpPr>
        <p:spPr>
          <a:xfrm>
            <a:off x="1508760" y="3264408"/>
            <a:ext cx="4389120" cy="457200"/>
          </a:xfrm>
          <a:prstGeom prst="rect">
            <a:avLst/>
          </a:prstGeom>
          <a:noFill/>
          <a:ln/>
        </p:spPr>
        <p:txBody>
          <a:bodyPr wrap="square" lIns="0" tIns="0" rIns="0" bIns="0" rtlCol="0" anchor="ctr"/>
          <a:lstStyle/>
          <a:p>
            <a:pPr indent="0" marL="0">
              <a:buNone/>
            </a:pPr>
            <a:r>
              <a:rPr lang="en-US" sz="1600" b="1" dirty="0">
                <a:solidFill>
                  <a:srgbClr val="C8453B"/>
                </a:solidFill>
                <a:latin typeface="Courier New" pitchFamily="34" charset="0"/>
                <a:ea typeface="Courier New" pitchFamily="34" charset="-122"/>
                <a:cs typeface="Courier New" pitchFamily="34" charset="-120"/>
              </a:rPr>
              <a:t>Console.WriteLine(a)</a:t>
            </a:r>
            <a:endParaRPr lang="en-US" sz="1600" dirty="0"/>
          </a:p>
        </p:txBody>
      </p:sp>
      <p:sp>
        <p:nvSpPr>
          <p:cNvPr id="21" name="Text 15"/>
          <p:cNvSpPr txBox="1"/>
          <p:nvPr/>
        </p:nvSpPr>
        <p:spPr>
          <a:xfrm>
            <a:off x="1508760" y="3749040"/>
            <a:ext cx="4389120" cy="566928"/>
          </a:xfrm>
          <a:prstGeom prst="rect">
            <a:avLst/>
          </a:prstGeom>
          <a:noFill/>
          <a:ln/>
        </p:spPr>
        <p:txBody>
          <a:bodyPr wrap="square" lIns="0" tIns="0" rIns="0" bIns="0" rtlCol="0" anchor="t"/>
          <a:lstStyle/>
          <a:p>
            <a:pPr indent="0" marL="0">
              <a:buNone/>
            </a:pPr>
            <a:r>
              <a:rPr lang="en-US" sz="1500" dirty="0">
                <a:solidFill>
                  <a:srgbClr val="333B4F"/>
                </a:solidFill>
                <a:latin typeface="Calibri" pitchFamily="34" charset="0"/>
                <a:ea typeface="Calibri" pitchFamily="34" charset="-122"/>
                <a:cs typeface="Calibri" pitchFamily="34" charset="-120"/>
              </a:rPr>
              <a:t>Prints System.Int32[]. Use string.Join or a loop.</a:t>
            </a:r>
            <a:endParaRPr lang="en-US" sz="1500" dirty="0"/>
          </a:p>
        </p:txBody>
      </p:sp>
      <p:sp>
        <p:nvSpPr>
          <p:cNvPr id="22" name="Shape 16"/>
          <p:cNvSpPr/>
          <p:nvPr/>
        </p:nvSpPr>
        <p:spPr>
          <a:xfrm>
            <a:off x="6153912" y="3127248"/>
            <a:ext cx="5486400" cy="1325880"/>
          </a:xfrm>
          <a:prstGeom prst="roundRect">
            <a:avLst>
              <a:gd name="adj" fmla="val 8276"/>
            </a:avLst>
          </a:prstGeom>
          <a:solidFill>
            <a:srgbClr val="FBE9E7"/>
          </a:solidFill>
          <a:ln w="12700">
            <a:solidFill>
              <a:srgbClr val="FBE9E7"/>
            </a:solidFill>
            <a:prstDash val="solid"/>
          </a:ln>
        </p:spPr>
      </p:sp>
      <p:sp>
        <p:nvSpPr>
          <p:cNvPr id="23" name="Shape 17"/>
          <p:cNvSpPr/>
          <p:nvPr/>
        </p:nvSpPr>
        <p:spPr>
          <a:xfrm>
            <a:off x="6355080" y="3493008"/>
            <a:ext cx="566928" cy="566928"/>
          </a:xfrm>
          <a:prstGeom prst="ellipse">
            <a:avLst/>
          </a:prstGeom>
          <a:solidFill>
            <a:srgbClr val="C8453B"/>
          </a:solidFill>
          <a:ln w="12700">
            <a:solidFill>
              <a:srgbClr val="C8453B"/>
            </a:solidFill>
            <a:prstDash val="solid"/>
          </a:ln>
        </p:spPr>
      </p:sp>
      <p:pic>
        <p:nvPicPr>
          <p:cNvPr id="24" name="Image 3" descr="preencoded.png">    </p:cNvPr>
          <p:cNvPicPr>
            <a:picLocks noChangeAspect="1"/>
          </p:cNvPicPr>
          <p:nvPr/>
        </p:nvPicPr>
        <p:blipFill>
          <a:blip r:embed="rId4"/>
          <a:stretch>
            <a:fillRect/>
          </a:stretch>
        </p:blipFill>
        <p:spPr>
          <a:xfrm>
            <a:off x="6502481" y="3640409"/>
            <a:ext cx="272125" cy="272125"/>
          </a:xfrm>
          <a:prstGeom prst="rect">
            <a:avLst/>
          </a:prstGeom>
        </p:spPr>
      </p:pic>
      <p:sp>
        <p:nvSpPr>
          <p:cNvPr id="25" name="Text 18"/>
          <p:cNvSpPr txBox="1"/>
          <p:nvPr/>
        </p:nvSpPr>
        <p:spPr>
          <a:xfrm>
            <a:off x="7114032" y="3264408"/>
            <a:ext cx="4389120" cy="457200"/>
          </a:xfrm>
          <a:prstGeom prst="rect">
            <a:avLst/>
          </a:prstGeom>
          <a:noFill/>
          <a:ln/>
        </p:spPr>
        <p:txBody>
          <a:bodyPr wrap="square" lIns="0" tIns="0" rIns="0" bIns="0" rtlCol="0" anchor="ctr"/>
          <a:lstStyle/>
          <a:p>
            <a:pPr indent="0" marL="0">
              <a:buNone/>
            </a:pPr>
            <a:r>
              <a:rPr lang="en-US" sz="1600" b="1" dirty="0">
                <a:solidFill>
                  <a:srgbClr val="C8453B"/>
                </a:solidFill>
                <a:latin typeface="Courier New" pitchFamily="34" charset="0"/>
                <a:ea typeface="Courier New" pitchFamily="34" charset="-122"/>
                <a:cs typeface="Courier New" pitchFamily="34" charset="-120"/>
              </a:rPr>
              <a:t>int[] b = a;  as a copy</a:t>
            </a:r>
            <a:endParaRPr lang="en-US" sz="1600" dirty="0"/>
          </a:p>
        </p:txBody>
      </p:sp>
      <p:sp>
        <p:nvSpPr>
          <p:cNvPr id="26" name="Text 19"/>
          <p:cNvSpPr txBox="1"/>
          <p:nvPr/>
        </p:nvSpPr>
        <p:spPr>
          <a:xfrm>
            <a:off x="7114032" y="3749040"/>
            <a:ext cx="4389120" cy="566928"/>
          </a:xfrm>
          <a:prstGeom prst="rect">
            <a:avLst/>
          </a:prstGeom>
          <a:noFill/>
          <a:ln/>
        </p:spPr>
        <p:txBody>
          <a:bodyPr wrap="square" lIns="0" tIns="0" rIns="0" bIns="0" rtlCol="0" anchor="t"/>
          <a:lstStyle/>
          <a:p>
            <a:pPr indent="0" marL="0">
              <a:buNone/>
            </a:pPr>
            <a:r>
              <a:rPr lang="en-US" sz="1500" dirty="0">
                <a:solidFill>
                  <a:srgbClr val="333B4F"/>
                </a:solidFill>
                <a:latin typeface="Calibri" pitchFamily="34" charset="0"/>
                <a:ea typeface="Calibri" pitchFamily="34" charset="-122"/>
                <a:cs typeface="Calibri" pitchFamily="34" charset="-120"/>
              </a:rPr>
              <a:t>Second name, same array. Use Clone() or a loop.</a:t>
            </a:r>
            <a:endParaRPr lang="en-US" sz="1500" dirty="0"/>
          </a:p>
        </p:txBody>
      </p:sp>
      <p:sp>
        <p:nvSpPr>
          <p:cNvPr id="27" name="Shape 20"/>
          <p:cNvSpPr/>
          <p:nvPr/>
        </p:nvSpPr>
        <p:spPr>
          <a:xfrm>
            <a:off x="548640" y="4608576"/>
            <a:ext cx="5486400" cy="1325880"/>
          </a:xfrm>
          <a:prstGeom prst="roundRect">
            <a:avLst>
              <a:gd name="adj" fmla="val 8276"/>
            </a:avLst>
          </a:prstGeom>
          <a:solidFill>
            <a:srgbClr val="FBE9E7"/>
          </a:solidFill>
          <a:ln w="12700">
            <a:solidFill>
              <a:srgbClr val="FBE9E7"/>
            </a:solidFill>
            <a:prstDash val="solid"/>
          </a:ln>
        </p:spPr>
      </p:sp>
      <p:sp>
        <p:nvSpPr>
          <p:cNvPr id="28" name="Shape 21"/>
          <p:cNvSpPr/>
          <p:nvPr/>
        </p:nvSpPr>
        <p:spPr>
          <a:xfrm>
            <a:off x="749808" y="4974336"/>
            <a:ext cx="566928" cy="566928"/>
          </a:xfrm>
          <a:prstGeom prst="ellipse">
            <a:avLst/>
          </a:prstGeom>
          <a:solidFill>
            <a:srgbClr val="C8453B"/>
          </a:solidFill>
          <a:ln w="12700">
            <a:solidFill>
              <a:srgbClr val="C8453B"/>
            </a:solidFill>
            <a:prstDash val="solid"/>
          </a:ln>
        </p:spPr>
      </p:sp>
      <p:pic>
        <p:nvPicPr>
          <p:cNvPr id="29" name="Image 4" descr="preencoded.png">    </p:cNvPr>
          <p:cNvPicPr>
            <a:picLocks noChangeAspect="1"/>
          </p:cNvPicPr>
          <p:nvPr/>
        </p:nvPicPr>
        <p:blipFill>
          <a:blip r:embed="rId5"/>
          <a:stretch>
            <a:fillRect/>
          </a:stretch>
        </p:blipFill>
        <p:spPr>
          <a:xfrm>
            <a:off x="897209" y="5121737"/>
            <a:ext cx="272125" cy="272125"/>
          </a:xfrm>
          <a:prstGeom prst="rect">
            <a:avLst/>
          </a:prstGeom>
        </p:spPr>
      </p:pic>
      <p:sp>
        <p:nvSpPr>
          <p:cNvPr id="30" name="Text 22"/>
          <p:cNvSpPr txBox="1"/>
          <p:nvPr/>
        </p:nvSpPr>
        <p:spPr>
          <a:xfrm>
            <a:off x="1508760" y="4745736"/>
            <a:ext cx="4389120" cy="457200"/>
          </a:xfrm>
          <a:prstGeom prst="rect">
            <a:avLst/>
          </a:prstGeom>
          <a:noFill/>
          <a:ln/>
        </p:spPr>
        <p:txBody>
          <a:bodyPr wrap="square" lIns="0" tIns="0" rIns="0" bIns="0" rtlCol="0" anchor="ctr"/>
          <a:lstStyle/>
          <a:p>
            <a:pPr indent="0" marL="0">
              <a:buNone/>
            </a:pPr>
            <a:r>
              <a:rPr lang="en-US" sz="1600" b="1" dirty="0">
                <a:solidFill>
                  <a:srgbClr val="C8453B"/>
                </a:solidFill>
                <a:latin typeface="Courier New" pitchFamily="34" charset="0"/>
                <a:ea typeface="Courier New" pitchFamily="34" charset="-122"/>
                <a:cs typeface="Courier New" pitchFamily="34" charset="-120"/>
              </a:rPr>
              <a:t>user number = index</a:t>
            </a:r>
            <a:endParaRPr lang="en-US" sz="1600" dirty="0"/>
          </a:p>
        </p:txBody>
      </p:sp>
      <p:sp>
        <p:nvSpPr>
          <p:cNvPr id="31" name="Text 23"/>
          <p:cNvSpPr txBox="1"/>
          <p:nvPr/>
        </p:nvSpPr>
        <p:spPr>
          <a:xfrm>
            <a:off x="1508760" y="5230368"/>
            <a:ext cx="4389120" cy="566928"/>
          </a:xfrm>
          <a:prstGeom prst="rect">
            <a:avLst/>
          </a:prstGeom>
          <a:noFill/>
          <a:ln/>
        </p:spPr>
        <p:txBody>
          <a:bodyPr wrap="square" lIns="0" tIns="0" rIns="0" bIns="0" rtlCol="0" anchor="t"/>
          <a:lstStyle/>
          <a:p>
            <a:pPr indent="0" marL="0">
              <a:buNone/>
            </a:pPr>
            <a:r>
              <a:rPr lang="en-US" sz="1500" dirty="0">
                <a:solidFill>
                  <a:srgbClr val="333B4F"/>
                </a:solidFill>
                <a:latin typeface="Calibri" pitchFamily="34" charset="0"/>
                <a:ea typeface="Calibri" pitchFamily="34" charset="-122"/>
                <a:cs typeface="Calibri" pitchFamily="34" charset="-120"/>
              </a:rPr>
              <a:t>Day 1..7 is index 0..6: subtract 1 (and check the range).</a:t>
            </a:r>
            <a:endParaRPr lang="en-US" sz="1500" dirty="0"/>
          </a:p>
        </p:txBody>
      </p:sp>
      <p:sp>
        <p:nvSpPr>
          <p:cNvPr id="32" name="Shape 24"/>
          <p:cNvSpPr/>
          <p:nvPr/>
        </p:nvSpPr>
        <p:spPr>
          <a:xfrm>
            <a:off x="6153912" y="4608576"/>
            <a:ext cx="5486400" cy="1325880"/>
          </a:xfrm>
          <a:prstGeom prst="roundRect">
            <a:avLst>
              <a:gd name="adj" fmla="val 8276"/>
            </a:avLst>
          </a:prstGeom>
          <a:solidFill>
            <a:srgbClr val="FBE9E7"/>
          </a:solidFill>
          <a:ln w="12700">
            <a:solidFill>
              <a:srgbClr val="FBE9E7"/>
            </a:solidFill>
            <a:prstDash val="solid"/>
          </a:ln>
        </p:spPr>
      </p:sp>
      <p:sp>
        <p:nvSpPr>
          <p:cNvPr id="33" name="Shape 25"/>
          <p:cNvSpPr/>
          <p:nvPr/>
        </p:nvSpPr>
        <p:spPr>
          <a:xfrm>
            <a:off x="6355080" y="4974336"/>
            <a:ext cx="566928" cy="566928"/>
          </a:xfrm>
          <a:prstGeom prst="ellipse">
            <a:avLst/>
          </a:prstGeom>
          <a:solidFill>
            <a:srgbClr val="C8453B"/>
          </a:solidFill>
          <a:ln w="12700">
            <a:solidFill>
              <a:srgbClr val="C8453B"/>
            </a:solidFill>
            <a:prstDash val="solid"/>
          </a:ln>
        </p:spPr>
      </p:sp>
      <p:pic>
        <p:nvPicPr>
          <p:cNvPr id="34" name="Image 5" descr="preencoded.png">    </p:cNvPr>
          <p:cNvPicPr>
            <a:picLocks noChangeAspect="1"/>
          </p:cNvPicPr>
          <p:nvPr/>
        </p:nvPicPr>
        <p:blipFill>
          <a:blip r:embed="rId6"/>
          <a:stretch>
            <a:fillRect/>
          </a:stretch>
        </p:blipFill>
        <p:spPr>
          <a:xfrm>
            <a:off x="6502481" y="5121737"/>
            <a:ext cx="272125" cy="272125"/>
          </a:xfrm>
          <a:prstGeom prst="rect">
            <a:avLst/>
          </a:prstGeom>
        </p:spPr>
      </p:pic>
      <p:sp>
        <p:nvSpPr>
          <p:cNvPr id="35" name="Text 26"/>
          <p:cNvSpPr txBox="1"/>
          <p:nvPr/>
        </p:nvSpPr>
        <p:spPr>
          <a:xfrm>
            <a:off x="7114032" y="4745736"/>
            <a:ext cx="4389120" cy="457200"/>
          </a:xfrm>
          <a:prstGeom prst="rect">
            <a:avLst/>
          </a:prstGeom>
          <a:noFill/>
          <a:ln/>
        </p:spPr>
        <p:txBody>
          <a:bodyPr wrap="square" lIns="0" tIns="0" rIns="0" bIns="0" rtlCol="0" anchor="ctr"/>
          <a:lstStyle/>
          <a:p>
            <a:pPr indent="0" marL="0">
              <a:buNone/>
            </a:pPr>
            <a:r>
              <a:rPr lang="en-US" sz="1600" b="1" dirty="0">
                <a:solidFill>
                  <a:srgbClr val="C8453B"/>
                </a:solidFill>
                <a:latin typeface="Courier New" pitchFamily="34" charset="0"/>
                <a:ea typeface="Courier New" pitchFamily="34" charset="-122"/>
                <a:cs typeface="Courier New" pitchFamily="34" charset="-120"/>
              </a:rPr>
              <a:t>int a[5];</a:t>
            </a:r>
            <a:endParaRPr lang="en-US" sz="1600" dirty="0"/>
          </a:p>
        </p:txBody>
      </p:sp>
      <p:sp>
        <p:nvSpPr>
          <p:cNvPr id="36" name="Text 27"/>
          <p:cNvSpPr txBox="1"/>
          <p:nvPr/>
        </p:nvSpPr>
        <p:spPr>
          <a:xfrm>
            <a:off x="7114032" y="5230368"/>
            <a:ext cx="4389120" cy="566928"/>
          </a:xfrm>
          <a:prstGeom prst="rect">
            <a:avLst/>
          </a:prstGeom>
          <a:noFill/>
          <a:ln/>
        </p:spPr>
        <p:txBody>
          <a:bodyPr wrap="square" lIns="0" tIns="0" rIns="0" bIns="0" rtlCol="0" anchor="t"/>
          <a:lstStyle/>
          <a:p>
            <a:pPr indent="0" marL="0">
              <a:buNone/>
            </a:pPr>
            <a:r>
              <a:rPr lang="en-US" sz="1500" dirty="0">
                <a:solidFill>
                  <a:srgbClr val="333B4F"/>
                </a:solidFill>
                <a:latin typeface="Calibri" pitchFamily="34" charset="0"/>
                <a:ea typeface="Calibri" pitchFamily="34" charset="-122"/>
                <a:cs typeface="Calibri" pitchFamily="34" charset="-120"/>
              </a:rPr>
              <a:t>C/C++ syntax. In C#: int[] a = new int[5];</a:t>
            </a:r>
            <a:endParaRPr lang="en-US" sz="15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PREDICT THE OUTPUT · 5 MIN</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Quiz 2: Names, Neighbours and Counters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9</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33</a:t>
            </a:r>
            <a:endParaRPr lang="en-US" sz="1000" dirty="0"/>
          </a:p>
        </p:txBody>
      </p:sp>
      <p:sp>
        <p:nvSpPr>
          <p:cNvPr id="7" name="Shape 4"/>
          <p:cNvSpPr/>
          <p:nvPr/>
        </p:nvSpPr>
        <p:spPr>
          <a:xfrm>
            <a:off x="9372600" y="301752"/>
            <a:ext cx="2286000" cy="347472"/>
          </a:xfrm>
          <a:prstGeom prst="roundRect">
            <a:avLst>
              <a:gd name="adj" fmla="val 50000"/>
            </a:avLst>
          </a:prstGeom>
          <a:solidFill>
            <a:srgbClr val="14213D"/>
          </a:solidFill>
          <a:ln w="12700">
            <a:solidFill>
              <a:srgbClr val="14213D"/>
            </a:solidFill>
            <a:prstDash val="solid"/>
          </a:ln>
        </p:spPr>
      </p:sp>
      <p:sp>
        <p:nvSpPr>
          <p:cNvPr id="8" name="Text 5"/>
          <p:cNvSpPr txBox="1"/>
          <p:nvPr/>
        </p:nvSpPr>
        <p:spPr>
          <a:xfrm>
            <a:off x="9372600" y="301752"/>
            <a:ext cx="228600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PREDICT · 5 min</a:t>
            </a:r>
            <a:endParaRPr lang="en-US" sz="1200" dirty="0"/>
          </a:p>
        </p:txBody>
      </p:sp>
      <p:sp>
        <p:nvSpPr>
          <p:cNvPr id="9" name="Shape 6"/>
          <p:cNvSpPr/>
          <p:nvPr/>
        </p:nvSpPr>
        <p:spPr>
          <a:xfrm>
            <a:off x="548640" y="1645920"/>
            <a:ext cx="4572000" cy="4434840"/>
          </a:xfrm>
          <a:prstGeom prst="roundRect">
            <a:avLst>
              <a:gd name="adj" fmla="val 2062"/>
            </a:avLst>
          </a:prstGeom>
          <a:solidFill>
            <a:srgbClr val="0F1729"/>
          </a:solidFill>
          <a:ln w="12700">
            <a:solidFill>
              <a:srgbClr val="0F1729"/>
            </a:solidFill>
            <a:prstDash val="solid"/>
          </a:ln>
        </p:spPr>
      </p:sp>
      <p:sp>
        <p:nvSpPr>
          <p:cNvPr id="10" name="Text 7"/>
          <p:cNvSpPr txBox="1"/>
          <p:nvPr/>
        </p:nvSpPr>
        <p:spPr>
          <a:xfrm>
            <a:off x="777240" y="1755648"/>
            <a:ext cx="411480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Program.cs (part 1)</a:t>
            </a:r>
            <a:endParaRPr lang="en-US" sz="1100" dirty="0"/>
          </a:p>
        </p:txBody>
      </p:sp>
      <p:sp>
        <p:nvSpPr>
          <p:cNvPr id="11" name="Text 8"/>
          <p:cNvSpPr txBox="1"/>
          <p:nvPr/>
        </p:nvSpPr>
        <p:spPr>
          <a:xfrm>
            <a:off x="777240" y="2057400"/>
            <a:ext cx="4114800" cy="3913632"/>
          </a:xfrm>
          <a:prstGeom prst="rect">
            <a:avLst/>
          </a:prstGeom>
          <a:noFill/>
          <a:ln/>
        </p:spPr>
        <p:txBody>
          <a:bodyPr wrap="square" lIns="0" tIns="0" rIns="0" bIns="0" rtlCol="0" anchor="t"/>
          <a:lstStyle/>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x =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2</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3</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y = x;</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y[</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z =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[])x.Clone();</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z[</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20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x[</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2</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30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$"{x[0]} {x[1]} {x[2]}"</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$"{y[0]} {y[1]} {y[2]}"</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$"{z[0]} {z[1]} {z[2]}"</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2" name="Shape 9"/>
          <p:cNvSpPr/>
          <p:nvPr/>
        </p:nvSpPr>
        <p:spPr>
          <a:xfrm>
            <a:off x="5303520" y="1645920"/>
            <a:ext cx="4297680" cy="4434840"/>
          </a:xfrm>
          <a:prstGeom prst="roundRect">
            <a:avLst>
              <a:gd name="adj" fmla="val 2128"/>
            </a:avLst>
          </a:prstGeom>
          <a:solidFill>
            <a:srgbClr val="0F1729"/>
          </a:solidFill>
          <a:ln w="12700">
            <a:solidFill>
              <a:srgbClr val="0F1729"/>
            </a:solidFill>
            <a:prstDash val="solid"/>
          </a:ln>
        </p:spPr>
      </p:sp>
      <p:sp>
        <p:nvSpPr>
          <p:cNvPr id="13" name="Text 10"/>
          <p:cNvSpPr txBox="1"/>
          <p:nvPr/>
        </p:nvSpPr>
        <p:spPr>
          <a:xfrm>
            <a:off x="5532120" y="1755648"/>
            <a:ext cx="384048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(part 2, continues)</a:t>
            </a:r>
            <a:endParaRPr lang="en-US" sz="1100" dirty="0"/>
          </a:p>
        </p:txBody>
      </p:sp>
      <p:sp>
        <p:nvSpPr>
          <p:cNvPr id="14" name="Text 11"/>
          <p:cNvSpPr txBox="1"/>
          <p:nvPr/>
        </p:nvSpPr>
        <p:spPr>
          <a:xfrm>
            <a:off x="5532120" y="2057400"/>
            <a:ext cx="3840480" cy="3913632"/>
          </a:xfrm>
          <a:prstGeom prst="rect">
            <a:avLst/>
          </a:prstGeom>
          <a:noFill/>
          <a:ln/>
        </p:spPr>
        <p:txBody>
          <a:bodyPr wrap="square" lIns="0" tIns="0" rIns="0" bIns="0" rtlCol="0" anchor="t"/>
          <a:lstStyle/>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p =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2</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3</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4</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5</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 &lt; p.Length; i++)</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p[i] = p[i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p[i];</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string</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.Join(</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p));</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data =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2</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2</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3</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c =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new</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4</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foreach</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v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in</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data)</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c[v]++;</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string</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.Join(</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c));</a:t>
            </a:r>
            <a:endParaRPr lang="en-US" sz="1200" dirty="0"/>
          </a:p>
        </p:txBody>
      </p:sp>
      <p:sp>
        <p:nvSpPr>
          <p:cNvPr id="15" name="Shape 12"/>
          <p:cNvSpPr/>
          <p:nvPr/>
        </p:nvSpPr>
        <p:spPr>
          <a:xfrm>
            <a:off x="9784080" y="1645920"/>
            <a:ext cx="1874520" cy="4434840"/>
          </a:xfrm>
          <a:prstGeom prst="roundRect">
            <a:avLst>
              <a:gd name="adj" fmla="val 5854"/>
            </a:avLst>
          </a:prstGeom>
          <a:solidFill>
            <a:srgbClr val="EEF1F6"/>
          </a:solidFill>
          <a:ln w="12700">
            <a:solidFill>
              <a:srgbClr val="EEF1F6"/>
            </a:solidFill>
            <a:prstDash val="solid"/>
          </a:ln>
        </p:spPr>
      </p:sp>
      <p:sp>
        <p:nvSpPr>
          <p:cNvPr id="16" name="Text 13"/>
          <p:cNvSpPr txBox="1"/>
          <p:nvPr/>
        </p:nvSpPr>
        <p:spPr>
          <a:xfrm>
            <a:off x="10012680" y="1783080"/>
            <a:ext cx="1417320" cy="365760"/>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Your answer</a:t>
            </a:r>
            <a:endParaRPr lang="en-US" sz="1700" dirty="0"/>
          </a:p>
        </p:txBody>
      </p:sp>
      <p:sp>
        <p:nvSpPr>
          <p:cNvPr id="17" name="Text 14"/>
          <p:cNvSpPr txBox="1"/>
          <p:nvPr/>
        </p:nvSpPr>
        <p:spPr>
          <a:xfrm>
            <a:off x="10012680" y="2240280"/>
            <a:ext cx="320040" cy="694944"/>
          </a:xfrm>
          <a:prstGeom prst="rect">
            <a:avLst/>
          </a:prstGeom>
          <a:noFill/>
          <a:ln/>
        </p:spPr>
        <p:txBody>
          <a:bodyPr wrap="square" lIns="0" tIns="0" rIns="0" bIns="0" rtlCol="0" anchor="b"/>
          <a:lstStyle/>
          <a:p>
            <a:pPr indent="0" marL="0">
              <a:buNone/>
            </a:pPr>
            <a:r>
              <a:rPr lang="en-US" sz="1300" dirty="0">
                <a:solidFill>
                  <a:srgbClr val="5B6478"/>
                </a:solidFill>
                <a:latin typeface="Courier New" pitchFamily="34" charset="0"/>
                <a:ea typeface="Courier New" pitchFamily="34" charset="-122"/>
                <a:cs typeface="Courier New" pitchFamily="34" charset="-120"/>
              </a:rPr>
              <a:t>1</a:t>
            </a:r>
            <a:endParaRPr lang="en-US" sz="1300" dirty="0"/>
          </a:p>
        </p:txBody>
      </p:sp>
      <p:sp>
        <p:nvSpPr>
          <p:cNvPr id="18" name="Shape 15"/>
          <p:cNvSpPr/>
          <p:nvPr/>
        </p:nvSpPr>
        <p:spPr>
          <a:xfrm>
            <a:off x="10378440" y="2935224"/>
            <a:ext cx="1005840" cy="0"/>
          </a:xfrm>
          <a:prstGeom prst="line">
            <a:avLst/>
          </a:prstGeom>
          <a:noFill/>
          <a:ln w="15875">
            <a:solidFill>
              <a:srgbClr val="D5DAE3"/>
            </a:solidFill>
            <a:prstDash val="solid"/>
          </a:ln>
        </p:spPr>
      </p:sp>
      <p:sp>
        <p:nvSpPr>
          <p:cNvPr id="19" name="Text 16"/>
          <p:cNvSpPr txBox="1"/>
          <p:nvPr/>
        </p:nvSpPr>
        <p:spPr>
          <a:xfrm>
            <a:off x="10012680" y="2980944"/>
            <a:ext cx="320040" cy="694944"/>
          </a:xfrm>
          <a:prstGeom prst="rect">
            <a:avLst/>
          </a:prstGeom>
          <a:noFill/>
          <a:ln/>
        </p:spPr>
        <p:txBody>
          <a:bodyPr wrap="square" lIns="0" tIns="0" rIns="0" bIns="0" rtlCol="0" anchor="b"/>
          <a:lstStyle/>
          <a:p>
            <a:pPr indent="0" marL="0">
              <a:buNone/>
            </a:pPr>
            <a:r>
              <a:rPr lang="en-US" sz="1300" dirty="0">
                <a:solidFill>
                  <a:srgbClr val="5B6478"/>
                </a:solidFill>
                <a:latin typeface="Courier New" pitchFamily="34" charset="0"/>
                <a:ea typeface="Courier New" pitchFamily="34" charset="-122"/>
                <a:cs typeface="Courier New" pitchFamily="34" charset="-120"/>
              </a:rPr>
              <a:t>2</a:t>
            </a:r>
            <a:endParaRPr lang="en-US" sz="1300" dirty="0"/>
          </a:p>
        </p:txBody>
      </p:sp>
      <p:sp>
        <p:nvSpPr>
          <p:cNvPr id="20" name="Shape 17"/>
          <p:cNvSpPr/>
          <p:nvPr/>
        </p:nvSpPr>
        <p:spPr>
          <a:xfrm>
            <a:off x="10378440" y="3675888"/>
            <a:ext cx="1005840" cy="0"/>
          </a:xfrm>
          <a:prstGeom prst="line">
            <a:avLst/>
          </a:prstGeom>
          <a:noFill/>
          <a:ln w="15875">
            <a:solidFill>
              <a:srgbClr val="D5DAE3"/>
            </a:solidFill>
            <a:prstDash val="solid"/>
          </a:ln>
        </p:spPr>
      </p:sp>
      <p:sp>
        <p:nvSpPr>
          <p:cNvPr id="21" name="Text 18"/>
          <p:cNvSpPr txBox="1"/>
          <p:nvPr/>
        </p:nvSpPr>
        <p:spPr>
          <a:xfrm>
            <a:off x="10012680" y="3721608"/>
            <a:ext cx="320040" cy="694944"/>
          </a:xfrm>
          <a:prstGeom prst="rect">
            <a:avLst/>
          </a:prstGeom>
          <a:noFill/>
          <a:ln/>
        </p:spPr>
        <p:txBody>
          <a:bodyPr wrap="square" lIns="0" tIns="0" rIns="0" bIns="0" rtlCol="0" anchor="b"/>
          <a:lstStyle/>
          <a:p>
            <a:pPr indent="0" marL="0">
              <a:buNone/>
            </a:pPr>
            <a:r>
              <a:rPr lang="en-US" sz="1300" dirty="0">
                <a:solidFill>
                  <a:srgbClr val="5B6478"/>
                </a:solidFill>
                <a:latin typeface="Courier New" pitchFamily="34" charset="0"/>
                <a:ea typeface="Courier New" pitchFamily="34" charset="-122"/>
                <a:cs typeface="Courier New" pitchFamily="34" charset="-120"/>
              </a:rPr>
              <a:t>3</a:t>
            </a:r>
            <a:endParaRPr lang="en-US" sz="1300" dirty="0"/>
          </a:p>
        </p:txBody>
      </p:sp>
      <p:sp>
        <p:nvSpPr>
          <p:cNvPr id="22" name="Shape 19"/>
          <p:cNvSpPr/>
          <p:nvPr/>
        </p:nvSpPr>
        <p:spPr>
          <a:xfrm>
            <a:off x="10378440" y="4416552"/>
            <a:ext cx="1005840" cy="0"/>
          </a:xfrm>
          <a:prstGeom prst="line">
            <a:avLst/>
          </a:prstGeom>
          <a:noFill/>
          <a:ln w="15875">
            <a:solidFill>
              <a:srgbClr val="D5DAE3"/>
            </a:solidFill>
            <a:prstDash val="solid"/>
          </a:ln>
        </p:spPr>
      </p:sp>
      <p:sp>
        <p:nvSpPr>
          <p:cNvPr id="23" name="Text 20"/>
          <p:cNvSpPr txBox="1"/>
          <p:nvPr/>
        </p:nvSpPr>
        <p:spPr>
          <a:xfrm>
            <a:off x="10012680" y="4462272"/>
            <a:ext cx="320040" cy="694944"/>
          </a:xfrm>
          <a:prstGeom prst="rect">
            <a:avLst/>
          </a:prstGeom>
          <a:noFill/>
          <a:ln/>
        </p:spPr>
        <p:txBody>
          <a:bodyPr wrap="square" lIns="0" tIns="0" rIns="0" bIns="0" rtlCol="0" anchor="b"/>
          <a:lstStyle/>
          <a:p>
            <a:pPr indent="0" marL="0">
              <a:buNone/>
            </a:pPr>
            <a:r>
              <a:rPr lang="en-US" sz="1300" dirty="0">
                <a:solidFill>
                  <a:srgbClr val="5B6478"/>
                </a:solidFill>
                <a:latin typeface="Courier New" pitchFamily="34" charset="0"/>
                <a:ea typeface="Courier New" pitchFamily="34" charset="-122"/>
                <a:cs typeface="Courier New" pitchFamily="34" charset="-120"/>
              </a:rPr>
              <a:t>4</a:t>
            </a:r>
            <a:endParaRPr lang="en-US" sz="1300" dirty="0"/>
          </a:p>
        </p:txBody>
      </p:sp>
      <p:sp>
        <p:nvSpPr>
          <p:cNvPr id="24" name="Shape 21"/>
          <p:cNvSpPr/>
          <p:nvPr/>
        </p:nvSpPr>
        <p:spPr>
          <a:xfrm>
            <a:off x="10378440" y="5157216"/>
            <a:ext cx="1005840" cy="0"/>
          </a:xfrm>
          <a:prstGeom prst="line">
            <a:avLst/>
          </a:prstGeom>
          <a:noFill/>
          <a:ln w="15875">
            <a:solidFill>
              <a:srgbClr val="D5DAE3"/>
            </a:solidFill>
            <a:prstDash val="solid"/>
          </a:ln>
        </p:spPr>
      </p:sp>
      <p:sp>
        <p:nvSpPr>
          <p:cNvPr id="25" name="Text 22"/>
          <p:cNvSpPr txBox="1"/>
          <p:nvPr/>
        </p:nvSpPr>
        <p:spPr>
          <a:xfrm>
            <a:off x="10012680" y="5202936"/>
            <a:ext cx="320040" cy="694944"/>
          </a:xfrm>
          <a:prstGeom prst="rect">
            <a:avLst/>
          </a:prstGeom>
          <a:noFill/>
          <a:ln/>
        </p:spPr>
        <p:txBody>
          <a:bodyPr wrap="square" lIns="0" tIns="0" rIns="0" bIns="0" rtlCol="0" anchor="b"/>
          <a:lstStyle/>
          <a:p>
            <a:pPr indent="0" marL="0">
              <a:buNone/>
            </a:pPr>
            <a:r>
              <a:rPr lang="en-US" sz="1300" dirty="0">
                <a:solidFill>
                  <a:srgbClr val="5B6478"/>
                </a:solidFill>
                <a:latin typeface="Courier New" pitchFamily="34" charset="0"/>
                <a:ea typeface="Courier New" pitchFamily="34" charset="-122"/>
                <a:cs typeface="Courier New" pitchFamily="34" charset="-120"/>
              </a:rPr>
              <a:t>5</a:t>
            </a:r>
            <a:endParaRPr lang="en-US" sz="1300" dirty="0"/>
          </a:p>
        </p:txBody>
      </p:sp>
      <p:sp>
        <p:nvSpPr>
          <p:cNvPr id="26" name="Shape 23"/>
          <p:cNvSpPr/>
          <p:nvPr/>
        </p:nvSpPr>
        <p:spPr>
          <a:xfrm>
            <a:off x="10378440" y="5897880"/>
            <a:ext cx="1005840" cy="0"/>
          </a:xfrm>
          <a:prstGeom prst="line">
            <a:avLst/>
          </a:prstGeom>
          <a:noFill/>
          <a:ln w="15875">
            <a:solidFill>
              <a:srgbClr val="D5DAE3"/>
            </a:solidFill>
            <a:prstDash val="solid"/>
          </a:ln>
        </p:spPr>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ANSWER · QUIZ 2</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Quiz 2: Answer</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9</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34</a:t>
            </a:r>
            <a:endParaRPr lang="en-US" sz="1000" dirty="0"/>
          </a:p>
        </p:txBody>
      </p:sp>
      <p:sp>
        <p:nvSpPr>
          <p:cNvPr id="7" name="Shape 4"/>
          <p:cNvSpPr/>
          <p:nvPr/>
        </p:nvSpPr>
        <p:spPr>
          <a:xfrm>
            <a:off x="9372600" y="301752"/>
            <a:ext cx="2286000" cy="347472"/>
          </a:xfrm>
          <a:prstGeom prst="roundRect">
            <a:avLst>
              <a:gd name="adj" fmla="val 50000"/>
            </a:avLst>
          </a:prstGeom>
          <a:solidFill>
            <a:srgbClr val="2E9E6A"/>
          </a:solidFill>
          <a:ln w="12700">
            <a:solidFill>
              <a:srgbClr val="2E9E6A"/>
            </a:solidFill>
            <a:prstDash val="solid"/>
          </a:ln>
        </p:spPr>
      </p:sp>
      <p:sp>
        <p:nvSpPr>
          <p:cNvPr id="8" name="Text 5"/>
          <p:cNvSpPr txBox="1"/>
          <p:nvPr/>
        </p:nvSpPr>
        <p:spPr>
          <a:xfrm>
            <a:off x="9372600" y="301752"/>
            <a:ext cx="228600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ANSWER</a:t>
            </a:r>
            <a:endParaRPr lang="en-US" sz="1200" dirty="0"/>
          </a:p>
        </p:txBody>
      </p:sp>
      <p:sp>
        <p:nvSpPr>
          <p:cNvPr id="9" name="Shape 6"/>
          <p:cNvSpPr/>
          <p:nvPr/>
        </p:nvSpPr>
        <p:spPr>
          <a:xfrm>
            <a:off x="1828800" y="1965960"/>
            <a:ext cx="731520" cy="502920"/>
          </a:xfrm>
          <a:prstGeom prst="rect">
            <a:avLst/>
          </a:prstGeom>
          <a:solidFill>
            <a:srgbClr val="FFFFFF"/>
          </a:solidFill>
          <a:ln w="15875">
            <a:solidFill>
              <a:srgbClr val="14213D"/>
            </a:solidFill>
            <a:prstDash val="solid"/>
          </a:ln>
        </p:spPr>
      </p:sp>
      <p:sp>
        <p:nvSpPr>
          <p:cNvPr id="10" name="Text 7"/>
          <p:cNvSpPr txBox="1"/>
          <p:nvPr/>
        </p:nvSpPr>
        <p:spPr>
          <a:xfrm>
            <a:off x="1828800" y="1965960"/>
            <a:ext cx="731520"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10</a:t>
            </a:r>
            <a:endParaRPr lang="en-US" sz="1600" dirty="0"/>
          </a:p>
        </p:txBody>
      </p:sp>
      <p:sp>
        <p:nvSpPr>
          <p:cNvPr id="11" name="Text 8"/>
          <p:cNvSpPr txBox="1"/>
          <p:nvPr/>
        </p:nvSpPr>
        <p:spPr>
          <a:xfrm>
            <a:off x="1828800" y="2496312"/>
            <a:ext cx="731520" cy="274320"/>
          </a:xfrm>
          <a:prstGeom prst="rect">
            <a:avLst/>
          </a:prstGeom>
          <a:noFill/>
          <a:ln/>
        </p:spPr>
        <p:txBody>
          <a:bodyPr wrap="square" lIns="0" tIns="0" rIns="0" bIns="0" rtlCol="0" anchor="ctr"/>
          <a:lstStyle/>
          <a:p>
            <a:pPr algn="ctr" indent="0" marL="0">
              <a:buNone/>
            </a:pPr>
            <a:r>
              <a:rPr lang="en-US" sz="1300" dirty="0">
                <a:solidFill>
                  <a:srgbClr val="5B6478"/>
                </a:solidFill>
                <a:latin typeface="Courier New" pitchFamily="34" charset="0"/>
                <a:ea typeface="Courier New" pitchFamily="34" charset="-122"/>
                <a:cs typeface="Courier New" pitchFamily="34" charset="-120"/>
              </a:rPr>
              <a:t>[0]</a:t>
            </a:r>
            <a:endParaRPr lang="en-US" sz="1300" dirty="0"/>
          </a:p>
        </p:txBody>
      </p:sp>
      <p:sp>
        <p:nvSpPr>
          <p:cNvPr id="12" name="Shape 9"/>
          <p:cNvSpPr/>
          <p:nvPr/>
        </p:nvSpPr>
        <p:spPr>
          <a:xfrm>
            <a:off x="2560320" y="1965960"/>
            <a:ext cx="731520" cy="502920"/>
          </a:xfrm>
          <a:prstGeom prst="rect">
            <a:avLst/>
          </a:prstGeom>
          <a:solidFill>
            <a:srgbClr val="FFFFFF"/>
          </a:solidFill>
          <a:ln w="15875">
            <a:solidFill>
              <a:srgbClr val="14213D"/>
            </a:solidFill>
            <a:prstDash val="solid"/>
          </a:ln>
        </p:spPr>
      </p:sp>
      <p:sp>
        <p:nvSpPr>
          <p:cNvPr id="13" name="Text 10"/>
          <p:cNvSpPr txBox="1"/>
          <p:nvPr/>
        </p:nvSpPr>
        <p:spPr>
          <a:xfrm>
            <a:off x="2560320" y="1965960"/>
            <a:ext cx="731520"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2</a:t>
            </a:r>
            <a:endParaRPr lang="en-US" sz="1600" dirty="0"/>
          </a:p>
        </p:txBody>
      </p:sp>
      <p:sp>
        <p:nvSpPr>
          <p:cNvPr id="14" name="Text 11"/>
          <p:cNvSpPr txBox="1"/>
          <p:nvPr/>
        </p:nvSpPr>
        <p:spPr>
          <a:xfrm>
            <a:off x="2560320" y="2496312"/>
            <a:ext cx="731520" cy="274320"/>
          </a:xfrm>
          <a:prstGeom prst="rect">
            <a:avLst/>
          </a:prstGeom>
          <a:noFill/>
          <a:ln/>
        </p:spPr>
        <p:txBody>
          <a:bodyPr wrap="square" lIns="0" tIns="0" rIns="0" bIns="0" rtlCol="0" anchor="ctr"/>
          <a:lstStyle/>
          <a:p>
            <a:pPr algn="ctr" indent="0" marL="0">
              <a:buNone/>
            </a:pPr>
            <a:r>
              <a:rPr lang="en-US" sz="1300" dirty="0">
                <a:solidFill>
                  <a:srgbClr val="5B6478"/>
                </a:solidFill>
                <a:latin typeface="Courier New" pitchFamily="34" charset="0"/>
                <a:ea typeface="Courier New" pitchFamily="34" charset="-122"/>
                <a:cs typeface="Courier New" pitchFamily="34" charset="-120"/>
              </a:rPr>
              <a:t>[1]</a:t>
            </a:r>
            <a:endParaRPr lang="en-US" sz="1300" dirty="0"/>
          </a:p>
        </p:txBody>
      </p:sp>
      <p:sp>
        <p:nvSpPr>
          <p:cNvPr id="15" name="Shape 12"/>
          <p:cNvSpPr/>
          <p:nvPr/>
        </p:nvSpPr>
        <p:spPr>
          <a:xfrm>
            <a:off x="3291840" y="1965960"/>
            <a:ext cx="731520" cy="502920"/>
          </a:xfrm>
          <a:prstGeom prst="rect">
            <a:avLst/>
          </a:prstGeom>
          <a:solidFill>
            <a:srgbClr val="FFFFFF"/>
          </a:solidFill>
          <a:ln w="15875">
            <a:solidFill>
              <a:srgbClr val="14213D"/>
            </a:solidFill>
            <a:prstDash val="solid"/>
          </a:ln>
        </p:spPr>
      </p:sp>
      <p:sp>
        <p:nvSpPr>
          <p:cNvPr id="16" name="Text 13"/>
          <p:cNvSpPr txBox="1"/>
          <p:nvPr/>
        </p:nvSpPr>
        <p:spPr>
          <a:xfrm>
            <a:off x="3291840" y="1965960"/>
            <a:ext cx="731520"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30</a:t>
            </a:r>
            <a:endParaRPr lang="en-US" sz="1600" dirty="0"/>
          </a:p>
        </p:txBody>
      </p:sp>
      <p:sp>
        <p:nvSpPr>
          <p:cNvPr id="17" name="Text 14"/>
          <p:cNvSpPr txBox="1"/>
          <p:nvPr/>
        </p:nvSpPr>
        <p:spPr>
          <a:xfrm>
            <a:off x="3291840" y="2496312"/>
            <a:ext cx="731520" cy="274320"/>
          </a:xfrm>
          <a:prstGeom prst="rect">
            <a:avLst/>
          </a:prstGeom>
          <a:noFill/>
          <a:ln/>
        </p:spPr>
        <p:txBody>
          <a:bodyPr wrap="square" lIns="0" tIns="0" rIns="0" bIns="0" rtlCol="0" anchor="ctr"/>
          <a:lstStyle/>
          <a:p>
            <a:pPr algn="ctr" indent="0" marL="0">
              <a:buNone/>
            </a:pPr>
            <a:r>
              <a:rPr lang="en-US" sz="1300" dirty="0">
                <a:solidFill>
                  <a:srgbClr val="5B6478"/>
                </a:solidFill>
                <a:latin typeface="Courier New" pitchFamily="34" charset="0"/>
                <a:ea typeface="Courier New" pitchFamily="34" charset="-122"/>
                <a:cs typeface="Courier New" pitchFamily="34" charset="-120"/>
              </a:rPr>
              <a:t>[2]</a:t>
            </a:r>
            <a:endParaRPr lang="en-US" sz="1300" dirty="0"/>
          </a:p>
        </p:txBody>
      </p:sp>
      <p:sp>
        <p:nvSpPr>
          <p:cNvPr id="18" name="Text 15"/>
          <p:cNvSpPr txBox="1"/>
          <p:nvPr/>
        </p:nvSpPr>
        <p:spPr>
          <a:xfrm>
            <a:off x="475488" y="1691640"/>
            <a:ext cx="320040" cy="457200"/>
          </a:xfrm>
          <a:prstGeom prst="rect">
            <a:avLst/>
          </a:prstGeom>
          <a:noFill/>
          <a:ln/>
        </p:spPr>
        <p:txBody>
          <a:bodyPr wrap="square" lIns="0" tIns="0" rIns="0" bIns="0" rtlCol="0" anchor="ctr"/>
          <a:lstStyle/>
          <a:p>
            <a:pPr algn="r" indent="0" marL="0">
              <a:buNone/>
            </a:pPr>
            <a:r>
              <a:rPr lang="en-US" sz="1700" b="1" dirty="0">
                <a:solidFill>
                  <a:srgbClr val="14213D"/>
                </a:solidFill>
                <a:latin typeface="Courier New" pitchFamily="34" charset="0"/>
                <a:ea typeface="Courier New" pitchFamily="34" charset="-122"/>
                <a:cs typeface="Courier New" pitchFamily="34" charset="-120"/>
              </a:rPr>
              <a:t>x</a:t>
            </a:r>
            <a:endParaRPr lang="en-US" sz="1700" dirty="0"/>
          </a:p>
        </p:txBody>
      </p:sp>
      <p:sp>
        <p:nvSpPr>
          <p:cNvPr id="19" name="Shape 16"/>
          <p:cNvSpPr/>
          <p:nvPr/>
        </p:nvSpPr>
        <p:spPr>
          <a:xfrm>
            <a:off x="868680" y="1691640"/>
            <a:ext cx="457200" cy="457200"/>
          </a:xfrm>
          <a:prstGeom prst="rect">
            <a:avLst/>
          </a:prstGeom>
          <a:solidFill>
            <a:srgbClr val="EEF1F6"/>
          </a:solidFill>
          <a:ln w="15875">
            <a:solidFill>
              <a:srgbClr val="14213D"/>
            </a:solidFill>
            <a:prstDash val="solid"/>
          </a:ln>
        </p:spPr>
      </p:sp>
      <p:sp>
        <p:nvSpPr>
          <p:cNvPr id="20" name="Shape 17"/>
          <p:cNvSpPr/>
          <p:nvPr/>
        </p:nvSpPr>
        <p:spPr>
          <a:xfrm>
            <a:off x="1042416" y="1865376"/>
            <a:ext cx="109728" cy="109728"/>
          </a:xfrm>
          <a:prstGeom prst="ellipse">
            <a:avLst/>
          </a:prstGeom>
          <a:solidFill>
            <a:srgbClr val="14213D"/>
          </a:solidFill>
          <a:ln w="12700">
            <a:solidFill>
              <a:srgbClr val="14213D"/>
            </a:solidFill>
            <a:prstDash val="solid"/>
          </a:ln>
        </p:spPr>
      </p:sp>
      <p:sp>
        <p:nvSpPr>
          <p:cNvPr id="21" name="Shape 18"/>
          <p:cNvSpPr/>
          <p:nvPr/>
        </p:nvSpPr>
        <p:spPr>
          <a:xfrm>
            <a:off x="1097280" y="1920240"/>
            <a:ext cx="731520" cy="201168"/>
          </a:xfrm>
          <a:prstGeom prst="line">
            <a:avLst/>
          </a:prstGeom>
          <a:noFill/>
          <a:ln w="15875">
            <a:solidFill>
              <a:srgbClr val="14213D"/>
            </a:solidFill>
            <a:prstDash val="solid"/>
            <a:tailEnd type="triangle"/>
          </a:ln>
        </p:spPr>
      </p:sp>
      <p:sp>
        <p:nvSpPr>
          <p:cNvPr id="22" name="Text 19"/>
          <p:cNvSpPr txBox="1"/>
          <p:nvPr/>
        </p:nvSpPr>
        <p:spPr>
          <a:xfrm>
            <a:off x="475488" y="2423160"/>
            <a:ext cx="320040" cy="457200"/>
          </a:xfrm>
          <a:prstGeom prst="rect">
            <a:avLst/>
          </a:prstGeom>
          <a:noFill/>
          <a:ln/>
        </p:spPr>
        <p:txBody>
          <a:bodyPr wrap="square" lIns="0" tIns="0" rIns="0" bIns="0" rtlCol="0" anchor="ctr"/>
          <a:lstStyle/>
          <a:p>
            <a:pPr algn="r" indent="0" marL="0">
              <a:buNone/>
            </a:pPr>
            <a:r>
              <a:rPr lang="en-US" sz="1700" b="1" dirty="0">
                <a:solidFill>
                  <a:srgbClr val="C8453B"/>
                </a:solidFill>
                <a:latin typeface="Courier New" pitchFamily="34" charset="0"/>
                <a:ea typeface="Courier New" pitchFamily="34" charset="-122"/>
                <a:cs typeface="Courier New" pitchFamily="34" charset="-120"/>
              </a:rPr>
              <a:t>y</a:t>
            </a:r>
            <a:endParaRPr lang="en-US" sz="1700" dirty="0"/>
          </a:p>
        </p:txBody>
      </p:sp>
      <p:sp>
        <p:nvSpPr>
          <p:cNvPr id="23" name="Shape 20"/>
          <p:cNvSpPr/>
          <p:nvPr/>
        </p:nvSpPr>
        <p:spPr>
          <a:xfrm>
            <a:off x="868680" y="2423160"/>
            <a:ext cx="457200" cy="457200"/>
          </a:xfrm>
          <a:prstGeom prst="rect">
            <a:avLst/>
          </a:prstGeom>
          <a:solidFill>
            <a:srgbClr val="EEF1F6"/>
          </a:solidFill>
          <a:ln w="15875">
            <a:solidFill>
              <a:srgbClr val="C8453B"/>
            </a:solidFill>
            <a:prstDash val="solid"/>
          </a:ln>
        </p:spPr>
      </p:sp>
      <p:sp>
        <p:nvSpPr>
          <p:cNvPr id="24" name="Shape 21"/>
          <p:cNvSpPr/>
          <p:nvPr/>
        </p:nvSpPr>
        <p:spPr>
          <a:xfrm>
            <a:off x="1042416" y="2596896"/>
            <a:ext cx="109728" cy="109728"/>
          </a:xfrm>
          <a:prstGeom prst="ellipse">
            <a:avLst/>
          </a:prstGeom>
          <a:solidFill>
            <a:srgbClr val="C8453B"/>
          </a:solidFill>
          <a:ln w="12700">
            <a:solidFill>
              <a:srgbClr val="C8453B"/>
            </a:solidFill>
            <a:prstDash val="solid"/>
          </a:ln>
        </p:spPr>
      </p:sp>
      <p:sp>
        <p:nvSpPr>
          <p:cNvPr id="25" name="Shape 22"/>
          <p:cNvSpPr/>
          <p:nvPr/>
        </p:nvSpPr>
        <p:spPr>
          <a:xfrm flipV="1">
            <a:off x="1097280" y="2304288"/>
            <a:ext cx="731520" cy="347472"/>
          </a:xfrm>
          <a:prstGeom prst="line">
            <a:avLst/>
          </a:prstGeom>
          <a:noFill/>
          <a:ln w="15875">
            <a:solidFill>
              <a:srgbClr val="C8453B"/>
            </a:solidFill>
            <a:prstDash val="solid"/>
            <a:tailEnd type="triangle"/>
          </a:ln>
        </p:spPr>
      </p:sp>
      <p:sp>
        <p:nvSpPr>
          <p:cNvPr id="26" name="Shape 23"/>
          <p:cNvSpPr/>
          <p:nvPr/>
        </p:nvSpPr>
        <p:spPr>
          <a:xfrm>
            <a:off x="1828800" y="3246120"/>
            <a:ext cx="731520" cy="502920"/>
          </a:xfrm>
          <a:prstGeom prst="rect">
            <a:avLst/>
          </a:prstGeom>
          <a:solidFill>
            <a:srgbClr val="FFFFFF"/>
          </a:solidFill>
          <a:ln w="15875">
            <a:solidFill>
              <a:srgbClr val="14213D"/>
            </a:solidFill>
            <a:prstDash val="solid"/>
          </a:ln>
        </p:spPr>
      </p:sp>
      <p:sp>
        <p:nvSpPr>
          <p:cNvPr id="27" name="Text 24"/>
          <p:cNvSpPr txBox="1"/>
          <p:nvPr/>
        </p:nvSpPr>
        <p:spPr>
          <a:xfrm>
            <a:off x="1828800" y="3246120"/>
            <a:ext cx="731520"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10</a:t>
            </a:r>
            <a:endParaRPr lang="en-US" sz="1600" dirty="0"/>
          </a:p>
        </p:txBody>
      </p:sp>
      <p:sp>
        <p:nvSpPr>
          <p:cNvPr id="28" name="Text 25"/>
          <p:cNvSpPr txBox="1"/>
          <p:nvPr/>
        </p:nvSpPr>
        <p:spPr>
          <a:xfrm>
            <a:off x="1828800" y="3776472"/>
            <a:ext cx="731520" cy="274320"/>
          </a:xfrm>
          <a:prstGeom prst="rect">
            <a:avLst/>
          </a:prstGeom>
          <a:noFill/>
          <a:ln/>
        </p:spPr>
        <p:txBody>
          <a:bodyPr wrap="square" lIns="0" tIns="0" rIns="0" bIns="0" rtlCol="0" anchor="ctr"/>
          <a:lstStyle/>
          <a:p>
            <a:pPr algn="ctr" indent="0" marL="0">
              <a:buNone/>
            </a:pPr>
            <a:r>
              <a:rPr lang="en-US" sz="1300" dirty="0">
                <a:solidFill>
                  <a:srgbClr val="5B6478"/>
                </a:solidFill>
                <a:latin typeface="Courier New" pitchFamily="34" charset="0"/>
                <a:ea typeface="Courier New" pitchFamily="34" charset="-122"/>
                <a:cs typeface="Courier New" pitchFamily="34" charset="-120"/>
              </a:rPr>
              <a:t>[0]</a:t>
            </a:r>
            <a:endParaRPr lang="en-US" sz="1300" dirty="0"/>
          </a:p>
        </p:txBody>
      </p:sp>
      <p:sp>
        <p:nvSpPr>
          <p:cNvPr id="29" name="Shape 26"/>
          <p:cNvSpPr/>
          <p:nvPr/>
        </p:nvSpPr>
        <p:spPr>
          <a:xfrm>
            <a:off x="2560320" y="3246120"/>
            <a:ext cx="731520" cy="502920"/>
          </a:xfrm>
          <a:prstGeom prst="rect">
            <a:avLst/>
          </a:prstGeom>
          <a:solidFill>
            <a:srgbClr val="FFF1D6"/>
          </a:solidFill>
          <a:ln w="15875">
            <a:solidFill>
              <a:srgbClr val="14213D"/>
            </a:solidFill>
            <a:prstDash val="solid"/>
          </a:ln>
        </p:spPr>
      </p:sp>
      <p:sp>
        <p:nvSpPr>
          <p:cNvPr id="30" name="Text 27"/>
          <p:cNvSpPr txBox="1"/>
          <p:nvPr/>
        </p:nvSpPr>
        <p:spPr>
          <a:xfrm>
            <a:off x="2560320" y="3246120"/>
            <a:ext cx="731520"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20</a:t>
            </a:r>
            <a:endParaRPr lang="en-US" sz="1600" dirty="0"/>
          </a:p>
        </p:txBody>
      </p:sp>
      <p:sp>
        <p:nvSpPr>
          <p:cNvPr id="31" name="Text 28"/>
          <p:cNvSpPr txBox="1"/>
          <p:nvPr/>
        </p:nvSpPr>
        <p:spPr>
          <a:xfrm>
            <a:off x="2560320" y="3776472"/>
            <a:ext cx="731520" cy="274320"/>
          </a:xfrm>
          <a:prstGeom prst="rect">
            <a:avLst/>
          </a:prstGeom>
          <a:noFill/>
          <a:ln/>
        </p:spPr>
        <p:txBody>
          <a:bodyPr wrap="square" lIns="0" tIns="0" rIns="0" bIns="0" rtlCol="0" anchor="ctr"/>
          <a:lstStyle/>
          <a:p>
            <a:pPr algn="ctr" indent="0" marL="0">
              <a:buNone/>
            </a:pPr>
            <a:r>
              <a:rPr lang="en-US" sz="1300" dirty="0">
                <a:solidFill>
                  <a:srgbClr val="5B6478"/>
                </a:solidFill>
                <a:latin typeface="Courier New" pitchFamily="34" charset="0"/>
                <a:ea typeface="Courier New" pitchFamily="34" charset="-122"/>
                <a:cs typeface="Courier New" pitchFamily="34" charset="-120"/>
              </a:rPr>
              <a:t>[1]</a:t>
            </a:r>
            <a:endParaRPr lang="en-US" sz="1300" dirty="0"/>
          </a:p>
        </p:txBody>
      </p:sp>
      <p:sp>
        <p:nvSpPr>
          <p:cNvPr id="32" name="Shape 29"/>
          <p:cNvSpPr/>
          <p:nvPr/>
        </p:nvSpPr>
        <p:spPr>
          <a:xfrm>
            <a:off x="3291840" y="3246120"/>
            <a:ext cx="731520" cy="502920"/>
          </a:xfrm>
          <a:prstGeom prst="rect">
            <a:avLst/>
          </a:prstGeom>
          <a:solidFill>
            <a:srgbClr val="FFFFFF"/>
          </a:solidFill>
          <a:ln w="15875">
            <a:solidFill>
              <a:srgbClr val="14213D"/>
            </a:solidFill>
            <a:prstDash val="solid"/>
          </a:ln>
        </p:spPr>
      </p:sp>
      <p:sp>
        <p:nvSpPr>
          <p:cNvPr id="33" name="Text 30"/>
          <p:cNvSpPr txBox="1"/>
          <p:nvPr/>
        </p:nvSpPr>
        <p:spPr>
          <a:xfrm>
            <a:off x="3291840" y="3246120"/>
            <a:ext cx="731520" cy="5029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3</a:t>
            </a:r>
            <a:endParaRPr lang="en-US" sz="1600" dirty="0"/>
          </a:p>
        </p:txBody>
      </p:sp>
      <p:sp>
        <p:nvSpPr>
          <p:cNvPr id="34" name="Text 31"/>
          <p:cNvSpPr txBox="1"/>
          <p:nvPr/>
        </p:nvSpPr>
        <p:spPr>
          <a:xfrm>
            <a:off x="3291840" y="3776472"/>
            <a:ext cx="731520" cy="274320"/>
          </a:xfrm>
          <a:prstGeom prst="rect">
            <a:avLst/>
          </a:prstGeom>
          <a:noFill/>
          <a:ln/>
        </p:spPr>
        <p:txBody>
          <a:bodyPr wrap="square" lIns="0" tIns="0" rIns="0" bIns="0" rtlCol="0" anchor="ctr"/>
          <a:lstStyle/>
          <a:p>
            <a:pPr algn="ctr" indent="0" marL="0">
              <a:buNone/>
            </a:pPr>
            <a:r>
              <a:rPr lang="en-US" sz="1300" dirty="0">
                <a:solidFill>
                  <a:srgbClr val="5B6478"/>
                </a:solidFill>
                <a:latin typeface="Courier New" pitchFamily="34" charset="0"/>
                <a:ea typeface="Courier New" pitchFamily="34" charset="-122"/>
                <a:cs typeface="Courier New" pitchFamily="34" charset="-120"/>
              </a:rPr>
              <a:t>[2]</a:t>
            </a:r>
            <a:endParaRPr lang="en-US" sz="1300" dirty="0"/>
          </a:p>
        </p:txBody>
      </p:sp>
      <p:sp>
        <p:nvSpPr>
          <p:cNvPr id="35" name="Text 32"/>
          <p:cNvSpPr txBox="1"/>
          <p:nvPr/>
        </p:nvSpPr>
        <p:spPr>
          <a:xfrm>
            <a:off x="475488" y="3264408"/>
            <a:ext cx="320040" cy="457200"/>
          </a:xfrm>
          <a:prstGeom prst="rect">
            <a:avLst/>
          </a:prstGeom>
          <a:noFill/>
          <a:ln/>
        </p:spPr>
        <p:txBody>
          <a:bodyPr wrap="square" lIns="0" tIns="0" rIns="0" bIns="0" rtlCol="0" anchor="ctr"/>
          <a:lstStyle/>
          <a:p>
            <a:pPr algn="r" indent="0" marL="0">
              <a:buNone/>
            </a:pPr>
            <a:r>
              <a:rPr lang="en-US" sz="1700" b="1" dirty="0">
                <a:solidFill>
                  <a:srgbClr val="2E9E6A"/>
                </a:solidFill>
                <a:latin typeface="Courier New" pitchFamily="34" charset="0"/>
                <a:ea typeface="Courier New" pitchFamily="34" charset="-122"/>
                <a:cs typeface="Courier New" pitchFamily="34" charset="-120"/>
              </a:rPr>
              <a:t>z</a:t>
            </a:r>
            <a:endParaRPr lang="en-US" sz="1700" dirty="0"/>
          </a:p>
        </p:txBody>
      </p:sp>
      <p:sp>
        <p:nvSpPr>
          <p:cNvPr id="36" name="Shape 33"/>
          <p:cNvSpPr/>
          <p:nvPr/>
        </p:nvSpPr>
        <p:spPr>
          <a:xfrm>
            <a:off x="868680" y="3264408"/>
            <a:ext cx="457200" cy="457200"/>
          </a:xfrm>
          <a:prstGeom prst="rect">
            <a:avLst/>
          </a:prstGeom>
          <a:solidFill>
            <a:srgbClr val="EEF1F6"/>
          </a:solidFill>
          <a:ln w="15875">
            <a:solidFill>
              <a:srgbClr val="2E9E6A"/>
            </a:solidFill>
            <a:prstDash val="solid"/>
          </a:ln>
        </p:spPr>
      </p:sp>
      <p:sp>
        <p:nvSpPr>
          <p:cNvPr id="37" name="Shape 34"/>
          <p:cNvSpPr/>
          <p:nvPr/>
        </p:nvSpPr>
        <p:spPr>
          <a:xfrm>
            <a:off x="1042416" y="3438144"/>
            <a:ext cx="109728" cy="109728"/>
          </a:xfrm>
          <a:prstGeom prst="ellipse">
            <a:avLst/>
          </a:prstGeom>
          <a:solidFill>
            <a:srgbClr val="2E9E6A"/>
          </a:solidFill>
          <a:ln w="12700">
            <a:solidFill>
              <a:srgbClr val="2E9E6A"/>
            </a:solidFill>
            <a:prstDash val="solid"/>
          </a:ln>
        </p:spPr>
      </p:sp>
      <p:sp>
        <p:nvSpPr>
          <p:cNvPr id="38" name="Shape 35"/>
          <p:cNvSpPr/>
          <p:nvPr/>
        </p:nvSpPr>
        <p:spPr>
          <a:xfrm>
            <a:off x="1097280" y="3493008"/>
            <a:ext cx="731520" cy="0"/>
          </a:xfrm>
          <a:prstGeom prst="line">
            <a:avLst/>
          </a:prstGeom>
          <a:noFill/>
          <a:ln w="15875">
            <a:solidFill>
              <a:srgbClr val="2E9E6A"/>
            </a:solidFill>
            <a:prstDash val="solid"/>
            <a:tailEnd type="triangle"/>
          </a:ln>
        </p:spPr>
      </p:sp>
      <p:sp>
        <p:nvSpPr>
          <p:cNvPr id="39" name="Text 36"/>
          <p:cNvSpPr txBox="1"/>
          <p:nvPr/>
        </p:nvSpPr>
        <p:spPr>
          <a:xfrm>
            <a:off x="548640" y="4114800"/>
            <a:ext cx="4206240" cy="320040"/>
          </a:xfrm>
          <a:prstGeom prst="rect">
            <a:avLst/>
          </a:prstGeom>
          <a:noFill/>
          <a:ln/>
        </p:spPr>
        <p:txBody>
          <a:bodyPr wrap="square" lIns="0" tIns="0" rIns="0" bIns="0" rtlCol="0" anchor="ctr"/>
          <a:lstStyle/>
          <a:p>
            <a:pPr indent="0" marL="0">
              <a:buNone/>
            </a:pPr>
            <a:r>
              <a:rPr lang="en-US" sz="1400" b="1" dirty="0">
                <a:solidFill>
                  <a:srgbClr val="5B6478"/>
                </a:solidFill>
                <a:latin typeface="Calibri" pitchFamily="34" charset="0"/>
                <a:ea typeface="Calibri" pitchFamily="34" charset="-122"/>
                <a:cs typeface="Calibri" pitchFamily="34" charset="-120"/>
              </a:rPr>
              <a:t>x and y: one array · z: a clone</a:t>
            </a:r>
            <a:endParaRPr lang="en-US" sz="14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4937760" y="1645920"/>
          <a:ext cx="6720840" cy="914400"/>
        </p:xfrm>
        <a:graphic>
          <a:graphicData uri="http://schemas.openxmlformats.org/drawingml/2006/table">
            <a:tbl>
              <a:tblPr/>
              <a:tblGrid>
                <a:gridCol w="411480"/>
                <a:gridCol w="1600200"/>
                <a:gridCol w="4709160"/>
              </a:tblGrid>
              <a:tr h="457200">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Output</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Why</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457200">
                <a:tc>
                  <a:txBody>
                    <a:bodyPr/>
                    <a:lstStyle/>
                    <a:p>
                      <a:pPr algn="ctr" indent="0" marL="0">
                        <a:buNone/>
                      </a:pPr>
                      <a:r>
                        <a:rPr lang="en-US" sz="1300" dirty="0">
                          <a:solidFill>
                            <a:srgbClr val="14213D"/>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10 2 30</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x: y[0] = 10 and x[2] = 30 hit the same array</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57200">
                <a:tc>
                  <a:txBody>
                    <a:bodyPr/>
                    <a:lstStyle/>
                    <a:p>
                      <a:pPr algn="ctr" indent="0" marL="0">
                        <a:buNone/>
                      </a:pPr>
                      <a:r>
                        <a:rPr lang="en-US" sz="1300" dirty="0">
                          <a:solidFill>
                            <a:srgbClr val="14213D"/>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10 2 30</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y is x</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57200">
                <a:tc>
                  <a:txBody>
                    <a:bodyPr/>
                    <a:lstStyle/>
                    <a:p>
                      <a:pPr algn="ctr" indent="0" marL="0">
                        <a:buNone/>
                      </a:pPr>
                      <a:r>
                        <a:rPr lang="en-US" sz="1300" dirty="0">
                          <a:solidFill>
                            <a:srgbClr val="14213D"/>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10 20 3</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clone made after y[0] = 10; only z[1] changed</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57200">
                <a:tc>
                  <a:txBody>
                    <a:bodyPr/>
                    <a:lstStyle/>
                    <a:p>
                      <a:pPr algn="ctr" indent="0" marL="0">
                        <a:buNone/>
                      </a:pPr>
                      <a:r>
                        <a:rPr lang="en-US" sz="1300" dirty="0">
                          <a:solidFill>
                            <a:srgbClr val="14213D"/>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1 3 6 10 15</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a[i] += updated a[i − 1]: running total</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57200">
                <a:tc>
                  <a:txBody>
                    <a:bodyPr/>
                    <a:lstStyle/>
                    <a:p>
                      <a:pPr algn="ctr" indent="0" marL="0">
                        <a:buNone/>
                      </a:pPr>
                      <a:r>
                        <a:rPr lang="en-US" sz="1300" dirty="0">
                          <a:solidFill>
                            <a:srgbClr val="14213D"/>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1 0 2 1</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values 2, 0, 2, 3 used as indices of c</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bl>
          </a:graphicData>
        </a:graphic>
      </p:graphicFrame>
      <p:sp>
        <p:nvSpPr>
          <p:cNvPr id="41" name="Shape 37"/>
          <p:cNvSpPr/>
          <p:nvPr/>
        </p:nvSpPr>
        <p:spPr>
          <a:xfrm>
            <a:off x="548640" y="4617720"/>
            <a:ext cx="4206240" cy="1463040"/>
          </a:xfrm>
          <a:prstGeom prst="roundRect">
            <a:avLst>
              <a:gd name="adj" fmla="val 6250"/>
            </a:avLst>
          </a:prstGeom>
          <a:solidFill>
            <a:srgbClr val="0B0F19"/>
          </a:solidFill>
          <a:ln w="12700">
            <a:solidFill>
              <a:srgbClr val="2A3654"/>
            </a:solidFill>
            <a:prstDash val="solid"/>
          </a:ln>
        </p:spPr>
      </p:sp>
      <p:sp>
        <p:nvSpPr>
          <p:cNvPr id="42" name="Shape 38"/>
          <p:cNvSpPr/>
          <p:nvPr/>
        </p:nvSpPr>
        <p:spPr>
          <a:xfrm>
            <a:off x="731520" y="4745736"/>
            <a:ext cx="118872" cy="118872"/>
          </a:xfrm>
          <a:prstGeom prst="ellipse">
            <a:avLst/>
          </a:prstGeom>
          <a:solidFill>
            <a:srgbClr val="FF5F57"/>
          </a:solidFill>
          <a:ln w="12700">
            <a:solidFill>
              <a:srgbClr val="FF5F57"/>
            </a:solidFill>
            <a:prstDash val="solid"/>
          </a:ln>
        </p:spPr>
      </p:sp>
      <p:sp>
        <p:nvSpPr>
          <p:cNvPr id="43" name="Shape 39"/>
          <p:cNvSpPr/>
          <p:nvPr/>
        </p:nvSpPr>
        <p:spPr>
          <a:xfrm>
            <a:off x="960120" y="4745736"/>
            <a:ext cx="118872" cy="118872"/>
          </a:xfrm>
          <a:prstGeom prst="ellipse">
            <a:avLst/>
          </a:prstGeom>
          <a:solidFill>
            <a:srgbClr val="FEBC2E"/>
          </a:solidFill>
          <a:ln w="12700">
            <a:solidFill>
              <a:srgbClr val="FEBC2E"/>
            </a:solidFill>
            <a:prstDash val="solid"/>
          </a:ln>
        </p:spPr>
      </p:sp>
      <p:sp>
        <p:nvSpPr>
          <p:cNvPr id="44" name="Shape 40"/>
          <p:cNvSpPr/>
          <p:nvPr/>
        </p:nvSpPr>
        <p:spPr>
          <a:xfrm>
            <a:off x="1188720" y="4745736"/>
            <a:ext cx="118872" cy="118872"/>
          </a:xfrm>
          <a:prstGeom prst="ellipse">
            <a:avLst/>
          </a:prstGeom>
          <a:solidFill>
            <a:srgbClr val="28C840"/>
          </a:solidFill>
          <a:ln w="12700">
            <a:solidFill>
              <a:srgbClr val="28C840"/>
            </a:solidFill>
            <a:prstDash val="solid"/>
          </a:ln>
        </p:spPr>
      </p:sp>
      <p:sp>
        <p:nvSpPr>
          <p:cNvPr id="45" name="Text 41"/>
          <p:cNvSpPr txBox="1"/>
          <p:nvPr/>
        </p:nvSpPr>
        <p:spPr>
          <a:xfrm>
            <a:off x="1463040" y="4690872"/>
            <a:ext cx="310896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09_13_PredictChecker (2nd part)</a:t>
            </a:r>
            <a:endParaRPr lang="en-US" sz="1000" dirty="0"/>
          </a:p>
        </p:txBody>
      </p:sp>
      <p:sp>
        <p:nvSpPr>
          <p:cNvPr id="46" name="Text 42"/>
          <p:cNvSpPr txBox="1"/>
          <p:nvPr/>
        </p:nvSpPr>
        <p:spPr>
          <a:xfrm>
            <a:off x="777240" y="5001768"/>
            <a:ext cx="3749040" cy="960120"/>
          </a:xfrm>
          <a:prstGeom prst="rect">
            <a:avLst/>
          </a:prstGeom>
          <a:noFill/>
          <a:ln/>
        </p:spPr>
        <p:txBody>
          <a:bodyPr wrap="square" lIns="0" tIns="0" rIns="0" bIns="0" rtlCol="0" anchor="t"/>
          <a:lstStyle/>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10 2 30</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10 2 30</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10 20 3</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1 3 6 10 15</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1 0 2 1</a:t>
            </a:r>
            <a:endParaRPr lang="en-US" sz="1300" dirty="0"/>
          </a:p>
        </p:txBody>
      </p:sp>
      <p:sp>
        <p:nvSpPr>
          <p:cNvPr id="47" name="Shape 43"/>
          <p:cNvSpPr/>
          <p:nvPr/>
        </p:nvSpPr>
        <p:spPr>
          <a:xfrm>
            <a:off x="4937760" y="4617720"/>
            <a:ext cx="6720840" cy="1463040"/>
          </a:xfrm>
          <a:prstGeom prst="roundRect">
            <a:avLst>
              <a:gd name="adj" fmla="val 7500"/>
            </a:avLst>
          </a:prstGeom>
          <a:solidFill>
            <a:srgbClr val="FFF6E3"/>
          </a:solidFill>
          <a:ln w="12700">
            <a:solidFill>
              <a:srgbClr val="FFF6E3"/>
            </a:solidFill>
            <a:prstDash val="solid"/>
          </a:ln>
        </p:spPr>
      </p:sp>
      <p:pic>
        <p:nvPicPr>
          <p:cNvPr id="48" name="Image 0" descr="preencoded.png">    </p:cNvPr>
          <p:cNvPicPr>
            <a:picLocks noChangeAspect="1"/>
          </p:cNvPicPr>
          <p:nvPr/>
        </p:nvPicPr>
        <p:blipFill>
          <a:blip r:embed="rId1"/>
          <a:stretch>
            <a:fillRect/>
          </a:stretch>
        </p:blipFill>
        <p:spPr>
          <a:xfrm>
            <a:off x="5212080" y="5074920"/>
            <a:ext cx="548640" cy="548640"/>
          </a:xfrm>
          <a:prstGeom prst="rect">
            <a:avLst/>
          </a:prstGeom>
        </p:spPr>
      </p:pic>
      <p:sp>
        <p:nvSpPr>
          <p:cNvPr id="49" name="Text 44"/>
          <p:cNvSpPr txBox="1"/>
          <p:nvPr/>
        </p:nvSpPr>
        <p:spPr>
          <a:xfrm>
            <a:off x="6035040" y="4690872"/>
            <a:ext cx="5349240" cy="1316736"/>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Exam method: </a:t>
            </a:r>
            <a:pPr indent="0" marL="0">
              <a:buNone/>
            </a:pPr>
            <a:r>
              <a:rPr lang="en-US" sz="1500" dirty="0">
                <a:solidFill>
                  <a:srgbClr val="333B4F"/>
                </a:solidFill>
                <a:latin typeface="Calibri" pitchFamily="34" charset="0"/>
                <a:ea typeface="Calibri" pitchFamily="34" charset="-122"/>
                <a:cs typeface="Calibri" pitchFamily="34" charset="-120"/>
              </a:rPr>
              <a:t>draw boxes and arrows first, then execute line by line and update the boxes.</a:t>
            </a:r>
            <a:endParaRPr lang="en-US" sz="15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IN-CLASS · PAIRS · 30 MIN</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Your Turn: Six Array Exercises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9</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35</a:t>
            </a:r>
            <a:endParaRPr lang="en-US" sz="1000" dirty="0"/>
          </a:p>
        </p:txBody>
      </p:sp>
      <p:sp>
        <p:nvSpPr>
          <p:cNvPr id="7" name="Shape 4"/>
          <p:cNvSpPr/>
          <p:nvPr/>
        </p:nvSpPr>
        <p:spPr>
          <a:xfrm>
            <a:off x="548640" y="1645920"/>
            <a:ext cx="3566160" cy="2057400"/>
          </a:xfrm>
          <a:prstGeom prst="roundRect">
            <a:avLst>
              <a:gd name="adj" fmla="val 5333"/>
            </a:avLst>
          </a:prstGeom>
          <a:solidFill>
            <a:srgbClr val="EEF1F6"/>
          </a:solidFill>
          <a:ln w="12700">
            <a:solidFill>
              <a:srgbClr val="EEF1F6"/>
            </a:solidFill>
            <a:prstDash val="solid"/>
          </a:ln>
        </p:spPr>
      </p:sp>
      <p:sp>
        <p:nvSpPr>
          <p:cNvPr id="8" name="Shape 5"/>
          <p:cNvSpPr/>
          <p:nvPr/>
        </p:nvSpPr>
        <p:spPr>
          <a:xfrm>
            <a:off x="777240" y="1847088"/>
            <a:ext cx="502920" cy="502920"/>
          </a:xfrm>
          <a:prstGeom prst="ellipse">
            <a:avLst/>
          </a:prstGeom>
          <a:solidFill>
            <a:srgbClr val="14213D"/>
          </a:solidFill>
          <a:ln w="12700">
            <a:solidFill>
              <a:srgbClr val="14213D"/>
            </a:solidFill>
            <a:prstDash val="solid"/>
          </a:ln>
        </p:spPr>
      </p:sp>
      <p:sp>
        <p:nvSpPr>
          <p:cNvPr id="9" name="Text 6"/>
          <p:cNvSpPr txBox="1"/>
          <p:nvPr/>
        </p:nvSpPr>
        <p:spPr>
          <a:xfrm>
            <a:off x="777240" y="1847088"/>
            <a:ext cx="502920" cy="502920"/>
          </a:xfrm>
          <a:prstGeom prst="rect">
            <a:avLst/>
          </a:prstGeom>
          <a:noFill/>
          <a:ln/>
        </p:spPr>
        <p:txBody>
          <a:bodyPr wrap="square" lIns="0" tIns="0" rIns="0" bIns="0" rtlCol="0" anchor="ctr"/>
          <a:lstStyle/>
          <a:p>
            <a:pPr algn="ctr" indent="0" marL="0">
              <a:buNone/>
            </a:pPr>
            <a:r>
              <a:rPr lang="en-US" sz="1800" b="1" dirty="0">
                <a:solidFill>
                  <a:srgbClr val="FCA311"/>
                </a:solidFill>
                <a:latin typeface="Courier New" pitchFamily="34" charset="0"/>
                <a:ea typeface="Courier New" pitchFamily="34" charset="-122"/>
                <a:cs typeface="Courier New" pitchFamily="34" charset="-120"/>
              </a:rPr>
              <a:t>A</a:t>
            </a:r>
            <a:endParaRPr lang="en-US" sz="1800" dirty="0"/>
          </a:p>
        </p:txBody>
      </p:sp>
      <p:sp>
        <p:nvSpPr>
          <p:cNvPr id="10" name="Text 7"/>
          <p:cNvSpPr txBox="1"/>
          <p:nvPr/>
        </p:nvSpPr>
        <p:spPr>
          <a:xfrm>
            <a:off x="1417320" y="1847088"/>
            <a:ext cx="2560320" cy="502920"/>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Sums</a:t>
            </a:r>
            <a:endParaRPr lang="en-US" sz="1700" dirty="0"/>
          </a:p>
        </p:txBody>
      </p:sp>
      <p:sp>
        <p:nvSpPr>
          <p:cNvPr id="11" name="Text 8"/>
          <p:cNvSpPr txBox="1"/>
          <p:nvPr/>
        </p:nvSpPr>
        <p:spPr>
          <a:xfrm>
            <a:off x="777240" y="2468880"/>
            <a:ext cx="3154680" cy="1143000"/>
          </a:xfrm>
          <a:prstGeom prst="rect">
            <a:avLst/>
          </a:prstGeom>
          <a:noFill/>
          <a:ln/>
        </p:spPr>
        <p:txBody>
          <a:bodyPr wrap="square" lIns="0" tIns="0" rIns="0" bIns="0" rtlCol="0" anchor="t"/>
          <a:lstStyle/>
          <a:p>
            <a:pPr indent="0" marL="0">
              <a:buNone/>
            </a:pPr>
            <a:r>
              <a:rPr lang="en-US" sz="1450" dirty="0">
                <a:solidFill>
                  <a:srgbClr val="333B4F"/>
                </a:solidFill>
                <a:latin typeface="Calibri" pitchFamily="34" charset="0"/>
                <a:ea typeface="Calibri" pitchFamily="34" charset="-122"/>
                <a:cs typeface="Calibri" pitchFamily="34" charset="-120"/>
              </a:rPr>
              <a:t>Read 5 integers into an array; print the total and the sum of the elements with even index.</a:t>
            </a:r>
            <a:endParaRPr lang="en-US" sz="1450" dirty="0"/>
          </a:p>
        </p:txBody>
      </p:sp>
      <p:sp>
        <p:nvSpPr>
          <p:cNvPr id="12" name="Shape 9"/>
          <p:cNvSpPr/>
          <p:nvPr/>
        </p:nvSpPr>
        <p:spPr>
          <a:xfrm>
            <a:off x="4297680" y="1645920"/>
            <a:ext cx="3566160" cy="2057400"/>
          </a:xfrm>
          <a:prstGeom prst="roundRect">
            <a:avLst>
              <a:gd name="adj" fmla="val 5333"/>
            </a:avLst>
          </a:prstGeom>
          <a:solidFill>
            <a:srgbClr val="EEF1F6"/>
          </a:solidFill>
          <a:ln w="12700">
            <a:solidFill>
              <a:srgbClr val="EEF1F6"/>
            </a:solidFill>
            <a:prstDash val="solid"/>
          </a:ln>
        </p:spPr>
      </p:sp>
      <p:sp>
        <p:nvSpPr>
          <p:cNvPr id="13" name="Shape 10"/>
          <p:cNvSpPr/>
          <p:nvPr/>
        </p:nvSpPr>
        <p:spPr>
          <a:xfrm>
            <a:off x="4526280" y="1847088"/>
            <a:ext cx="502920" cy="502920"/>
          </a:xfrm>
          <a:prstGeom prst="ellipse">
            <a:avLst/>
          </a:prstGeom>
          <a:solidFill>
            <a:srgbClr val="14213D"/>
          </a:solidFill>
          <a:ln w="12700">
            <a:solidFill>
              <a:srgbClr val="14213D"/>
            </a:solidFill>
            <a:prstDash val="solid"/>
          </a:ln>
        </p:spPr>
      </p:sp>
      <p:sp>
        <p:nvSpPr>
          <p:cNvPr id="14" name="Text 11"/>
          <p:cNvSpPr txBox="1"/>
          <p:nvPr/>
        </p:nvSpPr>
        <p:spPr>
          <a:xfrm>
            <a:off x="4526280" y="1847088"/>
            <a:ext cx="502920" cy="502920"/>
          </a:xfrm>
          <a:prstGeom prst="rect">
            <a:avLst/>
          </a:prstGeom>
          <a:noFill/>
          <a:ln/>
        </p:spPr>
        <p:txBody>
          <a:bodyPr wrap="square" lIns="0" tIns="0" rIns="0" bIns="0" rtlCol="0" anchor="ctr"/>
          <a:lstStyle/>
          <a:p>
            <a:pPr algn="ctr" indent="0" marL="0">
              <a:buNone/>
            </a:pPr>
            <a:r>
              <a:rPr lang="en-US" sz="1800" b="1" dirty="0">
                <a:solidFill>
                  <a:srgbClr val="FCA311"/>
                </a:solidFill>
                <a:latin typeface="Courier New" pitchFamily="34" charset="0"/>
                <a:ea typeface="Courier New" pitchFamily="34" charset="-122"/>
                <a:cs typeface="Courier New" pitchFamily="34" charset="-120"/>
              </a:rPr>
              <a:t>B</a:t>
            </a:r>
            <a:endParaRPr lang="en-US" sz="1800" dirty="0"/>
          </a:p>
        </p:txBody>
      </p:sp>
      <p:sp>
        <p:nvSpPr>
          <p:cNvPr id="15" name="Text 12"/>
          <p:cNvSpPr txBox="1"/>
          <p:nvPr/>
        </p:nvSpPr>
        <p:spPr>
          <a:xfrm>
            <a:off x="5166360" y="1847088"/>
            <a:ext cx="2560320" cy="502920"/>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Above the first</a:t>
            </a:r>
            <a:endParaRPr lang="en-US" sz="1700" dirty="0"/>
          </a:p>
        </p:txBody>
      </p:sp>
      <p:sp>
        <p:nvSpPr>
          <p:cNvPr id="16" name="Text 13"/>
          <p:cNvSpPr txBox="1"/>
          <p:nvPr/>
        </p:nvSpPr>
        <p:spPr>
          <a:xfrm>
            <a:off x="4526280" y="2468880"/>
            <a:ext cx="3154680" cy="1143000"/>
          </a:xfrm>
          <a:prstGeom prst="rect">
            <a:avLst/>
          </a:prstGeom>
          <a:noFill/>
          <a:ln/>
        </p:spPr>
        <p:txBody>
          <a:bodyPr wrap="square" lIns="0" tIns="0" rIns="0" bIns="0" rtlCol="0" anchor="t"/>
          <a:lstStyle/>
          <a:p>
            <a:pPr indent="0" marL="0">
              <a:buNone/>
            </a:pPr>
            <a:r>
              <a:rPr lang="en-US" sz="1450" dirty="0">
                <a:solidFill>
                  <a:srgbClr val="333B4F"/>
                </a:solidFill>
                <a:latin typeface="Calibri" pitchFamily="34" charset="0"/>
                <a:ea typeface="Calibri" pitchFamily="34" charset="-122"/>
                <a:cs typeface="Calibri" pitchFamily="34" charset="-120"/>
              </a:rPr>
              <a:t>Read 10 numbers; print every number that is larger than the first one.</a:t>
            </a:r>
            <a:endParaRPr lang="en-US" sz="1450" dirty="0"/>
          </a:p>
        </p:txBody>
      </p:sp>
      <p:sp>
        <p:nvSpPr>
          <p:cNvPr id="17" name="Shape 14"/>
          <p:cNvSpPr/>
          <p:nvPr/>
        </p:nvSpPr>
        <p:spPr>
          <a:xfrm>
            <a:off x="8046720" y="1645920"/>
            <a:ext cx="3566160" cy="2057400"/>
          </a:xfrm>
          <a:prstGeom prst="roundRect">
            <a:avLst>
              <a:gd name="adj" fmla="val 5333"/>
            </a:avLst>
          </a:prstGeom>
          <a:solidFill>
            <a:srgbClr val="EEF1F6"/>
          </a:solidFill>
          <a:ln w="12700">
            <a:solidFill>
              <a:srgbClr val="EEF1F6"/>
            </a:solidFill>
            <a:prstDash val="solid"/>
          </a:ln>
        </p:spPr>
      </p:sp>
      <p:sp>
        <p:nvSpPr>
          <p:cNvPr id="18" name="Shape 15"/>
          <p:cNvSpPr/>
          <p:nvPr/>
        </p:nvSpPr>
        <p:spPr>
          <a:xfrm>
            <a:off x="8275320" y="1847088"/>
            <a:ext cx="502920" cy="502920"/>
          </a:xfrm>
          <a:prstGeom prst="ellipse">
            <a:avLst/>
          </a:prstGeom>
          <a:solidFill>
            <a:srgbClr val="14213D"/>
          </a:solidFill>
          <a:ln w="12700">
            <a:solidFill>
              <a:srgbClr val="14213D"/>
            </a:solidFill>
            <a:prstDash val="solid"/>
          </a:ln>
        </p:spPr>
      </p:sp>
      <p:sp>
        <p:nvSpPr>
          <p:cNvPr id="19" name="Text 16"/>
          <p:cNvSpPr txBox="1"/>
          <p:nvPr/>
        </p:nvSpPr>
        <p:spPr>
          <a:xfrm>
            <a:off x="8275320" y="1847088"/>
            <a:ext cx="502920" cy="502920"/>
          </a:xfrm>
          <a:prstGeom prst="rect">
            <a:avLst/>
          </a:prstGeom>
          <a:noFill/>
          <a:ln/>
        </p:spPr>
        <p:txBody>
          <a:bodyPr wrap="square" lIns="0" tIns="0" rIns="0" bIns="0" rtlCol="0" anchor="ctr"/>
          <a:lstStyle/>
          <a:p>
            <a:pPr algn="ctr" indent="0" marL="0">
              <a:buNone/>
            </a:pPr>
            <a:r>
              <a:rPr lang="en-US" sz="1800" b="1" dirty="0">
                <a:solidFill>
                  <a:srgbClr val="FCA311"/>
                </a:solidFill>
                <a:latin typeface="Courier New" pitchFamily="34" charset="0"/>
                <a:ea typeface="Courier New" pitchFamily="34" charset="-122"/>
                <a:cs typeface="Courier New" pitchFamily="34" charset="-120"/>
              </a:rPr>
              <a:t>C</a:t>
            </a:r>
            <a:endParaRPr lang="en-US" sz="1800" dirty="0"/>
          </a:p>
        </p:txBody>
      </p:sp>
      <p:sp>
        <p:nvSpPr>
          <p:cNvPr id="20" name="Text 17"/>
          <p:cNvSpPr txBox="1"/>
          <p:nvPr/>
        </p:nvSpPr>
        <p:spPr>
          <a:xfrm>
            <a:off x="8915400" y="1847088"/>
            <a:ext cx="2560320" cy="502920"/>
          </a:xfrm>
          <a:prstGeom prst="rect">
            <a:avLst/>
          </a:prstGeom>
          <a:noFill/>
          <a:ln/>
        </p:spPr>
        <p:txBody>
          <a:bodyPr wrap="square" lIns="0" tIns="0" rIns="0" bIns="0" rtlCol="0" anchor="ctr"/>
          <a:lstStyle/>
          <a:p>
            <a:pPr indent="0" marL="0">
              <a:buNone/>
            </a:pPr>
            <a:r>
              <a:rPr lang="en-US" sz="1700" b="1" dirty="0">
                <a:solidFill>
                  <a:srgbClr val="2F6FB3"/>
                </a:solidFill>
                <a:latin typeface="Cambria" pitchFamily="34" charset="0"/>
                <a:ea typeface="Cambria" pitchFamily="34" charset="-122"/>
                <a:cs typeface="Cambria" pitchFamily="34" charset="-120"/>
              </a:rPr>
              <a:t>Palindrome</a:t>
            </a:r>
            <a:endParaRPr lang="en-US" sz="1700" dirty="0"/>
          </a:p>
        </p:txBody>
      </p:sp>
      <p:sp>
        <p:nvSpPr>
          <p:cNvPr id="21" name="Text 18"/>
          <p:cNvSpPr txBox="1"/>
          <p:nvPr/>
        </p:nvSpPr>
        <p:spPr>
          <a:xfrm>
            <a:off x="8275320" y="2468880"/>
            <a:ext cx="3154680" cy="1143000"/>
          </a:xfrm>
          <a:prstGeom prst="rect">
            <a:avLst/>
          </a:prstGeom>
          <a:noFill/>
          <a:ln/>
        </p:spPr>
        <p:txBody>
          <a:bodyPr wrap="square" lIns="0" tIns="0" rIns="0" bIns="0" rtlCol="0" anchor="t"/>
          <a:lstStyle/>
          <a:p>
            <a:pPr indent="0" marL="0">
              <a:buNone/>
            </a:pPr>
            <a:r>
              <a:rPr lang="en-US" sz="1450" dirty="0">
                <a:solidFill>
                  <a:srgbClr val="333B4F"/>
                </a:solidFill>
                <a:latin typeface="Calibri" pitchFamily="34" charset="0"/>
                <a:ea typeface="Calibri" pitchFamily="34" charset="-122"/>
                <a:cs typeface="Calibri" pitchFamily="34" charset="-120"/>
              </a:rPr>
              <a:t>Read a word; print whether it reads the same backwards (use text[i]).</a:t>
            </a:r>
            <a:endParaRPr lang="en-US" sz="1450" dirty="0"/>
          </a:p>
        </p:txBody>
      </p:sp>
      <p:sp>
        <p:nvSpPr>
          <p:cNvPr id="22" name="Shape 19"/>
          <p:cNvSpPr/>
          <p:nvPr/>
        </p:nvSpPr>
        <p:spPr>
          <a:xfrm>
            <a:off x="548640" y="3886200"/>
            <a:ext cx="3566160" cy="2057400"/>
          </a:xfrm>
          <a:prstGeom prst="roundRect">
            <a:avLst>
              <a:gd name="adj" fmla="val 5333"/>
            </a:avLst>
          </a:prstGeom>
          <a:solidFill>
            <a:srgbClr val="EEF1F6"/>
          </a:solidFill>
          <a:ln w="12700">
            <a:solidFill>
              <a:srgbClr val="EEF1F6"/>
            </a:solidFill>
            <a:prstDash val="solid"/>
          </a:ln>
        </p:spPr>
      </p:sp>
      <p:sp>
        <p:nvSpPr>
          <p:cNvPr id="23" name="Shape 20"/>
          <p:cNvSpPr/>
          <p:nvPr/>
        </p:nvSpPr>
        <p:spPr>
          <a:xfrm>
            <a:off x="777240" y="4087368"/>
            <a:ext cx="502920" cy="502920"/>
          </a:xfrm>
          <a:prstGeom prst="ellipse">
            <a:avLst/>
          </a:prstGeom>
          <a:solidFill>
            <a:srgbClr val="14213D"/>
          </a:solidFill>
          <a:ln w="12700">
            <a:solidFill>
              <a:srgbClr val="14213D"/>
            </a:solidFill>
            <a:prstDash val="solid"/>
          </a:ln>
        </p:spPr>
      </p:sp>
      <p:sp>
        <p:nvSpPr>
          <p:cNvPr id="24" name="Text 21"/>
          <p:cNvSpPr txBox="1"/>
          <p:nvPr/>
        </p:nvSpPr>
        <p:spPr>
          <a:xfrm>
            <a:off x="777240" y="4087368"/>
            <a:ext cx="502920" cy="502920"/>
          </a:xfrm>
          <a:prstGeom prst="rect">
            <a:avLst/>
          </a:prstGeom>
          <a:noFill/>
          <a:ln/>
        </p:spPr>
        <p:txBody>
          <a:bodyPr wrap="square" lIns="0" tIns="0" rIns="0" bIns="0" rtlCol="0" anchor="ctr"/>
          <a:lstStyle/>
          <a:p>
            <a:pPr algn="ctr" indent="0" marL="0">
              <a:buNone/>
            </a:pPr>
            <a:r>
              <a:rPr lang="en-US" sz="1800" b="1" dirty="0">
                <a:solidFill>
                  <a:srgbClr val="FCA311"/>
                </a:solidFill>
                <a:latin typeface="Courier New" pitchFamily="34" charset="0"/>
                <a:ea typeface="Courier New" pitchFamily="34" charset="-122"/>
                <a:cs typeface="Courier New" pitchFamily="34" charset="-120"/>
              </a:rPr>
              <a:t>D</a:t>
            </a:r>
            <a:endParaRPr lang="en-US" sz="1800" dirty="0"/>
          </a:p>
        </p:txBody>
      </p:sp>
      <p:sp>
        <p:nvSpPr>
          <p:cNvPr id="25" name="Text 22"/>
          <p:cNvSpPr txBox="1"/>
          <p:nvPr/>
        </p:nvSpPr>
        <p:spPr>
          <a:xfrm>
            <a:off x="1417320" y="4087368"/>
            <a:ext cx="2560320" cy="502920"/>
          </a:xfrm>
          <a:prstGeom prst="rect">
            <a:avLst/>
          </a:prstGeom>
          <a:noFill/>
          <a:ln/>
        </p:spPr>
        <p:txBody>
          <a:bodyPr wrap="square" lIns="0" tIns="0" rIns="0" bIns="0" rtlCol="0" anchor="ctr"/>
          <a:lstStyle/>
          <a:p>
            <a:pPr indent="0" marL="0">
              <a:buNone/>
            </a:pPr>
            <a:r>
              <a:rPr lang="en-US" sz="1700" b="1" dirty="0">
                <a:solidFill>
                  <a:srgbClr val="2E9E6A"/>
                </a:solidFill>
                <a:latin typeface="Cambria" pitchFamily="34" charset="0"/>
                <a:ea typeface="Cambria" pitchFamily="34" charset="-122"/>
                <a:cs typeface="Cambria" pitchFamily="34" charset="-120"/>
              </a:rPr>
              <a:t>Two dice</a:t>
            </a:r>
            <a:endParaRPr lang="en-US" sz="1700" dirty="0"/>
          </a:p>
        </p:txBody>
      </p:sp>
      <p:sp>
        <p:nvSpPr>
          <p:cNvPr id="26" name="Text 23"/>
          <p:cNvSpPr txBox="1"/>
          <p:nvPr/>
        </p:nvSpPr>
        <p:spPr>
          <a:xfrm>
            <a:off x="777240" y="4709160"/>
            <a:ext cx="3154680" cy="1143000"/>
          </a:xfrm>
          <a:prstGeom prst="rect">
            <a:avLst/>
          </a:prstGeom>
          <a:noFill/>
          <a:ln/>
        </p:spPr>
        <p:txBody>
          <a:bodyPr wrap="square" lIns="0" tIns="0" rIns="0" bIns="0" rtlCol="0" anchor="t"/>
          <a:lstStyle/>
          <a:p>
            <a:pPr indent="0" marL="0">
              <a:buNone/>
            </a:pPr>
            <a:r>
              <a:rPr lang="en-US" sz="1450" dirty="0">
                <a:solidFill>
                  <a:srgbClr val="333B4F"/>
                </a:solidFill>
                <a:latin typeface="Calibri" pitchFamily="34" charset="0"/>
                <a:ea typeface="Calibri" pitchFamily="34" charset="-122"/>
                <a:cs typeface="Calibri" pitchFamily="34" charset="-120"/>
              </a:rPr>
              <a:t>Roll two dice 1000 times; count the sums 2..12 in an int[11]; print a histogram.</a:t>
            </a:r>
            <a:endParaRPr lang="en-US" sz="1450" dirty="0"/>
          </a:p>
        </p:txBody>
      </p:sp>
      <p:sp>
        <p:nvSpPr>
          <p:cNvPr id="27" name="Shape 24"/>
          <p:cNvSpPr/>
          <p:nvPr/>
        </p:nvSpPr>
        <p:spPr>
          <a:xfrm>
            <a:off x="4297680" y="3886200"/>
            <a:ext cx="3566160" cy="2057400"/>
          </a:xfrm>
          <a:prstGeom prst="roundRect">
            <a:avLst>
              <a:gd name="adj" fmla="val 5333"/>
            </a:avLst>
          </a:prstGeom>
          <a:solidFill>
            <a:srgbClr val="EEF1F6"/>
          </a:solidFill>
          <a:ln w="12700">
            <a:solidFill>
              <a:srgbClr val="EEF1F6"/>
            </a:solidFill>
            <a:prstDash val="solid"/>
          </a:ln>
        </p:spPr>
      </p:sp>
      <p:sp>
        <p:nvSpPr>
          <p:cNvPr id="28" name="Shape 25"/>
          <p:cNvSpPr/>
          <p:nvPr/>
        </p:nvSpPr>
        <p:spPr>
          <a:xfrm>
            <a:off x="4526280" y="4087368"/>
            <a:ext cx="502920" cy="502920"/>
          </a:xfrm>
          <a:prstGeom prst="ellipse">
            <a:avLst/>
          </a:prstGeom>
          <a:solidFill>
            <a:srgbClr val="14213D"/>
          </a:solidFill>
          <a:ln w="12700">
            <a:solidFill>
              <a:srgbClr val="14213D"/>
            </a:solidFill>
            <a:prstDash val="solid"/>
          </a:ln>
        </p:spPr>
      </p:sp>
      <p:sp>
        <p:nvSpPr>
          <p:cNvPr id="29" name="Text 26"/>
          <p:cNvSpPr txBox="1"/>
          <p:nvPr/>
        </p:nvSpPr>
        <p:spPr>
          <a:xfrm>
            <a:off x="4526280" y="4087368"/>
            <a:ext cx="502920" cy="502920"/>
          </a:xfrm>
          <a:prstGeom prst="rect">
            <a:avLst/>
          </a:prstGeom>
          <a:noFill/>
          <a:ln/>
        </p:spPr>
        <p:txBody>
          <a:bodyPr wrap="square" lIns="0" tIns="0" rIns="0" bIns="0" rtlCol="0" anchor="ctr"/>
          <a:lstStyle/>
          <a:p>
            <a:pPr algn="ctr" indent="0" marL="0">
              <a:buNone/>
            </a:pPr>
            <a:r>
              <a:rPr lang="en-US" sz="1800" b="1" dirty="0">
                <a:solidFill>
                  <a:srgbClr val="FCA311"/>
                </a:solidFill>
                <a:latin typeface="Courier New" pitchFamily="34" charset="0"/>
                <a:ea typeface="Courier New" pitchFamily="34" charset="-122"/>
                <a:cs typeface="Courier New" pitchFamily="34" charset="-120"/>
              </a:rPr>
              <a:t>E</a:t>
            </a:r>
            <a:endParaRPr lang="en-US" sz="1800" dirty="0"/>
          </a:p>
        </p:txBody>
      </p:sp>
      <p:sp>
        <p:nvSpPr>
          <p:cNvPr id="30" name="Text 27"/>
          <p:cNvSpPr txBox="1"/>
          <p:nvPr/>
        </p:nvSpPr>
        <p:spPr>
          <a:xfrm>
            <a:off x="5166360" y="4087368"/>
            <a:ext cx="2560320" cy="502920"/>
          </a:xfrm>
          <a:prstGeom prst="rect">
            <a:avLst/>
          </a:prstGeom>
          <a:noFill/>
          <a:ln/>
        </p:spPr>
        <p:txBody>
          <a:bodyPr wrap="square" lIns="0" tIns="0" rIns="0" bIns="0" rtlCol="0" anchor="ctr"/>
          <a:lstStyle/>
          <a:p>
            <a:pPr indent="0" marL="0">
              <a:buNone/>
            </a:pPr>
            <a:r>
              <a:rPr lang="en-US" sz="1700" b="1" dirty="0">
                <a:solidFill>
                  <a:srgbClr val="2E9E6A"/>
                </a:solidFill>
                <a:latin typeface="Cambria" pitchFamily="34" charset="0"/>
                <a:ea typeface="Cambria" pitchFamily="34" charset="-122"/>
                <a:cs typeface="Cambria" pitchFamily="34" charset="-120"/>
              </a:rPr>
              <a:t>Seat booking</a:t>
            </a:r>
            <a:endParaRPr lang="en-US" sz="1700" dirty="0"/>
          </a:p>
        </p:txBody>
      </p:sp>
      <p:sp>
        <p:nvSpPr>
          <p:cNvPr id="31" name="Text 28"/>
          <p:cNvSpPr txBox="1"/>
          <p:nvPr/>
        </p:nvSpPr>
        <p:spPr>
          <a:xfrm>
            <a:off x="4526280" y="4709160"/>
            <a:ext cx="3154680" cy="1143000"/>
          </a:xfrm>
          <a:prstGeom prst="rect">
            <a:avLst/>
          </a:prstGeom>
          <a:noFill/>
          <a:ln/>
        </p:spPr>
        <p:txBody>
          <a:bodyPr wrap="square" lIns="0" tIns="0" rIns="0" bIns="0" rtlCol="0" anchor="t"/>
          <a:lstStyle/>
          <a:p>
            <a:pPr indent="0" marL="0">
              <a:buNone/>
            </a:pPr>
            <a:r>
              <a:rPr lang="en-US" sz="1450" dirty="0">
                <a:solidFill>
                  <a:srgbClr val="333B4F"/>
                </a:solidFill>
                <a:latin typeface="Calibri" pitchFamily="34" charset="0"/>
                <a:ea typeface="Calibri" pitchFamily="34" charset="-122"/>
                <a:cs typeface="Calibri" pitchFamily="34" charset="-120"/>
              </a:rPr>
              <a:t>bool[] seats = new bool[10]; reserve seat numbers until 0 is typed; print free seats.</a:t>
            </a:r>
            <a:endParaRPr lang="en-US" sz="1450" dirty="0"/>
          </a:p>
        </p:txBody>
      </p:sp>
      <p:sp>
        <p:nvSpPr>
          <p:cNvPr id="32" name="Shape 29"/>
          <p:cNvSpPr/>
          <p:nvPr/>
        </p:nvSpPr>
        <p:spPr>
          <a:xfrm>
            <a:off x="8046720" y="3886200"/>
            <a:ext cx="3566160" cy="2057400"/>
          </a:xfrm>
          <a:prstGeom prst="roundRect">
            <a:avLst>
              <a:gd name="adj" fmla="val 5333"/>
            </a:avLst>
          </a:prstGeom>
          <a:solidFill>
            <a:srgbClr val="EEF1F6"/>
          </a:solidFill>
          <a:ln w="12700">
            <a:solidFill>
              <a:srgbClr val="EEF1F6"/>
            </a:solidFill>
            <a:prstDash val="solid"/>
          </a:ln>
        </p:spPr>
      </p:sp>
      <p:sp>
        <p:nvSpPr>
          <p:cNvPr id="33" name="Shape 30"/>
          <p:cNvSpPr/>
          <p:nvPr/>
        </p:nvSpPr>
        <p:spPr>
          <a:xfrm>
            <a:off x="8275320" y="4087368"/>
            <a:ext cx="502920" cy="502920"/>
          </a:xfrm>
          <a:prstGeom prst="ellipse">
            <a:avLst/>
          </a:prstGeom>
          <a:solidFill>
            <a:srgbClr val="14213D"/>
          </a:solidFill>
          <a:ln w="12700">
            <a:solidFill>
              <a:srgbClr val="14213D"/>
            </a:solidFill>
            <a:prstDash val="solid"/>
          </a:ln>
        </p:spPr>
      </p:sp>
      <p:sp>
        <p:nvSpPr>
          <p:cNvPr id="34" name="Text 31"/>
          <p:cNvSpPr txBox="1"/>
          <p:nvPr/>
        </p:nvSpPr>
        <p:spPr>
          <a:xfrm>
            <a:off x="8275320" y="4087368"/>
            <a:ext cx="502920" cy="502920"/>
          </a:xfrm>
          <a:prstGeom prst="rect">
            <a:avLst/>
          </a:prstGeom>
          <a:noFill/>
          <a:ln/>
        </p:spPr>
        <p:txBody>
          <a:bodyPr wrap="square" lIns="0" tIns="0" rIns="0" bIns="0" rtlCol="0" anchor="ctr"/>
          <a:lstStyle/>
          <a:p>
            <a:pPr algn="ctr" indent="0" marL="0">
              <a:buNone/>
            </a:pPr>
            <a:r>
              <a:rPr lang="en-US" sz="1800" b="1" dirty="0">
                <a:solidFill>
                  <a:srgbClr val="FCA311"/>
                </a:solidFill>
                <a:latin typeface="Courier New" pitchFamily="34" charset="0"/>
                <a:ea typeface="Courier New" pitchFamily="34" charset="-122"/>
                <a:cs typeface="Courier New" pitchFamily="34" charset="-120"/>
              </a:rPr>
              <a:t>F</a:t>
            </a:r>
            <a:endParaRPr lang="en-US" sz="1800" dirty="0"/>
          </a:p>
        </p:txBody>
      </p:sp>
      <p:sp>
        <p:nvSpPr>
          <p:cNvPr id="35" name="Text 32"/>
          <p:cNvSpPr txBox="1"/>
          <p:nvPr/>
        </p:nvSpPr>
        <p:spPr>
          <a:xfrm>
            <a:off x="8915400" y="4087368"/>
            <a:ext cx="2560320" cy="502920"/>
          </a:xfrm>
          <a:prstGeom prst="rect">
            <a:avLst/>
          </a:prstGeom>
          <a:noFill/>
          <a:ln/>
        </p:spPr>
        <p:txBody>
          <a:bodyPr wrap="square" lIns="0" tIns="0" rIns="0" bIns="0" rtlCol="0" anchor="ctr"/>
          <a:lstStyle/>
          <a:p>
            <a:pPr indent="0" marL="0">
              <a:buNone/>
            </a:pPr>
            <a:r>
              <a:rPr lang="en-US" sz="1700" b="1" dirty="0">
                <a:solidFill>
                  <a:srgbClr val="2F6FB3"/>
                </a:solidFill>
                <a:latin typeface="Cambria" pitchFamily="34" charset="0"/>
                <a:ea typeface="Cambria" pitchFamily="34" charset="-122"/>
                <a:cs typeface="Cambria" pitchFamily="34" charset="-120"/>
              </a:rPr>
              <a:t>Vector sum</a:t>
            </a:r>
            <a:endParaRPr lang="en-US" sz="1700" dirty="0"/>
          </a:p>
        </p:txBody>
      </p:sp>
      <p:sp>
        <p:nvSpPr>
          <p:cNvPr id="36" name="Text 33"/>
          <p:cNvSpPr txBox="1"/>
          <p:nvPr/>
        </p:nvSpPr>
        <p:spPr>
          <a:xfrm>
            <a:off x="8275320" y="4709160"/>
            <a:ext cx="3154680" cy="1143000"/>
          </a:xfrm>
          <a:prstGeom prst="rect">
            <a:avLst/>
          </a:prstGeom>
          <a:noFill/>
          <a:ln/>
        </p:spPr>
        <p:txBody>
          <a:bodyPr wrap="square" lIns="0" tIns="0" rIns="0" bIns="0" rtlCol="0" anchor="t"/>
          <a:lstStyle/>
          <a:p>
            <a:pPr indent="0" marL="0">
              <a:buNone/>
            </a:pPr>
            <a:r>
              <a:rPr lang="en-US" sz="1450" dirty="0">
                <a:solidFill>
                  <a:srgbClr val="333B4F"/>
                </a:solidFill>
                <a:latin typeface="Calibri" pitchFamily="34" charset="0"/>
                <a:ea typeface="Calibri" pitchFamily="34" charset="-122"/>
                <a:cs typeface="Calibri" pitchFamily="34" charset="-120"/>
              </a:rPr>
              <a:t>Read two arrays of length n; build c[i] = a[i] + b[i] and print all three.</a:t>
            </a:r>
            <a:endParaRPr lang="en-US" sz="14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HOMEWORK · DUE BEFORE WEEK 10</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Practice at Home</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9</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36</a:t>
            </a:r>
            <a:endParaRPr lang="en-US" sz="1000" dirty="0"/>
          </a:p>
        </p:txBody>
      </p:sp>
      <p:sp>
        <p:nvSpPr>
          <p:cNvPr id="7" name="Shape 4"/>
          <p:cNvSpPr/>
          <p:nvPr/>
        </p:nvSpPr>
        <p:spPr>
          <a:xfrm>
            <a:off x="548640" y="1645920"/>
            <a:ext cx="5486400" cy="4434840"/>
          </a:xfrm>
          <a:prstGeom prst="roundRect">
            <a:avLst>
              <a:gd name="adj" fmla="val 2474"/>
            </a:avLst>
          </a:prstGeom>
          <a:solidFill>
            <a:srgbClr val="EEF1F6"/>
          </a:solidFill>
          <a:ln w="12700">
            <a:solidFill>
              <a:srgbClr val="EEF1F6"/>
            </a:solidFill>
            <a:prstDash val="solid"/>
          </a:ln>
        </p:spPr>
      </p:sp>
      <p:sp>
        <p:nvSpPr>
          <p:cNvPr id="8" name="Shape 5"/>
          <p:cNvSpPr/>
          <p:nvPr/>
        </p:nvSpPr>
        <p:spPr>
          <a:xfrm>
            <a:off x="777240" y="1828800"/>
            <a:ext cx="566928" cy="566928"/>
          </a:xfrm>
          <a:prstGeom prst="ellipse">
            <a:avLst/>
          </a:prstGeom>
          <a:solidFill>
            <a:srgbClr val="14213D"/>
          </a:solidFill>
          <a:ln w="12700">
            <a:solidFill>
              <a:srgbClr val="14213D"/>
            </a:solidFill>
            <a:prstDash val="solid"/>
          </a:ln>
        </p:spPr>
      </p:sp>
      <p:pic>
        <p:nvPicPr>
          <p:cNvPr id="9" name="Image 0" descr="preencoded.png">    </p:cNvPr>
          <p:cNvPicPr>
            <a:picLocks noChangeAspect="1"/>
          </p:cNvPicPr>
          <p:nvPr/>
        </p:nvPicPr>
        <p:blipFill>
          <a:blip r:embed="rId1"/>
          <a:stretch>
            <a:fillRect/>
          </a:stretch>
        </p:blipFill>
        <p:spPr>
          <a:xfrm>
            <a:off x="924641" y="1976201"/>
            <a:ext cx="272125" cy="272125"/>
          </a:xfrm>
          <a:prstGeom prst="rect">
            <a:avLst/>
          </a:prstGeom>
        </p:spPr>
      </p:pic>
      <p:sp>
        <p:nvSpPr>
          <p:cNvPr id="10" name="Text 6"/>
          <p:cNvSpPr txBox="1"/>
          <p:nvPr/>
        </p:nvSpPr>
        <p:spPr>
          <a:xfrm>
            <a:off x="1508760" y="1828800"/>
            <a:ext cx="4389120" cy="566928"/>
          </a:xfrm>
          <a:prstGeom prst="rect">
            <a:avLst/>
          </a:prstGeom>
          <a:noFill/>
          <a:ln/>
        </p:spPr>
        <p:txBody>
          <a:bodyPr wrap="square" lIns="0" tIns="0" rIns="0" bIns="0" rtlCol="0" anchor="ctr"/>
          <a:lstStyle/>
          <a:p>
            <a:pPr indent="0" marL="0">
              <a:buNone/>
            </a:pPr>
            <a:r>
              <a:rPr lang="en-US" sz="1800" b="1" dirty="0">
                <a:solidFill>
                  <a:srgbClr val="14213D"/>
                </a:solidFill>
                <a:latin typeface="Cambria" pitchFamily="34" charset="0"/>
                <a:ea typeface="Cambria" pitchFamily="34" charset="-122"/>
                <a:cs typeface="Cambria" pitchFamily="34" charset="-120"/>
              </a:rPr>
              <a:t>On paper</a:t>
            </a:r>
            <a:endParaRPr lang="en-US" sz="1800" dirty="0"/>
          </a:p>
        </p:txBody>
      </p:sp>
      <p:sp>
        <p:nvSpPr>
          <p:cNvPr id="11" name="Text 7"/>
          <p:cNvSpPr txBox="1"/>
          <p:nvPr/>
        </p:nvSpPr>
        <p:spPr>
          <a:xfrm>
            <a:off x="777240" y="2560320"/>
            <a:ext cx="5074920" cy="3474720"/>
          </a:xfrm>
          <a:prstGeom prst="rect">
            <a:avLst/>
          </a:prstGeom>
          <a:noFill/>
          <a:ln/>
        </p:spPr>
        <p:txBody>
          <a:bodyPr wrap="square" lIns="0" tIns="0" rIns="0" bIns="0" rtlCol="0" anchor="t"/>
          <a:lstStyle/>
          <a:p>
            <a:pPr marL="342900" indent="-342900">
              <a:spcAft>
                <a:spcPts val="900"/>
              </a:spcAft>
              <a:buSzPct val="100000"/>
              <a:buChar char="•"/>
            </a:pPr>
            <a:r>
              <a:rPr lang="en-US" sz="1500" dirty="0">
                <a:solidFill>
                  <a:srgbClr val="333B4F"/>
                </a:solidFill>
                <a:latin typeface="Calibri" pitchFamily="34" charset="0"/>
                <a:ea typeface="Calibri" pitchFamily="34" charset="-122"/>
                <a:cs typeface="Calibri" pitchFamily="34" charset="-120"/>
              </a:rPr>
              <a:t>H1 · Trace: int[] a = new int[5]; a[i] = (i + 1) * (i + 1) for i = 0..4; then print from the last index to the first.</a:t>
            </a:r>
            <a:endParaRPr lang="en-US" sz="1500" dirty="0"/>
          </a:p>
          <a:p>
            <a:pPr marL="342900" indent="-342900">
              <a:spcAft>
                <a:spcPts val="900"/>
              </a:spcAft>
              <a:buSzPct val="100000"/>
              <a:buChar char="•"/>
            </a:pPr>
            <a:r>
              <a:rPr lang="en-US" sz="1500" dirty="0">
                <a:solidFill>
                  <a:srgbClr val="333B4F"/>
                </a:solidFill>
                <a:latin typeface="Calibri" pitchFamily="34" charset="0"/>
                <a:ea typeface="Calibri" pitchFamily="34" charset="-122"/>
                <a:cs typeface="Calibri" pitchFamily="34" charset="-120"/>
              </a:rPr>
              <a:t>H2 · Draw the boxes and arrows after: int[] p = {5, 6}; int[] q = p; q[1] = 0; int[] r = (int[])p.Clone(); r[0] = 9. What do p, q, r contain?</a:t>
            </a:r>
            <a:endParaRPr lang="en-US" sz="1500" dirty="0"/>
          </a:p>
          <a:p>
            <a:pPr marL="342900" indent="-342900">
              <a:spcAft>
                <a:spcPts val="900"/>
              </a:spcAft>
              <a:buSzPct val="100000"/>
              <a:buChar char="•"/>
            </a:pPr>
            <a:r>
              <a:rPr lang="en-US" sz="1500" dirty="0">
                <a:solidFill>
                  <a:srgbClr val="333B4F"/>
                </a:solidFill>
                <a:latin typeface="Calibri" pitchFamily="34" charset="0"/>
                <a:ea typeface="Calibri" pitchFamily="34" charset="-122"/>
                <a:cs typeface="Calibri" pitchFamily="34" charset="-120"/>
              </a:rPr>
              <a:t>H3 · Write the pseudocode of exercise B with arrays.</a:t>
            </a:r>
            <a:endParaRPr lang="en-US" sz="1500" dirty="0"/>
          </a:p>
        </p:txBody>
      </p:sp>
      <p:sp>
        <p:nvSpPr>
          <p:cNvPr id="12" name="Shape 8"/>
          <p:cNvSpPr/>
          <p:nvPr/>
        </p:nvSpPr>
        <p:spPr>
          <a:xfrm>
            <a:off x="6263640" y="1645920"/>
            <a:ext cx="5394960" cy="4434840"/>
          </a:xfrm>
          <a:prstGeom prst="roundRect">
            <a:avLst>
              <a:gd name="adj" fmla="val 2474"/>
            </a:avLst>
          </a:prstGeom>
          <a:solidFill>
            <a:srgbClr val="EEF1F6"/>
          </a:solidFill>
          <a:ln w="12700">
            <a:solidFill>
              <a:srgbClr val="EEF1F6"/>
            </a:solidFill>
            <a:prstDash val="solid"/>
          </a:ln>
        </p:spPr>
      </p:sp>
      <p:sp>
        <p:nvSpPr>
          <p:cNvPr id="13" name="Shape 9"/>
          <p:cNvSpPr/>
          <p:nvPr/>
        </p:nvSpPr>
        <p:spPr>
          <a:xfrm>
            <a:off x="6492240" y="1828800"/>
            <a:ext cx="566928" cy="566928"/>
          </a:xfrm>
          <a:prstGeom prst="ellipse">
            <a:avLst/>
          </a:prstGeom>
          <a:solidFill>
            <a:srgbClr val="14213D"/>
          </a:solidFill>
          <a:ln w="12700">
            <a:solidFill>
              <a:srgbClr val="14213D"/>
            </a:solidFill>
            <a:prstDash val="solid"/>
          </a:ln>
        </p:spPr>
      </p:sp>
      <p:pic>
        <p:nvPicPr>
          <p:cNvPr id="14" name="Image 1" descr="preencoded.png">    </p:cNvPr>
          <p:cNvPicPr>
            <a:picLocks noChangeAspect="1"/>
          </p:cNvPicPr>
          <p:nvPr/>
        </p:nvPicPr>
        <p:blipFill>
          <a:blip r:embed="rId2"/>
          <a:stretch>
            <a:fillRect/>
          </a:stretch>
        </p:blipFill>
        <p:spPr>
          <a:xfrm>
            <a:off x="6639641" y="1976201"/>
            <a:ext cx="272125" cy="272125"/>
          </a:xfrm>
          <a:prstGeom prst="rect">
            <a:avLst/>
          </a:prstGeom>
        </p:spPr>
      </p:pic>
      <p:sp>
        <p:nvSpPr>
          <p:cNvPr id="15" name="Text 10"/>
          <p:cNvSpPr txBox="1"/>
          <p:nvPr/>
        </p:nvSpPr>
        <p:spPr>
          <a:xfrm>
            <a:off x="7223760" y="1828800"/>
            <a:ext cx="4297680" cy="566928"/>
          </a:xfrm>
          <a:prstGeom prst="rect">
            <a:avLst/>
          </a:prstGeom>
          <a:noFill/>
          <a:ln/>
        </p:spPr>
        <p:txBody>
          <a:bodyPr wrap="square" lIns="0" tIns="0" rIns="0" bIns="0" rtlCol="0" anchor="ctr"/>
          <a:lstStyle/>
          <a:p>
            <a:pPr indent="0" marL="0">
              <a:buNone/>
            </a:pPr>
            <a:r>
              <a:rPr lang="en-US" sz="1800" b="1" dirty="0">
                <a:solidFill>
                  <a:srgbClr val="14213D"/>
                </a:solidFill>
                <a:latin typeface="Cambria" pitchFamily="34" charset="0"/>
                <a:ea typeface="Cambria" pitchFamily="34" charset="-122"/>
                <a:cs typeface="Cambria" pitchFamily="34" charset="-120"/>
              </a:rPr>
              <a:t>On the computer</a:t>
            </a:r>
            <a:endParaRPr lang="en-US" sz="1800" dirty="0"/>
          </a:p>
        </p:txBody>
      </p:sp>
      <p:sp>
        <p:nvSpPr>
          <p:cNvPr id="16" name="Text 11"/>
          <p:cNvSpPr txBox="1"/>
          <p:nvPr/>
        </p:nvSpPr>
        <p:spPr>
          <a:xfrm>
            <a:off x="6492240" y="2560320"/>
            <a:ext cx="4983480" cy="2194560"/>
          </a:xfrm>
          <a:prstGeom prst="rect">
            <a:avLst/>
          </a:prstGeom>
          <a:noFill/>
          <a:ln/>
        </p:spPr>
        <p:txBody>
          <a:bodyPr wrap="square" lIns="0" tIns="0" rIns="0" bIns="0" rtlCol="0" anchor="t"/>
          <a:lstStyle/>
          <a:p>
            <a:pPr marL="342900" indent="-342900">
              <a:spcAft>
                <a:spcPts val="900"/>
              </a:spcAft>
              <a:buSzPct val="100000"/>
              <a:buChar char="•"/>
            </a:pPr>
            <a:r>
              <a:rPr lang="en-US" sz="1500" dirty="0">
                <a:solidFill>
                  <a:srgbClr val="333B4F"/>
                </a:solidFill>
                <a:latin typeface="Calibri" pitchFamily="34" charset="0"/>
                <a:ea typeface="Calibri" pitchFamily="34" charset="-122"/>
                <a:cs typeface="Calibri" pitchFamily="34" charset="-120"/>
              </a:rPr>
              <a:t>H4 · Temperatures: read 7 daily temperatures; print the average and the days (Mon…Sun) warmer than the average.</a:t>
            </a:r>
            <a:endParaRPr lang="en-US" sz="1500" dirty="0"/>
          </a:p>
          <a:p>
            <a:pPr marL="342900" indent="-342900">
              <a:spcAft>
                <a:spcPts val="900"/>
              </a:spcAft>
              <a:buSzPct val="100000"/>
              <a:buChar char="•"/>
            </a:pPr>
            <a:r>
              <a:rPr lang="en-US" sz="1500" dirty="0">
                <a:solidFill>
                  <a:srgbClr val="333B4F"/>
                </a:solidFill>
                <a:latin typeface="Calibri" pitchFamily="34" charset="0"/>
                <a:ea typeface="Calibri" pitchFamily="34" charset="-122"/>
                <a:cs typeface="Calibri" pitchFamily="34" charset="-120"/>
              </a:rPr>
              <a:t>H5 · Turkish vowels: extend 09_09 with ı, ö, ü (and İ → i).</a:t>
            </a:r>
            <a:endParaRPr lang="en-US" sz="1500" dirty="0"/>
          </a:p>
          <a:p>
            <a:pPr marL="342900" indent="-342900">
              <a:spcAft>
                <a:spcPts val="900"/>
              </a:spcAft>
              <a:buSzPct val="100000"/>
              <a:buChar char="•"/>
            </a:pPr>
            <a:r>
              <a:rPr lang="en-US" sz="1500" dirty="0">
                <a:solidFill>
                  <a:srgbClr val="333B4F"/>
                </a:solidFill>
                <a:latin typeface="Calibri" pitchFamily="34" charset="0"/>
                <a:ea typeface="Calibri" pitchFamily="34" charset="-122"/>
                <a:cs typeface="Calibri" pitchFamily="34" charset="-120"/>
              </a:rPr>
              <a:t>H6 · Week 10 preview: find the largest element of an array and its index (start with a[0], not 0).</a:t>
            </a:r>
            <a:endParaRPr lang="en-US" sz="1500" dirty="0"/>
          </a:p>
        </p:txBody>
      </p:sp>
      <p:sp>
        <p:nvSpPr>
          <p:cNvPr id="17" name="Shape 12"/>
          <p:cNvSpPr/>
          <p:nvPr/>
        </p:nvSpPr>
        <p:spPr>
          <a:xfrm>
            <a:off x="6492240" y="4846320"/>
            <a:ext cx="4983480" cy="1051560"/>
          </a:xfrm>
          <a:prstGeom prst="roundRect">
            <a:avLst>
              <a:gd name="adj" fmla="val 8696"/>
            </a:avLst>
          </a:prstGeom>
          <a:solidFill>
            <a:srgbClr val="0F1729"/>
          </a:solidFill>
          <a:ln w="12700">
            <a:solidFill>
              <a:srgbClr val="0F1729"/>
            </a:solidFill>
            <a:prstDash val="solid"/>
          </a:ln>
        </p:spPr>
      </p:sp>
      <p:sp>
        <p:nvSpPr>
          <p:cNvPr id="18" name="Text 13"/>
          <p:cNvSpPr txBox="1"/>
          <p:nvPr/>
        </p:nvSpPr>
        <p:spPr>
          <a:xfrm>
            <a:off x="6720840" y="5010912"/>
            <a:ext cx="4526280" cy="777240"/>
          </a:xfrm>
          <a:prstGeom prst="rect">
            <a:avLst/>
          </a:prstGeom>
          <a:noFill/>
          <a:ln/>
        </p:spPr>
        <p:txBody>
          <a:bodyPr wrap="square" lIns="0" tIns="0" rIns="0" bIns="0" rtlCol="0" anchor="t"/>
          <a:lstStyle/>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&gt; cd code/09_02_GradeStats</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&gt; dotnet run</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457200"/>
            <a:ext cx="5486400" cy="365760"/>
          </a:xfrm>
          <a:prstGeom prst="rect">
            <a:avLst/>
          </a:prstGeom>
          <a:noFill/>
          <a:ln/>
        </p:spPr>
        <p:txBody>
          <a:bodyPr wrap="square" lIns="0" tIns="0" rIns="0" bIns="0" rtlCol="0" anchor="ctr"/>
          <a:lstStyle/>
          <a:p>
            <a:pPr indent="0" marL="0">
              <a:buNone/>
            </a:pPr>
            <a:r>
              <a:rPr lang="en-US" sz="1400" b="1" dirty="0">
                <a:solidFill>
                  <a:srgbClr val="FCA311"/>
                </a:solidFill>
                <a:latin typeface="Courier New" pitchFamily="34" charset="0"/>
                <a:ea typeface="Courier New" pitchFamily="34" charset="-122"/>
                <a:cs typeface="Courier New" pitchFamily="34" charset="-120"/>
              </a:rPr>
              <a:t>&gt;_ SUMMARY</a:t>
            </a:r>
            <a:endParaRPr lang="en-US" sz="1400" dirty="0"/>
          </a:p>
        </p:txBody>
      </p:sp>
      <p:sp>
        <p:nvSpPr>
          <p:cNvPr id="3" name="Text 1"/>
          <p:cNvSpPr txBox="1"/>
          <p:nvPr/>
        </p:nvSpPr>
        <p:spPr>
          <a:xfrm>
            <a:off x="548640" y="868680"/>
            <a:ext cx="7315200" cy="7315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Key Takeaways</a:t>
            </a:r>
            <a:endParaRPr lang="en-US" sz="3600" dirty="0"/>
          </a:p>
        </p:txBody>
      </p:sp>
      <p:sp>
        <p:nvSpPr>
          <p:cNvPr id="4" name="Text 2"/>
          <p:cNvSpPr txBox="1"/>
          <p:nvPr/>
        </p:nvSpPr>
        <p:spPr>
          <a:xfrm>
            <a:off x="548640" y="1828800"/>
            <a:ext cx="731520" cy="609600"/>
          </a:xfrm>
          <a:prstGeom prst="rect">
            <a:avLst/>
          </a:prstGeom>
          <a:noFill/>
          <a:ln/>
        </p:spPr>
        <p:txBody>
          <a:bodyPr wrap="square" lIns="0" tIns="0" rIns="0" bIns="0" rtlCol="0" anchor="ctr"/>
          <a:lstStyle/>
          <a:p>
            <a:pPr indent="0" marL="0">
              <a:buNone/>
            </a:pPr>
            <a:r>
              <a:rPr lang="en-US" sz="2000" b="1" dirty="0">
                <a:solidFill>
                  <a:srgbClr val="FCA311"/>
                </a:solidFill>
                <a:latin typeface="Courier New" pitchFamily="34" charset="0"/>
                <a:ea typeface="Courier New" pitchFamily="34" charset="-122"/>
                <a:cs typeface="Courier New" pitchFamily="34" charset="-120"/>
              </a:rPr>
              <a:t>01</a:t>
            </a:r>
            <a:endParaRPr lang="en-US" sz="2000" dirty="0"/>
          </a:p>
        </p:txBody>
      </p:sp>
      <p:sp>
        <p:nvSpPr>
          <p:cNvPr id="5" name="Text 3"/>
          <p:cNvSpPr txBox="1"/>
          <p:nvPr/>
        </p:nvSpPr>
        <p:spPr>
          <a:xfrm>
            <a:off x="1325880" y="1828800"/>
            <a:ext cx="6675120" cy="6096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An array stores many values of one type under one name, in numbered boxes.</a:t>
            </a:r>
            <a:endParaRPr lang="en-US" sz="1500" dirty="0"/>
          </a:p>
        </p:txBody>
      </p:sp>
      <p:sp>
        <p:nvSpPr>
          <p:cNvPr id="6" name="Text 4"/>
          <p:cNvSpPr txBox="1"/>
          <p:nvPr/>
        </p:nvSpPr>
        <p:spPr>
          <a:xfrm>
            <a:off x="548640" y="2529840"/>
            <a:ext cx="731520" cy="609600"/>
          </a:xfrm>
          <a:prstGeom prst="rect">
            <a:avLst/>
          </a:prstGeom>
          <a:noFill/>
          <a:ln/>
        </p:spPr>
        <p:txBody>
          <a:bodyPr wrap="square" lIns="0" tIns="0" rIns="0" bIns="0" rtlCol="0" anchor="ctr"/>
          <a:lstStyle/>
          <a:p>
            <a:pPr indent="0" marL="0">
              <a:buNone/>
            </a:pPr>
            <a:r>
              <a:rPr lang="en-US" sz="2000" b="1" dirty="0">
                <a:solidFill>
                  <a:srgbClr val="FCA311"/>
                </a:solidFill>
                <a:latin typeface="Courier New" pitchFamily="34" charset="0"/>
                <a:ea typeface="Courier New" pitchFamily="34" charset="-122"/>
                <a:cs typeface="Courier New" pitchFamily="34" charset="-120"/>
              </a:rPr>
              <a:t>02</a:t>
            </a:r>
            <a:endParaRPr lang="en-US" sz="2000" dirty="0"/>
          </a:p>
        </p:txBody>
      </p:sp>
      <p:sp>
        <p:nvSpPr>
          <p:cNvPr id="7" name="Text 5"/>
          <p:cNvSpPr txBox="1"/>
          <p:nvPr/>
        </p:nvSpPr>
        <p:spPr>
          <a:xfrm>
            <a:off x="1325880" y="2529840"/>
            <a:ext cx="6675120" cy="6096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Indices run from 0 to Length − 1; anything else → IndexOutOfRangeException.</a:t>
            </a:r>
            <a:endParaRPr lang="en-US" sz="1500" dirty="0"/>
          </a:p>
        </p:txBody>
      </p:sp>
      <p:sp>
        <p:nvSpPr>
          <p:cNvPr id="8" name="Text 6"/>
          <p:cNvSpPr txBox="1"/>
          <p:nvPr/>
        </p:nvSpPr>
        <p:spPr>
          <a:xfrm>
            <a:off x="548640" y="3230880"/>
            <a:ext cx="731520" cy="609600"/>
          </a:xfrm>
          <a:prstGeom prst="rect">
            <a:avLst/>
          </a:prstGeom>
          <a:noFill/>
          <a:ln/>
        </p:spPr>
        <p:txBody>
          <a:bodyPr wrap="square" lIns="0" tIns="0" rIns="0" bIns="0" rtlCol="0" anchor="ctr"/>
          <a:lstStyle/>
          <a:p>
            <a:pPr indent="0" marL="0">
              <a:buNone/>
            </a:pPr>
            <a:r>
              <a:rPr lang="en-US" sz="2000" b="1" dirty="0">
                <a:solidFill>
                  <a:srgbClr val="FCA311"/>
                </a:solidFill>
                <a:latin typeface="Courier New" pitchFamily="34" charset="0"/>
                <a:ea typeface="Courier New" pitchFamily="34" charset="-122"/>
                <a:cs typeface="Courier New" pitchFamily="34" charset="-120"/>
              </a:rPr>
              <a:t>03</a:t>
            </a:r>
            <a:endParaRPr lang="en-US" sz="2000" dirty="0"/>
          </a:p>
        </p:txBody>
      </p:sp>
      <p:sp>
        <p:nvSpPr>
          <p:cNvPr id="9" name="Text 7"/>
          <p:cNvSpPr txBox="1"/>
          <p:nvPr/>
        </p:nvSpPr>
        <p:spPr>
          <a:xfrm>
            <a:off x="1325880" y="3230880"/>
            <a:ext cx="6675120" cy="6096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new T[n] fills with defaults (0, false, '\0', null); { … } lists set values and size.</a:t>
            </a:r>
            <a:endParaRPr lang="en-US" sz="1500" dirty="0"/>
          </a:p>
        </p:txBody>
      </p:sp>
      <p:sp>
        <p:nvSpPr>
          <p:cNvPr id="10" name="Text 8"/>
          <p:cNvSpPr txBox="1"/>
          <p:nvPr/>
        </p:nvSpPr>
        <p:spPr>
          <a:xfrm>
            <a:off x="548640" y="3931920"/>
            <a:ext cx="731520" cy="609600"/>
          </a:xfrm>
          <a:prstGeom prst="rect">
            <a:avLst/>
          </a:prstGeom>
          <a:noFill/>
          <a:ln/>
        </p:spPr>
        <p:txBody>
          <a:bodyPr wrap="square" lIns="0" tIns="0" rIns="0" bIns="0" rtlCol="0" anchor="ctr"/>
          <a:lstStyle/>
          <a:p>
            <a:pPr indent="0" marL="0">
              <a:buNone/>
            </a:pPr>
            <a:r>
              <a:rPr lang="en-US" sz="2000" b="1" dirty="0">
                <a:solidFill>
                  <a:srgbClr val="FCA311"/>
                </a:solidFill>
                <a:latin typeface="Courier New" pitchFamily="34" charset="0"/>
                <a:ea typeface="Courier New" pitchFamily="34" charset="-122"/>
                <a:cs typeface="Courier New" pitchFamily="34" charset="-120"/>
              </a:rPr>
              <a:t>04</a:t>
            </a:r>
            <a:endParaRPr lang="en-US" sz="2000" dirty="0"/>
          </a:p>
        </p:txBody>
      </p:sp>
      <p:sp>
        <p:nvSpPr>
          <p:cNvPr id="11" name="Text 9"/>
          <p:cNvSpPr txBox="1"/>
          <p:nvPr/>
        </p:nvSpPr>
        <p:spPr>
          <a:xfrm>
            <a:off x="1325880" y="3931920"/>
            <a:ext cx="6675120" cy="6096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for (int i = 0; i &lt; a.Length; i++) to read/write; foreach to only read.</a:t>
            </a:r>
            <a:endParaRPr lang="en-US" sz="1500" dirty="0"/>
          </a:p>
        </p:txBody>
      </p:sp>
      <p:sp>
        <p:nvSpPr>
          <p:cNvPr id="12" name="Text 10"/>
          <p:cNvSpPr txBox="1"/>
          <p:nvPr/>
        </p:nvSpPr>
        <p:spPr>
          <a:xfrm>
            <a:off x="548640" y="4632960"/>
            <a:ext cx="731520" cy="609600"/>
          </a:xfrm>
          <a:prstGeom prst="rect">
            <a:avLst/>
          </a:prstGeom>
          <a:noFill/>
          <a:ln/>
        </p:spPr>
        <p:txBody>
          <a:bodyPr wrap="square" lIns="0" tIns="0" rIns="0" bIns="0" rtlCol="0" anchor="ctr"/>
          <a:lstStyle/>
          <a:p>
            <a:pPr indent="0" marL="0">
              <a:buNone/>
            </a:pPr>
            <a:r>
              <a:rPr lang="en-US" sz="2000" b="1" dirty="0">
                <a:solidFill>
                  <a:srgbClr val="FCA311"/>
                </a:solidFill>
                <a:latin typeface="Courier New" pitchFamily="34" charset="0"/>
                <a:ea typeface="Courier New" pitchFamily="34" charset="-122"/>
                <a:cs typeface="Courier New" pitchFamily="34" charset="-120"/>
              </a:rPr>
              <a:t>05</a:t>
            </a:r>
            <a:endParaRPr lang="en-US" sz="2000" dirty="0"/>
          </a:p>
        </p:txBody>
      </p:sp>
      <p:sp>
        <p:nvSpPr>
          <p:cNvPr id="13" name="Text 11"/>
          <p:cNvSpPr txBox="1"/>
          <p:nvPr/>
        </p:nvSpPr>
        <p:spPr>
          <a:xfrm>
            <a:off x="1325880" y="4632960"/>
            <a:ext cx="6675120" cy="6096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Patterns: lookup table, counting array, parallel arrays, build from neighbours.</a:t>
            </a:r>
            <a:endParaRPr lang="en-US" sz="1500" dirty="0"/>
          </a:p>
        </p:txBody>
      </p:sp>
      <p:sp>
        <p:nvSpPr>
          <p:cNvPr id="14" name="Text 12"/>
          <p:cNvSpPr txBox="1"/>
          <p:nvPr/>
        </p:nvSpPr>
        <p:spPr>
          <a:xfrm>
            <a:off x="548640" y="5334000"/>
            <a:ext cx="731520" cy="609600"/>
          </a:xfrm>
          <a:prstGeom prst="rect">
            <a:avLst/>
          </a:prstGeom>
          <a:noFill/>
          <a:ln/>
        </p:spPr>
        <p:txBody>
          <a:bodyPr wrap="square" lIns="0" tIns="0" rIns="0" bIns="0" rtlCol="0" anchor="ctr"/>
          <a:lstStyle/>
          <a:p>
            <a:pPr indent="0" marL="0">
              <a:buNone/>
            </a:pPr>
            <a:r>
              <a:rPr lang="en-US" sz="2000" b="1" dirty="0">
                <a:solidFill>
                  <a:srgbClr val="FCA311"/>
                </a:solidFill>
                <a:latin typeface="Courier New" pitchFamily="34" charset="0"/>
                <a:ea typeface="Courier New" pitchFamily="34" charset="-122"/>
                <a:cs typeface="Courier New" pitchFamily="34" charset="-120"/>
              </a:rPr>
              <a:t>06</a:t>
            </a:r>
            <a:endParaRPr lang="en-US" sz="2000" dirty="0"/>
          </a:p>
        </p:txBody>
      </p:sp>
      <p:sp>
        <p:nvSpPr>
          <p:cNvPr id="15" name="Text 13"/>
          <p:cNvSpPr txBox="1"/>
          <p:nvPr/>
        </p:nvSpPr>
        <p:spPr>
          <a:xfrm>
            <a:off x="1325880" y="5334000"/>
            <a:ext cx="6675120" cy="6096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b = a is a second name; copy with Clone() or a loop. Print with string.Join.</a:t>
            </a:r>
            <a:endParaRPr lang="en-US" sz="1500" dirty="0"/>
          </a:p>
        </p:txBody>
      </p:sp>
      <p:sp>
        <p:nvSpPr>
          <p:cNvPr id="16" name="Shape 14"/>
          <p:cNvSpPr/>
          <p:nvPr/>
        </p:nvSpPr>
        <p:spPr>
          <a:xfrm>
            <a:off x="8412480" y="822960"/>
            <a:ext cx="3246120" cy="5120640"/>
          </a:xfrm>
          <a:prstGeom prst="roundRect">
            <a:avLst>
              <a:gd name="adj" fmla="val 3380"/>
            </a:avLst>
          </a:prstGeom>
          <a:solidFill>
            <a:srgbClr val="1E2E52"/>
          </a:solidFill>
          <a:ln w="12700">
            <a:solidFill>
              <a:srgbClr val="1E2E52"/>
            </a:solidFill>
            <a:prstDash val="solid"/>
          </a:ln>
        </p:spPr>
      </p:sp>
      <p:sp>
        <p:nvSpPr>
          <p:cNvPr id="17" name="Text 15"/>
          <p:cNvSpPr txBox="1"/>
          <p:nvPr/>
        </p:nvSpPr>
        <p:spPr>
          <a:xfrm>
            <a:off x="8641080" y="1005840"/>
            <a:ext cx="283464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NEXT WEEK</a:t>
            </a:r>
            <a:endParaRPr lang="en-US" sz="1300" dirty="0"/>
          </a:p>
        </p:txBody>
      </p:sp>
      <p:sp>
        <p:nvSpPr>
          <p:cNvPr id="18" name="Text 16"/>
          <p:cNvSpPr txBox="1"/>
          <p:nvPr/>
        </p:nvSpPr>
        <p:spPr>
          <a:xfrm>
            <a:off x="8641080" y="1371600"/>
            <a:ext cx="2834640" cy="822960"/>
          </a:xfrm>
          <a:prstGeom prst="rect">
            <a:avLst/>
          </a:prstGeom>
          <a:noFill/>
          <a:ln/>
        </p:spPr>
        <p:txBody>
          <a:bodyPr wrap="square" lIns="0" tIns="0" rIns="0" bIns="0" rtlCol="0" anchor="t">
            <a:normAutofit/>
          </a:bodyPr>
          <a:lstStyle/>
          <a:p>
            <a:pPr indent="0" marL="0">
              <a:buNone/>
            </a:pPr>
            <a:r>
              <a:rPr lang="en-US" sz="1800" b="1" dirty="0">
                <a:solidFill>
                  <a:srgbClr val="FFFFFF"/>
                </a:solidFill>
                <a:latin typeface="Cambria" pitchFamily="34" charset="0"/>
                <a:ea typeface="Cambria" pitchFamily="34" charset="-122"/>
                <a:cs typeface="Cambria" pitchFamily="34" charset="-120"/>
              </a:rPr>
              <a:t>Array operations: searching, sorting, max/min</a:t>
            </a:r>
            <a:endParaRPr lang="en-US" sz="1800" dirty="0"/>
          </a:p>
        </p:txBody>
      </p:sp>
      <p:sp>
        <p:nvSpPr>
          <p:cNvPr id="19" name="Text 17"/>
          <p:cNvSpPr txBox="1"/>
          <p:nvPr/>
        </p:nvSpPr>
        <p:spPr>
          <a:xfrm>
            <a:off x="8915400" y="2560320"/>
            <a:ext cx="2286000" cy="1463040"/>
          </a:xfrm>
          <a:prstGeom prst="rect">
            <a:avLst/>
          </a:prstGeom>
          <a:noFill/>
          <a:ln/>
        </p:spPr>
        <p:txBody>
          <a:bodyPr wrap="square" lIns="0" tIns="0" rIns="0" bIns="0" rtlCol="0" anchor="ctr"/>
          <a:lstStyle/>
          <a:p>
            <a:pPr algn="ctr" indent="0" marL="0">
              <a:buNone/>
            </a:pPr>
            <a:r>
              <a:rPr lang="en-US" sz="6000" b="1" dirty="0">
                <a:solidFill>
                  <a:srgbClr val="FCA311"/>
                </a:solidFill>
                <a:latin typeface="Courier New" pitchFamily="34" charset="0"/>
                <a:ea typeface="Courier New" pitchFamily="34" charset="-122"/>
                <a:cs typeface="Courier New" pitchFamily="34" charset="-120"/>
              </a:rPr>
              <a:t>&gt;_</a:t>
            </a:r>
            <a:endParaRPr lang="en-US" sz="6000" dirty="0"/>
          </a:p>
        </p:txBody>
      </p:sp>
      <p:sp>
        <p:nvSpPr>
          <p:cNvPr id="20" name="Text 18"/>
          <p:cNvSpPr txBox="1"/>
          <p:nvPr/>
        </p:nvSpPr>
        <p:spPr>
          <a:xfrm>
            <a:off x="8641080" y="4846320"/>
            <a:ext cx="2834640" cy="731520"/>
          </a:xfrm>
          <a:prstGeom prst="rect">
            <a:avLst/>
          </a:prstGeom>
          <a:noFill/>
          <a:ln/>
        </p:spPr>
        <p:txBody>
          <a:bodyPr wrap="square" lIns="0" tIns="0" rIns="0" bIns="0" rtlCol="0" anchor="ctr"/>
          <a:lstStyle/>
          <a:p>
            <a:pPr algn="ctr" indent="0" marL="0">
              <a:buNone/>
            </a:pPr>
            <a:r>
              <a:rPr lang="en-US" sz="1300" dirty="0">
                <a:solidFill>
                  <a:srgbClr val="C7CEDC"/>
                </a:solidFill>
                <a:latin typeface="Calibri" pitchFamily="34" charset="0"/>
                <a:ea typeface="Calibri" pitchFamily="34" charset="-122"/>
                <a:cs typeface="Calibri" pitchFamily="34" charset="-120"/>
              </a:rPr>
              <a:t>MCMP113</a:t>
            </a:r>
            <a:endParaRPr lang="en-US" sz="1300" dirty="0"/>
          </a:p>
          <a:p>
            <a:pPr algn="ctr" indent="0" marL="0">
              <a:buNone/>
            </a:pPr>
            <a:r>
              <a:rPr lang="en-US" sz="1300" dirty="0">
                <a:solidFill>
                  <a:srgbClr val="C7CEDC"/>
                </a:solidFill>
                <a:latin typeface="Calibri" pitchFamily="34" charset="0"/>
                <a:ea typeface="Calibri" pitchFamily="34" charset="-122"/>
                <a:cs typeface="Calibri" pitchFamily="34" charset="-120"/>
              </a:rPr>
              <a:t>Course materials</a:t>
            </a:r>
            <a:endParaRPr lang="en-US" sz="1300" dirty="0"/>
          </a:p>
        </p:txBody>
      </p:sp>
      <p:sp>
        <p:nvSpPr>
          <p:cNvPr id="22" name="Text 19"/>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8A94AB"/>
                </a:solidFill>
                <a:latin typeface="Calibri" pitchFamily="34" charset="0"/>
                <a:ea typeface="Calibri" pitchFamily="34" charset="-122"/>
                <a:cs typeface="Calibri" pitchFamily="34" charset="-120"/>
              </a:rPr>
              <a:t>MCMP113  ·  Week 9</a:t>
            </a:r>
            <a:endParaRPr lang="en-US" sz="1000" dirty="0"/>
          </a:p>
        </p:txBody>
      </p:sp>
      <p:sp>
        <p:nvSpPr>
          <p:cNvPr id="23" name="Text 20"/>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8A94AB"/>
                </a:solidFill>
                <a:latin typeface="Calibri" pitchFamily="34" charset="0"/>
                <a:ea typeface="Calibri" pitchFamily="34" charset="-122"/>
                <a:cs typeface="Calibri" pitchFamily="34" charset="-120"/>
              </a:rPr>
              <a:t>37</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Istanbul Okan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MCMP113 Week 9 – One-Dimensional Arrays</dc:title>
  <dc:subject>PptxGenJS Presentation</dc:subject>
  <dc:creator>MCMP113</dc:creator>
  <cp:lastModifiedBy>MCMP113</cp:lastModifiedBy>
  <cp:revision>1</cp:revision>
  <dcterms:created xsi:type="dcterms:W3CDTF">2026-10-25T13:00:39Z</dcterms:created>
  <dcterms:modified xsi:type="dcterms:W3CDTF">2026-10-25T13:00:39Z</dcterms:modified>
</cp:coreProperties>
</file>