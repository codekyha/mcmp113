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notesMasterIdLst>
    <p:notesMasterId r:id="rId4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notesMaster" Target="notesMasters/notesMaster1.xml"/><Relationship Id="rId43" Type="http://schemas.openxmlformats.org/officeDocument/2006/relationships/presProps" Target="presProps.xml"/><Relationship Id="rId44" Type="http://schemas.openxmlformats.org/officeDocument/2006/relationships/viewProps" Target="viewProps.xml"/><Relationship Id="rId45" Type="http://schemas.openxmlformats.org/officeDocument/2006/relationships/theme" Target="theme/theme1.xml"/><Relationship Id="rId4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(2 min). The terminal on the right is the real output of Example 1 (CountingPatterns) with input 5: four for loops, four lines. Today is the first of two loop weeks: counter-controlled loops (for) this week, condition-controlled loops (while, do-while) next week. Ask: "How would you print 1 to 1000 with what you know from Week 5?" Expect: 1000 WriteLine calls. That is the motivation for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(2 min). Read them aloud; they match the notes' learning outcomes and the midterm (Week 8) will test all six. Emphasise tracing by hand (objective 2): the exam is on paper, without a computer, so trace tables are an exam skill, not an optional extra.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(4 min). Week 5 gave us selection: a decision taken ONCE. Repetition is the third and last control structure of Böhm–Jacopini (Week 1). The middle box is Algorithm 3 from the Week 1 notes (sum 1..N with WHILE). Point at the three counter jobs: i ← 1 (start), i ≤ N (test), i ← i + 1 (step). The FOR version packs all three into one line, and C#'s for header does exactly the same: for (int i = 1; i &lt;= N; i++). Question to class: "What does the algorithm print for N = 0?" Answer: 0, because the test 1 ≤ 0 fails immediately; the body never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1 (about 20 min in total). Goal: every student can name the four parts and say in which order they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MOTIVATION (3 min). Left: the "copy-paste" solution; the comment stands for 96 more lines. Right: four lines that do the same. Ask: "What must change to print 1 to 1000?" Left: 900 new lines; right: one number. "And to print 1 to n, where the user types n?" Left: impossible; right: replace 100 by n. This is the real reason for loops: the number of repetitions can be decided at run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ANATOMY (5 min). Read the header left to right: for ( initialization ; condition ; update ). The two semicolons separate the three parts inside the parentheses. The initialization normally DECLARES the loop variable (int i = 1); that variable is often called the counter. Likely question: "Why i?" Tradition from mathematics (index); any name works, but i, j, k are conventional for counters, row/col for grids. Likely question: "Must it be i++?" No: i += 2, i--, i *= 2 are all valid updates (next part). Output below is what this exact loop prints.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EXECUTION ORDER (5 min). Walk through the table row by row while pointing at the diagram. Count with the class: initialization runs 1 time, the condition is tested 4 times (3 true + 1 false), body 3 times, update 3 times. General rule for a loop that runs n passes: condition tested n + 1 times. Pitfall: students think the update runs before the first pass. It does not; the first pass uses i = 1. Likely question: "Is the condition checked after the body?" No: for is a PRE-TEST loop; if the condition is false at the start, the body runs 0 times (compare do-while next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VIEWS (4 min). The flowchart has no special "for" symbol: it is a process box (initialization), a decision (condition), the body, another process box (update) and a back-edge (the arrow going up). The back-edge enters the flow ABOVE the decision, never into the body. Colours match the anatomy slide. Pseudocode convention (Week 1): FOR i ← 1 TO n means i takes the values 1, 2, …, n; the update +1 is implied. For other steps we write STEP, e.g. FOR i ← 10 TO 1 STEP −1. Exam tip: when asked to draw a for loop, draw exactly this shape.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 TABLE (5 min). Do this on the board with the class before showing the table. One row per pass; write the value of i BEFORE the test and sum AFTER the body. Check with Gauss (Week 1): 5 · 6 / 2 = 15. Question: "What is i when the loop ends?" 6, the first value that makes the condition false; but after the closing brace i no longer exists (scope, Part 2). Exam format: trace tables like this one appear in the midterm; the "exit" row is often forgotten.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2 (about 35 min). Counting patterns first, then the accumulator idea, which is the most important pattern of the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COUNTING (5 min). Every row is one loop of Example 1 (06_01_CountingPatterns). Run it live with n = 10. Point out that the same name i is declared in four different loops; this is legal because each i exists only inside its own loop. Ask: "What does the Even loop print for n = 9?" 0 2 4 6 8 (10 would be &gt; 9). Pitfall: for (int i = n; i &gt;= 1; i++) counts in the wrong direction → practically infinite (see common mistakes).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ITERATIONS (5 min). Cover the last column and let students answer row by row. Row 3 is the classic off-by-one: &lt; 10 stops at 9. Row 5: 10, 7, 4, 1 (the next value −2 fails i &gt; 0). Row 6: 1, 2, 4, 8, 16, 32, 64 (128 &gt; 100): the update can multiply, too; this loop runs about log2(n) times. Row 7: the condition is false at the start, so the body never runs: a for loop can run 0 times. The formula works for += s loops with &lt;=; for &lt; b replace b by b − 1. All numbers on this slide were checked by running the loops.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SCOPE (4 min). A variable declared in the for header exists from the header to the closing brace of the loop. Using it afterwards is a compile error, CS0103 (shown exactly as the compiler prints it). Fix: declare the variable before the loop and only assign it in the header; then it survives and holds 6, the first value that failed the test. Most of the time you do NOT need i after the loop; keep it inside, which also allows reusing the name i in the next loop (Example 1 does this four times). Accumulators (sum) must be declared BEFORE the loop for the same reason.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ACCUMULATORS (5 min). The single most useful loop pattern. Three steps: (1) initialise BEFORE the loop, (2) update INSIDE the loop, (3) use AFTER the loop. The start value is the neutral element of the operation: 0 for +, 1 for ×. Ask: "What happens if product starts at 0?" It stays 0 forever. Average: compute after the loop and only when count &gt; 0 (division by zero: with double you would get NaN, with int a DivideByZeroException; Week 4). The (double) cast avoids integer division when sum and count are 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(3 min). Problem first, then pseudocode, then code (next slide). Stress the test table BEFORE coding (Week 1 method): a normal case and the edge case N = 0. Expected values are computed by hand: 72.5 + 45 + 88 + 60 + 39.5 = 305, 305 / 5 = 61, passing grades 72.5, 88, 60 → 3. Note the IF inside the FOR: selection nested in repetition.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CODE (4 min). Map each pseudocode line to C#. The prompt inside the loop uses the loop variable: $"Grade {i}: ". The rest of Program.cs (not shown) prints the results only if count &gt; 0, exactly like the pseudocode. Decimal point: our project template sets InvariantGlobalization, so 72.5 parses on Turkish Windows too. Live demo suggestion: run it with 0 grades → "No grades entered."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FACTORIAL (5 min). n! = 1 · 2 · … · n; the product accumulator starts at 1. We use long (8 bytes) because int overflows already at 13!. Run with n = 22. Up to 20! all values are correct (20! = 2 432 902 008 176 640 000). 21! = 51 090 942 171 709 440 000 exceeds long.MaxValue ≈ 9.22 · 10^18: C# does not stop, it silently wraps around and prints a negative number. The console shows the last 9 lines of the real run. Remedy from Week 4: checked(factorial * i) throws an OverflowException instead of producing garbage. For exact huge values there is System.Numerics.BigInteger (not needed in this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(3 min). The loop variable i is an ordinary int inside the body: we may read it, compute with it (number * i) and print it. Alignment from Week 3: {i,2} pads to 2 characters, {number * i,3} to 3 characters, so the columns line up. Rule: read i, but do not assign to i inside the body (common mistakes, Part 4). Bridge: "How do we print the tables of 1 to 10 at once?" Put this loop inside another loop: that is Part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INTEREST (4 min). Each pass computes this year's interest from the CURRENT balance and adds it: the balance is an accumulator that grows by a percentage. decimal is the right type for money (Week 3); rate / 100 turns 40 into 0.40. Check with the closed formula A = P(1 + r)^n = 10 000 · 1.4^5 = 53 782.40: the loop and the formula agree exactly. Ask: "Which year earns the most interest, and why?" The last one: interest is paid on interest. "How many years until the money doubles?" needs a condition-controlled loop: next week (while).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MIN/MAX (4 min). We keep only the "best so far" values; every number is looked at once and then forgotten, so no arrays are needed (arrays: Week 9). Initialisation trick: the condition i == 1 || x &lt; min makes the first number both minimum and maximum. Ask: "Why not start with min = 0?" With inputs 17, 23.5, 8 the answer would be 0, which was never entered. Alternative start values: min = double.MaxValue, max = double.MinValue. Short-circuit || (Week 4): for i == 1 the comparison x &lt; min is not even evaluated.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FIBONACCI (5 min). Each term is the sum of the previous two: 0, 1, 1, 2, 3, 5, 8, … We keep two variables and shift them one step per pass. The ORDER of the three assignments matters: compute next first, then previous = current, then current = next. Ask: "What goes wrong if we write previous = current first?" The old previous is lost and next becomes 2 · current. Trace for n = 6 on the right; the output line matches the first six numbers of the real run (n = 12). long is used because F(92) is the largest Fibonacci number that fits in long.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3 (about 25 min). Key idea: the inner loop runs COMPLETELY for every single pass of the outer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NESTED LOOPS (5 min). Trace aloud: i = 1 → j = 1, 2 → new line; i = 2 → j = 1, 2 again → new line; i = 3 → j = 1, 2 → new line. The inner loop restarts from j = 1 on each outer pass because its initialization runs again. Clock analogy: the minute hand (inner) makes a full turn for every step of the hour hand (outer). The WriteLine() after the inner loop but inside the outer loop ends each row: this placement is the key to every pattern that follows. Use different variable names (i and j); reusing i in the inner loop is a compile error in C# (CS0136).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GRID (4 min). Outer loop = rows, inner loop = columns. The inner body writes one number 4 characters wide ({row * col,4}); the WriteLine() after the inner loop ends the row. Ask: "What if WriteLine() were inside the inner loop?" One number per line: 100 lines. "What if it were after the outer loop?" All 100 numbers on one line. Body count: 10 × 10 = 100 products. Real output for size 10 shown.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PATTERNS A and B (4 min). Rectangle: the inner bound is fixed (2 * rows), so every row has the same length. Triangle: the inner bound is the OUTER variable r, so row r has r stars. This one change (2 * rows → r) turns a rectangle into a triangle. Method for any pattern: make a table row → number of characters, find the formula, then write the inner loop(s). The console is the real run with rows = 4 (it also shows pattern C,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PYRAMID (5 min). Fill the table with the class first (rows = 4). Spaces decrease by one per row: rows − r. Stars increase by two: 2r − 1 (1, 3, 5, 7). Hence two inner loops one after the other (not nested in each other): first the spaces, then the stars, then WriteLine(). Dots stand for spaces in the table so they are visible. Trailing spaces after the stars are not needed. Homework H3 (diamond) adds the same pyramid upside down below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QUIZ 1 (5 min). Give 3 minutes, students write the output on paper, then compare with a neighbour before the answer slide. Tip for students: make a small table of i, j and what is printed. Q3 uses the parity of i + j (Week 4 %).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(3 min). All three outputs are real program output. Q1: the inner bound is i, so row i has the numbers 1..i. Q2: the outer loop counts DOWN, rows get shorter. Q3: (i + j) even → #, odd → . gives a checkerboard; 4 × 4 = 16 characters are printed.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4 (about 30 min including exercises). break and continue, two classic algorithms, then the common mistakes and the second quiz.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BREAK / CONTINUE (5 min). break: jump to the first statement after the loop; the update does not run any more. continue: skip the rest of the body; in a for loop the UPDATE still runs, then the condition. First console line comes from Part 1 of the program (continue skips 3, 6, 9, 12, 15). In the run: 8 is added, −3 is skipped, 12 and 5 are added, 0 stops the loop after 5 of at most 10 reads. Sum 8 + 12 + 5 = 25. Style advice: use break/continue sparingly; a loop with many exits is hard to trace. Week 7 shows how to express "until 0" with while.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PRIME TEST (5 min). n is prime if it has no divisor d with 2 ≤ d ≤ √n. Why √n: divisors come in pairs d · (n / d); if both were larger than √n their product would exceed n. The loop is a SEARCH: as soon as one divisor is found we know the answer, so break. isPrime = n &gt;= 2 handles 0, 1 and negatives without an extra if. limit is computed once before the loop with Math.Sqrt and a cast (Week 4). Numbers: 97 → d = 2..9, 8 divisions, prime. 91 = 7 · 13 → found at d = 7 after 6 divisions. 1 000 003 → 999 divisions instead of about a million (all checked by running the program).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PRIMES UP TO N (4 min). The outer loop visits every candidate n; the inner loop is the prime test of the previous slide, here written with d * d &lt;= n instead of Math.Sqrt (both mean d ≤ √n). break leaves ONLY the inner loop; the outer loop continues with the next n. found (declared as int found = 0; before the loop) counts the primes; found % 10 == 0 starts a new line after every 10th prime. There are 25 primes below 100. Remark for strong students: d * d would overflow int only for n above about 2.1 billion.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FIZZBUZZ (3 min). A classic job-interview warm-up. For each i: multiple of 15 → FizzBuzz, of 3 → Fizz, of 5 → Buzz, otherwise the number. Order matters (Week 5): if i % 3 == 0 were tested first, 15 would print Fizz and the FizzBuzz branch would never be reached. Alternative first test: i % 3 == 0 &amp;&amp; i % 5 == 0 (same meaning as i % 15 == 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MISTAKES 1 (4 min). Off-by-one: the most frequent loop bug. Check the first AND last value of i: here the last value is 9, not 10. Stray semicolon: for (...); has an EMPTY body; the loop runs 5 times doing nothing, then the block { count++; } runs once. The compiler only WARNS (CS0642, shown exactly as printed), it does not stop. Moral: read warnings, and keep the opening brace on its own line (Allman style) so a semicolon at the end of the header stands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MISTAKES 2 (5 min). (1) Changing i in the body: two updates per pass, the output skips numbers (real output 1 3 5 7 9). (2) Wrong direction: i-- with i &lt;= 10 never makes the condition false by counting; the loop only ends after 2 147 483 650 passes when int overflows from −2 147 483 648 to +2 147 483 647 (we counted it). for (;;) has no condition at all: truly infinite; stop a running program with Ctrl+C. (3) double counter: 0.1 is not exact in binary (Week 4), after ten steps x is 0.9999999999999999, so x != 1.0 stays true forever. Use int counters. (4) Accumulator declared inside the body: reset to 0 every pass and invisible after the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QUIZ 2 (5 min). Q4: count how often the inner body runs (triangular sum). Q5: break when i * i &gt; 20. Q6: continue skips the pairs with i == j. Let students write answers on paper first. Answers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(3 min). Q4: j runs from i to 3, i.e. 4 + 3 + 2 + 1 = 10 passes = 4 · 5 / 2. Q5: 1, 4, 9, 16 are ≤ 20 and printed; at i = 5, 25 &gt; 20 → break before printing. Output 1234 (no spaces, Write(i)). Q6: 9 pairs minus the 3 with i == j = 6 pairs; continue only skips the Write, the inner update still runs. All outputs are real program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EXERCISES (remaining lab time). Work in pairs; for each: pseudocode or flowchart first, then C#, then one normal and one edge-case test. Suggested order: A, B (warm-up), then C or E, then D and F (nested). Solutions are in the instructor edition of the notes; expected outputs: A: N = 10 → 25. B: 2^10 = 1024. C: 28 → 1 2 4 7 14 28, 6 divisors, perfect. D: n = 5 hollow square. E: counts. F: Floyd's triangle 1 / 2 3 / 4 5 6 / 7 8 9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HOMEWORK (2 min). H1–H6 are in the notes with full statements; solutions appear in the instructor edition only. H6 is a paper trace: good midterm practice. Expected answers for checking: H1 n = 10 → 385 by both methods; H5 → 6 28 496 8128; H6 → x = 10. Remind students: every program starts with pseudocode or a flowchart and ends with a test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(2 min). Six takeaways. Next week: condition-controlled loops (while, do-while), sentinel input and input validation; we will rewrite some of today's for loops as while loops. Remind: notes, code folder and homework are on the course page; questions in the course group.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slideLayout" Target="../slideLayouts/slideLayout1.xml"/><Relationship Id="rId5"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slideLayout" Target="../slideLayouts/slideLayout1.xml"/><Relationship Id="rId5"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slideLayout" Target="../slideLayouts/slideLayout1.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slideLayout" Target="../slideLayouts/slideLayout1.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image" Target="../media/image-37-3.png"/><Relationship Id="rId4" Type="http://schemas.openxmlformats.org/officeDocument/2006/relationships/slideLayout" Target="../slideLayouts/slideLayout1.xml"/><Relationship Id="rId5"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image" Target="../media/image-38-3.png"/><Relationship Id="rId4" Type="http://schemas.openxmlformats.org/officeDocument/2006/relationships/image" Target="../media/image-38-4.png"/><Relationship Id="rId5" Type="http://schemas.openxmlformats.org/officeDocument/2006/relationships/image" Target="../media/image-38-5.png"/><Relationship Id="rId6" Type="http://schemas.openxmlformats.org/officeDocument/2006/relationships/image" Target="../media/image-38-6.png"/><Relationship Id="rId7" Type="http://schemas.openxmlformats.org/officeDocument/2006/relationships/slideLayout" Target="../slideLayouts/slideLayout1.xml"/><Relationship Id="rId8"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slideLayout" Target="../slideLayouts/slideLayout1.xml"/><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548640" y="548640"/>
            <a:ext cx="7315200" cy="457200"/>
          </a:xfrm>
          <a:prstGeom prst="rect">
            <a:avLst/>
          </a:prstGeom>
          <a:noFill/>
          <a:ln/>
        </p:spPr>
        <p:txBody>
          <a:bodyPr wrap="square" lIns="0" tIns="0" rIns="0" bIns="0" rtlCol="0" anchor="ctr"/>
          <a:lstStyle/>
          <a:p>
            <a:pPr indent="0" marL="0">
              <a:buNone/>
            </a:pPr>
            <a:r>
              <a:rPr lang="en-US" sz="2000" b="1" dirty="0">
                <a:solidFill>
                  <a:srgbClr val="FCA311"/>
                </a:solidFill>
                <a:latin typeface="Courier New" pitchFamily="34" charset="0"/>
                <a:ea typeface="Courier New" pitchFamily="34" charset="-122"/>
                <a:cs typeface="Courier New" pitchFamily="34" charset="-120"/>
              </a:rPr>
              <a:t>&gt;_ MCMP113</a:t>
            </a:r>
            <a:endParaRPr lang="en-US" sz="2000" dirty="0"/>
          </a:p>
        </p:txBody>
      </p:sp>
      <p:sp>
        <p:nvSpPr>
          <p:cNvPr id="3" name="Text 1"/>
          <p:cNvSpPr txBox="1"/>
          <p:nvPr/>
        </p:nvSpPr>
        <p:spPr>
          <a:xfrm>
            <a:off x="548640" y="1097280"/>
            <a:ext cx="7498080" cy="914400"/>
          </a:xfrm>
          <a:prstGeom prst="rect">
            <a:avLst/>
          </a:prstGeom>
          <a:noFill/>
          <a:ln/>
        </p:spPr>
        <p:txBody>
          <a:bodyPr wrap="square" lIns="0" tIns="0" rIns="0" bIns="0" rtlCol="0" anchor="t"/>
          <a:lstStyle/>
          <a:p>
            <a:pPr indent="0" marL="0">
              <a:buNone/>
            </a:pPr>
            <a:r>
              <a:rPr lang="en-US" sz="2000" dirty="0">
                <a:solidFill>
                  <a:srgbClr val="C7CEDC"/>
                </a:solidFill>
                <a:latin typeface="Calibri" pitchFamily="34" charset="0"/>
                <a:ea typeface="Calibri" pitchFamily="34" charset="-122"/>
                <a:cs typeface="Calibri" pitchFamily="34" charset="-120"/>
              </a:rPr>
              <a:t>Introduction to Basic Algorithms and Programming</a:t>
            </a:r>
            <a:endParaRPr lang="en-US" sz="2000" dirty="0"/>
          </a:p>
        </p:txBody>
      </p:sp>
      <p:sp>
        <p:nvSpPr>
          <p:cNvPr id="4" name="Text 2"/>
          <p:cNvSpPr txBox="1"/>
          <p:nvPr/>
        </p:nvSpPr>
        <p:spPr>
          <a:xfrm>
            <a:off x="548640" y="1828800"/>
            <a:ext cx="7498080" cy="457200"/>
          </a:xfrm>
          <a:prstGeom prst="rect">
            <a:avLst/>
          </a:prstGeom>
          <a:noFill/>
          <a:ln/>
        </p:spPr>
        <p:txBody>
          <a:bodyPr wrap="square" lIns="0" tIns="0" rIns="0" bIns="0" rtlCol="0" anchor="ctr"/>
          <a:lstStyle/>
          <a:p>
            <a:pPr indent="0" marL="0">
              <a:buNone/>
            </a:pPr>
            <a:r>
              <a:rPr lang="en-US" sz="1800" b="1" dirty="0">
                <a:solidFill>
                  <a:srgbClr val="FCA311"/>
                </a:solidFill>
                <a:latin typeface="Courier New" pitchFamily="34" charset="0"/>
                <a:ea typeface="Courier New" pitchFamily="34" charset="-122"/>
                <a:cs typeface="Courier New" pitchFamily="34" charset="-120"/>
              </a:rPr>
              <a:t>Week 6</a:t>
            </a:r>
            <a:endParaRPr lang="en-US" sz="1800" dirty="0"/>
          </a:p>
        </p:txBody>
      </p:sp>
      <p:sp>
        <p:nvSpPr>
          <p:cNvPr id="5" name="Text 3"/>
          <p:cNvSpPr txBox="1"/>
          <p:nvPr/>
        </p:nvSpPr>
        <p:spPr>
          <a:xfrm>
            <a:off x="548640" y="2286000"/>
            <a:ext cx="7498080" cy="1554480"/>
          </a:xfrm>
          <a:prstGeom prst="rect">
            <a:avLst/>
          </a:prstGeom>
          <a:noFill/>
          <a:ln/>
        </p:spPr>
        <p:txBody>
          <a:bodyPr wrap="square" lIns="0" tIns="0" rIns="0" bIns="0" rtlCol="0" anchor="t">
            <a:normAutofit/>
          </a:bodyPr>
          <a:lstStyle/>
          <a:p>
            <a:pPr indent="0" marL="0">
              <a:buNone/>
            </a:pPr>
            <a:r>
              <a:rPr lang="en-US" sz="3800" b="1" dirty="0">
                <a:solidFill>
                  <a:srgbClr val="FFFFFF"/>
                </a:solidFill>
                <a:latin typeface="Cambria" pitchFamily="34" charset="0"/>
                <a:ea typeface="Cambria" pitchFamily="34" charset="-122"/>
                <a:cs typeface="Cambria" pitchFamily="34" charset="-120"/>
              </a:rPr>
              <a:t>Loops: the for Loop</a:t>
            </a:r>
            <a:endParaRPr lang="en-US" sz="3800" dirty="0"/>
          </a:p>
        </p:txBody>
      </p:sp>
      <p:sp>
        <p:nvSpPr>
          <p:cNvPr id="6" name="Text 4"/>
          <p:cNvSpPr txBox="1"/>
          <p:nvPr/>
        </p:nvSpPr>
        <p:spPr>
          <a:xfrm>
            <a:off x="548640" y="3886200"/>
            <a:ext cx="7498080" cy="640080"/>
          </a:xfrm>
          <a:prstGeom prst="rect">
            <a:avLst/>
          </a:prstGeom>
          <a:noFill/>
          <a:ln/>
        </p:spPr>
        <p:txBody>
          <a:bodyPr wrap="square" lIns="0" tIns="0" rIns="0" bIns="0" rtlCol="0" anchor="t"/>
          <a:lstStyle/>
          <a:p>
            <a:pPr indent="0" marL="0">
              <a:buNone/>
            </a:pPr>
            <a:r>
              <a:rPr lang="en-US" sz="1600" dirty="0">
                <a:solidFill>
                  <a:srgbClr val="C7CEDC"/>
                </a:solidFill>
                <a:latin typeface="Calibri" pitchFamily="34" charset="0"/>
                <a:ea typeface="Calibri" pitchFamily="34" charset="-122"/>
                <a:cs typeface="Calibri" pitchFamily="34" charset="-120"/>
              </a:rPr>
              <a:t>Counting, accumulating, nested loops, break and continue</a:t>
            </a:r>
            <a:endParaRPr lang="en-US" sz="1600" dirty="0"/>
          </a:p>
        </p:txBody>
      </p:sp>
      <p:sp>
        <p:nvSpPr>
          <p:cNvPr id="7" name="Text 5"/>
          <p:cNvSpPr txBox="1"/>
          <p:nvPr/>
        </p:nvSpPr>
        <p:spPr>
          <a:xfrm>
            <a:off x="548640" y="4892040"/>
            <a:ext cx="7315200" cy="1005840"/>
          </a:xfrm>
          <a:prstGeom prst="rect">
            <a:avLst/>
          </a:prstGeom>
          <a:noFill/>
          <a:ln/>
        </p:spPr>
        <p:txBody>
          <a:bodyPr wrap="square" lIns="0" tIns="0" rIns="0" bIns="0" rtlCol="0" anchor="ctr"/>
          <a:lstStyle/>
          <a:p>
            <a:pPr indent="0" marL="0">
              <a:spcAft>
                <a:spcPts val="400"/>
              </a:spcAft>
              <a:buNone/>
            </a:pPr>
            <a:r>
              <a:rPr lang="en-US" sz="1500" b="1" dirty="0">
                <a:solidFill>
                  <a:srgbClr val="FFFFFF"/>
                </a:solidFill>
                <a:latin typeface="Calibri" pitchFamily="34" charset="0"/>
                <a:ea typeface="Calibri" pitchFamily="34" charset="-122"/>
                <a:cs typeface="Calibri" pitchFamily="34" charset="-120"/>
              </a:rPr>
              <a:t>Asst. Prof. Hasan Oğuz, PhD</a:t>
            </a:r>
            <a:endParaRPr lang="en-US" sz="1500" dirty="0"/>
          </a:p>
          <a:p>
            <a:pPr indent="0" marL="0">
              <a:spcAft>
                <a:spcPts val="400"/>
              </a:spcAft>
              <a:buNone/>
            </a:pPr>
            <a:r>
              <a:rPr lang="en-US" sz="1500" dirty="0">
                <a:solidFill>
                  <a:srgbClr val="C7CEDC"/>
                </a:solidFill>
                <a:latin typeface="Calibri" pitchFamily="34" charset="0"/>
                <a:ea typeface="Calibri" pitchFamily="34" charset="-122"/>
                <a:cs typeface="Calibri" pitchFamily="34" charset="-120"/>
              </a:rPr>
              <a:t>Istanbul Okan University  ·  Vocational School</a:t>
            </a:r>
            <a:endParaRPr lang="en-US" sz="1500" dirty="0"/>
          </a:p>
          <a:p>
            <a:pPr indent="0" marL="0">
              <a:spcAft>
                <a:spcPts val="400"/>
              </a:spcAft>
              <a:buNone/>
            </a:pPr>
            <a:r>
              <a:rPr lang="en-US" sz="1500" dirty="0">
                <a:solidFill>
                  <a:srgbClr val="C7CEDC"/>
                </a:solidFill>
                <a:latin typeface="Calibri" pitchFamily="34" charset="0"/>
                <a:ea typeface="Calibri" pitchFamily="34" charset="-122"/>
                <a:cs typeface="Calibri" pitchFamily="34" charset="-120"/>
              </a:rPr>
              <a:t>2026–2027 Fall Semester</a:t>
            </a:r>
            <a:endParaRPr lang="en-US" sz="1500" dirty="0"/>
          </a:p>
        </p:txBody>
      </p:sp>
      <p:sp>
        <p:nvSpPr>
          <p:cNvPr id="8" name="Shape 6"/>
          <p:cNvSpPr/>
          <p:nvPr/>
        </p:nvSpPr>
        <p:spPr>
          <a:xfrm>
            <a:off x="8412480" y="1188720"/>
            <a:ext cx="3246120" cy="3931920"/>
          </a:xfrm>
          <a:prstGeom prst="roundRect">
            <a:avLst>
              <a:gd name="adj" fmla="val 3380"/>
            </a:avLst>
          </a:prstGeom>
          <a:solidFill>
            <a:srgbClr val="0F1729"/>
          </a:solidFill>
          <a:ln w="12700">
            <a:solidFill>
              <a:srgbClr val="2A3654"/>
            </a:solidFill>
            <a:prstDash val="solid"/>
          </a:ln>
        </p:spPr>
      </p:sp>
      <p:sp>
        <p:nvSpPr>
          <p:cNvPr id="9" name="Shape 7"/>
          <p:cNvSpPr/>
          <p:nvPr/>
        </p:nvSpPr>
        <p:spPr>
          <a:xfrm>
            <a:off x="8641080" y="1371600"/>
            <a:ext cx="146304" cy="146304"/>
          </a:xfrm>
          <a:prstGeom prst="ellipse">
            <a:avLst/>
          </a:prstGeom>
          <a:solidFill>
            <a:srgbClr val="FF5F57"/>
          </a:solidFill>
          <a:ln w="12700">
            <a:solidFill>
              <a:srgbClr val="FF5F57"/>
            </a:solidFill>
            <a:prstDash val="solid"/>
          </a:ln>
        </p:spPr>
      </p:sp>
      <p:sp>
        <p:nvSpPr>
          <p:cNvPr id="10" name="Shape 8"/>
          <p:cNvSpPr/>
          <p:nvPr/>
        </p:nvSpPr>
        <p:spPr>
          <a:xfrm>
            <a:off x="8915400" y="1371600"/>
            <a:ext cx="146304" cy="146304"/>
          </a:xfrm>
          <a:prstGeom prst="ellipse">
            <a:avLst/>
          </a:prstGeom>
          <a:solidFill>
            <a:srgbClr val="FEBC2E"/>
          </a:solidFill>
          <a:ln w="12700">
            <a:solidFill>
              <a:srgbClr val="FEBC2E"/>
            </a:solidFill>
            <a:prstDash val="solid"/>
          </a:ln>
        </p:spPr>
      </p:sp>
      <p:sp>
        <p:nvSpPr>
          <p:cNvPr id="11" name="Shape 9"/>
          <p:cNvSpPr/>
          <p:nvPr/>
        </p:nvSpPr>
        <p:spPr>
          <a:xfrm>
            <a:off x="9189720" y="1371600"/>
            <a:ext cx="146304" cy="146304"/>
          </a:xfrm>
          <a:prstGeom prst="ellipse">
            <a:avLst/>
          </a:prstGeom>
          <a:solidFill>
            <a:srgbClr val="28C840"/>
          </a:solidFill>
          <a:ln w="12700">
            <a:solidFill>
              <a:srgbClr val="28C840"/>
            </a:solidFill>
            <a:prstDash val="solid"/>
          </a:ln>
        </p:spPr>
      </p:sp>
      <p:sp>
        <p:nvSpPr>
          <p:cNvPr id="12" name="Text 10"/>
          <p:cNvSpPr txBox="1"/>
          <p:nvPr/>
        </p:nvSpPr>
        <p:spPr>
          <a:xfrm>
            <a:off x="8686800" y="1737360"/>
            <a:ext cx="2834640" cy="3200400"/>
          </a:xfrm>
          <a:prstGeom prst="rect">
            <a:avLst/>
          </a:prstGeom>
          <a:noFill/>
          <a:ln/>
        </p:spPr>
        <p:txBody>
          <a:bodyPr wrap="square" lIns="0" tIns="0" rIns="0" bIns="0" rtlCol="0" anchor="t"/>
          <a:lstStyle/>
          <a:p>
            <a:pPr indent="0" marL="0">
              <a:spcAft>
                <a:spcPts val="500"/>
              </a:spcAft>
              <a:buNone/>
            </a:pPr>
            <a:r>
              <a:rPr lang="en-US" sz="1400" dirty="0">
                <a:solidFill>
                  <a:srgbClr val="FCA311"/>
                </a:solidFill>
                <a:latin typeface="Courier New" pitchFamily="34" charset="0"/>
                <a:ea typeface="Courier New" pitchFamily="34" charset="-122"/>
                <a:cs typeface="Courier New" pitchFamily="34" charset="-120"/>
              </a:rPr>
              <a:t>&gt; </a:t>
            </a:r>
            <a:pPr indent="0" marL="0">
              <a:spcAft>
                <a:spcPts val="500"/>
              </a:spcAft>
              <a:buNone/>
            </a:pPr>
            <a:r>
              <a:rPr lang="en-US" sz="1400" dirty="0">
                <a:solidFill>
                  <a:srgbClr val="E6EDF7"/>
                </a:solidFill>
                <a:latin typeface="Courier New" pitchFamily="34" charset="0"/>
                <a:ea typeface="Courier New" pitchFamily="34" charset="-122"/>
                <a:cs typeface="Courier New" pitchFamily="34" charset="-120"/>
              </a:rPr>
              <a:t>dotnet run</a:t>
            </a:r>
            <a:endParaRPr lang="en-US" sz="1400" dirty="0"/>
          </a:p>
          <a:p>
            <a:pPr indent="0" marL="0">
              <a:spcAft>
                <a:spcPts val="500"/>
              </a:spcAft>
              <a:buNone/>
            </a:pPr>
            <a:r>
              <a:rPr lang="en-US" sz="1400" dirty="0">
                <a:solidFill>
                  <a:srgbClr val="7EE2A8"/>
                </a:solidFill>
                <a:latin typeface="Courier New" pitchFamily="34" charset="0"/>
                <a:ea typeface="Courier New" pitchFamily="34" charset="-122"/>
                <a:cs typeface="Courier New" pitchFamily="34" charset="-120"/>
              </a:rPr>
              <a:t>Count up to: 5</a:t>
            </a:r>
            <a:endParaRPr lang="en-US" sz="1400" dirty="0"/>
          </a:p>
          <a:p>
            <a:pPr indent="0" marL="0">
              <a:spcAft>
                <a:spcPts val="500"/>
              </a:spcAft>
              <a:buNone/>
            </a:pPr>
            <a:r>
              <a:rPr lang="en-US" sz="1400" dirty="0">
                <a:solidFill>
                  <a:srgbClr val="7EE2A8"/>
                </a:solidFill>
                <a:latin typeface="Courier New" pitchFamily="34" charset="0"/>
                <a:ea typeface="Courier New" pitchFamily="34" charset="-122"/>
                <a:cs typeface="Courier New" pitchFamily="34" charset="-120"/>
              </a:rPr>
              <a:t>Up:     1 2 3 4 5</a:t>
            </a:r>
            <a:endParaRPr lang="en-US" sz="1400" dirty="0"/>
          </a:p>
          <a:p>
            <a:pPr indent="0" marL="0">
              <a:spcAft>
                <a:spcPts val="500"/>
              </a:spcAft>
              <a:buNone/>
            </a:pPr>
            <a:r>
              <a:rPr lang="en-US" sz="1400" dirty="0">
                <a:solidFill>
                  <a:srgbClr val="7EE2A8"/>
                </a:solidFill>
                <a:latin typeface="Courier New" pitchFamily="34" charset="0"/>
                <a:ea typeface="Courier New" pitchFamily="34" charset="-122"/>
                <a:cs typeface="Courier New" pitchFamily="34" charset="-120"/>
              </a:rPr>
              <a:t>Down:   5 4 3 2 1</a:t>
            </a:r>
            <a:endParaRPr lang="en-US" sz="1400" dirty="0"/>
          </a:p>
          <a:p>
            <a:pPr indent="0" marL="0">
              <a:spcAft>
                <a:spcPts val="500"/>
              </a:spcAft>
              <a:buNone/>
            </a:pPr>
            <a:r>
              <a:rPr lang="en-US" sz="1400" dirty="0">
                <a:solidFill>
                  <a:srgbClr val="7EE2A8"/>
                </a:solidFill>
                <a:latin typeface="Courier New" pitchFamily="34" charset="0"/>
                <a:ea typeface="Courier New" pitchFamily="34" charset="-122"/>
                <a:cs typeface="Courier New" pitchFamily="34" charset="-120"/>
              </a:rPr>
              <a:t>Even:   0 2 4</a:t>
            </a:r>
            <a:endParaRPr lang="en-US" sz="1400" dirty="0"/>
          </a:p>
          <a:p>
            <a:pPr indent="0" marL="0">
              <a:spcAft>
                <a:spcPts val="500"/>
              </a:spcAft>
              <a:buNone/>
            </a:pPr>
            <a:r>
              <a:rPr lang="en-US" sz="1400" dirty="0">
                <a:solidFill>
                  <a:srgbClr val="7EE2A8"/>
                </a:solidFill>
                <a:latin typeface="Courier New" pitchFamily="34" charset="0"/>
                <a:ea typeface="Courier New" pitchFamily="34" charset="-122"/>
                <a:cs typeface="Courier New" pitchFamily="34" charset="-120"/>
              </a:rPr>
              <a:t>By -5:  25 20 15 10 5</a:t>
            </a:r>
            <a:endParaRPr lang="en-US" sz="1400" dirty="0"/>
          </a:p>
          <a:p>
            <a:pPr indent="0" marL="0">
              <a:spcAft>
                <a:spcPts val="500"/>
              </a:spcAft>
              <a:buNone/>
            </a:pPr>
            <a:r>
              <a:rPr lang="en-US" sz="1400" dirty="0">
                <a:solidFill>
                  <a:srgbClr val="FCA311"/>
                </a:solidFill>
                <a:latin typeface="Courier New" pitchFamily="34" charset="0"/>
                <a:ea typeface="Courier New" pitchFamily="34" charset="-122"/>
                <a:cs typeface="Courier New" pitchFamily="34" charset="-120"/>
              </a:rPr>
              <a:t>&gt; </a:t>
            </a:r>
            <a:pPr indent="0" marL="0">
              <a:spcAft>
                <a:spcPts val="500"/>
              </a:spcAft>
              <a:buNone/>
            </a:pPr>
            <a:r>
              <a:rPr lang="en-US" sz="1400" dirty="0">
                <a:solidFill>
                  <a:srgbClr val="E6EDF7"/>
                </a:solidFill>
                <a:latin typeface="Courier New" pitchFamily="34" charset="0"/>
                <a:ea typeface="Courier New" pitchFamily="34" charset="-122"/>
                <a:cs typeface="Courier New" pitchFamily="34" charset="-120"/>
              </a:rPr>
              <a:t>_</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LEARNING OBJECTIVES</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By the End of This Week You Can …</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6</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2</a:t>
            </a:r>
            <a:endParaRPr lang="en-US" sz="1000" dirty="0"/>
          </a:p>
        </p:txBody>
      </p:sp>
      <p:sp>
        <p:nvSpPr>
          <p:cNvPr id="7" name="Shape 4"/>
          <p:cNvSpPr/>
          <p:nvPr/>
        </p:nvSpPr>
        <p:spPr>
          <a:xfrm>
            <a:off x="548640" y="1645920"/>
            <a:ext cx="3611880" cy="2057400"/>
          </a:xfrm>
          <a:prstGeom prst="roundRect">
            <a:avLst>
              <a:gd name="adj" fmla="val 5333"/>
            </a:avLst>
          </a:prstGeom>
          <a:solidFill>
            <a:srgbClr val="EEF1F6"/>
          </a:solidFill>
          <a:ln w="12700">
            <a:solidFill>
              <a:srgbClr val="EEF1F6"/>
            </a:solidFill>
            <a:prstDash val="solid"/>
          </a:ln>
        </p:spPr>
      </p:sp>
      <p:sp>
        <p:nvSpPr>
          <p:cNvPr id="8" name="Shape 5"/>
          <p:cNvSpPr/>
          <p:nvPr/>
        </p:nvSpPr>
        <p:spPr>
          <a:xfrm>
            <a:off x="777240" y="1874520"/>
            <a:ext cx="566928" cy="566928"/>
          </a:xfrm>
          <a:prstGeom prst="ellipse">
            <a:avLst/>
          </a:prstGeom>
          <a:solidFill>
            <a:srgbClr val="2E9E6A"/>
          </a:solidFill>
          <a:ln w="12700">
            <a:solidFill>
              <a:srgbClr val="2E9E6A"/>
            </a:solidFill>
            <a:prstDash val="solid"/>
          </a:ln>
        </p:spPr>
      </p:sp>
      <p:pic>
        <p:nvPicPr>
          <p:cNvPr id="9" name="Image 0" descr="preencoded.png">    </p:cNvPr>
          <p:cNvPicPr>
            <a:picLocks noChangeAspect="1"/>
          </p:cNvPicPr>
          <p:nvPr/>
        </p:nvPicPr>
        <p:blipFill>
          <a:blip r:embed="rId1"/>
          <a:stretch>
            <a:fillRect/>
          </a:stretch>
        </p:blipFill>
        <p:spPr>
          <a:xfrm>
            <a:off x="924641" y="2021921"/>
            <a:ext cx="272125" cy="272125"/>
          </a:xfrm>
          <a:prstGeom prst="rect">
            <a:avLst/>
          </a:prstGeom>
        </p:spPr>
      </p:pic>
      <p:sp>
        <p:nvSpPr>
          <p:cNvPr id="10" name="Text 6"/>
          <p:cNvSpPr txBox="1"/>
          <p:nvPr/>
        </p:nvSpPr>
        <p:spPr>
          <a:xfrm>
            <a:off x="1463040" y="1874520"/>
            <a:ext cx="251460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Explain the for loop</a:t>
            </a:r>
            <a:endParaRPr lang="en-US" sz="1700" dirty="0"/>
          </a:p>
        </p:txBody>
      </p:sp>
      <p:sp>
        <p:nvSpPr>
          <p:cNvPr id="11" name="Text 7"/>
          <p:cNvSpPr txBox="1"/>
          <p:nvPr/>
        </p:nvSpPr>
        <p:spPr>
          <a:xfrm>
            <a:off x="777240" y="2560320"/>
            <a:ext cx="3154680" cy="1005840"/>
          </a:xfrm>
          <a:prstGeom prst="rect">
            <a:avLst/>
          </a:prstGeom>
          <a:noFill/>
          <a:ln/>
        </p:spPr>
        <p:txBody>
          <a:bodyPr wrap="square" lIns="0" tIns="0" rIns="0" bIns="0" rtlCol="0" anchor="t"/>
          <a:lstStyle/>
          <a:p>
            <a:pPr indent="0" marL="0">
              <a:buNone/>
            </a:pPr>
            <a:r>
              <a:rPr lang="en-US" sz="1500" dirty="0">
                <a:solidFill>
                  <a:srgbClr val="333B4F"/>
                </a:solidFill>
                <a:latin typeface="Calibri" pitchFamily="34" charset="0"/>
                <a:ea typeface="Calibri" pitchFamily="34" charset="-122"/>
                <a:cs typeface="Calibri" pitchFamily="34" charset="-120"/>
              </a:rPr>
              <a:t>Name its four parts (initialization, condition, update, body) and their execution order.</a:t>
            </a:r>
            <a:endParaRPr lang="en-US" sz="1500" dirty="0"/>
          </a:p>
        </p:txBody>
      </p:sp>
      <p:sp>
        <p:nvSpPr>
          <p:cNvPr id="12" name="Shape 8"/>
          <p:cNvSpPr/>
          <p:nvPr/>
        </p:nvSpPr>
        <p:spPr>
          <a:xfrm>
            <a:off x="4297680" y="1645920"/>
            <a:ext cx="3611880" cy="2057400"/>
          </a:xfrm>
          <a:prstGeom prst="roundRect">
            <a:avLst>
              <a:gd name="adj" fmla="val 5333"/>
            </a:avLst>
          </a:prstGeom>
          <a:solidFill>
            <a:srgbClr val="EEF1F6"/>
          </a:solidFill>
          <a:ln w="12700">
            <a:solidFill>
              <a:srgbClr val="EEF1F6"/>
            </a:solidFill>
            <a:prstDash val="solid"/>
          </a:ln>
        </p:spPr>
      </p:sp>
      <p:sp>
        <p:nvSpPr>
          <p:cNvPr id="13" name="Shape 9"/>
          <p:cNvSpPr/>
          <p:nvPr/>
        </p:nvSpPr>
        <p:spPr>
          <a:xfrm>
            <a:off x="4526280" y="1874520"/>
            <a:ext cx="566928" cy="566928"/>
          </a:xfrm>
          <a:prstGeom prst="ellipse">
            <a:avLst/>
          </a:prstGeom>
          <a:solidFill>
            <a:srgbClr val="14213D"/>
          </a:solidFill>
          <a:ln w="12700">
            <a:solidFill>
              <a:srgbClr val="14213D"/>
            </a:solidFill>
            <a:prstDash val="solid"/>
          </a:ln>
        </p:spPr>
      </p:sp>
      <p:pic>
        <p:nvPicPr>
          <p:cNvPr id="14" name="Image 1" descr="preencoded.png">    </p:cNvPr>
          <p:cNvPicPr>
            <a:picLocks noChangeAspect="1"/>
          </p:cNvPicPr>
          <p:nvPr/>
        </p:nvPicPr>
        <p:blipFill>
          <a:blip r:embed="rId2"/>
          <a:stretch>
            <a:fillRect/>
          </a:stretch>
        </p:blipFill>
        <p:spPr>
          <a:xfrm>
            <a:off x="4673681" y="2021921"/>
            <a:ext cx="272125" cy="272125"/>
          </a:xfrm>
          <a:prstGeom prst="rect">
            <a:avLst/>
          </a:prstGeom>
        </p:spPr>
      </p:pic>
      <p:sp>
        <p:nvSpPr>
          <p:cNvPr id="15" name="Text 10"/>
          <p:cNvSpPr txBox="1"/>
          <p:nvPr/>
        </p:nvSpPr>
        <p:spPr>
          <a:xfrm>
            <a:off x="5212080" y="1874520"/>
            <a:ext cx="251460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Draw and trace</a:t>
            </a:r>
            <a:endParaRPr lang="en-US" sz="1700" dirty="0"/>
          </a:p>
        </p:txBody>
      </p:sp>
      <p:sp>
        <p:nvSpPr>
          <p:cNvPr id="16" name="Text 11"/>
          <p:cNvSpPr txBox="1"/>
          <p:nvPr/>
        </p:nvSpPr>
        <p:spPr>
          <a:xfrm>
            <a:off x="4526280" y="2560320"/>
            <a:ext cx="3154680" cy="1005840"/>
          </a:xfrm>
          <a:prstGeom prst="rect">
            <a:avLst/>
          </a:prstGeom>
          <a:noFill/>
          <a:ln/>
        </p:spPr>
        <p:txBody>
          <a:bodyPr wrap="square" lIns="0" tIns="0" rIns="0" bIns="0" rtlCol="0" anchor="t"/>
          <a:lstStyle/>
          <a:p>
            <a:pPr indent="0" marL="0">
              <a:buNone/>
            </a:pPr>
            <a:r>
              <a:rPr lang="en-US" sz="1500" dirty="0">
                <a:solidFill>
                  <a:srgbClr val="333B4F"/>
                </a:solidFill>
                <a:latin typeface="Calibri" pitchFamily="34" charset="0"/>
                <a:ea typeface="Calibri" pitchFamily="34" charset="-122"/>
                <a:cs typeface="Calibri" pitchFamily="34" charset="-120"/>
              </a:rPr>
              <a:t>Draw the flowchart of a for loop and fill in a trace table by hand.</a:t>
            </a:r>
            <a:endParaRPr lang="en-US" sz="1500" dirty="0"/>
          </a:p>
        </p:txBody>
      </p:sp>
      <p:sp>
        <p:nvSpPr>
          <p:cNvPr id="17" name="Shape 12"/>
          <p:cNvSpPr/>
          <p:nvPr/>
        </p:nvSpPr>
        <p:spPr>
          <a:xfrm>
            <a:off x="8046720" y="1645920"/>
            <a:ext cx="3611880" cy="2057400"/>
          </a:xfrm>
          <a:prstGeom prst="roundRect">
            <a:avLst>
              <a:gd name="adj" fmla="val 5333"/>
            </a:avLst>
          </a:prstGeom>
          <a:solidFill>
            <a:srgbClr val="EEF1F6"/>
          </a:solidFill>
          <a:ln w="12700">
            <a:solidFill>
              <a:srgbClr val="EEF1F6"/>
            </a:solidFill>
            <a:prstDash val="solid"/>
          </a:ln>
        </p:spPr>
      </p:sp>
      <p:sp>
        <p:nvSpPr>
          <p:cNvPr id="18" name="Shape 13"/>
          <p:cNvSpPr/>
          <p:nvPr/>
        </p:nvSpPr>
        <p:spPr>
          <a:xfrm>
            <a:off x="8275320" y="1874520"/>
            <a:ext cx="566928" cy="566928"/>
          </a:xfrm>
          <a:prstGeom prst="ellipse">
            <a:avLst/>
          </a:prstGeom>
          <a:solidFill>
            <a:srgbClr val="14213D"/>
          </a:solidFill>
          <a:ln w="12700">
            <a:solidFill>
              <a:srgbClr val="14213D"/>
            </a:solidFill>
            <a:prstDash val="solid"/>
          </a:ln>
        </p:spPr>
      </p:sp>
      <p:pic>
        <p:nvPicPr>
          <p:cNvPr id="19" name="Image 2" descr="preencoded.png">    </p:cNvPr>
          <p:cNvPicPr>
            <a:picLocks noChangeAspect="1"/>
          </p:cNvPicPr>
          <p:nvPr/>
        </p:nvPicPr>
        <p:blipFill>
          <a:blip r:embed="rId3"/>
          <a:stretch>
            <a:fillRect/>
          </a:stretch>
        </p:blipFill>
        <p:spPr>
          <a:xfrm>
            <a:off x="8422721" y="2021921"/>
            <a:ext cx="272125" cy="272125"/>
          </a:xfrm>
          <a:prstGeom prst="rect">
            <a:avLst/>
          </a:prstGeom>
        </p:spPr>
      </p:pic>
      <p:sp>
        <p:nvSpPr>
          <p:cNvPr id="20" name="Text 14"/>
          <p:cNvSpPr txBox="1"/>
          <p:nvPr/>
        </p:nvSpPr>
        <p:spPr>
          <a:xfrm>
            <a:off x="8961120" y="1874520"/>
            <a:ext cx="251460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Accumulate</a:t>
            </a:r>
            <a:endParaRPr lang="en-US" sz="1700" dirty="0"/>
          </a:p>
        </p:txBody>
      </p:sp>
      <p:sp>
        <p:nvSpPr>
          <p:cNvPr id="21" name="Text 15"/>
          <p:cNvSpPr txBox="1"/>
          <p:nvPr/>
        </p:nvSpPr>
        <p:spPr>
          <a:xfrm>
            <a:off x="8275320" y="2560320"/>
            <a:ext cx="3154680" cy="1005840"/>
          </a:xfrm>
          <a:prstGeom prst="rect">
            <a:avLst/>
          </a:prstGeom>
          <a:noFill/>
          <a:ln/>
        </p:spPr>
        <p:txBody>
          <a:bodyPr wrap="square" lIns="0" tIns="0" rIns="0" bIns="0" rtlCol="0" anchor="t"/>
          <a:lstStyle/>
          <a:p>
            <a:pPr indent="0" marL="0">
              <a:buNone/>
            </a:pPr>
            <a:r>
              <a:rPr lang="en-US" sz="1500" dirty="0">
                <a:solidFill>
                  <a:srgbClr val="333B4F"/>
                </a:solidFill>
                <a:latin typeface="Calibri" pitchFamily="34" charset="0"/>
                <a:ea typeface="Calibri" pitchFamily="34" charset="-122"/>
                <a:cs typeface="Calibri" pitchFamily="34" charset="-120"/>
              </a:rPr>
              <a:t>Compute sums, products, counts, averages, minimum and maximum with one loop.</a:t>
            </a:r>
            <a:endParaRPr lang="en-US" sz="1500" dirty="0"/>
          </a:p>
        </p:txBody>
      </p:sp>
      <p:sp>
        <p:nvSpPr>
          <p:cNvPr id="22" name="Shape 16"/>
          <p:cNvSpPr/>
          <p:nvPr/>
        </p:nvSpPr>
        <p:spPr>
          <a:xfrm>
            <a:off x="548640" y="3886200"/>
            <a:ext cx="3611880" cy="2057400"/>
          </a:xfrm>
          <a:prstGeom prst="roundRect">
            <a:avLst>
              <a:gd name="adj" fmla="val 5333"/>
            </a:avLst>
          </a:prstGeom>
          <a:solidFill>
            <a:srgbClr val="EEF1F6"/>
          </a:solidFill>
          <a:ln w="12700">
            <a:solidFill>
              <a:srgbClr val="EEF1F6"/>
            </a:solidFill>
            <a:prstDash val="solid"/>
          </a:ln>
        </p:spPr>
      </p:sp>
      <p:sp>
        <p:nvSpPr>
          <p:cNvPr id="23" name="Shape 17"/>
          <p:cNvSpPr/>
          <p:nvPr/>
        </p:nvSpPr>
        <p:spPr>
          <a:xfrm>
            <a:off x="777240" y="4114800"/>
            <a:ext cx="566928" cy="566928"/>
          </a:xfrm>
          <a:prstGeom prst="ellipse">
            <a:avLst/>
          </a:prstGeom>
          <a:solidFill>
            <a:srgbClr val="2E9E6A"/>
          </a:solidFill>
          <a:ln w="12700">
            <a:solidFill>
              <a:srgbClr val="2E9E6A"/>
            </a:solidFill>
            <a:prstDash val="solid"/>
          </a:ln>
        </p:spPr>
      </p:sp>
      <p:pic>
        <p:nvPicPr>
          <p:cNvPr id="24" name="Image 3" descr="preencoded.png">    </p:cNvPr>
          <p:cNvPicPr>
            <a:picLocks noChangeAspect="1"/>
          </p:cNvPicPr>
          <p:nvPr/>
        </p:nvPicPr>
        <p:blipFill>
          <a:blip r:embed="rId4"/>
          <a:stretch>
            <a:fillRect/>
          </a:stretch>
        </p:blipFill>
        <p:spPr>
          <a:xfrm>
            <a:off x="924641" y="4262201"/>
            <a:ext cx="272125" cy="272125"/>
          </a:xfrm>
          <a:prstGeom prst="rect">
            <a:avLst/>
          </a:prstGeom>
        </p:spPr>
      </p:pic>
      <p:sp>
        <p:nvSpPr>
          <p:cNvPr id="25" name="Text 18"/>
          <p:cNvSpPr txBox="1"/>
          <p:nvPr/>
        </p:nvSpPr>
        <p:spPr>
          <a:xfrm>
            <a:off x="1463040" y="4114800"/>
            <a:ext cx="251460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Nest loops</a:t>
            </a:r>
            <a:endParaRPr lang="en-US" sz="1700" dirty="0"/>
          </a:p>
        </p:txBody>
      </p:sp>
      <p:sp>
        <p:nvSpPr>
          <p:cNvPr id="26" name="Text 19"/>
          <p:cNvSpPr txBox="1"/>
          <p:nvPr/>
        </p:nvSpPr>
        <p:spPr>
          <a:xfrm>
            <a:off x="777240" y="4800600"/>
            <a:ext cx="3154680" cy="1005840"/>
          </a:xfrm>
          <a:prstGeom prst="rect">
            <a:avLst/>
          </a:prstGeom>
          <a:noFill/>
          <a:ln/>
        </p:spPr>
        <p:txBody>
          <a:bodyPr wrap="square" lIns="0" tIns="0" rIns="0" bIns="0" rtlCol="0" anchor="t"/>
          <a:lstStyle/>
          <a:p>
            <a:pPr indent="0" marL="0">
              <a:buNone/>
            </a:pPr>
            <a:r>
              <a:rPr lang="en-US" sz="1500" dirty="0">
                <a:solidFill>
                  <a:srgbClr val="333B4F"/>
                </a:solidFill>
                <a:latin typeface="Calibri" pitchFamily="34" charset="0"/>
                <a:ea typeface="Calibri" pitchFamily="34" charset="-122"/>
                <a:cs typeface="Calibri" pitchFamily="34" charset="-120"/>
              </a:rPr>
              <a:t>Print grids and star patterns; predict how many times a body runs.</a:t>
            </a:r>
            <a:endParaRPr lang="en-US" sz="1500" dirty="0"/>
          </a:p>
        </p:txBody>
      </p:sp>
      <p:sp>
        <p:nvSpPr>
          <p:cNvPr id="27" name="Shape 20"/>
          <p:cNvSpPr/>
          <p:nvPr/>
        </p:nvSpPr>
        <p:spPr>
          <a:xfrm>
            <a:off x="4297680" y="3886200"/>
            <a:ext cx="3611880" cy="2057400"/>
          </a:xfrm>
          <a:prstGeom prst="roundRect">
            <a:avLst>
              <a:gd name="adj" fmla="val 5333"/>
            </a:avLst>
          </a:prstGeom>
          <a:solidFill>
            <a:srgbClr val="EEF1F6"/>
          </a:solidFill>
          <a:ln w="12700">
            <a:solidFill>
              <a:srgbClr val="EEF1F6"/>
            </a:solidFill>
            <a:prstDash val="solid"/>
          </a:ln>
        </p:spPr>
      </p:sp>
      <p:sp>
        <p:nvSpPr>
          <p:cNvPr id="28" name="Shape 21"/>
          <p:cNvSpPr/>
          <p:nvPr/>
        </p:nvSpPr>
        <p:spPr>
          <a:xfrm>
            <a:off x="4526280" y="4114800"/>
            <a:ext cx="566928" cy="566928"/>
          </a:xfrm>
          <a:prstGeom prst="ellipse">
            <a:avLst/>
          </a:prstGeom>
          <a:solidFill>
            <a:srgbClr val="14213D"/>
          </a:solidFill>
          <a:ln w="12700">
            <a:solidFill>
              <a:srgbClr val="14213D"/>
            </a:solidFill>
            <a:prstDash val="solid"/>
          </a:ln>
        </p:spPr>
      </p:sp>
      <p:pic>
        <p:nvPicPr>
          <p:cNvPr id="29" name="Image 4" descr="preencoded.png">    </p:cNvPr>
          <p:cNvPicPr>
            <a:picLocks noChangeAspect="1"/>
          </p:cNvPicPr>
          <p:nvPr/>
        </p:nvPicPr>
        <p:blipFill>
          <a:blip r:embed="rId5"/>
          <a:stretch>
            <a:fillRect/>
          </a:stretch>
        </p:blipFill>
        <p:spPr>
          <a:xfrm>
            <a:off x="4673681" y="4262201"/>
            <a:ext cx="272125" cy="272125"/>
          </a:xfrm>
          <a:prstGeom prst="rect">
            <a:avLst/>
          </a:prstGeom>
        </p:spPr>
      </p:pic>
      <p:sp>
        <p:nvSpPr>
          <p:cNvPr id="30" name="Text 22"/>
          <p:cNvSpPr txBox="1"/>
          <p:nvPr/>
        </p:nvSpPr>
        <p:spPr>
          <a:xfrm>
            <a:off x="5212080" y="4114800"/>
            <a:ext cx="251460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break and continue</a:t>
            </a:r>
            <a:endParaRPr lang="en-US" sz="1700" dirty="0"/>
          </a:p>
        </p:txBody>
      </p:sp>
      <p:sp>
        <p:nvSpPr>
          <p:cNvPr id="31" name="Text 23"/>
          <p:cNvSpPr txBox="1"/>
          <p:nvPr/>
        </p:nvSpPr>
        <p:spPr>
          <a:xfrm>
            <a:off x="4526280" y="4800600"/>
            <a:ext cx="3154680" cy="1005840"/>
          </a:xfrm>
          <a:prstGeom prst="rect">
            <a:avLst/>
          </a:prstGeom>
          <a:noFill/>
          <a:ln/>
        </p:spPr>
        <p:txBody>
          <a:bodyPr wrap="square" lIns="0" tIns="0" rIns="0" bIns="0" rtlCol="0" anchor="t"/>
          <a:lstStyle/>
          <a:p>
            <a:pPr indent="0" marL="0">
              <a:buNone/>
            </a:pPr>
            <a:r>
              <a:rPr lang="en-US" sz="1500" dirty="0">
                <a:solidFill>
                  <a:srgbClr val="333B4F"/>
                </a:solidFill>
                <a:latin typeface="Calibri" pitchFamily="34" charset="0"/>
                <a:ea typeface="Calibri" pitchFamily="34" charset="-122"/>
                <a:cs typeface="Calibri" pitchFamily="34" charset="-120"/>
              </a:rPr>
              <a:t>Leave a loop early or skip one pass; test primes efficiently.</a:t>
            </a:r>
            <a:endParaRPr lang="en-US" sz="1500" dirty="0"/>
          </a:p>
        </p:txBody>
      </p:sp>
      <p:sp>
        <p:nvSpPr>
          <p:cNvPr id="32" name="Shape 24"/>
          <p:cNvSpPr/>
          <p:nvPr/>
        </p:nvSpPr>
        <p:spPr>
          <a:xfrm>
            <a:off x="8046720" y="3886200"/>
            <a:ext cx="3611880" cy="2057400"/>
          </a:xfrm>
          <a:prstGeom prst="roundRect">
            <a:avLst>
              <a:gd name="adj" fmla="val 5333"/>
            </a:avLst>
          </a:prstGeom>
          <a:solidFill>
            <a:srgbClr val="EEF1F6"/>
          </a:solidFill>
          <a:ln w="12700">
            <a:solidFill>
              <a:srgbClr val="EEF1F6"/>
            </a:solidFill>
            <a:prstDash val="solid"/>
          </a:ln>
        </p:spPr>
      </p:sp>
      <p:sp>
        <p:nvSpPr>
          <p:cNvPr id="33" name="Shape 25"/>
          <p:cNvSpPr/>
          <p:nvPr/>
        </p:nvSpPr>
        <p:spPr>
          <a:xfrm>
            <a:off x="8275320" y="4114800"/>
            <a:ext cx="566928" cy="566928"/>
          </a:xfrm>
          <a:prstGeom prst="ellipse">
            <a:avLst/>
          </a:prstGeom>
          <a:solidFill>
            <a:srgbClr val="14213D"/>
          </a:solidFill>
          <a:ln w="12700">
            <a:solidFill>
              <a:srgbClr val="14213D"/>
            </a:solidFill>
            <a:prstDash val="solid"/>
          </a:ln>
        </p:spPr>
      </p:sp>
      <p:pic>
        <p:nvPicPr>
          <p:cNvPr id="34" name="Image 5" descr="preencoded.png">    </p:cNvPr>
          <p:cNvPicPr>
            <a:picLocks noChangeAspect="1"/>
          </p:cNvPicPr>
          <p:nvPr/>
        </p:nvPicPr>
        <p:blipFill>
          <a:blip r:embed="rId6"/>
          <a:stretch>
            <a:fillRect/>
          </a:stretch>
        </p:blipFill>
        <p:spPr>
          <a:xfrm>
            <a:off x="8422721" y="4262201"/>
            <a:ext cx="272125" cy="272125"/>
          </a:xfrm>
          <a:prstGeom prst="rect">
            <a:avLst/>
          </a:prstGeom>
        </p:spPr>
      </p:pic>
      <p:sp>
        <p:nvSpPr>
          <p:cNvPr id="35" name="Text 26"/>
          <p:cNvSpPr txBox="1"/>
          <p:nvPr/>
        </p:nvSpPr>
        <p:spPr>
          <a:xfrm>
            <a:off x="8961120" y="4114800"/>
            <a:ext cx="251460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Avoid classic bugs</a:t>
            </a:r>
            <a:endParaRPr lang="en-US" sz="1700" dirty="0"/>
          </a:p>
        </p:txBody>
      </p:sp>
      <p:sp>
        <p:nvSpPr>
          <p:cNvPr id="36" name="Text 27"/>
          <p:cNvSpPr txBox="1"/>
          <p:nvPr/>
        </p:nvSpPr>
        <p:spPr>
          <a:xfrm>
            <a:off x="8275320" y="4800600"/>
            <a:ext cx="3154680" cy="1005840"/>
          </a:xfrm>
          <a:prstGeom prst="rect">
            <a:avLst/>
          </a:prstGeom>
          <a:noFill/>
          <a:ln/>
        </p:spPr>
        <p:txBody>
          <a:bodyPr wrap="square" lIns="0" tIns="0" rIns="0" bIns="0" rtlCol="0" anchor="t"/>
          <a:lstStyle/>
          <a:p>
            <a:pPr indent="0" marL="0">
              <a:buNone/>
            </a:pPr>
            <a:r>
              <a:rPr lang="en-US" sz="1500" dirty="0">
                <a:solidFill>
                  <a:srgbClr val="333B4F"/>
                </a:solidFill>
                <a:latin typeface="Calibri" pitchFamily="34" charset="0"/>
                <a:ea typeface="Calibri" pitchFamily="34" charset="-122"/>
                <a:cs typeface="Calibri" pitchFamily="34" charset="-120"/>
              </a:rPr>
              <a:t>Off-by-one, stray semicolon, changing i, infinite loops, overflow.</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RECAP · BRIDGE FROM WEEK 5</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From Deciding Once to Repeating Many Times</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6</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3</a:t>
            </a:r>
            <a:endParaRPr lang="en-US" sz="1000" dirty="0"/>
          </a:p>
        </p:txBody>
      </p:sp>
      <p:sp>
        <p:nvSpPr>
          <p:cNvPr id="7" name="Shape 4"/>
          <p:cNvSpPr/>
          <p:nvPr/>
        </p:nvSpPr>
        <p:spPr>
          <a:xfrm>
            <a:off x="548640" y="1645920"/>
            <a:ext cx="3108960" cy="1051560"/>
          </a:xfrm>
          <a:prstGeom prst="roundRect">
            <a:avLst>
              <a:gd name="adj" fmla="val 10435"/>
            </a:avLst>
          </a:prstGeom>
          <a:solidFill>
            <a:srgbClr val="EEF1F6"/>
          </a:solidFill>
          <a:ln w="12700">
            <a:solidFill>
              <a:srgbClr val="EEF1F6"/>
            </a:solidFill>
            <a:prstDash val="solid"/>
          </a:ln>
        </p:spPr>
      </p:sp>
      <p:sp>
        <p:nvSpPr>
          <p:cNvPr id="8" name="Text 5"/>
          <p:cNvSpPr txBox="1"/>
          <p:nvPr/>
        </p:nvSpPr>
        <p:spPr>
          <a:xfrm>
            <a:off x="777240" y="1719072"/>
            <a:ext cx="2743200" cy="411480"/>
          </a:xfrm>
          <a:prstGeom prst="rect">
            <a:avLst/>
          </a:prstGeom>
          <a:noFill/>
          <a:ln/>
        </p:spPr>
        <p:txBody>
          <a:bodyPr wrap="square" lIns="0" tIns="0" rIns="0" bIns="0" rtlCol="0" anchor="ctr"/>
          <a:lstStyle/>
          <a:p>
            <a:pPr indent="0" marL="0">
              <a:buNone/>
            </a:pPr>
            <a:r>
              <a:rPr lang="en-US" sz="1800" b="1" dirty="0">
                <a:solidFill>
                  <a:srgbClr val="14213D"/>
                </a:solidFill>
                <a:latin typeface="Cambria" pitchFamily="34" charset="0"/>
                <a:ea typeface="Cambria" pitchFamily="34" charset="-122"/>
                <a:cs typeface="Cambria" pitchFamily="34" charset="-120"/>
              </a:rPr>
              <a:t>Sequence</a:t>
            </a:r>
            <a:endParaRPr lang="en-US" sz="1800" dirty="0"/>
          </a:p>
        </p:txBody>
      </p:sp>
      <p:sp>
        <p:nvSpPr>
          <p:cNvPr id="9" name="Text 6"/>
          <p:cNvSpPr txBox="1"/>
          <p:nvPr/>
        </p:nvSpPr>
        <p:spPr>
          <a:xfrm>
            <a:off x="777240" y="2130552"/>
            <a:ext cx="2743200" cy="457200"/>
          </a:xfrm>
          <a:prstGeom prst="rect">
            <a:avLst/>
          </a:prstGeom>
          <a:noFill/>
          <a:ln/>
        </p:spPr>
        <p:txBody>
          <a:bodyPr wrap="square" lIns="0" tIns="0" rIns="0" bIns="0" rtlCol="0" anchor="ctr"/>
          <a:lstStyle/>
          <a:p>
            <a:pPr indent="0" marL="0">
              <a:buNone/>
            </a:pPr>
            <a:r>
              <a:rPr lang="en-US" sz="1400" dirty="0">
                <a:solidFill>
                  <a:srgbClr val="333B4F"/>
                </a:solidFill>
                <a:latin typeface="Calibri" pitchFamily="34" charset="0"/>
                <a:ea typeface="Calibri" pitchFamily="34" charset="-122"/>
                <a:cs typeface="Calibri" pitchFamily="34" charset="-120"/>
              </a:rPr>
              <a:t>Weeks 3–4 · one step after another</a:t>
            </a:r>
            <a:endParaRPr lang="en-US" sz="1400" dirty="0"/>
          </a:p>
        </p:txBody>
      </p:sp>
      <p:sp>
        <p:nvSpPr>
          <p:cNvPr id="10" name="Shape 7"/>
          <p:cNvSpPr/>
          <p:nvPr/>
        </p:nvSpPr>
        <p:spPr>
          <a:xfrm>
            <a:off x="548640" y="2834640"/>
            <a:ext cx="3108960" cy="1051560"/>
          </a:xfrm>
          <a:prstGeom prst="roundRect">
            <a:avLst>
              <a:gd name="adj" fmla="val 10435"/>
            </a:avLst>
          </a:prstGeom>
          <a:solidFill>
            <a:srgbClr val="E3ECF8"/>
          </a:solidFill>
          <a:ln w="12700">
            <a:solidFill>
              <a:srgbClr val="E3ECF8"/>
            </a:solidFill>
            <a:prstDash val="solid"/>
          </a:ln>
        </p:spPr>
      </p:sp>
      <p:sp>
        <p:nvSpPr>
          <p:cNvPr id="11" name="Text 8"/>
          <p:cNvSpPr txBox="1"/>
          <p:nvPr/>
        </p:nvSpPr>
        <p:spPr>
          <a:xfrm>
            <a:off x="777240" y="2907792"/>
            <a:ext cx="2743200" cy="411480"/>
          </a:xfrm>
          <a:prstGeom prst="rect">
            <a:avLst/>
          </a:prstGeom>
          <a:noFill/>
          <a:ln/>
        </p:spPr>
        <p:txBody>
          <a:bodyPr wrap="square" lIns="0" tIns="0" rIns="0" bIns="0" rtlCol="0" anchor="ctr"/>
          <a:lstStyle/>
          <a:p>
            <a:pPr indent="0" marL="0">
              <a:buNone/>
            </a:pPr>
            <a:r>
              <a:rPr lang="en-US" sz="1800" b="1" dirty="0">
                <a:solidFill>
                  <a:srgbClr val="2F6FB3"/>
                </a:solidFill>
                <a:latin typeface="Cambria" pitchFamily="34" charset="0"/>
                <a:ea typeface="Cambria" pitchFamily="34" charset="-122"/>
                <a:cs typeface="Cambria" pitchFamily="34" charset="-120"/>
              </a:rPr>
              <a:t>Selection</a:t>
            </a:r>
            <a:endParaRPr lang="en-US" sz="1800" dirty="0"/>
          </a:p>
        </p:txBody>
      </p:sp>
      <p:sp>
        <p:nvSpPr>
          <p:cNvPr id="12" name="Text 9"/>
          <p:cNvSpPr txBox="1"/>
          <p:nvPr/>
        </p:nvSpPr>
        <p:spPr>
          <a:xfrm>
            <a:off x="777240" y="3319272"/>
            <a:ext cx="2743200" cy="457200"/>
          </a:xfrm>
          <a:prstGeom prst="rect">
            <a:avLst/>
          </a:prstGeom>
          <a:noFill/>
          <a:ln/>
        </p:spPr>
        <p:txBody>
          <a:bodyPr wrap="square" lIns="0" tIns="0" rIns="0" bIns="0" rtlCol="0" anchor="ctr"/>
          <a:lstStyle/>
          <a:p>
            <a:pPr indent="0" marL="0">
              <a:buNone/>
            </a:pPr>
            <a:r>
              <a:rPr lang="en-US" sz="1400" dirty="0">
                <a:solidFill>
                  <a:srgbClr val="333B4F"/>
                </a:solidFill>
                <a:latin typeface="Calibri" pitchFamily="34" charset="0"/>
                <a:ea typeface="Calibri" pitchFamily="34" charset="-122"/>
                <a:cs typeface="Calibri" pitchFamily="34" charset="-120"/>
              </a:rPr>
              <a:t>Week 5 · if / else / switch</a:t>
            </a:r>
            <a:endParaRPr lang="en-US" sz="1400" dirty="0"/>
          </a:p>
        </p:txBody>
      </p:sp>
      <p:sp>
        <p:nvSpPr>
          <p:cNvPr id="13" name="Shape 10"/>
          <p:cNvSpPr/>
          <p:nvPr/>
        </p:nvSpPr>
        <p:spPr>
          <a:xfrm>
            <a:off x="548640" y="4023360"/>
            <a:ext cx="3108960" cy="1051560"/>
          </a:xfrm>
          <a:prstGeom prst="roundRect">
            <a:avLst>
              <a:gd name="adj" fmla="val 10435"/>
            </a:avLst>
          </a:prstGeom>
          <a:solidFill>
            <a:srgbClr val="2E9E6A"/>
          </a:solidFill>
          <a:ln w="12700">
            <a:solidFill>
              <a:srgbClr val="2E9E6A"/>
            </a:solidFill>
            <a:prstDash val="solid"/>
          </a:ln>
        </p:spPr>
      </p:sp>
      <p:sp>
        <p:nvSpPr>
          <p:cNvPr id="14" name="Text 11"/>
          <p:cNvSpPr txBox="1"/>
          <p:nvPr/>
        </p:nvSpPr>
        <p:spPr>
          <a:xfrm>
            <a:off x="777240" y="4096512"/>
            <a:ext cx="2743200" cy="41148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Repetition</a:t>
            </a:r>
            <a:endParaRPr lang="en-US" sz="1800" dirty="0"/>
          </a:p>
        </p:txBody>
      </p:sp>
      <p:sp>
        <p:nvSpPr>
          <p:cNvPr id="15" name="Text 12"/>
          <p:cNvSpPr txBox="1"/>
          <p:nvPr/>
        </p:nvSpPr>
        <p:spPr>
          <a:xfrm>
            <a:off x="777240" y="4507992"/>
            <a:ext cx="2743200" cy="4572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Weeks 6–7 · for / while / do-while</a:t>
            </a:r>
            <a:endParaRPr lang="en-US" sz="1400" dirty="0"/>
          </a:p>
        </p:txBody>
      </p:sp>
      <p:sp>
        <p:nvSpPr>
          <p:cNvPr id="16" name="Shape 13"/>
          <p:cNvSpPr/>
          <p:nvPr/>
        </p:nvSpPr>
        <p:spPr>
          <a:xfrm>
            <a:off x="3931920" y="1645920"/>
            <a:ext cx="3566160" cy="3429000"/>
          </a:xfrm>
          <a:prstGeom prst="roundRect">
            <a:avLst>
              <a:gd name="adj" fmla="val 2133"/>
            </a:avLst>
          </a:prstGeom>
          <a:solidFill>
            <a:srgbClr val="F4F6FA"/>
          </a:solidFill>
          <a:ln w="9525">
            <a:solidFill>
              <a:srgbClr val="C9D0DD"/>
            </a:solidFill>
            <a:prstDash val="solid"/>
          </a:ln>
        </p:spPr>
      </p:sp>
      <p:sp>
        <p:nvSpPr>
          <p:cNvPr id="17" name="Text 14"/>
          <p:cNvSpPr txBox="1"/>
          <p:nvPr/>
        </p:nvSpPr>
        <p:spPr>
          <a:xfrm>
            <a:off x="4114800" y="1737360"/>
            <a:ext cx="3200400" cy="274320"/>
          </a:xfrm>
          <a:prstGeom prst="rect">
            <a:avLst/>
          </a:prstGeom>
          <a:noFill/>
          <a:ln/>
        </p:spPr>
        <p:txBody>
          <a:bodyPr wrap="square" lIns="0" tIns="0" rIns="0" bIns="0" rtlCol="0" anchor="ctr"/>
          <a:lstStyle/>
          <a:p>
            <a:pPr indent="0" marL="0">
              <a:buNone/>
            </a:pPr>
            <a:r>
              <a:rPr lang="en-US" sz="1200" b="1" dirty="0">
                <a:solidFill>
                  <a:srgbClr val="5B6478"/>
                </a:solidFill>
                <a:latin typeface="Calibri" pitchFamily="34" charset="0"/>
                <a:ea typeface="Calibri" pitchFamily="34" charset="-122"/>
                <a:cs typeface="Calibri" pitchFamily="34" charset="-120"/>
              </a:rPr>
              <a:t>Week 1: sum 1..N with WHILE</a:t>
            </a:r>
            <a:endParaRPr lang="en-US" sz="1200" dirty="0"/>
          </a:p>
        </p:txBody>
      </p:sp>
      <p:sp>
        <p:nvSpPr>
          <p:cNvPr id="18" name="Text 15"/>
          <p:cNvSpPr txBox="1"/>
          <p:nvPr/>
        </p:nvSpPr>
        <p:spPr>
          <a:xfrm>
            <a:off x="4114800" y="2057400"/>
            <a:ext cx="3200400" cy="2926080"/>
          </a:xfrm>
          <a:prstGeom prst="rect">
            <a:avLst/>
          </a:prstGeom>
          <a:noFill/>
          <a:ln/>
        </p:spPr>
        <p:txBody>
          <a:bodyPr wrap="square" lIns="0" tIns="0" rIns="0" bIns="0" rtlCol="0" anchor="t"/>
          <a:lstStyle/>
          <a:p>
            <a:pPr indent="0" marL="0">
              <a:spcAft>
                <a:spcPts val="100"/>
              </a:spcAft>
              <a:buNone/>
            </a:pPr>
            <a:r>
              <a:rPr lang="en-US" sz="1400" b="1" dirty="0">
                <a:solidFill>
                  <a:srgbClr val="2F6FB3"/>
                </a:solidFill>
                <a:latin typeface="Courier New" pitchFamily="34" charset="0"/>
                <a:ea typeface="Courier New" pitchFamily="34" charset="-122"/>
                <a:cs typeface="Courier New" pitchFamily="34" charset="-120"/>
              </a:rPr>
              <a:t>START</a:t>
            </a:r>
            <a:endParaRPr lang="en-US" sz="1400" dirty="0"/>
          </a:p>
          <a:p>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  </a:t>
            </a:r>
            <a:pPr indent="0" marL="0">
              <a:spcAft>
                <a:spcPts val="100"/>
              </a:spcAft>
              <a:buNone/>
            </a:pPr>
            <a:r>
              <a:rPr lang="en-US" sz="1400" b="1" dirty="0">
                <a:solidFill>
                  <a:srgbClr val="2F6FB3"/>
                </a:solidFill>
                <a:latin typeface="Courier New" pitchFamily="34" charset="0"/>
                <a:ea typeface="Courier New" pitchFamily="34" charset="-122"/>
                <a:cs typeface="Courier New" pitchFamily="34" charset="-120"/>
              </a:rPr>
              <a:t>READ</a:t>
            </a:r>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 N</a:t>
            </a:r>
            <a:endParaRPr lang="en-US" sz="1400" dirty="0"/>
          </a:p>
          <a:p>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  sum ← 0</a:t>
            </a:r>
            <a:endParaRPr lang="en-US" sz="1400" dirty="0"/>
          </a:p>
          <a:p>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  i ← 1</a:t>
            </a:r>
            <a:endParaRPr lang="en-US" sz="1400" dirty="0"/>
          </a:p>
          <a:p>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  </a:t>
            </a:r>
            <a:pPr indent="0" marL="0">
              <a:spcAft>
                <a:spcPts val="100"/>
              </a:spcAft>
              <a:buNone/>
            </a:pPr>
            <a:r>
              <a:rPr lang="en-US" sz="1400" b="1" dirty="0">
                <a:solidFill>
                  <a:srgbClr val="2F6FB3"/>
                </a:solidFill>
                <a:latin typeface="Courier New" pitchFamily="34" charset="0"/>
                <a:ea typeface="Courier New" pitchFamily="34" charset="-122"/>
                <a:cs typeface="Courier New" pitchFamily="34" charset="-120"/>
              </a:rPr>
              <a:t>WHILE</a:t>
            </a:r>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 i ≤ N</a:t>
            </a:r>
            <a:endParaRPr lang="en-US" sz="1400" dirty="0"/>
          </a:p>
          <a:p>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    sum ← sum + i</a:t>
            </a:r>
            <a:endParaRPr lang="en-US" sz="1400" dirty="0"/>
          </a:p>
          <a:p>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    i ← i + 1</a:t>
            </a:r>
            <a:endParaRPr lang="en-US" sz="1400" dirty="0"/>
          </a:p>
          <a:p>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  </a:t>
            </a:r>
            <a:pPr indent="0" marL="0">
              <a:spcAft>
                <a:spcPts val="100"/>
              </a:spcAft>
              <a:buNone/>
            </a:pPr>
            <a:r>
              <a:rPr lang="en-US" sz="1400" b="1" dirty="0">
                <a:solidFill>
                  <a:srgbClr val="2F6FB3"/>
                </a:solidFill>
                <a:latin typeface="Courier New" pitchFamily="34" charset="0"/>
                <a:ea typeface="Courier New" pitchFamily="34" charset="-122"/>
                <a:cs typeface="Courier New" pitchFamily="34" charset="-120"/>
              </a:rPr>
              <a:t>END WHILE</a:t>
            </a:r>
            <a:endParaRPr lang="en-US" sz="1400" dirty="0"/>
          </a:p>
          <a:p>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  </a:t>
            </a:r>
            <a:pPr indent="0" marL="0">
              <a:spcAft>
                <a:spcPts val="100"/>
              </a:spcAft>
              <a:buNone/>
            </a:pPr>
            <a:r>
              <a:rPr lang="en-US" sz="1400" b="1" dirty="0">
                <a:solidFill>
                  <a:srgbClr val="2F6FB3"/>
                </a:solidFill>
                <a:latin typeface="Courier New" pitchFamily="34" charset="0"/>
                <a:ea typeface="Courier New" pitchFamily="34" charset="-122"/>
                <a:cs typeface="Courier New" pitchFamily="34" charset="-120"/>
              </a:rPr>
              <a:t>PRINT</a:t>
            </a:r>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 sum</a:t>
            </a:r>
            <a:endParaRPr lang="en-US" sz="1400" dirty="0"/>
          </a:p>
          <a:p>
            <a:pPr indent="0" marL="0">
              <a:spcAft>
                <a:spcPts val="100"/>
              </a:spcAft>
              <a:buNone/>
            </a:pPr>
            <a:r>
              <a:rPr lang="en-US" sz="1400" b="1" dirty="0">
                <a:solidFill>
                  <a:srgbClr val="2F6FB3"/>
                </a:solidFill>
                <a:latin typeface="Courier New" pitchFamily="34" charset="0"/>
                <a:ea typeface="Courier New" pitchFamily="34" charset="-122"/>
                <a:cs typeface="Courier New" pitchFamily="34" charset="-120"/>
              </a:rPr>
              <a:t>END</a:t>
            </a:r>
            <a:endParaRPr lang="en-US" sz="1400" dirty="0"/>
          </a:p>
        </p:txBody>
      </p:sp>
      <p:sp>
        <p:nvSpPr>
          <p:cNvPr id="19" name="Shape 16"/>
          <p:cNvSpPr/>
          <p:nvPr/>
        </p:nvSpPr>
        <p:spPr>
          <a:xfrm>
            <a:off x="7589520" y="3337560"/>
            <a:ext cx="411480" cy="0"/>
          </a:xfrm>
          <a:prstGeom prst="line">
            <a:avLst/>
          </a:prstGeom>
          <a:noFill/>
          <a:ln w="15875">
            <a:solidFill>
              <a:srgbClr val="FCA311"/>
            </a:solidFill>
            <a:prstDash val="solid"/>
            <a:tailEnd type="triangle"/>
          </a:ln>
        </p:spPr>
      </p:sp>
      <p:sp>
        <p:nvSpPr>
          <p:cNvPr id="20" name="Shape 17"/>
          <p:cNvSpPr/>
          <p:nvPr/>
        </p:nvSpPr>
        <p:spPr>
          <a:xfrm>
            <a:off x="8092440" y="1645920"/>
            <a:ext cx="3566160" cy="3429000"/>
          </a:xfrm>
          <a:prstGeom prst="roundRect">
            <a:avLst>
              <a:gd name="adj" fmla="val 2133"/>
            </a:avLst>
          </a:prstGeom>
          <a:solidFill>
            <a:srgbClr val="F4F6FA"/>
          </a:solidFill>
          <a:ln w="9525">
            <a:solidFill>
              <a:srgbClr val="C9D0DD"/>
            </a:solidFill>
            <a:prstDash val="solid"/>
          </a:ln>
        </p:spPr>
      </p:sp>
      <p:sp>
        <p:nvSpPr>
          <p:cNvPr id="21" name="Text 18"/>
          <p:cNvSpPr txBox="1"/>
          <p:nvPr/>
        </p:nvSpPr>
        <p:spPr>
          <a:xfrm>
            <a:off x="8275320" y="1737360"/>
            <a:ext cx="3200400" cy="274320"/>
          </a:xfrm>
          <a:prstGeom prst="rect">
            <a:avLst/>
          </a:prstGeom>
          <a:noFill/>
          <a:ln/>
        </p:spPr>
        <p:txBody>
          <a:bodyPr wrap="square" lIns="0" tIns="0" rIns="0" bIns="0" rtlCol="0" anchor="ctr"/>
          <a:lstStyle/>
          <a:p>
            <a:pPr indent="0" marL="0">
              <a:buNone/>
            </a:pPr>
            <a:r>
              <a:rPr lang="en-US" sz="1200" b="1" dirty="0">
                <a:solidFill>
                  <a:srgbClr val="5B6478"/>
                </a:solidFill>
                <a:latin typeface="Calibri" pitchFamily="34" charset="0"/>
                <a:ea typeface="Calibri" pitchFamily="34" charset="-122"/>
                <a:cs typeface="Calibri" pitchFamily="34" charset="-120"/>
              </a:rPr>
              <a:t>Same algorithm with FOR</a:t>
            </a:r>
            <a:endParaRPr lang="en-US" sz="1200" dirty="0"/>
          </a:p>
        </p:txBody>
      </p:sp>
      <p:sp>
        <p:nvSpPr>
          <p:cNvPr id="22" name="Text 19"/>
          <p:cNvSpPr txBox="1"/>
          <p:nvPr/>
        </p:nvSpPr>
        <p:spPr>
          <a:xfrm>
            <a:off x="8275320" y="2057400"/>
            <a:ext cx="3200400" cy="2926080"/>
          </a:xfrm>
          <a:prstGeom prst="rect">
            <a:avLst/>
          </a:prstGeom>
          <a:noFill/>
          <a:ln/>
        </p:spPr>
        <p:txBody>
          <a:bodyPr wrap="square" lIns="0" tIns="0" rIns="0" bIns="0" rtlCol="0" anchor="t"/>
          <a:lstStyle/>
          <a:p>
            <a:pPr indent="0" marL="0">
              <a:spcAft>
                <a:spcPts val="100"/>
              </a:spcAft>
              <a:buNone/>
            </a:pPr>
            <a:r>
              <a:rPr lang="en-US" sz="1400" b="1" dirty="0">
                <a:solidFill>
                  <a:srgbClr val="2F6FB3"/>
                </a:solidFill>
                <a:latin typeface="Courier New" pitchFamily="34" charset="0"/>
                <a:ea typeface="Courier New" pitchFamily="34" charset="-122"/>
                <a:cs typeface="Courier New" pitchFamily="34" charset="-120"/>
              </a:rPr>
              <a:t>START</a:t>
            </a:r>
            <a:endParaRPr lang="en-US" sz="1400" dirty="0"/>
          </a:p>
          <a:p>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  </a:t>
            </a:r>
            <a:pPr indent="0" marL="0">
              <a:spcAft>
                <a:spcPts val="100"/>
              </a:spcAft>
              <a:buNone/>
            </a:pPr>
            <a:r>
              <a:rPr lang="en-US" sz="1400" b="1" dirty="0">
                <a:solidFill>
                  <a:srgbClr val="2F6FB3"/>
                </a:solidFill>
                <a:latin typeface="Courier New" pitchFamily="34" charset="0"/>
                <a:ea typeface="Courier New" pitchFamily="34" charset="-122"/>
                <a:cs typeface="Courier New" pitchFamily="34" charset="-120"/>
              </a:rPr>
              <a:t>READ</a:t>
            </a:r>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 N</a:t>
            </a:r>
            <a:endParaRPr lang="en-US" sz="1400" dirty="0"/>
          </a:p>
          <a:p>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  sum ← 0</a:t>
            </a:r>
            <a:endParaRPr lang="en-US" sz="1400" dirty="0"/>
          </a:p>
          <a:p>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  </a:t>
            </a:r>
            <a:pPr indent="0" marL="0">
              <a:spcAft>
                <a:spcPts val="100"/>
              </a:spcAft>
              <a:buNone/>
            </a:pPr>
            <a:r>
              <a:rPr lang="en-US" sz="1400" b="1" dirty="0">
                <a:solidFill>
                  <a:srgbClr val="2F6FB3"/>
                </a:solidFill>
                <a:latin typeface="Courier New" pitchFamily="34" charset="0"/>
                <a:ea typeface="Courier New" pitchFamily="34" charset="-122"/>
                <a:cs typeface="Courier New" pitchFamily="34" charset="-120"/>
              </a:rPr>
              <a:t>FOR</a:t>
            </a:r>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 i ← 1 </a:t>
            </a:r>
            <a:pPr indent="0" marL="0">
              <a:spcAft>
                <a:spcPts val="100"/>
              </a:spcAft>
              <a:buNone/>
            </a:pPr>
            <a:r>
              <a:rPr lang="en-US" sz="1400" b="1" dirty="0">
                <a:solidFill>
                  <a:srgbClr val="2F6FB3"/>
                </a:solidFill>
                <a:latin typeface="Courier New" pitchFamily="34" charset="0"/>
                <a:ea typeface="Courier New" pitchFamily="34" charset="-122"/>
                <a:cs typeface="Courier New" pitchFamily="34" charset="-120"/>
              </a:rPr>
              <a:t>TO</a:t>
            </a:r>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 N</a:t>
            </a:r>
            <a:endParaRPr lang="en-US" sz="1400" dirty="0"/>
          </a:p>
          <a:p>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    sum ← sum + i</a:t>
            </a:r>
            <a:endParaRPr lang="en-US" sz="1400" dirty="0"/>
          </a:p>
          <a:p>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  </a:t>
            </a:r>
            <a:pPr indent="0" marL="0">
              <a:spcAft>
                <a:spcPts val="100"/>
              </a:spcAft>
              <a:buNone/>
            </a:pPr>
            <a:r>
              <a:rPr lang="en-US" sz="1400" b="1" dirty="0">
                <a:solidFill>
                  <a:srgbClr val="2F6FB3"/>
                </a:solidFill>
                <a:latin typeface="Courier New" pitchFamily="34" charset="0"/>
                <a:ea typeface="Courier New" pitchFamily="34" charset="-122"/>
                <a:cs typeface="Courier New" pitchFamily="34" charset="-120"/>
              </a:rPr>
              <a:t>END FOR</a:t>
            </a:r>
            <a:endParaRPr lang="en-US" sz="1400" dirty="0"/>
          </a:p>
          <a:p>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  </a:t>
            </a:r>
            <a:pPr indent="0" marL="0">
              <a:spcAft>
                <a:spcPts val="100"/>
              </a:spcAft>
              <a:buNone/>
            </a:pPr>
            <a:r>
              <a:rPr lang="en-US" sz="1400" b="1" dirty="0">
                <a:solidFill>
                  <a:srgbClr val="2F6FB3"/>
                </a:solidFill>
                <a:latin typeface="Courier New" pitchFamily="34" charset="0"/>
                <a:ea typeface="Courier New" pitchFamily="34" charset="-122"/>
                <a:cs typeface="Courier New" pitchFamily="34" charset="-120"/>
              </a:rPr>
              <a:t>PRINT</a:t>
            </a:r>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 sum</a:t>
            </a:r>
            <a:endParaRPr lang="en-US" sz="1400" dirty="0"/>
          </a:p>
          <a:p>
            <a:pPr indent="0" marL="0">
              <a:spcAft>
                <a:spcPts val="100"/>
              </a:spcAft>
              <a:buNone/>
            </a:pPr>
            <a:r>
              <a:rPr lang="en-US" sz="1400" b="1" dirty="0">
                <a:solidFill>
                  <a:srgbClr val="2F6FB3"/>
                </a:solidFill>
                <a:latin typeface="Courier New" pitchFamily="34" charset="0"/>
                <a:ea typeface="Courier New" pitchFamily="34" charset="-122"/>
                <a:cs typeface="Courier New" pitchFamily="34" charset="-120"/>
              </a:rPr>
              <a:t>END</a:t>
            </a:r>
            <a:endParaRPr lang="en-US" sz="1400" dirty="0"/>
          </a:p>
        </p:txBody>
      </p:sp>
      <p:sp>
        <p:nvSpPr>
          <p:cNvPr id="23" name="Shape 20"/>
          <p:cNvSpPr/>
          <p:nvPr/>
        </p:nvSpPr>
        <p:spPr>
          <a:xfrm>
            <a:off x="548640" y="5257800"/>
            <a:ext cx="11109960" cy="822960"/>
          </a:xfrm>
          <a:prstGeom prst="roundRect">
            <a:avLst>
              <a:gd name="adj" fmla="val 13333"/>
            </a:avLst>
          </a:prstGeom>
          <a:solidFill>
            <a:srgbClr val="FFF6E3"/>
          </a:solidFill>
          <a:ln w="12700">
            <a:solidFill>
              <a:srgbClr val="FFF6E3"/>
            </a:solidFill>
            <a:prstDash val="solid"/>
          </a:ln>
        </p:spPr>
      </p:sp>
      <p:pic>
        <p:nvPicPr>
          <p:cNvPr id="24" name="Image 0" descr="preencoded.png">    </p:cNvPr>
          <p:cNvPicPr>
            <a:picLocks noChangeAspect="1"/>
          </p:cNvPicPr>
          <p:nvPr/>
        </p:nvPicPr>
        <p:blipFill>
          <a:blip r:embed="rId1"/>
          <a:stretch>
            <a:fillRect/>
          </a:stretch>
        </p:blipFill>
        <p:spPr>
          <a:xfrm>
            <a:off x="822960" y="5394960"/>
            <a:ext cx="548640" cy="548640"/>
          </a:xfrm>
          <a:prstGeom prst="rect">
            <a:avLst/>
          </a:prstGeom>
        </p:spPr>
      </p:pic>
      <p:sp>
        <p:nvSpPr>
          <p:cNvPr id="25" name="Text 21"/>
          <p:cNvSpPr txBox="1"/>
          <p:nvPr/>
        </p:nvSpPr>
        <p:spPr>
          <a:xfrm>
            <a:off x="1645920" y="5330952"/>
            <a:ext cx="9738360" cy="676656"/>
          </a:xfrm>
          <a:prstGeom prst="rect">
            <a:avLst/>
          </a:prstGeom>
          <a:noFill/>
          <a:ln/>
        </p:spPr>
        <p:txBody>
          <a:bodyPr wrap="square" lIns="0" tIns="0" rIns="0" bIns="0" rtlCol="0" anchor="ctr"/>
          <a:lstStyle/>
          <a:p>
            <a:pPr indent="0" marL="0">
              <a:buNone/>
            </a:pPr>
            <a:r>
              <a:rPr lang="en-US" sz="1500" dirty="0">
                <a:solidFill>
                  <a:srgbClr val="333B4F"/>
                </a:solidFill>
                <a:latin typeface="Calibri" pitchFamily="34" charset="0"/>
                <a:ea typeface="Calibri" pitchFamily="34" charset="-122"/>
                <a:cs typeface="Calibri" pitchFamily="34" charset="-120"/>
              </a:rPr>
              <a:t>The FOR line packs the three counter jobs into one line: </a:t>
            </a:r>
            <a:pPr indent="0" marL="0">
              <a:buNone/>
            </a:pPr>
            <a:r>
              <a:rPr lang="en-US" sz="1500" b="1" dirty="0">
                <a:solidFill>
                  <a:srgbClr val="333B4F"/>
                </a:solidFill>
                <a:latin typeface="Calibri" pitchFamily="34" charset="0"/>
                <a:ea typeface="Calibri" pitchFamily="34" charset="-122"/>
                <a:cs typeface="Calibri" pitchFamily="34" charset="-120"/>
              </a:rPr>
              <a:t>start</a:t>
            </a:r>
            <a:pPr indent="0" marL="0">
              <a:buNone/>
            </a:pPr>
            <a:r>
              <a:rPr lang="en-US" sz="1500" dirty="0">
                <a:solidFill>
                  <a:srgbClr val="333B4F"/>
                </a:solidFill>
                <a:latin typeface="Calibri" pitchFamily="34" charset="0"/>
                <a:ea typeface="Calibri" pitchFamily="34" charset="-122"/>
                <a:cs typeface="Calibri" pitchFamily="34" charset="-120"/>
              </a:rPr>
              <a:t> (i ← 1), </a:t>
            </a:r>
            <a:pPr indent="0" marL="0">
              <a:buNone/>
            </a:pPr>
            <a:r>
              <a:rPr lang="en-US" sz="1500" b="1" dirty="0">
                <a:solidFill>
                  <a:srgbClr val="333B4F"/>
                </a:solidFill>
                <a:latin typeface="Calibri" pitchFamily="34" charset="0"/>
                <a:ea typeface="Calibri" pitchFamily="34" charset="-122"/>
                <a:cs typeface="Calibri" pitchFamily="34" charset="-120"/>
              </a:rPr>
              <a:t>test</a:t>
            </a:r>
            <a:pPr indent="0" marL="0">
              <a:buNone/>
            </a:pPr>
            <a:r>
              <a:rPr lang="en-US" sz="1500" dirty="0">
                <a:solidFill>
                  <a:srgbClr val="333B4F"/>
                </a:solidFill>
                <a:latin typeface="Calibri" pitchFamily="34" charset="0"/>
                <a:ea typeface="Calibri" pitchFamily="34" charset="-122"/>
                <a:cs typeface="Calibri" pitchFamily="34" charset="-120"/>
              </a:rPr>
              <a:t> (i ≤ N), </a:t>
            </a:r>
            <a:pPr indent="0" marL="0">
              <a:buNone/>
            </a:pPr>
            <a:r>
              <a:rPr lang="en-US" sz="1500" b="1" dirty="0">
                <a:solidFill>
                  <a:srgbClr val="333B4F"/>
                </a:solidFill>
                <a:latin typeface="Calibri" pitchFamily="34" charset="0"/>
                <a:ea typeface="Calibri" pitchFamily="34" charset="-122"/>
                <a:cs typeface="Calibri" pitchFamily="34" charset="-120"/>
              </a:rPr>
              <a:t>step</a:t>
            </a:r>
            <a:pPr indent="0" marL="0">
              <a:buNone/>
            </a:pPr>
            <a:r>
              <a:rPr lang="en-US" sz="1500" dirty="0">
                <a:solidFill>
                  <a:srgbClr val="333B4F"/>
                </a:solidFill>
                <a:latin typeface="Calibri" pitchFamily="34" charset="0"/>
                <a:ea typeface="Calibri" pitchFamily="34" charset="-122"/>
                <a:cs typeface="Calibri" pitchFamily="34" charset="-120"/>
              </a:rPr>
              <a:t> (i ← i + 1). C#'s for header does exactly the same.</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548640" y="1463040"/>
            <a:ext cx="2743200" cy="1280160"/>
          </a:xfrm>
          <a:prstGeom prst="rect">
            <a:avLst/>
          </a:prstGeom>
          <a:noFill/>
          <a:ln/>
        </p:spPr>
        <p:txBody>
          <a:bodyPr wrap="square" lIns="0" tIns="0" rIns="0" bIns="0" rtlCol="0" anchor="ctr"/>
          <a:lstStyle/>
          <a:p>
            <a:pPr indent="0" marL="0">
              <a:buNone/>
            </a:pPr>
            <a:r>
              <a:rPr lang="en-US" sz="8800" b="1" dirty="0">
                <a:solidFill>
                  <a:srgbClr val="FCA311"/>
                </a:solidFill>
                <a:latin typeface="Courier New" pitchFamily="34" charset="0"/>
                <a:ea typeface="Courier New" pitchFamily="34" charset="-122"/>
                <a:cs typeface="Courier New" pitchFamily="34" charset="-120"/>
              </a:rPr>
              <a:t>&gt;_</a:t>
            </a:r>
            <a:endParaRPr lang="en-US" sz="8800" dirty="0"/>
          </a:p>
        </p:txBody>
      </p:sp>
      <p:sp>
        <p:nvSpPr>
          <p:cNvPr id="3" name="Text 1"/>
          <p:cNvSpPr txBox="1"/>
          <p:nvPr/>
        </p:nvSpPr>
        <p:spPr>
          <a:xfrm>
            <a:off x="548640" y="2926080"/>
            <a:ext cx="5486400" cy="365760"/>
          </a:xfrm>
          <a:prstGeom prst="rect">
            <a:avLst/>
          </a:prstGeom>
          <a:noFill/>
          <a:ln/>
        </p:spPr>
        <p:txBody>
          <a:bodyPr wrap="square" lIns="0" tIns="0" rIns="0" bIns="0" rtlCol="0" anchor="ctr"/>
          <a:lstStyle/>
          <a:p>
            <a:pPr indent="0" marL="0">
              <a:buNone/>
            </a:pPr>
            <a:r>
              <a:rPr lang="en-US" sz="1600" spc="400" kern="0" dirty="0">
                <a:solidFill>
                  <a:srgbClr val="8A94AB"/>
                </a:solidFill>
                <a:latin typeface="Courier New" pitchFamily="34" charset="0"/>
                <a:ea typeface="Courier New" pitchFamily="34" charset="-122"/>
                <a:cs typeface="Courier New" pitchFamily="34" charset="-120"/>
              </a:rPr>
              <a:t>PART 1</a:t>
            </a:r>
            <a:endParaRPr lang="en-US" sz="1600" dirty="0"/>
          </a:p>
        </p:txBody>
      </p:sp>
      <p:sp>
        <p:nvSpPr>
          <p:cNvPr id="4" name="Text 2"/>
          <p:cNvSpPr txBox="1"/>
          <p:nvPr/>
        </p:nvSpPr>
        <p:spPr>
          <a:xfrm>
            <a:off x="548640" y="3337560"/>
            <a:ext cx="10515600" cy="914400"/>
          </a:xfrm>
          <a:prstGeom prst="rect">
            <a:avLst/>
          </a:prstGeom>
          <a:noFill/>
          <a:ln/>
        </p:spPr>
        <p:txBody>
          <a:bodyPr wrap="square" lIns="0" tIns="0" rIns="0" bIns="0" rtlCol="0" anchor="ctr">
            <a:normAutofit/>
          </a:bodyPr>
          <a:lstStyle/>
          <a:p>
            <a:pPr indent="0" marL="0">
              <a:buNone/>
            </a:pPr>
            <a:r>
              <a:rPr lang="en-US" sz="4200" b="1" dirty="0">
                <a:solidFill>
                  <a:srgbClr val="FFFFFF"/>
                </a:solidFill>
                <a:latin typeface="Cambria" pitchFamily="34" charset="0"/>
                <a:ea typeface="Cambria" pitchFamily="34" charset="-122"/>
                <a:cs typeface="Cambria" pitchFamily="34" charset="-120"/>
              </a:rPr>
              <a:t>Why Loops? Anatomy of the for Loop</a:t>
            </a:r>
            <a:endParaRPr lang="en-US" sz="4200" dirty="0"/>
          </a:p>
        </p:txBody>
      </p:sp>
      <p:sp>
        <p:nvSpPr>
          <p:cNvPr id="5" name="Text 3"/>
          <p:cNvSpPr txBox="1"/>
          <p:nvPr/>
        </p:nvSpPr>
        <p:spPr>
          <a:xfrm>
            <a:off x="548640" y="4343400"/>
            <a:ext cx="10515600" cy="548640"/>
          </a:xfrm>
          <a:prstGeom prst="rect">
            <a:avLst/>
          </a:prstGeom>
          <a:noFill/>
          <a:ln/>
        </p:spPr>
        <p:txBody>
          <a:bodyPr wrap="square" lIns="0" tIns="0" rIns="0" bIns="0" rtlCol="0" anchor="ctr"/>
          <a:lstStyle/>
          <a:p>
            <a:pPr indent="0" marL="0">
              <a:buNone/>
            </a:pPr>
            <a:r>
              <a:rPr lang="en-US" sz="1800" dirty="0">
                <a:solidFill>
                  <a:srgbClr val="C7CEDC"/>
                </a:solidFill>
                <a:latin typeface="Calibri" pitchFamily="34" charset="0"/>
                <a:ea typeface="Calibri" pitchFamily="34" charset="-122"/>
                <a:cs typeface="Calibri" pitchFamily="34" charset="-120"/>
              </a:rPr>
              <a:t>Four parts, one fixed execution order, one flowchart</a:t>
            </a:r>
            <a:endParaRPr lang="en-US" sz="1800" dirty="0"/>
          </a:p>
        </p:txBody>
      </p:sp>
      <p:sp>
        <p:nvSpPr>
          <p:cNvPr id="6" name="Text 4"/>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8A94AB"/>
                </a:solidFill>
                <a:latin typeface="Calibri" pitchFamily="34" charset="0"/>
                <a:ea typeface="Calibri" pitchFamily="34" charset="-122"/>
                <a:cs typeface="Calibri" pitchFamily="34" charset="-120"/>
              </a:rPr>
              <a:t>MCMP113  ·  Week 6</a:t>
            </a:r>
            <a:endParaRPr lang="en-US" sz="1000" dirty="0"/>
          </a:p>
        </p:txBody>
      </p:sp>
      <p:sp>
        <p:nvSpPr>
          <p:cNvPr id="7" name="Text 5"/>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8A94AB"/>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MOTIVATION</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Printing 1 to 100: Without and With a Loop</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6</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5</a:t>
            </a:r>
            <a:endParaRPr lang="en-US" sz="1000" dirty="0"/>
          </a:p>
        </p:txBody>
      </p:sp>
      <p:sp>
        <p:nvSpPr>
          <p:cNvPr id="7" name="Shape 4"/>
          <p:cNvSpPr/>
          <p:nvPr/>
        </p:nvSpPr>
        <p:spPr>
          <a:xfrm>
            <a:off x="548640" y="1645920"/>
            <a:ext cx="5394960" cy="2331720"/>
          </a:xfrm>
          <a:prstGeom prst="roundRect">
            <a:avLst>
              <a:gd name="adj" fmla="val 3922"/>
            </a:avLst>
          </a:prstGeom>
          <a:solidFill>
            <a:srgbClr val="0F1729"/>
          </a:solidFill>
          <a:ln w="12700">
            <a:solidFill>
              <a:srgbClr val="0F1729"/>
            </a:solidFill>
            <a:prstDash val="solid"/>
          </a:ln>
        </p:spPr>
      </p:sp>
      <p:sp>
        <p:nvSpPr>
          <p:cNvPr id="8" name="Text 5"/>
          <p:cNvSpPr txBox="1"/>
          <p:nvPr/>
        </p:nvSpPr>
        <p:spPr>
          <a:xfrm>
            <a:off x="777240" y="1755648"/>
            <a:ext cx="493776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Without a loop: 100 lines</a:t>
            </a:r>
            <a:endParaRPr lang="en-US" sz="1100" dirty="0"/>
          </a:p>
        </p:txBody>
      </p:sp>
      <p:sp>
        <p:nvSpPr>
          <p:cNvPr id="9" name="Text 6"/>
          <p:cNvSpPr txBox="1"/>
          <p:nvPr/>
        </p:nvSpPr>
        <p:spPr>
          <a:xfrm>
            <a:off x="777240" y="2057400"/>
            <a:ext cx="4937760" cy="1810512"/>
          </a:xfrm>
          <a:prstGeom prst="rect">
            <a:avLst/>
          </a:prstGeom>
          <a:noFill/>
          <a:ln/>
        </p:spPr>
        <p:txBody>
          <a:bodyPr wrap="square" lIns="0" tIns="0" rIns="0" bIns="0" rtlCol="0" anchor="t"/>
          <a:lstStyle/>
          <a:p>
            <a:pPr indent="0" marL="0">
              <a:spcAft>
                <a:spcPts val="100"/>
              </a:spcAft>
              <a:buNone/>
            </a:pPr>
            <a:r>
              <a:rPr lang="en-US" sz="14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4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a:t>
            </a:r>
            <a:endParaRPr lang="en-US" sz="1400" dirty="0"/>
          </a:p>
          <a:p>
            <a:pPr indent="0" marL="0">
              <a:spcAft>
                <a:spcPts val="100"/>
              </a:spcAft>
              <a:buNone/>
            </a:pPr>
            <a:r>
              <a:rPr lang="en-US" sz="14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400" dirty="0">
                <a:solidFill>
                  <a:srgbClr val="B5CEA8"/>
                </a:solidFill>
                <a:latin typeface="Courier New" pitchFamily="34" charset="0"/>
                <a:ea typeface="Courier New" pitchFamily="34" charset="-122"/>
                <a:cs typeface="Courier New" pitchFamily="34" charset="-120"/>
              </a:rPr>
              <a:t>2</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a:t>
            </a:r>
            <a:endParaRPr lang="en-US" sz="1400" dirty="0"/>
          </a:p>
          <a:p>
            <a:pPr indent="0" marL="0">
              <a:spcAft>
                <a:spcPts val="100"/>
              </a:spcAft>
              <a:buNone/>
            </a:pPr>
            <a:r>
              <a:rPr lang="en-US" sz="14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400" dirty="0">
                <a:solidFill>
                  <a:srgbClr val="B5CEA8"/>
                </a:solidFill>
                <a:latin typeface="Courier New" pitchFamily="34" charset="0"/>
                <a:ea typeface="Courier New" pitchFamily="34" charset="-122"/>
                <a:cs typeface="Courier New" pitchFamily="34" charset="-120"/>
              </a:rPr>
              <a:t>3</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a:t>
            </a:r>
            <a:endParaRPr lang="en-US" sz="1400" dirty="0"/>
          </a:p>
          <a:p>
            <a:pPr indent="0" marL="0">
              <a:spcAft>
                <a:spcPts val="100"/>
              </a:spcAft>
              <a:buNone/>
            </a:pPr>
            <a:r>
              <a:rPr lang="en-US" sz="1400" dirty="0">
                <a:solidFill>
                  <a:srgbClr val="7F8BA3"/>
                </a:solidFill>
                <a:latin typeface="Courier New" pitchFamily="34" charset="0"/>
                <a:ea typeface="Courier New" pitchFamily="34" charset="-122"/>
                <a:cs typeface="Courier New" pitchFamily="34" charset="-120"/>
              </a:rPr>
              <a:t>// ... 96 more almost identical lines ...</a:t>
            </a:r>
            <a:endParaRPr lang="en-US" sz="1400" dirty="0"/>
          </a:p>
          <a:p>
            <a:pPr indent="0" marL="0">
              <a:spcAft>
                <a:spcPts val="100"/>
              </a:spcAft>
              <a:buNone/>
            </a:pPr>
            <a:r>
              <a:rPr lang="en-US" sz="14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400" dirty="0">
                <a:solidFill>
                  <a:srgbClr val="B5CEA8"/>
                </a:solidFill>
                <a:latin typeface="Courier New" pitchFamily="34" charset="0"/>
                <a:ea typeface="Courier New" pitchFamily="34" charset="-122"/>
                <a:cs typeface="Courier New" pitchFamily="34" charset="-120"/>
              </a:rPr>
              <a:t>100</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a:t>
            </a:r>
            <a:endParaRPr lang="en-US" sz="1400" dirty="0"/>
          </a:p>
        </p:txBody>
      </p:sp>
      <p:sp>
        <p:nvSpPr>
          <p:cNvPr id="10" name="Shape 7"/>
          <p:cNvSpPr/>
          <p:nvPr/>
        </p:nvSpPr>
        <p:spPr>
          <a:xfrm>
            <a:off x="6263640" y="1645920"/>
            <a:ext cx="5394960" cy="2331720"/>
          </a:xfrm>
          <a:prstGeom prst="roundRect">
            <a:avLst>
              <a:gd name="adj" fmla="val 3922"/>
            </a:avLst>
          </a:prstGeom>
          <a:solidFill>
            <a:srgbClr val="0F1729"/>
          </a:solidFill>
          <a:ln w="12700">
            <a:solidFill>
              <a:srgbClr val="0F1729"/>
            </a:solidFill>
            <a:prstDash val="solid"/>
          </a:ln>
        </p:spPr>
      </p:sp>
      <p:sp>
        <p:nvSpPr>
          <p:cNvPr id="11" name="Text 8"/>
          <p:cNvSpPr txBox="1"/>
          <p:nvPr/>
        </p:nvSpPr>
        <p:spPr>
          <a:xfrm>
            <a:off x="6492240" y="1755648"/>
            <a:ext cx="493776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With a for loop: 4 lines</a:t>
            </a:r>
            <a:endParaRPr lang="en-US" sz="1100" dirty="0"/>
          </a:p>
        </p:txBody>
      </p:sp>
      <p:sp>
        <p:nvSpPr>
          <p:cNvPr id="12" name="Text 9"/>
          <p:cNvSpPr txBox="1"/>
          <p:nvPr/>
        </p:nvSpPr>
        <p:spPr>
          <a:xfrm>
            <a:off x="6492240" y="2057400"/>
            <a:ext cx="4937760" cy="1810512"/>
          </a:xfrm>
          <a:prstGeom prst="rect">
            <a:avLst/>
          </a:prstGeom>
          <a:noFill/>
          <a:ln/>
        </p:spPr>
        <p:txBody>
          <a:bodyPr wrap="square" lIns="0" tIns="0" rIns="0" bIns="0" rtlCol="0" anchor="t"/>
          <a:lstStyle/>
          <a:p>
            <a:pPr indent="0" marL="0">
              <a:spcAft>
                <a:spcPts val="100"/>
              </a:spcAft>
              <a:buNone/>
            </a:pPr>
            <a:r>
              <a:rPr lang="en-US" sz="1600" dirty="0">
                <a:solidFill>
                  <a:srgbClr val="7AB8FF"/>
                </a:solidFill>
                <a:latin typeface="Courier New" pitchFamily="34" charset="0"/>
                <a:ea typeface="Courier New" pitchFamily="34" charset="-122"/>
                <a:cs typeface="Courier New" pitchFamily="34" charset="-120"/>
              </a:rPr>
              <a:t>for</a:t>
            </a:r>
            <a:pPr indent="0" marL="0">
              <a:spcAft>
                <a:spcPts val="100"/>
              </a:spcAft>
              <a:buNone/>
            </a:pPr>
            <a:r>
              <a:rPr lang="en-US" sz="16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6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600" dirty="0">
                <a:solidFill>
                  <a:srgbClr val="E6EDF7"/>
                </a:solidFill>
                <a:latin typeface="Courier New" pitchFamily="34" charset="0"/>
                <a:ea typeface="Courier New" pitchFamily="34" charset="-122"/>
                <a:cs typeface="Courier New" pitchFamily="34" charset="-120"/>
              </a:rPr>
              <a:t> i = </a:t>
            </a:r>
            <a:pPr indent="0" marL="0">
              <a:spcAft>
                <a:spcPts val="100"/>
              </a:spcAft>
              <a:buNone/>
            </a:pPr>
            <a:r>
              <a:rPr lang="en-US" sz="16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600" dirty="0">
                <a:solidFill>
                  <a:srgbClr val="E6EDF7"/>
                </a:solidFill>
                <a:latin typeface="Courier New" pitchFamily="34" charset="0"/>
                <a:ea typeface="Courier New" pitchFamily="34" charset="-122"/>
                <a:cs typeface="Courier New" pitchFamily="34" charset="-120"/>
              </a:rPr>
              <a:t>; i &lt;= </a:t>
            </a:r>
            <a:pPr indent="0" marL="0">
              <a:spcAft>
                <a:spcPts val="100"/>
              </a:spcAft>
              <a:buNone/>
            </a:pPr>
            <a:r>
              <a:rPr lang="en-US" sz="1600" dirty="0">
                <a:solidFill>
                  <a:srgbClr val="B5CEA8"/>
                </a:solidFill>
                <a:latin typeface="Courier New" pitchFamily="34" charset="0"/>
                <a:ea typeface="Courier New" pitchFamily="34" charset="-122"/>
                <a:cs typeface="Courier New" pitchFamily="34" charset="-120"/>
              </a:rPr>
              <a:t>100</a:t>
            </a:r>
            <a:pPr indent="0" marL="0">
              <a:spcAft>
                <a:spcPts val="100"/>
              </a:spcAft>
              <a:buNone/>
            </a:pPr>
            <a:r>
              <a:rPr lang="en-US" sz="1600" dirty="0">
                <a:solidFill>
                  <a:srgbClr val="E6EDF7"/>
                </a:solidFill>
                <a:latin typeface="Courier New" pitchFamily="34" charset="0"/>
                <a:ea typeface="Courier New" pitchFamily="34" charset="-122"/>
                <a:cs typeface="Courier New" pitchFamily="34" charset="-120"/>
              </a:rPr>
              <a:t>; i++)</a:t>
            </a:r>
            <a:endParaRPr lang="en-US" sz="1600" dirty="0"/>
          </a:p>
          <a:p>
            <a:pPr indent="0" marL="0">
              <a:spcAft>
                <a:spcPts val="100"/>
              </a:spcAft>
              <a:buNone/>
            </a:pPr>
            <a:r>
              <a:rPr lang="en-US" sz="1600" dirty="0">
                <a:solidFill>
                  <a:srgbClr val="E6EDF7"/>
                </a:solidFill>
                <a:latin typeface="Courier New" pitchFamily="34" charset="0"/>
                <a:ea typeface="Courier New" pitchFamily="34" charset="-122"/>
                <a:cs typeface="Courier New" pitchFamily="34" charset="-120"/>
              </a:rPr>
              <a:t>{</a:t>
            </a:r>
            <a:endParaRPr lang="en-US" sz="1600" dirty="0"/>
          </a:p>
          <a:p>
            <a:pPr indent="0" marL="0">
              <a:spcAft>
                <a:spcPts val="100"/>
              </a:spcAft>
              <a:buNone/>
            </a:pPr>
            <a:r>
              <a:rPr lang="en-US" sz="16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6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600" dirty="0">
                <a:solidFill>
                  <a:srgbClr val="E6EDF7"/>
                </a:solidFill>
                <a:latin typeface="Courier New" pitchFamily="34" charset="0"/>
                <a:ea typeface="Courier New" pitchFamily="34" charset="-122"/>
                <a:cs typeface="Courier New" pitchFamily="34" charset="-120"/>
              </a:rPr>
              <a:t>.WriteLine(i);</a:t>
            </a:r>
            <a:endParaRPr lang="en-US" sz="1600" dirty="0"/>
          </a:p>
          <a:p>
            <a:pPr indent="0" marL="0">
              <a:spcAft>
                <a:spcPts val="100"/>
              </a:spcAft>
              <a:buNone/>
            </a:pPr>
            <a:r>
              <a:rPr lang="en-US" sz="1600" dirty="0">
                <a:solidFill>
                  <a:srgbClr val="E6EDF7"/>
                </a:solidFill>
                <a:latin typeface="Courier New" pitchFamily="34" charset="0"/>
                <a:ea typeface="Courier New" pitchFamily="34" charset="-122"/>
                <a:cs typeface="Courier New" pitchFamily="34" charset="-120"/>
              </a:rPr>
              <a:t>}</a:t>
            </a:r>
            <a:endParaRPr lang="en-US" sz="1600" dirty="0"/>
          </a:p>
        </p:txBody>
      </p:sp>
      <p:sp>
        <p:nvSpPr>
          <p:cNvPr id="13" name="Shape 10"/>
          <p:cNvSpPr/>
          <p:nvPr/>
        </p:nvSpPr>
        <p:spPr>
          <a:xfrm>
            <a:off x="548640" y="4206240"/>
            <a:ext cx="3566160" cy="1783080"/>
          </a:xfrm>
          <a:prstGeom prst="roundRect">
            <a:avLst>
              <a:gd name="adj" fmla="val 6154"/>
            </a:avLst>
          </a:prstGeom>
          <a:solidFill>
            <a:srgbClr val="EEF1F6"/>
          </a:solidFill>
          <a:ln w="12700">
            <a:solidFill>
              <a:srgbClr val="EEF1F6"/>
            </a:solidFill>
            <a:prstDash val="solid"/>
          </a:ln>
        </p:spPr>
      </p:sp>
      <p:sp>
        <p:nvSpPr>
          <p:cNvPr id="14" name="Shape 11"/>
          <p:cNvSpPr/>
          <p:nvPr/>
        </p:nvSpPr>
        <p:spPr>
          <a:xfrm>
            <a:off x="777240" y="4434840"/>
            <a:ext cx="566928" cy="566928"/>
          </a:xfrm>
          <a:prstGeom prst="ellipse">
            <a:avLst/>
          </a:prstGeom>
          <a:solidFill>
            <a:srgbClr val="14213D"/>
          </a:solidFill>
          <a:ln w="12700">
            <a:solidFill>
              <a:srgbClr val="14213D"/>
            </a:solidFill>
            <a:prstDash val="solid"/>
          </a:ln>
        </p:spPr>
      </p:sp>
      <p:pic>
        <p:nvPicPr>
          <p:cNvPr id="15" name="Image 0" descr="preencoded.png">    </p:cNvPr>
          <p:cNvPicPr>
            <a:picLocks noChangeAspect="1"/>
          </p:cNvPicPr>
          <p:nvPr/>
        </p:nvPicPr>
        <p:blipFill>
          <a:blip r:embed="rId1"/>
          <a:stretch>
            <a:fillRect/>
          </a:stretch>
        </p:blipFill>
        <p:spPr>
          <a:xfrm>
            <a:off x="924641" y="4582241"/>
            <a:ext cx="272125" cy="272125"/>
          </a:xfrm>
          <a:prstGeom prst="rect">
            <a:avLst/>
          </a:prstGeom>
        </p:spPr>
      </p:pic>
      <p:sp>
        <p:nvSpPr>
          <p:cNvPr id="16" name="Text 12"/>
          <p:cNvSpPr txBox="1"/>
          <p:nvPr/>
        </p:nvSpPr>
        <p:spPr>
          <a:xfrm>
            <a:off x="1463040" y="4434840"/>
            <a:ext cx="246888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100 → 4 lines</a:t>
            </a:r>
            <a:endParaRPr lang="en-US" sz="1700" dirty="0"/>
          </a:p>
        </p:txBody>
      </p:sp>
      <p:sp>
        <p:nvSpPr>
          <p:cNvPr id="17" name="Text 13"/>
          <p:cNvSpPr txBox="1"/>
          <p:nvPr/>
        </p:nvSpPr>
        <p:spPr>
          <a:xfrm>
            <a:off x="777240" y="5120640"/>
            <a:ext cx="3108960" cy="731520"/>
          </a:xfrm>
          <a:prstGeom prst="rect">
            <a:avLst/>
          </a:prstGeom>
          <a:noFill/>
          <a:ln/>
        </p:spPr>
        <p:txBody>
          <a:bodyPr wrap="square" lIns="0" tIns="0" rIns="0" bIns="0" rtlCol="0" anchor="t"/>
          <a:lstStyle/>
          <a:p>
            <a:pPr indent="0" marL="0">
              <a:buNone/>
            </a:pPr>
            <a:r>
              <a:rPr lang="en-US" sz="1500" dirty="0">
                <a:solidFill>
                  <a:srgbClr val="333B4F"/>
                </a:solidFill>
                <a:latin typeface="Calibri" pitchFamily="34" charset="0"/>
                <a:ea typeface="Calibri" pitchFamily="34" charset="-122"/>
                <a:cs typeface="Calibri" pitchFamily="34" charset="-120"/>
              </a:rPr>
              <a:t>The loop body is written once and executed 100 times.</a:t>
            </a:r>
            <a:endParaRPr lang="en-US" sz="1500" dirty="0"/>
          </a:p>
        </p:txBody>
      </p:sp>
      <p:sp>
        <p:nvSpPr>
          <p:cNvPr id="18" name="Shape 14"/>
          <p:cNvSpPr/>
          <p:nvPr/>
        </p:nvSpPr>
        <p:spPr>
          <a:xfrm>
            <a:off x="4315968" y="4206240"/>
            <a:ext cx="3566160" cy="1783080"/>
          </a:xfrm>
          <a:prstGeom prst="roundRect">
            <a:avLst>
              <a:gd name="adj" fmla="val 6154"/>
            </a:avLst>
          </a:prstGeom>
          <a:solidFill>
            <a:srgbClr val="EEF1F6"/>
          </a:solidFill>
          <a:ln w="12700">
            <a:solidFill>
              <a:srgbClr val="EEF1F6"/>
            </a:solidFill>
            <a:prstDash val="solid"/>
          </a:ln>
        </p:spPr>
      </p:sp>
      <p:sp>
        <p:nvSpPr>
          <p:cNvPr id="19" name="Shape 15"/>
          <p:cNvSpPr/>
          <p:nvPr/>
        </p:nvSpPr>
        <p:spPr>
          <a:xfrm>
            <a:off x="4544568" y="4434840"/>
            <a:ext cx="566928" cy="566928"/>
          </a:xfrm>
          <a:prstGeom prst="ellipse">
            <a:avLst/>
          </a:prstGeom>
          <a:solidFill>
            <a:srgbClr val="14213D"/>
          </a:solidFill>
          <a:ln w="12700">
            <a:solidFill>
              <a:srgbClr val="14213D"/>
            </a:solidFill>
            <a:prstDash val="solid"/>
          </a:ln>
        </p:spPr>
      </p:sp>
      <p:pic>
        <p:nvPicPr>
          <p:cNvPr id="20" name="Image 1" descr="preencoded.png">    </p:cNvPr>
          <p:cNvPicPr>
            <a:picLocks noChangeAspect="1"/>
          </p:cNvPicPr>
          <p:nvPr/>
        </p:nvPicPr>
        <p:blipFill>
          <a:blip r:embed="rId2"/>
          <a:stretch>
            <a:fillRect/>
          </a:stretch>
        </p:blipFill>
        <p:spPr>
          <a:xfrm>
            <a:off x="4691969" y="4582241"/>
            <a:ext cx="272125" cy="272125"/>
          </a:xfrm>
          <a:prstGeom prst="rect">
            <a:avLst/>
          </a:prstGeom>
        </p:spPr>
      </p:pic>
      <p:sp>
        <p:nvSpPr>
          <p:cNvPr id="21" name="Text 16"/>
          <p:cNvSpPr txBox="1"/>
          <p:nvPr/>
        </p:nvSpPr>
        <p:spPr>
          <a:xfrm>
            <a:off x="5230368" y="4434840"/>
            <a:ext cx="246888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Size at run time</a:t>
            </a:r>
            <a:endParaRPr lang="en-US" sz="1700" dirty="0"/>
          </a:p>
        </p:txBody>
      </p:sp>
      <p:sp>
        <p:nvSpPr>
          <p:cNvPr id="22" name="Text 17"/>
          <p:cNvSpPr txBox="1"/>
          <p:nvPr/>
        </p:nvSpPr>
        <p:spPr>
          <a:xfrm>
            <a:off x="4544568" y="5120640"/>
            <a:ext cx="3108960" cy="731520"/>
          </a:xfrm>
          <a:prstGeom prst="rect">
            <a:avLst/>
          </a:prstGeom>
          <a:noFill/>
          <a:ln/>
        </p:spPr>
        <p:txBody>
          <a:bodyPr wrap="square" lIns="0" tIns="0" rIns="0" bIns="0" rtlCol="0" anchor="t"/>
          <a:lstStyle/>
          <a:p>
            <a:pPr indent="0" marL="0">
              <a:buNone/>
            </a:pPr>
            <a:r>
              <a:rPr lang="en-US" sz="1500" dirty="0">
                <a:solidFill>
                  <a:srgbClr val="333B4F"/>
                </a:solidFill>
                <a:latin typeface="Calibri" pitchFamily="34" charset="0"/>
                <a:ea typeface="Calibri" pitchFamily="34" charset="-122"/>
                <a:cs typeface="Calibri" pitchFamily="34" charset="-120"/>
              </a:rPr>
              <a:t>Replace 100 by n and the user decides how many lines are printed.</a:t>
            </a:r>
            <a:endParaRPr lang="en-US" sz="1500" dirty="0"/>
          </a:p>
        </p:txBody>
      </p:sp>
      <p:sp>
        <p:nvSpPr>
          <p:cNvPr id="23" name="Shape 18"/>
          <p:cNvSpPr/>
          <p:nvPr/>
        </p:nvSpPr>
        <p:spPr>
          <a:xfrm>
            <a:off x="8092440" y="4206240"/>
            <a:ext cx="3566160" cy="1783080"/>
          </a:xfrm>
          <a:prstGeom prst="roundRect">
            <a:avLst>
              <a:gd name="adj" fmla="val 6154"/>
            </a:avLst>
          </a:prstGeom>
          <a:solidFill>
            <a:srgbClr val="EEF1F6"/>
          </a:solidFill>
          <a:ln w="12700">
            <a:solidFill>
              <a:srgbClr val="EEF1F6"/>
            </a:solidFill>
            <a:prstDash val="solid"/>
          </a:ln>
        </p:spPr>
      </p:sp>
      <p:sp>
        <p:nvSpPr>
          <p:cNvPr id="24" name="Shape 19"/>
          <p:cNvSpPr/>
          <p:nvPr/>
        </p:nvSpPr>
        <p:spPr>
          <a:xfrm>
            <a:off x="8321040" y="4434840"/>
            <a:ext cx="566928" cy="566928"/>
          </a:xfrm>
          <a:prstGeom prst="ellipse">
            <a:avLst/>
          </a:prstGeom>
          <a:solidFill>
            <a:srgbClr val="C8453B"/>
          </a:solidFill>
          <a:ln w="12700">
            <a:solidFill>
              <a:srgbClr val="C8453B"/>
            </a:solidFill>
            <a:prstDash val="solid"/>
          </a:ln>
        </p:spPr>
      </p:sp>
      <p:pic>
        <p:nvPicPr>
          <p:cNvPr id="25" name="Image 2" descr="preencoded.png">    </p:cNvPr>
          <p:cNvPicPr>
            <a:picLocks noChangeAspect="1"/>
          </p:cNvPicPr>
          <p:nvPr/>
        </p:nvPicPr>
        <p:blipFill>
          <a:blip r:embed="rId3"/>
          <a:stretch>
            <a:fillRect/>
          </a:stretch>
        </p:blipFill>
        <p:spPr>
          <a:xfrm>
            <a:off x="8468441" y="4582241"/>
            <a:ext cx="272125" cy="272125"/>
          </a:xfrm>
          <a:prstGeom prst="rect">
            <a:avLst/>
          </a:prstGeom>
        </p:spPr>
      </p:pic>
      <p:sp>
        <p:nvSpPr>
          <p:cNvPr id="26" name="Text 20"/>
          <p:cNvSpPr txBox="1"/>
          <p:nvPr/>
        </p:nvSpPr>
        <p:spPr>
          <a:xfrm>
            <a:off x="9006840" y="4434840"/>
            <a:ext cx="246888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Fewer places for bugs</a:t>
            </a:r>
            <a:endParaRPr lang="en-US" sz="1700" dirty="0"/>
          </a:p>
        </p:txBody>
      </p:sp>
      <p:sp>
        <p:nvSpPr>
          <p:cNvPr id="27" name="Text 21"/>
          <p:cNvSpPr txBox="1"/>
          <p:nvPr/>
        </p:nvSpPr>
        <p:spPr>
          <a:xfrm>
            <a:off x="8321040" y="5120640"/>
            <a:ext cx="3108960" cy="731520"/>
          </a:xfrm>
          <a:prstGeom prst="rect">
            <a:avLst/>
          </a:prstGeom>
          <a:noFill/>
          <a:ln/>
        </p:spPr>
        <p:txBody>
          <a:bodyPr wrap="square" lIns="0" tIns="0" rIns="0" bIns="0" rtlCol="0" anchor="t"/>
          <a:lstStyle/>
          <a:p>
            <a:pPr indent="0" marL="0">
              <a:buNone/>
            </a:pPr>
            <a:r>
              <a:rPr lang="en-US" sz="1500" dirty="0">
                <a:solidFill>
                  <a:srgbClr val="333B4F"/>
                </a:solidFill>
                <a:latin typeface="Calibri" pitchFamily="34" charset="0"/>
                <a:ea typeface="Calibri" pitchFamily="34" charset="-122"/>
                <a:cs typeface="Calibri" pitchFamily="34" charset="-120"/>
              </a:rPr>
              <a:t>One line to check instead of a hundred nearly identical ones.</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ANATOMY</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The Four Parts of a for Loop</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6</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6</a:t>
            </a:r>
            <a:endParaRPr lang="en-US" sz="1000" dirty="0"/>
          </a:p>
        </p:txBody>
      </p:sp>
      <p:sp>
        <p:nvSpPr>
          <p:cNvPr id="7" name="Shape 4"/>
          <p:cNvSpPr/>
          <p:nvPr/>
        </p:nvSpPr>
        <p:spPr>
          <a:xfrm>
            <a:off x="1761744" y="1737360"/>
            <a:ext cx="1993392" cy="566928"/>
          </a:xfrm>
          <a:prstGeom prst="roundRect">
            <a:avLst>
              <a:gd name="adj" fmla="val 9677"/>
            </a:avLst>
          </a:prstGeom>
          <a:solidFill>
            <a:srgbClr val="FFF1D6"/>
          </a:solidFill>
          <a:ln w="15875">
            <a:solidFill>
              <a:srgbClr val="B7791F"/>
            </a:solidFill>
            <a:prstDash val="solid"/>
          </a:ln>
        </p:spPr>
      </p:sp>
      <p:sp>
        <p:nvSpPr>
          <p:cNvPr id="8" name="Text 5"/>
          <p:cNvSpPr txBox="1"/>
          <p:nvPr/>
        </p:nvSpPr>
        <p:spPr>
          <a:xfrm>
            <a:off x="2575560" y="2331720"/>
            <a:ext cx="365760" cy="365760"/>
          </a:xfrm>
          <a:prstGeom prst="rect">
            <a:avLst/>
          </a:prstGeom>
          <a:noFill/>
          <a:ln/>
        </p:spPr>
        <p:txBody>
          <a:bodyPr wrap="square" lIns="0" tIns="0" rIns="0" bIns="0" rtlCol="0" anchor="ctr"/>
          <a:lstStyle/>
          <a:p>
            <a:pPr algn="ctr" indent="0" marL="0">
              <a:buNone/>
            </a:pPr>
            <a:r>
              <a:rPr lang="en-US" sz="2000" b="1" dirty="0">
                <a:solidFill>
                  <a:srgbClr val="B7791F"/>
                </a:solidFill>
                <a:latin typeface="Calibri" pitchFamily="34" charset="0"/>
                <a:ea typeface="Calibri" pitchFamily="34" charset="-122"/>
                <a:cs typeface="Calibri" pitchFamily="34" charset="-120"/>
              </a:rPr>
              <a:t>①</a:t>
            </a:r>
            <a:endParaRPr lang="en-US" sz="2000" dirty="0"/>
          </a:p>
        </p:txBody>
      </p:sp>
      <p:sp>
        <p:nvSpPr>
          <p:cNvPr id="9" name="Shape 6"/>
          <p:cNvSpPr/>
          <p:nvPr/>
        </p:nvSpPr>
        <p:spPr>
          <a:xfrm>
            <a:off x="4108704" y="1737360"/>
            <a:ext cx="1353312" cy="566928"/>
          </a:xfrm>
          <a:prstGeom prst="roundRect">
            <a:avLst>
              <a:gd name="adj" fmla="val 9677"/>
            </a:avLst>
          </a:prstGeom>
          <a:solidFill>
            <a:srgbClr val="E3ECF8"/>
          </a:solidFill>
          <a:ln w="15875">
            <a:solidFill>
              <a:srgbClr val="2F6FB3"/>
            </a:solidFill>
            <a:prstDash val="solid"/>
          </a:ln>
        </p:spPr>
      </p:sp>
      <p:sp>
        <p:nvSpPr>
          <p:cNvPr id="10" name="Text 7"/>
          <p:cNvSpPr txBox="1"/>
          <p:nvPr/>
        </p:nvSpPr>
        <p:spPr>
          <a:xfrm>
            <a:off x="4602480" y="2331720"/>
            <a:ext cx="365760" cy="365760"/>
          </a:xfrm>
          <a:prstGeom prst="rect">
            <a:avLst/>
          </a:prstGeom>
          <a:noFill/>
          <a:ln/>
        </p:spPr>
        <p:txBody>
          <a:bodyPr wrap="square" lIns="0" tIns="0" rIns="0" bIns="0" rtlCol="0" anchor="ctr"/>
          <a:lstStyle/>
          <a:p>
            <a:pPr algn="ctr" indent="0" marL="0">
              <a:buNone/>
            </a:pPr>
            <a:r>
              <a:rPr lang="en-US" sz="2000" b="1" dirty="0">
                <a:solidFill>
                  <a:srgbClr val="2F6FB3"/>
                </a:solidFill>
                <a:latin typeface="Calibri" pitchFamily="34" charset="0"/>
                <a:ea typeface="Calibri" pitchFamily="34" charset="-122"/>
                <a:cs typeface="Calibri" pitchFamily="34" charset="-120"/>
              </a:rPr>
              <a:t>②</a:t>
            </a:r>
            <a:endParaRPr lang="en-US" sz="2000" dirty="0"/>
          </a:p>
        </p:txBody>
      </p:sp>
      <p:sp>
        <p:nvSpPr>
          <p:cNvPr id="11" name="Shape 8"/>
          <p:cNvSpPr/>
          <p:nvPr/>
        </p:nvSpPr>
        <p:spPr>
          <a:xfrm>
            <a:off x="5815584" y="1737360"/>
            <a:ext cx="713232" cy="566928"/>
          </a:xfrm>
          <a:prstGeom prst="roundRect">
            <a:avLst>
              <a:gd name="adj" fmla="val 9677"/>
            </a:avLst>
          </a:prstGeom>
          <a:solidFill>
            <a:srgbClr val="E6F4EC"/>
          </a:solidFill>
          <a:ln w="15875">
            <a:solidFill>
              <a:srgbClr val="2E9E6A"/>
            </a:solidFill>
            <a:prstDash val="solid"/>
          </a:ln>
        </p:spPr>
      </p:sp>
      <p:sp>
        <p:nvSpPr>
          <p:cNvPr id="12" name="Text 9"/>
          <p:cNvSpPr txBox="1"/>
          <p:nvPr/>
        </p:nvSpPr>
        <p:spPr>
          <a:xfrm>
            <a:off x="5989320" y="2331720"/>
            <a:ext cx="365760" cy="365760"/>
          </a:xfrm>
          <a:prstGeom prst="rect">
            <a:avLst/>
          </a:prstGeom>
          <a:noFill/>
          <a:ln/>
        </p:spPr>
        <p:txBody>
          <a:bodyPr wrap="square" lIns="0" tIns="0" rIns="0" bIns="0" rtlCol="0" anchor="ctr"/>
          <a:lstStyle/>
          <a:p>
            <a:pPr algn="ctr" indent="0" marL="0">
              <a:buNone/>
            </a:pPr>
            <a:r>
              <a:rPr lang="en-US" sz="2000" b="1" dirty="0">
                <a:solidFill>
                  <a:srgbClr val="2E9E6A"/>
                </a:solidFill>
                <a:latin typeface="Calibri" pitchFamily="34" charset="0"/>
                <a:ea typeface="Calibri" pitchFamily="34" charset="-122"/>
                <a:cs typeface="Calibri" pitchFamily="34" charset="-120"/>
              </a:rPr>
              <a:t>④</a:t>
            </a:r>
            <a:endParaRPr lang="en-US" sz="2000" dirty="0"/>
          </a:p>
        </p:txBody>
      </p:sp>
      <p:sp>
        <p:nvSpPr>
          <p:cNvPr id="13" name="Text 10"/>
          <p:cNvSpPr txBox="1"/>
          <p:nvPr/>
        </p:nvSpPr>
        <p:spPr>
          <a:xfrm>
            <a:off x="731520" y="1783080"/>
            <a:ext cx="6583680" cy="475488"/>
          </a:xfrm>
          <a:prstGeom prst="rect">
            <a:avLst/>
          </a:prstGeom>
          <a:noFill/>
          <a:ln/>
        </p:spPr>
        <p:txBody>
          <a:bodyPr wrap="square" lIns="0" tIns="0" rIns="0" bIns="0" rtlCol="0" anchor="ctr"/>
          <a:lstStyle/>
          <a:p>
            <a:pPr indent="0" marL="0">
              <a:buNone/>
            </a:pPr>
            <a:r>
              <a:rPr lang="en-US" sz="2800" b="1" dirty="0">
                <a:solidFill>
                  <a:srgbClr val="14213D"/>
                </a:solidFill>
                <a:latin typeface="Courier New" pitchFamily="34" charset="0"/>
                <a:ea typeface="Courier New" pitchFamily="34" charset="-122"/>
                <a:cs typeface="Courier New" pitchFamily="34" charset="-120"/>
              </a:rPr>
              <a:t>for (int i = 1; i &lt;= 5; i++)</a:t>
            </a:r>
            <a:endParaRPr lang="en-US" sz="2800" dirty="0"/>
          </a:p>
        </p:txBody>
      </p:sp>
      <p:sp>
        <p:nvSpPr>
          <p:cNvPr id="14" name="Shape 11"/>
          <p:cNvSpPr/>
          <p:nvPr/>
        </p:nvSpPr>
        <p:spPr>
          <a:xfrm>
            <a:off x="694944" y="2788920"/>
            <a:ext cx="6035040" cy="1417320"/>
          </a:xfrm>
          <a:prstGeom prst="roundRect">
            <a:avLst>
              <a:gd name="adj" fmla="val 3871"/>
            </a:avLst>
          </a:prstGeom>
          <a:solidFill>
            <a:srgbClr val="EEF1F6"/>
          </a:solidFill>
          <a:ln w="15875">
            <a:solidFill>
              <a:srgbClr val="5B6478"/>
            </a:solidFill>
            <a:prstDash val="solid"/>
          </a:ln>
        </p:spPr>
      </p:sp>
      <p:sp>
        <p:nvSpPr>
          <p:cNvPr id="15" name="Text 12"/>
          <p:cNvSpPr txBox="1"/>
          <p:nvPr/>
        </p:nvSpPr>
        <p:spPr>
          <a:xfrm>
            <a:off x="731520" y="2834640"/>
            <a:ext cx="5852160" cy="1325880"/>
          </a:xfrm>
          <a:prstGeom prst="rect">
            <a:avLst/>
          </a:prstGeom>
          <a:noFill/>
          <a:ln/>
        </p:spPr>
        <p:txBody>
          <a:bodyPr wrap="square" lIns="0" tIns="0" rIns="0" bIns="0" rtlCol="0" anchor="ctr"/>
          <a:lstStyle/>
          <a:p>
            <a:pPr indent="0" marL="0">
              <a:buNone/>
            </a:pPr>
            <a:r>
              <a:rPr lang="en-US" sz="2200" dirty="0">
                <a:solidFill>
                  <a:srgbClr val="14213D"/>
                </a:solidFill>
                <a:latin typeface="Courier New" pitchFamily="34" charset="0"/>
                <a:ea typeface="Courier New" pitchFamily="34" charset="-122"/>
                <a:cs typeface="Courier New" pitchFamily="34" charset="-120"/>
              </a:rPr>
              <a:t>{</a:t>
            </a:r>
            <a:endParaRPr lang="en-US" sz="2200" dirty="0"/>
          </a:p>
          <a:p>
            <a:pPr indent="0" marL="0">
              <a:buNone/>
            </a:pPr>
            <a:r>
              <a:rPr lang="en-US" sz="2200" dirty="0">
                <a:solidFill>
                  <a:srgbClr val="14213D"/>
                </a:solidFill>
                <a:latin typeface="Courier New" pitchFamily="34" charset="0"/>
                <a:ea typeface="Courier New" pitchFamily="34" charset="-122"/>
                <a:cs typeface="Courier New" pitchFamily="34" charset="-120"/>
              </a:rPr>
              <a:t>    Console.Write($"{i} ");</a:t>
            </a:r>
            <a:endParaRPr lang="en-US" sz="2200" dirty="0"/>
          </a:p>
          <a:p>
            <a:pPr indent="0" marL="0">
              <a:buNone/>
            </a:pPr>
            <a:r>
              <a:rPr lang="en-US" sz="2200" dirty="0">
                <a:solidFill>
                  <a:srgbClr val="14213D"/>
                </a:solidFill>
                <a:latin typeface="Courier New" pitchFamily="34" charset="0"/>
                <a:ea typeface="Courier New" pitchFamily="34" charset="-122"/>
                <a:cs typeface="Courier New" pitchFamily="34" charset="-120"/>
              </a:rPr>
              <a:t>}</a:t>
            </a:r>
            <a:endParaRPr lang="en-US" sz="2200" dirty="0"/>
          </a:p>
        </p:txBody>
      </p:sp>
      <p:sp>
        <p:nvSpPr>
          <p:cNvPr id="16" name="Text 13"/>
          <p:cNvSpPr txBox="1"/>
          <p:nvPr/>
        </p:nvSpPr>
        <p:spPr>
          <a:xfrm>
            <a:off x="6812280" y="3246120"/>
            <a:ext cx="365760" cy="365760"/>
          </a:xfrm>
          <a:prstGeom prst="rect">
            <a:avLst/>
          </a:prstGeom>
          <a:noFill/>
          <a:ln/>
        </p:spPr>
        <p:txBody>
          <a:bodyPr wrap="square" lIns="0" tIns="0" rIns="0" bIns="0" rtlCol="0" anchor="ctr"/>
          <a:lstStyle/>
          <a:p>
            <a:pPr algn="ctr" indent="0" marL="0">
              <a:buNone/>
            </a:pPr>
            <a:r>
              <a:rPr lang="en-US" sz="2000" b="1" dirty="0">
                <a:solidFill>
                  <a:srgbClr val="5B6478"/>
                </a:solidFill>
                <a:latin typeface="Calibri" pitchFamily="34" charset="0"/>
                <a:ea typeface="Calibri" pitchFamily="34" charset="-122"/>
                <a:cs typeface="Calibri" pitchFamily="34" charset="-120"/>
              </a:rPr>
              <a:t>③</a:t>
            </a:r>
            <a:endParaRPr lang="en-US" sz="2000" dirty="0"/>
          </a:p>
        </p:txBody>
      </p:sp>
      <p:sp>
        <p:nvSpPr>
          <p:cNvPr id="17" name="Shape 14"/>
          <p:cNvSpPr/>
          <p:nvPr/>
        </p:nvSpPr>
        <p:spPr>
          <a:xfrm>
            <a:off x="731520" y="4526280"/>
            <a:ext cx="6035040" cy="1325880"/>
          </a:xfrm>
          <a:prstGeom prst="roundRect">
            <a:avLst>
              <a:gd name="adj" fmla="val 6897"/>
            </a:avLst>
          </a:prstGeom>
          <a:solidFill>
            <a:srgbClr val="0B0F19"/>
          </a:solidFill>
          <a:ln w="12700">
            <a:solidFill>
              <a:srgbClr val="2A3654"/>
            </a:solidFill>
            <a:prstDash val="solid"/>
          </a:ln>
        </p:spPr>
      </p:sp>
      <p:sp>
        <p:nvSpPr>
          <p:cNvPr id="18" name="Shape 15"/>
          <p:cNvSpPr/>
          <p:nvPr/>
        </p:nvSpPr>
        <p:spPr>
          <a:xfrm>
            <a:off x="914400" y="4654296"/>
            <a:ext cx="118872" cy="118872"/>
          </a:xfrm>
          <a:prstGeom prst="ellipse">
            <a:avLst/>
          </a:prstGeom>
          <a:solidFill>
            <a:srgbClr val="FF5F57"/>
          </a:solidFill>
          <a:ln w="12700">
            <a:solidFill>
              <a:srgbClr val="FF5F57"/>
            </a:solidFill>
            <a:prstDash val="solid"/>
          </a:ln>
        </p:spPr>
      </p:sp>
      <p:sp>
        <p:nvSpPr>
          <p:cNvPr id="19" name="Shape 16"/>
          <p:cNvSpPr/>
          <p:nvPr/>
        </p:nvSpPr>
        <p:spPr>
          <a:xfrm>
            <a:off x="1143000" y="4654296"/>
            <a:ext cx="118872" cy="118872"/>
          </a:xfrm>
          <a:prstGeom prst="ellipse">
            <a:avLst/>
          </a:prstGeom>
          <a:solidFill>
            <a:srgbClr val="FEBC2E"/>
          </a:solidFill>
          <a:ln w="12700">
            <a:solidFill>
              <a:srgbClr val="FEBC2E"/>
            </a:solidFill>
            <a:prstDash val="solid"/>
          </a:ln>
        </p:spPr>
      </p:sp>
      <p:sp>
        <p:nvSpPr>
          <p:cNvPr id="20" name="Shape 17"/>
          <p:cNvSpPr/>
          <p:nvPr/>
        </p:nvSpPr>
        <p:spPr>
          <a:xfrm>
            <a:off x="1371600" y="4654296"/>
            <a:ext cx="118872" cy="118872"/>
          </a:xfrm>
          <a:prstGeom prst="ellipse">
            <a:avLst/>
          </a:prstGeom>
          <a:solidFill>
            <a:srgbClr val="28C840"/>
          </a:solidFill>
          <a:ln w="12700">
            <a:solidFill>
              <a:srgbClr val="28C840"/>
            </a:solidFill>
            <a:prstDash val="solid"/>
          </a:ln>
        </p:spPr>
      </p:sp>
      <p:sp>
        <p:nvSpPr>
          <p:cNvPr id="21" name="Text 18"/>
          <p:cNvSpPr txBox="1"/>
          <p:nvPr/>
        </p:nvSpPr>
        <p:spPr>
          <a:xfrm>
            <a:off x="1645920" y="4599432"/>
            <a:ext cx="493776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Console</a:t>
            </a:r>
            <a:endParaRPr lang="en-US" sz="1000" dirty="0"/>
          </a:p>
        </p:txBody>
      </p:sp>
      <p:sp>
        <p:nvSpPr>
          <p:cNvPr id="22" name="Text 19"/>
          <p:cNvSpPr txBox="1"/>
          <p:nvPr/>
        </p:nvSpPr>
        <p:spPr>
          <a:xfrm>
            <a:off x="960120" y="4910328"/>
            <a:ext cx="5577840" cy="822960"/>
          </a:xfrm>
          <a:prstGeom prst="rect">
            <a:avLst/>
          </a:prstGeom>
          <a:noFill/>
          <a:ln/>
        </p:spPr>
        <p:txBody>
          <a:bodyPr wrap="square" lIns="0" tIns="0" rIns="0" bIns="0" rtlCol="0" anchor="t"/>
          <a:lstStyle/>
          <a:p>
            <a:pPr indent="0" marL="0">
              <a:spcAft>
                <a:spcPts val="100"/>
              </a:spcAft>
              <a:buNone/>
            </a:pPr>
            <a:r>
              <a:rPr lang="en-US" sz="1600" dirty="0">
                <a:solidFill>
                  <a:srgbClr val="7EE2A8"/>
                </a:solidFill>
                <a:latin typeface="Courier New" pitchFamily="34" charset="0"/>
                <a:ea typeface="Courier New" pitchFamily="34" charset="-122"/>
                <a:cs typeface="Courier New" pitchFamily="34" charset="-120"/>
              </a:rPr>
              <a:t>1 2 3 4 5</a:t>
            </a:r>
            <a:endParaRPr lang="en-US" sz="1600" dirty="0"/>
          </a:p>
        </p:txBody>
      </p:sp>
      <p:sp>
        <p:nvSpPr>
          <p:cNvPr id="23" name="Shape 20"/>
          <p:cNvSpPr/>
          <p:nvPr/>
        </p:nvSpPr>
        <p:spPr>
          <a:xfrm>
            <a:off x="7360920" y="1645920"/>
            <a:ext cx="4297680" cy="987552"/>
          </a:xfrm>
          <a:prstGeom prst="roundRect">
            <a:avLst>
              <a:gd name="adj" fmla="val 11111"/>
            </a:avLst>
          </a:prstGeom>
          <a:solidFill>
            <a:srgbClr val="FFF1D6"/>
          </a:solidFill>
          <a:ln w="12700">
            <a:solidFill>
              <a:srgbClr val="FFF1D6"/>
            </a:solidFill>
            <a:prstDash val="solid"/>
          </a:ln>
        </p:spPr>
      </p:sp>
      <p:sp>
        <p:nvSpPr>
          <p:cNvPr id="24" name="Text 21"/>
          <p:cNvSpPr txBox="1"/>
          <p:nvPr/>
        </p:nvSpPr>
        <p:spPr>
          <a:xfrm>
            <a:off x="7498080" y="1737360"/>
            <a:ext cx="457200" cy="457200"/>
          </a:xfrm>
          <a:prstGeom prst="rect">
            <a:avLst/>
          </a:prstGeom>
          <a:noFill/>
          <a:ln/>
        </p:spPr>
        <p:txBody>
          <a:bodyPr wrap="square" lIns="0" tIns="0" rIns="0" bIns="0" rtlCol="0" anchor="ctr"/>
          <a:lstStyle/>
          <a:p>
            <a:pPr indent="0" marL="0">
              <a:buNone/>
            </a:pPr>
            <a:r>
              <a:rPr lang="en-US" sz="2400" b="1" dirty="0">
                <a:solidFill>
                  <a:srgbClr val="B7791F"/>
                </a:solidFill>
                <a:latin typeface="Calibri" pitchFamily="34" charset="0"/>
                <a:ea typeface="Calibri" pitchFamily="34" charset="-122"/>
                <a:cs typeface="Calibri" pitchFamily="34" charset="-120"/>
              </a:rPr>
              <a:t>①</a:t>
            </a:r>
            <a:endParaRPr lang="en-US" sz="2400" dirty="0"/>
          </a:p>
        </p:txBody>
      </p:sp>
      <p:sp>
        <p:nvSpPr>
          <p:cNvPr id="25" name="Text 22"/>
          <p:cNvSpPr txBox="1"/>
          <p:nvPr/>
        </p:nvSpPr>
        <p:spPr>
          <a:xfrm>
            <a:off x="8001000" y="1737360"/>
            <a:ext cx="3566160" cy="365760"/>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Initialization  </a:t>
            </a:r>
            <a:pPr indent="0" marL="0">
              <a:buNone/>
            </a:pPr>
            <a:r>
              <a:rPr lang="en-US" sz="1400" b="1" dirty="0">
                <a:solidFill>
                  <a:srgbClr val="B7791F"/>
                </a:solidFill>
                <a:latin typeface="Courier New" pitchFamily="34" charset="0"/>
                <a:ea typeface="Courier New" pitchFamily="34" charset="-122"/>
                <a:cs typeface="Courier New" pitchFamily="34" charset="-120"/>
              </a:rPr>
              <a:t>int i = 1</a:t>
            </a:r>
            <a:endParaRPr lang="en-US" sz="1700" dirty="0"/>
          </a:p>
        </p:txBody>
      </p:sp>
      <p:sp>
        <p:nvSpPr>
          <p:cNvPr id="26" name="Text 23"/>
          <p:cNvSpPr txBox="1"/>
          <p:nvPr/>
        </p:nvSpPr>
        <p:spPr>
          <a:xfrm>
            <a:off x="8001000" y="2103120"/>
            <a:ext cx="3566160" cy="502920"/>
          </a:xfrm>
          <a:prstGeom prst="rect">
            <a:avLst/>
          </a:prstGeom>
          <a:noFill/>
          <a:ln/>
        </p:spPr>
        <p:txBody>
          <a:bodyPr wrap="square" lIns="0" tIns="0" rIns="0" bIns="0" rtlCol="0" anchor="ctr"/>
          <a:lstStyle/>
          <a:p>
            <a:pPr indent="0" marL="0">
              <a:buNone/>
            </a:pPr>
            <a:r>
              <a:rPr lang="en-US" sz="1300" dirty="0">
                <a:solidFill>
                  <a:srgbClr val="333B4F"/>
                </a:solidFill>
                <a:latin typeface="Calibri" pitchFamily="34" charset="0"/>
                <a:ea typeface="Calibri" pitchFamily="34" charset="-122"/>
                <a:cs typeface="Calibri" pitchFamily="34" charset="-120"/>
              </a:rPr>
              <a:t>Runs once, before anything else. Declares the loop variable.</a:t>
            </a:r>
            <a:endParaRPr lang="en-US" sz="1300" dirty="0"/>
          </a:p>
        </p:txBody>
      </p:sp>
      <p:sp>
        <p:nvSpPr>
          <p:cNvPr id="27" name="Shape 24"/>
          <p:cNvSpPr/>
          <p:nvPr/>
        </p:nvSpPr>
        <p:spPr>
          <a:xfrm>
            <a:off x="7360920" y="2743200"/>
            <a:ext cx="4297680" cy="987552"/>
          </a:xfrm>
          <a:prstGeom prst="roundRect">
            <a:avLst>
              <a:gd name="adj" fmla="val 11111"/>
            </a:avLst>
          </a:prstGeom>
          <a:solidFill>
            <a:srgbClr val="E3ECF8"/>
          </a:solidFill>
          <a:ln w="12700">
            <a:solidFill>
              <a:srgbClr val="E3ECF8"/>
            </a:solidFill>
            <a:prstDash val="solid"/>
          </a:ln>
        </p:spPr>
      </p:sp>
      <p:sp>
        <p:nvSpPr>
          <p:cNvPr id="28" name="Text 25"/>
          <p:cNvSpPr txBox="1"/>
          <p:nvPr/>
        </p:nvSpPr>
        <p:spPr>
          <a:xfrm>
            <a:off x="7498080" y="2834640"/>
            <a:ext cx="457200" cy="457200"/>
          </a:xfrm>
          <a:prstGeom prst="rect">
            <a:avLst/>
          </a:prstGeom>
          <a:noFill/>
          <a:ln/>
        </p:spPr>
        <p:txBody>
          <a:bodyPr wrap="square" lIns="0" tIns="0" rIns="0" bIns="0" rtlCol="0" anchor="ctr"/>
          <a:lstStyle/>
          <a:p>
            <a:pPr indent="0" marL="0">
              <a:buNone/>
            </a:pPr>
            <a:r>
              <a:rPr lang="en-US" sz="2400" b="1" dirty="0">
                <a:solidFill>
                  <a:srgbClr val="2F6FB3"/>
                </a:solidFill>
                <a:latin typeface="Calibri" pitchFamily="34" charset="0"/>
                <a:ea typeface="Calibri" pitchFamily="34" charset="-122"/>
                <a:cs typeface="Calibri" pitchFamily="34" charset="-120"/>
              </a:rPr>
              <a:t>②</a:t>
            </a:r>
            <a:endParaRPr lang="en-US" sz="2400" dirty="0"/>
          </a:p>
        </p:txBody>
      </p:sp>
      <p:sp>
        <p:nvSpPr>
          <p:cNvPr id="29" name="Text 26"/>
          <p:cNvSpPr txBox="1"/>
          <p:nvPr/>
        </p:nvSpPr>
        <p:spPr>
          <a:xfrm>
            <a:off x="8001000" y="2834640"/>
            <a:ext cx="3566160" cy="365760"/>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Condition  </a:t>
            </a:r>
            <a:pPr indent="0" marL="0">
              <a:buNone/>
            </a:pPr>
            <a:r>
              <a:rPr lang="en-US" sz="1400" b="1" dirty="0">
                <a:solidFill>
                  <a:srgbClr val="2F6FB3"/>
                </a:solidFill>
                <a:latin typeface="Courier New" pitchFamily="34" charset="0"/>
                <a:ea typeface="Courier New" pitchFamily="34" charset="-122"/>
                <a:cs typeface="Courier New" pitchFamily="34" charset="-120"/>
              </a:rPr>
              <a:t>i &lt;= 5</a:t>
            </a:r>
            <a:endParaRPr lang="en-US" sz="1700" dirty="0"/>
          </a:p>
        </p:txBody>
      </p:sp>
      <p:sp>
        <p:nvSpPr>
          <p:cNvPr id="30" name="Text 27"/>
          <p:cNvSpPr txBox="1"/>
          <p:nvPr/>
        </p:nvSpPr>
        <p:spPr>
          <a:xfrm>
            <a:off x="8001000" y="3200400"/>
            <a:ext cx="3566160" cy="502920"/>
          </a:xfrm>
          <a:prstGeom prst="rect">
            <a:avLst/>
          </a:prstGeom>
          <a:noFill/>
          <a:ln/>
        </p:spPr>
        <p:txBody>
          <a:bodyPr wrap="square" lIns="0" tIns="0" rIns="0" bIns="0" rtlCol="0" anchor="ctr"/>
          <a:lstStyle/>
          <a:p>
            <a:pPr indent="0" marL="0">
              <a:buNone/>
            </a:pPr>
            <a:r>
              <a:rPr lang="en-US" sz="1300" dirty="0">
                <a:solidFill>
                  <a:srgbClr val="333B4F"/>
                </a:solidFill>
                <a:latin typeface="Calibri" pitchFamily="34" charset="0"/>
                <a:ea typeface="Calibri" pitchFamily="34" charset="-122"/>
                <a:cs typeface="Calibri" pitchFamily="34" charset="-120"/>
              </a:rPr>
              <a:t>Tested before every pass: true → run the body, false → leave the loop.</a:t>
            </a:r>
            <a:endParaRPr lang="en-US" sz="1300" dirty="0"/>
          </a:p>
        </p:txBody>
      </p:sp>
      <p:sp>
        <p:nvSpPr>
          <p:cNvPr id="31" name="Shape 28"/>
          <p:cNvSpPr/>
          <p:nvPr/>
        </p:nvSpPr>
        <p:spPr>
          <a:xfrm>
            <a:off x="7360920" y="3840480"/>
            <a:ext cx="4297680" cy="987552"/>
          </a:xfrm>
          <a:prstGeom prst="roundRect">
            <a:avLst>
              <a:gd name="adj" fmla="val 11111"/>
            </a:avLst>
          </a:prstGeom>
          <a:solidFill>
            <a:srgbClr val="EEF1F6"/>
          </a:solidFill>
          <a:ln w="12700">
            <a:solidFill>
              <a:srgbClr val="EEF1F6"/>
            </a:solidFill>
            <a:prstDash val="solid"/>
          </a:ln>
        </p:spPr>
      </p:sp>
      <p:sp>
        <p:nvSpPr>
          <p:cNvPr id="32" name="Text 29"/>
          <p:cNvSpPr txBox="1"/>
          <p:nvPr/>
        </p:nvSpPr>
        <p:spPr>
          <a:xfrm>
            <a:off x="7498080" y="3931920"/>
            <a:ext cx="457200" cy="457200"/>
          </a:xfrm>
          <a:prstGeom prst="rect">
            <a:avLst/>
          </a:prstGeom>
          <a:noFill/>
          <a:ln/>
        </p:spPr>
        <p:txBody>
          <a:bodyPr wrap="square" lIns="0" tIns="0" rIns="0" bIns="0" rtlCol="0" anchor="ctr"/>
          <a:lstStyle/>
          <a:p>
            <a:pPr indent="0" marL="0">
              <a:buNone/>
            </a:pPr>
            <a:r>
              <a:rPr lang="en-US" sz="2400" b="1" dirty="0">
                <a:solidFill>
                  <a:srgbClr val="5B6478"/>
                </a:solidFill>
                <a:latin typeface="Calibri" pitchFamily="34" charset="0"/>
                <a:ea typeface="Calibri" pitchFamily="34" charset="-122"/>
                <a:cs typeface="Calibri" pitchFamily="34" charset="-120"/>
              </a:rPr>
              <a:t>③</a:t>
            </a:r>
            <a:endParaRPr lang="en-US" sz="2400" dirty="0"/>
          </a:p>
        </p:txBody>
      </p:sp>
      <p:sp>
        <p:nvSpPr>
          <p:cNvPr id="33" name="Text 30"/>
          <p:cNvSpPr txBox="1"/>
          <p:nvPr/>
        </p:nvSpPr>
        <p:spPr>
          <a:xfrm>
            <a:off x="8001000" y="3931920"/>
            <a:ext cx="3566160" cy="365760"/>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Body  </a:t>
            </a:r>
            <a:pPr indent="0" marL="0">
              <a:buNone/>
            </a:pPr>
            <a:r>
              <a:rPr lang="en-US" sz="1400" b="1" dirty="0">
                <a:solidFill>
                  <a:srgbClr val="5B6478"/>
                </a:solidFill>
                <a:latin typeface="Courier New" pitchFamily="34" charset="0"/>
                <a:ea typeface="Courier New" pitchFamily="34" charset="-122"/>
                <a:cs typeface="Courier New" pitchFamily="34" charset="-120"/>
              </a:rPr>
              <a:t>{ ... }</a:t>
            </a:r>
            <a:endParaRPr lang="en-US" sz="1700" dirty="0"/>
          </a:p>
        </p:txBody>
      </p:sp>
      <p:sp>
        <p:nvSpPr>
          <p:cNvPr id="34" name="Text 31"/>
          <p:cNvSpPr txBox="1"/>
          <p:nvPr/>
        </p:nvSpPr>
        <p:spPr>
          <a:xfrm>
            <a:off x="8001000" y="4297680"/>
            <a:ext cx="3566160" cy="502920"/>
          </a:xfrm>
          <a:prstGeom prst="rect">
            <a:avLst/>
          </a:prstGeom>
          <a:noFill/>
          <a:ln/>
        </p:spPr>
        <p:txBody>
          <a:bodyPr wrap="square" lIns="0" tIns="0" rIns="0" bIns="0" rtlCol="0" anchor="ctr"/>
          <a:lstStyle/>
          <a:p>
            <a:pPr indent="0" marL="0">
              <a:buNone/>
            </a:pPr>
            <a:r>
              <a:rPr lang="en-US" sz="1300" dirty="0">
                <a:solidFill>
                  <a:srgbClr val="333B4F"/>
                </a:solidFill>
                <a:latin typeface="Calibri" pitchFamily="34" charset="0"/>
                <a:ea typeface="Calibri" pitchFamily="34" charset="-122"/>
                <a:cs typeface="Calibri" pitchFamily="34" charset="-120"/>
              </a:rPr>
              <a:t>The statements that are repeated.</a:t>
            </a:r>
            <a:endParaRPr lang="en-US" sz="1300" dirty="0"/>
          </a:p>
        </p:txBody>
      </p:sp>
      <p:sp>
        <p:nvSpPr>
          <p:cNvPr id="35" name="Shape 32"/>
          <p:cNvSpPr/>
          <p:nvPr/>
        </p:nvSpPr>
        <p:spPr>
          <a:xfrm>
            <a:off x="7360920" y="4937760"/>
            <a:ext cx="4297680" cy="987552"/>
          </a:xfrm>
          <a:prstGeom prst="roundRect">
            <a:avLst>
              <a:gd name="adj" fmla="val 11111"/>
            </a:avLst>
          </a:prstGeom>
          <a:solidFill>
            <a:srgbClr val="E6F4EC"/>
          </a:solidFill>
          <a:ln w="12700">
            <a:solidFill>
              <a:srgbClr val="E6F4EC"/>
            </a:solidFill>
            <a:prstDash val="solid"/>
          </a:ln>
        </p:spPr>
      </p:sp>
      <p:sp>
        <p:nvSpPr>
          <p:cNvPr id="36" name="Text 33"/>
          <p:cNvSpPr txBox="1"/>
          <p:nvPr/>
        </p:nvSpPr>
        <p:spPr>
          <a:xfrm>
            <a:off x="7498080" y="5029200"/>
            <a:ext cx="457200" cy="457200"/>
          </a:xfrm>
          <a:prstGeom prst="rect">
            <a:avLst/>
          </a:prstGeom>
          <a:noFill/>
          <a:ln/>
        </p:spPr>
        <p:txBody>
          <a:bodyPr wrap="square" lIns="0" tIns="0" rIns="0" bIns="0" rtlCol="0" anchor="ctr"/>
          <a:lstStyle/>
          <a:p>
            <a:pPr indent="0" marL="0">
              <a:buNone/>
            </a:pPr>
            <a:r>
              <a:rPr lang="en-US" sz="2400" b="1" dirty="0">
                <a:solidFill>
                  <a:srgbClr val="2E9E6A"/>
                </a:solidFill>
                <a:latin typeface="Calibri" pitchFamily="34" charset="0"/>
                <a:ea typeface="Calibri" pitchFamily="34" charset="-122"/>
                <a:cs typeface="Calibri" pitchFamily="34" charset="-120"/>
              </a:rPr>
              <a:t>④</a:t>
            </a:r>
            <a:endParaRPr lang="en-US" sz="2400" dirty="0"/>
          </a:p>
        </p:txBody>
      </p:sp>
      <p:sp>
        <p:nvSpPr>
          <p:cNvPr id="37" name="Text 34"/>
          <p:cNvSpPr txBox="1"/>
          <p:nvPr/>
        </p:nvSpPr>
        <p:spPr>
          <a:xfrm>
            <a:off x="8001000" y="5029200"/>
            <a:ext cx="3566160" cy="365760"/>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Update  </a:t>
            </a:r>
            <a:pPr indent="0" marL="0">
              <a:buNone/>
            </a:pPr>
            <a:r>
              <a:rPr lang="en-US" sz="1400" b="1" dirty="0">
                <a:solidFill>
                  <a:srgbClr val="2E9E6A"/>
                </a:solidFill>
                <a:latin typeface="Courier New" pitchFamily="34" charset="0"/>
                <a:ea typeface="Courier New" pitchFamily="34" charset="-122"/>
                <a:cs typeface="Courier New" pitchFamily="34" charset="-120"/>
              </a:rPr>
              <a:t>i++</a:t>
            </a:r>
            <a:endParaRPr lang="en-US" sz="1700" dirty="0"/>
          </a:p>
        </p:txBody>
      </p:sp>
      <p:sp>
        <p:nvSpPr>
          <p:cNvPr id="38" name="Text 35"/>
          <p:cNvSpPr txBox="1"/>
          <p:nvPr/>
        </p:nvSpPr>
        <p:spPr>
          <a:xfrm>
            <a:off x="8001000" y="5394960"/>
            <a:ext cx="3566160" cy="502920"/>
          </a:xfrm>
          <a:prstGeom prst="rect">
            <a:avLst/>
          </a:prstGeom>
          <a:noFill/>
          <a:ln/>
        </p:spPr>
        <p:txBody>
          <a:bodyPr wrap="square" lIns="0" tIns="0" rIns="0" bIns="0" rtlCol="0" anchor="ctr"/>
          <a:lstStyle/>
          <a:p>
            <a:pPr indent="0" marL="0">
              <a:buNone/>
            </a:pPr>
            <a:r>
              <a:rPr lang="en-US" sz="1300" dirty="0">
                <a:solidFill>
                  <a:srgbClr val="333B4F"/>
                </a:solidFill>
                <a:latin typeface="Calibri" pitchFamily="34" charset="0"/>
                <a:ea typeface="Calibri" pitchFamily="34" charset="-122"/>
                <a:cs typeface="Calibri" pitchFamily="34" charset="-120"/>
              </a:rPr>
              <a:t>Runs after every pass, then back to ②.</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EXECUTION ORDER</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Execution Order: ① → ② → ③ → ④ → ② → …</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6</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7</a:t>
            </a:r>
            <a:endParaRPr lang="en-US" sz="1000" dirty="0"/>
          </a:p>
        </p:txBody>
      </p:sp>
      <p:sp>
        <p:nvSpPr>
          <p:cNvPr id="7" name="Shape 4"/>
          <p:cNvSpPr/>
          <p:nvPr/>
        </p:nvSpPr>
        <p:spPr>
          <a:xfrm>
            <a:off x="1600200" y="1645920"/>
            <a:ext cx="2286000" cy="457200"/>
          </a:xfrm>
          <a:prstGeom prst="flowChartProcess">
            <a:avLst/>
          </a:prstGeom>
          <a:solidFill>
            <a:srgbClr val="FFF1D6"/>
          </a:solidFill>
          <a:ln w="15875">
            <a:solidFill>
              <a:srgbClr val="14213D"/>
            </a:solidFill>
            <a:prstDash val="solid"/>
          </a:ln>
        </p:spPr>
      </p:sp>
      <p:sp>
        <p:nvSpPr>
          <p:cNvPr id="8" name="Text 5"/>
          <p:cNvSpPr txBox="1"/>
          <p:nvPr/>
        </p:nvSpPr>
        <p:spPr>
          <a:xfrm>
            <a:off x="1645920" y="1645920"/>
            <a:ext cx="2194560" cy="457200"/>
          </a:xfrm>
          <a:prstGeom prst="rect">
            <a:avLst/>
          </a:prstGeom>
          <a:noFill/>
          <a:ln/>
        </p:spPr>
        <p:txBody>
          <a:bodyPr wrap="square" lIns="0" tIns="0" rIns="0" bIns="0" rtlCol="0" anchor="ctr"/>
          <a:lstStyle/>
          <a:p>
            <a:pPr algn="ctr" indent="0" marL="0">
              <a:buNone/>
            </a:pPr>
            <a:r>
              <a:rPr lang="en-US" sz="1400" dirty="0">
                <a:solidFill>
                  <a:srgbClr val="14213D"/>
                </a:solidFill>
                <a:latin typeface="Calibri" pitchFamily="34" charset="0"/>
                <a:ea typeface="Calibri" pitchFamily="34" charset="-122"/>
                <a:cs typeface="Calibri" pitchFamily="34" charset="-120"/>
              </a:rPr>
              <a:t>① int i = 1</a:t>
            </a:r>
            <a:endParaRPr lang="en-US" sz="1400" dirty="0"/>
          </a:p>
        </p:txBody>
      </p:sp>
      <p:sp>
        <p:nvSpPr>
          <p:cNvPr id="9" name="Shape 6"/>
          <p:cNvSpPr/>
          <p:nvPr/>
        </p:nvSpPr>
        <p:spPr>
          <a:xfrm>
            <a:off x="1600200" y="2628900"/>
            <a:ext cx="2286000" cy="868680"/>
          </a:xfrm>
          <a:prstGeom prst="flowChartDecision">
            <a:avLst/>
          </a:prstGeom>
          <a:solidFill>
            <a:srgbClr val="E3ECF8"/>
          </a:solidFill>
          <a:ln w="15875">
            <a:solidFill>
              <a:srgbClr val="14213D"/>
            </a:solidFill>
            <a:prstDash val="solid"/>
          </a:ln>
        </p:spPr>
      </p:sp>
      <p:sp>
        <p:nvSpPr>
          <p:cNvPr id="10" name="Text 7"/>
          <p:cNvSpPr txBox="1"/>
          <p:nvPr/>
        </p:nvSpPr>
        <p:spPr>
          <a:xfrm>
            <a:off x="1645920" y="2628900"/>
            <a:ext cx="2194560" cy="868680"/>
          </a:xfrm>
          <a:prstGeom prst="rect">
            <a:avLst/>
          </a:prstGeom>
          <a:noFill/>
          <a:ln/>
        </p:spPr>
        <p:txBody>
          <a:bodyPr wrap="square" lIns="0" tIns="0" rIns="0" bIns="0" rtlCol="0" anchor="ctr"/>
          <a:lstStyle/>
          <a:p>
            <a:pPr algn="ctr" indent="0" marL="0">
              <a:buNone/>
            </a:pPr>
            <a:r>
              <a:rPr lang="en-US" sz="1400" dirty="0">
                <a:solidFill>
                  <a:srgbClr val="14213D"/>
                </a:solidFill>
                <a:latin typeface="Calibri" pitchFamily="34" charset="0"/>
                <a:ea typeface="Calibri" pitchFamily="34" charset="-122"/>
                <a:cs typeface="Calibri" pitchFamily="34" charset="-120"/>
              </a:rPr>
              <a:t>② i &lt;= 3 ?</a:t>
            </a:r>
            <a:endParaRPr lang="en-US" sz="1400" dirty="0"/>
          </a:p>
        </p:txBody>
      </p:sp>
      <p:sp>
        <p:nvSpPr>
          <p:cNvPr id="11" name="Shape 8"/>
          <p:cNvSpPr/>
          <p:nvPr/>
        </p:nvSpPr>
        <p:spPr>
          <a:xfrm>
            <a:off x="1600200" y="4046220"/>
            <a:ext cx="2286000" cy="502920"/>
          </a:xfrm>
          <a:prstGeom prst="flowChartProcess">
            <a:avLst/>
          </a:prstGeom>
          <a:solidFill>
            <a:srgbClr val="EEF1F6"/>
          </a:solidFill>
          <a:ln w="15875">
            <a:solidFill>
              <a:srgbClr val="14213D"/>
            </a:solidFill>
            <a:prstDash val="solid"/>
          </a:ln>
        </p:spPr>
      </p:sp>
      <p:sp>
        <p:nvSpPr>
          <p:cNvPr id="12" name="Text 9"/>
          <p:cNvSpPr txBox="1"/>
          <p:nvPr/>
        </p:nvSpPr>
        <p:spPr>
          <a:xfrm>
            <a:off x="1645920" y="4046220"/>
            <a:ext cx="2194560" cy="502920"/>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③ Console.Write(i);</a:t>
            </a:r>
            <a:endParaRPr lang="en-US" sz="1300" dirty="0"/>
          </a:p>
        </p:txBody>
      </p:sp>
      <p:sp>
        <p:nvSpPr>
          <p:cNvPr id="13" name="Shape 10"/>
          <p:cNvSpPr/>
          <p:nvPr/>
        </p:nvSpPr>
        <p:spPr>
          <a:xfrm>
            <a:off x="1600200" y="5029200"/>
            <a:ext cx="2286000" cy="457200"/>
          </a:xfrm>
          <a:prstGeom prst="flowChartProcess">
            <a:avLst/>
          </a:prstGeom>
          <a:solidFill>
            <a:srgbClr val="E6F4EC"/>
          </a:solidFill>
          <a:ln w="15875">
            <a:solidFill>
              <a:srgbClr val="14213D"/>
            </a:solidFill>
            <a:prstDash val="solid"/>
          </a:ln>
        </p:spPr>
      </p:sp>
      <p:sp>
        <p:nvSpPr>
          <p:cNvPr id="14" name="Text 11"/>
          <p:cNvSpPr txBox="1"/>
          <p:nvPr/>
        </p:nvSpPr>
        <p:spPr>
          <a:xfrm>
            <a:off x="1645920" y="5029200"/>
            <a:ext cx="2194560" cy="457200"/>
          </a:xfrm>
          <a:prstGeom prst="rect">
            <a:avLst/>
          </a:prstGeom>
          <a:noFill/>
          <a:ln/>
        </p:spPr>
        <p:txBody>
          <a:bodyPr wrap="square" lIns="0" tIns="0" rIns="0" bIns="0" rtlCol="0" anchor="ctr"/>
          <a:lstStyle/>
          <a:p>
            <a:pPr algn="ctr" indent="0" marL="0">
              <a:buNone/>
            </a:pPr>
            <a:r>
              <a:rPr lang="en-US" sz="1400" dirty="0">
                <a:solidFill>
                  <a:srgbClr val="14213D"/>
                </a:solidFill>
                <a:latin typeface="Calibri" pitchFamily="34" charset="0"/>
                <a:ea typeface="Calibri" pitchFamily="34" charset="-122"/>
                <a:cs typeface="Calibri" pitchFamily="34" charset="-120"/>
              </a:rPr>
              <a:t>④ i++</a:t>
            </a:r>
            <a:endParaRPr lang="en-US" sz="1400" dirty="0"/>
          </a:p>
        </p:txBody>
      </p:sp>
      <p:sp>
        <p:nvSpPr>
          <p:cNvPr id="15" name="Shape 12"/>
          <p:cNvSpPr/>
          <p:nvPr/>
        </p:nvSpPr>
        <p:spPr>
          <a:xfrm>
            <a:off x="4023360" y="5532120"/>
            <a:ext cx="1371600" cy="457200"/>
          </a:xfrm>
          <a:prstGeom prst="flowChartTerminator">
            <a:avLst/>
          </a:prstGeom>
          <a:solidFill>
            <a:srgbClr val="FFF1D6"/>
          </a:solidFill>
          <a:ln w="15875">
            <a:solidFill>
              <a:srgbClr val="14213D"/>
            </a:solidFill>
            <a:prstDash val="solid"/>
          </a:ln>
        </p:spPr>
      </p:sp>
      <p:sp>
        <p:nvSpPr>
          <p:cNvPr id="16" name="Text 13"/>
          <p:cNvSpPr txBox="1"/>
          <p:nvPr/>
        </p:nvSpPr>
        <p:spPr>
          <a:xfrm>
            <a:off x="4069080" y="5532120"/>
            <a:ext cx="1280160" cy="457200"/>
          </a:xfrm>
          <a:prstGeom prst="rect">
            <a:avLst/>
          </a:prstGeom>
          <a:noFill/>
          <a:ln/>
        </p:spPr>
        <p:txBody>
          <a:bodyPr wrap="square" lIns="0" tIns="0" rIns="0" bIns="0" rtlCol="0" anchor="ctr"/>
          <a:lstStyle/>
          <a:p>
            <a:pPr algn="ctr" indent="0" marL="0">
              <a:buNone/>
            </a:pPr>
            <a:r>
              <a:rPr lang="en-US" sz="1200" dirty="0">
                <a:solidFill>
                  <a:srgbClr val="14213D"/>
                </a:solidFill>
                <a:latin typeface="Calibri" pitchFamily="34" charset="0"/>
                <a:ea typeface="Calibri" pitchFamily="34" charset="-122"/>
                <a:cs typeface="Calibri" pitchFamily="34" charset="-120"/>
              </a:rPr>
              <a:t>after the loop</a:t>
            </a:r>
            <a:endParaRPr lang="en-US" sz="1200" dirty="0"/>
          </a:p>
        </p:txBody>
      </p:sp>
      <p:sp>
        <p:nvSpPr>
          <p:cNvPr id="17" name="Shape 14"/>
          <p:cNvSpPr/>
          <p:nvPr/>
        </p:nvSpPr>
        <p:spPr>
          <a:xfrm>
            <a:off x="2743200" y="2103120"/>
            <a:ext cx="0" cy="525780"/>
          </a:xfrm>
          <a:prstGeom prst="line">
            <a:avLst/>
          </a:prstGeom>
          <a:noFill/>
          <a:ln w="15875">
            <a:solidFill>
              <a:srgbClr val="14213D"/>
            </a:solidFill>
            <a:prstDash val="solid"/>
            <a:tailEnd type="triangle"/>
          </a:ln>
        </p:spPr>
      </p:sp>
      <p:sp>
        <p:nvSpPr>
          <p:cNvPr id="18" name="Shape 15"/>
          <p:cNvSpPr/>
          <p:nvPr/>
        </p:nvSpPr>
        <p:spPr>
          <a:xfrm>
            <a:off x="2743200" y="3497580"/>
            <a:ext cx="0" cy="548640"/>
          </a:xfrm>
          <a:prstGeom prst="line">
            <a:avLst/>
          </a:prstGeom>
          <a:noFill/>
          <a:ln w="15875">
            <a:solidFill>
              <a:srgbClr val="14213D"/>
            </a:solidFill>
            <a:prstDash val="solid"/>
            <a:tailEnd type="triangle"/>
          </a:ln>
        </p:spPr>
      </p:sp>
      <p:sp>
        <p:nvSpPr>
          <p:cNvPr id="19" name="Shape 16"/>
          <p:cNvSpPr/>
          <p:nvPr/>
        </p:nvSpPr>
        <p:spPr>
          <a:xfrm>
            <a:off x="2743200" y="4549140"/>
            <a:ext cx="0" cy="480060"/>
          </a:xfrm>
          <a:prstGeom prst="line">
            <a:avLst/>
          </a:prstGeom>
          <a:noFill/>
          <a:ln w="15875">
            <a:solidFill>
              <a:srgbClr val="14213D"/>
            </a:solidFill>
            <a:prstDash val="solid"/>
            <a:tailEnd type="triangle"/>
          </a:ln>
        </p:spPr>
      </p:sp>
      <p:sp>
        <p:nvSpPr>
          <p:cNvPr id="20" name="Shape 17"/>
          <p:cNvSpPr/>
          <p:nvPr/>
        </p:nvSpPr>
        <p:spPr>
          <a:xfrm flipH="1">
            <a:off x="868680" y="5257800"/>
            <a:ext cx="731520" cy="0"/>
          </a:xfrm>
          <a:prstGeom prst="line">
            <a:avLst/>
          </a:prstGeom>
          <a:noFill/>
          <a:ln w="15875">
            <a:solidFill>
              <a:srgbClr val="14213D"/>
            </a:solidFill>
            <a:prstDash val="solid"/>
          </a:ln>
        </p:spPr>
      </p:sp>
      <p:sp>
        <p:nvSpPr>
          <p:cNvPr id="21" name="Shape 18"/>
          <p:cNvSpPr/>
          <p:nvPr/>
        </p:nvSpPr>
        <p:spPr>
          <a:xfrm flipV="1">
            <a:off x="868680" y="2377440"/>
            <a:ext cx="0" cy="2880360"/>
          </a:xfrm>
          <a:prstGeom prst="line">
            <a:avLst/>
          </a:prstGeom>
          <a:noFill/>
          <a:ln w="15875">
            <a:solidFill>
              <a:srgbClr val="14213D"/>
            </a:solidFill>
            <a:prstDash val="solid"/>
          </a:ln>
        </p:spPr>
      </p:sp>
      <p:sp>
        <p:nvSpPr>
          <p:cNvPr id="22" name="Shape 19"/>
          <p:cNvSpPr/>
          <p:nvPr/>
        </p:nvSpPr>
        <p:spPr>
          <a:xfrm>
            <a:off x="868680" y="2377440"/>
            <a:ext cx="1874520" cy="0"/>
          </a:xfrm>
          <a:prstGeom prst="line">
            <a:avLst/>
          </a:prstGeom>
          <a:noFill/>
          <a:ln w="15875">
            <a:solidFill>
              <a:srgbClr val="14213D"/>
            </a:solidFill>
            <a:prstDash val="solid"/>
            <a:tailEnd type="triangle"/>
          </a:ln>
        </p:spPr>
      </p:sp>
      <p:sp>
        <p:nvSpPr>
          <p:cNvPr id="23" name="Shape 20"/>
          <p:cNvSpPr/>
          <p:nvPr/>
        </p:nvSpPr>
        <p:spPr>
          <a:xfrm>
            <a:off x="3886200" y="3063240"/>
            <a:ext cx="822960" cy="0"/>
          </a:xfrm>
          <a:prstGeom prst="line">
            <a:avLst/>
          </a:prstGeom>
          <a:noFill/>
          <a:ln w="15875">
            <a:solidFill>
              <a:srgbClr val="14213D"/>
            </a:solidFill>
            <a:prstDash val="solid"/>
          </a:ln>
        </p:spPr>
      </p:sp>
      <p:sp>
        <p:nvSpPr>
          <p:cNvPr id="24" name="Shape 21"/>
          <p:cNvSpPr/>
          <p:nvPr/>
        </p:nvSpPr>
        <p:spPr>
          <a:xfrm>
            <a:off x="4709160" y="3063240"/>
            <a:ext cx="0" cy="2468880"/>
          </a:xfrm>
          <a:prstGeom prst="line">
            <a:avLst/>
          </a:prstGeom>
          <a:noFill/>
          <a:ln w="15875">
            <a:solidFill>
              <a:srgbClr val="14213D"/>
            </a:solidFill>
            <a:prstDash val="solid"/>
            <a:tailEnd type="triangle"/>
          </a:ln>
        </p:spPr>
      </p:sp>
      <p:sp>
        <p:nvSpPr>
          <p:cNvPr id="25" name="Text 22"/>
          <p:cNvSpPr txBox="1"/>
          <p:nvPr/>
        </p:nvSpPr>
        <p:spPr>
          <a:xfrm>
            <a:off x="2816352" y="3479292"/>
            <a:ext cx="548640" cy="228600"/>
          </a:xfrm>
          <a:prstGeom prst="rect">
            <a:avLst/>
          </a:prstGeom>
          <a:noFill/>
          <a:ln/>
        </p:spPr>
        <p:txBody>
          <a:bodyPr wrap="square" lIns="0" tIns="0" rIns="0" bIns="0" rtlCol="0" anchor="ctr"/>
          <a:lstStyle/>
          <a:p>
            <a:pPr indent="0" marL="0">
              <a:buNone/>
            </a:pPr>
            <a:r>
              <a:rPr lang="en-US" sz="1200" b="1" dirty="0">
                <a:solidFill>
                  <a:srgbClr val="2E9E6A"/>
                </a:solidFill>
                <a:latin typeface="Calibri" pitchFamily="34" charset="0"/>
                <a:ea typeface="Calibri" pitchFamily="34" charset="-122"/>
                <a:cs typeface="Calibri" pitchFamily="34" charset="-120"/>
              </a:rPr>
              <a:t>true</a:t>
            </a:r>
            <a:endParaRPr lang="en-US" sz="1200" dirty="0"/>
          </a:p>
        </p:txBody>
      </p:sp>
      <p:sp>
        <p:nvSpPr>
          <p:cNvPr id="26" name="Text 23"/>
          <p:cNvSpPr txBox="1"/>
          <p:nvPr/>
        </p:nvSpPr>
        <p:spPr>
          <a:xfrm>
            <a:off x="3931920" y="2788920"/>
            <a:ext cx="548640" cy="228600"/>
          </a:xfrm>
          <a:prstGeom prst="rect">
            <a:avLst/>
          </a:prstGeom>
          <a:noFill/>
          <a:ln/>
        </p:spPr>
        <p:txBody>
          <a:bodyPr wrap="square" lIns="0" tIns="0" rIns="0" bIns="0" rtlCol="0" anchor="ctr"/>
          <a:lstStyle/>
          <a:p>
            <a:pPr indent="0" marL="0">
              <a:buNone/>
            </a:pPr>
            <a:r>
              <a:rPr lang="en-US" sz="1200" b="1" dirty="0">
                <a:solidFill>
                  <a:srgbClr val="C8453B"/>
                </a:solidFill>
                <a:latin typeface="Calibri" pitchFamily="34" charset="0"/>
                <a:ea typeface="Calibri" pitchFamily="34" charset="-122"/>
                <a:cs typeface="Calibri" pitchFamily="34" charset="-120"/>
              </a:rPr>
              <a:t>false</a:t>
            </a:r>
            <a:endParaRPr lang="en-US" sz="1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760720" y="1645920"/>
          <a:ext cx="5897880" cy="914400"/>
        </p:xfrm>
        <a:graphic>
          <a:graphicData uri="http://schemas.openxmlformats.org/drawingml/2006/table">
            <a:tbl>
              <a:tblPr/>
              <a:tblGrid>
                <a:gridCol w="548640"/>
                <a:gridCol w="1234440"/>
                <a:gridCol w="2926080"/>
                <a:gridCol w="1188720"/>
              </a:tblGrid>
              <a:tr h="338328">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Part</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What happens</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Output</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338328">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① init</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i = 1</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338328">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② test</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1 &lt;= 3 → true</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338328">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③ body</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Write(1)</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1</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338328">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④ update</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i++ → i = 2</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338328">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5</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② test</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2 &lt;= 3 → true</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338328">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6</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③ body</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Write(2)</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12</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338328">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7</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④ update</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i++ → i = 3</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338328">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8</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② test</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3 &lt;= 3 → true</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338328">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9</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③ body</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Write(3)</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123</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338328">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10</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④ update</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i++ → i = 4</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338328">
                <a:tc>
                  <a:txBody>
                    <a:bodyPr/>
                    <a:lstStyle/>
                    <a:p>
                      <a:pPr algn="l" indent="0" marL="0">
                        <a:buNone/>
                      </a:pPr>
                      <a:r>
                        <a:rPr lang="en-US" sz="1300" b="1" dirty="0">
                          <a:solidFill>
                            <a:srgbClr val="14213D"/>
                          </a:solidFill>
                          <a:latin typeface="Calibri" pitchFamily="34" charset="0"/>
                          <a:ea typeface="Calibri" pitchFamily="34" charset="-122"/>
                          <a:cs typeface="Calibri" pitchFamily="34" charset="-120"/>
                        </a:rPr>
                        <a:t>11</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b="1" dirty="0">
                          <a:solidFill>
                            <a:srgbClr val="14213D"/>
                          </a:solidFill>
                          <a:latin typeface="Calibri" pitchFamily="34" charset="0"/>
                          <a:ea typeface="Calibri" pitchFamily="34" charset="-122"/>
                          <a:cs typeface="Calibri" pitchFamily="34" charset="-120"/>
                        </a:rPr>
                        <a:t>② test</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b="1" dirty="0">
                          <a:solidFill>
                            <a:srgbClr val="C8453B"/>
                          </a:solidFill>
                          <a:latin typeface="Courier New" pitchFamily="34" charset="0"/>
                          <a:ea typeface="Courier New" pitchFamily="34" charset="-122"/>
                          <a:cs typeface="Courier New" pitchFamily="34" charset="-120"/>
                        </a:rPr>
                        <a:t>4 &lt;= 3 → false: exit</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b="1" dirty="0">
                          <a:solidFill>
                            <a:srgbClr val="14213D"/>
                          </a:solidFill>
                          <a:latin typeface="Courier New" pitchFamily="34" charset="0"/>
                          <a:ea typeface="Courier New" pitchFamily="34" charset="-122"/>
                          <a:cs typeface="Courier New" pitchFamily="34" charset="-120"/>
                        </a:rPr>
                        <a:t>123</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FLOWCHART · PSEUDOCODE · C#</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The for Loop as a Flowchart, in Pseudocode and in C#</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6</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8</a:t>
            </a:r>
            <a:endParaRPr lang="en-US" sz="1000" dirty="0"/>
          </a:p>
        </p:txBody>
      </p:sp>
      <p:sp>
        <p:nvSpPr>
          <p:cNvPr id="7" name="Shape 4"/>
          <p:cNvSpPr/>
          <p:nvPr/>
        </p:nvSpPr>
        <p:spPr>
          <a:xfrm>
            <a:off x="1920240" y="1604772"/>
            <a:ext cx="1463040" cy="411480"/>
          </a:xfrm>
          <a:prstGeom prst="flowChartTerminator">
            <a:avLst/>
          </a:prstGeom>
          <a:solidFill>
            <a:srgbClr val="FFF1D6"/>
          </a:solidFill>
          <a:ln w="15875">
            <a:solidFill>
              <a:srgbClr val="14213D"/>
            </a:solidFill>
            <a:prstDash val="solid"/>
          </a:ln>
        </p:spPr>
      </p:sp>
      <p:sp>
        <p:nvSpPr>
          <p:cNvPr id="8" name="Text 5"/>
          <p:cNvSpPr txBox="1"/>
          <p:nvPr/>
        </p:nvSpPr>
        <p:spPr>
          <a:xfrm>
            <a:off x="1965960" y="1604772"/>
            <a:ext cx="1371600" cy="411480"/>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Start</a:t>
            </a:r>
            <a:endParaRPr lang="en-US" sz="1300" dirty="0"/>
          </a:p>
        </p:txBody>
      </p:sp>
      <p:sp>
        <p:nvSpPr>
          <p:cNvPr id="9" name="Shape 6"/>
          <p:cNvSpPr/>
          <p:nvPr/>
        </p:nvSpPr>
        <p:spPr>
          <a:xfrm>
            <a:off x="1737360" y="2221992"/>
            <a:ext cx="1828800" cy="457200"/>
          </a:xfrm>
          <a:prstGeom prst="flowChartInputOutput">
            <a:avLst/>
          </a:prstGeom>
          <a:solidFill>
            <a:srgbClr val="FFFFFF"/>
          </a:solidFill>
          <a:ln w="15875">
            <a:solidFill>
              <a:srgbClr val="14213D"/>
            </a:solidFill>
            <a:prstDash val="solid"/>
          </a:ln>
        </p:spPr>
      </p:sp>
      <p:sp>
        <p:nvSpPr>
          <p:cNvPr id="10" name="Text 7"/>
          <p:cNvSpPr txBox="1"/>
          <p:nvPr/>
        </p:nvSpPr>
        <p:spPr>
          <a:xfrm>
            <a:off x="1783080" y="2221992"/>
            <a:ext cx="1737360" cy="457200"/>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Read n</a:t>
            </a:r>
            <a:endParaRPr lang="en-US" sz="1300" dirty="0"/>
          </a:p>
        </p:txBody>
      </p:sp>
      <p:sp>
        <p:nvSpPr>
          <p:cNvPr id="11" name="Shape 8"/>
          <p:cNvSpPr/>
          <p:nvPr/>
        </p:nvSpPr>
        <p:spPr>
          <a:xfrm>
            <a:off x="1920240" y="2862072"/>
            <a:ext cx="1463040" cy="457200"/>
          </a:xfrm>
          <a:prstGeom prst="flowChartProcess">
            <a:avLst/>
          </a:prstGeom>
          <a:solidFill>
            <a:srgbClr val="FFF1D6"/>
          </a:solidFill>
          <a:ln w="15875">
            <a:solidFill>
              <a:srgbClr val="14213D"/>
            </a:solidFill>
            <a:prstDash val="solid"/>
          </a:ln>
        </p:spPr>
      </p:sp>
      <p:sp>
        <p:nvSpPr>
          <p:cNvPr id="12" name="Text 9"/>
          <p:cNvSpPr txBox="1"/>
          <p:nvPr/>
        </p:nvSpPr>
        <p:spPr>
          <a:xfrm>
            <a:off x="1965960" y="2862072"/>
            <a:ext cx="1371600" cy="457200"/>
          </a:xfrm>
          <a:prstGeom prst="rect">
            <a:avLst/>
          </a:prstGeom>
          <a:noFill/>
          <a:ln/>
        </p:spPr>
        <p:txBody>
          <a:bodyPr wrap="square" lIns="0" tIns="0" rIns="0" bIns="0" rtlCol="0" anchor="ctr"/>
          <a:lstStyle/>
          <a:p>
            <a:pPr algn="ctr" indent="0" marL="0">
              <a:buNone/>
            </a:pPr>
            <a:r>
              <a:rPr lang="en-US" sz="1400" dirty="0">
                <a:solidFill>
                  <a:srgbClr val="14213D"/>
                </a:solidFill>
                <a:latin typeface="Calibri" pitchFamily="34" charset="0"/>
                <a:ea typeface="Calibri" pitchFamily="34" charset="-122"/>
                <a:cs typeface="Calibri" pitchFamily="34" charset="-120"/>
              </a:rPr>
              <a:t>i ← 1</a:t>
            </a:r>
            <a:endParaRPr lang="en-US" sz="1400" dirty="0"/>
          </a:p>
        </p:txBody>
      </p:sp>
      <p:sp>
        <p:nvSpPr>
          <p:cNvPr id="13" name="Shape 10"/>
          <p:cNvSpPr/>
          <p:nvPr/>
        </p:nvSpPr>
        <p:spPr>
          <a:xfrm>
            <a:off x="1737360" y="3657600"/>
            <a:ext cx="1828800" cy="731520"/>
          </a:xfrm>
          <a:prstGeom prst="flowChartDecision">
            <a:avLst/>
          </a:prstGeom>
          <a:solidFill>
            <a:srgbClr val="E3ECF8"/>
          </a:solidFill>
          <a:ln w="15875">
            <a:solidFill>
              <a:srgbClr val="14213D"/>
            </a:solidFill>
            <a:prstDash val="solid"/>
          </a:ln>
        </p:spPr>
      </p:sp>
      <p:sp>
        <p:nvSpPr>
          <p:cNvPr id="14" name="Text 11"/>
          <p:cNvSpPr txBox="1"/>
          <p:nvPr/>
        </p:nvSpPr>
        <p:spPr>
          <a:xfrm>
            <a:off x="1783080" y="3657600"/>
            <a:ext cx="1737360" cy="731520"/>
          </a:xfrm>
          <a:prstGeom prst="rect">
            <a:avLst/>
          </a:prstGeom>
          <a:noFill/>
          <a:ln/>
        </p:spPr>
        <p:txBody>
          <a:bodyPr wrap="square" lIns="0" tIns="0" rIns="0" bIns="0" rtlCol="0" anchor="ctr"/>
          <a:lstStyle/>
          <a:p>
            <a:pPr algn="ctr" indent="0" marL="0">
              <a:buNone/>
            </a:pPr>
            <a:r>
              <a:rPr lang="en-US" sz="1400" dirty="0">
                <a:solidFill>
                  <a:srgbClr val="14213D"/>
                </a:solidFill>
                <a:latin typeface="Calibri" pitchFamily="34" charset="0"/>
                <a:ea typeface="Calibri" pitchFamily="34" charset="-122"/>
                <a:cs typeface="Calibri" pitchFamily="34" charset="-120"/>
              </a:rPr>
              <a:t>i ≤ n ?</a:t>
            </a:r>
            <a:endParaRPr lang="en-US" sz="1400" dirty="0"/>
          </a:p>
        </p:txBody>
      </p:sp>
      <p:sp>
        <p:nvSpPr>
          <p:cNvPr id="15" name="Shape 12"/>
          <p:cNvSpPr/>
          <p:nvPr/>
        </p:nvSpPr>
        <p:spPr>
          <a:xfrm>
            <a:off x="1828800" y="4663440"/>
            <a:ext cx="1645920" cy="457200"/>
          </a:xfrm>
          <a:prstGeom prst="flowChartInputOutput">
            <a:avLst/>
          </a:prstGeom>
          <a:solidFill>
            <a:srgbClr val="FFFFFF"/>
          </a:solidFill>
          <a:ln w="15875">
            <a:solidFill>
              <a:srgbClr val="14213D"/>
            </a:solidFill>
            <a:prstDash val="solid"/>
          </a:ln>
        </p:spPr>
      </p:sp>
      <p:sp>
        <p:nvSpPr>
          <p:cNvPr id="16" name="Text 13"/>
          <p:cNvSpPr txBox="1"/>
          <p:nvPr/>
        </p:nvSpPr>
        <p:spPr>
          <a:xfrm>
            <a:off x="1874520" y="4663440"/>
            <a:ext cx="1554480" cy="457200"/>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Print i</a:t>
            </a:r>
            <a:endParaRPr lang="en-US" sz="1300" dirty="0"/>
          </a:p>
        </p:txBody>
      </p:sp>
      <p:sp>
        <p:nvSpPr>
          <p:cNvPr id="17" name="Shape 14"/>
          <p:cNvSpPr/>
          <p:nvPr/>
        </p:nvSpPr>
        <p:spPr>
          <a:xfrm>
            <a:off x="1920240" y="5372100"/>
            <a:ext cx="1463040" cy="411480"/>
          </a:xfrm>
          <a:prstGeom prst="flowChartProcess">
            <a:avLst/>
          </a:prstGeom>
          <a:solidFill>
            <a:srgbClr val="E6F4EC"/>
          </a:solidFill>
          <a:ln w="15875">
            <a:solidFill>
              <a:srgbClr val="14213D"/>
            </a:solidFill>
            <a:prstDash val="solid"/>
          </a:ln>
        </p:spPr>
      </p:sp>
      <p:sp>
        <p:nvSpPr>
          <p:cNvPr id="18" name="Text 15"/>
          <p:cNvSpPr txBox="1"/>
          <p:nvPr/>
        </p:nvSpPr>
        <p:spPr>
          <a:xfrm>
            <a:off x="1965960" y="5372100"/>
            <a:ext cx="1371600" cy="411480"/>
          </a:xfrm>
          <a:prstGeom prst="rect">
            <a:avLst/>
          </a:prstGeom>
          <a:noFill/>
          <a:ln/>
        </p:spPr>
        <p:txBody>
          <a:bodyPr wrap="square" lIns="0" tIns="0" rIns="0" bIns="0" rtlCol="0" anchor="ctr"/>
          <a:lstStyle/>
          <a:p>
            <a:pPr algn="ctr" indent="0" marL="0">
              <a:buNone/>
            </a:pPr>
            <a:r>
              <a:rPr lang="en-US" sz="1400" dirty="0">
                <a:solidFill>
                  <a:srgbClr val="14213D"/>
                </a:solidFill>
                <a:latin typeface="Calibri" pitchFamily="34" charset="0"/>
                <a:ea typeface="Calibri" pitchFamily="34" charset="-122"/>
                <a:cs typeface="Calibri" pitchFamily="34" charset="-120"/>
              </a:rPr>
              <a:t>i ← i + 1</a:t>
            </a:r>
            <a:endParaRPr lang="en-US" sz="1400" dirty="0"/>
          </a:p>
        </p:txBody>
      </p:sp>
      <p:sp>
        <p:nvSpPr>
          <p:cNvPr id="19" name="Shape 16"/>
          <p:cNvSpPr/>
          <p:nvPr/>
        </p:nvSpPr>
        <p:spPr>
          <a:xfrm>
            <a:off x="4160520" y="4686300"/>
            <a:ext cx="1188720" cy="411480"/>
          </a:xfrm>
          <a:prstGeom prst="flowChartTerminator">
            <a:avLst/>
          </a:prstGeom>
          <a:solidFill>
            <a:srgbClr val="FFF1D6"/>
          </a:solidFill>
          <a:ln w="15875">
            <a:solidFill>
              <a:srgbClr val="14213D"/>
            </a:solidFill>
            <a:prstDash val="solid"/>
          </a:ln>
        </p:spPr>
      </p:sp>
      <p:sp>
        <p:nvSpPr>
          <p:cNvPr id="20" name="Text 17"/>
          <p:cNvSpPr txBox="1"/>
          <p:nvPr/>
        </p:nvSpPr>
        <p:spPr>
          <a:xfrm>
            <a:off x="4206240" y="4686300"/>
            <a:ext cx="1097280" cy="411480"/>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End</a:t>
            </a:r>
            <a:endParaRPr lang="en-US" sz="1300" dirty="0"/>
          </a:p>
        </p:txBody>
      </p:sp>
      <p:sp>
        <p:nvSpPr>
          <p:cNvPr id="21" name="Shape 18"/>
          <p:cNvSpPr/>
          <p:nvPr/>
        </p:nvSpPr>
        <p:spPr>
          <a:xfrm>
            <a:off x="2651760" y="2016252"/>
            <a:ext cx="0" cy="205740"/>
          </a:xfrm>
          <a:prstGeom prst="line">
            <a:avLst/>
          </a:prstGeom>
          <a:noFill/>
          <a:ln w="15875">
            <a:solidFill>
              <a:srgbClr val="14213D"/>
            </a:solidFill>
            <a:prstDash val="solid"/>
            <a:tailEnd type="triangle"/>
          </a:ln>
        </p:spPr>
      </p:sp>
      <p:sp>
        <p:nvSpPr>
          <p:cNvPr id="22" name="Shape 19"/>
          <p:cNvSpPr/>
          <p:nvPr/>
        </p:nvSpPr>
        <p:spPr>
          <a:xfrm>
            <a:off x="2651760" y="2679192"/>
            <a:ext cx="0" cy="182880"/>
          </a:xfrm>
          <a:prstGeom prst="line">
            <a:avLst/>
          </a:prstGeom>
          <a:noFill/>
          <a:ln w="15875">
            <a:solidFill>
              <a:srgbClr val="14213D"/>
            </a:solidFill>
            <a:prstDash val="solid"/>
            <a:tailEnd type="triangle"/>
          </a:ln>
        </p:spPr>
      </p:sp>
      <p:sp>
        <p:nvSpPr>
          <p:cNvPr id="23" name="Shape 20"/>
          <p:cNvSpPr/>
          <p:nvPr/>
        </p:nvSpPr>
        <p:spPr>
          <a:xfrm>
            <a:off x="2651760" y="3319272"/>
            <a:ext cx="0" cy="338328"/>
          </a:xfrm>
          <a:prstGeom prst="line">
            <a:avLst/>
          </a:prstGeom>
          <a:noFill/>
          <a:ln w="15875">
            <a:solidFill>
              <a:srgbClr val="14213D"/>
            </a:solidFill>
            <a:prstDash val="solid"/>
            <a:tailEnd type="triangle"/>
          </a:ln>
        </p:spPr>
      </p:sp>
      <p:sp>
        <p:nvSpPr>
          <p:cNvPr id="24" name="Shape 21"/>
          <p:cNvSpPr/>
          <p:nvPr/>
        </p:nvSpPr>
        <p:spPr>
          <a:xfrm>
            <a:off x="2651760" y="4389120"/>
            <a:ext cx="0" cy="274320"/>
          </a:xfrm>
          <a:prstGeom prst="line">
            <a:avLst/>
          </a:prstGeom>
          <a:noFill/>
          <a:ln w="15875">
            <a:solidFill>
              <a:srgbClr val="14213D"/>
            </a:solidFill>
            <a:prstDash val="solid"/>
            <a:tailEnd type="triangle"/>
          </a:ln>
        </p:spPr>
      </p:sp>
      <p:sp>
        <p:nvSpPr>
          <p:cNvPr id="25" name="Shape 22"/>
          <p:cNvSpPr/>
          <p:nvPr/>
        </p:nvSpPr>
        <p:spPr>
          <a:xfrm>
            <a:off x="2651760" y="5120640"/>
            <a:ext cx="0" cy="251460"/>
          </a:xfrm>
          <a:prstGeom prst="line">
            <a:avLst/>
          </a:prstGeom>
          <a:noFill/>
          <a:ln w="15875">
            <a:solidFill>
              <a:srgbClr val="14213D"/>
            </a:solidFill>
            <a:prstDash val="solid"/>
            <a:tailEnd type="triangle"/>
          </a:ln>
        </p:spPr>
      </p:sp>
      <p:sp>
        <p:nvSpPr>
          <p:cNvPr id="26" name="Shape 23"/>
          <p:cNvSpPr/>
          <p:nvPr/>
        </p:nvSpPr>
        <p:spPr>
          <a:xfrm flipH="1">
            <a:off x="914400" y="5577840"/>
            <a:ext cx="1005840" cy="0"/>
          </a:xfrm>
          <a:prstGeom prst="line">
            <a:avLst/>
          </a:prstGeom>
          <a:noFill/>
          <a:ln w="15875">
            <a:solidFill>
              <a:srgbClr val="14213D"/>
            </a:solidFill>
            <a:prstDash val="solid"/>
          </a:ln>
        </p:spPr>
      </p:sp>
      <p:sp>
        <p:nvSpPr>
          <p:cNvPr id="27" name="Shape 24"/>
          <p:cNvSpPr/>
          <p:nvPr/>
        </p:nvSpPr>
        <p:spPr>
          <a:xfrm flipV="1">
            <a:off x="914400" y="3493008"/>
            <a:ext cx="0" cy="2084832"/>
          </a:xfrm>
          <a:prstGeom prst="line">
            <a:avLst/>
          </a:prstGeom>
          <a:noFill/>
          <a:ln w="15875">
            <a:solidFill>
              <a:srgbClr val="14213D"/>
            </a:solidFill>
            <a:prstDash val="solid"/>
          </a:ln>
        </p:spPr>
      </p:sp>
      <p:sp>
        <p:nvSpPr>
          <p:cNvPr id="28" name="Shape 25"/>
          <p:cNvSpPr/>
          <p:nvPr/>
        </p:nvSpPr>
        <p:spPr>
          <a:xfrm>
            <a:off x="914400" y="3493008"/>
            <a:ext cx="1737360" cy="0"/>
          </a:xfrm>
          <a:prstGeom prst="line">
            <a:avLst/>
          </a:prstGeom>
          <a:noFill/>
          <a:ln w="15875">
            <a:solidFill>
              <a:srgbClr val="14213D"/>
            </a:solidFill>
            <a:prstDash val="solid"/>
            <a:tailEnd type="triangle"/>
          </a:ln>
        </p:spPr>
      </p:sp>
      <p:sp>
        <p:nvSpPr>
          <p:cNvPr id="29" name="Shape 26"/>
          <p:cNvSpPr/>
          <p:nvPr/>
        </p:nvSpPr>
        <p:spPr>
          <a:xfrm>
            <a:off x="3566160" y="4023360"/>
            <a:ext cx="1188720" cy="0"/>
          </a:xfrm>
          <a:prstGeom prst="line">
            <a:avLst/>
          </a:prstGeom>
          <a:noFill/>
          <a:ln w="15875">
            <a:solidFill>
              <a:srgbClr val="14213D"/>
            </a:solidFill>
            <a:prstDash val="solid"/>
          </a:ln>
        </p:spPr>
      </p:sp>
      <p:sp>
        <p:nvSpPr>
          <p:cNvPr id="30" name="Shape 27"/>
          <p:cNvSpPr/>
          <p:nvPr/>
        </p:nvSpPr>
        <p:spPr>
          <a:xfrm>
            <a:off x="4754880" y="4023360"/>
            <a:ext cx="0" cy="662940"/>
          </a:xfrm>
          <a:prstGeom prst="line">
            <a:avLst/>
          </a:prstGeom>
          <a:noFill/>
          <a:ln w="15875">
            <a:solidFill>
              <a:srgbClr val="14213D"/>
            </a:solidFill>
            <a:prstDash val="solid"/>
            <a:tailEnd type="triangle"/>
          </a:ln>
        </p:spPr>
      </p:sp>
      <p:sp>
        <p:nvSpPr>
          <p:cNvPr id="31" name="Text 28"/>
          <p:cNvSpPr txBox="1"/>
          <p:nvPr/>
        </p:nvSpPr>
        <p:spPr>
          <a:xfrm>
            <a:off x="2724912" y="4352544"/>
            <a:ext cx="548640" cy="228600"/>
          </a:xfrm>
          <a:prstGeom prst="rect">
            <a:avLst/>
          </a:prstGeom>
          <a:noFill/>
          <a:ln/>
        </p:spPr>
        <p:txBody>
          <a:bodyPr wrap="square" lIns="0" tIns="0" rIns="0" bIns="0" rtlCol="0" anchor="ctr"/>
          <a:lstStyle/>
          <a:p>
            <a:pPr indent="0" marL="0">
              <a:buNone/>
            </a:pPr>
            <a:r>
              <a:rPr lang="en-US" sz="1200" b="1" dirty="0">
                <a:solidFill>
                  <a:srgbClr val="2E9E6A"/>
                </a:solidFill>
                <a:latin typeface="Calibri" pitchFamily="34" charset="0"/>
                <a:ea typeface="Calibri" pitchFamily="34" charset="-122"/>
                <a:cs typeface="Calibri" pitchFamily="34" charset="-120"/>
              </a:rPr>
              <a:t>yes</a:t>
            </a:r>
            <a:endParaRPr lang="en-US" sz="1200" dirty="0"/>
          </a:p>
        </p:txBody>
      </p:sp>
      <p:sp>
        <p:nvSpPr>
          <p:cNvPr id="32" name="Text 29"/>
          <p:cNvSpPr txBox="1"/>
          <p:nvPr/>
        </p:nvSpPr>
        <p:spPr>
          <a:xfrm>
            <a:off x="3611880" y="3749040"/>
            <a:ext cx="548640" cy="228600"/>
          </a:xfrm>
          <a:prstGeom prst="rect">
            <a:avLst/>
          </a:prstGeom>
          <a:noFill/>
          <a:ln/>
        </p:spPr>
        <p:txBody>
          <a:bodyPr wrap="square" lIns="0" tIns="0" rIns="0" bIns="0" rtlCol="0" anchor="ctr"/>
          <a:lstStyle/>
          <a:p>
            <a:pPr indent="0" marL="0">
              <a:buNone/>
            </a:pPr>
            <a:r>
              <a:rPr lang="en-US" sz="1200" b="1" dirty="0">
                <a:solidFill>
                  <a:srgbClr val="C8453B"/>
                </a:solidFill>
                <a:latin typeface="Calibri" pitchFamily="34" charset="0"/>
                <a:ea typeface="Calibri" pitchFamily="34" charset="-122"/>
                <a:cs typeface="Calibri" pitchFamily="34" charset="-120"/>
              </a:rPr>
              <a:t>no</a:t>
            </a:r>
            <a:endParaRPr lang="en-US" sz="1200" dirty="0"/>
          </a:p>
        </p:txBody>
      </p:sp>
      <p:sp>
        <p:nvSpPr>
          <p:cNvPr id="33" name="Shape 30"/>
          <p:cNvSpPr/>
          <p:nvPr/>
        </p:nvSpPr>
        <p:spPr>
          <a:xfrm>
            <a:off x="5852160" y="1645920"/>
            <a:ext cx="5806440" cy="2103120"/>
          </a:xfrm>
          <a:prstGeom prst="roundRect">
            <a:avLst>
              <a:gd name="adj" fmla="val 3478"/>
            </a:avLst>
          </a:prstGeom>
          <a:solidFill>
            <a:srgbClr val="F4F6FA"/>
          </a:solidFill>
          <a:ln w="9525">
            <a:solidFill>
              <a:srgbClr val="C9D0DD"/>
            </a:solidFill>
            <a:prstDash val="solid"/>
          </a:ln>
        </p:spPr>
      </p:sp>
      <p:sp>
        <p:nvSpPr>
          <p:cNvPr id="34" name="Text 31"/>
          <p:cNvSpPr txBox="1"/>
          <p:nvPr/>
        </p:nvSpPr>
        <p:spPr>
          <a:xfrm>
            <a:off x="6035040" y="1737360"/>
            <a:ext cx="5440680" cy="274320"/>
          </a:xfrm>
          <a:prstGeom prst="rect">
            <a:avLst/>
          </a:prstGeom>
          <a:noFill/>
          <a:ln/>
        </p:spPr>
        <p:txBody>
          <a:bodyPr wrap="square" lIns="0" tIns="0" rIns="0" bIns="0" rtlCol="0" anchor="ctr"/>
          <a:lstStyle/>
          <a:p>
            <a:pPr indent="0" marL="0">
              <a:buNone/>
            </a:pPr>
            <a:r>
              <a:rPr lang="en-US" sz="1200" b="1" dirty="0">
                <a:solidFill>
                  <a:srgbClr val="5B6478"/>
                </a:solidFill>
                <a:latin typeface="Calibri" pitchFamily="34" charset="0"/>
                <a:ea typeface="Calibri" pitchFamily="34" charset="-122"/>
                <a:cs typeface="Calibri" pitchFamily="34" charset="-120"/>
              </a:rPr>
              <a:t>Pseudocode</a:t>
            </a:r>
            <a:endParaRPr lang="en-US" sz="1200" dirty="0"/>
          </a:p>
        </p:txBody>
      </p:sp>
      <p:sp>
        <p:nvSpPr>
          <p:cNvPr id="35" name="Text 32"/>
          <p:cNvSpPr txBox="1"/>
          <p:nvPr/>
        </p:nvSpPr>
        <p:spPr>
          <a:xfrm>
            <a:off x="6035040" y="2057400"/>
            <a:ext cx="5440680" cy="1600200"/>
          </a:xfrm>
          <a:prstGeom prst="rect">
            <a:avLst/>
          </a:prstGeom>
          <a:noFill/>
          <a:ln/>
        </p:spPr>
        <p:txBody>
          <a:bodyPr wrap="square" lIns="0" tIns="0" rIns="0" bIns="0" rtlCol="0" anchor="t"/>
          <a:lstStyle/>
          <a:p>
            <a:pPr indent="0" marL="0">
              <a:spcAft>
                <a:spcPts val="100"/>
              </a:spcAft>
              <a:buNone/>
            </a:pPr>
            <a:r>
              <a:rPr lang="en-US" sz="1500" b="1" dirty="0">
                <a:solidFill>
                  <a:srgbClr val="2F6FB3"/>
                </a:solidFill>
                <a:latin typeface="Courier New" pitchFamily="34" charset="0"/>
                <a:ea typeface="Courier New" pitchFamily="34" charset="-122"/>
                <a:cs typeface="Courier New" pitchFamily="34" charset="-120"/>
              </a:rPr>
              <a:t>START</a:t>
            </a:r>
            <a:endParaRPr lang="en-US" sz="1500" dirty="0"/>
          </a:p>
          <a:p>
            <a:pPr indent="0" marL="0">
              <a:spcAft>
                <a:spcPts val="100"/>
              </a:spcAft>
              <a:buNone/>
            </a:pPr>
            <a:r>
              <a:rPr lang="en-US" sz="1500" dirty="0">
                <a:solidFill>
                  <a:srgbClr val="14213D"/>
                </a:solidFill>
                <a:latin typeface="Courier New" pitchFamily="34" charset="0"/>
                <a:ea typeface="Courier New" pitchFamily="34" charset="-122"/>
                <a:cs typeface="Courier New" pitchFamily="34" charset="-120"/>
              </a:rPr>
              <a:t>  </a:t>
            </a:r>
            <a:pPr indent="0" marL="0">
              <a:spcAft>
                <a:spcPts val="100"/>
              </a:spcAft>
              <a:buNone/>
            </a:pPr>
            <a:r>
              <a:rPr lang="en-US" sz="1500" b="1" dirty="0">
                <a:solidFill>
                  <a:srgbClr val="2F6FB3"/>
                </a:solidFill>
                <a:latin typeface="Courier New" pitchFamily="34" charset="0"/>
                <a:ea typeface="Courier New" pitchFamily="34" charset="-122"/>
                <a:cs typeface="Courier New" pitchFamily="34" charset="-120"/>
              </a:rPr>
              <a:t>READ</a:t>
            </a:r>
            <a:pPr indent="0" marL="0">
              <a:spcAft>
                <a:spcPts val="100"/>
              </a:spcAft>
              <a:buNone/>
            </a:pPr>
            <a:r>
              <a:rPr lang="en-US" sz="1500" dirty="0">
                <a:solidFill>
                  <a:srgbClr val="14213D"/>
                </a:solidFill>
                <a:latin typeface="Courier New" pitchFamily="34" charset="0"/>
                <a:ea typeface="Courier New" pitchFamily="34" charset="-122"/>
                <a:cs typeface="Courier New" pitchFamily="34" charset="-120"/>
              </a:rPr>
              <a:t> n</a:t>
            </a:r>
            <a:endParaRPr lang="en-US" sz="1500" dirty="0"/>
          </a:p>
          <a:p>
            <a:pPr indent="0" marL="0">
              <a:spcAft>
                <a:spcPts val="100"/>
              </a:spcAft>
              <a:buNone/>
            </a:pPr>
            <a:r>
              <a:rPr lang="en-US" sz="1500" dirty="0">
                <a:solidFill>
                  <a:srgbClr val="14213D"/>
                </a:solidFill>
                <a:latin typeface="Courier New" pitchFamily="34" charset="0"/>
                <a:ea typeface="Courier New" pitchFamily="34" charset="-122"/>
                <a:cs typeface="Courier New" pitchFamily="34" charset="-120"/>
              </a:rPr>
              <a:t>  </a:t>
            </a:r>
            <a:pPr indent="0" marL="0">
              <a:spcAft>
                <a:spcPts val="100"/>
              </a:spcAft>
              <a:buNone/>
            </a:pPr>
            <a:r>
              <a:rPr lang="en-US" sz="1500" b="1" dirty="0">
                <a:solidFill>
                  <a:srgbClr val="2F6FB3"/>
                </a:solidFill>
                <a:latin typeface="Courier New" pitchFamily="34" charset="0"/>
                <a:ea typeface="Courier New" pitchFamily="34" charset="-122"/>
                <a:cs typeface="Courier New" pitchFamily="34" charset="-120"/>
              </a:rPr>
              <a:t>FOR</a:t>
            </a:r>
            <a:pPr indent="0" marL="0">
              <a:spcAft>
                <a:spcPts val="100"/>
              </a:spcAft>
              <a:buNone/>
            </a:pPr>
            <a:r>
              <a:rPr lang="en-US" sz="1500" dirty="0">
                <a:solidFill>
                  <a:srgbClr val="14213D"/>
                </a:solidFill>
                <a:latin typeface="Courier New" pitchFamily="34" charset="0"/>
                <a:ea typeface="Courier New" pitchFamily="34" charset="-122"/>
                <a:cs typeface="Courier New" pitchFamily="34" charset="-120"/>
              </a:rPr>
              <a:t> i ← 1 </a:t>
            </a:r>
            <a:pPr indent="0" marL="0">
              <a:spcAft>
                <a:spcPts val="100"/>
              </a:spcAft>
              <a:buNone/>
            </a:pPr>
            <a:r>
              <a:rPr lang="en-US" sz="1500" b="1" dirty="0">
                <a:solidFill>
                  <a:srgbClr val="2F6FB3"/>
                </a:solidFill>
                <a:latin typeface="Courier New" pitchFamily="34" charset="0"/>
                <a:ea typeface="Courier New" pitchFamily="34" charset="-122"/>
                <a:cs typeface="Courier New" pitchFamily="34" charset="-120"/>
              </a:rPr>
              <a:t>TO</a:t>
            </a:r>
            <a:pPr indent="0" marL="0">
              <a:spcAft>
                <a:spcPts val="100"/>
              </a:spcAft>
              <a:buNone/>
            </a:pPr>
            <a:r>
              <a:rPr lang="en-US" sz="1500" dirty="0">
                <a:solidFill>
                  <a:srgbClr val="14213D"/>
                </a:solidFill>
                <a:latin typeface="Courier New" pitchFamily="34" charset="0"/>
                <a:ea typeface="Courier New" pitchFamily="34" charset="-122"/>
                <a:cs typeface="Courier New" pitchFamily="34" charset="-120"/>
              </a:rPr>
              <a:t> n</a:t>
            </a:r>
            <a:endParaRPr lang="en-US" sz="1500" dirty="0"/>
          </a:p>
          <a:p>
            <a:pPr indent="0" marL="0">
              <a:spcAft>
                <a:spcPts val="100"/>
              </a:spcAft>
              <a:buNone/>
            </a:pPr>
            <a:r>
              <a:rPr lang="en-US" sz="1500" dirty="0">
                <a:solidFill>
                  <a:srgbClr val="14213D"/>
                </a:solidFill>
                <a:latin typeface="Courier New" pitchFamily="34" charset="0"/>
                <a:ea typeface="Courier New" pitchFamily="34" charset="-122"/>
                <a:cs typeface="Courier New" pitchFamily="34" charset="-120"/>
              </a:rPr>
              <a:t>    </a:t>
            </a:r>
            <a:pPr indent="0" marL="0">
              <a:spcAft>
                <a:spcPts val="100"/>
              </a:spcAft>
              <a:buNone/>
            </a:pPr>
            <a:r>
              <a:rPr lang="en-US" sz="1500" b="1" dirty="0">
                <a:solidFill>
                  <a:srgbClr val="2F6FB3"/>
                </a:solidFill>
                <a:latin typeface="Courier New" pitchFamily="34" charset="0"/>
                <a:ea typeface="Courier New" pitchFamily="34" charset="-122"/>
                <a:cs typeface="Courier New" pitchFamily="34" charset="-120"/>
              </a:rPr>
              <a:t>PRINT</a:t>
            </a:r>
            <a:pPr indent="0" marL="0">
              <a:spcAft>
                <a:spcPts val="100"/>
              </a:spcAft>
              <a:buNone/>
            </a:pPr>
            <a:r>
              <a:rPr lang="en-US" sz="1500" dirty="0">
                <a:solidFill>
                  <a:srgbClr val="14213D"/>
                </a:solidFill>
                <a:latin typeface="Courier New" pitchFamily="34" charset="0"/>
                <a:ea typeface="Courier New" pitchFamily="34" charset="-122"/>
                <a:cs typeface="Courier New" pitchFamily="34" charset="-120"/>
              </a:rPr>
              <a:t> i</a:t>
            </a:r>
            <a:endParaRPr lang="en-US" sz="1500" dirty="0"/>
          </a:p>
          <a:p>
            <a:pPr indent="0" marL="0">
              <a:spcAft>
                <a:spcPts val="100"/>
              </a:spcAft>
              <a:buNone/>
            </a:pPr>
            <a:r>
              <a:rPr lang="en-US" sz="1500" dirty="0">
                <a:solidFill>
                  <a:srgbClr val="14213D"/>
                </a:solidFill>
                <a:latin typeface="Courier New" pitchFamily="34" charset="0"/>
                <a:ea typeface="Courier New" pitchFamily="34" charset="-122"/>
                <a:cs typeface="Courier New" pitchFamily="34" charset="-120"/>
              </a:rPr>
              <a:t>  </a:t>
            </a:r>
            <a:pPr indent="0" marL="0">
              <a:spcAft>
                <a:spcPts val="100"/>
              </a:spcAft>
              <a:buNone/>
            </a:pPr>
            <a:r>
              <a:rPr lang="en-US" sz="1500" b="1" dirty="0">
                <a:solidFill>
                  <a:srgbClr val="2F6FB3"/>
                </a:solidFill>
                <a:latin typeface="Courier New" pitchFamily="34" charset="0"/>
                <a:ea typeface="Courier New" pitchFamily="34" charset="-122"/>
                <a:cs typeface="Courier New" pitchFamily="34" charset="-120"/>
              </a:rPr>
              <a:t>END FOR</a:t>
            </a:r>
            <a:endParaRPr lang="en-US" sz="1500" dirty="0"/>
          </a:p>
          <a:p>
            <a:pPr indent="0" marL="0">
              <a:spcAft>
                <a:spcPts val="100"/>
              </a:spcAft>
              <a:buNone/>
            </a:pPr>
            <a:r>
              <a:rPr lang="en-US" sz="1500" b="1" dirty="0">
                <a:solidFill>
                  <a:srgbClr val="2F6FB3"/>
                </a:solidFill>
                <a:latin typeface="Courier New" pitchFamily="34" charset="0"/>
                <a:ea typeface="Courier New" pitchFamily="34" charset="-122"/>
                <a:cs typeface="Courier New" pitchFamily="34" charset="-120"/>
              </a:rPr>
              <a:t>END</a:t>
            </a:r>
            <a:endParaRPr lang="en-US" sz="1500" dirty="0"/>
          </a:p>
        </p:txBody>
      </p:sp>
      <p:sp>
        <p:nvSpPr>
          <p:cNvPr id="36" name="Shape 33"/>
          <p:cNvSpPr/>
          <p:nvPr/>
        </p:nvSpPr>
        <p:spPr>
          <a:xfrm>
            <a:off x="5852160" y="3931920"/>
            <a:ext cx="5806440" cy="2148840"/>
          </a:xfrm>
          <a:prstGeom prst="roundRect">
            <a:avLst>
              <a:gd name="adj" fmla="val 4255"/>
            </a:avLst>
          </a:prstGeom>
          <a:solidFill>
            <a:srgbClr val="0F1729"/>
          </a:solidFill>
          <a:ln w="12700">
            <a:solidFill>
              <a:srgbClr val="0F1729"/>
            </a:solidFill>
            <a:prstDash val="solid"/>
          </a:ln>
        </p:spPr>
      </p:sp>
      <p:sp>
        <p:nvSpPr>
          <p:cNvPr id="37" name="Text 34"/>
          <p:cNvSpPr txBox="1"/>
          <p:nvPr/>
        </p:nvSpPr>
        <p:spPr>
          <a:xfrm>
            <a:off x="6080760" y="4041648"/>
            <a:ext cx="534924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C#</a:t>
            </a:r>
            <a:endParaRPr lang="en-US" sz="1100" dirty="0"/>
          </a:p>
        </p:txBody>
      </p:sp>
      <p:sp>
        <p:nvSpPr>
          <p:cNvPr id="38" name="Text 35"/>
          <p:cNvSpPr txBox="1"/>
          <p:nvPr/>
        </p:nvSpPr>
        <p:spPr>
          <a:xfrm>
            <a:off x="6080760" y="4343400"/>
            <a:ext cx="5349240" cy="1627632"/>
          </a:xfrm>
          <a:prstGeom prst="rect">
            <a:avLst/>
          </a:prstGeom>
          <a:noFill/>
          <a:ln/>
        </p:spPr>
        <p:txBody>
          <a:bodyPr wrap="square" lIns="0" tIns="0" rIns="0" bIns="0" rtlCol="0" anchor="t"/>
          <a:lstStyle/>
          <a:p>
            <a:pPr indent="0" marL="0">
              <a:spcAft>
                <a:spcPts val="100"/>
              </a:spcAft>
              <a:buNone/>
            </a:pPr>
            <a:r>
              <a:rPr lang="en-US" sz="15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 n = </a:t>
            </a:r>
            <a:pPr indent="0" marL="0">
              <a:spcAft>
                <a:spcPts val="100"/>
              </a:spcAft>
              <a:buNone/>
            </a:pPr>
            <a:r>
              <a:rPr lang="en-US" sz="15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.Parse(</a:t>
            </a:r>
            <a:pPr indent="0" marL="0">
              <a:spcAft>
                <a:spcPts val="100"/>
              </a:spcAft>
              <a:buNone/>
            </a:pPr>
            <a:r>
              <a:rPr lang="en-US" sz="15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.ReadLine());</a:t>
            </a:r>
            <a:endParaRPr lang="en-US" sz="1500" dirty="0"/>
          </a:p>
          <a:p>
            <a:pPr indent="0" marL="0">
              <a:spcAft>
                <a:spcPts val="100"/>
              </a:spcAft>
              <a:buNone/>
            </a:pPr>
            <a:r>
              <a:rPr lang="en-US" sz="1500" dirty="0">
                <a:solidFill>
                  <a:srgbClr val="7AB8FF"/>
                </a:solidFill>
                <a:latin typeface="Courier New" pitchFamily="34" charset="0"/>
                <a:ea typeface="Courier New" pitchFamily="34" charset="-122"/>
                <a:cs typeface="Courier New" pitchFamily="34" charset="-120"/>
              </a:rPr>
              <a:t>for</a:t>
            </a:r>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5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 i = </a:t>
            </a:r>
            <a:pPr indent="0" marL="0">
              <a:spcAft>
                <a:spcPts val="100"/>
              </a:spcAft>
              <a:buNone/>
            </a:pPr>
            <a:r>
              <a:rPr lang="en-US" sz="15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 i &lt;= n; i++)</a:t>
            </a:r>
            <a:endParaRPr lang="en-US" sz="1500" dirty="0"/>
          </a:p>
          <a:p>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a:t>
            </a:r>
            <a:endParaRPr lang="en-US" sz="1500" dirty="0"/>
          </a:p>
          <a:p>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5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.WriteLine(i);</a:t>
            </a:r>
            <a:endParaRPr lang="en-US" sz="1500" dirty="0"/>
          </a:p>
          <a:p>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TRACE TABLE</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Tracing a for Loop by Hand: 1 + 2 + … + 5</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6</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9</a:t>
            </a:r>
            <a:endParaRPr lang="en-US" sz="1000" dirty="0"/>
          </a:p>
        </p:txBody>
      </p:sp>
      <p:sp>
        <p:nvSpPr>
          <p:cNvPr id="7" name="Shape 4"/>
          <p:cNvSpPr/>
          <p:nvPr/>
        </p:nvSpPr>
        <p:spPr>
          <a:xfrm>
            <a:off x="548640" y="1645920"/>
            <a:ext cx="5120640" cy="2423160"/>
          </a:xfrm>
          <a:prstGeom prst="roundRect">
            <a:avLst>
              <a:gd name="adj" fmla="val 3774"/>
            </a:avLst>
          </a:prstGeom>
          <a:solidFill>
            <a:srgbClr val="0F1729"/>
          </a:solidFill>
          <a:ln w="12700">
            <a:solidFill>
              <a:srgbClr val="0F1729"/>
            </a:solidFill>
            <a:prstDash val="solid"/>
          </a:ln>
        </p:spPr>
      </p:sp>
      <p:sp>
        <p:nvSpPr>
          <p:cNvPr id="8" name="Text 5"/>
          <p:cNvSpPr txBox="1"/>
          <p:nvPr/>
        </p:nvSpPr>
        <p:spPr>
          <a:xfrm>
            <a:off x="777240" y="1755648"/>
            <a:ext cx="466344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Program.cs (excerpt)</a:t>
            </a:r>
            <a:endParaRPr lang="en-US" sz="1100" dirty="0"/>
          </a:p>
        </p:txBody>
      </p:sp>
      <p:sp>
        <p:nvSpPr>
          <p:cNvPr id="9" name="Text 6"/>
          <p:cNvSpPr txBox="1"/>
          <p:nvPr/>
        </p:nvSpPr>
        <p:spPr>
          <a:xfrm>
            <a:off x="777240" y="2057400"/>
            <a:ext cx="4663440" cy="1901952"/>
          </a:xfrm>
          <a:prstGeom prst="rect">
            <a:avLst/>
          </a:prstGeom>
          <a:noFill/>
          <a:ln/>
        </p:spPr>
        <p:txBody>
          <a:bodyPr wrap="square" lIns="0" tIns="0" rIns="0" bIns="0" rtlCol="0" anchor="t"/>
          <a:lstStyle/>
          <a:p>
            <a:pPr indent="0" marL="0">
              <a:spcAft>
                <a:spcPts val="100"/>
              </a:spcAft>
              <a:buNone/>
            </a:pPr>
            <a:r>
              <a:rPr lang="en-US" sz="15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 sum = </a:t>
            </a:r>
            <a:pPr indent="0" marL="0">
              <a:spcAft>
                <a:spcPts val="100"/>
              </a:spcAft>
              <a:buNone/>
            </a:pPr>
            <a:r>
              <a:rPr lang="en-US" sz="15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a:t>
            </a:r>
            <a:endParaRPr lang="en-US" sz="1500" dirty="0"/>
          </a:p>
          <a:p>
            <a:pPr indent="0" marL="0">
              <a:spcAft>
                <a:spcPts val="100"/>
              </a:spcAft>
              <a:buNone/>
            </a:pPr>
            <a:r>
              <a:rPr lang="en-US" sz="1500" dirty="0">
                <a:solidFill>
                  <a:srgbClr val="7AB8FF"/>
                </a:solidFill>
                <a:latin typeface="Courier New" pitchFamily="34" charset="0"/>
                <a:ea typeface="Courier New" pitchFamily="34" charset="-122"/>
                <a:cs typeface="Courier New" pitchFamily="34" charset="-120"/>
              </a:rPr>
              <a:t>for</a:t>
            </a:r>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5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 i = </a:t>
            </a:r>
            <a:pPr indent="0" marL="0">
              <a:spcAft>
                <a:spcPts val="100"/>
              </a:spcAft>
              <a:buNone/>
            </a:pPr>
            <a:r>
              <a:rPr lang="en-US" sz="15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 i &lt;= </a:t>
            </a:r>
            <a:pPr indent="0" marL="0">
              <a:spcAft>
                <a:spcPts val="100"/>
              </a:spcAft>
              <a:buNone/>
            </a:pPr>
            <a:r>
              <a:rPr lang="en-US" sz="1500" dirty="0">
                <a:solidFill>
                  <a:srgbClr val="B5CEA8"/>
                </a:solidFill>
                <a:latin typeface="Courier New" pitchFamily="34" charset="0"/>
                <a:ea typeface="Courier New" pitchFamily="34" charset="-122"/>
                <a:cs typeface="Courier New" pitchFamily="34" charset="-120"/>
              </a:rPr>
              <a:t>5</a:t>
            </a:r>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 i++)</a:t>
            </a:r>
            <a:endParaRPr lang="en-US" sz="1500" dirty="0"/>
          </a:p>
          <a:p>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a:t>
            </a:r>
            <a:endParaRPr lang="en-US" sz="1500" dirty="0"/>
          </a:p>
          <a:p>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    sum += i;</a:t>
            </a:r>
            <a:endParaRPr lang="en-US" sz="1500" dirty="0"/>
          </a:p>
          <a:p>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a:t>
            </a:r>
            <a:endParaRPr lang="en-US" sz="1500" dirty="0"/>
          </a:p>
          <a:p>
            <a:pPr indent="0" marL="0">
              <a:spcAft>
                <a:spcPts val="100"/>
              </a:spcAft>
              <a:buNone/>
            </a:pPr>
            <a:r>
              <a:rPr lang="en-US" sz="15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.WriteLine(sum);</a:t>
            </a:r>
            <a:endParaRPr lang="en-US" sz="1500" dirty="0"/>
          </a:p>
        </p:txBody>
      </p:sp>
      <p:sp>
        <p:nvSpPr>
          <p:cNvPr id="10" name="Shape 7"/>
          <p:cNvSpPr/>
          <p:nvPr/>
        </p:nvSpPr>
        <p:spPr>
          <a:xfrm>
            <a:off x="548640" y="4251960"/>
            <a:ext cx="5120640" cy="914400"/>
          </a:xfrm>
          <a:prstGeom prst="roundRect">
            <a:avLst>
              <a:gd name="adj" fmla="val 10000"/>
            </a:avLst>
          </a:prstGeom>
          <a:solidFill>
            <a:srgbClr val="0B0F19"/>
          </a:solidFill>
          <a:ln w="12700">
            <a:solidFill>
              <a:srgbClr val="2A3654"/>
            </a:solidFill>
            <a:prstDash val="solid"/>
          </a:ln>
        </p:spPr>
      </p:sp>
      <p:sp>
        <p:nvSpPr>
          <p:cNvPr id="11" name="Shape 8"/>
          <p:cNvSpPr/>
          <p:nvPr/>
        </p:nvSpPr>
        <p:spPr>
          <a:xfrm>
            <a:off x="731520" y="4379976"/>
            <a:ext cx="118872" cy="118872"/>
          </a:xfrm>
          <a:prstGeom prst="ellipse">
            <a:avLst/>
          </a:prstGeom>
          <a:solidFill>
            <a:srgbClr val="FF5F57"/>
          </a:solidFill>
          <a:ln w="12700">
            <a:solidFill>
              <a:srgbClr val="FF5F57"/>
            </a:solidFill>
            <a:prstDash val="solid"/>
          </a:ln>
        </p:spPr>
      </p:sp>
      <p:sp>
        <p:nvSpPr>
          <p:cNvPr id="12" name="Shape 9"/>
          <p:cNvSpPr/>
          <p:nvPr/>
        </p:nvSpPr>
        <p:spPr>
          <a:xfrm>
            <a:off x="960120" y="4379976"/>
            <a:ext cx="118872" cy="118872"/>
          </a:xfrm>
          <a:prstGeom prst="ellipse">
            <a:avLst/>
          </a:prstGeom>
          <a:solidFill>
            <a:srgbClr val="FEBC2E"/>
          </a:solidFill>
          <a:ln w="12700">
            <a:solidFill>
              <a:srgbClr val="FEBC2E"/>
            </a:solidFill>
            <a:prstDash val="solid"/>
          </a:ln>
        </p:spPr>
      </p:sp>
      <p:sp>
        <p:nvSpPr>
          <p:cNvPr id="13" name="Shape 10"/>
          <p:cNvSpPr/>
          <p:nvPr/>
        </p:nvSpPr>
        <p:spPr>
          <a:xfrm>
            <a:off x="1188720" y="4379976"/>
            <a:ext cx="118872" cy="118872"/>
          </a:xfrm>
          <a:prstGeom prst="ellipse">
            <a:avLst/>
          </a:prstGeom>
          <a:solidFill>
            <a:srgbClr val="28C840"/>
          </a:solidFill>
          <a:ln w="12700">
            <a:solidFill>
              <a:srgbClr val="28C840"/>
            </a:solidFill>
            <a:prstDash val="solid"/>
          </a:ln>
        </p:spPr>
      </p:sp>
      <p:sp>
        <p:nvSpPr>
          <p:cNvPr id="14" name="Text 11"/>
          <p:cNvSpPr txBox="1"/>
          <p:nvPr/>
        </p:nvSpPr>
        <p:spPr>
          <a:xfrm>
            <a:off x="1463040" y="4325112"/>
            <a:ext cx="402336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Console</a:t>
            </a:r>
            <a:endParaRPr lang="en-US" sz="1000" dirty="0"/>
          </a:p>
        </p:txBody>
      </p:sp>
      <p:sp>
        <p:nvSpPr>
          <p:cNvPr id="15" name="Text 12"/>
          <p:cNvSpPr txBox="1"/>
          <p:nvPr/>
        </p:nvSpPr>
        <p:spPr>
          <a:xfrm>
            <a:off x="777240" y="4636008"/>
            <a:ext cx="4663440" cy="411480"/>
          </a:xfrm>
          <a:prstGeom prst="rect">
            <a:avLst/>
          </a:prstGeom>
          <a:noFill/>
          <a:ln/>
        </p:spPr>
        <p:txBody>
          <a:bodyPr wrap="square" lIns="0" tIns="0" rIns="0" bIns="0" rtlCol="0" anchor="t"/>
          <a:lstStyle/>
          <a:p>
            <a:pPr indent="0" marL="0">
              <a:spcAft>
                <a:spcPts val="100"/>
              </a:spcAft>
              <a:buNone/>
            </a:pPr>
            <a:r>
              <a:rPr lang="en-US" sz="1500" dirty="0">
                <a:solidFill>
                  <a:srgbClr val="7EE2A8"/>
                </a:solidFill>
                <a:latin typeface="Courier New" pitchFamily="34" charset="0"/>
                <a:ea typeface="Courier New" pitchFamily="34" charset="-122"/>
                <a:cs typeface="Courier New" pitchFamily="34" charset="-120"/>
              </a:rPr>
              <a:t>15</a:t>
            </a:r>
            <a:endParaRPr lang="en-US" sz="1500" dirty="0"/>
          </a:p>
        </p:txBody>
      </p:sp>
      <p:sp>
        <p:nvSpPr>
          <p:cNvPr id="16" name="Shape 13"/>
          <p:cNvSpPr/>
          <p:nvPr/>
        </p:nvSpPr>
        <p:spPr>
          <a:xfrm>
            <a:off x="548640" y="5349240"/>
            <a:ext cx="5120640" cy="731520"/>
          </a:xfrm>
          <a:prstGeom prst="roundRect">
            <a:avLst>
              <a:gd name="adj" fmla="val 15000"/>
            </a:avLst>
          </a:prstGeom>
          <a:solidFill>
            <a:srgbClr val="FFF6E3"/>
          </a:solidFill>
          <a:ln w="12700">
            <a:solidFill>
              <a:srgbClr val="FFF6E3"/>
            </a:solidFill>
            <a:prstDash val="solid"/>
          </a:ln>
        </p:spPr>
      </p:sp>
      <p:pic>
        <p:nvPicPr>
          <p:cNvPr id="17" name="Image 0" descr="preencoded.png">    </p:cNvPr>
          <p:cNvPicPr>
            <a:picLocks noChangeAspect="1"/>
          </p:cNvPicPr>
          <p:nvPr/>
        </p:nvPicPr>
        <p:blipFill>
          <a:blip r:embed="rId1"/>
          <a:stretch>
            <a:fillRect/>
          </a:stretch>
        </p:blipFill>
        <p:spPr>
          <a:xfrm>
            <a:off x="822960" y="5486400"/>
            <a:ext cx="457200" cy="457200"/>
          </a:xfrm>
          <a:prstGeom prst="rect">
            <a:avLst/>
          </a:prstGeom>
        </p:spPr>
      </p:pic>
      <p:sp>
        <p:nvSpPr>
          <p:cNvPr id="18" name="Text 14"/>
          <p:cNvSpPr txBox="1"/>
          <p:nvPr/>
        </p:nvSpPr>
        <p:spPr>
          <a:xfrm>
            <a:off x="1554480" y="5422392"/>
            <a:ext cx="3840480" cy="585216"/>
          </a:xfrm>
          <a:prstGeom prst="rect">
            <a:avLst/>
          </a:prstGeom>
          <a:noFill/>
          <a:ln/>
        </p:spPr>
        <p:txBody>
          <a:bodyPr wrap="square" lIns="0" tIns="0" rIns="0" bIns="0" rtlCol="0" anchor="ctr"/>
          <a:lstStyle/>
          <a:p>
            <a:pPr indent="0" marL="0">
              <a:buNone/>
            </a:pPr>
            <a:r>
              <a:rPr lang="en-US" sz="1400" dirty="0">
                <a:solidFill>
                  <a:srgbClr val="333B4F"/>
                </a:solidFill>
                <a:latin typeface="Calibri" pitchFamily="34" charset="0"/>
                <a:ea typeface="Calibri" pitchFamily="34" charset="-122"/>
                <a:cs typeface="Calibri" pitchFamily="34" charset="-120"/>
              </a:rPr>
              <a:t>Condition tested 6 times, body run 5 times.</a:t>
            </a:r>
            <a:endParaRPr lang="en-US" sz="14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035040" y="1645920"/>
          <a:ext cx="5623560" cy="914400"/>
        </p:xfrm>
        <a:graphic>
          <a:graphicData uri="http://schemas.openxmlformats.org/drawingml/2006/table">
            <a:tbl>
              <a:tblPr/>
              <a:tblGrid>
                <a:gridCol w="1005840"/>
                <a:gridCol w="1600200"/>
                <a:gridCol w="1280160"/>
                <a:gridCol w="1737360"/>
              </a:tblGrid>
              <a:tr h="475488">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Pass</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i (before test)</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i &lt;= 5 ?</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sum (after body)</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475488">
                <a:tc>
                  <a:txBody>
                    <a:bodyPr/>
                    <a:lstStyle/>
                    <a:p>
                      <a:pPr algn="ctr" indent="0" marL="0">
                        <a:buNone/>
                      </a:pPr>
                      <a:r>
                        <a:rPr lang="en-US" sz="1500" dirty="0">
                          <a:solidFill>
                            <a:srgbClr val="14213D"/>
                          </a:solidFill>
                          <a:latin typeface="Calibri" pitchFamily="34" charset="0"/>
                          <a:ea typeface="Calibri" pitchFamily="34" charset="-122"/>
                          <a:cs typeface="Calibri" pitchFamily="34" charset="-120"/>
                        </a:rPr>
                        <a:t>start</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4213D"/>
                          </a:solidFill>
                          <a:latin typeface="Calibri" pitchFamily="34" charset="0"/>
                          <a:ea typeface="Calibri" pitchFamily="34" charset="-122"/>
                          <a:cs typeface="Calibri" pitchFamily="34" charset="-120"/>
                        </a:rPr>
                        <a:t>1</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4213D"/>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4213D"/>
                          </a:solidFill>
                          <a:latin typeface="Calibri" pitchFamily="34" charset="0"/>
                          <a:ea typeface="Calibri" pitchFamily="34" charset="-122"/>
                          <a:cs typeface="Calibri" pitchFamily="34" charset="-120"/>
                        </a:rPr>
                        <a:t>0</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75488">
                <a:tc>
                  <a:txBody>
                    <a:bodyPr/>
                    <a:lstStyle/>
                    <a:p>
                      <a:pPr algn="ctr" indent="0" marL="0">
                        <a:buNone/>
                      </a:pPr>
                      <a:r>
                        <a:rPr lang="en-US" sz="1500" dirty="0">
                          <a:solidFill>
                            <a:srgbClr val="14213D"/>
                          </a:solidFill>
                          <a:latin typeface="Calibri" pitchFamily="34" charset="0"/>
                          <a:ea typeface="Calibri" pitchFamily="34" charset="-122"/>
                          <a:cs typeface="Calibri" pitchFamily="34" charset="-120"/>
                        </a:rPr>
                        <a:t>1</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500" dirty="0">
                          <a:solidFill>
                            <a:srgbClr val="14213D"/>
                          </a:solidFill>
                          <a:latin typeface="Calibri" pitchFamily="34" charset="0"/>
                          <a:ea typeface="Calibri" pitchFamily="34" charset="-122"/>
                          <a:cs typeface="Calibri" pitchFamily="34" charset="-120"/>
                        </a:rPr>
                        <a:t>1</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500" dirty="0">
                          <a:solidFill>
                            <a:srgbClr val="14213D"/>
                          </a:solidFill>
                          <a:latin typeface="Calibri" pitchFamily="34" charset="0"/>
                          <a:ea typeface="Calibri" pitchFamily="34" charset="-122"/>
                          <a:cs typeface="Calibri" pitchFamily="34" charset="-120"/>
                        </a:rPr>
                        <a:t>true</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500" dirty="0">
                          <a:solidFill>
                            <a:srgbClr val="14213D"/>
                          </a:solidFill>
                          <a:latin typeface="Calibri" pitchFamily="34" charset="0"/>
                          <a:ea typeface="Calibri" pitchFamily="34" charset="-122"/>
                          <a:cs typeface="Calibri" pitchFamily="34" charset="-120"/>
                        </a:rPr>
                        <a:t>1</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75488">
                <a:tc>
                  <a:txBody>
                    <a:bodyPr/>
                    <a:lstStyle/>
                    <a:p>
                      <a:pPr algn="ctr" indent="0" marL="0">
                        <a:buNone/>
                      </a:pPr>
                      <a:r>
                        <a:rPr lang="en-US" sz="1500" dirty="0">
                          <a:solidFill>
                            <a:srgbClr val="14213D"/>
                          </a:solidFill>
                          <a:latin typeface="Calibri" pitchFamily="34" charset="0"/>
                          <a:ea typeface="Calibri" pitchFamily="34" charset="-122"/>
                          <a:cs typeface="Calibri" pitchFamily="34" charset="-120"/>
                        </a:rPr>
                        <a:t>2</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4213D"/>
                          </a:solidFill>
                          <a:latin typeface="Calibri" pitchFamily="34" charset="0"/>
                          <a:ea typeface="Calibri" pitchFamily="34" charset="-122"/>
                          <a:cs typeface="Calibri" pitchFamily="34" charset="-120"/>
                        </a:rPr>
                        <a:t>2</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4213D"/>
                          </a:solidFill>
                          <a:latin typeface="Calibri" pitchFamily="34" charset="0"/>
                          <a:ea typeface="Calibri" pitchFamily="34" charset="-122"/>
                          <a:cs typeface="Calibri" pitchFamily="34" charset="-120"/>
                        </a:rPr>
                        <a:t>true</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4213D"/>
                          </a:solidFill>
                          <a:latin typeface="Calibri" pitchFamily="34" charset="0"/>
                          <a:ea typeface="Calibri" pitchFamily="34" charset="-122"/>
                          <a:cs typeface="Calibri" pitchFamily="34" charset="-120"/>
                        </a:rPr>
                        <a:t>3</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75488">
                <a:tc>
                  <a:txBody>
                    <a:bodyPr/>
                    <a:lstStyle/>
                    <a:p>
                      <a:pPr algn="ctr" indent="0" marL="0">
                        <a:buNone/>
                      </a:pPr>
                      <a:r>
                        <a:rPr lang="en-US" sz="1500" dirty="0">
                          <a:solidFill>
                            <a:srgbClr val="14213D"/>
                          </a:solidFill>
                          <a:latin typeface="Calibri" pitchFamily="34" charset="0"/>
                          <a:ea typeface="Calibri" pitchFamily="34" charset="-122"/>
                          <a:cs typeface="Calibri" pitchFamily="34" charset="-120"/>
                        </a:rPr>
                        <a:t>3</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500" dirty="0">
                          <a:solidFill>
                            <a:srgbClr val="14213D"/>
                          </a:solidFill>
                          <a:latin typeface="Calibri" pitchFamily="34" charset="0"/>
                          <a:ea typeface="Calibri" pitchFamily="34" charset="-122"/>
                          <a:cs typeface="Calibri" pitchFamily="34" charset="-120"/>
                        </a:rPr>
                        <a:t>3</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500" dirty="0">
                          <a:solidFill>
                            <a:srgbClr val="14213D"/>
                          </a:solidFill>
                          <a:latin typeface="Calibri" pitchFamily="34" charset="0"/>
                          <a:ea typeface="Calibri" pitchFamily="34" charset="-122"/>
                          <a:cs typeface="Calibri" pitchFamily="34" charset="-120"/>
                        </a:rPr>
                        <a:t>true</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500" dirty="0">
                          <a:solidFill>
                            <a:srgbClr val="14213D"/>
                          </a:solidFill>
                          <a:latin typeface="Calibri" pitchFamily="34" charset="0"/>
                          <a:ea typeface="Calibri" pitchFamily="34" charset="-122"/>
                          <a:cs typeface="Calibri" pitchFamily="34" charset="-120"/>
                        </a:rPr>
                        <a:t>6</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75488">
                <a:tc>
                  <a:txBody>
                    <a:bodyPr/>
                    <a:lstStyle/>
                    <a:p>
                      <a:pPr algn="ctr" indent="0" marL="0">
                        <a:buNone/>
                      </a:pPr>
                      <a:r>
                        <a:rPr lang="en-US" sz="1500" dirty="0">
                          <a:solidFill>
                            <a:srgbClr val="14213D"/>
                          </a:solidFill>
                          <a:latin typeface="Calibri" pitchFamily="34" charset="0"/>
                          <a:ea typeface="Calibri" pitchFamily="34" charset="-122"/>
                          <a:cs typeface="Calibri" pitchFamily="34" charset="-120"/>
                        </a:rPr>
                        <a:t>4</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4213D"/>
                          </a:solidFill>
                          <a:latin typeface="Calibri" pitchFamily="34" charset="0"/>
                          <a:ea typeface="Calibri" pitchFamily="34" charset="-122"/>
                          <a:cs typeface="Calibri" pitchFamily="34" charset="-120"/>
                        </a:rPr>
                        <a:t>4</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4213D"/>
                          </a:solidFill>
                          <a:latin typeface="Calibri" pitchFamily="34" charset="0"/>
                          <a:ea typeface="Calibri" pitchFamily="34" charset="-122"/>
                          <a:cs typeface="Calibri" pitchFamily="34" charset="-120"/>
                        </a:rPr>
                        <a:t>true</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4213D"/>
                          </a:solidFill>
                          <a:latin typeface="Calibri" pitchFamily="34" charset="0"/>
                          <a:ea typeface="Calibri" pitchFamily="34" charset="-122"/>
                          <a:cs typeface="Calibri" pitchFamily="34" charset="-120"/>
                        </a:rPr>
                        <a:t>10</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75488">
                <a:tc>
                  <a:txBody>
                    <a:bodyPr/>
                    <a:lstStyle/>
                    <a:p>
                      <a:pPr algn="ctr" indent="0" marL="0">
                        <a:buNone/>
                      </a:pPr>
                      <a:r>
                        <a:rPr lang="en-US" sz="1500" dirty="0">
                          <a:solidFill>
                            <a:srgbClr val="14213D"/>
                          </a:solidFill>
                          <a:latin typeface="Calibri" pitchFamily="34" charset="0"/>
                          <a:ea typeface="Calibri" pitchFamily="34" charset="-122"/>
                          <a:cs typeface="Calibri" pitchFamily="34" charset="-120"/>
                        </a:rPr>
                        <a:t>5</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500" dirty="0">
                          <a:solidFill>
                            <a:srgbClr val="14213D"/>
                          </a:solidFill>
                          <a:latin typeface="Calibri" pitchFamily="34" charset="0"/>
                          <a:ea typeface="Calibri" pitchFamily="34" charset="-122"/>
                          <a:cs typeface="Calibri" pitchFamily="34" charset="-120"/>
                        </a:rPr>
                        <a:t>5</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500" dirty="0">
                          <a:solidFill>
                            <a:srgbClr val="14213D"/>
                          </a:solidFill>
                          <a:latin typeface="Calibri" pitchFamily="34" charset="0"/>
                          <a:ea typeface="Calibri" pitchFamily="34" charset="-122"/>
                          <a:cs typeface="Calibri" pitchFamily="34" charset="-120"/>
                        </a:rPr>
                        <a:t>true</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500" dirty="0">
                          <a:solidFill>
                            <a:srgbClr val="14213D"/>
                          </a:solidFill>
                          <a:latin typeface="Calibri" pitchFamily="34" charset="0"/>
                          <a:ea typeface="Calibri" pitchFamily="34" charset="-122"/>
                          <a:cs typeface="Calibri" pitchFamily="34" charset="-120"/>
                        </a:rPr>
                        <a:t>15</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75488">
                <a:tc>
                  <a:txBody>
                    <a:bodyPr/>
                    <a:lstStyle/>
                    <a:p>
                      <a:pPr algn="ctr" indent="0" marL="0">
                        <a:buNone/>
                      </a:pPr>
                      <a:r>
                        <a:rPr lang="en-US" sz="1500" b="1" dirty="0">
                          <a:solidFill>
                            <a:srgbClr val="14213D"/>
                          </a:solidFill>
                          <a:latin typeface="Calibri" pitchFamily="34" charset="0"/>
                          <a:ea typeface="Calibri" pitchFamily="34" charset="-122"/>
                          <a:cs typeface="Calibri" pitchFamily="34" charset="-120"/>
                        </a:rPr>
                        <a:t>exit</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14213D"/>
                          </a:solidFill>
                          <a:latin typeface="Calibri" pitchFamily="34" charset="0"/>
                          <a:ea typeface="Calibri" pitchFamily="34" charset="-122"/>
                          <a:cs typeface="Calibri" pitchFamily="34" charset="-120"/>
                        </a:rPr>
                        <a:t>6</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C8453B"/>
                          </a:solidFill>
                          <a:latin typeface="Calibri" pitchFamily="34" charset="0"/>
                          <a:ea typeface="Calibri" pitchFamily="34" charset="-122"/>
                          <a:cs typeface="Calibri" pitchFamily="34" charset="-120"/>
                        </a:rPr>
                        <a:t>false</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14213D"/>
                          </a:solidFill>
                          <a:latin typeface="Calibri" pitchFamily="34" charset="0"/>
                          <a:ea typeface="Calibri" pitchFamily="34" charset="-122"/>
                          <a:cs typeface="Calibri" pitchFamily="34" charset="-120"/>
                        </a:rPr>
                        <a:t>15</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bl>
          </a:graphicData>
        </a:graphic>
      </p:graphicFrame>
      <p:sp>
        <p:nvSpPr>
          <p:cNvPr id="20" name="Text 15"/>
          <p:cNvSpPr txBox="1"/>
          <p:nvPr/>
        </p:nvSpPr>
        <p:spPr>
          <a:xfrm>
            <a:off x="6035040" y="5577840"/>
            <a:ext cx="5623560" cy="365760"/>
          </a:xfrm>
          <a:prstGeom prst="rect">
            <a:avLst/>
          </a:prstGeom>
          <a:noFill/>
          <a:ln/>
        </p:spPr>
        <p:txBody>
          <a:bodyPr wrap="square" lIns="0" tIns="0" rIns="0" bIns="0" rtlCol="0" anchor="ctr"/>
          <a:lstStyle/>
          <a:p>
            <a:pPr indent="0" marL="0">
              <a:buNone/>
            </a:pPr>
            <a:r>
              <a:rPr lang="en-US" sz="1400" i="1" dirty="0">
                <a:solidFill>
                  <a:srgbClr val="5B6478"/>
                </a:solidFill>
                <a:latin typeface="Calibri" pitchFamily="34" charset="0"/>
                <a:ea typeface="Calibri" pitchFamily="34" charset="-122"/>
                <a:cs typeface="Calibri" pitchFamily="34" charset="-120"/>
              </a:rPr>
              <a:t>Check: 1 + 2 + 3 + 4 + 5 = 5 · 6 / 2 = 15 (Gauss, Week 1)</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548640" y="1463040"/>
            <a:ext cx="2743200" cy="1280160"/>
          </a:xfrm>
          <a:prstGeom prst="rect">
            <a:avLst/>
          </a:prstGeom>
          <a:noFill/>
          <a:ln/>
        </p:spPr>
        <p:txBody>
          <a:bodyPr wrap="square" lIns="0" tIns="0" rIns="0" bIns="0" rtlCol="0" anchor="ctr"/>
          <a:lstStyle/>
          <a:p>
            <a:pPr indent="0" marL="0">
              <a:buNone/>
            </a:pPr>
            <a:r>
              <a:rPr lang="en-US" sz="8800" b="1" dirty="0">
                <a:solidFill>
                  <a:srgbClr val="FCA311"/>
                </a:solidFill>
                <a:latin typeface="Courier New" pitchFamily="34" charset="0"/>
                <a:ea typeface="Courier New" pitchFamily="34" charset="-122"/>
                <a:cs typeface="Courier New" pitchFamily="34" charset="-120"/>
              </a:rPr>
              <a:t>&gt;_</a:t>
            </a:r>
            <a:endParaRPr lang="en-US" sz="8800" dirty="0"/>
          </a:p>
        </p:txBody>
      </p:sp>
      <p:sp>
        <p:nvSpPr>
          <p:cNvPr id="3" name="Text 1"/>
          <p:cNvSpPr txBox="1"/>
          <p:nvPr/>
        </p:nvSpPr>
        <p:spPr>
          <a:xfrm>
            <a:off x="548640" y="2926080"/>
            <a:ext cx="5486400" cy="365760"/>
          </a:xfrm>
          <a:prstGeom prst="rect">
            <a:avLst/>
          </a:prstGeom>
          <a:noFill/>
          <a:ln/>
        </p:spPr>
        <p:txBody>
          <a:bodyPr wrap="square" lIns="0" tIns="0" rIns="0" bIns="0" rtlCol="0" anchor="ctr"/>
          <a:lstStyle/>
          <a:p>
            <a:pPr indent="0" marL="0">
              <a:buNone/>
            </a:pPr>
            <a:r>
              <a:rPr lang="en-US" sz="1600" spc="400" kern="0" dirty="0">
                <a:solidFill>
                  <a:srgbClr val="8A94AB"/>
                </a:solidFill>
                <a:latin typeface="Courier New" pitchFamily="34" charset="0"/>
                <a:ea typeface="Courier New" pitchFamily="34" charset="-122"/>
                <a:cs typeface="Courier New" pitchFamily="34" charset="-120"/>
              </a:rPr>
              <a:t>PART 2</a:t>
            </a:r>
            <a:endParaRPr lang="en-US" sz="1600" dirty="0"/>
          </a:p>
        </p:txBody>
      </p:sp>
      <p:sp>
        <p:nvSpPr>
          <p:cNvPr id="4" name="Text 2"/>
          <p:cNvSpPr txBox="1"/>
          <p:nvPr/>
        </p:nvSpPr>
        <p:spPr>
          <a:xfrm>
            <a:off x="548640" y="3337560"/>
            <a:ext cx="10515600" cy="914400"/>
          </a:xfrm>
          <a:prstGeom prst="rect">
            <a:avLst/>
          </a:prstGeom>
          <a:noFill/>
          <a:ln/>
        </p:spPr>
        <p:txBody>
          <a:bodyPr wrap="square" lIns="0" tIns="0" rIns="0" bIns="0" rtlCol="0" anchor="ctr">
            <a:normAutofit/>
          </a:bodyPr>
          <a:lstStyle/>
          <a:p>
            <a:pPr indent="0" marL="0">
              <a:buNone/>
            </a:pPr>
            <a:r>
              <a:rPr lang="en-US" sz="4200" b="1" dirty="0">
                <a:solidFill>
                  <a:srgbClr val="FFFFFF"/>
                </a:solidFill>
                <a:latin typeface="Cambria" pitchFamily="34" charset="0"/>
                <a:ea typeface="Cambria" pitchFamily="34" charset="-122"/>
                <a:cs typeface="Cambria" pitchFamily="34" charset="-120"/>
              </a:rPr>
              <a:t>Counting and Accumulating</a:t>
            </a:r>
            <a:endParaRPr lang="en-US" sz="4200" dirty="0"/>
          </a:p>
        </p:txBody>
      </p:sp>
      <p:sp>
        <p:nvSpPr>
          <p:cNvPr id="5" name="Text 3"/>
          <p:cNvSpPr txBox="1"/>
          <p:nvPr/>
        </p:nvSpPr>
        <p:spPr>
          <a:xfrm>
            <a:off x="548640" y="4343400"/>
            <a:ext cx="10515600" cy="548640"/>
          </a:xfrm>
          <a:prstGeom prst="rect">
            <a:avLst/>
          </a:prstGeom>
          <a:noFill/>
          <a:ln/>
        </p:spPr>
        <p:txBody>
          <a:bodyPr wrap="square" lIns="0" tIns="0" rIns="0" bIns="0" rtlCol="0" anchor="ctr"/>
          <a:lstStyle/>
          <a:p>
            <a:pPr indent="0" marL="0">
              <a:buNone/>
            </a:pPr>
            <a:r>
              <a:rPr lang="en-US" sz="1800" dirty="0">
                <a:solidFill>
                  <a:srgbClr val="C7CEDC"/>
                </a:solidFill>
                <a:latin typeface="Calibri" pitchFamily="34" charset="0"/>
                <a:ea typeface="Calibri" pitchFamily="34" charset="-122"/>
                <a:cs typeface="Calibri" pitchFamily="34" charset="-120"/>
              </a:rPr>
              <a:t>Up, down, in steps · sums, products, counters · min and max</a:t>
            </a:r>
            <a:endParaRPr lang="en-US" sz="1800" dirty="0"/>
          </a:p>
        </p:txBody>
      </p:sp>
      <p:sp>
        <p:nvSpPr>
          <p:cNvPr id="6" name="Text 4"/>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8A94AB"/>
                </a:solidFill>
                <a:latin typeface="Calibri" pitchFamily="34" charset="0"/>
                <a:ea typeface="Calibri" pitchFamily="34" charset="-122"/>
                <a:cs typeface="Calibri" pitchFamily="34" charset="-120"/>
              </a:rPr>
              <a:t>MCMP113  ·  Week 6</a:t>
            </a:r>
            <a:endParaRPr lang="en-US" sz="1000" dirty="0"/>
          </a:p>
        </p:txBody>
      </p:sp>
      <p:sp>
        <p:nvSpPr>
          <p:cNvPr id="7" name="Text 5"/>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8A94AB"/>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EXAMPLE 1 · COUNTINGPATTERNS</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Counting Up, Down and in Steps</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6</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11</a:t>
            </a:r>
            <a:endParaRPr lang="en-US" sz="1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109960" cy="914400"/>
        </p:xfrm>
        <a:graphic>
          <a:graphicData uri="http://schemas.openxmlformats.org/drawingml/2006/table">
            <a:tbl>
              <a:tblPr/>
              <a:tblGrid>
                <a:gridCol w="1234440"/>
                <a:gridCol w="4572000"/>
                <a:gridCol w="5303520"/>
              </a:tblGrid>
              <a:tr h="457200">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Pattern</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for header</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Output for n = 10</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457200">
                <a:tc>
                  <a:txBody>
                    <a:bodyPr/>
                    <a:lstStyle/>
                    <a:p>
                      <a:pPr algn="l" indent="0" marL="0">
                        <a:buNone/>
                      </a:pPr>
                      <a:r>
                        <a:rPr lang="en-US" sz="1500" dirty="0">
                          <a:solidFill>
                            <a:srgbClr val="14213D"/>
                          </a:solidFill>
                          <a:latin typeface="Calibri" pitchFamily="34" charset="0"/>
                          <a:ea typeface="Calibri" pitchFamily="34" charset="-122"/>
                          <a:cs typeface="Calibri" pitchFamily="34" charset="-120"/>
                        </a:rPr>
                        <a:t>Up</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4213D"/>
                          </a:solidFill>
                          <a:latin typeface="Courier New" pitchFamily="34" charset="0"/>
                          <a:ea typeface="Courier New" pitchFamily="34" charset="-122"/>
                          <a:cs typeface="Courier New" pitchFamily="34" charset="-120"/>
                        </a:rPr>
                        <a:t>for (int i = 1; i &lt;= n; i++)</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4213D"/>
                          </a:solidFill>
                          <a:latin typeface="Courier New" pitchFamily="34" charset="0"/>
                          <a:ea typeface="Courier New" pitchFamily="34" charset="-122"/>
                          <a:cs typeface="Courier New" pitchFamily="34" charset="-120"/>
                        </a:rPr>
                        <a:t>1 2 3 4 5 6 7 8 9 10</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57200">
                <a:tc>
                  <a:txBody>
                    <a:bodyPr/>
                    <a:lstStyle/>
                    <a:p>
                      <a:pPr algn="l" indent="0" marL="0">
                        <a:buNone/>
                      </a:pPr>
                      <a:r>
                        <a:rPr lang="en-US" sz="1500" dirty="0">
                          <a:solidFill>
                            <a:srgbClr val="14213D"/>
                          </a:solidFill>
                          <a:latin typeface="Calibri" pitchFamily="34" charset="0"/>
                          <a:ea typeface="Calibri" pitchFamily="34" charset="-122"/>
                          <a:cs typeface="Calibri" pitchFamily="34" charset="-120"/>
                        </a:rPr>
                        <a:t>Down</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500" dirty="0">
                          <a:solidFill>
                            <a:srgbClr val="14213D"/>
                          </a:solidFill>
                          <a:latin typeface="Courier New" pitchFamily="34" charset="0"/>
                          <a:ea typeface="Courier New" pitchFamily="34" charset="-122"/>
                          <a:cs typeface="Courier New" pitchFamily="34" charset="-120"/>
                        </a:rPr>
                        <a:t>for (int i = n; i &gt;= 1; i--)</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500" dirty="0">
                          <a:solidFill>
                            <a:srgbClr val="14213D"/>
                          </a:solidFill>
                          <a:latin typeface="Courier New" pitchFamily="34" charset="0"/>
                          <a:ea typeface="Courier New" pitchFamily="34" charset="-122"/>
                          <a:cs typeface="Courier New" pitchFamily="34" charset="-120"/>
                        </a:rPr>
                        <a:t>10 9 8 7 6 5 4 3 2 1</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57200">
                <a:tc>
                  <a:txBody>
                    <a:bodyPr/>
                    <a:lstStyle/>
                    <a:p>
                      <a:pPr algn="l" indent="0" marL="0">
                        <a:buNone/>
                      </a:pPr>
                      <a:r>
                        <a:rPr lang="en-US" sz="1500" dirty="0">
                          <a:solidFill>
                            <a:srgbClr val="14213D"/>
                          </a:solidFill>
                          <a:latin typeface="Calibri" pitchFamily="34" charset="0"/>
                          <a:ea typeface="Calibri" pitchFamily="34" charset="-122"/>
                          <a:cs typeface="Calibri" pitchFamily="34" charset="-120"/>
                        </a:rPr>
                        <a:t>Even</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4213D"/>
                          </a:solidFill>
                          <a:latin typeface="Courier New" pitchFamily="34" charset="0"/>
                          <a:ea typeface="Courier New" pitchFamily="34" charset="-122"/>
                          <a:cs typeface="Courier New" pitchFamily="34" charset="-120"/>
                        </a:rPr>
                        <a:t>for (int i = 0; i &lt;= n; i += 2)</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4213D"/>
                          </a:solidFill>
                          <a:latin typeface="Courier New" pitchFamily="34" charset="0"/>
                          <a:ea typeface="Courier New" pitchFamily="34" charset="-122"/>
                          <a:cs typeface="Courier New" pitchFamily="34" charset="-120"/>
                        </a:rPr>
                        <a:t>0 2 4 6 8 10</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57200">
                <a:tc>
                  <a:txBody>
                    <a:bodyPr/>
                    <a:lstStyle/>
                    <a:p>
                      <a:pPr algn="l" indent="0" marL="0">
                        <a:buNone/>
                      </a:pPr>
                      <a:r>
                        <a:rPr lang="en-US" sz="1500" dirty="0">
                          <a:solidFill>
                            <a:srgbClr val="14213D"/>
                          </a:solidFill>
                          <a:latin typeface="Calibri" pitchFamily="34" charset="0"/>
                          <a:ea typeface="Calibri" pitchFamily="34" charset="-122"/>
                          <a:cs typeface="Calibri" pitchFamily="34" charset="-120"/>
                        </a:rPr>
                        <a:t>By −5</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500" dirty="0">
                          <a:solidFill>
                            <a:srgbClr val="14213D"/>
                          </a:solidFill>
                          <a:latin typeface="Courier New" pitchFamily="34" charset="0"/>
                          <a:ea typeface="Courier New" pitchFamily="34" charset="-122"/>
                          <a:cs typeface="Courier New" pitchFamily="34" charset="-120"/>
                        </a:rPr>
                        <a:t>for (int i = 5 * n; i &gt; 0; i -= 5)</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500" dirty="0">
                          <a:solidFill>
                            <a:srgbClr val="14213D"/>
                          </a:solidFill>
                          <a:latin typeface="Courier New" pitchFamily="34" charset="0"/>
                          <a:ea typeface="Courier New" pitchFamily="34" charset="-122"/>
                          <a:cs typeface="Courier New" pitchFamily="34" charset="-120"/>
                        </a:rPr>
                        <a:t>50 45 40 35 30 25 20 15 10 5</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bl>
          </a:graphicData>
        </a:graphic>
      </p:graphicFrame>
      <p:sp>
        <p:nvSpPr>
          <p:cNvPr id="8" name="Shape 4"/>
          <p:cNvSpPr/>
          <p:nvPr/>
        </p:nvSpPr>
        <p:spPr>
          <a:xfrm>
            <a:off x="548640" y="4114800"/>
            <a:ext cx="6309360" cy="1920240"/>
          </a:xfrm>
          <a:prstGeom prst="roundRect">
            <a:avLst>
              <a:gd name="adj" fmla="val 4762"/>
            </a:avLst>
          </a:prstGeom>
          <a:solidFill>
            <a:srgbClr val="0B0F19"/>
          </a:solidFill>
          <a:ln w="12700">
            <a:solidFill>
              <a:srgbClr val="2A3654"/>
            </a:solidFill>
            <a:prstDash val="solid"/>
          </a:ln>
        </p:spPr>
      </p:sp>
      <p:sp>
        <p:nvSpPr>
          <p:cNvPr id="9" name="Shape 5"/>
          <p:cNvSpPr/>
          <p:nvPr/>
        </p:nvSpPr>
        <p:spPr>
          <a:xfrm>
            <a:off x="731520" y="4242816"/>
            <a:ext cx="118872" cy="118872"/>
          </a:xfrm>
          <a:prstGeom prst="ellipse">
            <a:avLst/>
          </a:prstGeom>
          <a:solidFill>
            <a:srgbClr val="FF5F57"/>
          </a:solidFill>
          <a:ln w="12700">
            <a:solidFill>
              <a:srgbClr val="FF5F57"/>
            </a:solidFill>
            <a:prstDash val="solid"/>
          </a:ln>
        </p:spPr>
      </p:sp>
      <p:sp>
        <p:nvSpPr>
          <p:cNvPr id="10" name="Shape 6"/>
          <p:cNvSpPr/>
          <p:nvPr/>
        </p:nvSpPr>
        <p:spPr>
          <a:xfrm>
            <a:off x="960120" y="4242816"/>
            <a:ext cx="118872" cy="118872"/>
          </a:xfrm>
          <a:prstGeom prst="ellipse">
            <a:avLst/>
          </a:prstGeom>
          <a:solidFill>
            <a:srgbClr val="FEBC2E"/>
          </a:solidFill>
          <a:ln w="12700">
            <a:solidFill>
              <a:srgbClr val="FEBC2E"/>
            </a:solidFill>
            <a:prstDash val="solid"/>
          </a:ln>
        </p:spPr>
      </p:sp>
      <p:sp>
        <p:nvSpPr>
          <p:cNvPr id="11" name="Shape 7"/>
          <p:cNvSpPr/>
          <p:nvPr/>
        </p:nvSpPr>
        <p:spPr>
          <a:xfrm>
            <a:off x="1188720" y="4242816"/>
            <a:ext cx="118872" cy="118872"/>
          </a:xfrm>
          <a:prstGeom prst="ellipse">
            <a:avLst/>
          </a:prstGeom>
          <a:solidFill>
            <a:srgbClr val="28C840"/>
          </a:solidFill>
          <a:ln w="12700">
            <a:solidFill>
              <a:srgbClr val="28C840"/>
            </a:solidFill>
            <a:prstDash val="solid"/>
          </a:ln>
        </p:spPr>
      </p:sp>
      <p:sp>
        <p:nvSpPr>
          <p:cNvPr id="12" name="Text 8"/>
          <p:cNvSpPr txBox="1"/>
          <p:nvPr/>
        </p:nvSpPr>
        <p:spPr>
          <a:xfrm>
            <a:off x="1463040" y="4187952"/>
            <a:ext cx="521208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Console</a:t>
            </a:r>
            <a:endParaRPr lang="en-US" sz="1000" dirty="0"/>
          </a:p>
        </p:txBody>
      </p:sp>
      <p:sp>
        <p:nvSpPr>
          <p:cNvPr id="13" name="Text 9"/>
          <p:cNvSpPr txBox="1"/>
          <p:nvPr/>
        </p:nvSpPr>
        <p:spPr>
          <a:xfrm>
            <a:off x="777240" y="4498848"/>
            <a:ext cx="5852160" cy="1417320"/>
          </a:xfrm>
          <a:prstGeom prst="rect">
            <a:avLst/>
          </a:prstGeom>
          <a:noFill/>
          <a:ln/>
        </p:spPr>
        <p:txBody>
          <a:bodyPr wrap="square" lIns="0" tIns="0" rIns="0" bIns="0" rtlCol="0" anchor="t"/>
          <a:lstStyle/>
          <a:p>
            <a:pPr indent="0" marL="0">
              <a:spcAft>
                <a:spcPts val="100"/>
              </a:spcAft>
              <a:buNone/>
            </a:pPr>
            <a:r>
              <a:rPr lang="en-US" sz="1400" dirty="0">
                <a:solidFill>
                  <a:srgbClr val="7EE2A8"/>
                </a:solidFill>
                <a:latin typeface="Courier New" pitchFamily="34" charset="0"/>
                <a:ea typeface="Courier New" pitchFamily="34" charset="-122"/>
                <a:cs typeface="Courier New" pitchFamily="34" charset="-120"/>
              </a:rPr>
              <a:t>Count up to: </a:t>
            </a:r>
            <a:pPr indent="0" marL="0">
              <a:spcAft>
                <a:spcPts val="100"/>
              </a:spcAft>
              <a:buNone/>
            </a:pPr>
            <a:r>
              <a:rPr lang="en-US" sz="1400" b="1" dirty="0">
                <a:solidFill>
                  <a:srgbClr val="FCA311"/>
                </a:solidFill>
                <a:latin typeface="Courier New" pitchFamily="34" charset="0"/>
                <a:ea typeface="Courier New" pitchFamily="34" charset="-122"/>
                <a:cs typeface="Courier New" pitchFamily="34" charset="-120"/>
              </a:rPr>
              <a:t>10</a:t>
            </a:r>
            <a:endParaRPr lang="en-US" sz="1400" dirty="0"/>
          </a:p>
          <a:p>
            <a:pPr indent="0" marL="0">
              <a:spcAft>
                <a:spcPts val="100"/>
              </a:spcAft>
              <a:buNone/>
            </a:pPr>
            <a:r>
              <a:rPr lang="en-US" sz="1400" dirty="0">
                <a:solidFill>
                  <a:srgbClr val="7EE2A8"/>
                </a:solidFill>
                <a:latin typeface="Courier New" pitchFamily="34" charset="0"/>
                <a:ea typeface="Courier New" pitchFamily="34" charset="-122"/>
                <a:cs typeface="Courier New" pitchFamily="34" charset="-120"/>
              </a:rPr>
              <a:t>Up:     1 2 3 4 5 6 7 8 9 10</a:t>
            </a:r>
            <a:endParaRPr lang="en-US" sz="1400" dirty="0"/>
          </a:p>
          <a:p>
            <a:pPr indent="0" marL="0">
              <a:spcAft>
                <a:spcPts val="100"/>
              </a:spcAft>
              <a:buNone/>
            </a:pPr>
            <a:r>
              <a:rPr lang="en-US" sz="1400" dirty="0">
                <a:solidFill>
                  <a:srgbClr val="7EE2A8"/>
                </a:solidFill>
                <a:latin typeface="Courier New" pitchFamily="34" charset="0"/>
                <a:ea typeface="Courier New" pitchFamily="34" charset="-122"/>
                <a:cs typeface="Courier New" pitchFamily="34" charset="-120"/>
              </a:rPr>
              <a:t>Down:   10 9 8 7 6 5 4 3 2 1</a:t>
            </a:r>
            <a:endParaRPr lang="en-US" sz="1400" dirty="0"/>
          </a:p>
          <a:p>
            <a:pPr indent="0" marL="0">
              <a:spcAft>
                <a:spcPts val="100"/>
              </a:spcAft>
              <a:buNone/>
            </a:pPr>
            <a:r>
              <a:rPr lang="en-US" sz="1400" dirty="0">
                <a:solidFill>
                  <a:srgbClr val="7EE2A8"/>
                </a:solidFill>
                <a:latin typeface="Courier New" pitchFamily="34" charset="0"/>
                <a:ea typeface="Courier New" pitchFamily="34" charset="-122"/>
                <a:cs typeface="Courier New" pitchFamily="34" charset="-120"/>
              </a:rPr>
              <a:t>Even:   0 2 4 6 8 10</a:t>
            </a:r>
            <a:endParaRPr lang="en-US" sz="1400" dirty="0"/>
          </a:p>
          <a:p>
            <a:pPr indent="0" marL="0">
              <a:spcAft>
                <a:spcPts val="100"/>
              </a:spcAft>
              <a:buNone/>
            </a:pPr>
            <a:r>
              <a:rPr lang="en-US" sz="1400" dirty="0">
                <a:solidFill>
                  <a:srgbClr val="7EE2A8"/>
                </a:solidFill>
                <a:latin typeface="Courier New" pitchFamily="34" charset="0"/>
                <a:ea typeface="Courier New" pitchFamily="34" charset="-122"/>
                <a:cs typeface="Courier New" pitchFamily="34" charset="-120"/>
              </a:rPr>
              <a:t>By -5:  50 45 40 35 30 25 20 15 10 5</a:t>
            </a:r>
            <a:endParaRPr lang="en-US" sz="1400" dirty="0"/>
          </a:p>
        </p:txBody>
      </p:sp>
      <p:sp>
        <p:nvSpPr>
          <p:cNvPr id="14" name="Shape 10"/>
          <p:cNvSpPr/>
          <p:nvPr/>
        </p:nvSpPr>
        <p:spPr>
          <a:xfrm>
            <a:off x="7132320" y="4114800"/>
            <a:ext cx="4526280" cy="1920240"/>
          </a:xfrm>
          <a:prstGeom prst="roundRect">
            <a:avLst>
              <a:gd name="adj" fmla="val 5714"/>
            </a:avLst>
          </a:prstGeom>
          <a:solidFill>
            <a:srgbClr val="EEF1F6"/>
          </a:solidFill>
          <a:ln w="12700">
            <a:solidFill>
              <a:srgbClr val="EEF1F6"/>
            </a:solidFill>
            <a:prstDash val="solid"/>
          </a:ln>
        </p:spPr>
      </p:sp>
      <p:sp>
        <p:nvSpPr>
          <p:cNvPr id="15" name="Shape 11"/>
          <p:cNvSpPr/>
          <p:nvPr/>
        </p:nvSpPr>
        <p:spPr>
          <a:xfrm>
            <a:off x="7360920" y="4343400"/>
            <a:ext cx="566928" cy="566928"/>
          </a:xfrm>
          <a:prstGeom prst="ellipse">
            <a:avLst/>
          </a:prstGeom>
          <a:solidFill>
            <a:srgbClr val="14213D"/>
          </a:solidFill>
          <a:ln w="12700">
            <a:solidFill>
              <a:srgbClr val="14213D"/>
            </a:solidFill>
            <a:prstDash val="solid"/>
          </a:ln>
        </p:spPr>
      </p:sp>
      <p:pic>
        <p:nvPicPr>
          <p:cNvPr id="16" name="Image 0" descr="preencoded.png">    </p:cNvPr>
          <p:cNvPicPr>
            <a:picLocks noChangeAspect="1"/>
          </p:cNvPicPr>
          <p:nvPr/>
        </p:nvPicPr>
        <p:blipFill>
          <a:blip r:embed="rId1"/>
          <a:stretch>
            <a:fillRect/>
          </a:stretch>
        </p:blipFill>
        <p:spPr>
          <a:xfrm>
            <a:off x="7508321" y="4490801"/>
            <a:ext cx="272125" cy="272125"/>
          </a:xfrm>
          <a:prstGeom prst="rect">
            <a:avLst/>
          </a:prstGeom>
        </p:spPr>
      </p:pic>
      <p:sp>
        <p:nvSpPr>
          <p:cNvPr id="17" name="Text 12"/>
          <p:cNvSpPr txBox="1"/>
          <p:nvPr/>
        </p:nvSpPr>
        <p:spPr>
          <a:xfrm>
            <a:off x="8046720" y="4343400"/>
            <a:ext cx="342900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Direction rule</a:t>
            </a:r>
            <a:endParaRPr lang="en-US" sz="1700" dirty="0"/>
          </a:p>
        </p:txBody>
      </p:sp>
      <p:sp>
        <p:nvSpPr>
          <p:cNvPr id="18" name="Text 13"/>
          <p:cNvSpPr txBox="1"/>
          <p:nvPr/>
        </p:nvSpPr>
        <p:spPr>
          <a:xfrm>
            <a:off x="7360920" y="5029200"/>
            <a:ext cx="4069080" cy="868680"/>
          </a:xfrm>
          <a:prstGeom prst="rect">
            <a:avLst/>
          </a:prstGeom>
          <a:noFill/>
          <a:ln/>
        </p:spPr>
        <p:txBody>
          <a:bodyPr wrap="square" lIns="0" tIns="0" rIns="0" bIns="0" rtlCol="0" anchor="t"/>
          <a:lstStyle/>
          <a:p>
            <a:pPr indent="0" marL="0">
              <a:buNone/>
            </a:pPr>
            <a:r>
              <a:rPr lang="en-US" sz="1400" dirty="0">
                <a:solidFill>
                  <a:srgbClr val="333B4F"/>
                </a:solidFill>
                <a:latin typeface="Calibri" pitchFamily="34" charset="0"/>
                <a:ea typeface="Calibri" pitchFamily="34" charset="-122"/>
                <a:cs typeface="Calibri" pitchFamily="34" charset="-120"/>
              </a:rPr>
              <a:t>Up: start low, test &lt; or &lt;=, update ++ or +=.</a:t>
            </a:r>
            <a:endParaRPr lang="en-US" sz="1400" dirty="0"/>
          </a:p>
          <a:p>
            <a:pPr indent="0" marL="0">
              <a:buNone/>
            </a:pPr>
            <a:r>
              <a:rPr lang="en-US" sz="1400" dirty="0">
                <a:solidFill>
                  <a:srgbClr val="333B4F"/>
                </a:solidFill>
                <a:latin typeface="Calibri" pitchFamily="34" charset="0"/>
                <a:ea typeface="Calibri" pitchFamily="34" charset="-122"/>
                <a:cs typeface="Calibri" pitchFamily="34" charset="-120"/>
              </a:rPr>
              <a:t>Down: start high, test &gt; or &gt;=, update -- or -=.</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ESTIMATING ITERATIONS</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How Many Times Does the Body Run?</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6</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12</a:t>
            </a:r>
            <a:endParaRPr lang="en-US" sz="1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7086600" cy="914400"/>
        </p:xfrm>
        <a:graphic>
          <a:graphicData uri="http://schemas.openxmlformats.org/drawingml/2006/table">
            <a:tbl>
              <a:tblPr/>
              <a:tblGrid>
                <a:gridCol w="3931920"/>
                <a:gridCol w="2103120"/>
                <a:gridCol w="1051560"/>
              </a:tblGrid>
              <a:tr h="512064">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for header</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values of i</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passes</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512064">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for (int i = 1; i &lt;= 10; i++)</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1, 2, …, 10</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10</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512064">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for (int i = 0; i &lt; 10; i++)</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0, 1, …, 9</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10</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512064">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for (int i = 1; i &lt; 10; i++)</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1, 2, …, 9</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9</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512064">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for (int i = 0; i &lt;= 20; i += 2)</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0, 2, …, 20</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11</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512064">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for (int i = 10; i &gt; 0; i -= 3)</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10, 7, 4, 1</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512064">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for (int i = 1; i &lt;= 100; i *= 2)</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1, 2, 4, …, 64</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7</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512064">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for (int i = 5; i &lt; 5; i++)</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(none)</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0</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bl>
          </a:graphicData>
        </a:graphic>
      </p:graphicFrame>
      <p:sp>
        <p:nvSpPr>
          <p:cNvPr id="8" name="Shape 4"/>
          <p:cNvSpPr/>
          <p:nvPr/>
        </p:nvSpPr>
        <p:spPr>
          <a:xfrm>
            <a:off x="7955280" y="1645920"/>
            <a:ext cx="3703320" cy="2194560"/>
          </a:xfrm>
          <a:prstGeom prst="roundRect">
            <a:avLst>
              <a:gd name="adj" fmla="val 5000"/>
            </a:avLst>
          </a:prstGeom>
          <a:solidFill>
            <a:srgbClr val="14213D"/>
          </a:solidFill>
          <a:ln w="12700">
            <a:solidFill>
              <a:srgbClr val="14213D"/>
            </a:solidFill>
            <a:prstDash val="solid"/>
          </a:ln>
        </p:spPr>
      </p:sp>
      <p:sp>
        <p:nvSpPr>
          <p:cNvPr id="9" name="Text 5"/>
          <p:cNvSpPr txBox="1"/>
          <p:nvPr/>
        </p:nvSpPr>
        <p:spPr>
          <a:xfrm>
            <a:off x="8183880" y="1783080"/>
            <a:ext cx="3291840" cy="274320"/>
          </a:xfrm>
          <a:prstGeom prst="rect">
            <a:avLst/>
          </a:prstGeom>
          <a:noFill/>
          <a:ln/>
        </p:spPr>
        <p:txBody>
          <a:bodyPr wrap="square" lIns="0" tIns="0" rIns="0" bIns="0" rtlCol="0" anchor="ctr"/>
          <a:lstStyle/>
          <a:p>
            <a:pPr indent="0" marL="0">
              <a:buNone/>
            </a:pPr>
            <a:r>
              <a:rPr lang="en-US" sz="1200" b="1" dirty="0">
                <a:solidFill>
                  <a:srgbClr val="FCA311"/>
                </a:solidFill>
                <a:latin typeface="Courier New" pitchFamily="34" charset="0"/>
                <a:ea typeface="Courier New" pitchFamily="34" charset="-122"/>
                <a:cs typeface="Courier New" pitchFamily="34" charset="-120"/>
              </a:rPr>
              <a:t>COUNTING RULE</a:t>
            </a:r>
            <a:endParaRPr lang="en-US" sz="1200" dirty="0"/>
          </a:p>
        </p:txBody>
      </p:sp>
      <p:sp>
        <p:nvSpPr>
          <p:cNvPr id="10" name="Text 6"/>
          <p:cNvSpPr txBox="1"/>
          <p:nvPr/>
        </p:nvSpPr>
        <p:spPr>
          <a:xfrm>
            <a:off x="8183880" y="2148840"/>
            <a:ext cx="3383280" cy="1600200"/>
          </a:xfrm>
          <a:prstGeom prst="rect">
            <a:avLst/>
          </a:prstGeom>
          <a:noFill/>
          <a:ln/>
        </p:spPr>
        <p:txBody>
          <a:bodyPr wrap="square" lIns="0" tIns="0" rIns="0" bIns="0" rtlCol="0" anchor="t"/>
          <a:lstStyle/>
          <a:p>
            <a:pPr indent="0" marL="0">
              <a:buNone/>
            </a:pPr>
            <a:r>
              <a:rPr lang="en-US" sz="1600" b="1" dirty="0">
                <a:solidFill>
                  <a:srgbClr val="FFFFFF"/>
                </a:solidFill>
                <a:latin typeface="Courier New" pitchFamily="34" charset="0"/>
                <a:ea typeface="Courier New" pitchFamily="34" charset="-122"/>
                <a:cs typeface="Courier New" pitchFamily="34" charset="-120"/>
              </a:rPr>
              <a:t>i = a; i &lt;= b; i += s</a:t>
            </a:r>
            <a:endParaRPr lang="en-US" sz="1400" dirty="0"/>
          </a:p>
          <a:p>
            <a:pPr indent="0" marL="0">
              <a:buNone/>
            </a:pPr>
            <a:r>
              <a:rPr lang="en-US" sz="800" dirty="0">
                <a:solidFill>
                  <a:srgbClr val="333B4F"/>
                </a:solidFill>
                <a:latin typeface="Calibri" pitchFamily="34" charset="0"/>
                <a:ea typeface="Calibri" pitchFamily="34" charset="-122"/>
                <a:cs typeface="Calibri" pitchFamily="34" charset="-120"/>
              </a:rPr>
              <a:t> </a:t>
            </a:r>
            <a:endParaRPr lang="en-US" sz="1400" dirty="0"/>
          </a:p>
          <a:p>
            <a:pPr indent="0" marL="0">
              <a:buNone/>
            </a:pPr>
            <a:r>
              <a:rPr lang="en-US" sz="2100" b="1" dirty="0">
                <a:solidFill>
                  <a:srgbClr val="FCA311"/>
                </a:solidFill>
                <a:latin typeface="Calibri" pitchFamily="34" charset="0"/>
                <a:ea typeface="Calibri" pitchFamily="34" charset="-122"/>
                <a:cs typeface="Calibri" pitchFamily="34" charset="-120"/>
              </a:rPr>
              <a:t>passes = (b − a) / s + 1</a:t>
            </a:r>
            <a:endParaRPr lang="en-US" sz="1400" dirty="0"/>
          </a:p>
          <a:p>
            <a:pPr indent="0" marL="0">
              <a:buNone/>
            </a:pPr>
            <a:r>
              <a:rPr lang="en-US" sz="800" dirty="0">
                <a:solidFill>
                  <a:srgbClr val="333B4F"/>
                </a:solidFill>
                <a:latin typeface="Calibri" pitchFamily="34" charset="0"/>
                <a:ea typeface="Calibri" pitchFamily="34" charset="-122"/>
                <a:cs typeface="Calibri" pitchFamily="34" charset="-120"/>
              </a:rPr>
              <a:t> </a:t>
            </a:r>
            <a:endParaRPr lang="en-US" sz="1400" dirty="0"/>
          </a:p>
          <a:p>
            <a:pPr indent="0" marL="0">
              <a:buNone/>
            </a:pPr>
            <a:r>
              <a:rPr lang="en-US" sz="1500" dirty="0">
                <a:solidFill>
                  <a:srgbClr val="C7CEDC"/>
                </a:solidFill>
                <a:latin typeface="Calibri" pitchFamily="34" charset="0"/>
                <a:ea typeface="Calibri" pitchFamily="34" charset="-122"/>
                <a:cs typeface="Calibri" pitchFamily="34" charset="-120"/>
              </a:rPr>
              <a:t>integer division, when a ≤ b</a:t>
            </a:r>
            <a:endParaRPr lang="en-US" sz="1400" dirty="0"/>
          </a:p>
        </p:txBody>
      </p:sp>
      <p:sp>
        <p:nvSpPr>
          <p:cNvPr id="11" name="Shape 7"/>
          <p:cNvSpPr/>
          <p:nvPr/>
        </p:nvSpPr>
        <p:spPr>
          <a:xfrm>
            <a:off x="7955280" y="4023360"/>
            <a:ext cx="3703320" cy="2057400"/>
          </a:xfrm>
          <a:prstGeom prst="roundRect">
            <a:avLst>
              <a:gd name="adj" fmla="val 5333"/>
            </a:avLst>
          </a:prstGeom>
          <a:solidFill>
            <a:srgbClr val="EEF1F6"/>
          </a:solidFill>
          <a:ln w="12700">
            <a:solidFill>
              <a:srgbClr val="EEF1F6"/>
            </a:solidFill>
            <a:prstDash val="solid"/>
          </a:ln>
        </p:spPr>
      </p:sp>
      <p:sp>
        <p:nvSpPr>
          <p:cNvPr id="12" name="Shape 8"/>
          <p:cNvSpPr/>
          <p:nvPr/>
        </p:nvSpPr>
        <p:spPr>
          <a:xfrm>
            <a:off x="8183880" y="4251960"/>
            <a:ext cx="566928" cy="566928"/>
          </a:xfrm>
          <a:prstGeom prst="ellipse">
            <a:avLst/>
          </a:prstGeom>
          <a:solidFill>
            <a:srgbClr val="14213D"/>
          </a:solidFill>
          <a:ln w="12700">
            <a:solidFill>
              <a:srgbClr val="14213D"/>
            </a:solidFill>
            <a:prstDash val="solid"/>
          </a:ln>
        </p:spPr>
      </p:sp>
      <p:pic>
        <p:nvPicPr>
          <p:cNvPr id="13" name="Image 0" descr="preencoded.png">    </p:cNvPr>
          <p:cNvPicPr>
            <a:picLocks noChangeAspect="1"/>
          </p:cNvPicPr>
          <p:nvPr/>
        </p:nvPicPr>
        <p:blipFill>
          <a:blip r:embed="rId1"/>
          <a:stretch>
            <a:fillRect/>
          </a:stretch>
        </p:blipFill>
        <p:spPr>
          <a:xfrm>
            <a:off x="8331281" y="4399361"/>
            <a:ext cx="272125" cy="272125"/>
          </a:xfrm>
          <a:prstGeom prst="rect">
            <a:avLst/>
          </a:prstGeom>
        </p:spPr>
      </p:pic>
      <p:sp>
        <p:nvSpPr>
          <p:cNvPr id="14" name="Text 9"/>
          <p:cNvSpPr txBox="1"/>
          <p:nvPr/>
        </p:nvSpPr>
        <p:spPr>
          <a:xfrm>
            <a:off x="8869680" y="4251960"/>
            <a:ext cx="260604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Nested loops</a:t>
            </a:r>
            <a:endParaRPr lang="en-US" sz="1700" dirty="0"/>
          </a:p>
        </p:txBody>
      </p:sp>
      <p:sp>
        <p:nvSpPr>
          <p:cNvPr id="15" name="Text 10"/>
          <p:cNvSpPr txBox="1"/>
          <p:nvPr/>
        </p:nvSpPr>
        <p:spPr>
          <a:xfrm>
            <a:off x="8183880" y="4937760"/>
            <a:ext cx="3246120" cy="1005840"/>
          </a:xfrm>
          <a:prstGeom prst="rect">
            <a:avLst/>
          </a:prstGeom>
          <a:noFill/>
          <a:ln/>
        </p:spPr>
        <p:txBody>
          <a:bodyPr wrap="square" lIns="0" tIns="0" rIns="0" bIns="0" rtlCol="0" anchor="t"/>
          <a:lstStyle/>
          <a:p>
            <a:pPr indent="0" marL="0">
              <a:buNone/>
            </a:pPr>
            <a:r>
              <a:rPr lang="en-US" sz="1400" dirty="0">
                <a:solidFill>
                  <a:srgbClr val="333B4F"/>
                </a:solidFill>
                <a:latin typeface="Calibri" pitchFamily="34" charset="0"/>
                <a:ea typeface="Calibri" pitchFamily="34" charset="-122"/>
                <a:cs typeface="Calibri" pitchFamily="34" charset="-120"/>
              </a:rPr>
              <a:t>Outer n passes, inner m passes → n · m body runs.</a:t>
            </a:r>
            <a:endParaRPr lang="en-US" sz="1400" dirty="0"/>
          </a:p>
          <a:p>
            <a:pPr indent="0" marL="0">
              <a:buNone/>
            </a:pPr>
            <a:r>
              <a:rPr lang="en-US" sz="1400" dirty="0">
                <a:solidFill>
                  <a:srgbClr val="333B4F"/>
                </a:solidFill>
                <a:latin typeface="Calibri" pitchFamily="34" charset="0"/>
                <a:ea typeface="Calibri" pitchFamily="34" charset="-122"/>
                <a:cs typeface="Calibri" pitchFamily="34" charset="-120"/>
              </a:rPr>
              <a:t>Inner j ≤ i → 1 + 2 + … + n = n(n + 1) / 2.</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SCOPE</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The Loop Variable Lives Only Inside the Loop</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6</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13</a:t>
            </a:r>
            <a:endParaRPr lang="en-US" sz="1000" dirty="0"/>
          </a:p>
        </p:txBody>
      </p:sp>
      <p:sp>
        <p:nvSpPr>
          <p:cNvPr id="7" name="Shape 4"/>
          <p:cNvSpPr/>
          <p:nvPr/>
        </p:nvSpPr>
        <p:spPr>
          <a:xfrm>
            <a:off x="548640" y="1645920"/>
            <a:ext cx="5440680" cy="2331720"/>
          </a:xfrm>
          <a:prstGeom prst="roundRect">
            <a:avLst>
              <a:gd name="adj" fmla="val 3922"/>
            </a:avLst>
          </a:prstGeom>
          <a:solidFill>
            <a:srgbClr val="0F1729"/>
          </a:solidFill>
          <a:ln w="12700">
            <a:solidFill>
              <a:srgbClr val="0F1729"/>
            </a:solidFill>
            <a:prstDash val="solid"/>
          </a:ln>
        </p:spPr>
      </p:sp>
      <p:sp>
        <p:nvSpPr>
          <p:cNvPr id="8" name="Text 5"/>
          <p:cNvSpPr txBox="1"/>
          <p:nvPr/>
        </p:nvSpPr>
        <p:spPr>
          <a:xfrm>
            <a:off x="777240" y="1755648"/>
            <a:ext cx="498348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Does not compile</a:t>
            </a:r>
            <a:endParaRPr lang="en-US" sz="1100" dirty="0"/>
          </a:p>
        </p:txBody>
      </p:sp>
      <p:sp>
        <p:nvSpPr>
          <p:cNvPr id="9" name="Text 6"/>
          <p:cNvSpPr txBox="1"/>
          <p:nvPr/>
        </p:nvSpPr>
        <p:spPr>
          <a:xfrm>
            <a:off x="777240" y="2057400"/>
            <a:ext cx="4983480" cy="1810512"/>
          </a:xfrm>
          <a:prstGeom prst="rect">
            <a:avLst/>
          </a:prstGeom>
          <a:noFill/>
          <a:ln/>
        </p:spPr>
        <p:txBody>
          <a:bodyPr wrap="square" lIns="0" tIns="0" rIns="0" bIns="0" rtlCol="0" anchor="t"/>
          <a:lstStyle/>
          <a:p>
            <a:pPr indent="0" marL="0">
              <a:spcAft>
                <a:spcPts val="100"/>
              </a:spcAft>
              <a:buNone/>
            </a:pPr>
            <a:r>
              <a:rPr lang="en-US" sz="14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sum = </a:t>
            </a:r>
            <a:pPr indent="0" marL="0">
              <a:spcAft>
                <a:spcPts val="100"/>
              </a:spcAft>
              <a:buNone/>
            </a:pPr>
            <a:r>
              <a:rPr lang="en-US" sz="14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a:t>
            </a:r>
            <a:endParaRPr lang="en-US" sz="1400" dirty="0"/>
          </a:p>
          <a:p>
            <a:pPr indent="0" marL="0">
              <a:spcAft>
                <a:spcPts val="100"/>
              </a:spcAft>
              <a:buNone/>
            </a:pPr>
            <a:r>
              <a:rPr lang="en-US" sz="1400" dirty="0">
                <a:solidFill>
                  <a:srgbClr val="7AB8FF"/>
                </a:solidFill>
                <a:latin typeface="Courier New" pitchFamily="34" charset="0"/>
                <a:ea typeface="Courier New" pitchFamily="34" charset="-122"/>
                <a:cs typeface="Courier New" pitchFamily="34" charset="-120"/>
              </a:rPr>
              <a:t>for</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4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i = </a:t>
            </a:r>
            <a:pPr indent="0" marL="0">
              <a:spcAft>
                <a:spcPts val="100"/>
              </a:spcAft>
              <a:buNone/>
            </a:pPr>
            <a:r>
              <a:rPr lang="en-US" sz="14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i &lt;= </a:t>
            </a:r>
            <a:pPr indent="0" marL="0">
              <a:spcAft>
                <a:spcPts val="100"/>
              </a:spcAft>
              <a:buNone/>
            </a:pPr>
            <a:r>
              <a:rPr lang="en-US" sz="1400" dirty="0">
                <a:solidFill>
                  <a:srgbClr val="B5CEA8"/>
                </a:solidFill>
                <a:latin typeface="Courier New" pitchFamily="34" charset="0"/>
                <a:ea typeface="Courier New" pitchFamily="34" charset="-122"/>
                <a:cs typeface="Courier New" pitchFamily="34" charset="-120"/>
              </a:rPr>
              <a:t>5</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i++)</a:t>
            </a:r>
            <a:endParaRPr lang="en-US" sz="1400" dirty="0"/>
          </a:p>
          <a:p>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a:t>
            </a:r>
            <a:endParaRPr lang="en-US" sz="1400" dirty="0"/>
          </a:p>
          <a:p>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sum += i;</a:t>
            </a:r>
            <a:endParaRPr lang="en-US" sz="1400" dirty="0"/>
          </a:p>
          <a:p>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a:t>
            </a:r>
            <a:endParaRPr lang="en-US" sz="1400" dirty="0"/>
          </a:p>
          <a:p>
            <a:pPr indent="0" marL="0">
              <a:spcAft>
                <a:spcPts val="100"/>
              </a:spcAft>
              <a:buNone/>
            </a:pPr>
            <a:r>
              <a:rPr lang="en-US" sz="14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400" dirty="0">
                <a:solidFill>
                  <a:srgbClr val="CE9178"/>
                </a:solidFill>
                <a:latin typeface="Courier New" pitchFamily="34" charset="0"/>
                <a:ea typeface="Courier New" pitchFamily="34" charset="-122"/>
                <a:cs typeface="Courier New" pitchFamily="34" charset="-120"/>
              </a:rPr>
              <a:t>$"Last i = {i}"</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a:t>
            </a:r>
            <a:endParaRPr lang="en-US" sz="1400" dirty="0"/>
          </a:p>
        </p:txBody>
      </p:sp>
      <p:sp>
        <p:nvSpPr>
          <p:cNvPr id="10" name="Shape 7"/>
          <p:cNvSpPr/>
          <p:nvPr/>
        </p:nvSpPr>
        <p:spPr>
          <a:xfrm>
            <a:off x="548640" y="4114800"/>
            <a:ext cx="5440680" cy="914400"/>
          </a:xfrm>
          <a:prstGeom prst="roundRect">
            <a:avLst>
              <a:gd name="adj" fmla="val 12000"/>
            </a:avLst>
          </a:prstGeom>
          <a:solidFill>
            <a:srgbClr val="FBE9E7"/>
          </a:solidFill>
          <a:ln w="12700">
            <a:solidFill>
              <a:srgbClr val="FBE9E7"/>
            </a:solidFill>
            <a:prstDash val="solid"/>
          </a:ln>
        </p:spPr>
      </p:sp>
      <p:sp>
        <p:nvSpPr>
          <p:cNvPr id="11" name="Text 8"/>
          <p:cNvSpPr txBox="1"/>
          <p:nvPr/>
        </p:nvSpPr>
        <p:spPr>
          <a:xfrm>
            <a:off x="731520" y="4160520"/>
            <a:ext cx="5120640" cy="822960"/>
          </a:xfrm>
          <a:prstGeom prst="rect">
            <a:avLst/>
          </a:prstGeom>
          <a:noFill/>
          <a:ln/>
        </p:spPr>
        <p:txBody>
          <a:bodyPr wrap="square" lIns="0" tIns="0" rIns="0" bIns="0" rtlCol="0" anchor="ctr"/>
          <a:lstStyle/>
          <a:p>
            <a:pPr indent="0" marL="0">
              <a:buNone/>
            </a:pPr>
            <a:r>
              <a:rPr lang="en-US" sz="1300" b="1" dirty="0">
                <a:solidFill>
                  <a:srgbClr val="C8453B"/>
                </a:solidFill>
                <a:latin typeface="Courier New" pitchFamily="34" charset="0"/>
                <a:ea typeface="Courier New" pitchFamily="34" charset="-122"/>
                <a:cs typeface="Courier New" pitchFamily="34" charset="-120"/>
              </a:rPr>
              <a:t>error CS0103: </a:t>
            </a:r>
            <a:pPr indent="0" marL="0">
              <a:buNone/>
            </a:pPr>
            <a:r>
              <a:rPr lang="en-US" sz="1300" dirty="0">
                <a:solidFill>
                  <a:srgbClr val="C8453B"/>
                </a:solidFill>
                <a:latin typeface="Courier New" pitchFamily="34" charset="0"/>
                <a:ea typeface="Courier New" pitchFamily="34" charset="-122"/>
                <a:cs typeface="Courier New" pitchFamily="34" charset="-120"/>
              </a:rPr>
              <a:t>The name 'i' does not exist in the current context</a:t>
            </a:r>
            <a:endParaRPr lang="en-US" sz="1300" dirty="0"/>
          </a:p>
        </p:txBody>
      </p:sp>
      <p:sp>
        <p:nvSpPr>
          <p:cNvPr id="12" name="Shape 9"/>
          <p:cNvSpPr/>
          <p:nvPr/>
        </p:nvSpPr>
        <p:spPr>
          <a:xfrm>
            <a:off x="6217920" y="1645920"/>
            <a:ext cx="5440680" cy="2331720"/>
          </a:xfrm>
          <a:prstGeom prst="roundRect">
            <a:avLst>
              <a:gd name="adj" fmla="val 3922"/>
            </a:avLst>
          </a:prstGeom>
          <a:solidFill>
            <a:srgbClr val="0F1729"/>
          </a:solidFill>
          <a:ln w="12700">
            <a:solidFill>
              <a:srgbClr val="0F1729"/>
            </a:solidFill>
            <a:prstDash val="solid"/>
          </a:ln>
        </p:spPr>
      </p:sp>
      <p:sp>
        <p:nvSpPr>
          <p:cNvPr id="13" name="Text 10"/>
          <p:cNvSpPr txBox="1"/>
          <p:nvPr/>
        </p:nvSpPr>
        <p:spPr>
          <a:xfrm>
            <a:off x="6446520" y="1755648"/>
            <a:ext cx="498348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Fix: declare i before the loop</a:t>
            </a:r>
            <a:endParaRPr lang="en-US" sz="1100" dirty="0"/>
          </a:p>
        </p:txBody>
      </p:sp>
      <p:sp>
        <p:nvSpPr>
          <p:cNvPr id="14" name="Text 11"/>
          <p:cNvSpPr txBox="1"/>
          <p:nvPr/>
        </p:nvSpPr>
        <p:spPr>
          <a:xfrm>
            <a:off x="6446520" y="2057400"/>
            <a:ext cx="4983480" cy="1810512"/>
          </a:xfrm>
          <a:prstGeom prst="rect">
            <a:avLst/>
          </a:prstGeom>
          <a:noFill/>
          <a:ln/>
        </p:spPr>
        <p:txBody>
          <a:bodyPr wrap="square" lIns="0" tIns="0" rIns="0" bIns="0" rtlCol="0" anchor="t"/>
          <a:lstStyle/>
          <a:p>
            <a:pPr indent="0" marL="0">
              <a:spcAft>
                <a:spcPts val="100"/>
              </a:spcAft>
              <a:buNone/>
            </a:pPr>
            <a:r>
              <a:rPr lang="en-US" sz="14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sum = </a:t>
            </a:r>
            <a:pPr indent="0" marL="0">
              <a:spcAft>
                <a:spcPts val="100"/>
              </a:spcAft>
              <a:buNone/>
            </a:pPr>
            <a:r>
              <a:rPr lang="en-US" sz="14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a:t>
            </a:r>
            <a:endParaRPr lang="en-US" sz="1400" dirty="0"/>
          </a:p>
          <a:p>
            <a:pPr indent="0" marL="0">
              <a:spcAft>
                <a:spcPts val="100"/>
              </a:spcAft>
              <a:buNone/>
            </a:pPr>
            <a:r>
              <a:rPr lang="en-US" sz="14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i;                 </a:t>
            </a:r>
            <a:pPr indent="0" marL="0">
              <a:spcAft>
                <a:spcPts val="100"/>
              </a:spcAft>
              <a:buNone/>
            </a:pPr>
            <a:r>
              <a:rPr lang="en-US" sz="1400" dirty="0">
                <a:solidFill>
                  <a:srgbClr val="7F8BA3"/>
                </a:solidFill>
                <a:latin typeface="Courier New" pitchFamily="34" charset="0"/>
                <a:ea typeface="Courier New" pitchFamily="34" charset="-122"/>
                <a:cs typeface="Courier New" pitchFamily="34" charset="-120"/>
              </a:rPr>
              <a:t>// declared outside</a:t>
            </a:r>
            <a:endParaRPr lang="en-US" sz="1400" dirty="0"/>
          </a:p>
          <a:p>
            <a:pPr indent="0" marL="0">
              <a:spcAft>
                <a:spcPts val="100"/>
              </a:spcAft>
              <a:buNone/>
            </a:pPr>
            <a:r>
              <a:rPr lang="en-US" sz="1400" dirty="0">
                <a:solidFill>
                  <a:srgbClr val="7AB8FF"/>
                </a:solidFill>
                <a:latin typeface="Courier New" pitchFamily="34" charset="0"/>
                <a:ea typeface="Courier New" pitchFamily="34" charset="-122"/>
                <a:cs typeface="Courier New" pitchFamily="34" charset="-120"/>
              </a:rPr>
              <a:t>for</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(i = </a:t>
            </a:r>
            <a:pPr indent="0" marL="0">
              <a:spcAft>
                <a:spcPts val="100"/>
              </a:spcAft>
              <a:buNone/>
            </a:pPr>
            <a:r>
              <a:rPr lang="en-US" sz="14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i &lt;= </a:t>
            </a:r>
            <a:pPr indent="0" marL="0">
              <a:spcAft>
                <a:spcPts val="100"/>
              </a:spcAft>
              <a:buNone/>
            </a:pPr>
            <a:r>
              <a:rPr lang="en-US" sz="1400" dirty="0">
                <a:solidFill>
                  <a:srgbClr val="B5CEA8"/>
                </a:solidFill>
                <a:latin typeface="Courier New" pitchFamily="34" charset="0"/>
                <a:ea typeface="Courier New" pitchFamily="34" charset="-122"/>
                <a:cs typeface="Courier New" pitchFamily="34" charset="-120"/>
              </a:rPr>
              <a:t>5</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i++)</a:t>
            </a:r>
            <a:endParaRPr lang="en-US" sz="1400" dirty="0"/>
          </a:p>
          <a:p>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a:t>
            </a:r>
            <a:endParaRPr lang="en-US" sz="1400" dirty="0"/>
          </a:p>
          <a:p>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sum += i;</a:t>
            </a:r>
            <a:endParaRPr lang="en-US" sz="1400" dirty="0"/>
          </a:p>
          <a:p>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a:t>
            </a:r>
            <a:endParaRPr lang="en-US" sz="1400" dirty="0"/>
          </a:p>
          <a:p>
            <a:pPr indent="0" marL="0">
              <a:spcAft>
                <a:spcPts val="100"/>
              </a:spcAft>
              <a:buNone/>
            </a:pPr>
            <a:r>
              <a:rPr lang="en-US" sz="14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400" dirty="0">
                <a:solidFill>
                  <a:srgbClr val="CE9178"/>
                </a:solidFill>
                <a:latin typeface="Courier New" pitchFamily="34" charset="0"/>
                <a:ea typeface="Courier New" pitchFamily="34" charset="-122"/>
                <a:cs typeface="Courier New" pitchFamily="34" charset="-120"/>
              </a:rPr>
              <a:t>$"Last i = {i}"</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a:t>
            </a:r>
            <a:endParaRPr lang="en-US" sz="1400" dirty="0"/>
          </a:p>
        </p:txBody>
      </p:sp>
      <p:sp>
        <p:nvSpPr>
          <p:cNvPr id="15" name="Shape 12"/>
          <p:cNvSpPr/>
          <p:nvPr/>
        </p:nvSpPr>
        <p:spPr>
          <a:xfrm>
            <a:off x="6217920" y="4114800"/>
            <a:ext cx="5440680" cy="914400"/>
          </a:xfrm>
          <a:prstGeom prst="roundRect">
            <a:avLst>
              <a:gd name="adj" fmla="val 10000"/>
            </a:avLst>
          </a:prstGeom>
          <a:solidFill>
            <a:srgbClr val="0B0F19"/>
          </a:solidFill>
          <a:ln w="12700">
            <a:solidFill>
              <a:srgbClr val="2A3654"/>
            </a:solidFill>
            <a:prstDash val="solid"/>
          </a:ln>
        </p:spPr>
      </p:sp>
      <p:sp>
        <p:nvSpPr>
          <p:cNvPr id="16" name="Shape 13"/>
          <p:cNvSpPr/>
          <p:nvPr/>
        </p:nvSpPr>
        <p:spPr>
          <a:xfrm>
            <a:off x="6400800" y="4242816"/>
            <a:ext cx="118872" cy="118872"/>
          </a:xfrm>
          <a:prstGeom prst="ellipse">
            <a:avLst/>
          </a:prstGeom>
          <a:solidFill>
            <a:srgbClr val="FF5F57"/>
          </a:solidFill>
          <a:ln w="12700">
            <a:solidFill>
              <a:srgbClr val="FF5F57"/>
            </a:solidFill>
            <a:prstDash val="solid"/>
          </a:ln>
        </p:spPr>
      </p:sp>
      <p:sp>
        <p:nvSpPr>
          <p:cNvPr id="17" name="Shape 14"/>
          <p:cNvSpPr/>
          <p:nvPr/>
        </p:nvSpPr>
        <p:spPr>
          <a:xfrm>
            <a:off x="6629400" y="4242816"/>
            <a:ext cx="118872" cy="118872"/>
          </a:xfrm>
          <a:prstGeom prst="ellipse">
            <a:avLst/>
          </a:prstGeom>
          <a:solidFill>
            <a:srgbClr val="FEBC2E"/>
          </a:solidFill>
          <a:ln w="12700">
            <a:solidFill>
              <a:srgbClr val="FEBC2E"/>
            </a:solidFill>
            <a:prstDash val="solid"/>
          </a:ln>
        </p:spPr>
      </p:sp>
      <p:sp>
        <p:nvSpPr>
          <p:cNvPr id="18" name="Shape 15"/>
          <p:cNvSpPr/>
          <p:nvPr/>
        </p:nvSpPr>
        <p:spPr>
          <a:xfrm>
            <a:off x="6858000" y="4242816"/>
            <a:ext cx="118872" cy="118872"/>
          </a:xfrm>
          <a:prstGeom prst="ellipse">
            <a:avLst/>
          </a:prstGeom>
          <a:solidFill>
            <a:srgbClr val="28C840"/>
          </a:solidFill>
          <a:ln w="12700">
            <a:solidFill>
              <a:srgbClr val="28C840"/>
            </a:solidFill>
            <a:prstDash val="solid"/>
          </a:ln>
        </p:spPr>
      </p:sp>
      <p:sp>
        <p:nvSpPr>
          <p:cNvPr id="19" name="Text 16"/>
          <p:cNvSpPr txBox="1"/>
          <p:nvPr/>
        </p:nvSpPr>
        <p:spPr>
          <a:xfrm>
            <a:off x="7132320" y="4187952"/>
            <a:ext cx="434340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Console</a:t>
            </a:r>
            <a:endParaRPr lang="en-US" sz="1000" dirty="0"/>
          </a:p>
        </p:txBody>
      </p:sp>
      <p:sp>
        <p:nvSpPr>
          <p:cNvPr id="20" name="Text 17"/>
          <p:cNvSpPr txBox="1"/>
          <p:nvPr/>
        </p:nvSpPr>
        <p:spPr>
          <a:xfrm>
            <a:off x="6446520" y="4498848"/>
            <a:ext cx="4983480" cy="411480"/>
          </a:xfrm>
          <a:prstGeom prst="rect">
            <a:avLst/>
          </a:prstGeom>
          <a:noFill/>
          <a:ln/>
        </p:spPr>
        <p:txBody>
          <a:bodyPr wrap="square" lIns="0" tIns="0" rIns="0" bIns="0" rtlCol="0" anchor="t"/>
          <a:lstStyle/>
          <a:p>
            <a:pPr indent="0" marL="0">
              <a:spcAft>
                <a:spcPts val="100"/>
              </a:spcAft>
              <a:buNone/>
            </a:pPr>
            <a:r>
              <a:rPr lang="en-US" sz="1400" dirty="0">
                <a:solidFill>
                  <a:srgbClr val="7EE2A8"/>
                </a:solidFill>
                <a:latin typeface="Courier New" pitchFamily="34" charset="0"/>
                <a:ea typeface="Courier New" pitchFamily="34" charset="-122"/>
                <a:cs typeface="Courier New" pitchFamily="34" charset="-120"/>
              </a:rPr>
              <a:t>Last i = 6</a:t>
            </a:r>
            <a:endParaRPr lang="en-US" sz="1400" dirty="0"/>
          </a:p>
        </p:txBody>
      </p:sp>
      <p:sp>
        <p:nvSpPr>
          <p:cNvPr id="21" name="Shape 18"/>
          <p:cNvSpPr/>
          <p:nvPr/>
        </p:nvSpPr>
        <p:spPr>
          <a:xfrm>
            <a:off x="548640" y="5212080"/>
            <a:ext cx="11109960" cy="822960"/>
          </a:xfrm>
          <a:prstGeom prst="roundRect">
            <a:avLst>
              <a:gd name="adj" fmla="val 13333"/>
            </a:avLst>
          </a:prstGeom>
          <a:solidFill>
            <a:srgbClr val="FFF6E3"/>
          </a:solidFill>
          <a:ln w="12700">
            <a:solidFill>
              <a:srgbClr val="FFF6E3"/>
            </a:solidFill>
            <a:prstDash val="solid"/>
          </a:ln>
        </p:spPr>
      </p:sp>
      <p:pic>
        <p:nvPicPr>
          <p:cNvPr id="22" name="Image 0" descr="preencoded.png">    </p:cNvPr>
          <p:cNvPicPr>
            <a:picLocks noChangeAspect="1"/>
          </p:cNvPicPr>
          <p:nvPr/>
        </p:nvPicPr>
        <p:blipFill>
          <a:blip r:embed="rId1"/>
          <a:stretch>
            <a:fillRect/>
          </a:stretch>
        </p:blipFill>
        <p:spPr>
          <a:xfrm>
            <a:off x="822960" y="5349240"/>
            <a:ext cx="548640" cy="548640"/>
          </a:xfrm>
          <a:prstGeom prst="rect">
            <a:avLst/>
          </a:prstGeom>
        </p:spPr>
      </p:pic>
      <p:sp>
        <p:nvSpPr>
          <p:cNvPr id="23" name="Text 19"/>
          <p:cNvSpPr txBox="1"/>
          <p:nvPr/>
        </p:nvSpPr>
        <p:spPr>
          <a:xfrm>
            <a:off x="1645920" y="5285232"/>
            <a:ext cx="9738360" cy="676656"/>
          </a:xfrm>
          <a:prstGeom prst="rect">
            <a:avLst/>
          </a:prstGeom>
          <a:noFill/>
          <a:ln/>
        </p:spPr>
        <p:txBody>
          <a:bodyPr wrap="square" lIns="0" tIns="0" rIns="0" bIns="0" rtlCol="0" anchor="ctr"/>
          <a:lstStyle/>
          <a:p>
            <a:pPr indent="0" marL="0">
              <a:buNone/>
            </a:pPr>
            <a:r>
              <a:rPr lang="en-US" sz="1500" dirty="0">
                <a:solidFill>
                  <a:srgbClr val="333B4F"/>
                </a:solidFill>
                <a:latin typeface="Calibri" pitchFamily="34" charset="0"/>
                <a:ea typeface="Calibri" pitchFamily="34" charset="-122"/>
                <a:cs typeface="Calibri" pitchFamily="34" charset="-120"/>
              </a:rPr>
              <a:t>Two loops in a row may both declare int i: each i is a new variable that disappears at the loop's closing brace.</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ACCUMULATOR PATTERN</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Accumulators and Counters</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6</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14</a:t>
            </a:r>
            <a:endParaRPr lang="en-US" sz="1000" dirty="0"/>
          </a:p>
        </p:txBody>
      </p:sp>
      <p:sp>
        <p:nvSpPr>
          <p:cNvPr id="7" name="Shape 4"/>
          <p:cNvSpPr/>
          <p:nvPr/>
        </p:nvSpPr>
        <p:spPr>
          <a:xfrm>
            <a:off x="548640" y="1645920"/>
            <a:ext cx="5486400" cy="2103120"/>
          </a:xfrm>
          <a:prstGeom prst="roundRect">
            <a:avLst>
              <a:gd name="adj" fmla="val 5217"/>
            </a:avLst>
          </a:prstGeom>
          <a:solidFill>
            <a:srgbClr val="EEF1F6"/>
          </a:solidFill>
          <a:ln w="12700">
            <a:solidFill>
              <a:srgbClr val="EEF1F6"/>
            </a:solidFill>
            <a:prstDash val="solid"/>
          </a:ln>
        </p:spPr>
      </p:sp>
      <p:sp>
        <p:nvSpPr>
          <p:cNvPr id="8" name="Shape 5"/>
          <p:cNvSpPr/>
          <p:nvPr/>
        </p:nvSpPr>
        <p:spPr>
          <a:xfrm>
            <a:off x="777240" y="1874520"/>
            <a:ext cx="566928" cy="566928"/>
          </a:xfrm>
          <a:prstGeom prst="ellipse">
            <a:avLst/>
          </a:prstGeom>
          <a:solidFill>
            <a:srgbClr val="2E9E6A"/>
          </a:solidFill>
          <a:ln w="12700">
            <a:solidFill>
              <a:srgbClr val="2E9E6A"/>
            </a:solidFill>
            <a:prstDash val="solid"/>
          </a:ln>
        </p:spPr>
      </p:sp>
      <p:pic>
        <p:nvPicPr>
          <p:cNvPr id="9" name="Image 0" descr="preencoded.png">    </p:cNvPr>
          <p:cNvPicPr>
            <a:picLocks noChangeAspect="1"/>
          </p:cNvPicPr>
          <p:nvPr/>
        </p:nvPicPr>
        <p:blipFill>
          <a:blip r:embed="rId1"/>
          <a:stretch>
            <a:fillRect/>
          </a:stretch>
        </p:blipFill>
        <p:spPr>
          <a:xfrm>
            <a:off x="924641" y="2021921"/>
            <a:ext cx="272125" cy="272125"/>
          </a:xfrm>
          <a:prstGeom prst="rect">
            <a:avLst/>
          </a:prstGeom>
        </p:spPr>
      </p:pic>
      <p:sp>
        <p:nvSpPr>
          <p:cNvPr id="10" name="Text 6"/>
          <p:cNvSpPr txBox="1"/>
          <p:nvPr/>
        </p:nvSpPr>
        <p:spPr>
          <a:xfrm>
            <a:off x="1463040" y="1874520"/>
            <a:ext cx="4114800" cy="566928"/>
          </a:xfrm>
          <a:prstGeom prst="rect">
            <a:avLst/>
          </a:prstGeom>
          <a:noFill/>
          <a:ln/>
        </p:spPr>
        <p:txBody>
          <a:bodyPr wrap="square" lIns="0" tIns="0" rIns="0" bIns="0" rtlCol="0" anchor="ctr"/>
          <a:lstStyle/>
          <a:p>
            <a:pPr indent="0" marL="0">
              <a:buNone/>
            </a:pPr>
            <a:r>
              <a:rPr lang="en-US" sz="1900" b="1" dirty="0">
                <a:solidFill>
                  <a:srgbClr val="14213D"/>
                </a:solidFill>
                <a:latin typeface="Cambria" pitchFamily="34" charset="0"/>
                <a:ea typeface="Cambria" pitchFamily="34" charset="-122"/>
                <a:cs typeface="Cambria" pitchFamily="34" charset="-120"/>
              </a:rPr>
              <a:t>Sum</a:t>
            </a:r>
            <a:endParaRPr lang="en-US" sz="1900" dirty="0"/>
          </a:p>
        </p:txBody>
      </p:sp>
      <p:sp>
        <p:nvSpPr>
          <p:cNvPr id="11" name="Text 7"/>
          <p:cNvSpPr txBox="1"/>
          <p:nvPr/>
        </p:nvSpPr>
        <p:spPr>
          <a:xfrm>
            <a:off x="822960" y="2560320"/>
            <a:ext cx="5029200" cy="640080"/>
          </a:xfrm>
          <a:prstGeom prst="rect">
            <a:avLst/>
          </a:prstGeom>
          <a:noFill/>
          <a:ln/>
        </p:spPr>
        <p:txBody>
          <a:bodyPr wrap="square" lIns="0" tIns="0" rIns="0" bIns="0" rtlCol="0" anchor="ctr"/>
          <a:lstStyle/>
          <a:p>
            <a:pPr indent="0" marL="0">
              <a:buNone/>
            </a:pPr>
            <a:r>
              <a:rPr lang="en-US" sz="1400" dirty="0">
                <a:solidFill>
                  <a:srgbClr val="5B6478"/>
                </a:solidFill>
                <a:latin typeface="Courier New" pitchFamily="34" charset="0"/>
                <a:ea typeface="Courier New" pitchFamily="34" charset="-122"/>
                <a:cs typeface="Courier New" pitchFamily="34" charset="-120"/>
              </a:rPr>
              <a:t>before loop: int sum = 0;</a:t>
            </a:r>
            <a:endParaRPr lang="en-US" sz="1400" dirty="0"/>
          </a:p>
          <a:p>
            <a:pPr indent="0" marL="0">
              <a:buNone/>
            </a:pPr>
            <a:r>
              <a:rPr lang="en-US" sz="1400" b="1" dirty="0">
                <a:solidFill>
                  <a:srgbClr val="14213D"/>
                </a:solidFill>
                <a:latin typeface="Courier New" pitchFamily="34" charset="0"/>
                <a:ea typeface="Courier New" pitchFamily="34" charset="-122"/>
                <a:cs typeface="Courier New" pitchFamily="34" charset="-120"/>
              </a:rPr>
              <a:t>inside loop: sum += x;</a:t>
            </a:r>
            <a:endParaRPr lang="en-US" sz="1400" dirty="0"/>
          </a:p>
        </p:txBody>
      </p:sp>
      <p:sp>
        <p:nvSpPr>
          <p:cNvPr id="12" name="Text 8"/>
          <p:cNvSpPr txBox="1"/>
          <p:nvPr/>
        </p:nvSpPr>
        <p:spPr>
          <a:xfrm>
            <a:off x="822960" y="3200400"/>
            <a:ext cx="5029200" cy="411480"/>
          </a:xfrm>
          <a:prstGeom prst="rect">
            <a:avLst/>
          </a:prstGeom>
          <a:noFill/>
          <a:ln/>
        </p:spPr>
        <p:txBody>
          <a:bodyPr wrap="square" lIns="0" tIns="0" rIns="0" bIns="0" rtlCol="0" anchor="ctr"/>
          <a:lstStyle/>
          <a:p>
            <a:pPr indent="0" marL="0">
              <a:buNone/>
            </a:pPr>
            <a:r>
              <a:rPr lang="en-US" sz="1400" dirty="0">
                <a:solidFill>
                  <a:srgbClr val="333B4F"/>
                </a:solidFill>
                <a:latin typeface="Calibri" pitchFamily="34" charset="0"/>
                <a:ea typeface="Calibri" pitchFamily="34" charset="-122"/>
                <a:cs typeface="Calibri" pitchFamily="34" charset="-120"/>
              </a:rPr>
              <a:t>Start at 0: adding 0 changes nothing.</a:t>
            </a:r>
            <a:endParaRPr lang="en-US" sz="1400" dirty="0"/>
          </a:p>
        </p:txBody>
      </p:sp>
      <p:sp>
        <p:nvSpPr>
          <p:cNvPr id="13" name="Shape 9"/>
          <p:cNvSpPr/>
          <p:nvPr/>
        </p:nvSpPr>
        <p:spPr>
          <a:xfrm>
            <a:off x="6172200" y="1645920"/>
            <a:ext cx="5486400" cy="2103120"/>
          </a:xfrm>
          <a:prstGeom prst="roundRect">
            <a:avLst>
              <a:gd name="adj" fmla="val 5217"/>
            </a:avLst>
          </a:prstGeom>
          <a:solidFill>
            <a:srgbClr val="EEF1F6"/>
          </a:solidFill>
          <a:ln w="12700">
            <a:solidFill>
              <a:srgbClr val="EEF1F6"/>
            </a:solidFill>
            <a:prstDash val="solid"/>
          </a:ln>
        </p:spPr>
      </p:sp>
      <p:sp>
        <p:nvSpPr>
          <p:cNvPr id="14" name="Shape 10"/>
          <p:cNvSpPr/>
          <p:nvPr/>
        </p:nvSpPr>
        <p:spPr>
          <a:xfrm>
            <a:off x="6400800" y="1874520"/>
            <a:ext cx="566928" cy="566928"/>
          </a:xfrm>
          <a:prstGeom prst="ellipse">
            <a:avLst/>
          </a:prstGeom>
          <a:solidFill>
            <a:srgbClr val="2E9E6A"/>
          </a:solidFill>
          <a:ln w="12700">
            <a:solidFill>
              <a:srgbClr val="2E9E6A"/>
            </a:solidFill>
            <a:prstDash val="solid"/>
          </a:ln>
        </p:spPr>
      </p:sp>
      <p:pic>
        <p:nvPicPr>
          <p:cNvPr id="15" name="Image 1" descr="preencoded.png">    </p:cNvPr>
          <p:cNvPicPr>
            <a:picLocks noChangeAspect="1"/>
          </p:cNvPicPr>
          <p:nvPr/>
        </p:nvPicPr>
        <p:blipFill>
          <a:blip r:embed="rId2"/>
          <a:stretch>
            <a:fillRect/>
          </a:stretch>
        </p:blipFill>
        <p:spPr>
          <a:xfrm>
            <a:off x="6548201" y="2021921"/>
            <a:ext cx="272125" cy="272125"/>
          </a:xfrm>
          <a:prstGeom prst="rect">
            <a:avLst/>
          </a:prstGeom>
        </p:spPr>
      </p:pic>
      <p:sp>
        <p:nvSpPr>
          <p:cNvPr id="16" name="Text 11"/>
          <p:cNvSpPr txBox="1"/>
          <p:nvPr/>
        </p:nvSpPr>
        <p:spPr>
          <a:xfrm>
            <a:off x="7086600" y="1874520"/>
            <a:ext cx="4114800" cy="566928"/>
          </a:xfrm>
          <a:prstGeom prst="rect">
            <a:avLst/>
          </a:prstGeom>
          <a:noFill/>
          <a:ln/>
        </p:spPr>
        <p:txBody>
          <a:bodyPr wrap="square" lIns="0" tIns="0" rIns="0" bIns="0" rtlCol="0" anchor="ctr"/>
          <a:lstStyle/>
          <a:p>
            <a:pPr indent="0" marL="0">
              <a:buNone/>
            </a:pPr>
            <a:r>
              <a:rPr lang="en-US" sz="1900" b="1" dirty="0">
                <a:solidFill>
                  <a:srgbClr val="14213D"/>
                </a:solidFill>
                <a:latin typeface="Cambria" pitchFamily="34" charset="0"/>
                <a:ea typeface="Cambria" pitchFamily="34" charset="-122"/>
                <a:cs typeface="Cambria" pitchFamily="34" charset="-120"/>
              </a:rPr>
              <a:t>Product</a:t>
            </a:r>
            <a:endParaRPr lang="en-US" sz="1900" dirty="0"/>
          </a:p>
        </p:txBody>
      </p:sp>
      <p:sp>
        <p:nvSpPr>
          <p:cNvPr id="17" name="Text 12"/>
          <p:cNvSpPr txBox="1"/>
          <p:nvPr/>
        </p:nvSpPr>
        <p:spPr>
          <a:xfrm>
            <a:off x="6446520" y="2560320"/>
            <a:ext cx="5029200" cy="640080"/>
          </a:xfrm>
          <a:prstGeom prst="rect">
            <a:avLst/>
          </a:prstGeom>
          <a:noFill/>
          <a:ln/>
        </p:spPr>
        <p:txBody>
          <a:bodyPr wrap="square" lIns="0" tIns="0" rIns="0" bIns="0" rtlCol="0" anchor="ctr"/>
          <a:lstStyle/>
          <a:p>
            <a:pPr indent="0" marL="0">
              <a:buNone/>
            </a:pPr>
            <a:r>
              <a:rPr lang="en-US" sz="1400" dirty="0">
                <a:solidFill>
                  <a:srgbClr val="5B6478"/>
                </a:solidFill>
                <a:latin typeface="Courier New" pitchFamily="34" charset="0"/>
                <a:ea typeface="Courier New" pitchFamily="34" charset="-122"/>
                <a:cs typeface="Courier New" pitchFamily="34" charset="-120"/>
              </a:rPr>
              <a:t>before loop: long product = 1;</a:t>
            </a:r>
            <a:endParaRPr lang="en-US" sz="1400" dirty="0"/>
          </a:p>
          <a:p>
            <a:pPr indent="0" marL="0">
              <a:buNone/>
            </a:pPr>
            <a:r>
              <a:rPr lang="en-US" sz="1400" b="1" dirty="0">
                <a:solidFill>
                  <a:srgbClr val="14213D"/>
                </a:solidFill>
                <a:latin typeface="Courier New" pitchFamily="34" charset="0"/>
                <a:ea typeface="Courier New" pitchFamily="34" charset="-122"/>
                <a:cs typeface="Courier New" pitchFamily="34" charset="-120"/>
              </a:rPr>
              <a:t>inside loop: product *= x;</a:t>
            </a:r>
            <a:endParaRPr lang="en-US" sz="1400" dirty="0"/>
          </a:p>
        </p:txBody>
      </p:sp>
      <p:sp>
        <p:nvSpPr>
          <p:cNvPr id="18" name="Text 13"/>
          <p:cNvSpPr txBox="1"/>
          <p:nvPr/>
        </p:nvSpPr>
        <p:spPr>
          <a:xfrm>
            <a:off x="6446520" y="3200400"/>
            <a:ext cx="5029200" cy="411480"/>
          </a:xfrm>
          <a:prstGeom prst="rect">
            <a:avLst/>
          </a:prstGeom>
          <a:noFill/>
          <a:ln/>
        </p:spPr>
        <p:txBody>
          <a:bodyPr wrap="square" lIns="0" tIns="0" rIns="0" bIns="0" rtlCol="0" anchor="ctr"/>
          <a:lstStyle/>
          <a:p>
            <a:pPr indent="0" marL="0">
              <a:buNone/>
            </a:pPr>
            <a:r>
              <a:rPr lang="en-US" sz="1400" dirty="0">
                <a:solidFill>
                  <a:srgbClr val="333B4F"/>
                </a:solidFill>
                <a:latin typeface="Calibri" pitchFamily="34" charset="0"/>
                <a:ea typeface="Calibri" pitchFamily="34" charset="-122"/>
                <a:cs typeface="Calibri" pitchFamily="34" charset="-120"/>
              </a:rPr>
              <a:t>Start at 1: starting at 0 keeps the result 0.</a:t>
            </a:r>
            <a:endParaRPr lang="en-US" sz="1400" dirty="0"/>
          </a:p>
        </p:txBody>
      </p:sp>
      <p:sp>
        <p:nvSpPr>
          <p:cNvPr id="19" name="Shape 14"/>
          <p:cNvSpPr/>
          <p:nvPr/>
        </p:nvSpPr>
        <p:spPr>
          <a:xfrm>
            <a:off x="548640" y="3886200"/>
            <a:ext cx="5486400" cy="2103120"/>
          </a:xfrm>
          <a:prstGeom prst="roundRect">
            <a:avLst>
              <a:gd name="adj" fmla="val 5217"/>
            </a:avLst>
          </a:prstGeom>
          <a:solidFill>
            <a:srgbClr val="EEF1F6"/>
          </a:solidFill>
          <a:ln w="12700">
            <a:solidFill>
              <a:srgbClr val="EEF1F6"/>
            </a:solidFill>
            <a:prstDash val="solid"/>
          </a:ln>
        </p:spPr>
      </p:sp>
      <p:sp>
        <p:nvSpPr>
          <p:cNvPr id="20" name="Shape 15"/>
          <p:cNvSpPr/>
          <p:nvPr/>
        </p:nvSpPr>
        <p:spPr>
          <a:xfrm>
            <a:off x="777240" y="4114800"/>
            <a:ext cx="566928" cy="566928"/>
          </a:xfrm>
          <a:prstGeom prst="ellipse">
            <a:avLst/>
          </a:prstGeom>
          <a:solidFill>
            <a:srgbClr val="2E9E6A"/>
          </a:solidFill>
          <a:ln w="12700">
            <a:solidFill>
              <a:srgbClr val="2E9E6A"/>
            </a:solidFill>
            <a:prstDash val="solid"/>
          </a:ln>
        </p:spPr>
      </p:sp>
      <p:pic>
        <p:nvPicPr>
          <p:cNvPr id="21" name="Image 2" descr="preencoded.png">    </p:cNvPr>
          <p:cNvPicPr>
            <a:picLocks noChangeAspect="1"/>
          </p:cNvPicPr>
          <p:nvPr/>
        </p:nvPicPr>
        <p:blipFill>
          <a:blip r:embed="rId3"/>
          <a:stretch>
            <a:fillRect/>
          </a:stretch>
        </p:blipFill>
        <p:spPr>
          <a:xfrm>
            <a:off x="924641" y="4262201"/>
            <a:ext cx="272125" cy="272125"/>
          </a:xfrm>
          <a:prstGeom prst="rect">
            <a:avLst/>
          </a:prstGeom>
        </p:spPr>
      </p:pic>
      <p:sp>
        <p:nvSpPr>
          <p:cNvPr id="22" name="Text 16"/>
          <p:cNvSpPr txBox="1"/>
          <p:nvPr/>
        </p:nvSpPr>
        <p:spPr>
          <a:xfrm>
            <a:off x="1463040" y="4114800"/>
            <a:ext cx="4114800" cy="566928"/>
          </a:xfrm>
          <a:prstGeom prst="rect">
            <a:avLst/>
          </a:prstGeom>
          <a:noFill/>
          <a:ln/>
        </p:spPr>
        <p:txBody>
          <a:bodyPr wrap="square" lIns="0" tIns="0" rIns="0" bIns="0" rtlCol="0" anchor="ctr"/>
          <a:lstStyle/>
          <a:p>
            <a:pPr indent="0" marL="0">
              <a:buNone/>
            </a:pPr>
            <a:r>
              <a:rPr lang="en-US" sz="1900" b="1" dirty="0">
                <a:solidFill>
                  <a:srgbClr val="14213D"/>
                </a:solidFill>
                <a:latin typeface="Cambria" pitchFamily="34" charset="0"/>
                <a:ea typeface="Cambria" pitchFamily="34" charset="-122"/>
                <a:cs typeface="Cambria" pitchFamily="34" charset="-120"/>
              </a:rPr>
              <a:t>Counter</a:t>
            </a:r>
            <a:endParaRPr lang="en-US" sz="1900" dirty="0"/>
          </a:p>
        </p:txBody>
      </p:sp>
      <p:sp>
        <p:nvSpPr>
          <p:cNvPr id="23" name="Text 17"/>
          <p:cNvSpPr txBox="1"/>
          <p:nvPr/>
        </p:nvSpPr>
        <p:spPr>
          <a:xfrm>
            <a:off x="822960" y="4800600"/>
            <a:ext cx="5029200" cy="640080"/>
          </a:xfrm>
          <a:prstGeom prst="rect">
            <a:avLst/>
          </a:prstGeom>
          <a:noFill/>
          <a:ln/>
        </p:spPr>
        <p:txBody>
          <a:bodyPr wrap="square" lIns="0" tIns="0" rIns="0" bIns="0" rtlCol="0" anchor="ctr"/>
          <a:lstStyle/>
          <a:p>
            <a:pPr indent="0" marL="0">
              <a:buNone/>
            </a:pPr>
            <a:r>
              <a:rPr lang="en-US" sz="1400" dirty="0">
                <a:solidFill>
                  <a:srgbClr val="5B6478"/>
                </a:solidFill>
                <a:latin typeface="Courier New" pitchFamily="34" charset="0"/>
                <a:ea typeface="Courier New" pitchFamily="34" charset="-122"/>
                <a:cs typeface="Courier New" pitchFamily="34" charset="-120"/>
              </a:rPr>
              <a:t>before loop: int count = 0;</a:t>
            </a:r>
            <a:endParaRPr lang="en-US" sz="1400" dirty="0"/>
          </a:p>
          <a:p>
            <a:pPr indent="0" marL="0">
              <a:buNone/>
            </a:pPr>
            <a:r>
              <a:rPr lang="en-US" sz="1400" b="1" dirty="0">
                <a:solidFill>
                  <a:srgbClr val="14213D"/>
                </a:solidFill>
                <a:latin typeface="Courier New" pitchFamily="34" charset="0"/>
                <a:ea typeface="Courier New" pitchFamily="34" charset="-122"/>
                <a:cs typeface="Courier New" pitchFamily="34" charset="-120"/>
              </a:rPr>
              <a:t>inside loop: if (x &gt;= 50) count++;</a:t>
            </a:r>
            <a:endParaRPr lang="en-US" sz="1400" dirty="0"/>
          </a:p>
        </p:txBody>
      </p:sp>
      <p:sp>
        <p:nvSpPr>
          <p:cNvPr id="24" name="Text 18"/>
          <p:cNvSpPr txBox="1"/>
          <p:nvPr/>
        </p:nvSpPr>
        <p:spPr>
          <a:xfrm>
            <a:off x="822960" y="5440680"/>
            <a:ext cx="5029200" cy="411480"/>
          </a:xfrm>
          <a:prstGeom prst="rect">
            <a:avLst/>
          </a:prstGeom>
          <a:noFill/>
          <a:ln/>
        </p:spPr>
        <p:txBody>
          <a:bodyPr wrap="square" lIns="0" tIns="0" rIns="0" bIns="0" rtlCol="0" anchor="ctr"/>
          <a:lstStyle/>
          <a:p>
            <a:pPr indent="0" marL="0">
              <a:buNone/>
            </a:pPr>
            <a:r>
              <a:rPr lang="en-US" sz="1400" dirty="0">
                <a:solidFill>
                  <a:srgbClr val="333B4F"/>
                </a:solidFill>
                <a:latin typeface="Calibri" pitchFamily="34" charset="0"/>
                <a:ea typeface="Calibri" pitchFamily="34" charset="-122"/>
                <a:cs typeface="Calibri" pitchFamily="34" charset="-120"/>
              </a:rPr>
              <a:t>Counts the passes that meet a condition.</a:t>
            </a:r>
            <a:endParaRPr lang="en-US" sz="1400" dirty="0"/>
          </a:p>
        </p:txBody>
      </p:sp>
      <p:sp>
        <p:nvSpPr>
          <p:cNvPr id="25" name="Shape 19"/>
          <p:cNvSpPr/>
          <p:nvPr/>
        </p:nvSpPr>
        <p:spPr>
          <a:xfrm>
            <a:off x="6172200" y="3886200"/>
            <a:ext cx="5486400" cy="2103120"/>
          </a:xfrm>
          <a:prstGeom prst="roundRect">
            <a:avLst>
              <a:gd name="adj" fmla="val 5217"/>
            </a:avLst>
          </a:prstGeom>
          <a:solidFill>
            <a:srgbClr val="EEF1F6"/>
          </a:solidFill>
          <a:ln w="12700">
            <a:solidFill>
              <a:srgbClr val="EEF1F6"/>
            </a:solidFill>
            <a:prstDash val="solid"/>
          </a:ln>
        </p:spPr>
      </p:sp>
      <p:sp>
        <p:nvSpPr>
          <p:cNvPr id="26" name="Shape 20"/>
          <p:cNvSpPr/>
          <p:nvPr/>
        </p:nvSpPr>
        <p:spPr>
          <a:xfrm>
            <a:off x="6400800" y="4114800"/>
            <a:ext cx="566928" cy="566928"/>
          </a:xfrm>
          <a:prstGeom prst="ellipse">
            <a:avLst/>
          </a:prstGeom>
          <a:solidFill>
            <a:srgbClr val="B7791F"/>
          </a:solidFill>
          <a:ln w="12700">
            <a:solidFill>
              <a:srgbClr val="B7791F"/>
            </a:solidFill>
            <a:prstDash val="solid"/>
          </a:ln>
        </p:spPr>
      </p:sp>
      <p:pic>
        <p:nvPicPr>
          <p:cNvPr id="27" name="Image 3" descr="preencoded.png">    </p:cNvPr>
          <p:cNvPicPr>
            <a:picLocks noChangeAspect="1"/>
          </p:cNvPicPr>
          <p:nvPr/>
        </p:nvPicPr>
        <p:blipFill>
          <a:blip r:embed="rId4"/>
          <a:stretch>
            <a:fillRect/>
          </a:stretch>
        </p:blipFill>
        <p:spPr>
          <a:xfrm>
            <a:off x="6548201" y="4262201"/>
            <a:ext cx="272125" cy="272125"/>
          </a:xfrm>
          <a:prstGeom prst="rect">
            <a:avLst/>
          </a:prstGeom>
        </p:spPr>
      </p:pic>
      <p:sp>
        <p:nvSpPr>
          <p:cNvPr id="28" name="Text 21"/>
          <p:cNvSpPr txBox="1"/>
          <p:nvPr/>
        </p:nvSpPr>
        <p:spPr>
          <a:xfrm>
            <a:off x="7086600" y="4114800"/>
            <a:ext cx="4114800" cy="566928"/>
          </a:xfrm>
          <a:prstGeom prst="rect">
            <a:avLst/>
          </a:prstGeom>
          <a:noFill/>
          <a:ln/>
        </p:spPr>
        <p:txBody>
          <a:bodyPr wrap="square" lIns="0" tIns="0" rIns="0" bIns="0" rtlCol="0" anchor="ctr"/>
          <a:lstStyle/>
          <a:p>
            <a:pPr indent="0" marL="0">
              <a:buNone/>
            </a:pPr>
            <a:r>
              <a:rPr lang="en-US" sz="1900" b="1" dirty="0">
                <a:solidFill>
                  <a:srgbClr val="14213D"/>
                </a:solidFill>
                <a:latin typeface="Cambria" pitchFamily="34" charset="0"/>
                <a:ea typeface="Cambria" pitchFamily="34" charset="-122"/>
                <a:cs typeface="Cambria" pitchFamily="34" charset="-120"/>
              </a:rPr>
              <a:t>Average</a:t>
            </a:r>
            <a:endParaRPr lang="en-US" sz="1900" dirty="0"/>
          </a:p>
        </p:txBody>
      </p:sp>
      <p:sp>
        <p:nvSpPr>
          <p:cNvPr id="29" name="Text 22"/>
          <p:cNvSpPr txBox="1"/>
          <p:nvPr/>
        </p:nvSpPr>
        <p:spPr>
          <a:xfrm>
            <a:off x="6446520" y="4800600"/>
            <a:ext cx="5029200" cy="640080"/>
          </a:xfrm>
          <a:prstGeom prst="rect">
            <a:avLst/>
          </a:prstGeom>
          <a:noFill/>
          <a:ln/>
        </p:spPr>
        <p:txBody>
          <a:bodyPr wrap="square" lIns="0" tIns="0" rIns="0" bIns="0" rtlCol="0" anchor="ctr"/>
          <a:lstStyle/>
          <a:p>
            <a:pPr indent="0" marL="0">
              <a:buNone/>
            </a:pPr>
            <a:r>
              <a:rPr lang="en-US" sz="1400" dirty="0">
                <a:solidFill>
                  <a:srgbClr val="5B6478"/>
                </a:solidFill>
                <a:latin typeface="Courier New" pitchFamily="34" charset="0"/>
                <a:ea typeface="Courier New" pitchFamily="34" charset="-122"/>
                <a:cs typeface="Courier New" pitchFamily="34" charset="-120"/>
              </a:rPr>
              <a:t>after loop:  if (count &gt; 0)</a:t>
            </a:r>
            <a:endParaRPr lang="en-US" sz="1400" dirty="0"/>
          </a:p>
          <a:p>
            <a:pPr indent="0" marL="0">
              <a:buNone/>
            </a:pPr>
            <a:r>
              <a:rPr lang="en-US" sz="1400" b="1" dirty="0">
                <a:solidFill>
                  <a:srgbClr val="14213D"/>
                </a:solidFill>
                <a:latin typeface="Courier New" pitchFamily="34" charset="0"/>
                <a:ea typeface="Courier New" pitchFamily="34" charset="-122"/>
                <a:cs typeface="Courier New" pitchFamily="34" charset="-120"/>
              </a:rPr>
              <a:t>             avg = (double)sum / count;</a:t>
            </a:r>
            <a:endParaRPr lang="en-US" sz="1400" dirty="0"/>
          </a:p>
        </p:txBody>
      </p:sp>
      <p:sp>
        <p:nvSpPr>
          <p:cNvPr id="30" name="Text 23"/>
          <p:cNvSpPr txBox="1"/>
          <p:nvPr/>
        </p:nvSpPr>
        <p:spPr>
          <a:xfrm>
            <a:off x="6446520" y="5440680"/>
            <a:ext cx="5029200" cy="411480"/>
          </a:xfrm>
          <a:prstGeom prst="rect">
            <a:avLst/>
          </a:prstGeom>
          <a:noFill/>
          <a:ln/>
        </p:spPr>
        <p:txBody>
          <a:bodyPr wrap="square" lIns="0" tIns="0" rIns="0" bIns="0" rtlCol="0" anchor="ctr"/>
          <a:lstStyle/>
          <a:p>
            <a:pPr indent="0" marL="0">
              <a:buNone/>
            </a:pPr>
            <a:r>
              <a:rPr lang="en-US" sz="1400" dirty="0">
                <a:solidFill>
                  <a:srgbClr val="333B4F"/>
                </a:solidFill>
                <a:latin typeface="Calibri" pitchFamily="34" charset="0"/>
                <a:ea typeface="Calibri" pitchFamily="34" charset="-122"/>
                <a:cs typeface="Calibri" pitchFamily="34" charset="-120"/>
              </a:rPr>
              <a:t>After the loop, never inside; guard count &gt; 0.</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WORKED EXAMPLE · STEP 1</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Sum, Average and Pass Count of N Grades</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6</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15</a:t>
            </a:r>
            <a:endParaRPr lang="en-US" sz="1000" dirty="0"/>
          </a:p>
        </p:txBody>
      </p:sp>
      <p:sp>
        <p:nvSpPr>
          <p:cNvPr id="7" name="Shape 4"/>
          <p:cNvSpPr/>
          <p:nvPr/>
        </p:nvSpPr>
        <p:spPr>
          <a:xfrm>
            <a:off x="548640" y="1645920"/>
            <a:ext cx="5257800" cy="1828800"/>
          </a:xfrm>
          <a:prstGeom prst="roundRect">
            <a:avLst>
              <a:gd name="adj" fmla="val 6000"/>
            </a:avLst>
          </a:prstGeom>
          <a:solidFill>
            <a:srgbClr val="EEF1F6"/>
          </a:solidFill>
          <a:ln w="12700">
            <a:solidFill>
              <a:srgbClr val="EEF1F6"/>
            </a:solidFill>
            <a:prstDash val="solid"/>
          </a:ln>
        </p:spPr>
      </p:sp>
      <p:sp>
        <p:nvSpPr>
          <p:cNvPr id="8" name="Shape 5"/>
          <p:cNvSpPr/>
          <p:nvPr/>
        </p:nvSpPr>
        <p:spPr>
          <a:xfrm>
            <a:off x="777240" y="1874520"/>
            <a:ext cx="566928" cy="566928"/>
          </a:xfrm>
          <a:prstGeom prst="ellipse">
            <a:avLst/>
          </a:prstGeom>
          <a:solidFill>
            <a:srgbClr val="14213D"/>
          </a:solidFill>
          <a:ln w="12700">
            <a:solidFill>
              <a:srgbClr val="14213D"/>
            </a:solidFill>
            <a:prstDash val="solid"/>
          </a:ln>
        </p:spPr>
      </p:sp>
      <p:pic>
        <p:nvPicPr>
          <p:cNvPr id="9" name="Image 0" descr="preencoded.png">    </p:cNvPr>
          <p:cNvPicPr>
            <a:picLocks noChangeAspect="1"/>
          </p:cNvPicPr>
          <p:nvPr/>
        </p:nvPicPr>
        <p:blipFill>
          <a:blip r:embed="rId1"/>
          <a:stretch>
            <a:fillRect/>
          </a:stretch>
        </p:blipFill>
        <p:spPr>
          <a:xfrm>
            <a:off x="924641" y="2021921"/>
            <a:ext cx="272125" cy="272125"/>
          </a:xfrm>
          <a:prstGeom prst="rect">
            <a:avLst/>
          </a:prstGeom>
        </p:spPr>
      </p:pic>
      <p:sp>
        <p:nvSpPr>
          <p:cNvPr id="10" name="Text 6"/>
          <p:cNvSpPr txBox="1"/>
          <p:nvPr/>
        </p:nvSpPr>
        <p:spPr>
          <a:xfrm>
            <a:off x="1463040" y="1874520"/>
            <a:ext cx="416052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Problem</a:t>
            </a:r>
            <a:endParaRPr lang="en-US" sz="1700" dirty="0"/>
          </a:p>
        </p:txBody>
      </p:sp>
      <p:sp>
        <p:nvSpPr>
          <p:cNvPr id="11" name="Text 7"/>
          <p:cNvSpPr txBox="1"/>
          <p:nvPr/>
        </p:nvSpPr>
        <p:spPr>
          <a:xfrm>
            <a:off x="777240" y="2560320"/>
            <a:ext cx="4800600" cy="777240"/>
          </a:xfrm>
          <a:prstGeom prst="rect">
            <a:avLst/>
          </a:prstGeom>
          <a:noFill/>
          <a:ln/>
        </p:spPr>
        <p:txBody>
          <a:bodyPr wrap="square" lIns="0" tIns="0" rIns="0" bIns="0" rtlCol="0" anchor="t"/>
          <a:lstStyle/>
          <a:p>
            <a:pPr indent="0" marL="0">
              <a:buNone/>
            </a:pPr>
            <a:r>
              <a:rPr lang="en-US" sz="1500" dirty="0">
                <a:solidFill>
                  <a:srgbClr val="333B4F"/>
                </a:solidFill>
                <a:latin typeface="Calibri" pitchFamily="34" charset="0"/>
                <a:ea typeface="Calibri" pitchFamily="34" charset="-122"/>
                <a:cs typeface="Calibri" pitchFamily="34" charset="-120"/>
              </a:rPr>
              <a:t>Read how many grades there are, then each grade. Print the sum, the average and how many grades are at least 50.</a:t>
            </a:r>
            <a:endParaRPr lang="en-US" sz="15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3703320"/>
          <a:ext cx="5257800" cy="914400"/>
        </p:xfrm>
        <a:graphic>
          <a:graphicData uri="http://schemas.openxmlformats.org/drawingml/2006/table">
            <a:tbl>
              <a:tblPr/>
              <a:tblGrid>
                <a:gridCol w="2377440"/>
                <a:gridCol w="2880360"/>
              </a:tblGrid>
              <a:tr h="731520">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Test input</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Expected output</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731520">
                <a:tc>
                  <a:txBody>
                    <a:bodyPr/>
                    <a:lstStyle/>
                    <a:p>
                      <a:pPr algn="l" indent="0" marL="0">
                        <a:buNone/>
                      </a:pPr>
                      <a:r>
                        <a:rPr lang="en-US" sz="1500" dirty="0">
                          <a:solidFill>
                            <a:srgbClr val="14213D"/>
                          </a:solidFill>
                          <a:latin typeface="Calibri" pitchFamily="34" charset="0"/>
                          <a:ea typeface="Calibri" pitchFamily="34" charset="-122"/>
                          <a:cs typeface="Calibri" pitchFamily="34" charset="-120"/>
                        </a:rPr>
                        <a:t>5 grades: 72.5, 45, 88, 60, 39.5</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4213D"/>
                          </a:solidFill>
                          <a:latin typeface="Calibri" pitchFamily="34" charset="0"/>
                          <a:ea typeface="Calibri" pitchFamily="34" charset="-122"/>
                          <a:cs typeface="Calibri" pitchFamily="34" charset="-120"/>
                        </a:rPr>
                        <a:t>sum 305.00, average 61.00, passed 3 of 5</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731520">
                <a:tc>
                  <a:txBody>
                    <a:bodyPr/>
                    <a:lstStyle/>
                    <a:p>
                      <a:pPr algn="l" indent="0" marL="0">
                        <a:buNone/>
                      </a:pPr>
                      <a:r>
                        <a:rPr lang="en-US" sz="1500" dirty="0">
                          <a:solidFill>
                            <a:srgbClr val="14213D"/>
                          </a:solidFill>
                          <a:latin typeface="Calibri" pitchFamily="34" charset="0"/>
                          <a:ea typeface="Calibri" pitchFamily="34" charset="-122"/>
                          <a:cs typeface="Calibri" pitchFamily="34" charset="-120"/>
                        </a:rPr>
                        <a:t>0 grades</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500" dirty="0">
                          <a:solidFill>
                            <a:srgbClr val="14213D"/>
                          </a:solidFill>
                          <a:latin typeface="Calibri" pitchFamily="34" charset="0"/>
                          <a:ea typeface="Calibri" pitchFamily="34" charset="-122"/>
                          <a:cs typeface="Calibri" pitchFamily="34" charset="-120"/>
                        </a:rPr>
                        <a:t>No grades entered.</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bl>
          </a:graphicData>
        </a:graphic>
      </p:graphicFrame>
      <p:sp>
        <p:nvSpPr>
          <p:cNvPr id="13" name="Shape 8"/>
          <p:cNvSpPr/>
          <p:nvPr/>
        </p:nvSpPr>
        <p:spPr>
          <a:xfrm>
            <a:off x="6080760" y="1645920"/>
            <a:ext cx="5577840" cy="4434840"/>
          </a:xfrm>
          <a:prstGeom prst="roundRect">
            <a:avLst>
              <a:gd name="adj" fmla="val 1649"/>
            </a:avLst>
          </a:prstGeom>
          <a:solidFill>
            <a:srgbClr val="F4F6FA"/>
          </a:solidFill>
          <a:ln w="9525">
            <a:solidFill>
              <a:srgbClr val="C9D0DD"/>
            </a:solidFill>
            <a:prstDash val="solid"/>
          </a:ln>
        </p:spPr>
      </p:sp>
      <p:sp>
        <p:nvSpPr>
          <p:cNvPr id="14" name="Text 9"/>
          <p:cNvSpPr txBox="1"/>
          <p:nvPr/>
        </p:nvSpPr>
        <p:spPr>
          <a:xfrm>
            <a:off x="6263640" y="1737360"/>
            <a:ext cx="5212080" cy="274320"/>
          </a:xfrm>
          <a:prstGeom prst="rect">
            <a:avLst/>
          </a:prstGeom>
          <a:noFill/>
          <a:ln/>
        </p:spPr>
        <p:txBody>
          <a:bodyPr wrap="square" lIns="0" tIns="0" rIns="0" bIns="0" rtlCol="0" anchor="ctr"/>
          <a:lstStyle/>
          <a:p>
            <a:pPr indent="0" marL="0">
              <a:buNone/>
            </a:pPr>
            <a:r>
              <a:rPr lang="en-US" sz="1200" b="1" dirty="0">
                <a:solidFill>
                  <a:srgbClr val="5B6478"/>
                </a:solidFill>
                <a:latin typeface="Calibri" pitchFamily="34" charset="0"/>
                <a:ea typeface="Calibri" pitchFamily="34" charset="-122"/>
                <a:cs typeface="Calibri" pitchFamily="34" charset="-120"/>
              </a:rPr>
              <a:t>Pseudocode</a:t>
            </a:r>
            <a:endParaRPr lang="en-US" sz="1200" dirty="0"/>
          </a:p>
        </p:txBody>
      </p:sp>
      <p:sp>
        <p:nvSpPr>
          <p:cNvPr id="15" name="Text 10"/>
          <p:cNvSpPr txBox="1"/>
          <p:nvPr/>
        </p:nvSpPr>
        <p:spPr>
          <a:xfrm>
            <a:off x="6263640" y="2057400"/>
            <a:ext cx="5212080" cy="3931920"/>
          </a:xfrm>
          <a:prstGeom prst="rect">
            <a:avLst/>
          </a:prstGeom>
          <a:noFill/>
          <a:ln/>
        </p:spPr>
        <p:txBody>
          <a:bodyPr wrap="square" lIns="0" tIns="0" rIns="0" bIns="0" rtlCol="0" anchor="t"/>
          <a:lstStyle/>
          <a:p>
            <a:pPr indent="0" marL="0">
              <a:spcAft>
                <a:spcPts val="100"/>
              </a:spcAft>
              <a:buNone/>
            </a:pPr>
            <a:r>
              <a:rPr lang="en-US" sz="1300" b="1" dirty="0">
                <a:solidFill>
                  <a:srgbClr val="2F6FB3"/>
                </a:solidFill>
                <a:latin typeface="Courier New" pitchFamily="34" charset="0"/>
                <a:ea typeface="Courier New" pitchFamily="34" charset="-122"/>
                <a:cs typeface="Courier New" pitchFamily="34" charset="-120"/>
              </a:rPr>
              <a:t>START</a:t>
            </a:r>
            <a:endParaRPr lang="en-US" sz="1300" dirty="0"/>
          </a:p>
          <a:p>
            <a:pPr indent="0" marL="0">
              <a:spcAft>
                <a:spcPts val="100"/>
              </a:spcAft>
              <a:buNone/>
            </a:pPr>
            <a:r>
              <a:rPr lang="en-US" sz="1300" dirty="0">
                <a:solidFill>
                  <a:srgbClr val="14213D"/>
                </a:solidFill>
                <a:latin typeface="Courier New" pitchFamily="34" charset="0"/>
                <a:ea typeface="Courier New" pitchFamily="34" charset="-122"/>
                <a:cs typeface="Courier New" pitchFamily="34" charset="-120"/>
              </a:rPr>
              <a:t>  </a:t>
            </a:r>
            <a:pPr indent="0" marL="0">
              <a:spcAft>
                <a:spcPts val="100"/>
              </a:spcAft>
              <a:buNone/>
            </a:pPr>
            <a:r>
              <a:rPr lang="en-US" sz="1300" b="1" dirty="0">
                <a:solidFill>
                  <a:srgbClr val="2F6FB3"/>
                </a:solidFill>
                <a:latin typeface="Courier New" pitchFamily="34" charset="0"/>
                <a:ea typeface="Courier New" pitchFamily="34" charset="-122"/>
                <a:cs typeface="Courier New" pitchFamily="34" charset="-120"/>
              </a:rPr>
              <a:t>READ</a:t>
            </a:r>
            <a:pPr indent="0" marL="0">
              <a:spcAft>
                <a:spcPts val="100"/>
              </a:spcAft>
              <a:buNone/>
            </a:pPr>
            <a:r>
              <a:rPr lang="en-US" sz="1300" dirty="0">
                <a:solidFill>
                  <a:srgbClr val="14213D"/>
                </a:solidFill>
                <a:latin typeface="Courier New" pitchFamily="34" charset="0"/>
                <a:ea typeface="Courier New" pitchFamily="34" charset="-122"/>
                <a:cs typeface="Courier New" pitchFamily="34" charset="-120"/>
              </a:rPr>
              <a:t> count</a:t>
            </a:r>
            <a:endParaRPr lang="en-US" sz="1300" dirty="0"/>
          </a:p>
          <a:p>
            <a:pPr indent="0" marL="0">
              <a:spcAft>
                <a:spcPts val="100"/>
              </a:spcAft>
              <a:buNone/>
            </a:pPr>
            <a:r>
              <a:rPr lang="en-US" sz="1300" dirty="0">
                <a:solidFill>
                  <a:srgbClr val="14213D"/>
                </a:solidFill>
                <a:latin typeface="Courier New" pitchFamily="34" charset="0"/>
                <a:ea typeface="Courier New" pitchFamily="34" charset="-122"/>
                <a:cs typeface="Courier New" pitchFamily="34" charset="-120"/>
              </a:rPr>
              <a:t>  sum ← 0</a:t>
            </a:r>
            <a:endParaRPr lang="en-US" sz="1300" dirty="0"/>
          </a:p>
          <a:p>
            <a:pPr indent="0" marL="0">
              <a:spcAft>
                <a:spcPts val="100"/>
              </a:spcAft>
              <a:buNone/>
            </a:pPr>
            <a:r>
              <a:rPr lang="en-US" sz="1300" dirty="0">
                <a:solidFill>
                  <a:srgbClr val="14213D"/>
                </a:solidFill>
                <a:latin typeface="Courier New" pitchFamily="34" charset="0"/>
                <a:ea typeface="Courier New" pitchFamily="34" charset="-122"/>
                <a:cs typeface="Courier New" pitchFamily="34" charset="-120"/>
              </a:rPr>
              <a:t>  passed ← 0</a:t>
            </a:r>
            <a:endParaRPr lang="en-US" sz="1300" dirty="0"/>
          </a:p>
          <a:p>
            <a:pPr indent="0" marL="0">
              <a:spcAft>
                <a:spcPts val="100"/>
              </a:spcAft>
              <a:buNone/>
            </a:pPr>
            <a:r>
              <a:rPr lang="en-US" sz="1300" dirty="0">
                <a:solidFill>
                  <a:srgbClr val="14213D"/>
                </a:solidFill>
                <a:latin typeface="Courier New" pitchFamily="34" charset="0"/>
                <a:ea typeface="Courier New" pitchFamily="34" charset="-122"/>
                <a:cs typeface="Courier New" pitchFamily="34" charset="-120"/>
              </a:rPr>
              <a:t>  </a:t>
            </a:r>
            <a:pPr indent="0" marL="0">
              <a:spcAft>
                <a:spcPts val="100"/>
              </a:spcAft>
              <a:buNone/>
            </a:pPr>
            <a:r>
              <a:rPr lang="en-US" sz="1300" b="1" dirty="0">
                <a:solidFill>
                  <a:srgbClr val="2F6FB3"/>
                </a:solidFill>
                <a:latin typeface="Courier New" pitchFamily="34" charset="0"/>
                <a:ea typeface="Courier New" pitchFamily="34" charset="-122"/>
                <a:cs typeface="Courier New" pitchFamily="34" charset="-120"/>
              </a:rPr>
              <a:t>FOR</a:t>
            </a:r>
            <a:pPr indent="0" marL="0">
              <a:spcAft>
                <a:spcPts val="100"/>
              </a:spcAft>
              <a:buNone/>
            </a:pPr>
            <a:r>
              <a:rPr lang="en-US" sz="1300" dirty="0">
                <a:solidFill>
                  <a:srgbClr val="14213D"/>
                </a:solidFill>
                <a:latin typeface="Courier New" pitchFamily="34" charset="0"/>
                <a:ea typeface="Courier New" pitchFamily="34" charset="-122"/>
                <a:cs typeface="Courier New" pitchFamily="34" charset="-120"/>
              </a:rPr>
              <a:t> i ← 1 </a:t>
            </a:r>
            <a:pPr indent="0" marL="0">
              <a:spcAft>
                <a:spcPts val="100"/>
              </a:spcAft>
              <a:buNone/>
            </a:pPr>
            <a:r>
              <a:rPr lang="en-US" sz="1300" b="1" dirty="0">
                <a:solidFill>
                  <a:srgbClr val="2F6FB3"/>
                </a:solidFill>
                <a:latin typeface="Courier New" pitchFamily="34" charset="0"/>
                <a:ea typeface="Courier New" pitchFamily="34" charset="-122"/>
                <a:cs typeface="Courier New" pitchFamily="34" charset="-120"/>
              </a:rPr>
              <a:t>TO</a:t>
            </a:r>
            <a:pPr indent="0" marL="0">
              <a:spcAft>
                <a:spcPts val="100"/>
              </a:spcAft>
              <a:buNone/>
            </a:pPr>
            <a:r>
              <a:rPr lang="en-US" sz="1300" dirty="0">
                <a:solidFill>
                  <a:srgbClr val="14213D"/>
                </a:solidFill>
                <a:latin typeface="Courier New" pitchFamily="34" charset="0"/>
                <a:ea typeface="Courier New" pitchFamily="34" charset="-122"/>
                <a:cs typeface="Courier New" pitchFamily="34" charset="-120"/>
              </a:rPr>
              <a:t> count</a:t>
            </a:r>
            <a:endParaRPr lang="en-US" sz="1300" dirty="0"/>
          </a:p>
          <a:p>
            <a:pPr indent="0" marL="0">
              <a:spcAft>
                <a:spcPts val="100"/>
              </a:spcAft>
              <a:buNone/>
            </a:pPr>
            <a:r>
              <a:rPr lang="en-US" sz="1300" dirty="0">
                <a:solidFill>
                  <a:srgbClr val="14213D"/>
                </a:solidFill>
                <a:latin typeface="Courier New" pitchFamily="34" charset="0"/>
                <a:ea typeface="Courier New" pitchFamily="34" charset="-122"/>
                <a:cs typeface="Courier New" pitchFamily="34" charset="-120"/>
              </a:rPr>
              <a:t>    </a:t>
            </a:r>
            <a:pPr indent="0" marL="0">
              <a:spcAft>
                <a:spcPts val="100"/>
              </a:spcAft>
              <a:buNone/>
            </a:pPr>
            <a:r>
              <a:rPr lang="en-US" sz="1300" b="1" dirty="0">
                <a:solidFill>
                  <a:srgbClr val="2F6FB3"/>
                </a:solidFill>
                <a:latin typeface="Courier New" pitchFamily="34" charset="0"/>
                <a:ea typeface="Courier New" pitchFamily="34" charset="-122"/>
                <a:cs typeface="Courier New" pitchFamily="34" charset="-120"/>
              </a:rPr>
              <a:t>READ</a:t>
            </a:r>
            <a:pPr indent="0" marL="0">
              <a:spcAft>
                <a:spcPts val="100"/>
              </a:spcAft>
              <a:buNone/>
            </a:pPr>
            <a:r>
              <a:rPr lang="en-US" sz="1300" dirty="0">
                <a:solidFill>
                  <a:srgbClr val="14213D"/>
                </a:solidFill>
                <a:latin typeface="Courier New" pitchFamily="34" charset="0"/>
                <a:ea typeface="Courier New" pitchFamily="34" charset="-122"/>
                <a:cs typeface="Courier New" pitchFamily="34" charset="-120"/>
              </a:rPr>
              <a:t> grade</a:t>
            </a:r>
            <a:endParaRPr lang="en-US" sz="1300" dirty="0"/>
          </a:p>
          <a:p>
            <a:pPr indent="0" marL="0">
              <a:spcAft>
                <a:spcPts val="100"/>
              </a:spcAft>
              <a:buNone/>
            </a:pPr>
            <a:r>
              <a:rPr lang="en-US" sz="1300" dirty="0">
                <a:solidFill>
                  <a:srgbClr val="14213D"/>
                </a:solidFill>
                <a:latin typeface="Courier New" pitchFamily="34" charset="0"/>
                <a:ea typeface="Courier New" pitchFamily="34" charset="-122"/>
                <a:cs typeface="Courier New" pitchFamily="34" charset="-120"/>
              </a:rPr>
              <a:t>    sum ← sum + grade</a:t>
            </a:r>
            <a:endParaRPr lang="en-US" sz="1300" dirty="0"/>
          </a:p>
          <a:p>
            <a:pPr indent="0" marL="0">
              <a:spcAft>
                <a:spcPts val="100"/>
              </a:spcAft>
              <a:buNone/>
            </a:pPr>
            <a:r>
              <a:rPr lang="en-US" sz="1300" dirty="0">
                <a:solidFill>
                  <a:srgbClr val="14213D"/>
                </a:solidFill>
                <a:latin typeface="Courier New" pitchFamily="34" charset="0"/>
                <a:ea typeface="Courier New" pitchFamily="34" charset="-122"/>
                <a:cs typeface="Courier New" pitchFamily="34" charset="-120"/>
              </a:rPr>
              <a:t>    </a:t>
            </a:r>
            <a:pPr indent="0" marL="0">
              <a:spcAft>
                <a:spcPts val="100"/>
              </a:spcAft>
              <a:buNone/>
            </a:pPr>
            <a:r>
              <a:rPr lang="en-US" sz="1300" b="1" dirty="0">
                <a:solidFill>
                  <a:srgbClr val="2F6FB3"/>
                </a:solidFill>
                <a:latin typeface="Courier New" pitchFamily="34" charset="0"/>
                <a:ea typeface="Courier New" pitchFamily="34" charset="-122"/>
                <a:cs typeface="Courier New" pitchFamily="34" charset="-120"/>
              </a:rPr>
              <a:t>IF</a:t>
            </a:r>
            <a:pPr indent="0" marL="0">
              <a:spcAft>
                <a:spcPts val="100"/>
              </a:spcAft>
              <a:buNone/>
            </a:pPr>
            <a:r>
              <a:rPr lang="en-US" sz="1300" dirty="0">
                <a:solidFill>
                  <a:srgbClr val="14213D"/>
                </a:solidFill>
                <a:latin typeface="Courier New" pitchFamily="34" charset="0"/>
                <a:ea typeface="Courier New" pitchFamily="34" charset="-122"/>
                <a:cs typeface="Courier New" pitchFamily="34" charset="-120"/>
              </a:rPr>
              <a:t> grade ≥ 50 </a:t>
            </a:r>
            <a:pPr indent="0" marL="0">
              <a:spcAft>
                <a:spcPts val="100"/>
              </a:spcAft>
              <a:buNone/>
            </a:pPr>
            <a:r>
              <a:rPr lang="en-US" sz="1300" b="1" dirty="0">
                <a:solidFill>
                  <a:srgbClr val="2F6FB3"/>
                </a:solidFill>
                <a:latin typeface="Courier New" pitchFamily="34" charset="0"/>
                <a:ea typeface="Courier New" pitchFamily="34" charset="-122"/>
                <a:cs typeface="Courier New" pitchFamily="34" charset="-120"/>
              </a:rPr>
              <a:t>THEN</a:t>
            </a:r>
            <a:endParaRPr lang="en-US" sz="1300" dirty="0"/>
          </a:p>
          <a:p>
            <a:pPr indent="0" marL="0">
              <a:spcAft>
                <a:spcPts val="100"/>
              </a:spcAft>
              <a:buNone/>
            </a:pPr>
            <a:r>
              <a:rPr lang="en-US" sz="1300" dirty="0">
                <a:solidFill>
                  <a:srgbClr val="14213D"/>
                </a:solidFill>
                <a:latin typeface="Courier New" pitchFamily="34" charset="0"/>
                <a:ea typeface="Courier New" pitchFamily="34" charset="-122"/>
                <a:cs typeface="Courier New" pitchFamily="34" charset="-120"/>
              </a:rPr>
              <a:t>      passed ← passed + 1</a:t>
            </a:r>
            <a:endParaRPr lang="en-US" sz="1300" dirty="0"/>
          </a:p>
          <a:p>
            <a:pPr indent="0" marL="0">
              <a:spcAft>
                <a:spcPts val="100"/>
              </a:spcAft>
              <a:buNone/>
            </a:pPr>
            <a:r>
              <a:rPr lang="en-US" sz="1300" dirty="0">
                <a:solidFill>
                  <a:srgbClr val="14213D"/>
                </a:solidFill>
                <a:latin typeface="Courier New" pitchFamily="34" charset="0"/>
                <a:ea typeface="Courier New" pitchFamily="34" charset="-122"/>
                <a:cs typeface="Courier New" pitchFamily="34" charset="-120"/>
              </a:rPr>
              <a:t>    </a:t>
            </a:r>
            <a:pPr indent="0" marL="0">
              <a:spcAft>
                <a:spcPts val="100"/>
              </a:spcAft>
              <a:buNone/>
            </a:pPr>
            <a:r>
              <a:rPr lang="en-US" sz="1300" b="1" dirty="0">
                <a:solidFill>
                  <a:srgbClr val="2F6FB3"/>
                </a:solidFill>
                <a:latin typeface="Courier New" pitchFamily="34" charset="0"/>
                <a:ea typeface="Courier New" pitchFamily="34" charset="-122"/>
                <a:cs typeface="Courier New" pitchFamily="34" charset="-120"/>
              </a:rPr>
              <a:t>END IF</a:t>
            </a:r>
            <a:endParaRPr lang="en-US" sz="1300" dirty="0"/>
          </a:p>
          <a:p>
            <a:pPr indent="0" marL="0">
              <a:spcAft>
                <a:spcPts val="100"/>
              </a:spcAft>
              <a:buNone/>
            </a:pPr>
            <a:r>
              <a:rPr lang="en-US" sz="1300" dirty="0">
                <a:solidFill>
                  <a:srgbClr val="14213D"/>
                </a:solidFill>
                <a:latin typeface="Courier New" pitchFamily="34" charset="0"/>
                <a:ea typeface="Courier New" pitchFamily="34" charset="-122"/>
                <a:cs typeface="Courier New" pitchFamily="34" charset="-120"/>
              </a:rPr>
              <a:t>  </a:t>
            </a:r>
            <a:pPr indent="0" marL="0">
              <a:spcAft>
                <a:spcPts val="100"/>
              </a:spcAft>
              <a:buNone/>
            </a:pPr>
            <a:r>
              <a:rPr lang="en-US" sz="1300" b="1" dirty="0">
                <a:solidFill>
                  <a:srgbClr val="2F6FB3"/>
                </a:solidFill>
                <a:latin typeface="Courier New" pitchFamily="34" charset="0"/>
                <a:ea typeface="Courier New" pitchFamily="34" charset="-122"/>
                <a:cs typeface="Courier New" pitchFamily="34" charset="-120"/>
              </a:rPr>
              <a:t>END FOR</a:t>
            </a:r>
            <a:endParaRPr lang="en-US" sz="1300" dirty="0"/>
          </a:p>
          <a:p>
            <a:pPr indent="0" marL="0">
              <a:spcAft>
                <a:spcPts val="100"/>
              </a:spcAft>
              <a:buNone/>
            </a:pPr>
            <a:r>
              <a:rPr lang="en-US" sz="1300" dirty="0">
                <a:solidFill>
                  <a:srgbClr val="14213D"/>
                </a:solidFill>
                <a:latin typeface="Courier New" pitchFamily="34" charset="0"/>
                <a:ea typeface="Courier New" pitchFamily="34" charset="-122"/>
                <a:cs typeface="Courier New" pitchFamily="34" charset="-120"/>
              </a:rPr>
              <a:t>  </a:t>
            </a:r>
            <a:pPr indent="0" marL="0">
              <a:spcAft>
                <a:spcPts val="100"/>
              </a:spcAft>
              <a:buNone/>
            </a:pPr>
            <a:r>
              <a:rPr lang="en-US" sz="1300" b="1" dirty="0">
                <a:solidFill>
                  <a:srgbClr val="2F6FB3"/>
                </a:solidFill>
                <a:latin typeface="Courier New" pitchFamily="34" charset="0"/>
                <a:ea typeface="Courier New" pitchFamily="34" charset="-122"/>
                <a:cs typeface="Courier New" pitchFamily="34" charset="-120"/>
              </a:rPr>
              <a:t>IF</a:t>
            </a:r>
            <a:pPr indent="0" marL="0">
              <a:spcAft>
                <a:spcPts val="100"/>
              </a:spcAft>
              <a:buNone/>
            </a:pPr>
            <a:r>
              <a:rPr lang="en-US" sz="1300" dirty="0">
                <a:solidFill>
                  <a:srgbClr val="14213D"/>
                </a:solidFill>
                <a:latin typeface="Courier New" pitchFamily="34" charset="0"/>
                <a:ea typeface="Courier New" pitchFamily="34" charset="-122"/>
                <a:cs typeface="Courier New" pitchFamily="34" charset="-120"/>
              </a:rPr>
              <a:t> count &gt; 0 </a:t>
            </a:r>
            <a:pPr indent="0" marL="0">
              <a:spcAft>
                <a:spcPts val="100"/>
              </a:spcAft>
              <a:buNone/>
            </a:pPr>
            <a:r>
              <a:rPr lang="en-US" sz="1300" b="1" dirty="0">
                <a:solidFill>
                  <a:srgbClr val="2F6FB3"/>
                </a:solidFill>
                <a:latin typeface="Courier New" pitchFamily="34" charset="0"/>
                <a:ea typeface="Courier New" pitchFamily="34" charset="-122"/>
                <a:cs typeface="Courier New" pitchFamily="34" charset="-120"/>
              </a:rPr>
              <a:t>THEN</a:t>
            </a:r>
            <a:endParaRPr lang="en-US" sz="1300" dirty="0"/>
          </a:p>
          <a:p>
            <a:pPr indent="0" marL="0">
              <a:spcAft>
                <a:spcPts val="100"/>
              </a:spcAft>
              <a:buNone/>
            </a:pPr>
            <a:r>
              <a:rPr lang="en-US" sz="1300" dirty="0">
                <a:solidFill>
                  <a:srgbClr val="14213D"/>
                </a:solidFill>
                <a:latin typeface="Courier New" pitchFamily="34" charset="0"/>
                <a:ea typeface="Courier New" pitchFamily="34" charset="-122"/>
                <a:cs typeface="Courier New" pitchFamily="34" charset="-120"/>
              </a:rPr>
              <a:t>    </a:t>
            </a:r>
            <a:pPr indent="0" marL="0">
              <a:spcAft>
                <a:spcPts val="100"/>
              </a:spcAft>
              <a:buNone/>
            </a:pPr>
            <a:r>
              <a:rPr lang="en-US" sz="1300" b="1" dirty="0">
                <a:solidFill>
                  <a:srgbClr val="2F6FB3"/>
                </a:solidFill>
                <a:latin typeface="Courier New" pitchFamily="34" charset="0"/>
                <a:ea typeface="Courier New" pitchFamily="34" charset="-122"/>
                <a:cs typeface="Courier New" pitchFamily="34" charset="-120"/>
              </a:rPr>
              <a:t>PRINT</a:t>
            </a:r>
            <a:pPr indent="0" marL="0">
              <a:spcAft>
                <a:spcPts val="100"/>
              </a:spcAft>
              <a:buNone/>
            </a:pPr>
            <a:r>
              <a:rPr lang="en-US" sz="1300" dirty="0">
                <a:solidFill>
                  <a:srgbClr val="14213D"/>
                </a:solidFill>
                <a:latin typeface="Courier New" pitchFamily="34" charset="0"/>
                <a:ea typeface="Courier New" pitchFamily="34" charset="-122"/>
                <a:cs typeface="Courier New" pitchFamily="34" charset="-120"/>
              </a:rPr>
              <a:t> sum, sum / count, passed</a:t>
            </a:r>
            <a:endParaRPr lang="en-US" sz="1300" dirty="0"/>
          </a:p>
          <a:p>
            <a:pPr indent="0" marL="0">
              <a:spcAft>
                <a:spcPts val="100"/>
              </a:spcAft>
              <a:buNone/>
            </a:pPr>
            <a:r>
              <a:rPr lang="en-US" sz="1300" dirty="0">
                <a:solidFill>
                  <a:srgbClr val="14213D"/>
                </a:solidFill>
                <a:latin typeface="Courier New" pitchFamily="34" charset="0"/>
                <a:ea typeface="Courier New" pitchFamily="34" charset="-122"/>
                <a:cs typeface="Courier New" pitchFamily="34" charset="-120"/>
              </a:rPr>
              <a:t>  </a:t>
            </a:r>
            <a:pPr indent="0" marL="0">
              <a:spcAft>
                <a:spcPts val="100"/>
              </a:spcAft>
              <a:buNone/>
            </a:pPr>
            <a:r>
              <a:rPr lang="en-US" sz="1300" b="1" dirty="0">
                <a:solidFill>
                  <a:srgbClr val="2F6FB3"/>
                </a:solidFill>
                <a:latin typeface="Courier New" pitchFamily="34" charset="0"/>
                <a:ea typeface="Courier New" pitchFamily="34" charset="-122"/>
                <a:cs typeface="Courier New" pitchFamily="34" charset="-120"/>
              </a:rPr>
              <a:t>ELSE</a:t>
            </a:r>
            <a:endParaRPr lang="en-US" sz="1300" dirty="0"/>
          </a:p>
          <a:p>
            <a:pPr indent="0" marL="0">
              <a:spcAft>
                <a:spcPts val="100"/>
              </a:spcAft>
              <a:buNone/>
            </a:pPr>
            <a:r>
              <a:rPr lang="en-US" sz="1300" dirty="0">
                <a:solidFill>
                  <a:srgbClr val="14213D"/>
                </a:solidFill>
                <a:latin typeface="Courier New" pitchFamily="34" charset="0"/>
                <a:ea typeface="Courier New" pitchFamily="34" charset="-122"/>
                <a:cs typeface="Courier New" pitchFamily="34" charset="-120"/>
              </a:rPr>
              <a:t>    </a:t>
            </a:r>
            <a:pPr indent="0" marL="0">
              <a:spcAft>
                <a:spcPts val="100"/>
              </a:spcAft>
              <a:buNone/>
            </a:pPr>
            <a:r>
              <a:rPr lang="en-US" sz="1300" b="1" dirty="0">
                <a:solidFill>
                  <a:srgbClr val="2F6FB3"/>
                </a:solidFill>
                <a:latin typeface="Courier New" pitchFamily="34" charset="0"/>
                <a:ea typeface="Courier New" pitchFamily="34" charset="-122"/>
                <a:cs typeface="Courier New" pitchFamily="34" charset="-120"/>
              </a:rPr>
              <a:t>PRINT</a:t>
            </a:r>
            <a:pPr indent="0" marL="0">
              <a:spcAft>
                <a:spcPts val="100"/>
              </a:spcAft>
              <a:buNone/>
            </a:pPr>
            <a:r>
              <a:rPr lang="en-US" sz="1300" dirty="0">
                <a:solidFill>
                  <a:srgbClr val="14213D"/>
                </a:solidFill>
                <a:latin typeface="Courier New" pitchFamily="34" charset="0"/>
                <a:ea typeface="Courier New" pitchFamily="34" charset="-122"/>
                <a:cs typeface="Courier New" pitchFamily="34" charset="-120"/>
              </a:rPr>
              <a:t> "No grades entered."</a:t>
            </a:r>
            <a:endParaRPr lang="en-US" sz="1300" dirty="0"/>
          </a:p>
          <a:p>
            <a:pPr indent="0" marL="0">
              <a:spcAft>
                <a:spcPts val="100"/>
              </a:spcAft>
              <a:buNone/>
            </a:pPr>
            <a:r>
              <a:rPr lang="en-US" sz="1300" dirty="0">
                <a:solidFill>
                  <a:srgbClr val="14213D"/>
                </a:solidFill>
                <a:latin typeface="Courier New" pitchFamily="34" charset="0"/>
                <a:ea typeface="Courier New" pitchFamily="34" charset="-122"/>
                <a:cs typeface="Courier New" pitchFamily="34" charset="-120"/>
              </a:rPr>
              <a:t>  </a:t>
            </a:r>
            <a:pPr indent="0" marL="0">
              <a:spcAft>
                <a:spcPts val="100"/>
              </a:spcAft>
              <a:buNone/>
            </a:pPr>
            <a:r>
              <a:rPr lang="en-US" sz="1300" b="1" dirty="0">
                <a:solidFill>
                  <a:srgbClr val="2F6FB3"/>
                </a:solidFill>
                <a:latin typeface="Courier New" pitchFamily="34" charset="0"/>
                <a:ea typeface="Courier New" pitchFamily="34" charset="-122"/>
                <a:cs typeface="Courier New" pitchFamily="34" charset="-120"/>
              </a:rPr>
              <a:t>END IF</a:t>
            </a:r>
            <a:endParaRPr lang="en-US" sz="1300" dirty="0"/>
          </a:p>
          <a:p>
            <a:pPr indent="0" marL="0">
              <a:spcAft>
                <a:spcPts val="100"/>
              </a:spcAft>
              <a:buNone/>
            </a:pPr>
            <a:r>
              <a:rPr lang="en-US" sz="1300" b="1" dirty="0">
                <a:solidFill>
                  <a:srgbClr val="2F6FB3"/>
                </a:solidFill>
                <a:latin typeface="Courier New" pitchFamily="34" charset="0"/>
                <a:ea typeface="Courier New" pitchFamily="34" charset="-122"/>
                <a:cs typeface="Courier New" pitchFamily="34" charset="-120"/>
              </a:rPr>
              <a:t>END</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EXAMPLE 2 · SUMANDAVERAGE</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Sum, Average and Pass Count: C# and a Test Run</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6</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16</a:t>
            </a:r>
            <a:endParaRPr lang="en-US" sz="1000" dirty="0"/>
          </a:p>
        </p:txBody>
      </p:sp>
      <p:sp>
        <p:nvSpPr>
          <p:cNvPr id="7" name="Shape 4"/>
          <p:cNvSpPr/>
          <p:nvPr/>
        </p:nvSpPr>
        <p:spPr>
          <a:xfrm>
            <a:off x="548640" y="1645920"/>
            <a:ext cx="6675120" cy="4434840"/>
          </a:xfrm>
          <a:prstGeom prst="roundRect">
            <a:avLst>
              <a:gd name="adj" fmla="val 2062"/>
            </a:avLst>
          </a:prstGeom>
          <a:solidFill>
            <a:srgbClr val="0F1729"/>
          </a:solidFill>
          <a:ln w="12700">
            <a:solidFill>
              <a:srgbClr val="0F1729"/>
            </a:solidFill>
            <a:prstDash val="solid"/>
          </a:ln>
        </p:spPr>
      </p:sp>
      <p:sp>
        <p:nvSpPr>
          <p:cNvPr id="8" name="Text 5"/>
          <p:cNvSpPr txBox="1"/>
          <p:nvPr/>
        </p:nvSpPr>
        <p:spPr>
          <a:xfrm>
            <a:off x="777240" y="1755648"/>
            <a:ext cx="621792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06_02_SumAndAverage/Program.cs (excerpt)</a:t>
            </a:r>
            <a:endParaRPr lang="en-US" sz="1100" dirty="0"/>
          </a:p>
        </p:txBody>
      </p:sp>
      <p:sp>
        <p:nvSpPr>
          <p:cNvPr id="9" name="Text 6"/>
          <p:cNvSpPr txBox="1"/>
          <p:nvPr/>
        </p:nvSpPr>
        <p:spPr>
          <a:xfrm>
            <a:off x="777240" y="2057400"/>
            <a:ext cx="6217920" cy="3913632"/>
          </a:xfrm>
          <a:prstGeom prst="rect">
            <a:avLst/>
          </a:prstGeom>
          <a:noFill/>
          <a:ln/>
        </p:spPr>
        <p:txBody>
          <a:bodyPr wrap="square" lIns="0" tIns="0" rIns="0" bIns="0" rtlCol="0" anchor="t"/>
          <a:lstStyle/>
          <a:p>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.Write(</a:t>
            </a:r>
            <a:pPr indent="0" marL="0">
              <a:spcAft>
                <a:spcPts val="100"/>
              </a:spcAft>
              <a:buNone/>
            </a:pPr>
            <a:r>
              <a:rPr lang="en-US" sz="1300" dirty="0">
                <a:solidFill>
                  <a:srgbClr val="CE9178"/>
                </a:solidFill>
                <a:latin typeface="Courier New" pitchFamily="34" charset="0"/>
                <a:ea typeface="Courier New" pitchFamily="34" charset="-122"/>
                <a:cs typeface="Courier New" pitchFamily="34" charset="-120"/>
              </a:rPr>
              <a:t>"How many grades? "</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count =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.Parse(</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.ReadLine());</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endParaRPr lang="en-US" sz="1300" dirty="0"/>
          </a:p>
          <a:p>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double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sum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7F8BA3"/>
                </a:solidFill>
                <a:latin typeface="Courier New" pitchFamily="34" charset="0"/>
                <a:ea typeface="Courier New" pitchFamily="34" charset="-122"/>
                <a:cs typeface="Courier New" pitchFamily="34" charset="-120"/>
              </a:rPr>
              <a:t>// accumulator: starts at 0</a:t>
            </a:r>
            <a:endParaRPr lang="en-US" sz="1300" dirty="0"/>
          </a:p>
          <a:p>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passed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7F8BA3"/>
                </a:solidFill>
                <a:latin typeface="Courier New" pitchFamily="34" charset="0"/>
                <a:ea typeface="Courier New" pitchFamily="34" charset="-122"/>
                <a:cs typeface="Courier New" pitchFamily="34" charset="-120"/>
              </a:rPr>
              <a:t>// counter: starts at 0</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endParaRPr lang="en-US" sz="1300" dirty="0"/>
          </a:p>
          <a:p>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for</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i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i &lt;= count; i++)</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.Write(</a:t>
            </a:r>
            <a:pPr indent="0" marL="0">
              <a:spcAft>
                <a:spcPts val="100"/>
              </a:spcAft>
              <a:buNone/>
            </a:pPr>
            <a:r>
              <a:rPr lang="en-US" sz="1300" dirty="0">
                <a:solidFill>
                  <a:srgbClr val="CE9178"/>
                </a:solidFill>
                <a:latin typeface="Courier New" pitchFamily="34" charset="0"/>
                <a:ea typeface="Courier New" pitchFamily="34" charset="-122"/>
                <a:cs typeface="Courier New" pitchFamily="34" charset="-120"/>
              </a:rPr>
              <a:t>$"Grade {i}: "</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double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grade =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double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.Parse(</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.ReadLine());</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sum += grade;              </a:t>
            </a:r>
            <a:pPr indent="0" marL="0">
              <a:spcAft>
                <a:spcPts val="100"/>
              </a:spcAft>
              <a:buNone/>
            </a:pPr>
            <a:r>
              <a:rPr lang="en-US" sz="1300" dirty="0">
                <a:solidFill>
                  <a:srgbClr val="7F8BA3"/>
                </a:solidFill>
                <a:latin typeface="Courier New" pitchFamily="34" charset="0"/>
                <a:ea typeface="Courier New" pitchFamily="34" charset="-122"/>
                <a:cs typeface="Courier New" pitchFamily="34" charset="-120"/>
              </a:rPr>
              <a:t>// add to the running total</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if</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(grade &gt;=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50</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passed++;              </a:t>
            </a:r>
            <a:pPr indent="0" marL="0">
              <a:spcAft>
                <a:spcPts val="100"/>
              </a:spcAft>
              <a:buNone/>
            </a:pPr>
            <a:r>
              <a:rPr lang="en-US" sz="1300" dirty="0">
                <a:solidFill>
                  <a:srgbClr val="7F8BA3"/>
                </a:solidFill>
                <a:latin typeface="Courier New" pitchFamily="34" charset="0"/>
                <a:ea typeface="Courier New" pitchFamily="34" charset="-122"/>
                <a:cs typeface="Courier New" pitchFamily="34" charset="-120"/>
              </a:rPr>
              <a:t>// count the passing grades</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p:txBody>
      </p:sp>
      <p:sp>
        <p:nvSpPr>
          <p:cNvPr id="10" name="Shape 7"/>
          <p:cNvSpPr/>
          <p:nvPr/>
        </p:nvSpPr>
        <p:spPr>
          <a:xfrm>
            <a:off x="7452360" y="1645920"/>
            <a:ext cx="4206240" cy="2697480"/>
          </a:xfrm>
          <a:prstGeom prst="roundRect">
            <a:avLst>
              <a:gd name="adj" fmla="val 3390"/>
            </a:avLst>
          </a:prstGeom>
          <a:solidFill>
            <a:srgbClr val="0B0F19"/>
          </a:solidFill>
          <a:ln w="12700">
            <a:solidFill>
              <a:srgbClr val="2A3654"/>
            </a:solidFill>
            <a:prstDash val="solid"/>
          </a:ln>
        </p:spPr>
      </p:sp>
      <p:sp>
        <p:nvSpPr>
          <p:cNvPr id="11" name="Shape 8"/>
          <p:cNvSpPr/>
          <p:nvPr/>
        </p:nvSpPr>
        <p:spPr>
          <a:xfrm>
            <a:off x="7635240" y="1773936"/>
            <a:ext cx="118872" cy="118872"/>
          </a:xfrm>
          <a:prstGeom prst="ellipse">
            <a:avLst/>
          </a:prstGeom>
          <a:solidFill>
            <a:srgbClr val="FF5F57"/>
          </a:solidFill>
          <a:ln w="12700">
            <a:solidFill>
              <a:srgbClr val="FF5F57"/>
            </a:solidFill>
            <a:prstDash val="solid"/>
          </a:ln>
        </p:spPr>
      </p:sp>
      <p:sp>
        <p:nvSpPr>
          <p:cNvPr id="12" name="Shape 9"/>
          <p:cNvSpPr/>
          <p:nvPr/>
        </p:nvSpPr>
        <p:spPr>
          <a:xfrm>
            <a:off x="7863840" y="1773936"/>
            <a:ext cx="118872" cy="118872"/>
          </a:xfrm>
          <a:prstGeom prst="ellipse">
            <a:avLst/>
          </a:prstGeom>
          <a:solidFill>
            <a:srgbClr val="FEBC2E"/>
          </a:solidFill>
          <a:ln w="12700">
            <a:solidFill>
              <a:srgbClr val="FEBC2E"/>
            </a:solidFill>
            <a:prstDash val="solid"/>
          </a:ln>
        </p:spPr>
      </p:sp>
      <p:sp>
        <p:nvSpPr>
          <p:cNvPr id="13" name="Shape 10"/>
          <p:cNvSpPr/>
          <p:nvPr/>
        </p:nvSpPr>
        <p:spPr>
          <a:xfrm>
            <a:off x="8092440" y="1773936"/>
            <a:ext cx="118872" cy="118872"/>
          </a:xfrm>
          <a:prstGeom prst="ellipse">
            <a:avLst/>
          </a:prstGeom>
          <a:solidFill>
            <a:srgbClr val="28C840"/>
          </a:solidFill>
          <a:ln w="12700">
            <a:solidFill>
              <a:srgbClr val="28C840"/>
            </a:solidFill>
            <a:prstDash val="solid"/>
          </a:ln>
        </p:spPr>
      </p:sp>
      <p:sp>
        <p:nvSpPr>
          <p:cNvPr id="14" name="Text 11"/>
          <p:cNvSpPr txBox="1"/>
          <p:nvPr/>
        </p:nvSpPr>
        <p:spPr>
          <a:xfrm>
            <a:off x="8366760" y="1719072"/>
            <a:ext cx="310896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Console</a:t>
            </a:r>
            <a:endParaRPr lang="en-US" sz="1000" dirty="0"/>
          </a:p>
        </p:txBody>
      </p:sp>
      <p:sp>
        <p:nvSpPr>
          <p:cNvPr id="15" name="Text 12"/>
          <p:cNvSpPr txBox="1"/>
          <p:nvPr/>
        </p:nvSpPr>
        <p:spPr>
          <a:xfrm>
            <a:off x="7680960" y="2029968"/>
            <a:ext cx="3749040" cy="2194560"/>
          </a:xfrm>
          <a:prstGeom prst="rect">
            <a:avLst/>
          </a:prstGeom>
          <a:noFill/>
          <a:ln/>
        </p:spPr>
        <p:txBody>
          <a:bodyPr wrap="square" lIns="0" tIns="0" rIns="0" bIns="0" rtlCol="0" anchor="t"/>
          <a:lstStyle/>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How many grades? </a:t>
            </a:r>
            <a:pPr indent="0" marL="0">
              <a:spcAft>
                <a:spcPts val="100"/>
              </a:spcAft>
              <a:buNone/>
            </a:pPr>
            <a:r>
              <a:rPr lang="en-US" sz="1300" b="1" dirty="0">
                <a:solidFill>
                  <a:srgbClr val="FCA311"/>
                </a:solidFill>
                <a:latin typeface="Courier New" pitchFamily="34" charset="0"/>
                <a:ea typeface="Courier New" pitchFamily="34" charset="-122"/>
                <a:cs typeface="Courier New" pitchFamily="34" charset="-120"/>
              </a:rPr>
              <a:t>5</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Grade 1: </a:t>
            </a:r>
            <a:pPr indent="0" marL="0">
              <a:spcAft>
                <a:spcPts val="100"/>
              </a:spcAft>
              <a:buNone/>
            </a:pPr>
            <a:r>
              <a:rPr lang="en-US" sz="1300" b="1" dirty="0">
                <a:solidFill>
                  <a:srgbClr val="FCA311"/>
                </a:solidFill>
                <a:latin typeface="Courier New" pitchFamily="34" charset="0"/>
                <a:ea typeface="Courier New" pitchFamily="34" charset="-122"/>
                <a:cs typeface="Courier New" pitchFamily="34" charset="-120"/>
              </a:rPr>
              <a:t>72.5</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Grade 2: </a:t>
            </a:r>
            <a:pPr indent="0" marL="0">
              <a:spcAft>
                <a:spcPts val="100"/>
              </a:spcAft>
              <a:buNone/>
            </a:pPr>
            <a:r>
              <a:rPr lang="en-US" sz="1300" b="1" dirty="0">
                <a:solidFill>
                  <a:srgbClr val="FCA311"/>
                </a:solidFill>
                <a:latin typeface="Courier New" pitchFamily="34" charset="0"/>
                <a:ea typeface="Courier New" pitchFamily="34" charset="-122"/>
                <a:cs typeface="Courier New" pitchFamily="34" charset="-120"/>
              </a:rPr>
              <a:t>45</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Grade 3: </a:t>
            </a:r>
            <a:pPr indent="0" marL="0">
              <a:spcAft>
                <a:spcPts val="100"/>
              </a:spcAft>
              <a:buNone/>
            </a:pPr>
            <a:r>
              <a:rPr lang="en-US" sz="1300" b="1" dirty="0">
                <a:solidFill>
                  <a:srgbClr val="FCA311"/>
                </a:solidFill>
                <a:latin typeface="Courier New" pitchFamily="34" charset="0"/>
                <a:ea typeface="Courier New" pitchFamily="34" charset="-122"/>
                <a:cs typeface="Courier New" pitchFamily="34" charset="-120"/>
              </a:rPr>
              <a:t>88</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Grade 4: </a:t>
            </a:r>
            <a:pPr indent="0" marL="0">
              <a:spcAft>
                <a:spcPts val="100"/>
              </a:spcAft>
              <a:buNone/>
            </a:pPr>
            <a:r>
              <a:rPr lang="en-US" sz="1300" b="1" dirty="0">
                <a:solidFill>
                  <a:srgbClr val="FCA311"/>
                </a:solidFill>
                <a:latin typeface="Courier New" pitchFamily="34" charset="0"/>
                <a:ea typeface="Courier New" pitchFamily="34" charset="-122"/>
                <a:cs typeface="Courier New" pitchFamily="34" charset="-120"/>
              </a:rPr>
              <a:t>60</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Grade 5: </a:t>
            </a:r>
            <a:pPr indent="0" marL="0">
              <a:spcAft>
                <a:spcPts val="100"/>
              </a:spcAft>
              <a:buNone/>
            </a:pPr>
            <a:r>
              <a:rPr lang="en-US" sz="1300" b="1" dirty="0">
                <a:solidFill>
                  <a:srgbClr val="FCA311"/>
                </a:solidFill>
                <a:latin typeface="Courier New" pitchFamily="34" charset="0"/>
                <a:ea typeface="Courier New" pitchFamily="34" charset="-122"/>
                <a:cs typeface="Courier New" pitchFamily="34" charset="-120"/>
              </a:rPr>
              <a:t>39.5</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Sum     = 305.00</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Average = 61.00</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Passed  = 3 of 5</a:t>
            </a:r>
            <a:endParaRPr lang="en-US" sz="1300" dirty="0"/>
          </a:p>
        </p:txBody>
      </p:sp>
      <p:sp>
        <p:nvSpPr>
          <p:cNvPr id="16" name="Shape 13"/>
          <p:cNvSpPr/>
          <p:nvPr/>
        </p:nvSpPr>
        <p:spPr>
          <a:xfrm>
            <a:off x="7452360" y="4526280"/>
            <a:ext cx="4206240" cy="1554480"/>
          </a:xfrm>
          <a:prstGeom prst="roundRect">
            <a:avLst>
              <a:gd name="adj" fmla="val 7059"/>
            </a:avLst>
          </a:prstGeom>
          <a:solidFill>
            <a:srgbClr val="EEF1F6"/>
          </a:solidFill>
          <a:ln w="12700">
            <a:solidFill>
              <a:srgbClr val="EEF1F6"/>
            </a:solidFill>
            <a:prstDash val="solid"/>
          </a:ln>
        </p:spPr>
      </p:sp>
      <p:sp>
        <p:nvSpPr>
          <p:cNvPr id="17" name="Shape 14"/>
          <p:cNvSpPr/>
          <p:nvPr/>
        </p:nvSpPr>
        <p:spPr>
          <a:xfrm>
            <a:off x="7680960" y="4754880"/>
            <a:ext cx="566928" cy="566928"/>
          </a:xfrm>
          <a:prstGeom prst="ellipse">
            <a:avLst/>
          </a:prstGeom>
          <a:solidFill>
            <a:srgbClr val="14213D"/>
          </a:solidFill>
          <a:ln w="12700">
            <a:solidFill>
              <a:srgbClr val="14213D"/>
            </a:solidFill>
            <a:prstDash val="solid"/>
          </a:ln>
        </p:spPr>
      </p:sp>
      <p:pic>
        <p:nvPicPr>
          <p:cNvPr id="18" name="Image 0" descr="preencoded.png">    </p:cNvPr>
          <p:cNvPicPr>
            <a:picLocks noChangeAspect="1"/>
          </p:cNvPicPr>
          <p:nvPr/>
        </p:nvPicPr>
        <p:blipFill>
          <a:blip r:embed="rId1"/>
          <a:stretch>
            <a:fillRect/>
          </a:stretch>
        </p:blipFill>
        <p:spPr>
          <a:xfrm>
            <a:off x="7828361" y="4902281"/>
            <a:ext cx="272125" cy="272125"/>
          </a:xfrm>
          <a:prstGeom prst="rect">
            <a:avLst/>
          </a:prstGeom>
        </p:spPr>
      </p:pic>
      <p:sp>
        <p:nvSpPr>
          <p:cNvPr id="19" name="Text 15"/>
          <p:cNvSpPr txBox="1"/>
          <p:nvPr/>
        </p:nvSpPr>
        <p:spPr>
          <a:xfrm>
            <a:off x="8366760" y="4754880"/>
            <a:ext cx="310896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After the loop</a:t>
            </a:r>
            <a:endParaRPr lang="en-US" sz="1700" dirty="0"/>
          </a:p>
        </p:txBody>
      </p:sp>
      <p:sp>
        <p:nvSpPr>
          <p:cNvPr id="20" name="Text 16"/>
          <p:cNvSpPr txBox="1"/>
          <p:nvPr/>
        </p:nvSpPr>
        <p:spPr>
          <a:xfrm>
            <a:off x="7680960" y="5440680"/>
            <a:ext cx="3749040" cy="502920"/>
          </a:xfrm>
          <a:prstGeom prst="rect">
            <a:avLst/>
          </a:prstGeom>
          <a:noFill/>
          <a:ln/>
        </p:spPr>
        <p:txBody>
          <a:bodyPr wrap="square" lIns="0" tIns="0" rIns="0" bIns="0" rtlCol="0" anchor="t"/>
          <a:lstStyle/>
          <a:p>
            <a:pPr indent="0" marL="0">
              <a:buNone/>
            </a:pPr>
            <a:r>
              <a:rPr lang="en-US" sz="1400" dirty="0">
                <a:solidFill>
                  <a:srgbClr val="333B4F"/>
                </a:solidFill>
                <a:latin typeface="Calibri" pitchFamily="34" charset="0"/>
                <a:ea typeface="Calibri" pitchFamily="34" charset="-122"/>
                <a:cs typeface="Calibri" pitchFamily="34" charset="-120"/>
              </a:rPr>
              <a:t>average = sum / count, printed only if count &gt; 0.</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EXAMPLE 3 · FACTORIAL</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Factorial n! with a Product Accumulator</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6</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17</a:t>
            </a:r>
            <a:endParaRPr lang="en-US" sz="1000" dirty="0"/>
          </a:p>
        </p:txBody>
      </p:sp>
      <p:sp>
        <p:nvSpPr>
          <p:cNvPr id="7" name="Shape 4"/>
          <p:cNvSpPr/>
          <p:nvPr/>
        </p:nvSpPr>
        <p:spPr>
          <a:xfrm>
            <a:off x="548640" y="1645920"/>
            <a:ext cx="6355080" cy="2651760"/>
          </a:xfrm>
          <a:prstGeom prst="roundRect">
            <a:avLst>
              <a:gd name="adj" fmla="val 3448"/>
            </a:avLst>
          </a:prstGeom>
          <a:solidFill>
            <a:srgbClr val="0F1729"/>
          </a:solidFill>
          <a:ln w="12700">
            <a:solidFill>
              <a:srgbClr val="0F1729"/>
            </a:solidFill>
            <a:prstDash val="solid"/>
          </a:ln>
        </p:spPr>
      </p:sp>
      <p:sp>
        <p:nvSpPr>
          <p:cNvPr id="8" name="Text 5"/>
          <p:cNvSpPr txBox="1"/>
          <p:nvPr/>
        </p:nvSpPr>
        <p:spPr>
          <a:xfrm>
            <a:off x="777240" y="1755648"/>
            <a:ext cx="589788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06_03_Factorial/Program.cs</a:t>
            </a:r>
            <a:endParaRPr lang="en-US" sz="1100" dirty="0"/>
          </a:p>
        </p:txBody>
      </p:sp>
      <p:sp>
        <p:nvSpPr>
          <p:cNvPr id="9" name="Text 6"/>
          <p:cNvSpPr txBox="1"/>
          <p:nvPr/>
        </p:nvSpPr>
        <p:spPr>
          <a:xfrm>
            <a:off x="777240" y="2057400"/>
            <a:ext cx="5897880" cy="2130552"/>
          </a:xfrm>
          <a:prstGeom prst="rect">
            <a:avLst/>
          </a:prstGeom>
          <a:noFill/>
          <a:ln/>
        </p:spPr>
        <p:txBody>
          <a:bodyPr wrap="square" lIns="0" tIns="0" rIns="0" bIns="0" rtlCol="0" anchor="t"/>
          <a:lstStyle/>
          <a:p>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.Write(</a:t>
            </a:r>
            <a:pPr indent="0" marL="0">
              <a:spcAft>
                <a:spcPts val="100"/>
              </a:spcAft>
              <a:buNone/>
            </a:pPr>
            <a:r>
              <a:rPr lang="en-US" sz="1300" dirty="0">
                <a:solidFill>
                  <a:srgbClr val="CE9178"/>
                </a:solidFill>
                <a:latin typeface="Courier New" pitchFamily="34" charset="0"/>
                <a:ea typeface="Courier New" pitchFamily="34" charset="-122"/>
                <a:cs typeface="Courier New" pitchFamily="34" charset="-120"/>
              </a:rPr>
              <a:t>"n = "</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n =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.Parse(</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.ReadLine());</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endParaRPr lang="en-US" sz="1300" dirty="0"/>
          </a:p>
          <a:p>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long</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factorial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7F8BA3"/>
                </a:solidFill>
                <a:latin typeface="Courier New" pitchFamily="34" charset="0"/>
                <a:ea typeface="Courier New" pitchFamily="34" charset="-122"/>
                <a:cs typeface="Courier New" pitchFamily="34" charset="-120"/>
              </a:rPr>
              <a:t>// product: starts at 1, not 0</a:t>
            </a:r>
            <a:endParaRPr lang="en-US" sz="1300" dirty="0"/>
          </a:p>
          <a:p>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for</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i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i &lt;= n; i++)</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factorial *= i;   </a:t>
            </a:r>
            <a:pPr indent="0" marL="0">
              <a:spcAft>
                <a:spcPts val="100"/>
              </a:spcAft>
              <a:buNone/>
            </a:pPr>
            <a:r>
              <a:rPr lang="en-US" sz="1300" dirty="0">
                <a:solidFill>
                  <a:srgbClr val="7F8BA3"/>
                </a:solidFill>
                <a:latin typeface="Courier New" pitchFamily="34" charset="0"/>
                <a:ea typeface="Courier New" pitchFamily="34" charset="-122"/>
                <a:cs typeface="Courier New" pitchFamily="34" charset="-120"/>
              </a:rPr>
              <a:t>// factorial = factorial * i</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300" dirty="0">
                <a:solidFill>
                  <a:srgbClr val="CE9178"/>
                </a:solidFill>
                <a:latin typeface="Courier New" pitchFamily="34" charset="0"/>
                <a:ea typeface="Courier New" pitchFamily="34" charset="-122"/>
                <a:cs typeface="Courier New" pitchFamily="34" charset="-120"/>
              </a:rPr>
              <a:t>$"{i,2}! = {factorial,26:N0}"</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300" dirty="0">
                <a:solidFill>
                  <a:srgbClr val="CE9178"/>
                </a:solidFill>
                <a:latin typeface="Courier New" pitchFamily="34" charset="0"/>
                <a:ea typeface="Courier New" pitchFamily="34" charset="-122"/>
                <a:cs typeface="Courier New" pitchFamily="34" charset="-120"/>
              </a:rPr>
              <a:t>$"long.MaxValue = {long.MaxValue:N0}"</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p:txBody>
      </p:sp>
      <p:sp>
        <p:nvSpPr>
          <p:cNvPr id="10" name="Shape 7"/>
          <p:cNvSpPr/>
          <p:nvPr/>
        </p:nvSpPr>
        <p:spPr>
          <a:xfrm>
            <a:off x="7132320" y="1645920"/>
            <a:ext cx="4526280" cy="2651760"/>
          </a:xfrm>
          <a:prstGeom prst="roundRect">
            <a:avLst>
              <a:gd name="adj" fmla="val 3448"/>
            </a:avLst>
          </a:prstGeom>
          <a:solidFill>
            <a:srgbClr val="0B0F19"/>
          </a:solidFill>
          <a:ln w="12700">
            <a:solidFill>
              <a:srgbClr val="2A3654"/>
            </a:solidFill>
            <a:prstDash val="solid"/>
          </a:ln>
        </p:spPr>
      </p:sp>
      <p:sp>
        <p:nvSpPr>
          <p:cNvPr id="11" name="Shape 8"/>
          <p:cNvSpPr/>
          <p:nvPr/>
        </p:nvSpPr>
        <p:spPr>
          <a:xfrm>
            <a:off x="7315200" y="1773936"/>
            <a:ext cx="118872" cy="118872"/>
          </a:xfrm>
          <a:prstGeom prst="ellipse">
            <a:avLst/>
          </a:prstGeom>
          <a:solidFill>
            <a:srgbClr val="FF5F57"/>
          </a:solidFill>
          <a:ln w="12700">
            <a:solidFill>
              <a:srgbClr val="FF5F57"/>
            </a:solidFill>
            <a:prstDash val="solid"/>
          </a:ln>
        </p:spPr>
      </p:sp>
      <p:sp>
        <p:nvSpPr>
          <p:cNvPr id="12" name="Shape 9"/>
          <p:cNvSpPr/>
          <p:nvPr/>
        </p:nvSpPr>
        <p:spPr>
          <a:xfrm>
            <a:off x="7543800" y="1773936"/>
            <a:ext cx="118872" cy="118872"/>
          </a:xfrm>
          <a:prstGeom prst="ellipse">
            <a:avLst/>
          </a:prstGeom>
          <a:solidFill>
            <a:srgbClr val="FEBC2E"/>
          </a:solidFill>
          <a:ln w="12700">
            <a:solidFill>
              <a:srgbClr val="FEBC2E"/>
            </a:solidFill>
            <a:prstDash val="solid"/>
          </a:ln>
        </p:spPr>
      </p:sp>
      <p:sp>
        <p:nvSpPr>
          <p:cNvPr id="13" name="Shape 10"/>
          <p:cNvSpPr/>
          <p:nvPr/>
        </p:nvSpPr>
        <p:spPr>
          <a:xfrm>
            <a:off x="7772400" y="1773936"/>
            <a:ext cx="118872" cy="118872"/>
          </a:xfrm>
          <a:prstGeom prst="ellipse">
            <a:avLst/>
          </a:prstGeom>
          <a:solidFill>
            <a:srgbClr val="28C840"/>
          </a:solidFill>
          <a:ln w="12700">
            <a:solidFill>
              <a:srgbClr val="28C840"/>
            </a:solidFill>
            <a:prstDash val="solid"/>
          </a:ln>
        </p:spPr>
      </p:sp>
      <p:sp>
        <p:nvSpPr>
          <p:cNvPr id="14" name="Text 11"/>
          <p:cNvSpPr txBox="1"/>
          <p:nvPr/>
        </p:nvSpPr>
        <p:spPr>
          <a:xfrm>
            <a:off x="8046720" y="1719072"/>
            <a:ext cx="342900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Console: n = 22 (last 9 lines)</a:t>
            </a:r>
            <a:endParaRPr lang="en-US" sz="1000" dirty="0"/>
          </a:p>
        </p:txBody>
      </p:sp>
      <p:sp>
        <p:nvSpPr>
          <p:cNvPr id="15" name="Text 12"/>
          <p:cNvSpPr txBox="1"/>
          <p:nvPr/>
        </p:nvSpPr>
        <p:spPr>
          <a:xfrm>
            <a:off x="7360920" y="2029968"/>
            <a:ext cx="4069080" cy="2148840"/>
          </a:xfrm>
          <a:prstGeom prst="rect">
            <a:avLst/>
          </a:prstGeom>
          <a:noFill/>
          <a:ln/>
        </p:spPr>
        <p:txBody>
          <a:bodyPr wrap="square" lIns="0" tIns="0" rIns="0" bIns="0" rtlCol="0" anchor="t"/>
          <a:lstStyle/>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15! =          1,307,674,368,000</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16! =         20,922,789,888,000</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17! =        355,687,428,096,000</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18! =      6,402,373,705,728,000</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19! =    121,645,100,408,832,000</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20! =  2,432,902,008,176,640,000</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21! = -4,249,290,049,419,214,848</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22! = -1,250,660,718,674,968,576</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long.MaxValue = 9,223,372,036,854,775,807</a:t>
            </a:r>
            <a:endParaRPr lang="en-US" sz="1200" dirty="0"/>
          </a:p>
        </p:txBody>
      </p:sp>
      <p:sp>
        <p:nvSpPr>
          <p:cNvPr id="16" name="Shape 13"/>
          <p:cNvSpPr/>
          <p:nvPr/>
        </p:nvSpPr>
        <p:spPr>
          <a:xfrm>
            <a:off x="548640" y="4480560"/>
            <a:ext cx="6355080" cy="1600200"/>
          </a:xfrm>
          <a:prstGeom prst="roundRect">
            <a:avLst>
              <a:gd name="adj" fmla="val 6857"/>
            </a:avLst>
          </a:prstGeom>
          <a:solidFill>
            <a:srgbClr val="EEF1F6"/>
          </a:solidFill>
          <a:ln w="12700">
            <a:solidFill>
              <a:srgbClr val="EEF1F6"/>
            </a:solidFill>
            <a:prstDash val="solid"/>
          </a:ln>
        </p:spPr>
      </p:sp>
      <p:sp>
        <p:nvSpPr>
          <p:cNvPr id="17" name="Shape 14"/>
          <p:cNvSpPr/>
          <p:nvPr/>
        </p:nvSpPr>
        <p:spPr>
          <a:xfrm>
            <a:off x="777240" y="4709160"/>
            <a:ext cx="566928" cy="566928"/>
          </a:xfrm>
          <a:prstGeom prst="ellipse">
            <a:avLst/>
          </a:prstGeom>
          <a:solidFill>
            <a:srgbClr val="C8453B"/>
          </a:solidFill>
          <a:ln w="12700">
            <a:solidFill>
              <a:srgbClr val="C8453B"/>
            </a:solidFill>
            <a:prstDash val="solid"/>
          </a:ln>
        </p:spPr>
      </p:sp>
      <p:pic>
        <p:nvPicPr>
          <p:cNvPr id="18" name="Image 0" descr="preencoded.png">    </p:cNvPr>
          <p:cNvPicPr>
            <a:picLocks noChangeAspect="1"/>
          </p:cNvPicPr>
          <p:nvPr/>
        </p:nvPicPr>
        <p:blipFill>
          <a:blip r:embed="rId1"/>
          <a:stretch>
            <a:fillRect/>
          </a:stretch>
        </p:blipFill>
        <p:spPr>
          <a:xfrm>
            <a:off x="924641" y="4856561"/>
            <a:ext cx="272125" cy="272125"/>
          </a:xfrm>
          <a:prstGeom prst="rect">
            <a:avLst/>
          </a:prstGeom>
        </p:spPr>
      </p:pic>
      <p:sp>
        <p:nvSpPr>
          <p:cNvPr id="19" name="Text 15"/>
          <p:cNvSpPr txBox="1"/>
          <p:nvPr/>
        </p:nvSpPr>
        <p:spPr>
          <a:xfrm>
            <a:off x="1463040" y="4709160"/>
            <a:ext cx="5257800" cy="566928"/>
          </a:xfrm>
          <a:prstGeom prst="rect">
            <a:avLst/>
          </a:prstGeom>
          <a:noFill/>
          <a:ln/>
        </p:spPr>
        <p:txBody>
          <a:bodyPr wrap="square" lIns="0" tIns="0" rIns="0" bIns="0" rtlCol="0" anchor="ctr"/>
          <a:lstStyle/>
          <a:p>
            <a:pPr indent="0" marL="0">
              <a:buNone/>
            </a:pPr>
            <a:r>
              <a:rPr lang="en-US" sz="1700" b="1" dirty="0">
                <a:solidFill>
                  <a:srgbClr val="C8453B"/>
                </a:solidFill>
                <a:latin typeface="Cambria" pitchFamily="34" charset="0"/>
                <a:ea typeface="Cambria" pitchFamily="34" charset="-122"/>
                <a:cs typeface="Cambria" pitchFamily="34" charset="-120"/>
              </a:rPr>
              <a:t>Silent overflow after 20!</a:t>
            </a:r>
            <a:endParaRPr lang="en-US" sz="1700" dirty="0"/>
          </a:p>
        </p:txBody>
      </p:sp>
      <p:sp>
        <p:nvSpPr>
          <p:cNvPr id="20" name="Text 16"/>
          <p:cNvSpPr txBox="1"/>
          <p:nvPr/>
        </p:nvSpPr>
        <p:spPr>
          <a:xfrm>
            <a:off x="777240" y="5394960"/>
            <a:ext cx="5897880" cy="548640"/>
          </a:xfrm>
          <a:prstGeom prst="rect">
            <a:avLst/>
          </a:prstGeom>
          <a:noFill/>
          <a:ln/>
        </p:spPr>
        <p:txBody>
          <a:bodyPr wrap="square" lIns="0" tIns="0" rIns="0" bIns="0" rtlCol="0" anchor="t"/>
          <a:lstStyle/>
          <a:p>
            <a:pPr indent="0" marL="0">
              <a:buNone/>
            </a:pPr>
            <a:r>
              <a:rPr lang="en-US" sz="1400" dirty="0">
                <a:solidFill>
                  <a:srgbClr val="333B4F"/>
                </a:solidFill>
                <a:latin typeface="Calibri" pitchFamily="34" charset="0"/>
                <a:ea typeface="Calibri" pitchFamily="34" charset="-122"/>
                <a:cs typeface="Calibri" pitchFamily="34" charset="-120"/>
              </a:rPr>
              <a:t>21! ≈ 5.1 · 10¹⁹ &gt; long.MaxValue ≈ 9.2 · 10¹⁸. The value wraps around and turns negative; no error is reported.</a:t>
            </a:r>
            <a:endParaRPr lang="en-US" sz="1400" dirty="0"/>
          </a:p>
        </p:txBody>
      </p:sp>
      <p:sp>
        <p:nvSpPr>
          <p:cNvPr id="21" name="Shape 17"/>
          <p:cNvSpPr/>
          <p:nvPr/>
        </p:nvSpPr>
        <p:spPr>
          <a:xfrm>
            <a:off x="7132320" y="4480560"/>
            <a:ext cx="4526280" cy="1600200"/>
          </a:xfrm>
          <a:prstGeom prst="roundRect">
            <a:avLst>
              <a:gd name="adj" fmla="val 6857"/>
            </a:avLst>
          </a:prstGeom>
          <a:solidFill>
            <a:srgbClr val="EEF1F6"/>
          </a:solidFill>
          <a:ln w="12700">
            <a:solidFill>
              <a:srgbClr val="EEF1F6"/>
            </a:solidFill>
            <a:prstDash val="solid"/>
          </a:ln>
        </p:spPr>
      </p:sp>
      <p:sp>
        <p:nvSpPr>
          <p:cNvPr id="22" name="Shape 18"/>
          <p:cNvSpPr/>
          <p:nvPr/>
        </p:nvSpPr>
        <p:spPr>
          <a:xfrm>
            <a:off x="7360920" y="4709160"/>
            <a:ext cx="566928" cy="566928"/>
          </a:xfrm>
          <a:prstGeom prst="ellipse">
            <a:avLst/>
          </a:prstGeom>
          <a:solidFill>
            <a:srgbClr val="14213D"/>
          </a:solidFill>
          <a:ln w="12700">
            <a:solidFill>
              <a:srgbClr val="14213D"/>
            </a:solidFill>
            <a:prstDash val="solid"/>
          </a:ln>
        </p:spPr>
      </p:sp>
      <p:pic>
        <p:nvPicPr>
          <p:cNvPr id="23" name="Image 1" descr="preencoded.png">    </p:cNvPr>
          <p:cNvPicPr>
            <a:picLocks noChangeAspect="1"/>
          </p:cNvPicPr>
          <p:nvPr/>
        </p:nvPicPr>
        <p:blipFill>
          <a:blip r:embed="rId2"/>
          <a:stretch>
            <a:fillRect/>
          </a:stretch>
        </p:blipFill>
        <p:spPr>
          <a:xfrm>
            <a:off x="7508321" y="4856561"/>
            <a:ext cx="272125" cy="272125"/>
          </a:xfrm>
          <a:prstGeom prst="rect">
            <a:avLst/>
          </a:prstGeom>
        </p:spPr>
      </p:pic>
      <p:sp>
        <p:nvSpPr>
          <p:cNvPr id="24" name="Text 19"/>
          <p:cNvSpPr txBox="1"/>
          <p:nvPr/>
        </p:nvSpPr>
        <p:spPr>
          <a:xfrm>
            <a:off x="8046720" y="4709160"/>
            <a:ext cx="342900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Detect it</a:t>
            </a:r>
            <a:endParaRPr lang="en-US" sz="1700" dirty="0"/>
          </a:p>
        </p:txBody>
      </p:sp>
      <p:sp>
        <p:nvSpPr>
          <p:cNvPr id="25" name="Text 20"/>
          <p:cNvSpPr txBox="1"/>
          <p:nvPr/>
        </p:nvSpPr>
        <p:spPr>
          <a:xfrm>
            <a:off x="7360920" y="5394960"/>
            <a:ext cx="4069080" cy="548640"/>
          </a:xfrm>
          <a:prstGeom prst="rect">
            <a:avLst/>
          </a:prstGeom>
          <a:noFill/>
          <a:ln/>
        </p:spPr>
        <p:txBody>
          <a:bodyPr wrap="square" lIns="0" tIns="0" rIns="0" bIns="0" rtlCol="0" anchor="t"/>
          <a:lstStyle/>
          <a:p>
            <a:pPr indent="0" marL="0">
              <a:buNone/>
            </a:pPr>
            <a:r>
              <a:rPr lang="en-US" sz="1400" dirty="0">
                <a:solidFill>
                  <a:srgbClr val="333B4F"/>
                </a:solidFill>
                <a:latin typeface="Calibri" pitchFamily="34" charset="0"/>
                <a:ea typeface="Calibri" pitchFamily="34" charset="-122"/>
                <a:cs typeface="Calibri" pitchFamily="34" charset="-120"/>
              </a:rPr>
              <a:t>factorial = checked(factorial * i);</a:t>
            </a:r>
            <a:endParaRPr lang="en-US" sz="1400" dirty="0"/>
          </a:p>
          <a:p>
            <a:pPr indent="0" marL="0">
              <a:buNone/>
            </a:pPr>
            <a:r>
              <a:rPr lang="en-US" sz="1400" dirty="0">
                <a:solidFill>
                  <a:srgbClr val="333B4F"/>
                </a:solidFill>
                <a:latin typeface="Calibri" pitchFamily="34" charset="0"/>
                <a:ea typeface="Calibri" pitchFamily="34" charset="-122"/>
                <a:cs typeface="Calibri" pitchFamily="34" charset="-120"/>
              </a:rPr>
              <a:t>throws an OverflowException instead.</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EXAMPLE 4 · MULTIPLICATIONTABLE</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Using the Loop Variable in a Calculation</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6</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18</a:t>
            </a:r>
            <a:endParaRPr lang="en-US" sz="1000" dirty="0"/>
          </a:p>
        </p:txBody>
      </p:sp>
      <p:sp>
        <p:nvSpPr>
          <p:cNvPr id="7" name="Shape 4"/>
          <p:cNvSpPr/>
          <p:nvPr/>
        </p:nvSpPr>
        <p:spPr>
          <a:xfrm>
            <a:off x="548640" y="1645920"/>
            <a:ext cx="6675120" cy="2514600"/>
          </a:xfrm>
          <a:prstGeom prst="roundRect">
            <a:avLst>
              <a:gd name="adj" fmla="val 3636"/>
            </a:avLst>
          </a:prstGeom>
          <a:solidFill>
            <a:srgbClr val="0F1729"/>
          </a:solidFill>
          <a:ln w="12700">
            <a:solidFill>
              <a:srgbClr val="0F1729"/>
            </a:solidFill>
            <a:prstDash val="solid"/>
          </a:ln>
        </p:spPr>
      </p:sp>
      <p:sp>
        <p:nvSpPr>
          <p:cNvPr id="8" name="Text 5"/>
          <p:cNvSpPr txBox="1"/>
          <p:nvPr/>
        </p:nvSpPr>
        <p:spPr>
          <a:xfrm>
            <a:off x="777240" y="1755648"/>
            <a:ext cx="621792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06_04_MultiplicationTable/Program.cs</a:t>
            </a:r>
            <a:endParaRPr lang="en-US" sz="1100" dirty="0"/>
          </a:p>
        </p:txBody>
      </p:sp>
      <p:sp>
        <p:nvSpPr>
          <p:cNvPr id="9" name="Text 6"/>
          <p:cNvSpPr txBox="1"/>
          <p:nvPr/>
        </p:nvSpPr>
        <p:spPr>
          <a:xfrm>
            <a:off x="777240" y="2057400"/>
            <a:ext cx="6217920" cy="1993392"/>
          </a:xfrm>
          <a:prstGeom prst="rect">
            <a:avLst/>
          </a:prstGeom>
          <a:noFill/>
          <a:ln/>
        </p:spPr>
        <p:txBody>
          <a:bodyPr wrap="square" lIns="0" tIns="0" rIns="0" bIns="0" rtlCol="0" anchor="t"/>
          <a:lstStyle/>
          <a:p>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.Write(</a:t>
            </a:r>
            <a:pPr indent="0" marL="0">
              <a:spcAft>
                <a:spcPts val="100"/>
              </a:spcAft>
              <a:buNone/>
            </a:pPr>
            <a:r>
              <a:rPr lang="en-US" sz="1300" dirty="0">
                <a:solidFill>
                  <a:srgbClr val="CE9178"/>
                </a:solidFill>
                <a:latin typeface="Courier New" pitchFamily="34" charset="0"/>
                <a:ea typeface="Courier New" pitchFamily="34" charset="-122"/>
                <a:cs typeface="Courier New" pitchFamily="34" charset="-120"/>
              </a:rPr>
              <a:t>"Table of: "</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number =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.Parse(</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.ReadLine());</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endParaRPr lang="en-US" sz="1300" dirty="0"/>
          </a:p>
          <a:p>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for</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i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i &lt;=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10</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i++)</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300" dirty="0">
                <a:solidFill>
                  <a:srgbClr val="CE9178"/>
                </a:solidFill>
                <a:latin typeface="Courier New" pitchFamily="34" charset="0"/>
                <a:ea typeface="Courier New" pitchFamily="34" charset="-122"/>
                <a:cs typeface="Courier New" pitchFamily="34" charset="-120"/>
              </a:rPr>
              <a:t>$"{number} x {i,2} = {number * i,3}"</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p:txBody>
      </p:sp>
      <p:sp>
        <p:nvSpPr>
          <p:cNvPr id="10" name="Shape 7"/>
          <p:cNvSpPr/>
          <p:nvPr/>
        </p:nvSpPr>
        <p:spPr>
          <a:xfrm>
            <a:off x="7452360" y="1645920"/>
            <a:ext cx="4206240" cy="3017520"/>
          </a:xfrm>
          <a:prstGeom prst="roundRect">
            <a:avLst>
              <a:gd name="adj" fmla="val 3030"/>
            </a:avLst>
          </a:prstGeom>
          <a:solidFill>
            <a:srgbClr val="0B0F19"/>
          </a:solidFill>
          <a:ln w="12700">
            <a:solidFill>
              <a:srgbClr val="2A3654"/>
            </a:solidFill>
            <a:prstDash val="solid"/>
          </a:ln>
        </p:spPr>
      </p:sp>
      <p:sp>
        <p:nvSpPr>
          <p:cNvPr id="11" name="Shape 8"/>
          <p:cNvSpPr/>
          <p:nvPr/>
        </p:nvSpPr>
        <p:spPr>
          <a:xfrm>
            <a:off x="7635240" y="1773936"/>
            <a:ext cx="118872" cy="118872"/>
          </a:xfrm>
          <a:prstGeom prst="ellipse">
            <a:avLst/>
          </a:prstGeom>
          <a:solidFill>
            <a:srgbClr val="FF5F57"/>
          </a:solidFill>
          <a:ln w="12700">
            <a:solidFill>
              <a:srgbClr val="FF5F57"/>
            </a:solidFill>
            <a:prstDash val="solid"/>
          </a:ln>
        </p:spPr>
      </p:sp>
      <p:sp>
        <p:nvSpPr>
          <p:cNvPr id="12" name="Shape 9"/>
          <p:cNvSpPr/>
          <p:nvPr/>
        </p:nvSpPr>
        <p:spPr>
          <a:xfrm>
            <a:off x="7863840" y="1773936"/>
            <a:ext cx="118872" cy="118872"/>
          </a:xfrm>
          <a:prstGeom prst="ellipse">
            <a:avLst/>
          </a:prstGeom>
          <a:solidFill>
            <a:srgbClr val="FEBC2E"/>
          </a:solidFill>
          <a:ln w="12700">
            <a:solidFill>
              <a:srgbClr val="FEBC2E"/>
            </a:solidFill>
            <a:prstDash val="solid"/>
          </a:ln>
        </p:spPr>
      </p:sp>
      <p:sp>
        <p:nvSpPr>
          <p:cNvPr id="13" name="Shape 10"/>
          <p:cNvSpPr/>
          <p:nvPr/>
        </p:nvSpPr>
        <p:spPr>
          <a:xfrm>
            <a:off x="8092440" y="1773936"/>
            <a:ext cx="118872" cy="118872"/>
          </a:xfrm>
          <a:prstGeom prst="ellipse">
            <a:avLst/>
          </a:prstGeom>
          <a:solidFill>
            <a:srgbClr val="28C840"/>
          </a:solidFill>
          <a:ln w="12700">
            <a:solidFill>
              <a:srgbClr val="28C840"/>
            </a:solidFill>
            <a:prstDash val="solid"/>
          </a:ln>
        </p:spPr>
      </p:sp>
      <p:sp>
        <p:nvSpPr>
          <p:cNvPr id="14" name="Text 11"/>
          <p:cNvSpPr txBox="1"/>
          <p:nvPr/>
        </p:nvSpPr>
        <p:spPr>
          <a:xfrm>
            <a:off x="8366760" y="1719072"/>
            <a:ext cx="310896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Console</a:t>
            </a:r>
            <a:endParaRPr lang="en-US" sz="1000" dirty="0"/>
          </a:p>
        </p:txBody>
      </p:sp>
      <p:sp>
        <p:nvSpPr>
          <p:cNvPr id="15" name="Text 12"/>
          <p:cNvSpPr txBox="1"/>
          <p:nvPr/>
        </p:nvSpPr>
        <p:spPr>
          <a:xfrm>
            <a:off x="7680960" y="2029968"/>
            <a:ext cx="3749040" cy="2514600"/>
          </a:xfrm>
          <a:prstGeom prst="rect">
            <a:avLst/>
          </a:prstGeom>
          <a:noFill/>
          <a:ln/>
        </p:spPr>
        <p:txBody>
          <a:bodyPr wrap="square" lIns="0" tIns="0" rIns="0" bIns="0" rtlCol="0" anchor="t"/>
          <a:lstStyle/>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Table of: </a:t>
            </a:r>
            <a:pPr indent="0" marL="0">
              <a:spcAft>
                <a:spcPts val="100"/>
              </a:spcAft>
              <a:buNone/>
            </a:pPr>
            <a:r>
              <a:rPr lang="en-US" sz="1300" b="1" dirty="0">
                <a:solidFill>
                  <a:srgbClr val="FCA311"/>
                </a:solidFill>
                <a:latin typeface="Courier New" pitchFamily="34" charset="0"/>
                <a:ea typeface="Courier New" pitchFamily="34" charset="-122"/>
                <a:cs typeface="Courier New" pitchFamily="34" charset="-120"/>
              </a:rPr>
              <a:t>7</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7 x  1 =   7</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7 x  2 =  14</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7 x  3 =  21</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7 x  4 =  28</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7 x  5 =  35</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7 x  6 =  42</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7 x  7 =  49</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7 x  8 =  56</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7 x  9 =  63</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7 x 10 =  70</a:t>
            </a:r>
            <a:endParaRPr lang="en-US" sz="1300" dirty="0"/>
          </a:p>
        </p:txBody>
      </p:sp>
      <p:sp>
        <p:nvSpPr>
          <p:cNvPr id="16" name="Shape 13"/>
          <p:cNvSpPr/>
          <p:nvPr/>
        </p:nvSpPr>
        <p:spPr>
          <a:xfrm>
            <a:off x="548640" y="4343400"/>
            <a:ext cx="6675120" cy="1737360"/>
          </a:xfrm>
          <a:prstGeom prst="roundRect">
            <a:avLst>
              <a:gd name="adj" fmla="val 6316"/>
            </a:avLst>
          </a:prstGeom>
          <a:solidFill>
            <a:srgbClr val="EEF1F6"/>
          </a:solidFill>
          <a:ln w="12700">
            <a:solidFill>
              <a:srgbClr val="EEF1F6"/>
            </a:solidFill>
            <a:prstDash val="solid"/>
          </a:ln>
        </p:spPr>
      </p:sp>
      <p:sp>
        <p:nvSpPr>
          <p:cNvPr id="17" name="Shape 14"/>
          <p:cNvSpPr/>
          <p:nvPr/>
        </p:nvSpPr>
        <p:spPr>
          <a:xfrm>
            <a:off x="777240" y="4572000"/>
            <a:ext cx="566928" cy="566928"/>
          </a:xfrm>
          <a:prstGeom prst="ellipse">
            <a:avLst/>
          </a:prstGeom>
          <a:solidFill>
            <a:srgbClr val="14213D"/>
          </a:solidFill>
          <a:ln w="12700">
            <a:solidFill>
              <a:srgbClr val="14213D"/>
            </a:solidFill>
            <a:prstDash val="solid"/>
          </a:ln>
        </p:spPr>
      </p:sp>
      <p:pic>
        <p:nvPicPr>
          <p:cNvPr id="18" name="Image 0" descr="preencoded.png">    </p:cNvPr>
          <p:cNvPicPr>
            <a:picLocks noChangeAspect="1"/>
          </p:cNvPicPr>
          <p:nvPr/>
        </p:nvPicPr>
        <p:blipFill>
          <a:blip r:embed="rId1"/>
          <a:stretch>
            <a:fillRect/>
          </a:stretch>
        </p:blipFill>
        <p:spPr>
          <a:xfrm>
            <a:off x="924641" y="4719401"/>
            <a:ext cx="272125" cy="272125"/>
          </a:xfrm>
          <a:prstGeom prst="rect">
            <a:avLst/>
          </a:prstGeom>
        </p:spPr>
      </p:pic>
      <p:sp>
        <p:nvSpPr>
          <p:cNvPr id="19" name="Text 15"/>
          <p:cNvSpPr txBox="1"/>
          <p:nvPr/>
        </p:nvSpPr>
        <p:spPr>
          <a:xfrm>
            <a:off x="1463040" y="4572000"/>
            <a:ext cx="557784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i is readable data</a:t>
            </a:r>
            <a:endParaRPr lang="en-US" sz="1700" dirty="0"/>
          </a:p>
        </p:txBody>
      </p:sp>
      <p:sp>
        <p:nvSpPr>
          <p:cNvPr id="20" name="Text 16"/>
          <p:cNvSpPr txBox="1"/>
          <p:nvPr/>
        </p:nvSpPr>
        <p:spPr>
          <a:xfrm>
            <a:off x="777240" y="5257800"/>
            <a:ext cx="6217920" cy="685800"/>
          </a:xfrm>
          <a:prstGeom prst="rect">
            <a:avLst/>
          </a:prstGeom>
          <a:noFill/>
          <a:ln/>
        </p:spPr>
        <p:txBody>
          <a:bodyPr wrap="square" lIns="0" tIns="0" rIns="0" bIns="0" rtlCol="0" anchor="t"/>
          <a:lstStyle/>
          <a:p>
            <a:pPr indent="0" marL="0">
              <a:buNone/>
            </a:pPr>
            <a:r>
              <a:rPr lang="en-US" sz="1400" dirty="0">
                <a:solidFill>
                  <a:srgbClr val="333B4F"/>
                </a:solidFill>
                <a:latin typeface="Calibri" pitchFamily="34" charset="0"/>
                <a:ea typeface="Calibri" pitchFamily="34" charset="-122"/>
                <a:cs typeface="Calibri" pitchFamily="34" charset="-120"/>
              </a:rPr>
              <a:t>Use i in expressions and output: number * i, $"{i,2}". Change it only in the update part of the header.</a:t>
            </a:r>
            <a:endParaRPr lang="en-US" sz="1400" dirty="0"/>
          </a:p>
        </p:txBody>
      </p:sp>
      <p:sp>
        <p:nvSpPr>
          <p:cNvPr id="21" name="Shape 17"/>
          <p:cNvSpPr/>
          <p:nvPr/>
        </p:nvSpPr>
        <p:spPr>
          <a:xfrm>
            <a:off x="7452360" y="4846320"/>
            <a:ext cx="4206240" cy="1234440"/>
          </a:xfrm>
          <a:prstGeom prst="roundRect">
            <a:avLst>
              <a:gd name="adj" fmla="val 8889"/>
            </a:avLst>
          </a:prstGeom>
          <a:solidFill>
            <a:srgbClr val="FFF6E3"/>
          </a:solidFill>
          <a:ln w="12700">
            <a:solidFill>
              <a:srgbClr val="FFF6E3"/>
            </a:solidFill>
            <a:prstDash val="solid"/>
          </a:ln>
        </p:spPr>
      </p:sp>
      <p:pic>
        <p:nvPicPr>
          <p:cNvPr id="22" name="Image 1" descr="preencoded.png">    </p:cNvPr>
          <p:cNvPicPr>
            <a:picLocks noChangeAspect="1"/>
          </p:cNvPicPr>
          <p:nvPr/>
        </p:nvPicPr>
        <p:blipFill>
          <a:blip r:embed="rId2"/>
          <a:stretch>
            <a:fillRect/>
          </a:stretch>
        </p:blipFill>
        <p:spPr>
          <a:xfrm>
            <a:off x="7726680" y="5189220"/>
            <a:ext cx="548640" cy="548640"/>
          </a:xfrm>
          <a:prstGeom prst="rect">
            <a:avLst/>
          </a:prstGeom>
        </p:spPr>
      </p:pic>
      <p:sp>
        <p:nvSpPr>
          <p:cNvPr id="23" name="Text 18"/>
          <p:cNvSpPr txBox="1"/>
          <p:nvPr/>
        </p:nvSpPr>
        <p:spPr>
          <a:xfrm>
            <a:off x="8549640" y="4919472"/>
            <a:ext cx="2834640" cy="1088136"/>
          </a:xfrm>
          <a:prstGeom prst="rect">
            <a:avLst/>
          </a:prstGeom>
          <a:noFill/>
          <a:ln/>
        </p:spPr>
        <p:txBody>
          <a:bodyPr wrap="square" lIns="0" tIns="0" rIns="0" bIns="0" rtlCol="0" anchor="ctr"/>
          <a:lstStyle/>
          <a:p>
            <a:pPr indent="0" marL="0">
              <a:buNone/>
            </a:pPr>
            <a:r>
              <a:rPr lang="en-US" sz="1400" dirty="0">
                <a:solidFill>
                  <a:srgbClr val="333B4F"/>
                </a:solidFill>
                <a:latin typeface="Calibri" pitchFamily="34" charset="0"/>
                <a:ea typeface="Calibri" pitchFamily="34" charset="-122"/>
                <a:cs typeface="Calibri" pitchFamily="34" charset="-120"/>
              </a:rPr>
              <a:t>All tables 1–10 at once? Put this loop inside another loop (Part 3).</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EXAMPLE 13 · COMPOUNDINTEREST</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Compound Interest, Year by Year</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6</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19</a:t>
            </a:r>
            <a:endParaRPr lang="en-US" sz="1000" dirty="0"/>
          </a:p>
        </p:txBody>
      </p:sp>
      <p:sp>
        <p:nvSpPr>
          <p:cNvPr id="7" name="Shape 4"/>
          <p:cNvSpPr/>
          <p:nvPr/>
        </p:nvSpPr>
        <p:spPr>
          <a:xfrm>
            <a:off x="548640" y="1645920"/>
            <a:ext cx="6812280" cy="3474720"/>
          </a:xfrm>
          <a:prstGeom prst="roundRect">
            <a:avLst>
              <a:gd name="adj" fmla="val 2632"/>
            </a:avLst>
          </a:prstGeom>
          <a:solidFill>
            <a:srgbClr val="0F1729"/>
          </a:solidFill>
          <a:ln w="12700">
            <a:solidFill>
              <a:srgbClr val="0F1729"/>
            </a:solidFill>
            <a:prstDash val="solid"/>
          </a:ln>
        </p:spPr>
      </p:sp>
      <p:sp>
        <p:nvSpPr>
          <p:cNvPr id="8" name="Text 5"/>
          <p:cNvSpPr txBox="1"/>
          <p:nvPr/>
        </p:nvSpPr>
        <p:spPr>
          <a:xfrm>
            <a:off x="777240" y="1755648"/>
            <a:ext cx="635508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06_13_CompoundInterest/Program.cs</a:t>
            </a:r>
            <a:endParaRPr lang="en-US" sz="1100" dirty="0"/>
          </a:p>
        </p:txBody>
      </p:sp>
      <p:sp>
        <p:nvSpPr>
          <p:cNvPr id="9" name="Text 6"/>
          <p:cNvSpPr txBox="1"/>
          <p:nvPr/>
        </p:nvSpPr>
        <p:spPr>
          <a:xfrm>
            <a:off x="777240" y="2057400"/>
            <a:ext cx="6355080" cy="2953512"/>
          </a:xfrm>
          <a:prstGeom prst="rect">
            <a:avLst/>
          </a:prstGeom>
          <a:noFill/>
          <a:ln/>
        </p:spPr>
        <p:txBody>
          <a:bodyPr wrap="square" lIns="0" tIns="0" rIns="0" bIns="0" rtlCol="0" anchor="t"/>
          <a:lstStyle/>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"Deposit (TL): "</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decimal</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balance =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decimal</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.Parse(</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.ReadLine());</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"Annual interest rate (%): "</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decimal</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rate =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decimal</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.Parse(</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.ReadLine());</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"Years: "</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years =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.Parse(</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.ReadLine());</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"Year      Interest       Balance"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for</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year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year &lt;= years; year++)</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decimal</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interest = balance * rate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100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F8BA3"/>
                </a:solidFill>
                <a:latin typeface="Courier New" pitchFamily="34" charset="0"/>
                <a:ea typeface="Courier New" pitchFamily="34" charset="-122"/>
                <a:cs typeface="Courier New" pitchFamily="34" charset="-120"/>
              </a:rPr>
              <a:t>// this year</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balance += interest;                      </a:t>
            </a:r>
            <a:pPr indent="0" marL="0">
              <a:spcAft>
                <a:spcPts val="100"/>
              </a:spcAft>
              <a:buNone/>
            </a:pPr>
            <a:r>
              <a:rPr lang="en-US" sz="1200" dirty="0">
                <a:solidFill>
                  <a:srgbClr val="7F8BA3"/>
                </a:solidFill>
                <a:latin typeface="Courier New" pitchFamily="34" charset="0"/>
                <a:ea typeface="Courier New" pitchFamily="34" charset="-122"/>
                <a:cs typeface="Courier New" pitchFamily="34" charset="-120"/>
              </a:rPr>
              <a:t>// add to balance</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$"{year,4} {interest,13:F2} {balance,13:F2}"</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10" name="Shape 7"/>
          <p:cNvSpPr/>
          <p:nvPr/>
        </p:nvSpPr>
        <p:spPr>
          <a:xfrm>
            <a:off x="548640" y="5303520"/>
            <a:ext cx="6812280" cy="777240"/>
          </a:xfrm>
          <a:prstGeom prst="roundRect">
            <a:avLst>
              <a:gd name="adj" fmla="val 14118"/>
            </a:avLst>
          </a:prstGeom>
          <a:solidFill>
            <a:srgbClr val="FFF6E3"/>
          </a:solidFill>
          <a:ln w="12700">
            <a:solidFill>
              <a:srgbClr val="FFF6E3"/>
            </a:solidFill>
            <a:prstDash val="solid"/>
          </a:ln>
        </p:spPr>
      </p:sp>
      <p:pic>
        <p:nvPicPr>
          <p:cNvPr id="11" name="Image 0" descr="preencoded.png">    </p:cNvPr>
          <p:cNvPicPr>
            <a:picLocks noChangeAspect="1"/>
          </p:cNvPicPr>
          <p:nvPr/>
        </p:nvPicPr>
        <p:blipFill>
          <a:blip r:embed="rId1"/>
          <a:stretch>
            <a:fillRect/>
          </a:stretch>
        </p:blipFill>
        <p:spPr>
          <a:xfrm>
            <a:off x="822960" y="5440680"/>
            <a:ext cx="502920" cy="502920"/>
          </a:xfrm>
          <a:prstGeom prst="rect">
            <a:avLst/>
          </a:prstGeom>
        </p:spPr>
      </p:pic>
      <p:sp>
        <p:nvSpPr>
          <p:cNvPr id="12" name="Text 8"/>
          <p:cNvSpPr txBox="1"/>
          <p:nvPr/>
        </p:nvSpPr>
        <p:spPr>
          <a:xfrm>
            <a:off x="1600200" y="5376672"/>
            <a:ext cx="5486400" cy="630936"/>
          </a:xfrm>
          <a:prstGeom prst="rect">
            <a:avLst/>
          </a:prstGeom>
          <a:noFill/>
          <a:ln/>
        </p:spPr>
        <p:txBody>
          <a:bodyPr wrap="square" lIns="0" tIns="0" rIns="0" bIns="0" rtlCol="0" anchor="ctr"/>
          <a:lstStyle/>
          <a:p>
            <a:pPr indent="0" marL="0">
              <a:buNone/>
            </a:pPr>
            <a:r>
              <a:rPr lang="en-US" sz="1500" b="1" dirty="0">
                <a:solidFill>
                  <a:srgbClr val="333B4F"/>
                </a:solidFill>
                <a:latin typeface="Calibri" pitchFamily="34" charset="0"/>
                <a:ea typeface="Calibri" pitchFamily="34" charset="-122"/>
                <a:cs typeface="Calibri" pitchFamily="34" charset="-120"/>
              </a:rPr>
              <a:t>decimal</a:t>
            </a:r>
            <a:pPr indent="0" marL="0">
              <a:buNone/>
            </a:pPr>
            <a:r>
              <a:rPr lang="en-US" sz="1500" dirty="0">
                <a:solidFill>
                  <a:srgbClr val="333B4F"/>
                </a:solidFill>
                <a:latin typeface="Calibri" pitchFamily="34" charset="0"/>
                <a:ea typeface="Calibri" pitchFamily="34" charset="-122"/>
                <a:cs typeface="Calibri" pitchFamily="34" charset="-120"/>
              </a:rPr>
              <a:t> for money (Week 3). </a:t>
            </a:r>
            <a:pPr indent="0" marL="0">
              <a:buNone/>
            </a:pPr>
            <a:r>
              <a:rPr lang="en-US" sz="1500" b="1" dirty="0">
                <a:solidFill>
                  <a:srgbClr val="14213D"/>
                </a:solidFill>
                <a:latin typeface="Courier New" pitchFamily="34" charset="0"/>
                <a:ea typeface="Courier New" pitchFamily="34" charset="-122"/>
                <a:cs typeface="Courier New" pitchFamily="34" charset="-120"/>
              </a:rPr>
              <a:t>rate / 100</a:t>
            </a:r>
            <a:pPr indent="0" marL="0">
              <a:buNone/>
            </a:pPr>
            <a:r>
              <a:rPr lang="en-US" sz="1500" dirty="0">
                <a:solidFill>
                  <a:srgbClr val="333B4F"/>
                </a:solidFill>
                <a:latin typeface="Calibri" pitchFamily="34" charset="0"/>
                <a:ea typeface="Calibri" pitchFamily="34" charset="-122"/>
                <a:cs typeface="Calibri" pitchFamily="34" charset="-120"/>
              </a:rPr>
              <a:t> turns 40 into 0.40.</a:t>
            </a:r>
            <a:endParaRPr lang="en-US" sz="1500" dirty="0"/>
          </a:p>
        </p:txBody>
      </p:sp>
      <p:sp>
        <p:nvSpPr>
          <p:cNvPr id="13" name="Shape 9"/>
          <p:cNvSpPr/>
          <p:nvPr/>
        </p:nvSpPr>
        <p:spPr>
          <a:xfrm>
            <a:off x="7589520" y="1645920"/>
            <a:ext cx="4069080" cy="2514600"/>
          </a:xfrm>
          <a:prstGeom prst="roundRect">
            <a:avLst>
              <a:gd name="adj" fmla="val 3636"/>
            </a:avLst>
          </a:prstGeom>
          <a:solidFill>
            <a:srgbClr val="0B0F19"/>
          </a:solidFill>
          <a:ln w="12700">
            <a:solidFill>
              <a:srgbClr val="2A3654"/>
            </a:solidFill>
            <a:prstDash val="solid"/>
          </a:ln>
        </p:spPr>
      </p:sp>
      <p:sp>
        <p:nvSpPr>
          <p:cNvPr id="14" name="Shape 10"/>
          <p:cNvSpPr/>
          <p:nvPr/>
        </p:nvSpPr>
        <p:spPr>
          <a:xfrm>
            <a:off x="7772400" y="1773936"/>
            <a:ext cx="118872" cy="118872"/>
          </a:xfrm>
          <a:prstGeom prst="ellipse">
            <a:avLst/>
          </a:prstGeom>
          <a:solidFill>
            <a:srgbClr val="FF5F57"/>
          </a:solidFill>
          <a:ln w="12700">
            <a:solidFill>
              <a:srgbClr val="FF5F57"/>
            </a:solidFill>
            <a:prstDash val="solid"/>
          </a:ln>
        </p:spPr>
      </p:sp>
      <p:sp>
        <p:nvSpPr>
          <p:cNvPr id="15" name="Shape 11"/>
          <p:cNvSpPr/>
          <p:nvPr/>
        </p:nvSpPr>
        <p:spPr>
          <a:xfrm>
            <a:off x="8001000" y="1773936"/>
            <a:ext cx="118872" cy="118872"/>
          </a:xfrm>
          <a:prstGeom prst="ellipse">
            <a:avLst/>
          </a:prstGeom>
          <a:solidFill>
            <a:srgbClr val="FEBC2E"/>
          </a:solidFill>
          <a:ln w="12700">
            <a:solidFill>
              <a:srgbClr val="FEBC2E"/>
            </a:solidFill>
            <a:prstDash val="solid"/>
          </a:ln>
        </p:spPr>
      </p:sp>
      <p:sp>
        <p:nvSpPr>
          <p:cNvPr id="16" name="Shape 12"/>
          <p:cNvSpPr/>
          <p:nvPr/>
        </p:nvSpPr>
        <p:spPr>
          <a:xfrm>
            <a:off x="8229600" y="1773936"/>
            <a:ext cx="118872" cy="118872"/>
          </a:xfrm>
          <a:prstGeom prst="ellipse">
            <a:avLst/>
          </a:prstGeom>
          <a:solidFill>
            <a:srgbClr val="28C840"/>
          </a:solidFill>
          <a:ln w="12700">
            <a:solidFill>
              <a:srgbClr val="28C840"/>
            </a:solidFill>
            <a:prstDash val="solid"/>
          </a:ln>
        </p:spPr>
      </p:sp>
      <p:sp>
        <p:nvSpPr>
          <p:cNvPr id="17" name="Text 13"/>
          <p:cNvSpPr txBox="1"/>
          <p:nvPr/>
        </p:nvSpPr>
        <p:spPr>
          <a:xfrm>
            <a:off x="8503920" y="1719072"/>
            <a:ext cx="297180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Console</a:t>
            </a:r>
            <a:endParaRPr lang="en-US" sz="1000" dirty="0"/>
          </a:p>
        </p:txBody>
      </p:sp>
      <p:sp>
        <p:nvSpPr>
          <p:cNvPr id="18" name="Text 14"/>
          <p:cNvSpPr txBox="1"/>
          <p:nvPr/>
        </p:nvSpPr>
        <p:spPr>
          <a:xfrm>
            <a:off x="7818120" y="2029968"/>
            <a:ext cx="3611880" cy="2011680"/>
          </a:xfrm>
          <a:prstGeom prst="rect">
            <a:avLst/>
          </a:prstGeom>
          <a:noFill/>
          <a:ln/>
        </p:spPr>
        <p:txBody>
          <a:bodyPr wrap="square" lIns="0" tIns="0" rIns="0" bIns="0" rtlCol="0" anchor="t"/>
          <a:lstStyle/>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Deposit (TL): </a:t>
            </a:r>
            <a:pPr indent="0" marL="0">
              <a:spcAft>
                <a:spcPts val="100"/>
              </a:spcAft>
              <a:buNone/>
            </a:pPr>
            <a:r>
              <a:rPr lang="en-US" sz="1200" b="1" dirty="0">
                <a:solidFill>
                  <a:srgbClr val="FCA311"/>
                </a:solidFill>
                <a:latin typeface="Courier New" pitchFamily="34" charset="0"/>
                <a:ea typeface="Courier New" pitchFamily="34" charset="-122"/>
                <a:cs typeface="Courier New" pitchFamily="34" charset="-120"/>
              </a:rPr>
              <a:t>10000</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Annual interest rate (%): </a:t>
            </a:r>
            <a:pPr indent="0" marL="0">
              <a:spcAft>
                <a:spcPts val="100"/>
              </a:spcAft>
              <a:buNone/>
            </a:pPr>
            <a:r>
              <a:rPr lang="en-US" sz="1200" b="1" dirty="0">
                <a:solidFill>
                  <a:srgbClr val="FCA311"/>
                </a:solidFill>
                <a:latin typeface="Courier New" pitchFamily="34" charset="0"/>
                <a:ea typeface="Courier New" pitchFamily="34" charset="-122"/>
                <a:cs typeface="Courier New" pitchFamily="34" charset="-120"/>
              </a:rPr>
              <a:t>40</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Years: </a:t>
            </a:r>
            <a:pPr indent="0" marL="0">
              <a:spcAft>
                <a:spcPts val="100"/>
              </a:spcAft>
              <a:buNone/>
            </a:pPr>
            <a:r>
              <a:rPr lang="en-US" sz="1200" b="1" dirty="0">
                <a:solidFill>
                  <a:srgbClr val="FCA311"/>
                </a:solidFill>
                <a:latin typeface="Courier New" pitchFamily="34" charset="0"/>
                <a:ea typeface="Courier New" pitchFamily="34" charset="-122"/>
                <a:cs typeface="Courier New" pitchFamily="34" charset="-120"/>
              </a:rPr>
              <a:t>5</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Year      Interest       Balance</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   1       4000.00      14000.00</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   2       5600.00      19600.00</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   3       7840.00      27440.00</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   4      10976.00      38416.00</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   5      15366.40      53782.40</a:t>
            </a:r>
            <a:endParaRPr lang="en-US" sz="1200" dirty="0"/>
          </a:p>
        </p:txBody>
      </p:sp>
      <p:sp>
        <p:nvSpPr>
          <p:cNvPr id="19" name="Shape 15"/>
          <p:cNvSpPr/>
          <p:nvPr/>
        </p:nvSpPr>
        <p:spPr>
          <a:xfrm>
            <a:off x="7589520" y="4343400"/>
            <a:ext cx="4069080" cy="1737360"/>
          </a:xfrm>
          <a:prstGeom prst="roundRect">
            <a:avLst>
              <a:gd name="adj" fmla="val 6316"/>
            </a:avLst>
          </a:prstGeom>
          <a:solidFill>
            <a:srgbClr val="14213D"/>
          </a:solidFill>
          <a:ln w="12700">
            <a:solidFill>
              <a:srgbClr val="14213D"/>
            </a:solidFill>
            <a:prstDash val="solid"/>
          </a:ln>
        </p:spPr>
      </p:sp>
      <p:sp>
        <p:nvSpPr>
          <p:cNvPr id="20" name="Text 16"/>
          <p:cNvSpPr txBox="1"/>
          <p:nvPr/>
        </p:nvSpPr>
        <p:spPr>
          <a:xfrm>
            <a:off x="7818120" y="4462272"/>
            <a:ext cx="3657600" cy="274320"/>
          </a:xfrm>
          <a:prstGeom prst="rect">
            <a:avLst/>
          </a:prstGeom>
          <a:noFill/>
          <a:ln/>
        </p:spPr>
        <p:txBody>
          <a:bodyPr wrap="square" lIns="0" tIns="0" rIns="0" bIns="0" rtlCol="0" anchor="ctr"/>
          <a:lstStyle/>
          <a:p>
            <a:pPr indent="0" marL="0">
              <a:buNone/>
            </a:pPr>
            <a:r>
              <a:rPr lang="en-US" sz="1200" b="1" dirty="0">
                <a:solidFill>
                  <a:srgbClr val="FCA311"/>
                </a:solidFill>
                <a:latin typeface="Courier New" pitchFamily="34" charset="0"/>
                <a:ea typeface="Courier New" pitchFamily="34" charset="-122"/>
                <a:cs typeface="Courier New" pitchFamily="34" charset="-120"/>
              </a:rPr>
              <a:t>CHECK WITH THE FORMULA</a:t>
            </a:r>
            <a:endParaRPr lang="en-US" sz="1200" dirty="0"/>
          </a:p>
        </p:txBody>
      </p:sp>
      <p:sp>
        <p:nvSpPr>
          <p:cNvPr id="21" name="Text 17"/>
          <p:cNvSpPr txBox="1"/>
          <p:nvPr/>
        </p:nvSpPr>
        <p:spPr>
          <a:xfrm>
            <a:off x="7818120" y="4800600"/>
            <a:ext cx="3657600" cy="1188720"/>
          </a:xfrm>
          <a:prstGeom prst="rect">
            <a:avLst/>
          </a:prstGeom>
          <a:noFill/>
          <a:ln/>
        </p:spPr>
        <p:txBody>
          <a:bodyPr wrap="square" lIns="0" tIns="0" rIns="0" bIns="0" rtlCol="0" anchor="t"/>
          <a:lstStyle/>
          <a:p>
            <a:pPr indent="0" marL="0">
              <a:buNone/>
            </a:pPr>
            <a:r>
              <a:rPr lang="en-US" sz="2000" b="1" dirty="0">
                <a:solidFill>
                  <a:srgbClr val="FFFFFF"/>
                </a:solidFill>
                <a:latin typeface="Calibri" pitchFamily="34" charset="0"/>
                <a:ea typeface="Calibri" pitchFamily="34" charset="-122"/>
                <a:cs typeface="Calibri" pitchFamily="34" charset="-120"/>
              </a:rPr>
              <a:t>A = P · (1 + r)</a:t>
            </a:r>
            <a:pPr indent="0" marL="0">
              <a:buNone/>
            </a:pPr>
            <a:r>
              <a:rPr lang="en-US" sz="2000" b="1" baseline="30000" dirty="0">
                <a:solidFill>
                  <a:srgbClr val="FFFFFF"/>
                </a:solidFill>
                <a:latin typeface="Calibri" pitchFamily="34" charset="0"/>
                <a:ea typeface="Calibri" pitchFamily="34" charset="-122"/>
                <a:cs typeface="Calibri" pitchFamily="34" charset="-120"/>
              </a:rPr>
              <a:t>n</a:t>
            </a:r>
            <a:endParaRPr lang="en-US" sz="2000" dirty="0"/>
          </a:p>
          <a:p>
            <a:pPr indent="0" marL="0">
              <a:buNone/>
            </a:pPr>
            <a:r>
              <a:rPr lang="en-US" sz="1700" dirty="0">
                <a:solidFill>
                  <a:srgbClr val="FFFFFF"/>
                </a:solidFill>
                <a:latin typeface="Calibri" pitchFamily="34" charset="0"/>
                <a:ea typeface="Calibri" pitchFamily="34" charset="-122"/>
                <a:cs typeface="Calibri" pitchFamily="34" charset="-120"/>
              </a:rPr>
              <a:t>10 000 · 1.40</a:t>
            </a:r>
            <a:pPr indent="0" marL="0">
              <a:buNone/>
            </a:pPr>
            <a:r>
              <a:rPr lang="en-US" sz="1700" baseline="30000" dirty="0">
                <a:solidFill>
                  <a:srgbClr val="FFFFFF"/>
                </a:solidFill>
                <a:latin typeface="Calibri" pitchFamily="34" charset="0"/>
                <a:ea typeface="Calibri" pitchFamily="34" charset="-122"/>
                <a:cs typeface="Calibri" pitchFamily="34" charset="-120"/>
              </a:rPr>
              <a:t>5</a:t>
            </a:r>
            <a:pPr indent="0" marL="0">
              <a:buNone/>
            </a:pPr>
            <a:r>
              <a:rPr lang="en-US" sz="1700" dirty="0">
                <a:solidFill>
                  <a:srgbClr val="FFFFFF"/>
                </a:solidFill>
                <a:latin typeface="Calibri" pitchFamily="34" charset="0"/>
                <a:ea typeface="Calibri" pitchFamily="34" charset="-122"/>
                <a:cs typeface="Calibri" pitchFamily="34" charset="-120"/>
              </a:rPr>
              <a:t> = 53 782.40 ✓</a:t>
            </a:r>
            <a:endParaRPr lang="en-US" sz="2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EXAMPLE 12 · MINMAX</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Smallest and Largest of N Numbers: No Arrays Needed</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6</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20</a:t>
            </a:r>
            <a:endParaRPr lang="en-US" sz="1000" dirty="0"/>
          </a:p>
        </p:txBody>
      </p:sp>
      <p:sp>
        <p:nvSpPr>
          <p:cNvPr id="7" name="Shape 4"/>
          <p:cNvSpPr/>
          <p:nvPr/>
        </p:nvSpPr>
        <p:spPr>
          <a:xfrm>
            <a:off x="548640" y="1645920"/>
            <a:ext cx="6675120" cy="3657600"/>
          </a:xfrm>
          <a:prstGeom prst="roundRect">
            <a:avLst>
              <a:gd name="adj" fmla="val 2500"/>
            </a:avLst>
          </a:prstGeom>
          <a:solidFill>
            <a:srgbClr val="0F1729"/>
          </a:solidFill>
          <a:ln w="12700">
            <a:solidFill>
              <a:srgbClr val="0F1729"/>
            </a:solidFill>
            <a:prstDash val="solid"/>
          </a:ln>
        </p:spPr>
      </p:sp>
      <p:sp>
        <p:nvSpPr>
          <p:cNvPr id="8" name="Text 5"/>
          <p:cNvSpPr txBox="1"/>
          <p:nvPr/>
        </p:nvSpPr>
        <p:spPr>
          <a:xfrm>
            <a:off x="777240" y="1755648"/>
            <a:ext cx="621792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06_12_MinMax/Program.cs (excerpt)</a:t>
            </a:r>
            <a:endParaRPr lang="en-US" sz="1100" dirty="0"/>
          </a:p>
        </p:txBody>
      </p:sp>
      <p:sp>
        <p:nvSpPr>
          <p:cNvPr id="9" name="Text 6"/>
          <p:cNvSpPr txBox="1"/>
          <p:nvPr/>
        </p:nvSpPr>
        <p:spPr>
          <a:xfrm>
            <a:off x="777240" y="2057400"/>
            <a:ext cx="6217920" cy="3136392"/>
          </a:xfrm>
          <a:prstGeom prst="rect">
            <a:avLst/>
          </a:prstGeom>
          <a:noFill/>
          <a:ln/>
        </p:spPr>
        <p:txBody>
          <a:bodyPr wrap="square" lIns="0" tIns="0" rIns="0" bIns="0" rtlCol="0" anchor="t"/>
          <a:lstStyle/>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double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min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double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max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for</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i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i &lt;= count; i++)</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$"Number {i}: "</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double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x =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double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.Parse(</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.ReadLine());</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if</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(i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 x &lt; min)     </a:t>
            </a:r>
            <a:pPr indent="0" marL="0">
              <a:spcAft>
                <a:spcPts val="100"/>
              </a:spcAft>
              <a:buNone/>
            </a:pPr>
            <a:r>
              <a:rPr lang="en-US" sz="1200" dirty="0">
                <a:solidFill>
                  <a:srgbClr val="7F8BA3"/>
                </a:solidFill>
                <a:latin typeface="Courier New" pitchFamily="34" charset="0"/>
                <a:ea typeface="Courier New" pitchFamily="34" charset="-122"/>
                <a:cs typeface="Courier New" pitchFamily="34" charset="-120"/>
              </a:rPr>
              <a:t>// first number, or a new minimum</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min = x;</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if</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(i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 x &gt; max)     </a:t>
            </a:r>
            <a:pPr indent="0" marL="0">
              <a:spcAft>
                <a:spcPts val="100"/>
              </a:spcAft>
              <a:buNone/>
            </a:pPr>
            <a:r>
              <a:rPr lang="en-US" sz="1200" dirty="0">
                <a:solidFill>
                  <a:srgbClr val="7F8BA3"/>
                </a:solidFill>
                <a:latin typeface="Courier New" pitchFamily="34" charset="0"/>
                <a:ea typeface="Courier New" pitchFamily="34" charset="-122"/>
                <a:cs typeface="Courier New" pitchFamily="34" charset="-120"/>
              </a:rPr>
              <a:t>// first number, or a new maximum</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max = x;</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10" name="Shape 7"/>
          <p:cNvSpPr/>
          <p:nvPr/>
        </p:nvSpPr>
        <p:spPr>
          <a:xfrm>
            <a:off x="7452360" y="1645920"/>
            <a:ext cx="4206240" cy="2468880"/>
          </a:xfrm>
          <a:prstGeom prst="roundRect">
            <a:avLst>
              <a:gd name="adj" fmla="val 3704"/>
            </a:avLst>
          </a:prstGeom>
          <a:solidFill>
            <a:srgbClr val="0B0F19"/>
          </a:solidFill>
          <a:ln w="12700">
            <a:solidFill>
              <a:srgbClr val="2A3654"/>
            </a:solidFill>
            <a:prstDash val="solid"/>
          </a:ln>
        </p:spPr>
      </p:sp>
      <p:sp>
        <p:nvSpPr>
          <p:cNvPr id="11" name="Shape 8"/>
          <p:cNvSpPr/>
          <p:nvPr/>
        </p:nvSpPr>
        <p:spPr>
          <a:xfrm>
            <a:off x="7635240" y="1773936"/>
            <a:ext cx="118872" cy="118872"/>
          </a:xfrm>
          <a:prstGeom prst="ellipse">
            <a:avLst/>
          </a:prstGeom>
          <a:solidFill>
            <a:srgbClr val="FF5F57"/>
          </a:solidFill>
          <a:ln w="12700">
            <a:solidFill>
              <a:srgbClr val="FF5F57"/>
            </a:solidFill>
            <a:prstDash val="solid"/>
          </a:ln>
        </p:spPr>
      </p:sp>
      <p:sp>
        <p:nvSpPr>
          <p:cNvPr id="12" name="Shape 9"/>
          <p:cNvSpPr/>
          <p:nvPr/>
        </p:nvSpPr>
        <p:spPr>
          <a:xfrm>
            <a:off x="7863840" y="1773936"/>
            <a:ext cx="118872" cy="118872"/>
          </a:xfrm>
          <a:prstGeom prst="ellipse">
            <a:avLst/>
          </a:prstGeom>
          <a:solidFill>
            <a:srgbClr val="FEBC2E"/>
          </a:solidFill>
          <a:ln w="12700">
            <a:solidFill>
              <a:srgbClr val="FEBC2E"/>
            </a:solidFill>
            <a:prstDash val="solid"/>
          </a:ln>
        </p:spPr>
      </p:sp>
      <p:sp>
        <p:nvSpPr>
          <p:cNvPr id="13" name="Shape 10"/>
          <p:cNvSpPr/>
          <p:nvPr/>
        </p:nvSpPr>
        <p:spPr>
          <a:xfrm>
            <a:off x="8092440" y="1773936"/>
            <a:ext cx="118872" cy="118872"/>
          </a:xfrm>
          <a:prstGeom prst="ellipse">
            <a:avLst/>
          </a:prstGeom>
          <a:solidFill>
            <a:srgbClr val="28C840"/>
          </a:solidFill>
          <a:ln w="12700">
            <a:solidFill>
              <a:srgbClr val="28C840"/>
            </a:solidFill>
            <a:prstDash val="solid"/>
          </a:ln>
        </p:spPr>
      </p:sp>
      <p:sp>
        <p:nvSpPr>
          <p:cNvPr id="14" name="Text 11"/>
          <p:cNvSpPr txBox="1"/>
          <p:nvPr/>
        </p:nvSpPr>
        <p:spPr>
          <a:xfrm>
            <a:off x="8366760" y="1719072"/>
            <a:ext cx="310896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Console</a:t>
            </a:r>
            <a:endParaRPr lang="en-US" sz="1000" dirty="0"/>
          </a:p>
        </p:txBody>
      </p:sp>
      <p:sp>
        <p:nvSpPr>
          <p:cNvPr id="15" name="Text 12"/>
          <p:cNvSpPr txBox="1"/>
          <p:nvPr/>
        </p:nvSpPr>
        <p:spPr>
          <a:xfrm>
            <a:off x="7680960" y="2029968"/>
            <a:ext cx="3749040" cy="1965960"/>
          </a:xfrm>
          <a:prstGeom prst="rect">
            <a:avLst/>
          </a:prstGeom>
          <a:noFill/>
          <a:ln/>
        </p:spPr>
        <p:txBody>
          <a:bodyPr wrap="square" lIns="0" tIns="0" rIns="0" bIns="0" rtlCol="0" anchor="t"/>
          <a:lstStyle/>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How many numbers? </a:t>
            </a:r>
            <a:pPr indent="0" marL="0">
              <a:spcAft>
                <a:spcPts val="100"/>
              </a:spcAft>
              <a:buNone/>
            </a:pPr>
            <a:r>
              <a:rPr lang="en-US" sz="1300" b="1" dirty="0">
                <a:solidFill>
                  <a:srgbClr val="FCA311"/>
                </a:solidFill>
                <a:latin typeface="Courier New" pitchFamily="34" charset="0"/>
                <a:ea typeface="Courier New" pitchFamily="34" charset="-122"/>
                <a:cs typeface="Courier New" pitchFamily="34" charset="-120"/>
              </a:rPr>
              <a:t>5</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Number 1: </a:t>
            </a:r>
            <a:pPr indent="0" marL="0">
              <a:spcAft>
                <a:spcPts val="100"/>
              </a:spcAft>
              <a:buNone/>
            </a:pPr>
            <a:r>
              <a:rPr lang="en-US" sz="1300" b="1" dirty="0">
                <a:solidFill>
                  <a:srgbClr val="FCA311"/>
                </a:solidFill>
                <a:latin typeface="Courier New" pitchFamily="34" charset="0"/>
                <a:ea typeface="Courier New" pitchFamily="34" charset="-122"/>
                <a:cs typeface="Courier New" pitchFamily="34" charset="-120"/>
              </a:rPr>
              <a:t>17</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Number 2: </a:t>
            </a:r>
            <a:pPr indent="0" marL="0">
              <a:spcAft>
                <a:spcPts val="100"/>
              </a:spcAft>
              <a:buNone/>
            </a:pPr>
            <a:r>
              <a:rPr lang="en-US" sz="1300" b="1" dirty="0">
                <a:solidFill>
                  <a:srgbClr val="FCA311"/>
                </a:solidFill>
                <a:latin typeface="Courier New" pitchFamily="34" charset="0"/>
                <a:ea typeface="Courier New" pitchFamily="34" charset="-122"/>
                <a:cs typeface="Courier New" pitchFamily="34" charset="-120"/>
              </a:rPr>
              <a:t>-4</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Number 3: </a:t>
            </a:r>
            <a:pPr indent="0" marL="0">
              <a:spcAft>
                <a:spcPts val="100"/>
              </a:spcAft>
              <a:buNone/>
            </a:pPr>
            <a:r>
              <a:rPr lang="en-US" sz="1300" b="1" dirty="0">
                <a:solidFill>
                  <a:srgbClr val="FCA311"/>
                </a:solidFill>
                <a:latin typeface="Courier New" pitchFamily="34" charset="0"/>
                <a:ea typeface="Courier New" pitchFamily="34" charset="-122"/>
                <a:cs typeface="Courier New" pitchFamily="34" charset="-120"/>
              </a:rPr>
              <a:t>23.5</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Number 4: </a:t>
            </a:r>
            <a:pPr indent="0" marL="0">
              <a:spcAft>
                <a:spcPts val="100"/>
              </a:spcAft>
              <a:buNone/>
            </a:pPr>
            <a:r>
              <a:rPr lang="en-US" sz="1300" b="1" dirty="0">
                <a:solidFill>
                  <a:srgbClr val="FCA311"/>
                </a:solidFill>
                <a:latin typeface="Courier New" pitchFamily="34" charset="0"/>
                <a:ea typeface="Courier New" pitchFamily="34" charset="-122"/>
                <a:cs typeface="Courier New" pitchFamily="34" charset="-120"/>
              </a:rPr>
              <a:t>8</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Number 5: </a:t>
            </a:r>
            <a:pPr indent="0" marL="0">
              <a:spcAft>
                <a:spcPts val="100"/>
              </a:spcAft>
              <a:buNone/>
            </a:pPr>
            <a:r>
              <a:rPr lang="en-US" sz="1300" b="1" dirty="0">
                <a:solidFill>
                  <a:srgbClr val="FCA311"/>
                </a:solidFill>
                <a:latin typeface="Courier New" pitchFamily="34" charset="0"/>
                <a:ea typeface="Courier New" pitchFamily="34" charset="-122"/>
                <a:cs typeface="Courier New" pitchFamily="34" charset="-120"/>
              </a:rPr>
              <a:t>0</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Smallest = -4</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Largest  = 23.5</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Range    = 27.5</a:t>
            </a:r>
            <a:endParaRPr lang="en-US" sz="1300" dirty="0"/>
          </a:p>
        </p:txBody>
      </p:sp>
      <p:sp>
        <p:nvSpPr>
          <p:cNvPr id="16" name="Shape 13"/>
          <p:cNvSpPr/>
          <p:nvPr/>
        </p:nvSpPr>
        <p:spPr>
          <a:xfrm>
            <a:off x="7452360" y="4297680"/>
            <a:ext cx="4206240" cy="1783080"/>
          </a:xfrm>
          <a:prstGeom prst="roundRect">
            <a:avLst>
              <a:gd name="adj" fmla="val 6154"/>
            </a:avLst>
          </a:prstGeom>
          <a:solidFill>
            <a:srgbClr val="EEF1F6"/>
          </a:solidFill>
          <a:ln w="12700">
            <a:solidFill>
              <a:srgbClr val="EEF1F6"/>
            </a:solidFill>
            <a:prstDash val="solid"/>
          </a:ln>
        </p:spPr>
      </p:sp>
      <p:sp>
        <p:nvSpPr>
          <p:cNvPr id="17" name="Shape 14"/>
          <p:cNvSpPr/>
          <p:nvPr/>
        </p:nvSpPr>
        <p:spPr>
          <a:xfrm>
            <a:off x="7680960" y="4526280"/>
            <a:ext cx="566928" cy="566928"/>
          </a:xfrm>
          <a:prstGeom prst="ellipse">
            <a:avLst/>
          </a:prstGeom>
          <a:solidFill>
            <a:srgbClr val="C8453B"/>
          </a:solidFill>
          <a:ln w="12700">
            <a:solidFill>
              <a:srgbClr val="C8453B"/>
            </a:solidFill>
            <a:prstDash val="solid"/>
          </a:ln>
        </p:spPr>
      </p:sp>
      <p:pic>
        <p:nvPicPr>
          <p:cNvPr id="18" name="Image 0" descr="preencoded.png">    </p:cNvPr>
          <p:cNvPicPr>
            <a:picLocks noChangeAspect="1"/>
          </p:cNvPicPr>
          <p:nvPr/>
        </p:nvPicPr>
        <p:blipFill>
          <a:blip r:embed="rId1"/>
          <a:stretch>
            <a:fillRect/>
          </a:stretch>
        </p:blipFill>
        <p:spPr>
          <a:xfrm>
            <a:off x="7828361" y="4673681"/>
            <a:ext cx="272125" cy="272125"/>
          </a:xfrm>
          <a:prstGeom prst="rect">
            <a:avLst/>
          </a:prstGeom>
        </p:spPr>
      </p:pic>
      <p:sp>
        <p:nvSpPr>
          <p:cNvPr id="19" name="Text 15"/>
          <p:cNvSpPr txBox="1"/>
          <p:nvPr/>
        </p:nvSpPr>
        <p:spPr>
          <a:xfrm>
            <a:off x="8366760" y="4526280"/>
            <a:ext cx="310896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Why not min = 0?</a:t>
            </a:r>
            <a:endParaRPr lang="en-US" sz="1700" dirty="0"/>
          </a:p>
        </p:txBody>
      </p:sp>
      <p:sp>
        <p:nvSpPr>
          <p:cNvPr id="20" name="Text 16"/>
          <p:cNvSpPr txBox="1"/>
          <p:nvPr/>
        </p:nvSpPr>
        <p:spPr>
          <a:xfrm>
            <a:off x="7680960" y="5212080"/>
            <a:ext cx="3749040" cy="731520"/>
          </a:xfrm>
          <a:prstGeom prst="rect">
            <a:avLst/>
          </a:prstGeom>
          <a:noFill/>
          <a:ln/>
        </p:spPr>
        <p:txBody>
          <a:bodyPr wrap="square" lIns="0" tIns="0" rIns="0" bIns="0" rtlCol="0" anchor="t"/>
          <a:lstStyle/>
          <a:p>
            <a:pPr indent="0" marL="0">
              <a:buNone/>
            </a:pPr>
            <a:r>
              <a:rPr lang="en-US" sz="1400" dirty="0">
                <a:solidFill>
                  <a:srgbClr val="333B4F"/>
                </a:solidFill>
                <a:latin typeface="Calibri" pitchFamily="34" charset="0"/>
                <a:ea typeface="Calibri" pitchFamily="34" charset="-122"/>
                <a:cs typeface="Calibri" pitchFamily="34" charset="-120"/>
              </a:rPr>
              <a:t>For 17, 23.5, 8 the "minimum" would stay 0, a value nobody entered.</a:t>
            </a:r>
            <a:endParaRPr lang="en-US" sz="1400" dirty="0"/>
          </a:p>
        </p:txBody>
      </p:sp>
      <p:sp>
        <p:nvSpPr>
          <p:cNvPr id="21" name="Shape 17"/>
          <p:cNvSpPr/>
          <p:nvPr/>
        </p:nvSpPr>
        <p:spPr>
          <a:xfrm>
            <a:off x="548640" y="5440680"/>
            <a:ext cx="6675120" cy="640080"/>
          </a:xfrm>
          <a:prstGeom prst="roundRect">
            <a:avLst>
              <a:gd name="adj" fmla="val 17143"/>
            </a:avLst>
          </a:prstGeom>
          <a:solidFill>
            <a:srgbClr val="FFF6E3"/>
          </a:solidFill>
          <a:ln w="12700">
            <a:solidFill>
              <a:srgbClr val="FFF6E3"/>
            </a:solidFill>
            <a:prstDash val="solid"/>
          </a:ln>
        </p:spPr>
      </p:sp>
      <p:pic>
        <p:nvPicPr>
          <p:cNvPr id="22" name="Image 1" descr="preencoded.png">    </p:cNvPr>
          <p:cNvPicPr>
            <a:picLocks noChangeAspect="1"/>
          </p:cNvPicPr>
          <p:nvPr/>
        </p:nvPicPr>
        <p:blipFill>
          <a:blip r:embed="rId2"/>
          <a:stretch>
            <a:fillRect/>
          </a:stretch>
        </p:blipFill>
        <p:spPr>
          <a:xfrm>
            <a:off x="822960" y="5577840"/>
            <a:ext cx="365760" cy="365760"/>
          </a:xfrm>
          <a:prstGeom prst="rect">
            <a:avLst/>
          </a:prstGeom>
        </p:spPr>
      </p:pic>
      <p:sp>
        <p:nvSpPr>
          <p:cNvPr id="23" name="Text 18"/>
          <p:cNvSpPr txBox="1"/>
          <p:nvPr/>
        </p:nvSpPr>
        <p:spPr>
          <a:xfrm>
            <a:off x="1463040" y="5513832"/>
            <a:ext cx="5486400" cy="493776"/>
          </a:xfrm>
          <a:prstGeom prst="rect">
            <a:avLst/>
          </a:prstGeom>
          <a:noFill/>
          <a:ln/>
        </p:spPr>
        <p:txBody>
          <a:bodyPr wrap="square" lIns="0" tIns="0" rIns="0" bIns="0" rtlCol="0" anchor="ctr"/>
          <a:lstStyle/>
          <a:p>
            <a:pPr indent="0" marL="0">
              <a:buNone/>
            </a:pPr>
            <a:r>
              <a:rPr lang="en-US" sz="1400" dirty="0">
                <a:solidFill>
                  <a:srgbClr val="333B4F"/>
                </a:solidFill>
                <a:latin typeface="Calibri" pitchFamily="34" charset="0"/>
                <a:ea typeface="Calibri" pitchFamily="34" charset="-122"/>
                <a:cs typeface="Calibri" pitchFamily="34" charset="-120"/>
              </a:rPr>
              <a:t>The first number is both the smallest and the largest so far.</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EXAMPLE 10 · FIBONACCI</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Fibonacci: Carrying Two Values to the Next Pass</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6</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21</a:t>
            </a:r>
            <a:endParaRPr lang="en-US" sz="1000" dirty="0"/>
          </a:p>
        </p:txBody>
      </p:sp>
      <p:sp>
        <p:nvSpPr>
          <p:cNvPr id="7" name="Shape 4"/>
          <p:cNvSpPr/>
          <p:nvPr/>
        </p:nvSpPr>
        <p:spPr>
          <a:xfrm>
            <a:off x="548640" y="1645920"/>
            <a:ext cx="6309360" cy="3246120"/>
          </a:xfrm>
          <a:prstGeom prst="roundRect">
            <a:avLst>
              <a:gd name="adj" fmla="val 2817"/>
            </a:avLst>
          </a:prstGeom>
          <a:solidFill>
            <a:srgbClr val="0F1729"/>
          </a:solidFill>
          <a:ln w="12700">
            <a:solidFill>
              <a:srgbClr val="0F1729"/>
            </a:solidFill>
            <a:prstDash val="solid"/>
          </a:ln>
        </p:spPr>
      </p:sp>
      <p:sp>
        <p:nvSpPr>
          <p:cNvPr id="8" name="Text 5"/>
          <p:cNvSpPr txBox="1"/>
          <p:nvPr/>
        </p:nvSpPr>
        <p:spPr>
          <a:xfrm>
            <a:off x="777240" y="1755648"/>
            <a:ext cx="585216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06_10_Fibonacci/Program.cs</a:t>
            </a:r>
            <a:endParaRPr lang="en-US" sz="1100" dirty="0"/>
          </a:p>
        </p:txBody>
      </p:sp>
      <p:sp>
        <p:nvSpPr>
          <p:cNvPr id="9" name="Text 6"/>
          <p:cNvSpPr txBox="1"/>
          <p:nvPr/>
        </p:nvSpPr>
        <p:spPr>
          <a:xfrm>
            <a:off x="777240" y="2057400"/>
            <a:ext cx="5852160" cy="2724912"/>
          </a:xfrm>
          <a:prstGeom prst="rect">
            <a:avLst/>
          </a:prstGeom>
          <a:noFill/>
          <a:ln/>
        </p:spPr>
        <p:txBody>
          <a:bodyPr wrap="square" lIns="0" tIns="0" rIns="0" bIns="0" rtlCol="0" anchor="t"/>
          <a:lstStyle/>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"How many terms? "</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n =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.Parse(</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.ReadLine());</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long</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previous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F8BA3"/>
                </a:solidFill>
                <a:latin typeface="Courier New" pitchFamily="34" charset="0"/>
                <a:ea typeface="Courier New" pitchFamily="34" charset="-122"/>
                <a:cs typeface="Courier New" pitchFamily="34" charset="-120"/>
              </a:rPr>
              <a:t>// F(0)</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long</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current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F8BA3"/>
                </a:solidFill>
                <a:latin typeface="Courier New" pitchFamily="34" charset="0"/>
                <a:ea typeface="Courier New" pitchFamily="34" charset="-122"/>
                <a:cs typeface="Courier New" pitchFamily="34" charset="-120"/>
              </a:rPr>
              <a:t>// F(1)</a:t>
            </a:r>
            <a:endParaRPr lang="en-US" sz="1200" dirty="0"/>
          </a:p>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for</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i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i &lt;= n; i++)</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$"{previous} "</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long</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next = previous + current;  </a:t>
            </a:r>
            <a:pPr indent="0" marL="0">
              <a:spcAft>
                <a:spcPts val="100"/>
              </a:spcAft>
              <a:buNone/>
            </a:pPr>
            <a:r>
              <a:rPr lang="en-US" sz="1200" dirty="0">
                <a:solidFill>
                  <a:srgbClr val="7F8BA3"/>
                </a:solidFill>
                <a:latin typeface="Courier New" pitchFamily="34" charset="0"/>
                <a:ea typeface="Courier New" pitchFamily="34" charset="-122"/>
                <a:cs typeface="Courier New" pitchFamily="34" charset="-120"/>
              </a:rPr>
              <a:t>// sum of the last two</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previous = current;              </a:t>
            </a:r>
            <a:pPr indent="0" marL="0">
              <a:spcAft>
                <a:spcPts val="100"/>
              </a:spcAft>
              <a:buNone/>
            </a:pPr>
            <a:r>
              <a:rPr lang="en-US" sz="1200" dirty="0">
                <a:solidFill>
                  <a:srgbClr val="7F8BA3"/>
                </a:solidFill>
                <a:latin typeface="Courier New" pitchFamily="34" charset="0"/>
                <a:ea typeface="Courier New" pitchFamily="34" charset="-122"/>
                <a:cs typeface="Courier New" pitchFamily="34" charset="-120"/>
              </a:rPr>
              <a:t>// shift one step forward</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current = next;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endParaRPr lang="en-US" sz="1200" dirty="0"/>
          </a:p>
        </p:txBody>
      </p:sp>
      <p:sp>
        <p:nvSpPr>
          <p:cNvPr id="10" name="Shape 7"/>
          <p:cNvSpPr/>
          <p:nvPr/>
        </p:nvSpPr>
        <p:spPr>
          <a:xfrm>
            <a:off x="548640" y="5029200"/>
            <a:ext cx="6309360" cy="1051560"/>
          </a:xfrm>
          <a:prstGeom prst="roundRect">
            <a:avLst>
              <a:gd name="adj" fmla="val 8696"/>
            </a:avLst>
          </a:prstGeom>
          <a:solidFill>
            <a:srgbClr val="0B0F19"/>
          </a:solidFill>
          <a:ln w="12700">
            <a:solidFill>
              <a:srgbClr val="2A3654"/>
            </a:solidFill>
            <a:prstDash val="solid"/>
          </a:ln>
        </p:spPr>
      </p:sp>
      <p:sp>
        <p:nvSpPr>
          <p:cNvPr id="11" name="Shape 8"/>
          <p:cNvSpPr/>
          <p:nvPr/>
        </p:nvSpPr>
        <p:spPr>
          <a:xfrm>
            <a:off x="731520" y="5157216"/>
            <a:ext cx="118872" cy="118872"/>
          </a:xfrm>
          <a:prstGeom prst="ellipse">
            <a:avLst/>
          </a:prstGeom>
          <a:solidFill>
            <a:srgbClr val="FF5F57"/>
          </a:solidFill>
          <a:ln w="12700">
            <a:solidFill>
              <a:srgbClr val="FF5F57"/>
            </a:solidFill>
            <a:prstDash val="solid"/>
          </a:ln>
        </p:spPr>
      </p:sp>
      <p:sp>
        <p:nvSpPr>
          <p:cNvPr id="12" name="Shape 9"/>
          <p:cNvSpPr/>
          <p:nvPr/>
        </p:nvSpPr>
        <p:spPr>
          <a:xfrm>
            <a:off x="960120" y="5157216"/>
            <a:ext cx="118872" cy="118872"/>
          </a:xfrm>
          <a:prstGeom prst="ellipse">
            <a:avLst/>
          </a:prstGeom>
          <a:solidFill>
            <a:srgbClr val="FEBC2E"/>
          </a:solidFill>
          <a:ln w="12700">
            <a:solidFill>
              <a:srgbClr val="FEBC2E"/>
            </a:solidFill>
            <a:prstDash val="solid"/>
          </a:ln>
        </p:spPr>
      </p:sp>
      <p:sp>
        <p:nvSpPr>
          <p:cNvPr id="13" name="Shape 10"/>
          <p:cNvSpPr/>
          <p:nvPr/>
        </p:nvSpPr>
        <p:spPr>
          <a:xfrm>
            <a:off x="1188720" y="5157216"/>
            <a:ext cx="118872" cy="118872"/>
          </a:xfrm>
          <a:prstGeom prst="ellipse">
            <a:avLst/>
          </a:prstGeom>
          <a:solidFill>
            <a:srgbClr val="28C840"/>
          </a:solidFill>
          <a:ln w="12700">
            <a:solidFill>
              <a:srgbClr val="28C840"/>
            </a:solidFill>
            <a:prstDash val="solid"/>
          </a:ln>
        </p:spPr>
      </p:sp>
      <p:sp>
        <p:nvSpPr>
          <p:cNvPr id="14" name="Text 11"/>
          <p:cNvSpPr txBox="1"/>
          <p:nvPr/>
        </p:nvSpPr>
        <p:spPr>
          <a:xfrm>
            <a:off x="1463040" y="5102352"/>
            <a:ext cx="521208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Console</a:t>
            </a:r>
            <a:endParaRPr lang="en-US" sz="1000" dirty="0"/>
          </a:p>
        </p:txBody>
      </p:sp>
      <p:sp>
        <p:nvSpPr>
          <p:cNvPr id="15" name="Text 12"/>
          <p:cNvSpPr txBox="1"/>
          <p:nvPr/>
        </p:nvSpPr>
        <p:spPr>
          <a:xfrm>
            <a:off x="777240" y="5413248"/>
            <a:ext cx="5852160" cy="548640"/>
          </a:xfrm>
          <a:prstGeom prst="rect">
            <a:avLst/>
          </a:prstGeom>
          <a:noFill/>
          <a:ln/>
        </p:spPr>
        <p:txBody>
          <a:bodyPr wrap="square" lIns="0" tIns="0" rIns="0" bIns="0" rtlCol="0" anchor="t"/>
          <a:lstStyle/>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How many terms? </a:t>
            </a:r>
            <a:pPr indent="0" marL="0">
              <a:spcAft>
                <a:spcPts val="100"/>
              </a:spcAft>
              <a:buNone/>
            </a:pPr>
            <a:r>
              <a:rPr lang="en-US" sz="1300" b="1" dirty="0">
                <a:solidFill>
                  <a:srgbClr val="FCA311"/>
                </a:solidFill>
                <a:latin typeface="Courier New" pitchFamily="34" charset="0"/>
                <a:ea typeface="Courier New" pitchFamily="34" charset="-122"/>
                <a:cs typeface="Courier New" pitchFamily="34" charset="-120"/>
              </a:rPr>
              <a:t>12</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0 1 1 2 3 5 8 13 21 34 55 89</a:t>
            </a:r>
            <a:endParaRPr lang="en-US" sz="13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7086600" y="1645920"/>
          <a:ext cx="4572000" cy="914400"/>
        </p:xfrm>
        <a:graphic>
          <a:graphicData uri="http://schemas.openxmlformats.org/drawingml/2006/table">
            <a:tbl>
              <a:tblPr/>
              <a:tblGrid>
                <a:gridCol w="777240"/>
                <a:gridCol w="914400"/>
                <a:gridCol w="777240"/>
                <a:gridCol w="1097280"/>
                <a:gridCol w="1005840"/>
              </a:tblGrid>
              <a:tr h="429768">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i</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printed</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next</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previous</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current</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429768">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start</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0</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29768">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0</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29768">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29768">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29768">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5</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5</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29768">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5</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8</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5</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8</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29768">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6</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5</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13</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8</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13</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bl>
          </a:graphicData>
        </a:graphic>
      </p:graphicFrame>
      <p:sp>
        <p:nvSpPr>
          <p:cNvPr id="17" name="Shape 13"/>
          <p:cNvSpPr/>
          <p:nvPr/>
        </p:nvSpPr>
        <p:spPr>
          <a:xfrm>
            <a:off x="7086600" y="5257800"/>
            <a:ext cx="4572000" cy="822960"/>
          </a:xfrm>
          <a:prstGeom prst="roundRect">
            <a:avLst>
              <a:gd name="adj" fmla="val 13333"/>
            </a:avLst>
          </a:prstGeom>
          <a:solidFill>
            <a:srgbClr val="FFF6E3"/>
          </a:solidFill>
          <a:ln w="12700">
            <a:solidFill>
              <a:srgbClr val="FFF6E3"/>
            </a:solidFill>
            <a:prstDash val="solid"/>
          </a:ln>
        </p:spPr>
      </p:sp>
      <p:pic>
        <p:nvPicPr>
          <p:cNvPr id="18" name="Image 0" descr="preencoded.png">    </p:cNvPr>
          <p:cNvPicPr>
            <a:picLocks noChangeAspect="1"/>
          </p:cNvPicPr>
          <p:nvPr/>
        </p:nvPicPr>
        <p:blipFill>
          <a:blip r:embed="rId1"/>
          <a:stretch>
            <a:fillRect/>
          </a:stretch>
        </p:blipFill>
        <p:spPr>
          <a:xfrm>
            <a:off x="7360920" y="5394960"/>
            <a:ext cx="548640" cy="548640"/>
          </a:xfrm>
          <a:prstGeom prst="rect">
            <a:avLst/>
          </a:prstGeom>
        </p:spPr>
      </p:pic>
      <p:sp>
        <p:nvSpPr>
          <p:cNvPr id="19" name="Text 14"/>
          <p:cNvSpPr txBox="1"/>
          <p:nvPr/>
        </p:nvSpPr>
        <p:spPr>
          <a:xfrm>
            <a:off x="8183880" y="5330952"/>
            <a:ext cx="3200400" cy="676656"/>
          </a:xfrm>
          <a:prstGeom prst="rect">
            <a:avLst/>
          </a:prstGeom>
          <a:noFill/>
          <a:ln/>
        </p:spPr>
        <p:txBody>
          <a:bodyPr wrap="square" lIns="0" tIns="0" rIns="0" bIns="0" rtlCol="0" anchor="ctr"/>
          <a:lstStyle/>
          <a:p>
            <a:pPr indent="0" marL="0">
              <a:buNone/>
            </a:pPr>
            <a:r>
              <a:rPr lang="en-US" sz="1500" dirty="0">
                <a:solidFill>
                  <a:srgbClr val="333B4F"/>
                </a:solidFill>
                <a:latin typeface="Calibri" pitchFamily="34" charset="0"/>
                <a:ea typeface="Calibri" pitchFamily="34" charset="-122"/>
                <a:cs typeface="Calibri" pitchFamily="34" charset="-120"/>
              </a:rPr>
              <a:t>n = 6 prints: </a:t>
            </a:r>
            <a:pPr indent="0" marL="0">
              <a:buNone/>
            </a:pPr>
            <a:r>
              <a:rPr lang="en-US" sz="1500" b="1" dirty="0">
                <a:solidFill>
                  <a:srgbClr val="14213D"/>
                </a:solidFill>
                <a:latin typeface="Courier New" pitchFamily="34" charset="0"/>
                <a:ea typeface="Courier New" pitchFamily="34" charset="-122"/>
                <a:cs typeface="Courier New" pitchFamily="34" charset="-120"/>
              </a:rPr>
              <a:t>0 1 1 2 3 5</a:t>
            </a:r>
            <a:endParaRPr lang="en-US" sz="15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548640" y="1463040"/>
            <a:ext cx="2743200" cy="1280160"/>
          </a:xfrm>
          <a:prstGeom prst="rect">
            <a:avLst/>
          </a:prstGeom>
          <a:noFill/>
          <a:ln/>
        </p:spPr>
        <p:txBody>
          <a:bodyPr wrap="square" lIns="0" tIns="0" rIns="0" bIns="0" rtlCol="0" anchor="ctr"/>
          <a:lstStyle/>
          <a:p>
            <a:pPr indent="0" marL="0">
              <a:buNone/>
            </a:pPr>
            <a:r>
              <a:rPr lang="en-US" sz="8800" b="1" dirty="0">
                <a:solidFill>
                  <a:srgbClr val="FCA311"/>
                </a:solidFill>
                <a:latin typeface="Courier New" pitchFamily="34" charset="0"/>
                <a:ea typeface="Courier New" pitchFamily="34" charset="-122"/>
                <a:cs typeface="Courier New" pitchFamily="34" charset="-120"/>
              </a:rPr>
              <a:t>&gt;_</a:t>
            </a:r>
            <a:endParaRPr lang="en-US" sz="8800" dirty="0"/>
          </a:p>
        </p:txBody>
      </p:sp>
      <p:sp>
        <p:nvSpPr>
          <p:cNvPr id="3" name="Text 1"/>
          <p:cNvSpPr txBox="1"/>
          <p:nvPr/>
        </p:nvSpPr>
        <p:spPr>
          <a:xfrm>
            <a:off x="548640" y="2926080"/>
            <a:ext cx="5486400" cy="365760"/>
          </a:xfrm>
          <a:prstGeom prst="rect">
            <a:avLst/>
          </a:prstGeom>
          <a:noFill/>
          <a:ln/>
        </p:spPr>
        <p:txBody>
          <a:bodyPr wrap="square" lIns="0" tIns="0" rIns="0" bIns="0" rtlCol="0" anchor="ctr"/>
          <a:lstStyle/>
          <a:p>
            <a:pPr indent="0" marL="0">
              <a:buNone/>
            </a:pPr>
            <a:r>
              <a:rPr lang="en-US" sz="1600" spc="400" kern="0" dirty="0">
                <a:solidFill>
                  <a:srgbClr val="8A94AB"/>
                </a:solidFill>
                <a:latin typeface="Courier New" pitchFamily="34" charset="0"/>
                <a:ea typeface="Courier New" pitchFamily="34" charset="-122"/>
                <a:cs typeface="Courier New" pitchFamily="34" charset="-120"/>
              </a:rPr>
              <a:t>PART 3</a:t>
            </a:r>
            <a:endParaRPr lang="en-US" sz="1600" dirty="0"/>
          </a:p>
        </p:txBody>
      </p:sp>
      <p:sp>
        <p:nvSpPr>
          <p:cNvPr id="4" name="Text 2"/>
          <p:cNvSpPr txBox="1"/>
          <p:nvPr/>
        </p:nvSpPr>
        <p:spPr>
          <a:xfrm>
            <a:off x="548640" y="3337560"/>
            <a:ext cx="10515600" cy="914400"/>
          </a:xfrm>
          <a:prstGeom prst="rect">
            <a:avLst/>
          </a:prstGeom>
          <a:noFill/>
          <a:ln/>
        </p:spPr>
        <p:txBody>
          <a:bodyPr wrap="square" lIns="0" tIns="0" rIns="0" bIns="0" rtlCol="0" anchor="ctr">
            <a:normAutofit/>
          </a:bodyPr>
          <a:lstStyle/>
          <a:p>
            <a:pPr indent="0" marL="0">
              <a:buNone/>
            </a:pPr>
            <a:r>
              <a:rPr lang="en-US" sz="4200" b="1" dirty="0">
                <a:solidFill>
                  <a:srgbClr val="FFFFFF"/>
                </a:solidFill>
                <a:latin typeface="Cambria" pitchFamily="34" charset="0"/>
                <a:ea typeface="Cambria" pitchFamily="34" charset="-122"/>
                <a:cs typeface="Cambria" pitchFamily="34" charset="-120"/>
              </a:rPr>
              <a:t>Nested Loops</a:t>
            </a:r>
            <a:endParaRPr lang="en-US" sz="4200" dirty="0"/>
          </a:p>
        </p:txBody>
      </p:sp>
      <p:sp>
        <p:nvSpPr>
          <p:cNvPr id="5" name="Text 3"/>
          <p:cNvSpPr txBox="1"/>
          <p:nvPr/>
        </p:nvSpPr>
        <p:spPr>
          <a:xfrm>
            <a:off x="548640" y="4343400"/>
            <a:ext cx="10515600" cy="548640"/>
          </a:xfrm>
          <a:prstGeom prst="rect">
            <a:avLst/>
          </a:prstGeom>
          <a:noFill/>
          <a:ln/>
        </p:spPr>
        <p:txBody>
          <a:bodyPr wrap="square" lIns="0" tIns="0" rIns="0" bIns="0" rtlCol="0" anchor="ctr"/>
          <a:lstStyle/>
          <a:p>
            <a:pPr indent="0" marL="0">
              <a:buNone/>
            </a:pPr>
            <a:r>
              <a:rPr lang="en-US" sz="1800" dirty="0">
                <a:solidFill>
                  <a:srgbClr val="C7CEDC"/>
                </a:solidFill>
                <a:latin typeface="Calibri" pitchFamily="34" charset="0"/>
                <a:ea typeface="Calibri" pitchFamily="34" charset="-122"/>
                <a:cs typeface="Calibri" pitchFamily="34" charset="-120"/>
              </a:rPr>
              <a:t>A loop inside a loop: grids, tables and star patterns</a:t>
            </a:r>
            <a:endParaRPr lang="en-US" sz="1800" dirty="0"/>
          </a:p>
        </p:txBody>
      </p:sp>
      <p:sp>
        <p:nvSpPr>
          <p:cNvPr id="6" name="Text 4"/>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8A94AB"/>
                </a:solidFill>
                <a:latin typeface="Calibri" pitchFamily="34" charset="0"/>
                <a:ea typeface="Calibri" pitchFamily="34" charset="-122"/>
                <a:cs typeface="Calibri" pitchFamily="34" charset="-120"/>
              </a:rPr>
              <a:t>MCMP113  ·  Week 6</a:t>
            </a:r>
            <a:endParaRPr lang="en-US" sz="1000" dirty="0"/>
          </a:p>
        </p:txBody>
      </p:sp>
      <p:sp>
        <p:nvSpPr>
          <p:cNvPr id="7" name="Text 5"/>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8A94AB"/>
                </a:solidFill>
                <a:latin typeface="Calibri" pitchFamily="34" charset="0"/>
                <a:ea typeface="Calibri" pitchFamily="34" charset="-122"/>
                <a:cs typeface="Calibri" pitchFamily="34" charset="-120"/>
              </a:rPr>
              <a:t>22</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NESTED LOOPS</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How Nested Loops Run</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6</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23</a:t>
            </a:r>
            <a:endParaRPr lang="en-US" sz="1000" dirty="0"/>
          </a:p>
        </p:txBody>
      </p:sp>
      <p:sp>
        <p:nvSpPr>
          <p:cNvPr id="7" name="Shape 4"/>
          <p:cNvSpPr/>
          <p:nvPr/>
        </p:nvSpPr>
        <p:spPr>
          <a:xfrm>
            <a:off x="548640" y="1645920"/>
            <a:ext cx="5760720" cy="2834640"/>
          </a:xfrm>
          <a:prstGeom prst="roundRect">
            <a:avLst>
              <a:gd name="adj" fmla="val 3226"/>
            </a:avLst>
          </a:prstGeom>
          <a:solidFill>
            <a:srgbClr val="0F1729"/>
          </a:solidFill>
          <a:ln w="12700">
            <a:solidFill>
              <a:srgbClr val="0F1729"/>
            </a:solidFill>
            <a:prstDash val="solid"/>
          </a:ln>
        </p:spPr>
      </p:sp>
      <p:sp>
        <p:nvSpPr>
          <p:cNvPr id="8" name="Text 5"/>
          <p:cNvSpPr txBox="1"/>
          <p:nvPr/>
        </p:nvSpPr>
        <p:spPr>
          <a:xfrm>
            <a:off x="777240" y="1755648"/>
            <a:ext cx="530352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Program.cs (excerpt)</a:t>
            </a:r>
            <a:endParaRPr lang="en-US" sz="1100" dirty="0"/>
          </a:p>
        </p:txBody>
      </p:sp>
      <p:sp>
        <p:nvSpPr>
          <p:cNvPr id="9" name="Text 6"/>
          <p:cNvSpPr txBox="1"/>
          <p:nvPr/>
        </p:nvSpPr>
        <p:spPr>
          <a:xfrm>
            <a:off x="777240" y="2057400"/>
            <a:ext cx="5303520" cy="2313432"/>
          </a:xfrm>
          <a:prstGeom prst="rect">
            <a:avLst/>
          </a:prstGeom>
          <a:noFill/>
          <a:ln/>
        </p:spPr>
        <p:txBody>
          <a:bodyPr wrap="square" lIns="0" tIns="0" rIns="0" bIns="0" rtlCol="0" anchor="t"/>
          <a:lstStyle/>
          <a:p>
            <a:pPr indent="0" marL="0">
              <a:spcAft>
                <a:spcPts val="100"/>
              </a:spcAft>
              <a:buNone/>
            </a:pPr>
            <a:r>
              <a:rPr lang="en-US" sz="1400" dirty="0">
                <a:solidFill>
                  <a:srgbClr val="7AB8FF"/>
                </a:solidFill>
                <a:latin typeface="Courier New" pitchFamily="34" charset="0"/>
                <a:ea typeface="Courier New" pitchFamily="34" charset="-122"/>
                <a:cs typeface="Courier New" pitchFamily="34" charset="-120"/>
              </a:rPr>
              <a:t>for</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4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i = </a:t>
            </a:r>
            <a:pPr indent="0" marL="0">
              <a:spcAft>
                <a:spcPts val="100"/>
              </a:spcAft>
              <a:buNone/>
            </a:pPr>
            <a:r>
              <a:rPr lang="en-US" sz="14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i &lt;= </a:t>
            </a:r>
            <a:pPr indent="0" marL="0">
              <a:spcAft>
                <a:spcPts val="100"/>
              </a:spcAft>
              <a:buNone/>
            </a:pPr>
            <a:r>
              <a:rPr lang="en-US" sz="1400" dirty="0">
                <a:solidFill>
                  <a:srgbClr val="B5CEA8"/>
                </a:solidFill>
                <a:latin typeface="Courier New" pitchFamily="34" charset="0"/>
                <a:ea typeface="Courier New" pitchFamily="34" charset="-122"/>
                <a:cs typeface="Courier New" pitchFamily="34" charset="-120"/>
              </a:rPr>
              <a:t>3</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i++)          </a:t>
            </a:r>
            <a:pPr indent="0" marL="0">
              <a:spcAft>
                <a:spcPts val="100"/>
              </a:spcAft>
              <a:buNone/>
            </a:pPr>
            <a:r>
              <a:rPr lang="en-US" sz="1400" dirty="0">
                <a:solidFill>
                  <a:srgbClr val="7F8BA3"/>
                </a:solidFill>
                <a:latin typeface="Courier New" pitchFamily="34" charset="0"/>
                <a:ea typeface="Courier New" pitchFamily="34" charset="-122"/>
                <a:cs typeface="Courier New" pitchFamily="34" charset="-120"/>
              </a:rPr>
              <a:t>// outer</a:t>
            </a:r>
            <a:endParaRPr lang="en-US" sz="1400" dirty="0"/>
          </a:p>
          <a:p>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a:t>
            </a:r>
            <a:endParaRPr lang="en-US" sz="1400" dirty="0"/>
          </a:p>
          <a:p>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400" dirty="0">
                <a:solidFill>
                  <a:srgbClr val="7AB8FF"/>
                </a:solidFill>
                <a:latin typeface="Courier New" pitchFamily="34" charset="0"/>
                <a:ea typeface="Courier New" pitchFamily="34" charset="-122"/>
                <a:cs typeface="Courier New" pitchFamily="34" charset="-120"/>
              </a:rPr>
              <a:t>for</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4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j = </a:t>
            </a:r>
            <a:pPr indent="0" marL="0">
              <a:spcAft>
                <a:spcPts val="100"/>
              </a:spcAft>
              <a:buNone/>
            </a:pPr>
            <a:r>
              <a:rPr lang="en-US" sz="14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j &lt;= </a:t>
            </a:r>
            <a:pPr indent="0" marL="0">
              <a:spcAft>
                <a:spcPts val="100"/>
              </a:spcAft>
              <a:buNone/>
            </a:pPr>
            <a:r>
              <a:rPr lang="en-US" sz="1400" dirty="0">
                <a:solidFill>
                  <a:srgbClr val="B5CEA8"/>
                </a:solidFill>
                <a:latin typeface="Courier New" pitchFamily="34" charset="0"/>
                <a:ea typeface="Courier New" pitchFamily="34" charset="-122"/>
                <a:cs typeface="Courier New" pitchFamily="34" charset="-120"/>
              </a:rPr>
              <a:t>2</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j++)      </a:t>
            </a:r>
            <a:pPr indent="0" marL="0">
              <a:spcAft>
                <a:spcPts val="100"/>
              </a:spcAft>
              <a:buNone/>
            </a:pPr>
            <a:r>
              <a:rPr lang="en-US" sz="1400" dirty="0">
                <a:solidFill>
                  <a:srgbClr val="7F8BA3"/>
                </a:solidFill>
                <a:latin typeface="Courier New" pitchFamily="34" charset="0"/>
                <a:ea typeface="Courier New" pitchFamily="34" charset="-122"/>
                <a:cs typeface="Courier New" pitchFamily="34" charset="-120"/>
              </a:rPr>
              <a:t>// inner</a:t>
            </a:r>
            <a:endParaRPr lang="en-US" sz="1400" dirty="0"/>
          </a:p>
          <a:p>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a:t>
            </a:r>
            <a:endParaRPr lang="en-US" sz="1400" dirty="0"/>
          </a:p>
          <a:p>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4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.Write(</a:t>
            </a:r>
            <a:pPr indent="0" marL="0">
              <a:spcAft>
                <a:spcPts val="100"/>
              </a:spcAft>
              <a:buNone/>
            </a:pPr>
            <a:r>
              <a:rPr lang="en-US" sz="1400" dirty="0">
                <a:solidFill>
                  <a:srgbClr val="CE9178"/>
                </a:solidFill>
                <a:latin typeface="Courier New" pitchFamily="34" charset="0"/>
                <a:ea typeface="Courier New" pitchFamily="34" charset="-122"/>
                <a:cs typeface="Courier New" pitchFamily="34" charset="-120"/>
              </a:rPr>
              <a:t>$"({i},{j}) "</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a:t>
            </a:r>
            <a:endParaRPr lang="en-US" sz="1400" dirty="0"/>
          </a:p>
          <a:p>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a:t>
            </a:r>
            <a:endParaRPr lang="en-US" sz="1400" dirty="0"/>
          </a:p>
          <a:p>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4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.WriteLine();</a:t>
            </a:r>
            <a:endParaRPr lang="en-US" sz="1400" dirty="0"/>
          </a:p>
          <a:p>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a:t>
            </a:r>
            <a:endParaRPr lang="en-US" sz="1400" dirty="0"/>
          </a:p>
        </p:txBody>
      </p:sp>
      <p:sp>
        <p:nvSpPr>
          <p:cNvPr id="10" name="Shape 7"/>
          <p:cNvSpPr/>
          <p:nvPr/>
        </p:nvSpPr>
        <p:spPr>
          <a:xfrm>
            <a:off x="548640" y="4663440"/>
            <a:ext cx="5760720" cy="1417320"/>
          </a:xfrm>
          <a:prstGeom prst="roundRect">
            <a:avLst>
              <a:gd name="adj" fmla="val 6452"/>
            </a:avLst>
          </a:prstGeom>
          <a:solidFill>
            <a:srgbClr val="0B0F19"/>
          </a:solidFill>
          <a:ln w="12700">
            <a:solidFill>
              <a:srgbClr val="2A3654"/>
            </a:solidFill>
            <a:prstDash val="solid"/>
          </a:ln>
        </p:spPr>
      </p:sp>
      <p:sp>
        <p:nvSpPr>
          <p:cNvPr id="11" name="Shape 8"/>
          <p:cNvSpPr/>
          <p:nvPr/>
        </p:nvSpPr>
        <p:spPr>
          <a:xfrm>
            <a:off x="731520" y="4791456"/>
            <a:ext cx="118872" cy="118872"/>
          </a:xfrm>
          <a:prstGeom prst="ellipse">
            <a:avLst/>
          </a:prstGeom>
          <a:solidFill>
            <a:srgbClr val="FF5F57"/>
          </a:solidFill>
          <a:ln w="12700">
            <a:solidFill>
              <a:srgbClr val="FF5F57"/>
            </a:solidFill>
            <a:prstDash val="solid"/>
          </a:ln>
        </p:spPr>
      </p:sp>
      <p:sp>
        <p:nvSpPr>
          <p:cNvPr id="12" name="Shape 9"/>
          <p:cNvSpPr/>
          <p:nvPr/>
        </p:nvSpPr>
        <p:spPr>
          <a:xfrm>
            <a:off x="960120" y="4791456"/>
            <a:ext cx="118872" cy="118872"/>
          </a:xfrm>
          <a:prstGeom prst="ellipse">
            <a:avLst/>
          </a:prstGeom>
          <a:solidFill>
            <a:srgbClr val="FEBC2E"/>
          </a:solidFill>
          <a:ln w="12700">
            <a:solidFill>
              <a:srgbClr val="FEBC2E"/>
            </a:solidFill>
            <a:prstDash val="solid"/>
          </a:ln>
        </p:spPr>
      </p:sp>
      <p:sp>
        <p:nvSpPr>
          <p:cNvPr id="13" name="Shape 10"/>
          <p:cNvSpPr/>
          <p:nvPr/>
        </p:nvSpPr>
        <p:spPr>
          <a:xfrm>
            <a:off x="1188720" y="4791456"/>
            <a:ext cx="118872" cy="118872"/>
          </a:xfrm>
          <a:prstGeom prst="ellipse">
            <a:avLst/>
          </a:prstGeom>
          <a:solidFill>
            <a:srgbClr val="28C840"/>
          </a:solidFill>
          <a:ln w="12700">
            <a:solidFill>
              <a:srgbClr val="28C840"/>
            </a:solidFill>
            <a:prstDash val="solid"/>
          </a:ln>
        </p:spPr>
      </p:sp>
      <p:sp>
        <p:nvSpPr>
          <p:cNvPr id="14" name="Text 11"/>
          <p:cNvSpPr txBox="1"/>
          <p:nvPr/>
        </p:nvSpPr>
        <p:spPr>
          <a:xfrm>
            <a:off x="1463040" y="4736592"/>
            <a:ext cx="466344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Console</a:t>
            </a:r>
            <a:endParaRPr lang="en-US" sz="1000" dirty="0"/>
          </a:p>
        </p:txBody>
      </p:sp>
      <p:sp>
        <p:nvSpPr>
          <p:cNvPr id="15" name="Text 12"/>
          <p:cNvSpPr txBox="1"/>
          <p:nvPr/>
        </p:nvSpPr>
        <p:spPr>
          <a:xfrm>
            <a:off x="777240" y="5047488"/>
            <a:ext cx="5303520" cy="914400"/>
          </a:xfrm>
          <a:prstGeom prst="rect">
            <a:avLst/>
          </a:prstGeom>
          <a:noFill/>
          <a:ln/>
        </p:spPr>
        <p:txBody>
          <a:bodyPr wrap="square" lIns="0" tIns="0" rIns="0" bIns="0" rtlCol="0" anchor="t"/>
          <a:lstStyle/>
          <a:p>
            <a:pPr indent="0" marL="0">
              <a:spcAft>
                <a:spcPts val="100"/>
              </a:spcAft>
              <a:buNone/>
            </a:pPr>
            <a:r>
              <a:rPr lang="en-US" sz="1500" dirty="0">
                <a:solidFill>
                  <a:srgbClr val="7EE2A8"/>
                </a:solidFill>
                <a:latin typeface="Courier New" pitchFamily="34" charset="0"/>
                <a:ea typeface="Courier New" pitchFamily="34" charset="-122"/>
                <a:cs typeface="Courier New" pitchFamily="34" charset="-120"/>
              </a:rPr>
              <a:t>(1,1) (1,2)</a:t>
            </a:r>
            <a:endParaRPr lang="en-US" sz="1500" dirty="0"/>
          </a:p>
          <a:p>
            <a:pPr indent="0" marL="0">
              <a:spcAft>
                <a:spcPts val="100"/>
              </a:spcAft>
              <a:buNone/>
            </a:pPr>
            <a:r>
              <a:rPr lang="en-US" sz="1500" dirty="0">
                <a:solidFill>
                  <a:srgbClr val="7EE2A8"/>
                </a:solidFill>
                <a:latin typeface="Courier New" pitchFamily="34" charset="0"/>
                <a:ea typeface="Courier New" pitchFamily="34" charset="-122"/>
                <a:cs typeface="Courier New" pitchFamily="34" charset="-120"/>
              </a:rPr>
              <a:t>(2,1) (2,2)</a:t>
            </a:r>
            <a:endParaRPr lang="en-US" sz="1500" dirty="0"/>
          </a:p>
          <a:p>
            <a:pPr indent="0" marL="0">
              <a:spcAft>
                <a:spcPts val="100"/>
              </a:spcAft>
              <a:buNone/>
            </a:pPr>
            <a:r>
              <a:rPr lang="en-US" sz="1500" dirty="0">
                <a:solidFill>
                  <a:srgbClr val="7EE2A8"/>
                </a:solidFill>
                <a:latin typeface="Courier New" pitchFamily="34" charset="0"/>
                <a:ea typeface="Courier New" pitchFamily="34" charset="-122"/>
                <a:cs typeface="Courier New" pitchFamily="34" charset="-120"/>
              </a:rPr>
              <a:t>(3,1) (3,2)</a:t>
            </a:r>
            <a:endParaRPr lang="en-US" sz="1500" dirty="0"/>
          </a:p>
        </p:txBody>
      </p:sp>
      <p:sp>
        <p:nvSpPr>
          <p:cNvPr id="16" name="Shape 13"/>
          <p:cNvSpPr/>
          <p:nvPr/>
        </p:nvSpPr>
        <p:spPr>
          <a:xfrm>
            <a:off x="6583680" y="1645920"/>
            <a:ext cx="5074920" cy="1371600"/>
          </a:xfrm>
          <a:prstGeom prst="roundRect">
            <a:avLst>
              <a:gd name="adj" fmla="val 8000"/>
            </a:avLst>
          </a:prstGeom>
          <a:solidFill>
            <a:srgbClr val="EEF1F6"/>
          </a:solidFill>
          <a:ln w="12700">
            <a:solidFill>
              <a:srgbClr val="EEF1F6"/>
            </a:solidFill>
            <a:prstDash val="solid"/>
          </a:ln>
        </p:spPr>
      </p:sp>
      <p:sp>
        <p:nvSpPr>
          <p:cNvPr id="17" name="Shape 14"/>
          <p:cNvSpPr/>
          <p:nvPr/>
        </p:nvSpPr>
        <p:spPr>
          <a:xfrm>
            <a:off x="6812280" y="1874520"/>
            <a:ext cx="566928" cy="566928"/>
          </a:xfrm>
          <a:prstGeom prst="ellipse">
            <a:avLst/>
          </a:prstGeom>
          <a:solidFill>
            <a:srgbClr val="14213D"/>
          </a:solidFill>
          <a:ln w="12700">
            <a:solidFill>
              <a:srgbClr val="14213D"/>
            </a:solidFill>
            <a:prstDash val="solid"/>
          </a:ln>
        </p:spPr>
      </p:sp>
      <p:pic>
        <p:nvPicPr>
          <p:cNvPr id="18" name="Image 0" descr="preencoded.png">    </p:cNvPr>
          <p:cNvPicPr>
            <a:picLocks noChangeAspect="1"/>
          </p:cNvPicPr>
          <p:nvPr/>
        </p:nvPicPr>
        <p:blipFill>
          <a:blip r:embed="rId1"/>
          <a:stretch>
            <a:fillRect/>
          </a:stretch>
        </p:blipFill>
        <p:spPr>
          <a:xfrm>
            <a:off x="6959681" y="2021921"/>
            <a:ext cx="272125" cy="272125"/>
          </a:xfrm>
          <a:prstGeom prst="rect">
            <a:avLst/>
          </a:prstGeom>
        </p:spPr>
      </p:pic>
      <p:sp>
        <p:nvSpPr>
          <p:cNvPr id="19" name="Text 15"/>
          <p:cNvSpPr txBox="1"/>
          <p:nvPr/>
        </p:nvSpPr>
        <p:spPr>
          <a:xfrm>
            <a:off x="7498080" y="1874520"/>
            <a:ext cx="397764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Like a clock</a:t>
            </a:r>
            <a:endParaRPr lang="en-US" sz="1700" dirty="0"/>
          </a:p>
        </p:txBody>
      </p:sp>
      <p:sp>
        <p:nvSpPr>
          <p:cNvPr id="20" name="Text 16"/>
          <p:cNvSpPr txBox="1"/>
          <p:nvPr/>
        </p:nvSpPr>
        <p:spPr>
          <a:xfrm>
            <a:off x="6812280" y="2560320"/>
            <a:ext cx="4617720" cy="320040"/>
          </a:xfrm>
          <a:prstGeom prst="rect">
            <a:avLst/>
          </a:prstGeom>
          <a:noFill/>
          <a:ln/>
        </p:spPr>
        <p:txBody>
          <a:bodyPr wrap="square" lIns="0" tIns="0" rIns="0" bIns="0" rtlCol="0" anchor="t"/>
          <a:lstStyle/>
          <a:p>
            <a:pPr indent="0" marL="0">
              <a:buNone/>
            </a:pPr>
            <a:r>
              <a:rPr lang="en-US" sz="1400" dirty="0">
                <a:solidFill>
                  <a:srgbClr val="333B4F"/>
                </a:solidFill>
                <a:latin typeface="Calibri" pitchFamily="34" charset="0"/>
                <a:ea typeface="Calibri" pitchFamily="34" charset="-122"/>
                <a:cs typeface="Calibri" pitchFamily="34" charset="-120"/>
              </a:rPr>
              <a:t>The inner loop makes a full turn for every single step of the outer loop.</a:t>
            </a:r>
            <a:endParaRPr lang="en-US" sz="1400" dirty="0"/>
          </a:p>
        </p:txBody>
      </p:sp>
      <p:sp>
        <p:nvSpPr>
          <p:cNvPr id="21" name="Shape 17"/>
          <p:cNvSpPr/>
          <p:nvPr/>
        </p:nvSpPr>
        <p:spPr>
          <a:xfrm>
            <a:off x="6583680" y="3172968"/>
            <a:ext cx="5074920" cy="1371600"/>
          </a:xfrm>
          <a:prstGeom prst="roundRect">
            <a:avLst>
              <a:gd name="adj" fmla="val 8000"/>
            </a:avLst>
          </a:prstGeom>
          <a:solidFill>
            <a:srgbClr val="EEF1F6"/>
          </a:solidFill>
          <a:ln w="12700">
            <a:solidFill>
              <a:srgbClr val="EEF1F6"/>
            </a:solidFill>
            <a:prstDash val="solid"/>
          </a:ln>
        </p:spPr>
      </p:sp>
      <p:sp>
        <p:nvSpPr>
          <p:cNvPr id="22" name="Shape 18"/>
          <p:cNvSpPr/>
          <p:nvPr/>
        </p:nvSpPr>
        <p:spPr>
          <a:xfrm>
            <a:off x="6812280" y="3401568"/>
            <a:ext cx="566928" cy="566928"/>
          </a:xfrm>
          <a:prstGeom prst="ellipse">
            <a:avLst/>
          </a:prstGeom>
          <a:solidFill>
            <a:srgbClr val="14213D"/>
          </a:solidFill>
          <a:ln w="12700">
            <a:solidFill>
              <a:srgbClr val="14213D"/>
            </a:solidFill>
            <a:prstDash val="solid"/>
          </a:ln>
        </p:spPr>
      </p:sp>
      <p:pic>
        <p:nvPicPr>
          <p:cNvPr id="23" name="Image 1" descr="preencoded.png">    </p:cNvPr>
          <p:cNvPicPr>
            <a:picLocks noChangeAspect="1"/>
          </p:cNvPicPr>
          <p:nvPr/>
        </p:nvPicPr>
        <p:blipFill>
          <a:blip r:embed="rId2"/>
          <a:stretch>
            <a:fillRect/>
          </a:stretch>
        </p:blipFill>
        <p:spPr>
          <a:xfrm>
            <a:off x="6959681" y="3548969"/>
            <a:ext cx="272125" cy="272125"/>
          </a:xfrm>
          <a:prstGeom prst="rect">
            <a:avLst/>
          </a:prstGeom>
        </p:spPr>
      </p:pic>
      <p:sp>
        <p:nvSpPr>
          <p:cNvPr id="24" name="Text 19"/>
          <p:cNvSpPr txBox="1"/>
          <p:nvPr/>
        </p:nvSpPr>
        <p:spPr>
          <a:xfrm>
            <a:off x="7498080" y="3401568"/>
            <a:ext cx="397764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Inner loop restarts</a:t>
            </a:r>
            <a:endParaRPr lang="en-US" sz="1700" dirty="0"/>
          </a:p>
        </p:txBody>
      </p:sp>
      <p:sp>
        <p:nvSpPr>
          <p:cNvPr id="25" name="Text 20"/>
          <p:cNvSpPr txBox="1"/>
          <p:nvPr/>
        </p:nvSpPr>
        <p:spPr>
          <a:xfrm>
            <a:off x="6812280" y="4087368"/>
            <a:ext cx="4617720" cy="320040"/>
          </a:xfrm>
          <a:prstGeom prst="rect">
            <a:avLst/>
          </a:prstGeom>
          <a:noFill/>
          <a:ln/>
        </p:spPr>
        <p:txBody>
          <a:bodyPr wrap="square" lIns="0" tIns="0" rIns="0" bIns="0" rtlCol="0" anchor="t"/>
          <a:lstStyle/>
          <a:p>
            <a:pPr indent="0" marL="0">
              <a:buNone/>
            </a:pPr>
            <a:r>
              <a:rPr lang="en-US" sz="1400" dirty="0">
                <a:solidFill>
                  <a:srgbClr val="333B4F"/>
                </a:solidFill>
                <a:latin typeface="Calibri" pitchFamily="34" charset="0"/>
                <a:ea typeface="Calibri" pitchFamily="34" charset="-122"/>
                <a:cs typeface="Calibri" pitchFamily="34" charset="-120"/>
              </a:rPr>
              <a:t>Its initialization j = 1 runs again at every outer pass.</a:t>
            </a:r>
            <a:endParaRPr lang="en-US" sz="1400" dirty="0"/>
          </a:p>
        </p:txBody>
      </p:sp>
      <p:sp>
        <p:nvSpPr>
          <p:cNvPr id="26" name="Shape 21"/>
          <p:cNvSpPr/>
          <p:nvPr/>
        </p:nvSpPr>
        <p:spPr>
          <a:xfrm>
            <a:off x="6583680" y="4709160"/>
            <a:ext cx="5074920" cy="1371600"/>
          </a:xfrm>
          <a:prstGeom prst="roundRect">
            <a:avLst>
              <a:gd name="adj" fmla="val 8000"/>
            </a:avLst>
          </a:prstGeom>
          <a:solidFill>
            <a:srgbClr val="EEF1F6"/>
          </a:solidFill>
          <a:ln w="12700">
            <a:solidFill>
              <a:srgbClr val="EEF1F6"/>
            </a:solidFill>
            <a:prstDash val="solid"/>
          </a:ln>
        </p:spPr>
      </p:sp>
      <p:sp>
        <p:nvSpPr>
          <p:cNvPr id="27" name="Shape 22"/>
          <p:cNvSpPr/>
          <p:nvPr/>
        </p:nvSpPr>
        <p:spPr>
          <a:xfrm>
            <a:off x="6812280" y="4937760"/>
            <a:ext cx="566928" cy="566928"/>
          </a:xfrm>
          <a:prstGeom prst="ellipse">
            <a:avLst/>
          </a:prstGeom>
          <a:solidFill>
            <a:srgbClr val="2E9E6A"/>
          </a:solidFill>
          <a:ln w="12700">
            <a:solidFill>
              <a:srgbClr val="2E9E6A"/>
            </a:solidFill>
            <a:prstDash val="solid"/>
          </a:ln>
        </p:spPr>
      </p:sp>
      <p:pic>
        <p:nvPicPr>
          <p:cNvPr id="28" name="Image 2" descr="preencoded.png">    </p:cNvPr>
          <p:cNvPicPr>
            <a:picLocks noChangeAspect="1"/>
          </p:cNvPicPr>
          <p:nvPr/>
        </p:nvPicPr>
        <p:blipFill>
          <a:blip r:embed="rId3"/>
          <a:stretch>
            <a:fillRect/>
          </a:stretch>
        </p:blipFill>
        <p:spPr>
          <a:xfrm>
            <a:off x="6959681" y="5085161"/>
            <a:ext cx="272125" cy="272125"/>
          </a:xfrm>
          <a:prstGeom prst="rect">
            <a:avLst/>
          </a:prstGeom>
        </p:spPr>
      </p:pic>
      <p:sp>
        <p:nvSpPr>
          <p:cNvPr id="29" name="Text 23"/>
          <p:cNvSpPr txBox="1"/>
          <p:nvPr/>
        </p:nvSpPr>
        <p:spPr>
          <a:xfrm>
            <a:off x="7498080" y="4937760"/>
            <a:ext cx="397764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3 × 2 = 6 passes</a:t>
            </a:r>
            <a:endParaRPr lang="en-US" sz="1700" dirty="0"/>
          </a:p>
        </p:txBody>
      </p:sp>
      <p:sp>
        <p:nvSpPr>
          <p:cNvPr id="30" name="Text 24"/>
          <p:cNvSpPr txBox="1"/>
          <p:nvPr/>
        </p:nvSpPr>
        <p:spPr>
          <a:xfrm>
            <a:off x="6812280" y="5623560"/>
            <a:ext cx="4617720" cy="320040"/>
          </a:xfrm>
          <a:prstGeom prst="rect">
            <a:avLst/>
          </a:prstGeom>
          <a:noFill/>
          <a:ln/>
        </p:spPr>
        <p:txBody>
          <a:bodyPr wrap="square" lIns="0" tIns="0" rIns="0" bIns="0" rtlCol="0" anchor="t"/>
          <a:lstStyle/>
          <a:p>
            <a:pPr indent="0" marL="0">
              <a:buNone/>
            </a:pPr>
            <a:r>
              <a:rPr lang="en-US" sz="1400" dirty="0">
                <a:solidFill>
                  <a:srgbClr val="333B4F"/>
                </a:solidFill>
                <a:latin typeface="Calibri" pitchFamily="34" charset="0"/>
                <a:ea typeface="Calibri" pitchFamily="34" charset="-122"/>
                <a:cs typeface="Calibri" pitchFamily="34" charset="-120"/>
              </a:rPr>
              <a:t>Outer passes × inner passes = total runs of the inner body.</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EXAMPLE 5 · MULTIPLICATIONGRID</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Multiplication Grid: Rows × Columns</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6</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24</a:t>
            </a:r>
            <a:endParaRPr lang="en-US" sz="1000" dirty="0"/>
          </a:p>
        </p:txBody>
      </p:sp>
      <p:sp>
        <p:nvSpPr>
          <p:cNvPr id="7" name="Shape 4"/>
          <p:cNvSpPr/>
          <p:nvPr/>
        </p:nvSpPr>
        <p:spPr>
          <a:xfrm>
            <a:off x="548640" y="1645920"/>
            <a:ext cx="6400800" cy="2926080"/>
          </a:xfrm>
          <a:prstGeom prst="roundRect">
            <a:avLst>
              <a:gd name="adj" fmla="val 3125"/>
            </a:avLst>
          </a:prstGeom>
          <a:solidFill>
            <a:srgbClr val="0F1729"/>
          </a:solidFill>
          <a:ln w="12700">
            <a:solidFill>
              <a:srgbClr val="0F1729"/>
            </a:solidFill>
            <a:prstDash val="solid"/>
          </a:ln>
        </p:spPr>
      </p:sp>
      <p:sp>
        <p:nvSpPr>
          <p:cNvPr id="8" name="Text 5"/>
          <p:cNvSpPr txBox="1"/>
          <p:nvPr/>
        </p:nvSpPr>
        <p:spPr>
          <a:xfrm>
            <a:off x="777240" y="1755648"/>
            <a:ext cx="594360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06_05_MultiplicationGrid/Program.cs</a:t>
            </a:r>
            <a:endParaRPr lang="en-US" sz="1100" dirty="0"/>
          </a:p>
        </p:txBody>
      </p:sp>
      <p:sp>
        <p:nvSpPr>
          <p:cNvPr id="9" name="Text 6"/>
          <p:cNvSpPr txBox="1"/>
          <p:nvPr/>
        </p:nvSpPr>
        <p:spPr>
          <a:xfrm>
            <a:off x="777240" y="2057400"/>
            <a:ext cx="5943600" cy="2404872"/>
          </a:xfrm>
          <a:prstGeom prst="rect">
            <a:avLst/>
          </a:prstGeom>
          <a:noFill/>
          <a:ln/>
        </p:spPr>
        <p:txBody>
          <a:bodyPr wrap="square" lIns="0" tIns="0" rIns="0" bIns="0" rtlCol="0" anchor="t"/>
          <a:lstStyle/>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"Grid size: "</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size =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.Parse(</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.ReadLine());</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for</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row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row &lt;= size; row++)      </a:t>
            </a:r>
            <a:pPr indent="0" marL="0">
              <a:spcAft>
                <a:spcPts val="100"/>
              </a:spcAft>
              <a:buNone/>
            </a:pPr>
            <a:r>
              <a:rPr lang="en-US" sz="1200" dirty="0">
                <a:solidFill>
                  <a:srgbClr val="7F8BA3"/>
                </a:solidFill>
                <a:latin typeface="Courier New" pitchFamily="34" charset="0"/>
                <a:ea typeface="Courier New" pitchFamily="34" charset="-122"/>
                <a:cs typeface="Courier New" pitchFamily="34" charset="-120"/>
              </a:rPr>
              <a:t>// outer: rows</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for</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col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col &lt;= size; col++)  </a:t>
            </a:r>
            <a:pPr indent="0" marL="0">
              <a:spcAft>
                <a:spcPts val="100"/>
              </a:spcAft>
              <a:buNone/>
            </a:pPr>
            <a:r>
              <a:rPr lang="en-US" sz="1200" dirty="0">
                <a:solidFill>
                  <a:srgbClr val="7F8BA3"/>
                </a:solidFill>
                <a:latin typeface="Courier New" pitchFamily="34" charset="0"/>
                <a:ea typeface="Courier New" pitchFamily="34" charset="-122"/>
                <a:cs typeface="Courier New" pitchFamily="34" charset="-120"/>
              </a:rPr>
              <a:t>// inner: columns</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$"{row * col,4}"</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F8BA3"/>
                </a:solidFill>
                <a:latin typeface="Courier New" pitchFamily="34" charset="0"/>
                <a:ea typeface="Courier New" pitchFamily="34" charset="-122"/>
                <a:cs typeface="Courier New" pitchFamily="34" charset="-120"/>
              </a:rPr>
              <a:t>// 4 chars wide</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                   </a:t>
            </a:r>
            <a:pPr indent="0" marL="0">
              <a:spcAft>
                <a:spcPts val="100"/>
              </a:spcAft>
              <a:buNone/>
            </a:pPr>
            <a:r>
              <a:rPr lang="en-US" sz="1200" dirty="0">
                <a:solidFill>
                  <a:srgbClr val="7F8BA3"/>
                </a:solidFill>
                <a:latin typeface="Courier New" pitchFamily="34" charset="0"/>
                <a:ea typeface="Courier New" pitchFamily="34" charset="-122"/>
                <a:cs typeface="Courier New" pitchFamily="34" charset="-120"/>
              </a:rPr>
              <a:t>// end of row</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10" name="Shape 7"/>
          <p:cNvSpPr/>
          <p:nvPr/>
        </p:nvSpPr>
        <p:spPr>
          <a:xfrm>
            <a:off x="7132320" y="1645920"/>
            <a:ext cx="4526280" cy="2926080"/>
          </a:xfrm>
          <a:prstGeom prst="roundRect">
            <a:avLst>
              <a:gd name="adj" fmla="val 3125"/>
            </a:avLst>
          </a:prstGeom>
          <a:solidFill>
            <a:srgbClr val="0B0F19"/>
          </a:solidFill>
          <a:ln w="12700">
            <a:solidFill>
              <a:srgbClr val="2A3654"/>
            </a:solidFill>
            <a:prstDash val="solid"/>
          </a:ln>
        </p:spPr>
      </p:sp>
      <p:sp>
        <p:nvSpPr>
          <p:cNvPr id="11" name="Shape 8"/>
          <p:cNvSpPr/>
          <p:nvPr/>
        </p:nvSpPr>
        <p:spPr>
          <a:xfrm>
            <a:off x="7315200" y="1773936"/>
            <a:ext cx="118872" cy="118872"/>
          </a:xfrm>
          <a:prstGeom prst="ellipse">
            <a:avLst/>
          </a:prstGeom>
          <a:solidFill>
            <a:srgbClr val="FF5F57"/>
          </a:solidFill>
          <a:ln w="12700">
            <a:solidFill>
              <a:srgbClr val="FF5F57"/>
            </a:solidFill>
            <a:prstDash val="solid"/>
          </a:ln>
        </p:spPr>
      </p:sp>
      <p:sp>
        <p:nvSpPr>
          <p:cNvPr id="12" name="Shape 9"/>
          <p:cNvSpPr/>
          <p:nvPr/>
        </p:nvSpPr>
        <p:spPr>
          <a:xfrm>
            <a:off x="7543800" y="1773936"/>
            <a:ext cx="118872" cy="118872"/>
          </a:xfrm>
          <a:prstGeom prst="ellipse">
            <a:avLst/>
          </a:prstGeom>
          <a:solidFill>
            <a:srgbClr val="FEBC2E"/>
          </a:solidFill>
          <a:ln w="12700">
            <a:solidFill>
              <a:srgbClr val="FEBC2E"/>
            </a:solidFill>
            <a:prstDash val="solid"/>
          </a:ln>
        </p:spPr>
      </p:sp>
      <p:sp>
        <p:nvSpPr>
          <p:cNvPr id="13" name="Shape 10"/>
          <p:cNvSpPr/>
          <p:nvPr/>
        </p:nvSpPr>
        <p:spPr>
          <a:xfrm>
            <a:off x="7772400" y="1773936"/>
            <a:ext cx="118872" cy="118872"/>
          </a:xfrm>
          <a:prstGeom prst="ellipse">
            <a:avLst/>
          </a:prstGeom>
          <a:solidFill>
            <a:srgbClr val="28C840"/>
          </a:solidFill>
          <a:ln w="12700">
            <a:solidFill>
              <a:srgbClr val="28C840"/>
            </a:solidFill>
            <a:prstDash val="solid"/>
          </a:ln>
        </p:spPr>
      </p:sp>
      <p:sp>
        <p:nvSpPr>
          <p:cNvPr id="14" name="Text 11"/>
          <p:cNvSpPr txBox="1"/>
          <p:nvPr/>
        </p:nvSpPr>
        <p:spPr>
          <a:xfrm>
            <a:off x="8046720" y="1719072"/>
            <a:ext cx="342900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Console</a:t>
            </a:r>
            <a:endParaRPr lang="en-US" sz="1000" dirty="0"/>
          </a:p>
        </p:txBody>
      </p:sp>
      <p:sp>
        <p:nvSpPr>
          <p:cNvPr id="15" name="Text 12"/>
          <p:cNvSpPr txBox="1"/>
          <p:nvPr/>
        </p:nvSpPr>
        <p:spPr>
          <a:xfrm>
            <a:off x="7360920" y="2029968"/>
            <a:ext cx="4069080" cy="2423160"/>
          </a:xfrm>
          <a:prstGeom prst="rect">
            <a:avLst/>
          </a:prstGeom>
          <a:noFill/>
          <a:ln/>
        </p:spPr>
        <p:txBody>
          <a:bodyPr wrap="square" lIns="0" tIns="0" rIns="0" bIns="0" rtlCol="0" anchor="t"/>
          <a:lstStyle/>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Grid size: </a:t>
            </a:r>
            <a:pPr indent="0" marL="0">
              <a:spcAft>
                <a:spcPts val="100"/>
              </a:spcAft>
              <a:buNone/>
            </a:pPr>
            <a:r>
              <a:rPr lang="en-US" sz="1200" b="1" dirty="0">
                <a:solidFill>
                  <a:srgbClr val="FCA311"/>
                </a:solidFill>
                <a:latin typeface="Courier New" pitchFamily="34" charset="0"/>
                <a:ea typeface="Courier New" pitchFamily="34" charset="-122"/>
                <a:cs typeface="Courier New" pitchFamily="34" charset="-120"/>
              </a:rPr>
              <a:t>10</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   1   2   3   4   5   6   7   8   9  10</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   2   4   6   8  10  12  14  16  18  20</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   3   6   9  12  15  18  21  24  27  30</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   4   8  12  16  20  24  28  32  36  40</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   5  10  15  20  25  30  35  40  45  50</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   6  12  18  24  30  36  42  48  54  60</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   7  14  21  28  35  42  49  56  63  70</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   8  16  24  32  40  48  56  64  72  80</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   9  18  27  36  45  54  63  72  81  90</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  10  20  30  40  50  60  70  80  90 100</a:t>
            </a:r>
            <a:endParaRPr lang="en-US" sz="1200" dirty="0"/>
          </a:p>
        </p:txBody>
      </p:sp>
      <p:sp>
        <p:nvSpPr>
          <p:cNvPr id="16" name="Shape 13"/>
          <p:cNvSpPr/>
          <p:nvPr/>
        </p:nvSpPr>
        <p:spPr>
          <a:xfrm>
            <a:off x="548640" y="4709160"/>
            <a:ext cx="6400800" cy="1371600"/>
          </a:xfrm>
          <a:prstGeom prst="roundRect">
            <a:avLst>
              <a:gd name="adj" fmla="val 8000"/>
            </a:avLst>
          </a:prstGeom>
          <a:solidFill>
            <a:srgbClr val="EEF1F6"/>
          </a:solidFill>
          <a:ln w="12700">
            <a:solidFill>
              <a:srgbClr val="EEF1F6"/>
            </a:solidFill>
            <a:prstDash val="solid"/>
          </a:ln>
        </p:spPr>
      </p:sp>
      <p:sp>
        <p:nvSpPr>
          <p:cNvPr id="17" name="Shape 14"/>
          <p:cNvSpPr/>
          <p:nvPr/>
        </p:nvSpPr>
        <p:spPr>
          <a:xfrm>
            <a:off x="777240" y="4937760"/>
            <a:ext cx="566928" cy="566928"/>
          </a:xfrm>
          <a:prstGeom prst="ellipse">
            <a:avLst/>
          </a:prstGeom>
          <a:solidFill>
            <a:srgbClr val="14213D"/>
          </a:solidFill>
          <a:ln w="12700">
            <a:solidFill>
              <a:srgbClr val="14213D"/>
            </a:solidFill>
            <a:prstDash val="solid"/>
          </a:ln>
        </p:spPr>
      </p:sp>
      <p:pic>
        <p:nvPicPr>
          <p:cNvPr id="18" name="Image 0" descr="preencoded.png">    </p:cNvPr>
          <p:cNvPicPr>
            <a:picLocks noChangeAspect="1"/>
          </p:cNvPicPr>
          <p:nvPr/>
        </p:nvPicPr>
        <p:blipFill>
          <a:blip r:embed="rId1"/>
          <a:stretch>
            <a:fillRect/>
          </a:stretch>
        </p:blipFill>
        <p:spPr>
          <a:xfrm>
            <a:off x="924641" y="5085161"/>
            <a:ext cx="272125" cy="272125"/>
          </a:xfrm>
          <a:prstGeom prst="rect">
            <a:avLst/>
          </a:prstGeom>
        </p:spPr>
      </p:pic>
      <p:sp>
        <p:nvSpPr>
          <p:cNvPr id="19" name="Text 15"/>
          <p:cNvSpPr txBox="1"/>
          <p:nvPr/>
        </p:nvSpPr>
        <p:spPr>
          <a:xfrm>
            <a:off x="1463040" y="4937760"/>
            <a:ext cx="530352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Where does WriteLine() go?</a:t>
            </a:r>
            <a:endParaRPr lang="en-US" sz="1700" dirty="0"/>
          </a:p>
        </p:txBody>
      </p:sp>
      <p:sp>
        <p:nvSpPr>
          <p:cNvPr id="20" name="Text 16"/>
          <p:cNvSpPr txBox="1"/>
          <p:nvPr/>
        </p:nvSpPr>
        <p:spPr>
          <a:xfrm>
            <a:off x="777240" y="5623560"/>
            <a:ext cx="5943600" cy="320040"/>
          </a:xfrm>
          <a:prstGeom prst="rect">
            <a:avLst/>
          </a:prstGeom>
          <a:noFill/>
          <a:ln/>
        </p:spPr>
        <p:txBody>
          <a:bodyPr wrap="square" lIns="0" tIns="0" rIns="0" bIns="0" rtlCol="0" anchor="t"/>
          <a:lstStyle/>
          <a:p>
            <a:pPr indent="0" marL="0">
              <a:buNone/>
            </a:pPr>
            <a:r>
              <a:rPr lang="en-US" sz="1400" dirty="0">
                <a:solidFill>
                  <a:srgbClr val="333B4F"/>
                </a:solidFill>
                <a:latin typeface="Calibri" pitchFamily="34" charset="0"/>
                <a:ea typeface="Calibri" pitchFamily="34" charset="-122"/>
                <a:cs typeface="Calibri" pitchFamily="34" charset="-120"/>
              </a:rPr>
              <a:t>After the inner loop, inside the outer loop: one row per line.</a:t>
            </a:r>
            <a:endParaRPr lang="en-US" sz="1400" dirty="0"/>
          </a:p>
        </p:txBody>
      </p:sp>
      <p:sp>
        <p:nvSpPr>
          <p:cNvPr id="21" name="Shape 17"/>
          <p:cNvSpPr/>
          <p:nvPr/>
        </p:nvSpPr>
        <p:spPr>
          <a:xfrm>
            <a:off x="7132320" y="4709160"/>
            <a:ext cx="4526280" cy="1371600"/>
          </a:xfrm>
          <a:prstGeom prst="roundRect">
            <a:avLst>
              <a:gd name="adj" fmla="val 8000"/>
            </a:avLst>
          </a:prstGeom>
          <a:solidFill>
            <a:srgbClr val="EEF1F6"/>
          </a:solidFill>
          <a:ln w="12700">
            <a:solidFill>
              <a:srgbClr val="EEF1F6"/>
            </a:solidFill>
            <a:prstDash val="solid"/>
          </a:ln>
        </p:spPr>
      </p:sp>
      <p:sp>
        <p:nvSpPr>
          <p:cNvPr id="22" name="Shape 18"/>
          <p:cNvSpPr/>
          <p:nvPr/>
        </p:nvSpPr>
        <p:spPr>
          <a:xfrm>
            <a:off x="7360920" y="4937760"/>
            <a:ext cx="566928" cy="566928"/>
          </a:xfrm>
          <a:prstGeom prst="ellipse">
            <a:avLst/>
          </a:prstGeom>
          <a:solidFill>
            <a:srgbClr val="2E9E6A"/>
          </a:solidFill>
          <a:ln w="12700">
            <a:solidFill>
              <a:srgbClr val="2E9E6A"/>
            </a:solidFill>
            <a:prstDash val="solid"/>
          </a:ln>
        </p:spPr>
      </p:sp>
      <p:pic>
        <p:nvPicPr>
          <p:cNvPr id="23" name="Image 1" descr="preencoded.png">    </p:cNvPr>
          <p:cNvPicPr>
            <a:picLocks noChangeAspect="1"/>
          </p:cNvPicPr>
          <p:nvPr/>
        </p:nvPicPr>
        <p:blipFill>
          <a:blip r:embed="rId2"/>
          <a:stretch>
            <a:fillRect/>
          </a:stretch>
        </p:blipFill>
        <p:spPr>
          <a:xfrm>
            <a:off x="7508321" y="5085161"/>
            <a:ext cx="272125" cy="272125"/>
          </a:xfrm>
          <a:prstGeom prst="rect">
            <a:avLst/>
          </a:prstGeom>
        </p:spPr>
      </p:pic>
      <p:sp>
        <p:nvSpPr>
          <p:cNvPr id="24" name="Text 19"/>
          <p:cNvSpPr txBox="1"/>
          <p:nvPr/>
        </p:nvSpPr>
        <p:spPr>
          <a:xfrm>
            <a:off x="8046720" y="4937760"/>
            <a:ext cx="342900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10 × 10 = 100</a:t>
            </a:r>
            <a:endParaRPr lang="en-US" sz="1700" dirty="0"/>
          </a:p>
        </p:txBody>
      </p:sp>
      <p:sp>
        <p:nvSpPr>
          <p:cNvPr id="25" name="Text 20"/>
          <p:cNvSpPr txBox="1"/>
          <p:nvPr/>
        </p:nvSpPr>
        <p:spPr>
          <a:xfrm>
            <a:off x="7360920" y="5623560"/>
            <a:ext cx="4069080" cy="320040"/>
          </a:xfrm>
          <a:prstGeom prst="rect">
            <a:avLst/>
          </a:prstGeom>
          <a:noFill/>
          <a:ln/>
        </p:spPr>
        <p:txBody>
          <a:bodyPr wrap="square" lIns="0" tIns="0" rIns="0" bIns="0" rtlCol="0" anchor="t"/>
          <a:lstStyle/>
          <a:p>
            <a:pPr indent="0" marL="0">
              <a:buNone/>
            </a:pPr>
            <a:r>
              <a:rPr lang="en-US" sz="1400" dirty="0">
                <a:solidFill>
                  <a:srgbClr val="333B4F"/>
                </a:solidFill>
                <a:latin typeface="Calibri" pitchFamily="34" charset="0"/>
                <a:ea typeface="Calibri" pitchFamily="34" charset="-122"/>
                <a:cs typeface="Calibri" pitchFamily="34" charset="-120"/>
              </a:rPr>
              <a:t>products written by the inner body.</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EXAMPLE 6 · STARPATTERNS</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Star Patterns: Rectangle and Right Triangle</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6</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25</a:t>
            </a:r>
            <a:endParaRPr lang="en-US" sz="1000" dirty="0"/>
          </a:p>
        </p:txBody>
      </p:sp>
      <p:sp>
        <p:nvSpPr>
          <p:cNvPr id="7" name="Shape 4"/>
          <p:cNvSpPr/>
          <p:nvPr/>
        </p:nvSpPr>
        <p:spPr>
          <a:xfrm>
            <a:off x="548640" y="1645920"/>
            <a:ext cx="6858000" cy="4434840"/>
          </a:xfrm>
          <a:prstGeom prst="roundRect">
            <a:avLst>
              <a:gd name="adj" fmla="val 2062"/>
            </a:avLst>
          </a:prstGeom>
          <a:solidFill>
            <a:srgbClr val="0F1729"/>
          </a:solidFill>
          <a:ln w="12700">
            <a:solidFill>
              <a:srgbClr val="0F1729"/>
            </a:solidFill>
            <a:prstDash val="solid"/>
          </a:ln>
        </p:spPr>
      </p:sp>
      <p:sp>
        <p:nvSpPr>
          <p:cNvPr id="8" name="Text 5"/>
          <p:cNvSpPr txBox="1"/>
          <p:nvPr/>
        </p:nvSpPr>
        <p:spPr>
          <a:xfrm>
            <a:off x="777240" y="1810512"/>
            <a:ext cx="6400800" cy="4160520"/>
          </a:xfrm>
          <a:prstGeom prst="rect">
            <a:avLst/>
          </a:prstGeom>
          <a:noFill/>
          <a:ln/>
        </p:spPr>
        <p:txBody>
          <a:bodyPr wrap="square" lIns="0" tIns="0" rIns="0" bIns="0" rtlCol="0" anchor="t"/>
          <a:lstStyle/>
          <a:p>
            <a:pPr indent="0" marL="0">
              <a:spcAft>
                <a:spcPts val="100"/>
              </a:spcAft>
              <a:buNone/>
            </a:pPr>
            <a:r>
              <a:rPr lang="en-US" sz="1200" dirty="0">
                <a:solidFill>
                  <a:srgbClr val="7F8BA3"/>
                </a:solidFill>
                <a:latin typeface="Courier New" pitchFamily="34" charset="0"/>
                <a:ea typeface="Courier New" pitchFamily="34" charset="-122"/>
                <a:cs typeface="Courier New" pitchFamily="34" charset="-120"/>
              </a:rPr>
              <a:t>// A) rectangle: every row has the same number of stars</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"A) Rectangle"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for</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r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r &lt;= rows; r++)</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for</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c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c &lt;=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2</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 rows; c++)</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7F8BA3"/>
                </a:solidFill>
                <a:latin typeface="Courier New" pitchFamily="34" charset="0"/>
                <a:ea typeface="Courier New" pitchFamily="34" charset="-122"/>
                <a:cs typeface="Courier New" pitchFamily="34" charset="-120"/>
              </a:rPr>
              <a:t>// B) right triangle: row r has r stars</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"B) Right triangle"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for</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r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r &lt;= rows; r++)</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for</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c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c &lt;= r; c++)</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9" name="Shape 6"/>
          <p:cNvSpPr/>
          <p:nvPr/>
        </p:nvSpPr>
        <p:spPr>
          <a:xfrm>
            <a:off x="7680960" y="1645920"/>
            <a:ext cx="3977640" cy="4434840"/>
          </a:xfrm>
          <a:prstGeom prst="roundRect">
            <a:avLst>
              <a:gd name="adj" fmla="val 2299"/>
            </a:avLst>
          </a:prstGeom>
          <a:solidFill>
            <a:srgbClr val="0B0F19"/>
          </a:solidFill>
          <a:ln w="12700">
            <a:solidFill>
              <a:srgbClr val="2A3654"/>
            </a:solidFill>
            <a:prstDash val="solid"/>
          </a:ln>
        </p:spPr>
      </p:sp>
      <p:sp>
        <p:nvSpPr>
          <p:cNvPr id="10" name="Shape 7"/>
          <p:cNvSpPr/>
          <p:nvPr/>
        </p:nvSpPr>
        <p:spPr>
          <a:xfrm>
            <a:off x="7863840" y="1773936"/>
            <a:ext cx="118872" cy="118872"/>
          </a:xfrm>
          <a:prstGeom prst="ellipse">
            <a:avLst/>
          </a:prstGeom>
          <a:solidFill>
            <a:srgbClr val="FF5F57"/>
          </a:solidFill>
          <a:ln w="12700">
            <a:solidFill>
              <a:srgbClr val="FF5F57"/>
            </a:solidFill>
            <a:prstDash val="solid"/>
          </a:ln>
        </p:spPr>
      </p:sp>
      <p:sp>
        <p:nvSpPr>
          <p:cNvPr id="11" name="Shape 8"/>
          <p:cNvSpPr/>
          <p:nvPr/>
        </p:nvSpPr>
        <p:spPr>
          <a:xfrm>
            <a:off x="8092440" y="1773936"/>
            <a:ext cx="118872" cy="118872"/>
          </a:xfrm>
          <a:prstGeom prst="ellipse">
            <a:avLst/>
          </a:prstGeom>
          <a:solidFill>
            <a:srgbClr val="FEBC2E"/>
          </a:solidFill>
          <a:ln w="12700">
            <a:solidFill>
              <a:srgbClr val="FEBC2E"/>
            </a:solidFill>
            <a:prstDash val="solid"/>
          </a:ln>
        </p:spPr>
      </p:sp>
      <p:sp>
        <p:nvSpPr>
          <p:cNvPr id="12" name="Shape 9"/>
          <p:cNvSpPr/>
          <p:nvPr/>
        </p:nvSpPr>
        <p:spPr>
          <a:xfrm>
            <a:off x="8321040" y="1773936"/>
            <a:ext cx="118872" cy="118872"/>
          </a:xfrm>
          <a:prstGeom prst="ellipse">
            <a:avLst/>
          </a:prstGeom>
          <a:solidFill>
            <a:srgbClr val="28C840"/>
          </a:solidFill>
          <a:ln w="12700">
            <a:solidFill>
              <a:srgbClr val="28C840"/>
            </a:solidFill>
            <a:prstDash val="solid"/>
          </a:ln>
        </p:spPr>
      </p:sp>
      <p:sp>
        <p:nvSpPr>
          <p:cNvPr id="13" name="Text 10"/>
          <p:cNvSpPr txBox="1"/>
          <p:nvPr/>
        </p:nvSpPr>
        <p:spPr>
          <a:xfrm>
            <a:off x="8595360" y="1719072"/>
            <a:ext cx="288036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Console</a:t>
            </a:r>
            <a:endParaRPr lang="en-US" sz="1000" dirty="0"/>
          </a:p>
        </p:txBody>
      </p:sp>
      <p:sp>
        <p:nvSpPr>
          <p:cNvPr id="14" name="Text 11"/>
          <p:cNvSpPr txBox="1"/>
          <p:nvPr/>
        </p:nvSpPr>
        <p:spPr>
          <a:xfrm>
            <a:off x="7909560" y="2029968"/>
            <a:ext cx="3520440" cy="3931920"/>
          </a:xfrm>
          <a:prstGeom prst="rect">
            <a:avLst/>
          </a:prstGeom>
          <a:noFill/>
          <a:ln/>
        </p:spPr>
        <p:txBody>
          <a:bodyPr wrap="square" lIns="0" tIns="0" rIns="0" bIns="0" rtlCol="0" anchor="t"/>
          <a:lstStyle/>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Rows: </a:t>
            </a:r>
            <a:pPr indent="0" marL="0">
              <a:spcAft>
                <a:spcPts val="100"/>
              </a:spcAft>
              <a:buNone/>
            </a:pPr>
            <a:r>
              <a:rPr lang="en-US" sz="1200" b="1" dirty="0">
                <a:solidFill>
                  <a:srgbClr val="FCA311"/>
                </a:solidFill>
                <a:latin typeface="Courier New" pitchFamily="34" charset="0"/>
                <a:ea typeface="Courier New" pitchFamily="34" charset="-122"/>
                <a:cs typeface="Courier New" pitchFamily="34" charset="-120"/>
              </a:rPr>
              <a:t>4</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A) Rectangle</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B) Right triangle</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C) Pyramid</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EXAMPLE 6 · STARPATTERNS</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Pyramid: Two Inner Loops per Row</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6</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26</a:t>
            </a:r>
            <a:endParaRPr lang="en-US" sz="10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5120640" cy="914400"/>
        </p:xfrm>
        <a:graphic>
          <a:graphicData uri="http://schemas.openxmlformats.org/drawingml/2006/table">
            <a:tbl>
              <a:tblPr/>
              <a:tblGrid>
                <a:gridCol w="822960"/>
                <a:gridCol w="1645920"/>
                <a:gridCol w="1371600"/>
                <a:gridCol w="1280160"/>
              </a:tblGrid>
              <a:tr h="457200">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row r</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spaces = rows − r</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stars = 2r − 1</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line</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457200">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57200">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57200">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5</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57200">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0</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7</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bl>
          </a:graphicData>
        </a:graphic>
      </p:graphicFrame>
      <p:sp>
        <p:nvSpPr>
          <p:cNvPr id="8" name="Shape 4"/>
          <p:cNvSpPr/>
          <p:nvPr/>
        </p:nvSpPr>
        <p:spPr>
          <a:xfrm>
            <a:off x="548640" y="4160520"/>
            <a:ext cx="5120640" cy="1920240"/>
          </a:xfrm>
          <a:prstGeom prst="roundRect">
            <a:avLst>
              <a:gd name="adj" fmla="val 4762"/>
            </a:avLst>
          </a:prstGeom>
          <a:solidFill>
            <a:srgbClr val="0B0F19"/>
          </a:solidFill>
          <a:ln w="12700">
            <a:solidFill>
              <a:srgbClr val="2A3654"/>
            </a:solidFill>
            <a:prstDash val="solid"/>
          </a:ln>
        </p:spPr>
      </p:sp>
      <p:sp>
        <p:nvSpPr>
          <p:cNvPr id="9" name="Shape 5"/>
          <p:cNvSpPr/>
          <p:nvPr/>
        </p:nvSpPr>
        <p:spPr>
          <a:xfrm>
            <a:off x="731520" y="4288536"/>
            <a:ext cx="118872" cy="118872"/>
          </a:xfrm>
          <a:prstGeom prst="ellipse">
            <a:avLst/>
          </a:prstGeom>
          <a:solidFill>
            <a:srgbClr val="FF5F57"/>
          </a:solidFill>
          <a:ln w="12700">
            <a:solidFill>
              <a:srgbClr val="FF5F57"/>
            </a:solidFill>
            <a:prstDash val="solid"/>
          </a:ln>
        </p:spPr>
      </p:sp>
      <p:sp>
        <p:nvSpPr>
          <p:cNvPr id="10" name="Shape 6"/>
          <p:cNvSpPr/>
          <p:nvPr/>
        </p:nvSpPr>
        <p:spPr>
          <a:xfrm>
            <a:off x="960120" y="4288536"/>
            <a:ext cx="118872" cy="118872"/>
          </a:xfrm>
          <a:prstGeom prst="ellipse">
            <a:avLst/>
          </a:prstGeom>
          <a:solidFill>
            <a:srgbClr val="FEBC2E"/>
          </a:solidFill>
          <a:ln w="12700">
            <a:solidFill>
              <a:srgbClr val="FEBC2E"/>
            </a:solidFill>
            <a:prstDash val="solid"/>
          </a:ln>
        </p:spPr>
      </p:sp>
      <p:sp>
        <p:nvSpPr>
          <p:cNvPr id="11" name="Shape 7"/>
          <p:cNvSpPr/>
          <p:nvPr/>
        </p:nvSpPr>
        <p:spPr>
          <a:xfrm>
            <a:off x="1188720" y="4288536"/>
            <a:ext cx="118872" cy="118872"/>
          </a:xfrm>
          <a:prstGeom prst="ellipse">
            <a:avLst/>
          </a:prstGeom>
          <a:solidFill>
            <a:srgbClr val="28C840"/>
          </a:solidFill>
          <a:ln w="12700">
            <a:solidFill>
              <a:srgbClr val="28C840"/>
            </a:solidFill>
            <a:prstDash val="solid"/>
          </a:ln>
        </p:spPr>
      </p:sp>
      <p:sp>
        <p:nvSpPr>
          <p:cNvPr id="12" name="Text 8"/>
          <p:cNvSpPr txBox="1"/>
          <p:nvPr/>
        </p:nvSpPr>
        <p:spPr>
          <a:xfrm>
            <a:off x="1463040" y="4233672"/>
            <a:ext cx="402336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Console (part C, rows = 4)</a:t>
            </a:r>
            <a:endParaRPr lang="en-US" sz="1000" dirty="0"/>
          </a:p>
        </p:txBody>
      </p:sp>
      <p:sp>
        <p:nvSpPr>
          <p:cNvPr id="13" name="Text 9"/>
          <p:cNvSpPr txBox="1"/>
          <p:nvPr/>
        </p:nvSpPr>
        <p:spPr>
          <a:xfrm>
            <a:off x="777240" y="4544568"/>
            <a:ext cx="4663440" cy="1417320"/>
          </a:xfrm>
          <a:prstGeom prst="rect">
            <a:avLst/>
          </a:prstGeom>
          <a:noFill/>
          <a:ln/>
        </p:spPr>
        <p:txBody>
          <a:bodyPr wrap="square" lIns="0" tIns="0" rIns="0" bIns="0" rtlCol="0" anchor="t"/>
          <a:lstStyle/>
          <a:p>
            <a:pPr indent="0" marL="0">
              <a:spcAft>
                <a:spcPts val="100"/>
              </a:spcAft>
              <a:buNone/>
            </a:pPr>
            <a:r>
              <a:rPr lang="en-US" sz="1400" dirty="0">
                <a:solidFill>
                  <a:srgbClr val="7EE2A8"/>
                </a:solidFill>
                <a:latin typeface="Courier New" pitchFamily="34" charset="0"/>
                <a:ea typeface="Courier New" pitchFamily="34" charset="-122"/>
                <a:cs typeface="Courier New" pitchFamily="34" charset="-120"/>
              </a:rPr>
              <a:t>C) Pyramid</a:t>
            </a:r>
            <a:endParaRPr lang="en-US" sz="1400" dirty="0"/>
          </a:p>
          <a:p>
            <a:pPr indent="0" marL="0">
              <a:spcAft>
                <a:spcPts val="100"/>
              </a:spcAft>
              <a:buNone/>
            </a:pPr>
            <a:r>
              <a:rPr lang="en-US" sz="1400" dirty="0">
                <a:solidFill>
                  <a:srgbClr val="7EE2A8"/>
                </a:solidFill>
                <a:latin typeface="Courier New" pitchFamily="34" charset="0"/>
                <a:ea typeface="Courier New" pitchFamily="34" charset="-122"/>
                <a:cs typeface="Courier New" pitchFamily="34" charset="-120"/>
              </a:rPr>
              <a:t>   *</a:t>
            </a:r>
            <a:endParaRPr lang="en-US" sz="1400" dirty="0"/>
          </a:p>
          <a:p>
            <a:pPr indent="0" marL="0">
              <a:spcAft>
                <a:spcPts val="100"/>
              </a:spcAft>
              <a:buNone/>
            </a:pPr>
            <a:r>
              <a:rPr lang="en-US" sz="1400" dirty="0">
                <a:solidFill>
                  <a:srgbClr val="7EE2A8"/>
                </a:solidFill>
                <a:latin typeface="Courier New" pitchFamily="34" charset="0"/>
                <a:ea typeface="Courier New" pitchFamily="34" charset="-122"/>
                <a:cs typeface="Courier New" pitchFamily="34" charset="-120"/>
              </a:rPr>
              <a:t>  ***</a:t>
            </a:r>
            <a:endParaRPr lang="en-US" sz="1400" dirty="0"/>
          </a:p>
          <a:p>
            <a:pPr indent="0" marL="0">
              <a:spcAft>
                <a:spcPts val="100"/>
              </a:spcAft>
              <a:buNone/>
            </a:pPr>
            <a:r>
              <a:rPr lang="en-US" sz="1400" dirty="0">
                <a:solidFill>
                  <a:srgbClr val="7EE2A8"/>
                </a:solidFill>
                <a:latin typeface="Courier New" pitchFamily="34" charset="0"/>
                <a:ea typeface="Courier New" pitchFamily="34" charset="-122"/>
                <a:cs typeface="Courier New" pitchFamily="34" charset="-120"/>
              </a:rPr>
              <a:t> *****</a:t>
            </a:r>
            <a:endParaRPr lang="en-US" sz="1400" dirty="0"/>
          </a:p>
          <a:p>
            <a:pPr indent="0" marL="0">
              <a:spcAft>
                <a:spcPts val="100"/>
              </a:spcAft>
              <a:buNone/>
            </a:pPr>
            <a:r>
              <a:rPr lang="en-US" sz="1400" dirty="0">
                <a:solidFill>
                  <a:srgbClr val="7EE2A8"/>
                </a:solidFill>
                <a:latin typeface="Courier New" pitchFamily="34" charset="0"/>
                <a:ea typeface="Courier New" pitchFamily="34" charset="-122"/>
                <a:cs typeface="Courier New" pitchFamily="34" charset="-120"/>
              </a:rPr>
              <a:t>*******</a:t>
            </a:r>
            <a:endParaRPr lang="en-US" sz="1400" dirty="0"/>
          </a:p>
        </p:txBody>
      </p:sp>
      <p:sp>
        <p:nvSpPr>
          <p:cNvPr id="14" name="Shape 10"/>
          <p:cNvSpPr/>
          <p:nvPr/>
        </p:nvSpPr>
        <p:spPr>
          <a:xfrm>
            <a:off x="5943600" y="1645920"/>
            <a:ext cx="5715000" cy="4434840"/>
          </a:xfrm>
          <a:prstGeom prst="roundRect">
            <a:avLst>
              <a:gd name="adj" fmla="val 2062"/>
            </a:avLst>
          </a:prstGeom>
          <a:solidFill>
            <a:srgbClr val="0F1729"/>
          </a:solidFill>
          <a:ln w="12700">
            <a:solidFill>
              <a:srgbClr val="0F1729"/>
            </a:solidFill>
            <a:prstDash val="solid"/>
          </a:ln>
        </p:spPr>
      </p:sp>
      <p:sp>
        <p:nvSpPr>
          <p:cNvPr id="15" name="Text 11"/>
          <p:cNvSpPr txBox="1"/>
          <p:nvPr/>
        </p:nvSpPr>
        <p:spPr>
          <a:xfrm>
            <a:off x="6172200" y="1810512"/>
            <a:ext cx="5257800" cy="4160520"/>
          </a:xfrm>
          <a:prstGeom prst="rect">
            <a:avLst/>
          </a:prstGeom>
          <a:noFill/>
          <a:ln/>
        </p:spPr>
        <p:txBody>
          <a:bodyPr wrap="square" lIns="0" tIns="0" rIns="0" bIns="0" rtlCol="0" anchor="t"/>
          <a:lstStyle/>
          <a:p>
            <a:pPr indent="0" marL="0">
              <a:spcAft>
                <a:spcPts val="100"/>
              </a:spcAft>
              <a:buNone/>
            </a:pPr>
            <a:r>
              <a:rPr lang="en-US" sz="1200" dirty="0">
                <a:solidFill>
                  <a:srgbClr val="7F8BA3"/>
                </a:solidFill>
                <a:latin typeface="Courier New" pitchFamily="34" charset="0"/>
                <a:ea typeface="Courier New" pitchFamily="34" charset="-122"/>
                <a:cs typeface="Courier New" pitchFamily="34" charset="-120"/>
              </a:rPr>
              <a:t>// C) pyramid: row r has rows - r spaces, 2r - 1 stars</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"C) Pyramid"</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for</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r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r &lt;= rows; r++)</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for</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s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s &lt;= rows - r; s++)</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for</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c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c &lt;=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2</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 r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c++)</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QUIZ · PREDICT THE OUTPUT</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Predict the Output: Nested Loops</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6</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27</a:t>
            </a:r>
            <a:endParaRPr lang="en-US" sz="1000" dirty="0"/>
          </a:p>
        </p:txBody>
      </p:sp>
      <p:sp>
        <p:nvSpPr>
          <p:cNvPr id="7" name="Shape 4"/>
          <p:cNvSpPr/>
          <p:nvPr/>
        </p:nvSpPr>
        <p:spPr>
          <a:xfrm>
            <a:off x="548640" y="1645920"/>
            <a:ext cx="3611880" cy="3611880"/>
          </a:xfrm>
          <a:prstGeom prst="roundRect">
            <a:avLst>
              <a:gd name="adj" fmla="val 2532"/>
            </a:avLst>
          </a:prstGeom>
          <a:solidFill>
            <a:srgbClr val="0F1729"/>
          </a:solidFill>
          <a:ln w="12700">
            <a:solidFill>
              <a:srgbClr val="0F1729"/>
            </a:solidFill>
            <a:prstDash val="solid"/>
          </a:ln>
        </p:spPr>
      </p:sp>
      <p:sp>
        <p:nvSpPr>
          <p:cNvPr id="8" name="Text 5"/>
          <p:cNvSpPr txBox="1"/>
          <p:nvPr/>
        </p:nvSpPr>
        <p:spPr>
          <a:xfrm>
            <a:off x="777240" y="1755648"/>
            <a:ext cx="315468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Q1</a:t>
            </a:r>
            <a:endParaRPr lang="en-US" sz="1100" dirty="0"/>
          </a:p>
        </p:txBody>
      </p:sp>
      <p:sp>
        <p:nvSpPr>
          <p:cNvPr id="9" name="Text 6"/>
          <p:cNvSpPr txBox="1"/>
          <p:nvPr/>
        </p:nvSpPr>
        <p:spPr>
          <a:xfrm>
            <a:off x="777240" y="2057400"/>
            <a:ext cx="3154680" cy="3090672"/>
          </a:xfrm>
          <a:prstGeom prst="rect">
            <a:avLst/>
          </a:prstGeom>
          <a:noFill/>
          <a:ln/>
        </p:spPr>
        <p:txBody>
          <a:bodyPr wrap="square" lIns="0" tIns="0" rIns="0" bIns="0" rtlCol="0" anchor="t"/>
          <a:lstStyle/>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for</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i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i &lt;=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3</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i++)</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for</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j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j &lt;= i; j++)</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.Write(j);</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10" name="Shape 7"/>
          <p:cNvSpPr/>
          <p:nvPr/>
        </p:nvSpPr>
        <p:spPr>
          <a:xfrm>
            <a:off x="4297680" y="1645920"/>
            <a:ext cx="3611880" cy="3611880"/>
          </a:xfrm>
          <a:prstGeom prst="roundRect">
            <a:avLst>
              <a:gd name="adj" fmla="val 2532"/>
            </a:avLst>
          </a:prstGeom>
          <a:solidFill>
            <a:srgbClr val="0F1729"/>
          </a:solidFill>
          <a:ln w="12700">
            <a:solidFill>
              <a:srgbClr val="0F1729"/>
            </a:solidFill>
            <a:prstDash val="solid"/>
          </a:ln>
        </p:spPr>
      </p:sp>
      <p:sp>
        <p:nvSpPr>
          <p:cNvPr id="11" name="Text 8"/>
          <p:cNvSpPr txBox="1"/>
          <p:nvPr/>
        </p:nvSpPr>
        <p:spPr>
          <a:xfrm>
            <a:off x="4526280" y="1755648"/>
            <a:ext cx="315468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Q2</a:t>
            </a:r>
            <a:endParaRPr lang="en-US" sz="1100" dirty="0"/>
          </a:p>
        </p:txBody>
      </p:sp>
      <p:sp>
        <p:nvSpPr>
          <p:cNvPr id="12" name="Text 9"/>
          <p:cNvSpPr txBox="1"/>
          <p:nvPr/>
        </p:nvSpPr>
        <p:spPr>
          <a:xfrm>
            <a:off x="4526280" y="2057400"/>
            <a:ext cx="3154680" cy="3090672"/>
          </a:xfrm>
          <a:prstGeom prst="rect">
            <a:avLst/>
          </a:prstGeom>
          <a:noFill/>
          <a:ln/>
        </p:spPr>
        <p:txBody>
          <a:bodyPr wrap="square" lIns="0" tIns="0" rIns="0" bIns="0" rtlCol="0" anchor="t"/>
          <a:lstStyle/>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for</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i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3</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i &gt;=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i--)</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for</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j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j &lt;= i; j++)</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13" name="Shape 10"/>
          <p:cNvSpPr/>
          <p:nvPr/>
        </p:nvSpPr>
        <p:spPr>
          <a:xfrm>
            <a:off x="8046720" y="1645920"/>
            <a:ext cx="3611880" cy="3611880"/>
          </a:xfrm>
          <a:prstGeom prst="roundRect">
            <a:avLst>
              <a:gd name="adj" fmla="val 2532"/>
            </a:avLst>
          </a:prstGeom>
          <a:solidFill>
            <a:srgbClr val="0F1729"/>
          </a:solidFill>
          <a:ln w="12700">
            <a:solidFill>
              <a:srgbClr val="0F1729"/>
            </a:solidFill>
            <a:prstDash val="solid"/>
          </a:ln>
        </p:spPr>
      </p:sp>
      <p:sp>
        <p:nvSpPr>
          <p:cNvPr id="14" name="Text 11"/>
          <p:cNvSpPr txBox="1"/>
          <p:nvPr/>
        </p:nvSpPr>
        <p:spPr>
          <a:xfrm>
            <a:off x="8275320" y="1755648"/>
            <a:ext cx="315468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Q3</a:t>
            </a:r>
            <a:endParaRPr lang="en-US" sz="1100" dirty="0"/>
          </a:p>
        </p:txBody>
      </p:sp>
      <p:sp>
        <p:nvSpPr>
          <p:cNvPr id="15" name="Text 12"/>
          <p:cNvSpPr txBox="1"/>
          <p:nvPr/>
        </p:nvSpPr>
        <p:spPr>
          <a:xfrm>
            <a:off x="8275320" y="2057400"/>
            <a:ext cx="3154680" cy="3090672"/>
          </a:xfrm>
          <a:prstGeom prst="rect">
            <a:avLst/>
          </a:prstGeom>
          <a:noFill/>
          <a:ln/>
        </p:spPr>
        <p:txBody>
          <a:bodyPr wrap="square" lIns="0" tIns="0" rIns="0" bIns="0" rtlCol="0" anchor="t"/>
          <a:lstStyle/>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for</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i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i &lt;=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4</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i++)</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for</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j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j &lt;=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4</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j++)</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if</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((i + j)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2</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else</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16" name="Shape 13"/>
          <p:cNvSpPr/>
          <p:nvPr/>
        </p:nvSpPr>
        <p:spPr>
          <a:xfrm>
            <a:off x="548640" y="5440680"/>
            <a:ext cx="11109960" cy="640080"/>
          </a:xfrm>
          <a:prstGeom prst="roundRect">
            <a:avLst>
              <a:gd name="adj" fmla="val 17143"/>
            </a:avLst>
          </a:prstGeom>
          <a:solidFill>
            <a:srgbClr val="FFF6E3"/>
          </a:solidFill>
          <a:ln w="12700">
            <a:solidFill>
              <a:srgbClr val="FFF6E3"/>
            </a:solidFill>
            <a:prstDash val="solid"/>
          </a:ln>
        </p:spPr>
      </p:sp>
      <p:pic>
        <p:nvPicPr>
          <p:cNvPr id="17" name="Image 0" descr="preencoded.png">    </p:cNvPr>
          <p:cNvPicPr>
            <a:picLocks noChangeAspect="1"/>
          </p:cNvPicPr>
          <p:nvPr/>
        </p:nvPicPr>
        <p:blipFill>
          <a:blip r:embed="rId1"/>
          <a:stretch>
            <a:fillRect/>
          </a:stretch>
        </p:blipFill>
        <p:spPr>
          <a:xfrm>
            <a:off x="822960" y="5577840"/>
            <a:ext cx="365760" cy="365760"/>
          </a:xfrm>
          <a:prstGeom prst="rect">
            <a:avLst/>
          </a:prstGeom>
        </p:spPr>
      </p:pic>
      <p:sp>
        <p:nvSpPr>
          <p:cNvPr id="18" name="Text 14"/>
          <p:cNvSpPr txBox="1"/>
          <p:nvPr/>
        </p:nvSpPr>
        <p:spPr>
          <a:xfrm>
            <a:off x="1463040" y="5513832"/>
            <a:ext cx="9921240" cy="493776"/>
          </a:xfrm>
          <a:prstGeom prst="rect">
            <a:avLst/>
          </a:prstGeom>
          <a:noFill/>
          <a:ln/>
        </p:spPr>
        <p:txBody>
          <a:bodyPr wrap="square" lIns="0" tIns="0" rIns="0" bIns="0" rtlCol="0" anchor="ctr"/>
          <a:lstStyle/>
          <a:p>
            <a:pPr indent="0" marL="0">
              <a:buNone/>
            </a:pPr>
            <a:r>
              <a:rPr lang="en-US" sz="1500" dirty="0">
                <a:solidFill>
                  <a:srgbClr val="333B4F"/>
                </a:solidFill>
                <a:latin typeface="Calibri" pitchFamily="34" charset="0"/>
                <a:ea typeface="Calibri" pitchFamily="34" charset="-122"/>
                <a:cs typeface="Calibri" pitchFamily="34" charset="-120"/>
              </a:rPr>
              <a:t>Tip: make a small table with columns i, j and "printed" before you write the output.</a:t>
            </a:r>
            <a:endParaRPr lang="en-US" sz="15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QUIZ · ANSWERS</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Answers: Nested Loops</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6</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28</a:t>
            </a:r>
            <a:endParaRPr lang="en-US" sz="1000" dirty="0"/>
          </a:p>
        </p:txBody>
      </p:sp>
      <p:sp>
        <p:nvSpPr>
          <p:cNvPr id="7" name="Shape 4"/>
          <p:cNvSpPr/>
          <p:nvPr/>
        </p:nvSpPr>
        <p:spPr>
          <a:xfrm>
            <a:off x="548640" y="1645920"/>
            <a:ext cx="3611880" cy="2011680"/>
          </a:xfrm>
          <a:prstGeom prst="roundRect">
            <a:avLst>
              <a:gd name="adj" fmla="val 4545"/>
            </a:avLst>
          </a:prstGeom>
          <a:solidFill>
            <a:srgbClr val="0B0F19"/>
          </a:solidFill>
          <a:ln w="12700">
            <a:solidFill>
              <a:srgbClr val="2A3654"/>
            </a:solidFill>
            <a:prstDash val="solid"/>
          </a:ln>
        </p:spPr>
      </p:sp>
      <p:sp>
        <p:nvSpPr>
          <p:cNvPr id="8" name="Shape 5"/>
          <p:cNvSpPr/>
          <p:nvPr/>
        </p:nvSpPr>
        <p:spPr>
          <a:xfrm>
            <a:off x="731520" y="1773936"/>
            <a:ext cx="118872" cy="118872"/>
          </a:xfrm>
          <a:prstGeom prst="ellipse">
            <a:avLst/>
          </a:prstGeom>
          <a:solidFill>
            <a:srgbClr val="FF5F57"/>
          </a:solidFill>
          <a:ln w="12700">
            <a:solidFill>
              <a:srgbClr val="FF5F57"/>
            </a:solidFill>
            <a:prstDash val="solid"/>
          </a:ln>
        </p:spPr>
      </p:sp>
      <p:sp>
        <p:nvSpPr>
          <p:cNvPr id="9" name="Shape 6"/>
          <p:cNvSpPr/>
          <p:nvPr/>
        </p:nvSpPr>
        <p:spPr>
          <a:xfrm>
            <a:off x="960120" y="1773936"/>
            <a:ext cx="118872" cy="118872"/>
          </a:xfrm>
          <a:prstGeom prst="ellipse">
            <a:avLst/>
          </a:prstGeom>
          <a:solidFill>
            <a:srgbClr val="FEBC2E"/>
          </a:solidFill>
          <a:ln w="12700">
            <a:solidFill>
              <a:srgbClr val="FEBC2E"/>
            </a:solidFill>
            <a:prstDash val="solid"/>
          </a:ln>
        </p:spPr>
      </p:sp>
      <p:sp>
        <p:nvSpPr>
          <p:cNvPr id="10" name="Shape 7"/>
          <p:cNvSpPr/>
          <p:nvPr/>
        </p:nvSpPr>
        <p:spPr>
          <a:xfrm>
            <a:off x="1188720" y="1773936"/>
            <a:ext cx="118872" cy="118872"/>
          </a:xfrm>
          <a:prstGeom prst="ellipse">
            <a:avLst/>
          </a:prstGeom>
          <a:solidFill>
            <a:srgbClr val="28C840"/>
          </a:solidFill>
          <a:ln w="12700">
            <a:solidFill>
              <a:srgbClr val="28C840"/>
            </a:solidFill>
            <a:prstDash val="solid"/>
          </a:ln>
        </p:spPr>
      </p:sp>
      <p:sp>
        <p:nvSpPr>
          <p:cNvPr id="11" name="Text 8"/>
          <p:cNvSpPr txBox="1"/>
          <p:nvPr/>
        </p:nvSpPr>
        <p:spPr>
          <a:xfrm>
            <a:off x="1463040" y="1719072"/>
            <a:ext cx="251460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Q1</a:t>
            </a:r>
            <a:endParaRPr lang="en-US" sz="1000" dirty="0"/>
          </a:p>
        </p:txBody>
      </p:sp>
      <p:sp>
        <p:nvSpPr>
          <p:cNvPr id="12" name="Text 9"/>
          <p:cNvSpPr txBox="1"/>
          <p:nvPr/>
        </p:nvSpPr>
        <p:spPr>
          <a:xfrm>
            <a:off x="777240" y="2029968"/>
            <a:ext cx="3154680" cy="1508760"/>
          </a:xfrm>
          <a:prstGeom prst="rect">
            <a:avLst/>
          </a:prstGeom>
          <a:noFill/>
          <a:ln/>
        </p:spPr>
        <p:txBody>
          <a:bodyPr wrap="square" lIns="0" tIns="0" rIns="0" bIns="0" rtlCol="0" anchor="t"/>
          <a:lstStyle/>
          <a:p>
            <a:pPr indent="0" marL="0">
              <a:spcAft>
                <a:spcPts val="100"/>
              </a:spcAft>
              <a:buNone/>
            </a:pPr>
            <a:r>
              <a:rPr lang="en-US" sz="1800" dirty="0">
                <a:solidFill>
                  <a:srgbClr val="7EE2A8"/>
                </a:solidFill>
                <a:latin typeface="Courier New" pitchFamily="34" charset="0"/>
                <a:ea typeface="Courier New" pitchFamily="34" charset="-122"/>
                <a:cs typeface="Courier New" pitchFamily="34" charset="-120"/>
              </a:rPr>
              <a:t>1</a:t>
            </a:r>
            <a:endParaRPr lang="en-US" sz="1800" dirty="0"/>
          </a:p>
          <a:p>
            <a:pPr indent="0" marL="0">
              <a:spcAft>
                <a:spcPts val="100"/>
              </a:spcAft>
              <a:buNone/>
            </a:pPr>
            <a:r>
              <a:rPr lang="en-US" sz="1800" dirty="0">
                <a:solidFill>
                  <a:srgbClr val="7EE2A8"/>
                </a:solidFill>
                <a:latin typeface="Courier New" pitchFamily="34" charset="0"/>
                <a:ea typeface="Courier New" pitchFamily="34" charset="-122"/>
                <a:cs typeface="Courier New" pitchFamily="34" charset="-120"/>
              </a:rPr>
              <a:t>12</a:t>
            </a:r>
            <a:endParaRPr lang="en-US" sz="1800" dirty="0"/>
          </a:p>
          <a:p>
            <a:pPr indent="0" marL="0">
              <a:spcAft>
                <a:spcPts val="100"/>
              </a:spcAft>
              <a:buNone/>
            </a:pPr>
            <a:r>
              <a:rPr lang="en-US" sz="1800" dirty="0">
                <a:solidFill>
                  <a:srgbClr val="7EE2A8"/>
                </a:solidFill>
                <a:latin typeface="Courier New" pitchFamily="34" charset="0"/>
                <a:ea typeface="Courier New" pitchFamily="34" charset="-122"/>
                <a:cs typeface="Courier New" pitchFamily="34" charset="-120"/>
              </a:rPr>
              <a:t>123</a:t>
            </a:r>
            <a:endParaRPr lang="en-US" sz="1800" dirty="0"/>
          </a:p>
        </p:txBody>
      </p:sp>
      <p:sp>
        <p:nvSpPr>
          <p:cNvPr id="13" name="Shape 10"/>
          <p:cNvSpPr/>
          <p:nvPr/>
        </p:nvSpPr>
        <p:spPr>
          <a:xfrm>
            <a:off x="4297680" y="1645920"/>
            <a:ext cx="3611880" cy="2011680"/>
          </a:xfrm>
          <a:prstGeom prst="roundRect">
            <a:avLst>
              <a:gd name="adj" fmla="val 4545"/>
            </a:avLst>
          </a:prstGeom>
          <a:solidFill>
            <a:srgbClr val="0B0F19"/>
          </a:solidFill>
          <a:ln w="12700">
            <a:solidFill>
              <a:srgbClr val="2A3654"/>
            </a:solidFill>
            <a:prstDash val="solid"/>
          </a:ln>
        </p:spPr>
      </p:sp>
      <p:sp>
        <p:nvSpPr>
          <p:cNvPr id="14" name="Shape 11"/>
          <p:cNvSpPr/>
          <p:nvPr/>
        </p:nvSpPr>
        <p:spPr>
          <a:xfrm>
            <a:off x="4480560" y="1773936"/>
            <a:ext cx="118872" cy="118872"/>
          </a:xfrm>
          <a:prstGeom prst="ellipse">
            <a:avLst/>
          </a:prstGeom>
          <a:solidFill>
            <a:srgbClr val="FF5F57"/>
          </a:solidFill>
          <a:ln w="12700">
            <a:solidFill>
              <a:srgbClr val="FF5F57"/>
            </a:solidFill>
            <a:prstDash val="solid"/>
          </a:ln>
        </p:spPr>
      </p:sp>
      <p:sp>
        <p:nvSpPr>
          <p:cNvPr id="15" name="Shape 12"/>
          <p:cNvSpPr/>
          <p:nvPr/>
        </p:nvSpPr>
        <p:spPr>
          <a:xfrm>
            <a:off x="4709160" y="1773936"/>
            <a:ext cx="118872" cy="118872"/>
          </a:xfrm>
          <a:prstGeom prst="ellipse">
            <a:avLst/>
          </a:prstGeom>
          <a:solidFill>
            <a:srgbClr val="FEBC2E"/>
          </a:solidFill>
          <a:ln w="12700">
            <a:solidFill>
              <a:srgbClr val="FEBC2E"/>
            </a:solidFill>
            <a:prstDash val="solid"/>
          </a:ln>
        </p:spPr>
      </p:sp>
      <p:sp>
        <p:nvSpPr>
          <p:cNvPr id="16" name="Shape 13"/>
          <p:cNvSpPr/>
          <p:nvPr/>
        </p:nvSpPr>
        <p:spPr>
          <a:xfrm>
            <a:off x="4937760" y="1773936"/>
            <a:ext cx="118872" cy="118872"/>
          </a:xfrm>
          <a:prstGeom prst="ellipse">
            <a:avLst/>
          </a:prstGeom>
          <a:solidFill>
            <a:srgbClr val="28C840"/>
          </a:solidFill>
          <a:ln w="12700">
            <a:solidFill>
              <a:srgbClr val="28C840"/>
            </a:solidFill>
            <a:prstDash val="solid"/>
          </a:ln>
        </p:spPr>
      </p:sp>
      <p:sp>
        <p:nvSpPr>
          <p:cNvPr id="17" name="Text 14"/>
          <p:cNvSpPr txBox="1"/>
          <p:nvPr/>
        </p:nvSpPr>
        <p:spPr>
          <a:xfrm>
            <a:off x="5212080" y="1719072"/>
            <a:ext cx="251460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Q2</a:t>
            </a:r>
            <a:endParaRPr lang="en-US" sz="1000" dirty="0"/>
          </a:p>
        </p:txBody>
      </p:sp>
      <p:sp>
        <p:nvSpPr>
          <p:cNvPr id="18" name="Text 15"/>
          <p:cNvSpPr txBox="1"/>
          <p:nvPr/>
        </p:nvSpPr>
        <p:spPr>
          <a:xfrm>
            <a:off x="4526280" y="2029968"/>
            <a:ext cx="3154680" cy="1508760"/>
          </a:xfrm>
          <a:prstGeom prst="rect">
            <a:avLst/>
          </a:prstGeom>
          <a:noFill/>
          <a:ln/>
        </p:spPr>
        <p:txBody>
          <a:bodyPr wrap="square" lIns="0" tIns="0" rIns="0" bIns="0" rtlCol="0" anchor="t"/>
          <a:lstStyle/>
          <a:p>
            <a:pPr indent="0" marL="0">
              <a:spcAft>
                <a:spcPts val="100"/>
              </a:spcAft>
              <a:buNone/>
            </a:pPr>
            <a:r>
              <a:rPr lang="en-US" sz="1800" dirty="0">
                <a:solidFill>
                  <a:srgbClr val="7EE2A8"/>
                </a:solidFill>
                <a:latin typeface="Courier New" pitchFamily="34" charset="0"/>
                <a:ea typeface="Courier New" pitchFamily="34" charset="-122"/>
                <a:cs typeface="Courier New" pitchFamily="34" charset="-120"/>
              </a:rPr>
              <a:t>###</a:t>
            </a:r>
            <a:endParaRPr lang="en-US" sz="1800" dirty="0"/>
          </a:p>
          <a:p>
            <a:pPr indent="0" marL="0">
              <a:spcAft>
                <a:spcPts val="100"/>
              </a:spcAft>
              <a:buNone/>
            </a:pPr>
            <a:r>
              <a:rPr lang="en-US" sz="1800" dirty="0">
                <a:solidFill>
                  <a:srgbClr val="7EE2A8"/>
                </a:solidFill>
                <a:latin typeface="Courier New" pitchFamily="34" charset="0"/>
                <a:ea typeface="Courier New" pitchFamily="34" charset="-122"/>
                <a:cs typeface="Courier New" pitchFamily="34" charset="-120"/>
              </a:rPr>
              <a:t>##</a:t>
            </a:r>
            <a:endParaRPr lang="en-US" sz="1800" dirty="0"/>
          </a:p>
          <a:p>
            <a:pPr indent="0" marL="0">
              <a:spcAft>
                <a:spcPts val="100"/>
              </a:spcAft>
              <a:buNone/>
            </a:pPr>
            <a:r>
              <a:rPr lang="en-US" sz="1800" dirty="0">
                <a:solidFill>
                  <a:srgbClr val="7EE2A8"/>
                </a:solidFill>
                <a:latin typeface="Courier New" pitchFamily="34" charset="0"/>
                <a:ea typeface="Courier New" pitchFamily="34" charset="-122"/>
                <a:cs typeface="Courier New" pitchFamily="34" charset="-120"/>
              </a:rPr>
              <a:t>#</a:t>
            </a:r>
            <a:endParaRPr lang="en-US" sz="1800" dirty="0"/>
          </a:p>
        </p:txBody>
      </p:sp>
      <p:sp>
        <p:nvSpPr>
          <p:cNvPr id="19" name="Shape 16"/>
          <p:cNvSpPr/>
          <p:nvPr/>
        </p:nvSpPr>
        <p:spPr>
          <a:xfrm>
            <a:off x="8046720" y="1645920"/>
            <a:ext cx="3611880" cy="2011680"/>
          </a:xfrm>
          <a:prstGeom prst="roundRect">
            <a:avLst>
              <a:gd name="adj" fmla="val 4545"/>
            </a:avLst>
          </a:prstGeom>
          <a:solidFill>
            <a:srgbClr val="0B0F19"/>
          </a:solidFill>
          <a:ln w="12700">
            <a:solidFill>
              <a:srgbClr val="2A3654"/>
            </a:solidFill>
            <a:prstDash val="solid"/>
          </a:ln>
        </p:spPr>
      </p:sp>
      <p:sp>
        <p:nvSpPr>
          <p:cNvPr id="20" name="Shape 17"/>
          <p:cNvSpPr/>
          <p:nvPr/>
        </p:nvSpPr>
        <p:spPr>
          <a:xfrm>
            <a:off x="8229600" y="1773936"/>
            <a:ext cx="118872" cy="118872"/>
          </a:xfrm>
          <a:prstGeom prst="ellipse">
            <a:avLst/>
          </a:prstGeom>
          <a:solidFill>
            <a:srgbClr val="FF5F57"/>
          </a:solidFill>
          <a:ln w="12700">
            <a:solidFill>
              <a:srgbClr val="FF5F57"/>
            </a:solidFill>
            <a:prstDash val="solid"/>
          </a:ln>
        </p:spPr>
      </p:sp>
      <p:sp>
        <p:nvSpPr>
          <p:cNvPr id="21" name="Shape 18"/>
          <p:cNvSpPr/>
          <p:nvPr/>
        </p:nvSpPr>
        <p:spPr>
          <a:xfrm>
            <a:off x="8458200" y="1773936"/>
            <a:ext cx="118872" cy="118872"/>
          </a:xfrm>
          <a:prstGeom prst="ellipse">
            <a:avLst/>
          </a:prstGeom>
          <a:solidFill>
            <a:srgbClr val="FEBC2E"/>
          </a:solidFill>
          <a:ln w="12700">
            <a:solidFill>
              <a:srgbClr val="FEBC2E"/>
            </a:solidFill>
            <a:prstDash val="solid"/>
          </a:ln>
        </p:spPr>
      </p:sp>
      <p:sp>
        <p:nvSpPr>
          <p:cNvPr id="22" name="Shape 19"/>
          <p:cNvSpPr/>
          <p:nvPr/>
        </p:nvSpPr>
        <p:spPr>
          <a:xfrm>
            <a:off x="8686800" y="1773936"/>
            <a:ext cx="118872" cy="118872"/>
          </a:xfrm>
          <a:prstGeom prst="ellipse">
            <a:avLst/>
          </a:prstGeom>
          <a:solidFill>
            <a:srgbClr val="28C840"/>
          </a:solidFill>
          <a:ln w="12700">
            <a:solidFill>
              <a:srgbClr val="28C840"/>
            </a:solidFill>
            <a:prstDash val="solid"/>
          </a:ln>
        </p:spPr>
      </p:sp>
      <p:sp>
        <p:nvSpPr>
          <p:cNvPr id="23" name="Text 20"/>
          <p:cNvSpPr txBox="1"/>
          <p:nvPr/>
        </p:nvSpPr>
        <p:spPr>
          <a:xfrm>
            <a:off x="8961120" y="1719072"/>
            <a:ext cx="251460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Q3</a:t>
            </a:r>
            <a:endParaRPr lang="en-US" sz="1000" dirty="0"/>
          </a:p>
        </p:txBody>
      </p:sp>
      <p:sp>
        <p:nvSpPr>
          <p:cNvPr id="24" name="Text 21"/>
          <p:cNvSpPr txBox="1"/>
          <p:nvPr/>
        </p:nvSpPr>
        <p:spPr>
          <a:xfrm>
            <a:off x="8275320" y="2029968"/>
            <a:ext cx="3154680" cy="1508760"/>
          </a:xfrm>
          <a:prstGeom prst="rect">
            <a:avLst/>
          </a:prstGeom>
          <a:noFill/>
          <a:ln/>
        </p:spPr>
        <p:txBody>
          <a:bodyPr wrap="square" lIns="0" tIns="0" rIns="0" bIns="0" rtlCol="0" anchor="t"/>
          <a:lstStyle/>
          <a:p>
            <a:pPr indent="0" marL="0">
              <a:spcAft>
                <a:spcPts val="100"/>
              </a:spcAft>
              <a:buNone/>
            </a:pPr>
            <a:r>
              <a:rPr lang="en-US" sz="1800" dirty="0">
                <a:solidFill>
                  <a:srgbClr val="7EE2A8"/>
                </a:solidFill>
                <a:latin typeface="Courier New" pitchFamily="34" charset="0"/>
                <a:ea typeface="Courier New" pitchFamily="34" charset="-122"/>
                <a:cs typeface="Courier New" pitchFamily="34" charset="-120"/>
              </a:rPr>
              <a:t>#.#.</a:t>
            </a:r>
            <a:endParaRPr lang="en-US" sz="1800" dirty="0"/>
          </a:p>
          <a:p>
            <a:pPr indent="0" marL="0">
              <a:spcAft>
                <a:spcPts val="100"/>
              </a:spcAft>
              <a:buNone/>
            </a:pPr>
            <a:r>
              <a:rPr lang="en-US" sz="1800" dirty="0">
                <a:solidFill>
                  <a:srgbClr val="7EE2A8"/>
                </a:solidFill>
                <a:latin typeface="Courier New" pitchFamily="34" charset="0"/>
                <a:ea typeface="Courier New" pitchFamily="34" charset="-122"/>
                <a:cs typeface="Courier New" pitchFamily="34" charset="-120"/>
              </a:rPr>
              <a:t>.#.#</a:t>
            </a:r>
            <a:endParaRPr lang="en-US" sz="1800" dirty="0"/>
          </a:p>
          <a:p>
            <a:pPr indent="0" marL="0">
              <a:spcAft>
                <a:spcPts val="100"/>
              </a:spcAft>
              <a:buNone/>
            </a:pPr>
            <a:r>
              <a:rPr lang="en-US" sz="1800" dirty="0">
                <a:solidFill>
                  <a:srgbClr val="7EE2A8"/>
                </a:solidFill>
                <a:latin typeface="Courier New" pitchFamily="34" charset="0"/>
                <a:ea typeface="Courier New" pitchFamily="34" charset="-122"/>
                <a:cs typeface="Courier New" pitchFamily="34" charset="-120"/>
              </a:rPr>
              <a:t>#.#.</a:t>
            </a:r>
            <a:endParaRPr lang="en-US" sz="1800" dirty="0"/>
          </a:p>
          <a:p>
            <a:pPr indent="0" marL="0">
              <a:spcAft>
                <a:spcPts val="100"/>
              </a:spcAft>
              <a:buNone/>
            </a:pPr>
            <a:r>
              <a:rPr lang="en-US" sz="1800" dirty="0">
                <a:solidFill>
                  <a:srgbClr val="7EE2A8"/>
                </a:solidFill>
                <a:latin typeface="Courier New" pitchFamily="34" charset="0"/>
                <a:ea typeface="Courier New" pitchFamily="34" charset="-122"/>
                <a:cs typeface="Courier New" pitchFamily="34" charset="-120"/>
              </a:rPr>
              <a:t>.#.#</a:t>
            </a:r>
            <a:endParaRPr lang="en-US" sz="1800" dirty="0"/>
          </a:p>
        </p:txBody>
      </p:sp>
      <p:sp>
        <p:nvSpPr>
          <p:cNvPr id="25" name="Shape 22"/>
          <p:cNvSpPr/>
          <p:nvPr/>
        </p:nvSpPr>
        <p:spPr>
          <a:xfrm>
            <a:off x="548640" y="3886200"/>
            <a:ext cx="3611880" cy="2194560"/>
          </a:xfrm>
          <a:prstGeom prst="roundRect">
            <a:avLst>
              <a:gd name="adj" fmla="val 5000"/>
            </a:avLst>
          </a:prstGeom>
          <a:solidFill>
            <a:srgbClr val="EEF1F6"/>
          </a:solidFill>
          <a:ln w="12700">
            <a:solidFill>
              <a:srgbClr val="EEF1F6"/>
            </a:solidFill>
            <a:prstDash val="solid"/>
          </a:ln>
        </p:spPr>
      </p:sp>
      <p:sp>
        <p:nvSpPr>
          <p:cNvPr id="26" name="Shape 23"/>
          <p:cNvSpPr/>
          <p:nvPr/>
        </p:nvSpPr>
        <p:spPr>
          <a:xfrm>
            <a:off x="777240" y="4114800"/>
            <a:ext cx="566928" cy="566928"/>
          </a:xfrm>
          <a:prstGeom prst="ellipse">
            <a:avLst/>
          </a:prstGeom>
          <a:solidFill>
            <a:srgbClr val="14213D"/>
          </a:solidFill>
          <a:ln w="12700">
            <a:solidFill>
              <a:srgbClr val="14213D"/>
            </a:solidFill>
            <a:prstDash val="solid"/>
          </a:ln>
        </p:spPr>
      </p:sp>
      <p:pic>
        <p:nvPicPr>
          <p:cNvPr id="27" name="Image 0" descr="preencoded.png">    </p:cNvPr>
          <p:cNvPicPr>
            <a:picLocks noChangeAspect="1"/>
          </p:cNvPicPr>
          <p:nvPr/>
        </p:nvPicPr>
        <p:blipFill>
          <a:blip r:embed="rId1"/>
          <a:stretch>
            <a:fillRect/>
          </a:stretch>
        </p:blipFill>
        <p:spPr>
          <a:xfrm>
            <a:off x="924641" y="4262201"/>
            <a:ext cx="272125" cy="272125"/>
          </a:xfrm>
          <a:prstGeom prst="rect">
            <a:avLst/>
          </a:prstGeom>
        </p:spPr>
      </p:pic>
      <p:sp>
        <p:nvSpPr>
          <p:cNvPr id="28" name="Text 24"/>
          <p:cNvSpPr txBox="1"/>
          <p:nvPr/>
        </p:nvSpPr>
        <p:spPr>
          <a:xfrm>
            <a:off x="1463040" y="4114800"/>
            <a:ext cx="251460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Inner bound = i</a:t>
            </a:r>
            <a:endParaRPr lang="en-US" sz="1700" dirty="0"/>
          </a:p>
        </p:txBody>
      </p:sp>
      <p:sp>
        <p:nvSpPr>
          <p:cNvPr id="29" name="Text 25"/>
          <p:cNvSpPr txBox="1"/>
          <p:nvPr/>
        </p:nvSpPr>
        <p:spPr>
          <a:xfrm>
            <a:off x="777240" y="4800600"/>
            <a:ext cx="3154680" cy="1143000"/>
          </a:xfrm>
          <a:prstGeom prst="rect">
            <a:avLst/>
          </a:prstGeom>
          <a:noFill/>
          <a:ln/>
        </p:spPr>
        <p:txBody>
          <a:bodyPr wrap="square" lIns="0" tIns="0" rIns="0" bIns="0" rtlCol="0" anchor="t"/>
          <a:lstStyle/>
          <a:p>
            <a:pPr indent="0" marL="0">
              <a:buNone/>
            </a:pPr>
            <a:r>
              <a:rPr lang="en-US" sz="1400" dirty="0">
                <a:solidFill>
                  <a:srgbClr val="333B4F"/>
                </a:solidFill>
                <a:latin typeface="Calibri" pitchFamily="34" charset="0"/>
                <a:ea typeface="Calibri" pitchFamily="34" charset="-122"/>
                <a:cs typeface="Calibri" pitchFamily="34" charset="-120"/>
              </a:rPr>
              <a:t>Row i prints 1 … i: a triangle of numbers.</a:t>
            </a:r>
            <a:endParaRPr lang="en-US" sz="1400" dirty="0"/>
          </a:p>
        </p:txBody>
      </p:sp>
      <p:sp>
        <p:nvSpPr>
          <p:cNvPr id="30" name="Shape 26"/>
          <p:cNvSpPr/>
          <p:nvPr/>
        </p:nvSpPr>
        <p:spPr>
          <a:xfrm>
            <a:off x="4297680" y="3886200"/>
            <a:ext cx="3611880" cy="2194560"/>
          </a:xfrm>
          <a:prstGeom prst="roundRect">
            <a:avLst>
              <a:gd name="adj" fmla="val 5000"/>
            </a:avLst>
          </a:prstGeom>
          <a:solidFill>
            <a:srgbClr val="EEF1F6"/>
          </a:solidFill>
          <a:ln w="12700">
            <a:solidFill>
              <a:srgbClr val="EEF1F6"/>
            </a:solidFill>
            <a:prstDash val="solid"/>
          </a:ln>
        </p:spPr>
      </p:sp>
      <p:sp>
        <p:nvSpPr>
          <p:cNvPr id="31" name="Shape 27"/>
          <p:cNvSpPr/>
          <p:nvPr/>
        </p:nvSpPr>
        <p:spPr>
          <a:xfrm>
            <a:off x="4526280" y="4114800"/>
            <a:ext cx="566928" cy="566928"/>
          </a:xfrm>
          <a:prstGeom prst="ellipse">
            <a:avLst/>
          </a:prstGeom>
          <a:solidFill>
            <a:srgbClr val="14213D"/>
          </a:solidFill>
          <a:ln w="12700">
            <a:solidFill>
              <a:srgbClr val="14213D"/>
            </a:solidFill>
            <a:prstDash val="solid"/>
          </a:ln>
        </p:spPr>
      </p:sp>
      <p:pic>
        <p:nvPicPr>
          <p:cNvPr id="32" name="Image 1" descr="preencoded.png">    </p:cNvPr>
          <p:cNvPicPr>
            <a:picLocks noChangeAspect="1"/>
          </p:cNvPicPr>
          <p:nvPr/>
        </p:nvPicPr>
        <p:blipFill>
          <a:blip r:embed="rId2"/>
          <a:stretch>
            <a:fillRect/>
          </a:stretch>
        </p:blipFill>
        <p:spPr>
          <a:xfrm>
            <a:off x="4673681" y="4262201"/>
            <a:ext cx="272125" cy="272125"/>
          </a:xfrm>
          <a:prstGeom prst="rect">
            <a:avLst/>
          </a:prstGeom>
        </p:spPr>
      </p:pic>
      <p:sp>
        <p:nvSpPr>
          <p:cNvPr id="33" name="Text 28"/>
          <p:cNvSpPr txBox="1"/>
          <p:nvPr/>
        </p:nvSpPr>
        <p:spPr>
          <a:xfrm>
            <a:off x="5212080" y="4114800"/>
            <a:ext cx="251460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Outer counts down</a:t>
            </a:r>
            <a:endParaRPr lang="en-US" sz="1700" dirty="0"/>
          </a:p>
        </p:txBody>
      </p:sp>
      <p:sp>
        <p:nvSpPr>
          <p:cNvPr id="34" name="Text 29"/>
          <p:cNvSpPr txBox="1"/>
          <p:nvPr/>
        </p:nvSpPr>
        <p:spPr>
          <a:xfrm>
            <a:off x="4526280" y="4800600"/>
            <a:ext cx="3154680" cy="1143000"/>
          </a:xfrm>
          <a:prstGeom prst="rect">
            <a:avLst/>
          </a:prstGeom>
          <a:noFill/>
          <a:ln/>
        </p:spPr>
        <p:txBody>
          <a:bodyPr wrap="square" lIns="0" tIns="0" rIns="0" bIns="0" rtlCol="0" anchor="t"/>
          <a:lstStyle/>
          <a:p>
            <a:pPr indent="0" marL="0">
              <a:buNone/>
            </a:pPr>
            <a:r>
              <a:rPr lang="en-US" sz="1400" dirty="0">
                <a:solidFill>
                  <a:srgbClr val="333B4F"/>
                </a:solidFill>
                <a:latin typeface="Calibri" pitchFamily="34" charset="0"/>
                <a:ea typeface="Calibri" pitchFamily="34" charset="-122"/>
                <a:cs typeface="Calibri" pitchFamily="34" charset="-120"/>
              </a:rPr>
              <a:t>i = 3, 2, 1: the rows get shorter.</a:t>
            </a:r>
            <a:endParaRPr lang="en-US" sz="1400" dirty="0"/>
          </a:p>
        </p:txBody>
      </p:sp>
      <p:sp>
        <p:nvSpPr>
          <p:cNvPr id="35" name="Shape 30"/>
          <p:cNvSpPr/>
          <p:nvPr/>
        </p:nvSpPr>
        <p:spPr>
          <a:xfrm>
            <a:off x="8046720" y="3886200"/>
            <a:ext cx="3611880" cy="2194560"/>
          </a:xfrm>
          <a:prstGeom prst="roundRect">
            <a:avLst>
              <a:gd name="adj" fmla="val 5000"/>
            </a:avLst>
          </a:prstGeom>
          <a:solidFill>
            <a:srgbClr val="EEF1F6"/>
          </a:solidFill>
          <a:ln w="12700">
            <a:solidFill>
              <a:srgbClr val="EEF1F6"/>
            </a:solidFill>
            <a:prstDash val="solid"/>
          </a:ln>
        </p:spPr>
      </p:sp>
      <p:sp>
        <p:nvSpPr>
          <p:cNvPr id="36" name="Shape 31"/>
          <p:cNvSpPr/>
          <p:nvPr/>
        </p:nvSpPr>
        <p:spPr>
          <a:xfrm>
            <a:off x="8275320" y="4114800"/>
            <a:ext cx="566928" cy="566928"/>
          </a:xfrm>
          <a:prstGeom prst="ellipse">
            <a:avLst/>
          </a:prstGeom>
          <a:solidFill>
            <a:srgbClr val="14213D"/>
          </a:solidFill>
          <a:ln w="12700">
            <a:solidFill>
              <a:srgbClr val="14213D"/>
            </a:solidFill>
            <a:prstDash val="solid"/>
          </a:ln>
        </p:spPr>
      </p:sp>
      <p:pic>
        <p:nvPicPr>
          <p:cNvPr id="37" name="Image 2" descr="preencoded.png">    </p:cNvPr>
          <p:cNvPicPr>
            <a:picLocks noChangeAspect="1"/>
          </p:cNvPicPr>
          <p:nvPr/>
        </p:nvPicPr>
        <p:blipFill>
          <a:blip r:embed="rId3"/>
          <a:stretch>
            <a:fillRect/>
          </a:stretch>
        </p:blipFill>
        <p:spPr>
          <a:xfrm>
            <a:off x="8422721" y="4262201"/>
            <a:ext cx="272125" cy="272125"/>
          </a:xfrm>
          <a:prstGeom prst="rect">
            <a:avLst/>
          </a:prstGeom>
        </p:spPr>
      </p:pic>
      <p:sp>
        <p:nvSpPr>
          <p:cNvPr id="38" name="Text 32"/>
          <p:cNvSpPr txBox="1"/>
          <p:nvPr/>
        </p:nvSpPr>
        <p:spPr>
          <a:xfrm>
            <a:off x="8961120" y="4114800"/>
            <a:ext cx="251460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Parity of i + j</a:t>
            </a:r>
            <a:endParaRPr lang="en-US" sz="1700" dirty="0"/>
          </a:p>
        </p:txBody>
      </p:sp>
      <p:sp>
        <p:nvSpPr>
          <p:cNvPr id="39" name="Text 33"/>
          <p:cNvSpPr txBox="1"/>
          <p:nvPr/>
        </p:nvSpPr>
        <p:spPr>
          <a:xfrm>
            <a:off x="8275320" y="4800600"/>
            <a:ext cx="3154680" cy="1143000"/>
          </a:xfrm>
          <a:prstGeom prst="rect">
            <a:avLst/>
          </a:prstGeom>
          <a:noFill/>
          <a:ln/>
        </p:spPr>
        <p:txBody>
          <a:bodyPr wrap="square" lIns="0" tIns="0" rIns="0" bIns="0" rtlCol="0" anchor="t"/>
          <a:lstStyle/>
          <a:p>
            <a:pPr indent="0" marL="0">
              <a:buNone/>
            </a:pPr>
            <a:r>
              <a:rPr lang="en-US" sz="1400" dirty="0">
                <a:solidFill>
                  <a:srgbClr val="333B4F"/>
                </a:solidFill>
                <a:latin typeface="Calibri" pitchFamily="34" charset="0"/>
                <a:ea typeface="Calibri" pitchFamily="34" charset="-122"/>
                <a:cs typeface="Calibri" pitchFamily="34" charset="-120"/>
              </a:rPr>
              <a:t>Even → #, odd → . gives a 4 × 4 checkerboard.</a:t>
            </a:r>
            <a:endParaRPr lang="en-US" sz="1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548640" y="1463040"/>
            <a:ext cx="2743200" cy="1280160"/>
          </a:xfrm>
          <a:prstGeom prst="rect">
            <a:avLst/>
          </a:prstGeom>
          <a:noFill/>
          <a:ln/>
        </p:spPr>
        <p:txBody>
          <a:bodyPr wrap="square" lIns="0" tIns="0" rIns="0" bIns="0" rtlCol="0" anchor="ctr"/>
          <a:lstStyle/>
          <a:p>
            <a:pPr indent="0" marL="0">
              <a:buNone/>
            </a:pPr>
            <a:r>
              <a:rPr lang="en-US" sz="8800" b="1" dirty="0">
                <a:solidFill>
                  <a:srgbClr val="FCA311"/>
                </a:solidFill>
                <a:latin typeface="Courier New" pitchFamily="34" charset="0"/>
                <a:ea typeface="Courier New" pitchFamily="34" charset="-122"/>
                <a:cs typeface="Courier New" pitchFamily="34" charset="-120"/>
              </a:rPr>
              <a:t>&gt;_</a:t>
            </a:r>
            <a:endParaRPr lang="en-US" sz="8800" dirty="0"/>
          </a:p>
        </p:txBody>
      </p:sp>
      <p:sp>
        <p:nvSpPr>
          <p:cNvPr id="3" name="Text 1"/>
          <p:cNvSpPr txBox="1"/>
          <p:nvPr/>
        </p:nvSpPr>
        <p:spPr>
          <a:xfrm>
            <a:off x="548640" y="2926080"/>
            <a:ext cx="5486400" cy="365760"/>
          </a:xfrm>
          <a:prstGeom prst="rect">
            <a:avLst/>
          </a:prstGeom>
          <a:noFill/>
          <a:ln/>
        </p:spPr>
        <p:txBody>
          <a:bodyPr wrap="square" lIns="0" tIns="0" rIns="0" bIns="0" rtlCol="0" anchor="ctr"/>
          <a:lstStyle/>
          <a:p>
            <a:pPr indent="0" marL="0">
              <a:buNone/>
            </a:pPr>
            <a:r>
              <a:rPr lang="en-US" sz="1600" spc="400" kern="0" dirty="0">
                <a:solidFill>
                  <a:srgbClr val="8A94AB"/>
                </a:solidFill>
                <a:latin typeface="Courier New" pitchFamily="34" charset="0"/>
                <a:ea typeface="Courier New" pitchFamily="34" charset="-122"/>
                <a:cs typeface="Courier New" pitchFamily="34" charset="-120"/>
              </a:rPr>
              <a:t>PART 4</a:t>
            </a:r>
            <a:endParaRPr lang="en-US" sz="1600" dirty="0"/>
          </a:p>
        </p:txBody>
      </p:sp>
      <p:sp>
        <p:nvSpPr>
          <p:cNvPr id="4" name="Text 2"/>
          <p:cNvSpPr txBox="1"/>
          <p:nvPr/>
        </p:nvSpPr>
        <p:spPr>
          <a:xfrm>
            <a:off x="548640" y="3337560"/>
            <a:ext cx="10515600" cy="914400"/>
          </a:xfrm>
          <a:prstGeom prst="rect">
            <a:avLst/>
          </a:prstGeom>
          <a:noFill/>
          <a:ln/>
        </p:spPr>
        <p:txBody>
          <a:bodyPr wrap="square" lIns="0" tIns="0" rIns="0" bIns="0" rtlCol="0" anchor="ctr">
            <a:normAutofit/>
          </a:bodyPr>
          <a:lstStyle/>
          <a:p>
            <a:pPr indent="0" marL="0">
              <a:buNone/>
            </a:pPr>
            <a:r>
              <a:rPr lang="en-US" sz="4200" b="1" dirty="0">
                <a:solidFill>
                  <a:srgbClr val="FFFFFF"/>
                </a:solidFill>
                <a:latin typeface="Cambria" pitchFamily="34" charset="0"/>
                <a:ea typeface="Cambria" pitchFamily="34" charset="-122"/>
                <a:cs typeface="Cambria" pitchFamily="34" charset="-120"/>
              </a:rPr>
              <a:t>break, continue and Classic Algorithms</a:t>
            </a:r>
            <a:endParaRPr lang="en-US" sz="4200" dirty="0"/>
          </a:p>
        </p:txBody>
      </p:sp>
      <p:sp>
        <p:nvSpPr>
          <p:cNvPr id="5" name="Text 3"/>
          <p:cNvSpPr txBox="1"/>
          <p:nvPr/>
        </p:nvSpPr>
        <p:spPr>
          <a:xfrm>
            <a:off x="548640" y="4343400"/>
            <a:ext cx="10515600" cy="548640"/>
          </a:xfrm>
          <a:prstGeom prst="rect">
            <a:avLst/>
          </a:prstGeom>
          <a:noFill/>
          <a:ln/>
        </p:spPr>
        <p:txBody>
          <a:bodyPr wrap="square" lIns="0" tIns="0" rIns="0" bIns="0" rtlCol="0" anchor="ctr"/>
          <a:lstStyle/>
          <a:p>
            <a:pPr indent="0" marL="0">
              <a:buNone/>
            </a:pPr>
            <a:r>
              <a:rPr lang="en-US" sz="1800" dirty="0">
                <a:solidFill>
                  <a:srgbClr val="C7CEDC"/>
                </a:solidFill>
                <a:latin typeface="Calibri" pitchFamily="34" charset="0"/>
                <a:ea typeface="Calibri" pitchFamily="34" charset="-122"/>
                <a:cs typeface="Calibri" pitchFamily="34" charset="-120"/>
              </a:rPr>
              <a:t>Leaving early, skipping a pass, primes, FizzBuzz, and the classic mistakes</a:t>
            </a:r>
            <a:endParaRPr lang="en-US" sz="1800" dirty="0"/>
          </a:p>
        </p:txBody>
      </p:sp>
      <p:sp>
        <p:nvSpPr>
          <p:cNvPr id="6" name="Text 4"/>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8A94AB"/>
                </a:solidFill>
                <a:latin typeface="Calibri" pitchFamily="34" charset="0"/>
                <a:ea typeface="Calibri" pitchFamily="34" charset="-122"/>
                <a:cs typeface="Calibri" pitchFamily="34" charset="-120"/>
              </a:rPr>
              <a:t>MCMP113  ·  Week 6</a:t>
            </a:r>
            <a:endParaRPr lang="en-US" sz="1000" dirty="0"/>
          </a:p>
        </p:txBody>
      </p:sp>
      <p:sp>
        <p:nvSpPr>
          <p:cNvPr id="7" name="Text 5"/>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8A94AB"/>
                </a:solidFill>
                <a:latin typeface="Calibri" pitchFamily="34" charset="0"/>
                <a:ea typeface="Calibri" pitchFamily="34" charset="-122"/>
                <a:cs typeface="Calibri" pitchFamily="34" charset="-120"/>
              </a:rPr>
              <a:t>29</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EXAMPLE 7 · BREAKCONTINUE</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break Leaves the Loop, continue Skips One Pass</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6</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30</a:t>
            </a:r>
            <a:endParaRPr lang="en-US" sz="1000" dirty="0"/>
          </a:p>
        </p:txBody>
      </p:sp>
      <p:sp>
        <p:nvSpPr>
          <p:cNvPr id="7" name="Shape 4"/>
          <p:cNvSpPr/>
          <p:nvPr/>
        </p:nvSpPr>
        <p:spPr>
          <a:xfrm>
            <a:off x="548640" y="1645920"/>
            <a:ext cx="6583680" cy="4434840"/>
          </a:xfrm>
          <a:prstGeom prst="roundRect">
            <a:avLst>
              <a:gd name="adj" fmla="val 2062"/>
            </a:avLst>
          </a:prstGeom>
          <a:solidFill>
            <a:srgbClr val="0F1729"/>
          </a:solidFill>
          <a:ln w="12700">
            <a:solidFill>
              <a:srgbClr val="0F1729"/>
            </a:solidFill>
            <a:prstDash val="solid"/>
          </a:ln>
        </p:spPr>
      </p:sp>
      <p:sp>
        <p:nvSpPr>
          <p:cNvPr id="8" name="Text 5"/>
          <p:cNvSpPr txBox="1"/>
          <p:nvPr/>
        </p:nvSpPr>
        <p:spPr>
          <a:xfrm>
            <a:off x="777240" y="1755648"/>
            <a:ext cx="612648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06_07_BreakContinue/Program.cs (part 2)</a:t>
            </a:r>
            <a:endParaRPr lang="en-US" sz="1100" dirty="0"/>
          </a:p>
        </p:txBody>
      </p:sp>
      <p:sp>
        <p:nvSpPr>
          <p:cNvPr id="9" name="Text 6"/>
          <p:cNvSpPr txBox="1"/>
          <p:nvPr/>
        </p:nvSpPr>
        <p:spPr>
          <a:xfrm>
            <a:off x="777240" y="2057400"/>
            <a:ext cx="6126480" cy="3913632"/>
          </a:xfrm>
          <a:prstGeom prst="rect">
            <a:avLst/>
          </a:prstGeom>
          <a:noFill/>
          <a:ln/>
        </p:spPr>
        <p:txBody>
          <a:bodyPr wrap="square" lIns="0" tIns="0" rIns="0" bIns="0" rtlCol="0" anchor="t"/>
          <a:lstStyle/>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sum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used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for</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k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k &lt;=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k++)</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$"Number {k} (0 = stop): "</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x =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.Parse(</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.ReadLine());</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if</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(x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break</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F8BA3"/>
                </a:solidFill>
                <a:latin typeface="Courier New" pitchFamily="34" charset="0"/>
                <a:ea typeface="Courier New" pitchFamily="34" charset="-122"/>
                <a:cs typeface="Courier New" pitchFamily="34" charset="-120"/>
              </a:rPr>
              <a:t>// leave the loop immediately</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if</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(x &lt;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  negative -&gt; skipped"</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continue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F8BA3"/>
                </a:solidFill>
                <a:latin typeface="Courier New" pitchFamily="34" charset="0"/>
                <a:ea typeface="Courier New" pitchFamily="34" charset="-122"/>
                <a:cs typeface="Courier New" pitchFamily="34" charset="-120"/>
              </a:rPr>
              <a:t>// go on with the next k</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sum += x;</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used++;</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$"Sum of {used} positive numbers = {sum}"</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10" name="Shape 7"/>
          <p:cNvSpPr/>
          <p:nvPr/>
        </p:nvSpPr>
        <p:spPr>
          <a:xfrm>
            <a:off x="7360920" y="1645920"/>
            <a:ext cx="4297680" cy="1097280"/>
          </a:xfrm>
          <a:prstGeom prst="roundRect">
            <a:avLst>
              <a:gd name="adj" fmla="val 10000"/>
            </a:avLst>
          </a:prstGeom>
          <a:solidFill>
            <a:srgbClr val="EEF1F6"/>
          </a:solidFill>
          <a:ln w="12700">
            <a:solidFill>
              <a:srgbClr val="EEF1F6"/>
            </a:solidFill>
            <a:prstDash val="solid"/>
          </a:ln>
        </p:spPr>
      </p:sp>
      <p:sp>
        <p:nvSpPr>
          <p:cNvPr id="11" name="Shape 8"/>
          <p:cNvSpPr/>
          <p:nvPr/>
        </p:nvSpPr>
        <p:spPr>
          <a:xfrm>
            <a:off x="7543800" y="1911096"/>
            <a:ext cx="566928" cy="566928"/>
          </a:xfrm>
          <a:prstGeom prst="ellipse">
            <a:avLst/>
          </a:prstGeom>
          <a:solidFill>
            <a:srgbClr val="C8453B"/>
          </a:solidFill>
          <a:ln w="12700">
            <a:solidFill>
              <a:srgbClr val="C8453B"/>
            </a:solidFill>
            <a:prstDash val="solid"/>
          </a:ln>
        </p:spPr>
      </p:sp>
      <p:pic>
        <p:nvPicPr>
          <p:cNvPr id="12" name="Image 0" descr="preencoded.png">    </p:cNvPr>
          <p:cNvPicPr>
            <a:picLocks noChangeAspect="1"/>
          </p:cNvPicPr>
          <p:nvPr/>
        </p:nvPicPr>
        <p:blipFill>
          <a:blip r:embed="rId1"/>
          <a:stretch>
            <a:fillRect/>
          </a:stretch>
        </p:blipFill>
        <p:spPr>
          <a:xfrm>
            <a:off x="7691201" y="2058497"/>
            <a:ext cx="272125" cy="272125"/>
          </a:xfrm>
          <a:prstGeom prst="rect">
            <a:avLst/>
          </a:prstGeom>
        </p:spPr>
      </p:pic>
      <p:sp>
        <p:nvSpPr>
          <p:cNvPr id="13" name="Text 9"/>
          <p:cNvSpPr txBox="1"/>
          <p:nvPr/>
        </p:nvSpPr>
        <p:spPr>
          <a:xfrm>
            <a:off x="8275320" y="1737360"/>
            <a:ext cx="3246120" cy="914400"/>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break</a:t>
            </a:r>
            <a:endParaRPr lang="en-US" sz="1700" dirty="0"/>
          </a:p>
          <a:p>
            <a:pPr indent="0" marL="0">
              <a:buNone/>
            </a:pPr>
            <a:r>
              <a:rPr lang="en-US" sz="1400" dirty="0">
                <a:solidFill>
                  <a:srgbClr val="333B4F"/>
                </a:solidFill>
                <a:latin typeface="Calibri" pitchFamily="34" charset="0"/>
                <a:ea typeface="Calibri" pitchFamily="34" charset="-122"/>
                <a:cs typeface="Calibri" pitchFamily="34" charset="-120"/>
              </a:rPr>
              <a:t>Leaves the loop immediately.</a:t>
            </a:r>
            <a:endParaRPr lang="en-US" sz="1700" dirty="0"/>
          </a:p>
        </p:txBody>
      </p:sp>
      <p:sp>
        <p:nvSpPr>
          <p:cNvPr id="14" name="Shape 10"/>
          <p:cNvSpPr/>
          <p:nvPr/>
        </p:nvSpPr>
        <p:spPr>
          <a:xfrm>
            <a:off x="7360920" y="2834640"/>
            <a:ext cx="4297680" cy="1097280"/>
          </a:xfrm>
          <a:prstGeom prst="roundRect">
            <a:avLst>
              <a:gd name="adj" fmla="val 10000"/>
            </a:avLst>
          </a:prstGeom>
          <a:solidFill>
            <a:srgbClr val="EEF1F6"/>
          </a:solidFill>
          <a:ln w="12700">
            <a:solidFill>
              <a:srgbClr val="EEF1F6"/>
            </a:solidFill>
            <a:prstDash val="solid"/>
          </a:ln>
        </p:spPr>
      </p:sp>
      <p:sp>
        <p:nvSpPr>
          <p:cNvPr id="15" name="Shape 11"/>
          <p:cNvSpPr/>
          <p:nvPr/>
        </p:nvSpPr>
        <p:spPr>
          <a:xfrm>
            <a:off x="7543800" y="3099816"/>
            <a:ext cx="566928" cy="566928"/>
          </a:xfrm>
          <a:prstGeom prst="ellipse">
            <a:avLst/>
          </a:prstGeom>
          <a:solidFill>
            <a:srgbClr val="2E9E6A"/>
          </a:solidFill>
          <a:ln w="12700">
            <a:solidFill>
              <a:srgbClr val="2E9E6A"/>
            </a:solidFill>
            <a:prstDash val="solid"/>
          </a:ln>
        </p:spPr>
      </p:sp>
      <p:pic>
        <p:nvPicPr>
          <p:cNvPr id="16" name="Image 1" descr="preencoded.png">    </p:cNvPr>
          <p:cNvPicPr>
            <a:picLocks noChangeAspect="1"/>
          </p:cNvPicPr>
          <p:nvPr/>
        </p:nvPicPr>
        <p:blipFill>
          <a:blip r:embed="rId2"/>
          <a:stretch>
            <a:fillRect/>
          </a:stretch>
        </p:blipFill>
        <p:spPr>
          <a:xfrm>
            <a:off x="7691201" y="3247217"/>
            <a:ext cx="272125" cy="272125"/>
          </a:xfrm>
          <a:prstGeom prst="rect">
            <a:avLst/>
          </a:prstGeom>
        </p:spPr>
      </p:pic>
      <p:sp>
        <p:nvSpPr>
          <p:cNvPr id="17" name="Text 12"/>
          <p:cNvSpPr txBox="1"/>
          <p:nvPr/>
        </p:nvSpPr>
        <p:spPr>
          <a:xfrm>
            <a:off x="8275320" y="2926080"/>
            <a:ext cx="3246120" cy="914400"/>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continue</a:t>
            </a:r>
            <a:endParaRPr lang="en-US" sz="1700" dirty="0"/>
          </a:p>
          <a:p>
            <a:pPr indent="0" marL="0">
              <a:buNone/>
            </a:pPr>
            <a:r>
              <a:rPr lang="en-US" sz="1400" dirty="0">
                <a:solidFill>
                  <a:srgbClr val="333B4F"/>
                </a:solidFill>
                <a:latin typeface="Calibri" pitchFamily="34" charset="0"/>
                <a:ea typeface="Calibri" pitchFamily="34" charset="-122"/>
                <a:cs typeface="Calibri" pitchFamily="34" charset="-120"/>
              </a:rPr>
              <a:t>Skips to the update, then the next test.</a:t>
            </a:r>
            <a:endParaRPr lang="en-US" sz="1700" dirty="0"/>
          </a:p>
        </p:txBody>
      </p:sp>
      <p:sp>
        <p:nvSpPr>
          <p:cNvPr id="18" name="Shape 13"/>
          <p:cNvSpPr/>
          <p:nvPr/>
        </p:nvSpPr>
        <p:spPr>
          <a:xfrm>
            <a:off x="7360920" y="4023360"/>
            <a:ext cx="4297680" cy="2057400"/>
          </a:xfrm>
          <a:prstGeom prst="roundRect">
            <a:avLst>
              <a:gd name="adj" fmla="val 4444"/>
            </a:avLst>
          </a:prstGeom>
          <a:solidFill>
            <a:srgbClr val="0B0F19"/>
          </a:solidFill>
          <a:ln w="12700">
            <a:solidFill>
              <a:srgbClr val="2A3654"/>
            </a:solidFill>
            <a:prstDash val="solid"/>
          </a:ln>
        </p:spPr>
      </p:sp>
      <p:sp>
        <p:nvSpPr>
          <p:cNvPr id="19" name="Shape 14"/>
          <p:cNvSpPr/>
          <p:nvPr/>
        </p:nvSpPr>
        <p:spPr>
          <a:xfrm>
            <a:off x="7543800" y="4151376"/>
            <a:ext cx="118872" cy="118872"/>
          </a:xfrm>
          <a:prstGeom prst="ellipse">
            <a:avLst/>
          </a:prstGeom>
          <a:solidFill>
            <a:srgbClr val="FF5F57"/>
          </a:solidFill>
          <a:ln w="12700">
            <a:solidFill>
              <a:srgbClr val="FF5F57"/>
            </a:solidFill>
            <a:prstDash val="solid"/>
          </a:ln>
        </p:spPr>
      </p:sp>
      <p:sp>
        <p:nvSpPr>
          <p:cNvPr id="20" name="Shape 15"/>
          <p:cNvSpPr/>
          <p:nvPr/>
        </p:nvSpPr>
        <p:spPr>
          <a:xfrm>
            <a:off x="7772400" y="4151376"/>
            <a:ext cx="118872" cy="118872"/>
          </a:xfrm>
          <a:prstGeom prst="ellipse">
            <a:avLst/>
          </a:prstGeom>
          <a:solidFill>
            <a:srgbClr val="FEBC2E"/>
          </a:solidFill>
          <a:ln w="12700">
            <a:solidFill>
              <a:srgbClr val="FEBC2E"/>
            </a:solidFill>
            <a:prstDash val="solid"/>
          </a:ln>
        </p:spPr>
      </p:sp>
      <p:sp>
        <p:nvSpPr>
          <p:cNvPr id="21" name="Shape 16"/>
          <p:cNvSpPr/>
          <p:nvPr/>
        </p:nvSpPr>
        <p:spPr>
          <a:xfrm>
            <a:off x="8001000" y="4151376"/>
            <a:ext cx="118872" cy="118872"/>
          </a:xfrm>
          <a:prstGeom prst="ellipse">
            <a:avLst/>
          </a:prstGeom>
          <a:solidFill>
            <a:srgbClr val="28C840"/>
          </a:solidFill>
          <a:ln w="12700">
            <a:solidFill>
              <a:srgbClr val="28C840"/>
            </a:solidFill>
            <a:prstDash val="solid"/>
          </a:ln>
        </p:spPr>
      </p:sp>
      <p:sp>
        <p:nvSpPr>
          <p:cNvPr id="22" name="Text 17"/>
          <p:cNvSpPr txBox="1"/>
          <p:nvPr/>
        </p:nvSpPr>
        <p:spPr>
          <a:xfrm>
            <a:off x="8275320" y="4096512"/>
            <a:ext cx="320040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Console</a:t>
            </a:r>
            <a:endParaRPr lang="en-US" sz="1000" dirty="0"/>
          </a:p>
        </p:txBody>
      </p:sp>
      <p:sp>
        <p:nvSpPr>
          <p:cNvPr id="23" name="Text 18"/>
          <p:cNvSpPr txBox="1"/>
          <p:nvPr/>
        </p:nvSpPr>
        <p:spPr>
          <a:xfrm>
            <a:off x="7589520" y="4407408"/>
            <a:ext cx="3840480" cy="1554480"/>
          </a:xfrm>
          <a:prstGeom prst="rect">
            <a:avLst/>
          </a:prstGeom>
          <a:noFill/>
          <a:ln/>
        </p:spPr>
        <p:txBody>
          <a:bodyPr wrap="square" lIns="0" tIns="0" rIns="0" bIns="0" rtlCol="0" anchor="t"/>
          <a:lstStyle/>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1 2 4 5 7 8 10 11 13 14</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Number 1 (0 = stop): </a:t>
            </a:r>
            <a:pPr indent="0" marL="0">
              <a:spcAft>
                <a:spcPts val="100"/>
              </a:spcAft>
              <a:buNone/>
            </a:pPr>
            <a:r>
              <a:rPr lang="en-US" sz="1200" b="1" dirty="0">
                <a:solidFill>
                  <a:srgbClr val="FCA311"/>
                </a:solidFill>
                <a:latin typeface="Courier New" pitchFamily="34" charset="0"/>
                <a:ea typeface="Courier New" pitchFamily="34" charset="-122"/>
                <a:cs typeface="Courier New" pitchFamily="34" charset="-120"/>
              </a:rPr>
              <a:t>8</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Number 2 (0 = stop): </a:t>
            </a:r>
            <a:pPr indent="0" marL="0">
              <a:spcAft>
                <a:spcPts val="100"/>
              </a:spcAft>
              <a:buNone/>
            </a:pPr>
            <a:r>
              <a:rPr lang="en-US" sz="1200" b="1" dirty="0">
                <a:solidFill>
                  <a:srgbClr val="FCA311"/>
                </a:solidFill>
                <a:latin typeface="Courier New" pitchFamily="34" charset="0"/>
                <a:ea typeface="Courier New" pitchFamily="34" charset="-122"/>
                <a:cs typeface="Courier New" pitchFamily="34" charset="-120"/>
              </a:rPr>
              <a:t>-3</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  negative -&gt; skipped</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Number 3 (0 = stop): </a:t>
            </a:r>
            <a:pPr indent="0" marL="0">
              <a:spcAft>
                <a:spcPts val="100"/>
              </a:spcAft>
              <a:buNone/>
            </a:pPr>
            <a:r>
              <a:rPr lang="en-US" sz="1200" b="1" dirty="0">
                <a:solidFill>
                  <a:srgbClr val="FCA311"/>
                </a:solidFill>
                <a:latin typeface="Courier New" pitchFamily="34" charset="0"/>
                <a:ea typeface="Courier New" pitchFamily="34" charset="-122"/>
                <a:cs typeface="Courier New" pitchFamily="34" charset="-120"/>
              </a:rPr>
              <a:t>12</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Number 4 (0 = stop): </a:t>
            </a:r>
            <a:pPr indent="0" marL="0">
              <a:spcAft>
                <a:spcPts val="100"/>
              </a:spcAft>
              <a:buNone/>
            </a:pPr>
            <a:r>
              <a:rPr lang="en-US" sz="1200" b="1" dirty="0">
                <a:solidFill>
                  <a:srgbClr val="FCA311"/>
                </a:solidFill>
                <a:latin typeface="Courier New" pitchFamily="34" charset="0"/>
                <a:ea typeface="Courier New" pitchFamily="34" charset="-122"/>
                <a:cs typeface="Courier New" pitchFamily="34" charset="-120"/>
              </a:rPr>
              <a:t>5</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Number 5 (0 = stop): </a:t>
            </a:r>
            <a:pPr indent="0" marL="0">
              <a:spcAft>
                <a:spcPts val="100"/>
              </a:spcAft>
              <a:buNone/>
            </a:pPr>
            <a:r>
              <a:rPr lang="en-US" sz="1200" b="1" dirty="0">
                <a:solidFill>
                  <a:srgbClr val="FCA311"/>
                </a:solidFill>
                <a:latin typeface="Courier New" pitchFamily="34" charset="0"/>
                <a:ea typeface="Courier New" pitchFamily="34" charset="-122"/>
                <a:cs typeface="Courier New" pitchFamily="34" charset="-120"/>
              </a:rPr>
              <a:t>0</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Sum of 3 positive numbers = 25</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EXAMPLE 8 · PRIMETEST</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Prime Test: Search for a Divisor, Stop at the First</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6</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31</a:t>
            </a:r>
            <a:endParaRPr lang="en-US" sz="1000" dirty="0"/>
          </a:p>
        </p:txBody>
      </p:sp>
      <p:sp>
        <p:nvSpPr>
          <p:cNvPr id="7" name="Shape 4"/>
          <p:cNvSpPr/>
          <p:nvPr/>
        </p:nvSpPr>
        <p:spPr>
          <a:xfrm>
            <a:off x="548640" y="1645920"/>
            <a:ext cx="4572000" cy="1874520"/>
          </a:xfrm>
          <a:prstGeom prst="roundRect">
            <a:avLst>
              <a:gd name="adj" fmla="val 5854"/>
            </a:avLst>
          </a:prstGeom>
          <a:solidFill>
            <a:srgbClr val="EEF1F6"/>
          </a:solidFill>
          <a:ln w="12700">
            <a:solidFill>
              <a:srgbClr val="EEF1F6"/>
            </a:solidFill>
            <a:prstDash val="solid"/>
          </a:ln>
        </p:spPr>
      </p:sp>
      <p:sp>
        <p:nvSpPr>
          <p:cNvPr id="8" name="Text 5"/>
          <p:cNvSpPr txBox="1"/>
          <p:nvPr/>
        </p:nvSpPr>
        <p:spPr>
          <a:xfrm>
            <a:off x="777240" y="1737360"/>
            <a:ext cx="4206240" cy="365760"/>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Why only up to √n?</a:t>
            </a:r>
            <a:endParaRPr lang="en-US" sz="1700" dirty="0"/>
          </a:p>
        </p:txBody>
      </p:sp>
      <p:sp>
        <p:nvSpPr>
          <p:cNvPr id="9" name="Text 6"/>
          <p:cNvSpPr txBox="1"/>
          <p:nvPr/>
        </p:nvSpPr>
        <p:spPr>
          <a:xfrm>
            <a:off x="777240" y="2103120"/>
            <a:ext cx="4206240" cy="1371600"/>
          </a:xfrm>
          <a:prstGeom prst="rect">
            <a:avLst/>
          </a:prstGeom>
          <a:noFill/>
          <a:ln/>
        </p:spPr>
        <p:txBody>
          <a:bodyPr wrap="square" lIns="0" tIns="0" rIns="0" bIns="0" rtlCol="0" anchor="ctr"/>
          <a:lstStyle/>
          <a:p>
            <a:pPr indent="0" marL="0">
              <a:buNone/>
            </a:pPr>
            <a:r>
              <a:rPr lang="en-US" sz="1400" dirty="0">
                <a:solidFill>
                  <a:srgbClr val="333B4F"/>
                </a:solidFill>
                <a:latin typeface="Calibri" pitchFamily="34" charset="0"/>
                <a:ea typeface="Calibri" pitchFamily="34" charset="-122"/>
                <a:cs typeface="Calibri" pitchFamily="34" charset="-120"/>
              </a:rPr>
              <a:t>Divisor pairs of 36:</a:t>
            </a:r>
            <a:endParaRPr lang="en-US" sz="1400" dirty="0"/>
          </a:p>
          <a:p>
            <a:pPr indent="0" marL="0">
              <a:buNone/>
            </a:pPr>
            <a:r>
              <a:rPr lang="en-US" sz="1400" b="1" dirty="0">
                <a:solidFill>
                  <a:srgbClr val="14213D"/>
                </a:solidFill>
                <a:latin typeface="Courier New" pitchFamily="34" charset="0"/>
                <a:ea typeface="Courier New" pitchFamily="34" charset="-122"/>
                <a:cs typeface="Courier New" pitchFamily="34" charset="-120"/>
              </a:rPr>
              <a:t>1·36  2·18  3·12  4·9  6·6</a:t>
            </a:r>
            <a:endParaRPr lang="en-US" sz="1400" dirty="0"/>
          </a:p>
          <a:p>
            <a:pPr indent="0" marL="0">
              <a:buNone/>
            </a:pPr>
            <a:r>
              <a:rPr lang="en-US" sz="1400" dirty="0">
                <a:solidFill>
                  <a:srgbClr val="333B4F"/>
                </a:solidFill>
                <a:latin typeface="Calibri" pitchFamily="34" charset="0"/>
                <a:ea typeface="Calibri" pitchFamily="34" charset="-122"/>
                <a:cs typeface="Calibri" pitchFamily="34" charset="-120"/>
              </a:rPr>
              <a:t>One partner of every pair is ≤ √36 = 6. For n = 1 000 003: 999 divisions instead of about a million.</a:t>
            </a:r>
            <a:endParaRPr lang="en-US" sz="1400" dirty="0"/>
          </a:p>
        </p:txBody>
      </p:sp>
      <p:sp>
        <p:nvSpPr>
          <p:cNvPr id="10" name="Shape 7"/>
          <p:cNvSpPr/>
          <p:nvPr/>
        </p:nvSpPr>
        <p:spPr>
          <a:xfrm>
            <a:off x="548640" y="3657600"/>
            <a:ext cx="4572000" cy="1097280"/>
          </a:xfrm>
          <a:prstGeom prst="roundRect">
            <a:avLst>
              <a:gd name="adj" fmla="val 8333"/>
            </a:avLst>
          </a:prstGeom>
          <a:solidFill>
            <a:srgbClr val="0B0F19"/>
          </a:solidFill>
          <a:ln w="12700">
            <a:solidFill>
              <a:srgbClr val="2A3654"/>
            </a:solidFill>
            <a:prstDash val="solid"/>
          </a:ln>
        </p:spPr>
      </p:sp>
      <p:sp>
        <p:nvSpPr>
          <p:cNvPr id="11" name="Shape 8"/>
          <p:cNvSpPr/>
          <p:nvPr/>
        </p:nvSpPr>
        <p:spPr>
          <a:xfrm>
            <a:off x="731520" y="3785616"/>
            <a:ext cx="118872" cy="118872"/>
          </a:xfrm>
          <a:prstGeom prst="ellipse">
            <a:avLst/>
          </a:prstGeom>
          <a:solidFill>
            <a:srgbClr val="FF5F57"/>
          </a:solidFill>
          <a:ln w="12700">
            <a:solidFill>
              <a:srgbClr val="FF5F57"/>
            </a:solidFill>
            <a:prstDash val="solid"/>
          </a:ln>
        </p:spPr>
      </p:sp>
      <p:sp>
        <p:nvSpPr>
          <p:cNvPr id="12" name="Shape 9"/>
          <p:cNvSpPr/>
          <p:nvPr/>
        </p:nvSpPr>
        <p:spPr>
          <a:xfrm>
            <a:off x="960120" y="3785616"/>
            <a:ext cx="118872" cy="118872"/>
          </a:xfrm>
          <a:prstGeom prst="ellipse">
            <a:avLst/>
          </a:prstGeom>
          <a:solidFill>
            <a:srgbClr val="FEBC2E"/>
          </a:solidFill>
          <a:ln w="12700">
            <a:solidFill>
              <a:srgbClr val="FEBC2E"/>
            </a:solidFill>
            <a:prstDash val="solid"/>
          </a:ln>
        </p:spPr>
      </p:sp>
      <p:sp>
        <p:nvSpPr>
          <p:cNvPr id="13" name="Shape 10"/>
          <p:cNvSpPr/>
          <p:nvPr/>
        </p:nvSpPr>
        <p:spPr>
          <a:xfrm>
            <a:off x="1188720" y="3785616"/>
            <a:ext cx="118872" cy="118872"/>
          </a:xfrm>
          <a:prstGeom prst="ellipse">
            <a:avLst/>
          </a:prstGeom>
          <a:solidFill>
            <a:srgbClr val="28C840"/>
          </a:solidFill>
          <a:ln w="12700">
            <a:solidFill>
              <a:srgbClr val="28C840"/>
            </a:solidFill>
            <a:prstDash val="solid"/>
          </a:ln>
        </p:spPr>
      </p:sp>
      <p:sp>
        <p:nvSpPr>
          <p:cNvPr id="14" name="Text 11"/>
          <p:cNvSpPr txBox="1"/>
          <p:nvPr/>
        </p:nvSpPr>
        <p:spPr>
          <a:xfrm>
            <a:off x="1463040" y="3730752"/>
            <a:ext cx="347472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Console</a:t>
            </a:r>
            <a:endParaRPr lang="en-US" sz="1000" dirty="0"/>
          </a:p>
        </p:txBody>
      </p:sp>
      <p:sp>
        <p:nvSpPr>
          <p:cNvPr id="15" name="Text 12"/>
          <p:cNvSpPr txBox="1"/>
          <p:nvPr/>
        </p:nvSpPr>
        <p:spPr>
          <a:xfrm>
            <a:off x="777240" y="4041648"/>
            <a:ext cx="4114800" cy="594360"/>
          </a:xfrm>
          <a:prstGeom prst="rect">
            <a:avLst/>
          </a:prstGeom>
          <a:noFill/>
          <a:ln/>
        </p:spPr>
        <p:txBody>
          <a:bodyPr wrap="square" lIns="0" tIns="0" rIns="0" bIns="0" rtlCol="0" anchor="t"/>
          <a:lstStyle/>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n = </a:t>
            </a:r>
            <a:pPr indent="0" marL="0">
              <a:spcAft>
                <a:spcPts val="100"/>
              </a:spcAft>
              <a:buNone/>
            </a:pPr>
            <a:r>
              <a:rPr lang="en-US" sz="1200" b="1" dirty="0">
                <a:solidFill>
                  <a:srgbClr val="FCA311"/>
                </a:solidFill>
                <a:latin typeface="Courier New" pitchFamily="34" charset="0"/>
                <a:ea typeface="Courier New" pitchFamily="34" charset="-122"/>
                <a:cs typeface="Courier New" pitchFamily="34" charset="-120"/>
              </a:rPr>
              <a:t>97</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97 is prime</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Divisions tried: 8</a:t>
            </a:r>
            <a:endParaRPr lang="en-US" sz="1200" dirty="0"/>
          </a:p>
        </p:txBody>
      </p:sp>
      <p:sp>
        <p:nvSpPr>
          <p:cNvPr id="16" name="Shape 13"/>
          <p:cNvSpPr/>
          <p:nvPr/>
        </p:nvSpPr>
        <p:spPr>
          <a:xfrm>
            <a:off x="548640" y="4846320"/>
            <a:ext cx="4572000" cy="1280160"/>
          </a:xfrm>
          <a:prstGeom prst="roundRect">
            <a:avLst>
              <a:gd name="adj" fmla="val 7143"/>
            </a:avLst>
          </a:prstGeom>
          <a:solidFill>
            <a:srgbClr val="0B0F19"/>
          </a:solidFill>
          <a:ln w="12700">
            <a:solidFill>
              <a:srgbClr val="2A3654"/>
            </a:solidFill>
            <a:prstDash val="solid"/>
          </a:ln>
        </p:spPr>
      </p:sp>
      <p:sp>
        <p:nvSpPr>
          <p:cNvPr id="17" name="Shape 14"/>
          <p:cNvSpPr/>
          <p:nvPr/>
        </p:nvSpPr>
        <p:spPr>
          <a:xfrm>
            <a:off x="731520" y="4974336"/>
            <a:ext cx="118872" cy="118872"/>
          </a:xfrm>
          <a:prstGeom prst="ellipse">
            <a:avLst/>
          </a:prstGeom>
          <a:solidFill>
            <a:srgbClr val="FF5F57"/>
          </a:solidFill>
          <a:ln w="12700">
            <a:solidFill>
              <a:srgbClr val="FF5F57"/>
            </a:solidFill>
            <a:prstDash val="solid"/>
          </a:ln>
        </p:spPr>
      </p:sp>
      <p:sp>
        <p:nvSpPr>
          <p:cNvPr id="18" name="Shape 15"/>
          <p:cNvSpPr/>
          <p:nvPr/>
        </p:nvSpPr>
        <p:spPr>
          <a:xfrm>
            <a:off x="960120" y="4974336"/>
            <a:ext cx="118872" cy="118872"/>
          </a:xfrm>
          <a:prstGeom prst="ellipse">
            <a:avLst/>
          </a:prstGeom>
          <a:solidFill>
            <a:srgbClr val="FEBC2E"/>
          </a:solidFill>
          <a:ln w="12700">
            <a:solidFill>
              <a:srgbClr val="FEBC2E"/>
            </a:solidFill>
            <a:prstDash val="solid"/>
          </a:ln>
        </p:spPr>
      </p:sp>
      <p:sp>
        <p:nvSpPr>
          <p:cNvPr id="19" name="Shape 16"/>
          <p:cNvSpPr/>
          <p:nvPr/>
        </p:nvSpPr>
        <p:spPr>
          <a:xfrm>
            <a:off x="1188720" y="4974336"/>
            <a:ext cx="118872" cy="118872"/>
          </a:xfrm>
          <a:prstGeom prst="ellipse">
            <a:avLst/>
          </a:prstGeom>
          <a:solidFill>
            <a:srgbClr val="28C840"/>
          </a:solidFill>
          <a:ln w="12700">
            <a:solidFill>
              <a:srgbClr val="28C840"/>
            </a:solidFill>
            <a:prstDash val="solid"/>
          </a:ln>
        </p:spPr>
      </p:sp>
      <p:sp>
        <p:nvSpPr>
          <p:cNvPr id="20" name="Text 17"/>
          <p:cNvSpPr txBox="1"/>
          <p:nvPr/>
        </p:nvSpPr>
        <p:spPr>
          <a:xfrm>
            <a:off x="1463040" y="4919472"/>
            <a:ext cx="347472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Console</a:t>
            </a:r>
            <a:endParaRPr lang="en-US" sz="1000" dirty="0"/>
          </a:p>
        </p:txBody>
      </p:sp>
      <p:sp>
        <p:nvSpPr>
          <p:cNvPr id="21" name="Text 18"/>
          <p:cNvSpPr txBox="1"/>
          <p:nvPr/>
        </p:nvSpPr>
        <p:spPr>
          <a:xfrm>
            <a:off x="777240" y="5230368"/>
            <a:ext cx="4114800" cy="777240"/>
          </a:xfrm>
          <a:prstGeom prst="rect">
            <a:avLst/>
          </a:prstGeom>
          <a:noFill/>
          <a:ln/>
        </p:spPr>
        <p:txBody>
          <a:bodyPr wrap="square" lIns="0" tIns="0" rIns="0" bIns="0" rtlCol="0" anchor="t"/>
          <a:lstStyle/>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n = </a:t>
            </a:r>
            <a:pPr indent="0" marL="0">
              <a:spcAft>
                <a:spcPts val="100"/>
              </a:spcAft>
              <a:buNone/>
            </a:pPr>
            <a:r>
              <a:rPr lang="en-US" sz="1200" b="1" dirty="0">
                <a:solidFill>
                  <a:srgbClr val="FCA311"/>
                </a:solidFill>
                <a:latin typeface="Courier New" pitchFamily="34" charset="0"/>
                <a:ea typeface="Courier New" pitchFamily="34" charset="-122"/>
                <a:cs typeface="Courier New" pitchFamily="34" charset="-120"/>
              </a:rPr>
              <a:t>91</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91 = 7 x 13</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91 is not prime</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Divisions tried: 6</a:t>
            </a:r>
            <a:endParaRPr lang="en-US" sz="1200" dirty="0"/>
          </a:p>
        </p:txBody>
      </p:sp>
      <p:sp>
        <p:nvSpPr>
          <p:cNvPr id="22" name="Shape 19"/>
          <p:cNvSpPr/>
          <p:nvPr/>
        </p:nvSpPr>
        <p:spPr>
          <a:xfrm>
            <a:off x="5349240" y="1645920"/>
            <a:ext cx="6309360" cy="4434840"/>
          </a:xfrm>
          <a:prstGeom prst="roundRect">
            <a:avLst>
              <a:gd name="adj" fmla="val 2062"/>
            </a:avLst>
          </a:prstGeom>
          <a:solidFill>
            <a:srgbClr val="0F1729"/>
          </a:solidFill>
          <a:ln w="12700">
            <a:solidFill>
              <a:srgbClr val="0F1729"/>
            </a:solidFill>
            <a:prstDash val="solid"/>
          </a:ln>
        </p:spPr>
      </p:sp>
      <p:sp>
        <p:nvSpPr>
          <p:cNvPr id="23" name="Text 20"/>
          <p:cNvSpPr txBox="1"/>
          <p:nvPr/>
        </p:nvSpPr>
        <p:spPr>
          <a:xfrm>
            <a:off x="5577840" y="1755648"/>
            <a:ext cx="585216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06_08_PrimeTest/Program.cs (excerpt)</a:t>
            </a:r>
            <a:endParaRPr lang="en-US" sz="1100" dirty="0"/>
          </a:p>
        </p:txBody>
      </p:sp>
      <p:sp>
        <p:nvSpPr>
          <p:cNvPr id="24" name="Text 21"/>
          <p:cNvSpPr txBox="1"/>
          <p:nvPr/>
        </p:nvSpPr>
        <p:spPr>
          <a:xfrm>
            <a:off x="5577840" y="2057400"/>
            <a:ext cx="5852160" cy="3913632"/>
          </a:xfrm>
          <a:prstGeom prst="rect">
            <a:avLst/>
          </a:prstGeom>
          <a:noFill/>
          <a:ln/>
        </p:spPr>
        <p:txBody>
          <a:bodyPr wrap="square" lIns="0" tIns="0" rIns="0" bIns="0" rtlCol="0" anchor="t"/>
          <a:lstStyle/>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bool</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isPrime = n &gt;=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2</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F8BA3"/>
                </a:solidFill>
                <a:latin typeface="Courier New" pitchFamily="34" charset="0"/>
                <a:ea typeface="Courier New" pitchFamily="34" charset="-122"/>
                <a:cs typeface="Courier New" pitchFamily="34" charset="-120"/>
              </a:rPr>
              <a:t>// 0, 1, negatives: not prime</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limit =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Math</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.Sqrt(n);  </a:t>
            </a:r>
            <a:pPr indent="0" marL="0">
              <a:spcAft>
                <a:spcPts val="100"/>
              </a:spcAft>
              <a:buNone/>
            </a:pPr>
            <a:r>
              <a:rPr lang="en-US" sz="1200" dirty="0">
                <a:solidFill>
                  <a:srgbClr val="7F8BA3"/>
                </a:solidFill>
                <a:latin typeface="Courier New" pitchFamily="34" charset="0"/>
                <a:ea typeface="Courier New" pitchFamily="34" charset="-122"/>
                <a:cs typeface="Courier New" pitchFamily="34" charset="-120"/>
              </a:rPr>
              <a:t>// largest divisor to test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checks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F8BA3"/>
                </a:solidFill>
                <a:latin typeface="Courier New" pitchFamily="34" charset="0"/>
                <a:ea typeface="Courier New" pitchFamily="34" charset="-122"/>
                <a:cs typeface="Courier New" pitchFamily="34" charset="-120"/>
              </a:rPr>
              <a:t>// divisions tried</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for</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d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2</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d &lt;= limit; d++)</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checks++;</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if</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(n % d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$"{n} = {d} x {n / d}"</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isPrime =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false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break</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F8BA3"/>
                </a:solidFill>
                <a:latin typeface="Courier New" pitchFamily="34" charset="0"/>
                <a:ea typeface="Courier New" pitchFamily="34" charset="-122"/>
                <a:cs typeface="Courier New" pitchFamily="34" charset="-120"/>
              </a:rPr>
              <a:t>// one divisor is enough</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EXAMPLE 9 · PRIMESUPTO</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All Primes up to N: a Search Loop Inside a Counting Loop</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6</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32</a:t>
            </a:r>
            <a:endParaRPr lang="en-US" sz="1000" dirty="0"/>
          </a:p>
        </p:txBody>
      </p:sp>
      <p:sp>
        <p:nvSpPr>
          <p:cNvPr id="7" name="Shape 4"/>
          <p:cNvSpPr/>
          <p:nvPr/>
        </p:nvSpPr>
        <p:spPr>
          <a:xfrm>
            <a:off x="548640" y="1645920"/>
            <a:ext cx="6355080" cy="4434840"/>
          </a:xfrm>
          <a:prstGeom prst="roundRect">
            <a:avLst>
              <a:gd name="adj" fmla="val 2062"/>
            </a:avLst>
          </a:prstGeom>
          <a:solidFill>
            <a:srgbClr val="0F1729"/>
          </a:solidFill>
          <a:ln w="12700">
            <a:solidFill>
              <a:srgbClr val="0F1729"/>
            </a:solidFill>
            <a:prstDash val="solid"/>
          </a:ln>
        </p:spPr>
      </p:sp>
      <p:sp>
        <p:nvSpPr>
          <p:cNvPr id="8" name="Text 5"/>
          <p:cNvSpPr txBox="1"/>
          <p:nvPr/>
        </p:nvSpPr>
        <p:spPr>
          <a:xfrm>
            <a:off x="777240" y="1810512"/>
            <a:ext cx="5897880" cy="4160520"/>
          </a:xfrm>
          <a:prstGeom prst="rect">
            <a:avLst/>
          </a:prstGeom>
          <a:noFill/>
          <a:ln/>
        </p:spPr>
        <p:txBody>
          <a:bodyPr wrap="square" lIns="0" tIns="0" rIns="0" bIns="0" rtlCol="0" anchor="t"/>
          <a:lstStyle/>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for</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n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2</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n &lt;= max; n++)           </a:t>
            </a:r>
            <a:pPr indent="0" marL="0">
              <a:spcAft>
                <a:spcPts val="100"/>
              </a:spcAft>
              <a:buNone/>
            </a:pPr>
            <a:r>
              <a:rPr lang="en-US" sz="1200" dirty="0">
                <a:solidFill>
                  <a:srgbClr val="7F8BA3"/>
                </a:solidFill>
                <a:latin typeface="Courier New" pitchFamily="34" charset="0"/>
                <a:ea typeface="Courier New" pitchFamily="34" charset="-122"/>
                <a:cs typeface="Courier New" pitchFamily="34" charset="-120"/>
              </a:rPr>
              <a:t>// outer: candidates</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bool</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isPrime =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true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for</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d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2</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d * d &lt;= n; d++)     </a:t>
            </a:r>
            <a:pPr indent="0" marL="0">
              <a:spcAft>
                <a:spcPts val="100"/>
              </a:spcAft>
              <a:buNone/>
            </a:pPr>
            <a:r>
              <a:rPr lang="en-US" sz="1200" dirty="0">
                <a:solidFill>
                  <a:srgbClr val="7F8BA3"/>
                </a:solidFill>
                <a:latin typeface="Courier New" pitchFamily="34" charset="0"/>
                <a:ea typeface="Courier New" pitchFamily="34" charset="-122"/>
                <a:cs typeface="Courier New" pitchFamily="34" charset="-120"/>
              </a:rPr>
              <a:t>// inner: divisors</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if</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(n % d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isPrime =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false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break</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F8BA3"/>
                </a:solidFill>
                <a:latin typeface="Courier New" pitchFamily="34" charset="0"/>
                <a:ea typeface="Courier New" pitchFamily="34" charset="-122"/>
                <a:cs typeface="Courier New" pitchFamily="34" charset="-120"/>
              </a:rPr>
              <a:t>// inner loop only</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if</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(isPrime)</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found++;</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$"{n,4}"</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if</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(found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         </a:t>
            </a:r>
            <a:pPr indent="0" marL="0">
              <a:spcAft>
                <a:spcPts val="100"/>
              </a:spcAft>
              <a:buNone/>
            </a:pPr>
            <a:r>
              <a:rPr lang="en-US" sz="1200" dirty="0">
                <a:solidFill>
                  <a:srgbClr val="7F8BA3"/>
                </a:solidFill>
                <a:latin typeface="Courier New" pitchFamily="34" charset="0"/>
                <a:ea typeface="Courier New" pitchFamily="34" charset="-122"/>
                <a:cs typeface="Courier New" pitchFamily="34" charset="-120"/>
              </a:rPr>
              <a:t>// 10 per line</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9" name="Shape 6"/>
          <p:cNvSpPr/>
          <p:nvPr/>
        </p:nvSpPr>
        <p:spPr>
          <a:xfrm>
            <a:off x="7132320" y="1645920"/>
            <a:ext cx="4526280" cy="1600200"/>
          </a:xfrm>
          <a:prstGeom prst="roundRect">
            <a:avLst>
              <a:gd name="adj" fmla="val 5714"/>
            </a:avLst>
          </a:prstGeom>
          <a:solidFill>
            <a:srgbClr val="0B0F19"/>
          </a:solidFill>
          <a:ln w="12700">
            <a:solidFill>
              <a:srgbClr val="2A3654"/>
            </a:solidFill>
            <a:prstDash val="solid"/>
          </a:ln>
        </p:spPr>
      </p:sp>
      <p:sp>
        <p:nvSpPr>
          <p:cNvPr id="10" name="Shape 7"/>
          <p:cNvSpPr/>
          <p:nvPr/>
        </p:nvSpPr>
        <p:spPr>
          <a:xfrm>
            <a:off x="7315200" y="1773936"/>
            <a:ext cx="118872" cy="118872"/>
          </a:xfrm>
          <a:prstGeom prst="ellipse">
            <a:avLst/>
          </a:prstGeom>
          <a:solidFill>
            <a:srgbClr val="FF5F57"/>
          </a:solidFill>
          <a:ln w="12700">
            <a:solidFill>
              <a:srgbClr val="FF5F57"/>
            </a:solidFill>
            <a:prstDash val="solid"/>
          </a:ln>
        </p:spPr>
      </p:sp>
      <p:sp>
        <p:nvSpPr>
          <p:cNvPr id="11" name="Shape 8"/>
          <p:cNvSpPr/>
          <p:nvPr/>
        </p:nvSpPr>
        <p:spPr>
          <a:xfrm>
            <a:off x="7543800" y="1773936"/>
            <a:ext cx="118872" cy="118872"/>
          </a:xfrm>
          <a:prstGeom prst="ellipse">
            <a:avLst/>
          </a:prstGeom>
          <a:solidFill>
            <a:srgbClr val="FEBC2E"/>
          </a:solidFill>
          <a:ln w="12700">
            <a:solidFill>
              <a:srgbClr val="FEBC2E"/>
            </a:solidFill>
            <a:prstDash val="solid"/>
          </a:ln>
        </p:spPr>
      </p:sp>
      <p:sp>
        <p:nvSpPr>
          <p:cNvPr id="12" name="Shape 9"/>
          <p:cNvSpPr/>
          <p:nvPr/>
        </p:nvSpPr>
        <p:spPr>
          <a:xfrm>
            <a:off x="7772400" y="1773936"/>
            <a:ext cx="118872" cy="118872"/>
          </a:xfrm>
          <a:prstGeom prst="ellipse">
            <a:avLst/>
          </a:prstGeom>
          <a:solidFill>
            <a:srgbClr val="28C840"/>
          </a:solidFill>
          <a:ln w="12700">
            <a:solidFill>
              <a:srgbClr val="28C840"/>
            </a:solidFill>
            <a:prstDash val="solid"/>
          </a:ln>
        </p:spPr>
      </p:sp>
      <p:sp>
        <p:nvSpPr>
          <p:cNvPr id="13" name="Text 10"/>
          <p:cNvSpPr txBox="1"/>
          <p:nvPr/>
        </p:nvSpPr>
        <p:spPr>
          <a:xfrm>
            <a:off x="8046720" y="1719072"/>
            <a:ext cx="342900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Console</a:t>
            </a:r>
            <a:endParaRPr lang="en-US" sz="1000" dirty="0"/>
          </a:p>
        </p:txBody>
      </p:sp>
      <p:sp>
        <p:nvSpPr>
          <p:cNvPr id="14" name="Text 11"/>
          <p:cNvSpPr txBox="1"/>
          <p:nvPr/>
        </p:nvSpPr>
        <p:spPr>
          <a:xfrm>
            <a:off x="7360920" y="2029968"/>
            <a:ext cx="4069080" cy="1097280"/>
          </a:xfrm>
          <a:prstGeom prst="rect">
            <a:avLst/>
          </a:prstGeom>
          <a:noFill/>
          <a:ln/>
        </p:spPr>
        <p:txBody>
          <a:bodyPr wrap="square" lIns="0" tIns="0" rIns="0" bIns="0" rtlCol="0" anchor="t"/>
          <a:lstStyle/>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Primes up to: </a:t>
            </a:r>
            <a:pPr indent="0" marL="0">
              <a:spcAft>
                <a:spcPts val="100"/>
              </a:spcAft>
              <a:buNone/>
            </a:pPr>
            <a:r>
              <a:rPr lang="en-US" sz="1200" b="1" dirty="0">
                <a:solidFill>
                  <a:srgbClr val="FCA311"/>
                </a:solidFill>
                <a:latin typeface="Courier New" pitchFamily="34" charset="0"/>
                <a:ea typeface="Courier New" pitchFamily="34" charset="-122"/>
                <a:cs typeface="Courier New" pitchFamily="34" charset="-120"/>
              </a:rPr>
              <a:t>100</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   2   3   5   7  11  13  17  19  23  29</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  31  37  41  43  47  53  59  61  67  71</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  73  79  83  89  97</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25 primes found.</a:t>
            </a:r>
            <a:endParaRPr lang="en-US" sz="1200" dirty="0"/>
          </a:p>
        </p:txBody>
      </p:sp>
      <p:sp>
        <p:nvSpPr>
          <p:cNvPr id="15" name="Shape 12"/>
          <p:cNvSpPr/>
          <p:nvPr/>
        </p:nvSpPr>
        <p:spPr>
          <a:xfrm>
            <a:off x="7132320" y="3429000"/>
            <a:ext cx="4526280" cy="1280160"/>
          </a:xfrm>
          <a:prstGeom prst="roundRect">
            <a:avLst>
              <a:gd name="adj" fmla="val 8571"/>
            </a:avLst>
          </a:prstGeom>
          <a:solidFill>
            <a:srgbClr val="EEF1F6"/>
          </a:solidFill>
          <a:ln w="12700">
            <a:solidFill>
              <a:srgbClr val="EEF1F6"/>
            </a:solidFill>
            <a:prstDash val="solid"/>
          </a:ln>
        </p:spPr>
      </p:sp>
      <p:sp>
        <p:nvSpPr>
          <p:cNvPr id="16" name="Shape 13"/>
          <p:cNvSpPr/>
          <p:nvPr/>
        </p:nvSpPr>
        <p:spPr>
          <a:xfrm>
            <a:off x="7360920" y="3657600"/>
            <a:ext cx="566928" cy="566928"/>
          </a:xfrm>
          <a:prstGeom prst="ellipse">
            <a:avLst/>
          </a:prstGeom>
          <a:solidFill>
            <a:srgbClr val="C8453B"/>
          </a:solidFill>
          <a:ln w="12700">
            <a:solidFill>
              <a:srgbClr val="C8453B"/>
            </a:solidFill>
            <a:prstDash val="solid"/>
          </a:ln>
        </p:spPr>
      </p:sp>
      <p:pic>
        <p:nvPicPr>
          <p:cNvPr id="17" name="Image 0" descr="preencoded.png">    </p:cNvPr>
          <p:cNvPicPr>
            <a:picLocks noChangeAspect="1"/>
          </p:cNvPicPr>
          <p:nvPr/>
        </p:nvPicPr>
        <p:blipFill>
          <a:blip r:embed="rId1"/>
          <a:stretch>
            <a:fillRect/>
          </a:stretch>
        </p:blipFill>
        <p:spPr>
          <a:xfrm>
            <a:off x="7508321" y="3805001"/>
            <a:ext cx="272125" cy="272125"/>
          </a:xfrm>
          <a:prstGeom prst="rect">
            <a:avLst/>
          </a:prstGeom>
        </p:spPr>
      </p:pic>
      <p:sp>
        <p:nvSpPr>
          <p:cNvPr id="18" name="Text 14"/>
          <p:cNvSpPr txBox="1"/>
          <p:nvPr/>
        </p:nvSpPr>
        <p:spPr>
          <a:xfrm>
            <a:off x="8046720" y="3657600"/>
            <a:ext cx="342900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break is local</a:t>
            </a:r>
            <a:endParaRPr lang="en-US" sz="1700" dirty="0"/>
          </a:p>
        </p:txBody>
      </p:sp>
      <p:sp>
        <p:nvSpPr>
          <p:cNvPr id="19" name="Text 15"/>
          <p:cNvSpPr txBox="1"/>
          <p:nvPr/>
        </p:nvSpPr>
        <p:spPr>
          <a:xfrm>
            <a:off x="7360920" y="4343400"/>
            <a:ext cx="4069080" cy="228600"/>
          </a:xfrm>
          <a:prstGeom prst="rect">
            <a:avLst/>
          </a:prstGeom>
          <a:noFill/>
          <a:ln/>
        </p:spPr>
        <p:txBody>
          <a:bodyPr wrap="square" lIns="0" tIns="0" rIns="0" bIns="0" rtlCol="0" anchor="t"/>
          <a:lstStyle/>
          <a:p>
            <a:pPr indent="0" marL="0">
              <a:buNone/>
            </a:pPr>
            <a:r>
              <a:rPr lang="en-US" sz="1400" dirty="0">
                <a:solidFill>
                  <a:srgbClr val="333B4F"/>
                </a:solidFill>
                <a:latin typeface="Calibri" pitchFamily="34" charset="0"/>
                <a:ea typeface="Calibri" pitchFamily="34" charset="-122"/>
                <a:cs typeface="Calibri" pitchFamily="34" charset="-120"/>
              </a:rPr>
              <a:t>It leaves only the innermost loop.</a:t>
            </a:r>
            <a:endParaRPr lang="en-US" sz="1400" dirty="0"/>
          </a:p>
        </p:txBody>
      </p:sp>
      <p:sp>
        <p:nvSpPr>
          <p:cNvPr id="20" name="Shape 16"/>
          <p:cNvSpPr/>
          <p:nvPr/>
        </p:nvSpPr>
        <p:spPr>
          <a:xfrm>
            <a:off x="7132320" y="4846320"/>
            <a:ext cx="4526280" cy="1234440"/>
          </a:xfrm>
          <a:prstGeom prst="roundRect">
            <a:avLst>
              <a:gd name="adj" fmla="val 8889"/>
            </a:avLst>
          </a:prstGeom>
          <a:solidFill>
            <a:srgbClr val="EEF1F6"/>
          </a:solidFill>
          <a:ln w="12700">
            <a:solidFill>
              <a:srgbClr val="EEF1F6"/>
            </a:solidFill>
            <a:prstDash val="solid"/>
          </a:ln>
        </p:spPr>
      </p:sp>
      <p:sp>
        <p:nvSpPr>
          <p:cNvPr id="21" name="Shape 17"/>
          <p:cNvSpPr/>
          <p:nvPr/>
        </p:nvSpPr>
        <p:spPr>
          <a:xfrm>
            <a:off x="7360920" y="5074920"/>
            <a:ext cx="566928" cy="566928"/>
          </a:xfrm>
          <a:prstGeom prst="ellipse">
            <a:avLst/>
          </a:prstGeom>
          <a:solidFill>
            <a:srgbClr val="2E9E6A"/>
          </a:solidFill>
          <a:ln w="12700">
            <a:solidFill>
              <a:srgbClr val="2E9E6A"/>
            </a:solidFill>
            <a:prstDash val="solid"/>
          </a:ln>
        </p:spPr>
      </p:sp>
      <p:pic>
        <p:nvPicPr>
          <p:cNvPr id="22" name="Image 1" descr="preencoded.png">    </p:cNvPr>
          <p:cNvPicPr>
            <a:picLocks noChangeAspect="1"/>
          </p:cNvPicPr>
          <p:nvPr/>
        </p:nvPicPr>
        <p:blipFill>
          <a:blip r:embed="rId2"/>
          <a:stretch>
            <a:fillRect/>
          </a:stretch>
        </p:blipFill>
        <p:spPr>
          <a:xfrm>
            <a:off x="7508321" y="5222321"/>
            <a:ext cx="272125" cy="272125"/>
          </a:xfrm>
          <a:prstGeom prst="rect">
            <a:avLst/>
          </a:prstGeom>
        </p:spPr>
      </p:pic>
      <p:sp>
        <p:nvSpPr>
          <p:cNvPr id="23" name="Text 18"/>
          <p:cNvSpPr txBox="1"/>
          <p:nvPr/>
        </p:nvSpPr>
        <p:spPr>
          <a:xfrm>
            <a:off x="8046720" y="5074920"/>
            <a:ext cx="342900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25 primes below 100</a:t>
            </a:r>
            <a:endParaRPr lang="en-US" sz="1700" dirty="0"/>
          </a:p>
        </p:txBody>
      </p:sp>
      <p:sp>
        <p:nvSpPr>
          <p:cNvPr id="24" name="Text 19"/>
          <p:cNvSpPr txBox="1"/>
          <p:nvPr/>
        </p:nvSpPr>
        <p:spPr>
          <a:xfrm>
            <a:off x="7360920" y="5760720"/>
            <a:ext cx="4069080" cy="182880"/>
          </a:xfrm>
          <a:prstGeom prst="rect">
            <a:avLst/>
          </a:prstGeom>
          <a:noFill/>
          <a:ln/>
        </p:spPr>
        <p:txBody>
          <a:bodyPr wrap="square" lIns="0" tIns="0" rIns="0" bIns="0" rtlCol="0" anchor="t"/>
          <a:lstStyle/>
          <a:p>
            <a:pPr indent="0" marL="0">
              <a:buNone/>
            </a:pPr>
            <a:r>
              <a:rPr lang="en-US" sz="1400" dirty="0">
                <a:solidFill>
                  <a:srgbClr val="333B4F"/>
                </a:solidFill>
                <a:latin typeface="Calibri" pitchFamily="34" charset="0"/>
                <a:ea typeface="Calibri" pitchFamily="34" charset="-122"/>
                <a:cs typeface="Calibri" pitchFamily="34" charset="-120"/>
              </a:rPr>
              <a:t>Inner loop tries at most 8 divisors.</a:t>
            </a:r>
            <a:endParaRPr lang="en-US" sz="1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EXAMPLE 11 · FIZZBUZZ</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FizzBuzz: a Loop with an else-if Ladder</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6</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33</a:t>
            </a:r>
            <a:endParaRPr lang="en-US" sz="1000" dirty="0"/>
          </a:p>
        </p:txBody>
      </p:sp>
      <p:sp>
        <p:nvSpPr>
          <p:cNvPr id="7" name="Shape 4"/>
          <p:cNvSpPr/>
          <p:nvPr/>
        </p:nvSpPr>
        <p:spPr>
          <a:xfrm>
            <a:off x="548640" y="1645920"/>
            <a:ext cx="6309360" cy="4434840"/>
          </a:xfrm>
          <a:prstGeom prst="roundRect">
            <a:avLst>
              <a:gd name="adj" fmla="val 2062"/>
            </a:avLst>
          </a:prstGeom>
          <a:solidFill>
            <a:srgbClr val="0F1729"/>
          </a:solidFill>
          <a:ln w="12700">
            <a:solidFill>
              <a:srgbClr val="0F1729"/>
            </a:solidFill>
            <a:prstDash val="solid"/>
          </a:ln>
        </p:spPr>
      </p:sp>
      <p:sp>
        <p:nvSpPr>
          <p:cNvPr id="8" name="Text 5"/>
          <p:cNvSpPr txBox="1"/>
          <p:nvPr/>
        </p:nvSpPr>
        <p:spPr>
          <a:xfrm>
            <a:off x="777240" y="1810512"/>
            <a:ext cx="5852160" cy="4160520"/>
          </a:xfrm>
          <a:prstGeom prst="rect">
            <a:avLst/>
          </a:prstGeom>
          <a:noFill/>
          <a:ln/>
        </p:spPr>
        <p:txBody>
          <a:bodyPr wrap="square" lIns="0" tIns="0" rIns="0" bIns="0" rtlCol="0" anchor="t"/>
          <a:lstStyle/>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for</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i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i &lt;= n; i++)</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if</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(i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15</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F8BA3"/>
                </a:solidFill>
                <a:latin typeface="Courier New" pitchFamily="34" charset="0"/>
                <a:ea typeface="Courier New" pitchFamily="34" charset="-122"/>
                <a:cs typeface="Courier New" pitchFamily="34" charset="-120"/>
              </a:rPr>
              <a:t>// divisible by 3 AND 5: test first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"FizzBuzz"</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else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if</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(i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3</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"Fizz"</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else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if</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(i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5</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"Buzz"</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else</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.WriteLine(i);</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9" name="Shape 6"/>
          <p:cNvSpPr/>
          <p:nvPr/>
        </p:nvSpPr>
        <p:spPr>
          <a:xfrm>
            <a:off x="7086600" y="1645920"/>
            <a:ext cx="2194560" cy="4434840"/>
          </a:xfrm>
          <a:prstGeom prst="roundRect">
            <a:avLst>
              <a:gd name="adj" fmla="val 4167"/>
            </a:avLst>
          </a:prstGeom>
          <a:solidFill>
            <a:srgbClr val="0B0F19"/>
          </a:solidFill>
          <a:ln w="12700">
            <a:solidFill>
              <a:srgbClr val="2A3654"/>
            </a:solidFill>
            <a:prstDash val="solid"/>
          </a:ln>
        </p:spPr>
      </p:sp>
      <p:sp>
        <p:nvSpPr>
          <p:cNvPr id="10" name="Shape 7"/>
          <p:cNvSpPr/>
          <p:nvPr/>
        </p:nvSpPr>
        <p:spPr>
          <a:xfrm>
            <a:off x="7269480" y="1773936"/>
            <a:ext cx="118872" cy="118872"/>
          </a:xfrm>
          <a:prstGeom prst="ellipse">
            <a:avLst/>
          </a:prstGeom>
          <a:solidFill>
            <a:srgbClr val="FF5F57"/>
          </a:solidFill>
          <a:ln w="12700">
            <a:solidFill>
              <a:srgbClr val="FF5F57"/>
            </a:solidFill>
            <a:prstDash val="solid"/>
          </a:ln>
        </p:spPr>
      </p:sp>
      <p:sp>
        <p:nvSpPr>
          <p:cNvPr id="11" name="Shape 8"/>
          <p:cNvSpPr/>
          <p:nvPr/>
        </p:nvSpPr>
        <p:spPr>
          <a:xfrm>
            <a:off x="7498080" y="1773936"/>
            <a:ext cx="118872" cy="118872"/>
          </a:xfrm>
          <a:prstGeom prst="ellipse">
            <a:avLst/>
          </a:prstGeom>
          <a:solidFill>
            <a:srgbClr val="FEBC2E"/>
          </a:solidFill>
          <a:ln w="12700">
            <a:solidFill>
              <a:srgbClr val="FEBC2E"/>
            </a:solidFill>
            <a:prstDash val="solid"/>
          </a:ln>
        </p:spPr>
      </p:sp>
      <p:sp>
        <p:nvSpPr>
          <p:cNvPr id="12" name="Shape 9"/>
          <p:cNvSpPr/>
          <p:nvPr/>
        </p:nvSpPr>
        <p:spPr>
          <a:xfrm>
            <a:off x="7726680" y="1773936"/>
            <a:ext cx="118872" cy="118872"/>
          </a:xfrm>
          <a:prstGeom prst="ellipse">
            <a:avLst/>
          </a:prstGeom>
          <a:solidFill>
            <a:srgbClr val="28C840"/>
          </a:solidFill>
          <a:ln w="12700">
            <a:solidFill>
              <a:srgbClr val="28C840"/>
            </a:solidFill>
            <a:prstDash val="solid"/>
          </a:ln>
        </p:spPr>
      </p:sp>
      <p:sp>
        <p:nvSpPr>
          <p:cNvPr id="13" name="Text 10"/>
          <p:cNvSpPr txBox="1"/>
          <p:nvPr/>
        </p:nvSpPr>
        <p:spPr>
          <a:xfrm>
            <a:off x="8001000" y="1719072"/>
            <a:ext cx="109728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Console</a:t>
            </a:r>
            <a:endParaRPr lang="en-US" sz="1000" dirty="0"/>
          </a:p>
        </p:txBody>
      </p:sp>
      <p:sp>
        <p:nvSpPr>
          <p:cNvPr id="14" name="Text 11"/>
          <p:cNvSpPr txBox="1"/>
          <p:nvPr/>
        </p:nvSpPr>
        <p:spPr>
          <a:xfrm>
            <a:off x="7315200" y="2029968"/>
            <a:ext cx="1737360" cy="3931920"/>
          </a:xfrm>
          <a:prstGeom prst="rect">
            <a:avLst/>
          </a:prstGeom>
          <a:noFill/>
          <a:ln/>
        </p:spPr>
        <p:txBody>
          <a:bodyPr wrap="square" lIns="0" tIns="0" rIns="0" bIns="0" rtlCol="0" anchor="t"/>
          <a:lstStyle/>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Up to: </a:t>
            </a:r>
            <a:pPr indent="0" marL="0">
              <a:spcAft>
                <a:spcPts val="100"/>
              </a:spcAft>
              <a:buNone/>
            </a:pPr>
            <a:r>
              <a:rPr lang="en-US" sz="1200" b="1" dirty="0">
                <a:solidFill>
                  <a:srgbClr val="FCA311"/>
                </a:solidFill>
                <a:latin typeface="Courier New" pitchFamily="34" charset="0"/>
                <a:ea typeface="Courier New" pitchFamily="34" charset="-122"/>
                <a:cs typeface="Courier New" pitchFamily="34" charset="-120"/>
              </a:rPr>
              <a:t>15</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1</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2</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Fizz</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4</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Buzz</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Fizz</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7</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8</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Fizz</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Buzz</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11</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Fizz</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13</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14</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FizzBuzz</a:t>
            </a:r>
            <a:endParaRPr lang="en-US" sz="1200" dirty="0"/>
          </a:p>
        </p:txBody>
      </p:sp>
      <p:sp>
        <p:nvSpPr>
          <p:cNvPr id="15" name="Shape 12"/>
          <p:cNvSpPr/>
          <p:nvPr/>
        </p:nvSpPr>
        <p:spPr>
          <a:xfrm>
            <a:off x="9509760" y="1645920"/>
            <a:ext cx="2148840" cy="4434840"/>
          </a:xfrm>
          <a:prstGeom prst="roundRect">
            <a:avLst>
              <a:gd name="adj" fmla="val 5106"/>
            </a:avLst>
          </a:prstGeom>
          <a:solidFill>
            <a:srgbClr val="FFF6E3"/>
          </a:solidFill>
          <a:ln w="12700">
            <a:solidFill>
              <a:srgbClr val="FFF6E3"/>
            </a:solidFill>
            <a:prstDash val="solid"/>
          </a:ln>
        </p:spPr>
      </p:sp>
      <p:sp>
        <p:nvSpPr>
          <p:cNvPr id="16" name="Shape 13"/>
          <p:cNvSpPr/>
          <p:nvPr/>
        </p:nvSpPr>
        <p:spPr>
          <a:xfrm>
            <a:off x="9692640" y="1828800"/>
            <a:ext cx="548640" cy="548640"/>
          </a:xfrm>
          <a:prstGeom prst="ellipse">
            <a:avLst/>
          </a:prstGeom>
          <a:solidFill>
            <a:srgbClr val="B7791F"/>
          </a:solidFill>
          <a:ln w="12700">
            <a:solidFill>
              <a:srgbClr val="B7791F"/>
            </a:solidFill>
            <a:prstDash val="solid"/>
          </a:ln>
        </p:spPr>
      </p:sp>
      <p:pic>
        <p:nvPicPr>
          <p:cNvPr id="17" name="Image 0" descr="preencoded.png">    </p:cNvPr>
          <p:cNvPicPr>
            <a:picLocks noChangeAspect="1"/>
          </p:cNvPicPr>
          <p:nvPr/>
        </p:nvPicPr>
        <p:blipFill>
          <a:blip r:embed="rId1"/>
          <a:stretch>
            <a:fillRect/>
          </a:stretch>
        </p:blipFill>
        <p:spPr>
          <a:xfrm>
            <a:off x="9835286" y="1971446"/>
            <a:ext cx="263347" cy="263347"/>
          </a:xfrm>
          <a:prstGeom prst="rect">
            <a:avLst/>
          </a:prstGeom>
        </p:spPr>
      </p:pic>
      <p:sp>
        <p:nvSpPr>
          <p:cNvPr id="18" name="Text 14"/>
          <p:cNvSpPr txBox="1"/>
          <p:nvPr/>
        </p:nvSpPr>
        <p:spPr>
          <a:xfrm>
            <a:off x="9646920" y="2514600"/>
            <a:ext cx="1920240" cy="640080"/>
          </a:xfrm>
          <a:prstGeom prst="rect">
            <a:avLst/>
          </a:prstGeom>
          <a:noFill/>
          <a:ln/>
        </p:spPr>
        <p:txBody>
          <a:bodyPr wrap="square" lIns="0" tIns="0" rIns="0" bIns="0" rtlCol="0" anchor="ctr"/>
          <a:lstStyle/>
          <a:p>
            <a:pPr indent="0" marL="0">
              <a:buNone/>
            </a:pPr>
            <a:r>
              <a:rPr lang="en-US" sz="1600" b="1" dirty="0">
                <a:solidFill>
                  <a:srgbClr val="14213D"/>
                </a:solidFill>
                <a:latin typeface="Cambria" pitchFamily="34" charset="0"/>
                <a:ea typeface="Cambria" pitchFamily="34" charset="-122"/>
                <a:cs typeface="Cambria" pitchFamily="34" charset="-120"/>
              </a:rPr>
              <a:t>Why test 15 first?</a:t>
            </a:r>
            <a:endParaRPr lang="en-US" sz="1600" dirty="0"/>
          </a:p>
        </p:txBody>
      </p:sp>
      <p:sp>
        <p:nvSpPr>
          <p:cNvPr id="19" name="Text 15"/>
          <p:cNvSpPr txBox="1"/>
          <p:nvPr/>
        </p:nvSpPr>
        <p:spPr>
          <a:xfrm>
            <a:off x="9646920" y="3154680"/>
            <a:ext cx="1920240" cy="2011680"/>
          </a:xfrm>
          <a:prstGeom prst="rect">
            <a:avLst/>
          </a:prstGeom>
          <a:noFill/>
          <a:ln/>
        </p:spPr>
        <p:txBody>
          <a:bodyPr wrap="square" lIns="0" tIns="0" rIns="0" bIns="0" rtlCol="0" anchor="t"/>
          <a:lstStyle/>
          <a:p>
            <a:pPr indent="0" marL="0">
              <a:buNone/>
            </a:pPr>
            <a:r>
              <a:rPr lang="en-US" sz="1400" dirty="0">
                <a:solidFill>
                  <a:srgbClr val="333B4F"/>
                </a:solidFill>
                <a:latin typeface="Calibri" pitchFamily="34" charset="0"/>
                <a:ea typeface="Calibri" pitchFamily="34" charset="-122"/>
                <a:cs typeface="Calibri" pitchFamily="34" charset="-120"/>
              </a:rPr>
              <a:t>If i % 3 came first, 15 would print Fizz: the FizzBuzz branch would never run.</a:t>
            </a:r>
            <a:endParaRPr lang="en-US" sz="1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COMMON MISTAKES · 1</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Off-by-One and the Stray Semicolon</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6</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34</a:t>
            </a:r>
            <a:endParaRPr lang="en-US" sz="1000" dirty="0"/>
          </a:p>
        </p:txBody>
      </p:sp>
      <p:sp>
        <p:nvSpPr>
          <p:cNvPr id="7" name="Text 4"/>
          <p:cNvSpPr txBox="1"/>
          <p:nvPr/>
        </p:nvSpPr>
        <p:spPr>
          <a:xfrm>
            <a:off x="548640" y="1645920"/>
            <a:ext cx="5440680" cy="365760"/>
          </a:xfrm>
          <a:prstGeom prst="rect">
            <a:avLst/>
          </a:prstGeom>
          <a:noFill/>
          <a:ln/>
        </p:spPr>
        <p:txBody>
          <a:bodyPr wrap="square" lIns="0" tIns="0" rIns="0" bIns="0" rtlCol="0" anchor="ctr"/>
          <a:lstStyle/>
          <a:p>
            <a:pPr indent="0" marL="0">
              <a:buNone/>
            </a:pPr>
            <a:r>
              <a:rPr lang="en-US" sz="1800" b="1" dirty="0">
                <a:solidFill>
                  <a:srgbClr val="C8453B"/>
                </a:solidFill>
                <a:latin typeface="Cambria" pitchFamily="34" charset="0"/>
                <a:ea typeface="Cambria" pitchFamily="34" charset="-122"/>
                <a:cs typeface="Cambria" pitchFamily="34" charset="-120"/>
              </a:rPr>
              <a:t>Off-by-one: &lt; instead of &lt;=</a:t>
            </a:r>
            <a:endParaRPr lang="en-US" sz="1800" dirty="0"/>
          </a:p>
        </p:txBody>
      </p:sp>
      <p:sp>
        <p:nvSpPr>
          <p:cNvPr id="8" name="Shape 5"/>
          <p:cNvSpPr/>
          <p:nvPr/>
        </p:nvSpPr>
        <p:spPr>
          <a:xfrm>
            <a:off x="548640" y="2057400"/>
            <a:ext cx="5440680" cy="2103120"/>
          </a:xfrm>
          <a:prstGeom prst="roundRect">
            <a:avLst>
              <a:gd name="adj" fmla="val 4348"/>
            </a:avLst>
          </a:prstGeom>
          <a:solidFill>
            <a:srgbClr val="0F1729"/>
          </a:solidFill>
          <a:ln w="12700">
            <a:solidFill>
              <a:srgbClr val="0F1729"/>
            </a:solidFill>
            <a:prstDash val="solid"/>
          </a:ln>
        </p:spPr>
      </p:sp>
      <p:sp>
        <p:nvSpPr>
          <p:cNvPr id="9" name="Text 6"/>
          <p:cNvSpPr txBox="1"/>
          <p:nvPr/>
        </p:nvSpPr>
        <p:spPr>
          <a:xfrm>
            <a:off x="777240" y="2221992"/>
            <a:ext cx="4983480" cy="1828800"/>
          </a:xfrm>
          <a:prstGeom prst="rect">
            <a:avLst/>
          </a:prstGeom>
          <a:noFill/>
          <a:ln/>
        </p:spPr>
        <p:txBody>
          <a:bodyPr wrap="square" lIns="0" tIns="0" rIns="0" bIns="0" rtlCol="0" anchor="t"/>
          <a:lstStyle/>
          <a:p>
            <a:pPr indent="0" marL="0">
              <a:spcAft>
                <a:spcPts val="100"/>
              </a:spcAft>
              <a:buNone/>
            </a:pPr>
            <a:r>
              <a:rPr lang="en-US" sz="1400" dirty="0">
                <a:solidFill>
                  <a:srgbClr val="7F8BA3"/>
                </a:solidFill>
                <a:latin typeface="Courier New" pitchFamily="34" charset="0"/>
                <a:ea typeface="Courier New" pitchFamily="34" charset="-122"/>
                <a:cs typeface="Courier New" pitchFamily="34" charset="-120"/>
              </a:rPr>
              <a:t>// Goal: print 1 to 10</a:t>
            </a:r>
            <a:endParaRPr lang="en-US" sz="1400" dirty="0"/>
          </a:p>
          <a:p>
            <a:pPr indent="0" marL="0">
              <a:spcAft>
                <a:spcPts val="100"/>
              </a:spcAft>
              <a:buNone/>
            </a:pPr>
            <a:r>
              <a:rPr lang="en-US" sz="1400" dirty="0">
                <a:solidFill>
                  <a:srgbClr val="7AB8FF"/>
                </a:solidFill>
                <a:latin typeface="Courier New" pitchFamily="34" charset="0"/>
                <a:ea typeface="Courier New" pitchFamily="34" charset="-122"/>
                <a:cs typeface="Courier New" pitchFamily="34" charset="-120"/>
              </a:rPr>
              <a:t>for</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4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i = </a:t>
            </a:r>
            <a:pPr indent="0" marL="0">
              <a:spcAft>
                <a:spcPts val="100"/>
              </a:spcAft>
              <a:buNone/>
            </a:pPr>
            <a:r>
              <a:rPr lang="en-US" sz="14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i &lt; </a:t>
            </a:r>
            <a:pPr indent="0" marL="0">
              <a:spcAft>
                <a:spcPts val="100"/>
              </a:spcAft>
              <a:buNone/>
            </a:pPr>
            <a:r>
              <a:rPr lang="en-US" sz="1400" dirty="0">
                <a:solidFill>
                  <a:srgbClr val="B5CEA8"/>
                </a:solidFill>
                <a:latin typeface="Courier New" pitchFamily="34" charset="0"/>
                <a:ea typeface="Courier New" pitchFamily="34" charset="-122"/>
                <a:cs typeface="Courier New" pitchFamily="34" charset="-120"/>
              </a:rPr>
              <a:t>10</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i++)</a:t>
            </a:r>
            <a:endParaRPr lang="en-US" sz="1400" dirty="0"/>
          </a:p>
          <a:p>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a:t>
            </a:r>
            <a:endParaRPr lang="en-US" sz="1400" dirty="0"/>
          </a:p>
          <a:p>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4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.Write(</a:t>
            </a:r>
            <a:pPr indent="0" marL="0">
              <a:spcAft>
                <a:spcPts val="100"/>
              </a:spcAft>
              <a:buNone/>
            </a:pPr>
            <a:r>
              <a:rPr lang="en-US" sz="1400" dirty="0">
                <a:solidFill>
                  <a:srgbClr val="CE9178"/>
                </a:solidFill>
                <a:latin typeface="Courier New" pitchFamily="34" charset="0"/>
                <a:ea typeface="Courier New" pitchFamily="34" charset="-122"/>
                <a:cs typeface="Courier New" pitchFamily="34" charset="-120"/>
              </a:rPr>
              <a:t>$"{i} "</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a:t>
            </a:r>
            <a:endParaRPr lang="en-US" sz="1400" dirty="0"/>
          </a:p>
          <a:p>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a:t>
            </a:r>
            <a:endParaRPr lang="en-US" sz="1400" dirty="0"/>
          </a:p>
        </p:txBody>
      </p:sp>
      <p:sp>
        <p:nvSpPr>
          <p:cNvPr id="10" name="Shape 7"/>
          <p:cNvSpPr/>
          <p:nvPr/>
        </p:nvSpPr>
        <p:spPr>
          <a:xfrm>
            <a:off x="548640" y="4297680"/>
            <a:ext cx="5440680" cy="914400"/>
          </a:xfrm>
          <a:prstGeom prst="roundRect">
            <a:avLst>
              <a:gd name="adj" fmla="val 10000"/>
            </a:avLst>
          </a:prstGeom>
          <a:solidFill>
            <a:srgbClr val="0B0F19"/>
          </a:solidFill>
          <a:ln w="12700">
            <a:solidFill>
              <a:srgbClr val="2A3654"/>
            </a:solidFill>
            <a:prstDash val="solid"/>
          </a:ln>
        </p:spPr>
      </p:sp>
      <p:sp>
        <p:nvSpPr>
          <p:cNvPr id="11" name="Shape 8"/>
          <p:cNvSpPr/>
          <p:nvPr/>
        </p:nvSpPr>
        <p:spPr>
          <a:xfrm>
            <a:off x="731520" y="4425696"/>
            <a:ext cx="118872" cy="118872"/>
          </a:xfrm>
          <a:prstGeom prst="ellipse">
            <a:avLst/>
          </a:prstGeom>
          <a:solidFill>
            <a:srgbClr val="FF5F57"/>
          </a:solidFill>
          <a:ln w="12700">
            <a:solidFill>
              <a:srgbClr val="FF5F57"/>
            </a:solidFill>
            <a:prstDash val="solid"/>
          </a:ln>
        </p:spPr>
      </p:sp>
      <p:sp>
        <p:nvSpPr>
          <p:cNvPr id="12" name="Shape 9"/>
          <p:cNvSpPr/>
          <p:nvPr/>
        </p:nvSpPr>
        <p:spPr>
          <a:xfrm>
            <a:off x="960120" y="4425696"/>
            <a:ext cx="118872" cy="118872"/>
          </a:xfrm>
          <a:prstGeom prst="ellipse">
            <a:avLst/>
          </a:prstGeom>
          <a:solidFill>
            <a:srgbClr val="FEBC2E"/>
          </a:solidFill>
          <a:ln w="12700">
            <a:solidFill>
              <a:srgbClr val="FEBC2E"/>
            </a:solidFill>
            <a:prstDash val="solid"/>
          </a:ln>
        </p:spPr>
      </p:sp>
      <p:sp>
        <p:nvSpPr>
          <p:cNvPr id="13" name="Shape 10"/>
          <p:cNvSpPr/>
          <p:nvPr/>
        </p:nvSpPr>
        <p:spPr>
          <a:xfrm>
            <a:off x="1188720" y="4425696"/>
            <a:ext cx="118872" cy="118872"/>
          </a:xfrm>
          <a:prstGeom prst="ellipse">
            <a:avLst/>
          </a:prstGeom>
          <a:solidFill>
            <a:srgbClr val="28C840"/>
          </a:solidFill>
          <a:ln w="12700">
            <a:solidFill>
              <a:srgbClr val="28C840"/>
            </a:solidFill>
            <a:prstDash val="solid"/>
          </a:ln>
        </p:spPr>
      </p:sp>
      <p:sp>
        <p:nvSpPr>
          <p:cNvPr id="14" name="Text 11"/>
          <p:cNvSpPr txBox="1"/>
          <p:nvPr/>
        </p:nvSpPr>
        <p:spPr>
          <a:xfrm>
            <a:off x="1463040" y="4370832"/>
            <a:ext cx="434340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Console</a:t>
            </a:r>
            <a:endParaRPr lang="en-US" sz="1000" dirty="0"/>
          </a:p>
        </p:txBody>
      </p:sp>
      <p:sp>
        <p:nvSpPr>
          <p:cNvPr id="15" name="Text 12"/>
          <p:cNvSpPr txBox="1"/>
          <p:nvPr/>
        </p:nvSpPr>
        <p:spPr>
          <a:xfrm>
            <a:off x="777240" y="4681728"/>
            <a:ext cx="4983480" cy="411480"/>
          </a:xfrm>
          <a:prstGeom prst="rect">
            <a:avLst/>
          </a:prstGeom>
          <a:noFill/>
          <a:ln/>
        </p:spPr>
        <p:txBody>
          <a:bodyPr wrap="square" lIns="0" tIns="0" rIns="0" bIns="0" rtlCol="0" anchor="t"/>
          <a:lstStyle/>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1 2 3 4 5 6 7 8 9</a:t>
            </a:r>
            <a:endParaRPr lang="en-US" sz="1300" dirty="0"/>
          </a:p>
        </p:txBody>
      </p:sp>
      <p:sp>
        <p:nvSpPr>
          <p:cNvPr id="16" name="Text 13"/>
          <p:cNvSpPr txBox="1"/>
          <p:nvPr/>
        </p:nvSpPr>
        <p:spPr>
          <a:xfrm>
            <a:off x="548640" y="5349240"/>
            <a:ext cx="5440680" cy="731520"/>
          </a:xfrm>
          <a:prstGeom prst="rect">
            <a:avLst/>
          </a:prstGeom>
          <a:noFill/>
          <a:ln/>
        </p:spPr>
        <p:txBody>
          <a:bodyPr wrap="square" lIns="0" tIns="0" rIns="0" bIns="0" rtlCol="0" anchor="ctr"/>
          <a:lstStyle/>
          <a:p>
            <a:pPr indent="0" marL="0">
              <a:buNone/>
            </a:pPr>
            <a:r>
              <a:rPr lang="en-US" sz="1400" dirty="0">
                <a:solidFill>
                  <a:srgbClr val="333B4F"/>
                </a:solidFill>
                <a:latin typeface="Calibri" pitchFamily="34" charset="0"/>
                <a:ea typeface="Calibri" pitchFamily="34" charset="-122"/>
                <a:cs typeface="Calibri" pitchFamily="34" charset="-120"/>
              </a:rPr>
              <a:t>Only 9 numbers. Use i &lt;= 10. Always check the first and the last value of i.</a:t>
            </a:r>
            <a:endParaRPr lang="en-US" sz="1400" dirty="0"/>
          </a:p>
        </p:txBody>
      </p:sp>
      <p:sp>
        <p:nvSpPr>
          <p:cNvPr id="17" name="Text 14"/>
          <p:cNvSpPr txBox="1"/>
          <p:nvPr/>
        </p:nvSpPr>
        <p:spPr>
          <a:xfrm>
            <a:off x="6217920" y="1645920"/>
            <a:ext cx="5440680" cy="365760"/>
          </a:xfrm>
          <a:prstGeom prst="rect">
            <a:avLst/>
          </a:prstGeom>
          <a:noFill/>
          <a:ln/>
        </p:spPr>
        <p:txBody>
          <a:bodyPr wrap="square" lIns="0" tIns="0" rIns="0" bIns="0" rtlCol="0" anchor="ctr"/>
          <a:lstStyle/>
          <a:p>
            <a:pPr indent="0" marL="0">
              <a:buNone/>
            </a:pPr>
            <a:r>
              <a:rPr lang="en-US" sz="1800" b="1" dirty="0">
                <a:solidFill>
                  <a:srgbClr val="C8453B"/>
                </a:solidFill>
                <a:latin typeface="Cambria" pitchFamily="34" charset="0"/>
                <a:ea typeface="Cambria" pitchFamily="34" charset="-122"/>
                <a:cs typeface="Cambria" pitchFamily="34" charset="-120"/>
              </a:rPr>
              <a:t>Semicolon after the header</a:t>
            </a:r>
            <a:endParaRPr lang="en-US" sz="1800" dirty="0"/>
          </a:p>
        </p:txBody>
      </p:sp>
      <p:sp>
        <p:nvSpPr>
          <p:cNvPr id="18" name="Shape 15"/>
          <p:cNvSpPr/>
          <p:nvPr/>
        </p:nvSpPr>
        <p:spPr>
          <a:xfrm>
            <a:off x="6217920" y="2057400"/>
            <a:ext cx="5440680" cy="2103120"/>
          </a:xfrm>
          <a:prstGeom prst="roundRect">
            <a:avLst>
              <a:gd name="adj" fmla="val 4348"/>
            </a:avLst>
          </a:prstGeom>
          <a:solidFill>
            <a:srgbClr val="0F1729"/>
          </a:solidFill>
          <a:ln w="12700">
            <a:solidFill>
              <a:srgbClr val="0F1729"/>
            </a:solidFill>
            <a:prstDash val="solid"/>
          </a:ln>
        </p:spPr>
      </p:sp>
      <p:sp>
        <p:nvSpPr>
          <p:cNvPr id="19" name="Text 16"/>
          <p:cNvSpPr txBox="1"/>
          <p:nvPr/>
        </p:nvSpPr>
        <p:spPr>
          <a:xfrm>
            <a:off x="6446520" y="2221992"/>
            <a:ext cx="4983480" cy="1828800"/>
          </a:xfrm>
          <a:prstGeom prst="rect">
            <a:avLst/>
          </a:prstGeom>
          <a:noFill/>
          <a:ln/>
        </p:spPr>
        <p:txBody>
          <a:bodyPr wrap="square" lIns="0" tIns="0" rIns="0" bIns="0" rtlCol="0" anchor="t"/>
          <a:lstStyle/>
          <a:p>
            <a:pPr indent="0" marL="0">
              <a:spcAft>
                <a:spcPts val="100"/>
              </a:spcAft>
              <a:buNone/>
            </a:pPr>
            <a:r>
              <a:rPr lang="en-US" sz="14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count = </a:t>
            </a:r>
            <a:pPr indent="0" marL="0">
              <a:spcAft>
                <a:spcPts val="100"/>
              </a:spcAft>
              <a:buNone/>
            </a:pPr>
            <a:r>
              <a:rPr lang="en-US" sz="14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a:t>
            </a:r>
            <a:endParaRPr lang="en-US" sz="1400" dirty="0"/>
          </a:p>
          <a:p>
            <a:pPr indent="0" marL="0">
              <a:spcAft>
                <a:spcPts val="100"/>
              </a:spcAft>
              <a:buNone/>
            </a:pPr>
            <a:r>
              <a:rPr lang="en-US" sz="1400" dirty="0">
                <a:solidFill>
                  <a:srgbClr val="7AB8FF"/>
                </a:solidFill>
                <a:latin typeface="Courier New" pitchFamily="34" charset="0"/>
                <a:ea typeface="Courier New" pitchFamily="34" charset="-122"/>
                <a:cs typeface="Courier New" pitchFamily="34" charset="-120"/>
              </a:rPr>
              <a:t>for</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4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i = </a:t>
            </a:r>
            <a:pPr indent="0" marL="0">
              <a:spcAft>
                <a:spcPts val="100"/>
              </a:spcAft>
              <a:buNone/>
            </a:pPr>
            <a:r>
              <a:rPr lang="en-US" sz="14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i &lt;= </a:t>
            </a:r>
            <a:pPr indent="0" marL="0">
              <a:spcAft>
                <a:spcPts val="100"/>
              </a:spcAft>
              <a:buNone/>
            </a:pPr>
            <a:r>
              <a:rPr lang="en-US" sz="1400" dirty="0">
                <a:solidFill>
                  <a:srgbClr val="B5CEA8"/>
                </a:solidFill>
                <a:latin typeface="Courier New" pitchFamily="34" charset="0"/>
                <a:ea typeface="Courier New" pitchFamily="34" charset="-122"/>
                <a:cs typeface="Courier New" pitchFamily="34" charset="-120"/>
              </a:rPr>
              <a:t>5</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i++);</a:t>
            </a:r>
            <a:endParaRPr lang="en-US" sz="1400" dirty="0"/>
          </a:p>
          <a:p>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a:t>
            </a:r>
            <a:endParaRPr lang="en-US" sz="1400" dirty="0"/>
          </a:p>
          <a:p>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count++;</a:t>
            </a:r>
            <a:endParaRPr lang="en-US" sz="1400" dirty="0"/>
          </a:p>
          <a:p>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a:t>
            </a:r>
            <a:endParaRPr lang="en-US" sz="1400" dirty="0"/>
          </a:p>
          <a:p>
            <a:pPr indent="0" marL="0">
              <a:spcAft>
                <a:spcPts val="100"/>
              </a:spcAft>
              <a:buNone/>
            </a:pPr>
            <a:r>
              <a:rPr lang="en-US" sz="14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.WriteLine(count);</a:t>
            </a:r>
            <a:endParaRPr lang="en-US" sz="1400" dirty="0"/>
          </a:p>
        </p:txBody>
      </p:sp>
      <p:sp>
        <p:nvSpPr>
          <p:cNvPr id="20" name="Shape 17"/>
          <p:cNvSpPr/>
          <p:nvPr/>
        </p:nvSpPr>
        <p:spPr>
          <a:xfrm>
            <a:off x="6217920" y="4297680"/>
            <a:ext cx="5440680" cy="914400"/>
          </a:xfrm>
          <a:prstGeom prst="roundRect">
            <a:avLst>
              <a:gd name="adj" fmla="val 10000"/>
            </a:avLst>
          </a:prstGeom>
          <a:solidFill>
            <a:srgbClr val="0B0F19"/>
          </a:solidFill>
          <a:ln w="12700">
            <a:solidFill>
              <a:srgbClr val="2A3654"/>
            </a:solidFill>
            <a:prstDash val="solid"/>
          </a:ln>
        </p:spPr>
      </p:sp>
      <p:sp>
        <p:nvSpPr>
          <p:cNvPr id="21" name="Shape 18"/>
          <p:cNvSpPr/>
          <p:nvPr/>
        </p:nvSpPr>
        <p:spPr>
          <a:xfrm>
            <a:off x="6400800" y="4425696"/>
            <a:ext cx="118872" cy="118872"/>
          </a:xfrm>
          <a:prstGeom prst="ellipse">
            <a:avLst/>
          </a:prstGeom>
          <a:solidFill>
            <a:srgbClr val="FF5F57"/>
          </a:solidFill>
          <a:ln w="12700">
            <a:solidFill>
              <a:srgbClr val="FF5F57"/>
            </a:solidFill>
            <a:prstDash val="solid"/>
          </a:ln>
        </p:spPr>
      </p:sp>
      <p:sp>
        <p:nvSpPr>
          <p:cNvPr id="22" name="Shape 19"/>
          <p:cNvSpPr/>
          <p:nvPr/>
        </p:nvSpPr>
        <p:spPr>
          <a:xfrm>
            <a:off x="6629400" y="4425696"/>
            <a:ext cx="118872" cy="118872"/>
          </a:xfrm>
          <a:prstGeom prst="ellipse">
            <a:avLst/>
          </a:prstGeom>
          <a:solidFill>
            <a:srgbClr val="FEBC2E"/>
          </a:solidFill>
          <a:ln w="12700">
            <a:solidFill>
              <a:srgbClr val="FEBC2E"/>
            </a:solidFill>
            <a:prstDash val="solid"/>
          </a:ln>
        </p:spPr>
      </p:sp>
      <p:sp>
        <p:nvSpPr>
          <p:cNvPr id="23" name="Shape 20"/>
          <p:cNvSpPr/>
          <p:nvPr/>
        </p:nvSpPr>
        <p:spPr>
          <a:xfrm>
            <a:off x="6858000" y="4425696"/>
            <a:ext cx="118872" cy="118872"/>
          </a:xfrm>
          <a:prstGeom prst="ellipse">
            <a:avLst/>
          </a:prstGeom>
          <a:solidFill>
            <a:srgbClr val="28C840"/>
          </a:solidFill>
          <a:ln w="12700">
            <a:solidFill>
              <a:srgbClr val="28C840"/>
            </a:solidFill>
            <a:prstDash val="solid"/>
          </a:ln>
        </p:spPr>
      </p:sp>
      <p:sp>
        <p:nvSpPr>
          <p:cNvPr id="24" name="Text 21"/>
          <p:cNvSpPr txBox="1"/>
          <p:nvPr/>
        </p:nvSpPr>
        <p:spPr>
          <a:xfrm>
            <a:off x="7132320" y="4370832"/>
            <a:ext cx="434340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Build + Console</a:t>
            </a:r>
            <a:endParaRPr lang="en-US" sz="1000" dirty="0"/>
          </a:p>
        </p:txBody>
      </p:sp>
      <p:sp>
        <p:nvSpPr>
          <p:cNvPr id="25" name="Text 22"/>
          <p:cNvSpPr txBox="1"/>
          <p:nvPr/>
        </p:nvSpPr>
        <p:spPr>
          <a:xfrm>
            <a:off x="6446520" y="4681728"/>
            <a:ext cx="4983480" cy="411480"/>
          </a:xfrm>
          <a:prstGeom prst="rect">
            <a:avLst/>
          </a:prstGeom>
          <a:noFill/>
          <a:ln/>
        </p:spPr>
        <p:txBody>
          <a:bodyPr wrap="square" lIns="0" tIns="0" rIns="0" bIns="0" rtlCol="0" anchor="t"/>
          <a:lstStyle/>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warning CS0642: Possible mistaken empty statement</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1</a:t>
            </a:r>
            <a:endParaRPr lang="en-US" sz="1300" dirty="0"/>
          </a:p>
        </p:txBody>
      </p:sp>
      <p:sp>
        <p:nvSpPr>
          <p:cNvPr id="26" name="Text 23"/>
          <p:cNvSpPr txBox="1"/>
          <p:nvPr/>
        </p:nvSpPr>
        <p:spPr>
          <a:xfrm>
            <a:off x="6217920" y="5349240"/>
            <a:ext cx="5440680" cy="731520"/>
          </a:xfrm>
          <a:prstGeom prst="rect">
            <a:avLst/>
          </a:prstGeom>
          <a:noFill/>
          <a:ln/>
        </p:spPr>
        <p:txBody>
          <a:bodyPr wrap="square" lIns="0" tIns="0" rIns="0" bIns="0" rtlCol="0" anchor="ctr"/>
          <a:lstStyle/>
          <a:p>
            <a:pPr indent="0" marL="0">
              <a:buNone/>
            </a:pPr>
            <a:r>
              <a:rPr lang="en-US" sz="1400" dirty="0">
                <a:solidFill>
                  <a:srgbClr val="333B4F"/>
                </a:solidFill>
                <a:latin typeface="Calibri" pitchFamily="34" charset="0"/>
                <a:ea typeface="Calibri" pitchFamily="34" charset="-122"/>
                <a:cs typeface="Calibri" pitchFamily="34" charset="-120"/>
              </a:rPr>
              <a:t>The loop body is the empty statement ";". The block runs once: count = 1, not 5.</a:t>
            </a:r>
            <a:endParaRPr lang="en-US" sz="14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COMMON MISTAKES · 2</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Changing i, Endless Loops and Misplaced Accumulators</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6</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35</a:t>
            </a:r>
            <a:endParaRPr lang="en-US" sz="1000" dirty="0"/>
          </a:p>
        </p:txBody>
      </p:sp>
      <p:sp>
        <p:nvSpPr>
          <p:cNvPr id="7" name="Shape 4"/>
          <p:cNvSpPr/>
          <p:nvPr/>
        </p:nvSpPr>
        <p:spPr>
          <a:xfrm>
            <a:off x="548640" y="1600200"/>
            <a:ext cx="5486400" cy="2194560"/>
          </a:xfrm>
          <a:prstGeom prst="roundRect">
            <a:avLst>
              <a:gd name="adj" fmla="val 5000"/>
            </a:avLst>
          </a:prstGeom>
          <a:solidFill>
            <a:srgbClr val="FBE9E7"/>
          </a:solidFill>
          <a:ln w="12700">
            <a:solidFill>
              <a:srgbClr val="FBE9E7"/>
            </a:solidFill>
            <a:prstDash val="solid"/>
          </a:ln>
        </p:spPr>
      </p:sp>
      <p:sp>
        <p:nvSpPr>
          <p:cNvPr id="8" name="Text 5"/>
          <p:cNvSpPr txBox="1"/>
          <p:nvPr/>
        </p:nvSpPr>
        <p:spPr>
          <a:xfrm>
            <a:off x="731520" y="1673352"/>
            <a:ext cx="5120640" cy="320040"/>
          </a:xfrm>
          <a:prstGeom prst="rect">
            <a:avLst/>
          </a:prstGeom>
          <a:noFill/>
          <a:ln/>
        </p:spPr>
        <p:txBody>
          <a:bodyPr wrap="square" lIns="0" tIns="0" rIns="0" bIns="0" rtlCol="0" anchor="ctr"/>
          <a:lstStyle/>
          <a:p>
            <a:pPr indent="0" marL="0">
              <a:buNone/>
            </a:pPr>
            <a:r>
              <a:rPr lang="en-US" sz="1600" b="1" dirty="0">
                <a:solidFill>
                  <a:srgbClr val="C8453B"/>
                </a:solidFill>
                <a:latin typeface="Cambria" pitchFamily="34" charset="0"/>
                <a:ea typeface="Cambria" pitchFamily="34" charset="-122"/>
                <a:cs typeface="Cambria" pitchFamily="34" charset="-120"/>
              </a:rPr>
              <a:t>Changing i inside the body</a:t>
            </a:r>
            <a:endParaRPr lang="en-US" sz="1600" dirty="0"/>
          </a:p>
        </p:txBody>
      </p:sp>
      <p:sp>
        <p:nvSpPr>
          <p:cNvPr id="9" name="Shape 6"/>
          <p:cNvSpPr/>
          <p:nvPr/>
        </p:nvSpPr>
        <p:spPr>
          <a:xfrm>
            <a:off x="731520" y="2011680"/>
            <a:ext cx="5120640" cy="1298448"/>
          </a:xfrm>
          <a:prstGeom prst="roundRect">
            <a:avLst>
              <a:gd name="adj" fmla="val 7042"/>
            </a:avLst>
          </a:prstGeom>
          <a:solidFill>
            <a:srgbClr val="0F1729"/>
          </a:solidFill>
          <a:ln w="12700">
            <a:solidFill>
              <a:srgbClr val="0F1729"/>
            </a:solidFill>
            <a:prstDash val="solid"/>
          </a:ln>
        </p:spPr>
      </p:sp>
      <p:sp>
        <p:nvSpPr>
          <p:cNvPr id="10" name="Text 7"/>
          <p:cNvSpPr txBox="1"/>
          <p:nvPr/>
        </p:nvSpPr>
        <p:spPr>
          <a:xfrm>
            <a:off x="960120" y="2176272"/>
            <a:ext cx="4663440" cy="1024128"/>
          </a:xfrm>
          <a:prstGeom prst="rect">
            <a:avLst/>
          </a:prstGeom>
          <a:noFill/>
          <a:ln/>
        </p:spPr>
        <p:txBody>
          <a:bodyPr wrap="square" lIns="0" tIns="0" rIns="0" bIns="0" rtlCol="0" anchor="t"/>
          <a:lstStyle/>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for</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i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i &lt;=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i++)</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$"{i} "</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i++;   </a:t>
            </a:r>
            <a:pPr indent="0" marL="0">
              <a:spcAft>
                <a:spcPts val="100"/>
              </a:spcAft>
              <a:buNone/>
            </a:pPr>
            <a:r>
              <a:rPr lang="en-US" sz="1200" dirty="0">
                <a:solidFill>
                  <a:srgbClr val="7F8BA3"/>
                </a:solidFill>
                <a:latin typeface="Courier New" pitchFamily="34" charset="0"/>
                <a:ea typeface="Courier New" pitchFamily="34" charset="-122"/>
                <a:cs typeface="Courier New" pitchFamily="34" charset="-120"/>
              </a:rPr>
              <a:t>// second update!</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11" name="Text 8"/>
          <p:cNvSpPr txBox="1"/>
          <p:nvPr/>
        </p:nvSpPr>
        <p:spPr>
          <a:xfrm>
            <a:off x="731520" y="3319272"/>
            <a:ext cx="5120640" cy="457200"/>
          </a:xfrm>
          <a:prstGeom prst="rect">
            <a:avLst/>
          </a:prstGeom>
          <a:noFill/>
          <a:ln/>
        </p:spPr>
        <p:txBody>
          <a:bodyPr wrap="square" lIns="0" tIns="0" rIns="0" bIns="0" rtlCol="0" anchor="ctr"/>
          <a:lstStyle/>
          <a:p>
            <a:pPr indent="0" marL="0">
              <a:buNone/>
            </a:pPr>
            <a:r>
              <a:rPr lang="en-US" sz="1300" dirty="0">
                <a:solidFill>
                  <a:srgbClr val="14213D"/>
                </a:solidFill>
                <a:latin typeface="Calibri" pitchFamily="34" charset="0"/>
                <a:ea typeface="Calibri" pitchFamily="34" charset="-122"/>
                <a:cs typeface="Calibri" pitchFamily="34" charset="-120"/>
              </a:rPr>
              <a:t>Prints 1 3 5 7 9. Let the header do the updating.</a:t>
            </a:r>
            <a:endParaRPr lang="en-US" sz="1300" dirty="0"/>
          </a:p>
        </p:txBody>
      </p:sp>
      <p:sp>
        <p:nvSpPr>
          <p:cNvPr id="12" name="Shape 9"/>
          <p:cNvSpPr/>
          <p:nvPr/>
        </p:nvSpPr>
        <p:spPr>
          <a:xfrm>
            <a:off x="6172200" y="1600200"/>
            <a:ext cx="5486400" cy="2194560"/>
          </a:xfrm>
          <a:prstGeom prst="roundRect">
            <a:avLst>
              <a:gd name="adj" fmla="val 5000"/>
            </a:avLst>
          </a:prstGeom>
          <a:solidFill>
            <a:srgbClr val="FBE9E7"/>
          </a:solidFill>
          <a:ln w="12700">
            <a:solidFill>
              <a:srgbClr val="FBE9E7"/>
            </a:solidFill>
            <a:prstDash val="solid"/>
          </a:ln>
        </p:spPr>
      </p:sp>
      <p:sp>
        <p:nvSpPr>
          <p:cNvPr id="13" name="Text 10"/>
          <p:cNvSpPr txBox="1"/>
          <p:nvPr/>
        </p:nvSpPr>
        <p:spPr>
          <a:xfrm>
            <a:off x="6355080" y="1673352"/>
            <a:ext cx="5120640" cy="320040"/>
          </a:xfrm>
          <a:prstGeom prst="rect">
            <a:avLst/>
          </a:prstGeom>
          <a:noFill/>
          <a:ln/>
        </p:spPr>
        <p:txBody>
          <a:bodyPr wrap="square" lIns="0" tIns="0" rIns="0" bIns="0" rtlCol="0" anchor="ctr"/>
          <a:lstStyle/>
          <a:p>
            <a:pPr indent="0" marL="0">
              <a:buNone/>
            </a:pPr>
            <a:r>
              <a:rPr lang="en-US" sz="1600" b="1" dirty="0">
                <a:solidFill>
                  <a:srgbClr val="C8453B"/>
                </a:solidFill>
                <a:latin typeface="Cambria" pitchFamily="34" charset="0"/>
                <a:ea typeface="Cambria" pitchFamily="34" charset="-122"/>
                <a:cs typeface="Cambria" pitchFamily="34" charset="-120"/>
              </a:rPr>
              <a:t>Wrong direction, no condition</a:t>
            </a:r>
            <a:endParaRPr lang="en-US" sz="1600" dirty="0"/>
          </a:p>
        </p:txBody>
      </p:sp>
      <p:sp>
        <p:nvSpPr>
          <p:cNvPr id="14" name="Shape 11"/>
          <p:cNvSpPr/>
          <p:nvPr/>
        </p:nvSpPr>
        <p:spPr>
          <a:xfrm>
            <a:off x="6355080" y="2011680"/>
            <a:ext cx="5120640" cy="1298448"/>
          </a:xfrm>
          <a:prstGeom prst="roundRect">
            <a:avLst>
              <a:gd name="adj" fmla="val 7042"/>
            </a:avLst>
          </a:prstGeom>
          <a:solidFill>
            <a:srgbClr val="0F1729"/>
          </a:solidFill>
          <a:ln w="12700">
            <a:solidFill>
              <a:srgbClr val="0F1729"/>
            </a:solidFill>
            <a:prstDash val="solid"/>
          </a:ln>
        </p:spPr>
      </p:sp>
      <p:sp>
        <p:nvSpPr>
          <p:cNvPr id="15" name="Text 12"/>
          <p:cNvSpPr txBox="1"/>
          <p:nvPr/>
        </p:nvSpPr>
        <p:spPr>
          <a:xfrm>
            <a:off x="6583680" y="2176272"/>
            <a:ext cx="4663440" cy="1024128"/>
          </a:xfrm>
          <a:prstGeom prst="rect">
            <a:avLst/>
          </a:prstGeom>
          <a:noFill/>
          <a:ln/>
        </p:spPr>
        <p:txBody>
          <a:bodyPr wrap="square" lIns="0" tIns="0" rIns="0" bIns="0" rtlCol="0" anchor="t"/>
          <a:lstStyle/>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for</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i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i &lt;=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i--) { ... }</a:t>
            </a:r>
            <a:endParaRPr lang="en-US" sz="1200" dirty="0"/>
          </a:p>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for</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 { ... }</a:t>
            </a:r>
            <a:endParaRPr lang="en-US" sz="1200" dirty="0"/>
          </a:p>
        </p:txBody>
      </p:sp>
      <p:sp>
        <p:nvSpPr>
          <p:cNvPr id="16" name="Text 13"/>
          <p:cNvSpPr txBox="1"/>
          <p:nvPr/>
        </p:nvSpPr>
        <p:spPr>
          <a:xfrm>
            <a:off x="6355080" y="3319272"/>
            <a:ext cx="5120640" cy="457200"/>
          </a:xfrm>
          <a:prstGeom prst="rect">
            <a:avLst/>
          </a:prstGeom>
          <a:noFill/>
          <a:ln/>
        </p:spPr>
        <p:txBody>
          <a:bodyPr wrap="square" lIns="0" tIns="0" rIns="0" bIns="0" rtlCol="0" anchor="ctr"/>
          <a:lstStyle/>
          <a:p>
            <a:pPr indent="0" marL="0">
              <a:buNone/>
            </a:pPr>
            <a:r>
              <a:rPr lang="en-US" sz="1300" dirty="0">
                <a:solidFill>
                  <a:srgbClr val="14213D"/>
                </a:solidFill>
                <a:latin typeface="Calibri" pitchFamily="34" charset="0"/>
                <a:ea typeface="Calibri" pitchFamily="34" charset="-122"/>
                <a:cs typeface="Calibri" pitchFamily="34" charset="-120"/>
              </a:rPr>
              <a:t>Line 1: 2 147 483 650 passes (int overflow). Line 2: endless, Ctrl+C.</a:t>
            </a:r>
            <a:endParaRPr lang="en-US" sz="1300" dirty="0"/>
          </a:p>
        </p:txBody>
      </p:sp>
      <p:sp>
        <p:nvSpPr>
          <p:cNvPr id="17" name="Shape 14"/>
          <p:cNvSpPr/>
          <p:nvPr/>
        </p:nvSpPr>
        <p:spPr>
          <a:xfrm>
            <a:off x="548640" y="3886200"/>
            <a:ext cx="5486400" cy="2194560"/>
          </a:xfrm>
          <a:prstGeom prst="roundRect">
            <a:avLst>
              <a:gd name="adj" fmla="val 5000"/>
            </a:avLst>
          </a:prstGeom>
          <a:solidFill>
            <a:srgbClr val="FBE9E7"/>
          </a:solidFill>
          <a:ln w="12700">
            <a:solidFill>
              <a:srgbClr val="FBE9E7"/>
            </a:solidFill>
            <a:prstDash val="solid"/>
          </a:ln>
        </p:spPr>
      </p:sp>
      <p:sp>
        <p:nvSpPr>
          <p:cNvPr id="18" name="Text 15"/>
          <p:cNvSpPr txBox="1"/>
          <p:nvPr/>
        </p:nvSpPr>
        <p:spPr>
          <a:xfrm>
            <a:off x="731520" y="3959352"/>
            <a:ext cx="5120640" cy="320040"/>
          </a:xfrm>
          <a:prstGeom prst="rect">
            <a:avLst/>
          </a:prstGeom>
          <a:noFill/>
          <a:ln/>
        </p:spPr>
        <p:txBody>
          <a:bodyPr wrap="square" lIns="0" tIns="0" rIns="0" bIns="0" rtlCol="0" anchor="ctr"/>
          <a:lstStyle/>
          <a:p>
            <a:pPr indent="0" marL="0">
              <a:buNone/>
            </a:pPr>
            <a:r>
              <a:rPr lang="en-US" sz="1600" b="1" dirty="0">
                <a:solidFill>
                  <a:srgbClr val="C8453B"/>
                </a:solidFill>
                <a:latin typeface="Cambria" pitchFamily="34" charset="0"/>
                <a:ea typeface="Cambria" pitchFamily="34" charset="-122"/>
                <a:cs typeface="Cambria" pitchFamily="34" charset="-120"/>
              </a:rPr>
              <a:t>double as a counter</a:t>
            </a:r>
            <a:endParaRPr lang="en-US" sz="1600" dirty="0"/>
          </a:p>
        </p:txBody>
      </p:sp>
      <p:sp>
        <p:nvSpPr>
          <p:cNvPr id="19" name="Shape 16"/>
          <p:cNvSpPr/>
          <p:nvPr/>
        </p:nvSpPr>
        <p:spPr>
          <a:xfrm>
            <a:off x="731520" y="4297680"/>
            <a:ext cx="5120640" cy="1298448"/>
          </a:xfrm>
          <a:prstGeom prst="roundRect">
            <a:avLst>
              <a:gd name="adj" fmla="val 7042"/>
            </a:avLst>
          </a:prstGeom>
          <a:solidFill>
            <a:srgbClr val="0F1729"/>
          </a:solidFill>
          <a:ln w="12700">
            <a:solidFill>
              <a:srgbClr val="0F1729"/>
            </a:solidFill>
            <a:prstDash val="solid"/>
          </a:ln>
        </p:spPr>
      </p:sp>
      <p:sp>
        <p:nvSpPr>
          <p:cNvPr id="20" name="Text 17"/>
          <p:cNvSpPr txBox="1"/>
          <p:nvPr/>
        </p:nvSpPr>
        <p:spPr>
          <a:xfrm>
            <a:off x="960120" y="4462272"/>
            <a:ext cx="4663440" cy="1024128"/>
          </a:xfrm>
          <a:prstGeom prst="rect">
            <a:avLst/>
          </a:prstGeom>
          <a:noFill/>
          <a:ln/>
        </p:spPr>
        <p:txBody>
          <a:bodyPr wrap="square" lIns="0" tIns="0" rIns="0" bIns="0" rtlCol="0" anchor="t"/>
          <a:lstStyle/>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for</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double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x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x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x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0.1</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21" name="Text 18"/>
          <p:cNvSpPr txBox="1"/>
          <p:nvPr/>
        </p:nvSpPr>
        <p:spPr>
          <a:xfrm>
            <a:off x="731520" y="5605272"/>
            <a:ext cx="5120640" cy="457200"/>
          </a:xfrm>
          <a:prstGeom prst="rect">
            <a:avLst/>
          </a:prstGeom>
          <a:noFill/>
          <a:ln/>
        </p:spPr>
        <p:txBody>
          <a:bodyPr wrap="square" lIns="0" tIns="0" rIns="0" bIns="0" rtlCol="0" anchor="ctr"/>
          <a:lstStyle/>
          <a:p>
            <a:pPr indent="0" marL="0">
              <a:buNone/>
            </a:pPr>
            <a:r>
              <a:rPr lang="en-US" sz="1300" dirty="0">
                <a:solidFill>
                  <a:srgbClr val="14213D"/>
                </a:solidFill>
                <a:latin typeface="Calibri" pitchFamily="34" charset="0"/>
                <a:ea typeface="Calibri" pitchFamily="34" charset="-122"/>
                <a:cs typeface="Calibri" pitchFamily="34" charset="-120"/>
              </a:rPr>
              <a:t>x reaches 0.9999999999999999, never exactly 1.0: endless. Count with int.</a:t>
            </a:r>
            <a:endParaRPr lang="en-US" sz="1300" dirty="0"/>
          </a:p>
        </p:txBody>
      </p:sp>
      <p:sp>
        <p:nvSpPr>
          <p:cNvPr id="22" name="Shape 19"/>
          <p:cNvSpPr/>
          <p:nvPr/>
        </p:nvSpPr>
        <p:spPr>
          <a:xfrm>
            <a:off x="6172200" y="3886200"/>
            <a:ext cx="5486400" cy="2194560"/>
          </a:xfrm>
          <a:prstGeom prst="roundRect">
            <a:avLst>
              <a:gd name="adj" fmla="val 5000"/>
            </a:avLst>
          </a:prstGeom>
          <a:solidFill>
            <a:srgbClr val="FBE9E7"/>
          </a:solidFill>
          <a:ln w="12700">
            <a:solidFill>
              <a:srgbClr val="FBE9E7"/>
            </a:solidFill>
            <a:prstDash val="solid"/>
          </a:ln>
        </p:spPr>
      </p:sp>
      <p:sp>
        <p:nvSpPr>
          <p:cNvPr id="23" name="Text 20"/>
          <p:cNvSpPr txBox="1"/>
          <p:nvPr/>
        </p:nvSpPr>
        <p:spPr>
          <a:xfrm>
            <a:off x="6355080" y="3959352"/>
            <a:ext cx="5120640" cy="320040"/>
          </a:xfrm>
          <a:prstGeom prst="rect">
            <a:avLst/>
          </a:prstGeom>
          <a:noFill/>
          <a:ln/>
        </p:spPr>
        <p:txBody>
          <a:bodyPr wrap="square" lIns="0" tIns="0" rIns="0" bIns="0" rtlCol="0" anchor="ctr"/>
          <a:lstStyle/>
          <a:p>
            <a:pPr indent="0" marL="0">
              <a:buNone/>
            </a:pPr>
            <a:r>
              <a:rPr lang="en-US" sz="1600" b="1" dirty="0">
                <a:solidFill>
                  <a:srgbClr val="C8453B"/>
                </a:solidFill>
                <a:latin typeface="Cambria" pitchFamily="34" charset="0"/>
                <a:ea typeface="Cambria" pitchFamily="34" charset="-122"/>
                <a:cs typeface="Cambria" pitchFamily="34" charset="-120"/>
              </a:rPr>
              <a:t>Accumulator inside the loop</a:t>
            </a:r>
            <a:endParaRPr lang="en-US" sz="1600" dirty="0"/>
          </a:p>
        </p:txBody>
      </p:sp>
      <p:sp>
        <p:nvSpPr>
          <p:cNvPr id="24" name="Shape 21"/>
          <p:cNvSpPr/>
          <p:nvPr/>
        </p:nvSpPr>
        <p:spPr>
          <a:xfrm>
            <a:off x="6355080" y="4297680"/>
            <a:ext cx="5120640" cy="1298448"/>
          </a:xfrm>
          <a:prstGeom prst="roundRect">
            <a:avLst>
              <a:gd name="adj" fmla="val 7042"/>
            </a:avLst>
          </a:prstGeom>
          <a:solidFill>
            <a:srgbClr val="0F1729"/>
          </a:solidFill>
          <a:ln w="12700">
            <a:solidFill>
              <a:srgbClr val="0F1729"/>
            </a:solidFill>
            <a:prstDash val="solid"/>
          </a:ln>
        </p:spPr>
      </p:sp>
      <p:sp>
        <p:nvSpPr>
          <p:cNvPr id="25" name="Text 22"/>
          <p:cNvSpPr txBox="1"/>
          <p:nvPr/>
        </p:nvSpPr>
        <p:spPr>
          <a:xfrm>
            <a:off x="6583680" y="4462272"/>
            <a:ext cx="4663440" cy="1024128"/>
          </a:xfrm>
          <a:prstGeom prst="rect">
            <a:avLst/>
          </a:prstGeom>
          <a:noFill/>
          <a:ln/>
        </p:spPr>
        <p:txBody>
          <a:bodyPr wrap="square" lIns="0" tIns="0" rIns="0" bIns="0" rtlCol="0" anchor="t"/>
          <a:lstStyle/>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for</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i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i &lt;=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3</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i++)</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sum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F8BA3"/>
                </a:solidFill>
                <a:latin typeface="Courier New" pitchFamily="34" charset="0"/>
                <a:ea typeface="Courier New" pitchFamily="34" charset="-122"/>
                <a:cs typeface="Courier New" pitchFamily="34" charset="-120"/>
              </a:rPr>
              <a:t>// reset every pass!</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sum += i;</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26" name="Text 23"/>
          <p:cNvSpPr txBox="1"/>
          <p:nvPr/>
        </p:nvSpPr>
        <p:spPr>
          <a:xfrm>
            <a:off x="6355080" y="5605272"/>
            <a:ext cx="5120640" cy="457200"/>
          </a:xfrm>
          <a:prstGeom prst="rect">
            <a:avLst/>
          </a:prstGeom>
          <a:noFill/>
          <a:ln/>
        </p:spPr>
        <p:txBody>
          <a:bodyPr wrap="square" lIns="0" tIns="0" rIns="0" bIns="0" rtlCol="0" anchor="ctr"/>
          <a:lstStyle/>
          <a:p>
            <a:pPr indent="0" marL="0">
              <a:buNone/>
            </a:pPr>
            <a:r>
              <a:rPr lang="en-US" sz="1300" dirty="0">
                <a:solidFill>
                  <a:srgbClr val="14213D"/>
                </a:solidFill>
                <a:latin typeface="Calibri" pitchFamily="34" charset="0"/>
                <a:ea typeface="Calibri" pitchFamily="34" charset="-122"/>
                <a:cs typeface="Calibri" pitchFamily="34" charset="-120"/>
              </a:rPr>
              <a:t>sum restarts at 0 and is gone after the loop. Declare it before the loop.</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QUIZ · PREDICT THE OUTPUT</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Predict the Output: Counting, break, continue</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6</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36</a:t>
            </a:r>
            <a:endParaRPr lang="en-US" sz="1000" dirty="0"/>
          </a:p>
        </p:txBody>
      </p:sp>
      <p:sp>
        <p:nvSpPr>
          <p:cNvPr id="7" name="Shape 4"/>
          <p:cNvSpPr/>
          <p:nvPr/>
        </p:nvSpPr>
        <p:spPr>
          <a:xfrm>
            <a:off x="548640" y="1645920"/>
            <a:ext cx="3474720" cy="3611880"/>
          </a:xfrm>
          <a:prstGeom prst="roundRect">
            <a:avLst>
              <a:gd name="adj" fmla="val 2632"/>
            </a:avLst>
          </a:prstGeom>
          <a:solidFill>
            <a:srgbClr val="0F1729"/>
          </a:solidFill>
          <a:ln w="12700">
            <a:solidFill>
              <a:srgbClr val="0F1729"/>
            </a:solidFill>
            <a:prstDash val="solid"/>
          </a:ln>
        </p:spPr>
      </p:sp>
      <p:sp>
        <p:nvSpPr>
          <p:cNvPr id="8" name="Text 5"/>
          <p:cNvSpPr txBox="1"/>
          <p:nvPr/>
        </p:nvSpPr>
        <p:spPr>
          <a:xfrm>
            <a:off x="777240" y="1755648"/>
            <a:ext cx="301752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Q4</a:t>
            </a:r>
            <a:endParaRPr lang="en-US" sz="1100" dirty="0"/>
          </a:p>
        </p:txBody>
      </p:sp>
      <p:sp>
        <p:nvSpPr>
          <p:cNvPr id="9" name="Text 6"/>
          <p:cNvSpPr txBox="1"/>
          <p:nvPr/>
        </p:nvSpPr>
        <p:spPr>
          <a:xfrm>
            <a:off x="777240" y="2057400"/>
            <a:ext cx="3017520" cy="3090672"/>
          </a:xfrm>
          <a:prstGeom prst="rect">
            <a:avLst/>
          </a:prstGeom>
          <a:noFill/>
          <a:ln/>
        </p:spPr>
        <p:txBody>
          <a:bodyPr wrap="square" lIns="0" tIns="0" rIns="0" bIns="0" rtlCol="0" anchor="t"/>
          <a:lstStyle/>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count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for</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i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i &lt;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4</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i++)</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for</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j = i; j &lt;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4</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j++)</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count++;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.WriteLine(count);</a:t>
            </a:r>
            <a:endParaRPr lang="en-US" sz="1200" dirty="0"/>
          </a:p>
        </p:txBody>
      </p:sp>
      <p:sp>
        <p:nvSpPr>
          <p:cNvPr id="10" name="Shape 7"/>
          <p:cNvSpPr/>
          <p:nvPr/>
        </p:nvSpPr>
        <p:spPr>
          <a:xfrm>
            <a:off x="4160520" y="1645920"/>
            <a:ext cx="3200400" cy="3611880"/>
          </a:xfrm>
          <a:prstGeom prst="roundRect">
            <a:avLst>
              <a:gd name="adj" fmla="val 2857"/>
            </a:avLst>
          </a:prstGeom>
          <a:solidFill>
            <a:srgbClr val="0F1729"/>
          </a:solidFill>
          <a:ln w="12700">
            <a:solidFill>
              <a:srgbClr val="0F1729"/>
            </a:solidFill>
            <a:prstDash val="solid"/>
          </a:ln>
        </p:spPr>
      </p:sp>
      <p:sp>
        <p:nvSpPr>
          <p:cNvPr id="11" name="Text 8"/>
          <p:cNvSpPr txBox="1"/>
          <p:nvPr/>
        </p:nvSpPr>
        <p:spPr>
          <a:xfrm>
            <a:off x="4389120" y="1755648"/>
            <a:ext cx="274320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Q5</a:t>
            </a:r>
            <a:endParaRPr lang="en-US" sz="1100" dirty="0"/>
          </a:p>
        </p:txBody>
      </p:sp>
      <p:sp>
        <p:nvSpPr>
          <p:cNvPr id="12" name="Text 9"/>
          <p:cNvSpPr txBox="1"/>
          <p:nvPr/>
        </p:nvSpPr>
        <p:spPr>
          <a:xfrm>
            <a:off x="4389120" y="2057400"/>
            <a:ext cx="2743200" cy="3090672"/>
          </a:xfrm>
          <a:prstGeom prst="rect">
            <a:avLst/>
          </a:prstGeom>
          <a:noFill/>
          <a:ln/>
        </p:spPr>
        <p:txBody>
          <a:bodyPr wrap="square" lIns="0" tIns="0" rIns="0" bIns="0" rtlCol="0" anchor="t"/>
          <a:lstStyle/>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for</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i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i &lt;=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i++)</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if</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(i * i &gt;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20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break</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.Write(i);</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13" name="Shape 10"/>
          <p:cNvSpPr/>
          <p:nvPr/>
        </p:nvSpPr>
        <p:spPr>
          <a:xfrm>
            <a:off x="7498080" y="1645920"/>
            <a:ext cx="4160520" cy="3611880"/>
          </a:xfrm>
          <a:prstGeom prst="roundRect">
            <a:avLst>
              <a:gd name="adj" fmla="val 2532"/>
            </a:avLst>
          </a:prstGeom>
          <a:solidFill>
            <a:srgbClr val="0F1729"/>
          </a:solidFill>
          <a:ln w="12700">
            <a:solidFill>
              <a:srgbClr val="0F1729"/>
            </a:solidFill>
            <a:prstDash val="solid"/>
          </a:ln>
        </p:spPr>
      </p:sp>
      <p:sp>
        <p:nvSpPr>
          <p:cNvPr id="14" name="Text 11"/>
          <p:cNvSpPr txBox="1"/>
          <p:nvPr/>
        </p:nvSpPr>
        <p:spPr>
          <a:xfrm>
            <a:off x="7726680" y="1755648"/>
            <a:ext cx="370332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Q6</a:t>
            </a:r>
            <a:endParaRPr lang="en-US" sz="1100" dirty="0"/>
          </a:p>
        </p:txBody>
      </p:sp>
      <p:sp>
        <p:nvSpPr>
          <p:cNvPr id="15" name="Text 12"/>
          <p:cNvSpPr txBox="1"/>
          <p:nvPr/>
        </p:nvSpPr>
        <p:spPr>
          <a:xfrm>
            <a:off x="7726680" y="2057400"/>
            <a:ext cx="3703320" cy="3090672"/>
          </a:xfrm>
          <a:prstGeom prst="rect">
            <a:avLst/>
          </a:prstGeom>
          <a:noFill/>
          <a:ln/>
        </p:spPr>
        <p:txBody>
          <a:bodyPr wrap="square" lIns="0" tIns="0" rIns="0" bIns="0" rtlCol="0" anchor="t"/>
          <a:lstStyle/>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for</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i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i &lt;=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3</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i++)</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for</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j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j &lt;=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3</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j++)</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if</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(i == j)</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continue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$"{i}{j} "</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16" name="Shape 13"/>
          <p:cNvSpPr/>
          <p:nvPr/>
        </p:nvSpPr>
        <p:spPr>
          <a:xfrm>
            <a:off x="548640" y="5440680"/>
            <a:ext cx="11109960" cy="640080"/>
          </a:xfrm>
          <a:prstGeom prst="roundRect">
            <a:avLst>
              <a:gd name="adj" fmla="val 17143"/>
            </a:avLst>
          </a:prstGeom>
          <a:solidFill>
            <a:srgbClr val="FFF6E3"/>
          </a:solidFill>
          <a:ln w="12700">
            <a:solidFill>
              <a:srgbClr val="FFF6E3"/>
            </a:solidFill>
            <a:prstDash val="solid"/>
          </a:ln>
        </p:spPr>
      </p:sp>
      <p:pic>
        <p:nvPicPr>
          <p:cNvPr id="17" name="Image 0" descr="preencoded.png">    </p:cNvPr>
          <p:cNvPicPr>
            <a:picLocks noChangeAspect="1"/>
          </p:cNvPicPr>
          <p:nvPr/>
        </p:nvPicPr>
        <p:blipFill>
          <a:blip r:embed="rId1"/>
          <a:stretch>
            <a:fillRect/>
          </a:stretch>
        </p:blipFill>
        <p:spPr>
          <a:xfrm>
            <a:off x="822960" y="5577840"/>
            <a:ext cx="365760" cy="365760"/>
          </a:xfrm>
          <a:prstGeom prst="rect">
            <a:avLst/>
          </a:prstGeom>
        </p:spPr>
      </p:pic>
      <p:sp>
        <p:nvSpPr>
          <p:cNvPr id="18" name="Text 14"/>
          <p:cNvSpPr txBox="1"/>
          <p:nvPr/>
        </p:nvSpPr>
        <p:spPr>
          <a:xfrm>
            <a:off x="1463040" y="5513832"/>
            <a:ext cx="9921240" cy="493776"/>
          </a:xfrm>
          <a:prstGeom prst="rect">
            <a:avLst/>
          </a:prstGeom>
          <a:noFill/>
          <a:ln/>
        </p:spPr>
        <p:txBody>
          <a:bodyPr wrap="square" lIns="0" tIns="0" rIns="0" bIns="0" rtlCol="0" anchor="ctr"/>
          <a:lstStyle/>
          <a:p>
            <a:pPr indent="0" marL="0">
              <a:buNone/>
            </a:pPr>
            <a:r>
              <a:rPr lang="en-US" sz="1500" dirty="0">
                <a:solidFill>
                  <a:srgbClr val="333B4F"/>
                </a:solidFill>
                <a:latin typeface="Calibri" pitchFamily="34" charset="0"/>
                <a:ea typeface="Calibri" pitchFamily="34" charset="-122"/>
                <a:cs typeface="Calibri" pitchFamily="34" charset="-120"/>
              </a:rPr>
              <a:t>Q4: count the inner passes for i = 0, 1, 2, 3.   Q5: check i * i before printing.   Q6: which pairs are skipped?</a:t>
            </a:r>
            <a:endParaRPr lang="en-US" sz="15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QUIZ · ANSWERS</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Answers: Counting, break, continue</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6</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37</a:t>
            </a:r>
            <a:endParaRPr lang="en-US" sz="1000" dirty="0"/>
          </a:p>
        </p:txBody>
      </p:sp>
      <p:sp>
        <p:nvSpPr>
          <p:cNvPr id="7" name="Shape 4"/>
          <p:cNvSpPr/>
          <p:nvPr/>
        </p:nvSpPr>
        <p:spPr>
          <a:xfrm>
            <a:off x="548640" y="1645920"/>
            <a:ext cx="3474720" cy="1188720"/>
          </a:xfrm>
          <a:prstGeom prst="roundRect">
            <a:avLst>
              <a:gd name="adj" fmla="val 7692"/>
            </a:avLst>
          </a:prstGeom>
          <a:solidFill>
            <a:srgbClr val="0B0F19"/>
          </a:solidFill>
          <a:ln w="12700">
            <a:solidFill>
              <a:srgbClr val="2A3654"/>
            </a:solidFill>
            <a:prstDash val="solid"/>
          </a:ln>
        </p:spPr>
      </p:sp>
      <p:sp>
        <p:nvSpPr>
          <p:cNvPr id="8" name="Shape 5"/>
          <p:cNvSpPr/>
          <p:nvPr/>
        </p:nvSpPr>
        <p:spPr>
          <a:xfrm>
            <a:off x="731520" y="1773936"/>
            <a:ext cx="118872" cy="118872"/>
          </a:xfrm>
          <a:prstGeom prst="ellipse">
            <a:avLst/>
          </a:prstGeom>
          <a:solidFill>
            <a:srgbClr val="FF5F57"/>
          </a:solidFill>
          <a:ln w="12700">
            <a:solidFill>
              <a:srgbClr val="FF5F57"/>
            </a:solidFill>
            <a:prstDash val="solid"/>
          </a:ln>
        </p:spPr>
      </p:sp>
      <p:sp>
        <p:nvSpPr>
          <p:cNvPr id="9" name="Shape 6"/>
          <p:cNvSpPr/>
          <p:nvPr/>
        </p:nvSpPr>
        <p:spPr>
          <a:xfrm>
            <a:off x="960120" y="1773936"/>
            <a:ext cx="118872" cy="118872"/>
          </a:xfrm>
          <a:prstGeom prst="ellipse">
            <a:avLst/>
          </a:prstGeom>
          <a:solidFill>
            <a:srgbClr val="FEBC2E"/>
          </a:solidFill>
          <a:ln w="12700">
            <a:solidFill>
              <a:srgbClr val="FEBC2E"/>
            </a:solidFill>
            <a:prstDash val="solid"/>
          </a:ln>
        </p:spPr>
      </p:sp>
      <p:sp>
        <p:nvSpPr>
          <p:cNvPr id="10" name="Shape 7"/>
          <p:cNvSpPr/>
          <p:nvPr/>
        </p:nvSpPr>
        <p:spPr>
          <a:xfrm>
            <a:off x="1188720" y="1773936"/>
            <a:ext cx="118872" cy="118872"/>
          </a:xfrm>
          <a:prstGeom prst="ellipse">
            <a:avLst/>
          </a:prstGeom>
          <a:solidFill>
            <a:srgbClr val="28C840"/>
          </a:solidFill>
          <a:ln w="12700">
            <a:solidFill>
              <a:srgbClr val="28C840"/>
            </a:solidFill>
            <a:prstDash val="solid"/>
          </a:ln>
        </p:spPr>
      </p:sp>
      <p:sp>
        <p:nvSpPr>
          <p:cNvPr id="11" name="Text 8"/>
          <p:cNvSpPr txBox="1"/>
          <p:nvPr/>
        </p:nvSpPr>
        <p:spPr>
          <a:xfrm>
            <a:off x="1463040" y="1719072"/>
            <a:ext cx="237744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Q4</a:t>
            </a:r>
            <a:endParaRPr lang="en-US" sz="1000" dirty="0"/>
          </a:p>
        </p:txBody>
      </p:sp>
      <p:sp>
        <p:nvSpPr>
          <p:cNvPr id="12" name="Text 9"/>
          <p:cNvSpPr txBox="1"/>
          <p:nvPr/>
        </p:nvSpPr>
        <p:spPr>
          <a:xfrm>
            <a:off x="777240" y="2029968"/>
            <a:ext cx="3017520" cy="685800"/>
          </a:xfrm>
          <a:prstGeom prst="rect">
            <a:avLst/>
          </a:prstGeom>
          <a:noFill/>
          <a:ln/>
        </p:spPr>
        <p:txBody>
          <a:bodyPr wrap="square" lIns="0" tIns="0" rIns="0" bIns="0" rtlCol="0" anchor="t"/>
          <a:lstStyle/>
          <a:p>
            <a:pPr indent="0" marL="0">
              <a:spcAft>
                <a:spcPts val="100"/>
              </a:spcAft>
              <a:buNone/>
            </a:pPr>
            <a:r>
              <a:rPr lang="en-US" sz="2000" dirty="0">
                <a:solidFill>
                  <a:srgbClr val="7EE2A8"/>
                </a:solidFill>
                <a:latin typeface="Courier New" pitchFamily="34" charset="0"/>
                <a:ea typeface="Courier New" pitchFamily="34" charset="-122"/>
                <a:cs typeface="Courier New" pitchFamily="34" charset="-120"/>
              </a:rPr>
              <a:t>10</a:t>
            </a:r>
            <a:endParaRPr lang="en-US" sz="2000" dirty="0"/>
          </a:p>
        </p:txBody>
      </p:sp>
      <p:sp>
        <p:nvSpPr>
          <p:cNvPr id="13" name="Shape 10"/>
          <p:cNvSpPr/>
          <p:nvPr/>
        </p:nvSpPr>
        <p:spPr>
          <a:xfrm>
            <a:off x="4160520" y="1645920"/>
            <a:ext cx="3200400" cy="1188720"/>
          </a:xfrm>
          <a:prstGeom prst="roundRect">
            <a:avLst>
              <a:gd name="adj" fmla="val 7692"/>
            </a:avLst>
          </a:prstGeom>
          <a:solidFill>
            <a:srgbClr val="0B0F19"/>
          </a:solidFill>
          <a:ln w="12700">
            <a:solidFill>
              <a:srgbClr val="2A3654"/>
            </a:solidFill>
            <a:prstDash val="solid"/>
          </a:ln>
        </p:spPr>
      </p:sp>
      <p:sp>
        <p:nvSpPr>
          <p:cNvPr id="14" name="Shape 11"/>
          <p:cNvSpPr/>
          <p:nvPr/>
        </p:nvSpPr>
        <p:spPr>
          <a:xfrm>
            <a:off x="4343400" y="1773936"/>
            <a:ext cx="118872" cy="118872"/>
          </a:xfrm>
          <a:prstGeom prst="ellipse">
            <a:avLst/>
          </a:prstGeom>
          <a:solidFill>
            <a:srgbClr val="FF5F57"/>
          </a:solidFill>
          <a:ln w="12700">
            <a:solidFill>
              <a:srgbClr val="FF5F57"/>
            </a:solidFill>
            <a:prstDash val="solid"/>
          </a:ln>
        </p:spPr>
      </p:sp>
      <p:sp>
        <p:nvSpPr>
          <p:cNvPr id="15" name="Shape 12"/>
          <p:cNvSpPr/>
          <p:nvPr/>
        </p:nvSpPr>
        <p:spPr>
          <a:xfrm>
            <a:off x="4572000" y="1773936"/>
            <a:ext cx="118872" cy="118872"/>
          </a:xfrm>
          <a:prstGeom prst="ellipse">
            <a:avLst/>
          </a:prstGeom>
          <a:solidFill>
            <a:srgbClr val="FEBC2E"/>
          </a:solidFill>
          <a:ln w="12700">
            <a:solidFill>
              <a:srgbClr val="FEBC2E"/>
            </a:solidFill>
            <a:prstDash val="solid"/>
          </a:ln>
        </p:spPr>
      </p:sp>
      <p:sp>
        <p:nvSpPr>
          <p:cNvPr id="16" name="Shape 13"/>
          <p:cNvSpPr/>
          <p:nvPr/>
        </p:nvSpPr>
        <p:spPr>
          <a:xfrm>
            <a:off x="4800600" y="1773936"/>
            <a:ext cx="118872" cy="118872"/>
          </a:xfrm>
          <a:prstGeom prst="ellipse">
            <a:avLst/>
          </a:prstGeom>
          <a:solidFill>
            <a:srgbClr val="28C840"/>
          </a:solidFill>
          <a:ln w="12700">
            <a:solidFill>
              <a:srgbClr val="28C840"/>
            </a:solidFill>
            <a:prstDash val="solid"/>
          </a:ln>
        </p:spPr>
      </p:sp>
      <p:sp>
        <p:nvSpPr>
          <p:cNvPr id="17" name="Text 14"/>
          <p:cNvSpPr txBox="1"/>
          <p:nvPr/>
        </p:nvSpPr>
        <p:spPr>
          <a:xfrm>
            <a:off x="5074920" y="1719072"/>
            <a:ext cx="210312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Q5</a:t>
            </a:r>
            <a:endParaRPr lang="en-US" sz="1000" dirty="0"/>
          </a:p>
        </p:txBody>
      </p:sp>
      <p:sp>
        <p:nvSpPr>
          <p:cNvPr id="18" name="Text 15"/>
          <p:cNvSpPr txBox="1"/>
          <p:nvPr/>
        </p:nvSpPr>
        <p:spPr>
          <a:xfrm>
            <a:off x="4389120" y="2029968"/>
            <a:ext cx="2743200" cy="685800"/>
          </a:xfrm>
          <a:prstGeom prst="rect">
            <a:avLst/>
          </a:prstGeom>
          <a:noFill/>
          <a:ln/>
        </p:spPr>
        <p:txBody>
          <a:bodyPr wrap="square" lIns="0" tIns="0" rIns="0" bIns="0" rtlCol="0" anchor="t"/>
          <a:lstStyle/>
          <a:p>
            <a:pPr indent="0" marL="0">
              <a:spcAft>
                <a:spcPts val="100"/>
              </a:spcAft>
              <a:buNone/>
            </a:pPr>
            <a:r>
              <a:rPr lang="en-US" sz="2000" dirty="0">
                <a:solidFill>
                  <a:srgbClr val="7EE2A8"/>
                </a:solidFill>
                <a:latin typeface="Courier New" pitchFamily="34" charset="0"/>
                <a:ea typeface="Courier New" pitchFamily="34" charset="-122"/>
                <a:cs typeface="Courier New" pitchFamily="34" charset="-120"/>
              </a:rPr>
              <a:t>1234</a:t>
            </a:r>
            <a:endParaRPr lang="en-US" sz="2000" dirty="0"/>
          </a:p>
        </p:txBody>
      </p:sp>
      <p:sp>
        <p:nvSpPr>
          <p:cNvPr id="19" name="Shape 16"/>
          <p:cNvSpPr/>
          <p:nvPr/>
        </p:nvSpPr>
        <p:spPr>
          <a:xfrm>
            <a:off x="7498080" y="1645920"/>
            <a:ext cx="4160520" cy="1188720"/>
          </a:xfrm>
          <a:prstGeom prst="roundRect">
            <a:avLst>
              <a:gd name="adj" fmla="val 7692"/>
            </a:avLst>
          </a:prstGeom>
          <a:solidFill>
            <a:srgbClr val="0B0F19"/>
          </a:solidFill>
          <a:ln w="12700">
            <a:solidFill>
              <a:srgbClr val="2A3654"/>
            </a:solidFill>
            <a:prstDash val="solid"/>
          </a:ln>
        </p:spPr>
      </p:sp>
      <p:sp>
        <p:nvSpPr>
          <p:cNvPr id="20" name="Shape 17"/>
          <p:cNvSpPr/>
          <p:nvPr/>
        </p:nvSpPr>
        <p:spPr>
          <a:xfrm>
            <a:off x="7680960" y="1773936"/>
            <a:ext cx="118872" cy="118872"/>
          </a:xfrm>
          <a:prstGeom prst="ellipse">
            <a:avLst/>
          </a:prstGeom>
          <a:solidFill>
            <a:srgbClr val="FF5F57"/>
          </a:solidFill>
          <a:ln w="12700">
            <a:solidFill>
              <a:srgbClr val="FF5F57"/>
            </a:solidFill>
            <a:prstDash val="solid"/>
          </a:ln>
        </p:spPr>
      </p:sp>
      <p:sp>
        <p:nvSpPr>
          <p:cNvPr id="21" name="Shape 18"/>
          <p:cNvSpPr/>
          <p:nvPr/>
        </p:nvSpPr>
        <p:spPr>
          <a:xfrm>
            <a:off x="7909560" y="1773936"/>
            <a:ext cx="118872" cy="118872"/>
          </a:xfrm>
          <a:prstGeom prst="ellipse">
            <a:avLst/>
          </a:prstGeom>
          <a:solidFill>
            <a:srgbClr val="FEBC2E"/>
          </a:solidFill>
          <a:ln w="12700">
            <a:solidFill>
              <a:srgbClr val="FEBC2E"/>
            </a:solidFill>
            <a:prstDash val="solid"/>
          </a:ln>
        </p:spPr>
      </p:sp>
      <p:sp>
        <p:nvSpPr>
          <p:cNvPr id="22" name="Shape 19"/>
          <p:cNvSpPr/>
          <p:nvPr/>
        </p:nvSpPr>
        <p:spPr>
          <a:xfrm>
            <a:off x="8138160" y="1773936"/>
            <a:ext cx="118872" cy="118872"/>
          </a:xfrm>
          <a:prstGeom prst="ellipse">
            <a:avLst/>
          </a:prstGeom>
          <a:solidFill>
            <a:srgbClr val="28C840"/>
          </a:solidFill>
          <a:ln w="12700">
            <a:solidFill>
              <a:srgbClr val="28C840"/>
            </a:solidFill>
            <a:prstDash val="solid"/>
          </a:ln>
        </p:spPr>
      </p:sp>
      <p:sp>
        <p:nvSpPr>
          <p:cNvPr id="23" name="Text 20"/>
          <p:cNvSpPr txBox="1"/>
          <p:nvPr/>
        </p:nvSpPr>
        <p:spPr>
          <a:xfrm>
            <a:off x="8412480" y="1719072"/>
            <a:ext cx="306324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Q6</a:t>
            </a:r>
            <a:endParaRPr lang="en-US" sz="1000" dirty="0"/>
          </a:p>
        </p:txBody>
      </p:sp>
      <p:sp>
        <p:nvSpPr>
          <p:cNvPr id="24" name="Text 21"/>
          <p:cNvSpPr txBox="1"/>
          <p:nvPr/>
        </p:nvSpPr>
        <p:spPr>
          <a:xfrm>
            <a:off x="7726680" y="2029968"/>
            <a:ext cx="3703320" cy="685800"/>
          </a:xfrm>
          <a:prstGeom prst="rect">
            <a:avLst/>
          </a:prstGeom>
          <a:noFill/>
          <a:ln/>
        </p:spPr>
        <p:txBody>
          <a:bodyPr wrap="square" lIns="0" tIns="0" rIns="0" bIns="0" rtlCol="0" anchor="t"/>
          <a:lstStyle/>
          <a:p>
            <a:pPr indent="0" marL="0">
              <a:spcAft>
                <a:spcPts val="100"/>
              </a:spcAft>
              <a:buNone/>
            </a:pPr>
            <a:r>
              <a:rPr lang="en-US" sz="1800" dirty="0">
                <a:solidFill>
                  <a:srgbClr val="7EE2A8"/>
                </a:solidFill>
                <a:latin typeface="Courier New" pitchFamily="34" charset="0"/>
                <a:ea typeface="Courier New" pitchFamily="34" charset="-122"/>
                <a:cs typeface="Courier New" pitchFamily="34" charset="-120"/>
              </a:rPr>
              <a:t>12 13 21 23 31 32</a:t>
            </a:r>
            <a:endParaRPr lang="en-US" sz="1800" dirty="0"/>
          </a:p>
        </p:txBody>
      </p:sp>
      <p:sp>
        <p:nvSpPr>
          <p:cNvPr id="25" name="Shape 22"/>
          <p:cNvSpPr/>
          <p:nvPr/>
        </p:nvSpPr>
        <p:spPr>
          <a:xfrm>
            <a:off x="548640" y="3063240"/>
            <a:ext cx="3474720" cy="3017520"/>
          </a:xfrm>
          <a:prstGeom prst="roundRect">
            <a:avLst>
              <a:gd name="adj" fmla="val 3636"/>
            </a:avLst>
          </a:prstGeom>
          <a:solidFill>
            <a:srgbClr val="EEF1F6"/>
          </a:solidFill>
          <a:ln w="12700">
            <a:solidFill>
              <a:srgbClr val="EEF1F6"/>
            </a:solidFill>
            <a:prstDash val="solid"/>
          </a:ln>
        </p:spPr>
      </p:sp>
      <p:sp>
        <p:nvSpPr>
          <p:cNvPr id="26" name="Shape 23"/>
          <p:cNvSpPr/>
          <p:nvPr/>
        </p:nvSpPr>
        <p:spPr>
          <a:xfrm>
            <a:off x="777240" y="3291840"/>
            <a:ext cx="566928" cy="566928"/>
          </a:xfrm>
          <a:prstGeom prst="ellipse">
            <a:avLst/>
          </a:prstGeom>
          <a:solidFill>
            <a:srgbClr val="14213D"/>
          </a:solidFill>
          <a:ln w="12700">
            <a:solidFill>
              <a:srgbClr val="14213D"/>
            </a:solidFill>
            <a:prstDash val="solid"/>
          </a:ln>
        </p:spPr>
      </p:sp>
      <p:pic>
        <p:nvPicPr>
          <p:cNvPr id="27" name="Image 0" descr="preencoded.png">    </p:cNvPr>
          <p:cNvPicPr>
            <a:picLocks noChangeAspect="1"/>
          </p:cNvPicPr>
          <p:nvPr/>
        </p:nvPicPr>
        <p:blipFill>
          <a:blip r:embed="rId1"/>
          <a:stretch>
            <a:fillRect/>
          </a:stretch>
        </p:blipFill>
        <p:spPr>
          <a:xfrm>
            <a:off x="924641" y="3439241"/>
            <a:ext cx="272125" cy="272125"/>
          </a:xfrm>
          <a:prstGeom prst="rect">
            <a:avLst/>
          </a:prstGeom>
        </p:spPr>
      </p:pic>
      <p:sp>
        <p:nvSpPr>
          <p:cNvPr id="28" name="Text 24"/>
          <p:cNvSpPr txBox="1"/>
          <p:nvPr/>
        </p:nvSpPr>
        <p:spPr>
          <a:xfrm>
            <a:off x="1463040" y="3291840"/>
            <a:ext cx="237744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Triangular count</a:t>
            </a:r>
            <a:endParaRPr lang="en-US" sz="1700" dirty="0"/>
          </a:p>
        </p:txBody>
      </p:sp>
      <p:sp>
        <p:nvSpPr>
          <p:cNvPr id="29" name="Text 25"/>
          <p:cNvSpPr txBox="1"/>
          <p:nvPr/>
        </p:nvSpPr>
        <p:spPr>
          <a:xfrm>
            <a:off x="777240" y="3977640"/>
            <a:ext cx="3017520" cy="1965960"/>
          </a:xfrm>
          <a:prstGeom prst="rect">
            <a:avLst/>
          </a:prstGeom>
          <a:noFill/>
          <a:ln/>
        </p:spPr>
        <p:txBody>
          <a:bodyPr wrap="square" lIns="0" tIns="0" rIns="0" bIns="0" rtlCol="0" anchor="t"/>
          <a:lstStyle/>
          <a:p>
            <a:pPr indent="0" marL="0">
              <a:buNone/>
            </a:pPr>
            <a:r>
              <a:rPr lang="en-US" sz="1600" dirty="0">
                <a:solidFill>
                  <a:srgbClr val="333B4F"/>
                </a:solidFill>
                <a:latin typeface="Calibri" pitchFamily="34" charset="0"/>
                <a:ea typeface="Calibri" pitchFamily="34" charset="-122"/>
                <a:cs typeface="Calibri" pitchFamily="34" charset="-120"/>
              </a:rPr>
              <a:t>j runs from i to 3:</a:t>
            </a:r>
            <a:endParaRPr lang="en-US" sz="1600" dirty="0"/>
          </a:p>
          <a:p>
            <a:pPr indent="0" marL="0">
              <a:buNone/>
            </a:pPr>
            <a:r>
              <a:rPr lang="en-US" sz="1600" dirty="0">
                <a:solidFill>
                  <a:srgbClr val="333B4F"/>
                </a:solidFill>
                <a:latin typeface="Calibri" pitchFamily="34" charset="0"/>
                <a:ea typeface="Calibri" pitchFamily="34" charset="-122"/>
                <a:cs typeface="Calibri" pitchFamily="34" charset="-120"/>
              </a:rPr>
              <a:t>4 + 3 + 2 + 1 = 10</a:t>
            </a:r>
            <a:endParaRPr lang="en-US" sz="1600" dirty="0"/>
          </a:p>
          <a:p>
            <a:pPr indent="0" marL="0">
              <a:buNone/>
            </a:pPr>
            <a:r>
              <a:rPr lang="en-US" sz="1600" dirty="0">
                <a:solidFill>
                  <a:srgbClr val="333B4F"/>
                </a:solidFill>
                <a:latin typeface="Calibri" pitchFamily="34" charset="0"/>
                <a:ea typeface="Calibri" pitchFamily="34" charset="-122"/>
                <a:cs typeface="Calibri" pitchFamily="34" charset="-120"/>
              </a:rPr>
              <a:t>= 4 · 5 / 2</a:t>
            </a:r>
            <a:endParaRPr lang="en-US" sz="1600" dirty="0"/>
          </a:p>
        </p:txBody>
      </p:sp>
      <p:sp>
        <p:nvSpPr>
          <p:cNvPr id="30" name="Shape 26"/>
          <p:cNvSpPr/>
          <p:nvPr/>
        </p:nvSpPr>
        <p:spPr>
          <a:xfrm>
            <a:off x="4160520" y="3063240"/>
            <a:ext cx="3200400" cy="3017520"/>
          </a:xfrm>
          <a:prstGeom prst="roundRect">
            <a:avLst>
              <a:gd name="adj" fmla="val 3636"/>
            </a:avLst>
          </a:prstGeom>
          <a:solidFill>
            <a:srgbClr val="EEF1F6"/>
          </a:solidFill>
          <a:ln w="12700">
            <a:solidFill>
              <a:srgbClr val="EEF1F6"/>
            </a:solidFill>
            <a:prstDash val="solid"/>
          </a:ln>
        </p:spPr>
      </p:sp>
      <p:sp>
        <p:nvSpPr>
          <p:cNvPr id="31" name="Shape 27"/>
          <p:cNvSpPr/>
          <p:nvPr/>
        </p:nvSpPr>
        <p:spPr>
          <a:xfrm>
            <a:off x="4389120" y="3291840"/>
            <a:ext cx="566928" cy="566928"/>
          </a:xfrm>
          <a:prstGeom prst="ellipse">
            <a:avLst/>
          </a:prstGeom>
          <a:solidFill>
            <a:srgbClr val="C8453B"/>
          </a:solidFill>
          <a:ln w="12700">
            <a:solidFill>
              <a:srgbClr val="C8453B"/>
            </a:solidFill>
            <a:prstDash val="solid"/>
          </a:ln>
        </p:spPr>
      </p:sp>
      <p:pic>
        <p:nvPicPr>
          <p:cNvPr id="32" name="Image 1" descr="preencoded.png">    </p:cNvPr>
          <p:cNvPicPr>
            <a:picLocks noChangeAspect="1"/>
          </p:cNvPicPr>
          <p:nvPr/>
        </p:nvPicPr>
        <p:blipFill>
          <a:blip r:embed="rId2"/>
          <a:stretch>
            <a:fillRect/>
          </a:stretch>
        </p:blipFill>
        <p:spPr>
          <a:xfrm>
            <a:off x="4536521" y="3439241"/>
            <a:ext cx="272125" cy="272125"/>
          </a:xfrm>
          <a:prstGeom prst="rect">
            <a:avLst/>
          </a:prstGeom>
        </p:spPr>
      </p:pic>
      <p:sp>
        <p:nvSpPr>
          <p:cNvPr id="33" name="Text 28"/>
          <p:cNvSpPr txBox="1"/>
          <p:nvPr/>
        </p:nvSpPr>
        <p:spPr>
          <a:xfrm>
            <a:off x="5074920" y="3291840"/>
            <a:ext cx="210312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break at i = 5</a:t>
            </a:r>
            <a:endParaRPr lang="en-US" sz="1700" dirty="0"/>
          </a:p>
        </p:txBody>
      </p:sp>
      <p:sp>
        <p:nvSpPr>
          <p:cNvPr id="34" name="Text 29"/>
          <p:cNvSpPr txBox="1"/>
          <p:nvPr/>
        </p:nvSpPr>
        <p:spPr>
          <a:xfrm>
            <a:off x="4389120" y="3977640"/>
            <a:ext cx="2743200" cy="1965960"/>
          </a:xfrm>
          <a:prstGeom prst="rect">
            <a:avLst/>
          </a:prstGeom>
          <a:noFill/>
          <a:ln/>
        </p:spPr>
        <p:txBody>
          <a:bodyPr wrap="square" lIns="0" tIns="0" rIns="0" bIns="0" rtlCol="0" anchor="t"/>
          <a:lstStyle/>
          <a:p>
            <a:pPr indent="0" marL="0">
              <a:buNone/>
            </a:pPr>
            <a:r>
              <a:rPr lang="en-US" sz="1600" dirty="0">
                <a:solidFill>
                  <a:srgbClr val="333B4F"/>
                </a:solidFill>
                <a:latin typeface="Calibri" pitchFamily="34" charset="0"/>
                <a:ea typeface="Calibri" pitchFamily="34" charset="-122"/>
                <a:cs typeface="Calibri" pitchFamily="34" charset="-120"/>
              </a:rPr>
              <a:t>i = 1..4: i * i = 1, 4, 9, 16 ≤ 20, so i is printed; at i = 5, 25 &gt; 20 → break before Write.</a:t>
            </a:r>
            <a:endParaRPr lang="en-US" sz="1600" dirty="0"/>
          </a:p>
        </p:txBody>
      </p:sp>
      <p:sp>
        <p:nvSpPr>
          <p:cNvPr id="35" name="Shape 30"/>
          <p:cNvSpPr/>
          <p:nvPr/>
        </p:nvSpPr>
        <p:spPr>
          <a:xfrm>
            <a:off x="7498080" y="3063240"/>
            <a:ext cx="4160520" cy="3017520"/>
          </a:xfrm>
          <a:prstGeom prst="roundRect">
            <a:avLst>
              <a:gd name="adj" fmla="val 3636"/>
            </a:avLst>
          </a:prstGeom>
          <a:solidFill>
            <a:srgbClr val="EEF1F6"/>
          </a:solidFill>
          <a:ln w="12700">
            <a:solidFill>
              <a:srgbClr val="EEF1F6"/>
            </a:solidFill>
            <a:prstDash val="solid"/>
          </a:ln>
        </p:spPr>
      </p:sp>
      <p:sp>
        <p:nvSpPr>
          <p:cNvPr id="36" name="Shape 31"/>
          <p:cNvSpPr/>
          <p:nvPr/>
        </p:nvSpPr>
        <p:spPr>
          <a:xfrm>
            <a:off x="7726680" y="3291840"/>
            <a:ext cx="566928" cy="566928"/>
          </a:xfrm>
          <a:prstGeom prst="ellipse">
            <a:avLst/>
          </a:prstGeom>
          <a:solidFill>
            <a:srgbClr val="2E9E6A"/>
          </a:solidFill>
          <a:ln w="12700">
            <a:solidFill>
              <a:srgbClr val="2E9E6A"/>
            </a:solidFill>
            <a:prstDash val="solid"/>
          </a:ln>
        </p:spPr>
      </p:sp>
      <p:pic>
        <p:nvPicPr>
          <p:cNvPr id="37" name="Image 2" descr="preencoded.png">    </p:cNvPr>
          <p:cNvPicPr>
            <a:picLocks noChangeAspect="1"/>
          </p:cNvPicPr>
          <p:nvPr/>
        </p:nvPicPr>
        <p:blipFill>
          <a:blip r:embed="rId3"/>
          <a:stretch>
            <a:fillRect/>
          </a:stretch>
        </p:blipFill>
        <p:spPr>
          <a:xfrm>
            <a:off x="7874081" y="3439241"/>
            <a:ext cx="272125" cy="272125"/>
          </a:xfrm>
          <a:prstGeom prst="rect">
            <a:avLst/>
          </a:prstGeom>
        </p:spPr>
      </p:pic>
      <p:sp>
        <p:nvSpPr>
          <p:cNvPr id="38" name="Text 32"/>
          <p:cNvSpPr txBox="1"/>
          <p:nvPr/>
        </p:nvSpPr>
        <p:spPr>
          <a:xfrm>
            <a:off x="8412480" y="3291840"/>
            <a:ext cx="306324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continue skips i == j</a:t>
            </a:r>
            <a:endParaRPr lang="en-US" sz="1700" dirty="0"/>
          </a:p>
        </p:txBody>
      </p:sp>
      <p:sp>
        <p:nvSpPr>
          <p:cNvPr id="39" name="Text 33"/>
          <p:cNvSpPr txBox="1"/>
          <p:nvPr/>
        </p:nvSpPr>
        <p:spPr>
          <a:xfrm>
            <a:off x="7726680" y="3977640"/>
            <a:ext cx="3703320" cy="1965960"/>
          </a:xfrm>
          <a:prstGeom prst="rect">
            <a:avLst/>
          </a:prstGeom>
          <a:noFill/>
          <a:ln/>
        </p:spPr>
        <p:txBody>
          <a:bodyPr wrap="square" lIns="0" tIns="0" rIns="0" bIns="0" rtlCol="0" anchor="t"/>
          <a:lstStyle/>
          <a:p>
            <a:pPr indent="0" marL="0">
              <a:buNone/>
            </a:pPr>
            <a:r>
              <a:rPr lang="en-US" sz="1600" dirty="0">
                <a:solidFill>
                  <a:srgbClr val="333B4F"/>
                </a:solidFill>
                <a:latin typeface="Calibri" pitchFamily="34" charset="0"/>
                <a:ea typeface="Calibri" pitchFamily="34" charset="-122"/>
                <a:cs typeface="Calibri" pitchFamily="34" charset="-120"/>
              </a:rPr>
              <a:t>3 × 3 = 9 pairs minus 11, 22, 33 → 6 pairs. The inner update j++ still runs after continue.</a:t>
            </a:r>
            <a:endParaRPr lang="en-US" sz="16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IN-CLASS EXERCISES · PAIRS</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In-Class Exercises</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6</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38</a:t>
            </a:r>
            <a:endParaRPr lang="en-US" sz="1000" dirty="0"/>
          </a:p>
        </p:txBody>
      </p:sp>
      <p:sp>
        <p:nvSpPr>
          <p:cNvPr id="7" name="Shape 4"/>
          <p:cNvSpPr/>
          <p:nvPr/>
        </p:nvSpPr>
        <p:spPr>
          <a:xfrm>
            <a:off x="548640" y="1645920"/>
            <a:ext cx="3611880" cy="2103120"/>
          </a:xfrm>
          <a:prstGeom prst="roundRect">
            <a:avLst>
              <a:gd name="adj" fmla="val 5217"/>
            </a:avLst>
          </a:prstGeom>
          <a:solidFill>
            <a:srgbClr val="EEF1F6"/>
          </a:solidFill>
          <a:ln w="12700">
            <a:solidFill>
              <a:srgbClr val="EEF1F6"/>
            </a:solidFill>
            <a:prstDash val="solid"/>
          </a:ln>
        </p:spPr>
      </p:sp>
      <p:sp>
        <p:nvSpPr>
          <p:cNvPr id="8" name="Shape 5"/>
          <p:cNvSpPr/>
          <p:nvPr/>
        </p:nvSpPr>
        <p:spPr>
          <a:xfrm>
            <a:off x="777240" y="1874520"/>
            <a:ext cx="548640" cy="548640"/>
          </a:xfrm>
          <a:prstGeom prst="ellipse">
            <a:avLst/>
          </a:prstGeom>
          <a:solidFill>
            <a:srgbClr val="14213D"/>
          </a:solidFill>
          <a:ln w="12700">
            <a:solidFill>
              <a:srgbClr val="14213D"/>
            </a:solidFill>
            <a:prstDash val="solid"/>
          </a:ln>
        </p:spPr>
      </p:sp>
      <p:pic>
        <p:nvPicPr>
          <p:cNvPr id="9" name="Image 0" descr="preencoded.png">    </p:cNvPr>
          <p:cNvPicPr>
            <a:picLocks noChangeAspect="1"/>
          </p:cNvPicPr>
          <p:nvPr/>
        </p:nvPicPr>
        <p:blipFill>
          <a:blip r:embed="rId1"/>
          <a:stretch>
            <a:fillRect/>
          </a:stretch>
        </p:blipFill>
        <p:spPr>
          <a:xfrm>
            <a:off x="919886" y="2017166"/>
            <a:ext cx="263347" cy="263347"/>
          </a:xfrm>
          <a:prstGeom prst="rect">
            <a:avLst/>
          </a:prstGeom>
        </p:spPr>
      </p:pic>
      <p:sp>
        <p:nvSpPr>
          <p:cNvPr id="10" name="Text 6"/>
          <p:cNvSpPr txBox="1"/>
          <p:nvPr/>
        </p:nvSpPr>
        <p:spPr>
          <a:xfrm>
            <a:off x="1463040" y="1874520"/>
            <a:ext cx="2103120" cy="548640"/>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A. Odd sum</a:t>
            </a:r>
            <a:endParaRPr lang="en-US" sz="1700" dirty="0"/>
          </a:p>
        </p:txBody>
      </p:sp>
      <p:sp>
        <p:nvSpPr>
          <p:cNvPr id="11" name="Text 7"/>
          <p:cNvSpPr txBox="1"/>
          <p:nvPr/>
        </p:nvSpPr>
        <p:spPr>
          <a:xfrm>
            <a:off x="3383280" y="1874520"/>
            <a:ext cx="640080" cy="548640"/>
          </a:xfrm>
          <a:prstGeom prst="rect">
            <a:avLst/>
          </a:prstGeom>
          <a:noFill/>
          <a:ln/>
        </p:spPr>
        <p:txBody>
          <a:bodyPr wrap="square" lIns="0" tIns="0" rIns="0" bIns="0" rtlCol="0" anchor="ctr"/>
          <a:lstStyle/>
          <a:p>
            <a:pPr algn="r" indent="0" marL="0">
              <a:buNone/>
            </a:pPr>
            <a:r>
              <a:rPr lang="en-US" sz="1500" dirty="0">
                <a:solidFill>
                  <a:srgbClr val="B7791F"/>
                </a:solidFill>
                <a:latin typeface="Calibri" pitchFamily="34" charset="0"/>
                <a:ea typeface="Calibri" pitchFamily="34" charset="-122"/>
                <a:cs typeface="Calibri" pitchFamily="34" charset="-120"/>
              </a:rPr>
              <a:t>★</a:t>
            </a:r>
            <a:endParaRPr lang="en-US" sz="1500" dirty="0"/>
          </a:p>
        </p:txBody>
      </p:sp>
      <p:sp>
        <p:nvSpPr>
          <p:cNvPr id="12" name="Text 8"/>
          <p:cNvSpPr txBox="1"/>
          <p:nvPr/>
        </p:nvSpPr>
        <p:spPr>
          <a:xfrm>
            <a:off x="777240" y="2560320"/>
            <a:ext cx="3154680" cy="1097280"/>
          </a:xfrm>
          <a:prstGeom prst="rect">
            <a:avLst/>
          </a:prstGeom>
          <a:noFill/>
          <a:ln/>
        </p:spPr>
        <p:txBody>
          <a:bodyPr wrap="square" lIns="0" tIns="0" rIns="0" bIns="0" rtlCol="0" anchor="ctr"/>
          <a:lstStyle/>
          <a:p>
            <a:pPr indent="0" marL="0">
              <a:buNone/>
            </a:pPr>
            <a:r>
              <a:rPr lang="en-US" sz="1500" dirty="0">
                <a:solidFill>
                  <a:srgbClr val="333B4F"/>
                </a:solidFill>
                <a:latin typeface="Calibri" pitchFamily="34" charset="0"/>
                <a:ea typeface="Calibri" pitchFamily="34" charset="-122"/>
                <a:cs typeface="Calibri" pitchFamily="34" charset="-120"/>
              </a:rPr>
              <a:t>Read N; print 1 + 3 + 5 + … up to N. Use a step of 2. (N = 10 → 25)</a:t>
            </a:r>
            <a:endParaRPr lang="en-US" sz="1500" dirty="0"/>
          </a:p>
        </p:txBody>
      </p:sp>
      <p:sp>
        <p:nvSpPr>
          <p:cNvPr id="13" name="Shape 9"/>
          <p:cNvSpPr/>
          <p:nvPr/>
        </p:nvSpPr>
        <p:spPr>
          <a:xfrm>
            <a:off x="4297680" y="1645920"/>
            <a:ext cx="3611880" cy="2103120"/>
          </a:xfrm>
          <a:prstGeom prst="roundRect">
            <a:avLst>
              <a:gd name="adj" fmla="val 5217"/>
            </a:avLst>
          </a:prstGeom>
          <a:solidFill>
            <a:srgbClr val="EEF1F6"/>
          </a:solidFill>
          <a:ln w="12700">
            <a:solidFill>
              <a:srgbClr val="EEF1F6"/>
            </a:solidFill>
            <a:prstDash val="solid"/>
          </a:ln>
        </p:spPr>
      </p:sp>
      <p:sp>
        <p:nvSpPr>
          <p:cNvPr id="14" name="Shape 10"/>
          <p:cNvSpPr/>
          <p:nvPr/>
        </p:nvSpPr>
        <p:spPr>
          <a:xfrm>
            <a:off x="4526280" y="1874520"/>
            <a:ext cx="548640" cy="548640"/>
          </a:xfrm>
          <a:prstGeom prst="ellipse">
            <a:avLst/>
          </a:prstGeom>
          <a:solidFill>
            <a:srgbClr val="14213D"/>
          </a:solidFill>
          <a:ln w="12700">
            <a:solidFill>
              <a:srgbClr val="14213D"/>
            </a:solidFill>
            <a:prstDash val="solid"/>
          </a:ln>
        </p:spPr>
      </p:sp>
      <p:pic>
        <p:nvPicPr>
          <p:cNvPr id="15" name="Image 1" descr="preencoded.png">    </p:cNvPr>
          <p:cNvPicPr>
            <a:picLocks noChangeAspect="1"/>
          </p:cNvPicPr>
          <p:nvPr/>
        </p:nvPicPr>
        <p:blipFill>
          <a:blip r:embed="rId2"/>
          <a:stretch>
            <a:fillRect/>
          </a:stretch>
        </p:blipFill>
        <p:spPr>
          <a:xfrm>
            <a:off x="4668926" y="2017166"/>
            <a:ext cx="263347" cy="263347"/>
          </a:xfrm>
          <a:prstGeom prst="rect">
            <a:avLst/>
          </a:prstGeom>
        </p:spPr>
      </p:pic>
      <p:sp>
        <p:nvSpPr>
          <p:cNvPr id="16" name="Text 11"/>
          <p:cNvSpPr txBox="1"/>
          <p:nvPr/>
        </p:nvSpPr>
        <p:spPr>
          <a:xfrm>
            <a:off x="5212080" y="1874520"/>
            <a:ext cx="2103120" cy="548640"/>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B. Powers of 2</a:t>
            </a:r>
            <a:endParaRPr lang="en-US" sz="1700" dirty="0"/>
          </a:p>
        </p:txBody>
      </p:sp>
      <p:sp>
        <p:nvSpPr>
          <p:cNvPr id="17" name="Text 12"/>
          <p:cNvSpPr txBox="1"/>
          <p:nvPr/>
        </p:nvSpPr>
        <p:spPr>
          <a:xfrm>
            <a:off x="7132320" y="1874520"/>
            <a:ext cx="640080" cy="548640"/>
          </a:xfrm>
          <a:prstGeom prst="rect">
            <a:avLst/>
          </a:prstGeom>
          <a:noFill/>
          <a:ln/>
        </p:spPr>
        <p:txBody>
          <a:bodyPr wrap="square" lIns="0" tIns="0" rIns="0" bIns="0" rtlCol="0" anchor="ctr"/>
          <a:lstStyle/>
          <a:p>
            <a:pPr algn="r" indent="0" marL="0">
              <a:buNone/>
            </a:pPr>
            <a:r>
              <a:rPr lang="en-US" sz="1500" dirty="0">
                <a:solidFill>
                  <a:srgbClr val="B7791F"/>
                </a:solidFill>
                <a:latin typeface="Calibri" pitchFamily="34" charset="0"/>
                <a:ea typeface="Calibri" pitchFamily="34" charset="-122"/>
                <a:cs typeface="Calibri" pitchFamily="34" charset="-120"/>
              </a:rPr>
              <a:t>★</a:t>
            </a:r>
            <a:endParaRPr lang="en-US" sz="1500" dirty="0"/>
          </a:p>
        </p:txBody>
      </p:sp>
      <p:sp>
        <p:nvSpPr>
          <p:cNvPr id="18" name="Text 13"/>
          <p:cNvSpPr txBox="1"/>
          <p:nvPr/>
        </p:nvSpPr>
        <p:spPr>
          <a:xfrm>
            <a:off x="4526280" y="2560320"/>
            <a:ext cx="3154680" cy="1097280"/>
          </a:xfrm>
          <a:prstGeom prst="rect">
            <a:avLst/>
          </a:prstGeom>
          <a:noFill/>
          <a:ln/>
        </p:spPr>
        <p:txBody>
          <a:bodyPr wrap="square" lIns="0" tIns="0" rIns="0" bIns="0" rtlCol="0" anchor="ctr"/>
          <a:lstStyle/>
          <a:p>
            <a:pPr indent="0" marL="0">
              <a:buNone/>
            </a:pPr>
            <a:r>
              <a:rPr lang="en-US" sz="1500" dirty="0">
                <a:solidFill>
                  <a:srgbClr val="333B4F"/>
                </a:solidFill>
                <a:latin typeface="Calibri" pitchFamily="34" charset="0"/>
                <a:ea typeface="Calibri" pitchFamily="34" charset="-122"/>
                <a:cs typeface="Calibri" pitchFamily="34" charset="-120"/>
              </a:rPr>
              <a:t>Read N; print 2⁰, 2¹, …, 2ᴺ with a product accumulator (no Math.Pow).</a:t>
            </a:r>
            <a:endParaRPr lang="en-US" sz="1500" dirty="0"/>
          </a:p>
        </p:txBody>
      </p:sp>
      <p:sp>
        <p:nvSpPr>
          <p:cNvPr id="19" name="Shape 14"/>
          <p:cNvSpPr/>
          <p:nvPr/>
        </p:nvSpPr>
        <p:spPr>
          <a:xfrm>
            <a:off x="8046720" y="1645920"/>
            <a:ext cx="3611880" cy="2103120"/>
          </a:xfrm>
          <a:prstGeom prst="roundRect">
            <a:avLst>
              <a:gd name="adj" fmla="val 5217"/>
            </a:avLst>
          </a:prstGeom>
          <a:solidFill>
            <a:srgbClr val="EEF1F6"/>
          </a:solidFill>
          <a:ln w="12700">
            <a:solidFill>
              <a:srgbClr val="EEF1F6"/>
            </a:solidFill>
            <a:prstDash val="solid"/>
          </a:ln>
        </p:spPr>
      </p:sp>
      <p:sp>
        <p:nvSpPr>
          <p:cNvPr id="20" name="Shape 15"/>
          <p:cNvSpPr/>
          <p:nvPr/>
        </p:nvSpPr>
        <p:spPr>
          <a:xfrm>
            <a:off x="8275320" y="1874520"/>
            <a:ext cx="548640" cy="548640"/>
          </a:xfrm>
          <a:prstGeom prst="ellipse">
            <a:avLst/>
          </a:prstGeom>
          <a:solidFill>
            <a:srgbClr val="14213D"/>
          </a:solidFill>
          <a:ln w="12700">
            <a:solidFill>
              <a:srgbClr val="14213D"/>
            </a:solidFill>
            <a:prstDash val="solid"/>
          </a:ln>
        </p:spPr>
      </p:sp>
      <p:pic>
        <p:nvPicPr>
          <p:cNvPr id="21" name="Image 2" descr="preencoded.png">    </p:cNvPr>
          <p:cNvPicPr>
            <a:picLocks noChangeAspect="1"/>
          </p:cNvPicPr>
          <p:nvPr/>
        </p:nvPicPr>
        <p:blipFill>
          <a:blip r:embed="rId3"/>
          <a:stretch>
            <a:fillRect/>
          </a:stretch>
        </p:blipFill>
        <p:spPr>
          <a:xfrm>
            <a:off x="8417966" y="2017166"/>
            <a:ext cx="263347" cy="263347"/>
          </a:xfrm>
          <a:prstGeom prst="rect">
            <a:avLst/>
          </a:prstGeom>
        </p:spPr>
      </p:pic>
      <p:sp>
        <p:nvSpPr>
          <p:cNvPr id="22" name="Text 16"/>
          <p:cNvSpPr txBox="1"/>
          <p:nvPr/>
        </p:nvSpPr>
        <p:spPr>
          <a:xfrm>
            <a:off x="8961120" y="1874520"/>
            <a:ext cx="2103120" cy="548640"/>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C. Divisors</a:t>
            </a:r>
            <a:endParaRPr lang="en-US" sz="1700" dirty="0"/>
          </a:p>
        </p:txBody>
      </p:sp>
      <p:sp>
        <p:nvSpPr>
          <p:cNvPr id="23" name="Text 17"/>
          <p:cNvSpPr txBox="1"/>
          <p:nvPr/>
        </p:nvSpPr>
        <p:spPr>
          <a:xfrm>
            <a:off x="10881360" y="1874520"/>
            <a:ext cx="640080" cy="548640"/>
          </a:xfrm>
          <a:prstGeom prst="rect">
            <a:avLst/>
          </a:prstGeom>
          <a:noFill/>
          <a:ln/>
        </p:spPr>
        <p:txBody>
          <a:bodyPr wrap="square" lIns="0" tIns="0" rIns="0" bIns="0" rtlCol="0" anchor="ctr"/>
          <a:lstStyle/>
          <a:p>
            <a:pPr algn="r" indent="0" marL="0">
              <a:buNone/>
            </a:pPr>
            <a:r>
              <a:rPr lang="en-US" sz="1500" dirty="0">
                <a:solidFill>
                  <a:srgbClr val="B7791F"/>
                </a:solidFill>
                <a:latin typeface="Calibri" pitchFamily="34" charset="0"/>
                <a:ea typeface="Calibri" pitchFamily="34" charset="-122"/>
                <a:cs typeface="Calibri" pitchFamily="34" charset="-120"/>
              </a:rPr>
              <a:t>★★</a:t>
            </a:r>
            <a:endParaRPr lang="en-US" sz="1500" dirty="0"/>
          </a:p>
        </p:txBody>
      </p:sp>
      <p:sp>
        <p:nvSpPr>
          <p:cNvPr id="24" name="Text 18"/>
          <p:cNvSpPr txBox="1"/>
          <p:nvPr/>
        </p:nvSpPr>
        <p:spPr>
          <a:xfrm>
            <a:off x="8275320" y="2560320"/>
            <a:ext cx="3154680" cy="1097280"/>
          </a:xfrm>
          <a:prstGeom prst="rect">
            <a:avLst/>
          </a:prstGeom>
          <a:noFill/>
          <a:ln/>
        </p:spPr>
        <p:txBody>
          <a:bodyPr wrap="square" lIns="0" tIns="0" rIns="0" bIns="0" rtlCol="0" anchor="ctr"/>
          <a:lstStyle/>
          <a:p>
            <a:pPr indent="0" marL="0">
              <a:buNone/>
            </a:pPr>
            <a:r>
              <a:rPr lang="en-US" sz="1500" dirty="0">
                <a:solidFill>
                  <a:srgbClr val="333B4F"/>
                </a:solidFill>
                <a:latin typeface="Calibri" pitchFamily="34" charset="0"/>
                <a:ea typeface="Calibri" pitchFamily="34" charset="-122"/>
                <a:cs typeface="Calibri" pitchFamily="34" charset="-120"/>
              </a:rPr>
              <a:t>Read n; list its divisors, count them, and say whether n is perfect (28 is).</a:t>
            </a:r>
            <a:endParaRPr lang="en-US" sz="1500" dirty="0"/>
          </a:p>
        </p:txBody>
      </p:sp>
      <p:sp>
        <p:nvSpPr>
          <p:cNvPr id="25" name="Shape 19"/>
          <p:cNvSpPr/>
          <p:nvPr/>
        </p:nvSpPr>
        <p:spPr>
          <a:xfrm>
            <a:off x="548640" y="3886200"/>
            <a:ext cx="3611880" cy="2103120"/>
          </a:xfrm>
          <a:prstGeom prst="roundRect">
            <a:avLst>
              <a:gd name="adj" fmla="val 5217"/>
            </a:avLst>
          </a:prstGeom>
          <a:solidFill>
            <a:srgbClr val="EEF1F6"/>
          </a:solidFill>
          <a:ln w="12700">
            <a:solidFill>
              <a:srgbClr val="EEF1F6"/>
            </a:solidFill>
            <a:prstDash val="solid"/>
          </a:ln>
        </p:spPr>
      </p:sp>
      <p:sp>
        <p:nvSpPr>
          <p:cNvPr id="26" name="Shape 20"/>
          <p:cNvSpPr/>
          <p:nvPr/>
        </p:nvSpPr>
        <p:spPr>
          <a:xfrm>
            <a:off x="777240" y="4114800"/>
            <a:ext cx="548640" cy="548640"/>
          </a:xfrm>
          <a:prstGeom prst="ellipse">
            <a:avLst/>
          </a:prstGeom>
          <a:solidFill>
            <a:srgbClr val="14213D"/>
          </a:solidFill>
          <a:ln w="12700">
            <a:solidFill>
              <a:srgbClr val="14213D"/>
            </a:solidFill>
            <a:prstDash val="solid"/>
          </a:ln>
        </p:spPr>
      </p:sp>
      <p:pic>
        <p:nvPicPr>
          <p:cNvPr id="27" name="Image 3" descr="preencoded.png">    </p:cNvPr>
          <p:cNvPicPr>
            <a:picLocks noChangeAspect="1"/>
          </p:cNvPicPr>
          <p:nvPr/>
        </p:nvPicPr>
        <p:blipFill>
          <a:blip r:embed="rId4"/>
          <a:stretch>
            <a:fillRect/>
          </a:stretch>
        </p:blipFill>
        <p:spPr>
          <a:xfrm>
            <a:off x="919886" y="4257446"/>
            <a:ext cx="263347" cy="263347"/>
          </a:xfrm>
          <a:prstGeom prst="rect">
            <a:avLst/>
          </a:prstGeom>
        </p:spPr>
      </p:pic>
      <p:sp>
        <p:nvSpPr>
          <p:cNvPr id="28" name="Text 21"/>
          <p:cNvSpPr txBox="1"/>
          <p:nvPr/>
        </p:nvSpPr>
        <p:spPr>
          <a:xfrm>
            <a:off x="1463040" y="4114800"/>
            <a:ext cx="2103120" cy="548640"/>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D. Hollow square</a:t>
            </a:r>
            <a:endParaRPr lang="en-US" sz="1700" dirty="0"/>
          </a:p>
        </p:txBody>
      </p:sp>
      <p:sp>
        <p:nvSpPr>
          <p:cNvPr id="29" name="Text 22"/>
          <p:cNvSpPr txBox="1"/>
          <p:nvPr/>
        </p:nvSpPr>
        <p:spPr>
          <a:xfrm>
            <a:off x="3383280" y="4114800"/>
            <a:ext cx="640080" cy="548640"/>
          </a:xfrm>
          <a:prstGeom prst="rect">
            <a:avLst/>
          </a:prstGeom>
          <a:noFill/>
          <a:ln/>
        </p:spPr>
        <p:txBody>
          <a:bodyPr wrap="square" lIns="0" tIns="0" rIns="0" bIns="0" rtlCol="0" anchor="ctr"/>
          <a:lstStyle/>
          <a:p>
            <a:pPr algn="r" indent="0" marL="0">
              <a:buNone/>
            </a:pPr>
            <a:r>
              <a:rPr lang="en-US" sz="1500" dirty="0">
                <a:solidFill>
                  <a:srgbClr val="B7791F"/>
                </a:solidFill>
                <a:latin typeface="Calibri" pitchFamily="34" charset="0"/>
                <a:ea typeface="Calibri" pitchFamily="34" charset="-122"/>
                <a:cs typeface="Calibri" pitchFamily="34" charset="-120"/>
              </a:rPr>
              <a:t>★★</a:t>
            </a:r>
            <a:endParaRPr lang="en-US" sz="1500" dirty="0"/>
          </a:p>
        </p:txBody>
      </p:sp>
      <p:sp>
        <p:nvSpPr>
          <p:cNvPr id="30" name="Text 23"/>
          <p:cNvSpPr txBox="1"/>
          <p:nvPr/>
        </p:nvSpPr>
        <p:spPr>
          <a:xfrm>
            <a:off x="777240" y="4800600"/>
            <a:ext cx="3154680" cy="1097280"/>
          </a:xfrm>
          <a:prstGeom prst="rect">
            <a:avLst/>
          </a:prstGeom>
          <a:noFill/>
          <a:ln/>
        </p:spPr>
        <p:txBody>
          <a:bodyPr wrap="square" lIns="0" tIns="0" rIns="0" bIns="0" rtlCol="0" anchor="ctr"/>
          <a:lstStyle/>
          <a:p>
            <a:pPr indent="0" marL="0">
              <a:buNone/>
            </a:pPr>
            <a:r>
              <a:rPr lang="en-US" sz="1500" dirty="0">
                <a:solidFill>
                  <a:srgbClr val="333B4F"/>
                </a:solidFill>
                <a:latin typeface="Calibri" pitchFamily="34" charset="0"/>
                <a:ea typeface="Calibri" pitchFamily="34" charset="-122"/>
                <a:cs typeface="Calibri" pitchFamily="34" charset="-120"/>
              </a:rPr>
              <a:t>Read n; print an n × n square of * that is empty inside.</a:t>
            </a:r>
            <a:endParaRPr lang="en-US" sz="1500" dirty="0"/>
          </a:p>
        </p:txBody>
      </p:sp>
      <p:sp>
        <p:nvSpPr>
          <p:cNvPr id="31" name="Shape 24"/>
          <p:cNvSpPr/>
          <p:nvPr/>
        </p:nvSpPr>
        <p:spPr>
          <a:xfrm>
            <a:off x="4297680" y="3886200"/>
            <a:ext cx="3611880" cy="2103120"/>
          </a:xfrm>
          <a:prstGeom prst="roundRect">
            <a:avLst>
              <a:gd name="adj" fmla="val 5217"/>
            </a:avLst>
          </a:prstGeom>
          <a:solidFill>
            <a:srgbClr val="EEF1F6"/>
          </a:solidFill>
          <a:ln w="12700">
            <a:solidFill>
              <a:srgbClr val="EEF1F6"/>
            </a:solidFill>
            <a:prstDash val="solid"/>
          </a:ln>
        </p:spPr>
      </p:sp>
      <p:sp>
        <p:nvSpPr>
          <p:cNvPr id="32" name="Shape 25"/>
          <p:cNvSpPr/>
          <p:nvPr/>
        </p:nvSpPr>
        <p:spPr>
          <a:xfrm>
            <a:off x="4526280" y="4114800"/>
            <a:ext cx="548640" cy="548640"/>
          </a:xfrm>
          <a:prstGeom prst="ellipse">
            <a:avLst/>
          </a:prstGeom>
          <a:solidFill>
            <a:srgbClr val="14213D"/>
          </a:solidFill>
          <a:ln w="12700">
            <a:solidFill>
              <a:srgbClr val="14213D"/>
            </a:solidFill>
            <a:prstDash val="solid"/>
          </a:ln>
        </p:spPr>
      </p:sp>
      <p:pic>
        <p:nvPicPr>
          <p:cNvPr id="33" name="Image 4" descr="preencoded.png">    </p:cNvPr>
          <p:cNvPicPr>
            <a:picLocks noChangeAspect="1"/>
          </p:cNvPicPr>
          <p:nvPr/>
        </p:nvPicPr>
        <p:blipFill>
          <a:blip r:embed="rId5"/>
          <a:stretch>
            <a:fillRect/>
          </a:stretch>
        </p:blipFill>
        <p:spPr>
          <a:xfrm>
            <a:off x="4668926" y="4257446"/>
            <a:ext cx="263347" cy="263347"/>
          </a:xfrm>
          <a:prstGeom prst="rect">
            <a:avLst/>
          </a:prstGeom>
        </p:spPr>
      </p:pic>
      <p:sp>
        <p:nvSpPr>
          <p:cNvPr id="34" name="Text 26"/>
          <p:cNvSpPr txBox="1"/>
          <p:nvPr/>
        </p:nvSpPr>
        <p:spPr>
          <a:xfrm>
            <a:off x="5212080" y="4114800"/>
            <a:ext cx="2103120" cy="548640"/>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E. Sign counter</a:t>
            </a:r>
            <a:endParaRPr lang="en-US" sz="1700" dirty="0"/>
          </a:p>
        </p:txBody>
      </p:sp>
      <p:sp>
        <p:nvSpPr>
          <p:cNvPr id="35" name="Text 27"/>
          <p:cNvSpPr txBox="1"/>
          <p:nvPr/>
        </p:nvSpPr>
        <p:spPr>
          <a:xfrm>
            <a:off x="7132320" y="4114800"/>
            <a:ext cx="640080" cy="548640"/>
          </a:xfrm>
          <a:prstGeom prst="rect">
            <a:avLst/>
          </a:prstGeom>
          <a:noFill/>
          <a:ln/>
        </p:spPr>
        <p:txBody>
          <a:bodyPr wrap="square" lIns="0" tIns="0" rIns="0" bIns="0" rtlCol="0" anchor="ctr"/>
          <a:lstStyle/>
          <a:p>
            <a:pPr algn="r" indent="0" marL="0">
              <a:buNone/>
            </a:pPr>
            <a:r>
              <a:rPr lang="en-US" sz="1500" dirty="0">
                <a:solidFill>
                  <a:srgbClr val="B7791F"/>
                </a:solidFill>
                <a:latin typeface="Calibri" pitchFamily="34" charset="0"/>
                <a:ea typeface="Calibri" pitchFamily="34" charset="-122"/>
                <a:cs typeface="Calibri" pitchFamily="34" charset="-120"/>
              </a:rPr>
              <a:t>★★</a:t>
            </a:r>
            <a:endParaRPr lang="en-US" sz="1500" dirty="0"/>
          </a:p>
        </p:txBody>
      </p:sp>
      <p:sp>
        <p:nvSpPr>
          <p:cNvPr id="36" name="Text 28"/>
          <p:cNvSpPr txBox="1"/>
          <p:nvPr/>
        </p:nvSpPr>
        <p:spPr>
          <a:xfrm>
            <a:off x="4526280" y="4800600"/>
            <a:ext cx="3154680" cy="1097280"/>
          </a:xfrm>
          <a:prstGeom prst="rect">
            <a:avLst/>
          </a:prstGeom>
          <a:noFill/>
          <a:ln/>
        </p:spPr>
        <p:txBody>
          <a:bodyPr wrap="square" lIns="0" tIns="0" rIns="0" bIns="0" rtlCol="0" anchor="ctr"/>
          <a:lstStyle/>
          <a:p>
            <a:pPr indent="0" marL="0">
              <a:buNone/>
            </a:pPr>
            <a:r>
              <a:rPr lang="en-US" sz="1500" dirty="0">
                <a:solidFill>
                  <a:srgbClr val="333B4F"/>
                </a:solidFill>
                <a:latin typeface="Calibri" pitchFamily="34" charset="0"/>
                <a:ea typeface="Calibri" pitchFamily="34" charset="-122"/>
                <a:cs typeface="Calibri" pitchFamily="34" charset="-120"/>
              </a:rPr>
              <a:t>Read N integers; count the positive, negative and zero values.</a:t>
            </a:r>
            <a:endParaRPr lang="en-US" sz="1500" dirty="0"/>
          </a:p>
        </p:txBody>
      </p:sp>
      <p:sp>
        <p:nvSpPr>
          <p:cNvPr id="37" name="Shape 29"/>
          <p:cNvSpPr/>
          <p:nvPr/>
        </p:nvSpPr>
        <p:spPr>
          <a:xfrm>
            <a:off x="8046720" y="3886200"/>
            <a:ext cx="3611880" cy="2103120"/>
          </a:xfrm>
          <a:prstGeom prst="roundRect">
            <a:avLst>
              <a:gd name="adj" fmla="val 5217"/>
            </a:avLst>
          </a:prstGeom>
          <a:solidFill>
            <a:srgbClr val="EEF1F6"/>
          </a:solidFill>
          <a:ln w="12700">
            <a:solidFill>
              <a:srgbClr val="EEF1F6"/>
            </a:solidFill>
            <a:prstDash val="solid"/>
          </a:ln>
        </p:spPr>
      </p:sp>
      <p:sp>
        <p:nvSpPr>
          <p:cNvPr id="38" name="Shape 30"/>
          <p:cNvSpPr/>
          <p:nvPr/>
        </p:nvSpPr>
        <p:spPr>
          <a:xfrm>
            <a:off x="8275320" y="4114800"/>
            <a:ext cx="548640" cy="548640"/>
          </a:xfrm>
          <a:prstGeom prst="ellipse">
            <a:avLst/>
          </a:prstGeom>
          <a:solidFill>
            <a:srgbClr val="14213D"/>
          </a:solidFill>
          <a:ln w="12700">
            <a:solidFill>
              <a:srgbClr val="14213D"/>
            </a:solidFill>
            <a:prstDash val="solid"/>
          </a:ln>
        </p:spPr>
      </p:sp>
      <p:pic>
        <p:nvPicPr>
          <p:cNvPr id="39" name="Image 5" descr="preencoded.png">    </p:cNvPr>
          <p:cNvPicPr>
            <a:picLocks noChangeAspect="1"/>
          </p:cNvPicPr>
          <p:nvPr/>
        </p:nvPicPr>
        <p:blipFill>
          <a:blip r:embed="rId6"/>
          <a:stretch>
            <a:fillRect/>
          </a:stretch>
        </p:blipFill>
        <p:spPr>
          <a:xfrm>
            <a:off x="8417966" y="4257446"/>
            <a:ext cx="263347" cy="263347"/>
          </a:xfrm>
          <a:prstGeom prst="rect">
            <a:avLst/>
          </a:prstGeom>
        </p:spPr>
      </p:pic>
      <p:sp>
        <p:nvSpPr>
          <p:cNvPr id="40" name="Text 31"/>
          <p:cNvSpPr txBox="1"/>
          <p:nvPr/>
        </p:nvSpPr>
        <p:spPr>
          <a:xfrm>
            <a:off x="8961120" y="4114800"/>
            <a:ext cx="2103120" cy="548640"/>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F. Floyd's triangle</a:t>
            </a:r>
            <a:endParaRPr lang="en-US" sz="1700" dirty="0"/>
          </a:p>
        </p:txBody>
      </p:sp>
      <p:sp>
        <p:nvSpPr>
          <p:cNvPr id="41" name="Text 32"/>
          <p:cNvSpPr txBox="1"/>
          <p:nvPr/>
        </p:nvSpPr>
        <p:spPr>
          <a:xfrm>
            <a:off x="10881360" y="4114800"/>
            <a:ext cx="640080" cy="548640"/>
          </a:xfrm>
          <a:prstGeom prst="rect">
            <a:avLst/>
          </a:prstGeom>
          <a:noFill/>
          <a:ln/>
        </p:spPr>
        <p:txBody>
          <a:bodyPr wrap="square" lIns="0" tIns="0" rIns="0" bIns="0" rtlCol="0" anchor="ctr"/>
          <a:lstStyle/>
          <a:p>
            <a:pPr algn="r" indent="0" marL="0">
              <a:buNone/>
            </a:pPr>
            <a:r>
              <a:rPr lang="en-US" sz="1500" dirty="0">
                <a:solidFill>
                  <a:srgbClr val="B7791F"/>
                </a:solidFill>
                <a:latin typeface="Calibri" pitchFamily="34" charset="0"/>
                <a:ea typeface="Calibri" pitchFamily="34" charset="-122"/>
                <a:cs typeface="Calibri" pitchFamily="34" charset="-120"/>
              </a:rPr>
              <a:t>★★</a:t>
            </a:r>
            <a:endParaRPr lang="en-US" sz="1500" dirty="0"/>
          </a:p>
        </p:txBody>
      </p:sp>
      <p:sp>
        <p:nvSpPr>
          <p:cNvPr id="42" name="Text 33"/>
          <p:cNvSpPr txBox="1"/>
          <p:nvPr/>
        </p:nvSpPr>
        <p:spPr>
          <a:xfrm>
            <a:off x="8275320" y="4800600"/>
            <a:ext cx="3154680" cy="1097280"/>
          </a:xfrm>
          <a:prstGeom prst="rect">
            <a:avLst/>
          </a:prstGeom>
          <a:noFill/>
          <a:ln/>
        </p:spPr>
        <p:txBody>
          <a:bodyPr wrap="square" lIns="0" tIns="0" rIns="0" bIns="0" rtlCol="0" anchor="ctr"/>
          <a:lstStyle/>
          <a:p>
            <a:pPr indent="0" marL="0">
              <a:buNone/>
            </a:pPr>
            <a:r>
              <a:rPr lang="en-US" sz="1500" dirty="0">
                <a:solidFill>
                  <a:srgbClr val="333B4F"/>
                </a:solidFill>
                <a:latin typeface="Calibri" pitchFamily="34" charset="0"/>
                <a:ea typeface="Calibri" pitchFamily="34" charset="-122"/>
                <a:cs typeface="Calibri" pitchFamily="34" charset="-120"/>
              </a:rPr>
              <a:t>Rows 1 / 2 3 / 4 5 6 / …: a counter that keeps running across rows.</a:t>
            </a:r>
            <a:endParaRPr lang="en-US" sz="15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HOMEWORK</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Homework for Week 7</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6</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39</a:t>
            </a:r>
            <a:endParaRPr lang="en-US" sz="100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7863840" cy="914400"/>
        </p:xfrm>
        <a:graphic>
          <a:graphicData uri="http://schemas.openxmlformats.org/drawingml/2006/table">
            <a:tbl>
              <a:tblPr/>
              <a:tblGrid>
                <a:gridCol w="640080"/>
                <a:gridCol w="6355080"/>
                <a:gridCol w="868680"/>
              </a:tblGrid>
              <a:tr h="566928">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Task</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Level</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566928">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H1</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Sum of squares 1² + … + n² with a loop; compare with n(n + 1)(2n + 1) / 6</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566928">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H2</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Celsius → Fahrenheit table from −20 °C to 40 °C in steps of 10</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566928">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H3</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Diamond of stars: a pyramid of n rows plus the same pyramid upside down</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566928">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H4</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Read N exam scores; print average, highest, lowest and number of passes</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566928">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H5</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All perfect numbers up to 10 000 (nested loops)</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566928">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H6</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On paper: trace table of the loop given in the notes (continue + accumulator)</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bl>
          </a:graphicData>
        </a:graphic>
      </p:graphicFrame>
      <p:sp>
        <p:nvSpPr>
          <p:cNvPr id="8" name="Shape 4"/>
          <p:cNvSpPr/>
          <p:nvPr/>
        </p:nvSpPr>
        <p:spPr>
          <a:xfrm>
            <a:off x="8686800" y="1645920"/>
            <a:ext cx="2971800" cy="2103120"/>
          </a:xfrm>
          <a:prstGeom prst="roundRect">
            <a:avLst>
              <a:gd name="adj" fmla="val 5217"/>
            </a:avLst>
          </a:prstGeom>
          <a:solidFill>
            <a:srgbClr val="EEF1F6"/>
          </a:solidFill>
          <a:ln w="12700">
            <a:solidFill>
              <a:srgbClr val="EEF1F6"/>
            </a:solidFill>
            <a:prstDash val="solid"/>
          </a:ln>
        </p:spPr>
      </p:sp>
      <p:sp>
        <p:nvSpPr>
          <p:cNvPr id="9" name="Shape 5"/>
          <p:cNvSpPr/>
          <p:nvPr/>
        </p:nvSpPr>
        <p:spPr>
          <a:xfrm>
            <a:off x="8915400" y="1874520"/>
            <a:ext cx="566928" cy="566928"/>
          </a:xfrm>
          <a:prstGeom prst="ellipse">
            <a:avLst/>
          </a:prstGeom>
          <a:solidFill>
            <a:srgbClr val="14213D"/>
          </a:solidFill>
          <a:ln w="12700">
            <a:solidFill>
              <a:srgbClr val="14213D"/>
            </a:solidFill>
            <a:prstDash val="solid"/>
          </a:ln>
        </p:spPr>
      </p:sp>
      <p:pic>
        <p:nvPicPr>
          <p:cNvPr id="10" name="Image 0" descr="preencoded.png">    </p:cNvPr>
          <p:cNvPicPr>
            <a:picLocks noChangeAspect="1"/>
          </p:cNvPicPr>
          <p:nvPr/>
        </p:nvPicPr>
        <p:blipFill>
          <a:blip r:embed="rId1"/>
          <a:stretch>
            <a:fillRect/>
          </a:stretch>
        </p:blipFill>
        <p:spPr>
          <a:xfrm>
            <a:off x="9062801" y="2021921"/>
            <a:ext cx="272125" cy="272125"/>
          </a:xfrm>
          <a:prstGeom prst="rect">
            <a:avLst/>
          </a:prstGeom>
        </p:spPr>
      </p:pic>
      <p:sp>
        <p:nvSpPr>
          <p:cNvPr id="11" name="Text 6"/>
          <p:cNvSpPr txBox="1"/>
          <p:nvPr/>
        </p:nvSpPr>
        <p:spPr>
          <a:xfrm>
            <a:off x="9601200" y="1874520"/>
            <a:ext cx="187452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Method</a:t>
            </a:r>
            <a:endParaRPr lang="en-US" sz="1700" dirty="0"/>
          </a:p>
        </p:txBody>
      </p:sp>
      <p:sp>
        <p:nvSpPr>
          <p:cNvPr id="12" name="Text 7"/>
          <p:cNvSpPr txBox="1"/>
          <p:nvPr/>
        </p:nvSpPr>
        <p:spPr>
          <a:xfrm>
            <a:off x="8915400" y="2560320"/>
            <a:ext cx="2514600" cy="1051560"/>
          </a:xfrm>
          <a:prstGeom prst="rect">
            <a:avLst/>
          </a:prstGeom>
          <a:noFill/>
          <a:ln/>
        </p:spPr>
        <p:txBody>
          <a:bodyPr wrap="square" lIns="0" tIns="0" rIns="0" bIns="0" rtlCol="0" anchor="t"/>
          <a:lstStyle/>
          <a:p>
            <a:pPr indent="0" marL="0">
              <a:buNone/>
            </a:pPr>
            <a:r>
              <a:rPr lang="en-US" sz="1400" dirty="0">
                <a:solidFill>
                  <a:srgbClr val="333B4F"/>
                </a:solidFill>
                <a:latin typeface="Calibri" pitchFamily="34" charset="0"/>
                <a:ea typeface="Calibri" pitchFamily="34" charset="-122"/>
                <a:cs typeface="Calibri" pitchFamily="34" charset="-120"/>
              </a:rPr>
              <a:t>Pseudocode or flowchart → C# → test table.</a:t>
            </a:r>
            <a:endParaRPr lang="en-US" sz="1400" dirty="0"/>
          </a:p>
        </p:txBody>
      </p:sp>
      <p:sp>
        <p:nvSpPr>
          <p:cNvPr id="13" name="Shape 8"/>
          <p:cNvSpPr/>
          <p:nvPr/>
        </p:nvSpPr>
        <p:spPr>
          <a:xfrm>
            <a:off x="8686800" y="3931920"/>
            <a:ext cx="2971800" cy="1920240"/>
          </a:xfrm>
          <a:prstGeom prst="roundRect">
            <a:avLst>
              <a:gd name="adj" fmla="val 5714"/>
            </a:avLst>
          </a:prstGeom>
          <a:solidFill>
            <a:srgbClr val="EEF1F6"/>
          </a:solidFill>
          <a:ln w="12700">
            <a:solidFill>
              <a:srgbClr val="EEF1F6"/>
            </a:solidFill>
            <a:prstDash val="solid"/>
          </a:ln>
        </p:spPr>
      </p:sp>
      <p:sp>
        <p:nvSpPr>
          <p:cNvPr id="14" name="Shape 9"/>
          <p:cNvSpPr/>
          <p:nvPr/>
        </p:nvSpPr>
        <p:spPr>
          <a:xfrm>
            <a:off x="8915400" y="4160520"/>
            <a:ext cx="566928" cy="566928"/>
          </a:xfrm>
          <a:prstGeom prst="ellipse">
            <a:avLst/>
          </a:prstGeom>
          <a:solidFill>
            <a:srgbClr val="2F6FB3"/>
          </a:solidFill>
          <a:ln w="12700">
            <a:solidFill>
              <a:srgbClr val="2F6FB3"/>
            </a:solidFill>
            <a:prstDash val="solid"/>
          </a:ln>
        </p:spPr>
      </p:sp>
      <p:pic>
        <p:nvPicPr>
          <p:cNvPr id="15" name="Image 1" descr="preencoded.png">    </p:cNvPr>
          <p:cNvPicPr>
            <a:picLocks noChangeAspect="1"/>
          </p:cNvPicPr>
          <p:nvPr/>
        </p:nvPicPr>
        <p:blipFill>
          <a:blip r:embed="rId2"/>
          <a:stretch>
            <a:fillRect/>
          </a:stretch>
        </p:blipFill>
        <p:spPr>
          <a:xfrm>
            <a:off x="9062801" y="4307921"/>
            <a:ext cx="272125" cy="272125"/>
          </a:xfrm>
          <a:prstGeom prst="rect">
            <a:avLst/>
          </a:prstGeom>
        </p:spPr>
      </p:pic>
      <p:sp>
        <p:nvSpPr>
          <p:cNvPr id="16" name="Text 10"/>
          <p:cNvSpPr txBox="1"/>
          <p:nvPr/>
        </p:nvSpPr>
        <p:spPr>
          <a:xfrm>
            <a:off x="9601200" y="4160520"/>
            <a:ext cx="187452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Questions?</a:t>
            </a:r>
            <a:endParaRPr lang="en-US" sz="1700" dirty="0"/>
          </a:p>
        </p:txBody>
      </p:sp>
      <p:sp>
        <p:nvSpPr>
          <p:cNvPr id="17" name="Text 11"/>
          <p:cNvSpPr txBox="1"/>
          <p:nvPr/>
        </p:nvSpPr>
        <p:spPr>
          <a:xfrm>
            <a:off x="8915400" y="4846320"/>
            <a:ext cx="2514600" cy="868680"/>
          </a:xfrm>
          <a:prstGeom prst="rect">
            <a:avLst/>
          </a:prstGeom>
          <a:noFill/>
          <a:ln/>
        </p:spPr>
        <p:txBody>
          <a:bodyPr wrap="square" lIns="0" tIns="0" rIns="0" bIns="0" rtlCol="0" anchor="t"/>
          <a:lstStyle/>
          <a:p>
            <a:pPr indent="0" marL="0">
              <a:buNone/>
            </a:pPr>
            <a:r>
              <a:rPr lang="en-US" sz="1400" dirty="0">
                <a:solidFill>
                  <a:srgbClr val="333B4F"/>
                </a:solidFill>
                <a:latin typeface="Calibri" pitchFamily="34" charset="0"/>
                <a:ea typeface="Calibri" pitchFamily="34" charset="-122"/>
                <a:cs typeface="Calibri" pitchFamily="34" charset="-120"/>
              </a:rPr>
              <a:t>Ask in the course group.</a:t>
            </a:r>
            <a:endParaRPr lang="en-US" sz="14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548640" y="457200"/>
            <a:ext cx="5486400" cy="365760"/>
          </a:xfrm>
          <a:prstGeom prst="rect">
            <a:avLst/>
          </a:prstGeom>
          <a:noFill/>
          <a:ln/>
        </p:spPr>
        <p:txBody>
          <a:bodyPr wrap="square" lIns="0" tIns="0" rIns="0" bIns="0" rtlCol="0" anchor="ctr"/>
          <a:lstStyle/>
          <a:p>
            <a:pPr indent="0" marL="0">
              <a:buNone/>
            </a:pPr>
            <a:r>
              <a:rPr lang="en-US" sz="1400" b="1" dirty="0">
                <a:solidFill>
                  <a:srgbClr val="FCA311"/>
                </a:solidFill>
                <a:latin typeface="Courier New" pitchFamily="34" charset="0"/>
                <a:ea typeface="Courier New" pitchFamily="34" charset="-122"/>
                <a:cs typeface="Courier New" pitchFamily="34" charset="-120"/>
              </a:rPr>
              <a:t>&gt;_ SUMMARY</a:t>
            </a:r>
            <a:endParaRPr lang="en-US" sz="1400" dirty="0"/>
          </a:p>
        </p:txBody>
      </p:sp>
      <p:sp>
        <p:nvSpPr>
          <p:cNvPr id="3" name="Text 1"/>
          <p:cNvSpPr txBox="1"/>
          <p:nvPr/>
        </p:nvSpPr>
        <p:spPr>
          <a:xfrm>
            <a:off x="548640" y="868680"/>
            <a:ext cx="7315200" cy="73152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Key Takeaways</a:t>
            </a:r>
            <a:endParaRPr lang="en-US" sz="3600" dirty="0"/>
          </a:p>
        </p:txBody>
      </p:sp>
      <p:sp>
        <p:nvSpPr>
          <p:cNvPr id="4" name="Text 2"/>
          <p:cNvSpPr txBox="1"/>
          <p:nvPr/>
        </p:nvSpPr>
        <p:spPr>
          <a:xfrm>
            <a:off x="548640" y="1828800"/>
            <a:ext cx="731520" cy="609600"/>
          </a:xfrm>
          <a:prstGeom prst="rect">
            <a:avLst/>
          </a:prstGeom>
          <a:noFill/>
          <a:ln/>
        </p:spPr>
        <p:txBody>
          <a:bodyPr wrap="square" lIns="0" tIns="0" rIns="0" bIns="0" rtlCol="0" anchor="ctr"/>
          <a:lstStyle/>
          <a:p>
            <a:pPr indent="0" marL="0">
              <a:buNone/>
            </a:pPr>
            <a:r>
              <a:rPr lang="en-US" sz="2000" b="1" dirty="0">
                <a:solidFill>
                  <a:srgbClr val="FCA311"/>
                </a:solidFill>
                <a:latin typeface="Courier New" pitchFamily="34" charset="0"/>
                <a:ea typeface="Courier New" pitchFamily="34" charset="-122"/>
                <a:cs typeface="Courier New" pitchFamily="34" charset="-120"/>
              </a:rPr>
              <a:t>01</a:t>
            </a:r>
            <a:endParaRPr lang="en-US" sz="2000" dirty="0"/>
          </a:p>
        </p:txBody>
      </p:sp>
      <p:sp>
        <p:nvSpPr>
          <p:cNvPr id="5" name="Text 3"/>
          <p:cNvSpPr txBox="1"/>
          <p:nvPr/>
        </p:nvSpPr>
        <p:spPr>
          <a:xfrm>
            <a:off x="1325880" y="1828800"/>
            <a:ext cx="6675120" cy="60960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for (init; condition; update) runs init once, then test → body → update until the test is false.</a:t>
            </a:r>
            <a:endParaRPr lang="en-US" sz="1500" dirty="0"/>
          </a:p>
        </p:txBody>
      </p:sp>
      <p:sp>
        <p:nvSpPr>
          <p:cNvPr id="6" name="Text 4"/>
          <p:cNvSpPr txBox="1"/>
          <p:nvPr/>
        </p:nvSpPr>
        <p:spPr>
          <a:xfrm>
            <a:off x="548640" y="2529840"/>
            <a:ext cx="731520" cy="609600"/>
          </a:xfrm>
          <a:prstGeom prst="rect">
            <a:avLst/>
          </a:prstGeom>
          <a:noFill/>
          <a:ln/>
        </p:spPr>
        <p:txBody>
          <a:bodyPr wrap="square" lIns="0" tIns="0" rIns="0" bIns="0" rtlCol="0" anchor="ctr"/>
          <a:lstStyle/>
          <a:p>
            <a:pPr indent="0" marL="0">
              <a:buNone/>
            </a:pPr>
            <a:r>
              <a:rPr lang="en-US" sz="2000" b="1" dirty="0">
                <a:solidFill>
                  <a:srgbClr val="FCA311"/>
                </a:solidFill>
                <a:latin typeface="Courier New" pitchFamily="34" charset="0"/>
                <a:ea typeface="Courier New" pitchFamily="34" charset="-122"/>
                <a:cs typeface="Courier New" pitchFamily="34" charset="-120"/>
              </a:rPr>
              <a:t>02</a:t>
            </a:r>
            <a:endParaRPr lang="en-US" sz="2000" dirty="0"/>
          </a:p>
        </p:txBody>
      </p:sp>
      <p:sp>
        <p:nvSpPr>
          <p:cNvPr id="7" name="Text 5"/>
          <p:cNvSpPr txBox="1"/>
          <p:nvPr/>
        </p:nvSpPr>
        <p:spPr>
          <a:xfrm>
            <a:off x="1325880" y="2529840"/>
            <a:ext cx="6675120" cy="60960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Draw it as a flowchart with a back-edge; trace it with one row per pass plus the exit row.</a:t>
            </a:r>
            <a:endParaRPr lang="en-US" sz="1500" dirty="0"/>
          </a:p>
        </p:txBody>
      </p:sp>
      <p:sp>
        <p:nvSpPr>
          <p:cNvPr id="8" name="Text 6"/>
          <p:cNvSpPr txBox="1"/>
          <p:nvPr/>
        </p:nvSpPr>
        <p:spPr>
          <a:xfrm>
            <a:off x="548640" y="3230880"/>
            <a:ext cx="731520" cy="609600"/>
          </a:xfrm>
          <a:prstGeom prst="rect">
            <a:avLst/>
          </a:prstGeom>
          <a:noFill/>
          <a:ln/>
        </p:spPr>
        <p:txBody>
          <a:bodyPr wrap="square" lIns="0" tIns="0" rIns="0" bIns="0" rtlCol="0" anchor="ctr"/>
          <a:lstStyle/>
          <a:p>
            <a:pPr indent="0" marL="0">
              <a:buNone/>
            </a:pPr>
            <a:r>
              <a:rPr lang="en-US" sz="2000" b="1" dirty="0">
                <a:solidFill>
                  <a:srgbClr val="FCA311"/>
                </a:solidFill>
                <a:latin typeface="Courier New" pitchFamily="34" charset="0"/>
                <a:ea typeface="Courier New" pitchFamily="34" charset="-122"/>
                <a:cs typeface="Courier New" pitchFamily="34" charset="-120"/>
              </a:rPr>
              <a:t>03</a:t>
            </a:r>
            <a:endParaRPr lang="en-US" sz="2000" dirty="0"/>
          </a:p>
        </p:txBody>
      </p:sp>
      <p:sp>
        <p:nvSpPr>
          <p:cNvPr id="9" name="Text 7"/>
          <p:cNvSpPr txBox="1"/>
          <p:nvPr/>
        </p:nvSpPr>
        <p:spPr>
          <a:xfrm>
            <a:off x="1325880" y="3230880"/>
            <a:ext cx="6675120" cy="60960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Accumulators start at 0 (sum, count) or 1 (product) before the loop; averages come after it.</a:t>
            </a:r>
            <a:endParaRPr lang="en-US" sz="1500" dirty="0"/>
          </a:p>
        </p:txBody>
      </p:sp>
      <p:sp>
        <p:nvSpPr>
          <p:cNvPr id="10" name="Text 8"/>
          <p:cNvSpPr txBox="1"/>
          <p:nvPr/>
        </p:nvSpPr>
        <p:spPr>
          <a:xfrm>
            <a:off x="548640" y="3931920"/>
            <a:ext cx="731520" cy="609600"/>
          </a:xfrm>
          <a:prstGeom prst="rect">
            <a:avLst/>
          </a:prstGeom>
          <a:noFill/>
          <a:ln/>
        </p:spPr>
        <p:txBody>
          <a:bodyPr wrap="square" lIns="0" tIns="0" rIns="0" bIns="0" rtlCol="0" anchor="ctr"/>
          <a:lstStyle/>
          <a:p>
            <a:pPr indent="0" marL="0">
              <a:buNone/>
            </a:pPr>
            <a:r>
              <a:rPr lang="en-US" sz="2000" b="1" dirty="0">
                <a:solidFill>
                  <a:srgbClr val="FCA311"/>
                </a:solidFill>
                <a:latin typeface="Courier New" pitchFamily="34" charset="0"/>
                <a:ea typeface="Courier New" pitchFamily="34" charset="-122"/>
                <a:cs typeface="Courier New" pitchFamily="34" charset="-120"/>
              </a:rPr>
              <a:t>04</a:t>
            </a:r>
            <a:endParaRPr lang="en-US" sz="2000" dirty="0"/>
          </a:p>
        </p:txBody>
      </p:sp>
      <p:sp>
        <p:nvSpPr>
          <p:cNvPr id="11" name="Text 9"/>
          <p:cNvSpPr txBox="1"/>
          <p:nvPr/>
        </p:nvSpPr>
        <p:spPr>
          <a:xfrm>
            <a:off x="1325880" y="3931920"/>
            <a:ext cx="6675120" cy="60960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Nested loops: the inner loop runs completely for every outer pass (n · m body runs).</a:t>
            </a:r>
            <a:endParaRPr lang="en-US" sz="1500" dirty="0"/>
          </a:p>
        </p:txBody>
      </p:sp>
      <p:sp>
        <p:nvSpPr>
          <p:cNvPr id="12" name="Text 10"/>
          <p:cNvSpPr txBox="1"/>
          <p:nvPr/>
        </p:nvSpPr>
        <p:spPr>
          <a:xfrm>
            <a:off x="548640" y="4632960"/>
            <a:ext cx="731520" cy="609600"/>
          </a:xfrm>
          <a:prstGeom prst="rect">
            <a:avLst/>
          </a:prstGeom>
          <a:noFill/>
          <a:ln/>
        </p:spPr>
        <p:txBody>
          <a:bodyPr wrap="square" lIns="0" tIns="0" rIns="0" bIns="0" rtlCol="0" anchor="ctr"/>
          <a:lstStyle/>
          <a:p>
            <a:pPr indent="0" marL="0">
              <a:buNone/>
            </a:pPr>
            <a:r>
              <a:rPr lang="en-US" sz="2000" b="1" dirty="0">
                <a:solidFill>
                  <a:srgbClr val="FCA311"/>
                </a:solidFill>
                <a:latin typeface="Courier New" pitchFamily="34" charset="0"/>
                <a:ea typeface="Courier New" pitchFamily="34" charset="-122"/>
                <a:cs typeface="Courier New" pitchFamily="34" charset="-120"/>
              </a:rPr>
              <a:t>05</a:t>
            </a:r>
            <a:endParaRPr lang="en-US" sz="2000" dirty="0"/>
          </a:p>
        </p:txBody>
      </p:sp>
      <p:sp>
        <p:nvSpPr>
          <p:cNvPr id="13" name="Text 11"/>
          <p:cNvSpPr txBox="1"/>
          <p:nvPr/>
        </p:nvSpPr>
        <p:spPr>
          <a:xfrm>
            <a:off x="1325880" y="4632960"/>
            <a:ext cx="6675120" cy="60960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break leaves the (innermost) loop; continue jumps to the update.</a:t>
            </a:r>
            <a:endParaRPr lang="en-US" sz="1500" dirty="0"/>
          </a:p>
        </p:txBody>
      </p:sp>
      <p:sp>
        <p:nvSpPr>
          <p:cNvPr id="14" name="Text 12"/>
          <p:cNvSpPr txBox="1"/>
          <p:nvPr/>
        </p:nvSpPr>
        <p:spPr>
          <a:xfrm>
            <a:off x="548640" y="5334000"/>
            <a:ext cx="731520" cy="609600"/>
          </a:xfrm>
          <a:prstGeom prst="rect">
            <a:avLst/>
          </a:prstGeom>
          <a:noFill/>
          <a:ln/>
        </p:spPr>
        <p:txBody>
          <a:bodyPr wrap="square" lIns="0" tIns="0" rIns="0" bIns="0" rtlCol="0" anchor="ctr"/>
          <a:lstStyle/>
          <a:p>
            <a:pPr indent="0" marL="0">
              <a:buNone/>
            </a:pPr>
            <a:r>
              <a:rPr lang="en-US" sz="2000" b="1" dirty="0">
                <a:solidFill>
                  <a:srgbClr val="FCA311"/>
                </a:solidFill>
                <a:latin typeface="Courier New" pitchFamily="34" charset="0"/>
                <a:ea typeface="Courier New" pitchFamily="34" charset="-122"/>
                <a:cs typeface="Courier New" pitchFamily="34" charset="-120"/>
              </a:rPr>
              <a:t>06</a:t>
            </a:r>
            <a:endParaRPr lang="en-US" sz="2000" dirty="0"/>
          </a:p>
        </p:txBody>
      </p:sp>
      <p:sp>
        <p:nvSpPr>
          <p:cNvPr id="15" name="Text 13"/>
          <p:cNvSpPr txBox="1"/>
          <p:nvPr/>
        </p:nvSpPr>
        <p:spPr>
          <a:xfrm>
            <a:off x="1325880" y="5334000"/>
            <a:ext cx="6675120" cy="60960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Check the first and last value of i; no ; after the header; never change i in the body.</a:t>
            </a:r>
            <a:endParaRPr lang="en-US" sz="1500" dirty="0"/>
          </a:p>
        </p:txBody>
      </p:sp>
      <p:sp>
        <p:nvSpPr>
          <p:cNvPr id="16" name="Shape 14"/>
          <p:cNvSpPr/>
          <p:nvPr/>
        </p:nvSpPr>
        <p:spPr>
          <a:xfrm>
            <a:off x="8412480" y="822960"/>
            <a:ext cx="3246120" cy="5120640"/>
          </a:xfrm>
          <a:prstGeom prst="roundRect">
            <a:avLst>
              <a:gd name="adj" fmla="val 3380"/>
            </a:avLst>
          </a:prstGeom>
          <a:solidFill>
            <a:srgbClr val="1E2E52"/>
          </a:solidFill>
          <a:ln w="12700">
            <a:solidFill>
              <a:srgbClr val="1E2E52"/>
            </a:solidFill>
            <a:prstDash val="solid"/>
          </a:ln>
        </p:spPr>
      </p:sp>
      <p:sp>
        <p:nvSpPr>
          <p:cNvPr id="17" name="Text 15"/>
          <p:cNvSpPr txBox="1"/>
          <p:nvPr/>
        </p:nvSpPr>
        <p:spPr>
          <a:xfrm>
            <a:off x="8641080" y="1005840"/>
            <a:ext cx="283464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NEXT WEEK</a:t>
            </a:r>
            <a:endParaRPr lang="en-US" sz="1300" dirty="0"/>
          </a:p>
        </p:txBody>
      </p:sp>
      <p:sp>
        <p:nvSpPr>
          <p:cNvPr id="18" name="Text 16"/>
          <p:cNvSpPr txBox="1"/>
          <p:nvPr/>
        </p:nvSpPr>
        <p:spPr>
          <a:xfrm>
            <a:off x="8641080" y="1371600"/>
            <a:ext cx="2834640" cy="822960"/>
          </a:xfrm>
          <a:prstGeom prst="rect">
            <a:avLst/>
          </a:prstGeom>
          <a:noFill/>
          <a:ln/>
        </p:spPr>
        <p:txBody>
          <a:bodyPr wrap="square" lIns="0" tIns="0" rIns="0" bIns="0" rtlCol="0" anchor="t">
            <a:normAutofit/>
          </a:bodyPr>
          <a:lstStyle/>
          <a:p>
            <a:pPr indent="0" marL="0">
              <a:buNone/>
            </a:pPr>
            <a:r>
              <a:rPr lang="en-US" sz="1800" b="1" dirty="0">
                <a:solidFill>
                  <a:srgbClr val="FFFFFF"/>
                </a:solidFill>
                <a:latin typeface="Cambria" pitchFamily="34" charset="0"/>
                <a:ea typeface="Cambria" pitchFamily="34" charset="-122"/>
                <a:cs typeface="Cambria" pitchFamily="34" charset="-120"/>
              </a:rPr>
              <a:t>Loops: while and do-while</a:t>
            </a:r>
            <a:endParaRPr lang="en-US" sz="1800" dirty="0"/>
          </a:p>
        </p:txBody>
      </p:sp>
      <p:sp>
        <p:nvSpPr>
          <p:cNvPr id="19" name="Text 17"/>
          <p:cNvSpPr txBox="1"/>
          <p:nvPr/>
        </p:nvSpPr>
        <p:spPr>
          <a:xfrm>
            <a:off x="8915400" y="2560320"/>
            <a:ext cx="2286000" cy="1463040"/>
          </a:xfrm>
          <a:prstGeom prst="rect">
            <a:avLst/>
          </a:prstGeom>
          <a:noFill/>
          <a:ln/>
        </p:spPr>
        <p:txBody>
          <a:bodyPr wrap="square" lIns="0" tIns="0" rIns="0" bIns="0" rtlCol="0" anchor="ctr"/>
          <a:lstStyle/>
          <a:p>
            <a:pPr algn="ctr" indent="0" marL="0">
              <a:buNone/>
            </a:pPr>
            <a:r>
              <a:rPr lang="en-US" sz="6000" b="1" dirty="0">
                <a:solidFill>
                  <a:srgbClr val="FCA311"/>
                </a:solidFill>
                <a:latin typeface="Courier New" pitchFamily="34" charset="0"/>
                <a:ea typeface="Courier New" pitchFamily="34" charset="-122"/>
                <a:cs typeface="Courier New" pitchFamily="34" charset="-120"/>
              </a:rPr>
              <a:t>&gt;_</a:t>
            </a:r>
            <a:endParaRPr lang="en-US" sz="6000" dirty="0"/>
          </a:p>
        </p:txBody>
      </p:sp>
      <p:sp>
        <p:nvSpPr>
          <p:cNvPr id="20" name="Text 18"/>
          <p:cNvSpPr txBox="1"/>
          <p:nvPr/>
        </p:nvSpPr>
        <p:spPr>
          <a:xfrm>
            <a:off x="8641080" y="4846320"/>
            <a:ext cx="2834640" cy="731520"/>
          </a:xfrm>
          <a:prstGeom prst="rect">
            <a:avLst/>
          </a:prstGeom>
          <a:noFill/>
          <a:ln/>
        </p:spPr>
        <p:txBody>
          <a:bodyPr wrap="square" lIns="0" tIns="0" rIns="0" bIns="0" rtlCol="0" anchor="ctr"/>
          <a:lstStyle/>
          <a:p>
            <a:pPr algn="ctr" indent="0" marL="0">
              <a:buNone/>
            </a:pPr>
            <a:r>
              <a:rPr lang="en-US" sz="1300" dirty="0">
                <a:solidFill>
                  <a:srgbClr val="C7CEDC"/>
                </a:solidFill>
                <a:latin typeface="Calibri" pitchFamily="34" charset="0"/>
                <a:ea typeface="Calibri" pitchFamily="34" charset="-122"/>
                <a:cs typeface="Calibri" pitchFamily="34" charset="-120"/>
              </a:rPr>
              <a:t>MCMP113</a:t>
            </a:r>
            <a:endParaRPr lang="en-US" sz="1300" dirty="0"/>
          </a:p>
          <a:p>
            <a:pPr algn="ctr" indent="0" marL="0">
              <a:buNone/>
            </a:pPr>
            <a:r>
              <a:rPr lang="en-US" sz="1300" dirty="0">
                <a:solidFill>
                  <a:srgbClr val="C7CEDC"/>
                </a:solidFill>
                <a:latin typeface="Calibri" pitchFamily="34" charset="0"/>
                <a:ea typeface="Calibri" pitchFamily="34" charset="-122"/>
                <a:cs typeface="Calibri" pitchFamily="34" charset="-120"/>
              </a:rPr>
              <a:t>Course materials</a:t>
            </a:r>
            <a:endParaRPr lang="en-US" sz="1300" dirty="0"/>
          </a:p>
        </p:txBody>
      </p:sp>
      <p:sp>
        <p:nvSpPr>
          <p:cNvPr id="22" name="Text 19"/>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8A94AB"/>
                </a:solidFill>
                <a:latin typeface="Calibri" pitchFamily="34" charset="0"/>
                <a:ea typeface="Calibri" pitchFamily="34" charset="-122"/>
                <a:cs typeface="Calibri" pitchFamily="34" charset="-120"/>
              </a:rPr>
              <a:t>MCMP113  ·  Week 6</a:t>
            </a:r>
            <a:endParaRPr lang="en-US" sz="1000" dirty="0"/>
          </a:p>
        </p:txBody>
      </p:sp>
      <p:sp>
        <p:nvSpPr>
          <p:cNvPr id="23" name="Text 20"/>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8A94AB"/>
                </a:solidFill>
                <a:latin typeface="Calibri" pitchFamily="34" charset="0"/>
                <a:ea typeface="Calibri" pitchFamily="34" charset="-122"/>
                <a:cs typeface="Calibri" pitchFamily="34" charset="-120"/>
              </a:rPr>
              <a:t>40</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40</Slides>
  <Notes>40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40</vt:i4>
      </vt:variant>
    </vt:vector>
  </HeadingPairs>
  <TitlesOfParts>
    <vt:vector size="4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vector>
  </TitlesOfParts>
  <Company>Istanbul Okan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MCMP113 Week 6 – Loops: the for Loop</dc:title>
  <dc:subject>PptxGenJS Presentation</dc:subject>
  <dc:creator>MCMP113</dc:creator>
  <cp:lastModifiedBy>MCMP113</cp:lastModifiedBy>
  <cp:revision>1</cp:revision>
  <dcterms:created xsi:type="dcterms:W3CDTF">2026-10-25T13:00:09Z</dcterms:created>
  <dcterms:modified xsi:type="dcterms:W3CDTF">2026-10-25T13:00:09Z</dcterms:modified>
</cp:coreProperties>
</file>