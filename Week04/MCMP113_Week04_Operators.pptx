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4 (about 2 x 50 min). Last week we stored values in variables; this week we compute with them. The terminal on the right already shows three surprises we will explain today: integer division, the sign of the remainder, and floating-point comparison. Ask students to guess each line before revealing why. Keep the energy high: this week has many predict-the-output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objectives aloud (2 min). Point out that objectives 1-3 are about numbers and 4-6 about true/false values. The midterm (Week 8) always contains predict-the-output questions on these operators, so this week pays off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(3 min). Week 3: variables are named boxes with a TYPE. Today: operators take values out of the boxes, combine them and produce a NEW value, which also has a type. Ask: what is the type of count * price? (double, because one operand is double). This single idea explains most of today's surprises.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slide (4 min). An expression is anything that produces a value. Operands are the values, operators are the symbols. Unary operators take one operand (-x, !ok, ++i), binary take two (a + b), the conditional operator ?: takes three. The assignment = is also an operator but it has the LOWEST priority: the whole right side is computed first, then stored. Turkish: operand = işlenen, operator = işleç.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(about 35 min): the five arithmetic operators, with most of the time spent on / and %, which cause most beginner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(5 min). Stress the / row: same symbol, different behaviour depending on the operand types. Doubles print without ".0" in C#: 7.0 + 2 prints 9, not 9.0. % also works on doubles (7.5 % 2 = 1.5) but we use it mostly with integers. Likely question: "Is there a power operator like ** or ^?" No: ^ is XOR in C# (not covered); use Math.Pow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Example 2 live (code/04_02_DivisionRules). Ask before each line: what will it print? Key point 3: (double)(7 / 2) casts the already-truncated 3 → 3.0, printed as 3. The cast must be applied to an OPERAND, not to the result. Also: integer division truncates toward zero, so -7 / 2 is -3, not -4 (mathematical floor would give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division identity a == (a / b) * b + a % b always holds for ints (also for negatives). Three classic uses: parity test (n % 2), digit work (% 10 keeps the last digit, / 10 drops it), and wrap-around (clock, days of the week). Ask: what is 2026 % 7? (3) and what could we use it for? (weekday calculations). Turkish: kalan = remainder, bölüm = quotient.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C# differs from the "mod" of mathematics. In mathematics -7 mod 3 = 2 (result always 0..m-1); in C# -7 % 3 = -1 because / truncates toward zero and the identity a = (a/b)*b + a%b must hold: -7 = (-2)*3 + (-1). Fix: ((x % m) + m) % m always gives 0..m-1 for m &gt; 0. We need it for the clock example and for the T.C. Kimlik check digit (Week 1 promised this!). Python students: Python's % follows the DIVISOR, so it gives 2 there. Do not mix them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Integer division by zero throws a DivideByZeroException at run time and the program stops (show the red text). If the zero is a literal, like 10 / 0, the compiler refuses already: error CS0020 "Division by constant zero". double follows the IEEE 754 standard: 1.0/0 = Infinity, -1.0/0 = -Infinity, 0.0/0 = NaN (Not a Number). No crash, but the garbage spreads silently through later computations. Week 5 will give us the tool to prevent both: check the divisor with an if before dividing.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04_01. Problem: read two integers and show every arithmetic result. Run it with 17 and 5, then with -17 and 5 (right). The last line proves the identity a == (a / b) * b + a % b for both runs. Ask: what happens with b = 0? (DivideByZeroException at the a / b line; a + b, a - b and a * b are printed first). We fix this in Week 5 with 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04_03. Pseudocode first (div = integer division, mod = remainder), then C#. Trace with 472: 472 / 100 = 4; 472 / 10 = 47 and 47 % 10 = 7; 472 % 10 = 2. Precedence: / and % have the same level and go left to right, so n / 10 % 10 means (n / 10) % 10. Exercise idea: what does the program print for 905? (9, 0, 5, sum 14, reversed 509). For 50? (0, 5, 0 — it is not three-digit; input validation comes in Week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04_04. The pattern "divide to get the big unit, take the remainder for what is left" is used everywhere (money change, unit conversion). Walk through the trace table for 100000 s. Note total % 86400 / 3600: % and / have equal precedence, left to right, so the remainder is taken first. {hours:D2} pads an int to 2 digits (D = decimal digits): 3 →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04_05. Convert the time to "minutes since midnight", add delta, wrap into 0..1439, convert back. Run 1: 22:45 + 150 min = 1515 min; 1515 % 1440 = 75 → 01:15 (next day). Run 2: 00:20 − 45 min = −25; plain % gives −25 (wrong!), the safe modulo gives (−25 + 1440) % 1440 = 1415 → 23:35. The const MinutesPerDay avoids a "magic number". Ask: what if delta = 2880? (two full days: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04_10. In Week 1 we computed d10 and d11 by hand and noted that 7*odd - even can be negative. Here is the proof: first nine digits 190909090 (made-up, belongs to nobody): odd sum = 1, even sum = 36, 7*1 - 36 = -29. C# gives -29 % 10 = -9, which is not a digit; the safe modulo gives 1. d11 = (1 + 36 + 1) % 10 = 8. Remind students never to type a real person's identity number into class examples. The full version (with all nine digit lines) is in the code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30 min). Precedence decides the ORDER of evaluation; getting it wrong gives a program that compiles and runs but prints wrong numbers, the worst kind of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table for the operators of this course (the full C# table also has shifts, bitwise operators, ?? and more; see the Microsoft Learn link in the notes). Higher rows are evaluated first. Associativity decides the order among operators of the SAME level: most go left to right; unary, ?: and assignment go right to left. Mnemonic: "Unary, Multiply, Add, Compare, Equal, AND, OR, ?:, Assign". Parentheses override everything — use them whenever you are unsure; they cost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 the board. Underline the operator that runs next at each step. First all of * / % from left to right (4 * 2, then 6 / 3, then 2 % 2), then + and - from left to right. The console shows the real C# result: 11. A typical wrong answer is 0, from strict left-to-right evaluation ignoring precedence (3+4=7, 7*2=14, 14-6=8, 8/3=2, 2%2=0). Let them argue, then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04_14 (first part). This is the Week 1 bug: g1 + g2 + g3 / 3 divides only g3. With 60, 70, 85: 85 / 3 = 28 (int), 60 + 70 + 28 = 158. Version 2 has the right parentheses but still uses integer division: 215 / 3 = 71. Version 3 divides by 3.0, so the result is double: 71.666..., printed with F2 as 71.67. Ask: which versions compile? (all three!) The compiler cannot detect wrong logic; only testing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op= y means x = x op (y). The right-hand side is evaluated FIRST as a whole: c *= 3 + 1 is c = c * (3 + 1), not c = c * 3 + 1. Trace the score column with the class; the console (from 04_13) confirms each step. /= on an int keeps integer division: 24 / 5 = 4. Likely question: is x += 1 faster than x = x + 1? No practical difference; it is about readability.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 and ++i add 1 to i. The difference is only the VALUE of the expression: postfix gives the old value, prefix gives the new value. Trace tables below: go row by row. If ++ stands alone on a line (i++;), prefix and postfix are identical, which is how you should normally use them. Avoid putting ++ inside bigger expressions in real code; we do it here only so you can read other people's code and answer exam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is overloaded: number + number adds, but as soon as one operand is a string, + joins text. Evaluation is left to right, so "Sum: " + g1 + g2 is ("Sum: " + 60) + 70 = "Sum: 6070". g1 + g2 + " is the sum" adds first because the first + has two ints. Overflow (Week 3 recap): int has a fixed range; int.MaxValue + 1 wraps around to int.MinValue without any error. Use long for big values, or checked(...) to turn the silent wrap into an OverflowException. Tip: string interpolation $"Sum: {g1 + g2}" avoids the + confusion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25 min). C# has no power operator; the Math class provides the common functions. All are called as Math.Name(arguments).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table; every "Prints" value was produced by running the code. Math.Pow and Math.Sqrt always return double, even for whole-number results; storing them in an int needs a cast: int k = (int)Math.Pow(2, 3); otherwise error CS0266. Math.Abs, Max and Min keep the type of their arguments (int in → int out). Math.Round(2.5) = 2 is NOT a bug: see the next slide. Likely question: is Math.Pow(x, 2) better than x * x? For squares, x * x is simpler and exact; Pow is for general exponents such as (1 + 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Math.Round rounds a tie (exactly .5) to the EVEN neighbour: 0.5 → 0, 1.5 → 2, 2.5 → 2, 3.5 → 4. This avoids a systematic upward bias when summing many rounded values (banks, statistics). For the school rule "0.5 always up (away from zero)" pass MidpointRounding.AwayFromZero. Floor always goes down, Ceiling always up, a cast (int) cuts toward zero. All values in the table come from Example 04_11 (run it with 2.5, 3.5, -2.5, -2.7). Math.Round(x, 2) rounds to 2 decimals; for money prefer decimal (Week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04_07. Δ = b² − 4ac; roots x = (−b ± √Δ) / (2a). The parentheses matter twice: around −b + Math.Sqrt(delta) and around 2 * a. Writing -b + Math.Sqrt(delta) / 2 * a would compute −b + (√Δ / 2) · a. For run 1 (1, −3, 2) the roots are 2 and 1: check 2² − 3·2 + 2 = 0. Run 2 has Δ = −16 &lt; 0: Math.Sqrt of a negative number returns NaN (no crash). We use ?: to print a message; in Week 5 an if-else ladder will handle the three cases Δ &gt; 0, Δ = 0, Δ &lt; 0 properly. Also note: a = 0 would divide by zero (Infinity/NaN).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04_08. With P = 10 000 TL, 40 % per year, compounded monthly (n = 12) for t = 2 years: A = 10000 · (1 + 0.4/12)^24 ≈ 21 966.99 TL, compared with 18 000 TL simple interest. Precedence: r / n is computed before 1 +, and n * t is an int product passed to Math.Pow. Pitfall: if ratePercent were an int, ratePercent / 100 would be 40 / 100 = 0 (integer division) and the program would silently print A = P. That is why we read the rate as double. Sanity check with an easy case: 1000 TL, 10 %, n = 1, t = 3 → 1331.00 (= 1000 · 1.1³).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30 min). Relational operators turn numbers into true/false; logical operators combine true/false values. This is the language of the if statements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comparison is an expression of type bool: it can be stored (bool passed = grade &gt;= 50;) or printed. C# prints True/False with a capital letter. Pseudocode uses = for comparison and ← for assignment; C# uses == for comparison and = for assignment. Writing = where == was meant gives error CS0029 (cannot convert int to bool) in a bool context — the compiler saves you here. Note: a &lt; b &lt; c is not allowed; see the range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 stores numbers in binary. 0.1 has no exact binary representation (just as 1/3 has no exact decimal one: 0.333...). The tiny errors add up: 0.1 + 0.2 = 0.30000000000000004. Rule: never compare doubles with ==. Compare the distance with a small tolerance (epsilon), e.g. 1e-9 = 0.000000001. decimal stores base-10 digits exactly, so 0.1m + 0.2m == 0.3m is True; that is why money uses decimal (Week 3). The same effect: Math.Pow(-2.7, 2) prints 7.290000000000001.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&amp;&amp; (AND, Turkish "ve") is true only if BOTH sides are true. || (OR, "veya") is true if AT LEAST ONE side is true. ! (NOT, "değil") flips a bool. The table is exactly what Example 04_12 prints (it writes the four rows by hand; with a loop in Week 6 this becomes shorter). Precedence: ! first, then &amp;&amp;, then ||. So a || b &amp;&amp; c means a || (b &amp;&amp; c). Use parentheses when you mix &amp;&amp; and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&amp;&amp; and || evaluate the left operand first and skip the right operand when the result is already known: false &amp;&amp; anything = false, true || anything = true. This lets us write a guard: b != 0 &amp;&amp; a / b &gt; 2 never divides by zero, because when b is 0 the left side is false and a / b is never evaluated (Example 04_12, last lines). Order matters: a / b &gt; 2 &amp;&amp; b != 0 crashes when b = 0. (The single &amp; and | operators do NOT short-circuit; we do not use them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Morgan: to negate a combined condition, negate each part AND swap &amp;&amp; with ||. Check with the truth-table program: the last column is always True. Range test: mathematics writes 0 ≤ x ≤ 100, but in C# 0 &lt;= x &lt;= 100 is parsed as (0 &lt;= x) &lt;= 100, i.e. bool &lt;= int, which is error CS0019. Write x &gt;= 0 &amp;&amp; x &lt;= 100. Outside the range: !(x &gt;= 0 &amp;&amp; x &lt;= 100) is, by De Morgan, x &lt; 0 || x &gt; 100. Ask students to write "age is NOT between 18 and 65 inclusive" both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04_06. Gregorian rule: divisible by 4, except centuries, unless divisible by 400. In one expression: (y % 4 == 0 &amp;&amp; y % 100 != 0) || y % 400 == 0. Naming the pieces (divisibleBy4 ...) makes the logic readable and testable. The test table covers every case: ordinary leap year, century (1900), 400-year (2000), ordinary year. The conditional operator cond ? a : b picks one of two values; we use it only to choose text. Week 5 introduces if-else, which is the general tool. Parentheses are required around ?: inside an interpolation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the traps (5 min). Ask students to explain each fix in their own words. All six compile except #3 (CS0019) and #4 in a bool context (CS0029). The others compile and run: that is what makes them dangerous. Testing with hand-checked values is the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4-5 minutes in pairs. Each line is Console.WriteLine(&lt;expression&gt;); students write exactly what is printed (note: bool prints True/False, doubles print without .0).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output below was produced by running the expressions in C# (.NET 10). Go through the "why" column; ask the pairs which ones they got wrong and why. 1) 17 / 5 → 3: int / int: the fraction is dropped. 2) 17 % 5 → 2: 17 = 3 · 5 + 2. 3) 17 / 5.0 → 3.4: one double operand → real division. 4) (double)(17 / 5) → 3: int division first; the cast comes too late. 5) -17 % 5 → -2: the sign of % follows the dividend (−17). 6) 5 % 17 → 5: 5 = 0 · 17 + 5. 7) 1 / 2 * 10.0 → 0: 1 / 2 is the int 0; 0 * 10.0 = 0. 8) -9 / 2 → -4: truncation toward zero (not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4-5 minutes in pairs. Each line is Console.WriteLine(&lt;expression&gt;); students write exactly what is printed (note: bool prints True/False, doubles print without .0).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output below was produced by running the expressions in C# (.NET 10). Go through the "why" column; ask the pairs which ones they got wrong and why. 1) 2 + 3 * 4 → 14: * before +. 2) 10 - 4 - 3 → 3: left to right: (10 − 4) − 3. 3) 100 / 10 / 5 → 2: left to right: (100 / 10) / 5. 4) 20 / 3 * 3 → 18: 20 / 3 = 6 (int), then 6 * 3. 5) 2 * 3 % 4 → 2: same level, left to right: 6 % 4. 6) 1 + 2 + "3" → 33: 1 + 2 = 3 first, then "3" + "3". 7) "1" + 2 + 3 → 123: text first → every + joins text. 8) 'A' + 1 → 66: char 'A' has code 65; char + int → 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independent snippets (each starts fresh). Students trace the variables on paper (a mini trace table per snippet). 5-6 minutes.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outputs verified by running the snippets. A: 7 6 (i++ gives the old value 5). B: 8 6 (++i gives the new value 6). C: 7 / 8 / 7 (print 7, then n = 8; --n makes 7). D: 4 (10 → 7 → 14 → 14 % 5 = 4). E: 2 2.5 (int /= keeps int; double /= is real). F: 8 (c = c * (3 + 1): right side first). (Snippet C prints three separate lines, shown as 7 | 8 | 7.) Snippet F is the classic trap: *= applies to the whole right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4-5 minutes in pairs. Each line is Console.WriteLine(&lt;expression&gt;); students write exactly what is printed (note: bool prints True/False, doubles print without .0). Setup line: int b = 0;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output below was produced by running the expressions in C# (.NET 10). Go through the "why" column; ask the pairs which ones they got wrong and why. 1) 5 &gt; 3 &amp;&amp; 2 &gt; 4 → False: true &amp;&amp; false. 2) 7 % 2 == 1 → True: % before ==; 1 == 1. 3) 10 / 4 == 2.5 → False: 10 / 4 is the int 2. 4) 0.1 + 0.2 == 0.3 → False: sum is 0.30000000000000004. 5) true || false &amp;&amp; false → True: &amp;&amp; first: true || (false &amp;&amp; false). 6) !true || true → True: ! binds tightest: false || true. 7) b != 0 &amp;&amp; 10 / b &gt; 1 → False: left side false → right side skipped. 8) b == 0 || 10 / b &gt; 1 → True: left side true → right side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4-5 minutes in pairs. Each line is Console.WriteLine(&lt;expression&gt;); students write exactly what is printed (note: bool prints True/False, doubles print without .0). Answers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output below was produced by running the expressions in C# (.NET 10). Go through the "why" column; ask the pairs which ones they got wrong and why. 1) Math.Round(2.5) → 2: banker's rounding: tie → even. 2) Math.Round(3.5) → 4: tie → even neighbour 4. 3) Math.Round(-2.5) → -2: tie → even neighbour −2. 4) Math.Floor(-2.5) → -3: Floor goes down (toward −∞). 5) Math.Ceiling(-2.5) → -2: Ceiling goes up (toward +∞). 6) (int)-2.7 → -2: a cast truncates toward zero. 7) Math.Pow(2, 10) → 1024: 2¹⁰. 8) Math.Max(3, Math.Min(10, 7)) → 7: inner first: Min = 7, Max(3, 7) =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in pairs, about 25 minutes in the lab. Each exercise uses only this week's operators (no if yet). Walk around and check that students test with hand-computed values. Solutions are in the instructor edition of the notes. E1 is the most important (it combines / and % in the change-making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is submitted as C# projects (folder per exercise) via the course channel announced in class. H1 extends the Kimlik example; H2 practises the safe modulo; H3 is Math.Pow practice with a real-life formula; H4 is the predict-the-output sheet in the notes (Section "Exercises"). Remind students: numbers used in H1 must be made up, never a real person's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(3 min). Read the six takeaways. Next week the bool expressions from Part 4 become the conditions of if, else-if and switch. Preview question to leave them with: how would you print "PASS" or "FAIL" for a grade using what you know today? (?: works for two choices; for more, we need if-else.)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1.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4</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Arithmetic, Logical and Relational Operators</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Computing with values: expressions, precedence, the Math class and boolean logic</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7 / 2      -&gt; 3</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7 / 2.0    -&gt; 3.5</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-7 % 3     -&gt; -1</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0.1 + 0.2 == 0.3</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-&gt; False</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Arithmetic</a:t>
            </a:r>
            <a:endParaRPr lang="en-US" sz="1700" dirty="0"/>
          </a:p>
        </p:txBody>
      </p:sp>
      <p:sp>
        <p:nvSpPr>
          <p:cNvPr id="11" name="Text 7"/>
          <p:cNvSpPr txBox="1"/>
          <p:nvPr/>
        </p:nvSpPr>
        <p:spPr>
          <a:xfrm>
            <a:off x="77724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Use + − * / % and predict whether the result is int or double.</a:t>
            </a:r>
            <a:endParaRPr lang="en-US" sz="1500" dirty="0"/>
          </a:p>
        </p:txBody>
      </p:sp>
      <p:sp>
        <p:nvSpPr>
          <p:cNvPr id="12" name="Shape 8"/>
          <p:cNvSpPr/>
          <p:nvPr/>
        </p:nvSpPr>
        <p:spPr>
          <a:xfrm>
            <a:off x="4297680" y="1645920"/>
            <a:ext cx="356616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52628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4673681" y="2021921"/>
            <a:ext cx="272125" cy="272125"/>
          </a:xfrm>
          <a:prstGeom prst="rect">
            <a:avLst/>
          </a:prstGeom>
        </p:spPr>
      </p:pic>
      <p:sp>
        <p:nvSpPr>
          <p:cNvPr id="15" name="Text 10"/>
          <p:cNvSpPr txBox="1"/>
          <p:nvPr/>
        </p:nvSpPr>
        <p:spPr>
          <a:xfrm>
            <a:off x="521208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Precedence</a:t>
            </a:r>
            <a:endParaRPr lang="en-US" sz="1700" dirty="0"/>
          </a:p>
        </p:txBody>
      </p:sp>
      <p:sp>
        <p:nvSpPr>
          <p:cNvPr id="16" name="Text 11"/>
          <p:cNvSpPr txBox="1"/>
          <p:nvPr/>
        </p:nvSpPr>
        <p:spPr>
          <a:xfrm>
            <a:off x="452628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Evaluate an expression step by step using precedence and associativity.</a:t>
            </a:r>
            <a:endParaRPr lang="en-US" sz="1500" dirty="0"/>
          </a:p>
        </p:txBody>
      </p:sp>
      <p:sp>
        <p:nvSpPr>
          <p:cNvPr id="17" name="Shape 12"/>
          <p:cNvSpPr/>
          <p:nvPr/>
        </p:nvSpPr>
        <p:spPr>
          <a:xfrm>
            <a:off x="8046720" y="1645920"/>
            <a:ext cx="356616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275320" y="187452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22721" y="2021921"/>
            <a:ext cx="272125" cy="272125"/>
          </a:xfrm>
          <a:prstGeom prst="rect">
            <a:avLst/>
          </a:prstGeom>
        </p:spPr>
      </p:pic>
      <p:sp>
        <p:nvSpPr>
          <p:cNvPr id="20" name="Text 14"/>
          <p:cNvSpPr txBox="1"/>
          <p:nvPr/>
        </p:nvSpPr>
        <p:spPr>
          <a:xfrm>
            <a:off x="896112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Assignment</a:t>
            </a:r>
            <a:endParaRPr lang="en-US" sz="1700" dirty="0"/>
          </a:p>
        </p:txBody>
      </p:sp>
      <p:sp>
        <p:nvSpPr>
          <p:cNvPr id="21" name="Text 15"/>
          <p:cNvSpPr txBox="1"/>
          <p:nvPr/>
        </p:nvSpPr>
        <p:spPr>
          <a:xfrm>
            <a:off x="827532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Use += −= *= /= %= and ++/−− (prefix vs postfix) with trace tables.</a:t>
            </a:r>
            <a:endParaRPr lang="en-US" sz="1500" dirty="0"/>
          </a:p>
        </p:txBody>
      </p:sp>
      <p:sp>
        <p:nvSpPr>
          <p:cNvPr id="22" name="Shape 16"/>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Math class</a:t>
            </a:r>
            <a:endParaRPr lang="en-US" sz="1700" dirty="0"/>
          </a:p>
        </p:txBody>
      </p:sp>
      <p:sp>
        <p:nvSpPr>
          <p:cNvPr id="26" name="Text 19"/>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Apply Pow, Sqrt, Abs, Round, Floor, Ceiling, Max and Min correctly.</a:t>
            </a:r>
            <a:endParaRPr lang="en-US" sz="1500" dirty="0"/>
          </a:p>
        </p:txBody>
      </p:sp>
      <p:sp>
        <p:nvSpPr>
          <p:cNvPr id="27" name="Shape 20"/>
          <p:cNvSpPr/>
          <p:nvPr/>
        </p:nvSpPr>
        <p:spPr>
          <a:xfrm>
            <a:off x="4297680" y="3886200"/>
            <a:ext cx="356616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526280"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73681" y="4262201"/>
            <a:ext cx="272125" cy="272125"/>
          </a:xfrm>
          <a:prstGeom prst="rect">
            <a:avLst/>
          </a:prstGeom>
        </p:spPr>
      </p:pic>
      <p:sp>
        <p:nvSpPr>
          <p:cNvPr id="30" name="Text 22"/>
          <p:cNvSpPr txBox="1"/>
          <p:nvPr/>
        </p:nvSpPr>
        <p:spPr>
          <a:xfrm>
            <a:off x="521208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Relational</a:t>
            </a:r>
            <a:endParaRPr lang="en-US" sz="1700" dirty="0"/>
          </a:p>
        </p:txBody>
      </p:sp>
      <p:sp>
        <p:nvSpPr>
          <p:cNvPr id="31" name="Text 23"/>
          <p:cNvSpPr txBox="1"/>
          <p:nvPr/>
        </p:nvSpPr>
        <p:spPr>
          <a:xfrm>
            <a:off x="452628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Compare values with == != &lt; &gt; &lt;= &gt;=; compare doubles safely.</a:t>
            </a:r>
            <a:endParaRPr lang="en-US" sz="1500" dirty="0"/>
          </a:p>
        </p:txBody>
      </p:sp>
      <p:sp>
        <p:nvSpPr>
          <p:cNvPr id="32" name="Shape 24"/>
          <p:cNvSpPr/>
          <p:nvPr/>
        </p:nvSpPr>
        <p:spPr>
          <a:xfrm>
            <a:off x="8046720" y="3886200"/>
            <a:ext cx="356616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275320"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22721" y="4262201"/>
            <a:ext cx="272125" cy="272125"/>
          </a:xfrm>
          <a:prstGeom prst="rect">
            <a:avLst/>
          </a:prstGeom>
        </p:spPr>
      </p:pic>
      <p:sp>
        <p:nvSpPr>
          <p:cNvPr id="35" name="Text 26"/>
          <p:cNvSpPr txBox="1"/>
          <p:nvPr/>
        </p:nvSpPr>
        <p:spPr>
          <a:xfrm>
            <a:off x="896112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Logical</a:t>
            </a:r>
            <a:endParaRPr lang="en-US" sz="1700" dirty="0"/>
          </a:p>
        </p:txBody>
      </p:sp>
      <p:sp>
        <p:nvSpPr>
          <p:cNvPr id="36" name="Text 27"/>
          <p:cNvSpPr txBox="1"/>
          <p:nvPr/>
        </p:nvSpPr>
        <p:spPr>
          <a:xfrm>
            <a:off x="827532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Combine conditions with &amp;&amp; || !, short-circuit and De Morgan.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From storing values to computing with them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6035040" cy="2926080"/>
          </a:xfrm>
          <a:prstGeom prst="roundRect">
            <a:avLst>
              <a:gd name="adj" fmla="val 3125"/>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Week 3 — variables and types</a:t>
            </a:r>
            <a:endParaRPr lang="en-US" sz="1100" dirty="0"/>
          </a:p>
        </p:txBody>
      </p:sp>
      <p:sp>
        <p:nvSpPr>
          <p:cNvPr id="9" name="Text 6"/>
          <p:cNvSpPr txBox="1"/>
          <p:nvPr/>
        </p:nvSpPr>
        <p:spPr>
          <a:xfrm>
            <a:off x="777240" y="2057400"/>
            <a:ext cx="5577840" cy="240487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whole number</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price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12.5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real number</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isOpen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true / false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name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"Ayse"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text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VatRate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0.20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constant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total = count * price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VatRate);</a:t>
            </a:r>
            <a:endParaRPr lang="en-US" sz="1300" dirty="0"/>
          </a:p>
        </p:txBody>
      </p:sp>
      <p:sp>
        <p:nvSpPr>
          <p:cNvPr id="10" name="Shape 7"/>
          <p:cNvSpPr/>
          <p:nvPr/>
        </p:nvSpPr>
        <p:spPr>
          <a:xfrm>
            <a:off x="6858000" y="1645920"/>
            <a:ext cx="4800600" cy="1325880"/>
          </a:xfrm>
          <a:prstGeom prst="roundRect">
            <a:avLst>
              <a:gd name="adj" fmla="val 8276"/>
            </a:avLst>
          </a:prstGeom>
          <a:solidFill>
            <a:srgbClr val="EEF1F6"/>
          </a:solidFill>
          <a:ln w="12700">
            <a:solidFill>
              <a:srgbClr val="EEF1F6"/>
            </a:solidFill>
            <a:prstDash val="solid"/>
          </a:ln>
        </p:spPr>
      </p:sp>
      <p:sp>
        <p:nvSpPr>
          <p:cNvPr id="11" name="Shape 8"/>
          <p:cNvSpPr/>
          <p:nvPr/>
        </p:nvSpPr>
        <p:spPr>
          <a:xfrm>
            <a:off x="7086600" y="1874520"/>
            <a:ext cx="566928" cy="566928"/>
          </a:xfrm>
          <a:prstGeom prst="ellipse">
            <a:avLst/>
          </a:prstGeom>
          <a:solidFill>
            <a:srgbClr val="14213D"/>
          </a:solidFill>
          <a:ln w="12700">
            <a:solidFill>
              <a:srgbClr val="14213D"/>
            </a:solidFill>
            <a:prstDash val="solid"/>
          </a:ln>
        </p:spPr>
      </p:sp>
      <p:pic>
        <p:nvPicPr>
          <p:cNvPr id="12" name="Image 0" descr="preencoded.png">    </p:cNvPr>
          <p:cNvPicPr>
            <a:picLocks noChangeAspect="1"/>
          </p:cNvPicPr>
          <p:nvPr/>
        </p:nvPicPr>
        <p:blipFill>
          <a:blip r:embed="rId1"/>
          <a:stretch>
            <a:fillRect/>
          </a:stretch>
        </p:blipFill>
        <p:spPr>
          <a:xfrm>
            <a:off x="7234001" y="2021921"/>
            <a:ext cx="272125" cy="272125"/>
          </a:xfrm>
          <a:prstGeom prst="rect">
            <a:avLst/>
          </a:prstGeom>
        </p:spPr>
      </p:pic>
      <p:sp>
        <p:nvSpPr>
          <p:cNvPr id="13" name="Text 9"/>
          <p:cNvSpPr txBox="1"/>
          <p:nvPr/>
        </p:nvSpPr>
        <p:spPr>
          <a:xfrm>
            <a:off x="7772400" y="1874520"/>
            <a:ext cx="37033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Week 3: store</a:t>
            </a:r>
            <a:endParaRPr lang="en-US" sz="1700" dirty="0"/>
          </a:p>
        </p:txBody>
      </p:sp>
      <p:sp>
        <p:nvSpPr>
          <p:cNvPr id="14" name="Text 10"/>
          <p:cNvSpPr txBox="1"/>
          <p:nvPr/>
        </p:nvSpPr>
        <p:spPr>
          <a:xfrm>
            <a:off x="7086600" y="2560320"/>
            <a:ext cx="4343400" cy="274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Declare, initialise, read and convert values.</a:t>
            </a:r>
            <a:endParaRPr lang="en-US" sz="1400" dirty="0"/>
          </a:p>
        </p:txBody>
      </p:sp>
      <p:sp>
        <p:nvSpPr>
          <p:cNvPr id="15" name="Shape 11"/>
          <p:cNvSpPr/>
          <p:nvPr/>
        </p:nvSpPr>
        <p:spPr>
          <a:xfrm>
            <a:off x="9235440" y="3017520"/>
            <a:ext cx="0" cy="320040"/>
          </a:xfrm>
          <a:prstGeom prst="line">
            <a:avLst/>
          </a:prstGeom>
          <a:noFill/>
          <a:ln w="15875">
            <a:solidFill>
              <a:srgbClr val="FCA311"/>
            </a:solidFill>
            <a:prstDash val="solid"/>
            <a:tailEnd type="triangle"/>
          </a:ln>
        </p:spPr>
      </p:sp>
      <p:sp>
        <p:nvSpPr>
          <p:cNvPr id="16" name="Shape 12"/>
          <p:cNvSpPr/>
          <p:nvPr/>
        </p:nvSpPr>
        <p:spPr>
          <a:xfrm>
            <a:off x="6858000" y="3383280"/>
            <a:ext cx="4800600" cy="1325880"/>
          </a:xfrm>
          <a:prstGeom prst="roundRect">
            <a:avLst>
              <a:gd name="adj" fmla="val 8276"/>
            </a:avLst>
          </a:prstGeom>
          <a:solidFill>
            <a:srgbClr val="EEF1F6"/>
          </a:solidFill>
          <a:ln w="12700">
            <a:solidFill>
              <a:srgbClr val="EEF1F6"/>
            </a:solidFill>
            <a:prstDash val="solid"/>
          </a:ln>
        </p:spPr>
      </p:sp>
      <p:sp>
        <p:nvSpPr>
          <p:cNvPr id="17" name="Shape 13"/>
          <p:cNvSpPr/>
          <p:nvPr/>
        </p:nvSpPr>
        <p:spPr>
          <a:xfrm>
            <a:off x="7086600" y="3611880"/>
            <a:ext cx="566928" cy="566928"/>
          </a:xfrm>
          <a:prstGeom prst="ellipse">
            <a:avLst/>
          </a:prstGeom>
          <a:solidFill>
            <a:srgbClr val="B7791F"/>
          </a:solidFill>
          <a:ln w="12700">
            <a:solidFill>
              <a:srgbClr val="B7791F"/>
            </a:solidFill>
            <a:prstDash val="solid"/>
          </a:ln>
        </p:spPr>
      </p:sp>
      <p:pic>
        <p:nvPicPr>
          <p:cNvPr id="18" name="Image 1" descr="preencoded.png">    </p:cNvPr>
          <p:cNvPicPr>
            <a:picLocks noChangeAspect="1"/>
          </p:cNvPicPr>
          <p:nvPr/>
        </p:nvPicPr>
        <p:blipFill>
          <a:blip r:embed="rId2"/>
          <a:stretch>
            <a:fillRect/>
          </a:stretch>
        </p:blipFill>
        <p:spPr>
          <a:xfrm>
            <a:off x="7234001" y="3759281"/>
            <a:ext cx="272125" cy="272125"/>
          </a:xfrm>
          <a:prstGeom prst="rect">
            <a:avLst/>
          </a:prstGeom>
        </p:spPr>
      </p:pic>
      <p:sp>
        <p:nvSpPr>
          <p:cNvPr id="19" name="Text 14"/>
          <p:cNvSpPr txBox="1"/>
          <p:nvPr/>
        </p:nvSpPr>
        <p:spPr>
          <a:xfrm>
            <a:off x="7772400" y="3611880"/>
            <a:ext cx="37033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Week 4: compute</a:t>
            </a:r>
            <a:endParaRPr lang="en-US" sz="1700" dirty="0"/>
          </a:p>
        </p:txBody>
      </p:sp>
      <p:sp>
        <p:nvSpPr>
          <p:cNvPr id="20" name="Text 15"/>
          <p:cNvSpPr txBox="1"/>
          <p:nvPr/>
        </p:nvSpPr>
        <p:spPr>
          <a:xfrm>
            <a:off x="7086600" y="4297680"/>
            <a:ext cx="4343400" cy="274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Operators combine values into new values.</a:t>
            </a:r>
            <a:endParaRPr lang="en-US" sz="1400" dirty="0"/>
          </a:p>
        </p:txBody>
      </p:sp>
      <p:sp>
        <p:nvSpPr>
          <p:cNvPr id="21" name="Shape 16"/>
          <p:cNvSpPr/>
          <p:nvPr/>
        </p:nvSpPr>
        <p:spPr>
          <a:xfrm>
            <a:off x="548640" y="4892040"/>
            <a:ext cx="11109960" cy="1097280"/>
          </a:xfrm>
          <a:prstGeom prst="roundRect">
            <a:avLst>
              <a:gd name="adj" fmla="val 10000"/>
            </a:avLst>
          </a:prstGeom>
          <a:solidFill>
            <a:srgbClr val="FFF6E3"/>
          </a:solidFill>
          <a:ln w="12700">
            <a:solidFill>
              <a:srgbClr val="FFF6E3"/>
            </a:solidFill>
            <a:prstDash val="solid"/>
          </a:ln>
        </p:spPr>
      </p:sp>
      <p:pic>
        <p:nvPicPr>
          <p:cNvPr id="22" name="Image 2" descr="preencoded.png">    </p:cNvPr>
          <p:cNvPicPr>
            <a:picLocks noChangeAspect="1"/>
          </p:cNvPicPr>
          <p:nvPr/>
        </p:nvPicPr>
        <p:blipFill>
          <a:blip r:embed="rId3"/>
          <a:stretch>
            <a:fillRect/>
          </a:stretch>
        </p:blipFill>
        <p:spPr>
          <a:xfrm>
            <a:off x="822960" y="5166360"/>
            <a:ext cx="548640" cy="548640"/>
          </a:xfrm>
          <a:prstGeom prst="rect">
            <a:avLst/>
          </a:prstGeom>
        </p:spPr>
      </p:pic>
      <p:sp>
        <p:nvSpPr>
          <p:cNvPr id="23" name="Text 17"/>
          <p:cNvSpPr txBox="1"/>
          <p:nvPr/>
        </p:nvSpPr>
        <p:spPr>
          <a:xfrm>
            <a:off x="1645920" y="4965192"/>
            <a:ext cx="9738360" cy="950976"/>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Rule of the week: </a:t>
            </a:r>
            <a:pPr indent="0" marL="0">
              <a:buNone/>
            </a:pPr>
            <a:r>
              <a:rPr lang="en-US" sz="1600" dirty="0">
                <a:solidFill>
                  <a:srgbClr val="333B4F"/>
                </a:solidFill>
                <a:latin typeface="Calibri" pitchFamily="34" charset="0"/>
                <a:ea typeface="Calibri" pitchFamily="34" charset="-122"/>
                <a:cs typeface="Calibri" pitchFamily="34" charset="-120"/>
              </a:rPr>
              <a:t>the TYPES of the operands decide the TYPE of the result. </a:t>
            </a:r>
            <a:pPr indent="0" marL="0">
              <a:buNone/>
            </a:pPr>
            <a:r>
              <a:rPr lang="en-US" sz="1600" dirty="0">
                <a:solidFill>
                  <a:srgbClr val="333B4F"/>
                </a:solidFill>
                <a:latin typeface="Courier New" pitchFamily="34" charset="0"/>
                <a:ea typeface="Courier New" pitchFamily="34" charset="-122"/>
                <a:cs typeface="Courier New" pitchFamily="34" charset="-120"/>
              </a:rPr>
              <a:t>7 / 2</a:t>
            </a:r>
            <a:pPr indent="0" marL="0">
              <a:buNone/>
            </a:pPr>
            <a:r>
              <a:rPr lang="en-US" sz="1600" dirty="0">
                <a:solidFill>
                  <a:srgbClr val="333B4F"/>
                </a:solidFill>
                <a:latin typeface="Calibri" pitchFamily="34" charset="0"/>
                <a:ea typeface="Calibri" pitchFamily="34" charset="-122"/>
                <a:cs typeface="Calibri" pitchFamily="34" charset="-120"/>
              </a:rPr>
              <a:t> is int, </a:t>
            </a:r>
            <a:pPr indent="0" marL="0">
              <a:buNone/>
            </a:pPr>
            <a:r>
              <a:rPr lang="en-US" sz="1600" dirty="0">
                <a:solidFill>
                  <a:srgbClr val="333B4F"/>
                </a:solidFill>
                <a:latin typeface="Courier New" pitchFamily="34" charset="0"/>
                <a:ea typeface="Courier New" pitchFamily="34" charset="-122"/>
                <a:cs typeface="Courier New" pitchFamily="34" charset="-120"/>
              </a:rPr>
              <a:t>7 / 2.0</a:t>
            </a:r>
            <a:pPr indent="0" marL="0">
              <a:buNone/>
            </a:pPr>
            <a:r>
              <a:rPr lang="en-US" sz="1600" dirty="0">
                <a:solidFill>
                  <a:srgbClr val="333B4F"/>
                </a:solidFill>
                <a:latin typeface="Calibri" pitchFamily="34" charset="0"/>
                <a:ea typeface="Calibri" pitchFamily="34" charset="-122"/>
                <a:cs typeface="Calibri" pitchFamily="34" charset="-120"/>
              </a:rPr>
              <a:t> is double.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VOCABULARY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Anatomy of an expression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822960" y="1828800"/>
            <a:ext cx="1463040" cy="731520"/>
          </a:xfrm>
          <a:prstGeom prst="roundRect">
            <a:avLst>
              <a:gd name="adj" fmla="val 10000"/>
            </a:avLst>
          </a:prstGeom>
          <a:solidFill>
            <a:srgbClr val="E3ECF8"/>
          </a:solidFill>
          <a:ln w="12700">
            <a:solidFill>
              <a:srgbClr val="E3ECF8"/>
            </a:solidFill>
            <a:prstDash val="solid"/>
          </a:ln>
        </p:spPr>
      </p:sp>
      <p:sp>
        <p:nvSpPr>
          <p:cNvPr id="8" name="Text 5"/>
          <p:cNvSpPr txBox="1"/>
          <p:nvPr/>
        </p:nvSpPr>
        <p:spPr>
          <a:xfrm>
            <a:off x="822960" y="1828800"/>
            <a:ext cx="1463040" cy="731520"/>
          </a:xfrm>
          <a:prstGeom prst="rect">
            <a:avLst/>
          </a:prstGeom>
          <a:no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total</a:t>
            </a:r>
            <a:endParaRPr lang="en-US" sz="2400" dirty="0"/>
          </a:p>
        </p:txBody>
      </p:sp>
      <p:sp>
        <p:nvSpPr>
          <p:cNvPr id="9" name="Shape 6"/>
          <p:cNvSpPr/>
          <p:nvPr/>
        </p:nvSpPr>
        <p:spPr>
          <a:xfrm>
            <a:off x="2423160" y="1828800"/>
            <a:ext cx="640080" cy="731520"/>
          </a:xfrm>
          <a:prstGeom prst="roundRect">
            <a:avLst>
              <a:gd name="adj" fmla="val 11429"/>
            </a:avLst>
          </a:prstGeom>
          <a:solidFill>
            <a:srgbClr val="2F6FB3"/>
          </a:solidFill>
          <a:ln w="12700">
            <a:solidFill>
              <a:srgbClr val="2F6FB3"/>
            </a:solidFill>
            <a:prstDash val="solid"/>
          </a:ln>
        </p:spPr>
      </p:sp>
      <p:sp>
        <p:nvSpPr>
          <p:cNvPr id="10" name="Text 7"/>
          <p:cNvSpPr txBox="1"/>
          <p:nvPr/>
        </p:nvSpPr>
        <p:spPr>
          <a:xfrm>
            <a:off x="2423160" y="1828800"/>
            <a:ext cx="64008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a:t>
            </a:r>
            <a:endParaRPr lang="en-US" sz="2400" dirty="0"/>
          </a:p>
        </p:txBody>
      </p:sp>
      <p:sp>
        <p:nvSpPr>
          <p:cNvPr id="11" name="Shape 8"/>
          <p:cNvSpPr/>
          <p:nvPr/>
        </p:nvSpPr>
        <p:spPr>
          <a:xfrm>
            <a:off x="3200400" y="1828800"/>
            <a:ext cx="1463040" cy="731520"/>
          </a:xfrm>
          <a:prstGeom prst="roundRect">
            <a:avLst>
              <a:gd name="adj" fmla="val 10000"/>
            </a:avLst>
          </a:prstGeom>
          <a:solidFill>
            <a:srgbClr val="EEF1F6"/>
          </a:solidFill>
          <a:ln w="12700">
            <a:solidFill>
              <a:srgbClr val="EEF1F6"/>
            </a:solidFill>
            <a:prstDash val="solid"/>
          </a:ln>
        </p:spPr>
      </p:sp>
      <p:sp>
        <p:nvSpPr>
          <p:cNvPr id="12" name="Text 9"/>
          <p:cNvSpPr txBox="1"/>
          <p:nvPr/>
        </p:nvSpPr>
        <p:spPr>
          <a:xfrm>
            <a:off x="3200400" y="1828800"/>
            <a:ext cx="1463040" cy="731520"/>
          </a:xfrm>
          <a:prstGeom prst="rect">
            <a:avLst/>
          </a:prstGeom>
          <a:no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price</a:t>
            </a:r>
            <a:endParaRPr lang="en-US" sz="2400" dirty="0"/>
          </a:p>
        </p:txBody>
      </p:sp>
      <p:sp>
        <p:nvSpPr>
          <p:cNvPr id="13" name="Shape 10"/>
          <p:cNvSpPr/>
          <p:nvPr/>
        </p:nvSpPr>
        <p:spPr>
          <a:xfrm>
            <a:off x="4800600" y="1828800"/>
            <a:ext cx="640080" cy="731520"/>
          </a:xfrm>
          <a:prstGeom prst="roundRect">
            <a:avLst>
              <a:gd name="adj" fmla="val 11429"/>
            </a:avLst>
          </a:prstGeom>
          <a:solidFill>
            <a:srgbClr val="FCA311"/>
          </a:solidFill>
          <a:ln w="12700">
            <a:solidFill>
              <a:srgbClr val="FCA311"/>
            </a:solidFill>
            <a:prstDash val="solid"/>
          </a:ln>
        </p:spPr>
      </p:sp>
      <p:sp>
        <p:nvSpPr>
          <p:cNvPr id="14" name="Text 11"/>
          <p:cNvSpPr txBox="1"/>
          <p:nvPr/>
        </p:nvSpPr>
        <p:spPr>
          <a:xfrm>
            <a:off x="4800600" y="1828800"/>
            <a:ext cx="640080" cy="731520"/>
          </a:xfrm>
          <a:prstGeom prst="rect">
            <a:avLst/>
          </a:prstGeom>
          <a:no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a:t>
            </a:r>
            <a:endParaRPr lang="en-US" sz="2400" dirty="0"/>
          </a:p>
        </p:txBody>
      </p:sp>
      <p:sp>
        <p:nvSpPr>
          <p:cNvPr id="15" name="Shape 12"/>
          <p:cNvSpPr/>
          <p:nvPr/>
        </p:nvSpPr>
        <p:spPr>
          <a:xfrm>
            <a:off x="5577840" y="1828800"/>
            <a:ext cx="1463040" cy="731520"/>
          </a:xfrm>
          <a:prstGeom prst="roundRect">
            <a:avLst>
              <a:gd name="adj" fmla="val 10000"/>
            </a:avLst>
          </a:prstGeom>
          <a:solidFill>
            <a:srgbClr val="EEF1F6"/>
          </a:solidFill>
          <a:ln w="12700">
            <a:solidFill>
              <a:srgbClr val="EEF1F6"/>
            </a:solidFill>
            <a:prstDash val="solid"/>
          </a:ln>
        </p:spPr>
      </p:sp>
      <p:sp>
        <p:nvSpPr>
          <p:cNvPr id="16" name="Text 13"/>
          <p:cNvSpPr txBox="1"/>
          <p:nvPr/>
        </p:nvSpPr>
        <p:spPr>
          <a:xfrm>
            <a:off x="5577840" y="1828800"/>
            <a:ext cx="1463040" cy="731520"/>
          </a:xfrm>
          <a:prstGeom prst="rect">
            <a:avLst/>
          </a:prstGeom>
          <a:no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qty</a:t>
            </a:r>
            <a:endParaRPr lang="en-US" sz="2400" dirty="0"/>
          </a:p>
        </p:txBody>
      </p:sp>
      <p:sp>
        <p:nvSpPr>
          <p:cNvPr id="17" name="Shape 14"/>
          <p:cNvSpPr/>
          <p:nvPr/>
        </p:nvSpPr>
        <p:spPr>
          <a:xfrm>
            <a:off x="7178040" y="1828800"/>
            <a:ext cx="640080" cy="731520"/>
          </a:xfrm>
          <a:prstGeom prst="roundRect">
            <a:avLst>
              <a:gd name="adj" fmla="val 11429"/>
            </a:avLst>
          </a:prstGeom>
          <a:solidFill>
            <a:srgbClr val="FCA311"/>
          </a:solidFill>
          <a:ln w="12700">
            <a:solidFill>
              <a:srgbClr val="FCA311"/>
            </a:solidFill>
            <a:prstDash val="solid"/>
          </a:ln>
        </p:spPr>
      </p:sp>
      <p:sp>
        <p:nvSpPr>
          <p:cNvPr id="18" name="Text 15"/>
          <p:cNvSpPr txBox="1"/>
          <p:nvPr/>
        </p:nvSpPr>
        <p:spPr>
          <a:xfrm>
            <a:off x="7178040" y="1828800"/>
            <a:ext cx="640080" cy="731520"/>
          </a:xfrm>
          <a:prstGeom prst="rect">
            <a:avLst/>
          </a:prstGeom>
          <a:no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a:t>
            </a:r>
            <a:endParaRPr lang="en-US" sz="2400" dirty="0"/>
          </a:p>
        </p:txBody>
      </p:sp>
      <p:sp>
        <p:nvSpPr>
          <p:cNvPr id="19" name="Shape 16"/>
          <p:cNvSpPr/>
          <p:nvPr/>
        </p:nvSpPr>
        <p:spPr>
          <a:xfrm>
            <a:off x="7955280" y="1828800"/>
            <a:ext cx="1737360" cy="731520"/>
          </a:xfrm>
          <a:prstGeom prst="roundRect">
            <a:avLst>
              <a:gd name="adj" fmla="val 10000"/>
            </a:avLst>
          </a:prstGeom>
          <a:solidFill>
            <a:srgbClr val="EEF1F6"/>
          </a:solidFill>
          <a:ln w="12700">
            <a:solidFill>
              <a:srgbClr val="EEF1F6"/>
            </a:solidFill>
            <a:prstDash val="solid"/>
          </a:ln>
        </p:spPr>
      </p:sp>
      <p:sp>
        <p:nvSpPr>
          <p:cNvPr id="20" name="Text 17"/>
          <p:cNvSpPr txBox="1"/>
          <p:nvPr/>
        </p:nvSpPr>
        <p:spPr>
          <a:xfrm>
            <a:off x="7955280" y="1828800"/>
            <a:ext cx="1737360" cy="731520"/>
          </a:xfrm>
          <a:prstGeom prst="rect">
            <a:avLst/>
          </a:prstGeom>
          <a:no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shipping</a:t>
            </a:r>
            <a:endParaRPr lang="en-US" sz="2400" dirty="0"/>
          </a:p>
        </p:txBody>
      </p:sp>
      <p:sp>
        <p:nvSpPr>
          <p:cNvPr id="21" name="Shape 18"/>
          <p:cNvSpPr/>
          <p:nvPr/>
        </p:nvSpPr>
        <p:spPr>
          <a:xfrm>
            <a:off x="9829800" y="1828800"/>
            <a:ext cx="457200" cy="731520"/>
          </a:xfrm>
          <a:prstGeom prst="roundRect">
            <a:avLst>
              <a:gd name="adj" fmla="val 16000"/>
            </a:avLst>
          </a:prstGeom>
          <a:solidFill>
            <a:srgbClr val="FFFFFF"/>
          </a:solidFill>
          <a:ln w="12700">
            <a:solidFill>
              <a:srgbClr val="FFFFFF"/>
            </a:solidFill>
            <a:prstDash val="solid"/>
          </a:ln>
        </p:spPr>
      </p:sp>
      <p:sp>
        <p:nvSpPr>
          <p:cNvPr id="22" name="Text 19"/>
          <p:cNvSpPr txBox="1"/>
          <p:nvPr/>
        </p:nvSpPr>
        <p:spPr>
          <a:xfrm>
            <a:off x="9829800" y="1828800"/>
            <a:ext cx="457200" cy="731520"/>
          </a:xfrm>
          <a:prstGeom prst="rect">
            <a:avLst/>
          </a:prstGeom>
          <a:noFill/>
          <a:ln/>
        </p:spPr>
        <p:txBody>
          <a:bodyPr wrap="square" lIns="0" tIns="0" rIns="0" bIns="0" rtlCol="0" anchor="ctr"/>
          <a:lstStyle/>
          <a:p>
            <a:pPr algn="ctr" indent="0" marL="0">
              <a:buNone/>
            </a:pPr>
            <a:r>
              <a:rPr lang="en-US" sz="2400" b="1" dirty="0">
                <a:solidFill>
                  <a:srgbClr val="14213D"/>
                </a:solidFill>
                <a:latin typeface="Courier New" pitchFamily="34" charset="0"/>
                <a:ea typeface="Courier New" pitchFamily="34" charset="-122"/>
                <a:cs typeface="Courier New" pitchFamily="34" charset="-120"/>
              </a:rPr>
              <a:t>;</a:t>
            </a:r>
            <a:endParaRPr lang="en-US" sz="2400" dirty="0"/>
          </a:p>
        </p:txBody>
      </p:sp>
      <p:sp>
        <p:nvSpPr>
          <p:cNvPr id="23" name="Shape 20"/>
          <p:cNvSpPr/>
          <p:nvPr/>
        </p:nvSpPr>
        <p:spPr>
          <a:xfrm>
            <a:off x="822960" y="2743200"/>
            <a:ext cx="1463040" cy="0"/>
          </a:xfrm>
          <a:prstGeom prst="line">
            <a:avLst/>
          </a:prstGeom>
          <a:noFill/>
          <a:ln w="15875">
            <a:solidFill>
              <a:srgbClr val="2F6FB3"/>
            </a:solidFill>
            <a:prstDash val="solid"/>
          </a:ln>
        </p:spPr>
      </p:sp>
      <p:sp>
        <p:nvSpPr>
          <p:cNvPr id="24" name="Shape 21"/>
          <p:cNvSpPr/>
          <p:nvPr/>
        </p:nvSpPr>
        <p:spPr>
          <a:xfrm>
            <a:off x="822960" y="2651760"/>
            <a:ext cx="0" cy="91440"/>
          </a:xfrm>
          <a:prstGeom prst="line">
            <a:avLst/>
          </a:prstGeom>
          <a:noFill/>
          <a:ln w="15875">
            <a:solidFill>
              <a:srgbClr val="2F6FB3"/>
            </a:solidFill>
            <a:prstDash val="solid"/>
          </a:ln>
        </p:spPr>
      </p:sp>
      <p:sp>
        <p:nvSpPr>
          <p:cNvPr id="25" name="Shape 22"/>
          <p:cNvSpPr/>
          <p:nvPr/>
        </p:nvSpPr>
        <p:spPr>
          <a:xfrm>
            <a:off x="2286000" y="2651760"/>
            <a:ext cx="0" cy="91440"/>
          </a:xfrm>
          <a:prstGeom prst="line">
            <a:avLst/>
          </a:prstGeom>
          <a:noFill/>
          <a:ln w="15875">
            <a:solidFill>
              <a:srgbClr val="2F6FB3"/>
            </a:solidFill>
            <a:prstDash val="solid"/>
          </a:ln>
        </p:spPr>
      </p:sp>
      <p:sp>
        <p:nvSpPr>
          <p:cNvPr id="26" name="Text 23"/>
          <p:cNvSpPr txBox="1"/>
          <p:nvPr/>
        </p:nvSpPr>
        <p:spPr>
          <a:xfrm>
            <a:off x="548640" y="2788920"/>
            <a:ext cx="2011680" cy="320040"/>
          </a:xfrm>
          <a:prstGeom prst="rect">
            <a:avLst/>
          </a:prstGeom>
          <a:noFill/>
          <a:ln/>
        </p:spPr>
        <p:txBody>
          <a:bodyPr wrap="square" lIns="0" tIns="0" rIns="0" bIns="0" rtlCol="0" anchor="ctr"/>
          <a:lstStyle/>
          <a:p>
            <a:pPr algn="ctr" indent="0" marL="0">
              <a:buNone/>
            </a:pPr>
            <a:r>
              <a:rPr lang="en-US" sz="1400" b="1" dirty="0">
                <a:solidFill>
                  <a:srgbClr val="2F6FB3"/>
                </a:solidFill>
                <a:latin typeface="Calibri" pitchFamily="34" charset="0"/>
                <a:ea typeface="Calibri" pitchFamily="34" charset="-122"/>
                <a:cs typeface="Calibri" pitchFamily="34" charset="-120"/>
              </a:rPr>
              <a:t>target variable</a:t>
            </a:r>
            <a:endParaRPr lang="en-US" sz="1400" dirty="0"/>
          </a:p>
        </p:txBody>
      </p:sp>
      <p:sp>
        <p:nvSpPr>
          <p:cNvPr id="27" name="Shape 24"/>
          <p:cNvSpPr/>
          <p:nvPr/>
        </p:nvSpPr>
        <p:spPr>
          <a:xfrm>
            <a:off x="2423160" y="2743200"/>
            <a:ext cx="640080" cy="0"/>
          </a:xfrm>
          <a:prstGeom prst="line">
            <a:avLst/>
          </a:prstGeom>
          <a:noFill/>
          <a:ln w="15875">
            <a:solidFill>
              <a:srgbClr val="2F6FB3"/>
            </a:solidFill>
            <a:prstDash val="solid"/>
          </a:ln>
        </p:spPr>
      </p:sp>
      <p:sp>
        <p:nvSpPr>
          <p:cNvPr id="28" name="Shape 25"/>
          <p:cNvSpPr/>
          <p:nvPr/>
        </p:nvSpPr>
        <p:spPr>
          <a:xfrm>
            <a:off x="2423160" y="2651760"/>
            <a:ext cx="0" cy="91440"/>
          </a:xfrm>
          <a:prstGeom prst="line">
            <a:avLst/>
          </a:prstGeom>
          <a:noFill/>
          <a:ln w="15875">
            <a:solidFill>
              <a:srgbClr val="2F6FB3"/>
            </a:solidFill>
            <a:prstDash val="solid"/>
          </a:ln>
        </p:spPr>
      </p:sp>
      <p:sp>
        <p:nvSpPr>
          <p:cNvPr id="29" name="Shape 26"/>
          <p:cNvSpPr/>
          <p:nvPr/>
        </p:nvSpPr>
        <p:spPr>
          <a:xfrm>
            <a:off x="3063240" y="2651760"/>
            <a:ext cx="0" cy="91440"/>
          </a:xfrm>
          <a:prstGeom prst="line">
            <a:avLst/>
          </a:prstGeom>
          <a:noFill/>
          <a:ln w="15875">
            <a:solidFill>
              <a:srgbClr val="2F6FB3"/>
            </a:solidFill>
            <a:prstDash val="solid"/>
          </a:ln>
        </p:spPr>
      </p:sp>
      <p:sp>
        <p:nvSpPr>
          <p:cNvPr id="30" name="Text 27"/>
          <p:cNvSpPr txBox="1"/>
          <p:nvPr/>
        </p:nvSpPr>
        <p:spPr>
          <a:xfrm>
            <a:off x="2148840" y="2788920"/>
            <a:ext cx="1188720" cy="320040"/>
          </a:xfrm>
          <a:prstGeom prst="rect">
            <a:avLst/>
          </a:prstGeom>
          <a:noFill/>
          <a:ln/>
        </p:spPr>
        <p:txBody>
          <a:bodyPr wrap="square" lIns="0" tIns="0" rIns="0" bIns="0" rtlCol="0" anchor="ctr"/>
          <a:lstStyle/>
          <a:p>
            <a:pPr algn="ctr" indent="0" marL="0">
              <a:buNone/>
            </a:pPr>
            <a:r>
              <a:rPr lang="en-US" sz="1400" b="1" dirty="0">
                <a:solidFill>
                  <a:srgbClr val="2F6FB3"/>
                </a:solidFill>
                <a:latin typeface="Calibri" pitchFamily="34" charset="0"/>
                <a:ea typeface="Calibri" pitchFamily="34" charset="-122"/>
                <a:cs typeface="Calibri" pitchFamily="34" charset="-120"/>
              </a:rPr>
              <a:t>assignment</a:t>
            </a:r>
            <a:endParaRPr lang="en-US" sz="1400" dirty="0"/>
          </a:p>
        </p:txBody>
      </p:sp>
      <p:sp>
        <p:nvSpPr>
          <p:cNvPr id="31" name="Shape 28"/>
          <p:cNvSpPr/>
          <p:nvPr/>
        </p:nvSpPr>
        <p:spPr>
          <a:xfrm>
            <a:off x="3200400" y="2743200"/>
            <a:ext cx="6492240" cy="0"/>
          </a:xfrm>
          <a:prstGeom prst="line">
            <a:avLst/>
          </a:prstGeom>
          <a:noFill/>
          <a:ln w="15875">
            <a:solidFill>
              <a:srgbClr val="14213D"/>
            </a:solidFill>
            <a:prstDash val="solid"/>
          </a:ln>
        </p:spPr>
      </p:sp>
      <p:sp>
        <p:nvSpPr>
          <p:cNvPr id="32" name="Shape 29"/>
          <p:cNvSpPr/>
          <p:nvPr/>
        </p:nvSpPr>
        <p:spPr>
          <a:xfrm>
            <a:off x="3200400" y="2651760"/>
            <a:ext cx="0" cy="91440"/>
          </a:xfrm>
          <a:prstGeom prst="line">
            <a:avLst/>
          </a:prstGeom>
          <a:noFill/>
          <a:ln w="15875">
            <a:solidFill>
              <a:srgbClr val="14213D"/>
            </a:solidFill>
            <a:prstDash val="solid"/>
          </a:ln>
        </p:spPr>
      </p:sp>
      <p:sp>
        <p:nvSpPr>
          <p:cNvPr id="33" name="Shape 30"/>
          <p:cNvSpPr/>
          <p:nvPr/>
        </p:nvSpPr>
        <p:spPr>
          <a:xfrm>
            <a:off x="9692640" y="2651760"/>
            <a:ext cx="0" cy="91440"/>
          </a:xfrm>
          <a:prstGeom prst="line">
            <a:avLst/>
          </a:prstGeom>
          <a:noFill/>
          <a:ln w="15875">
            <a:solidFill>
              <a:srgbClr val="14213D"/>
            </a:solidFill>
            <a:prstDash val="solid"/>
          </a:ln>
        </p:spPr>
      </p:sp>
      <p:sp>
        <p:nvSpPr>
          <p:cNvPr id="34" name="Text 31"/>
          <p:cNvSpPr txBox="1"/>
          <p:nvPr/>
        </p:nvSpPr>
        <p:spPr>
          <a:xfrm>
            <a:off x="2926080" y="2788920"/>
            <a:ext cx="7040880" cy="3200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expression → one double value</a:t>
            </a:r>
            <a:endParaRPr lang="en-US" sz="1400" dirty="0"/>
          </a:p>
        </p:txBody>
      </p:sp>
      <p:sp>
        <p:nvSpPr>
          <p:cNvPr id="35" name="Text 32"/>
          <p:cNvSpPr txBox="1"/>
          <p:nvPr/>
        </p:nvSpPr>
        <p:spPr>
          <a:xfrm>
            <a:off x="822960" y="3246120"/>
            <a:ext cx="10515600" cy="365760"/>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Evaluated first: </a:t>
            </a:r>
            <a:pPr indent="0" marL="0">
              <a:buNone/>
            </a:pPr>
            <a:r>
              <a:rPr lang="en-US" sz="1500" dirty="0">
                <a:solidFill>
                  <a:srgbClr val="333B4F"/>
                </a:solidFill>
                <a:latin typeface="Courier New" pitchFamily="34" charset="0"/>
                <a:ea typeface="Courier New" pitchFamily="34" charset="-122"/>
                <a:cs typeface="Courier New" pitchFamily="34" charset="-120"/>
              </a:rPr>
              <a:t>price * qty</a:t>
            </a:r>
            <a:pPr indent="0" marL="0">
              <a:buNone/>
            </a:pPr>
            <a:r>
              <a:rPr lang="en-US" sz="1500" dirty="0">
                <a:solidFill>
                  <a:srgbClr val="333B4F"/>
                </a:solidFill>
                <a:latin typeface="Calibri" pitchFamily="34" charset="0"/>
                <a:ea typeface="Calibri" pitchFamily="34" charset="-122"/>
                <a:cs typeface="Calibri" pitchFamily="34" charset="-120"/>
              </a:rPr>
              <a:t>, then </a:t>
            </a:r>
            <a:pPr indent="0" marL="0">
              <a:buNone/>
            </a:pPr>
            <a:r>
              <a:rPr lang="en-US" sz="1500" dirty="0">
                <a:solidFill>
                  <a:srgbClr val="333B4F"/>
                </a:solidFill>
                <a:latin typeface="Courier New" pitchFamily="34" charset="0"/>
                <a:ea typeface="Courier New" pitchFamily="34" charset="-122"/>
                <a:cs typeface="Courier New" pitchFamily="34" charset="-120"/>
              </a:rPr>
              <a:t>+ shipping</a:t>
            </a:r>
            <a:pPr indent="0" marL="0">
              <a:buNone/>
            </a:pPr>
            <a:r>
              <a:rPr lang="en-US" sz="1500" dirty="0">
                <a:solidFill>
                  <a:srgbClr val="333B4F"/>
                </a:solidFill>
                <a:latin typeface="Calibri" pitchFamily="34" charset="0"/>
                <a:ea typeface="Calibri" pitchFamily="34" charset="-122"/>
                <a:cs typeface="Calibri" pitchFamily="34" charset="-120"/>
              </a:rPr>
              <a:t>, finally </a:t>
            </a:r>
            <a:pPr indent="0" marL="0">
              <a:buNone/>
            </a:pPr>
            <a:r>
              <a:rPr lang="en-US" sz="1500" dirty="0">
                <a:solidFill>
                  <a:srgbClr val="333B4F"/>
                </a:solidFill>
                <a:latin typeface="Courier New" pitchFamily="34" charset="0"/>
                <a:ea typeface="Courier New" pitchFamily="34" charset="-122"/>
                <a:cs typeface="Courier New" pitchFamily="34" charset="-120"/>
              </a:rPr>
              <a:t>=</a:t>
            </a:r>
            <a:pPr indent="0" marL="0">
              <a:buNone/>
            </a:pPr>
            <a:r>
              <a:rPr lang="en-US" sz="1500" dirty="0">
                <a:solidFill>
                  <a:srgbClr val="333B4F"/>
                </a:solidFill>
                <a:latin typeface="Calibri" pitchFamily="34" charset="0"/>
                <a:ea typeface="Calibri" pitchFamily="34" charset="-122"/>
                <a:cs typeface="Calibri" pitchFamily="34" charset="-120"/>
              </a:rPr>
              <a:t> stores the result.</a:t>
            </a:r>
            <a:endParaRPr lang="en-US" sz="1500" dirty="0"/>
          </a:p>
        </p:txBody>
      </p:sp>
      <p:sp>
        <p:nvSpPr>
          <p:cNvPr id="36" name="Shape 33"/>
          <p:cNvSpPr/>
          <p:nvPr/>
        </p:nvSpPr>
        <p:spPr>
          <a:xfrm>
            <a:off x="548640" y="3840480"/>
            <a:ext cx="3566160" cy="2148840"/>
          </a:xfrm>
          <a:prstGeom prst="roundRect">
            <a:avLst>
              <a:gd name="adj" fmla="val 5106"/>
            </a:avLst>
          </a:prstGeom>
          <a:solidFill>
            <a:srgbClr val="EEF1F6"/>
          </a:solidFill>
          <a:ln w="12700">
            <a:solidFill>
              <a:srgbClr val="EEF1F6"/>
            </a:solidFill>
            <a:prstDash val="solid"/>
          </a:ln>
        </p:spPr>
      </p:sp>
      <p:sp>
        <p:nvSpPr>
          <p:cNvPr id="37" name="Shape 34"/>
          <p:cNvSpPr/>
          <p:nvPr/>
        </p:nvSpPr>
        <p:spPr>
          <a:xfrm>
            <a:off x="777240" y="4069080"/>
            <a:ext cx="566928" cy="566928"/>
          </a:xfrm>
          <a:prstGeom prst="ellipse">
            <a:avLst/>
          </a:prstGeom>
          <a:solidFill>
            <a:srgbClr val="14213D"/>
          </a:solidFill>
          <a:ln w="12700">
            <a:solidFill>
              <a:srgbClr val="14213D"/>
            </a:solidFill>
            <a:prstDash val="solid"/>
          </a:ln>
        </p:spPr>
      </p:sp>
      <p:pic>
        <p:nvPicPr>
          <p:cNvPr id="38" name="Image 0" descr="preencoded.png">    </p:cNvPr>
          <p:cNvPicPr>
            <a:picLocks noChangeAspect="1"/>
          </p:cNvPicPr>
          <p:nvPr/>
        </p:nvPicPr>
        <p:blipFill>
          <a:blip r:embed="rId1"/>
          <a:stretch>
            <a:fillRect/>
          </a:stretch>
        </p:blipFill>
        <p:spPr>
          <a:xfrm>
            <a:off x="924641" y="4216481"/>
            <a:ext cx="272125" cy="272125"/>
          </a:xfrm>
          <a:prstGeom prst="rect">
            <a:avLst/>
          </a:prstGeom>
        </p:spPr>
      </p:pic>
      <p:sp>
        <p:nvSpPr>
          <p:cNvPr id="39" name="Text 35"/>
          <p:cNvSpPr txBox="1"/>
          <p:nvPr/>
        </p:nvSpPr>
        <p:spPr>
          <a:xfrm>
            <a:off x="1463040" y="406908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Operand</a:t>
            </a:r>
            <a:endParaRPr lang="en-US" sz="1700" dirty="0"/>
          </a:p>
        </p:txBody>
      </p:sp>
      <p:sp>
        <p:nvSpPr>
          <p:cNvPr id="40" name="Text 36"/>
          <p:cNvSpPr txBox="1"/>
          <p:nvPr/>
        </p:nvSpPr>
        <p:spPr>
          <a:xfrm>
            <a:off x="777240" y="4754880"/>
            <a:ext cx="310896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 value the operator works on: a literal (7), a variable (price) or a sub-expression (a + b).</a:t>
            </a:r>
            <a:endParaRPr lang="en-US" sz="1400" dirty="0"/>
          </a:p>
        </p:txBody>
      </p:sp>
      <p:sp>
        <p:nvSpPr>
          <p:cNvPr id="41" name="Shape 37"/>
          <p:cNvSpPr/>
          <p:nvPr/>
        </p:nvSpPr>
        <p:spPr>
          <a:xfrm>
            <a:off x="4297680" y="3840480"/>
            <a:ext cx="3566160" cy="2148840"/>
          </a:xfrm>
          <a:prstGeom prst="roundRect">
            <a:avLst>
              <a:gd name="adj" fmla="val 5106"/>
            </a:avLst>
          </a:prstGeom>
          <a:solidFill>
            <a:srgbClr val="EEF1F6"/>
          </a:solidFill>
          <a:ln w="12700">
            <a:solidFill>
              <a:srgbClr val="EEF1F6"/>
            </a:solidFill>
            <a:prstDash val="solid"/>
          </a:ln>
        </p:spPr>
      </p:sp>
      <p:sp>
        <p:nvSpPr>
          <p:cNvPr id="42" name="Shape 38"/>
          <p:cNvSpPr/>
          <p:nvPr/>
        </p:nvSpPr>
        <p:spPr>
          <a:xfrm>
            <a:off x="4526280" y="4069080"/>
            <a:ext cx="566928" cy="566928"/>
          </a:xfrm>
          <a:prstGeom prst="ellipse">
            <a:avLst/>
          </a:prstGeom>
          <a:solidFill>
            <a:srgbClr val="B7791F"/>
          </a:solidFill>
          <a:ln w="12700">
            <a:solidFill>
              <a:srgbClr val="B7791F"/>
            </a:solidFill>
            <a:prstDash val="solid"/>
          </a:ln>
        </p:spPr>
      </p:sp>
      <p:pic>
        <p:nvPicPr>
          <p:cNvPr id="43" name="Image 1" descr="preencoded.png">    </p:cNvPr>
          <p:cNvPicPr>
            <a:picLocks noChangeAspect="1"/>
          </p:cNvPicPr>
          <p:nvPr/>
        </p:nvPicPr>
        <p:blipFill>
          <a:blip r:embed="rId2"/>
          <a:stretch>
            <a:fillRect/>
          </a:stretch>
        </p:blipFill>
        <p:spPr>
          <a:xfrm>
            <a:off x="4673681" y="4216481"/>
            <a:ext cx="272125" cy="272125"/>
          </a:xfrm>
          <a:prstGeom prst="rect">
            <a:avLst/>
          </a:prstGeom>
        </p:spPr>
      </p:pic>
      <p:sp>
        <p:nvSpPr>
          <p:cNvPr id="44" name="Text 39"/>
          <p:cNvSpPr txBox="1"/>
          <p:nvPr/>
        </p:nvSpPr>
        <p:spPr>
          <a:xfrm>
            <a:off x="5212080" y="406908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Operator</a:t>
            </a:r>
            <a:endParaRPr lang="en-US" sz="1700" dirty="0"/>
          </a:p>
        </p:txBody>
      </p:sp>
      <p:sp>
        <p:nvSpPr>
          <p:cNvPr id="45" name="Text 40"/>
          <p:cNvSpPr txBox="1"/>
          <p:nvPr/>
        </p:nvSpPr>
        <p:spPr>
          <a:xfrm>
            <a:off x="4526280" y="4754880"/>
            <a:ext cx="310896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Unary: -x  !ok  ++i</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Binary: a + b   a &lt; b</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Ternary: c ? a : b</a:t>
            </a:r>
            <a:endParaRPr lang="en-US" sz="1400" dirty="0"/>
          </a:p>
        </p:txBody>
      </p:sp>
      <p:sp>
        <p:nvSpPr>
          <p:cNvPr id="46" name="Shape 41"/>
          <p:cNvSpPr/>
          <p:nvPr/>
        </p:nvSpPr>
        <p:spPr>
          <a:xfrm>
            <a:off x="8046720" y="3840480"/>
            <a:ext cx="3611880" cy="2148840"/>
          </a:xfrm>
          <a:prstGeom prst="roundRect">
            <a:avLst>
              <a:gd name="adj" fmla="val 5106"/>
            </a:avLst>
          </a:prstGeom>
          <a:solidFill>
            <a:srgbClr val="EEF1F6"/>
          </a:solidFill>
          <a:ln w="12700">
            <a:solidFill>
              <a:srgbClr val="EEF1F6"/>
            </a:solidFill>
            <a:prstDash val="solid"/>
          </a:ln>
        </p:spPr>
      </p:sp>
      <p:sp>
        <p:nvSpPr>
          <p:cNvPr id="47" name="Shape 42"/>
          <p:cNvSpPr/>
          <p:nvPr/>
        </p:nvSpPr>
        <p:spPr>
          <a:xfrm>
            <a:off x="8275320" y="4069080"/>
            <a:ext cx="566928" cy="566928"/>
          </a:xfrm>
          <a:prstGeom prst="ellipse">
            <a:avLst/>
          </a:prstGeom>
          <a:solidFill>
            <a:srgbClr val="2F6FB3"/>
          </a:solidFill>
          <a:ln w="12700">
            <a:solidFill>
              <a:srgbClr val="2F6FB3"/>
            </a:solidFill>
            <a:prstDash val="solid"/>
          </a:ln>
        </p:spPr>
      </p:sp>
      <p:pic>
        <p:nvPicPr>
          <p:cNvPr id="48" name="Image 2" descr="preencoded.png">    </p:cNvPr>
          <p:cNvPicPr>
            <a:picLocks noChangeAspect="1"/>
          </p:cNvPicPr>
          <p:nvPr/>
        </p:nvPicPr>
        <p:blipFill>
          <a:blip r:embed="rId3"/>
          <a:stretch>
            <a:fillRect/>
          </a:stretch>
        </p:blipFill>
        <p:spPr>
          <a:xfrm>
            <a:off x="8422721" y="4216481"/>
            <a:ext cx="272125" cy="272125"/>
          </a:xfrm>
          <a:prstGeom prst="rect">
            <a:avLst/>
          </a:prstGeom>
        </p:spPr>
      </p:pic>
      <p:sp>
        <p:nvSpPr>
          <p:cNvPr id="49" name="Text 43"/>
          <p:cNvSpPr txBox="1"/>
          <p:nvPr/>
        </p:nvSpPr>
        <p:spPr>
          <a:xfrm>
            <a:off x="8961120" y="406908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Expression</a:t>
            </a:r>
            <a:endParaRPr lang="en-US" sz="1700" dirty="0"/>
          </a:p>
        </p:txBody>
      </p:sp>
      <p:sp>
        <p:nvSpPr>
          <p:cNvPr id="50" name="Text 44"/>
          <p:cNvSpPr txBox="1"/>
          <p:nvPr/>
        </p:nvSpPr>
        <p:spPr>
          <a:xfrm>
            <a:off x="8275320" y="4754880"/>
            <a:ext cx="315468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Anything that produces a value. Every expression has a type: int, double, bool, string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Arithmetic Operators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  −  *  /  %  ·  integer vs real division  ·  remainder tricks  ·  division by zero</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4</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ARITHMETIC</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five arithmetic operators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960120"/>
                <a:gridCol w="1600200"/>
                <a:gridCol w="1325880"/>
                <a:gridCol w="868680"/>
                <a:gridCol w="1645920"/>
                <a:gridCol w="1188720"/>
              </a:tblGrid>
              <a:tr h="50292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Operator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int example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Prints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double example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Prints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addition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7.0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subtraction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7.0 - 2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multiplication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7.0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C8453B"/>
                          </a:solidFill>
                          <a:latin typeface="Calibri" pitchFamily="34" charset="0"/>
                          <a:ea typeface="Calibri" pitchFamily="34" charset="-122"/>
                          <a:cs typeface="Calibri" pitchFamily="34" charset="-120"/>
                        </a:rPr>
                        <a:t>division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7.0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ourier New" pitchFamily="34" charset="0"/>
                          <a:ea typeface="Courier New" pitchFamily="34" charset="-122"/>
                          <a:cs typeface="Courier New" pitchFamily="34" charset="-120"/>
                        </a:rPr>
                        <a:t>3.5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remainder (mod)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7.5 %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8412480" y="1645920"/>
            <a:ext cx="3246120" cy="2103120"/>
          </a:xfrm>
          <a:prstGeom prst="roundRect">
            <a:avLst>
              <a:gd name="adj" fmla="val 5217"/>
            </a:avLst>
          </a:prstGeom>
          <a:solidFill>
            <a:srgbClr val="EEF1F6"/>
          </a:solidFill>
          <a:ln w="12700">
            <a:solidFill>
              <a:srgbClr val="EEF1F6"/>
            </a:solidFill>
            <a:prstDash val="solid"/>
          </a:ln>
        </p:spPr>
      </p:sp>
      <p:sp>
        <p:nvSpPr>
          <p:cNvPr id="9" name="Shape 5"/>
          <p:cNvSpPr/>
          <p:nvPr/>
        </p:nvSpPr>
        <p:spPr>
          <a:xfrm>
            <a:off x="8641080" y="1874520"/>
            <a:ext cx="566928" cy="566928"/>
          </a:xfrm>
          <a:prstGeom prst="ellipse">
            <a:avLst/>
          </a:prstGeom>
          <a:solidFill>
            <a:srgbClr val="14213D"/>
          </a:solidFill>
          <a:ln w="12700">
            <a:solidFill>
              <a:srgbClr val="14213D"/>
            </a:solidFill>
            <a:prstDash val="solid"/>
          </a:ln>
        </p:spPr>
      </p:sp>
      <p:pic>
        <p:nvPicPr>
          <p:cNvPr id="10" name="Image 0" descr="preencoded.png">    </p:cNvPr>
          <p:cNvPicPr>
            <a:picLocks noChangeAspect="1"/>
          </p:cNvPicPr>
          <p:nvPr/>
        </p:nvPicPr>
        <p:blipFill>
          <a:blip r:embed="rId1"/>
          <a:stretch>
            <a:fillRect/>
          </a:stretch>
        </p:blipFill>
        <p:spPr>
          <a:xfrm>
            <a:off x="8788481" y="2021921"/>
            <a:ext cx="272125" cy="272125"/>
          </a:xfrm>
          <a:prstGeom prst="rect">
            <a:avLst/>
          </a:prstGeom>
        </p:spPr>
      </p:pic>
      <p:sp>
        <p:nvSpPr>
          <p:cNvPr id="11" name="Text 6"/>
          <p:cNvSpPr txBox="1"/>
          <p:nvPr/>
        </p:nvSpPr>
        <p:spPr>
          <a:xfrm>
            <a:off x="9326880" y="1874520"/>
            <a:ext cx="21488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int op int → int</a:t>
            </a:r>
            <a:endParaRPr lang="en-US" sz="1700" dirty="0"/>
          </a:p>
        </p:txBody>
      </p:sp>
      <p:sp>
        <p:nvSpPr>
          <p:cNvPr id="12" name="Text 7"/>
          <p:cNvSpPr txBox="1"/>
          <p:nvPr/>
        </p:nvSpPr>
        <p:spPr>
          <a:xfrm>
            <a:off x="8641080" y="2560320"/>
            <a:ext cx="278892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Both operands int: the result is int, even for /.</a:t>
            </a:r>
            <a:endParaRPr lang="en-US" sz="1500" dirty="0"/>
          </a:p>
        </p:txBody>
      </p:sp>
      <p:sp>
        <p:nvSpPr>
          <p:cNvPr id="13" name="Shape 8"/>
          <p:cNvSpPr/>
          <p:nvPr/>
        </p:nvSpPr>
        <p:spPr>
          <a:xfrm>
            <a:off x="8412480" y="3931920"/>
            <a:ext cx="3246120" cy="2103120"/>
          </a:xfrm>
          <a:prstGeom prst="roundRect">
            <a:avLst>
              <a:gd name="adj" fmla="val 5217"/>
            </a:avLst>
          </a:prstGeom>
          <a:solidFill>
            <a:srgbClr val="EEF1F6"/>
          </a:solidFill>
          <a:ln w="12700">
            <a:solidFill>
              <a:srgbClr val="EEF1F6"/>
            </a:solidFill>
            <a:prstDash val="solid"/>
          </a:ln>
        </p:spPr>
      </p:sp>
      <p:sp>
        <p:nvSpPr>
          <p:cNvPr id="14" name="Shape 9"/>
          <p:cNvSpPr/>
          <p:nvPr/>
        </p:nvSpPr>
        <p:spPr>
          <a:xfrm>
            <a:off x="8641080" y="4160520"/>
            <a:ext cx="566928" cy="566928"/>
          </a:xfrm>
          <a:prstGeom prst="ellipse">
            <a:avLst/>
          </a:prstGeom>
          <a:solidFill>
            <a:srgbClr val="2E9E6A"/>
          </a:solidFill>
          <a:ln w="12700">
            <a:solidFill>
              <a:srgbClr val="2E9E6A"/>
            </a:solidFill>
            <a:prstDash val="solid"/>
          </a:ln>
        </p:spPr>
      </p:sp>
      <p:pic>
        <p:nvPicPr>
          <p:cNvPr id="15" name="Image 1" descr="preencoded.png">    </p:cNvPr>
          <p:cNvPicPr>
            <a:picLocks noChangeAspect="1"/>
          </p:cNvPicPr>
          <p:nvPr/>
        </p:nvPicPr>
        <p:blipFill>
          <a:blip r:embed="rId2"/>
          <a:stretch>
            <a:fillRect/>
          </a:stretch>
        </p:blipFill>
        <p:spPr>
          <a:xfrm>
            <a:off x="8788481" y="4307921"/>
            <a:ext cx="272125" cy="272125"/>
          </a:xfrm>
          <a:prstGeom prst="rect">
            <a:avLst/>
          </a:prstGeom>
        </p:spPr>
      </p:pic>
      <p:sp>
        <p:nvSpPr>
          <p:cNvPr id="16" name="Text 10"/>
          <p:cNvSpPr txBox="1"/>
          <p:nvPr/>
        </p:nvSpPr>
        <p:spPr>
          <a:xfrm>
            <a:off x="9326880" y="4160520"/>
            <a:ext cx="21488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double wins</a:t>
            </a:r>
            <a:endParaRPr lang="en-US" sz="1700" dirty="0"/>
          </a:p>
        </p:txBody>
      </p:sp>
      <p:sp>
        <p:nvSpPr>
          <p:cNvPr id="17" name="Text 11"/>
          <p:cNvSpPr txBox="1"/>
          <p:nvPr/>
        </p:nvSpPr>
        <p:spPr>
          <a:xfrm>
            <a:off x="8641080" y="4846320"/>
            <a:ext cx="278892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At least one double operand: the int is widened, result is double.</a:t>
            </a:r>
            <a:endParaRPr lang="en-US" sz="1500" dirty="0"/>
          </a:p>
        </p:txBody>
      </p:sp>
      <p:sp>
        <p:nvSpPr>
          <p:cNvPr id="18" name="Shape 12"/>
          <p:cNvSpPr/>
          <p:nvPr/>
        </p:nvSpPr>
        <p:spPr>
          <a:xfrm>
            <a:off x="548640" y="4983480"/>
            <a:ext cx="7589520" cy="1005840"/>
          </a:xfrm>
          <a:prstGeom prst="roundRect">
            <a:avLst>
              <a:gd name="adj" fmla="val 10909"/>
            </a:avLst>
          </a:prstGeom>
          <a:solidFill>
            <a:srgbClr val="FFF6E3"/>
          </a:solidFill>
          <a:ln w="12700">
            <a:solidFill>
              <a:srgbClr val="FFF6E3"/>
            </a:solidFill>
            <a:prstDash val="solid"/>
          </a:ln>
        </p:spPr>
      </p:sp>
      <p:pic>
        <p:nvPicPr>
          <p:cNvPr id="19" name="Image 2" descr="preencoded.png">    </p:cNvPr>
          <p:cNvPicPr>
            <a:picLocks noChangeAspect="1"/>
          </p:cNvPicPr>
          <p:nvPr/>
        </p:nvPicPr>
        <p:blipFill>
          <a:blip r:embed="rId3"/>
          <a:stretch>
            <a:fillRect/>
          </a:stretch>
        </p:blipFill>
        <p:spPr>
          <a:xfrm>
            <a:off x="822960" y="5212080"/>
            <a:ext cx="548640" cy="548640"/>
          </a:xfrm>
          <a:prstGeom prst="rect">
            <a:avLst/>
          </a:prstGeom>
        </p:spPr>
      </p:pic>
      <p:sp>
        <p:nvSpPr>
          <p:cNvPr id="20" name="Text 13"/>
          <p:cNvSpPr txBox="1"/>
          <p:nvPr/>
        </p:nvSpPr>
        <p:spPr>
          <a:xfrm>
            <a:off x="1645920" y="5056632"/>
            <a:ext cx="6217920" cy="859536"/>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Only / behaves differently: </a:t>
            </a:r>
            <a:pPr indent="0" marL="0">
              <a:buNone/>
            </a:pPr>
            <a:r>
              <a:rPr lang="en-US" sz="1600" dirty="0">
                <a:solidFill>
                  <a:srgbClr val="333B4F"/>
                </a:solidFill>
                <a:latin typeface="Courier New" pitchFamily="34" charset="0"/>
                <a:ea typeface="Courier New" pitchFamily="34" charset="-122"/>
                <a:cs typeface="Courier New" pitchFamily="34" charset="-120"/>
              </a:rPr>
              <a:t>7 / 2</a:t>
            </a:r>
            <a:pPr indent="0" marL="0">
              <a:buNone/>
            </a:pPr>
            <a:r>
              <a:rPr lang="en-US" sz="1600" dirty="0">
                <a:solidFill>
                  <a:srgbClr val="333B4F"/>
                </a:solidFill>
                <a:latin typeface="Calibri" pitchFamily="34" charset="0"/>
                <a:ea typeface="Calibri" pitchFamily="34" charset="-122"/>
                <a:cs typeface="Calibri" pitchFamily="34" charset="-120"/>
              </a:rPr>
              <a:t> gives </a:t>
            </a:r>
            <a:pPr indent="0" marL="0">
              <a:buNone/>
            </a:pPr>
            <a:r>
              <a:rPr lang="en-US" sz="1600" dirty="0">
                <a:solidFill>
                  <a:srgbClr val="333B4F"/>
                </a:solidFill>
                <a:latin typeface="Courier New" pitchFamily="34" charset="0"/>
                <a:ea typeface="Courier New" pitchFamily="34" charset="-122"/>
                <a:cs typeface="Courier New" pitchFamily="34" charset="-120"/>
              </a:rPr>
              <a:t>3</a:t>
            </a:r>
            <a:pPr indent="0" marL="0">
              <a:buNone/>
            </a:pPr>
            <a:r>
              <a:rPr lang="en-US" sz="1600" dirty="0">
                <a:solidFill>
                  <a:srgbClr val="333B4F"/>
                </a:solidFill>
                <a:latin typeface="Calibri" pitchFamily="34" charset="0"/>
                <a:ea typeface="Calibri" pitchFamily="34" charset="-122"/>
                <a:cs typeface="Calibri" pitchFamily="34" charset="-120"/>
              </a:rPr>
              <a:t> but </a:t>
            </a:r>
            <a:pPr indent="0" marL="0">
              <a:buNone/>
            </a:pPr>
            <a:r>
              <a:rPr lang="en-US" sz="1600" dirty="0">
                <a:solidFill>
                  <a:srgbClr val="333B4F"/>
                </a:solidFill>
                <a:latin typeface="Courier New" pitchFamily="34" charset="0"/>
                <a:ea typeface="Courier New" pitchFamily="34" charset="-122"/>
                <a:cs typeface="Courier New" pitchFamily="34" charset="-120"/>
              </a:rPr>
              <a:t>7.0 / 2</a:t>
            </a:r>
            <a:pPr indent="0" marL="0">
              <a:buNone/>
            </a:pPr>
            <a:r>
              <a:rPr lang="en-US" sz="1600" dirty="0">
                <a:solidFill>
                  <a:srgbClr val="333B4F"/>
                </a:solidFill>
                <a:latin typeface="Calibri" pitchFamily="34" charset="0"/>
                <a:ea typeface="Calibri" pitchFamily="34" charset="-122"/>
                <a:cs typeface="Calibri" pitchFamily="34" charset="-120"/>
              </a:rPr>
              <a:t> gives </a:t>
            </a:r>
            <a:pPr indent="0" marL="0">
              <a:buNone/>
            </a:pPr>
            <a:r>
              <a:rPr lang="en-US" sz="1600" dirty="0">
                <a:solidFill>
                  <a:srgbClr val="333B4F"/>
                </a:solidFill>
                <a:latin typeface="Courier New" pitchFamily="34" charset="0"/>
                <a:ea typeface="Courier New" pitchFamily="34" charset="-122"/>
                <a:cs typeface="Courier New" pitchFamily="34" charset="-120"/>
              </a:rPr>
              <a:t>3.5</a:t>
            </a:r>
            <a:pPr indent="0" marL="0">
              <a:buNone/>
            </a:pPr>
            <a:r>
              <a:rPr lang="en-US" sz="1600" dirty="0">
                <a:solidFill>
                  <a:srgbClr val="333B4F"/>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ARITHMETIC · DIVISION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Integer division vs real division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00200"/>
            <a:ext cx="11109960" cy="1737360"/>
          </a:xfrm>
          <a:prstGeom prst="roundRect">
            <a:avLst>
              <a:gd name="adj" fmla="val 5263"/>
            </a:avLst>
          </a:prstGeom>
          <a:solidFill>
            <a:srgbClr val="0F1729"/>
          </a:solidFill>
          <a:ln w="12700">
            <a:solidFill>
              <a:srgbClr val="0F1729"/>
            </a:solidFill>
            <a:prstDash val="solid"/>
          </a:ln>
        </p:spPr>
      </p:sp>
      <p:sp>
        <p:nvSpPr>
          <p:cNvPr id="8" name="Text 5"/>
          <p:cNvSpPr txBox="1"/>
          <p:nvPr/>
        </p:nvSpPr>
        <p:spPr>
          <a:xfrm>
            <a:off x="777240" y="170992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code/04_02_DivisionRules (excerpt)</a:t>
            </a:r>
            <a:endParaRPr lang="en-US" sz="1100" dirty="0"/>
          </a:p>
        </p:txBody>
      </p:sp>
      <p:sp>
        <p:nvSpPr>
          <p:cNvPr id="9" name="Text 6"/>
          <p:cNvSpPr txBox="1"/>
          <p:nvPr/>
        </p:nvSpPr>
        <p:spPr>
          <a:xfrm>
            <a:off x="777240" y="2011680"/>
            <a:ext cx="10652760" cy="12161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integer vs real division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$"7 / 2           = {7 / 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$"7 / 2.0         = {7 / 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$"(double)7 / 2   = {(double)7 / 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$"(double)(7 / 2) = {(double)(7 / 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$"-7 / 2          = {-7 / 2}   (truncated toward zero)"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520440"/>
            <a:ext cx="5212080" cy="2514600"/>
          </a:xfrm>
          <a:prstGeom prst="roundRect">
            <a:avLst>
              <a:gd name="adj" fmla="val 3636"/>
            </a:avLst>
          </a:prstGeom>
          <a:solidFill>
            <a:srgbClr val="0B0F19"/>
          </a:solidFill>
          <a:ln w="12700">
            <a:solidFill>
              <a:srgbClr val="2A3654"/>
            </a:solidFill>
            <a:prstDash val="solid"/>
          </a:ln>
        </p:spPr>
      </p:sp>
      <p:sp>
        <p:nvSpPr>
          <p:cNvPr id="11" name="Shape 8"/>
          <p:cNvSpPr/>
          <p:nvPr/>
        </p:nvSpPr>
        <p:spPr>
          <a:xfrm>
            <a:off x="731520" y="364845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64845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64845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593592"/>
            <a:ext cx="4114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3904488"/>
            <a:ext cx="4754880" cy="20116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integer vs real division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 / 2           =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 / 2.0         = 3.5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(double)7 / 2   = 3.5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(double)(7 / 2) = 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 / 2          = -3   (truncated toward zero)</a:t>
            </a:r>
            <a:endParaRPr lang="en-US" sz="1200" dirty="0"/>
          </a:p>
        </p:txBody>
      </p:sp>
      <p:sp>
        <p:nvSpPr>
          <p:cNvPr id="16" name="Shape 13"/>
          <p:cNvSpPr/>
          <p:nvPr/>
        </p:nvSpPr>
        <p:spPr>
          <a:xfrm>
            <a:off x="5943600" y="3520440"/>
            <a:ext cx="5715000" cy="777240"/>
          </a:xfrm>
          <a:prstGeom prst="roundRect">
            <a:avLst>
              <a:gd name="adj" fmla="val 14118"/>
            </a:avLst>
          </a:prstGeom>
          <a:solidFill>
            <a:srgbClr val="EEF1F6"/>
          </a:solidFill>
          <a:ln w="12700">
            <a:solidFill>
              <a:srgbClr val="EEF1F6"/>
            </a:solidFill>
            <a:prstDash val="solid"/>
          </a:ln>
        </p:spPr>
      </p:sp>
      <p:sp>
        <p:nvSpPr>
          <p:cNvPr id="17" name="Shape 14"/>
          <p:cNvSpPr/>
          <p:nvPr/>
        </p:nvSpPr>
        <p:spPr>
          <a:xfrm>
            <a:off x="6080760" y="3648456"/>
            <a:ext cx="521208" cy="521208"/>
          </a:xfrm>
          <a:prstGeom prst="ellipse">
            <a:avLst/>
          </a:prstGeom>
          <a:solidFill>
            <a:srgbClr val="C8453B"/>
          </a:solidFill>
          <a:ln w="12700">
            <a:solidFill>
              <a:srgbClr val="C8453B"/>
            </a:solidFill>
            <a:prstDash val="solid"/>
          </a:ln>
        </p:spPr>
      </p:sp>
      <p:pic>
        <p:nvPicPr>
          <p:cNvPr id="18" name="Image 0" descr="preencoded.png">    </p:cNvPr>
          <p:cNvPicPr>
            <a:picLocks noChangeAspect="1"/>
          </p:cNvPicPr>
          <p:nvPr/>
        </p:nvPicPr>
        <p:blipFill>
          <a:blip r:embed="rId1"/>
          <a:stretch>
            <a:fillRect/>
          </a:stretch>
        </p:blipFill>
        <p:spPr>
          <a:xfrm>
            <a:off x="6216274" y="3783970"/>
            <a:ext cx="250180" cy="250180"/>
          </a:xfrm>
          <a:prstGeom prst="rect">
            <a:avLst/>
          </a:prstGeom>
        </p:spPr>
      </p:pic>
      <p:sp>
        <p:nvSpPr>
          <p:cNvPr id="19" name="Text 15"/>
          <p:cNvSpPr txBox="1"/>
          <p:nvPr/>
        </p:nvSpPr>
        <p:spPr>
          <a:xfrm>
            <a:off x="6720840" y="3547872"/>
            <a:ext cx="4846320" cy="722376"/>
          </a:xfrm>
          <a:prstGeom prst="rect">
            <a:avLst/>
          </a:prstGeom>
          <a:noFill/>
          <a:ln/>
        </p:spPr>
        <p:txBody>
          <a:bodyPr wrap="square" lIns="0" tIns="0" rIns="0" bIns="0" rtlCol="0" anchor="ctr"/>
          <a:lstStyle/>
          <a:p>
            <a:pPr indent="0" marL="0">
              <a:buNone/>
            </a:pPr>
            <a:r>
              <a:rPr lang="en-US" sz="1300" b="1" dirty="0">
                <a:solidFill>
                  <a:srgbClr val="333B4F"/>
                </a:solidFill>
                <a:latin typeface="Calibri" pitchFamily="34" charset="0"/>
                <a:ea typeface="Calibri" pitchFamily="34" charset="-122"/>
                <a:cs typeface="Calibri" pitchFamily="34" charset="-120"/>
              </a:rPr>
              <a:t>Truncation</a:t>
            </a:r>
            <a:endParaRPr lang="en-US" sz="1300" dirty="0"/>
          </a:p>
          <a:p>
            <a:pPr indent="0" marL="0">
              <a:buNone/>
            </a:pPr>
            <a:r>
              <a:rPr lang="en-US" sz="1300" dirty="0">
                <a:solidFill>
                  <a:srgbClr val="333B4F"/>
                </a:solidFill>
                <a:latin typeface="Calibri" pitchFamily="34" charset="0"/>
                <a:ea typeface="Calibri" pitchFamily="34" charset="-122"/>
                <a:cs typeface="Calibri" pitchFamily="34" charset="-120"/>
              </a:rPr>
              <a:t>int / int drops the fraction: 7 / 2 → 3, −7 / 2 → −3 (toward zero).</a:t>
            </a:r>
            <a:endParaRPr lang="en-US" sz="1300" dirty="0"/>
          </a:p>
        </p:txBody>
      </p:sp>
      <p:sp>
        <p:nvSpPr>
          <p:cNvPr id="20" name="Shape 16"/>
          <p:cNvSpPr/>
          <p:nvPr/>
        </p:nvSpPr>
        <p:spPr>
          <a:xfrm>
            <a:off x="5943600" y="4389120"/>
            <a:ext cx="5715000" cy="777240"/>
          </a:xfrm>
          <a:prstGeom prst="roundRect">
            <a:avLst>
              <a:gd name="adj" fmla="val 14118"/>
            </a:avLst>
          </a:prstGeom>
          <a:solidFill>
            <a:srgbClr val="EEF1F6"/>
          </a:solidFill>
          <a:ln w="12700">
            <a:solidFill>
              <a:srgbClr val="EEF1F6"/>
            </a:solidFill>
            <a:prstDash val="solid"/>
          </a:ln>
        </p:spPr>
      </p:sp>
      <p:sp>
        <p:nvSpPr>
          <p:cNvPr id="21" name="Shape 17"/>
          <p:cNvSpPr/>
          <p:nvPr/>
        </p:nvSpPr>
        <p:spPr>
          <a:xfrm>
            <a:off x="6080760" y="4517136"/>
            <a:ext cx="521208" cy="521208"/>
          </a:xfrm>
          <a:prstGeom prst="ellipse">
            <a:avLst/>
          </a:prstGeom>
          <a:solidFill>
            <a:srgbClr val="2E9E6A"/>
          </a:solidFill>
          <a:ln w="12700">
            <a:solidFill>
              <a:srgbClr val="2E9E6A"/>
            </a:solidFill>
            <a:prstDash val="solid"/>
          </a:ln>
        </p:spPr>
      </p:sp>
      <p:pic>
        <p:nvPicPr>
          <p:cNvPr id="22" name="Image 1" descr="preencoded.png">    </p:cNvPr>
          <p:cNvPicPr>
            <a:picLocks noChangeAspect="1"/>
          </p:cNvPicPr>
          <p:nvPr/>
        </p:nvPicPr>
        <p:blipFill>
          <a:blip r:embed="rId2"/>
          <a:stretch>
            <a:fillRect/>
          </a:stretch>
        </p:blipFill>
        <p:spPr>
          <a:xfrm>
            <a:off x="6216274" y="4652650"/>
            <a:ext cx="250180" cy="250180"/>
          </a:xfrm>
          <a:prstGeom prst="rect">
            <a:avLst/>
          </a:prstGeom>
        </p:spPr>
      </p:pic>
      <p:sp>
        <p:nvSpPr>
          <p:cNvPr id="23" name="Text 18"/>
          <p:cNvSpPr txBox="1"/>
          <p:nvPr/>
        </p:nvSpPr>
        <p:spPr>
          <a:xfrm>
            <a:off x="6720840" y="4416552"/>
            <a:ext cx="4846320" cy="722376"/>
          </a:xfrm>
          <a:prstGeom prst="rect">
            <a:avLst/>
          </a:prstGeom>
          <a:noFill/>
          <a:ln/>
        </p:spPr>
        <p:txBody>
          <a:bodyPr wrap="square" lIns="0" tIns="0" rIns="0" bIns="0" rtlCol="0" anchor="ctr"/>
          <a:lstStyle/>
          <a:p>
            <a:pPr indent="0" marL="0">
              <a:buNone/>
            </a:pPr>
            <a:r>
              <a:rPr lang="en-US" sz="1300" b="1" dirty="0">
                <a:solidFill>
                  <a:srgbClr val="333B4F"/>
                </a:solidFill>
                <a:latin typeface="Calibri" pitchFamily="34" charset="0"/>
                <a:ea typeface="Calibri" pitchFamily="34" charset="-122"/>
                <a:cs typeface="Calibri" pitchFamily="34" charset="-120"/>
              </a:rPr>
              <a:t>Fix: make one operand double</a:t>
            </a:r>
            <a:endParaRPr lang="en-US" sz="1300" dirty="0"/>
          </a:p>
          <a:p>
            <a:pPr indent="0" marL="0">
              <a:buNone/>
            </a:pPr>
            <a:r>
              <a:rPr lang="en-US" sz="1300" dirty="0">
                <a:solidFill>
                  <a:srgbClr val="333B4F"/>
                </a:solidFill>
                <a:latin typeface="Calibri" pitchFamily="34" charset="0"/>
                <a:ea typeface="Calibri" pitchFamily="34" charset="-122"/>
                <a:cs typeface="Calibri" pitchFamily="34" charset="-120"/>
              </a:rPr>
              <a:t>7 / 2.0 or (double)7 / 2 → 3.5. Cast an operand, before dividing.</a:t>
            </a:r>
            <a:endParaRPr lang="en-US" sz="1300" dirty="0"/>
          </a:p>
        </p:txBody>
      </p:sp>
      <p:sp>
        <p:nvSpPr>
          <p:cNvPr id="24" name="Shape 19"/>
          <p:cNvSpPr/>
          <p:nvPr/>
        </p:nvSpPr>
        <p:spPr>
          <a:xfrm>
            <a:off x="5943600" y="5257800"/>
            <a:ext cx="5715000" cy="777240"/>
          </a:xfrm>
          <a:prstGeom prst="roundRect">
            <a:avLst>
              <a:gd name="adj" fmla="val 14118"/>
            </a:avLst>
          </a:prstGeom>
          <a:solidFill>
            <a:srgbClr val="EEF1F6"/>
          </a:solidFill>
          <a:ln w="12700">
            <a:solidFill>
              <a:srgbClr val="EEF1F6"/>
            </a:solidFill>
            <a:prstDash val="solid"/>
          </a:ln>
        </p:spPr>
      </p:sp>
      <p:sp>
        <p:nvSpPr>
          <p:cNvPr id="25" name="Shape 20"/>
          <p:cNvSpPr/>
          <p:nvPr/>
        </p:nvSpPr>
        <p:spPr>
          <a:xfrm>
            <a:off x="6080760" y="5385816"/>
            <a:ext cx="521208" cy="521208"/>
          </a:xfrm>
          <a:prstGeom prst="ellipse">
            <a:avLst/>
          </a:prstGeom>
          <a:solidFill>
            <a:srgbClr val="B7791F"/>
          </a:solidFill>
          <a:ln w="12700">
            <a:solidFill>
              <a:srgbClr val="B7791F"/>
            </a:solidFill>
            <a:prstDash val="solid"/>
          </a:ln>
        </p:spPr>
      </p:sp>
      <p:pic>
        <p:nvPicPr>
          <p:cNvPr id="26" name="Image 2" descr="preencoded.png">    </p:cNvPr>
          <p:cNvPicPr>
            <a:picLocks noChangeAspect="1"/>
          </p:cNvPicPr>
          <p:nvPr/>
        </p:nvPicPr>
        <p:blipFill>
          <a:blip r:embed="rId3"/>
          <a:stretch>
            <a:fillRect/>
          </a:stretch>
        </p:blipFill>
        <p:spPr>
          <a:xfrm>
            <a:off x="6216274" y="5521330"/>
            <a:ext cx="250180" cy="250180"/>
          </a:xfrm>
          <a:prstGeom prst="rect">
            <a:avLst/>
          </a:prstGeom>
        </p:spPr>
      </p:pic>
      <p:sp>
        <p:nvSpPr>
          <p:cNvPr id="27" name="Text 21"/>
          <p:cNvSpPr txBox="1"/>
          <p:nvPr/>
        </p:nvSpPr>
        <p:spPr>
          <a:xfrm>
            <a:off x="6720840" y="5285232"/>
            <a:ext cx="4846320" cy="722376"/>
          </a:xfrm>
          <a:prstGeom prst="rect">
            <a:avLst/>
          </a:prstGeom>
          <a:noFill/>
          <a:ln/>
        </p:spPr>
        <p:txBody>
          <a:bodyPr wrap="square" lIns="0" tIns="0" rIns="0" bIns="0" rtlCol="0" anchor="ctr"/>
          <a:lstStyle/>
          <a:p>
            <a:pPr indent="0" marL="0">
              <a:buNone/>
            </a:pPr>
            <a:r>
              <a:rPr lang="en-US" sz="1300" b="1" dirty="0">
                <a:solidFill>
                  <a:srgbClr val="333B4F"/>
                </a:solidFill>
                <a:latin typeface="Calibri" pitchFamily="34" charset="0"/>
                <a:ea typeface="Calibri" pitchFamily="34" charset="-122"/>
                <a:cs typeface="Calibri" pitchFamily="34" charset="-120"/>
              </a:rPr>
              <a:t>Too late!</a:t>
            </a:r>
            <a:endParaRPr lang="en-US" sz="1300" dirty="0"/>
          </a:p>
          <a:p>
            <a:pPr indent="0" marL="0">
              <a:buNone/>
            </a:pPr>
            <a:r>
              <a:rPr lang="en-US" sz="1300" dirty="0">
                <a:solidFill>
                  <a:srgbClr val="333B4F"/>
                </a:solidFill>
                <a:latin typeface="Calibri" pitchFamily="34" charset="0"/>
                <a:ea typeface="Calibri" pitchFamily="34" charset="-122"/>
                <a:cs typeface="Calibri" pitchFamily="34" charset="-120"/>
              </a:rPr>
              <a:t>(double)(7 / 2) → 3: the division already happened in int.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ARITHMETIC · REMAINDER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remainder operator % and its uses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45920"/>
            <a:ext cx="4846320" cy="4389120"/>
          </a:xfrm>
          <a:prstGeom prst="roundRect">
            <a:avLst>
              <a:gd name="adj" fmla="val 2500"/>
            </a:avLst>
          </a:prstGeom>
          <a:solidFill>
            <a:srgbClr val="EEF1F6"/>
          </a:solidFill>
          <a:ln w="12700">
            <a:solidFill>
              <a:srgbClr val="EEF1F6"/>
            </a:solidFill>
            <a:prstDash val="solid"/>
          </a:ln>
        </p:spPr>
      </p:sp>
      <p:sp>
        <p:nvSpPr>
          <p:cNvPr id="8" name="Text 5"/>
          <p:cNvSpPr txBox="1"/>
          <p:nvPr/>
        </p:nvSpPr>
        <p:spPr>
          <a:xfrm>
            <a:off x="822960" y="1783080"/>
            <a:ext cx="438912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Long division of 17 by 5</a:t>
            </a:r>
            <a:endParaRPr lang="en-US" sz="1800" dirty="0"/>
          </a:p>
        </p:txBody>
      </p:sp>
      <p:sp>
        <p:nvSpPr>
          <p:cNvPr id="9" name="Text 6"/>
          <p:cNvSpPr txBox="1"/>
          <p:nvPr/>
        </p:nvSpPr>
        <p:spPr>
          <a:xfrm>
            <a:off x="822960" y="2286000"/>
            <a:ext cx="4389120" cy="731520"/>
          </a:xfrm>
          <a:prstGeom prst="rect">
            <a:avLst/>
          </a:prstGeom>
          <a:noFill/>
          <a:ln/>
        </p:spPr>
        <p:txBody>
          <a:bodyPr wrap="square" lIns="0" tIns="0" rIns="0" bIns="0" rtlCol="0" anchor="ctr"/>
          <a:lstStyle/>
          <a:p>
            <a:pPr algn="ctr" indent="0" marL="0">
              <a:buNone/>
            </a:pPr>
            <a:r>
              <a:rPr lang="en-US" sz="3600" b="1" dirty="0">
                <a:solidFill>
                  <a:srgbClr val="14213D"/>
                </a:solidFill>
                <a:latin typeface="Courier New" pitchFamily="34" charset="0"/>
                <a:ea typeface="Courier New" pitchFamily="34" charset="-122"/>
                <a:cs typeface="Courier New" pitchFamily="34" charset="-120"/>
              </a:rPr>
              <a:t>17</a:t>
            </a:r>
            <a:pPr algn="ctr" indent="0" marL="0">
              <a:buNone/>
            </a:pPr>
            <a:r>
              <a:rPr lang="en-US" sz="3600" dirty="0">
                <a:solidFill>
                  <a:srgbClr val="333B4F"/>
                </a:solidFill>
                <a:latin typeface="Calibri" pitchFamily="34" charset="0"/>
                <a:ea typeface="Calibri" pitchFamily="34" charset="-122"/>
                <a:cs typeface="Calibri" pitchFamily="34" charset="-120"/>
              </a:rPr>
              <a:t> = </a:t>
            </a:r>
            <a:pPr algn="ctr" indent="0" marL="0">
              <a:buNone/>
            </a:pPr>
            <a:r>
              <a:rPr lang="en-US" sz="3600" b="1" dirty="0">
                <a:solidFill>
                  <a:srgbClr val="2F6FB3"/>
                </a:solidFill>
                <a:latin typeface="Courier New" pitchFamily="34" charset="0"/>
                <a:ea typeface="Courier New" pitchFamily="34" charset="-122"/>
                <a:cs typeface="Courier New" pitchFamily="34" charset="-120"/>
              </a:rPr>
              <a:t>3</a:t>
            </a:r>
            <a:pPr algn="ctr" indent="0" marL="0">
              <a:buNone/>
            </a:pPr>
            <a:r>
              <a:rPr lang="en-US" sz="3600" dirty="0">
                <a:solidFill>
                  <a:srgbClr val="333B4F"/>
                </a:solidFill>
                <a:latin typeface="Calibri" pitchFamily="34" charset="0"/>
                <a:ea typeface="Calibri" pitchFamily="34" charset="-122"/>
                <a:cs typeface="Calibri" pitchFamily="34" charset="-120"/>
              </a:rPr>
              <a:t> × 5 + </a:t>
            </a:r>
            <a:pPr algn="ctr" indent="0" marL="0">
              <a:buNone/>
            </a:pPr>
            <a:r>
              <a:rPr lang="en-US" sz="3600" b="1" dirty="0">
                <a:solidFill>
                  <a:srgbClr val="B7791F"/>
                </a:solidFill>
                <a:latin typeface="Courier New" pitchFamily="34" charset="0"/>
                <a:ea typeface="Courier New" pitchFamily="34" charset="-122"/>
                <a:cs typeface="Courier New" pitchFamily="34" charset="-120"/>
              </a:rPr>
              <a:t>2</a:t>
            </a:r>
            <a:endParaRPr lang="en-US" sz="3600" dirty="0"/>
          </a:p>
        </p:txBody>
      </p:sp>
      <p:sp>
        <p:nvSpPr>
          <p:cNvPr id="10" name="Text 7"/>
          <p:cNvSpPr txBox="1"/>
          <p:nvPr/>
        </p:nvSpPr>
        <p:spPr>
          <a:xfrm>
            <a:off x="822960" y="3154680"/>
            <a:ext cx="4389120" cy="365760"/>
          </a:xfrm>
          <a:prstGeom prst="rect">
            <a:avLst/>
          </a:prstGeom>
          <a:noFill/>
          <a:ln/>
        </p:spPr>
        <p:txBody>
          <a:bodyPr wrap="square" lIns="0" tIns="0" rIns="0" bIns="0" rtlCol="0" anchor="ctr"/>
          <a:lstStyle/>
          <a:p>
            <a:pPr indent="0" marL="0">
              <a:buNone/>
            </a:pPr>
            <a:r>
              <a:rPr lang="en-US" sz="1800" b="1" dirty="0">
                <a:solidFill>
                  <a:srgbClr val="2F6FB3"/>
                </a:solidFill>
                <a:latin typeface="Courier New" pitchFamily="34" charset="0"/>
                <a:ea typeface="Courier New" pitchFamily="34" charset="-122"/>
                <a:cs typeface="Courier New" pitchFamily="34" charset="-120"/>
              </a:rPr>
              <a:t>17 / 5</a:t>
            </a:r>
            <a:pPr indent="0" marL="0">
              <a:buNone/>
            </a:pPr>
            <a:r>
              <a:rPr lang="en-US" sz="1800" dirty="0">
                <a:solidFill>
                  <a:srgbClr val="333B4F"/>
                </a:solidFill>
                <a:latin typeface="Calibri" pitchFamily="34" charset="0"/>
                <a:ea typeface="Calibri" pitchFamily="34" charset="-122"/>
                <a:cs typeface="Calibri" pitchFamily="34" charset="-120"/>
              </a:rPr>
              <a:t>  →  3  (quotient)</a:t>
            </a:r>
            <a:endParaRPr lang="en-US" sz="1800" dirty="0"/>
          </a:p>
        </p:txBody>
      </p:sp>
      <p:sp>
        <p:nvSpPr>
          <p:cNvPr id="11" name="Text 8"/>
          <p:cNvSpPr txBox="1"/>
          <p:nvPr/>
        </p:nvSpPr>
        <p:spPr>
          <a:xfrm>
            <a:off x="822960" y="3566160"/>
            <a:ext cx="4389120" cy="365760"/>
          </a:xfrm>
          <a:prstGeom prst="rect">
            <a:avLst/>
          </a:prstGeom>
          <a:noFill/>
          <a:ln/>
        </p:spPr>
        <p:txBody>
          <a:bodyPr wrap="square" lIns="0" tIns="0" rIns="0" bIns="0" rtlCol="0" anchor="ctr"/>
          <a:lstStyle/>
          <a:p>
            <a:pPr indent="0" marL="0">
              <a:buNone/>
            </a:pPr>
            <a:r>
              <a:rPr lang="en-US" sz="1800" b="1" dirty="0">
                <a:solidFill>
                  <a:srgbClr val="B7791F"/>
                </a:solidFill>
                <a:latin typeface="Courier New" pitchFamily="34" charset="0"/>
                <a:ea typeface="Courier New" pitchFamily="34" charset="-122"/>
                <a:cs typeface="Courier New" pitchFamily="34" charset="-120"/>
              </a:rPr>
              <a:t>17 % 5</a:t>
            </a:r>
            <a:pPr indent="0" marL="0">
              <a:buNone/>
            </a:pPr>
            <a:r>
              <a:rPr lang="en-US" sz="1800" dirty="0">
                <a:solidFill>
                  <a:srgbClr val="333B4F"/>
                </a:solidFill>
                <a:latin typeface="Calibri" pitchFamily="34" charset="0"/>
                <a:ea typeface="Calibri" pitchFamily="34" charset="-122"/>
                <a:cs typeface="Calibri" pitchFamily="34" charset="-120"/>
              </a:rPr>
              <a:t>  →  2  (remainder)</a:t>
            </a:r>
            <a:endParaRPr lang="en-US" sz="1800" dirty="0"/>
          </a:p>
        </p:txBody>
      </p:sp>
      <p:sp>
        <p:nvSpPr>
          <p:cNvPr id="12" name="Shape 9"/>
          <p:cNvSpPr/>
          <p:nvPr/>
        </p:nvSpPr>
        <p:spPr>
          <a:xfrm>
            <a:off x="822960" y="4206240"/>
            <a:ext cx="4297680" cy="1417320"/>
          </a:xfrm>
          <a:prstGeom prst="roundRect">
            <a:avLst>
              <a:gd name="adj" fmla="val 6452"/>
            </a:avLst>
          </a:prstGeom>
          <a:solidFill>
            <a:srgbClr val="0F1729"/>
          </a:solidFill>
          <a:ln w="12700">
            <a:solidFill>
              <a:srgbClr val="0F1729"/>
            </a:solidFill>
            <a:prstDash val="solid"/>
          </a:ln>
        </p:spPr>
      </p:sp>
      <p:sp>
        <p:nvSpPr>
          <p:cNvPr id="13" name="Text 10"/>
          <p:cNvSpPr txBox="1"/>
          <p:nvPr/>
        </p:nvSpPr>
        <p:spPr>
          <a:xfrm>
            <a:off x="1051560" y="4370832"/>
            <a:ext cx="3840480" cy="1143000"/>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always true for int a, b (b != 0)</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a == (a / b) * b + a % b</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17 == 3 * 5 + 2</a:t>
            </a:r>
            <a:endParaRPr lang="en-US" sz="1300" dirty="0"/>
          </a:p>
        </p:txBody>
      </p:sp>
      <p:sp>
        <p:nvSpPr>
          <p:cNvPr id="14" name="Shape 11"/>
          <p:cNvSpPr/>
          <p:nvPr/>
        </p:nvSpPr>
        <p:spPr>
          <a:xfrm>
            <a:off x="5623560" y="1645920"/>
            <a:ext cx="6035040" cy="1371600"/>
          </a:xfrm>
          <a:prstGeom prst="roundRect">
            <a:avLst>
              <a:gd name="adj" fmla="val 8000"/>
            </a:avLst>
          </a:prstGeom>
          <a:solidFill>
            <a:srgbClr val="EEF1F6"/>
          </a:solidFill>
          <a:ln w="12700">
            <a:solidFill>
              <a:srgbClr val="EEF1F6"/>
            </a:solidFill>
            <a:prstDash val="solid"/>
          </a:ln>
        </p:spPr>
      </p:sp>
      <p:sp>
        <p:nvSpPr>
          <p:cNvPr id="15" name="Shape 12"/>
          <p:cNvSpPr/>
          <p:nvPr/>
        </p:nvSpPr>
        <p:spPr>
          <a:xfrm>
            <a:off x="5806440" y="2011680"/>
            <a:ext cx="640080" cy="640080"/>
          </a:xfrm>
          <a:prstGeom prst="ellipse">
            <a:avLst/>
          </a:prstGeom>
          <a:solidFill>
            <a:srgbClr val="14213D"/>
          </a:solidFill>
          <a:ln w="12700">
            <a:solidFill>
              <a:srgbClr val="14213D"/>
            </a:solidFill>
            <a:prstDash val="solid"/>
          </a:ln>
        </p:spPr>
      </p:sp>
      <p:pic>
        <p:nvPicPr>
          <p:cNvPr id="16" name="Image 0" descr="preencoded.png">    </p:cNvPr>
          <p:cNvPicPr>
            <a:picLocks noChangeAspect="1"/>
          </p:cNvPicPr>
          <p:nvPr/>
        </p:nvPicPr>
        <p:blipFill>
          <a:blip r:embed="rId1"/>
          <a:stretch>
            <a:fillRect/>
          </a:stretch>
        </p:blipFill>
        <p:spPr>
          <a:xfrm>
            <a:off x="5972861" y="2178101"/>
            <a:ext cx="307238" cy="307238"/>
          </a:xfrm>
          <a:prstGeom prst="rect">
            <a:avLst/>
          </a:prstGeom>
        </p:spPr>
      </p:pic>
      <p:sp>
        <p:nvSpPr>
          <p:cNvPr id="17" name="Text 13"/>
          <p:cNvSpPr txBox="1"/>
          <p:nvPr/>
        </p:nvSpPr>
        <p:spPr>
          <a:xfrm>
            <a:off x="6629400" y="1737360"/>
            <a:ext cx="4892040" cy="1188720"/>
          </a:xfrm>
          <a:prstGeom prst="rect">
            <a:avLst/>
          </a:prstGeom>
          <a:noFill/>
          <a:ln/>
        </p:spPr>
        <p:txBody>
          <a:bodyPr wrap="square" lIns="0" tIns="0" rIns="0" bIns="0" rtlCol="0" anchor="ctr"/>
          <a:lstStyle/>
          <a:p>
            <a:pPr indent="0" marL="0">
              <a:spcAft>
                <a:spcPts val="300"/>
              </a:spcAft>
              <a:buNone/>
            </a:pPr>
            <a:r>
              <a:rPr lang="en-US" sz="1700" b="1" dirty="0">
                <a:solidFill>
                  <a:srgbClr val="333B4F"/>
                </a:solidFill>
                <a:latin typeface="Cambria" pitchFamily="34" charset="0"/>
                <a:ea typeface="Cambria" pitchFamily="34" charset="-122"/>
                <a:cs typeface="Cambria" pitchFamily="34" charset="-120"/>
              </a:rPr>
              <a:t>Even or odd?</a:t>
            </a:r>
            <a:endParaRPr lang="en-US" sz="1400" dirty="0"/>
          </a:p>
          <a:p>
            <a:pPr indent="0" marL="0">
              <a:spcAft>
                <a:spcPts val="300"/>
              </a:spcAft>
              <a:buNone/>
            </a:pPr>
            <a:r>
              <a:rPr lang="en-US" sz="1400" dirty="0">
                <a:solidFill>
                  <a:srgbClr val="333B4F"/>
                </a:solidFill>
                <a:latin typeface="Calibri" pitchFamily="34" charset="0"/>
                <a:ea typeface="Calibri" pitchFamily="34" charset="-122"/>
                <a:cs typeface="Calibri" pitchFamily="34" charset="-120"/>
              </a:rPr>
              <a:t>n % 2 == 0 → even.  n % 2 is 0 or 1 (or −1 for negative n!).</a:t>
            </a:r>
            <a:endParaRPr lang="en-US" sz="1400" dirty="0"/>
          </a:p>
        </p:txBody>
      </p:sp>
      <p:sp>
        <p:nvSpPr>
          <p:cNvPr id="18" name="Shape 14"/>
          <p:cNvSpPr/>
          <p:nvPr/>
        </p:nvSpPr>
        <p:spPr>
          <a:xfrm>
            <a:off x="5623560" y="3154680"/>
            <a:ext cx="6035040" cy="1371600"/>
          </a:xfrm>
          <a:prstGeom prst="roundRect">
            <a:avLst>
              <a:gd name="adj" fmla="val 8000"/>
            </a:avLst>
          </a:prstGeom>
          <a:solidFill>
            <a:srgbClr val="EEF1F6"/>
          </a:solidFill>
          <a:ln w="12700">
            <a:solidFill>
              <a:srgbClr val="EEF1F6"/>
            </a:solidFill>
            <a:prstDash val="solid"/>
          </a:ln>
        </p:spPr>
      </p:sp>
      <p:sp>
        <p:nvSpPr>
          <p:cNvPr id="19" name="Shape 15"/>
          <p:cNvSpPr/>
          <p:nvPr/>
        </p:nvSpPr>
        <p:spPr>
          <a:xfrm>
            <a:off x="5806440" y="3520440"/>
            <a:ext cx="640080" cy="640080"/>
          </a:xfrm>
          <a:prstGeom prst="ellipse">
            <a:avLst/>
          </a:prstGeom>
          <a:solidFill>
            <a:srgbClr val="14213D"/>
          </a:solidFill>
          <a:ln w="12700">
            <a:solidFill>
              <a:srgbClr val="14213D"/>
            </a:solidFill>
            <a:prstDash val="solid"/>
          </a:ln>
        </p:spPr>
      </p:sp>
      <p:pic>
        <p:nvPicPr>
          <p:cNvPr id="20" name="Image 1" descr="preencoded.png">    </p:cNvPr>
          <p:cNvPicPr>
            <a:picLocks noChangeAspect="1"/>
          </p:cNvPicPr>
          <p:nvPr/>
        </p:nvPicPr>
        <p:blipFill>
          <a:blip r:embed="rId2"/>
          <a:stretch>
            <a:fillRect/>
          </a:stretch>
        </p:blipFill>
        <p:spPr>
          <a:xfrm>
            <a:off x="5972861" y="3686861"/>
            <a:ext cx="307238" cy="307238"/>
          </a:xfrm>
          <a:prstGeom prst="rect">
            <a:avLst/>
          </a:prstGeom>
        </p:spPr>
      </p:pic>
      <p:sp>
        <p:nvSpPr>
          <p:cNvPr id="21" name="Text 16"/>
          <p:cNvSpPr txBox="1"/>
          <p:nvPr/>
        </p:nvSpPr>
        <p:spPr>
          <a:xfrm>
            <a:off x="6629400" y="3246120"/>
            <a:ext cx="4892040" cy="1188720"/>
          </a:xfrm>
          <a:prstGeom prst="rect">
            <a:avLst/>
          </a:prstGeom>
          <a:noFill/>
          <a:ln/>
        </p:spPr>
        <p:txBody>
          <a:bodyPr wrap="square" lIns="0" tIns="0" rIns="0" bIns="0" rtlCol="0" anchor="ctr"/>
          <a:lstStyle/>
          <a:p>
            <a:pPr indent="0" marL="0">
              <a:spcAft>
                <a:spcPts val="300"/>
              </a:spcAft>
              <a:buNone/>
            </a:pPr>
            <a:r>
              <a:rPr lang="en-US" sz="1700" b="1" dirty="0">
                <a:solidFill>
                  <a:srgbClr val="333B4F"/>
                </a:solidFill>
                <a:latin typeface="Cambria" pitchFamily="34" charset="0"/>
                <a:ea typeface="Cambria" pitchFamily="34" charset="-122"/>
                <a:cs typeface="Cambria" pitchFamily="34" charset="-120"/>
              </a:rPr>
              <a:t>Digits</a:t>
            </a:r>
            <a:endParaRPr lang="en-US" sz="1400" dirty="0"/>
          </a:p>
          <a:p>
            <a:pPr indent="0" marL="0">
              <a:spcAft>
                <a:spcPts val="300"/>
              </a:spcAft>
              <a:buNone/>
            </a:pPr>
            <a:r>
              <a:rPr lang="en-US" sz="1400" dirty="0">
                <a:solidFill>
                  <a:srgbClr val="333B4F"/>
                </a:solidFill>
                <a:latin typeface="Calibri" pitchFamily="34" charset="0"/>
                <a:ea typeface="Calibri" pitchFamily="34" charset="-122"/>
                <a:cs typeface="Calibri" pitchFamily="34" charset="-120"/>
              </a:rPr>
              <a:t>n % 10 → last digit;  n / 10 → drop the last digit.  472 → 2 and 47.</a:t>
            </a:r>
            <a:endParaRPr lang="en-US" sz="1400" dirty="0"/>
          </a:p>
        </p:txBody>
      </p:sp>
      <p:sp>
        <p:nvSpPr>
          <p:cNvPr id="22" name="Shape 17"/>
          <p:cNvSpPr/>
          <p:nvPr/>
        </p:nvSpPr>
        <p:spPr>
          <a:xfrm>
            <a:off x="5623560" y="4663440"/>
            <a:ext cx="6035040" cy="1371600"/>
          </a:xfrm>
          <a:prstGeom prst="roundRect">
            <a:avLst>
              <a:gd name="adj" fmla="val 8000"/>
            </a:avLst>
          </a:prstGeom>
          <a:solidFill>
            <a:srgbClr val="EEF1F6"/>
          </a:solidFill>
          <a:ln w="12700">
            <a:solidFill>
              <a:srgbClr val="EEF1F6"/>
            </a:solidFill>
            <a:prstDash val="solid"/>
          </a:ln>
        </p:spPr>
      </p:sp>
      <p:sp>
        <p:nvSpPr>
          <p:cNvPr id="23" name="Shape 18"/>
          <p:cNvSpPr/>
          <p:nvPr/>
        </p:nvSpPr>
        <p:spPr>
          <a:xfrm>
            <a:off x="5806440" y="5029200"/>
            <a:ext cx="640080" cy="640080"/>
          </a:xfrm>
          <a:prstGeom prst="ellipse">
            <a:avLst/>
          </a:prstGeom>
          <a:solidFill>
            <a:srgbClr val="14213D"/>
          </a:solidFill>
          <a:ln w="12700">
            <a:solidFill>
              <a:srgbClr val="14213D"/>
            </a:solidFill>
            <a:prstDash val="solid"/>
          </a:ln>
        </p:spPr>
      </p:sp>
      <p:pic>
        <p:nvPicPr>
          <p:cNvPr id="24" name="Image 2" descr="preencoded.png">    </p:cNvPr>
          <p:cNvPicPr>
            <a:picLocks noChangeAspect="1"/>
          </p:cNvPicPr>
          <p:nvPr/>
        </p:nvPicPr>
        <p:blipFill>
          <a:blip r:embed="rId3"/>
          <a:stretch>
            <a:fillRect/>
          </a:stretch>
        </p:blipFill>
        <p:spPr>
          <a:xfrm>
            <a:off x="5972861" y="5195621"/>
            <a:ext cx="307238" cy="307238"/>
          </a:xfrm>
          <a:prstGeom prst="rect">
            <a:avLst/>
          </a:prstGeom>
        </p:spPr>
      </p:pic>
      <p:sp>
        <p:nvSpPr>
          <p:cNvPr id="25" name="Text 19"/>
          <p:cNvSpPr txBox="1"/>
          <p:nvPr/>
        </p:nvSpPr>
        <p:spPr>
          <a:xfrm>
            <a:off x="6629400" y="4754880"/>
            <a:ext cx="4892040" cy="1188720"/>
          </a:xfrm>
          <a:prstGeom prst="rect">
            <a:avLst/>
          </a:prstGeom>
          <a:noFill/>
          <a:ln/>
        </p:spPr>
        <p:txBody>
          <a:bodyPr wrap="square" lIns="0" tIns="0" rIns="0" bIns="0" rtlCol="0" anchor="ctr"/>
          <a:lstStyle/>
          <a:p>
            <a:pPr indent="0" marL="0">
              <a:spcAft>
                <a:spcPts val="300"/>
              </a:spcAft>
              <a:buNone/>
            </a:pPr>
            <a:r>
              <a:rPr lang="en-US" sz="1700" b="1" dirty="0">
                <a:solidFill>
                  <a:srgbClr val="333B4F"/>
                </a:solidFill>
                <a:latin typeface="Cambria" pitchFamily="34" charset="0"/>
                <a:ea typeface="Cambria" pitchFamily="34" charset="-122"/>
                <a:cs typeface="Cambria" pitchFamily="34" charset="-120"/>
              </a:rPr>
              <a:t>Wrap-around</a:t>
            </a:r>
            <a:endParaRPr lang="en-US" sz="1400" dirty="0"/>
          </a:p>
          <a:p>
            <a:pPr indent="0" marL="0">
              <a:spcAft>
                <a:spcPts val="300"/>
              </a:spcAft>
              <a:buNone/>
            </a:pPr>
            <a:r>
              <a:rPr lang="en-US" sz="1400" dirty="0">
                <a:solidFill>
                  <a:srgbClr val="333B4F"/>
                </a:solidFill>
                <a:latin typeface="Calibri" pitchFamily="34" charset="0"/>
                <a:ea typeface="Calibri" pitchFamily="34" charset="-122"/>
                <a:cs typeface="Calibri" pitchFamily="34" charset="-120"/>
              </a:rPr>
              <a:t>(hour + 5) % 24 → the hour 5 hours later: (22 + 5) % 24 = 3.</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ARITHMETIC · REMAINDER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 with negative numbers: the sign follows the dividend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400800" cy="914400"/>
        </p:xfrm>
        <a:graphic>
          <a:graphicData uri="http://schemas.openxmlformats.org/drawingml/2006/table">
            <a:tbl>
              <a:tblPr/>
              <a:tblGrid>
                <a:gridCol w="822960"/>
                <a:gridCol w="822960"/>
                <a:gridCol w="1005840"/>
                <a:gridCol w="1005840"/>
                <a:gridCol w="2743200"/>
              </a:tblGrid>
              <a:tr h="47548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 / b</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 % b</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check: (a/b)*b + a%b</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2*3 + 1 = 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(-2)*3 + (-1) = -7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(-2)*(-3) + 1 = 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2*(-3) + (-1) = -7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7223760" y="1645920"/>
            <a:ext cx="4434840" cy="2377440"/>
          </a:xfrm>
          <a:prstGeom prst="roundRect">
            <a:avLst>
              <a:gd name="adj" fmla="val 4615"/>
            </a:avLst>
          </a:prstGeom>
          <a:solidFill>
            <a:srgbClr val="E3ECF8"/>
          </a:solidFill>
          <a:ln w="12700">
            <a:solidFill>
              <a:srgbClr val="E3ECF8"/>
            </a:solidFill>
            <a:prstDash val="solid"/>
          </a:ln>
        </p:spPr>
      </p:sp>
      <p:sp>
        <p:nvSpPr>
          <p:cNvPr id="9" name="Text 5"/>
          <p:cNvSpPr txBox="1"/>
          <p:nvPr/>
        </p:nvSpPr>
        <p:spPr>
          <a:xfrm>
            <a:off x="7452360" y="1783080"/>
            <a:ext cx="4023360" cy="2103120"/>
          </a:xfrm>
          <a:prstGeom prst="rect">
            <a:avLst/>
          </a:prstGeom>
          <a:noFill/>
          <a:ln/>
        </p:spPr>
        <p:txBody>
          <a:bodyPr wrap="square" lIns="0" tIns="0" rIns="0" bIns="0" rtlCol="0" anchor="ctr"/>
          <a:lstStyle/>
          <a:p>
            <a:pPr indent="0" marL="0">
              <a:spcAft>
                <a:spcPts val="600"/>
              </a:spcAft>
              <a:buNone/>
            </a:pPr>
            <a:r>
              <a:rPr lang="en-US" sz="1700" b="1" dirty="0">
                <a:solidFill>
                  <a:srgbClr val="2F6FB3"/>
                </a:solidFill>
                <a:latin typeface="Calibri" pitchFamily="34" charset="0"/>
                <a:ea typeface="Calibri" pitchFamily="34" charset="-122"/>
                <a:cs typeface="Calibri" pitchFamily="34" charset="-120"/>
              </a:rPr>
              <a:t>Mathematics:</a:t>
            </a:r>
            <a:endParaRPr lang="en-US" sz="1700" dirty="0"/>
          </a:p>
          <a:p>
            <a:pPr indent="0" marL="0">
              <a:spcAft>
                <a:spcPts val="600"/>
              </a:spcAft>
              <a:buNone/>
            </a:pPr>
            <a:r>
              <a:rPr lang="en-US" sz="1700" dirty="0">
                <a:solidFill>
                  <a:srgbClr val="333B4F"/>
                </a:solidFill>
                <a:latin typeface="Calibri" pitchFamily="34" charset="0"/>
                <a:ea typeface="Calibri" pitchFamily="34" charset="-122"/>
                <a:cs typeface="Calibri" pitchFamily="34" charset="-120"/>
              </a:rPr>
              <a:t>−7 mod 3 = 2   (always 0 … m−1)</a:t>
            </a:r>
            <a:endParaRPr lang="en-US" sz="1700" dirty="0"/>
          </a:p>
          <a:p>
            <a:pPr indent="0" marL="0">
              <a:spcAft>
                <a:spcPts val="600"/>
              </a:spcAft>
              <a:buNone/>
            </a:pPr>
            <a:r>
              <a:rPr lang="en-US" sz="1700" b="1" dirty="0">
                <a:solidFill>
                  <a:srgbClr val="C8453B"/>
                </a:solidFill>
                <a:latin typeface="Calibri" pitchFamily="34" charset="0"/>
                <a:ea typeface="Calibri" pitchFamily="34" charset="-122"/>
                <a:cs typeface="Calibri" pitchFamily="34" charset="-120"/>
              </a:rPr>
              <a:t>C#:</a:t>
            </a:r>
            <a:endParaRPr lang="en-US" sz="1700" dirty="0"/>
          </a:p>
          <a:p>
            <a:pPr indent="0" marL="0">
              <a:spcAft>
                <a:spcPts val="600"/>
              </a:spcAft>
              <a:buNone/>
            </a:pPr>
            <a:r>
              <a:rPr lang="en-US" sz="1700" dirty="0">
                <a:solidFill>
                  <a:srgbClr val="333B4F"/>
                </a:solidFill>
                <a:latin typeface="Calibri" pitchFamily="34" charset="0"/>
                <a:ea typeface="Calibri" pitchFamily="34" charset="-122"/>
                <a:cs typeface="Calibri" pitchFamily="34" charset="-120"/>
              </a:rPr>
              <a:t>-7 % 3 = -1   (sign of the dividend)</a:t>
            </a:r>
            <a:endParaRPr lang="en-US" sz="1700" dirty="0"/>
          </a:p>
        </p:txBody>
      </p:sp>
      <p:sp>
        <p:nvSpPr>
          <p:cNvPr id="10" name="Shape 6"/>
          <p:cNvSpPr/>
          <p:nvPr/>
        </p:nvSpPr>
        <p:spPr>
          <a:xfrm>
            <a:off x="548640" y="4251960"/>
            <a:ext cx="6400800" cy="1783080"/>
          </a:xfrm>
          <a:prstGeom prst="roundRect">
            <a:avLst>
              <a:gd name="adj" fmla="val 5128"/>
            </a:avLst>
          </a:prstGeom>
          <a:solidFill>
            <a:srgbClr val="0F1729"/>
          </a:solidFill>
          <a:ln w="12700">
            <a:solidFill>
              <a:srgbClr val="0F1729"/>
            </a:solidFill>
            <a:prstDash val="solid"/>
          </a:ln>
        </p:spPr>
      </p:sp>
      <p:sp>
        <p:nvSpPr>
          <p:cNvPr id="11" name="Text 7"/>
          <p:cNvSpPr txBox="1"/>
          <p:nvPr/>
        </p:nvSpPr>
        <p:spPr>
          <a:xfrm>
            <a:off x="777240" y="436168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The fix</a:t>
            </a:r>
            <a:endParaRPr lang="en-US" sz="1100" dirty="0"/>
          </a:p>
        </p:txBody>
      </p:sp>
      <p:sp>
        <p:nvSpPr>
          <p:cNvPr id="12" name="Text 8"/>
          <p:cNvSpPr txBox="1"/>
          <p:nvPr/>
        </p:nvSpPr>
        <p:spPr>
          <a:xfrm>
            <a:off x="777240" y="4663440"/>
            <a:ext cx="5943600" cy="1261872"/>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safe modulo: result is always 0 .. m-1</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r = ((x % m) + m) % m;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(-1 + 3) % 3 = 2</a:t>
            </a:r>
            <a:endParaRPr lang="en-US" sz="1400" dirty="0"/>
          </a:p>
        </p:txBody>
      </p:sp>
      <p:sp>
        <p:nvSpPr>
          <p:cNvPr id="13" name="Shape 9"/>
          <p:cNvSpPr/>
          <p:nvPr/>
        </p:nvSpPr>
        <p:spPr>
          <a:xfrm>
            <a:off x="7223760" y="4251960"/>
            <a:ext cx="4434840" cy="1783080"/>
          </a:xfrm>
          <a:prstGeom prst="roundRect">
            <a:avLst>
              <a:gd name="adj" fmla="val 6154"/>
            </a:avLst>
          </a:prstGeom>
          <a:solidFill>
            <a:srgbClr val="FFF6E3"/>
          </a:solidFill>
          <a:ln w="12700">
            <a:solidFill>
              <a:srgbClr val="FFF6E3"/>
            </a:solidFill>
            <a:prstDash val="solid"/>
          </a:ln>
        </p:spPr>
      </p:sp>
      <p:pic>
        <p:nvPicPr>
          <p:cNvPr id="14" name="Image 0" descr="preencoded.png">    </p:cNvPr>
          <p:cNvPicPr>
            <a:picLocks noChangeAspect="1"/>
          </p:cNvPicPr>
          <p:nvPr/>
        </p:nvPicPr>
        <p:blipFill>
          <a:blip r:embed="rId1"/>
          <a:stretch>
            <a:fillRect/>
          </a:stretch>
        </p:blipFill>
        <p:spPr>
          <a:xfrm>
            <a:off x="7498080" y="4869180"/>
            <a:ext cx="548640" cy="548640"/>
          </a:xfrm>
          <a:prstGeom prst="rect">
            <a:avLst/>
          </a:prstGeom>
        </p:spPr>
      </p:pic>
      <p:sp>
        <p:nvSpPr>
          <p:cNvPr id="15" name="Text 10"/>
          <p:cNvSpPr txBox="1"/>
          <p:nvPr/>
        </p:nvSpPr>
        <p:spPr>
          <a:xfrm>
            <a:off x="8321040" y="4325112"/>
            <a:ext cx="3063240" cy="16367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Used today in: </a:t>
            </a:r>
            <a:pPr indent="0" marL="0">
              <a:buNone/>
            </a:pPr>
            <a:r>
              <a:rPr lang="en-US" sz="1400" dirty="0">
                <a:solidFill>
                  <a:srgbClr val="333B4F"/>
                </a:solidFill>
                <a:latin typeface="Calibri" pitchFamily="34" charset="0"/>
                <a:ea typeface="Calibri" pitchFamily="34" charset="-122"/>
                <a:cs typeface="Calibri" pitchFamily="34" charset="-120"/>
              </a:rPr>
              <a:t>clock arithmetic (going back in time) and the T.C. Kimlik check digit d10, where 7·odd − even can be negative.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ARITHMETIC · DIVISION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Division by zero: int crashes, double does not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45920"/>
            <a:ext cx="5440680" cy="4389120"/>
          </a:xfrm>
          <a:prstGeom prst="roundRect">
            <a:avLst>
              <a:gd name="adj" fmla="val 2500"/>
            </a:avLst>
          </a:prstGeom>
          <a:solidFill>
            <a:srgbClr val="FBE9E7"/>
          </a:solidFill>
          <a:ln w="12700">
            <a:solidFill>
              <a:srgbClr val="FBE9E7"/>
            </a:solidFill>
            <a:prstDash val="solid"/>
          </a:ln>
        </p:spPr>
      </p:sp>
      <p:sp>
        <p:nvSpPr>
          <p:cNvPr id="8" name="Text 5"/>
          <p:cNvSpPr txBox="1"/>
          <p:nvPr/>
        </p:nvSpPr>
        <p:spPr>
          <a:xfrm>
            <a:off x="777240" y="1783080"/>
            <a:ext cx="5029200" cy="411480"/>
          </a:xfrm>
          <a:prstGeom prst="rect">
            <a:avLst/>
          </a:prstGeom>
          <a:noFill/>
          <a:ln/>
        </p:spPr>
        <p:txBody>
          <a:bodyPr wrap="square" lIns="0" tIns="0" rIns="0" bIns="0" rtlCol="0" anchor="ctr"/>
          <a:lstStyle/>
          <a:p>
            <a:pPr indent="0" marL="0">
              <a:buNone/>
            </a:pPr>
            <a:r>
              <a:rPr lang="en-US" sz="1800" b="1" dirty="0">
                <a:solidFill>
                  <a:srgbClr val="C8453B"/>
                </a:solidFill>
                <a:latin typeface="Calibri" pitchFamily="34" charset="0"/>
                <a:ea typeface="Calibri" pitchFamily="34" charset="-122"/>
                <a:cs typeface="Calibri" pitchFamily="34" charset="-120"/>
              </a:rPr>
              <a:t>int</a:t>
            </a:r>
            <a:pPr indent="0" marL="0">
              <a:buNone/>
            </a:pPr>
            <a:r>
              <a:rPr lang="en-US" sz="1800" dirty="0">
                <a:solidFill>
                  <a:srgbClr val="333B4F"/>
                </a:solidFill>
                <a:latin typeface="Calibri" pitchFamily="34" charset="0"/>
                <a:ea typeface="Calibri" pitchFamily="34" charset="-122"/>
                <a:cs typeface="Calibri" pitchFamily="34" charset="-120"/>
              </a:rPr>
              <a:t>  → exception (program stops)</a:t>
            </a:r>
            <a:endParaRPr lang="en-US" sz="1800" dirty="0"/>
          </a:p>
        </p:txBody>
      </p:sp>
      <p:sp>
        <p:nvSpPr>
          <p:cNvPr id="9" name="Shape 6"/>
          <p:cNvSpPr/>
          <p:nvPr/>
        </p:nvSpPr>
        <p:spPr>
          <a:xfrm>
            <a:off x="777240" y="2286000"/>
            <a:ext cx="4983480" cy="1143000"/>
          </a:xfrm>
          <a:prstGeom prst="roundRect">
            <a:avLst>
              <a:gd name="adj" fmla="val 8000"/>
            </a:avLst>
          </a:prstGeom>
          <a:solidFill>
            <a:srgbClr val="0F1729"/>
          </a:solidFill>
          <a:ln w="12700">
            <a:solidFill>
              <a:srgbClr val="0F1729"/>
            </a:solidFill>
            <a:prstDash val="solid"/>
          </a:ln>
        </p:spPr>
      </p:sp>
      <p:sp>
        <p:nvSpPr>
          <p:cNvPr id="10" name="Text 7"/>
          <p:cNvSpPr txBox="1"/>
          <p:nvPr/>
        </p:nvSpPr>
        <p:spPr>
          <a:xfrm>
            <a:off x="1005840" y="2450592"/>
            <a:ext cx="4526280" cy="86868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 n);</a:t>
            </a:r>
            <a:endParaRPr lang="en-US" sz="1400" dirty="0"/>
          </a:p>
        </p:txBody>
      </p:sp>
      <p:sp>
        <p:nvSpPr>
          <p:cNvPr id="11" name="Shape 8"/>
          <p:cNvSpPr/>
          <p:nvPr/>
        </p:nvSpPr>
        <p:spPr>
          <a:xfrm>
            <a:off x="777240" y="3566160"/>
            <a:ext cx="4983480" cy="1234440"/>
          </a:xfrm>
          <a:prstGeom prst="roundRect">
            <a:avLst>
              <a:gd name="adj" fmla="val 7407"/>
            </a:avLst>
          </a:prstGeom>
          <a:solidFill>
            <a:srgbClr val="0B0F19"/>
          </a:solidFill>
          <a:ln w="12700">
            <a:solidFill>
              <a:srgbClr val="2A3654"/>
            </a:solidFill>
            <a:prstDash val="solid"/>
          </a:ln>
        </p:spPr>
      </p:sp>
      <p:sp>
        <p:nvSpPr>
          <p:cNvPr id="12" name="Shape 9"/>
          <p:cNvSpPr/>
          <p:nvPr/>
        </p:nvSpPr>
        <p:spPr>
          <a:xfrm>
            <a:off x="960120" y="3694176"/>
            <a:ext cx="118872" cy="118872"/>
          </a:xfrm>
          <a:prstGeom prst="ellipse">
            <a:avLst/>
          </a:prstGeom>
          <a:solidFill>
            <a:srgbClr val="FF5F57"/>
          </a:solidFill>
          <a:ln w="12700">
            <a:solidFill>
              <a:srgbClr val="FF5F57"/>
            </a:solidFill>
            <a:prstDash val="solid"/>
          </a:ln>
        </p:spPr>
      </p:sp>
      <p:sp>
        <p:nvSpPr>
          <p:cNvPr id="13" name="Shape 10"/>
          <p:cNvSpPr/>
          <p:nvPr/>
        </p:nvSpPr>
        <p:spPr>
          <a:xfrm>
            <a:off x="1188720" y="3694176"/>
            <a:ext cx="118872" cy="118872"/>
          </a:xfrm>
          <a:prstGeom prst="ellipse">
            <a:avLst/>
          </a:prstGeom>
          <a:solidFill>
            <a:srgbClr val="FEBC2E"/>
          </a:solidFill>
          <a:ln w="12700">
            <a:solidFill>
              <a:srgbClr val="FEBC2E"/>
            </a:solidFill>
            <a:prstDash val="solid"/>
          </a:ln>
        </p:spPr>
      </p:sp>
      <p:sp>
        <p:nvSpPr>
          <p:cNvPr id="14" name="Shape 11"/>
          <p:cNvSpPr/>
          <p:nvPr/>
        </p:nvSpPr>
        <p:spPr>
          <a:xfrm>
            <a:off x="1417320" y="3694176"/>
            <a:ext cx="118872" cy="118872"/>
          </a:xfrm>
          <a:prstGeom prst="ellipse">
            <a:avLst/>
          </a:prstGeom>
          <a:solidFill>
            <a:srgbClr val="28C840"/>
          </a:solidFill>
          <a:ln w="12700">
            <a:solidFill>
              <a:srgbClr val="28C840"/>
            </a:solidFill>
            <a:prstDash val="solid"/>
          </a:ln>
        </p:spPr>
      </p:sp>
      <p:sp>
        <p:nvSpPr>
          <p:cNvPr id="15" name="Text 12"/>
          <p:cNvSpPr txBox="1"/>
          <p:nvPr/>
        </p:nvSpPr>
        <p:spPr>
          <a:xfrm>
            <a:off x="1691640" y="3639312"/>
            <a:ext cx="3886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6" name="Text 13"/>
          <p:cNvSpPr txBox="1"/>
          <p:nvPr/>
        </p:nvSpPr>
        <p:spPr>
          <a:xfrm>
            <a:off x="1005840" y="3950208"/>
            <a:ext cx="4526280" cy="7315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Unhandled exception.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System.DivideByZeroException: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Attempted to divide by zero.</a:t>
            </a:r>
            <a:endParaRPr lang="en-US" sz="1200" dirty="0"/>
          </a:p>
        </p:txBody>
      </p:sp>
      <p:sp>
        <p:nvSpPr>
          <p:cNvPr id="17" name="Text 14"/>
          <p:cNvSpPr txBox="1"/>
          <p:nvPr/>
        </p:nvSpPr>
        <p:spPr>
          <a:xfrm>
            <a:off x="777240" y="4937760"/>
            <a:ext cx="4983480" cy="914400"/>
          </a:xfrm>
          <a:prstGeom prst="rect">
            <a:avLst/>
          </a:prstGeom>
          <a:noFill/>
          <a:ln/>
        </p:spPr>
        <p:txBody>
          <a:bodyPr wrap="square" lIns="0" tIns="0" rIns="0" bIns="0" rtlCol="0" anchor="ctr"/>
          <a:lstStyle/>
          <a:p>
            <a:pPr indent="0" marL="0">
              <a:buNone/>
            </a:pPr>
            <a:r>
              <a:rPr lang="en-US" sz="1400" dirty="0">
                <a:solidFill>
                  <a:srgbClr val="333B4F"/>
                </a:solidFill>
                <a:latin typeface="Courier New" pitchFamily="34" charset="0"/>
                <a:ea typeface="Courier New" pitchFamily="34" charset="-122"/>
                <a:cs typeface="Courier New" pitchFamily="34" charset="-120"/>
              </a:rPr>
              <a:t>10 / 0</a:t>
            </a:r>
            <a:pPr indent="0" marL="0">
              <a:buNone/>
            </a:pPr>
            <a:r>
              <a:rPr lang="en-US" sz="1400" dirty="0">
                <a:solidFill>
                  <a:srgbClr val="333B4F"/>
                </a:solidFill>
                <a:latin typeface="Calibri" pitchFamily="34" charset="0"/>
                <a:ea typeface="Calibri" pitchFamily="34" charset="-122"/>
                <a:cs typeface="Calibri" pitchFamily="34" charset="-120"/>
              </a:rPr>
              <a:t> (literal) → compile error CS0020: "Division by constant zero".</a:t>
            </a:r>
            <a:endParaRPr lang="en-US" sz="1400" dirty="0"/>
          </a:p>
        </p:txBody>
      </p:sp>
      <p:sp>
        <p:nvSpPr>
          <p:cNvPr id="18" name="Shape 15"/>
          <p:cNvSpPr/>
          <p:nvPr/>
        </p:nvSpPr>
        <p:spPr>
          <a:xfrm>
            <a:off x="6217920" y="1645920"/>
            <a:ext cx="5440680" cy="4389120"/>
          </a:xfrm>
          <a:prstGeom prst="roundRect">
            <a:avLst>
              <a:gd name="adj" fmla="val 2500"/>
            </a:avLst>
          </a:prstGeom>
          <a:solidFill>
            <a:srgbClr val="E3ECF8"/>
          </a:solidFill>
          <a:ln w="12700">
            <a:solidFill>
              <a:srgbClr val="E3ECF8"/>
            </a:solidFill>
            <a:prstDash val="solid"/>
          </a:ln>
        </p:spPr>
      </p:sp>
      <p:sp>
        <p:nvSpPr>
          <p:cNvPr id="19" name="Text 16"/>
          <p:cNvSpPr txBox="1"/>
          <p:nvPr/>
        </p:nvSpPr>
        <p:spPr>
          <a:xfrm>
            <a:off x="6446520" y="1783080"/>
            <a:ext cx="5029200" cy="411480"/>
          </a:xfrm>
          <a:prstGeom prst="rect">
            <a:avLst/>
          </a:prstGeom>
          <a:noFill/>
          <a:ln/>
        </p:spPr>
        <p:txBody>
          <a:bodyPr wrap="square" lIns="0" tIns="0" rIns="0" bIns="0" rtlCol="0" anchor="ctr"/>
          <a:lstStyle/>
          <a:p>
            <a:pPr indent="0" marL="0">
              <a:buNone/>
            </a:pPr>
            <a:r>
              <a:rPr lang="en-US" sz="1800" b="1" dirty="0">
                <a:solidFill>
                  <a:srgbClr val="2F6FB3"/>
                </a:solidFill>
                <a:latin typeface="Calibri" pitchFamily="34" charset="0"/>
                <a:ea typeface="Calibri" pitchFamily="34" charset="-122"/>
                <a:cs typeface="Calibri" pitchFamily="34" charset="-120"/>
              </a:rPr>
              <a:t>double</a:t>
            </a:r>
            <a:pPr indent="0" marL="0">
              <a:buNone/>
            </a:pPr>
            <a:r>
              <a:rPr lang="en-US" sz="1800" dirty="0">
                <a:solidFill>
                  <a:srgbClr val="333B4F"/>
                </a:solidFill>
                <a:latin typeface="Calibri" pitchFamily="34" charset="0"/>
                <a:ea typeface="Calibri" pitchFamily="34" charset="-122"/>
                <a:cs typeface="Calibri" pitchFamily="34" charset="-120"/>
              </a:rPr>
              <a:t>  → special values (no crash)</a:t>
            </a:r>
            <a:endParaRPr lang="en-US" sz="1800" dirty="0"/>
          </a:p>
        </p:txBody>
      </p:sp>
      <p:sp>
        <p:nvSpPr>
          <p:cNvPr id="20" name="Shape 17"/>
          <p:cNvSpPr/>
          <p:nvPr/>
        </p:nvSpPr>
        <p:spPr>
          <a:xfrm>
            <a:off x="6446520" y="2286000"/>
            <a:ext cx="4983480" cy="1417320"/>
          </a:xfrm>
          <a:prstGeom prst="roundRect">
            <a:avLst>
              <a:gd name="adj" fmla="val 6452"/>
            </a:avLst>
          </a:prstGeom>
          <a:solidFill>
            <a:srgbClr val="0F1729"/>
          </a:solidFill>
          <a:ln w="12700">
            <a:solidFill>
              <a:srgbClr val="0F1729"/>
            </a:solidFill>
            <a:prstDash val="solid"/>
          </a:ln>
        </p:spPr>
      </p:sp>
      <p:sp>
        <p:nvSpPr>
          <p:cNvPr id="21" name="Text 18"/>
          <p:cNvSpPr txBox="1"/>
          <p:nvPr/>
        </p:nvSpPr>
        <p:spPr>
          <a:xfrm>
            <a:off x="6675120" y="2450592"/>
            <a:ext cx="4526280" cy="114300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zero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1.0 / 0.0 = {1.0 / zero}"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$"-1.0 / 0.0 = {-1.0 / zero}"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0.0 / 0.0 = {0.0 / zero}"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2" name="Shape 19"/>
          <p:cNvSpPr/>
          <p:nvPr/>
        </p:nvSpPr>
        <p:spPr>
          <a:xfrm>
            <a:off x="6446520" y="3840480"/>
            <a:ext cx="4983480" cy="1234440"/>
          </a:xfrm>
          <a:prstGeom prst="roundRect">
            <a:avLst>
              <a:gd name="adj" fmla="val 7407"/>
            </a:avLst>
          </a:prstGeom>
          <a:solidFill>
            <a:srgbClr val="0B0F19"/>
          </a:solidFill>
          <a:ln w="12700">
            <a:solidFill>
              <a:srgbClr val="2A3654"/>
            </a:solidFill>
            <a:prstDash val="solid"/>
          </a:ln>
        </p:spPr>
      </p:sp>
      <p:sp>
        <p:nvSpPr>
          <p:cNvPr id="23" name="Shape 20"/>
          <p:cNvSpPr/>
          <p:nvPr/>
        </p:nvSpPr>
        <p:spPr>
          <a:xfrm>
            <a:off x="6629400" y="3968496"/>
            <a:ext cx="118872" cy="118872"/>
          </a:xfrm>
          <a:prstGeom prst="ellipse">
            <a:avLst/>
          </a:prstGeom>
          <a:solidFill>
            <a:srgbClr val="FF5F57"/>
          </a:solidFill>
          <a:ln w="12700">
            <a:solidFill>
              <a:srgbClr val="FF5F57"/>
            </a:solidFill>
            <a:prstDash val="solid"/>
          </a:ln>
        </p:spPr>
      </p:sp>
      <p:sp>
        <p:nvSpPr>
          <p:cNvPr id="24" name="Shape 21"/>
          <p:cNvSpPr/>
          <p:nvPr/>
        </p:nvSpPr>
        <p:spPr>
          <a:xfrm>
            <a:off x="6858000" y="3968496"/>
            <a:ext cx="118872" cy="118872"/>
          </a:xfrm>
          <a:prstGeom prst="ellipse">
            <a:avLst/>
          </a:prstGeom>
          <a:solidFill>
            <a:srgbClr val="FEBC2E"/>
          </a:solidFill>
          <a:ln w="12700">
            <a:solidFill>
              <a:srgbClr val="FEBC2E"/>
            </a:solidFill>
            <a:prstDash val="solid"/>
          </a:ln>
        </p:spPr>
      </p:sp>
      <p:sp>
        <p:nvSpPr>
          <p:cNvPr id="25" name="Shape 22"/>
          <p:cNvSpPr/>
          <p:nvPr/>
        </p:nvSpPr>
        <p:spPr>
          <a:xfrm>
            <a:off x="7086600" y="3968496"/>
            <a:ext cx="118872" cy="118872"/>
          </a:xfrm>
          <a:prstGeom prst="ellipse">
            <a:avLst/>
          </a:prstGeom>
          <a:solidFill>
            <a:srgbClr val="28C840"/>
          </a:solidFill>
          <a:ln w="12700">
            <a:solidFill>
              <a:srgbClr val="28C840"/>
            </a:solidFill>
            <a:prstDash val="solid"/>
          </a:ln>
        </p:spPr>
      </p:sp>
      <p:sp>
        <p:nvSpPr>
          <p:cNvPr id="26" name="Text 23"/>
          <p:cNvSpPr txBox="1"/>
          <p:nvPr/>
        </p:nvSpPr>
        <p:spPr>
          <a:xfrm>
            <a:off x="7360920" y="3913632"/>
            <a:ext cx="3886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7" name="Text 24"/>
          <p:cNvSpPr txBox="1"/>
          <p:nvPr/>
        </p:nvSpPr>
        <p:spPr>
          <a:xfrm>
            <a:off x="6675120" y="4224528"/>
            <a:ext cx="4526280" cy="7315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1.0 / 0.0 = Infinity</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-1.0 / 0.0 = -Infinity</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0.0 / 0.0 = NaN</a:t>
            </a:r>
            <a:endParaRPr lang="en-US" sz="1300" dirty="0"/>
          </a:p>
        </p:txBody>
      </p:sp>
      <p:sp>
        <p:nvSpPr>
          <p:cNvPr id="28" name="Text 25"/>
          <p:cNvSpPr txBox="1"/>
          <p:nvPr/>
        </p:nvSpPr>
        <p:spPr>
          <a:xfrm>
            <a:off x="6446520" y="5166360"/>
            <a:ext cx="4983480" cy="731520"/>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NaN</a:t>
            </a:r>
            <a:pPr indent="0" marL="0">
              <a:buNone/>
            </a:pPr>
            <a:r>
              <a:rPr lang="en-US" sz="1400" dirty="0">
                <a:solidFill>
                  <a:srgbClr val="333B4F"/>
                </a:solidFill>
                <a:latin typeface="Calibri" pitchFamily="34" charset="0"/>
                <a:ea typeface="Calibri" pitchFamily="34" charset="-122"/>
                <a:cs typeface="Calibri" pitchFamily="34" charset="-120"/>
              </a:rPr>
              <a:t> = "Not a Number". Infinity and NaN spread silently through later calculations.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Arithmetic calculator: all five operators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00200"/>
            <a:ext cx="7818120" cy="3611880"/>
          </a:xfrm>
          <a:prstGeom prst="roundRect">
            <a:avLst>
              <a:gd name="adj" fmla="val 2532"/>
            </a:avLst>
          </a:prstGeom>
          <a:solidFill>
            <a:srgbClr val="0F1729"/>
          </a:solidFill>
          <a:ln w="12700">
            <a:solidFill>
              <a:srgbClr val="0F1729"/>
            </a:solidFill>
            <a:prstDash val="solid"/>
          </a:ln>
        </p:spPr>
      </p:sp>
      <p:sp>
        <p:nvSpPr>
          <p:cNvPr id="8" name="Text 5"/>
          <p:cNvSpPr txBox="1"/>
          <p:nvPr/>
        </p:nvSpPr>
        <p:spPr>
          <a:xfrm>
            <a:off x="777240" y="1709928"/>
            <a:ext cx="7360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code/04_01_ArithmeticCalculator/Program.cs</a:t>
            </a:r>
            <a:endParaRPr lang="en-US" sz="1100" dirty="0"/>
          </a:p>
        </p:txBody>
      </p:sp>
      <p:sp>
        <p:nvSpPr>
          <p:cNvPr id="9" name="Text 6"/>
          <p:cNvSpPr txBox="1"/>
          <p:nvPr/>
        </p:nvSpPr>
        <p:spPr>
          <a:xfrm>
            <a:off x="777240" y="2011680"/>
            <a:ext cx="7360920" cy="30906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"First integer  a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"Second integer b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 {a +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 {a -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 {a *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 {a / b}   (quotient)"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b = {a % b}   (remainder)"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$"(double)a / b = {(double)a / b:F4}"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quotient * divisor + remainder always gives back a</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$"check: {a / b} * {b} + {a % b} = {a / b * b + a % b}"</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5349240"/>
            <a:ext cx="7818120" cy="685800"/>
          </a:xfrm>
          <a:prstGeom prst="roundRect">
            <a:avLst>
              <a:gd name="adj" fmla="val 16000"/>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486400"/>
            <a:ext cx="411480" cy="411480"/>
          </a:xfrm>
          <a:prstGeom prst="rect">
            <a:avLst/>
          </a:prstGeom>
        </p:spPr>
      </p:pic>
      <p:sp>
        <p:nvSpPr>
          <p:cNvPr id="12" name="Text 8"/>
          <p:cNvSpPr txBox="1"/>
          <p:nvPr/>
        </p:nvSpPr>
        <p:spPr>
          <a:xfrm>
            <a:off x="1508760" y="5422392"/>
            <a:ext cx="6583680" cy="5394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b = 0? </a:t>
            </a:r>
            <a:pPr indent="0" marL="0">
              <a:buNone/>
            </a:pPr>
            <a:r>
              <a:rPr lang="en-US" sz="1400" dirty="0">
                <a:solidFill>
                  <a:srgbClr val="333B4F"/>
                </a:solidFill>
                <a:latin typeface="Calibri" pitchFamily="34" charset="0"/>
                <a:ea typeface="Calibri" pitchFamily="34" charset="-122"/>
                <a:cs typeface="Calibri" pitchFamily="34" charset="-120"/>
              </a:rPr>
              <a:t>the program stops at </a:t>
            </a:r>
            <a:pPr indent="0" marL="0">
              <a:buNone/>
            </a:pPr>
            <a:r>
              <a:rPr lang="en-US" sz="1400" dirty="0">
                <a:solidFill>
                  <a:srgbClr val="333B4F"/>
                </a:solidFill>
                <a:latin typeface="Courier New" pitchFamily="34" charset="0"/>
                <a:ea typeface="Courier New" pitchFamily="34" charset="-122"/>
                <a:cs typeface="Courier New" pitchFamily="34" charset="-120"/>
              </a:rPr>
              <a:t>a / b</a:t>
            </a:r>
            <a:pPr indent="0" marL="0">
              <a:buNone/>
            </a:pPr>
            <a:r>
              <a:rPr lang="en-US" sz="1400" dirty="0">
                <a:solidFill>
                  <a:srgbClr val="333B4F"/>
                </a:solidFill>
                <a:latin typeface="Calibri" pitchFamily="34" charset="0"/>
                <a:ea typeface="Calibri" pitchFamily="34" charset="-122"/>
                <a:cs typeface="Calibri" pitchFamily="34" charset="-120"/>
              </a:rPr>
              <a:t> with a DivideByZeroException. Week 5: check first with if.</a:t>
            </a:r>
            <a:endParaRPr lang="en-US" sz="1400" dirty="0"/>
          </a:p>
        </p:txBody>
      </p:sp>
      <p:sp>
        <p:nvSpPr>
          <p:cNvPr id="13" name="Shape 9"/>
          <p:cNvSpPr/>
          <p:nvPr/>
        </p:nvSpPr>
        <p:spPr>
          <a:xfrm>
            <a:off x="8549640" y="1600200"/>
            <a:ext cx="3108960" cy="2514600"/>
          </a:xfrm>
          <a:prstGeom prst="roundRect">
            <a:avLst>
              <a:gd name="adj" fmla="val 3636"/>
            </a:avLst>
          </a:prstGeom>
          <a:solidFill>
            <a:srgbClr val="0B0F19"/>
          </a:solidFill>
          <a:ln w="12700">
            <a:solidFill>
              <a:srgbClr val="2A3654"/>
            </a:solidFill>
            <a:prstDash val="solid"/>
          </a:ln>
        </p:spPr>
      </p:sp>
      <p:sp>
        <p:nvSpPr>
          <p:cNvPr id="14" name="Shape 10"/>
          <p:cNvSpPr/>
          <p:nvPr/>
        </p:nvSpPr>
        <p:spPr>
          <a:xfrm>
            <a:off x="8732520" y="1728216"/>
            <a:ext cx="118872" cy="118872"/>
          </a:xfrm>
          <a:prstGeom prst="ellipse">
            <a:avLst/>
          </a:prstGeom>
          <a:solidFill>
            <a:srgbClr val="FF5F57"/>
          </a:solidFill>
          <a:ln w="12700">
            <a:solidFill>
              <a:srgbClr val="FF5F57"/>
            </a:solidFill>
            <a:prstDash val="solid"/>
          </a:ln>
        </p:spPr>
      </p:sp>
      <p:sp>
        <p:nvSpPr>
          <p:cNvPr id="15" name="Shape 11"/>
          <p:cNvSpPr/>
          <p:nvPr/>
        </p:nvSpPr>
        <p:spPr>
          <a:xfrm>
            <a:off x="8961120" y="1728216"/>
            <a:ext cx="118872" cy="118872"/>
          </a:xfrm>
          <a:prstGeom prst="ellipse">
            <a:avLst/>
          </a:prstGeom>
          <a:solidFill>
            <a:srgbClr val="FEBC2E"/>
          </a:solidFill>
          <a:ln w="12700">
            <a:solidFill>
              <a:srgbClr val="FEBC2E"/>
            </a:solidFill>
            <a:prstDash val="solid"/>
          </a:ln>
        </p:spPr>
      </p:sp>
      <p:sp>
        <p:nvSpPr>
          <p:cNvPr id="16" name="Shape 12"/>
          <p:cNvSpPr/>
          <p:nvPr/>
        </p:nvSpPr>
        <p:spPr>
          <a:xfrm>
            <a:off x="9189720" y="1728216"/>
            <a:ext cx="118872" cy="118872"/>
          </a:xfrm>
          <a:prstGeom prst="ellipse">
            <a:avLst/>
          </a:prstGeom>
          <a:solidFill>
            <a:srgbClr val="28C840"/>
          </a:solidFill>
          <a:ln w="12700">
            <a:solidFill>
              <a:srgbClr val="28C840"/>
            </a:solidFill>
            <a:prstDash val="solid"/>
          </a:ln>
        </p:spPr>
      </p:sp>
      <p:sp>
        <p:nvSpPr>
          <p:cNvPr id="17" name="Text 13"/>
          <p:cNvSpPr txBox="1"/>
          <p:nvPr/>
        </p:nvSpPr>
        <p:spPr>
          <a:xfrm>
            <a:off x="9464040" y="1673352"/>
            <a:ext cx="2011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4"/>
          <p:cNvSpPr txBox="1"/>
          <p:nvPr/>
        </p:nvSpPr>
        <p:spPr>
          <a:xfrm>
            <a:off x="8778240" y="1984248"/>
            <a:ext cx="2651760" cy="20116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First integer  a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Second integer b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b = 22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b = 12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b = 85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b = 3   (quotient)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b = 2   (remainder)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(double)a / b = 3.4000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check: 3 * 5 + 2 = 17</a:t>
            </a:r>
            <a:endParaRPr lang="en-US" sz="1200" dirty="0"/>
          </a:p>
        </p:txBody>
      </p:sp>
      <p:sp>
        <p:nvSpPr>
          <p:cNvPr id="19" name="Shape 15"/>
          <p:cNvSpPr/>
          <p:nvPr/>
        </p:nvSpPr>
        <p:spPr>
          <a:xfrm>
            <a:off x="8549640" y="4251960"/>
            <a:ext cx="3108960" cy="1783080"/>
          </a:xfrm>
          <a:prstGeom prst="roundRect">
            <a:avLst>
              <a:gd name="adj" fmla="val 5128"/>
            </a:avLst>
          </a:prstGeom>
          <a:solidFill>
            <a:srgbClr val="0B0F19"/>
          </a:solidFill>
          <a:ln w="12700">
            <a:solidFill>
              <a:srgbClr val="2A3654"/>
            </a:solidFill>
            <a:prstDash val="solid"/>
          </a:ln>
        </p:spPr>
      </p:sp>
      <p:sp>
        <p:nvSpPr>
          <p:cNvPr id="20" name="Shape 16"/>
          <p:cNvSpPr/>
          <p:nvPr/>
        </p:nvSpPr>
        <p:spPr>
          <a:xfrm>
            <a:off x="8732520" y="4379976"/>
            <a:ext cx="118872" cy="118872"/>
          </a:xfrm>
          <a:prstGeom prst="ellipse">
            <a:avLst/>
          </a:prstGeom>
          <a:solidFill>
            <a:srgbClr val="FF5F57"/>
          </a:solidFill>
          <a:ln w="12700">
            <a:solidFill>
              <a:srgbClr val="FF5F57"/>
            </a:solidFill>
            <a:prstDash val="solid"/>
          </a:ln>
        </p:spPr>
      </p:sp>
      <p:sp>
        <p:nvSpPr>
          <p:cNvPr id="21" name="Shape 17"/>
          <p:cNvSpPr/>
          <p:nvPr/>
        </p:nvSpPr>
        <p:spPr>
          <a:xfrm>
            <a:off x="8961120" y="4379976"/>
            <a:ext cx="118872" cy="118872"/>
          </a:xfrm>
          <a:prstGeom prst="ellipse">
            <a:avLst/>
          </a:prstGeom>
          <a:solidFill>
            <a:srgbClr val="FEBC2E"/>
          </a:solidFill>
          <a:ln w="12700">
            <a:solidFill>
              <a:srgbClr val="FEBC2E"/>
            </a:solidFill>
            <a:prstDash val="solid"/>
          </a:ln>
        </p:spPr>
      </p:sp>
      <p:sp>
        <p:nvSpPr>
          <p:cNvPr id="22" name="Shape 18"/>
          <p:cNvSpPr/>
          <p:nvPr/>
        </p:nvSpPr>
        <p:spPr>
          <a:xfrm>
            <a:off x="9189720" y="4379976"/>
            <a:ext cx="118872" cy="118872"/>
          </a:xfrm>
          <a:prstGeom prst="ellipse">
            <a:avLst/>
          </a:prstGeom>
          <a:solidFill>
            <a:srgbClr val="28C840"/>
          </a:solidFill>
          <a:ln w="12700">
            <a:solidFill>
              <a:srgbClr val="28C840"/>
            </a:solidFill>
            <a:prstDash val="solid"/>
          </a:ln>
        </p:spPr>
      </p:sp>
      <p:sp>
        <p:nvSpPr>
          <p:cNvPr id="23" name="Text 19"/>
          <p:cNvSpPr txBox="1"/>
          <p:nvPr/>
        </p:nvSpPr>
        <p:spPr>
          <a:xfrm>
            <a:off x="9464040" y="4325112"/>
            <a:ext cx="2011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a = -17, b = 5</a:t>
            </a:r>
            <a:endParaRPr lang="en-US" sz="1000" dirty="0"/>
          </a:p>
        </p:txBody>
      </p:sp>
      <p:sp>
        <p:nvSpPr>
          <p:cNvPr id="24" name="Text 20"/>
          <p:cNvSpPr txBox="1"/>
          <p:nvPr/>
        </p:nvSpPr>
        <p:spPr>
          <a:xfrm>
            <a:off x="8778240" y="4636008"/>
            <a:ext cx="2651760" cy="12801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b = -2   (remainder)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(double)a / b = -3.4000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check: -3 * 5 + -2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Digits of a three-digit number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00200"/>
            <a:ext cx="6949440" cy="3063240"/>
          </a:xfrm>
          <a:prstGeom prst="roundRect">
            <a:avLst>
              <a:gd name="adj" fmla="val 2985"/>
            </a:avLst>
          </a:prstGeom>
          <a:solidFill>
            <a:srgbClr val="0F1729"/>
          </a:solidFill>
          <a:ln w="12700">
            <a:solidFill>
              <a:srgbClr val="0F1729"/>
            </a:solidFill>
            <a:prstDash val="solid"/>
          </a:ln>
        </p:spPr>
      </p:sp>
      <p:sp>
        <p:nvSpPr>
          <p:cNvPr id="8" name="Text 5"/>
          <p:cNvSpPr txBox="1"/>
          <p:nvPr/>
        </p:nvSpPr>
        <p:spPr>
          <a:xfrm>
            <a:off x="777240" y="170992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code/04_03_DigitExtraction (excerpt)</a:t>
            </a:r>
            <a:endParaRPr lang="en-US" sz="1100" dirty="0"/>
          </a:p>
        </p:txBody>
      </p:sp>
      <p:sp>
        <p:nvSpPr>
          <p:cNvPr id="9" name="Text 6"/>
          <p:cNvSpPr txBox="1"/>
          <p:nvPr/>
        </p:nvSpPr>
        <p:spPr>
          <a:xfrm>
            <a:off x="777240" y="2011680"/>
            <a:ext cx="6492240" cy="25420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"Enter a three-digit number: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hundreds =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472 / 100 = 4</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tens =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472 / 10 = 47, 47 % 10 = 7</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ones =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472 % 10 = 2</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digitSum = hundreds + tens + ones;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reversed = ones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tens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hundreds;</a:t>
            </a:r>
            <a:endParaRPr lang="en-US" sz="1200" dirty="0"/>
          </a:p>
        </p:txBody>
      </p:sp>
      <p:sp>
        <p:nvSpPr>
          <p:cNvPr id="10" name="Shape 7"/>
          <p:cNvSpPr/>
          <p:nvPr/>
        </p:nvSpPr>
        <p:spPr>
          <a:xfrm>
            <a:off x="7680960" y="1600200"/>
            <a:ext cx="3977640" cy="2331720"/>
          </a:xfrm>
          <a:prstGeom prst="roundRect">
            <a:avLst>
              <a:gd name="adj" fmla="val 3137"/>
            </a:avLst>
          </a:prstGeom>
          <a:solidFill>
            <a:srgbClr val="F4F6FA"/>
          </a:solidFill>
          <a:ln w="9525">
            <a:solidFill>
              <a:srgbClr val="C9D0DD"/>
            </a:solidFill>
            <a:prstDash val="solid"/>
          </a:ln>
        </p:spPr>
      </p:sp>
      <p:sp>
        <p:nvSpPr>
          <p:cNvPr id="11" name="Text 8"/>
          <p:cNvSpPr txBox="1"/>
          <p:nvPr/>
        </p:nvSpPr>
        <p:spPr>
          <a:xfrm>
            <a:off x="7863840" y="1691640"/>
            <a:ext cx="36118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12" name="Text 9"/>
          <p:cNvSpPr txBox="1"/>
          <p:nvPr/>
        </p:nvSpPr>
        <p:spPr>
          <a:xfrm>
            <a:off x="7863840" y="2011680"/>
            <a:ext cx="3611880" cy="1828800"/>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START</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n</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h ← n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div</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100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t ← (n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div</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10)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10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o ← n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10</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h, t, o, h + t + o</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a:t>
            </a:r>
            <a:endParaRPr lang="en-US" sz="1300" dirty="0"/>
          </a:p>
        </p:txBody>
      </p:sp>
      <p:sp>
        <p:nvSpPr>
          <p:cNvPr id="13" name="Shape 10"/>
          <p:cNvSpPr/>
          <p:nvPr/>
        </p:nvSpPr>
        <p:spPr>
          <a:xfrm>
            <a:off x="7680960" y="4069080"/>
            <a:ext cx="3977640" cy="1965960"/>
          </a:xfrm>
          <a:prstGeom prst="roundRect">
            <a:avLst>
              <a:gd name="adj" fmla="val 4651"/>
            </a:avLst>
          </a:prstGeom>
          <a:solidFill>
            <a:srgbClr val="0B0F19"/>
          </a:solidFill>
          <a:ln w="12700">
            <a:solidFill>
              <a:srgbClr val="2A3654"/>
            </a:solidFill>
            <a:prstDash val="solid"/>
          </a:ln>
        </p:spPr>
      </p:sp>
      <p:sp>
        <p:nvSpPr>
          <p:cNvPr id="14" name="Shape 11"/>
          <p:cNvSpPr/>
          <p:nvPr/>
        </p:nvSpPr>
        <p:spPr>
          <a:xfrm>
            <a:off x="7863840" y="4197096"/>
            <a:ext cx="118872" cy="118872"/>
          </a:xfrm>
          <a:prstGeom prst="ellipse">
            <a:avLst/>
          </a:prstGeom>
          <a:solidFill>
            <a:srgbClr val="FF5F57"/>
          </a:solidFill>
          <a:ln w="12700">
            <a:solidFill>
              <a:srgbClr val="FF5F57"/>
            </a:solidFill>
            <a:prstDash val="solid"/>
          </a:ln>
        </p:spPr>
      </p:sp>
      <p:sp>
        <p:nvSpPr>
          <p:cNvPr id="15" name="Shape 12"/>
          <p:cNvSpPr/>
          <p:nvPr/>
        </p:nvSpPr>
        <p:spPr>
          <a:xfrm>
            <a:off x="8092440" y="4197096"/>
            <a:ext cx="118872" cy="118872"/>
          </a:xfrm>
          <a:prstGeom prst="ellipse">
            <a:avLst/>
          </a:prstGeom>
          <a:solidFill>
            <a:srgbClr val="FEBC2E"/>
          </a:solidFill>
          <a:ln w="12700">
            <a:solidFill>
              <a:srgbClr val="FEBC2E"/>
            </a:solidFill>
            <a:prstDash val="solid"/>
          </a:ln>
        </p:spPr>
      </p:sp>
      <p:sp>
        <p:nvSpPr>
          <p:cNvPr id="16" name="Shape 13"/>
          <p:cNvSpPr/>
          <p:nvPr/>
        </p:nvSpPr>
        <p:spPr>
          <a:xfrm>
            <a:off x="8321040" y="419709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8595360" y="4142232"/>
            <a:ext cx="2880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5"/>
          <p:cNvSpPr txBox="1"/>
          <p:nvPr/>
        </p:nvSpPr>
        <p:spPr>
          <a:xfrm>
            <a:off x="7909560" y="4453128"/>
            <a:ext cx="3520440" cy="14630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 three-digit number: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472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hundreds = 4, tens = 7, ones = 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digit sum = 13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reversed  = 274</a:t>
            </a:r>
            <a:endParaRPr lang="en-US" sz="1200" dirty="0"/>
          </a:p>
        </p:txBody>
      </p:sp>
      <p:sp>
        <p:nvSpPr>
          <p:cNvPr id="19" name="Shape 16"/>
          <p:cNvSpPr/>
          <p:nvPr/>
        </p:nvSpPr>
        <p:spPr>
          <a:xfrm>
            <a:off x="822960" y="4846320"/>
            <a:ext cx="731520" cy="731520"/>
          </a:xfrm>
          <a:prstGeom prst="roundRect">
            <a:avLst>
              <a:gd name="adj" fmla="val 10000"/>
            </a:avLst>
          </a:prstGeom>
          <a:solidFill>
            <a:srgbClr val="FCA311"/>
          </a:solidFill>
          <a:ln w="12700">
            <a:solidFill>
              <a:srgbClr val="FCA311"/>
            </a:solidFill>
            <a:prstDash val="solid"/>
          </a:ln>
        </p:spPr>
      </p:sp>
      <p:sp>
        <p:nvSpPr>
          <p:cNvPr id="20" name="Text 17"/>
          <p:cNvSpPr txBox="1"/>
          <p:nvPr/>
        </p:nvSpPr>
        <p:spPr>
          <a:xfrm>
            <a:off x="822960" y="4846320"/>
            <a:ext cx="731520" cy="731520"/>
          </a:xfrm>
          <a:prstGeom prst="rect">
            <a:avLst/>
          </a:prstGeom>
          <a:noFill/>
          <a:ln/>
        </p:spPr>
        <p:txBody>
          <a:bodyPr wrap="square" lIns="0" tIns="0" rIns="0" bIns="0" rtlCol="0" anchor="ctr"/>
          <a:lstStyle/>
          <a:p>
            <a:pPr algn="ctr" indent="0" marL="0">
              <a:buNone/>
            </a:pPr>
            <a:r>
              <a:rPr lang="en-US" sz="3000" b="1" dirty="0">
                <a:solidFill>
                  <a:srgbClr val="14213D"/>
                </a:solidFill>
                <a:latin typeface="Courier New" pitchFamily="34" charset="0"/>
                <a:ea typeface="Courier New" pitchFamily="34" charset="-122"/>
                <a:cs typeface="Courier New" pitchFamily="34" charset="-120"/>
              </a:rPr>
              <a:t>4</a:t>
            </a:r>
            <a:endParaRPr lang="en-US" sz="3000" dirty="0"/>
          </a:p>
        </p:txBody>
      </p:sp>
      <p:sp>
        <p:nvSpPr>
          <p:cNvPr id="21" name="Text 18"/>
          <p:cNvSpPr txBox="1"/>
          <p:nvPr/>
        </p:nvSpPr>
        <p:spPr>
          <a:xfrm>
            <a:off x="1645920" y="4983480"/>
            <a:ext cx="1371600" cy="457200"/>
          </a:xfrm>
          <a:prstGeom prst="rect">
            <a:avLst/>
          </a:prstGeom>
          <a:noFill/>
          <a:ln/>
        </p:spPr>
        <p:txBody>
          <a:bodyPr wrap="square" lIns="0" tIns="0" rIns="0" bIns="0" rtlCol="0" anchor="ctr"/>
          <a:lstStyle/>
          <a:p>
            <a:pPr indent="0" marL="0">
              <a:buNone/>
            </a:pPr>
            <a:r>
              <a:rPr lang="en-US" sz="1300" dirty="0">
                <a:solidFill>
                  <a:srgbClr val="14213D"/>
                </a:solidFill>
                <a:latin typeface="Courier New" pitchFamily="34" charset="0"/>
                <a:ea typeface="Courier New" pitchFamily="34" charset="-122"/>
                <a:cs typeface="Courier New" pitchFamily="34" charset="-120"/>
              </a:rPr>
              <a:t>n / 100</a:t>
            </a:r>
            <a:endParaRPr lang="en-US" sz="1300" dirty="0"/>
          </a:p>
        </p:txBody>
      </p:sp>
      <p:sp>
        <p:nvSpPr>
          <p:cNvPr id="22" name="Shape 19"/>
          <p:cNvSpPr/>
          <p:nvPr/>
        </p:nvSpPr>
        <p:spPr>
          <a:xfrm>
            <a:off x="3063240" y="4846320"/>
            <a:ext cx="731520" cy="731520"/>
          </a:xfrm>
          <a:prstGeom prst="roundRect">
            <a:avLst>
              <a:gd name="adj" fmla="val 10000"/>
            </a:avLst>
          </a:prstGeom>
          <a:solidFill>
            <a:srgbClr val="FCA311"/>
          </a:solidFill>
          <a:ln w="12700">
            <a:solidFill>
              <a:srgbClr val="FCA311"/>
            </a:solidFill>
            <a:prstDash val="solid"/>
          </a:ln>
        </p:spPr>
      </p:sp>
      <p:sp>
        <p:nvSpPr>
          <p:cNvPr id="23" name="Text 20"/>
          <p:cNvSpPr txBox="1"/>
          <p:nvPr/>
        </p:nvSpPr>
        <p:spPr>
          <a:xfrm>
            <a:off x="3063240" y="4846320"/>
            <a:ext cx="731520" cy="731520"/>
          </a:xfrm>
          <a:prstGeom prst="rect">
            <a:avLst/>
          </a:prstGeom>
          <a:noFill/>
          <a:ln/>
        </p:spPr>
        <p:txBody>
          <a:bodyPr wrap="square" lIns="0" tIns="0" rIns="0" bIns="0" rtlCol="0" anchor="ctr"/>
          <a:lstStyle/>
          <a:p>
            <a:pPr algn="ctr" indent="0" marL="0">
              <a:buNone/>
            </a:pPr>
            <a:r>
              <a:rPr lang="en-US" sz="3000" b="1" dirty="0">
                <a:solidFill>
                  <a:srgbClr val="14213D"/>
                </a:solidFill>
                <a:latin typeface="Courier New" pitchFamily="34" charset="0"/>
                <a:ea typeface="Courier New" pitchFamily="34" charset="-122"/>
                <a:cs typeface="Courier New" pitchFamily="34" charset="-120"/>
              </a:rPr>
              <a:t>7</a:t>
            </a:r>
            <a:endParaRPr lang="en-US" sz="3000" dirty="0"/>
          </a:p>
        </p:txBody>
      </p:sp>
      <p:sp>
        <p:nvSpPr>
          <p:cNvPr id="24" name="Text 21"/>
          <p:cNvSpPr txBox="1"/>
          <p:nvPr/>
        </p:nvSpPr>
        <p:spPr>
          <a:xfrm>
            <a:off x="3886200" y="4983480"/>
            <a:ext cx="1371600" cy="457200"/>
          </a:xfrm>
          <a:prstGeom prst="rect">
            <a:avLst/>
          </a:prstGeom>
          <a:noFill/>
          <a:ln/>
        </p:spPr>
        <p:txBody>
          <a:bodyPr wrap="square" lIns="0" tIns="0" rIns="0" bIns="0" rtlCol="0" anchor="ctr"/>
          <a:lstStyle/>
          <a:p>
            <a:pPr indent="0" marL="0">
              <a:buNone/>
            </a:pPr>
            <a:r>
              <a:rPr lang="en-US" sz="1300" dirty="0">
                <a:solidFill>
                  <a:srgbClr val="14213D"/>
                </a:solidFill>
                <a:latin typeface="Courier New" pitchFamily="34" charset="0"/>
                <a:ea typeface="Courier New" pitchFamily="34" charset="-122"/>
                <a:cs typeface="Courier New" pitchFamily="34" charset="-120"/>
              </a:rPr>
              <a:t>n / 10 % 10</a:t>
            </a:r>
            <a:endParaRPr lang="en-US" sz="1300" dirty="0"/>
          </a:p>
        </p:txBody>
      </p:sp>
      <p:sp>
        <p:nvSpPr>
          <p:cNvPr id="25" name="Shape 22"/>
          <p:cNvSpPr/>
          <p:nvPr/>
        </p:nvSpPr>
        <p:spPr>
          <a:xfrm>
            <a:off x="5303520" y="4846320"/>
            <a:ext cx="731520" cy="731520"/>
          </a:xfrm>
          <a:prstGeom prst="roundRect">
            <a:avLst>
              <a:gd name="adj" fmla="val 10000"/>
            </a:avLst>
          </a:prstGeom>
          <a:solidFill>
            <a:srgbClr val="FCA311"/>
          </a:solidFill>
          <a:ln w="12700">
            <a:solidFill>
              <a:srgbClr val="FCA311"/>
            </a:solidFill>
            <a:prstDash val="solid"/>
          </a:ln>
        </p:spPr>
      </p:sp>
      <p:sp>
        <p:nvSpPr>
          <p:cNvPr id="26" name="Text 23"/>
          <p:cNvSpPr txBox="1"/>
          <p:nvPr/>
        </p:nvSpPr>
        <p:spPr>
          <a:xfrm>
            <a:off x="5303520" y="4846320"/>
            <a:ext cx="731520" cy="731520"/>
          </a:xfrm>
          <a:prstGeom prst="rect">
            <a:avLst/>
          </a:prstGeom>
          <a:noFill/>
          <a:ln/>
        </p:spPr>
        <p:txBody>
          <a:bodyPr wrap="square" lIns="0" tIns="0" rIns="0" bIns="0" rtlCol="0" anchor="ctr"/>
          <a:lstStyle/>
          <a:p>
            <a:pPr algn="ctr" indent="0" marL="0">
              <a:buNone/>
            </a:pPr>
            <a:r>
              <a:rPr lang="en-US" sz="3000" b="1" dirty="0">
                <a:solidFill>
                  <a:srgbClr val="14213D"/>
                </a:solidFill>
                <a:latin typeface="Courier New" pitchFamily="34" charset="0"/>
                <a:ea typeface="Courier New" pitchFamily="34" charset="-122"/>
                <a:cs typeface="Courier New" pitchFamily="34" charset="-120"/>
              </a:rPr>
              <a:t>2</a:t>
            </a:r>
            <a:endParaRPr lang="en-US" sz="3000" dirty="0"/>
          </a:p>
        </p:txBody>
      </p:sp>
      <p:sp>
        <p:nvSpPr>
          <p:cNvPr id="27" name="Text 24"/>
          <p:cNvSpPr txBox="1"/>
          <p:nvPr/>
        </p:nvSpPr>
        <p:spPr>
          <a:xfrm>
            <a:off x="6126480" y="4983480"/>
            <a:ext cx="1371600" cy="457200"/>
          </a:xfrm>
          <a:prstGeom prst="rect">
            <a:avLst/>
          </a:prstGeom>
          <a:noFill/>
          <a:ln/>
        </p:spPr>
        <p:txBody>
          <a:bodyPr wrap="square" lIns="0" tIns="0" rIns="0" bIns="0" rtlCol="0" anchor="ctr"/>
          <a:lstStyle/>
          <a:p>
            <a:pPr indent="0" marL="0">
              <a:buNone/>
            </a:pPr>
            <a:r>
              <a:rPr lang="en-US" sz="1300" dirty="0">
                <a:solidFill>
                  <a:srgbClr val="14213D"/>
                </a:solidFill>
                <a:latin typeface="Courier New" pitchFamily="34" charset="0"/>
                <a:ea typeface="Courier New" pitchFamily="34" charset="-122"/>
                <a:cs typeface="Courier New" pitchFamily="34" charset="-120"/>
              </a:rPr>
              <a:t>n % 10</a:t>
            </a:r>
            <a:endParaRPr lang="en-US" sz="1300" dirty="0"/>
          </a:p>
        </p:txBody>
      </p:sp>
      <p:sp>
        <p:nvSpPr>
          <p:cNvPr id="28" name="Text 25"/>
          <p:cNvSpPr txBox="1"/>
          <p:nvPr/>
        </p:nvSpPr>
        <p:spPr>
          <a:xfrm>
            <a:off x="822960" y="5669280"/>
            <a:ext cx="6400800" cy="32004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hundreds · tens · ones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Seconds to days, hours, minutes, seconds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00200"/>
            <a:ext cx="11109960" cy="2103120"/>
          </a:xfrm>
          <a:prstGeom prst="roundRect">
            <a:avLst>
              <a:gd name="adj" fmla="val 4348"/>
            </a:avLst>
          </a:prstGeom>
          <a:solidFill>
            <a:srgbClr val="0F1729"/>
          </a:solidFill>
          <a:ln w="12700">
            <a:solidFill>
              <a:srgbClr val="0F1729"/>
            </a:solidFill>
            <a:prstDash val="solid"/>
          </a:ln>
        </p:spPr>
      </p:sp>
      <p:sp>
        <p:nvSpPr>
          <p:cNvPr id="8" name="Text 5"/>
          <p:cNvSpPr txBox="1"/>
          <p:nvPr/>
        </p:nvSpPr>
        <p:spPr>
          <a:xfrm>
            <a:off x="777240" y="170992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code/04_04_SecondsToHms (excerpt)</a:t>
            </a:r>
            <a:endParaRPr lang="en-US" sz="1100" dirty="0"/>
          </a:p>
        </p:txBody>
      </p:sp>
      <p:sp>
        <p:nvSpPr>
          <p:cNvPr id="9" name="Text 6"/>
          <p:cNvSpPr txBox="1"/>
          <p:nvPr/>
        </p:nvSpPr>
        <p:spPr>
          <a:xfrm>
            <a:off x="777240" y="2011680"/>
            <a:ext cx="1065276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days = total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86400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86400 s in a day</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hours = total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86400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3600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what is left after whole days</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minutes = total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3600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seconds = total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$"{total} s = {days} d {hours} h {minutes} min {seconds} s"</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$"clock format: {days}d {hours:D2}:{minutes:D2}:{seconds:D2}"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5120640" cy="914400"/>
        </p:xfrm>
        <a:graphic>
          <a:graphicData uri="http://schemas.openxmlformats.org/drawingml/2006/table">
            <a:tbl>
              <a:tblPr/>
              <a:tblGrid>
                <a:gridCol w="3840480"/>
                <a:gridCol w="1280160"/>
              </a:tblGrid>
              <a:tr h="35661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Expression (total = 100000)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5661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86400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5661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86400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13600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5661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86400 / 3600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5661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3600 / 60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56616">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total % 60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Shape 7"/>
          <p:cNvSpPr/>
          <p:nvPr/>
        </p:nvSpPr>
        <p:spPr>
          <a:xfrm>
            <a:off x="5897880" y="3886200"/>
            <a:ext cx="5760720" cy="1005840"/>
          </a:xfrm>
          <a:prstGeom prst="roundRect">
            <a:avLst>
              <a:gd name="adj" fmla="val 9091"/>
            </a:avLst>
          </a:prstGeom>
          <a:solidFill>
            <a:srgbClr val="0B0F19"/>
          </a:solidFill>
          <a:ln w="12700">
            <a:solidFill>
              <a:srgbClr val="2A3654"/>
            </a:solidFill>
            <a:prstDash val="solid"/>
          </a:ln>
        </p:spPr>
      </p:sp>
      <p:sp>
        <p:nvSpPr>
          <p:cNvPr id="12" name="Shape 8"/>
          <p:cNvSpPr/>
          <p:nvPr/>
        </p:nvSpPr>
        <p:spPr>
          <a:xfrm>
            <a:off x="6080760" y="4014216"/>
            <a:ext cx="118872" cy="118872"/>
          </a:xfrm>
          <a:prstGeom prst="ellipse">
            <a:avLst/>
          </a:prstGeom>
          <a:solidFill>
            <a:srgbClr val="FF5F57"/>
          </a:solidFill>
          <a:ln w="12700">
            <a:solidFill>
              <a:srgbClr val="FF5F57"/>
            </a:solidFill>
            <a:prstDash val="solid"/>
          </a:ln>
        </p:spPr>
      </p:sp>
      <p:sp>
        <p:nvSpPr>
          <p:cNvPr id="13" name="Shape 9"/>
          <p:cNvSpPr/>
          <p:nvPr/>
        </p:nvSpPr>
        <p:spPr>
          <a:xfrm>
            <a:off x="6309360" y="4014216"/>
            <a:ext cx="118872" cy="118872"/>
          </a:xfrm>
          <a:prstGeom prst="ellipse">
            <a:avLst/>
          </a:prstGeom>
          <a:solidFill>
            <a:srgbClr val="FEBC2E"/>
          </a:solidFill>
          <a:ln w="12700">
            <a:solidFill>
              <a:srgbClr val="FEBC2E"/>
            </a:solidFill>
            <a:prstDash val="solid"/>
          </a:ln>
        </p:spPr>
      </p:sp>
      <p:sp>
        <p:nvSpPr>
          <p:cNvPr id="14" name="Shape 10"/>
          <p:cNvSpPr/>
          <p:nvPr/>
        </p:nvSpPr>
        <p:spPr>
          <a:xfrm>
            <a:off x="6537960" y="4014216"/>
            <a:ext cx="118872" cy="118872"/>
          </a:xfrm>
          <a:prstGeom prst="ellipse">
            <a:avLst/>
          </a:prstGeom>
          <a:solidFill>
            <a:srgbClr val="28C840"/>
          </a:solidFill>
          <a:ln w="12700">
            <a:solidFill>
              <a:srgbClr val="28C840"/>
            </a:solidFill>
            <a:prstDash val="solid"/>
          </a:ln>
        </p:spPr>
      </p:sp>
      <p:sp>
        <p:nvSpPr>
          <p:cNvPr id="15" name="Text 11"/>
          <p:cNvSpPr txBox="1"/>
          <p:nvPr/>
        </p:nvSpPr>
        <p:spPr>
          <a:xfrm>
            <a:off x="6812280" y="395935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6" name="Text 12"/>
          <p:cNvSpPr txBox="1"/>
          <p:nvPr/>
        </p:nvSpPr>
        <p:spPr>
          <a:xfrm>
            <a:off x="6126480" y="4270248"/>
            <a:ext cx="5303520" cy="502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Total seconds: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3725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3725 s = 0 d 1 h 2 min 5 s</a:t>
            </a:r>
            <a:endParaRPr lang="en-US" sz="1300" dirty="0"/>
          </a:p>
        </p:txBody>
      </p:sp>
      <p:sp>
        <p:nvSpPr>
          <p:cNvPr id="17" name="Shape 13"/>
          <p:cNvSpPr/>
          <p:nvPr/>
        </p:nvSpPr>
        <p:spPr>
          <a:xfrm>
            <a:off x="5897880" y="4983480"/>
            <a:ext cx="5760720" cy="1051560"/>
          </a:xfrm>
          <a:prstGeom prst="roundRect">
            <a:avLst>
              <a:gd name="adj" fmla="val 8696"/>
            </a:avLst>
          </a:prstGeom>
          <a:solidFill>
            <a:srgbClr val="0B0F19"/>
          </a:solidFill>
          <a:ln w="12700">
            <a:solidFill>
              <a:srgbClr val="2A3654"/>
            </a:solidFill>
            <a:prstDash val="solid"/>
          </a:ln>
        </p:spPr>
      </p:sp>
      <p:sp>
        <p:nvSpPr>
          <p:cNvPr id="18" name="Shape 14"/>
          <p:cNvSpPr/>
          <p:nvPr/>
        </p:nvSpPr>
        <p:spPr>
          <a:xfrm>
            <a:off x="6080760" y="5111496"/>
            <a:ext cx="118872" cy="118872"/>
          </a:xfrm>
          <a:prstGeom prst="ellipse">
            <a:avLst/>
          </a:prstGeom>
          <a:solidFill>
            <a:srgbClr val="FF5F57"/>
          </a:solidFill>
          <a:ln w="12700">
            <a:solidFill>
              <a:srgbClr val="FF5F57"/>
            </a:solidFill>
            <a:prstDash val="solid"/>
          </a:ln>
        </p:spPr>
      </p:sp>
      <p:sp>
        <p:nvSpPr>
          <p:cNvPr id="19" name="Shape 15"/>
          <p:cNvSpPr/>
          <p:nvPr/>
        </p:nvSpPr>
        <p:spPr>
          <a:xfrm>
            <a:off x="6309360" y="5111496"/>
            <a:ext cx="118872" cy="118872"/>
          </a:xfrm>
          <a:prstGeom prst="ellipse">
            <a:avLst/>
          </a:prstGeom>
          <a:solidFill>
            <a:srgbClr val="FEBC2E"/>
          </a:solidFill>
          <a:ln w="12700">
            <a:solidFill>
              <a:srgbClr val="FEBC2E"/>
            </a:solidFill>
            <a:prstDash val="solid"/>
          </a:ln>
        </p:spPr>
      </p:sp>
      <p:sp>
        <p:nvSpPr>
          <p:cNvPr id="20" name="Shape 16"/>
          <p:cNvSpPr/>
          <p:nvPr/>
        </p:nvSpPr>
        <p:spPr>
          <a:xfrm>
            <a:off x="6537960" y="5111496"/>
            <a:ext cx="118872" cy="118872"/>
          </a:xfrm>
          <a:prstGeom prst="ellipse">
            <a:avLst/>
          </a:prstGeom>
          <a:solidFill>
            <a:srgbClr val="28C840"/>
          </a:solidFill>
          <a:ln w="12700">
            <a:solidFill>
              <a:srgbClr val="28C840"/>
            </a:solidFill>
            <a:prstDash val="solid"/>
          </a:ln>
        </p:spPr>
      </p:sp>
      <p:sp>
        <p:nvSpPr>
          <p:cNvPr id="21" name="Text 17"/>
          <p:cNvSpPr txBox="1"/>
          <p:nvPr/>
        </p:nvSpPr>
        <p:spPr>
          <a:xfrm>
            <a:off x="6812280" y="5056632"/>
            <a:ext cx="46634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2" name="Text 18"/>
          <p:cNvSpPr txBox="1"/>
          <p:nvPr/>
        </p:nvSpPr>
        <p:spPr>
          <a:xfrm>
            <a:off x="6126480" y="5367528"/>
            <a:ext cx="5303520" cy="5486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Total seconds: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100000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100000 s = 1 d 3 h 46 min 40 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Clock arithmetic: time after N minutes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00200"/>
            <a:ext cx="11109960" cy="2103120"/>
          </a:xfrm>
          <a:prstGeom prst="roundRect">
            <a:avLst>
              <a:gd name="adj" fmla="val 4348"/>
            </a:avLst>
          </a:prstGeom>
          <a:solidFill>
            <a:srgbClr val="0F1729"/>
          </a:solidFill>
          <a:ln w="12700">
            <a:solidFill>
              <a:srgbClr val="0F1729"/>
            </a:solidFill>
            <a:prstDash val="solid"/>
          </a:ln>
        </p:spPr>
      </p:sp>
      <p:sp>
        <p:nvSpPr>
          <p:cNvPr id="8" name="Text 5"/>
          <p:cNvSpPr txBox="1"/>
          <p:nvPr/>
        </p:nvSpPr>
        <p:spPr>
          <a:xfrm>
            <a:off x="777240" y="170992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code/04_05_ClockArithmetic (excerpt)</a:t>
            </a:r>
            <a:endParaRPr lang="en-US" sz="1100" dirty="0"/>
          </a:p>
        </p:txBody>
      </p:sp>
      <p:sp>
        <p:nvSpPr>
          <p:cNvPr id="9" name="Text 6"/>
          <p:cNvSpPr txBox="1"/>
          <p:nvPr/>
        </p:nvSpPr>
        <p:spPr>
          <a:xfrm>
            <a:off x="777240" y="2011680"/>
            <a:ext cx="10652760" cy="158191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MinutesPerDay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1440</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now = hour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60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minute;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minutes since midnight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raw = now + delta;</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wrapped = ((raw % MinutesPerDay) + MinutesPerDay) % MinutesPerDay;</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$"raw minutes = {raw}, raw % 1440 = {raw % MinutesPerDay}"</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$"New time: {wrapped / 60:D2}:{wrapped % 60:D2}"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3840480"/>
            <a:ext cx="5486400" cy="1691640"/>
          </a:xfrm>
          <a:prstGeom prst="roundRect">
            <a:avLst>
              <a:gd name="adj" fmla="val 5405"/>
            </a:avLst>
          </a:prstGeom>
          <a:solidFill>
            <a:srgbClr val="0B0F19"/>
          </a:solidFill>
          <a:ln w="12700">
            <a:solidFill>
              <a:srgbClr val="2A3654"/>
            </a:solidFill>
            <a:prstDash val="solid"/>
          </a:ln>
        </p:spPr>
      </p:sp>
      <p:sp>
        <p:nvSpPr>
          <p:cNvPr id="11" name="Shape 8"/>
          <p:cNvSpPr/>
          <p:nvPr/>
        </p:nvSpPr>
        <p:spPr>
          <a:xfrm>
            <a:off x="731520" y="396849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96849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96849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91363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1: forward</a:t>
            </a:r>
            <a:endParaRPr lang="en-US" sz="1000" dirty="0"/>
          </a:p>
        </p:txBody>
      </p:sp>
      <p:sp>
        <p:nvSpPr>
          <p:cNvPr id="15" name="Text 12"/>
          <p:cNvSpPr txBox="1"/>
          <p:nvPr/>
        </p:nvSpPr>
        <p:spPr>
          <a:xfrm>
            <a:off x="777240" y="4224528"/>
            <a:ext cx="5029200" cy="11887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Current hour (0-23):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Current minute (0-59):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Minutes to add (negative = go back):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raw minutes = 1515, raw % 1440 = 75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New time: 01:15</a:t>
            </a:r>
            <a:endParaRPr lang="en-US" sz="1200" dirty="0"/>
          </a:p>
        </p:txBody>
      </p:sp>
      <p:sp>
        <p:nvSpPr>
          <p:cNvPr id="16" name="Shape 13"/>
          <p:cNvSpPr/>
          <p:nvPr/>
        </p:nvSpPr>
        <p:spPr>
          <a:xfrm>
            <a:off x="6172200" y="3840480"/>
            <a:ext cx="5486400" cy="1691640"/>
          </a:xfrm>
          <a:prstGeom prst="roundRect">
            <a:avLst>
              <a:gd name="adj" fmla="val 5405"/>
            </a:avLst>
          </a:prstGeom>
          <a:solidFill>
            <a:srgbClr val="0B0F19"/>
          </a:solidFill>
          <a:ln w="12700">
            <a:solidFill>
              <a:srgbClr val="2A3654"/>
            </a:solidFill>
            <a:prstDash val="solid"/>
          </a:ln>
        </p:spPr>
      </p:sp>
      <p:sp>
        <p:nvSpPr>
          <p:cNvPr id="17" name="Shape 14"/>
          <p:cNvSpPr/>
          <p:nvPr/>
        </p:nvSpPr>
        <p:spPr>
          <a:xfrm>
            <a:off x="6355080" y="3968496"/>
            <a:ext cx="118872" cy="118872"/>
          </a:xfrm>
          <a:prstGeom prst="ellipse">
            <a:avLst/>
          </a:prstGeom>
          <a:solidFill>
            <a:srgbClr val="FF5F57"/>
          </a:solidFill>
          <a:ln w="12700">
            <a:solidFill>
              <a:srgbClr val="FF5F57"/>
            </a:solidFill>
            <a:prstDash val="solid"/>
          </a:ln>
        </p:spPr>
      </p:sp>
      <p:sp>
        <p:nvSpPr>
          <p:cNvPr id="18" name="Shape 15"/>
          <p:cNvSpPr/>
          <p:nvPr/>
        </p:nvSpPr>
        <p:spPr>
          <a:xfrm>
            <a:off x="6583680" y="3968496"/>
            <a:ext cx="118872" cy="118872"/>
          </a:xfrm>
          <a:prstGeom prst="ellipse">
            <a:avLst/>
          </a:prstGeom>
          <a:solidFill>
            <a:srgbClr val="FEBC2E"/>
          </a:solidFill>
          <a:ln w="12700">
            <a:solidFill>
              <a:srgbClr val="FEBC2E"/>
            </a:solidFill>
            <a:prstDash val="solid"/>
          </a:ln>
        </p:spPr>
      </p:sp>
      <p:sp>
        <p:nvSpPr>
          <p:cNvPr id="19" name="Shape 16"/>
          <p:cNvSpPr/>
          <p:nvPr/>
        </p:nvSpPr>
        <p:spPr>
          <a:xfrm>
            <a:off x="6812280" y="396849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7086600" y="3913632"/>
            <a:ext cx="4389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Run 2: backward (negative delta)</a:t>
            </a:r>
            <a:endParaRPr lang="en-US" sz="1000" dirty="0"/>
          </a:p>
        </p:txBody>
      </p:sp>
      <p:sp>
        <p:nvSpPr>
          <p:cNvPr id="21" name="Text 18"/>
          <p:cNvSpPr txBox="1"/>
          <p:nvPr/>
        </p:nvSpPr>
        <p:spPr>
          <a:xfrm>
            <a:off x="6400800" y="4224528"/>
            <a:ext cx="5029200" cy="11887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Current hour (0-23):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Current minute (0-59):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Minutes to add (negative = go back):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raw minutes = -25, raw % 1440 = -25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New time: 23:35</a:t>
            </a:r>
            <a:endParaRPr lang="en-US" sz="1200" dirty="0"/>
          </a:p>
        </p:txBody>
      </p:sp>
      <p:sp>
        <p:nvSpPr>
          <p:cNvPr id="22" name="Text 19"/>
          <p:cNvSpPr txBox="1"/>
          <p:nvPr/>
        </p:nvSpPr>
        <p:spPr>
          <a:xfrm>
            <a:off x="548640" y="5623560"/>
            <a:ext cx="11109960" cy="411480"/>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Plain % fails for −25 </a:t>
            </a:r>
            <a:pPr indent="0" marL="0">
              <a:buNone/>
            </a:pPr>
            <a:r>
              <a:rPr lang="en-US" sz="1500" dirty="0">
                <a:solidFill>
                  <a:srgbClr val="333B4F"/>
                </a:solidFill>
                <a:latin typeface="Calibri" pitchFamily="34" charset="0"/>
                <a:ea typeface="Calibri" pitchFamily="34" charset="-122"/>
                <a:cs typeface="Calibri" pitchFamily="34" charset="-120"/>
              </a:rPr>
              <a:t>(gives −25); the safe modulo </a:t>
            </a:r>
            <a:pPr indent="0" marL="0">
              <a:buNone/>
            </a:pPr>
            <a:r>
              <a:rPr lang="en-US" sz="1500" dirty="0">
                <a:solidFill>
                  <a:srgbClr val="333B4F"/>
                </a:solidFill>
                <a:latin typeface="Courier New" pitchFamily="34" charset="0"/>
                <a:ea typeface="Courier New" pitchFamily="34" charset="-122"/>
                <a:cs typeface="Courier New" pitchFamily="34" charset="-120"/>
              </a:rPr>
              <a:t>((raw % 1440) + 1440) % 1440</a:t>
            </a:r>
            <a:pPr indent="0" marL="0">
              <a:buNone/>
            </a:pPr>
            <a:r>
              <a:rPr lang="en-US" sz="1500" dirty="0">
                <a:solidFill>
                  <a:srgbClr val="333B4F"/>
                </a:solidFill>
                <a:latin typeface="Calibri" pitchFamily="34" charset="0"/>
                <a:ea typeface="Calibri" pitchFamily="34" charset="-122"/>
                <a:cs typeface="Calibri" pitchFamily="34" charset="-120"/>
              </a:rPr>
              <a:t> gives 1415 → 23:35.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5</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T.C. Kimlik No check digits (Week 1 algorithm in 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00200"/>
            <a:ext cx="6949440" cy="3017520"/>
          </a:xfrm>
          <a:prstGeom prst="roundRect">
            <a:avLst>
              <a:gd name="adj" fmla="val 3030"/>
            </a:avLst>
          </a:prstGeom>
          <a:solidFill>
            <a:srgbClr val="0F1729"/>
          </a:solidFill>
          <a:ln w="12700">
            <a:solidFill>
              <a:srgbClr val="0F1729"/>
            </a:solidFill>
            <a:prstDash val="solid"/>
          </a:ln>
        </p:spPr>
      </p:sp>
      <p:sp>
        <p:nvSpPr>
          <p:cNvPr id="8" name="Text 5"/>
          <p:cNvSpPr txBox="1"/>
          <p:nvPr/>
        </p:nvSpPr>
        <p:spPr>
          <a:xfrm>
            <a:off x="777240" y="1709928"/>
            <a:ext cx="6492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code/04_10_KimlikCheckDigits (excerpt)</a:t>
            </a:r>
            <a:endParaRPr lang="en-US" sz="1100" dirty="0"/>
          </a:p>
        </p:txBody>
      </p:sp>
      <p:sp>
        <p:nvSpPr>
          <p:cNvPr id="9" name="Text 6"/>
          <p:cNvSpPr txBox="1"/>
          <p:nvPr/>
        </p:nvSpPr>
        <p:spPr>
          <a:xfrm>
            <a:off x="777240" y="2011680"/>
            <a:ext cx="6492240" cy="24963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d1 = first9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100_000_000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d2 = first9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10_000_000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 d3 to d8 in the same way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d9 = first9 %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oddSum = d1 + d3 + d5 + d7 + d9;</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evenSum = d2 + d4 + d6 + d8;</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raw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oddSum - evenSum;</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d10 = ((raw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safe modulo: result is 0..9</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d11 = (oddSum + evenSum + d10)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680960" y="1600200"/>
            <a:ext cx="3977640" cy="3017520"/>
          </a:xfrm>
          <a:prstGeom prst="roundRect">
            <a:avLst>
              <a:gd name="adj" fmla="val 3636"/>
            </a:avLst>
          </a:prstGeom>
          <a:solidFill>
            <a:srgbClr val="EEF1F6"/>
          </a:solidFill>
          <a:ln w="12700">
            <a:solidFill>
              <a:srgbClr val="EEF1F6"/>
            </a:solidFill>
            <a:prstDash val="solid"/>
          </a:ln>
        </p:spPr>
      </p:sp>
      <p:sp>
        <p:nvSpPr>
          <p:cNvPr id="11" name="Text 8"/>
          <p:cNvSpPr txBox="1"/>
          <p:nvPr/>
        </p:nvSpPr>
        <p:spPr>
          <a:xfrm>
            <a:off x="7909560" y="1737360"/>
            <a:ext cx="3566160" cy="2834640"/>
          </a:xfrm>
          <a:prstGeom prst="rect">
            <a:avLst/>
          </a:prstGeom>
          <a:noFill/>
          <a:ln/>
        </p:spPr>
        <p:txBody>
          <a:bodyPr wrap="square" lIns="0" tIns="0" rIns="0" bIns="0" rtlCol="0" anchor="ctr"/>
          <a:lstStyle/>
          <a:p>
            <a:pPr indent="0" marL="0">
              <a:spcAft>
                <a:spcPts val="600"/>
              </a:spcAft>
              <a:buNone/>
            </a:pPr>
            <a:r>
              <a:rPr lang="en-US" sz="1500" b="1" dirty="0">
                <a:solidFill>
                  <a:srgbClr val="14213D"/>
                </a:solidFill>
                <a:latin typeface="Calibri" pitchFamily="34" charset="0"/>
                <a:ea typeface="Calibri" pitchFamily="34" charset="-122"/>
                <a:cs typeface="Calibri" pitchFamily="34" charset="-120"/>
              </a:rPr>
              <a:t>Rules (Week 1)</a:t>
            </a:r>
            <a:endParaRPr lang="en-US" sz="1500" dirty="0"/>
          </a:p>
          <a:p>
            <a:pPr indent="0" marL="0">
              <a:spcAft>
                <a:spcPts val="600"/>
              </a:spcAft>
              <a:buNone/>
            </a:pPr>
            <a:r>
              <a:rPr lang="en-US" sz="1500" dirty="0">
                <a:solidFill>
                  <a:srgbClr val="333B4F"/>
                </a:solidFill>
                <a:latin typeface="Calibri" pitchFamily="34" charset="0"/>
                <a:ea typeface="Calibri" pitchFamily="34" charset="-122"/>
                <a:cs typeface="Calibri" pitchFamily="34" charset="-120"/>
              </a:rPr>
              <a:t>odd = d1 + d3 + d5 + d7 + d9</a:t>
            </a:r>
            <a:endParaRPr lang="en-US" sz="1500" dirty="0"/>
          </a:p>
          <a:p>
            <a:pPr indent="0" marL="0">
              <a:spcAft>
                <a:spcPts val="600"/>
              </a:spcAft>
              <a:buNone/>
            </a:pPr>
            <a:r>
              <a:rPr lang="en-US" sz="1500" dirty="0">
                <a:solidFill>
                  <a:srgbClr val="333B4F"/>
                </a:solidFill>
                <a:latin typeface="Calibri" pitchFamily="34" charset="0"/>
                <a:ea typeface="Calibri" pitchFamily="34" charset="-122"/>
                <a:cs typeface="Calibri" pitchFamily="34" charset="-120"/>
              </a:rPr>
              <a:t>even = d2 + d4 + d6 + d8</a:t>
            </a:r>
            <a:endParaRPr lang="en-US" sz="1500" dirty="0"/>
          </a:p>
          <a:p>
            <a:pPr indent="0" marL="0">
              <a:spcAft>
                <a:spcPts val="600"/>
              </a:spcAft>
              <a:buNone/>
            </a:pPr>
            <a:r>
              <a:rPr lang="en-US" sz="1500" dirty="0">
                <a:solidFill>
                  <a:srgbClr val="333B4F"/>
                </a:solidFill>
                <a:latin typeface="Calibri" pitchFamily="34" charset="0"/>
                <a:ea typeface="Calibri" pitchFamily="34" charset="-122"/>
                <a:cs typeface="Calibri" pitchFamily="34" charset="-120"/>
              </a:rPr>
              <a:t>d10 = (7·odd − even) mod 10</a:t>
            </a:r>
            <a:endParaRPr lang="en-US" sz="1500" dirty="0"/>
          </a:p>
          <a:p>
            <a:pPr indent="0" marL="0">
              <a:spcAft>
                <a:spcPts val="600"/>
              </a:spcAft>
              <a:buNone/>
            </a:pPr>
            <a:r>
              <a:rPr lang="en-US" sz="1500" dirty="0">
                <a:solidFill>
                  <a:srgbClr val="333B4F"/>
                </a:solidFill>
                <a:latin typeface="Calibri" pitchFamily="34" charset="0"/>
                <a:ea typeface="Calibri" pitchFamily="34" charset="-122"/>
                <a:cs typeface="Calibri" pitchFamily="34" charset="-120"/>
              </a:rPr>
              <a:t>d11 = (d1 + … + d10) mod 10</a:t>
            </a:r>
            <a:endParaRPr lang="en-US" sz="1500" dirty="0"/>
          </a:p>
          <a:p>
            <a:pPr indent="0" marL="0">
              <a:spcAft>
                <a:spcPts val="600"/>
              </a:spcAft>
              <a:buNone/>
            </a:pPr>
            <a:r>
              <a:rPr lang="en-US" sz="1500" b="1" dirty="0">
                <a:solidFill>
                  <a:srgbClr val="C8453B"/>
                </a:solidFill>
                <a:latin typeface="Calibri" pitchFamily="34" charset="0"/>
                <a:ea typeface="Calibri" pitchFamily="34" charset="-122"/>
                <a:cs typeface="Calibri" pitchFamily="34" charset="-120"/>
              </a:rPr>
              <a:t>Needs the safe modulo!</a:t>
            </a:r>
            <a:endParaRPr lang="en-US" sz="1500" dirty="0"/>
          </a:p>
        </p:txBody>
      </p:sp>
      <p:sp>
        <p:nvSpPr>
          <p:cNvPr id="12" name="Shape 9"/>
          <p:cNvSpPr/>
          <p:nvPr/>
        </p:nvSpPr>
        <p:spPr>
          <a:xfrm>
            <a:off x="548640" y="4754880"/>
            <a:ext cx="11109960" cy="1371600"/>
          </a:xfrm>
          <a:prstGeom prst="roundRect">
            <a:avLst>
              <a:gd name="adj" fmla="val 6667"/>
            </a:avLst>
          </a:prstGeom>
          <a:solidFill>
            <a:srgbClr val="0B0F19"/>
          </a:solidFill>
          <a:ln w="12700">
            <a:solidFill>
              <a:srgbClr val="2A3654"/>
            </a:solidFill>
            <a:prstDash val="solid"/>
          </a:ln>
        </p:spPr>
      </p:sp>
      <p:sp>
        <p:nvSpPr>
          <p:cNvPr id="13" name="Shape 10"/>
          <p:cNvSpPr/>
          <p:nvPr/>
        </p:nvSpPr>
        <p:spPr>
          <a:xfrm>
            <a:off x="731520" y="4882896"/>
            <a:ext cx="118872" cy="118872"/>
          </a:xfrm>
          <a:prstGeom prst="ellipse">
            <a:avLst/>
          </a:prstGeom>
          <a:solidFill>
            <a:srgbClr val="FF5F57"/>
          </a:solidFill>
          <a:ln w="12700">
            <a:solidFill>
              <a:srgbClr val="FF5F57"/>
            </a:solidFill>
            <a:prstDash val="solid"/>
          </a:ln>
        </p:spPr>
      </p:sp>
      <p:sp>
        <p:nvSpPr>
          <p:cNvPr id="14" name="Shape 11"/>
          <p:cNvSpPr/>
          <p:nvPr/>
        </p:nvSpPr>
        <p:spPr>
          <a:xfrm>
            <a:off x="960120" y="4882896"/>
            <a:ext cx="118872" cy="118872"/>
          </a:xfrm>
          <a:prstGeom prst="ellipse">
            <a:avLst/>
          </a:prstGeom>
          <a:solidFill>
            <a:srgbClr val="FEBC2E"/>
          </a:solidFill>
          <a:ln w="12700">
            <a:solidFill>
              <a:srgbClr val="FEBC2E"/>
            </a:solidFill>
            <a:prstDash val="solid"/>
          </a:ln>
        </p:spPr>
      </p:sp>
      <p:sp>
        <p:nvSpPr>
          <p:cNvPr id="15" name="Shape 12"/>
          <p:cNvSpPr/>
          <p:nvPr/>
        </p:nvSpPr>
        <p:spPr>
          <a:xfrm>
            <a:off x="1188720" y="4882896"/>
            <a:ext cx="118872" cy="118872"/>
          </a:xfrm>
          <a:prstGeom prst="ellipse">
            <a:avLst/>
          </a:prstGeom>
          <a:solidFill>
            <a:srgbClr val="28C840"/>
          </a:solidFill>
          <a:ln w="12700">
            <a:solidFill>
              <a:srgbClr val="28C840"/>
            </a:solidFill>
            <a:prstDash val="solid"/>
          </a:ln>
        </p:spPr>
      </p:sp>
      <p:sp>
        <p:nvSpPr>
          <p:cNvPr id="16" name="Text 13"/>
          <p:cNvSpPr txBox="1"/>
          <p:nvPr/>
        </p:nvSpPr>
        <p:spPr>
          <a:xfrm>
            <a:off x="1463040" y="4828032"/>
            <a:ext cx="10012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7" name="Text 14"/>
          <p:cNvSpPr txBox="1"/>
          <p:nvPr/>
        </p:nvSpPr>
        <p:spPr>
          <a:xfrm>
            <a:off x="777240" y="5138928"/>
            <a:ext cx="10652760" cy="8686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First nine digits: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190909090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odd sum = 1, even sum = 36, 7*odd - even = -29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raw % 10 = -9  -&gt;  d10 = 1, d11 = 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Full number: 19090909018   (first digit non-zero: True)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Precedence, Assignment, ++ and --</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Which operator runs first?  ·  compound assignment  ·  prefix vs postfix  ·  string + number  ·  overflow</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4</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PRECEDENCE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Operator precedence and associativity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1051560"/>
                <a:gridCol w="3291840"/>
                <a:gridCol w="1828800"/>
                <a:gridCol w="1508760"/>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Level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Operators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Order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(first)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x--  f(x)  a.b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primary / postfix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left →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+x  -x  !x  ++x  --x  (int)x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unary / cast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right → left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multiplicative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left →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additive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left →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&lt;  &gt;  &lt;=  &gt;=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relational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left →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equality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left →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&amp;&amp;</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logical AND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left →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logical 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left → right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conditional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right → left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10 (last)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  +=  -=  *=  /=  %=</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assignment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right → left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8458200" y="1600200"/>
            <a:ext cx="3200400" cy="2148840"/>
          </a:xfrm>
          <a:prstGeom prst="roundRect">
            <a:avLst>
              <a:gd name="adj" fmla="val 5106"/>
            </a:avLst>
          </a:prstGeom>
          <a:solidFill>
            <a:srgbClr val="EEF1F6"/>
          </a:solidFill>
          <a:ln w="12700">
            <a:solidFill>
              <a:srgbClr val="EEF1F6"/>
            </a:solidFill>
            <a:prstDash val="solid"/>
          </a:ln>
        </p:spPr>
      </p:sp>
      <p:sp>
        <p:nvSpPr>
          <p:cNvPr id="9" name="Shape 5"/>
          <p:cNvSpPr/>
          <p:nvPr/>
        </p:nvSpPr>
        <p:spPr>
          <a:xfrm>
            <a:off x="8686800" y="1828800"/>
            <a:ext cx="566928" cy="566928"/>
          </a:xfrm>
          <a:prstGeom prst="ellipse">
            <a:avLst/>
          </a:prstGeom>
          <a:solidFill>
            <a:srgbClr val="14213D"/>
          </a:solidFill>
          <a:ln w="12700">
            <a:solidFill>
              <a:srgbClr val="14213D"/>
            </a:solidFill>
            <a:prstDash val="solid"/>
          </a:ln>
        </p:spPr>
      </p:sp>
      <p:pic>
        <p:nvPicPr>
          <p:cNvPr id="10" name="Image 0" descr="preencoded.png">    </p:cNvPr>
          <p:cNvPicPr>
            <a:picLocks noChangeAspect="1"/>
          </p:cNvPicPr>
          <p:nvPr/>
        </p:nvPicPr>
        <p:blipFill>
          <a:blip r:embed="rId1"/>
          <a:stretch>
            <a:fillRect/>
          </a:stretch>
        </p:blipFill>
        <p:spPr>
          <a:xfrm>
            <a:off x="8834201" y="1976201"/>
            <a:ext cx="272125" cy="272125"/>
          </a:xfrm>
          <a:prstGeom prst="rect">
            <a:avLst/>
          </a:prstGeom>
        </p:spPr>
      </p:pic>
      <p:sp>
        <p:nvSpPr>
          <p:cNvPr id="11" name="Text 6"/>
          <p:cNvSpPr txBox="1"/>
          <p:nvPr/>
        </p:nvSpPr>
        <p:spPr>
          <a:xfrm>
            <a:off x="9372600" y="1828800"/>
            <a:ext cx="21031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Same level?</a:t>
            </a:r>
            <a:endParaRPr lang="en-US" sz="1700" dirty="0"/>
          </a:p>
        </p:txBody>
      </p:sp>
      <p:sp>
        <p:nvSpPr>
          <p:cNvPr id="12" name="Text 7"/>
          <p:cNvSpPr txBox="1"/>
          <p:nvPr/>
        </p:nvSpPr>
        <p:spPr>
          <a:xfrm>
            <a:off x="8686800" y="2514600"/>
            <a:ext cx="274320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Use the associativity:</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10 - 4 - 3 = (10 - 4) - 3 = 3</a:t>
            </a:r>
            <a:endParaRPr lang="en-US" sz="1400" dirty="0"/>
          </a:p>
        </p:txBody>
      </p:sp>
      <p:sp>
        <p:nvSpPr>
          <p:cNvPr id="13" name="Shape 8"/>
          <p:cNvSpPr/>
          <p:nvPr/>
        </p:nvSpPr>
        <p:spPr>
          <a:xfrm>
            <a:off x="8458200" y="3931920"/>
            <a:ext cx="3200400" cy="2148840"/>
          </a:xfrm>
          <a:prstGeom prst="roundRect">
            <a:avLst>
              <a:gd name="adj" fmla="val 5106"/>
            </a:avLst>
          </a:prstGeom>
          <a:solidFill>
            <a:srgbClr val="EEF1F6"/>
          </a:solidFill>
          <a:ln w="12700">
            <a:solidFill>
              <a:srgbClr val="EEF1F6"/>
            </a:solidFill>
            <a:prstDash val="solid"/>
          </a:ln>
        </p:spPr>
      </p:sp>
      <p:sp>
        <p:nvSpPr>
          <p:cNvPr id="14" name="Shape 9"/>
          <p:cNvSpPr/>
          <p:nvPr/>
        </p:nvSpPr>
        <p:spPr>
          <a:xfrm>
            <a:off x="8686800" y="4160520"/>
            <a:ext cx="566928" cy="566928"/>
          </a:xfrm>
          <a:prstGeom prst="ellipse">
            <a:avLst/>
          </a:prstGeom>
          <a:solidFill>
            <a:srgbClr val="2E9E6A"/>
          </a:solidFill>
          <a:ln w="12700">
            <a:solidFill>
              <a:srgbClr val="2E9E6A"/>
            </a:solidFill>
            <a:prstDash val="solid"/>
          </a:ln>
        </p:spPr>
      </p:sp>
      <p:pic>
        <p:nvPicPr>
          <p:cNvPr id="15" name="Image 1" descr="preencoded.png">    </p:cNvPr>
          <p:cNvPicPr>
            <a:picLocks noChangeAspect="1"/>
          </p:cNvPicPr>
          <p:nvPr/>
        </p:nvPicPr>
        <p:blipFill>
          <a:blip r:embed="rId2"/>
          <a:stretch>
            <a:fillRect/>
          </a:stretch>
        </p:blipFill>
        <p:spPr>
          <a:xfrm>
            <a:off x="8834201" y="4307921"/>
            <a:ext cx="272125" cy="272125"/>
          </a:xfrm>
          <a:prstGeom prst="rect">
            <a:avLst/>
          </a:prstGeom>
        </p:spPr>
      </p:pic>
      <p:sp>
        <p:nvSpPr>
          <p:cNvPr id="16" name="Text 10"/>
          <p:cNvSpPr txBox="1"/>
          <p:nvPr/>
        </p:nvSpPr>
        <p:spPr>
          <a:xfrm>
            <a:off x="9372600" y="4160520"/>
            <a:ext cx="21031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Unsure?</a:t>
            </a:r>
            <a:endParaRPr lang="en-US" sz="1700" dirty="0"/>
          </a:p>
        </p:txBody>
      </p:sp>
      <p:sp>
        <p:nvSpPr>
          <p:cNvPr id="17" name="Text 11"/>
          <p:cNvSpPr txBox="1"/>
          <p:nvPr/>
        </p:nvSpPr>
        <p:spPr>
          <a:xfrm>
            <a:off x="8686800" y="4846320"/>
            <a:ext cx="274320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Add parentheses. They are always allowed and make intent clear.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PRECEDENCE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Evaluating an expression step by step</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731520"/>
                <a:gridCol w="3840480"/>
                <a:gridCol w="3017520"/>
              </a:tblGrid>
              <a:tr h="47548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Step</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Expression</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Next operation</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3 + 4 * 2 - 6 / 3 % 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alibri" pitchFamily="34" charset="0"/>
                          <a:ea typeface="Calibri" pitchFamily="34" charset="-122"/>
                          <a:cs typeface="Calibri" pitchFamily="34" charset="-120"/>
                        </a:rPr>
                        <a:t>4 * 2  (leftmost of * / %)</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3 + 8 - 6 / 3 % 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alibri" pitchFamily="34" charset="0"/>
                          <a:ea typeface="Calibri" pitchFamily="34" charset="-122"/>
                          <a:cs typeface="Calibri" pitchFamily="34" charset="-120"/>
                        </a:rPr>
                        <a:t>6 / 3</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3 + 8 - 2 % 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alibri" pitchFamily="34" charset="0"/>
                          <a:ea typeface="Calibri" pitchFamily="34" charset="-122"/>
                          <a:cs typeface="Calibri" pitchFamily="34" charset="-120"/>
                        </a:rPr>
                        <a:t>2 % 2</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3 + 8 - 0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alibri" pitchFamily="34" charset="0"/>
                          <a:ea typeface="Calibri" pitchFamily="34" charset="-122"/>
                          <a:cs typeface="Calibri" pitchFamily="34" charset="-120"/>
                        </a:rPr>
                        <a:t>3 + 8  (leftmost of + -)</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11 - 0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alibri" pitchFamily="34" charset="0"/>
                          <a:ea typeface="Calibri" pitchFamily="34" charset="-122"/>
                          <a:cs typeface="Calibri" pitchFamily="34" charset="-120"/>
                        </a:rPr>
                        <a:t>11 - 0</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11</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alibri" pitchFamily="34" charset="0"/>
                          <a:ea typeface="Calibri" pitchFamily="34" charset="-122"/>
                          <a:cs typeface="Calibri" pitchFamily="34" charset="-120"/>
                        </a:rPr>
                        <a:t>done</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8412480" y="1645920"/>
            <a:ext cx="3246120" cy="1188720"/>
          </a:xfrm>
          <a:prstGeom prst="roundRect">
            <a:avLst>
              <a:gd name="adj" fmla="val 7692"/>
            </a:avLst>
          </a:prstGeom>
          <a:solidFill>
            <a:srgbClr val="0F1729"/>
          </a:solidFill>
          <a:ln w="12700">
            <a:solidFill>
              <a:srgbClr val="0F1729"/>
            </a:solidFill>
            <a:prstDash val="solid"/>
          </a:ln>
        </p:spPr>
      </p:sp>
      <p:sp>
        <p:nvSpPr>
          <p:cNvPr id="9" name="Text 5"/>
          <p:cNvSpPr txBox="1"/>
          <p:nvPr/>
        </p:nvSpPr>
        <p:spPr>
          <a:xfrm>
            <a:off x="8641080" y="1810512"/>
            <a:ext cx="2788920" cy="91440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6"/>
          <p:cNvSpPr/>
          <p:nvPr/>
        </p:nvSpPr>
        <p:spPr>
          <a:xfrm>
            <a:off x="8412480" y="2971800"/>
            <a:ext cx="3246120" cy="868680"/>
          </a:xfrm>
          <a:prstGeom prst="roundRect">
            <a:avLst>
              <a:gd name="adj" fmla="val 10526"/>
            </a:avLst>
          </a:prstGeom>
          <a:solidFill>
            <a:srgbClr val="0B0F19"/>
          </a:solidFill>
          <a:ln w="12700">
            <a:solidFill>
              <a:srgbClr val="2A3654"/>
            </a:solidFill>
            <a:prstDash val="solid"/>
          </a:ln>
        </p:spPr>
      </p:sp>
      <p:sp>
        <p:nvSpPr>
          <p:cNvPr id="11" name="Shape 7"/>
          <p:cNvSpPr/>
          <p:nvPr/>
        </p:nvSpPr>
        <p:spPr>
          <a:xfrm>
            <a:off x="8595360" y="3099816"/>
            <a:ext cx="118872" cy="118872"/>
          </a:xfrm>
          <a:prstGeom prst="ellipse">
            <a:avLst/>
          </a:prstGeom>
          <a:solidFill>
            <a:srgbClr val="FF5F57"/>
          </a:solidFill>
          <a:ln w="12700">
            <a:solidFill>
              <a:srgbClr val="FF5F57"/>
            </a:solidFill>
            <a:prstDash val="solid"/>
          </a:ln>
        </p:spPr>
      </p:sp>
      <p:sp>
        <p:nvSpPr>
          <p:cNvPr id="12" name="Shape 8"/>
          <p:cNvSpPr/>
          <p:nvPr/>
        </p:nvSpPr>
        <p:spPr>
          <a:xfrm>
            <a:off x="8823960" y="3099816"/>
            <a:ext cx="118872" cy="118872"/>
          </a:xfrm>
          <a:prstGeom prst="ellipse">
            <a:avLst/>
          </a:prstGeom>
          <a:solidFill>
            <a:srgbClr val="FEBC2E"/>
          </a:solidFill>
          <a:ln w="12700">
            <a:solidFill>
              <a:srgbClr val="FEBC2E"/>
            </a:solidFill>
            <a:prstDash val="solid"/>
          </a:ln>
        </p:spPr>
      </p:sp>
      <p:sp>
        <p:nvSpPr>
          <p:cNvPr id="13" name="Shape 9"/>
          <p:cNvSpPr/>
          <p:nvPr/>
        </p:nvSpPr>
        <p:spPr>
          <a:xfrm>
            <a:off x="9052560" y="309981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9326880" y="3044952"/>
            <a:ext cx="21488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1"/>
          <p:cNvSpPr txBox="1"/>
          <p:nvPr/>
        </p:nvSpPr>
        <p:spPr>
          <a:xfrm>
            <a:off x="8641080" y="3355848"/>
            <a:ext cx="2788920" cy="36576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11</a:t>
            </a:r>
            <a:endParaRPr lang="en-US" sz="1400" dirty="0"/>
          </a:p>
        </p:txBody>
      </p:sp>
      <p:sp>
        <p:nvSpPr>
          <p:cNvPr id="16" name="Shape 12"/>
          <p:cNvSpPr/>
          <p:nvPr/>
        </p:nvSpPr>
        <p:spPr>
          <a:xfrm>
            <a:off x="548640" y="5166360"/>
            <a:ext cx="11109960" cy="868680"/>
          </a:xfrm>
          <a:prstGeom prst="roundRect">
            <a:avLst>
              <a:gd name="adj" fmla="val 12632"/>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22960" y="5326380"/>
            <a:ext cx="548640" cy="548640"/>
          </a:xfrm>
          <a:prstGeom prst="rect">
            <a:avLst/>
          </a:prstGeom>
        </p:spPr>
      </p:pic>
      <p:sp>
        <p:nvSpPr>
          <p:cNvPr id="18" name="Text 13"/>
          <p:cNvSpPr txBox="1"/>
          <p:nvPr/>
        </p:nvSpPr>
        <p:spPr>
          <a:xfrm>
            <a:off x="1645920" y="5239512"/>
            <a:ext cx="9738360" cy="722376"/>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Two passes: </a:t>
            </a:r>
            <a:pPr indent="0" marL="0">
              <a:buNone/>
            </a:pPr>
            <a:r>
              <a:rPr lang="en-US" sz="1600" dirty="0">
                <a:solidFill>
                  <a:srgbClr val="333B4F"/>
                </a:solidFill>
                <a:latin typeface="Calibri" pitchFamily="34" charset="0"/>
                <a:ea typeface="Calibri" pitchFamily="34" charset="-122"/>
                <a:cs typeface="Calibri" pitchFamily="34" charset="-120"/>
              </a:rPr>
              <a:t>first every </a:t>
            </a:r>
            <a:pPr indent="0" marL="0">
              <a:buNone/>
            </a:pPr>
            <a:r>
              <a:rPr lang="en-US" sz="1600" dirty="0">
                <a:solidFill>
                  <a:srgbClr val="333B4F"/>
                </a:solidFill>
                <a:latin typeface="Courier New" pitchFamily="34" charset="0"/>
                <a:ea typeface="Courier New" pitchFamily="34" charset="-122"/>
                <a:cs typeface="Courier New" pitchFamily="34" charset="-120"/>
              </a:rPr>
              <a:t>* / %</a:t>
            </a:r>
            <a:pPr indent="0" marL="0">
              <a:buNone/>
            </a:pPr>
            <a:r>
              <a:rPr lang="en-US" sz="1600" dirty="0">
                <a:solidFill>
                  <a:srgbClr val="333B4F"/>
                </a:solidFill>
                <a:latin typeface="Calibri" pitchFamily="34" charset="0"/>
                <a:ea typeface="Calibri" pitchFamily="34" charset="-122"/>
                <a:cs typeface="Calibri" pitchFamily="34" charset="-120"/>
              </a:rPr>
              <a:t> from left to right, then every </a:t>
            </a:r>
            <a:pPr indent="0" marL="0">
              <a:buNone/>
            </a:pPr>
            <a:r>
              <a:rPr lang="en-US" sz="1600" dirty="0">
                <a:solidFill>
                  <a:srgbClr val="333B4F"/>
                </a:solidFill>
                <a:latin typeface="Courier New" pitchFamily="34" charset="0"/>
                <a:ea typeface="Courier New" pitchFamily="34" charset="-122"/>
                <a:cs typeface="Courier New" pitchFamily="34" charset="-120"/>
              </a:rPr>
              <a:t>+ -</a:t>
            </a:r>
            <a:pPr indent="0" marL="0">
              <a:buNone/>
            </a:pPr>
            <a:r>
              <a:rPr lang="en-US" sz="1600" dirty="0">
                <a:solidFill>
                  <a:srgbClr val="333B4F"/>
                </a:solidFill>
                <a:latin typeface="Calibri" pitchFamily="34" charset="0"/>
                <a:ea typeface="Calibri" pitchFamily="34" charset="-122"/>
                <a:cs typeface="Calibri" pitchFamily="34" charset="-120"/>
              </a:rPr>
              <a:t> from left to right.</a:t>
            </a:r>
            <a:endParaRPr lang="en-US" sz="1600" dirty="0"/>
          </a:p>
        </p:txBody>
      </p:sp>
      <p:sp>
        <p:nvSpPr>
          <p:cNvPr id="19" name="Shape 14"/>
          <p:cNvSpPr/>
          <p:nvPr/>
        </p:nvSpPr>
        <p:spPr>
          <a:xfrm>
            <a:off x="8412480" y="3977640"/>
            <a:ext cx="3246120" cy="1051560"/>
          </a:xfrm>
          <a:prstGeom prst="roundRect">
            <a:avLst>
              <a:gd name="adj" fmla="val 10435"/>
            </a:avLst>
          </a:prstGeom>
          <a:solidFill>
            <a:srgbClr val="FFF1D6"/>
          </a:solidFill>
          <a:ln w="12700">
            <a:solidFill>
              <a:srgbClr val="FFF1D6"/>
            </a:solidFill>
            <a:prstDash val="solid"/>
          </a:ln>
        </p:spPr>
      </p:sp>
      <p:sp>
        <p:nvSpPr>
          <p:cNvPr id="20" name="Text 15"/>
          <p:cNvSpPr txBox="1"/>
          <p:nvPr/>
        </p:nvSpPr>
        <p:spPr>
          <a:xfrm>
            <a:off x="8549640" y="4023360"/>
            <a:ext cx="2971800" cy="9601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Precedence of </a:t>
            </a:r>
            <a:pPr indent="0" marL="0">
              <a:buNone/>
            </a:pPr>
            <a:r>
              <a:rPr lang="en-US" sz="1400" dirty="0">
                <a:solidFill>
                  <a:srgbClr val="333B4F"/>
                </a:solidFill>
                <a:latin typeface="Courier New" pitchFamily="34" charset="0"/>
                <a:ea typeface="Courier New" pitchFamily="34" charset="-122"/>
                <a:cs typeface="Courier New" pitchFamily="34" charset="-120"/>
              </a:rPr>
              <a:t>%</a:t>
            </a:r>
            <a:pPr indent="0" marL="0">
              <a:buNone/>
            </a:pPr>
            <a:r>
              <a:rPr lang="en-US" sz="1400" dirty="0">
                <a:solidFill>
                  <a:srgbClr val="333B4F"/>
                </a:solidFill>
                <a:latin typeface="Calibri" pitchFamily="34" charset="0"/>
                <a:ea typeface="Calibri" pitchFamily="34" charset="-122"/>
                <a:cs typeface="Calibri" pitchFamily="34" charset="-120"/>
              </a:rPr>
              <a:t> = precedence of </a:t>
            </a:r>
            <a:pPr indent="0" marL="0">
              <a:buNone/>
            </a:pPr>
            <a:r>
              <a:rPr lang="en-US" sz="1400" dirty="0">
                <a:solidFill>
                  <a:srgbClr val="333B4F"/>
                </a:solidFill>
                <a:latin typeface="Courier New" pitchFamily="34" charset="0"/>
                <a:ea typeface="Courier New" pitchFamily="34" charset="-122"/>
                <a:cs typeface="Courier New" pitchFamily="34" charset="-120"/>
              </a:rPr>
              <a:t>*</a:t>
            </a:r>
            <a:pPr indent="0" marL="0">
              <a:buNone/>
            </a:pPr>
            <a:r>
              <a:rPr lang="en-US" sz="1400" dirty="0">
                <a:solidFill>
                  <a:srgbClr val="333B4F"/>
                </a:solidFill>
                <a:latin typeface="Calibri" pitchFamily="34" charset="0"/>
                <a:ea typeface="Calibri" pitchFamily="34" charset="-122"/>
                <a:cs typeface="Calibri" pitchFamily="34" charset="-120"/>
              </a:rPr>
              <a:t> and </a:t>
            </a:r>
            <a:pPr indent="0" marL="0">
              <a:buNone/>
            </a:pPr>
            <a:r>
              <a:rPr lang="en-US" sz="1400" dirty="0">
                <a:solidFill>
                  <a:srgbClr val="333B4F"/>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PRECEDENCE · WEEK 1 BUG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average of three grades — three versions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00200"/>
            <a:ext cx="11109960" cy="1417320"/>
          </a:xfrm>
          <a:prstGeom prst="roundRect">
            <a:avLst>
              <a:gd name="adj" fmla="val 6452"/>
            </a:avLst>
          </a:prstGeom>
          <a:solidFill>
            <a:srgbClr val="0F1729"/>
          </a:solidFill>
          <a:ln w="12700">
            <a:solidFill>
              <a:srgbClr val="0F1729"/>
            </a:solidFill>
            <a:prstDash val="solid"/>
          </a:ln>
        </p:spPr>
      </p:sp>
      <p:sp>
        <p:nvSpPr>
          <p:cNvPr id="8" name="Text 5"/>
          <p:cNvSpPr txBox="1"/>
          <p:nvPr/>
        </p:nvSpPr>
        <p:spPr>
          <a:xfrm>
            <a:off x="777240" y="170992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code/04_14_OperatorPitfalls (excerpt) — g1, g2, g3 are int</a:t>
            </a:r>
            <a:endParaRPr lang="en-US" sz="1100" dirty="0"/>
          </a:p>
        </p:txBody>
      </p:sp>
      <p:sp>
        <p:nvSpPr>
          <p:cNvPr id="9" name="Text 6"/>
          <p:cNvSpPr txBox="1"/>
          <p:nvPr/>
        </p:nvSpPr>
        <p:spPr>
          <a:xfrm>
            <a:off x="777240" y="2011680"/>
            <a:ext cx="10652760" cy="8961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$"g1 + g2 + g3 / 3     = {g1 + g2 + g3 / 3}      (wrong: / before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$"(g1 + g2 + g3) / 3   = {(g1 + g2 + g3) / 3}       (integer division)"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$"(g1 + g2 + g3) / 3.0 = {(g1 + g2 + g3) / 3.0:F2}    (correct)"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200400"/>
            <a:ext cx="6583680" cy="1463040"/>
          </a:xfrm>
          <a:prstGeom prst="roundRect">
            <a:avLst>
              <a:gd name="adj" fmla="val 6250"/>
            </a:avLst>
          </a:prstGeom>
          <a:solidFill>
            <a:srgbClr val="0B0F19"/>
          </a:solidFill>
          <a:ln w="12700">
            <a:solidFill>
              <a:srgbClr val="2A3654"/>
            </a:solidFill>
            <a:prstDash val="solid"/>
          </a:ln>
        </p:spPr>
      </p:sp>
      <p:sp>
        <p:nvSpPr>
          <p:cNvPr id="11" name="Shape 8"/>
          <p:cNvSpPr/>
          <p:nvPr/>
        </p:nvSpPr>
        <p:spPr>
          <a:xfrm>
            <a:off x="731520" y="332841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32841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3284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273552"/>
            <a:ext cx="54864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(grades 60, 70, 85)</a:t>
            </a:r>
            <a:endParaRPr lang="en-US" sz="1000" dirty="0"/>
          </a:p>
        </p:txBody>
      </p:sp>
      <p:sp>
        <p:nvSpPr>
          <p:cNvPr id="15" name="Text 12"/>
          <p:cNvSpPr txBox="1"/>
          <p:nvPr/>
        </p:nvSpPr>
        <p:spPr>
          <a:xfrm>
            <a:off x="777240" y="3584448"/>
            <a:ext cx="6126480" cy="9601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Grade 3: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85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g1 + g2 + g3 / 3     = 158      (wrong: / before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(g1 + g2 + g3) / 3   = 71       (integer division)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(g1 + g2 + g3) / 3.0 = 71.67    (correct)</a:t>
            </a:r>
            <a:endParaRPr lang="en-US" sz="1200" dirty="0"/>
          </a:p>
        </p:txBody>
      </p:sp>
      <p:sp>
        <p:nvSpPr>
          <p:cNvPr id="16" name="Shape 13"/>
          <p:cNvSpPr/>
          <p:nvPr/>
        </p:nvSpPr>
        <p:spPr>
          <a:xfrm>
            <a:off x="7360920" y="3200400"/>
            <a:ext cx="4297680" cy="868680"/>
          </a:xfrm>
          <a:prstGeom prst="roundRect">
            <a:avLst>
              <a:gd name="adj" fmla="val 12632"/>
            </a:avLst>
          </a:prstGeom>
          <a:solidFill>
            <a:srgbClr val="EEF1F6"/>
          </a:solidFill>
          <a:ln w="12700">
            <a:solidFill>
              <a:srgbClr val="EEF1F6"/>
            </a:solidFill>
            <a:prstDash val="solid"/>
          </a:ln>
        </p:spPr>
      </p:sp>
      <p:sp>
        <p:nvSpPr>
          <p:cNvPr id="17" name="Shape 14"/>
          <p:cNvSpPr/>
          <p:nvPr/>
        </p:nvSpPr>
        <p:spPr>
          <a:xfrm>
            <a:off x="7498080" y="3337560"/>
            <a:ext cx="594360" cy="594360"/>
          </a:xfrm>
          <a:prstGeom prst="ellipse">
            <a:avLst/>
          </a:prstGeom>
          <a:solidFill>
            <a:srgbClr val="C8453B"/>
          </a:solidFill>
          <a:ln w="12700">
            <a:solidFill>
              <a:srgbClr val="C8453B"/>
            </a:solidFill>
            <a:prstDash val="solid"/>
          </a:ln>
        </p:spPr>
      </p:sp>
      <p:pic>
        <p:nvPicPr>
          <p:cNvPr id="18" name="Image 0" descr="preencoded.png">    </p:cNvPr>
          <p:cNvPicPr>
            <a:picLocks noChangeAspect="1"/>
          </p:cNvPicPr>
          <p:nvPr/>
        </p:nvPicPr>
        <p:blipFill>
          <a:blip r:embed="rId1"/>
          <a:stretch>
            <a:fillRect/>
          </a:stretch>
        </p:blipFill>
        <p:spPr>
          <a:xfrm>
            <a:off x="7652614" y="3492094"/>
            <a:ext cx="285293" cy="285293"/>
          </a:xfrm>
          <a:prstGeom prst="rect">
            <a:avLst/>
          </a:prstGeom>
        </p:spPr>
      </p:pic>
      <p:sp>
        <p:nvSpPr>
          <p:cNvPr id="19" name="Text 15"/>
          <p:cNvSpPr txBox="1"/>
          <p:nvPr/>
        </p:nvSpPr>
        <p:spPr>
          <a:xfrm>
            <a:off x="8229600" y="3200400"/>
            <a:ext cx="1280160" cy="868680"/>
          </a:xfrm>
          <a:prstGeom prst="rect">
            <a:avLst/>
          </a:prstGeom>
          <a:noFill/>
          <a:ln/>
        </p:spPr>
        <p:txBody>
          <a:bodyPr wrap="square" lIns="0" tIns="0" rIns="0" bIns="0" rtlCol="0" anchor="ctr"/>
          <a:lstStyle/>
          <a:p>
            <a:pPr indent="0" marL="0">
              <a:buNone/>
            </a:pPr>
            <a:r>
              <a:rPr lang="en-US" sz="2400" b="1" dirty="0">
                <a:solidFill>
                  <a:srgbClr val="C8453B"/>
                </a:solidFill>
                <a:latin typeface="Courier New" pitchFamily="34" charset="0"/>
                <a:ea typeface="Courier New" pitchFamily="34" charset="-122"/>
                <a:cs typeface="Courier New" pitchFamily="34" charset="-120"/>
              </a:rPr>
              <a:t>158</a:t>
            </a:r>
            <a:endParaRPr lang="en-US" sz="2400" dirty="0"/>
          </a:p>
        </p:txBody>
      </p:sp>
      <p:sp>
        <p:nvSpPr>
          <p:cNvPr id="20" name="Text 16"/>
          <p:cNvSpPr txBox="1"/>
          <p:nvPr/>
        </p:nvSpPr>
        <p:spPr>
          <a:xfrm>
            <a:off x="9509760" y="3200400"/>
            <a:ext cx="2103120" cy="8686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only g3 is divided</a:t>
            </a:r>
            <a:endParaRPr lang="en-US" sz="1400" dirty="0"/>
          </a:p>
        </p:txBody>
      </p:sp>
      <p:sp>
        <p:nvSpPr>
          <p:cNvPr id="21" name="Shape 17"/>
          <p:cNvSpPr/>
          <p:nvPr/>
        </p:nvSpPr>
        <p:spPr>
          <a:xfrm>
            <a:off x="7360920" y="4178808"/>
            <a:ext cx="4297680" cy="868680"/>
          </a:xfrm>
          <a:prstGeom prst="roundRect">
            <a:avLst>
              <a:gd name="adj" fmla="val 12632"/>
            </a:avLst>
          </a:prstGeom>
          <a:solidFill>
            <a:srgbClr val="EEF1F6"/>
          </a:solidFill>
          <a:ln w="12700">
            <a:solidFill>
              <a:srgbClr val="EEF1F6"/>
            </a:solidFill>
            <a:prstDash val="solid"/>
          </a:ln>
        </p:spPr>
      </p:sp>
      <p:sp>
        <p:nvSpPr>
          <p:cNvPr id="22" name="Shape 18"/>
          <p:cNvSpPr/>
          <p:nvPr/>
        </p:nvSpPr>
        <p:spPr>
          <a:xfrm>
            <a:off x="7498080" y="4315968"/>
            <a:ext cx="594360" cy="594360"/>
          </a:xfrm>
          <a:prstGeom prst="ellipse">
            <a:avLst/>
          </a:prstGeom>
          <a:solidFill>
            <a:srgbClr val="B7791F"/>
          </a:solidFill>
          <a:ln w="12700">
            <a:solidFill>
              <a:srgbClr val="B7791F"/>
            </a:solidFill>
            <a:prstDash val="solid"/>
          </a:ln>
        </p:spPr>
      </p:sp>
      <p:pic>
        <p:nvPicPr>
          <p:cNvPr id="23" name="Image 1" descr="preencoded.png">    </p:cNvPr>
          <p:cNvPicPr>
            <a:picLocks noChangeAspect="1"/>
          </p:cNvPicPr>
          <p:nvPr/>
        </p:nvPicPr>
        <p:blipFill>
          <a:blip r:embed="rId2"/>
          <a:stretch>
            <a:fillRect/>
          </a:stretch>
        </p:blipFill>
        <p:spPr>
          <a:xfrm>
            <a:off x="7652614" y="4470502"/>
            <a:ext cx="285293" cy="285293"/>
          </a:xfrm>
          <a:prstGeom prst="rect">
            <a:avLst/>
          </a:prstGeom>
        </p:spPr>
      </p:pic>
      <p:sp>
        <p:nvSpPr>
          <p:cNvPr id="24" name="Text 19"/>
          <p:cNvSpPr txBox="1"/>
          <p:nvPr/>
        </p:nvSpPr>
        <p:spPr>
          <a:xfrm>
            <a:off x="8229600" y="4178808"/>
            <a:ext cx="1280160" cy="868680"/>
          </a:xfrm>
          <a:prstGeom prst="rect">
            <a:avLst/>
          </a:prstGeom>
          <a:noFill/>
          <a:ln/>
        </p:spPr>
        <p:txBody>
          <a:bodyPr wrap="square" lIns="0" tIns="0" rIns="0" bIns="0" rtlCol="0" anchor="ctr"/>
          <a:lstStyle/>
          <a:p>
            <a:pPr indent="0" marL="0">
              <a:buNone/>
            </a:pPr>
            <a:r>
              <a:rPr lang="en-US" sz="2400" b="1" dirty="0">
                <a:solidFill>
                  <a:srgbClr val="B7791F"/>
                </a:solidFill>
                <a:latin typeface="Courier New" pitchFamily="34" charset="0"/>
                <a:ea typeface="Courier New" pitchFamily="34" charset="-122"/>
                <a:cs typeface="Courier New" pitchFamily="34" charset="-120"/>
              </a:rPr>
              <a:t>71</a:t>
            </a:r>
            <a:endParaRPr lang="en-US" sz="2400" dirty="0"/>
          </a:p>
        </p:txBody>
      </p:sp>
      <p:sp>
        <p:nvSpPr>
          <p:cNvPr id="25" name="Text 20"/>
          <p:cNvSpPr txBox="1"/>
          <p:nvPr/>
        </p:nvSpPr>
        <p:spPr>
          <a:xfrm>
            <a:off x="9509760" y="4178808"/>
            <a:ext cx="2103120" cy="8686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integer division</a:t>
            </a:r>
            <a:endParaRPr lang="en-US" sz="1400" dirty="0"/>
          </a:p>
        </p:txBody>
      </p:sp>
      <p:sp>
        <p:nvSpPr>
          <p:cNvPr id="26" name="Shape 21"/>
          <p:cNvSpPr/>
          <p:nvPr/>
        </p:nvSpPr>
        <p:spPr>
          <a:xfrm>
            <a:off x="7360920" y="5157216"/>
            <a:ext cx="4297680" cy="868680"/>
          </a:xfrm>
          <a:prstGeom prst="roundRect">
            <a:avLst>
              <a:gd name="adj" fmla="val 12632"/>
            </a:avLst>
          </a:prstGeom>
          <a:solidFill>
            <a:srgbClr val="EEF1F6"/>
          </a:solidFill>
          <a:ln w="12700">
            <a:solidFill>
              <a:srgbClr val="EEF1F6"/>
            </a:solidFill>
            <a:prstDash val="solid"/>
          </a:ln>
        </p:spPr>
      </p:sp>
      <p:sp>
        <p:nvSpPr>
          <p:cNvPr id="27" name="Shape 22"/>
          <p:cNvSpPr/>
          <p:nvPr/>
        </p:nvSpPr>
        <p:spPr>
          <a:xfrm>
            <a:off x="7498080" y="5294376"/>
            <a:ext cx="594360" cy="594360"/>
          </a:xfrm>
          <a:prstGeom prst="ellipse">
            <a:avLst/>
          </a:prstGeom>
          <a:solidFill>
            <a:srgbClr val="2E9E6A"/>
          </a:solidFill>
          <a:ln w="12700">
            <a:solidFill>
              <a:srgbClr val="2E9E6A"/>
            </a:solidFill>
            <a:prstDash val="solid"/>
          </a:ln>
        </p:spPr>
      </p:sp>
      <p:pic>
        <p:nvPicPr>
          <p:cNvPr id="28" name="Image 2" descr="preencoded.png">    </p:cNvPr>
          <p:cNvPicPr>
            <a:picLocks noChangeAspect="1"/>
          </p:cNvPicPr>
          <p:nvPr/>
        </p:nvPicPr>
        <p:blipFill>
          <a:blip r:embed="rId3"/>
          <a:stretch>
            <a:fillRect/>
          </a:stretch>
        </p:blipFill>
        <p:spPr>
          <a:xfrm>
            <a:off x="7652614" y="5448910"/>
            <a:ext cx="285293" cy="285293"/>
          </a:xfrm>
          <a:prstGeom prst="rect">
            <a:avLst/>
          </a:prstGeom>
        </p:spPr>
      </p:pic>
      <p:sp>
        <p:nvSpPr>
          <p:cNvPr id="29" name="Text 23"/>
          <p:cNvSpPr txBox="1"/>
          <p:nvPr/>
        </p:nvSpPr>
        <p:spPr>
          <a:xfrm>
            <a:off x="8229600" y="5157216"/>
            <a:ext cx="1280160" cy="868680"/>
          </a:xfrm>
          <a:prstGeom prst="rect">
            <a:avLst/>
          </a:prstGeom>
          <a:noFill/>
          <a:ln/>
        </p:spPr>
        <p:txBody>
          <a:bodyPr wrap="square" lIns="0" tIns="0" rIns="0" bIns="0" rtlCol="0" anchor="ctr"/>
          <a:lstStyle/>
          <a:p>
            <a:pPr indent="0" marL="0">
              <a:buNone/>
            </a:pPr>
            <a:r>
              <a:rPr lang="en-US" sz="2400" b="1" dirty="0">
                <a:solidFill>
                  <a:srgbClr val="2E9E6A"/>
                </a:solidFill>
                <a:latin typeface="Courier New" pitchFamily="34" charset="0"/>
                <a:ea typeface="Courier New" pitchFamily="34" charset="-122"/>
                <a:cs typeface="Courier New" pitchFamily="34" charset="-120"/>
              </a:rPr>
              <a:t>71.67</a:t>
            </a:r>
            <a:endParaRPr lang="en-US" sz="2400" dirty="0"/>
          </a:p>
        </p:txBody>
      </p:sp>
      <p:sp>
        <p:nvSpPr>
          <p:cNvPr id="30" name="Text 24"/>
          <p:cNvSpPr txBox="1"/>
          <p:nvPr/>
        </p:nvSpPr>
        <p:spPr>
          <a:xfrm>
            <a:off x="9509760" y="5157216"/>
            <a:ext cx="2103120" cy="8686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divide by 3.0</a:t>
            </a:r>
            <a:endParaRPr lang="en-US" sz="1400" dirty="0"/>
          </a:p>
        </p:txBody>
      </p:sp>
      <p:sp>
        <p:nvSpPr>
          <p:cNvPr id="31" name="Shape 25"/>
          <p:cNvSpPr/>
          <p:nvPr/>
        </p:nvSpPr>
        <p:spPr>
          <a:xfrm>
            <a:off x="548640" y="4846320"/>
            <a:ext cx="6583680" cy="1188720"/>
          </a:xfrm>
          <a:prstGeom prst="roundRect">
            <a:avLst>
              <a:gd name="adj" fmla="val 9231"/>
            </a:avLst>
          </a:prstGeom>
          <a:solidFill>
            <a:srgbClr val="FFF6E3"/>
          </a:solidFill>
          <a:ln w="12700">
            <a:solidFill>
              <a:srgbClr val="FFF6E3"/>
            </a:solidFill>
            <a:prstDash val="solid"/>
          </a:ln>
        </p:spPr>
      </p:sp>
      <p:pic>
        <p:nvPicPr>
          <p:cNvPr id="32" name="Image 3" descr="preencoded.png">    </p:cNvPr>
          <p:cNvPicPr>
            <a:picLocks noChangeAspect="1"/>
          </p:cNvPicPr>
          <p:nvPr/>
        </p:nvPicPr>
        <p:blipFill>
          <a:blip r:embed="rId4"/>
          <a:stretch>
            <a:fillRect/>
          </a:stretch>
        </p:blipFill>
        <p:spPr>
          <a:xfrm>
            <a:off x="822960" y="5166360"/>
            <a:ext cx="548640" cy="548640"/>
          </a:xfrm>
          <a:prstGeom prst="rect">
            <a:avLst/>
          </a:prstGeom>
        </p:spPr>
      </p:pic>
      <p:sp>
        <p:nvSpPr>
          <p:cNvPr id="33" name="Text 26"/>
          <p:cNvSpPr txBox="1"/>
          <p:nvPr/>
        </p:nvSpPr>
        <p:spPr>
          <a:xfrm>
            <a:off x="1645920" y="4919472"/>
            <a:ext cx="5212080" cy="104241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All three compile. </a:t>
            </a:r>
            <a:pPr indent="0" marL="0">
              <a:buNone/>
            </a:pPr>
            <a:r>
              <a:rPr lang="en-US" sz="1500" dirty="0">
                <a:solidFill>
                  <a:srgbClr val="333B4F"/>
                </a:solidFill>
                <a:latin typeface="Calibri" pitchFamily="34" charset="0"/>
                <a:ea typeface="Calibri" pitchFamily="34" charset="-122"/>
                <a:cs typeface="Calibri" pitchFamily="34" charset="-120"/>
              </a:rPr>
              <a:t>The compiler checks syntax and types, not your intention. Test with numbers you can check by hand.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ASSIGNMENT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Compound assignment operators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309360" cy="914400"/>
        </p:xfrm>
        <a:graphic>
          <a:graphicData uri="http://schemas.openxmlformats.org/drawingml/2006/table">
            <a:tbl>
              <a:tblPr/>
              <a:tblGrid>
                <a:gridCol w="1005840"/>
                <a:gridCol w="1737360"/>
                <a:gridCol w="2560320"/>
                <a:gridCol w="100584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Operator</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Means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(store 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score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score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score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score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score = score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7086600" y="1645920"/>
            <a:ext cx="4572000" cy="1920240"/>
          </a:xfrm>
          <a:prstGeom prst="roundRect">
            <a:avLst>
              <a:gd name="adj" fmla="val 4762"/>
            </a:avLst>
          </a:prstGeom>
          <a:solidFill>
            <a:srgbClr val="0B0F19"/>
          </a:solidFill>
          <a:ln w="12700">
            <a:solidFill>
              <a:srgbClr val="2A3654"/>
            </a:solidFill>
            <a:prstDash val="solid"/>
          </a:ln>
        </p:spPr>
      </p:sp>
      <p:sp>
        <p:nvSpPr>
          <p:cNvPr id="9" name="Shape 5"/>
          <p:cNvSpPr/>
          <p:nvPr/>
        </p:nvSpPr>
        <p:spPr>
          <a:xfrm>
            <a:off x="7269480" y="1773936"/>
            <a:ext cx="118872" cy="118872"/>
          </a:xfrm>
          <a:prstGeom prst="ellipse">
            <a:avLst/>
          </a:prstGeom>
          <a:solidFill>
            <a:srgbClr val="FF5F57"/>
          </a:solidFill>
          <a:ln w="12700">
            <a:solidFill>
              <a:srgbClr val="FF5F57"/>
            </a:solidFill>
            <a:prstDash val="solid"/>
          </a:ln>
        </p:spPr>
      </p:sp>
      <p:sp>
        <p:nvSpPr>
          <p:cNvPr id="10" name="Shape 6"/>
          <p:cNvSpPr/>
          <p:nvPr/>
        </p:nvSpPr>
        <p:spPr>
          <a:xfrm>
            <a:off x="7498080" y="1773936"/>
            <a:ext cx="118872" cy="118872"/>
          </a:xfrm>
          <a:prstGeom prst="ellipse">
            <a:avLst/>
          </a:prstGeom>
          <a:solidFill>
            <a:srgbClr val="FEBC2E"/>
          </a:solidFill>
          <a:ln w="12700">
            <a:solidFill>
              <a:srgbClr val="FEBC2E"/>
            </a:solidFill>
            <a:prstDash val="solid"/>
          </a:ln>
        </p:spPr>
      </p:sp>
      <p:sp>
        <p:nvSpPr>
          <p:cNvPr id="11" name="Shape 7"/>
          <p:cNvSpPr/>
          <p:nvPr/>
        </p:nvSpPr>
        <p:spPr>
          <a:xfrm>
            <a:off x="7726680" y="1773936"/>
            <a:ext cx="118872" cy="118872"/>
          </a:xfrm>
          <a:prstGeom prst="ellipse">
            <a:avLst/>
          </a:prstGeom>
          <a:solidFill>
            <a:srgbClr val="28C840"/>
          </a:solidFill>
          <a:ln w="12700">
            <a:solidFill>
              <a:srgbClr val="28C840"/>
            </a:solidFill>
            <a:prstDash val="solid"/>
          </a:ln>
        </p:spPr>
      </p:sp>
      <p:sp>
        <p:nvSpPr>
          <p:cNvPr id="12" name="Text 8"/>
          <p:cNvSpPr txBox="1"/>
          <p:nvPr/>
        </p:nvSpPr>
        <p:spPr>
          <a:xfrm>
            <a:off x="8001000" y="1719072"/>
            <a:ext cx="3474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(04_13)</a:t>
            </a:r>
            <a:endParaRPr lang="en-US" sz="1000" dirty="0"/>
          </a:p>
        </p:txBody>
      </p:sp>
      <p:sp>
        <p:nvSpPr>
          <p:cNvPr id="13" name="Text 9"/>
          <p:cNvSpPr txBox="1"/>
          <p:nvPr/>
        </p:nvSpPr>
        <p:spPr>
          <a:xfrm>
            <a:off x="7315200" y="2029968"/>
            <a:ext cx="4114800" cy="14173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 5  -&gt;  15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 3  -&gt;  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 2  -&gt;  24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 5  -&gt;  4   (integer division)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 3  -&gt;  1</a:t>
            </a:r>
            <a:endParaRPr lang="en-US" sz="1300" dirty="0"/>
          </a:p>
        </p:txBody>
      </p:sp>
      <p:sp>
        <p:nvSpPr>
          <p:cNvPr id="14" name="Shape 10"/>
          <p:cNvSpPr/>
          <p:nvPr/>
        </p:nvSpPr>
        <p:spPr>
          <a:xfrm>
            <a:off x="7086600" y="3749040"/>
            <a:ext cx="4572000" cy="1554480"/>
          </a:xfrm>
          <a:prstGeom prst="roundRect">
            <a:avLst>
              <a:gd name="adj" fmla="val 7059"/>
            </a:avLst>
          </a:prstGeom>
          <a:solidFill>
            <a:srgbClr val="FFF6E3"/>
          </a:solidFill>
          <a:ln w="12700">
            <a:solidFill>
              <a:srgbClr val="FFF6E3"/>
            </a:solidFill>
            <a:prstDash val="solid"/>
          </a:ln>
        </p:spPr>
      </p:sp>
      <p:pic>
        <p:nvPicPr>
          <p:cNvPr id="15" name="Image 0" descr="preencoded.png">    </p:cNvPr>
          <p:cNvPicPr>
            <a:picLocks noChangeAspect="1"/>
          </p:cNvPicPr>
          <p:nvPr/>
        </p:nvPicPr>
        <p:blipFill>
          <a:blip r:embed="rId1"/>
          <a:stretch>
            <a:fillRect/>
          </a:stretch>
        </p:blipFill>
        <p:spPr>
          <a:xfrm>
            <a:off x="7360920" y="4251960"/>
            <a:ext cx="548640" cy="548640"/>
          </a:xfrm>
          <a:prstGeom prst="rect">
            <a:avLst/>
          </a:prstGeom>
        </p:spPr>
      </p:pic>
      <p:sp>
        <p:nvSpPr>
          <p:cNvPr id="16" name="Text 11"/>
          <p:cNvSpPr txBox="1"/>
          <p:nvPr/>
        </p:nvSpPr>
        <p:spPr>
          <a:xfrm>
            <a:off x="8183880" y="3822192"/>
            <a:ext cx="3200400" cy="14081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Right side first: </a:t>
            </a:r>
            <a:pPr indent="0" marL="0">
              <a:buNone/>
            </a:pPr>
            <a:r>
              <a:rPr lang="en-US" sz="1400" dirty="0">
                <a:solidFill>
                  <a:srgbClr val="333B4F"/>
                </a:solidFill>
                <a:latin typeface="Courier New" pitchFamily="34" charset="0"/>
                <a:ea typeface="Courier New" pitchFamily="34" charset="-122"/>
                <a:cs typeface="Courier New" pitchFamily="34" charset="-120"/>
              </a:rPr>
              <a:t>c *= 3 + 1;</a:t>
            </a:r>
            <a:pPr indent="0" marL="0">
              <a:buNone/>
            </a:pPr>
            <a:r>
              <a:rPr lang="en-US" sz="1400" dirty="0">
                <a:solidFill>
                  <a:srgbClr val="333B4F"/>
                </a:solidFill>
                <a:latin typeface="Calibri" pitchFamily="34" charset="0"/>
                <a:ea typeface="Calibri" pitchFamily="34" charset="-122"/>
                <a:cs typeface="Calibri" pitchFamily="34" charset="-120"/>
              </a:rPr>
              <a:t> means </a:t>
            </a:r>
            <a:pPr indent="0" marL="0">
              <a:buNone/>
            </a:pPr>
            <a:r>
              <a:rPr lang="en-US" sz="1400" dirty="0">
                <a:solidFill>
                  <a:srgbClr val="333B4F"/>
                </a:solidFill>
                <a:latin typeface="Courier New" pitchFamily="34" charset="0"/>
                <a:ea typeface="Courier New" pitchFamily="34" charset="-122"/>
                <a:cs typeface="Courier New" pitchFamily="34" charset="-120"/>
              </a:rPr>
              <a:t>c = c * (3 + 1);</a:t>
            </a:r>
            <a:endParaRPr lang="en-US" sz="1400" dirty="0"/>
          </a:p>
        </p:txBody>
      </p:sp>
      <p:sp>
        <p:nvSpPr>
          <p:cNvPr id="17" name="Shape 12"/>
          <p:cNvSpPr/>
          <p:nvPr/>
        </p:nvSpPr>
        <p:spPr>
          <a:xfrm>
            <a:off x="548640" y="5074920"/>
            <a:ext cx="6309360" cy="960120"/>
          </a:xfrm>
          <a:prstGeom prst="roundRect">
            <a:avLst>
              <a:gd name="adj" fmla="val 11429"/>
            </a:avLst>
          </a:prstGeom>
          <a:solidFill>
            <a:srgbClr val="EEF1F6"/>
          </a:solidFill>
          <a:ln w="12700">
            <a:solidFill>
              <a:srgbClr val="EEF1F6"/>
            </a:solidFill>
            <a:prstDash val="solid"/>
          </a:ln>
        </p:spPr>
      </p:sp>
      <p:pic>
        <p:nvPicPr>
          <p:cNvPr id="18" name="Image 1" descr="preencoded.png">    </p:cNvPr>
          <p:cNvPicPr>
            <a:picLocks noChangeAspect="1"/>
          </p:cNvPicPr>
          <p:nvPr/>
        </p:nvPicPr>
        <p:blipFill>
          <a:blip r:embed="rId2"/>
          <a:stretch>
            <a:fillRect/>
          </a:stretch>
        </p:blipFill>
        <p:spPr>
          <a:xfrm>
            <a:off x="822960" y="5280660"/>
            <a:ext cx="548640" cy="548640"/>
          </a:xfrm>
          <a:prstGeom prst="rect">
            <a:avLst/>
          </a:prstGeom>
        </p:spPr>
      </p:pic>
      <p:sp>
        <p:nvSpPr>
          <p:cNvPr id="19" name="Text 13"/>
          <p:cNvSpPr txBox="1"/>
          <p:nvPr/>
        </p:nvSpPr>
        <p:spPr>
          <a:xfrm>
            <a:off x="1645920" y="5148072"/>
            <a:ext cx="4937760" cy="813816"/>
          </a:xfrm>
          <a:prstGeom prst="rect">
            <a:avLst/>
          </a:prstGeom>
          <a:noFill/>
          <a:ln/>
        </p:spPr>
        <p:txBody>
          <a:bodyPr wrap="square" lIns="0" tIns="0" rIns="0" bIns="0" rtlCol="0" anchor="ctr"/>
          <a:lstStyle/>
          <a:p>
            <a:pPr indent="0" marL="0">
              <a:buNone/>
            </a:pPr>
            <a:r>
              <a:rPr lang="en-US" sz="1500" dirty="0">
                <a:solidFill>
                  <a:srgbClr val="333B4F"/>
                </a:solidFill>
                <a:latin typeface="Calibri" pitchFamily="34" charset="0"/>
                <a:ea typeface="Calibri" pitchFamily="34" charset="-122"/>
                <a:cs typeface="Calibri" pitchFamily="34" charset="-120"/>
              </a:rPr>
              <a:t>The table runs top to bottom; each row starts from the previous score.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ASSIGNMENT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Increment and decrement: prefix vs postfix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600200"/>
            <a:ext cx="6400800" cy="2788920"/>
          </a:xfrm>
          <a:prstGeom prst="roundRect">
            <a:avLst>
              <a:gd name="adj" fmla="val 3279"/>
            </a:avLst>
          </a:prstGeom>
          <a:solidFill>
            <a:srgbClr val="0F1729"/>
          </a:solidFill>
          <a:ln w="12700">
            <a:solidFill>
              <a:srgbClr val="0F1729"/>
            </a:solidFill>
            <a:prstDash val="solid"/>
          </a:ln>
        </p:spPr>
      </p:sp>
      <p:sp>
        <p:nvSpPr>
          <p:cNvPr id="8" name="Text 5"/>
          <p:cNvSpPr txBox="1"/>
          <p:nvPr/>
        </p:nvSpPr>
        <p:spPr>
          <a:xfrm>
            <a:off x="777240" y="170992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code/04_13_IncrementDecrement (excerpt)</a:t>
            </a:r>
            <a:endParaRPr lang="en-US" sz="1100" dirty="0"/>
          </a:p>
        </p:txBody>
      </p:sp>
      <p:sp>
        <p:nvSpPr>
          <p:cNvPr id="9" name="Text 6"/>
          <p:cNvSpPr txBox="1"/>
          <p:nvPr/>
        </p:nvSpPr>
        <p:spPr>
          <a:xfrm>
            <a:off x="777240" y="2011680"/>
            <a:ext cx="5943600" cy="226771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i++;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 gets 5, then i becomes 6</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 i++  -&gt;  a = {a}, i = {i}"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++i;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 becomes 6, then b gets 6</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 = ++i  -&gt;  b = {b}, i = {i}"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uses 3, then j becomes 2</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 = j-- * 10  -&gt;  c = {c}, j = {j}"</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00200"/>
            <a:ext cx="4480560" cy="1325880"/>
          </a:xfrm>
          <a:prstGeom prst="roundRect">
            <a:avLst>
              <a:gd name="adj" fmla="val 6897"/>
            </a:avLst>
          </a:prstGeom>
          <a:solidFill>
            <a:srgbClr val="0B0F19"/>
          </a:solidFill>
          <a:ln w="12700">
            <a:solidFill>
              <a:srgbClr val="2A3654"/>
            </a:solidFill>
            <a:prstDash val="solid"/>
          </a:ln>
        </p:spPr>
      </p:sp>
      <p:sp>
        <p:nvSpPr>
          <p:cNvPr id="11" name="Shape 8"/>
          <p:cNvSpPr/>
          <p:nvPr/>
        </p:nvSpPr>
        <p:spPr>
          <a:xfrm>
            <a:off x="736092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67335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406640" y="1984248"/>
            <a:ext cx="4023360" cy="8229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i++  -&gt;  a = 5, i = 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 = ++i  -&gt;  b = 6, i = 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 = j-- * 10  -&gt;  c = 30, j = 2</a:t>
            </a:r>
            <a:endParaRPr lang="en-US" sz="1200" dirty="0"/>
          </a:p>
        </p:txBody>
      </p:sp>
      <p:sp>
        <p:nvSpPr>
          <p:cNvPr id="16" name="Shape 13"/>
          <p:cNvSpPr/>
          <p:nvPr/>
        </p:nvSpPr>
        <p:spPr>
          <a:xfrm>
            <a:off x="7178040" y="3063240"/>
            <a:ext cx="4480560" cy="1325880"/>
          </a:xfrm>
          <a:prstGeom prst="roundRect">
            <a:avLst>
              <a:gd name="adj" fmla="val 8276"/>
            </a:avLst>
          </a:prstGeom>
          <a:solidFill>
            <a:srgbClr val="FFF1D6"/>
          </a:solidFill>
          <a:ln w="12700">
            <a:solidFill>
              <a:srgbClr val="FFF1D6"/>
            </a:solidFill>
            <a:prstDash val="solid"/>
          </a:ln>
        </p:spPr>
      </p:sp>
      <p:sp>
        <p:nvSpPr>
          <p:cNvPr id="17" name="Text 14"/>
          <p:cNvSpPr txBox="1"/>
          <p:nvPr/>
        </p:nvSpPr>
        <p:spPr>
          <a:xfrm>
            <a:off x="7360920" y="3154680"/>
            <a:ext cx="4206240" cy="1143000"/>
          </a:xfrm>
          <a:prstGeom prst="rect">
            <a:avLst/>
          </a:prstGeom>
          <a:noFill/>
          <a:ln/>
        </p:spPr>
        <p:txBody>
          <a:bodyPr wrap="square" lIns="0" tIns="0" rIns="0" bIns="0" rtlCol="0" anchor="ctr"/>
          <a:lstStyle/>
          <a:p>
            <a:pPr indent="0" marL="0">
              <a:spcAft>
                <a:spcPts val="400"/>
              </a:spcAft>
              <a:buNone/>
            </a:pPr>
            <a:r>
              <a:rPr lang="en-US" sz="1500" b="1" dirty="0">
                <a:solidFill>
                  <a:srgbClr val="333B4F"/>
                </a:solidFill>
                <a:latin typeface="Courier New" pitchFamily="34" charset="0"/>
                <a:ea typeface="Courier New" pitchFamily="34" charset="-122"/>
                <a:cs typeface="Courier New" pitchFamily="34" charset="-120"/>
              </a:rPr>
              <a:t>i++</a:t>
            </a:r>
            <a:pPr indent="0" marL="0">
              <a:spcAft>
                <a:spcPts val="400"/>
              </a:spcAft>
              <a:buNone/>
            </a:pPr>
            <a:r>
              <a:rPr lang="en-US" sz="1500" dirty="0">
                <a:solidFill>
                  <a:srgbClr val="333B4F"/>
                </a:solidFill>
                <a:latin typeface="Calibri" pitchFamily="34" charset="0"/>
                <a:ea typeface="Calibri" pitchFamily="34" charset="-122"/>
                <a:cs typeface="Calibri" pitchFamily="34" charset="-120"/>
              </a:rPr>
              <a:t> → use old value, then add 1</a:t>
            </a:r>
            <a:endParaRPr lang="en-US" sz="1500" dirty="0"/>
          </a:p>
          <a:p>
            <a:pPr indent="0" marL="0">
              <a:spcAft>
                <a:spcPts val="400"/>
              </a:spcAft>
              <a:buNone/>
            </a:pPr>
            <a:r>
              <a:rPr lang="en-US" sz="1500" b="1" dirty="0">
                <a:solidFill>
                  <a:srgbClr val="333B4F"/>
                </a:solidFill>
                <a:latin typeface="Courier New" pitchFamily="34" charset="0"/>
                <a:ea typeface="Courier New" pitchFamily="34" charset="-122"/>
                <a:cs typeface="Courier New" pitchFamily="34" charset="-120"/>
              </a:rPr>
              <a:t>++i</a:t>
            </a:r>
            <a:pPr indent="0" marL="0">
              <a:spcAft>
                <a:spcPts val="400"/>
              </a:spcAft>
              <a:buNone/>
            </a:pPr>
            <a:r>
              <a:rPr lang="en-US" sz="1500" dirty="0">
                <a:solidFill>
                  <a:srgbClr val="333B4F"/>
                </a:solidFill>
                <a:latin typeface="Calibri" pitchFamily="34" charset="0"/>
                <a:ea typeface="Calibri" pitchFamily="34" charset="-122"/>
                <a:cs typeface="Calibri" pitchFamily="34" charset="-120"/>
              </a:rPr>
              <a:t> → add 1, then use new value</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5394960" cy="914400"/>
        </p:xfrm>
        <a:graphic>
          <a:graphicData uri="http://schemas.openxmlformats.org/drawingml/2006/table">
            <a:tbl>
              <a:tblPr/>
              <a:tblGrid>
                <a:gridCol w="3017520"/>
                <a:gridCol w="1188720"/>
                <a:gridCol w="118872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 = 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start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a ← old 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 ← i + 1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263640" y="4526280"/>
          <a:ext cx="5394960" cy="914400"/>
        </p:xfrm>
        <a:graphic>
          <a:graphicData uri="http://schemas.openxmlformats.org/drawingml/2006/table">
            <a:tbl>
              <a:tblPr/>
              <a:tblGrid>
                <a:gridCol w="3017520"/>
                <a:gridCol w="1188720"/>
                <a:gridCol w="1188720"/>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 = ++i;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start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 ← i + 1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 ← new 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PITFALLS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String + number and integer overflow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00200"/>
            <a:ext cx="7589520" cy="1325880"/>
          </a:xfrm>
          <a:prstGeom prst="roundRect">
            <a:avLst>
              <a:gd name="adj" fmla="val 6897"/>
            </a:avLst>
          </a:prstGeom>
          <a:solidFill>
            <a:srgbClr val="0F1729"/>
          </a:solidFill>
          <a:ln w="12700">
            <a:solidFill>
              <a:srgbClr val="0F1729"/>
            </a:solidFill>
            <a:prstDash val="solid"/>
          </a:ln>
        </p:spPr>
      </p:sp>
      <p:sp>
        <p:nvSpPr>
          <p:cNvPr id="8" name="Text 5"/>
          <p:cNvSpPr txBox="1"/>
          <p:nvPr/>
        </p:nvSpPr>
        <p:spPr>
          <a:xfrm>
            <a:off x="777240" y="1709928"/>
            <a:ext cx="7132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string + number  (g1 = 60, g2 = 70)</a:t>
            </a:r>
            <a:endParaRPr lang="en-US" sz="1100" dirty="0"/>
          </a:p>
        </p:txBody>
      </p:sp>
      <p:sp>
        <p:nvSpPr>
          <p:cNvPr id="9" name="Text 6"/>
          <p:cNvSpPr txBox="1"/>
          <p:nvPr/>
        </p:nvSpPr>
        <p:spPr>
          <a:xfrm>
            <a:off x="777240" y="2011680"/>
            <a:ext cx="7132320" cy="8046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"Sum: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g1 + g2);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text first -&gt; joins as text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"Sum: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(g1 + g2));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parentheses -&gt; adds first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.WriteLine(g1 + g2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is the sum"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left to right: adds, then joins</a:t>
            </a:r>
            <a:endParaRPr lang="en-US" sz="1200" dirty="0"/>
          </a:p>
        </p:txBody>
      </p:sp>
      <p:sp>
        <p:nvSpPr>
          <p:cNvPr id="10" name="Shape 7"/>
          <p:cNvSpPr/>
          <p:nvPr/>
        </p:nvSpPr>
        <p:spPr>
          <a:xfrm>
            <a:off x="8366760" y="1600200"/>
            <a:ext cx="3291840" cy="1325880"/>
          </a:xfrm>
          <a:prstGeom prst="roundRect">
            <a:avLst>
              <a:gd name="adj" fmla="val 6897"/>
            </a:avLst>
          </a:prstGeom>
          <a:solidFill>
            <a:srgbClr val="0B0F19"/>
          </a:solidFill>
          <a:ln w="12700">
            <a:solidFill>
              <a:srgbClr val="2A3654"/>
            </a:solidFill>
            <a:prstDash val="solid"/>
          </a:ln>
        </p:spPr>
      </p:sp>
      <p:sp>
        <p:nvSpPr>
          <p:cNvPr id="11" name="Shape 8"/>
          <p:cNvSpPr/>
          <p:nvPr/>
        </p:nvSpPr>
        <p:spPr>
          <a:xfrm>
            <a:off x="8549640" y="1728216"/>
            <a:ext cx="118872" cy="118872"/>
          </a:xfrm>
          <a:prstGeom prst="ellipse">
            <a:avLst/>
          </a:prstGeom>
          <a:solidFill>
            <a:srgbClr val="FF5F57"/>
          </a:solidFill>
          <a:ln w="12700">
            <a:solidFill>
              <a:srgbClr val="FF5F57"/>
            </a:solidFill>
            <a:prstDash val="solid"/>
          </a:ln>
        </p:spPr>
      </p:sp>
      <p:sp>
        <p:nvSpPr>
          <p:cNvPr id="12" name="Shape 9"/>
          <p:cNvSpPr/>
          <p:nvPr/>
        </p:nvSpPr>
        <p:spPr>
          <a:xfrm>
            <a:off x="8778240" y="1728216"/>
            <a:ext cx="118872" cy="118872"/>
          </a:xfrm>
          <a:prstGeom prst="ellipse">
            <a:avLst/>
          </a:prstGeom>
          <a:solidFill>
            <a:srgbClr val="FEBC2E"/>
          </a:solidFill>
          <a:ln w="12700">
            <a:solidFill>
              <a:srgbClr val="FEBC2E"/>
            </a:solidFill>
            <a:prstDash val="solid"/>
          </a:ln>
        </p:spPr>
      </p:sp>
      <p:sp>
        <p:nvSpPr>
          <p:cNvPr id="13" name="Shape 10"/>
          <p:cNvSpPr/>
          <p:nvPr/>
        </p:nvSpPr>
        <p:spPr>
          <a:xfrm>
            <a:off x="9006840" y="172821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9281160" y="167335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8595360" y="1984248"/>
            <a:ext cx="2834640" cy="8229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Sum: 6070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Sum: 130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130 is the sum</a:t>
            </a:r>
            <a:endParaRPr lang="en-US" sz="1300" dirty="0"/>
          </a:p>
        </p:txBody>
      </p:sp>
      <p:sp>
        <p:nvSpPr>
          <p:cNvPr id="16" name="Shape 13"/>
          <p:cNvSpPr/>
          <p:nvPr/>
        </p:nvSpPr>
        <p:spPr>
          <a:xfrm>
            <a:off x="548640" y="3108960"/>
            <a:ext cx="7589520" cy="1600200"/>
          </a:xfrm>
          <a:prstGeom prst="roundRect">
            <a:avLst>
              <a:gd name="adj" fmla="val 5714"/>
            </a:avLst>
          </a:prstGeom>
          <a:solidFill>
            <a:srgbClr val="0F1729"/>
          </a:solidFill>
          <a:ln w="12700">
            <a:solidFill>
              <a:srgbClr val="0F1729"/>
            </a:solidFill>
            <a:prstDash val="solid"/>
          </a:ln>
        </p:spPr>
      </p:sp>
      <p:sp>
        <p:nvSpPr>
          <p:cNvPr id="17" name="Text 14"/>
          <p:cNvSpPr txBox="1"/>
          <p:nvPr/>
        </p:nvSpPr>
        <p:spPr>
          <a:xfrm>
            <a:off x="777240" y="3218688"/>
            <a:ext cx="7132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overflow</a:t>
            </a:r>
            <a:endParaRPr lang="en-US" sz="1100" dirty="0"/>
          </a:p>
        </p:txBody>
      </p:sp>
      <p:sp>
        <p:nvSpPr>
          <p:cNvPr id="18" name="Text 15"/>
          <p:cNvSpPr txBox="1"/>
          <p:nvPr/>
        </p:nvSpPr>
        <p:spPr>
          <a:xfrm>
            <a:off x="777240" y="3520440"/>
            <a:ext cx="7132320" cy="10789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big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.MaxValue;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2147483647</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.WriteLine(big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wraps around</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)big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long: correct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Console.WriteLine(checked(big + 1));  -&gt; OverflowException</a:t>
            </a:r>
            <a:endParaRPr lang="en-US" sz="1200" dirty="0"/>
          </a:p>
        </p:txBody>
      </p:sp>
      <p:sp>
        <p:nvSpPr>
          <p:cNvPr id="19" name="Shape 16"/>
          <p:cNvSpPr/>
          <p:nvPr/>
        </p:nvSpPr>
        <p:spPr>
          <a:xfrm>
            <a:off x="8366760" y="3108960"/>
            <a:ext cx="3291840" cy="1600200"/>
          </a:xfrm>
          <a:prstGeom prst="roundRect">
            <a:avLst>
              <a:gd name="adj" fmla="val 5714"/>
            </a:avLst>
          </a:prstGeom>
          <a:solidFill>
            <a:srgbClr val="0B0F19"/>
          </a:solidFill>
          <a:ln w="12700">
            <a:solidFill>
              <a:srgbClr val="2A3654"/>
            </a:solidFill>
            <a:prstDash val="solid"/>
          </a:ln>
        </p:spPr>
      </p:sp>
      <p:sp>
        <p:nvSpPr>
          <p:cNvPr id="20" name="Shape 17"/>
          <p:cNvSpPr/>
          <p:nvPr/>
        </p:nvSpPr>
        <p:spPr>
          <a:xfrm>
            <a:off x="8549640" y="3236976"/>
            <a:ext cx="118872" cy="118872"/>
          </a:xfrm>
          <a:prstGeom prst="ellipse">
            <a:avLst/>
          </a:prstGeom>
          <a:solidFill>
            <a:srgbClr val="FF5F57"/>
          </a:solidFill>
          <a:ln w="12700">
            <a:solidFill>
              <a:srgbClr val="FF5F57"/>
            </a:solidFill>
            <a:prstDash val="solid"/>
          </a:ln>
        </p:spPr>
      </p:sp>
      <p:sp>
        <p:nvSpPr>
          <p:cNvPr id="21" name="Shape 18"/>
          <p:cNvSpPr/>
          <p:nvPr/>
        </p:nvSpPr>
        <p:spPr>
          <a:xfrm>
            <a:off x="8778240" y="3236976"/>
            <a:ext cx="118872" cy="118872"/>
          </a:xfrm>
          <a:prstGeom prst="ellipse">
            <a:avLst/>
          </a:prstGeom>
          <a:solidFill>
            <a:srgbClr val="FEBC2E"/>
          </a:solidFill>
          <a:ln w="12700">
            <a:solidFill>
              <a:srgbClr val="FEBC2E"/>
            </a:solidFill>
            <a:prstDash val="solid"/>
          </a:ln>
        </p:spPr>
      </p:sp>
      <p:sp>
        <p:nvSpPr>
          <p:cNvPr id="22" name="Shape 19"/>
          <p:cNvSpPr/>
          <p:nvPr/>
        </p:nvSpPr>
        <p:spPr>
          <a:xfrm>
            <a:off x="9006840" y="323697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9281160" y="318211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4" name="Text 21"/>
          <p:cNvSpPr txBox="1"/>
          <p:nvPr/>
        </p:nvSpPr>
        <p:spPr>
          <a:xfrm>
            <a:off x="8595360" y="3493008"/>
            <a:ext cx="283464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-2147483648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2147483648</a:t>
            </a:r>
            <a:endParaRPr lang="en-US" sz="1300" dirty="0"/>
          </a:p>
        </p:txBody>
      </p:sp>
      <p:sp>
        <p:nvSpPr>
          <p:cNvPr id="25" name="Shape 22"/>
          <p:cNvSpPr/>
          <p:nvPr/>
        </p:nvSpPr>
        <p:spPr>
          <a:xfrm>
            <a:off x="548640" y="4892040"/>
            <a:ext cx="11109960" cy="1143000"/>
          </a:xfrm>
          <a:prstGeom prst="roundRect">
            <a:avLst>
              <a:gd name="adj" fmla="val 9600"/>
            </a:avLst>
          </a:prstGeom>
          <a:solidFill>
            <a:srgbClr val="FFF6E3"/>
          </a:solidFill>
          <a:ln w="12700">
            <a:solidFill>
              <a:srgbClr val="FFF6E3"/>
            </a:solidFill>
            <a:prstDash val="solid"/>
          </a:ln>
        </p:spPr>
      </p:sp>
      <p:pic>
        <p:nvPicPr>
          <p:cNvPr id="26" name="Image 0" descr="preencoded.png">    </p:cNvPr>
          <p:cNvPicPr>
            <a:picLocks noChangeAspect="1"/>
          </p:cNvPicPr>
          <p:nvPr/>
        </p:nvPicPr>
        <p:blipFill>
          <a:blip r:embed="rId1"/>
          <a:stretch>
            <a:fillRect/>
          </a:stretch>
        </p:blipFill>
        <p:spPr>
          <a:xfrm>
            <a:off x="822960" y="5189220"/>
            <a:ext cx="548640" cy="548640"/>
          </a:xfrm>
          <a:prstGeom prst="rect">
            <a:avLst/>
          </a:prstGeom>
        </p:spPr>
      </p:pic>
      <p:sp>
        <p:nvSpPr>
          <p:cNvPr id="27" name="Text 23"/>
          <p:cNvSpPr txBox="1"/>
          <p:nvPr/>
        </p:nvSpPr>
        <p:spPr>
          <a:xfrm>
            <a:off x="1645920" y="4965192"/>
            <a:ext cx="9738360" cy="9966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Safer habits: </a:t>
            </a:r>
            <a:pPr indent="0" marL="0">
              <a:buNone/>
            </a:pPr>
            <a:r>
              <a:rPr lang="en-US" sz="1500" dirty="0">
                <a:solidFill>
                  <a:srgbClr val="333B4F"/>
                </a:solidFill>
                <a:latin typeface="Calibri" pitchFamily="34" charset="0"/>
                <a:ea typeface="Calibri" pitchFamily="34" charset="-122"/>
                <a:cs typeface="Calibri" pitchFamily="34" charset="-120"/>
              </a:rPr>
              <a:t>use interpolation </a:t>
            </a:r>
            <a:pPr indent="0" marL="0">
              <a:buNone/>
            </a:pPr>
            <a:r>
              <a:rPr lang="en-US" sz="1500" dirty="0">
                <a:solidFill>
                  <a:srgbClr val="333B4F"/>
                </a:solidFill>
                <a:latin typeface="Courier New" pitchFamily="34" charset="0"/>
                <a:ea typeface="Courier New" pitchFamily="34" charset="-122"/>
                <a:cs typeface="Courier New" pitchFamily="34" charset="-120"/>
              </a:rPr>
              <a:t>$"Sum: {g1 + g2}"</a:t>
            </a:r>
            <a:pPr indent="0" marL="0">
              <a:buNone/>
            </a:pPr>
            <a:r>
              <a:rPr lang="en-US" sz="1500" dirty="0">
                <a:solidFill>
                  <a:srgbClr val="333B4F"/>
                </a:solidFill>
                <a:latin typeface="Calibri" pitchFamily="34" charset="0"/>
                <a:ea typeface="Calibri" pitchFamily="34" charset="-122"/>
                <a:cs typeface="Calibri" pitchFamily="34" charset="-120"/>
              </a:rPr>
              <a:t> instead of + for output; use </a:t>
            </a:r>
            <a:pPr indent="0" marL="0">
              <a:buNone/>
            </a:pPr>
            <a:r>
              <a:rPr lang="en-US" sz="1500" dirty="0">
                <a:solidFill>
                  <a:srgbClr val="333B4F"/>
                </a:solidFill>
                <a:latin typeface="Courier New" pitchFamily="34" charset="0"/>
                <a:ea typeface="Courier New" pitchFamily="34" charset="-122"/>
                <a:cs typeface="Courier New" pitchFamily="34" charset="-120"/>
              </a:rPr>
              <a:t>long</a:t>
            </a:r>
            <a:pPr indent="0" marL="0">
              <a:buNone/>
            </a:pPr>
            <a:r>
              <a:rPr lang="en-US" sz="1500" dirty="0">
                <a:solidFill>
                  <a:srgbClr val="333B4F"/>
                </a:solidFill>
                <a:latin typeface="Calibri" pitchFamily="34" charset="0"/>
                <a:ea typeface="Calibri" pitchFamily="34" charset="-122"/>
                <a:cs typeface="Calibri" pitchFamily="34" charset="-120"/>
              </a:rPr>
              <a:t> when values can exceed about 2.1 billion.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The Math Class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Pow · Sqrt · Abs · Round · Floor · Ceiling · Max · Min · PI  ·  worked examples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4</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MATH CLASS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Math toolbox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863840" cy="914400"/>
        </p:xfrm>
        <a:graphic>
          <a:graphicData uri="http://schemas.openxmlformats.org/drawingml/2006/table">
            <a:tbl>
              <a:tblPr/>
              <a:tblGrid>
                <a:gridCol w="1874520"/>
                <a:gridCol w="1828800"/>
                <a:gridCol w="2103120"/>
                <a:gridCol w="2057400"/>
              </a:tblGrid>
              <a:tr h="42976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Prints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Math.Pow(x, y)</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x to the power 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Math.Pow(2, 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1024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Math.Sqrt(x)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square root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Math.Sqrt(16)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Math.Abs(x)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absolute value |x|</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Math.Abs(-7.5)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Math.Max(a,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the larger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Math.Max(3, 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Math.Min(a, b)</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the smaller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Math.Min(3, 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Math.Round(x)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nearest (ties → even)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Math.Round(2.5)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Math.Floor(x)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round down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Math.Floor(-2.5)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Math.Ceiling(x)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round up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Math.Ceiling(2.1)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Math.PI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the constant π</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Math.PI</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3.141592653589793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8641080" y="1600200"/>
            <a:ext cx="3017520" cy="2194560"/>
          </a:xfrm>
          <a:prstGeom prst="roundRect">
            <a:avLst>
              <a:gd name="adj" fmla="val 5000"/>
            </a:avLst>
          </a:prstGeom>
          <a:solidFill>
            <a:srgbClr val="EEF1F6"/>
          </a:solidFill>
          <a:ln w="12700">
            <a:solidFill>
              <a:srgbClr val="EEF1F6"/>
            </a:solidFill>
            <a:prstDash val="solid"/>
          </a:ln>
        </p:spPr>
      </p:sp>
      <p:sp>
        <p:nvSpPr>
          <p:cNvPr id="9" name="Shape 5"/>
          <p:cNvSpPr/>
          <p:nvPr/>
        </p:nvSpPr>
        <p:spPr>
          <a:xfrm>
            <a:off x="8869680" y="1828800"/>
            <a:ext cx="566928" cy="566928"/>
          </a:xfrm>
          <a:prstGeom prst="ellipse">
            <a:avLst/>
          </a:prstGeom>
          <a:solidFill>
            <a:srgbClr val="C8453B"/>
          </a:solidFill>
          <a:ln w="12700">
            <a:solidFill>
              <a:srgbClr val="C8453B"/>
            </a:solidFill>
            <a:prstDash val="solid"/>
          </a:ln>
        </p:spPr>
      </p:sp>
      <p:pic>
        <p:nvPicPr>
          <p:cNvPr id="10" name="Image 0" descr="preencoded.png">    </p:cNvPr>
          <p:cNvPicPr>
            <a:picLocks noChangeAspect="1"/>
          </p:cNvPicPr>
          <p:nvPr/>
        </p:nvPicPr>
        <p:blipFill>
          <a:blip r:embed="rId1"/>
          <a:stretch>
            <a:fillRect/>
          </a:stretch>
        </p:blipFill>
        <p:spPr>
          <a:xfrm>
            <a:off x="9017081" y="1976201"/>
            <a:ext cx="272125" cy="272125"/>
          </a:xfrm>
          <a:prstGeom prst="rect">
            <a:avLst/>
          </a:prstGeom>
        </p:spPr>
      </p:pic>
      <p:sp>
        <p:nvSpPr>
          <p:cNvPr id="11" name="Text 6"/>
          <p:cNvSpPr txBox="1"/>
          <p:nvPr/>
        </p:nvSpPr>
        <p:spPr>
          <a:xfrm>
            <a:off x="9555480" y="1828800"/>
            <a:ext cx="1920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Returns double</a:t>
            </a:r>
            <a:endParaRPr lang="en-US" sz="1700" dirty="0"/>
          </a:p>
        </p:txBody>
      </p:sp>
      <p:sp>
        <p:nvSpPr>
          <p:cNvPr id="12" name="Text 7"/>
          <p:cNvSpPr txBox="1"/>
          <p:nvPr/>
        </p:nvSpPr>
        <p:spPr>
          <a:xfrm>
            <a:off x="8869680" y="2514600"/>
            <a:ext cx="2560320" cy="114300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int k = Math.Pow(2, 3);</a:t>
            </a:r>
            <a:endParaRPr lang="en-US" sz="1300" dirty="0"/>
          </a:p>
          <a:p>
            <a:pPr indent="0" marL="0">
              <a:buNone/>
            </a:pPr>
            <a:r>
              <a:rPr lang="en-US" sz="1300" dirty="0">
                <a:solidFill>
                  <a:srgbClr val="333B4F"/>
                </a:solidFill>
                <a:latin typeface="Calibri" pitchFamily="34" charset="0"/>
                <a:ea typeface="Calibri" pitchFamily="34" charset="-122"/>
                <a:cs typeface="Calibri" pitchFamily="34" charset="-120"/>
              </a:rPr>
              <a:t>→ error CS0266</a:t>
            </a:r>
            <a:endParaRPr lang="en-US" sz="1300" dirty="0"/>
          </a:p>
          <a:p>
            <a:pPr indent="0" marL="0">
              <a:buNone/>
            </a:pPr>
            <a:r>
              <a:rPr lang="en-US" sz="1300" dirty="0">
                <a:solidFill>
                  <a:srgbClr val="333B4F"/>
                </a:solidFill>
                <a:latin typeface="Calibri" pitchFamily="34" charset="0"/>
                <a:ea typeface="Calibri" pitchFamily="34" charset="-122"/>
                <a:cs typeface="Calibri" pitchFamily="34" charset="-120"/>
              </a:rPr>
              <a:t>Fix: (int)Math.Pow(2, 3)</a:t>
            </a:r>
            <a:endParaRPr lang="en-US" sz="1300" dirty="0"/>
          </a:p>
        </p:txBody>
      </p:sp>
      <p:sp>
        <p:nvSpPr>
          <p:cNvPr id="13" name="Shape 8"/>
          <p:cNvSpPr/>
          <p:nvPr/>
        </p:nvSpPr>
        <p:spPr>
          <a:xfrm>
            <a:off x="8641080" y="3977640"/>
            <a:ext cx="3017520" cy="1920240"/>
          </a:xfrm>
          <a:prstGeom prst="roundRect">
            <a:avLst>
              <a:gd name="adj" fmla="val 5714"/>
            </a:avLst>
          </a:prstGeom>
          <a:solidFill>
            <a:srgbClr val="EEF1F6"/>
          </a:solidFill>
          <a:ln w="12700">
            <a:solidFill>
              <a:srgbClr val="EEF1F6"/>
            </a:solidFill>
            <a:prstDash val="solid"/>
          </a:ln>
        </p:spPr>
      </p:sp>
      <p:sp>
        <p:nvSpPr>
          <p:cNvPr id="14" name="Shape 9"/>
          <p:cNvSpPr/>
          <p:nvPr/>
        </p:nvSpPr>
        <p:spPr>
          <a:xfrm>
            <a:off x="8869680" y="4206240"/>
            <a:ext cx="566928" cy="566928"/>
          </a:xfrm>
          <a:prstGeom prst="ellipse">
            <a:avLst/>
          </a:prstGeom>
          <a:solidFill>
            <a:srgbClr val="2E9E6A"/>
          </a:solidFill>
          <a:ln w="12700">
            <a:solidFill>
              <a:srgbClr val="2E9E6A"/>
            </a:solidFill>
            <a:prstDash val="solid"/>
          </a:ln>
        </p:spPr>
      </p:sp>
      <p:pic>
        <p:nvPicPr>
          <p:cNvPr id="15" name="Image 1" descr="preencoded.png">    </p:cNvPr>
          <p:cNvPicPr>
            <a:picLocks noChangeAspect="1"/>
          </p:cNvPicPr>
          <p:nvPr/>
        </p:nvPicPr>
        <p:blipFill>
          <a:blip r:embed="rId2"/>
          <a:stretch>
            <a:fillRect/>
          </a:stretch>
        </p:blipFill>
        <p:spPr>
          <a:xfrm>
            <a:off x="9017081" y="4353641"/>
            <a:ext cx="272125" cy="272125"/>
          </a:xfrm>
          <a:prstGeom prst="rect">
            <a:avLst/>
          </a:prstGeom>
        </p:spPr>
      </p:pic>
      <p:sp>
        <p:nvSpPr>
          <p:cNvPr id="16" name="Text 10"/>
          <p:cNvSpPr txBox="1"/>
          <p:nvPr/>
        </p:nvSpPr>
        <p:spPr>
          <a:xfrm>
            <a:off x="9555480" y="4206240"/>
            <a:ext cx="1920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Squares</a:t>
            </a:r>
            <a:endParaRPr lang="en-US" sz="1700" dirty="0"/>
          </a:p>
        </p:txBody>
      </p:sp>
      <p:sp>
        <p:nvSpPr>
          <p:cNvPr id="17" name="Text 11"/>
          <p:cNvSpPr txBox="1"/>
          <p:nvPr/>
        </p:nvSpPr>
        <p:spPr>
          <a:xfrm>
            <a:off x="8869680" y="4892040"/>
            <a:ext cx="2560320" cy="8686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x * x is simpler and exact; use Pow for (1 + r)ⁿ.</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MATH CLASS · ROUNDING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Rounding: Math.Round uses banker's rounding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1280160"/>
                <a:gridCol w="1554480"/>
                <a:gridCol w="3063240"/>
                <a:gridCol w="1737360"/>
                <a:gridCol w="1828800"/>
                <a:gridCol w="1645920"/>
              </a:tblGrid>
              <a:tr h="50292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x</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Round(x)</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Round(x, AwayFromZero)</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Floor(x)</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Ceiling(x)</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(int)x</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8453B"/>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8453B"/>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-2.7</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600" dirty="0">
                          <a:solidFill>
                            <a:srgbClr val="14213D"/>
                          </a:solidFill>
                          <a:latin typeface="Courier New" pitchFamily="34" charset="0"/>
                          <a:ea typeface="Courier New" pitchFamily="34" charset="-122"/>
                          <a:cs typeface="Courier New" pitchFamily="34" charset="-120"/>
                        </a:rPr>
                        <a:t>-2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548640" y="4343400"/>
            <a:ext cx="3566160" cy="1691640"/>
          </a:xfrm>
          <a:prstGeom prst="roundRect">
            <a:avLst>
              <a:gd name="adj" fmla="val 6486"/>
            </a:avLst>
          </a:prstGeom>
          <a:solidFill>
            <a:srgbClr val="EEF1F6"/>
          </a:solidFill>
          <a:ln w="12700">
            <a:solidFill>
              <a:srgbClr val="EEF1F6"/>
            </a:solidFill>
            <a:prstDash val="solid"/>
          </a:ln>
        </p:spPr>
      </p:sp>
      <p:sp>
        <p:nvSpPr>
          <p:cNvPr id="9" name="Shape 5"/>
          <p:cNvSpPr/>
          <p:nvPr/>
        </p:nvSpPr>
        <p:spPr>
          <a:xfrm>
            <a:off x="777240" y="4572000"/>
            <a:ext cx="566928" cy="566928"/>
          </a:xfrm>
          <a:prstGeom prst="ellipse">
            <a:avLst/>
          </a:prstGeom>
          <a:solidFill>
            <a:srgbClr val="14213D"/>
          </a:solidFill>
          <a:ln w="12700">
            <a:solidFill>
              <a:srgbClr val="14213D"/>
            </a:solidFill>
            <a:prstDash val="solid"/>
          </a:ln>
        </p:spPr>
      </p:sp>
      <p:pic>
        <p:nvPicPr>
          <p:cNvPr id="10" name="Image 0" descr="preencoded.png">    </p:cNvPr>
          <p:cNvPicPr>
            <a:picLocks noChangeAspect="1"/>
          </p:cNvPicPr>
          <p:nvPr/>
        </p:nvPicPr>
        <p:blipFill>
          <a:blip r:embed="rId1"/>
          <a:stretch>
            <a:fillRect/>
          </a:stretch>
        </p:blipFill>
        <p:spPr>
          <a:xfrm>
            <a:off x="924641" y="4719401"/>
            <a:ext cx="272125" cy="272125"/>
          </a:xfrm>
          <a:prstGeom prst="rect">
            <a:avLst/>
          </a:prstGeom>
        </p:spPr>
      </p:pic>
      <p:sp>
        <p:nvSpPr>
          <p:cNvPr id="11" name="Text 6"/>
          <p:cNvSpPr txBox="1"/>
          <p:nvPr/>
        </p:nvSpPr>
        <p:spPr>
          <a:xfrm>
            <a:off x="1463040" y="45720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Banker's rounding</a:t>
            </a:r>
            <a:endParaRPr lang="en-US" sz="1700" dirty="0"/>
          </a:p>
        </p:txBody>
      </p:sp>
      <p:sp>
        <p:nvSpPr>
          <p:cNvPr id="12" name="Text 7"/>
          <p:cNvSpPr txBox="1"/>
          <p:nvPr/>
        </p:nvSpPr>
        <p:spPr>
          <a:xfrm>
            <a:off x="777240" y="5257800"/>
            <a:ext cx="3108960" cy="6400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Ties go to the even neighbour: 0.5→0, 1.5→2, 2.5→2.</a:t>
            </a:r>
            <a:endParaRPr lang="en-US" sz="1400" dirty="0"/>
          </a:p>
        </p:txBody>
      </p:sp>
      <p:sp>
        <p:nvSpPr>
          <p:cNvPr id="13" name="Shape 8"/>
          <p:cNvSpPr/>
          <p:nvPr/>
        </p:nvSpPr>
        <p:spPr>
          <a:xfrm>
            <a:off x="4297680" y="4343400"/>
            <a:ext cx="3566160" cy="1691640"/>
          </a:xfrm>
          <a:prstGeom prst="roundRect">
            <a:avLst>
              <a:gd name="adj" fmla="val 6486"/>
            </a:avLst>
          </a:prstGeom>
          <a:solidFill>
            <a:srgbClr val="EEF1F6"/>
          </a:solidFill>
          <a:ln w="12700">
            <a:solidFill>
              <a:srgbClr val="EEF1F6"/>
            </a:solidFill>
            <a:prstDash val="solid"/>
          </a:ln>
        </p:spPr>
      </p:sp>
      <p:sp>
        <p:nvSpPr>
          <p:cNvPr id="14" name="Shape 9"/>
          <p:cNvSpPr/>
          <p:nvPr/>
        </p:nvSpPr>
        <p:spPr>
          <a:xfrm>
            <a:off x="4526280" y="4572000"/>
            <a:ext cx="566928" cy="566928"/>
          </a:xfrm>
          <a:prstGeom prst="ellipse">
            <a:avLst/>
          </a:prstGeom>
          <a:solidFill>
            <a:srgbClr val="2E9E6A"/>
          </a:solidFill>
          <a:ln w="12700">
            <a:solidFill>
              <a:srgbClr val="2E9E6A"/>
            </a:solidFill>
            <a:prstDash val="solid"/>
          </a:ln>
        </p:spPr>
      </p:sp>
      <p:pic>
        <p:nvPicPr>
          <p:cNvPr id="15" name="Image 1" descr="preencoded.png">    </p:cNvPr>
          <p:cNvPicPr>
            <a:picLocks noChangeAspect="1"/>
          </p:cNvPicPr>
          <p:nvPr/>
        </p:nvPicPr>
        <p:blipFill>
          <a:blip r:embed="rId2"/>
          <a:stretch>
            <a:fillRect/>
          </a:stretch>
        </p:blipFill>
        <p:spPr>
          <a:xfrm>
            <a:off x="4673681" y="4719401"/>
            <a:ext cx="272125" cy="272125"/>
          </a:xfrm>
          <a:prstGeom prst="rect">
            <a:avLst/>
          </a:prstGeom>
        </p:spPr>
      </p:pic>
      <p:sp>
        <p:nvSpPr>
          <p:cNvPr id="16" name="Text 10"/>
          <p:cNvSpPr txBox="1"/>
          <p:nvPr/>
        </p:nvSpPr>
        <p:spPr>
          <a:xfrm>
            <a:off x="5212080" y="45720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School rounding</a:t>
            </a:r>
            <a:endParaRPr lang="en-US" sz="1700" dirty="0"/>
          </a:p>
        </p:txBody>
      </p:sp>
      <p:sp>
        <p:nvSpPr>
          <p:cNvPr id="17" name="Text 11"/>
          <p:cNvSpPr txBox="1"/>
          <p:nvPr/>
        </p:nvSpPr>
        <p:spPr>
          <a:xfrm>
            <a:off x="4526280" y="5257800"/>
            <a:ext cx="3108960" cy="640080"/>
          </a:xfrm>
          <a:prstGeom prst="rect">
            <a:avLst/>
          </a:prstGeom>
          <a:noFill/>
          <a:ln/>
        </p:spPr>
        <p:txBody>
          <a:bodyPr wrap="square" lIns="0" tIns="0" rIns="0" bIns="0" rtlCol="0" anchor="t"/>
          <a:lstStyle/>
          <a:p>
            <a:pPr indent="0" marL="0">
              <a:buNone/>
            </a:pPr>
            <a:r>
              <a:rPr lang="en-US" sz="1300" dirty="0">
                <a:solidFill>
                  <a:srgbClr val="333B4F"/>
                </a:solidFill>
                <a:latin typeface="Calibri" pitchFamily="34" charset="0"/>
                <a:ea typeface="Calibri" pitchFamily="34" charset="-122"/>
                <a:cs typeface="Calibri" pitchFamily="34" charset="-120"/>
              </a:rPr>
              <a:t>Math.Round(x, MidpointRounding.AwayFromZero)</a:t>
            </a:r>
            <a:endParaRPr lang="en-US" sz="1300" dirty="0"/>
          </a:p>
        </p:txBody>
      </p:sp>
      <p:sp>
        <p:nvSpPr>
          <p:cNvPr id="18" name="Shape 12"/>
          <p:cNvSpPr/>
          <p:nvPr/>
        </p:nvSpPr>
        <p:spPr>
          <a:xfrm>
            <a:off x="8046720" y="4343400"/>
            <a:ext cx="3611880" cy="1691640"/>
          </a:xfrm>
          <a:prstGeom prst="roundRect">
            <a:avLst>
              <a:gd name="adj" fmla="val 6486"/>
            </a:avLst>
          </a:prstGeom>
          <a:solidFill>
            <a:srgbClr val="EEF1F6"/>
          </a:solidFill>
          <a:ln w="12700">
            <a:solidFill>
              <a:srgbClr val="EEF1F6"/>
            </a:solidFill>
            <a:prstDash val="solid"/>
          </a:ln>
        </p:spPr>
      </p:sp>
      <p:sp>
        <p:nvSpPr>
          <p:cNvPr id="19" name="Shape 13"/>
          <p:cNvSpPr/>
          <p:nvPr/>
        </p:nvSpPr>
        <p:spPr>
          <a:xfrm>
            <a:off x="8275320" y="4572000"/>
            <a:ext cx="566928" cy="566928"/>
          </a:xfrm>
          <a:prstGeom prst="ellipse">
            <a:avLst/>
          </a:prstGeom>
          <a:solidFill>
            <a:srgbClr val="B7791F"/>
          </a:solidFill>
          <a:ln w="12700">
            <a:solidFill>
              <a:srgbClr val="B7791F"/>
            </a:solidFill>
            <a:prstDash val="solid"/>
          </a:ln>
        </p:spPr>
      </p:sp>
      <p:pic>
        <p:nvPicPr>
          <p:cNvPr id="20" name="Image 2" descr="preencoded.png">    </p:cNvPr>
          <p:cNvPicPr>
            <a:picLocks noChangeAspect="1"/>
          </p:cNvPicPr>
          <p:nvPr/>
        </p:nvPicPr>
        <p:blipFill>
          <a:blip r:embed="rId3"/>
          <a:stretch>
            <a:fillRect/>
          </a:stretch>
        </p:blipFill>
        <p:spPr>
          <a:xfrm>
            <a:off x="8422721" y="4719401"/>
            <a:ext cx="272125" cy="272125"/>
          </a:xfrm>
          <a:prstGeom prst="rect">
            <a:avLst/>
          </a:prstGeom>
        </p:spPr>
      </p:pic>
      <p:sp>
        <p:nvSpPr>
          <p:cNvPr id="21" name="Text 14"/>
          <p:cNvSpPr txBox="1"/>
          <p:nvPr/>
        </p:nvSpPr>
        <p:spPr>
          <a:xfrm>
            <a:off x="8961120" y="45720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Floor / Ceiling / cast</a:t>
            </a:r>
            <a:endParaRPr lang="en-US" sz="1700" dirty="0"/>
          </a:p>
        </p:txBody>
      </p:sp>
      <p:sp>
        <p:nvSpPr>
          <p:cNvPr id="22" name="Text 15"/>
          <p:cNvSpPr txBox="1"/>
          <p:nvPr/>
        </p:nvSpPr>
        <p:spPr>
          <a:xfrm>
            <a:off x="8275320" y="5257800"/>
            <a:ext cx="3154680" cy="6400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Down / up / toward zero. They differ for negatives!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6</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Quadratic equation: discriminant and roots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600200"/>
            <a:ext cx="11109960" cy="1965960"/>
          </a:xfrm>
          <a:prstGeom prst="roundRect">
            <a:avLst>
              <a:gd name="adj" fmla="val 4651"/>
            </a:avLst>
          </a:prstGeom>
          <a:solidFill>
            <a:srgbClr val="0F1729"/>
          </a:solidFill>
          <a:ln w="12700">
            <a:solidFill>
              <a:srgbClr val="0F1729"/>
            </a:solidFill>
            <a:prstDash val="solid"/>
          </a:ln>
        </p:spPr>
      </p:sp>
      <p:sp>
        <p:nvSpPr>
          <p:cNvPr id="8" name="Text 5"/>
          <p:cNvSpPr txBox="1"/>
          <p:nvPr/>
        </p:nvSpPr>
        <p:spPr>
          <a:xfrm>
            <a:off x="777240" y="170992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code/04_07_QuadraticRoots (excerpt) — a, b, c are double</a:t>
            </a:r>
            <a:endParaRPr lang="en-US" sz="1100" dirty="0"/>
          </a:p>
        </p:txBody>
      </p:sp>
      <p:sp>
        <p:nvSpPr>
          <p:cNvPr id="9" name="Text 6"/>
          <p:cNvSpPr txBox="1"/>
          <p:nvPr/>
        </p:nvSpPr>
        <p:spPr>
          <a:xfrm>
            <a:off x="777240" y="2011680"/>
            <a:ext cx="10652760" cy="14447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delta = b * b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 * c;</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x1 = (-b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.Sqrt(delta))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parentheses are essential</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x2 = (-b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.Sqrt(delta))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$"delta = {delta}"</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.WriteLine(delta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"Real roots exist."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"No real roots (Sqrt of a negative is NaN)."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703320"/>
            <a:ext cx="3291840" cy="2331720"/>
          </a:xfrm>
          <a:prstGeom prst="roundRect">
            <a:avLst>
              <a:gd name="adj" fmla="val 3922"/>
            </a:avLst>
          </a:prstGeom>
          <a:solidFill>
            <a:srgbClr val="0B0F19"/>
          </a:solidFill>
          <a:ln w="12700">
            <a:solidFill>
              <a:srgbClr val="2A3654"/>
            </a:solidFill>
            <a:prstDash val="solid"/>
          </a:ln>
        </p:spPr>
      </p:sp>
      <p:sp>
        <p:nvSpPr>
          <p:cNvPr id="11" name="Shape 8"/>
          <p:cNvSpPr/>
          <p:nvPr/>
        </p:nvSpPr>
        <p:spPr>
          <a:xfrm>
            <a:off x="731520" y="383133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383133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38313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377647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x² − 3x + 2 = 0</a:t>
            </a:r>
            <a:endParaRPr lang="en-US" sz="1000" dirty="0"/>
          </a:p>
        </p:txBody>
      </p:sp>
      <p:sp>
        <p:nvSpPr>
          <p:cNvPr id="15" name="Text 12"/>
          <p:cNvSpPr txBox="1"/>
          <p:nvPr/>
        </p:nvSpPr>
        <p:spPr>
          <a:xfrm>
            <a:off x="777240" y="4087368"/>
            <a:ext cx="2834640" cy="18288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delta = 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Real roots exist.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x1 = 2.0000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x2 = 1.0000</a:t>
            </a:r>
            <a:endParaRPr lang="en-US" sz="1200" dirty="0"/>
          </a:p>
        </p:txBody>
      </p:sp>
      <p:sp>
        <p:nvSpPr>
          <p:cNvPr id="16" name="Shape 13"/>
          <p:cNvSpPr/>
          <p:nvPr/>
        </p:nvSpPr>
        <p:spPr>
          <a:xfrm>
            <a:off x="3977640" y="3703320"/>
            <a:ext cx="4572000" cy="2331720"/>
          </a:xfrm>
          <a:prstGeom prst="roundRect">
            <a:avLst>
              <a:gd name="adj" fmla="val 3922"/>
            </a:avLst>
          </a:prstGeom>
          <a:solidFill>
            <a:srgbClr val="0B0F19"/>
          </a:solidFill>
          <a:ln w="12700">
            <a:solidFill>
              <a:srgbClr val="2A3654"/>
            </a:solidFill>
            <a:prstDash val="solid"/>
          </a:ln>
        </p:spPr>
      </p:sp>
      <p:sp>
        <p:nvSpPr>
          <p:cNvPr id="17" name="Shape 14"/>
          <p:cNvSpPr/>
          <p:nvPr/>
        </p:nvSpPr>
        <p:spPr>
          <a:xfrm>
            <a:off x="4160520" y="3831336"/>
            <a:ext cx="118872" cy="118872"/>
          </a:xfrm>
          <a:prstGeom prst="ellipse">
            <a:avLst/>
          </a:prstGeom>
          <a:solidFill>
            <a:srgbClr val="FF5F57"/>
          </a:solidFill>
          <a:ln w="12700">
            <a:solidFill>
              <a:srgbClr val="FF5F57"/>
            </a:solidFill>
            <a:prstDash val="solid"/>
          </a:ln>
        </p:spPr>
      </p:sp>
      <p:sp>
        <p:nvSpPr>
          <p:cNvPr id="18" name="Shape 15"/>
          <p:cNvSpPr/>
          <p:nvPr/>
        </p:nvSpPr>
        <p:spPr>
          <a:xfrm>
            <a:off x="4389120" y="3831336"/>
            <a:ext cx="118872" cy="118872"/>
          </a:xfrm>
          <a:prstGeom prst="ellipse">
            <a:avLst/>
          </a:prstGeom>
          <a:solidFill>
            <a:srgbClr val="FEBC2E"/>
          </a:solidFill>
          <a:ln w="12700">
            <a:solidFill>
              <a:srgbClr val="FEBC2E"/>
            </a:solidFill>
            <a:prstDash val="solid"/>
          </a:ln>
        </p:spPr>
      </p:sp>
      <p:sp>
        <p:nvSpPr>
          <p:cNvPr id="19" name="Shape 16"/>
          <p:cNvSpPr/>
          <p:nvPr/>
        </p:nvSpPr>
        <p:spPr>
          <a:xfrm>
            <a:off x="4617720" y="383133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4892040" y="3776472"/>
            <a:ext cx="3474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x² + 2x + 5 = 0</a:t>
            </a:r>
            <a:endParaRPr lang="en-US" sz="1000" dirty="0"/>
          </a:p>
        </p:txBody>
      </p:sp>
      <p:sp>
        <p:nvSpPr>
          <p:cNvPr id="21" name="Text 18"/>
          <p:cNvSpPr txBox="1"/>
          <p:nvPr/>
        </p:nvSpPr>
        <p:spPr>
          <a:xfrm>
            <a:off x="4206240" y="4087368"/>
            <a:ext cx="4114800" cy="18288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delta = -16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No real roots (Sqrt of a negative is NaN).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x1 = NaN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x2 = NaN</a:t>
            </a:r>
            <a:endParaRPr lang="en-US" sz="1200" dirty="0"/>
          </a:p>
        </p:txBody>
      </p:sp>
      <p:sp>
        <p:nvSpPr>
          <p:cNvPr id="22" name="Shape 19"/>
          <p:cNvSpPr/>
          <p:nvPr/>
        </p:nvSpPr>
        <p:spPr>
          <a:xfrm>
            <a:off x="8686800" y="3703320"/>
            <a:ext cx="2971800" cy="2331720"/>
          </a:xfrm>
          <a:prstGeom prst="roundRect">
            <a:avLst>
              <a:gd name="adj" fmla="val 4706"/>
            </a:avLst>
          </a:prstGeom>
          <a:solidFill>
            <a:srgbClr val="FBE9E7"/>
          </a:solidFill>
          <a:ln w="12700">
            <a:solidFill>
              <a:srgbClr val="FBE9E7"/>
            </a:solidFill>
            <a:prstDash val="solid"/>
          </a:ln>
        </p:spPr>
      </p:sp>
      <p:sp>
        <p:nvSpPr>
          <p:cNvPr id="23" name="Text 20"/>
          <p:cNvSpPr txBox="1"/>
          <p:nvPr/>
        </p:nvSpPr>
        <p:spPr>
          <a:xfrm>
            <a:off x="8823960" y="3794760"/>
            <a:ext cx="2743200" cy="2148840"/>
          </a:xfrm>
          <a:prstGeom prst="rect">
            <a:avLst/>
          </a:prstGeom>
          <a:noFill/>
          <a:ln/>
        </p:spPr>
        <p:txBody>
          <a:bodyPr wrap="square" lIns="0" tIns="0" rIns="0" bIns="0" rtlCol="0" anchor="ctr"/>
          <a:lstStyle/>
          <a:p>
            <a:pPr indent="0" marL="0">
              <a:spcAft>
                <a:spcPts val="300"/>
              </a:spcAft>
              <a:buNone/>
            </a:pPr>
            <a:r>
              <a:rPr lang="en-US" sz="1400" b="1" dirty="0">
                <a:solidFill>
                  <a:srgbClr val="C8453B"/>
                </a:solidFill>
                <a:latin typeface="Calibri" pitchFamily="34" charset="0"/>
                <a:ea typeface="Calibri" pitchFamily="34" charset="-122"/>
                <a:cs typeface="Calibri" pitchFamily="34" charset="-120"/>
              </a:rPr>
              <a:t>Wrong:</a:t>
            </a:r>
            <a:endParaRPr lang="en-US" sz="1400" dirty="0"/>
          </a:p>
          <a:p>
            <a:pPr indent="0" marL="0">
              <a:spcAft>
                <a:spcPts val="300"/>
              </a:spcAft>
              <a:buNone/>
            </a:pPr>
            <a:r>
              <a:rPr lang="en-US" sz="1200" dirty="0">
                <a:solidFill>
                  <a:srgbClr val="333B4F"/>
                </a:solidFill>
                <a:latin typeface="Courier New" pitchFamily="34" charset="0"/>
                <a:ea typeface="Courier New" pitchFamily="34" charset="-122"/>
                <a:cs typeface="Courier New" pitchFamily="34" charset="-120"/>
              </a:rPr>
              <a:t>-b + Math.Sqrt(delta)</a:t>
            </a:r>
            <a:endParaRPr lang="en-US" sz="1400" dirty="0"/>
          </a:p>
          <a:p>
            <a:pPr indent="0" marL="0">
              <a:spcAft>
                <a:spcPts val="300"/>
              </a:spcAft>
              <a:buNone/>
            </a:pPr>
            <a:r>
              <a:rPr lang="en-US" sz="1200" dirty="0">
                <a:solidFill>
                  <a:srgbClr val="333B4F"/>
                </a:solidFill>
                <a:latin typeface="Courier New" pitchFamily="34" charset="0"/>
                <a:ea typeface="Courier New" pitchFamily="34" charset="-122"/>
                <a:cs typeface="Courier New" pitchFamily="34" charset="-120"/>
              </a:rPr>
              <a:t>  / 2 * a</a:t>
            </a:r>
            <a:endParaRPr lang="en-US" sz="1400" dirty="0"/>
          </a:p>
          <a:p>
            <a:pPr indent="0" marL="0">
              <a:spcAft>
                <a:spcPts val="300"/>
              </a:spcAft>
              <a:buNone/>
            </a:pPr>
            <a:r>
              <a:rPr lang="en-US" sz="1400" dirty="0">
                <a:solidFill>
                  <a:srgbClr val="333B4F"/>
                </a:solidFill>
                <a:latin typeface="Calibri" pitchFamily="34" charset="0"/>
                <a:ea typeface="Calibri" pitchFamily="34" charset="-122"/>
                <a:cs typeface="Calibri" pitchFamily="34" charset="-120"/>
              </a:rPr>
              <a:t>divides only the root, then MULTIPLIES by a.</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7</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Compound interest  A = P(1 + r/n)^(nt)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00200"/>
            <a:ext cx="4754880" cy="1143000"/>
          </a:xfrm>
          <a:prstGeom prst="roundRect">
            <a:avLst>
              <a:gd name="adj" fmla="val 9600"/>
            </a:avLst>
          </a:prstGeom>
          <a:solidFill>
            <a:srgbClr val="EEF1F6"/>
          </a:solidFill>
          <a:ln w="12700">
            <a:solidFill>
              <a:srgbClr val="EEF1F6"/>
            </a:solidFill>
            <a:prstDash val="solid"/>
          </a:ln>
        </p:spPr>
      </p:sp>
      <p:sp>
        <p:nvSpPr>
          <p:cNvPr id="8" name="Text 5"/>
          <p:cNvSpPr txBox="1"/>
          <p:nvPr/>
        </p:nvSpPr>
        <p:spPr>
          <a:xfrm>
            <a:off x="731520" y="1645920"/>
            <a:ext cx="4480560" cy="1051560"/>
          </a:xfrm>
          <a:prstGeom prst="rect">
            <a:avLst/>
          </a:prstGeom>
          <a:noFill/>
          <a:ln/>
        </p:spPr>
        <p:txBody>
          <a:bodyPr wrap="square" lIns="0" tIns="0" rIns="0" bIns="0" rtlCol="0" anchor="ctr"/>
          <a:lstStyle/>
          <a:p>
            <a:pPr algn="ctr" indent="0" marL="0">
              <a:buNone/>
            </a:pPr>
            <a:r>
              <a:rPr lang="en-US" sz="3000" dirty="0">
                <a:solidFill>
                  <a:srgbClr val="14213D"/>
                </a:solidFill>
                <a:latin typeface="Cambria Math" pitchFamily="34" charset="0"/>
                <a:ea typeface="Cambria Math" pitchFamily="34" charset="-122"/>
                <a:cs typeface="Cambria Math" pitchFamily="34" charset="-120"/>
              </a:rPr>
              <a:t>A = P · (1 + r / n)</a:t>
            </a:r>
            <a:pPr algn="ctr" indent="0" marL="0">
              <a:buNone/>
            </a:pPr>
            <a:r>
              <a:rPr lang="en-US" sz="3000" baseline="30000" dirty="0">
                <a:solidFill>
                  <a:srgbClr val="14213D"/>
                </a:solidFill>
                <a:latin typeface="Cambria Math" pitchFamily="34" charset="0"/>
                <a:ea typeface="Cambria Math" pitchFamily="34" charset="-122"/>
                <a:cs typeface="Cambria Math" pitchFamily="34" charset="-120"/>
              </a:rPr>
              <a:t>n·t</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880360"/>
          <a:ext cx="4754880" cy="914400"/>
        </p:xfrm>
        <a:graphic>
          <a:graphicData uri="http://schemas.openxmlformats.org/drawingml/2006/table">
            <a:tbl>
              <a:tblPr/>
              <a:tblGrid>
                <a:gridCol w="1097280"/>
                <a:gridCol w="2011680"/>
                <a:gridCol w="1645920"/>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Symbol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Run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P</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principal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10000 TL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annual rate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40 % → 0.40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n</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periods / year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years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0" name="Shape 6"/>
          <p:cNvSpPr/>
          <p:nvPr/>
        </p:nvSpPr>
        <p:spPr>
          <a:xfrm>
            <a:off x="5532120" y="1600200"/>
            <a:ext cx="6126480" cy="1554480"/>
          </a:xfrm>
          <a:prstGeom prst="roundRect">
            <a:avLst>
              <a:gd name="adj" fmla="val 5882"/>
            </a:avLst>
          </a:prstGeom>
          <a:solidFill>
            <a:srgbClr val="0F1729"/>
          </a:solidFill>
          <a:ln w="12700">
            <a:solidFill>
              <a:srgbClr val="0F1729"/>
            </a:solidFill>
            <a:prstDash val="solid"/>
          </a:ln>
        </p:spPr>
      </p:sp>
      <p:sp>
        <p:nvSpPr>
          <p:cNvPr id="11" name="Text 7"/>
          <p:cNvSpPr txBox="1"/>
          <p:nvPr/>
        </p:nvSpPr>
        <p:spPr>
          <a:xfrm>
            <a:off x="5760720" y="1709928"/>
            <a:ext cx="56692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code/04_08_CompoundInterest (excerpt)</a:t>
            </a:r>
            <a:endParaRPr lang="en-US" sz="1100" dirty="0"/>
          </a:p>
        </p:txBody>
      </p:sp>
      <p:sp>
        <p:nvSpPr>
          <p:cNvPr id="12" name="Text 8"/>
          <p:cNvSpPr txBox="1"/>
          <p:nvPr/>
        </p:nvSpPr>
        <p:spPr>
          <a:xfrm>
            <a:off x="5760720" y="2011680"/>
            <a:ext cx="566928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ratePercent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amount = principal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.Pow(</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r / n, n * 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simple = principal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r * t);</a:t>
            </a:r>
            <a:endParaRPr lang="en-US" sz="1200" dirty="0"/>
          </a:p>
        </p:txBody>
      </p:sp>
      <p:sp>
        <p:nvSpPr>
          <p:cNvPr id="13" name="Shape 9"/>
          <p:cNvSpPr/>
          <p:nvPr/>
        </p:nvSpPr>
        <p:spPr>
          <a:xfrm>
            <a:off x="5532120" y="3291840"/>
            <a:ext cx="6126480" cy="2057400"/>
          </a:xfrm>
          <a:prstGeom prst="roundRect">
            <a:avLst>
              <a:gd name="adj" fmla="val 4444"/>
            </a:avLst>
          </a:prstGeom>
          <a:solidFill>
            <a:srgbClr val="0B0F19"/>
          </a:solidFill>
          <a:ln w="12700">
            <a:solidFill>
              <a:srgbClr val="2A3654"/>
            </a:solidFill>
            <a:prstDash val="solid"/>
          </a:ln>
        </p:spPr>
      </p:sp>
      <p:sp>
        <p:nvSpPr>
          <p:cNvPr id="14" name="Shape 10"/>
          <p:cNvSpPr/>
          <p:nvPr/>
        </p:nvSpPr>
        <p:spPr>
          <a:xfrm>
            <a:off x="5715000" y="3419856"/>
            <a:ext cx="118872" cy="118872"/>
          </a:xfrm>
          <a:prstGeom prst="ellipse">
            <a:avLst/>
          </a:prstGeom>
          <a:solidFill>
            <a:srgbClr val="FF5F57"/>
          </a:solidFill>
          <a:ln w="12700">
            <a:solidFill>
              <a:srgbClr val="FF5F57"/>
            </a:solidFill>
            <a:prstDash val="solid"/>
          </a:ln>
        </p:spPr>
      </p:sp>
      <p:sp>
        <p:nvSpPr>
          <p:cNvPr id="15" name="Shape 11"/>
          <p:cNvSpPr/>
          <p:nvPr/>
        </p:nvSpPr>
        <p:spPr>
          <a:xfrm>
            <a:off x="5943600" y="3419856"/>
            <a:ext cx="118872" cy="118872"/>
          </a:xfrm>
          <a:prstGeom prst="ellipse">
            <a:avLst/>
          </a:prstGeom>
          <a:solidFill>
            <a:srgbClr val="FEBC2E"/>
          </a:solidFill>
          <a:ln w="12700">
            <a:solidFill>
              <a:srgbClr val="FEBC2E"/>
            </a:solidFill>
            <a:prstDash val="solid"/>
          </a:ln>
        </p:spPr>
      </p:sp>
      <p:sp>
        <p:nvSpPr>
          <p:cNvPr id="16" name="Shape 12"/>
          <p:cNvSpPr/>
          <p:nvPr/>
        </p:nvSpPr>
        <p:spPr>
          <a:xfrm>
            <a:off x="6172200" y="3419856"/>
            <a:ext cx="118872" cy="118872"/>
          </a:xfrm>
          <a:prstGeom prst="ellipse">
            <a:avLst/>
          </a:prstGeom>
          <a:solidFill>
            <a:srgbClr val="28C840"/>
          </a:solidFill>
          <a:ln w="12700">
            <a:solidFill>
              <a:srgbClr val="28C840"/>
            </a:solidFill>
            <a:prstDash val="solid"/>
          </a:ln>
        </p:spPr>
      </p:sp>
      <p:sp>
        <p:nvSpPr>
          <p:cNvPr id="17" name="Text 13"/>
          <p:cNvSpPr txBox="1"/>
          <p:nvPr/>
        </p:nvSpPr>
        <p:spPr>
          <a:xfrm>
            <a:off x="6446520" y="3364992"/>
            <a:ext cx="50292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4"/>
          <p:cNvSpPr txBox="1"/>
          <p:nvPr/>
        </p:nvSpPr>
        <p:spPr>
          <a:xfrm>
            <a:off x="5760720" y="3675888"/>
            <a:ext cx="5669280" cy="15544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Principal P (TL):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Annual interest rate (%):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40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Compounding periods per year n: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Years t: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Compound amount : 21966.99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Interest earned : 11966.99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Simple interest : 18000.00 TL</a:t>
            </a:r>
            <a:endParaRPr lang="en-US" sz="1200" dirty="0"/>
          </a:p>
        </p:txBody>
      </p:sp>
      <p:sp>
        <p:nvSpPr>
          <p:cNvPr id="19" name="Shape 15"/>
          <p:cNvSpPr/>
          <p:nvPr/>
        </p:nvSpPr>
        <p:spPr>
          <a:xfrm>
            <a:off x="548640" y="4892040"/>
            <a:ext cx="4754880" cy="1143000"/>
          </a:xfrm>
          <a:prstGeom prst="roundRect">
            <a:avLst>
              <a:gd name="adj" fmla="val 9600"/>
            </a:avLst>
          </a:prstGeom>
          <a:solidFill>
            <a:srgbClr val="FFF6E3"/>
          </a:solidFill>
          <a:ln w="12700">
            <a:solidFill>
              <a:srgbClr val="FFF6E3"/>
            </a:solidFill>
            <a:prstDash val="solid"/>
          </a:ln>
        </p:spPr>
      </p:sp>
      <p:pic>
        <p:nvPicPr>
          <p:cNvPr id="20" name="Image 0" descr="preencoded.png">    </p:cNvPr>
          <p:cNvPicPr>
            <a:picLocks noChangeAspect="1"/>
          </p:cNvPicPr>
          <p:nvPr/>
        </p:nvPicPr>
        <p:blipFill>
          <a:blip r:embed="rId1"/>
          <a:stretch>
            <a:fillRect/>
          </a:stretch>
        </p:blipFill>
        <p:spPr>
          <a:xfrm>
            <a:off x="822960" y="5189220"/>
            <a:ext cx="548640" cy="548640"/>
          </a:xfrm>
          <a:prstGeom prst="rect">
            <a:avLst/>
          </a:prstGeom>
        </p:spPr>
      </p:pic>
      <p:sp>
        <p:nvSpPr>
          <p:cNvPr id="21" name="Text 16"/>
          <p:cNvSpPr txBox="1"/>
          <p:nvPr/>
        </p:nvSpPr>
        <p:spPr>
          <a:xfrm>
            <a:off x="1645920" y="4965192"/>
            <a:ext cx="3383280" cy="9966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int trap: </a:t>
            </a:r>
            <a:pPr indent="0" marL="0">
              <a:buNone/>
            </a:pPr>
            <a:r>
              <a:rPr lang="en-US" sz="1500" dirty="0">
                <a:solidFill>
                  <a:srgbClr val="333B4F"/>
                </a:solidFill>
                <a:latin typeface="Courier New" pitchFamily="34" charset="0"/>
                <a:ea typeface="Courier New" pitchFamily="34" charset="-122"/>
                <a:cs typeface="Courier New" pitchFamily="34" charset="-120"/>
              </a:rPr>
              <a:t>40 / 100</a:t>
            </a:r>
            <a:pPr indent="0" marL="0">
              <a:buNone/>
            </a:pPr>
            <a:r>
              <a:rPr lang="en-US" sz="1500" dirty="0">
                <a:solidFill>
                  <a:srgbClr val="333B4F"/>
                </a:solidFill>
                <a:latin typeface="Calibri" pitchFamily="34" charset="0"/>
                <a:ea typeface="Calibri" pitchFamily="34" charset="-122"/>
                <a:cs typeface="Calibri" pitchFamily="34" charset="-120"/>
              </a:rPr>
              <a:t> is 0! Read the rate as double.</a:t>
            </a:r>
            <a:endParaRPr lang="en-US" sz="1500" dirty="0"/>
          </a:p>
        </p:txBody>
      </p:sp>
      <p:sp>
        <p:nvSpPr>
          <p:cNvPr id="22" name="Shape 17"/>
          <p:cNvSpPr/>
          <p:nvPr/>
        </p:nvSpPr>
        <p:spPr>
          <a:xfrm>
            <a:off x="5532120" y="5486400"/>
            <a:ext cx="6126480" cy="548640"/>
          </a:xfrm>
          <a:prstGeom prst="roundRect">
            <a:avLst>
              <a:gd name="adj" fmla="val 20000"/>
            </a:avLst>
          </a:prstGeom>
          <a:solidFill>
            <a:srgbClr val="E6F4EC"/>
          </a:solidFill>
          <a:ln w="12700">
            <a:solidFill>
              <a:srgbClr val="E6F4EC"/>
            </a:solidFill>
            <a:prstDash val="solid"/>
          </a:ln>
        </p:spPr>
      </p:sp>
      <p:pic>
        <p:nvPicPr>
          <p:cNvPr id="23" name="Image 1" descr="preencoded.png">    </p:cNvPr>
          <p:cNvPicPr>
            <a:picLocks noChangeAspect="1"/>
          </p:cNvPicPr>
          <p:nvPr/>
        </p:nvPicPr>
        <p:blipFill>
          <a:blip r:embed="rId2"/>
          <a:stretch>
            <a:fillRect/>
          </a:stretch>
        </p:blipFill>
        <p:spPr>
          <a:xfrm>
            <a:off x="5806440" y="5623560"/>
            <a:ext cx="274320" cy="274320"/>
          </a:xfrm>
          <a:prstGeom prst="rect">
            <a:avLst/>
          </a:prstGeom>
        </p:spPr>
      </p:pic>
      <p:sp>
        <p:nvSpPr>
          <p:cNvPr id="24" name="Text 18"/>
          <p:cNvSpPr txBox="1"/>
          <p:nvPr/>
        </p:nvSpPr>
        <p:spPr>
          <a:xfrm>
            <a:off x="6355080" y="5559552"/>
            <a:ext cx="5029200" cy="40233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Check: 1000 TL, 10 %, n = 1, t = 3 → 1331.00</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Relational and Logical Operators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  !=  &lt;  &gt;  &lt;=  &gt;=  →  bool  ·  &amp;&amp;  ||  !  ·  short-circuit  ·  De Morgan  ·  ?:</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4</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RELATIONAL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Relational operators produce a bool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822960"/>
                <a:gridCol w="1280160"/>
                <a:gridCol w="2377440"/>
                <a:gridCol w="1737360"/>
                <a:gridCol w="137160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Pseudocode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Prints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equal to</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5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not equal to</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5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&lt;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&lt;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less than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3 &lt;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&gt;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&gt;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greater than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&gt;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&lt;=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less than or equal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5 &lt;=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&gt;=</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greater than or equal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4 &gt;= 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8366760" y="1645920"/>
            <a:ext cx="3291840" cy="1325880"/>
          </a:xfrm>
          <a:prstGeom prst="roundRect">
            <a:avLst>
              <a:gd name="adj" fmla="val 6897"/>
            </a:avLst>
          </a:prstGeom>
          <a:solidFill>
            <a:srgbClr val="0F1729"/>
          </a:solidFill>
          <a:ln w="12700">
            <a:solidFill>
              <a:srgbClr val="0F1729"/>
            </a:solidFill>
            <a:prstDash val="solid"/>
          </a:ln>
        </p:spPr>
      </p:sp>
      <p:sp>
        <p:nvSpPr>
          <p:cNvPr id="9" name="Text 5"/>
          <p:cNvSpPr txBox="1"/>
          <p:nvPr/>
        </p:nvSpPr>
        <p:spPr>
          <a:xfrm>
            <a:off x="8595360" y="1810512"/>
            <a:ext cx="2834640" cy="105156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grade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passed = grade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.WriteLine(passed);</a:t>
            </a:r>
            <a:endParaRPr lang="en-US" sz="1200" dirty="0"/>
          </a:p>
        </p:txBody>
      </p:sp>
      <p:sp>
        <p:nvSpPr>
          <p:cNvPr id="10" name="Shape 6"/>
          <p:cNvSpPr/>
          <p:nvPr/>
        </p:nvSpPr>
        <p:spPr>
          <a:xfrm>
            <a:off x="8366760" y="3108960"/>
            <a:ext cx="3291840" cy="777240"/>
          </a:xfrm>
          <a:prstGeom prst="roundRect">
            <a:avLst>
              <a:gd name="adj" fmla="val 11765"/>
            </a:avLst>
          </a:prstGeom>
          <a:solidFill>
            <a:srgbClr val="0B0F19"/>
          </a:solidFill>
          <a:ln w="12700">
            <a:solidFill>
              <a:srgbClr val="2A3654"/>
            </a:solidFill>
            <a:prstDash val="solid"/>
          </a:ln>
        </p:spPr>
      </p:sp>
      <p:sp>
        <p:nvSpPr>
          <p:cNvPr id="11" name="Shape 7"/>
          <p:cNvSpPr/>
          <p:nvPr/>
        </p:nvSpPr>
        <p:spPr>
          <a:xfrm>
            <a:off x="8549640" y="3236976"/>
            <a:ext cx="118872" cy="118872"/>
          </a:xfrm>
          <a:prstGeom prst="ellipse">
            <a:avLst/>
          </a:prstGeom>
          <a:solidFill>
            <a:srgbClr val="FF5F57"/>
          </a:solidFill>
          <a:ln w="12700">
            <a:solidFill>
              <a:srgbClr val="FF5F57"/>
            </a:solidFill>
            <a:prstDash val="solid"/>
          </a:ln>
        </p:spPr>
      </p:sp>
      <p:sp>
        <p:nvSpPr>
          <p:cNvPr id="12" name="Shape 8"/>
          <p:cNvSpPr/>
          <p:nvPr/>
        </p:nvSpPr>
        <p:spPr>
          <a:xfrm>
            <a:off x="8778240" y="3236976"/>
            <a:ext cx="118872" cy="118872"/>
          </a:xfrm>
          <a:prstGeom prst="ellipse">
            <a:avLst/>
          </a:prstGeom>
          <a:solidFill>
            <a:srgbClr val="FEBC2E"/>
          </a:solidFill>
          <a:ln w="12700">
            <a:solidFill>
              <a:srgbClr val="FEBC2E"/>
            </a:solidFill>
            <a:prstDash val="solid"/>
          </a:ln>
        </p:spPr>
      </p:sp>
      <p:sp>
        <p:nvSpPr>
          <p:cNvPr id="13" name="Shape 9"/>
          <p:cNvSpPr/>
          <p:nvPr/>
        </p:nvSpPr>
        <p:spPr>
          <a:xfrm>
            <a:off x="9006840" y="323697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9281160" y="318211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1"/>
          <p:cNvSpPr txBox="1"/>
          <p:nvPr/>
        </p:nvSpPr>
        <p:spPr>
          <a:xfrm>
            <a:off x="8595360" y="3493008"/>
            <a:ext cx="2834640" cy="27432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True</a:t>
            </a:r>
            <a:endParaRPr lang="en-US" sz="1400" dirty="0"/>
          </a:p>
        </p:txBody>
      </p:sp>
      <p:sp>
        <p:nvSpPr>
          <p:cNvPr id="16" name="Shape 12"/>
          <p:cNvSpPr/>
          <p:nvPr/>
        </p:nvSpPr>
        <p:spPr>
          <a:xfrm>
            <a:off x="548640" y="5029200"/>
            <a:ext cx="11109960" cy="1005840"/>
          </a:xfrm>
          <a:prstGeom prst="roundRect">
            <a:avLst>
              <a:gd name="adj" fmla="val 10909"/>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22960" y="5257800"/>
            <a:ext cx="548640" cy="548640"/>
          </a:xfrm>
          <a:prstGeom prst="rect">
            <a:avLst/>
          </a:prstGeom>
        </p:spPr>
      </p:pic>
      <p:sp>
        <p:nvSpPr>
          <p:cNvPr id="18" name="Text 13"/>
          <p:cNvSpPr txBox="1"/>
          <p:nvPr/>
        </p:nvSpPr>
        <p:spPr>
          <a:xfrm>
            <a:off x="1645920" y="5102352"/>
            <a:ext cx="9738360" cy="8595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 assigns, == compares. </a:t>
            </a:r>
            <a:pPr indent="0" marL="0">
              <a:buNone/>
            </a:pPr>
            <a:r>
              <a:rPr lang="en-US" sz="1500" dirty="0">
                <a:solidFill>
                  <a:srgbClr val="333B4F"/>
                </a:solidFill>
                <a:latin typeface="Courier New" pitchFamily="34" charset="0"/>
                <a:ea typeface="Courier New" pitchFamily="34" charset="-122"/>
                <a:cs typeface="Courier New" pitchFamily="34" charset="-120"/>
              </a:rPr>
              <a:t>bool same = (x = 5);</a:t>
            </a:r>
            <a:pPr indent="0" marL="0">
              <a:buNone/>
            </a:pPr>
            <a:r>
              <a:rPr lang="en-US" sz="1500" dirty="0">
                <a:solidFill>
                  <a:srgbClr val="333B4F"/>
                </a:solidFill>
                <a:latin typeface="Calibri" pitchFamily="34" charset="0"/>
                <a:ea typeface="Calibri" pitchFamily="34" charset="-122"/>
                <a:cs typeface="Calibri" pitchFamily="34" charset="-120"/>
              </a:rPr>
              <a:t> → error CS0029: Cannot implicitly convert type 'int' to 'bool'.</a:t>
            </a:r>
            <a:endParaRPr lang="en-US" sz="1500" dirty="0"/>
          </a:p>
        </p:txBody>
      </p:sp>
      <p:sp>
        <p:nvSpPr>
          <p:cNvPr id="19" name="Shape 14"/>
          <p:cNvSpPr/>
          <p:nvPr/>
        </p:nvSpPr>
        <p:spPr>
          <a:xfrm>
            <a:off x="8366760" y="4023360"/>
            <a:ext cx="3291840" cy="868680"/>
          </a:xfrm>
          <a:prstGeom prst="roundRect">
            <a:avLst>
              <a:gd name="adj" fmla="val 12632"/>
            </a:avLst>
          </a:prstGeom>
          <a:solidFill>
            <a:srgbClr val="FFF1D6"/>
          </a:solidFill>
          <a:ln w="12700">
            <a:solidFill>
              <a:srgbClr val="FFF1D6"/>
            </a:solidFill>
            <a:prstDash val="solid"/>
          </a:ln>
        </p:spPr>
      </p:sp>
      <p:sp>
        <p:nvSpPr>
          <p:cNvPr id="20" name="Text 15"/>
          <p:cNvSpPr txBox="1"/>
          <p:nvPr/>
        </p:nvSpPr>
        <p:spPr>
          <a:xfrm>
            <a:off x="8503920" y="4023360"/>
            <a:ext cx="3063240" cy="8686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pseudocode </a:t>
            </a:r>
            <a:pPr indent="0" marL="0">
              <a:buNone/>
            </a:pPr>
            <a:r>
              <a:rPr lang="en-US" sz="1400" dirty="0">
                <a:solidFill>
                  <a:srgbClr val="333B4F"/>
                </a:solidFill>
                <a:latin typeface="Courier New" pitchFamily="34" charset="0"/>
                <a:ea typeface="Courier New" pitchFamily="34" charset="-122"/>
                <a:cs typeface="Courier New" pitchFamily="34" charset="-120"/>
              </a:rPr>
              <a:t>←</a:t>
            </a:r>
            <a:pPr indent="0" marL="0">
              <a:buNone/>
            </a:pPr>
            <a:r>
              <a:rPr lang="en-US" sz="1400" dirty="0">
                <a:solidFill>
                  <a:srgbClr val="333B4F"/>
                </a:solidFill>
                <a:latin typeface="Calibri" pitchFamily="34" charset="0"/>
                <a:ea typeface="Calibri" pitchFamily="34" charset="-122"/>
                <a:cs typeface="Calibri" pitchFamily="34" charset="-120"/>
              </a:rPr>
              <a:t>  is  C# </a:t>
            </a:r>
            <a:pPr indent="0" marL="0">
              <a:buNone/>
            </a:pPr>
            <a:r>
              <a:rPr lang="en-US" sz="1400" dirty="0">
                <a:solidFill>
                  <a:srgbClr val="333B4F"/>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pseudocode </a:t>
            </a:r>
            <a:pPr indent="0" marL="0">
              <a:buNone/>
            </a:pPr>
            <a:r>
              <a:rPr lang="en-US" sz="1400" dirty="0">
                <a:solidFill>
                  <a:srgbClr val="333B4F"/>
                </a:solidFill>
                <a:latin typeface="Courier New" pitchFamily="34" charset="0"/>
                <a:ea typeface="Courier New" pitchFamily="34" charset="-122"/>
                <a:cs typeface="Courier New" pitchFamily="34" charset="-120"/>
              </a:rPr>
              <a:t>=</a:t>
            </a:r>
            <a:pPr indent="0" marL="0">
              <a:buNone/>
            </a:pPr>
            <a:r>
              <a:rPr lang="en-US" sz="1400" dirty="0">
                <a:solidFill>
                  <a:srgbClr val="333B4F"/>
                </a:solidFill>
                <a:latin typeface="Calibri" pitchFamily="34" charset="0"/>
                <a:ea typeface="Calibri" pitchFamily="34" charset="-122"/>
                <a:cs typeface="Calibri" pitchFamily="34" charset="-120"/>
              </a:rPr>
              <a:t>  is  C# </a:t>
            </a:r>
            <a:pPr indent="0" marL="0">
              <a:buNone/>
            </a:pPr>
            <a:r>
              <a:rPr lang="en-US" sz="1400" dirty="0">
                <a:solidFill>
                  <a:srgbClr val="333B4F"/>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RELATIONAL · DOUBLES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Why 0.1 + 0.2 == 0.3 is False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45920"/>
            <a:ext cx="6400800" cy="2011680"/>
          </a:xfrm>
          <a:prstGeom prst="roundRect">
            <a:avLst>
              <a:gd name="adj" fmla="val 4545"/>
            </a:avLst>
          </a:prstGeom>
          <a:solidFill>
            <a:srgbClr val="0F1729"/>
          </a:solidFill>
          <a:ln w="12700">
            <a:solidFill>
              <a:srgbClr val="0F1729"/>
            </a:solidFill>
            <a:prstDash val="solid"/>
          </a:ln>
        </p:spPr>
      </p:sp>
      <p:sp>
        <p:nvSpPr>
          <p:cNvPr id="8" name="Text 5"/>
          <p:cNvSpPr txBox="1"/>
          <p:nvPr/>
        </p:nvSpPr>
        <p:spPr>
          <a:xfrm>
            <a:off x="777240" y="1810512"/>
            <a:ext cx="5943600" cy="1737360"/>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.WriteLine(sum);</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Math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.Abs(sum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1e-9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0.1m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0.2m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0.3m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9" name="Shape 6"/>
          <p:cNvSpPr/>
          <p:nvPr/>
        </p:nvSpPr>
        <p:spPr>
          <a:xfrm>
            <a:off x="7178040" y="1645920"/>
            <a:ext cx="4480560" cy="2011680"/>
          </a:xfrm>
          <a:prstGeom prst="roundRect">
            <a:avLst>
              <a:gd name="adj" fmla="val 4545"/>
            </a:avLst>
          </a:prstGeom>
          <a:solidFill>
            <a:srgbClr val="0B0F19"/>
          </a:solidFill>
          <a:ln w="12700">
            <a:solidFill>
              <a:srgbClr val="2A3654"/>
            </a:solidFill>
            <a:prstDash val="solid"/>
          </a:ln>
        </p:spPr>
      </p:sp>
      <p:sp>
        <p:nvSpPr>
          <p:cNvPr id="10" name="Shape 7"/>
          <p:cNvSpPr/>
          <p:nvPr/>
        </p:nvSpPr>
        <p:spPr>
          <a:xfrm>
            <a:off x="736092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758952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781812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4" name="Text 11"/>
          <p:cNvSpPr txBox="1"/>
          <p:nvPr/>
        </p:nvSpPr>
        <p:spPr>
          <a:xfrm>
            <a:off x="7406640" y="2029968"/>
            <a:ext cx="4023360" cy="150876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0.30000000000000004</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False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True</a:t>
            </a:r>
            <a:endParaRPr lang="en-US" sz="1400" dirty="0"/>
          </a:p>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True</a:t>
            </a:r>
            <a:endParaRPr lang="en-US" sz="1400" dirty="0"/>
          </a:p>
        </p:txBody>
      </p:sp>
      <p:sp>
        <p:nvSpPr>
          <p:cNvPr id="15" name="Shape 12"/>
          <p:cNvSpPr/>
          <p:nvPr/>
        </p:nvSpPr>
        <p:spPr>
          <a:xfrm>
            <a:off x="548640" y="3886200"/>
            <a:ext cx="3566160" cy="2148840"/>
          </a:xfrm>
          <a:prstGeom prst="roundRect">
            <a:avLst>
              <a:gd name="adj" fmla="val 5106"/>
            </a:avLst>
          </a:prstGeom>
          <a:solidFill>
            <a:srgbClr val="EEF1F6"/>
          </a:solidFill>
          <a:ln w="12700">
            <a:solidFill>
              <a:srgbClr val="EEF1F6"/>
            </a:solidFill>
            <a:prstDash val="solid"/>
          </a:ln>
        </p:spPr>
      </p:sp>
      <p:sp>
        <p:nvSpPr>
          <p:cNvPr id="16" name="Shape 13"/>
          <p:cNvSpPr/>
          <p:nvPr/>
        </p:nvSpPr>
        <p:spPr>
          <a:xfrm>
            <a:off x="777240" y="4114800"/>
            <a:ext cx="566928" cy="566928"/>
          </a:xfrm>
          <a:prstGeom prst="ellipse">
            <a:avLst/>
          </a:prstGeom>
          <a:solidFill>
            <a:srgbClr val="C8453B"/>
          </a:solidFill>
          <a:ln w="12700">
            <a:solidFill>
              <a:srgbClr val="C8453B"/>
            </a:solidFill>
            <a:prstDash val="solid"/>
          </a:ln>
        </p:spPr>
      </p:sp>
      <p:pic>
        <p:nvPicPr>
          <p:cNvPr id="17" name="Image 0" descr="preencoded.png">    </p:cNvPr>
          <p:cNvPicPr>
            <a:picLocks noChangeAspect="1"/>
          </p:cNvPicPr>
          <p:nvPr/>
        </p:nvPicPr>
        <p:blipFill>
          <a:blip r:embed="rId1"/>
          <a:stretch>
            <a:fillRect/>
          </a:stretch>
        </p:blipFill>
        <p:spPr>
          <a:xfrm>
            <a:off x="924641" y="4262201"/>
            <a:ext cx="272125" cy="272125"/>
          </a:xfrm>
          <a:prstGeom prst="rect">
            <a:avLst/>
          </a:prstGeom>
        </p:spPr>
      </p:pic>
      <p:sp>
        <p:nvSpPr>
          <p:cNvPr id="18" name="Text 14"/>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Do not</a:t>
            </a:r>
            <a:endParaRPr lang="en-US" sz="1700" dirty="0"/>
          </a:p>
        </p:txBody>
      </p:sp>
      <p:sp>
        <p:nvSpPr>
          <p:cNvPr id="19" name="Text 15"/>
          <p:cNvSpPr txBox="1"/>
          <p:nvPr/>
        </p:nvSpPr>
        <p:spPr>
          <a:xfrm>
            <a:off x="777240" y="4800600"/>
            <a:ext cx="310896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compare doubles with ==,</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e.g. sum == 0.3</a:t>
            </a:r>
            <a:endParaRPr lang="en-US" sz="1400" dirty="0"/>
          </a:p>
        </p:txBody>
      </p:sp>
      <p:sp>
        <p:nvSpPr>
          <p:cNvPr id="20" name="Shape 16"/>
          <p:cNvSpPr/>
          <p:nvPr/>
        </p:nvSpPr>
        <p:spPr>
          <a:xfrm>
            <a:off x="4297680" y="3886200"/>
            <a:ext cx="3566160" cy="2148840"/>
          </a:xfrm>
          <a:prstGeom prst="roundRect">
            <a:avLst>
              <a:gd name="adj" fmla="val 5106"/>
            </a:avLst>
          </a:prstGeom>
          <a:solidFill>
            <a:srgbClr val="EEF1F6"/>
          </a:solidFill>
          <a:ln w="12700">
            <a:solidFill>
              <a:srgbClr val="EEF1F6"/>
            </a:solidFill>
            <a:prstDash val="solid"/>
          </a:ln>
        </p:spPr>
      </p:sp>
      <p:sp>
        <p:nvSpPr>
          <p:cNvPr id="21" name="Shape 17"/>
          <p:cNvSpPr/>
          <p:nvPr/>
        </p:nvSpPr>
        <p:spPr>
          <a:xfrm>
            <a:off x="4526280" y="4114800"/>
            <a:ext cx="566928" cy="566928"/>
          </a:xfrm>
          <a:prstGeom prst="ellipse">
            <a:avLst/>
          </a:prstGeom>
          <a:solidFill>
            <a:srgbClr val="2E9E6A"/>
          </a:solidFill>
          <a:ln w="12700">
            <a:solidFill>
              <a:srgbClr val="2E9E6A"/>
            </a:solidFill>
            <a:prstDash val="solid"/>
          </a:ln>
        </p:spPr>
      </p:sp>
      <p:pic>
        <p:nvPicPr>
          <p:cNvPr id="22" name="Image 1" descr="preencoded.png">    </p:cNvPr>
          <p:cNvPicPr>
            <a:picLocks noChangeAspect="1"/>
          </p:cNvPicPr>
          <p:nvPr/>
        </p:nvPicPr>
        <p:blipFill>
          <a:blip r:embed="rId2"/>
          <a:stretch>
            <a:fillRect/>
          </a:stretch>
        </p:blipFill>
        <p:spPr>
          <a:xfrm>
            <a:off x="4673681" y="4262201"/>
            <a:ext cx="272125" cy="272125"/>
          </a:xfrm>
          <a:prstGeom prst="rect">
            <a:avLst/>
          </a:prstGeom>
        </p:spPr>
      </p:pic>
      <p:sp>
        <p:nvSpPr>
          <p:cNvPr id="23" name="Text 18"/>
          <p:cNvSpPr txBox="1"/>
          <p:nvPr/>
        </p:nvSpPr>
        <p:spPr>
          <a:xfrm>
            <a:off x="521208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Do</a:t>
            </a:r>
            <a:endParaRPr lang="en-US" sz="1700" dirty="0"/>
          </a:p>
        </p:txBody>
      </p:sp>
      <p:sp>
        <p:nvSpPr>
          <p:cNvPr id="24" name="Text 19"/>
          <p:cNvSpPr txBox="1"/>
          <p:nvPr/>
        </p:nvSpPr>
        <p:spPr>
          <a:xfrm>
            <a:off x="4526280" y="4800600"/>
            <a:ext cx="310896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Math.Abs(a - b) &lt; 1e-9</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(a tolerance, "epsilon").</a:t>
            </a:r>
            <a:endParaRPr lang="en-US" sz="1400" dirty="0"/>
          </a:p>
        </p:txBody>
      </p:sp>
      <p:sp>
        <p:nvSpPr>
          <p:cNvPr id="25" name="Shape 20"/>
          <p:cNvSpPr/>
          <p:nvPr/>
        </p:nvSpPr>
        <p:spPr>
          <a:xfrm>
            <a:off x="8046720" y="3886200"/>
            <a:ext cx="3611880" cy="2148840"/>
          </a:xfrm>
          <a:prstGeom prst="roundRect">
            <a:avLst>
              <a:gd name="adj" fmla="val 5106"/>
            </a:avLst>
          </a:prstGeom>
          <a:solidFill>
            <a:srgbClr val="EEF1F6"/>
          </a:solidFill>
          <a:ln w="12700">
            <a:solidFill>
              <a:srgbClr val="EEF1F6"/>
            </a:solidFill>
            <a:prstDash val="solid"/>
          </a:ln>
        </p:spPr>
      </p:sp>
      <p:sp>
        <p:nvSpPr>
          <p:cNvPr id="26" name="Shape 21"/>
          <p:cNvSpPr/>
          <p:nvPr/>
        </p:nvSpPr>
        <p:spPr>
          <a:xfrm>
            <a:off x="8275320" y="4114800"/>
            <a:ext cx="566928" cy="566928"/>
          </a:xfrm>
          <a:prstGeom prst="ellipse">
            <a:avLst/>
          </a:prstGeom>
          <a:solidFill>
            <a:srgbClr val="B7791F"/>
          </a:solidFill>
          <a:ln w="12700">
            <a:solidFill>
              <a:srgbClr val="B7791F"/>
            </a:solidFill>
            <a:prstDash val="solid"/>
          </a:ln>
        </p:spPr>
      </p:sp>
      <p:pic>
        <p:nvPicPr>
          <p:cNvPr id="27" name="Image 2" descr="preencoded.png">    </p:cNvPr>
          <p:cNvPicPr>
            <a:picLocks noChangeAspect="1"/>
          </p:cNvPicPr>
          <p:nvPr/>
        </p:nvPicPr>
        <p:blipFill>
          <a:blip r:embed="rId3"/>
          <a:stretch>
            <a:fillRect/>
          </a:stretch>
        </p:blipFill>
        <p:spPr>
          <a:xfrm>
            <a:off x="8422721" y="4262201"/>
            <a:ext cx="272125" cy="272125"/>
          </a:xfrm>
          <a:prstGeom prst="rect">
            <a:avLst/>
          </a:prstGeom>
        </p:spPr>
      </p:pic>
      <p:sp>
        <p:nvSpPr>
          <p:cNvPr id="28" name="Text 22"/>
          <p:cNvSpPr txBox="1"/>
          <p:nvPr/>
        </p:nvSpPr>
        <p:spPr>
          <a:xfrm>
            <a:off x="8961120" y="4114800"/>
            <a:ext cx="25146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Money</a:t>
            </a:r>
            <a:endParaRPr lang="en-US" sz="1700" dirty="0"/>
          </a:p>
        </p:txBody>
      </p:sp>
      <p:sp>
        <p:nvSpPr>
          <p:cNvPr id="29" name="Text 23"/>
          <p:cNvSpPr txBox="1"/>
          <p:nvPr/>
        </p:nvSpPr>
        <p:spPr>
          <a:xfrm>
            <a:off x="8275320" y="4800600"/>
            <a:ext cx="3154680" cy="109728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Use decimal (suffix m): base-10 digits are stored exactly.</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LOGICAL</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Logical operators and truth tables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1280160"/>
                <a:gridCol w="1280160"/>
                <a:gridCol w="1463040"/>
                <a:gridCol w="1463040"/>
                <a:gridCol w="1280160"/>
              </a:tblGrid>
              <a:tr h="566928">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p</a:t>
                      </a:r>
                      <a:endParaRPr lang="en-US" sz="17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q</a:t>
                      </a:r>
                      <a:endParaRPr lang="en-US" sz="17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p &amp;&amp; q</a:t>
                      </a:r>
                      <a:endParaRPr lang="en-US" sz="17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p || q</a:t>
                      </a:r>
                      <a:endParaRPr lang="en-US" sz="17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!p</a:t>
                      </a:r>
                      <a:endParaRPr lang="en-US" sz="17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2E9E6A"/>
                          </a:solidFill>
                          <a:latin typeface="Courier New" pitchFamily="34" charset="0"/>
                          <a:ea typeface="Courier New" pitchFamily="34" charset="-122"/>
                          <a:cs typeface="Courier New" pitchFamily="34" charset="-120"/>
                        </a:rPr>
                        <a:t>True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700" b="1" dirty="0">
                          <a:solidFill>
                            <a:srgbClr val="C8453B"/>
                          </a:solidFill>
                          <a:latin typeface="Courier New" pitchFamily="34" charset="0"/>
                          <a:ea typeface="Courier New" pitchFamily="34" charset="-122"/>
                          <a:cs typeface="Courier New" pitchFamily="34" charset="-120"/>
                        </a:rPr>
                        <a:t>False</a:t>
                      </a:r>
                      <a:endParaRPr lang="en-US" sz="17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7589520" y="1645920"/>
            <a:ext cx="4069080" cy="868680"/>
          </a:xfrm>
          <a:prstGeom prst="roundRect">
            <a:avLst>
              <a:gd name="adj" fmla="val 12632"/>
            </a:avLst>
          </a:prstGeom>
          <a:solidFill>
            <a:srgbClr val="EEF1F6"/>
          </a:solidFill>
          <a:ln w="12700">
            <a:solidFill>
              <a:srgbClr val="EEF1F6"/>
            </a:solidFill>
            <a:prstDash val="solid"/>
          </a:ln>
        </p:spPr>
      </p:sp>
      <p:sp>
        <p:nvSpPr>
          <p:cNvPr id="9" name="Text 5"/>
          <p:cNvSpPr txBox="1"/>
          <p:nvPr/>
        </p:nvSpPr>
        <p:spPr>
          <a:xfrm>
            <a:off x="7726680" y="1645920"/>
            <a:ext cx="822960" cy="868680"/>
          </a:xfrm>
          <a:prstGeom prst="rect">
            <a:avLst/>
          </a:prstGeom>
          <a:noFill/>
          <a:ln/>
        </p:spPr>
        <p:txBody>
          <a:bodyPr wrap="square" lIns="0" tIns="0" rIns="0" bIns="0" rtlCol="0" anchor="ctr"/>
          <a:lstStyle/>
          <a:p>
            <a:pPr algn="ctr" indent="0" marL="0">
              <a:buNone/>
            </a:pPr>
            <a:r>
              <a:rPr lang="en-US" sz="2600" b="1" dirty="0">
                <a:solidFill>
                  <a:srgbClr val="2F6FB3"/>
                </a:solidFill>
                <a:latin typeface="Courier New" pitchFamily="34" charset="0"/>
                <a:ea typeface="Courier New" pitchFamily="34" charset="-122"/>
                <a:cs typeface="Courier New" pitchFamily="34" charset="-120"/>
              </a:rPr>
              <a:t>&amp;&amp;</a:t>
            </a:r>
            <a:endParaRPr lang="en-US" sz="2600" dirty="0"/>
          </a:p>
        </p:txBody>
      </p:sp>
      <p:sp>
        <p:nvSpPr>
          <p:cNvPr id="10" name="Text 6"/>
          <p:cNvSpPr txBox="1"/>
          <p:nvPr/>
        </p:nvSpPr>
        <p:spPr>
          <a:xfrm>
            <a:off x="8641080" y="1691640"/>
            <a:ext cx="2926080" cy="777240"/>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AND · ve</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both must be true</a:t>
            </a:r>
            <a:endParaRPr lang="en-US" sz="1400" dirty="0"/>
          </a:p>
        </p:txBody>
      </p:sp>
      <p:sp>
        <p:nvSpPr>
          <p:cNvPr id="11" name="Shape 7"/>
          <p:cNvSpPr/>
          <p:nvPr/>
        </p:nvSpPr>
        <p:spPr>
          <a:xfrm>
            <a:off x="7589520" y="2633472"/>
            <a:ext cx="4069080" cy="868680"/>
          </a:xfrm>
          <a:prstGeom prst="roundRect">
            <a:avLst>
              <a:gd name="adj" fmla="val 12632"/>
            </a:avLst>
          </a:prstGeom>
          <a:solidFill>
            <a:srgbClr val="EEF1F6"/>
          </a:solidFill>
          <a:ln w="12700">
            <a:solidFill>
              <a:srgbClr val="EEF1F6"/>
            </a:solidFill>
            <a:prstDash val="solid"/>
          </a:ln>
        </p:spPr>
      </p:sp>
      <p:sp>
        <p:nvSpPr>
          <p:cNvPr id="12" name="Text 8"/>
          <p:cNvSpPr txBox="1"/>
          <p:nvPr/>
        </p:nvSpPr>
        <p:spPr>
          <a:xfrm>
            <a:off x="7726680" y="2633472"/>
            <a:ext cx="822960" cy="868680"/>
          </a:xfrm>
          <a:prstGeom prst="rect">
            <a:avLst/>
          </a:prstGeom>
          <a:noFill/>
          <a:ln/>
        </p:spPr>
        <p:txBody>
          <a:bodyPr wrap="square" lIns="0" tIns="0" rIns="0" bIns="0" rtlCol="0" anchor="ctr"/>
          <a:lstStyle/>
          <a:p>
            <a:pPr algn="ctr" indent="0" marL="0">
              <a:buNone/>
            </a:pPr>
            <a:r>
              <a:rPr lang="en-US" sz="2600" b="1" dirty="0">
                <a:solidFill>
                  <a:srgbClr val="2F6FB3"/>
                </a:solidFill>
                <a:latin typeface="Courier New" pitchFamily="34" charset="0"/>
                <a:ea typeface="Courier New" pitchFamily="34" charset="-122"/>
                <a:cs typeface="Courier New" pitchFamily="34" charset="-120"/>
              </a:rPr>
              <a:t>||</a:t>
            </a:r>
            <a:endParaRPr lang="en-US" sz="2600" dirty="0"/>
          </a:p>
        </p:txBody>
      </p:sp>
      <p:sp>
        <p:nvSpPr>
          <p:cNvPr id="13" name="Text 9"/>
          <p:cNvSpPr txBox="1"/>
          <p:nvPr/>
        </p:nvSpPr>
        <p:spPr>
          <a:xfrm>
            <a:off x="8641080" y="2679192"/>
            <a:ext cx="2926080" cy="777240"/>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OR · veya</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at least one true</a:t>
            </a:r>
            <a:endParaRPr lang="en-US" sz="1400" dirty="0"/>
          </a:p>
        </p:txBody>
      </p:sp>
      <p:sp>
        <p:nvSpPr>
          <p:cNvPr id="14" name="Shape 10"/>
          <p:cNvSpPr/>
          <p:nvPr/>
        </p:nvSpPr>
        <p:spPr>
          <a:xfrm>
            <a:off x="7589520" y="3621024"/>
            <a:ext cx="4069080" cy="868680"/>
          </a:xfrm>
          <a:prstGeom prst="roundRect">
            <a:avLst>
              <a:gd name="adj" fmla="val 12632"/>
            </a:avLst>
          </a:prstGeom>
          <a:solidFill>
            <a:srgbClr val="EEF1F6"/>
          </a:solidFill>
          <a:ln w="12700">
            <a:solidFill>
              <a:srgbClr val="EEF1F6"/>
            </a:solidFill>
            <a:prstDash val="solid"/>
          </a:ln>
        </p:spPr>
      </p:sp>
      <p:sp>
        <p:nvSpPr>
          <p:cNvPr id="15" name="Text 11"/>
          <p:cNvSpPr txBox="1"/>
          <p:nvPr/>
        </p:nvSpPr>
        <p:spPr>
          <a:xfrm>
            <a:off x="7726680" y="3621024"/>
            <a:ext cx="822960" cy="868680"/>
          </a:xfrm>
          <a:prstGeom prst="rect">
            <a:avLst/>
          </a:prstGeom>
          <a:noFill/>
          <a:ln/>
        </p:spPr>
        <p:txBody>
          <a:bodyPr wrap="square" lIns="0" tIns="0" rIns="0" bIns="0" rtlCol="0" anchor="ctr"/>
          <a:lstStyle/>
          <a:p>
            <a:pPr algn="ctr" indent="0" marL="0">
              <a:buNone/>
            </a:pPr>
            <a:r>
              <a:rPr lang="en-US" sz="2600" b="1" dirty="0">
                <a:solidFill>
                  <a:srgbClr val="2F6FB3"/>
                </a:solidFill>
                <a:latin typeface="Courier New" pitchFamily="34" charset="0"/>
                <a:ea typeface="Courier New" pitchFamily="34" charset="-122"/>
                <a:cs typeface="Courier New" pitchFamily="34" charset="-120"/>
              </a:rPr>
              <a:t>!</a:t>
            </a:r>
            <a:endParaRPr lang="en-US" sz="2600" dirty="0"/>
          </a:p>
        </p:txBody>
      </p:sp>
      <p:sp>
        <p:nvSpPr>
          <p:cNvPr id="16" name="Text 12"/>
          <p:cNvSpPr txBox="1"/>
          <p:nvPr/>
        </p:nvSpPr>
        <p:spPr>
          <a:xfrm>
            <a:off x="8641080" y="3666744"/>
            <a:ext cx="2926080" cy="777240"/>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NOT · değil</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flips true ↔ false</a:t>
            </a:r>
            <a:endParaRPr lang="en-US" sz="1400" dirty="0"/>
          </a:p>
        </p:txBody>
      </p:sp>
      <p:sp>
        <p:nvSpPr>
          <p:cNvPr id="17" name="Shape 13"/>
          <p:cNvSpPr/>
          <p:nvPr/>
        </p:nvSpPr>
        <p:spPr>
          <a:xfrm>
            <a:off x="548640" y="4663440"/>
            <a:ext cx="11109960" cy="1371600"/>
          </a:xfrm>
          <a:prstGeom prst="roundRect">
            <a:avLst>
              <a:gd name="adj" fmla="val 8000"/>
            </a:avLst>
          </a:prstGeom>
          <a:solidFill>
            <a:srgbClr val="FFF6E3"/>
          </a:solidFill>
          <a:ln w="12700">
            <a:solidFill>
              <a:srgbClr val="FFF6E3"/>
            </a:solidFill>
            <a:prstDash val="solid"/>
          </a:ln>
        </p:spPr>
      </p:sp>
      <p:pic>
        <p:nvPicPr>
          <p:cNvPr id="18" name="Image 0" descr="preencoded.png">    </p:cNvPr>
          <p:cNvPicPr>
            <a:picLocks noChangeAspect="1"/>
          </p:cNvPicPr>
          <p:nvPr/>
        </p:nvPicPr>
        <p:blipFill>
          <a:blip r:embed="rId1"/>
          <a:stretch>
            <a:fillRect/>
          </a:stretch>
        </p:blipFill>
        <p:spPr>
          <a:xfrm>
            <a:off x="822960" y="5074920"/>
            <a:ext cx="548640" cy="548640"/>
          </a:xfrm>
          <a:prstGeom prst="rect">
            <a:avLst/>
          </a:prstGeom>
        </p:spPr>
      </p:pic>
      <p:sp>
        <p:nvSpPr>
          <p:cNvPr id="19" name="Text 14"/>
          <p:cNvSpPr txBox="1"/>
          <p:nvPr/>
        </p:nvSpPr>
        <p:spPr>
          <a:xfrm>
            <a:off x="1645920" y="4736592"/>
            <a:ext cx="9738360" cy="1225296"/>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Precedence: </a:t>
            </a:r>
            <a:pPr indent="0" marL="0">
              <a:buNone/>
            </a:pPr>
            <a:r>
              <a:rPr lang="en-US" sz="1600" dirty="0">
                <a:solidFill>
                  <a:srgbClr val="333B4F"/>
                </a:solidFill>
                <a:latin typeface="Courier New" pitchFamily="34" charset="0"/>
                <a:ea typeface="Courier New" pitchFamily="34" charset="-122"/>
                <a:cs typeface="Courier New" pitchFamily="34" charset="-120"/>
              </a:rPr>
              <a:t>!</a:t>
            </a:r>
            <a:pPr indent="0" marL="0">
              <a:buNone/>
            </a:pPr>
            <a:r>
              <a:rPr lang="en-US" sz="1600" dirty="0">
                <a:solidFill>
                  <a:srgbClr val="333B4F"/>
                </a:solidFill>
                <a:latin typeface="Calibri" pitchFamily="34" charset="0"/>
                <a:ea typeface="Calibri" pitchFamily="34" charset="-122"/>
                <a:cs typeface="Calibri" pitchFamily="34" charset="-120"/>
              </a:rPr>
              <a:t> before </a:t>
            </a:r>
            <a:pPr indent="0" marL="0">
              <a:buNone/>
            </a:pPr>
            <a:r>
              <a:rPr lang="en-US" sz="1600" dirty="0">
                <a:solidFill>
                  <a:srgbClr val="333B4F"/>
                </a:solidFill>
                <a:latin typeface="Courier New" pitchFamily="34" charset="0"/>
                <a:ea typeface="Courier New" pitchFamily="34" charset="-122"/>
                <a:cs typeface="Courier New" pitchFamily="34" charset="-120"/>
              </a:rPr>
              <a:t>&amp;&amp;</a:t>
            </a:r>
            <a:pPr indent="0" marL="0">
              <a:buNone/>
            </a:pPr>
            <a:r>
              <a:rPr lang="en-US" sz="1600" dirty="0">
                <a:solidFill>
                  <a:srgbClr val="333B4F"/>
                </a:solidFill>
                <a:latin typeface="Calibri" pitchFamily="34" charset="0"/>
                <a:ea typeface="Calibri" pitchFamily="34" charset="-122"/>
                <a:cs typeface="Calibri" pitchFamily="34" charset="-120"/>
              </a:rPr>
              <a:t> before </a:t>
            </a:r>
            <a:pPr indent="0" marL="0">
              <a:buNone/>
            </a:pPr>
            <a:r>
              <a:rPr lang="en-US" sz="1600" dirty="0">
                <a:solidFill>
                  <a:srgbClr val="333B4F"/>
                </a:solidFill>
                <a:latin typeface="Courier New" pitchFamily="34" charset="0"/>
                <a:ea typeface="Courier New" pitchFamily="34" charset="-122"/>
                <a:cs typeface="Courier New" pitchFamily="34" charset="-120"/>
              </a:rPr>
              <a:t>||</a:t>
            </a:r>
            <a:pPr indent="0" marL="0">
              <a:buNone/>
            </a:pPr>
            <a:r>
              <a:rPr lang="en-US" sz="1600" dirty="0">
                <a:solidFill>
                  <a:srgbClr val="333B4F"/>
                </a:solidFill>
                <a:latin typeface="Calibri" pitchFamily="34" charset="0"/>
                <a:ea typeface="Calibri" pitchFamily="34" charset="-122"/>
                <a:cs typeface="Calibri" pitchFamily="34" charset="-120"/>
              </a:rPr>
              <a:t>.  So </a:t>
            </a:r>
            <a:pPr indent="0" marL="0">
              <a:buNone/>
            </a:pPr>
            <a:r>
              <a:rPr lang="en-US" sz="1600" dirty="0">
                <a:solidFill>
                  <a:srgbClr val="333B4F"/>
                </a:solidFill>
                <a:latin typeface="Courier New" pitchFamily="34" charset="0"/>
                <a:ea typeface="Courier New" pitchFamily="34" charset="-122"/>
                <a:cs typeface="Courier New" pitchFamily="34" charset="-120"/>
              </a:rPr>
              <a:t>a || b &amp;&amp; c</a:t>
            </a:r>
            <a:pPr indent="0" marL="0">
              <a:buNone/>
            </a:pPr>
            <a:r>
              <a:rPr lang="en-US" sz="1600" dirty="0">
                <a:solidFill>
                  <a:srgbClr val="333B4F"/>
                </a:solidFill>
                <a:latin typeface="Calibri" pitchFamily="34" charset="0"/>
                <a:ea typeface="Calibri" pitchFamily="34" charset="-122"/>
                <a:cs typeface="Calibri" pitchFamily="34" charset="-120"/>
              </a:rPr>
              <a:t> means </a:t>
            </a:r>
            <a:pPr indent="0" marL="0">
              <a:buNone/>
            </a:pPr>
            <a:r>
              <a:rPr lang="en-US" sz="1600" dirty="0">
                <a:solidFill>
                  <a:srgbClr val="333B4F"/>
                </a:solidFill>
                <a:latin typeface="Courier New" pitchFamily="34" charset="0"/>
                <a:ea typeface="Courier New" pitchFamily="34" charset="-122"/>
                <a:cs typeface="Courier New" pitchFamily="34" charset="-120"/>
              </a:rPr>
              <a:t>a || (b &amp;&amp; c)</a:t>
            </a:r>
            <a:pPr indent="0" marL="0">
              <a:buNone/>
            </a:pPr>
            <a:r>
              <a:rPr lang="en-US" sz="1600" dirty="0">
                <a:solidFill>
                  <a:srgbClr val="333B4F"/>
                </a:solidFill>
                <a:latin typeface="Calibri" pitchFamily="34" charset="0"/>
                <a:ea typeface="Calibri" pitchFamily="34" charset="-122"/>
                <a:cs typeface="Calibri" pitchFamily="34" charset="-120"/>
              </a:rPr>
              <a:t>. When you mix &amp;&amp; and ||, write the parentheses yourself.</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LOGICAL · SHORT-CIRCUIT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Short-circuit evaluation: a built-in guard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1737360" y="1645920"/>
            <a:ext cx="2377440" cy="457200"/>
          </a:xfrm>
          <a:prstGeom prst="flowChartTerminator">
            <a:avLst/>
          </a:prstGeom>
          <a:solidFill>
            <a:srgbClr val="FFF1D6"/>
          </a:solidFill>
          <a:ln w="15875">
            <a:solidFill>
              <a:srgbClr val="14213D"/>
            </a:solidFill>
            <a:prstDash val="solid"/>
          </a:ln>
        </p:spPr>
      </p:sp>
      <p:sp>
        <p:nvSpPr>
          <p:cNvPr id="8" name="Text 5"/>
          <p:cNvSpPr txBox="1"/>
          <p:nvPr/>
        </p:nvSpPr>
        <p:spPr>
          <a:xfrm>
            <a:off x="1783080" y="1645920"/>
            <a:ext cx="228600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evaluate  b != 0 &amp;&amp; a / b &gt; 2</a:t>
            </a:r>
            <a:endParaRPr lang="en-US" sz="1200" dirty="0"/>
          </a:p>
        </p:txBody>
      </p:sp>
      <p:sp>
        <p:nvSpPr>
          <p:cNvPr id="9" name="Shape 6"/>
          <p:cNvSpPr/>
          <p:nvPr/>
        </p:nvSpPr>
        <p:spPr>
          <a:xfrm>
            <a:off x="1737360" y="2468880"/>
            <a:ext cx="2377440" cy="914400"/>
          </a:xfrm>
          <a:prstGeom prst="flowChartDecision">
            <a:avLst/>
          </a:prstGeom>
          <a:solidFill>
            <a:srgbClr val="E3ECF8"/>
          </a:solidFill>
          <a:ln w="15875">
            <a:solidFill>
              <a:srgbClr val="14213D"/>
            </a:solidFill>
            <a:prstDash val="solid"/>
          </a:ln>
        </p:spPr>
      </p:sp>
      <p:sp>
        <p:nvSpPr>
          <p:cNvPr id="10" name="Text 7"/>
          <p:cNvSpPr txBox="1"/>
          <p:nvPr/>
        </p:nvSpPr>
        <p:spPr>
          <a:xfrm>
            <a:off x="1783080" y="2468880"/>
            <a:ext cx="2286000" cy="914400"/>
          </a:xfrm>
          <a:prstGeom prst="rect">
            <a:avLst/>
          </a:prstGeom>
          <a:noFill/>
          <a:ln/>
        </p:spPr>
        <p:txBody>
          <a:bodyPr wrap="square" lIns="0" tIns="0" rIns="0" bIns="0" rtlCol="0" anchor="ctr"/>
          <a:lstStyle/>
          <a:p>
            <a:pPr algn="ctr" indent="0" marL="0">
              <a:buNone/>
            </a:pPr>
            <a:r>
              <a:rPr lang="en-US" sz="1400" dirty="0">
                <a:solidFill>
                  <a:srgbClr val="14213D"/>
                </a:solidFill>
                <a:latin typeface="Calibri" pitchFamily="34" charset="0"/>
                <a:ea typeface="Calibri" pitchFamily="34" charset="-122"/>
                <a:cs typeface="Calibri" pitchFamily="34" charset="-120"/>
              </a:rPr>
              <a:t>b != 0 ?</a:t>
            </a:r>
            <a:endParaRPr lang="en-US" sz="1400" dirty="0"/>
          </a:p>
        </p:txBody>
      </p:sp>
      <p:sp>
        <p:nvSpPr>
          <p:cNvPr id="11" name="Shape 8"/>
          <p:cNvSpPr/>
          <p:nvPr/>
        </p:nvSpPr>
        <p:spPr>
          <a:xfrm>
            <a:off x="4709160" y="2583180"/>
            <a:ext cx="2286000" cy="685800"/>
          </a:xfrm>
          <a:prstGeom prst="flowChartProcess">
            <a:avLst/>
          </a:prstGeom>
          <a:solidFill>
            <a:srgbClr val="FFFFFF"/>
          </a:solidFill>
          <a:ln w="15875">
            <a:solidFill>
              <a:srgbClr val="14213D"/>
            </a:solidFill>
            <a:prstDash val="solid"/>
          </a:ln>
        </p:spPr>
      </p:sp>
      <p:sp>
        <p:nvSpPr>
          <p:cNvPr id="12" name="Text 9"/>
          <p:cNvSpPr txBox="1"/>
          <p:nvPr/>
        </p:nvSpPr>
        <p:spPr>
          <a:xfrm>
            <a:off x="4754880" y="2583180"/>
            <a:ext cx="2194560" cy="6858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result = False</a:t>
            </a:r>
            <a:endParaRPr lang="en-US" sz="1300" dirty="0"/>
          </a:p>
          <a:p>
            <a:pPr algn="ctr" indent="0" marL="0">
              <a:buNone/>
            </a:pPr>
            <a:r>
              <a:rPr lang="en-US" sz="1300" dirty="0">
                <a:solidFill>
                  <a:srgbClr val="14213D"/>
                </a:solidFill>
                <a:latin typeface="Calibri" pitchFamily="34" charset="0"/>
                <a:ea typeface="Calibri" pitchFamily="34" charset="-122"/>
                <a:cs typeface="Calibri" pitchFamily="34" charset="-120"/>
              </a:rPr>
              <a:t>(a / b is skipped)</a:t>
            </a:r>
            <a:endParaRPr lang="en-US" sz="1300" dirty="0"/>
          </a:p>
        </p:txBody>
      </p:sp>
      <p:sp>
        <p:nvSpPr>
          <p:cNvPr id="13" name="Shape 10"/>
          <p:cNvSpPr/>
          <p:nvPr/>
        </p:nvSpPr>
        <p:spPr>
          <a:xfrm>
            <a:off x="1737360" y="3931920"/>
            <a:ext cx="2377440" cy="640080"/>
          </a:xfrm>
          <a:prstGeom prst="flowChartProcess">
            <a:avLst/>
          </a:prstGeom>
          <a:solidFill>
            <a:srgbClr val="FFFFFF"/>
          </a:solidFill>
          <a:ln w="15875">
            <a:solidFill>
              <a:srgbClr val="14213D"/>
            </a:solidFill>
            <a:prstDash val="solid"/>
          </a:ln>
        </p:spPr>
      </p:sp>
      <p:sp>
        <p:nvSpPr>
          <p:cNvPr id="14" name="Text 11"/>
          <p:cNvSpPr txBox="1"/>
          <p:nvPr/>
        </p:nvSpPr>
        <p:spPr>
          <a:xfrm>
            <a:off x="1783080" y="3931920"/>
            <a:ext cx="228600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evaluate  a / b &gt; 2</a:t>
            </a:r>
            <a:endParaRPr lang="en-US" sz="1300" dirty="0"/>
          </a:p>
        </p:txBody>
      </p:sp>
      <p:sp>
        <p:nvSpPr>
          <p:cNvPr id="15" name="Shape 12"/>
          <p:cNvSpPr/>
          <p:nvPr/>
        </p:nvSpPr>
        <p:spPr>
          <a:xfrm>
            <a:off x="1737360" y="5006340"/>
            <a:ext cx="2377440" cy="502920"/>
          </a:xfrm>
          <a:prstGeom prst="flowChartTerminator">
            <a:avLst/>
          </a:prstGeom>
          <a:solidFill>
            <a:srgbClr val="FFF1D6"/>
          </a:solidFill>
          <a:ln w="15875">
            <a:solidFill>
              <a:srgbClr val="14213D"/>
            </a:solidFill>
            <a:prstDash val="solid"/>
          </a:ln>
        </p:spPr>
      </p:sp>
      <p:sp>
        <p:nvSpPr>
          <p:cNvPr id="16" name="Text 13"/>
          <p:cNvSpPr txBox="1"/>
          <p:nvPr/>
        </p:nvSpPr>
        <p:spPr>
          <a:xfrm>
            <a:off x="1783080" y="5006340"/>
            <a:ext cx="2286000" cy="50292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result = value of a / b &gt; 2</a:t>
            </a:r>
            <a:endParaRPr lang="en-US" sz="1200" dirty="0"/>
          </a:p>
        </p:txBody>
      </p:sp>
      <p:sp>
        <p:nvSpPr>
          <p:cNvPr id="17" name="Shape 14"/>
          <p:cNvSpPr/>
          <p:nvPr/>
        </p:nvSpPr>
        <p:spPr>
          <a:xfrm>
            <a:off x="2926080" y="2103120"/>
            <a:ext cx="0" cy="365760"/>
          </a:xfrm>
          <a:prstGeom prst="line">
            <a:avLst/>
          </a:prstGeom>
          <a:noFill/>
          <a:ln w="15875">
            <a:solidFill>
              <a:srgbClr val="14213D"/>
            </a:solidFill>
            <a:prstDash val="solid"/>
            <a:tailEnd type="triangle"/>
          </a:ln>
        </p:spPr>
      </p:sp>
      <p:sp>
        <p:nvSpPr>
          <p:cNvPr id="18" name="Shape 15"/>
          <p:cNvSpPr/>
          <p:nvPr/>
        </p:nvSpPr>
        <p:spPr>
          <a:xfrm>
            <a:off x="4114800" y="2926080"/>
            <a:ext cx="594360" cy="0"/>
          </a:xfrm>
          <a:prstGeom prst="line">
            <a:avLst/>
          </a:prstGeom>
          <a:noFill/>
          <a:ln w="15875">
            <a:solidFill>
              <a:srgbClr val="14213D"/>
            </a:solidFill>
            <a:prstDash val="solid"/>
            <a:tailEnd type="triangle"/>
          </a:ln>
        </p:spPr>
      </p:sp>
      <p:sp>
        <p:nvSpPr>
          <p:cNvPr id="19" name="Shape 16"/>
          <p:cNvSpPr/>
          <p:nvPr/>
        </p:nvSpPr>
        <p:spPr>
          <a:xfrm>
            <a:off x="2926080" y="3383280"/>
            <a:ext cx="0" cy="548640"/>
          </a:xfrm>
          <a:prstGeom prst="line">
            <a:avLst/>
          </a:prstGeom>
          <a:noFill/>
          <a:ln w="15875">
            <a:solidFill>
              <a:srgbClr val="14213D"/>
            </a:solidFill>
            <a:prstDash val="solid"/>
            <a:tailEnd type="triangle"/>
          </a:ln>
        </p:spPr>
      </p:sp>
      <p:sp>
        <p:nvSpPr>
          <p:cNvPr id="20" name="Shape 17"/>
          <p:cNvSpPr/>
          <p:nvPr/>
        </p:nvSpPr>
        <p:spPr>
          <a:xfrm>
            <a:off x="2926080" y="4572000"/>
            <a:ext cx="0" cy="434340"/>
          </a:xfrm>
          <a:prstGeom prst="line">
            <a:avLst/>
          </a:prstGeom>
          <a:noFill/>
          <a:ln w="15875">
            <a:solidFill>
              <a:srgbClr val="14213D"/>
            </a:solidFill>
            <a:prstDash val="solid"/>
            <a:tailEnd type="triangle"/>
          </a:ln>
        </p:spPr>
      </p:sp>
      <p:sp>
        <p:nvSpPr>
          <p:cNvPr id="21" name="Text 18"/>
          <p:cNvSpPr txBox="1"/>
          <p:nvPr/>
        </p:nvSpPr>
        <p:spPr>
          <a:xfrm>
            <a:off x="4160520" y="2651760"/>
            <a:ext cx="548640" cy="228600"/>
          </a:xfrm>
          <a:prstGeom prst="rect">
            <a:avLst/>
          </a:prstGeom>
          <a:noFill/>
          <a:ln/>
        </p:spPr>
        <p:txBody>
          <a:bodyPr wrap="square" lIns="0" tIns="0" rIns="0" bIns="0" rtlCol="0" anchor="ctr"/>
          <a:lstStyle/>
          <a:p>
            <a:pPr indent="0" marL="0">
              <a:buNone/>
            </a:pPr>
            <a:r>
              <a:rPr lang="en-US" sz="1200" b="1" dirty="0">
                <a:solidFill>
                  <a:srgbClr val="C8453B"/>
                </a:solidFill>
                <a:latin typeface="Calibri" pitchFamily="34" charset="0"/>
                <a:ea typeface="Calibri" pitchFamily="34" charset="-122"/>
                <a:cs typeface="Calibri" pitchFamily="34" charset="-120"/>
              </a:rPr>
              <a:t>no</a:t>
            </a:r>
            <a:endParaRPr lang="en-US" sz="1200" dirty="0"/>
          </a:p>
        </p:txBody>
      </p:sp>
      <p:sp>
        <p:nvSpPr>
          <p:cNvPr id="22" name="Text 19"/>
          <p:cNvSpPr txBox="1"/>
          <p:nvPr/>
        </p:nvSpPr>
        <p:spPr>
          <a:xfrm>
            <a:off x="3017520" y="3364992"/>
            <a:ext cx="548640" cy="228600"/>
          </a:xfrm>
          <a:prstGeom prst="rect">
            <a:avLst/>
          </a:prstGeom>
          <a:noFill/>
          <a:ln/>
        </p:spPr>
        <p:txBody>
          <a:bodyPr wrap="square" lIns="0" tIns="0" rIns="0" bIns="0" rtlCol="0" anchor="ctr"/>
          <a:lstStyle/>
          <a:p>
            <a:pPr indent="0" marL="0">
              <a:buNone/>
            </a:pPr>
            <a:r>
              <a:rPr lang="en-US" sz="1200" b="1" dirty="0">
                <a:solidFill>
                  <a:srgbClr val="2E9E6A"/>
                </a:solidFill>
                <a:latin typeface="Calibri" pitchFamily="34" charset="0"/>
                <a:ea typeface="Calibri" pitchFamily="34" charset="-122"/>
                <a:cs typeface="Calibri" pitchFamily="34" charset="-120"/>
              </a:rPr>
              <a:t>yes</a:t>
            </a:r>
            <a:endParaRPr lang="en-US" sz="1200" dirty="0"/>
          </a:p>
        </p:txBody>
      </p:sp>
      <p:sp>
        <p:nvSpPr>
          <p:cNvPr id="23" name="Shape 20"/>
          <p:cNvSpPr/>
          <p:nvPr/>
        </p:nvSpPr>
        <p:spPr>
          <a:xfrm>
            <a:off x="7315200" y="1645920"/>
            <a:ext cx="4343400" cy="1417320"/>
          </a:xfrm>
          <a:prstGeom prst="roundRect">
            <a:avLst>
              <a:gd name="adj" fmla="val 6452"/>
            </a:avLst>
          </a:prstGeom>
          <a:solidFill>
            <a:srgbClr val="0F1729"/>
          </a:solidFill>
          <a:ln w="12700">
            <a:solidFill>
              <a:srgbClr val="0F1729"/>
            </a:solidFill>
            <a:prstDash val="solid"/>
          </a:ln>
        </p:spPr>
      </p:sp>
      <p:sp>
        <p:nvSpPr>
          <p:cNvPr id="24" name="Text 21"/>
          <p:cNvSpPr txBox="1"/>
          <p:nvPr/>
        </p:nvSpPr>
        <p:spPr>
          <a:xfrm>
            <a:off x="7543800" y="1810512"/>
            <a:ext cx="3886200" cy="114300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bigRatio = b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&amp;&amp; a / b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 != 0 &amp;&amp; a / b &gt; 2  -&gt;  {bigRatio}"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5" name="Shape 22"/>
          <p:cNvSpPr/>
          <p:nvPr/>
        </p:nvSpPr>
        <p:spPr>
          <a:xfrm>
            <a:off x="7315200" y="3200400"/>
            <a:ext cx="4343400" cy="822960"/>
          </a:xfrm>
          <a:prstGeom prst="roundRect">
            <a:avLst>
              <a:gd name="adj" fmla="val 11111"/>
            </a:avLst>
          </a:prstGeom>
          <a:solidFill>
            <a:srgbClr val="0B0F19"/>
          </a:solidFill>
          <a:ln w="12700">
            <a:solidFill>
              <a:srgbClr val="2A3654"/>
            </a:solidFill>
            <a:prstDash val="solid"/>
          </a:ln>
        </p:spPr>
      </p:sp>
      <p:sp>
        <p:nvSpPr>
          <p:cNvPr id="26" name="Shape 23"/>
          <p:cNvSpPr/>
          <p:nvPr/>
        </p:nvSpPr>
        <p:spPr>
          <a:xfrm>
            <a:off x="7498080" y="3328416"/>
            <a:ext cx="118872" cy="118872"/>
          </a:xfrm>
          <a:prstGeom prst="ellipse">
            <a:avLst/>
          </a:prstGeom>
          <a:solidFill>
            <a:srgbClr val="FF5F57"/>
          </a:solidFill>
          <a:ln w="12700">
            <a:solidFill>
              <a:srgbClr val="FF5F57"/>
            </a:solidFill>
            <a:prstDash val="solid"/>
          </a:ln>
        </p:spPr>
      </p:sp>
      <p:sp>
        <p:nvSpPr>
          <p:cNvPr id="27" name="Shape 24"/>
          <p:cNvSpPr/>
          <p:nvPr/>
        </p:nvSpPr>
        <p:spPr>
          <a:xfrm>
            <a:off x="7726680" y="3328416"/>
            <a:ext cx="118872" cy="118872"/>
          </a:xfrm>
          <a:prstGeom prst="ellipse">
            <a:avLst/>
          </a:prstGeom>
          <a:solidFill>
            <a:srgbClr val="FEBC2E"/>
          </a:solidFill>
          <a:ln w="12700">
            <a:solidFill>
              <a:srgbClr val="FEBC2E"/>
            </a:solidFill>
            <a:prstDash val="solid"/>
          </a:ln>
        </p:spPr>
      </p:sp>
      <p:sp>
        <p:nvSpPr>
          <p:cNvPr id="28" name="Shape 25"/>
          <p:cNvSpPr/>
          <p:nvPr/>
        </p:nvSpPr>
        <p:spPr>
          <a:xfrm>
            <a:off x="7955280" y="3328416"/>
            <a:ext cx="118872" cy="118872"/>
          </a:xfrm>
          <a:prstGeom prst="ellipse">
            <a:avLst/>
          </a:prstGeom>
          <a:solidFill>
            <a:srgbClr val="28C840"/>
          </a:solidFill>
          <a:ln w="12700">
            <a:solidFill>
              <a:srgbClr val="28C840"/>
            </a:solidFill>
            <a:prstDash val="solid"/>
          </a:ln>
        </p:spPr>
      </p:sp>
      <p:sp>
        <p:nvSpPr>
          <p:cNvPr id="29" name="Text 26"/>
          <p:cNvSpPr txBox="1"/>
          <p:nvPr/>
        </p:nvSpPr>
        <p:spPr>
          <a:xfrm>
            <a:off x="8229600" y="3273552"/>
            <a:ext cx="32461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30" name="Text 27"/>
          <p:cNvSpPr txBox="1"/>
          <p:nvPr/>
        </p:nvSpPr>
        <p:spPr>
          <a:xfrm>
            <a:off x="7543800" y="3584448"/>
            <a:ext cx="3886200" cy="3200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b != 0 &amp;&amp; a / b &gt; 2  -&gt;  False</a:t>
            </a:r>
            <a:endParaRPr lang="en-US" sz="1200" dirty="0"/>
          </a:p>
        </p:txBody>
      </p:sp>
      <p:sp>
        <p:nvSpPr>
          <p:cNvPr id="31" name="Shape 28"/>
          <p:cNvSpPr/>
          <p:nvPr/>
        </p:nvSpPr>
        <p:spPr>
          <a:xfrm>
            <a:off x="7315200" y="4160520"/>
            <a:ext cx="4343400" cy="1874520"/>
          </a:xfrm>
          <a:prstGeom prst="roundRect">
            <a:avLst>
              <a:gd name="adj" fmla="val 5854"/>
            </a:avLst>
          </a:prstGeom>
          <a:solidFill>
            <a:srgbClr val="FFF1D6"/>
          </a:solidFill>
          <a:ln w="12700">
            <a:solidFill>
              <a:srgbClr val="FFF1D6"/>
            </a:solidFill>
            <a:prstDash val="solid"/>
          </a:ln>
        </p:spPr>
      </p:sp>
      <p:sp>
        <p:nvSpPr>
          <p:cNvPr id="32" name="Text 29"/>
          <p:cNvSpPr txBox="1"/>
          <p:nvPr/>
        </p:nvSpPr>
        <p:spPr>
          <a:xfrm>
            <a:off x="7498080" y="4251960"/>
            <a:ext cx="4023360" cy="1691640"/>
          </a:xfrm>
          <a:prstGeom prst="rect">
            <a:avLst/>
          </a:prstGeom>
          <a:noFill/>
          <a:ln/>
        </p:spPr>
        <p:txBody>
          <a:bodyPr wrap="square" lIns="0" tIns="0" rIns="0" bIns="0" rtlCol="0" anchor="ctr"/>
          <a:lstStyle/>
          <a:p>
            <a:pPr indent="0" marL="0">
              <a:spcAft>
                <a:spcPts val="500"/>
              </a:spcAft>
              <a:buNone/>
            </a:pPr>
            <a:r>
              <a:rPr lang="en-US" sz="1400" b="1" dirty="0">
                <a:solidFill>
                  <a:srgbClr val="333B4F"/>
                </a:solidFill>
                <a:latin typeface="Courier New" pitchFamily="34" charset="0"/>
                <a:ea typeface="Courier New" pitchFamily="34" charset="-122"/>
                <a:cs typeface="Courier New" pitchFamily="34" charset="-120"/>
              </a:rPr>
              <a:t>false &amp;&amp; …</a:t>
            </a:r>
            <a:pPr indent="0" marL="0">
              <a:spcAft>
                <a:spcPts val="500"/>
              </a:spcAft>
              <a:buNone/>
            </a:pPr>
            <a:r>
              <a:rPr lang="en-US" sz="1400" dirty="0">
                <a:solidFill>
                  <a:srgbClr val="333B4F"/>
                </a:solidFill>
                <a:latin typeface="Calibri" pitchFamily="34" charset="0"/>
                <a:ea typeface="Calibri" pitchFamily="34" charset="-122"/>
                <a:cs typeface="Calibri" pitchFamily="34" charset="-120"/>
              </a:rPr>
              <a:t>  → false, right side skipped</a:t>
            </a:r>
            <a:endParaRPr lang="en-US" sz="1400" dirty="0"/>
          </a:p>
          <a:p>
            <a:pPr indent="0" marL="0">
              <a:spcAft>
                <a:spcPts val="500"/>
              </a:spcAft>
              <a:buNone/>
            </a:pPr>
            <a:r>
              <a:rPr lang="en-US" sz="1400" b="1" dirty="0">
                <a:solidFill>
                  <a:srgbClr val="333B4F"/>
                </a:solidFill>
                <a:latin typeface="Courier New" pitchFamily="34" charset="0"/>
                <a:ea typeface="Courier New" pitchFamily="34" charset="-122"/>
                <a:cs typeface="Courier New" pitchFamily="34" charset="-120"/>
              </a:rPr>
              <a:t>true || …</a:t>
            </a:r>
            <a:pPr indent="0" marL="0">
              <a:spcAft>
                <a:spcPts val="500"/>
              </a:spcAft>
              <a:buNone/>
            </a:pPr>
            <a:r>
              <a:rPr lang="en-US" sz="1400" dirty="0">
                <a:solidFill>
                  <a:srgbClr val="333B4F"/>
                </a:solidFill>
                <a:latin typeface="Calibri" pitchFamily="34" charset="0"/>
                <a:ea typeface="Calibri" pitchFamily="34" charset="-122"/>
                <a:cs typeface="Calibri" pitchFamily="34" charset="-120"/>
              </a:rPr>
              <a:t>  → true, right side skipped</a:t>
            </a:r>
            <a:endParaRPr lang="en-US" sz="1400" dirty="0"/>
          </a:p>
          <a:p>
            <a:pPr indent="0" marL="0">
              <a:spcAft>
                <a:spcPts val="500"/>
              </a:spcAft>
              <a:buNone/>
            </a:pPr>
            <a:r>
              <a:rPr lang="en-US" sz="1400" b="1" dirty="0">
                <a:solidFill>
                  <a:srgbClr val="C8453B"/>
                </a:solidFill>
                <a:latin typeface="Calibri" pitchFamily="34" charset="0"/>
                <a:ea typeface="Calibri" pitchFamily="34" charset="-122"/>
                <a:cs typeface="Calibri" pitchFamily="34" charset="-120"/>
              </a:rPr>
              <a:t>Order matters: </a:t>
            </a:r>
            <a:pPr indent="0" marL="0">
              <a:spcAft>
                <a:spcPts val="500"/>
              </a:spcAft>
              <a:buNone/>
            </a:pPr>
            <a:r>
              <a:rPr lang="en-US" sz="1400" dirty="0">
                <a:solidFill>
                  <a:srgbClr val="333B4F"/>
                </a:solidFill>
                <a:latin typeface="Courier New" pitchFamily="34" charset="0"/>
                <a:ea typeface="Courier New" pitchFamily="34" charset="-122"/>
                <a:cs typeface="Courier New" pitchFamily="34" charset="-120"/>
              </a:rPr>
              <a:t>a / b &gt; 2 &amp;&amp; b != 0</a:t>
            </a:r>
            <a:pPr indent="0" marL="0">
              <a:spcAft>
                <a:spcPts val="500"/>
              </a:spcAft>
              <a:buNone/>
            </a:pPr>
            <a:r>
              <a:rPr lang="en-US" sz="1400" dirty="0">
                <a:solidFill>
                  <a:srgbClr val="333B4F"/>
                </a:solidFill>
                <a:latin typeface="Calibri" pitchFamily="34" charset="0"/>
                <a:ea typeface="Calibri" pitchFamily="34" charset="-122"/>
                <a:cs typeface="Calibri" pitchFamily="34" charset="-120"/>
              </a:rPr>
              <a:t> crashes when b is 0.</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LOGICAL · DE MORGAN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De Morgan's laws and range tests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45920"/>
            <a:ext cx="5486400" cy="2103120"/>
          </a:xfrm>
          <a:prstGeom prst="roundRect">
            <a:avLst>
              <a:gd name="adj" fmla="val 5217"/>
            </a:avLst>
          </a:prstGeom>
          <a:solidFill>
            <a:srgbClr val="EEF1F6"/>
          </a:solidFill>
          <a:ln w="12700">
            <a:solidFill>
              <a:srgbClr val="EEF1F6"/>
            </a:solidFill>
            <a:prstDash val="solid"/>
          </a:ln>
        </p:spPr>
      </p:sp>
      <p:sp>
        <p:nvSpPr>
          <p:cNvPr id="8" name="Text 5"/>
          <p:cNvSpPr txBox="1"/>
          <p:nvPr/>
        </p:nvSpPr>
        <p:spPr>
          <a:xfrm>
            <a:off x="777240" y="1737360"/>
            <a:ext cx="5120640" cy="1920240"/>
          </a:xfrm>
          <a:prstGeom prst="rect">
            <a:avLst/>
          </a:prstGeom>
          <a:noFill/>
          <a:ln/>
        </p:spPr>
        <p:txBody>
          <a:bodyPr wrap="square" lIns="0" tIns="0" rIns="0" bIns="0" rtlCol="0" anchor="ctr"/>
          <a:lstStyle/>
          <a:p>
            <a:pPr indent="0" marL="0">
              <a:spcAft>
                <a:spcPts val="800"/>
              </a:spcAft>
              <a:buNone/>
            </a:pPr>
            <a:r>
              <a:rPr lang="en-US" sz="1600" b="1" dirty="0">
                <a:solidFill>
                  <a:srgbClr val="14213D"/>
                </a:solidFill>
                <a:latin typeface="Calibri" pitchFamily="34" charset="0"/>
                <a:ea typeface="Calibri" pitchFamily="34" charset="-122"/>
                <a:cs typeface="Calibri" pitchFamily="34" charset="-120"/>
              </a:rPr>
              <a:t>De Morgan's laws</a:t>
            </a:r>
            <a:endParaRPr lang="en-US" sz="1600" dirty="0"/>
          </a:p>
          <a:p>
            <a:pPr indent="0" marL="0">
              <a:spcAft>
                <a:spcPts val="800"/>
              </a:spcAft>
              <a:buNone/>
            </a:pPr>
            <a:r>
              <a:rPr lang="en-US" sz="1800" dirty="0">
                <a:solidFill>
                  <a:srgbClr val="333B4F"/>
                </a:solidFill>
                <a:latin typeface="Courier New" pitchFamily="34" charset="0"/>
                <a:ea typeface="Courier New" pitchFamily="34" charset="-122"/>
                <a:cs typeface="Courier New" pitchFamily="34" charset="-120"/>
              </a:rPr>
              <a:t>!(A &amp;&amp; B)  ==  !A || !B</a:t>
            </a:r>
            <a:endParaRPr lang="en-US" sz="1600" dirty="0"/>
          </a:p>
          <a:p>
            <a:pPr indent="0" marL="0">
              <a:spcAft>
                <a:spcPts val="800"/>
              </a:spcAft>
              <a:buNone/>
            </a:pPr>
            <a:r>
              <a:rPr lang="en-US" sz="1800" dirty="0">
                <a:solidFill>
                  <a:srgbClr val="333B4F"/>
                </a:solidFill>
                <a:latin typeface="Courier New" pitchFamily="34" charset="0"/>
                <a:ea typeface="Courier New" pitchFamily="34" charset="-122"/>
                <a:cs typeface="Courier New" pitchFamily="34" charset="-120"/>
              </a:rPr>
              <a:t>!(A || B)  ==  !A &amp;&amp; !B</a:t>
            </a:r>
            <a:endParaRPr lang="en-US" sz="1600" dirty="0"/>
          </a:p>
          <a:p>
            <a:pPr indent="0" marL="0">
              <a:spcAft>
                <a:spcPts val="800"/>
              </a:spcAft>
              <a:buNone/>
            </a:pPr>
            <a:r>
              <a:rPr lang="en-US" sz="1600" dirty="0">
                <a:solidFill>
                  <a:srgbClr val="5B6478"/>
                </a:solidFill>
                <a:latin typeface="Calibri" pitchFamily="34" charset="0"/>
                <a:ea typeface="Calibri" pitchFamily="34" charset="-122"/>
                <a:cs typeface="Calibri" pitchFamily="34" charset="-120"/>
              </a:rPr>
              <a:t>negate each part and swap &amp;&amp; ↔ ||</a:t>
            </a:r>
            <a:endParaRPr lang="en-US" sz="1600" dirty="0"/>
          </a:p>
        </p:txBody>
      </p:sp>
      <p:sp>
        <p:nvSpPr>
          <p:cNvPr id="9" name="Shape 6"/>
          <p:cNvSpPr/>
          <p:nvPr/>
        </p:nvSpPr>
        <p:spPr>
          <a:xfrm>
            <a:off x="548640" y="3931920"/>
            <a:ext cx="5486400" cy="2103120"/>
          </a:xfrm>
          <a:prstGeom prst="roundRect">
            <a:avLst>
              <a:gd name="adj" fmla="val 5217"/>
            </a:avLst>
          </a:prstGeom>
          <a:solidFill>
            <a:srgbClr val="E6F4EC"/>
          </a:solidFill>
          <a:ln w="12700">
            <a:solidFill>
              <a:srgbClr val="E6F4EC"/>
            </a:solidFill>
            <a:prstDash val="solid"/>
          </a:ln>
        </p:spPr>
      </p:sp>
      <p:sp>
        <p:nvSpPr>
          <p:cNvPr id="10" name="Text 7"/>
          <p:cNvSpPr txBox="1"/>
          <p:nvPr/>
        </p:nvSpPr>
        <p:spPr>
          <a:xfrm>
            <a:off x="777240" y="4023360"/>
            <a:ext cx="5120640" cy="1920240"/>
          </a:xfrm>
          <a:prstGeom prst="rect">
            <a:avLst/>
          </a:prstGeom>
          <a:noFill/>
          <a:ln/>
        </p:spPr>
        <p:txBody>
          <a:bodyPr wrap="square" lIns="0" tIns="0" rIns="0" bIns="0" rtlCol="0" anchor="ctr"/>
          <a:lstStyle/>
          <a:p>
            <a:pPr indent="0" marL="0">
              <a:spcAft>
                <a:spcPts val="400"/>
              </a:spcAft>
              <a:buNone/>
            </a:pPr>
            <a:r>
              <a:rPr lang="en-US" sz="1500" b="1" dirty="0">
                <a:solidFill>
                  <a:srgbClr val="333B4F"/>
                </a:solidFill>
                <a:latin typeface="Calibri" pitchFamily="34" charset="0"/>
                <a:ea typeface="Calibri" pitchFamily="34" charset="-122"/>
                <a:cs typeface="Calibri" pitchFamily="34" charset="-120"/>
              </a:rPr>
              <a:t>Example</a:t>
            </a:r>
            <a:endParaRPr lang="en-US" sz="1500" dirty="0"/>
          </a:p>
          <a:p>
            <a:pPr indent="0" marL="0">
              <a:spcAft>
                <a:spcPts val="400"/>
              </a:spcAft>
              <a:buNone/>
            </a:pPr>
            <a:r>
              <a:rPr lang="en-US" sz="1500" dirty="0">
                <a:solidFill>
                  <a:srgbClr val="333B4F"/>
                </a:solidFill>
                <a:latin typeface="Calibri" pitchFamily="34" charset="0"/>
                <a:ea typeface="Calibri" pitchFamily="34" charset="-122"/>
                <a:cs typeface="Calibri" pitchFamily="34" charset="-120"/>
              </a:rPr>
              <a:t>"not between 18 and 65":</a:t>
            </a:r>
            <a:endParaRPr lang="en-US" sz="1500" dirty="0"/>
          </a:p>
          <a:p>
            <a:pPr indent="0" marL="0">
              <a:spcAft>
                <a:spcPts val="400"/>
              </a:spcAft>
              <a:buNone/>
            </a:pPr>
            <a:r>
              <a:rPr lang="en-US" sz="1500" dirty="0">
                <a:solidFill>
                  <a:srgbClr val="333B4F"/>
                </a:solidFill>
                <a:latin typeface="Courier New" pitchFamily="34" charset="0"/>
                <a:ea typeface="Courier New" pitchFamily="34" charset="-122"/>
                <a:cs typeface="Courier New" pitchFamily="34" charset="-120"/>
              </a:rPr>
              <a:t>!(age &gt;= 18 &amp;&amp; age &lt;= 65)</a:t>
            </a:r>
            <a:endParaRPr lang="en-US" sz="1500" dirty="0"/>
          </a:p>
          <a:p>
            <a:pPr indent="0" marL="0">
              <a:spcAft>
                <a:spcPts val="400"/>
              </a:spcAft>
              <a:buNone/>
            </a:pPr>
            <a:r>
              <a:rPr lang="en-US" sz="1500" dirty="0">
                <a:solidFill>
                  <a:srgbClr val="333B4F"/>
                </a:solidFill>
                <a:latin typeface="Courier New" pitchFamily="34" charset="0"/>
                <a:ea typeface="Courier New" pitchFamily="34" charset="-122"/>
                <a:cs typeface="Courier New" pitchFamily="34" charset="-120"/>
              </a:rPr>
              <a:t>age &lt; 18 || age &gt; 65</a:t>
            </a:r>
            <a:endParaRPr lang="en-US" sz="1500" dirty="0"/>
          </a:p>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(the same thing)</a:t>
            </a:r>
            <a:endParaRPr lang="en-US" sz="1500" dirty="0"/>
          </a:p>
        </p:txBody>
      </p:sp>
      <p:sp>
        <p:nvSpPr>
          <p:cNvPr id="11" name="Text 8"/>
          <p:cNvSpPr txBox="1"/>
          <p:nvPr/>
        </p:nvSpPr>
        <p:spPr>
          <a:xfrm>
            <a:off x="6309360" y="1645920"/>
            <a:ext cx="5303520" cy="365760"/>
          </a:xfrm>
          <a:prstGeom prst="rect">
            <a:avLst/>
          </a:prstGeom>
          <a:noFill/>
          <a:ln/>
        </p:spPr>
        <p:txBody>
          <a:bodyPr wrap="square" lIns="0" tIns="0" rIns="0" bIns="0" rtlCol="0" anchor="ctr"/>
          <a:lstStyle/>
          <a:p>
            <a:pPr indent="0" marL="0">
              <a:buNone/>
            </a:pPr>
            <a:r>
              <a:rPr lang="en-US" sz="1800" b="1" dirty="0">
                <a:solidFill>
                  <a:srgbClr val="14213D"/>
                </a:solidFill>
                <a:latin typeface="Cambria" pitchFamily="34" charset="0"/>
                <a:ea typeface="Cambria" pitchFamily="34" charset="-122"/>
                <a:cs typeface="Cambria" pitchFamily="34" charset="-120"/>
              </a:rPr>
              <a:t>Range test  0 ≤ x ≤ 100</a:t>
            </a:r>
            <a:endParaRPr lang="en-US" sz="1800" dirty="0"/>
          </a:p>
        </p:txBody>
      </p:sp>
      <p:sp>
        <p:nvSpPr>
          <p:cNvPr id="12" name="Shape 9"/>
          <p:cNvSpPr/>
          <p:nvPr/>
        </p:nvSpPr>
        <p:spPr>
          <a:xfrm>
            <a:off x="6400800" y="2606040"/>
            <a:ext cx="5120640" cy="0"/>
          </a:xfrm>
          <a:prstGeom prst="line">
            <a:avLst/>
          </a:prstGeom>
          <a:noFill/>
          <a:ln w="15875">
            <a:solidFill>
              <a:srgbClr val="5B6478"/>
            </a:solidFill>
            <a:prstDash val="solid"/>
            <a:tailEnd type="triangle"/>
          </a:ln>
        </p:spPr>
      </p:sp>
      <p:sp>
        <p:nvSpPr>
          <p:cNvPr id="13" name="Shape 10"/>
          <p:cNvSpPr/>
          <p:nvPr/>
        </p:nvSpPr>
        <p:spPr>
          <a:xfrm>
            <a:off x="7498080" y="2468880"/>
            <a:ext cx="2926080" cy="274320"/>
          </a:xfrm>
          <a:prstGeom prst="rect">
            <a:avLst/>
          </a:prstGeom>
          <a:solidFill>
            <a:srgbClr val="2E9E6A"/>
          </a:solidFill>
          <a:ln w="12700">
            <a:solidFill>
              <a:srgbClr val="2E9E6A"/>
            </a:solidFill>
            <a:prstDash val="solid"/>
          </a:ln>
        </p:spPr>
      </p:sp>
      <p:sp>
        <p:nvSpPr>
          <p:cNvPr id="14" name="Text 11"/>
          <p:cNvSpPr txBox="1"/>
          <p:nvPr/>
        </p:nvSpPr>
        <p:spPr>
          <a:xfrm>
            <a:off x="7269480" y="2788920"/>
            <a:ext cx="457200" cy="274320"/>
          </a:xfrm>
          <a:prstGeom prst="rect">
            <a:avLst/>
          </a:prstGeom>
          <a:noFill/>
          <a:ln/>
        </p:spPr>
        <p:txBody>
          <a:bodyPr wrap="square" lIns="0" tIns="0" rIns="0" bIns="0" rtlCol="0" anchor="ctr"/>
          <a:lstStyle/>
          <a:p>
            <a:pPr algn="ctr" indent="0" marL="0">
              <a:buNone/>
            </a:pPr>
            <a:r>
              <a:rPr lang="en-US" sz="1400" dirty="0">
                <a:solidFill>
                  <a:srgbClr val="333B4F"/>
                </a:solidFill>
                <a:latin typeface="Calibri" pitchFamily="34" charset="0"/>
                <a:ea typeface="Calibri" pitchFamily="34" charset="-122"/>
                <a:cs typeface="Calibri" pitchFamily="34" charset="-120"/>
              </a:rPr>
              <a:t>0</a:t>
            </a:r>
            <a:endParaRPr lang="en-US" sz="1400" dirty="0"/>
          </a:p>
        </p:txBody>
      </p:sp>
      <p:sp>
        <p:nvSpPr>
          <p:cNvPr id="15" name="Text 12"/>
          <p:cNvSpPr txBox="1"/>
          <p:nvPr/>
        </p:nvSpPr>
        <p:spPr>
          <a:xfrm>
            <a:off x="10149840" y="2788920"/>
            <a:ext cx="548640" cy="274320"/>
          </a:xfrm>
          <a:prstGeom prst="rect">
            <a:avLst/>
          </a:prstGeom>
          <a:noFill/>
          <a:ln/>
        </p:spPr>
        <p:txBody>
          <a:bodyPr wrap="square" lIns="0" tIns="0" rIns="0" bIns="0" rtlCol="0" anchor="ctr"/>
          <a:lstStyle/>
          <a:p>
            <a:pPr algn="ctr" indent="0" marL="0">
              <a:buNone/>
            </a:pPr>
            <a:r>
              <a:rPr lang="en-US" sz="1400" dirty="0">
                <a:solidFill>
                  <a:srgbClr val="333B4F"/>
                </a:solidFill>
                <a:latin typeface="Calibri" pitchFamily="34" charset="0"/>
                <a:ea typeface="Calibri" pitchFamily="34" charset="-122"/>
                <a:cs typeface="Calibri" pitchFamily="34" charset="-120"/>
              </a:rPr>
              <a:t>100</a:t>
            </a:r>
            <a:endParaRPr lang="en-US" sz="1400" dirty="0"/>
          </a:p>
        </p:txBody>
      </p:sp>
      <p:sp>
        <p:nvSpPr>
          <p:cNvPr id="16" name="Shape 13"/>
          <p:cNvSpPr/>
          <p:nvPr/>
        </p:nvSpPr>
        <p:spPr>
          <a:xfrm>
            <a:off x="6309360" y="3200400"/>
            <a:ext cx="5349240" cy="731520"/>
          </a:xfrm>
          <a:prstGeom prst="roundRect">
            <a:avLst>
              <a:gd name="adj" fmla="val 12500"/>
            </a:avLst>
          </a:prstGeom>
          <a:solidFill>
            <a:srgbClr val="0F1729"/>
          </a:solidFill>
          <a:ln w="12700">
            <a:solidFill>
              <a:srgbClr val="0F1729"/>
            </a:solidFill>
            <a:prstDash val="solid"/>
          </a:ln>
        </p:spPr>
      </p:sp>
      <p:sp>
        <p:nvSpPr>
          <p:cNvPr id="17" name="Text 14"/>
          <p:cNvSpPr txBox="1"/>
          <p:nvPr/>
        </p:nvSpPr>
        <p:spPr>
          <a:xfrm>
            <a:off x="6537960" y="3364992"/>
            <a:ext cx="4892040" cy="457200"/>
          </a:xfrm>
          <a:prstGeom prst="rect">
            <a:avLst/>
          </a:prstGeom>
          <a:noFill/>
          <a:ln/>
        </p:spPr>
        <p:txBody>
          <a:bodyPr wrap="square" lIns="0" tIns="0" rIns="0" bIns="0" rtlCol="0" anchor="t"/>
          <a:lstStyle/>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x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&amp;&amp; x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correct</a:t>
            </a:r>
            <a:endParaRPr lang="en-US" sz="1300" dirty="0"/>
          </a:p>
        </p:txBody>
      </p:sp>
      <p:sp>
        <p:nvSpPr>
          <p:cNvPr id="18" name="Shape 15"/>
          <p:cNvSpPr/>
          <p:nvPr/>
        </p:nvSpPr>
        <p:spPr>
          <a:xfrm>
            <a:off x="6309360" y="4069080"/>
            <a:ext cx="5349240" cy="1965960"/>
          </a:xfrm>
          <a:prstGeom prst="roundRect">
            <a:avLst>
              <a:gd name="adj" fmla="val 5581"/>
            </a:avLst>
          </a:prstGeom>
          <a:solidFill>
            <a:srgbClr val="FBE9E7"/>
          </a:solidFill>
          <a:ln w="12700">
            <a:solidFill>
              <a:srgbClr val="FBE9E7"/>
            </a:solidFill>
            <a:prstDash val="solid"/>
          </a:ln>
        </p:spPr>
      </p:sp>
      <p:sp>
        <p:nvSpPr>
          <p:cNvPr id="19" name="Text 16"/>
          <p:cNvSpPr txBox="1"/>
          <p:nvPr/>
        </p:nvSpPr>
        <p:spPr>
          <a:xfrm>
            <a:off x="6492240" y="4160520"/>
            <a:ext cx="4983480" cy="1783080"/>
          </a:xfrm>
          <a:prstGeom prst="rect">
            <a:avLst/>
          </a:prstGeom>
          <a:noFill/>
          <a:ln/>
        </p:spPr>
        <p:txBody>
          <a:bodyPr wrap="square" lIns="0" tIns="0" rIns="0" bIns="0" rtlCol="0" anchor="ctr"/>
          <a:lstStyle/>
          <a:p>
            <a:pPr indent="0" marL="0">
              <a:spcAft>
                <a:spcPts val="500"/>
              </a:spcAft>
              <a:buNone/>
            </a:pPr>
            <a:r>
              <a:rPr lang="en-US" sz="1400" b="1" dirty="0">
                <a:solidFill>
                  <a:srgbClr val="C8453B"/>
                </a:solidFill>
                <a:latin typeface="Courier New" pitchFamily="34" charset="0"/>
                <a:ea typeface="Courier New" pitchFamily="34" charset="-122"/>
                <a:cs typeface="Courier New" pitchFamily="34" charset="-120"/>
              </a:rPr>
              <a:t>0 &lt;= x &lt;= 100</a:t>
            </a:r>
            <a:endParaRPr lang="en-US" sz="1400" dirty="0"/>
          </a:p>
          <a:p>
            <a:pPr indent="0" marL="0">
              <a:spcAft>
                <a:spcPts val="500"/>
              </a:spcAft>
              <a:buNone/>
            </a:pPr>
            <a:r>
              <a:rPr lang="en-US" sz="1400" dirty="0">
                <a:solidFill>
                  <a:srgbClr val="333B4F"/>
                </a:solidFill>
                <a:latin typeface="Calibri" pitchFamily="34" charset="0"/>
                <a:ea typeface="Calibri" pitchFamily="34" charset="-122"/>
                <a:cs typeface="Calibri" pitchFamily="34" charset="-120"/>
              </a:rPr>
              <a:t>error CS0019: Operator '&lt;=' cannot be applied to operands of type 'bool' and 'int'</a:t>
            </a:r>
            <a:endParaRPr lang="en-US" sz="1400" dirty="0"/>
          </a:p>
          <a:p>
            <a:pPr indent="0" marL="0">
              <a:spcAft>
                <a:spcPts val="500"/>
              </a:spcAft>
              <a:buNone/>
            </a:pPr>
            <a:r>
              <a:rPr lang="en-US" sz="1400" dirty="0">
                <a:solidFill>
                  <a:srgbClr val="5B6478"/>
                </a:solidFill>
                <a:latin typeface="Calibri" pitchFamily="34" charset="0"/>
                <a:ea typeface="Calibri" pitchFamily="34" charset="-122"/>
                <a:cs typeface="Calibri" pitchFamily="34" charset="-120"/>
              </a:rPr>
              <a:t>(0 &lt;= x) is already a bool.</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WORKED EXAMPLE 8</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Leap year as one boolean expression (+ the ?: operator)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548640" y="1600200"/>
            <a:ext cx="11109960" cy="2194560"/>
          </a:xfrm>
          <a:prstGeom prst="roundRect">
            <a:avLst>
              <a:gd name="adj" fmla="val 4167"/>
            </a:avLst>
          </a:prstGeom>
          <a:solidFill>
            <a:srgbClr val="0F1729"/>
          </a:solidFill>
          <a:ln w="12700">
            <a:solidFill>
              <a:srgbClr val="0F1729"/>
            </a:solidFill>
            <a:prstDash val="solid"/>
          </a:ln>
        </p:spPr>
      </p:sp>
      <p:sp>
        <p:nvSpPr>
          <p:cNvPr id="8" name="Text 5"/>
          <p:cNvSpPr txBox="1"/>
          <p:nvPr/>
        </p:nvSpPr>
        <p:spPr>
          <a:xfrm>
            <a:off x="777240" y="1709928"/>
            <a:ext cx="10652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code/04_06_LeapYear (excerpt)</a:t>
            </a:r>
            <a:endParaRPr lang="en-US" sz="1100" dirty="0"/>
          </a:p>
        </p:txBody>
      </p:sp>
      <p:sp>
        <p:nvSpPr>
          <p:cNvPr id="9" name="Text 6"/>
          <p:cNvSpPr txBox="1"/>
          <p:nvPr/>
        </p:nvSpPr>
        <p:spPr>
          <a:xfrm>
            <a:off x="777240" y="2011680"/>
            <a:ext cx="10652760" cy="16733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divisibleBy4 = year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divisibleBy100 = year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divisibleBy400 = year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isLeap = (divisibleBy4 &amp;&amp; !divisibleBy100) || divisibleBy400;</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$"divisible by 4: {divisibleBy4}, by 100: {divisibleBy100}, by 400: {divisibleBy400}"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$"isLeap = {isLeap}"</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$"{year} is {(isLeap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 leap year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366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days)</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not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leap year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365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days)</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6126480" cy="914400"/>
        </p:xfrm>
        <a:graphic>
          <a:graphicData uri="http://schemas.openxmlformats.org/drawingml/2006/table">
            <a:tbl>
              <a:tblPr/>
              <a:tblGrid>
                <a:gridCol w="1005840"/>
                <a:gridCol w="1234440"/>
                <a:gridCol w="1371600"/>
                <a:gridCol w="1371600"/>
                <a:gridCol w="1143000"/>
              </a:tblGrid>
              <a:tr h="402336">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year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 4 == 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 100 == 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 400 == 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isLeap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02336">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2024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6A"/>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1900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C8453B"/>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02336">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2000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2E9E6A"/>
                          </a:solidFill>
                          <a:latin typeface="Courier New" pitchFamily="34" charset="0"/>
                          <a:ea typeface="Courier New" pitchFamily="34" charset="-122"/>
                          <a:cs typeface="Courier New" pitchFamily="34" charset="-120"/>
                        </a:rPr>
                        <a:t>True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02336">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2026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C8453B"/>
                          </a:solidFill>
                          <a:latin typeface="Courier New" pitchFamily="34" charset="0"/>
                          <a:ea typeface="Courier New" pitchFamily="34" charset="-122"/>
                          <a:cs typeface="Courier New" pitchFamily="34" charset="-120"/>
                        </a:rPr>
                        <a:t>False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1" name="Shape 7"/>
          <p:cNvSpPr/>
          <p:nvPr/>
        </p:nvSpPr>
        <p:spPr>
          <a:xfrm>
            <a:off x="6903720" y="3977640"/>
            <a:ext cx="4754880" cy="2057400"/>
          </a:xfrm>
          <a:prstGeom prst="roundRect">
            <a:avLst>
              <a:gd name="adj" fmla="val 5333"/>
            </a:avLst>
          </a:prstGeom>
          <a:solidFill>
            <a:srgbClr val="E3ECF8"/>
          </a:solidFill>
          <a:ln w="12700">
            <a:solidFill>
              <a:srgbClr val="E3ECF8"/>
            </a:solidFill>
            <a:prstDash val="solid"/>
          </a:ln>
        </p:spPr>
      </p:sp>
      <p:sp>
        <p:nvSpPr>
          <p:cNvPr id="12" name="Text 8"/>
          <p:cNvSpPr txBox="1"/>
          <p:nvPr/>
        </p:nvSpPr>
        <p:spPr>
          <a:xfrm>
            <a:off x="7086600" y="4069080"/>
            <a:ext cx="4434840" cy="1874520"/>
          </a:xfrm>
          <a:prstGeom prst="rect">
            <a:avLst/>
          </a:prstGeom>
          <a:noFill/>
          <a:ln/>
        </p:spPr>
        <p:txBody>
          <a:bodyPr wrap="square" lIns="0" tIns="0" rIns="0" bIns="0" rtlCol="0" anchor="ctr"/>
          <a:lstStyle/>
          <a:p>
            <a:pPr indent="0" marL="0">
              <a:spcAft>
                <a:spcPts val="500"/>
              </a:spcAft>
              <a:buNone/>
            </a:pPr>
            <a:r>
              <a:rPr lang="en-US" sz="1500" b="1" dirty="0">
                <a:solidFill>
                  <a:srgbClr val="2F6FB3"/>
                </a:solidFill>
                <a:latin typeface="Calibri" pitchFamily="34" charset="0"/>
                <a:ea typeface="Calibri" pitchFamily="34" charset="-122"/>
                <a:cs typeface="Calibri" pitchFamily="34" charset="-120"/>
              </a:rPr>
              <a:t>Conditional operator ?:</a:t>
            </a:r>
            <a:endParaRPr lang="en-US" sz="1500" dirty="0"/>
          </a:p>
          <a:p>
            <a:pPr indent="0" marL="0">
              <a:spcAft>
                <a:spcPts val="500"/>
              </a:spcAft>
              <a:buNone/>
            </a:pPr>
            <a:r>
              <a:rPr lang="en-US" sz="1300" dirty="0">
                <a:solidFill>
                  <a:srgbClr val="333B4F"/>
                </a:solidFill>
                <a:latin typeface="Courier New" pitchFamily="34" charset="0"/>
                <a:ea typeface="Courier New" pitchFamily="34" charset="-122"/>
                <a:cs typeface="Courier New" pitchFamily="34" charset="-120"/>
              </a:rPr>
              <a:t>condition ? valueIfTrue : valueIfFalse</a:t>
            </a:r>
            <a:endParaRPr lang="en-US" sz="1500" dirty="0"/>
          </a:p>
          <a:p>
            <a:pPr indent="0" marL="0">
              <a:spcAft>
                <a:spcPts val="500"/>
              </a:spcAft>
              <a:buNone/>
            </a:pPr>
            <a:r>
              <a:rPr lang="en-US" sz="1200" dirty="0">
                <a:solidFill>
                  <a:srgbClr val="333B4F"/>
                </a:solidFill>
                <a:latin typeface="Courier New" pitchFamily="34" charset="0"/>
                <a:ea typeface="Courier New" pitchFamily="34" charset="-122"/>
                <a:cs typeface="Courier New" pitchFamily="34" charset="-120"/>
              </a:rPr>
              <a:t>isLeap ? "a leap year" : "not a leap year"</a:t>
            </a:r>
            <a:endParaRPr lang="en-US" sz="1500" dirty="0"/>
          </a:p>
          <a:p>
            <a:pPr indent="0" marL="0">
              <a:spcAft>
                <a:spcPts val="500"/>
              </a:spcAft>
              <a:buNone/>
            </a:pPr>
            <a:r>
              <a:rPr lang="en-US" sz="1500" dirty="0">
                <a:solidFill>
                  <a:srgbClr val="5B6478"/>
                </a:solidFill>
                <a:latin typeface="Calibri" pitchFamily="34" charset="0"/>
                <a:ea typeface="Calibri" pitchFamily="34" charset="-122"/>
                <a:cs typeface="Calibri" pitchFamily="34" charset="-120"/>
              </a:rPr>
              <a:t>Only for choosing a value. Full if-else: Week 5.</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Six operator bugs to avoid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31520" y="1828800"/>
            <a:ext cx="502920" cy="502920"/>
          </a:xfrm>
          <a:prstGeom prst="ellipse">
            <a:avLst/>
          </a:prstGeom>
          <a:solidFill>
            <a:srgbClr val="C8453B"/>
          </a:solidFill>
          <a:ln w="12700">
            <a:solidFill>
              <a:srgbClr val="C8453B"/>
            </a:solidFill>
            <a:prstDash val="solid"/>
          </a:ln>
        </p:spPr>
      </p:sp>
      <p:pic>
        <p:nvPicPr>
          <p:cNvPr id="9" name="Image 0" descr="preencoded.png">    </p:cNvPr>
          <p:cNvPicPr>
            <a:picLocks noChangeAspect="1"/>
          </p:cNvPicPr>
          <p:nvPr/>
        </p:nvPicPr>
        <p:blipFill>
          <a:blip r:embed="rId1"/>
          <a:stretch>
            <a:fillRect/>
          </a:stretch>
        </p:blipFill>
        <p:spPr>
          <a:xfrm>
            <a:off x="862279" y="1959559"/>
            <a:ext cx="241402" cy="241402"/>
          </a:xfrm>
          <a:prstGeom prst="rect">
            <a:avLst/>
          </a:prstGeom>
        </p:spPr>
      </p:pic>
      <p:sp>
        <p:nvSpPr>
          <p:cNvPr id="10" name="Text 6"/>
          <p:cNvSpPr txBox="1"/>
          <p:nvPr/>
        </p:nvSpPr>
        <p:spPr>
          <a:xfrm>
            <a:off x="1371600" y="1828800"/>
            <a:ext cx="265176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Integer division</a:t>
            </a:r>
            <a:endParaRPr lang="en-US" sz="1700" dirty="0"/>
          </a:p>
        </p:txBody>
      </p:sp>
      <p:sp>
        <p:nvSpPr>
          <p:cNvPr id="11" name="Text 7"/>
          <p:cNvSpPr txBox="1"/>
          <p:nvPr/>
        </p:nvSpPr>
        <p:spPr>
          <a:xfrm>
            <a:off x="731520" y="2514600"/>
            <a:ext cx="3246120" cy="1051560"/>
          </a:xfrm>
          <a:prstGeom prst="rect">
            <a:avLst/>
          </a:prstGeom>
          <a:noFill/>
          <a:ln/>
        </p:spPr>
        <p:txBody>
          <a:bodyPr wrap="square" lIns="0" tIns="0" rIns="0" bIns="0" rtlCol="0" anchor="t"/>
          <a:lstStyle/>
          <a:p>
            <a:pPr indent="0" marL="0">
              <a:spcAft>
                <a:spcPts val="600"/>
              </a:spcAft>
              <a:buNone/>
            </a:pPr>
            <a:r>
              <a:rPr lang="en-US" sz="1300" b="1" dirty="0">
                <a:solidFill>
                  <a:srgbClr val="C8453B"/>
                </a:solidFill>
                <a:latin typeface="Calibri" pitchFamily="34" charset="0"/>
                <a:ea typeface="Calibri" pitchFamily="34" charset="-122"/>
                <a:cs typeface="Calibri" pitchFamily="34" charset="-120"/>
              </a:rPr>
              <a:t>✗ </a:t>
            </a:r>
            <a:pPr indent="0" marL="0">
              <a:spcAft>
                <a:spcPts val="600"/>
              </a:spcAft>
              <a:buNone/>
            </a:pPr>
            <a:r>
              <a:rPr lang="en-US" sz="1300" dirty="0">
                <a:solidFill>
                  <a:srgbClr val="C8453B"/>
                </a:solidFill>
                <a:latin typeface="Courier New" pitchFamily="34" charset="0"/>
                <a:ea typeface="Courier New" pitchFamily="34" charset="-122"/>
                <a:cs typeface="Courier New" pitchFamily="34" charset="-120"/>
              </a:rPr>
              <a:t>7 / 2 expected 3.5</a:t>
            </a:r>
            <a:endParaRPr lang="en-US" sz="1300" dirty="0"/>
          </a:p>
          <a:p>
            <a:pPr indent="0" marL="0">
              <a:spcAft>
                <a:spcPts val="600"/>
              </a:spcAft>
              <a:buNone/>
            </a:pPr>
            <a:r>
              <a:rPr lang="en-US" sz="1300" b="1" dirty="0">
                <a:solidFill>
                  <a:srgbClr val="2E9E6A"/>
                </a:solidFill>
                <a:latin typeface="Calibri" pitchFamily="34" charset="0"/>
                <a:ea typeface="Calibri" pitchFamily="34" charset="-122"/>
                <a:cs typeface="Calibri" pitchFamily="34" charset="-120"/>
              </a:rPr>
              <a:t>✓ </a:t>
            </a:r>
            <a:pPr indent="0" marL="0">
              <a:spcAft>
                <a:spcPts val="600"/>
              </a:spcAft>
              <a:buNone/>
            </a:pPr>
            <a:r>
              <a:rPr lang="en-US" sz="1300" dirty="0">
                <a:solidFill>
                  <a:srgbClr val="1F7A50"/>
                </a:solidFill>
                <a:latin typeface="Courier New" pitchFamily="34" charset="0"/>
                <a:ea typeface="Courier New" pitchFamily="34" charset="-122"/>
                <a:cs typeface="Courier New" pitchFamily="34" charset="-120"/>
              </a:rPr>
              <a:t>write 7 / 2.0 or (double)a / b</a:t>
            </a:r>
            <a:endParaRPr lang="en-US" sz="1300" dirty="0"/>
          </a:p>
        </p:txBody>
      </p:sp>
      <p:sp>
        <p:nvSpPr>
          <p:cNvPr id="12" name="Shape 8"/>
          <p:cNvSpPr/>
          <p:nvPr/>
        </p:nvSpPr>
        <p:spPr>
          <a:xfrm>
            <a:off x="4297680" y="1645920"/>
            <a:ext cx="356616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480560" y="1828800"/>
            <a:ext cx="502920" cy="502920"/>
          </a:xfrm>
          <a:prstGeom prst="ellipse">
            <a:avLst/>
          </a:prstGeom>
          <a:solidFill>
            <a:srgbClr val="C8453B"/>
          </a:solidFill>
          <a:ln w="12700">
            <a:solidFill>
              <a:srgbClr val="C8453B"/>
            </a:solidFill>
            <a:prstDash val="solid"/>
          </a:ln>
        </p:spPr>
      </p:sp>
      <p:pic>
        <p:nvPicPr>
          <p:cNvPr id="14" name="Image 1" descr="preencoded.png">    </p:cNvPr>
          <p:cNvPicPr>
            <a:picLocks noChangeAspect="1"/>
          </p:cNvPicPr>
          <p:nvPr/>
        </p:nvPicPr>
        <p:blipFill>
          <a:blip r:embed="rId2"/>
          <a:stretch>
            <a:fillRect/>
          </a:stretch>
        </p:blipFill>
        <p:spPr>
          <a:xfrm>
            <a:off x="4611319" y="1959559"/>
            <a:ext cx="241402" cy="241402"/>
          </a:xfrm>
          <a:prstGeom prst="rect">
            <a:avLst/>
          </a:prstGeom>
        </p:spPr>
      </p:pic>
      <p:sp>
        <p:nvSpPr>
          <p:cNvPr id="15" name="Text 10"/>
          <p:cNvSpPr txBox="1"/>
          <p:nvPr/>
        </p:nvSpPr>
        <p:spPr>
          <a:xfrm>
            <a:off x="5120640" y="1828800"/>
            <a:ext cx="265176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Missing parentheses</a:t>
            </a:r>
            <a:endParaRPr lang="en-US" sz="1700" dirty="0"/>
          </a:p>
        </p:txBody>
      </p:sp>
      <p:sp>
        <p:nvSpPr>
          <p:cNvPr id="16" name="Text 11"/>
          <p:cNvSpPr txBox="1"/>
          <p:nvPr/>
        </p:nvSpPr>
        <p:spPr>
          <a:xfrm>
            <a:off x="4480560" y="2514600"/>
            <a:ext cx="3246120" cy="1051560"/>
          </a:xfrm>
          <a:prstGeom prst="rect">
            <a:avLst/>
          </a:prstGeom>
          <a:noFill/>
          <a:ln/>
        </p:spPr>
        <p:txBody>
          <a:bodyPr wrap="square" lIns="0" tIns="0" rIns="0" bIns="0" rtlCol="0" anchor="t"/>
          <a:lstStyle/>
          <a:p>
            <a:pPr indent="0" marL="0">
              <a:spcAft>
                <a:spcPts val="600"/>
              </a:spcAft>
              <a:buNone/>
            </a:pPr>
            <a:r>
              <a:rPr lang="en-US" sz="1300" b="1" dirty="0">
                <a:solidFill>
                  <a:srgbClr val="C8453B"/>
                </a:solidFill>
                <a:latin typeface="Calibri" pitchFamily="34" charset="0"/>
                <a:ea typeface="Calibri" pitchFamily="34" charset="-122"/>
                <a:cs typeface="Calibri" pitchFamily="34" charset="-120"/>
              </a:rPr>
              <a:t>✗ </a:t>
            </a:r>
            <a:pPr indent="0" marL="0">
              <a:spcAft>
                <a:spcPts val="600"/>
              </a:spcAft>
              <a:buNone/>
            </a:pPr>
            <a:r>
              <a:rPr lang="en-US" sz="1300" dirty="0">
                <a:solidFill>
                  <a:srgbClr val="C8453B"/>
                </a:solidFill>
                <a:latin typeface="Courier New" pitchFamily="34" charset="0"/>
                <a:ea typeface="Courier New" pitchFamily="34" charset="-122"/>
                <a:cs typeface="Courier New" pitchFamily="34" charset="-120"/>
              </a:rPr>
              <a:t>g1 + g2 + g3 / 3</a:t>
            </a:r>
            <a:endParaRPr lang="en-US" sz="1300" dirty="0"/>
          </a:p>
          <a:p>
            <a:pPr indent="0" marL="0">
              <a:spcAft>
                <a:spcPts val="600"/>
              </a:spcAft>
              <a:buNone/>
            </a:pPr>
            <a:r>
              <a:rPr lang="en-US" sz="1300" b="1" dirty="0">
                <a:solidFill>
                  <a:srgbClr val="2E9E6A"/>
                </a:solidFill>
                <a:latin typeface="Calibri" pitchFamily="34" charset="0"/>
                <a:ea typeface="Calibri" pitchFamily="34" charset="-122"/>
                <a:cs typeface="Calibri" pitchFamily="34" charset="-120"/>
              </a:rPr>
              <a:t>✓ </a:t>
            </a:r>
            <a:pPr indent="0" marL="0">
              <a:spcAft>
                <a:spcPts val="600"/>
              </a:spcAft>
              <a:buNone/>
            </a:pPr>
            <a:r>
              <a:rPr lang="en-US" sz="1300" dirty="0">
                <a:solidFill>
                  <a:srgbClr val="1F7A50"/>
                </a:solidFill>
                <a:latin typeface="Courier New" pitchFamily="34" charset="0"/>
                <a:ea typeface="Courier New" pitchFamily="34" charset="-122"/>
                <a:cs typeface="Courier New" pitchFamily="34" charset="-120"/>
              </a:rPr>
              <a:t>(g1 + g2 + g3) / 3.0</a:t>
            </a:r>
            <a:endParaRPr lang="en-US" sz="1300" dirty="0"/>
          </a:p>
        </p:txBody>
      </p:sp>
      <p:sp>
        <p:nvSpPr>
          <p:cNvPr id="17" name="Shape 12"/>
          <p:cNvSpPr/>
          <p:nvPr/>
        </p:nvSpPr>
        <p:spPr>
          <a:xfrm>
            <a:off x="8046720" y="1645920"/>
            <a:ext cx="356616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229600" y="1828800"/>
            <a:ext cx="502920" cy="502920"/>
          </a:xfrm>
          <a:prstGeom prst="ellipse">
            <a:avLst/>
          </a:prstGeom>
          <a:solidFill>
            <a:srgbClr val="C8453B"/>
          </a:solidFill>
          <a:ln w="12700">
            <a:solidFill>
              <a:srgbClr val="C8453B"/>
            </a:solidFill>
            <a:prstDash val="solid"/>
          </a:ln>
        </p:spPr>
      </p:sp>
      <p:pic>
        <p:nvPicPr>
          <p:cNvPr id="19" name="Image 2" descr="preencoded.png">    </p:cNvPr>
          <p:cNvPicPr>
            <a:picLocks noChangeAspect="1"/>
          </p:cNvPicPr>
          <p:nvPr/>
        </p:nvPicPr>
        <p:blipFill>
          <a:blip r:embed="rId3"/>
          <a:stretch>
            <a:fillRect/>
          </a:stretch>
        </p:blipFill>
        <p:spPr>
          <a:xfrm>
            <a:off x="8360359" y="1959559"/>
            <a:ext cx="241402" cy="241402"/>
          </a:xfrm>
          <a:prstGeom prst="rect">
            <a:avLst/>
          </a:prstGeom>
        </p:spPr>
      </p:pic>
      <p:sp>
        <p:nvSpPr>
          <p:cNvPr id="20" name="Text 14"/>
          <p:cNvSpPr txBox="1"/>
          <p:nvPr/>
        </p:nvSpPr>
        <p:spPr>
          <a:xfrm>
            <a:off x="8869680" y="1828800"/>
            <a:ext cx="265176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Chained comparison</a:t>
            </a:r>
            <a:endParaRPr lang="en-US" sz="1700" dirty="0"/>
          </a:p>
        </p:txBody>
      </p:sp>
      <p:sp>
        <p:nvSpPr>
          <p:cNvPr id="21" name="Text 15"/>
          <p:cNvSpPr txBox="1"/>
          <p:nvPr/>
        </p:nvSpPr>
        <p:spPr>
          <a:xfrm>
            <a:off x="8229600" y="2514600"/>
            <a:ext cx="3246120" cy="1051560"/>
          </a:xfrm>
          <a:prstGeom prst="rect">
            <a:avLst/>
          </a:prstGeom>
          <a:noFill/>
          <a:ln/>
        </p:spPr>
        <p:txBody>
          <a:bodyPr wrap="square" lIns="0" tIns="0" rIns="0" bIns="0" rtlCol="0" anchor="t"/>
          <a:lstStyle/>
          <a:p>
            <a:pPr indent="0" marL="0">
              <a:spcAft>
                <a:spcPts val="600"/>
              </a:spcAft>
              <a:buNone/>
            </a:pPr>
            <a:r>
              <a:rPr lang="en-US" sz="1300" b="1" dirty="0">
                <a:solidFill>
                  <a:srgbClr val="C8453B"/>
                </a:solidFill>
                <a:latin typeface="Calibri" pitchFamily="34" charset="0"/>
                <a:ea typeface="Calibri" pitchFamily="34" charset="-122"/>
                <a:cs typeface="Calibri" pitchFamily="34" charset="-120"/>
              </a:rPr>
              <a:t>✗ </a:t>
            </a:r>
            <a:pPr indent="0" marL="0">
              <a:spcAft>
                <a:spcPts val="600"/>
              </a:spcAft>
              <a:buNone/>
            </a:pPr>
            <a:r>
              <a:rPr lang="en-US" sz="1300" dirty="0">
                <a:solidFill>
                  <a:srgbClr val="C8453B"/>
                </a:solidFill>
                <a:latin typeface="Courier New" pitchFamily="34" charset="0"/>
                <a:ea typeface="Courier New" pitchFamily="34" charset="-122"/>
                <a:cs typeface="Courier New" pitchFamily="34" charset="-120"/>
              </a:rPr>
              <a:t>0 &lt;= x &lt;= 100</a:t>
            </a:r>
            <a:endParaRPr lang="en-US" sz="1300" dirty="0"/>
          </a:p>
          <a:p>
            <a:pPr indent="0" marL="0">
              <a:spcAft>
                <a:spcPts val="600"/>
              </a:spcAft>
              <a:buNone/>
            </a:pPr>
            <a:r>
              <a:rPr lang="en-US" sz="1300" b="1" dirty="0">
                <a:solidFill>
                  <a:srgbClr val="2E9E6A"/>
                </a:solidFill>
                <a:latin typeface="Calibri" pitchFamily="34" charset="0"/>
                <a:ea typeface="Calibri" pitchFamily="34" charset="-122"/>
                <a:cs typeface="Calibri" pitchFamily="34" charset="-120"/>
              </a:rPr>
              <a:t>✓ </a:t>
            </a:r>
            <a:pPr indent="0" marL="0">
              <a:spcAft>
                <a:spcPts val="600"/>
              </a:spcAft>
              <a:buNone/>
            </a:pPr>
            <a:r>
              <a:rPr lang="en-US" sz="1300" dirty="0">
                <a:solidFill>
                  <a:srgbClr val="1F7A50"/>
                </a:solidFill>
                <a:latin typeface="Courier New" pitchFamily="34" charset="0"/>
                <a:ea typeface="Courier New" pitchFamily="34" charset="-122"/>
                <a:cs typeface="Courier New" pitchFamily="34" charset="-120"/>
              </a:rPr>
              <a:t>x &gt;= 0 &amp;&amp; x &lt;= 100</a:t>
            </a:r>
            <a:endParaRPr lang="en-US" sz="1300" dirty="0"/>
          </a:p>
        </p:txBody>
      </p:sp>
      <p:sp>
        <p:nvSpPr>
          <p:cNvPr id="22" name="Shape 16"/>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31520" y="4069080"/>
            <a:ext cx="502920" cy="502920"/>
          </a:xfrm>
          <a:prstGeom prst="ellipse">
            <a:avLst/>
          </a:prstGeom>
          <a:solidFill>
            <a:srgbClr val="C8453B"/>
          </a:solidFill>
          <a:ln w="12700">
            <a:solidFill>
              <a:srgbClr val="C8453B"/>
            </a:solidFill>
            <a:prstDash val="solid"/>
          </a:ln>
        </p:spPr>
      </p:sp>
      <p:pic>
        <p:nvPicPr>
          <p:cNvPr id="24" name="Image 3" descr="preencoded.png">    </p:cNvPr>
          <p:cNvPicPr>
            <a:picLocks noChangeAspect="1"/>
          </p:cNvPicPr>
          <p:nvPr/>
        </p:nvPicPr>
        <p:blipFill>
          <a:blip r:embed="rId4"/>
          <a:stretch>
            <a:fillRect/>
          </a:stretch>
        </p:blipFill>
        <p:spPr>
          <a:xfrm>
            <a:off x="862279" y="4199839"/>
            <a:ext cx="241402" cy="241402"/>
          </a:xfrm>
          <a:prstGeom prst="rect">
            <a:avLst/>
          </a:prstGeom>
        </p:spPr>
      </p:pic>
      <p:sp>
        <p:nvSpPr>
          <p:cNvPr id="25" name="Text 18"/>
          <p:cNvSpPr txBox="1"/>
          <p:nvPr/>
        </p:nvSpPr>
        <p:spPr>
          <a:xfrm>
            <a:off x="1371600" y="4069080"/>
            <a:ext cx="265176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 instead of ==</a:t>
            </a:r>
            <a:endParaRPr lang="en-US" sz="1700" dirty="0"/>
          </a:p>
        </p:txBody>
      </p:sp>
      <p:sp>
        <p:nvSpPr>
          <p:cNvPr id="26" name="Text 19"/>
          <p:cNvSpPr txBox="1"/>
          <p:nvPr/>
        </p:nvSpPr>
        <p:spPr>
          <a:xfrm>
            <a:off x="731520" y="4754880"/>
            <a:ext cx="3246120" cy="1051560"/>
          </a:xfrm>
          <a:prstGeom prst="rect">
            <a:avLst/>
          </a:prstGeom>
          <a:noFill/>
          <a:ln/>
        </p:spPr>
        <p:txBody>
          <a:bodyPr wrap="square" lIns="0" tIns="0" rIns="0" bIns="0" rtlCol="0" anchor="t"/>
          <a:lstStyle/>
          <a:p>
            <a:pPr indent="0" marL="0">
              <a:spcAft>
                <a:spcPts val="600"/>
              </a:spcAft>
              <a:buNone/>
            </a:pPr>
            <a:r>
              <a:rPr lang="en-US" sz="1300" b="1" dirty="0">
                <a:solidFill>
                  <a:srgbClr val="C8453B"/>
                </a:solidFill>
                <a:latin typeface="Calibri" pitchFamily="34" charset="0"/>
                <a:ea typeface="Calibri" pitchFamily="34" charset="-122"/>
                <a:cs typeface="Calibri" pitchFamily="34" charset="-120"/>
              </a:rPr>
              <a:t>✗ </a:t>
            </a:r>
            <a:pPr indent="0" marL="0">
              <a:spcAft>
                <a:spcPts val="600"/>
              </a:spcAft>
              <a:buNone/>
            </a:pPr>
            <a:r>
              <a:rPr lang="en-US" sz="1300" dirty="0">
                <a:solidFill>
                  <a:srgbClr val="C8453B"/>
                </a:solidFill>
                <a:latin typeface="Courier New" pitchFamily="34" charset="0"/>
                <a:ea typeface="Courier New" pitchFamily="34" charset="-122"/>
                <a:cs typeface="Courier New" pitchFamily="34" charset="-120"/>
              </a:rPr>
              <a:t>bool ok = (x = 5);</a:t>
            </a:r>
            <a:endParaRPr lang="en-US" sz="1300" dirty="0"/>
          </a:p>
          <a:p>
            <a:pPr indent="0" marL="0">
              <a:spcAft>
                <a:spcPts val="600"/>
              </a:spcAft>
              <a:buNone/>
            </a:pPr>
            <a:r>
              <a:rPr lang="en-US" sz="1300" b="1" dirty="0">
                <a:solidFill>
                  <a:srgbClr val="2E9E6A"/>
                </a:solidFill>
                <a:latin typeface="Calibri" pitchFamily="34" charset="0"/>
                <a:ea typeface="Calibri" pitchFamily="34" charset="-122"/>
                <a:cs typeface="Calibri" pitchFamily="34" charset="-120"/>
              </a:rPr>
              <a:t>✓ </a:t>
            </a:r>
            <a:pPr indent="0" marL="0">
              <a:spcAft>
                <a:spcPts val="600"/>
              </a:spcAft>
              <a:buNone/>
            </a:pPr>
            <a:r>
              <a:rPr lang="en-US" sz="1300" dirty="0">
                <a:solidFill>
                  <a:srgbClr val="1F7A50"/>
                </a:solidFill>
                <a:latin typeface="Courier New" pitchFamily="34" charset="0"/>
                <a:ea typeface="Courier New" pitchFamily="34" charset="-122"/>
                <a:cs typeface="Courier New" pitchFamily="34" charset="-120"/>
              </a:rPr>
              <a:t>bool ok = (x == 5);</a:t>
            </a:r>
            <a:endParaRPr lang="en-US" sz="1300" dirty="0"/>
          </a:p>
        </p:txBody>
      </p:sp>
      <p:sp>
        <p:nvSpPr>
          <p:cNvPr id="27" name="Shape 20"/>
          <p:cNvSpPr/>
          <p:nvPr/>
        </p:nvSpPr>
        <p:spPr>
          <a:xfrm>
            <a:off x="4297680" y="3886200"/>
            <a:ext cx="356616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480560" y="4069080"/>
            <a:ext cx="502920" cy="502920"/>
          </a:xfrm>
          <a:prstGeom prst="ellipse">
            <a:avLst/>
          </a:prstGeom>
          <a:solidFill>
            <a:srgbClr val="C8453B"/>
          </a:solidFill>
          <a:ln w="12700">
            <a:solidFill>
              <a:srgbClr val="C8453B"/>
            </a:solidFill>
            <a:prstDash val="solid"/>
          </a:ln>
        </p:spPr>
      </p:sp>
      <p:pic>
        <p:nvPicPr>
          <p:cNvPr id="29" name="Image 4" descr="preencoded.png">    </p:cNvPr>
          <p:cNvPicPr>
            <a:picLocks noChangeAspect="1"/>
          </p:cNvPicPr>
          <p:nvPr/>
        </p:nvPicPr>
        <p:blipFill>
          <a:blip r:embed="rId5"/>
          <a:stretch>
            <a:fillRect/>
          </a:stretch>
        </p:blipFill>
        <p:spPr>
          <a:xfrm>
            <a:off x="4611319" y="4199839"/>
            <a:ext cx="241402" cy="241402"/>
          </a:xfrm>
          <a:prstGeom prst="rect">
            <a:avLst/>
          </a:prstGeom>
        </p:spPr>
      </p:pic>
      <p:sp>
        <p:nvSpPr>
          <p:cNvPr id="30" name="Text 22"/>
          <p:cNvSpPr txBox="1"/>
          <p:nvPr/>
        </p:nvSpPr>
        <p:spPr>
          <a:xfrm>
            <a:off x="5120640" y="4069080"/>
            <a:ext cx="265176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 on doubles</a:t>
            </a:r>
            <a:endParaRPr lang="en-US" sz="1700" dirty="0"/>
          </a:p>
        </p:txBody>
      </p:sp>
      <p:sp>
        <p:nvSpPr>
          <p:cNvPr id="31" name="Text 23"/>
          <p:cNvSpPr txBox="1"/>
          <p:nvPr/>
        </p:nvSpPr>
        <p:spPr>
          <a:xfrm>
            <a:off x="4480560" y="4754880"/>
            <a:ext cx="3246120" cy="1051560"/>
          </a:xfrm>
          <a:prstGeom prst="rect">
            <a:avLst/>
          </a:prstGeom>
          <a:noFill/>
          <a:ln/>
        </p:spPr>
        <p:txBody>
          <a:bodyPr wrap="square" lIns="0" tIns="0" rIns="0" bIns="0" rtlCol="0" anchor="t"/>
          <a:lstStyle/>
          <a:p>
            <a:pPr indent="0" marL="0">
              <a:spcAft>
                <a:spcPts val="600"/>
              </a:spcAft>
              <a:buNone/>
            </a:pPr>
            <a:r>
              <a:rPr lang="en-US" sz="1300" b="1" dirty="0">
                <a:solidFill>
                  <a:srgbClr val="C8453B"/>
                </a:solidFill>
                <a:latin typeface="Calibri" pitchFamily="34" charset="0"/>
                <a:ea typeface="Calibri" pitchFamily="34" charset="-122"/>
                <a:cs typeface="Calibri" pitchFamily="34" charset="-120"/>
              </a:rPr>
              <a:t>✗ </a:t>
            </a:r>
            <a:pPr indent="0" marL="0">
              <a:spcAft>
                <a:spcPts val="600"/>
              </a:spcAft>
              <a:buNone/>
            </a:pPr>
            <a:r>
              <a:rPr lang="en-US" sz="1300" dirty="0">
                <a:solidFill>
                  <a:srgbClr val="C8453B"/>
                </a:solidFill>
                <a:latin typeface="Courier New" pitchFamily="34" charset="0"/>
                <a:ea typeface="Courier New" pitchFamily="34" charset="-122"/>
                <a:cs typeface="Courier New" pitchFamily="34" charset="-120"/>
              </a:rPr>
              <a:t>0.1 + 0.2 == 0.3</a:t>
            </a:r>
            <a:endParaRPr lang="en-US" sz="1300" dirty="0"/>
          </a:p>
          <a:p>
            <a:pPr indent="0" marL="0">
              <a:spcAft>
                <a:spcPts val="600"/>
              </a:spcAft>
              <a:buNone/>
            </a:pPr>
            <a:r>
              <a:rPr lang="en-US" sz="1300" b="1" dirty="0">
                <a:solidFill>
                  <a:srgbClr val="2E9E6A"/>
                </a:solidFill>
                <a:latin typeface="Calibri" pitchFamily="34" charset="0"/>
                <a:ea typeface="Calibri" pitchFamily="34" charset="-122"/>
                <a:cs typeface="Calibri" pitchFamily="34" charset="-120"/>
              </a:rPr>
              <a:t>✓ </a:t>
            </a:r>
            <a:pPr indent="0" marL="0">
              <a:spcAft>
                <a:spcPts val="600"/>
              </a:spcAft>
              <a:buNone/>
            </a:pPr>
            <a:r>
              <a:rPr lang="en-US" sz="1300" dirty="0">
                <a:solidFill>
                  <a:srgbClr val="1F7A50"/>
                </a:solidFill>
                <a:latin typeface="Courier New" pitchFamily="34" charset="0"/>
                <a:ea typeface="Courier New" pitchFamily="34" charset="-122"/>
                <a:cs typeface="Courier New" pitchFamily="34" charset="-120"/>
              </a:rPr>
              <a:t>Math.Abs(a - b) &lt; 1e-9</a:t>
            </a:r>
            <a:endParaRPr lang="en-US" sz="1300" dirty="0"/>
          </a:p>
        </p:txBody>
      </p:sp>
      <p:sp>
        <p:nvSpPr>
          <p:cNvPr id="32" name="Shape 24"/>
          <p:cNvSpPr/>
          <p:nvPr/>
        </p:nvSpPr>
        <p:spPr>
          <a:xfrm>
            <a:off x="8046720" y="3886200"/>
            <a:ext cx="356616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229600" y="4069080"/>
            <a:ext cx="502920" cy="502920"/>
          </a:xfrm>
          <a:prstGeom prst="ellipse">
            <a:avLst/>
          </a:prstGeom>
          <a:solidFill>
            <a:srgbClr val="C8453B"/>
          </a:solidFill>
          <a:ln w="12700">
            <a:solidFill>
              <a:srgbClr val="C8453B"/>
            </a:solidFill>
            <a:prstDash val="solid"/>
          </a:ln>
        </p:spPr>
      </p:sp>
      <p:pic>
        <p:nvPicPr>
          <p:cNvPr id="34" name="Image 5" descr="preencoded.png">    </p:cNvPr>
          <p:cNvPicPr>
            <a:picLocks noChangeAspect="1"/>
          </p:cNvPicPr>
          <p:nvPr/>
        </p:nvPicPr>
        <p:blipFill>
          <a:blip r:embed="rId6"/>
          <a:stretch>
            <a:fillRect/>
          </a:stretch>
        </p:blipFill>
        <p:spPr>
          <a:xfrm>
            <a:off x="8360359" y="4199839"/>
            <a:ext cx="241402" cy="241402"/>
          </a:xfrm>
          <a:prstGeom prst="rect">
            <a:avLst/>
          </a:prstGeom>
        </p:spPr>
      </p:pic>
      <p:sp>
        <p:nvSpPr>
          <p:cNvPr id="35" name="Text 26"/>
          <p:cNvSpPr txBox="1"/>
          <p:nvPr/>
        </p:nvSpPr>
        <p:spPr>
          <a:xfrm>
            <a:off x="8869680" y="4069080"/>
            <a:ext cx="265176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Negative %</a:t>
            </a:r>
            <a:endParaRPr lang="en-US" sz="1700" dirty="0"/>
          </a:p>
        </p:txBody>
      </p:sp>
      <p:sp>
        <p:nvSpPr>
          <p:cNvPr id="36" name="Text 27"/>
          <p:cNvSpPr txBox="1"/>
          <p:nvPr/>
        </p:nvSpPr>
        <p:spPr>
          <a:xfrm>
            <a:off x="8229600" y="4754880"/>
            <a:ext cx="3246120" cy="1051560"/>
          </a:xfrm>
          <a:prstGeom prst="rect">
            <a:avLst/>
          </a:prstGeom>
          <a:noFill/>
          <a:ln/>
        </p:spPr>
        <p:txBody>
          <a:bodyPr wrap="square" lIns="0" tIns="0" rIns="0" bIns="0" rtlCol="0" anchor="t"/>
          <a:lstStyle/>
          <a:p>
            <a:pPr indent="0" marL="0">
              <a:spcAft>
                <a:spcPts val="600"/>
              </a:spcAft>
              <a:buNone/>
            </a:pPr>
            <a:r>
              <a:rPr lang="en-US" sz="1300" b="1" dirty="0">
                <a:solidFill>
                  <a:srgbClr val="C8453B"/>
                </a:solidFill>
                <a:latin typeface="Calibri" pitchFamily="34" charset="0"/>
                <a:ea typeface="Calibri" pitchFamily="34" charset="-122"/>
                <a:cs typeface="Calibri" pitchFamily="34" charset="-120"/>
              </a:rPr>
              <a:t>✗ </a:t>
            </a:r>
            <a:pPr indent="0" marL="0">
              <a:spcAft>
                <a:spcPts val="600"/>
              </a:spcAft>
              <a:buNone/>
            </a:pPr>
            <a:r>
              <a:rPr lang="en-US" sz="1300" dirty="0">
                <a:solidFill>
                  <a:srgbClr val="C8453B"/>
                </a:solidFill>
                <a:latin typeface="Courier New" pitchFamily="34" charset="0"/>
                <a:ea typeface="Courier New" pitchFamily="34" charset="-122"/>
                <a:cs typeface="Courier New" pitchFamily="34" charset="-120"/>
              </a:rPr>
              <a:t>-7 % 3 is -1</a:t>
            </a:r>
            <a:endParaRPr lang="en-US" sz="1300" dirty="0"/>
          </a:p>
          <a:p>
            <a:pPr indent="0" marL="0">
              <a:spcAft>
                <a:spcPts val="600"/>
              </a:spcAft>
              <a:buNone/>
            </a:pPr>
            <a:r>
              <a:rPr lang="en-US" sz="1300" b="1" dirty="0">
                <a:solidFill>
                  <a:srgbClr val="2E9E6A"/>
                </a:solidFill>
                <a:latin typeface="Calibri" pitchFamily="34" charset="0"/>
                <a:ea typeface="Calibri" pitchFamily="34" charset="-122"/>
                <a:cs typeface="Calibri" pitchFamily="34" charset="-120"/>
              </a:rPr>
              <a:t>✓ </a:t>
            </a:r>
            <a:pPr indent="0" marL="0">
              <a:spcAft>
                <a:spcPts val="600"/>
              </a:spcAft>
              <a:buNone/>
            </a:pPr>
            <a:r>
              <a:rPr lang="en-US" sz="1300" dirty="0">
                <a:solidFill>
                  <a:srgbClr val="1F7A50"/>
                </a:solidFill>
                <a:latin typeface="Courier New" pitchFamily="34" charset="0"/>
                <a:ea typeface="Courier New" pitchFamily="34" charset="-122"/>
                <a:cs typeface="Courier New" pitchFamily="34" charset="-120"/>
              </a:rPr>
              <a:t>((x % m) + m) % m</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1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1: Arithmetic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548640"/>
                <a:gridCol w="4846320"/>
                <a:gridCol w="2286000"/>
              </a:tblGrid>
              <a:tr h="47548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Console.WriteLine( … );</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17 / 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17 % 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17 / 5.0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(double)(17 / 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-17 % 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5 % 17</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 / 2 * 10.0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-9 / 2</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9052560" y="1737360"/>
            <a:ext cx="1371600" cy="1371600"/>
          </a:xfrm>
          <a:prstGeom prst="ellipse">
            <a:avLst/>
          </a:prstGeom>
          <a:solidFill>
            <a:srgbClr val="FCA311"/>
          </a:solidFill>
          <a:ln w="12700">
            <a:solidFill>
              <a:srgbClr val="FCA311"/>
            </a:solidFill>
            <a:prstDash val="solid"/>
          </a:ln>
        </p:spPr>
      </p:sp>
      <p:pic>
        <p:nvPicPr>
          <p:cNvPr id="9" name="Image 0" descr="preencoded.png">    </p:cNvPr>
          <p:cNvPicPr>
            <a:picLocks noChangeAspect="1"/>
          </p:cNvPicPr>
          <p:nvPr/>
        </p:nvPicPr>
        <p:blipFill>
          <a:blip r:embed="rId1"/>
          <a:stretch>
            <a:fillRect/>
          </a:stretch>
        </p:blipFill>
        <p:spPr>
          <a:xfrm>
            <a:off x="9409176" y="2093976"/>
            <a:ext cx="658368" cy="658368"/>
          </a:xfrm>
          <a:prstGeom prst="rect">
            <a:avLst/>
          </a:prstGeom>
        </p:spPr>
      </p:pic>
      <p:sp>
        <p:nvSpPr>
          <p:cNvPr id="10" name="Text 5"/>
          <p:cNvSpPr txBox="1"/>
          <p:nvPr/>
        </p:nvSpPr>
        <p:spPr>
          <a:xfrm>
            <a:off x="8503920" y="3291840"/>
            <a:ext cx="3154680" cy="1645920"/>
          </a:xfrm>
          <a:prstGeom prst="rect">
            <a:avLst/>
          </a:prstGeom>
          <a:noFill/>
          <a:ln/>
        </p:spPr>
        <p:txBody>
          <a:bodyPr wrap="square" lIns="0" tIns="0" rIns="0" bIns="0" rtlCol="0" anchor="ctr"/>
          <a:lstStyle/>
          <a:p>
            <a:pPr algn="ctr" indent="0" marL="0">
              <a:spcAft>
                <a:spcPts val="600"/>
              </a:spcAft>
              <a:buNone/>
            </a:pPr>
            <a:r>
              <a:rPr lang="en-US" sz="1500" b="1" dirty="0">
                <a:solidFill>
                  <a:srgbClr val="333B4F"/>
                </a:solidFill>
                <a:latin typeface="Calibri" pitchFamily="34" charset="0"/>
                <a:ea typeface="Calibri" pitchFamily="34" charset="-122"/>
                <a:cs typeface="Calibri" pitchFamily="34" charset="-120"/>
              </a:rPr>
              <a:t>Write exactly what is printed.</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bool → True / False</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3.0 prints as 3</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Work in pairs · 5 min</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1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1 answers: Arithmetic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548640"/>
                <a:gridCol w="3977640"/>
                <a:gridCol w="1463040"/>
                <a:gridCol w="5120640"/>
              </a:tblGrid>
              <a:tr h="47548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Expression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17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int / int: the fraction is dropped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17 %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17 = 3 · 5 + 2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17 / 5.0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3.4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one double operand → real division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(double)(17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int division first; the cast comes too late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-17 %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the sign of % follows the dividend (−17)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5 % 17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5 = 0 · 17 + 5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 / 2 * 10.0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1 / 2 is the int 0; 0 * 10.0 = 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-9 / 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truncation toward zero (not −5)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2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2: Precedence and Strings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548640"/>
                <a:gridCol w="4846320"/>
                <a:gridCol w="2286000"/>
              </a:tblGrid>
              <a:tr h="47548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Console.WriteLine( … );</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2 + 3 * 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10 - 4 - 3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100 / 10 / 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20 / 3 * 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2 * 3 % 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 + 2 + "3"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 + 2 + 3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'A' + 1</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9052560" y="1737360"/>
            <a:ext cx="1371600" cy="1371600"/>
          </a:xfrm>
          <a:prstGeom prst="ellipse">
            <a:avLst/>
          </a:prstGeom>
          <a:solidFill>
            <a:srgbClr val="FCA311"/>
          </a:solidFill>
          <a:ln w="12700">
            <a:solidFill>
              <a:srgbClr val="FCA311"/>
            </a:solidFill>
            <a:prstDash val="solid"/>
          </a:ln>
        </p:spPr>
      </p:sp>
      <p:pic>
        <p:nvPicPr>
          <p:cNvPr id="9" name="Image 0" descr="preencoded.png">    </p:cNvPr>
          <p:cNvPicPr>
            <a:picLocks noChangeAspect="1"/>
          </p:cNvPicPr>
          <p:nvPr/>
        </p:nvPicPr>
        <p:blipFill>
          <a:blip r:embed="rId1"/>
          <a:stretch>
            <a:fillRect/>
          </a:stretch>
        </p:blipFill>
        <p:spPr>
          <a:xfrm>
            <a:off x="9409176" y="2093976"/>
            <a:ext cx="658368" cy="658368"/>
          </a:xfrm>
          <a:prstGeom prst="rect">
            <a:avLst/>
          </a:prstGeom>
        </p:spPr>
      </p:pic>
      <p:sp>
        <p:nvSpPr>
          <p:cNvPr id="10" name="Text 5"/>
          <p:cNvSpPr txBox="1"/>
          <p:nvPr/>
        </p:nvSpPr>
        <p:spPr>
          <a:xfrm>
            <a:off x="8503920" y="3291840"/>
            <a:ext cx="3154680" cy="1645920"/>
          </a:xfrm>
          <a:prstGeom prst="rect">
            <a:avLst/>
          </a:prstGeom>
          <a:noFill/>
          <a:ln/>
        </p:spPr>
        <p:txBody>
          <a:bodyPr wrap="square" lIns="0" tIns="0" rIns="0" bIns="0" rtlCol="0" anchor="ctr"/>
          <a:lstStyle/>
          <a:p>
            <a:pPr algn="ctr" indent="0" marL="0">
              <a:spcAft>
                <a:spcPts val="600"/>
              </a:spcAft>
              <a:buNone/>
            </a:pPr>
            <a:r>
              <a:rPr lang="en-US" sz="1500" b="1" dirty="0">
                <a:solidFill>
                  <a:srgbClr val="333B4F"/>
                </a:solidFill>
                <a:latin typeface="Calibri" pitchFamily="34" charset="0"/>
                <a:ea typeface="Calibri" pitchFamily="34" charset="-122"/>
                <a:cs typeface="Calibri" pitchFamily="34" charset="-120"/>
              </a:rPr>
              <a:t>Write exactly what is printed.</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bool → True / False</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3.0 prints as 3</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Work in pairs · 5 min</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2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2 answers: Precedence and Strings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548640"/>
                <a:gridCol w="3977640"/>
                <a:gridCol w="1463040"/>
                <a:gridCol w="5120640"/>
              </a:tblGrid>
              <a:tr h="47548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Expression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 + 3 * 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14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 before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10 - 4 - 3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left to right: (10 − 4) − 3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100 / 10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left to right: (100 / 10) / 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20 / 3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18</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20 / 3 = 6 (int), then 6 * 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2 * 3 % 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same level, left to right: 6 % 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 + 2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33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1 + 2 = 3 first, then "3" + "3"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 + 2 + 3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123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text first → every + joins text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'A' + 1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66</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char 'A' has code 65; char + int → int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3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3: ++, -- and compound assignment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40</a:t>
            </a:r>
            <a:endParaRPr lang="en-US" sz="1000" dirty="0"/>
          </a:p>
        </p:txBody>
      </p:sp>
      <p:sp>
        <p:nvSpPr>
          <p:cNvPr id="7" name="Shape 4"/>
          <p:cNvSpPr/>
          <p:nvPr/>
        </p:nvSpPr>
        <p:spPr>
          <a:xfrm>
            <a:off x="548640" y="1600200"/>
            <a:ext cx="3566160" cy="2103120"/>
          </a:xfrm>
          <a:prstGeom prst="roundRect">
            <a:avLst>
              <a:gd name="adj" fmla="val 4348"/>
            </a:avLst>
          </a:prstGeom>
          <a:solidFill>
            <a:srgbClr val="0F1729"/>
          </a:solidFill>
          <a:ln w="12700">
            <a:solidFill>
              <a:srgbClr val="0F1729"/>
            </a:solidFill>
            <a:prstDash val="solid"/>
          </a:ln>
        </p:spPr>
      </p:sp>
      <p:sp>
        <p:nvSpPr>
          <p:cNvPr id="8" name="Text 5"/>
          <p:cNvSpPr txBox="1"/>
          <p:nvPr/>
        </p:nvSpPr>
        <p:spPr>
          <a:xfrm>
            <a:off x="777240" y="1709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A</a:t>
            </a:r>
            <a:endParaRPr lang="en-US" sz="1100" dirty="0"/>
          </a:p>
        </p:txBody>
      </p:sp>
      <p:sp>
        <p:nvSpPr>
          <p:cNvPr id="9" name="Text 6"/>
          <p:cNvSpPr txBox="1"/>
          <p:nvPr/>
        </p:nvSpPr>
        <p:spPr>
          <a:xfrm>
            <a:off x="777240" y="2011680"/>
            <a:ext cx="310896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 {i}"</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4297680" y="1600200"/>
            <a:ext cx="3566160" cy="2103120"/>
          </a:xfrm>
          <a:prstGeom prst="roundRect">
            <a:avLst>
              <a:gd name="adj" fmla="val 4348"/>
            </a:avLst>
          </a:prstGeom>
          <a:solidFill>
            <a:srgbClr val="0F1729"/>
          </a:solidFill>
          <a:ln w="12700">
            <a:solidFill>
              <a:srgbClr val="0F1729"/>
            </a:solidFill>
            <a:prstDash val="solid"/>
          </a:ln>
        </p:spPr>
      </p:sp>
      <p:sp>
        <p:nvSpPr>
          <p:cNvPr id="11" name="Text 8"/>
          <p:cNvSpPr txBox="1"/>
          <p:nvPr/>
        </p:nvSpPr>
        <p:spPr>
          <a:xfrm>
            <a:off x="4526280" y="1709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B</a:t>
            </a:r>
            <a:endParaRPr lang="en-US" sz="1100" dirty="0"/>
          </a:p>
        </p:txBody>
      </p:sp>
      <p:sp>
        <p:nvSpPr>
          <p:cNvPr id="12" name="Text 9"/>
          <p:cNvSpPr txBox="1"/>
          <p:nvPr/>
        </p:nvSpPr>
        <p:spPr>
          <a:xfrm>
            <a:off x="4526280" y="2011680"/>
            <a:ext cx="310896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 {i}"</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8046720" y="1600200"/>
            <a:ext cx="3566160" cy="2103120"/>
          </a:xfrm>
          <a:prstGeom prst="roundRect">
            <a:avLst>
              <a:gd name="adj" fmla="val 4348"/>
            </a:avLst>
          </a:prstGeom>
          <a:solidFill>
            <a:srgbClr val="0F1729"/>
          </a:solidFill>
          <a:ln w="12700">
            <a:solidFill>
              <a:srgbClr val="0F1729"/>
            </a:solidFill>
            <a:prstDash val="solid"/>
          </a:ln>
        </p:spPr>
      </p:sp>
      <p:sp>
        <p:nvSpPr>
          <p:cNvPr id="14" name="Text 11"/>
          <p:cNvSpPr txBox="1"/>
          <p:nvPr/>
        </p:nvSpPr>
        <p:spPr>
          <a:xfrm>
            <a:off x="8275320" y="1709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C</a:t>
            </a:r>
            <a:endParaRPr lang="en-US" sz="1100" dirty="0"/>
          </a:p>
        </p:txBody>
      </p:sp>
      <p:sp>
        <p:nvSpPr>
          <p:cNvPr id="15" name="Text 12"/>
          <p:cNvSpPr txBox="1"/>
          <p:nvPr/>
        </p:nvSpPr>
        <p:spPr>
          <a:xfrm>
            <a:off x="8275320" y="2011680"/>
            <a:ext cx="310896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.WriteLine(n++);</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.WriteLine(n);</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.WriteLine(--n);</a:t>
            </a:r>
            <a:endParaRPr lang="en-US" sz="1300" dirty="0"/>
          </a:p>
        </p:txBody>
      </p:sp>
      <p:sp>
        <p:nvSpPr>
          <p:cNvPr id="16" name="Shape 13"/>
          <p:cNvSpPr/>
          <p:nvPr/>
        </p:nvSpPr>
        <p:spPr>
          <a:xfrm>
            <a:off x="548640" y="3886200"/>
            <a:ext cx="3566160" cy="2103120"/>
          </a:xfrm>
          <a:prstGeom prst="roundRect">
            <a:avLst>
              <a:gd name="adj" fmla="val 4348"/>
            </a:avLst>
          </a:prstGeom>
          <a:solidFill>
            <a:srgbClr val="0F1729"/>
          </a:solidFill>
          <a:ln w="12700">
            <a:solidFill>
              <a:srgbClr val="0F1729"/>
            </a:solidFill>
            <a:prstDash val="solid"/>
          </a:ln>
        </p:spPr>
      </p:sp>
      <p:sp>
        <p:nvSpPr>
          <p:cNvPr id="17" name="Text 14"/>
          <p:cNvSpPr txBox="1"/>
          <p:nvPr/>
        </p:nvSpPr>
        <p:spPr>
          <a:xfrm>
            <a:off x="777240" y="3995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D</a:t>
            </a:r>
            <a:endParaRPr lang="en-US" sz="1100" dirty="0"/>
          </a:p>
        </p:txBody>
      </p:sp>
      <p:sp>
        <p:nvSpPr>
          <p:cNvPr id="18" name="Text 15"/>
          <p:cNvSpPr txBox="1"/>
          <p:nvPr/>
        </p:nvSpPr>
        <p:spPr>
          <a:xfrm>
            <a:off x="777240" y="4297680"/>
            <a:ext cx="310896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.WriteLine(k);</a:t>
            </a:r>
            <a:endParaRPr lang="en-US" sz="1300" dirty="0"/>
          </a:p>
        </p:txBody>
      </p:sp>
      <p:sp>
        <p:nvSpPr>
          <p:cNvPr id="19" name="Shape 16"/>
          <p:cNvSpPr/>
          <p:nvPr/>
        </p:nvSpPr>
        <p:spPr>
          <a:xfrm>
            <a:off x="4297680" y="3886200"/>
            <a:ext cx="3566160" cy="2103120"/>
          </a:xfrm>
          <a:prstGeom prst="roundRect">
            <a:avLst>
              <a:gd name="adj" fmla="val 4348"/>
            </a:avLst>
          </a:prstGeom>
          <a:solidFill>
            <a:srgbClr val="0F1729"/>
          </a:solidFill>
          <a:ln w="12700">
            <a:solidFill>
              <a:srgbClr val="0F1729"/>
            </a:solidFill>
            <a:prstDash val="solid"/>
          </a:ln>
        </p:spPr>
      </p:sp>
      <p:sp>
        <p:nvSpPr>
          <p:cNvPr id="20" name="Text 17"/>
          <p:cNvSpPr txBox="1"/>
          <p:nvPr/>
        </p:nvSpPr>
        <p:spPr>
          <a:xfrm>
            <a:off x="4526280" y="3995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E</a:t>
            </a:r>
            <a:endParaRPr lang="en-US" sz="1100" dirty="0"/>
          </a:p>
        </p:txBody>
      </p:sp>
      <p:sp>
        <p:nvSpPr>
          <p:cNvPr id="21" name="Text 18"/>
          <p:cNvSpPr txBox="1"/>
          <p:nvPr/>
        </p:nvSpPr>
        <p:spPr>
          <a:xfrm>
            <a:off x="4526280" y="4297680"/>
            <a:ext cx="310896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d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d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$"{m} {d}"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22" name="Shape 19"/>
          <p:cNvSpPr/>
          <p:nvPr/>
        </p:nvSpPr>
        <p:spPr>
          <a:xfrm>
            <a:off x="8046720" y="3886200"/>
            <a:ext cx="3566160" cy="2103120"/>
          </a:xfrm>
          <a:prstGeom prst="roundRect">
            <a:avLst>
              <a:gd name="adj" fmla="val 4348"/>
            </a:avLst>
          </a:prstGeom>
          <a:solidFill>
            <a:srgbClr val="0F1729"/>
          </a:solidFill>
          <a:ln w="12700">
            <a:solidFill>
              <a:srgbClr val="0F1729"/>
            </a:solidFill>
            <a:prstDash val="solid"/>
          </a:ln>
        </p:spPr>
      </p:sp>
      <p:sp>
        <p:nvSpPr>
          <p:cNvPr id="23" name="Text 20"/>
          <p:cNvSpPr txBox="1"/>
          <p:nvPr/>
        </p:nvSpPr>
        <p:spPr>
          <a:xfrm>
            <a:off x="8275320" y="3995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F</a:t>
            </a:r>
            <a:endParaRPr lang="en-US" sz="1100" dirty="0"/>
          </a:p>
        </p:txBody>
      </p:sp>
      <p:sp>
        <p:nvSpPr>
          <p:cNvPr id="24" name="Text 21"/>
          <p:cNvSpPr txBox="1"/>
          <p:nvPr/>
        </p:nvSpPr>
        <p:spPr>
          <a:xfrm>
            <a:off x="8275320" y="4297680"/>
            <a:ext cx="3108960" cy="158191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.WriteLine(c);</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3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3 answers: ++, -- and compound assignment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41</a:t>
            </a:r>
            <a:endParaRPr lang="en-US" sz="1000" dirty="0"/>
          </a:p>
        </p:txBody>
      </p:sp>
      <p:sp>
        <p:nvSpPr>
          <p:cNvPr id="7" name="Shape 4"/>
          <p:cNvSpPr/>
          <p:nvPr/>
        </p:nvSpPr>
        <p:spPr>
          <a:xfrm>
            <a:off x="548640" y="1600200"/>
            <a:ext cx="3566160" cy="1554480"/>
          </a:xfrm>
          <a:prstGeom prst="roundRect">
            <a:avLst>
              <a:gd name="adj" fmla="val 5882"/>
            </a:avLst>
          </a:prstGeom>
          <a:solidFill>
            <a:srgbClr val="0F1729"/>
          </a:solidFill>
          <a:ln w="12700">
            <a:solidFill>
              <a:srgbClr val="0F1729"/>
            </a:solidFill>
            <a:prstDash val="solid"/>
          </a:ln>
        </p:spPr>
      </p:sp>
      <p:sp>
        <p:nvSpPr>
          <p:cNvPr id="8" name="Text 5"/>
          <p:cNvSpPr txBox="1"/>
          <p:nvPr/>
        </p:nvSpPr>
        <p:spPr>
          <a:xfrm>
            <a:off x="777240" y="1709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A</a:t>
            </a:r>
            <a:endParaRPr lang="en-US" sz="1100" dirty="0"/>
          </a:p>
        </p:txBody>
      </p:sp>
      <p:sp>
        <p:nvSpPr>
          <p:cNvPr id="9" name="Text 6"/>
          <p:cNvSpPr txBox="1"/>
          <p:nvPr/>
        </p:nvSpPr>
        <p:spPr>
          <a:xfrm>
            <a:off x="777240" y="2011680"/>
            <a:ext cx="310896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3200400"/>
            <a:ext cx="3566160" cy="594360"/>
          </a:xfrm>
          <a:prstGeom prst="roundRect">
            <a:avLst>
              <a:gd name="adj" fmla="val 18462"/>
            </a:avLst>
          </a:prstGeom>
          <a:solidFill>
            <a:srgbClr val="FFF1D6"/>
          </a:solidFill>
          <a:ln w="12700">
            <a:solidFill>
              <a:srgbClr val="FFF1D6"/>
            </a:solidFill>
            <a:prstDash val="solid"/>
          </a:ln>
        </p:spPr>
      </p:sp>
      <p:sp>
        <p:nvSpPr>
          <p:cNvPr id="11" name="Text 8"/>
          <p:cNvSpPr txBox="1"/>
          <p:nvPr/>
        </p:nvSpPr>
        <p:spPr>
          <a:xfrm>
            <a:off x="685800" y="3200400"/>
            <a:ext cx="3337560" cy="59436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7 6</a:t>
            </a:r>
            <a:pPr indent="0" marL="0">
              <a:buNone/>
            </a:pPr>
            <a:r>
              <a:rPr lang="en-US" sz="1300" dirty="0">
                <a:solidFill>
                  <a:srgbClr val="333B4F"/>
                </a:solidFill>
                <a:latin typeface="Calibri" pitchFamily="34" charset="0"/>
                <a:ea typeface="Calibri" pitchFamily="34" charset="-122"/>
                <a:cs typeface="Calibri" pitchFamily="34" charset="-120"/>
              </a:rPr>
              <a:t>   i++ gives the old value 5</a:t>
            </a:r>
            <a:endParaRPr lang="en-US" sz="1300" dirty="0"/>
          </a:p>
        </p:txBody>
      </p:sp>
      <p:sp>
        <p:nvSpPr>
          <p:cNvPr id="12" name="Shape 9"/>
          <p:cNvSpPr/>
          <p:nvPr/>
        </p:nvSpPr>
        <p:spPr>
          <a:xfrm>
            <a:off x="4297680" y="1600200"/>
            <a:ext cx="3566160" cy="1554480"/>
          </a:xfrm>
          <a:prstGeom prst="roundRect">
            <a:avLst>
              <a:gd name="adj" fmla="val 5882"/>
            </a:avLst>
          </a:prstGeom>
          <a:solidFill>
            <a:srgbClr val="0F1729"/>
          </a:solidFill>
          <a:ln w="12700">
            <a:solidFill>
              <a:srgbClr val="0F1729"/>
            </a:solidFill>
            <a:prstDash val="solid"/>
          </a:ln>
        </p:spPr>
      </p:sp>
      <p:sp>
        <p:nvSpPr>
          <p:cNvPr id="13" name="Text 10"/>
          <p:cNvSpPr txBox="1"/>
          <p:nvPr/>
        </p:nvSpPr>
        <p:spPr>
          <a:xfrm>
            <a:off x="4526280" y="1709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B</a:t>
            </a:r>
            <a:endParaRPr lang="en-US" sz="1100" dirty="0"/>
          </a:p>
        </p:txBody>
      </p:sp>
      <p:sp>
        <p:nvSpPr>
          <p:cNvPr id="14" name="Text 11"/>
          <p:cNvSpPr txBox="1"/>
          <p:nvPr/>
        </p:nvSpPr>
        <p:spPr>
          <a:xfrm>
            <a:off x="4526280" y="2011680"/>
            <a:ext cx="310896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 {i}"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4297680" y="3200400"/>
            <a:ext cx="3566160" cy="594360"/>
          </a:xfrm>
          <a:prstGeom prst="roundRect">
            <a:avLst>
              <a:gd name="adj" fmla="val 18462"/>
            </a:avLst>
          </a:prstGeom>
          <a:solidFill>
            <a:srgbClr val="FFF1D6"/>
          </a:solidFill>
          <a:ln w="12700">
            <a:solidFill>
              <a:srgbClr val="FFF1D6"/>
            </a:solidFill>
            <a:prstDash val="solid"/>
          </a:ln>
        </p:spPr>
      </p:sp>
      <p:sp>
        <p:nvSpPr>
          <p:cNvPr id="16" name="Text 13"/>
          <p:cNvSpPr txBox="1"/>
          <p:nvPr/>
        </p:nvSpPr>
        <p:spPr>
          <a:xfrm>
            <a:off x="4434840" y="3200400"/>
            <a:ext cx="3337560" cy="59436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8 6</a:t>
            </a:r>
            <a:pPr indent="0" marL="0">
              <a:buNone/>
            </a:pPr>
            <a:r>
              <a:rPr lang="en-US" sz="1300" dirty="0">
                <a:solidFill>
                  <a:srgbClr val="333B4F"/>
                </a:solidFill>
                <a:latin typeface="Calibri" pitchFamily="34" charset="0"/>
                <a:ea typeface="Calibri" pitchFamily="34" charset="-122"/>
                <a:cs typeface="Calibri" pitchFamily="34" charset="-120"/>
              </a:rPr>
              <a:t>   ++i gives the new value 6</a:t>
            </a:r>
            <a:endParaRPr lang="en-US" sz="1300" dirty="0"/>
          </a:p>
        </p:txBody>
      </p:sp>
      <p:sp>
        <p:nvSpPr>
          <p:cNvPr id="17" name="Shape 14"/>
          <p:cNvSpPr/>
          <p:nvPr/>
        </p:nvSpPr>
        <p:spPr>
          <a:xfrm>
            <a:off x="8046720" y="1600200"/>
            <a:ext cx="3566160" cy="1554480"/>
          </a:xfrm>
          <a:prstGeom prst="roundRect">
            <a:avLst>
              <a:gd name="adj" fmla="val 5882"/>
            </a:avLst>
          </a:prstGeom>
          <a:solidFill>
            <a:srgbClr val="0F1729"/>
          </a:solidFill>
          <a:ln w="12700">
            <a:solidFill>
              <a:srgbClr val="0F1729"/>
            </a:solidFill>
            <a:prstDash val="solid"/>
          </a:ln>
        </p:spPr>
      </p:sp>
      <p:sp>
        <p:nvSpPr>
          <p:cNvPr id="18" name="Text 15"/>
          <p:cNvSpPr txBox="1"/>
          <p:nvPr/>
        </p:nvSpPr>
        <p:spPr>
          <a:xfrm>
            <a:off x="8275320" y="1709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C</a:t>
            </a:r>
            <a:endParaRPr lang="en-US" sz="1100" dirty="0"/>
          </a:p>
        </p:txBody>
      </p:sp>
      <p:sp>
        <p:nvSpPr>
          <p:cNvPr id="19" name="Text 16"/>
          <p:cNvSpPr txBox="1"/>
          <p:nvPr/>
        </p:nvSpPr>
        <p:spPr>
          <a:xfrm>
            <a:off x="8275320" y="2011680"/>
            <a:ext cx="310896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.WriteLine(n++);</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.WriteLine(n);</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.WriteLine(--n);</a:t>
            </a:r>
            <a:endParaRPr lang="en-US" sz="1200" dirty="0"/>
          </a:p>
        </p:txBody>
      </p:sp>
      <p:sp>
        <p:nvSpPr>
          <p:cNvPr id="20" name="Shape 17"/>
          <p:cNvSpPr/>
          <p:nvPr/>
        </p:nvSpPr>
        <p:spPr>
          <a:xfrm>
            <a:off x="8046720" y="3200400"/>
            <a:ext cx="3566160" cy="594360"/>
          </a:xfrm>
          <a:prstGeom prst="roundRect">
            <a:avLst>
              <a:gd name="adj" fmla="val 18462"/>
            </a:avLst>
          </a:prstGeom>
          <a:solidFill>
            <a:srgbClr val="FFF1D6"/>
          </a:solidFill>
          <a:ln w="12700">
            <a:solidFill>
              <a:srgbClr val="FFF1D6"/>
            </a:solidFill>
            <a:prstDash val="solid"/>
          </a:ln>
        </p:spPr>
      </p:sp>
      <p:sp>
        <p:nvSpPr>
          <p:cNvPr id="21" name="Text 18"/>
          <p:cNvSpPr txBox="1"/>
          <p:nvPr/>
        </p:nvSpPr>
        <p:spPr>
          <a:xfrm>
            <a:off x="8183880" y="3200400"/>
            <a:ext cx="3337560" cy="59436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7 | 8 | 7</a:t>
            </a:r>
            <a:pPr indent="0" marL="0">
              <a:buNone/>
            </a:pPr>
            <a:r>
              <a:rPr lang="en-US" sz="1300" dirty="0">
                <a:solidFill>
                  <a:srgbClr val="333B4F"/>
                </a:solidFill>
                <a:latin typeface="Calibri" pitchFamily="34" charset="0"/>
                <a:ea typeface="Calibri" pitchFamily="34" charset="-122"/>
                <a:cs typeface="Calibri" pitchFamily="34" charset="-120"/>
              </a:rPr>
              <a:t>   print 7, then n = 8; --n makes 7</a:t>
            </a:r>
            <a:endParaRPr lang="en-US" sz="1300" dirty="0"/>
          </a:p>
        </p:txBody>
      </p:sp>
      <p:sp>
        <p:nvSpPr>
          <p:cNvPr id="22" name="Shape 19"/>
          <p:cNvSpPr/>
          <p:nvPr/>
        </p:nvSpPr>
        <p:spPr>
          <a:xfrm>
            <a:off x="548640" y="3886200"/>
            <a:ext cx="3566160" cy="1554480"/>
          </a:xfrm>
          <a:prstGeom prst="roundRect">
            <a:avLst>
              <a:gd name="adj" fmla="val 5882"/>
            </a:avLst>
          </a:prstGeom>
          <a:solidFill>
            <a:srgbClr val="0F1729"/>
          </a:solidFill>
          <a:ln w="12700">
            <a:solidFill>
              <a:srgbClr val="0F1729"/>
            </a:solidFill>
            <a:prstDash val="solid"/>
          </a:ln>
        </p:spPr>
      </p:sp>
      <p:sp>
        <p:nvSpPr>
          <p:cNvPr id="23" name="Text 20"/>
          <p:cNvSpPr txBox="1"/>
          <p:nvPr/>
        </p:nvSpPr>
        <p:spPr>
          <a:xfrm>
            <a:off x="777240" y="3995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D</a:t>
            </a:r>
            <a:endParaRPr lang="en-US" sz="1100" dirty="0"/>
          </a:p>
        </p:txBody>
      </p:sp>
      <p:sp>
        <p:nvSpPr>
          <p:cNvPr id="24" name="Text 21"/>
          <p:cNvSpPr txBox="1"/>
          <p:nvPr/>
        </p:nvSpPr>
        <p:spPr>
          <a:xfrm>
            <a:off x="777240" y="4297680"/>
            <a:ext cx="310896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k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.WriteLine(k);</a:t>
            </a:r>
            <a:endParaRPr lang="en-US" sz="1200" dirty="0"/>
          </a:p>
        </p:txBody>
      </p:sp>
      <p:sp>
        <p:nvSpPr>
          <p:cNvPr id="25" name="Shape 22"/>
          <p:cNvSpPr/>
          <p:nvPr/>
        </p:nvSpPr>
        <p:spPr>
          <a:xfrm>
            <a:off x="548640" y="5486400"/>
            <a:ext cx="3566160" cy="594360"/>
          </a:xfrm>
          <a:prstGeom prst="roundRect">
            <a:avLst>
              <a:gd name="adj" fmla="val 18462"/>
            </a:avLst>
          </a:prstGeom>
          <a:solidFill>
            <a:srgbClr val="FFF1D6"/>
          </a:solidFill>
          <a:ln w="12700">
            <a:solidFill>
              <a:srgbClr val="FFF1D6"/>
            </a:solidFill>
            <a:prstDash val="solid"/>
          </a:ln>
        </p:spPr>
      </p:sp>
      <p:sp>
        <p:nvSpPr>
          <p:cNvPr id="26" name="Text 23"/>
          <p:cNvSpPr txBox="1"/>
          <p:nvPr/>
        </p:nvSpPr>
        <p:spPr>
          <a:xfrm>
            <a:off x="685800" y="5486400"/>
            <a:ext cx="3337560" cy="59436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4</a:t>
            </a:r>
            <a:pPr indent="0" marL="0">
              <a:buNone/>
            </a:pPr>
            <a:r>
              <a:rPr lang="en-US" sz="1300" dirty="0">
                <a:solidFill>
                  <a:srgbClr val="333B4F"/>
                </a:solidFill>
                <a:latin typeface="Calibri" pitchFamily="34" charset="0"/>
                <a:ea typeface="Calibri" pitchFamily="34" charset="-122"/>
                <a:cs typeface="Calibri" pitchFamily="34" charset="-120"/>
              </a:rPr>
              <a:t>   10 → 7 → 14 → 14 % 5 = 4</a:t>
            </a:r>
            <a:endParaRPr lang="en-US" sz="1300" dirty="0"/>
          </a:p>
        </p:txBody>
      </p:sp>
      <p:sp>
        <p:nvSpPr>
          <p:cNvPr id="27" name="Shape 24"/>
          <p:cNvSpPr/>
          <p:nvPr/>
        </p:nvSpPr>
        <p:spPr>
          <a:xfrm>
            <a:off x="4297680" y="3886200"/>
            <a:ext cx="3566160" cy="1554480"/>
          </a:xfrm>
          <a:prstGeom prst="roundRect">
            <a:avLst>
              <a:gd name="adj" fmla="val 5882"/>
            </a:avLst>
          </a:prstGeom>
          <a:solidFill>
            <a:srgbClr val="0F1729"/>
          </a:solidFill>
          <a:ln w="12700">
            <a:solidFill>
              <a:srgbClr val="0F1729"/>
            </a:solidFill>
            <a:prstDash val="solid"/>
          </a:ln>
        </p:spPr>
      </p:sp>
      <p:sp>
        <p:nvSpPr>
          <p:cNvPr id="28" name="Text 25"/>
          <p:cNvSpPr txBox="1"/>
          <p:nvPr/>
        </p:nvSpPr>
        <p:spPr>
          <a:xfrm>
            <a:off x="4526280" y="3995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E</a:t>
            </a:r>
            <a:endParaRPr lang="en-US" sz="1100" dirty="0"/>
          </a:p>
        </p:txBody>
      </p:sp>
      <p:sp>
        <p:nvSpPr>
          <p:cNvPr id="29" name="Text 26"/>
          <p:cNvSpPr txBox="1"/>
          <p:nvPr/>
        </p:nvSpPr>
        <p:spPr>
          <a:xfrm>
            <a:off x="4526280" y="4297680"/>
            <a:ext cx="310896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 {d}"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30" name="Shape 27"/>
          <p:cNvSpPr/>
          <p:nvPr/>
        </p:nvSpPr>
        <p:spPr>
          <a:xfrm>
            <a:off x="4297680" y="5486400"/>
            <a:ext cx="3566160" cy="594360"/>
          </a:xfrm>
          <a:prstGeom prst="roundRect">
            <a:avLst>
              <a:gd name="adj" fmla="val 18462"/>
            </a:avLst>
          </a:prstGeom>
          <a:solidFill>
            <a:srgbClr val="FFF1D6"/>
          </a:solidFill>
          <a:ln w="12700">
            <a:solidFill>
              <a:srgbClr val="FFF1D6"/>
            </a:solidFill>
            <a:prstDash val="solid"/>
          </a:ln>
        </p:spPr>
      </p:sp>
      <p:sp>
        <p:nvSpPr>
          <p:cNvPr id="31" name="Text 28"/>
          <p:cNvSpPr txBox="1"/>
          <p:nvPr/>
        </p:nvSpPr>
        <p:spPr>
          <a:xfrm>
            <a:off x="4434840" y="5486400"/>
            <a:ext cx="3337560" cy="59436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2 2.5</a:t>
            </a:r>
            <a:pPr indent="0" marL="0">
              <a:buNone/>
            </a:pPr>
            <a:r>
              <a:rPr lang="en-US" sz="1300" dirty="0">
                <a:solidFill>
                  <a:srgbClr val="333B4F"/>
                </a:solidFill>
                <a:latin typeface="Calibri" pitchFamily="34" charset="0"/>
                <a:ea typeface="Calibri" pitchFamily="34" charset="-122"/>
                <a:cs typeface="Calibri" pitchFamily="34" charset="-120"/>
              </a:rPr>
              <a:t>   int /= keeps int; double /= is real</a:t>
            </a:r>
            <a:endParaRPr lang="en-US" sz="1300" dirty="0"/>
          </a:p>
        </p:txBody>
      </p:sp>
      <p:sp>
        <p:nvSpPr>
          <p:cNvPr id="32" name="Shape 29"/>
          <p:cNvSpPr/>
          <p:nvPr/>
        </p:nvSpPr>
        <p:spPr>
          <a:xfrm>
            <a:off x="8046720" y="3886200"/>
            <a:ext cx="3566160" cy="1554480"/>
          </a:xfrm>
          <a:prstGeom prst="roundRect">
            <a:avLst>
              <a:gd name="adj" fmla="val 5882"/>
            </a:avLst>
          </a:prstGeom>
          <a:solidFill>
            <a:srgbClr val="0F1729"/>
          </a:solidFill>
          <a:ln w="12700">
            <a:solidFill>
              <a:srgbClr val="0F1729"/>
            </a:solidFill>
            <a:prstDash val="solid"/>
          </a:ln>
        </p:spPr>
      </p:sp>
      <p:sp>
        <p:nvSpPr>
          <p:cNvPr id="33" name="Text 30"/>
          <p:cNvSpPr txBox="1"/>
          <p:nvPr/>
        </p:nvSpPr>
        <p:spPr>
          <a:xfrm>
            <a:off x="8275320" y="3995928"/>
            <a:ext cx="3108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Snippet F</a:t>
            </a:r>
            <a:endParaRPr lang="en-US" sz="1100" dirty="0"/>
          </a:p>
        </p:txBody>
      </p:sp>
      <p:sp>
        <p:nvSpPr>
          <p:cNvPr id="34" name="Text 31"/>
          <p:cNvSpPr txBox="1"/>
          <p:nvPr/>
        </p:nvSpPr>
        <p:spPr>
          <a:xfrm>
            <a:off x="8275320" y="4297680"/>
            <a:ext cx="3108960" cy="10332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.WriteLine(c);</a:t>
            </a:r>
            <a:endParaRPr lang="en-US" sz="1200" dirty="0"/>
          </a:p>
        </p:txBody>
      </p:sp>
      <p:sp>
        <p:nvSpPr>
          <p:cNvPr id="35" name="Shape 32"/>
          <p:cNvSpPr/>
          <p:nvPr/>
        </p:nvSpPr>
        <p:spPr>
          <a:xfrm>
            <a:off x="8046720" y="5486400"/>
            <a:ext cx="3566160" cy="594360"/>
          </a:xfrm>
          <a:prstGeom prst="roundRect">
            <a:avLst>
              <a:gd name="adj" fmla="val 18462"/>
            </a:avLst>
          </a:prstGeom>
          <a:solidFill>
            <a:srgbClr val="FFF1D6"/>
          </a:solidFill>
          <a:ln w="12700">
            <a:solidFill>
              <a:srgbClr val="FFF1D6"/>
            </a:solidFill>
            <a:prstDash val="solid"/>
          </a:ln>
        </p:spPr>
      </p:sp>
      <p:sp>
        <p:nvSpPr>
          <p:cNvPr id="36" name="Text 33"/>
          <p:cNvSpPr txBox="1"/>
          <p:nvPr/>
        </p:nvSpPr>
        <p:spPr>
          <a:xfrm>
            <a:off x="8183880" y="5486400"/>
            <a:ext cx="3337560" cy="594360"/>
          </a:xfrm>
          <a:prstGeom prst="rect">
            <a:avLst/>
          </a:prstGeom>
          <a:noFill/>
          <a:ln/>
        </p:spPr>
        <p:txBody>
          <a:bodyPr wrap="square" lIns="0" tIns="0" rIns="0" bIns="0" rtlCol="0" anchor="ctr"/>
          <a:lstStyle/>
          <a:p>
            <a:pPr indent="0" marL="0">
              <a:buNone/>
            </a:pPr>
            <a:r>
              <a:rPr lang="en-US" sz="1300" b="1" dirty="0">
                <a:solidFill>
                  <a:srgbClr val="2F6FB3"/>
                </a:solidFill>
                <a:latin typeface="Courier New" pitchFamily="34" charset="0"/>
                <a:ea typeface="Courier New" pitchFamily="34" charset="-122"/>
                <a:cs typeface="Courier New" pitchFamily="34" charset="-120"/>
              </a:rPr>
              <a:t>8</a:t>
            </a:r>
            <a:pPr indent="0" marL="0">
              <a:buNone/>
            </a:pPr>
            <a:r>
              <a:rPr lang="en-US" sz="1300" dirty="0">
                <a:solidFill>
                  <a:srgbClr val="333B4F"/>
                </a:solidFill>
                <a:latin typeface="Calibri" pitchFamily="34" charset="0"/>
                <a:ea typeface="Calibri" pitchFamily="34" charset="-122"/>
                <a:cs typeface="Calibri" pitchFamily="34" charset="-120"/>
              </a:rPr>
              <a:t>   c = c * (3 + 1): right side first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4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4: Relational and Logical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42</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548640"/>
                <a:gridCol w="4846320"/>
                <a:gridCol w="2286000"/>
              </a:tblGrid>
              <a:tr h="47548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Console.WriteLine( … );</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5 &gt; 3 &amp;&amp; 2 &gt; 4</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7 % 2 == 1</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10 / 4 == 2.5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0.1 + 0.2 == 0.3</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true || false &amp;&amp; false</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!true || true</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b != 0 &amp;&amp; 10 / b &gt; 1</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b == 0 || 10 / b &gt; 1</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9052560" y="1737360"/>
            <a:ext cx="1371600" cy="1371600"/>
          </a:xfrm>
          <a:prstGeom prst="ellipse">
            <a:avLst/>
          </a:prstGeom>
          <a:solidFill>
            <a:srgbClr val="FCA311"/>
          </a:solidFill>
          <a:ln w="12700">
            <a:solidFill>
              <a:srgbClr val="FCA311"/>
            </a:solidFill>
            <a:prstDash val="solid"/>
          </a:ln>
        </p:spPr>
      </p:sp>
      <p:pic>
        <p:nvPicPr>
          <p:cNvPr id="9" name="Image 0" descr="preencoded.png">    </p:cNvPr>
          <p:cNvPicPr>
            <a:picLocks noChangeAspect="1"/>
          </p:cNvPicPr>
          <p:nvPr/>
        </p:nvPicPr>
        <p:blipFill>
          <a:blip r:embed="rId1"/>
          <a:stretch>
            <a:fillRect/>
          </a:stretch>
        </p:blipFill>
        <p:spPr>
          <a:xfrm>
            <a:off x="9409176" y="2093976"/>
            <a:ext cx="658368" cy="658368"/>
          </a:xfrm>
          <a:prstGeom prst="rect">
            <a:avLst/>
          </a:prstGeom>
        </p:spPr>
      </p:pic>
      <p:sp>
        <p:nvSpPr>
          <p:cNvPr id="10" name="Text 5"/>
          <p:cNvSpPr txBox="1"/>
          <p:nvPr/>
        </p:nvSpPr>
        <p:spPr>
          <a:xfrm>
            <a:off x="8503920" y="3291840"/>
            <a:ext cx="3154680" cy="1645920"/>
          </a:xfrm>
          <a:prstGeom prst="rect">
            <a:avLst/>
          </a:prstGeom>
          <a:noFill/>
          <a:ln/>
        </p:spPr>
        <p:txBody>
          <a:bodyPr wrap="square" lIns="0" tIns="0" rIns="0" bIns="0" rtlCol="0" anchor="ctr"/>
          <a:lstStyle/>
          <a:p>
            <a:pPr algn="ctr" indent="0" marL="0">
              <a:spcAft>
                <a:spcPts val="600"/>
              </a:spcAft>
              <a:buNone/>
            </a:pPr>
            <a:r>
              <a:rPr lang="en-US" sz="1500" b="1" dirty="0">
                <a:solidFill>
                  <a:srgbClr val="333B4F"/>
                </a:solidFill>
                <a:latin typeface="Calibri" pitchFamily="34" charset="0"/>
                <a:ea typeface="Calibri" pitchFamily="34" charset="-122"/>
                <a:cs typeface="Calibri" pitchFamily="34" charset="-120"/>
              </a:rPr>
              <a:t>Write exactly what is printed.</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bool → True / False</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3.0 prints as 3</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Work in pairs · 5 min</a:t>
            </a:r>
            <a:endParaRPr lang="en-US" sz="1500" dirty="0"/>
          </a:p>
        </p:txBody>
      </p:sp>
      <p:sp>
        <p:nvSpPr>
          <p:cNvPr id="11" name="Shape 6"/>
          <p:cNvSpPr/>
          <p:nvPr/>
        </p:nvSpPr>
        <p:spPr>
          <a:xfrm>
            <a:off x="8503920" y="4983480"/>
            <a:ext cx="3154680" cy="685800"/>
          </a:xfrm>
          <a:prstGeom prst="roundRect">
            <a:avLst>
              <a:gd name="adj" fmla="val 13333"/>
            </a:avLst>
          </a:prstGeom>
          <a:solidFill>
            <a:srgbClr val="0F1729"/>
          </a:solidFill>
          <a:ln w="12700">
            <a:solidFill>
              <a:srgbClr val="0F1729"/>
            </a:solidFill>
            <a:prstDash val="solid"/>
          </a:ln>
        </p:spPr>
      </p:sp>
      <p:sp>
        <p:nvSpPr>
          <p:cNvPr id="12" name="Text 7"/>
          <p:cNvSpPr txBox="1"/>
          <p:nvPr/>
        </p:nvSpPr>
        <p:spPr>
          <a:xfrm>
            <a:off x="8732520" y="5148072"/>
            <a:ext cx="2697480" cy="411480"/>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b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4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4 answers: Relational and Logical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43</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548640"/>
                <a:gridCol w="3977640"/>
                <a:gridCol w="1463040"/>
                <a:gridCol w="5120640"/>
              </a:tblGrid>
              <a:tr h="47548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Expression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5 &gt; 3 &amp;&amp; 2 &gt; 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true &amp;&amp; false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7 % 2 == 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 before ==; 1 == 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10 / 4 == 2.5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10 / 4 is the int 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0.1 + 0.2 == 0.3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sum is 0.30000000000000004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true || false &amp;&amp; 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9E6A"/>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&amp;&amp; first: true || (false &amp;&amp; false)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!true || 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 binds tightest: false || 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b != 0 &amp;&amp; 10 / b &gt; 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left side false → right side skipped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b == 0 || 10 / b &gt; 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ourier New" pitchFamily="34" charset="0"/>
                          <a:ea typeface="Courier New" pitchFamily="34" charset="-122"/>
                          <a:cs typeface="Courier New" pitchFamily="34" charset="-120"/>
                        </a:rPr>
                        <a:t>True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left side true → right side skipped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Text 4"/>
          <p:cNvSpPr txBox="1"/>
          <p:nvPr/>
        </p:nvSpPr>
        <p:spPr>
          <a:xfrm>
            <a:off x="548640" y="5943600"/>
            <a:ext cx="731520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Setup: </a:t>
            </a:r>
            <a:pPr indent="0" marL="0">
              <a:buNone/>
            </a:pPr>
            <a:r>
              <a:rPr lang="en-US" sz="1300" dirty="0">
                <a:solidFill>
                  <a:srgbClr val="5B6478"/>
                </a:solidFill>
                <a:latin typeface="Courier New" pitchFamily="34" charset="0"/>
                <a:ea typeface="Courier New" pitchFamily="34" charset="-122"/>
                <a:cs typeface="Courier New" pitchFamily="34" charset="-120"/>
              </a:rPr>
              <a:t>int b = 0;</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5 · 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5: The Math Class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44</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7680960" cy="914400"/>
        </p:xfrm>
        <a:graphic>
          <a:graphicData uri="http://schemas.openxmlformats.org/drawingml/2006/table">
            <a:tbl>
              <a:tblPr/>
              <a:tblGrid>
                <a:gridCol w="548640"/>
                <a:gridCol w="4846320"/>
                <a:gridCol w="2286000"/>
              </a:tblGrid>
              <a:tr h="47548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Console.WriteLine( … );</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Math.Round(2.5)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Math.Round(3.5)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Math.Round(-2.5)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Math.Floor(-2.5)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Math.Ceiling(-2.5)</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(int)-2.7</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Math.Pow(2, 10)</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600" dirty="0">
                          <a:solidFill>
                            <a:srgbClr val="14213D"/>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600" dirty="0">
                          <a:solidFill>
                            <a:srgbClr val="14213D"/>
                          </a:solidFill>
                          <a:latin typeface="Courier New" pitchFamily="34" charset="0"/>
                          <a:ea typeface="Courier New" pitchFamily="34" charset="-122"/>
                          <a:cs typeface="Courier New" pitchFamily="34" charset="-120"/>
                        </a:rPr>
                        <a:t>Math.Max(3, Math.Min(10, 7))</a:t>
                      </a:r>
                      <a:endParaRPr lang="en-US" sz="16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6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9052560" y="1737360"/>
            <a:ext cx="1371600" cy="1371600"/>
          </a:xfrm>
          <a:prstGeom prst="ellipse">
            <a:avLst/>
          </a:prstGeom>
          <a:solidFill>
            <a:srgbClr val="FCA311"/>
          </a:solidFill>
          <a:ln w="12700">
            <a:solidFill>
              <a:srgbClr val="FCA311"/>
            </a:solidFill>
            <a:prstDash val="solid"/>
          </a:ln>
        </p:spPr>
      </p:sp>
      <p:pic>
        <p:nvPicPr>
          <p:cNvPr id="9" name="Image 0" descr="preencoded.png">    </p:cNvPr>
          <p:cNvPicPr>
            <a:picLocks noChangeAspect="1"/>
          </p:cNvPicPr>
          <p:nvPr/>
        </p:nvPicPr>
        <p:blipFill>
          <a:blip r:embed="rId1"/>
          <a:stretch>
            <a:fillRect/>
          </a:stretch>
        </p:blipFill>
        <p:spPr>
          <a:xfrm>
            <a:off x="9409176" y="2093976"/>
            <a:ext cx="658368" cy="658368"/>
          </a:xfrm>
          <a:prstGeom prst="rect">
            <a:avLst/>
          </a:prstGeom>
        </p:spPr>
      </p:pic>
      <p:sp>
        <p:nvSpPr>
          <p:cNvPr id="10" name="Text 5"/>
          <p:cNvSpPr txBox="1"/>
          <p:nvPr/>
        </p:nvSpPr>
        <p:spPr>
          <a:xfrm>
            <a:off x="8503920" y="3291840"/>
            <a:ext cx="3154680" cy="1645920"/>
          </a:xfrm>
          <a:prstGeom prst="rect">
            <a:avLst/>
          </a:prstGeom>
          <a:noFill/>
          <a:ln/>
        </p:spPr>
        <p:txBody>
          <a:bodyPr wrap="square" lIns="0" tIns="0" rIns="0" bIns="0" rtlCol="0" anchor="ctr"/>
          <a:lstStyle/>
          <a:p>
            <a:pPr algn="ctr" indent="0" marL="0">
              <a:spcAft>
                <a:spcPts val="600"/>
              </a:spcAft>
              <a:buNone/>
            </a:pPr>
            <a:r>
              <a:rPr lang="en-US" sz="1500" b="1" dirty="0">
                <a:solidFill>
                  <a:srgbClr val="333B4F"/>
                </a:solidFill>
                <a:latin typeface="Calibri" pitchFamily="34" charset="0"/>
                <a:ea typeface="Calibri" pitchFamily="34" charset="-122"/>
                <a:cs typeface="Calibri" pitchFamily="34" charset="-120"/>
              </a:rPr>
              <a:t>Write exactly what is printed.</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bool → True / False</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3.0 prints as 3</a:t>
            </a:r>
            <a:endParaRPr lang="en-US" sz="1500" dirty="0"/>
          </a:p>
          <a:p>
            <a:pPr algn="ctr" indent="0" marL="0">
              <a:spcAft>
                <a:spcPts val="600"/>
              </a:spcAft>
              <a:buNone/>
            </a:pPr>
            <a:r>
              <a:rPr lang="en-US" sz="1500" dirty="0">
                <a:solidFill>
                  <a:srgbClr val="333B4F"/>
                </a:solidFill>
                <a:latin typeface="Calibri" pitchFamily="34" charset="0"/>
                <a:ea typeface="Calibri" pitchFamily="34" charset="-122"/>
                <a:cs typeface="Calibri" pitchFamily="34" charset="-120"/>
              </a:rPr>
              <a:t>Work in pairs · 5 min</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QUIZ 5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5 answers: The Math Class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45</a:t>
            </a:r>
            <a:endParaRPr lang="en-US" sz="1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914400"/>
        </p:xfrm>
        <a:graphic>
          <a:graphicData uri="http://schemas.openxmlformats.org/drawingml/2006/table">
            <a:tbl>
              <a:tblPr/>
              <a:tblGrid>
                <a:gridCol w="548640"/>
                <a:gridCol w="3977640"/>
                <a:gridCol w="1463040"/>
                <a:gridCol w="5120640"/>
              </a:tblGrid>
              <a:tr h="47548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Expression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Math.Round(2.5)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banker's rounding: tie → even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Math.Round(3.5)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tie → even neighbour 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Math.Round(-2.5)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tie → even neighbour −2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Math.Floor(-2.5)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Floor goes down (toward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Math.Ceiling(-2.5)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Ceiling goes up (toward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(int)-2.7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 cast truncates toward zero</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Math.Pow(2, 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1024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2¹⁰</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Math.Max(3, Math.Min(10, 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F6FB3"/>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inner first: Min = 7, Max(3, 7) = 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In-class exercises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46</a:t>
            </a:r>
            <a:endParaRPr lang="en-US" sz="1000" dirty="0"/>
          </a:p>
        </p:txBody>
      </p:sp>
      <p:sp>
        <p:nvSpPr>
          <p:cNvPr id="7" name="Shape 4"/>
          <p:cNvSpPr/>
          <p:nvPr/>
        </p:nvSpPr>
        <p:spPr>
          <a:xfrm>
            <a:off x="548640" y="1645920"/>
            <a:ext cx="544068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E1 · Coins</a:t>
            </a:r>
            <a:endParaRPr lang="en-US" sz="1700" dirty="0"/>
          </a:p>
        </p:txBody>
      </p:sp>
      <p:sp>
        <p:nvSpPr>
          <p:cNvPr id="11" name="Text 7"/>
          <p:cNvSpPr txBox="1"/>
          <p:nvPr/>
        </p:nvSpPr>
        <p:spPr>
          <a:xfrm>
            <a:off x="777240" y="2560320"/>
            <a:ext cx="49834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an amount in kuruş (e.g. 385). Print how many 1 TL, 50, 25, 10, 5 and 1 kuruş coins give it (fewest coins). Use / and %.</a:t>
            </a:r>
            <a:endParaRPr lang="en-US" sz="1500" dirty="0"/>
          </a:p>
        </p:txBody>
      </p:sp>
      <p:sp>
        <p:nvSpPr>
          <p:cNvPr id="12" name="Shape 8"/>
          <p:cNvSpPr/>
          <p:nvPr/>
        </p:nvSpPr>
        <p:spPr>
          <a:xfrm>
            <a:off x="6172200" y="1645920"/>
            <a:ext cx="544068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640080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548201" y="2021921"/>
            <a:ext cx="272125" cy="272125"/>
          </a:xfrm>
          <a:prstGeom prst="rect">
            <a:avLst/>
          </a:prstGeom>
        </p:spPr>
      </p:pic>
      <p:sp>
        <p:nvSpPr>
          <p:cNvPr id="15" name="Text 10"/>
          <p:cNvSpPr txBox="1"/>
          <p:nvPr/>
        </p:nvSpPr>
        <p:spPr>
          <a:xfrm>
            <a:off x="708660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E2 · Four digits</a:t>
            </a:r>
            <a:endParaRPr lang="en-US" sz="1700" dirty="0"/>
          </a:p>
        </p:txBody>
      </p:sp>
      <p:sp>
        <p:nvSpPr>
          <p:cNvPr id="16" name="Text 11"/>
          <p:cNvSpPr txBox="1"/>
          <p:nvPr/>
        </p:nvSpPr>
        <p:spPr>
          <a:xfrm>
            <a:off x="6400800" y="2560320"/>
            <a:ext cx="49834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a four-digit number. Print its digits, their sum and the number reversed (e.g. 2026 → 6202).</a:t>
            </a:r>
            <a:endParaRPr lang="en-US" sz="1500" dirty="0"/>
          </a:p>
        </p:txBody>
      </p:sp>
      <p:sp>
        <p:nvSpPr>
          <p:cNvPr id="17" name="Shape 12"/>
          <p:cNvSpPr/>
          <p:nvPr/>
        </p:nvSpPr>
        <p:spPr>
          <a:xfrm>
            <a:off x="548640" y="3886200"/>
            <a:ext cx="544068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E3 · Heron</a:t>
            </a:r>
            <a:endParaRPr lang="en-US" sz="1700" dirty="0"/>
          </a:p>
        </p:txBody>
      </p:sp>
      <p:sp>
        <p:nvSpPr>
          <p:cNvPr id="21" name="Text 15"/>
          <p:cNvSpPr txBox="1"/>
          <p:nvPr/>
        </p:nvSpPr>
        <p:spPr>
          <a:xfrm>
            <a:off x="777240" y="4800600"/>
            <a:ext cx="49834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the sides a, b, c of a triangle. Print s = (a + b + c) / 2 and the area √(s(s−a)(s−b)(s−c)) with 2 decimals.</a:t>
            </a:r>
            <a:endParaRPr lang="en-US" sz="1500" dirty="0"/>
          </a:p>
        </p:txBody>
      </p:sp>
      <p:sp>
        <p:nvSpPr>
          <p:cNvPr id="22" name="Shape 16"/>
          <p:cNvSpPr/>
          <p:nvPr/>
        </p:nvSpPr>
        <p:spPr>
          <a:xfrm>
            <a:off x="6172200" y="3886200"/>
            <a:ext cx="544068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640080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6548201" y="4262201"/>
            <a:ext cx="272125" cy="272125"/>
          </a:xfrm>
          <a:prstGeom prst="rect">
            <a:avLst/>
          </a:prstGeom>
        </p:spPr>
      </p:pic>
      <p:sp>
        <p:nvSpPr>
          <p:cNvPr id="25" name="Text 18"/>
          <p:cNvSpPr txBox="1"/>
          <p:nvPr/>
        </p:nvSpPr>
        <p:spPr>
          <a:xfrm>
            <a:off x="708660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E4 · Checks</a:t>
            </a:r>
            <a:endParaRPr lang="en-US" sz="1700" dirty="0"/>
          </a:p>
        </p:txBody>
      </p:sp>
      <p:sp>
        <p:nvSpPr>
          <p:cNvPr id="26" name="Text 19"/>
          <p:cNvSpPr txBox="1"/>
          <p:nvPr/>
        </p:nvSpPr>
        <p:spPr>
          <a:xfrm>
            <a:off x="6400800" y="4800600"/>
            <a:ext cx="498348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an int x. Print bools: isEven, isPositive, isTwoDigit (10 ≤ |x| ≤ 99), isMultipleOf3Or5.</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Homework (due next week)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4</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47</a:t>
            </a:r>
            <a:endParaRPr lang="en-US" sz="1000" dirty="0"/>
          </a:p>
        </p:txBody>
      </p:sp>
      <p:sp>
        <p:nvSpPr>
          <p:cNvPr id="7" name="Shape 4"/>
          <p:cNvSpPr/>
          <p:nvPr/>
        </p:nvSpPr>
        <p:spPr>
          <a:xfrm>
            <a:off x="548640" y="1600200"/>
            <a:ext cx="11109960" cy="1005840"/>
          </a:xfrm>
          <a:prstGeom prst="roundRect">
            <a:avLst>
              <a:gd name="adj" fmla="val 10909"/>
            </a:avLst>
          </a:prstGeom>
          <a:solidFill>
            <a:srgbClr val="EEF1F6"/>
          </a:solidFill>
          <a:ln w="12700">
            <a:solidFill>
              <a:srgbClr val="EEF1F6"/>
            </a:solidFill>
            <a:prstDash val="solid"/>
          </a:ln>
        </p:spPr>
      </p:sp>
      <p:sp>
        <p:nvSpPr>
          <p:cNvPr id="8" name="Shape 5"/>
          <p:cNvSpPr/>
          <p:nvPr/>
        </p:nvSpPr>
        <p:spPr>
          <a:xfrm>
            <a:off x="685800" y="1783080"/>
            <a:ext cx="822960" cy="640080"/>
          </a:xfrm>
          <a:prstGeom prst="roundRect">
            <a:avLst>
              <a:gd name="adj" fmla="val 11429"/>
            </a:avLst>
          </a:prstGeom>
          <a:solidFill>
            <a:srgbClr val="14213D"/>
          </a:solidFill>
          <a:ln w="12700">
            <a:solidFill>
              <a:srgbClr val="14213D"/>
            </a:solidFill>
            <a:prstDash val="solid"/>
          </a:ln>
        </p:spPr>
      </p:sp>
      <p:sp>
        <p:nvSpPr>
          <p:cNvPr id="9" name="Text 6"/>
          <p:cNvSpPr txBox="1"/>
          <p:nvPr/>
        </p:nvSpPr>
        <p:spPr>
          <a:xfrm>
            <a:off x="685800" y="1783080"/>
            <a:ext cx="822960" cy="64008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H1</a:t>
            </a:r>
            <a:endParaRPr lang="en-US" sz="1800" dirty="0"/>
          </a:p>
        </p:txBody>
      </p:sp>
      <p:sp>
        <p:nvSpPr>
          <p:cNvPr id="10" name="Text 7"/>
          <p:cNvSpPr txBox="1"/>
          <p:nvPr/>
        </p:nvSpPr>
        <p:spPr>
          <a:xfrm>
            <a:off x="1691640" y="1600200"/>
            <a:ext cx="2377440" cy="10058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Kimlik validator</a:t>
            </a:r>
            <a:endParaRPr lang="en-US" sz="1700" dirty="0"/>
          </a:p>
        </p:txBody>
      </p:sp>
      <p:sp>
        <p:nvSpPr>
          <p:cNvPr id="11" name="Text 8"/>
          <p:cNvSpPr txBox="1"/>
          <p:nvPr/>
        </p:nvSpPr>
        <p:spPr>
          <a:xfrm>
            <a:off x="4114800" y="1600200"/>
            <a:ext cx="7406640" cy="10058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Read an 11-digit number as long. Compute d10 and d11 from the first nine digits and print one bool: is the number valid? (Use made-up numbers only.)</a:t>
            </a:r>
            <a:endParaRPr lang="en-US" sz="1400" dirty="0"/>
          </a:p>
        </p:txBody>
      </p:sp>
      <p:sp>
        <p:nvSpPr>
          <p:cNvPr id="12" name="Shape 9"/>
          <p:cNvSpPr/>
          <p:nvPr/>
        </p:nvSpPr>
        <p:spPr>
          <a:xfrm>
            <a:off x="548640" y="2724912"/>
            <a:ext cx="11109960" cy="1005840"/>
          </a:xfrm>
          <a:prstGeom prst="roundRect">
            <a:avLst>
              <a:gd name="adj" fmla="val 10909"/>
            </a:avLst>
          </a:prstGeom>
          <a:solidFill>
            <a:srgbClr val="FFFFFF"/>
          </a:solidFill>
          <a:ln w="12700">
            <a:solidFill>
              <a:srgbClr val="FFFFFF"/>
            </a:solidFill>
            <a:prstDash val="solid"/>
          </a:ln>
        </p:spPr>
      </p:sp>
      <p:sp>
        <p:nvSpPr>
          <p:cNvPr id="13" name="Shape 10"/>
          <p:cNvSpPr/>
          <p:nvPr/>
        </p:nvSpPr>
        <p:spPr>
          <a:xfrm>
            <a:off x="685800" y="2907792"/>
            <a:ext cx="822960" cy="640080"/>
          </a:xfrm>
          <a:prstGeom prst="roundRect">
            <a:avLst>
              <a:gd name="adj" fmla="val 11429"/>
            </a:avLst>
          </a:prstGeom>
          <a:solidFill>
            <a:srgbClr val="14213D"/>
          </a:solidFill>
          <a:ln w="12700">
            <a:solidFill>
              <a:srgbClr val="14213D"/>
            </a:solidFill>
            <a:prstDash val="solid"/>
          </a:ln>
        </p:spPr>
      </p:sp>
      <p:sp>
        <p:nvSpPr>
          <p:cNvPr id="14" name="Text 11"/>
          <p:cNvSpPr txBox="1"/>
          <p:nvPr/>
        </p:nvSpPr>
        <p:spPr>
          <a:xfrm>
            <a:off x="685800" y="2907792"/>
            <a:ext cx="822960" cy="64008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H2</a:t>
            </a:r>
            <a:endParaRPr lang="en-US" sz="1800" dirty="0"/>
          </a:p>
        </p:txBody>
      </p:sp>
      <p:sp>
        <p:nvSpPr>
          <p:cNvPr id="15" name="Text 12"/>
          <p:cNvSpPr txBox="1"/>
          <p:nvPr/>
        </p:nvSpPr>
        <p:spPr>
          <a:xfrm>
            <a:off x="1691640" y="2724912"/>
            <a:ext cx="2377440" cy="10058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Time difference</a:t>
            </a:r>
            <a:endParaRPr lang="en-US" sz="1700" dirty="0"/>
          </a:p>
        </p:txBody>
      </p:sp>
      <p:sp>
        <p:nvSpPr>
          <p:cNvPr id="16" name="Text 13"/>
          <p:cNvSpPr txBox="1"/>
          <p:nvPr/>
        </p:nvSpPr>
        <p:spPr>
          <a:xfrm>
            <a:off x="4114800" y="2724912"/>
            <a:ext cx="7406640" cy="10058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Read two clock times (hh mm, hh mm). Print the minutes from the first to the second, wrapping past midnight (22:30 → 01:15 = 165).</a:t>
            </a:r>
            <a:endParaRPr lang="en-US" sz="1400" dirty="0"/>
          </a:p>
        </p:txBody>
      </p:sp>
      <p:sp>
        <p:nvSpPr>
          <p:cNvPr id="17" name="Shape 14"/>
          <p:cNvSpPr/>
          <p:nvPr/>
        </p:nvSpPr>
        <p:spPr>
          <a:xfrm>
            <a:off x="548640" y="3849624"/>
            <a:ext cx="11109960" cy="1005840"/>
          </a:xfrm>
          <a:prstGeom prst="roundRect">
            <a:avLst>
              <a:gd name="adj" fmla="val 10909"/>
            </a:avLst>
          </a:prstGeom>
          <a:solidFill>
            <a:srgbClr val="EEF1F6"/>
          </a:solidFill>
          <a:ln w="12700">
            <a:solidFill>
              <a:srgbClr val="EEF1F6"/>
            </a:solidFill>
            <a:prstDash val="solid"/>
          </a:ln>
        </p:spPr>
      </p:sp>
      <p:sp>
        <p:nvSpPr>
          <p:cNvPr id="18" name="Shape 15"/>
          <p:cNvSpPr/>
          <p:nvPr/>
        </p:nvSpPr>
        <p:spPr>
          <a:xfrm>
            <a:off x="685800" y="4032504"/>
            <a:ext cx="822960" cy="640080"/>
          </a:xfrm>
          <a:prstGeom prst="roundRect">
            <a:avLst>
              <a:gd name="adj" fmla="val 11429"/>
            </a:avLst>
          </a:prstGeom>
          <a:solidFill>
            <a:srgbClr val="14213D"/>
          </a:solidFill>
          <a:ln w="12700">
            <a:solidFill>
              <a:srgbClr val="14213D"/>
            </a:solidFill>
            <a:prstDash val="solid"/>
          </a:ln>
        </p:spPr>
      </p:sp>
      <p:sp>
        <p:nvSpPr>
          <p:cNvPr id="19" name="Text 16"/>
          <p:cNvSpPr txBox="1"/>
          <p:nvPr/>
        </p:nvSpPr>
        <p:spPr>
          <a:xfrm>
            <a:off x="685800" y="4032504"/>
            <a:ext cx="822960" cy="64008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H3</a:t>
            </a:r>
            <a:endParaRPr lang="en-US" sz="1800" dirty="0"/>
          </a:p>
        </p:txBody>
      </p:sp>
      <p:sp>
        <p:nvSpPr>
          <p:cNvPr id="20" name="Text 17"/>
          <p:cNvSpPr txBox="1"/>
          <p:nvPr/>
        </p:nvSpPr>
        <p:spPr>
          <a:xfrm>
            <a:off x="1691640" y="3849624"/>
            <a:ext cx="2377440" cy="10058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Loan payment</a:t>
            </a:r>
            <a:endParaRPr lang="en-US" sz="1700" dirty="0"/>
          </a:p>
        </p:txBody>
      </p:sp>
      <p:sp>
        <p:nvSpPr>
          <p:cNvPr id="21" name="Text 18"/>
          <p:cNvSpPr txBox="1"/>
          <p:nvPr/>
        </p:nvSpPr>
        <p:spPr>
          <a:xfrm>
            <a:off x="4114800" y="3849624"/>
            <a:ext cx="7406640" cy="10058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Monthly payment M = P·i(1+i)ⁿ / ((1+i)ⁿ − 1), i = annual rate / 12, n = months. Print M and the total paid.</a:t>
            </a:r>
            <a:endParaRPr lang="en-US" sz="1400" dirty="0"/>
          </a:p>
        </p:txBody>
      </p:sp>
      <p:sp>
        <p:nvSpPr>
          <p:cNvPr id="22" name="Shape 19"/>
          <p:cNvSpPr/>
          <p:nvPr/>
        </p:nvSpPr>
        <p:spPr>
          <a:xfrm>
            <a:off x="548640" y="4974336"/>
            <a:ext cx="11109960" cy="1005840"/>
          </a:xfrm>
          <a:prstGeom prst="roundRect">
            <a:avLst>
              <a:gd name="adj" fmla="val 10909"/>
            </a:avLst>
          </a:prstGeom>
          <a:solidFill>
            <a:srgbClr val="FFFFFF"/>
          </a:solidFill>
          <a:ln w="12700">
            <a:solidFill>
              <a:srgbClr val="FFFFFF"/>
            </a:solidFill>
            <a:prstDash val="solid"/>
          </a:ln>
        </p:spPr>
      </p:sp>
      <p:sp>
        <p:nvSpPr>
          <p:cNvPr id="23" name="Shape 20"/>
          <p:cNvSpPr/>
          <p:nvPr/>
        </p:nvSpPr>
        <p:spPr>
          <a:xfrm>
            <a:off x="685800" y="5157216"/>
            <a:ext cx="822960" cy="640080"/>
          </a:xfrm>
          <a:prstGeom prst="roundRect">
            <a:avLst>
              <a:gd name="adj" fmla="val 11429"/>
            </a:avLst>
          </a:prstGeom>
          <a:solidFill>
            <a:srgbClr val="14213D"/>
          </a:solidFill>
          <a:ln w="12700">
            <a:solidFill>
              <a:srgbClr val="14213D"/>
            </a:solidFill>
            <a:prstDash val="solid"/>
          </a:ln>
        </p:spPr>
      </p:sp>
      <p:sp>
        <p:nvSpPr>
          <p:cNvPr id="24" name="Text 21"/>
          <p:cNvSpPr txBox="1"/>
          <p:nvPr/>
        </p:nvSpPr>
        <p:spPr>
          <a:xfrm>
            <a:off x="685800" y="5157216"/>
            <a:ext cx="822960" cy="640080"/>
          </a:xfrm>
          <a:prstGeom prst="rect">
            <a:avLst/>
          </a:prstGeom>
          <a:noFill/>
          <a:ln/>
        </p:spPr>
        <p:txBody>
          <a:bodyPr wrap="square" lIns="0" tIns="0" rIns="0" bIns="0" rtlCol="0" anchor="ctr"/>
          <a:lstStyle/>
          <a:p>
            <a:pPr algn="ctr" indent="0" marL="0">
              <a:buNone/>
            </a:pPr>
            <a:r>
              <a:rPr lang="en-US" sz="1800" b="1" dirty="0">
                <a:solidFill>
                  <a:srgbClr val="FCA311"/>
                </a:solidFill>
                <a:latin typeface="Courier New" pitchFamily="34" charset="0"/>
                <a:ea typeface="Courier New" pitchFamily="34" charset="-122"/>
                <a:cs typeface="Courier New" pitchFamily="34" charset="-120"/>
              </a:rPr>
              <a:t>H4</a:t>
            </a:r>
            <a:endParaRPr lang="en-US" sz="1800" dirty="0"/>
          </a:p>
        </p:txBody>
      </p:sp>
      <p:sp>
        <p:nvSpPr>
          <p:cNvPr id="25" name="Text 22"/>
          <p:cNvSpPr txBox="1"/>
          <p:nvPr/>
        </p:nvSpPr>
        <p:spPr>
          <a:xfrm>
            <a:off x="1691640" y="4974336"/>
            <a:ext cx="2377440" cy="100584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Predict sheet</a:t>
            </a:r>
            <a:endParaRPr lang="en-US" sz="1700" dirty="0"/>
          </a:p>
        </p:txBody>
      </p:sp>
      <p:sp>
        <p:nvSpPr>
          <p:cNvPr id="26" name="Text 23"/>
          <p:cNvSpPr txBox="1"/>
          <p:nvPr/>
        </p:nvSpPr>
        <p:spPr>
          <a:xfrm>
            <a:off x="4114800" y="4974336"/>
            <a:ext cx="7406640" cy="100584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Solve the 12 predict-the-output items in the notes on paper first, then check them by running C#.</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int / int is integer division; make one operand double for a real result.</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gives the remainder; its sign follows the dividend. Safe modulo: ((x % m) + m) % m.</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Precedence: unary → * / % → + - → relational → == != → &amp;&amp; → || → ?: → =. Use parentheses.</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 gives the old value, ++i the new one; x op= y means x = x op (y).</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Math: Pow/Sqrt return double; Round uses banker's rounding by default.</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Relational → bool; never == on doubles; &amp;&amp; || short-circuit; 0 &lt;= x &lt;= 100 is an error.</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Decisions: if-else, else-if and switch</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4</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4 – Arithmetic, Logical and Relational Operators</dc:title>
  <dc:subject>PptxGenJS Presentation</dc:subject>
  <dc:creator>MCMP113</dc:creator>
  <cp:lastModifiedBy>MCMP113</cp:lastModifiedBy>
  <cp:revision>1</cp:revision>
  <dcterms:created xsi:type="dcterms:W3CDTF">2026-10-25T12:59:46Z</dcterms:created>
  <dcterms:modified xsi:type="dcterms:W3CDTF">2026-10-25T12:59:46Z</dcterms:modified>
</cp:coreProperties>
</file>