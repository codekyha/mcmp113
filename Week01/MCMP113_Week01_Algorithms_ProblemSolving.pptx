
<file path=[Content_Types].xml><?xml version="1.0" encoding="utf-8"?>
<Types xmlns="http://schemas.openxmlformats.org/package/2006/content-types"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</p:sldIdLst>
  <p:notesMasterIdLst>
    <p:notesMasterId r:id="rId3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notesMaster" Target="notesMasters/notesMaster1.xml"/><Relationship Id="rId37" Type="http://schemas.openxmlformats.org/officeDocument/2006/relationships/presProps" Target="presProps.xml"/><Relationship Id="rId38" Type="http://schemas.openxmlformats.org/officeDocument/2006/relationships/viewProps" Target="viewProps.xml"/><Relationship Id="rId39" Type="http://schemas.openxmlformats.org/officeDocument/2006/relationships/theme" Target="theme/theme1.xml"/><Relationship Id="rId40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Welcome. Introduce yourself briefly, then the course code MCMP113. Week 1 is entirely conceptual: no coding yet. The terminal on the right previews the whole semester in five lines: problem -&gt; algorithm -&gt; program -&gt; run.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Ask everyone to scan the QR now, while you are still on this slide. All slides, sample codes and homework announcements will go through the Telegram group. E-mail subject line convention suggestion: "MCMP113 - &lt;Name Surname&gt; - &lt;topic&gt;".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Main language: C#. Main application type: console applications. Emphasise that the first two outcomes are language-independent and are what actually makes someone a programmer; C# is the vehicle.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Weeks 1-2 are pen-and-paper: algorithms and flowcharts. From week 3 onward we write C# console applications every week. Week 14 includes basic file I/O (File.ReadAllLines / WriteAllText) as a bridge to real applications.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Grading: Midterm 40%, Final 60%. Tooling: .NET 10 is the current LTS (supported to Nov 2028); .NET 8 LTS support ends Nov 2026, so do not install 8. The C# Dev Kit extension replaces the older OmniSharp-only "C#" setup. Verification: `dotnet --version` should print 10.0.x. Lab PCs: check with IT that the SDK is installed before week 3.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Keep hardware brief: this course is about the PROCESS box. Ask: what are input, process and output for a calculator? For an ATM? For Google Maps? The CPU can only do four families of operations: arithmetic, logic/comparison, data movement, and jumps (control). Everything else - including an entire video game - is built from those.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~1e9 is an order-of-magnitude figure for a modern core (clock in GHz, often several instructions per cycle). The point: speed is never our problem in this course; precision is. Transition: let us see what happens when a human executes instructions literally.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B8 05 00 00 00 = mov eax, 5 ; 83 C0 03 = add eax, 3 (32-bit x86 encoding). C# is compiled by the Roslyn compiler into Intermediate Language (IL) stored in a .dll; at run time the CLR JIT-compiles IL to native code for the actual CPU (x64, ARM64 ...). This is why the same .dll runs on Windows, Linux and macOS. Languages are covered properly in week 3; today the only message is: the algorithm is the part the tools cannot do for you.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Click the video to play (embedded, ~5.5 min). Before playing, hand out the questions on the right. The father executes every instruction literally, exactly like a CPU. After the video, collect answers on the board and map them to the properties on the next slide: ambiguity -&gt; definiteness; missing step -&gt; correctness/completeness; never-ending -&gt; finiteness; "get the bread" without saying which bag -&gt; input specification. The kids' rewrite loop (write - test - fail - fix) is exactly the debug cycle.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Stress the four highlighted words; the next slide formalises them. Etymology note is also a good cultural hook for our students. Algorithm vs program: a recipe vs. the actual cooked dish in a particular kitchen.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Connect to the students' programme where possible: ECT / electronics students meet checksums, CRC and modulation daily; the "Communication" card is their field. Typical student answers to the question: route to school, making breakfast, unlocking the phone (pattern/PIN check), choosing clothes from the weather forecast (selection!).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D. E. Knuth, The Art of Computer Programming, Vol. 1, Sec. 1.1. The red column shows counter-examples in kitchen language, linking back to the video. Add a sixth, practical property for our purposes: CORRECTNESS - it must produce the right output for EVERY valid input, including edge cases.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Let students vote by raising hands for each item; ask one "no" voter to name the failing property. Answers on the next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Item 3: Euclid proved there are infinitely many primes, so "find the largest" has no finite answer. Item 1 is the most famous non-terminating loop joke among programmers; in C# it is exactly `while (true) { ... }` without a break. Item 5 can be discussed further: the dictionary method is a human version of binary / interpolation search.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Compare with a vague version: "boil water, add tea, serve". Ask students to find what the vague version leaves undefined (amounts, end condition, strength choice). Then point out the three colours: every algorithm ever written is built from these three structures - next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Structured program theorem (Böhm &amp; Jacopini, 1966): any computable procedure can be expressed with sequence, selection and iteration only. This is why the syllabus is ordered the way it is. The arrow "←" means assignment in pseudocode ("store the value on the right into the name on the left").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All four describe exactly one algorithm. Pseudocode and flowcharts are the two formal "paper" notations of this course; exams may ask you to convert between any two of them. The flowchart symbols (oval = start/end, parallelogram = input/output, rectangle = process, diamond = decision) are the topic of week 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are the conventions used in all slides, homework and exams. Many textbooks use "=" or ":=" for assignment; we use the arrow to avoid confusion with mathematical equality. In mathematics x = x + 1 has no solution; in programming x ← x + 1 is the most common statement there is.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Inspired by Pólya, How to Solve It (1945): understand, plan, carry out, look back. The highlighted step (Design) is what weeks 1-2 train. Rule of thumb for students: no coding before you can explain the algorithm in your own words.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IPO table is the first deliverable of the analysis step. The edge-case questions are the part students skip; each one changes the algorithm (e.g. 72.5 means we need a decimal type - week 3 - and range checks need selection - week 5). Real-world note: the actual Okan grading uses weighted averages (midterm 40 / final 60), which is a nice follow-up variant.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Common bug to anticipate: writing g1 + g2 + g3 / 3 without parentheses. Operator precedence (week 4) makes that g1 + g2 + (g3/3). Ask the class to compute it for 60, 70, 80: correct average 70, buggy version 156.67. Next week we draw the same algorithm as a flowchart.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Boundary tests (exactly 50, 0, 100) catch the most bugs, e.g. writing avg &gt; 50 instead of avg &gt;= 50. The two red rows expose missing requirements: our algorithm has no range check. Fixing it needs selection (week 5) and input validation with int.TryParse / double.TryParse (week 5 as well). 149/3 = 49.666... displays as 49.67 with two decimals.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Trace (desk-check) table: one column per variable, one row per loop pass. Students will use this in the exams. Checks: termination (i eventually exceeds N), edge cases: N = 0 -&gt; loop body never runs, sum = 0 (correct); N negative -&gt; also 0 (is that what we want?). The Gauss formula is a first taste of algorithm efficiency: O(N) vs O(1). Formally: sum_{i=1}^{N} i = N(N+1)/2.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Play it live first: think of a number 1..1000 and let the class guess with strategy of their choice, then demonstrate strategy B. Worst-case guesses for B are ceil(log2(N + 1)): 7, 10, 20, 30. Algorithm A is linear, O(N); B is logarithmic, O(log N). This is binary search, implemented on arrays in week 10. The in-class exercise E is exactly this game.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Finiteness argument: 0 &lt;= r &lt; b, so b strictly decreases and must reach 0. Ask: what if the user enters b &gt; a, e.g. (18, 48)? First pass: r = 18, a = 48, b = 18 - it swaps itself. What about a = 0 or negative numbers? Good discussion of input specification. Speculative aside for curious students: this exact loop will be about 8 lines of C# in week 7.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12345678950 is a synthetic number that merely passes the check; it is not a real person's ID. Why a single wrong digit is always caught: changing one digit among d1..d10 changes their sum by a non-zero amount between -9 and +9, so the sum mod 10 no longer equals d11. Week 4 teaser: 7*odd - even can be negative (e.g. odd = 1, even = 36), and in C# the % operator then returns a negative remainder, so the C# version needs ((x % 10) + 10) % 10. Good bonus homework: trace the algorithm on your own ID number privately (do not share it).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Each row corresponds to a violated property: definiteness, finiteness, correctness (edge case), sequence, input specification. Division by zero is the classic crash - in C#, integer division by zero throws DivideByZeroException, while double division gives Infinity or NaN (week 4 teaser).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Uses C# top-level statements (no class Program / static void Main boilerplate) which is the default `dotnet new console` template since .NET 6. With .NET 10 a single file can even be run directly: `dotnet run average.cs` (file-based apps), handy for quick lab exercises. Culture note for later: on Turkish-locale PCs double.Parse expects a comma decimal separator (72,5); address this in week 3.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Assign two exercises per group (e.g. A+D, B+E, C+F) so every structure is covered. Swap papers between groups and have the other group "execute literally" like the father in the video - they must find one ambiguity. Hint for A: "even" means n mod 2 = 0. B test cases: 2024 (leap), 1900 (not), 2000 (leap). Hint for E: needs both repetition and selection.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 key for GCD(84, 36): 84 mod 36 = 12; 36 mod 12 = 0 -&gt; GCD = 12. Setup problems are best solved in week 2 office hours rather than in week 3 lab time.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by asking each student to write one sentence: "An algorithm is ..." on a sticky note or in the Telegram group (quick exit ticket). Next week the same examples (average, sum 1..N, GCD) become flowcharts, so keep today's pages.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video" Target="../media/media-11-1.mp4"/><Relationship Id="rId2" Type="http://schemas.microsoft.com/office/2007/relationships/media" Target="../media/media-11-1.mp4"/><Relationship Id="rId3" Type="http://schemas.openxmlformats.org/officeDocument/2006/relationships/image" Target="../media/image-1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image" Target="../media/image-13-5.png"/><Relationship Id="rId6" Type="http://schemas.openxmlformats.org/officeDocument/2006/relationships/image" Target="../media/image-13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image" Target="../media/image-1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image" Target="../media/image-15-4.png"/><Relationship Id="rId5" Type="http://schemas.openxmlformats.org/officeDocument/2006/relationships/image" Target="../media/image-15-5.png"/><Relationship Id="rId6" Type="http://schemas.openxmlformats.org/officeDocument/2006/relationships/image" Target="../media/image-15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image" Target="../media/image-16-4.png"/><Relationship Id="rId5" Type="http://schemas.openxmlformats.org/officeDocument/2006/relationships/image" Target="../media/image-16-5.png"/><Relationship Id="rId6" Type="http://schemas.openxmlformats.org/officeDocument/2006/relationships/image" Target="../media/image-16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image" Target="../media/image-1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image" Target="../media/image-22-2.png"/><Relationship Id="rId3" Type="http://schemas.openxmlformats.org/officeDocument/2006/relationships/image" Target="../media/image-22-3.png"/><Relationship Id="rId4" Type="http://schemas.openxmlformats.org/officeDocument/2006/relationships/image" Target="../media/image-22-4.png"/><Relationship Id="rId5" Type="http://schemas.openxmlformats.org/officeDocument/2006/relationships/image" Target="../media/image-22-5.png"/><Relationship Id="rId6" Type="http://schemas.openxmlformats.org/officeDocument/2006/relationships/image" Target="../media/image-22-6.png"/><Relationship Id="rId7" Type="http://schemas.openxmlformats.org/officeDocument/2006/relationships/image" Target="../media/image-22-7.png"/><Relationship Id="rId8" Type="http://schemas.openxmlformats.org/officeDocument/2006/relationships/image" Target="../media/image-22-8.png"/><Relationship Id="rId9" Type="http://schemas.openxmlformats.org/officeDocument/2006/relationships/image" Target="../media/image-22-9.png"/><Relationship Id="rId10" Type="http://schemas.openxmlformats.org/officeDocument/2006/relationships/image" Target="../media/image-22-10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image" Target="../media/image-23-2.png"/><Relationship Id="rId3" Type="http://schemas.openxmlformats.org/officeDocument/2006/relationships/image" Target="../media/image-23-3.png"/><Relationship Id="rId4" Type="http://schemas.openxmlformats.org/officeDocument/2006/relationships/image" Target="../media/image-2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image" Target="../media/image-33-1.png"/><Relationship Id="rId2" Type="http://schemas.openxmlformats.org/officeDocument/2006/relationships/image" Target="../media/image-3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image" Target="../media/image-3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486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CA3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&gt;_ MCMP113</a:t>
            </a:r>
            <a:endParaRPr lang="en-US" sz="2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43000"/>
            <a:ext cx="74980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Introduction to Basic Algorithms and Programming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880360"/>
            <a:ext cx="7498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C7CE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  —  Course Introduction · What Is an Algorithm? · Problem-Solving Steps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4754880"/>
            <a:ext cx="7315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Asst. Prof. Hasan Oğuz, PhD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rgbClr val="C7CE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Istanbul Okan University  ·  Vocational School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rgbClr val="C7CE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2026–2027 Fall Semester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8412480" y="1188720"/>
            <a:ext cx="3246120" cy="3931920"/>
          </a:xfrm>
          <a:prstGeom prst="roundRect">
            <a:avLst>
              <a:gd name="adj" fmla="val 3380"/>
            </a:avLst>
          </a:prstGeom>
          <a:solidFill>
            <a:srgbClr val="0F1729"/>
          </a:solidFill>
          <a:ln w="12700">
            <a:solidFill>
              <a:srgbClr val="2A3654"/>
            </a:solidFill>
            <a:prstDash val="solid"/>
          </a:ln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8641080" y="1371600"/>
            <a:ext cx="146304" cy="146304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8915400" y="1371600"/>
            <a:ext cx="146304" cy="146304"/>
          </a:xfrm>
          <a:prstGeom prst="ellipse">
            <a:avLst/>
          </a:prstGeom>
          <a:solidFill>
            <a:srgbClr val="FEBC2E"/>
          </a:solidFill>
          <a:ln w="12700">
            <a:solidFill>
              <a:srgbClr val="FEBC2E"/>
            </a:solidFill>
            <a:prstDash val="solid"/>
          </a:ln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>
            <a:off x="9189720" y="1371600"/>
            <a:ext cx="146304" cy="146304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 txBox="1"/>
          <p:nvPr/>
        </p:nvSpPr>
        <p:spPr>
          <a:xfrm>
            <a:off x="8686800" y="1737360"/>
            <a:ext cx="283464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FCA3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</a:t>
            </a:r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problem</a:t>
            </a:r>
            <a:endParaRPr lang="en-US" sz="16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FCA3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</a:t>
            </a:r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algorithm</a:t>
            </a:r>
            <a:endParaRPr lang="en-US" sz="16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FCA3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</a:t>
            </a:r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program</a:t>
            </a:r>
            <a:endParaRPr lang="en-US" sz="16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FCA3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</a:t>
            </a:r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dotnet run</a:t>
            </a:r>
            <a:endParaRPr lang="en-US" sz="16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6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7EE2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Hello, World!</a:t>
            </a:r>
            <a:endParaRPr lang="en-US" sz="16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FCA3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_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CA3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&gt;_ </a:t>
            </a:r>
            <a:pPr indent="0" marL="0">
              <a:buNone/>
            </a:pPr>
            <a:r>
              <a:rPr lang="en-US" sz="1300" dirty="0">
                <a:solidFill>
                  <a:srgbClr val="5B64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GETTING IN TOUCH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Your Instructor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640080" cy="640080"/>
          </a:xfrm>
          <a:prstGeom prst="ellipse">
            <a:avLst/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  <p:txBody>
          <a:bodyPr/>
          <a:p/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5061" y="1858061"/>
            <a:ext cx="307238" cy="307238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417320" y="17099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INSTRUCTOR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1417320" y="1965960"/>
            <a:ext cx="6217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Asst. Prof. Hasan Oğuz, PhD</a:t>
            </a:r>
            <a:endParaRPr lang="en-US" sz="1900" dirty="0"/>
          </a:p>
        </p:txBody>
      </p:sp>
      <p:sp>
        <p:nvSpPr>
          <p:cNvPr id="8" name="Shape 5"/>
          <p:cNvSpPr/>
          <p:nvPr/>
        </p:nvSpPr>
        <p:spPr>
          <a:xfrm>
            <a:off x="548640" y="2560320"/>
            <a:ext cx="640080" cy="640080"/>
          </a:xfrm>
          <a:prstGeom prst="ellipse">
            <a:avLst/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  <p:txBody>
          <a:bodyPr/>
          <a:p/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5061" y="2726741"/>
            <a:ext cx="307238" cy="307238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417320" y="257860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OFFICE</a:t>
            </a:r>
            <a:endParaRPr lang="en-US" sz="1200" dirty="0"/>
          </a:p>
        </p:txBody>
      </p:sp>
      <p:sp>
        <p:nvSpPr>
          <p:cNvPr id="11" name="Text 7"/>
          <p:cNvSpPr txBox="1"/>
          <p:nvPr/>
        </p:nvSpPr>
        <p:spPr>
          <a:xfrm>
            <a:off x="1417320" y="2834640"/>
            <a:ext cx="6217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endParaRPr lang="en-US" sz="1900" dirty="0"/>
          </a:p>
        </p:txBody>
      </p:sp>
      <p:sp>
        <p:nvSpPr>
          <p:cNvPr id="12" name="Shape 8"/>
          <p:cNvSpPr/>
          <p:nvPr/>
        </p:nvSpPr>
        <p:spPr>
          <a:xfrm>
            <a:off x="548640" y="3429000"/>
            <a:ext cx="640080" cy="640080"/>
          </a:xfrm>
          <a:prstGeom prst="ellipse">
            <a:avLst/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  <p:txBody>
          <a:bodyPr/>
          <a:p/>
        </p:txBody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5061" y="3595421"/>
            <a:ext cx="307238" cy="307238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1417320" y="344728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E-MAIL</a:t>
            </a:r>
            <a:endParaRPr lang="en-US" sz="1200" dirty="0"/>
          </a:p>
        </p:txBody>
      </p:sp>
      <p:sp>
        <p:nvSpPr>
          <p:cNvPr id="15" name="Text 10"/>
          <p:cNvSpPr txBox="1"/>
          <p:nvPr/>
        </p:nvSpPr>
        <p:spPr>
          <a:xfrm>
            <a:off x="1417320" y="3703320"/>
            <a:ext cx="6217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endParaRPr lang="en-US" sz="1900" dirty="0"/>
          </a:p>
        </p:txBody>
      </p:sp>
      <p:sp>
        <p:nvSpPr>
          <p:cNvPr id="16" name="Shape 11"/>
          <p:cNvSpPr/>
          <p:nvPr/>
        </p:nvSpPr>
        <p:spPr>
          <a:xfrm>
            <a:off x="548640" y="4297680"/>
            <a:ext cx="640080" cy="640080"/>
          </a:xfrm>
          <a:prstGeom prst="ellipse">
            <a:avLst/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  <p:txBody>
          <a:bodyPr/>
          <a:p/>
        </p:txBody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5061" y="4464101"/>
            <a:ext cx="307238" cy="307238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1417320" y="431596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OFFICE HOURS</a:t>
            </a:r>
            <a:endParaRPr lang="en-US" sz="1200" dirty="0"/>
          </a:p>
        </p:txBody>
      </p:sp>
      <p:sp>
        <p:nvSpPr>
          <p:cNvPr id="19" name="Text 13"/>
          <p:cNvSpPr txBox="1"/>
          <p:nvPr/>
        </p:nvSpPr>
        <p:spPr>
          <a:xfrm>
            <a:off x="1417320" y="4572000"/>
            <a:ext cx="6217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Announced on Telegram · or by appointment via e-mail</a:t>
            </a:r>
            <a:endParaRPr lang="en-US" sz="1900" dirty="0"/>
          </a:p>
        </p:txBody>
      </p:sp>
      <p:sp>
        <p:nvSpPr>
          <p:cNvPr id="20" name="Shape 14"/>
          <p:cNvSpPr/>
          <p:nvPr/>
        </p:nvSpPr>
        <p:spPr>
          <a:xfrm>
            <a:off x="548640" y="5166360"/>
            <a:ext cx="640080" cy="640080"/>
          </a:xfrm>
          <a:prstGeom prst="ellipse">
            <a:avLst/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  <p:txBody>
          <a:bodyPr/>
          <a:p/>
        </p:txBody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5061" y="5332781"/>
            <a:ext cx="307238" cy="307238"/>
          </a:xfrm>
          <a:prstGeom prst="rect">
            <a:avLst/>
          </a:prstGeom>
        </p:spPr>
      </p:pic>
      <p:sp>
        <p:nvSpPr>
          <p:cNvPr id="22" name="Text 15"/>
          <p:cNvSpPr txBox="1"/>
          <p:nvPr/>
        </p:nvSpPr>
        <p:spPr>
          <a:xfrm>
            <a:off x="1417320" y="518464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 GROUP</a:t>
            </a:r>
            <a:endParaRPr lang="en-US" sz="1200" dirty="0"/>
          </a:p>
        </p:txBody>
      </p:sp>
      <p:sp>
        <p:nvSpPr>
          <p:cNvPr id="23" name="Text 16"/>
          <p:cNvSpPr txBox="1"/>
          <p:nvPr/>
        </p:nvSpPr>
        <p:spPr>
          <a:xfrm>
            <a:off x="1417320" y="5440680"/>
            <a:ext cx="6217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 the QR code → join the MCMP113 Telegram group</a:t>
            </a:r>
            <a:endParaRPr lang="en-US" sz="1900" dirty="0"/>
          </a:p>
        </p:txBody>
      </p:sp>
      <p:sp>
        <p:nvSpPr>
          <p:cNvPr id="24" name="Shape 17"/>
          <p:cNvSpPr/>
          <p:nvPr/>
        </p:nvSpPr>
        <p:spPr>
          <a:xfrm>
            <a:off x="8092440" y="1600200"/>
            <a:ext cx="3566160" cy="4343400"/>
          </a:xfrm>
          <a:prstGeom prst="roundRect">
            <a:avLst>
              <a:gd name="adj" fmla="val 3077"/>
            </a:avLst>
          </a:prstGeom>
          <a:solidFill>
            <a:srgbClr val="EEF1F6"/>
          </a:solidFill>
          <a:ln w="12700">
            <a:solidFill>
              <a:srgbClr val="EEF1F6"/>
            </a:solidFill>
            <a:prstDash val="solid"/>
          </a:ln>
        </p:spPr>
        <p:txBody>
          <a:bodyPr/>
          <a:p/>
        </p:txBody>
      </p:sp>
      <p:sp>
        <p:nvSpPr>
          <p:cNvPr id="26" name="Text 18"/>
          <p:cNvSpPr txBox="1"/>
          <p:nvPr/>
        </p:nvSpPr>
        <p:spPr>
          <a:xfrm>
            <a:off x="8229600" y="484632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 the Telegram group today</a:t>
            </a:r>
            <a:endParaRPr lang="en-US" sz="1600" dirty="0"/>
          </a:p>
        </p:txBody>
      </p:sp>
      <p:sp>
        <p:nvSpPr>
          <p:cNvPr id="27" name="Text 19"/>
          <p:cNvSpPr txBox="1"/>
          <p:nvPr/>
        </p:nvSpPr>
        <p:spPr>
          <a:xfrm>
            <a:off x="8229600" y="5230368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Announcements · slides · sample codes · homework</a:t>
            </a:r>
            <a:endParaRPr lang="en-US" sz="1200" dirty="0"/>
          </a:p>
        </p:txBody>
      </p:sp>
      <p:sp>
        <p:nvSpPr>
          <p:cNvPr id="29" name="Text 20"/>
          <p:cNvSpPr txBox="1"/>
          <p:nvPr/>
        </p:nvSpPr>
        <p:spPr>
          <a:xfrm>
            <a:off x="54864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MCMP113  ·  Week 1</a:t>
            </a:r>
            <a:endParaRPr lang="en-US" sz="1000" dirty="0"/>
          </a:p>
        </p:txBody>
      </p:sp>
      <p:sp>
        <p:nvSpPr>
          <p:cNvPr id="30" name="Text 21"/>
          <p:cNvSpPr txBox="1"/>
          <p:nvPr/>
        </p:nvSpPr>
        <p:spPr>
          <a:xfrm>
            <a:off x="1118585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CA3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&gt;_ </a:t>
            </a:r>
            <a:pPr indent="0" marL="0">
              <a:buNone/>
            </a:pPr>
            <a:r>
              <a:rPr lang="en-US" sz="1300" dirty="0">
                <a:solidFill>
                  <a:srgbClr val="5B64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COURSE AT A GLANCE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You Will Be Able to Do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630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the end of the semester you will be able to …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2011680"/>
            <a:ext cx="3520440" cy="1874520"/>
          </a:xfrm>
          <a:prstGeom prst="roundRect">
            <a:avLst>
              <a:gd name="adj" fmla="val 5854"/>
            </a:avLst>
          </a:prstGeom>
          <a:solidFill>
            <a:srgbClr val="EEF1F6"/>
          </a:solidFill>
          <a:ln w="12700">
            <a:solidFill>
              <a:srgbClr val="EEF1F6"/>
            </a:solidFill>
            <a:prstDash val="solid"/>
          </a:ln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822960" y="2286000"/>
            <a:ext cx="566928" cy="566928"/>
          </a:xfrm>
          <a:prstGeom prst="ellipse">
            <a:avLst/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  <p:txBody>
          <a:bodyPr/>
          <a:p/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0361" y="2433401"/>
            <a:ext cx="272125" cy="272125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554480" y="2286000"/>
            <a:ext cx="2377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Think algorithmically</a:t>
            </a:r>
            <a:endParaRPr lang="en-US" sz="1700" dirty="0"/>
          </a:p>
        </p:txBody>
      </p:sp>
      <p:sp>
        <p:nvSpPr>
          <p:cNvPr id="9" name="Text 6"/>
          <p:cNvSpPr txBox="1"/>
          <p:nvPr/>
        </p:nvSpPr>
        <p:spPr>
          <a:xfrm>
            <a:off x="822960" y="3017520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33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 a real problem into precise, finite, ordered steps.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4297680" y="2011680"/>
            <a:ext cx="3520440" cy="1874520"/>
          </a:xfrm>
          <a:prstGeom prst="roundRect">
            <a:avLst>
              <a:gd name="adj" fmla="val 5854"/>
            </a:avLst>
          </a:prstGeom>
          <a:solidFill>
            <a:srgbClr val="EEF1F6"/>
          </a:solidFill>
          <a:ln w="12700">
            <a:solidFill>
              <a:srgbClr val="EEF1F6"/>
            </a:solidFill>
            <a:prstDash val="solid"/>
          </a:ln>
        </p:spPr>
        <p:txBody>
          <a:bodyPr/>
          <a:p/>
        </p:txBody>
      </p:sp>
      <p:sp>
        <p:nvSpPr>
          <p:cNvPr id="11" name="Shape 8"/>
          <p:cNvSpPr/>
          <p:nvPr/>
        </p:nvSpPr>
        <p:spPr>
          <a:xfrm>
            <a:off x="4572000" y="2286000"/>
            <a:ext cx="566928" cy="566928"/>
          </a:xfrm>
          <a:prstGeom prst="ellipse">
            <a:avLst/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  <p:txBody>
          <a:bodyPr/>
          <a:p/>
        </p:txBody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19401" y="2433401"/>
            <a:ext cx="272125" cy="272125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5303520" y="2286000"/>
            <a:ext cx="2377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Draw &amp; read flowcharts</a:t>
            </a:r>
            <a:endParaRPr lang="en-US" sz="1700" dirty="0"/>
          </a:p>
        </p:txBody>
      </p:sp>
      <p:sp>
        <p:nvSpPr>
          <p:cNvPr id="14" name="Text 10"/>
          <p:cNvSpPr txBox="1"/>
          <p:nvPr/>
        </p:nvSpPr>
        <p:spPr>
          <a:xfrm>
            <a:off x="4572000" y="3017520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33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 an algorithm visually before writing any code.</a:t>
            </a:r>
            <a:endParaRPr lang="en-US" sz="1400" dirty="0"/>
          </a:p>
        </p:txBody>
      </p:sp>
      <p:sp>
        <p:nvSpPr>
          <p:cNvPr id="15" name="Shape 11"/>
          <p:cNvSpPr/>
          <p:nvPr/>
        </p:nvSpPr>
        <p:spPr>
          <a:xfrm>
            <a:off x="8046720" y="2011680"/>
            <a:ext cx="3520440" cy="1874520"/>
          </a:xfrm>
          <a:prstGeom prst="roundRect">
            <a:avLst>
              <a:gd name="adj" fmla="val 5854"/>
            </a:avLst>
          </a:prstGeom>
          <a:solidFill>
            <a:srgbClr val="EEF1F6"/>
          </a:solidFill>
          <a:ln w="12700">
            <a:solidFill>
              <a:srgbClr val="EEF1F6"/>
            </a:solidFill>
            <a:prstDash val="solid"/>
          </a:ln>
        </p:spPr>
        <p:txBody>
          <a:bodyPr/>
          <a:p/>
        </p:txBody>
      </p:sp>
      <p:sp>
        <p:nvSpPr>
          <p:cNvPr id="16" name="Shape 12"/>
          <p:cNvSpPr/>
          <p:nvPr/>
        </p:nvSpPr>
        <p:spPr>
          <a:xfrm>
            <a:off x="8321040" y="2286000"/>
            <a:ext cx="566928" cy="566928"/>
          </a:xfrm>
          <a:prstGeom prst="ellipse">
            <a:avLst/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  <p:txBody>
          <a:bodyPr/>
          <a:p/>
        </p:txBody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68441" y="2433401"/>
            <a:ext cx="272125" cy="272125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9052560" y="2286000"/>
            <a:ext cx="2377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Write C# console apps</a:t>
            </a:r>
            <a:endParaRPr lang="en-US" sz="1700" dirty="0"/>
          </a:p>
        </p:txBody>
      </p:sp>
      <p:sp>
        <p:nvSpPr>
          <p:cNvPr id="19" name="Text 14"/>
          <p:cNvSpPr txBox="1"/>
          <p:nvPr/>
        </p:nvSpPr>
        <p:spPr>
          <a:xfrm>
            <a:off x="8321040" y="3017520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33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variables, operators, decisions and loops correctly.</a:t>
            </a:r>
            <a:endParaRPr lang="en-US" sz="1400" dirty="0"/>
          </a:p>
        </p:txBody>
      </p:sp>
      <p:sp>
        <p:nvSpPr>
          <p:cNvPr id="20" name="Shape 15"/>
          <p:cNvSpPr/>
          <p:nvPr/>
        </p:nvSpPr>
        <p:spPr>
          <a:xfrm>
            <a:off x="548640" y="4114800"/>
            <a:ext cx="3520440" cy="1874520"/>
          </a:xfrm>
          <a:prstGeom prst="roundRect">
            <a:avLst>
              <a:gd name="adj" fmla="val 5854"/>
            </a:avLst>
          </a:prstGeom>
          <a:solidFill>
            <a:srgbClr val="EEF1F6"/>
          </a:solidFill>
          <a:ln w="12700">
            <a:solidFill>
              <a:srgbClr val="EEF1F6"/>
            </a:solidFill>
            <a:prstDash val="solid"/>
          </a:ln>
        </p:spPr>
        <p:txBody>
          <a:bodyPr/>
          <a:p/>
        </p:txBody>
      </p:sp>
      <p:sp>
        <p:nvSpPr>
          <p:cNvPr id="21" name="Shape 16"/>
          <p:cNvSpPr/>
          <p:nvPr/>
        </p:nvSpPr>
        <p:spPr>
          <a:xfrm>
            <a:off x="822960" y="4389120"/>
            <a:ext cx="566928" cy="566928"/>
          </a:xfrm>
          <a:prstGeom prst="ellipse">
            <a:avLst/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  <p:txBody>
          <a:bodyPr/>
          <a:p/>
        </p:txBody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0361" y="4536521"/>
            <a:ext cx="272125" cy="272125"/>
          </a:xfrm>
          <a:prstGeom prst="rect">
            <a:avLst/>
          </a:prstGeom>
        </p:spPr>
      </p:pic>
      <p:sp>
        <p:nvSpPr>
          <p:cNvPr id="23" name="Text 17"/>
          <p:cNvSpPr txBox="1"/>
          <p:nvPr/>
        </p:nvSpPr>
        <p:spPr>
          <a:xfrm>
            <a:off x="1554480" y="4389120"/>
            <a:ext cx="2377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Work with arrays</a:t>
            </a:r>
            <a:endParaRPr lang="en-US" sz="1700" dirty="0"/>
          </a:p>
        </p:txBody>
      </p:sp>
      <p:sp>
        <p:nvSpPr>
          <p:cNvPr id="24" name="Text 18"/>
          <p:cNvSpPr txBox="1"/>
          <p:nvPr/>
        </p:nvSpPr>
        <p:spPr>
          <a:xfrm>
            <a:off x="822960" y="5120640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33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Store, search, sort and process collections of data.</a:t>
            </a:r>
            <a:endParaRPr lang="en-US" sz="1400" dirty="0"/>
          </a:p>
        </p:txBody>
      </p:sp>
      <p:sp>
        <p:nvSpPr>
          <p:cNvPr id="25" name="Shape 19"/>
          <p:cNvSpPr/>
          <p:nvPr/>
        </p:nvSpPr>
        <p:spPr>
          <a:xfrm>
            <a:off x="4297680" y="4114800"/>
            <a:ext cx="3520440" cy="1874520"/>
          </a:xfrm>
          <a:prstGeom prst="roundRect">
            <a:avLst>
              <a:gd name="adj" fmla="val 5854"/>
            </a:avLst>
          </a:prstGeom>
          <a:solidFill>
            <a:srgbClr val="EEF1F6"/>
          </a:solidFill>
          <a:ln w="12700">
            <a:solidFill>
              <a:srgbClr val="EEF1F6"/>
            </a:solidFill>
            <a:prstDash val="solid"/>
          </a:ln>
        </p:spPr>
        <p:txBody>
          <a:bodyPr/>
          <a:p/>
        </p:txBody>
      </p:sp>
      <p:sp>
        <p:nvSpPr>
          <p:cNvPr id="26" name="Shape 20"/>
          <p:cNvSpPr/>
          <p:nvPr/>
        </p:nvSpPr>
        <p:spPr>
          <a:xfrm>
            <a:off x="4572000" y="4389120"/>
            <a:ext cx="566928" cy="566928"/>
          </a:xfrm>
          <a:prstGeom prst="ellipse">
            <a:avLst/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  <p:txBody>
          <a:bodyPr/>
          <a:p/>
        </p:txBody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19401" y="4536521"/>
            <a:ext cx="272125" cy="272125"/>
          </a:xfrm>
          <a:prstGeom prst="rect">
            <a:avLst/>
          </a:prstGeom>
        </p:spPr>
      </p:pic>
      <p:sp>
        <p:nvSpPr>
          <p:cNvPr id="28" name="Text 21"/>
          <p:cNvSpPr txBox="1"/>
          <p:nvPr/>
        </p:nvSpPr>
        <p:spPr>
          <a:xfrm>
            <a:off x="5303520" y="4389120"/>
            <a:ext cx="2377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Structure with functions</a:t>
            </a:r>
            <a:endParaRPr lang="en-US" sz="1700" dirty="0"/>
          </a:p>
        </p:txBody>
      </p:sp>
      <p:sp>
        <p:nvSpPr>
          <p:cNvPr id="29" name="Text 22"/>
          <p:cNvSpPr txBox="1"/>
          <p:nvPr/>
        </p:nvSpPr>
        <p:spPr>
          <a:xfrm>
            <a:off x="4572000" y="5120640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33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programs into reusable methods with parameters.</a:t>
            </a:r>
            <a:endParaRPr lang="en-US" sz="1400" dirty="0"/>
          </a:p>
        </p:txBody>
      </p:sp>
      <p:sp>
        <p:nvSpPr>
          <p:cNvPr id="30" name="Shape 23"/>
          <p:cNvSpPr/>
          <p:nvPr/>
        </p:nvSpPr>
        <p:spPr>
          <a:xfrm>
            <a:off x="8046720" y="4114800"/>
            <a:ext cx="3520440" cy="1874520"/>
          </a:xfrm>
          <a:prstGeom prst="roundRect">
            <a:avLst>
              <a:gd name="adj" fmla="val 5854"/>
            </a:avLst>
          </a:prstGeom>
          <a:solidFill>
            <a:srgbClr val="EEF1F6"/>
          </a:solidFill>
          <a:ln w="12700">
            <a:solidFill>
              <a:srgbClr val="EEF1F6"/>
            </a:solidFill>
            <a:prstDash val="solid"/>
          </a:ln>
        </p:spPr>
        <p:txBody>
          <a:bodyPr/>
          <a:p/>
        </p:txBody>
      </p:sp>
      <p:sp>
        <p:nvSpPr>
          <p:cNvPr id="31" name="Shape 24"/>
          <p:cNvSpPr/>
          <p:nvPr/>
        </p:nvSpPr>
        <p:spPr>
          <a:xfrm>
            <a:off x="8321040" y="4389120"/>
            <a:ext cx="566928" cy="566928"/>
          </a:xfrm>
          <a:prstGeom prst="ellipse">
            <a:avLst/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  <p:txBody>
          <a:bodyPr/>
          <a:p/>
        </p:txBody>
      </p:sp>
      <p:pic>
        <p:nvPicPr>
          <p:cNvPr id="3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68441" y="4536521"/>
            <a:ext cx="272125" cy="272125"/>
          </a:xfrm>
          <a:prstGeom prst="rect">
            <a:avLst/>
          </a:prstGeom>
        </p:spPr>
      </p:pic>
      <p:sp>
        <p:nvSpPr>
          <p:cNvPr id="33" name="Text 25"/>
          <p:cNvSpPr txBox="1"/>
          <p:nvPr/>
        </p:nvSpPr>
        <p:spPr>
          <a:xfrm>
            <a:off x="9052560" y="4389120"/>
            <a:ext cx="2377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 and debug</a:t>
            </a:r>
            <a:endParaRPr lang="en-US" sz="1700" dirty="0"/>
          </a:p>
        </p:txBody>
      </p:sp>
      <p:sp>
        <p:nvSpPr>
          <p:cNvPr id="34" name="Text 26"/>
          <p:cNvSpPr txBox="1"/>
          <p:nvPr/>
        </p:nvSpPr>
        <p:spPr>
          <a:xfrm>
            <a:off x="8321040" y="5120640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33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 code by hand and find errors systematically.</a:t>
            </a:r>
            <a:endParaRPr lang="en-US" sz="1400" dirty="0"/>
          </a:p>
        </p:txBody>
      </p:sp>
      <p:sp>
        <p:nvSpPr>
          <p:cNvPr id="36" name="Text 27"/>
          <p:cNvSpPr txBox="1"/>
          <p:nvPr/>
        </p:nvSpPr>
        <p:spPr>
          <a:xfrm>
            <a:off x="54864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MCMP113  ·  Week 1</a:t>
            </a:r>
            <a:endParaRPr lang="en-US" sz="1000" dirty="0"/>
          </a:p>
        </p:txBody>
      </p:sp>
      <p:sp>
        <p:nvSpPr>
          <p:cNvPr id="37" name="Text 28"/>
          <p:cNvSpPr txBox="1"/>
          <p:nvPr/>
        </p:nvSpPr>
        <p:spPr>
          <a:xfrm>
            <a:off x="1118585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CA3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&gt;_ </a:t>
            </a:r>
            <a:pPr indent="0" marL="0">
              <a:buNone/>
            </a:pPr>
            <a:r>
              <a:rPr lang="en-US" sz="1300" dirty="0">
                <a:solidFill>
                  <a:srgbClr val="5B64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SYLLABUS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15-Week Plan</a:t>
            </a:r>
            <a:endParaRPr lang="en-US" sz="34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00200"/>
          <a:ext cx="5440680" cy="914400"/>
        </p:xfrm>
        <a:graphic>
          <a:graphicData uri="http://schemas.openxmlformats.org/drawingml/2006/table">
            <a:tbl>
              <a:tblPr/>
              <a:tblGrid>
                <a:gridCol w="502920"/>
                <a:gridCol w="4937760"/>
              </a:tblGrid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1D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Course introduction · Algorithm concept · Problem-solving steps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1D6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Flowcharts and their symbols · Basic flowchart examples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Programming languages · Variables · Data types · Constants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Arithmetic, logical and relational operators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Decision structures: if-else, if-else if, switch-case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Loops: the for loop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Loops: while and do-while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CA3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MIDTERM EXAM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17920" y="1600200"/>
          <a:ext cx="5440680" cy="914400"/>
        </p:xfrm>
        <a:graphic>
          <a:graphicData uri="http://schemas.openxmlformats.org/drawingml/2006/table">
            <a:tbl>
              <a:tblPr/>
              <a:tblGrid>
                <a:gridCol w="502920"/>
                <a:gridCol w="4937760"/>
              </a:tblGrid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One-dimensional arrays: declaration, assignment, element access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Array operations: searching, sorting, finding max/min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Multi-dimensional arrays (matrices)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Functions: definition, calling, parameter passing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Value-returning vs. void functions · Scope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Basic file operations · Semester review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CA3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FINAL EXAM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</a:tr>
            </a:tbl>
          </a:graphicData>
        </a:graphic>
      </p:graphicFrame>
      <p:sp>
        <p:nvSpPr>
          <p:cNvPr id="6" name="Text 2"/>
          <p:cNvSpPr txBox="1"/>
          <p:nvPr/>
        </p:nvSpPr>
        <p:spPr>
          <a:xfrm>
            <a:off x="6217920" y="5120640"/>
            <a:ext cx="5440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7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</a:t>
            </a:r>
            <a:pPr indent="0" marL="0">
              <a:buNone/>
            </a:pPr>
            <a:r>
              <a:rPr lang="en-US" sz="13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is highlighted. Weeks 3 onward: every lecture comes with sample console-app code.</a:t>
            </a:r>
            <a:endParaRPr lang="en-US" sz="1300" dirty="0"/>
          </a:p>
        </p:txBody>
      </p:sp>
      <p:sp>
        <p:nvSpPr>
          <p:cNvPr id="8" name="Text 3"/>
          <p:cNvSpPr txBox="1"/>
          <p:nvPr/>
        </p:nvSpPr>
        <p:spPr>
          <a:xfrm>
            <a:off x="54864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MCMP113  ·  Week 1</a:t>
            </a:r>
            <a:endParaRPr lang="en-US" sz="1000" dirty="0"/>
          </a:p>
        </p:txBody>
      </p:sp>
      <p:sp>
        <p:nvSpPr>
          <p:cNvPr id="9" name="Text 4"/>
          <p:cNvSpPr txBox="1"/>
          <p:nvPr/>
        </p:nvSpPr>
        <p:spPr>
          <a:xfrm>
            <a:off x="1118585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CA3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&gt;_ </a:t>
            </a:r>
            <a:pPr indent="0" marL="0">
              <a:buNone/>
            </a:pPr>
            <a:r>
              <a:rPr lang="en-US" sz="1300" dirty="0">
                <a:solidFill>
                  <a:srgbClr val="5B64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ASSESSMENT &amp; TOOLS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You Are Graded · What You Need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2560320" cy="2377440"/>
          </a:xfrm>
          <a:prstGeom prst="roundRect">
            <a:avLst>
              <a:gd name="adj" fmla="val 4615"/>
            </a:avLst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 txBox="1"/>
          <p:nvPr/>
        </p:nvSpPr>
        <p:spPr>
          <a:xfrm>
            <a:off x="548640" y="1828800"/>
            <a:ext cx="2560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FCA3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40%</a:t>
            </a:r>
            <a:endParaRPr lang="en-US" sz="60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301752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Midterm · Week 8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337560" y="1645920"/>
            <a:ext cx="2560320" cy="2377440"/>
          </a:xfrm>
          <a:prstGeom prst="roundRect">
            <a:avLst>
              <a:gd name="adj" fmla="val 4615"/>
            </a:avLst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 txBox="1"/>
          <p:nvPr/>
        </p:nvSpPr>
        <p:spPr>
          <a:xfrm>
            <a:off x="3337560" y="1828800"/>
            <a:ext cx="2560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FCA3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60%</a:t>
            </a:r>
            <a:endParaRPr lang="en-US" sz="6000" dirty="0"/>
          </a:p>
        </p:txBody>
      </p:sp>
      <p:sp>
        <p:nvSpPr>
          <p:cNvPr id="9" name="Text 7"/>
          <p:cNvSpPr txBox="1"/>
          <p:nvPr/>
        </p:nvSpPr>
        <p:spPr>
          <a:xfrm>
            <a:off x="3337560" y="301752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· Week 15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4297680"/>
            <a:ext cx="53492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333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Attendance follows university regulations.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333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Exams test reasoning: tracing, flowcharts and writing code by hand.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333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exercises are ungraded — but they are the exam preparation.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309360" y="1645920"/>
            <a:ext cx="5349240" cy="4343400"/>
          </a:xfrm>
          <a:prstGeom prst="roundRect">
            <a:avLst>
              <a:gd name="adj" fmla="val 2526"/>
            </a:avLst>
          </a:prstGeom>
          <a:solidFill>
            <a:srgbClr val="EEF1F6"/>
          </a:solidFill>
          <a:ln w="12700">
            <a:solidFill>
              <a:srgbClr val="EEF1F6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 txBox="1"/>
          <p:nvPr/>
        </p:nvSpPr>
        <p:spPr>
          <a:xfrm>
            <a:off x="6583680" y="182880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Software (free) — install before Week 3</a:t>
            </a:r>
            <a:endParaRPr lang="en-US" sz="1800" dirty="0"/>
          </a:p>
        </p:txBody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29400" y="2423160"/>
            <a:ext cx="457200" cy="457200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7315200" y="237744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.NET 10 SDK (LTS)</a:t>
            </a:r>
            <a:endParaRPr lang="en-US" sz="1600" dirty="0"/>
          </a:p>
        </p:txBody>
      </p:sp>
      <p:sp>
        <p:nvSpPr>
          <p:cNvPr id="15" name="Text 12"/>
          <p:cNvSpPr txBox="1"/>
          <p:nvPr/>
        </p:nvSpPr>
        <p:spPr>
          <a:xfrm>
            <a:off x="7315200" y="2706624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4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dotnet.microsoft.com/download</a:t>
            </a:r>
            <a:endParaRPr lang="en-US" sz="1200" dirty="0"/>
          </a:p>
        </p:txBody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9400" y="3291840"/>
            <a:ext cx="457200" cy="457200"/>
          </a:xfrm>
          <a:prstGeom prst="rect">
            <a:avLst/>
          </a:prstGeom>
        </p:spPr>
      </p:pic>
      <p:sp>
        <p:nvSpPr>
          <p:cNvPr id="17" name="Text 13"/>
          <p:cNvSpPr txBox="1"/>
          <p:nvPr/>
        </p:nvSpPr>
        <p:spPr>
          <a:xfrm>
            <a:off x="7315200" y="324612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Studio Code</a:t>
            </a:r>
            <a:endParaRPr lang="en-US" sz="1600" dirty="0"/>
          </a:p>
        </p:txBody>
      </p:sp>
      <p:sp>
        <p:nvSpPr>
          <p:cNvPr id="18" name="Text 14"/>
          <p:cNvSpPr txBox="1"/>
          <p:nvPr/>
        </p:nvSpPr>
        <p:spPr>
          <a:xfrm>
            <a:off x="7315200" y="3575304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4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code.visualstudio.com</a:t>
            </a:r>
            <a:endParaRPr lang="en-US" sz="1200" dirty="0"/>
          </a:p>
        </p:txBody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29400" y="4160520"/>
            <a:ext cx="457200" cy="457200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7315200" y="411480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C# Dev Kit extension</a:t>
            </a:r>
            <a:endParaRPr lang="en-US" sz="1600" dirty="0"/>
          </a:p>
        </p:txBody>
      </p:sp>
      <p:sp>
        <p:nvSpPr>
          <p:cNvPr id="21" name="Text 16"/>
          <p:cNvSpPr txBox="1"/>
          <p:nvPr/>
        </p:nvSpPr>
        <p:spPr>
          <a:xfrm>
            <a:off x="7315200" y="4443984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4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VS Code → Extensions → “C# Dev Kit”</a:t>
            </a:r>
            <a:endParaRPr lang="en-US" sz="1200" dirty="0"/>
          </a:p>
        </p:txBody>
      </p:sp>
      <p:sp>
        <p:nvSpPr>
          <p:cNvPr id="22" name="Shape 17"/>
          <p:cNvSpPr/>
          <p:nvPr/>
        </p:nvSpPr>
        <p:spPr>
          <a:xfrm>
            <a:off x="6583680" y="4983480"/>
            <a:ext cx="4846320" cy="777240"/>
          </a:xfrm>
          <a:prstGeom prst="roundRect">
            <a:avLst>
              <a:gd name="adj" fmla="val 11765"/>
            </a:avLst>
          </a:prstGeom>
          <a:solidFill>
            <a:srgbClr val="0F1729"/>
          </a:solidFill>
          <a:ln w="12700">
            <a:solidFill>
              <a:srgbClr val="0F1729"/>
            </a:solidFill>
            <a:prstDash val="solid"/>
          </a:ln>
        </p:spPr>
        <p:txBody>
          <a:bodyPr/>
          <a:p/>
        </p:txBody>
      </p:sp>
      <p:sp>
        <p:nvSpPr>
          <p:cNvPr id="23" name="Text 18"/>
          <p:cNvSpPr txBox="1"/>
          <p:nvPr/>
        </p:nvSpPr>
        <p:spPr>
          <a:xfrm>
            <a:off x="6812280" y="5166360"/>
            <a:ext cx="4389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dotnet --version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10.0.xxx</a:t>
            </a:r>
            <a:endParaRPr lang="en-US" sz="1300" dirty="0"/>
          </a:p>
        </p:txBody>
      </p:sp>
      <p:sp>
        <p:nvSpPr>
          <p:cNvPr id="25" name="Text 19"/>
          <p:cNvSpPr txBox="1"/>
          <p:nvPr/>
        </p:nvSpPr>
        <p:spPr>
          <a:xfrm>
            <a:off x="54864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MCMP113  ·  Week 1</a:t>
            </a:r>
            <a:endParaRPr lang="en-US" sz="1000" dirty="0"/>
          </a:p>
        </p:txBody>
      </p:sp>
      <p:sp>
        <p:nvSpPr>
          <p:cNvPr id="26" name="Text 20"/>
          <p:cNvSpPr txBox="1"/>
          <p:nvPr/>
        </p:nvSpPr>
        <p:spPr>
          <a:xfrm>
            <a:off x="1118585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463040"/>
            <a:ext cx="2743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0" b="1" dirty="0">
                <a:solidFill>
                  <a:srgbClr val="FCA3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&gt;_</a:t>
            </a:r>
            <a:endParaRPr lang="en-US" sz="8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9260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spc="400" kern="0" dirty="0">
                <a:solidFill>
                  <a:srgbClr val="8A94A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PART 1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33756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a Computer Solves Problems</a:t>
            </a:r>
            <a:endParaRPr lang="en-US" sz="4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434340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7CE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→ Process → Output, and why the computer needs exact instructions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4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MCMP113  ·  Week 1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1118585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4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CA3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&gt;_ </a:t>
            </a:r>
            <a:pPr indent="0" marL="0">
              <a:buNone/>
            </a:pPr>
            <a:r>
              <a:rPr lang="en-US" sz="1300" dirty="0">
                <a:solidFill>
                  <a:srgbClr val="5B64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BIG PICTURE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Program: Input → Process → Output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3291840" cy="2651760"/>
          </a:xfrm>
          <a:prstGeom prst="roundRect">
            <a:avLst>
              <a:gd name="adj" fmla="val 4138"/>
            </a:avLst>
          </a:prstGeom>
          <a:solidFill>
            <a:srgbClr val="EEF1F6"/>
          </a:solidFill>
          <a:ln w="12700">
            <a:solidFill>
              <a:srgbClr val="EEF1F6"/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1783080" y="1965960"/>
            <a:ext cx="822960" cy="822960"/>
          </a:xfrm>
          <a:prstGeom prst="ellipse">
            <a:avLst/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  <p:txBody>
          <a:bodyPr/>
          <a:p/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97050" y="2179930"/>
            <a:ext cx="395021" cy="395021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548640" y="292608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421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INPUT</a:t>
            </a:r>
            <a:endParaRPr lang="en-US" sz="2000" dirty="0"/>
          </a:p>
        </p:txBody>
      </p:sp>
      <p:sp>
        <p:nvSpPr>
          <p:cNvPr id="8" name="Text 5"/>
          <p:cNvSpPr txBox="1"/>
          <p:nvPr/>
        </p:nvSpPr>
        <p:spPr>
          <a:xfrm>
            <a:off x="731520" y="338328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enters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731520" y="374904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keyboard, file, sensor, network</a:t>
            </a:r>
            <a:endParaRPr lang="en-US" sz="13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59352" y="2834640"/>
            <a:ext cx="411480" cy="41148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4434840" y="1737360"/>
            <a:ext cx="3291840" cy="2651760"/>
          </a:xfrm>
          <a:prstGeom prst="roundRect">
            <a:avLst>
              <a:gd name="adj" fmla="val 4138"/>
            </a:avLst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  <p:txBody>
          <a:bodyPr/>
          <a:p/>
        </p:txBody>
      </p:sp>
      <p:sp>
        <p:nvSpPr>
          <p:cNvPr id="12" name="Shape 8"/>
          <p:cNvSpPr/>
          <p:nvPr/>
        </p:nvSpPr>
        <p:spPr>
          <a:xfrm>
            <a:off x="5669280" y="1965960"/>
            <a:ext cx="822960" cy="822960"/>
          </a:xfrm>
          <a:prstGeom prst="ellipse">
            <a:avLst/>
          </a:prstGeom>
          <a:solidFill>
            <a:srgbClr val="FCA311"/>
          </a:solidFill>
          <a:ln w="12700">
            <a:solidFill>
              <a:srgbClr val="FCA311"/>
            </a:solidFill>
            <a:prstDash val="solid"/>
          </a:ln>
        </p:spPr>
        <p:txBody>
          <a:bodyPr/>
          <a:p/>
        </p:txBody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83250" y="2179930"/>
            <a:ext cx="395021" cy="395021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4434840" y="292608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CA3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PROCESS</a:t>
            </a:r>
            <a:endParaRPr lang="en-US" sz="2000" dirty="0"/>
          </a:p>
        </p:txBody>
      </p:sp>
      <p:sp>
        <p:nvSpPr>
          <p:cNvPr id="15" name="Text 10"/>
          <p:cNvSpPr txBox="1"/>
          <p:nvPr/>
        </p:nvSpPr>
        <p:spPr>
          <a:xfrm>
            <a:off x="4617720" y="338328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CPU follows the instructions</a:t>
            </a:r>
            <a:endParaRPr lang="en-US" sz="1600" dirty="0"/>
          </a:p>
        </p:txBody>
      </p:sp>
      <p:sp>
        <p:nvSpPr>
          <p:cNvPr id="16" name="Text 11"/>
          <p:cNvSpPr txBox="1"/>
          <p:nvPr/>
        </p:nvSpPr>
        <p:spPr>
          <a:xfrm>
            <a:off x="4617720" y="374904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7CE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calculate, compare, decide, repeat</a:t>
            </a:r>
            <a:endParaRPr lang="en-US" sz="1300" dirty="0"/>
          </a:p>
        </p:txBody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45552" y="2834640"/>
            <a:ext cx="411480" cy="411480"/>
          </a:xfrm>
          <a:prstGeom prst="rect">
            <a:avLst/>
          </a:prstGeom>
        </p:spPr>
      </p:pic>
      <p:sp>
        <p:nvSpPr>
          <p:cNvPr id="18" name="Shape 12"/>
          <p:cNvSpPr/>
          <p:nvPr/>
        </p:nvSpPr>
        <p:spPr>
          <a:xfrm>
            <a:off x="8321040" y="1737360"/>
            <a:ext cx="3291840" cy="2651760"/>
          </a:xfrm>
          <a:prstGeom prst="roundRect">
            <a:avLst>
              <a:gd name="adj" fmla="val 4138"/>
            </a:avLst>
          </a:prstGeom>
          <a:solidFill>
            <a:srgbClr val="EEF1F6"/>
          </a:solidFill>
          <a:ln w="12700">
            <a:solidFill>
              <a:srgbClr val="EEF1F6"/>
            </a:solidFill>
            <a:prstDash val="solid"/>
          </a:ln>
        </p:spPr>
        <p:txBody>
          <a:bodyPr/>
          <a:p/>
        </p:txBody>
      </p:sp>
      <p:sp>
        <p:nvSpPr>
          <p:cNvPr id="19" name="Shape 13"/>
          <p:cNvSpPr/>
          <p:nvPr/>
        </p:nvSpPr>
        <p:spPr>
          <a:xfrm>
            <a:off x="9555480" y="1965960"/>
            <a:ext cx="822960" cy="822960"/>
          </a:xfrm>
          <a:prstGeom prst="ellipse">
            <a:avLst/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  <p:txBody>
          <a:bodyPr/>
          <a:p/>
        </p:txBody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69450" y="2179930"/>
            <a:ext cx="395021" cy="395021"/>
          </a:xfrm>
          <a:prstGeom prst="rect">
            <a:avLst/>
          </a:prstGeom>
        </p:spPr>
      </p:pic>
      <p:sp>
        <p:nvSpPr>
          <p:cNvPr id="21" name="Text 14"/>
          <p:cNvSpPr txBox="1"/>
          <p:nvPr/>
        </p:nvSpPr>
        <p:spPr>
          <a:xfrm>
            <a:off x="8321040" y="292608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421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OUTPUT</a:t>
            </a:r>
            <a:endParaRPr lang="en-US" sz="2000" dirty="0"/>
          </a:p>
        </p:txBody>
      </p:sp>
      <p:sp>
        <p:nvSpPr>
          <p:cNvPr id="22" name="Text 15"/>
          <p:cNvSpPr txBox="1"/>
          <p:nvPr/>
        </p:nvSpPr>
        <p:spPr>
          <a:xfrm>
            <a:off x="8503920" y="338328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leave</a:t>
            </a:r>
            <a:endParaRPr lang="en-US" sz="1600" dirty="0"/>
          </a:p>
        </p:txBody>
      </p:sp>
      <p:sp>
        <p:nvSpPr>
          <p:cNvPr id="23" name="Text 16"/>
          <p:cNvSpPr txBox="1"/>
          <p:nvPr/>
        </p:nvSpPr>
        <p:spPr>
          <a:xfrm>
            <a:off x="8503920" y="374904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screen, file, printer, network</a:t>
            </a:r>
            <a:endParaRPr lang="en-US" sz="1300" dirty="0"/>
          </a:p>
        </p:txBody>
      </p:sp>
      <p:sp>
        <p:nvSpPr>
          <p:cNvPr id="24" name="Shape 17"/>
          <p:cNvSpPr/>
          <p:nvPr/>
        </p:nvSpPr>
        <p:spPr>
          <a:xfrm>
            <a:off x="548640" y="4663440"/>
            <a:ext cx="11064240" cy="1188720"/>
          </a:xfrm>
          <a:prstGeom prst="roundRect">
            <a:avLst>
              <a:gd name="adj" fmla="val 9231"/>
            </a:avLst>
          </a:prstGeom>
          <a:solidFill>
            <a:srgbClr val="FFF6E3"/>
          </a:solidFill>
          <a:ln w="12700">
            <a:solidFill>
              <a:srgbClr val="FFF6E3"/>
            </a:solidFill>
            <a:prstDash val="solid"/>
          </a:ln>
        </p:spPr>
        <p:txBody>
          <a:bodyPr/>
          <a:p/>
        </p:txBody>
      </p:sp>
      <p:pic>
        <p:nvPicPr>
          <p:cNvPr id="2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2960" y="4937760"/>
            <a:ext cx="640080" cy="640080"/>
          </a:xfrm>
          <a:prstGeom prst="rect">
            <a:avLst/>
          </a:prstGeom>
        </p:spPr>
      </p:pic>
      <p:sp>
        <p:nvSpPr>
          <p:cNvPr id="26" name="Text 18"/>
          <p:cNvSpPr txBox="1"/>
          <p:nvPr/>
        </p:nvSpPr>
        <p:spPr>
          <a:xfrm>
            <a:off x="1691640" y="4754880"/>
            <a:ext cx="9692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 (RAM) </a:t>
            </a:r>
            <a:pPr indent="0" marL="0">
              <a:buNone/>
            </a:pPr>
            <a:r>
              <a:rPr lang="en-US" sz="1500" dirty="0">
                <a:solidFill>
                  <a:srgbClr val="333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holds both the data and the instructions while the program runs (von Neumann, 1945). Turn the power off and RAM is empty; files on disk remain.</a:t>
            </a:r>
            <a:endParaRPr lang="en-US" sz="1500" dirty="0"/>
          </a:p>
        </p:txBody>
      </p:sp>
      <p:sp>
        <p:nvSpPr>
          <p:cNvPr id="28" name="Text 19"/>
          <p:cNvSpPr txBox="1"/>
          <p:nvPr/>
        </p:nvSpPr>
        <p:spPr>
          <a:xfrm>
            <a:off x="54864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MCMP113  ·  Week 1</a:t>
            </a:r>
            <a:endParaRPr lang="en-US" sz="1000" dirty="0"/>
          </a:p>
        </p:txBody>
      </p:sp>
      <p:sp>
        <p:nvSpPr>
          <p:cNvPr id="29" name="Text 20"/>
          <p:cNvSpPr txBox="1"/>
          <p:nvPr/>
        </p:nvSpPr>
        <p:spPr>
          <a:xfrm>
            <a:off x="1118585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CA3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&gt;_ </a:t>
            </a:r>
            <a:pPr indent="0" marL="0">
              <a:buNone/>
            </a:pPr>
            <a:r>
              <a:rPr lang="en-US" sz="1300" dirty="0">
                <a:solidFill>
                  <a:srgbClr val="5B64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KEY INSIGHT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Computer Is Extremely Fast — and Completely Literal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737360"/>
            <a:ext cx="2377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CA3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~10⁹</a:t>
            </a:r>
            <a:endParaRPr lang="en-US" sz="5400" dirty="0"/>
          </a:p>
        </p:txBody>
      </p:sp>
      <p:sp>
        <p:nvSpPr>
          <p:cNvPr id="5" name="Text 3"/>
          <p:cNvSpPr txBox="1"/>
          <p:nvPr/>
        </p:nvSpPr>
        <p:spPr>
          <a:xfrm>
            <a:off x="3017520" y="1737360"/>
            <a:ext cx="3291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operations per second on a single core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3108960"/>
            <a:ext cx="2377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CA3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5400" dirty="0"/>
          </a:p>
        </p:txBody>
      </p:sp>
      <p:sp>
        <p:nvSpPr>
          <p:cNvPr id="7" name="Text 5"/>
          <p:cNvSpPr txBox="1"/>
          <p:nvPr/>
        </p:nvSpPr>
        <p:spPr>
          <a:xfrm>
            <a:off x="3017520" y="3108960"/>
            <a:ext cx="3291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guesses about what you “meant”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4480560"/>
            <a:ext cx="2377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CA3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5400" dirty="0"/>
          </a:p>
        </p:txBody>
      </p:sp>
      <p:sp>
        <p:nvSpPr>
          <p:cNvPr id="9" name="Text 7"/>
          <p:cNvSpPr txBox="1"/>
          <p:nvPr/>
        </p:nvSpPr>
        <p:spPr>
          <a:xfrm>
            <a:off x="3017520" y="4480560"/>
            <a:ext cx="3291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kinds of instruction: arithmetic, comparison, data movement, jump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6675120" y="1737360"/>
            <a:ext cx="4983480" cy="4023360"/>
          </a:xfrm>
          <a:prstGeom prst="roundRect">
            <a:avLst>
              <a:gd name="adj" fmla="val 2727"/>
            </a:avLst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  <p:txBody>
          <a:bodyPr/>
          <a:p/>
        </p:txBody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95160" y="2011680"/>
            <a:ext cx="548640" cy="548640"/>
          </a:xfrm>
          <a:prstGeom prst="rect">
            <a:avLst/>
          </a:prstGeom>
        </p:spPr>
      </p:pic>
      <p:sp>
        <p:nvSpPr>
          <p:cNvPr id="12" name="Text 9"/>
          <p:cNvSpPr txBox="1"/>
          <p:nvPr/>
        </p:nvSpPr>
        <p:spPr>
          <a:xfrm>
            <a:off x="7680960" y="201168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Therefore …</a:t>
            </a:r>
            <a:endParaRPr lang="en-US" sz="2200" dirty="0"/>
          </a:p>
        </p:txBody>
      </p:sp>
      <p:sp>
        <p:nvSpPr>
          <p:cNvPr id="13" name="Text 10"/>
          <p:cNvSpPr txBox="1"/>
          <p:nvPr/>
        </p:nvSpPr>
        <p:spPr>
          <a:xfrm>
            <a:off x="6995160" y="2743200"/>
            <a:ext cx="443484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FCA3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hard part of programming is not typing code.</a:t>
            </a:r>
            <a:endParaRPr lang="en-US" sz="1700" dirty="0"/>
          </a:p>
          <a:p>
            <a:pPr indent="0" marL="0">
              <a:buNone/>
            </a:pPr>
            <a:r>
              <a:rPr lang="en-US" sz="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is deciding the exact, unambiguous sequence of steps that solves the problem — the algorithm.</a:t>
            </a:r>
            <a:endParaRPr lang="en-US" sz="1700" dirty="0"/>
          </a:p>
          <a:p>
            <a:pPr indent="0" marL="0">
              <a:buNone/>
            </a:pPr>
            <a:r>
              <a:rPr lang="en-US" sz="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C7CE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language (C#) only writes those steps down in a form the machine can execute.</a:t>
            </a:r>
            <a:endParaRPr lang="en-US" sz="1700" dirty="0"/>
          </a:p>
        </p:txBody>
      </p:sp>
      <p:sp>
        <p:nvSpPr>
          <p:cNvPr id="15" name="Text 11"/>
          <p:cNvSpPr txBox="1"/>
          <p:nvPr/>
        </p:nvSpPr>
        <p:spPr>
          <a:xfrm>
            <a:off x="54864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MCMP113  ·  Week 1</a:t>
            </a:r>
            <a:endParaRPr lang="en-US" sz="1000" dirty="0"/>
          </a:p>
        </p:txBody>
      </p:sp>
      <p:sp>
        <p:nvSpPr>
          <p:cNvPr id="16" name="Text 12"/>
          <p:cNvSpPr txBox="1"/>
          <p:nvPr/>
        </p:nvSpPr>
        <p:spPr>
          <a:xfrm>
            <a:off x="1118585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CA3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&gt;_ </a:t>
            </a:r>
            <a:pPr indent="0" marL="0">
              <a:buNone/>
            </a:pPr>
            <a:r>
              <a:rPr lang="en-US" sz="1300" dirty="0">
                <a:solidFill>
                  <a:srgbClr val="5B64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LANGUAGES &amp; TRANSLATION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Idea to Running Program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645920" cy="1417320"/>
          </a:xfrm>
          <a:prstGeom prst="roundRect">
            <a:avLst>
              <a:gd name="adj" fmla="val 7742"/>
            </a:avLst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 txBox="1"/>
          <p:nvPr/>
        </p:nvSpPr>
        <p:spPr>
          <a:xfrm>
            <a:off x="640080" y="178308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CA3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Algorithm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286000"/>
            <a:ext cx="1463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C7CE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steps in your head / on paper</a:t>
            </a:r>
            <a:endParaRPr lang="en-US" sz="115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31136" y="2258568"/>
            <a:ext cx="201168" cy="201168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2468880" y="1691640"/>
            <a:ext cx="1645920" cy="1417320"/>
          </a:xfrm>
          <a:prstGeom prst="roundRect">
            <a:avLst>
              <a:gd name="adj" fmla="val 7742"/>
            </a:avLst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  <p:txBody>
          <a:bodyPr/>
          <a:p/>
        </p:txBody>
      </p:sp>
      <p:sp>
        <p:nvSpPr>
          <p:cNvPr id="9" name="Text 6"/>
          <p:cNvSpPr txBox="1"/>
          <p:nvPr/>
        </p:nvSpPr>
        <p:spPr>
          <a:xfrm>
            <a:off x="2560320" y="178308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CA3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C# source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2560320" y="2286000"/>
            <a:ext cx="1463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C7CE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Program.cs — text you type</a:t>
            </a:r>
            <a:endParaRPr lang="en-US" sz="115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51376" y="2258568"/>
            <a:ext cx="201168" cy="201168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4389120" y="1691640"/>
            <a:ext cx="1645920" cy="1417320"/>
          </a:xfrm>
          <a:prstGeom prst="roundRect">
            <a:avLst>
              <a:gd name="adj" fmla="val 7742"/>
            </a:avLst>
          </a:prstGeom>
          <a:solidFill>
            <a:srgbClr val="EEF1F6"/>
          </a:solidFill>
          <a:ln w="12700">
            <a:solidFill>
              <a:srgbClr val="EEF1F6"/>
            </a:solidFill>
            <a:prstDash val="solid"/>
          </a:ln>
        </p:spPr>
        <p:txBody>
          <a:bodyPr/>
          <a:p/>
        </p:txBody>
      </p:sp>
      <p:sp>
        <p:nvSpPr>
          <p:cNvPr id="13" name="Text 9"/>
          <p:cNvSpPr txBox="1"/>
          <p:nvPr/>
        </p:nvSpPr>
        <p:spPr>
          <a:xfrm>
            <a:off x="4480560" y="178308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Compiler</a:t>
            </a:r>
            <a:endParaRPr lang="en-US" sz="1500" dirty="0"/>
          </a:p>
        </p:txBody>
      </p:sp>
      <p:sp>
        <p:nvSpPr>
          <p:cNvPr id="14" name="Text 10"/>
          <p:cNvSpPr txBox="1"/>
          <p:nvPr/>
        </p:nvSpPr>
        <p:spPr>
          <a:xfrm>
            <a:off x="4480560" y="2286000"/>
            <a:ext cx="1463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dotnet build checks &amp; translates</a:t>
            </a:r>
            <a:endParaRPr lang="en-US" sz="1150" dirty="0"/>
          </a:p>
        </p:txBody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71616" y="2258568"/>
            <a:ext cx="201168" cy="201168"/>
          </a:xfrm>
          <a:prstGeom prst="rect">
            <a:avLst/>
          </a:prstGeom>
        </p:spPr>
      </p:pic>
      <p:sp>
        <p:nvSpPr>
          <p:cNvPr id="16" name="Shape 11"/>
          <p:cNvSpPr/>
          <p:nvPr/>
        </p:nvSpPr>
        <p:spPr>
          <a:xfrm>
            <a:off x="6309360" y="1691640"/>
            <a:ext cx="1645920" cy="1417320"/>
          </a:xfrm>
          <a:prstGeom prst="roundRect">
            <a:avLst>
              <a:gd name="adj" fmla="val 7742"/>
            </a:avLst>
          </a:prstGeom>
          <a:solidFill>
            <a:srgbClr val="EEF1F6"/>
          </a:solidFill>
          <a:ln w="12700">
            <a:solidFill>
              <a:srgbClr val="EEF1F6"/>
            </a:solidFill>
            <a:prstDash val="solid"/>
          </a:ln>
        </p:spPr>
        <p:txBody>
          <a:bodyPr/>
          <a:p/>
        </p:txBody>
      </p:sp>
      <p:sp>
        <p:nvSpPr>
          <p:cNvPr id="17" name="Text 12"/>
          <p:cNvSpPr txBox="1"/>
          <p:nvPr/>
        </p:nvSpPr>
        <p:spPr>
          <a:xfrm>
            <a:off x="6400800" y="178308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IL (.dll)</a:t>
            </a:r>
            <a:endParaRPr lang="en-US" sz="1500" dirty="0"/>
          </a:p>
        </p:txBody>
      </p:sp>
      <p:sp>
        <p:nvSpPr>
          <p:cNvPr id="18" name="Text 13"/>
          <p:cNvSpPr txBox="1"/>
          <p:nvPr/>
        </p:nvSpPr>
        <p:spPr>
          <a:xfrm>
            <a:off x="6400800" y="2286000"/>
            <a:ext cx="1463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portable intermediate code</a:t>
            </a:r>
            <a:endParaRPr lang="en-US" sz="1150" dirty="0"/>
          </a:p>
        </p:txBody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91856" y="2258568"/>
            <a:ext cx="201168" cy="201168"/>
          </a:xfrm>
          <a:prstGeom prst="rect">
            <a:avLst/>
          </a:prstGeom>
        </p:spPr>
      </p:pic>
      <p:sp>
        <p:nvSpPr>
          <p:cNvPr id="20" name="Shape 14"/>
          <p:cNvSpPr/>
          <p:nvPr/>
        </p:nvSpPr>
        <p:spPr>
          <a:xfrm>
            <a:off x="8229600" y="1691640"/>
            <a:ext cx="1645920" cy="1417320"/>
          </a:xfrm>
          <a:prstGeom prst="roundRect">
            <a:avLst>
              <a:gd name="adj" fmla="val 7742"/>
            </a:avLst>
          </a:prstGeom>
          <a:solidFill>
            <a:srgbClr val="EEF1F6"/>
          </a:solidFill>
          <a:ln w="12700">
            <a:solidFill>
              <a:srgbClr val="EEF1F6"/>
            </a:solidFill>
            <a:prstDash val="solid"/>
          </a:ln>
        </p:spPr>
        <p:txBody>
          <a:bodyPr/>
          <a:p/>
        </p:txBody>
      </p:sp>
      <p:sp>
        <p:nvSpPr>
          <p:cNvPr id="21" name="Text 15"/>
          <p:cNvSpPr txBox="1"/>
          <p:nvPr/>
        </p:nvSpPr>
        <p:spPr>
          <a:xfrm>
            <a:off x="8321040" y="178308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Runtime (JIT)</a:t>
            </a:r>
            <a:endParaRPr lang="en-US" sz="1500" dirty="0"/>
          </a:p>
        </p:txBody>
      </p:sp>
      <p:sp>
        <p:nvSpPr>
          <p:cNvPr id="22" name="Text 16"/>
          <p:cNvSpPr txBox="1"/>
          <p:nvPr/>
        </p:nvSpPr>
        <p:spPr>
          <a:xfrm>
            <a:off x="8321040" y="2286000"/>
            <a:ext cx="1463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.NET turns IL into CPU code</a:t>
            </a:r>
            <a:endParaRPr lang="en-US" sz="1150" dirty="0"/>
          </a:p>
        </p:txBody>
      </p:sp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912096" y="2258568"/>
            <a:ext cx="201168" cy="201168"/>
          </a:xfrm>
          <a:prstGeom prst="rect">
            <a:avLst/>
          </a:prstGeom>
        </p:spPr>
      </p:pic>
      <p:sp>
        <p:nvSpPr>
          <p:cNvPr id="24" name="Shape 17"/>
          <p:cNvSpPr/>
          <p:nvPr/>
        </p:nvSpPr>
        <p:spPr>
          <a:xfrm>
            <a:off x="10149840" y="1691640"/>
            <a:ext cx="1645920" cy="1417320"/>
          </a:xfrm>
          <a:prstGeom prst="roundRect">
            <a:avLst>
              <a:gd name="adj" fmla="val 7742"/>
            </a:avLst>
          </a:prstGeom>
          <a:solidFill>
            <a:srgbClr val="EEF1F6"/>
          </a:solidFill>
          <a:ln w="12700">
            <a:solidFill>
              <a:srgbClr val="EEF1F6"/>
            </a:solidFill>
            <a:prstDash val="solid"/>
          </a:ln>
        </p:spPr>
        <p:txBody>
          <a:bodyPr/>
          <a:p/>
        </p:txBody>
      </p:sp>
      <p:sp>
        <p:nvSpPr>
          <p:cNvPr id="25" name="Text 18"/>
          <p:cNvSpPr txBox="1"/>
          <p:nvPr/>
        </p:nvSpPr>
        <p:spPr>
          <a:xfrm>
            <a:off x="10241280" y="178308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Machine code</a:t>
            </a:r>
            <a:endParaRPr lang="en-US" sz="1500" dirty="0"/>
          </a:p>
        </p:txBody>
      </p:sp>
      <p:sp>
        <p:nvSpPr>
          <p:cNvPr id="26" name="Text 19"/>
          <p:cNvSpPr txBox="1"/>
          <p:nvPr/>
        </p:nvSpPr>
        <p:spPr>
          <a:xfrm>
            <a:off x="10241280" y="2286000"/>
            <a:ext cx="1463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0s and 1s the CPU executes</a:t>
            </a:r>
            <a:endParaRPr lang="en-US" sz="1150" dirty="0"/>
          </a:p>
        </p:txBody>
      </p:sp>
      <p:sp>
        <p:nvSpPr>
          <p:cNvPr id="27" name="Text 20"/>
          <p:cNvSpPr txBox="1"/>
          <p:nvPr/>
        </p:nvSpPr>
        <p:spPr>
          <a:xfrm>
            <a:off x="548640" y="324612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7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</a:t>
            </a:r>
            <a:pPr indent="0" marL="0">
              <a:buNone/>
            </a:pPr>
            <a:r>
              <a:rPr lang="en-US" sz="13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write the first two boxes  ·  </a:t>
            </a:r>
            <a:pPr indent="0" marL="0">
              <a:buNone/>
            </a:pPr>
            <a:r>
              <a:rPr lang="en-US" sz="13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</a:t>
            </a:r>
            <a:pPr indent="0" marL="0">
              <a:buNone/>
            </a:pPr>
            <a:r>
              <a:rPr lang="en-US" sz="13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do the rest automatically when you type  dotnet run</a:t>
            </a:r>
            <a:endParaRPr lang="en-US" sz="1300" dirty="0"/>
          </a:p>
        </p:txBody>
      </p:sp>
      <p:sp>
        <p:nvSpPr>
          <p:cNvPr id="28" name="Text 21"/>
          <p:cNvSpPr txBox="1"/>
          <p:nvPr/>
        </p:nvSpPr>
        <p:spPr>
          <a:xfrm>
            <a:off x="548640" y="379476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Same task — “put 5 in a register, add 3” — at three levels</a:t>
            </a:r>
            <a:endParaRPr lang="en-US" sz="1700" dirty="0"/>
          </a:p>
        </p:txBody>
      </p:sp>
      <p:sp>
        <p:nvSpPr>
          <p:cNvPr id="29" name="Text 22"/>
          <p:cNvSpPr txBox="1"/>
          <p:nvPr/>
        </p:nvSpPr>
        <p:spPr>
          <a:xfrm>
            <a:off x="548640" y="4206240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779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Machine code (x86, hex)</a:t>
            </a:r>
            <a:endParaRPr lang="en-US" sz="1200" dirty="0"/>
          </a:p>
        </p:txBody>
      </p:sp>
      <p:sp>
        <p:nvSpPr>
          <p:cNvPr id="30" name="Shape 23"/>
          <p:cNvSpPr/>
          <p:nvPr/>
        </p:nvSpPr>
        <p:spPr>
          <a:xfrm>
            <a:off x="548640" y="4526280"/>
            <a:ext cx="3520440" cy="868680"/>
          </a:xfrm>
          <a:prstGeom prst="roundRect">
            <a:avLst>
              <a:gd name="adj" fmla="val 10526"/>
            </a:avLst>
          </a:prstGeom>
          <a:solidFill>
            <a:srgbClr val="0F1729"/>
          </a:solidFill>
          <a:ln w="12700">
            <a:solidFill>
              <a:srgbClr val="0F1729"/>
            </a:solidFill>
            <a:prstDash val="solid"/>
          </a:ln>
        </p:spPr>
        <p:txBody>
          <a:bodyPr/>
          <a:p/>
        </p:txBody>
      </p:sp>
      <p:sp>
        <p:nvSpPr>
          <p:cNvPr id="31" name="Text 24"/>
          <p:cNvSpPr txBox="1"/>
          <p:nvPr/>
        </p:nvSpPr>
        <p:spPr>
          <a:xfrm>
            <a:off x="777240" y="4709160"/>
            <a:ext cx="3063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B8 05 00 00 00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83 C0 03</a:t>
            </a:r>
            <a:endParaRPr lang="en-US" sz="1400" dirty="0"/>
          </a:p>
        </p:txBody>
      </p:sp>
      <p:sp>
        <p:nvSpPr>
          <p:cNvPr id="32" name="Text 25"/>
          <p:cNvSpPr txBox="1"/>
          <p:nvPr/>
        </p:nvSpPr>
        <p:spPr>
          <a:xfrm>
            <a:off x="548640" y="5486400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333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CPU really reads. Unreadable for humans.</a:t>
            </a:r>
            <a:endParaRPr lang="en-US" sz="1250" dirty="0"/>
          </a:p>
        </p:txBody>
      </p:sp>
      <p:sp>
        <p:nvSpPr>
          <p:cNvPr id="33" name="Text 26"/>
          <p:cNvSpPr txBox="1"/>
          <p:nvPr/>
        </p:nvSpPr>
        <p:spPr>
          <a:xfrm>
            <a:off x="4297680" y="4206240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779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Assembly</a:t>
            </a:r>
            <a:endParaRPr lang="en-US" sz="1200" dirty="0"/>
          </a:p>
        </p:txBody>
      </p:sp>
      <p:sp>
        <p:nvSpPr>
          <p:cNvPr id="34" name="Shape 27"/>
          <p:cNvSpPr/>
          <p:nvPr/>
        </p:nvSpPr>
        <p:spPr>
          <a:xfrm>
            <a:off x="4297680" y="4526280"/>
            <a:ext cx="3520440" cy="868680"/>
          </a:xfrm>
          <a:prstGeom prst="roundRect">
            <a:avLst>
              <a:gd name="adj" fmla="val 10526"/>
            </a:avLst>
          </a:prstGeom>
          <a:solidFill>
            <a:srgbClr val="0F1729"/>
          </a:solidFill>
          <a:ln w="12700">
            <a:solidFill>
              <a:srgbClr val="0F1729"/>
            </a:solidFill>
            <a:prstDash val="solid"/>
          </a:ln>
        </p:spPr>
        <p:txBody>
          <a:bodyPr/>
          <a:p/>
        </p:txBody>
      </p:sp>
      <p:sp>
        <p:nvSpPr>
          <p:cNvPr id="35" name="Text 28"/>
          <p:cNvSpPr txBox="1"/>
          <p:nvPr/>
        </p:nvSpPr>
        <p:spPr>
          <a:xfrm>
            <a:off x="4526280" y="4709160"/>
            <a:ext cx="3063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mov eax, 5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add eax, 3</a:t>
            </a:r>
            <a:endParaRPr lang="en-US" sz="1400" dirty="0"/>
          </a:p>
        </p:txBody>
      </p:sp>
      <p:sp>
        <p:nvSpPr>
          <p:cNvPr id="36" name="Text 29"/>
          <p:cNvSpPr txBox="1"/>
          <p:nvPr/>
        </p:nvSpPr>
        <p:spPr>
          <a:xfrm>
            <a:off x="4297680" y="5486400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333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mnemonic per machine instruction. CPU-specific.</a:t>
            </a:r>
            <a:endParaRPr lang="en-US" sz="1250" dirty="0"/>
          </a:p>
        </p:txBody>
      </p:sp>
      <p:sp>
        <p:nvSpPr>
          <p:cNvPr id="37" name="Text 30"/>
          <p:cNvSpPr txBox="1"/>
          <p:nvPr/>
        </p:nvSpPr>
        <p:spPr>
          <a:xfrm>
            <a:off x="8046720" y="4206240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779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High-level: C#</a:t>
            </a:r>
            <a:endParaRPr lang="en-US" sz="1200" dirty="0"/>
          </a:p>
        </p:txBody>
      </p:sp>
      <p:sp>
        <p:nvSpPr>
          <p:cNvPr id="38" name="Shape 31"/>
          <p:cNvSpPr/>
          <p:nvPr/>
        </p:nvSpPr>
        <p:spPr>
          <a:xfrm>
            <a:off x="8046720" y="4526280"/>
            <a:ext cx="3520440" cy="868680"/>
          </a:xfrm>
          <a:prstGeom prst="roundRect">
            <a:avLst>
              <a:gd name="adj" fmla="val 10526"/>
            </a:avLst>
          </a:prstGeom>
          <a:solidFill>
            <a:srgbClr val="0F1729"/>
          </a:solidFill>
          <a:ln w="12700">
            <a:solidFill>
              <a:srgbClr val="0F1729"/>
            </a:solidFill>
            <a:prstDash val="solid"/>
          </a:ln>
        </p:spPr>
        <p:txBody>
          <a:bodyPr/>
          <a:p/>
        </p:txBody>
      </p:sp>
      <p:sp>
        <p:nvSpPr>
          <p:cNvPr id="39" name="Text 32"/>
          <p:cNvSpPr txBox="1"/>
          <p:nvPr/>
        </p:nvSpPr>
        <p:spPr>
          <a:xfrm>
            <a:off x="8275320" y="4709160"/>
            <a:ext cx="3063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sum = 5 + 3;</a:t>
            </a:r>
            <a:endParaRPr lang="en-US" sz="1400" dirty="0"/>
          </a:p>
        </p:txBody>
      </p:sp>
      <p:sp>
        <p:nvSpPr>
          <p:cNvPr id="40" name="Text 33"/>
          <p:cNvSpPr txBox="1"/>
          <p:nvPr/>
        </p:nvSpPr>
        <p:spPr>
          <a:xfrm>
            <a:off x="8046720" y="5486400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333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 to human thinking. Runs on any OS with .NET.</a:t>
            </a:r>
            <a:endParaRPr lang="en-US" sz="1250" dirty="0"/>
          </a:p>
        </p:txBody>
      </p:sp>
      <p:sp>
        <p:nvSpPr>
          <p:cNvPr id="42" name="Text 34"/>
          <p:cNvSpPr txBox="1"/>
          <p:nvPr/>
        </p:nvSpPr>
        <p:spPr>
          <a:xfrm>
            <a:off x="54864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MCMP113  ·  Week 1</a:t>
            </a:r>
            <a:endParaRPr lang="en-US" sz="1000" dirty="0"/>
          </a:p>
        </p:txBody>
      </p:sp>
      <p:sp>
        <p:nvSpPr>
          <p:cNvPr id="43" name="Text 35"/>
          <p:cNvSpPr txBox="1"/>
          <p:nvPr/>
        </p:nvSpPr>
        <p:spPr>
          <a:xfrm>
            <a:off x="1118585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463040"/>
            <a:ext cx="2743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0" b="1" dirty="0">
                <a:solidFill>
                  <a:srgbClr val="FCA3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&gt;_</a:t>
            </a:r>
            <a:endParaRPr lang="en-US" sz="8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9260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spc="400" kern="0" dirty="0">
                <a:solidFill>
                  <a:srgbClr val="8A94A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PART 2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33756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an Algorithm?</a:t>
            </a:r>
            <a:endParaRPr lang="en-US" sz="4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434340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7CE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precise, finite recipe that turns input into the desired output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4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MCMP113  ·  Week 1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1118585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4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CA3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&gt;_ </a:t>
            </a:r>
            <a:pPr indent="0" marL="0">
              <a:buNone/>
            </a:pPr>
            <a:r>
              <a:rPr lang="en-US" sz="1300" dirty="0">
                <a:solidFill>
                  <a:srgbClr val="5B64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ACTIVITY · 5 MIN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Exact Instructions Challenge</a:t>
            </a:r>
            <a:endParaRPr lang="en-US" sz="3400" dirty="0"/>
          </a:p>
        </p:txBody>
      </p:sp>
      <p:pic>
        <p:nvPicPr>
          <p:cNvPr id="3" name="Media 0">
            <a:hlinkClick r:id="" action="ppaction://media"/>
          </p:cNvPr>
          <p:cNvPicPr>
            <a:picLocks noChangeAspect="1"/>
          </p:cNvPicPr>
          <p:nvPr>
            <a:videoFile r:link="rId1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3"/>
          <a:stretch>
            <a:fillRect/>
          </a:stretch>
        </p:blipFill>
        <p:spPr>
          <a:xfrm>
            <a:off x="548640" y="1600200"/>
            <a:ext cx="6949440" cy="390906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818120" y="1600200"/>
            <a:ext cx="3840480" cy="3909060"/>
          </a:xfrm>
          <a:prstGeom prst="roundRect">
            <a:avLst>
              <a:gd name="adj" fmla="val 2857"/>
            </a:avLst>
          </a:prstGeom>
          <a:solidFill>
            <a:srgbClr val="EEF1F6"/>
          </a:solidFill>
          <a:ln w="12700">
            <a:solidFill>
              <a:srgbClr val="EEF1F6"/>
            </a:solidFill>
            <a:prstDash val="solid"/>
          </a:ln>
        </p:spPr>
        <p:txBody>
          <a:bodyPr/>
          <a:p/>
        </p:txBody>
      </p:sp>
      <p:sp>
        <p:nvSpPr>
          <p:cNvPr id="6" name="Text 3"/>
          <p:cNvSpPr txBox="1"/>
          <p:nvPr/>
        </p:nvSpPr>
        <p:spPr>
          <a:xfrm>
            <a:off x="8092440" y="178308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While you watch, note down:</a:t>
            </a:r>
            <a:endParaRPr lang="en-US" sz="1700" dirty="0"/>
          </a:p>
        </p:txBody>
      </p:sp>
      <p:sp>
        <p:nvSpPr>
          <p:cNvPr id="7" name="Text 4"/>
          <p:cNvSpPr txBox="1"/>
          <p:nvPr/>
        </p:nvSpPr>
        <p:spPr>
          <a:xfrm>
            <a:off x="8092440" y="2286000"/>
            <a:ext cx="338328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rgbClr val="333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instruction was ambiguous?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rgbClr val="333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step was missing?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rgbClr val="333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step was in the wrong order?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rgbClr val="333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Did the “algorithm” ever end?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rgbClr val="333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did the kids fix it?</a:t>
            </a:r>
            <a:endParaRPr lang="en-US" sz="1500" dirty="0"/>
          </a:p>
        </p:txBody>
      </p:sp>
      <p:sp>
        <p:nvSpPr>
          <p:cNvPr id="9" name="Text 5"/>
          <p:cNvSpPr txBox="1"/>
          <p:nvPr/>
        </p:nvSpPr>
        <p:spPr>
          <a:xfrm>
            <a:off x="54864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MCMP113  ·  Week 1</a:t>
            </a:r>
            <a:endParaRPr lang="en-US" sz="1000" dirty="0"/>
          </a:p>
        </p:txBody>
      </p:sp>
      <p:sp>
        <p:nvSpPr>
          <p:cNvPr id="10" name="Text 6"/>
          <p:cNvSpPr txBox="1"/>
          <p:nvPr/>
        </p:nvSpPr>
        <p:spPr>
          <a:xfrm>
            <a:off x="1118585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CA3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&gt;_ </a:t>
            </a:r>
            <a:pPr indent="0" marL="0">
              <a:buNone/>
            </a:pPr>
            <a:r>
              <a:rPr lang="en-US" sz="1300" dirty="0">
                <a:solidFill>
                  <a:srgbClr val="5B64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DEFINITION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Algorithm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6675120" cy="2011680"/>
          </a:xfrm>
          <a:prstGeom prst="roundRect">
            <a:avLst>
              <a:gd name="adj" fmla="val 5455"/>
            </a:avLst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 txBox="1"/>
          <p:nvPr/>
        </p:nvSpPr>
        <p:spPr>
          <a:xfrm>
            <a:off x="868680" y="1783080"/>
            <a:ext cx="61264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 algorithm is a </a:t>
            </a:r>
            <a:pPr indent="0" marL="0">
              <a:buNone/>
            </a:pPr>
            <a:r>
              <a:rPr lang="en-US" sz="2300" b="1" dirty="0">
                <a:solidFill>
                  <a:srgbClr val="FCA3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finite</a:t>
            </a:r>
            <a:pPr indent="0" marL="0">
              <a:buNone/>
            </a:pPr>
            <a:r>
              <a:rPr lang="en-US" sz="23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sequence of </a:t>
            </a:r>
            <a:pPr indent="0" marL="0">
              <a:buNone/>
            </a:pPr>
            <a:r>
              <a:rPr lang="en-US" sz="2300" b="1" dirty="0">
                <a:solidFill>
                  <a:srgbClr val="FCA3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well-defined</a:t>
            </a:r>
            <a:pPr indent="0" marL="0">
              <a:buNone/>
            </a:pPr>
            <a:r>
              <a:rPr lang="en-US" sz="23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steps that transforms a given </a:t>
            </a:r>
            <a:pPr indent="0" marL="0">
              <a:buNone/>
            </a:pPr>
            <a:r>
              <a:rPr lang="en-US" sz="2300" b="1" dirty="0">
                <a:solidFill>
                  <a:srgbClr val="FCA3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input</a:t>
            </a:r>
            <a:pPr indent="0" marL="0">
              <a:buNone/>
            </a:pPr>
            <a:r>
              <a:rPr lang="en-US" sz="23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into the desired </a:t>
            </a:r>
            <a:pPr indent="0" marL="0">
              <a:buNone/>
            </a:pPr>
            <a:r>
              <a:rPr lang="en-US" sz="2300" b="1" dirty="0">
                <a:solidFill>
                  <a:srgbClr val="FCA3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output</a:t>
            </a:r>
            <a:pPr indent="0" marL="0">
              <a:buNone/>
            </a:pPr>
            <a:r>
              <a:rPr lang="en-US" sz="23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and then stops.</a:t>
            </a:r>
            <a:endParaRPr lang="en-US" sz="23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3977640"/>
            <a:ext cx="6675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does the word come from?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4389120"/>
            <a:ext cx="66751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33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Muhammad ibn Mūsā al-Khwārizmī (c. 780–850), a mathematician of the House of Wisdom in Baghdad, wrote the book that taught Europe the Hindu–Arabic decimal system. His name, Latinised as “Algoritmi”, became algorithm; the title of his other book (al-jabr) gave us algebra.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7589520" y="1645920"/>
            <a:ext cx="4069080" cy="4206240"/>
          </a:xfrm>
          <a:prstGeom prst="roundRect">
            <a:avLst>
              <a:gd name="adj" fmla="val 2697"/>
            </a:avLst>
          </a:prstGeom>
          <a:solidFill>
            <a:srgbClr val="EEF1F6"/>
          </a:solidFill>
          <a:ln w="12700">
            <a:solidFill>
              <a:srgbClr val="EEF1F6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 txBox="1"/>
          <p:nvPr/>
        </p:nvSpPr>
        <p:spPr>
          <a:xfrm>
            <a:off x="7863840" y="182880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Algorithm vs. Program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7863840" y="237744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779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Algorithm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7863840" y="2706624"/>
            <a:ext cx="3566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33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idea — language-independent; written in words, pseudocode or a flowchart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7863840" y="347472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779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Program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7863840" y="3803904"/>
            <a:ext cx="3566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33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implementation of the idea in a specific language (C#, Python …)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7863840" y="457200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779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 → many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7863840" y="4901184"/>
            <a:ext cx="3566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33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algorithm can be coded in any language</a:t>
            </a:r>
            <a:endParaRPr lang="en-US" sz="1400" dirty="0"/>
          </a:p>
        </p:txBody>
      </p:sp>
      <p:sp>
        <p:nvSpPr>
          <p:cNvPr id="17" name="Text 14"/>
          <p:cNvSpPr txBox="1"/>
          <p:nvPr/>
        </p:nvSpPr>
        <p:spPr>
          <a:xfrm>
            <a:off x="54864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MCMP113  ·  Week 1</a:t>
            </a:r>
            <a:endParaRPr lang="en-US" sz="1000" dirty="0"/>
          </a:p>
        </p:txBody>
      </p:sp>
      <p:sp>
        <p:nvSpPr>
          <p:cNvPr id="18" name="Text 15"/>
          <p:cNvSpPr txBox="1"/>
          <p:nvPr/>
        </p:nvSpPr>
        <p:spPr>
          <a:xfrm>
            <a:off x="1118585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CA3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&gt;_ </a:t>
            </a:r>
            <a:pPr indent="0" marL="0">
              <a:buNone/>
            </a:pPr>
            <a:r>
              <a:rPr lang="en-US" sz="1300" dirty="0">
                <a:solidFill>
                  <a:srgbClr val="5B64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MOTIVATION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Algorithms Are Already Running Your Day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3520440" cy="1874520"/>
          </a:xfrm>
          <a:prstGeom prst="roundRect">
            <a:avLst>
              <a:gd name="adj" fmla="val 5854"/>
            </a:avLst>
          </a:prstGeom>
          <a:solidFill>
            <a:srgbClr val="EEF1F6"/>
          </a:solidFill>
          <a:ln w="12700">
            <a:solidFill>
              <a:srgbClr val="EEF1F6"/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822960" y="1920240"/>
            <a:ext cx="640080" cy="640080"/>
          </a:xfrm>
          <a:prstGeom prst="ellipse">
            <a:avLst/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  <p:txBody>
          <a:bodyPr/>
          <a:p/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9381" y="2086661"/>
            <a:ext cx="307238" cy="307238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645920" y="192024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Navigation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2670048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333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Shortest-path algorithms (Dijkstra, 1959) pick your route on Google Maps / Yandex.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4297680" y="1645920"/>
            <a:ext cx="3520440" cy="1874520"/>
          </a:xfrm>
          <a:prstGeom prst="roundRect">
            <a:avLst>
              <a:gd name="adj" fmla="val 5854"/>
            </a:avLst>
          </a:prstGeom>
          <a:solidFill>
            <a:srgbClr val="EEF1F6"/>
          </a:solidFill>
          <a:ln w="12700">
            <a:solidFill>
              <a:srgbClr val="EEF1F6"/>
            </a:solidFill>
            <a:prstDash val="solid"/>
          </a:ln>
        </p:spPr>
        <p:txBody>
          <a:bodyPr/>
          <a:p/>
        </p:txBody>
      </p:sp>
      <p:sp>
        <p:nvSpPr>
          <p:cNvPr id="10" name="Shape 7"/>
          <p:cNvSpPr/>
          <p:nvPr/>
        </p:nvSpPr>
        <p:spPr>
          <a:xfrm>
            <a:off x="4572000" y="1920240"/>
            <a:ext cx="640080" cy="640080"/>
          </a:xfrm>
          <a:prstGeom prst="ellipse">
            <a:avLst/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  <p:txBody>
          <a:bodyPr/>
          <a:p/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38421" y="2086661"/>
            <a:ext cx="307238" cy="307238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5394960" y="192024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Web search</a:t>
            </a:r>
            <a:endParaRPr lang="en-US" sz="1800" dirty="0"/>
          </a:p>
        </p:txBody>
      </p:sp>
      <p:sp>
        <p:nvSpPr>
          <p:cNvPr id="13" name="Text 9"/>
          <p:cNvSpPr txBox="1"/>
          <p:nvPr/>
        </p:nvSpPr>
        <p:spPr>
          <a:xfrm>
            <a:off x="4572000" y="2670048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333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Ranking algorithms order billions of pages in a fraction of a second.</a:t>
            </a:r>
            <a:endParaRPr lang="en-US" sz="1350" dirty="0"/>
          </a:p>
        </p:txBody>
      </p:sp>
      <p:sp>
        <p:nvSpPr>
          <p:cNvPr id="14" name="Shape 10"/>
          <p:cNvSpPr/>
          <p:nvPr/>
        </p:nvSpPr>
        <p:spPr>
          <a:xfrm>
            <a:off x="8046720" y="1645920"/>
            <a:ext cx="3520440" cy="1874520"/>
          </a:xfrm>
          <a:prstGeom prst="roundRect">
            <a:avLst>
              <a:gd name="adj" fmla="val 5854"/>
            </a:avLst>
          </a:prstGeom>
          <a:solidFill>
            <a:srgbClr val="EEF1F6"/>
          </a:solidFill>
          <a:ln w="12700">
            <a:solidFill>
              <a:srgbClr val="EEF1F6"/>
            </a:solidFill>
            <a:prstDash val="solid"/>
          </a:ln>
        </p:spPr>
        <p:txBody>
          <a:bodyPr/>
          <a:p/>
        </p:txBody>
      </p:sp>
      <p:sp>
        <p:nvSpPr>
          <p:cNvPr id="15" name="Shape 11"/>
          <p:cNvSpPr/>
          <p:nvPr/>
        </p:nvSpPr>
        <p:spPr>
          <a:xfrm>
            <a:off x="8321040" y="1920240"/>
            <a:ext cx="640080" cy="640080"/>
          </a:xfrm>
          <a:prstGeom prst="ellipse">
            <a:avLst/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  <p:txBody>
          <a:bodyPr/>
          <a:p/>
        </p:txBody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87461" y="2086661"/>
            <a:ext cx="307238" cy="307238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9144000" y="192024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Banking &amp; ATM</a:t>
            </a:r>
            <a:endParaRPr lang="en-US" sz="1800" dirty="0"/>
          </a:p>
        </p:txBody>
      </p:sp>
      <p:sp>
        <p:nvSpPr>
          <p:cNvPr id="18" name="Text 13"/>
          <p:cNvSpPr txBox="1"/>
          <p:nvPr/>
        </p:nvSpPr>
        <p:spPr>
          <a:xfrm>
            <a:off x="8321040" y="2670048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333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 check, balance rules, fraud detection — all precise decision steps.</a:t>
            </a:r>
            <a:endParaRPr lang="en-US" sz="1350" dirty="0"/>
          </a:p>
        </p:txBody>
      </p:sp>
      <p:sp>
        <p:nvSpPr>
          <p:cNvPr id="19" name="Shape 14"/>
          <p:cNvSpPr/>
          <p:nvPr/>
        </p:nvSpPr>
        <p:spPr>
          <a:xfrm>
            <a:off x="548640" y="3749040"/>
            <a:ext cx="3520440" cy="1874520"/>
          </a:xfrm>
          <a:prstGeom prst="roundRect">
            <a:avLst>
              <a:gd name="adj" fmla="val 5854"/>
            </a:avLst>
          </a:prstGeom>
          <a:solidFill>
            <a:srgbClr val="EEF1F6"/>
          </a:solidFill>
          <a:ln w="12700">
            <a:solidFill>
              <a:srgbClr val="EEF1F6"/>
            </a:solidFill>
            <a:prstDash val="solid"/>
          </a:ln>
        </p:spPr>
        <p:txBody>
          <a:bodyPr/>
          <a:p/>
        </p:txBody>
      </p:sp>
      <p:sp>
        <p:nvSpPr>
          <p:cNvPr id="20" name="Shape 15"/>
          <p:cNvSpPr/>
          <p:nvPr/>
        </p:nvSpPr>
        <p:spPr>
          <a:xfrm>
            <a:off x="822960" y="4023360"/>
            <a:ext cx="640080" cy="640080"/>
          </a:xfrm>
          <a:prstGeom prst="ellipse">
            <a:avLst/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  <p:txBody>
          <a:bodyPr/>
          <a:p/>
        </p:txBody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9381" y="4189781"/>
            <a:ext cx="307238" cy="307238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1645920" y="402336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Compression</a:t>
            </a:r>
            <a:endParaRPr lang="en-US" sz="1800" dirty="0"/>
          </a:p>
        </p:txBody>
      </p:sp>
      <p:sp>
        <p:nvSpPr>
          <p:cNvPr id="23" name="Text 17"/>
          <p:cNvSpPr txBox="1"/>
          <p:nvPr/>
        </p:nvSpPr>
        <p:spPr>
          <a:xfrm>
            <a:off x="822960" y="4773168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333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MP3, JPEG, ZIP: algorithms that shrink data you send and store.</a:t>
            </a:r>
            <a:endParaRPr lang="en-US" sz="1350" dirty="0"/>
          </a:p>
        </p:txBody>
      </p:sp>
      <p:sp>
        <p:nvSpPr>
          <p:cNvPr id="24" name="Shape 18"/>
          <p:cNvSpPr/>
          <p:nvPr/>
        </p:nvSpPr>
        <p:spPr>
          <a:xfrm>
            <a:off x="4297680" y="3749040"/>
            <a:ext cx="3520440" cy="1874520"/>
          </a:xfrm>
          <a:prstGeom prst="roundRect">
            <a:avLst>
              <a:gd name="adj" fmla="val 5854"/>
            </a:avLst>
          </a:prstGeom>
          <a:solidFill>
            <a:srgbClr val="EEF1F6"/>
          </a:solidFill>
          <a:ln w="12700">
            <a:solidFill>
              <a:srgbClr val="EEF1F6"/>
            </a:solidFill>
            <a:prstDash val="solid"/>
          </a:ln>
        </p:spPr>
        <p:txBody>
          <a:bodyPr/>
          <a:p/>
        </p:txBody>
      </p:sp>
      <p:sp>
        <p:nvSpPr>
          <p:cNvPr id="25" name="Shape 19"/>
          <p:cNvSpPr/>
          <p:nvPr/>
        </p:nvSpPr>
        <p:spPr>
          <a:xfrm>
            <a:off x="4572000" y="4023360"/>
            <a:ext cx="640080" cy="640080"/>
          </a:xfrm>
          <a:prstGeom prst="ellipse">
            <a:avLst/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  <p:txBody>
          <a:bodyPr/>
          <a:p/>
        </p:txBody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38421" y="4189781"/>
            <a:ext cx="307238" cy="307238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5394960" y="402336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Communication</a:t>
            </a:r>
            <a:endParaRPr lang="en-US" sz="1800" dirty="0"/>
          </a:p>
        </p:txBody>
      </p:sp>
      <p:sp>
        <p:nvSpPr>
          <p:cNvPr id="28" name="Text 21"/>
          <p:cNvSpPr txBox="1"/>
          <p:nvPr/>
        </p:nvSpPr>
        <p:spPr>
          <a:xfrm>
            <a:off x="4572000" y="4773168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333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Wi-Fi / 4G packet carries a checksum so errors are detected.</a:t>
            </a:r>
            <a:endParaRPr lang="en-US" sz="1350" dirty="0"/>
          </a:p>
        </p:txBody>
      </p:sp>
      <p:sp>
        <p:nvSpPr>
          <p:cNvPr id="29" name="Shape 22"/>
          <p:cNvSpPr/>
          <p:nvPr/>
        </p:nvSpPr>
        <p:spPr>
          <a:xfrm>
            <a:off x="8046720" y="3749040"/>
            <a:ext cx="3520440" cy="1874520"/>
          </a:xfrm>
          <a:prstGeom prst="roundRect">
            <a:avLst>
              <a:gd name="adj" fmla="val 5854"/>
            </a:avLst>
          </a:prstGeom>
          <a:solidFill>
            <a:srgbClr val="EEF1F6"/>
          </a:solidFill>
          <a:ln w="12700">
            <a:solidFill>
              <a:srgbClr val="EEF1F6"/>
            </a:solidFill>
            <a:prstDash val="solid"/>
          </a:ln>
        </p:spPr>
        <p:txBody>
          <a:bodyPr/>
          <a:p/>
        </p:txBody>
      </p:sp>
      <p:sp>
        <p:nvSpPr>
          <p:cNvPr id="30" name="Shape 23"/>
          <p:cNvSpPr/>
          <p:nvPr/>
        </p:nvSpPr>
        <p:spPr>
          <a:xfrm>
            <a:off x="8321040" y="4023360"/>
            <a:ext cx="640080" cy="640080"/>
          </a:xfrm>
          <a:prstGeom prst="ellipse">
            <a:avLst/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  <p:txBody>
          <a:bodyPr/>
          <a:p/>
        </p:txBody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87461" y="4189781"/>
            <a:ext cx="307238" cy="307238"/>
          </a:xfrm>
          <a:prstGeom prst="rect">
            <a:avLst/>
          </a:prstGeom>
        </p:spPr>
      </p:pic>
      <p:sp>
        <p:nvSpPr>
          <p:cNvPr id="32" name="Text 24"/>
          <p:cNvSpPr txBox="1"/>
          <p:nvPr/>
        </p:nvSpPr>
        <p:spPr>
          <a:xfrm>
            <a:off x="9144000" y="402336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Control</a:t>
            </a:r>
            <a:endParaRPr lang="en-US" sz="1800" dirty="0"/>
          </a:p>
        </p:txBody>
      </p:sp>
      <p:sp>
        <p:nvSpPr>
          <p:cNvPr id="33" name="Text 25"/>
          <p:cNvSpPr txBox="1"/>
          <p:nvPr/>
        </p:nvSpPr>
        <p:spPr>
          <a:xfrm>
            <a:off x="8321040" y="4773168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333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Traffic lights, elevators, washing machines follow fixed algorithms.</a:t>
            </a:r>
            <a:endParaRPr lang="en-US" sz="1350" dirty="0"/>
          </a:p>
        </p:txBody>
      </p:sp>
      <p:sp>
        <p:nvSpPr>
          <p:cNvPr id="34" name="Text 26"/>
          <p:cNvSpPr txBox="1"/>
          <p:nvPr/>
        </p:nvSpPr>
        <p:spPr>
          <a:xfrm>
            <a:off x="548640" y="59436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for you: name one algorithm you personally executed this morning.</a:t>
            </a:r>
            <a:endParaRPr lang="en-US" sz="1400" dirty="0"/>
          </a:p>
        </p:txBody>
      </p:sp>
      <p:sp>
        <p:nvSpPr>
          <p:cNvPr id="36" name="Text 27"/>
          <p:cNvSpPr txBox="1"/>
          <p:nvPr/>
        </p:nvSpPr>
        <p:spPr>
          <a:xfrm>
            <a:off x="54864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MCMP113  ·  Week 1</a:t>
            </a:r>
            <a:endParaRPr lang="en-US" sz="1000" dirty="0"/>
          </a:p>
        </p:txBody>
      </p:sp>
      <p:sp>
        <p:nvSpPr>
          <p:cNvPr id="37" name="Text 28"/>
          <p:cNvSpPr txBox="1"/>
          <p:nvPr/>
        </p:nvSpPr>
        <p:spPr>
          <a:xfrm>
            <a:off x="1118585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CA3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&gt;_ </a:t>
            </a:r>
            <a:pPr indent="0" marL="0">
              <a:buNone/>
            </a:pPr>
            <a:r>
              <a:rPr lang="en-US" sz="1300" dirty="0">
                <a:solidFill>
                  <a:srgbClr val="5B64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FIVE PROPERTIES (KNUTH)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Makes a Set of Steps an Algorithm?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11109960" cy="749808"/>
          </a:xfrm>
          <a:prstGeom prst="roundRect">
            <a:avLst>
              <a:gd name="adj" fmla="val 14634"/>
            </a:avLst>
          </a:prstGeom>
          <a:solidFill>
            <a:srgbClr val="EEF1F6"/>
          </a:solidFill>
          <a:ln w="12700">
            <a:solidFill>
              <a:srgbClr val="EEF1F6"/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731520" y="1691640"/>
            <a:ext cx="566928" cy="566928"/>
          </a:xfrm>
          <a:prstGeom prst="ellipse">
            <a:avLst/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  <p:txBody>
          <a:bodyPr/>
          <a:p/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8921" y="1839041"/>
            <a:ext cx="272125" cy="272125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508760" y="1600200"/>
            <a:ext cx="21945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Finiteness</a:t>
            </a:r>
            <a:endParaRPr lang="en-US" sz="1900" dirty="0"/>
          </a:p>
        </p:txBody>
      </p:sp>
      <p:sp>
        <p:nvSpPr>
          <p:cNvPr id="8" name="Text 5"/>
          <p:cNvSpPr txBox="1"/>
          <p:nvPr/>
        </p:nvSpPr>
        <p:spPr>
          <a:xfrm>
            <a:off x="3749040" y="1600200"/>
            <a:ext cx="44805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must stop after a finite number of steps.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8321040" y="1600200"/>
            <a:ext cx="32004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845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“Keep stirring” → stir until when?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548640" y="2487168"/>
            <a:ext cx="11109960" cy="749808"/>
          </a:xfrm>
          <a:prstGeom prst="roundRect">
            <a:avLst>
              <a:gd name="adj" fmla="val 14634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11" name="Shape 8"/>
          <p:cNvSpPr/>
          <p:nvPr/>
        </p:nvSpPr>
        <p:spPr>
          <a:xfrm>
            <a:off x="731520" y="2578608"/>
            <a:ext cx="566928" cy="566928"/>
          </a:xfrm>
          <a:prstGeom prst="ellipse">
            <a:avLst/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  <p:txBody>
          <a:bodyPr/>
          <a:p/>
        </p:txBody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8921" y="2726009"/>
            <a:ext cx="272125" cy="272125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1508760" y="2487168"/>
            <a:ext cx="21945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Definiteness</a:t>
            </a:r>
            <a:endParaRPr lang="en-US" sz="1900" dirty="0"/>
          </a:p>
        </p:txBody>
      </p:sp>
      <p:sp>
        <p:nvSpPr>
          <p:cNvPr id="14" name="Text 10"/>
          <p:cNvSpPr txBox="1"/>
          <p:nvPr/>
        </p:nvSpPr>
        <p:spPr>
          <a:xfrm>
            <a:off x="3749040" y="2487168"/>
            <a:ext cx="44805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step is precise and unambiguous.</a:t>
            </a:r>
            <a:endParaRPr lang="en-US" sz="1500" dirty="0"/>
          </a:p>
        </p:txBody>
      </p:sp>
      <p:sp>
        <p:nvSpPr>
          <p:cNvPr id="15" name="Text 11"/>
          <p:cNvSpPr txBox="1"/>
          <p:nvPr/>
        </p:nvSpPr>
        <p:spPr>
          <a:xfrm>
            <a:off x="8321040" y="2487168"/>
            <a:ext cx="32004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845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“Add some sugar” → how much?</a:t>
            </a:r>
            <a:endParaRPr lang="en-US" sz="1400" dirty="0"/>
          </a:p>
        </p:txBody>
      </p:sp>
      <p:sp>
        <p:nvSpPr>
          <p:cNvPr id="16" name="Shape 12"/>
          <p:cNvSpPr/>
          <p:nvPr/>
        </p:nvSpPr>
        <p:spPr>
          <a:xfrm>
            <a:off x="548640" y="3374136"/>
            <a:ext cx="11109960" cy="749808"/>
          </a:xfrm>
          <a:prstGeom prst="roundRect">
            <a:avLst>
              <a:gd name="adj" fmla="val 14634"/>
            </a:avLst>
          </a:prstGeom>
          <a:solidFill>
            <a:srgbClr val="EEF1F6"/>
          </a:solidFill>
          <a:ln w="12700">
            <a:solidFill>
              <a:srgbClr val="EEF1F6"/>
            </a:solidFill>
            <a:prstDash val="solid"/>
          </a:ln>
        </p:spPr>
        <p:txBody>
          <a:bodyPr/>
          <a:p/>
        </p:txBody>
      </p:sp>
      <p:sp>
        <p:nvSpPr>
          <p:cNvPr id="17" name="Shape 13"/>
          <p:cNvSpPr/>
          <p:nvPr/>
        </p:nvSpPr>
        <p:spPr>
          <a:xfrm>
            <a:off x="731520" y="3465576"/>
            <a:ext cx="566928" cy="566928"/>
          </a:xfrm>
          <a:prstGeom prst="ellipse">
            <a:avLst/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  <p:txBody>
          <a:bodyPr/>
          <a:p/>
        </p:txBody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8921" y="3612977"/>
            <a:ext cx="272125" cy="272125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1508760" y="3374136"/>
            <a:ext cx="21945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Input</a:t>
            </a:r>
            <a:endParaRPr lang="en-US" sz="1900" dirty="0"/>
          </a:p>
        </p:txBody>
      </p:sp>
      <p:sp>
        <p:nvSpPr>
          <p:cNvPr id="20" name="Text 15"/>
          <p:cNvSpPr txBox="1"/>
          <p:nvPr/>
        </p:nvSpPr>
        <p:spPr>
          <a:xfrm>
            <a:off x="3749040" y="3374136"/>
            <a:ext cx="44805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or more clearly specified inputs.</a:t>
            </a:r>
            <a:endParaRPr lang="en-US" sz="1500" dirty="0"/>
          </a:p>
        </p:txBody>
      </p:sp>
      <p:sp>
        <p:nvSpPr>
          <p:cNvPr id="21" name="Text 16"/>
          <p:cNvSpPr txBox="1"/>
          <p:nvPr/>
        </p:nvSpPr>
        <p:spPr>
          <a:xfrm>
            <a:off x="8321040" y="3374136"/>
            <a:ext cx="32004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845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bread? Which knife?</a:t>
            </a:r>
            <a:endParaRPr lang="en-US" sz="1400" dirty="0"/>
          </a:p>
        </p:txBody>
      </p:sp>
      <p:sp>
        <p:nvSpPr>
          <p:cNvPr id="22" name="Shape 17"/>
          <p:cNvSpPr/>
          <p:nvPr/>
        </p:nvSpPr>
        <p:spPr>
          <a:xfrm>
            <a:off x="548640" y="4261104"/>
            <a:ext cx="11109960" cy="749808"/>
          </a:xfrm>
          <a:prstGeom prst="roundRect">
            <a:avLst>
              <a:gd name="adj" fmla="val 14634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23" name="Shape 18"/>
          <p:cNvSpPr/>
          <p:nvPr/>
        </p:nvSpPr>
        <p:spPr>
          <a:xfrm>
            <a:off x="731520" y="4352544"/>
            <a:ext cx="566928" cy="566928"/>
          </a:xfrm>
          <a:prstGeom prst="ellipse">
            <a:avLst/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  <p:txBody>
          <a:bodyPr/>
          <a:p/>
        </p:txBody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8921" y="4499945"/>
            <a:ext cx="272125" cy="272125"/>
          </a:xfrm>
          <a:prstGeom prst="rect">
            <a:avLst/>
          </a:prstGeom>
        </p:spPr>
      </p:pic>
      <p:sp>
        <p:nvSpPr>
          <p:cNvPr id="25" name="Text 19"/>
          <p:cNvSpPr txBox="1"/>
          <p:nvPr/>
        </p:nvSpPr>
        <p:spPr>
          <a:xfrm>
            <a:off x="1508760" y="4261104"/>
            <a:ext cx="21945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Output</a:t>
            </a:r>
            <a:endParaRPr lang="en-US" sz="1900" dirty="0"/>
          </a:p>
        </p:txBody>
      </p:sp>
      <p:sp>
        <p:nvSpPr>
          <p:cNvPr id="26" name="Text 20"/>
          <p:cNvSpPr txBox="1"/>
          <p:nvPr/>
        </p:nvSpPr>
        <p:spPr>
          <a:xfrm>
            <a:off x="3749040" y="4261104"/>
            <a:ext cx="44805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least one result that relates to the input.</a:t>
            </a:r>
            <a:endParaRPr lang="en-US" sz="1500" dirty="0"/>
          </a:p>
        </p:txBody>
      </p:sp>
      <p:sp>
        <p:nvSpPr>
          <p:cNvPr id="27" name="Text 21"/>
          <p:cNvSpPr txBox="1"/>
          <p:nvPr/>
        </p:nvSpPr>
        <p:spPr>
          <a:xfrm>
            <a:off x="8321040" y="4261104"/>
            <a:ext cx="32004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845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sandwich, not an empty plate.</a:t>
            </a:r>
            <a:endParaRPr lang="en-US" sz="1400" dirty="0"/>
          </a:p>
        </p:txBody>
      </p:sp>
      <p:sp>
        <p:nvSpPr>
          <p:cNvPr id="28" name="Shape 22"/>
          <p:cNvSpPr/>
          <p:nvPr/>
        </p:nvSpPr>
        <p:spPr>
          <a:xfrm>
            <a:off x="548640" y="5148072"/>
            <a:ext cx="11109960" cy="749808"/>
          </a:xfrm>
          <a:prstGeom prst="roundRect">
            <a:avLst>
              <a:gd name="adj" fmla="val 14634"/>
            </a:avLst>
          </a:prstGeom>
          <a:solidFill>
            <a:srgbClr val="EEF1F6"/>
          </a:solidFill>
          <a:ln w="12700">
            <a:solidFill>
              <a:srgbClr val="EEF1F6"/>
            </a:solidFill>
            <a:prstDash val="solid"/>
          </a:ln>
        </p:spPr>
        <p:txBody>
          <a:bodyPr/>
          <a:p/>
        </p:txBody>
      </p:sp>
      <p:sp>
        <p:nvSpPr>
          <p:cNvPr id="29" name="Shape 23"/>
          <p:cNvSpPr/>
          <p:nvPr/>
        </p:nvSpPr>
        <p:spPr>
          <a:xfrm>
            <a:off x="731520" y="5239512"/>
            <a:ext cx="566928" cy="566928"/>
          </a:xfrm>
          <a:prstGeom prst="ellipse">
            <a:avLst/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  <p:txBody>
          <a:bodyPr/>
          <a:p/>
        </p:txBody>
      </p:sp>
      <p:pic>
        <p:nvPicPr>
          <p:cNvPr id="3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8921" y="5386913"/>
            <a:ext cx="272125" cy="272125"/>
          </a:xfrm>
          <a:prstGeom prst="rect">
            <a:avLst/>
          </a:prstGeom>
        </p:spPr>
      </p:pic>
      <p:sp>
        <p:nvSpPr>
          <p:cNvPr id="31" name="Text 24"/>
          <p:cNvSpPr txBox="1"/>
          <p:nvPr/>
        </p:nvSpPr>
        <p:spPr>
          <a:xfrm>
            <a:off x="1508760" y="5148072"/>
            <a:ext cx="21945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Effectiveness</a:t>
            </a:r>
            <a:endParaRPr lang="en-US" sz="1900" dirty="0"/>
          </a:p>
        </p:txBody>
      </p:sp>
      <p:sp>
        <p:nvSpPr>
          <p:cNvPr id="32" name="Text 25"/>
          <p:cNvSpPr txBox="1"/>
          <p:nvPr/>
        </p:nvSpPr>
        <p:spPr>
          <a:xfrm>
            <a:off x="3749040" y="5148072"/>
            <a:ext cx="44805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step is basic enough to actually be carried out.</a:t>
            </a:r>
            <a:endParaRPr lang="en-US" sz="1500" dirty="0"/>
          </a:p>
        </p:txBody>
      </p:sp>
      <p:sp>
        <p:nvSpPr>
          <p:cNvPr id="33" name="Text 26"/>
          <p:cNvSpPr txBox="1"/>
          <p:nvPr/>
        </p:nvSpPr>
        <p:spPr>
          <a:xfrm>
            <a:off x="8321040" y="5148072"/>
            <a:ext cx="32004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845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“Make it tasty” is not a step.</a:t>
            </a:r>
            <a:endParaRPr lang="en-US" sz="1400" dirty="0"/>
          </a:p>
        </p:txBody>
      </p:sp>
      <p:sp>
        <p:nvSpPr>
          <p:cNvPr id="35" name="Text 27"/>
          <p:cNvSpPr txBox="1"/>
          <p:nvPr/>
        </p:nvSpPr>
        <p:spPr>
          <a:xfrm>
            <a:off x="54864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MCMP113  ·  Week 1</a:t>
            </a:r>
            <a:endParaRPr lang="en-US" sz="1000" dirty="0"/>
          </a:p>
        </p:txBody>
      </p:sp>
      <p:sp>
        <p:nvSpPr>
          <p:cNvPr id="36" name="Text 28"/>
          <p:cNvSpPr txBox="1"/>
          <p:nvPr/>
        </p:nvSpPr>
        <p:spPr>
          <a:xfrm>
            <a:off x="1118585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CA3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&gt;_ </a:t>
            </a:r>
            <a:pPr indent="0" marL="0">
              <a:buNone/>
            </a:pPr>
            <a:r>
              <a:rPr lang="en-US" sz="1300" dirty="0">
                <a:solidFill>
                  <a:srgbClr val="5B64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QUICK QUIZ · 3 MIN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Algorithm or Not?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5394960" cy="1143000"/>
          </a:xfrm>
          <a:prstGeom prst="roundRect">
            <a:avLst>
              <a:gd name="adj" fmla="val 9600"/>
            </a:avLst>
          </a:prstGeom>
          <a:solidFill>
            <a:srgbClr val="EEF1F6"/>
          </a:solidFill>
          <a:ln w="12700">
            <a:solidFill>
              <a:srgbClr val="EEF1F6"/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777240" y="1920240"/>
            <a:ext cx="594360" cy="594360"/>
          </a:xfrm>
          <a:prstGeom prst="ellipse">
            <a:avLst/>
          </a:prstGeom>
          <a:solidFill>
            <a:srgbClr val="FCA311"/>
          </a:solidFill>
          <a:ln w="12700">
            <a:solidFill>
              <a:srgbClr val="FCA311"/>
            </a:solidFill>
            <a:prstDash val="solid"/>
          </a:ln>
        </p:spPr>
        <p:txBody>
          <a:bodyPr/>
          <a:p/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1774" y="2074774"/>
            <a:ext cx="285293" cy="285293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554480" y="1645920"/>
            <a:ext cx="42062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Shampoo bottle: “Lather. Rinse. Repeat.”</a:t>
            </a:r>
            <a:endParaRPr lang="en-US" sz="1550" dirty="0"/>
          </a:p>
        </p:txBody>
      </p:sp>
      <p:sp>
        <p:nvSpPr>
          <p:cNvPr id="8" name="Shape 5"/>
          <p:cNvSpPr/>
          <p:nvPr/>
        </p:nvSpPr>
        <p:spPr>
          <a:xfrm>
            <a:off x="6172200" y="1645920"/>
            <a:ext cx="5394960" cy="1143000"/>
          </a:xfrm>
          <a:prstGeom prst="roundRect">
            <a:avLst>
              <a:gd name="adj" fmla="val 9600"/>
            </a:avLst>
          </a:prstGeom>
          <a:solidFill>
            <a:srgbClr val="EEF1F6"/>
          </a:solidFill>
          <a:ln w="12700">
            <a:solidFill>
              <a:srgbClr val="EEF1F6"/>
            </a:solidFill>
            <a:prstDash val="solid"/>
          </a:ln>
        </p:spPr>
        <p:txBody>
          <a:bodyPr/>
          <a:p/>
        </p:txBody>
      </p:sp>
      <p:sp>
        <p:nvSpPr>
          <p:cNvPr id="9" name="Shape 6"/>
          <p:cNvSpPr/>
          <p:nvPr/>
        </p:nvSpPr>
        <p:spPr>
          <a:xfrm>
            <a:off x="6400800" y="1920240"/>
            <a:ext cx="594360" cy="594360"/>
          </a:xfrm>
          <a:prstGeom prst="ellipse">
            <a:avLst/>
          </a:prstGeom>
          <a:solidFill>
            <a:srgbClr val="FCA311"/>
          </a:solidFill>
          <a:ln w="12700">
            <a:solidFill>
              <a:srgbClr val="FCA311"/>
            </a:solidFill>
            <a:prstDash val="solid"/>
          </a:ln>
        </p:spPr>
        <p:txBody>
          <a:bodyPr/>
          <a:p/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55334" y="2074774"/>
            <a:ext cx="285293" cy="285293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7178040" y="1645920"/>
            <a:ext cx="42062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The long-division method you learned in primary school.</a:t>
            </a:r>
            <a:endParaRPr lang="en-US" sz="1550" dirty="0"/>
          </a:p>
        </p:txBody>
      </p:sp>
      <p:sp>
        <p:nvSpPr>
          <p:cNvPr id="12" name="Shape 8"/>
          <p:cNvSpPr/>
          <p:nvPr/>
        </p:nvSpPr>
        <p:spPr>
          <a:xfrm>
            <a:off x="548640" y="2971800"/>
            <a:ext cx="5394960" cy="1143000"/>
          </a:xfrm>
          <a:prstGeom prst="roundRect">
            <a:avLst>
              <a:gd name="adj" fmla="val 9600"/>
            </a:avLst>
          </a:prstGeom>
          <a:solidFill>
            <a:srgbClr val="EEF1F6"/>
          </a:solidFill>
          <a:ln w="12700">
            <a:solidFill>
              <a:srgbClr val="EEF1F6"/>
            </a:solidFill>
            <a:prstDash val="solid"/>
          </a:ln>
        </p:spPr>
        <p:txBody>
          <a:bodyPr/>
          <a:p/>
        </p:txBody>
      </p:sp>
      <p:sp>
        <p:nvSpPr>
          <p:cNvPr id="13" name="Shape 9"/>
          <p:cNvSpPr/>
          <p:nvPr/>
        </p:nvSpPr>
        <p:spPr>
          <a:xfrm>
            <a:off x="777240" y="3246120"/>
            <a:ext cx="594360" cy="594360"/>
          </a:xfrm>
          <a:prstGeom prst="ellipse">
            <a:avLst/>
          </a:prstGeom>
          <a:solidFill>
            <a:srgbClr val="FCA311"/>
          </a:solidFill>
          <a:ln w="12700">
            <a:solidFill>
              <a:srgbClr val="FCA311"/>
            </a:solidFill>
            <a:prstDash val="solid"/>
          </a:ln>
        </p:spPr>
        <p:txBody>
          <a:bodyPr/>
          <a:p/>
        </p:txBody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1774" y="3400654"/>
            <a:ext cx="285293" cy="285293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1554480" y="2971800"/>
            <a:ext cx="42062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Print the largest prime number.</a:t>
            </a:r>
            <a:endParaRPr lang="en-US" sz="1550" dirty="0"/>
          </a:p>
        </p:txBody>
      </p:sp>
      <p:sp>
        <p:nvSpPr>
          <p:cNvPr id="16" name="Shape 11"/>
          <p:cNvSpPr/>
          <p:nvPr/>
        </p:nvSpPr>
        <p:spPr>
          <a:xfrm>
            <a:off x="6172200" y="2971800"/>
            <a:ext cx="5394960" cy="1143000"/>
          </a:xfrm>
          <a:prstGeom prst="roundRect">
            <a:avLst>
              <a:gd name="adj" fmla="val 9600"/>
            </a:avLst>
          </a:prstGeom>
          <a:solidFill>
            <a:srgbClr val="EEF1F6"/>
          </a:solidFill>
          <a:ln w="12700">
            <a:solidFill>
              <a:srgbClr val="EEF1F6"/>
            </a:solidFill>
            <a:prstDash val="solid"/>
          </a:ln>
        </p:spPr>
        <p:txBody>
          <a:bodyPr/>
          <a:p/>
        </p:txBody>
      </p:sp>
      <p:sp>
        <p:nvSpPr>
          <p:cNvPr id="17" name="Shape 12"/>
          <p:cNvSpPr/>
          <p:nvPr/>
        </p:nvSpPr>
        <p:spPr>
          <a:xfrm>
            <a:off x="6400800" y="3246120"/>
            <a:ext cx="594360" cy="594360"/>
          </a:xfrm>
          <a:prstGeom prst="ellipse">
            <a:avLst/>
          </a:prstGeom>
          <a:solidFill>
            <a:srgbClr val="FCA311"/>
          </a:solidFill>
          <a:ln w="12700">
            <a:solidFill>
              <a:srgbClr val="FCA311"/>
            </a:solidFill>
            <a:prstDash val="solid"/>
          </a:ln>
        </p:spPr>
        <p:txBody>
          <a:bodyPr/>
          <a:p/>
        </p:txBody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55334" y="3400654"/>
            <a:ext cx="285293" cy="285293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7178040" y="2971800"/>
            <a:ext cx="42062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Recipe: “Add salt to taste.”</a:t>
            </a:r>
            <a:endParaRPr lang="en-US" sz="1550" dirty="0"/>
          </a:p>
        </p:txBody>
      </p:sp>
      <p:sp>
        <p:nvSpPr>
          <p:cNvPr id="20" name="Shape 14"/>
          <p:cNvSpPr/>
          <p:nvPr/>
        </p:nvSpPr>
        <p:spPr>
          <a:xfrm>
            <a:off x="548640" y="4297680"/>
            <a:ext cx="5394960" cy="1143000"/>
          </a:xfrm>
          <a:prstGeom prst="roundRect">
            <a:avLst>
              <a:gd name="adj" fmla="val 9600"/>
            </a:avLst>
          </a:prstGeom>
          <a:solidFill>
            <a:srgbClr val="EEF1F6"/>
          </a:solidFill>
          <a:ln w="12700">
            <a:solidFill>
              <a:srgbClr val="EEF1F6"/>
            </a:solidFill>
            <a:prstDash val="solid"/>
          </a:ln>
        </p:spPr>
        <p:txBody>
          <a:bodyPr/>
          <a:p/>
        </p:txBody>
      </p:sp>
      <p:sp>
        <p:nvSpPr>
          <p:cNvPr id="21" name="Shape 15"/>
          <p:cNvSpPr/>
          <p:nvPr/>
        </p:nvSpPr>
        <p:spPr>
          <a:xfrm>
            <a:off x="777240" y="4572000"/>
            <a:ext cx="594360" cy="594360"/>
          </a:xfrm>
          <a:prstGeom prst="ellipse">
            <a:avLst/>
          </a:prstGeom>
          <a:solidFill>
            <a:srgbClr val="FCA311"/>
          </a:solidFill>
          <a:ln w="12700">
            <a:solidFill>
              <a:srgbClr val="FCA311"/>
            </a:solidFill>
            <a:prstDash val="solid"/>
          </a:ln>
        </p:spPr>
        <p:txBody>
          <a:bodyPr/>
          <a:p/>
        </p:txBody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1774" y="4726534"/>
            <a:ext cx="285293" cy="285293"/>
          </a:xfrm>
          <a:prstGeom prst="rect">
            <a:avLst/>
          </a:prstGeom>
        </p:spPr>
      </p:pic>
      <p:sp>
        <p:nvSpPr>
          <p:cNvPr id="23" name="Text 16"/>
          <p:cNvSpPr txBox="1"/>
          <p:nvPr/>
        </p:nvSpPr>
        <p:spPr>
          <a:xfrm>
            <a:off x="1554480" y="4297680"/>
            <a:ext cx="42062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Find a word in a paper dictionary: open near its first letter, then move forward or back.</a:t>
            </a:r>
            <a:endParaRPr lang="en-US" sz="1550" dirty="0"/>
          </a:p>
        </p:txBody>
      </p:sp>
      <p:sp>
        <p:nvSpPr>
          <p:cNvPr id="24" name="Shape 17"/>
          <p:cNvSpPr/>
          <p:nvPr/>
        </p:nvSpPr>
        <p:spPr>
          <a:xfrm>
            <a:off x="6172200" y="4297680"/>
            <a:ext cx="5394960" cy="1143000"/>
          </a:xfrm>
          <a:prstGeom prst="roundRect">
            <a:avLst>
              <a:gd name="adj" fmla="val 9600"/>
            </a:avLst>
          </a:prstGeom>
          <a:solidFill>
            <a:srgbClr val="EEF1F6"/>
          </a:solidFill>
          <a:ln w="12700">
            <a:solidFill>
              <a:srgbClr val="EEF1F6"/>
            </a:solidFill>
            <a:prstDash val="solid"/>
          </a:ln>
        </p:spPr>
        <p:txBody>
          <a:bodyPr/>
          <a:p/>
        </p:txBody>
      </p:sp>
      <p:sp>
        <p:nvSpPr>
          <p:cNvPr id="25" name="Shape 18"/>
          <p:cNvSpPr/>
          <p:nvPr/>
        </p:nvSpPr>
        <p:spPr>
          <a:xfrm>
            <a:off x="6400800" y="4572000"/>
            <a:ext cx="594360" cy="594360"/>
          </a:xfrm>
          <a:prstGeom prst="ellipse">
            <a:avLst/>
          </a:prstGeom>
          <a:solidFill>
            <a:srgbClr val="FCA311"/>
          </a:solidFill>
          <a:ln w="12700">
            <a:solidFill>
              <a:srgbClr val="FCA311"/>
            </a:solidFill>
            <a:prstDash val="solid"/>
          </a:ln>
        </p:spPr>
        <p:txBody>
          <a:bodyPr/>
          <a:p/>
        </p:txBody>
      </p:sp>
      <p:pic>
        <p:nvPicPr>
          <p:cNvPr id="2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55334" y="4726534"/>
            <a:ext cx="285293" cy="285293"/>
          </a:xfrm>
          <a:prstGeom prst="rect">
            <a:avLst/>
          </a:prstGeom>
        </p:spPr>
      </p:pic>
      <p:sp>
        <p:nvSpPr>
          <p:cNvPr id="27" name="Text 19"/>
          <p:cNvSpPr txBox="1"/>
          <p:nvPr/>
        </p:nvSpPr>
        <p:spPr>
          <a:xfrm>
            <a:off x="7178040" y="4297680"/>
            <a:ext cx="42062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 Choose the best football team in the world.</a:t>
            </a:r>
            <a:endParaRPr lang="en-US" sz="1550" dirty="0"/>
          </a:p>
        </p:txBody>
      </p:sp>
      <p:sp>
        <p:nvSpPr>
          <p:cNvPr id="28" name="Text 20"/>
          <p:cNvSpPr txBox="1"/>
          <p:nvPr/>
        </p:nvSpPr>
        <p:spPr>
          <a:xfrm>
            <a:off x="548640" y="57150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each: yes or no? If no — which of the five properties fails?</a:t>
            </a:r>
            <a:endParaRPr lang="en-US" sz="1400" dirty="0"/>
          </a:p>
        </p:txBody>
      </p:sp>
      <p:sp>
        <p:nvSpPr>
          <p:cNvPr id="30" name="Text 21"/>
          <p:cNvSpPr txBox="1"/>
          <p:nvPr/>
        </p:nvSpPr>
        <p:spPr>
          <a:xfrm>
            <a:off x="54864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MCMP113  ·  Week 1</a:t>
            </a:r>
            <a:endParaRPr lang="en-US" sz="1000" dirty="0"/>
          </a:p>
        </p:txBody>
      </p:sp>
      <p:sp>
        <p:nvSpPr>
          <p:cNvPr id="31" name="Text 22"/>
          <p:cNvSpPr txBox="1"/>
          <p:nvPr/>
        </p:nvSpPr>
        <p:spPr>
          <a:xfrm>
            <a:off x="1118585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CA3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&gt;_ </a:t>
            </a:r>
            <a:pPr indent="0" marL="0">
              <a:buNone/>
            </a:pPr>
            <a:r>
              <a:rPr lang="en-US" sz="1300" dirty="0">
                <a:solidFill>
                  <a:srgbClr val="5B64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QUICK QUIZ · ANSWERS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Algorithm or Not? — Answers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5394960" cy="1143000"/>
          </a:xfrm>
          <a:prstGeom prst="roundRect">
            <a:avLst>
              <a:gd name="adj" fmla="val 9600"/>
            </a:avLst>
          </a:prstGeom>
          <a:solidFill>
            <a:srgbClr val="FBE9E7"/>
          </a:solidFill>
          <a:ln w="12700">
            <a:solidFill>
              <a:srgbClr val="FBE9E7"/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777240" y="1920240"/>
            <a:ext cx="594360" cy="594360"/>
          </a:xfrm>
          <a:prstGeom prst="ellipse">
            <a:avLst/>
          </a:prstGeom>
          <a:solidFill>
            <a:srgbClr val="C8453B"/>
          </a:solidFill>
          <a:ln w="12700">
            <a:solidFill>
              <a:srgbClr val="C8453B"/>
            </a:solidFill>
            <a:prstDash val="solid"/>
          </a:ln>
        </p:spPr>
        <p:txBody>
          <a:bodyPr/>
          <a:p/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1774" y="2074774"/>
            <a:ext cx="285293" cy="285293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554480" y="1783080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845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  Lather. Rinse. Repeat.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1554480" y="2194560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333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stops — fails finiteness.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6172200" y="1645920"/>
            <a:ext cx="5394960" cy="1143000"/>
          </a:xfrm>
          <a:prstGeom prst="roundRect">
            <a:avLst>
              <a:gd name="adj" fmla="val 9600"/>
            </a:avLst>
          </a:prstGeom>
          <a:solidFill>
            <a:srgbClr val="E6F4EC"/>
          </a:solidFill>
          <a:ln w="12700">
            <a:solidFill>
              <a:srgbClr val="E6F4EC"/>
            </a:solidFill>
            <a:prstDash val="solid"/>
          </a:ln>
        </p:spPr>
        <p:txBody>
          <a:bodyPr/>
          <a:p/>
        </p:txBody>
      </p:sp>
      <p:sp>
        <p:nvSpPr>
          <p:cNvPr id="10" name="Shape 7"/>
          <p:cNvSpPr/>
          <p:nvPr/>
        </p:nvSpPr>
        <p:spPr>
          <a:xfrm>
            <a:off x="6400800" y="1920240"/>
            <a:ext cx="594360" cy="594360"/>
          </a:xfrm>
          <a:prstGeom prst="ellipse">
            <a:avLst/>
          </a:prstGeom>
          <a:solidFill>
            <a:srgbClr val="2E9E6A"/>
          </a:solidFill>
          <a:ln w="12700">
            <a:solidFill>
              <a:srgbClr val="2E9E6A"/>
            </a:solidFill>
            <a:prstDash val="solid"/>
          </a:ln>
        </p:spPr>
        <p:txBody>
          <a:bodyPr/>
          <a:p/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55334" y="2074774"/>
            <a:ext cx="285293" cy="285293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7178040" y="1783080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7A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  Long division</a:t>
            </a:r>
            <a:endParaRPr lang="en-US" sz="1600" dirty="0"/>
          </a:p>
        </p:txBody>
      </p:sp>
      <p:sp>
        <p:nvSpPr>
          <p:cNvPr id="13" name="Text 9"/>
          <p:cNvSpPr txBox="1"/>
          <p:nvPr/>
        </p:nvSpPr>
        <p:spPr>
          <a:xfrm>
            <a:off x="7178040" y="2194560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333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Finite, precise, effective. A classic algorithm.</a:t>
            </a:r>
            <a:endParaRPr lang="en-US" sz="1350" dirty="0"/>
          </a:p>
        </p:txBody>
      </p:sp>
      <p:sp>
        <p:nvSpPr>
          <p:cNvPr id="14" name="Shape 10"/>
          <p:cNvSpPr/>
          <p:nvPr/>
        </p:nvSpPr>
        <p:spPr>
          <a:xfrm>
            <a:off x="548640" y="2971800"/>
            <a:ext cx="5394960" cy="1143000"/>
          </a:xfrm>
          <a:prstGeom prst="roundRect">
            <a:avLst>
              <a:gd name="adj" fmla="val 9600"/>
            </a:avLst>
          </a:prstGeom>
          <a:solidFill>
            <a:srgbClr val="FBE9E7"/>
          </a:solidFill>
          <a:ln w="12700">
            <a:solidFill>
              <a:srgbClr val="FBE9E7"/>
            </a:solidFill>
            <a:prstDash val="solid"/>
          </a:ln>
        </p:spPr>
        <p:txBody>
          <a:bodyPr/>
          <a:p/>
        </p:txBody>
      </p:sp>
      <p:sp>
        <p:nvSpPr>
          <p:cNvPr id="15" name="Shape 11"/>
          <p:cNvSpPr/>
          <p:nvPr/>
        </p:nvSpPr>
        <p:spPr>
          <a:xfrm>
            <a:off x="777240" y="3246120"/>
            <a:ext cx="594360" cy="594360"/>
          </a:xfrm>
          <a:prstGeom prst="ellipse">
            <a:avLst/>
          </a:prstGeom>
          <a:solidFill>
            <a:srgbClr val="C8453B"/>
          </a:solidFill>
          <a:ln w="12700">
            <a:solidFill>
              <a:srgbClr val="C8453B"/>
            </a:solidFill>
            <a:prstDash val="solid"/>
          </a:ln>
        </p:spPr>
        <p:txBody>
          <a:bodyPr/>
          <a:p/>
        </p:txBody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1774" y="3400654"/>
            <a:ext cx="285293" cy="285293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1554480" y="3108960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845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  Largest prime</a:t>
            </a:r>
            <a:endParaRPr lang="en-US" sz="1600" dirty="0"/>
          </a:p>
        </p:txBody>
      </p:sp>
      <p:sp>
        <p:nvSpPr>
          <p:cNvPr id="18" name="Text 13"/>
          <p:cNvSpPr txBox="1"/>
          <p:nvPr/>
        </p:nvSpPr>
        <p:spPr>
          <a:xfrm>
            <a:off x="1554480" y="3520440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333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There is no largest prime (Euclid): it never finishes, no output.</a:t>
            </a:r>
            <a:endParaRPr lang="en-US" sz="1350" dirty="0"/>
          </a:p>
        </p:txBody>
      </p:sp>
      <p:sp>
        <p:nvSpPr>
          <p:cNvPr id="19" name="Shape 14"/>
          <p:cNvSpPr/>
          <p:nvPr/>
        </p:nvSpPr>
        <p:spPr>
          <a:xfrm>
            <a:off x="6172200" y="2971800"/>
            <a:ext cx="5394960" cy="1143000"/>
          </a:xfrm>
          <a:prstGeom prst="roundRect">
            <a:avLst>
              <a:gd name="adj" fmla="val 9600"/>
            </a:avLst>
          </a:prstGeom>
          <a:solidFill>
            <a:srgbClr val="FBE9E7"/>
          </a:solidFill>
          <a:ln w="12700">
            <a:solidFill>
              <a:srgbClr val="FBE9E7"/>
            </a:solidFill>
            <a:prstDash val="solid"/>
          </a:ln>
        </p:spPr>
        <p:txBody>
          <a:bodyPr/>
          <a:p/>
        </p:txBody>
      </p:sp>
      <p:sp>
        <p:nvSpPr>
          <p:cNvPr id="20" name="Shape 15"/>
          <p:cNvSpPr/>
          <p:nvPr/>
        </p:nvSpPr>
        <p:spPr>
          <a:xfrm>
            <a:off x="6400800" y="3246120"/>
            <a:ext cx="594360" cy="594360"/>
          </a:xfrm>
          <a:prstGeom prst="ellipse">
            <a:avLst/>
          </a:prstGeom>
          <a:solidFill>
            <a:srgbClr val="C8453B"/>
          </a:solidFill>
          <a:ln w="12700">
            <a:solidFill>
              <a:srgbClr val="C8453B"/>
            </a:solidFill>
            <a:prstDash val="solid"/>
          </a:ln>
        </p:spPr>
        <p:txBody>
          <a:bodyPr/>
          <a:p/>
        </p:txBody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55334" y="3400654"/>
            <a:ext cx="285293" cy="285293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7178040" y="3108960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845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  Salt to taste</a:t>
            </a:r>
            <a:endParaRPr lang="en-US" sz="1600" dirty="0"/>
          </a:p>
        </p:txBody>
      </p:sp>
      <p:sp>
        <p:nvSpPr>
          <p:cNvPr id="23" name="Text 17"/>
          <p:cNvSpPr txBox="1"/>
          <p:nvPr/>
        </p:nvSpPr>
        <p:spPr>
          <a:xfrm>
            <a:off x="7178040" y="3520440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333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“To taste” is not precise — fails definiteness.</a:t>
            </a:r>
            <a:endParaRPr lang="en-US" sz="1350" dirty="0"/>
          </a:p>
        </p:txBody>
      </p:sp>
      <p:sp>
        <p:nvSpPr>
          <p:cNvPr id="24" name="Shape 18"/>
          <p:cNvSpPr/>
          <p:nvPr/>
        </p:nvSpPr>
        <p:spPr>
          <a:xfrm>
            <a:off x="548640" y="4297680"/>
            <a:ext cx="5394960" cy="1143000"/>
          </a:xfrm>
          <a:prstGeom prst="roundRect">
            <a:avLst>
              <a:gd name="adj" fmla="val 9600"/>
            </a:avLst>
          </a:prstGeom>
          <a:solidFill>
            <a:srgbClr val="E6F4EC"/>
          </a:solidFill>
          <a:ln w="12700">
            <a:solidFill>
              <a:srgbClr val="E6F4EC"/>
            </a:solidFill>
            <a:prstDash val="solid"/>
          </a:ln>
        </p:spPr>
        <p:txBody>
          <a:bodyPr/>
          <a:p/>
        </p:txBody>
      </p:sp>
      <p:sp>
        <p:nvSpPr>
          <p:cNvPr id="25" name="Shape 19"/>
          <p:cNvSpPr/>
          <p:nvPr/>
        </p:nvSpPr>
        <p:spPr>
          <a:xfrm>
            <a:off x="777240" y="4572000"/>
            <a:ext cx="594360" cy="594360"/>
          </a:xfrm>
          <a:prstGeom prst="ellipse">
            <a:avLst/>
          </a:prstGeom>
          <a:solidFill>
            <a:srgbClr val="2E9E6A"/>
          </a:solidFill>
          <a:ln w="12700">
            <a:solidFill>
              <a:srgbClr val="2E9E6A"/>
            </a:solidFill>
            <a:prstDash val="solid"/>
          </a:ln>
        </p:spPr>
        <p:txBody>
          <a:bodyPr/>
          <a:p/>
        </p:txBody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1774" y="4726534"/>
            <a:ext cx="285293" cy="285293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1554480" y="4434840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7A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5.  Dictionary look-up</a:t>
            </a:r>
            <a:endParaRPr lang="en-US" sz="1600" dirty="0"/>
          </a:p>
        </p:txBody>
      </p:sp>
      <p:sp>
        <p:nvSpPr>
          <p:cNvPr id="28" name="Text 21"/>
          <p:cNvSpPr txBox="1"/>
          <p:nvPr/>
        </p:nvSpPr>
        <p:spPr>
          <a:xfrm>
            <a:off x="1554480" y="4846320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333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Ends in finitely many steps: the book is finite and ordered.</a:t>
            </a:r>
            <a:endParaRPr lang="en-US" sz="1350" dirty="0"/>
          </a:p>
        </p:txBody>
      </p:sp>
      <p:sp>
        <p:nvSpPr>
          <p:cNvPr id="29" name="Shape 22"/>
          <p:cNvSpPr/>
          <p:nvPr/>
        </p:nvSpPr>
        <p:spPr>
          <a:xfrm>
            <a:off x="6172200" y="4297680"/>
            <a:ext cx="5394960" cy="1143000"/>
          </a:xfrm>
          <a:prstGeom prst="roundRect">
            <a:avLst>
              <a:gd name="adj" fmla="val 9600"/>
            </a:avLst>
          </a:prstGeom>
          <a:solidFill>
            <a:srgbClr val="FBE9E7"/>
          </a:solidFill>
          <a:ln w="12700">
            <a:solidFill>
              <a:srgbClr val="FBE9E7"/>
            </a:solidFill>
            <a:prstDash val="solid"/>
          </a:ln>
        </p:spPr>
        <p:txBody>
          <a:bodyPr/>
          <a:p/>
        </p:txBody>
      </p:sp>
      <p:sp>
        <p:nvSpPr>
          <p:cNvPr id="30" name="Shape 23"/>
          <p:cNvSpPr/>
          <p:nvPr/>
        </p:nvSpPr>
        <p:spPr>
          <a:xfrm>
            <a:off x="6400800" y="4572000"/>
            <a:ext cx="594360" cy="594360"/>
          </a:xfrm>
          <a:prstGeom prst="ellipse">
            <a:avLst/>
          </a:prstGeom>
          <a:solidFill>
            <a:srgbClr val="C8453B"/>
          </a:solidFill>
          <a:ln w="12700">
            <a:solidFill>
              <a:srgbClr val="C8453B"/>
            </a:solidFill>
            <a:prstDash val="solid"/>
          </a:ln>
        </p:spPr>
        <p:txBody>
          <a:bodyPr/>
          <a:p/>
        </p:txBody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55334" y="4726534"/>
            <a:ext cx="285293" cy="285293"/>
          </a:xfrm>
          <a:prstGeom prst="rect">
            <a:avLst/>
          </a:prstGeom>
        </p:spPr>
      </p:pic>
      <p:sp>
        <p:nvSpPr>
          <p:cNvPr id="32" name="Text 24"/>
          <p:cNvSpPr txBox="1"/>
          <p:nvPr/>
        </p:nvSpPr>
        <p:spPr>
          <a:xfrm>
            <a:off x="7178040" y="4434840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845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6.  Best football team</a:t>
            </a:r>
            <a:endParaRPr lang="en-US" sz="1600" dirty="0"/>
          </a:p>
        </p:txBody>
      </p:sp>
      <p:sp>
        <p:nvSpPr>
          <p:cNvPr id="33" name="Text 25"/>
          <p:cNvSpPr txBox="1"/>
          <p:nvPr/>
        </p:nvSpPr>
        <p:spPr>
          <a:xfrm>
            <a:off x="7178040" y="4846320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333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agreed criterion — not definite, not effective.</a:t>
            </a:r>
            <a:endParaRPr lang="en-US" sz="1350" dirty="0"/>
          </a:p>
        </p:txBody>
      </p:sp>
      <p:sp>
        <p:nvSpPr>
          <p:cNvPr id="34" name="Text 26"/>
          <p:cNvSpPr txBox="1"/>
          <p:nvPr/>
        </p:nvSpPr>
        <p:spPr>
          <a:xfrm>
            <a:off x="548640" y="57150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Bonus: item 5 is the idea behind binary search — you will program it in Week 10.</a:t>
            </a:r>
            <a:endParaRPr lang="en-US" sz="1400" dirty="0"/>
          </a:p>
        </p:txBody>
      </p:sp>
      <p:sp>
        <p:nvSpPr>
          <p:cNvPr id="36" name="Text 27"/>
          <p:cNvSpPr txBox="1"/>
          <p:nvPr/>
        </p:nvSpPr>
        <p:spPr>
          <a:xfrm>
            <a:off x="54864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MCMP113  ·  Week 1</a:t>
            </a:r>
            <a:endParaRPr lang="en-US" sz="1000" dirty="0"/>
          </a:p>
        </p:txBody>
      </p:sp>
      <p:sp>
        <p:nvSpPr>
          <p:cNvPr id="37" name="Text 28"/>
          <p:cNvSpPr txBox="1"/>
          <p:nvPr/>
        </p:nvSpPr>
        <p:spPr>
          <a:xfrm>
            <a:off x="1118585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CA3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&gt;_ </a:t>
            </a:r>
            <a:pPr indent="0" marL="0">
              <a:buNone/>
            </a:pPr>
            <a:r>
              <a:rPr lang="en-US" sz="1300" dirty="0">
                <a:solidFill>
                  <a:srgbClr val="5B64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EVERYDAY ALGORITHM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Brewing Turkish Tea — Precisely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45920"/>
            <a:ext cx="740664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700"/>
              </a:spcAft>
              <a:buNone/>
            </a:pPr>
            <a:r>
              <a:rPr lang="en-US" sz="17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Fill the kettle (bottom pot) with 1 L of water.</a:t>
            </a:r>
            <a:endParaRPr lang="en-US" sz="17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7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Put 4 teaspoons of black tea in the teapot (top pot).</a:t>
            </a:r>
            <a:endParaRPr lang="en-US" sz="17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7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Place the teapot on the kettle and turn the stove on.</a:t>
            </a:r>
            <a:endParaRPr lang="en-US" sz="17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700" b="1" dirty="0">
                <a:solidFill>
                  <a:srgbClr val="2E9E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WHILE the water is not boiling: wait 1 minute.</a:t>
            </a:r>
            <a:endParaRPr lang="en-US" sz="17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7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Pour boiling water into the teapot until it is ¾ full.</a:t>
            </a:r>
            <a:endParaRPr lang="en-US" sz="17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7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Lower the heat and wait 15 minutes.</a:t>
            </a:r>
            <a:endParaRPr lang="en-US" sz="17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700" b="1" dirty="0">
                <a:solidFill>
                  <a:srgbClr val="2F6F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IF the guest wants it strong: fill the glass ⅔ with tea,</a:t>
            </a:r>
            <a:endParaRPr lang="en-US" sz="17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700" b="1" dirty="0">
                <a:solidFill>
                  <a:srgbClr val="2F6F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  ELSE: fill the glass ⅓ with tea.</a:t>
            </a:r>
            <a:endParaRPr lang="en-US" sz="17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7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 Top up the glass with hot water. STOP.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8321040" y="1645920"/>
            <a:ext cx="3337560" cy="4206240"/>
          </a:xfrm>
          <a:prstGeom prst="roundRect">
            <a:avLst>
              <a:gd name="adj" fmla="val 3288"/>
            </a:avLst>
          </a:prstGeom>
          <a:solidFill>
            <a:srgbClr val="EEF1F6"/>
          </a:solidFill>
          <a:ln w="12700">
            <a:solidFill>
              <a:srgbClr val="EEF1F6"/>
            </a:solidFill>
            <a:prstDash val="solid"/>
          </a:ln>
        </p:spPr>
        <p:txBody>
          <a:bodyPr/>
          <a:p/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95360" y="1874520"/>
            <a:ext cx="502920" cy="50292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9235440" y="187452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Colour key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8595360" y="2724912"/>
            <a:ext cx="274320" cy="274320"/>
          </a:xfrm>
          <a:prstGeom prst="ellipse">
            <a:avLst/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  <p:txBody>
          <a:bodyPr/>
          <a:p/>
        </p:txBody>
      </p:sp>
      <p:sp>
        <p:nvSpPr>
          <p:cNvPr id="9" name="Text 6"/>
          <p:cNvSpPr txBox="1"/>
          <p:nvPr/>
        </p:nvSpPr>
        <p:spPr>
          <a:xfrm>
            <a:off x="9052560" y="265176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Sequence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9052560" y="3035808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steps in order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8595360" y="3730752"/>
            <a:ext cx="274320" cy="274320"/>
          </a:xfrm>
          <a:prstGeom prst="ellipse">
            <a:avLst/>
          </a:prstGeom>
          <a:solidFill>
            <a:srgbClr val="2F6FB3"/>
          </a:solidFill>
          <a:ln w="12700">
            <a:solidFill>
              <a:srgbClr val="2F6FB3"/>
            </a:solidFill>
            <a:prstDash val="solid"/>
          </a:ln>
        </p:spPr>
        <p:txBody>
          <a:bodyPr/>
          <a:p/>
        </p:txBody>
      </p:sp>
      <p:sp>
        <p:nvSpPr>
          <p:cNvPr id="12" name="Text 9"/>
          <p:cNvSpPr txBox="1"/>
          <p:nvPr/>
        </p:nvSpPr>
        <p:spPr>
          <a:xfrm>
            <a:off x="9052560" y="365760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F6F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Selection</a:t>
            </a:r>
            <a:endParaRPr lang="en-US" sz="1600" dirty="0"/>
          </a:p>
        </p:txBody>
      </p:sp>
      <p:sp>
        <p:nvSpPr>
          <p:cNvPr id="13" name="Text 10"/>
          <p:cNvSpPr txBox="1"/>
          <p:nvPr/>
        </p:nvSpPr>
        <p:spPr>
          <a:xfrm>
            <a:off x="9052560" y="4041648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a path (IF)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8595360" y="4736592"/>
            <a:ext cx="274320" cy="274320"/>
          </a:xfrm>
          <a:prstGeom prst="ellipse">
            <a:avLst/>
          </a:prstGeom>
          <a:solidFill>
            <a:srgbClr val="2E9E6A"/>
          </a:solidFill>
          <a:ln w="12700">
            <a:solidFill>
              <a:srgbClr val="2E9E6A"/>
            </a:solidFill>
            <a:prstDash val="solid"/>
          </a:ln>
        </p:spPr>
        <p:txBody>
          <a:bodyPr/>
          <a:p/>
        </p:txBody>
      </p:sp>
      <p:sp>
        <p:nvSpPr>
          <p:cNvPr id="15" name="Text 12"/>
          <p:cNvSpPr txBox="1"/>
          <p:nvPr/>
        </p:nvSpPr>
        <p:spPr>
          <a:xfrm>
            <a:off x="9052560" y="466344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E9E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Repetition</a:t>
            </a:r>
            <a:endParaRPr lang="en-US" sz="1600" dirty="0"/>
          </a:p>
        </p:txBody>
      </p:sp>
      <p:sp>
        <p:nvSpPr>
          <p:cNvPr id="16" name="Text 13"/>
          <p:cNvSpPr txBox="1"/>
          <p:nvPr/>
        </p:nvSpPr>
        <p:spPr>
          <a:xfrm>
            <a:off x="9052560" y="5047488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 (WHILE)</a:t>
            </a:r>
            <a:endParaRPr lang="en-US" sz="1300" dirty="0"/>
          </a:p>
        </p:txBody>
      </p:sp>
      <p:sp>
        <p:nvSpPr>
          <p:cNvPr id="18" name="Text 14"/>
          <p:cNvSpPr txBox="1"/>
          <p:nvPr/>
        </p:nvSpPr>
        <p:spPr>
          <a:xfrm>
            <a:off x="54864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MCMP113  ·  Week 1</a:t>
            </a:r>
            <a:endParaRPr lang="en-US" sz="1000" dirty="0"/>
          </a:p>
        </p:txBody>
      </p:sp>
      <p:sp>
        <p:nvSpPr>
          <p:cNvPr id="19" name="Text 15"/>
          <p:cNvSpPr txBox="1"/>
          <p:nvPr/>
        </p:nvSpPr>
        <p:spPr>
          <a:xfrm>
            <a:off x="1118585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CA3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&gt;_ </a:t>
            </a:r>
            <a:pPr indent="0" marL="0">
              <a:buNone/>
            </a:pPr>
            <a:r>
              <a:rPr lang="en-US" sz="1300" dirty="0">
                <a:solidFill>
                  <a:srgbClr val="5B64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BUILDING BLOCKS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Structures Are Enough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3520440" cy="4343400"/>
          </a:xfrm>
          <a:prstGeom prst="roundRect">
            <a:avLst>
              <a:gd name="adj" fmla="val 3117"/>
            </a:avLst>
          </a:prstGeom>
          <a:solidFill>
            <a:srgbClr val="EEF1F6"/>
          </a:solidFill>
          <a:ln w="12700">
            <a:solidFill>
              <a:srgbClr val="EEF1F6"/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822960" y="1828800"/>
            <a:ext cx="640080" cy="640080"/>
          </a:xfrm>
          <a:prstGeom prst="ellipse">
            <a:avLst/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  <p:txBody>
          <a:bodyPr/>
          <a:p/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9381" y="1995221"/>
            <a:ext cx="307238" cy="307238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600200" y="182880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Sequence</a:t>
            </a:r>
            <a:endParaRPr lang="en-US" sz="21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2651760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33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Steps executed one after another, top to bottom.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822960" y="3429000"/>
            <a:ext cx="2971800" cy="1600200"/>
          </a:xfrm>
          <a:prstGeom prst="roundRect">
            <a:avLst>
              <a:gd name="adj" fmla="val 5714"/>
            </a:avLst>
          </a:prstGeom>
          <a:solidFill>
            <a:srgbClr val="0F1729"/>
          </a:solidFill>
          <a:ln w="12700">
            <a:solidFill>
              <a:srgbClr val="0F1729"/>
            </a:solidFill>
            <a:prstDash val="solid"/>
          </a:ln>
        </p:spPr>
        <p:txBody>
          <a:bodyPr/>
          <a:p/>
        </p:txBody>
      </p:sp>
      <p:sp>
        <p:nvSpPr>
          <p:cNvPr id="10" name="Text 7"/>
          <p:cNvSpPr txBox="1"/>
          <p:nvPr/>
        </p:nvSpPr>
        <p:spPr>
          <a:xfrm>
            <a:off x="1051560" y="3611880"/>
            <a:ext cx="25146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read a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read b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sum ← a + b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 sum</a:t>
            </a:r>
            <a:endParaRPr lang="en-US" sz="1300" dirty="0"/>
          </a:p>
        </p:txBody>
      </p:sp>
      <p:sp>
        <p:nvSpPr>
          <p:cNvPr id="11" name="Text 8"/>
          <p:cNvSpPr txBox="1"/>
          <p:nvPr/>
        </p:nvSpPr>
        <p:spPr>
          <a:xfrm>
            <a:off x="822960" y="521208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4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C# in Weeks 3–4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4297680" y="1600200"/>
            <a:ext cx="3520440" cy="4343400"/>
          </a:xfrm>
          <a:prstGeom prst="roundRect">
            <a:avLst>
              <a:gd name="adj" fmla="val 3117"/>
            </a:avLst>
          </a:prstGeom>
          <a:solidFill>
            <a:srgbClr val="EEF1F6"/>
          </a:solidFill>
          <a:ln w="12700">
            <a:solidFill>
              <a:srgbClr val="EEF1F6"/>
            </a:solidFill>
            <a:prstDash val="solid"/>
          </a:ln>
        </p:spPr>
        <p:txBody>
          <a:bodyPr/>
          <a:p/>
        </p:txBody>
      </p:sp>
      <p:sp>
        <p:nvSpPr>
          <p:cNvPr id="13" name="Shape 10"/>
          <p:cNvSpPr/>
          <p:nvPr/>
        </p:nvSpPr>
        <p:spPr>
          <a:xfrm>
            <a:off x="4572000" y="1828800"/>
            <a:ext cx="640080" cy="640080"/>
          </a:xfrm>
          <a:prstGeom prst="ellipse">
            <a:avLst/>
          </a:prstGeom>
          <a:solidFill>
            <a:srgbClr val="2F6FB3"/>
          </a:solidFill>
          <a:ln w="12700">
            <a:solidFill>
              <a:srgbClr val="2F6FB3"/>
            </a:solidFill>
            <a:prstDash val="solid"/>
          </a:ln>
        </p:spPr>
        <p:txBody>
          <a:bodyPr/>
          <a:p/>
        </p:txBody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38421" y="1995221"/>
            <a:ext cx="307238" cy="307238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5349240" y="182880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2F6FB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Selection</a:t>
            </a:r>
            <a:endParaRPr lang="en-US" sz="2100" dirty="0"/>
          </a:p>
        </p:txBody>
      </p:sp>
      <p:sp>
        <p:nvSpPr>
          <p:cNvPr id="16" name="Text 12"/>
          <p:cNvSpPr txBox="1"/>
          <p:nvPr/>
        </p:nvSpPr>
        <p:spPr>
          <a:xfrm>
            <a:off x="4572000" y="2651760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33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between paths depending on a condition.</a:t>
            </a:r>
            <a:endParaRPr lang="en-US" sz="1400" dirty="0"/>
          </a:p>
        </p:txBody>
      </p:sp>
      <p:sp>
        <p:nvSpPr>
          <p:cNvPr id="17" name="Shape 13"/>
          <p:cNvSpPr/>
          <p:nvPr/>
        </p:nvSpPr>
        <p:spPr>
          <a:xfrm>
            <a:off x="4572000" y="3429000"/>
            <a:ext cx="2971800" cy="1600200"/>
          </a:xfrm>
          <a:prstGeom prst="roundRect">
            <a:avLst>
              <a:gd name="adj" fmla="val 5714"/>
            </a:avLst>
          </a:prstGeom>
          <a:solidFill>
            <a:srgbClr val="0F1729"/>
          </a:solidFill>
          <a:ln w="12700">
            <a:solidFill>
              <a:srgbClr val="0F1729"/>
            </a:solidFill>
            <a:prstDash val="solid"/>
          </a:ln>
        </p:spPr>
        <p:txBody>
          <a:bodyPr/>
          <a:p/>
        </p:txBody>
      </p:sp>
      <p:sp>
        <p:nvSpPr>
          <p:cNvPr id="18" name="Text 14"/>
          <p:cNvSpPr txBox="1"/>
          <p:nvPr/>
        </p:nvSpPr>
        <p:spPr>
          <a:xfrm>
            <a:off x="4800600" y="3611880"/>
            <a:ext cx="25146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age ≥ 18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print "adult"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else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print "minor"</a:t>
            </a:r>
            <a:endParaRPr lang="en-US" sz="1300" dirty="0"/>
          </a:p>
        </p:txBody>
      </p:sp>
      <p:sp>
        <p:nvSpPr>
          <p:cNvPr id="19" name="Text 15"/>
          <p:cNvSpPr txBox="1"/>
          <p:nvPr/>
        </p:nvSpPr>
        <p:spPr>
          <a:xfrm>
            <a:off x="4572000" y="521208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4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C# in Week 5</a:t>
            </a:r>
            <a:endParaRPr lang="en-US" sz="1200" dirty="0"/>
          </a:p>
        </p:txBody>
      </p:sp>
      <p:sp>
        <p:nvSpPr>
          <p:cNvPr id="20" name="Shape 16"/>
          <p:cNvSpPr/>
          <p:nvPr/>
        </p:nvSpPr>
        <p:spPr>
          <a:xfrm>
            <a:off x="8046720" y="1600200"/>
            <a:ext cx="3520440" cy="4343400"/>
          </a:xfrm>
          <a:prstGeom prst="roundRect">
            <a:avLst>
              <a:gd name="adj" fmla="val 3117"/>
            </a:avLst>
          </a:prstGeom>
          <a:solidFill>
            <a:srgbClr val="EEF1F6"/>
          </a:solidFill>
          <a:ln w="12700">
            <a:solidFill>
              <a:srgbClr val="EEF1F6"/>
            </a:solidFill>
            <a:prstDash val="solid"/>
          </a:ln>
        </p:spPr>
        <p:txBody>
          <a:bodyPr/>
          <a:p/>
        </p:txBody>
      </p:sp>
      <p:sp>
        <p:nvSpPr>
          <p:cNvPr id="21" name="Shape 17"/>
          <p:cNvSpPr/>
          <p:nvPr/>
        </p:nvSpPr>
        <p:spPr>
          <a:xfrm>
            <a:off x="8321040" y="1828800"/>
            <a:ext cx="640080" cy="640080"/>
          </a:xfrm>
          <a:prstGeom prst="ellipse">
            <a:avLst/>
          </a:prstGeom>
          <a:solidFill>
            <a:srgbClr val="2E9E6A"/>
          </a:solidFill>
          <a:ln w="12700">
            <a:solidFill>
              <a:srgbClr val="2E9E6A"/>
            </a:solidFill>
            <a:prstDash val="solid"/>
          </a:ln>
        </p:spPr>
        <p:txBody>
          <a:bodyPr/>
          <a:p/>
        </p:txBody>
      </p:sp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87461" y="1995221"/>
            <a:ext cx="307238" cy="307238"/>
          </a:xfrm>
          <a:prstGeom prst="rect">
            <a:avLst/>
          </a:prstGeom>
        </p:spPr>
      </p:pic>
      <p:sp>
        <p:nvSpPr>
          <p:cNvPr id="23" name="Text 18"/>
          <p:cNvSpPr txBox="1"/>
          <p:nvPr/>
        </p:nvSpPr>
        <p:spPr>
          <a:xfrm>
            <a:off x="9098280" y="182880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2E9E6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Repetition</a:t>
            </a:r>
            <a:endParaRPr lang="en-US" sz="2100" dirty="0"/>
          </a:p>
        </p:txBody>
      </p:sp>
      <p:sp>
        <p:nvSpPr>
          <p:cNvPr id="24" name="Text 19"/>
          <p:cNvSpPr txBox="1"/>
          <p:nvPr/>
        </p:nvSpPr>
        <p:spPr>
          <a:xfrm>
            <a:off x="8321040" y="2651760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33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 a block while a condition holds.</a:t>
            </a:r>
            <a:endParaRPr lang="en-US" sz="1400" dirty="0"/>
          </a:p>
        </p:txBody>
      </p:sp>
      <p:sp>
        <p:nvSpPr>
          <p:cNvPr id="25" name="Shape 20"/>
          <p:cNvSpPr/>
          <p:nvPr/>
        </p:nvSpPr>
        <p:spPr>
          <a:xfrm>
            <a:off x="8321040" y="3429000"/>
            <a:ext cx="2971800" cy="1600200"/>
          </a:xfrm>
          <a:prstGeom prst="roundRect">
            <a:avLst>
              <a:gd name="adj" fmla="val 5714"/>
            </a:avLst>
          </a:prstGeom>
          <a:solidFill>
            <a:srgbClr val="0F1729"/>
          </a:solidFill>
          <a:ln w="12700">
            <a:solidFill>
              <a:srgbClr val="0F1729"/>
            </a:solidFill>
            <a:prstDash val="solid"/>
          </a:ln>
        </p:spPr>
        <p:txBody>
          <a:bodyPr/>
          <a:p/>
        </p:txBody>
      </p:sp>
      <p:sp>
        <p:nvSpPr>
          <p:cNvPr id="26" name="Text 21"/>
          <p:cNvSpPr txBox="1"/>
          <p:nvPr/>
        </p:nvSpPr>
        <p:spPr>
          <a:xfrm>
            <a:off x="8549640" y="3611880"/>
            <a:ext cx="25146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 ← 1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while i ≤ 10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print i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i ← i + 1</a:t>
            </a:r>
            <a:endParaRPr lang="en-US" sz="1300" dirty="0"/>
          </a:p>
        </p:txBody>
      </p:sp>
      <p:sp>
        <p:nvSpPr>
          <p:cNvPr id="27" name="Text 22"/>
          <p:cNvSpPr txBox="1"/>
          <p:nvPr/>
        </p:nvSpPr>
        <p:spPr>
          <a:xfrm>
            <a:off x="8321040" y="521208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4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C# in Weeks 6–7</a:t>
            </a:r>
            <a:endParaRPr lang="en-US" sz="1200" dirty="0"/>
          </a:p>
        </p:txBody>
      </p:sp>
      <p:sp>
        <p:nvSpPr>
          <p:cNvPr id="29" name="Text 23"/>
          <p:cNvSpPr txBox="1"/>
          <p:nvPr/>
        </p:nvSpPr>
        <p:spPr>
          <a:xfrm>
            <a:off x="54864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MCMP113  ·  Week 1</a:t>
            </a:r>
            <a:endParaRPr lang="en-US" sz="1000" dirty="0"/>
          </a:p>
        </p:txBody>
      </p:sp>
      <p:sp>
        <p:nvSpPr>
          <p:cNvPr id="30" name="Text 24"/>
          <p:cNvSpPr txBox="1"/>
          <p:nvPr/>
        </p:nvSpPr>
        <p:spPr>
          <a:xfrm>
            <a:off x="1118585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CA3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&gt;_ </a:t>
            </a:r>
            <a:pPr indent="0" marL="0">
              <a:buNone/>
            </a:pPr>
            <a:r>
              <a:rPr lang="en-US" sz="1300" dirty="0">
                <a:solidFill>
                  <a:srgbClr val="5B64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REPRESENTATION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 Ways to Write the Same Algorithm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37160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Task: read a number and print its absolute value.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2651760" cy="4206240"/>
          </a:xfrm>
          <a:prstGeom prst="roundRect">
            <a:avLst>
              <a:gd name="adj" fmla="val 4138"/>
            </a:avLst>
          </a:prstGeom>
          <a:solidFill>
            <a:srgbClr val="EEF1F6"/>
          </a:solidFill>
          <a:ln w="12700">
            <a:solidFill>
              <a:srgbClr val="EEF1F6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 txBox="1"/>
          <p:nvPr/>
        </p:nvSpPr>
        <p:spPr>
          <a:xfrm>
            <a:off x="731520" y="192024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Natural language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521208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i="1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Easy for anyone — but often ambiguous.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3364992" y="1783080"/>
            <a:ext cx="2651760" cy="4206240"/>
          </a:xfrm>
          <a:prstGeom prst="roundRect">
            <a:avLst>
              <a:gd name="adj" fmla="val 4138"/>
            </a:avLst>
          </a:prstGeom>
          <a:solidFill>
            <a:srgbClr val="EEF1F6"/>
          </a:solidFill>
          <a:ln w="12700">
            <a:solidFill>
              <a:srgbClr val="EEF1F6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 txBox="1"/>
          <p:nvPr/>
        </p:nvSpPr>
        <p:spPr>
          <a:xfrm>
            <a:off x="3547872" y="192024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Pseudocode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3547872" y="521208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i="1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Precise and tool-free. Our main tool on paper.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181344" y="1783080"/>
            <a:ext cx="2651760" cy="4206240"/>
          </a:xfrm>
          <a:prstGeom prst="roundRect">
            <a:avLst>
              <a:gd name="adj" fmla="val 4138"/>
            </a:avLst>
          </a:prstGeom>
          <a:solidFill>
            <a:srgbClr val="EEF1F6"/>
          </a:solidFill>
          <a:ln w="12700">
            <a:solidFill>
              <a:srgbClr val="EEF1F6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 txBox="1"/>
          <p:nvPr/>
        </p:nvSpPr>
        <p:spPr>
          <a:xfrm>
            <a:off x="6364224" y="192024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Flowchart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6364224" y="521208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i="1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Visual; shows branches clearly. Week 2.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8997696" y="1783080"/>
            <a:ext cx="2651760" cy="4206240"/>
          </a:xfrm>
          <a:prstGeom prst="roundRect">
            <a:avLst>
              <a:gd name="adj" fmla="val 4138"/>
            </a:avLst>
          </a:prstGeom>
          <a:solidFill>
            <a:srgbClr val="EEF1F6"/>
          </a:solidFill>
          <a:ln w="12700">
            <a:solidFill>
              <a:srgbClr val="EEF1F6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 txBox="1"/>
          <p:nvPr/>
        </p:nvSpPr>
        <p:spPr>
          <a:xfrm>
            <a:off x="9180576" y="192024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C# code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9180576" y="521208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i="1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Executable — but strict syntax. Week 3+.</a:t>
            </a:r>
            <a:endParaRPr lang="en-US" sz="1250" dirty="0"/>
          </a:p>
        </p:txBody>
      </p:sp>
      <p:sp>
        <p:nvSpPr>
          <p:cNvPr id="17" name="Text 15"/>
          <p:cNvSpPr txBox="1"/>
          <p:nvPr/>
        </p:nvSpPr>
        <p:spPr>
          <a:xfrm>
            <a:off x="731520" y="2423160"/>
            <a:ext cx="22860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33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 number. If it is negative, remove its minus sign. Show the number.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3502152" y="2423160"/>
            <a:ext cx="2377440" cy="2377440"/>
          </a:xfrm>
          <a:prstGeom prst="roundRect">
            <a:avLst>
              <a:gd name="adj" fmla="val 3846"/>
            </a:avLst>
          </a:prstGeom>
          <a:solidFill>
            <a:srgbClr val="0F1729"/>
          </a:solidFill>
          <a:ln w="12700">
            <a:solidFill>
              <a:srgbClr val="0F1729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 txBox="1"/>
          <p:nvPr/>
        </p:nvSpPr>
        <p:spPr>
          <a:xfrm>
            <a:off x="3730752" y="2606040"/>
            <a:ext cx="19202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START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READ x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x &lt; 0 THEN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x ← −x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END IF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 x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END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9134856" y="2423160"/>
            <a:ext cx="2377440" cy="2377440"/>
          </a:xfrm>
          <a:prstGeom prst="roundRect">
            <a:avLst>
              <a:gd name="adj" fmla="val 3846"/>
            </a:avLst>
          </a:prstGeom>
          <a:solidFill>
            <a:srgbClr val="0F1729"/>
          </a:solidFill>
          <a:ln w="12700">
            <a:solidFill>
              <a:srgbClr val="0F1729"/>
            </a:solidFill>
            <a:prstDash val="solid"/>
          </a:ln>
        </p:spPr>
        <p:txBody>
          <a:bodyPr/>
          <a:p/>
        </p:txBody>
      </p:sp>
      <p:sp>
        <p:nvSpPr>
          <p:cNvPr id="21" name="Text 19"/>
          <p:cNvSpPr txBox="1"/>
          <p:nvPr/>
        </p:nvSpPr>
        <p:spPr>
          <a:xfrm>
            <a:off x="9363456" y="2606040"/>
            <a:ext cx="19202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 s =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Console.ReadLine();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x = int.Parse(s);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(x &lt; 0)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x = -x;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Console.WriteLine(x);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638544" y="2423160"/>
            <a:ext cx="914400" cy="292608"/>
          </a:xfrm>
          <a:prstGeom prst="ellipse">
            <a:avLst/>
          </a:prstGeom>
          <a:solidFill>
            <a:srgbClr val="FFF1D6"/>
          </a:solidFill>
          <a:ln w="12700">
            <a:solidFill>
              <a:srgbClr val="14213D"/>
            </a:solidFill>
            <a:prstDash val="solid"/>
          </a:ln>
        </p:spPr>
        <p:txBody>
          <a:bodyPr/>
          <a:p/>
        </p:txBody>
      </p:sp>
      <p:sp>
        <p:nvSpPr>
          <p:cNvPr id="23" name="Text 21"/>
          <p:cNvSpPr txBox="1"/>
          <p:nvPr/>
        </p:nvSpPr>
        <p:spPr>
          <a:xfrm>
            <a:off x="6638544" y="2423160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547104" y="2880360"/>
            <a:ext cx="1097280" cy="310896"/>
          </a:xfrm>
          <a:prstGeom prst="parallelogram">
            <a:avLst/>
          </a:prstGeom>
          <a:solidFill>
            <a:srgbClr val="FFFFFF"/>
          </a:solidFill>
          <a:ln w="12700">
            <a:solidFill>
              <a:srgbClr val="14213D"/>
            </a:solidFill>
            <a:prstDash val="solid"/>
          </a:ln>
        </p:spPr>
        <p:txBody>
          <a:bodyPr/>
          <a:p/>
        </p:txBody>
      </p:sp>
      <p:sp>
        <p:nvSpPr>
          <p:cNvPr id="25" name="Text 23"/>
          <p:cNvSpPr txBox="1"/>
          <p:nvPr/>
        </p:nvSpPr>
        <p:spPr>
          <a:xfrm>
            <a:off x="6547104" y="2880360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x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547104" y="3355848"/>
            <a:ext cx="1097280" cy="566928"/>
          </a:xfrm>
          <a:prstGeom prst="diamond">
            <a:avLst/>
          </a:prstGeom>
          <a:solidFill>
            <a:srgbClr val="E3ECF8"/>
          </a:solidFill>
          <a:ln w="12700">
            <a:solidFill>
              <a:srgbClr val="14213D"/>
            </a:solidFill>
            <a:prstDash val="solid"/>
          </a:ln>
        </p:spPr>
        <p:txBody>
          <a:bodyPr/>
          <a:p/>
        </p:txBody>
      </p:sp>
      <p:sp>
        <p:nvSpPr>
          <p:cNvPr id="27" name="Text 25"/>
          <p:cNvSpPr txBox="1"/>
          <p:nvPr/>
        </p:nvSpPr>
        <p:spPr>
          <a:xfrm>
            <a:off x="6547104" y="3355848"/>
            <a:ext cx="1097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 &lt; 0 ?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7827264" y="3483864"/>
            <a:ext cx="777240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14213D"/>
            </a:solidFill>
            <a:prstDash val="solid"/>
          </a:ln>
        </p:spPr>
        <p:txBody>
          <a:bodyPr/>
          <a:p/>
        </p:txBody>
      </p:sp>
      <p:sp>
        <p:nvSpPr>
          <p:cNvPr id="29" name="Text 27"/>
          <p:cNvSpPr txBox="1"/>
          <p:nvPr/>
        </p:nvSpPr>
        <p:spPr>
          <a:xfrm>
            <a:off x="7827264" y="3483864"/>
            <a:ext cx="777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 ← −x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6547104" y="4114800"/>
            <a:ext cx="1097280" cy="310896"/>
          </a:xfrm>
          <a:prstGeom prst="parallelogram">
            <a:avLst/>
          </a:prstGeom>
          <a:solidFill>
            <a:srgbClr val="FFFFFF"/>
          </a:solidFill>
          <a:ln w="12700">
            <a:solidFill>
              <a:srgbClr val="14213D"/>
            </a:solidFill>
            <a:prstDash val="solid"/>
          </a:ln>
        </p:spPr>
        <p:txBody>
          <a:bodyPr/>
          <a:p/>
        </p:txBody>
      </p:sp>
      <p:sp>
        <p:nvSpPr>
          <p:cNvPr id="31" name="Text 29"/>
          <p:cNvSpPr txBox="1"/>
          <p:nvPr/>
        </p:nvSpPr>
        <p:spPr>
          <a:xfrm>
            <a:off x="6547104" y="4114800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Print x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6638544" y="4590288"/>
            <a:ext cx="914400" cy="292608"/>
          </a:xfrm>
          <a:prstGeom prst="ellipse">
            <a:avLst/>
          </a:prstGeom>
          <a:solidFill>
            <a:srgbClr val="FFF1D6"/>
          </a:solidFill>
          <a:ln w="12700">
            <a:solidFill>
              <a:srgbClr val="14213D"/>
            </a:solidFill>
            <a:prstDash val="solid"/>
          </a:ln>
        </p:spPr>
        <p:txBody>
          <a:bodyPr/>
          <a:p/>
        </p:txBody>
      </p:sp>
      <p:sp>
        <p:nvSpPr>
          <p:cNvPr id="33" name="Text 31"/>
          <p:cNvSpPr txBox="1"/>
          <p:nvPr/>
        </p:nvSpPr>
        <p:spPr>
          <a:xfrm>
            <a:off x="6638544" y="4590288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7095744" y="2715768"/>
            <a:ext cx="0" cy="164592"/>
          </a:xfrm>
          <a:prstGeom prst="line">
            <a:avLst/>
          </a:prstGeom>
          <a:noFill/>
          <a:ln w="12700">
            <a:solidFill>
              <a:srgbClr val="14213D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35" name="Shape 33"/>
          <p:cNvSpPr/>
          <p:nvPr/>
        </p:nvSpPr>
        <p:spPr>
          <a:xfrm>
            <a:off x="7095744" y="3191256"/>
            <a:ext cx="0" cy="164592"/>
          </a:xfrm>
          <a:prstGeom prst="line">
            <a:avLst/>
          </a:prstGeom>
          <a:noFill/>
          <a:ln w="12700">
            <a:solidFill>
              <a:srgbClr val="14213D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36" name="Shape 34"/>
          <p:cNvSpPr/>
          <p:nvPr/>
        </p:nvSpPr>
        <p:spPr>
          <a:xfrm>
            <a:off x="7095744" y="3922776"/>
            <a:ext cx="0" cy="192024"/>
          </a:xfrm>
          <a:prstGeom prst="line">
            <a:avLst/>
          </a:prstGeom>
          <a:noFill/>
          <a:ln w="12700">
            <a:solidFill>
              <a:srgbClr val="14213D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37" name="Shape 35"/>
          <p:cNvSpPr/>
          <p:nvPr/>
        </p:nvSpPr>
        <p:spPr>
          <a:xfrm>
            <a:off x="7095744" y="4425696"/>
            <a:ext cx="0" cy="164592"/>
          </a:xfrm>
          <a:prstGeom prst="line">
            <a:avLst/>
          </a:prstGeom>
          <a:noFill/>
          <a:ln w="12700">
            <a:solidFill>
              <a:srgbClr val="14213D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38" name="Shape 36"/>
          <p:cNvSpPr/>
          <p:nvPr/>
        </p:nvSpPr>
        <p:spPr>
          <a:xfrm>
            <a:off x="7644384" y="3639312"/>
            <a:ext cx="182880" cy="0"/>
          </a:xfrm>
          <a:prstGeom prst="line">
            <a:avLst/>
          </a:prstGeom>
          <a:noFill/>
          <a:ln w="12700">
            <a:solidFill>
              <a:srgbClr val="14213D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39" name="Shape 37"/>
          <p:cNvSpPr/>
          <p:nvPr/>
        </p:nvSpPr>
        <p:spPr>
          <a:xfrm>
            <a:off x="8215884" y="3794760"/>
            <a:ext cx="0" cy="475488"/>
          </a:xfrm>
          <a:prstGeom prst="line">
            <a:avLst/>
          </a:prstGeom>
          <a:noFill/>
          <a:ln w="12700">
            <a:solidFill>
              <a:srgbClr val="14213D"/>
            </a:solidFill>
            <a:prstDash val="solid"/>
          </a:ln>
        </p:spPr>
        <p:txBody>
          <a:bodyPr/>
          <a:p/>
        </p:txBody>
      </p:sp>
      <p:sp>
        <p:nvSpPr>
          <p:cNvPr id="40" name="Shape 38"/>
          <p:cNvSpPr/>
          <p:nvPr/>
        </p:nvSpPr>
        <p:spPr>
          <a:xfrm flipH="1">
            <a:off x="7644384" y="4270248"/>
            <a:ext cx="571500" cy="0"/>
          </a:xfrm>
          <a:prstGeom prst="line">
            <a:avLst/>
          </a:prstGeom>
          <a:noFill/>
          <a:ln w="12700">
            <a:solidFill>
              <a:srgbClr val="14213D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41" name="Text 39"/>
          <p:cNvSpPr txBox="1"/>
          <p:nvPr/>
        </p:nvSpPr>
        <p:spPr>
          <a:xfrm>
            <a:off x="7598664" y="3346704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E9E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900" dirty="0"/>
          </a:p>
        </p:txBody>
      </p:sp>
      <p:sp>
        <p:nvSpPr>
          <p:cNvPr id="42" name="Text 40"/>
          <p:cNvSpPr txBox="1"/>
          <p:nvPr/>
        </p:nvSpPr>
        <p:spPr>
          <a:xfrm>
            <a:off x="7150608" y="3913632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845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900" dirty="0"/>
          </a:p>
        </p:txBody>
      </p:sp>
      <p:sp>
        <p:nvSpPr>
          <p:cNvPr id="44" name="Text 41"/>
          <p:cNvSpPr txBox="1"/>
          <p:nvPr/>
        </p:nvSpPr>
        <p:spPr>
          <a:xfrm>
            <a:off x="54864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MCMP113  ·  Week 1</a:t>
            </a:r>
            <a:endParaRPr lang="en-US" sz="1000" dirty="0"/>
          </a:p>
        </p:txBody>
      </p:sp>
      <p:sp>
        <p:nvSpPr>
          <p:cNvPr id="45" name="Text 42"/>
          <p:cNvSpPr txBox="1"/>
          <p:nvPr/>
        </p:nvSpPr>
        <p:spPr>
          <a:xfrm>
            <a:off x="1118585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CA3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&gt;_ </a:t>
            </a:r>
            <a:pPr indent="0" marL="0">
              <a:buNone/>
            </a:pPr>
            <a:r>
              <a:rPr lang="en-US" sz="1300" dirty="0">
                <a:solidFill>
                  <a:srgbClr val="5B64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REFERENCE CARD · KEEP THIS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Pseudocode Conventions for MCMP113</a:t>
            </a:r>
            <a:endParaRPr lang="en-US" sz="340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54480"/>
          <a:ext cx="7863840" cy="914400"/>
        </p:xfrm>
        <a:graphic>
          <a:graphicData uri="http://schemas.openxmlformats.org/drawingml/2006/table">
            <a:tbl>
              <a:tblPr/>
              <a:tblGrid>
                <a:gridCol w="2514600"/>
                <a:gridCol w="2971800"/>
                <a:gridCol w="237744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Keyword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Meaning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Example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4213D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START … END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333B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beginning and end of the algorithm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F6FB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START … END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4213D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READ x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333B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input: get a value from the user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F6FB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READ age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4213D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PRINT …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333B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output: show a value or a message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F6FB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PRINT "Total:", sum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4213D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x ← expression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333B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assignment: evaluate right side, store in x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F6FB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total ← total + price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4213D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IF … ELSE … END IF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333B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selection (THEN after the condition)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F6FB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IF age ≥ 18 THEN …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4213D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WHILE cond … END WHILE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333B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repeat while the condition is true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F6FB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WHILE i ≤ N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4213D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FOR i ← a TO b … END FOR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333B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repeat a counted number of times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F6FB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FOR i ← 1 TO 10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4213D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+  −  ×  /  mod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333B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arithmetic; mod = remainder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F6FB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17 mod 5 = 2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4213D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=  ≠  &lt;  ≤  &gt;  ≥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333B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comparison (true / false)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F6FB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IF x ≠ 0 THEN …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4213D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AND  OR  NOT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333B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combine conditions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F6FB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IF a &gt; 0 AND b &gt; 0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8686800" y="1554480"/>
            <a:ext cx="2971800" cy="4023360"/>
          </a:xfrm>
          <a:prstGeom prst="roundRect">
            <a:avLst>
              <a:gd name="adj" fmla="val 3692"/>
            </a:avLst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  <p:txBody>
          <a:bodyPr/>
          <a:p/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61120" y="1783080"/>
            <a:ext cx="457200" cy="45720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9509760" y="1783080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#1 beginner trap</a:t>
            </a:r>
            <a:endParaRPr lang="en-US" sz="1500" dirty="0"/>
          </a:p>
        </p:txBody>
      </p:sp>
      <p:sp>
        <p:nvSpPr>
          <p:cNvPr id="8" name="Text 4"/>
          <p:cNvSpPr txBox="1"/>
          <p:nvPr/>
        </p:nvSpPr>
        <p:spPr>
          <a:xfrm>
            <a:off x="8961120" y="2377440"/>
            <a:ext cx="251460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rgbClr val="C7CE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pseudocode:</a:t>
            </a:r>
            <a:endParaRPr lang="en-US" sz="14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FCA3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←  assigns</a:t>
            </a:r>
            <a:endParaRPr lang="en-US" sz="14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FCA3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  compares</a:t>
            </a:r>
            <a:endParaRPr lang="en-US" sz="14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4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rgbClr val="C7CE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C#:</a:t>
            </a:r>
            <a:endParaRPr lang="en-US" sz="14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7EE2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   assigns</a:t>
            </a:r>
            <a:endParaRPr lang="en-US" sz="14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7EE2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==  compares</a:t>
            </a:r>
            <a:endParaRPr lang="en-US" sz="14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4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 ← x + 1 is not an equation: it means “new x = old x + 1”.</a:t>
            </a:r>
            <a:endParaRPr lang="en-US" sz="1400" dirty="0"/>
          </a:p>
        </p:txBody>
      </p:sp>
      <p:sp>
        <p:nvSpPr>
          <p:cNvPr id="10" name="Text 5"/>
          <p:cNvSpPr txBox="1"/>
          <p:nvPr/>
        </p:nvSpPr>
        <p:spPr>
          <a:xfrm>
            <a:off x="54864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MCMP113  ·  Week 1</a:t>
            </a:r>
            <a:endParaRPr lang="en-US" sz="1000" dirty="0"/>
          </a:p>
        </p:txBody>
      </p:sp>
      <p:sp>
        <p:nvSpPr>
          <p:cNvPr id="11" name="Text 6"/>
          <p:cNvSpPr txBox="1"/>
          <p:nvPr/>
        </p:nvSpPr>
        <p:spPr>
          <a:xfrm>
            <a:off x="1118585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463040"/>
            <a:ext cx="2743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0" b="1" dirty="0">
                <a:solidFill>
                  <a:srgbClr val="FCA3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&gt;_</a:t>
            </a:r>
            <a:endParaRPr lang="en-US" sz="8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9260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spc="400" kern="0" dirty="0">
                <a:solidFill>
                  <a:srgbClr val="8A94A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PART 3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33756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Problem-Solving Steps</a:t>
            </a:r>
            <a:endParaRPr lang="en-US" sz="4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434340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7CE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a vague request to a tested solution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4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MCMP113  ·  Week 1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1118585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4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1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CA3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&gt;_ </a:t>
            </a:r>
            <a:pPr indent="0" marL="0">
              <a:buNone/>
            </a:pPr>
            <a:r>
              <a:rPr lang="en-US" sz="1300" dirty="0">
                <a:solidFill>
                  <a:srgbClr val="5B64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METHOD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Five Steps of Problem Solving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1051560" y="1737360"/>
            <a:ext cx="1097280" cy="1097280"/>
          </a:xfrm>
          <a:prstGeom prst="ellipse">
            <a:avLst/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  <p:txBody>
          <a:bodyPr/>
          <a:p/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44168" y="2029968"/>
            <a:ext cx="512064" cy="512064"/>
          </a:xfrm>
          <a:prstGeom prst="rect">
            <a:avLst/>
          </a:prstGeom>
        </p:spPr>
      </p:pic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77440" y="2130552"/>
            <a:ext cx="320040" cy="32004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548640" y="301752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 Understand</a:t>
            </a:r>
            <a:endParaRPr lang="en-US" sz="1700" dirty="0"/>
          </a:p>
        </p:txBody>
      </p:sp>
      <p:sp>
        <p:nvSpPr>
          <p:cNvPr id="8" name="Text 4"/>
          <p:cNvSpPr txBox="1"/>
          <p:nvPr/>
        </p:nvSpPr>
        <p:spPr>
          <a:xfrm>
            <a:off x="594360" y="3474720"/>
            <a:ext cx="2011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dirty="0">
                <a:solidFill>
                  <a:srgbClr val="333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given? What is asked? Constraints?</a:t>
            </a:r>
            <a:endParaRPr lang="en-US" sz="1350" dirty="0"/>
          </a:p>
        </p:txBody>
      </p:sp>
      <p:sp>
        <p:nvSpPr>
          <p:cNvPr id="9" name="Shape 5"/>
          <p:cNvSpPr/>
          <p:nvPr/>
        </p:nvSpPr>
        <p:spPr>
          <a:xfrm>
            <a:off x="3337560" y="1737360"/>
            <a:ext cx="1097280" cy="1097280"/>
          </a:xfrm>
          <a:prstGeom prst="ellipse">
            <a:avLst/>
          </a:prstGeom>
          <a:solidFill>
            <a:srgbClr val="FCA311"/>
          </a:solidFill>
          <a:ln w="12700">
            <a:solidFill>
              <a:srgbClr val="FCA311"/>
            </a:solidFill>
            <a:prstDash val="solid"/>
          </a:ln>
        </p:spPr>
        <p:txBody>
          <a:bodyPr/>
          <a:p/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30168" y="2029968"/>
            <a:ext cx="512064" cy="512064"/>
          </a:xfrm>
          <a:prstGeom prst="rect">
            <a:avLst/>
          </a:prstGeom>
        </p:spPr>
      </p:pic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63440" y="2130552"/>
            <a:ext cx="320040" cy="320040"/>
          </a:xfrm>
          <a:prstGeom prst="rect">
            <a:avLst/>
          </a:prstGeom>
        </p:spPr>
      </p:pic>
      <p:sp>
        <p:nvSpPr>
          <p:cNvPr id="12" name="Text 6"/>
          <p:cNvSpPr txBox="1"/>
          <p:nvPr/>
        </p:nvSpPr>
        <p:spPr>
          <a:xfrm>
            <a:off x="2834640" y="301752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 Design</a:t>
            </a:r>
            <a:endParaRPr lang="en-US" sz="1700" dirty="0"/>
          </a:p>
        </p:txBody>
      </p:sp>
      <p:sp>
        <p:nvSpPr>
          <p:cNvPr id="13" name="Text 7"/>
          <p:cNvSpPr txBox="1"/>
          <p:nvPr/>
        </p:nvSpPr>
        <p:spPr>
          <a:xfrm>
            <a:off x="2880360" y="3474720"/>
            <a:ext cx="2011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dirty="0">
                <a:solidFill>
                  <a:srgbClr val="333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algorithm: steps, pseudocode, flowchart.</a:t>
            </a:r>
            <a:endParaRPr lang="en-US" sz="1350" dirty="0"/>
          </a:p>
        </p:txBody>
      </p:sp>
      <p:sp>
        <p:nvSpPr>
          <p:cNvPr id="14" name="Shape 8"/>
          <p:cNvSpPr/>
          <p:nvPr/>
        </p:nvSpPr>
        <p:spPr>
          <a:xfrm>
            <a:off x="5623560" y="1737360"/>
            <a:ext cx="1097280" cy="1097280"/>
          </a:xfrm>
          <a:prstGeom prst="ellipse">
            <a:avLst/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  <p:txBody>
          <a:bodyPr/>
          <a:p/>
        </p:txBody>
      </p:sp>
      <p:pic>
        <p:nvPicPr>
          <p:cNvPr id="1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16168" y="2029968"/>
            <a:ext cx="512064" cy="512064"/>
          </a:xfrm>
          <a:prstGeom prst="rect">
            <a:avLst/>
          </a:prstGeom>
        </p:spPr>
      </p:pic>
      <p:pic>
        <p:nvPicPr>
          <p:cNvPr id="1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49440" y="2130552"/>
            <a:ext cx="320040" cy="320040"/>
          </a:xfrm>
          <a:prstGeom prst="rect">
            <a:avLst/>
          </a:prstGeom>
        </p:spPr>
      </p:pic>
      <p:sp>
        <p:nvSpPr>
          <p:cNvPr id="17" name="Text 9"/>
          <p:cNvSpPr txBox="1"/>
          <p:nvPr/>
        </p:nvSpPr>
        <p:spPr>
          <a:xfrm>
            <a:off x="5120640" y="301752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 Implement</a:t>
            </a:r>
            <a:endParaRPr lang="en-US" sz="1700" dirty="0"/>
          </a:p>
        </p:txBody>
      </p:sp>
      <p:sp>
        <p:nvSpPr>
          <p:cNvPr id="18" name="Text 10"/>
          <p:cNvSpPr txBox="1"/>
          <p:nvPr/>
        </p:nvSpPr>
        <p:spPr>
          <a:xfrm>
            <a:off x="5166360" y="3474720"/>
            <a:ext cx="2011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dirty="0">
                <a:solidFill>
                  <a:srgbClr val="333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Translate the algorithm into C#.</a:t>
            </a:r>
            <a:endParaRPr lang="en-US" sz="1350" dirty="0"/>
          </a:p>
        </p:txBody>
      </p:sp>
      <p:sp>
        <p:nvSpPr>
          <p:cNvPr id="19" name="Shape 11"/>
          <p:cNvSpPr/>
          <p:nvPr/>
        </p:nvSpPr>
        <p:spPr>
          <a:xfrm>
            <a:off x="7909560" y="1737360"/>
            <a:ext cx="1097280" cy="1097280"/>
          </a:xfrm>
          <a:prstGeom prst="ellipse">
            <a:avLst/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  <p:txBody>
          <a:bodyPr/>
          <a:p/>
        </p:txBody>
      </p:sp>
      <p:pic>
        <p:nvPicPr>
          <p:cNvPr id="20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02168" y="2029968"/>
            <a:ext cx="512064" cy="512064"/>
          </a:xfrm>
          <a:prstGeom prst="rect">
            <a:avLst/>
          </a:prstGeom>
        </p:spPr>
      </p:pic>
      <p:pic>
        <p:nvPicPr>
          <p:cNvPr id="21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235440" y="2130552"/>
            <a:ext cx="320040" cy="320040"/>
          </a:xfrm>
          <a:prstGeom prst="rect">
            <a:avLst/>
          </a:prstGeom>
        </p:spPr>
      </p:pic>
      <p:sp>
        <p:nvSpPr>
          <p:cNvPr id="22" name="Text 12"/>
          <p:cNvSpPr txBox="1"/>
          <p:nvPr/>
        </p:nvSpPr>
        <p:spPr>
          <a:xfrm>
            <a:off x="7406640" y="301752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 Test &amp; Debug</a:t>
            </a:r>
            <a:endParaRPr lang="en-US" sz="1700" dirty="0"/>
          </a:p>
        </p:txBody>
      </p:sp>
      <p:sp>
        <p:nvSpPr>
          <p:cNvPr id="23" name="Text 13"/>
          <p:cNvSpPr txBox="1"/>
          <p:nvPr/>
        </p:nvSpPr>
        <p:spPr>
          <a:xfrm>
            <a:off x="7452360" y="3474720"/>
            <a:ext cx="2011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dirty="0">
                <a:solidFill>
                  <a:srgbClr val="333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with normal, edge and wrong inputs.</a:t>
            </a:r>
            <a:endParaRPr lang="en-US" sz="1350" dirty="0"/>
          </a:p>
        </p:txBody>
      </p:sp>
      <p:sp>
        <p:nvSpPr>
          <p:cNvPr id="24" name="Shape 14"/>
          <p:cNvSpPr/>
          <p:nvPr/>
        </p:nvSpPr>
        <p:spPr>
          <a:xfrm>
            <a:off x="10195560" y="1737360"/>
            <a:ext cx="1097280" cy="1097280"/>
          </a:xfrm>
          <a:prstGeom prst="ellipse">
            <a:avLst/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  <p:txBody>
          <a:bodyPr/>
          <a:p/>
        </p:txBody>
      </p:sp>
      <p:pic>
        <p:nvPicPr>
          <p:cNvPr id="25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488168" y="2029968"/>
            <a:ext cx="512064" cy="512064"/>
          </a:xfrm>
          <a:prstGeom prst="rect">
            <a:avLst/>
          </a:prstGeom>
        </p:spPr>
      </p:pic>
      <p:sp>
        <p:nvSpPr>
          <p:cNvPr id="26" name="Text 15"/>
          <p:cNvSpPr txBox="1"/>
          <p:nvPr/>
        </p:nvSpPr>
        <p:spPr>
          <a:xfrm>
            <a:off x="9692640" y="301752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5. Document</a:t>
            </a:r>
            <a:endParaRPr lang="en-US" sz="1700" dirty="0"/>
          </a:p>
        </p:txBody>
      </p:sp>
      <p:sp>
        <p:nvSpPr>
          <p:cNvPr id="27" name="Text 16"/>
          <p:cNvSpPr txBox="1"/>
          <p:nvPr/>
        </p:nvSpPr>
        <p:spPr>
          <a:xfrm>
            <a:off x="9738360" y="3474720"/>
            <a:ext cx="2011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dirty="0">
                <a:solidFill>
                  <a:srgbClr val="333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Comments, clear names, notes for others.</a:t>
            </a:r>
            <a:endParaRPr lang="en-US" sz="1350" dirty="0"/>
          </a:p>
        </p:txBody>
      </p:sp>
      <p:sp>
        <p:nvSpPr>
          <p:cNvPr id="28" name="Shape 17"/>
          <p:cNvSpPr/>
          <p:nvPr/>
        </p:nvSpPr>
        <p:spPr>
          <a:xfrm>
            <a:off x="548640" y="4663440"/>
            <a:ext cx="11109960" cy="1188720"/>
          </a:xfrm>
          <a:prstGeom prst="roundRect">
            <a:avLst>
              <a:gd name="adj" fmla="val 9231"/>
            </a:avLst>
          </a:prstGeom>
          <a:solidFill>
            <a:srgbClr val="FFF6E3"/>
          </a:solidFill>
          <a:ln w="12700">
            <a:solidFill>
              <a:srgbClr val="FFF6E3"/>
            </a:solidFill>
            <a:prstDash val="solid"/>
          </a:ln>
        </p:spPr>
        <p:txBody>
          <a:bodyPr/>
          <a:p/>
        </p:txBody>
      </p:sp>
      <p:pic>
        <p:nvPicPr>
          <p:cNvPr id="29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22960" y="4983480"/>
            <a:ext cx="548640" cy="548640"/>
          </a:xfrm>
          <a:prstGeom prst="rect">
            <a:avLst/>
          </a:prstGeom>
        </p:spPr>
      </p:pic>
      <p:sp>
        <p:nvSpPr>
          <p:cNvPr id="30" name="Text 18"/>
          <p:cNvSpPr txBox="1"/>
          <p:nvPr/>
        </p:nvSpPr>
        <p:spPr>
          <a:xfrm>
            <a:off x="1645920" y="4754880"/>
            <a:ext cx="9784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is a cycle, not a line. </a:t>
            </a:r>
            <a:pPr indent="0" marL="0">
              <a:buNone/>
            </a:pPr>
            <a:r>
              <a:rPr lang="en-US" sz="1500" dirty="0">
                <a:solidFill>
                  <a:srgbClr val="333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failed test sends you back to Design — or even to Understand. Beginners spend most of their time in Step 3; professionals spend most of it in Steps 1–2, which is why their Step 4 is short.</a:t>
            </a:r>
            <a:endParaRPr lang="en-US" sz="1500" dirty="0"/>
          </a:p>
        </p:txBody>
      </p:sp>
      <p:sp>
        <p:nvSpPr>
          <p:cNvPr id="32" name="Text 19"/>
          <p:cNvSpPr txBox="1"/>
          <p:nvPr/>
        </p:nvSpPr>
        <p:spPr>
          <a:xfrm>
            <a:off x="54864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MCMP113  ·  Week 1</a:t>
            </a:r>
            <a:endParaRPr lang="en-US" sz="1000" dirty="0"/>
          </a:p>
        </p:txBody>
      </p:sp>
      <p:sp>
        <p:nvSpPr>
          <p:cNvPr id="33" name="Text 20"/>
          <p:cNvSpPr txBox="1"/>
          <p:nvPr/>
        </p:nvSpPr>
        <p:spPr>
          <a:xfrm>
            <a:off x="1118585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1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CA3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&gt;_ </a:t>
            </a:r>
            <a:pPr indent="0" marL="0">
              <a:buNone/>
            </a:pPr>
            <a:r>
              <a:rPr lang="en-US" sz="1300" dirty="0">
                <a:solidFill>
                  <a:srgbClr val="5B64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WORKED EXAMPLE 1 · STEP 1: UNDERSTAND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Average of Three Exam Grades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11109960" cy="777240"/>
          </a:xfrm>
          <a:prstGeom prst="roundRect">
            <a:avLst>
              <a:gd name="adj" fmla="val 14118"/>
            </a:avLst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 txBox="1"/>
          <p:nvPr/>
        </p:nvSpPr>
        <p:spPr>
          <a:xfrm>
            <a:off x="822960" y="1600200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CA3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Problem: </a:t>
            </a:r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student enters three exam grades (0–100). Show the average and whether the student passed (average ≥ 50).</a:t>
            </a:r>
            <a:endParaRPr lang="en-US" sz="1700" dirty="0"/>
          </a:p>
        </p:txBody>
      </p:sp>
      <p:graphicFrame>
        <p:nvGraphicFramePr>
          <p:cNvPr id="2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606040"/>
          <a:ext cx="11109960" cy="914400"/>
        </p:xfrm>
        <a:graphic>
          <a:graphicData uri="http://schemas.openxmlformats.org/drawingml/2006/table">
            <a:tbl>
              <a:tblPr/>
              <a:tblGrid>
                <a:gridCol w="3703320"/>
                <a:gridCol w="3703320"/>
                <a:gridCol w="3703320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INPUT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4A6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PROCESS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4A6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OUTPUT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4A6B"/>
                    </a:solidFill>
                  </a:tcPr>
                </a:tc>
              </a:tr>
              <a:tr h="10972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g1, g2, g3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(numbers, 0–100)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avg ← (g1 + g2 + g3) / 3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compare avg with 50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avg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“PASSED” or “FAILED”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 txBox="1"/>
          <p:nvPr/>
        </p:nvSpPr>
        <p:spPr>
          <a:xfrm>
            <a:off x="548640" y="438912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Questions to ask before designing (the “edge cases”):</a:t>
            </a:r>
            <a:endParaRPr lang="en-US" sz="17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4892040"/>
            <a:ext cx="274320" cy="27432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960120" y="484632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a grade be 72.5, or only whole numbers?</a:t>
            </a:r>
            <a:endParaRPr lang="en-US" sz="15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6480" y="4892040"/>
            <a:ext cx="274320" cy="274320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6537960" y="484632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if the user types 120 or −5?</a:t>
            </a:r>
            <a:endParaRPr lang="en-US" sz="1500" dirty="0"/>
          </a:p>
        </p:txBody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5394960"/>
            <a:ext cx="274320" cy="274320"/>
          </a:xfrm>
          <a:prstGeom prst="rect">
            <a:avLst/>
          </a:prstGeom>
        </p:spPr>
      </p:pic>
      <p:sp>
        <p:nvSpPr>
          <p:cNvPr id="13" name="Text 7"/>
          <p:cNvSpPr txBox="1"/>
          <p:nvPr/>
        </p:nvSpPr>
        <p:spPr>
          <a:xfrm>
            <a:off x="960120" y="534924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exactly 50 a pass?</a:t>
            </a:r>
            <a:endParaRPr lang="en-US" sz="1500" dirty="0"/>
          </a:p>
        </p:txBody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26480" y="5394960"/>
            <a:ext cx="274320" cy="274320"/>
          </a:xfrm>
          <a:prstGeom prst="rect">
            <a:avLst/>
          </a:prstGeom>
        </p:spPr>
      </p:pic>
      <p:sp>
        <p:nvSpPr>
          <p:cNvPr id="15" name="Text 8"/>
          <p:cNvSpPr txBox="1"/>
          <p:nvPr/>
        </p:nvSpPr>
        <p:spPr>
          <a:xfrm>
            <a:off x="6537960" y="534924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Should all exams have equal weight?</a:t>
            </a:r>
            <a:endParaRPr lang="en-US" sz="1500" dirty="0"/>
          </a:p>
        </p:txBody>
      </p:sp>
      <p:sp>
        <p:nvSpPr>
          <p:cNvPr id="17" name="Text 9"/>
          <p:cNvSpPr txBox="1"/>
          <p:nvPr/>
        </p:nvSpPr>
        <p:spPr>
          <a:xfrm>
            <a:off x="54864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MCMP113  ·  Week 1</a:t>
            </a:r>
            <a:endParaRPr lang="en-US" sz="1000" dirty="0"/>
          </a:p>
        </p:txBody>
      </p:sp>
      <p:sp>
        <p:nvSpPr>
          <p:cNvPr id="18" name="Text 10"/>
          <p:cNvSpPr txBox="1"/>
          <p:nvPr/>
        </p:nvSpPr>
        <p:spPr>
          <a:xfrm>
            <a:off x="1118585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10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CA3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&gt;_ </a:t>
            </a:r>
            <a:pPr indent="0" marL="0">
              <a:buNone/>
            </a:pPr>
            <a:r>
              <a:rPr lang="en-US" sz="1300" dirty="0">
                <a:solidFill>
                  <a:srgbClr val="5B64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WORKED EXAMPLE 1 · STEP 2: DESIGN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Plain Steps to Pseudocode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0020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Plain-language steps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057400"/>
            <a:ext cx="530352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Font typeface="+mj-lt"/>
              <a:buAutoNum type="arabicPeriod" startAt="1"/>
            </a:pPr>
            <a:r>
              <a:rPr lang="en-US" sz="1600" dirty="0">
                <a:solidFill>
                  <a:srgbClr val="333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Start.</a:t>
            </a:r>
            <a:endParaRPr lang="en-US" sz="1600" dirty="0"/>
          </a:p>
          <a:p>
            <a:pPr marL="342900" indent="-342900">
              <a:spcAft>
                <a:spcPts val="900"/>
              </a:spcAft>
              <a:buSzPct val="100000"/>
              <a:buFont typeface="+mj-lt"/>
              <a:buAutoNum type="arabicPeriod" startAt="1"/>
            </a:pPr>
            <a:r>
              <a:rPr lang="en-US" sz="1600" dirty="0">
                <a:solidFill>
                  <a:srgbClr val="333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 first, second and third grades.</a:t>
            </a:r>
            <a:endParaRPr lang="en-US" sz="1600" dirty="0"/>
          </a:p>
          <a:p>
            <a:pPr marL="342900" indent="-342900">
              <a:spcAft>
                <a:spcPts val="900"/>
              </a:spcAft>
              <a:buSzPct val="100000"/>
              <a:buFont typeface="+mj-lt"/>
              <a:buAutoNum type="arabicPeriod" startAt="1"/>
            </a:pPr>
            <a:r>
              <a:rPr lang="en-US" sz="1600" dirty="0">
                <a:solidFill>
                  <a:srgbClr val="333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the three grades and divide by 3.</a:t>
            </a:r>
            <a:endParaRPr lang="en-US" sz="1600" dirty="0"/>
          </a:p>
          <a:p>
            <a:pPr marL="342900" indent="-342900">
              <a:spcAft>
                <a:spcPts val="900"/>
              </a:spcAft>
              <a:buSzPct val="100000"/>
              <a:buFont typeface="+mj-lt"/>
              <a:buAutoNum type="arabicPeriod" startAt="1"/>
            </a:pPr>
            <a:r>
              <a:rPr lang="en-US" sz="1600" dirty="0">
                <a:solidFill>
                  <a:srgbClr val="333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the average.</a:t>
            </a:r>
            <a:endParaRPr lang="en-US" sz="1600" dirty="0"/>
          </a:p>
          <a:p>
            <a:pPr marL="342900" indent="-342900">
              <a:spcAft>
                <a:spcPts val="900"/>
              </a:spcAft>
              <a:buSzPct val="100000"/>
              <a:buFont typeface="+mj-lt"/>
              <a:buAutoNum type="arabicPeriod" startAt="1"/>
            </a:pPr>
            <a:r>
              <a:rPr lang="en-US" sz="1600" dirty="0">
                <a:solidFill>
                  <a:srgbClr val="333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the average is at least 50, show “PASSED”; otherwise show “FAILED”.</a:t>
            </a:r>
            <a:endParaRPr lang="en-US" sz="1600" dirty="0"/>
          </a:p>
          <a:p>
            <a:pPr marL="342900" indent="-342900">
              <a:spcAft>
                <a:spcPts val="900"/>
              </a:spcAft>
              <a:buSzPct val="100000"/>
              <a:buFont typeface="+mj-lt"/>
              <a:buAutoNum type="arabicPeriod" startAt="1"/>
            </a:pPr>
            <a:r>
              <a:rPr lang="en-US" sz="1600" dirty="0">
                <a:solidFill>
                  <a:srgbClr val="333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Stop.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6309360" y="160020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Pseudocode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309360" y="2057400"/>
            <a:ext cx="5349240" cy="3246120"/>
          </a:xfrm>
          <a:prstGeom prst="roundRect">
            <a:avLst>
              <a:gd name="adj" fmla="val 2817"/>
            </a:avLst>
          </a:prstGeom>
          <a:solidFill>
            <a:srgbClr val="0F1729"/>
          </a:solidFill>
          <a:ln w="12700">
            <a:solidFill>
              <a:srgbClr val="0F1729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 txBox="1"/>
          <p:nvPr/>
        </p:nvSpPr>
        <p:spPr>
          <a:xfrm>
            <a:off x="6537960" y="2240280"/>
            <a:ext cx="4892040" cy="2880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5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START</a:t>
            </a:r>
            <a:endParaRPr lang="en-US" sz="15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5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READ g1, g2, g3</a:t>
            </a:r>
            <a:endParaRPr lang="en-US" sz="15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5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avg ← (g1 + g2 + g3) / 3</a:t>
            </a:r>
            <a:endParaRPr lang="en-US" sz="15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5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PRINT avg</a:t>
            </a:r>
            <a:endParaRPr lang="en-US" sz="15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5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IF avg ≥ 50 THEN</a:t>
            </a:r>
            <a:endParaRPr lang="en-US" sz="15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5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PRINT "PASSED"</a:t>
            </a:r>
            <a:endParaRPr lang="en-US" sz="15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5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ELSE</a:t>
            </a:r>
            <a:endParaRPr lang="en-US" sz="15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5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PRINT "FAILED"</a:t>
            </a:r>
            <a:endParaRPr lang="en-US" sz="15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5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END IF</a:t>
            </a:r>
            <a:endParaRPr lang="en-US" sz="15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5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END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6309360" y="5440680"/>
            <a:ext cx="5349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Pseudocode = structured English. No semicolons, no compiler — but precise enough to translate line-by-line into C#.</a:t>
            </a:r>
            <a:endParaRPr lang="en-US" sz="1300" dirty="0"/>
          </a:p>
        </p:txBody>
      </p:sp>
      <p:sp>
        <p:nvSpPr>
          <p:cNvPr id="11" name="Text 8"/>
          <p:cNvSpPr txBox="1"/>
          <p:nvPr/>
        </p:nvSpPr>
        <p:spPr>
          <a:xfrm>
            <a:off x="54864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MCMP113  ·  Week 1</a:t>
            </a:r>
            <a:endParaRPr lang="en-US" sz="1000" dirty="0"/>
          </a:p>
        </p:txBody>
      </p:sp>
      <p:sp>
        <p:nvSpPr>
          <p:cNvPr id="12" name="Text 9"/>
          <p:cNvSpPr txBox="1"/>
          <p:nvPr/>
        </p:nvSpPr>
        <p:spPr>
          <a:xfrm>
            <a:off x="1118585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10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CA3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&gt;_ </a:t>
            </a:r>
            <a:pPr indent="0" marL="0">
              <a:buNone/>
            </a:pPr>
            <a:r>
              <a:rPr lang="en-US" sz="1300" dirty="0">
                <a:solidFill>
                  <a:srgbClr val="5B64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WORKED EXAMPLE 1 · STEP 4: TEST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Choosing Good Test Cases</a:t>
            </a:r>
            <a:endParaRPr lang="en-US" sz="3400" dirty="0"/>
          </a:p>
        </p:txBody>
      </p:sp>
      <p:graphicFrame>
        <p:nvGraphicFramePr>
          <p:cNvPr id="2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00200"/>
          <a:ext cx="7589520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1920240"/>
                <a:gridCol w="3931920"/>
              </a:tblGrid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Kind of test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g1, g2, g3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Expected result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Normal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4213D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60, 70, 80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E9E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70.00 · PASSED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Boundary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4213D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50, 50, 50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E9E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50.00 · PASSED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Just below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4213D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49, 50, 50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E9E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49.67 · FAILED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Maximum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4213D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100, 100, 100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E9E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100.00 · PASSED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Minimum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4213D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0, 0, 0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E9E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 · FAILED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Out of range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4213D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120, 70, 80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C845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should be rejected — our algorithm prints 90.00!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Wrong type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4213D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abc, 70, 80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C845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C# program crashes (FormatException)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8412480" y="1600200"/>
            <a:ext cx="3246120" cy="3840480"/>
          </a:xfrm>
          <a:prstGeom prst="roundRect">
            <a:avLst>
              <a:gd name="adj" fmla="val 3380"/>
            </a:avLst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  <p:txBody>
          <a:bodyPr/>
          <a:p/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0" y="1828800"/>
            <a:ext cx="502920" cy="50292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8686800" y="2514600"/>
            <a:ext cx="27432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“Program testing can be used to show the presence of bugs, but never to show their absence.”</a:t>
            </a:r>
            <a:endParaRPr lang="en-US" sz="1600" dirty="0"/>
          </a:p>
        </p:txBody>
      </p:sp>
      <p:sp>
        <p:nvSpPr>
          <p:cNvPr id="8" name="Text 4"/>
          <p:cNvSpPr txBox="1"/>
          <p:nvPr/>
        </p:nvSpPr>
        <p:spPr>
          <a:xfrm>
            <a:off x="8686800" y="43434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CA3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Edsger W. Dijkstra</a:t>
            </a:r>
            <a:endParaRPr lang="en-US" sz="1300" dirty="0"/>
          </a:p>
        </p:txBody>
      </p:sp>
      <p:sp>
        <p:nvSpPr>
          <p:cNvPr id="9" name="Text 5"/>
          <p:cNvSpPr txBox="1"/>
          <p:nvPr/>
        </p:nvSpPr>
        <p:spPr>
          <a:xfrm>
            <a:off x="8686800" y="470916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C7CE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choose tests that are most likely to break the algorithm.</a:t>
            </a:r>
            <a:endParaRPr lang="en-US" sz="1250" dirty="0"/>
          </a:p>
        </p:txBody>
      </p:sp>
      <p:sp>
        <p:nvSpPr>
          <p:cNvPr id="11" name="Text 6"/>
          <p:cNvSpPr txBox="1"/>
          <p:nvPr/>
        </p:nvSpPr>
        <p:spPr>
          <a:xfrm>
            <a:off x="54864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MCMP113  ·  Week 1</a:t>
            </a:r>
            <a:endParaRPr lang="en-US" sz="1000" dirty="0"/>
          </a:p>
        </p:txBody>
      </p:sp>
      <p:sp>
        <p:nvSpPr>
          <p:cNvPr id="12" name="Text 7"/>
          <p:cNvSpPr txBox="1"/>
          <p:nvPr/>
        </p:nvSpPr>
        <p:spPr>
          <a:xfrm>
            <a:off x="1118585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10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CA3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&gt;_ </a:t>
            </a:r>
            <a:pPr indent="0" marL="0">
              <a:buNone/>
            </a:pPr>
            <a:r>
              <a:rPr lang="en-US" sz="1300" dirty="0">
                <a:solidFill>
                  <a:srgbClr val="5B64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WORKED EXAMPLE 2 · DESK-CHECKING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Sum of 1 … N — with a Trace Table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4754880" cy="2926080"/>
          </a:xfrm>
          <a:prstGeom prst="roundRect">
            <a:avLst>
              <a:gd name="adj" fmla="val 3125"/>
            </a:avLst>
          </a:prstGeom>
          <a:solidFill>
            <a:srgbClr val="0F1729"/>
          </a:solidFill>
          <a:ln w="12700">
            <a:solidFill>
              <a:srgbClr val="0F1729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 txBox="1"/>
          <p:nvPr/>
        </p:nvSpPr>
        <p:spPr>
          <a:xfrm>
            <a:off x="777240" y="1828800"/>
            <a:ext cx="429768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5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START</a:t>
            </a:r>
            <a:endParaRPr lang="en-US" sz="15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5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READ N</a:t>
            </a:r>
            <a:endParaRPr lang="en-US" sz="15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5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sum ← 0</a:t>
            </a:r>
            <a:endParaRPr lang="en-US" sz="15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5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 ← 1</a:t>
            </a:r>
            <a:endParaRPr lang="en-US" sz="15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5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WHILE i ≤ N</a:t>
            </a:r>
            <a:endParaRPr lang="en-US" sz="15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5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sum ← sum + i</a:t>
            </a:r>
            <a:endParaRPr lang="en-US" sz="15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5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i ← i + 1</a:t>
            </a:r>
            <a:endParaRPr lang="en-US" sz="15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5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END WHILE</a:t>
            </a:r>
            <a:endParaRPr lang="en-US" sz="15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5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PRINT sum</a:t>
            </a:r>
            <a:endParaRPr lang="en-US" sz="15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5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END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5760720" y="16459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Trace for N = 5</a:t>
            </a:r>
            <a:endParaRPr lang="en-US" sz="1700" dirty="0"/>
          </a:p>
        </p:txBody>
      </p:sp>
      <p:graphicFrame>
        <p:nvGraphicFramePr>
          <p:cNvPr id="2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760720" y="2011680"/>
          <a:ext cx="589788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1371600"/>
                <a:gridCol w="1783080"/>
                <a:gridCol w="1371600"/>
              </a:tblGrid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step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i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i ≤ N ?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sum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4213D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start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4213D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4213D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—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4213D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4213D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4213D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4213D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yes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4213D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4213D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2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4213D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2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4213D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yes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4213D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3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4213D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3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4213D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3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4213D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yes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4213D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6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4213D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4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4213D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4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4213D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yes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4213D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10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4213D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5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4213D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5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4213D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yes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4213D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15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4213D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exit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4213D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6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C8453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no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4213D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15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548640" y="5074920"/>
            <a:ext cx="11109960" cy="1005840"/>
          </a:xfrm>
          <a:prstGeom prst="roundRect">
            <a:avLst>
              <a:gd name="adj" fmla="val 10909"/>
            </a:avLst>
          </a:prstGeom>
          <a:solidFill>
            <a:srgbClr val="FFF6E3"/>
          </a:solidFill>
          <a:ln w="12700">
            <a:solidFill>
              <a:srgbClr val="FFF6E3"/>
            </a:solidFill>
            <a:prstDash val="solid"/>
          </a:ln>
        </p:spPr>
        <p:txBody>
          <a:bodyPr/>
          <a:p/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5303520"/>
            <a:ext cx="548640" cy="548640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554480" y="5102352"/>
            <a:ext cx="99669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problem, different algorithm: </a:t>
            </a:r>
            <a:pPr indent="0" marL="0">
              <a:buNone/>
            </a:pPr>
            <a:r>
              <a:rPr lang="en-US" sz="1450" dirty="0">
                <a:solidFill>
                  <a:srgbClr val="333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Gauss’s formula  sum = N × (N + 1) / 2  gives 15 in one step. The loop needs N steps; for N = 1 000 000 000 that is a real difference. Choosing the better algorithm is a design decision, not a coding one.</a:t>
            </a:r>
            <a:endParaRPr lang="en-US" sz="1450" dirty="0"/>
          </a:p>
        </p:txBody>
      </p:sp>
      <p:sp>
        <p:nvSpPr>
          <p:cNvPr id="12" name="Text 7"/>
          <p:cNvSpPr txBox="1"/>
          <p:nvPr/>
        </p:nvSpPr>
        <p:spPr>
          <a:xfrm>
            <a:off x="54864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MCMP113  ·  Week 1</a:t>
            </a:r>
            <a:endParaRPr lang="en-US" sz="1000" dirty="0"/>
          </a:p>
        </p:txBody>
      </p:sp>
      <p:sp>
        <p:nvSpPr>
          <p:cNvPr id="13" name="Text 8"/>
          <p:cNvSpPr txBox="1"/>
          <p:nvPr/>
        </p:nvSpPr>
        <p:spPr>
          <a:xfrm>
            <a:off x="1118585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10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CA3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&gt;_ </a:t>
            </a:r>
            <a:pPr indent="0" marL="0">
              <a:buNone/>
            </a:pPr>
            <a:r>
              <a:rPr lang="en-US" sz="1300" dirty="0">
                <a:solidFill>
                  <a:srgbClr val="5B64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EFFICIENCY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Guess My Number (1 … 1000): Two Algorithms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440680" cy="2148840"/>
          </a:xfrm>
          <a:prstGeom prst="roundRect">
            <a:avLst>
              <a:gd name="adj" fmla="val 5106"/>
            </a:avLst>
          </a:prstGeom>
          <a:solidFill>
            <a:srgbClr val="EEF1F6"/>
          </a:solidFill>
          <a:ln w="12700">
            <a:solidFill>
              <a:srgbClr val="EEF1F6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 txBox="1"/>
          <p:nvPr/>
        </p:nvSpPr>
        <p:spPr>
          <a:xfrm>
            <a:off x="822960" y="173736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· Try every number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10312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4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1, 2, 3, 4, …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514600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C845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1000</a:t>
            </a:r>
            <a:endParaRPr lang="en-US" sz="5400" dirty="0"/>
          </a:p>
        </p:txBody>
      </p:sp>
      <p:sp>
        <p:nvSpPr>
          <p:cNvPr id="8" name="Text 6"/>
          <p:cNvSpPr txBox="1"/>
          <p:nvPr/>
        </p:nvSpPr>
        <p:spPr>
          <a:xfrm>
            <a:off x="3200400" y="2514600"/>
            <a:ext cx="2651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guesses in the worst case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217920" y="1600200"/>
            <a:ext cx="5440680" cy="2148840"/>
          </a:xfrm>
          <a:prstGeom prst="roundRect">
            <a:avLst>
              <a:gd name="adj" fmla="val 5106"/>
            </a:avLst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 txBox="1"/>
          <p:nvPr/>
        </p:nvSpPr>
        <p:spPr>
          <a:xfrm>
            <a:off x="6492240" y="173736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 · Always guess the middle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6492240" y="210312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7CE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“higher” / “lower” halves the range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6492240" y="2514600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CA3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5400" dirty="0"/>
          </a:p>
        </p:txBody>
      </p:sp>
      <p:sp>
        <p:nvSpPr>
          <p:cNvPr id="13" name="Text 11"/>
          <p:cNvSpPr txBox="1"/>
          <p:nvPr/>
        </p:nvSpPr>
        <p:spPr>
          <a:xfrm>
            <a:off x="8869680" y="2514600"/>
            <a:ext cx="2651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guesses at most, because 2¹⁰ = 1024 ≥ 1000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548640" y="39776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Strategy B, secret number = 737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548640" y="4389120"/>
            <a:ext cx="987552" cy="685800"/>
          </a:xfrm>
          <a:prstGeom prst="roundRect">
            <a:avLst>
              <a:gd name="adj" fmla="val 10667"/>
            </a:avLst>
          </a:prstGeom>
          <a:solidFill>
            <a:srgbClr val="EEF1F6"/>
          </a:solidFill>
          <a:ln w="12700">
            <a:solidFill>
              <a:srgbClr val="D5DAE3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 txBox="1"/>
          <p:nvPr/>
        </p:nvSpPr>
        <p:spPr>
          <a:xfrm>
            <a:off x="548640" y="4389120"/>
            <a:ext cx="9875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421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500</a:t>
            </a:r>
            <a:endParaRPr lang="en-US" sz="15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1421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↑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1664208" y="4389120"/>
            <a:ext cx="987552" cy="685800"/>
          </a:xfrm>
          <a:prstGeom prst="roundRect">
            <a:avLst>
              <a:gd name="adj" fmla="val 10667"/>
            </a:avLst>
          </a:prstGeom>
          <a:solidFill>
            <a:srgbClr val="EEF1F6"/>
          </a:solidFill>
          <a:ln w="12700">
            <a:solidFill>
              <a:srgbClr val="D5DAE3"/>
            </a:solidFill>
            <a:prstDash val="solid"/>
          </a:ln>
        </p:spPr>
        <p:txBody>
          <a:bodyPr/>
          <a:p/>
        </p:txBody>
      </p:sp>
      <p:sp>
        <p:nvSpPr>
          <p:cNvPr id="18" name="Text 16"/>
          <p:cNvSpPr txBox="1"/>
          <p:nvPr/>
        </p:nvSpPr>
        <p:spPr>
          <a:xfrm>
            <a:off x="1664208" y="4389120"/>
            <a:ext cx="9875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421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750</a:t>
            </a:r>
            <a:endParaRPr lang="en-US" sz="15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1421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↓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2779776" y="4389120"/>
            <a:ext cx="987552" cy="685800"/>
          </a:xfrm>
          <a:prstGeom prst="roundRect">
            <a:avLst>
              <a:gd name="adj" fmla="val 10667"/>
            </a:avLst>
          </a:prstGeom>
          <a:solidFill>
            <a:srgbClr val="EEF1F6"/>
          </a:solidFill>
          <a:ln w="12700">
            <a:solidFill>
              <a:srgbClr val="D5DAE3"/>
            </a:solidFill>
            <a:prstDash val="solid"/>
          </a:ln>
        </p:spPr>
        <p:txBody>
          <a:bodyPr/>
          <a:p/>
        </p:txBody>
      </p:sp>
      <p:sp>
        <p:nvSpPr>
          <p:cNvPr id="20" name="Text 18"/>
          <p:cNvSpPr txBox="1"/>
          <p:nvPr/>
        </p:nvSpPr>
        <p:spPr>
          <a:xfrm>
            <a:off x="2779776" y="4389120"/>
            <a:ext cx="9875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421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625</a:t>
            </a:r>
            <a:endParaRPr lang="en-US" sz="15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1421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↑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3895344" y="4389120"/>
            <a:ext cx="987552" cy="685800"/>
          </a:xfrm>
          <a:prstGeom prst="roundRect">
            <a:avLst>
              <a:gd name="adj" fmla="val 10667"/>
            </a:avLst>
          </a:prstGeom>
          <a:solidFill>
            <a:srgbClr val="EEF1F6"/>
          </a:solidFill>
          <a:ln w="12700">
            <a:solidFill>
              <a:srgbClr val="D5DAE3"/>
            </a:solidFill>
            <a:prstDash val="solid"/>
          </a:ln>
        </p:spPr>
        <p:txBody>
          <a:bodyPr/>
          <a:p/>
        </p:txBody>
      </p:sp>
      <p:sp>
        <p:nvSpPr>
          <p:cNvPr id="22" name="Text 20"/>
          <p:cNvSpPr txBox="1"/>
          <p:nvPr/>
        </p:nvSpPr>
        <p:spPr>
          <a:xfrm>
            <a:off x="3895344" y="4389120"/>
            <a:ext cx="9875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421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687</a:t>
            </a:r>
            <a:endParaRPr lang="en-US" sz="15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1421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↑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5010912" y="4389120"/>
            <a:ext cx="987552" cy="685800"/>
          </a:xfrm>
          <a:prstGeom prst="roundRect">
            <a:avLst>
              <a:gd name="adj" fmla="val 10667"/>
            </a:avLst>
          </a:prstGeom>
          <a:solidFill>
            <a:srgbClr val="EEF1F6"/>
          </a:solidFill>
          <a:ln w="12700">
            <a:solidFill>
              <a:srgbClr val="D5DAE3"/>
            </a:solidFill>
            <a:prstDash val="solid"/>
          </a:ln>
        </p:spPr>
        <p:txBody>
          <a:bodyPr/>
          <a:p/>
        </p:txBody>
      </p:sp>
      <p:sp>
        <p:nvSpPr>
          <p:cNvPr id="24" name="Text 22"/>
          <p:cNvSpPr txBox="1"/>
          <p:nvPr/>
        </p:nvSpPr>
        <p:spPr>
          <a:xfrm>
            <a:off x="5010912" y="4389120"/>
            <a:ext cx="9875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421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718</a:t>
            </a:r>
            <a:endParaRPr lang="en-US" sz="15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1421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↑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6126480" y="4389120"/>
            <a:ext cx="987552" cy="685800"/>
          </a:xfrm>
          <a:prstGeom prst="roundRect">
            <a:avLst>
              <a:gd name="adj" fmla="val 10667"/>
            </a:avLst>
          </a:prstGeom>
          <a:solidFill>
            <a:srgbClr val="EEF1F6"/>
          </a:solidFill>
          <a:ln w="12700">
            <a:solidFill>
              <a:srgbClr val="D5DAE3"/>
            </a:solidFill>
            <a:prstDash val="solid"/>
          </a:ln>
        </p:spPr>
        <p:txBody>
          <a:bodyPr/>
          <a:p/>
        </p:txBody>
      </p:sp>
      <p:sp>
        <p:nvSpPr>
          <p:cNvPr id="26" name="Text 24"/>
          <p:cNvSpPr txBox="1"/>
          <p:nvPr/>
        </p:nvSpPr>
        <p:spPr>
          <a:xfrm>
            <a:off x="6126480" y="4389120"/>
            <a:ext cx="9875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421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734</a:t>
            </a:r>
            <a:endParaRPr lang="en-US" sz="15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1421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↑</a:t>
            </a:r>
            <a:endParaRPr lang="en-US" sz="1500" dirty="0"/>
          </a:p>
        </p:txBody>
      </p:sp>
      <p:sp>
        <p:nvSpPr>
          <p:cNvPr id="27" name="Shape 25"/>
          <p:cNvSpPr/>
          <p:nvPr/>
        </p:nvSpPr>
        <p:spPr>
          <a:xfrm>
            <a:off x="7242048" y="4389120"/>
            <a:ext cx="987552" cy="685800"/>
          </a:xfrm>
          <a:prstGeom prst="roundRect">
            <a:avLst>
              <a:gd name="adj" fmla="val 10667"/>
            </a:avLst>
          </a:prstGeom>
          <a:solidFill>
            <a:srgbClr val="EEF1F6"/>
          </a:solidFill>
          <a:ln w="12700">
            <a:solidFill>
              <a:srgbClr val="D5DAE3"/>
            </a:solidFill>
            <a:prstDash val="solid"/>
          </a:ln>
        </p:spPr>
        <p:txBody>
          <a:bodyPr/>
          <a:p/>
        </p:txBody>
      </p:sp>
      <p:sp>
        <p:nvSpPr>
          <p:cNvPr id="28" name="Text 26"/>
          <p:cNvSpPr txBox="1"/>
          <p:nvPr/>
        </p:nvSpPr>
        <p:spPr>
          <a:xfrm>
            <a:off x="7242048" y="4389120"/>
            <a:ext cx="9875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421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742</a:t>
            </a:r>
            <a:endParaRPr lang="en-US" sz="15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1421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↓</a:t>
            </a:r>
            <a:endParaRPr lang="en-US" sz="1500" dirty="0"/>
          </a:p>
        </p:txBody>
      </p:sp>
      <p:sp>
        <p:nvSpPr>
          <p:cNvPr id="29" name="Shape 27"/>
          <p:cNvSpPr/>
          <p:nvPr/>
        </p:nvSpPr>
        <p:spPr>
          <a:xfrm>
            <a:off x="8357616" y="4389120"/>
            <a:ext cx="987552" cy="685800"/>
          </a:xfrm>
          <a:prstGeom prst="roundRect">
            <a:avLst>
              <a:gd name="adj" fmla="val 10667"/>
            </a:avLst>
          </a:prstGeom>
          <a:solidFill>
            <a:srgbClr val="EEF1F6"/>
          </a:solidFill>
          <a:ln w="12700">
            <a:solidFill>
              <a:srgbClr val="D5DAE3"/>
            </a:solidFill>
            <a:prstDash val="solid"/>
          </a:ln>
        </p:spPr>
        <p:txBody>
          <a:bodyPr/>
          <a:p/>
        </p:txBody>
      </p:sp>
      <p:sp>
        <p:nvSpPr>
          <p:cNvPr id="30" name="Text 28"/>
          <p:cNvSpPr txBox="1"/>
          <p:nvPr/>
        </p:nvSpPr>
        <p:spPr>
          <a:xfrm>
            <a:off x="8357616" y="4389120"/>
            <a:ext cx="9875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421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738</a:t>
            </a:r>
            <a:endParaRPr lang="en-US" sz="15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1421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↓</a:t>
            </a:r>
            <a:endParaRPr lang="en-US" sz="1500" dirty="0"/>
          </a:p>
        </p:txBody>
      </p:sp>
      <p:sp>
        <p:nvSpPr>
          <p:cNvPr id="31" name="Shape 29"/>
          <p:cNvSpPr/>
          <p:nvPr/>
        </p:nvSpPr>
        <p:spPr>
          <a:xfrm>
            <a:off x="9473184" y="4389120"/>
            <a:ext cx="987552" cy="685800"/>
          </a:xfrm>
          <a:prstGeom prst="roundRect">
            <a:avLst>
              <a:gd name="adj" fmla="val 10667"/>
            </a:avLst>
          </a:prstGeom>
          <a:solidFill>
            <a:srgbClr val="EEF1F6"/>
          </a:solidFill>
          <a:ln w="12700">
            <a:solidFill>
              <a:srgbClr val="D5DAE3"/>
            </a:solidFill>
            <a:prstDash val="solid"/>
          </a:ln>
        </p:spPr>
        <p:txBody>
          <a:bodyPr/>
          <a:p/>
        </p:txBody>
      </p:sp>
      <p:sp>
        <p:nvSpPr>
          <p:cNvPr id="32" name="Text 30"/>
          <p:cNvSpPr txBox="1"/>
          <p:nvPr/>
        </p:nvSpPr>
        <p:spPr>
          <a:xfrm>
            <a:off x="9473184" y="4389120"/>
            <a:ext cx="9875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421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736</a:t>
            </a:r>
            <a:endParaRPr lang="en-US" sz="15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1421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↑</a:t>
            </a:r>
            <a:endParaRPr lang="en-US" sz="1500" dirty="0"/>
          </a:p>
        </p:txBody>
      </p:sp>
      <p:sp>
        <p:nvSpPr>
          <p:cNvPr id="33" name="Shape 31"/>
          <p:cNvSpPr/>
          <p:nvPr/>
        </p:nvSpPr>
        <p:spPr>
          <a:xfrm>
            <a:off x="10588752" y="4389120"/>
            <a:ext cx="987552" cy="685800"/>
          </a:xfrm>
          <a:prstGeom prst="roundRect">
            <a:avLst>
              <a:gd name="adj" fmla="val 10667"/>
            </a:avLst>
          </a:prstGeom>
          <a:solidFill>
            <a:srgbClr val="2E9E6A"/>
          </a:solidFill>
          <a:ln w="12700">
            <a:solidFill>
              <a:srgbClr val="2E9E6A"/>
            </a:solidFill>
            <a:prstDash val="solid"/>
          </a:ln>
        </p:spPr>
        <p:txBody>
          <a:bodyPr/>
          <a:p/>
        </p:txBody>
      </p:sp>
      <p:sp>
        <p:nvSpPr>
          <p:cNvPr id="34" name="Text 32"/>
          <p:cNvSpPr txBox="1"/>
          <p:nvPr/>
        </p:nvSpPr>
        <p:spPr>
          <a:xfrm>
            <a:off x="10588752" y="4389120"/>
            <a:ext cx="9875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737</a:t>
            </a:r>
            <a:endParaRPr lang="en-US" sz="15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✓</a:t>
            </a:r>
            <a:endParaRPr lang="en-US" sz="1500" dirty="0"/>
          </a:p>
        </p:txBody>
      </p:sp>
      <p:graphicFrame>
        <p:nvGraphicFramePr>
          <p:cNvPr id="2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5303520"/>
          <a:ext cx="11109960" cy="914400"/>
        </p:xfrm>
        <a:graphic>
          <a:graphicData uri="http://schemas.openxmlformats.org/drawingml/2006/table">
            <a:tbl>
              <a:tblPr/>
              <a:tblGrid>
                <a:gridCol w="1965960"/>
                <a:gridCol w="2286000"/>
                <a:gridCol w="2286000"/>
                <a:gridCol w="2286000"/>
                <a:gridCol w="2286000"/>
              </a:tblGrid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range size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1 000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1 000 000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1 000 000 000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(worst)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C845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C845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1 000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C845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1 000 000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C845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1 000 000 000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 (worst)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2E9E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2E9E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2E9E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2E9E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37" name="Text 33"/>
          <p:cNvSpPr txBox="1"/>
          <p:nvPr/>
        </p:nvSpPr>
        <p:spPr>
          <a:xfrm>
            <a:off x="54864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MCMP113  ·  Week 1</a:t>
            </a:r>
            <a:endParaRPr lang="en-US" sz="1000" dirty="0"/>
          </a:p>
        </p:txBody>
      </p:sp>
      <p:sp>
        <p:nvSpPr>
          <p:cNvPr id="38" name="Text 34"/>
          <p:cNvSpPr txBox="1"/>
          <p:nvPr/>
        </p:nvSpPr>
        <p:spPr>
          <a:xfrm>
            <a:off x="1118585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10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CA3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&gt;_ </a:t>
            </a:r>
            <a:pPr indent="0" marL="0">
              <a:buNone/>
            </a:pPr>
            <a:r>
              <a:rPr lang="en-US" sz="1300" dirty="0">
                <a:solidFill>
                  <a:srgbClr val="5B64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2300-YEAR-OLD ALGORITHM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Euclid’s Greatest Common Divisor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6304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Written down around 300 BC in Euclid’s Elements — still used today inside every secure (HTTPS/RSA) connection.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103120"/>
            <a:ext cx="5120640" cy="2743200"/>
          </a:xfrm>
          <a:prstGeom prst="roundRect">
            <a:avLst>
              <a:gd name="adj" fmla="val 3333"/>
            </a:avLst>
          </a:prstGeom>
          <a:solidFill>
            <a:srgbClr val="0F1729"/>
          </a:solidFill>
          <a:ln w="12700">
            <a:solidFill>
              <a:srgbClr val="0F1729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 txBox="1"/>
          <p:nvPr/>
        </p:nvSpPr>
        <p:spPr>
          <a:xfrm>
            <a:off x="777240" y="2286000"/>
            <a:ext cx="46634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5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START</a:t>
            </a:r>
            <a:endParaRPr lang="en-US" sz="15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5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READ a, b</a:t>
            </a:r>
            <a:endParaRPr lang="en-US" sz="15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5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WHILE b ≠ 0</a:t>
            </a:r>
            <a:endParaRPr lang="en-US" sz="15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5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r ← a mod b</a:t>
            </a:r>
            <a:endParaRPr lang="en-US" sz="15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5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a ← b</a:t>
            </a:r>
            <a:endParaRPr lang="en-US" sz="15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5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b ← r</a:t>
            </a:r>
            <a:endParaRPr lang="en-US" sz="15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5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END WHILE</a:t>
            </a:r>
            <a:endParaRPr lang="en-US" sz="15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5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PRINT a</a:t>
            </a:r>
            <a:endParaRPr lang="en-US" sz="15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5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END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498348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4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 = remainder of division  (17 mod 5 = 2)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6126480" y="21031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Trace: GCD(48, 18)</a:t>
            </a:r>
            <a:endParaRPr lang="en-US" sz="1700" dirty="0"/>
          </a:p>
        </p:txBody>
      </p:sp>
      <p:graphicFrame>
        <p:nvGraphicFramePr>
          <p:cNvPr id="2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126480" y="2514600"/>
          <a:ext cx="553212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1371600"/>
                <a:gridCol w="2788920"/>
              </a:tblGrid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</a:t>
                      </a:r>
                      <a:endParaRPr lang="en-US" sz="15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b</a:t>
                      </a:r>
                      <a:endParaRPr lang="en-US" sz="15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r = a mod b</a:t>
                      </a:r>
                      <a:endParaRPr lang="en-US" sz="15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4213D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48</a:t>
                      </a:r>
                      <a:endParaRPr lang="en-US" sz="15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4213D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18</a:t>
                      </a:r>
                      <a:endParaRPr lang="en-US" sz="15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4213D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12</a:t>
                      </a:r>
                      <a:endParaRPr lang="en-US" sz="15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4213D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18</a:t>
                      </a:r>
                      <a:endParaRPr lang="en-US" sz="15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4213D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12</a:t>
                      </a:r>
                      <a:endParaRPr lang="en-US" sz="15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4213D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6</a:t>
                      </a:r>
                      <a:endParaRPr lang="en-US" sz="15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4213D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12</a:t>
                      </a:r>
                      <a:endParaRPr lang="en-US" sz="15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4213D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6</a:t>
                      </a:r>
                      <a:endParaRPr lang="en-US" sz="15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4213D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</a:t>
                      </a:r>
                      <a:endParaRPr lang="en-US" sz="15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2E9E6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6</a:t>
                      </a:r>
                      <a:endParaRPr lang="en-US" sz="15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2E9E6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</a:t>
                      </a:r>
                      <a:endParaRPr lang="en-US" sz="15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2E9E6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stop → GCD = 6</a:t>
                      </a:r>
                      <a:endParaRPr lang="en-US" sz="15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 7"/>
          <p:cNvSpPr txBox="1"/>
          <p:nvPr/>
        </p:nvSpPr>
        <p:spPr>
          <a:xfrm>
            <a:off x="6126480" y="4754880"/>
            <a:ext cx="5532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33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all five properties: Is it finite? (b strictly decreases.) Definite? Input? Output? Effective?</a:t>
            </a:r>
            <a:endParaRPr lang="en-US" sz="1400" dirty="0"/>
          </a:p>
        </p:txBody>
      </p:sp>
      <p:sp>
        <p:nvSpPr>
          <p:cNvPr id="12" name="Text 8"/>
          <p:cNvSpPr txBox="1"/>
          <p:nvPr/>
        </p:nvSpPr>
        <p:spPr>
          <a:xfrm>
            <a:off x="54864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MCMP113  ·  Week 1</a:t>
            </a:r>
            <a:endParaRPr lang="en-US" sz="1000" dirty="0"/>
          </a:p>
        </p:txBody>
      </p:sp>
      <p:sp>
        <p:nvSpPr>
          <p:cNvPr id="13" name="Text 9"/>
          <p:cNvSpPr txBox="1"/>
          <p:nvPr/>
        </p:nvSpPr>
        <p:spPr>
          <a:xfrm>
            <a:off x="1118585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</a:t>
            </a:r>
            <a:endParaRPr lang="en-US" sz="10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CA3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&gt;_ </a:t>
            </a:r>
            <a:pPr indent="0" marL="0">
              <a:buNone/>
            </a:pPr>
            <a:r>
              <a:rPr lang="en-US" sz="1300" dirty="0">
                <a:solidFill>
                  <a:srgbClr val="5B64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REAL ALGORITHM IN YOUR WALLET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T.C. Kimlik No: the Check-Digit Algorithm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669280" cy="2834640"/>
          </a:xfrm>
          <a:prstGeom prst="roundRect">
            <a:avLst>
              <a:gd name="adj" fmla="val 3871"/>
            </a:avLst>
          </a:prstGeom>
          <a:solidFill>
            <a:srgbClr val="EEF1F6"/>
          </a:solidFill>
          <a:ln w="12700">
            <a:solidFill>
              <a:srgbClr val="EEF1F6"/>
            </a:solidFill>
            <a:prstDash val="solid"/>
          </a:ln>
        </p:spPr>
        <p:txBody>
          <a:bodyPr/>
          <a:p/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783080"/>
            <a:ext cx="502920" cy="50292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463040" y="178308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rules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2468880"/>
            <a:ext cx="52578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Font typeface="+mj-lt"/>
              <a:buAutoNum type="arabicPeriod" startAt="1"/>
            </a:pPr>
            <a:r>
              <a:rPr lang="en-US" sz="1350" dirty="0">
                <a:solidFill>
                  <a:srgbClr val="1421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 digits  d1 d2 … d11,  and  d1 ≠ 0</a:t>
            </a:r>
            <a:endParaRPr lang="en-US" sz="1350" dirty="0"/>
          </a:p>
          <a:p>
            <a:pPr marL="342900" indent="-342900">
              <a:spcAft>
                <a:spcPts val="1200"/>
              </a:spcAft>
              <a:buSzPct val="100000"/>
              <a:buFont typeface="+mj-lt"/>
              <a:buAutoNum type="arabicPeriod" startAt="1"/>
            </a:pPr>
            <a:r>
              <a:rPr lang="en-US" sz="1350" dirty="0">
                <a:solidFill>
                  <a:srgbClr val="1421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d10 = ( 7 × (d1+d3+d5+d7+d9) − (d2+d4+d6+d8) ) mod 10</a:t>
            </a:r>
            <a:endParaRPr lang="en-US" sz="1350" dirty="0"/>
          </a:p>
          <a:p>
            <a:pPr marL="342900" indent="-342900">
              <a:spcAft>
                <a:spcPts val="1200"/>
              </a:spcAft>
              <a:buSzPct val="100000"/>
              <a:buFont typeface="+mj-lt"/>
              <a:buAutoNum type="arabicPeriod" startAt="1"/>
            </a:pPr>
            <a:r>
              <a:rPr lang="en-US" sz="1350" dirty="0">
                <a:solidFill>
                  <a:srgbClr val="1421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d11 = ( d1 + d2 + … + d10 ) mod 10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6492240" y="1600200"/>
            <a:ext cx="5166360" cy="2834640"/>
          </a:xfrm>
          <a:prstGeom prst="roundRect">
            <a:avLst>
              <a:gd name="adj" fmla="val 3871"/>
            </a:avLst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  <p:txBody>
          <a:bodyPr/>
          <a:p/>
        </p:txBody>
      </p:sp>
      <p:sp>
        <p:nvSpPr>
          <p:cNvPr id="9" name="Text 6"/>
          <p:cNvSpPr txBox="1"/>
          <p:nvPr/>
        </p:nvSpPr>
        <p:spPr>
          <a:xfrm>
            <a:off x="6766560" y="178308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does it exist?</a:t>
            </a:r>
            <a:endParaRPr lang="en-US" sz="1800" dirty="0"/>
          </a:p>
        </p:txBody>
      </p:sp>
      <p:sp>
        <p:nvSpPr>
          <p:cNvPr id="10" name="Text 7"/>
          <p:cNvSpPr txBox="1"/>
          <p:nvPr/>
        </p:nvSpPr>
        <p:spPr>
          <a:xfrm>
            <a:off x="6766560" y="2286000"/>
            <a:ext cx="46634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single mistyped digit is detected instantly — without asking a database.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idea: IBAN (mod 97), EAN-13 barcodes, credit cards (Luhn).</a:t>
            </a:r>
            <a:endParaRPr lang="en-US" sz="1500" dirty="0"/>
          </a:p>
        </p:txBody>
      </p:sp>
      <p:sp>
        <p:nvSpPr>
          <p:cNvPr id="11" name="Text 8"/>
          <p:cNvSpPr txBox="1"/>
          <p:nvPr/>
        </p:nvSpPr>
        <p:spPr>
          <a:xfrm>
            <a:off x="548640" y="461772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Trace with the made-up first nine digits 1 2 3 4 5 6 7 8 9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548640" y="5029200"/>
            <a:ext cx="402336" cy="548640"/>
          </a:xfrm>
          <a:prstGeom prst="roundRect">
            <a:avLst>
              <a:gd name="adj" fmla="val 13636"/>
            </a:avLst>
          </a:prstGeom>
          <a:solidFill>
            <a:srgbClr val="EEF1F6"/>
          </a:solidFill>
          <a:ln w="12700">
            <a:solidFill>
              <a:srgbClr val="D5DAE3"/>
            </a:solidFill>
            <a:prstDash val="solid"/>
          </a:ln>
        </p:spPr>
        <p:txBody>
          <a:bodyPr/>
          <a:p/>
        </p:txBody>
      </p:sp>
      <p:sp>
        <p:nvSpPr>
          <p:cNvPr id="13" name="Text 10"/>
          <p:cNvSpPr txBox="1"/>
          <p:nvPr/>
        </p:nvSpPr>
        <p:spPr>
          <a:xfrm>
            <a:off x="548640" y="5029200"/>
            <a:ext cx="4023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421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800" dirty="0"/>
          </a:p>
        </p:txBody>
      </p:sp>
      <p:sp>
        <p:nvSpPr>
          <p:cNvPr id="14" name="Shape 11"/>
          <p:cNvSpPr/>
          <p:nvPr/>
        </p:nvSpPr>
        <p:spPr>
          <a:xfrm>
            <a:off x="1024128" y="5029200"/>
            <a:ext cx="402336" cy="548640"/>
          </a:xfrm>
          <a:prstGeom prst="roundRect">
            <a:avLst>
              <a:gd name="adj" fmla="val 13636"/>
            </a:avLst>
          </a:prstGeom>
          <a:solidFill>
            <a:srgbClr val="EEF1F6"/>
          </a:solidFill>
          <a:ln w="12700">
            <a:solidFill>
              <a:srgbClr val="D5DAE3"/>
            </a:solidFill>
            <a:prstDash val="solid"/>
          </a:ln>
        </p:spPr>
        <p:txBody>
          <a:bodyPr/>
          <a:p/>
        </p:txBody>
      </p:sp>
      <p:sp>
        <p:nvSpPr>
          <p:cNvPr id="15" name="Text 12"/>
          <p:cNvSpPr txBox="1"/>
          <p:nvPr/>
        </p:nvSpPr>
        <p:spPr>
          <a:xfrm>
            <a:off x="1024128" y="5029200"/>
            <a:ext cx="4023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421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800" dirty="0"/>
          </a:p>
        </p:txBody>
      </p:sp>
      <p:sp>
        <p:nvSpPr>
          <p:cNvPr id="16" name="Shape 13"/>
          <p:cNvSpPr/>
          <p:nvPr/>
        </p:nvSpPr>
        <p:spPr>
          <a:xfrm>
            <a:off x="1499616" y="5029200"/>
            <a:ext cx="402336" cy="548640"/>
          </a:xfrm>
          <a:prstGeom prst="roundRect">
            <a:avLst>
              <a:gd name="adj" fmla="val 13636"/>
            </a:avLst>
          </a:prstGeom>
          <a:solidFill>
            <a:srgbClr val="EEF1F6"/>
          </a:solidFill>
          <a:ln w="12700">
            <a:solidFill>
              <a:srgbClr val="D5DAE3"/>
            </a:solidFill>
            <a:prstDash val="solid"/>
          </a:ln>
        </p:spPr>
        <p:txBody>
          <a:bodyPr/>
          <a:p/>
        </p:txBody>
      </p:sp>
      <p:sp>
        <p:nvSpPr>
          <p:cNvPr id="17" name="Text 14"/>
          <p:cNvSpPr txBox="1"/>
          <p:nvPr/>
        </p:nvSpPr>
        <p:spPr>
          <a:xfrm>
            <a:off x="1499616" y="5029200"/>
            <a:ext cx="4023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421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800" dirty="0"/>
          </a:p>
        </p:txBody>
      </p:sp>
      <p:sp>
        <p:nvSpPr>
          <p:cNvPr id="18" name="Shape 15"/>
          <p:cNvSpPr/>
          <p:nvPr/>
        </p:nvSpPr>
        <p:spPr>
          <a:xfrm>
            <a:off x="1975104" y="5029200"/>
            <a:ext cx="402336" cy="548640"/>
          </a:xfrm>
          <a:prstGeom prst="roundRect">
            <a:avLst>
              <a:gd name="adj" fmla="val 13636"/>
            </a:avLst>
          </a:prstGeom>
          <a:solidFill>
            <a:srgbClr val="EEF1F6"/>
          </a:solidFill>
          <a:ln w="12700">
            <a:solidFill>
              <a:srgbClr val="D5DAE3"/>
            </a:solidFill>
            <a:prstDash val="solid"/>
          </a:ln>
        </p:spPr>
        <p:txBody>
          <a:bodyPr/>
          <a:p/>
        </p:txBody>
      </p:sp>
      <p:sp>
        <p:nvSpPr>
          <p:cNvPr id="19" name="Text 16"/>
          <p:cNvSpPr txBox="1"/>
          <p:nvPr/>
        </p:nvSpPr>
        <p:spPr>
          <a:xfrm>
            <a:off x="1975104" y="5029200"/>
            <a:ext cx="4023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421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800" dirty="0"/>
          </a:p>
        </p:txBody>
      </p:sp>
      <p:sp>
        <p:nvSpPr>
          <p:cNvPr id="20" name="Shape 17"/>
          <p:cNvSpPr/>
          <p:nvPr/>
        </p:nvSpPr>
        <p:spPr>
          <a:xfrm>
            <a:off x="2450592" y="5029200"/>
            <a:ext cx="402336" cy="548640"/>
          </a:xfrm>
          <a:prstGeom prst="roundRect">
            <a:avLst>
              <a:gd name="adj" fmla="val 13636"/>
            </a:avLst>
          </a:prstGeom>
          <a:solidFill>
            <a:srgbClr val="EEF1F6"/>
          </a:solidFill>
          <a:ln w="12700">
            <a:solidFill>
              <a:srgbClr val="D5DAE3"/>
            </a:solidFill>
            <a:prstDash val="solid"/>
          </a:ln>
        </p:spPr>
        <p:txBody>
          <a:bodyPr/>
          <a:p/>
        </p:txBody>
      </p:sp>
      <p:sp>
        <p:nvSpPr>
          <p:cNvPr id="21" name="Text 18"/>
          <p:cNvSpPr txBox="1"/>
          <p:nvPr/>
        </p:nvSpPr>
        <p:spPr>
          <a:xfrm>
            <a:off x="2450592" y="5029200"/>
            <a:ext cx="4023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421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1800" dirty="0"/>
          </a:p>
        </p:txBody>
      </p:sp>
      <p:sp>
        <p:nvSpPr>
          <p:cNvPr id="22" name="Shape 19"/>
          <p:cNvSpPr/>
          <p:nvPr/>
        </p:nvSpPr>
        <p:spPr>
          <a:xfrm>
            <a:off x="2926080" y="5029200"/>
            <a:ext cx="402336" cy="548640"/>
          </a:xfrm>
          <a:prstGeom prst="roundRect">
            <a:avLst>
              <a:gd name="adj" fmla="val 13636"/>
            </a:avLst>
          </a:prstGeom>
          <a:solidFill>
            <a:srgbClr val="EEF1F6"/>
          </a:solidFill>
          <a:ln w="12700">
            <a:solidFill>
              <a:srgbClr val="D5DAE3"/>
            </a:solidFill>
            <a:prstDash val="solid"/>
          </a:ln>
        </p:spPr>
        <p:txBody>
          <a:bodyPr/>
          <a:p/>
        </p:txBody>
      </p:sp>
      <p:sp>
        <p:nvSpPr>
          <p:cNvPr id="23" name="Text 20"/>
          <p:cNvSpPr txBox="1"/>
          <p:nvPr/>
        </p:nvSpPr>
        <p:spPr>
          <a:xfrm>
            <a:off x="2926080" y="5029200"/>
            <a:ext cx="4023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421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</a:t>
            </a:r>
            <a:endParaRPr lang="en-US" sz="1800" dirty="0"/>
          </a:p>
        </p:txBody>
      </p:sp>
      <p:sp>
        <p:nvSpPr>
          <p:cNvPr id="24" name="Shape 21"/>
          <p:cNvSpPr/>
          <p:nvPr/>
        </p:nvSpPr>
        <p:spPr>
          <a:xfrm>
            <a:off x="3401568" y="5029200"/>
            <a:ext cx="402336" cy="548640"/>
          </a:xfrm>
          <a:prstGeom prst="roundRect">
            <a:avLst>
              <a:gd name="adj" fmla="val 13636"/>
            </a:avLst>
          </a:prstGeom>
          <a:solidFill>
            <a:srgbClr val="EEF1F6"/>
          </a:solidFill>
          <a:ln w="12700">
            <a:solidFill>
              <a:srgbClr val="D5DAE3"/>
            </a:solidFill>
            <a:prstDash val="solid"/>
          </a:ln>
        </p:spPr>
        <p:txBody>
          <a:bodyPr/>
          <a:p/>
        </p:txBody>
      </p:sp>
      <p:sp>
        <p:nvSpPr>
          <p:cNvPr id="25" name="Text 22"/>
          <p:cNvSpPr txBox="1"/>
          <p:nvPr/>
        </p:nvSpPr>
        <p:spPr>
          <a:xfrm>
            <a:off x="3401568" y="5029200"/>
            <a:ext cx="4023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421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</a:t>
            </a:r>
            <a:endParaRPr lang="en-US" sz="1800" dirty="0"/>
          </a:p>
        </p:txBody>
      </p:sp>
      <p:sp>
        <p:nvSpPr>
          <p:cNvPr id="26" name="Shape 23"/>
          <p:cNvSpPr/>
          <p:nvPr/>
        </p:nvSpPr>
        <p:spPr>
          <a:xfrm>
            <a:off x="3877056" y="5029200"/>
            <a:ext cx="402336" cy="548640"/>
          </a:xfrm>
          <a:prstGeom prst="roundRect">
            <a:avLst>
              <a:gd name="adj" fmla="val 13636"/>
            </a:avLst>
          </a:prstGeom>
          <a:solidFill>
            <a:srgbClr val="EEF1F6"/>
          </a:solidFill>
          <a:ln w="12700">
            <a:solidFill>
              <a:srgbClr val="D5DAE3"/>
            </a:solidFill>
            <a:prstDash val="solid"/>
          </a:ln>
        </p:spPr>
        <p:txBody>
          <a:bodyPr/>
          <a:p/>
        </p:txBody>
      </p:sp>
      <p:sp>
        <p:nvSpPr>
          <p:cNvPr id="27" name="Text 24"/>
          <p:cNvSpPr txBox="1"/>
          <p:nvPr/>
        </p:nvSpPr>
        <p:spPr>
          <a:xfrm>
            <a:off x="3877056" y="5029200"/>
            <a:ext cx="4023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421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</a:t>
            </a:r>
            <a:endParaRPr lang="en-US" sz="1800" dirty="0"/>
          </a:p>
        </p:txBody>
      </p:sp>
      <p:sp>
        <p:nvSpPr>
          <p:cNvPr id="28" name="Shape 25"/>
          <p:cNvSpPr/>
          <p:nvPr/>
        </p:nvSpPr>
        <p:spPr>
          <a:xfrm>
            <a:off x="4352544" y="5029200"/>
            <a:ext cx="402336" cy="548640"/>
          </a:xfrm>
          <a:prstGeom prst="roundRect">
            <a:avLst>
              <a:gd name="adj" fmla="val 13636"/>
            </a:avLst>
          </a:prstGeom>
          <a:solidFill>
            <a:srgbClr val="EEF1F6"/>
          </a:solidFill>
          <a:ln w="12700">
            <a:solidFill>
              <a:srgbClr val="D5DAE3"/>
            </a:solidFill>
            <a:prstDash val="solid"/>
          </a:ln>
        </p:spPr>
        <p:txBody>
          <a:bodyPr/>
          <a:p/>
        </p:txBody>
      </p:sp>
      <p:sp>
        <p:nvSpPr>
          <p:cNvPr id="29" name="Text 26"/>
          <p:cNvSpPr txBox="1"/>
          <p:nvPr/>
        </p:nvSpPr>
        <p:spPr>
          <a:xfrm>
            <a:off x="4352544" y="5029200"/>
            <a:ext cx="4023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421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</a:t>
            </a:r>
            <a:endParaRPr lang="en-US" sz="1800" dirty="0"/>
          </a:p>
        </p:txBody>
      </p:sp>
      <p:sp>
        <p:nvSpPr>
          <p:cNvPr id="30" name="Shape 27"/>
          <p:cNvSpPr/>
          <p:nvPr/>
        </p:nvSpPr>
        <p:spPr>
          <a:xfrm>
            <a:off x="4828032" y="5029200"/>
            <a:ext cx="402336" cy="548640"/>
          </a:xfrm>
          <a:prstGeom prst="roundRect">
            <a:avLst>
              <a:gd name="adj" fmla="val 13636"/>
            </a:avLst>
          </a:prstGeom>
          <a:solidFill>
            <a:srgbClr val="FCA311"/>
          </a:solidFill>
          <a:ln w="12700">
            <a:solidFill>
              <a:srgbClr val="FCA311"/>
            </a:solidFill>
            <a:prstDash val="solid"/>
          </a:ln>
        </p:spPr>
        <p:txBody>
          <a:bodyPr/>
          <a:p/>
        </p:txBody>
      </p:sp>
      <p:sp>
        <p:nvSpPr>
          <p:cNvPr id="31" name="Text 28"/>
          <p:cNvSpPr txBox="1"/>
          <p:nvPr/>
        </p:nvSpPr>
        <p:spPr>
          <a:xfrm>
            <a:off x="4828032" y="5029200"/>
            <a:ext cx="4023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421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1800" dirty="0"/>
          </a:p>
        </p:txBody>
      </p:sp>
      <p:sp>
        <p:nvSpPr>
          <p:cNvPr id="32" name="Shape 29"/>
          <p:cNvSpPr/>
          <p:nvPr/>
        </p:nvSpPr>
        <p:spPr>
          <a:xfrm>
            <a:off x="5303520" y="5029200"/>
            <a:ext cx="402336" cy="548640"/>
          </a:xfrm>
          <a:prstGeom prst="roundRect">
            <a:avLst>
              <a:gd name="adj" fmla="val 13636"/>
            </a:avLst>
          </a:prstGeom>
          <a:solidFill>
            <a:srgbClr val="FCA311"/>
          </a:solidFill>
          <a:ln w="12700">
            <a:solidFill>
              <a:srgbClr val="FCA311"/>
            </a:solidFill>
            <a:prstDash val="solid"/>
          </a:ln>
        </p:spPr>
        <p:txBody>
          <a:bodyPr/>
          <a:p/>
        </p:txBody>
      </p:sp>
      <p:sp>
        <p:nvSpPr>
          <p:cNvPr id="33" name="Text 30"/>
          <p:cNvSpPr txBox="1"/>
          <p:nvPr/>
        </p:nvSpPr>
        <p:spPr>
          <a:xfrm>
            <a:off x="5303520" y="5029200"/>
            <a:ext cx="4023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421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800" dirty="0"/>
          </a:p>
        </p:txBody>
      </p:sp>
      <p:sp>
        <p:nvSpPr>
          <p:cNvPr id="34" name="Text 31"/>
          <p:cNvSpPr txBox="1"/>
          <p:nvPr/>
        </p:nvSpPr>
        <p:spPr>
          <a:xfrm>
            <a:off x="6035040" y="4846320"/>
            <a:ext cx="5623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B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odd  positions: 1+3+5+7+9 = 25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33B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even positions: 2+4+6+8   = 20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33B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d10 = (7×25 − 20) mod 10 = 155 mod 10 = 5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33B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d11 = (45 + 5) mod 10 = 0</a:t>
            </a:r>
            <a:endParaRPr lang="en-US" sz="1300" dirty="0"/>
          </a:p>
        </p:txBody>
      </p:sp>
      <p:sp>
        <p:nvSpPr>
          <p:cNvPr id="36" name="Text 32"/>
          <p:cNvSpPr txBox="1"/>
          <p:nvPr/>
        </p:nvSpPr>
        <p:spPr>
          <a:xfrm>
            <a:off x="54864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MCMP113  ·  Week 1</a:t>
            </a:r>
            <a:endParaRPr lang="en-US" sz="1000" dirty="0"/>
          </a:p>
        </p:txBody>
      </p:sp>
      <p:sp>
        <p:nvSpPr>
          <p:cNvPr id="37" name="Text 33"/>
          <p:cNvSpPr txBox="1"/>
          <p:nvPr/>
        </p:nvSpPr>
        <p:spPr>
          <a:xfrm>
            <a:off x="1118585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</a:t>
            </a:r>
            <a:endParaRPr lang="en-US" sz="10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CA3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&gt;_ </a:t>
            </a:r>
            <a:pPr indent="0" marL="0">
              <a:buNone/>
            </a:pPr>
            <a:r>
              <a:rPr lang="en-US" sz="1300" dirty="0">
                <a:solidFill>
                  <a:srgbClr val="5B64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COMMON MISTAKES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Bad Algorithm → Good Algorithm</a:t>
            </a:r>
            <a:endParaRPr lang="en-US" sz="3400" dirty="0"/>
          </a:p>
        </p:txBody>
      </p:sp>
      <p:graphicFrame>
        <p:nvGraphicFramePr>
          <p:cNvPr id="3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45920"/>
          <a:ext cx="1110996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3657600"/>
                <a:gridCol w="507492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Problem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Bad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45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Good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9E6A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b="1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Ambiguous step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C8453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Divide the numbers.</a:t>
                      </a:r>
                      <a:endParaRPr lang="en-US" sz="14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1F7A5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avg ← (g1 + g2 + g3) / 3</a:t>
                      </a:r>
                      <a:endParaRPr lang="en-US" sz="14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b="1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termination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C8453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Keep asking for a password.</a:t>
                      </a:r>
                      <a:endParaRPr lang="en-US" sz="14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1F7A5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Ask at most 3 times, then lock.</a:t>
                      </a:r>
                      <a:endParaRPr lang="en-US" sz="14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b="1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Missing edge case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C8453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result ← a / b</a:t>
                      </a:r>
                      <a:endParaRPr lang="en-US" sz="14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1F7A5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IF b = 0 THEN print "error" ELSE result ← a / b</a:t>
                      </a:r>
                      <a:endParaRPr lang="en-US" sz="14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b="1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Wrong order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C8453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PRINT sum, then sum ← a + b</a:t>
                      </a:r>
                      <a:endParaRPr lang="en-US" sz="14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1F7A5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sum ← a + b, then PRINT sum</a:t>
                      </a:r>
                      <a:endParaRPr lang="en-US" sz="14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b="1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Undefined input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C8453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Read the grade.</a:t>
                      </a:r>
                      <a:endParaRPr lang="en-US" sz="14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1F7A5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Read a grade between 0 and 100; reject others.</a:t>
                      </a:r>
                      <a:endParaRPr lang="en-US" sz="14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</a:tr>
            </a:tbl>
          </a:graphicData>
        </a:graphic>
      </p:graphicFrame>
      <p:sp>
        <p:nvSpPr>
          <p:cNvPr id="6" name="Text 2"/>
          <p:cNvSpPr txBox="1"/>
          <p:nvPr/>
        </p:nvSpPr>
        <p:spPr>
          <a:xfrm>
            <a:off x="54864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MCMP113  ·  Week 1</a:t>
            </a:r>
            <a:endParaRPr lang="en-US" sz="1000" dirty="0"/>
          </a:p>
        </p:txBody>
      </p:sp>
      <p:sp>
        <p:nvSpPr>
          <p:cNvPr id="7" name="Text 3"/>
          <p:cNvSpPr txBox="1"/>
          <p:nvPr/>
        </p:nvSpPr>
        <p:spPr>
          <a:xfrm>
            <a:off x="1118585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10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CA3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&gt;_ </a:t>
            </a:r>
            <a:pPr indent="0" marL="0">
              <a:buNone/>
            </a:pPr>
            <a:r>
              <a:rPr lang="en-US" sz="1300" dirty="0">
                <a:solidFill>
                  <a:srgbClr val="5B64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SNEAK PEEK · WEEK 3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Same Algorithm, Written in C#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6949440" cy="4251960"/>
          </a:xfrm>
          <a:prstGeom prst="roundRect">
            <a:avLst>
              <a:gd name="adj" fmla="val 2151"/>
            </a:avLst>
          </a:prstGeom>
          <a:solidFill>
            <a:srgbClr val="0F1729"/>
          </a:solidFill>
          <a:ln w="12700">
            <a:solidFill>
              <a:srgbClr val="0F1729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 txBox="1"/>
          <p:nvPr/>
        </p:nvSpPr>
        <p:spPr>
          <a:xfrm>
            <a:off x="777240" y="1828800"/>
            <a:ext cx="6492240" cy="388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3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Console.Write("Grade 1: ");</a:t>
            </a:r>
            <a:endParaRPr lang="en-US" sz="13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double g1 = double.Parse(Console.ReadLine());</a:t>
            </a:r>
            <a:endParaRPr lang="en-US" sz="13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Console.Write("Grade 2: ");</a:t>
            </a:r>
            <a:endParaRPr lang="en-US" sz="13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double g2 = double.Parse(Console.ReadLine());</a:t>
            </a:r>
            <a:endParaRPr lang="en-US" sz="13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Console.Write("Grade 3: ");</a:t>
            </a:r>
            <a:endParaRPr lang="en-US" sz="13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double g3 = double.Parse(Console.ReadLine());</a:t>
            </a:r>
            <a:endParaRPr lang="en-US" sz="1350" dirty="0"/>
          </a:p>
          <a:p>
            <a:pPr indent="0" marL="0">
              <a:spcAft>
                <a:spcPts val="200"/>
              </a:spcAft>
              <a:buNone/>
            </a:pPr>
            <a:endParaRPr lang="en-US" sz="13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double avg = (g1 + g2 + g3) / 3;</a:t>
            </a:r>
            <a:endParaRPr lang="en-US" sz="13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Console.WriteLine($"Average: {avg:F2}");</a:t>
            </a:r>
            <a:endParaRPr lang="en-US" sz="1350" dirty="0"/>
          </a:p>
          <a:p>
            <a:pPr indent="0" marL="0">
              <a:spcAft>
                <a:spcPts val="200"/>
              </a:spcAft>
              <a:buNone/>
            </a:pPr>
            <a:endParaRPr lang="en-US" sz="13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(avg &gt;= 50)</a:t>
            </a:r>
            <a:endParaRPr lang="en-US" sz="13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Console.WriteLine("PASSED");</a:t>
            </a:r>
            <a:endParaRPr lang="en-US" sz="13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else</a:t>
            </a:r>
            <a:endParaRPr lang="en-US" sz="13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Console.WriteLine("FAILED");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7818120" y="1645920"/>
            <a:ext cx="3840480" cy="4251960"/>
          </a:xfrm>
          <a:prstGeom prst="roundRect">
            <a:avLst>
              <a:gd name="adj" fmla="val 2857"/>
            </a:avLst>
          </a:prstGeom>
          <a:solidFill>
            <a:srgbClr val="EEF1F6"/>
          </a:solidFill>
          <a:ln w="12700">
            <a:solidFill>
              <a:srgbClr val="EEF1F6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 txBox="1"/>
          <p:nvPr/>
        </p:nvSpPr>
        <p:spPr>
          <a:xfrm>
            <a:off x="8092440" y="182880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Notice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8092440" y="2286000"/>
            <a:ext cx="338328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33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pseudocode line maps to one or two C# lines.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33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→ Console.ReadLine()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33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PRINT → Console.WriteLine()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33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… ELSE → if (…) … else …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33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do not need to understand the syntax yet — only that the algorithm came first.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54864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MCMP113  ·  Week 1</a:t>
            </a:r>
            <a:endParaRPr lang="en-US" sz="1000" dirty="0"/>
          </a:p>
        </p:txBody>
      </p:sp>
      <p:sp>
        <p:nvSpPr>
          <p:cNvPr id="11" name="Text 8"/>
          <p:cNvSpPr txBox="1"/>
          <p:nvPr/>
        </p:nvSpPr>
        <p:spPr>
          <a:xfrm>
            <a:off x="1118585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</a:t>
            </a:r>
            <a:endParaRPr lang="en-US" sz="10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CA3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&gt;_ </a:t>
            </a:r>
            <a:pPr indent="0" marL="0">
              <a:buNone/>
            </a:pPr>
            <a:r>
              <a:rPr lang="en-US" sz="1300" dirty="0">
                <a:solidFill>
                  <a:srgbClr val="5B64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IN-CLASS · GROUPS OF 2–3 · 25 MIN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Your Turn: Write the Algorithm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3520440" cy="1920240"/>
          </a:xfrm>
          <a:prstGeom prst="roundRect">
            <a:avLst>
              <a:gd name="adj" fmla="val 5714"/>
            </a:avLst>
          </a:prstGeom>
          <a:solidFill>
            <a:srgbClr val="EEF1F6"/>
          </a:solidFill>
          <a:ln w="12700">
            <a:solidFill>
              <a:srgbClr val="EEF1F6"/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777240" y="1874520"/>
            <a:ext cx="502920" cy="502920"/>
          </a:xfrm>
          <a:prstGeom prst="ellipse">
            <a:avLst/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 txBox="1"/>
          <p:nvPr/>
        </p:nvSpPr>
        <p:spPr>
          <a:xfrm>
            <a:off x="777240" y="18745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CA3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1417320" y="1874520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Even or odd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251460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333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an integer; print whether it is even or odd.</a:t>
            </a:r>
            <a:endParaRPr lang="en-US" sz="135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320040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F6FB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selection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297680" y="1645920"/>
            <a:ext cx="3520440" cy="1920240"/>
          </a:xfrm>
          <a:prstGeom prst="roundRect">
            <a:avLst>
              <a:gd name="adj" fmla="val 5714"/>
            </a:avLst>
          </a:prstGeom>
          <a:solidFill>
            <a:srgbClr val="EEF1F6"/>
          </a:solidFill>
          <a:ln w="12700">
            <a:solidFill>
              <a:srgbClr val="EEF1F6"/>
            </a:solidFill>
            <a:prstDash val="solid"/>
          </a:ln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4526280" y="1874520"/>
            <a:ext cx="502920" cy="502920"/>
          </a:xfrm>
          <a:prstGeom prst="ellipse">
            <a:avLst/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 txBox="1"/>
          <p:nvPr/>
        </p:nvSpPr>
        <p:spPr>
          <a:xfrm>
            <a:off x="4526280" y="18745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CA3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5166360" y="1874520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Leap year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4526280" y="251460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333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a year; leap if divisible by 4 and not by 100 — or divisible by 400.</a:t>
            </a:r>
            <a:endParaRPr lang="en-US" sz="1350" dirty="0"/>
          </a:p>
        </p:txBody>
      </p:sp>
      <p:sp>
        <p:nvSpPr>
          <p:cNvPr id="15" name="Text 13"/>
          <p:cNvSpPr txBox="1"/>
          <p:nvPr/>
        </p:nvSpPr>
        <p:spPr>
          <a:xfrm>
            <a:off x="4526280" y="320040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F6FB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selection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8046720" y="1645920"/>
            <a:ext cx="3520440" cy="1920240"/>
          </a:xfrm>
          <a:prstGeom prst="roundRect">
            <a:avLst>
              <a:gd name="adj" fmla="val 5714"/>
            </a:avLst>
          </a:prstGeom>
          <a:solidFill>
            <a:srgbClr val="EEF1F6"/>
          </a:solidFill>
          <a:ln w="12700">
            <a:solidFill>
              <a:srgbClr val="EEF1F6"/>
            </a:solidFill>
            <a:prstDash val="solid"/>
          </a:ln>
        </p:spPr>
        <p:txBody>
          <a:bodyPr/>
          <a:p/>
        </p:txBody>
      </p:sp>
      <p:sp>
        <p:nvSpPr>
          <p:cNvPr id="17" name="Shape 15"/>
          <p:cNvSpPr/>
          <p:nvPr/>
        </p:nvSpPr>
        <p:spPr>
          <a:xfrm>
            <a:off x="8275320" y="1874520"/>
            <a:ext cx="502920" cy="502920"/>
          </a:xfrm>
          <a:prstGeom prst="ellipse">
            <a:avLst/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  <p:txBody>
          <a:bodyPr/>
          <a:p/>
        </p:txBody>
      </p:sp>
      <p:sp>
        <p:nvSpPr>
          <p:cNvPr id="18" name="Text 16"/>
          <p:cNvSpPr txBox="1"/>
          <p:nvPr/>
        </p:nvSpPr>
        <p:spPr>
          <a:xfrm>
            <a:off x="8275320" y="18745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CA3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</a:t>
            </a:r>
            <a:endParaRPr lang="en-US" sz="1800" dirty="0"/>
          </a:p>
        </p:txBody>
      </p:sp>
      <p:sp>
        <p:nvSpPr>
          <p:cNvPr id="19" name="Text 17"/>
          <p:cNvSpPr txBox="1"/>
          <p:nvPr/>
        </p:nvSpPr>
        <p:spPr>
          <a:xfrm>
            <a:off x="8915400" y="1874520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ATM withdrawal</a:t>
            </a:r>
            <a:endParaRPr lang="en-US" sz="1700" dirty="0"/>
          </a:p>
        </p:txBody>
      </p:sp>
      <p:sp>
        <p:nvSpPr>
          <p:cNvPr id="20" name="Text 18"/>
          <p:cNvSpPr txBox="1"/>
          <p:nvPr/>
        </p:nvSpPr>
        <p:spPr>
          <a:xfrm>
            <a:off x="8275320" y="251460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333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 and amount given; allow only if enough money and a multiple of 10.</a:t>
            </a:r>
            <a:endParaRPr lang="en-US" sz="1350" dirty="0"/>
          </a:p>
        </p:txBody>
      </p:sp>
      <p:sp>
        <p:nvSpPr>
          <p:cNvPr id="21" name="Text 19"/>
          <p:cNvSpPr txBox="1"/>
          <p:nvPr/>
        </p:nvSpPr>
        <p:spPr>
          <a:xfrm>
            <a:off x="8275320" y="320040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F6FB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selection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48640" y="3794760"/>
            <a:ext cx="3520440" cy="1920240"/>
          </a:xfrm>
          <a:prstGeom prst="roundRect">
            <a:avLst>
              <a:gd name="adj" fmla="val 5714"/>
            </a:avLst>
          </a:prstGeom>
          <a:solidFill>
            <a:srgbClr val="EEF1F6"/>
          </a:solidFill>
          <a:ln w="12700">
            <a:solidFill>
              <a:srgbClr val="EEF1F6"/>
            </a:solidFill>
            <a:prstDash val="solid"/>
          </a:ln>
        </p:spPr>
        <p:txBody>
          <a:bodyPr/>
          <a:p/>
        </p:txBody>
      </p:sp>
      <p:sp>
        <p:nvSpPr>
          <p:cNvPr id="23" name="Shape 21"/>
          <p:cNvSpPr/>
          <p:nvPr/>
        </p:nvSpPr>
        <p:spPr>
          <a:xfrm>
            <a:off x="777240" y="4023360"/>
            <a:ext cx="502920" cy="502920"/>
          </a:xfrm>
          <a:prstGeom prst="ellipse">
            <a:avLst/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  <p:txBody>
          <a:bodyPr/>
          <a:p/>
        </p:txBody>
      </p:sp>
      <p:sp>
        <p:nvSpPr>
          <p:cNvPr id="24" name="Text 22"/>
          <p:cNvSpPr txBox="1"/>
          <p:nvPr/>
        </p:nvSpPr>
        <p:spPr>
          <a:xfrm>
            <a:off x="777240" y="40233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CA3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</a:t>
            </a:r>
            <a:endParaRPr lang="en-US" sz="1800" dirty="0"/>
          </a:p>
        </p:txBody>
      </p:sp>
      <p:sp>
        <p:nvSpPr>
          <p:cNvPr id="25" name="Text 23"/>
          <p:cNvSpPr txBox="1"/>
          <p:nvPr/>
        </p:nvSpPr>
        <p:spPr>
          <a:xfrm>
            <a:off x="1417320" y="4023360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Countdown</a:t>
            </a:r>
            <a:endParaRPr lang="en-US" sz="1700" dirty="0"/>
          </a:p>
        </p:txBody>
      </p:sp>
      <p:sp>
        <p:nvSpPr>
          <p:cNvPr id="26" name="Text 24"/>
          <p:cNvSpPr txBox="1"/>
          <p:nvPr/>
        </p:nvSpPr>
        <p:spPr>
          <a:xfrm>
            <a:off x="777240" y="466344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333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N; print N, N−1, …, 1, then “Go!”.</a:t>
            </a:r>
            <a:endParaRPr lang="en-US" sz="1350" dirty="0"/>
          </a:p>
        </p:txBody>
      </p:sp>
      <p:sp>
        <p:nvSpPr>
          <p:cNvPr id="27" name="Text 25"/>
          <p:cNvSpPr txBox="1"/>
          <p:nvPr/>
        </p:nvSpPr>
        <p:spPr>
          <a:xfrm>
            <a:off x="777240" y="534924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E9E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repetition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297680" y="3794760"/>
            <a:ext cx="3520440" cy="1920240"/>
          </a:xfrm>
          <a:prstGeom prst="roundRect">
            <a:avLst>
              <a:gd name="adj" fmla="val 5714"/>
            </a:avLst>
          </a:prstGeom>
          <a:solidFill>
            <a:srgbClr val="EEF1F6"/>
          </a:solidFill>
          <a:ln w="12700">
            <a:solidFill>
              <a:srgbClr val="EEF1F6"/>
            </a:solidFill>
            <a:prstDash val="solid"/>
          </a:ln>
        </p:spPr>
        <p:txBody>
          <a:bodyPr/>
          <a:p/>
        </p:txBody>
      </p:sp>
      <p:sp>
        <p:nvSpPr>
          <p:cNvPr id="29" name="Shape 27"/>
          <p:cNvSpPr/>
          <p:nvPr/>
        </p:nvSpPr>
        <p:spPr>
          <a:xfrm>
            <a:off x="4526280" y="4023360"/>
            <a:ext cx="502920" cy="502920"/>
          </a:xfrm>
          <a:prstGeom prst="ellipse">
            <a:avLst/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  <p:txBody>
          <a:bodyPr/>
          <a:p/>
        </p:txBody>
      </p:sp>
      <p:sp>
        <p:nvSpPr>
          <p:cNvPr id="30" name="Text 28"/>
          <p:cNvSpPr txBox="1"/>
          <p:nvPr/>
        </p:nvSpPr>
        <p:spPr>
          <a:xfrm>
            <a:off x="4526280" y="40233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CA3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</a:t>
            </a:r>
            <a:endParaRPr lang="en-US" sz="1800" dirty="0"/>
          </a:p>
        </p:txBody>
      </p:sp>
      <p:sp>
        <p:nvSpPr>
          <p:cNvPr id="31" name="Text 29"/>
          <p:cNvSpPr txBox="1"/>
          <p:nvPr/>
        </p:nvSpPr>
        <p:spPr>
          <a:xfrm>
            <a:off x="5166360" y="4023360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Guess the number</a:t>
            </a:r>
            <a:endParaRPr lang="en-US" sz="1700" dirty="0"/>
          </a:p>
        </p:txBody>
      </p:sp>
      <p:sp>
        <p:nvSpPr>
          <p:cNvPr id="32" name="Text 30"/>
          <p:cNvSpPr txBox="1"/>
          <p:nvPr/>
        </p:nvSpPr>
        <p:spPr>
          <a:xfrm>
            <a:off x="4526280" y="466344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333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user guesses a secret number; say “higher/lower” until correct.</a:t>
            </a:r>
            <a:endParaRPr lang="en-US" sz="1350" dirty="0"/>
          </a:p>
        </p:txBody>
      </p:sp>
      <p:sp>
        <p:nvSpPr>
          <p:cNvPr id="33" name="Text 31"/>
          <p:cNvSpPr txBox="1"/>
          <p:nvPr/>
        </p:nvSpPr>
        <p:spPr>
          <a:xfrm>
            <a:off x="4526280" y="534924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E9E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repetition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8046720" y="3794760"/>
            <a:ext cx="3520440" cy="1920240"/>
          </a:xfrm>
          <a:prstGeom prst="roundRect">
            <a:avLst>
              <a:gd name="adj" fmla="val 5714"/>
            </a:avLst>
          </a:prstGeom>
          <a:solidFill>
            <a:srgbClr val="EEF1F6"/>
          </a:solidFill>
          <a:ln w="12700">
            <a:solidFill>
              <a:srgbClr val="EEF1F6"/>
            </a:solidFill>
            <a:prstDash val="solid"/>
          </a:ln>
        </p:spPr>
        <p:txBody>
          <a:bodyPr/>
          <a:p/>
        </p:txBody>
      </p:sp>
      <p:sp>
        <p:nvSpPr>
          <p:cNvPr id="35" name="Shape 33"/>
          <p:cNvSpPr/>
          <p:nvPr/>
        </p:nvSpPr>
        <p:spPr>
          <a:xfrm>
            <a:off x="8275320" y="4023360"/>
            <a:ext cx="502920" cy="502920"/>
          </a:xfrm>
          <a:prstGeom prst="ellipse">
            <a:avLst/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  <p:txBody>
          <a:bodyPr/>
          <a:p/>
        </p:txBody>
      </p:sp>
      <p:sp>
        <p:nvSpPr>
          <p:cNvPr id="36" name="Text 34"/>
          <p:cNvSpPr txBox="1"/>
          <p:nvPr/>
        </p:nvSpPr>
        <p:spPr>
          <a:xfrm>
            <a:off x="8275320" y="40233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CA3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</a:t>
            </a:r>
            <a:endParaRPr lang="en-US" sz="1800" dirty="0"/>
          </a:p>
        </p:txBody>
      </p:sp>
      <p:sp>
        <p:nvSpPr>
          <p:cNvPr id="37" name="Text 35"/>
          <p:cNvSpPr txBox="1"/>
          <p:nvPr/>
        </p:nvSpPr>
        <p:spPr>
          <a:xfrm>
            <a:off x="8915400" y="4023360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Temperature</a:t>
            </a:r>
            <a:endParaRPr lang="en-US" sz="1700" dirty="0"/>
          </a:p>
        </p:txBody>
      </p:sp>
      <p:sp>
        <p:nvSpPr>
          <p:cNvPr id="38" name="Text 36"/>
          <p:cNvSpPr txBox="1"/>
          <p:nvPr/>
        </p:nvSpPr>
        <p:spPr>
          <a:xfrm>
            <a:off x="8275320" y="466344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333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 Celsius to Fahrenheit:  F = C × 9 / 5 + 32.</a:t>
            </a:r>
            <a:endParaRPr lang="en-US" sz="1350" dirty="0"/>
          </a:p>
        </p:txBody>
      </p:sp>
      <p:sp>
        <p:nvSpPr>
          <p:cNvPr id="39" name="Text 37"/>
          <p:cNvSpPr txBox="1"/>
          <p:nvPr/>
        </p:nvSpPr>
        <p:spPr>
          <a:xfrm>
            <a:off x="8275320" y="534924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421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sequence</a:t>
            </a:r>
            <a:endParaRPr lang="en-US" sz="1100" dirty="0"/>
          </a:p>
        </p:txBody>
      </p:sp>
      <p:sp>
        <p:nvSpPr>
          <p:cNvPr id="40" name="Text 38"/>
          <p:cNvSpPr txBox="1"/>
          <p:nvPr/>
        </p:nvSpPr>
        <p:spPr>
          <a:xfrm>
            <a:off x="548640" y="598932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each: IPO table → numbered steps → pseudocode → trace with two test inputs (one normal, one edge case).</a:t>
            </a:r>
            <a:endParaRPr lang="en-US" sz="1300" dirty="0"/>
          </a:p>
        </p:txBody>
      </p:sp>
      <p:sp>
        <p:nvSpPr>
          <p:cNvPr id="42" name="Text 39"/>
          <p:cNvSpPr txBox="1"/>
          <p:nvPr/>
        </p:nvSpPr>
        <p:spPr>
          <a:xfrm>
            <a:off x="54864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MCMP113  ·  Week 1</a:t>
            </a:r>
            <a:endParaRPr lang="en-US" sz="1000" dirty="0"/>
          </a:p>
        </p:txBody>
      </p:sp>
      <p:sp>
        <p:nvSpPr>
          <p:cNvPr id="43" name="Text 40"/>
          <p:cNvSpPr txBox="1"/>
          <p:nvPr/>
        </p:nvSpPr>
        <p:spPr>
          <a:xfrm>
            <a:off x="1118585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</a:t>
            </a:r>
            <a:endParaRPr lang="en-US" sz="10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CA3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&gt;_ </a:t>
            </a:r>
            <a:pPr indent="0" marL="0">
              <a:buNone/>
            </a:pPr>
            <a:r>
              <a:rPr lang="en-US" sz="1300" dirty="0">
                <a:solidFill>
                  <a:srgbClr val="5B64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HOMEWORK · DUE BEFORE WEEK 2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Practice + Setup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5486400" cy="4251960"/>
          </a:xfrm>
          <a:prstGeom prst="roundRect">
            <a:avLst>
              <a:gd name="adj" fmla="val 2581"/>
            </a:avLst>
          </a:prstGeom>
          <a:solidFill>
            <a:srgbClr val="EEF1F6"/>
          </a:solidFill>
          <a:ln w="12700">
            <a:solidFill>
              <a:srgbClr val="EEF1F6"/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822960" y="1874520"/>
            <a:ext cx="594360" cy="594360"/>
          </a:xfrm>
          <a:prstGeom prst="ellipse">
            <a:avLst/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  <p:txBody>
          <a:bodyPr/>
          <a:p/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7494" y="2029054"/>
            <a:ext cx="285293" cy="285293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600200" y="1874520"/>
            <a:ext cx="4297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 · Algorithms (on paper)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2697480"/>
            <a:ext cx="502920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333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Finish the two in-class exercises your group did not do.</a:t>
            </a:r>
            <a:endParaRPr lang="en-US" sz="15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333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an algorithm for a daily task of your choice with at least one IF and one WHILE.</a:t>
            </a:r>
            <a:endParaRPr lang="en-US" sz="15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333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 Euclid’s GCD for (84, 36) in a table.</a:t>
            </a:r>
            <a:endParaRPr lang="en-US" sz="15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333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a photo of your pages to the Telegram group.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6263640" y="1645920"/>
            <a:ext cx="5394960" cy="4251960"/>
          </a:xfrm>
          <a:prstGeom prst="roundRect">
            <a:avLst>
              <a:gd name="adj" fmla="val 2581"/>
            </a:avLst>
          </a:prstGeom>
          <a:solidFill>
            <a:srgbClr val="EEF1F6"/>
          </a:solidFill>
          <a:ln w="12700">
            <a:solidFill>
              <a:srgbClr val="EEF1F6"/>
            </a:solidFill>
            <a:prstDash val="solid"/>
          </a:ln>
        </p:spPr>
        <p:txBody>
          <a:bodyPr/>
          <a:p/>
        </p:txBody>
      </p:sp>
      <p:sp>
        <p:nvSpPr>
          <p:cNvPr id="10" name="Shape 7"/>
          <p:cNvSpPr/>
          <p:nvPr/>
        </p:nvSpPr>
        <p:spPr>
          <a:xfrm>
            <a:off x="6537960" y="1874520"/>
            <a:ext cx="594360" cy="594360"/>
          </a:xfrm>
          <a:prstGeom prst="ellipse">
            <a:avLst/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  <p:txBody>
          <a:bodyPr/>
          <a:p/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92494" y="2029054"/>
            <a:ext cx="285293" cy="285293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7315200" y="1874520"/>
            <a:ext cx="4206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 · Install the tools</a:t>
            </a:r>
            <a:endParaRPr lang="en-US" sz="1800" dirty="0"/>
          </a:p>
        </p:txBody>
      </p:sp>
      <p:sp>
        <p:nvSpPr>
          <p:cNvPr id="13" name="Text 9"/>
          <p:cNvSpPr txBox="1"/>
          <p:nvPr/>
        </p:nvSpPr>
        <p:spPr>
          <a:xfrm>
            <a:off x="6537960" y="2697480"/>
            <a:ext cx="49377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333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 .NET 10 SDK and VS Code + C# Dev Kit.</a:t>
            </a:r>
            <a:endParaRPr lang="en-US" sz="15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333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a terminal and run the three commands below.</a:t>
            </a:r>
            <a:endParaRPr lang="en-US" sz="15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333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Screenshot the output → Telegram.</a:t>
            </a:r>
            <a:endParaRPr lang="en-US" sz="1500" dirty="0"/>
          </a:p>
        </p:txBody>
      </p:sp>
      <p:sp>
        <p:nvSpPr>
          <p:cNvPr id="14" name="Shape 10"/>
          <p:cNvSpPr/>
          <p:nvPr/>
        </p:nvSpPr>
        <p:spPr>
          <a:xfrm>
            <a:off x="6537960" y="4069080"/>
            <a:ext cx="4846320" cy="1600200"/>
          </a:xfrm>
          <a:prstGeom prst="roundRect">
            <a:avLst>
              <a:gd name="adj" fmla="val 5714"/>
            </a:avLst>
          </a:prstGeom>
          <a:solidFill>
            <a:srgbClr val="0F1729"/>
          </a:solidFill>
          <a:ln w="12700">
            <a:solidFill>
              <a:srgbClr val="0F1729"/>
            </a:solidFill>
            <a:prstDash val="solid"/>
          </a:ln>
        </p:spPr>
        <p:txBody>
          <a:bodyPr/>
          <a:p/>
        </p:txBody>
      </p:sp>
      <p:sp>
        <p:nvSpPr>
          <p:cNvPr id="15" name="Text 11"/>
          <p:cNvSpPr txBox="1"/>
          <p:nvPr/>
        </p:nvSpPr>
        <p:spPr>
          <a:xfrm>
            <a:off x="6766560" y="4251960"/>
            <a:ext cx="43891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3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dotnet --version</a:t>
            </a:r>
            <a:endParaRPr lang="en-US" sz="13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dotnet new console -n Hello</a:t>
            </a:r>
            <a:endParaRPr lang="en-US" sz="13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cd Hello</a:t>
            </a:r>
            <a:endParaRPr lang="en-US" sz="13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dotnet run</a:t>
            </a:r>
            <a:endParaRPr lang="en-US" sz="1350" dirty="0"/>
          </a:p>
        </p:txBody>
      </p:sp>
      <p:sp>
        <p:nvSpPr>
          <p:cNvPr id="17" name="Text 12"/>
          <p:cNvSpPr txBox="1"/>
          <p:nvPr/>
        </p:nvSpPr>
        <p:spPr>
          <a:xfrm>
            <a:off x="54864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MCMP113  ·  Week 1</a:t>
            </a:r>
            <a:endParaRPr lang="en-US" sz="1000" dirty="0"/>
          </a:p>
        </p:txBody>
      </p:sp>
      <p:sp>
        <p:nvSpPr>
          <p:cNvPr id="18" name="Text 13"/>
          <p:cNvSpPr txBox="1"/>
          <p:nvPr/>
        </p:nvSpPr>
        <p:spPr>
          <a:xfrm>
            <a:off x="1118585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</a:t>
            </a:r>
            <a:endParaRPr lang="en-US" sz="10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CA3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&gt;_ SUMMARY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6868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Takeaways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828800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CA3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1325880" y="1828800"/>
            <a:ext cx="6583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algorithm is a finite, precise recipe from input to output.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542032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CA3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1325880" y="2542032"/>
            <a:ext cx="6583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properties: finiteness, definiteness, input, output, effectiveness.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3255264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CA3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1325880" y="3255264"/>
            <a:ext cx="6583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is built from sequence, selection and repetition.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3968496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CA3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1325880" y="3968496"/>
            <a:ext cx="6583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Solve in five steps: understand → design → implement → test → document.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4681728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CA3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</a:t>
            </a:r>
            <a:endParaRPr lang="en-US" sz="2000" dirty="0"/>
          </a:p>
        </p:txBody>
      </p:sp>
      <p:sp>
        <p:nvSpPr>
          <p:cNvPr id="13" name="Text 11"/>
          <p:cNvSpPr txBox="1"/>
          <p:nvPr/>
        </p:nvSpPr>
        <p:spPr>
          <a:xfrm>
            <a:off x="1325880" y="4681728"/>
            <a:ext cx="6583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first, code second. Trace tables catch errors before the computer does.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8412480" y="822960"/>
            <a:ext cx="3246120" cy="5120640"/>
          </a:xfrm>
          <a:prstGeom prst="roundRect">
            <a:avLst>
              <a:gd name="adj" fmla="val 3380"/>
            </a:avLst>
          </a:prstGeom>
          <a:solidFill>
            <a:srgbClr val="1E2E52"/>
          </a:solidFill>
          <a:ln w="12700">
            <a:solidFill>
              <a:srgbClr val="1E2E52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 txBox="1"/>
          <p:nvPr/>
        </p:nvSpPr>
        <p:spPr>
          <a:xfrm>
            <a:off x="8641080" y="100584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CA3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NEXT WEEK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8641080" y="1371600"/>
            <a:ext cx="2834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Flowcharts &amp; their symbols</a:t>
            </a:r>
            <a:endParaRPr lang="en-US" sz="1900" dirty="0"/>
          </a:p>
        </p:txBody>
      </p:sp>
      <p:sp>
        <p:nvSpPr>
          <p:cNvPr id="18" name="Text 15"/>
          <p:cNvSpPr txBox="1"/>
          <p:nvPr/>
        </p:nvSpPr>
        <p:spPr>
          <a:xfrm>
            <a:off x="8641080" y="4846320"/>
            <a:ext cx="2834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7CE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C7CE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endParaRPr lang="en-US" sz="1300" dirty="0"/>
          </a:p>
        </p:txBody>
      </p:sp>
      <p:sp>
        <p:nvSpPr>
          <p:cNvPr id="20" name="Text 16"/>
          <p:cNvSpPr txBox="1"/>
          <p:nvPr/>
        </p:nvSpPr>
        <p:spPr>
          <a:xfrm>
            <a:off x="54864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4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MCMP113  ·  Week 1</a:t>
            </a:r>
            <a:endParaRPr lang="en-US" sz="1000" dirty="0"/>
          </a:p>
        </p:txBody>
      </p:sp>
      <p:sp>
        <p:nvSpPr>
          <p:cNvPr id="21" name="Text 17"/>
          <p:cNvSpPr txBox="1"/>
          <p:nvPr/>
        </p:nvSpPr>
        <p:spPr>
          <a:xfrm>
            <a:off x="1118585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4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34</Slides>
  <Notes>34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34</vt:i4>
      </vt:variant>
    </vt:vector>
  </HeadingPairs>
  <TitlesOfParts>
    <vt:vector size="3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</vt:vector>
  </TitlesOfParts>
  <Company>Istanbul Okan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MCMP113 Week 1 – Algorithms and Problem Solving</dc:title>
  <dc:subject>PptxGenJS Presentation</dc:subject>
  <dc:creator>Asst. Prof. Hasan Oğuz, PhD</dc:creator>
  <cp:lastModifiedBy>Asst. Prof. Hasan Oğuz, PhD</cp:lastModifiedBy>
  <cp:revision>1</cp:revision>
  <dcterms:created xsi:type="dcterms:W3CDTF">2026-09-28T11:31:59Z</dcterms:created>
  <dcterms:modified xsi:type="dcterms:W3CDTF">2026-09-28T11:31:59Z</dcterms:modified>
</cp:coreProperties>
</file>