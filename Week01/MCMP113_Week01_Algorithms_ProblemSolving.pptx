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Introduce yourself briefly, then the course code MCMP113. Week 1 is entirely conceptual: no coding yet. The terminal on the right previews the whole semester in five lines: problem -&gt; algorithm -&gt; program -&gt;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course group details orally, while you are still on this slide. All slides, sample codes and homework announcements will go through the course group. E-mail subject line convention suggestion: "MCMP113 - &lt;Name Surname&gt; - &lt;topic&gt;".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language: C#. Main application type: console applications. Emphasise that the first two outcomes are language-independent and are what actually makes someone a programmer; C# is the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Weeks 1-2 are pen-and-paper: algorithms and flowcharts. From week 3 onward we write C# console applications every week. Week 14 includes basic file I/O (File.ReadAllLines / WriteAllText) as a bridge to real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Grading: Midterm 40%, Final 60%. Tooling: .NET 10 is the current LTS (supported to Nov 2028); .NET 8 LTS support ends Nov 2026, so do not install 8. The C# Dev Kit extension replaces the older OmniSharp-only "C#" setup. Verification: `dotnet --version` should print 10.0.x. Lab PCs: check with IT that the SDK is installed before week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hardware brief: this course is about the PROCESS box. Ask: what are input, process and output for a calculator? For an ATM? For Google Maps? The CPU can only do four families of operations: arithmetic, logic/comparison, data movement, and jumps (control). Everything else - including an entire video game - is built from those.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~1e9 is an order-of-magnitude figure for a modern core (clock in GHz, often several instructions per cycle). The point: speed is never our problem in this course; precision is. Transition: let us see what happens when a human executes instructions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B8 05 00 00 00 = mov eax, 5 ; 83 C0 03 = add eax, 3 (32-bit x86 encoding). C# is compiled by the Roslyn compiler into Intermediate Language (IL) stored in a .dll; at run time the CLR JIT-compiles IL to native code for the actual CPU (x64, ARM64 ...). This is why the same .dll runs on Windows, Linux and macOS. Languages are covered properly in week 3; today the only message is: the algorithm is the part the tools cannot do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demo (about 5 min): a volunteer executes the class instructions literally (bread, jar, knife; no mind reading). Before starting, hand out the questions on the right. The volunteer executes every instruction literally, exactly like a CPU. After the demo, collect answers on the board and map them to the properties on the next slide: ambiguity -&gt; definiteness; missing step -&gt; correctness/completeness; never-ending -&gt; finiteness; "get the bread" without saying which bag -&gt; input specification. The class rewrite loop (write - test - fail - fix) is exactly the debug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four highlighted words; the next slide formalises them. Etymology note is also a good cultural hook for our students. Algorithm vs program: a recipe vs. the actual cooked dish in a particular kitchen.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the students' programme where possible: ECT / electronics students meet checksums, CRC and modulation daily; the "Communication" card is their field. Typical student answers to the question: route to school, making breakfast, unlocking the phone (pattern/PIN check), choosing clothes from the weather forecast (selection!).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D. E. Knuth, The Art of Computer Programming, Vol. 1, Sec. 1.1. The red column shows counter-examples in kitchen language, linking back to the live demo. Add a sixth, practical property for our purposes: CORRECTNESS - it must produce the right output for EVERY valid input, including edge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students vote by raising hands for each item; ask one "no" voter to name the failing property. Answers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3: Euclid proved there are infinitely many primes, so "find the largest" has no finite answer. Item 1 is the most famous non-terminating loop joke among programmers; in C# it is exactly `while (true) { ... }` without a break. Item 5 can be discussed further: the dictionary method is a human version of binary / interpolation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with a vague version: "boil water, add tea, serve". Ask students to find what the vague version leaves undefined (amounts, end condition, strength choice). Then point out the three colours: every algorithm ever written is built from these three structures -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program theorem (Böhm &amp; Jacopini, 1966): any computable procedure can be expressed with sequence, selection and iteration only. This is why the syllabus is ordered the way it is. The arrow "←" means assignment in pseudocode ("store the value on the right into the name on the left").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describe exactly one algorithm. Pseudocode and flowcharts are the two formal "paper" notations of this course; exams may ask you to convert between any two of them. The flowchart symbols (oval = start/end, parallelogram = input/output, rectangle = process, diamond = decision) are the topic of week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conventions used in all slides, homework and exams. Many textbooks use "=" or ":=" for assignment; we use the arrow to avoid confusion with mathematical equality. In mathematics x = x + 1 has no solution; in programming x ← x + 1 is the most common statement there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Inspired by Pólya, How to Solve It (1945): understand, plan, carry out, look back. The highlighted step (Design) is what weeks 1-2 train. Rule of thumb for students: no coding before you can explain the algorithm in your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IPO table is the first deliverable of the analysis step. The edge-case questions are the part students skip; each one changes the algorithm (e.g. 72.5 means we need a decimal type - week 3 - and range checks need selection - week 5). Real-world note: the actual Okan grading uses weighted averages (midterm 40 / final 60), which is a nice follow-up variant.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bug to anticipate: writing g1 + g2 + g3 / 3 without parentheses. Operator precedence (week 4) makes that g1 + g2 + (g3/3). Ask the class to compute it for 60, 70, 80: correct average 70, buggy version 156.67. Next week we draw the same algorithm as a flowchart.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Boundary tests (exactly 50, 0, 100) catch the most bugs, e.g. writing avg &gt; 50 instead of avg &gt;= 50. The two red rows expose missing requirements: our algorithm has no range check. Fixing it needs selection (week 5) and input validation with int.TryParse / double.TryParse (week 5 as well). 149/3 = 49.666... displays as 49.67 with two decimals.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(desk-check) table: one column per variable, one row per loop pass. Students will use this in the exams. Checks: termination (i eventually exceeds N), edge cases: N = 0 -&gt; loop body never runs, sum = 0 (correct); N negative -&gt; also 0 (is that what we want?). The Gauss formula is a first taste of algorithm efficiency: O(N) vs O(1). Formally: sum_{i=1}^{N} i = N(N+1)/2.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it live first: think of a number 1..1000 and let the class guess with strategy of their choice, then demonstrate strategy B. Worst-case guesses for B are ceil(log2(N + 1)): 7, 10, 20, 30. Algorithm A is linear, O(N); B is logarithmic, O(log N). This is binary search, implemented on arrays in week 10. The in-class exercise E is exactly this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Finiteness argument: 0 &lt;= r &lt; b, so b strictly decreases and must reach 0. Ask: what if the user enters b &gt; a, e.g. (18, 48)? First pass: r = 18, a = 48, b = 18 - it swaps itself. What about a = 0 or negative numbers? Good discussion of input specification. Speculative aside for curious students: this exact loop will be about 8 lines of C# in week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12345678950 is a synthetic number that merely passes the check; it is not a real person's ID. Why a single wrong digit is always caught: changing one digit among d1..d10 changes their sum by a non-zero amount between -9 and +9, so the sum mod 10 no longer equals d11. Week 4 teaser: 7*odd - even can be negative (e.g. odd = 1, even = 36), and in C# the % operator then returns a negative remainder, so the C# version needs ((x % 10) + 10) % 10. Good bonus homework: trace the algorithm on your own ID number privately (do not share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corresponds to a violated property: definiteness, finiteness, correctness (edge case), sequence, input specification. Division by zero is the classic crash - in C#, integer division by zero throws DivideByZeroException, while double division gives Infinity or NaN (week 4 teaser).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C# top-level statements (no class Program / static void Main boilerplate) which is the default `dotnet new console` template since .NET 6. With .NET 10 a single file can even be run directly: `dotnet run average.cs` (file-based apps), handy for quick lab exercises. Culture note for later: on Turkish-locale PCs double.Parse expects a comma decimal separator (72,5); address this in week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 two exercises per group (e.g. A+D, B+E, C+F) so every structure is covered. Swap papers between groups and have the other group "execute literally" like the volunteer in the demo - they must find one ambiguity. Hint for A: "even" means n mod 2 = 0. B test cases: 2024 (leap), 1900 (not), 2000 (leap). Hint for E: needs both repetition and selection.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for GCD(84, 36): 84 mod 36 = 12; 36 mod 12 = 0 -&gt; GCD = 12. Setup problems are best solved in week 2 office hours rather than in week 3 lab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student to write one sentence: "An algorithm is ..." on a sticky note or in the course group (quick exit ticket). Next week the same examples (average, sum 1..N, GCD) become flowcharts, so keep today's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MCMP113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Basic Algorithms and Programming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—  Course Introduction · What Is an Algorithm? · Problem-Solving Steps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754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Asst. Prof. Hasan Oğuz, PhD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Okan University  ·  Vocational School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2026–2027 Fall Semester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0" y="1188720"/>
            <a:ext cx="3246120" cy="3931920"/>
          </a:xfrm>
          <a:prstGeom prst="roundRect">
            <a:avLst>
              <a:gd name="adj" fmla="val 3380"/>
            </a:avLst>
          </a:prstGeom>
          <a:solidFill>
            <a:srgbClr val="0F1729"/>
          </a:solidFill>
          <a:ln w="12700">
            <a:solidFill>
              <a:srgbClr val="2A36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41080" y="1371600"/>
            <a:ext cx="146304" cy="14630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15400" y="1371600"/>
            <a:ext cx="146304" cy="14630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89720" y="1371600"/>
            <a:ext cx="146304" cy="14630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0" y="1737360"/>
            <a:ext cx="2834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run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7EE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Hello, World!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_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GETTING IN TOUCH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Instructor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1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709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9659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Asst. Prof. Hasan Oğuz, PhD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272674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578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2834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 are given in class and on the course page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35954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447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3703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in class · or by appointment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48640" y="42976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1" y="446410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GROUP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45720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in class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8092440" y="1600200"/>
            <a:ext cx="3566160" cy="4343400"/>
          </a:xfrm>
          <a:prstGeom prst="roundRect">
            <a:avLst>
              <a:gd name="adj" fmla="val 307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458200" y="201168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9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course group today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52303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 · slides · sample codes · homework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 AT A GLANCE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semester you will be able to …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433401"/>
            <a:ext cx="272125" cy="27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286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algorithmically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a real problem into precise, finite, ordered steps.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20116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22860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401" y="243340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2286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&amp; read flowcharts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an algorithm visually before writing any code.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20116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22860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41" y="2433401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52560" y="2286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C# console apps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variables, operators, decisions and loops correctly.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4114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22960" y="43891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61" y="4536521"/>
            <a:ext cx="272125" cy="27212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5448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with arrays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822960" y="5120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Store, search, sort and process collections of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4114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572000" y="43891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9401" y="4536521"/>
            <a:ext cx="272125" cy="27212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with functions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0" y="5120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programs into reusable methods with parameters.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4114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321040" y="43891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8441" y="4536521"/>
            <a:ext cx="272125" cy="27212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525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and debug</a:t>
            </a:r>
            <a:endParaRPr lang="en-US" sz="1700" dirty="0"/>
          </a:p>
        </p:txBody>
      </p:sp>
      <p:sp>
        <p:nvSpPr>
          <p:cNvPr id="34" name="Text 26"/>
          <p:cNvSpPr txBox="1"/>
          <p:nvPr/>
        </p:nvSpPr>
        <p:spPr>
          <a:xfrm>
            <a:off x="8321040" y="5120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code by hand and find errors systematically.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SYLLABUS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15-Week Plan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4406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9377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introduction · Algorithm concept · Problem-solving steps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Flowcharts and their symbols · Basic flowchart examples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Programming languages · Variables · Data types · Constants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Arithmetic, logical and relational operators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structures: if-else, if-else if, switch-case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Loops: the for loop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Loops: while and do-while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CA3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MIDTERM EXAM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600200"/>
          <a:ext cx="54406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9377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One-dimensional arrays: declaration, assignment, element access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operations: searching, sorting, finding max/min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Multi-dimensional arrays (matrices)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Functions: definition, calling, parameter passing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Value-returning vs. void functions · Scope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file operations · Semester 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CA3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EXAM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17920" y="5120640"/>
            <a:ext cx="5440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is highlighted. Weeks 3 onward: every lecture comes with sample console-app code.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9" name="Text 4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ASSESSMENT &amp; TOOLS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 Are Graded · What You Need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· Week 8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7560" y="16459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18288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3017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Week 15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97680"/>
            <a:ext cx="5349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follows university regulations.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Exams test reasoning: tracing, flowcharts and writing code by hand.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exercises are ungraded — but they are the exam preparation.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(free) — install before Week 3</a:t>
            </a:r>
            <a:endParaRPr lang="en-US" sz="18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423160"/>
            <a:ext cx="457200" cy="457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0" y="2377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10 SDK (LTS)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27066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dotnet.microsoft.com/download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29184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315200" y="32461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315200" y="35753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code.visualstudio.com</a:t>
            </a:r>
            <a:endParaRPr lang="en-US" sz="12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605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0" y="4114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Dev Kit extension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0" y="44439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Code → Extensions → “C# Dev Kit”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583680" y="4983480"/>
            <a:ext cx="4846320" cy="777240"/>
          </a:xfrm>
          <a:prstGeom prst="roundRect">
            <a:avLst>
              <a:gd name="adj" fmla="val 11765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12280" y="5166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--version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10.0.xxx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8A94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375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Computer Solves Problems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Process → Output, and why the computer needs exact instructions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Program: Input → Process → Output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3080" y="19659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70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26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enters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keyboard, file, sensor, network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352" y="2834640"/>
            <a:ext cx="411480" cy="411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173736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669280" y="1965960"/>
            <a:ext cx="822960" cy="8229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250" y="2179930"/>
            <a:ext cx="395021" cy="3950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34840" y="2926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1772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follows the instructions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61772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calculate, compare, decide, repeat</a:t>
            </a:r>
            <a:endParaRPr lang="en-US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834640"/>
            <a:ext cx="411480" cy="41148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321040" y="173736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555480" y="19659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9450" y="2179930"/>
            <a:ext cx="395021" cy="3950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321040" y="2926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850392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leave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50392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file, printer, network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6E3"/>
          </a:solidFill>
          <a:ln w="12700">
            <a:solidFill>
              <a:srgbClr val="FFF6E3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937760"/>
            <a:ext cx="640080" cy="64008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691640" y="475488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(RAM) </a:t>
            </a:r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both the data and the instructions while the program runs (von Neumann, 1945). Turn the power off and RAM is empty; files on disk remain.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KEY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Computer Is Extremely Fast — and Completely Literal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~10⁹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737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operations per second on a single core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31089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guesses about what you “meant”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44805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instruction: arithmetic, comparison, data movement, jump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675120" y="1737360"/>
            <a:ext cx="4983480" cy="4023360"/>
          </a:xfrm>
          <a:prstGeom prst="roundRect">
            <a:avLst>
              <a:gd name="adj" fmla="val 272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011680"/>
            <a:ext cx="548640" cy="5486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68096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Therefore …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74320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of programming is not typing code.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deciding the exact, unambiguous sequence of steps that solves the problem — the algorithm.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(C#) only writes those steps down in a form the machine can execute.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 &amp; TRANSLATION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Idea to Running Program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in your head / on paper</a:t>
            </a:r>
            <a:endParaRPr lang="en-US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1136" y="2258568"/>
            <a:ext cx="201168" cy="2011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468880" y="169164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C# source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560320" y="2286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— text you type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1376" y="2258568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89120" y="169164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48056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2286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build checks &amp; translates</a:t>
            </a:r>
            <a:endParaRPr lang="en-US" sz="11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2258568"/>
            <a:ext cx="201168" cy="20116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309360" y="169164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0080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(.dll)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0" y="2286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intermediate code</a:t>
            </a:r>
            <a:endParaRPr lang="en-US" sz="11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258568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229600" y="169164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32104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(JIT)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21040" y="2286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turns IL into CPU code</a:t>
            </a:r>
            <a:endParaRPr lang="en-US" sz="11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2096" y="2258568"/>
            <a:ext cx="201168" cy="20116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0149840" y="169164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24128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code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0241280" y="2286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0s and 1s the CPU executes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3246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the first two boxes  ·  </a:t>
            </a:r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the rest automatically when you type  dotnet run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 — “put 5 in a register, add 3” — at three levels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4206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Machine code (x86, hex)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45262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77240" y="47091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B8 05 00 00 00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 C0 03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54864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CPU really reads. Unreadable for humans.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4297680" y="4206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Assembly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4297680" y="45262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4526280" y="47091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 eax, 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eax, 3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4297680" y="54864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mnemonic per machine instruction. CPU-specific.</a:t>
            </a:r>
            <a:endParaRPr lang="en-US" sz="1250" dirty="0"/>
          </a:p>
        </p:txBody>
      </p:sp>
      <p:sp>
        <p:nvSpPr>
          <p:cNvPr id="37" name="Text 30"/>
          <p:cNvSpPr txBox="1"/>
          <p:nvPr/>
        </p:nvSpPr>
        <p:spPr>
          <a:xfrm>
            <a:off x="8046720" y="4206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High-level: C#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8046720" y="45262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8275320" y="47091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sum = 5 + 3;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8046720" y="54864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human thinking. Runs on any OS with .NET.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8A94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375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Algorithm?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precise, finite recipe that turns input into the desired output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ACTIVITY · 5 MIN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Instructions Challenge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949440" cy="3909060"/>
          </a:xfrm>
          <a:prstGeom prst="roundRect">
            <a:avLst>
              <a:gd name="adj" fmla="val 280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make a sandwich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volunteer plays the “computer” and does exactly what is said, nothing more.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dictates the steps for making a sandwich, one instruction at a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“Put the peanut butter on the bread” → the closed jar lands on the loaf.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instructions, run again, repeat until it works.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818120" y="1600200"/>
            <a:ext cx="3840480" cy="3909060"/>
          </a:xfrm>
          <a:prstGeom prst="roundRect">
            <a:avLst>
              <a:gd name="adj" fmla="val 285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 you observe, note down: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092440" y="228600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instruction was ambiguous?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step was missing?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step was in the wrong order?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“algorithm” ever end?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the class fix it?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2011680"/>
          </a:xfrm>
          <a:prstGeom prst="roundRect">
            <a:avLst>
              <a:gd name="adj" fmla="val 5455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algorithm is a </a:t>
            </a:r>
            <a:pPr indent="0" marL="0">
              <a:buNone/>
            </a:pPr>
            <a:r>
              <a:rPr lang="en-US" sz="23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finite</a:t>
            </a:r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sequence of </a:t>
            </a:r>
            <a:pPr indent="0" marL="0">
              <a:buNone/>
            </a:pPr>
            <a:r>
              <a:rPr lang="en-US" sz="23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well-defined</a:t>
            </a:r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steps that transforms a given </a:t>
            </a:r>
            <a:pPr indent="0" marL="0">
              <a:buNone/>
            </a:pPr>
            <a:r>
              <a:rPr lang="en-US" sz="23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into the desired </a:t>
            </a:r>
            <a:pPr indent="0" marL="0">
              <a:buNone/>
            </a:pPr>
            <a:r>
              <a:rPr lang="en-US" sz="23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and then stops.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the word come from?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8912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ibn Mūsā al-Khwārizmī (c. 780–850), a mathematician of the House of Wisdom in Baghdad, wrote the book that taught Europe the Hindu–Arabic decimal system. His name, Latinised as “Algoritmi”, became algorithm; the title of his other book (al-jabr) gave us algebra.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589520" y="1645920"/>
            <a:ext cx="4069080" cy="4206240"/>
          </a:xfrm>
          <a:prstGeom prst="roundRect">
            <a:avLst>
              <a:gd name="adj" fmla="val 26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vs. Program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70662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— language-independent; written in words, pseudocode or a flowchart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474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80390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implementation of the idea in a specific language (C#, Python …)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4572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many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90118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algorithm can be coded in any language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Algorithms Are Already Running Your Day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700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Shortest-path algorithms (Dijkstra, 1959) pick your route on Google Maps / Yandex.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9202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421" y="20866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search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6700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algorithms order billions of pages in a fraction of a second.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4672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21040" y="19202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1" y="20866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Banking &amp; ATM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6700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check, balance rules, fraud detection — all precise decision steps.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48640" y="37490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41897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4592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73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MP3, JPEG, ZIP: algorithms that shrink data you send and store.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4297680" y="37490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2000" y="4023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421" y="418978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9496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4773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Wi-Fi / 4G packet carries a checksum so errors are detected.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8046720" y="37490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21040" y="4023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7461" y="4189781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14400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4773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lights, elevators, washing machines follow fixed algorithms.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for you: name one algorithm you personally executed this morning.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FIVE PROPERTIES (KNUTH)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 Set of Steps an Algorithm?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749808"/>
          </a:xfrm>
          <a:prstGeom prst="roundRect">
            <a:avLst>
              <a:gd name="adj" fmla="val 1463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9164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921" y="183904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Finiteness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3749040" y="160020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stop after a finite number of steps.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6002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stirring” → stir until when?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487168"/>
            <a:ext cx="111099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" y="2578608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921" y="2726009"/>
            <a:ext cx="272125" cy="27212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248716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Definiteness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487168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precise and unambiguous.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0" y="2487168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 some sugar” → how much?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3374136"/>
            <a:ext cx="11109960" cy="749808"/>
          </a:xfrm>
          <a:prstGeom prst="roundRect">
            <a:avLst>
              <a:gd name="adj" fmla="val 1463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3465576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21" y="3612977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08760" y="337413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3749040" y="3374136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 clearly specified inputs.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3374136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bread? Which knife?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48640" y="4261104"/>
            <a:ext cx="1110996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31520" y="4352544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921" y="4499945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08760" y="42611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3749040" y="4261104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result that relates to the input.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8321040" y="426110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sandwich, not an empty plate.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548640" y="5148072"/>
            <a:ext cx="11109960" cy="749808"/>
          </a:xfrm>
          <a:prstGeom prst="roundRect">
            <a:avLst>
              <a:gd name="adj" fmla="val 1463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31520" y="5239512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921" y="5386913"/>
            <a:ext cx="272125" cy="27212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514807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Effectiveness</a:t>
            </a:r>
            <a:endParaRPr lang="en-US" sz="1900" dirty="0"/>
          </a:p>
        </p:txBody>
      </p:sp>
      <p:sp>
        <p:nvSpPr>
          <p:cNvPr id="32" name="Text 25"/>
          <p:cNvSpPr txBox="1"/>
          <p:nvPr/>
        </p:nvSpPr>
        <p:spPr>
          <a:xfrm>
            <a:off x="3749040" y="514807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basic enough to actually be carried out.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514807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tasty” is not a step.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QUIZ · 3 MIN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or Not?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4" y="20747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4592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Shampoo bottle: “Lather. Rinse. Repeat.”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920240"/>
            <a:ext cx="594360" cy="5943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334" y="20747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78040" y="164592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long-division method you learned in primary school.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548640" y="29718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246120"/>
            <a:ext cx="594360" cy="5943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4" y="340065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54480" y="297180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Print the largest prime number.</a:t>
            </a:r>
            <a:endParaRPr lang="en-US" sz="1550" dirty="0"/>
          </a:p>
        </p:txBody>
      </p:sp>
      <p:sp>
        <p:nvSpPr>
          <p:cNvPr id="16" name="Shape 11"/>
          <p:cNvSpPr/>
          <p:nvPr/>
        </p:nvSpPr>
        <p:spPr>
          <a:xfrm>
            <a:off x="6172200" y="29718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0" y="3246120"/>
            <a:ext cx="594360" cy="5943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5334" y="3400654"/>
            <a:ext cx="285293" cy="28529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78040" y="297180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Recipe: “Add salt to taste.”</a:t>
            </a:r>
            <a:endParaRPr lang="en-US" sz="1550" dirty="0"/>
          </a:p>
        </p:txBody>
      </p:sp>
      <p:sp>
        <p:nvSpPr>
          <p:cNvPr id="20" name="Shape 14"/>
          <p:cNvSpPr/>
          <p:nvPr/>
        </p:nvSpPr>
        <p:spPr>
          <a:xfrm>
            <a:off x="548640" y="42976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774" y="472653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29768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Find a word in a paper dictionary: open near its first letter, then move forward or back.</a:t>
            </a:r>
            <a:endParaRPr lang="en-US" sz="1550" dirty="0"/>
          </a:p>
        </p:txBody>
      </p:sp>
      <p:sp>
        <p:nvSpPr>
          <p:cNvPr id="24" name="Shape 17"/>
          <p:cNvSpPr/>
          <p:nvPr/>
        </p:nvSpPr>
        <p:spPr>
          <a:xfrm>
            <a:off x="6172200" y="42976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400800" y="4572000"/>
            <a:ext cx="594360" cy="5943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334" y="4726534"/>
            <a:ext cx="285293" cy="28529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8040" y="429768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Choose the best football team in the world.</a:t>
            </a:r>
            <a:endParaRPr lang="en-US" sz="155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each: yes or no? If no — which of the five properties fails?</a:t>
            </a:r>
            <a:endParaRPr lang="en-US" sz="1400" dirty="0"/>
          </a:p>
        </p:txBody>
      </p:sp>
      <p:sp>
        <p:nvSpPr>
          <p:cNvPr id="30" name="Text 2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1" name="Text 22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QUIZ · ANSWERS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or Not? —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rgbClr val="C8453B"/>
          </a:solidFill>
          <a:ln w="12700">
            <a:solidFill>
              <a:srgbClr val="C8453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4" y="20747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7830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Lather. Rinse. Repeat.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945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stops — fails finiteness.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72200" y="164592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1920240"/>
            <a:ext cx="594360" cy="594360"/>
          </a:xfrm>
          <a:prstGeom prst="ellipse">
            <a:avLst/>
          </a:prstGeom>
          <a:solidFill>
            <a:srgbClr val="2E9E6A"/>
          </a:solidFill>
          <a:ln w="12700">
            <a:solidFill>
              <a:srgbClr val="2E9E6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334" y="20747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17830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Long division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1945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Finite, precise, effective. A classic algorithm.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29718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3246120"/>
            <a:ext cx="594360" cy="594360"/>
          </a:xfrm>
          <a:prstGeom prst="ellipse">
            <a:avLst/>
          </a:prstGeom>
          <a:solidFill>
            <a:srgbClr val="C8453B"/>
          </a:solidFill>
          <a:ln w="12700">
            <a:solidFill>
              <a:srgbClr val="C8453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4" y="34006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108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 Largest prime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520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largest prime (Euclid): it never finishes, no output.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172200" y="29718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0" y="3246120"/>
            <a:ext cx="594360" cy="594360"/>
          </a:xfrm>
          <a:prstGeom prst="ellipse">
            <a:avLst/>
          </a:prstGeom>
          <a:solidFill>
            <a:srgbClr val="C8453B"/>
          </a:solidFill>
          <a:ln w="12700">
            <a:solidFill>
              <a:srgbClr val="C8453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5334" y="34006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78040" y="3108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 Salt to taste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78040" y="3520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 taste” is not precise — fails definiteness.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42976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2E9E6A"/>
          </a:solidFill>
          <a:ln w="12700">
            <a:solidFill>
              <a:srgbClr val="2E9E6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774" y="47265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54480" y="4434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 Dictionary look-up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1554480" y="4846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in finitely many steps: the book is finite and ordered.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6172200" y="42976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00800" y="4572000"/>
            <a:ext cx="594360" cy="594360"/>
          </a:xfrm>
          <a:prstGeom prst="ellipse">
            <a:avLst/>
          </a:prstGeom>
          <a:solidFill>
            <a:srgbClr val="C8453B"/>
          </a:solidFill>
          <a:ln w="12700">
            <a:solidFill>
              <a:srgbClr val="C8453B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334" y="47265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78040" y="4434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 Best football team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7178040" y="4846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agreed criterion — not definite, not effective.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item 5 is the idea behind binary search — you will program it in Week 10.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EVERYDAY ALGORITHM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Brewing Turkish Tea — Precisely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7406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Fill the kettle (bottom pot) with 1 L of water.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Put 4 teaspoons of black tea in the teapot (top pot).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Place the teapot on the kettle and turn the stove on.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b="1" dirty="0">
                <a:solidFill>
                  <a:srgbClr val="2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WHILE the water is not boiling: wait 1 minute.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Pour boiling water into the teapot until it is ¾ full.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Lower the heat and wait 15 minutes.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IF the guest wants it strong: fill the glass ⅔ with tea,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ELSE: fill the glass ⅓ with tea.</a:t>
            </a:r>
            <a:endParaRPr lang="en-US" sz="17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Top up the glass with hot water. STOP.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0"/>
            <a:ext cx="3337560" cy="4206240"/>
          </a:xfrm>
          <a:prstGeom prst="roundRect">
            <a:avLst>
              <a:gd name="adj" fmla="val 328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235440" y="1874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key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595360" y="2724912"/>
            <a:ext cx="274320" cy="2743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0" y="26517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052560" y="3035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steps in order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595360" y="3730752"/>
            <a:ext cx="274320" cy="274320"/>
          </a:xfrm>
          <a:prstGeom prst="ellipse">
            <a:avLst/>
          </a:prstGeom>
          <a:solidFill>
            <a:srgbClr val="2F6FB3"/>
          </a:solidFill>
          <a:ln w="12700">
            <a:solidFill>
              <a:srgbClr val="2F6FB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0" y="3657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40416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path (IF)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595360" y="4736592"/>
            <a:ext cx="274320" cy="274320"/>
          </a:xfrm>
          <a:prstGeom prst="ellipse">
            <a:avLst/>
          </a:prstGeom>
          <a:solidFill>
            <a:srgbClr val="2E9E6A"/>
          </a:solidFill>
          <a:ln w="12700">
            <a:solidFill>
              <a:srgbClr val="2E9E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0" y="46634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5047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(WHILE)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BUILDING BLOCKS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Structures Are Enough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executed one after another, top to bottom.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429000"/>
            <a:ext cx="2971800" cy="1600200"/>
          </a:xfrm>
          <a:prstGeom prst="roundRect">
            <a:avLst>
              <a:gd name="adj" fmla="val 5714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51560" y="3611880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b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← a + b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 sum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C# in Weeks 3–4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0" y="1828800"/>
            <a:ext cx="640080" cy="640080"/>
          </a:xfrm>
          <a:prstGeom prst="ellipse">
            <a:avLst/>
          </a:prstGeom>
          <a:solidFill>
            <a:srgbClr val="2F6FB3"/>
          </a:solidFill>
          <a:ln w="12700">
            <a:solidFill>
              <a:srgbClr val="2F6FB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421" y="199522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34924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6F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651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paths depending on a condition.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0" y="3429000"/>
            <a:ext cx="2971800" cy="1600200"/>
          </a:xfrm>
          <a:prstGeom prst="roundRect">
            <a:avLst>
              <a:gd name="adj" fmla="val 5714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00600" y="3611880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≥ 18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print "adult"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print "minor"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C# in Week 5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46720" y="16002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21040" y="1828800"/>
            <a:ext cx="640080" cy="640080"/>
          </a:xfrm>
          <a:prstGeom prst="ellipse">
            <a:avLst/>
          </a:prstGeom>
          <a:solidFill>
            <a:srgbClr val="2E9E6A"/>
          </a:solidFill>
          <a:ln w="12700">
            <a:solidFill>
              <a:srgbClr val="2E9E6A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1" y="1995221"/>
            <a:ext cx="307238" cy="30723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09828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9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Repetition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26517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 block while a condition holds.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321040" y="3429000"/>
            <a:ext cx="2971800" cy="1600200"/>
          </a:xfrm>
          <a:prstGeom prst="roundRect">
            <a:avLst>
              <a:gd name="adj" fmla="val 5714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549640" y="3611880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← 1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 ≤ 10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print i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 ← i + 1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C# in Weeks 6–7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Write the Same Algorithm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read a number and print its absolute value.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language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for anyone — but often ambiguous.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17830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Pseudocode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5212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and tool-free. Our main tool on paper.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81344" y="17830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Flowchart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5212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Visual; shows branches clearly. Week 2.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97696" y="17830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0576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C# code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80576" y="5212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— but strict syntax. Week 3+.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24231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number. If it is negative, remove its minus sign. Show the number.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502152" y="2423160"/>
            <a:ext cx="2377440" cy="2377440"/>
          </a:xfrm>
          <a:prstGeom prst="roundRect">
            <a:avLst>
              <a:gd name="adj" fmla="val 3846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30752" y="260604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x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 &lt; 0 THEN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x ← −x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IF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 x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34856" y="2423160"/>
            <a:ext cx="2377440" cy="2377440"/>
          </a:xfrm>
          <a:prstGeom prst="roundRect">
            <a:avLst>
              <a:gd name="adj" fmla="val 3846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63456" y="260604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 =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Console.ReadLine();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int.Parse(s);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(x &lt; 0)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= -x;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Console.WriteLine(x);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38544" y="2423160"/>
            <a:ext cx="914400" cy="292608"/>
          </a:xfrm>
          <a:prstGeom prst="ellipse">
            <a:avLst/>
          </a:prstGeom>
          <a:solidFill>
            <a:srgbClr val="FFF1D6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38544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47104" y="2880360"/>
            <a:ext cx="1097280" cy="31089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7104" y="28803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47104" y="3355848"/>
            <a:ext cx="1097280" cy="566928"/>
          </a:xfrm>
          <a:prstGeom prst="diamond">
            <a:avLst/>
          </a:prstGeom>
          <a:solidFill>
            <a:srgbClr val="E3ECF8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47104" y="33558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&lt; 0 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827264" y="3483864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27264" y="348386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← −x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47104" y="4114800"/>
            <a:ext cx="1097280" cy="31089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47104" y="41148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x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8544" y="4590288"/>
            <a:ext cx="914400" cy="292608"/>
          </a:xfrm>
          <a:prstGeom prst="ellipse">
            <a:avLst/>
          </a:prstGeom>
          <a:solidFill>
            <a:srgbClr val="FFF1D6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38544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95744" y="2715768"/>
            <a:ext cx="0" cy="164592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095744" y="3191256"/>
            <a:ext cx="0" cy="164592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095744" y="3922776"/>
            <a:ext cx="0" cy="192024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095744" y="4425696"/>
            <a:ext cx="0" cy="164592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644384" y="3639312"/>
            <a:ext cx="182880" cy="0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15884" y="3794760"/>
            <a:ext cx="0" cy="475488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7644384" y="4270248"/>
            <a:ext cx="571500" cy="0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7598664" y="33467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150608" y="39136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 CARD · KEEP THIS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Pseudocode Conventions for MCMP113</a:t>
            </a:r>
            <a:endParaRPr lang="en-US" sz="3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8638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971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 … END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beginning and end of the algorithm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 … END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input: get a value from the user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age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PRINT 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output: show a value or a message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PRINT "Total:", sum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← expression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assignment: evaluate right side, store in 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 ← total + price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… ELSE … END IF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 (THEN after the condition)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age ≥ 18 THEN 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 cond … END WHILE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 while the condition is 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 i ≤ 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i ← a TO b … END FOR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 a counted number of times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i ← 1 TO 10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 −  ×  /  mod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arithmetic; mod = remainder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 mod 5 = 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 ≠  &lt;  ≤  &gt;  ≥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 (true / false)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x ≠ 0 THEN 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 OR  NOT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conditions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FB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a &gt; 0 AND b &gt;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1554480"/>
            <a:ext cx="2971800" cy="4023360"/>
          </a:xfrm>
          <a:prstGeom prst="roundRect">
            <a:avLst>
              <a:gd name="adj" fmla="val 369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178308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509760" y="17830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#1 beginner trap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23774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pseudocode: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 assigns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compares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C#: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7EE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 assigns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7EE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 compares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← x + 1 is not an equation: it means “new x = old x + 1”.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8A94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375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Problem-Solving Steps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vague request to a tested solution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Steps of Problem Solving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" y="1737360"/>
            <a:ext cx="1097280" cy="10972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29968"/>
            <a:ext cx="512064" cy="512064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2130552"/>
            <a:ext cx="320040" cy="320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017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Understand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given? What is asked? Constraints?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3337560" y="1737360"/>
            <a:ext cx="1097280" cy="10972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8" y="2029968"/>
            <a:ext cx="512064" cy="512064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130552"/>
            <a:ext cx="320040" cy="3200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834640" y="3017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Design</a:t>
            </a:r>
            <a:endParaRPr lang="en-US" sz="1700" dirty="0"/>
          </a:p>
        </p:txBody>
      </p:sp>
      <p:sp>
        <p:nvSpPr>
          <p:cNvPr id="13" name="Text 7"/>
          <p:cNvSpPr txBox="1"/>
          <p:nvPr/>
        </p:nvSpPr>
        <p:spPr>
          <a:xfrm>
            <a:off x="288036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algorithm: steps, pseudocode, flowchart.</a:t>
            </a:r>
            <a:endParaRPr lang="en-US" sz="1350" dirty="0"/>
          </a:p>
        </p:txBody>
      </p:sp>
      <p:sp>
        <p:nvSpPr>
          <p:cNvPr id="14" name="Shape 8"/>
          <p:cNvSpPr/>
          <p:nvPr/>
        </p:nvSpPr>
        <p:spPr>
          <a:xfrm>
            <a:off x="5623560" y="1737360"/>
            <a:ext cx="1097280" cy="10972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168" y="2029968"/>
            <a:ext cx="512064" cy="512064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2130552"/>
            <a:ext cx="320040" cy="3200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5120640" y="3017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Implement</a:t>
            </a:r>
            <a:endParaRPr lang="en-US" sz="1700" dirty="0"/>
          </a:p>
        </p:txBody>
      </p:sp>
      <p:sp>
        <p:nvSpPr>
          <p:cNvPr id="18" name="Text 10"/>
          <p:cNvSpPr txBox="1"/>
          <p:nvPr/>
        </p:nvSpPr>
        <p:spPr>
          <a:xfrm>
            <a:off x="516636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the algorithm into C#.</a:t>
            </a:r>
            <a:endParaRPr lang="en-US" sz="1350" dirty="0"/>
          </a:p>
        </p:txBody>
      </p:sp>
      <p:sp>
        <p:nvSpPr>
          <p:cNvPr id="19" name="Shape 11"/>
          <p:cNvSpPr/>
          <p:nvPr/>
        </p:nvSpPr>
        <p:spPr>
          <a:xfrm>
            <a:off x="7909560" y="1737360"/>
            <a:ext cx="1097280" cy="10972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168" y="2029968"/>
            <a:ext cx="512064" cy="512064"/>
          </a:xfrm>
          <a:prstGeom prst="rect">
            <a:avLst/>
          </a:prstGeom>
        </p:spPr>
      </p:pic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0" y="2130552"/>
            <a:ext cx="320040" cy="32004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406640" y="3017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Test &amp; Debug</a:t>
            </a:r>
            <a:endParaRPr lang="en-US" sz="1700" dirty="0"/>
          </a:p>
        </p:txBody>
      </p:sp>
      <p:sp>
        <p:nvSpPr>
          <p:cNvPr id="23" name="Text 13"/>
          <p:cNvSpPr txBox="1"/>
          <p:nvPr/>
        </p:nvSpPr>
        <p:spPr>
          <a:xfrm>
            <a:off x="745236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with normal, edge and wrong inputs.</a:t>
            </a:r>
            <a:endParaRPr lang="en-US" sz="1350" dirty="0"/>
          </a:p>
        </p:txBody>
      </p:sp>
      <p:sp>
        <p:nvSpPr>
          <p:cNvPr id="24" name="Shape 14"/>
          <p:cNvSpPr/>
          <p:nvPr/>
        </p:nvSpPr>
        <p:spPr>
          <a:xfrm>
            <a:off x="10195560" y="1737360"/>
            <a:ext cx="1097280" cy="10972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8168" y="2029968"/>
            <a:ext cx="512064" cy="512064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9692640" y="3017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Document</a:t>
            </a:r>
            <a:endParaRPr lang="en-US" sz="1700" dirty="0"/>
          </a:p>
        </p:txBody>
      </p:sp>
      <p:sp>
        <p:nvSpPr>
          <p:cNvPr id="27" name="Text 16"/>
          <p:cNvSpPr txBox="1"/>
          <p:nvPr/>
        </p:nvSpPr>
        <p:spPr>
          <a:xfrm>
            <a:off x="973836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clear names, notes for others.</a:t>
            </a:r>
            <a:endParaRPr lang="en-US" sz="1350" dirty="0"/>
          </a:p>
        </p:txBody>
      </p:sp>
      <p:sp>
        <p:nvSpPr>
          <p:cNvPr id="28" name="Shape 17"/>
          <p:cNvSpPr/>
          <p:nvPr/>
        </p:nvSpPr>
        <p:spPr>
          <a:xfrm>
            <a:off x="548640" y="4663440"/>
            <a:ext cx="11109960" cy="1188720"/>
          </a:xfrm>
          <a:prstGeom prst="roundRect">
            <a:avLst>
              <a:gd name="adj" fmla="val 9231"/>
            </a:avLst>
          </a:prstGeom>
          <a:solidFill>
            <a:srgbClr val="FFF6E3"/>
          </a:solidFill>
          <a:ln w="12700">
            <a:solidFill>
              <a:srgbClr val="FFF6E3"/>
            </a:solidFill>
            <a:prstDash val="solid"/>
          </a:ln>
        </p:spPr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4983480"/>
            <a:ext cx="548640" cy="548640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645920" y="475488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cycle, not a line. </a:t>
            </a:r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test sends you back to Design — or even to Understand. Beginners spend most of their time in Step 3; professionals spend most of it in Steps 1–2, which is why their Step 4 is short.</a:t>
            </a:r>
            <a:endParaRPr lang="en-US" sz="1500" dirty="0"/>
          </a:p>
        </p:txBody>
      </p:sp>
      <p:sp>
        <p:nvSpPr>
          <p:cNvPr id="32" name="Text 19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3" name="Text 2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 EXAMPLE 1 · STEP 1: UNDERSTAND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of Three Exam Grades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777240"/>
          </a:xfrm>
          <a:prstGeom prst="roundRect">
            <a:avLst>
              <a:gd name="adj" fmla="val 14118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enters three exam grades (0–100). Show the average and whether the student passed (average ≥ 50).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1110996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70332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6B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g1, g2, g3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(numbers, 0–100)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← (g1 + g2 + g3) / 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avg with 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“PASSED” or “FAILED”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to ask before designing (the “edge cases”):</a:t>
            </a:r>
            <a:endParaRPr lang="en-US" sz="17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92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grade be 72.5, or only whole numbers?</a:t>
            </a:r>
            <a:endParaRPr lang="en-US" sz="15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48920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3796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user types 120 or −5?</a:t>
            </a:r>
            <a:endParaRPr lang="en-US" sz="15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39496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60120" y="5349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exactly 50 a pass?</a:t>
            </a:r>
            <a:endParaRPr lang="en-US" sz="15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539496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537960" y="5349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all exams have equal weight?</a:t>
            </a:r>
            <a:endParaRPr lang="en-US" sz="1500" dirty="0"/>
          </a:p>
        </p:txBody>
      </p:sp>
      <p:sp>
        <p:nvSpPr>
          <p:cNvPr id="17" name="Text 9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8" name="Text 1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 EXAMPLE 1 · STEP 2: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Plain Steps to Pseudocode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Plain-language steps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first, second and third grades.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three grades and divide by 3.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average.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average is at least 50, show “PASSED”; otherwise show “FAILED”.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09360" y="2057400"/>
            <a:ext cx="5349240" cy="3246120"/>
          </a:xfrm>
          <a:prstGeom prst="roundRect">
            <a:avLst>
              <a:gd name="adj" fmla="val 2817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240280"/>
            <a:ext cx="4892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 g1, g2, g3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avg ← (g1 + g2 + g3) / 3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 avg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avg ≥ 50 THEN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PRINT "PASSED"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PRINT "FAILED"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IF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54406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 = structured English. No semicolons, no compiler — but precise enough to translate line-by-line into C#.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 EXAMPLE 1 · STEP 4: TEST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Good Test Cases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3931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 of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g1, g2, g3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60, 70, 80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70.00 · PASSED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50, 50, 50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 · PASSED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below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49, 50, 50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49.67 · FAILED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100, 100, 100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 · PASSED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0, 0, 0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· FAILED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of range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120, 70, 80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45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 be rejected — our algorithm prints 90.00!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abc, 70, 80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45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program crashes (FormatException)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600200"/>
            <a:ext cx="3246120" cy="3840480"/>
          </a:xfrm>
          <a:prstGeom prst="roundRect">
            <a:avLst>
              <a:gd name="adj" fmla="val 338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8288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0" y="251460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“Program testing can be used to show the presence of bugs, but never to show their absence.”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868680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Edsger W. Dijkstra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4709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choose tests that are most likely to break the algorithm.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 EXAMPLE 2 · DESK-CHECKING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1 … N — with a Trace Table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754880" cy="2926080"/>
          </a:xfrm>
          <a:prstGeom prst="roundRect">
            <a:avLst>
              <a:gd name="adj" fmla="val 3125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297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 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 ← 0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 ← 1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i ≤ 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sum ← sum + i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i ← i + 1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WHILE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 sum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for N = 5</a:t>
            </a:r>
            <a:endParaRPr lang="en-US" sz="17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011680"/>
          <a:ext cx="58978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78308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≤ N ?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exit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45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074920"/>
            <a:ext cx="11109960" cy="1005840"/>
          </a:xfrm>
          <a:prstGeom prst="roundRect">
            <a:avLst>
              <a:gd name="adj" fmla="val 10909"/>
            </a:avLst>
          </a:prstGeom>
          <a:solidFill>
            <a:srgbClr val="FFF6E3"/>
          </a:solidFill>
          <a:ln w="12700">
            <a:solidFill>
              <a:srgbClr val="FFF6E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0352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102352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problem, different algorithm: </a:t>
            </a:r>
            <a:pPr indent="0" marL="0">
              <a:buNone/>
            </a:pPr>
            <a:r>
              <a:rPr lang="en-US" sz="14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Gauss’s formula  sum = N × (N + 1) / 2  gives 15 in one step. The loop needs N steps; for N = 1 000 000 000 that is a real difference. Choosing the better algorithm is a design decision, not a coding one.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EFFICIENCY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Guess My Number (1 … 1000): Two Algorithms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Try every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2, 3, 4, …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4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5146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guesses in the worst case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Always guess the middle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E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“higher” / “lower” halves the range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514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CA3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25146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guesses at most, because 2¹⁰ = 1024 ≥ 1000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77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B, secret number = 737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664208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64208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750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779776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79776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625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895344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95344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687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010912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10912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718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26480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734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242048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42048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742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357616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57616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738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73184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473184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736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0588752" y="4389120"/>
            <a:ext cx="987552" cy="685800"/>
          </a:xfrm>
          <a:prstGeom prst="roundRect">
            <a:avLst>
              <a:gd name="adj" fmla="val 10667"/>
            </a:avLst>
          </a:prstGeom>
          <a:solidFill>
            <a:srgbClr val="2E9E6A"/>
          </a:solidFill>
          <a:ln w="12700">
            <a:solidFill>
              <a:srgbClr val="2E9E6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88752" y="438912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737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03520"/>
          <a:ext cx="111099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286000"/>
                <a:gridCol w="2286000"/>
                <a:gridCol w="228600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1 000 000 000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(worst)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845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845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845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845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1 000 000 000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(worst)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2300-YEAR-OLD ALGORITHM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Euclid’s Greatest Common Divisor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down around 300 BC in Euclid’s Elements — still used today inside every secure (HTTPS/RSA) connection.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8600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 a, b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b ≠ 0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 ← a mod b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 ← b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b ← 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WHILE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 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983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 = remainder of division  (17 mod 5 = 2)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Trace: GCD(48, 18)</a:t>
            </a:r>
            <a:endParaRPr lang="en-US" sz="17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788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 = a mod 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9E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9E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9E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stop → GCD = 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126480" y="475488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all five properties: Is it finite? (b strictly decreases.) Definite? Input? Output? Effective?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REAL ALGORITHM IN YOUR WALLET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T.C. Kimlik No: the Check-Digit Algorithm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669280" cy="2834640"/>
          </a:xfrm>
          <a:prstGeom prst="roundRect">
            <a:avLst>
              <a:gd name="adj" fmla="val 3871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68880"/>
            <a:ext cx="5257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digits  d1 d2 … d11,  and  d1 ≠ 0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 = ( 7 × (d1+d3+d5+d7+d9) − (d2+d4+d6+d8) ) mod 10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d11 = ( d1 + d2 + … + d10 ) mod 10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92240" y="1600200"/>
            <a:ext cx="5166360" cy="2834640"/>
          </a:xfrm>
          <a:prstGeom prst="roundRect">
            <a:avLst>
              <a:gd name="adj" fmla="val 387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it exist?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2860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single mistyped digit is detected instantly — without asking a database.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idea: IBAN (mod 97), EAN-13 barcodes, credit cards (Luhn).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617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with the made-up first nine digits 1 2 3 4 5 6 7 8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24128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4128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499616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99616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975104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975104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450592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450592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2926080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6080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3401568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01568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3877056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877056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4352544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EEF1F6"/>
          </a:solidFill>
          <a:ln w="12700">
            <a:solidFill>
              <a:srgbClr val="D5DAE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52544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4828032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28032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303520" y="5029200"/>
            <a:ext cx="402336" cy="548640"/>
          </a:xfrm>
          <a:prstGeom prst="roundRect">
            <a:avLst>
              <a:gd name="adj" fmla="val 13636"/>
            </a:avLst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303520" y="50292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035040" y="4846320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odd  positions: 1+3+5+7+9 = 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 positions: 2+4+6+8   = 20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 = (7×25 − 20) mod 10 = 155 mod 10 =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d11 = (45 + 5) mod 10 = 0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 MISTAKES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Bad Algorithm → Good Algorithm</a:t>
            </a:r>
            <a:endParaRPr lang="en-US" sz="3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657600"/>
                <a:gridCol w="5074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45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Ambiguous step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C845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 the numbers.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7A5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avg ← (g1 + g2 + g3) / 3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termination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C845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Keep asking for a password.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7A5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Ask at most 3 times, then lock.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edge case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C845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 ← a / b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7A5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b = 0 THEN print "error" ELSE result ← a / b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order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C845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PRINT sum, then sum ← a + b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7A5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 ← a + b, then PRINT sum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Undefined input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C845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the grade.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F7A5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a grade between 0 and 100; reject others.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SNEAK PEEK · WEEK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Algorithm, Written in C#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4251960"/>
          </a:xfrm>
          <a:prstGeom prst="roundRect">
            <a:avLst>
              <a:gd name="adj" fmla="val 2151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64922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Console.Write("Grade 1: ");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g1 = double.Parse(Console.ReadLine());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Console.Write("Grade 2: ");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g2 = double.Parse(Console.ReadLine());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Console.Write("Grade 3: ");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g3 = double.Parse(Console.ReadLine());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avg = (g1 + g2 + g3) / 3;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Console.WriteLine($"Average: {avg:F2}");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(avg &gt;= 50)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Console.WriteLine("PASSED");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Console.WriteLine("FAILED");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818120" y="1645920"/>
            <a:ext cx="3840480" cy="4251960"/>
          </a:xfrm>
          <a:prstGeom prst="roundRect">
            <a:avLst>
              <a:gd name="adj" fmla="val 285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9244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28600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pseudocode line maps to one or two C# lines.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Console.ReadLine()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→ Console.WriteLine()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… ELSE → if (…) … else …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to understand the syntax yet — only that the algorithm came first.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IN-CLASS · GROUPS OF 2–3 · 25 MIN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Turn: Write the Algorithm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74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or odd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 integer; print whether it is even or odd.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6F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6459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187452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1874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Leap year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year; leap if divisible by 4 and not by 100 — or divisible by 400.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6F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6459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187452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753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1874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ATM withdrawal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and amount given; allow only if enough money and a multiple of 10.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6F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0233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Countdown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634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N; print N, N−1, …, 1, then “Go!”.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9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97680" y="379476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26280" y="402336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262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40233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Guess the number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46634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guesses a secret number; say “higher/lower” until correct.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452628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9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46720" y="379476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75320" y="402336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753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8915400" y="40233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8275320" y="46634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Celsius to Fahrenheit:  F = C × 9 / 5 + 32.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each: IPO table → numbered steps → pseudocode → trace with two test inputs (one normal, one edge case).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</a:t>
            </a:r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HOMEWORK · DUE BEFORE WEEK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+ Setup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20290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745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Algorithms (on paper)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two in-class exercises your group did not do.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algorithm for a daily task of your choice with at least one IF and one WHILE.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Euclid’s GCD for (84, 36) in a table.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 photo of your pages to the course group.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5394960" cy="4251960"/>
          </a:xfrm>
          <a:prstGeom prst="roundRect">
            <a:avLst>
              <a:gd name="adj" fmla="val 2581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7960" y="187452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494" y="20290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18745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Install the tools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6974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.NET 10 SDK and VS Code + C# Dev Kit.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 and run the three commands below.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3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the output → the course group.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537960" y="4069080"/>
            <a:ext cx="4846320" cy="1600200"/>
          </a:xfrm>
          <a:prstGeom prst="roundRect">
            <a:avLst>
              <a:gd name="adj" fmla="val 5714"/>
            </a:avLst>
          </a:prstGeom>
          <a:solidFill>
            <a:srgbClr val="0F1729"/>
          </a:solidFill>
          <a:ln w="12700">
            <a:solidFill>
              <a:srgbClr val="0F172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766560" y="425196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--version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new console -n Hello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cd Hello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run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 SUMMARY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8288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algorithm is a finite, precise recipe from input to output.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54203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properties: finiteness, definiteness, input, output, effectiveness.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52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255264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built from sequence, selection and repetition.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6849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968496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in five steps: understand → design → implement → test → document.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6817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68172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first, code second. Trace tables catch errors before the computer does.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412480" y="822960"/>
            <a:ext cx="3246120" cy="5120640"/>
          </a:xfrm>
          <a:prstGeom prst="roundRect">
            <a:avLst>
              <a:gd name="adj" fmla="val 3380"/>
            </a:avLst>
          </a:prstGeom>
          <a:solidFill>
            <a:srgbClr val="1E2E52"/>
          </a:solidFill>
          <a:ln w="12700">
            <a:solidFill>
              <a:srgbClr val="1E2E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41080" y="1005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1371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Flowcharts &amp; their symbols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56032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CA3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60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4846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MCMP113  ·  Week 1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Istanbul Okan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MCMP113 Week 1 – Algorithms and Problem Solving</dc:title>
  <dc:subject>PptxGenJS Presentation</dc:subject>
  <dc:creator>MCMP113</dc:creator>
  <cp:lastModifiedBy>MCMP113</cp:lastModifiedBy>
  <cp:revision>1</cp:revision>
  <dcterms:created xsi:type="dcterms:W3CDTF">2026-10-25T12:54:27Z</dcterms:created>
  <dcterms:modified xsi:type="dcterms:W3CDTF">2026-10-25T12:54:27Z</dcterms:modified>
</cp:coreProperties>
</file>