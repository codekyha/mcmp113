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Timing for the whole session: Part 1 symbols ~35 min, Part 2 structures and conversion ~35 min, Part 3 worked examples ~60 min, Part 4 mistakes, quiz, tools and exercises ~40 min. Bring paper and pencil: flowcharts are drawn by hand in the exams. Last week we wrote algorithms in pseudocode; today we draw the same algorithms as pictures, and at the end of each example we peek at the C# that the flowchart turns into (syntax is taught from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(~2 min). Emphasise objective 4: converting in both directions is a standard exam question (draw the flowchart for this pseudocode / write the pseudocode for this flowchart). Objective 6 is only "read and map": nobody is expected to write C#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(~4 min). This is the absolute-value algorithm from Week 1, section "four ways to write an algorithm". Ask the class: which line of the pseudocode became which box? Point out that the IF has two exits in the flowchart: the "no" exit simply skips the process box. The C# column is code folder example 02_02 (AbsoluteValue); run it live with -7.25 and 12 if time permits. The C# uses double, so 7.25 prints as 7.25.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Definition first, then the short history as motivation: flowcharts are older than computers (Gilbreth, industrial engineering, 1921). Goldstine and von Neumann used "flow diagrams" in 1947 to plan programs for early computers. ANSI X3.5 (1970) and ISO 5807 (1985) standardised the shapes, which is why every textbook uses the same six symbols. Today UML activity diagrams and BPMN use the same idea. Likely question: "Do programmers still draw flowcharts?" Honest answer: professionals rarely draw full program flowcharts, but they constantly sketch the tricky part (a loop, a nested decision) on a whiteboard; for beginners the chart makes control flow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Draw each symbol on the board while explaining. Memory aids: the terminal is a rounded "pill" (like a start button); input/output is slanted because data "slides in or out"; the decision diamond has corners that point to its exits. Predefined process (double side lines) = "a named sub-algorithm described somewhere else", e.g. GCD(a, b); in C# this becomes a method call (Week 12). Connector: a small circle with a letter, used to join lines or to continue a chart that does not fit. Rule of thumb: never mix kinds in one box; "Read x and add 1" is two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Flow lines: the default direction is top-to-bottom and left-to-right, but draw arrowheads on every line anyway, because loops go upwards. On-page connector: a circle with the same letter at both ends means "the line continues here"; use it to avoid crossing lines. Off-page connector (home-plate shape) continues the chart on another page; we rarely need it. Annotation: an open bracket with a dashed line adds a comment; it is not a step and is never executed, exactly like // comments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This table is the dictionary for the rest of the course. Go row by row; stress that the decision diamond is used for BOTH IF and WHILE: what makes a WHILE is the arrow that goes back up (next part). The C# column is only for recognition today. Note: in C#, = assigns and == compares; in pseudocode, ← assigns and = compares.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These rules are the grading checklist for flowchart questions in the exams. Rule 3 is the most frequently broken: a diamond with one exit, or exits without yes/no labels. Rule 5: crossings are avoided by re-routing or by a connector. Rule 7 anticipates the infinite-loop mistake of Part 4. Ask: why "one End"? Several End symbols are allowed by some books, but one End forces all paths to join, which matches structured programming (one entry, one exit) and is our course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2 to 3 minutes, then take answers by show of hands (A to F). Item 7 is a trap: it contains an input AND a calculation, so it needs two boxes (an input parallelogram followed by a process rectangle). Answers on the next slide: 1 B, 2 C, 3 D, 4 B, 5 E, 6 A, 7 B then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answers. Stress item 7: never combine an input and a calculation in one box; the flowchart must show that reading happens first. Also point out that the question mark in the decision text is a convention that makes the yes/no nature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Every pattern has exactly ONE entry arrow and ONE exit arrow; that is what allows patterns to be nested (a whole IF can be one "box" inside a loop). IF-THEN: the "no" exit skips the block. IF-THEN-ELSE: exactly one of A or B runs, then the two paths join. Colours follow Week 1: sequence ink, selection blue. Ask: in the IF-THEN pattern, what happens if we forget the join and draw A straight to End? (Then the "yes" path skips everything after the IF, a typical exam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only difference between an IF and a loop in a flowchart is the back-edge: an arrow from the end of the body back to a point ABOVE the decision. Pre-test (WHILE): condition first, so the body may run zero times. Post-test: body first, so it runs at least once; C# has do-while for this (Week 7). Our pseudocode convention only has WHILE and FOR; a FOR loop i ← 1 TO N is drawn as: i ← 1, decision i ≤ N, body, i ← i + 1, back-edge. Likely question: does the back-edge point into the decision or into the line above it? Either is accepted; we draw it into the line just above the diamond so the diamond keeps one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Week 1 exercise D. Do it live on the board: go line by line. START and END become terminals; READ and PRINT become parallelograms; the WHILE line becomes a diamond; END WHILE becomes the back-edge; the statement after END WHILE hangs on the "no" exit. Trace quickly for N = 3: prints 3, 2, 1, Go!. Edge case N = 0: the condition is false at once and only "Go!" is printed. Question: what if we forget N ← N − 1? Infinite loop printing the same number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 minutes in pairs. Hints if students are stuck: a diamond whose two exits join again later (no arrow going back up) is an IF; here the second IF sits inside the ELSE of the first one. Ask them to give three test inputs that together visit every box: one positive, one negative, and zero. Answer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decision sits on the "no" exit of the first, so the second IF goes inside the ELSE. There is no arrow going back up, so there is no loop. Tests 5, −3, 0 visit all three outputs. In Week 5 the same logic is written with else if (an "else-if ladder"). Common student error: writing three separate IFs (x &gt; 0, x &lt; 0, x = 0); that also works here but tests conditions that are already known, and it does not match this flowchart.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Put a finger on Start and follow the arrows; every time a box changes a variable, write a new value in the table. Trace for n = 20 gives 5. Ask the class what the chart computes: the number of doublings needed to reach at least n, i.e. the smallest k with 2^k ≥ n (for n ≥ 1). For n = 1000 the answer is 10 because 2^10 = 1024, the same 10 as the worst case of the halving guessing game from Week 1. Edge case: n = 1 prints 0 (the loop body never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Pure sequence: six boxes, no decisions, every box runs exactly once. Point at each C# line and name its box (comments say input/process/output). Formulas: area = width × height, perimeter = 2 × (width + height). Test: 4.5 by 3 gives 13.5 and 15. Discussion: what happens with a negative width? The algorithm happily prints a negative area; input validation needs selection (Part 3 continues). Syntax details (double, Parse, $"...") are Week 3 topics, do not explain them in depth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n is even exactly when n mod 2 = 0 (C#: n % 2 == 0). Both branches print, then join before End. Test with 14 (even), −7 (odd) and 0 (even). Why test == 0 and not == 1 for odd? In C# the remainder of a negative number is negative: −7 % 2 is −1, so a test "n % 2 == 1" would call −7 even. The IF-THEN version (one branch) was the absolute-value example, code folder 02_02.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specification says 50 is a pass, so the condition is grade ≥ 50 (C#: &gt;=). The boundary is where bugs hide: the test table deliberately includes 49.5 and exactly 50. Ask: what would change if someone wrote grade &gt; 50? Only the test with exactly 50 would reveal it. Invalid inputs such as 120 or −5 are not handled yet; validation comes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First compare a and b; the winner is then compared with c. Two different decisions can lead to "Print c", so both exits merge into one box, which keeps the chart at 9 symbols. Trace (4, 9, 7): a &gt; b? no, b &gt; c? yes, print 9. Ties: (8, 3, 8): a &gt; b yes, a &gt; c? 8 &gt; 8 is false, print c = 8, which is still correct because c equals the maximum. Warm-up for students who finish early: draw max of TWO numbers (one decision, two outputs). The C# of this method is in code/02_05_MaxOfThree (Method 1) and in the notes; it is a set of nested if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Same problem, different algorithm: keep "the largest so far" in max and let each new number challenge it. Two IF-THEN patterns in sequence, no nesting. This design scales: for 100 numbers it is the same two boxes inside a loop (Week 6), while the nested design would explode. The console shows the real program, which prints both methods so students can see they agree. Initialising max with a (not with 0) is what makes negative inputs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Gregorian rule: divisible by 4, except century years, which must be divisible by 400. The chart checks 4, then 100, then 400; the four outcomes merge into only two output boxes, drawn on the left (not leap) and right (leap) so no lines cross. Test the four classic years: 2024 leap, 2026 not, 1900 not (century, not divisible by 400), 2000 leap. The real program (code folder 02_06) prints the nested result and the single-condition result, and they agree for all four. Exercise for fast students: which of 2100, 2400 is a leap year? (2100 no, 2400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Week 1 algorithm 3, now as a chart. The loop is: decision i ≤ N, body (two process boxes), back-edge into the line above the decision. Initialisation happens once, BEFORE the back-edge target; a classic mistake is to draw the back-edge above "sum ← 0", which resets the sum every pass (infinite loop, since i is reset too). The C# while loop is the same shape. Runs: N = 100 gives 5050 = 100 × 101 / 2 (Gauss); N = 0 gives 0 because the body never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Identical shape to the sum; two changes: the accumulator starts at 1 (the neutral element of multiplication; starting at 0 would always give 0) and the body multiplies. 0! = 1 by definition, and the chart gives exactly that because the body never runs. Size: int holds up to 12! = 479 001 600; 13! = 6 227 020 800 is too big for int, so the program uses long, which holds up to 20! = 2 432 902 008 176 640 000. 21! ≈ 5.1 × 10^19 overflows even long (Week 6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Week 1 algorithm 5. The loop condition b ≠ 0 does not count anything; the loop ends because b strictly decreases (0 ≤ r &lt; b). Three process boxes in the body, in this order; ask what goes wrong if a ← b and b ← r are swapped (b ← r first, then a ← b copies the new b: both become r, result wrong). Trace (48, 18): 12, 6, 0, result 6. If a &lt; b the first pass swaps them automatically: (18, 48) also gives 6. Homework: trace (84, 36), result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Nesting in action: a two-way decision (higher / lower) sits inside the loop controlled by "guess = secret?". Both hint boxes return to the SAME input box, so there is one back-edge target. The secret is fixed to 37 in our version so everyone gets the same run; Week 7 replaces it by a random number. Trace: 50 → Lower!, 25 → Higher!, 37 → Correct!. Homework H3 adds a counter of guesses (two more process boxes: count ← 0 before the loop and count ← count + 1 after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input box is reached from two places (before the loop and from the back-edge), so in this C# version the ReadLine appears twice: once before while, once at the end of the body. Week 7 shows a do-while version that reads in one place. The if-else inside the loop is the inner diamond. while (guess != secret) is the outer diamond with its yes/no exits swapped: the loop continues while the guess is NOT equal. This is a very common conversion step: "exit when X" in a chart equals "while NOT X"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Week 1 exercise C, now as a flowchart. The first diamond validates the amount (positive and a multiple of 10); the second checks the balance. The two error messages join the main path at End. The five tests cover all three outputs plus two boundaries (withdraw the whole balance; amount 0 or negative). The C# version comes in Week 5 (decisions), so this example has no code folder project. Point out rule 6: the diamond text is precise, not "amount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Each panel breaks one of the eight rules. 1) A diamond with one exit: what happens when x ≤ 0? The chart does not say. 2) No End: the reader (and the grader) cannot tell whether the algorithm finishes. 3) The loop never changes i, so i ≤ N stays true forever: an infinite loop; in C# the program hangs and must be stopped with Ctrl+C. 4) Vague text: "calculate it" is not definite (Week 1 property); write the exact assignment. Ask students to redraw each fixed version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work, 3 to 4 minutes, then a vote A to D. Common wrong answer: 21 (students add every k and ignore the inner decision). 9 is the sum of the odd numbers 1 + 3 + 5 (swapped yes/no). Correct answer: 12 = 2 + 4 + 6. Full trace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even values of k reach the highlighted box. k takes the values 1 to 6 inside the loop; the test k ≤ n is evaluated 7 times (the 7th time it is false). The chart adds up the even numbers from 1 to n. Follow-up question: change one box so that it adds the odd numbers instead (answer: test k mod 2 = 1, or swap yes/no).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Exams are on paper: practise with pencil and eraser, and leave generous space between boxes. draw.io (diagrams.net) is free in the browser, has a Flowchart shape library and exports PNG/PDF. Flowgorithm is free (Windows) and can RUN a flowchart step by step with a variable-watch window, and show the same chart as source code in many languages, including C#; note that it adds its own "Declare" shape because variables must be declared (preview of Week 3). Mermaid (novel angle) turns plain text into a flowchart; GitHub and GitLab render it in Markdown files, and mermaid.live previews it in the browser. The Mermaid code on the slide is today's absolute-value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two exercises per pair so every structure is covered (e.g. A+D, B+E, C+F). For each: flowchart first, then pseudocode, then trace with two inputs, one normal and one edge case. Swap papers and check the neighbour's chart against the eight rules. Hints: B needs one decision; C needs two nested decisions (children under 12: 50 TL, 65 and over: 60 TL, otherwise 100 TL); D is a counter loop i ← 1 TO 10 printing n × i; E needs a counter AND an accumulator; F is example 9 plus two boxes. Solutions are in the instructor edition of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and H2 are on paper (photo to Telegram). H3: the counter version needs count ← 0 before the loop and count ← count + 1 right after "Read guess". H4 prepares Week 3: students only RUN the programs; understanding the syntax is next week's job. If dotnet run fails, the SDK is missing; see the Week 1 setup homework. Answer key for H2: GCD(84, 36) = 12 after 2 passes; GCD(17, 5): r = 2, then 1, then 0, result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draw the flowchart of "read two numbers and print their sum" on a sticky note or post it in Telegram. Next week we start writing real C#: every box you drew today becomes one or two lines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2</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Flowcharts and Their Symbols</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Basic flowchart examples · from pictures to pseudocode to a first look at C#</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txBody>
          <a:bodyPr/>
          <a:p/>
        </p:txBody>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txBody>
          <a:bodyPr/>
          <a:p/>
        </p:txBody>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txBody>
          <a:bodyPr/>
          <a:p/>
        </p:txBody>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txBody>
          <a:bodyPr/>
          <a:p/>
        </p:txBody>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draw --flowchart</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Start )</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Read x /</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&lt; x &lt; 0 ? &gt;</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 End )</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2 · 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Today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txBody>
          <a:bodyPr/>
          <a:p/>
        </p:txBody>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Name the symbols</a:t>
            </a:r>
            <a:endParaRPr lang="en-US" sz="1700" dirty="0"/>
          </a:p>
        </p:txBody>
      </p:sp>
      <p:sp>
        <p:nvSpPr>
          <p:cNvPr id="11" name="Text 7"/>
          <p:cNvSpPr txBox="1"/>
          <p:nvPr/>
        </p:nvSpPr>
        <p:spPr>
          <a:xfrm>
            <a:off x="77724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Recognise and draw the standard flowchart symbols (ISO 5807) and say what each one means.</a:t>
            </a:r>
            <a:endParaRPr lang="en-US" sz="1500" dirty="0"/>
          </a:p>
        </p:txBody>
      </p:sp>
      <p:sp>
        <p:nvSpPr>
          <p:cNvPr id="12" name="Shape 8"/>
          <p:cNvSpPr/>
          <p:nvPr/>
        </p:nvSpPr>
        <p:spPr>
          <a:xfrm>
            <a:off x="4297680" y="1600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13" name="Shape 9"/>
          <p:cNvSpPr/>
          <p:nvPr/>
        </p:nvSpPr>
        <p:spPr>
          <a:xfrm>
            <a:off x="4526280" y="1828800"/>
            <a:ext cx="566928" cy="566928"/>
          </a:xfrm>
          <a:prstGeom prst="ellipse">
            <a:avLst/>
          </a:prstGeom>
          <a:solidFill>
            <a:srgbClr val="14213D"/>
          </a:solidFill>
          <a:ln w="12700">
            <a:solidFill>
              <a:srgbClr val="14213D"/>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673681" y="1976201"/>
            <a:ext cx="272125" cy="272125"/>
          </a:xfrm>
          <a:prstGeom prst="rect">
            <a:avLst/>
          </a:prstGeom>
        </p:spPr>
      </p:pic>
      <p:sp>
        <p:nvSpPr>
          <p:cNvPr id="15" name="Text 10"/>
          <p:cNvSpPr txBox="1"/>
          <p:nvPr/>
        </p:nvSpPr>
        <p:spPr>
          <a:xfrm>
            <a:off x="521208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Follow the rules</a:t>
            </a:r>
            <a:endParaRPr lang="en-US" sz="1700" dirty="0"/>
          </a:p>
        </p:txBody>
      </p:sp>
      <p:sp>
        <p:nvSpPr>
          <p:cNvPr id="16" name="Text 11"/>
          <p:cNvSpPr txBox="1"/>
          <p:nvPr/>
        </p:nvSpPr>
        <p:spPr>
          <a:xfrm>
            <a:off x="452628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Apply the drawing rules: one Start, one End, two labelled exits per decision, arrows everywhere.</a:t>
            </a:r>
            <a:endParaRPr lang="en-US" sz="1500" dirty="0"/>
          </a:p>
        </p:txBody>
      </p:sp>
      <p:sp>
        <p:nvSpPr>
          <p:cNvPr id="17" name="Shape 12"/>
          <p:cNvSpPr/>
          <p:nvPr/>
        </p:nvSpPr>
        <p:spPr>
          <a:xfrm>
            <a:off x="8046720" y="1600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18" name="Shape 13"/>
          <p:cNvSpPr/>
          <p:nvPr/>
        </p:nvSpPr>
        <p:spPr>
          <a:xfrm>
            <a:off x="8275320" y="1828800"/>
            <a:ext cx="566928" cy="566928"/>
          </a:xfrm>
          <a:prstGeom prst="ellipse">
            <a:avLst/>
          </a:prstGeom>
          <a:solidFill>
            <a:srgbClr val="14213D"/>
          </a:solidFill>
          <a:ln w="12700">
            <a:solidFill>
              <a:srgbClr val="14213D"/>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8422721" y="1976201"/>
            <a:ext cx="272125" cy="272125"/>
          </a:xfrm>
          <a:prstGeom prst="rect">
            <a:avLst/>
          </a:prstGeom>
        </p:spPr>
      </p:pic>
      <p:sp>
        <p:nvSpPr>
          <p:cNvPr id="20" name="Text 14"/>
          <p:cNvSpPr txBox="1"/>
          <p:nvPr/>
        </p:nvSpPr>
        <p:spPr>
          <a:xfrm>
            <a:off x="8961120" y="1828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Spot the structures</a:t>
            </a:r>
            <a:endParaRPr lang="en-US" sz="1700" dirty="0"/>
          </a:p>
        </p:txBody>
      </p:sp>
      <p:sp>
        <p:nvSpPr>
          <p:cNvPr id="21" name="Text 15"/>
          <p:cNvSpPr txBox="1"/>
          <p:nvPr/>
        </p:nvSpPr>
        <p:spPr>
          <a:xfrm>
            <a:off x="8275320" y="2514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Recognise sequence, selection and repetition as flowchart patterns.</a:t>
            </a:r>
            <a:endParaRPr lang="en-US" sz="1500" dirty="0"/>
          </a:p>
        </p:txBody>
      </p:sp>
      <p:sp>
        <p:nvSpPr>
          <p:cNvPr id="22" name="Shape 16"/>
          <p:cNvSpPr/>
          <p:nvPr/>
        </p:nvSpPr>
        <p:spPr>
          <a:xfrm>
            <a:off x="548640" y="3886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Convert both ways</a:t>
            </a:r>
            <a:endParaRPr lang="en-US" sz="1700" dirty="0"/>
          </a:p>
        </p:txBody>
      </p:sp>
      <p:sp>
        <p:nvSpPr>
          <p:cNvPr id="26" name="Text 19"/>
          <p:cNvSpPr txBox="1"/>
          <p:nvPr/>
        </p:nvSpPr>
        <p:spPr>
          <a:xfrm>
            <a:off x="77724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Turn pseudocode into a flowchart and a flowchart into pseudocode.</a:t>
            </a:r>
            <a:endParaRPr lang="en-US" sz="1500" dirty="0"/>
          </a:p>
        </p:txBody>
      </p:sp>
      <p:sp>
        <p:nvSpPr>
          <p:cNvPr id="27" name="Shape 20"/>
          <p:cNvSpPr/>
          <p:nvPr/>
        </p:nvSpPr>
        <p:spPr>
          <a:xfrm>
            <a:off x="4297680" y="3886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28" name="Shape 21"/>
          <p:cNvSpPr/>
          <p:nvPr/>
        </p:nvSpPr>
        <p:spPr>
          <a:xfrm>
            <a:off x="4526280" y="4114800"/>
            <a:ext cx="566928" cy="566928"/>
          </a:xfrm>
          <a:prstGeom prst="ellipse">
            <a:avLst/>
          </a:prstGeom>
          <a:solidFill>
            <a:srgbClr val="14213D"/>
          </a:solidFill>
          <a:ln w="12700">
            <a:solidFill>
              <a:srgbClr val="14213D"/>
            </a:solidFill>
            <a:prstDash val="solid"/>
          </a:ln>
        </p:spPr>
        <p:txBody>
          <a:bodyPr/>
          <a:p/>
        </p:txBody>
      </p:sp>
      <p:pic>
        <p:nvPicPr>
          <p:cNvPr id="29" name="Image 4" descr="preencoded.png">    </p:cNvPr>
          <p:cNvPicPr>
            <a:picLocks noChangeAspect="1"/>
          </p:cNvPicPr>
          <p:nvPr/>
        </p:nvPicPr>
        <p:blipFill>
          <a:blip r:embed="rId5"/>
          <a:stretch>
            <a:fillRect/>
          </a:stretch>
        </p:blipFill>
        <p:spPr>
          <a:xfrm>
            <a:off x="4673681" y="4262201"/>
            <a:ext cx="272125" cy="272125"/>
          </a:xfrm>
          <a:prstGeom prst="rect">
            <a:avLst/>
          </a:prstGeom>
        </p:spPr>
      </p:pic>
      <p:sp>
        <p:nvSpPr>
          <p:cNvPr id="30" name="Text 22"/>
          <p:cNvSpPr txBox="1"/>
          <p:nvPr/>
        </p:nvSpPr>
        <p:spPr>
          <a:xfrm>
            <a:off x="521208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Trace a flowchart</a:t>
            </a:r>
            <a:endParaRPr lang="en-US" sz="1700" dirty="0"/>
          </a:p>
        </p:txBody>
      </p:sp>
      <p:sp>
        <p:nvSpPr>
          <p:cNvPr id="31" name="Text 23"/>
          <p:cNvSpPr txBox="1"/>
          <p:nvPr/>
        </p:nvSpPr>
        <p:spPr>
          <a:xfrm>
            <a:off x="452628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Execute a flowchart by hand with a trace table and predict its output.</a:t>
            </a:r>
            <a:endParaRPr lang="en-US" sz="1500" dirty="0"/>
          </a:p>
        </p:txBody>
      </p:sp>
      <p:sp>
        <p:nvSpPr>
          <p:cNvPr id="32" name="Shape 24"/>
          <p:cNvSpPr/>
          <p:nvPr/>
        </p:nvSpPr>
        <p:spPr>
          <a:xfrm>
            <a:off x="8046720" y="3886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33" name="Shape 25"/>
          <p:cNvSpPr/>
          <p:nvPr/>
        </p:nvSpPr>
        <p:spPr>
          <a:xfrm>
            <a:off x="8275320" y="4114800"/>
            <a:ext cx="566928" cy="566928"/>
          </a:xfrm>
          <a:prstGeom prst="ellipse">
            <a:avLst/>
          </a:prstGeom>
          <a:solidFill>
            <a:srgbClr val="14213D"/>
          </a:solidFill>
          <a:ln w="12700">
            <a:solidFill>
              <a:srgbClr val="14213D"/>
            </a:solidFill>
            <a:prstDash val="solid"/>
          </a:ln>
        </p:spPr>
        <p:txBody>
          <a:bodyPr/>
          <a:p/>
        </p:txBody>
      </p:sp>
      <p:pic>
        <p:nvPicPr>
          <p:cNvPr id="34" name="Image 5" descr="preencoded.png">    </p:cNvPr>
          <p:cNvPicPr>
            <a:picLocks noChangeAspect="1"/>
          </p:cNvPicPr>
          <p:nvPr/>
        </p:nvPicPr>
        <p:blipFill>
          <a:blip r:embed="rId6"/>
          <a:stretch>
            <a:fillRect/>
          </a:stretch>
        </p:blipFill>
        <p:spPr>
          <a:xfrm>
            <a:off x="8422721" y="4262201"/>
            <a:ext cx="272125" cy="272125"/>
          </a:xfrm>
          <a:prstGeom prst="rect">
            <a:avLst/>
          </a:prstGeom>
        </p:spPr>
      </p:pic>
      <p:sp>
        <p:nvSpPr>
          <p:cNvPr id="35" name="Text 26"/>
          <p:cNvSpPr txBox="1"/>
          <p:nvPr/>
        </p:nvSpPr>
        <p:spPr>
          <a:xfrm>
            <a:off x="896112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Map to C# (preview)</a:t>
            </a:r>
            <a:endParaRPr lang="en-US" sz="1700" dirty="0"/>
          </a:p>
        </p:txBody>
      </p:sp>
      <p:sp>
        <p:nvSpPr>
          <p:cNvPr id="36" name="Text 27"/>
          <p:cNvSpPr txBox="1"/>
          <p:nvPr/>
        </p:nvSpPr>
        <p:spPr>
          <a:xfrm>
            <a:off x="8275320" y="4800600"/>
            <a:ext cx="310896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See how each box becomes one or two lines of a C# program.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1 → WEEK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One Algorithm, Three Notations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548640" y="1572768"/>
            <a:ext cx="2743200" cy="329184"/>
          </a:xfrm>
          <a:prstGeom prst="rect">
            <a:avLst/>
          </a:prstGeom>
          <a:noFill/>
          <a:ln/>
        </p:spPr>
        <p:txBody>
          <a:bodyPr wrap="square" lIns="0" tIns="0" rIns="0" bIns="0" rtlCol="0" anchor="ctr"/>
          <a:lstStyle/>
          <a:p>
            <a:pPr indent="0" marL="0">
              <a:buNone/>
            </a:pPr>
            <a:r>
              <a:rPr lang="en-US" sz="1500" b="1" dirty="0">
                <a:solidFill>
                  <a:srgbClr val="5B6478"/>
                </a:solidFill>
                <a:latin typeface="Cambria" pitchFamily="34" charset="0"/>
                <a:ea typeface="Cambria" pitchFamily="34" charset="-122"/>
                <a:cs typeface="Cambria" pitchFamily="34" charset="-120"/>
              </a:rPr>
              <a:t>Week 1 · pseudocode</a:t>
            </a:r>
            <a:endParaRPr lang="en-US" sz="1500" dirty="0"/>
          </a:p>
        </p:txBody>
      </p:sp>
      <p:sp>
        <p:nvSpPr>
          <p:cNvPr id="8" name="Shape 5"/>
          <p:cNvSpPr/>
          <p:nvPr/>
        </p:nvSpPr>
        <p:spPr>
          <a:xfrm>
            <a:off x="548640" y="1938528"/>
            <a:ext cx="2743200" cy="3063240"/>
          </a:xfrm>
          <a:prstGeom prst="roundRect">
            <a:avLst>
              <a:gd name="adj" fmla="val 2667"/>
            </a:avLst>
          </a:prstGeom>
          <a:solidFill>
            <a:srgbClr val="F4F6FA"/>
          </a:solidFill>
          <a:ln w="9525">
            <a:solidFill>
              <a:srgbClr val="C9D0DD"/>
            </a:solidFill>
            <a:prstDash val="solid"/>
          </a:ln>
        </p:spPr>
        <p:txBody>
          <a:bodyPr/>
          <a:p/>
        </p:txBody>
      </p:sp>
      <p:sp>
        <p:nvSpPr>
          <p:cNvPr id="9" name="Text 6"/>
          <p:cNvSpPr txBox="1"/>
          <p:nvPr/>
        </p:nvSpPr>
        <p:spPr>
          <a:xfrm>
            <a:off x="731520" y="2075688"/>
            <a:ext cx="2377440" cy="2834640"/>
          </a:xfrm>
          <a:prstGeom prst="rect">
            <a:avLst/>
          </a:prstGeom>
          <a:noFill/>
          <a:ln/>
        </p:spPr>
        <p:txBody>
          <a:bodyPr wrap="square" lIns="0" tIns="0" rIns="0" bIns="0" rtlCol="0" anchor="t"/>
          <a:lstStyle/>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START</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x</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x &lt; 0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THEN</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x ← −x</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 IF</a:t>
            </a:r>
            <a:endParaRPr lang="en-US" sz="1500" dirty="0"/>
          </a:p>
          <a:p>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500" dirty="0">
                <a:solidFill>
                  <a:srgbClr val="14213D"/>
                </a:solidFill>
                <a:latin typeface="Courier New" pitchFamily="34" charset="0"/>
                <a:ea typeface="Courier New" pitchFamily="34" charset="-122"/>
                <a:cs typeface="Courier New" pitchFamily="34" charset="-120"/>
              </a:rPr>
              <a:t> x</a:t>
            </a:r>
            <a:endParaRPr lang="en-US" sz="1500" dirty="0"/>
          </a:p>
          <a:p>
            <a:pPr indent="0" marL="0">
              <a:spcAft>
                <a:spcPts val="100"/>
              </a:spcAft>
              <a:buNone/>
            </a:pPr>
            <a:r>
              <a:rPr lang="en-US" sz="1500" b="1" dirty="0">
                <a:solidFill>
                  <a:srgbClr val="2F6FB3"/>
                </a:solidFill>
                <a:latin typeface="Courier New" pitchFamily="34" charset="0"/>
                <a:ea typeface="Courier New" pitchFamily="34" charset="-122"/>
                <a:cs typeface="Courier New" pitchFamily="34" charset="-120"/>
              </a:rPr>
              <a:t>END</a:t>
            </a:r>
            <a:endParaRPr lang="en-US" sz="1500" dirty="0"/>
          </a:p>
        </p:txBody>
      </p:sp>
      <p:sp>
        <p:nvSpPr>
          <p:cNvPr id="10" name="Text 7"/>
          <p:cNvSpPr txBox="1"/>
          <p:nvPr/>
        </p:nvSpPr>
        <p:spPr>
          <a:xfrm>
            <a:off x="3611880" y="1572768"/>
            <a:ext cx="3108960" cy="329184"/>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Week 2 · flowchart</a:t>
            </a:r>
            <a:endParaRPr lang="en-US" sz="1500" dirty="0"/>
          </a:p>
        </p:txBody>
      </p:sp>
      <p:sp>
        <p:nvSpPr>
          <p:cNvPr id="11" name="Shape 8"/>
          <p:cNvSpPr/>
          <p:nvPr/>
        </p:nvSpPr>
        <p:spPr>
          <a:xfrm>
            <a:off x="3749040" y="1938528"/>
            <a:ext cx="1188720" cy="384048"/>
          </a:xfrm>
          <a:prstGeom prst="flowChartTerminator">
            <a:avLst/>
          </a:prstGeom>
          <a:solidFill>
            <a:srgbClr val="FFF1D6"/>
          </a:solidFill>
          <a:ln w="15875">
            <a:solidFill>
              <a:srgbClr val="14213D"/>
            </a:solidFill>
            <a:prstDash val="solid"/>
          </a:ln>
        </p:spPr>
        <p:txBody>
          <a:bodyPr/>
          <a:p/>
        </p:txBody>
      </p:sp>
      <p:sp>
        <p:nvSpPr>
          <p:cNvPr id="12" name="Text 9"/>
          <p:cNvSpPr txBox="1"/>
          <p:nvPr/>
        </p:nvSpPr>
        <p:spPr>
          <a:xfrm>
            <a:off x="3794760" y="1938528"/>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13" name="Shape 10"/>
          <p:cNvSpPr/>
          <p:nvPr/>
        </p:nvSpPr>
        <p:spPr>
          <a:xfrm>
            <a:off x="3611880" y="2523744"/>
            <a:ext cx="1463040" cy="420624"/>
          </a:xfrm>
          <a:prstGeom prst="flowChartInputOutput">
            <a:avLst/>
          </a:prstGeom>
          <a:solidFill>
            <a:srgbClr val="FFFFFF"/>
          </a:solidFill>
          <a:ln w="15875">
            <a:solidFill>
              <a:srgbClr val="14213D"/>
            </a:solidFill>
            <a:prstDash val="solid"/>
          </a:ln>
        </p:spPr>
        <p:txBody>
          <a:bodyPr/>
          <a:p/>
        </p:txBody>
      </p:sp>
      <p:sp>
        <p:nvSpPr>
          <p:cNvPr id="14" name="Text 11"/>
          <p:cNvSpPr txBox="1"/>
          <p:nvPr/>
        </p:nvSpPr>
        <p:spPr>
          <a:xfrm>
            <a:off x="3657600" y="2523744"/>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x</a:t>
            </a:r>
            <a:endParaRPr lang="en-US" sz="1300" dirty="0"/>
          </a:p>
        </p:txBody>
      </p:sp>
      <p:sp>
        <p:nvSpPr>
          <p:cNvPr id="15" name="Shape 12"/>
          <p:cNvSpPr/>
          <p:nvPr/>
        </p:nvSpPr>
        <p:spPr>
          <a:xfrm>
            <a:off x="3611880" y="3209544"/>
            <a:ext cx="1463040" cy="713232"/>
          </a:xfrm>
          <a:prstGeom prst="flowChartDecision">
            <a:avLst/>
          </a:prstGeom>
          <a:solidFill>
            <a:srgbClr val="E3ECF8"/>
          </a:solidFill>
          <a:ln w="15875">
            <a:solidFill>
              <a:srgbClr val="14213D"/>
            </a:solidFill>
            <a:prstDash val="solid"/>
          </a:ln>
        </p:spPr>
        <p:txBody>
          <a:bodyPr/>
          <a:p/>
        </p:txBody>
      </p:sp>
      <p:sp>
        <p:nvSpPr>
          <p:cNvPr id="16" name="Text 13"/>
          <p:cNvSpPr txBox="1"/>
          <p:nvPr/>
        </p:nvSpPr>
        <p:spPr>
          <a:xfrm>
            <a:off x="3657600" y="3209544"/>
            <a:ext cx="1371600" cy="71323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&lt; 0 ?</a:t>
            </a:r>
            <a:endParaRPr lang="en-US" sz="1300" dirty="0"/>
          </a:p>
        </p:txBody>
      </p:sp>
      <p:sp>
        <p:nvSpPr>
          <p:cNvPr id="17" name="Shape 14"/>
          <p:cNvSpPr/>
          <p:nvPr/>
        </p:nvSpPr>
        <p:spPr>
          <a:xfrm>
            <a:off x="5577840" y="3355848"/>
            <a:ext cx="1005840" cy="420624"/>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5623560" y="3355848"/>
            <a:ext cx="9144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 −x</a:t>
            </a:r>
            <a:endParaRPr lang="en-US" sz="1300" dirty="0"/>
          </a:p>
        </p:txBody>
      </p:sp>
      <p:sp>
        <p:nvSpPr>
          <p:cNvPr id="19" name="Shape 16"/>
          <p:cNvSpPr/>
          <p:nvPr/>
        </p:nvSpPr>
        <p:spPr>
          <a:xfrm>
            <a:off x="3611880" y="4224528"/>
            <a:ext cx="1463040" cy="420624"/>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3657600" y="422452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x</a:t>
            </a:r>
            <a:endParaRPr lang="en-US" sz="1300" dirty="0"/>
          </a:p>
        </p:txBody>
      </p:sp>
      <p:sp>
        <p:nvSpPr>
          <p:cNvPr id="21" name="Shape 18"/>
          <p:cNvSpPr/>
          <p:nvPr/>
        </p:nvSpPr>
        <p:spPr>
          <a:xfrm>
            <a:off x="3749040" y="4855464"/>
            <a:ext cx="1188720" cy="384048"/>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3794760" y="4855464"/>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4343400" y="2322576"/>
            <a:ext cx="0" cy="201168"/>
          </a:xfrm>
          <a:prstGeom prst="line">
            <a:avLst/>
          </a:prstGeom>
          <a:noFill/>
          <a:ln w="15875">
            <a:solidFill>
              <a:srgbClr val="14213D"/>
            </a:solidFill>
            <a:prstDash val="solid"/>
            <a:tailEnd type="triangle"/>
          </a:ln>
        </p:spPr>
        <p:txBody>
          <a:bodyPr/>
          <a:p/>
        </p:txBody>
      </p:sp>
      <p:sp>
        <p:nvSpPr>
          <p:cNvPr id="24" name="Shape 21"/>
          <p:cNvSpPr/>
          <p:nvPr/>
        </p:nvSpPr>
        <p:spPr>
          <a:xfrm>
            <a:off x="4343400" y="2944368"/>
            <a:ext cx="0" cy="265176"/>
          </a:xfrm>
          <a:prstGeom prst="line">
            <a:avLst/>
          </a:prstGeom>
          <a:noFill/>
          <a:ln w="15875">
            <a:solidFill>
              <a:srgbClr val="14213D"/>
            </a:solidFill>
            <a:prstDash val="solid"/>
            <a:tailEnd type="triangle"/>
          </a:ln>
        </p:spPr>
        <p:txBody>
          <a:bodyPr/>
          <a:p/>
        </p:txBody>
      </p:sp>
      <p:sp>
        <p:nvSpPr>
          <p:cNvPr id="25" name="Shape 22"/>
          <p:cNvSpPr/>
          <p:nvPr/>
        </p:nvSpPr>
        <p:spPr>
          <a:xfrm>
            <a:off x="5074920" y="3566160"/>
            <a:ext cx="502920" cy="0"/>
          </a:xfrm>
          <a:prstGeom prst="line">
            <a:avLst/>
          </a:prstGeom>
          <a:noFill/>
          <a:ln w="15875">
            <a:solidFill>
              <a:srgbClr val="14213D"/>
            </a:solidFill>
            <a:prstDash val="solid"/>
            <a:tailEnd type="triangle"/>
          </a:ln>
        </p:spPr>
        <p:txBody>
          <a:bodyPr/>
          <a:p/>
        </p:txBody>
      </p:sp>
      <p:sp>
        <p:nvSpPr>
          <p:cNvPr id="26" name="Text 23"/>
          <p:cNvSpPr txBox="1"/>
          <p:nvPr/>
        </p:nvSpPr>
        <p:spPr>
          <a:xfrm>
            <a:off x="5120640" y="331927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7" name="Shape 24"/>
          <p:cNvSpPr/>
          <p:nvPr/>
        </p:nvSpPr>
        <p:spPr>
          <a:xfrm>
            <a:off x="4343400" y="3922776"/>
            <a:ext cx="0" cy="301752"/>
          </a:xfrm>
          <a:prstGeom prst="line">
            <a:avLst/>
          </a:prstGeom>
          <a:noFill/>
          <a:ln w="15875">
            <a:solidFill>
              <a:srgbClr val="14213D"/>
            </a:solidFill>
            <a:prstDash val="solid"/>
            <a:tailEnd type="triangle"/>
          </a:ln>
        </p:spPr>
        <p:txBody>
          <a:bodyPr/>
          <a:p/>
        </p:txBody>
      </p:sp>
      <p:sp>
        <p:nvSpPr>
          <p:cNvPr id="28" name="Text 25"/>
          <p:cNvSpPr txBox="1"/>
          <p:nvPr/>
        </p:nvSpPr>
        <p:spPr>
          <a:xfrm>
            <a:off x="4407408" y="3904488"/>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9" name="Shape 26"/>
          <p:cNvSpPr/>
          <p:nvPr/>
        </p:nvSpPr>
        <p:spPr>
          <a:xfrm>
            <a:off x="6080760" y="3776472"/>
            <a:ext cx="0" cy="658368"/>
          </a:xfrm>
          <a:prstGeom prst="line">
            <a:avLst/>
          </a:prstGeom>
          <a:noFill/>
          <a:ln w="15875">
            <a:solidFill>
              <a:srgbClr val="14213D"/>
            </a:solidFill>
            <a:prstDash val="solid"/>
          </a:ln>
        </p:spPr>
        <p:txBody>
          <a:bodyPr/>
          <a:p/>
        </p:txBody>
      </p:sp>
      <p:sp>
        <p:nvSpPr>
          <p:cNvPr id="30" name="Shape 27"/>
          <p:cNvSpPr/>
          <p:nvPr/>
        </p:nvSpPr>
        <p:spPr>
          <a:xfrm flipH="1">
            <a:off x="4928616" y="4434840"/>
            <a:ext cx="1152144" cy="0"/>
          </a:xfrm>
          <a:prstGeom prst="line">
            <a:avLst/>
          </a:prstGeom>
          <a:noFill/>
          <a:ln w="15875">
            <a:solidFill>
              <a:srgbClr val="14213D"/>
            </a:solidFill>
            <a:prstDash val="solid"/>
            <a:tailEnd type="triangle"/>
          </a:ln>
        </p:spPr>
        <p:txBody>
          <a:bodyPr/>
          <a:p/>
        </p:txBody>
      </p:sp>
      <p:sp>
        <p:nvSpPr>
          <p:cNvPr id="31" name="Shape 28"/>
          <p:cNvSpPr/>
          <p:nvPr/>
        </p:nvSpPr>
        <p:spPr>
          <a:xfrm>
            <a:off x="4343400" y="4645152"/>
            <a:ext cx="0" cy="210312"/>
          </a:xfrm>
          <a:prstGeom prst="line">
            <a:avLst/>
          </a:prstGeom>
          <a:noFill/>
          <a:ln w="15875">
            <a:solidFill>
              <a:srgbClr val="14213D"/>
            </a:solidFill>
            <a:prstDash val="solid"/>
            <a:tailEnd type="triangle"/>
          </a:ln>
        </p:spPr>
        <p:txBody>
          <a:bodyPr/>
          <a:p/>
        </p:txBody>
      </p:sp>
      <p:sp>
        <p:nvSpPr>
          <p:cNvPr id="32" name="Text 29"/>
          <p:cNvSpPr txBox="1"/>
          <p:nvPr/>
        </p:nvSpPr>
        <p:spPr>
          <a:xfrm>
            <a:off x="7086600" y="1572768"/>
            <a:ext cx="4572000" cy="329184"/>
          </a:xfrm>
          <a:prstGeom prst="rect">
            <a:avLst/>
          </a:prstGeom>
          <a:noFill/>
          <a:ln/>
        </p:spPr>
        <p:txBody>
          <a:bodyPr wrap="square" lIns="0" tIns="0" rIns="0" bIns="0" rtlCol="0" anchor="ctr"/>
          <a:lstStyle/>
          <a:p>
            <a:pPr indent="0" marL="0">
              <a:buNone/>
            </a:pPr>
            <a:r>
              <a:rPr lang="en-US" sz="1500" b="1" dirty="0">
                <a:solidFill>
                  <a:srgbClr val="5B6478"/>
                </a:solidFill>
                <a:latin typeface="Cambria" pitchFamily="34" charset="0"/>
                <a:ea typeface="Cambria" pitchFamily="34" charset="-122"/>
                <a:cs typeface="Cambria" pitchFamily="34" charset="-120"/>
              </a:rPr>
              <a:t>Week 3+ · C# (02_02_AbsoluteValue)</a:t>
            </a:r>
            <a:endParaRPr lang="en-US" sz="1500" dirty="0"/>
          </a:p>
        </p:txBody>
      </p:sp>
      <p:sp>
        <p:nvSpPr>
          <p:cNvPr id="33" name="Shape 30"/>
          <p:cNvSpPr/>
          <p:nvPr/>
        </p:nvSpPr>
        <p:spPr>
          <a:xfrm>
            <a:off x="7086600" y="1938528"/>
            <a:ext cx="4572000" cy="3063240"/>
          </a:xfrm>
          <a:prstGeom prst="roundRect">
            <a:avLst>
              <a:gd name="adj" fmla="val 2985"/>
            </a:avLst>
          </a:prstGeom>
          <a:solidFill>
            <a:srgbClr val="0F1729"/>
          </a:solidFill>
          <a:ln w="12700">
            <a:solidFill>
              <a:srgbClr val="0F1729"/>
            </a:solidFill>
            <a:prstDash val="solid"/>
          </a:ln>
        </p:spPr>
        <p:txBody>
          <a:bodyPr/>
          <a:p/>
        </p:txBody>
      </p:sp>
      <p:sp>
        <p:nvSpPr>
          <p:cNvPr id="34" name="Text 31"/>
          <p:cNvSpPr txBox="1"/>
          <p:nvPr/>
        </p:nvSpPr>
        <p:spPr>
          <a:xfrm>
            <a:off x="7315200" y="2103120"/>
            <a:ext cx="4114800" cy="27889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"Enter a number: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$"Absolute value: {x}"</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5" name="Shape 32"/>
          <p:cNvSpPr/>
          <p:nvPr/>
        </p:nvSpPr>
        <p:spPr>
          <a:xfrm>
            <a:off x="548640" y="5349240"/>
            <a:ext cx="11109960" cy="731520"/>
          </a:xfrm>
          <a:prstGeom prst="roundRect">
            <a:avLst>
              <a:gd name="adj" fmla="val 15000"/>
            </a:avLst>
          </a:prstGeom>
          <a:solidFill>
            <a:srgbClr val="FFF6E3"/>
          </a:solidFill>
          <a:ln w="12700">
            <a:solidFill>
              <a:srgbClr val="FFF6E3"/>
            </a:solidFill>
            <a:prstDash val="solid"/>
          </a:ln>
        </p:spPr>
        <p:txBody>
          <a:bodyPr/>
          <a:p/>
        </p:txBody>
      </p:sp>
      <p:pic>
        <p:nvPicPr>
          <p:cNvPr id="36" name="Image 0" descr="preencoded.png">    </p:cNvPr>
          <p:cNvPicPr>
            <a:picLocks noChangeAspect="1"/>
          </p:cNvPicPr>
          <p:nvPr/>
        </p:nvPicPr>
        <p:blipFill>
          <a:blip r:embed="rId1"/>
          <a:stretch>
            <a:fillRect/>
          </a:stretch>
        </p:blipFill>
        <p:spPr>
          <a:xfrm>
            <a:off x="822960" y="5486400"/>
            <a:ext cx="457200" cy="457200"/>
          </a:xfrm>
          <a:prstGeom prst="rect">
            <a:avLst/>
          </a:prstGeom>
        </p:spPr>
      </p:pic>
      <p:sp>
        <p:nvSpPr>
          <p:cNvPr id="37" name="Text 33"/>
          <p:cNvSpPr txBox="1"/>
          <p:nvPr/>
        </p:nvSpPr>
        <p:spPr>
          <a:xfrm>
            <a:off x="1554480" y="5422392"/>
            <a:ext cx="9829800" cy="58521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Same steps, different clothes. </a:t>
            </a:r>
            <a:pPr indent="0" marL="0">
              <a:buNone/>
            </a:pPr>
            <a:r>
              <a:rPr lang="en-US" sz="1500" dirty="0">
                <a:solidFill>
                  <a:srgbClr val="333B4F"/>
                </a:solidFill>
                <a:latin typeface="Calibri" pitchFamily="34" charset="0"/>
                <a:ea typeface="Calibri" pitchFamily="34" charset="-122"/>
                <a:cs typeface="Calibri" pitchFamily="34" charset="-120"/>
              </a:rPr>
              <a:t>Pseudocode is quick to write, a flowchart shows the paths at a glance, C# can be run.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Flowchart Symbols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Six shapes, one kind of line — and the rules that make a chart readable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DEFINITION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Is a Flowchart?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5669280" cy="2240280"/>
          </a:xfrm>
          <a:prstGeom prst="roundRect">
            <a:avLst>
              <a:gd name="adj" fmla="val 4898"/>
            </a:avLst>
          </a:prstGeom>
          <a:solidFill>
            <a:srgbClr val="14213D"/>
          </a:solidFill>
          <a:ln w="12700">
            <a:solidFill>
              <a:srgbClr val="14213D"/>
            </a:solidFill>
            <a:prstDash val="solid"/>
          </a:ln>
        </p:spPr>
        <p:txBody>
          <a:bodyPr/>
          <a:p/>
        </p:txBody>
      </p:sp>
      <p:sp>
        <p:nvSpPr>
          <p:cNvPr id="8" name="Text 5"/>
          <p:cNvSpPr txBox="1"/>
          <p:nvPr/>
        </p:nvSpPr>
        <p:spPr>
          <a:xfrm>
            <a:off x="822960" y="1783080"/>
            <a:ext cx="5120640" cy="411480"/>
          </a:xfrm>
          <a:prstGeom prst="rect">
            <a:avLst/>
          </a:prstGeom>
          <a:noFill/>
          <a:ln/>
        </p:spPr>
        <p:txBody>
          <a:bodyPr wrap="square" lIns="0" tIns="0" rIns="0" bIns="0" rtlCol="0" anchor="ctr"/>
          <a:lstStyle/>
          <a:p>
            <a:pPr indent="0" marL="0">
              <a:buNone/>
            </a:pPr>
            <a:r>
              <a:rPr lang="en-US" sz="2200" b="1" dirty="0">
                <a:solidFill>
                  <a:srgbClr val="FCA311"/>
                </a:solidFill>
                <a:latin typeface="Cambria" pitchFamily="34" charset="0"/>
                <a:ea typeface="Cambria" pitchFamily="34" charset="-122"/>
                <a:cs typeface="Cambria" pitchFamily="34" charset="-120"/>
              </a:rPr>
              <a:t>Flowchart</a:t>
            </a:r>
            <a:endParaRPr lang="en-US" sz="2200" dirty="0"/>
          </a:p>
        </p:txBody>
      </p:sp>
      <p:sp>
        <p:nvSpPr>
          <p:cNvPr id="9" name="Text 6"/>
          <p:cNvSpPr txBox="1"/>
          <p:nvPr/>
        </p:nvSpPr>
        <p:spPr>
          <a:xfrm>
            <a:off x="822960" y="2240280"/>
            <a:ext cx="5120640" cy="1463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diagram of an algorithm: each shape is one step, and the shape tells you the kind of step. Arrows (flow lines) show the order in which the steps run.</a:t>
            </a:r>
            <a:endParaRPr lang="en-US" sz="1600" dirty="0"/>
          </a:p>
        </p:txBody>
      </p:sp>
      <p:sp>
        <p:nvSpPr>
          <p:cNvPr id="10" name="Shape 7"/>
          <p:cNvSpPr/>
          <p:nvPr/>
        </p:nvSpPr>
        <p:spPr>
          <a:xfrm>
            <a:off x="548640" y="4069080"/>
            <a:ext cx="502920" cy="502920"/>
          </a:xfrm>
          <a:prstGeom prst="ellipse">
            <a:avLst/>
          </a:prstGeom>
          <a:solidFill>
            <a:srgbClr val="FCA311"/>
          </a:solidFill>
          <a:ln w="12700">
            <a:solidFill>
              <a:srgbClr val="FCA311"/>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679399" y="4199839"/>
            <a:ext cx="241402" cy="241402"/>
          </a:xfrm>
          <a:prstGeom prst="rect">
            <a:avLst/>
          </a:prstGeom>
        </p:spPr>
      </p:pic>
      <p:sp>
        <p:nvSpPr>
          <p:cNvPr id="12" name="Text 8"/>
          <p:cNvSpPr txBox="1"/>
          <p:nvPr/>
        </p:nvSpPr>
        <p:spPr>
          <a:xfrm>
            <a:off x="1234440" y="4069080"/>
            <a:ext cx="4937760" cy="50292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Visual: branches and loops are easy to see.</a:t>
            </a:r>
            <a:endParaRPr lang="en-US" sz="1500" dirty="0"/>
          </a:p>
        </p:txBody>
      </p:sp>
      <p:sp>
        <p:nvSpPr>
          <p:cNvPr id="13" name="Shape 9"/>
          <p:cNvSpPr/>
          <p:nvPr/>
        </p:nvSpPr>
        <p:spPr>
          <a:xfrm>
            <a:off x="548640" y="4754880"/>
            <a:ext cx="502920" cy="502920"/>
          </a:xfrm>
          <a:prstGeom prst="ellipse">
            <a:avLst/>
          </a:prstGeom>
          <a:solidFill>
            <a:srgbClr val="FCA311"/>
          </a:solidFill>
          <a:ln w="12700">
            <a:solidFill>
              <a:srgbClr val="FCA311"/>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679399" y="4885639"/>
            <a:ext cx="241402" cy="241402"/>
          </a:xfrm>
          <a:prstGeom prst="rect">
            <a:avLst/>
          </a:prstGeom>
        </p:spPr>
      </p:pic>
      <p:sp>
        <p:nvSpPr>
          <p:cNvPr id="15" name="Text 10"/>
          <p:cNvSpPr txBox="1"/>
          <p:nvPr/>
        </p:nvSpPr>
        <p:spPr>
          <a:xfrm>
            <a:off x="1234440" y="4754880"/>
            <a:ext cx="4937760" cy="50292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Language-independent: anyone can read it.</a:t>
            </a:r>
            <a:endParaRPr lang="en-US" sz="1500" dirty="0"/>
          </a:p>
        </p:txBody>
      </p:sp>
      <p:sp>
        <p:nvSpPr>
          <p:cNvPr id="16" name="Shape 11"/>
          <p:cNvSpPr/>
          <p:nvPr/>
        </p:nvSpPr>
        <p:spPr>
          <a:xfrm>
            <a:off x="548640" y="5440680"/>
            <a:ext cx="502920" cy="502920"/>
          </a:xfrm>
          <a:prstGeom prst="ellipse">
            <a:avLst/>
          </a:prstGeom>
          <a:solidFill>
            <a:srgbClr val="FCA311"/>
          </a:solidFill>
          <a:ln w="12700">
            <a:solidFill>
              <a:srgbClr val="FCA311"/>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679399" y="5571439"/>
            <a:ext cx="241402" cy="241402"/>
          </a:xfrm>
          <a:prstGeom prst="rect">
            <a:avLst/>
          </a:prstGeom>
        </p:spPr>
      </p:pic>
      <p:sp>
        <p:nvSpPr>
          <p:cNvPr id="18" name="Text 12"/>
          <p:cNvSpPr txBox="1"/>
          <p:nvPr/>
        </p:nvSpPr>
        <p:spPr>
          <a:xfrm>
            <a:off x="1234440" y="5440680"/>
            <a:ext cx="4937760" cy="502920"/>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Exam tool: drawn by hand, like pseudocode.</a:t>
            </a:r>
            <a:endParaRPr lang="en-US" sz="1500" dirty="0"/>
          </a:p>
        </p:txBody>
      </p:sp>
      <p:sp>
        <p:nvSpPr>
          <p:cNvPr id="19" name="Text 13"/>
          <p:cNvSpPr txBox="1"/>
          <p:nvPr/>
        </p:nvSpPr>
        <p:spPr>
          <a:xfrm>
            <a:off x="6675120" y="1600200"/>
            <a:ext cx="4937760" cy="329184"/>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A short history</a:t>
            </a:r>
            <a:endParaRPr lang="en-US" sz="1800" dirty="0"/>
          </a:p>
        </p:txBody>
      </p:sp>
      <p:sp>
        <p:nvSpPr>
          <p:cNvPr id="20" name="Shape 14"/>
          <p:cNvSpPr/>
          <p:nvPr/>
        </p:nvSpPr>
        <p:spPr>
          <a:xfrm>
            <a:off x="6967728" y="2148840"/>
            <a:ext cx="0" cy="3703320"/>
          </a:xfrm>
          <a:prstGeom prst="line">
            <a:avLst/>
          </a:prstGeom>
          <a:noFill/>
          <a:ln w="25400">
            <a:solidFill>
              <a:srgbClr val="D5DAE3"/>
            </a:solidFill>
            <a:prstDash val="solid"/>
          </a:ln>
        </p:spPr>
        <p:txBody>
          <a:bodyPr/>
          <a:p/>
        </p:txBody>
      </p:sp>
      <p:sp>
        <p:nvSpPr>
          <p:cNvPr id="21" name="Shape 15"/>
          <p:cNvSpPr/>
          <p:nvPr/>
        </p:nvSpPr>
        <p:spPr>
          <a:xfrm>
            <a:off x="6858000" y="2194560"/>
            <a:ext cx="219456" cy="219456"/>
          </a:xfrm>
          <a:prstGeom prst="ellipse">
            <a:avLst/>
          </a:prstGeom>
          <a:solidFill>
            <a:srgbClr val="14213D"/>
          </a:solidFill>
          <a:ln w="19050">
            <a:solidFill>
              <a:srgbClr val="FFFFFF"/>
            </a:solidFill>
            <a:prstDash val="solid"/>
          </a:ln>
        </p:spPr>
        <p:txBody>
          <a:bodyPr/>
          <a:p/>
        </p:txBody>
      </p:sp>
      <p:sp>
        <p:nvSpPr>
          <p:cNvPr id="22" name="Text 16"/>
          <p:cNvSpPr txBox="1"/>
          <p:nvPr/>
        </p:nvSpPr>
        <p:spPr>
          <a:xfrm>
            <a:off x="7269480" y="2103120"/>
            <a:ext cx="777240" cy="411480"/>
          </a:xfrm>
          <a:prstGeom prst="rect">
            <a:avLst/>
          </a:prstGeom>
          <a:noFill/>
          <a:ln/>
        </p:spPr>
        <p:txBody>
          <a:bodyPr wrap="square" lIns="0" tIns="0" rIns="0" bIns="0" rtlCol="0" anchor="t"/>
          <a:lstStyle/>
          <a:p>
            <a:pPr indent="0" marL="0">
              <a:buNone/>
            </a:pPr>
            <a:r>
              <a:rPr lang="en-US" sz="1500" b="1" dirty="0">
                <a:solidFill>
                  <a:srgbClr val="14213D"/>
                </a:solidFill>
                <a:latin typeface="Courier New" pitchFamily="34" charset="0"/>
                <a:ea typeface="Courier New" pitchFamily="34" charset="-122"/>
                <a:cs typeface="Courier New" pitchFamily="34" charset="-120"/>
              </a:rPr>
              <a:t>1921</a:t>
            </a:r>
            <a:endParaRPr lang="en-US" sz="1500" dirty="0"/>
          </a:p>
        </p:txBody>
      </p:sp>
      <p:sp>
        <p:nvSpPr>
          <p:cNvPr id="23" name="Text 17"/>
          <p:cNvSpPr txBox="1"/>
          <p:nvPr/>
        </p:nvSpPr>
        <p:spPr>
          <a:xfrm>
            <a:off x="8046720" y="2103120"/>
            <a:ext cx="3611880" cy="7315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 &amp; L. Gilbreth present the “flow process chart” for factory work.</a:t>
            </a:r>
            <a:endParaRPr lang="en-US" sz="1400" dirty="0"/>
          </a:p>
        </p:txBody>
      </p:sp>
      <p:sp>
        <p:nvSpPr>
          <p:cNvPr id="24" name="Shape 18"/>
          <p:cNvSpPr/>
          <p:nvPr/>
        </p:nvSpPr>
        <p:spPr>
          <a:xfrm>
            <a:off x="6858000" y="2980944"/>
            <a:ext cx="219456" cy="219456"/>
          </a:xfrm>
          <a:prstGeom prst="ellipse">
            <a:avLst/>
          </a:prstGeom>
          <a:solidFill>
            <a:srgbClr val="14213D"/>
          </a:solidFill>
          <a:ln w="19050">
            <a:solidFill>
              <a:srgbClr val="FFFFFF"/>
            </a:solidFill>
            <a:prstDash val="solid"/>
          </a:ln>
        </p:spPr>
        <p:txBody>
          <a:bodyPr/>
          <a:p/>
        </p:txBody>
      </p:sp>
      <p:sp>
        <p:nvSpPr>
          <p:cNvPr id="25" name="Text 19"/>
          <p:cNvSpPr txBox="1"/>
          <p:nvPr/>
        </p:nvSpPr>
        <p:spPr>
          <a:xfrm>
            <a:off x="7269480" y="2889504"/>
            <a:ext cx="777240" cy="411480"/>
          </a:xfrm>
          <a:prstGeom prst="rect">
            <a:avLst/>
          </a:prstGeom>
          <a:noFill/>
          <a:ln/>
        </p:spPr>
        <p:txBody>
          <a:bodyPr wrap="square" lIns="0" tIns="0" rIns="0" bIns="0" rtlCol="0" anchor="t"/>
          <a:lstStyle/>
          <a:p>
            <a:pPr indent="0" marL="0">
              <a:buNone/>
            </a:pPr>
            <a:r>
              <a:rPr lang="en-US" sz="1500" b="1" dirty="0">
                <a:solidFill>
                  <a:srgbClr val="14213D"/>
                </a:solidFill>
                <a:latin typeface="Courier New" pitchFamily="34" charset="0"/>
                <a:ea typeface="Courier New" pitchFamily="34" charset="-122"/>
                <a:cs typeface="Courier New" pitchFamily="34" charset="-120"/>
              </a:rPr>
              <a:t>1947</a:t>
            </a:r>
            <a:endParaRPr lang="en-US" sz="1500" dirty="0"/>
          </a:p>
        </p:txBody>
      </p:sp>
      <p:sp>
        <p:nvSpPr>
          <p:cNvPr id="26" name="Text 20"/>
          <p:cNvSpPr txBox="1"/>
          <p:nvPr/>
        </p:nvSpPr>
        <p:spPr>
          <a:xfrm>
            <a:off x="8046720" y="2889504"/>
            <a:ext cx="3611880" cy="7315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Goldstine &amp; von Neumann plan computer programs with “flow diagrams”.</a:t>
            </a:r>
            <a:endParaRPr lang="en-US" sz="1400" dirty="0"/>
          </a:p>
        </p:txBody>
      </p:sp>
      <p:sp>
        <p:nvSpPr>
          <p:cNvPr id="27" name="Shape 21"/>
          <p:cNvSpPr/>
          <p:nvPr/>
        </p:nvSpPr>
        <p:spPr>
          <a:xfrm>
            <a:off x="6858000" y="3767328"/>
            <a:ext cx="219456" cy="219456"/>
          </a:xfrm>
          <a:prstGeom prst="ellipse">
            <a:avLst/>
          </a:prstGeom>
          <a:solidFill>
            <a:srgbClr val="14213D"/>
          </a:solidFill>
          <a:ln w="19050">
            <a:solidFill>
              <a:srgbClr val="FFFFFF"/>
            </a:solidFill>
            <a:prstDash val="solid"/>
          </a:ln>
        </p:spPr>
        <p:txBody>
          <a:bodyPr/>
          <a:p/>
        </p:txBody>
      </p:sp>
      <p:sp>
        <p:nvSpPr>
          <p:cNvPr id="28" name="Text 22"/>
          <p:cNvSpPr txBox="1"/>
          <p:nvPr/>
        </p:nvSpPr>
        <p:spPr>
          <a:xfrm>
            <a:off x="7269480" y="3675888"/>
            <a:ext cx="777240" cy="411480"/>
          </a:xfrm>
          <a:prstGeom prst="rect">
            <a:avLst/>
          </a:prstGeom>
          <a:noFill/>
          <a:ln/>
        </p:spPr>
        <p:txBody>
          <a:bodyPr wrap="square" lIns="0" tIns="0" rIns="0" bIns="0" rtlCol="0" anchor="t"/>
          <a:lstStyle/>
          <a:p>
            <a:pPr indent="0" marL="0">
              <a:buNone/>
            </a:pPr>
            <a:r>
              <a:rPr lang="en-US" sz="1500" b="1" dirty="0">
                <a:solidFill>
                  <a:srgbClr val="14213D"/>
                </a:solidFill>
                <a:latin typeface="Courier New" pitchFamily="34" charset="0"/>
                <a:ea typeface="Courier New" pitchFamily="34" charset="-122"/>
                <a:cs typeface="Courier New" pitchFamily="34" charset="-120"/>
              </a:rPr>
              <a:t>1970</a:t>
            </a:r>
            <a:endParaRPr lang="en-US" sz="1500" dirty="0"/>
          </a:p>
        </p:txBody>
      </p:sp>
      <p:sp>
        <p:nvSpPr>
          <p:cNvPr id="29" name="Text 23"/>
          <p:cNvSpPr txBox="1"/>
          <p:nvPr/>
        </p:nvSpPr>
        <p:spPr>
          <a:xfrm>
            <a:off x="8046720" y="3675888"/>
            <a:ext cx="3611880" cy="7315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ANSI X3.5 standardises the symbols in the USA.</a:t>
            </a:r>
            <a:endParaRPr lang="en-US" sz="1400" dirty="0"/>
          </a:p>
        </p:txBody>
      </p:sp>
      <p:sp>
        <p:nvSpPr>
          <p:cNvPr id="30" name="Shape 24"/>
          <p:cNvSpPr/>
          <p:nvPr/>
        </p:nvSpPr>
        <p:spPr>
          <a:xfrm>
            <a:off x="6858000" y="4553712"/>
            <a:ext cx="219456" cy="219456"/>
          </a:xfrm>
          <a:prstGeom prst="ellipse">
            <a:avLst/>
          </a:prstGeom>
          <a:solidFill>
            <a:srgbClr val="FCA311"/>
          </a:solidFill>
          <a:ln w="19050">
            <a:solidFill>
              <a:srgbClr val="FFFFFF"/>
            </a:solidFill>
            <a:prstDash val="solid"/>
          </a:ln>
        </p:spPr>
        <p:txBody>
          <a:bodyPr/>
          <a:p/>
        </p:txBody>
      </p:sp>
      <p:sp>
        <p:nvSpPr>
          <p:cNvPr id="31" name="Text 25"/>
          <p:cNvSpPr txBox="1"/>
          <p:nvPr/>
        </p:nvSpPr>
        <p:spPr>
          <a:xfrm>
            <a:off x="7269480" y="4462272"/>
            <a:ext cx="777240" cy="411480"/>
          </a:xfrm>
          <a:prstGeom prst="rect">
            <a:avLst/>
          </a:prstGeom>
          <a:noFill/>
          <a:ln/>
        </p:spPr>
        <p:txBody>
          <a:bodyPr wrap="square" lIns="0" tIns="0" rIns="0" bIns="0" rtlCol="0" anchor="t"/>
          <a:lstStyle/>
          <a:p>
            <a:pPr indent="0" marL="0">
              <a:buNone/>
            </a:pPr>
            <a:r>
              <a:rPr lang="en-US" sz="1500" b="1" dirty="0">
                <a:solidFill>
                  <a:srgbClr val="B7791F"/>
                </a:solidFill>
                <a:latin typeface="Courier New" pitchFamily="34" charset="0"/>
                <a:ea typeface="Courier New" pitchFamily="34" charset="-122"/>
                <a:cs typeface="Courier New" pitchFamily="34" charset="-120"/>
              </a:rPr>
              <a:t>1985</a:t>
            </a:r>
            <a:endParaRPr lang="en-US" sz="1500" dirty="0"/>
          </a:p>
        </p:txBody>
      </p:sp>
      <p:sp>
        <p:nvSpPr>
          <p:cNvPr id="32" name="Text 26"/>
          <p:cNvSpPr txBox="1"/>
          <p:nvPr/>
        </p:nvSpPr>
        <p:spPr>
          <a:xfrm>
            <a:off x="8046720" y="4462272"/>
            <a:ext cx="3611880" cy="7315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ISO 5807 — the international standard we follow.</a:t>
            </a:r>
            <a:endParaRPr lang="en-US" sz="1400" dirty="0"/>
          </a:p>
        </p:txBody>
      </p:sp>
      <p:sp>
        <p:nvSpPr>
          <p:cNvPr id="33" name="Shape 27"/>
          <p:cNvSpPr/>
          <p:nvPr/>
        </p:nvSpPr>
        <p:spPr>
          <a:xfrm>
            <a:off x="6858000" y="5340096"/>
            <a:ext cx="219456" cy="219456"/>
          </a:xfrm>
          <a:prstGeom prst="ellipse">
            <a:avLst/>
          </a:prstGeom>
          <a:solidFill>
            <a:srgbClr val="14213D"/>
          </a:solidFill>
          <a:ln w="19050">
            <a:solidFill>
              <a:srgbClr val="FFFFFF"/>
            </a:solidFill>
            <a:prstDash val="solid"/>
          </a:ln>
        </p:spPr>
        <p:txBody>
          <a:bodyPr/>
          <a:p/>
        </p:txBody>
      </p:sp>
      <p:sp>
        <p:nvSpPr>
          <p:cNvPr id="34" name="Text 28"/>
          <p:cNvSpPr txBox="1"/>
          <p:nvPr/>
        </p:nvSpPr>
        <p:spPr>
          <a:xfrm>
            <a:off x="7269480" y="5248656"/>
            <a:ext cx="777240" cy="411480"/>
          </a:xfrm>
          <a:prstGeom prst="rect">
            <a:avLst/>
          </a:prstGeom>
          <a:noFill/>
          <a:ln/>
        </p:spPr>
        <p:txBody>
          <a:bodyPr wrap="square" lIns="0" tIns="0" rIns="0" bIns="0" rtlCol="0" anchor="t"/>
          <a:lstStyle/>
          <a:p>
            <a:pPr indent="0" marL="0">
              <a:buNone/>
            </a:pPr>
            <a:r>
              <a:rPr lang="en-US" sz="1500" b="1" dirty="0">
                <a:solidFill>
                  <a:srgbClr val="14213D"/>
                </a:solidFill>
                <a:latin typeface="Courier New" pitchFamily="34" charset="0"/>
                <a:ea typeface="Courier New" pitchFamily="34" charset="-122"/>
                <a:cs typeface="Courier New" pitchFamily="34" charset="-120"/>
              </a:rPr>
              <a:t>today</a:t>
            </a:r>
            <a:endParaRPr lang="en-US" sz="1500" dirty="0"/>
          </a:p>
        </p:txBody>
      </p:sp>
      <p:sp>
        <p:nvSpPr>
          <p:cNvPr id="35" name="Text 29"/>
          <p:cNvSpPr txBox="1"/>
          <p:nvPr/>
        </p:nvSpPr>
        <p:spPr>
          <a:xfrm>
            <a:off x="8046720" y="5248656"/>
            <a:ext cx="3611880" cy="7315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UML activity diagrams, BPMN, Flowgorithm: same idea.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BUILDING BLOCKS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Six Basic Symbols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00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8" name="Shape 5"/>
          <p:cNvSpPr/>
          <p:nvPr/>
        </p:nvSpPr>
        <p:spPr>
          <a:xfrm>
            <a:off x="1417320" y="1901952"/>
            <a:ext cx="1828800" cy="530352"/>
          </a:xfrm>
          <a:prstGeom prst="flowChartTerminator">
            <a:avLst/>
          </a:prstGeom>
          <a:solidFill>
            <a:srgbClr val="FFF1D6"/>
          </a:solidFill>
          <a:ln w="15875">
            <a:solidFill>
              <a:srgbClr val="14213D"/>
            </a:solidFill>
            <a:prstDash val="solid"/>
          </a:ln>
        </p:spPr>
        <p:txBody>
          <a:bodyPr/>
          <a:p/>
        </p:txBody>
      </p:sp>
      <p:sp>
        <p:nvSpPr>
          <p:cNvPr id="9" name="Text 6"/>
          <p:cNvSpPr txBox="1"/>
          <p:nvPr/>
        </p:nvSpPr>
        <p:spPr>
          <a:xfrm>
            <a:off x="1463040" y="1901952"/>
            <a:ext cx="1737360" cy="530352"/>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Start</a:t>
            </a:r>
            <a:endParaRPr lang="en-US" sz="1400" dirty="0"/>
          </a:p>
        </p:txBody>
      </p:sp>
      <p:sp>
        <p:nvSpPr>
          <p:cNvPr id="10" name="Text 7"/>
          <p:cNvSpPr txBox="1"/>
          <p:nvPr/>
        </p:nvSpPr>
        <p:spPr>
          <a:xfrm>
            <a:off x="777240" y="2651760"/>
            <a:ext cx="3108960" cy="347472"/>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Terminal</a:t>
            </a:r>
            <a:endParaRPr lang="en-US" sz="1700" dirty="0"/>
          </a:p>
        </p:txBody>
      </p:sp>
      <p:sp>
        <p:nvSpPr>
          <p:cNvPr id="11" name="Text 8"/>
          <p:cNvSpPr txBox="1"/>
          <p:nvPr/>
        </p:nvSpPr>
        <p:spPr>
          <a:xfrm>
            <a:off x="777240" y="3017520"/>
            <a:ext cx="3108960" cy="59436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Start or End of the algorithm. One Start, one End.</a:t>
            </a:r>
            <a:endParaRPr lang="en-US" sz="1400" dirty="0"/>
          </a:p>
        </p:txBody>
      </p:sp>
      <p:sp>
        <p:nvSpPr>
          <p:cNvPr id="12" name="Shape 9"/>
          <p:cNvSpPr/>
          <p:nvPr/>
        </p:nvSpPr>
        <p:spPr>
          <a:xfrm>
            <a:off x="4297680" y="1600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13" name="Shape 10"/>
          <p:cNvSpPr/>
          <p:nvPr/>
        </p:nvSpPr>
        <p:spPr>
          <a:xfrm>
            <a:off x="5166360" y="1901952"/>
            <a:ext cx="1828800" cy="530352"/>
          </a:xfrm>
          <a:prstGeom prst="flowChartInputOutput">
            <a:avLst/>
          </a:prstGeom>
          <a:solidFill>
            <a:srgbClr val="FFFFFF"/>
          </a:solidFill>
          <a:ln w="15875">
            <a:solidFill>
              <a:srgbClr val="14213D"/>
            </a:solidFill>
            <a:prstDash val="solid"/>
          </a:ln>
        </p:spPr>
        <p:txBody>
          <a:bodyPr/>
          <a:p/>
        </p:txBody>
      </p:sp>
      <p:sp>
        <p:nvSpPr>
          <p:cNvPr id="14" name="Text 11"/>
          <p:cNvSpPr txBox="1"/>
          <p:nvPr/>
        </p:nvSpPr>
        <p:spPr>
          <a:xfrm>
            <a:off x="5212080" y="1901952"/>
            <a:ext cx="1737360" cy="530352"/>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Read x</a:t>
            </a:r>
            <a:endParaRPr lang="en-US" sz="1400" dirty="0"/>
          </a:p>
        </p:txBody>
      </p:sp>
      <p:sp>
        <p:nvSpPr>
          <p:cNvPr id="15" name="Text 12"/>
          <p:cNvSpPr txBox="1"/>
          <p:nvPr/>
        </p:nvSpPr>
        <p:spPr>
          <a:xfrm>
            <a:off x="4526280" y="2651760"/>
            <a:ext cx="3108960" cy="347472"/>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Input / Output</a:t>
            </a:r>
            <a:endParaRPr lang="en-US" sz="1700" dirty="0"/>
          </a:p>
        </p:txBody>
      </p:sp>
      <p:sp>
        <p:nvSpPr>
          <p:cNvPr id="16" name="Text 13"/>
          <p:cNvSpPr txBox="1"/>
          <p:nvPr/>
        </p:nvSpPr>
        <p:spPr>
          <a:xfrm>
            <a:off x="4526280" y="3017520"/>
            <a:ext cx="3108960" cy="59436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READ data from the keyboard or PRINT results.</a:t>
            </a:r>
            <a:endParaRPr lang="en-US" sz="1400" dirty="0"/>
          </a:p>
        </p:txBody>
      </p:sp>
      <p:sp>
        <p:nvSpPr>
          <p:cNvPr id="17" name="Shape 14"/>
          <p:cNvSpPr/>
          <p:nvPr/>
        </p:nvSpPr>
        <p:spPr>
          <a:xfrm>
            <a:off x="8046720" y="1600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18" name="Shape 15"/>
          <p:cNvSpPr/>
          <p:nvPr/>
        </p:nvSpPr>
        <p:spPr>
          <a:xfrm>
            <a:off x="8915400" y="1901952"/>
            <a:ext cx="1828800" cy="530352"/>
          </a:xfrm>
          <a:prstGeom prst="flowChartProcess">
            <a:avLst/>
          </a:prstGeom>
          <a:solidFill>
            <a:srgbClr val="FFFFFF"/>
          </a:solidFill>
          <a:ln w="15875">
            <a:solidFill>
              <a:srgbClr val="14213D"/>
            </a:solidFill>
            <a:prstDash val="solid"/>
          </a:ln>
        </p:spPr>
        <p:txBody>
          <a:bodyPr/>
          <a:p/>
        </p:txBody>
      </p:sp>
      <p:sp>
        <p:nvSpPr>
          <p:cNvPr id="19" name="Text 16"/>
          <p:cNvSpPr txBox="1"/>
          <p:nvPr/>
        </p:nvSpPr>
        <p:spPr>
          <a:xfrm>
            <a:off x="8961120" y="1901952"/>
            <a:ext cx="1737360" cy="530352"/>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sum ← sum + x</a:t>
            </a:r>
            <a:endParaRPr lang="en-US" sz="1400" dirty="0"/>
          </a:p>
        </p:txBody>
      </p:sp>
      <p:sp>
        <p:nvSpPr>
          <p:cNvPr id="20" name="Text 17"/>
          <p:cNvSpPr txBox="1"/>
          <p:nvPr/>
        </p:nvSpPr>
        <p:spPr>
          <a:xfrm>
            <a:off x="8275320" y="2651760"/>
            <a:ext cx="3108960" cy="347472"/>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Process</a:t>
            </a:r>
            <a:endParaRPr lang="en-US" sz="1700" dirty="0"/>
          </a:p>
        </p:txBody>
      </p:sp>
      <p:sp>
        <p:nvSpPr>
          <p:cNvPr id="21" name="Text 18"/>
          <p:cNvSpPr txBox="1"/>
          <p:nvPr/>
        </p:nvSpPr>
        <p:spPr>
          <a:xfrm>
            <a:off x="8275320" y="3017520"/>
            <a:ext cx="3108960" cy="59436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A calculation or assignment (←).</a:t>
            </a:r>
            <a:endParaRPr lang="en-US" sz="1400" dirty="0"/>
          </a:p>
        </p:txBody>
      </p:sp>
      <p:sp>
        <p:nvSpPr>
          <p:cNvPr id="22" name="Shape 19"/>
          <p:cNvSpPr/>
          <p:nvPr/>
        </p:nvSpPr>
        <p:spPr>
          <a:xfrm>
            <a:off x="548640" y="3886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23" name="Shape 20"/>
          <p:cNvSpPr/>
          <p:nvPr/>
        </p:nvSpPr>
        <p:spPr>
          <a:xfrm>
            <a:off x="1463040" y="4087368"/>
            <a:ext cx="1737360" cy="731520"/>
          </a:xfrm>
          <a:prstGeom prst="flowChartDecision">
            <a:avLst/>
          </a:prstGeom>
          <a:solidFill>
            <a:srgbClr val="E3ECF8"/>
          </a:solidFill>
          <a:ln w="15875">
            <a:solidFill>
              <a:srgbClr val="14213D"/>
            </a:solidFill>
            <a:prstDash val="solid"/>
          </a:ln>
        </p:spPr>
        <p:txBody>
          <a:bodyPr/>
          <a:p/>
        </p:txBody>
      </p:sp>
      <p:sp>
        <p:nvSpPr>
          <p:cNvPr id="24" name="Text 21"/>
          <p:cNvSpPr txBox="1"/>
          <p:nvPr/>
        </p:nvSpPr>
        <p:spPr>
          <a:xfrm>
            <a:off x="1508760" y="4087368"/>
            <a:ext cx="1645920" cy="73152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x &gt; 0 ?</a:t>
            </a:r>
            <a:endParaRPr lang="en-US" sz="1400" dirty="0"/>
          </a:p>
        </p:txBody>
      </p:sp>
      <p:sp>
        <p:nvSpPr>
          <p:cNvPr id="25" name="Text 22"/>
          <p:cNvSpPr txBox="1"/>
          <p:nvPr/>
        </p:nvSpPr>
        <p:spPr>
          <a:xfrm>
            <a:off x="777240" y="4937760"/>
            <a:ext cx="3108960" cy="347472"/>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Decision</a:t>
            </a:r>
            <a:endParaRPr lang="en-US" sz="1700" dirty="0"/>
          </a:p>
        </p:txBody>
      </p:sp>
      <p:sp>
        <p:nvSpPr>
          <p:cNvPr id="26" name="Text 23"/>
          <p:cNvSpPr txBox="1"/>
          <p:nvPr/>
        </p:nvSpPr>
        <p:spPr>
          <a:xfrm>
            <a:off x="777240" y="5303520"/>
            <a:ext cx="3108960" cy="59436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A yes/no question. Exactly two labelled exits.</a:t>
            </a:r>
            <a:endParaRPr lang="en-US" sz="1400" dirty="0"/>
          </a:p>
        </p:txBody>
      </p:sp>
      <p:sp>
        <p:nvSpPr>
          <p:cNvPr id="27" name="Shape 24"/>
          <p:cNvSpPr/>
          <p:nvPr/>
        </p:nvSpPr>
        <p:spPr>
          <a:xfrm>
            <a:off x="4297680" y="3886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28" name="Shape 25"/>
          <p:cNvSpPr/>
          <p:nvPr/>
        </p:nvSpPr>
        <p:spPr>
          <a:xfrm>
            <a:off x="5166360" y="4187952"/>
            <a:ext cx="1828800" cy="530352"/>
          </a:xfrm>
          <a:prstGeom prst="flowChartPredefinedProcess">
            <a:avLst/>
          </a:prstGeom>
          <a:solidFill>
            <a:srgbClr val="FFFFFF"/>
          </a:solidFill>
          <a:ln w="15875">
            <a:solidFill>
              <a:srgbClr val="14213D"/>
            </a:solidFill>
            <a:prstDash val="solid"/>
          </a:ln>
        </p:spPr>
        <p:txBody>
          <a:bodyPr/>
          <a:p/>
        </p:txBody>
      </p:sp>
      <p:sp>
        <p:nvSpPr>
          <p:cNvPr id="29" name="Text 26"/>
          <p:cNvSpPr txBox="1"/>
          <p:nvPr/>
        </p:nvSpPr>
        <p:spPr>
          <a:xfrm>
            <a:off x="5212080" y="4187952"/>
            <a:ext cx="1737360" cy="530352"/>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GCD(a, b)</a:t>
            </a:r>
            <a:endParaRPr lang="en-US" sz="1400" dirty="0"/>
          </a:p>
        </p:txBody>
      </p:sp>
      <p:sp>
        <p:nvSpPr>
          <p:cNvPr id="30" name="Text 27"/>
          <p:cNvSpPr txBox="1"/>
          <p:nvPr/>
        </p:nvSpPr>
        <p:spPr>
          <a:xfrm>
            <a:off x="4526280" y="4937760"/>
            <a:ext cx="3108960" cy="347472"/>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Predefined process</a:t>
            </a:r>
            <a:endParaRPr lang="en-US" sz="1700" dirty="0"/>
          </a:p>
        </p:txBody>
      </p:sp>
      <p:sp>
        <p:nvSpPr>
          <p:cNvPr id="31" name="Text 28"/>
          <p:cNvSpPr txBox="1"/>
          <p:nvPr/>
        </p:nvSpPr>
        <p:spPr>
          <a:xfrm>
            <a:off x="4526280" y="5303520"/>
            <a:ext cx="3108960" cy="59436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A named sub-algorithm defined elsewhere.</a:t>
            </a:r>
            <a:endParaRPr lang="en-US" sz="1400" dirty="0"/>
          </a:p>
        </p:txBody>
      </p:sp>
      <p:sp>
        <p:nvSpPr>
          <p:cNvPr id="32" name="Shape 29"/>
          <p:cNvSpPr/>
          <p:nvPr/>
        </p:nvSpPr>
        <p:spPr>
          <a:xfrm>
            <a:off x="8046720" y="3886200"/>
            <a:ext cx="3566160" cy="2103120"/>
          </a:xfrm>
          <a:prstGeom prst="roundRect">
            <a:avLst>
              <a:gd name="adj" fmla="val 5217"/>
            </a:avLst>
          </a:prstGeom>
          <a:solidFill>
            <a:srgbClr val="EEF1F6"/>
          </a:solidFill>
          <a:ln w="12700">
            <a:solidFill>
              <a:srgbClr val="EEF1F6"/>
            </a:solidFill>
            <a:prstDash val="solid"/>
          </a:ln>
        </p:spPr>
        <p:txBody>
          <a:bodyPr/>
          <a:p/>
        </p:txBody>
      </p:sp>
      <p:sp>
        <p:nvSpPr>
          <p:cNvPr id="33" name="Shape 30"/>
          <p:cNvSpPr/>
          <p:nvPr/>
        </p:nvSpPr>
        <p:spPr>
          <a:xfrm>
            <a:off x="9546336" y="4169664"/>
            <a:ext cx="566928" cy="566928"/>
          </a:xfrm>
          <a:prstGeom prst="flowChartConnector">
            <a:avLst/>
          </a:prstGeom>
          <a:solidFill>
            <a:srgbClr val="FFF1D6"/>
          </a:solidFill>
          <a:ln w="15875">
            <a:solidFill>
              <a:srgbClr val="14213D"/>
            </a:solidFill>
            <a:prstDash val="solid"/>
          </a:ln>
        </p:spPr>
        <p:txBody>
          <a:bodyPr/>
          <a:p/>
        </p:txBody>
      </p:sp>
      <p:sp>
        <p:nvSpPr>
          <p:cNvPr id="34" name="Text 31"/>
          <p:cNvSpPr txBox="1"/>
          <p:nvPr/>
        </p:nvSpPr>
        <p:spPr>
          <a:xfrm>
            <a:off x="9592056" y="4169664"/>
            <a:ext cx="475488" cy="566928"/>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A</a:t>
            </a:r>
            <a:endParaRPr lang="en-US" sz="1400" dirty="0"/>
          </a:p>
        </p:txBody>
      </p:sp>
      <p:sp>
        <p:nvSpPr>
          <p:cNvPr id="35" name="Text 32"/>
          <p:cNvSpPr txBox="1"/>
          <p:nvPr/>
        </p:nvSpPr>
        <p:spPr>
          <a:xfrm>
            <a:off x="8275320" y="4937760"/>
            <a:ext cx="3108960" cy="347472"/>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Connector</a:t>
            </a:r>
            <a:endParaRPr lang="en-US" sz="1700" dirty="0"/>
          </a:p>
        </p:txBody>
      </p:sp>
      <p:sp>
        <p:nvSpPr>
          <p:cNvPr id="36" name="Text 33"/>
          <p:cNvSpPr txBox="1"/>
          <p:nvPr/>
        </p:nvSpPr>
        <p:spPr>
          <a:xfrm>
            <a:off x="8275320" y="5303520"/>
            <a:ext cx="3108960" cy="59436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Joins flow lines or continues the chart at the same letter.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GLUE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Flow Lines, Connectors and Annotations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00200"/>
            <a:ext cx="3566160" cy="4480560"/>
          </a:xfrm>
          <a:prstGeom prst="roundRect">
            <a:avLst>
              <a:gd name="adj" fmla="val 3077"/>
            </a:avLst>
          </a:prstGeom>
          <a:solidFill>
            <a:srgbClr val="EEF1F6"/>
          </a:solidFill>
          <a:ln w="12700">
            <a:solidFill>
              <a:srgbClr val="EEF1F6"/>
            </a:solidFill>
            <a:prstDash val="solid"/>
          </a:ln>
        </p:spPr>
        <p:txBody>
          <a:bodyPr/>
          <a:p/>
        </p:txBody>
      </p:sp>
      <p:sp>
        <p:nvSpPr>
          <p:cNvPr id="8" name="Text 5"/>
          <p:cNvSpPr txBox="1"/>
          <p:nvPr/>
        </p:nvSpPr>
        <p:spPr>
          <a:xfrm>
            <a:off x="777240" y="1737360"/>
            <a:ext cx="3108960" cy="3291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Flow lines</a:t>
            </a:r>
            <a:endParaRPr lang="en-US" sz="1700" dirty="0"/>
          </a:p>
        </p:txBody>
      </p:sp>
      <p:sp>
        <p:nvSpPr>
          <p:cNvPr id="9" name="Shape 6"/>
          <p:cNvSpPr/>
          <p:nvPr/>
        </p:nvSpPr>
        <p:spPr>
          <a:xfrm>
            <a:off x="1554480" y="2304288"/>
            <a:ext cx="1554480" cy="420624"/>
          </a:xfrm>
          <a:prstGeom prst="flowChartProcess">
            <a:avLst/>
          </a:prstGeom>
          <a:solidFill>
            <a:srgbClr val="FFFFFF"/>
          </a:solidFill>
          <a:ln w="15875">
            <a:solidFill>
              <a:srgbClr val="14213D"/>
            </a:solidFill>
            <a:prstDash val="solid"/>
          </a:ln>
        </p:spPr>
        <p:txBody>
          <a:bodyPr/>
          <a:p/>
        </p:txBody>
      </p:sp>
      <p:sp>
        <p:nvSpPr>
          <p:cNvPr id="10" name="Text 7"/>
          <p:cNvSpPr txBox="1"/>
          <p:nvPr/>
        </p:nvSpPr>
        <p:spPr>
          <a:xfrm>
            <a:off x="1600200" y="2304288"/>
            <a:ext cx="14630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step 1</a:t>
            </a:r>
            <a:endParaRPr lang="en-US" sz="1300" dirty="0"/>
          </a:p>
        </p:txBody>
      </p:sp>
      <p:sp>
        <p:nvSpPr>
          <p:cNvPr id="11" name="Shape 8"/>
          <p:cNvSpPr/>
          <p:nvPr/>
        </p:nvSpPr>
        <p:spPr>
          <a:xfrm>
            <a:off x="1554480" y="3218688"/>
            <a:ext cx="1554480" cy="420624"/>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600200" y="3218688"/>
            <a:ext cx="14630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step 2</a:t>
            </a:r>
            <a:endParaRPr lang="en-US" sz="1300" dirty="0"/>
          </a:p>
        </p:txBody>
      </p:sp>
      <p:sp>
        <p:nvSpPr>
          <p:cNvPr id="13" name="Shape 10"/>
          <p:cNvSpPr/>
          <p:nvPr/>
        </p:nvSpPr>
        <p:spPr>
          <a:xfrm>
            <a:off x="2331720" y="2724912"/>
            <a:ext cx="0" cy="493776"/>
          </a:xfrm>
          <a:prstGeom prst="line">
            <a:avLst/>
          </a:prstGeom>
          <a:noFill/>
          <a:ln w="15875">
            <a:solidFill>
              <a:srgbClr val="14213D"/>
            </a:solidFill>
            <a:prstDash val="solid"/>
            <a:tailEnd type="triangle"/>
          </a:ln>
        </p:spPr>
        <p:txBody>
          <a:bodyPr/>
          <a:p/>
        </p:txBody>
      </p:sp>
      <p:sp>
        <p:nvSpPr>
          <p:cNvPr id="14" name="Shape 11"/>
          <p:cNvSpPr/>
          <p:nvPr/>
        </p:nvSpPr>
        <p:spPr>
          <a:xfrm>
            <a:off x="822960" y="4178808"/>
            <a:ext cx="1188720" cy="420624"/>
          </a:xfrm>
          <a:prstGeom prst="flowChartProcess">
            <a:avLst/>
          </a:prstGeom>
          <a:solidFill>
            <a:srgbClr val="FFFFFF"/>
          </a:solidFill>
          <a:ln w="15875">
            <a:solidFill>
              <a:srgbClr val="14213D"/>
            </a:solidFill>
            <a:prstDash val="solid"/>
          </a:ln>
        </p:spPr>
        <p:txBody>
          <a:bodyPr/>
          <a:p/>
        </p:txBody>
      </p:sp>
      <p:sp>
        <p:nvSpPr>
          <p:cNvPr id="15" name="Text 12"/>
          <p:cNvSpPr txBox="1"/>
          <p:nvPr/>
        </p:nvSpPr>
        <p:spPr>
          <a:xfrm>
            <a:off x="868680" y="4178808"/>
            <a:ext cx="109728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step 3</a:t>
            </a:r>
            <a:endParaRPr lang="en-US" sz="1300" dirty="0"/>
          </a:p>
        </p:txBody>
      </p:sp>
      <p:sp>
        <p:nvSpPr>
          <p:cNvPr id="16" name="Shape 13"/>
          <p:cNvSpPr/>
          <p:nvPr/>
        </p:nvSpPr>
        <p:spPr>
          <a:xfrm>
            <a:off x="2651760" y="4178808"/>
            <a:ext cx="1188720" cy="420624"/>
          </a:xfrm>
          <a:prstGeom prst="flowChartProcess">
            <a:avLst/>
          </a:prstGeom>
          <a:solidFill>
            <a:srgbClr val="FFFFFF"/>
          </a:solidFill>
          <a:ln w="15875">
            <a:solidFill>
              <a:srgbClr val="14213D"/>
            </a:solidFill>
            <a:prstDash val="solid"/>
          </a:ln>
        </p:spPr>
        <p:txBody>
          <a:bodyPr/>
          <a:p/>
        </p:txBody>
      </p:sp>
      <p:sp>
        <p:nvSpPr>
          <p:cNvPr id="17" name="Text 14"/>
          <p:cNvSpPr txBox="1"/>
          <p:nvPr/>
        </p:nvSpPr>
        <p:spPr>
          <a:xfrm>
            <a:off x="2697480" y="4178808"/>
            <a:ext cx="109728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step 4</a:t>
            </a:r>
            <a:endParaRPr lang="en-US" sz="1300" dirty="0"/>
          </a:p>
        </p:txBody>
      </p:sp>
      <p:sp>
        <p:nvSpPr>
          <p:cNvPr id="18" name="Shape 15"/>
          <p:cNvSpPr/>
          <p:nvPr/>
        </p:nvSpPr>
        <p:spPr>
          <a:xfrm>
            <a:off x="2011680" y="4389120"/>
            <a:ext cx="640080" cy="0"/>
          </a:xfrm>
          <a:prstGeom prst="line">
            <a:avLst/>
          </a:prstGeom>
          <a:noFill/>
          <a:ln w="15875">
            <a:solidFill>
              <a:srgbClr val="14213D"/>
            </a:solidFill>
            <a:prstDash val="solid"/>
            <a:tailEnd type="triangle"/>
          </a:ln>
        </p:spPr>
        <p:txBody>
          <a:bodyPr/>
          <a:p/>
        </p:txBody>
      </p:sp>
      <p:sp>
        <p:nvSpPr>
          <p:cNvPr id="19" name="Text 16"/>
          <p:cNvSpPr txBox="1"/>
          <p:nvPr/>
        </p:nvSpPr>
        <p:spPr>
          <a:xfrm>
            <a:off x="777240" y="4892040"/>
            <a:ext cx="3108960" cy="109728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Top → bottom, left → right. Always draw the arrowhead: loops flow upwards.</a:t>
            </a:r>
            <a:endParaRPr lang="en-US" sz="1300" dirty="0"/>
          </a:p>
        </p:txBody>
      </p:sp>
      <p:sp>
        <p:nvSpPr>
          <p:cNvPr id="20" name="Shape 17"/>
          <p:cNvSpPr/>
          <p:nvPr/>
        </p:nvSpPr>
        <p:spPr>
          <a:xfrm>
            <a:off x="4315968" y="1600200"/>
            <a:ext cx="3566160" cy="4480560"/>
          </a:xfrm>
          <a:prstGeom prst="roundRect">
            <a:avLst>
              <a:gd name="adj" fmla="val 3077"/>
            </a:avLst>
          </a:prstGeom>
          <a:solidFill>
            <a:srgbClr val="EEF1F6"/>
          </a:solidFill>
          <a:ln w="12700">
            <a:solidFill>
              <a:srgbClr val="EEF1F6"/>
            </a:solidFill>
            <a:prstDash val="solid"/>
          </a:ln>
        </p:spPr>
        <p:txBody>
          <a:bodyPr/>
          <a:p/>
        </p:txBody>
      </p:sp>
      <p:sp>
        <p:nvSpPr>
          <p:cNvPr id="21" name="Text 18"/>
          <p:cNvSpPr txBox="1"/>
          <p:nvPr/>
        </p:nvSpPr>
        <p:spPr>
          <a:xfrm>
            <a:off x="4544568" y="1737360"/>
            <a:ext cx="3108960" cy="3291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Connectors</a:t>
            </a:r>
            <a:endParaRPr lang="en-US" sz="1700" dirty="0"/>
          </a:p>
        </p:txBody>
      </p:sp>
      <p:sp>
        <p:nvSpPr>
          <p:cNvPr id="22" name="Shape 19"/>
          <p:cNvSpPr/>
          <p:nvPr/>
        </p:nvSpPr>
        <p:spPr>
          <a:xfrm>
            <a:off x="4709160" y="2304288"/>
            <a:ext cx="1371600" cy="420624"/>
          </a:xfrm>
          <a:prstGeom prst="flowChartProcess">
            <a:avLst/>
          </a:prstGeom>
          <a:solidFill>
            <a:srgbClr val="FFFFFF"/>
          </a:solidFill>
          <a:ln w="15875">
            <a:solidFill>
              <a:srgbClr val="14213D"/>
            </a:solidFill>
            <a:prstDash val="solid"/>
          </a:ln>
        </p:spPr>
        <p:txBody>
          <a:bodyPr/>
          <a:p/>
        </p:txBody>
      </p:sp>
      <p:sp>
        <p:nvSpPr>
          <p:cNvPr id="23" name="Text 20"/>
          <p:cNvSpPr txBox="1"/>
          <p:nvPr/>
        </p:nvSpPr>
        <p:spPr>
          <a:xfrm>
            <a:off x="4754880" y="2304288"/>
            <a:ext cx="128016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 x + 1</a:t>
            </a:r>
            <a:endParaRPr lang="en-US" sz="1300" dirty="0"/>
          </a:p>
        </p:txBody>
      </p:sp>
      <p:sp>
        <p:nvSpPr>
          <p:cNvPr id="24" name="Shape 21"/>
          <p:cNvSpPr/>
          <p:nvPr/>
        </p:nvSpPr>
        <p:spPr>
          <a:xfrm>
            <a:off x="5166360" y="3154680"/>
            <a:ext cx="457200" cy="457200"/>
          </a:xfrm>
          <a:prstGeom prst="flowChartConnector">
            <a:avLst/>
          </a:prstGeom>
          <a:solidFill>
            <a:srgbClr val="FFF1D6"/>
          </a:solidFill>
          <a:ln w="15875">
            <a:solidFill>
              <a:srgbClr val="14213D"/>
            </a:solidFill>
            <a:prstDash val="solid"/>
          </a:ln>
        </p:spPr>
        <p:txBody>
          <a:bodyPr/>
          <a:p/>
        </p:txBody>
      </p:sp>
      <p:sp>
        <p:nvSpPr>
          <p:cNvPr id="25" name="Text 22"/>
          <p:cNvSpPr txBox="1"/>
          <p:nvPr/>
        </p:nvSpPr>
        <p:spPr>
          <a:xfrm>
            <a:off x="5212080" y="3154680"/>
            <a:ext cx="36576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A</a:t>
            </a:r>
            <a:endParaRPr lang="en-US" sz="1400" dirty="0"/>
          </a:p>
        </p:txBody>
      </p:sp>
      <p:sp>
        <p:nvSpPr>
          <p:cNvPr id="26" name="Shape 23"/>
          <p:cNvSpPr/>
          <p:nvPr/>
        </p:nvSpPr>
        <p:spPr>
          <a:xfrm>
            <a:off x="5394960" y="2724912"/>
            <a:ext cx="0" cy="429768"/>
          </a:xfrm>
          <a:prstGeom prst="line">
            <a:avLst/>
          </a:prstGeom>
          <a:noFill/>
          <a:ln w="15875">
            <a:solidFill>
              <a:srgbClr val="14213D"/>
            </a:solidFill>
            <a:prstDash val="solid"/>
            <a:tailEnd type="triangle"/>
          </a:ln>
        </p:spPr>
        <p:txBody>
          <a:bodyPr/>
          <a:p/>
        </p:txBody>
      </p:sp>
      <p:sp>
        <p:nvSpPr>
          <p:cNvPr id="27" name="Shape 24"/>
          <p:cNvSpPr/>
          <p:nvPr/>
        </p:nvSpPr>
        <p:spPr>
          <a:xfrm>
            <a:off x="6583680" y="2286000"/>
            <a:ext cx="457200" cy="457200"/>
          </a:xfrm>
          <a:prstGeom prst="flowChartConnector">
            <a:avLst/>
          </a:prstGeom>
          <a:solidFill>
            <a:srgbClr val="FFF1D6"/>
          </a:solidFill>
          <a:ln w="15875">
            <a:solidFill>
              <a:srgbClr val="14213D"/>
            </a:solidFill>
            <a:prstDash val="solid"/>
          </a:ln>
        </p:spPr>
        <p:txBody>
          <a:bodyPr/>
          <a:p/>
        </p:txBody>
      </p:sp>
      <p:sp>
        <p:nvSpPr>
          <p:cNvPr id="28" name="Text 25"/>
          <p:cNvSpPr txBox="1"/>
          <p:nvPr/>
        </p:nvSpPr>
        <p:spPr>
          <a:xfrm>
            <a:off x="6629400" y="2286000"/>
            <a:ext cx="36576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A</a:t>
            </a:r>
            <a:endParaRPr lang="en-US" sz="1400" dirty="0"/>
          </a:p>
        </p:txBody>
      </p:sp>
      <p:sp>
        <p:nvSpPr>
          <p:cNvPr id="29" name="Shape 26"/>
          <p:cNvSpPr/>
          <p:nvPr/>
        </p:nvSpPr>
        <p:spPr>
          <a:xfrm>
            <a:off x="6126480" y="3172968"/>
            <a:ext cx="1371600" cy="420624"/>
          </a:xfrm>
          <a:prstGeom prst="flowChartInputOutput">
            <a:avLst/>
          </a:prstGeom>
          <a:solidFill>
            <a:srgbClr val="FFFFFF"/>
          </a:solidFill>
          <a:ln w="15875">
            <a:solidFill>
              <a:srgbClr val="14213D"/>
            </a:solidFill>
            <a:prstDash val="solid"/>
          </a:ln>
        </p:spPr>
        <p:txBody>
          <a:bodyPr/>
          <a:p/>
        </p:txBody>
      </p:sp>
      <p:sp>
        <p:nvSpPr>
          <p:cNvPr id="30" name="Text 27"/>
          <p:cNvSpPr txBox="1"/>
          <p:nvPr/>
        </p:nvSpPr>
        <p:spPr>
          <a:xfrm>
            <a:off x="6172200" y="3172968"/>
            <a:ext cx="128016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x</a:t>
            </a:r>
            <a:endParaRPr lang="en-US" sz="1300" dirty="0"/>
          </a:p>
        </p:txBody>
      </p:sp>
      <p:sp>
        <p:nvSpPr>
          <p:cNvPr id="31" name="Shape 28"/>
          <p:cNvSpPr/>
          <p:nvPr/>
        </p:nvSpPr>
        <p:spPr>
          <a:xfrm>
            <a:off x="6812280" y="2743200"/>
            <a:ext cx="0" cy="429768"/>
          </a:xfrm>
          <a:prstGeom prst="line">
            <a:avLst/>
          </a:prstGeom>
          <a:noFill/>
          <a:ln w="15875">
            <a:solidFill>
              <a:srgbClr val="14213D"/>
            </a:solidFill>
            <a:prstDash val="solid"/>
            <a:tailEnd type="triangle"/>
          </a:ln>
        </p:spPr>
        <p:txBody>
          <a:bodyPr/>
          <a:p/>
        </p:txBody>
      </p:sp>
      <p:sp>
        <p:nvSpPr>
          <p:cNvPr id="32" name="Shape 29"/>
          <p:cNvSpPr/>
          <p:nvPr/>
        </p:nvSpPr>
        <p:spPr>
          <a:xfrm>
            <a:off x="5824728" y="3931920"/>
            <a:ext cx="566928" cy="566928"/>
          </a:xfrm>
          <a:prstGeom prst="flowChartOffpageConnector">
            <a:avLst/>
          </a:prstGeom>
          <a:solidFill>
            <a:srgbClr val="FFF1D6"/>
          </a:solidFill>
          <a:ln w="15875">
            <a:solidFill>
              <a:srgbClr val="14213D"/>
            </a:solidFill>
            <a:prstDash val="solid"/>
          </a:ln>
        </p:spPr>
        <p:txBody>
          <a:bodyPr/>
          <a:p/>
        </p:txBody>
      </p:sp>
      <p:sp>
        <p:nvSpPr>
          <p:cNvPr id="33" name="Text 30"/>
          <p:cNvSpPr txBox="1"/>
          <p:nvPr/>
        </p:nvSpPr>
        <p:spPr>
          <a:xfrm>
            <a:off x="5824728" y="3931920"/>
            <a:ext cx="566928"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P2</a:t>
            </a:r>
            <a:endParaRPr lang="en-US" sz="1300" dirty="0"/>
          </a:p>
        </p:txBody>
      </p:sp>
      <p:sp>
        <p:nvSpPr>
          <p:cNvPr id="34" name="Text 31"/>
          <p:cNvSpPr txBox="1"/>
          <p:nvPr/>
        </p:nvSpPr>
        <p:spPr>
          <a:xfrm>
            <a:off x="4544568" y="4617720"/>
            <a:ext cx="3108960" cy="137160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Same letter = same point. The home-plate shape continues on another page (here: page 2).</a:t>
            </a:r>
            <a:endParaRPr lang="en-US" sz="1300" dirty="0"/>
          </a:p>
        </p:txBody>
      </p:sp>
      <p:sp>
        <p:nvSpPr>
          <p:cNvPr id="35" name="Shape 32"/>
          <p:cNvSpPr/>
          <p:nvPr/>
        </p:nvSpPr>
        <p:spPr>
          <a:xfrm>
            <a:off x="8092440" y="1600200"/>
            <a:ext cx="3566160" cy="4480560"/>
          </a:xfrm>
          <a:prstGeom prst="roundRect">
            <a:avLst>
              <a:gd name="adj" fmla="val 3077"/>
            </a:avLst>
          </a:prstGeom>
          <a:solidFill>
            <a:srgbClr val="EEF1F6"/>
          </a:solidFill>
          <a:ln w="12700">
            <a:solidFill>
              <a:srgbClr val="EEF1F6"/>
            </a:solidFill>
            <a:prstDash val="solid"/>
          </a:ln>
        </p:spPr>
        <p:txBody>
          <a:bodyPr/>
          <a:p/>
        </p:txBody>
      </p:sp>
      <p:sp>
        <p:nvSpPr>
          <p:cNvPr id="36" name="Text 33"/>
          <p:cNvSpPr txBox="1"/>
          <p:nvPr/>
        </p:nvSpPr>
        <p:spPr>
          <a:xfrm>
            <a:off x="8321040" y="1737360"/>
            <a:ext cx="3108960" cy="3291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Annotation</a:t>
            </a:r>
            <a:endParaRPr lang="en-US" sz="1700" dirty="0"/>
          </a:p>
        </p:txBody>
      </p:sp>
      <p:sp>
        <p:nvSpPr>
          <p:cNvPr id="37" name="Shape 34"/>
          <p:cNvSpPr/>
          <p:nvPr/>
        </p:nvSpPr>
        <p:spPr>
          <a:xfrm>
            <a:off x="8229600" y="2697480"/>
            <a:ext cx="1371600" cy="457200"/>
          </a:xfrm>
          <a:prstGeom prst="flowChartProcess">
            <a:avLst/>
          </a:prstGeom>
          <a:solidFill>
            <a:srgbClr val="FFFFFF"/>
          </a:solidFill>
          <a:ln w="15875">
            <a:solidFill>
              <a:srgbClr val="14213D"/>
            </a:solidFill>
            <a:prstDash val="solid"/>
          </a:ln>
        </p:spPr>
        <p:txBody>
          <a:bodyPr/>
          <a:p/>
        </p:txBody>
      </p:sp>
      <p:sp>
        <p:nvSpPr>
          <p:cNvPr id="38" name="Text 35"/>
          <p:cNvSpPr txBox="1"/>
          <p:nvPr/>
        </p:nvSpPr>
        <p:spPr>
          <a:xfrm>
            <a:off x="8275320" y="2697480"/>
            <a:ext cx="128016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 ← a mod b</a:t>
            </a:r>
            <a:endParaRPr lang="en-US" sz="1300" dirty="0"/>
          </a:p>
        </p:txBody>
      </p:sp>
      <p:sp>
        <p:nvSpPr>
          <p:cNvPr id="39" name="Shape 36"/>
          <p:cNvSpPr/>
          <p:nvPr/>
        </p:nvSpPr>
        <p:spPr>
          <a:xfrm>
            <a:off x="9601200" y="2926080"/>
            <a:ext cx="320040" cy="0"/>
          </a:xfrm>
          <a:prstGeom prst="line">
            <a:avLst/>
          </a:prstGeom>
          <a:noFill/>
          <a:ln w="12700">
            <a:solidFill>
              <a:srgbClr val="5B6478"/>
            </a:solidFill>
            <a:prstDash val="dash"/>
          </a:ln>
        </p:spPr>
        <p:txBody>
          <a:bodyPr/>
          <a:p/>
        </p:txBody>
      </p:sp>
      <p:sp>
        <p:nvSpPr>
          <p:cNvPr id="40" name="Shape 37"/>
          <p:cNvSpPr/>
          <p:nvPr/>
        </p:nvSpPr>
        <p:spPr>
          <a:xfrm>
            <a:off x="9921240" y="2560320"/>
            <a:ext cx="164592" cy="731520"/>
          </a:xfrm>
          <a:prstGeom prst="leftBracket">
            <a:avLst/>
          </a:prstGeom>
          <a:noFill/>
          <a:ln w="15875">
            <a:solidFill>
              <a:srgbClr val="5B6478"/>
            </a:solidFill>
            <a:prstDash val="solid"/>
          </a:ln>
        </p:spPr>
        <p:txBody>
          <a:bodyPr/>
          <a:p/>
        </p:txBody>
      </p:sp>
      <p:sp>
        <p:nvSpPr>
          <p:cNvPr id="41" name="Text 38"/>
          <p:cNvSpPr txBox="1"/>
          <p:nvPr/>
        </p:nvSpPr>
        <p:spPr>
          <a:xfrm>
            <a:off x="10131552" y="2560320"/>
            <a:ext cx="1463040" cy="7315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remainder of a ÷ b</a:t>
            </a:r>
            <a:endParaRPr lang="en-US" sz="1300" dirty="0"/>
          </a:p>
        </p:txBody>
      </p:sp>
      <p:sp>
        <p:nvSpPr>
          <p:cNvPr id="42" name="Text 39"/>
          <p:cNvSpPr txBox="1"/>
          <p:nvPr/>
        </p:nvSpPr>
        <p:spPr>
          <a:xfrm>
            <a:off x="8321040" y="3840480"/>
            <a:ext cx="3108960" cy="210312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An open bracket + dashed line adds a comment. It is not a step and never “runs” — like // comments in C#.</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SYMBOL ↔ PSEUDOCODE ↔ C#</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Every Box Has a Pseudocode Line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2148840"/>
                <a:gridCol w="4023360"/>
                <a:gridCol w="493776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Symbol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Pseudocode (Week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 (from Week 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START … END</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the program begins / ends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READ 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 int.Parse(Console.ReadLine());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PRINT 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Console.WriteLine(x);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 x + 1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 x + 1;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IF x &lt; 0 THEN …   /   WHILE i ≤ N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if (x &lt; 0) …   /   while (i &lt;= n)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use sub-algorithm GCD(a,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method call, e.g. Math.Sqrt(x)  (Week 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822960" y="2093976"/>
            <a:ext cx="1600200" cy="402336"/>
          </a:xfrm>
          <a:prstGeom prst="flowChartTerminator">
            <a:avLst/>
          </a:prstGeom>
          <a:solidFill>
            <a:srgbClr val="FFF1D6"/>
          </a:solidFill>
          <a:ln w="15875">
            <a:solidFill>
              <a:srgbClr val="14213D"/>
            </a:solidFill>
            <a:prstDash val="solid"/>
          </a:ln>
        </p:spPr>
        <p:txBody>
          <a:bodyPr/>
          <a:p/>
        </p:txBody>
      </p:sp>
      <p:sp>
        <p:nvSpPr>
          <p:cNvPr id="9" name="Text 5"/>
          <p:cNvSpPr txBox="1"/>
          <p:nvPr/>
        </p:nvSpPr>
        <p:spPr>
          <a:xfrm>
            <a:off x="868680" y="2093976"/>
            <a:ext cx="15087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10" name="Shape 6"/>
          <p:cNvSpPr/>
          <p:nvPr/>
        </p:nvSpPr>
        <p:spPr>
          <a:xfrm>
            <a:off x="822960" y="2660904"/>
            <a:ext cx="1600200" cy="402336"/>
          </a:xfrm>
          <a:prstGeom prst="flowChartInputOutput">
            <a:avLst/>
          </a:prstGeom>
          <a:solidFill>
            <a:srgbClr val="FFFFFF"/>
          </a:solidFill>
          <a:ln w="15875">
            <a:solidFill>
              <a:srgbClr val="14213D"/>
            </a:solidFill>
            <a:prstDash val="solid"/>
          </a:ln>
        </p:spPr>
        <p:txBody>
          <a:bodyPr/>
          <a:p/>
        </p:txBody>
      </p:sp>
      <p:sp>
        <p:nvSpPr>
          <p:cNvPr id="11" name="Text 7"/>
          <p:cNvSpPr txBox="1"/>
          <p:nvPr/>
        </p:nvSpPr>
        <p:spPr>
          <a:xfrm>
            <a:off x="868680" y="2660904"/>
            <a:ext cx="15087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x</a:t>
            </a:r>
            <a:endParaRPr lang="en-US" sz="1300" dirty="0"/>
          </a:p>
        </p:txBody>
      </p:sp>
      <p:sp>
        <p:nvSpPr>
          <p:cNvPr id="12" name="Shape 8"/>
          <p:cNvSpPr/>
          <p:nvPr/>
        </p:nvSpPr>
        <p:spPr>
          <a:xfrm>
            <a:off x="822960" y="3227832"/>
            <a:ext cx="1600200" cy="402336"/>
          </a:xfrm>
          <a:prstGeom prst="flowChartInputOutput">
            <a:avLst/>
          </a:prstGeom>
          <a:solidFill>
            <a:srgbClr val="FFFFFF"/>
          </a:solidFill>
          <a:ln w="15875">
            <a:solidFill>
              <a:srgbClr val="14213D"/>
            </a:solidFill>
            <a:prstDash val="solid"/>
          </a:ln>
        </p:spPr>
        <p:txBody>
          <a:bodyPr/>
          <a:p/>
        </p:txBody>
      </p:sp>
      <p:sp>
        <p:nvSpPr>
          <p:cNvPr id="13" name="Text 9"/>
          <p:cNvSpPr txBox="1"/>
          <p:nvPr/>
        </p:nvSpPr>
        <p:spPr>
          <a:xfrm>
            <a:off x="868680" y="3227832"/>
            <a:ext cx="15087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x</a:t>
            </a:r>
            <a:endParaRPr lang="en-US" sz="1300" dirty="0"/>
          </a:p>
        </p:txBody>
      </p:sp>
      <p:sp>
        <p:nvSpPr>
          <p:cNvPr id="14" name="Shape 10"/>
          <p:cNvSpPr/>
          <p:nvPr/>
        </p:nvSpPr>
        <p:spPr>
          <a:xfrm>
            <a:off x="822960" y="3794760"/>
            <a:ext cx="1600200" cy="402336"/>
          </a:xfrm>
          <a:prstGeom prst="flowChartProcess">
            <a:avLst/>
          </a:prstGeom>
          <a:solidFill>
            <a:srgbClr val="FFFFFF"/>
          </a:solidFill>
          <a:ln w="15875">
            <a:solidFill>
              <a:srgbClr val="14213D"/>
            </a:solidFill>
            <a:prstDash val="solid"/>
          </a:ln>
        </p:spPr>
        <p:txBody>
          <a:bodyPr/>
          <a:p/>
        </p:txBody>
      </p:sp>
      <p:sp>
        <p:nvSpPr>
          <p:cNvPr id="15" name="Text 11"/>
          <p:cNvSpPr txBox="1"/>
          <p:nvPr/>
        </p:nvSpPr>
        <p:spPr>
          <a:xfrm>
            <a:off x="868680" y="3794760"/>
            <a:ext cx="15087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 x + 1</a:t>
            </a:r>
            <a:endParaRPr lang="en-US" sz="1300" dirty="0"/>
          </a:p>
        </p:txBody>
      </p:sp>
      <p:sp>
        <p:nvSpPr>
          <p:cNvPr id="16" name="Shape 12"/>
          <p:cNvSpPr/>
          <p:nvPr/>
        </p:nvSpPr>
        <p:spPr>
          <a:xfrm>
            <a:off x="845820" y="4315968"/>
            <a:ext cx="1554480" cy="493776"/>
          </a:xfrm>
          <a:prstGeom prst="flowChartDecision">
            <a:avLst/>
          </a:prstGeom>
          <a:solidFill>
            <a:srgbClr val="E3ECF8"/>
          </a:solidFill>
          <a:ln w="15875">
            <a:solidFill>
              <a:srgbClr val="14213D"/>
            </a:solidFill>
            <a:prstDash val="solid"/>
          </a:ln>
        </p:spPr>
        <p:txBody>
          <a:bodyPr/>
          <a:p/>
        </p:txBody>
      </p:sp>
      <p:sp>
        <p:nvSpPr>
          <p:cNvPr id="17" name="Text 13"/>
          <p:cNvSpPr txBox="1"/>
          <p:nvPr/>
        </p:nvSpPr>
        <p:spPr>
          <a:xfrm>
            <a:off x="891540" y="4315968"/>
            <a:ext cx="1463040" cy="49377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&lt; 0 ?</a:t>
            </a:r>
            <a:endParaRPr lang="en-US" sz="1300" dirty="0"/>
          </a:p>
        </p:txBody>
      </p:sp>
      <p:sp>
        <p:nvSpPr>
          <p:cNvPr id="18" name="Shape 14"/>
          <p:cNvSpPr/>
          <p:nvPr/>
        </p:nvSpPr>
        <p:spPr>
          <a:xfrm>
            <a:off x="822960" y="4928616"/>
            <a:ext cx="1600200" cy="402336"/>
          </a:xfrm>
          <a:prstGeom prst="flowChartPredefinedProcess">
            <a:avLst/>
          </a:prstGeom>
          <a:solidFill>
            <a:srgbClr val="FFFFFF"/>
          </a:solidFill>
          <a:ln w="15875">
            <a:solidFill>
              <a:srgbClr val="14213D"/>
            </a:solidFill>
            <a:prstDash val="solid"/>
          </a:ln>
        </p:spPr>
        <p:txBody>
          <a:bodyPr/>
          <a:p/>
        </p:txBody>
      </p:sp>
      <p:sp>
        <p:nvSpPr>
          <p:cNvPr id="19" name="Text 15"/>
          <p:cNvSpPr txBox="1"/>
          <p:nvPr/>
        </p:nvSpPr>
        <p:spPr>
          <a:xfrm>
            <a:off x="868680" y="4928616"/>
            <a:ext cx="15087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GCD(a, b)</a:t>
            </a:r>
            <a:endParaRPr lang="en-US" sz="1300" dirty="0"/>
          </a:p>
        </p:txBody>
      </p:sp>
      <p:sp>
        <p:nvSpPr>
          <p:cNvPr id="20" name="Shape 16"/>
          <p:cNvSpPr/>
          <p:nvPr/>
        </p:nvSpPr>
        <p:spPr>
          <a:xfrm>
            <a:off x="548640" y="5486400"/>
            <a:ext cx="11109960" cy="594360"/>
          </a:xfrm>
          <a:prstGeom prst="roundRect">
            <a:avLst>
              <a:gd name="adj" fmla="val 18462"/>
            </a:avLst>
          </a:prstGeom>
          <a:solidFill>
            <a:srgbClr val="FFF6E3"/>
          </a:solidFill>
          <a:ln w="12700">
            <a:solidFill>
              <a:srgbClr val="FFF6E3"/>
            </a:solidFill>
            <a:prstDash val="solid"/>
          </a:ln>
        </p:spPr>
        <p:txBody>
          <a:bodyPr/>
          <a:p/>
        </p:txBody>
      </p:sp>
      <p:pic>
        <p:nvPicPr>
          <p:cNvPr id="21" name="Image 0" descr="preencoded.png">    </p:cNvPr>
          <p:cNvPicPr>
            <a:picLocks noChangeAspect="1"/>
          </p:cNvPicPr>
          <p:nvPr/>
        </p:nvPicPr>
        <p:blipFill>
          <a:blip r:embed="rId1"/>
          <a:stretch>
            <a:fillRect/>
          </a:stretch>
        </p:blipFill>
        <p:spPr>
          <a:xfrm>
            <a:off x="822960" y="5623560"/>
            <a:ext cx="320040" cy="320040"/>
          </a:xfrm>
          <a:prstGeom prst="rect">
            <a:avLst/>
          </a:prstGeom>
        </p:spPr>
      </p:pic>
      <p:sp>
        <p:nvSpPr>
          <p:cNvPr id="22" name="Text 17"/>
          <p:cNvSpPr txBox="1"/>
          <p:nvPr/>
        </p:nvSpPr>
        <p:spPr>
          <a:xfrm>
            <a:off x="1417320" y="5559552"/>
            <a:ext cx="9966960" cy="44805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 assigns, = compares </a:t>
            </a:r>
            <a:pPr indent="0" marL="0">
              <a:buNone/>
            </a:pPr>
            <a:r>
              <a:rPr lang="en-US" sz="1500" dirty="0">
                <a:solidFill>
                  <a:srgbClr val="333B4F"/>
                </a:solidFill>
                <a:latin typeface="Calibri" pitchFamily="34" charset="0"/>
                <a:ea typeface="Calibri" pitchFamily="34" charset="-122"/>
                <a:cs typeface="Calibri" pitchFamily="34" charset="-120"/>
              </a:rPr>
              <a:t>(pseudocode)   ·   C#:  = assigns, == compares.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DRAWING RULES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Eight Rules for a Correct Flowchart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00200"/>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8" name="Shape 5"/>
          <p:cNvSpPr/>
          <p:nvPr/>
        </p:nvSpPr>
        <p:spPr>
          <a:xfrm>
            <a:off x="749808" y="1819656"/>
            <a:ext cx="566928" cy="566928"/>
          </a:xfrm>
          <a:prstGeom prst="ellipse">
            <a:avLst/>
          </a:prstGeom>
          <a:solidFill>
            <a:srgbClr val="14213D"/>
          </a:solidFill>
          <a:ln w="12700">
            <a:solidFill>
              <a:srgbClr val="14213D"/>
            </a:solidFill>
            <a:prstDash val="solid"/>
          </a:ln>
        </p:spPr>
        <p:txBody>
          <a:bodyPr/>
          <a:p/>
        </p:txBody>
      </p:sp>
      <p:sp>
        <p:nvSpPr>
          <p:cNvPr id="9" name="Text 6"/>
          <p:cNvSpPr txBox="1"/>
          <p:nvPr/>
        </p:nvSpPr>
        <p:spPr>
          <a:xfrm>
            <a:off x="749808" y="1819656"/>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1</a:t>
            </a:r>
            <a:endParaRPr lang="en-US" sz="1800" dirty="0"/>
          </a:p>
        </p:txBody>
      </p:sp>
      <p:sp>
        <p:nvSpPr>
          <p:cNvPr id="10" name="Text 7"/>
          <p:cNvSpPr txBox="1"/>
          <p:nvPr/>
        </p:nvSpPr>
        <p:spPr>
          <a:xfrm>
            <a:off x="1508760" y="1709928"/>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One Start, one End</a:t>
            </a:r>
            <a:endParaRPr lang="en-US" sz="1700" dirty="0"/>
          </a:p>
        </p:txBody>
      </p:sp>
      <p:sp>
        <p:nvSpPr>
          <p:cNvPr id="11" name="Text 8"/>
          <p:cNvSpPr txBox="1"/>
          <p:nvPr/>
        </p:nvSpPr>
        <p:spPr>
          <a:xfrm>
            <a:off x="1508760" y="2103120"/>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Every path from Start must reach End.</a:t>
            </a:r>
            <a:endParaRPr lang="en-US" sz="1450" dirty="0"/>
          </a:p>
        </p:txBody>
      </p:sp>
      <p:sp>
        <p:nvSpPr>
          <p:cNvPr id="12" name="Shape 9"/>
          <p:cNvSpPr/>
          <p:nvPr/>
        </p:nvSpPr>
        <p:spPr>
          <a:xfrm>
            <a:off x="6153912" y="1600200"/>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13" name="Shape 10"/>
          <p:cNvSpPr/>
          <p:nvPr/>
        </p:nvSpPr>
        <p:spPr>
          <a:xfrm>
            <a:off x="6355080" y="1819656"/>
            <a:ext cx="566928" cy="566928"/>
          </a:xfrm>
          <a:prstGeom prst="ellipse">
            <a:avLst/>
          </a:prstGeom>
          <a:solidFill>
            <a:srgbClr val="14213D"/>
          </a:solidFill>
          <a:ln w="12700">
            <a:solidFill>
              <a:srgbClr val="14213D"/>
            </a:solidFill>
            <a:prstDash val="solid"/>
          </a:ln>
        </p:spPr>
        <p:txBody>
          <a:bodyPr/>
          <a:p/>
        </p:txBody>
      </p:sp>
      <p:sp>
        <p:nvSpPr>
          <p:cNvPr id="14" name="Text 11"/>
          <p:cNvSpPr txBox="1"/>
          <p:nvPr/>
        </p:nvSpPr>
        <p:spPr>
          <a:xfrm>
            <a:off x="6355080" y="1819656"/>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2</a:t>
            </a:r>
            <a:endParaRPr lang="en-US" sz="1800" dirty="0"/>
          </a:p>
        </p:txBody>
      </p:sp>
      <p:sp>
        <p:nvSpPr>
          <p:cNvPr id="15" name="Text 12"/>
          <p:cNvSpPr txBox="1"/>
          <p:nvPr/>
        </p:nvSpPr>
        <p:spPr>
          <a:xfrm>
            <a:off x="7114032" y="1709928"/>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Arrows on every line</a:t>
            </a:r>
            <a:endParaRPr lang="en-US" sz="1700" dirty="0"/>
          </a:p>
        </p:txBody>
      </p:sp>
      <p:sp>
        <p:nvSpPr>
          <p:cNvPr id="16" name="Text 13"/>
          <p:cNvSpPr txBox="1"/>
          <p:nvPr/>
        </p:nvSpPr>
        <p:spPr>
          <a:xfrm>
            <a:off x="7114032" y="2103120"/>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Main direction top → bottom, left → right.</a:t>
            </a:r>
            <a:endParaRPr lang="en-US" sz="1450" dirty="0"/>
          </a:p>
        </p:txBody>
      </p:sp>
      <p:sp>
        <p:nvSpPr>
          <p:cNvPr id="17" name="Shape 14"/>
          <p:cNvSpPr/>
          <p:nvPr/>
        </p:nvSpPr>
        <p:spPr>
          <a:xfrm>
            <a:off x="548640" y="2734056"/>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18" name="Shape 15"/>
          <p:cNvSpPr/>
          <p:nvPr/>
        </p:nvSpPr>
        <p:spPr>
          <a:xfrm>
            <a:off x="749808" y="2953512"/>
            <a:ext cx="566928" cy="566928"/>
          </a:xfrm>
          <a:prstGeom prst="ellipse">
            <a:avLst/>
          </a:prstGeom>
          <a:solidFill>
            <a:srgbClr val="14213D"/>
          </a:solidFill>
          <a:ln w="12700">
            <a:solidFill>
              <a:srgbClr val="14213D"/>
            </a:solidFill>
            <a:prstDash val="solid"/>
          </a:ln>
        </p:spPr>
        <p:txBody>
          <a:bodyPr/>
          <a:p/>
        </p:txBody>
      </p:sp>
      <p:sp>
        <p:nvSpPr>
          <p:cNvPr id="19" name="Text 16"/>
          <p:cNvSpPr txBox="1"/>
          <p:nvPr/>
        </p:nvSpPr>
        <p:spPr>
          <a:xfrm>
            <a:off x="749808" y="2953512"/>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3</a:t>
            </a:r>
            <a:endParaRPr lang="en-US" sz="1800" dirty="0"/>
          </a:p>
        </p:txBody>
      </p:sp>
      <p:sp>
        <p:nvSpPr>
          <p:cNvPr id="20" name="Text 17"/>
          <p:cNvSpPr txBox="1"/>
          <p:nvPr/>
        </p:nvSpPr>
        <p:spPr>
          <a:xfrm>
            <a:off x="1508760" y="2843784"/>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Decisions: exactly two exits</a:t>
            </a:r>
            <a:endParaRPr lang="en-US" sz="1700" dirty="0"/>
          </a:p>
        </p:txBody>
      </p:sp>
      <p:sp>
        <p:nvSpPr>
          <p:cNvPr id="21" name="Text 18"/>
          <p:cNvSpPr txBox="1"/>
          <p:nvPr/>
        </p:nvSpPr>
        <p:spPr>
          <a:xfrm>
            <a:off x="1508760" y="3236976"/>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Label them yes / no (or true / false).</a:t>
            </a:r>
            <a:endParaRPr lang="en-US" sz="1450" dirty="0"/>
          </a:p>
        </p:txBody>
      </p:sp>
      <p:sp>
        <p:nvSpPr>
          <p:cNvPr id="22" name="Shape 19"/>
          <p:cNvSpPr/>
          <p:nvPr/>
        </p:nvSpPr>
        <p:spPr>
          <a:xfrm>
            <a:off x="6153912" y="2734056"/>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23" name="Shape 20"/>
          <p:cNvSpPr/>
          <p:nvPr/>
        </p:nvSpPr>
        <p:spPr>
          <a:xfrm>
            <a:off x="6355080" y="2953512"/>
            <a:ext cx="566928" cy="566928"/>
          </a:xfrm>
          <a:prstGeom prst="ellipse">
            <a:avLst/>
          </a:prstGeom>
          <a:solidFill>
            <a:srgbClr val="14213D"/>
          </a:solidFill>
          <a:ln w="12700">
            <a:solidFill>
              <a:srgbClr val="14213D"/>
            </a:solidFill>
            <a:prstDash val="solid"/>
          </a:ln>
        </p:spPr>
        <p:txBody>
          <a:bodyPr/>
          <a:p/>
        </p:txBody>
      </p:sp>
      <p:sp>
        <p:nvSpPr>
          <p:cNvPr id="24" name="Text 21"/>
          <p:cNvSpPr txBox="1"/>
          <p:nvPr/>
        </p:nvSpPr>
        <p:spPr>
          <a:xfrm>
            <a:off x="6355080" y="2953512"/>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4</a:t>
            </a:r>
            <a:endParaRPr lang="en-US" sz="1800" dirty="0"/>
          </a:p>
        </p:txBody>
      </p:sp>
      <p:sp>
        <p:nvSpPr>
          <p:cNvPr id="25" name="Text 22"/>
          <p:cNvSpPr txBox="1"/>
          <p:nvPr/>
        </p:nvSpPr>
        <p:spPr>
          <a:xfrm>
            <a:off x="7114032" y="2843784"/>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Boxes: one way in, one way out</a:t>
            </a:r>
            <a:endParaRPr lang="en-US" sz="1700" dirty="0"/>
          </a:p>
        </p:txBody>
      </p:sp>
      <p:sp>
        <p:nvSpPr>
          <p:cNvPr id="26" name="Text 23"/>
          <p:cNvSpPr txBox="1"/>
          <p:nvPr/>
        </p:nvSpPr>
        <p:spPr>
          <a:xfrm>
            <a:off x="7114032" y="3236976"/>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Branches join again before continuing.</a:t>
            </a:r>
            <a:endParaRPr lang="en-US" sz="1450" dirty="0"/>
          </a:p>
        </p:txBody>
      </p:sp>
      <p:sp>
        <p:nvSpPr>
          <p:cNvPr id="27" name="Shape 24"/>
          <p:cNvSpPr/>
          <p:nvPr/>
        </p:nvSpPr>
        <p:spPr>
          <a:xfrm>
            <a:off x="548640" y="3867912"/>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28" name="Shape 25"/>
          <p:cNvSpPr/>
          <p:nvPr/>
        </p:nvSpPr>
        <p:spPr>
          <a:xfrm>
            <a:off x="749808" y="4087368"/>
            <a:ext cx="566928" cy="566928"/>
          </a:xfrm>
          <a:prstGeom prst="ellipse">
            <a:avLst/>
          </a:prstGeom>
          <a:solidFill>
            <a:srgbClr val="14213D"/>
          </a:solidFill>
          <a:ln w="12700">
            <a:solidFill>
              <a:srgbClr val="14213D"/>
            </a:solidFill>
            <a:prstDash val="solid"/>
          </a:ln>
        </p:spPr>
        <p:txBody>
          <a:bodyPr/>
          <a:p/>
        </p:txBody>
      </p:sp>
      <p:sp>
        <p:nvSpPr>
          <p:cNvPr id="29" name="Text 26"/>
          <p:cNvSpPr txBox="1"/>
          <p:nvPr/>
        </p:nvSpPr>
        <p:spPr>
          <a:xfrm>
            <a:off x="749808" y="4087368"/>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5</a:t>
            </a:r>
            <a:endParaRPr lang="en-US" sz="1800" dirty="0"/>
          </a:p>
        </p:txBody>
      </p:sp>
      <p:sp>
        <p:nvSpPr>
          <p:cNvPr id="30" name="Text 27"/>
          <p:cNvSpPr txBox="1"/>
          <p:nvPr/>
        </p:nvSpPr>
        <p:spPr>
          <a:xfrm>
            <a:off x="1508760" y="3977640"/>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No crossing lines</a:t>
            </a:r>
            <a:endParaRPr lang="en-US" sz="1700" dirty="0"/>
          </a:p>
        </p:txBody>
      </p:sp>
      <p:sp>
        <p:nvSpPr>
          <p:cNvPr id="31" name="Text 28"/>
          <p:cNvSpPr txBox="1"/>
          <p:nvPr/>
        </p:nvSpPr>
        <p:spPr>
          <a:xfrm>
            <a:off x="1508760" y="4370832"/>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Re-route, or use a connector circle.</a:t>
            </a:r>
            <a:endParaRPr lang="en-US" sz="1450" dirty="0"/>
          </a:p>
        </p:txBody>
      </p:sp>
      <p:sp>
        <p:nvSpPr>
          <p:cNvPr id="32" name="Shape 29"/>
          <p:cNvSpPr/>
          <p:nvPr/>
        </p:nvSpPr>
        <p:spPr>
          <a:xfrm>
            <a:off x="6153912" y="3867912"/>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33" name="Shape 30"/>
          <p:cNvSpPr/>
          <p:nvPr/>
        </p:nvSpPr>
        <p:spPr>
          <a:xfrm>
            <a:off x="6355080" y="4087368"/>
            <a:ext cx="566928" cy="566928"/>
          </a:xfrm>
          <a:prstGeom prst="ellipse">
            <a:avLst/>
          </a:prstGeom>
          <a:solidFill>
            <a:srgbClr val="14213D"/>
          </a:solidFill>
          <a:ln w="12700">
            <a:solidFill>
              <a:srgbClr val="14213D"/>
            </a:solidFill>
            <a:prstDash val="solid"/>
          </a:ln>
        </p:spPr>
        <p:txBody>
          <a:bodyPr/>
          <a:p/>
        </p:txBody>
      </p:sp>
      <p:sp>
        <p:nvSpPr>
          <p:cNvPr id="34" name="Text 31"/>
          <p:cNvSpPr txBox="1"/>
          <p:nvPr/>
        </p:nvSpPr>
        <p:spPr>
          <a:xfrm>
            <a:off x="6355080" y="4087368"/>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6</a:t>
            </a:r>
            <a:endParaRPr lang="en-US" sz="1800" dirty="0"/>
          </a:p>
        </p:txBody>
      </p:sp>
      <p:sp>
        <p:nvSpPr>
          <p:cNvPr id="35" name="Text 32"/>
          <p:cNvSpPr txBox="1"/>
          <p:nvPr/>
        </p:nvSpPr>
        <p:spPr>
          <a:xfrm>
            <a:off x="7114032" y="3977640"/>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Short, precise text</a:t>
            </a:r>
            <a:endParaRPr lang="en-US" sz="1700" dirty="0"/>
          </a:p>
        </p:txBody>
      </p:sp>
      <p:sp>
        <p:nvSpPr>
          <p:cNvPr id="36" name="Text 33"/>
          <p:cNvSpPr txBox="1"/>
          <p:nvPr/>
        </p:nvSpPr>
        <p:spPr>
          <a:xfrm>
            <a:off x="7114032" y="4370832"/>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“sum ← sum + i”, not “add it up”.</a:t>
            </a:r>
            <a:endParaRPr lang="en-US" sz="1450" dirty="0"/>
          </a:p>
        </p:txBody>
      </p:sp>
      <p:sp>
        <p:nvSpPr>
          <p:cNvPr id="37" name="Shape 34"/>
          <p:cNvSpPr/>
          <p:nvPr/>
        </p:nvSpPr>
        <p:spPr>
          <a:xfrm>
            <a:off x="548640" y="5001768"/>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38" name="Shape 35"/>
          <p:cNvSpPr/>
          <p:nvPr/>
        </p:nvSpPr>
        <p:spPr>
          <a:xfrm>
            <a:off x="749808" y="5221224"/>
            <a:ext cx="566928" cy="566928"/>
          </a:xfrm>
          <a:prstGeom prst="ellipse">
            <a:avLst/>
          </a:prstGeom>
          <a:solidFill>
            <a:srgbClr val="14213D"/>
          </a:solidFill>
          <a:ln w="12700">
            <a:solidFill>
              <a:srgbClr val="14213D"/>
            </a:solidFill>
            <a:prstDash val="solid"/>
          </a:ln>
        </p:spPr>
        <p:txBody>
          <a:bodyPr/>
          <a:p/>
        </p:txBody>
      </p:sp>
      <p:sp>
        <p:nvSpPr>
          <p:cNvPr id="39" name="Text 36"/>
          <p:cNvSpPr txBox="1"/>
          <p:nvPr/>
        </p:nvSpPr>
        <p:spPr>
          <a:xfrm>
            <a:off x="749808" y="5221224"/>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7</a:t>
            </a:r>
            <a:endParaRPr lang="en-US" sz="1800" dirty="0"/>
          </a:p>
        </p:txBody>
      </p:sp>
      <p:sp>
        <p:nvSpPr>
          <p:cNvPr id="40" name="Text 37"/>
          <p:cNvSpPr txBox="1"/>
          <p:nvPr/>
        </p:nvSpPr>
        <p:spPr>
          <a:xfrm>
            <a:off x="1508760" y="5111496"/>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Loops must make progress</a:t>
            </a:r>
            <a:endParaRPr lang="en-US" sz="1700" dirty="0"/>
          </a:p>
        </p:txBody>
      </p:sp>
      <p:sp>
        <p:nvSpPr>
          <p:cNvPr id="41" name="Text 38"/>
          <p:cNvSpPr txBox="1"/>
          <p:nvPr/>
        </p:nvSpPr>
        <p:spPr>
          <a:xfrm>
            <a:off x="1508760" y="5504688"/>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Something the condition tests must change.</a:t>
            </a:r>
            <a:endParaRPr lang="en-US" sz="1450" dirty="0"/>
          </a:p>
        </p:txBody>
      </p:sp>
      <p:sp>
        <p:nvSpPr>
          <p:cNvPr id="42" name="Shape 39"/>
          <p:cNvSpPr/>
          <p:nvPr/>
        </p:nvSpPr>
        <p:spPr>
          <a:xfrm>
            <a:off x="6153912" y="5001768"/>
            <a:ext cx="5486400" cy="1005840"/>
          </a:xfrm>
          <a:prstGeom prst="roundRect">
            <a:avLst>
              <a:gd name="adj" fmla="val 10909"/>
            </a:avLst>
          </a:prstGeom>
          <a:solidFill>
            <a:srgbClr val="EEF1F6"/>
          </a:solidFill>
          <a:ln w="12700">
            <a:solidFill>
              <a:srgbClr val="EEF1F6"/>
            </a:solidFill>
            <a:prstDash val="solid"/>
          </a:ln>
        </p:spPr>
        <p:txBody>
          <a:bodyPr/>
          <a:p/>
        </p:txBody>
      </p:sp>
      <p:sp>
        <p:nvSpPr>
          <p:cNvPr id="43" name="Shape 40"/>
          <p:cNvSpPr/>
          <p:nvPr/>
        </p:nvSpPr>
        <p:spPr>
          <a:xfrm>
            <a:off x="6355080" y="5221224"/>
            <a:ext cx="566928" cy="566928"/>
          </a:xfrm>
          <a:prstGeom prst="ellipse">
            <a:avLst/>
          </a:prstGeom>
          <a:solidFill>
            <a:srgbClr val="14213D"/>
          </a:solidFill>
          <a:ln w="12700">
            <a:solidFill>
              <a:srgbClr val="14213D"/>
            </a:solidFill>
            <a:prstDash val="solid"/>
          </a:ln>
        </p:spPr>
        <p:txBody>
          <a:bodyPr/>
          <a:p/>
        </p:txBody>
      </p:sp>
      <p:sp>
        <p:nvSpPr>
          <p:cNvPr id="44" name="Text 41"/>
          <p:cNvSpPr txBox="1"/>
          <p:nvPr/>
        </p:nvSpPr>
        <p:spPr>
          <a:xfrm>
            <a:off x="6355080" y="5221224"/>
            <a:ext cx="566928" cy="566928"/>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8</a:t>
            </a:r>
            <a:endParaRPr lang="en-US" sz="1800" dirty="0"/>
          </a:p>
        </p:txBody>
      </p:sp>
      <p:sp>
        <p:nvSpPr>
          <p:cNvPr id="45" name="Text 42"/>
          <p:cNvSpPr txBox="1"/>
          <p:nvPr/>
        </p:nvSpPr>
        <p:spPr>
          <a:xfrm>
            <a:off x="7114032" y="5111496"/>
            <a:ext cx="4389120" cy="38404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Same names as the pseudocode</a:t>
            </a:r>
            <a:endParaRPr lang="en-US" sz="1700" dirty="0"/>
          </a:p>
        </p:txBody>
      </p:sp>
      <p:sp>
        <p:nvSpPr>
          <p:cNvPr id="46" name="Text 43"/>
          <p:cNvSpPr txBox="1"/>
          <p:nvPr/>
        </p:nvSpPr>
        <p:spPr>
          <a:xfrm>
            <a:off x="7114032" y="5504688"/>
            <a:ext cx="4389120" cy="384048"/>
          </a:xfrm>
          <a:prstGeom prst="rect">
            <a:avLst/>
          </a:prstGeom>
          <a:noFill/>
          <a:ln/>
        </p:spPr>
        <p:txBody>
          <a:bodyPr wrap="square" lIns="0" tIns="0" rIns="0" bIns="0" rtlCol="0" anchor="ctr"/>
          <a:lstStyle/>
          <a:p>
            <a:pPr indent="0" marL="0">
              <a:buNone/>
            </a:pPr>
            <a:r>
              <a:rPr lang="en-US" sz="1450" dirty="0">
                <a:solidFill>
                  <a:srgbClr val="333B4F"/>
                </a:solidFill>
                <a:latin typeface="Calibri" pitchFamily="34" charset="0"/>
                <a:ea typeface="Calibri" pitchFamily="34" charset="-122"/>
                <a:cs typeface="Calibri" pitchFamily="34" charset="-120"/>
              </a:rPr>
              <a:t>One idea per box; no mixed READ + calculate.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QUICK QUIZ · 3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Which Symbol Would You Use?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852160" cy="914400"/>
        </p:xfrm>
        <a:graphic>
          <a:graphicData uri="http://schemas.openxmlformats.org/drawingml/2006/table">
            <a:tbl>
              <a:tblPr/>
              <a:tblGrid>
                <a:gridCol w="640080"/>
                <a:gridCol w="5212080"/>
              </a:tblGrid>
              <a:tr h="512064">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Step</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Read age</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total ← total + price</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age ≥ 18 ?</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Print "Welcome"</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GCD(a, b) — described on page 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Start</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ctr" indent="0" marL="0">
                        <a:buNone/>
                      </a:pPr>
                      <a:r>
                        <a:rPr lang="en-US" sz="1600" b="1" dirty="0">
                          <a:solidFill>
                            <a:srgbClr val="14213D"/>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Read x, then x ← 2 × x</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6766560" y="1645920"/>
            <a:ext cx="4892040" cy="4114800"/>
          </a:xfrm>
          <a:prstGeom prst="roundRect">
            <a:avLst>
              <a:gd name="adj" fmla="val 2667"/>
            </a:avLst>
          </a:prstGeom>
          <a:solidFill>
            <a:srgbClr val="EEF1F6"/>
          </a:solidFill>
          <a:ln w="12700">
            <a:solidFill>
              <a:srgbClr val="EEF1F6"/>
            </a:solidFill>
            <a:prstDash val="solid"/>
          </a:ln>
        </p:spPr>
        <p:txBody>
          <a:bodyPr/>
          <a:p/>
        </p:txBody>
      </p:sp>
      <p:sp>
        <p:nvSpPr>
          <p:cNvPr id="9" name="Shape 5"/>
          <p:cNvSpPr/>
          <p:nvPr/>
        </p:nvSpPr>
        <p:spPr>
          <a:xfrm>
            <a:off x="7040880" y="2029968"/>
            <a:ext cx="1554480" cy="512064"/>
          </a:xfrm>
          <a:prstGeom prst="flowChartTerminator">
            <a:avLst/>
          </a:prstGeom>
          <a:solidFill>
            <a:srgbClr val="FFF1D6"/>
          </a:solidFill>
          <a:ln w="15875">
            <a:solidFill>
              <a:srgbClr val="14213D"/>
            </a:solidFill>
            <a:prstDash val="solid"/>
          </a:ln>
        </p:spPr>
        <p:txBody>
          <a:bodyPr/>
          <a:p/>
        </p:txBody>
      </p:sp>
      <p:sp>
        <p:nvSpPr>
          <p:cNvPr id="10" name="Text 6"/>
          <p:cNvSpPr txBox="1"/>
          <p:nvPr/>
        </p:nvSpPr>
        <p:spPr>
          <a:xfrm>
            <a:off x="7086600" y="2029968"/>
            <a:ext cx="1463040" cy="512064"/>
          </a:xfrm>
          <a:prstGeom prst="rect">
            <a:avLst/>
          </a:prstGeom>
          <a:noFill/>
          <a:ln/>
        </p:spPr>
        <p:txBody>
          <a:bodyPr wrap="square" lIns="0" tIns="0" rIns="0" bIns="0" rtlCol="0" anchor="ctr"/>
          <a:lstStyle/>
          <a:p>
            <a:pPr algn="ctr" indent="0" marL="0">
              <a:buNone/>
            </a:pPr>
            <a:endParaRPr lang="en-US" sz="1300" dirty="0"/>
          </a:p>
        </p:txBody>
      </p:sp>
      <p:sp>
        <p:nvSpPr>
          <p:cNvPr id="11" name="Text 7"/>
          <p:cNvSpPr txBox="1"/>
          <p:nvPr/>
        </p:nvSpPr>
        <p:spPr>
          <a:xfrm>
            <a:off x="6629400" y="2103120"/>
            <a:ext cx="32004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A</a:t>
            </a:r>
            <a:endParaRPr lang="en-US" sz="1800" dirty="0"/>
          </a:p>
        </p:txBody>
      </p:sp>
      <p:sp>
        <p:nvSpPr>
          <p:cNvPr id="12" name="Shape 8"/>
          <p:cNvSpPr/>
          <p:nvPr/>
        </p:nvSpPr>
        <p:spPr>
          <a:xfrm>
            <a:off x="9372600" y="2029968"/>
            <a:ext cx="1554480" cy="512064"/>
          </a:xfrm>
          <a:prstGeom prst="flowChartInputOutput">
            <a:avLst/>
          </a:prstGeom>
          <a:solidFill>
            <a:srgbClr val="FFFFFF"/>
          </a:solidFill>
          <a:ln w="15875">
            <a:solidFill>
              <a:srgbClr val="14213D"/>
            </a:solidFill>
            <a:prstDash val="solid"/>
          </a:ln>
        </p:spPr>
        <p:txBody>
          <a:bodyPr/>
          <a:p/>
        </p:txBody>
      </p:sp>
      <p:sp>
        <p:nvSpPr>
          <p:cNvPr id="13" name="Text 9"/>
          <p:cNvSpPr txBox="1"/>
          <p:nvPr/>
        </p:nvSpPr>
        <p:spPr>
          <a:xfrm>
            <a:off x="9418320" y="2029968"/>
            <a:ext cx="1463040" cy="512064"/>
          </a:xfrm>
          <a:prstGeom prst="rect">
            <a:avLst/>
          </a:prstGeom>
          <a:noFill/>
          <a:ln/>
        </p:spPr>
        <p:txBody>
          <a:bodyPr wrap="square" lIns="0" tIns="0" rIns="0" bIns="0" rtlCol="0" anchor="ctr"/>
          <a:lstStyle/>
          <a:p>
            <a:pPr algn="ctr" indent="0" marL="0">
              <a:buNone/>
            </a:pPr>
            <a:endParaRPr lang="en-US" sz="1300" dirty="0"/>
          </a:p>
        </p:txBody>
      </p:sp>
      <p:sp>
        <p:nvSpPr>
          <p:cNvPr id="14" name="Text 10"/>
          <p:cNvSpPr txBox="1"/>
          <p:nvPr/>
        </p:nvSpPr>
        <p:spPr>
          <a:xfrm>
            <a:off x="8961120" y="2103120"/>
            <a:ext cx="32004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B</a:t>
            </a:r>
            <a:endParaRPr lang="en-US" sz="1800" dirty="0"/>
          </a:p>
        </p:txBody>
      </p:sp>
      <p:sp>
        <p:nvSpPr>
          <p:cNvPr id="15" name="Shape 11"/>
          <p:cNvSpPr/>
          <p:nvPr/>
        </p:nvSpPr>
        <p:spPr>
          <a:xfrm>
            <a:off x="7040880" y="3264408"/>
            <a:ext cx="1554480" cy="512064"/>
          </a:xfrm>
          <a:prstGeom prst="flowChartProcess">
            <a:avLst/>
          </a:prstGeom>
          <a:solidFill>
            <a:srgbClr val="FFFFFF"/>
          </a:solidFill>
          <a:ln w="15875">
            <a:solidFill>
              <a:srgbClr val="14213D"/>
            </a:solidFill>
            <a:prstDash val="solid"/>
          </a:ln>
        </p:spPr>
        <p:txBody>
          <a:bodyPr/>
          <a:p/>
        </p:txBody>
      </p:sp>
      <p:sp>
        <p:nvSpPr>
          <p:cNvPr id="16" name="Text 12"/>
          <p:cNvSpPr txBox="1"/>
          <p:nvPr/>
        </p:nvSpPr>
        <p:spPr>
          <a:xfrm>
            <a:off x="7086600" y="3264408"/>
            <a:ext cx="1463040" cy="512064"/>
          </a:xfrm>
          <a:prstGeom prst="rect">
            <a:avLst/>
          </a:prstGeom>
          <a:noFill/>
          <a:ln/>
        </p:spPr>
        <p:txBody>
          <a:bodyPr wrap="square" lIns="0" tIns="0" rIns="0" bIns="0" rtlCol="0" anchor="ctr"/>
          <a:lstStyle/>
          <a:p>
            <a:pPr algn="ctr" indent="0" marL="0">
              <a:buNone/>
            </a:pPr>
            <a:endParaRPr lang="en-US" sz="1300" dirty="0"/>
          </a:p>
        </p:txBody>
      </p:sp>
      <p:sp>
        <p:nvSpPr>
          <p:cNvPr id="17" name="Text 13"/>
          <p:cNvSpPr txBox="1"/>
          <p:nvPr/>
        </p:nvSpPr>
        <p:spPr>
          <a:xfrm>
            <a:off x="6629400" y="3337560"/>
            <a:ext cx="32004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C</a:t>
            </a:r>
            <a:endParaRPr lang="en-US" sz="1800" dirty="0"/>
          </a:p>
        </p:txBody>
      </p:sp>
      <p:sp>
        <p:nvSpPr>
          <p:cNvPr id="18" name="Shape 14"/>
          <p:cNvSpPr/>
          <p:nvPr/>
        </p:nvSpPr>
        <p:spPr>
          <a:xfrm>
            <a:off x="9372600" y="3154680"/>
            <a:ext cx="1554480" cy="731520"/>
          </a:xfrm>
          <a:prstGeom prst="flowChartDecision">
            <a:avLst/>
          </a:prstGeom>
          <a:solidFill>
            <a:srgbClr val="E3ECF8"/>
          </a:solidFill>
          <a:ln w="15875">
            <a:solidFill>
              <a:srgbClr val="14213D"/>
            </a:solidFill>
            <a:prstDash val="solid"/>
          </a:ln>
        </p:spPr>
        <p:txBody>
          <a:bodyPr/>
          <a:p/>
        </p:txBody>
      </p:sp>
      <p:sp>
        <p:nvSpPr>
          <p:cNvPr id="19" name="Text 15"/>
          <p:cNvSpPr txBox="1"/>
          <p:nvPr/>
        </p:nvSpPr>
        <p:spPr>
          <a:xfrm>
            <a:off x="9418320" y="3154680"/>
            <a:ext cx="1463040" cy="731520"/>
          </a:xfrm>
          <a:prstGeom prst="rect">
            <a:avLst/>
          </a:prstGeom>
          <a:noFill/>
          <a:ln/>
        </p:spPr>
        <p:txBody>
          <a:bodyPr wrap="square" lIns="0" tIns="0" rIns="0" bIns="0" rtlCol="0" anchor="ctr"/>
          <a:lstStyle/>
          <a:p>
            <a:pPr algn="ctr" indent="0" marL="0">
              <a:buNone/>
            </a:pPr>
            <a:endParaRPr lang="en-US" sz="1300" dirty="0"/>
          </a:p>
        </p:txBody>
      </p:sp>
      <p:sp>
        <p:nvSpPr>
          <p:cNvPr id="20" name="Text 16"/>
          <p:cNvSpPr txBox="1"/>
          <p:nvPr/>
        </p:nvSpPr>
        <p:spPr>
          <a:xfrm>
            <a:off x="8961120" y="3337560"/>
            <a:ext cx="32004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D</a:t>
            </a:r>
            <a:endParaRPr lang="en-US" sz="1800" dirty="0"/>
          </a:p>
        </p:txBody>
      </p:sp>
      <p:sp>
        <p:nvSpPr>
          <p:cNvPr id="21" name="Shape 17"/>
          <p:cNvSpPr/>
          <p:nvPr/>
        </p:nvSpPr>
        <p:spPr>
          <a:xfrm>
            <a:off x="7040880" y="4498848"/>
            <a:ext cx="1554480" cy="512064"/>
          </a:xfrm>
          <a:prstGeom prst="flowChartPredefinedProcess">
            <a:avLst/>
          </a:prstGeom>
          <a:solidFill>
            <a:srgbClr val="FFFFFF"/>
          </a:solidFill>
          <a:ln w="15875">
            <a:solidFill>
              <a:srgbClr val="14213D"/>
            </a:solidFill>
            <a:prstDash val="solid"/>
          </a:ln>
        </p:spPr>
        <p:txBody>
          <a:bodyPr/>
          <a:p/>
        </p:txBody>
      </p:sp>
      <p:sp>
        <p:nvSpPr>
          <p:cNvPr id="22" name="Text 18"/>
          <p:cNvSpPr txBox="1"/>
          <p:nvPr/>
        </p:nvSpPr>
        <p:spPr>
          <a:xfrm>
            <a:off x="7086600" y="4498848"/>
            <a:ext cx="1463040" cy="512064"/>
          </a:xfrm>
          <a:prstGeom prst="rect">
            <a:avLst/>
          </a:prstGeom>
          <a:noFill/>
          <a:ln/>
        </p:spPr>
        <p:txBody>
          <a:bodyPr wrap="square" lIns="0" tIns="0" rIns="0" bIns="0" rtlCol="0" anchor="ctr"/>
          <a:lstStyle/>
          <a:p>
            <a:pPr algn="ctr" indent="0" marL="0">
              <a:buNone/>
            </a:pPr>
            <a:endParaRPr lang="en-US" sz="1300" dirty="0"/>
          </a:p>
        </p:txBody>
      </p:sp>
      <p:sp>
        <p:nvSpPr>
          <p:cNvPr id="23" name="Text 19"/>
          <p:cNvSpPr txBox="1"/>
          <p:nvPr/>
        </p:nvSpPr>
        <p:spPr>
          <a:xfrm>
            <a:off x="6629400" y="4572000"/>
            <a:ext cx="32004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E</a:t>
            </a:r>
            <a:endParaRPr lang="en-US" sz="1800" dirty="0"/>
          </a:p>
        </p:txBody>
      </p:sp>
      <p:sp>
        <p:nvSpPr>
          <p:cNvPr id="24" name="Shape 20"/>
          <p:cNvSpPr/>
          <p:nvPr/>
        </p:nvSpPr>
        <p:spPr>
          <a:xfrm>
            <a:off x="9866376" y="4471416"/>
            <a:ext cx="566928" cy="566928"/>
          </a:xfrm>
          <a:prstGeom prst="flowChartConnector">
            <a:avLst/>
          </a:prstGeom>
          <a:solidFill>
            <a:srgbClr val="FFF1D6"/>
          </a:solidFill>
          <a:ln w="15875">
            <a:solidFill>
              <a:srgbClr val="14213D"/>
            </a:solidFill>
            <a:prstDash val="solid"/>
          </a:ln>
        </p:spPr>
        <p:txBody>
          <a:bodyPr/>
          <a:p/>
        </p:txBody>
      </p:sp>
      <p:sp>
        <p:nvSpPr>
          <p:cNvPr id="25" name="Text 21"/>
          <p:cNvSpPr txBox="1"/>
          <p:nvPr/>
        </p:nvSpPr>
        <p:spPr>
          <a:xfrm>
            <a:off x="9912096" y="4471416"/>
            <a:ext cx="475488" cy="566928"/>
          </a:xfrm>
          <a:prstGeom prst="rect">
            <a:avLst/>
          </a:prstGeom>
          <a:noFill/>
          <a:ln/>
        </p:spPr>
        <p:txBody>
          <a:bodyPr wrap="square" lIns="0" tIns="0" rIns="0" bIns="0" rtlCol="0" anchor="ctr"/>
          <a:lstStyle/>
          <a:p>
            <a:pPr algn="ctr" indent="0" marL="0">
              <a:buNone/>
            </a:pPr>
            <a:endParaRPr lang="en-US" sz="1300" dirty="0"/>
          </a:p>
        </p:txBody>
      </p:sp>
      <p:sp>
        <p:nvSpPr>
          <p:cNvPr id="26" name="Text 22"/>
          <p:cNvSpPr txBox="1"/>
          <p:nvPr/>
        </p:nvSpPr>
        <p:spPr>
          <a:xfrm>
            <a:off x="8961120" y="4572000"/>
            <a:ext cx="32004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F</a:t>
            </a:r>
            <a:endParaRPr lang="en-US" sz="1800" dirty="0"/>
          </a:p>
        </p:txBody>
      </p:sp>
      <p:sp>
        <p:nvSpPr>
          <p:cNvPr id="27" name="Text 23"/>
          <p:cNvSpPr txBox="1"/>
          <p:nvPr/>
        </p:nvSpPr>
        <p:spPr>
          <a:xfrm>
            <a:off x="6766560" y="5806440"/>
            <a:ext cx="4892040" cy="320040"/>
          </a:xfrm>
          <a:prstGeom prst="rect">
            <a:avLst/>
          </a:prstGeom>
          <a:noFill/>
          <a:ln/>
        </p:spPr>
        <p:txBody>
          <a:bodyPr wrap="square" lIns="0" tIns="0" rIns="0" bIns="0" rtlCol="0" anchor="t"/>
          <a:lstStyle/>
          <a:p>
            <a:pPr algn="ctr" indent="0" marL="0">
              <a:buNone/>
            </a:pPr>
            <a:r>
              <a:rPr lang="en-US" sz="1300" dirty="0">
                <a:solidFill>
                  <a:srgbClr val="5B6478"/>
                </a:solidFill>
                <a:latin typeface="Calibri" pitchFamily="34" charset="0"/>
                <a:ea typeface="Calibri" pitchFamily="34" charset="-122"/>
                <a:cs typeface="Calibri" pitchFamily="34" charset="-120"/>
              </a:rPr>
              <a:t>Match each step 1–7 to a shape A–F.</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Each Step in Its Shape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640080" y="1783080"/>
            <a:ext cx="2286000" cy="548640"/>
          </a:xfrm>
          <a:prstGeom prst="flowChartInputOutput">
            <a:avLst/>
          </a:prstGeom>
          <a:solidFill>
            <a:srgbClr val="FFFFFF"/>
          </a:solidFill>
          <a:ln w="15875">
            <a:solidFill>
              <a:srgbClr val="14213D"/>
            </a:solidFill>
            <a:prstDash val="solid"/>
          </a:ln>
        </p:spPr>
        <p:txBody>
          <a:bodyPr/>
          <a:p/>
        </p:txBody>
      </p:sp>
      <p:sp>
        <p:nvSpPr>
          <p:cNvPr id="8" name="Text 5"/>
          <p:cNvSpPr txBox="1"/>
          <p:nvPr/>
        </p:nvSpPr>
        <p:spPr>
          <a:xfrm>
            <a:off x="685800" y="1783080"/>
            <a:ext cx="2194560" cy="54864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Read age</a:t>
            </a:r>
            <a:endParaRPr lang="en-US" sz="1400" dirty="0"/>
          </a:p>
        </p:txBody>
      </p:sp>
      <p:sp>
        <p:nvSpPr>
          <p:cNvPr id="9" name="Text 6"/>
          <p:cNvSpPr txBox="1"/>
          <p:nvPr/>
        </p:nvSpPr>
        <p:spPr>
          <a:xfrm>
            <a:off x="411480" y="2496312"/>
            <a:ext cx="2743200" cy="32004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1 · input / output</a:t>
            </a:r>
            <a:endParaRPr lang="en-US" sz="1400" dirty="0"/>
          </a:p>
        </p:txBody>
      </p:sp>
      <p:sp>
        <p:nvSpPr>
          <p:cNvPr id="10" name="Shape 7"/>
          <p:cNvSpPr/>
          <p:nvPr/>
        </p:nvSpPr>
        <p:spPr>
          <a:xfrm>
            <a:off x="3657600" y="1783080"/>
            <a:ext cx="2286000" cy="548640"/>
          </a:xfrm>
          <a:prstGeom prst="flowChartProcess">
            <a:avLst/>
          </a:prstGeom>
          <a:solidFill>
            <a:srgbClr val="FFFFFF"/>
          </a:solidFill>
          <a:ln w="15875">
            <a:solidFill>
              <a:srgbClr val="14213D"/>
            </a:solidFill>
            <a:prstDash val="solid"/>
          </a:ln>
        </p:spPr>
        <p:txBody>
          <a:bodyPr/>
          <a:p/>
        </p:txBody>
      </p:sp>
      <p:sp>
        <p:nvSpPr>
          <p:cNvPr id="11" name="Text 8"/>
          <p:cNvSpPr txBox="1"/>
          <p:nvPr/>
        </p:nvSpPr>
        <p:spPr>
          <a:xfrm>
            <a:off x="3703320" y="1783080"/>
            <a:ext cx="2194560" cy="54864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total ← total + price</a:t>
            </a:r>
            <a:endParaRPr lang="en-US" sz="1400" dirty="0"/>
          </a:p>
        </p:txBody>
      </p:sp>
      <p:sp>
        <p:nvSpPr>
          <p:cNvPr id="12" name="Text 9"/>
          <p:cNvSpPr txBox="1"/>
          <p:nvPr/>
        </p:nvSpPr>
        <p:spPr>
          <a:xfrm>
            <a:off x="3429000" y="2496312"/>
            <a:ext cx="2743200" cy="32004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2 · process</a:t>
            </a:r>
            <a:endParaRPr lang="en-US" sz="1400" dirty="0"/>
          </a:p>
        </p:txBody>
      </p:sp>
      <p:sp>
        <p:nvSpPr>
          <p:cNvPr id="13" name="Shape 10"/>
          <p:cNvSpPr/>
          <p:nvPr/>
        </p:nvSpPr>
        <p:spPr>
          <a:xfrm>
            <a:off x="6766560" y="1668780"/>
            <a:ext cx="2103120" cy="777240"/>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6812280" y="1668780"/>
            <a:ext cx="2011680" cy="77724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age ≥ 18 ?</a:t>
            </a:r>
            <a:endParaRPr lang="en-US" sz="1400" dirty="0"/>
          </a:p>
        </p:txBody>
      </p:sp>
      <p:sp>
        <p:nvSpPr>
          <p:cNvPr id="15" name="Text 12"/>
          <p:cNvSpPr txBox="1"/>
          <p:nvPr/>
        </p:nvSpPr>
        <p:spPr>
          <a:xfrm>
            <a:off x="6446520" y="2496312"/>
            <a:ext cx="2743200" cy="32004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3 · decision</a:t>
            </a:r>
            <a:endParaRPr lang="en-US" sz="1400" dirty="0"/>
          </a:p>
        </p:txBody>
      </p:sp>
      <p:sp>
        <p:nvSpPr>
          <p:cNvPr id="16" name="Shape 13"/>
          <p:cNvSpPr/>
          <p:nvPr/>
        </p:nvSpPr>
        <p:spPr>
          <a:xfrm>
            <a:off x="640080" y="3337560"/>
            <a:ext cx="2286000" cy="548640"/>
          </a:xfrm>
          <a:prstGeom prst="flowChartInputOutput">
            <a:avLst/>
          </a:prstGeom>
          <a:solidFill>
            <a:srgbClr val="FFFFFF"/>
          </a:solidFill>
          <a:ln w="15875">
            <a:solidFill>
              <a:srgbClr val="14213D"/>
            </a:solidFill>
            <a:prstDash val="solid"/>
          </a:ln>
        </p:spPr>
        <p:txBody>
          <a:bodyPr/>
          <a:p/>
        </p:txBody>
      </p:sp>
      <p:sp>
        <p:nvSpPr>
          <p:cNvPr id="17" name="Text 14"/>
          <p:cNvSpPr txBox="1"/>
          <p:nvPr/>
        </p:nvSpPr>
        <p:spPr>
          <a:xfrm>
            <a:off x="685800" y="3337560"/>
            <a:ext cx="2194560" cy="54864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Print "Welcome"</a:t>
            </a:r>
            <a:endParaRPr lang="en-US" sz="1400" dirty="0"/>
          </a:p>
        </p:txBody>
      </p:sp>
      <p:sp>
        <p:nvSpPr>
          <p:cNvPr id="18" name="Text 15"/>
          <p:cNvSpPr txBox="1"/>
          <p:nvPr/>
        </p:nvSpPr>
        <p:spPr>
          <a:xfrm>
            <a:off x="411480" y="4050792"/>
            <a:ext cx="2743200" cy="32004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4 · input / output</a:t>
            </a:r>
            <a:endParaRPr lang="en-US" sz="1400" dirty="0"/>
          </a:p>
        </p:txBody>
      </p:sp>
      <p:sp>
        <p:nvSpPr>
          <p:cNvPr id="19" name="Shape 16"/>
          <p:cNvSpPr/>
          <p:nvPr/>
        </p:nvSpPr>
        <p:spPr>
          <a:xfrm>
            <a:off x="3474720" y="3337560"/>
            <a:ext cx="2651760" cy="548640"/>
          </a:xfrm>
          <a:prstGeom prst="flowChartPredefinedProcess">
            <a:avLst/>
          </a:prstGeom>
          <a:solidFill>
            <a:srgbClr val="FFFFFF"/>
          </a:solidFill>
          <a:ln w="15875">
            <a:solidFill>
              <a:srgbClr val="14213D"/>
            </a:solidFill>
            <a:prstDash val="solid"/>
          </a:ln>
        </p:spPr>
        <p:txBody>
          <a:bodyPr/>
          <a:p/>
        </p:txBody>
      </p:sp>
      <p:sp>
        <p:nvSpPr>
          <p:cNvPr id="20" name="Text 17"/>
          <p:cNvSpPr txBox="1"/>
          <p:nvPr/>
        </p:nvSpPr>
        <p:spPr>
          <a:xfrm>
            <a:off x="3520440" y="3337560"/>
            <a:ext cx="2560320" cy="54864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GCD(a, b)</a:t>
            </a:r>
            <a:endParaRPr lang="en-US" sz="1400" dirty="0"/>
          </a:p>
        </p:txBody>
      </p:sp>
      <p:sp>
        <p:nvSpPr>
          <p:cNvPr id="21" name="Text 18"/>
          <p:cNvSpPr txBox="1"/>
          <p:nvPr/>
        </p:nvSpPr>
        <p:spPr>
          <a:xfrm>
            <a:off x="3429000" y="4050792"/>
            <a:ext cx="2743200" cy="32004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5 · predefined process</a:t>
            </a:r>
            <a:endParaRPr lang="en-US" sz="1400" dirty="0"/>
          </a:p>
        </p:txBody>
      </p:sp>
      <p:sp>
        <p:nvSpPr>
          <p:cNvPr id="22" name="Shape 19"/>
          <p:cNvSpPr/>
          <p:nvPr/>
        </p:nvSpPr>
        <p:spPr>
          <a:xfrm>
            <a:off x="6675120" y="3337560"/>
            <a:ext cx="2286000" cy="548640"/>
          </a:xfrm>
          <a:prstGeom prst="flowChartTerminator">
            <a:avLst/>
          </a:prstGeom>
          <a:solidFill>
            <a:srgbClr val="FFF1D6"/>
          </a:solidFill>
          <a:ln w="15875">
            <a:solidFill>
              <a:srgbClr val="14213D"/>
            </a:solidFill>
            <a:prstDash val="solid"/>
          </a:ln>
        </p:spPr>
        <p:txBody>
          <a:bodyPr/>
          <a:p/>
        </p:txBody>
      </p:sp>
      <p:sp>
        <p:nvSpPr>
          <p:cNvPr id="23" name="Text 20"/>
          <p:cNvSpPr txBox="1"/>
          <p:nvPr/>
        </p:nvSpPr>
        <p:spPr>
          <a:xfrm>
            <a:off x="6720840" y="3337560"/>
            <a:ext cx="2194560" cy="54864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Start</a:t>
            </a:r>
            <a:endParaRPr lang="en-US" sz="1400" dirty="0"/>
          </a:p>
        </p:txBody>
      </p:sp>
      <p:sp>
        <p:nvSpPr>
          <p:cNvPr id="24" name="Text 21"/>
          <p:cNvSpPr txBox="1"/>
          <p:nvPr/>
        </p:nvSpPr>
        <p:spPr>
          <a:xfrm>
            <a:off x="6446520" y="4050792"/>
            <a:ext cx="2743200" cy="320040"/>
          </a:xfrm>
          <a:prstGeom prst="rect">
            <a:avLst/>
          </a:prstGeom>
          <a:noFill/>
          <a:ln/>
        </p:spPr>
        <p:txBody>
          <a:bodyPr wrap="square" lIns="0" tIns="0" rIns="0" bIns="0" rtlCol="0" anchor="ctr"/>
          <a:lstStyle/>
          <a:p>
            <a:pPr algn="ctr" indent="0" marL="0">
              <a:buNone/>
            </a:pPr>
            <a:r>
              <a:rPr lang="en-US" sz="1400" b="1" dirty="0">
                <a:solidFill>
                  <a:srgbClr val="5B6478"/>
                </a:solidFill>
                <a:latin typeface="Calibri" pitchFamily="34" charset="0"/>
                <a:ea typeface="Calibri" pitchFamily="34" charset="-122"/>
                <a:cs typeface="Calibri" pitchFamily="34" charset="-120"/>
              </a:rPr>
              <a:t>6 · terminal</a:t>
            </a:r>
            <a:endParaRPr lang="en-US" sz="1400" dirty="0"/>
          </a:p>
        </p:txBody>
      </p:sp>
      <p:sp>
        <p:nvSpPr>
          <p:cNvPr id="25" name="Shape 22"/>
          <p:cNvSpPr/>
          <p:nvPr/>
        </p:nvSpPr>
        <p:spPr>
          <a:xfrm>
            <a:off x="9418320" y="1600200"/>
            <a:ext cx="2240280" cy="3200400"/>
          </a:xfrm>
          <a:prstGeom prst="roundRect">
            <a:avLst>
              <a:gd name="adj" fmla="val 4898"/>
            </a:avLst>
          </a:prstGeom>
          <a:solidFill>
            <a:srgbClr val="FBE9E7"/>
          </a:solidFill>
          <a:ln w="12700">
            <a:solidFill>
              <a:srgbClr val="FBE9E7"/>
            </a:solidFill>
            <a:prstDash val="solid"/>
          </a:ln>
        </p:spPr>
        <p:txBody>
          <a:bodyPr/>
          <a:p/>
        </p:txBody>
      </p:sp>
      <p:sp>
        <p:nvSpPr>
          <p:cNvPr id="26" name="Text 23"/>
          <p:cNvSpPr txBox="1"/>
          <p:nvPr/>
        </p:nvSpPr>
        <p:spPr>
          <a:xfrm>
            <a:off x="9555480" y="1691640"/>
            <a:ext cx="1965960" cy="320040"/>
          </a:xfrm>
          <a:prstGeom prst="rect">
            <a:avLst/>
          </a:prstGeom>
          <a:noFill/>
          <a:ln/>
        </p:spPr>
        <p:txBody>
          <a:bodyPr wrap="square" lIns="0" tIns="0" rIns="0" bIns="0" rtlCol="0" anchor="ctr"/>
          <a:lstStyle/>
          <a:p>
            <a:pPr algn="ctr" indent="0" marL="0">
              <a:buNone/>
            </a:pPr>
            <a:r>
              <a:rPr lang="en-US" sz="1600" b="1" dirty="0">
                <a:solidFill>
                  <a:srgbClr val="C8453B"/>
                </a:solidFill>
                <a:latin typeface="Cambria" pitchFamily="34" charset="0"/>
                <a:ea typeface="Cambria" pitchFamily="34" charset="-122"/>
                <a:cs typeface="Cambria" pitchFamily="34" charset="-120"/>
              </a:rPr>
              <a:t>7 · trap!</a:t>
            </a:r>
            <a:endParaRPr lang="en-US" sz="1600" dirty="0"/>
          </a:p>
        </p:txBody>
      </p:sp>
      <p:sp>
        <p:nvSpPr>
          <p:cNvPr id="27" name="Shape 24"/>
          <p:cNvSpPr/>
          <p:nvPr/>
        </p:nvSpPr>
        <p:spPr>
          <a:xfrm>
            <a:off x="9669780" y="2240280"/>
            <a:ext cx="1737360" cy="457200"/>
          </a:xfrm>
          <a:prstGeom prst="flowChartInputOutput">
            <a:avLst/>
          </a:prstGeom>
          <a:solidFill>
            <a:srgbClr val="FFFFFF"/>
          </a:solidFill>
          <a:ln w="15875">
            <a:solidFill>
              <a:srgbClr val="14213D"/>
            </a:solidFill>
            <a:prstDash val="solid"/>
          </a:ln>
        </p:spPr>
        <p:txBody>
          <a:bodyPr/>
          <a:p/>
        </p:txBody>
      </p:sp>
      <p:sp>
        <p:nvSpPr>
          <p:cNvPr id="28" name="Text 25"/>
          <p:cNvSpPr txBox="1"/>
          <p:nvPr/>
        </p:nvSpPr>
        <p:spPr>
          <a:xfrm>
            <a:off x="9715500" y="2240280"/>
            <a:ext cx="164592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Read x</a:t>
            </a:r>
            <a:endParaRPr lang="en-US" sz="1400" dirty="0"/>
          </a:p>
        </p:txBody>
      </p:sp>
      <p:sp>
        <p:nvSpPr>
          <p:cNvPr id="29" name="Shape 26"/>
          <p:cNvSpPr/>
          <p:nvPr/>
        </p:nvSpPr>
        <p:spPr>
          <a:xfrm>
            <a:off x="9669780" y="3200400"/>
            <a:ext cx="1737360" cy="457200"/>
          </a:xfrm>
          <a:prstGeom prst="flowChartProcess">
            <a:avLst/>
          </a:prstGeom>
          <a:solidFill>
            <a:srgbClr val="FFFFFF"/>
          </a:solidFill>
          <a:ln w="15875">
            <a:solidFill>
              <a:srgbClr val="14213D"/>
            </a:solidFill>
            <a:prstDash val="solid"/>
          </a:ln>
        </p:spPr>
        <p:txBody>
          <a:bodyPr/>
          <a:p/>
        </p:txBody>
      </p:sp>
      <p:sp>
        <p:nvSpPr>
          <p:cNvPr id="30" name="Text 27"/>
          <p:cNvSpPr txBox="1"/>
          <p:nvPr/>
        </p:nvSpPr>
        <p:spPr>
          <a:xfrm>
            <a:off x="9715500" y="3200400"/>
            <a:ext cx="1645920" cy="4572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x ← 2 × x</a:t>
            </a:r>
            <a:endParaRPr lang="en-US" sz="1400" dirty="0"/>
          </a:p>
        </p:txBody>
      </p:sp>
      <p:sp>
        <p:nvSpPr>
          <p:cNvPr id="31" name="Shape 28"/>
          <p:cNvSpPr/>
          <p:nvPr/>
        </p:nvSpPr>
        <p:spPr>
          <a:xfrm>
            <a:off x="10538460" y="2697480"/>
            <a:ext cx="0" cy="502920"/>
          </a:xfrm>
          <a:prstGeom prst="line">
            <a:avLst/>
          </a:prstGeom>
          <a:noFill/>
          <a:ln w="15875">
            <a:solidFill>
              <a:srgbClr val="14213D"/>
            </a:solidFill>
            <a:prstDash val="solid"/>
            <a:tailEnd type="triangle"/>
          </a:ln>
        </p:spPr>
        <p:txBody>
          <a:bodyPr/>
          <a:p/>
        </p:txBody>
      </p:sp>
      <p:sp>
        <p:nvSpPr>
          <p:cNvPr id="32" name="Text 29"/>
          <p:cNvSpPr txBox="1"/>
          <p:nvPr/>
        </p:nvSpPr>
        <p:spPr>
          <a:xfrm>
            <a:off x="9555480" y="3931920"/>
            <a:ext cx="1965960" cy="320040"/>
          </a:xfrm>
          <a:prstGeom prst="rect">
            <a:avLst/>
          </a:prstGeom>
          <a:noFill/>
          <a:ln/>
        </p:spPr>
        <p:txBody>
          <a:bodyPr wrap="square" lIns="0" tIns="0" rIns="0" bIns="0" rtlCol="0" anchor="ctr"/>
          <a:lstStyle/>
          <a:p>
            <a:pPr algn="ctr" indent="0" marL="0">
              <a:buNone/>
            </a:pPr>
            <a:r>
              <a:rPr lang="en-US" sz="1400" b="1" dirty="0">
                <a:solidFill>
                  <a:srgbClr val="C8453B"/>
                </a:solidFill>
                <a:latin typeface="Calibri" pitchFamily="34" charset="0"/>
                <a:ea typeface="Calibri" pitchFamily="34" charset="-122"/>
                <a:cs typeface="Calibri" pitchFamily="34" charset="-120"/>
              </a:rPr>
              <a:t>two boxes</a:t>
            </a:r>
            <a:endParaRPr lang="en-US" sz="1400" dirty="0"/>
          </a:p>
        </p:txBody>
      </p:sp>
      <p:sp>
        <p:nvSpPr>
          <p:cNvPr id="33" name="Shape 30"/>
          <p:cNvSpPr/>
          <p:nvPr/>
        </p:nvSpPr>
        <p:spPr>
          <a:xfrm>
            <a:off x="548640" y="5074920"/>
            <a:ext cx="11109960" cy="960120"/>
          </a:xfrm>
          <a:prstGeom prst="roundRect">
            <a:avLst>
              <a:gd name="adj" fmla="val 11429"/>
            </a:avLst>
          </a:prstGeom>
          <a:solidFill>
            <a:srgbClr val="FFF6E3"/>
          </a:solidFill>
          <a:ln w="12700">
            <a:solidFill>
              <a:srgbClr val="FFF6E3"/>
            </a:solidFill>
            <a:prstDash val="solid"/>
          </a:ln>
        </p:spPr>
        <p:txBody>
          <a:bodyPr/>
          <a:p/>
        </p:txBody>
      </p:sp>
      <p:pic>
        <p:nvPicPr>
          <p:cNvPr id="34" name="Image 0" descr="preencoded.png">    </p:cNvPr>
          <p:cNvPicPr>
            <a:picLocks noChangeAspect="1"/>
          </p:cNvPicPr>
          <p:nvPr/>
        </p:nvPicPr>
        <p:blipFill>
          <a:blip r:embed="rId1"/>
          <a:stretch>
            <a:fillRect/>
          </a:stretch>
        </p:blipFill>
        <p:spPr>
          <a:xfrm>
            <a:off x="822960" y="5280660"/>
            <a:ext cx="548640" cy="548640"/>
          </a:xfrm>
          <a:prstGeom prst="rect">
            <a:avLst/>
          </a:prstGeom>
        </p:spPr>
      </p:pic>
      <p:sp>
        <p:nvSpPr>
          <p:cNvPr id="35" name="Text 31"/>
          <p:cNvSpPr txBox="1"/>
          <p:nvPr/>
        </p:nvSpPr>
        <p:spPr>
          <a:xfrm>
            <a:off x="1645920" y="5148072"/>
            <a:ext cx="9738360" cy="813816"/>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One idea per box. </a:t>
            </a:r>
            <a:pPr indent="0" marL="0">
              <a:buNone/>
            </a:pPr>
            <a:r>
              <a:rPr lang="en-US" sz="1450" dirty="0">
                <a:solidFill>
                  <a:srgbClr val="333B4F"/>
                </a:solidFill>
                <a:latin typeface="Calibri" pitchFamily="34" charset="0"/>
                <a:ea typeface="Calibri" pitchFamily="34" charset="-122"/>
                <a:cs typeface="Calibri" pitchFamily="34" charset="-120"/>
              </a:rPr>
              <a:t>Item 5 (GCD) uses the predefined-process shape because the details are written elsewhere; its “page 2” chart would start with its own Start.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Three Structures as Flowchart Patterns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Sequence, selection, repetition — and converting between charts and pseudocode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PATTERNS 1 &amp;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Sequence and Selection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00200"/>
            <a:ext cx="3566160" cy="3063240"/>
          </a:xfrm>
          <a:prstGeom prst="roundRect">
            <a:avLst>
              <a:gd name="adj" fmla="val 3582"/>
            </a:avLst>
          </a:prstGeom>
          <a:solidFill>
            <a:srgbClr val="EEF1F6"/>
          </a:solidFill>
          <a:ln w="12700">
            <a:solidFill>
              <a:srgbClr val="EEF1F6"/>
            </a:solidFill>
            <a:prstDash val="solid"/>
          </a:ln>
        </p:spPr>
        <p:txBody>
          <a:bodyPr/>
          <a:p/>
        </p:txBody>
      </p:sp>
      <p:sp>
        <p:nvSpPr>
          <p:cNvPr id="8" name="Text 5"/>
          <p:cNvSpPr txBox="1"/>
          <p:nvPr/>
        </p:nvSpPr>
        <p:spPr>
          <a:xfrm>
            <a:off x="731520" y="1691640"/>
            <a:ext cx="320040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Sequence</a:t>
            </a:r>
            <a:endParaRPr lang="en-US" sz="1600" dirty="0"/>
          </a:p>
        </p:txBody>
      </p:sp>
      <p:sp>
        <p:nvSpPr>
          <p:cNvPr id="9" name="Shape 6"/>
          <p:cNvSpPr/>
          <p:nvPr/>
        </p:nvSpPr>
        <p:spPr>
          <a:xfrm>
            <a:off x="4315968" y="1600200"/>
            <a:ext cx="3566160" cy="3063240"/>
          </a:xfrm>
          <a:prstGeom prst="roundRect">
            <a:avLst>
              <a:gd name="adj" fmla="val 3582"/>
            </a:avLst>
          </a:prstGeom>
          <a:solidFill>
            <a:srgbClr val="EEF1F6"/>
          </a:solidFill>
          <a:ln w="12700">
            <a:solidFill>
              <a:srgbClr val="EEF1F6"/>
            </a:solidFill>
            <a:prstDash val="solid"/>
          </a:ln>
        </p:spPr>
        <p:txBody>
          <a:bodyPr/>
          <a:p/>
        </p:txBody>
      </p:sp>
      <p:sp>
        <p:nvSpPr>
          <p:cNvPr id="10" name="Text 7"/>
          <p:cNvSpPr txBox="1"/>
          <p:nvPr/>
        </p:nvSpPr>
        <p:spPr>
          <a:xfrm>
            <a:off x="4498848" y="1691640"/>
            <a:ext cx="3200400" cy="329184"/>
          </a:xfrm>
          <a:prstGeom prst="rect">
            <a:avLst/>
          </a:prstGeom>
          <a:noFill/>
          <a:ln/>
        </p:spPr>
        <p:txBody>
          <a:bodyPr wrap="square" lIns="0" tIns="0" rIns="0" bIns="0" rtlCol="0" anchor="ctr"/>
          <a:lstStyle/>
          <a:p>
            <a:pPr indent="0" marL="0">
              <a:buNone/>
            </a:pPr>
            <a:r>
              <a:rPr lang="en-US" sz="1600" b="1" dirty="0">
                <a:solidFill>
                  <a:srgbClr val="2F6FB3"/>
                </a:solidFill>
                <a:latin typeface="Cambria" pitchFamily="34" charset="0"/>
                <a:ea typeface="Cambria" pitchFamily="34" charset="-122"/>
                <a:cs typeface="Cambria" pitchFamily="34" charset="-120"/>
              </a:rPr>
              <a:t>Selection · IF–THEN</a:t>
            </a:r>
            <a:endParaRPr lang="en-US" sz="1600" dirty="0"/>
          </a:p>
        </p:txBody>
      </p:sp>
      <p:sp>
        <p:nvSpPr>
          <p:cNvPr id="11" name="Shape 8"/>
          <p:cNvSpPr/>
          <p:nvPr/>
        </p:nvSpPr>
        <p:spPr>
          <a:xfrm>
            <a:off x="8092440" y="1600200"/>
            <a:ext cx="3566160" cy="3063240"/>
          </a:xfrm>
          <a:prstGeom prst="roundRect">
            <a:avLst>
              <a:gd name="adj" fmla="val 3582"/>
            </a:avLst>
          </a:prstGeom>
          <a:solidFill>
            <a:srgbClr val="EEF1F6"/>
          </a:solidFill>
          <a:ln w="12700">
            <a:solidFill>
              <a:srgbClr val="EEF1F6"/>
            </a:solidFill>
            <a:prstDash val="solid"/>
          </a:ln>
        </p:spPr>
        <p:txBody>
          <a:bodyPr/>
          <a:p/>
        </p:txBody>
      </p:sp>
      <p:sp>
        <p:nvSpPr>
          <p:cNvPr id="12" name="Text 9"/>
          <p:cNvSpPr txBox="1"/>
          <p:nvPr/>
        </p:nvSpPr>
        <p:spPr>
          <a:xfrm>
            <a:off x="8275320" y="1691640"/>
            <a:ext cx="3200400" cy="329184"/>
          </a:xfrm>
          <a:prstGeom prst="rect">
            <a:avLst/>
          </a:prstGeom>
          <a:noFill/>
          <a:ln/>
        </p:spPr>
        <p:txBody>
          <a:bodyPr wrap="square" lIns="0" tIns="0" rIns="0" bIns="0" rtlCol="0" anchor="ctr"/>
          <a:lstStyle/>
          <a:p>
            <a:pPr indent="0" marL="0">
              <a:buNone/>
            </a:pPr>
            <a:r>
              <a:rPr lang="en-US" sz="1600" b="1" dirty="0">
                <a:solidFill>
                  <a:srgbClr val="2F6FB3"/>
                </a:solidFill>
                <a:latin typeface="Cambria" pitchFamily="34" charset="0"/>
                <a:ea typeface="Cambria" pitchFamily="34" charset="-122"/>
                <a:cs typeface="Cambria" pitchFamily="34" charset="-120"/>
              </a:rPr>
              <a:t>Selection · IF–THEN–ELSE</a:t>
            </a:r>
            <a:endParaRPr lang="en-US" sz="1600" dirty="0"/>
          </a:p>
        </p:txBody>
      </p:sp>
      <p:sp>
        <p:nvSpPr>
          <p:cNvPr id="13" name="Shape 10"/>
          <p:cNvSpPr/>
          <p:nvPr/>
        </p:nvSpPr>
        <p:spPr>
          <a:xfrm>
            <a:off x="1463040" y="2313432"/>
            <a:ext cx="1737360" cy="402336"/>
          </a:xfrm>
          <a:prstGeom prst="flowChartProcess">
            <a:avLst/>
          </a:prstGeom>
          <a:solidFill>
            <a:srgbClr val="FFFFFF"/>
          </a:solidFill>
          <a:ln w="15875">
            <a:solidFill>
              <a:srgbClr val="14213D"/>
            </a:solidFill>
            <a:prstDash val="solid"/>
          </a:ln>
        </p:spPr>
        <p:txBody>
          <a:bodyPr/>
          <a:p/>
        </p:txBody>
      </p:sp>
      <p:sp>
        <p:nvSpPr>
          <p:cNvPr id="14" name="Text 11"/>
          <p:cNvSpPr txBox="1"/>
          <p:nvPr/>
        </p:nvSpPr>
        <p:spPr>
          <a:xfrm>
            <a:off x="1508760" y="2313432"/>
            <a:ext cx="16459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statement 1</a:t>
            </a:r>
            <a:endParaRPr lang="en-US" sz="1300" dirty="0"/>
          </a:p>
        </p:txBody>
      </p:sp>
      <p:sp>
        <p:nvSpPr>
          <p:cNvPr id="15" name="Shape 12"/>
          <p:cNvSpPr/>
          <p:nvPr/>
        </p:nvSpPr>
        <p:spPr>
          <a:xfrm>
            <a:off x="1463040" y="2999232"/>
            <a:ext cx="1737360" cy="402336"/>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1508760" y="2999232"/>
            <a:ext cx="16459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statement 2</a:t>
            </a:r>
            <a:endParaRPr lang="en-US" sz="1300" dirty="0"/>
          </a:p>
        </p:txBody>
      </p:sp>
      <p:sp>
        <p:nvSpPr>
          <p:cNvPr id="17" name="Shape 14"/>
          <p:cNvSpPr/>
          <p:nvPr/>
        </p:nvSpPr>
        <p:spPr>
          <a:xfrm>
            <a:off x="1463040" y="3685032"/>
            <a:ext cx="1737360" cy="402336"/>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1508760" y="3685032"/>
            <a:ext cx="16459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statement 3</a:t>
            </a:r>
            <a:endParaRPr lang="en-US" sz="1300" dirty="0"/>
          </a:p>
        </p:txBody>
      </p:sp>
      <p:sp>
        <p:nvSpPr>
          <p:cNvPr id="19" name="Shape 16"/>
          <p:cNvSpPr/>
          <p:nvPr/>
        </p:nvSpPr>
        <p:spPr>
          <a:xfrm>
            <a:off x="2331720" y="2084832"/>
            <a:ext cx="0" cy="228600"/>
          </a:xfrm>
          <a:prstGeom prst="line">
            <a:avLst/>
          </a:prstGeom>
          <a:noFill/>
          <a:ln w="15875">
            <a:solidFill>
              <a:srgbClr val="14213D"/>
            </a:solidFill>
            <a:prstDash val="solid"/>
            <a:tailEnd type="triangle"/>
          </a:ln>
        </p:spPr>
        <p:txBody>
          <a:bodyPr/>
          <a:p/>
        </p:txBody>
      </p:sp>
      <p:sp>
        <p:nvSpPr>
          <p:cNvPr id="20" name="Shape 17"/>
          <p:cNvSpPr/>
          <p:nvPr/>
        </p:nvSpPr>
        <p:spPr>
          <a:xfrm>
            <a:off x="2331720" y="2715768"/>
            <a:ext cx="0" cy="283464"/>
          </a:xfrm>
          <a:prstGeom prst="line">
            <a:avLst/>
          </a:prstGeom>
          <a:noFill/>
          <a:ln w="15875">
            <a:solidFill>
              <a:srgbClr val="14213D"/>
            </a:solidFill>
            <a:prstDash val="solid"/>
            <a:tailEnd type="triangle"/>
          </a:ln>
        </p:spPr>
        <p:txBody>
          <a:bodyPr/>
          <a:p/>
        </p:txBody>
      </p:sp>
      <p:sp>
        <p:nvSpPr>
          <p:cNvPr id="21" name="Shape 18"/>
          <p:cNvSpPr/>
          <p:nvPr/>
        </p:nvSpPr>
        <p:spPr>
          <a:xfrm>
            <a:off x="2331720" y="3401568"/>
            <a:ext cx="0" cy="283464"/>
          </a:xfrm>
          <a:prstGeom prst="line">
            <a:avLst/>
          </a:prstGeom>
          <a:noFill/>
          <a:ln w="15875">
            <a:solidFill>
              <a:srgbClr val="14213D"/>
            </a:solidFill>
            <a:prstDash val="solid"/>
            <a:tailEnd type="triangle"/>
          </a:ln>
        </p:spPr>
        <p:txBody>
          <a:bodyPr/>
          <a:p/>
        </p:txBody>
      </p:sp>
      <p:sp>
        <p:nvSpPr>
          <p:cNvPr id="22" name="Shape 19"/>
          <p:cNvSpPr/>
          <p:nvPr/>
        </p:nvSpPr>
        <p:spPr>
          <a:xfrm>
            <a:off x="2331720" y="4087368"/>
            <a:ext cx="0" cy="438912"/>
          </a:xfrm>
          <a:prstGeom prst="line">
            <a:avLst/>
          </a:prstGeom>
          <a:noFill/>
          <a:ln w="15875">
            <a:solidFill>
              <a:srgbClr val="14213D"/>
            </a:solidFill>
            <a:prstDash val="solid"/>
            <a:tailEnd type="triangle"/>
          </a:ln>
        </p:spPr>
        <p:txBody>
          <a:bodyPr/>
          <a:p/>
        </p:txBody>
      </p:sp>
      <p:sp>
        <p:nvSpPr>
          <p:cNvPr id="23" name="Shape 20"/>
          <p:cNvSpPr/>
          <p:nvPr/>
        </p:nvSpPr>
        <p:spPr>
          <a:xfrm>
            <a:off x="4640580" y="2368296"/>
            <a:ext cx="1600200" cy="658368"/>
          </a:xfrm>
          <a:prstGeom prst="flowChartDecision">
            <a:avLst/>
          </a:prstGeom>
          <a:solidFill>
            <a:srgbClr val="E3ECF8"/>
          </a:solidFill>
          <a:ln w="15875">
            <a:solidFill>
              <a:srgbClr val="14213D"/>
            </a:solidFill>
            <a:prstDash val="solid"/>
          </a:ln>
        </p:spPr>
        <p:txBody>
          <a:bodyPr/>
          <a:p/>
        </p:txBody>
      </p:sp>
      <p:sp>
        <p:nvSpPr>
          <p:cNvPr id="24" name="Text 21"/>
          <p:cNvSpPr txBox="1"/>
          <p:nvPr/>
        </p:nvSpPr>
        <p:spPr>
          <a:xfrm>
            <a:off x="4686300" y="2368296"/>
            <a:ext cx="1508760" cy="65836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condition ?</a:t>
            </a:r>
            <a:endParaRPr lang="en-US" sz="1300" dirty="0"/>
          </a:p>
        </p:txBody>
      </p:sp>
      <p:sp>
        <p:nvSpPr>
          <p:cNvPr id="25" name="Shape 22"/>
          <p:cNvSpPr/>
          <p:nvPr/>
        </p:nvSpPr>
        <p:spPr>
          <a:xfrm>
            <a:off x="6652260" y="2496312"/>
            <a:ext cx="868680" cy="402336"/>
          </a:xfrm>
          <a:prstGeom prst="flowChartProcess">
            <a:avLst/>
          </a:prstGeom>
          <a:solidFill>
            <a:srgbClr val="FFFFFF"/>
          </a:solidFill>
          <a:ln w="15875">
            <a:solidFill>
              <a:srgbClr val="14213D"/>
            </a:solidFill>
            <a:prstDash val="solid"/>
          </a:ln>
        </p:spPr>
        <p:txBody>
          <a:bodyPr/>
          <a:p/>
        </p:txBody>
      </p:sp>
      <p:sp>
        <p:nvSpPr>
          <p:cNvPr id="26" name="Text 23"/>
          <p:cNvSpPr txBox="1"/>
          <p:nvPr/>
        </p:nvSpPr>
        <p:spPr>
          <a:xfrm>
            <a:off x="6697980" y="2496312"/>
            <a:ext cx="77724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a:t>
            </a:r>
            <a:endParaRPr lang="en-US" sz="1300" dirty="0"/>
          </a:p>
        </p:txBody>
      </p:sp>
      <p:sp>
        <p:nvSpPr>
          <p:cNvPr id="27" name="Shape 24"/>
          <p:cNvSpPr/>
          <p:nvPr/>
        </p:nvSpPr>
        <p:spPr>
          <a:xfrm>
            <a:off x="5440680" y="2084832"/>
            <a:ext cx="0" cy="283464"/>
          </a:xfrm>
          <a:prstGeom prst="line">
            <a:avLst/>
          </a:prstGeom>
          <a:noFill/>
          <a:ln w="15875">
            <a:solidFill>
              <a:srgbClr val="14213D"/>
            </a:solidFill>
            <a:prstDash val="solid"/>
            <a:tailEnd type="triangle"/>
          </a:ln>
        </p:spPr>
        <p:txBody>
          <a:bodyPr/>
          <a:p/>
        </p:txBody>
      </p:sp>
      <p:sp>
        <p:nvSpPr>
          <p:cNvPr id="28" name="Shape 25"/>
          <p:cNvSpPr/>
          <p:nvPr/>
        </p:nvSpPr>
        <p:spPr>
          <a:xfrm>
            <a:off x="6240780" y="2697480"/>
            <a:ext cx="411480" cy="0"/>
          </a:xfrm>
          <a:prstGeom prst="line">
            <a:avLst/>
          </a:prstGeom>
          <a:noFill/>
          <a:ln w="15875">
            <a:solidFill>
              <a:srgbClr val="14213D"/>
            </a:solidFill>
            <a:prstDash val="solid"/>
            <a:tailEnd type="triangle"/>
          </a:ln>
        </p:spPr>
        <p:txBody>
          <a:bodyPr/>
          <a:p/>
        </p:txBody>
      </p:sp>
      <p:sp>
        <p:nvSpPr>
          <p:cNvPr id="29" name="Text 26"/>
          <p:cNvSpPr txBox="1"/>
          <p:nvPr/>
        </p:nvSpPr>
        <p:spPr>
          <a:xfrm>
            <a:off x="6286500" y="245059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0" name="Shape 27"/>
          <p:cNvSpPr/>
          <p:nvPr/>
        </p:nvSpPr>
        <p:spPr>
          <a:xfrm>
            <a:off x="5440680" y="3026664"/>
            <a:ext cx="0" cy="1499616"/>
          </a:xfrm>
          <a:prstGeom prst="line">
            <a:avLst/>
          </a:prstGeom>
          <a:noFill/>
          <a:ln w="15875">
            <a:solidFill>
              <a:srgbClr val="14213D"/>
            </a:solidFill>
            <a:prstDash val="solid"/>
            <a:tailEnd type="triangle"/>
          </a:ln>
        </p:spPr>
        <p:txBody>
          <a:bodyPr/>
          <a:p/>
        </p:txBody>
      </p:sp>
      <p:sp>
        <p:nvSpPr>
          <p:cNvPr id="31" name="Text 28"/>
          <p:cNvSpPr txBox="1"/>
          <p:nvPr/>
        </p:nvSpPr>
        <p:spPr>
          <a:xfrm>
            <a:off x="5504688" y="3008376"/>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2" name="Shape 29"/>
          <p:cNvSpPr/>
          <p:nvPr/>
        </p:nvSpPr>
        <p:spPr>
          <a:xfrm>
            <a:off x="7086600" y="2898648"/>
            <a:ext cx="0" cy="804672"/>
          </a:xfrm>
          <a:prstGeom prst="line">
            <a:avLst/>
          </a:prstGeom>
          <a:noFill/>
          <a:ln w="15875">
            <a:solidFill>
              <a:srgbClr val="14213D"/>
            </a:solidFill>
            <a:prstDash val="solid"/>
          </a:ln>
        </p:spPr>
        <p:txBody>
          <a:bodyPr/>
          <a:p/>
        </p:txBody>
      </p:sp>
      <p:sp>
        <p:nvSpPr>
          <p:cNvPr id="33" name="Shape 30"/>
          <p:cNvSpPr/>
          <p:nvPr/>
        </p:nvSpPr>
        <p:spPr>
          <a:xfrm flipH="1">
            <a:off x="5440680" y="3703320"/>
            <a:ext cx="1645920" cy="0"/>
          </a:xfrm>
          <a:prstGeom prst="line">
            <a:avLst/>
          </a:prstGeom>
          <a:noFill/>
          <a:ln w="15875">
            <a:solidFill>
              <a:srgbClr val="14213D"/>
            </a:solidFill>
            <a:prstDash val="solid"/>
            <a:tailEnd type="triangle"/>
          </a:ln>
        </p:spPr>
        <p:txBody>
          <a:bodyPr/>
          <a:p/>
        </p:txBody>
      </p:sp>
      <p:sp>
        <p:nvSpPr>
          <p:cNvPr id="34" name="Shape 31"/>
          <p:cNvSpPr/>
          <p:nvPr/>
        </p:nvSpPr>
        <p:spPr>
          <a:xfrm>
            <a:off x="9075420" y="2368296"/>
            <a:ext cx="1600200" cy="658368"/>
          </a:xfrm>
          <a:prstGeom prst="flowChartDecision">
            <a:avLst/>
          </a:prstGeom>
          <a:solidFill>
            <a:srgbClr val="E3ECF8"/>
          </a:solidFill>
          <a:ln w="15875">
            <a:solidFill>
              <a:srgbClr val="14213D"/>
            </a:solidFill>
            <a:prstDash val="solid"/>
          </a:ln>
        </p:spPr>
        <p:txBody>
          <a:bodyPr/>
          <a:p/>
        </p:txBody>
      </p:sp>
      <p:sp>
        <p:nvSpPr>
          <p:cNvPr id="35" name="Text 32"/>
          <p:cNvSpPr txBox="1"/>
          <p:nvPr/>
        </p:nvSpPr>
        <p:spPr>
          <a:xfrm>
            <a:off x="9121140" y="2368296"/>
            <a:ext cx="1508760" cy="65836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condition ?</a:t>
            </a:r>
            <a:endParaRPr lang="en-US" sz="1300" dirty="0"/>
          </a:p>
        </p:txBody>
      </p:sp>
      <p:sp>
        <p:nvSpPr>
          <p:cNvPr id="36" name="Shape 33"/>
          <p:cNvSpPr/>
          <p:nvPr/>
        </p:nvSpPr>
        <p:spPr>
          <a:xfrm>
            <a:off x="10698480" y="3227832"/>
            <a:ext cx="822960" cy="402336"/>
          </a:xfrm>
          <a:prstGeom prst="flowChartProcess">
            <a:avLst/>
          </a:prstGeom>
          <a:solidFill>
            <a:srgbClr val="FFFFFF"/>
          </a:solidFill>
          <a:ln w="15875">
            <a:solidFill>
              <a:srgbClr val="14213D"/>
            </a:solidFill>
            <a:prstDash val="solid"/>
          </a:ln>
        </p:spPr>
        <p:txBody>
          <a:bodyPr/>
          <a:p/>
        </p:txBody>
      </p:sp>
      <p:sp>
        <p:nvSpPr>
          <p:cNvPr id="37" name="Text 34"/>
          <p:cNvSpPr txBox="1"/>
          <p:nvPr/>
        </p:nvSpPr>
        <p:spPr>
          <a:xfrm>
            <a:off x="10744200" y="3227832"/>
            <a:ext cx="7315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a:t>
            </a:r>
            <a:endParaRPr lang="en-US" sz="1300" dirty="0"/>
          </a:p>
        </p:txBody>
      </p:sp>
      <p:sp>
        <p:nvSpPr>
          <p:cNvPr id="38" name="Shape 35"/>
          <p:cNvSpPr/>
          <p:nvPr/>
        </p:nvSpPr>
        <p:spPr>
          <a:xfrm>
            <a:off x="8229600" y="3227832"/>
            <a:ext cx="822960" cy="402336"/>
          </a:xfrm>
          <a:prstGeom prst="flowChartProcess">
            <a:avLst/>
          </a:prstGeom>
          <a:solidFill>
            <a:srgbClr val="FFFFFF"/>
          </a:solidFill>
          <a:ln w="15875">
            <a:solidFill>
              <a:srgbClr val="14213D"/>
            </a:solidFill>
            <a:prstDash val="solid"/>
          </a:ln>
        </p:spPr>
        <p:txBody>
          <a:bodyPr/>
          <a:p/>
        </p:txBody>
      </p:sp>
      <p:sp>
        <p:nvSpPr>
          <p:cNvPr id="39" name="Text 36"/>
          <p:cNvSpPr txBox="1"/>
          <p:nvPr/>
        </p:nvSpPr>
        <p:spPr>
          <a:xfrm>
            <a:off x="8275320" y="3227832"/>
            <a:ext cx="7315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a:t>
            </a:r>
            <a:endParaRPr lang="en-US" sz="1300" dirty="0"/>
          </a:p>
        </p:txBody>
      </p:sp>
      <p:sp>
        <p:nvSpPr>
          <p:cNvPr id="40" name="Shape 37"/>
          <p:cNvSpPr/>
          <p:nvPr/>
        </p:nvSpPr>
        <p:spPr>
          <a:xfrm>
            <a:off x="9875520" y="2084832"/>
            <a:ext cx="0" cy="283464"/>
          </a:xfrm>
          <a:prstGeom prst="line">
            <a:avLst/>
          </a:prstGeom>
          <a:noFill/>
          <a:ln w="15875">
            <a:solidFill>
              <a:srgbClr val="14213D"/>
            </a:solidFill>
            <a:prstDash val="solid"/>
            <a:tailEnd type="triangle"/>
          </a:ln>
        </p:spPr>
        <p:txBody>
          <a:bodyPr/>
          <a:p/>
        </p:txBody>
      </p:sp>
      <p:sp>
        <p:nvSpPr>
          <p:cNvPr id="41" name="Shape 38"/>
          <p:cNvSpPr/>
          <p:nvPr/>
        </p:nvSpPr>
        <p:spPr>
          <a:xfrm>
            <a:off x="10675620" y="2697480"/>
            <a:ext cx="434340" cy="0"/>
          </a:xfrm>
          <a:prstGeom prst="line">
            <a:avLst/>
          </a:prstGeom>
          <a:noFill/>
          <a:ln w="15875">
            <a:solidFill>
              <a:srgbClr val="14213D"/>
            </a:solidFill>
            <a:prstDash val="solid"/>
          </a:ln>
        </p:spPr>
        <p:txBody>
          <a:bodyPr/>
          <a:p/>
        </p:txBody>
      </p:sp>
      <p:sp>
        <p:nvSpPr>
          <p:cNvPr id="42" name="Shape 39"/>
          <p:cNvSpPr/>
          <p:nvPr/>
        </p:nvSpPr>
        <p:spPr>
          <a:xfrm>
            <a:off x="11109960" y="2697480"/>
            <a:ext cx="0" cy="530352"/>
          </a:xfrm>
          <a:prstGeom prst="line">
            <a:avLst/>
          </a:prstGeom>
          <a:noFill/>
          <a:ln w="15875">
            <a:solidFill>
              <a:srgbClr val="14213D"/>
            </a:solidFill>
            <a:prstDash val="solid"/>
            <a:tailEnd type="triangle"/>
          </a:ln>
        </p:spPr>
        <p:txBody>
          <a:bodyPr/>
          <a:p/>
        </p:txBody>
      </p:sp>
      <p:sp>
        <p:nvSpPr>
          <p:cNvPr id="43" name="Text 40"/>
          <p:cNvSpPr txBox="1"/>
          <p:nvPr/>
        </p:nvSpPr>
        <p:spPr>
          <a:xfrm>
            <a:off x="10721340" y="245059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44" name="Shape 41"/>
          <p:cNvSpPr/>
          <p:nvPr/>
        </p:nvSpPr>
        <p:spPr>
          <a:xfrm flipH="1">
            <a:off x="8641080" y="2697480"/>
            <a:ext cx="434340" cy="0"/>
          </a:xfrm>
          <a:prstGeom prst="line">
            <a:avLst/>
          </a:prstGeom>
          <a:noFill/>
          <a:ln w="15875">
            <a:solidFill>
              <a:srgbClr val="14213D"/>
            </a:solidFill>
            <a:prstDash val="solid"/>
          </a:ln>
        </p:spPr>
        <p:txBody>
          <a:bodyPr/>
          <a:p/>
        </p:txBody>
      </p:sp>
      <p:sp>
        <p:nvSpPr>
          <p:cNvPr id="45" name="Shape 42"/>
          <p:cNvSpPr/>
          <p:nvPr/>
        </p:nvSpPr>
        <p:spPr>
          <a:xfrm>
            <a:off x="8641080" y="2697480"/>
            <a:ext cx="0" cy="530352"/>
          </a:xfrm>
          <a:prstGeom prst="line">
            <a:avLst/>
          </a:prstGeom>
          <a:noFill/>
          <a:ln w="15875">
            <a:solidFill>
              <a:srgbClr val="14213D"/>
            </a:solidFill>
            <a:prstDash val="solid"/>
            <a:tailEnd type="triangle"/>
          </a:ln>
        </p:spPr>
        <p:txBody>
          <a:bodyPr/>
          <a:p/>
        </p:txBody>
      </p:sp>
      <p:sp>
        <p:nvSpPr>
          <p:cNvPr id="46" name="Text 43"/>
          <p:cNvSpPr txBox="1"/>
          <p:nvPr/>
        </p:nvSpPr>
        <p:spPr>
          <a:xfrm>
            <a:off x="8526780" y="2450592"/>
            <a:ext cx="502920" cy="219456"/>
          </a:xfrm>
          <a:prstGeom prst="rect">
            <a:avLst/>
          </a:prstGeom>
          <a:noFill/>
          <a:ln/>
        </p:spPr>
        <p:txBody>
          <a:bodyPr wrap="square" lIns="0" tIns="0" rIns="0" bIns="0" rtlCol="0" anchor="ctr"/>
          <a:lstStyle/>
          <a:p>
            <a:pPr algn="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7" name="Shape 44"/>
          <p:cNvSpPr/>
          <p:nvPr/>
        </p:nvSpPr>
        <p:spPr>
          <a:xfrm>
            <a:off x="11109960" y="3630168"/>
            <a:ext cx="0" cy="347472"/>
          </a:xfrm>
          <a:prstGeom prst="line">
            <a:avLst/>
          </a:prstGeom>
          <a:noFill/>
          <a:ln w="15875">
            <a:solidFill>
              <a:srgbClr val="14213D"/>
            </a:solidFill>
            <a:prstDash val="solid"/>
          </a:ln>
        </p:spPr>
        <p:txBody>
          <a:bodyPr/>
          <a:p/>
        </p:txBody>
      </p:sp>
      <p:sp>
        <p:nvSpPr>
          <p:cNvPr id="48" name="Shape 45"/>
          <p:cNvSpPr/>
          <p:nvPr/>
        </p:nvSpPr>
        <p:spPr>
          <a:xfrm flipH="1">
            <a:off x="9875520" y="3977640"/>
            <a:ext cx="1234440" cy="0"/>
          </a:xfrm>
          <a:prstGeom prst="line">
            <a:avLst/>
          </a:prstGeom>
          <a:noFill/>
          <a:ln w="15875">
            <a:solidFill>
              <a:srgbClr val="14213D"/>
            </a:solidFill>
            <a:prstDash val="solid"/>
          </a:ln>
        </p:spPr>
        <p:txBody>
          <a:bodyPr/>
          <a:p/>
        </p:txBody>
      </p:sp>
      <p:sp>
        <p:nvSpPr>
          <p:cNvPr id="49" name="Shape 46"/>
          <p:cNvSpPr/>
          <p:nvPr/>
        </p:nvSpPr>
        <p:spPr>
          <a:xfrm>
            <a:off x="8641080" y="3630168"/>
            <a:ext cx="0" cy="347472"/>
          </a:xfrm>
          <a:prstGeom prst="line">
            <a:avLst/>
          </a:prstGeom>
          <a:noFill/>
          <a:ln w="15875">
            <a:solidFill>
              <a:srgbClr val="14213D"/>
            </a:solidFill>
            <a:prstDash val="solid"/>
          </a:ln>
        </p:spPr>
        <p:txBody>
          <a:bodyPr/>
          <a:p/>
        </p:txBody>
      </p:sp>
      <p:sp>
        <p:nvSpPr>
          <p:cNvPr id="50" name="Shape 47"/>
          <p:cNvSpPr/>
          <p:nvPr/>
        </p:nvSpPr>
        <p:spPr>
          <a:xfrm>
            <a:off x="8641080" y="3977640"/>
            <a:ext cx="1234440" cy="0"/>
          </a:xfrm>
          <a:prstGeom prst="line">
            <a:avLst/>
          </a:prstGeom>
          <a:noFill/>
          <a:ln w="15875">
            <a:solidFill>
              <a:srgbClr val="14213D"/>
            </a:solidFill>
            <a:prstDash val="solid"/>
          </a:ln>
        </p:spPr>
        <p:txBody>
          <a:bodyPr/>
          <a:p/>
        </p:txBody>
      </p:sp>
      <p:sp>
        <p:nvSpPr>
          <p:cNvPr id="51" name="Shape 48"/>
          <p:cNvSpPr/>
          <p:nvPr/>
        </p:nvSpPr>
        <p:spPr>
          <a:xfrm>
            <a:off x="9875520" y="3977640"/>
            <a:ext cx="0" cy="548640"/>
          </a:xfrm>
          <a:prstGeom prst="line">
            <a:avLst/>
          </a:prstGeom>
          <a:noFill/>
          <a:ln w="15875">
            <a:solidFill>
              <a:srgbClr val="14213D"/>
            </a:solidFill>
            <a:prstDash val="solid"/>
            <a:tailEnd type="triangle"/>
          </a:ln>
        </p:spPr>
        <p:txBody>
          <a:bodyPr/>
          <a:p/>
        </p:txBody>
      </p:sp>
      <p:sp>
        <p:nvSpPr>
          <p:cNvPr id="52" name="Shape 49"/>
          <p:cNvSpPr/>
          <p:nvPr/>
        </p:nvSpPr>
        <p:spPr>
          <a:xfrm>
            <a:off x="548640" y="4800600"/>
            <a:ext cx="3566160" cy="1298448"/>
          </a:xfrm>
          <a:prstGeom prst="roundRect">
            <a:avLst>
              <a:gd name="adj" fmla="val 5634"/>
            </a:avLst>
          </a:prstGeom>
          <a:solidFill>
            <a:srgbClr val="F4F6FA"/>
          </a:solidFill>
          <a:ln w="9525">
            <a:solidFill>
              <a:srgbClr val="C9D0DD"/>
            </a:solidFill>
            <a:prstDash val="solid"/>
          </a:ln>
        </p:spPr>
        <p:txBody>
          <a:bodyPr/>
          <a:p/>
        </p:txBody>
      </p:sp>
      <p:sp>
        <p:nvSpPr>
          <p:cNvPr id="53" name="Text 50"/>
          <p:cNvSpPr txBox="1"/>
          <p:nvPr/>
        </p:nvSpPr>
        <p:spPr>
          <a:xfrm>
            <a:off x="731520" y="4937760"/>
            <a:ext cx="3200400" cy="1069848"/>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statement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statement 2</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statement 3</a:t>
            </a:r>
            <a:endParaRPr lang="en-US" sz="1400" dirty="0"/>
          </a:p>
        </p:txBody>
      </p:sp>
      <p:sp>
        <p:nvSpPr>
          <p:cNvPr id="54" name="Shape 51"/>
          <p:cNvSpPr/>
          <p:nvPr/>
        </p:nvSpPr>
        <p:spPr>
          <a:xfrm>
            <a:off x="4315968" y="4800600"/>
            <a:ext cx="3566160" cy="1298448"/>
          </a:xfrm>
          <a:prstGeom prst="roundRect">
            <a:avLst>
              <a:gd name="adj" fmla="val 5634"/>
            </a:avLst>
          </a:prstGeom>
          <a:solidFill>
            <a:srgbClr val="F4F6FA"/>
          </a:solidFill>
          <a:ln w="9525">
            <a:solidFill>
              <a:srgbClr val="C9D0DD"/>
            </a:solidFill>
            <a:prstDash val="solid"/>
          </a:ln>
        </p:spPr>
        <p:txBody>
          <a:bodyPr/>
          <a:p/>
        </p:txBody>
      </p:sp>
      <p:sp>
        <p:nvSpPr>
          <p:cNvPr id="55" name="Text 52"/>
          <p:cNvSpPr txBox="1"/>
          <p:nvPr/>
        </p:nvSpPr>
        <p:spPr>
          <a:xfrm>
            <a:off x="4498848" y="4937760"/>
            <a:ext cx="3200400" cy="1069848"/>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condition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p:txBody>
      </p:sp>
      <p:sp>
        <p:nvSpPr>
          <p:cNvPr id="56" name="Shape 53"/>
          <p:cNvSpPr/>
          <p:nvPr/>
        </p:nvSpPr>
        <p:spPr>
          <a:xfrm>
            <a:off x="8092440" y="4800600"/>
            <a:ext cx="3566160" cy="1298448"/>
          </a:xfrm>
          <a:prstGeom prst="roundRect">
            <a:avLst>
              <a:gd name="adj" fmla="val 5634"/>
            </a:avLst>
          </a:prstGeom>
          <a:solidFill>
            <a:srgbClr val="F4F6FA"/>
          </a:solidFill>
          <a:ln w="9525">
            <a:solidFill>
              <a:srgbClr val="C9D0DD"/>
            </a:solidFill>
            <a:prstDash val="solid"/>
          </a:ln>
        </p:spPr>
        <p:txBody>
          <a:bodyPr/>
          <a:p/>
        </p:txBody>
      </p:sp>
      <p:sp>
        <p:nvSpPr>
          <p:cNvPr id="57" name="Text 54"/>
          <p:cNvSpPr txBox="1"/>
          <p:nvPr/>
        </p:nvSpPr>
        <p:spPr>
          <a:xfrm>
            <a:off x="8275320" y="4937760"/>
            <a:ext cx="3200400" cy="1069848"/>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condition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B</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IF</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PATTERN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Repetition: the Arrow That Goes Back Up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00200"/>
            <a:ext cx="5486400" cy="3520440"/>
          </a:xfrm>
          <a:prstGeom prst="roundRect">
            <a:avLst>
              <a:gd name="adj" fmla="val 3117"/>
            </a:avLst>
          </a:prstGeom>
          <a:solidFill>
            <a:srgbClr val="EEF1F6"/>
          </a:solidFill>
          <a:ln w="12700">
            <a:solidFill>
              <a:srgbClr val="EEF1F6"/>
            </a:solidFill>
            <a:prstDash val="solid"/>
          </a:ln>
        </p:spPr>
        <p:txBody>
          <a:bodyPr/>
          <a:p/>
        </p:txBody>
      </p:sp>
      <p:sp>
        <p:nvSpPr>
          <p:cNvPr id="8" name="Text 5"/>
          <p:cNvSpPr txBox="1"/>
          <p:nvPr/>
        </p:nvSpPr>
        <p:spPr>
          <a:xfrm>
            <a:off x="731520" y="1691640"/>
            <a:ext cx="5120640" cy="329184"/>
          </a:xfrm>
          <a:prstGeom prst="rect">
            <a:avLst/>
          </a:prstGeom>
          <a:noFill/>
          <a:ln/>
        </p:spPr>
        <p:txBody>
          <a:bodyPr wrap="square" lIns="0" tIns="0" rIns="0" bIns="0" rtlCol="0" anchor="ctr"/>
          <a:lstStyle/>
          <a:p>
            <a:pPr indent="0" marL="0">
              <a:buNone/>
            </a:pPr>
            <a:r>
              <a:rPr lang="en-US" sz="1600" b="1" dirty="0">
                <a:solidFill>
                  <a:srgbClr val="2E9E6A"/>
                </a:solidFill>
                <a:latin typeface="Cambria" pitchFamily="34" charset="0"/>
                <a:ea typeface="Cambria" pitchFamily="34" charset="-122"/>
                <a:cs typeface="Cambria" pitchFamily="34" charset="-120"/>
              </a:rPr>
              <a:t>Pre-test loop · WHILE</a:t>
            </a:r>
            <a:endParaRPr lang="en-US" sz="1600" dirty="0"/>
          </a:p>
        </p:txBody>
      </p:sp>
      <p:sp>
        <p:nvSpPr>
          <p:cNvPr id="9" name="Shape 6"/>
          <p:cNvSpPr/>
          <p:nvPr/>
        </p:nvSpPr>
        <p:spPr>
          <a:xfrm>
            <a:off x="1325880" y="2459736"/>
            <a:ext cx="1645920" cy="658368"/>
          </a:xfrm>
          <a:prstGeom prst="flowChartDecision">
            <a:avLst/>
          </a:prstGeom>
          <a:solidFill>
            <a:srgbClr val="E3ECF8"/>
          </a:solidFill>
          <a:ln w="15875">
            <a:solidFill>
              <a:srgbClr val="14213D"/>
            </a:solidFill>
            <a:prstDash val="solid"/>
          </a:ln>
        </p:spPr>
        <p:txBody>
          <a:bodyPr/>
          <a:p/>
        </p:txBody>
      </p:sp>
      <p:sp>
        <p:nvSpPr>
          <p:cNvPr id="10" name="Text 7"/>
          <p:cNvSpPr txBox="1"/>
          <p:nvPr/>
        </p:nvSpPr>
        <p:spPr>
          <a:xfrm>
            <a:off x="1371600" y="2459736"/>
            <a:ext cx="1554480" cy="65836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condition ?</a:t>
            </a:r>
            <a:endParaRPr lang="en-US" sz="1300" dirty="0"/>
          </a:p>
        </p:txBody>
      </p:sp>
      <p:sp>
        <p:nvSpPr>
          <p:cNvPr id="11" name="Shape 8"/>
          <p:cNvSpPr/>
          <p:nvPr/>
        </p:nvSpPr>
        <p:spPr>
          <a:xfrm>
            <a:off x="1417320" y="3593592"/>
            <a:ext cx="1463040" cy="402336"/>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463040" y="3593592"/>
            <a:ext cx="137160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body</a:t>
            </a:r>
            <a:endParaRPr lang="en-US" sz="1300" dirty="0"/>
          </a:p>
        </p:txBody>
      </p:sp>
      <p:sp>
        <p:nvSpPr>
          <p:cNvPr id="13" name="Shape 10"/>
          <p:cNvSpPr/>
          <p:nvPr/>
        </p:nvSpPr>
        <p:spPr>
          <a:xfrm>
            <a:off x="2148840" y="2103120"/>
            <a:ext cx="0" cy="356616"/>
          </a:xfrm>
          <a:prstGeom prst="line">
            <a:avLst/>
          </a:prstGeom>
          <a:noFill/>
          <a:ln w="15875">
            <a:solidFill>
              <a:srgbClr val="14213D"/>
            </a:solidFill>
            <a:prstDash val="solid"/>
            <a:tailEnd type="triangle"/>
          </a:ln>
        </p:spPr>
        <p:txBody>
          <a:bodyPr/>
          <a:p/>
        </p:txBody>
      </p:sp>
      <p:sp>
        <p:nvSpPr>
          <p:cNvPr id="14" name="Shape 11"/>
          <p:cNvSpPr/>
          <p:nvPr/>
        </p:nvSpPr>
        <p:spPr>
          <a:xfrm>
            <a:off x="2148840" y="3118104"/>
            <a:ext cx="0" cy="475488"/>
          </a:xfrm>
          <a:prstGeom prst="line">
            <a:avLst/>
          </a:prstGeom>
          <a:noFill/>
          <a:ln w="15875">
            <a:solidFill>
              <a:srgbClr val="14213D"/>
            </a:solidFill>
            <a:prstDash val="solid"/>
            <a:tailEnd type="triangle"/>
          </a:ln>
        </p:spPr>
        <p:txBody>
          <a:bodyPr/>
          <a:p/>
        </p:txBody>
      </p:sp>
      <p:sp>
        <p:nvSpPr>
          <p:cNvPr id="15" name="Text 12"/>
          <p:cNvSpPr txBox="1"/>
          <p:nvPr/>
        </p:nvSpPr>
        <p:spPr>
          <a:xfrm>
            <a:off x="2212848" y="3099816"/>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16" name="Shape 13"/>
          <p:cNvSpPr/>
          <p:nvPr/>
        </p:nvSpPr>
        <p:spPr>
          <a:xfrm>
            <a:off x="2148840" y="3995928"/>
            <a:ext cx="0" cy="301752"/>
          </a:xfrm>
          <a:prstGeom prst="line">
            <a:avLst/>
          </a:prstGeom>
          <a:noFill/>
          <a:ln w="15875">
            <a:solidFill>
              <a:srgbClr val="14213D"/>
            </a:solidFill>
            <a:prstDash val="solid"/>
          </a:ln>
        </p:spPr>
        <p:txBody>
          <a:bodyPr/>
          <a:p/>
        </p:txBody>
      </p:sp>
      <p:sp>
        <p:nvSpPr>
          <p:cNvPr id="17" name="Shape 14"/>
          <p:cNvSpPr/>
          <p:nvPr/>
        </p:nvSpPr>
        <p:spPr>
          <a:xfrm flipH="1">
            <a:off x="822960" y="4297680"/>
            <a:ext cx="1325880" cy="0"/>
          </a:xfrm>
          <a:prstGeom prst="line">
            <a:avLst/>
          </a:prstGeom>
          <a:noFill/>
          <a:ln w="15875">
            <a:solidFill>
              <a:srgbClr val="14213D"/>
            </a:solidFill>
            <a:prstDash val="solid"/>
          </a:ln>
        </p:spPr>
        <p:txBody>
          <a:bodyPr/>
          <a:p/>
        </p:txBody>
      </p:sp>
      <p:sp>
        <p:nvSpPr>
          <p:cNvPr id="18" name="Shape 15"/>
          <p:cNvSpPr/>
          <p:nvPr/>
        </p:nvSpPr>
        <p:spPr>
          <a:xfrm flipV="1">
            <a:off x="822960" y="2286000"/>
            <a:ext cx="0" cy="2011680"/>
          </a:xfrm>
          <a:prstGeom prst="line">
            <a:avLst/>
          </a:prstGeom>
          <a:noFill/>
          <a:ln w="15875">
            <a:solidFill>
              <a:srgbClr val="14213D"/>
            </a:solidFill>
            <a:prstDash val="solid"/>
          </a:ln>
        </p:spPr>
        <p:txBody>
          <a:bodyPr/>
          <a:p/>
        </p:txBody>
      </p:sp>
      <p:sp>
        <p:nvSpPr>
          <p:cNvPr id="19" name="Shape 16"/>
          <p:cNvSpPr/>
          <p:nvPr/>
        </p:nvSpPr>
        <p:spPr>
          <a:xfrm>
            <a:off x="822960" y="2286000"/>
            <a:ext cx="1325880" cy="0"/>
          </a:xfrm>
          <a:prstGeom prst="line">
            <a:avLst/>
          </a:prstGeom>
          <a:noFill/>
          <a:ln w="15875">
            <a:solidFill>
              <a:srgbClr val="14213D"/>
            </a:solidFill>
            <a:prstDash val="solid"/>
            <a:tailEnd type="triangle"/>
          </a:ln>
        </p:spPr>
        <p:txBody>
          <a:bodyPr/>
          <a:p/>
        </p:txBody>
      </p:sp>
      <p:sp>
        <p:nvSpPr>
          <p:cNvPr id="20" name="Shape 17"/>
          <p:cNvSpPr/>
          <p:nvPr/>
        </p:nvSpPr>
        <p:spPr>
          <a:xfrm>
            <a:off x="2971800" y="2788920"/>
            <a:ext cx="548640" cy="0"/>
          </a:xfrm>
          <a:prstGeom prst="line">
            <a:avLst/>
          </a:prstGeom>
          <a:noFill/>
          <a:ln w="15875">
            <a:solidFill>
              <a:srgbClr val="14213D"/>
            </a:solidFill>
            <a:prstDash val="solid"/>
          </a:ln>
        </p:spPr>
        <p:txBody>
          <a:bodyPr/>
          <a:p/>
        </p:txBody>
      </p:sp>
      <p:sp>
        <p:nvSpPr>
          <p:cNvPr id="21" name="Shape 18"/>
          <p:cNvSpPr/>
          <p:nvPr/>
        </p:nvSpPr>
        <p:spPr>
          <a:xfrm>
            <a:off x="3520440" y="2788920"/>
            <a:ext cx="0" cy="2057400"/>
          </a:xfrm>
          <a:prstGeom prst="line">
            <a:avLst/>
          </a:prstGeom>
          <a:noFill/>
          <a:ln w="15875">
            <a:solidFill>
              <a:srgbClr val="14213D"/>
            </a:solidFill>
            <a:prstDash val="solid"/>
            <a:tailEnd type="triangle"/>
          </a:ln>
        </p:spPr>
        <p:txBody>
          <a:bodyPr/>
          <a:p/>
        </p:txBody>
      </p:sp>
      <p:sp>
        <p:nvSpPr>
          <p:cNvPr id="22" name="Text 19"/>
          <p:cNvSpPr txBox="1"/>
          <p:nvPr/>
        </p:nvSpPr>
        <p:spPr>
          <a:xfrm>
            <a:off x="3017520" y="254203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3" name="Text 20"/>
          <p:cNvSpPr txBox="1"/>
          <p:nvPr/>
        </p:nvSpPr>
        <p:spPr>
          <a:xfrm>
            <a:off x="3611880" y="4617720"/>
            <a:ext cx="548640" cy="2743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exit</a:t>
            </a:r>
            <a:endParaRPr lang="en-US" sz="1300" dirty="0"/>
          </a:p>
        </p:txBody>
      </p:sp>
      <p:sp>
        <p:nvSpPr>
          <p:cNvPr id="24" name="Shape 21"/>
          <p:cNvSpPr/>
          <p:nvPr/>
        </p:nvSpPr>
        <p:spPr>
          <a:xfrm>
            <a:off x="3977640" y="2148840"/>
            <a:ext cx="1874520" cy="1188720"/>
          </a:xfrm>
          <a:prstGeom prst="roundRect">
            <a:avLst>
              <a:gd name="adj" fmla="val 6154"/>
            </a:avLst>
          </a:prstGeom>
          <a:solidFill>
            <a:srgbClr val="F4F6FA"/>
          </a:solidFill>
          <a:ln w="9525">
            <a:solidFill>
              <a:srgbClr val="C9D0DD"/>
            </a:solidFill>
            <a:prstDash val="solid"/>
          </a:ln>
        </p:spPr>
        <p:txBody>
          <a:bodyPr/>
          <a:p/>
        </p:txBody>
      </p:sp>
      <p:sp>
        <p:nvSpPr>
          <p:cNvPr id="25" name="Text 22"/>
          <p:cNvSpPr txBox="1"/>
          <p:nvPr/>
        </p:nvSpPr>
        <p:spPr>
          <a:xfrm>
            <a:off x="4160520" y="2286000"/>
            <a:ext cx="1508760" cy="9601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cond</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body</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p:txBody>
      </p:sp>
      <p:sp>
        <p:nvSpPr>
          <p:cNvPr id="26" name="Text 23"/>
          <p:cNvSpPr txBox="1"/>
          <p:nvPr/>
        </p:nvSpPr>
        <p:spPr>
          <a:xfrm>
            <a:off x="3977640" y="3474720"/>
            <a:ext cx="1920240" cy="15544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Condition first: the body may run 0 times.</a:t>
            </a:r>
            <a:endParaRPr lang="en-US" sz="1400" dirty="0"/>
          </a:p>
        </p:txBody>
      </p:sp>
      <p:sp>
        <p:nvSpPr>
          <p:cNvPr id="27" name="Shape 24"/>
          <p:cNvSpPr/>
          <p:nvPr/>
        </p:nvSpPr>
        <p:spPr>
          <a:xfrm>
            <a:off x="6172200" y="1600200"/>
            <a:ext cx="5486400" cy="3520440"/>
          </a:xfrm>
          <a:prstGeom prst="roundRect">
            <a:avLst>
              <a:gd name="adj" fmla="val 3117"/>
            </a:avLst>
          </a:prstGeom>
          <a:solidFill>
            <a:srgbClr val="EEF1F6"/>
          </a:solidFill>
          <a:ln w="12700">
            <a:solidFill>
              <a:srgbClr val="EEF1F6"/>
            </a:solidFill>
            <a:prstDash val="solid"/>
          </a:ln>
        </p:spPr>
        <p:txBody>
          <a:bodyPr/>
          <a:p/>
        </p:txBody>
      </p:sp>
      <p:sp>
        <p:nvSpPr>
          <p:cNvPr id="28" name="Text 25"/>
          <p:cNvSpPr txBox="1"/>
          <p:nvPr/>
        </p:nvSpPr>
        <p:spPr>
          <a:xfrm>
            <a:off x="6355080" y="1691640"/>
            <a:ext cx="5120640" cy="329184"/>
          </a:xfrm>
          <a:prstGeom prst="rect">
            <a:avLst/>
          </a:prstGeom>
          <a:noFill/>
          <a:ln/>
        </p:spPr>
        <p:txBody>
          <a:bodyPr wrap="square" lIns="0" tIns="0" rIns="0" bIns="0" rtlCol="0" anchor="ctr"/>
          <a:lstStyle/>
          <a:p>
            <a:pPr indent="0" marL="0">
              <a:buNone/>
            </a:pPr>
            <a:r>
              <a:rPr lang="en-US" sz="1600" b="1" dirty="0">
                <a:solidFill>
                  <a:srgbClr val="2E9E6A"/>
                </a:solidFill>
                <a:latin typeface="Cambria" pitchFamily="34" charset="0"/>
                <a:ea typeface="Cambria" pitchFamily="34" charset="-122"/>
                <a:cs typeface="Cambria" pitchFamily="34" charset="-120"/>
              </a:rPr>
              <a:t>Post-test loop · preview (Week 7)</a:t>
            </a:r>
            <a:endParaRPr lang="en-US" sz="1600" dirty="0"/>
          </a:p>
        </p:txBody>
      </p:sp>
      <p:sp>
        <p:nvSpPr>
          <p:cNvPr id="29" name="Shape 26"/>
          <p:cNvSpPr/>
          <p:nvPr/>
        </p:nvSpPr>
        <p:spPr>
          <a:xfrm>
            <a:off x="7269480" y="2404872"/>
            <a:ext cx="1463040" cy="402336"/>
          </a:xfrm>
          <a:prstGeom prst="flowChartProcess">
            <a:avLst/>
          </a:prstGeom>
          <a:solidFill>
            <a:srgbClr val="FFFFFF"/>
          </a:solidFill>
          <a:ln w="15875">
            <a:solidFill>
              <a:srgbClr val="14213D"/>
            </a:solidFill>
            <a:prstDash val="solid"/>
          </a:ln>
        </p:spPr>
        <p:txBody>
          <a:bodyPr/>
          <a:p/>
        </p:txBody>
      </p:sp>
      <p:sp>
        <p:nvSpPr>
          <p:cNvPr id="30" name="Text 27"/>
          <p:cNvSpPr txBox="1"/>
          <p:nvPr/>
        </p:nvSpPr>
        <p:spPr>
          <a:xfrm>
            <a:off x="7315200" y="2404872"/>
            <a:ext cx="137160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body</a:t>
            </a:r>
            <a:endParaRPr lang="en-US" sz="1300" dirty="0"/>
          </a:p>
        </p:txBody>
      </p:sp>
      <p:sp>
        <p:nvSpPr>
          <p:cNvPr id="31" name="Shape 28"/>
          <p:cNvSpPr/>
          <p:nvPr/>
        </p:nvSpPr>
        <p:spPr>
          <a:xfrm>
            <a:off x="7178040" y="3282696"/>
            <a:ext cx="1645920" cy="658368"/>
          </a:xfrm>
          <a:prstGeom prst="flowChartDecision">
            <a:avLst/>
          </a:prstGeom>
          <a:solidFill>
            <a:srgbClr val="E3ECF8"/>
          </a:solidFill>
          <a:ln w="15875">
            <a:solidFill>
              <a:srgbClr val="14213D"/>
            </a:solidFill>
            <a:prstDash val="solid"/>
          </a:ln>
        </p:spPr>
        <p:txBody>
          <a:bodyPr/>
          <a:p/>
        </p:txBody>
      </p:sp>
      <p:sp>
        <p:nvSpPr>
          <p:cNvPr id="32" name="Text 29"/>
          <p:cNvSpPr txBox="1"/>
          <p:nvPr/>
        </p:nvSpPr>
        <p:spPr>
          <a:xfrm>
            <a:off x="7223760" y="3282696"/>
            <a:ext cx="1554480" cy="65836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condition ?</a:t>
            </a:r>
            <a:endParaRPr lang="en-US" sz="1300" dirty="0"/>
          </a:p>
        </p:txBody>
      </p:sp>
      <p:sp>
        <p:nvSpPr>
          <p:cNvPr id="33" name="Shape 30"/>
          <p:cNvSpPr/>
          <p:nvPr/>
        </p:nvSpPr>
        <p:spPr>
          <a:xfrm>
            <a:off x="8001000" y="2103120"/>
            <a:ext cx="0" cy="301752"/>
          </a:xfrm>
          <a:prstGeom prst="line">
            <a:avLst/>
          </a:prstGeom>
          <a:noFill/>
          <a:ln w="15875">
            <a:solidFill>
              <a:srgbClr val="14213D"/>
            </a:solidFill>
            <a:prstDash val="solid"/>
            <a:tailEnd type="triangle"/>
          </a:ln>
        </p:spPr>
        <p:txBody>
          <a:bodyPr/>
          <a:p/>
        </p:txBody>
      </p:sp>
      <p:sp>
        <p:nvSpPr>
          <p:cNvPr id="34" name="Shape 31"/>
          <p:cNvSpPr/>
          <p:nvPr/>
        </p:nvSpPr>
        <p:spPr>
          <a:xfrm>
            <a:off x="8001000" y="2807208"/>
            <a:ext cx="0" cy="475488"/>
          </a:xfrm>
          <a:prstGeom prst="line">
            <a:avLst/>
          </a:prstGeom>
          <a:noFill/>
          <a:ln w="15875">
            <a:solidFill>
              <a:srgbClr val="14213D"/>
            </a:solidFill>
            <a:prstDash val="solid"/>
            <a:tailEnd type="triangle"/>
          </a:ln>
        </p:spPr>
        <p:txBody>
          <a:bodyPr/>
          <a:p/>
        </p:txBody>
      </p:sp>
      <p:sp>
        <p:nvSpPr>
          <p:cNvPr id="35" name="Shape 32"/>
          <p:cNvSpPr/>
          <p:nvPr/>
        </p:nvSpPr>
        <p:spPr>
          <a:xfrm flipH="1">
            <a:off x="6629400" y="3611880"/>
            <a:ext cx="548640" cy="0"/>
          </a:xfrm>
          <a:prstGeom prst="line">
            <a:avLst/>
          </a:prstGeom>
          <a:noFill/>
          <a:ln w="15875">
            <a:solidFill>
              <a:srgbClr val="14213D"/>
            </a:solidFill>
            <a:prstDash val="solid"/>
          </a:ln>
        </p:spPr>
        <p:txBody>
          <a:bodyPr/>
          <a:p/>
        </p:txBody>
      </p:sp>
      <p:sp>
        <p:nvSpPr>
          <p:cNvPr id="36" name="Shape 33"/>
          <p:cNvSpPr/>
          <p:nvPr/>
        </p:nvSpPr>
        <p:spPr>
          <a:xfrm flipV="1">
            <a:off x="6629400" y="2286000"/>
            <a:ext cx="0" cy="1325880"/>
          </a:xfrm>
          <a:prstGeom prst="line">
            <a:avLst/>
          </a:prstGeom>
          <a:noFill/>
          <a:ln w="15875">
            <a:solidFill>
              <a:srgbClr val="14213D"/>
            </a:solidFill>
            <a:prstDash val="solid"/>
          </a:ln>
        </p:spPr>
        <p:txBody>
          <a:bodyPr/>
          <a:p/>
        </p:txBody>
      </p:sp>
      <p:sp>
        <p:nvSpPr>
          <p:cNvPr id="37" name="Shape 34"/>
          <p:cNvSpPr/>
          <p:nvPr/>
        </p:nvSpPr>
        <p:spPr>
          <a:xfrm>
            <a:off x="6629400" y="2286000"/>
            <a:ext cx="1371600" cy="0"/>
          </a:xfrm>
          <a:prstGeom prst="line">
            <a:avLst/>
          </a:prstGeom>
          <a:noFill/>
          <a:ln w="15875">
            <a:solidFill>
              <a:srgbClr val="14213D"/>
            </a:solidFill>
            <a:prstDash val="solid"/>
            <a:tailEnd type="triangle"/>
          </a:ln>
        </p:spPr>
        <p:txBody>
          <a:bodyPr/>
          <a:p/>
        </p:txBody>
      </p:sp>
      <p:sp>
        <p:nvSpPr>
          <p:cNvPr id="38" name="Text 35"/>
          <p:cNvSpPr txBox="1"/>
          <p:nvPr/>
        </p:nvSpPr>
        <p:spPr>
          <a:xfrm>
            <a:off x="6629400" y="3364992"/>
            <a:ext cx="502920" cy="219456"/>
          </a:xfrm>
          <a:prstGeom prst="rect">
            <a:avLst/>
          </a:prstGeom>
          <a:noFill/>
          <a:ln/>
        </p:spPr>
        <p:txBody>
          <a:bodyPr wrap="square" lIns="0" tIns="0" rIns="0" bIns="0" rtlCol="0" anchor="ctr"/>
          <a:lstStyle/>
          <a:p>
            <a:pPr algn="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9" name="Shape 36"/>
          <p:cNvSpPr/>
          <p:nvPr/>
        </p:nvSpPr>
        <p:spPr>
          <a:xfrm>
            <a:off x="8001000" y="3941064"/>
            <a:ext cx="0" cy="905256"/>
          </a:xfrm>
          <a:prstGeom prst="line">
            <a:avLst/>
          </a:prstGeom>
          <a:noFill/>
          <a:ln w="15875">
            <a:solidFill>
              <a:srgbClr val="14213D"/>
            </a:solidFill>
            <a:prstDash val="solid"/>
            <a:tailEnd type="triangle"/>
          </a:ln>
        </p:spPr>
        <p:txBody>
          <a:bodyPr/>
          <a:p/>
        </p:txBody>
      </p:sp>
      <p:sp>
        <p:nvSpPr>
          <p:cNvPr id="40" name="Text 37"/>
          <p:cNvSpPr txBox="1"/>
          <p:nvPr/>
        </p:nvSpPr>
        <p:spPr>
          <a:xfrm>
            <a:off x="8065008" y="3922776"/>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1" name="Text 38"/>
          <p:cNvSpPr txBox="1"/>
          <p:nvPr/>
        </p:nvSpPr>
        <p:spPr>
          <a:xfrm>
            <a:off x="8092440" y="4617720"/>
            <a:ext cx="548640" cy="2743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exit</a:t>
            </a:r>
            <a:endParaRPr lang="en-US" sz="1300" dirty="0"/>
          </a:p>
        </p:txBody>
      </p:sp>
      <p:sp>
        <p:nvSpPr>
          <p:cNvPr id="42" name="Shape 39"/>
          <p:cNvSpPr/>
          <p:nvPr/>
        </p:nvSpPr>
        <p:spPr>
          <a:xfrm>
            <a:off x="9601200" y="2148840"/>
            <a:ext cx="1874520" cy="1417320"/>
          </a:xfrm>
          <a:prstGeom prst="roundRect">
            <a:avLst>
              <a:gd name="adj" fmla="val 6452"/>
            </a:avLst>
          </a:prstGeom>
          <a:solidFill>
            <a:srgbClr val="0F1729"/>
          </a:solidFill>
          <a:ln w="12700">
            <a:solidFill>
              <a:srgbClr val="0F1729"/>
            </a:solidFill>
            <a:prstDash val="solid"/>
          </a:ln>
        </p:spPr>
        <p:txBody>
          <a:bodyPr/>
          <a:p/>
        </p:txBody>
      </p:sp>
      <p:sp>
        <p:nvSpPr>
          <p:cNvPr id="43" name="Text 40"/>
          <p:cNvSpPr txBox="1"/>
          <p:nvPr/>
        </p:nvSpPr>
        <p:spPr>
          <a:xfrm>
            <a:off x="9829800" y="2313432"/>
            <a:ext cx="1417320" cy="114300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body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(cond);</a:t>
            </a:r>
            <a:endParaRPr lang="en-US" sz="1200" dirty="0"/>
          </a:p>
        </p:txBody>
      </p:sp>
      <p:sp>
        <p:nvSpPr>
          <p:cNvPr id="44" name="Text 41"/>
          <p:cNvSpPr txBox="1"/>
          <p:nvPr/>
        </p:nvSpPr>
        <p:spPr>
          <a:xfrm>
            <a:off x="9601200" y="3657600"/>
            <a:ext cx="1965960" cy="1371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Body first: runs at least once.</a:t>
            </a:r>
            <a:endParaRPr lang="en-US" sz="1400" dirty="0"/>
          </a:p>
        </p:txBody>
      </p:sp>
      <p:sp>
        <p:nvSpPr>
          <p:cNvPr id="45" name="Shape 42"/>
          <p:cNvSpPr/>
          <p:nvPr/>
        </p:nvSpPr>
        <p:spPr>
          <a:xfrm>
            <a:off x="548640" y="5303520"/>
            <a:ext cx="11109960" cy="777240"/>
          </a:xfrm>
          <a:prstGeom prst="roundRect">
            <a:avLst>
              <a:gd name="adj" fmla="val 14118"/>
            </a:avLst>
          </a:prstGeom>
          <a:solidFill>
            <a:srgbClr val="FFF6E3"/>
          </a:solidFill>
          <a:ln w="12700">
            <a:solidFill>
              <a:srgbClr val="FFF6E3"/>
            </a:solidFill>
            <a:prstDash val="solid"/>
          </a:ln>
        </p:spPr>
        <p:txBody>
          <a:bodyPr/>
          <a:p/>
        </p:txBody>
      </p:sp>
      <p:pic>
        <p:nvPicPr>
          <p:cNvPr id="46" name="Image 0" descr="preencoded.png">    </p:cNvPr>
          <p:cNvPicPr>
            <a:picLocks noChangeAspect="1"/>
          </p:cNvPicPr>
          <p:nvPr/>
        </p:nvPicPr>
        <p:blipFill>
          <a:blip r:embed="rId1"/>
          <a:stretch>
            <a:fillRect/>
          </a:stretch>
        </p:blipFill>
        <p:spPr>
          <a:xfrm>
            <a:off x="822960" y="5440680"/>
            <a:ext cx="502920" cy="502920"/>
          </a:xfrm>
          <a:prstGeom prst="rect">
            <a:avLst/>
          </a:prstGeom>
        </p:spPr>
      </p:pic>
      <p:sp>
        <p:nvSpPr>
          <p:cNvPr id="47" name="Text 43"/>
          <p:cNvSpPr txBox="1"/>
          <p:nvPr/>
        </p:nvSpPr>
        <p:spPr>
          <a:xfrm>
            <a:off x="1600200" y="5376672"/>
            <a:ext cx="9784080" cy="63093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An arrow pointing upwards = repetition. </a:t>
            </a:r>
            <a:pPr indent="0" marL="0">
              <a:buNone/>
            </a:pPr>
            <a:r>
              <a:rPr lang="en-US" sz="1500" dirty="0">
                <a:solidFill>
                  <a:srgbClr val="333B4F"/>
                </a:solidFill>
                <a:latin typeface="Calibri" pitchFamily="34" charset="0"/>
                <a:ea typeface="Calibri" pitchFamily="34" charset="-122"/>
                <a:cs typeface="Calibri" pitchFamily="34" charset="-120"/>
              </a:rPr>
              <a:t>Something inside the body must change the condition, or the loop never ends.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CONVERSION 1 · PSEUDOCODE → FLOWCHART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Countdown: One Line, One Box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00200"/>
            <a:ext cx="3749040" cy="3383280"/>
          </a:xfrm>
          <a:prstGeom prst="roundRect">
            <a:avLst>
              <a:gd name="adj" fmla="val 2162"/>
            </a:avLst>
          </a:prstGeom>
          <a:solidFill>
            <a:srgbClr val="F4F6FA"/>
          </a:solidFill>
          <a:ln w="9525">
            <a:solidFill>
              <a:srgbClr val="C9D0DD"/>
            </a:solidFill>
            <a:prstDash val="solid"/>
          </a:ln>
        </p:spPr>
        <p:txBody>
          <a:bodyPr/>
          <a:p/>
        </p:txBody>
      </p:sp>
      <p:sp>
        <p:nvSpPr>
          <p:cNvPr id="8" name="Text 5"/>
          <p:cNvSpPr txBox="1"/>
          <p:nvPr/>
        </p:nvSpPr>
        <p:spPr>
          <a:xfrm>
            <a:off x="731520" y="1691640"/>
            <a:ext cx="33832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Week 1 · exercise D</a:t>
            </a:r>
            <a:endParaRPr lang="en-US" sz="1200" dirty="0"/>
          </a:p>
        </p:txBody>
      </p:sp>
      <p:sp>
        <p:nvSpPr>
          <p:cNvPr id="9" name="Text 6"/>
          <p:cNvSpPr txBox="1"/>
          <p:nvPr/>
        </p:nvSpPr>
        <p:spPr>
          <a:xfrm>
            <a:off x="731520" y="2011680"/>
            <a:ext cx="3383280" cy="2880360"/>
          </a:xfrm>
          <a:prstGeom prst="rect">
            <a:avLst/>
          </a:prstGeom>
          <a:noFill/>
          <a:ln/>
        </p:spPr>
        <p:txBody>
          <a:bodyPr wrap="square" lIns="0" tIns="0" rIns="0" bIns="0" rtlCol="0" anchor="t"/>
          <a:lstStyle/>
          <a:p>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START</a:t>
            </a:r>
            <a:endParaRPr lang="en-US" sz="1600" dirty="0"/>
          </a:p>
          <a:p>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N</a:t>
            </a:r>
            <a:endParaRPr lang="en-US" sz="1600" dirty="0"/>
          </a:p>
          <a:p>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N ≥ 1</a:t>
            </a:r>
            <a:endParaRPr lang="en-US" sz="1600" dirty="0"/>
          </a:p>
          <a:p>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N</a:t>
            </a:r>
            <a:endParaRPr lang="en-US" sz="1600" dirty="0"/>
          </a:p>
          <a:p>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N ← N − 1</a:t>
            </a:r>
            <a:endParaRPr lang="en-US" sz="1600" dirty="0"/>
          </a:p>
          <a:p>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END WHILE</a:t>
            </a:r>
            <a:endParaRPr lang="en-US" sz="1600" dirty="0"/>
          </a:p>
          <a:p>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600" dirty="0">
                <a:solidFill>
                  <a:srgbClr val="14213D"/>
                </a:solidFill>
                <a:latin typeface="Courier New" pitchFamily="34" charset="0"/>
                <a:ea typeface="Courier New" pitchFamily="34" charset="-122"/>
                <a:cs typeface="Courier New" pitchFamily="34" charset="-120"/>
              </a:rPr>
              <a:t> "Go!"</a:t>
            </a:r>
            <a:endParaRPr lang="en-US" sz="1600" dirty="0"/>
          </a:p>
          <a:p>
            <a:pPr indent="0" marL="0">
              <a:spcAft>
                <a:spcPts val="100"/>
              </a:spcAft>
              <a:buNone/>
            </a:pPr>
            <a:r>
              <a:rPr lang="en-US" sz="1600" b="1" dirty="0">
                <a:solidFill>
                  <a:srgbClr val="2F6FB3"/>
                </a:solidFill>
                <a:latin typeface="Courier New" pitchFamily="34" charset="0"/>
                <a:ea typeface="Courier New" pitchFamily="34" charset="-122"/>
                <a:cs typeface="Courier New" pitchFamily="34" charset="-120"/>
              </a:rPr>
              <a:t>END</a:t>
            </a:r>
            <a:endParaRPr lang="en-US" sz="1600" dirty="0"/>
          </a:p>
        </p:txBody>
      </p:sp>
      <p:sp>
        <p:nvSpPr>
          <p:cNvPr id="10" name="Shape 7"/>
          <p:cNvSpPr/>
          <p:nvPr/>
        </p:nvSpPr>
        <p:spPr>
          <a:xfrm>
            <a:off x="5440680" y="1581912"/>
            <a:ext cx="1188720" cy="365760"/>
          </a:xfrm>
          <a:prstGeom prst="flowChartTerminator">
            <a:avLst/>
          </a:prstGeom>
          <a:solidFill>
            <a:srgbClr val="FFF1D6"/>
          </a:solidFill>
          <a:ln w="15875">
            <a:solidFill>
              <a:srgbClr val="14213D"/>
            </a:solidFill>
            <a:prstDash val="solid"/>
          </a:ln>
        </p:spPr>
        <p:txBody>
          <a:bodyPr/>
          <a:p/>
        </p:txBody>
      </p:sp>
      <p:sp>
        <p:nvSpPr>
          <p:cNvPr id="11" name="Text 8"/>
          <p:cNvSpPr txBox="1"/>
          <p:nvPr/>
        </p:nvSpPr>
        <p:spPr>
          <a:xfrm>
            <a:off x="5486400" y="1581912"/>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12" name="Shape 9"/>
          <p:cNvSpPr/>
          <p:nvPr/>
        </p:nvSpPr>
        <p:spPr>
          <a:xfrm>
            <a:off x="5303520" y="2121408"/>
            <a:ext cx="1463040" cy="420624"/>
          </a:xfrm>
          <a:prstGeom prst="flowChartInputOutput">
            <a:avLst/>
          </a:prstGeom>
          <a:solidFill>
            <a:srgbClr val="FFFFFF"/>
          </a:solidFill>
          <a:ln w="15875">
            <a:solidFill>
              <a:srgbClr val="14213D"/>
            </a:solidFill>
            <a:prstDash val="solid"/>
          </a:ln>
        </p:spPr>
        <p:txBody>
          <a:bodyPr/>
          <a:p/>
        </p:txBody>
      </p:sp>
      <p:sp>
        <p:nvSpPr>
          <p:cNvPr id="13" name="Text 10"/>
          <p:cNvSpPr txBox="1"/>
          <p:nvPr/>
        </p:nvSpPr>
        <p:spPr>
          <a:xfrm>
            <a:off x="5349240" y="212140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4" name="Shape 11"/>
          <p:cNvSpPr/>
          <p:nvPr/>
        </p:nvSpPr>
        <p:spPr>
          <a:xfrm>
            <a:off x="5303520" y="2953512"/>
            <a:ext cx="1463040" cy="676656"/>
          </a:xfrm>
          <a:prstGeom prst="flowChartDecision">
            <a:avLst/>
          </a:prstGeom>
          <a:solidFill>
            <a:srgbClr val="E3ECF8"/>
          </a:solidFill>
          <a:ln w="15875">
            <a:solidFill>
              <a:srgbClr val="14213D"/>
            </a:solidFill>
            <a:prstDash val="solid"/>
          </a:ln>
        </p:spPr>
        <p:txBody>
          <a:bodyPr/>
          <a:p/>
        </p:txBody>
      </p:sp>
      <p:sp>
        <p:nvSpPr>
          <p:cNvPr id="15" name="Text 12"/>
          <p:cNvSpPr txBox="1"/>
          <p:nvPr/>
        </p:nvSpPr>
        <p:spPr>
          <a:xfrm>
            <a:off x="5349240" y="2953512"/>
            <a:ext cx="1371600" cy="67665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N ≥ 1 ?</a:t>
            </a:r>
            <a:endParaRPr lang="en-US" sz="1300" dirty="0"/>
          </a:p>
        </p:txBody>
      </p:sp>
      <p:sp>
        <p:nvSpPr>
          <p:cNvPr id="16" name="Shape 13"/>
          <p:cNvSpPr/>
          <p:nvPr/>
        </p:nvSpPr>
        <p:spPr>
          <a:xfrm>
            <a:off x="5303520" y="3995928"/>
            <a:ext cx="1463040" cy="420624"/>
          </a:xfrm>
          <a:prstGeom prst="flowChartInputOutput">
            <a:avLst/>
          </a:prstGeom>
          <a:solidFill>
            <a:srgbClr val="FFFFFF"/>
          </a:solidFill>
          <a:ln w="15875">
            <a:solidFill>
              <a:srgbClr val="14213D"/>
            </a:solidFill>
            <a:prstDash val="solid"/>
          </a:ln>
        </p:spPr>
        <p:txBody>
          <a:bodyPr/>
          <a:p/>
        </p:txBody>
      </p:sp>
      <p:sp>
        <p:nvSpPr>
          <p:cNvPr id="17" name="Text 14"/>
          <p:cNvSpPr txBox="1"/>
          <p:nvPr/>
        </p:nvSpPr>
        <p:spPr>
          <a:xfrm>
            <a:off x="5349240" y="399592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N</a:t>
            </a:r>
            <a:endParaRPr lang="en-US" sz="1300" dirty="0"/>
          </a:p>
        </p:txBody>
      </p:sp>
      <p:sp>
        <p:nvSpPr>
          <p:cNvPr id="18" name="Shape 15"/>
          <p:cNvSpPr/>
          <p:nvPr/>
        </p:nvSpPr>
        <p:spPr>
          <a:xfrm>
            <a:off x="5303520" y="4727448"/>
            <a:ext cx="1463040" cy="420624"/>
          </a:xfrm>
          <a:prstGeom prst="flowChartProcess">
            <a:avLst/>
          </a:prstGeom>
          <a:solidFill>
            <a:srgbClr val="FFFFFF"/>
          </a:solidFill>
          <a:ln w="15875">
            <a:solidFill>
              <a:srgbClr val="14213D"/>
            </a:solidFill>
            <a:prstDash val="solid"/>
          </a:ln>
        </p:spPr>
        <p:txBody>
          <a:bodyPr/>
          <a:p/>
        </p:txBody>
      </p:sp>
      <p:sp>
        <p:nvSpPr>
          <p:cNvPr id="19" name="Text 16"/>
          <p:cNvSpPr txBox="1"/>
          <p:nvPr/>
        </p:nvSpPr>
        <p:spPr>
          <a:xfrm>
            <a:off x="5349240" y="472744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N ← N − 1</a:t>
            </a:r>
            <a:endParaRPr lang="en-US" sz="1300" dirty="0"/>
          </a:p>
        </p:txBody>
      </p:sp>
      <p:sp>
        <p:nvSpPr>
          <p:cNvPr id="20" name="Shape 17"/>
          <p:cNvSpPr/>
          <p:nvPr/>
        </p:nvSpPr>
        <p:spPr>
          <a:xfrm>
            <a:off x="7452360" y="3995928"/>
            <a:ext cx="1645920" cy="420624"/>
          </a:xfrm>
          <a:prstGeom prst="flowChartInputOutput">
            <a:avLst/>
          </a:prstGeom>
          <a:solidFill>
            <a:srgbClr val="FFFFFF"/>
          </a:solidFill>
          <a:ln w="15875">
            <a:solidFill>
              <a:srgbClr val="14213D"/>
            </a:solidFill>
            <a:prstDash val="solid"/>
          </a:ln>
        </p:spPr>
        <p:txBody>
          <a:bodyPr/>
          <a:p/>
        </p:txBody>
      </p:sp>
      <p:sp>
        <p:nvSpPr>
          <p:cNvPr id="21" name="Text 18"/>
          <p:cNvSpPr txBox="1"/>
          <p:nvPr/>
        </p:nvSpPr>
        <p:spPr>
          <a:xfrm>
            <a:off x="7498080" y="3995928"/>
            <a:ext cx="155448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"Go!"</a:t>
            </a:r>
            <a:endParaRPr lang="en-US" sz="1300" dirty="0"/>
          </a:p>
        </p:txBody>
      </p:sp>
      <p:sp>
        <p:nvSpPr>
          <p:cNvPr id="22" name="Shape 19"/>
          <p:cNvSpPr/>
          <p:nvPr/>
        </p:nvSpPr>
        <p:spPr>
          <a:xfrm>
            <a:off x="7680960" y="4754880"/>
            <a:ext cx="1188720" cy="365760"/>
          </a:xfrm>
          <a:prstGeom prst="flowChartTerminator">
            <a:avLst/>
          </a:prstGeom>
          <a:solidFill>
            <a:srgbClr val="FFF1D6"/>
          </a:solidFill>
          <a:ln w="15875">
            <a:solidFill>
              <a:srgbClr val="14213D"/>
            </a:solidFill>
            <a:prstDash val="solid"/>
          </a:ln>
        </p:spPr>
        <p:txBody>
          <a:bodyPr/>
          <a:p/>
        </p:txBody>
      </p:sp>
      <p:sp>
        <p:nvSpPr>
          <p:cNvPr id="23" name="Text 20"/>
          <p:cNvSpPr txBox="1"/>
          <p:nvPr/>
        </p:nvSpPr>
        <p:spPr>
          <a:xfrm>
            <a:off x="7726680" y="4754880"/>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4" name="Shape 21"/>
          <p:cNvSpPr/>
          <p:nvPr/>
        </p:nvSpPr>
        <p:spPr>
          <a:xfrm>
            <a:off x="6035040" y="1947672"/>
            <a:ext cx="0" cy="173736"/>
          </a:xfrm>
          <a:prstGeom prst="line">
            <a:avLst/>
          </a:prstGeom>
          <a:noFill/>
          <a:ln w="15875">
            <a:solidFill>
              <a:srgbClr val="14213D"/>
            </a:solidFill>
            <a:prstDash val="solid"/>
            <a:tailEnd type="triangle"/>
          </a:ln>
        </p:spPr>
        <p:txBody>
          <a:bodyPr/>
          <a:p/>
        </p:txBody>
      </p:sp>
      <p:sp>
        <p:nvSpPr>
          <p:cNvPr id="25" name="Shape 22"/>
          <p:cNvSpPr/>
          <p:nvPr/>
        </p:nvSpPr>
        <p:spPr>
          <a:xfrm>
            <a:off x="6035040" y="2542032"/>
            <a:ext cx="0" cy="411480"/>
          </a:xfrm>
          <a:prstGeom prst="line">
            <a:avLst/>
          </a:prstGeom>
          <a:noFill/>
          <a:ln w="15875">
            <a:solidFill>
              <a:srgbClr val="14213D"/>
            </a:solidFill>
            <a:prstDash val="solid"/>
            <a:tailEnd type="triangle"/>
          </a:ln>
        </p:spPr>
        <p:txBody>
          <a:bodyPr/>
          <a:p/>
        </p:txBody>
      </p:sp>
      <p:sp>
        <p:nvSpPr>
          <p:cNvPr id="26" name="Shape 23"/>
          <p:cNvSpPr/>
          <p:nvPr/>
        </p:nvSpPr>
        <p:spPr>
          <a:xfrm>
            <a:off x="6035040" y="3630168"/>
            <a:ext cx="0" cy="365760"/>
          </a:xfrm>
          <a:prstGeom prst="line">
            <a:avLst/>
          </a:prstGeom>
          <a:noFill/>
          <a:ln w="15875">
            <a:solidFill>
              <a:srgbClr val="14213D"/>
            </a:solidFill>
            <a:prstDash val="solid"/>
            <a:tailEnd type="triangle"/>
          </a:ln>
        </p:spPr>
        <p:txBody>
          <a:bodyPr/>
          <a:p/>
        </p:txBody>
      </p:sp>
      <p:sp>
        <p:nvSpPr>
          <p:cNvPr id="27" name="Text 24"/>
          <p:cNvSpPr txBox="1"/>
          <p:nvPr/>
        </p:nvSpPr>
        <p:spPr>
          <a:xfrm>
            <a:off x="6099048" y="3611880"/>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8" name="Shape 25"/>
          <p:cNvSpPr/>
          <p:nvPr/>
        </p:nvSpPr>
        <p:spPr>
          <a:xfrm>
            <a:off x="6035040" y="4416552"/>
            <a:ext cx="0" cy="310896"/>
          </a:xfrm>
          <a:prstGeom prst="line">
            <a:avLst/>
          </a:prstGeom>
          <a:noFill/>
          <a:ln w="15875">
            <a:solidFill>
              <a:srgbClr val="14213D"/>
            </a:solidFill>
            <a:prstDash val="solid"/>
            <a:tailEnd type="triangle"/>
          </a:ln>
        </p:spPr>
        <p:txBody>
          <a:bodyPr/>
          <a:p/>
        </p:txBody>
      </p:sp>
      <p:sp>
        <p:nvSpPr>
          <p:cNvPr id="29" name="Shape 26"/>
          <p:cNvSpPr/>
          <p:nvPr/>
        </p:nvSpPr>
        <p:spPr>
          <a:xfrm>
            <a:off x="6035040" y="5148072"/>
            <a:ext cx="0" cy="246888"/>
          </a:xfrm>
          <a:prstGeom prst="line">
            <a:avLst/>
          </a:prstGeom>
          <a:noFill/>
          <a:ln w="15875">
            <a:solidFill>
              <a:srgbClr val="14213D"/>
            </a:solidFill>
            <a:prstDash val="solid"/>
          </a:ln>
        </p:spPr>
        <p:txBody>
          <a:bodyPr/>
          <a:p/>
        </p:txBody>
      </p:sp>
      <p:sp>
        <p:nvSpPr>
          <p:cNvPr id="30" name="Shape 27"/>
          <p:cNvSpPr/>
          <p:nvPr/>
        </p:nvSpPr>
        <p:spPr>
          <a:xfrm flipH="1">
            <a:off x="4800600" y="5394960"/>
            <a:ext cx="1234440" cy="0"/>
          </a:xfrm>
          <a:prstGeom prst="line">
            <a:avLst/>
          </a:prstGeom>
          <a:noFill/>
          <a:ln w="15875">
            <a:solidFill>
              <a:srgbClr val="14213D"/>
            </a:solidFill>
            <a:prstDash val="solid"/>
          </a:ln>
        </p:spPr>
        <p:txBody>
          <a:bodyPr/>
          <a:p/>
        </p:txBody>
      </p:sp>
      <p:sp>
        <p:nvSpPr>
          <p:cNvPr id="31" name="Shape 28"/>
          <p:cNvSpPr/>
          <p:nvPr/>
        </p:nvSpPr>
        <p:spPr>
          <a:xfrm flipV="1">
            <a:off x="4800600" y="2761488"/>
            <a:ext cx="0" cy="2633472"/>
          </a:xfrm>
          <a:prstGeom prst="line">
            <a:avLst/>
          </a:prstGeom>
          <a:noFill/>
          <a:ln w="15875">
            <a:solidFill>
              <a:srgbClr val="14213D"/>
            </a:solidFill>
            <a:prstDash val="solid"/>
          </a:ln>
        </p:spPr>
        <p:txBody>
          <a:bodyPr/>
          <a:p/>
        </p:txBody>
      </p:sp>
      <p:sp>
        <p:nvSpPr>
          <p:cNvPr id="32" name="Shape 29"/>
          <p:cNvSpPr/>
          <p:nvPr/>
        </p:nvSpPr>
        <p:spPr>
          <a:xfrm>
            <a:off x="4800600" y="2761488"/>
            <a:ext cx="1234440" cy="0"/>
          </a:xfrm>
          <a:prstGeom prst="line">
            <a:avLst/>
          </a:prstGeom>
          <a:noFill/>
          <a:ln w="15875">
            <a:solidFill>
              <a:srgbClr val="14213D"/>
            </a:solidFill>
            <a:prstDash val="solid"/>
            <a:tailEnd type="triangle"/>
          </a:ln>
        </p:spPr>
        <p:txBody>
          <a:bodyPr/>
          <a:p/>
        </p:txBody>
      </p:sp>
      <p:sp>
        <p:nvSpPr>
          <p:cNvPr id="33" name="Shape 30"/>
          <p:cNvSpPr/>
          <p:nvPr/>
        </p:nvSpPr>
        <p:spPr>
          <a:xfrm>
            <a:off x="6766560" y="3291840"/>
            <a:ext cx="1508760" cy="0"/>
          </a:xfrm>
          <a:prstGeom prst="line">
            <a:avLst/>
          </a:prstGeom>
          <a:noFill/>
          <a:ln w="15875">
            <a:solidFill>
              <a:srgbClr val="14213D"/>
            </a:solidFill>
            <a:prstDash val="solid"/>
          </a:ln>
        </p:spPr>
        <p:txBody>
          <a:bodyPr/>
          <a:p/>
        </p:txBody>
      </p:sp>
      <p:sp>
        <p:nvSpPr>
          <p:cNvPr id="34" name="Shape 31"/>
          <p:cNvSpPr/>
          <p:nvPr/>
        </p:nvSpPr>
        <p:spPr>
          <a:xfrm>
            <a:off x="8275320" y="3291840"/>
            <a:ext cx="0" cy="704088"/>
          </a:xfrm>
          <a:prstGeom prst="line">
            <a:avLst/>
          </a:prstGeom>
          <a:noFill/>
          <a:ln w="15875">
            <a:solidFill>
              <a:srgbClr val="14213D"/>
            </a:solidFill>
            <a:prstDash val="solid"/>
            <a:tailEnd type="triangle"/>
          </a:ln>
        </p:spPr>
        <p:txBody>
          <a:bodyPr/>
          <a:p/>
        </p:txBody>
      </p:sp>
      <p:sp>
        <p:nvSpPr>
          <p:cNvPr id="35" name="Text 32"/>
          <p:cNvSpPr txBox="1"/>
          <p:nvPr/>
        </p:nvSpPr>
        <p:spPr>
          <a:xfrm>
            <a:off x="6812280" y="304495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6" name="Shape 33"/>
          <p:cNvSpPr/>
          <p:nvPr/>
        </p:nvSpPr>
        <p:spPr>
          <a:xfrm>
            <a:off x="8275320" y="4416552"/>
            <a:ext cx="0" cy="338328"/>
          </a:xfrm>
          <a:prstGeom prst="line">
            <a:avLst/>
          </a:prstGeom>
          <a:noFill/>
          <a:ln w="15875">
            <a:solidFill>
              <a:srgbClr val="14213D"/>
            </a:solidFill>
            <a:prstDash val="solid"/>
            <a:tailEnd type="triangle"/>
          </a:ln>
        </p:spPr>
        <p:txBody>
          <a:bodyPr/>
          <a:p/>
        </p:txBody>
      </p:sp>
      <p:sp>
        <p:nvSpPr>
          <p:cNvPr id="37" name="Shape 34"/>
          <p:cNvSpPr/>
          <p:nvPr/>
        </p:nvSpPr>
        <p:spPr>
          <a:xfrm>
            <a:off x="9555480" y="1645920"/>
            <a:ext cx="2103120" cy="777240"/>
          </a:xfrm>
          <a:prstGeom prst="roundRect">
            <a:avLst>
              <a:gd name="adj" fmla="val 14118"/>
            </a:avLst>
          </a:prstGeom>
          <a:solidFill>
            <a:srgbClr val="EEF1F6"/>
          </a:solidFill>
          <a:ln w="12700">
            <a:solidFill>
              <a:srgbClr val="EEF1F6"/>
            </a:solidFill>
            <a:prstDash val="solid"/>
          </a:ln>
        </p:spPr>
        <p:txBody>
          <a:bodyPr/>
          <a:p/>
        </p:txBody>
      </p:sp>
      <p:sp>
        <p:nvSpPr>
          <p:cNvPr id="38" name="Text 35"/>
          <p:cNvSpPr txBox="1"/>
          <p:nvPr/>
        </p:nvSpPr>
        <p:spPr>
          <a:xfrm>
            <a:off x="9692640" y="1709928"/>
            <a:ext cx="1828800" cy="32004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READ / PRINT</a:t>
            </a:r>
            <a:endParaRPr lang="en-US" sz="1300" dirty="0"/>
          </a:p>
        </p:txBody>
      </p:sp>
      <p:sp>
        <p:nvSpPr>
          <p:cNvPr id="39" name="Text 36"/>
          <p:cNvSpPr txBox="1"/>
          <p:nvPr/>
        </p:nvSpPr>
        <p:spPr>
          <a:xfrm>
            <a:off x="9692640" y="2029968"/>
            <a:ext cx="1874520" cy="3200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 parallelogram</a:t>
            </a:r>
            <a:endParaRPr lang="en-US" sz="1400" dirty="0"/>
          </a:p>
        </p:txBody>
      </p:sp>
      <p:sp>
        <p:nvSpPr>
          <p:cNvPr id="40" name="Shape 37"/>
          <p:cNvSpPr/>
          <p:nvPr/>
        </p:nvSpPr>
        <p:spPr>
          <a:xfrm>
            <a:off x="9555480" y="2560320"/>
            <a:ext cx="2103120" cy="777240"/>
          </a:xfrm>
          <a:prstGeom prst="roundRect">
            <a:avLst>
              <a:gd name="adj" fmla="val 14118"/>
            </a:avLst>
          </a:prstGeom>
          <a:solidFill>
            <a:srgbClr val="EEF1F6"/>
          </a:solidFill>
          <a:ln w="12700">
            <a:solidFill>
              <a:srgbClr val="EEF1F6"/>
            </a:solidFill>
            <a:prstDash val="solid"/>
          </a:ln>
        </p:spPr>
        <p:txBody>
          <a:bodyPr/>
          <a:p/>
        </p:txBody>
      </p:sp>
      <p:sp>
        <p:nvSpPr>
          <p:cNvPr id="41" name="Text 38"/>
          <p:cNvSpPr txBox="1"/>
          <p:nvPr/>
        </p:nvSpPr>
        <p:spPr>
          <a:xfrm>
            <a:off x="9692640" y="2624328"/>
            <a:ext cx="1828800" cy="32004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x ← …</a:t>
            </a:r>
            <a:endParaRPr lang="en-US" sz="1300" dirty="0"/>
          </a:p>
        </p:txBody>
      </p:sp>
      <p:sp>
        <p:nvSpPr>
          <p:cNvPr id="42" name="Text 39"/>
          <p:cNvSpPr txBox="1"/>
          <p:nvPr/>
        </p:nvSpPr>
        <p:spPr>
          <a:xfrm>
            <a:off x="9692640" y="2944368"/>
            <a:ext cx="1874520" cy="3200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 rectangle</a:t>
            </a:r>
            <a:endParaRPr lang="en-US" sz="1400" dirty="0"/>
          </a:p>
        </p:txBody>
      </p:sp>
      <p:sp>
        <p:nvSpPr>
          <p:cNvPr id="43" name="Shape 40"/>
          <p:cNvSpPr/>
          <p:nvPr/>
        </p:nvSpPr>
        <p:spPr>
          <a:xfrm>
            <a:off x="9555480" y="3474720"/>
            <a:ext cx="2103120" cy="777240"/>
          </a:xfrm>
          <a:prstGeom prst="roundRect">
            <a:avLst>
              <a:gd name="adj" fmla="val 14118"/>
            </a:avLst>
          </a:prstGeom>
          <a:solidFill>
            <a:srgbClr val="EEF1F6"/>
          </a:solidFill>
          <a:ln w="12700">
            <a:solidFill>
              <a:srgbClr val="EEF1F6"/>
            </a:solidFill>
            <a:prstDash val="solid"/>
          </a:ln>
        </p:spPr>
        <p:txBody>
          <a:bodyPr/>
          <a:p/>
        </p:txBody>
      </p:sp>
      <p:sp>
        <p:nvSpPr>
          <p:cNvPr id="44" name="Text 41"/>
          <p:cNvSpPr txBox="1"/>
          <p:nvPr/>
        </p:nvSpPr>
        <p:spPr>
          <a:xfrm>
            <a:off x="9692640" y="3538728"/>
            <a:ext cx="1828800" cy="32004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WHILE cond</a:t>
            </a:r>
            <a:endParaRPr lang="en-US" sz="1300" dirty="0"/>
          </a:p>
        </p:txBody>
      </p:sp>
      <p:sp>
        <p:nvSpPr>
          <p:cNvPr id="45" name="Text 42"/>
          <p:cNvSpPr txBox="1"/>
          <p:nvPr/>
        </p:nvSpPr>
        <p:spPr>
          <a:xfrm>
            <a:off x="9692640" y="3858768"/>
            <a:ext cx="1874520" cy="3200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 diamond</a:t>
            </a:r>
            <a:endParaRPr lang="en-US" sz="1400" dirty="0"/>
          </a:p>
        </p:txBody>
      </p:sp>
      <p:sp>
        <p:nvSpPr>
          <p:cNvPr id="46" name="Shape 43"/>
          <p:cNvSpPr/>
          <p:nvPr/>
        </p:nvSpPr>
        <p:spPr>
          <a:xfrm>
            <a:off x="9555480" y="4389120"/>
            <a:ext cx="2103120" cy="777240"/>
          </a:xfrm>
          <a:prstGeom prst="roundRect">
            <a:avLst>
              <a:gd name="adj" fmla="val 14118"/>
            </a:avLst>
          </a:prstGeom>
          <a:solidFill>
            <a:srgbClr val="EEF1F6"/>
          </a:solidFill>
          <a:ln w="12700">
            <a:solidFill>
              <a:srgbClr val="EEF1F6"/>
            </a:solidFill>
            <a:prstDash val="solid"/>
          </a:ln>
        </p:spPr>
        <p:txBody>
          <a:bodyPr/>
          <a:p/>
        </p:txBody>
      </p:sp>
      <p:sp>
        <p:nvSpPr>
          <p:cNvPr id="47" name="Text 44"/>
          <p:cNvSpPr txBox="1"/>
          <p:nvPr/>
        </p:nvSpPr>
        <p:spPr>
          <a:xfrm>
            <a:off x="9692640" y="4453128"/>
            <a:ext cx="1828800" cy="32004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END WHILE</a:t>
            </a:r>
            <a:endParaRPr lang="en-US" sz="1300" dirty="0"/>
          </a:p>
        </p:txBody>
      </p:sp>
      <p:sp>
        <p:nvSpPr>
          <p:cNvPr id="48" name="Text 45"/>
          <p:cNvSpPr txBox="1"/>
          <p:nvPr/>
        </p:nvSpPr>
        <p:spPr>
          <a:xfrm>
            <a:off x="9692640" y="4773168"/>
            <a:ext cx="1874520" cy="3200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 arrow back up</a:t>
            </a:r>
            <a:endParaRPr lang="en-US" sz="1400" dirty="0"/>
          </a:p>
        </p:txBody>
      </p:sp>
      <p:sp>
        <p:nvSpPr>
          <p:cNvPr id="49" name="Text 46"/>
          <p:cNvSpPr txBox="1"/>
          <p:nvPr/>
        </p:nvSpPr>
        <p:spPr>
          <a:xfrm>
            <a:off x="548640" y="5166360"/>
            <a:ext cx="3749040" cy="868680"/>
          </a:xfrm>
          <a:prstGeom prst="rect">
            <a:avLst/>
          </a:prstGeom>
          <a:noFill/>
          <a:ln/>
        </p:spPr>
        <p:txBody>
          <a:bodyPr wrap="square" lIns="0" tIns="0" rIns="0" bIns="0" rtlCol="0" anchor="t"/>
          <a:lstStyle/>
          <a:p>
            <a:pPr indent="0" marL="0">
              <a:buNone/>
            </a:pPr>
            <a:r>
              <a:rPr lang="en-US" sz="1300" dirty="0">
                <a:solidFill>
                  <a:srgbClr val="14213D"/>
                </a:solidFill>
                <a:latin typeface="Courier New" pitchFamily="34" charset="0"/>
                <a:ea typeface="Courier New" pitchFamily="34" charset="-122"/>
                <a:cs typeface="Courier New" pitchFamily="34" charset="-120"/>
              </a:rPr>
              <a:t>Trace N = 3 →  3, 2, 1, Go!</a:t>
            </a:r>
            <a:endParaRPr lang="en-US" sz="1300" dirty="0"/>
          </a:p>
          <a:p>
            <a:pPr indent="0" marL="0">
              <a:buNone/>
            </a:pPr>
            <a:r>
              <a:rPr lang="en-US" sz="1300" dirty="0">
                <a:solidFill>
                  <a:srgbClr val="14213D"/>
                </a:solidFill>
                <a:latin typeface="Courier New" pitchFamily="34" charset="0"/>
                <a:ea typeface="Courier New" pitchFamily="34" charset="-122"/>
                <a:cs typeface="Courier New" pitchFamily="34" charset="-120"/>
              </a:rPr>
              <a:t>Edge case N = 0 →  only “Go!”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CONVERSION 2 · FLOWCHART → PSEUDOCODE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Write the Pseudocode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1783080" y="1581912"/>
            <a:ext cx="1188720" cy="365760"/>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828800" y="1581912"/>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645920" y="2121408"/>
            <a:ext cx="1463040" cy="420624"/>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691640" y="212140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x</a:t>
            </a:r>
            <a:endParaRPr lang="en-US" sz="1300" dirty="0"/>
          </a:p>
        </p:txBody>
      </p:sp>
      <p:sp>
        <p:nvSpPr>
          <p:cNvPr id="11" name="Shape 8"/>
          <p:cNvSpPr/>
          <p:nvPr/>
        </p:nvSpPr>
        <p:spPr>
          <a:xfrm>
            <a:off x="1600200" y="2807208"/>
            <a:ext cx="1554480" cy="694944"/>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1645920" y="2807208"/>
            <a:ext cx="1463040" cy="69494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&gt; 0 ?</a:t>
            </a:r>
            <a:endParaRPr lang="en-US" sz="1300" dirty="0"/>
          </a:p>
        </p:txBody>
      </p:sp>
      <p:sp>
        <p:nvSpPr>
          <p:cNvPr id="13" name="Shape 10"/>
          <p:cNvSpPr/>
          <p:nvPr/>
        </p:nvSpPr>
        <p:spPr>
          <a:xfrm>
            <a:off x="1600200" y="3858768"/>
            <a:ext cx="1554480" cy="694944"/>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645920" y="3858768"/>
            <a:ext cx="1463040" cy="69494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&lt; 0 ?</a:t>
            </a:r>
            <a:endParaRPr lang="en-US" sz="1300" dirty="0"/>
          </a:p>
        </p:txBody>
      </p:sp>
      <p:sp>
        <p:nvSpPr>
          <p:cNvPr id="15" name="Shape 12"/>
          <p:cNvSpPr/>
          <p:nvPr/>
        </p:nvSpPr>
        <p:spPr>
          <a:xfrm>
            <a:off x="3566160" y="2944368"/>
            <a:ext cx="2011680" cy="420624"/>
          </a:xfrm>
          <a:prstGeom prst="flowChartInputOutput">
            <a:avLst/>
          </a:prstGeom>
          <a:solidFill>
            <a:srgbClr val="FFFFFF"/>
          </a:solidFill>
          <a:ln w="15875">
            <a:solidFill>
              <a:srgbClr val="14213D"/>
            </a:solidFill>
            <a:prstDash val="solid"/>
          </a:ln>
        </p:spPr>
        <p:txBody>
          <a:bodyPr/>
          <a:p/>
        </p:txBody>
      </p:sp>
      <p:sp>
        <p:nvSpPr>
          <p:cNvPr id="16" name="Text 13"/>
          <p:cNvSpPr txBox="1"/>
          <p:nvPr/>
        </p:nvSpPr>
        <p:spPr>
          <a:xfrm>
            <a:off x="3611880" y="2944368"/>
            <a:ext cx="19202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"positive"</a:t>
            </a:r>
            <a:endParaRPr lang="en-US" sz="1300" dirty="0"/>
          </a:p>
        </p:txBody>
      </p:sp>
      <p:sp>
        <p:nvSpPr>
          <p:cNvPr id="17" name="Shape 14"/>
          <p:cNvSpPr/>
          <p:nvPr/>
        </p:nvSpPr>
        <p:spPr>
          <a:xfrm>
            <a:off x="3566160" y="3995928"/>
            <a:ext cx="2011680" cy="420624"/>
          </a:xfrm>
          <a:prstGeom prst="flowChartInputOutput">
            <a:avLst/>
          </a:prstGeom>
          <a:solidFill>
            <a:srgbClr val="FFFFFF"/>
          </a:solidFill>
          <a:ln w="15875">
            <a:solidFill>
              <a:srgbClr val="14213D"/>
            </a:solidFill>
            <a:prstDash val="solid"/>
          </a:ln>
        </p:spPr>
        <p:txBody>
          <a:bodyPr/>
          <a:p/>
        </p:txBody>
      </p:sp>
      <p:sp>
        <p:nvSpPr>
          <p:cNvPr id="18" name="Text 15"/>
          <p:cNvSpPr txBox="1"/>
          <p:nvPr/>
        </p:nvSpPr>
        <p:spPr>
          <a:xfrm>
            <a:off x="3611880" y="3995928"/>
            <a:ext cx="19202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"negative"</a:t>
            </a:r>
            <a:endParaRPr lang="en-US" sz="1300" dirty="0"/>
          </a:p>
        </p:txBody>
      </p:sp>
      <p:sp>
        <p:nvSpPr>
          <p:cNvPr id="19" name="Shape 16"/>
          <p:cNvSpPr/>
          <p:nvPr/>
        </p:nvSpPr>
        <p:spPr>
          <a:xfrm>
            <a:off x="1508760" y="4910328"/>
            <a:ext cx="1737360" cy="420624"/>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1554480" y="4910328"/>
            <a:ext cx="164592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"zero"</a:t>
            </a:r>
            <a:endParaRPr lang="en-US" sz="1300" dirty="0"/>
          </a:p>
        </p:txBody>
      </p:sp>
      <p:sp>
        <p:nvSpPr>
          <p:cNvPr id="21" name="Shape 18"/>
          <p:cNvSpPr/>
          <p:nvPr/>
        </p:nvSpPr>
        <p:spPr>
          <a:xfrm>
            <a:off x="1783080" y="5650992"/>
            <a:ext cx="1188720" cy="365760"/>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1828800" y="5650992"/>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2377440" y="1947672"/>
            <a:ext cx="0" cy="173736"/>
          </a:xfrm>
          <a:prstGeom prst="line">
            <a:avLst/>
          </a:prstGeom>
          <a:noFill/>
          <a:ln w="15875">
            <a:solidFill>
              <a:srgbClr val="14213D"/>
            </a:solidFill>
            <a:prstDash val="solid"/>
            <a:tailEnd type="triangle"/>
          </a:ln>
        </p:spPr>
        <p:txBody>
          <a:bodyPr/>
          <a:p/>
        </p:txBody>
      </p:sp>
      <p:sp>
        <p:nvSpPr>
          <p:cNvPr id="24" name="Shape 21"/>
          <p:cNvSpPr/>
          <p:nvPr/>
        </p:nvSpPr>
        <p:spPr>
          <a:xfrm>
            <a:off x="2377440" y="2542032"/>
            <a:ext cx="0" cy="265176"/>
          </a:xfrm>
          <a:prstGeom prst="line">
            <a:avLst/>
          </a:prstGeom>
          <a:noFill/>
          <a:ln w="15875">
            <a:solidFill>
              <a:srgbClr val="14213D"/>
            </a:solidFill>
            <a:prstDash val="solid"/>
            <a:tailEnd type="triangle"/>
          </a:ln>
        </p:spPr>
        <p:txBody>
          <a:bodyPr/>
          <a:p/>
        </p:txBody>
      </p:sp>
      <p:sp>
        <p:nvSpPr>
          <p:cNvPr id="25" name="Shape 22"/>
          <p:cNvSpPr/>
          <p:nvPr/>
        </p:nvSpPr>
        <p:spPr>
          <a:xfrm>
            <a:off x="3154680" y="3154680"/>
            <a:ext cx="612648" cy="0"/>
          </a:xfrm>
          <a:prstGeom prst="line">
            <a:avLst/>
          </a:prstGeom>
          <a:noFill/>
          <a:ln w="15875">
            <a:solidFill>
              <a:srgbClr val="14213D"/>
            </a:solidFill>
            <a:prstDash val="solid"/>
            <a:tailEnd type="triangle"/>
          </a:ln>
        </p:spPr>
        <p:txBody>
          <a:bodyPr/>
          <a:p/>
        </p:txBody>
      </p:sp>
      <p:sp>
        <p:nvSpPr>
          <p:cNvPr id="26" name="Text 23"/>
          <p:cNvSpPr txBox="1"/>
          <p:nvPr/>
        </p:nvSpPr>
        <p:spPr>
          <a:xfrm>
            <a:off x="3200400" y="290779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7" name="Shape 24"/>
          <p:cNvSpPr/>
          <p:nvPr/>
        </p:nvSpPr>
        <p:spPr>
          <a:xfrm>
            <a:off x="2377440" y="3502152"/>
            <a:ext cx="0" cy="356616"/>
          </a:xfrm>
          <a:prstGeom prst="line">
            <a:avLst/>
          </a:prstGeom>
          <a:noFill/>
          <a:ln w="15875">
            <a:solidFill>
              <a:srgbClr val="14213D"/>
            </a:solidFill>
            <a:prstDash val="solid"/>
            <a:tailEnd type="triangle"/>
          </a:ln>
        </p:spPr>
        <p:txBody>
          <a:bodyPr/>
          <a:p/>
        </p:txBody>
      </p:sp>
      <p:sp>
        <p:nvSpPr>
          <p:cNvPr id="28" name="Text 25"/>
          <p:cNvSpPr txBox="1"/>
          <p:nvPr/>
        </p:nvSpPr>
        <p:spPr>
          <a:xfrm>
            <a:off x="2441448" y="3483864"/>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9" name="Shape 26"/>
          <p:cNvSpPr/>
          <p:nvPr/>
        </p:nvSpPr>
        <p:spPr>
          <a:xfrm>
            <a:off x="3154680" y="4206240"/>
            <a:ext cx="612648" cy="0"/>
          </a:xfrm>
          <a:prstGeom prst="line">
            <a:avLst/>
          </a:prstGeom>
          <a:noFill/>
          <a:ln w="15875">
            <a:solidFill>
              <a:srgbClr val="14213D"/>
            </a:solidFill>
            <a:prstDash val="solid"/>
            <a:tailEnd type="triangle"/>
          </a:ln>
        </p:spPr>
        <p:txBody>
          <a:bodyPr/>
          <a:p/>
        </p:txBody>
      </p:sp>
      <p:sp>
        <p:nvSpPr>
          <p:cNvPr id="30" name="Text 27"/>
          <p:cNvSpPr txBox="1"/>
          <p:nvPr/>
        </p:nvSpPr>
        <p:spPr>
          <a:xfrm>
            <a:off x="3200400" y="395935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1" name="Shape 28"/>
          <p:cNvSpPr/>
          <p:nvPr/>
        </p:nvSpPr>
        <p:spPr>
          <a:xfrm>
            <a:off x="2377440" y="4553712"/>
            <a:ext cx="0" cy="356616"/>
          </a:xfrm>
          <a:prstGeom prst="line">
            <a:avLst/>
          </a:prstGeom>
          <a:noFill/>
          <a:ln w="15875">
            <a:solidFill>
              <a:srgbClr val="14213D"/>
            </a:solidFill>
            <a:prstDash val="solid"/>
            <a:tailEnd type="triangle"/>
          </a:ln>
        </p:spPr>
        <p:txBody>
          <a:bodyPr/>
          <a:p/>
        </p:txBody>
      </p:sp>
      <p:sp>
        <p:nvSpPr>
          <p:cNvPr id="32" name="Text 29"/>
          <p:cNvSpPr txBox="1"/>
          <p:nvPr/>
        </p:nvSpPr>
        <p:spPr>
          <a:xfrm>
            <a:off x="2441448" y="4535424"/>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3" name="Shape 30"/>
          <p:cNvSpPr/>
          <p:nvPr/>
        </p:nvSpPr>
        <p:spPr>
          <a:xfrm>
            <a:off x="2377440" y="5330952"/>
            <a:ext cx="0" cy="320040"/>
          </a:xfrm>
          <a:prstGeom prst="line">
            <a:avLst/>
          </a:prstGeom>
          <a:noFill/>
          <a:ln w="15875">
            <a:solidFill>
              <a:srgbClr val="14213D"/>
            </a:solidFill>
            <a:prstDash val="solid"/>
            <a:tailEnd type="triangle"/>
          </a:ln>
        </p:spPr>
        <p:txBody>
          <a:bodyPr/>
          <a:p/>
        </p:txBody>
      </p:sp>
      <p:sp>
        <p:nvSpPr>
          <p:cNvPr id="34" name="Shape 31"/>
          <p:cNvSpPr/>
          <p:nvPr/>
        </p:nvSpPr>
        <p:spPr>
          <a:xfrm>
            <a:off x="5376672" y="3154680"/>
            <a:ext cx="521208" cy="0"/>
          </a:xfrm>
          <a:prstGeom prst="line">
            <a:avLst/>
          </a:prstGeom>
          <a:noFill/>
          <a:ln w="15875">
            <a:solidFill>
              <a:srgbClr val="14213D"/>
            </a:solidFill>
            <a:prstDash val="solid"/>
          </a:ln>
        </p:spPr>
        <p:txBody>
          <a:bodyPr/>
          <a:p/>
        </p:txBody>
      </p:sp>
      <p:sp>
        <p:nvSpPr>
          <p:cNvPr id="35" name="Shape 32"/>
          <p:cNvSpPr/>
          <p:nvPr/>
        </p:nvSpPr>
        <p:spPr>
          <a:xfrm>
            <a:off x="5897880" y="3154680"/>
            <a:ext cx="0" cy="2679192"/>
          </a:xfrm>
          <a:prstGeom prst="line">
            <a:avLst/>
          </a:prstGeom>
          <a:noFill/>
          <a:ln w="15875">
            <a:solidFill>
              <a:srgbClr val="14213D"/>
            </a:solidFill>
            <a:prstDash val="solid"/>
          </a:ln>
        </p:spPr>
        <p:txBody>
          <a:bodyPr/>
          <a:p/>
        </p:txBody>
      </p:sp>
      <p:sp>
        <p:nvSpPr>
          <p:cNvPr id="36" name="Shape 33"/>
          <p:cNvSpPr/>
          <p:nvPr/>
        </p:nvSpPr>
        <p:spPr>
          <a:xfrm>
            <a:off x="5376672" y="4206240"/>
            <a:ext cx="521208" cy="0"/>
          </a:xfrm>
          <a:prstGeom prst="line">
            <a:avLst/>
          </a:prstGeom>
          <a:noFill/>
          <a:ln w="15875">
            <a:solidFill>
              <a:srgbClr val="14213D"/>
            </a:solidFill>
            <a:prstDash val="solid"/>
          </a:ln>
        </p:spPr>
        <p:txBody>
          <a:bodyPr/>
          <a:p/>
        </p:txBody>
      </p:sp>
      <p:sp>
        <p:nvSpPr>
          <p:cNvPr id="37" name="Shape 34"/>
          <p:cNvSpPr/>
          <p:nvPr/>
        </p:nvSpPr>
        <p:spPr>
          <a:xfrm flipH="1">
            <a:off x="2971800" y="5833872"/>
            <a:ext cx="2926080" cy="0"/>
          </a:xfrm>
          <a:prstGeom prst="line">
            <a:avLst/>
          </a:prstGeom>
          <a:noFill/>
          <a:ln w="15875">
            <a:solidFill>
              <a:srgbClr val="14213D"/>
            </a:solidFill>
            <a:prstDash val="solid"/>
            <a:tailEnd type="triangle"/>
          </a:ln>
        </p:spPr>
        <p:txBody>
          <a:bodyPr/>
          <a:p/>
        </p:txBody>
      </p:sp>
      <p:sp>
        <p:nvSpPr>
          <p:cNvPr id="38" name="Shape 35"/>
          <p:cNvSpPr/>
          <p:nvPr/>
        </p:nvSpPr>
        <p:spPr>
          <a:xfrm>
            <a:off x="6675120" y="1600200"/>
            <a:ext cx="4983480" cy="4480560"/>
          </a:xfrm>
          <a:prstGeom prst="roundRect">
            <a:avLst>
              <a:gd name="adj" fmla="val 2449"/>
            </a:avLst>
          </a:prstGeom>
          <a:solidFill>
            <a:srgbClr val="FFF6E3"/>
          </a:solidFill>
          <a:ln w="12700">
            <a:solidFill>
              <a:srgbClr val="FFF6E3"/>
            </a:solidFill>
            <a:prstDash val="solid"/>
          </a:ln>
        </p:spPr>
        <p:txBody>
          <a:bodyPr/>
          <a:p/>
        </p:txBody>
      </p:sp>
      <p:sp>
        <p:nvSpPr>
          <p:cNvPr id="39" name="Shape 36"/>
          <p:cNvSpPr/>
          <p:nvPr/>
        </p:nvSpPr>
        <p:spPr>
          <a:xfrm>
            <a:off x="6903720" y="1828800"/>
            <a:ext cx="566928" cy="566928"/>
          </a:xfrm>
          <a:prstGeom prst="ellipse">
            <a:avLst/>
          </a:prstGeom>
          <a:solidFill>
            <a:srgbClr val="FCA311"/>
          </a:solidFill>
          <a:ln w="12700">
            <a:solidFill>
              <a:srgbClr val="FCA311"/>
            </a:solidFill>
            <a:prstDash val="solid"/>
          </a:ln>
        </p:spPr>
        <p:txBody>
          <a:bodyPr/>
          <a:p/>
        </p:txBody>
      </p:sp>
      <p:pic>
        <p:nvPicPr>
          <p:cNvPr id="40" name="Image 0" descr="preencoded.png">    </p:cNvPr>
          <p:cNvPicPr>
            <a:picLocks noChangeAspect="1"/>
          </p:cNvPicPr>
          <p:nvPr/>
        </p:nvPicPr>
        <p:blipFill>
          <a:blip r:embed="rId1"/>
          <a:stretch>
            <a:fillRect/>
          </a:stretch>
        </p:blipFill>
        <p:spPr>
          <a:xfrm>
            <a:off x="7051121" y="1976201"/>
            <a:ext cx="272125" cy="272125"/>
          </a:xfrm>
          <a:prstGeom prst="rect">
            <a:avLst/>
          </a:prstGeom>
        </p:spPr>
      </p:pic>
      <p:sp>
        <p:nvSpPr>
          <p:cNvPr id="41" name="Text 37"/>
          <p:cNvSpPr txBox="1"/>
          <p:nvPr/>
        </p:nvSpPr>
        <p:spPr>
          <a:xfrm>
            <a:off x="7635240" y="1828800"/>
            <a:ext cx="384048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Task (pairs · 4 min)</a:t>
            </a:r>
            <a:endParaRPr lang="en-US" sz="1800" dirty="0"/>
          </a:p>
        </p:txBody>
      </p:sp>
      <p:sp>
        <p:nvSpPr>
          <p:cNvPr id="42" name="Text 38"/>
          <p:cNvSpPr txBox="1"/>
          <p:nvPr/>
        </p:nvSpPr>
        <p:spPr>
          <a:xfrm>
            <a:off x="6949440" y="2606040"/>
            <a:ext cx="4526280"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600" dirty="0">
                <a:solidFill>
                  <a:srgbClr val="333B4F"/>
                </a:solidFill>
                <a:latin typeface="Calibri" pitchFamily="34" charset="0"/>
                <a:ea typeface="Calibri" pitchFamily="34" charset="-122"/>
                <a:cs typeface="Calibri" pitchFamily="34" charset="-120"/>
              </a:rPr>
              <a:t>Write the pseudocode, using IF … THEN … ELSE … END IF.</a:t>
            </a:r>
            <a:endParaRPr lang="en-US" sz="1600" dirty="0"/>
          </a:p>
          <a:p>
            <a:pPr marL="342900" indent="-342900">
              <a:spcAft>
                <a:spcPts val="1200"/>
              </a:spcAft>
              <a:buSzPct val="100000"/>
              <a:buFont typeface="+mj-lt"/>
              <a:buAutoNum type="arabicPeriod" startAt="1"/>
            </a:pPr>
            <a:r>
              <a:rPr lang="en-US" sz="1600" dirty="0">
                <a:solidFill>
                  <a:srgbClr val="333B4F"/>
                </a:solidFill>
                <a:latin typeface="Calibri" pitchFamily="34" charset="0"/>
                <a:ea typeface="Calibri" pitchFamily="34" charset="-122"/>
                <a:cs typeface="Calibri" pitchFamily="34" charset="-120"/>
              </a:rPr>
              <a:t>Which kind of structure is this: sequence, selection or repetition? How can you tell?</a:t>
            </a:r>
            <a:endParaRPr lang="en-US" sz="1600" dirty="0"/>
          </a:p>
          <a:p>
            <a:pPr marL="342900" indent="-342900">
              <a:spcAft>
                <a:spcPts val="1200"/>
              </a:spcAft>
              <a:buSzPct val="100000"/>
              <a:buFont typeface="+mj-lt"/>
              <a:buAutoNum type="arabicPeriod" startAt="1"/>
            </a:pPr>
            <a:r>
              <a:rPr lang="en-US" sz="1600" dirty="0">
                <a:solidFill>
                  <a:srgbClr val="333B4F"/>
                </a:solidFill>
                <a:latin typeface="Calibri" pitchFamily="34" charset="0"/>
                <a:ea typeface="Calibri" pitchFamily="34" charset="-122"/>
                <a:cs typeface="Calibri" pitchFamily="34" charset="-120"/>
              </a:rPr>
              <a:t>Choose three test inputs so that every box is visited at least once.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CONVERSION 2 · ANSWER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Nested Selection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1783080" y="1581912"/>
            <a:ext cx="1188720" cy="365760"/>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828800" y="1581912"/>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645920" y="2121408"/>
            <a:ext cx="1463040" cy="420624"/>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691640" y="2121408"/>
            <a:ext cx="137160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x</a:t>
            </a:r>
            <a:endParaRPr lang="en-US" sz="1300" dirty="0"/>
          </a:p>
        </p:txBody>
      </p:sp>
      <p:sp>
        <p:nvSpPr>
          <p:cNvPr id="11" name="Shape 8"/>
          <p:cNvSpPr/>
          <p:nvPr/>
        </p:nvSpPr>
        <p:spPr>
          <a:xfrm>
            <a:off x="1600200" y="2807208"/>
            <a:ext cx="1554480" cy="694944"/>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1645920" y="2807208"/>
            <a:ext cx="1463040" cy="69494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&gt; 0 ?</a:t>
            </a:r>
            <a:endParaRPr lang="en-US" sz="1300" dirty="0"/>
          </a:p>
        </p:txBody>
      </p:sp>
      <p:sp>
        <p:nvSpPr>
          <p:cNvPr id="13" name="Shape 10"/>
          <p:cNvSpPr/>
          <p:nvPr/>
        </p:nvSpPr>
        <p:spPr>
          <a:xfrm>
            <a:off x="1600200" y="3858768"/>
            <a:ext cx="1554480" cy="694944"/>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645920" y="3858768"/>
            <a:ext cx="1463040" cy="69494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&lt; 0 ?</a:t>
            </a:r>
            <a:endParaRPr lang="en-US" sz="1300" dirty="0"/>
          </a:p>
        </p:txBody>
      </p:sp>
      <p:sp>
        <p:nvSpPr>
          <p:cNvPr id="15" name="Shape 12"/>
          <p:cNvSpPr/>
          <p:nvPr/>
        </p:nvSpPr>
        <p:spPr>
          <a:xfrm>
            <a:off x="3566160" y="2944368"/>
            <a:ext cx="2011680" cy="420624"/>
          </a:xfrm>
          <a:prstGeom prst="flowChartInputOutput">
            <a:avLst/>
          </a:prstGeom>
          <a:solidFill>
            <a:srgbClr val="FFFFFF"/>
          </a:solidFill>
          <a:ln w="15875">
            <a:solidFill>
              <a:srgbClr val="14213D"/>
            </a:solidFill>
            <a:prstDash val="solid"/>
          </a:ln>
        </p:spPr>
        <p:txBody>
          <a:bodyPr/>
          <a:p/>
        </p:txBody>
      </p:sp>
      <p:sp>
        <p:nvSpPr>
          <p:cNvPr id="16" name="Text 13"/>
          <p:cNvSpPr txBox="1"/>
          <p:nvPr/>
        </p:nvSpPr>
        <p:spPr>
          <a:xfrm>
            <a:off x="3611880" y="2944368"/>
            <a:ext cx="19202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"positive"</a:t>
            </a:r>
            <a:endParaRPr lang="en-US" sz="1300" dirty="0"/>
          </a:p>
        </p:txBody>
      </p:sp>
      <p:sp>
        <p:nvSpPr>
          <p:cNvPr id="17" name="Shape 14"/>
          <p:cNvSpPr/>
          <p:nvPr/>
        </p:nvSpPr>
        <p:spPr>
          <a:xfrm>
            <a:off x="3566160" y="3995928"/>
            <a:ext cx="2011680" cy="420624"/>
          </a:xfrm>
          <a:prstGeom prst="flowChartInputOutput">
            <a:avLst/>
          </a:prstGeom>
          <a:solidFill>
            <a:srgbClr val="FFFFFF"/>
          </a:solidFill>
          <a:ln w="15875">
            <a:solidFill>
              <a:srgbClr val="14213D"/>
            </a:solidFill>
            <a:prstDash val="solid"/>
          </a:ln>
        </p:spPr>
        <p:txBody>
          <a:bodyPr/>
          <a:p/>
        </p:txBody>
      </p:sp>
      <p:sp>
        <p:nvSpPr>
          <p:cNvPr id="18" name="Text 15"/>
          <p:cNvSpPr txBox="1"/>
          <p:nvPr/>
        </p:nvSpPr>
        <p:spPr>
          <a:xfrm>
            <a:off x="3611880" y="3995928"/>
            <a:ext cx="192024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"negative"</a:t>
            </a:r>
            <a:endParaRPr lang="en-US" sz="1300" dirty="0"/>
          </a:p>
        </p:txBody>
      </p:sp>
      <p:sp>
        <p:nvSpPr>
          <p:cNvPr id="19" name="Shape 16"/>
          <p:cNvSpPr/>
          <p:nvPr/>
        </p:nvSpPr>
        <p:spPr>
          <a:xfrm>
            <a:off x="1508760" y="4910328"/>
            <a:ext cx="1737360" cy="420624"/>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1554480" y="4910328"/>
            <a:ext cx="164592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"zero"</a:t>
            </a:r>
            <a:endParaRPr lang="en-US" sz="1300" dirty="0"/>
          </a:p>
        </p:txBody>
      </p:sp>
      <p:sp>
        <p:nvSpPr>
          <p:cNvPr id="21" name="Shape 18"/>
          <p:cNvSpPr/>
          <p:nvPr/>
        </p:nvSpPr>
        <p:spPr>
          <a:xfrm>
            <a:off x="1783080" y="5650992"/>
            <a:ext cx="1188720" cy="365760"/>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1828800" y="5650992"/>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2377440" y="1947672"/>
            <a:ext cx="0" cy="173736"/>
          </a:xfrm>
          <a:prstGeom prst="line">
            <a:avLst/>
          </a:prstGeom>
          <a:noFill/>
          <a:ln w="15875">
            <a:solidFill>
              <a:srgbClr val="14213D"/>
            </a:solidFill>
            <a:prstDash val="solid"/>
            <a:tailEnd type="triangle"/>
          </a:ln>
        </p:spPr>
        <p:txBody>
          <a:bodyPr/>
          <a:p/>
        </p:txBody>
      </p:sp>
      <p:sp>
        <p:nvSpPr>
          <p:cNvPr id="24" name="Shape 21"/>
          <p:cNvSpPr/>
          <p:nvPr/>
        </p:nvSpPr>
        <p:spPr>
          <a:xfrm>
            <a:off x="2377440" y="2542032"/>
            <a:ext cx="0" cy="265176"/>
          </a:xfrm>
          <a:prstGeom prst="line">
            <a:avLst/>
          </a:prstGeom>
          <a:noFill/>
          <a:ln w="15875">
            <a:solidFill>
              <a:srgbClr val="14213D"/>
            </a:solidFill>
            <a:prstDash val="solid"/>
            <a:tailEnd type="triangle"/>
          </a:ln>
        </p:spPr>
        <p:txBody>
          <a:bodyPr/>
          <a:p/>
        </p:txBody>
      </p:sp>
      <p:sp>
        <p:nvSpPr>
          <p:cNvPr id="25" name="Shape 22"/>
          <p:cNvSpPr/>
          <p:nvPr/>
        </p:nvSpPr>
        <p:spPr>
          <a:xfrm>
            <a:off x="3154680" y="3154680"/>
            <a:ext cx="612648" cy="0"/>
          </a:xfrm>
          <a:prstGeom prst="line">
            <a:avLst/>
          </a:prstGeom>
          <a:noFill/>
          <a:ln w="15875">
            <a:solidFill>
              <a:srgbClr val="14213D"/>
            </a:solidFill>
            <a:prstDash val="solid"/>
            <a:tailEnd type="triangle"/>
          </a:ln>
        </p:spPr>
        <p:txBody>
          <a:bodyPr/>
          <a:p/>
        </p:txBody>
      </p:sp>
      <p:sp>
        <p:nvSpPr>
          <p:cNvPr id="26" name="Text 23"/>
          <p:cNvSpPr txBox="1"/>
          <p:nvPr/>
        </p:nvSpPr>
        <p:spPr>
          <a:xfrm>
            <a:off x="3200400" y="290779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7" name="Shape 24"/>
          <p:cNvSpPr/>
          <p:nvPr/>
        </p:nvSpPr>
        <p:spPr>
          <a:xfrm>
            <a:off x="2377440" y="3502152"/>
            <a:ext cx="0" cy="356616"/>
          </a:xfrm>
          <a:prstGeom prst="line">
            <a:avLst/>
          </a:prstGeom>
          <a:noFill/>
          <a:ln w="15875">
            <a:solidFill>
              <a:srgbClr val="14213D"/>
            </a:solidFill>
            <a:prstDash val="solid"/>
            <a:tailEnd type="triangle"/>
          </a:ln>
        </p:spPr>
        <p:txBody>
          <a:bodyPr/>
          <a:p/>
        </p:txBody>
      </p:sp>
      <p:sp>
        <p:nvSpPr>
          <p:cNvPr id="28" name="Text 25"/>
          <p:cNvSpPr txBox="1"/>
          <p:nvPr/>
        </p:nvSpPr>
        <p:spPr>
          <a:xfrm>
            <a:off x="2441448" y="3483864"/>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9" name="Shape 26"/>
          <p:cNvSpPr/>
          <p:nvPr/>
        </p:nvSpPr>
        <p:spPr>
          <a:xfrm>
            <a:off x="3154680" y="4206240"/>
            <a:ext cx="612648" cy="0"/>
          </a:xfrm>
          <a:prstGeom prst="line">
            <a:avLst/>
          </a:prstGeom>
          <a:noFill/>
          <a:ln w="15875">
            <a:solidFill>
              <a:srgbClr val="14213D"/>
            </a:solidFill>
            <a:prstDash val="solid"/>
            <a:tailEnd type="triangle"/>
          </a:ln>
        </p:spPr>
        <p:txBody>
          <a:bodyPr/>
          <a:p/>
        </p:txBody>
      </p:sp>
      <p:sp>
        <p:nvSpPr>
          <p:cNvPr id="30" name="Text 27"/>
          <p:cNvSpPr txBox="1"/>
          <p:nvPr/>
        </p:nvSpPr>
        <p:spPr>
          <a:xfrm>
            <a:off x="3200400" y="395935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1" name="Shape 28"/>
          <p:cNvSpPr/>
          <p:nvPr/>
        </p:nvSpPr>
        <p:spPr>
          <a:xfrm>
            <a:off x="2377440" y="4553712"/>
            <a:ext cx="0" cy="356616"/>
          </a:xfrm>
          <a:prstGeom prst="line">
            <a:avLst/>
          </a:prstGeom>
          <a:noFill/>
          <a:ln w="15875">
            <a:solidFill>
              <a:srgbClr val="14213D"/>
            </a:solidFill>
            <a:prstDash val="solid"/>
            <a:tailEnd type="triangle"/>
          </a:ln>
        </p:spPr>
        <p:txBody>
          <a:bodyPr/>
          <a:p/>
        </p:txBody>
      </p:sp>
      <p:sp>
        <p:nvSpPr>
          <p:cNvPr id="32" name="Text 29"/>
          <p:cNvSpPr txBox="1"/>
          <p:nvPr/>
        </p:nvSpPr>
        <p:spPr>
          <a:xfrm>
            <a:off x="2441448" y="4535424"/>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3" name="Shape 30"/>
          <p:cNvSpPr/>
          <p:nvPr/>
        </p:nvSpPr>
        <p:spPr>
          <a:xfrm>
            <a:off x="2377440" y="5330952"/>
            <a:ext cx="0" cy="320040"/>
          </a:xfrm>
          <a:prstGeom prst="line">
            <a:avLst/>
          </a:prstGeom>
          <a:noFill/>
          <a:ln w="15875">
            <a:solidFill>
              <a:srgbClr val="14213D"/>
            </a:solidFill>
            <a:prstDash val="solid"/>
            <a:tailEnd type="triangle"/>
          </a:ln>
        </p:spPr>
        <p:txBody>
          <a:bodyPr/>
          <a:p/>
        </p:txBody>
      </p:sp>
      <p:sp>
        <p:nvSpPr>
          <p:cNvPr id="34" name="Shape 31"/>
          <p:cNvSpPr/>
          <p:nvPr/>
        </p:nvSpPr>
        <p:spPr>
          <a:xfrm>
            <a:off x="5376672" y="3154680"/>
            <a:ext cx="521208" cy="0"/>
          </a:xfrm>
          <a:prstGeom prst="line">
            <a:avLst/>
          </a:prstGeom>
          <a:noFill/>
          <a:ln w="15875">
            <a:solidFill>
              <a:srgbClr val="14213D"/>
            </a:solidFill>
            <a:prstDash val="solid"/>
          </a:ln>
        </p:spPr>
        <p:txBody>
          <a:bodyPr/>
          <a:p/>
        </p:txBody>
      </p:sp>
      <p:sp>
        <p:nvSpPr>
          <p:cNvPr id="35" name="Shape 32"/>
          <p:cNvSpPr/>
          <p:nvPr/>
        </p:nvSpPr>
        <p:spPr>
          <a:xfrm>
            <a:off x="5897880" y="3154680"/>
            <a:ext cx="0" cy="2679192"/>
          </a:xfrm>
          <a:prstGeom prst="line">
            <a:avLst/>
          </a:prstGeom>
          <a:noFill/>
          <a:ln w="15875">
            <a:solidFill>
              <a:srgbClr val="14213D"/>
            </a:solidFill>
            <a:prstDash val="solid"/>
          </a:ln>
        </p:spPr>
        <p:txBody>
          <a:bodyPr/>
          <a:p/>
        </p:txBody>
      </p:sp>
      <p:sp>
        <p:nvSpPr>
          <p:cNvPr id="36" name="Shape 33"/>
          <p:cNvSpPr/>
          <p:nvPr/>
        </p:nvSpPr>
        <p:spPr>
          <a:xfrm>
            <a:off x="5376672" y="4206240"/>
            <a:ext cx="521208" cy="0"/>
          </a:xfrm>
          <a:prstGeom prst="line">
            <a:avLst/>
          </a:prstGeom>
          <a:noFill/>
          <a:ln w="15875">
            <a:solidFill>
              <a:srgbClr val="14213D"/>
            </a:solidFill>
            <a:prstDash val="solid"/>
          </a:ln>
        </p:spPr>
        <p:txBody>
          <a:bodyPr/>
          <a:p/>
        </p:txBody>
      </p:sp>
      <p:sp>
        <p:nvSpPr>
          <p:cNvPr id="37" name="Shape 34"/>
          <p:cNvSpPr/>
          <p:nvPr/>
        </p:nvSpPr>
        <p:spPr>
          <a:xfrm flipH="1">
            <a:off x="2971800" y="5833872"/>
            <a:ext cx="2926080" cy="0"/>
          </a:xfrm>
          <a:prstGeom prst="line">
            <a:avLst/>
          </a:prstGeom>
          <a:noFill/>
          <a:ln w="15875">
            <a:solidFill>
              <a:srgbClr val="14213D"/>
            </a:solidFill>
            <a:prstDash val="solid"/>
            <a:tailEnd type="triangle"/>
          </a:ln>
        </p:spPr>
        <p:txBody>
          <a:bodyPr/>
          <a:p/>
        </p:txBody>
      </p:sp>
      <p:sp>
        <p:nvSpPr>
          <p:cNvPr id="38" name="Shape 35"/>
          <p:cNvSpPr/>
          <p:nvPr/>
        </p:nvSpPr>
        <p:spPr>
          <a:xfrm>
            <a:off x="6675120" y="1600200"/>
            <a:ext cx="4983480" cy="3246120"/>
          </a:xfrm>
          <a:prstGeom prst="roundRect">
            <a:avLst>
              <a:gd name="adj" fmla="val 2254"/>
            </a:avLst>
          </a:prstGeom>
          <a:solidFill>
            <a:srgbClr val="F4F6FA"/>
          </a:solidFill>
          <a:ln w="9525">
            <a:solidFill>
              <a:srgbClr val="C9D0DD"/>
            </a:solidFill>
            <a:prstDash val="solid"/>
          </a:ln>
        </p:spPr>
        <p:txBody>
          <a:bodyPr/>
          <a:p/>
        </p:txBody>
      </p:sp>
      <p:sp>
        <p:nvSpPr>
          <p:cNvPr id="39" name="Text 36"/>
          <p:cNvSpPr txBox="1"/>
          <p:nvPr/>
        </p:nvSpPr>
        <p:spPr>
          <a:xfrm>
            <a:off x="6858000" y="1737360"/>
            <a:ext cx="4617720" cy="30175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START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x</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x &gt;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"positive"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x &lt;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"negative"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"zero"</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75120" y="4983480"/>
          <a:ext cx="4983480" cy="914400"/>
        </p:xfrm>
        <a:graphic>
          <a:graphicData uri="http://schemas.openxmlformats.org/drawingml/2006/table">
            <a:tbl>
              <a:tblPr/>
              <a:tblGrid>
                <a:gridCol w="1005840"/>
                <a:gridCol w="1965960"/>
                <a:gridCol w="2011680"/>
              </a:tblGrid>
              <a:tr h="26517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path</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26517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positive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6517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no → yes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negative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65176">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no → no</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zero</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DESK-CHECKING A FLOWCHART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Tracing a Flowchart with a Trace Table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169164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73736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554480" y="2048256"/>
            <a:ext cx="146304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600200" y="204825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463040" y="2551176"/>
            <a:ext cx="1645920" cy="384048"/>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508760" y="2551176"/>
            <a:ext cx="15544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 ← 1,  k ← 0</a:t>
            </a:r>
            <a:endParaRPr lang="en-US" sz="1300" dirty="0"/>
          </a:p>
        </p:txBody>
      </p:sp>
      <p:sp>
        <p:nvSpPr>
          <p:cNvPr id="13" name="Shape 10"/>
          <p:cNvSpPr/>
          <p:nvPr/>
        </p:nvSpPr>
        <p:spPr>
          <a:xfrm>
            <a:off x="1554480" y="3291840"/>
            <a:ext cx="1463040" cy="640080"/>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600200" y="3291840"/>
            <a:ext cx="13716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 &lt; n ?</a:t>
            </a:r>
            <a:endParaRPr lang="en-US" sz="1300" dirty="0"/>
          </a:p>
        </p:txBody>
      </p:sp>
      <p:sp>
        <p:nvSpPr>
          <p:cNvPr id="15" name="Shape 12"/>
          <p:cNvSpPr/>
          <p:nvPr/>
        </p:nvSpPr>
        <p:spPr>
          <a:xfrm>
            <a:off x="1554480" y="4288536"/>
            <a:ext cx="1463040" cy="384048"/>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1600200" y="428853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 ← p × 2</a:t>
            </a:r>
            <a:endParaRPr lang="en-US" sz="1300" dirty="0"/>
          </a:p>
        </p:txBody>
      </p:sp>
      <p:sp>
        <p:nvSpPr>
          <p:cNvPr id="17" name="Shape 14"/>
          <p:cNvSpPr/>
          <p:nvPr/>
        </p:nvSpPr>
        <p:spPr>
          <a:xfrm>
            <a:off x="1554480" y="4882896"/>
            <a:ext cx="1463040" cy="384048"/>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1600200" y="488289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 k + 1</a:t>
            </a:r>
            <a:endParaRPr lang="en-US" sz="1300" dirty="0"/>
          </a:p>
        </p:txBody>
      </p:sp>
      <p:sp>
        <p:nvSpPr>
          <p:cNvPr id="19" name="Shape 16"/>
          <p:cNvSpPr/>
          <p:nvPr/>
        </p:nvSpPr>
        <p:spPr>
          <a:xfrm>
            <a:off x="3931920" y="4288536"/>
            <a:ext cx="1280160" cy="384048"/>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3977640" y="4288536"/>
            <a:ext cx="118872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k</a:t>
            </a:r>
            <a:endParaRPr lang="en-US" sz="1300" dirty="0"/>
          </a:p>
        </p:txBody>
      </p:sp>
      <p:sp>
        <p:nvSpPr>
          <p:cNvPr id="21" name="Shape 18"/>
          <p:cNvSpPr/>
          <p:nvPr/>
        </p:nvSpPr>
        <p:spPr>
          <a:xfrm>
            <a:off x="3977640" y="4901184"/>
            <a:ext cx="1188720" cy="347472"/>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4023360" y="490118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2286000" y="1911096"/>
            <a:ext cx="0" cy="137160"/>
          </a:xfrm>
          <a:prstGeom prst="line">
            <a:avLst/>
          </a:prstGeom>
          <a:noFill/>
          <a:ln w="15875">
            <a:solidFill>
              <a:srgbClr val="14213D"/>
            </a:solidFill>
            <a:prstDash val="solid"/>
            <a:tailEnd type="triangle"/>
          </a:ln>
        </p:spPr>
        <p:txBody>
          <a:bodyPr/>
          <a:p/>
        </p:txBody>
      </p:sp>
      <p:sp>
        <p:nvSpPr>
          <p:cNvPr id="24" name="Shape 21"/>
          <p:cNvSpPr/>
          <p:nvPr/>
        </p:nvSpPr>
        <p:spPr>
          <a:xfrm>
            <a:off x="2286000" y="2432304"/>
            <a:ext cx="0" cy="118872"/>
          </a:xfrm>
          <a:prstGeom prst="line">
            <a:avLst/>
          </a:prstGeom>
          <a:noFill/>
          <a:ln w="15875">
            <a:solidFill>
              <a:srgbClr val="14213D"/>
            </a:solidFill>
            <a:prstDash val="solid"/>
            <a:tailEnd type="triangle"/>
          </a:ln>
        </p:spPr>
        <p:txBody>
          <a:bodyPr/>
          <a:p/>
        </p:txBody>
      </p:sp>
      <p:sp>
        <p:nvSpPr>
          <p:cNvPr id="25" name="Shape 22"/>
          <p:cNvSpPr/>
          <p:nvPr/>
        </p:nvSpPr>
        <p:spPr>
          <a:xfrm>
            <a:off x="2286000" y="2935224"/>
            <a:ext cx="0" cy="356616"/>
          </a:xfrm>
          <a:prstGeom prst="line">
            <a:avLst/>
          </a:prstGeom>
          <a:noFill/>
          <a:ln w="15875">
            <a:solidFill>
              <a:srgbClr val="14213D"/>
            </a:solidFill>
            <a:prstDash val="solid"/>
            <a:tailEnd type="triangle"/>
          </a:ln>
        </p:spPr>
        <p:txBody>
          <a:bodyPr/>
          <a:p/>
        </p:txBody>
      </p:sp>
      <p:sp>
        <p:nvSpPr>
          <p:cNvPr id="26" name="Shape 23"/>
          <p:cNvSpPr/>
          <p:nvPr/>
        </p:nvSpPr>
        <p:spPr>
          <a:xfrm>
            <a:off x="2286000" y="3931920"/>
            <a:ext cx="0" cy="356616"/>
          </a:xfrm>
          <a:prstGeom prst="line">
            <a:avLst/>
          </a:prstGeom>
          <a:noFill/>
          <a:ln w="15875">
            <a:solidFill>
              <a:srgbClr val="14213D"/>
            </a:solidFill>
            <a:prstDash val="solid"/>
            <a:tailEnd type="triangle"/>
          </a:ln>
        </p:spPr>
        <p:txBody>
          <a:bodyPr/>
          <a:p/>
        </p:txBody>
      </p:sp>
      <p:sp>
        <p:nvSpPr>
          <p:cNvPr id="27" name="Text 24"/>
          <p:cNvSpPr txBox="1"/>
          <p:nvPr/>
        </p:nvSpPr>
        <p:spPr>
          <a:xfrm>
            <a:off x="2350008" y="391363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8" name="Shape 25"/>
          <p:cNvSpPr/>
          <p:nvPr/>
        </p:nvSpPr>
        <p:spPr>
          <a:xfrm>
            <a:off x="2286000" y="4672584"/>
            <a:ext cx="0" cy="210312"/>
          </a:xfrm>
          <a:prstGeom prst="line">
            <a:avLst/>
          </a:prstGeom>
          <a:noFill/>
          <a:ln w="15875">
            <a:solidFill>
              <a:srgbClr val="14213D"/>
            </a:solidFill>
            <a:prstDash val="solid"/>
            <a:tailEnd type="triangle"/>
          </a:ln>
        </p:spPr>
        <p:txBody>
          <a:bodyPr/>
          <a:p/>
        </p:txBody>
      </p:sp>
      <p:sp>
        <p:nvSpPr>
          <p:cNvPr id="29" name="Shape 26"/>
          <p:cNvSpPr/>
          <p:nvPr/>
        </p:nvSpPr>
        <p:spPr>
          <a:xfrm>
            <a:off x="2286000" y="5266944"/>
            <a:ext cx="0" cy="219456"/>
          </a:xfrm>
          <a:prstGeom prst="line">
            <a:avLst/>
          </a:prstGeom>
          <a:noFill/>
          <a:ln w="15875">
            <a:solidFill>
              <a:srgbClr val="14213D"/>
            </a:solidFill>
            <a:prstDash val="solid"/>
          </a:ln>
        </p:spPr>
        <p:txBody>
          <a:bodyPr/>
          <a:p/>
        </p:txBody>
      </p:sp>
      <p:sp>
        <p:nvSpPr>
          <p:cNvPr id="30" name="Shape 27"/>
          <p:cNvSpPr/>
          <p:nvPr/>
        </p:nvSpPr>
        <p:spPr>
          <a:xfrm flipH="1">
            <a:off x="960120" y="5486400"/>
            <a:ext cx="1325880" cy="0"/>
          </a:xfrm>
          <a:prstGeom prst="line">
            <a:avLst/>
          </a:prstGeom>
          <a:noFill/>
          <a:ln w="15875">
            <a:solidFill>
              <a:srgbClr val="14213D"/>
            </a:solidFill>
            <a:prstDash val="solid"/>
          </a:ln>
        </p:spPr>
        <p:txBody>
          <a:bodyPr/>
          <a:p/>
        </p:txBody>
      </p:sp>
      <p:sp>
        <p:nvSpPr>
          <p:cNvPr id="31" name="Shape 28"/>
          <p:cNvSpPr/>
          <p:nvPr/>
        </p:nvSpPr>
        <p:spPr>
          <a:xfrm flipV="1">
            <a:off x="960120" y="3108960"/>
            <a:ext cx="0" cy="2377440"/>
          </a:xfrm>
          <a:prstGeom prst="line">
            <a:avLst/>
          </a:prstGeom>
          <a:noFill/>
          <a:ln w="15875">
            <a:solidFill>
              <a:srgbClr val="14213D"/>
            </a:solidFill>
            <a:prstDash val="solid"/>
          </a:ln>
        </p:spPr>
        <p:txBody>
          <a:bodyPr/>
          <a:p/>
        </p:txBody>
      </p:sp>
      <p:sp>
        <p:nvSpPr>
          <p:cNvPr id="32" name="Shape 29"/>
          <p:cNvSpPr/>
          <p:nvPr/>
        </p:nvSpPr>
        <p:spPr>
          <a:xfrm>
            <a:off x="960120" y="3108960"/>
            <a:ext cx="1325880" cy="0"/>
          </a:xfrm>
          <a:prstGeom prst="line">
            <a:avLst/>
          </a:prstGeom>
          <a:noFill/>
          <a:ln w="15875">
            <a:solidFill>
              <a:srgbClr val="14213D"/>
            </a:solidFill>
            <a:prstDash val="solid"/>
            <a:tailEnd type="triangle"/>
          </a:ln>
        </p:spPr>
        <p:txBody>
          <a:bodyPr/>
          <a:p/>
        </p:txBody>
      </p:sp>
      <p:sp>
        <p:nvSpPr>
          <p:cNvPr id="33" name="Shape 30"/>
          <p:cNvSpPr/>
          <p:nvPr/>
        </p:nvSpPr>
        <p:spPr>
          <a:xfrm>
            <a:off x="3017520" y="3611880"/>
            <a:ext cx="1554480" cy="0"/>
          </a:xfrm>
          <a:prstGeom prst="line">
            <a:avLst/>
          </a:prstGeom>
          <a:noFill/>
          <a:ln w="15875">
            <a:solidFill>
              <a:srgbClr val="14213D"/>
            </a:solidFill>
            <a:prstDash val="solid"/>
          </a:ln>
        </p:spPr>
        <p:txBody>
          <a:bodyPr/>
          <a:p/>
        </p:txBody>
      </p:sp>
      <p:sp>
        <p:nvSpPr>
          <p:cNvPr id="34" name="Shape 31"/>
          <p:cNvSpPr/>
          <p:nvPr/>
        </p:nvSpPr>
        <p:spPr>
          <a:xfrm>
            <a:off x="4572000" y="3611880"/>
            <a:ext cx="0" cy="676656"/>
          </a:xfrm>
          <a:prstGeom prst="line">
            <a:avLst/>
          </a:prstGeom>
          <a:noFill/>
          <a:ln w="15875">
            <a:solidFill>
              <a:srgbClr val="14213D"/>
            </a:solidFill>
            <a:prstDash val="solid"/>
            <a:tailEnd type="triangle"/>
          </a:ln>
        </p:spPr>
        <p:txBody>
          <a:bodyPr/>
          <a:p/>
        </p:txBody>
      </p:sp>
      <p:sp>
        <p:nvSpPr>
          <p:cNvPr id="35" name="Text 32"/>
          <p:cNvSpPr txBox="1"/>
          <p:nvPr/>
        </p:nvSpPr>
        <p:spPr>
          <a:xfrm>
            <a:off x="3063240" y="33649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6" name="Shape 33"/>
          <p:cNvSpPr/>
          <p:nvPr/>
        </p:nvSpPr>
        <p:spPr>
          <a:xfrm>
            <a:off x="4572000" y="4672584"/>
            <a:ext cx="0" cy="228600"/>
          </a:xfrm>
          <a:prstGeom prst="line">
            <a:avLst/>
          </a:prstGeom>
          <a:noFill/>
          <a:ln w="15875">
            <a:solidFill>
              <a:srgbClr val="14213D"/>
            </a:solidFill>
            <a:prstDash val="solid"/>
            <a:tailEnd type="triangle"/>
          </a:ln>
        </p:spPr>
        <p:txBody>
          <a:bodyPr/>
          <a:p/>
        </p:txBody>
      </p:sp>
      <p:sp>
        <p:nvSpPr>
          <p:cNvPr id="37" name="Text 34"/>
          <p:cNvSpPr txBox="1"/>
          <p:nvPr/>
        </p:nvSpPr>
        <p:spPr>
          <a:xfrm>
            <a:off x="5760720" y="1600200"/>
            <a:ext cx="5852160" cy="3291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Trace for n = 20</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60720" y="2011680"/>
          <a:ext cx="5897880" cy="914400"/>
        </p:xfrm>
        <a:graphic>
          <a:graphicData uri="http://schemas.openxmlformats.org/drawingml/2006/table">
            <a:tbl>
              <a:tblPr/>
              <a:tblGrid>
                <a:gridCol w="1097280"/>
                <a:gridCol w="1325880"/>
                <a:gridCol w="1097280"/>
                <a:gridCol w="1097280"/>
                <a:gridCol w="1280160"/>
              </a:tblGrid>
              <a:tr h="34747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 &lt; n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47472">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start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yes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47472">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yes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yes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47472">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yes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47472">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yes</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47472">
                <a:tc>
                  <a:txBody>
                    <a:bodyPr/>
                    <a:lstStyle/>
                    <a:p>
                      <a:pPr algn="ctr" indent="0" marL="0">
                        <a:buNone/>
                      </a:pPr>
                      <a:r>
                        <a:rPr lang="en-US" sz="1400" b="1" dirty="0">
                          <a:solidFill>
                            <a:srgbClr val="14213D"/>
                          </a:solidFill>
                          <a:latin typeface="Courier New" pitchFamily="34" charset="0"/>
                          <a:ea typeface="Courier New" pitchFamily="34" charset="-122"/>
                          <a:cs typeface="Courier New" pitchFamily="34" charset="-120"/>
                        </a:rPr>
                        <a:t>exit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8453B"/>
                          </a:solidFill>
                          <a:latin typeface="Courier New" pitchFamily="34" charset="0"/>
                          <a:ea typeface="Courier New" pitchFamily="34" charset="-122"/>
                          <a:cs typeface="Courier New" pitchFamily="34" charset="-120"/>
                        </a:rPr>
                        <a:t>no</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39" name="Shape 35"/>
          <p:cNvSpPr/>
          <p:nvPr/>
        </p:nvSpPr>
        <p:spPr>
          <a:xfrm>
            <a:off x="5760720" y="4937760"/>
            <a:ext cx="5897880" cy="1143000"/>
          </a:xfrm>
          <a:prstGeom prst="roundRect">
            <a:avLst>
              <a:gd name="adj" fmla="val 9600"/>
            </a:avLst>
          </a:prstGeom>
          <a:solidFill>
            <a:srgbClr val="FFF6E3"/>
          </a:solidFill>
          <a:ln w="12700">
            <a:solidFill>
              <a:srgbClr val="FFF6E3"/>
            </a:solidFill>
            <a:prstDash val="solid"/>
          </a:ln>
        </p:spPr>
        <p:txBody>
          <a:bodyPr/>
          <a:p/>
        </p:txBody>
      </p:sp>
      <p:pic>
        <p:nvPicPr>
          <p:cNvPr id="40" name="Image 0" descr="preencoded.png">    </p:cNvPr>
          <p:cNvPicPr>
            <a:picLocks noChangeAspect="1"/>
          </p:cNvPicPr>
          <p:nvPr/>
        </p:nvPicPr>
        <p:blipFill>
          <a:blip r:embed="rId1"/>
          <a:stretch>
            <a:fillRect/>
          </a:stretch>
        </p:blipFill>
        <p:spPr>
          <a:xfrm>
            <a:off x="6035040" y="5234940"/>
            <a:ext cx="548640" cy="548640"/>
          </a:xfrm>
          <a:prstGeom prst="rect">
            <a:avLst/>
          </a:prstGeom>
        </p:spPr>
      </p:pic>
      <p:sp>
        <p:nvSpPr>
          <p:cNvPr id="41" name="Text 36"/>
          <p:cNvSpPr txBox="1"/>
          <p:nvPr/>
        </p:nvSpPr>
        <p:spPr>
          <a:xfrm>
            <a:off x="6858000" y="5010912"/>
            <a:ext cx="4526280" cy="996696"/>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What does it compute? </a:t>
            </a:r>
            <a:pPr indent="0" marL="0">
              <a:buNone/>
            </a:pPr>
            <a:r>
              <a:rPr lang="en-US" sz="1500" dirty="0">
                <a:solidFill>
                  <a:srgbClr val="333B4F"/>
                </a:solidFill>
                <a:latin typeface="Calibri" pitchFamily="34" charset="0"/>
                <a:ea typeface="Calibri" pitchFamily="34" charset="-122"/>
                <a:cs typeface="Calibri" pitchFamily="34" charset="-120"/>
              </a:rPr>
              <a:t>Predict the output for n = 1000, then check with a table.</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Basic Flowchart Examples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Problem → flowchart → C# preview → a real run</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SEQUENCE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Rectangle: Area and Perimeter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1280160" y="1591056"/>
            <a:ext cx="1188720" cy="384048"/>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325880" y="159105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685800" y="2240280"/>
            <a:ext cx="2377440" cy="457200"/>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731520" y="2240280"/>
            <a:ext cx="228600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width, height</a:t>
            </a:r>
            <a:endParaRPr lang="en-US" sz="1300" dirty="0"/>
          </a:p>
        </p:txBody>
      </p:sp>
      <p:sp>
        <p:nvSpPr>
          <p:cNvPr id="11" name="Shape 8"/>
          <p:cNvSpPr/>
          <p:nvPr/>
        </p:nvSpPr>
        <p:spPr>
          <a:xfrm>
            <a:off x="685800" y="2971800"/>
            <a:ext cx="2377440" cy="457200"/>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731520" y="2971800"/>
            <a:ext cx="228600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area ← width × height</a:t>
            </a:r>
            <a:endParaRPr lang="en-US" sz="1300" dirty="0"/>
          </a:p>
        </p:txBody>
      </p:sp>
      <p:sp>
        <p:nvSpPr>
          <p:cNvPr id="13" name="Shape 10"/>
          <p:cNvSpPr/>
          <p:nvPr/>
        </p:nvSpPr>
        <p:spPr>
          <a:xfrm>
            <a:off x="685800" y="3721608"/>
            <a:ext cx="2377440" cy="603504"/>
          </a:xfrm>
          <a:prstGeom prst="flowChartProcess">
            <a:avLst/>
          </a:prstGeom>
          <a:solidFill>
            <a:srgbClr val="FFFFFF"/>
          </a:solidFill>
          <a:ln w="15875">
            <a:solidFill>
              <a:srgbClr val="14213D"/>
            </a:solidFill>
            <a:prstDash val="solid"/>
          </a:ln>
        </p:spPr>
        <p:txBody>
          <a:bodyPr/>
          <a:p/>
        </p:txBody>
      </p:sp>
      <p:sp>
        <p:nvSpPr>
          <p:cNvPr id="14" name="Text 11"/>
          <p:cNvSpPr txBox="1"/>
          <p:nvPr/>
        </p:nvSpPr>
        <p:spPr>
          <a:xfrm>
            <a:off x="731520" y="3721608"/>
            <a:ext cx="2286000" cy="60350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perimeter ←</a:t>
            </a:r>
            <a:endParaRPr lang="en-US" sz="1300" dirty="0"/>
          </a:p>
          <a:p>
            <a:pPr algn="ctr" indent="0" marL="0">
              <a:buNone/>
            </a:pPr>
            <a:r>
              <a:rPr lang="en-US" sz="1300" dirty="0">
                <a:solidFill>
                  <a:srgbClr val="14213D"/>
                </a:solidFill>
                <a:latin typeface="Calibri" pitchFamily="34" charset="0"/>
                <a:ea typeface="Calibri" pitchFamily="34" charset="-122"/>
                <a:cs typeface="Calibri" pitchFamily="34" charset="-120"/>
              </a:rPr>
              <a:t>2 × (width + height)</a:t>
            </a:r>
            <a:endParaRPr lang="en-US" sz="1300" dirty="0"/>
          </a:p>
        </p:txBody>
      </p:sp>
      <p:sp>
        <p:nvSpPr>
          <p:cNvPr id="15" name="Shape 12"/>
          <p:cNvSpPr/>
          <p:nvPr/>
        </p:nvSpPr>
        <p:spPr>
          <a:xfrm>
            <a:off x="685800" y="4617720"/>
            <a:ext cx="2377440" cy="457200"/>
          </a:xfrm>
          <a:prstGeom prst="flowChartInputOutput">
            <a:avLst/>
          </a:prstGeom>
          <a:solidFill>
            <a:srgbClr val="FFFFFF"/>
          </a:solidFill>
          <a:ln w="15875">
            <a:solidFill>
              <a:srgbClr val="14213D"/>
            </a:solidFill>
            <a:prstDash val="solid"/>
          </a:ln>
        </p:spPr>
        <p:txBody>
          <a:bodyPr/>
          <a:p/>
        </p:txBody>
      </p:sp>
      <p:sp>
        <p:nvSpPr>
          <p:cNvPr id="16" name="Text 13"/>
          <p:cNvSpPr txBox="1"/>
          <p:nvPr/>
        </p:nvSpPr>
        <p:spPr>
          <a:xfrm>
            <a:off x="731520" y="4617720"/>
            <a:ext cx="228600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area, perimeter</a:t>
            </a:r>
            <a:endParaRPr lang="en-US" sz="1300" dirty="0"/>
          </a:p>
        </p:txBody>
      </p:sp>
      <p:sp>
        <p:nvSpPr>
          <p:cNvPr id="17" name="Shape 14"/>
          <p:cNvSpPr/>
          <p:nvPr/>
        </p:nvSpPr>
        <p:spPr>
          <a:xfrm>
            <a:off x="1280160" y="5385816"/>
            <a:ext cx="1188720" cy="384048"/>
          </a:xfrm>
          <a:prstGeom prst="flowChartTerminator">
            <a:avLst/>
          </a:prstGeom>
          <a:solidFill>
            <a:srgbClr val="FFF1D6"/>
          </a:solidFill>
          <a:ln w="15875">
            <a:solidFill>
              <a:srgbClr val="14213D"/>
            </a:solidFill>
            <a:prstDash val="solid"/>
          </a:ln>
        </p:spPr>
        <p:txBody>
          <a:bodyPr/>
          <a:p/>
        </p:txBody>
      </p:sp>
      <p:sp>
        <p:nvSpPr>
          <p:cNvPr id="18" name="Text 15"/>
          <p:cNvSpPr txBox="1"/>
          <p:nvPr/>
        </p:nvSpPr>
        <p:spPr>
          <a:xfrm>
            <a:off x="1325880" y="538581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19" name="Shape 16"/>
          <p:cNvSpPr/>
          <p:nvPr/>
        </p:nvSpPr>
        <p:spPr>
          <a:xfrm>
            <a:off x="1874520" y="1975104"/>
            <a:ext cx="0" cy="265176"/>
          </a:xfrm>
          <a:prstGeom prst="line">
            <a:avLst/>
          </a:prstGeom>
          <a:noFill/>
          <a:ln w="15875">
            <a:solidFill>
              <a:srgbClr val="14213D"/>
            </a:solidFill>
            <a:prstDash val="solid"/>
            <a:tailEnd type="triangle"/>
          </a:ln>
        </p:spPr>
        <p:txBody>
          <a:bodyPr/>
          <a:p/>
        </p:txBody>
      </p:sp>
      <p:sp>
        <p:nvSpPr>
          <p:cNvPr id="20" name="Shape 17"/>
          <p:cNvSpPr/>
          <p:nvPr/>
        </p:nvSpPr>
        <p:spPr>
          <a:xfrm>
            <a:off x="1874520" y="2697480"/>
            <a:ext cx="0" cy="274320"/>
          </a:xfrm>
          <a:prstGeom prst="line">
            <a:avLst/>
          </a:prstGeom>
          <a:noFill/>
          <a:ln w="15875">
            <a:solidFill>
              <a:srgbClr val="14213D"/>
            </a:solidFill>
            <a:prstDash val="solid"/>
            <a:tailEnd type="triangle"/>
          </a:ln>
        </p:spPr>
        <p:txBody>
          <a:bodyPr/>
          <a:p/>
        </p:txBody>
      </p:sp>
      <p:sp>
        <p:nvSpPr>
          <p:cNvPr id="21" name="Shape 18"/>
          <p:cNvSpPr/>
          <p:nvPr/>
        </p:nvSpPr>
        <p:spPr>
          <a:xfrm>
            <a:off x="1874520" y="3429000"/>
            <a:ext cx="0" cy="292608"/>
          </a:xfrm>
          <a:prstGeom prst="line">
            <a:avLst/>
          </a:prstGeom>
          <a:noFill/>
          <a:ln w="15875">
            <a:solidFill>
              <a:srgbClr val="14213D"/>
            </a:solidFill>
            <a:prstDash val="solid"/>
            <a:tailEnd type="triangle"/>
          </a:ln>
        </p:spPr>
        <p:txBody>
          <a:bodyPr/>
          <a:p/>
        </p:txBody>
      </p:sp>
      <p:sp>
        <p:nvSpPr>
          <p:cNvPr id="22" name="Shape 19"/>
          <p:cNvSpPr/>
          <p:nvPr/>
        </p:nvSpPr>
        <p:spPr>
          <a:xfrm>
            <a:off x="1874520" y="4325112"/>
            <a:ext cx="0" cy="292608"/>
          </a:xfrm>
          <a:prstGeom prst="line">
            <a:avLst/>
          </a:prstGeom>
          <a:noFill/>
          <a:ln w="15875">
            <a:solidFill>
              <a:srgbClr val="14213D"/>
            </a:solidFill>
            <a:prstDash val="solid"/>
            <a:tailEnd type="triangle"/>
          </a:ln>
        </p:spPr>
        <p:txBody>
          <a:bodyPr/>
          <a:p/>
        </p:txBody>
      </p:sp>
      <p:sp>
        <p:nvSpPr>
          <p:cNvPr id="23" name="Shape 20"/>
          <p:cNvSpPr/>
          <p:nvPr/>
        </p:nvSpPr>
        <p:spPr>
          <a:xfrm>
            <a:off x="1874520" y="5074920"/>
            <a:ext cx="0" cy="310896"/>
          </a:xfrm>
          <a:prstGeom prst="line">
            <a:avLst/>
          </a:prstGeom>
          <a:noFill/>
          <a:ln w="15875">
            <a:solidFill>
              <a:srgbClr val="14213D"/>
            </a:solidFill>
            <a:prstDash val="solid"/>
            <a:tailEnd type="triangle"/>
          </a:ln>
        </p:spPr>
        <p:txBody>
          <a:bodyPr/>
          <a:p/>
        </p:txBody>
      </p:sp>
      <p:sp>
        <p:nvSpPr>
          <p:cNvPr id="24" name="Shape 21"/>
          <p:cNvSpPr/>
          <p:nvPr/>
        </p:nvSpPr>
        <p:spPr>
          <a:xfrm>
            <a:off x="3474720" y="1600200"/>
            <a:ext cx="8183880" cy="3063240"/>
          </a:xfrm>
          <a:prstGeom prst="roundRect">
            <a:avLst>
              <a:gd name="adj" fmla="val 2985"/>
            </a:avLst>
          </a:prstGeom>
          <a:solidFill>
            <a:srgbClr val="0F1729"/>
          </a:solidFill>
          <a:ln w="12700">
            <a:solidFill>
              <a:srgbClr val="0F1729"/>
            </a:solidFill>
            <a:prstDash val="solid"/>
          </a:ln>
        </p:spPr>
        <p:txBody>
          <a:bodyPr/>
          <a:p/>
        </p:txBody>
      </p:sp>
      <p:sp>
        <p:nvSpPr>
          <p:cNvPr id="25" name="Text 22"/>
          <p:cNvSpPr txBox="1"/>
          <p:nvPr/>
        </p:nvSpPr>
        <p:spPr>
          <a:xfrm>
            <a:off x="3703320" y="1709928"/>
            <a:ext cx="7726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code/02_01_RectangleArea/Program.cs</a:t>
            </a:r>
            <a:endParaRPr lang="en-US" sz="1100" dirty="0"/>
          </a:p>
        </p:txBody>
      </p:sp>
      <p:sp>
        <p:nvSpPr>
          <p:cNvPr id="26" name="Text 23"/>
          <p:cNvSpPr txBox="1"/>
          <p:nvPr/>
        </p:nvSpPr>
        <p:spPr>
          <a:xfrm>
            <a:off x="3703320" y="2011680"/>
            <a:ext cx="7726680" cy="254203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"Width: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width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input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"Height: "</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height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input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area = width * height;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process</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perimeter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(width + height);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process</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$"Area: {area}"</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output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CE9178"/>
                </a:solidFill>
                <a:latin typeface="Courier New" pitchFamily="34" charset="0"/>
                <a:ea typeface="Courier New" pitchFamily="34" charset="-122"/>
                <a:cs typeface="Courier New" pitchFamily="34" charset="-120"/>
              </a:rPr>
              <a:t>$"Perimeter: {perimeter}"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output</a:t>
            </a:r>
            <a:endParaRPr lang="en-US" sz="1400" dirty="0"/>
          </a:p>
        </p:txBody>
      </p:sp>
      <p:sp>
        <p:nvSpPr>
          <p:cNvPr id="27" name="Shape 24"/>
          <p:cNvSpPr/>
          <p:nvPr/>
        </p:nvSpPr>
        <p:spPr>
          <a:xfrm>
            <a:off x="3474720" y="4800600"/>
            <a:ext cx="8183880" cy="1298448"/>
          </a:xfrm>
          <a:prstGeom prst="roundRect">
            <a:avLst>
              <a:gd name="adj" fmla="val 7042"/>
            </a:avLst>
          </a:prstGeom>
          <a:solidFill>
            <a:srgbClr val="0B0F19"/>
          </a:solidFill>
          <a:ln w="12700">
            <a:solidFill>
              <a:srgbClr val="2A3654"/>
            </a:solidFill>
            <a:prstDash val="solid"/>
          </a:ln>
        </p:spPr>
        <p:txBody>
          <a:bodyPr/>
          <a:p/>
        </p:txBody>
      </p:sp>
      <p:sp>
        <p:nvSpPr>
          <p:cNvPr id="28" name="Shape 25"/>
          <p:cNvSpPr/>
          <p:nvPr/>
        </p:nvSpPr>
        <p:spPr>
          <a:xfrm>
            <a:off x="3657600" y="4928616"/>
            <a:ext cx="118872" cy="118872"/>
          </a:xfrm>
          <a:prstGeom prst="ellipse">
            <a:avLst/>
          </a:prstGeom>
          <a:solidFill>
            <a:srgbClr val="FF5F57"/>
          </a:solidFill>
          <a:ln w="12700">
            <a:solidFill>
              <a:srgbClr val="FF5F57"/>
            </a:solidFill>
            <a:prstDash val="solid"/>
          </a:ln>
        </p:spPr>
        <p:txBody>
          <a:bodyPr/>
          <a:p/>
        </p:txBody>
      </p:sp>
      <p:sp>
        <p:nvSpPr>
          <p:cNvPr id="29" name="Shape 26"/>
          <p:cNvSpPr/>
          <p:nvPr/>
        </p:nvSpPr>
        <p:spPr>
          <a:xfrm>
            <a:off x="3886200" y="4928616"/>
            <a:ext cx="118872" cy="118872"/>
          </a:xfrm>
          <a:prstGeom prst="ellipse">
            <a:avLst/>
          </a:prstGeom>
          <a:solidFill>
            <a:srgbClr val="FEBC2E"/>
          </a:solidFill>
          <a:ln w="12700">
            <a:solidFill>
              <a:srgbClr val="FEBC2E"/>
            </a:solidFill>
            <a:prstDash val="solid"/>
          </a:ln>
        </p:spPr>
        <p:txBody>
          <a:bodyPr/>
          <a:p/>
        </p:txBody>
      </p:sp>
      <p:sp>
        <p:nvSpPr>
          <p:cNvPr id="30" name="Shape 27"/>
          <p:cNvSpPr/>
          <p:nvPr/>
        </p:nvSpPr>
        <p:spPr>
          <a:xfrm>
            <a:off x="4114800" y="4928616"/>
            <a:ext cx="118872" cy="118872"/>
          </a:xfrm>
          <a:prstGeom prst="ellipse">
            <a:avLst/>
          </a:prstGeom>
          <a:solidFill>
            <a:srgbClr val="28C840"/>
          </a:solidFill>
          <a:ln w="12700">
            <a:solidFill>
              <a:srgbClr val="28C840"/>
            </a:solidFill>
            <a:prstDash val="solid"/>
          </a:ln>
        </p:spPr>
        <p:txBody>
          <a:bodyPr/>
          <a:p/>
        </p:txBody>
      </p:sp>
      <p:sp>
        <p:nvSpPr>
          <p:cNvPr id="31" name="Text 28"/>
          <p:cNvSpPr txBox="1"/>
          <p:nvPr/>
        </p:nvSpPr>
        <p:spPr>
          <a:xfrm>
            <a:off x="4389120" y="4873752"/>
            <a:ext cx="7086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2" name="Text 29"/>
          <p:cNvSpPr txBox="1"/>
          <p:nvPr/>
        </p:nvSpPr>
        <p:spPr>
          <a:xfrm>
            <a:off x="3703320" y="5184648"/>
            <a:ext cx="7726680" cy="7955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Width: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Height: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Area: 13.5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Perimeter: 15</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SELECTION (IF–THEN–ELSE)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Even or Odd?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1417320" y="1591056"/>
            <a:ext cx="1188720" cy="384048"/>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463040" y="159105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188720" y="2203704"/>
            <a:ext cx="1645920" cy="438912"/>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234440" y="2203704"/>
            <a:ext cx="155448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005840" y="2971800"/>
            <a:ext cx="2011680" cy="731520"/>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1051560" y="2971800"/>
            <a:ext cx="1920240" cy="7315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n mod 2 = 0 ?</a:t>
            </a:r>
            <a:endParaRPr lang="en-US" sz="1300" dirty="0"/>
          </a:p>
        </p:txBody>
      </p:sp>
      <p:sp>
        <p:nvSpPr>
          <p:cNvPr id="13" name="Shape 10"/>
          <p:cNvSpPr/>
          <p:nvPr/>
        </p:nvSpPr>
        <p:spPr>
          <a:xfrm>
            <a:off x="3314700" y="3118104"/>
            <a:ext cx="1600200" cy="438912"/>
          </a:xfrm>
          <a:prstGeom prst="flowChartInputOutput">
            <a:avLst/>
          </a:prstGeom>
          <a:solidFill>
            <a:srgbClr val="FFFFFF"/>
          </a:solidFill>
          <a:ln w="15875">
            <a:solidFill>
              <a:srgbClr val="14213D"/>
            </a:solidFill>
            <a:prstDash val="solid"/>
          </a:ln>
        </p:spPr>
        <p:txBody>
          <a:bodyPr/>
          <a:p/>
        </p:txBody>
      </p:sp>
      <p:sp>
        <p:nvSpPr>
          <p:cNvPr id="14" name="Text 11"/>
          <p:cNvSpPr txBox="1"/>
          <p:nvPr/>
        </p:nvSpPr>
        <p:spPr>
          <a:xfrm>
            <a:off x="3360420" y="3118104"/>
            <a:ext cx="150876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"even"</a:t>
            </a:r>
            <a:endParaRPr lang="en-US" sz="1300" dirty="0"/>
          </a:p>
        </p:txBody>
      </p:sp>
      <p:sp>
        <p:nvSpPr>
          <p:cNvPr id="15" name="Shape 12"/>
          <p:cNvSpPr/>
          <p:nvPr/>
        </p:nvSpPr>
        <p:spPr>
          <a:xfrm>
            <a:off x="1211580" y="4123944"/>
            <a:ext cx="1600200" cy="438912"/>
          </a:xfrm>
          <a:prstGeom prst="flowChartInputOutput">
            <a:avLst/>
          </a:prstGeom>
          <a:solidFill>
            <a:srgbClr val="FFFFFF"/>
          </a:solidFill>
          <a:ln w="15875">
            <a:solidFill>
              <a:srgbClr val="14213D"/>
            </a:solidFill>
            <a:prstDash val="solid"/>
          </a:ln>
        </p:spPr>
        <p:txBody>
          <a:bodyPr/>
          <a:p/>
        </p:txBody>
      </p:sp>
      <p:sp>
        <p:nvSpPr>
          <p:cNvPr id="16" name="Text 13"/>
          <p:cNvSpPr txBox="1"/>
          <p:nvPr/>
        </p:nvSpPr>
        <p:spPr>
          <a:xfrm>
            <a:off x="1257300" y="4123944"/>
            <a:ext cx="150876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"odd"</a:t>
            </a:r>
            <a:endParaRPr lang="en-US" sz="1300" dirty="0"/>
          </a:p>
        </p:txBody>
      </p:sp>
      <p:sp>
        <p:nvSpPr>
          <p:cNvPr id="17" name="Shape 14"/>
          <p:cNvSpPr/>
          <p:nvPr/>
        </p:nvSpPr>
        <p:spPr>
          <a:xfrm>
            <a:off x="1417320" y="4974336"/>
            <a:ext cx="1188720" cy="384048"/>
          </a:xfrm>
          <a:prstGeom prst="flowChartTerminator">
            <a:avLst/>
          </a:prstGeom>
          <a:solidFill>
            <a:srgbClr val="FFF1D6"/>
          </a:solidFill>
          <a:ln w="15875">
            <a:solidFill>
              <a:srgbClr val="14213D"/>
            </a:solidFill>
            <a:prstDash val="solid"/>
          </a:ln>
        </p:spPr>
        <p:txBody>
          <a:bodyPr/>
          <a:p/>
        </p:txBody>
      </p:sp>
      <p:sp>
        <p:nvSpPr>
          <p:cNvPr id="18" name="Text 15"/>
          <p:cNvSpPr txBox="1"/>
          <p:nvPr/>
        </p:nvSpPr>
        <p:spPr>
          <a:xfrm>
            <a:off x="1463040" y="497433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19" name="Shape 16"/>
          <p:cNvSpPr/>
          <p:nvPr/>
        </p:nvSpPr>
        <p:spPr>
          <a:xfrm>
            <a:off x="2011680" y="1975104"/>
            <a:ext cx="0" cy="228600"/>
          </a:xfrm>
          <a:prstGeom prst="line">
            <a:avLst/>
          </a:prstGeom>
          <a:noFill/>
          <a:ln w="15875">
            <a:solidFill>
              <a:srgbClr val="14213D"/>
            </a:solidFill>
            <a:prstDash val="solid"/>
            <a:tailEnd type="triangle"/>
          </a:ln>
        </p:spPr>
        <p:txBody>
          <a:bodyPr/>
          <a:p/>
        </p:txBody>
      </p:sp>
      <p:sp>
        <p:nvSpPr>
          <p:cNvPr id="20" name="Shape 17"/>
          <p:cNvSpPr/>
          <p:nvPr/>
        </p:nvSpPr>
        <p:spPr>
          <a:xfrm>
            <a:off x="2011680" y="2642616"/>
            <a:ext cx="0" cy="329184"/>
          </a:xfrm>
          <a:prstGeom prst="line">
            <a:avLst/>
          </a:prstGeom>
          <a:noFill/>
          <a:ln w="15875">
            <a:solidFill>
              <a:srgbClr val="14213D"/>
            </a:solidFill>
            <a:prstDash val="solid"/>
            <a:tailEnd type="triangle"/>
          </a:ln>
        </p:spPr>
        <p:txBody>
          <a:bodyPr/>
          <a:p/>
        </p:txBody>
      </p:sp>
      <p:sp>
        <p:nvSpPr>
          <p:cNvPr id="21" name="Shape 18"/>
          <p:cNvSpPr/>
          <p:nvPr/>
        </p:nvSpPr>
        <p:spPr>
          <a:xfrm>
            <a:off x="3017520" y="3337560"/>
            <a:ext cx="457200" cy="0"/>
          </a:xfrm>
          <a:prstGeom prst="line">
            <a:avLst/>
          </a:prstGeom>
          <a:noFill/>
          <a:ln w="15875">
            <a:solidFill>
              <a:srgbClr val="14213D"/>
            </a:solidFill>
            <a:prstDash val="solid"/>
            <a:tailEnd type="triangle"/>
          </a:ln>
        </p:spPr>
        <p:txBody>
          <a:bodyPr/>
          <a:p/>
        </p:txBody>
      </p:sp>
      <p:sp>
        <p:nvSpPr>
          <p:cNvPr id="22" name="Text 19"/>
          <p:cNvSpPr txBox="1"/>
          <p:nvPr/>
        </p:nvSpPr>
        <p:spPr>
          <a:xfrm>
            <a:off x="3063240" y="309067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3" name="Shape 20"/>
          <p:cNvSpPr/>
          <p:nvPr/>
        </p:nvSpPr>
        <p:spPr>
          <a:xfrm>
            <a:off x="2011680" y="3703320"/>
            <a:ext cx="0" cy="420624"/>
          </a:xfrm>
          <a:prstGeom prst="line">
            <a:avLst/>
          </a:prstGeom>
          <a:noFill/>
          <a:ln w="15875">
            <a:solidFill>
              <a:srgbClr val="14213D"/>
            </a:solidFill>
            <a:prstDash val="solid"/>
            <a:tailEnd type="triangle"/>
          </a:ln>
        </p:spPr>
        <p:txBody>
          <a:bodyPr/>
          <a:p/>
        </p:txBody>
      </p:sp>
      <p:sp>
        <p:nvSpPr>
          <p:cNvPr id="24" name="Text 21"/>
          <p:cNvSpPr txBox="1"/>
          <p:nvPr/>
        </p:nvSpPr>
        <p:spPr>
          <a:xfrm>
            <a:off x="2075688" y="368503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5" name="Shape 22"/>
          <p:cNvSpPr/>
          <p:nvPr/>
        </p:nvSpPr>
        <p:spPr>
          <a:xfrm>
            <a:off x="2011680" y="4562856"/>
            <a:ext cx="0" cy="411480"/>
          </a:xfrm>
          <a:prstGeom prst="line">
            <a:avLst/>
          </a:prstGeom>
          <a:noFill/>
          <a:ln w="15875">
            <a:solidFill>
              <a:srgbClr val="14213D"/>
            </a:solidFill>
            <a:prstDash val="solid"/>
            <a:tailEnd type="triangle"/>
          </a:ln>
        </p:spPr>
        <p:txBody>
          <a:bodyPr/>
          <a:p/>
        </p:txBody>
      </p:sp>
      <p:sp>
        <p:nvSpPr>
          <p:cNvPr id="26" name="Shape 23"/>
          <p:cNvSpPr/>
          <p:nvPr/>
        </p:nvSpPr>
        <p:spPr>
          <a:xfrm>
            <a:off x="4114800" y="3557016"/>
            <a:ext cx="0" cy="1609344"/>
          </a:xfrm>
          <a:prstGeom prst="line">
            <a:avLst/>
          </a:prstGeom>
          <a:noFill/>
          <a:ln w="15875">
            <a:solidFill>
              <a:srgbClr val="14213D"/>
            </a:solidFill>
            <a:prstDash val="solid"/>
          </a:ln>
        </p:spPr>
        <p:txBody>
          <a:bodyPr/>
          <a:p/>
        </p:txBody>
      </p:sp>
      <p:sp>
        <p:nvSpPr>
          <p:cNvPr id="27" name="Shape 24"/>
          <p:cNvSpPr/>
          <p:nvPr/>
        </p:nvSpPr>
        <p:spPr>
          <a:xfrm flipH="1">
            <a:off x="2606040" y="5166360"/>
            <a:ext cx="1508760" cy="0"/>
          </a:xfrm>
          <a:prstGeom prst="line">
            <a:avLst/>
          </a:prstGeom>
          <a:noFill/>
          <a:ln w="15875">
            <a:solidFill>
              <a:srgbClr val="14213D"/>
            </a:solidFill>
            <a:prstDash val="solid"/>
            <a:tailEnd type="triangle"/>
          </a:ln>
        </p:spPr>
        <p:txBody>
          <a:bodyPr/>
          <a:p/>
        </p:txBody>
      </p:sp>
      <p:sp>
        <p:nvSpPr>
          <p:cNvPr id="28" name="Shape 25"/>
          <p:cNvSpPr/>
          <p:nvPr/>
        </p:nvSpPr>
        <p:spPr>
          <a:xfrm>
            <a:off x="5212080" y="1600200"/>
            <a:ext cx="6446520" cy="3063240"/>
          </a:xfrm>
          <a:prstGeom prst="roundRect">
            <a:avLst>
              <a:gd name="adj" fmla="val 2985"/>
            </a:avLst>
          </a:prstGeom>
          <a:solidFill>
            <a:srgbClr val="0F1729"/>
          </a:solidFill>
          <a:ln w="12700">
            <a:solidFill>
              <a:srgbClr val="0F1729"/>
            </a:solidFill>
            <a:prstDash val="solid"/>
          </a:ln>
        </p:spPr>
        <p:txBody>
          <a:bodyPr/>
          <a:p/>
        </p:txBody>
      </p:sp>
      <p:sp>
        <p:nvSpPr>
          <p:cNvPr id="29" name="Text 26"/>
          <p:cNvSpPr txBox="1"/>
          <p:nvPr/>
        </p:nvSpPr>
        <p:spPr>
          <a:xfrm>
            <a:off x="5440680" y="1709928"/>
            <a:ext cx="5989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code/02_03_EvenOdd/Program.cs</a:t>
            </a:r>
            <a:endParaRPr lang="en-US" sz="1100" dirty="0"/>
          </a:p>
        </p:txBody>
      </p:sp>
      <p:sp>
        <p:nvSpPr>
          <p:cNvPr id="30" name="Text 27"/>
          <p:cNvSpPr txBox="1"/>
          <p:nvPr/>
        </p:nvSpPr>
        <p:spPr>
          <a:xfrm>
            <a:off x="5440680" y="2011680"/>
            <a:ext cx="5989320" cy="25420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"Enter an integer: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 is the remainder operator (mod)</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is even"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is odd"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31" name="Shape 28"/>
          <p:cNvSpPr/>
          <p:nvPr/>
        </p:nvSpPr>
        <p:spPr>
          <a:xfrm>
            <a:off x="5212080" y="4800600"/>
            <a:ext cx="6446520" cy="1298448"/>
          </a:xfrm>
          <a:prstGeom prst="roundRect">
            <a:avLst>
              <a:gd name="adj" fmla="val 7042"/>
            </a:avLst>
          </a:prstGeom>
          <a:solidFill>
            <a:srgbClr val="0B0F19"/>
          </a:solidFill>
          <a:ln w="12700">
            <a:solidFill>
              <a:srgbClr val="2A3654"/>
            </a:solidFill>
            <a:prstDash val="solid"/>
          </a:ln>
        </p:spPr>
        <p:txBody>
          <a:bodyPr/>
          <a:p/>
        </p:txBody>
      </p:sp>
      <p:sp>
        <p:nvSpPr>
          <p:cNvPr id="32" name="Shape 29"/>
          <p:cNvSpPr/>
          <p:nvPr/>
        </p:nvSpPr>
        <p:spPr>
          <a:xfrm>
            <a:off x="5394960" y="4928616"/>
            <a:ext cx="118872" cy="118872"/>
          </a:xfrm>
          <a:prstGeom prst="ellipse">
            <a:avLst/>
          </a:prstGeom>
          <a:solidFill>
            <a:srgbClr val="FF5F57"/>
          </a:solidFill>
          <a:ln w="12700">
            <a:solidFill>
              <a:srgbClr val="FF5F57"/>
            </a:solidFill>
            <a:prstDash val="solid"/>
          </a:ln>
        </p:spPr>
        <p:txBody>
          <a:bodyPr/>
          <a:p/>
        </p:txBody>
      </p:sp>
      <p:sp>
        <p:nvSpPr>
          <p:cNvPr id="33" name="Shape 30"/>
          <p:cNvSpPr/>
          <p:nvPr/>
        </p:nvSpPr>
        <p:spPr>
          <a:xfrm>
            <a:off x="5623560" y="4928616"/>
            <a:ext cx="118872" cy="118872"/>
          </a:xfrm>
          <a:prstGeom prst="ellipse">
            <a:avLst/>
          </a:prstGeom>
          <a:solidFill>
            <a:srgbClr val="FEBC2E"/>
          </a:solidFill>
          <a:ln w="12700">
            <a:solidFill>
              <a:srgbClr val="FEBC2E"/>
            </a:solidFill>
            <a:prstDash val="solid"/>
          </a:ln>
        </p:spPr>
        <p:txBody>
          <a:bodyPr/>
          <a:p/>
        </p:txBody>
      </p:sp>
      <p:sp>
        <p:nvSpPr>
          <p:cNvPr id="34" name="Shape 31"/>
          <p:cNvSpPr/>
          <p:nvPr/>
        </p:nvSpPr>
        <p:spPr>
          <a:xfrm>
            <a:off x="5852160" y="4928616"/>
            <a:ext cx="118872" cy="118872"/>
          </a:xfrm>
          <a:prstGeom prst="ellipse">
            <a:avLst/>
          </a:prstGeom>
          <a:solidFill>
            <a:srgbClr val="28C840"/>
          </a:solidFill>
          <a:ln w="12700">
            <a:solidFill>
              <a:srgbClr val="28C840"/>
            </a:solidFill>
            <a:prstDash val="solid"/>
          </a:ln>
        </p:spPr>
        <p:txBody>
          <a:bodyPr/>
          <a:p/>
        </p:txBody>
      </p:sp>
      <p:sp>
        <p:nvSpPr>
          <p:cNvPr id="35" name="Text 32"/>
          <p:cNvSpPr txBox="1"/>
          <p:nvPr/>
        </p:nvSpPr>
        <p:spPr>
          <a:xfrm>
            <a:off x="6126480" y="4873752"/>
            <a:ext cx="53492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two runs</a:t>
            </a:r>
            <a:endParaRPr lang="en-US" sz="1000" dirty="0"/>
          </a:p>
        </p:txBody>
      </p:sp>
      <p:sp>
        <p:nvSpPr>
          <p:cNvPr id="36" name="Text 33"/>
          <p:cNvSpPr txBox="1"/>
          <p:nvPr/>
        </p:nvSpPr>
        <p:spPr>
          <a:xfrm>
            <a:off x="5440680" y="5184648"/>
            <a:ext cx="5989320" cy="7955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an integer: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14 is even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an integer: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-7 is odd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SELECTION WITH A BOUNDARY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Grade → PASS or FAIL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1417320" y="1591056"/>
            <a:ext cx="1188720" cy="384048"/>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463040" y="159105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143000" y="2203704"/>
            <a:ext cx="1737360" cy="438912"/>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188720" y="2203704"/>
            <a:ext cx="164592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grade</a:t>
            </a:r>
            <a:endParaRPr lang="en-US" sz="1300" dirty="0"/>
          </a:p>
        </p:txBody>
      </p:sp>
      <p:sp>
        <p:nvSpPr>
          <p:cNvPr id="11" name="Shape 8"/>
          <p:cNvSpPr/>
          <p:nvPr/>
        </p:nvSpPr>
        <p:spPr>
          <a:xfrm>
            <a:off x="1051560" y="2971800"/>
            <a:ext cx="1920240" cy="731520"/>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1097280" y="2971800"/>
            <a:ext cx="1828800" cy="73152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grade ≥ 50 ?</a:t>
            </a:r>
            <a:endParaRPr lang="en-US" sz="1300" dirty="0"/>
          </a:p>
        </p:txBody>
      </p:sp>
      <p:sp>
        <p:nvSpPr>
          <p:cNvPr id="13" name="Shape 10"/>
          <p:cNvSpPr/>
          <p:nvPr/>
        </p:nvSpPr>
        <p:spPr>
          <a:xfrm>
            <a:off x="3291840" y="3118104"/>
            <a:ext cx="1554480" cy="438912"/>
          </a:xfrm>
          <a:prstGeom prst="flowChartInputOutput">
            <a:avLst/>
          </a:prstGeom>
          <a:solidFill>
            <a:srgbClr val="FFFFFF"/>
          </a:solidFill>
          <a:ln w="15875">
            <a:solidFill>
              <a:srgbClr val="14213D"/>
            </a:solidFill>
            <a:prstDash val="solid"/>
          </a:ln>
        </p:spPr>
        <p:txBody>
          <a:bodyPr/>
          <a:p/>
        </p:txBody>
      </p:sp>
      <p:sp>
        <p:nvSpPr>
          <p:cNvPr id="14" name="Text 11"/>
          <p:cNvSpPr txBox="1"/>
          <p:nvPr/>
        </p:nvSpPr>
        <p:spPr>
          <a:xfrm>
            <a:off x="3337560" y="3118104"/>
            <a:ext cx="146304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"PASS"</a:t>
            </a:r>
            <a:endParaRPr lang="en-US" sz="1300" dirty="0"/>
          </a:p>
        </p:txBody>
      </p:sp>
      <p:sp>
        <p:nvSpPr>
          <p:cNvPr id="15" name="Shape 12"/>
          <p:cNvSpPr/>
          <p:nvPr/>
        </p:nvSpPr>
        <p:spPr>
          <a:xfrm>
            <a:off x="1234440" y="4123944"/>
            <a:ext cx="1554480" cy="438912"/>
          </a:xfrm>
          <a:prstGeom prst="flowChartInputOutput">
            <a:avLst/>
          </a:prstGeom>
          <a:solidFill>
            <a:srgbClr val="FFFFFF"/>
          </a:solidFill>
          <a:ln w="15875">
            <a:solidFill>
              <a:srgbClr val="14213D"/>
            </a:solidFill>
            <a:prstDash val="solid"/>
          </a:ln>
        </p:spPr>
        <p:txBody>
          <a:bodyPr/>
          <a:p/>
        </p:txBody>
      </p:sp>
      <p:sp>
        <p:nvSpPr>
          <p:cNvPr id="16" name="Text 13"/>
          <p:cNvSpPr txBox="1"/>
          <p:nvPr/>
        </p:nvSpPr>
        <p:spPr>
          <a:xfrm>
            <a:off x="1280160" y="4123944"/>
            <a:ext cx="1463040" cy="43891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"FAIL"</a:t>
            </a:r>
            <a:endParaRPr lang="en-US" sz="1300" dirty="0"/>
          </a:p>
        </p:txBody>
      </p:sp>
      <p:sp>
        <p:nvSpPr>
          <p:cNvPr id="17" name="Shape 14"/>
          <p:cNvSpPr/>
          <p:nvPr/>
        </p:nvSpPr>
        <p:spPr>
          <a:xfrm>
            <a:off x="1417320" y="4974336"/>
            <a:ext cx="1188720" cy="384048"/>
          </a:xfrm>
          <a:prstGeom prst="flowChartTerminator">
            <a:avLst/>
          </a:prstGeom>
          <a:solidFill>
            <a:srgbClr val="FFF1D6"/>
          </a:solidFill>
          <a:ln w="15875">
            <a:solidFill>
              <a:srgbClr val="14213D"/>
            </a:solidFill>
            <a:prstDash val="solid"/>
          </a:ln>
        </p:spPr>
        <p:txBody>
          <a:bodyPr/>
          <a:p/>
        </p:txBody>
      </p:sp>
      <p:sp>
        <p:nvSpPr>
          <p:cNvPr id="18" name="Text 15"/>
          <p:cNvSpPr txBox="1"/>
          <p:nvPr/>
        </p:nvSpPr>
        <p:spPr>
          <a:xfrm>
            <a:off x="1463040" y="497433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19" name="Shape 16"/>
          <p:cNvSpPr/>
          <p:nvPr/>
        </p:nvSpPr>
        <p:spPr>
          <a:xfrm>
            <a:off x="2011680" y="1975104"/>
            <a:ext cx="0" cy="228600"/>
          </a:xfrm>
          <a:prstGeom prst="line">
            <a:avLst/>
          </a:prstGeom>
          <a:noFill/>
          <a:ln w="15875">
            <a:solidFill>
              <a:srgbClr val="14213D"/>
            </a:solidFill>
            <a:prstDash val="solid"/>
            <a:tailEnd type="triangle"/>
          </a:ln>
        </p:spPr>
        <p:txBody>
          <a:bodyPr/>
          <a:p/>
        </p:txBody>
      </p:sp>
      <p:sp>
        <p:nvSpPr>
          <p:cNvPr id="20" name="Shape 17"/>
          <p:cNvSpPr/>
          <p:nvPr/>
        </p:nvSpPr>
        <p:spPr>
          <a:xfrm>
            <a:off x="2011680" y="2642616"/>
            <a:ext cx="0" cy="329184"/>
          </a:xfrm>
          <a:prstGeom prst="line">
            <a:avLst/>
          </a:prstGeom>
          <a:noFill/>
          <a:ln w="15875">
            <a:solidFill>
              <a:srgbClr val="14213D"/>
            </a:solidFill>
            <a:prstDash val="solid"/>
            <a:tailEnd type="triangle"/>
          </a:ln>
        </p:spPr>
        <p:txBody>
          <a:bodyPr/>
          <a:p/>
        </p:txBody>
      </p:sp>
      <p:sp>
        <p:nvSpPr>
          <p:cNvPr id="21" name="Shape 18"/>
          <p:cNvSpPr/>
          <p:nvPr/>
        </p:nvSpPr>
        <p:spPr>
          <a:xfrm>
            <a:off x="2971800" y="3337560"/>
            <a:ext cx="475488" cy="0"/>
          </a:xfrm>
          <a:prstGeom prst="line">
            <a:avLst/>
          </a:prstGeom>
          <a:noFill/>
          <a:ln w="15875">
            <a:solidFill>
              <a:srgbClr val="14213D"/>
            </a:solidFill>
            <a:prstDash val="solid"/>
            <a:tailEnd type="triangle"/>
          </a:ln>
        </p:spPr>
        <p:txBody>
          <a:bodyPr/>
          <a:p/>
        </p:txBody>
      </p:sp>
      <p:sp>
        <p:nvSpPr>
          <p:cNvPr id="22" name="Text 19"/>
          <p:cNvSpPr txBox="1"/>
          <p:nvPr/>
        </p:nvSpPr>
        <p:spPr>
          <a:xfrm>
            <a:off x="3017520" y="309067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3" name="Shape 20"/>
          <p:cNvSpPr/>
          <p:nvPr/>
        </p:nvSpPr>
        <p:spPr>
          <a:xfrm>
            <a:off x="2011680" y="3703320"/>
            <a:ext cx="0" cy="420624"/>
          </a:xfrm>
          <a:prstGeom prst="line">
            <a:avLst/>
          </a:prstGeom>
          <a:noFill/>
          <a:ln w="15875">
            <a:solidFill>
              <a:srgbClr val="14213D"/>
            </a:solidFill>
            <a:prstDash val="solid"/>
            <a:tailEnd type="triangle"/>
          </a:ln>
        </p:spPr>
        <p:txBody>
          <a:bodyPr/>
          <a:p/>
        </p:txBody>
      </p:sp>
      <p:sp>
        <p:nvSpPr>
          <p:cNvPr id="24" name="Text 21"/>
          <p:cNvSpPr txBox="1"/>
          <p:nvPr/>
        </p:nvSpPr>
        <p:spPr>
          <a:xfrm>
            <a:off x="2075688" y="368503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5" name="Shape 22"/>
          <p:cNvSpPr/>
          <p:nvPr/>
        </p:nvSpPr>
        <p:spPr>
          <a:xfrm>
            <a:off x="2011680" y="4562856"/>
            <a:ext cx="0" cy="411480"/>
          </a:xfrm>
          <a:prstGeom prst="line">
            <a:avLst/>
          </a:prstGeom>
          <a:noFill/>
          <a:ln w="15875">
            <a:solidFill>
              <a:srgbClr val="14213D"/>
            </a:solidFill>
            <a:prstDash val="solid"/>
            <a:tailEnd type="triangle"/>
          </a:ln>
        </p:spPr>
        <p:txBody>
          <a:bodyPr/>
          <a:p/>
        </p:txBody>
      </p:sp>
      <p:sp>
        <p:nvSpPr>
          <p:cNvPr id="26" name="Shape 23"/>
          <p:cNvSpPr/>
          <p:nvPr/>
        </p:nvSpPr>
        <p:spPr>
          <a:xfrm>
            <a:off x="4069080" y="3557016"/>
            <a:ext cx="0" cy="1609344"/>
          </a:xfrm>
          <a:prstGeom prst="line">
            <a:avLst/>
          </a:prstGeom>
          <a:noFill/>
          <a:ln w="15875">
            <a:solidFill>
              <a:srgbClr val="14213D"/>
            </a:solidFill>
            <a:prstDash val="solid"/>
          </a:ln>
        </p:spPr>
        <p:txBody>
          <a:bodyPr/>
          <a:p/>
        </p:txBody>
      </p:sp>
      <p:sp>
        <p:nvSpPr>
          <p:cNvPr id="27" name="Shape 24"/>
          <p:cNvSpPr/>
          <p:nvPr/>
        </p:nvSpPr>
        <p:spPr>
          <a:xfrm flipH="1">
            <a:off x="2606040" y="5166360"/>
            <a:ext cx="1463040" cy="0"/>
          </a:xfrm>
          <a:prstGeom prst="line">
            <a:avLst/>
          </a:prstGeom>
          <a:noFill/>
          <a:ln w="15875">
            <a:solidFill>
              <a:srgbClr val="14213D"/>
            </a:solidFill>
            <a:prstDash val="solid"/>
            <a:tailEnd type="triangle"/>
          </a:ln>
        </p:spPr>
        <p:txBody>
          <a:bodyPr/>
          <a:p/>
        </p:txBody>
      </p:sp>
      <p:sp>
        <p:nvSpPr>
          <p:cNvPr id="28" name="Shape 25"/>
          <p:cNvSpPr/>
          <p:nvPr/>
        </p:nvSpPr>
        <p:spPr>
          <a:xfrm>
            <a:off x="5212080" y="1600200"/>
            <a:ext cx="6446520" cy="3063240"/>
          </a:xfrm>
          <a:prstGeom prst="roundRect">
            <a:avLst>
              <a:gd name="adj" fmla="val 2985"/>
            </a:avLst>
          </a:prstGeom>
          <a:solidFill>
            <a:srgbClr val="0F1729"/>
          </a:solidFill>
          <a:ln w="12700">
            <a:solidFill>
              <a:srgbClr val="0F1729"/>
            </a:solidFill>
            <a:prstDash val="solid"/>
          </a:ln>
        </p:spPr>
        <p:txBody>
          <a:bodyPr/>
          <a:p/>
        </p:txBody>
      </p:sp>
      <p:sp>
        <p:nvSpPr>
          <p:cNvPr id="29" name="Text 26"/>
          <p:cNvSpPr txBox="1"/>
          <p:nvPr/>
        </p:nvSpPr>
        <p:spPr>
          <a:xfrm>
            <a:off x="5440680" y="1709928"/>
            <a:ext cx="5989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code/02_04_PassFail/Program.cs</a:t>
            </a:r>
            <a:endParaRPr lang="en-US" sz="1100" dirty="0"/>
          </a:p>
        </p:txBody>
      </p:sp>
      <p:sp>
        <p:nvSpPr>
          <p:cNvPr id="30" name="Text 27"/>
          <p:cNvSpPr txBox="1"/>
          <p:nvPr/>
        </p:nvSpPr>
        <p:spPr>
          <a:xfrm>
            <a:off x="5440680" y="2011680"/>
            <a:ext cx="5989320" cy="25420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"Grade (0-100):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(grade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"PASS"</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else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"FAIL"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31" name="Shape 28"/>
          <p:cNvSpPr/>
          <p:nvPr/>
        </p:nvSpPr>
        <p:spPr>
          <a:xfrm>
            <a:off x="5212080" y="4800600"/>
            <a:ext cx="3383280" cy="1298448"/>
          </a:xfrm>
          <a:prstGeom prst="roundRect">
            <a:avLst>
              <a:gd name="adj" fmla="val 7042"/>
            </a:avLst>
          </a:prstGeom>
          <a:solidFill>
            <a:srgbClr val="0B0F19"/>
          </a:solidFill>
          <a:ln w="12700">
            <a:solidFill>
              <a:srgbClr val="2A3654"/>
            </a:solidFill>
            <a:prstDash val="solid"/>
          </a:ln>
        </p:spPr>
        <p:txBody>
          <a:bodyPr/>
          <a:p/>
        </p:txBody>
      </p:sp>
      <p:sp>
        <p:nvSpPr>
          <p:cNvPr id="32" name="Shape 29"/>
          <p:cNvSpPr/>
          <p:nvPr/>
        </p:nvSpPr>
        <p:spPr>
          <a:xfrm>
            <a:off x="5394960" y="4928616"/>
            <a:ext cx="118872" cy="118872"/>
          </a:xfrm>
          <a:prstGeom prst="ellipse">
            <a:avLst/>
          </a:prstGeom>
          <a:solidFill>
            <a:srgbClr val="FF5F57"/>
          </a:solidFill>
          <a:ln w="12700">
            <a:solidFill>
              <a:srgbClr val="FF5F57"/>
            </a:solidFill>
            <a:prstDash val="solid"/>
          </a:ln>
        </p:spPr>
        <p:txBody>
          <a:bodyPr/>
          <a:p/>
        </p:txBody>
      </p:sp>
      <p:sp>
        <p:nvSpPr>
          <p:cNvPr id="33" name="Shape 30"/>
          <p:cNvSpPr/>
          <p:nvPr/>
        </p:nvSpPr>
        <p:spPr>
          <a:xfrm>
            <a:off x="5623560" y="4928616"/>
            <a:ext cx="118872" cy="118872"/>
          </a:xfrm>
          <a:prstGeom prst="ellipse">
            <a:avLst/>
          </a:prstGeom>
          <a:solidFill>
            <a:srgbClr val="FEBC2E"/>
          </a:solidFill>
          <a:ln w="12700">
            <a:solidFill>
              <a:srgbClr val="FEBC2E"/>
            </a:solidFill>
            <a:prstDash val="solid"/>
          </a:ln>
        </p:spPr>
        <p:txBody>
          <a:bodyPr/>
          <a:p/>
        </p:txBody>
      </p:sp>
      <p:sp>
        <p:nvSpPr>
          <p:cNvPr id="34" name="Shape 31"/>
          <p:cNvSpPr/>
          <p:nvPr/>
        </p:nvSpPr>
        <p:spPr>
          <a:xfrm>
            <a:off x="5852160" y="4928616"/>
            <a:ext cx="118872" cy="118872"/>
          </a:xfrm>
          <a:prstGeom prst="ellipse">
            <a:avLst/>
          </a:prstGeom>
          <a:solidFill>
            <a:srgbClr val="28C840"/>
          </a:solidFill>
          <a:ln w="12700">
            <a:solidFill>
              <a:srgbClr val="28C840"/>
            </a:solidFill>
            <a:prstDash val="solid"/>
          </a:ln>
        </p:spPr>
        <p:txBody>
          <a:bodyPr/>
          <a:p/>
        </p:txBody>
      </p:sp>
      <p:sp>
        <p:nvSpPr>
          <p:cNvPr id="35" name="Text 32"/>
          <p:cNvSpPr txBox="1"/>
          <p:nvPr/>
        </p:nvSpPr>
        <p:spPr>
          <a:xfrm>
            <a:off x="6126480" y="4873752"/>
            <a:ext cx="2286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two runs</a:t>
            </a:r>
            <a:endParaRPr lang="en-US" sz="1000" dirty="0"/>
          </a:p>
        </p:txBody>
      </p:sp>
      <p:sp>
        <p:nvSpPr>
          <p:cNvPr id="36" name="Text 33"/>
          <p:cNvSpPr txBox="1"/>
          <p:nvPr/>
        </p:nvSpPr>
        <p:spPr>
          <a:xfrm>
            <a:off x="5440680" y="5184648"/>
            <a:ext cx="2926080" cy="7955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(0-100):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49.5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FAIL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Grade (0-100):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778240" y="4800600"/>
          <a:ext cx="2880360" cy="914400"/>
        </p:xfrm>
        <a:graphic>
          <a:graphicData uri="http://schemas.openxmlformats.org/drawingml/2006/table">
            <a:tbl>
              <a:tblPr/>
              <a:tblGrid>
                <a:gridCol w="1600200"/>
                <a:gridCol w="1280160"/>
              </a:tblGrid>
              <a:tr h="256032">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grade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256032">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FAIL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56032">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49.5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FAIL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56032">
                <a:tc>
                  <a:txBody>
                    <a:bodyPr/>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50  (boundary)</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7791F"/>
                          </a:solidFill>
                          <a:latin typeface="Courier New" pitchFamily="34" charset="0"/>
                          <a:ea typeface="Courier New" pitchFamily="34" charset="-122"/>
                          <a:cs typeface="Courier New" pitchFamily="34" charset="-120"/>
                        </a:rPr>
                        <a:t>PASS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56032">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100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PASS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NESTED DECISIONS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Maximum of Three: Method 1 (Nested)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3246120" y="1581912"/>
            <a:ext cx="1188720" cy="365760"/>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3291840" y="1581912"/>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2971800" y="2121408"/>
            <a:ext cx="1737360" cy="420624"/>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3017520" y="2121408"/>
            <a:ext cx="164592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a, b, c</a:t>
            </a:r>
            <a:endParaRPr lang="en-US" sz="1300" dirty="0"/>
          </a:p>
        </p:txBody>
      </p:sp>
      <p:sp>
        <p:nvSpPr>
          <p:cNvPr id="11" name="Shape 8"/>
          <p:cNvSpPr/>
          <p:nvPr/>
        </p:nvSpPr>
        <p:spPr>
          <a:xfrm>
            <a:off x="3063240" y="2816352"/>
            <a:ext cx="1554480" cy="676656"/>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3108960" y="2816352"/>
            <a:ext cx="1463040" cy="67665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 &gt; b ?</a:t>
            </a:r>
            <a:endParaRPr lang="en-US" sz="1300" dirty="0"/>
          </a:p>
        </p:txBody>
      </p:sp>
      <p:sp>
        <p:nvSpPr>
          <p:cNvPr id="13" name="Shape 10"/>
          <p:cNvSpPr/>
          <p:nvPr/>
        </p:nvSpPr>
        <p:spPr>
          <a:xfrm>
            <a:off x="960120" y="3730752"/>
            <a:ext cx="1554480" cy="676656"/>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005840" y="3730752"/>
            <a:ext cx="1463040" cy="67665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 &gt; c ?</a:t>
            </a:r>
            <a:endParaRPr lang="en-US" sz="1300" dirty="0"/>
          </a:p>
        </p:txBody>
      </p:sp>
      <p:sp>
        <p:nvSpPr>
          <p:cNvPr id="15" name="Shape 12"/>
          <p:cNvSpPr/>
          <p:nvPr/>
        </p:nvSpPr>
        <p:spPr>
          <a:xfrm>
            <a:off x="5166360" y="3730752"/>
            <a:ext cx="1554480" cy="676656"/>
          </a:xfrm>
          <a:prstGeom prst="flowChartDecision">
            <a:avLst/>
          </a:prstGeom>
          <a:solidFill>
            <a:srgbClr val="E3ECF8"/>
          </a:solidFill>
          <a:ln w="15875">
            <a:solidFill>
              <a:srgbClr val="14213D"/>
            </a:solidFill>
            <a:prstDash val="solid"/>
          </a:ln>
        </p:spPr>
        <p:txBody>
          <a:bodyPr/>
          <a:p/>
        </p:txBody>
      </p:sp>
      <p:sp>
        <p:nvSpPr>
          <p:cNvPr id="16" name="Text 13"/>
          <p:cNvSpPr txBox="1"/>
          <p:nvPr/>
        </p:nvSpPr>
        <p:spPr>
          <a:xfrm>
            <a:off x="5212080" y="3730752"/>
            <a:ext cx="1463040" cy="67665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 &gt; c ?</a:t>
            </a:r>
            <a:endParaRPr lang="en-US" sz="1300" dirty="0"/>
          </a:p>
        </p:txBody>
      </p:sp>
      <p:sp>
        <p:nvSpPr>
          <p:cNvPr id="17" name="Shape 14"/>
          <p:cNvSpPr/>
          <p:nvPr/>
        </p:nvSpPr>
        <p:spPr>
          <a:xfrm>
            <a:off x="1051560" y="4818888"/>
            <a:ext cx="1371600" cy="420624"/>
          </a:xfrm>
          <a:prstGeom prst="flowChartInputOutput">
            <a:avLst/>
          </a:prstGeom>
          <a:solidFill>
            <a:srgbClr val="FFFFFF"/>
          </a:solidFill>
          <a:ln w="15875">
            <a:solidFill>
              <a:srgbClr val="14213D"/>
            </a:solidFill>
            <a:prstDash val="solid"/>
          </a:ln>
        </p:spPr>
        <p:txBody>
          <a:bodyPr/>
          <a:p/>
        </p:txBody>
      </p:sp>
      <p:sp>
        <p:nvSpPr>
          <p:cNvPr id="18" name="Text 15"/>
          <p:cNvSpPr txBox="1"/>
          <p:nvPr/>
        </p:nvSpPr>
        <p:spPr>
          <a:xfrm>
            <a:off x="1097280" y="4818888"/>
            <a:ext cx="128016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a</a:t>
            </a:r>
            <a:endParaRPr lang="en-US" sz="1300" dirty="0"/>
          </a:p>
        </p:txBody>
      </p:sp>
      <p:sp>
        <p:nvSpPr>
          <p:cNvPr id="19" name="Shape 16"/>
          <p:cNvSpPr/>
          <p:nvPr/>
        </p:nvSpPr>
        <p:spPr>
          <a:xfrm>
            <a:off x="3154680" y="4818888"/>
            <a:ext cx="1371600" cy="420624"/>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3200400" y="4818888"/>
            <a:ext cx="128016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c</a:t>
            </a:r>
            <a:endParaRPr lang="en-US" sz="1300" dirty="0"/>
          </a:p>
        </p:txBody>
      </p:sp>
      <p:sp>
        <p:nvSpPr>
          <p:cNvPr id="21" name="Shape 18"/>
          <p:cNvSpPr/>
          <p:nvPr/>
        </p:nvSpPr>
        <p:spPr>
          <a:xfrm>
            <a:off x="5257800" y="4818888"/>
            <a:ext cx="1371600" cy="420624"/>
          </a:xfrm>
          <a:prstGeom prst="flowChartInputOutput">
            <a:avLst/>
          </a:prstGeom>
          <a:solidFill>
            <a:srgbClr val="FFFFFF"/>
          </a:solidFill>
          <a:ln w="15875">
            <a:solidFill>
              <a:srgbClr val="14213D"/>
            </a:solidFill>
            <a:prstDash val="solid"/>
          </a:ln>
        </p:spPr>
        <p:txBody>
          <a:bodyPr/>
          <a:p/>
        </p:txBody>
      </p:sp>
      <p:sp>
        <p:nvSpPr>
          <p:cNvPr id="22" name="Text 19"/>
          <p:cNvSpPr txBox="1"/>
          <p:nvPr/>
        </p:nvSpPr>
        <p:spPr>
          <a:xfrm>
            <a:off x="5303520" y="4818888"/>
            <a:ext cx="1280160" cy="42062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b</a:t>
            </a:r>
            <a:endParaRPr lang="en-US" sz="1300" dirty="0"/>
          </a:p>
        </p:txBody>
      </p:sp>
      <p:sp>
        <p:nvSpPr>
          <p:cNvPr id="23" name="Shape 20"/>
          <p:cNvSpPr/>
          <p:nvPr/>
        </p:nvSpPr>
        <p:spPr>
          <a:xfrm>
            <a:off x="3246120" y="5623560"/>
            <a:ext cx="1188720" cy="365760"/>
          </a:xfrm>
          <a:prstGeom prst="flowChartTerminator">
            <a:avLst/>
          </a:prstGeom>
          <a:solidFill>
            <a:srgbClr val="FFF1D6"/>
          </a:solidFill>
          <a:ln w="15875">
            <a:solidFill>
              <a:srgbClr val="14213D"/>
            </a:solidFill>
            <a:prstDash val="solid"/>
          </a:ln>
        </p:spPr>
        <p:txBody>
          <a:bodyPr/>
          <a:p/>
        </p:txBody>
      </p:sp>
      <p:sp>
        <p:nvSpPr>
          <p:cNvPr id="24" name="Text 21"/>
          <p:cNvSpPr txBox="1"/>
          <p:nvPr/>
        </p:nvSpPr>
        <p:spPr>
          <a:xfrm>
            <a:off x="3291840" y="5623560"/>
            <a:ext cx="10972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5" name="Shape 22"/>
          <p:cNvSpPr/>
          <p:nvPr/>
        </p:nvSpPr>
        <p:spPr>
          <a:xfrm>
            <a:off x="3840480" y="1947672"/>
            <a:ext cx="0" cy="173736"/>
          </a:xfrm>
          <a:prstGeom prst="line">
            <a:avLst/>
          </a:prstGeom>
          <a:noFill/>
          <a:ln w="15875">
            <a:solidFill>
              <a:srgbClr val="14213D"/>
            </a:solidFill>
            <a:prstDash val="solid"/>
            <a:tailEnd type="triangle"/>
          </a:ln>
        </p:spPr>
        <p:txBody>
          <a:bodyPr/>
          <a:p/>
        </p:txBody>
      </p:sp>
      <p:sp>
        <p:nvSpPr>
          <p:cNvPr id="26" name="Shape 23"/>
          <p:cNvSpPr/>
          <p:nvPr/>
        </p:nvSpPr>
        <p:spPr>
          <a:xfrm>
            <a:off x="3840480" y="2542032"/>
            <a:ext cx="0" cy="274320"/>
          </a:xfrm>
          <a:prstGeom prst="line">
            <a:avLst/>
          </a:prstGeom>
          <a:noFill/>
          <a:ln w="15875">
            <a:solidFill>
              <a:srgbClr val="14213D"/>
            </a:solidFill>
            <a:prstDash val="solid"/>
            <a:tailEnd type="triangle"/>
          </a:ln>
        </p:spPr>
        <p:txBody>
          <a:bodyPr/>
          <a:p/>
        </p:txBody>
      </p:sp>
      <p:sp>
        <p:nvSpPr>
          <p:cNvPr id="27" name="Shape 24"/>
          <p:cNvSpPr/>
          <p:nvPr/>
        </p:nvSpPr>
        <p:spPr>
          <a:xfrm flipH="1">
            <a:off x="1737360" y="3154680"/>
            <a:ext cx="1325880" cy="0"/>
          </a:xfrm>
          <a:prstGeom prst="line">
            <a:avLst/>
          </a:prstGeom>
          <a:noFill/>
          <a:ln w="15875">
            <a:solidFill>
              <a:srgbClr val="14213D"/>
            </a:solidFill>
            <a:prstDash val="solid"/>
          </a:ln>
        </p:spPr>
        <p:txBody>
          <a:bodyPr/>
          <a:p/>
        </p:txBody>
      </p:sp>
      <p:sp>
        <p:nvSpPr>
          <p:cNvPr id="28" name="Shape 25"/>
          <p:cNvSpPr/>
          <p:nvPr/>
        </p:nvSpPr>
        <p:spPr>
          <a:xfrm>
            <a:off x="1737360" y="3154680"/>
            <a:ext cx="0" cy="576072"/>
          </a:xfrm>
          <a:prstGeom prst="line">
            <a:avLst/>
          </a:prstGeom>
          <a:noFill/>
          <a:ln w="15875">
            <a:solidFill>
              <a:srgbClr val="14213D"/>
            </a:solidFill>
            <a:prstDash val="solid"/>
            <a:tailEnd type="triangle"/>
          </a:ln>
        </p:spPr>
        <p:txBody>
          <a:bodyPr/>
          <a:p/>
        </p:txBody>
      </p:sp>
      <p:sp>
        <p:nvSpPr>
          <p:cNvPr id="29" name="Text 26"/>
          <p:cNvSpPr txBox="1"/>
          <p:nvPr/>
        </p:nvSpPr>
        <p:spPr>
          <a:xfrm>
            <a:off x="2514600" y="2907792"/>
            <a:ext cx="502920" cy="219456"/>
          </a:xfrm>
          <a:prstGeom prst="rect">
            <a:avLst/>
          </a:prstGeom>
          <a:noFill/>
          <a:ln/>
        </p:spPr>
        <p:txBody>
          <a:bodyPr wrap="square" lIns="0" tIns="0" rIns="0" bIns="0" rtlCol="0" anchor="ctr"/>
          <a:lstStyle/>
          <a:p>
            <a:pPr algn="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0" name="Shape 27"/>
          <p:cNvSpPr/>
          <p:nvPr/>
        </p:nvSpPr>
        <p:spPr>
          <a:xfrm>
            <a:off x="4617720" y="3154680"/>
            <a:ext cx="1325880" cy="0"/>
          </a:xfrm>
          <a:prstGeom prst="line">
            <a:avLst/>
          </a:prstGeom>
          <a:noFill/>
          <a:ln w="15875">
            <a:solidFill>
              <a:srgbClr val="14213D"/>
            </a:solidFill>
            <a:prstDash val="solid"/>
          </a:ln>
        </p:spPr>
        <p:txBody>
          <a:bodyPr/>
          <a:p/>
        </p:txBody>
      </p:sp>
      <p:sp>
        <p:nvSpPr>
          <p:cNvPr id="31" name="Shape 28"/>
          <p:cNvSpPr/>
          <p:nvPr/>
        </p:nvSpPr>
        <p:spPr>
          <a:xfrm>
            <a:off x="5943600" y="3154680"/>
            <a:ext cx="0" cy="576072"/>
          </a:xfrm>
          <a:prstGeom prst="line">
            <a:avLst/>
          </a:prstGeom>
          <a:noFill/>
          <a:ln w="15875">
            <a:solidFill>
              <a:srgbClr val="14213D"/>
            </a:solidFill>
            <a:prstDash val="solid"/>
            <a:tailEnd type="triangle"/>
          </a:ln>
        </p:spPr>
        <p:txBody>
          <a:bodyPr/>
          <a:p/>
        </p:txBody>
      </p:sp>
      <p:sp>
        <p:nvSpPr>
          <p:cNvPr id="32" name="Text 29"/>
          <p:cNvSpPr txBox="1"/>
          <p:nvPr/>
        </p:nvSpPr>
        <p:spPr>
          <a:xfrm>
            <a:off x="4663440" y="29077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3" name="Shape 30"/>
          <p:cNvSpPr/>
          <p:nvPr/>
        </p:nvSpPr>
        <p:spPr>
          <a:xfrm>
            <a:off x="1737360" y="4407408"/>
            <a:ext cx="0" cy="411480"/>
          </a:xfrm>
          <a:prstGeom prst="line">
            <a:avLst/>
          </a:prstGeom>
          <a:noFill/>
          <a:ln w="15875">
            <a:solidFill>
              <a:srgbClr val="14213D"/>
            </a:solidFill>
            <a:prstDash val="solid"/>
            <a:tailEnd type="triangle"/>
          </a:ln>
        </p:spPr>
        <p:txBody>
          <a:bodyPr/>
          <a:p/>
        </p:txBody>
      </p:sp>
      <p:sp>
        <p:nvSpPr>
          <p:cNvPr id="34" name="Text 31"/>
          <p:cNvSpPr txBox="1"/>
          <p:nvPr/>
        </p:nvSpPr>
        <p:spPr>
          <a:xfrm>
            <a:off x="1801368" y="4389120"/>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5" name="Shape 32"/>
          <p:cNvSpPr/>
          <p:nvPr/>
        </p:nvSpPr>
        <p:spPr>
          <a:xfrm>
            <a:off x="5943600" y="4407408"/>
            <a:ext cx="0" cy="411480"/>
          </a:xfrm>
          <a:prstGeom prst="line">
            <a:avLst/>
          </a:prstGeom>
          <a:noFill/>
          <a:ln w="15875">
            <a:solidFill>
              <a:srgbClr val="14213D"/>
            </a:solidFill>
            <a:prstDash val="solid"/>
            <a:tailEnd type="triangle"/>
          </a:ln>
        </p:spPr>
        <p:txBody>
          <a:bodyPr/>
          <a:p/>
        </p:txBody>
      </p:sp>
      <p:sp>
        <p:nvSpPr>
          <p:cNvPr id="36" name="Text 33"/>
          <p:cNvSpPr txBox="1"/>
          <p:nvPr/>
        </p:nvSpPr>
        <p:spPr>
          <a:xfrm>
            <a:off x="6007608" y="4389120"/>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7" name="Shape 34"/>
          <p:cNvSpPr/>
          <p:nvPr/>
        </p:nvSpPr>
        <p:spPr>
          <a:xfrm>
            <a:off x="2514600" y="4069080"/>
            <a:ext cx="1325880" cy="0"/>
          </a:xfrm>
          <a:prstGeom prst="line">
            <a:avLst/>
          </a:prstGeom>
          <a:noFill/>
          <a:ln w="15875">
            <a:solidFill>
              <a:srgbClr val="14213D"/>
            </a:solidFill>
            <a:prstDash val="solid"/>
          </a:ln>
        </p:spPr>
        <p:txBody>
          <a:bodyPr/>
          <a:p/>
        </p:txBody>
      </p:sp>
      <p:sp>
        <p:nvSpPr>
          <p:cNvPr id="38" name="Text 35"/>
          <p:cNvSpPr txBox="1"/>
          <p:nvPr/>
        </p:nvSpPr>
        <p:spPr>
          <a:xfrm>
            <a:off x="2560320" y="38221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9" name="Shape 36"/>
          <p:cNvSpPr/>
          <p:nvPr/>
        </p:nvSpPr>
        <p:spPr>
          <a:xfrm flipH="1">
            <a:off x="3840480" y="4069080"/>
            <a:ext cx="1325880" cy="0"/>
          </a:xfrm>
          <a:prstGeom prst="line">
            <a:avLst/>
          </a:prstGeom>
          <a:noFill/>
          <a:ln w="15875">
            <a:solidFill>
              <a:srgbClr val="14213D"/>
            </a:solidFill>
            <a:prstDash val="solid"/>
          </a:ln>
        </p:spPr>
        <p:txBody>
          <a:bodyPr/>
          <a:p/>
        </p:txBody>
      </p:sp>
      <p:sp>
        <p:nvSpPr>
          <p:cNvPr id="40" name="Text 37"/>
          <p:cNvSpPr txBox="1"/>
          <p:nvPr/>
        </p:nvSpPr>
        <p:spPr>
          <a:xfrm>
            <a:off x="4617720" y="3822192"/>
            <a:ext cx="502920" cy="219456"/>
          </a:xfrm>
          <a:prstGeom prst="rect">
            <a:avLst/>
          </a:prstGeom>
          <a:noFill/>
          <a:ln/>
        </p:spPr>
        <p:txBody>
          <a:bodyPr wrap="square" lIns="0" tIns="0" rIns="0" bIns="0" rtlCol="0" anchor="ctr"/>
          <a:lstStyle/>
          <a:p>
            <a:pPr algn="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1" name="Shape 38"/>
          <p:cNvSpPr/>
          <p:nvPr/>
        </p:nvSpPr>
        <p:spPr>
          <a:xfrm>
            <a:off x="3840480" y="4069080"/>
            <a:ext cx="0" cy="749808"/>
          </a:xfrm>
          <a:prstGeom prst="line">
            <a:avLst/>
          </a:prstGeom>
          <a:noFill/>
          <a:ln w="15875">
            <a:solidFill>
              <a:srgbClr val="14213D"/>
            </a:solidFill>
            <a:prstDash val="solid"/>
            <a:tailEnd type="triangle"/>
          </a:ln>
        </p:spPr>
        <p:txBody>
          <a:bodyPr/>
          <a:p/>
        </p:txBody>
      </p:sp>
      <p:sp>
        <p:nvSpPr>
          <p:cNvPr id="42" name="Shape 39"/>
          <p:cNvSpPr/>
          <p:nvPr/>
        </p:nvSpPr>
        <p:spPr>
          <a:xfrm>
            <a:off x="3840480" y="5239512"/>
            <a:ext cx="0" cy="384048"/>
          </a:xfrm>
          <a:prstGeom prst="line">
            <a:avLst/>
          </a:prstGeom>
          <a:noFill/>
          <a:ln w="15875">
            <a:solidFill>
              <a:srgbClr val="14213D"/>
            </a:solidFill>
            <a:prstDash val="solid"/>
            <a:tailEnd type="triangle"/>
          </a:ln>
        </p:spPr>
        <p:txBody>
          <a:bodyPr/>
          <a:p/>
        </p:txBody>
      </p:sp>
      <p:sp>
        <p:nvSpPr>
          <p:cNvPr id="43" name="Shape 40"/>
          <p:cNvSpPr/>
          <p:nvPr/>
        </p:nvSpPr>
        <p:spPr>
          <a:xfrm>
            <a:off x="1737360" y="5239512"/>
            <a:ext cx="0" cy="566928"/>
          </a:xfrm>
          <a:prstGeom prst="line">
            <a:avLst/>
          </a:prstGeom>
          <a:noFill/>
          <a:ln w="15875">
            <a:solidFill>
              <a:srgbClr val="14213D"/>
            </a:solidFill>
            <a:prstDash val="solid"/>
          </a:ln>
        </p:spPr>
        <p:txBody>
          <a:bodyPr/>
          <a:p/>
        </p:txBody>
      </p:sp>
      <p:sp>
        <p:nvSpPr>
          <p:cNvPr id="44" name="Shape 41"/>
          <p:cNvSpPr/>
          <p:nvPr/>
        </p:nvSpPr>
        <p:spPr>
          <a:xfrm>
            <a:off x="1737360" y="5806440"/>
            <a:ext cx="1508760" cy="0"/>
          </a:xfrm>
          <a:prstGeom prst="line">
            <a:avLst/>
          </a:prstGeom>
          <a:noFill/>
          <a:ln w="15875">
            <a:solidFill>
              <a:srgbClr val="14213D"/>
            </a:solidFill>
            <a:prstDash val="solid"/>
            <a:tailEnd type="triangle"/>
          </a:ln>
        </p:spPr>
        <p:txBody>
          <a:bodyPr/>
          <a:p/>
        </p:txBody>
      </p:sp>
      <p:sp>
        <p:nvSpPr>
          <p:cNvPr id="45" name="Shape 42"/>
          <p:cNvSpPr/>
          <p:nvPr/>
        </p:nvSpPr>
        <p:spPr>
          <a:xfrm>
            <a:off x="5943600" y="5239512"/>
            <a:ext cx="0" cy="566928"/>
          </a:xfrm>
          <a:prstGeom prst="line">
            <a:avLst/>
          </a:prstGeom>
          <a:noFill/>
          <a:ln w="15875">
            <a:solidFill>
              <a:srgbClr val="14213D"/>
            </a:solidFill>
            <a:prstDash val="solid"/>
          </a:ln>
        </p:spPr>
        <p:txBody>
          <a:bodyPr/>
          <a:p/>
        </p:txBody>
      </p:sp>
      <p:sp>
        <p:nvSpPr>
          <p:cNvPr id="46" name="Shape 43"/>
          <p:cNvSpPr/>
          <p:nvPr/>
        </p:nvSpPr>
        <p:spPr>
          <a:xfrm flipH="1">
            <a:off x="4434840" y="5806440"/>
            <a:ext cx="1508760" cy="0"/>
          </a:xfrm>
          <a:prstGeom prst="line">
            <a:avLst/>
          </a:prstGeom>
          <a:noFill/>
          <a:ln w="15875">
            <a:solidFill>
              <a:srgbClr val="14213D"/>
            </a:solidFill>
            <a:prstDash val="solid"/>
            <a:tailEnd type="triangle"/>
          </a:ln>
        </p:spPr>
        <p:txBody>
          <a:bodyPr/>
          <a:p/>
        </p:txBody>
      </p:sp>
      <p:sp>
        <p:nvSpPr>
          <p:cNvPr id="47" name="Text 44"/>
          <p:cNvSpPr txBox="1"/>
          <p:nvPr/>
        </p:nvSpPr>
        <p:spPr>
          <a:xfrm>
            <a:off x="7315200" y="1600200"/>
            <a:ext cx="4343400" cy="329184"/>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Test every path</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0" y="2011680"/>
          <a:ext cx="4343400" cy="914400"/>
        </p:xfrm>
        <a:graphic>
          <a:graphicData uri="http://schemas.openxmlformats.org/drawingml/2006/table">
            <a:tbl>
              <a:tblPr/>
              <a:tblGrid>
                <a:gridCol w="1463040"/>
                <a:gridCol w="1737360"/>
                <a:gridCol w="114300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 b, 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decisions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4, 9, 7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 → 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8, 3, 8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 → 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2, 5, 9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 → 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9, 1, 4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 → 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 −5, −1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 → 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49" name="Shape 45"/>
          <p:cNvSpPr/>
          <p:nvPr/>
        </p:nvSpPr>
        <p:spPr>
          <a:xfrm>
            <a:off x="7315200" y="4572000"/>
            <a:ext cx="4343400" cy="1463040"/>
          </a:xfrm>
          <a:prstGeom prst="roundRect">
            <a:avLst>
              <a:gd name="adj" fmla="val 7500"/>
            </a:avLst>
          </a:prstGeom>
          <a:solidFill>
            <a:srgbClr val="FFF6E3"/>
          </a:solidFill>
          <a:ln w="12700">
            <a:solidFill>
              <a:srgbClr val="FFF6E3"/>
            </a:solidFill>
            <a:prstDash val="solid"/>
          </a:ln>
        </p:spPr>
        <p:txBody>
          <a:bodyPr/>
          <a:p/>
        </p:txBody>
      </p:sp>
      <p:pic>
        <p:nvPicPr>
          <p:cNvPr id="50" name="Image 0" descr="preencoded.png">    </p:cNvPr>
          <p:cNvPicPr>
            <a:picLocks noChangeAspect="1"/>
          </p:cNvPicPr>
          <p:nvPr/>
        </p:nvPicPr>
        <p:blipFill>
          <a:blip r:embed="rId1"/>
          <a:stretch>
            <a:fillRect/>
          </a:stretch>
        </p:blipFill>
        <p:spPr>
          <a:xfrm>
            <a:off x="7589520" y="5029200"/>
            <a:ext cx="548640" cy="548640"/>
          </a:xfrm>
          <a:prstGeom prst="rect">
            <a:avLst/>
          </a:prstGeom>
        </p:spPr>
      </p:pic>
      <p:sp>
        <p:nvSpPr>
          <p:cNvPr id="51" name="Text 46"/>
          <p:cNvSpPr txBox="1"/>
          <p:nvPr/>
        </p:nvSpPr>
        <p:spPr>
          <a:xfrm>
            <a:off x="8412480" y="4645152"/>
            <a:ext cx="2971800" cy="13167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4 paths → at least 4 tests. </a:t>
            </a:r>
            <a:pPr indent="0" marL="0">
              <a:buNone/>
            </a:pPr>
            <a:r>
              <a:rPr lang="en-US" sz="1400" dirty="0">
                <a:solidFill>
                  <a:srgbClr val="333B4F"/>
                </a:solidFill>
                <a:latin typeface="Calibri" pitchFamily="34" charset="0"/>
                <a:ea typeface="Calibri" pitchFamily="34" charset="-122"/>
                <a:cs typeface="Calibri" pitchFamily="34" charset="-120"/>
              </a:rPr>
              <a:t>Negative numbers must work too.</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A SECOND DESIGN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Maximum of Three: Method 2 (Running Max)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141732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46304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143000" y="2048256"/>
            <a:ext cx="173736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188720" y="2048256"/>
            <a:ext cx="164592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a, b, c</a:t>
            </a:r>
            <a:endParaRPr lang="en-US" sz="1300" dirty="0"/>
          </a:p>
        </p:txBody>
      </p:sp>
      <p:sp>
        <p:nvSpPr>
          <p:cNvPr id="11" name="Shape 8"/>
          <p:cNvSpPr/>
          <p:nvPr/>
        </p:nvSpPr>
        <p:spPr>
          <a:xfrm>
            <a:off x="1280160" y="2569464"/>
            <a:ext cx="1463040" cy="384048"/>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325880" y="2569464"/>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a</a:t>
            </a:r>
            <a:endParaRPr lang="en-US" sz="1300" dirty="0"/>
          </a:p>
        </p:txBody>
      </p:sp>
      <p:sp>
        <p:nvSpPr>
          <p:cNvPr id="13" name="Shape 10"/>
          <p:cNvSpPr/>
          <p:nvPr/>
        </p:nvSpPr>
        <p:spPr>
          <a:xfrm>
            <a:off x="1143000" y="3200400"/>
            <a:ext cx="1737360" cy="640080"/>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188720" y="3200400"/>
            <a:ext cx="164592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 &gt; max ?</a:t>
            </a:r>
            <a:endParaRPr lang="en-US" sz="1300" dirty="0"/>
          </a:p>
        </p:txBody>
      </p:sp>
      <p:sp>
        <p:nvSpPr>
          <p:cNvPr id="15" name="Shape 12"/>
          <p:cNvSpPr/>
          <p:nvPr/>
        </p:nvSpPr>
        <p:spPr>
          <a:xfrm>
            <a:off x="3291840" y="3328416"/>
            <a:ext cx="1188720" cy="384048"/>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3337560" y="332841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b</a:t>
            </a:r>
            <a:endParaRPr lang="en-US" sz="1300" dirty="0"/>
          </a:p>
        </p:txBody>
      </p:sp>
      <p:sp>
        <p:nvSpPr>
          <p:cNvPr id="17" name="Shape 14"/>
          <p:cNvSpPr/>
          <p:nvPr/>
        </p:nvSpPr>
        <p:spPr>
          <a:xfrm>
            <a:off x="1143000" y="4251960"/>
            <a:ext cx="1737360" cy="640080"/>
          </a:xfrm>
          <a:prstGeom prst="flowChartDecision">
            <a:avLst/>
          </a:prstGeom>
          <a:solidFill>
            <a:srgbClr val="E3ECF8"/>
          </a:solidFill>
          <a:ln w="15875">
            <a:solidFill>
              <a:srgbClr val="14213D"/>
            </a:solidFill>
            <a:prstDash val="solid"/>
          </a:ln>
        </p:spPr>
        <p:txBody>
          <a:bodyPr/>
          <a:p/>
        </p:txBody>
      </p:sp>
      <p:sp>
        <p:nvSpPr>
          <p:cNvPr id="18" name="Text 15"/>
          <p:cNvSpPr txBox="1"/>
          <p:nvPr/>
        </p:nvSpPr>
        <p:spPr>
          <a:xfrm>
            <a:off x="1188720" y="4251960"/>
            <a:ext cx="164592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 &gt; max ?</a:t>
            </a:r>
            <a:endParaRPr lang="en-US" sz="1300" dirty="0"/>
          </a:p>
        </p:txBody>
      </p:sp>
      <p:sp>
        <p:nvSpPr>
          <p:cNvPr id="19" name="Shape 16"/>
          <p:cNvSpPr/>
          <p:nvPr/>
        </p:nvSpPr>
        <p:spPr>
          <a:xfrm>
            <a:off x="3291840" y="4379976"/>
            <a:ext cx="1188720" cy="384048"/>
          </a:xfrm>
          <a:prstGeom prst="flowChartProcess">
            <a:avLst/>
          </a:prstGeom>
          <a:solidFill>
            <a:srgbClr val="FFFFFF"/>
          </a:solidFill>
          <a:ln w="15875">
            <a:solidFill>
              <a:srgbClr val="14213D"/>
            </a:solidFill>
            <a:prstDash val="solid"/>
          </a:ln>
        </p:spPr>
        <p:txBody>
          <a:bodyPr/>
          <a:p/>
        </p:txBody>
      </p:sp>
      <p:sp>
        <p:nvSpPr>
          <p:cNvPr id="20" name="Text 17"/>
          <p:cNvSpPr txBox="1"/>
          <p:nvPr/>
        </p:nvSpPr>
        <p:spPr>
          <a:xfrm>
            <a:off x="3337560" y="437997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max ← c</a:t>
            </a:r>
            <a:endParaRPr lang="en-US" sz="1300" dirty="0"/>
          </a:p>
        </p:txBody>
      </p:sp>
      <p:sp>
        <p:nvSpPr>
          <p:cNvPr id="21" name="Shape 18"/>
          <p:cNvSpPr/>
          <p:nvPr/>
        </p:nvSpPr>
        <p:spPr>
          <a:xfrm>
            <a:off x="1234440" y="5257800"/>
            <a:ext cx="1554480" cy="365760"/>
          </a:xfrm>
          <a:prstGeom prst="flowChartInputOutput">
            <a:avLst/>
          </a:prstGeom>
          <a:solidFill>
            <a:srgbClr val="FFFFFF"/>
          </a:solidFill>
          <a:ln w="15875">
            <a:solidFill>
              <a:srgbClr val="14213D"/>
            </a:solidFill>
            <a:prstDash val="solid"/>
          </a:ln>
        </p:spPr>
        <p:txBody>
          <a:bodyPr/>
          <a:p/>
        </p:txBody>
      </p:sp>
      <p:sp>
        <p:nvSpPr>
          <p:cNvPr id="22" name="Text 19"/>
          <p:cNvSpPr txBox="1"/>
          <p:nvPr/>
        </p:nvSpPr>
        <p:spPr>
          <a:xfrm>
            <a:off x="1280160" y="5257800"/>
            <a:ext cx="146304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max</a:t>
            </a:r>
            <a:endParaRPr lang="en-US" sz="1300" dirty="0"/>
          </a:p>
        </p:txBody>
      </p:sp>
      <p:sp>
        <p:nvSpPr>
          <p:cNvPr id="23" name="Shape 20"/>
          <p:cNvSpPr/>
          <p:nvPr/>
        </p:nvSpPr>
        <p:spPr>
          <a:xfrm>
            <a:off x="1417320" y="5760720"/>
            <a:ext cx="1188720" cy="329184"/>
          </a:xfrm>
          <a:prstGeom prst="flowChartTerminator">
            <a:avLst/>
          </a:prstGeom>
          <a:solidFill>
            <a:srgbClr val="FFF1D6"/>
          </a:solidFill>
          <a:ln w="15875">
            <a:solidFill>
              <a:srgbClr val="14213D"/>
            </a:solidFill>
            <a:prstDash val="solid"/>
          </a:ln>
        </p:spPr>
        <p:txBody>
          <a:bodyPr/>
          <a:p/>
        </p:txBody>
      </p:sp>
      <p:sp>
        <p:nvSpPr>
          <p:cNvPr id="24" name="Text 21"/>
          <p:cNvSpPr txBox="1"/>
          <p:nvPr/>
        </p:nvSpPr>
        <p:spPr>
          <a:xfrm>
            <a:off x="1463040" y="5760720"/>
            <a:ext cx="1097280" cy="3291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5" name="Shape 22"/>
          <p:cNvSpPr/>
          <p:nvPr/>
        </p:nvSpPr>
        <p:spPr>
          <a:xfrm>
            <a:off x="2011680" y="1911096"/>
            <a:ext cx="0" cy="137160"/>
          </a:xfrm>
          <a:prstGeom prst="line">
            <a:avLst/>
          </a:prstGeom>
          <a:noFill/>
          <a:ln w="15875">
            <a:solidFill>
              <a:srgbClr val="14213D"/>
            </a:solidFill>
            <a:prstDash val="solid"/>
            <a:tailEnd type="triangle"/>
          </a:ln>
        </p:spPr>
        <p:txBody>
          <a:bodyPr/>
          <a:p/>
        </p:txBody>
      </p:sp>
      <p:sp>
        <p:nvSpPr>
          <p:cNvPr id="26" name="Shape 23"/>
          <p:cNvSpPr/>
          <p:nvPr/>
        </p:nvSpPr>
        <p:spPr>
          <a:xfrm>
            <a:off x="2011680" y="2432304"/>
            <a:ext cx="0" cy="137160"/>
          </a:xfrm>
          <a:prstGeom prst="line">
            <a:avLst/>
          </a:prstGeom>
          <a:noFill/>
          <a:ln w="15875">
            <a:solidFill>
              <a:srgbClr val="14213D"/>
            </a:solidFill>
            <a:prstDash val="solid"/>
            <a:tailEnd type="triangle"/>
          </a:ln>
        </p:spPr>
        <p:txBody>
          <a:bodyPr/>
          <a:p/>
        </p:txBody>
      </p:sp>
      <p:sp>
        <p:nvSpPr>
          <p:cNvPr id="27" name="Shape 24"/>
          <p:cNvSpPr/>
          <p:nvPr/>
        </p:nvSpPr>
        <p:spPr>
          <a:xfrm>
            <a:off x="2011680" y="2953512"/>
            <a:ext cx="0" cy="246888"/>
          </a:xfrm>
          <a:prstGeom prst="line">
            <a:avLst/>
          </a:prstGeom>
          <a:noFill/>
          <a:ln w="15875">
            <a:solidFill>
              <a:srgbClr val="14213D"/>
            </a:solidFill>
            <a:prstDash val="solid"/>
            <a:tailEnd type="triangle"/>
          </a:ln>
        </p:spPr>
        <p:txBody>
          <a:bodyPr/>
          <a:p/>
        </p:txBody>
      </p:sp>
      <p:sp>
        <p:nvSpPr>
          <p:cNvPr id="28" name="Shape 25"/>
          <p:cNvSpPr/>
          <p:nvPr/>
        </p:nvSpPr>
        <p:spPr>
          <a:xfrm>
            <a:off x="2880360" y="3520440"/>
            <a:ext cx="411480" cy="0"/>
          </a:xfrm>
          <a:prstGeom prst="line">
            <a:avLst/>
          </a:prstGeom>
          <a:noFill/>
          <a:ln w="15875">
            <a:solidFill>
              <a:srgbClr val="14213D"/>
            </a:solidFill>
            <a:prstDash val="solid"/>
            <a:tailEnd type="triangle"/>
          </a:ln>
        </p:spPr>
        <p:txBody>
          <a:bodyPr/>
          <a:p/>
        </p:txBody>
      </p:sp>
      <p:sp>
        <p:nvSpPr>
          <p:cNvPr id="29" name="Text 26"/>
          <p:cNvSpPr txBox="1"/>
          <p:nvPr/>
        </p:nvSpPr>
        <p:spPr>
          <a:xfrm>
            <a:off x="2926080" y="327355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0" name="Shape 27"/>
          <p:cNvSpPr/>
          <p:nvPr/>
        </p:nvSpPr>
        <p:spPr>
          <a:xfrm>
            <a:off x="2011680" y="3840480"/>
            <a:ext cx="0" cy="411480"/>
          </a:xfrm>
          <a:prstGeom prst="line">
            <a:avLst/>
          </a:prstGeom>
          <a:noFill/>
          <a:ln w="15875">
            <a:solidFill>
              <a:srgbClr val="14213D"/>
            </a:solidFill>
            <a:prstDash val="solid"/>
            <a:tailEnd type="triangle"/>
          </a:ln>
        </p:spPr>
        <p:txBody>
          <a:bodyPr/>
          <a:p/>
        </p:txBody>
      </p:sp>
      <p:sp>
        <p:nvSpPr>
          <p:cNvPr id="31" name="Text 28"/>
          <p:cNvSpPr txBox="1"/>
          <p:nvPr/>
        </p:nvSpPr>
        <p:spPr>
          <a:xfrm>
            <a:off x="2075688" y="38221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2" name="Shape 29"/>
          <p:cNvSpPr/>
          <p:nvPr/>
        </p:nvSpPr>
        <p:spPr>
          <a:xfrm>
            <a:off x="3886200" y="3712464"/>
            <a:ext cx="0" cy="338328"/>
          </a:xfrm>
          <a:prstGeom prst="line">
            <a:avLst/>
          </a:prstGeom>
          <a:noFill/>
          <a:ln w="15875">
            <a:solidFill>
              <a:srgbClr val="14213D"/>
            </a:solidFill>
            <a:prstDash val="solid"/>
          </a:ln>
        </p:spPr>
        <p:txBody>
          <a:bodyPr/>
          <a:p/>
        </p:txBody>
      </p:sp>
      <p:sp>
        <p:nvSpPr>
          <p:cNvPr id="33" name="Shape 30"/>
          <p:cNvSpPr/>
          <p:nvPr/>
        </p:nvSpPr>
        <p:spPr>
          <a:xfrm flipH="1">
            <a:off x="2011680" y="4050792"/>
            <a:ext cx="1874520" cy="0"/>
          </a:xfrm>
          <a:prstGeom prst="line">
            <a:avLst/>
          </a:prstGeom>
          <a:noFill/>
          <a:ln w="15875">
            <a:solidFill>
              <a:srgbClr val="14213D"/>
            </a:solidFill>
            <a:prstDash val="solid"/>
            <a:tailEnd type="triangle"/>
          </a:ln>
        </p:spPr>
        <p:txBody>
          <a:bodyPr/>
          <a:p/>
        </p:txBody>
      </p:sp>
      <p:sp>
        <p:nvSpPr>
          <p:cNvPr id="34" name="Shape 31"/>
          <p:cNvSpPr/>
          <p:nvPr/>
        </p:nvSpPr>
        <p:spPr>
          <a:xfrm>
            <a:off x="2880360" y="4572000"/>
            <a:ext cx="411480" cy="0"/>
          </a:xfrm>
          <a:prstGeom prst="line">
            <a:avLst/>
          </a:prstGeom>
          <a:noFill/>
          <a:ln w="15875">
            <a:solidFill>
              <a:srgbClr val="14213D"/>
            </a:solidFill>
            <a:prstDash val="solid"/>
            <a:tailEnd type="triangle"/>
          </a:ln>
        </p:spPr>
        <p:txBody>
          <a:bodyPr/>
          <a:p/>
        </p:txBody>
      </p:sp>
      <p:sp>
        <p:nvSpPr>
          <p:cNvPr id="35" name="Text 32"/>
          <p:cNvSpPr txBox="1"/>
          <p:nvPr/>
        </p:nvSpPr>
        <p:spPr>
          <a:xfrm>
            <a:off x="2926080" y="432511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6" name="Shape 33"/>
          <p:cNvSpPr/>
          <p:nvPr/>
        </p:nvSpPr>
        <p:spPr>
          <a:xfrm>
            <a:off x="2011680" y="4892040"/>
            <a:ext cx="0" cy="365760"/>
          </a:xfrm>
          <a:prstGeom prst="line">
            <a:avLst/>
          </a:prstGeom>
          <a:noFill/>
          <a:ln w="15875">
            <a:solidFill>
              <a:srgbClr val="14213D"/>
            </a:solidFill>
            <a:prstDash val="solid"/>
            <a:tailEnd type="triangle"/>
          </a:ln>
        </p:spPr>
        <p:txBody>
          <a:bodyPr/>
          <a:p/>
        </p:txBody>
      </p:sp>
      <p:sp>
        <p:nvSpPr>
          <p:cNvPr id="37" name="Text 34"/>
          <p:cNvSpPr txBox="1"/>
          <p:nvPr/>
        </p:nvSpPr>
        <p:spPr>
          <a:xfrm>
            <a:off x="2075688" y="487375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8" name="Shape 35"/>
          <p:cNvSpPr/>
          <p:nvPr/>
        </p:nvSpPr>
        <p:spPr>
          <a:xfrm>
            <a:off x="3886200" y="4764024"/>
            <a:ext cx="0" cy="310896"/>
          </a:xfrm>
          <a:prstGeom prst="line">
            <a:avLst/>
          </a:prstGeom>
          <a:noFill/>
          <a:ln w="15875">
            <a:solidFill>
              <a:srgbClr val="14213D"/>
            </a:solidFill>
            <a:prstDash val="solid"/>
          </a:ln>
        </p:spPr>
        <p:txBody>
          <a:bodyPr/>
          <a:p/>
        </p:txBody>
      </p:sp>
      <p:sp>
        <p:nvSpPr>
          <p:cNvPr id="39" name="Shape 36"/>
          <p:cNvSpPr/>
          <p:nvPr/>
        </p:nvSpPr>
        <p:spPr>
          <a:xfrm flipH="1">
            <a:off x="2011680" y="5074920"/>
            <a:ext cx="1874520" cy="0"/>
          </a:xfrm>
          <a:prstGeom prst="line">
            <a:avLst/>
          </a:prstGeom>
          <a:noFill/>
          <a:ln w="15875">
            <a:solidFill>
              <a:srgbClr val="14213D"/>
            </a:solidFill>
            <a:prstDash val="solid"/>
            <a:tailEnd type="triangle"/>
          </a:ln>
        </p:spPr>
        <p:txBody>
          <a:bodyPr/>
          <a:p/>
        </p:txBody>
      </p:sp>
      <p:sp>
        <p:nvSpPr>
          <p:cNvPr id="40" name="Shape 37"/>
          <p:cNvSpPr/>
          <p:nvPr/>
        </p:nvSpPr>
        <p:spPr>
          <a:xfrm>
            <a:off x="2011680" y="5623560"/>
            <a:ext cx="0" cy="137160"/>
          </a:xfrm>
          <a:prstGeom prst="line">
            <a:avLst/>
          </a:prstGeom>
          <a:noFill/>
          <a:ln w="15875">
            <a:solidFill>
              <a:srgbClr val="14213D"/>
            </a:solidFill>
            <a:prstDash val="solid"/>
            <a:tailEnd type="triangle"/>
          </a:ln>
        </p:spPr>
        <p:txBody>
          <a:bodyPr/>
          <a:p/>
        </p:txBody>
      </p:sp>
      <p:sp>
        <p:nvSpPr>
          <p:cNvPr id="41" name="Shape 38"/>
          <p:cNvSpPr/>
          <p:nvPr/>
        </p:nvSpPr>
        <p:spPr>
          <a:xfrm>
            <a:off x="4937760" y="1600200"/>
            <a:ext cx="6720840" cy="2834640"/>
          </a:xfrm>
          <a:prstGeom prst="roundRect">
            <a:avLst>
              <a:gd name="adj" fmla="val 3226"/>
            </a:avLst>
          </a:prstGeom>
          <a:solidFill>
            <a:srgbClr val="0F1729"/>
          </a:solidFill>
          <a:ln w="12700">
            <a:solidFill>
              <a:srgbClr val="0F1729"/>
            </a:solidFill>
            <a:prstDash val="solid"/>
          </a:ln>
        </p:spPr>
        <p:txBody>
          <a:bodyPr/>
          <a:p/>
        </p:txBody>
      </p:sp>
      <p:sp>
        <p:nvSpPr>
          <p:cNvPr id="42" name="Text 39"/>
          <p:cNvSpPr txBox="1"/>
          <p:nvPr/>
        </p:nvSpPr>
        <p:spPr>
          <a:xfrm>
            <a:off x="5166360" y="1709928"/>
            <a:ext cx="62636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code/02_05_MaxOfThree/Program.cs  (Method 2)</a:t>
            </a:r>
            <a:endParaRPr lang="en-US" sz="1100" dirty="0"/>
          </a:p>
        </p:txBody>
      </p:sp>
      <p:sp>
        <p:nvSpPr>
          <p:cNvPr id="43" name="Text 40"/>
          <p:cNvSpPr txBox="1"/>
          <p:nvPr/>
        </p:nvSpPr>
        <p:spPr>
          <a:xfrm>
            <a:off x="5166360" y="2011680"/>
            <a:ext cx="6263640" cy="231343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Method 2: keep the largest value seen so far</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 = a;</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&gt; max)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 = b;</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&gt; max)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max =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$"Method 2 (running max): {max}"</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44" name="Shape 41"/>
          <p:cNvSpPr/>
          <p:nvPr/>
        </p:nvSpPr>
        <p:spPr>
          <a:xfrm>
            <a:off x="4937760" y="4553712"/>
            <a:ext cx="6720840" cy="1545336"/>
          </a:xfrm>
          <a:prstGeom prst="roundRect">
            <a:avLst>
              <a:gd name="adj" fmla="val 5917"/>
            </a:avLst>
          </a:prstGeom>
          <a:solidFill>
            <a:srgbClr val="0B0F19"/>
          </a:solidFill>
          <a:ln w="12700">
            <a:solidFill>
              <a:srgbClr val="2A3654"/>
            </a:solidFill>
            <a:prstDash val="solid"/>
          </a:ln>
        </p:spPr>
        <p:txBody>
          <a:bodyPr/>
          <a:p/>
        </p:txBody>
      </p:sp>
      <p:sp>
        <p:nvSpPr>
          <p:cNvPr id="45" name="Shape 42"/>
          <p:cNvSpPr/>
          <p:nvPr/>
        </p:nvSpPr>
        <p:spPr>
          <a:xfrm>
            <a:off x="5120640" y="4681728"/>
            <a:ext cx="118872" cy="118872"/>
          </a:xfrm>
          <a:prstGeom prst="ellipse">
            <a:avLst/>
          </a:prstGeom>
          <a:solidFill>
            <a:srgbClr val="FF5F57"/>
          </a:solidFill>
          <a:ln w="12700">
            <a:solidFill>
              <a:srgbClr val="FF5F57"/>
            </a:solidFill>
            <a:prstDash val="solid"/>
          </a:ln>
        </p:spPr>
        <p:txBody>
          <a:bodyPr/>
          <a:p/>
        </p:txBody>
      </p:sp>
      <p:sp>
        <p:nvSpPr>
          <p:cNvPr id="46" name="Shape 43"/>
          <p:cNvSpPr/>
          <p:nvPr/>
        </p:nvSpPr>
        <p:spPr>
          <a:xfrm>
            <a:off x="5349240" y="4681728"/>
            <a:ext cx="118872" cy="118872"/>
          </a:xfrm>
          <a:prstGeom prst="ellipse">
            <a:avLst/>
          </a:prstGeom>
          <a:solidFill>
            <a:srgbClr val="FEBC2E"/>
          </a:solidFill>
          <a:ln w="12700">
            <a:solidFill>
              <a:srgbClr val="FEBC2E"/>
            </a:solidFill>
            <a:prstDash val="solid"/>
          </a:ln>
        </p:spPr>
        <p:txBody>
          <a:bodyPr/>
          <a:p/>
        </p:txBody>
      </p:sp>
      <p:sp>
        <p:nvSpPr>
          <p:cNvPr id="47" name="Shape 44"/>
          <p:cNvSpPr/>
          <p:nvPr/>
        </p:nvSpPr>
        <p:spPr>
          <a:xfrm>
            <a:off x="5577840" y="4681728"/>
            <a:ext cx="118872" cy="118872"/>
          </a:xfrm>
          <a:prstGeom prst="ellipse">
            <a:avLst/>
          </a:prstGeom>
          <a:solidFill>
            <a:srgbClr val="28C840"/>
          </a:solidFill>
          <a:ln w="12700">
            <a:solidFill>
              <a:srgbClr val="28C840"/>
            </a:solidFill>
            <a:prstDash val="solid"/>
          </a:ln>
        </p:spPr>
        <p:txBody>
          <a:bodyPr/>
          <a:p/>
        </p:txBody>
      </p:sp>
      <p:sp>
        <p:nvSpPr>
          <p:cNvPr id="48" name="Text 45"/>
          <p:cNvSpPr txBox="1"/>
          <p:nvPr/>
        </p:nvSpPr>
        <p:spPr>
          <a:xfrm>
            <a:off x="5852160" y="4626864"/>
            <a:ext cx="5623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49" name="Text 46"/>
          <p:cNvSpPr txBox="1"/>
          <p:nvPr/>
        </p:nvSpPr>
        <p:spPr>
          <a:xfrm>
            <a:off x="5166360" y="4937760"/>
            <a:ext cx="6263640" cy="1042416"/>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Method 1 (nested):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Method 2 (running max): 9</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THREE NESTED DECISIONS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Leap Year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265176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269748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2423160" y="2057400"/>
            <a:ext cx="1645920" cy="402336"/>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2468880" y="2057400"/>
            <a:ext cx="155448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year</a:t>
            </a:r>
            <a:endParaRPr lang="en-US" sz="1300" dirty="0"/>
          </a:p>
        </p:txBody>
      </p:sp>
      <p:sp>
        <p:nvSpPr>
          <p:cNvPr id="11" name="Shape 8"/>
          <p:cNvSpPr/>
          <p:nvPr/>
        </p:nvSpPr>
        <p:spPr>
          <a:xfrm>
            <a:off x="2171700" y="2697480"/>
            <a:ext cx="2148840" cy="603504"/>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2217420" y="2697480"/>
            <a:ext cx="2057400" cy="60350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year mod 4 = 0 ?</a:t>
            </a:r>
            <a:endParaRPr lang="en-US" sz="1300" dirty="0"/>
          </a:p>
        </p:txBody>
      </p:sp>
      <p:sp>
        <p:nvSpPr>
          <p:cNvPr id="13" name="Shape 10"/>
          <p:cNvSpPr/>
          <p:nvPr/>
        </p:nvSpPr>
        <p:spPr>
          <a:xfrm>
            <a:off x="2171700" y="3566160"/>
            <a:ext cx="2148840" cy="603504"/>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2217420" y="3566160"/>
            <a:ext cx="2057400" cy="60350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year mod 100 = 0 ?</a:t>
            </a:r>
            <a:endParaRPr lang="en-US" sz="1300" dirty="0"/>
          </a:p>
        </p:txBody>
      </p:sp>
      <p:sp>
        <p:nvSpPr>
          <p:cNvPr id="15" name="Shape 12"/>
          <p:cNvSpPr/>
          <p:nvPr/>
        </p:nvSpPr>
        <p:spPr>
          <a:xfrm>
            <a:off x="2171700" y="4434840"/>
            <a:ext cx="2148840" cy="603504"/>
          </a:xfrm>
          <a:prstGeom prst="flowChartDecision">
            <a:avLst/>
          </a:prstGeom>
          <a:solidFill>
            <a:srgbClr val="E3ECF8"/>
          </a:solidFill>
          <a:ln w="15875">
            <a:solidFill>
              <a:srgbClr val="14213D"/>
            </a:solidFill>
            <a:prstDash val="solid"/>
          </a:ln>
        </p:spPr>
        <p:txBody>
          <a:bodyPr/>
          <a:p/>
        </p:txBody>
      </p:sp>
      <p:sp>
        <p:nvSpPr>
          <p:cNvPr id="16" name="Text 13"/>
          <p:cNvSpPr txBox="1"/>
          <p:nvPr/>
        </p:nvSpPr>
        <p:spPr>
          <a:xfrm>
            <a:off x="2217420" y="4434840"/>
            <a:ext cx="2057400" cy="60350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year mod 400 = 0 ?</a:t>
            </a:r>
            <a:endParaRPr lang="en-US" sz="1300" dirty="0"/>
          </a:p>
        </p:txBody>
      </p:sp>
      <p:sp>
        <p:nvSpPr>
          <p:cNvPr id="17" name="Shape 14"/>
          <p:cNvSpPr/>
          <p:nvPr/>
        </p:nvSpPr>
        <p:spPr>
          <a:xfrm>
            <a:off x="548640" y="5239512"/>
            <a:ext cx="1737360" cy="402336"/>
          </a:xfrm>
          <a:prstGeom prst="flowChartInputOutput">
            <a:avLst/>
          </a:prstGeom>
          <a:solidFill>
            <a:srgbClr val="FFFFFF"/>
          </a:solidFill>
          <a:ln w="15875">
            <a:solidFill>
              <a:srgbClr val="14213D"/>
            </a:solidFill>
            <a:prstDash val="solid"/>
          </a:ln>
        </p:spPr>
        <p:txBody>
          <a:bodyPr/>
          <a:p/>
        </p:txBody>
      </p:sp>
      <p:sp>
        <p:nvSpPr>
          <p:cNvPr id="18" name="Text 15"/>
          <p:cNvSpPr txBox="1"/>
          <p:nvPr/>
        </p:nvSpPr>
        <p:spPr>
          <a:xfrm>
            <a:off x="594360" y="5239512"/>
            <a:ext cx="16459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"not leap"</a:t>
            </a:r>
            <a:endParaRPr lang="en-US" sz="1300" dirty="0"/>
          </a:p>
        </p:txBody>
      </p:sp>
      <p:sp>
        <p:nvSpPr>
          <p:cNvPr id="19" name="Shape 16"/>
          <p:cNvSpPr/>
          <p:nvPr/>
        </p:nvSpPr>
        <p:spPr>
          <a:xfrm>
            <a:off x="4389120" y="5239512"/>
            <a:ext cx="1463040" cy="402336"/>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4434840" y="5239512"/>
            <a:ext cx="137160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"leap"</a:t>
            </a:r>
            <a:endParaRPr lang="en-US" sz="1300" dirty="0"/>
          </a:p>
        </p:txBody>
      </p:sp>
      <p:sp>
        <p:nvSpPr>
          <p:cNvPr id="21" name="Shape 18"/>
          <p:cNvSpPr/>
          <p:nvPr/>
        </p:nvSpPr>
        <p:spPr>
          <a:xfrm>
            <a:off x="2697480" y="5733288"/>
            <a:ext cx="1097280" cy="329184"/>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2743200" y="5733288"/>
            <a:ext cx="1005840" cy="3291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3246120" y="1911096"/>
            <a:ext cx="0" cy="146304"/>
          </a:xfrm>
          <a:prstGeom prst="line">
            <a:avLst/>
          </a:prstGeom>
          <a:noFill/>
          <a:ln w="15875">
            <a:solidFill>
              <a:srgbClr val="14213D"/>
            </a:solidFill>
            <a:prstDash val="solid"/>
            <a:tailEnd type="triangle"/>
          </a:ln>
        </p:spPr>
        <p:txBody>
          <a:bodyPr/>
          <a:p/>
        </p:txBody>
      </p:sp>
      <p:sp>
        <p:nvSpPr>
          <p:cNvPr id="24" name="Shape 21"/>
          <p:cNvSpPr/>
          <p:nvPr/>
        </p:nvSpPr>
        <p:spPr>
          <a:xfrm>
            <a:off x="3246120" y="2459736"/>
            <a:ext cx="0" cy="237744"/>
          </a:xfrm>
          <a:prstGeom prst="line">
            <a:avLst/>
          </a:prstGeom>
          <a:noFill/>
          <a:ln w="15875">
            <a:solidFill>
              <a:srgbClr val="14213D"/>
            </a:solidFill>
            <a:prstDash val="solid"/>
            <a:tailEnd type="triangle"/>
          </a:ln>
        </p:spPr>
        <p:txBody>
          <a:bodyPr/>
          <a:p/>
        </p:txBody>
      </p:sp>
      <p:sp>
        <p:nvSpPr>
          <p:cNvPr id="25" name="Shape 22"/>
          <p:cNvSpPr/>
          <p:nvPr/>
        </p:nvSpPr>
        <p:spPr>
          <a:xfrm>
            <a:off x="3246120" y="3300984"/>
            <a:ext cx="0" cy="265176"/>
          </a:xfrm>
          <a:prstGeom prst="line">
            <a:avLst/>
          </a:prstGeom>
          <a:noFill/>
          <a:ln w="15875">
            <a:solidFill>
              <a:srgbClr val="14213D"/>
            </a:solidFill>
            <a:prstDash val="solid"/>
            <a:tailEnd type="triangle"/>
          </a:ln>
        </p:spPr>
        <p:txBody>
          <a:bodyPr/>
          <a:p/>
        </p:txBody>
      </p:sp>
      <p:sp>
        <p:nvSpPr>
          <p:cNvPr id="26" name="Text 23"/>
          <p:cNvSpPr txBox="1"/>
          <p:nvPr/>
        </p:nvSpPr>
        <p:spPr>
          <a:xfrm>
            <a:off x="3310128" y="3282696"/>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7" name="Shape 24"/>
          <p:cNvSpPr/>
          <p:nvPr/>
        </p:nvSpPr>
        <p:spPr>
          <a:xfrm>
            <a:off x="3246120" y="4169664"/>
            <a:ext cx="0" cy="265176"/>
          </a:xfrm>
          <a:prstGeom prst="line">
            <a:avLst/>
          </a:prstGeom>
          <a:noFill/>
          <a:ln w="15875">
            <a:solidFill>
              <a:srgbClr val="14213D"/>
            </a:solidFill>
            <a:prstDash val="solid"/>
            <a:tailEnd type="triangle"/>
          </a:ln>
        </p:spPr>
        <p:txBody>
          <a:bodyPr/>
          <a:p/>
        </p:txBody>
      </p:sp>
      <p:sp>
        <p:nvSpPr>
          <p:cNvPr id="28" name="Text 25"/>
          <p:cNvSpPr txBox="1"/>
          <p:nvPr/>
        </p:nvSpPr>
        <p:spPr>
          <a:xfrm>
            <a:off x="3310128" y="4151376"/>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9" name="Shape 26"/>
          <p:cNvSpPr/>
          <p:nvPr/>
        </p:nvSpPr>
        <p:spPr>
          <a:xfrm flipH="1">
            <a:off x="1417320" y="2999232"/>
            <a:ext cx="754380" cy="0"/>
          </a:xfrm>
          <a:prstGeom prst="line">
            <a:avLst/>
          </a:prstGeom>
          <a:noFill/>
          <a:ln w="15875">
            <a:solidFill>
              <a:srgbClr val="14213D"/>
            </a:solidFill>
            <a:prstDash val="solid"/>
          </a:ln>
        </p:spPr>
        <p:txBody>
          <a:bodyPr/>
          <a:p/>
        </p:txBody>
      </p:sp>
      <p:sp>
        <p:nvSpPr>
          <p:cNvPr id="30" name="Shape 27"/>
          <p:cNvSpPr/>
          <p:nvPr/>
        </p:nvSpPr>
        <p:spPr>
          <a:xfrm>
            <a:off x="1417320" y="2999232"/>
            <a:ext cx="0" cy="2240280"/>
          </a:xfrm>
          <a:prstGeom prst="line">
            <a:avLst/>
          </a:prstGeom>
          <a:noFill/>
          <a:ln w="15875">
            <a:solidFill>
              <a:srgbClr val="14213D"/>
            </a:solidFill>
            <a:prstDash val="solid"/>
            <a:tailEnd type="triangle"/>
          </a:ln>
        </p:spPr>
        <p:txBody>
          <a:bodyPr/>
          <a:p/>
        </p:txBody>
      </p:sp>
      <p:sp>
        <p:nvSpPr>
          <p:cNvPr id="31" name="Text 28"/>
          <p:cNvSpPr txBox="1"/>
          <p:nvPr/>
        </p:nvSpPr>
        <p:spPr>
          <a:xfrm>
            <a:off x="1623060" y="2752344"/>
            <a:ext cx="502920" cy="219456"/>
          </a:xfrm>
          <a:prstGeom prst="rect">
            <a:avLst/>
          </a:prstGeom>
          <a:noFill/>
          <a:ln/>
        </p:spPr>
        <p:txBody>
          <a:bodyPr wrap="square" lIns="0" tIns="0" rIns="0" bIns="0" rtlCol="0" anchor="ctr"/>
          <a:lstStyle/>
          <a:p>
            <a:pPr algn="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2" name="Shape 29"/>
          <p:cNvSpPr/>
          <p:nvPr/>
        </p:nvSpPr>
        <p:spPr>
          <a:xfrm>
            <a:off x="4320540" y="3867912"/>
            <a:ext cx="800100" cy="0"/>
          </a:xfrm>
          <a:prstGeom prst="line">
            <a:avLst/>
          </a:prstGeom>
          <a:noFill/>
          <a:ln w="15875">
            <a:solidFill>
              <a:srgbClr val="14213D"/>
            </a:solidFill>
            <a:prstDash val="solid"/>
          </a:ln>
        </p:spPr>
        <p:txBody>
          <a:bodyPr/>
          <a:p/>
        </p:txBody>
      </p:sp>
      <p:sp>
        <p:nvSpPr>
          <p:cNvPr id="33" name="Shape 30"/>
          <p:cNvSpPr/>
          <p:nvPr/>
        </p:nvSpPr>
        <p:spPr>
          <a:xfrm>
            <a:off x="5120640" y="3867912"/>
            <a:ext cx="0" cy="1371600"/>
          </a:xfrm>
          <a:prstGeom prst="line">
            <a:avLst/>
          </a:prstGeom>
          <a:noFill/>
          <a:ln w="15875">
            <a:solidFill>
              <a:srgbClr val="14213D"/>
            </a:solidFill>
            <a:prstDash val="solid"/>
            <a:tailEnd type="triangle"/>
          </a:ln>
        </p:spPr>
        <p:txBody>
          <a:bodyPr/>
          <a:p/>
        </p:txBody>
      </p:sp>
      <p:sp>
        <p:nvSpPr>
          <p:cNvPr id="34" name="Text 31"/>
          <p:cNvSpPr txBox="1"/>
          <p:nvPr/>
        </p:nvSpPr>
        <p:spPr>
          <a:xfrm>
            <a:off x="4366260" y="3621024"/>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5" name="Shape 32"/>
          <p:cNvSpPr/>
          <p:nvPr/>
        </p:nvSpPr>
        <p:spPr>
          <a:xfrm>
            <a:off x="4320540" y="4736592"/>
            <a:ext cx="800100" cy="0"/>
          </a:xfrm>
          <a:prstGeom prst="line">
            <a:avLst/>
          </a:prstGeom>
          <a:noFill/>
          <a:ln w="15875">
            <a:solidFill>
              <a:srgbClr val="14213D"/>
            </a:solidFill>
            <a:prstDash val="solid"/>
          </a:ln>
        </p:spPr>
        <p:txBody>
          <a:bodyPr/>
          <a:p/>
        </p:txBody>
      </p:sp>
      <p:sp>
        <p:nvSpPr>
          <p:cNvPr id="36" name="Text 33"/>
          <p:cNvSpPr txBox="1"/>
          <p:nvPr/>
        </p:nvSpPr>
        <p:spPr>
          <a:xfrm>
            <a:off x="4366260" y="4489704"/>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7" name="Shape 34"/>
          <p:cNvSpPr/>
          <p:nvPr/>
        </p:nvSpPr>
        <p:spPr>
          <a:xfrm flipH="1">
            <a:off x="1417320" y="4736592"/>
            <a:ext cx="754380" cy="0"/>
          </a:xfrm>
          <a:prstGeom prst="line">
            <a:avLst/>
          </a:prstGeom>
          <a:noFill/>
          <a:ln w="15875">
            <a:solidFill>
              <a:srgbClr val="14213D"/>
            </a:solidFill>
            <a:prstDash val="solid"/>
          </a:ln>
        </p:spPr>
        <p:txBody>
          <a:bodyPr/>
          <a:p/>
        </p:txBody>
      </p:sp>
      <p:sp>
        <p:nvSpPr>
          <p:cNvPr id="38" name="Text 35"/>
          <p:cNvSpPr txBox="1"/>
          <p:nvPr/>
        </p:nvSpPr>
        <p:spPr>
          <a:xfrm>
            <a:off x="1623060" y="4489704"/>
            <a:ext cx="502920" cy="219456"/>
          </a:xfrm>
          <a:prstGeom prst="rect">
            <a:avLst/>
          </a:prstGeom>
          <a:noFill/>
          <a:ln/>
        </p:spPr>
        <p:txBody>
          <a:bodyPr wrap="square" lIns="0" tIns="0" rIns="0" bIns="0" rtlCol="0" anchor="ctr"/>
          <a:lstStyle/>
          <a:p>
            <a:pPr algn="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9" name="Shape 36"/>
          <p:cNvSpPr/>
          <p:nvPr/>
        </p:nvSpPr>
        <p:spPr>
          <a:xfrm>
            <a:off x="1417320" y="5641848"/>
            <a:ext cx="0" cy="256032"/>
          </a:xfrm>
          <a:prstGeom prst="line">
            <a:avLst/>
          </a:prstGeom>
          <a:noFill/>
          <a:ln w="15875">
            <a:solidFill>
              <a:srgbClr val="14213D"/>
            </a:solidFill>
            <a:prstDash val="solid"/>
          </a:ln>
        </p:spPr>
        <p:txBody>
          <a:bodyPr/>
          <a:p/>
        </p:txBody>
      </p:sp>
      <p:sp>
        <p:nvSpPr>
          <p:cNvPr id="40" name="Shape 37"/>
          <p:cNvSpPr/>
          <p:nvPr/>
        </p:nvSpPr>
        <p:spPr>
          <a:xfrm>
            <a:off x="1417320" y="5897880"/>
            <a:ext cx="1280160" cy="0"/>
          </a:xfrm>
          <a:prstGeom prst="line">
            <a:avLst/>
          </a:prstGeom>
          <a:noFill/>
          <a:ln w="15875">
            <a:solidFill>
              <a:srgbClr val="14213D"/>
            </a:solidFill>
            <a:prstDash val="solid"/>
            <a:tailEnd type="triangle"/>
          </a:ln>
        </p:spPr>
        <p:txBody>
          <a:bodyPr/>
          <a:p/>
        </p:txBody>
      </p:sp>
      <p:sp>
        <p:nvSpPr>
          <p:cNvPr id="41" name="Shape 38"/>
          <p:cNvSpPr/>
          <p:nvPr/>
        </p:nvSpPr>
        <p:spPr>
          <a:xfrm>
            <a:off x="5120640" y="5641848"/>
            <a:ext cx="0" cy="256032"/>
          </a:xfrm>
          <a:prstGeom prst="line">
            <a:avLst/>
          </a:prstGeom>
          <a:noFill/>
          <a:ln w="15875">
            <a:solidFill>
              <a:srgbClr val="14213D"/>
            </a:solidFill>
            <a:prstDash val="solid"/>
          </a:ln>
        </p:spPr>
        <p:txBody>
          <a:bodyPr/>
          <a:p/>
        </p:txBody>
      </p:sp>
      <p:sp>
        <p:nvSpPr>
          <p:cNvPr id="42" name="Shape 39"/>
          <p:cNvSpPr/>
          <p:nvPr/>
        </p:nvSpPr>
        <p:spPr>
          <a:xfrm flipH="1">
            <a:off x="3794760" y="5897880"/>
            <a:ext cx="1325880" cy="0"/>
          </a:xfrm>
          <a:prstGeom prst="line">
            <a:avLst/>
          </a:prstGeom>
          <a:noFill/>
          <a:ln w="15875">
            <a:solidFill>
              <a:srgbClr val="14213D"/>
            </a:solidFill>
            <a:prstDash val="solid"/>
            <a:tailEnd type="triangle"/>
          </a:ln>
        </p:spPr>
        <p:txBody>
          <a:bodyPr/>
          <a:p/>
        </p:txBody>
      </p:sp>
      <p:sp>
        <p:nvSpPr>
          <p:cNvPr id="43" name="Shape 40"/>
          <p:cNvSpPr/>
          <p:nvPr/>
        </p:nvSpPr>
        <p:spPr>
          <a:xfrm>
            <a:off x="6400800" y="1600200"/>
            <a:ext cx="5257800" cy="1188720"/>
          </a:xfrm>
          <a:prstGeom prst="roundRect">
            <a:avLst>
              <a:gd name="adj" fmla="val 6154"/>
            </a:avLst>
          </a:prstGeom>
          <a:solidFill>
            <a:srgbClr val="F4F6FA"/>
          </a:solidFill>
          <a:ln w="9525">
            <a:solidFill>
              <a:srgbClr val="C9D0DD"/>
            </a:solidFill>
            <a:prstDash val="solid"/>
          </a:ln>
        </p:spPr>
        <p:txBody>
          <a:bodyPr/>
          <a:p/>
        </p:txBody>
      </p:sp>
      <p:sp>
        <p:nvSpPr>
          <p:cNvPr id="44" name="Text 41"/>
          <p:cNvSpPr txBox="1"/>
          <p:nvPr/>
        </p:nvSpPr>
        <p:spPr>
          <a:xfrm>
            <a:off x="6583680" y="1691640"/>
            <a:ext cx="489204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The same rule as ONE condition</a:t>
            </a:r>
            <a:endParaRPr lang="en-US" sz="1200" dirty="0"/>
          </a:p>
        </p:txBody>
      </p:sp>
      <p:sp>
        <p:nvSpPr>
          <p:cNvPr id="45" name="Text 42"/>
          <p:cNvSpPr txBox="1"/>
          <p:nvPr/>
        </p:nvSpPr>
        <p:spPr>
          <a:xfrm>
            <a:off x="6583680" y="2011680"/>
            <a:ext cx="4892040" cy="68580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(year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4 = 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year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100 ≠ 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OR</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year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400 = 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THEN</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0" y="2926080"/>
          <a:ext cx="5257800" cy="914400"/>
        </p:xfrm>
        <a:graphic>
          <a:graphicData uri="http://schemas.openxmlformats.org/drawingml/2006/table">
            <a:tbl>
              <a:tblPr/>
              <a:tblGrid>
                <a:gridCol w="1051560"/>
                <a:gridCol w="1005840"/>
                <a:gridCol w="1097280"/>
                <a:gridCol w="1097280"/>
                <a:gridCol w="1005840"/>
              </a:tblGrid>
              <a:tr h="32918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mod 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mod 100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mod 400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leap?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29184">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1900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7" name="Shape 43"/>
          <p:cNvSpPr/>
          <p:nvPr/>
        </p:nvSpPr>
        <p:spPr>
          <a:xfrm>
            <a:off x="6400800" y="4754880"/>
            <a:ext cx="5257800" cy="1344168"/>
          </a:xfrm>
          <a:prstGeom prst="roundRect">
            <a:avLst>
              <a:gd name="adj" fmla="val 6803"/>
            </a:avLst>
          </a:prstGeom>
          <a:solidFill>
            <a:srgbClr val="0B0F19"/>
          </a:solidFill>
          <a:ln w="12700">
            <a:solidFill>
              <a:srgbClr val="2A3654"/>
            </a:solidFill>
            <a:prstDash val="solid"/>
          </a:ln>
        </p:spPr>
        <p:txBody>
          <a:bodyPr/>
          <a:p/>
        </p:txBody>
      </p:sp>
      <p:sp>
        <p:nvSpPr>
          <p:cNvPr id="48" name="Shape 44"/>
          <p:cNvSpPr/>
          <p:nvPr/>
        </p:nvSpPr>
        <p:spPr>
          <a:xfrm>
            <a:off x="6583680" y="4882896"/>
            <a:ext cx="118872" cy="118872"/>
          </a:xfrm>
          <a:prstGeom prst="ellipse">
            <a:avLst/>
          </a:prstGeom>
          <a:solidFill>
            <a:srgbClr val="FF5F57"/>
          </a:solidFill>
          <a:ln w="12700">
            <a:solidFill>
              <a:srgbClr val="FF5F57"/>
            </a:solidFill>
            <a:prstDash val="solid"/>
          </a:ln>
        </p:spPr>
        <p:txBody>
          <a:bodyPr/>
          <a:p/>
        </p:txBody>
      </p:sp>
      <p:sp>
        <p:nvSpPr>
          <p:cNvPr id="49" name="Shape 45"/>
          <p:cNvSpPr/>
          <p:nvPr/>
        </p:nvSpPr>
        <p:spPr>
          <a:xfrm>
            <a:off x="6812280" y="4882896"/>
            <a:ext cx="118872" cy="118872"/>
          </a:xfrm>
          <a:prstGeom prst="ellipse">
            <a:avLst/>
          </a:prstGeom>
          <a:solidFill>
            <a:srgbClr val="FEBC2E"/>
          </a:solidFill>
          <a:ln w="12700">
            <a:solidFill>
              <a:srgbClr val="FEBC2E"/>
            </a:solidFill>
            <a:prstDash val="solid"/>
          </a:ln>
        </p:spPr>
        <p:txBody>
          <a:bodyPr/>
          <a:p/>
        </p:txBody>
      </p:sp>
      <p:sp>
        <p:nvSpPr>
          <p:cNvPr id="50" name="Shape 46"/>
          <p:cNvSpPr/>
          <p:nvPr/>
        </p:nvSpPr>
        <p:spPr>
          <a:xfrm>
            <a:off x="7040880" y="4882896"/>
            <a:ext cx="118872" cy="118872"/>
          </a:xfrm>
          <a:prstGeom prst="ellipse">
            <a:avLst/>
          </a:prstGeom>
          <a:solidFill>
            <a:srgbClr val="28C840"/>
          </a:solidFill>
          <a:ln w="12700">
            <a:solidFill>
              <a:srgbClr val="28C840"/>
            </a:solidFill>
            <a:prstDash val="solid"/>
          </a:ln>
        </p:spPr>
        <p:txBody>
          <a:bodyPr/>
          <a:p/>
        </p:txBody>
      </p:sp>
      <p:sp>
        <p:nvSpPr>
          <p:cNvPr id="51" name="Text 47"/>
          <p:cNvSpPr txBox="1"/>
          <p:nvPr/>
        </p:nvSpPr>
        <p:spPr>
          <a:xfrm>
            <a:off x="7315200" y="4828032"/>
            <a:ext cx="4160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code/02_06_LeapYear</a:t>
            </a:r>
            <a:endParaRPr lang="en-US" sz="1000" dirty="0"/>
          </a:p>
        </p:txBody>
      </p:sp>
      <p:sp>
        <p:nvSpPr>
          <p:cNvPr id="52" name="Text 48"/>
          <p:cNvSpPr txBox="1"/>
          <p:nvPr/>
        </p:nvSpPr>
        <p:spPr>
          <a:xfrm>
            <a:off x="6629400" y="5138928"/>
            <a:ext cx="4800600" cy="84124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Year: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1900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1900 is not a leap year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Single-condition check: False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REPETITION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Sum 1 + 2 + … + 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155448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60020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417320" y="2048256"/>
            <a:ext cx="146304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463040" y="204825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280160" y="2551176"/>
            <a:ext cx="1737360" cy="384048"/>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325880" y="2551176"/>
            <a:ext cx="164592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sum ← 0,  i ← 1</a:t>
            </a:r>
            <a:endParaRPr lang="en-US" sz="1300" dirty="0"/>
          </a:p>
        </p:txBody>
      </p:sp>
      <p:sp>
        <p:nvSpPr>
          <p:cNvPr id="13" name="Shape 10"/>
          <p:cNvSpPr/>
          <p:nvPr/>
        </p:nvSpPr>
        <p:spPr>
          <a:xfrm>
            <a:off x="1417320" y="3291840"/>
            <a:ext cx="1463040" cy="640080"/>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463040" y="3291840"/>
            <a:ext cx="13716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 ≤ N ?</a:t>
            </a:r>
            <a:endParaRPr lang="en-US" sz="1300" dirty="0"/>
          </a:p>
        </p:txBody>
      </p:sp>
      <p:sp>
        <p:nvSpPr>
          <p:cNvPr id="15" name="Shape 12"/>
          <p:cNvSpPr/>
          <p:nvPr/>
        </p:nvSpPr>
        <p:spPr>
          <a:xfrm>
            <a:off x="1280160" y="4288536"/>
            <a:ext cx="1737360" cy="384048"/>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1325880" y="4288536"/>
            <a:ext cx="164592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sum ← sum + i</a:t>
            </a:r>
            <a:endParaRPr lang="en-US" sz="1300" dirty="0"/>
          </a:p>
        </p:txBody>
      </p:sp>
      <p:sp>
        <p:nvSpPr>
          <p:cNvPr id="17" name="Shape 14"/>
          <p:cNvSpPr/>
          <p:nvPr/>
        </p:nvSpPr>
        <p:spPr>
          <a:xfrm>
            <a:off x="1280160" y="4882896"/>
            <a:ext cx="1737360" cy="384048"/>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1325880" y="4882896"/>
            <a:ext cx="164592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 ← i + 1</a:t>
            </a:r>
            <a:endParaRPr lang="en-US" sz="1300" dirty="0"/>
          </a:p>
        </p:txBody>
      </p:sp>
      <p:sp>
        <p:nvSpPr>
          <p:cNvPr id="19" name="Shape 16"/>
          <p:cNvSpPr/>
          <p:nvPr/>
        </p:nvSpPr>
        <p:spPr>
          <a:xfrm>
            <a:off x="3383280" y="4288536"/>
            <a:ext cx="1371600" cy="384048"/>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3429000" y="4288536"/>
            <a:ext cx="128016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sum</a:t>
            </a:r>
            <a:endParaRPr lang="en-US" sz="1300" dirty="0"/>
          </a:p>
        </p:txBody>
      </p:sp>
      <p:sp>
        <p:nvSpPr>
          <p:cNvPr id="21" name="Shape 18"/>
          <p:cNvSpPr/>
          <p:nvPr/>
        </p:nvSpPr>
        <p:spPr>
          <a:xfrm>
            <a:off x="3520440" y="4901184"/>
            <a:ext cx="1097280" cy="347472"/>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3566160" y="4901184"/>
            <a:ext cx="100584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2148840" y="1911096"/>
            <a:ext cx="0" cy="137160"/>
          </a:xfrm>
          <a:prstGeom prst="line">
            <a:avLst/>
          </a:prstGeom>
          <a:noFill/>
          <a:ln w="15875">
            <a:solidFill>
              <a:srgbClr val="14213D"/>
            </a:solidFill>
            <a:prstDash val="solid"/>
            <a:tailEnd type="triangle"/>
          </a:ln>
        </p:spPr>
        <p:txBody>
          <a:bodyPr/>
          <a:p/>
        </p:txBody>
      </p:sp>
      <p:sp>
        <p:nvSpPr>
          <p:cNvPr id="24" name="Shape 21"/>
          <p:cNvSpPr/>
          <p:nvPr/>
        </p:nvSpPr>
        <p:spPr>
          <a:xfrm>
            <a:off x="2148840" y="2432304"/>
            <a:ext cx="0" cy="118872"/>
          </a:xfrm>
          <a:prstGeom prst="line">
            <a:avLst/>
          </a:prstGeom>
          <a:noFill/>
          <a:ln w="15875">
            <a:solidFill>
              <a:srgbClr val="14213D"/>
            </a:solidFill>
            <a:prstDash val="solid"/>
            <a:tailEnd type="triangle"/>
          </a:ln>
        </p:spPr>
        <p:txBody>
          <a:bodyPr/>
          <a:p/>
        </p:txBody>
      </p:sp>
      <p:sp>
        <p:nvSpPr>
          <p:cNvPr id="25" name="Shape 22"/>
          <p:cNvSpPr/>
          <p:nvPr/>
        </p:nvSpPr>
        <p:spPr>
          <a:xfrm>
            <a:off x="2148840" y="2935224"/>
            <a:ext cx="0" cy="356616"/>
          </a:xfrm>
          <a:prstGeom prst="line">
            <a:avLst/>
          </a:prstGeom>
          <a:noFill/>
          <a:ln w="15875">
            <a:solidFill>
              <a:srgbClr val="14213D"/>
            </a:solidFill>
            <a:prstDash val="solid"/>
            <a:tailEnd type="triangle"/>
          </a:ln>
        </p:spPr>
        <p:txBody>
          <a:bodyPr/>
          <a:p/>
        </p:txBody>
      </p:sp>
      <p:sp>
        <p:nvSpPr>
          <p:cNvPr id="26" name="Shape 23"/>
          <p:cNvSpPr/>
          <p:nvPr/>
        </p:nvSpPr>
        <p:spPr>
          <a:xfrm>
            <a:off x="2148840" y="3931920"/>
            <a:ext cx="0" cy="356616"/>
          </a:xfrm>
          <a:prstGeom prst="line">
            <a:avLst/>
          </a:prstGeom>
          <a:noFill/>
          <a:ln w="15875">
            <a:solidFill>
              <a:srgbClr val="14213D"/>
            </a:solidFill>
            <a:prstDash val="solid"/>
            <a:tailEnd type="triangle"/>
          </a:ln>
        </p:spPr>
        <p:txBody>
          <a:bodyPr/>
          <a:p/>
        </p:txBody>
      </p:sp>
      <p:sp>
        <p:nvSpPr>
          <p:cNvPr id="27" name="Text 24"/>
          <p:cNvSpPr txBox="1"/>
          <p:nvPr/>
        </p:nvSpPr>
        <p:spPr>
          <a:xfrm>
            <a:off x="2212848" y="391363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8" name="Shape 25"/>
          <p:cNvSpPr/>
          <p:nvPr/>
        </p:nvSpPr>
        <p:spPr>
          <a:xfrm>
            <a:off x="2148840" y="4672584"/>
            <a:ext cx="0" cy="210312"/>
          </a:xfrm>
          <a:prstGeom prst="line">
            <a:avLst/>
          </a:prstGeom>
          <a:noFill/>
          <a:ln w="15875">
            <a:solidFill>
              <a:srgbClr val="14213D"/>
            </a:solidFill>
            <a:prstDash val="solid"/>
            <a:tailEnd type="triangle"/>
          </a:ln>
        </p:spPr>
        <p:txBody>
          <a:bodyPr/>
          <a:p/>
        </p:txBody>
      </p:sp>
      <p:sp>
        <p:nvSpPr>
          <p:cNvPr id="29" name="Shape 26"/>
          <p:cNvSpPr/>
          <p:nvPr/>
        </p:nvSpPr>
        <p:spPr>
          <a:xfrm>
            <a:off x="2148840" y="5266944"/>
            <a:ext cx="0" cy="219456"/>
          </a:xfrm>
          <a:prstGeom prst="line">
            <a:avLst/>
          </a:prstGeom>
          <a:noFill/>
          <a:ln w="15875">
            <a:solidFill>
              <a:srgbClr val="14213D"/>
            </a:solidFill>
            <a:prstDash val="solid"/>
          </a:ln>
        </p:spPr>
        <p:txBody>
          <a:bodyPr/>
          <a:p/>
        </p:txBody>
      </p:sp>
      <p:sp>
        <p:nvSpPr>
          <p:cNvPr id="30" name="Shape 27"/>
          <p:cNvSpPr/>
          <p:nvPr/>
        </p:nvSpPr>
        <p:spPr>
          <a:xfrm flipH="1">
            <a:off x="868680" y="5486400"/>
            <a:ext cx="1280160" cy="0"/>
          </a:xfrm>
          <a:prstGeom prst="line">
            <a:avLst/>
          </a:prstGeom>
          <a:noFill/>
          <a:ln w="15875">
            <a:solidFill>
              <a:srgbClr val="14213D"/>
            </a:solidFill>
            <a:prstDash val="solid"/>
          </a:ln>
        </p:spPr>
        <p:txBody>
          <a:bodyPr/>
          <a:p/>
        </p:txBody>
      </p:sp>
      <p:sp>
        <p:nvSpPr>
          <p:cNvPr id="31" name="Shape 28"/>
          <p:cNvSpPr/>
          <p:nvPr/>
        </p:nvSpPr>
        <p:spPr>
          <a:xfrm flipV="1">
            <a:off x="868680" y="3108960"/>
            <a:ext cx="0" cy="2377440"/>
          </a:xfrm>
          <a:prstGeom prst="line">
            <a:avLst/>
          </a:prstGeom>
          <a:noFill/>
          <a:ln w="15875">
            <a:solidFill>
              <a:srgbClr val="14213D"/>
            </a:solidFill>
            <a:prstDash val="solid"/>
          </a:ln>
        </p:spPr>
        <p:txBody>
          <a:bodyPr/>
          <a:p/>
        </p:txBody>
      </p:sp>
      <p:sp>
        <p:nvSpPr>
          <p:cNvPr id="32" name="Shape 29"/>
          <p:cNvSpPr/>
          <p:nvPr/>
        </p:nvSpPr>
        <p:spPr>
          <a:xfrm>
            <a:off x="868680" y="3108960"/>
            <a:ext cx="1280160" cy="0"/>
          </a:xfrm>
          <a:prstGeom prst="line">
            <a:avLst/>
          </a:prstGeom>
          <a:noFill/>
          <a:ln w="15875">
            <a:solidFill>
              <a:srgbClr val="14213D"/>
            </a:solidFill>
            <a:prstDash val="solid"/>
            <a:tailEnd type="triangle"/>
          </a:ln>
        </p:spPr>
        <p:txBody>
          <a:bodyPr/>
          <a:p/>
        </p:txBody>
      </p:sp>
      <p:sp>
        <p:nvSpPr>
          <p:cNvPr id="33" name="Shape 30"/>
          <p:cNvSpPr/>
          <p:nvPr/>
        </p:nvSpPr>
        <p:spPr>
          <a:xfrm>
            <a:off x="2880360" y="3611880"/>
            <a:ext cx="1188720" cy="0"/>
          </a:xfrm>
          <a:prstGeom prst="line">
            <a:avLst/>
          </a:prstGeom>
          <a:noFill/>
          <a:ln w="15875">
            <a:solidFill>
              <a:srgbClr val="14213D"/>
            </a:solidFill>
            <a:prstDash val="solid"/>
          </a:ln>
        </p:spPr>
        <p:txBody>
          <a:bodyPr/>
          <a:p/>
        </p:txBody>
      </p:sp>
      <p:sp>
        <p:nvSpPr>
          <p:cNvPr id="34" name="Shape 31"/>
          <p:cNvSpPr/>
          <p:nvPr/>
        </p:nvSpPr>
        <p:spPr>
          <a:xfrm>
            <a:off x="4069080" y="3611880"/>
            <a:ext cx="0" cy="676656"/>
          </a:xfrm>
          <a:prstGeom prst="line">
            <a:avLst/>
          </a:prstGeom>
          <a:noFill/>
          <a:ln w="15875">
            <a:solidFill>
              <a:srgbClr val="14213D"/>
            </a:solidFill>
            <a:prstDash val="solid"/>
            <a:tailEnd type="triangle"/>
          </a:ln>
        </p:spPr>
        <p:txBody>
          <a:bodyPr/>
          <a:p/>
        </p:txBody>
      </p:sp>
      <p:sp>
        <p:nvSpPr>
          <p:cNvPr id="35" name="Text 32"/>
          <p:cNvSpPr txBox="1"/>
          <p:nvPr/>
        </p:nvSpPr>
        <p:spPr>
          <a:xfrm>
            <a:off x="2926080" y="33649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6" name="Shape 33"/>
          <p:cNvSpPr/>
          <p:nvPr/>
        </p:nvSpPr>
        <p:spPr>
          <a:xfrm>
            <a:off x="4069080" y="4672584"/>
            <a:ext cx="0" cy="228600"/>
          </a:xfrm>
          <a:prstGeom prst="line">
            <a:avLst/>
          </a:prstGeom>
          <a:noFill/>
          <a:ln w="15875">
            <a:solidFill>
              <a:srgbClr val="14213D"/>
            </a:solidFill>
            <a:prstDash val="solid"/>
            <a:tailEnd type="triangle"/>
          </a:ln>
        </p:spPr>
        <p:txBody>
          <a:bodyPr/>
          <a:p/>
        </p:txBody>
      </p:sp>
      <p:sp>
        <p:nvSpPr>
          <p:cNvPr id="37" name="Shape 34"/>
          <p:cNvSpPr/>
          <p:nvPr/>
        </p:nvSpPr>
        <p:spPr>
          <a:xfrm>
            <a:off x="5074920" y="1600200"/>
            <a:ext cx="6583680" cy="3291840"/>
          </a:xfrm>
          <a:prstGeom prst="roundRect">
            <a:avLst>
              <a:gd name="adj" fmla="val 2778"/>
            </a:avLst>
          </a:prstGeom>
          <a:solidFill>
            <a:srgbClr val="0F1729"/>
          </a:solidFill>
          <a:ln w="12700">
            <a:solidFill>
              <a:srgbClr val="0F1729"/>
            </a:solidFill>
            <a:prstDash val="solid"/>
          </a:ln>
        </p:spPr>
        <p:txBody>
          <a:bodyPr/>
          <a:p/>
        </p:txBody>
      </p:sp>
      <p:sp>
        <p:nvSpPr>
          <p:cNvPr id="38" name="Text 35"/>
          <p:cNvSpPr txBox="1"/>
          <p:nvPr/>
        </p:nvSpPr>
        <p:spPr>
          <a:xfrm>
            <a:off x="5303520" y="170992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code/02_07_SumToN/Program.cs</a:t>
            </a:r>
            <a:endParaRPr lang="en-US" sz="1100" dirty="0"/>
          </a:p>
        </p:txBody>
      </p:sp>
      <p:sp>
        <p:nvSpPr>
          <p:cNvPr id="39" name="Text 36"/>
          <p:cNvSpPr txBox="1"/>
          <p:nvPr/>
        </p:nvSpPr>
        <p:spPr>
          <a:xfrm>
            <a:off x="5303520" y="2011680"/>
            <a:ext cx="6126480" cy="2770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decision box: "yes" enters the loop body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sum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update: without it the loop never ends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$"Sum 1..{n} = {sum}"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40" name="Shape 37"/>
          <p:cNvSpPr/>
          <p:nvPr/>
        </p:nvSpPr>
        <p:spPr>
          <a:xfrm>
            <a:off x="5074920" y="5029200"/>
            <a:ext cx="3200400" cy="1069848"/>
          </a:xfrm>
          <a:prstGeom prst="roundRect">
            <a:avLst>
              <a:gd name="adj" fmla="val 8547"/>
            </a:avLst>
          </a:prstGeom>
          <a:solidFill>
            <a:srgbClr val="0B0F19"/>
          </a:solidFill>
          <a:ln w="12700">
            <a:solidFill>
              <a:srgbClr val="2A3654"/>
            </a:solidFill>
            <a:prstDash val="solid"/>
          </a:ln>
        </p:spPr>
        <p:txBody>
          <a:bodyPr/>
          <a:p/>
        </p:txBody>
      </p:sp>
      <p:sp>
        <p:nvSpPr>
          <p:cNvPr id="41" name="Shape 38"/>
          <p:cNvSpPr/>
          <p:nvPr/>
        </p:nvSpPr>
        <p:spPr>
          <a:xfrm>
            <a:off x="5257800" y="5157216"/>
            <a:ext cx="118872" cy="118872"/>
          </a:xfrm>
          <a:prstGeom prst="ellipse">
            <a:avLst/>
          </a:prstGeom>
          <a:solidFill>
            <a:srgbClr val="FF5F57"/>
          </a:solidFill>
          <a:ln w="12700">
            <a:solidFill>
              <a:srgbClr val="FF5F57"/>
            </a:solidFill>
            <a:prstDash val="solid"/>
          </a:ln>
        </p:spPr>
        <p:txBody>
          <a:bodyPr/>
          <a:p/>
        </p:txBody>
      </p:sp>
      <p:sp>
        <p:nvSpPr>
          <p:cNvPr id="42" name="Shape 39"/>
          <p:cNvSpPr/>
          <p:nvPr/>
        </p:nvSpPr>
        <p:spPr>
          <a:xfrm>
            <a:off x="5486400" y="5157216"/>
            <a:ext cx="118872" cy="118872"/>
          </a:xfrm>
          <a:prstGeom prst="ellipse">
            <a:avLst/>
          </a:prstGeom>
          <a:solidFill>
            <a:srgbClr val="FEBC2E"/>
          </a:solidFill>
          <a:ln w="12700">
            <a:solidFill>
              <a:srgbClr val="FEBC2E"/>
            </a:solidFill>
            <a:prstDash val="solid"/>
          </a:ln>
        </p:spPr>
        <p:txBody>
          <a:bodyPr/>
          <a:p/>
        </p:txBody>
      </p:sp>
      <p:sp>
        <p:nvSpPr>
          <p:cNvPr id="43" name="Shape 40"/>
          <p:cNvSpPr/>
          <p:nvPr/>
        </p:nvSpPr>
        <p:spPr>
          <a:xfrm>
            <a:off x="5715000" y="5157216"/>
            <a:ext cx="118872" cy="118872"/>
          </a:xfrm>
          <a:prstGeom prst="ellipse">
            <a:avLst/>
          </a:prstGeom>
          <a:solidFill>
            <a:srgbClr val="28C840"/>
          </a:solidFill>
          <a:ln w="12700">
            <a:solidFill>
              <a:srgbClr val="28C840"/>
            </a:solidFill>
            <a:prstDash val="solid"/>
          </a:ln>
        </p:spPr>
        <p:txBody>
          <a:bodyPr/>
          <a:p/>
        </p:txBody>
      </p:sp>
      <p:sp>
        <p:nvSpPr>
          <p:cNvPr id="44" name="Text 41"/>
          <p:cNvSpPr txBox="1"/>
          <p:nvPr/>
        </p:nvSpPr>
        <p:spPr>
          <a:xfrm>
            <a:off x="5989320" y="5102352"/>
            <a:ext cx="2103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45" name="Text 42"/>
          <p:cNvSpPr txBox="1"/>
          <p:nvPr/>
        </p:nvSpPr>
        <p:spPr>
          <a:xfrm>
            <a:off x="5303520" y="5413248"/>
            <a:ext cx="2743200" cy="5669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Sum 1..100 = 5050</a:t>
            </a:r>
            <a:endParaRPr lang="en-US" sz="1300" dirty="0"/>
          </a:p>
        </p:txBody>
      </p:sp>
      <p:sp>
        <p:nvSpPr>
          <p:cNvPr id="46" name="Shape 43"/>
          <p:cNvSpPr/>
          <p:nvPr/>
        </p:nvSpPr>
        <p:spPr>
          <a:xfrm>
            <a:off x="8458200" y="5029200"/>
            <a:ext cx="3200400" cy="1069848"/>
          </a:xfrm>
          <a:prstGeom prst="roundRect">
            <a:avLst>
              <a:gd name="adj" fmla="val 8547"/>
            </a:avLst>
          </a:prstGeom>
          <a:solidFill>
            <a:srgbClr val="0B0F19"/>
          </a:solidFill>
          <a:ln w="12700">
            <a:solidFill>
              <a:srgbClr val="2A3654"/>
            </a:solidFill>
            <a:prstDash val="solid"/>
          </a:ln>
        </p:spPr>
        <p:txBody>
          <a:bodyPr/>
          <a:p/>
        </p:txBody>
      </p:sp>
      <p:sp>
        <p:nvSpPr>
          <p:cNvPr id="47" name="Shape 44"/>
          <p:cNvSpPr/>
          <p:nvPr/>
        </p:nvSpPr>
        <p:spPr>
          <a:xfrm>
            <a:off x="8641080" y="5157216"/>
            <a:ext cx="118872" cy="118872"/>
          </a:xfrm>
          <a:prstGeom prst="ellipse">
            <a:avLst/>
          </a:prstGeom>
          <a:solidFill>
            <a:srgbClr val="FF5F57"/>
          </a:solidFill>
          <a:ln w="12700">
            <a:solidFill>
              <a:srgbClr val="FF5F57"/>
            </a:solidFill>
            <a:prstDash val="solid"/>
          </a:ln>
        </p:spPr>
        <p:txBody>
          <a:bodyPr/>
          <a:p/>
        </p:txBody>
      </p:sp>
      <p:sp>
        <p:nvSpPr>
          <p:cNvPr id="48" name="Shape 45"/>
          <p:cNvSpPr/>
          <p:nvPr/>
        </p:nvSpPr>
        <p:spPr>
          <a:xfrm>
            <a:off x="8869680" y="5157216"/>
            <a:ext cx="118872" cy="118872"/>
          </a:xfrm>
          <a:prstGeom prst="ellipse">
            <a:avLst/>
          </a:prstGeom>
          <a:solidFill>
            <a:srgbClr val="FEBC2E"/>
          </a:solidFill>
          <a:ln w="12700">
            <a:solidFill>
              <a:srgbClr val="FEBC2E"/>
            </a:solidFill>
            <a:prstDash val="solid"/>
          </a:ln>
        </p:spPr>
        <p:txBody>
          <a:bodyPr/>
          <a:p/>
        </p:txBody>
      </p:sp>
      <p:sp>
        <p:nvSpPr>
          <p:cNvPr id="49" name="Shape 46"/>
          <p:cNvSpPr/>
          <p:nvPr/>
        </p:nvSpPr>
        <p:spPr>
          <a:xfrm>
            <a:off x="9098280" y="5157216"/>
            <a:ext cx="118872" cy="118872"/>
          </a:xfrm>
          <a:prstGeom prst="ellipse">
            <a:avLst/>
          </a:prstGeom>
          <a:solidFill>
            <a:srgbClr val="28C840"/>
          </a:solidFill>
          <a:ln w="12700">
            <a:solidFill>
              <a:srgbClr val="28C840"/>
            </a:solidFill>
            <a:prstDash val="solid"/>
          </a:ln>
        </p:spPr>
        <p:txBody>
          <a:bodyPr/>
          <a:p/>
        </p:txBody>
      </p:sp>
      <p:sp>
        <p:nvSpPr>
          <p:cNvPr id="50" name="Text 47"/>
          <p:cNvSpPr txBox="1"/>
          <p:nvPr/>
        </p:nvSpPr>
        <p:spPr>
          <a:xfrm>
            <a:off x="9372600" y="5102352"/>
            <a:ext cx="2103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edge case</a:t>
            </a:r>
            <a:endParaRPr lang="en-US" sz="1000" dirty="0"/>
          </a:p>
        </p:txBody>
      </p:sp>
      <p:sp>
        <p:nvSpPr>
          <p:cNvPr id="51" name="Text 48"/>
          <p:cNvSpPr txBox="1"/>
          <p:nvPr/>
        </p:nvSpPr>
        <p:spPr>
          <a:xfrm>
            <a:off x="8686800" y="5413248"/>
            <a:ext cx="2743200" cy="5669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Sum 1..0 = 0</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REPETITION WITH A PRODUCT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Factorial  N! = 1 × 2 × … × 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155448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60020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417320" y="2048256"/>
            <a:ext cx="146304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463040" y="204825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097280" y="2551176"/>
            <a:ext cx="2103120" cy="384048"/>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143000" y="2551176"/>
            <a:ext cx="20116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factorial ← 1,  i ← 1</a:t>
            </a:r>
            <a:endParaRPr lang="en-US" sz="1300" dirty="0"/>
          </a:p>
        </p:txBody>
      </p:sp>
      <p:sp>
        <p:nvSpPr>
          <p:cNvPr id="13" name="Shape 10"/>
          <p:cNvSpPr/>
          <p:nvPr/>
        </p:nvSpPr>
        <p:spPr>
          <a:xfrm>
            <a:off x="1417320" y="3291840"/>
            <a:ext cx="1463040" cy="640080"/>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463040" y="3291840"/>
            <a:ext cx="13716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 ≤ N ?</a:t>
            </a:r>
            <a:endParaRPr lang="en-US" sz="1300" dirty="0"/>
          </a:p>
        </p:txBody>
      </p:sp>
      <p:sp>
        <p:nvSpPr>
          <p:cNvPr id="15" name="Shape 12"/>
          <p:cNvSpPr/>
          <p:nvPr/>
        </p:nvSpPr>
        <p:spPr>
          <a:xfrm>
            <a:off x="1097280" y="4288536"/>
            <a:ext cx="2103120" cy="384048"/>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1143000" y="4288536"/>
            <a:ext cx="20116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factorial ← factorial × i</a:t>
            </a:r>
            <a:endParaRPr lang="en-US" sz="1300" dirty="0"/>
          </a:p>
        </p:txBody>
      </p:sp>
      <p:sp>
        <p:nvSpPr>
          <p:cNvPr id="17" name="Shape 14"/>
          <p:cNvSpPr/>
          <p:nvPr/>
        </p:nvSpPr>
        <p:spPr>
          <a:xfrm>
            <a:off x="1097280" y="4882896"/>
            <a:ext cx="2103120" cy="384048"/>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1143000" y="4882896"/>
            <a:ext cx="20116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 ← i + 1</a:t>
            </a:r>
            <a:endParaRPr lang="en-US" sz="1300" dirty="0"/>
          </a:p>
        </p:txBody>
      </p:sp>
      <p:sp>
        <p:nvSpPr>
          <p:cNvPr id="19" name="Shape 16"/>
          <p:cNvSpPr/>
          <p:nvPr/>
        </p:nvSpPr>
        <p:spPr>
          <a:xfrm>
            <a:off x="3451860" y="3648456"/>
            <a:ext cx="1600200" cy="384048"/>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3497580" y="3648456"/>
            <a:ext cx="150876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factorial</a:t>
            </a:r>
            <a:endParaRPr lang="en-US" sz="1300" dirty="0"/>
          </a:p>
        </p:txBody>
      </p:sp>
      <p:sp>
        <p:nvSpPr>
          <p:cNvPr id="21" name="Shape 18"/>
          <p:cNvSpPr/>
          <p:nvPr/>
        </p:nvSpPr>
        <p:spPr>
          <a:xfrm>
            <a:off x="3703320" y="4261104"/>
            <a:ext cx="1097280" cy="347472"/>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3749040" y="4261104"/>
            <a:ext cx="100584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2148840" y="1911096"/>
            <a:ext cx="0" cy="137160"/>
          </a:xfrm>
          <a:prstGeom prst="line">
            <a:avLst/>
          </a:prstGeom>
          <a:noFill/>
          <a:ln w="15875">
            <a:solidFill>
              <a:srgbClr val="14213D"/>
            </a:solidFill>
            <a:prstDash val="solid"/>
            <a:tailEnd type="triangle"/>
          </a:ln>
        </p:spPr>
        <p:txBody>
          <a:bodyPr/>
          <a:p/>
        </p:txBody>
      </p:sp>
      <p:sp>
        <p:nvSpPr>
          <p:cNvPr id="24" name="Shape 21"/>
          <p:cNvSpPr/>
          <p:nvPr/>
        </p:nvSpPr>
        <p:spPr>
          <a:xfrm>
            <a:off x="2148840" y="2432304"/>
            <a:ext cx="0" cy="118872"/>
          </a:xfrm>
          <a:prstGeom prst="line">
            <a:avLst/>
          </a:prstGeom>
          <a:noFill/>
          <a:ln w="15875">
            <a:solidFill>
              <a:srgbClr val="14213D"/>
            </a:solidFill>
            <a:prstDash val="solid"/>
            <a:tailEnd type="triangle"/>
          </a:ln>
        </p:spPr>
        <p:txBody>
          <a:bodyPr/>
          <a:p/>
        </p:txBody>
      </p:sp>
      <p:sp>
        <p:nvSpPr>
          <p:cNvPr id="25" name="Shape 22"/>
          <p:cNvSpPr/>
          <p:nvPr/>
        </p:nvSpPr>
        <p:spPr>
          <a:xfrm>
            <a:off x="2148840" y="2935224"/>
            <a:ext cx="0" cy="356616"/>
          </a:xfrm>
          <a:prstGeom prst="line">
            <a:avLst/>
          </a:prstGeom>
          <a:noFill/>
          <a:ln w="15875">
            <a:solidFill>
              <a:srgbClr val="14213D"/>
            </a:solidFill>
            <a:prstDash val="solid"/>
            <a:tailEnd type="triangle"/>
          </a:ln>
        </p:spPr>
        <p:txBody>
          <a:bodyPr/>
          <a:p/>
        </p:txBody>
      </p:sp>
      <p:sp>
        <p:nvSpPr>
          <p:cNvPr id="26" name="Shape 23"/>
          <p:cNvSpPr/>
          <p:nvPr/>
        </p:nvSpPr>
        <p:spPr>
          <a:xfrm>
            <a:off x="2148840" y="3931920"/>
            <a:ext cx="0" cy="356616"/>
          </a:xfrm>
          <a:prstGeom prst="line">
            <a:avLst/>
          </a:prstGeom>
          <a:noFill/>
          <a:ln w="15875">
            <a:solidFill>
              <a:srgbClr val="14213D"/>
            </a:solidFill>
            <a:prstDash val="solid"/>
            <a:tailEnd type="triangle"/>
          </a:ln>
        </p:spPr>
        <p:txBody>
          <a:bodyPr/>
          <a:p/>
        </p:txBody>
      </p:sp>
      <p:sp>
        <p:nvSpPr>
          <p:cNvPr id="27" name="Text 24"/>
          <p:cNvSpPr txBox="1"/>
          <p:nvPr/>
        </p:nvSpPr>
        <p:spPr>
          <a:xfrm>
            <a:off x="2212848" y="391363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8" name="Shape 25"/>
          <p:cNvSpPr/>
          <p:nvPr/>
        </p:nvSpPr>
        <p:spPr>
          <a:xfrm>
            <a:off x="2148840" y="4672584"/>
            <a:ext cx="0" cy="210312"/>
          </a:xfrm>
          <a:prstGeom prst="line">
            <a:avLst/>
          </a:prstGeom>
          <a:noFill/>
          <a:ln w="15875">
            <a:solidFill>
              <a:srgbClr val="14213D"/>
            </a:solidFill>
            <a:prstDash val="solid"/>
            <a:tailEnd type="triangle"/>
          </a:ln>
        </p:spPr>
        <p:txBody>
          <a:bodyPr/>
          <a:p/>
        </p:txBody>
      </p:sp>
      <p:sp>
        <p:nvSpPr>
          <p:cNvPr id="29" name="Shape 26"/>
          <p:cNvSpPr/>
          <p:nvPr/>
        </p:nvSpPr>
        <p:spPr>
          <a:xfrm>
            <a:off x="2148840" y="5266944"/>
            <a:ext cx="0" cy="219456"/>
          </a:xfrm>
          <a:prstGeom prst="line">
            <a:avLst/>
          </a:prstGeom>
          <a:noFill/>
          <a:ln w="15875">
            <a:solidFill>
              <a:srgbClr val="14213D"/>
            </a:solidFill>
            <a:prstDash val="solid"/>
          </a:ln>
        </p:spPr>
        <p:txBody>
          <a:bodyPr/>
          <a:p/>
        </p:txBody>
      </p:sp>
      <p:sp>
        <p:nvSpPr>
          <p:cNvPr id="30" name="Shape 27"/>
          <p:cNvSpPr/>
          <p:nvPr/>
        </p:nvSpPr>
        <p:spPr>
          <a:xfrm flipH="1">
            <a:off x="777240" y="5486400"/>
            <a:ext cx="1371600" cy="0"/>
          </a:xfrm>
          <a:prstGeom prst="line">
            <a:avLst/>
          </a:prstGeom>
          <a:noFill/>
          <a:ln w="15875">
            <a:solidFill>
              <a:srgbClr val="14213D"/>
            </a:solidFill>
            <a:prstDash val="solid"/>
          </a:ln>
        </p:spPr>
        <p:txBody>
          <a:bodyPr/>
          <a:p/>
        </p:txBody>
      </p:sp>
      <p:sp>
        <p:nvSpPr>
          <p:cNvPr id="31" name="Shape 28"/>
          <p:cNvSpPr/>
          <p:nvPr/>
        </p:nvSpPr>
        <p:spPr>
          <a:xfrm flipV="1">
            <a:off x="777240" y="3108960"/>
            <a:ext cx="0" cy="2377440"/>
          </a:xfrm>
          <a:prstGeom prst="line">
            <a:avLst/>
          </a:prstGeom>
          <a:noFill/>
          <a:ln w="15875">
            <a:solidFill>
              <a:srgbClr val="14213D"/>
            </a:solidFill>
            <a:prstDash val="solid"/>
          </a:ln>
        </p:spPr>
        <p:txBody>
          <a:bodyPr/>
          <a:p/>
        </p:txBody>
      </p:sp>
      <p:sp>
        <p:nvSpPr>
          <p:cNvPr id="32" name="Shape 29"/>
          <p:cNvSpPr/>
          <p:nvPr/>
        </p:nvSpPr>
        <p:spPr>
          <a:xfrm>
            <a:off x="777240" y="3108960"/>
            <a:ext cx="1371600" cy="0"/>
          </a:xfrm>
          <a:prstGeom prst="line">
            <a:avLst/>
          </a:prstGeom>
          <a:noFill/>
          <a:ln w="15875">
            <a:solidFill>
              <a:srgbClr val="14213D"/>
            </a:solidFill>
            <a:prstDash val="solid"/>
            <a:tailEnd type="triangle"/>
          </a:ln>
        </p:spPr>
        <p:txBody>
          <a:bodyPr/>
          <a:p/>
        </p:txBody>
      </p:sp>
      <p:sp>
        <p:nvSpPr>
          <p:cNvPr id="33" name="Shape 30"/>
          <p:cNvSpPr/>
          <p:nvPr/>
        </p:nvSpPr>
        <p:spPr>
          <a:xfrm>
            <a:off x="2880360" y="3611880"/>
            <a:ext cx="1371600" cy="0"/>
          </a:xfrm>
          <a:prstGeom prst="line">
            <a:avLst/>
          </a:prstGeom>
          <a:noFill/>
          <a:ln w="15875">
            <a:solidFill>
              <a:srgbClr val="14213D"/>
            </a:solidFill>
            <a:prstDash val="solid"/>
          </a:ln>
        </p:spPr>
        <p:txBody>
          <a:bodyPr/>
          <a:p/>
        </p:txBody>
      </p:sp>
      <p:sp>
        <p:nvSpPr>
          <p:cNvPr id="34" name="Shape 31"/>
          <p:cNvSpPr/>
          <p:nvPr/>
        </p:nvSpPr>
        <p:spPr>
          <a:xfrm>
            <a:off x="4251960" y="3611880"/>
            <a:ext cx="0" cy="36576"/>
          </a:xfrm>
          <a:prstGeom prst="line">
            <a:avLst/>
          </a:prstGeom>
          <a:noFill/>
          <a:ln w="15875">
            <a:solidFill>
              <a:srgbClr val="14213D"/>
            </a:solidFill>
            <a:prstDash val="solid"/>
            <a:tailEnd type="triangle"/>
          </a:ln>
        </p:spPr>
        <p:txBody>
          <a:bodyPr/>
          <a:p/>
        </p:txBody>
      </p:sp>
      <p:sp>
        <p:nvSpPr>
          <p:cNvPr id="35" name="Text 32"/>
          <p:cNvSpPr txBox="1"/>
          <p:nvPr/>
        </p:nvSpPr>
        <p:spPr>
          <a:xfrm>
            <a:off x="2926080" y="33649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6" name="Shape 33"/>
          <p:cNvSpPr/>
          <p:nvPr/>
        </p:nvSpPr>
        <p:spPr>
          <a:xfrm>
            <a:off x="4251960" y="4032504"/>
            <a:ext cx="0" cy="228600"/>
          </a:xfrm>
          <a:prstGeom prst="line">
            <a:avLst/>
          </a:prstGeom>
          <a:noFill/>
          <a:ln w="15875">
            <a:solidFill>
              <a:srgbClr val="14213D"/>
            </a:solidFill>
            <a:prstDash val="solid"/>
            <a:tailEnd type="triangle"/>
          </a:ln>
        </p:spPr>
        <p:txBody>
          <a:bodyPr/>
          <a:p/>
        </p:txBody>
      </p:sp>
      <p:sp>
        <p:nvSpPr>
          <p:cNvPr id="37" name="Shape 34"/>
          <p:cNvSpPr/>
          <p:nvPr/>
        </p:nvSpPr>
        <p:spPr>
          <a:xfrm>
            <a:off x="5349240" y="1600200"/>
            <a:ext cx="6309360" cy="3017520"/>
          </a:xfrm>
          <a:prstGeom prst="roundRect">
            <a:avLst>
              <a:gd name="adj" fmla="val 3030"/>
            </a:avLst>
          </a:prstGeom>
          <a:solidFill>
            <a:srgbClr val="0F1729"/>
          </a:solidFill>
          <a:ln w="12700">
            <a:solidFill>
              <a:srgbClr val="0F1729"/>
            </a:solidFill>
            <a:prstDash val="solid"/>
          </a:ln>
        </p:spPr>
        <p:txBody>
          <a:bodyPr/>
          <a:p/>
        </p:txBody>
      </p:sp>
      <p:sp>
        <p:nvSpPr>
          <p:cNvPr id="38" name="Text 35"/>
          <p:cNvSpPr txBox="1"/>
          <p:nvPr/>
        </p:nvSpPr>
        <p:spPr>
          <a:xfrm>
            <a:off x="5577840" y="1709928"/>
            <a:ext cx="58521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code/02_08_Factorial/Program.cs</a:t>
            </a:r>
            <a:endParaRPr lang="en-US" sz="1100" dirty="0"/>
          </a:p>
        </p:txBody>
      </p:sp>
      <p:sp>
        <p:nvSpPr>
          <p:cNvPr id="39" name="Text 36"/>
          <p:cNvSpPr txBox="1"/>
          <p:nvPr/>
        </p:nvSpPr>
        <p:spPr>
          <a:xfrm>
            <a:off x="5577840" y="2011680"/>
            <a:ext cx="5852160" cy="24963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.ReadLine());</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factorial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factorial = factorial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 {factorial}"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40" name="Shape 37"/>
          <p:cNvSpPr/>
          <p:nvPr/>
        </p:nvSpPr>
        <p:spPr>
          <a:xfrm>
            <a:off x="5349240" y="4754880"/>
            <a:ext cx="3611880" cy="1344168"/>
          </a:xfrm>
          <a:prstGeom prst="roundRect">
            <a:avLst>
              <a:gd name="adj" fmla="val 6803"/>
            </a:avLst>
          </a:prstGeom>
          <a:solidFill>
            <a:srgbClr val="0B0F19"/>
          </a:solidFill>
          <a:ln w="12700">
            <a:solidFill>
              <a:srgbClr val="2A3654"/>
            </a:solidFill>
            <a:prstDash val="solid"/>
          </a:ln>
        </p:spPr>
        <p:txBody>
          <a:bodyPr/>
          <a:p/>
        </p:txBody>
      </p:sp>
      <p:sp>
        <p:nvSpPr>
          <p:cNvPr id="41" name="Shape 38"/>
          <p:cNvSpPr/>
          <p:nvPr/>
        </p:nvSpPr>
        <p:spPr>
          <a:xfrm>
            <a:off x="5532120" y="4882896"/>
            <a:ext cx="118872" cy="118872"/>
          </a:xfrm>
          <a:prstGeom prst="ellipse">
            <a:avLst/>
          </a:prstGeom>
          <a:solidFill>
            <a:srgbClr val="FF5F57"/>
          </a:solidFill>
          <a:ln w="12700">
            <a:solidFill>
              <a:srgbClr val="FF5F57"/>
            </a:solidFill>
            <a:prstDash val="solid"/>
          </a:ln>
        </p:spPr>
        <p:txBody>
          <a:bodyPr/>
          <a:p/>
        </p:txBody>
      </p:sp>
      <p:sp>
        <p:nvSpPr>
          <p:cNvPr id="42" name="Shape 39"/>
          <p:cNvSpPr/>
          <p:nvPr/>
        </p:nvSpPr>
        <p:spPr>
          <a:xfrm>
            <a:off x="5760720" y="4882896"/>
            <a:ext cx="118872" cy="118872"/>
          </a:xfrm>
          <a:prstGeom prst="ellipse">
            <a:avLst/>
          </a:prstGeom>
          <a:solidFill>
            <a:srgbClr val="FEBC2E"/>
          </a:solidFill>
          <a:ln w="12700">
            <a:solidFill>
              <a:srgbClr val="FEBC2E"/>
            </a:solidFill>
            <a:prstDash val="solid"/>
          </a:ln>
        </p:spPr>
        <p:txBody>
          <a:bodyPr/>
          <a:p/>
        </p:txBody>
      </p:sp>
      <p:sp>
        <p:nvSpPr>
          <p:cNvPr id="43" name="Shape 40"/>
          <p:cNvSpPr/>
          <p:nvPr/>
        </p:nvSpPr>
        <p:spPr>
          <a:xfrm>
            <a:off x="5989320" y="4882896"/>
            <a:ext cx="118872" cy="118872"/>
          </a:xfrm>
          <a:prstGeom prst="ellipse">
            <a:avLst/>
          </a:prstGeom>
          <a:solidFill>
            <a:srgbClr val="28C840"/>
          </a:solidFill>
          <a:ln w="12700">
            <a:solidFill>
              <a:srgbClr val="28C840"/>
            </a:solidFill>
            <a:prstDash val="solid"/>
          </a:ln>
        </p:spPr>
        <p:txBody>
          <a:bodyPr/>
          <a:p/>
        </p:txBody>
      </p:sp>
      <p:sp>
        <p:nvSpPr>
          <p:cNvPr id="44" name="Text 41"/>
          <p:cNvSpPr txBox="1"/>
          <p:nvPr/>
        </p:nvSpPr>
        <p:spPr>
          <a:xfrm>
            <a:off x="6263640" y="482803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 two runs</a:t>
            </a:r>
            <a:endParaRPr lang="en-US" sz="1000" dirty="0"/>
          </a:p>
        </p:txBody>
      </p:sp>
      <p:sp>
        <p:nvSpPr>
          <p:cNvPr id="45" name="Text 42"/>
          <p:cNvSpPr txBox="1"/>
          <p:nvPr/>
        </p:nvSpPr>
        <p:spPr>
          <a:xfrm>
            <a:off x="5577840" y="5138928"/>
            <a:ext cx="3154680" cy="841248"/>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5! = 120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20! = 2432902008176640000</a:t>
            </a:r>
            <a:endParaRPr lang="en-US" sz="1200" dirty="0"/>
          </a:p>
        </p:txBody>
      </p:sp>
      <p:sp>
        <p:nvSpPr>
          <p:cNvPr id="46" name="Shape 43"/>
          <p:cNvSpPr/>
          <p:nvPr/>
        </p:nvSpPr>
        <p:spPr>
          <a:xfrm>
            <a:off x="9144000" y="4754880"/>
            <a:ext cx="2514600" cy="1344168"/>
          </a:xfrm>
          <a:prstGeom prst="roundRect">
            <a:avLst>
              <a:gd name="adj" fmla="val 8163"/>
            </a:avLst>
          </a:prstGeom>
          <a:solidFill>
            <a:srgbClr val="FFF1D6"/>
          </a:solidFill>
          <a:ln w="12700">
            <a:solidFill>
              <a:srgbClr val="FFF1D6"/>
            </a:solidFill>
            <a:prstDash val="solid"/>
          </a:ln>
        </p:spPr>
        <p:txBody>
          <a:bodyPr/>
          <a:p/>
        </p:txBody>
      </p:sp>
      <p:sp>
        <p:nvSpPr>
          <p:cNvPr id="47" name="Text 44"/>
          <p:cNvSpPr txBox="1"/>
          <p:nvPr/>
        </p:nvSpPr>
        <p:spPr>
          <a:xfrm>
            <a:off x="9281160" y="4800600"/>
            <a:ext cx="2286000" cy="125272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Why long? </a:t>
            </a:r>
            <a:pPr indent="0" marL="0">
              <a:buNone/>
            </a:pPr>
            <a:r>
              <a:rPr lang="en-US" sz="1300" dirty="0">
                <a:solidFill>
                  <a:srgbClr val="333B4F"/>
                </a:solidFill>
                <a:latin typeface="Calibri" pitchFamily="34" charset="0"/>
                <a:ea typeface="Calibri" pitchFamily="34" charset="-122"/>
                <a:cs typeface="Calibri" pitchFamily="34" charset="-120"/>
              </a:rPr>
              <a:t>int stops at 12!; long reaches 20!</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A LOOP THAT IS NOT A COUNTER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Euclid’s GCD as a Flowchart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150876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55448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325880" y="2048256"/>
            <a:ext cx="155448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371600" y="2048256"/>
            <a:ext cx="146304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a, b</a:t>
            </a:r>
            <a:endParaRPr lang="en-US" sz="1300" dirty="0"/>
          </a:p>
        </p:txBody>
      </p:sp>
      <p:sp>
        <p:nvSpPr>
          <p:cNvPr id="11" name="Shape 8"/>
          <p:cNvSpPr/>
          <p:nvPr/>
        </p:nvSpPr>
        <p:spPr>
          <a:xfrm>
            <a:off x="1371600" y="2788920"/>
            <a:ext cx="1463040" cy="640080"/>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1417320" y="2788920"/>
            <a:ext cx="13716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 ≠ 0 ?</a:t>
            </a:r>
            <a:endParaRPr lang="en-US" sz="1300" dirty="0"/>
          </a:p>
        </p:txBody>
      </p:sp>
      <p:sp>
        <p:nvSpPr>
          <p:cNvPr id="13" name="Shape 10"/>
          <p:cNvSpPr/>
          <p:nvPr/>
        </p:nvSpPr>
        <p:spPr>
          <a:xfrm>
            <a:off x="1280160" y="3785616"/>
            <a:ext cx="1645920" cy="384048"/>
          </a:xfrm>
          <a:prstGeom prst="flowChartProcess">
            <a:avLst/>
          </a:prstGeom>
          <a:solidFill>
            <a:srgbClr val="FFFFFF"/>
          </a:solidFill>
          <a:ln w="15875">
            <a:solidFill>
              <a:srgbClr val="14213D"/>
            </a:solidFill>
            <a:prstDash val="solid"/>
          </a:ln>
        </p:spPr>
        <p:txBody>
          <a:bodyPr/>
          <a:p/>
        </p:txBody>
      </p:sp>
      <p:sp>
        <p:nvSpPr>
          <p:cNvPr id="14" name="Text 11"/>
          <p:cNvSpPr txBox="1"/>
          <p:nvPr/>
        </p:nvSpPr>
        <p:spPr>
          <a:xfrm>
            <a:off x="1325880" y="3785616"/>
            <a:ext cx="15544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 ← a mod b</a:t>
            </a:r>
            <a:endParaRPr lang="en-US" sz="1300" dirty="0"/>
          </a:p>
        </p:txBody>
      </p:sp>
      <p:sp>
        <p:nvSpPr>
          <p:cNvPr id="15" name="Shape 12"/>
          <p:cNvSpPr/>
          <p:nvPr/>
        </p:nvSpPr>
        <p:spPr>
          <a:xfrm>
            <a:off x="1280160" y="4352544"/>
            <a:ext cx="1645920" cy="384048"/>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1325880" y="4352544"/>
            <a:ext cx="15544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 ← b</a:t>
            </a:r>
            <a:endParaRPr lang="en-US" sz="1300" dirty="0"/>
          </a:p>
        </p:txBody>
      </p:sp>
      <p:sp>
        <p:nvSpPr>
          <p:cNvPr id="17" name="Shape 14"/>
          <p:cNvSpPr/>
          <p:nvPr/>
        </p:nvSpPr>
        <p:spPr>
          <a:xfrm>
            <a:off x="1280160" y="4919472"/>
            <a:ext cx="1645920" cy="384048"/>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1325880" y="4919472"/>
            <a:ext cx="15544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 ← r</a:t>
            </a:r>
            <a:endParaRPr lang="en-US" sz="1300" dirty="0"/>
          </a:p>
        </p:txBody>
      </p:sp>
      <p:sp>
        <p:nvSpPr>
          <p:cNvPr id="19" name="Shape 16"/>
          <p:cNvSpPr/>
          <p:nvPr/>
        </p:nvSpPr>
        <p:spPr>
          <a:xfrm>
            <a:off x="3337560" y="3785616"/>
            <a:ext cx="1188720" cy="384048"/>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3383280" y="3785616"/>
            <a:ext cx="10972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a</a:t>
            </a:r>
            <a:endParaRPr lang="en-US" sz="1300" dirty="0"/>
          </a:p>
        </p:txBody>
      </p:sp>
      <p:sp>
        <p:nvSpPr>
          <p:cNvPr id="21" name="Shape 18"/>
          <p:cNvSpPr/>
          <p:nvPr/>
        </p:nvSpPr>
        <p:spPr>
          <a:xfrm>
            <a:off x="3383280" y="4370832"/>
            <a:ext cx="1097280" cy="347472"/>
          </a:xfrm>
          <a:prstGeom prst="flowChartTerminator">
            <a:avLst/>
          </a:prstGeom>
          <a:solidFill>
            <a:srgbClr val="FFF1D6"/>
          </a:solidFill>
          <a:ln w="15875">
            <a:solidFill>
              <a:srgbClr val="14213D"/>
            </a:solidFill>
            <a:prstDash val="solid"/>
          </a:ln>
        </p:spPr>
        <p:txBody>
          <a:bodyPr/>
          <a:p/>
        </p:txBody>
      </p:sp>
      <p:sp>
        <p:nvSpPr>
          <p:cNvPr id="22" name="Text 19"/>
          <p:cNvSpPr txBox="1"/>
          <p:nvPr/>
        </p:nvSpPr>
        <p:spPr>
          <a:xfrm>
            <a:off x="3429000" y="4370832"/>
            <a:ext cx="100584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3" name="Shape 20"/>
          <p:cNvSpPr/>
          <p:nvPr/>
        </p:nvSpPr>
        <p:spPr>
          <a:xfrm>
            <a:off x="2103120" y="1911096"/>
            <a:ext cx="0" cy="137160"/>
          </a:xfrm>
          <a:prstGeom prst="line">
            <a:avLst/>
          </a:prstGeom>
          <a:noFill/>
          <a:ln w="15875">
            <a:solidFill>
              <a:srgbClr val="14213D"/>
            </a:solidFill>
            <a:prstDash val="solid"/>
            <a:tailEnd type="triangle"/>
          </a:ln>
        </p:spPr>
        <p:txBody>
          <a:bodyPr/>
          <a:p/>
        </p:txBody>
      </p:sp>
      <p:sp>
        <p:nvSpPr>
          <p:cNvPr id="24" name="Shape 21"/>
          <p:cNvSpPr/>
          <p:nvPr/>
        </p:nvSpPr>
        <p:spPr>
          <a:xfrm>
            <a:off x="2103120" y="2432304"/>
            <a:ext cx="0" cy="356616"/>
          </a:xfrm>
          <a:prstGeom prst="line">
            <a:avLst/>
          </a:prstGeom>
          <a:noFill/>
          <a:ln w="15875">
            <a:solidFill>
              <a:srgbClr val="14213D"/>
            </a:solidFill>
            <a:prstDash val="solid"/>
            <a:tailEnd type="triangle"/>
          </a:ln>
        </p:spPr>
        <p:txBody>
          <a:bodyPr/>
          <a:p/>
        </p:txBody>
      </p:sp>
      <p:sp>
        <p:nvSpPr>
          <p:cNvPr id="25" name="Shape 22"/>
          <p:cNvSpPr/>
          <p:nvPr/>
        </p:nvSpPr>
        <p:spPr>
          <a:xfrm>
            <a:off x="2103120" y="3429000"/>
            <a:ext cx="0" cy="356616"/>
          </a:xfrm>
          <a:prstGeom prst="line">
            <a:avLst/>
          </a:prstGeom>
          <a:noFill/>
          <a:ln w="15875">
            <a:solidFill>
              <a:srgbClr val="14213D"/>
            </a:solidFill>
            <a:prstDash val="solid"/>
            <a:tailEnd type="triangle"/>
          </a:ln>
        </p:spPr>
        <p:txBody>
          <a:bodyPr/>
          <a:p/>
        </p:txBody>
      </p:sp>
      <p:sp>
        <p:nvSpPr>
          <p:cNvPr id="26" name="Text 23"/>
          <p:cNvSpPr txBox="1"/>
          <p:nvPr/>
        </p:nvSpPr>
        <p:spPr>
          <a:xfrm>
            <a:off x="2167128" y="341071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7" name="Shape 24"/>
          <p:cNvSpPr/>
          <p:nvPr/>
        </p:nvSpPr>
        <p:spPr>
          <a:xfrm>
            <a:off x="2103120" y="4169664"/>
            <a:ext cx="0" cy="182880"/>
          </a:xfrm>
          <a:prstGeom prst="line">
            <a:avLst/>
          </a:prstGeom>
          <a:noFill/>
          <a:ln w="15875">
            <a:solidFill>
              <a:srgbClr val="14213D"/>
            </a:solidFill>
            <a:prstDash val="solid"/>
            <a:tailEnd type="triangle"/>
          </a:ln>
        </p:spPr>
        <p:txBody>
          <a:bodyPr/>
          <a:p/>
        </p:txBody>
      </p:sp>
      <p:sp>
        <p:nvSpPr>
          <p:cNvPr id="28" name="Shape 25"/>
          <p:cNvSpPr/>
          <p:nvPr/>
        </p:nvSpPr>
        <p:spPr>
          <a:xfrm>
            <a:off x="2103120" y="4736592"/>
            <a:ext cx="0" cy="182880"/>
          </a:xfrm>
          <a:prstGeom prst="line">
            <a:avLst/>
          </a:prstGeom>
          <a:noFill/>
          <a:ln w="15875">
            <a:solidFill>
              <a:srgbClr val="14213D"/>
            </a:solidFill>
            <a:prstDash val="solid"/>
            <a:tailEnd type="triangle"/>
          </a:ln>
        </p:spPr>
        <p:txBody>
          <a:bodyPr/>
          <a:p/>
        </p:txBody>
      </p:sp>
      <p:sp>
        <p:nvSpPr>
          <p:cNvPr id="29" name="Shape 26"/>
          <p:cNvSpPr/>
          <p:nvPr/>
        </p:nvSpPr>
        <p:spPr>
          <a:xfrm>
            <a:off x="2103120" y="5303520"/>
            <a:ext cx="0" cy="228600"/>
          </a:xfrm>
          <a:prstGeom prst="line">
            <a:avLst/>
          </a:prstGeom>
          <a:noFill/>
          <a:ln w="15875">
            <a:solidFill>
              <a:srgbClr val="14213D"/>
            </a:solidFill>
            <a:prstDash val="solid"/>
          </a:ln>
        </p:spPr>
        <p:txBody>
          <a:bodyPr/>
          <a:p/>
        </p:txBody>
      </p:sp>
      <p:sp>
        <p:nvSpPr>
          <p:cNvPr id="30" name="Shape 27"/>
          <p:cNvSpPr/>
          <p:nvPr/>
        </p:nvSpPr>
        <p:spPr>
          <a:xfrm flipH="1">
            <a:off x="868680" y="5532120"/>
            <a:ext cx="1234440" cy="0"/>
          </a:xfrm>
          <a:prstGeom prst="line">
            <a:avLst/>
          </a:prstGeom>
          <a:noFill/>
          <a:ln w="15875">
            <a:solidFill>
              <a:srgbClr val="14213D"/>
            </a:solidFill>
            <a:prstDash val="solid"/>
          </a:ln>
        </p:spPr>
        <p:txBody>
          <a:bodyPr/>
          <a:p/>
        </p:txBody>
      </p:sp>
      <p:sp>
        <p:nvSpPr>
          <p:cNvPr id="31" name="Shape 28"/>
          <p:cNvSpPr/>
          <p:nvPr/>
        </p:nvSpPr>
        <p:spPr>
          <a:xfrm flipV="1">
            <a:off x="868680" y="2606040"/>
            <a:ext cx="0" cy="2926080"/>
          </a:xfrm>
          <a:prstGeom prst="line">
            <a:avLst/>
          </a:prstGeom>
          <a:noFill/>
          <a:ln w="15875">
            <a:solidFill>
              <a:srgbClr val="14213D"/>
            </a:solidFill>
            <a:prstDash val="solid"/>
          </a:ln>
        </p:spPr>
        <p:txBody>
          <a:bodyPr/>
          <a:p/>
        </p:txBody>
      </p:sp>
      <p:sp>
        <p:nvSpPr>
          <p:cNvPr id="32" name="Shape 29"/>
          <p:cNvSpPr/>
          <p:nvPr/>
        </p:nvSpPr>
        <p:spPr>
          <a:xfrm>
            <a:off x="868680" y="2606040"/>
            <a:ext cx="1234440" cy="0"/>
          </a:xfrm>
          <a:prstGeom prst="line">
            <a:avLst/>
          </a:prstGeom>
          <a:noFill/>
          <a:ln w="15875">
            <a:solidFill>
              <a:srgbClr val="14213D"/>
            </a:solidFill>
            <a:prstDash val="solid"/>
            <a:tailEnd type="triangle"/>
          </a:ln>
        </p:spPr>
        <p:txBody>
          <a:bodyPr/>
          <a:p/>
        </p:txBody>
      </p:sp>
      <p:sp>
        <p:nvSpPr>
          <p:cNvPr id="33" name="Shape 30"/>
          <p:cNvSpPr/>
          <p:nvPr/>
        </p:nvSpPr>
        <p:spPr>
          <a:xfrm>
            <a:off x="2834640" y="3108960"/>
            <a:ext cx="1097280" cy="0"/>
          </a:xfrm>
          <a:prstGeom prst="line">
            <a:avLst/>
          </a:prstGeom>
          <a:noFill/>
          <a:ln w="15875">
            <a:solidFill>
              <a:srgbClr val="14213D"/>
            </a:solidFill>
            <a:prstDash val="solid"/>
          </a:ln>
        </p:spPr>
        <p:txBody>
          <a:bodyPr/>
          <a:p/>
        </p:txBody>
      </p:sp>
      <p:sp>
        <p:nvSpPr>
          <p:cNvPr id="34" name="Shape 31"/>
          <p:cNvSpPr/>
          <p:nvPr/>
        </p:nvSpPr>
        <p:spPr>
          <a:xfrm>
            <a:off x="3931920" y="3108960"/>
            <a:ext cx="0" cy="676656"/>
          </a:xfrm>
          <a:prstGeom prst="line">
            <a:avLst/>
          </a:prstGeom>
          <a:noFill/>
          <a:ln w="15875">
            <a:solidFill>
              <a:srgbClr val="14213D"/>
            </a:solidFill>
            <a:prstDash val="solid"/>
            <a:tailEnd type="triangle"/>
          </a:ln>
        </p:spPr>
        <p:txBody>
          <a:bodyPr/>
          <a:p/>
        </p:txBody>
      </p:sp>
      <p:sp>
        <p:nvSpPr>
          <p:cNvPr id="35" name="Text 32"/>
          <p:cNvSpPr txBox="1"/>
          <p:nvPr/>
        </p:nvSpPr>
        <p:spPr>
          <a:xfrm>
            <a:off x="2880360" y="286207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6" name="Shape 33"/>
          <p:cNvSpPr/>
          <p:nvPr/>
        </p:nvSpPr>
        <p:spPr>
          <a:xfrm>
            <a:off x="3931920" y="4169664"/>
            <a:ext cx="0" cy="201168"/>
          </a:xfrm>
          <a:prstGeom prst="line">
            <a:avLst/>
          </a:prstGeom>
          <a:noFill/>
          <a:ln w="15875">
            <a:solidFill>
              <a:srgbClr val="14213D"/>
            </a:solidFill>
            <a:prstDash val="solid"/>
            <a:tailEnd type="triangle"/>
          </a:ln>
        </p:spPr>
        <p:txBody>
          <a:bodyPr/>
          <a:p/>
        </p:txBody>
      </p:sp>
      <p:sp>
        <p:nvSpPr>
          <p:cNvPr id="37" name="Shape 34"/>
          <p:cNvSpPr/>
          <p:nvPr/>
        </p:nvSpPr>
        <p:spPr>
          <a:xfrm>
            <a:off x="4800600" y="1600200"/>
            <a:ext cx="4069080" cy="3291840"/>
          </a:xfrm>
          <a:prstGeom prst="roundRect">
            <a:avLst>
              <a:gd name="adj" fmla="val 2778"/>
            </a:avLst>
          </a:prstGeom>
          <a:solidFill>
            <a:srgbClr val="0F1729"/>
          </a:solidFill>
          <a:ln w="12700">
            <a:solidFill>
              <a:srgbClr val="0F1729"/>
            </a:solidFill>
            <a:prstDash val="solid"/>
          </a:ln>
        </p:spPr>
        <p:txBody>
          <a:bodyPr/>
          <a:p/>
        </p:txBody>
      </p:sp>
      <p:sp>
        <p:nvSpPr>
          <p:cNvPr id="38" name="Text 35"/>
          <p:cNvSpPr txBox="1"/>
          <p:nvPr/>
        </p:nvSpPr>
        <p:spPr>
          <a:xfrm>
            <a:off x="5029200" y="1764792"/>
            <a:ext cx="3611880" cy="30175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 % b;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 &lt;- a mod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$"GCD = {a}"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9" name="Shape 36"/>
          <p:cNvSpPr/>
          <p:nvPr/>
        </p:nvSpPr>
        <p:spPr>
          <a:xfrm>
            <a:off x="4800600" y="5029200"/>
            <a:ext cx="4069080" cy="1069848"/>
          </a:xfrm>
          <a:prstGeom prst="roundRect">
            <a:avLst>
              <a:gd name="adj" fmla="val 8547"/>
            </a:avLst>
          </a:prstGeom>
          <a:solidFill>
            <a:srgbClr val="0B0F19"/>
          </a:solidFill>
          <a:ln w="12700">
            <a:solidFill>
              <a:srgbClr val="2A3654"/>
            </a:solidFill>
            <a:prstDash val="solid"/>
          </a:ln>
        </p:spPr>
        <p:txBody>
          <a:bodyPr/>
          <a:p/>
        </p:txBody>
      </p:sp>
      <p:sp>
        <p:nvSpPr>
          <p:cNvPr id="40" name="Shape 37"/>
          <p:cNvSpPr/>
          <p:nvPr/>
        </p:nvSpPr>
        <p:spPr>
          <a:xfrm>
            <a:off x="4983480" y="5157216"/>
            <a:ext cx="118872" cy="118872"/>
          </a:xfrm>
          <a:prstGeom prst="ellipse">
            <a:avLst/>
          </a:prstGeom>
          <a:solidFill>
            <a:srgbClr val="FF5F57"/>
          </a:solidFill>
          <a:ln w="12700">
            <a:solidFill>
              <a:srgbClr val="FF5F57"/>
            </a:solidFill>
            <a:prstDash val="solid"/>
          </a:ln>
        </p:spPr>
        <p:txBody>
          <a:bodyPr/>
          <a:p/>
        </p:txBody>
      </p:sp>
      <p:sp>
        <p:nvSpPr>
          <p:cNvPr id="41" name="Shape 38"/>
          <p:cNvSpPr/>
          <p:nvPr/>
        </p:nvSpPr>
        <p:spPr>
          <a:xfrm>
            <a:off x="5212080" y="5157216"/>
            <a:ext cx="118872" cy="118872"/>
          </a:xfrm>
          <a:prstGeom prst="ellipse">
            <a:avLst/>
          </a:prstGeom>
          <a:solidFill>
            <a:srgbClr val="FEBC2E"/>
          </a:solidFill>
          <a:ln w="12700">
            <a:solidFill>
              <a:srgbClr val="FEBC2E"/>
            </a:solidFill>
            <a:prstDash val="solid"/>
          </a:ln>
        </p:spPr>
        <p:txBody>
          <a:bodyPr/>
          <a:p/>
        </p:txBody>
      </p:sp>
      <p:sp>
        <p:nvSpPr>
          <p:cNvPr id="42" name="Shape 39"/>
          <p:cNvSpPr/>
          <p:nvPr/>
        </p:nvSpPr>
        <p:spPr>
          <a:xfrm>
            <a:off x="5440680" y="5157216"/>
            <a:ext cx="118872" cy="118872"/>
          </a:xfrm>
          <a:prstGeom prst="ellipse">
            <a:avLst/>
          </a:prstGeom>
          <a:solidFill>
            <a:srgbClr val="28C840"/>
          </a:solidFill>
          <a:ln w="12700">
            <a:solidFill>
              <a:srgbClr val="28C840"/>
            </a:solidFill>
            <a:prstDash val="solid"/>
          </a:ln>
        </p:spPr>
        <p:txBody>
          <a:bodyPr/>
          <a:p/>
        </p:txBody>
      </p:sp>
      <p:sp>
        <p:nvSpPr>
          <p:cNvPr id="43" name="Text 40"/>
          <p:cNvSpPr txBox="1"/>
          <p:nvPr/>
        </p:nvSpPr>
        <p:spPr>
          <a:xfrm>
            <a:off x="5715000" y="5102352"/>
            <a:ext cx="2971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44" name="Text 41"/>
          <p:cNvSpPr txBox="1"/>
          <p:nvPr/>
        </p:nvSpPr>
        <p:spPr>
          <a:xfrm>
            <a:off x="5029200" y="5413248"/>
            <a:ext cx="3611880" cy="566928"/>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GCD = 6</a:t>
            </a:r>
            <a:endParaRPr lang="en-US" sz="1300" dirty="0"/>
          </a:p>
        </p:txBody>
      </p:sp>
      <p:sp>
        <p:nvSpPr>
          <p:cNvPr id="45" name="Text 42"/>
          <p:cNvSpPr txBox="1"/>
          <p:nvPr/>
        </p:nvSpPr>
        <p:spPr>
          <a:xfrm>
            <a:off x="9098280" y="1600200"/>
            <a:ext cx="2560320" cy="329184"/>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Trace (48, 18)</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098280" y="2011680"/>
          <a:ext cx="2560320" cy="914400"/>
        </p:xfrm>
        <a:graphic>
          <a:graphicData uri="http://schemas.openxmlformats.org/drawingml/2006/table">
            <a:tbl>
              <a:tblPr/>
              <a:tblGrid>
                <a:gridCol w="548640"/>
                <a:gridCol w="548640"/>
                <a:gridCol w="868680"/>
                <a:gridCol w="59436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 ≠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18</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7" name="Shape 43"/>
          <p:cNvSpPr/>
          <p:nvPr/>
        </p:nvSpPr>
        <p:spPr>
          <a:xfrm>
            <a:off x="9098280" y="4160520"/>
            <a:ext cx="2560320" cy="1920240"/>
          </a:xfrm>
          <a:prstGeom prst="roundRect">
            <a:avLst>
              <a:gd name="adj" fmla="val 5714"/>
            </a:avLst>
          </a:prstGeom>
          <a:solidFill>
            <a:srgbClr val="FFF6E3"/>
          </a:solidFill>
          <a:ln w="12700">
            <a:solidFill>
              <a:srgbClr val="FFF6E3"/>
            </a:solidFill>
            <a:prstDash val="solid"/>
          </a:ln>
        </p:spPr>
        <p:txBody>
          <a:bodyPr/>
          <a:p/>
        </p:txBody>
      </p:sp>
      <p:pic>
        <p:nvPicPr>
          <p:cNvPr id="48" name="Image 0" descr="preencoded.png">    </p:cNvPr>
          <p:cNvPicPr>
            <a:picLocks noChangeAspect="1"/>
          </p:cNvPicPr>
          <p:nvPr/>
        </p:nvPicPr>
        <p:blipFill>
          <a:blip r:embed="rId1"/>
          <a:stretch>
            <a:fillRect/>
          </a:stretch>
        </p:blipFill>
        <p:spPr>
          <a:xfrm>
            <a:off x="9372600" y="4846320"/>
            <a:ext cx="548640" cy="548640"/>
          </a:xfrm>
          <a:prstGeom prst="rect">
            <a:avLst/>
          </a:prstGeom>
        </p:spPr>
      </p:pic>
      <p:sp>
        <p:nvSpPr>
          <p:cNvPr id="49" name="Text 44"/>
          <p:cNvSpPr txBox="1"/>
          <p:nvPr/>
        </p:nvSpPr>
        <p:spPr>
          <a:xfrm>
            <a:off x="10195560" y="4233672"/>
            <a:ext cx="1188720" cy="1773936"/>
          </a:xfrm>
          <a:prstGeom prst="rect">
            <a:avLst/>
          </a:prstGeom>
          <a:noFill/>
          <a:ln/>
        </p:spPr>
        <p:txBody>
          <a:bodyPr wrap="square" lIns="0" tIns="0" rIns="0" bIns="0" rtlCol="0" anchor="ctr"/>
          <a:lstStyle/>
          <a:p>
            <a:pPr indent="0" marL="0">
              <a:buNone/>
            </a:pPr>
            <a:r>
              <a:rPr lang="en-US" sz="1350" b="1" dirty="0">
                <a:solidFill>
                  <a:srgbClr val="2E9E6A"/>
                </a:solidFill>
                <a:latin typeface="Calibri" pitchFamily="34" charset="0"/>
                <a:ea typeface="Calibri" pitchFamily="34" charset="-122"/>
                <a:cs typeface="Calibri" pitchFamily="34" charset="-120"/>
              </a:rPr>
              <a:t>Output: 6</a:t>
            </a:r>
            <a:endParaRPr lang="en-US" sz="1350" dirty="0"/>
          </a:p>
          <a:p>
            <a:pPr indent="0" marL="0">
              <a:buNone/>
            </a:pPr>
            <a:r>
              <a:rPr lang="en-US" sz="1350" dirty="0">
                <a:solidFill>
                  <a:srgbClr val="333B4F"/>
                </a:solidFill>
                <a:latin typeface="Calibri" pitchFamily="34" charset="0"/>
                <a:ea typeface="Calibri" pitchFamily="34" charset="-122"/>
                <a:cs typeface="Calibri" pitchFamily="34" charset="-120"/>
              </a:rPr>
              <a:t>b gets smaller every pass, so the loop must stop.</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A DECISION INSIDE A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Guess the Number: the Flowchart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155448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160020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371600" y="2066544"/>
            <a:ext cx="1554480" cy="384048"/>
          </a:xfrm>
          <a:prstGeom prst="flowChartProcess">
            <a:avLst/>
          </a:prstGeom>
          <a:solidFill>
            <a:srgbClr val="FFFFFF"/>
          </a:solidFill>
          <a:ln w="15875">
            <a:solidFill>
              <a:srgbClr val="14213D"/>
            </a:solidFill>
            <a:prstDash val="solid"/>
          </a:ln>
        </p:spPr>
        <p:txBody>
          <a:bodyPr/>
          <a:p/>
        </p:txBody>
      </p:sp>
      <p:sp>
        <p:nvSpPr>
          <p:cNvPr id="10" name="Text 7"/>
          <p:cNvSpPr txBox="1"/>
          <p:nvPr/>
        </p:nvSpPr>
        <p:spPr>
          <a:xfrm>
            <a:off x="1417320" y="2066544"/>
            <a:ext cx="146304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secret ← 37</a:t>
            </a:r>
            <a:endParaRPr lang="en-US" sz="1300" dirty="0"/>
          </a:p>
        </p:txBody>
      </p:sp>
      <p:sp>
        <p:nvSpPr>
          <p:cNvPr id="11" name="Shape 8"/>
          <p:cNvSpPr/>
          <p:nvPr/>
        </p:nvSpPr>
        <p:spPr>
          <a:xfrm>
            <a:off x="1280160" y="2724912"/>
            <a:ext cx="1737360" cy="402336"/>
          </a:xfrm>
          <a:prstGeom prst="flowChartInputOutput">
            <a:avLst/>
          </a:prstGeom>
          <a:solidFill>
            <a:srgbClr val="FFFFFF"/>
          </a:solidFill>
          <a:ln w="15875">
            <a:solidFill>
              <a:srgbClr val="14213D"/>
            </a:solidFill>
            <a:prstDash val="solid"/>
          </a:ln>
        </p:spPr>
        <p:txBody>
          <a:bodyPr/>
          <a:p/>
        </p:txBody>
      </p:sp>
      <p:sp>
        <p:nvSpPr>
          <p:cNvPr id="12" name="Text 9"/>
          <p:cNvSpPr txBox="1"/>
          <p:nvPr/>
        </p:nvSpPr>
        <p:spPr>
          <a:xfrm>
            <a:off x="1325880" y="2724912"/>
            <a:ext cx="16459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guess</a:t>
            </a:r>
            <a:endParaRPr lang="en-US" sz="1300" dirty="0"/>
          </a:p>
        </p:txBody>
      </p:sp>
      <p:sp>
        <p:nvSpPr>
          <p:cNvPr id="13" name="Shape 10"/>
          <p:cNvSpPr/>
          <p:nvPr/>
        </p:nvSpPr>
        <p:spPr>
          <a:xfrm>
            <a:off x="1097280" y="3502152"/>
            <a:ext cx="2103120" cy="676656"/>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143000" y="3502152"/>
            <a:ext cx="2011680" cy="67665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guess = secret ?</a:t>
            </a:r>
            <a:endParaRPr lang="en-US" sz="1300" dirty="0"/>
          </a:p>
        </p:txBody>
      </p:sp>
      <p:sp>
        <p:nvSpPr>
          <p:cNvPr id="15" name="Shape 12"/>
          <p:cNvSpPr/>
          <p:nvPr/>
        </p:nvSpPr>
        <p:spPr>
          <a:xfrm>
            <a:off x="4023360" y="3502152"/>
            <a:ext cx="2103120" cy="676656"/>
          </a:xfrm>
          <a:prstGeom prst="flowChartDecision">
            <a:avLst/>
          </a:prstGeom>
          <a:solidFill>
            <a:srgbClr val="E3ECF8"/>
          </a:solidFill>
          <a:ln w="15875">
            <a:solidFill>
              <a:srgbClr val="14213D"/>
            </a:solidFill>
            <a:prstDash val="solid"/>
          </a:ln>
        </p:spPr>
        <p:txBody>
          <a:bodyPr/>
          <a:p/>
        </p:txBody>
      </p:sp>
      <p:sp>
        <p:nvSpPr>
          <p:cNvPr id="16" name="Text 13"/>
          <p:cNvSpPr txBox="1"/>
          <p:nvPr/>
        </p:nvSpPr>
        <p:spPr>
          <a:xfrm>
            <a:off x="4069080" y="3502152"/>
            <a:ext cx="2011680" cy="67665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guess &lt; secret ?</a:t>
            </a:r>
            <a:endParaRPr lang="en-US" sz="1300" dirty="0"/>
          </a:p>
        </p:txBody>
      </p:sp>
      <p:sp>
        <p:nvSpPr>
          <p:cNvPr id="17" name="Shape 14"/>
          <p:cNvSpPr/>
          <p:nvPr/>
        </p:nvSpPr>
        <p:spPr>
          <a:xfrm>
            <a:off x="4297680" y="4690872"/>
            <a:ext cx="1554480" cy="402336"/>
          </a:xfrm>
          <a:prstGeom prst="flowChartInputOutput">
            <a:avLst/>
          </a:prstGeom>
          <a:solidFill>
            <a:srgbClr val="FFFFFF"/>
          </a:solidFill>
          <a:ln w="15875">
            <a:solidFill>
              <a:srgbClr val="14213D"/>
            </a:solidFill>
            <a:prstDash val="solid"/>
          </a:ln>
        </p:spPr>
        <p:txBody>
          <a:bodyPr/>
          <a:p/>
        </p:txBody>
      </p:sp>
      <p:sp>
        <p:nvSpPr>
          <p:cNvPr id="18" name="Text 15"/>
          <p:cNvSpPr txBox="1"/>
          <p:nvPr/>
        </p:nvSpPr>
        <p:spPr>
          <a:xfrm>
            <a:off x="4343400" y="4690872"/>
            <a:ext cx="146304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"Higher!"</a:t>
            </a:r>
            <a:endParaRPr lang="en-US" sz="1300" dirty="0"/>
          </a:p>
        </p:txBody>
      </p:sp>
      <p:sp>
        <p:nvSpPr>
          <p:cNvPr id="19" name="Shape 16"/>
          <p:cNvSpPr/>
          <p:nvPr/>
        </p:nvSpPr>
        <p:spPr>
          <a:xfrm>
            <a:off x="6126480" y="4690872"/>
            <a:ext cx="1554480" cy="402336"/>
          </a:xfrm>
          <a:prstGeom prst="flowChartInputOutput">
            <a:avLst/>
          </a:prstGeom>
          <a:solidFill>
            <a:srgbClr val="FFFFFF"/>
          </a:solidFill>
          <a:ln w="15875">
            <a:solidFill>
              <a:srgbClr val="14213D"/>
            </a:solidFill>
            <a:prstDash val="solid"/>
          </a:ln>
        </p:spPr>
        <p:txBody>
          <a:bodyPr/>
          <a:p/>
        </p:txBody>
      </p:sp>
      <p:sp>
        <p:nvSpPr>
          <p:cNvPr id="20" name="Text 17"/>
          <p:cNvSpPr txBox="1"/>
          <p:nvPr/>
        </p:nvSpPr>
        <p:spPr>
          <a:xfrm>
            <a:off x="6172200" y="4690872"/>
            <a:ext cx="146304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"Lower!"</a:t>
            </a:r>
            <a:endParaRPr lang="en-US" sz="1300" dirty="0"/>
          </a:p>
        </p:txBody>
      </p:sp>
      <p:sp>
        <p:nvSpPr>
          <p:cNvPr id="21" name="Shape 18"/>
          <p:cNvSpPr/>
          <p:nvPr/>
        </p:nvSpPr>
        <p:spPr>
          <a:xfrm>
            <a:off x="1280160" y="4690872"/>
            <a:ext cx="1737360" cy="402336"/>
          </a:xfrm>
          <a:prstGeom prst="flowChartInputOutput">
            <a:avLst/>
          </a:prstGeom>
          <a:solidFill>
            <a:srgbClr val="FFFFFF"/>
          </a:solidFill>
          <a:ln w="15875">
            <a:solidFill>
              <a:srgbClr val="14213D"/>
            </a:solidFill>
            <a:prstDash val="solid"/>
          </a:ln>
        </p:spPr>
        <p:txBody>
          <a:bodyPr/>
          <a:p/>
        </p:txBody>
      </p:sp>
      <p:sp>
        <p:nvSpPr>
          <p:cNvPr id="22" name="Text 19"/>
          <p:cNvSpPr txBox="1"/>
          <p:nvPr/>
        </p:nvSpPr>
        <p:spPr>
          <a:xfrm>
            <a:off x="1325880" y="4690872"/>
            <a:ext cx="164592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"Correct!"</a:t>
            </a:r>
            <a:endParaRPr lang="en-US" sz="1300" dirty="0"/>
          </a:p>
        </p:txBody>
      </p:sp>
      <p:sp>
        <p:nvSpPr>
          <p:cNvPr id="23" name="Shape 20"/>
          <p:cNvSpPr/>
          <p:nvPr/>
        </p:nvSpPr>
        <p:spPr>
          <a:xfrm>
            <a:off x="1600200" y="5495544"/>
            <a:ext cx="1097280" cy="347472"/>
          </a:xfrm>
          <a:prstGeom prst="flowChartTerminator">
            <a:avLst/>
          </a:prstGeom>
          <a:solidFill>
            <a:srgbClr val="FFF1D6"/>
          </a:solidFill>
          <a:ln w="15875">
            <a:solidFill>
              <a:srgbClr val="14213D"/>
            </a:solidFill>
            <a:prstDash val="solid"/>
          </a:ln>
        </p:spPr>
        <p:txBody>
          <a:bodyPr/>
          <a:p/>
        </p:txBody>
      </p:sp>
      <p:sp>
        <p:nvSpPr>
          <p:cNvPr id="24" name="Text 21"/>
          <p:cNvSpPr txBox="1"/>
          <p:nvPr/>
        </p:nvSpPr>
        <p:spPr>
          <a:xfrm>
            <a:off x="1645920" y="5495544"/>
            <a:ext cx="100584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5" name="Shape 22"/>
          <p:cNvSpPr/>
          <p:nvPr/>
        </p:nvSpPr>
        <p:spPr>
          <a:xfrm>
            <a:off x="2148840" y="1911096"/>
            <a:ext cx="0" cy="155448"/>
          </a:xfrm>
          <a:prstGeom prst="line">
            <a:avLst/>
          </a:prstGeom>
          <a:noFill/>
          <a:ln w="15875">
            <a:solidFill>
              <a:srgbClr val="14213D"/>
            </a:solidFill>
            <a:prstDash val="solid"/>
            <a:tailEnd type="triangle"/>
          </a:ln>
        </p:spPr>
        <p:txBody>
          <a:bodyPr/>
          <a:p/>
        </p:txBody>
      </p:sp>
      <p:sp>
        <p:nvSpPr>
          <p:cNvPr id="26" name="Shape 23"/>
          <p:cNvSpPr/>
          <p:nvPr/>
        </p:nvSpPr>
        <p:spPr>
          <a:xfrm>
            <a:off x="2148840" y="2450592"/>
            <a:ext cx="0" cy="274320"/>
          </a:xfrm>
          <a:prstGeom prst="line">
            <a:avLst/>
          </a:prstGeom>
          <a:noFill/>
          <a:ln w="15875">
            <a:solidFill>
              <a:srgbClr val="14213D"/>
            </a:solidFill>
            <a:prstDash val="solid"/>
            <a:tailEnd type="triangle"/>
          </a:ln>
        </p:spPr>
        <p:txBody>
          <a:bodyPr/>
          <a:p/>
        </p:txBody>
      </p:sp>
      <p:sp>
        <p:nvSpPr>
          <p:cNvPr id="27" name="Shape 24"/>
          <p:cNvSpPr/>
          <p:nvPr/>
        </p:nvSpPr>
        <p:spPr>
          <a:xfrm>
            <a:off x="2148840" y="3127248"/>
            <a:ext cx="0" cy="374904"/>
          </a:xfrm>
          <a:prstGeom prst="line">
            <a:avLst/>
          </a:prstGeom>
          <a:noFill/>
          <a:ln w="15875">
            <a:solidFill>
              <a:srgbClr val="14213D"/>
            </a:solidFill>
            <a:prstDash val="solid"/>
            <a:tailEnd type="triangle"/>
          </a:ln>
        </p:spPr>
        <p:txBody>
          <a:bodyPr/>
          <a:p/>
        </p:txBody>
      </p:sp>
      <p:sp>
        <p:nvSpPr>
          <p:cNvPr id="28" name="Shape 25"/>
          <p:cNvSpPr/>
          <p:nvPr/>
        </p:nvSpPr>
        <p:spPr>
          <a:xfrm>
            <a:off x="3200400" y="3840480"/>
            <a:ext cx="822960" cy="0"/>
          </a:xfrm>
          <a:prstGeom prst="line">
            <a:avLst/>
          </a:prstGeom>
          <a:noFill/>
          <a:ln w="15875">
            <a:solidFill>
              <a:srgbClr val="14213D"/>
            </a:solidFill>
            <a:prstDash val="solid"/>
            <a:tailEnd type="triangle"/>
          </a:ln>
        </p:spPr>
        <p:txBody>
          <a:bodyPr/>
          <a:p/>
        </p:txBody>
      </p:sp>
      <p:sp>
        <p:nvSpPr>
          <p:cNvPr id="29" name="Text 26"/>
          <p:cNvSpPr txBox="1"/>
          <p:nvPr/>
        </p:nvSpPr>
        <p:spPr>
          <a:xfrm>
            <a:off x="3246120" y="35935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0" name="Shape 27"/>
          <p:cNvSpPr/>
          <p:nvPr/>
        </p:nvSpPr>
        <p:spPr>
          <a:xfrm>
            <a:off x="2148840" y="4178808"/>
            <a:ext cx="0" cy="512064"/>
          </a:xfrm>
          <a:prstGeom prst="line">
            <a:avLst/>
          </a:prstGeom>
          <a:noFill/>
          <a:ln w="15875">
            <a:solidFill>
              <a:srgbClr val="14213D"/>
            </a:solidFill>
            <a:prstDash val="solid"/>
            <a:tailEnd type="triangle"/>
          </a:ln>
        </p:spPr>
        <p:txBody>
          <a:bodyPr/>
          <a:p/>
        </p:txBody>
      </p:sp>
      <p:sp>
        <p:nvSpPr>
          <p:cNvPr id="31" name="Text 28"/>
          <p:cNvSpPr txBox="1"/>
          <p:nvPr/>
        </p:nvSpPr>
        <p:spPr>
          <a:xfrm>
            <a:off x="2212848" y="4160520"/>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2" name="Shape 29"/>
          <p:cNvSpPr/>
          <p:nvPr/>
        </p:nvSpPr>
        <p:spPr>
          <a:xfrm>
            <a:off x="2148840" y="5093208"/>
            <a:ext cx="0" cy="402336"/>
          </a:xfrm>
          <a:prstGeom prst="line">
            <a:avLst/>
          </a:prstGeom>
          <a:noFill/>
          <a:ln w="15875">
            <a:solidFill>
              <a:srgbClr val="14213D"/>
            </a:solidFill>
            <a:prstDash val="solid"/>
            <a:tailEnd type="triangle"/>
          </a:ln>
        </p:spPr>
        <p:txBody>
          <a:bodyPr/>
          <a:p/>
        </p:txBody>
      </p:sp>
      <p:sp>
        <p:nvSpPr>
          <p:cNvPr id="33" name="Shape 30"/>
          <p:cNvSpPr/>
          <p:nvPr/>
        </p:nvSpPr>
        <p:spPr>
          <a:xfrm>
            <a:off x="5074920" y="4178808"/>
            <a:ext cx="0" cy="512064"/>
          </a:xfrm>
          <a:prstGeom prst="line">
            <a:avLst/>
          </a:prstGeom>
          <a:noFill/>
          <a:ln w="15875">
            <a:solidFill>
              <a:srgbClr val="14213D"/>
            </a:solidFill>
            <a:prstDash val="solid"/>
            <a:tailEnd type="triangle"/>
          </a:ln>
        </p:spPr>
        <p:txBody>
          <a:bodyPr/>
          <a:p/>
        </p:txBody>
      </p:sp>
      <p:sp>
        <p:nvSpPr>
          <p:cNvPr id="34" name="Text 31"/>
          <p:cNvSpPr txBox="1"/>
          <p:nvPr/>
        </p:nvSpPr>
        <p:spPr>
          <a:xfrm>
            <a:off x="5138928" y="4160520"/>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5" name="Shape 32"/>
          <p:cNvSpPr/>
          <p:nvPr/>
        </p:nvSpPr>
        <p:spPr>
          <a:xfrm>
            <a:off x="6126480" y="3840480"/>
            <a:ext cx="777240" cy="0"/>
          </a:xfrm>
          <a:prstGeom prst="line">
            <a:avLst/>
          </a:prstGeom>
          <a:noFill/>
          <a:ln w="15875">
            <a:solidFill>
              <a:srgbClr val="14213D"/>
            </a:solidFill>
            <a:prstDash val="solid"/>
          </a:ln>
        </p:spPr>
        <p:txBody>
          <a:bodyPr/>
          <a:p/>
        </p:txBody>
      </p:sp>
      <p:sp>
        <p:nvSpPr>
          <p:cNvPr id="36" name="Shape 33"/>
          <p:cNvSpPr/>
          <p:nvPr/>
        </p:nvSpPr>
        <p:spPr>
          <a:xfrm>
            <a:off x="6903720" y="3840480"/>
            <a:ext cx="0" cy="850392"/>
          </a:xfrm>
          <a:prstGeom prst="line">
            <a:avLst/>
          </a:prstGeom>
          <a:noFill/>
          <a:ln w="15875">
            <a:solidFill>
              <a:srgbClr val="14213D"/>
            </a:solidFill>
            <a:prstDash val="solid"/>
            <a:tailEnd type="triangle"/>
          </a:ln>
        </p:spPr>
        <p:txBody>
          <a:bodyPr/>
          <a:p/>
        </p:txBody>
      </p:sp>
      <p:sp>
        <p:nvSpPr>
          <p:cNvPr id="37" name="Text 34"/>
          <p:cNvSpPr txBox="1"/>
          <p:nvPr/>
        </p:nvSpPr>
        <p:spPr>
          <a:xfrm>
            <a:off x="6172200" y="359359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8" name="Shape 35"/>
          <p:cNvSpPr/>
          <p:nvPr/>
        </p:nvSpPr>
        <p:spPr>
          <a:xfrm>
            <a:off x="5074920" y="5093208"/>
            <a:ext cx="0" cy="256032"/>
          </a:xfrm>
          <a:prstGeom prst="line">
            <a:avLst/>
          </a:prstGeom>
          <a:noFill/>
          <a:ln w="15875">
            <a:solidFill>
              <a:srgbClr val="14213D"/>
            </a:solidFill>
            <a:prstDash val="solid"/>
          </a:ln>
        </p:spPr>
        <p:txBody>
          <a:bodyPr/>
          <a:p/>
        </p:txBody>
      </p:sp>
      <p:sp>
        <p:nvSpPr>
          <p:cNvPr id="39" name="Shape 36"/>
          <p:cNvSpPr/>
          <p:nvPr/>
        </p:nvSpPr>
        <p:spPr>
          <a:xfrm>
            <a:off x="5074920" y="5349240"/>
            <a:ext cx="1828800" cy="0"/>
          </a:xfrm>
          <a:prstGeom prst="line">
            <a:avLst/>
          </a:prstGeom>
          <a:noFill/>
          <a:ln w="15875">
            <a:solidFill>
              <a:srgbClr val="14213D"/>
            </a:solidFill>
            <a:prstDash val="solid"/>
          </a:ln>
        </p:spPr>
        <p:txBody>
          <a:bodyPr/>
          <a:p/>
        </p:txBody>
      </p:sp>
      <p:sp>
        <p:nvSpPr>
          <p:cNvPr id="40" name="Shape 37"/>
          <p:cNvSpPr/>
          <p:nvPr/>
        </p:nvSpPr>
        <p:spPr>
          <a:xfrm>
            <a:off x="6903720" y="5093208"/>
            <a:ext cx="0" cy="256032"/>
          </a:xfrm>
          <a:prstGeom prst="line">
            <a:avLst/>
          </a:prstGeom>
          <a:noFill/>
          <a:ln w="15875">
            <a:solidFill>
              <a:srgbClr val="14213D"/>
            </a:solidFill>
            <a:prstDash val="solid"/>
          </a:ln>
        </p:spPr>
        <p:txBody>
          <a:bodyPr/>
          <a:p/>
        </p:txBody>
      </p:sp>
      <p:sp>
        <p:nvSpPr>
          <p:cNvPr id="41" name="Shape 38"/>
          <p:cNvSpPr/>
          <p:nvPr/>
        </p:nvSpPr>
        <p:spPr>
          <a:xfrm>
            <a:off x="6903720" y="5349240"/>
            <a:ext cx="1051560" cy="0"/>
          </a:xfrm>
          <a:prstGeom prst="line">
            <a:avLst/>
          </a:prstGeom>
          <a:noFill/>
          <a:ln w="15875">
            <a:solidFill>
              <a:srgbClr val="14213D"/>
            </a:solidFill>
            <a:prstDash val="solid"/>
          </a:ln>
        </p:spPr>
        <p:txBody>
          <a:bodyPr/>
          <a:p/>
        </p:txBody>
      </p:sp>
      <p:sp>
        <p:nvSpPr>
          <p:cNvPr id="42" name="Shape 39"/>
          <p:cNvSpPr/>
          <p:nvPr/>
        </p:nvSpPr>
        <p:spPr>
          <a:xfrm flipV="1">
            <a:off x="7955280" y="2926080"/>
            <a:ext cx="0" cy="2423160"/>
          </a:xfrm>
          <a:prstGeom prst="line">
            <a:avLst/>
          </a:prstGeom>
          <a:noFill/>
          <a:ln w="15875">
            <a:solidFill>
              <a:srgbClr val="14213D"/>
            </a:solidFill>
            <a:prstDash val="solid"/>
          </a:ln>
        </p:spPr>
        <p:txBody>
          <a:bodyPr/>
          <a:p/>
        </p:txBody>
      </p:sp>
      <p:sp>
        <p:nvSpPr>
          <p:cNvPr id="43" name="Shape 40"/>
          <p:cNvSpPr/>
          <p:nvPr/>
        </p:nvSpPr>
        <p:spPr>
          <a:xfrm flipH="1">
            <a:off x="2843784" y="2926080"/>
            <a:ext cx="5111496" cy="0"/>
          </a:xfrm>
          <a:prstGeom prst="line">
            <a:avLst/>
          </a:prstGeom>
          <a:noFill/>
          <a:ln w="15875">
            <a:solidFill>
              <a:srgbClr val="14213D"/>
            </a:solidFill>
            <a:prstDash val="solid"/>
            <a:tailEnd type="triangle"/>
          </a:ln>
        </p:spPr>
        <p:txBody>
          <a:bodyPr/>
          <a:p/>
        </p:txBody>
      </p:sp>
      <p:sp>
        <p:nvSpPr>
          <p:cNvPr id="44" name="Shape 41"/>
          <p:cNvSpPr/>
          <p:nvPr/>
        </p:nvSpPr>
        <p:spPr>
          <a:xfrm>
            <a:off x="8229600" y="1600200"/>
            <a:ext cx="3429000" cy="1828800"/>
          </a:xfrm>
          <a:prstGeom prst="roundRect">
            <a:avLst>
              <a:gd name="adj" fmla="val 5000"/>
            </a:avLst>
          </a:prstGeom>
          <a:solidFill>
            <a:srgbClr val="0B0F19"/>
          </a:solidFill>
          <a:ln w="12700">
            <a:solidFill>
              <a:srgbClr val="2A3654"/>
            </a:solidFill>
            <a:prstDash val="solid"/>
          </a:ln>
        </p:spPr>
        <p:txBody>
          <a:bodyPr/>
          <a:p/>
        </p:txBody>
      </p:sp>
      <p:sp>
        <p:nvSpPr>
          <p:cNvPr id="45" name="Shape 42"/>
          <p:cNvSpPr/>
          <p:nvPr/>
        </p:nvSpPr>
        <p:spPr>
          <a:xfrm>
            <a:off x="8412480" y="1728216"/>
            <a:ext cx="118872" cy="118872"/>
          </a:xfrm>
          <a:prstGeom prst="ellipse">
            <a:avLst/>
          </a:prstGeom>
          <a:solidFill>
            <a:srgbClr val="FF5F57"/>
          </a:solidFill>
          <a:ln w="12700">
            <a:solidFill>
              <a:srgbClr val="FF5F57"/>
            </a:solidFill>
            <a:prstDash val="solid"/>
          </a:ln>
        </p:spPr>
        <p:txBody>
          <a:bodyPr/>
          <a:p/>
        </p:txBody>
      </p:sp>
      <p:sp>
        <p:nvSpPr>
          <p:cNvPr id="46" name="Shape 43"/>
          <p:cNvSpPr/>
          <p:nvPr/>
        </p:nvSpPr>
        <p:spPr>
          <a:xfrm>
            <a:off x="8641080" y="1728216"/>
            <a:ext cx="118872" cy="118872"/>
          </a:xfrm>
          <a:prstGeom prst="ellipse">
            <a:avLst/>
          </a:prstGeom>
          <a:solidFill>
            <a:srgbClr val="FEBC2E"/>
          </a:solidFill>
          <a:ln w="12700">
            <a:solidFill>
              <a:srgbClr val="FEBC2E"/>
            </a:solidFill>
            <a:prstDash val="solid"/>
          </a:ln>
        </p:spPr>
        <p:txBody>
          <a:bodyPr/>
          <a:p/>
        </p:txBody>
      </p:sp>
      <p:sp>
        <p:nvSpPr>
          <p:cNvPr id="47" name="Shape 44"/>
          <p:cNvSpPr/>
          <p:nvPr/>
        </p:nvSpPr>
        <p:spPr>
          <a:xfrm>
            <a:off x="8869680" y="1728216"/>
            <a:ext cx="118872" cy="118872"/>
          </a:xfrm>
          <a:prstGeom prst="ellipse">
            <a:avLst/>
          </a:prstGeom>
          <a:solidFill>
            <a:srgbClr val="28C840"/>
          </a:solidFill>
          <a:ln w="12700">
            <a:solidFill>
              <a:srgbClr val="28C840"/>
            </a:solidFill>
            <a:prstDash val="solid"/>
          </a:ln>
        </p:spPr>
        <p:txBody>
          <a:bodyPr/>
          <a:p/>
        </p:txBody>
      </p:sp>
      <p:sp>
        <p:nvSpPr>
          <p:cNvPr id="48" name="Text 45"/>
          <p:cNvSpPr txBox="1"/>
          <p:nvPr/>
        </p:nvSpPr>
        <p:spPr>
          <a:xfrm>
            <a:off x="9144000" y="1673352"/>
            <a:ext cx="2331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code/02_10_GuessNumber</a:t>
            </a:r>
            <a:endParaRPr lang="en-US" sz="1000" dirty="0"/>
          </a:p>
        </p:txBody>
      </p:sp>
      <p:sp>
        <p:nvSpPr>
          <p:cNvPr id="49" name="Text 46"/>
          <p:cNvSpPr txBox="1"/>
          <p:nvPr/>
        </p:nvSpPr>
        <p:spPr>
          <a:xfrm>
            <a:off x="8458200" y="1984248"/>
            <a:ext cx="2971800" cy="13258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Lower!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Higher!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Correct!</a:t>
            </a:r>
            <a:endParaRPr lang="en-US" sz="1300" dirty="0"/>
          </a:p>
        </p:txBody>
      </p:sp>
      <p:sp>
        <p:nvSpPr>
          <p:cNvPr id="50" name="Shape 47"/>
          <p:cNvSpPr/>
          <p:nvPr/>
        </p:nvSpPr>
        <p:spPr>
          <a:xfrm>
            <a:off x="8229600" y="3611880"/>
            <a:ext cx="3429000" cy="2468880"/>
          </a:xfrm>
          <a:prstGeom prst="roundRect">
            <a:avLst>
              <a:gd name="adj" fmla="val 4444"/>
            </a:avLst>
          </a:prstGeom>
          <a:solidFill>
            <a:srgbClr val="EEF1F6"/>
          </a:solidFill>
          <a:ln w="12700">
            <a:solidFill>
              <a:srgbClr val="EEF1F6"/>
            </a:solidFill>
            <a:prstDash val="solid"/>
          </a:ln>
        </p:spPr>
        <p:txBody>
          <a:bodyPr/>
          <a:p/>
        </p:txBody>
      </p:sp>
      <p:sp>
        <p:nvSpPr>
          <p:cNvPr id="51" name="Text 48"/>
          <p:cNvSpPr txBox="1"/>
          <p:nvPr/>
        </p:nvSpPr>
        <p:spPr>
          <a:xfrm>
            <a:off x="8412480" y="3703320"/>
            <a:ext cx="310896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Reading the chart</a:t>
            </a:r>
            <a:endParaRPr lang="en-US" sz="1600" dirty="0"/>
          </a:p>
        </p:txBody>
      </p:sp>
      <p:sp>
        <p:nvSpPr>
          <p:cNvPr id="52" name="Text 49"/>
          <p:cNvSpPr txBox="1"/>
          <p:nvPr/>
        </p:nvSpPr>
        <p:spPr>
          <a:xfrm>
            <a:off x="8412480" y="4114800"/>
            <a:ext cx="31089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3B4F"/>
                </a:solidFill>
                <a:latin typeface="Calibri" pitchFamily="34" charset="0"/>
                <a:ea typeface="Calibri" pitchFamily="34" charset="-122"/>
                <a:cs typeface="Calibri" pitchFamily="34" charset="-120"/>
              </a:rPr>
              <a:t>The upward arrow on the right makes the loop.</a:t>
            </a:r>
            <a:endParaRPr lang="en-US" sz="1400" dirty="0"/>
          </a:p>
          <a:p>
            <a:pPr marL="342900" indent="-342900">
              <a:spcAft>
                <a:spcPts val="600"/>
              </a:spcAft>
              <a:buSzPct val="100000"/>
              <a:buChar char="•"/>
            </a:pPr>
            <a:r>
              <a:rPr lang="en-US" sz="1400" dirty="0">
                <a:solidFill>
                  <a:srgbClr val="333B4F"/>
                </a:solidFill>
                <a:latin typeface="Calibri" pitchFamily="34" charset="0"/>
                <a:ea typeface="Calibri" pitchFamily="34" charset="-122"/>
                <a:cs typeface="Calibri" pitchFamily="34" charset="-120"/>
              </a:rPr>
              <a:t>Both hints go back to “Read guess”.</a:t>
            </a:r>
            <a:endParaRPr lang="en-US" sz="1400" dirty="0"/>
          </a:p>
          <a:p>
            <a:pPr marL="342900" indent="-342900">
              <a:spcAft>
                <a:spcPts val="600"/>
              </a:spcAft>
              <a:buSzPct val="100000"/>
              <a:buChar char="•"/>
            </a:pPr>
            <a:r>
              <a:rPr lang="en-US" sz="1400" dirty="0">
                <a:solidFill>
                  <a:srgbClr val="333B4F"/>
                </a:solidFill>
                <a:latin typeface="Calibri" pitchFamily="34" charset="0"/>
                <a:ea typeface="Calibri" pitchFamily="34" charset="-122"/>
                <a:cs typeface="Calibri" pitchFamily="34" charset="-120"/>
              </a:rPr>
              <a:t>Only “yes” at the first diamond leaves the loop.</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C# PREVIEW</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Guess the Number: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00200"/>
            <a:ext cx="6583680" cy="4480560"/>
          </a:xfrm>
          <a:prstGeom prst="roundRect">
            <a:avLst>
              <a:gd name="adj" fmla="val 2041"/>
            </a:avLst>
          </a:prstGeom>
          <a:solidFill>
            <a:srgbClr val="0F1729"/>
          </a:solidFill>
          <a:ln w="12700">
            <a:solidFill>
              <a:srgbClr val="0F1729"/>
            </a:solidFill>
            <a:prstDash val="solid"/>
          </a:ln>
        </p:spPr>
        <p:txBody>
          <a:bodyPr/>
          <a:p/>
        </p:txBody>
      </p:sp>
      <p:sp>
        <p:nvSpPr>
          <p:cNvPr id="8" name="Text 5"/>
          <p:cNvSpPr txBox="1"/>
          <p:nvPr/>
        </p:nvSpPr>
        <p:spPr>
          <a:xfrm>
            <a:off x="777240" y="1709928"/>
            <a:ext cx="6126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code/02_10_GuessNumber/Program.cs</a:t>
            </a:r>
            <a:endParaRPr lang="en-US" sz="1100" dirty="0"/>
          </a:p>
        </p:txBody>
      </p:sp>
      <p:sp>
        <p:nvSpPr>
          <p:cNvPr id="9" name="Text 6"/>
          <p:cNvSpPr txBox="1"/>
          <p:nvPr/>
        </p:nvSpPr>
        <p:spPr>
          <a:xfrm>
            <a:off x="777240" y="2011680"/>
            <a:ext cx="6126480" cy="3959352"/>
          </a:xfrm>
          <a:prstGeom prst="rect">
            <a:avLst/>
          </a:prstGeom>
          <a:noFill/>
          <a:ln/>
        </p:spPr>
        <p:txBody>
          <a:bodyPr wrap="square" lIns="0" tIns="0" rIns="0" bIns="0" rtlCol="0" anchor="t"/>
          <a:lstStyle/>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secret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fixed for now (random number in Week 7)</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"Your guess: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 secret)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&lt; secret)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"Higher!"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12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13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14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"Lower!"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15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16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"Your guess: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17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read again</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18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19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5A6680"/>
                </a:solidFill>
                <a:latin typeface="Courier New" pitchFamily="34" charset="0"/>
                <a:ea typeface="Courier New" pitchFamily="34" charset="-122"/>
                <a:cs typeface="Courier New" pitchFamily="34" charset="-120"/>
              </a:rPr>
              <a:t>20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"Correct!"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06640" y="1600200"/>
            <a:ext cx="4251960" cy="777240"/>
          </a:xfrm>
          <a:prstGeom prst="roundRect">
            <a:avLst>
              <a:gd name="adj" fmla="val 14118"/>
            </a:avLst>
          </a:prstGeom>
          <a:solidFill>
            <a:srgbClr val="EEF1F6"/>
          </a:solidFill>
          <a:ln w="12700">
            <a:solidFill>
              <a:srgbClr val="EEF1F6"/>
            </a:solidFill>
            <a:prstDash val="solid"/>
          </a:ln>
        </p:spPr>
        <p:txBody>
          <a:bodyPr/>
          <a:p/>
        </p:txBody>
      </p:sp>
      <p:sp>
        <p:nvSpPr>
          <p:cNvPr id="11" name="Text 8"/>
          <p:cNvSpPr txBox="1"/>
          <p:nvPr/>
        </p:nvSpPr>
        <p:spPr>
          <a:xfrm>
            <a:off x="7589520" y="1673352"/>
            <a:ext cx="1280160" cy="64008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lines 3–4</a:t>
            </a:r>
            <a:endParaRPr lang="en-US" sz="1300" dirty="0"/>
          </a:p>
        </p:txBody>
      </p:sp>
      <p:sp>
        <p:nvSpPr>
          <p:cNvPr id="12" name="Text 9"/>
          <p:cNvSpPr txBox="1"/>
          <p:nvPr/>
        </p:nvSpPr>
        <p:spPr>
          <a:xfrm>
            <a:off x="8869680" y="1673352"/>
            <a:ext cx="2697480" cy="6400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Read guess  (first time)</a:t>
            </a:r>
            <a:endParaRPr lang="en-US" sz="1400" dirty="0"/>
          </a:p>
        </p:txBody>
      </p:sp>
      <p:sp>
        <p:nvSpPr>
          <p:cNvPr id="13" name="Shape 10"/>
          <p:cNvSpPr/>
          <p:nvPr/>
        </p:nvSpPr>
        <p:spPr>
          <a:xfrm>
            <a:off x="7406640" y="2496312"/>
            <a:ext cx="4251960" cy="777240"/>
          </a:xfrm>
          <a:prstGeom prst="roundRect">
            <a:avLst>
              <a:gd name="adj" fmla="val 14118"/>
            </a:avLst>
          </a:prstGeom>
          <a:solidFill>
            <a:srgbClr val="EEF1F6"/>
          </a:solidFill>
          <a:ln w="12700">
            <a:solidFill>
              <a:srgbClr val="EEF1F6"/>
            </a:solidFill>
            <a:prstDash val="solid"/>
          </a:ln>
        </p:spPr>
        <p:txBody>
          <a:bodyPr/>
          <a:p/>
        </p:txBody>
      </p:sp>
      <p:sp>
        <p:nvSpPr>
          <p:cNvPr id="14" name="Text 11"/>
          <p:cNvSpPr txBox="1"/>
          <p:nvPr/>
        </p:nvSpPr>
        <p:spPr>
          <a:xfrm>
            <a:off x="7589520" y="2569464"/>
            <a:ext cx="1280160" cy="64008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line 6</a:t>
            </a:r>
            <a:endParaRPr lang="en-US" sz="1300" dirty="0"/>
          </a:p>
        </p:txBody>
      </p:sp>
      <p:sp>
        <p:nvSpPr>
          <p:cNvPr id="15" name="Text 12"/>
          <p:cNvSpPr txBox="1"/>
          <p:nvPr/>
        </p:nvSpPr>
        <p:spPr>
          <a:xfrm>
            <a:off x="8869680" y="2569464"/>
            <a:ext cx="2697480" cy="6400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diamond guess = secret?  — loop runs while NOT equal</a:t>
            </a:r>
            <a:endParaRPr lang="en-US" sz="1400" dirty="0"/>
          </a:p>
        </p:txBody>
      </p:sp>
      <p:sp>
        <p:nvSpPr>
          <p:cNvPr id="16" name="Shape 13"/>
          <p:cNvSpPr/>
          <p:nvPr/>
        </p:nvSpPr>
        <p:spPr>
          <a:xfrm>
            <a:off x="7406640" y="3392424"/>
            <a:ext cx="4251960" cy="777240"/>
          </a:xfrm>
          <a:prstGeom prst="roundRect">
            <a:avLst>
              <a:gd name="adj" fmla="val 14118"/>
            </a:avLst>
          </a:prstGeom>
          <a:solidFill>
            <a:srgbClr val="EEF1F6"/>
          </a:solidFill>
          <a:ln w="12700">
            <a:solidFill>
              <a:srgbClr val="EEF1F6"/>
            </a:solidFill>
            <a:prstDash val="solid"/>
          </a:ln>
        </p:spPr>
        <p:txBody>
          <a:bodyPr/>
          <a:p/>
        </p:txBody>
      </p:sp>
      <p:sp>
        <p:nvSpPr>
          <p:cNvPr id="17" name="Text 14"/>
          <p:cNvSpPr txBox="1"/>
          <p:nvPr/>
        </p:nvSpPr>
        <p:spPr>
          <a:xfrm>
            <a:off x="7589520" y="3465576"/>
            <a:ext cx="1280160" cy="64008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lines 8–15</a:t>
            </a:r>
            <a:endParaRPr lang="en-US" sz="1300" dirty="0"/>
          </a:p>
        </p:txBody>
      </p:sp>
      <p:sp>
        <p:nvSpPr>
          <p:cNvPr id="18" name="Text 15"/>
          <p:cNvSpPr txBox="1"/>
          <p:nvPr/>
        </p:nvSpPr>
        <p:spPr>
          <a:xfrm>
            <a:off x="8869680" y="3465576"/>
            <a:ext cx="2697480" cy="6400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inner diamond: Higher! / Lower!</a:t>
            </a:r>
            <a:endParaRPr lang="en-US" sz="1400" dirty="0"/>
          </a:p>
        </p:txBody>
      </p:sp>
      <p:sp>
        <p:nvSpPr>
          <p:cNvPr id="19" name="Shape 16"/>
          <p:cNvSpPr/>
          <p:nvPr/>
        </p:nvSpPr>
        <p:spPr>
          <a:xfrm>
            <a:off x="7406640" y="4288536"/>
            <a:ext cx="4251960" cy="777240"/>
          </a:xfrm>
          <a:prstGeom prst="roundRect">
            <a:avLst>
              <a:gd name="adj" fmla="val 14118"/>
            </a:avLst>
          </a:prstGeom>
          <a:solidFill>
            <a:srgbClr val="EEF1F6"/>
          </a:solidFill>
          <a:ln w="12700">
            <a:solidFill>
              <a:srgbClr val="EEF1F6"/>
            </a:solidFill>
            <a:prstDash val="solid"/>
          </a:ln>
        </p:spPr>
        <p:txBody>
          <a:bodyPr/>
          <a:p/>
        </p:txBody>
      </p:sp>
      <p:sp>
        <p:nvSpPr>
          <p:cNvPr id="20" name="Text 17"/>
          <p:cNvSpPr txBox="1"/>
          <p:nvPr/>
        </p:nvSpPr>
        <p:spPr>
          <a:xfrm>
            <a:off x="7589520" y="4361688"/>
            <a:ext cx="1280160" cy="64008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lines 16–17</a:t>
            </a:r>
            <a:endParaRPr lang="en-US" sz="1300" dirty="0"/>
          </a:p>
        </p:txBody>
      </p:sp>
      <p:sp>
        <p:nvSpPr>
          <p:cNvPr id="21" name="Text 18"/>
          <p:cNvSpPr txBox="1"/>
          <p:nvPr/>
        </p:nvSpPr>
        <p:spPr>
          <a:xfrm>
            <a:off x="8869680" y="4361688"/>
            <a:ext cx="2697480" cy="6400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Read guess again = the back-edge</a:t>
            </a:r>
            <a:endParaRPr lang="en-US" sz="1400" dirty="0"/>
          </a:p>
        </p:txBody>
      </p:sp>
      <p:sp>
        <p:nvSpPr>
          <p:cNvPr id="22" name="Shape 19"/>
          <p:cNvSpPr/>
          <p:nvPr/>
        </p:nvSpPr>
        <p:spPr>
          <a:xfrm>
            <a:off x="7406640" y="5184648"/>
            <a:ext cx="4251960" cy="777240"/>
          </a:xfrm>
          <a:prstGeom prst="roundRect">
            <a:avLst>
              <a:gd name="adj" fmla="val 14118"/>
            </a:avLst>
          </a:prstGeom>
          <a:solidFill>
            <a:srgbClr val="EEF1F6"/>
          </a:solidFill>
          <a:ln w="12700">
            <a:solidFill>
              <a:srgbClr val="EEF1F6"/>
            </a:solidFill>
            <a:prstDash val="solid"/>
          </a:ln>
        </p:spPr>
        <p:txBody>
          <a:bodyPr/>
          <a:p/>
        </p:txBody>
      </p:sp>
      <p:sp>
        <p:nvSpPr>
          <p:cNvPr id="23" name="Text 20"/>
          <p:cNvSpPr txBox="1"/>
          <p:nvPr/>
        </p:nvSpPr>
        <p:spPr>
          <a:xfrm>
            <a:off x="7589520" y="5257800"/>
            <a:ext cx="1280160" cy="64008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line 20</a:t>
            </a:r>
            <a:endParaRPr lang="en-US" sz="1300" dirty="0"/>
          </a:p>
        </p:txBody>
      </p:sp>
      <p:sp>
        <p:nvSpPr>
          <p:cNvPr id="24" name="Text 21"/>
          <p:cNvSpPr txBox="1"/>
          <p:nvPr/>
        </p:nvSpPr>
        <p:spPr>
          <a:xfrm>
            <a:off x="8869680" y="5257800"/>
            <a:ext cx="2697480" cy="6400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the only way out: Correct!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WEEK 1 EXERCISE C</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ATM Withdrawal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1965960" y="1554480"/>
            <a:ext cx="1188720" cy="329184"/>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2011680" y="1554480"/>
            <a:ext cx="1097280" cy="3291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417320" y="2020824"/>
            <a:ext cx="228600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463040" y="2020824"/>
            <a:ext cx="219456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balance, amount</a:t>
            </a:r>
            <a:endParaRPr lang="en-US" sz="1300" dirty="0"/>
          </a:p>
        </p:txBody>
      </p:sp>
      <p:sp>
        <p:nvSpPr>
          <p:cNvPr id="11" name="Shape 8"/>
          <p:cNvSpPr/>
          <p:nvPr/>
        </p:nvSpPr>
        <p:spPr>
          <a:xfrm>
            <a:off x="1188720" y="2606040"/>
            <a:ext cx="2743200" cy="914400"/>
          </a:xfrm>
          <a:prstGeom prst="flowChartDecision">
            <a:avLst/>
          </a:prstGeom>
          <a:solidFill>
            <a:srgbClr val="E3ECF8"/>
          </a:solidFill>
          <a:ln w="15875">
            <a:solidFill>
              <a:srgbClr val="14213D"/>
            </a:solidFill>
            <a:prstDash val="solid"/>
          </a:ln>
        </p:spPr>
        <p:txBody>
          <a:bodyPr/>
          <a:p/>
        </p:txBody>
      </p:sp>
      <p:sp>
        <p:nvSpPr>
          <p:cNvPr id="12" name="Text 9"/>
          <p:cNvSpPr txBox="1"/>
          <p:nvPr/>
        </p:nvSpPr>
        <p:spPr>
          <a:xfrm>
            <a:off x="1234440" y="2606040"/>
            <a:ext cx="2651760" cy="9144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amount &gt; 0 AND</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amount mod 10 = 0 ?</a:t>
            </a:r>
            <a:endParaRPr lang="en-US" sz="1200" dirty="0"/>
          </a:p>
        </p:txBody>
      </p:sp>
      <p:sp>
        <p:nvSpPr>
          <p:cNvPr id="13" name="Shape 10"/>
          <p:cNvSpPr/>
          <p:nvPr/>
        </p:nvSpPr>
        <p:spPr>
          <a:xfrm>
            <a:off x="1417320" y="3758184"/>
            <a:ext cx="2286000" cy="658368"/>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463040" y="3758184"/>
            <a:ext cx="2194560" cy="65836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amount ≤ balance ?</a:t>
            </a:r>
            <a:endParaRPr lang="en-US" sz="1300" dirty="0"/>
          </a:p>
        </p:txBody>
      </p:sp>
      <p:sp>
        <p:nvSpPr>
          <p:cNvPr id="15" name="Shape 12"/>
          <p:cNvSpPr/>
          <p:nvPr/>
        </p:nvSpPr>
        <p:spPr>
          <a:xfrm>
            <a:off x="1280160" y="4654296"/>
            <a:ext cx="2560320" cy="384048"/>
          </a:xfrm>
          <a:prstGeom prst="flowChartProcess">
            <a:avLst/>
          </a:prstGeom>
          <a:solidFill>
            <a:srgbClr val="FFFFFF"/>
          </a:solidFill>
          <a:ln w="15875">
            <a:solidFill>
              <a:srgbClr val="14213D"/>
            </a:solidFill>
            <a:prstDash val="solid"/>
          </a:ln>
        </p:spPr>
        <p:txBody>
          <a:bodyPr/>
          <a:p/>
        </p:txBody>
      </p:sp>
      <p:sp>
        <p:nvSpPr>
          <p:cNvPr id="16" name="Text 13"/>
          <p:cNvSpPr txBox="1"/>
          <p:nvPr/>
        </p:nvSpPr>
        <p:spPr>
          <a:xfrm>
            <a:off x="1325880" y="4654296"/>
            <a:ext cx="246888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balance ← balance − amount</a:t>
            </a:r>
            <a:endParaRPr lang="en-US" sz="1300" dirty="0"/>
          </a:p>
        </p:txBody>
      </p:sp>
      <p:sp>
        <p:nvSpPr>
          <p:cNvPr id="17" name="Shape 14"/>
          <p:cNvSpPr/>
          <p:nvPr/>
        </p:nvSpPr>
        <p:spPr>
          <a:xfrm>
            <a:off x="1691640" y="5212080"/>
            <a:ext cx="1737360" cy="365760"/>
          </a:xfrm>
          <a:prstGeom prst="flowChartInputOutput">
            <a:avLst/>
          </a:prstGeom>
          <a:solidFill>
            <a:srgbClr val="FFFFFF"/>
          </a:solidFill>
          <a:ln w="15875">
            <a:solidFill>
              <a:srgbClr val="14213D"/>
            </a:solidFill>
            <a:prstDash val="solid"/>
          </a:ln>
        </p:spPr>
        <p:txBody>
          <a:bodyPr/>
          <a:p/>
        </p:txBody>
      </p:sp>
      <p:sp>
        <p:nvSpPr>
          <p:cNvPr id="18" name="Text 15"/>
          <p:cNvSpPr txBox="1"/>
          <p:nvPr/>
        </p:nvSpPr>
        <p:spPr>
          <a:xfrm>
            <a:off x="1737360" y="5212080"/>
            <a:ext cx="164592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balance</a:t>
            </a:r>
            <a:endParaRPr lang="en-US" sz="1300" dirty="0"/>
          </a:p>
        </p:txBody>
      </p:sp>
      <p:sp>
        <p:nvSpPr>
          <p:cNvPr id="19" name="Shape 16"/>
          <p:cNvSpPr/>
          <p:nvPr/>
        </p:nvSpPr>
        <p:spPr>
          <a:xfrm>
            <a:off x="2011680" y="5742432"/>
            <a:ext cx="1097280" cy="310896"/>
          </a:xfrm>
          <a:prstGeom prst="flowChartTerminator">
            <a:avLst/>
          </a:prstGeom>
          <a:solidFill>
            <a:srgbClr val="FFF1D6"/>
          </a:solidFill>
          <a:ln w="15875">
            <a:solidFill>
              <a:srgbClr val="14213D"/>
            </a:solidFill>
            <a:prstDash val="solid"/>
          </a:ln>
        </p:spPr>
        <p:txBody>
          <a:bodyPr/>
          <a:p/>
        </p:txBody>
      </p:sp>
      <p:sp>
        <p:nvSpPr>
          <p:cNvPr id="20" name="Text 17"/>
          <p:cNvSpPr txBox="1"/>
          <p:nvPr/>
        </p:nvSpPr>
        <p:spPr>
          <a:xfrm>
            <a:off x="2057400" y="5742432"/>
            <a:ext cx="1005840" cy="31089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1" name="Shape 18"/>
          <p:cNvSpPr/>
          <p:nvPr/>
        </p:nvSpPr>
        <p:spPr>
          <a:xfrm>
            <a:off x="4343400" y="2862072"/>
            <a:ext cx="2011680" cy="402336"/>
          </a:xfrm>
          <a:prstGeom prst="flowChartInputOutput">
            <a:avLst/>
          </a:prstGeom>
          <a:solidFill>
            <a:srgbClr val="FFFFFF"/>
          </a:solidFill>
          <a:ln w="15875">
            <a:solidFill>
              <a:srgbClr val="14213D"/>
            </a:solidFill>
            <a:prstDash val="solid"/>
          </a:ln>
        </p:spPr>
        <p:txBody>
          <a:bodyPr/>
          <a:p/>
        </p:txBody>
      </p:sp>
      <p:sp>
        <p:nvSpPr>
          <p:cNvPr id="22" name="Text 19"/>
          <p:cNvSpPr txBox="1"/>
          <p:nvPr/>
        </p:nvSpPr>
        <p:spPr>
          <a:xfrm>
            <a:off x="4389120" y="2862072"/>
            <a:ext cx="192024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"invalid"</a:t>
            </a:r>
            <a:endParaRPr lang="en-US" sz="1300" dirty="0"/>
          </a:p>
        </p:txBody>
      </p:sp>
      <p:sp>
        <p:nvSpPr>
          <p:cNvPr id="23" name="Shape 20"/>
          <p:cNvSpPr/>
          <p:nvPr/>
        </p:nvSpPr>
        <p:spPr>
          <a:xfrm>
            <a:off x="4343400" y="3886200"/>
            <a:ext cx="2011680" cy="402336"/>
          </a:xfrm>
          <a:prstGeom prst="flowChartInputOutput">
            <a:avLst/>
          </a:prstGeom>
          <a:solidFill>
            <a:srgbClr val="FFFFFF"/>
          </a:solidFill>
          <a:ln w="15875">
            <a:solidFill>
              <a:srgbClr val="14213D"/>
            </a:solidFill>
            <a:prstDash val="solid"/>
          </a:ln>
        </p:spPr>
        <p:txBody>
          <a:bodyPr/>
          <a:p/>
        </p:txBody>
      </p:sp>
      <p:sp>
        <p:nvSpPr>
          <p:cNvPr id="24" name="Text 21"/>
          <p:cNvSpPr txBox="1"/>
          <p:nvPr/>
        </p:nvSpPr>
        <p:spPr>
          <a:xfrm>
            <a:off x="4389120" y="3886200"/>
            <a:ext cx="192024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"no funds"</a:t>
            </a:r>
            <a:endParaRPr lang="en-US" sz="1300" dirty="0"/>
          </a:p>
        </p:txBody>
      </p:sp>
      <p:sp>
        <p:nvSpPr>
          <p:cNvPr id="25" name="Shape 22"/>
          <p:cNvSpPr/>
          <p:nvPr/>
        </p:nvSpPr>
        <p:spPr>
          <a:xfrm>
            <a:off x="2560320" y="1883664"/>
            <a:ext cx="0" cy="137160"/>
          </a:xfrm>
          <a:prstGeom prst="line">
            <a:avLst/>
          </a:prstGeom>
          <a:noFill/>
          <a:ln w="15875">
            <a:solidFill>
              <a:srgbClr val="14213D"/>
            </a:solidFill>
            <a:prstDash val="solid"/>
            <a:tailEnd type="triangle"/>
          </a:ln>
        </p:spPr>
        <p:txBody>
          <a:bodyPr/>
          <a:p/>
        </p:txBody>
      </p:sp>
      <p:sp>
        <p:nvSpPr>
          <p:cNvPr id="26" name="Shape 23"/>
          <p:cNvSpPr/>
          <p:nvPr/>
        </p:nvSpPr>
        <p:spPr>
          <a:xfrm>
            <a:off x="2560320" y="2404872"/>
            <a:ext cx="0" cy="201168"/>
          </a:xfrm>
          <a:prstGeom prst="line">
            <a:avLst/>
          </a:prstGeom>
          <a:noFill/>
          <a:ln w="15875">
            <a:solidFill>
              <a:srgbClr val="14213D"/>
            </a:solidFill>
            <a:prstDash val="solid"/>
            <a:tailEnd type="triangle"/>
          </a:ln>
        </p:spPr>
        <p:txBody>
          <a:bodyPr/>
          <a:p/>
        </p:txBody>
      </p:sp>
      <p:sp>
        <p:nvSpPr>
          <p:cNvPr id="27" name="Shape 24"/>
          <p:cNvSpPr/>
          <p:nvPr/>
        </p:nvSpPr>
        <p:spPr>
          <a:xfrm>
            <a:off x="2560320" y="3520440"/>
            <a:ext cx="0" cy="237744"/>
          </a:xfrm>
          <a:prstGeom prst="line">
            <a:avLst/>
          </a:prstGeom>
          <a:noFill/>
          <a:ln w="15875">
            <a:solidFill>
              <a:srgbClr val="14213D"/>
            </a:solidFill>
            <a:prstDash val="solid"/>
            <a:tailEnd type="triangle"/>
          </a:ln>
        </p:spPr>
        <p:txBody>
          <a:bodyPr/>
          <a:p/>
        </p:txBody>
      </p:sp>
      <p:sp>
        <p:nvSpPr>
          <p:cNvPr id="28" name="Text 25"/>
          <p:cNvSpPr txBox="1"/>
          <p:nvPr/>
        </p:nvSpPr>
        <p:spPr>
          <a:xfrm>
            <a:off x="2624328" y="350215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9" name="Shape 26"/>
          <p:cNvSpPr/>
          <p:nvPr/>
        </p:nvSpPr>
        <p:spPr>
          <a:xfrm>
            <a:off x="3931920" y="3063240"/>
            <a:ext cx="612648" cy="0"/>
          </a:xfrm>
          <a:prstGeom prst="line">
            <a:avLst/>
          </a:prstGeom>
          <a:noFill/>
          <a:ln w="15875">
            <a:solidFill>
              <a:srgbClr val="14213D"/>
            </a:solidFill>
            <a:prstDash val="solid"/>
            <a:tailEnd type="triangle"/>
          </a:ln>
        </p:spPr>
        <p:txBody>
          <a:bodyPr/>
          <a:p/>
        </p:txBody>
      </p:sp>
      <p:sp>
        <p:nvSpPr>
          <p:cNvPr id="30" name="Text 27"/>
          <p:cNvSpPr txBox="1"/>
          <p:nvPr/>
        </p:nvSpPr>
        <p:spPr>
          <a:xfrm>
            <a:off x="3977640" y="2816352"/>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1" name="Shape 28"/>
          <p:cNvSpPr/>
          <p:nvPr/>
        </p:nvSpPr>
        <p:spPr>
          <a:xfrm>
            <a:off x="3703320" y="4087368"/>
            <a:ext cx="841248" cy="0"/>
          </a:xfrm>
          <a:prstGeom prst="line">
            <a:avLst/>
          </a:prstGeom>
          <a:noFill/>
          <a:ln w="15875">
            <a:solidFill>
              <a:srgbClr val="14213D"/>
            </a:solidFill>
            <a:prstDash val="solid"/>
            <a:tailEnd type="triangle"/>
          </a:ln>
        </p:spPr>
        <p:txBody>
          <a:bodyPr/>
          <a:p/>
        </p:txBody>
      </p:sp>
      <p:sp>
        <p:nvSpPr>
          <p:cNvPr id="32" name="Text 29"/>
          <p:cNvSpPr txBox="1"/>
          <p:nvPr/>
        </p:nvSpPr>
        <p:spPr>
          <a:xfrm>
            <a:off x="3749040" y="3840480"/>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3" name="Shape 30"/>
          <p:cNvSpPr/>
          <p:nvPr/>
        </p:nvSpPr>
        <p:spPr>
          <a:xfrm>
            <a:off x="2560320" y="4416552"/>
            <a:ext cx="0" cy="237744"/>
          </a:xfrm>
          <a:prstGeom prst="line">
            <a:avLst/>
          </a:prstGeom>
          <a:noFill/>
          <a:ln w="15875">
            <a:solidFill>
              <a:srgbClr val="14213D"/>
            </a:solidFill>
            <a:prstDash val="solid"/>
            <a:tailEnd type="triangle"/>
          </a:ln>
        </p:spPr>
        <p:txBody>
          <a:bodyPr/>
          <a:p/>
        </p:txBody>
      </p:sp>
      <p:sp>
        <p:nvSpPr>
          <p:cNvPr id="34" name="Text 31"/>
          <p:cNvSpPr txBox="1"/>
          <p:nvPr/>
        </p:nvSpPr>
        <p:spPr>
          <a:xfrm>
            <a:off x="2624328" y="4398264"/>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5" name="Shape 32"/>
          <p:cNvSpPr/>
          <p:nvPr/>
        </p:nvSpPr>
        <p:spPr>
          <a:xfrm>
            <a:off x="2560320" y="5038344"/>
            <a:ext cx="0" cy="173736"/>
          </a:xfrm>
          <a:prstGeom prst="line">
            <a:avLst/>
          </a:prstGeom>
          <a:noFill/>
          <a:ln w="15875">
            <a:solidFill>
              <a:srgbClr val="14213D"/>
            </a:solidFill>
            <a:prstDash val="solid"/>
            <a:tailEnd type="triangle"/>
          </a:ln>
        </p:spPr>
        <p:txBody>
          <a:bodyPr/>
          <a:p/>
        </p:txBody>
      </p:sp>
      <p:sp>
        <p:nvSpPr>
          <p:cNvPr id="36" name="Shape 33"/>
          <p:cNvSpPr/>
          <p:nvPr/>
        </p:nvSpPr>
        <p:spPr>
          <a:xfrm>
            <a:off x="2560320" y="5577840"/>
            <a:ext cx="0" cy="164592"/>
          </a:xfrm>
          <a:prstGeom prst="line">
            <a:avLst/>
          </a:prstGeom>
          <a:noFill/>
          <a:ln w="15875">
            <a:solidFill>
              <a:srgbClr val="14213D"/>
            </a:solidFill>
            <a:prstDash val="solid"/>
            <a:tailEnd type="triangle"/>
          </a:ln>
        </p:spPr>
        <p:txBody>
          <a:bodyPr/>
          <a:p/>
        </p:txBody>
      </p:sp>
      <p:sp>
        <p:nvSpPr>
          <p:cNvPr id="37" name="Shape 34"/>
          <p:cNvSpPr/>
          <p:nvPr/>
        </p:nvSpPr>
        <p:spPr>
          <a:xfrm>
            <a:off x="6153912" y="3063240"/>
            <a:ext cx="521208" cy="0"/>
          </a:xfrm>
          <a:prstGeom prst="line">
            <a:avLst/>
          </a:prstGeom>
          <a:noFill/>
          <a:ln w="15875">
            <a:solidFill>
              <a:srgbClr val="14213D"/>
            </a:solidFill>
            <a:prstDash val="solid"/>
          </a:ln>
        </p:spPr>
        <p:txBody>
          <a:bodyPr/>
          <a:p/>
        </p:txBody>
      </p:sp>
      <p:sp>
        <p:nvSpPr>
          <p:cNvPr id="38" name="Shape 35"/>
          <p:cNvSpPr/>
          <p:nvPr/>
        </p:nvSpPr>
        <p:spPr>
          <a:xfrm>
            <a:off x="6675120" y="3063240"/>
            <a:ext cx="0" cy="2834640"/>
          </a:xfrm>
          <a:prstGeom prst="line">
            <a:avLst/>
          </a:prstGeom>
          <a:noFill/>
          <a:ln w="15875">
            <a:solidFill>
              <a:srgbClr val="14213D"/>
            </a:solidFill>
            <a:prstDash val="solid"/>
          </a:ln>
        </p:spPr>
        <p:txBody>
          <a:bodyPr/>
          <a:p/>
        </p:txBody>
      </p:sp>
      <p:sp>
        <p:nvSpPr>
          <p:cNvPr id="39" name="Shape 36"/>
          <p:cNvSpPr/>
          <p:nvPr/>
        </p:nvSpPr>
        <p:spPr>
          <a:xfrm>
            <a:off x="6153912" y="4087368"/>
            <a:ext cx="521208" cy="0"/>
          </a:xfrm>
          <a:prstGeom prst="line">
            <a:avLst/>
          </a:prstGeom>
          <a:noFill/>
          <a:ln w="15875">
            <a:solidFill>
              <a:srgbClr val="14213D"/>
            </a:solidFill>
            <a:prstDash val="solid"/>
          </a:ln>
        </p:spPr>
        <p:txBody>
          <a:bodyPr/>
          <a:p/>
        </p:txBody>
      </p:sp>
      <p:sp>
        <p:nvSpPr>
          <p:cNvPr id="40" name="Shape 37"/>
          <p:cNvSpPr/>
          <p:nvPr/>
        </p:nvSpPr>
        <p:spPr>
          <a:xfrm flipH="1">
            <a:off x="3108960" y="5897880"/>
            <a:ext cx="3566160" cy="0"/>
          </a:xfrm>
          <a:prstGeom prst="line">
            <a:avLst/>
          </a:prstGeom>
          <a:noFill/>
          <a:ln w="15875">
            <a:solidFill>
              <a:srgbClr val="14213D"/>
            </a:solidFill>
            <a:prstDash val="solid"/>
            <a:tailEnd type="triangle"/>
          </a:ln>
        </p:spPr>
        <p:txBody>
          <a:bodyPr/>
          <a:p/>
        </p:txBody>
      </p:sp>
      <p:sp>
        <p:nvSpPr>
          <p:cNvPr id="41" name="Shape 38"/>
          <p:cNvSpPr/>
          <p:nvPr/>
        </p:nvSpPr>
        <p:spPr>
          <a:xfrm>
            <a:off x="7086600" y="1600200"/>
            <a:ext cx="4572000" cy="3017520"/>
          </a:xfrm>
          <a:prstGeom prst="roundRect">
            <a:avLst>
              <a:gd name="adj" fmla="val 2424"/>
            </a:avLst>
          </a:prstGeom>
          <a:solidFill>
            <a:srgbClr val="F4F6FA"/>
          </a:solidFill>
          <a:ln w="9525">
            <a:solidFill>
              <a:srgbClr val="C9D0DD"/>
            </a:solidFill>
            <a:prstDash val="solid"/>
          </a:ln>
        </p:spPr>
        <p:txBody>
          <a:bodyPr/>
          <a:p/>
        </p:txBody>
      </p:sp>
      <p:sp>
        <p:nvSpPr>
          <p:cNvPr id="42" name="Text 39"/>
          <p:cNvSpPr txBox="1"/>
          <p:nvPr/>
        </p:nvSpPr>
        <p:spPr>
          <a:xfrm>
            <a:off x="7269480" y="1737360"/>
            <a:ext cx="4206240" cy="2788920"/>
          </a:xfrm>
          <a:prstGeom prst="rect">
            <a:avLst/>
          </a:prstGeom>
          <a:noFill/>
          <a:ln/>
        </p:spPr>
        <p:txBody>
          <a:bodyPr wrap="square" lIns="0" tIns="0" rIns="0" bIns="0" rtlCol="0" anchor="t"/>
          <a:lstStyle/>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START</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balance, amount</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amount &gt; 0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amount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10 = 0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THEN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amount ≤ balance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THEN</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balance ← balance − amount</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balance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"no funds"</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IF</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"invalid"</a:t>
            </a:r>
            <a:endParaRPr lang="en-US" sz="1200" dirty="0"/>
          </a:p>
          <a:p>
            <a:pPr indent="0" marL="0">
              <a:spcAft>
                <a:spcPts val="100"/>
              </a:spcAft>
              <a:buNone/>
            </a:pPr>
            <a:r>
              <a:rPr lang="en-US" sz="12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 IF</a:t>
            </a:r>
            <a:endParaRPr lang="en-US" sz="1200" dirty="0"/>
          </a:p>
          <a:p>
            <a:pPr indent="0" marL="0">
              <a:spcAft>
                <a:spcPts val="100"/>
              </a:spcAft>
              <a:buNone/>
            </a:pPr>
            <a:r>
              <a:rPr lang="en-US" sz="1200" b="1" dirty="0">
                <a:solidFill>
                  <a:srgbClr val="2F6FB3"/>
                </a:solidFill>
                <a:latin typeface="Courier New" pitchFamily="34" charset="0"/>
                <a:ea typeface="Courier New" pitchFamily="34" charset="-122"/>
                <a:cs typeface="Courier New" pitchFamily="34" charset="-120"/>
              </a:rPr>
              <a:t>END</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7086600" y="4709160"/>
          <a:ext cx="4572000" cy="914400"/>
        </p:xfrm>
        <a:graphic>
          <a:graphicData uri="http://schemas.openxmlformats.org/drawingml/2006/table">
            <a:tbl>
              <a:tblPr/>
              <a:tblGrid>
                <a:gridCol w="2286000"/>
                <a:gridCol w="2286000"/>
              </a:tblGrid>
              <a:tr h="2286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balance, amount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22860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500, 200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300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2860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500, 500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2860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500, 510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no funds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22860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500, 25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invalid</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228600">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500, −10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ourier New" pitchFamily="34" charset="0"/>
                          <a:ea typeface="Courier New" pitchFamily="34" charset="-122"/>
                          <a:cs typeface="Courier New" pitchFamily="34" charset="-120"/>
                        </a:rPr>
                        <a:t>invalid</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Mistakes, Quiz, Tools and Practice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What goes wrong, how to check yourself, and what to draw with</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2</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Four Flowchart Bugs (and the Fix)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00200"/>
            <a:ext cx="5486400" cy="2103120"/>
          </a:xfrm>
          <a:prstGeom prst="roundRect">
            <a:avLst>
              <a:gd name="adj" fmla="val 5217"/>
            </a:avLst>
          </a:prstGeom>
          <a:solidFill>
            <a:srgbClr val="FBE9E7"/>
          </a:solidFill>
          <a:ln w="12700">
            <a:solidFill>
              <a:srgbClr val="FBE9E7"/>
            </a:solidFill>
            <a:prstDash val="solid"/>
          </a:ln>
        </p:spPr>
        <p:txBody>
          <a:bodyPr/>
          <a:p/>
        </p:txBody>
      </p:sp>
      <p:sp>
        <p:nvSpPr>
          <p:cNvPr id="8" name="Text 5"/>
          <p:cNvSpPr txBox="1"/>
          <p:nvPr/>
        </p:nvSpPr>
        <p:spPr>
          <a:xfrm>
            <a:off x="777240" y="1709928"/>
            <a:ext cx="502920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Decision with one exit</a:t>
            </a:r>
            <a:endParaRPr lang="en-US" sz="1600" dirty="0"/>
          </a:p>
        </p:txBody>
      </p:sp>
      <p:sp>
        <p:nvSpPr>
          <p:cNvPr id="9" name="Text 6"/>
          <p:cNvSpPr txBox="1"/>
          <p:nvPr/>
        </p:nvSpPr>
        <p:spPr>
          <a:xfrm>
            <a:off x="3566160" y="2194560"/>
            <a:ext cx="2331720" cy="1371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Every diamond needs two labelled exits: add the “no” path.</a:t>
            </a:r>
            <a:endParaRPr lang="en-US" sz="1400" dirty="0"/>
          </a:p>
        </p:txBody>
      </p:sp>
      <p:pic>
        <p:nvPicPr>
          <p:cNvPr id="10" name="Image 0" descr="preencoded.png">    </p:cNvPr>
          <p:cNvPicPr>
            <a:picLocks noChangeAspect="1"/>
          </p:cNvPicPr>
          <p:nvPr/>
        </p:nvPicPr>
        <p:blipFill>
          <a:blip r:embed="rId1"/>
          <a:stretch>
            <a:fillRect/>
          </a:stretch>
        </p:blipFill>
        <p:spPr>
          <a:xfrm>
            <a:off x="5532120" y="1709928"/>
            <a:ext cx="320040" cy="320040"/>
          </a:xfrm>
          <a:prstGeom prst="rect">
            <a:avLst/>
          </a:prstGeom>
        </p:spPr>
      </p:pic>
      <p:sp>
        <p:nvSpPr>
          <p:cNvPr id="11" name="Shape 7"/>
          <p:cNvSpPr/>
          <p:nvPr/>
        </p:nvSpPr>
        <p:spPr>
          <a:xfrm>
            <a:off x="6172200" y="1600200"/>
            <a:ext cx="5486400" cy="2103120"/>
          </a:xfrm>
          <a:prstGeom prst="roundRect">
            <a:avLst>
              <a:gd name="adj" fmla="val 5217"/>
            </a:avLst>
          </a:prstGeom>
          <a:solidFill>
            <a:srgbClr val="FBE9E7"/>
          </a:solidFill>
          <a:ln w="12700">
            <a:solidFill>
              <a:srgbClr val="FBE9E7"/>
            </a:solidFill>
            <a:prstDash val="solid"/>
          </a:ln>
        </p:spPr>
        <p:txBody>
          <a:bodyPr/>
          <a:p/>
        </p:txBody>
      </p:sp>
      <p:sp>
        <p:nvSpPr>
          <p:cNvPr id="12" name="Text 8"/>
          <p:cNvSpPr txBox="1"/>
          <p:nvPr/>
        </p:nvSpPr>
        <p:spPr>
          <a:xfrm>
            <a:off x="6400800" y="1709928"/>
            <a:ext cx="502920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Missing End</a:t>
            </a:r>
            <a:endParaRPr lang="en-US" sz="1600" dirty="0"/>
          </a:p>
        </p:txBody>
      </p:sp>
      <p:sp>
        <p:nvSpPr>
          <p:cNvPr id="13" name="Text 9"/>
          <p:cNvSpPr txBox="1"/>
          <p:nvPr/>
        </p:nvSpPr>
        <p:spPr>
          <a:xfrm>
            <a:off x="9189720" y="2194560"/>
            <a:ext cx="2331720" cy="1371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Every path must reach one End terminal.</a:t>
            </a:r>
            <a:endParaRPr lang="en-US" sz="1400" dirty="0"/>
          </a:p>
        </p:txBody>
      </p:sp>
      <p:pic>
        <p:nvPicPr>
          <p:cNvPr id="14" name="Image 1" descr="preencoded.png">    </p:cNvPr>
          <p:cNvPicPr>
            <a:picLocks noChangeAspect="1"/>
          </p:cNvPicPr>
          <p:nvPr/>
        </p:nvPicPr>
        <p:blipFill>
          <a:blip r:embed="rId2"/>
          <a:stretch>
            <a:fillRect/>
          </a:stretch>
        </p:blipFill>
        <p:spPr>
          <a:xfrm>
            <a:off x="11155680" y="1709928"/>
            <a:ext cx="320040" cy="320040"/>
          </a:xfrm>
          <a:prstGeom prst="rect">
            <a:avLst/>
          </a:prstGeom>
        </p:spPr>
      </p:pic>
      <p:sp>
        <p:nvSpPr>
          <p:cNvPr id="15" name="Shape 10"/>
          <p:cNvSpPr/>
          <p:nvPr/>
        </p:nvSpPr>
        <p:spPr>
          <a:xfrm>
            <a:off x="548640" y="3886200"/>
            <a:ext cx="5486400" cy="2103120"/>
          </a:xfrm>
          <a:prstGeom prst="roundRect">
            <a:avLst>
              <a:gd name="adj" fmla="val 5217"/>
            </a:avLst>
          </a:prstGeom>
          <a:solidFill>
            <a:srgbClr val="FBE9E7"/>
          </a:solidFill>
          <a:ln w="12700">
            <a:solidFill>
              <a:srgbClr val="FBE9E7"/>
            </a:solidFill>
            <a:prstDash val="solid"/>
          </a:ln>
        </p:spPr>
        <p:txBody>
          <a:bodyPr/>
          <a:p/>
        </p:txBody>
      </p:sp>
      <p:sp>
        <p:nvSpPr>
          <p:cNvPr id="16" name="Text 11"/>
          <p:cNvSpPr txBox="1"/>
          <p:nvPr/>
        </p:nvSpPr>
        <p:spPr>
          <a:xfrm>
            <a:off x="777240" y="3995928"/>
            <a:ext cx="502920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Loop without update</a:t>
            </a:r>
            <a:endParaRPr lang="en-US" sz="1600" dirty="0"/>
          </a:p>
        </p:txBody>
      </p:sp>
      <p:sp>
        <p:nvSpPr>
          <p:cNvPr id="17" name="Text 12"/>
          <p:cNvSpPr txBox="1"/>
          <p:nvPr/>
        </p:nvSpPr>
        <p:spPr>
          <a:xfrm>
            <a:off x="3566160" y="4480560"/>
            <a:ext cx="2331720" cy="1371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Nothing changes i → infinite loop. Add i ← i + 1.</a:t>
            </a:r>
            <a:endParaRPr lang="en-US" sz="1400" dirty="0"/>
          </a:p>
        </p:txBody>
      </p:sp>
      <p:pic>
        <p:nvPicPr>
          <p:cNvPr id="18" name="Image 2" descr="preencoded.png">    </p:cNvPr>
          <p:cNvPicPr>
            <a:picLocks noChangeAspect="1"/>
          </p:cNvPicPr>
          <p:nvPr/>
        </p:nvPicPr>
        <p:blipFill>
          <a:blip r:embed="rId3"/>
          <a:stretch>
            <a:fillRect/>
          </a:stretch>
        </p:blipFill>
        <p:spPr>
          <a:xfrm>
            <a:off x="5532120" y="3995928"/>
            <a:ext cx="320040" cy="320040"/>
          </a:xfrm>
          <a:prstGeom prst="rect">
            <a:avLst/>
          </a:prstGeom>
        </p:spPr>
      </p:pic>
      <p:sp>
        <p:nvSpPr>
          <p:cNvPr id="19" name="Shape 13"/>
          <p:cNvSpPr/>
          <p:nvPr/>
        </p:nvSpPr>
        <p:spPr>
          <a:xfrm>
            <a:off x="6172200" y="3886200"/>
            <a:ext cx="5486400" cy="2103120"/>
          </a:xfrm>
          <a:prstGeom prst="roundRect">
            <a:avLst>
              <a:gd name="adj" fmla="val 5217"/>
            </a:avLst>
          </a:prstGeom>
          <a:solidFill>
            <a:srgbClr val="FBE9E7"/>
          </a:solidFill>
          <a:ln w="12700">
            <a:solidFill>
              <a:srgbClr val="FBE9E7"/>
            </a:solidFill>
            <a:prstDash val="solid"/>
          </a:ln>
        </p:spPr>
        <p:txBody>
          <a:bodyPr/>
          <a:p/>
        </p:txBody>
      </p:sp>
      <p:sp>
        <p:nvSpPr>
          <p:cNvPr id="20" name="Text 14"/>
          <p:cNvSpPr txBox="1"/>
          <p:nvPr/>
        </p:nvSpPr>
        <p:spPr>
          <a:xfrm>
            <a:off x="6400800" y="3995928"/>
            <a:ext cx="5029200" cy="329184"/>
          </a:xfrm>
          <a:prstGeom prst="rect">
            <a:avLst/>
          </a:prstGeom>
          <a:noFill/>
          <a:ln/>
        </p:spPr>
        <p:txBody>
          <a:bodyPr wrap="square" lIns="0" tIns="0" rIns="0" bIns="0" rtlCol="0" anchor="ctr"/>
          <a:lstStyle/>
          <a:p>
            <a:pPr indent="0" marL="0">
              <a:buNone/>
            </a:pPr>
            <a:r>
              <a:rPr lang="en-US" sz="1600" b="1" dirty="0">
                <a:solidFill>
                  <a:srgbClr val="C8453B"/>
                </a:solidFill>
                <a:latin typeface="Cambria" pitchFamily="34" charset="0"/>
                <a:ea typeface="Cambria" pitchFamily="34" charset="-122"/>
                <a:cs typeface="Cambria" pitchFamily="34" charset="-120"/>
              </a:rPr>
              <a:t>Ambiguous text</a:t>
            </a:r>
            <a:endParaRPr lang="en-US" sz="1600" dirty="0"/>
          </a:p>
        </p:txBody>
      </p:sp>
      <p:sp>
        <p:nvSpPr>
          <p:cNvPr id="21" name="Text 15"/>
          <p:cNvSpPr txBox="1"/>
          <p:nvPr/>
        </p:nvSpPr>
        <p:spPr>
          <a:xfrm>
            <a:off x="9189720" y="4480560"/>
            <a:ext cx="2331720" cy="1371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Say exactly what happens: Read a, b · sum ← a + b.</a:t>
            </a:r>
            <a:endParaRPr lang="en-US" sz="1400" dirty="0"/>
          </a:p>
        </p:txBody>
      </p:sp>
      <p:pic>
        <p:nvPicPr>
          <p:cNvPr id="22" name="Image 3" descr="preencoded.png">    </p:cNvPr>
          <p:cNvPicPr>
            <a:picLocks noChangeAspect="1"/>
          </p:cNvPicPr>
          <p:nvPr/>
        </p:nvPicPr>
        <p:blipFill>
          <a:blip r:embed="rId4"/>
          <a:stretch>
            <a:fillRect/>
          </a:stretch>
        </p:blipFill>
        <p:spPr>
          <a:xfrm>
            <a:off x="11155680" y="3995928"/>
            <a:ext cx="320040" cy="320040"/>
          </a:xfrm>
          <a:prstGeom prst="rect">
            <a:avLst/>
          </a:prstGeom>
        </p:spPr>
      </p:pic>
      <p:sp>
        <p:nvSpPr>
          <p:cNvPr id="23" name="Shape 16"/>
          <p:cNvSpPr/>
          <p:nvPr/>
        </p:nvSpPr>
        <p:spPr>
          <a:xfrm>
            <a:off x="868680" y="2331720"/>
            <a:ext cx="1463040" cy="548640"/>
          </a:xfrm>
          <a:prstGeom prst="flowChartDecision">
            <a:avLst/>
          </a:prstGeom>
          <a:solidFill>
            <a:srgbClr val="E3ECF8"/>
          </a:solidFill>
          <a:ln w="15875">
            <a:solidFill>
              <a:srgbClr val="14213D"/>
            </a:solidFill>
            <a:prstDash val="solid"/>
          </a:ln>
        </p:spPr>
        <p:txBody>
          <a:bodyPr/>
          <a:p/>
        </p:txBody>
      </p:sp>
      <p:sp>
        <p:nvSpPr>
          <p:cNvPr id="24" name="Text 17"/>
          <p:cNvSpPr txBox="1"/>
          <p:nvPr/>
        </p:nvSpPr>
        <p:spPr>
          <a:xfrm>
            <a:off x="914400" y="2331720"/>
            <a:ext cx="1371600" cy="54864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x &gt; 0 ?</a:t>
            </a:r>
            <a:endParaRPr lang="en-US" sz="1300" dirty="0"/>
          </a:p>
        </p:txBody>
      </p:sp>
      <p:sp>
        <p:nvSpPr>
          <p:cNvPr id="25" name="Shape 18"/>
          <p:cNvSpPr/>
          <p:nvPr/>
        </p:nvSpPr>
        <p:spPr>
          <a:xfrm>
            <a:off x="868680" y="3163824"/>
            <a:ext cx="1463040" cy="347472"/>
          </a:xfrm>
          <a:prstGeom prst="flowChartInputOutput">
            <a:avLst/>
          </a:prstGeom>
          <a:solidFill>
            <a:srgbClr val="FFFFFF"/>
          </a:solidFill>
          <a:ln w="15875">
            <a:solidFill>
              <a:srgbClr val="14213D"/>
            </a:solidFill>
            <a:prstDash val="solid"/>
          </a:ln>
        </p:spPr>
        <p:txBody>
          <a:bodyPr/>
          <a:p/>
        </p:txBody>
      </p:sp>
      <p:sp>
        <p:nvSpPr>
          <p:cNvPr id="26" name="Text 19"/>
          <p:cNvSpPr txBox="1"/>
          <p:nvPr/>
        </p:nvSpPr>
        <p:spPr>
          <a:xfrm>
            <a:off x="914400" y="3163824"/>
            <a:ext cx="137160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x</a:t>
            </a:r>
            <a:endParaRPr lang="en-US" sz="1300" dirty="0"/>
          </a:p>
        </p:txBody>
      </p:sp>
      <p:sp>
        <p:nvSpPr>
          <p:cNvPr id="27" name="Shape 20"/>
          <p:cNvSpPr/>
          <p:nvPr/>
        </p:nvSpPr>
        <p:spPr>
          <a:xfrm>
            <a:off x="1600200" y="2103120"/>
            <a:ext cx="0" cy="228600"/>
          </a:xfrm>
          <a:prstGeom prst="line">
            <a:avLst/>
          </a:prstGeom>
          <a:noFill/>
          <a:ln w="15875">
            <a:solidFill>
              <a:srgbClr val="14213D"/>
            </a:solidFill>
            <a:prstDash val="solid"/>
            <a:tailEnd type="triangle"/>
          </a:ln>
        </p:spPr>
        <p:txBody>
          <a:bodyPr/>
          <a:p/>
        </p:txBody>
      </p:sp>
      <p:sp>
        <p:nvSpPr>
          <p:cNvPr id="28" name="Shape 21"/>
          <p:cNvSpPr/>
          <p:nvPr/>
        </p:nvSpPr>
        <p:spPr>
          <a:xfrm>
            <a:off x="1600200" y="2880360"/>
            <a:ext cx="0" cy="283464"/>
          </a:xfrm>
          <a:prstGeom prst="line">
            <a:avLst/>
          </a:prstGeom>
          <a:noFill/>
          <a:ln w="15875">
            <a:solidFill>
              <a:srgbClr val="14213D"/>
            </a:solidFill>
            <a:prstDash val="solid"/>
            <a:tailEnd type="triangle"/>
          </a:ln>
        </p:spPr>
        <p:txBody>
          <a:bodyPr/>
          <a:p/>
        </p:txBody>
      </p:sp>
      <p:sp>
        <p:nvSpPr>
          <p:cNvPr id="29" name="Text 22"/>
          <p:cNvSpPr txBox="1"/>
          <p:nvPr/>
        </p:nvSpPr>
        <p:spPr>
          <a:xfrm>
            <a:off x="1664208" y="286207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0" name="Text 23"/>
          <p:cNvSpPr txBox="1"/>
          <p:nvPr/>
        </p:nvSpPr>
        <p:spPr>
          <a:xfrm>
            <a:off x="2423160" y="2377440"/>
            <a:ext cx="457200" cy="457200"/>
          </a:xfrm>
          <a:prstGeom prst="rect">
            <a:avLst/>
          </a:prstGeom>
          <a:noFill/>
          <a:ln/>
        </p:spPr>
        <p:txBody>
          <a:bodyPr wrap="square" lIns="0" tIns="0" rIns="0" bIns="0" rtlCol="0" anchor="ctr"/>
          <a:lstStyle/>
          <a:p>
            <a:pPr indent="0" marL="0">
              <a:buNone/>
            </a:pPr>
            <a:r>
              <a:rPr lang="en-US" sz="2400" b="1" dirty="0">
                <a:solidFill>
                  <a:srgbClr val="C8453B"/>
                </a:solidFill>
                <a:latin typeface="Cambria" pitchFamily="34" charset="0"/>
                <a:ea typeface="Cambria" pitchFamily="34" charset="-122"/>
                <a:cs typeface="Cambria" pitchFamily="34" charset="-120"/>
              </a:rPr>
              <a:t>?</a:t>
            </a:r>
            <a:endParaRPr lang="en-US" sz="2400" dirty="0"/>
          </a:p>
        </p:txBody>
      </p:sp>
      <p:sp>
        <p:nvSpPr>
          <p:cNvPr id="31" name="Shape 24"/>
          <p:cNvSpPr/>
          <p:nvPr/>
        </p:nvSpPr>
        <p:spPr>
          <a:xfrm>
            <a:off x="6675120" y="2103120"/>
            <a:ext cx="1097280" cy="310896"/>
          </a:xfrm>
          <a:prstGeom prst="flowChartTerminator">
            <a:avLst/>
          </a:prstGeom>
          <a:solidFill>
            <a:srgbClr val="FFF1D6"/>
          </a:solidFill>
          <a:ln w="15875">
            <a:solidFill>
              <a:srgbClr val="14213D"/>
            </a:solidFill>
            <a:prstDash val="solid"/>
          </a:ln>
        </p:spPr>
        <p:txBody>
          <a:bodyPr/>
          <a:p/>
        </p:txBody>
      </p:sp>
      <p:sp>
        <p:nvSpPr>
          <p:cNvPr id="32" name="Text 25"/>
          <p:cNvSpPr txBox="1"/>
          <p:nvPr/>
        </p:nvSpPr>
        <p:spPr>
          <a:xfrm>
            <a:off x="6720840" y="2103120"/>
            <a:ext cx="1005840" cy="31089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33" name="Shape 26"/>
          <p:cNvSpPr/>
          <p:nvPr/>
        </p:nvSpPr>
        <p:spPr>
          <a:xfrm>
            <a:off x="6492240" y="2596896"/>
            <a:ext cx="1463040" cy="329184"/>
          </a:xfrm>
          <a:prstGeom prst="flowChartInputOutput">
            <a:avLst/>
          </a:prstGeom>
          <a:solidFill>
            <a:srgbClr val="FFFFFF"/>
          </a:solidFill>
          <a:ln w="15875">
            <a:solidFill>
              <a:srgbClr val="14213D"/>
            </a:solidFill>
            <a:prstDash val="solid"/>
          </a:ln>
        </p:spPr>
        <p:txBody>
          <a:bodyPr/>
          <a:p/>
        </p:txBody>
      </p:sp>
      <p:sp>
        <p:nvSpPr>
          <p:cNvPr id="34" name="Text 27"/>
          <p:cNvSpPr txBox="1"/>
          <p:nvPr/>
        </p:nvSpPr>
        <p:spPr>
          <a:xfrm>
            <a:off x="6537960" y="2596896"/>
            <a:ext cx="1371600" cy="3291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x</a:t>
            </a:r>
            <a:endParaRPr lang="en-US" sz="1300" dirty="0"/>
          </a:p>
        </p:txBody>
      </p:sp>
      <p:sp>
        <p:nvSpPr>
          <p:cNvPr id="35" name="Shape 28"/>
          <p:cNvSpPr/>
          <p:nvPr/>
        </p:nvSpPr>
        <p:spPr>
          <a:xfrm>
            <a:off x="6492240" y="3099816"/>
            <a:ext cx="1463040" cy="329184"/>
          </a:xfrm>
          <a:prstGeom prst="flowChartInputOutput">
            <a:avLst/>
          </a:prstGeom>
          <a:solidFill>
            <a:srgbClr val="FFFFFF"/>
          </a:solidFill>
          <a:ln w="15875">
            <a:solidFill>
              <a:srgbClr val="14213D"/>
            </a:solidFill>
            <a:prstDash val="solid"/>
          </a:ln>
        </p:spPr>
        <p:txBody>
          <a:bodyPr/>
          <a:p/>
        </p:txBody>
      </p:sp>
      <p:sp>
        <p:nvSpPr>
          <p:cNvPr id="36" name="Text 29"/>
          <p:cNvSpPr txBox="1"/>
          <p:nvPr/>
        </p:nvSpPr>
        <p:spPr>
          <a:xfrm>
            <a:off x="6537960" y="3099816"/>
            <a:ext cx="1371600" cy="3291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2 × x</a:t>
            </a:r>
            <a:endParaRPr lang="en-US" sz="1300" dirty="0"/>
          </a:p>
        </p:txBody>
      </p:sp>
      <p:sp>
        <p:nvSpPr>
          <p:cNvPr id="37" name="Shape 30"/>
          <p:cNvSpPr/>
          <p:nvPr/>
        </p:nvSpPr>
        <p:spPr>
          <a:xfrm>
            <a:off x="7223760" y="2414016"/>
            <a:ext cx="0" cy="182880"/>
          </a:xfrm>
          <a:prstGeom prst="line">
            <a:avLst/>
          </a:prstGeom>
          <a:noFill/>
          <a:ln w="15875">
            <a:solidFill>
              <a:srgbClr val="14213D"/>
            </a:solidFill>
            <a:prstDash val="solid"/>
            <a:tailEnd type="triangle"/>
          </a:ln>
        </p:spPr>
        <p:txBody>
          <a:bodyPr/>
          <a:p/>
        </p:txBody>
      </p:sp>
      <p:sp>
        <p:nvSpPr>
          <p:cNvPr id="38" name="Shape 31"/>
          <p:cNvSpPr/>
          <p:nvPr/>
        </p:nvSpPr>
        <p:spPr>
          <a:xfrm>
            <a:off x="7223760" y="2926080"/>
            <a:ext cx="0" cy="173736"/>
          </a:xfrm>
          <a:prstGeom prst="line">
            <a:avLst/>
          </a:prstGeom>
          <a:noFill/>
          <a:ln w="15875">
            <a:solidFill>
              <a:srgbClr val="14213D"/>
            </a:solidFill>
            <a:prstDash val="solid"/>
            <a:tailEnd type="triangle"/>
          </a:ln>
        </p:spPr>
        <p:txBody>
          <a:bodyPr/>
          <a:p/>
        </p:txBody>
      </p:sp>
      <p:sp>
        <p:nvSpPr>
          <p:cNvPr id="39" name="Shape 32"/>
          <p:cNvSpPr/>
          <p:nvPr/>
        </p:nvSpPr>
        <p:spPr>
          <a:xfrm>
            <a:off x="7223760" y="3429000"/>
            <a:ext cx="0" cy="201168"/>
          </a:xfrm>
          <a:prstGeom prst="line">
            <a:avLst/>
          </a:prstGeom>
          <a:noFill/>
          <a:ln w="15875">
            <a:solidFill>
              <a:srgbClr val="C8453B"/>
            </a:solidFill>
            <a:prstDash val="solid"/>
          </a:ln>
        </p:spPr>
        <p:txBody>
          <a:bodyPr/>
          <a:p/>
        </p:txBody>
      </p:sp>
      <p:sp>
        <p:nvSpPr>
          <p:cNvPr id="40" name="Text 33"/>
          <p:cNvSpPr txBox="1"/>
          <p:nvPr/>
        </p:nvSpPr>
        <p:spPr>
          <a:xfrm>
            <a:off x="8001000" y="3291840"/>
            <a:ext cx="731520" cy="274320"/>
          </a:xfrm>
          <a:prstGeom prst="rect">
            <a:avLst/>
          </a:prstGeom>
          <a:noFill/>
          <a:ln/>
        </p:spPr>
        <p:txBody>
          <a:bodyPr wrap="square" lIns="0" tIns="0" rIns="0" bIns="0" rtlCol="0" anchor="ctr"/>
          <a:lstStyle/>
          <a:p>
            <a:pPr indent="0" marL="0">
              <a:buNone/>
            </a:pPr>
            <a:r>
              <a:rPr lang="en-US" sz="1400" b="1" dirty="0">
                <a:solidFill>
                  <a:srgbClr val="C8453B"/>
                </a:solidFill>
                <a:latin typeface="Calibri" pitchFamily="34" charset="0"/>
                <a:ea typeface="Calibri" pitchFamily="34" charset="-122"/>
                <a:cs typeface="Calibri" pitchFamily="34" charset="-120"/>
              </a:rPr>
              <a:t>… ?</a:t>
            </a:r>
            <a:endParaRPr lang="en-US" sz="1400" dirty="0"/>
          </a:p>
        </p:txBody>
      </p:sp>
      <p:sp>
        <p:nvSpPr>
          <p:cNvPr id="41" name="Shape 34"/>
          <p:cNvSpPr/>
          <p:nvPr/>
        </p:nvSpPr>
        <p:spPr>
          <a:xfrm>
            <a:off x="1097280" y="4654296"/>
            <a:ext cx="1371600" cy="512064"/>
          </a:xfrm>
          <a:prstGeom prst="flowChartDecision">
            <a:avLst/>
          </a:prstGeom>
          <a:solidFill>
            <a:srgbClr val="E3ECF8"/>
          </a:solidFill>
          <a:ln w="15875">
            <a:solidFill>
              <a:srgbClr val="14213D"/>
            </a:solidFill>
            <a:prstDash val="solid"/>
          </a:ln>
        </p:spPr>
        <p:txBody>
          <a:bodyPr/>
          <a:p/>
        </p:txBody>
      </p:sp>
      <p:sp>
        <p:nvSpPr>
          <p:cNvPr id="42" name="Text 35"/>
          <p:cNvSpPr txBox="1"/>
          <p:nvPr/>
        </p:nvSpPr>
        <p:spPr>
          <a:xfrm>
            <a:off x="1143000" y="4654296"/>
            <a:ext cx="1280160" cy="51206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 ≤ N ?</a:t>
            </a:r>
            <a:endParaRPr lang="en-US" sz="1300" dirty="0"/>
          </a:p>
        </p:txBody>
      </p:sp>
      <p:sp>
        <p:nvSpPr>
          <p:cNvPr id="43" name="Shape 36"/>
          <p:cNvSpPr/>
          <p:nvPr/>
        </p:nvSpPr>
        <p:spPr>
          <a:xfrm>
            <a:off x="960120" y="5367528"/>
            <a:ext cx="1645920" cy="329184"/>
          </a:xfrm>
          <a:prstGeom prst="flowChartProcess">
            <a:avLst/>
          </a:prstGeom>
          <a:solidFill>
            <a:srgbClr val="FFFFFF"/>
          </a:solidFill>
          <a:ln w="15875">
            <a:solidFill>
              <a:srgbClr val="14213D"/>
            </a:solidFill>
            <a:prstDash val="solid"/>
          </a:ln>
        </p:spPr>
        <p:txBody>
          <a:bodyPr/>
          <a:p/>
        </p:txBody>
      </p:sp>
      <p:sp>
        <p:nvSpPr>
          <p:cNvPr id="44" name="Text 37"/>
          <p:cNvSpPr txBox="1"/>
          <p:nvPr/>
        </p:nvSpPr>
        <p:spPr>
          <a:xfrm>
            <a:off x="1005840" y="5367528"/>
            <a:ext cx="1554480" cy="32918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sum ← sum + i</a:t>
            </a:r>
            <a:endParaRPr lang="en-US" sz="1300" dirty="0"/>
          </a:p>
        </p:txBody>
      </p:sp>
      <p:sp>
        <p:nvSpPr>
          <p:cNvPr id="45" name="Shape 38"/>
          <p:cNvSpPr/>
          <p:nvPr/>
        </p:nvSpPr>
        <p:spPr>
          <a:xfrm>
            <a:off x="1783080" y="4389120"/>
            <a:ext cx="0" cy="265176"/>
          </a:xfrm>
          <a:prstGeom prst="line">
            <a:avLst/>
          </a:prstGeom>
          <a:noFill/>
          <a:ln w="15875">
            <a:solidFill>
              <a:srgbClr val="14213D"/>
            </a:solidFill>
            <a:prstDash val="solid"/>
            <a:tailEnd type="triangle"/>
          </a:ln>
        </p:spPr>
        <p:txBody>
          <a:bodyPr/>
          <a:p/>
        </p:txBody>
      </p:sp>
      <p:sp>
        <p:nvSpPr>
          <p:cNvPr id="46" name="Shape 39"/>
          <p:cNvSpPr/>
          <p:nvPr/>
        </p:nvSpPr>
        <p:spPr>
          <a:xfrm>
            <a:off x="1783080" y="5166360"/>
            <a:ext cx="0" cy="201168"/>
          </a:xfrm>
          <a:prstGeom prst="line">
            <a:avLst/>
          </a:prstGeom>
          <a:noFill/>
          <a:ln w="15875">
            <a:solidFill>
              <a:srgbClr val="14213D"/>
            </a:solidFill>
            <a:prstDash val="solid"/>
            <a:tailEnd type="triangle"/>
          </a:ln>
        </p:spPr>
        <p:txBody>
          <a:bodyPr/>
          <a:p/>
        </p:txBody>
      </p:sp>
      <p:sp>
        <p:nvSpPr>
          <p:cNvPr id="47" name="Text 40"/>
          <p:cNvSpPr txBox="1"/>
          <p:nvPr/>
        </p:nvSpPr>
        <p:spPr>
          <a:xfrm>
            <a:off x="1847088" y="5148072"/>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48" name="Shape 41"/>
          <p:cNvSpPr/>
          <p:nvPr/>
        </p:nvSpPr>
        <p:spPr>
          <a:xfrm>
            <a:off x="1783080" y="5696712"/>
            <a:ext cx="0" cy="155448"/>
          </a:xfrm>
          <a:prstGeom prst="line">
            <a:avLst/>
          </a:prstGeom>
          <a:noFill/>
          <a:ln w="15875">
            <a:solidFill>
              <a:srgbClr val="14213D"/>
            </a:solidFill>
            <a:prstDash val="solid"/>
          </a:ln>
        </p:spPr>
        <p:txBody>
          <a:bodyPr/>
          <a:p/>
        </p:txBody>
      </p:sp>
      <p:sp>
        <p:nvSpPr>
          <p:cNvPr id="49" name="Shape 42"/>
          <p:cNvSpPr/>
          <p:nvPr/>
        </p:nvSpPr>
        <p:spPr>
          <a:xfrm flipH="1">
            <a:off x="777240" y="5852160"/>
            <a:ext cx="1005840" cy="0"/>
          </a:xfrm>
          <a:prstGeom prst="line">
            <a:avLst/>
          </a:prstGeom>
          <a:noFill/>
          <a:ln w="15875">
            <a:solidFill>
              <a:srgbClr val="14213D"/>
            </a:solidFill>
            <a:prstDash val="solid"/>
          </a:ln>
        </p:spPr>
        <p:txBody>
          <a:bodyPr/>
          <a:p/>
        </p:txBody>
      </p:sp>
      <p:sp>
        <p:nvSpPr>
          <p:cNvPr id="50" name="Shape 43"/>
          <p:cNvSpPr/>
          <p:nvPr/>
        </p:nvSpPr>
        <p:spPr>
          <a:xfrm flipV="1">
            <a:off x="777240" y="4526280"/>
            <a:ext cx="0" cy="1325880"/>
          </a:xfrm>
          <a:prstGeom prst="line">
            <a:avLst/>
          </a:prstGeom>
          <a:noFill/>
          <a:ln w="15875">
            <a:solidFill>
              <a:srgbClr val="14213D"/>
            </a:solidFill>
            <a:prstDash val="solid"/>
          </a:ln>
        </p:spPr>
        <p:txBody>
          <a:bodyPr/>
          <a:p/>
        </p:txBody>
      </p:sp>
      <p:sp>
        <p:nvSpPr>
          <p:cNvPr id="51" name="Shape 44"/>
          <p:cNvSpPr/>
          <p:nvPr/>
        </p:nvSpPr>
        <p:spPr>
          <a:xfrm>
            <a:off x="777240" y="4526280"/>
            <a:ext cx="1005840" cy="0"/>
          </a:xfrm>
          <a:prstGeom prst="line">
            <a:avLst/>
          </a:prstGeom>
          <a:noFill/>
          <a:ln w="15875">
            <a:solidFill>
              <a:srgbClr val="14213D"/>
            </a:solidFill>
            <a:prstDash val="solid"/>
            <a:tailEnd type="triangle"/>
          </a:ln>
        </p:spPr>
        <p:txBody>
          <a:bodyPr/>
          <a:p/>
        </p:txBody>
      </p:sp>
      <p:sp>
        <p:nvSpPr>
          <p:cNvPr id="52" name="Shape 45"/>
          <p:cNvSpPr/>
          <p:nvPr/>
        </p:nvSpPr>
        <p:spPr>
          <a:xfrm>
            <a:off x="2468880" y="4910328"/>
            <a:ext cx="365760" cy="0"/>
          </a:xfrm>
          <a:prstGeom prst="line">
            <a:avLst/>
          </a:prstGeom>
          <a:noFill/>
          <a:ln w="15875">
            <a:solidFill>
              <a:srgbClr val="14213D"/>
            </a:solidFill>
            <a:prstDash val="solid"/>
            <a:tailEnd type="triangle"/>
          </a:ln>
        </p:spPr>
        <p:txBody>
          <a:bodyPr/>
          <a:p/>
        </p:txBody>
      </p:sp>
      <p:sp>
        <p:nvSpPr>
          <p:cNvPr id="53" name="Text 46"/>
          <p:cNvSpPr txBox="1"/>
          <p:nvPr/>
        </p:nvSpPr>
        <p:spPr>
          <a:xfrm>
            <a:off x="2514600" y="4663440"/>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54" name="Shape 47"/>
          <p:cNvSpPr/>
          <p:nvPr/>
        </p:nvSpPr>
        <p:spPr>
          <a:xfrm>
            <a:off x="6355080" y="4517136"/>
            <a:ext cx="1828800" cy="384048"/>
          </a:xfrm>
          <a:prstGeom prst="flowChartInputOutput">
            <a:avLst/>
          </a:prstGeom>
          <a:solidFill>
            <a:srgbClr val="FFFFFF"/>
          </a:solidFill>
          <a:ln w="15875">
            <a:solidFill>
              <a:srgbClr val="14213D"/>
            </a:solidFill>
            <a:prstDash val="solid"/>
          </a:ln>
        </p:spPr>
        <p:txBody>
          <a:bodyPr/>
          <a:p/>
        </p:txBody>
      </p:sp>
      <p:sp>
        <p:nvSpPr>
          <p:cNvPr id="55" name="Text 48"/>
          <p:cNvSpPr txBox="1"/>
          <p:nvPr/>
        </p:nvSpPr>
        <p:spPr>
          <a:xfrm>
            <a:off x="6400800" y="4517136"/>
            <a:ext cx="173736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get the numbers</a:t>
            </a:r>
            <a:endParaRPr lang="en-US" sz="1300" dirty="0"/>
          </a:p>
        </p:txBody>
      </p:sp>
      <p:sp>
        <p:nvSpPr>
          <p:cNvPr id="56" name="Shape 49"/>
          <p:cNvSpPr/>
          <p:nvPr/>
        </p:nvSpPr>
        <p:spPr>
          <a:xfrm>
            <a:off x="6355080" y="5248656"/>
            <a:ext cx="1828800" cy="384048"/>
          </a:xfrm>
          <a:prstGeom prst="flowChartProcess">
            <a:avLst/>
          </a:prstGeom>
          <a:solidFill>
            <a:srgbClr val="FFFFFF"/>
          </a:solidFill>
          <a:ln w="15875">
            <a:solidFill>
              <a:srgbClr val="14213D"/>
            </a:solidFill>
            <a:prstDash val="solid"/>
          </a:ln>
        </p:spPr>
        <p:txBody>
          <a:bodyPr/>
          <a:p/>
        </p:txBody>
      </p:sp>
      <p:sp>
        <p:nvSpPr>
          <p:cNvPr id="57" name="Text 50"/>
          <p:cNvSpPr txBox="1"/>
          <p:nvPr/>
        </p:nvSpPr>
        <p:spPr>
          <a:xfrm>
            <a:off x="6400800" y="5248656"/>
            <a:ext cx="173736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calculate it</a:t>
            </a:r>
            <a:endParaRPr lang="en-US" sz="1300" dirty="0"/>
          </a:p>
        </p:txBody>
      </p:sp>
      <p:sp>
        <p:nvSpPr>
          <p:cNvPr id="58" name="Shape 51"/>
          <p:cNvSpPr/>
          <p:nvPr/>
        </p:nvSpPr>
        <p:spPr>
          <a:xfrm>
            <a:off x="7269480" y="4901184"/>
            <a:ext cx="0" cy="347472"/>
          </a:xfrm>
          <a:prstGeom prst="line">
            <a:avLst/>
          </a:prstGeom>
          <a:noFill/>
          <a:ln w="15875">
            <a:solidFill>
              <a:srgbClr val="14213D"/>
            </a:solidFill>
            <a:prstDash val="solid"/>
            <a:tailEnd type="triangle"/>
          </a:ln>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4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Does This Flowchart Print for n = 6?</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205740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210312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920240" y="2048256"/>
            <a:ext cx="146304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965960" y="204825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828800" y="2542032"/>
            <a:ext cx="1645920" cy="365760"/>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874520" y="2542032"/>
            <a:ext cx="15544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 ← 0,  k ← 1</a:t>
            </a:r>
            <a:endParaRPr lang="en-US" sz="1300" dirty="0"/>
          </a:p>
        </p:txBody>
      </p:sp>
      <p:sp>
        <p:nvSpPr>
          <p:cNvPr id="13" name="Shape 10"/>
          <p:cNvSpPr/>
          <p:nvPr/>
        </p:nvSpPr>
        <p:spPr>
          <a:xfrm>
            <a:off x="1920240" y="3227832"/>
            <a:ext cx="1463040" cy="603504"/>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965960" y="3227832"/>
            <a:ext cx="1371600" cy="60350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 n ?</a:t>
            </a:r>
            <a:endParaRPr lang="en-US" sz="1300" dirty="0"/>
          </a:p>
        </p:txBody>
      </p:sp>
      <p:sp>
        <p:nvSpPr>
          <p:cNvPr id="15" name="Shape 12"/>
          <p:cNvSpPr/>
          <p:nvPr/>
        </p:nvSpPr>
        <p:spPr>
          <a:xfrm>
            <a:off x="1691640" y="4123944"/>
            <a:ext cx="1920240" cy="640080"/>
          </a:xfrm>
          <a:prstGeom prst="flowChartDecision">
            <a:avLst/>
          </a:prstGeom>
          <a:solidFill>
            <a:srgbClr val="E3ECF8"/>
          </a:solidFill>
          <a:ln w="15875">
            <a:solidFill>
              <a:srgbClr val="14213D"/>
            </a:solidFill>
            <a:prstDash val="solid"/>
          </a:ln>
        </p:spPr>
        <p:txBody>
          <a:bodyPr/>
          <a:p/>
        </p:txBody>
      </p:sp>
      <p:sp>
        <p:nvSpPr>
          <p:cNvPr id="16" name="Text 13"/>
          <p:cNvSpPr txBox="1"/>
          <p:nvPr/>
        </p:nvSpPr>
        <p:spPr>
          <a:xfrm>
            <a:off x="1737360" y="4123944"/>
            <a:ext cx="18288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mod 2 = 0 ?</a:t>
            </a:r>
            <a:endParaRPr lang="en-US" sz="1300" dirty="0"/>
          </a:p>
        </p:txBody>
      </p:sp>
      <p:sp>
        <p:nvSpPr>
          <p:cNvPr id="17" name="Shape 14"/>
          <p:cNvSpPr/>
          <p:nvPr/>
        </p:nvSpPr>
        <p:spPr>
          <a:xfrm>
            <a:off x="4091940" y="4251960"/>
            <a:ext cx="1234440" cy="384048"/>
          </a:xfrm>
          <a:prstGeom prst="flowChartProcess">
            <a:avLst/>
          </a:prstGeom>
          <a:solidFill>
            <a:srgbClr val="FFFFFF"/>
          </a:solidFill>
          <a:ln w="15875">
            <a:solidFill>
              <a:srgbClr val="14213D"/>
            </a:solidFill>
            <a:prstDash val="solid"/>
          </a:ln>
        </p:spPr>
        <p:txBody>
          <a:bodyPr/>
          <a:p/>
        </p:txBody>
      </p:sp>
      <p:sp>
        <p:nvSpPr>
          <p:cNvPr id="18" name="Text 15"/>
          <p:cNvSpPr txBox="1"/>
          <p:nvPr/>
        </p:nvSpPr>
        <p:spPr>
          <a:xfrm>
            <a:off x="4137660" y="4251960"/>
            <a:ext cx="11430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 ← s + k</a:t>
            </a:r>
            <a:endParaRPr lang="en-US" sz="1300" dirty="0"/>
          </a:p>
        </p:txBody>
      </p:sp>
      <p:sp>
        <p:nvSpPr>
          <p:cNvPr id="19" name="Shape 16"/>
          <p:cNvSpPr/>
          <p:nvPr/>
        </p:nvSpPr>
        <p:spPr>
          <a:xfrm>
            <a:off x="1920240" y="5120640"/>
            <a:ext cx="1463040" cy="365760"/>
          </a:xfrm>
          <a:prstGeom prst="flowChartProcess">
            <a:avLst/>
          </a:prstGeom>
          <a:solidFill>
            <a:srgbClr val="FFFFFF"/>
          </a:solidFill>
          <a:ln w="15875">
            <a:solidFill>
              <a:srgbClr val="14213D"/>
            </a:solidFill>
            <a:prstDash val="solid"/>
          </a:ln>
        </p:spPr>
        <p:txBody>
          <a:bodyPr/>
          <a:p/>
        </p:txBody>
      </p:sp>
      <p:sp>
        <p:nvSpPr>
          <p:cNvPr id="20" name="Text 17"/>
          <p:cNvSpPr txBox="1"/>
          <p:nvPr/>
        </p:nvSpPr>
        <p:spPr>
          <a:xfrm>
            <a:off x="1965960" y="5120640"/>
            <a:ext cx="137160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 k + 1</a:t>
            </a:r>
            <a:endParaRPr lang="en-US" sz="1300" dirty="0"/>
          </a:p>
        </p:txBody>
      </p:sp>
      <p:sp>
        <p:nvSpPr>
          <p:cNvPr id="21" name="Shape 18"/>
          <p:cNvSpPr/>
          <p:nvPr/>
        </p:nvSpPr>
        <p:spPr>
          <a:xfrm>
            <a:off x="5669280" y="4242816"/>
            <a:ext cx="1371600" cy="402336"/>
          </a:xfrm>
          <a:prstGeom prst="flowChartInputOutput">
            <a:avLst/>
          </a:prstGeom>
          <a:solidFill>
            <a:srgbClr val="FFFFFF"/>
          </a:solidFill>
          <a:ln w="15875">
            <a:solidFill>
              <a:srgbClr val="14213D"/>
            </a:solidFill>
            <a:prstDash val="solid"/>
          </a:ln>
        </p:spPr>
        <p:txBody>
          <a:bodyPr/>
          <a:p/>
        </p:txBody>
      </p:sp>
      <p:sp>
        <p:nvSpPr>
          <p:cNvPr id="22" name="Text 19"/>
          <p:cNvSpPr txBox="1"/>
          <p:nvPr/>
        </p:nvSpPr>
        <p:spPr>
          <a:xfrm>
            <a:off x="5715000" y="4242816"/>
            <a:ext cx="12801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s</a:t>
            </a:r>
            <a:endParaRPr lang="en-US" sz="1300" dirty="0"/>
          </a:p>
        </p:txBody>
      </p:sp>
      <p:sp>
        <p:nvSpPr>
          <p:cNvPr id="23" name="Shape 20"/>
          <p:cNvSpPr/>
          <p:nvPr/>
        </p:nvSpPr>
        <p:spPr>
          <a:xfrm>
            <a:off x="5760720" y="5129784"/>
            <a:ext cx="1188720" cy="347472"/>
          </a:xfrm>
          <a:prstGeom prst="flowChartTerminator">
            <a:avLst/>
          </a:prstGeom>
          <a:solidFill>
            <a:srgbClr val="FFF1D6"/>
          </a:solidFill>
          <a:ln w="15875">
            <a:solidFill>
              <a:srgbClr val="14213D"/>
            </a:solidFill>
            <a:prstDash val="solid"/>
          </a:ln>
        </p:spPr>
        <p:txBody>
          <a:bodyPr/>
          <a:p/>
        </p:txBody>
      </p:sp>
      <p:sp>
        <p:nvSpPr>
          <p:cNvPr id="24" name="Text 21"/>
          <p:cNvSpPr txBox="1"/>
          <p:nvPr/>
        </p:nvSpPr>
        <p:spPr>
          <a:xfrm>
            <a:off x="5806440" y="512978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5" name="Shape 22"/>
          <p:cNvSpPr/>
          <p:nvPr/>
        </p:nvSpPr>
        <p:spPr>
          <a:xfrm>
            <a:off x="2651760" y="1911096"/>
            <a:ext cx="0" cy="137160"/>
          </a:xfrm>
          <a:prstGeom prst="line">
            <a:avLst/>
          </a:prstGeom>
          <a:noFill/>
          <a:ln w="15875">
            <a:solidFill>
              <a:srgbClr val="14213D"/>
            </a:solidFill>
            <a:prstDash val="solid"/>
            <a:tailEnd type="triangle"/>
          </a:ln>
        </p:spPr>
        <p:txBody>
          <a:bodyPr/>
          <a:p/>
        </p:txBody>
      </p:sp>
      <p:sp>
        <p:nvSpPr>
          <p:cNvPr id="26" name="Shape 23"/>
          <p:cNvSpPr/>
          <p:nvPr/>
        </p:nvSpPr>
        <p:spPr>
          <a:xfrm>
            <a:off x="2651760" y="2432304"/>
            <a:ext cx="0" cy="109728"/>
          </a:xfrm>
          <a:prstGeom prst="line">
            <a:avLst/>
          </a:prstGeom>
          <a:noFill/>
          <a:ln w="15875">
            <a:solidFill>
              <a:srgbClr val="14213D"/>
            </a:solidFill>
            <a:prstDash val="solid"/>
            <a:tailEnd type="triangle"/>
          </a:ln>
        </p:spPr>
        <p:txBody>
          <a:bodyPr/>
          <a:p/>
        </p:txBody>
      </p:sp>
      <p:sp>
        <p:nvSpPr>
          <p:cNvPr id="27" name="Shape 24"/>
          <p:cNvSpPr/>
          <p:nvPr/>
        </p:nvSpPr>
        <p:spPr>
          <a:xfrm>
            <a:off x="2651760" y="2907792"/>
            <a:ext cx="0" cy="320040"/>
          </a:xfrm>
          <a:prstGeom prst="line">
            <a:avLst/>
          </a:prstGeom>
          <a:noFill/>
          <a:ln w="15875">
            <a:solidFill>
              <a:srgbClr val="14213D"/>
            </a:solidFill>
            <a:prstDash val="solid"/>
            <a:tailEnd type="triangle"/>
          </a:ln>
        </p:spPr>
        <p:txBody>
          <a:bodyPr/>
          <a:p/>
        </p:txBody>
      </p:sp>
      <p:sp>
        <p:nvSpPr>
          <p:cNvPr id="28" name="Shape 25"/>
          <p:cNvSpPr/>
          <p:nvPr/>
        </p:nvSpPr>
        <p:spPr>
          <a:xfrm>
            <a:off x="2651760" y="3831336"/>
            <a:ext cx="0" cy="292608"/>
          </a:xfrm>
          <a:prstGeom prst="line">
            <a:avLst/>
          </a:prstGeom>
          <a:noFill/>
          <a:ln w="15875">
            <a:solidFill>
              <a:srgbClr val="14213D"/>
            </a:solidFill>
            <a:prstDash val="solid"/>
            <a:tailEnd type="triangle"/>
          </a:ln>
        </p:spPr>
        <p:txBody>
          <a:bodyPr/>
          <a:p/>
        </p:txBody>
      </p:sp>
      <p:sp>
        <p:nvSpPr>
          <p:cNvPr id="29" name="Text 26"/>
          <p:cNvSpPr txBox="1"/>
          <p:nvPr/>
        </p:nvSpPr>
        <p:spPr>
          <a:xfrm>
            <a:off x="2715768" y="3813048"/>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0" name="Shape 27"/>
          <p:cNvSpPr/>
          <p:nvPr/>
        </p:nvSpPr>
        <p:spPr>
          <a:xfrm>
            <a:off x="3611880" y="4443984"/>
            <a:ext cx="480060" cy="0"/>
          </a:xfrm>
          <a:prstGeom prst="line">
            <a:avLst/>
          </a:prstGeom>
          <a:noFill/>
          <a:ln w="15875">
            <a:solidFill>
              <a:srgbClr val="14213D"/>
            </a:solidFill>
            <a:prstDash val="solid"/>
            <a:tailEnd type="triangle"/>
          </a:ln>
        </p:spPr>
        <p:txBody>
          <a:bodyPr/>
          <a:p/>
        </p:txBody>
      </p:sp>
      <p:sp>
        <p:nvSpPr>
          <p:cNvPr id="31" name="Text 28"/>
          <p:cNvSpPr txBox="1"/>
          <p:nvPr/>
        </p:nvSpPr>
        <p:spPr>
          <a:xfrm>
            <a:off x="3657600" y="4197096"/>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2" name="Shape 29"/>
          <p:cNvSpPr/>
          <p:nvPr/>
        </p:nvSpPr>
        <p:spPr>
          <a:xfrm>
            <a:off x="2651760" y="4764024"/>
            <a:ext cx="0" cy="356616"/>
          </a:xfrm>
          <a:prstGeom prst="line">
            <a:avLst/>
          </a:prstGeom>
          <a:noFill/>
          <a:ln w="15875">
            <a:solidFill>
              <a:srgbClr val="14213D"/>
            </a:solidFill>
            <a:prstDash val="solid"/>
            <a:tailEnd type="triangle"/>
          </a:ln>
        </p:spPr>
        <p:txBody>
          <a:bodyPr/>
          <a:p/>
        </p:txBody>
      </p:sp>
      <p:sp>
        <p:nvSpPr>
          <p:cNvPr id="33" name="Text 30"/>
          <p:cNvSpPr txBox="1"/>
          <p:nvPr/>
        </p:nvSpPr>
        <p:spPr>
          <a:xfrm>
            <a:off x="2084832" y="4745736"/>
            <a:ext cx="502920" cy="219456"/>
          </a:xfrm>
          <a:prstGeom prst="rect">
            <a:avLst/>
          </a:prstGeom>
          <a:noFill/>
          <a:ln/>
        </p:spPr>
        <p:txBody>
          <a:bodyPr wrap="square" lIns="0" tIns="0" rIns="0" bIns="0" rtlCol="0" anchor="ctr"/>
          <a:lstStyle/>
          <a:p>
            <a:pPr algn="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4" name="Shape 31"/>
          <p:cNvSpPr/>
          <p:nvPr/>
        </p:nvSpPr>
        <p:spPr>
          <a:xfrm>
            <a:off x="4709160" y="4636008"/>
            <a:ext cx="0" cy="320040"/>
          </a:xfrm>
          <a:prstGeom prst="line">
            <a:avLst/>
          </a:prstGeom>
          <a:noFill/>
          <a:ln w="15875">
            <a:solidFill>
              <a:srgbClr val="14213D"/>
            </a:solidFill>
            <a:prstDash val="solid"/>
          </a:ln>
        </p:spPr>
        <p:txBody>
          <a:bodyPr/>
          <a:p/>
        </p:txBody>
      </p:sp>
      <p:sp>
        <p:nvSpPr>
          <p:cNvPr id="35" name="Shape 32"/>
          <p:cNvSpPr/>
          <p:nvPr/>
        </p:nvSpPr>
        <p:spPr>
          <a:xfrm flipH="1">
            <a:off x="2651760" y="4956048"/>
            <a:ext cx="2057400" cy="0"/>
          </a:xfrm>
          <a:prstGeom prst="line">
            <a:avLst/>
          </a:prstGeom>
          <a:noFill/>
          <a:ln w="15875">
            <a:solidFill>
              <a:srgbClr val="14213D"/>
            </a:solidFill>
            <a:prstDash val="solid"/>
            <a:tailEnd type="triangle"/>
          </a:ln>
        </p:spPr>
        <p:txBody>
          <a:bodyPr/>
          <a:p/>
        </p:txBody>
      </p:sp>
      <p:sp>
        <p:nvSpPr>
          <p:cNvPr id="36" name="Shape 33"/>
          <p:cNvSpPr/>
          <p:nvPr/>
        </p:nvSpPr>
        <p:spPr>
          <a:xfrm>
            <a:off x="2651760" y="5486400"/>
            <a:ext cx="0" cy="182880"/>
          </a:xfrm>
          <a:prstGeom prst="line">
            <a:avLst/>
          </a:prstGeom>
          <a:noFill/>
          <a:ln w="15875">
            <a:solidFill>
              <a:srgbClr val="14213D"/>
            </a:solidFill>
            <a:prstDash val="solid"/>
          </a:ln>
        </p:spPr>
        <p:txBody>
          <a:bodyPr/>
          <a:p/>
        </p:txBody>
      </p:sp>
      <p:sp>
        <p:nvSpPr>
          <p:cNvPr id="37" name="Shape 34"/>
          <p:cNvSpPr/>
          <p:nvPr/>
        </p:nvSpPr>
        <p:spPr>
          <a:xfrm flipH="1">
            <a:off x="1234440" y="5669280"/>
            <a:ext cx="1417320" cy="0"/>
          </a:xfrm>
          <a:prstGeom prst="line">
            <a:avLst/>
          </a:prstGeom>
          <a:noFill/>
          <a:ln w="15875">
            <a:solidFill>
              <a:srgbClr val="14213D"/>
            </a:solidFill>
            <a:prstDash val="solid"/>
          </a:ln>
        </p:spPr>
        <p:txBody>
          <a:bodyPr/>
          <a:p/>
        </p:txBody>
      </p:sp>
      <p:sp>
        <p:nvSpPr>
          <p:cNvPr id="38" name="Shape 35"/>
          <p:cNvSpPr/>
          <p:nvPr/>
        </p:nvSpPr>
        <p:spPr>
          <a:xfrm flipV="1">
            <a:off x="1234440" y="3054096"/>
            <a:ext cx="0" cy="2615184"/>
          </a:xfrm>
          <a:prstGeom prst="line">
            <a:avLst/>
          </a:prstGeom>
          <a:noFill/>
          <a:ln w="15875">
            <a:solidFill>
              <a:srgbClr val="14213D"/>
            </a:solidFill>
            <a:prstDash val="solid"/>
          </a:ln>
        </p:spPr>
        <p:txBody>
          <a:bodyPr/>
          <a:p/>
        </p:txBody>
      </p:sp>
      <p:sp>
        <p:nvSpPr>
          <p:cNvPr id="39" name="Shape 36"/>
          <p:cNvSpPr/>
          <p:nvPr/>
        </p:nvSpPr>
        <p:spPr>
          <a:xfrm>
            <a:off x="1234440" y="3054096"/>
            <a:ext cx="1417320" cy="0"/>
          </a:xfrm>
          <a:prstGeom prst="line">
            <a:avLst/>
          </a:prstGeom>
          <a:noFill/>
          <a:ln w="15875">
            <a:solidFill>
              <a:srgbClr val="14213D"/>
            </a:solidFill>
            <a:prstDash val="solid"/>
            <a:tailEnd type="triangle"/>
          </a:ln>
        </p:spPr>
        <p:txBody>
          <a:bodyPr/>
          <a:p/>
        </p:txBody>
      </p:sp>
      <p:sp>
        <p:nvSpPr>
          <p:cNvPr id="40" name="Shape 37"/>
          <p:cNvSpPr/>
          <p:nvPr/>
        </p:nvSpPr>
        <p:spPr>
          <a:xfrm>
            <a:off x="3383280" y="3529584"/>
            <a:ext cx="2971800" cy="0"/>
          </a:xfrm>
          <a:prstGeom prst="line">
            <a:avLst/>
          </a:prstGeom>
          <a:noFill/>
          <a:ln w="15875">
            <a:solidFill>
              <a:srgbClr val="14213D"/>
            </a:solidFill>
            <a:prstDash val="solid"/>
          </a:ln>
        </p:spPr>
        <p:txBody>
          <a:bodyPr/>
          <a:p/>
        </p:txBody>
      </p:sp>
      <p:sp>
        <p:nvSpPr>
          <p:cNvPr id="41" name="Shape 38"/>
          <p:cNvSpPr/>
          <p:nvPr/>
        </p:nvSpPr>
        <p:spPr>
          <a:xfrm>
            <a:off x="6355080" y="3529584"/>
            <a:ext cx="0" cy="713232"/>
          </a:xfrm>
          <a:prstGeom prst="line">
            <a:avLst/>
          </a:prstGeom>
          <a:noFill/>
          <a:ln w="15875">
            <a:solidFill>
              <a:srgbClr val="14213D"/>
            </a:solidFill>
            <a:prstDash val="solid"/>
            <a:tailEnd type="triangle"/>
          </a:ln>
        </p:spPr>
        <p:txBody>
          <a:bodyPr/>
          <a:p/>
        </p:txBody>
      </p:sp>
      <p:sp>
        <p:nvSpPr>
          <p:cNvPr id="42" name="Text 39"/>
          <p:cNvSpPr txBox="1"/>
          <p:nvPr/>
        </p:nvSpPr>
        <p:spPr>
          <a:xfrm>
            <a:off x="3429000" y="3282696"/>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3" name="Shape 40"/>
          <p:cNvSpPr/>
          <p:nvPr/>
        </p:nvSpPr>
        <p:spPr>
          <a:xfrm>
            <a:off x="6355080" y="4645152"/>
            <a:ext cx="0" cy="484632"/>
          </a:xfrm>
          <a:prstGeom prst="line">
            <a:avLst/>
          </a:prstGeom>
          <a:noFill/>
          <a:ln w="15875">
            <a:solidFill>
              <a:srgbClr val="14213D"/>
            </a:solidFill>
            <a:prstDash val="solid"/>
            <a:tailEnd type="triangle"/>
          </a:ln>
        </p:spPr>
        <p:txBody>
          <a:bodyPr/>
          <a:p/>
        </p:txBody>
      </p:sp>
      <p:sp>
        <p:nvSpPr>
          <p:cNvPr id="44" name="Shape 41"/>
          <p:cNvSpPr/>
          <p:nvPr/>
        </p:nvSpPr>
        <p:spPr>
          <a:xfrm>
            <a:off x="7406640" y="1600200"/>
            <a:ext cx="4251960" cy="4480560"/>
          </a:xfrm>
          <a:prstGeom prst="roundRect">
            <a:avLst>
              <a:gd name="adj" fmla="val 2581"/>
            </a:avLst>
          </a:prstGeom>
          <a:solidFill>
            <a:srgbClr val="FFF6E3"/>
          </a:solidFill>
          <a:ln w="12700">
            <a:solidFill>
              <a:srgbClr val="FFF6E3"/>
            </a:solidFill>
            <a:prstDash val="solid"/>
          </a:ln>
        </p:spPr>
        <p:txBody>
          <a:bodyPr/>
          <a:p/>
        </p:txBody>
      </p:sp>
      <p:sp>
        <p:nvSpPr>
          <p:cNvPr id="45" name="Text 42"/>
          <p:cNvSpPr txBox="1"/>
          <p:nvPr/>
        </p:nvSpPr>
        <p:spPr>
          <a:xfrm>
            <a:off x="7635240" y="1737360"/>
            <a:ext cx="3840480" cy="411480"/>
          </a:xfrm>
          <a:prstGeom prst="rect">
            <a:avLst/>
          </a:prstGeom>
          <a:noFill/>
          <a:ln/>
        </p:spPr>
        <p:txBody>
          <a:bodyPr wrap="square" lIns="0" tIns="0" rIns="0" bIns="0" rtlCol="0" anchor="ctr"/>
          <a:lstStyle/>
          <a:p>
            <a:pPr indent="0" marL="0">
              <a:buNone/>
            </a:pPr>
            <a:r>
              <a:rPr lang="en-US" sz="1800" b="1" dirty="0">
                <a:solidFill>
                  <a:srgbClr val="14213D"/>
                </a:solidFill>
                <a:latin typeface="Courier New" pitchFamily="34" charset="0"/>
                <a:ea typeface="Courier New" pitchFamily="34" charset="-122"/>
                <a:cs typeface="Courier New" pitchFamily="34" charset="-120"/>
              </a:rPr>
              <a:t>Input: n = 6</a:t>
            </a:r>
            <a:endParaRPr lang="en-US" sz="1800" dirty="0"/>
          </a:p>
        </p:txBody>
      </p:sp>
      <p:sp>
        <p:nvSpPr>
          <p:cNvPr id="46" name="Shape 43"/>
          <p:cNvSpPr/>
          <p:nvPr/>
        </p:nvSpPr>
        <p:spPr>
          <a:xfrm>
            <a:off x="7635240" y="2377440"/>
            <a:ext cx="548640" cy="548640"/>
          </a:xfrm>
          <a:prstGeom prst="ellipse">
            <a:avLst/>
          </a:prstGeom>
          <a:solidFill>
            <a:srgbClr val="14213D"/>
          </a:solidFill>
          <a:ln w="12700">
            <a:solidFill>
              <a:srgbClr val="14213D"/>
            </a:solidFill>
            <a:prstDash val="solid"/>
          </a:ln>
        </p:spPr>
        <p:txBody>
          <a:bodyPr/>
          <a:p/>
        </p:txBody>
      </p:sp>
      <p:sp>
        <p:nvSpPr>
          <p:cNvPr id="47" name="Text 44"/>
          <p:cNvSpPr txBox="1"/>
          <p:nvPr/>
        </p:nvSpPr>
        <p:spPr>
          <a:xfrm>
            <a:off x="7635240" y="237744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A</a:t>
            </a:r>
            <a:endParaRPr lang="en-US" sz="1800" dirty="0"/>
          </a:p>
        </p:txBody>
      </p:sp>
      <p:sp>
        <p:nvSpPr>
          <p:cNvPr id="48" name="Text 45"/>
          <p:cNvSpPr txBox="1"/>
          <p:nvPr/>
        </p:nvSpPr>
        <p:spPr>
          <a:xfrm>
            <a:off x="8366760" y="2377440"/>
            <a:ext cx="3108960" cy="548640"/>
          </a:xfrm>
          <a:prstGeom prst="rect">
            <a:avLst/>
          </a:prstGeom>
          <a:noFill/>
          <a:ln/>
        </p:spPr>
        <p:txBody>
          <a:bodyPr wrap="square" lIns="0" tIns="0" rIns="0" bIns="0" rtlCol="0" anchor="ctr"/>
          <a:lstStyle/>
          <a:p>
            <a:pPr indent="0" marL="0">
              <a:buNone/>
            </a:pPr>
            <a:r>
              <a:rPr lang="en-US" sz="1800" dirty="0">
                <a:solidFill>
                  <a:srgbClr val="14213D"/>
                </a:solidFill>
                <a:latin typeface="Courier New" pitchFamily="34" charset="0"/>
                <a:ea typeface="Courier New" pitchFamily="34" charset="-122"/>
                <a:cs typeface="Courier New" pitchFamily="34" charset="-120"/>
              </a:rPr>
              <a:t>21</a:t>
            </a:r>
            <a:endParaRPr lang="en-US" sz="1800" dirty="0"/>
          </a:p>
        </p:txBody>
      </p:sp>
      <p:sp>
        <p:nvSpPr>
          <p:cNvPr id="49" name="Shape 46"/>
          <p:cNvSpPr/>
          <p:nvPr/>
        </p:nvSpPr>
        <p:spPr>
          <a:xfrm>
            <a:off x="7635240" y="3154680"/>
            <a:ext cx="548640" cy="548640"/>
          </a:xfrm>
          <a:prstGeom prst="ellipse">
            <a:avLst/>
          </a:prstGeom>
          <a:solidFill>
            <a:srgbClr val="14213D"/>
          </a:solidFill>
          <a:ln w="12700">
            <a:solidFill>
              <a:srgbClr val="14213D"/>
            </a:solidFill>
            <a:prstDash val="solid"/>
          </a:ln>
        </p:spPr>
        <p:txBody>
          <a:bodyPr/>
          <a:p/>
        </p:txBody>
      </p:sp>
      <p:sp>
        <p:nvSpPr>
          <p:cNvPr id="50" name="Text 47"/>
          <p:cNvSpPr txBox="1"/>
          <p:nvPr/>
        </p:nvSpPr>
        <p:spPr>
          <a:xfrm>
            <a:off x="7635240" y="315468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B</a:t>
            </a:r>
            <a:endParaRPr lang="en-US" sz="1800" dirty="0"/>
          </a:p>
        </p:txBody>
      </p:sp>
      <p:sp>
        <p:nvSpPr>
          <p:cNvPr id="51" name="Text 48"/>
          <p:cNvSpPr txBox="1"/>
          <p:nvPr/>
        </p:nvSpPr>
        <p:spPr>
          <a:xfrm>
            <a:off x="8366760" y="3154680"/>
            <a:ext cx="3108960" cy="548640"/>
          </a:xfrm>
          <a:prstGeom prst="rect">
            <a:avLst/>
          </a:prstGeom>
          <a:noFill/>
          <a:ln/>
        </p:spPr>
        <p:txBody>
          <a:bodyPr wrap="square" lIns="0" tIns="0" rIns="0" bIns="0" rtlCol="0" anchor="ctr"/>
          <a:lstStyle/>
          <a:p>
            <a:pPr indent="0" marL="0">
              <a:buNone/>
            </a:pPr>
            <a:r>
              <a:rPr lang="en-US" sz="1800" dirty="0">
                <a:solidFill>
                  <a:srgbClr val="14213D"/>
                </a:solidFill>
                <a:latin typeface="Courier New" pitchFamily="34" charset="0"/>
                <a:ea typeface="Courier New" pitchFamily="34" charset="-122"/>
                <a:cs typeface="Courier New" pitchFamily="34" charset="-120"/>
              </a:rPr>
              <a:t>12</a:t>
            </a:r>
            <a:endParaRPr lang="en-US" sz="1800" dirty="0"/>
          </a:p>
        </p:txBody>
      </p:sp>
      <p:sp>
        <p:nvSpPr>
          <p:cNvPr id="52" name="Shape 49"/>
          <p:cNvSpPr/>
          <p:nvPr/>
        </p:nvSpPr>
        <p:spPr>
          <a:xfrm>
            <a:off x="7635240" y="3931920"/>
            <a:ext cx="548640" cy="548640"/>
          </a:xfrm>
          <a:prstGeom prst="ellipse">
            <a:avLst/>
          </a:prstGeom>
          <a:solidFill>
            <a:srgbClr val="14213D"/>
          </a:solidFill>
          <a:ln w="12700">
            <a:solidFill>
              <a:srgbClr val="14213D"/>
            </a:solidFill>
            <a:prstDash val="solid"/>
          </a:ln>
        </p:spPr>
        <p:txBody>
          <a:bodyPr/>
          <a:p/>
        </p:txBody>
      </p:sp>
      <p:sp>
        <p:nvSpPr>
          <p:cNvPr id="53" name="Text 50"/>
          <p:cNvSpPr txBox="1"/>
          <p:nvPr/>
        </p:nvSpPr>
        <p:spPr>
          <a:xfrm>
            <a:off x="7635240" y="393192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C</a:t>
            </a:r>
            <a:endParaRPr lang="en-US" sz="1800" dirty="0"/>
          </a:p>
        </p:txBody>
      </p:sp>
      <p:sp>
        <p:nvSpPr>
          <p:cNvPr id="54" name="Text 51"/>
          <p:cNvSpPr txBox="1"/>
          <p:nvPr/>
        </p:nvSpPr>
        <p:spPr>
          <a:xfrm>
            <a:off x="8366760" y="3931920"/>
            <a:ext cx="3108960" cy="548640"/>
          </a:xfrm>
          <a:prstGeom prst="rect">
            <a:avLst/>
          </a:prstGeom>
          <a:noFill/>
          <a:ln/>
        </p:spPr>
        <p:txBody>
          <a:bodyPr wrap="square" lIns="0" tIns="0" rIns="0" bIns="0" rtlCol="0" anchor="ctr"/>
          <a:lstStyle/>
          <a:p>
            <a:pPr indent="0" marL="0">
              <a:buNone/>
            </a:pPr>
            <a:r>
              <a:rPr lang="en-US" sz="1800" dirty="0">
                <a:solidFill>
                  <a:srgbClr val="14213D"/>
                </a:solidFill>
                <a:latin typeface="Courier New" pitchFamily="34" charset="0"/>
                <a:ea typeface="Courier New" pitchFamily="34" charset="-122"/>
                <a:cs typeface="Courier New" pitchFamily="34" charset="-120"/>
              </a:rPr>
              <a:t>9</a:t>
            </a:r>
            <a:endParaRPr lang="en-US" sz="1800" dirty="0"/>
          </a:p>
        </p:txBody>
      </p:sp>
      <p:sp>
        <p:nvSpPr>
          <p:cNvPr id="55" name="Shape 52"/>
          <p:cNvSpPr/>
          <p:nvPr/>
        </p:nvSpPr>
        <p:spPr>
          <a:xfrm>
            <a:off x="7635240" y="4709160"/>
            <a:ext cx="548640" cy="548640"/>
          </a:xfrm>
          <a:prstGeom prst="ellipse">
            <a:avLst/>
          </a:prstGeom>
          <a:solidFill>
            <a:srgbClr val="14213D"/>
          </a:solidFill>
          <a:ln w="12700">
            <a:solidFill>
              <a:srgbClr val="14213D"/>
            </a:solidFill>
            <a:prstDash val="solid"/>
          </a:ln>
        </p:spPr>
        <p:txBody>
          <a:bodyPr/>
          <a:p/>
        </p:txBody>
      </p:sp>
      <p:sp>
        <p:nvSpPr>
          <p:cNvPr id="56" name="Text 53"/>
          <p:cNvSpPr txBox="1"/>
          <p:nvPr/>
        </p:nvSpPr>
        <p:spPr>
          <a:xfrm>
            <a:off x="7635240" y="4709160"/>
            <a:ext cx="548640" cy="54864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D</a:t>
            </a:r>
            <a:endParaRPr lang="en-US" sz="1800" dirty="0"/>
          </a:p>
        </p:txBody>
      </p:sp>
      <p:sp>
        <p:nvSpPr>
          <p:cNvPr id="57" name="Text 54"/>
          <p:cNvSpPr txBox="1"/>
          <p:nvPr/>
        </p:nvSpPr>
        <p:spPr>
          <a:xfrm>
            <a:off x="8366760" y="4709160"/>
            <a:ext cx="3108960" cy="548640"/>
          </a:xfrm>
          <a:prstGeom prst="rect">
            <a:avLst/>
          </a:prstGeom>
          <a:noFill/>
          <a:ln/>
        </p:spPr>
        <p:txBody>
          <a:bodyPr wrap="square" lIns="0" tIns="0" rIns="0" bIns="0" rtlCol="0" anchor="ctr"/>
          <a:lstStyle/>
          <a:p>
            <a:pPr indent="0" marL="0">
              <a:buNone/>
            </a:pPr>
            <a:r>
              <a:rPr lang="en-US" sz="1800" dirty="0">
                <a:solidFill>
                  <a:srgbClr val="14213D"/>
                </a:solidFill>
                <a:latin typeface="Courier New" pitchFamily="34" charset="0"/>
                <a:ea typeface="Courier New" pitchFamily="34" charset="-122"/>
                <a:cs typeface="Courier New" pitchFamily="34" charset="-120"/>
              </a:rPr>
              <a:t>it never stops</a:t>
            </a:r>
            <a:endParaRPr lang="en-US" sz="1800" dirty="0"/>
          </a:p>
        </p:txBody>
      </p:sp>
      <p:sp>
        <p:nvSpPr>
          <p:cNvPr id="58" name="Text 55"/>
          <p:cNvSpPr txBox="1"/>
          <p:nvPr/>
        </p:nvSpPr>
        <p:spPr>
          <a:xfrm>
            <a:off x="7635240" y="5486400"/>
            <a:ext cx="3840480" cy="502920"/>
          </a:xfrm>
          <a:prstGeom prst="rect">
            <a:avLst/>
          </a:prstGeom>
          <a:noFill/>
          <a:ln/>
        </p:spPr>
        <p:txBody>
          <a:bodyPr wrap="square" lIns="0" tIns="0" rIns="0" bIns="0" rtlCol="0" anchor="t"/>
          <a:lstStyle/>
          <a:p>
            <a:pPr indent="0" marL="0">
              <a:buNone/>
            </a:pPr>
            <a:r>
              <a:rPr lang="en-US" sz="1400" dirty="0">
                <a:solidFill>
                  <a:srgbClr val="5B6478"/>
                </a:solidFill>
                <a:latin typeface="Calibri" pitchFamily="34" charset="0"/>
                <a:ea typeface="Calibri" pitchFamily="34" charset="-122"/>
                <a:cs typeface="Calibri" pitchFamily="34" charset="-120"/>
              </a:rPr>
              <a:t>Hint: use a trace table with columns k, 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 B: 12  (2 + 4 + 6)</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2057400" y="1563624"/>
            <a:ext cx="1188720" cy="347472"/>
          </a:xfrm>
          <a:prstGeom prst="flowChartTerminator">
            <a:avLst/>
          </a:prstGeom>
          <a:solidFill>
            <a:srgbClr val="FFF1D6"/>
          </a:solidFill>
          <a:ln w="15875">
            <a:solidFill>
              <a:srgbClr val="14213D"/>
            </a:solidFill>
            <a:prstDash val="solid"/>
          </a:ln>
        </p:spPr>
        <p:txBody>
          <a:bodyPr/>
          <a:p/>
        </p:txBody>
      </p:sp>
      <p:sp>
        <p:nvSpPr>
          <p:cNvPr id="8" name="Text 5"/>
          <p:cNvSpPr txBox="1"/>
          <p:nvPr/>
        </p:nvSpPr>
        <p:spPr>
          <a:xfrm>
            <a:off x="2103120" y="156362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Start</a:t>
            </a:r>
            <a:endParaRPr lang="en-US" sz="1300" dirty="0"/>
          </a:p>
        </p:txBody>
      </p:sp>
      <p:sp>
        <p:nvSpPr>
          <p:cNvPr id="9" name="Shape 6"/>
          <p:cNvSpPr/>
          <p:nvPr/>
        </p:nvSpPr>
        <p:spPr>
          <a:xfrm>
            <a:off x="1920240" y="2048256"/>
            <a:ext cx="1463040" cy="384048"/>
          </a:xfrm>
          <a:prstGeom prst="flowChartInputOutput">
            <a:avLst/>
          </a:prstGeom>
          <a:solidFill>
            <a:srgbClr val="FFFFFF"/>
          </a:solidFill>
          <a:ln w="15875">
            <a:solidFill>
              <a:srgbClr val="14213D"/>
            </a:solidFill>
            <a:prstDash val="solid"/>
          </a:ln>
        </p:spPr>
        <p:txBody>
          <a:bodyPr/>
          <a:p/>
        </p:txBody>
      </p:sp>
      <p:sp>
        <p:nvSpPr>
          <p:cNvPr id="10" name="Text 7"/>
          <p:cNvSpPr txBox="1"/>
          <p:nvPr/>
        </p:nvSpPr>
        <p:spPr>
          <a:xfrm>
            <a:off x="1965960" y="2048256"/>
            <a:ext cx="13716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Read n</a:t>
            </a:r>
            <a:endParaRPr lang="en-US" sz="1300" dirty="0"/>
          </a:p>
        </p:txBody>
      </p:sp>
      <p:sp>
        <p:nvSpPr>
          <p:cNvPr id="11" name="Shape 8"/>
          <p:cNvSpPr/>
          <p:nvPr/>
        </p:nvSpPr>
        <p:spPr>
          <a:xfrm>
            <a:off x="1828800" y="2542032"/>
            <a:ext cx="1645920" cy="365760"/>
          </a:xfrm>
          <a:prstGeom prst="flowChartProcess">
            <a:avLst/>
          </a:prstGeom>
          <a:solidFill>
            <a:srgbClr val="FFFFFF"/>
          </a:solidFill>
          <a:ln w="15875">
            <a:solidFill>
              <a:srgbClr val="14213D"/>
            </a:solidFill>
            <a:prstDash val="solid"/>
          </a:ln>
        </p:spPr>
        <p:txBody>
          <a:bodyPr/>
          <a:p/>
        </p:txBody>
      </p:sp>
      <p:sp>
        <p:nvSpPr>
          <p:cNvPr id="12" name="Text 9"/>
          <p:cNvSpPr txBox="1"/>
          <p:nvPr/>
        </p:nvSpPr>
        <p:spPr>
          <a:xfrm>
            <a:off x="1874520" y="2542032"/>
            <a:ext cx="155448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 ← 0,  k ← 1</a:t>
            </a:r>
            <a:endParaRPr lang="en-US" sz="1300" dirty="0"/>
          </a:p>
        </p:txBody>
      </p:sp>
      <p:sp>
        <p:nvSpPr>
          <p:cNvPr id="13" name="Shape 10"/>
          <p:cNvSpPr/>
          <p:nvPr/>
        </p:nvSpPr>
        <p:spPr>
          <a:xfrm>
            <a:off x="1920240" y="3227832"/>
            <a:ext cx="1463040" cy="603504"/>
          </a:xfrm>
          <a:prstGeom prst="flowChartDecision">
            <a:avLst/>
          </a:prstGeom>
          <a:solidFill>
            <a:srgbClr val="E3ECF8"/>
          </a:solidFill>
          <a:ln w="15875">
            <a:solidFill>
              <a:srgbClr val="14213D"/>
            </a:solidFill>
            <a:prstDash val="solid"/>
          </a:ln>
        </p:spPr>
        <p:txBody>
          <a:bodyPr/>
          <a:p/>
        </p:txBody>
      </p:sp>
      <p:sp>
        <p:nvSpPr>
          <p:cNvPr id="14" name="Text 11"/>
          <p:cNvSpPr txBox="1"/>
          <p:nvPr/>
        </p:nvSpPr>
        <p:spPr>
          <a:xfrm>
            <a:off x="1965960" y="3227832"/>
            <a:ext cx="1371600" cy="603504"/>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 n ?</a:t>
            </a:r>
            <a:endParaRPr lang="en-US" sz="1300" dirty="0"/>
          </a:p>
        </p:txBody>
      </p:sp>
      <p:sp>
        <p:nvSpPr>
          <p:cNvPr id="15" name="Shape 12"/>
          <p:cNvSpPr/>
          <p:nvPr/>
        </p:nvSpPr>
        <p:spPr>
          <a:xfrm>
            <a:off x="1691640" y="4123944"/>
            <a:ext cx="1920240" cy="640080"/>
          </a:xfrm>
          <a:prstGeom prst="flowChartDecision">
            <a:avLst/>
          </a:prstGeom>
          <a:solidFill>
            <a:srgbClr val="E3ECF8"/>
          </a:solidFill>
          <a:ln w="15875">
            <a:solidFill>
              <a:srgbClr val="14213D"/>
            </a:solidFill>
            <a:prstDash val="solid"/>
          </a:ln>
        </p:spPr>
        <p:txBody>
          <a:bodyPr/>
          <a:p/>
        </p:txBody>
      </p:sp>
      <p:sp>
        <p:nvSpPr>
          <p:cNvPr id="16" name="Text 13"/>
          <p:cNvSpPr txBox="1"/>
          <p:nvPr/>
        </p:nvSpPr>
        <p:spPr>
          <a:xfrm>
            <a:off x="1737360" y="4123944"/>
            <a:ext cx="18288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mod 2 = 0 ?</a:t>
            </a:r>
            <a:endParaRPr lang="en-US" sz="1300" dirty="0"/>
          </a:p>
        </p:txBody>
      </p:sp>
      <p:sp>
        <p:nvSpPr>
          <p:cNvPr id="17" name="Shape 14"/>
          <p:cNvSpPr/>
          <p:nvPr/>
        </p:nvSpPr>
        <p:spPr>
          <a:xfrm>
            <a:off x="4091940" y="4251960"/>
            <a:ext cx="1234440" cy="384048"/>
          </a:xfrm>
          <a:prstGeom prst="flowChartProcess">
            <a:avLst/>
          </a:prstGeom>
          <a:solidFill>
            <a:srgbClr val="FFF1D6"/>
          </a:solidFill>
          <a:ln w="15875">
            <a:solidFill>
              <a:srgbClr val="14213D"/>
            </a:solidFill>
            <a:prstDash val="solid"/>
          </a:ln>
        </p:spPr>
        <p:txBody>
          <a:bodyPr/>
          <a:p/>
        </p:txBody>
      </p:sp>
      <p:sp>
        <p:nvSpPr>
          <p:cNvPr id="18" name="Text 15"/>
          <p:cNvSpPr txBox="1"/>
          <p:nvPr/>
        </p:nvSpPr>
        <p:spPr>
          <a:xfrm>
            <a:off x="4137660" y="4251960"/>
            <a:ext cx="1143000" cy="384048"/>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s ← s + k</a:t>
            </a:r>
            <a:endParaRPr lang="en-US" sz="1300" dirty="0"/>
          </a:p>
        </p:txBody>
      </p:sp>
      <p:sp>
        <p:nvSpPr>
          <p:cNvPr id="19" name="Shape 16"/>
          <p:cNvSpPr/>
          <p:nvPr/>
        </p:nvSpPr>
        <p:spPr>
          <a:xfrm>
            <a:off x="1920240" y="5120640"/>
            <a:ext cx="1463040" cy="365760"/>
          </a:xfrm>
          <a:prstGeom prst="flowChartProcess">
            <a:avLst/>
          </a:prstGeom>
          <a:solidFill>
            <a:srgbClr val="FFFFFF"/>
          </a:solidFill>
          <a:ln w="15875">
            <a:solidFill>
              <a:srgbClr val="14213D"/>
            </a:solidFill>
            <a:prstDash val="solid"/>
          </a:ln>
        </p:spPr>
        <p:txBody>
          <a:bodyPr/>
          <a:p/>
        </p:txBody>
      </p:sp>
      <p:sp>
        <p:nvSpPr>
          <p:cNvPr id="20" name="Text 17"/>
          <p:cNvSpPr txBox="1"/>
          <p:nvPr/>
        </p:nvSpPr>
        <p:spPr>
          <a:xfrm>
            <a:off x="1965960" y="5120640"/>
            <a:ext cx="1371600" cy="36576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k ← k + 1</a:t>
            </a:r>
            <a:endParaRPr lang="en-US" sz="1300" dirty="0"/>
          </a:p>
        </p:txBody>
      </p:sp>
      <p:sp>
        <p:nvSpPr>
          <p:cNvPr id="21" name="Shape 18"/>
          <p:cNvSpPr/>
          <p:nvPr/>
        </p:nvSpPr>
        <p:spPr>
          <a:xfrm>
            <a:off x="5669280" y="4242816"/>
            <a:ext cx="1371600" cy="402336"/>
          </a:xfrm>
          <a:prstGeom prst="flowChartInputOutput">
            <a:avLst/>
          </a:prstGeom>
          <a:solidFill>
            <a:srgbClr val="FFFFFF"/>
          </a:solidFill>
          <a:ln w="15875">
            <a:solidFill>
              <a:srgbClr val="14213D"/>
            </a:solidFill>
            <a:prstDash val="solid"/>
          </a:ln>
        </p:spPr>
        <p:txBody>
          <a:bodyPr/>
          <a:p/>
        </p:txBody>
      </p:sp>
      <p:sp>
        <p:nvSpPr>
          <p:cNvPr id="22" name="Text 19"/>
          <p:cNvSpPr txBox="1"/>
          <p:nvPr/>
        </p:nvSpPr>
        <p:spPr>
          <a:xfrm>
            <a:off x="5715000" y="4242816"/>
            <a:ext cx="1280160" cy="402336"/>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Print s</a:t>
            </a:r>
            <a:endParaRPr lang="en-US" sz="1300" dirty="0"/>
          </a:p>
        </p:txBody>
      </p:sp>
      <p:sp>
        <p:nvSpPr>
          <p:cNvPr id="23" name="Shape 20"/>
          <p:cNvSpPr/>
          <p:nvPr/>
        </p:nvSpPr>
        <p:spPr>
          <a:xfrm>
            <a:off x="5760720" y="5129784"/>
            <a:ext cx="1188720" cy="347472"/>
          </a:xfrm>
          <a:prstGeom prst="flowChartTerminator">
            <a:avLst/>
          </a:prstGeom>
          <a:solidFill>
            <a:srgbClr val="FFF1D6"/>
          </a:solidFill>
          <a:ln w="15875">
            <a:solidFill>
              <a:srgbClr val="14213D"/>
            </a:solidFill>
            <a:prstDash val="solid"/>
          </a:ln>
        </p:spPr>
        <p:txBody>
          <a:bodyPr/>
          <a:p/>
        </p:txBody>
      </p:sp>
      <p:sp>
        <p:nvSpPr>
          <p:cNvPr id="24" name="Text 21"/>
          <p:cNvSpPr txBox="1"/>
          <p:nvPr/>
        </p:nvSpPr>
        <p:spPr>
          <a:xfrm>
            <a:off x="5806440" y="5129784"/>
            <a:ext cx="1097280" cy="347472"/>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End</a:t>
            </a:r>
            <a:endParaRPr lang="en-US" sz="1300" dirty="0"/>
          </a:p>
        </p:txBody>
      </p:sp>
      <p:sp>
        <p:nvSpPr>
          <p:cNvPr id="25" name="Shape 22"/>
          <p:cNvSpPr/>
          <p:nvPr/>
        </p:nvSpPr>
        <p:spPr>
          <a:xfrm>
            <a:off x="2651760" y="1911096"/>
            <a:ext cx="0" cy="137160"/>
          </a:xfrm>
          <a:prstGeom prst="line">
            <a:avLst/>
          </a:prstGeom>
          <a:noFill/>
          <a:ln w="15875">
            <a:solidFill>
              <a:srgbClr val="14213D"/>
            </a:solidFill>
            <a:prstDash val="solid"/>
            <a:tailEnd type="triangle"/>
          </a:ln>
        </p:spPr>
        <p:txBody>
          <a:bodyPr/>
          <a:p/>
        </p:txBody>
      </p:sp>
      <p:sp>
        <p:nvSpPr>
          <p:cNvPr id="26" name="Shape 23"/>
          <p:cNvSpPr/>
          <p:nvPr/>
        </p:nvSpPr>
        <p:spPr>
          <a:xfrm>
            <a:off x="2651760" y="2432304"/>
            <a:ext cx="0" cy="109728"/>
          </a:xfrm>
          <a:prstGeom prst="line">
            <a:avLst/>
          </a:prstGeom>
          <a:noFill/>
          <a:ln w="15875">
            <a:solidFill>
              <a:srgbClr val="14213D"/>
            </a:solidFill>
            <a:prstDash val="solid"/>
            <a:tailEnd type="triangle"/>
          </a:ln>
        </p:spPr>
        <p:txBody>
          <a:bodyPr/>
          <a:p/>
        </p:txBody>
      </p:sp>
      <p:sp>
        <p:nvSpPr>
          <p:cNvPr id="27" name="Shape 24"/>
          <p:cNvSpPr/>
          <p:nvPr/>
        </p:nvSpPr>
        <p:spPr>
          <a:xfrm>
            <a:off x="2651760" y="2907792"/>
            <a:ext cx="0" cy="320040"/>
          </a:xfrm>
          <a:prstGeom prst="line">
            <a:avLst/>
          </a:prstGeom>
          <a:noFill/>
          <a:ln w="15875">
            <a:solidFill>
              <a:srgbClr val="14213D"/>
            </a:solidFill>
            <a:prstDash val="solid"/>
            <a:tailEnd type="triangle"/>
          </a:ln>
        </p:spPr>
        <p:txBody>
          <a:bodyPr/>
          <a:p/>
        </p:txBody>
      </p:sp>
      <p:sp>
        <p:nvSpPr>
          <p:cNvPr id="28" name="Shape 25"/>
          <p:cNvSpPr/>
          <p:nvPr/>
        </p:nvSpPr>
        <p:spPr>
          <a:xfrm>
            <a:off x="2651760" y="3831336"/>
            <a:ext cx="0" cy="292608"/>
          </a:xfrm>
          <a:prstGeom prst="line">
            <a:avLst/>
          </a:prstGeom>
          <a:noFill/>
          <a:ln w="15875">
            <a:solidFill>
              <a:srgbClr val="14213D"/>
            </a:solidFill>
            <a:prstDash val="solid"/>
            <a:tailEnd type="triangle"/>
          </a:ln>
        </p:spPr>
        <p:txBody>
          <a:bodyPr/>
          <a:p/>
        </p:txBody>
      </p:sp>
      <p:sp>
        <p:nvSpPr>
          <p:cNvPr id="29" name="Text 26"/>
          <p:cNvSpPr txBox="1"/>
          <p:nvPr/>
        </p:nvSpPr>
        <p:spPr>
          <a:xfrm>
            <a:off x="2715768" y="3813048"/>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0" name="Shape 27"/>
          <p:cNvSpPr/>
          <p:nvPr/>
        </p:nvSpPr>
        <p:spPr>
          <a:xfrm>
            <a:off x="3611880" y="4443984"/>
            <a:ext cx="480060" cy="0"/>
          </a:xfrm>
          <a:prstGeom prst="line">
            <a:avLst/>
          </a:prstGeom>
          <a:noFill/>
          <a:ln w="15875">
            <a:solidFill>
              <a:srgbClr val="14213D"/>
            </a:solidFill>
            <a:prstDash val="solid"/>
            <a:tailEnd type="triangle"/>
          </a:ln>
        </p:spPr>
        <p:txBody>
          <a:bodyPr/>
          <a:p/>
        </p:txBody>
      </p:sp>
      <p:sp>
        <p:nvSpPr>
          <p:cNvPr id="31" name="Text 28"/>
          <p:cNvSpPr txBox="1"/>
          <p:nvPr/>
        </p:nvSpPr>
        <p:spPr>
          <a:xfrm>
            <a:off x="3657600" y="4197096"/>
            <a:ext cx="502920" cy="219456"/>
          </a:xfrm>
          <a:prstGeom prst="rect">
            <a:avLst/>
          </a:prstGeom>
          <a:noFill/>
          <a:ln/>
        </p:spPr>
        <p:txBody>
          <a:bodyPr wrap="square" lIns="0" tIns="0" rIns="0" bIns="0" rtlCol="0" anchor="ctr"/>
          <a:lstStyle/>
          <a:p>
            <a:pPr algn="l"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32" name="Shape 29"/>
          <p:cNvSpPr/>
          <p:nvPr/>
        </p:nvSpPr>
        <p:spPr>
          <a:xfrm>
            <a:off x="2651760" y="4764024"/>
            <a:ext cx="0" cy="356616"/>
          </a:xfrm>
          <a:prstGeom prst="line">
            <a:avLst/>
          </a:prstGeom>
          <a:noFill/>
          <a:ln w="15875">
            <a:solidFill>
              <a:srgbClr val="14213D"/>
            </a:solidFill>
            <a:prstDash val="solid"/>
            <a:tailEnd type="triangle"/>
          </a:ln>
        </p:spPr>
        <p:txBody>
          <a:bodyPr/>
          <a:p/>
        </p:txBody>
      </p:sp>
      <p:sp>
        <p:nvSpPr>
          <p:cNvPr id="33" name="Text 30"/>
          <p:cNvSpPr txBox="1"/>
          <p:nvPr/>
        </p:nvSpPr>
        <p:spPr>
          <a:xfrm>
            <a:off x="2084832" y="4745736"/>
            <a:ext cx="502920" cy="219456"/>
          </a:xfrm>
          <a:prstGeom prst="rect">
            <a:avLst/>
          </a:prstGeom>
          <a:noFill/>
          <a:ln/>
        </p:spPr>
        <p:txBody>
          <a:bodyPr wrap="square" lIns="0" tIns="0" rIns="0" bIns="0" rtlCol="0" anchor="ctr"/>
          <a:lstStyle/>
          <a:p>
            <a:pPr algn="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34" name="Shape 31"/>
          <p:cNvSpPr/>
          <p:nvPr/>
        </p:nvSpPr>
        <p:spPr>
          <a:xfrm>
            <a:off x="4709160" y="4636008"/>
            <a:ext cx="0" cy="320040"/>
          </a:xfrm>
          <a:prstGeom prst="line">
            <a:avLst/>
          </a:prstGeom>
          <a:noFill/>
          <a:ln w="15875">
            <a:solidFill>
              <a:srgbClr val="14213D"/>
            </a:solidFill>
            <a:prstDash val="solid"/>
          </a:ln>
        </p:spPr>
        <p:txBody>
          <a:bodyPr/>
          <a:p/>
        </p:txBody>
      </p:sp>
      <p:sp>
        <p:nvSpPr>
          <p:cNvPr id="35" name="Shape 32"/>
          <p:cNvSpPr/>
          <p:nvPr/>
        </p:nvSpPr>
        <p:spPr>
          <a:xfrm flipH="1">
            <a:off x="2651760" y="4956048"/>
            <a:ext cx="2057400" cy="0"/>
          </a:xfrm>
          <a:prstGeom prst="line">
            <a:avLst/>
          </a:prstGeom>
          <a:noFill/>
          <a:ln w="15875">
            <a:solidFill>
              <a:srgbClr val="14213D"/>
            </a:solidFill>
            <a:prstDash val="solid"/>
            <a:tailEnd type="triangle"/>
          </a:ln>
        </p:spPr>
        <p:txBody>
          <a:bodyPr/>
          <a:p/>
        </p:txBody>
      </p:sp>
      <p:sp>
        <p:nvSpPr>
          <p:cNvPr id="36" name="Shape 33"/>
          <p:cNvSpPr/>
          <p:nvPr/>
        </p:nvSpPr>
        <p:spPr>
          <a:xfrm>
            <a:off x="2651760" y="5486400"/>
            <a:ext cx="0" cy="182880"/>
          </a:xfrm>
          <a:prstGeom prst="line">
            <a:avLst/>
          </a:prstGeom>
          <a:noFill/>
          <a:ln w="15875">
            <a:solidFill>
              <a:srgbClr val="14213D"/>
            </a:solidFill>
            <a:prstDash val="solid"/>
          </a:ln>
        </p:spPr>
        <p:txBody>
          <a:bodyPr/>
          <a:p/>
        </p:txBody>
      </p:sp>
      <p:sp>
        <p:nvSpPr>
          <p:cNvPr id="37" name="Shape 34"/>
          <p:cNvSpPr/>
          <p:nvPr/>
        </p:nvSpPr>
        <p:spPr>
          <a:xfrm flipH="1">
            <a:off x="1234440" y="5669280"/>
            <a:ext cx="1417320" cy="0"/>
          </a:xfrm>
          <a:prstGeom prst="line">
            <a:avLst/>
          </a:prstGeom>
          <a:noFill/>
          <a:ln w="15875">
            <a:solidFill>
              <a:srgbClr val="14213D"/>
            </a:solidFill>
            <a:prstDash val="solid"/>
          </a:ln>
        </p:spPr>
        <p:txBody>
          <a:bodyPr/>
          <a:p/>
        </p:txBody>
      </p:sp>
      <p:sp>
        <p:nvSpPr>
          <p:cNvPr id="38" name="Shape 35"/>
          <p:cNvSpPr/>
          <p:nvPr/>
        </p:nvSpPr>
        <p:spPr>
          <a:xfrm flipV="1">
            <a:off x="1234440" y="3054096"/>
            <a:ext cx="0" cy="2615184"/>
          </a:xfrm>
          <a:prstGeom prst="line">
            <a:avLst/>
          </a:prstGeom>
          <a:noFill/>
          <a:ln w="15875">
            <a:solidFill>
              <a:srgbClr val="14213D"/>
            </a:solidFill>
            <a:prstDash val="solid"/>
          </a:ln>
        </p:spPr>
        <p:txBody>
          <a:bodyPr/>
          <a:p/>
        </p:txBody>
      </p:sp>
      <p:sp>
        <p:nvSpPr>
          <p:cNvPr id="39" name="Shape 36"/>
          <p:cNvSpPr/>
          <p:nvPr/>
        </p:nvSpPr>
        <p:spPr>
          <a:xfrm>
            <a:off x="1234440" y="3054096"/>
            <a:ext cx="1417320" cy="0"/>
          </a:xfrm>
          <a:prstGeom prst="line">
            <a:avLst/>
          </a:prstGeom>
          <a:noFill/>
          <a:ln w="15875">
            <a:solidFill>
              <a:srgbClr val="14213D"/>
            </a:solidFill>
            <a:prstDash val="solid"/>
            <a:tailEnd type="triangle"/>
          </a:ln>
        </p:spPr>
        <p:txBody>
          <a:bodyPr/>
          <a:p/>
        </p:txBody>
      </p:sp>
      <p:sp>
        <p:nvSpPr>
          <p:cNvPr id="40" name="Shape 37"/>
          <p:cNvSpPr/>
          <p:nvPr/>
        </p:nvSpPr>
        <p:spPr>
          <a:xfrm>
            <a:off x="3383280" y="3529584"/>
            <a:ext cx="2971800" cy="0"/>
          </a:xfrm>
          <a:prstGeom prst="line">
            <a:avLst/>
          </a:prstGeom>
          <a:noFill/>
          <a:ln w="15875">
            <a:solidFill>
              <a:srgbClr val="14213D"/>
            </a:solidFill>
            <a:prstDash val="solid"/>
          </a:ln>
        </p:spPr>
        <p:txBody>
          <a:bodyPr/>
          <a:p/>
        </p:txBody>
      </p:sp>
      <p:sp>
        <p:nvSpPr>
          <p:cNvPr id="41" name="Shape 38"/>
          <p:cNvSpPr/>
          <p:nvPr/>
        </p:nvSpPr>
        <p:spPr>
          <a:xfrm>
            <a:off x="6355080" y="3529584"/>
            <a:ext cx="0" cy="713232"/>
          </a:xfrm>
          <a:prstGeom prst="line">
            <a:avLst/>
          </a:prstGeom>
          <a:noFill/>
          <a:ln w="15875">
            <a:solidFill>
              <a:srgbClr val="14213D"/>
            </a:solidFill>
            <a:prstDash val="solid"/>
            <a:tailEnd type="triangle"/>
          </a:ln>
        </p:spPr>
        <p:txBody>
          <a:bodyPr/>
          <a:p/>
        </p:txBody>
      </p:sp>
      <p:sp>
        <p:nvSpPr>
          <p:cNvPr id="42" name="Text 39"/>
          <p:cNvSpPr txBox="1"/>
          <p:nvPr/>
        </p:nvSpPr>
        <p:spPr>
          <a:xfrm>
            <a:off x="3429000" y="3282696"/>
            <a:ext cx="502920" cy="219456"/>
          </a:xfrm>
          <a:prstGeom prst="rect">
            <a:avLst/>
          </a:prstGeom>
          <a:noFill/>
          <a:ln/>
        </p:spPr>
        <p:txBody>
          <a:bodyPr wrap="square" lIns="0" tIns="0" rIns="0" bIns="0" rtlCol="0" anchor="ctr"/>
          <a:lstStyle/>
          <a:p>
            <a:pPr algn="l"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43" name="Shape 40"/>
          <p:cNvSpPr/>
          <p:nvPr/>
        </p:nvSpPr>
        <p:spPr>
          <a:xfrm>
            <a:off x="6355080" y="4645152"/>
            <a:ext cx="0" cy="484632"/>
          </a:xfrm>
          <a:prstGeom prst="line">
            <a:avLst/>
          </a:prstGeom>
          <a:noFill/>
          <a:ln w="15875">
            <a:solidFill>
              <a:srgbClr val="14213D"/>
            </a:solidFill>
            <a:prstDash val="solid"/>
            <a:tailEnd type="triangle"/>
          </a:ln>
        </p:spPr>
        <p:txBody>
          <a:bodyPr/>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406640" y="1600200"/>
          <a:ext cx="4251960" cy="914400"/>
        </p:xfrm>
        <a:graphic>
          <a:graphicData uri="http://schemas.openxmlformats.org/drawingml/2006/table">
            <a:tbl>
              <a:tblPr/>
              <a:tblGrid>
                <a:gridCol w="640080"/>
                <a:gridCol w="1051560"/>
                <a:gridCol w="1463040"/>
                <a:gridCol w="109728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 ≤ n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 mod 2 = 0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2E9E6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8453B"/>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Print 12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45" name="Shape 41"/>
          <p:cNvSpPr/>
          <p:nvPr/>
        </p:nvSpPr>
        <p:spPr>
          <a:xfrm>
            <a:off x="7406640" y="4892040"/>
            <a:ext cx="4251960" cy="1188720"/>
          </a:xfrm>
          <a:prstGeom prst="roundRect">
            <a:avLst>
              <a:gd name="adj" fmla="val 9231"/>
            </a:avLst>
          </a:prstGeom>
          <a:solidFill>
            <a:srgbClr val="FFF6E3"/>
          </a:solidFill>
          <a:ln w="12700">
            <a:solidFill>
              <a:srgbClr val="FFF6E3"/>
            </a:solidFill>
            <a:prstDash val="solid"/>
          </a:ln>
        </p:spPr>
        <p:txBody>
          <a:bodyPr/>
          <a:p/>
        </p:txBody>
      </p:sp>
      <p:pic>
        <p:nvPicPr>
          <p:cNvPr id="46" name="Image 0" descr="preencoded.png">    </p:cNvPr>
          <p:cNvPicPr>
            <a:picLocks noChangeAspect="1"/>
          </p:cNvPicPr>
          <p:nvPr/>
        </p:nvPicPr>
        <p:blipFill>
          <a:blip r:embed="rId1"/>
          <a:stretch>
            <a:fillRect/>
          </a:stretch>
        </p:blipFill>
        <p:spPr>
          <a:xfrm>
            <a:off x="7680960" y="5212080"/>
            <a:ext cx="548640" cy="548640"/>
          </a:xfrm>
          <a:prstGeom prst="rect">
            <a:avLst/>
          </a:prstGeom>
        </p:spPr>
      </p:pic>
      <p:sp>
        <p:nvSpPr>
          <p:cNvPr id="47" name="Text 42"/>
          <p:cNvSpPr txBox="1"/>
          <p:nvPr/>
        </p:nvSpPr>
        <p:spPr>
          <a:xfrm>
            <a:off x="8503920" y="4965192"/>
            <a:ext cx="2880360" cy="1042416"/>
          </a:xfrm>
          <a:prstGeom prst="rect">
            <a:avLst/>
          </a:prstGeom>
          <a:noFill/>
          <a:ln/>
        </p:spPr>
        <p:txBody>
          <a:bodyPr wrap="square" lIns="0" tIns="0" rIns="0" bIns="0" rtlCol="0" anchor="ctr"/>
          <a:lstStyle/>
          <a:p>
            <a:pPr indent="0" marL="0">
              <a:buNone/>
            </a:pPr>
            <a:r>
              <a:rPr lang="en-US" sz="1450" b="1" dirty="0">
                <a:solidFill>
                  <a:srgbClr val="14213D"/>
                </a:solidFill>
                <a:latin typeface="Calibri" pitchFamily="34" charset="0"/>
                <a:ea typeface="Calibri" pitchFamily="34" charset="-122"/>
                <a:cs typeface="Calibri" pitchFamily="34" charset="-120"/>
              </a:rPr>
              <a:t>It adds the even numbers </a:t>
            </a:r>
            <a:pPr indent="0" marL="0">
              <a:buNone/>
            </a:pPr>
            <a:r>
              <a:rPr lang="en-US" sz="1450" dirty="0">
                <a:solidFill>
                  <a:srgbClr val="333B4F"/>
                </a:solidFill>
                <a:latin typeface="Calibri" pitchFamily="34" charset="0"/>
                <a:ea typeface="Calibri" pitchFamily="34" charset="-122"/>
                <a:cs typeface="Calibri" pitchFamily="34" charset="-120"/>
              </a:rPr>
              <a:t>from 1 to n.</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TOOLS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to Draw Flowcharts With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00200"/>
            <a:ext cx="3383280" cy="2103120"/>
          </a:xfrm>
          <a:prstGeom prst="roundRect">
            <a:avLst>
              <a:gd name="adj" fmla="val 5217"/>
            </a:avLst>
          </a:prstGeom>
          <a:solidFill>
            <a:srgbClr val="EEF1F6"/>
          </a:solidFill>
          <a:ln w="12700">
            <a:solidFill>
              <a:srgbClr val="EEF1F6"/>
            </a:solidFill>
            <a:prstDash val="solid"/>
          </a:ln>
        </p:spPr>
        <p:txBody>
          <a:bodyPr/>
          <a:p/>
        </p:txBody>
      </p:sp>
      <p:sp>
        <p:nvSpPr>
          <p:cNvPr id="8" name="Shape 5"/>
          <p:cNvSpPr/>
          <p:nvPr/>
        </p:nvSpPr>
        <p:spPr>
          <a:xfrm>
            <a:off x="777240" y="1828800"/>
            <a:ext cx="566928" cy="566928"/>
          </a:xfrm>
          <a:prstGeom prst="ellipse">
            <a:avLst/>
          </a:prstGeom>
          <a:solidFill>
            <a:srgbClr val="14213D"/>
          </a:solidFill>
          <a:ln w="12700">
            <a:solidFill>
              <a:srgbClr val="14213D"/>
            </a:solidFill>
            <a:prstDash val="solid"/>
          </a:ln>
        </p:spPr>
        <p:txBody>
          <a:bodyPr/>
          <a:p/>
        </p:txBody>
      </p:sp>
      <p:pic>
        <p:nvPicPr>
          <p:cNvPr id="9" name="Image 0" descr="preencoded.png">    </p:cNvPr>
          <p:cNvPicPr>
            <a:picLocks noChangeAspect="1"/>
          </p:cNvPicPr>
          <p:nvPr/>
        </p:nvPicPr>
        <p:blipFill>
          <a:blip r:embed="rId1"/>
          <a:stretch>
            <a:fillRect/>
          </a:stretch>
        </p:blipFill>
        <p:spPr>
          <a:xfrm>
            <a:off x="924641" y="1976201"/>
            <a:ext cx="272125" cy="272125"/>
          </a:xfrm>
          <a:prstGeom prst="rect">
            <a:avLst/>
          </a:prstGeom>
        </p:spPr>
      </p:pic>
      <p:sp>
        <p:nvSpPr>
          <p:cNvPr id="10" name="Text 6"/>
          <p:cNvSpPr txBox="1"/>
          <p:nvPr/>
        </p:nvSpPr>
        <p:spPr>
          <a:xfrm>
            <a:off x="1463040" y="1828800"/>
            <a:ext cx="2286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Pen &amp; paper</a:t>
            </a:r>
            <a:endParaRPr lang="en-US" sz="1700" dirty="0"/>
          </a:p>
        </p:txBody>
      </p:sp>
      <p:sp>
        <p:nvSpPr>
          <p:cNvPr id="11" name="Text 7"/>
          <p:cNvSpPr txBox="1"/>
          <p:nvPr/>
        </p:nvSpPr>
        <p:spPr>
          <a:xfrm>
            <a:off x="777240" y="2514600"/>
            <a:ext cx="29260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For exams and quick sketches. Pencil + eraser; leave space between boxes.</a:t>
            </a:r>
            <a:endParaRPr lang="en-US" sz="1400" dirty="0"/>
          </a:p>
        </p:txBody>
      </p:sp>
      <p:sp>
        <p:nvSpPr>
          <p:cNvPr id="12" name="Shape 8"/>
          <p:cNvSpPr/>
          <p:nvPr/>
        </p:nvSpPr>
        <p:spPr>
          <a:xfrm>
            <a:off x="4069080" y="1600200"/>
            <a:ext cx="3383280" cy="2103120"/>
          </a:xfrm>
          <a:prstGeom prst="roundRect">
            <a:avLst>
              <a:gd name="adj" fmla="val 5217"/>
            </a:avLst>
          </a:prstGeom>
          <a:solidFill>
            <a:srgbClr val="EEF1F6"/>
          </a:solidFill>
          <a:ln w="12700">
            <a:solidFill>
              <a:srgbClr val="EEF1F6"/>
            </a:solidFill>
            <a:prstDash val="solid"/>
          </a:ln>
        </p:spPr>
        <p:txBody>
          <a:bodyPr/>
          <a:p/>
        </p:txBody>
      </p:sp>
      <p:sp>
        <p:nvSpPr>
          <p:cNvPr id="13" name="Shape 9"/>
          <p:cNvSpPr/>
          <p:nvPr/>
        </p:nvSpPr>
        <p:spPr>
          <a:xfrm>
            <a:off x="4297680" y="1828800"/>
            <a:ext cx="566928" cy="566928"/>
          </a:xfrm>
          <a:prstGeom prst="ellipse">
            <a:avLst/>
          </a:prstGeom>
          <a:solidFill>
            <a:srgbClr val="14213D"/>
          </a:solidFill>
          <a:ln w="12700">
            <a:solidFill>
              <a:srgbClr val="14213D"/>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445081" y="1976201"/>
            <a:ext cx="272125" cy="272125"/>
          </a:xfrm>
          <a:prstGeom prst="rect">
            <a:avLst/>
          </a:prstGeom>
        </p:spPr>
      </p:pic>
      <p:sp>
        <p:nvSpPr>
          <p:cNvPr id="15" name="Text 10"/>
          <p:cNvSpPr txBox="1"/>
          <p:nvPr/>
        </p:nvSpPr>
        <p:spPr>
          <a:xfrm>
            <a:off x="4983480" y="1828800"/>
            <a:ext cx="2286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draw.io (diagrams.net)</a:t>
            </a:r>
            <a:endParaRPr lang="en-US" sz="1700" dirty="0"/>
          </a:p>
        </p:txBody>
      </p:sp>
      <p:sp>
        <p:nvSpPr>
          <p:cNvPr id="16" name="Text 11"/>
          <p:cNvSpPr txBox="1"/>
          <p:nvPr/>
        </p:nvSpPr>
        <p:spPr>
          <a:xfrm>
            <a:off x="4297680" y="2514600"/>
            <a:ext cx="29260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Free, in the browser. Flowchart shape library; export PNG / PDF.</a:t>
            </a:r>
            <a:endParaRPr lang="en-US" sz="1400" dirty="0"/>
          </a:p>
        </p:txBody>
      </p:sp>
      <p:sp>
        <p:nvSpPr>
          <p:cNvPr id="17" name="Shape 12"/>
          <p:cNvSpPr/>
          <p:nvPr/>
        </p:nvSpPr>
        <p:spPr>
          <a:xfrm>
            <a:off x="548640" y="3886200"/>
            <a:ext cx="3383280" cy="2103120"/>
          </a:xfrm>
          <a:prstGeom prst="roundRect">
            <a:avLst>
              <a:gd name="adj" fmla="val 5217"/>
            </a:avLst>
          </a:prstGeom>
          <a:solidFill>
            <a:srgbClr val="EEF1F6"/>
          </a:solidFill>
          <a:ln w="12700">
            <a:solidFill>
              <a:srgbClr val="EEF1F6"/>
            </a:solidFill>
            <a:prstDash val="solid"/>
          </a:ln>
        </p:spPr>
        <p:txBody>
          <a:bodyPr/>
          <a:p/>
        </p:txBody>
      </p:sp>
      <p:sp>
        <p:nvSpPr>
          <p:cNvPr id="18" name="Shape 13"/>
          <p:cNvSpPr/>
          <p:nvPr/>
        </p:nvSpPr>
        <p:spPr>
          <a:xfrm>
            <a:off x="777240" y="4114800"/>
            <a:ext cx="566928" cy="566928"/>
          </a:xfrm>
          <a:prstGeom prst="ellipse">
            <a:avLst/>
          </a:prstGeom>
          <a:solidFill>
            <a:srgbClr val="B7791F"/>
          </a:solidFill>
          <a:ln w="12700">
            <a:solidFill>
              <a:srgbClr val="B7791F"/>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2286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Flowgorithm</a:t>
            </a:r>
            <a:endParaRPr lang="en-US" sz="1700" dirty="0"/>
          </a:p>
        </p:txBody>
      </p:sp>
      <p:sp>
        <p:nvSpPr>
          <p:cNvPr id="21" name="Text 15"/>
          <p:cNvSpPr txBox="1"/>
          <p:nvPr/>
        </p:nvSpPr>
        <p:spPr>
          <a:xfrm>
            <a:off x="777240" y="4800600"/>
            <a:ext cx="29260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Free (Windows). Runs your flowchart step by step and shows it as C# code.</a:t>
            </a:r>
            <a:endParaRPr lang="en-US" sz="1400" dirty="0"/>
          </a:p>
        </p:txBody>
      </p:sp>
      <p:sp>
        <p:nvSpPr>
          <p:cNvPr id="22" name="Shape 16"/>
          <p:cNvSpPr/>
          <p:nvPr/>
        </p:nvSpPr>
        <p:spPr>
          <a:xfrm>
            <a:off x="4069080" y="3886200"/>
            <a:ext cx="3383280" cy="2103120"/>
          </a:xfrm>
          <a:prstGeom prst="roundRect">
            <a:avLst>
              <a:gd name="adj" fmla="val 5217"/>
            </a:avLst>
          </a:prstGeom>
          <a:solidFill>
            <a:srgbClr val="EEF1F6"/>
          </a:solidFill>
          <a:ln w="12700">
            <a:solidFill>
              <a:srgbClr val="EEF1F6"/>
            </a:solidFill>
            <a:prstDash val="solid"/>
          </a:ln>
        </p:spPr>
        <p:txBody>
          <a:bodyPr/>
          <a:p/>
        </p:txBody>
      </p:sp>
      <p:sp>
        <p:nvSpPr>
          <p:cNvPr id="23" name="Shape 17"/>
          <p:cNvSpPr/>
          <p:nvPr/>
        </p:nvSpPr>
        <p:spPr>
          <a:xfrm>
            <a:off x="4297680" y="4114800"/>
            <a:ext cx="566928" cy="566928"/>
          </a:xfrm>
          <a:prstGeom prst="ellipse">
            <a:avLst/>
          </a:prstGeom>
          <a:solidFill>
            <a:srgbClr val="14213D"/>
          </a:solidFill>
          <a:ln w="12700">
            <a:solidFill>
              <a:srgbClr val="14213D"/>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4445081" y="4262201"/>
            <a:ext cx="272125" cy="272125"/>
          </a:xfrm>
          <a:prstGeom prst="rect">
            <a:avLst/>
          </a:prstGeom>
        </p:spPr>
      </p:pic>
      <p:sp>
        <p:nvSpPr>
          <p:cNvPr id="25" name="Text 18"/>
          <p:cNvSpPr txBox="1"/>
          <p:nvPr/>
        </p:nvSpPr>
        <p:spPr>
          <a:xfrm>
            <a:off x="4983480" y="4114800"/>
            <a:ext cx="22860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Mermaid</a:t>
            </a:r>
            <a:endParaRPr lang="en-US" sz="1700" dirty="0"/>
          </a:p>
        </p:txBody>
      </p:sp>
      <p:sp>
        <p:nvSpPr>
          <p:cNvPr id="26" name="Text 19"/>
          <p:cNvSpPr txBox="1"/>
          <p:nvPr/>
        </p:nvSpPr>
        <p:spPr>
          <a:xfrm>
            <a:off x="4297680" y="4800600"/>
            <a:ext cx="2926080" cy="10515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Write text, get a chart. Rendered by GitHub, GitLab and mermaid.live.</a:t>
            </a:r>
            <a:endParaRPr lang="en-US" sz="1400" dirty="0"/>
          </a:p>
        </p:txBody>
      </p:sp>
      <p:sp>
        <p:nvSpPr>
          <p:cNvPr id="27" name="Shape 20"/>
          <p:cNvSpPr/>
          <p:nvPr/>
        </p:nvSpPr>
        <p:spPr>
          <a:xfrm>
            <a:off x="7680960" y="1600200"/>
            <a:ext cx="3977640" cy="2926080"/>
          </a:xfrm>
          <a:prstGeom prst="roundRect">
            <a:avLst>
              <a:gd name="adj" fmla="val 3125"/>
            </a:avLst>
          </a:prstGeom>
          <a:solidFill>
            <a:srgbClr val="0F1729"/>
          </a:solidFill>
          <a:ln w="12700">
            <a:solidFill>
              <a:srgbClr val="0F1729"/>
            </a:solidFill>
            <a:prstDash val="solid"/>
          </a:ln>
        </p:spPr>
        <p:txBody>
          <a:bodyPr/>
          <a:p/>
        </p:txBody>
      </p:sp>
      <p:sp>
        <p:nvSpPr>
          <p:cNvPr id="28" name="Text 21"/>
          <p:cNvSpPr txBox="1"/>
          <p:nvPr/>
        </p:nvSpPr>
        <p:spPr>
          <a:xfrm>
            <a:off x="7909560" y="1709928"/>
            <a:ext cx="3520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Mermaid · absolute value</a:t>
            </a:r>
            <a:endParaRPr lang="en-US" sz="1100" dirty="0"/>
          </a:p>
        </p:txBody>
      </p:sp>
      <p:sp>
        <p:nvSpPr>
          <p:cNvPr id="29" name="Text 22"/>
          <p:cNvSpPr txBox="1"/>
          <p:nvPr/>
        </p:nvSpPr>
        <p:spPr>
          <a:xfrm>
            <a:off x="7909560" y="2011680"/>
            <a:ext cx="3520440" cy="2404872"/>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flowchart TD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A([Start]) --&gt; B[/Read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--&gt; C{"x &lt; 0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yes --&gt; D["x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no --&gt; E[/Print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--&gt; 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E --&gt; F([End])</a:t>
            </a:r>
            <a:endParaRPr lang="en-US" sz="1200" dirty="0"/>
          </a:p>
        </p:txBody>
      </p:sp>
      <p:sp>
        <p:nvSpPr>
          <p:cNvPr id="30" name="Shape 23"/>
          <p:cNvSpPr/>
          <p:nvPr/>
        </p:nvSpPr>
        <p:spPr>
          <a:xfrm>
            <a:off x="7680960" y="4709160"/>
            <a:ext cx="3977640" cy="1371600"/>
          </a:xfrm>
          <a:prstGeom prst="roundRect">
            <a:avLst>
              <a:gd name="adj" fmla="val 8000"/>
            </a:avLst>
          </a:prstGeom>
          <a:solidFill>
            <a:srgbClr val="FFF6E3"/>
          </a:solidFill>
          <a:ln w="12700">
            <a:solidFill>
              <a:srgbClr val="FFF6E3"/>
            </a:solidFill>
            <a:prstDash val="solid"/>
          </a:ln>
        </p:spPr>
        <p:txBody>
          <a:bodyPr/>
          <a:p/>
        </p:txBody>
      </p:sp>
      <p:pic>
        <p:nvPicPr>
          <p:cNvPr id="31" name="Image 4" descr="preencoded.png">    </p:cNvPr>
          <p:cNvPicPr>
            <a:picLocks noChangeAspect="1"/>
          </p:cNvPicPr>
          <p:nvPr/>
        </p:nvPicPr>
        <p:blipFill>
          <a:blip r:embed="rId5"/>
          <a:stretch>
            <a:fillRect/>
          </a:stretch>
        </p:blipFill>
        <p:spPr>
          <a:xfrm>
            <a:off x="7955280" y="5120640"/>
            <a:ext cx="548640" cy="548640"/>
          </a:xfrm>
          <a:prstGeom prst="rect">
            <a:avLst/>
          </a:prstGeom>
        </p:spPr>
      </p:pic>
      <p:sp>
        <p:nvSpPr>
          <p:cNvPr id="32" name="Text 24"/>
          <p:cNvSpPr txBox="1"/>
          <p:nvPr/>
        </p:nvSpPr>
        <p:spPr>
          <a:xfrm>
            <a:off x="8778240" y="4782312"/>
            <a:ext cx="2606040" cy="122529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Try it: </a:t>
            </a:r>
            <a:pPr indent="0" marL="0">
              <a:buNone/>
            </a:pPr>
            <a:r>
              <a:rPr lang="en-US" sz="1400" dirty="0">
                <a:solidFill>
                  <a:srgbClr val="333B4F"/>
                </a:solidFill>
                <a:latin typeface="Calibri" pitchFamily="34" charset="0"/>
                <a:ea typeface="Calibri" pitchFamily="34" charset="-122"/>
                <a:cs typeface="Calibri" pitchFamily="34" charset="-120"/>
              </a:rPr>
              <a:t>paste the text into mermaid.live and you get the absolute-value chart.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 PAIRS · 30 MIN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Draw the Flowchart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548640" y="1600200"/>
            <a:ext cx="3566160" cy="2057400"/>
          </a:xfrm>
          <a:prstGeom prst="roundRect">
            <a:avLst>
              <a:gd name="adj" fmla="val 5333"/>
            </a:avLst>
          </a:prstGeom>
          <a:solidFill>
            <a:srgbClr val="EEF1F6"/>
          </a:solidFill>
          <a:ln w="12700">
            <a:solidFill>
              <a:srgbClr val="EEF1F6"/>
            </a:solidFill>
            <a:prstDash val="solid"/>
          </a:ln>
        </p:spPr>
        <p:txBody>
          <a:bodyPr/>
          <a:p/>
        </p:txBody>
      </p:sp>
      <p:sp>
        <p:nvSpPr>
          <p:cNvPr id="8" name="Shape 5"/>
          <p:cNvSpPr/>
          <p:nvPr/>
        </p:nvSpPr>
        <p:spPr>
          <a:xfrm>
            <a:off x="777240" y="1801368"/>
            <a:ext cx="502920" cy="502920"/>
          </a:xfrm>
          <a:prstGeom prst="ellipse">
            <a:avLst/>
          </a:prstGeom>
          <a:solidFill>
            <a:srgbClr val="14213D"/>
          </a:solidFill>
          <a:ln w="12700">
            <a:solidFill>
              <a:srgbClr val="14213D"/>
            </a:solidFill>
            <a:prstDash val="solid"/>
          </a:ln>
        </p:spPr>
        <p:txBody>
          <a:bodyPr/>
          <a:p/>
        </p:txBody>
      </p:sp>
      <p:sp>
        <p:nvSpPr>
          <p:cNvPr id="9" name="Text 6"/>
          <p:cNvSpPr txBox="1"/>
          <p:nvPr/>
        </p:nvSpPr>
        <p:spPr>
          <a:xfrm>
            <a:off x="777240" y="1801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A</a:t>
            </a:r>
            <a:endParaRPr lang="en-US" sz="1800" dirty="0"/>
          </a:p>
        </p:txBody>
      </p:sp>
      <p:sp>
        <p:nvSpPr>
          <p:cNvPr id="10" name="Text 7"/>
          <p:cNvSpPr txBox="1"/>
          <p:nvPr/>
        </p:nvSpPr>
        <p:spPr>
          <a:xfrm>
            <a:off x="1417320" y="180136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Celsius → Fahrenheit</a:t>
            </a:r>
            <a:endParaRPr lang="en-US" sz="1700" dirty="0"/>
          </a:p>
        </p:txBody>
      </p:sp>
      <p:sp>
        <p:nvSpPr>
          <p:cNvPr id="11" name="Text 8"/>
          <p:cNvSpPr txBox="1"/>
          <p:nvPr/>
        </p:nvSpPr>
        <p:spPr>
          <a:xfrm>
            <a:off x="777240" y="2423160"/>
            <a:ext cx="3154680" cy="82296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C; print F = C × 9 / 5 + 32.</a:t>
            </a:r>
            <a:endParaRPr lang="en-US" sz="1450" dirty="0"/>
          </a:p>
        </p:txBody>
      </p:sp>
      <p:sp>
        <p:nvSpPr>
          <p:cNvPr id="12" name="Text 9"/>
          <p:cNvSpPr txBox="1"/>
          <p:nvPr/>
        </p:nvSpPr>
        <p:spPr>
          <a:xfrm>
            <a:off x="777240" y="3246120"/>
            <a:ext cx="3154680" cy="274320"/>
          </a:xfrm>
          <a:prstGeom prst="rect">
            <a:avLst/>
          </a:prstGeom>
          <a:noFill/>
          <a:ln/>
        </p:spPr>
        <p:txBody>
          <a:bodyPr wrap="square" lIns="0" tIns="0" rIns="0" bIns="0" rtlCol="0" anchor="ctr"/>
          <a:lstStyle/>
          <a:p>
            <a:pPr indent="0" marL="0">
              <a:buNone/>
            </a:pPr>
            <a:r>
              <a:rPr lang="en-US" sz="1200" b="1" dirty="0">
                <a:solidFill>
                  <a:srgbClr val="14213D"/>
                </a:solidFill>
                <a:latin typeface="Courier New" pitchFamily="34" charset="0"/>
                <a:ea typeface="Courier New" pitchFamily="34" charset="-122"/>
                <a:cs typeface="Courier New" pitchFamily="34" charset="-120"/>
              </a:rPr>
              <a:t>sequence</a:t>
            </a:r>
            <a:endParaRPr lang="en-US" sz="1200" dirty="0"/>
          </a:p>
        </p:txBody>
      </p:sp>
      <p:sp>
        <p:nvSpPr>
          <p:cNvPr id="13" name="Shape 10"/>
          <p:cNvSpPr/>
          <p:nvPr/>
        </p:nvSpPr>
        <p:spPr>
          <a:xfrm>
            <a:off x="4297680" y="1600200"/>
            <a:ext cx="3566160" cy="2057400"/>
          </a:xfrm>
          <a:prstGeom prst="roundRect">
            <a:avLst>
              <a:gd name="adj" fmla="val 5333"/>
            </a:avLst>
          </a:prstGeom>
          <a:solidFill>
            <a:srgbClr val="EEF1F6"/>
          </a:solidFill>
          <a:ln w="12700">
            <a:solidFill>
              <a:srgbClr val="EEF1F6"/>
            </a:solidFill>
            <a:prstDash val="solid"/>
          </a:ln>
        </p:spPr>
        <p:txBody>
          <a:bodyPr/>
          <a:p/>
        </p:txBody>
      </p:sp>
      <p:sp>
        <p:nvSpPr>
          <p:cNvPr id="14" name="Shape 11"/>
          <p:cNvSpPr/>
          <p:nvPr/>
        </p:nvSpPr>
        <p:spPr>
          <a:xfrm>
            <a:off x="4526280" y="1801368"/>
            <a:ext cx="502920" cy="502920"/>
          </a:xfrm>
          <a:prstGeom prst="ellipse">
            <a:avLst/>
          </a:prstGeom>
          <a:solidFill>
            <a:srgbClr val="14213D"/>
          </a:solidFill>
          <a:ln w="12700">
            <a:solidFill>
              <a:srgbClr val="14213D"/>
            </a:solidFill>
            <a:prstDash val="solid"/>
          </a:ln>
        </p:spPr>
        <p:txBody>
          <a:bodyPr/>
          <a:p/>
        </p:txBody>
      </p:sp>
      <p:sp>
        <p:nvSpPr>
          <p:cNvPr id="15" name="Text 12"/>
          <p:cNvSpPr txBox="1"/>
          <p:nvPr/>
        </p:nvSpPr>
        <p:spPr>
          <a:xfrm>
            <a:off x="4526280" y="1801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B</a:t>
            </a:r>
            <a:endParaRPr lang="en-US" sz="1800" dirty="0"/>
          </a:p>
        </p:txBody>
      </p:sp>
      <p:sp>
        <p:nvSpPr>
          <p:cNvPr id="16" name="Text 13"/>
          <p:cNvSpPr txBox="1"/>
          <p:nvPr/>
        </p:nvSpPr>
        <p:spPr>
          <a:xfrm>
            <a:off x="5166360" y="180136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Larger of two</a:t>
            </a:r>
            <a:endParaRPr lang="en-US" sz="1700" dirty="0"/>
          </a:p>
        </p:txBody>
      </p:sp>
      <p:sp>
        <p:nvSpPr>
          <p:cNvPr id="17" name="Text 14"/>
          <p:cNvSpPr txBox="1"/>
          <p:nvPr/>
        </p:nvSpPr>
        <p:spPr>
          <a:xfrm>
            <a:off x="4526280" y="2423160"/>
            <a:ext cx="3154680" cy="82296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a and b; print the larger one (or “equal”).</a:t>
            </a:r>
            <a:endParaRPr lang="en-US" sz="1450" dirty="0"/>
          </a:p>
        </p:txBody>
      </p:sp>
      <p:sp>
        <p:nvSpPr>
          <p:cNvPr id="18" name="Text 15"/>
          <p:cNvSpPr txBox="1"/>
          <p:nvPr/>
        </p:nvSpPr>
        <p:spPr>
          <a:xfrm>
            <a:off x="4526280" y="3246120"/>
            <a:ext cx="3154680" cy="274320"/>
          </a:xfrm>
          <a:prstGeom prst="rect">
            <a:avLst/>
          </a:prstGeom>
          <a:noFill/>
          <a:ln/>
        </p:spPr>
        <p:txBody>
          <a:bodyPr wrap="square" lIns="0" tIns="0" rIns="0" bIns="0" rtlCol="0" anchor="ctr"/>
          <a:lstStyle/>
          <a:p>
            <a:pPr indent="0" marL="0">
              <a:buNone/>
            </a:pPr>
            <a:r>
              <a:rPr lang="en-US" sz="1200" b="1" dirty="0">
                <a:solidFill>
                  <a:srgbClr val="2F6FB3"/>
                </a:solidFill>
                <a:latin typeface="Courier New" pitchFamily="34" charset="0"/>
                <a:ea typeface="Courier New" pitchFamily="34" charset="-122"/>
                <a:cs typeface="Courier New" pitchFamily="34" charset="-120"/>
              </a:rPr>
              <a:t>selection</a:t>
            </a:r>
            <a:endParaRPr lang="en-US" sz="1200" dirty="0"/>
          </a:p>
        </p:txBody>
      </p:sp>
      <p:sp>
        <p:nvSpPr>
          <p:cNvPr id="19" name="Shape 16"/>
          <p:cNvSpPr/>
          <p:nvPr/>
        </p:nvSpPr>
        <p:spPr>
          <a:xfrm>
            <a:off x="8046720" y="1600200"/>
            <a:ext cx="3566160" cy="2057400"/>
          </a:xfrm>
          <a:prstGeom prst="roundRect">
            <a:avLst>
              <a:gd name="adj" fmla="val 5333"/>
            </a:avLst>
          </a:prstGeom>
          <a:solidFill>
            <a:srgbClr val="EEF1F6"/>
          </a:solidFill>
          <a:ln w="12700">
            <a:solidFill>
              <a:srgbClr val="EEF1F6"/>
            </a:solidFill>
            <a:prstDash val="solid"/>
          </a:ln>
        </p:spPr>
        <p:txBody>
          <a:bodyPr/>
          <a:p/>
        </p:txBody>
      </p:sp>
      <p:sp>
        <p:nvSpPr>
          <p:cNvPr id="20" name="Shape 17"/>
          <p:cNvSpPr/>
          <p:nvPr/>
        </p:nvSpPr>
        <p:spPr>
          <a:xfrm>
            <a:off x="8275320" y="1801368"/>
            <a:ext cx="502920" cy="502920"/>
          </a:xfrm>
          <a:prstGeom prst="ellipse">
            <a:avLst/>
          </a:prstGeom>
          <a:solidFill>
            <a:srgbClr val="14213D"/>
          </a:solidFill>
          <a:ln w="12700">
            <a:solidFill>
              <a:srgbClr val="14213D"/>
            </a:solidFill>
            <a:prstDash val="solid"/>
          </a:ln>
        </p:spPr>
        <p:txBody>
          <a:bodyPr/>
          <a:p/>
        </p:txBody>
      </p:sp>
      <p:sp>
        <p:nvSpPr>
          <p:cNvPr id="21" name="Text 18"/>
          <p:cNvSpPr txBox="1"/>
          <p:nvPr/>
        </p:nvSpPr>
        <p:spPr>
          <a:xfrm>
            <a:off x="8275320" y="180136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C</a:t>
            </a:r>
            <a:endParaRPr lang="en-US" sz="1800" dirty="0"/>
          </a:p>
        </p:txBody>
      </p:sp>
      <p:sp>
        <p:nvSpPr>
          <p:cNvPr id="22" name="Text 19"/>
          <p:cNvSpPr txBox="1"/>
          <p:nvPr/>
        </p:nvSpPr>
        <p:spPr>
          <a:xfrm>
            <a:off x="8915400" y="180136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Ticket price</a:t>
            </a:r>
            <a:endParaRPr lang="en-US" sz="1700" dirty="0"/>
          </a:p>
        </p:txBody>
      </p:sp>
      <p:sp>
        <p:nvSpPr>
          <p:cNvPr id="23" name="Text 20"/>
          <p:cNvSpPr txBox="1"/>
          <p:nvPr/>
        </p:nvSpPr>
        <p:spPr>
          <a:xfrm>
            <a:off x="8275320" y="2423160"/>
            <a:ext cx="3154680" cy="82296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Age &lt; 12: 50 TL; age ≥ 65: 60 TL; otherwise 100 TL.</a:t>
            </a:r>
            <a:endParaRPr lang="en-US" sz="1450" dirty="0"/>
          </a:p>
        </p:txBody>
      </p:sp>
      <p:sp>
        <p:nvSpPr>
          <p:cNvPr id="24" name="Text 21"/>
          <p:cNvSpPr txBox="1"/>
          <p:nvPr/>
        </p:nvSpPr>
        <p:spPr>
          <a:xfrm>
            <a:off x="8275320" y="3246120"/>
            <a:ext cx="3154680" cy="274320"/>
          </a:xfrm>
          <a:prstGeom prst="rect">
            <a:avLst/>
          </a:prstGeom>
          <a:noFill/>
          <a:ln/>
        </p:spPr>
        <p:txBody>
          <a:bodyPr wrap="square" lIns="0" tIns="0" rIns="0" bIns="0" rtlCol="0" anchor="ctr"/>
          <a:lstStyle/>
          <a:p>
            <a:pPr indent="0" marL="0">
              <a:buNone/>
            </a:pPr>
            <a:r>
              <a:rPr lang="en-US" sz="1200" b="1" dirty="0">
                <a:solidFill>
                  <a:srgbClr val="2F6FB3"/>
                </a:solidFill>
                <a:latin typeface="Courier New" pitchFamily="34" charset="0"/>
                <a:ea typeface="Courier New" pitchFamily="34" charset="-122"/>
                <a:cs typeface="Courier New" pitchFamily="34" charset="-120"/>
              </a:rPr>
              <a:t>selection</a:t>
            </a:r>
            <a:endParaRPr lang="en-US" sz="1200" dirty="0"/>
          </a:p>
        </p:txBody>
      </p:sp>
      <p:sp>
        <p:nvSpPr>
          <p:cNvPr id="25" name="Shape 22"/>
          <p:cNvSpPr/>
          <p:nvPr/>
        </p:nvSpPr>
        <p:spPr>
          <a:xfrm>
            <a:off x="548640" y="3840480"/>
            <a:ext cx="3566160" cy="2057400"/>
          </a:xfrm>
          <a:prstGeom prst="roundRect">
            <a:avLst>
              <a:gd name="adj" fmla="val 5333"/>
            </a:avLst>
          </a:prstGeom>
          <a:solidFill>
            <a:srgbClr val="EEF1F6"/>
          </a:solidFill>
          <a:ln w="12700">
            <a:solidFill>
              <a:srgbClr val="EEF1F6"/>
            </a:solidFill>
            <a:prstDash val="solid"/>
          </a:ln>
        </p:spPr>
        <p:txBody>
          <a:bodyPr/>
          <a:p/>
        </p:txBody>
      </p:sp>
      <p:sp>
        <p:nvSpPr>
          <p:cNvPr id="26" name="Shape 23"/>
          <p:cNvSpPr/>
          <p:nvPr/>
        </p:nvSpPr>
        <p:spPr>
          <a:xfrm>
            <a:off x="777240" y="4041648"/>
            <a:ext cx="502920" cy="502920"/>
          </a:xfrm>
          <a:prstGeom prst="ellipse">
            <a:avLst/>
          </a:prstGeom>
          <a:solidFill>
            <a:srgbClr val="14213D"/>
          </a:solidFill>
          <a:ln w="12700">
            <a:solidFill>
              <a:srgbClr val="14213D"/>
            </a:solidFill>
            <a:prstDash val="solid"/>
          </a:ln>
        </p:spPr>
        <p:txBody>
          <a:bodyPr/>
          <a:p/>
        </p:txBody>
      </p:sp>
      <p:sp>
        <p:nvSpPr>
          <p:cNvPr id="27" name="Text 24"/>
          <p:cNvSpPr txBox="1"/>
          <p:nvPr/>
        </p:nvSpPr>
        <p:spPr>
          <a:xfrm>
            <a:off x="777240" y="404164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D</a:t>
            </a:r>
            <a:endParaRPr lang="en-US" sz="1800" dirty="0"/>
          </a:p>
        </p:txBody>
      </p:sp>
      <p:sp>
        <p:nvSpPr>
          <p:cNvPr id="28" name="Text 25"/>
          <p:cNvSpPr txBox="1"/>
          <p:nvPr/>
        </p:nvSpPr>
        <p:spPr>
          <a:xfrm>
            <a:off x="1417320" y="404164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Multiplication table</a:t>
            </a:r>
            <a:endParaRPr lang="en-US" sz="1700" dirty="0"/>
          </a:p>
        </p:txBody>
      </p:sp>
      <p:sp>
        <p:nvSpPr>
          <p:cNvPr id="29" name="Text 26"/>
          <p:cNvSpPr txBox="1"/>
          <p:nvPr/>
        </p:nvSpPr>
        <p:spPr>
          <a:xfrm>
            <a:off x="777240" y="4663440"/>
            <a:ext cx="3154680" cy="82296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n; print n × 1 … n × 10, one per line.</a:t>
            </a:r>
            <a:endParaRPr lang="en-US" sz="1450" dirty="0"/>
          </a:p>
        </p:txBody>
      </p:sp>
      <p:sp>
        <p:nvSpPr>
          <p:cNvPr id="30" name="Text 27"/>
          <p:cNvSpPr txBox="1"/>
          <p:nvPr/>
        </p:nvSpPr>
        <p:spPr>
          <a:xfrm>
            <a:off x="777240" y="5486400"/>
            <a:ext cx="3154680" cy="274320"/>
          </a:xfrm>
          <a:prstGeom prst="rect">
            <a:avLst/>
          </a:prstGeom>
          <a:noFill/>
          <a:ln/>
        </p:spPr>
        <p:txBody>
          <a:bodyPr wrap="square" lIns="0" tIns="0" rIns="0" bIns="0" rtlCol="0" anchor="ctr"/>
          <a:lstStyle/>
          <a:p>
            <a:pPr indent="0" marL="0">
              <a:buNone/>
            </a:pPr>
            <a:r>
              <a:rPr lang="en-US" sz="1200" b="1" dirty="0">
                <a:solidFill>
                  <a:srgbClr val="2E9E6A"/>
                </a:solidFill>
                <a:latin typeface="Courier New" pitchFamily="34" charset="0"/>
                <a:ea typeface="Courier New" pitchFamily="34" charset="-122"/>
                <a:cs typeface="Courier New" pitchFamily="34" charset="-120"/>
              </a:rPr>
              <a:t>repetition</a:t>
            </a:r>
            <a:endParaRPr lang="en-US" sz="1200" dirty="0"/>
          </a:p>
        </p:txBody>
      </p:sp>
      <p:sp>
        <p:nvSpPr>
          <p:cNvPr id="31" name="Shape 28"/>
          <p:cNvSpPr/>
          <p:nvPr/>
        </p:nvSpPr>
        <p:spPr>
          <a:xfrm>
            <a:off x="4297680" y="3840480"/>
            <a:ext cx="3566160" cy="2057400"/>
          </a:xfrm>
          <a:prstGeom prst="roundRect">
            <a:avLst>
              <a:gd name="adj" fmla="val 5333"/>
            </a:avLst>
          </a:prstGeom>
          <a:solidFill>
            <a:srgbClr val="EEF1F6"/>
          </a:solidFill>
          <a:ln w="12700">
            <a:solidFill>
              <a:srgbClr val="EEF1F6"/>
            </a:solidFill>
            <a:prstDash val="solid"/>
          </a:ln>
        </p:spPr>
        <p:txBody>
          <a:bodyPr/>
          <a:p/>
        </p:txBody>
      </p:sp>
      <p:sp>
        <p:nvSpPr>
          <p:cNvPr id="32" name="Shape 29"/>
          <p:cNvSpPr/>
          <p:nvPr/>
        </p:nvSpPr>
        <p:spPr>
          <a:xfrm>
            <a:off x="4526280" y="4041648"/>
            <a:ext cx="502920" cy="502920"/>
          </a:xfrm>
          <a:prstGeom prst="ellipse">
            <a:avLst/>
          </a:prstGeom>
          <a:solidFill>
            <a:srgbClr val="14213D"/>
          </a:solidFill>
          <a:ln w="12700">
            <a:solidFill>
              <a:srgbClr val="14213D"/>
            </a:solidFill>
            <a:prstDash val="solid"/>
          </a:ln>
        </p:spPr>
        <p:txBody>
          <a:bodyPr/>
          <a:p/>
        </p:txBody>
      </p:sp>
      <p:sp>
        <p:nvSpPr>
          <p:cNvPr id="33" name="Text 30"/>
          <p:cNvSpPr txBox="1"/>
          <p:nvPr/>
        </p:nvSpPr>
        <p:spPr>
          <a:xfrm>
            <a:off x="4526280" y="404164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E</a:t>
            </a:r>
            <a:endParaRPr lang="en-US" sz="1800" dirty="0"/>
          </a:p>
        </p:txBody>
      </p:sp>
      <p:sp>
        <p:nvSpPr>
          <p:cNvPr id="34" name="Text 31"/>
          <p:cNvSpPr txBox="1"/>
          <p:nvPr/>
        </p:nvSpPr>
        <p:spPr>
          <a:xfrm>
            <a:off x="5166360" y="404164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Average of N numbers</a:t>
            </a:r>
            <a:endParaRPr lang="en-US" sz="1700" dirty="0"/>
          </a:p>
        </p:txBody>
      </p:sp>
      <p:sp>
        <p:nvSpPr>
          <p:cNvPr id="35" name="Text 32"/>
          <p:cNvSpPr txBox="1"/>
          <p:nvPr/>
        </p:nvSpPr>
        <p:spPr>
          <a:xfrm>
            <a:off x="4526280" y="4663440"/>
            <a:ext cx="3154680" cy="82296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Read N, then N numbers; print their average.</a:t>
            </a:r>
            <a:endParaRPr lang="en-US" sz="1450" dirty="0"/>
          </a:p>
        </p:txBody>
      </p:sp>
      <p:sp>
        <p:nvSpPr>
          <p:cNvPr id="36" name="Text 33"/>
          <p:cNvSpPr txBox="1"/>
          <p:nvPr/>
        </p:nvSpPr>
        <p:spPr>
          <a:xfrm>
            <a:off x="4526280" y="5486400"/>
            <a:ext cx="3154680" cy="274320"/>
          </a:xfrm>
          <a:prstGeom prst="rect">
            <a:avLst/>
          </a:prstGeom>
          <a:noFill/>
          <a:ln/>
        </p:spPr>
        <p:txBody>
          <a:bodyPr wrap="square" lIns="0" tIns="0" rIns="0" bIns="0" rtlCol="0" anchor="ctr"/>
          <a:lstStyle/>
          <a:p>
            <a:pPr indent="0" marL="0">
              <a:buNone/>
            </a:pPr>
            <a:r>
              <a:rPr lang="en-US" sz="1200" b="1" dirty="0">
                <a:solidFill>
                  <a:srgbClr val="2E9E6A"/>
                </a:solidFill>
                <a:latin typeface="Courier New" pitchFamily="34" charset="0"/>
                <a:ea typeface="Courier New" pitchFamily="34" charset="-122"/>
                <a:cs typeface="Courier New" pitchFamily="34" charset="-120"/>
              </a:rPr>
              <a:t>repetition</a:t>
            </a:r>
            <a:endParaRPr lang="en-US" sz="1200" dirty="0"/>
          </a:p>
        </p:txBody>
      </p:sp>
      <p:sp>
        <p:nvSpPr>
          <p:cNvPr id="37" name="Shape 34"/>
          <p:cNvSpPr/>
          <p:nvPr/>
        </p:nvSpPr>
        <p:spPr>
          <a:xfrm>
            <a:off x="8046720" y="3840480"/>
            <a:ext cx="3566160" cy="2057400"/>
          </a:xfrm>
          <a:prstGeom prst="roundRect">
            <a:avLst>
              <a:gd name="adj" fmla="val 5333"/>
            </a:avLst>
          </a:prstGeom>
          <a:solidFill>
            <a:srgbClr val="EEF1F6"/>
          </a:solidFill>
          <a:ln w="12700">
            <a:solidFill>
              <a:srgbClr val="EEF1F6"/>
            </a:solidFill>
            <a:prstDash val="solid"/>
          </a:ln>
        </p:spPr>
        <p:txBody>
          <a:bodyPr/>
          <a:p/>
        </p:txBody>
      </p:sp>
      <p:sp>
        <p:nvSpPr>
          <p:cNvPr id="38" name="Shape 35"/>
          <p:cNvSpPr/>
          <p:nvPr/>
        </p:nvSpPr>
        <p:spPr>
          <a:xfrm>
            <a:off x="8275320" y="4041648"/>
            <a:ext cx="502920" cy="502920"/>
          </a:xfrm>
          <a:prstGeom prst="ellipse">
            <a:avLst/>
          </a:prstGeom>
          <a:solidFill>
            <a:srgbClr val="14213D"/>
          </a:solidFill>
          <a:ln w="12700">
            <a:solidFill>
              <a:srgbClr val="14213D"/>
            </a:solidFill>
            <a:prstDash val="solid"/>
          </a:ln>
        </p:spPr>
        <p:txBody>
          <a:bodyPr/>
          <a:p/>
        </p:txBody>
      </p:sp>
      <p:sp>
        <p:nvSpPr>
          <p:cNvPr id="39" name="Text 36"/>
          <p:cNvSpPr txBox="1"/>
          <p:nvPr/>
        </p:nvSpPr>
        <p:spPr>
          <a:xfrm>
            <a:off x="8275320" y="4041648"/>
            <a:ext cx="502920" cy="50292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F</a:t>
            </a:r>
            <a:endParaRPr lang="en-US" sz="1800" dirty="0"/>
          </a:p>
        </p:txBody>
      </p:sp>
      <p:sp>
        <p:nvSpPr>
          <p:cNvPr id="40" name="Text 37"/>
          <p:cNvSpPr txBox="1"/>
          <p:nvPr/>
        </p:nvSpPr>
        <p:spPr>
          <a:xfrm>
            <a:off x="8915400" y="4041648"/>
            <a:ext cx="256032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Guess + counter</a:t>
            </a:r>
            <a:endParaRPr lang="en-US" sz="1700" dirty="0"/>
          </a:p>
        </p:txBody>
      </p:sp>
      <p:sp>
        <p:nvSpPr>
          <p:cNvPr id="41" name="Text 38"/>
          <p:cNvSpPr txBox="1"/>
          <p:nvPr/>
        </p:nvSpPr>
        <p:spPr>
          <a:xfrm>
            <a:off x="8275320" y="4663440"/>
            <a:ext cx="3154680" cy="822960"/>
          </a:xfrm>
          <a:prstGeom prst="rect">
            <a:avLst/>
          </a:prstGeom>
          <a:noFill/>
          <a:ln/>
        </p:spPr>
        <p:txBody>
          <a:bodyPr wrap="square" lIns="0" tIns="0" rIns="0" bIns="0" rtlCol="0" anchor="t"/>
          <a:lstStyle/>
          <a:p>
            <a:pPr indent="0" marL="0">
              <a:buNone/>
            </a:pPr>
            <a:r>
              <a:rPr lang="en-US" sz="1450" dirty="0">
                <a:solidFill>
                  <a:srgbClr val="333B4F"/>
                </a:solidFill>
                <a:latin typeface="Calibri" pitchFamily="34" charset="0"/>
                <a:ea typeface="Calibri" pitchFamily="34" charset="-122"/>
                <a:cs typeface="Calibri" pitchFamily="34" charset="-120"/>
              </a:rPr>
              <a:t>Example 9, but also print how many guesses were needed.</a:t>
            </a:r>
            <a:endParaRPr lang="en-US" sz="1450" dirty="0"/>
          </a:p>
        </p:txBody>
      </p:sp>
      <p:sp>
        <p:nvSpPr>
          <p:cNvPr id="42" name="Text 39"/>
          <p:cNvSpPr txBox="1"/>
          <p:nvPr/>
        </p:nvSpPr>
        <p:spPr>
          <a:xfrm>
            <a:off x="8275320" y="5486400"/>
            <a:ext cx="3154680" cy="274320"/>
          </a:xfrm>
          <a:prstGeom prst="rect">
            <a:avLst/>
          </a:prstGeom>
          <a:noFill/>
          <a:ln/>
        </p:spPr>
        <p:txBody>
          <a:bodyPr wrap="square" lIns="0" tIns="0" rIns="0" bIns="0" rtlCol="0" anchor="ctr"/>
          <a:lstStyle/>
          <a:p>
            <a:pPr indent="0" marL="0">
              <a:buNone/>
            </a:pPr>
            <a:r>
              <a:rPr lang="en-US" sz="1200" b="1" dirty="0">
                <a:solidFill>
                  <a:srgbClr val="2E9E6A"/>
                </a:solidFill>
                <a:latin typeface="Courier New" pitchFamily="34" charset="0"/>
                <a:ea typeface="Courier New" pitchFamily="34" charset="-122"/>
                <a:cs typeface="Courier New" pitchFamily="34" charset="-120"/>
              </a:rPr>
              <a:t>loop + decision</a:t>
            </a:r>
            <a:endParaRPr lang="en-US" sz="1200" dirty="0"/>
          </a:p>
        </p:txBody>
      </p:sp>
      <p:sp>
        <p:nvSpPr>
          <p:cNvPr id="43" name="Text 40"/>
          <p:cNvSpPr txBox="1"/>
          <p:nvPr/>
        </p:nvSpPr>
        <p:spPr>
          <a:xfrm>
            <a:off x="548640" y="6053328"/>
            <a:ext cx="11109960" cy="274320"/>
          </a:xfrm>
          <a:prstGeom prst="rect">
            <a:avLst/>
          </a:prstGeom>
          <a:noFill/>
          <a:ln/>
        </p:spPr>
        <p:txBody>
          <a:bodyPr wrap="square" lIns="0" tIns="0" rIns="0" bIns="0" rtlCol="0" anchor="t"/>
          <a:lstStyle/>
          <a:p>
            <a:pPr indent="0" marL="0">
              <a:buNone/>
            </a:pP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 · DUE BEFORE WEEK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Practice + a First Look at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2</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548640" y="1600200"/>
            <a:ext cx="5486400" cy="4480560"/>
          </a:xfrm>
          <a:prstGeom prst="roundRect">
            <a:avLst>
              <a:gd name="adj" fmla="val 2449"/>
            </a:avLst>
          </a:prstGeom>
          <a:solidFill>
            <a:srgbClr val="EEF1F6"/>
          </a:solidFill>
          <a:ln w="12700">
            <a:solidFill>
              <a:srgbClr val="EEF1F6"/>
            </a:solidFill>
            <a:prstDash val="solid"/>
          </a:ln>
        </p:spPr>
        <p:txBody>
          <a:bodyPr/>
          <a:p/>
        </p:txBody>
      </p:sp>
      <p:sp>
        <p:nvSpPr>
          <p:cNvPr id="8" name="Shape 5"/>
          <p:cNvSpPr/>
          <p:nvPr/>
        </p:nvSpPr>
        <p:spPr>
          <a:xfrm>
            <a:off x="777240" y="1783080"/>
            <a:ext cx="566928" cy="566928"/>
          </a:xfrm>
          <a:prstGeom prst="ellipse">
            <a:avLst/>
          </a:prstGeom>
          <a:solidFill>
            <a:srgbClr val="14213D"/>
          </a:solidFill>
          <a:ln w="12700">
            <a:solidFill>
              <a:srgbClr val="14213D"/>
            </a:solidFill>
            <a:prstDash val="solid"/>
          </a:ln>
        </p:spPr>
        <p:txBody>
          <a:bodyPr/>
          <a:p/>
        </p:txBody>
      </p:sp>
      <p:pic>
        <p:nvPicPr>
          <p:cNvPr id="9" name="Image 0" descr="preencoded.png">    </p:cNvPr>
          <p:cNvPicPr>
            <a:picLocks noChangeAspect="1"/>
          </p:cNvPicPr>
          <p:nvPr/>
        </p:nvPicPr>
        <p:blipFill>
          <a:blip r:embed="rId1"/>
          <a:stretch>
            <a:fillRect/>
          </a:stretch>
        </p:blipFill>
        <p:spPr>
          <a:xfrm>
            <a:off x="924641" y="1930481"/>
            <a:ext cx="272125" cy="272125"/>
          </a:xfrm>
          <a:prstGeom prst="rect">
            <a:avLst/>
          </a:prstGeom>
        </p:spPr>
      </p:pic>
      <p:sp>
        <p:nvSpPr>
          <p:cNvPr id="10" name="Text 6"/>
          <p:cNvSpPr txBox="1"/>
          <p:nvPr/>
        </p:nvSpPr>
        <p:spPr>
          <a:xfrm>
            <a:off x="1508760" y="1783080"/>
            <a:ext cx="438912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On paper</a:t>
            </a:r>
            <a:endParaRPr lang="en-US" sz="1800" dirty="0"/>
          </a:p>
        </p:txBody>
      </p:sp>
      <p:sp>
        <p:nvSpPr>
          <p:cNvPr id="11" name="Text 7"/>
          <p:cNvSpPr txBox="1"/>
          <p:nvPr/>
        </p:nvSpPr>
        <p:spPr>
          <a:xfrm>
            <a:off x="777240" y="2514600"/>
            <a:ext cx="5074920" cy="34747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H1 · Draw flowcharts for Week 1 exercises A (even/odd), B (leap year, your own layout) and F (Celsius → Fahrenheit).</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H2 · Trace the GCD flowchart for (84, 36) and (17, 5) in trace tables.</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H3 · Extend the guess-the-number chart with a guess counter.</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Post photos of your pages to the Telegram group.</a:t>
            </a:r>
            <a:endParaRPr lang="en-US" sz="1500" dirty="0"/>
          </a:p>
        </p:txBody>
      </p:sp>
      <p:sp>
        <p:nvSpPr>
          <p:cNvPr id="12" name="Shape 8"/>
          <p:cNvSpPr/>
          <p:nvPr/>
        </p:nvSpPr>
        <p:spPr>
          <a:xfrm>
            <a:off x="6263640" y="1600200"/>
            <a:ext cx="5394960" cy="4480560"/>
          </a:xfrm>
          <a:prstGeom prst="roundRect">
            <a:avLst>
              <a:gd name="adj" fmla="val 2449"/>
            </a:avLst>
          </a:prstGeom>
          <a:solidFill>
            <a:srgbClr val="EEF1F6"/>
          </a:solidFill>
          <a:ln w="12700">
            <a:solidFill>
              <a:srgbClr val="EEF1F6"/>
            </a:solidFill>
            <a:prstDash val="solid"/>
          </a:ln>
        </p:spPr>
        <p:txBody>
          <a:bodyPr/>
          <a:p/>
        </p:txBody>
      </p:sp>
      <p:sp>
        <p:nvSpPr>
          <p:cNvPr id="13" name="Shape 9"/>
          <p:cNvSpPr/>
          <p:nvPr/>
        </p:nvSpPr>
        <p:spPr>
          <a:xfrm>
            <a:off x="6492240" y="1783080"/>
            <a:ext cx="566928" cy="566928"/>
          </a:xfrm>
          <a:prstGeom prst="ellipse">
            <a:avLst/>
          </a:prstGeom>
          <a:solidFill>
            <a:srgbClr val="14213D"/>
          </a:solidFill>
          <a:ln w="12700">
            <a:solidFill>
              <a:srgbClr val="14213D"/>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6639641" y="1930481"/>
            <a:ext cx="272125" cy="272125"/>
          </a:xfrm>
          <a:prstGeom prst="rect">
            <a:avLst/>
          </a:prstGeom>
        </p:spPr>
      </p:pic>
      <p:sp>
        <p:nvSpPr>
          <p:cNvPr id="15" name="Text 10"/>
          <p:cNvSpPr txBox="1"/>
          <p:nvPr/>
        </p:nvSpPr>
        <p:spPr>
          <a:xfrm>
            <a:off x="7223760" y="1783080"/>
            <a:ext cx="4297680" cy="566928"/>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On the computer</a:t>
            </a:r>
            <a:endParaRPr lang="en-US" sz="1800" dirty="0"/>
          </a:p>
        </p:txBody>
      </p:sp>
      <p:sp>
        <p:nvSpPr>
          <p:cNvPr id="16" name="Text 11"/>
          <p:cNvSpPr txBox="1"/>
          <p:nvPr/>
        </p:nvSpPr>
        <p:spPr>
          <a:xfrm>
            <a:off x="6492240" y="2514600"/>
            <a:ext cx="4983480" cy="14630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H4 · Run two preview programs from the code folder; compare each run with its flowchart.</a:t>
            </a:r>
            <a:endParaRPr lang="en-US" sz="1500" dirty="0"/>
          </a:p>
          <a:p>
            <a:pPr marL="342900" indent="-342900">
              <a:spcAft>
                <a:spcPts val="900"/>
              </a:spcAft>
              <a:buSzPct val="100000"/>
              <a:buChar char="•"/>
            </a:pPr>
            <a:r>
              <a:rPr lang="en-US" sz="1500" dirty="0">
                <a:solidFill>
                  <a:srgbClr val="333B4F"/>
                </a:solidFill>
                <a:latin typeface="Calibri" pitchFamily="34" charset="0"/>
                <a:ea typeface="Calibri" pitchFamily="34" charset="-122"/>
                <a:cs typeface="Calibri" pitchFamily="34" charset="-120"/>
              </a:rPr>
              <a:t>Optional: rebuild the Sum 1..N chart in Flowgorithm and run it.</a:t>
            </a:r>
            <a:endParaRPr lang="en-US" sz="1500" dirty="0"/>
          </a:p>
        </p:txBody>
      </p:sp>
      <p:sp>
        <p:nvSpPr>
          <p:cNvPr id="17" name="Shape 12"/>
          <p:cNvSpPr/>
          <p:nvPr/>
        </p:nvSpPr>
        <p:spPr>
          <a:xfrm>
            <a:off x="6492240" y="4069080"/>
            <a:ext cx="4937760" cy="1783080"/>
          </a:xfrm>
          <a:prstGeom prst="roundRect">
            <a:avLst>
              <a:gd name="adj" fmla="val 5128"/>
            </a:avLst>
          </a:prstGeom>
          <a:solidFill>
            <a:srgbClr val="0F1729"/>
          </a:solidFill>
          <a:ln w="12700">
            <a:solidFill>
              <a:srgbClr val="0F1729"/>
            </a:solidFill>
            <a:prstDash val="solid"/>
          </a:ln>
        </p:spPr>
        <p:txBody>
          <a:bodyPr/>
          <a:p/>
        </p:txBody>
      </p:sp>
      <p:sp>
        <p:nvSpPr>
          <p:cNvPr id="18" name="Text 13"/>
          <p:cNvSpPr txBox="1"/>
          <p:nvPr/>
        </p:nvSpPr>
        <p:spPr>
          <a:xfrm>
            <a:off x="6720840" y="4233672"/>
            <a:ext cx="4480560" cy="1508760"/>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&gt; cd code/02_07_SumToN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&gt; dotnet run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N = 10</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Sum 1..10 = 55</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flowchart is a picture of an algorithm: shapes = kinds of steps, arrows = order.</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Six symbols: terminal, input/output, process, decision, predefined process, connector.</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Rules: one Start, one End; two labelled exits per decision; arrows everywhere; no crossings.</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Sequence, selection and repetition each have a pattern; an upward arrow means a loop.</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Convert both ways: one box ≈ one pseudocode line; diamond + back-edge = WHILE.</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Trace tables test a flowchart before any code exists.</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txBody>
          <a:bodyPr/>
          <a:p/>
        </p:txBody>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Programming languages, variables, data types, constants</a:t>
            </a:r>
            <a:endParaRPr lang="en-US" sz="1800" dirty="0"/>
          </a:p>
        </p:txBody>
      </p:sp>
      <p:sp>
        <p:nvSpPr>
          <p:cNvPr id="20" name="Text 17"/>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
            </a:r>
            <a:endParaRPr lang="en-US" sz="1300" dirty="0"/>
          </a:p>
        </p:txBody>
      </p:sp>
      <p:sp>
        <p:nvSpPr>
          <p:cNvPr id="22" name="Text 18"/>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2</a:t>
            </a:r>
            <a:endParaRPr lang="en-US" sz="1000" dirty="0"/>
          </a:p>
        </p:txBody>
      </p:sp>
      <p:sp>
        <p:nvSpPr>
          <p:cNvPr id="23" name="Text 19"/>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2 – Flowcharts and Their Symbols</dc:title>
  <dc:subject>PptxGenJS Presentation</dc:subject>
  <dc:creator>Asst. Prof. Hasan Oğuz, PhD</dc:creator>
  <cp:lastModifiedBy>Asst. Prof. Hasan Oğuz, PhD</cp:lastModifiedBy>
  <cp:revision>1</cp:revision>
  <dcterms:created xsi:type="dcterms:W3CDTF">2026-09-30T06:21:19Z</dcterms:created>
  <dcterms:modified xsi:type="dcterms:W3CDTF">2026-09-30T06:21:19Z</dcterms:modified>
</cp:coreProperties>
</file>